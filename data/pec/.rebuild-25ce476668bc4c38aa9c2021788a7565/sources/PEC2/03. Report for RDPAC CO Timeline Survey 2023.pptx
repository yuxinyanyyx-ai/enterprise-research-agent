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notesSlides/notesSlide8.xml" ContentType="application/vnd.openxmlformats-officedocument.presentationml.notesSlid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notesSlides/notesSlide9.xml" ContentType="application/vnd.openxmlformats-officedocument.presentationml.notesSlid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tags/tag12.xml" ContentType="application/vnd.openxmlformats-officedocument.presentationml.tags+xml"/>
  <Override PartName="/ppt/notesSlides/notesSlide10.xml" ContentType="application/vnd.openxmlformats-officedocument.presentationml.notesSl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21" r:id="rId4"/>
  </p:sldMasterIdLst>
  <p:notesMasterIdLst>
    <p:notesMasterId r:id="rId16"/>
  </p:notesMasterIdLst>
  <p:sldIdLst>
    <p:sldId id="256" r:id="rId5"/>
    <p:sldId id="815" r:id="rId6"/>
    <p:sldId id="740" r:id="rId7"/>
    <p:sldId id="677" r:id="rId8"/>
    <p:sldId id="788" r:id="rId9"/>
    <p:sldId id="834" r:id="rId10"/>
    <p:sldId id="850" r:id="rId11"/>
    <p:sldId id="851" r:id="rId12"/>
    <p:sldId id="739" r:id="rId13"/>
    <p:sldId id="668" r:id="rId14"/>
    <p:sldId id="801" r:id="rId15"/>
  </p:sldIdLst>
  <p:sldSz cx="12192000" cy="6858000"/>
  <p:notesSz cx="6797675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B7CCE81-6EB7-4D64-BF39-30984ABB4D55}">
          <p14:sldIdLst>
            <p14:sldId id="256"/>
            <p14:sldId id="815"/>
            <p14:sldId id="740"/>
            <p14:sldId id="677"/>
            <p14:sldId id="788"/>
            <p14:sldId id="834"/>
            <p14:sldId id="850"/>
            <p14:sldId id="851"/>
            <p14:sldId id="739"/>
            <p14:sldId id="668"/>
            <p14:sldId id="8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228B915-E020-C9C8-30AD-1EFD0D47C2B7}" name="Julia Man Rong Wang" initials="JMRW" userId="S::wang_man_rong_julia@lilly.com::064bfcf4-8b5e-4843-8854-91a92b899adb" providerId="AD"/>
  <p188:author id="{7CBB4C8F-02FB-2B86-CAEC-8E08BB974CFB}" name="Tang, Rachel" initials="TR" userId="S::rachel.tang@abbvie.com::87377804-c6f5-4a3d-8c50-ae33535a1dc0" providerId="AD"/>
  <p188:author id="{C9A7FCA4-D3D1-F3C3-5B38-FF648CFE9822}" name="Huang Weibin" initials="HW" userId="69c7e7fd15a1b489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Man Rong Wang" initials="JMRW" lastIdx="6" clrIdx="0">
    <p:extLst>
      <p:ext uri="{19B8F6BF-5375-455C-9EA6-DF929625EA0E}">
        <p15:presenceInfo xmlns:p15="http://schemas.microsoft.com/office/powerpoint/2012/main" userId="S::wang_man_rong_julia@lilly.com::064bfcf4-8b5e-4843-8854-91a92b899adb" providerId="AD"/>
      </p:ext>
    </p:extLst>
  </p:cmAuthor>
  <p:cmAuthor id="2" name="Huang Weibin" initials="HW" lastIdx="13" clrIdx="1">
    <p:extLst>
      <p:ext uri="{19B8F6BF-5375-455C-9EA6-DF929625EA0E}">
        <p15:presenceInfo xmlns:p15="http://schemas.microsoft.com/office/powerpoint/2012/main" userId="69c7e7fd15a1b48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FFE166"/>
    <a:srgbClr val="B0D269"/>
    <a:srgbClr val="FBBBB7"/>
    <a:srgbClr val="D1E9ED"/>
    <a:srgbClr val="91D150"/>
    <a:srgbClr val="00B150"/>
    <a:srgbClr val="F9BBB7"/>
    <a:srgbClr val="C7EB8C"/>
    <a:srgbClr val="EDFF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94" autoAdjust="0"/>
    <p:restoredTop sz="69800" autoAdjust="0"/>
  </p:normalViewPr>
  <p:slideViewPr>
    <p:cSldViewPr snapToGrid="0">
      <p:cViewPr varScale="1">
        <p:scale>
          <a:sx n="60" d="100"/>
          <a:sy n="60" d="100"/>
        </p:scale>
        <p:origin x="1584" y="38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7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ue,Kim (MED CD&amp;O) BII-CN-S" userId="3bd744f9-2f50-417a-9a80-5a6aab265eb2" providerId="ADAL" clId="{1E28CA9B-692D-42DB-812D-A2C242A7B32F}"/>
    <pc:docChg chg="custSel modSld">
      <pc:chgData name="Xue,Kim (MED CD&amp;O) BII-CN-S" userId="3bd744f9-2f50-417a-9a80-5a6aab265eb2" providerId="ADAL" clId="{1E28CA9B-692D-42DB-812D-A2C242A7B32F}" dt="2024-04-24T09:18:41.267" v="11" actId="20577"/>
      <pc:docMkLst>
        <pc:docMk/>
      </pc:docMkLst>
      <pc:sldChg chg="delSp modSp mod delAnim">
        <pc:chgData name="Xue,Kim (MED CD&amp;O) BII-CN-S" userId="3bd744f9-2f50-417a-9a80-5a6aab265eb2" providerId="ADAL" clId="{1E28CA9B-692D-42DB-812D-A2C242A7B32F}" dt="2024-04-24T09:18:41.267" v="11" actId="20577"/>
        <pc:sldMkLst>
          <pc:docMk/>
          <pc:sldMk cId="1227133434" sldId="788"/>
        </pc:sldMkLst>
        <pc:spChg chg="del">
          <ac:chgData name="Xue,Kim (MED CD&amp;O) BII-CN-S" userId="3bd744f9-2f50-417a-9a80-5a6aab265eb2" providerId="ADAL" clId="{1E28CA9B-692D-42DB-812D-A2C242A7B32F}" dt="2024-04-24T09:18:36.929" v="6" actId="478"/>
          <ac:spMkLst>
            <pc:docMk/>
            <pc:sldMk cId="1227133434" sldId="788"/>
            <ac:spMk id="32" creationId="{EC419CD9-88A1-7C3B-20B3-C614966A0ABA}"/>
          </ac:spMkLst>
        </pc:spChg>
        <pc:spChg chg="del">
          <ac:chgData name="Xue,Kim (MED CD&amp;O) BII-CN-S" userId="3bd744f9-2f50-417a-9a80-5a6aab265eb2" providerId="ADAL" clId="{1E28CA9B-692D-42DB-812D-A2C242A7B32F}" dt="2024-04-24T09:18:18.565" v="5" actId="478"/>
          <ac:spMkLst>
            <pc:docMk/>
            <pc:sldMk cId="1227133434" sldId="788"/>
            <ac:spMk id="34" creationId="{ED289FA2-0AE5-FE0B-20AE-09E30675C3E2}"/>
          </ac:spMkLst>
        </pc:spChg>
        <pc:spChg chg="mod">
          <ac:chgData name="Xue,Kim (MED CD&amp;O) BII-CN-S" userId="3bd744f9-2f50-417a-9a80-5a6aab265eb2" providerId="ADAL" clId="{1E28CA9B-692D-42DB-812D-A2C242A7B32F}" dt="2024-04-24T09:18:41.267" v="11" actId="20577"/>
          <ac:spMkLst>
            <pc:docMk/>
            <pc:sldMk cId="1227133434" sldId="788"/>
            <ac:spMk id="50" creationId="{1CD480E7-501B-65EF-C36C-03366ECC6C9C}"/>
          </ac:spMkLst>
        </pc:spChg>
        <pc:spChg chg="mod">
          <ac:chgData name="Xue,Kim (MED CD&amp;O) BII-CN-S" userId="3bd744f9-2f50-417a-9a80-5a6aab265eb2" providerId="ADAL" clId="{1E28CA9B-692D-42DB-812D-A2C242A7B32F}" dt="2024-04-24T09:18:13.258" v="4" actId="20577"/>
          <ac:spMkLst>
            <pc:docMk/>
            <pc:sldMk cId="1227133434" sldId="788"/>
            <ac:spMk id="112" creationId="{703394F6-B0B9-D35D-4A22-96FC87A74FF3}"/>
          </ac:spMkLst>
        </pc:spChg>
      </pc:sldChg>
    </pc:docChg>
  </pc:docChgLst>
  <pc:docChgLst>
    <pc:chgData name="Xue,Kim (MED CD&amp;O) BII-CN-S" userId="3bd744f9-2f50-417a-9a80-5a6aab265eb2" providerId="ADAL" clId="{883675AD-1D3D-4252-948A-3CA5B794B606}"/>
    <pc:docChg chg="custSel addSld delSld modSld modSection">
      <pc:chgData name="Xue,Kim (MED CD&amp;O) BII-CN-S" userId="3bd744f9-2f50-417a-9a80-5a6aab265eb2" providerId="ADAL" clId="{883675AD-1D3D-4252-948A-3CA5B794B606}" dt="2024-04-24T08:55:08.557" v="317"/>
      <pc:docMkLst>
        <pc:docMk/>
      </pc:docMkLst>
      <pc:sldChg chg="modTransition">
        <pc:chgData name="Xue,Kim (MED CD&amp;O) BII-CN-S" userId="3bd744f9-2f50-417a-9a80-5a6aab265eb2" providerId="ADAL" clId="{883675AD-1D3D-4252-948A-3CA5B794B606}" dt="2024-04-24T08:55:08.557" v="317"/>
        <pc:sldMkLst>
          <pc:docMk/>
          <pc:sldMk cId="3616862818" sldId="256"/>
        </pc:sldMkLst>
      </pc:sldChg>
      <pc:sldChg chg="modTransition">
        <pc:chgData name="Xue,Kim (MED CD&amp;O) BII-CN-S" userId="3bd744f9-2f50-417a-9a80-5a6aab265eb2" providerId="ADAL" clId="{883675AD-1D3D-4252-948A-3CA5B794B606}" dt="2024-04-24T08:55:08.557" v="317"/>
        <pc:sldMkLst>
          <pc:docMk/>
          <pc:sldMk cId="295122576" sldId="668"/>
        </pc:sldMkLst>
      </pc:sldChg>
      <pc:sldChg chg="modTransition">
        <pc:chgData name="Xue,Kim (MED CD&amp;O) BII-CN-S" userId="3bd744f9-2f50-417a-9a80-5a6aab265eb2" providerId="ADAL" clId="{883675AD-1D3D-4252-948A-3CA5B794B606}" dt="2024-04-24T08:55:08.557" v="317"/>
        <pc:sldMkLst>
          <pc:docMk/>
          <pc:sldMk cId="3437153389" sldId="677"/>
        </pc:sldMkLst>
      </pc:sldChg>
      <pc:sldChg chg="modTransition">
        <pc:chgData name="Xue,Kim (MED CD&amp;O) BII-CN-S" userId="3bd744f9-2f50-417a-9a80-5a6aab265eb2" providerId="ADAL" clId="{883675AD-1D3D-4252-948A-3CA5B794B606}" dt="2024-04-24T08:55:08.557" v="317"/>
        <pc:sldMkLst>
          <pc:docMk/>
          <pc:sldMk cId="3116030738" sldId="739"/>
        </pc:sldMkLst>
      </pc:sldChg>
      <pc:sldChg chg="modTransition">
        <pc:chgData name="Xue,Kim (MED CD&amp;O) BII-CN-S" userId="3bd744f9-2f50-417a-9a80-5a6aab265eb2" providerId="ADAL" clId="{883675AD-1D3D-4252-948A-3CA5B794B606}" dt="2024-04-24T08:55:08.557" v="317"/>
        <pc:sldMkLst>
          <pc:docMk/>
          <pc:sldMk cId="390447626" sldId="740"/>
        </pc:sldMkLst>
      </pc:sldChg>
      <pc:sldChg chg="modTransition">
        <pc:chgData name="Xue,Kim (MED CD&amp;O) BII-CN-S" userId="3bd744f9-2f50-417a-9a80-5a6aab265eb2" providerId="ADAL" clId="{883675AD-1D3D-4252-948A-3CA5B794B606}" dt="2024-04-24T08:55:08.557" v="317"/>
        <pc:sldMkLst>
          <pc:docMk/>
          <pc:sldMk cId="1227133434" sldId="788"/>
        </pc:sldMkLst>
      </pc:sldChg>
      <pc:sldChg chg="modTransition">
        <pc:chgData name="Xue,Kim (MED CD&amp;O) BII-CN-S" userId="3bd744f9-2f50-417a-9a80-5a6aab265eb2" providerId="ADAL" clId="{883675AD-1D3D-4252-948A-3CA5B794B606}" dt="2024-04-24T08:55:08.557" v="317"/>
        <pc:sldMkLst>
          <pc:docMk/>
          <pc:sldMk cId="2083180427" sldId="801"/>
        </pc:sldMkLst>
      </pc:sldChg>
      <pc:sldChg chg="modTransition">
        <pc:chgData name="Xue,Kim (MED CD&amp;O) BII-CN-S" userId="3bd744f9-2f50-417a-9a80-5a6aab265eb2" providerId="ADAL" clId="{883675AD-1D3D-4252-948A-3CA5B794B606}" dt="2024-04-24T08:55:08.557" v="317"/>
        <pc:sldMkLst>
          <pc:docMk/>
          <pc:sldMk cId="1245418864" sldId="815"/>
        </pc:sldMkLst>
      </pc:sldChg>
      <pc:sldChg chg="del">
        <pc:chgData name="Xue,Kim (MED CD&amp;O) BII-CN-S" userId="3bd744f9-2f50-417a-9a80-5a6aab265eb2" providerId="ADAL" clId="{883675AD-1D3D-4252-948A-3CA5B794B606}" dt="2024-04-22T03:06:11.005" v="305" actId="47"/>
        <pc:sldMkLst>
          <pc:docMk/>
          <pc:sldMk cId="991529482" sldId="820"/>
        </pc:sldMkLst>
      </pc:sldChg>
      <pc:sldChg chg="modTransition modNotesTx">
        <pc:chgData name="Xue,Kim (MED CD&amp;O) BII-CN-S" userId="3bd744f9-2f50-417a-9a80-5a6aab265eb2" providerId="ADAL" clId="{883675AD-1D3D-4252-948A-3CA5B794B606}" dt="2024-04-24T08:55:08.557" v="317"/>
        <pc:sldMkLst>
          <pc:docMk/>
          <pc:sldMk cId="1578024868" sldId="834"/>
        </pc:sldMkLst>
      </pc:sldChg>
      <pc:sldChg chg="del mod modShow">
        <pc:chgData name="Xue,Kim (MED CD&amp;O) BII-CN-S" userId="3bd744f9-2f50-417a-9a80-5a6aab265eb2" providerId="ADAL" clId="{883675AD-1D3D-4252-948A-3CA5B794B606}" dt="2024-04-22T03:06:12.179" v="306" actId="47"/>
        <pc:sldMkLst>
          <pc:docMk/>
          <pc:sldMk cId="2785104527" sldId="849"/>
        </pc:sldMkLst>
      </pc:sldChg>
      <pc:sldChg chg="addSp modSp add mod modTransition modAnim modNotesTx">
        <pc:chgData name="Xue,Kim (MED CD&amp;O) BII-CN-S" userId="3bd744f9-2f50-417a-9a80-5a6aab265eb2" providerId="ADAL" clId="{883675AD-1D3D-4252-948A-3CA5B794B606}" dt="2024-04-24T08:55:08.557" v="317"/>
        <pc:sldMkLst>
          <pc:docMk/>
          <pc:sldMk cId="3855607974" sldId="850"/>
        </pc:sldMkLst>
        <pc:graphicFrameChg chg="add mod">
          <ac:chgData name="Xue,Kim (MED CD&amp;O) BII-CN-S" userId="3bd744f9-2f50-417a-9a80-5a6aab265eb2" providerId="ADAL" clId="{883675AD-1D3D-4252-948A-3CA5B794B606}" dt="2024-04-22T02:55:00.707" v="1"/>
          <ac:graphicFrameMkLst>
            <pc:docMk/>
            <pc:sldMk cId="3855607974" sldId="850"/>
            <ac:graphicFrameMk id="3" creationId="{3F081874-CFD9-5DB6-D293-BD3620DF798C}"/>
          </ac:graphicFrameMkLst>
        </pc:graphicFrameChg>
        <pc:graphicFrameChg chg="add mod">
          <ac:chgData name="Xue,Kim (MED CD&amp;O) BII-CN-S" userId="3bd744f9-2f50-417a-9a80-5a6aab265eb2" providerId="ADAL" clId="{883675AD-1D3D-4252-948A-3CA5B794B606}" dt="2024-04-22T02:55:00.707" v="1"/>
          <ac:graphicFrameMkLst>
            <pc:docMk/>
            <pc:sldMk cId="3855607974" sldId="850"/>
            <ac:graphicFrameMk id="6" creationId="{CD3279D3-888F-52D3-3FE9-935689699CFE}"/>
          </ac:graphicFrameMkLst>
        </pc:graphicFrameChg>
        <pc:graphicFrameChg chg="add mod">
          <ac:chgData name="Xue,Kim (MED CD&amp;O) BII-CN-S" userId="3bd744f9-2f50-417a-9a80-5a6aab265eb2" providerId="ADAL" clId="{883675AD-1D3D-4252-948A-3CA5B794B606}" dt="2024-04-22T02:57:41.887" v="151" actId="555"/>
          <ac:graphicFrameMkLst>
            <pc:docMk/>
            <pc:sldMk cId="3855607974" sldId="850"/>
            <ac:graphicFrameMk id="7" creationId="{5FA1C125-3952-F178-CDF3-F77C189903CC}"/>
          </ac:graphicFrameMkLst>
        </pc:graphicFrameChg>
        <pc:graphicFrameChg chg="add mod">
          <ac:chgData name="Xue,Kim (MED CD&amp;O) BII-CN-S" userId="3bd744f9-2f50-417a-9a80-5a6aab265eb2" providerId="ADAL" clId="{883675AD-1D3D-4252-948A-3CA5B794B606}" dt="2024-04-22T02:57:48.104" v="152" actId="555"/>
          <ac:graphicFrameMkLst>
            <pc:docMk/>
            <pc:sldMk cId="3855607974" sldId="850"/>
            <ac:graphicFrameMk id="8" creationId="{FC0CD5EC-92F6-2099-A88C-00032A688FAC}"/>
          </ac:graphicFrameMkLst>
        </pc:graphicFrameChg>
        <pc:graphicFrameChg chg="add mod">
          <ac:chgData name="Xue,Kim (MED CD&amp;O) BII-CN-S" userId="3bd744f9-2f50-417a-9a80-5a6aab265eb2" providerId="ADAL" clId="{883675AD-1D3D-4252-948A-3CA5B794B606}" dt="2024-04-22T02:57:48.104" v="152" actId="555"/>
          <ac:graphicFrameMkLst>
            <pc:docMk/>
            <pc:sldMk cId="3855607974" sldId="850"/>
            <ac:graphicFrameMk id="9" creationId="{1EC62EB9-A263-9E56-B212-DE9172C66482}"/>
          </ac:graphicFrameMkLst>
        </pc:graphicFrameChg>
      </pc:sldChg>
      <pc:sldChg chg="addSp delSp modSp add mod modTransition modAnim modNotesTx">
        <pc:chgData name="Xue,Kim (MED CD&amp;O) BII-CN-S" userId="3bd744f9-2f50-417a-9a80-5a6aab265eb2" providerId="ADAL" clId="{883675AD-1D3D-4252-948A-3CA5B794B606}" dt="2024-04-24T08:55:08.557" v="317"/>
        <pc:sldMkLst>
          <pc:docMk/>
          <pc:sldMk cId="768338793" sldId="851"/>
        </pc:sldMkLst>
        <pc:spChg chg="mod">
          <ac:chgData name="Xue,Kim (MED CD&amp;O) BII-CN-S" userId="3bd744f9-2f50-417a-9a80-5a6aab265eb2" providerId="ADAL" clId="{883675AD-1D3D-4252-948A-3CA5B794B606}" dt="2024-04-22T02:59:17.380" v="157"/>
          <ac:spMkLst>
            <pc:docMk/>
            <pc:sldMk cId="768338793" sldId="851"/>
            <ac:spMk id="18" creationId="{EC6501C0-3FE1-6815-FF0E-0CC09B709CC0}"/>
          </ac:spMkLst>
        </pc:spChg>
        <pc:spChg chg="mod">
          <ac:chgData name="Xue,Kim (MED CD&amp;O) BII-CN-S" userId="3bd744f9-2f50-417a-9a80-5a6aab265eb2" providerId="ADAL" clId="{883675AD-1D3D-4252-948A-3CA5B794B606}" dt="2024-04-22T03:03:03.211" v="304" actId="1037"/>
          <ac:spMkLst>
            <pc:docMk/>
            <pc:sldMk cId="768338793" sldId="851"/>
            <ac:spMk id="19" creationId="{BE017672-AA82-4145-3C2F-4B5977FA3AF4}"/>
          </ac:spMkLst>
        </pc:spChg>
        <pc:spChg chg="mod">
          <ac:chgData name="Xue,Kim (MED CD&amp;O) BII-CN-S" userId="3bd744f9-2f50-417a-9a80-5a6aab265eb2" providerId="ADAL" clId="{883675AD-1D3D-4252-948A-3CA5B794B606}" dt="2024-04-22T02:59:17.380" v="157"/>
          <ac:spMkLst>
            <pc:docMk/>
            <pc:sldMk cId="768338793" sldId="851"/>
            <ac:spMk id="20" creationId="{22769FC6-029A-EA32-F718-C4FE7A86589F}"/>
          </ac:spMkLst>
        </pc:spChg>
        <pc:spChg chg="mod">
          <ac:chgData name="Xue,Kim (MED CD&amp;O) BII-CN-S" userId="3bd744f9-2f50-417a-9a80-5a6aab265eb2" providerId="ADAL" clId="{883675AD-1D3D-4252-948A-3CA5B794B606}" dt="2024-04-22T02:59:17.380" v="157"/>
          <ac:spMkLst>
            <pc:docMk/>
            <pc:sldMk cId="768338793" sldId="851"/>
            <ac:spMk id="21" creationId="{C89E7A8B-F977-F3D4-9A75-585226E62039}"/>
          </ac:spMkLst>
        </pc:spChg>
        <pc:grpChg chg="add mod">
          <ac:chgData name="Xue,Kim (MED CD&amp;O) BII-CN-S" userId="3bd744f9-2f50-417a-9a80-5a6aab265eb2" providerId="ADAL" clId="{883675AD-1D3D-4252-948A-3CA5B794B606}" dt="2024-04-22T02:59:17.380" v="157"/>
          <ac:grpSpMkLst>
            <pc:docMk/>
            <pc:sldMk cId="768338793" sldId="851"/>
            <ac:grpSpMk id="14" creationId="{8177EA53-5616-EDC0-E634-B727649D0887}"/>
          </ac:grpSpMkLst>
        </pc:grpChg>
        <pc:grpChg chg="mod">
          <ac:chgData name="Xue,Kim (MED CD&amp;O) BII-CN-S" userId="3bd744f9-2f50-417a-9a80-5a6aab265eb2" providerId="ADAL" clId="{883675AD-1D3D-4252-948A-3CA5B794B606}" dt="2024-04-22T02:59:17.380" v="157"/>
          <ac:grpSpMkLst>
            <pc:docMk/>
            <pc:sldMk cId="768338793" sldId="851"/>
            <ac:grpSpMk id="16" creationId="{AA1A19A5-0121-545C-0207-C64A8D67FDB4}"/>
          </ac:grpSpMkLst>
        </pc:grpChg>
        <pc:graphicFrameChg chg="del">
          <ac:chgData name="Xue,Kim (MED CD&amp;O) BII-CN-S" userId="3bd744f9-2f50-417a-9a80-5a6aab265eb2" providerId="ADAL" clId="{883675AD-1D3D-4252-948A-3CA5B794B606}" dt="2024-04-22T02:59:59.580" v="247" actId="478"/>
          <ac:graphicFrameMkLst>
            <pc:docMk/>
            <pc:sldMk cId="768338793" sldId="851"/>
            <ac:graphicFrameMk id="3" creationId="{3F081874-CFD9-5DB6-D293-BD3620DF798C}"/>
          </ac:graphicFrameMkLst>
        </pc:graphicFrameChg>
        <pc:graphicFrameChg chg="del">
          <ac:chgData name="Xue,Kim (MED CD&amp;O) BII-CN-S" userId="3bd744f9-2f50-417a-9a80-5a6aab265eb2" providerId="ADAL" clId="{883675AD-1D3D-4252-948A-3CA5B794B606}" dt="2024-04-22T02:59:48.239" v="193" actId="478"/>
          <ac:graphicFrameMkLst>
            <pc:docMk/>
            <pc:sldMk cId="768338793" sldId="851"/>
            <ac:graphicFrameMk id="5" creationId="{35BBC505-7179-4215-00BD-442543CE9458}"/>
          </ac:graphicFrameMkLst>
        </pc:graphicFrameChg>
        <pc:graphicFrameChg chg="del">
          <ac:chgData name="Xue,Kim (MED CD&amp;O) BII-CN-S" userId="3bd744f9-2f50-417a-9a80-5a6aab265eb2" providerId="ADAL" clId="{883675AD-1D3D-4252-948A-3CA5B794B606}" dt="2024-04-22T02:59:58.737" v="246" actId="478"/>
          <ac:graphicFrameMkLst>
            <pc:docMk/>
            <pc:sldMk cId="768338793" sldId="851"/>
            <ac:graphicFrameMk id="6" creationId="{CD3279D3-888F-52D3-3FE9-935689699CFE}"/>
          </ac:graphicFrameMkLst>
        </pc:graphicFrameChg>
        <pc:graphicFrameChg chg="del">
          <ac:chgData name="Xue,Kim (MED CD&amp;O) BII-CN-S" userId="3bd744f9-2f50-417a-9a80-5a6aab265eb2" providerId="ADAL" clId="{883675AD-1D3D-4252-948A-3CA5B794B606}" dt="2024-04-22T02:59:58.020" v="245" actId="478"/>
          <ac:graphicFrameMkLst>
            <pc:docMk/>
            <pc:sldMk cId="768338793" sldId="851"/>
            <ac:graphicFrameMk id="7" creationId="{5FA1C125-3952-F178-CDF3-F77C189903CC}"/>
          </ac:graphicFrameMkLst>
        </pc:graphicFrameChg>
        <pc:graphicFrameChg chg="del">
          <ac:chgData name="Xue,Kim (MED CD&amp;O) BII-CN-S" userId="3bd744f9-2f50-417a-9a80-5a6aab265eb2" providerId="ADAL" clId="{883675AD-1D3D-4252-948A-3CA5B794B606}" dt="2024-04-22T02:59:57.250" v="244" actId="478"/>
          <ac:graphicFrameMkLst>
            <pc:docMk/>
            <pc:sldMk cId="768338793" sldId="851"/>
            <ac:graphicFrameMk id="8" creationId="{FC0CD5EC-92F6-2099-A88C-00032A688FAC}"/>
          </ac:graphicFrameMkLst>
        </pc:graphicFrameChg>
        <pc:graphicFrameChg chg="mod">
          <ac:chgData name="Xue,Kim (MED CD&amp;O) BII-CN-S" userId="3bd744f9-2f50-417a-9a80-5a6aab265eb2" providerId="ADAL" clId="{883675AD-1D3D-4252-948A-3CA5B794B606}" dt="2024-04-22T03:02:19.409" v="284" actId="207"/>
          <ac:graphicFrameMkLst>
            <pc:docMk/>
            <pc:sldMk cId="768338793" sldId="851"/>
            <ac:graphicFrameMk id="9" creationId="{1EC62EB9-A263-9E56-B212-DE9172C66482}"/>
          </ac:graphicFrameMkLst>
        </pc:graphicFrameChg>
        <pc:graphicFrameChg chg="del">
          <ac:chgData name="Xue,Kim (MED CD&amp;O) BII-CN-S" userId="3bd744f9-2f50-417a-9a80-5a6aab265eb2" providerId="ADAL" clId="{883675AD-1D3D-4252-948A-3CA5B794B606}" dt="2024-04-22T02:59:46.954" v="192" actId="478"/>
          <ac:graphicFrameMkLst>
            <pc:docMk/>
            <pc:sldMk cId="768338793" sldId="851"/>
            <ac:graphicFrameMk id="10" creationId="{9DD67585-B344-2FBC-24B5-E2D2B76BF6D7}"/>
          </ac:graphicFrameMkLst>
        </pc:graphicFrameChg>
        <pc:graphicFrameChg chg="del">
          <ac:chgData name="Xue,Kim (MED CD&amp;O) BII-CN-S" userId="3bd744f9-2f50-417a-9a80-5a6aab265eb2" providerId="ADAL" clId="{883675AD-1D3D-4252-948A-3CA5B794B606}" dt="2024-04-22T02:59:46.265" v="191" actId="478"/>
          <ac:graphicFrameMkLst>
            <pc:docMk/>
            <pc:sldMk cId="768338793" sldId="851"/>
            <ac:graphicFrameMk id="11" creationId="{F4883A70-0CC0-F812-96B9-546FBEEBCAF1}"/>
          </ac:graphicFrameMkLst>
        </pc:graphicFrameChg>
        <pc:graphicFrameChg chg="del">
          <ac:chgData name="Xue,Kim (MED CD&amp;O) BII-CN-S" userId="3bd744f9-2f50-417a-9a80-5a6aab265eb2" providerId="ADAL" clId="{883675AD-1D3D-4252-948A-3CA5B794B606}" dt="2024-04-22T02:59:45.536" v="190" actId="478"/>
          <ac:graphicFrameMkLst>
            <pc:docMk/>
            <pc:sldMk cId="768338793" sldId="851"/>
            <ac:graphicFrameMk id="12" creationId="{20AC5E3B-468F-1E5A-2F4B-A7541B710A2F}"/>
          </ac:graphicFrameMkLst>
        </pc:graphicFrameChg>
        <pc:graphicFrameChg chg="del">
          <ac:chgData name="Xue,Kim (MED CD&amp;O) BII-CN-S" userId="3bd744f9-2f50-417a-9a80-5a6aab265eb2" providerId="ADAL" clId="{883675AD-1D3D-4252-948A-3CA5B794B606}" dt="2024-04-22T02:59:44.780" v="189" actId="478"/>
          <ac:graphicFrameMkLst>
            <pc:docMk/>
            <pc:sldMk cId="768338793" sldId="851"/>
            <ac:graphicFrameMk id="13" creationId="{FCF51BB1-1585-F68C-66A1-32EA785E2414}"/>
          </ac:graphicFrameMkLst>
        </pc:graphicFrameChg>
        <pc:graphicFrameChg chg="mod">
          <ac:chgData name="Xue,Kim (MED CD&amp;O) BII-CN-S" userId="3bd744f9-2f50-417a-9a80-5a6aab265eb2" providerId="ADAL" clId="{883675AD-1D3D-4252-948A-3CA5B794B606}" dt="2024-04-22T03:01:27.230" v="280" actId="1036"/>
          <ac:graphicFrameMkLst>
            <pc:docMk/>
            <pc:sldMk cId="768338793" sldId="851"/>
            <ac:graphicFrameMk id="15" creationId="{861D8F36-93D7-84C7-5696-57DBE0C63A92}"/>
          </ac:graphicFrameMkLst>
        </pc:graphicFrameChg>
        <pc:cxnChg chg="mod">
          <ac:chgData name="Xue,Kim (MED CD&amp;O) BII-CN-S" userId="3bd744f9-2f50-417a-9a80-5a6aab265eb2" providerId="ADAL" clId="{883675AD-1D3D-4252-948A-3CA5B794B606}" dt="2024-04-22T02:59:17.380" v="157"/>
          <ac:cxnSpMkLst>
            <pc:docMk/>
            <pc:sldMk cId="768338793" sldId="851"/>
            <ac:cxnSpMk id="17" creationId="{22383DD1-A3E1-D7A1-6E78-5E10C3D642F2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CTA-A to 1ST activated site FPFV</a:t>
            </a:r>
          </a:p>
        </c:rich>
      </c:tx>
      <c:layout>
        <c:manualLayout>
          <c:xMode val="edge"/>
          <c:yMode val="edge"/>
          <c:x val="0.24242803695125381"/>
          <c:y val="4.50868102899736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1203015122505831"/>
          <c:y val="8.4684823468152634E-2"/>
          <c:w val="0.75928416456578551"/>
          <c:h val="0.83547054132935983"/>
        </c:manualLayout>
      </c:layout>
      <c:bar3D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rgbClr val="F9BBB7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4AF1-40C7-9369-FD8D8BEA1A61}"/>
              </c:ext>
            </c:extLst>
          </c:dPt>
          <c:dPt>
            <c:idx val="1"/>
            <c:invertIfNegative val="0"/>
            <c:bubble3D val="0"/>
            <c:spPr>
              <a:solidFill>
                <a:srgbClr val="FFE166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4AF1-40C7-9369-FD8D8BEA1A61}"/>
              </c:ext>
            </c:extLst>
          </c:dPt>
          <c:dPt>
            <c:idx val="2"/>
            <c:invertIfNegative val="0"/>
            <c:bubble3D val="0"/>
            <c:spPr>
              <a:solidFill>
                <a:srgbClr val="D1E9ED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4AF1-40C7-9369-FD8D8BEA1A61}"/>
              </c:ext>
            </c:extLst>
          </c:dPt>
          <c:dPt>
            <c:idx val="3"/>
            <c:invertIfNegative val="0"/>
            <c:bubble3D val="0"/>
            <c:spPr>
              <a:solidFill>
                <a:srgbClr val="91D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8-4AF1-40C7-9369-FD8D8BEA1A61}"/>
              </c:ext>
            </c:extLst>
          </c:dPt>
          <c:dPt>
            <c:idx val="4"/>
            <c:invertIfNegative val="0"/>
            <c:bubble3D val="0"/>
            <c:spPr>
              <a:solidFill>
                <a:srgbClr val="00B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9-4AF1-40C7-9369-FD8D8BEA1A61}"/>
              </c:ext>
            </c:extLst>
          </c:dPt>
          <c:dLbls>
            <c:dLbl>
              <c:idx val="0"/>
              <c:layout>
                <c:manualLayout>
                  <c:x val="0.15549186121398287"/>
                  <c:y val="2.914956523578741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AF1-40C7-9369-FD8D8BEA1A61}"/>
                </c:ext>
              </c:extLst>
            </c:dLbl>
            <c:dLbl>
              <c:idx val="1"/>
              <c:layout>
                <c:manualLayout>
                  <c:x val="9.4856972925542946E-2"/>
                  <c:y val="4.937330039556452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AF1-40C7-9369-FD8D8BEA1A61}"/>
                </c:ext>
              </c:extLst>
            </c:dLbl>
            <c:dLbl>
              <c:idx val="2"/>
              <c:layout>
                <c:manualLayout>
                  <c:x val="5.8230884262491019E-2"/>
                  <c:y val="9.56878686876990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AF1-40C7-9369-FD8D8BEA1A61}"/>
                </c:ext>
              </c:extLst>
            </c:dLbl>
            <c:dLbl>
              <c:idx val="3"/>
              <c:layout>
                <c:manualLayout>
                  <c:x val="4.6626293925548415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AF1-40C7-9369-FD8D8BEA1A61}"/>
                </c:ext>
              </c:extLst>
            </c:dLbl>
            <c:dLbl>
              <c:idx val="4"/>
              <c:layout>
                <c:manualLayout>
                  <c:x val="2.5432523959390028E-2"/>
                  <c:y val="-3.529840773607686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AF1-40C7-9369-FD8D8BEA1A6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6-4AF1-40C7-9369-FD8D8BEA1A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151760192"/>
        <c:axId val="1151756912"/>
        <c:axId val="0"/>
      </c:bar3DChart>
      <c:catAx>
        <c:axId val="11517601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56912"/>
        <c:crosses val="autoZero"/>
        <c:auto val="1"/>
        <c:lblAlgn val="ctr"/>
        <c:lblOffset val="100"/>
        <c:noMultiLvlLbl val="0"/>
      </c:catAx>
      <c:valAx>
        <c:axId val="1151756912"/>
        <c:scaling>
          <c:orientation val="minMax"/>
          <c:max val="6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</a:t>
                </a:r>
              </a:p>
            </c:rich>
          </c:tx>
          <c:layout>
            <c:manualLayout>
              <c:xMode val="edge"/>
              <c:yMode val="edge"/>
              <c:x val="0.92760552948070896"/>
              <c:y val="0.8810486374232917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60192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CTA-A to 1ST activated site FPFV</a:t>
            </a:r>
          </a:p>
        </c:rich>
      </c:tx>
      <c:layout>
        <c:manualLayout>
          <c:xMode val="edge"/>
          <c:yMode val="edge"/>
          <c:x val="0.24242803695125381"/>
          <c:y val="4.50868102899736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1203015122505831"/>
          <c:y val="8.4684823468152634E-2"/>
          <c:w val="0.75928416456578551"/>
          <c:h val="0.83547054132935983"/>
        </c:manualLayout>
      </c:layout>
      <c:bar3D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rgbClr val="F9BBB7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1A80-4726-A4B2-15202608C370}"/>
              </c:ext>
            </c:extLst>
          </c:dPt>
          <c:dPt>
            <c:idx val="1"/>
            <c:invertIfNegative val="0"/>
            <c:bubble3D val="0"/>
            <c:spPr>
              <a:solidFill>
                <a:srgbClr val="FFE166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1A80-4726-A4B2-15202608C370}"/>
              </c:ext>
            </c:extLst>
          </c:dPt>
          <c:dPt>
            <c:idx val="2"/>
            <c:invertIfNegative val="0"/>
            <c:bubble3D val="0"/>
            <c:spPr>
              <a:solidFill>
                <a:srgbClr val="D1E9ED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1A80-4726-A4B2-15202608C370}"/>
              </c:ext>
            </c:extLst>
          </c:dPt>
          <c:dPt>
            <c:idx val="3"/>
            <c:invertIfNegative val="0"/>
            <c:bubble3D val="0"/>
            <c:spPr>
              <a:solidFill>
                <a:srgbClr val="91D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7-1A80-4726-A4B2-15202608C370}"/>
              </c:ext>
            </c:extLst>
          </c:dPt>
          <c:dPt>
            <c:idx val="4"/>
            <c:invertIfNegative val="0"/>
            <c:bubble3D val="0"/>
            <c:spPr>
              <a:solidFill>
                <a:srgbClr val="00B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9-1A80-4726-A4B2-15202608C370}"/>
              </c:ext>
            </c:extLst>
          </c:dPt>
          <c:dLbls>
            <c:dLbl>
              <c:idx val="0"/>
              <c:layout>
                <c:manualLayout>
                  <c:x val="0.15549186121398287"/>
                  <c:y val="2.914956523578741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A80-4726-A4B2-15202608C370}"/>
                </c:ext>
              </c:extLst>
            </c:dLbl>
            <c:dLbl>
              <c:idx val="1"/>
              <c:layout>
                <c:manualLayout>
                  <c:x val="9.4856972925542946E-2"/>
                  <c:y val="4.937330039556452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A80-4726-A4B2-15202608C370}"/>
                </c:ext>
              </c:extLst>
            </c:dLbl>
            <c:dLbl>
              <c:idx val="2"/>
              <c:layout>
                <c:manualLayout>
                  <c:x val="5.8230884262491019E-2"/>
                  <c:y val="9.56878686876990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A80-4726-A4B2-15202608C370}"/>
                </c:ext>
              </c:extLst>
            </c:dLbl>
            <c:dLbl>
              <c:idx val="3"/>
              <c:layout>
                <c:manualLayout>
                  <c:x val="4.6626293925548415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A80-4726-A4B2-15202608C370}"/>
                </c:ext>
              </c:extLst>
            </c:dLbl>
            <c:dLbl>
              <c:idx val="4"/>
              <c:layout>
                <c:manualLayout>
                  <c:x val="2.5432523959390028E-2"/>
                  <c:y val="-3.529840773607686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A80-4726-A4B2-15202608C37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1"/>
                <c:pt idx="0">
                  <c:v>Industry Median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 formatCode="0.0">
                  <c:v>5.1566666666666672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A80-4726-A4B2-15202608C3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151760192"/>
        <c:axId val="1151756912"/>
        <c:axId val="0"/>
      </c:bar3DChart>
      <c:catAx>
        <c:axId val="11517601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56912"/>
        <c:crosses val="autoZero"/>
        <c:auto val="1"/>
        <c:lblAlgn val="ctr"/>
        <c:lblOffset val="100"/>
        <c:noMultiLvlLbl val="0"/>
      </c:catAx>
      <c:valAx>
        <c:axId val="1151756912"/>
        <c:scaling>
          <c:orientation val="minMax"/>
          <c:max val="6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</a:t>
                </a:r>
              </a:p>
            </c:rich>
          </c:tx>
          <c:layout>
            <c:manualLayout>
              <c:xMode val="edge"/>
              <c:yMode val="edge"/>
              <c:x val="0.92760552948070896"/>
              <c:y val="0.8810486374232917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60192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CTA-A to 1ST activated site FPFV</a:t>
            </a:r>
          </a:p>
        </c:rich>
      </c:tx>
      <c:layout>
        <c:manualLayout>
          <c:xMode val="edge"/>
          <c:yMode val="edge"/>
          <c:x val="0.24242803695125381"/>
          <c:y val="4.50868102899736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1203015122505831"/>
          <c:y val="8.4684823468152634E-2"/>
          <c:w val="0.75928416456578551"/>
          <c:h val="0.83547054132935983"/>
        </c:manualLayout>
      </c:layout>
      <c:bar3D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rgbClr val="F9BBB7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7175-45C3-8CB6-444B9E091488}"/>
              </c:ext>
            </c:extLst>
          </c:dPt>
          <c:dPt>
            <c:idx val="1"/>
            <c:invertIfNegative val="0"/>
            <c:bubble3D val="0"/>
            <c:spPr>
              <a:solidFill>
                <a:srgbClr val="FFE166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7175-45C3-8CB6-444B9E091488}"/>
              </c:ext>
            </c:extLst>
          </c:dPt>
          <c:dPt>
            <c:idx val="2"/>
            <c:invertIfNegative val="0"/>
            <c:bubble3D val="0"/>
            <c:spPr>
              <a:solidFill>
                <a:srgbClr val="D1E9ED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7175-45C3-8CB6-444B9E091488}"/>
              </c:ext>
            </c:extLst>
          </c:dPt>
          <c:dPt>
            <c:idx val="3"/>
            <c:invertIfNegative val="0"/>
            <c:bubble3D val="0"/>
            <c:spPr>
              <a:solidFill>
                <a:srgbClr val="91D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7-7175-45C3-8CB6-444B9E091488}"/>
              </c:ext>
            </c:extLst>
          </c:dPt>
          <c:dPt>
            <c:idx val="4"/>
            <c:invertIfNegative val="0"/>
            <c:bubble3D val="0"/>
            <c:spPr>
              <a:solidFill>
                <a:srgbClr val="00B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9-7175-45C3-8CB6-444B9E091488}"/>
              </c:ext>
            </c:extLst>
          </c:dPt>
          <c:dLbls>
            <c:dLbl>
              <c:idx val="0"/>
              <c:layout>
                <c:manualLayout>
                  <c:x val="0.15549186121398287"/>
                  <c:y val="2.914956523578741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175-45C3-8CB6-444B9E091488}"/>
                </c:ext>
              </c:extLst>
            </c:dLbl>
            <c:dLbl>
              <c:idx val="1"/>
              <c:layout>
                <c:manualLayout>
                  <c:x val="9.4856972925542946E-2"/>
                  <c:y val="4.937330039556452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175-45C3-8CB6-444B9E091488}"/>
                </c:ext>
              </c:extLst>
            </c:dLbl>
            <c:dLbl>
              <c:idx val="2"/>
              <c:layout>
                <c:manualLayout>
                  <c:x val="5.8230884262491019E-2"/>
                  <c:y val="9.56878686876990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175-45C3-8CB6-444B9E091488}"/>
                </c:ext>
              </c:extLst>
            </c:dLbl>
            <c:dLbl>
              <c:idx val="3"/>
              <c:layout>
                <c:manualLayout>
                  <c:x val="4.6626293925548415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175-45C3-8CB6-444B9E091488}"/>
                </c:ext>
              </c:extLst>
            </c:dLbl>
            <c:dLbl>
              <c:idx val="4"/>
              <c:layout>
                <c:manualLayout>
                  <c:x val="2.5432523959390028E-2"/>
                  <c:y val="-3.529840773607686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175-45C3-8CB6-444B9E09148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2"/>
                <c:pt idx="0">
                  <c:v>Industry Median</c:v>
                </c:pt>
                <c:pt idx="1">
                  <c:v>Industry 25%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5.1566666666666672</c:v>
                </c:pt>
                <c:pt idx="1">
                  <c:v>3.4299999999999997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175-45C3-8CB6-444B9E0914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151760192"/>
        <c:axId val="1151756912"/>
        <c:axId val="0"/>
      </c:bar3DChart>
      <c:catAx>
        <c:axId val="11517601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56912"/>
        <c:crosses val="autoZero"/>
        <c:auto val="1"/>
        <c:lblAlgn val="ctr"/>
        <c:lblOffset val="100"/>
        <c:noMultiLvlLbl val="0"/>
      </c:catAx>
      <c:valAx>
        <c:axId val="1151756912"/>
        <c:scaling>
          <c:orientation val="minMax"/>
          <c:max val="6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</a:t>
                </a:r>
              </a:p>
            </c:rich>
          </c:tx>
          <c:layout>
            <c:manualLayout>
              <c:xMode val="edge"/>
              <c:yMode val="edge"/>
              <c:x val="0.92760552948070896"/>
              <c:y val="0.8810486374232917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60192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CTA-A to 1ST activated site FPFV</a:t>
            </a:r>
          </a:p>
        </c:rich>
      </c:tx>
      <c:layout>
        <c:manualLayout>
          <c:xMode val="edge"/>
          <c:yMode val="edge"/>
          <c:x val="0.24242803695125381"/>
          <c:y val="4.50868102899736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1203015122505831"/>
          <c:y val="8.4684823468152634E-2"/>
          <c:w val="0.75928416456578551"/>
          <c:h val="0.83547054132935983"/>
        </c:manualLayout>
      </c:layout>
      <c:bar3D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rgbClr val="F9BBB7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E935-4B22-B059-2E59478752D4}"/>
              </c:ext>
            </c:extLst>
          </c:dPt>
          <c:dPt>
            <c:idx val="1"/>
            <c:invertIfNegative val="0"/>
            <c:bubble3D val="0"/>
            <c:spPr>
              <a:solidFill>
                <a:srgbClr val="FFE166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E935-4B22-B059-2E59478752D4}"/>
              </c:ext>
            </c:extLst>
          </c:dPt>
          <c:dPt>
            <c:idx val="2"/>
            <c:invertIfNegative val="0"/>
            <c:bubble3D val="0"/>
            <c:spPr>
              <a:solidFill>
                <a:srgbClr val="D1E9ED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E935-4B22-B059-2E59478752D4}"/>
              </c:ext>
            </c:extLst>
          </c:dPt>
          <c:dPt>
            <c:idx val="3"/>
            <c:invertIfNegative val="0"/>
            <c:bubble3D val="0"/>
            <c:spPr>
              <a:solidFill>
                <a:srgbClr val="91D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7-E935-4B22-B059-2E59478752D4}"/>
              </c:ext>
            </c:extLst>
          </c:dPt>
          <c:dPt>
            <c:idx val="4"/>
            <c:invertIfNegative val="0"/>
            <c:bubble3D val="0"/>
            <c:spPr>
              <a:solidFill>
                <a:srgbClr val="00B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9-E935-4B22-B059-2E59478752D4}"/>
              </c:ext>
            </c:extLst>
          </c:dPt>
          <c:dLbls>
            <c:dLbl>
              <c:idx val="0"/>
              <c:layout>
                <c:manualLayout>
                  <c:x val="0.15549186121398287"/>
                  <c:y val="2.914956523578741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935-4B22-B059-2E59478752D4}"/>
                </c:ext>
              </c:extLst>
            </c:dLbl>
            <c:dLbl>
              <c:idx val="1"/>
              <c:layout>
                <c:manualLayout>
                  <c:x val="9.4856972925542946E-2"/>
                  <c:y val="4.937330039556452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935-4B22-B059-2E59478752D4}"/>
                </c:ext>
              </c:extLst>
            </c:dLbl>
            <c:dLbl>
              <c:idx val="2"/>
              <c:layout>
                <c:manualLayout>
                  <c:x val="5.8230884262491019E-2"/>
                  <c:y val="9.56878686876990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935-4B22-B059-2E59478752D4}"/>
                </c:ext>
              </c:extLst>
            </c:dLbl>
            <c:dLbl>
              <c:idx val="3"/>
              <c:layout>
                <c:manualLayout>
                  <c:x val="4.6626293925548415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935-4B22-B059-2E59478752D4}"/>
                </c:ext>
              </c:extLst>
            </c:dLbl>
            <c:dLbl>
              <c:idx val="4"/>
              <c:layout>
                <c:manualLayout>
                  <c:x val="2.5432523959390028E-2"/>
                  <c:y val="-3.529840773607686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935-4B22-B059-2E59478752D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3"/>
                <c:pt idx="0">
                  <c:v>Industry Median</c:v>
                </c:pt>
                <c:pt idx="1">
                  <c:v>Industry 25%</c:v>
                </c:pt>
                <c:pt idx="2">
                  <c:v>Boehringer China Median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5.1566666666666672</c:v>
                </c:pt>
                <c:pt idx="1">
                  <c:v>3.4299999999999997</c:v>
                </c:pt>
                <c:pt idx="2">
                  <c:v>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935-4B22-B059-2E59478752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151760192"/>
        <c:axId val="1151756912"/>
        <c:axId val="0"/>
      </c:bar3DChart>
      <c:catAx>
        <c:axId val="11517601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56912"/>
        <c:crosses val="autoZero"/>
        <c:auto val="1"/>
        <c:lblAlgn val="ctr"/>
        <c:lblOffset val="100"/>
        <c:noMultiLvlLbl val="0"/>
      </c:catAx>
      <c:valAx>
        <c:axId val="1151756912"/>
        <c:scaling>
          <c:orientation val="minMax"/>
          <c:max val="6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</a:t>
                </a:r>
              </a:p>
            </c:rich>
          </c:tx>
          <c:layout>
            <c:manualLayout>
              <c:xMode val="edge"/>
              <c:yMode val="edge"/>
              <c:x val="0.92760552948070896"/>
              <c:y val="0.8810486374232917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60192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CTA-A to 1ST activated site FPFV</a:t>
            </a:r>
          </a:p>
        </c:rich>
      </c:tx>
      <c:layout>
        <c:manualLayout>
          <c:xMode val="edge"/>
          <c:yMode val="edge"/>
          <c:x val="0.24242803695125381"/>
          <c:y val="4.50868102899736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1203015122505831"/>
          <c:y val="8.4684823468152634E-2"/>
          <c:w val="0.75928416456578551"/>
          <c:h val="0.83547054132935983"/>
        </c:manualLayout>
      </c:layout>
      <c:bar3D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rgbClr val="F9BBB7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E0F6-433A-A66E-546CF4D48C46}"/>
              </c:ext>
            </c:extLst>
          </c:dPt>
          <c:dPt>
            <c:idx val="1"/>
            <c:invertIfNegative val="0"/>
            <c:bubble3D val="0"/>
            <c:spPr>
              <a:solidFill>
                <a:srgbClr val="FFE166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E0F6-433A-A66E-546CF4D48C46}"/>
              </c:ext>
            </c:extLst>
          </c:dPt>
          <c:dPt>
            <c:idx val="2"/>
            <c:invertIfNegative val="0"/>
            <c:bubble3D val="0"/>
            <c:spPr>
              <a:solidFill>
                <a:srgbClr val="D1E9ED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E0F6-433A-A66E-546CF4D48C46}"/>
              </c:ext>
            </c:extLst>
          </c:dPt>
          <c:dPt>
            <c:idx val="3"/>
            <c:invertIfNegative val="0"/>
            <c:bubble3D val="0"/>
            <c:spPr>
              <a:solidFill>
                <a:srgbClr val="91D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7-E0F6-433A-A66E-546CF4D48C46}"/>
              </c:ext>
            </c:extLst>
          </c:dPt>
          <c:dPt>
            <c:idx val="4"/>
            <c:invertIfNegative val="0"/>
            <c:bubble3D val="0"/>
            <c:spPr>
              <a:solidFill>
                <a:srgbClr val="00B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9-E0F6-433A-A66E-546CF4D48C46}"/>
              </c:ext>
            </c:extLst>
          </c:dPt>
          <c:dLbls>
            <c:dLbl>
              <c:idx val="0"/>
              <c:layout>
                <c:manualLayout>
                  <c:x val="0.15549186121398287"/>
                  <c:y val="2.914956523578741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0F6-433A-A66E-546CF4D48C46}"/>
                </c:ext>
              </c:extLst>
            </c:dLbl>
            <c:dLbl>
              <c:idx val="1"/>
              <c:layout>
                <c:manualLayout>
                  <c:x val="9.4856972925542946E-2"/>
                  <c:y val="4.937330039556452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0F6-433A-A66E-546CF4D48C46}"/>
                </c:ext>
              </c:extLst>
            </c:dLbl>
            <c:dLbl>
              <c:idx val="2"/>
              <c:layout>
                <c:manualLayout>
                  <c:x val="5.8230884262491019E-2"/>
                  <c:y val="9.56878686876990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0F6-433A-A66E-546CF4D48C46}"/>
                </c:ext>
              </c:extLst>
            </c:dLbl>
            <c:dLbl>
              <c:idx val="3"/>
              <c:layout>
                <c:manualLayout>
                  <c:x val="4.6626293925548415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0F6-433A-A66E-546CF4D48C46}"/>
                </c:ext>
              </c:extLst>
            </c:dLbl>
            <c:dLbl>
              <c:idx val="4"/>
              <c:layout>
                <c:manualLayout>
                  <c:x val="2.5432523959390028E-2"/>
                  <c:y val="-3.529840773607686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0F6-433A-A66E-546CF4D48C4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4"/>
                <c:pt idx="0">
                  <c:v>Industry Median</c:v>
                </c:pt>
                <c:pt idx="1">
                  <c:v>Industry 25%</c:v>
                </c:pt>
                <c:pt idx="2">
                  <c:v>Boehringer China Median</c:v>
                </c:pt>
                <c:pt idx="3">
                  <c:v>Boehringer China 25%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5.1566666666666672</c:v>
                </c:pt>
                <c:pt idx="1">
                  <c:v>3.4299999999999997</c:v>
                </c:pt>
                <c:pt idx="2">
                  <c:v>3.3</c:v>
                </c:pt>
                <c:pt idx="3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0F6-433A-A66E-546CF4D48C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151760192"/>
        <c:axId val="1151756912"/>
        <c:axId val="0"/>
      </c:bar3DChart>
      <c:catAx>
        <c:axId val="11517601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56912"/>
        <c:crosses val="autoZero"/>
        <c:auto val="1"/>
        <c:lblAlgn val="ctr"/>
        <c:lblOffset val="100"/>
        <c:noMultiLvlLbl val="0"/>
      </c:catAx>
      <c:valAx>
        <c:axId val="1151756912"/>
        <c:scaling>
          <c:orientation val="minMax"/>
          <c:max val="6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</a:t>
                </a:r>
              </a:p>
            </c:rich>
          </c:tx>
          <c:layout>
            <c:manualLayout>
              <c:xMode val="edge"/>
              <c:yMode val="edge"/>
              <c:x val="0.92760552948070896"/>
              <c:y val="0.8810486374232917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60192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CTA-A to 1ST activated site FPFV</a:t>
            </a:r>
          </a:p>
        </c:rich>
      </c:tx>
      <c:layout>
        <c:manualLayout>
          <c:xMode val="edge"/>
          <c:yMode val="edge"/>
          <c:x val="0.24242803695125381"/>
          <c:y val="4.50868102899736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1203015122505831"/>
          <c:y val="8.4684823468152634E-2"/>
          <c:w val="0.75928416456578551"/>
          <c:h val="0.83547054132935983"/>
        </c:manualLayout>
      </c:layout>
      <c:bar3D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rgbClr val="F9BBB7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7024-443D-AA72-C7B43A6F596E}"/>
              </c:ext>
            </c:extLst>
          </c:dPt>
          <c:dPt>
            <c:idx val="1"/>
            <c:invertIfNegative val="0"/>
            <c:bubble3D val="0"/>
            <c:spPr>
              <a:solidFill>
                <a:srgbClr val="FFE166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7024-443D-AA72-C7B43A6F596E}"/>
              </c:ext>
            </c:extLst>
          </c:dPt>
          <c:dPt>
            <c:idx val="2"/>
            <c:invertIfNegative val="0"/>
            <c:bubble3D val="0"/>
            <c:spPr>
              <a:solidFill>
                <a:srgbClr val="D1E9ED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7024-443D-AA72-C7B43A6F596E}"/>
              </c:ext>
            </c:extLst>
          </c:dPt>
          <c:dPt>
            <c:idx val="3"/>
            <c:invertIfNegative val="0"/>
            <c:bubble3D val="0"/>
            <c:spPr>
              <a:solidFill>
                <a:srgbClr val="91D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7-7024-443D-AA72-C7B43A6F596E}"/>
              </c:ext>
            </c:extLst>
          </c:dPt>
          <c:dPt>
            <c:idx val="4"/>
            <c:invertIfNegative val="0"/>
            <c:bubble3D val="0"/>
            <c:spPr>
              <a:solidFill>
                <a:srgbClr val="00B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9-7024-443D-AA72-C7B43A6F596E}"/>
              </c:ext>
            </c:extLst>
          </c:dPt>
          <c:dLbls>
            <c:dLbl>
              <c:idx val="0"/>
              <c:layout>
                <c:manualLayout>
                  <c:x val="0.15549186121398287"/>
                  <c:y val="2.914956523578741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024-443D-AA72-C7B43A6F596E}"/>
                </c:ext>
              </c:extLst>
            </c:dLbl>
            <c:dLbl>
              <c:idx val="1"/>
              <c:layout>
                <c:manualLayout>
                  <c:x val="9.4856972925542946E-2"/>
                  <c:y val="4.937330039556452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024-443D-AA72-C7B43A6F596E}"/>
                </c:ext>
              </c:extLst>
            </c:dLbl>
            <c:dLbl>
              <c:idx val="2"/>
              <c:layout>
                <c:manualLayout>
                  <c:x val="5.8230884262491019E-2"/>
                  <c:y val="9.56878686876990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024-443D-AA72-C7B43A6F596E}"/>
                </c:ext>
              </c:extLst>
            </c:dLbl>
            <c:dLbl>
              <c:idx val="3"/>
              <c:layout>
                <c:manualLayout>
                  <c:x val="4.6626293925548415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024-443D-AA72-C7B43A6F596E}"/>
                </c:ext>
              </c:extLst>
            </c:dLbl>
            <c:dLbl>
              <c:idx val="4"/>
              <c:layout>
                <c:manualLayout>
                  <c:x val="2.5432523959390028E-2"/>
                  <c:y val="-3.529840773607686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024-443D-AA72-C7B43A6F596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Industry Median</c:v>
                </c:pt>
                <c:pt idx="1">
                  <c:v>Industry 25%</c:v>
                </c:pt>
                <c:pt idx="2">
                  <c:v>Boehringer China Median</c:v>
                </c:pt>
                <c:pt idx="3">
                  <c:v>Boehringer China 25%</c:v>
                </c:pt>
                <c:pt idx="4">
                  <c:v>Boehringer China Best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5.1566666666666672</c:v>
                </c:pt>
                <c:pt idx="1">
                  <c:v>3.4299999999999997</c:v>
                </c:pt>
                <c:pt idx="2">
                  <c:v>3.3</c:v>
                </c:pt>
                <c:pt idx="3">
                  <c:v>2.2999999999999998</c:v>
                </c:pt>
                <c:pt idx="4">
                  <c:v>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024-443D-AA72-C7B43A6F59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151760192"/>
        <c:axId val="1151756912"/>
        <c:axId val="0"/>
      </c:bar3DChart>
      <c:catAx>
        <c:axId val="11517601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56912"/>
        <c:crosses val="autoZero"/>
        <c:auto val="1"/>
        <c:lblAlgn val="ctr"/>
        <c:lblOffset val="100"/>
        <c:noMultiLvlLbl val="0"/>
      </c:catAx>
      <c:valAx>
        <c:axId val="1151756912"/>
        <c:scaling>
          <c:orientation val="minMax"/>
          <c:max val="6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</a:t>
                </a:r>
              </a:p>
            </c:rich>
          </c:tx>
          <c:layout>
            <c:manualLayout>
              <c:xMode val="edge"/>
              <c:yMode val="edge"/>
              <c:x val="0.92760552948070896"/>
              <c:y val="0.8810486374232917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60192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CTA-A to 1ST activated site FPFV</a:t>
            </a:r>
          </a:p>
        </c:rich>
      </c:tx>
      <c:layout>
        <c:manualLayout>
          <c:xMode val="edge"/>
          <c:yMode val="edge"/>
          <c:x val="0.24242803695125381"/>
          <c:y val="4.50868102899736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1203015122505831"/>
          <c:y val="8.4684823468152634E-2"/>
          <c:w val="0.75928416456578551"/>
          <c:h val="0.83547054132935983"/>
        </c:manualLayout>
      </c:layout>
      <c:bar3D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rgbClr val="F9BBB7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4AF1-40C7-9369-FD8D8BEA1A61}"/>
              </c:ext>
            </c:extLst>
          </c:dPt>
          <c:dPt>
            <c:idx val="1"/>
            <c:invertIfNegative val="0"/>
            <c:bubble3D val="0"/>
            <c:spPr>
              <a:solidFill>
                <a:srgbClr val="FFE166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4AF1-40C7-9369-FD8D8BEA1A61}"/>
              </c:ext>
            </c:extLst>
          </c:dPt>
          <c:dPt>
            <c:idx val="2"/>
            <c:invertIfNegative val="0"/>
            <c:bubble3D val="0"/>
            <c:spPr>
              <a:solidFill>
                <a:srgbClr val="D1E9ED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4AF1-40C7-9369-FD8D8BEA1A61}"/>
              </c:ext>
            </c:extLst>
          </c:dPt>
          <c:dPt>
            <c:idx val="3"/>
            <c:invertIfNegative val="0"/>
            <c:bubble3D val="0"/>
            <c:spPr>
              <a:solidFill>
                <a:srgbClr val="91D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8-4AF1-40C7-9369-FD8D8BEA1A61}"/>
              </c:ext>
            </c:extLst>
          </c:dPt>
          <c:dPt>
            <c:idx val="4"/>
            <c:invertIfNegative val="0"/>
            <c:bubble3D val="0"/>
            <c:spPr>
              <a:solidFill>
                <a:srgbClr val="00B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9-4AF1-40C7-9369-FD8D8BEA1A61}"/>
              </c:ext>
            </c:extLst>
          </c:dPt>
          <c:dLbls>
            <c:dLbl>
              <c:idx val="0"/>
              <c:layout>
                <c:manualLayout>
                  <c:x val="0.15549186121398287"/>
                  <c:y val="2.914956523578741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AF1-40C7-9369-FD8D8BEA1A61}"/>
                </c:ext>
              </c:extLst>
            </c:dLbl>
            <c:dLbl>
              <c:idx val="1"/>
              <c:layout>
                <c:manualLayout>
                  <c:x val="9.4856972925542946E-2"/>
                  <c:y val="4.937330039556452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AF1-40C7-9369-FD8D8BEA1A61}"/>
                </c:ext>
              </c:extLst>
            </c:dLbl>
            <c:dLbl>
              <c:idx val="2"/>
              <c:layout>
                <c:manualLayout>
                  <c:x val="5.8230884262491019E-2"/>
                  <c:y val="9.56878686876990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AF1-40C7-9369-FD8D8BEA1A61}"/>
                </c:ext>
              </c:extLst>
            </c:dLbl>
            <c:dLbl>
              <c:idx val="3"/>
              <c:layout>
                <c:manualLayout>
                  <c:x val="4.6626293925548415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AF1-40C7-9369-FD8D8BEA1A61}"/>
                </c:ext>
              </c:extLst>
            </c:dLbl>
            <c:dLbl>
              <c:idx val="4"/>
              <c:layout>
                <c:manualLayout>
                  <c:x val="2.5432523959390028E-2"/>
                  <c:y val="-3.529840773607686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AF1-40C7-9369-FD8D8BEA1A6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6-4AF1-40C7-9369-FD8D8BEA1A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151760192"/>
        <c:axId val="1151756912"/>
        <c:axId val="0"/>
      </c:bar3DChart>
      <c:catAx>
        <c:axId val="11517601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56912"/>
        <c:crosses val="autoZero"/>
        <c:auto val="1"/>
        <c:lblAlgn val="ctr"/>
        <c:lblOffset val="100"/>
        <c:noMultiLvlLbl val="0"/>
      </c:catAx>
      <c:valAx>
        <c:axId val="1151756912"/>
        <c:scaling>
          <c:orientation val="minMax"/>
          <c:max val="6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</a:t>
                </a:r>
              </a:p>
            </c:rich>
          </c:tx>
          <c:layout>
            <c:manualLayout>
              <c:xMode val="edge"/>
              <c:yMode val="edge"/>
              <c:x val="0.92760552948070896"/>
              <c:y val="0.8810486374232917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60192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CTA-A to 1ST activated site FPFV</a:t>
            </a:r>
          </a:p>
        </c:rich>
      </c:tx>
      <c:layout>
        <c:manualLayout>
          <c:xMode val="edge"/>
          <c:yMode val="edge"/>
          <c:x val="0.24242803695125381"/>
          <c:y val="4.50868102899736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1203015122505831"/>
          <c:y val="8.4684823468152634E-2"/>
          <c:w val="0.75928416456578551"/>
          <c:h val="0.83547054132935983"/>
        </c:manualLayout>
      </c:layout>
      <c:bar3D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rgbClr val="F9BBB7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1A80-4726-A4B2-15202608C370}"/>
              </c:ext>
            </c:extLst>
          </c:dPt>
          <c:dPt>
            <c:idx val="1"/>
            <c:invertIfNegative val="0"/>
            <c:bubble3D val="0"/>
            <c:spPr>
              <a:solidFill>
                <a:srgbClr val="FFE166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1A80-4726-A4B2-15202608C370}"/>
              </c:ext>
            </c:extLst>
          </c:dPt>
          <c:dPt>
            <c:idx val="2"/>
            <c:invertIfNegative val="0"/>
            <c:bubble3D val="0"/>
            <c:spPr>
              <a:solidFill>
                <a:srgbClr val="D1E9ED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1A80-4726-A4B2-15202608C370}"/>
              </c:ext>
            </c:extLst>
          </c:dPt>
          <c:dPt>
            <c:idx val="3"/>
            <c:invertIfNegative val="0"/>
            <c:bubble3D val="0"/>
            <c:spPr>
              <a:solidFill>
                <a:srgbClr val="91D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7-1A80-4726-A4B2-15202608C370}"/>
              </c:ext>
            </c:extLst>
          </c:dPt>
          <c:dPt>
            <c:idx val="4"/>
            <c:invertIfNegative val="0"/>
            <c:bubble3D val="0"/>
            <c:spPr>
              <a:solidFill>
                <a:srgbClr val="00B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9-1A80-4726-A4B2-15202608C370}"/>
              </c:ext>
            </c:extLst>
          </c:dPt>
          <c:dLbls>
            <c:dLbl>
              <c:idx val="0"/>
              <c:layout>
                <c:manualLayout>
                  <c:x val="0.15549186121398287"/>
                  <c:y val="2.914956523578741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A80-4726-A4B2-15202608C370}"/>
                </c:ext>
              </c:extLst>
            </c:dLbl>
            <c:dLbl>
              <c:idx val="1"/>
              <c:layout>
                <c:manualLayout>
                  <c:x val="9.4856972925542946E-2"/>
                  <c:y val="4.937330039556452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A80-4726-A4B2-15202608C370}"/>
                </c:ext>
              </c:extLst>
            </c:dLbl>
            <c:dLbl>
              <c:idx val="2"/>
              <c:layout>
                <c:manualLayout>
                  <c:x val="5.8230884262491019E-2"/>
                  <c:y val="9.56878686876990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A80-4726-A4B2-15202608C370}"/>
                </c:ext>
              </c:extLst>
            </c:dLbl>
            <c:dLbl>
              <c:idx val="3"/>
              <c:layout>
                <c:manualLayout>
                  <c:x val="4.6626293925548415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A80-4726-A4B2-15202608C370}"/>
                </c:ext>
              </c:extLst>
            </c:dLbl>
            <c:dLbl>
              <c:idx val="4"/>
              <c:layout>
                <c:manualLayout>
                  <c:x val="2.5432523959390028E-2"/>
                  <c:y val="-3.529840773607686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A80-4726-A4B2-15202608C37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1"/>
                <c:pt idx="0">
                  <c:v>Industry Median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 formatCode="0.0">
                  <c:v>5.1566666666666672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A80-4726-A4B2-15202608C3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151760192"/>
        <c:axId val="1151756912"/>
        <c:axId val="0"/>
      </c:bar3DChart>
      <c:catAx>
        <c:axId val="11517601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56912"/>
        <c:crosses val="autoZero"/>
        <c:auto val="1"/>
        <c:lblAlgn val="ctr"/>
        <c:lblOffset val="100"/>
        <c:noMultiLvlLbl val="0"/>
      </c:catAx>
      <c:valAx>
        <c:axId val="1151756912"/>
        <c:scaling>
          <c:orientation val="minMax"/>
          <c:max val="6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</a:t>
                </a:r>
              </a:p>
            </c:rich>
          </c:tx>
          <c:layout>
            <c:manualLayout>
              <c:xMode val="edge"/>
              <c:yMode val="edge"/>
              <c:x val="0.92760552948070896"/>
              <c:y val="0.8810486374232917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60192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CTA-A to 1ST activated site FPFV</a:t>
            </a:r>
          </a:p>
        </c:rich>
      </c:tx>
      <c:layout>
        <c:manualLayout>
          <c:xMode val="edge"/>
          <c:yMode val="edge"/>
          <c:x val="0.24242803695125381"/>
          <c:y val="4.50868102899736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1203015122505831"/>
          <c:y val="8.4684823468152634E-2"/>
          <c:w val="0.75928416456578551"/>
          <c:h val="0.83547054132935983"/>
        </c:manualLayout>
      </c:layout>
      <c:bar3D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rgbClr val="F9BBB7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7175-45C3-8CB6-444B9E091488}"/>
              </c:ext>
            </c:extLst>
          </c:dPt>
          <c:dPt>
            <c:idx val="1"/>
            <c:invertIfNegative val="0"/>
            <c:bubble3D val="0"/>
            <c:spPr>
              <a:solidFill>
                <a:srgbClr val="FFE166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7175-45C3-8CB6-444B9E091488}"/>
              </c:ext>
            </c:extLst>
          </c:dPt>
          <c:dPt>
            <c:idx val="2"/>
            <c:invertIfNegative val="0"/>
            <c:bubble3D val="0"/>
            <c:spPr>
              <a:solidFill>
                <a:srgbClr val="D1E9ED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7175-45C3-8CB6-444B9E091488}"/>
              </c:ext>
            </c:extLst>
          </c:dPt>
          <c:dPt>
            <c:idx val="3"/>
            <c:invertIfNegative val="0"/>
            <c:bubble3D val="0"/>
            <c:spPr>
              <a:solidFill>
                <a:srgbClr val="91D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7-7175-45C3-8CB6-444B9E091488}"/>
              </c:ext>
            </c:extLst>
          </c:dPt>
          <c:dPt>
            <c:idx val="4"/>
            <c:invertIfNegative val="0"/>
            <c:bubble3D val="0"/>
            <c:spPr>
              <a:solidFill>
                <a:srgbClr val="00B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9-7175-45C3-8CB6-444B9E091488}"/>
              </c:ext>
            </c:extLst>
          </c:dPt>
          <c:dLbls>
            <c:dLbl>
              <c:idx val="0"/>
              <c:layout>
                <c:manualLayout>
                  <c:x val="0.15549186121398287"/>
                  <c:y val="2.914956523578741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175-45C3-8CB6-444B9E091488}"/>
                </c:ext>
              </c:extLst>
            </c:dLbl>
            <c:dLbl>
              <c:idx val="1"/>
              <c:layout>
                <c:manualLayout>
                  <c:x val="9.4856972925542946E-2"/>
                  <c:y val="4.937330039556452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175-45C3-8CB6-444B9E091488}"/>
                </c:ext>
              </c:extLst>
            </c:dLbl>
            <c:dLbl>
              <c:idx val="2"/>
              <c:layout>
                <c:manualLayout>
                  <c:x val="5.8230884262491019E-2"/>
                  <c:y val="9.56878686876990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175-45C3-8CB6-444B9E091488}"/>
                </c:ext>
              </c:extLst>
            </c:dLbl>
            <c:dLbl>
              <c:idx val="3"/>
              <c:layout>
                <c:manualLayout>
                  <c:x val="4.6626293925548415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175-45C3-8CB6-444B9E091488}"/>
                </c:ext>
              </c:extLst>
            </c:dLbl>
            <c:dLbl>
              <c:idx val="4"/>
              <c:layout>
                <c:manualLayout>
                  <c:x val="2.5432523959390028E-2"/>
                  <c:y val="-3.529840773607686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175-45C3-8CB6-444B9E09148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2"/>
                <c:pt idx="0">
                  <c:v>Industry Median</c:v>
                </c:pt>
                <c:pt idx="1">
                  <c:v>Industry 25%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5.1566666666666672</c:v>
                </c:pt>
                <c:pt idx="1">
                  <c:v>3.4299999999999997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175-45C3-8CB6-444B9E0914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151760192"/>
        <c:axId val="1151756912"/>
        <c:axId val="0"/>
      </c:bar3DChart>
      <c:catAx>
        <c:axId val="11517601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56912"/>
        <c:crosses val="autoZero"/>
        <c:auto val="1"/>
        <c:lblAlgn val="ctr"/>
        <c:lblOffset val="100"/>
        <c:noMultiLvlLbl val="0"/>
      </c:catAx>
      <c:valAx>
        <c:axId val="1151756912"/>
        <c:scaling>
          <c:orientation val="minMax"/>
          <c:max val="6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</a:t>
                </a:r>
              </a:p>
            </c:rich>
          </c:tx>
          <c:layout>
            <c:manualLayout>
              <c:xMode val="edge"/>
              <c:yMode val="edge"/>
              <c:x val="0.92760552948070896"/>
              <c:y val="0.8810486374232917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60192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CTA-A to 1ST activated site FPFV</a:t>
            </a:r>
          </a:p>
        </c:rich>
      </c:tx>
      <c:layout>
        <c:manualLayout>
          <c:xMode val="edge"/>
          <c:yMode val="edge"/>
          <c:x val="0.24242803695125381"/>
          <c:y val="4.50868102899736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1203015122505831"/>
          <c:y val="8.4684823468152634E-2"/>
          <c:w val="0.75928416456578551"/>
          <c:h val="0.83547054132935983"/>
        </c:manualLayout>
      </c:layout>
      <c:bar3D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rgbClr val="F9BBB7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E935-4B22-B059-2E59478752D4}"/>
              </c:ext>
            </c:extLst>
          </c:dPt>
          <c:dPt>
            <c:idx val="1"/>
            <c:invertIfNegative val="0"/>
            <c:bubble3D val="0"/>
            <c:spPr>
              <a:solidFill>
                <a:srgbClr val="FFE166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E935-4B22-B059-2E59478752D4}"/>
              </c:ext>
            </c:extLst>
          </c:dPt>
          <c:dPt>
            <c:idx val="2"/>
            <c:invertIfNegative val="0"/>
            <c:bubble3D val="0"/>
            <c:spPr>
              <a:solidFill>
                <a:srgbClr val="D1E9ED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E935-4B22-B059-2E59478752D4}"/>
              </c:ext>
            </c:extLst>
          </c:dPt>
          <c:dPt>
            <c:idx val="3"/>
            <c:invertIfNegative val="0"/>
            <c:bubble3D val="0"/>
            <c:spPr>
              <a:solidFill>
                <a:srgbClr val="91D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7-E935-4B22-B059-2E59478752D4}"/>
              </c:ext>
            </c:extLst>
          </c:dPt>
          <c:dPt>
            <c:idx val="4"/>
            <c:invertIfNegative val="0"/>
            <c:bubble3D val="0"/>
            <c:spPr>
              <a:solidFill>
                <a:srgbClr val="00B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9-E935-4B22-B059-2E59478752D4}"/>
              </c:ext>
            </c:extLst>
          </c:dPt>
          <c:dLbls>
            <c:dLbl>
              <c:idx val="0"/>
              <c:layout>
                <c:manualLayout>
                  <c:x val="0.15549186121398287"/>
                  <c:y val="2.914956523578741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935-4B22-B059-2E59478752D4}"/>
                </c:ext>
              </c:extLst>
            </c:dLbl>
            <c:dLbl>
              <c:idx val="1"/>
              <c:layout>
                <c:manualLayout>
                  <c:x val="9.4856972925542946E-2"/>
                  <c:y val="4.937330039556452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935-4B22-B059-2E59478752D4}"/>
                </c:ext>
              </c:extLst>
            </c:dLbl>
            <c:dLbl>
              <c:idx val="2"/>
              <c:layout>
                <c:manualLayout>
                  <c:x val="5.8230884262491019E-2"/>
                  <c:y val="9.56878686876990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935-4B22-B059-2E59478752D4}"/>
                </c:ext>
              </c:extLst>
            </c:dLbl>
            <c:dLbl>
              <c:idx val="3"/>
              <c:layout>
                <c:manualLayout>
                  <c:x val="4.6626293925548415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935-4B22-B059-2E59478752D4}"/>
                </c:ext>
              </c:extLst>
            </c:dLbl>
            <c:dLbl>
              <c:idx val="4"/>
              <c:layout>
                <c:manualLayout>
                  <c:x val="2.5432523959390028E-2"/>
                  <c:y val="-3.529840773607686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935-4B22-B059-2E59478752D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3"/>
                <c:pt idx="0">
                  <c:v>Industry Median</c:v>
                </c:pt>
                <c:pt idx="1">
                  <c:v>Industry 25%</c:v>
                </c:pt>
                <c:pt idx="2">
                  <c:v>Boehringer China Median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5.1566666666666672</c:v>
                </c:pt>
                <c:pt idx="1">
                  <c:v>3.4299999999999997</c:v>
                </c:pt>
                <c:pt idx="2">
                  <c:v>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935-4B22-B059-2E59478752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151760192"/>
        <c:axId val="1151756912"/>
        <c:axId val="0"/>
      </c:bar3DChart>
      <c:catAx>
        <c:axId val="11517601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56912"/>
        <c:crosses val="autoZero"/>
        <c:auto val="1"/>
        <c:lblAlgn val="ctr"/>
        <c:lblOffset val="100"/>
        <c:noMultiLvlLbl val="0"/>
      </c:catAx>
      <c:valAx>
        <c:axId val="1151756912"/>
        <c:scaling>
          <c:orientation val="minMax"/>
          <c:max val="6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</a:t>
                </a:r>
              </a:p>
            </c:rich>
          </c:tx>
          <c:layout>
            <c:manualLayout>
              <c:xMode val="edge"/>
              <c:yMode val="edge"/>
              <c:x val="0.92760552948070896"/>
              <c:y val="0.8810486374232917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60192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CTA-A to 1ST activated site FPFV</a:t>
            </a:r>
          </a:p>
        </c:rich>
      </c:tx>
      <c:layout>
        <c:manualLayout>
          <c:xMode val="edge"/>
          <c:yMode val="edge"/>
          <c:x val="0.24242803695125381"/>
          <c:y val="4.50868102899736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1203015122505831"/>
          <c:y val="8.4684823468152634E-2"/>
          <c:w val="0.75928416456578551"/>
          <c:h val="0.83547054132935983"/>
        </c:manualLayout>
      </c:layout>
      <c:bar3D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rgbClr val="F9BBB7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E0F6-433A-A66E-546CF4D48C46}"/>
              </c:ext>
            </c:extLst>
          </c:dPt>
          <c:dPt>
            <c:idx val="1"/>
            <c:invertIfNegative val="0"/>
            <c:bubble3D val="0"/>
            <c:spPr>
              <a:solidFill>
                <a:srgbClr val="FFE166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E0F6-433A-A66E-546CF4D48C46}"/>
              </c:ext>
            </c:extLst>
          </c:dPt>
          <c:dPt>
            <c:idx val="2"/>
            <c:invertIfNegative val="0"/>
            <c:bubble3D val="0"/>
            <c:spPr>
              <a:solidFill>
                <a:srgbClr val="D1E9ED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E0F6-433A-A66E-546CF4D48C46}"/>
              </c:ext>
            </c:extLst>
          </c:dPt>
          <c:dPt>
            <c:idx val="3"/>
            <c:invertIfNegative val="0"/>
            <c:bubble3D val="0"/>
            <c:spPr>
              <a:solidFill>
                <a:srgbClr val="91D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7-E0F6-433A-A66E-546CF4D48C46}"/>
              </c:ext>
            </c:extLst>
          </c:dPt>
          <c:dPt>
            <c:idx val="4"/>
            <c:invertIfNegative val="0"/>
            <c:bubble3D val="0"/>
            <c:spPr>
              <a:solidFill>
                <a:srgbClr val="00B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9-E0F6-433A-A66E-546CF4D48C46}"/>
              </c:ext>
            </c:extLst>
          </c:dPt>
          <c:dLbls>
            <c:dLbl>
              <c:idx val="0"/>
              <c:layout>
                <c:manualLayout>
                  <c:x val="0.15549186121398287"/>
                  <c:y val="2.914956523578741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0F6-433A-A66E-546CF4D48C46}"/>
                </c:ext>
              </c:extLst>
            </c:dLbl>
            <c:dLbl>
              <c:idx val="1"/>
              <c:layout>
                <c:manualLayout>
                  <c:x val="9.4856972925542946E-2"/>
                  <c:y val="4.937330039556452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0F6-433A-A66E-546CF4D48C46}"/>
                </c:ext>
              </c:extLst>
            </c:dLbl>
            <c:dLbl>
              <c:idx val="2"/>
              <c:layout>
                <c:manualLayout>
                  <c:x val="5.8230884262491019E-2"/>
                  <c:y val="9.56878686876990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0F6-433A-A66E-546CF4D48C46}"/>
                </c:ext>
              </c:extLst>
            </c:dLbl>
            <c:dLbl>
              <c:idx val="3"/>
              <c:layout>
                <c:manualLayout>
                  <c:x val="4.6626293925548415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0F6-433A-A66E-546CF4D48C46}"/>
                </c:ext>
              </c:extLst>
            </c:dLbl>
            <c:dLbl>
              <c:idx val="4"/>
              <c:layout>
                <c:manualLayout>
                  <c:x val="2.5432523959390028E-2"/>
                  <c:y val="-3.529840773607686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0F6-433A-A66E-546CF4D48C4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4"/>
                <c:pt idx="0">
                  <c:v>Industry Median</c:v>
                </c:pt>
                <c:pt idx="1">
                  <c:v>Industry 25%</c:v>
                </c:pt>
                <c:pt idx="2">
                  <c:v>Boehringer China Median</c:v>
                </c:pt>
                <c:pt idx="3">
                  <c:v>Boehringer China 25%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5.1566666666666672</c:v>
                </c:pt>
                <c:pt idx="1">
                  <c:v>3.4299999999999997</c:v>
                </c:pt>
                <c:pt idx="2">
                  <c:v>3.3</c:v>
                </c:pt>
                <c:pt idx="3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0F6-433A-A66E-546CF4D48C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151760192"/>
        <c:axId val="1151756912"/>
        <c:axId val="0"/>
      </c:bar3DChart>
      <c:catAx>
        <c:axId val="11517601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56912"/>
        <c:crosses val="autoZero"/>
        <c:auto val="1"/>
        <c:lblAlgn val="ctr"/>
        <c:lblOffset val="100"/>
        <c:noMultiLvlLbl val="0"/>
      </c:catAx>
      <c:valAx>
        <c:axId val="1151756912"/>
        <c:scaling>
          <c:orientation val="minMax"/>
          <c:max val="6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</a:t>
                </a:r>
              </a:p>
            </c:rich>
          </c:tx>
          <c:layout>
            <c:manualLayout>
              <c:xMode val="edge"/>
              <c:yMode val="edge"/>
              <c:x val="0.92760552948070896"/>
              <c:y val="0.8810486374232917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60192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CTA-A to 1ST activated site FPFV</a:t>
            </a:r>
          </a:p>
        </c:rich>
      </c:tx>
      <c:layout>
        <c:manualLayout>
          <c:xMode val="edge"/>
          <c:yMode val="edge"/>
          <c:x val="0.24242803695125381"/>
          <c:y val="4.50868102899736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1203015122505831"/>
          <c:y val="8.4684823468152634E-2"/>
          <c:w val="0.75928416456578551"/>
          <c:h val="0.83547054132935983"/>
        </c:manualLayout>
      </c:layout>
      <c:bar3D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rgbClr val="F9BBB7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7024-443D-AA72-C7B43A6F596E}"/>
              </c:ext>
            </c:extLst>
          </c:dPt>
          <c:dPt>
            <c:idx val="1"/>
            <c:invertIfNegative val="0"/>
            <c:bubble3D val="0"/>
            <c:spPr>
              <a:solidFill>
                <a:srgbClr val="FFE166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7024-443D-AA72-C7B43A6F596E}"/>
              </c:ext>
            </c:extLst>
          </c:dPt>
          <c:dPt>
            <c:idx val="2"/>
            <c:invertIfNegative val="0"/>
            <c:bubble3D val="0"/>
            <c:spPr>
              <a:solidFill>
                <a:srgbClr val="D1E9ED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7024-443D-AA72-C7B43A6F596E}"/>
              </c:ext>
            </c:extLst>
          </c:dPt>
          <c:dPt>
            <c:idx val="3"/>
            <c:invertIfNegative val="0"/>
            <c:bubble3D val="0"/>
            <c:spPr>
              <a:solidFill>
                <a:srgbClr val="91D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7-7024-443D-AA72-C7B43A6F596E}"/>
              </c:ext>
            </c:extLst>
          </c:dPt>
          <c:dPt>
            <c:idx val="4"/>
            <c:invertIfNegative val="0"/>
            <c:bubble3D val="0"/>
            <c:spPr>
              <a:solidFill>
                <a:srgbClr val="00B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9-7024-443D-AA72-C7B43A6F596E}"/>
              </c:ext>
            </c:extLst>
          </c:dPt>
          <c:dLbls>
            <c:dLbl>
              <c:idx val="0"/>
              <c:layout>
                <c:manualLayout>
                  <c:x val="0.15549186121398287"/>
                  <c:y val="2.914956523578741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024-443D-AA72-C7B43A6F596E}"/>
                </c:ext>
              </c:extLst>
            </c:dLbl>
            <c:dLbl>
              <c:idx val="1"/>
              <c:layout>
                <c:manualLayout>
                  <c:x val="9.4856972925542946E-2"/>
                  <c:y val="4.937330039556452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024-443D-AA72-C7B43A6F596E}"/>
                </c:ext>
              </c:extLst>
            </c:dLbl>
            <c:dLbl>
              <c:idx val="2"/>
              <c:layout>
                <c:manualLayout>
                  <c:x val="5.8230884262491019E-2"/>
                  <c:y val="9.56878686876990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024-443D-AA72-C7B43A6F596E}"/>
                </c:ext>
              </c:extLst>
            </c:dLbl>
            <c:dLbl>
              <c:idx val="3"/>
              <c:layout>
                <c:manualLayout>
                  <c:x val="4.6626293925548415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024-443D-AA72-C7B43A6F596E}"/>
                </c:ext>
              </c:extLst>
            </c:dLbl>
            <c:dLbl>
              <c:idx val="4"/>
              <c:layout>
                <c:manualLayout>
                  <c:x val="2.5432523959390028E-2"/>
                  <c:y val="-3.529840773607686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024-443D-AA72-C7B43A6F596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Industry Median</c:v>
                </c:pt>
                <c:pt idx="1">
                  <c:v>Industry 25%</c:v>
                </c:pt>
                <c:pt idx="2">
                  <c:v>Boehringer China Median</c:v>
                </c:pt>
                <c:pt idx="3">
                  <c:v>Boehringer China 25%</c:v>
                </c:pt>
                <c:pt idx="4">
                  <c:v>Boehringer China Best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5.1566666666666672</c:v>
                </c:pt>
                <c:pt idx="1">
                  <c:v>3.4299999999999997</c:v>
                </c:pt>
                <c:pt idx="2">
                  <c:v>3.3</c:v>
                </c:pt>
                <c:pt idx="3">
                  <c:v>2.2999999999999998</c:v>
                </c:pt>
                <c:pt idx="4">
                  <c:v>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024-443D-AA72-C7B43A6F59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151760192"/>
        <c:axId val="1151756912"/>
        <c:axId val="0"/>
      </c:bar3DChart>
      <c:catAx>
        <c:axId val="11517601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56912"/>
        <c:crosses val="autoZero"/>
        <c:auto val="1"/>
        <c:lblAlgn val="ctr"/>
        <c:lblOffset val="100"/>
        <c:noMultiLvlLbl val="0"/>
      </c:catAx>
      <c:valAx>
        <c:axId val="1151756912"/>
        <c:scaling>
          <c:orientation val="minMax"/>
          <c:max val="6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</a:t>
                </a:r>
              </a:p>
            </c:rich>
          </c:tx>
          <c:layout>
            <c:manualLayout>
              <c:xMode val="edge"/>
              <c:yMode val="edge"/>
              <c:x val="0.92760552948070896"/>
              <c:y val="0.8810486374232917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60192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CTA-A to 75% Site Activation</a:t>
            </a:r>
          </a:p>
        </c:rich>
      </c:tx>
      <c:layout>
        <c:manualLayout>
          <c:xMode val="edge"/>
          <c:yMode val="edge"/>
          <c:x val="0.24242803695125381"/>
          <c:y val="4.50868102899736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3944410369472641"/>
          <c:y val="9.126961477797918E-2"/>
          <c:w val="0.7135028395342119"/>
          <c:h val="0.83048757083467017"/>
        </c:manualLayout>
      </c:layout>
      <c:bar3D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rgbClr val="FBBBB7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856B-4082-932E-4AFF42178CA9}"/>
              </c:ext>
            </c:extLst>
          </c:dPt>
          <c:dPt>
            <c:idx val="1"/>
            <c:invertIfNegative val="0"/>
            <c:bubble3D val="0"/>
            <c:spPr>
              <a:solidFill>
                <a:srgbClr val="FFE166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856B-4082-932E-4AFF42178CA9}"/>
              </c:ext>
            </c:extLst>
          </c:dPt>
          <c:dPt>
            <c:idx val="2"/>
            <c:invertIfNegative val="0"/>
            <c:bubble3D val="0"/>
            <c:spPr>
              <a:solidFill>
                <a:srgbClr val="D1E9ED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856B-4082-932E-4AFF42178CA9}"/>
              </c:ext>
            </c:extLst>
          </c:dPt>
          <c:dPt>
            <c:idx val="3"/>
            <c:invertIfNegative val="0"/>
            <c:bubble3D val="0"/>
            <c:spPr>
              <a:solidFill>
                <a:srgbClr val="91D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7-856B-4082-932E-4AFF42178CA9}"/>
              </c:ext>
            </c:extLst>
          </c:dPt>
          <c:dPt>
            <c:idx val="4"/>
            <c:invertIfNegative val="0"/>
            <c:bubble3D val="0"/>
            <c:spPr>
              <a:solidFill>
                <a:srgbClr val="00B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9-856B-4082-932E-4AFF42178CA9}"/>
              </c:ext>
            </c:extLst>
          </c:dPt>
          <c:dLbls>
            <c:dLbl>
              <c:idx val="0"/>
              <c:layout>
                <c:manualLayout>
                  <c:x val="0.15549186121398287"/>
                  <c:y val="2.914956523578741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56B-4082-932E-4AFF42178CA9}"/>
                </c:ext>
              </c:extLst>
            </c:dLbl>
            <c:dLbl>
              <c:idx val="1"/>
              <c:layout>
                <c:manualLayout>
                  <c:x val="9.4857025440424722E-2"/>
                  <c:y val="4.937377028370744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56B-4082-932E-4AFF42178CA9}"/>
                </c:ext>
              </c:extLst>
            </c:dLbl>
            <c:dLbl>
              <c:idx val="2"/>
              <c:layout>
                <c:manualLayout>
                  <c:x val="0.11298657295002446"/>
                  <c:y val="-5.00102883645073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56B-4082-932E-4AFF42178CA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6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1"/>
                <c:pt idx="0">
                  <c:v>Industry Median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 formatCode="0.0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56B-4082-932E-4AFF42178C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151760192"/>
        <c:axId val="1151756912"/>
        <c:axId val="0"/>
      </c:bar3DChart>
      <c:catAx>
        <c:axId val="11517601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56912"/>
        <c:crosses val="autoZero"/>
        <c:auto val="1"/>
        <c:lblAlgn val="ctr"/>
        <c:lblOffset val="100"/>
        <c:noMultiLvlLbl val="0"/>
      </c:catAx>
      <c:valAx>
        <c:axId val="1151756912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</a:t>
                </a:r>
              </a:p>
            </c:rich>
          </c:tx>
          <c:layout>
            <c:manualLayout>
              <c:xMode val="edge"/>
              <c:yMode val="edge"/>
              <c:x val="0.92760552948070896"/>
              <c:y val="0.8810486374232917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60192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CTA-A to 75% Site Activation</a:t>
            </a:r>
          </a:p>
        </c:rich>
      </c:tx>
      <c:layout>
        <c:manualLayout>
          <c:xMode val="edge"/>
          <c:yMode val="edge"/>
          <c:x val="0.24242803695125381"/>
          <c:y val="4.50868102899736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3944410369472641"/>
          <c:y val="9.126961477797918E-2"/>
          <c:w val="0.7135028395342119"/>
          <c:h val="0.83048757083467017"/>
        </c:manualLayout>
      </c:layout>
      <c:bar3D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rgbClr val="FBBBB7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3C49-4893-864D-13900676138B}"/>
              </c:ext>
            </c:extLst>
          </c:dPt>
          <c:dPt>
            <c:idx val="1"/>
            <c:invertIfNegative val="0"/>
            <c:bubble3D val="0"/>
            <c:spPr>
              <a:solidFill>
                <a:srgbClr val="FFE166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3C49-4893-864D-13900676138B}"/>
              </c:ext>
            </c:extLst>
          </c:dPt>
          <c:dPt>
            <c:idx val="2"/>
            <c:invertIfNegative val="0"/>
            <c:bubble3D val="0"/>
            <c:spPr>
              <a:solidFill>
                <a:srgbClr val="D1E9ED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3C49-4893-864D-13900676138B}"/>
              </c:ext>
            </c:extLst>
          </c:dPt>
          <c:dPt>
            <c:idx val="3"/>
            <c:invertIfNegative val="0"/>
            <c:bubble3D val="0"/>
            <c:spPr>
              <a:solidFill>
                <a:srgbClr val="91D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7-3C49-4893-864D-13900676138B}"/>
              </c:ext>
            </c:extLst>
          </c:dPt>
          <c:dPt>
            <c:idx val="4"/>
            <c:invertIfNegative val="0"/>
            <c:bubble3D val="0"/>
            <c:spPr>
              <a:solidFill>
                <a:srgbClr val="00B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9-3C49-4893-864D-13900676138B}"/>
              </c:ext>
            </c:extLst>
          </c:dPt>
          <c:dLbls>
            <c:dLbl>
              <c:idx val="0"/>
              <c:layout>
                <c:manualLayout>
                  <c:x val="0.15549186121398287"/>
                  <c:y val="2.914956523578741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C49-4893-864D-13900676138B}"/>
                </c:ext>
              </c:extLst>
            </c:dLbl>
            <c:dLbl>
              <c:idx val="1"/>
              <c:layout>
                <c:manualLayout>
                  <c:x val="9.4857025440424722E-2"/>
                  <c:y val="4.937377028370744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C49-4893-864D-13900676138B}"/>
                </c:ext>
              </c:extLst>
            </c:dLbl>
            <c:dLbl>
              <c:idx val="2"/>
              <c:layout>
                <c:manualLayout>
                  <c:x val="0.11298657295002446"/>
                  <c:y val="-5.00102883645073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C49-4893-864D-13900676138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6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2"/>
                <c:pt idx="0">
                  <c:v>Industry Median</c:v>
                </c:pt>
                <c:pt idx="1">
                  <c:v>Industry 25%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7</c:v>
                </c:pt>
                <c:pt idx="1">
                  <c:v>5.3666666666666663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C49-4893-864D-1390067613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151760192"/>
        <c:axId val="1151756912"/>
        <c:axId val="0"/>
      </c:bar3DChart>
      <c:catAx>
        <c:axId val="11517601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56912"/>
        <c:crosses val="autoZero"/>
        <c:auto val="1"/>
        <c:lblAlgn val="ctr"/>
        <c:lblOffset val="100"/>
        <c:noMultiLvlLbl val="0"/>
      </c:catAx>
      <c:valAx>
        <c:axId val="1151756912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</a:t>
                </a:r>
              </a:p>
            </c:rich>
          </c:tx>
          <c:layout>
            <c:manualLayout>
              <c:xMode val="edge"/>
              <c:yMode val="edge"/>
              <c:x val="0.92760552948070896"/>
              <c:y val="0.8810486374232917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60192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CTA-A to 75% Site Activation</a:t>
            </a:r>
          </a:p>
        </c:rich>
      </c:tx>
      <c:layout>
        <c:manualLayout>
          <c:xMode val="edge"/>
          <c:yMode val="edge"/>
          <c:x val="0.24242803695125381"/>
          <c:y val="4.50868102899736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3944410369472641"/>
          <c:y val="9.126961477797918E-2"/>
          <c:w val="0.7135028395342119"/>
          <c:h val="0.83048757083467017"/>
        </c:manualLayout>
      </c:layout>
      <c:bar3D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rgbClr val="FBBBB7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F8E7-41E5-8162-F41FE021D2CA}"/>
              </c:ext>
            </c:extLst>
          </c:dPt>
          <c:dPt>
            <c:idx val="1"/>
            <c:invertIfNegative val="0"/>
            <c:bubble3D val="0"/>
            <c:spPr>
              <a:solidFill>
                <a:srgbClr val="FFE166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F8E7-41E5-8162-F41FE021D2CA}"/>
              </c:ext>
            </c:extLst>
          </c:dPt>
          <c:dPt>
            <c:idx val="2"/>
            <c:invertIfNegative val="0"/>
            <c:bubble3D val="0"/>
            <c:spPr>
              <a:solidFill>
                <a:srgbClr val="D1E9ED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F8E7-41E5-8162-F41FE021D2CA}"/>
              </c:ext>
            </c:extLst>
          </c:dPt>
          <c:dPt>
            <c:idx val="3"/>
            <c:invertIfNegative val="0"/>
            <c:bubble3D val="0"/>
            <c:spPr>
              <a:solidFill>
                <a:srgbClr val="91D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7-F8E7-41E5-8162-F41FE021D2CA}"/>
              </c:ext>
            </c:extLst>
          </c:dPt>
          <c:dPt>
            <c:idx val="4"/>
            <c:invertIfNegative val="0"/>
            <c:bubble3D val="0"/>
            <c:spPr>
              <a:solidFill>
                <a:srgbClr val="00B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9-F8E7-41E5-8162-F41FE021D2CA}"/>
              </c:ext>
            </c:extLst>
          </c:dPt>
          <c:dLbls>
            <c:dLbl>
              <c:idx val="0"/>
              <c:layout>
                <c:manualLayout>
                  <c:x val="0.15549186121398287"/>
                  <c:y val="2.914956523578741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8E7-41E5-8162-F41FE021D2CA}"/>
                </c:ext>
              </c:extLst>
            </c:dLbl>
            <c:dLbl>
              <c:idx val="1"/>
              <c:layout>
                <c:manualLayout>
                  <c:x val="9.4857025440424722E-2"/>
                  <c:y val="4.937377028370744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8E7-41E5-8162-F41FE021D2CA}"/>
                </c:ext>
              </c:extLst>
            </c:dLbl>
            <c:dLbl>
              <c:idx val="2"/>
              <c:layout>
                <c:manualLayout>
                  <c:x val="0.11298657295002446"/>
                  <c:y val="-5.00102883645073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8E7-41E5-8162-F41FE021D2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6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3"/>
                <c:pt idx="0">
                  <c:v>Industry Median</c:v>
                </c:pt>
                <c:pt idx="1">
                  <c:v>Industry 25%</c:v>
                </c:pt>
                <c:pt idx="2">
                  <c:v>Boehringer China Median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7</c:v>
                </c:pt>
                <c:pt idx="1">
                  <c:v>5.3666666666666663</c:v>
                </c:pt>
                <c:pt idx="2">
                  <c:v>4.4000000000000004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8E7-41E5-8162-F41FE021D2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151760192"/>
        <c:axId val="1151756912"/>
        <c:axId val="0"/>
      </c:bar3DChart>
      <c:catAx>
        <c:axId val="11517601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56912"/>
        <c:crosses val="autoZero"/>
        <c:auto val="1"/>
        <c:lblAlgn val="ctr"/>
        <c:lblOffset val="100"/>
        <c:noMultiLvlLbl val="0"/>
      </c:catAx>
      <c:valAx>
        <c:axId val="1151756912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</a:t>
                </a:r>
              </a:p>
            </c:rich>
          </c:tx>
          <c:layout>
            <c:manualLayout>
              <c:xMode val="edge"/>
              <c:yMode val="edge"/>
              <c:x val="0.92760552948070896"/>
              <c:y val="0.8810486374232917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60192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CTA-A to 75% Site Activation</a:t>
            </a:r>
          </a:p>
        </c:rich>
      </c:tx>
      <c:layout>
        <c:manualLayout>
          <c:xMode val="edge"/>
          <c:yMode val="edge"/>
          <c:x val="0.24242803695125381"/>
          <c:y val="4.50868102899736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3944410369472641"/>
          <c:y val="9.126961477797918E-2"/>
          <c:w val="0.7135028395342119"/>
          <c:h val="0.83048757083467017"/>
        </c:manualLayout>
      </c:layout>
      <c:bar3D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rgbClr val="FBBBB7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B0F6-4AB1-AEF0-0633DD149521}"/>
              </c:ext>
            </c:extLst>
          </c:dPt>
          <c:dPt>
            <c:idx val="1"/>
            <c:invertIfNegative val="0"/>
            <c:bubble3D val="0"/>
            <c:spPr>
              <a:solidFill>
                <a:srgbClr val="FFE166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B0F6-4AB1-AEF0-0633DD149521}"/>
              </c:ext>
            </c:extLst>
          </c:dPt>
          <c:dPt>
            <c:idx val="2"/>
            <c:invertIfNegative val="0"/>
            <c:bubble3D val="0"/>
            <c:spPr>
              <a:solidFill>
                <a:srgbClr val="D1E9ED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B0F6-4AB1-AEF0-0633DD149521}"/>
              </c:ext>
            </c:extLst>
          </c:dPt>
          <c:dPt>
            <c:idx val="3"/>
            <c:invertIfNegative val="0"/>
            <c:bubble3D val="0"/>
            <c:spPr>
              <a:solidFill>
                <a:srgbClr val="91D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7-B0F6-4AB1-AEF0-0633DD149521}"/>
              </c:ext>
            </c:extLst>
          </c:dPt>
          <c:dPt>
            <c:idx val="4"/>
            <c:invertIfNegative val="0"/>
            <c:bubble3D val="0"/>
            <c:spPr>
              <a:solidFill>
                <a:srgbClr val="00B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9-B0F6-4AB1-AEF0-0633DD149521}"/>
              </c:ext>
            </c:extLst>
          </c:dPt>
          <c:dLbls>
            <c:dLbl>
              <c:idx val="0"/>
              <c:layout>
                <c:manualLayout>
                  <c:x val="0.15549186121398287"/>
                  <c:y val="2.914956523578741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0F6-4AB1-AEF0-0633DD149521}"/>
                </c:ext>
              </c:extLst>
            </c:dLbl>
            <c:dLbl>
              <c:idx val="1"/>
              <c:layout>
                <c:manualLayout>
                  <c:x val="9.4857025440424722E-2"/>
                  <c:y val="4.937377028370744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0F6-4AB1-AEF0-0633DD149521}"/>
                </c:ext>
              </c:extLst>
            </c:dLbl>
            <c:dLbl>
              <c:idx val="2"/>
              <c:layout>
                <c:manualLayout>
                  <c:x val="0.11298657295002446"/>
                  <c:y val="-5.00102883645073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0F6-4AB1-AEF0-0633DD14952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6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4"/>
                <c:pt idx="0">
                  <c:v>Industry Median</c:v>
                </c:pt>
                <c:pt idx="1">
                  <c:v>Industry 25%</c:v>
                </c:pt>
                <c:pt idx="2">
                  <c:v>Boehringer China Median</c:v>
                </c:pt>
                <c:pt idx="3">
                  <c:v>Boehringer China 25%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7</c:v>
                </c:pt>
                <c:pt idx="1">
                  <c:v>5.3666666666666663</c:v>
                </c:pt>
                <c:pt idx="2">
                  <c:v>4.4000000000000004</c:v>
                </c:pt>
                <c:pt idx="3">
                  <c:v>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0F6-4AB1-AEF0-0633DD1495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151760192"/>
        <c:axId val="1151756912"/>
        <c:axId val="0"/>
      </c:bar3DChart>
      <c:catAx>
        <c:axId val="11517601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56912"/>
        <c:crosses val="autoZero"/>
        <c:auto val="1"/>
        <c:lblAlgn val="ctr"/>
        <c:lblOffset val="100"/>
        <c:noMultiLvlLbl val="0"/>
      </c:catAx>
      <c:valAx>
        <c:axId val="1151756912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</a:t>
                </a:r>
              </a:p>
            </c:rich>
          </c:tx>
          <c:layout>
            <c:manualLayout>
              <c:xMode val="edge"/>
              <c:yMode val="edge"/>
              <c:x val="0.92760552948070896"/>
              <c:y val="0.8810486374232917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60192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CTA-A to 75% Site Activation</a:t>
            </a:r>
          </a:p>
        </c:rich>
      </c:tx>
      <c:layout>
        <c:manualLayout>
          <c:xMode val="edge"/>
          <c:yMode val="edge"/>
          <c:x val="0.24242803695125381"/>
          <c:y val="4.50868102899736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3944410369472641"/>
          <c:y val="9.126961477797918E-2"/>
          <c:w val="0.7135028395342119"/>
          <c:h val="0.83048757083467017"/>
        </c:manualLayout>
      </c:layout>
      <c:bar3D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rgbClr val="FBBBB7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3DB2-482B-A887-A5F65CBF0561}"/>
              </c:ext>
            </c:extLst>
          </c:dPt>
          <c:dPt>
            <c:idx val="1"/>
            <c:invertIfNegative val="0"/>
            <c:bubble3D val="0"/>
            <c:spPr>
              <a:solidFill>
                <a:srgbClr val="FFE166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3DB2-482B-A887-A5F65CBF0561}"/>
              </c:ext>
            </c:extLst>
          </c:dPt>
          <c:dPt>
            <c:idx val="2"/>
            <c:invertIfNegative val="0"/>
            <c:bubble3D val="0"/>
            <c:spPr>
              <a:solidFill>
                <a:srgbClr val="D1E9ED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3DB2-482B-A887-A5F65CBF0561}"/>
              </c:ext>
            </c:extLst>
          </c:dPt>
          <c:dPt>
            <c:idx val="3"/>
            <c:invertIfNegative val="0"/>
            <c:bubble3D val="0"/>
            <c:spPr>
              <a:solidFill>
                <a:srgbClr val="91D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7-3DB2-482B-A887-A5F65CBF0561}"/>
              </c:ext>
            </c:extLst>
          </c:dPt>
          <c:dPt>
            <c:idx val="4"/>
            <c:invertIfNegative val="0"/>
            <c:bubble3D val="0"/>
            <c:spPr>
              <a:solidFill>
                <a:srgbClr val="00B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9-3DB2-482B-A887-A5F65CBF0561}"/>
              </c:ext>
            </c:extLst>
          </c:dPt>
          <c:dLbls>
            <c:dLbl>
              <c:idx val="0"/>
              <c:layout>
                <c:manualLayout>
                  <c:x val="0.15549186121398287"/>
                  <c:y val="2.914956523578741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DB2-482B-A887-A5F65CBF0561}"/>
                </c:ext>
              </c:extLst>
            </c:dLbl>
            <c:dLbl>
              <c:idx val="1"/>
              <c:layout>
                <c:manualLayout>
                  <c:x val="9.4857025440424722E-2"/>
                  <c:y val="4.937377028370744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DB2-482B-A887-A5F65CBF0561}"/>
                </c:ext>
              </c:extLst>
            </c:dLbl>
            <c:dLbl>
              <c:idx val="2"/>
              <c:layout>
                <c:manualLayout>
                  <c:x val="0.11298657295002446"/>
                  <c:y val="-5.00102883645073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DB2-482B-A887-A5F65CBF056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6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Industry Median</c:v>
                </c:pt>
                <c:pt idx="1">
                  <c:v>Industry 25%</c:v>
                </c:pt>
                <c:pt idx="2">
                  <c:v>Boehringer China Median</c:v>
                </c:pt>
                <c:pt idx="3">
                  <c:v>Boehringer China 25%</c:v>
                </c:pt>
                <c:pt idx="4">
                  <c:v>Boehringer China Best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7</c:v>
                </c:pt>
                <c:pt idx="1">
                  <c:v>5.3666666666666663</c:v>
                </c:pt>
                <c:pt idx="2">
                  <c:v>4.4000000000000004</c:v>
                </c:pt>
                <c:pt idx="3">
                  <c:v>3.6</c:v>
                </c:pt>
                <c:pt idx="4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DB2-482B-A887-A5F65CBF05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151760192"/>
        <c:axId val="1151756912"/>
        <c:axId val="0"/>
      </c:bar3DChart>
      <c:catAx>
        <c:axId val="11517601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56912"/>
        <c:crosses val="autoZero"/>
        <c:auto val="1"/>
        <c:lblAlgn val="ctr"/>
        <c:lblOffset val="100"/>
        <c:noMultiLvlLbl val="0"/>
      </c:catAx>
      <c:valAx>
        <c:axId val="1151756912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</a:t>
                </a:r>
              </a:p>
            </c:rich>
          </c:tx>
          <c:layout>
            <c:manualLayout>
              <c:xMode val="edge"/>
              <c:yMode val="edge"/>
              <c:x val="0.92760552948070896"/>
              <c:y val="0.8810486374232917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60192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CTA-A to 1ST activated site FPFV</a:t>
            </a:r>
          </a:p>
        </c:rich>
      </c:tx>
      <c:layout>
        <c:manualLayout>
          <c:xMode val="edge"/>
          <c:yMode val="edge"/>
          <c:x val="0.24242803695125381"/>
          <c:y val="4.50868102899736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1203015122505831"/>
          <c:y val="8.4684823468152634E-2"/>
          <c:w val="0.75928416456578551"/>
          <c:h val="0.83547054132935983"/>
        </c:manualLayout>
      </c:layout>
      <c:bar3D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rgbClr val="F9BBB7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7024-443D-AA72-C7B43A6F596E}"/>
              </c:ext>
            </c:extLst>
          </c:dPt>
          <c:dPt>
            <c:idx val="1"/>
            <c:invertIfNegative val="0"/>
            <c:bubble3D val="0"/>
            <c:spPr>
              <a:solidFill>
                <a:srgbClr val="FFE166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7024-443D-AA72-C7B43A6F596E}"/>
              </c:ext>
            </c:extLst>
          </c:dPt>
          <c:dPt>
            <c:idx val="2"/>
            <c:invertIfNegative val="0"/>
            <c:bubble3D val="0"/>
            <c:spPr>
              <a:solidFill>
                <a:srgbClr val="D1E9ED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7024-443D-AA72-C7B43A6F596E}"/>
              </c:ext>
            </c:extLst>
          </c:dPt>
          <c:dPt>
            <c:idx val="3"/>
            <c:invertIfNegative val="0"/>
            <c:bubble3D val="0"/>
            <c:spPr>
              <a:solidFill>
                <a:srgbClr val="91D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7-7024-443D-AA72-C7B43A6F596E}"/>
              </c:ext>
            </c:extLst>
          </c:dPt>
          <c:dPt>
            <c:idx val="4"/>
            <c:invertIfNegative val="0"/>
            <c:bubble3D val="0"/>
            <c:spPr>
              <a:solidFill>
                <a:srgbClr val="00B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9-7024-443D-AA72-C7B43A6F596E}"/>
              </c:ext>
            </c:extLst>
          </c:dPt>
          <c:dLbls>
            <c:dLbl>
              <c:idx val="0"/>
              <c:layout>
                <c:manualLayout>
                  <c:x val="0.15549186121398287"/>
                  <c:y val="2.914956523578741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024-443D-AA72-C7B43A6F596E}"/>
                </c:ext>
              </c:extLst>
            </c:dLbl>
            <c:dLbl>
              <c:idx val="1"/>
              <c:layout>
                <c:manualLayout>
                  <c:x val="9.4856972925542946E-2"/>
                  <c:y val="4.937330039556452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024-443D-AA72-C7B43A6F596E}"/>
                </c:ext>
              </c:extLst>
            </c:dLbl>
            <c:dLbl>
              <c:idx val="2"/>
              <c:layout>
                <c:manualLayout>
                  <c:x val="5.8230884262491019E-2"/>
                  <c:y val="9.56878686876990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024-443D-AA72-C7B43A6F596E}"/>
                </c:ext>
              </c:extLst>
            </c:dLbl>
            <c:dLbl>
              <c:idx val="3"/>
              <c:layout>
                <c:manualLayout>
                  <c:x val="4.6626293925548415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024-443D-AA72-C7B43A6F596E}"/>
                </c:ext>
              </c:extLst>
            </c:dLbl>
            <c:dLbl>
              <c:idx val="4"/>
              <c:layout>
                <c:manualLayout>
                  <c:x val="2.5432523959390028E-2"/>
                  <c:y val="-3.529840773607686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024-443D-AA72-C7B43A6F596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Industry Median</c:v>
                </c:pt>
                <c:pt idx="1">
                  <c:v>Industry 25%</c:v>
                </c:pt>
                <c:pt idx="2">
                  <c:v>Boehringer China Median</c:v>
                </c:pt>
                <c:pt idx="3">
                  <c:v>Boehringer China 25%</c:v>
                </c:pt>
                <c:pt idx="4">
                  <c:v>Boehringer China Best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5.1566666666666672</c:v>
                </c:pt>
                <c:pt idx="1">
                  <c:v>3.4299999999999997</c:v>
                </c:pt>
                <c:pt idx="2">
                  <c:v>3.3</c:v>
                </c:pt>
                <c:pt idx="3">
                  <c:v>2.2999999999999998</c:v>
                </c:pt>
                <c:pt idx="4">
                  <c:v>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024-443D-AA72-C7B43A6F59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151760192"/>
        <c:axId val="1151756912"/>
        <c:axId val="0"/>
      </c:bar3DChart>
      <c:catAx>
        <c:axId val="11517601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56912"/>
        <c:crosses val="autoZero"/>
        <c:auto val="1"/>
        <c:lblAlgn val="ctr"/>
        <c:lblOffset val="100"/>
        <c:noMultiLvlLbl val="0"/>
      </c:catAx>
      <c:valAx>
        <c:axId val="1151756912"/>
        <c:scaling>
          <c:orientation val="minMax"/>
          <c:max val="6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</a:t>
                </a:r>
              </a:p>
            </c:rich>
          </c:tx>
          <c:layout>
            <c:manualLayout>
              <c:xMode val="edge"/>
              <c:yMode val="edge"/>
              <c:x val="0.92760552948070896"/>
              <c:y val="0.8810486374232917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60192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CTA-A to 75% Site Activation</a:t>
            </a:r>
          </a:p>
        </c:rich>
      </c:tx>
      <c:layout>
        <c:manualLayout>
          <c:xMode val="edge"/>
          <c:yMode val="edge"/>
          <c:x val="0.24242803695125381"/>
          <c:y val="4.50868102899736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3944410369472641"/>
          <c:y val="9.126961477797918E-2"/>
          <c:w val="0.7135028395342119"/>
          <c:h val="0.83048757083467017"/>
        </c:manualLayout>
      </c:layout>
      <c:bar3D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rgbClr val="F3F3F3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3DB2-482B-A887-A5F65CBF0561}"/>
              </c:ext>
            </c:extLst>
          </c:dPt>
          <c:dPt>
            <c:idx val="1"/>
            <c:invertIfNegative val="0"/>
            <c:bubble3D val="0"/>
            <c:spPr>
              <a:solidFill>
                <a:srgbClr val="FFE166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3DB2-482B-A887-A5F65CBF0561}"/>
              </c:ext>
            </c:extLst>
          </c:dPt>
          <c:dPt>
            <c:idx val="2"/>
            <c:invertIfNegative val="0"/>
            <c:bubble3D val="0"/>
            <c:spPr>
              <a:solidFill>
                <a:srgbClr val="F3F3F3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3DB2-482B-A887-A5F65CBF0561}"/>
              </c:ext>
            </c:extLst>
          </c:dPt>
          <c:dPt>
            <c:idx val="3"/>
            <c:invertIfNegative val="0"/>
            <c:bubble3D val="0"/>
            <c:spPr>
              <a:solidFill>
                <a:srgbClr val="F3F3F3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7-3DB2-482B-A887-A5F65CBF0561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9-3DB2-482B-A887-A5F65CBF0561}"/>
              </c:ext>
            </c:extLst>
          </c:dPt>
          <c:dLbls>
            <c:dLbl>
              <c:idx val="0"/>
              <c:layout>
                <c:manualLayout>
                  <c:x val="0.15549186121398287"/>
                  <c:y val="2.914956523578741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DB2-482B-A887-A5F65CBF0561}"/>
                </c:ext>
              </c:extLst>
            </c:dLbl>
            <c:dLbl>
              <c:idx val="1"/>
              <c:layout>
                <c:manualLayout>
                  <c:x val="9.4857025440424722E-2"/>
                  <c:y val="4.937377028370744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DB2-482B-A887-A5F65CBF0561}"/>
                </c:ext>
              </c:extLst>
            </c:dLbl>
            <c:dLbl>
              <c:idx val="2"/>
              <c:layout>
                <c:manualLayout>
                  <c:x val="0.11298657295002446"/>
                  <c:y val="-5.00102883645073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DB2-482B-A887-A5F65CBF056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6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Industry Median</c:v>
                </c:pt>
                <c:pt idx="1">
                  <c:v>Industry 25%</c:v>
                </c:pt>
                <c:pt idx="2">
                  <c:v>Boehringer China Median</c:v>
                </c:pt>
                <c:pt idx="3">
                  <c:v>Boehringer China 25%</c:v>
                </c:pt>
                <c:pt idx="4">
                  <c:v>Boehringer China Best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7</c:v>
                </c:pt>
                <c:pt idx="1">
                  <c:v>5.3666666666666663</c:v>
                </c:pt>
                <c:pt idx="2">
                  <c:v>4.4000000000000004</c:v>
                </c:pt>
                <c:pt idx="3">
                  <c:v>3.6</c:v>
                </c:pt>
                <c:pt idx="4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DB2-482B-A887-A5F65CBF05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151760192"/>
        <c:axId val="1151756912"/>
        <c:axId val="0"/>
      </c:bar3DChart>
      <c:catAx>
        <c:axId val="11517601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56912"/>
        <c:crosses val="autoZero"/>
        <c:auto val="1"/>
        <c:lblAlgn val="ctr"/>
        <c:lblOffset val="100"/>
        <c:noMultiLvlLbl val="0"/>
      </c:catAx>
      <c:valAx>
        <c:axId val="1151756912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</a:t>
                </a:r>
              </a:p>
            </c:rich>
          </c:tx>
          <c:layout>
            <c:manualLayout>
              <c:xMode val="edge"/>
              <c:yMode val="edge"/>
              <c:x val="0.92760552948070896"/>
              <c:y val="0.8810486374232917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1760192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6791953500489289"/>
          <c:y val="2.0824134305233277E-2"/>
          <c:w val="0.41558510252926689"/>
          <c:h val="0.9253611185682465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SQ31选项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IP Supply (batch for FPFV)</c:v>
                </c:pt>
                <c:pt idx="1">
                  <c:v>Kits/Lab Supply</c:v>
                </c:pt>
                <c:pt idx="2">
                  <c:v>Limited patient pool</c:v>
                </c:pt>
                <c:pt idx="3">
                  <c:v>The status for process/system setting up</c:v>
                </c:pt>
                <c:pt idx="4">
                  <c:v>遗传办/审批法规政策变化</c:v>
                </c:pt>
                <c:pt idx="5">
                  <c:v>E-pro设备汉化/清关/供应/运输等问题</c:v>
                </c:pt>
                <c:pt idx="6">
                  <c:v>COVID-19 pandemic</c:v>
                </c:pt>
                <c:pt idx="7">
                  <c:v>无受制因素</c:v>
                </c:pt>
                <c:pt idx="8">
                  <c:v>Others</c:v>
                </c:pt>
                <c:pt idx="9">
                  <c:v>No answers due to information availability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0.27638190954773867</c:v>
                </c:pt>
                <c:pt idx="1">
                  <c:v>0.12060201005025099</c:v>
                </c:pt>
                <c:pt idx="2">
                  <c:v>7.0351758793969849E-2</c:v>
                </c:pt>
                <c:pt idx="3">
                  <c:v>6.5326633165829151E-2</c:v>
                </c:pt>
                <c:pt idx="4">
                  <c:v>6.030150753768844E-2</c:v>
                </c:pt>
                <c:pt idx="5">
                  <c:v>5.5276381909547742E-2</c:v>
                </c:pt>
                <c:pt idx="6">
                  <c:v>4.5226130653266333E-2</c:v>
                </c:pt>
                <c:pt idx="7">
                  <c:v>3.5175879396984924E-2</c:v>
                </c:pt>
                <c:pt idx="8">
                  <c:v>0.16080402010050251</c:v>
                </c:pt>
                <c:pt idx="9">
                  <c:v>0.18592964824120603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D1-4151-97AA-B5C6CC10D7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621448528"/>
        <c:axId val="1621445200"/>
      </c:barChart>
      <c:catAx>
        <c:axId val="1621448528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621445200"/>
        <c:crosses val="autoZero"/>
        <c:auto val="1"/>
        <c:lblAlgn val="ctr"/>
        <c:lblOffset val="100"/>
        <c:noMultiLvlLbl val="0"/>
      </c:catAx>
      <c:valAx>
        <c:axId val="1621445200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621448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bg1">
          <a:lumMod val="75000"/>
        </a:schemeClr>
      </a:solidFill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200" dirty="0"/>
              <a:t>Is</a:t>
            </a:r>
            <a:r>
              <a:rPr lang="en-US" altLang="zh-CN" sz="1200" baseline="0" dirty="0"/>
              <a:t> </a:t>
            </a:r>
            <a:r>
              <a:rPr lang="en-US" altLang="zh-CN" sz="1200" dirty="0"/>
              <a:t>3rd party QC required for site close-out? </a:t>
            </a:r>
          </a:p>
          <a:p>
            <a:pPr>
              <a:defRPr/>
            </a:pPr>
            <a:r>
              <a:rPr lang="en-US" altLang="zh-CN" sz="1200" dirty="0"/>
              <a:t>(based on CTs)</a:t>
            </a:r>
            <a:endParaRPr lang="zh-CN" sz="1200" dirty="0"/>
          </a:p>
        </c:rich>
      </c:tx>
      <c:layout>
        <c:manualLayout>
          <c:xMode val="edge"/>
          <c:yMode val="edge"/>
          <c:x val="0.13434474402429233"/>
          <c:y val="6.8474095225360652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3571580969422856"/>
          <c:y val="0.26556412924224354"/>
          <c:w val="0.69580939206466019"/>
          <c:h val="0.61218128440582853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CQ13有多少家要求做第三方质控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1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D5E4-4709-AA5D-9CE98764DBF2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3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D5E4-4709-AA5D-9CE98764DBF2}"/>
              </c:ext>
            </c:extLst>
          </c:dPt>
          <c:dLbls>
            <c:dLbl>
              <c:idx val="0"/>
              <c:layout>
                <c:manualLayout>
                  <c:x val="-0.21649915776416123"/>
                  <c:y val="1.9192129629629628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5E4-4709-AA5D-9CE98764DBF2}"/>
                </c:ext>
              </c:extLst>
            </c:dLbl>
            <c:dLbl>
              <c:idx val="1"/>
              <c:layout>
                <c:manualLayout>
                  <c:x val="0.21604718768320985"/>
                  <c:y val="2.4063456868758416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5E4-4709-AA5D-9CE98764DBF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0.46875000000000006</c:v>
                </c:pt>
                <c:pt idx="1">
                  <c:v>0.53125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3E-44F0-A29A-0BF27E547CC4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bg1">
          <a:lumMod val="75000"/>
        </a:schemeClr>
      </a:solidFill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200" dirty="0"/>
              <a:t>Is</a:t>
            </a:r>
            <a:r>
              <a:rPr lang="en-US" altLang="zh-CN" sz="1200" baseline="0" dirty="0"/>
              <a:t> </a:t>
            </a:r>
            <a:r>
              <a:rPr lang="en-US" altLang="zh-CN" sz="1200" dirty="0"/>
              <a:t>3rd party QC required for site close-out ? </a:t>
            </a:r>
          </a:p>
          <a:p>
            <a:pPr>
              <a:defRPr/>
            </a:pPr>
            <a:r>
              <a:rPr lang="en-US" altLang="zh-CN" sz="1200" dirty="0"/>
              <a:t>(based on sites)</a:t>
            </a:r>
            <a:endParaRPr lang="zh-CN" sz="1200" dirty="0"/>
          </a:p>
        </c:rich>
      </c:tx>
      <c:layout>
        <c:manualLayout>
          <c:xMode val="edge"/>
          <c:yMode val="edge"/>
          <c:x val="0.13434474402429233"/>
          <c:y val="1.36948190450721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3571580969422856"/>
          <c:y val="0.26556412924224354"/>
          <c:w val="0.69580939206466019"/>
          <c:h val="0.61218128440582853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CQ13之和/CQ5.2之和,手动算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1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3665-4FF8-8FA9-6B1EBCE186AA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3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3665-4FF8-8FA9-6B1EBCE186AA}"/>
              </c:ext>
            </c:extLst>
          </c:dPt>
          <c:dLbls>
            <c:dLbl>
              <c:idx val="0"/>
              <c:layout>
                <c:manualLayout>
                  <c:x val="-0.10020307624958591"/>
                  <c:y val="0.11579824998388918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665-4FF8-8FA9-6B1EBCE186AA}"/>
                </c:ext>
              </c:extLst>
            </c:dLbl>
            <c:dLbl>
              <c:idx val="1"/>
              <c:layout>
                <c:manualLayout>
                  <c:x val="0.24091518555378291"/>
                  <c:y val="-0.27858287037037038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665-4FF8-8FA9-6B1EBCE186A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0.1424</c:v>
                </c:pt>
                <c:pt idx="1">
                  <c:v>0.85760000000000003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665-4FF8-8FA9-6B1EBCE186AA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bg1">
          <a:lumMod val="75000"/>
        </a:schemeClr>
      </a:solidFill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200" dirty="0"/>
              <a:t>Whether any DBL delay or Database lock broken occurred after 3rd party QC ?</a:t>
            </a:r>
            <a:endParaRPr lang="zh-CN" sz="1200" dirty="0"/>
          </a:p>
        </c:rich>
      </c:tx>
      <c:layout>
        <c:manualLayout>
          <c:xMode val="edge"/>
          <c:yMode val="edge"/>
          <c:x val="0.1532861873260237"/>
          <c:y val="6.7195767195767199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1566262865712387"/>
          <c:y val="0.26105091168312838"/>
          <c:w val="0.77590365697682262"/>
          <c:h val="0.68553713707735686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Q14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1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CBB7-4ED4-92B3-7157EA94886E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3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CBB7-4ED4-92B3-7157EA94886E}"/>
              </c:ext>
            </c:extLst>
          </c:dPt>
          <c:dLbls>
            <c:dLbl>
              <c:idx val="0"/>
              <c:layout>
                <c:manualLayout>
                  <c:x val="9.6353826326205053E-2"/>
                  <c:y val="0.1388649305330347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BB7-4ED4-92B3-7157EA94886E}"/>
                </c:ext>
              </c:extLst>
            </c:dLbl>
            <c:dLbl>
              <c:idx val="1"/>
              <c:layout>
                <c:manualLayout>
                  <c:x val="5.054984336403693E-2"/>
                  <c:y val="-0.3238336112577254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BB7-4ED4-92B3-7157EA94886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B7-4ED4-92B3-7157EA94886E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bg1">
          <a:lumMod val="75000"/>
        </a:schemeClr>
      </a:solidFill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20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21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2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3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026BA5-04E5-49F2-8009-6A9BD81A73F2}" type="datetimeFigureOut">
              <a:rPr lang="zh-CN" altLang="en-US" smtClean="0"/>
              <a:t>2024/5/15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E97121-3C68-4C47-859A-9A431E9944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613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E97121-3C68-4C47-859A-9A431E99446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06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E4B2BA-91E7-480A-8895-A232C12312A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3982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1.PF to FPFV</a:t>
            </a:r>
          </a:p>
          <a:p>
            <a:r>
              <a:rPr lang="en-US" dirty="0"/>
              <a:t>1.1In general, the China timeline from PF to FPFV is continuously shorten,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10.7M</a:t>
            </a:r>
            <a:r>
              <a:rPr lang="zh-CN" altLang="en-US" dirty="0"/>
              <a:t> </a:t>
            </a:r>
            <a:r>
              <a:rPr lang="en-US" altLang="zh-CN" dirty="0"/>
              <a:t>in 2022 to</a:t>
            </a:r>
            <a:r>
              <a:rPr lang="zh-CN" altLang="en-US" dirty="0"/>
              <a:t> </a:t>
            </a:r>
            <a:r>
              <a:rPr lang="en-US" altLang="zh-CN" dirty="0"/>
              <a:t>10.3M in 2023.</a:t>
            </a:r>
            <a:endParaRPr lang="en-US" dirty="0"/>
          </a:p>
          <a:p>
            <a:r>
              <a:rPr lang="en-US" dirty="0"/>
              <a:t>1.2.But compared with global, there is still room to improve, as this number is 4.9M for global, while 10.3M for China.</a:t>
            </a:r>
          </a:p>
          <a:p>
            <a:r>
              <a:rPr lang="en-US" dirty="0"/>
              <a:t>(1.3 backup data only, won’t share unless asked, for BI, from the collected trials that China joined, this comparison is 6.1M for global, 7.9M for China)</a:t>
            </a:r>
          </a:p>
          <a:p>
            <a:endParaRPr lang="en-US" b="1" dirty="0"/>
          </a:p>
          <a:p>
            <a:r>
              <a:rPr lang="en-US" b="1" dirty="0"/>
              <a:t>2.CTA to FPFV</a:t>
            </a:r>
            <a:r>
              <a:rPr lang="en-US" dirty="0"/>
              <a:t>, it shortens from 6.7M to 5.2M in China industry.</a:t>
            </a:r>
          </a:p>
          <a:p>
            <a:endParaRPr lang="en-US" dirty="0"/>
          </a:p>
          <a:p>
            <a:r>
              <a:rPr lang="en-US" dirty="0"/>
              <a:t>3.Paralleled EC review and earlier contract negotiation shortens the timeline with 1.4-1.6M, which means the </a:t>
            </a:r>
            <a:r>
              <a:rPr lang="en-US" b="1" dirty="0"/>
              <a:t>careful selection of leading sites is crucial </a:t>
            </a:r>
            <a:r>
              <a:rPr lang="en-US" dirty="0"/>
              <a:t>for startup phase.</a:t>
            </a:r>
          </a:p>
          <a:p>
            <a:endParaRPr lang="en-US" dirty="0"/>
          </a:p>
          <a:p>
            <a:r>
              <a:rPr lang="en-US" dirty="0"/>
              <a:t>4.</a:t>
            </a:r>
            <a:r>
              <a:rPr lang="en-US" b="1" dirty="0"/>
              <a:t>HGR, IP, lab and others </a:t>
            </a:r>
            <a:r>
              <a:rPr lang="en-US" dirty="0"/>
              <a:t>are the potential areas that the industry can keep working on to improve the clinical trial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E97121-3C68-4C47-859A-9A431E99446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072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Next a quick update on 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sample profile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The executive summary just shared was derived from 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199 samples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of start-up trials collected from 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28 companies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With different 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operation models, Therapeutic areas, trial phases and trial types.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E97121-3C68-4C47-859A-9A431E99446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50141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 can take a closer look at the industry median startup timelines</a:t>
            </a:r>
          </a:p>
          <a:p>
            <a:r>
              <a:rPr lang="en-US" dirty="0"/>
              <a:t>1.L</a:t>
            </a:r>
            <a:r>
              <a:rPr lang="en-US" altLang="zh-CN" dirty="0"/>
              <a:t>et’s start by reviewing </a:t>
            </a:r>
            <a:r>
              <a:rPr lang="en-US" altLang="zh-CN" b="1" dirty="0"/>
              <a:t>the general timeline from CTA submission to FPFV</a:t>
            </a:r>
            <a:r>
              <a:rPr lang="en-US" altLang="zh-CN" dirty="0"/>
              <a:t>, this takes around 8 months</a:t>
            </a:r>
          </a:p>
          <a:p>
            <a:r>
              <a:rPr lang="en-US" dirty="0"/>
              <a:t>2.Then if we change the starting point to </a:t>
            </a:r>
            <a:r>
              <a:rPr lang="en-US" b="1" dirty="0"/>
              <a:t>CTA approval</a:t>
            </a:r>
            <a:r>
              <a:rPr lang="en-US" dirty="0"/>
              <a:t>, to achieve </a:t>
            </a:r>
            <a:r>
              <a:rPr lang="en-US" b="1" dirty="0"/>
              <a:t>1</a:t>
            </a:r>
            <a:r>
              <a:rPr lang="en-US" b="1" baseline="30000" dirty="0"/>
              <a:t>st</a:t>
            </a:r>
            <a:r>
              <a:rPr lang="en-US" b="1" dirty="0"/>
              <a:t> site activation</a:t>
            </a:r>
            <a:r>
              <a:rPr lang="en-US" dirty="0"/>
              <a:t>, it takes around 3 months, and 5 months for </a:t>
            </a:r>
            <a:r>
              <a:rPr lang="en-US" b="1" dirty="0"/>
              <a:t>FPFV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E97121-3C68-4C47-859A-9A431E99446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9029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E97121-3C68-4C47-859A-9A431E99446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27958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E97121-3C68-4C47-859A-9A431E99446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40988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E97121-3C68-4C47-859A-9A431E99446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33873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Lastly we would like to share the survey results of some hurdles,  both in startup phase and closeout phase.</a:t>
            </a:r>
          </a:p>
          <a:p>
            <a:pPr marL="0" lvl="0" indent="0">
              <a:buFont typeface="+mj-lt"/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The top 3 are 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E97121-3C68-4C47-859A-9A431E99446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2315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This is my last slide, there are still quite a number of sites requiring 3</a:t>
            </a:r>
            <a:r>
              <a:rPr lang="en-US" altLang="zh-CN" sz="18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rd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party QC before DBL but there is no delay caused by this.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E97121-3C68-4C47-859A-9A431E99446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82620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E97121-3C68-4C47-859A-9A431E99446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393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 userDrawn="1"/>
        </p:nvSpPr>
        <p:spPr bwMode="auto">
          <a:xfrm>
            <a:off x="0" y="-4763"/>
            <a:ext cx="12192000" cy="433901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 eaLnBrk="1" hangingPunct="1">
              <a:lnSpc>
                <a:spcPct val="90000"/>
              </a:lnSpc>
            </a:pPr>
            <a:endParaRPr lang="zh-CN" altLang="zh-CN" sz="2400">
              <a:solidFill>
                <a:prstClr val="white"/>
              </a:solidFill>
              <a:latin typeface="Century Gothic" pitchFamily="34" charset="0"/>
              <a:ea typeface="宋体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4473" y="1470536"/>
            <a:ext cx="10363200" cy="1470025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1800">
                <a:solidFill>
                  <a:schemeClr val="bg1"/>
                </a:solidFill>
                <a:latin typeface="Century Gothic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1311" y="2943500"/>
            <a:ext cx="10363228" cy="6952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Century Gothic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5062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Century Gothic" pitchFamily="34" charset="0"/>
              </a:defRPr>
            </a:lvl1pPr>
          </a:lstStyle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fld id="{FC6CD023-0175-4B61-B6D4-6448C5D086A0}" type="datetime1">
              <a:rPr lang="en-GB" altLang="zh-CN" smtClean="0">
                <a:solidFill>
                  <a:prstClr val="black">
                    <a:tint val="75000"/>
                  </a:prstClr>
                </a:solidFill>
              </a:rPr>
              <a:t>15/05/2024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5062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Century Gothic" pitchFamily="34" charset="0"/>
              </a:defRPr>
            </a:lvl1pPr>
          </a:lstStyle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Confidential for restricted use only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5062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Century Gothic" pitchFamily="34" charset="0"/>
              </a:defRPr>
            </a:lvl1pPr>
          </a:lstStyle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fld id="{5E5495F7-5F52-4044-B612-BA773078B2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1655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 userDrawn="1"/>
        </p:nvSpPr>
        <p:spPr bwMode="auto">
          <a:xfrm>
            <a:off x="1" y="1"/>
            <a:ext cx="12198351" cy="1223637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lvl="1" defTabSz="457200"/>
            <a:endParaRPr lang="en-US" altLang="zh-CN" sz="1600" dirty="0">
              <a:solidFill>
                <a:schemeClr val="bg1"/>
              </a:solidFill>
              <a:latin typeface="Century Gothic" pitchFamily="34" charset="0"/>
              <a:ea typeface="微软雅黑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7244"/>
            <a:ext cx="1097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1600">
                <a:solidFill>
                  <a:schemeClr val="bg1"/>
                </a:solidFill>
                <a:latin typeface="Century Gothic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4732" y="1515330"/>
            <a:ext cx="109728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latin typeface="Century Gothic" pitchFamily="34" charset="0"/>
              </a:defRPr>
            </a:lvl1pPr>
            <a:lvl2pPr>
              <a:defRPr sz="2000">
                <a:latin typeface="Century Gothic" pitchFamily="34" charset="0"/>
              </a:defRPr>
            </a:lvl2pPr>
            <a:lvl3pPr>
              <a:defRPr sz="1800">
                <a:latin typeface="Century Gothic" pitchFamily="34" charset="0"/>
              </a:defRPr>
            </a:lvl3pPr>
            <a:lvl4pPr>
              <a:defRPr sz="1600">
                <a:latin typeface="Century Gothic" pitchFamily="34" charset="0"/>
              </a:defRPr>
            </a:lvl4pPr>
            <a:lvl5pPr>
              <a:defRPr sz="1600">
                <a:latin typeface="Century Gothic" pitchFamily="34" charset="0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4043" y="6315644"/>
            <a:ext cx="1237957" cy="533120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5062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Century Gothic" pitchFamily="34" charset="0"/>
              </a:defRPr>
            </a:lvl1pPr>
          </a:lstStyle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fld id="{3A26D18B-272F-4008-B8D2-8DA349576C8D}" type="datetime1">
              <a:rPr lang="en-GB" altLang="zh-CN" smtClean="0">
                <a:solidFill>
                  <a:prstClr val="black">
                    <a:tint val="75000"/>
                  </a:prstClr>
                </a:solidFill>
              </a:rPr>
              <a:t>15/05/2024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5062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Century Gothic" pitchFamily="34" charset="0"/>
              </a:defRPr>
            </a:lvl1pPr>
          </a:lstStyle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Confidential for restricted use only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5062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Century Gothic" pitchFamily="34" charset="0"/>
              </a:defRPr>
            </a:lvl1pPr>
          </a:lstStyle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fld id="{5E5495F7-5F52-4044-B612-BA773078B2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428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 userDrawn="1"/>
        </p:nvSpPr>
        <p:spPr bwMode="auto">
          <a:xfrm>
            <a:off x="0" y="-4763"/>
            <a:ext cx="12192000" cy="3867151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 eaLnBrk="1" hangingPunct="1">
              <a:lnSpc>
                <a:spcPct val="90000"/>
              </a:lnSpc>
            </a:pPr>
            <a:endParaRPr lang="zh-CN" altLang="zh-CN" sz="2400" b="1" dirty="0">
              <a:solidFill>
                <a:prstClr val="white"/>
              </a:solidFill>
              <a:latin typeface="Century Gothic" pitchFamily="34" charset="0"/>
              <a:ea typeface="宋体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727" y="2540355"/>
            <a:ext cx="10363200" cy="107011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1800" b="0" cap="all">
                <a:solidFill>
                  <a:schemeClr val="bg1"/>
                </a:solidFill>
                <a:latin typeface="Century Gothic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727" y="1040167"/>
            <a:ext cx="10363200" cy="150018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Century Gothic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FD504-989F-44C1-9A53-302349595FE1}" type="datetime1">
              <a:rPr lang="en-GB" altLang="zh-CN" smtClean="0">
                <a:solidFill>
                  <a:prstClr val="black">
                    <a:tint val="75000"/>
                  </a:prstClr>
                </a:solidFill>
              </a:rPr>
              <a:t>15/05/2024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Confidential for restricted use only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495F7-5F52-4044-B612-BA773078B2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203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5062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Century Gothic" pitchFamily="34" charset="0"/>
              </a:defRPr>
            </a:lvl1pPr>
          </a:lstStyle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fld id="{337C7A6B-AB76-4BC3-8CCE-1B19EE2A9AEB}" type="datetime1">
              <a:rPr lang="en-GB" altLang="zh-CN" smtClean="0">
                <a:solidFill>
                  <a:prstClr val="black">
                    <a:tint val="75000"/>
                  </a:prstClr>
                </a:solidFill>
              </a:rPr>
              <a:t>15/05/2024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5062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Century Gothic" pitchFamily="34" charset="0"/>
              </a:defRPr>
            </a:lvl1pPr>
          </a:lstStyle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Confidential for restricted use only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5062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Century Gothic" pitchFamily="34" charset="0"/>
              </a:defRPr>
            </a:lvl1pPr>
          </a:lstStyle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fld id="{5E5495F7-5F52-4044-B612-BA773078B2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 userDrawn="1"/>
        </p:nvSpPr>
        <p:spPr bwMode="auto">
          <a:xfrm>
            <a:off x="1" y="1"/>
            <a:ext cx="12198351" cy="1223637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lvl="1" defTabSz="457200"/>
            <a:endParaRPr lang="en-US" altLang="zh-CN" sz="1600" dirty="0">
              <a:solidFill>
                <a:schemeClr val="bg1"/>
              </a:solidFill>
              <a:latin typeface="Century Gothic" pitchFamily="34" charset="0"/>
              <a:ea typeface="微软雅黑" pitchFamily="34" charset="-122"/>
            </a:endParaRP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609600" y="67244"/>
            <a:ext cx="1097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1600">
                <a:solidFill>
                  <a:schemeClr val="bg1"/>
                </a:solidFill>
                <a:latin typeface="Century Gothic" pitchFamily="34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itchFamily="34" charset="0"/>
                <a:ea typeface="+mj-ea"/>
                <a:cs typeface="+mj-cs"/>
              </a:rPr>
              <a:t>Click to edit Master title style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 pitchFamily="34" charset="0"/>
              <a:ea typeface="+mj-ea"/>
              <a:cs typeface="+mj-cs"/>
            </a:endParaRPr>
          </a:p>
        </p:txBody>
      </p:sp>
      <p:pic>
        <p:nvPicPr>
          <p:cNvPr id="10" name="Picture 6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4043" y="6315644"/>
            <a:ext cx="1237957" cy="53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788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3" Type="http://schemas.openxmlformats.org/officeDocument/2006/relationships/notesSlide" Target="../notesSlides/notesSlide6.xml"/><Relationship Id="rId7" Type="http://schemas.openxmlformats.org/officeDocument/2006/relationships/chart" Target="../charts/chart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Relationship Id="rId9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1.xml"/><Relationship Id="rId13" Type="http://schemas.openxmlformats.org/officeDocument/2006/relationships/chart" Target="../charts/chart16.xml"/><Relationship Id="rId3" Type="http://schemas.openxmlformats.org/officeDocument/2006/relationships/notesSlide" Target="../notesSlides/notesSlide7.xml"/><Relationship Id="rId7" Type="http://schemas.openxmlformats.org/officeDocument/2006/relationships/chart" Target="../charts/chart10.xml"/><Relationship Id="rId12" Type="http://schemas.openxmlformats.org/officeDocument/2006/relationships/chart" Target="../charts/chart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chart" Target="../charts/chart9.xml"/><Relationship Id="rId11" Type="http://schemas.openxmlformats.org/officeDocument/2006/relationships/chart" Target="../charts/chart14.xml"/><Relationship Id="rId5" Type="http://schemas.openxmlformats.org/officeDocument/2006/relationships/chart" Target="../charts/chart8.xml"/><Relationship Id="rId10" Type="http://schemas.openxmlformats.org/officeDocument/2006/relationships/chart" Target="../charts/chart13.xml"/><Relationship Id="rId4" Type="http://schemas.openxmlformats.org/officeDocument/2006/relationships/chart" Target="../charts/chart7.xml"/><Relationship Id="rId9" Type="http://schemas.openxmlformats.org/officeDocument/2006/relationships/chart" Target="../charts/chart12.xml"/><Relationship Id="rId14" Type="http://schemas.openxmlformats.org/officeDocument/2006/relationships/chart" Target="../charts/char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chart" Target="../charts/chart23.xml"/><Relationship Id="rId5" Type="http://schemas.openxmlformats.org/officeDocument/2006/relationships/chart" Target="../charts/chart22.xml"/><Relationship Id="rId4" Type="http://schemas.openxmlformats.org/officeDocument/2006/relationships/chart" Target="../charts/char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2CD83-C574-424D-8D6B-90039BD109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/>
          <a:p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Report for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RDPAC CO Timeline Survey</a:t>
            </a:r>
            <a:endParaRPr lang="zh-CN" alt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8BAE2CD-902F-4C06-A990-DCC1C29EB5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311" y="2943499"/>
            <a:ext cx="10363228" cy="2129243"/>
          </a:xfrm>
        </p:spPr>
        <p:txBody>
          <a:bodyPr>
            <a:normAutofit/>
          </a:bodyPr>
          <a:lstStyle/>
          <a:p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CO Timeline Survey 2023</a:t>
            </a:r>
          </a:p>
        </p:txBody>
      </p:sp>
      <p:sp>
        <p:nvSpPr>
          <p:cNvPr id="4" name="Text Box 15">
            <a:extLst>
              <a:ext uri="{FF2B5EF4-FFF2-40B4-BE49-F238E27FC236}">
                <a16:creationId xmlns:a16="http://schemas.microsoft.com/office/drawing/2014/main" id="{52109D6C-0EF7-4B14-A260-3DA27E33A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045" y="4530223"/>
            <a:ext cx="1813537" cy="338528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CCFF">
                <a:gamma/>
                <a:shade val="60000"/>
                <a:invGamma/>
                <a:alpha val="50000"/>
              </a:srgbClr>
            </a:prstShdw>
          </a:effectLst>
        </p:spPr>
        <p:txBody>
          <a:bodyPr wrap="square" lIns="91416" tIns="45707" rIns="91416" bIns="45707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defTabSz="914157" eaLnBrk="1" fontAlgn="auto" hangingPunct="1">
              <a:spcBef>
                <a:spcPct val="5000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April,</a:t>
            </a:r>
            <a:r>
              <a:rPr lang="zh-CN" altLang="en-US" sz="16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3616862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150"/>
    </mc:Choice>
    <mc:Fallback xmlns="">
      <p:transition spd="slow" advTm="281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FFFFFF"/>
                </a:solidFill>
                <a:latin typeface="+mn-lt"/>
              </a:rPr>
              <a:t>AGENDA</a:t>
            </a:r>
            <a:endParaRPr lang="zh-CN" altLang="en-US" sz="40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" name="MH_Number_1">
            <a:extLst>
              <a:ext uri="{FF2B5EF4-FFF2-40B4-BE49-F238E27FC236}">
                <a16:creationId xmlns:a16="http://schemas.microsoft.com/office/drawing/2014/main" id="{57961A3B-9822-46F3-A3C4-068004F3064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946615" y="1820075"/>
            <a:ext cx="1080000" cy="1080000"/>
          </a:xfrm>
          <a:prstGeom prst="ellipse">
            <a:avLst/>
          </a:prstGeom>
          <a:solidFill>
            <a:srgbClr val="009999"/>
          </a:solidFill>
          <a:ln w="28575">
            <a:solidFill>
              <a:schemeClr val="bg1"/>
            </a:solidFill>
          </a:ln>
          <a:effectLst>
            <a:outerShdw blurRad="2032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sz="4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1</a:t>
            </a:r>
            <a:endParaRPr lang="zh-CN" altLang="en-US" sz="4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6" name="MH_Entry_1">
            <a:extLst>
              <a:ext uri="{FF2B5EF4-FFF2-40B4-BE49-F238E27FC236}">
                <a16:creationId xmlns:a16="http://schemas.microsoft.com/office/drawing/2014/main" id="{725B2105-E4C0-411E-ABF2-7FDA943BD3A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191000" y="2102823"/>
            <a:ext cx="5352426" cy="430887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34255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7 w 2520280"/>
              <a:gd name="connsiteY4" fmla="*/ 6036 h 1872208"/>
              <a:gd name="connsiteX5" fmla="*/ 0 w 2520280"/>
              <a:gd name="connsiteY5" fmla="*/ 0 h 1872208"/>
              <a:gd name="connsiteX0" fmla="*/ 0 w 2520280"/>
              <a:gd name="connsiteY0" fmla="*/ 1890314 h 1890314"/>
              <a:gd name="connsiteX1" fmla="*/ 2520280 w 2520280"/>
              <a:gd name="connsiteY1" fmla="*/ 1890314 h 1890314"/>
              <a:gd name="connsiteX2" fmla="*/ 0 w 2520280"/>
              <a:gd name="connsiteY2" fmla="*/ 1890314 h 1890314"/>
              <a:gd name="connsiteX3" fmla="*/ 0 w 2520280"/>
              <a:gd name="connsiteY3" fmla="*/ 18106 h 1890314"/>
              <a:gd name="connsiteX4" fmla="*/ 53304 w 2520280"/>
              <a:gd name="connsiteY4" fmla="*/ 0 h 1890314"/>
              <a:gd name="connsiteX5" fmla="*/ 0 w 2520280"/>
              <a:gd name="connsiteY5" fmla="*/ 18106 h 1890314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6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spAutoFit/>
          </a:bodyPr>
          <a:lstStyle/>
          <a:p>
            <a:pPr defTabSz="360000">
              <a:defRPr/>
            </a:pPr>
            <a:r>
              <a:rPr lang="en-US" altLang="zh-CN" sz="2800" b="1" dirty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sym typeface="Arial" panose="020B0604020202020204" pitchFamily="34" charset="0"/>
              </a:rPr>
              <a:t>Summary of RDPAC Survey</a:t>
            </a:r>
            <a:endParaRPr lang="zh-CN" altLang="en-US" sz="2800" b="1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7" name="MH_Number_2">
            <a:extLst>
              <a:ext uri="{FF2B5EF4-FFF2-40B4-BE49-F238E27FC236}">
                <a16:creationId xmlns:a16="http://schemas.microsoft.com/office/drawing/2014/main" id="{C551535D-F9E3-4E4B-A4A5-CD11F11C70E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946615" y="3311631"/>
            <a:ext cx="1080000" cy="1080000"/>
          </a:xfrm>
          <a:prstGeom prst="ellipse">
            <a:avLst/>
          </a:prstGeom>
          <a:solidFill>
            <a:schemeClr val="accent6"/>
          </a:solidFill>
          <a:ln w="28575">
            <a:solidFill>
              <a:schemeClr val="bg1"/>
            </a:solidFill>
          </a:ln>
          <a:effectLst>
            <a:outerShdw blurRad="2032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sz="4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2</a:t>
            </a:r>
            <a:endParaRPr lang="zh-CN" altLang="en-US" sz="4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0" name="MH_Entry_2">
            <a:extLst>
              <a:ext uri="{FF2B5EF4-FFF2-40B4-BE49-F238E27FC236}">
                <a16:creationId xmlns:a16="http://schemas.microsoft.com/office/drawing/2014/main" id="{8BD45042-6314-4EE6-8CCB-50402405146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191000" y="3391636"/>
            <a:ext cx="5712425" cy="861774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34255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7 w 2520280"/>
              <a:gd name="connsiteY4" fmla="*/ 6036 h 1872208"/>
              <a:gd name="connsiteX5" fmla="*/ 0 w 2520280"/>
              <a:gd name="connsiteY5" fmla="*/ 0 h 1872208"/>
              <a:gd name="connsiteX0" fmla="*/ 0 w 2520280"/>
              <a:gd name="connsiteY0" fmla="*/ 1890314 h 1890314"/>
              <a:gd name="connsiteX1" fmla="*/ 2520280 w 2520280"/>
              <a:gd name="connsiteY1" fmla="*/ 1890314 h 1890314"/>
              <a:gd name="connsiteX2" fmla="*/ 0 w 2520280"/>
              <a:gd name="connsiteY2" fmla="*/ 1890314 h 1890314"/>
              <a:gd name="connsiteX3" fmla="*/ 0 w 2520280"/>
              <a:gd name="connsiteY3" fmla="*/ 18106 h 1890314"/>
              <a:gd name="connsiteX4" fmla="*/ 53304 w 2520280"/>
              <a:gd name="connsiteY4" fmla="*/ 0 h 1890314"/>
              <a:gd name="connsiteX5" fmla="*/ 0 w 2520280"/>
              <a:gd name="connsiteY5" fmla="*/ 18106 h 1890314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6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sym typeface="Arial" panose="020B0604020202020204" pitchFamily="34" charset="0"/>
              </a:rPr>
              <a:t>Benchmark of the Industry and Boehringer</a:t>
            </a:r>
            <a:endParaRPr lang="zh-CN" altLang="en-US" sz="2800" b="1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11" name="MH_Number_3">
            <a:extLst>
              <a:ext uri="{FF2B5EF4-FFF2-40B4-BE49-F238E27FC236}">
                <a16:creationId xmlns:a16="http://schemas.microsoft.com/office/drawing/2014/main" id="{F8B47505-AF9F-4E7A-A84F-4AE5A6DBBC4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946615" y="4839353"/>
            <a:ext cx="1080000" cy="1080000"/>
          </a:xfrm>
          <a:prstGeom prst="ellipse">
            <a:avLst/>
          </a:prstGeom>
          <a:solidFill>
            <a:srgbClr val="339966"/>
          </a:solidFill>
          <a:ln w="28575">
            <a:solidFill>
              <a:schemeClr val="bg1"/>
            </a:solidFill>
          </a:ln>
          <a:effectLst>
            <a:outerShdw blurRad="2032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sz="4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3</a:t>
            </a:r>
            <a:endParaRPr lang="zh-CN" altLang="en-US" sz="4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2" name="MH_Entry_3">
            <a:extLst>
              <a:ext uri="{FF2B5EF4-FFF2-40B4-BE49-F238E27FC236}">
                <a16:creationId xmlns:a16="http://schemas.microsoft.com/office/drawing/2014/main" id="{6EDB78B2-1DBA-49BF-9806-ACBFCF9B78E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191000" y="4913008"/>
            <a:ext cx="5892425" cy="861774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34255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7 w 2520280"/>
              <a:gd name="connsiteY4" fmla="*/ 6036 h 1872208"/>
              <a:gd name="connsiteX5" fmla="*/ 0 w 2520280"/>
              <a:gd name="connsiteY5" fmla="*/ 0 h 1872208"/>
              <a:gd name="connsiteX0" fmla="*/ 0 w 2520280"/>
              <a:gd name="connsiteY0" fmla="*/ 1890314 h 1890314"/>
              <a:gd name="connsiteX1" fmla="*/ 2520280 w 2520280"/>
              <a:gd name="connsiteY1" fmla="*/ 1890314 h 1890314"/>
              <a:gd name="connsiteX2" fmla="*/ 0 w 2520280"/>
              <a:gd name="connsiteY2" fmla="*/ 1890314 h 1890314"/>
              <a:gd name="connsiteX3" fmla="*/ 0 w 2520280"/>
              <a:gd name="connsiteY3" fmla="*/ 18106 h 1890314"/>
              <a:gd name="connsiteX4" fmla="*/ 53304 w 2520280"/>
              <a:gd name="connsiteY4" fmla="*/ 0 h 1890314"/>
              <a:gd name="connsiteX5" fmla="*/ 0 w 2520280"/>
              <a:gd name="connsiteY5" fmla="*/ 18106 h 1890314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6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sym typeface="Arial" panose="020B0604020202020204" pitchFamily="34" charset="0"/>
              </a:rPr>
              <a:t>Potential Hurdles of Startup and Closeout</a:t>
            </a:r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E84270B5-66C7-441D-99CE-608BD7F76802}"/>
              </a:ext>
            </a:extLst>
          </p:cNvPr>
          <p:cNvSpPr txBox="1">
            <a:spLocks/>
          </p:cNvSpPr>
          <p:nvPr/>
        </p:nvSpPr>
        <p:spPr>
          <a:xfrm>
            <a:off x="4346726" y="6550899"/>
            <a:ext cx="3498548" cy="27085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ct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Confidential for restricted internal use only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D425814-6061-4EAA-BC45-0FA049470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425631"/>
            <a:ext cx="2844800" cy="365125"/>
          </a:xfrm>
        </p:spPr>
        <p:txBody>
          <a:bodyPr/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fld id="{5E5495F7-5F52-4044-B612-BA773078B221}" type="slidenum">
              <a:rPr lang="en-US" sz="800" smtClean="0">
                <a:solidFill>
                  <a:prstClr val="black">
                    <a:tint val="75000"/>
                  </a:prstClr>
                </a:solidFill>
              </a:rPr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t>2</a:t>
            </a:fld>
            <a:endParaRPr lang="en-US" sz="8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418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74"/>
    </mc:Choice>
    <mc:Fallback xmlns="">
      <p:transition spd="slow" advTm="40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10" grpId="0"/>
      <p:bldP spid="11" grpId="0" animBg="1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F0F1F-EA1F-EFBF-487D-C8D199172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>
                <a:solidFill>
                  <a:srgbClr val="FFFFFF"/>
                </a:solidFill>
                <a:latin typeface="+mn-lt"/>
              </a:rPr>
              <a:t>Executive Summary</a:t>
            </a:r>
            <a:endParaRPr lang="en-US" sz="3600" dirty="0"/>
          </a:p>
        </p:txBody>
      </p:sp>
      <p:sp>
        <p:nvSpPr>
          <p:cNvPr id="5" name="页脚占位符 2">
            <a:extLst>
              <a:ext uri="{FF2B5EF4-FFF2-40B4-BE49-F238E27FC236}">
                <a16:creationId xmlns:a16="http://schemas.microsoft.com/office/drawing/2014/main" id="{0D69B274-F82F-FAD5-FEA2-8217AC40F57C}"/>
              </a:ext>
            </a:extLst>
          </p:cNvPr>
          <p:cNvSpPr txBox="1">
            <a:spLocks/>
          </p:cNvSpPr>
          <p:nvPr/>
        </p:nvSpPr>
        <p:spPr>
          <a:xfrm>
            <a:off x="4346726" y="6550899"/>
            <a:ext cx="3498548" cy="27085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ct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Confidential for restricted internal use only</a:t>
            </a:r>
          </a:p>
        </p:txBody>
      </p:sp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7BD2D411-4AC5-2BBD-3986-3E50E12089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425631"/>
            <a:ext cx="2844800" cy="365125"/>
          </a:xfrm>
        </p:spPr>
        <p:txBody>
          <a:bodyPr/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fld id="{5E5495F7-5F52-4044-B612-BA773078B221}" type="slidenum">
              <a:rPr lang="en-US" sz="800" smtClean="0">
                <a:solidFill>
                  <a:prstClr val="black">
                    <a:tint val="75000"/>
                  </a:prstClr>
                </a:solidFill>
              </a:rPr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t>3</a:t>
            </a:fld>
            <a:endParaRPr lang="en-US" sz="8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BE7F05A2-5E55-BEBA-429B-45373649B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732" y="1515330"/>
            <a:ext cx="10799244" cy="4525963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1800" b="1" dirty="0">
                <a:latin typeface="Calibri" panose="020F0502020204030204" pitchFamily="34" charset="0"/>
              </a:rPr>
              <a:t>Even continuous shorten,</a:t>
            </a:r>
            <a:r>
              <a:rPr lang="zh-CN" altLang="en-US" sz="1800" b="1" dirty="0">
                <a:latin typeface="Calibri" panose="020F0502020204030204" pitchFamily="34" charset="0"/>
              </a:rPr>
              <a:t> </a:t>
            </a:r>
            <a:r>
              <a:rPr lang="en-US" altLang="zh-CN" sz="1800" b="1" dirty="0">
                <a:latin typeface="Calibri" panose="020F0502020204030204" pitchFamily="34" charset="0"/>
              </a:rPr>
              <a:t>there is still the time lag between Global and China (20.9wks /4.9M vs 44wks /10.3M in 2023) from </a:t>
            </a:r>
            <a:r>
              <a:rPr lang="en-US" altLang="zh-CN" sz="1800" b="1" dirty="0">
                <a:solidFill>
                  <a:srgbClr val="FF0000"/>
                </a:solidFill>
                <a:latin typeface="Calibri" panose="020F0502020204030204" pitchFamily="34" charset="0"/>
              </a:rPr>
              <a:t>protocol finalization to related FPFV </a:t>
            </a:r>
            <a:r>
              <a:rPr lang="en-US" altLang="zh-CN" sz="1800" b="1" dirty="0">
                <a:latin typeface="Calibri" panose="020F0502020204030204" pitchFamily="34" charset="0"/>
              </a:rPr>
              <a:t>compared with last year (19.6wks /4.6M vs 46wks /10.7M in 2022)</a:t>
            </a:r>
            <a:endParaRPr lang="en-US" altLang="zh-CN" sz="1800" b="1" i="1" u="sng" dirty="0">
              <a:latin typeface="Calibri" panose="020F0502020204030204" pitchFamily="34" charset="0"/>
            </a:endParaRPr>
          </a:p>
          <a:p>
            <a:pPr lvl="1"/>
            <a:endParaRPr lang="en-US" altLang="zh-CN" sz="1800" dirty="0">
              <a:latin typeface="Calibri" panose="020F0502020204030204" pitchFamily="34" charset="0"/>
            </a:endParaRPr>
          </a:p>
          <a:p>
            <a:r>
              <a:rPr lang="en-US" altLang="zh-CN" sz="1800" b="1" dirty="0">
                <a:latin typeface="Calibri" panose="020F0502020204030204" pitchFamily="34" charset="0"/>
              </a:rPr>
              <a:t>In clinical operation stage, it takes 22.1wks /5.2M in 2023 from </a:t>
            </a:r>
            <a:r>
              <a:rPr lang="en-US" altLang="zh-CN" sz="1800" b="1" dirty="0">
                <a:solidFill>
                  <a:srgbClr val="FF0000"/>
                </a:solidFill>
                <a:latin typeface="Calibri" panose="020F0502020204030204" pitchFamily="34" charset="0"/>
              </a:rPr>
              <a:t>CTA-Approval (CTA-A) to FPFV </a:t>
            </a:r>
            <a:r>
              <a:rPr lang="en-US" altLang="zh-CN" sz="1800" b="1" dirty="0">
                <a:latin typeface="Calibri" panose="020F0502020204030204" pitchFamily="34" charset="0"/>
              </a:rPr>
              <a:t>(29.4wks/6.7M in 2022) and t</a:t>
            </a:r>
            <a:r>
              <a:rPr lang="en-US" altLang="zh-CN" sz="1800" b="1" i="0" u="none" strike="noStrike" baseline="0" dirty="0">
                <a:latin typeface="Calibri" panose="020F0502020204030204" pitchFamily="34" charset="0"/>
              </a:rPr>
              <a:t>he overall initiation time of clinical trials in China continuously </a:t>
            </a:r>
            <a:r>
              <a:rPr lang="en-US" altLang="zh-CN" sz="1800" b="1" dirty="0">
                <a:latin typeface="Calibri" panose="020F0502020204030204" pitchFamily="34" charset="0"/>
              </a:rPr>
              <a:t>shorten</a:t>
            </a:r>
          </a:p>
          <a:p>
            <a:pPr marR="0" algn="l"/>
            <a:endParaRPr lang="en-US" altLang="zh-CN" sz="1800" b="1" dirty="0">
              <a:latin typeface="Calibri" panose="020F0502020204030204" pitchFamily="34" charset="0"/>
            </a:endParaRPr>
          </a:p>
          <a:p>
            <a:pPr marR="0"/>
            <a:r>
              <a:rPr lang="en-US" altLang="zh-CN" sz="1800" b="1" dirty="0">
                <a:latin typeface="Calibri" panose="020F0502020204030204" pitchFamily="34" charset="0"/>
              </a:rPr>
              <a:t>Both paralleled </a:t>
            </a:r>
            <a:r>
              <a:rPr lang="en-US" altLang="zh-CN" sz="1800" b="1" dirty="0">
                <a:solidFill>
                  <a:srgbClr val="FF0000"/>
                </a:solidFill>
                <a:latin typeface="Calibri" panose="020F0502020204030204" pitchFamily="34" charset="0"/>
              </a:rPr>
              <a:t>EC review </a:t>
            </a:r>
            <a:r>
              <a:rPr lang="en-US" altLang="zh-CN" sz="1800" b="1" dirty="0">
                <a:latin typeface="Calibri" panose="020F0502020204030204" pitchFamily="34" charset="0"/>
              </a:rPr>
              <a:t>and earlier </a:t>
            </a:r>
            <a:r>
              <a:rPr lang="en-US" altLang="zh-CN" sz="1800" b="1" dirty="0">
                <a:solidFill>
                  <a:srgbClr val="FF0000"/>
                </a:solidFill>
                <a:latin typeface="Calibri" panose="020F0502020204030204" pitchFamily="34" charset="0"/>
              </a:rPr>
              <a:t>contract negotiation </a:t>
            </a:r>
            <a:r>
              <a:rPr lang="en-US" altLang="zh-CN" sz="1800" b="1" dirty="0">
                <a:latin typeface="Calibri" panose="020F0502020204030204" pitchFamily="34" charset="0"/>
              </a:rPr>
              <a:t>saved about 6-7wks (1.4-1.6M) from CTA-A to FPFV</a:t>
            </a:r>
          </a:p>
          <a:p>
            <a:pPr lvl="1"/>
            <a:r>
              <a:rPr lang="en-US" altLang="zh-CN" sz="1800" dirty="0">
                <a:latin typeface="Calibri" panose="020F0502020204030204" pitchFamily="34" charset="0"/>
              </a:rPr>
              <a:t>Around 3wks saved that EC approval of 74% leading site is earlier than CTA-A in 2023 (-0.1wks in 2023 vs 2.6wks in 2022)</a:t>
            </a:r>
          </a:p>
          <a:p>
            <a:pPr lvl="1"/>
            <a:r>
              <a:rPr lang="en-US" altLang="zh-CN" sz="1800" dirty="0">
                <a:latin typeface="Calibri" panose="020F0502020204030204" pitchFamily="34" charset="0"/>
              </a:rPr>
              <a:t>Around 3wks saved that it takes 0.3wks in 2023 (3wks in 2022) from HGR approval to contract sign-off as contract negotiation is happened earlier than CTA-A with internal efforts</a:t>
            </a:r>
          </a:p>
          <a:p>
            <a:pPr lvl="1"/>
            <a:endParaRPr lang="en-US" altLang="zh-CN" sz="1800" dirty="0">
              <a:latin typeface="Calibri" panose="020F0502020204030204" pitchFamily="34" charset="0"/>
            </a:endParaRPr>
          </a:p>
          <a:p>
            <a:pPr marR="0"/>
            <a:r>
              <a:rPr lang="en-US" altLang="zh-CN" sz="1800" b="1" dirty="0">
                <a:latin typeface="Calibri" panose="020F0502020204030204" pitchFamily="34" charset="0"/>
              </a:rPr>
              <a:t>Below actions needs both internal and external efforts to improve the clinical trial efficiency</a:t>
            </a:r>
          </a:p>
          <a:p>
            <a:pPr lvl="1"/>
            <a:r>
              <a:rPr lang="en-US" altLang="zh-CN" sz="1800" b="0" i="0" u="none" strike="noStrike" baseline="0" dirty="0">
                <a:latin typeface="Calibri" panose="020F0502020204030204" pitchFamily="34" charset="0"/>
              </a:rPr>
              <a:t>Modified </a:t>
            </a:r>
            <a:r>
              <a:rPr lang="en-US" altLang="zh-CN" sz="1800" b="0" i="0" u="none" strike="noStrike" baseline="0" dirty="0">
                <a:solidFill>
                  <a:srgbClr val="FF0000"/>
                </a:solidFill>
                <a:latin typeface="Calibri" panose="020F0502020204030204" pitchFamily="34" charset="0"/>
              </a:rPr>
              <a:t>HGR administration </a:t>
            </a:r>
            <a:r>
              <a:rPr lang="en-US" altLang="zh-CN" sz="1800" b="0" i="0" u="none" strike="noStrike" baseline="0" dirty="0">
                <a:latin typeface="Calibri" panose="020F0502020204030204" pitchFamily="34" charset="0"/>
              </a:rPr>
              <a:t>including delinked with contract sign-off, more clear </a:t>
            </a:r>
            <a:r>
              <a:rPr lang="en-US" altLang="zh-CN" sz="1800" dirty="0">
                <a:latin typeface="Calibri" panose="020F0502020204030204" pitchFamily="34" charset="0"/>
              </a:rPr>
              <a:t>patent requirement, </a:t>
            </a:r>
            <a:r>
              <a:rPr lang="en-US" altLang="zh-CN" sz="1800" b="0" i="0" u="none" strike="noStrike" baseline="0" dirty="0">
                <a:latin typeface="Calibri" panose="020F0502020204030204" pitchFamily="34" charset="0"/>
              </a:rPr>
              <a:t>etc</a:t>
            </a:r>
            <a:r>
              <a:rPr lang="en-US" altLang="zh-CN" sz="1800" dirty="0">
                <a:latin typeface="Calibri" panose="020F0502020204030204" pitchFamily="34" charset="0"/>
              </a:rPr>
              <a:t>.</a:t>
            </a:r>
            <a:endParaRPr lang="en-US" altLang="zh-CN" sz="1800" b="0" i="0" u="none" strike="noStrike" baseline="0" dirty="0">
              <a:latin typeface="Calibri" panose="020F0502020204030204" pitchFamily="34" charset="0"/>
            </a:endParaRPr>
          </a:p>
          <a:p>
            <a:pPr marR="0" lvl="1"/>
            <a:r>
              <a:rPr lang="en-US" altLang="zh-CN" sz="1800" dirty="0">
                <a:latin typeface="Calibri" panose="020F0502020204030204" pitchFamily="34" charset="0"/>
              </a:rPr>
              <a:t>Potentially</a:t>
            </a:r>
            <a:r>
              <a:rPr lang="en-US" altLang="zh-CN" sz="1800" dirty="0">
                <a:solidFill>
                  <a:srgbClr val="FF0000"/>
                </a:solidFill>
                <a:latin typeface="Calibri" panose="020F0502020204030204" pitchFamily="34" charset="0"/>
              </a:rPr>
              <a:t>, investigator products (IP) supply </a:t>
            </a:r>
            <a:r>
              <a:rPr lang="en-US" altLang="zh-CN" sz="1800" dirty="0">
                <a:latin typeface="Calibri" panose="020F0502020204030204" pitchFamily="34" charset="0"/>
              </a:rPr>
              <a:t>will be attended with custom clearance</a:t>
            </a:r>
          </a:p>
          <a:p>
            <a:pPr marR="0" lvl="1"/>
            <a:r>
              <a:rPr lang="en-US" altLang="zh-CN" sz="1800" dirty="0">
                <a:solidFill>
                  <a:srgbClr val="FF0000"/>
                </a:solidFill>
                <a:latin typeface="Calibri" panose="020F0502020204030204" pitchFamily="34" charset="0"/>
              </a:rPr>
              <a:t>IP/Lab preparation and others </a:t>
            </a:r>
            <a:r>
              <a:rPr lang="en-US" altLang="zh-CN" sz="1800" dirty="0">
                <a:latin typeface="Calibri" panose="020F0502020204030204" pitchFamily="34" charset="0"/>
              </a:rPr>
              <a:t>can be considered with internal efforts to catch up global standards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FA50CF2-4987-0598-FDB5-7785149FC3B4}"/>
              </a:ext>
            </a:extLst>
          </p:cNvPr>
          <p:cNvSpPr/>
          <p:nvPr/>
        </p:nvSpPr>
        <p:spPr>
          <a:xfrm>
            <a:off x="2050402" y="1762699"/>
            <a:ext cx="3314812" cy="252000"/>
          </a:xfrm>
          <a:prstGeom prst="round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E6B346D-3EF6-4E43-6374-BD8EDBB3F587}"/>
              </a:ext>
            </a:extLst>
          </p:cNvPr>
          <p:cNvSpPr/>
          <p:nvPr/>
        </p:nvSpPr>
        <p:spPr>
          <a:xfrm>
            <a:off x="1543626" y="1539241"/>
            <a:ext cx="1764000" cy="252000"/>
          </a:xfrm>
          <a:prstGeom prst="round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4CB262-38E1-64FF-2F33-ADF58B96D358}"/>
              </a:ext>
            </a:extLst>
          </p:cNvPr>
          <p:cNvSpPr/>
          <p:nvPr/>
        </p:nvSpPr>
        <p:spPr>
          <a:xfrm>
            <a:off x="10324374" y="1512698"/>
            <a:ext cx="648000" cy="252000"/>
          </a:xfrm>
          <a:prstGeom prst="round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DD8EEAA-C86B-44C4-705F-021248616D7B}"/>
              </a:ext>
            </a:extLst>
          </p:cNvPr>
          <p:cNvSpPr/>
          <p:nvPr/>
        </p:nvSpPr>
        <p:spPr>
          <a:xfrm>
            <a:off x="9977031" y="1791241"/>
            <a:ext cx="648000" cy="252000"/>
          </a:xfrm>
          <a:prstGeom prst="round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544F27D-21BF-FBF0-51F8-EC31232E82B9}"/>
              </a:ext>
            </a:extLst>
          </p:cNvPr>
          <p:cNvSpPr/>
          <p:nvPr/>
        </p:nvSpPr>
        <p:spPr>
          <a:xfrm>
            <a:off x="8884376" y="1510699"/>
            <a:ext cx="648000" cy="252000"/>
          </a:xfrm>
          <a:prstGeom prst="round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1D48B47-EC04-204A-3E67-38277A9866F8}"/>
              </a:ext>
            </a:extLst>
          </p:cNvPr>
          <p:cNvSpPr/>
          <p:nvPr/>
        </p:nvSpPr>
        <p:spPr>
          <a:xfrm>
            <a:off x="6662219" y="2355806"/>
            <a:ext cx="2736000" cy="252000"/>
          </a:xfrm>
          <a:prstGeom prst="round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1031245-42BE-FC35-D68E-49F15128BABD}"/>
              </a:ext>
            </a:extLst>
          </p:cNvPr>
          <p:cNvSpPr/>
          <p:nvPr/>
        </p:nvSpPr>
        <p:spPr>
          <a:xfrm>
            <a:off x="10291432" y="2348327"/>
            <a:ext cx="648000" cy="252000"/>
          </a:xfrm>
          <a:prstGeom prst="round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10BC864-29F3-392C-6CA4-1F989B668655}"/>
              </a:ext>
            </a:extLst>
          </p:cNvPr>
          <p:cNvSpPr/>
          <p:nvPr/>
        </p:nvSpPr>
        <p:spPr>
          <a:xfrm>
            <a:off x="4900195" y="2332669"/>
            <a:ext cx="648000" cy="252000"/>
          </a:xfrm>
          <a:prstGeom prst="round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447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4208"/>
    </mc:Choice>
    <mc:Fallback xmlns="">
      <p:transition spd="slow" advTm="1242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3" grpId="0" uiExpand="1" animBg="1"/>
      <p:bldP spid="4" grpId="0" uiExpand="1" animBg="1"/>
      <p:bldP spid="8" grpId="0" uiExpand="1" animBg="1"/>
      <p:bldP spid="9" grpId="0" uiExpand="1" animBg="1"/>
      <p:bldP spid="10" grpId="0" uiExpand="1" animBg="1"/>
      <p:bldP spid="15" grpId="0" uiExpand="1" animBg="1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56B5-51FE-41C3-8DE1-F0F10ECA7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altLang="zh-CN" sz="4000" dirty="0">
                <a:solidFill>
                  <a:srgbClr val="FFFFFF"/>
                </a:solidFill>
                <a:latin typeface="+mn-lt"/>
              </a:rPr>
              <a:t>Sample profile</a:t>
            </a:r>
            <a:endParaRPr lang="zh-CN" altLang="en-US" sz="40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F85ECF-F644-4CA8-B11F-DF504DDA113B}"/>
              </a:ext>
            </a:extLst>
          </p:cNvPr>
          <p:cNvSpPr txBox="1"/>
          <p:nvPr/>
        </p:nvSpPr>
        <p:spPr>
          <a:xfrm>
            <a:off x="590802" y="1324276"/>
            <a:ext cx="11238668" cy="68647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68288" indent="-268288">
              <a:lnSpc>
                <a:spcPct val="110000"/>
              </a:lnSpc>
              <a:buClr>
                <a:srgbClr val="ED7D31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en-US" altLang="zh-CN" b="1" kern="0" dirty="0">
                <a:solidFill>
                  <a:schemeClr val="bg1"/>
                </a:solidFill>
                <a:latin typeface="Calibri" panose="020F0502020204030204"/>
                <a:ea typeface="等线" panose="02010600030101010101" pitchFamily="2" charset="-122"/>
                <a:cs typeface="Arial"/>
              </a:rPr>
              <a:t>Totally, 199 samples of start-up trials are collected from 28 member companies. </a:t>
            </a:r>
          </a:p>
          <a:p>
            <a:pPr marL="268288" indent="-268288">
              <a:lnSpc>
                <a:spcPct val="110000"/>
              </a:lnSpc>
              <a:buClr>
                <a:srgbClr val="ED7D31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en-US" altLang="zh-CN" b="1" kern="0" dirty="0">
                <a:solidFill>
                  <a:schemeClr val="bg1"/>
                </a:solidFill>
                <a:latin typeface="Calibri" panose="020F0502020204030204"/>
                <a:ea typeface="等线" panose="02010600030101010101" pitchFamily="2" charset="-122"/>
                <a:cs typeface="Arial"/>
              </a:rPr>
              <a:t>The qualified samples include trials which China site’s FPFV happened from 1Jan 2023 until 31Dec 2023.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5960F41-2A80-41AE-AFC3-3F152AAC4C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919192"/>
              </p:ext>
            </p:extLst>
          </p:nvPr>
        </p:nvGraphicFramePr>
        <p:xfrm>
          <a:off x="1766660" y="2135828"/>
          <a:ext cx="8646850" cy="4234180"/>
        </p:xfrm>
        <a:graphic>
          <a:graphicData uri="http://schemas.openxmlformats.org/drawingml/2006/table">
            <a:tbl>
              <a:tblPr firstRow="1" firstCol="1" bandRow="1"/>
              <a:tblGrid>
                <a:gridCol w="484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7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5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6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464">
                <a:tc gridSpan="4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Tab.</a:t>
                      </a: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 S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tart-up</a:t>
                      </a: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sample </a:t>
                      </a:r>
                      <a:r>
                        <a:rPr lang="en-US" sz="1200" kern="100" dirty="0"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distribution</a:t>
                      </a:r>
                      <a:endParaRPr lang="zh-CN" sz="1200" kern="100" dirty="0"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464"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200" kern="100" dirty="0"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200" kern="100"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Number of CTs</a:t>
                      </a:r>
                      <a:endParaRPr lang="zh-CN" sz="1200" kern="100" dirty="0"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464">
                <a:tc gridSpan="3"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Total</a:t>
                      </a:r>
                      <a:endParaRPr lang="zh-CN" sz="1200" kern="100"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2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199</a:t>
                      </a:r>
                      <a:endParaRPr lang="zh-CN" sz="12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464">
                <a:tc gridSpan="3"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---By Operation model</a:t>
                      </a:r>
                      <a:endParaRPr lang="zh-CN" sz="1200" kern="100" dirty="0"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zh-CN" sz="12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8464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200" kern="100" dirty="0"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All in-house time(permanent HC)</a:t>
                      </a:r>
                      <a:endParaRPr lang="zh-CN" sz="1200" kern="100" dirty="0"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8464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200" kern="100" dirty="0"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Full out-source to CRO and oversight by pharm</a:t>
                      </a:r>
                    </a:p>
                  </a:txBody>
                  <a:tcPr marL="43020" marR="4302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8464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Hybrid model</a:t>
                      </a:r>
                      <a:endParaRPr lang="zh-CN" altLang="zh-CN" sz="1200" kern="100" dirty="0"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2401819"/>
                  </a:ext>
                </a:extLst>
              </a:tr>
              <a:tr h="208464">
                <a:tc gridSpan="3"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---By TA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983009"/>
                  </a:ext>
                </a:extLst>
              </a:tr>
              <a:tr h="208464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200" kern="100" dirty="0"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Oncology</a:t>
                      </a:r>
                      <a:endParaRPr lang="zh-CN" sz="1200" kern="100" dirty="0"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2144065"/>
                  </a:ext>
                </a:extLst>
              </a:tr>
              <a:tr h="208464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200" kern="100" dirty="0"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Non-oncology</a:t>
                      </a:r>
                    </a:p>
                  </a:txBody>
                  <a:tcPr marL="43020" marR="4302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9697629"/>
                  </a:ext>
                </a:extLst>
              </a:tr>
              <a:tr h="208464">
                <a:tc gridSpan="3"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---By </a:t>
                      </a:r>
                      <a:r>
                        <a:rPr lang="en-US" altLang="zh-CN" sz="1200" kern="100" dirty="0"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Trial</a:t>
                      </a:r>
                      <a:r>
                        <a:rPr lang="en-US" sz="1200" kern="100" dirty="0"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Phase</a:t>
                      </a:r>
                      <a:endParaRPr lang="zh-CN" sz="1200" kern="100" dirty="0"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1377474"/>
                  </a:ext>
                </a:extLst>
              </a:tr>
              <a:tr h="208464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200" kern="100" dirty="0"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Phase I</a:t>
                      </a:r>
                      <a:endParaRPr lang="zh-CN" sz="1200" kern="100" dirty="0"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1047115"/>
                  </a:ext>
                </a:extLst>
              </a:tr>
              <a:tr h="208464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200" kern="100" dirty="0"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Phase II</a:t>
                      </a:r>
                      <a:endParaRPr lang="zh-CN" sz="1200" kern="100" dirty="0"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6790822"/>
                  </a:ext>
                </a:extLst>
              </a:tr>
              <a:tr h="208464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200" kern="100"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Phase III</a:t>
                      </a:r>
                      <a:endParaRPr lang="zh-CN" sz="1200" kern="100" dirty="0"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1643214"/>
                  </a:ext>
                </a:extLst>
              </a:tr>
              <a:tr h="208464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endParaRPr lang="zh-CN" sz="1200" kern="100"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kern="100" dirty="0"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Vaccine trial 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(Phase 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III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3482983"/>
                  </a:ext>
                </a:extLst>
              </a:tr>
              <a:tr h="208464">
                <a:tc gridSpan="3"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---By Trial type</a:t>
                      </a:r>
                      <a:endParaRPr lang="zh-CN" sz="1200" kern="100" dirty="0"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4300456"/>
                  </a:ext>
                </a:extLst>
              </a:tr>
              <a:tr h="208464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200" kern="100" dirty="0"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China only registration study (LRT, local registration trial)</a:t>
                      </a:r>
                      <a:endParaRPr lang="zh-CN" sz="1200" kern="100" dirty="0"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7093454"/>
                  </a:ext>
                </a:extLst>
              </a:tr>
              <a:tr h="208464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200" kern="100" dirty="0"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Global trial + China Extension</a:t>
                      </a:r>
                      <a:endParaRPr lang="zh-CN" sz="1200" kern="100" dirty="0"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8558344"/>
                  </a:ext>
                </a:extLst>
              </a:tr>
              <a:tr h="208464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Global trial</a:t>
                      </a:r>
                      <a:endParaRPr lang="zh-CN" sz="1200" kern="100" dirty="0"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0328619"/>
                  </a:ext>
                </a:extLst>
              </a:tr>
              <a:tr h="208464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IMCT/ China dominated regional trial</a:t>
                      </a:r>
                      <a:endParaRPr lang="zh-CN" sz="1200" kern="100" dirty="0"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020" marR="4302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0398920"/>
                  </a:ext>
                </a:extLst>
              </a:tr>
            </a:tbl>
          </a:graphicData>
        </a:graphic>
      </p:graphicFrame>
      <p:sp>
        <p:nvSpPr>
          <p:cNvPr id="4" name="页脚占位符 2">
            <a:extLst>
              <a:ext uri="{FF2B5EF4-FFF2-40B4-BE49-F238E27FC236}">
                <a16:creationId xmlns:a16="http://schemas.microsoft.com/office/drawing/2014/main" id="{9AFB475A-ADF4-651C-EF1C-6242C4931D1B}"/>
              </a:ext>
            </a:extLst>
          </p:cNvPr>
          <p:cNvSpPr txBox="1">
            <a:spLocks/>
          </p:cNvSpPr>
          <p:nvPr/>
        </p:nvSpPr>
        <p:spPr>
          <a:xfrm>
            <a:off x="4346726" y="6550899"/>
            <a:ext cx="3498548" cy="27085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ct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Confidential for restricted internal use only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C81FBAA3-4D13-D617-D13A-332E819C6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425631"/>
            <a:ext cx="2844800" cy="365125"/>
          </a:xfrm>
        </p:spPr>
        <p:txBody>
          <a:bodyPr/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fld id="{5E5495F7-5F52-4044-B612-BA773078B221}" type="slidenum">
              <a:rPr lang="en-US" sz="800" smtClean="0">
                <a:solidFill>
                  <a:prstClr val="black">
                    <a:tint val="75000"/>
                  </a:prstClr>
                </a:solidFill>
              </a:rPr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t>4</a:t>
            </a:fld>
            <a:endParaRPr lang="en-US" sz="8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7DD83CA-E9A2-4CCD-1355-F13B03F3A24F}"/>
              </a:ext>
            </a:extLst>
          </p:cNvPr>
          <p:cNvSpPr/>
          <p:nvPr/>
        </p:nvSpPr>
        <p:spPr>
          <a:xfrm>
            <a:off x="1656858" y="1293257"/>
            <a:ext cx="1260000" cy="432000"/>
          </a:xfrm>
          <a:prstGeom prst="round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857E1B-1560-588F-369D-709803596974}"/>
              </a:ext>
            </a:extLst>
          </p:cNvPr>
          <p:cNvSpPr/>
          <p:nvPr/>
        </p:nvSpPr>
        <p:spPr>
          <a:xfrm>
            <a:off x="6210136" y="1281407"/>
            <a:ext cx="2412000" cy="432000"/>
          </a:xfrm>
          <a:prstGeom prst="round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59FF928-D20A-FC2F-8E2A-DAD6C77F0DC3}"/>
              </a:ext>
            </a:extLst>
          </p:cNvPr>
          <p:cNvSpPr/>
          <p:nvPr/>
        </p:nvSpPr>
        <p:spPr>
          <a:xfrm>
            <a:off x="1647714" y="2769686"/>
            <a:ext cx="1584000" cy="252000"/>
          </a:xfrm>
          <a:prstGeom prst="round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3B541A6-8A94-4383-2CAA-1E4A78C745F8}"/>
              </a:ext>
            </a:extLst>
          </p:cNvPr>
          <p:cNvSpPr/>
          <p:nvPr/>
        </p:nvSpPr>
        <p:spPr>
          <a:xfrm>
            <a:off x="1668762" y="3584315"/>
            <a:ext cx="1584000" cy="252000"/>
          </a:xfrm>
          <a:prstGeom prst="round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0A291BB-978A-6CBB-D71D-28E9B7700CF2}"/>
              </a:ext>
            </a:extLst>
          </p:cNvPr>
          <p:cNvSpPr/>
          <p:nvPr/>
        </p:nvSpPr>
        <p:spPr>
          <a:xfrm>
            <a:off x="1647714" y="4252918"/>
            <a:ext cx="1584000" cy="252000"/>
          </a:xfrm>
          <a:prstGeom prst="round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78BD2EC-BA95-C5FB-16F7-04DC78C7D419}"/>
              </a:ext>
            </a:extLst>
          </p:cNvPr>
          <p:cNvSpPr/>
          <p:nvPr/>
        </p:nvSpPr>
        <p:spPr>
          <a:xfrm>
            <a:off x="1668762" y="5318813"/>
            <a:ext cx="1584000" cy="252000"/>
          </a:xfrm>
          <a:prstGeom prst="round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7153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336"/>
    </mc:Choice>
    <mc:Fallback xmlns="">
      <p:transition spd="slow" advTm="303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animBg="1"/>
      <p:bldP spid="7" grpId="0" uiExpand="1" animBg="1"/>
      <p:bldP spid="8" grpId="0" uiExpand="1" animBg="1"/>
      <p:bldP spid="10" grpId="0" uiExpand="1" animBg="1"/>
      <p:bldP spid="11" grpId="0" uiExpand="1" animBg="1"/>
      <p:bldP spid="12" grpId="0" uiExpan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D791F-8A88-1884-9666-4D20E0B0E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>
            <a:extLst>
              <a:ext uri="{FF2B5EF4-FFF2-40B4-BE49-F238E27FC236}">
                <a16:creationId xmlns:a16="http://schemas.microsoft.com/office/drawing/2014/main" id="{572A4CED-D59A-90D9-AC88-A74CF18A5BED}"/>
              </a:ext>
            </a:extLst>
          </p:cNvPr>
          <p:cNvSpPr txBox="1"/>
          <p:nvPr/>
        </p:nvSpPr>
        <p:spPr>
          <a:xfrm>
            <a:off x="796772" y="5840239"/>
            <a:ext cx="10598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*Notes: </a:t>
            </a:r>
          </a:p>
          <a:p>
            <a:pPr marL="263525" indent="-80963" defTabSz="263525">
              <a:buFont typeface="Arial" panose="020B0604020202020204" pitchFamily="34" charset="0"/>
              <a:buChar char="−"/>
            </a:pPr>
            <a:r>
              <a:rPr lang="en-US" altLang="zh-CN" sz="1200" dirty="0"/>
              <a:t> “HGR-A”: From HGR online submission to HGR approval </a:t>
            </a:r>
          </a:p>
          <a:p>
            <a:pPr marL="263525" indent="-80963" defTabSz="263525">
              <a:buFont typeface="Arial" panose="020B0604020202020204" pitchFamily="34" charset="0"/>
              <a:buChar char="−"/>
            </a:pPr>
            <a:r>
              <a:rPr lang="en-US" altLang="zh-CN" sz="1200" dirty="0"/>
              <a:t> The numbers above are median, so an overall value might be unequal to the sum of its parts, because parameter value distribution is different from stage to stage. </a:t>
            </a:r>
          </a:p>
        </p:txBody>
      </p:sp>
      <p:cxnSp>
        <p:nvCxnSpPr>
          <p:cNvPr id="55" name="Straight Connector 59">
            <a:extLst>
              <a:ext uri="{FF2B5EF4-FFF2-40B4-BE49-F238E27FC236}">
                <a16:creationId xmlns:a16="http://schemas.microsoft.com/office/drawing/2014/main" id="{0DEE26FB-3A16-3272-D3BD-B65A303CE5A6}"/>
              </a:ext>
            </a:extLst>
          </p:cNvPr>
          <p:cNvCxnSpPr>
            <a:cxnSpLocks/>
          </p:cNvCxnSpPr>
          <p:nvPr/>
        </p:nvCxnSpPr>
        <p:spPr>
          <a:xfrm flipH="1">
            <a:off x="10353084" y="2229670"/>
            <a:ext cx="13739" cy="3682933"/>
          </a:xfrm>
          <a:prstGeom prst="line">
            <a:avLst/>
          </a:prstGeom>
          <a:ln w="6350" cap="flat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59">
            <a:extLst>
              <a:ext uri="{FF2B5EF4-FFF2-40B4-BE49-F238E27FC236}">
                <a16:creationId xmlns:a16="http://schemas.microsoft.com/office/drawing/2014/main" id="{F8D471C8-02C7-9775-B1F8-C05644D7365B}"/>
              </a:ext>
            </a:extLst>
          </p:cNvPr>
          <p:cNvCxnSpPr>
            <a:cxnSpLocks/>
          </p:cNvCxnSpPr>
          <p:nvPr/>
        </p:nvCxnSpPr>
        <p:spPr>
          <a:xfrm>
            <a:off x="9558004" y="2428848"/>
            <a:ext cx="0" cy="1859631"/>
          </a:xfrm>
          <a:prstGeom prst="line">
            <a:avLst/>
          </a:prstGeom>
          <a:ln w="6350" cap="flat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59">
            <a:extLst>
              <a:ext uri="{FF2B5EF4-FFF2-40B4-BE49-F238E27FC236}">
                <a16:creationId xmlns:a16="http://schemas.microsoft.com/office/drawing/2014/main" id="{82B2F992-BA55-5B67-934C-2C55D9493CC5}"/>
              </a:ext>
            </a:extLst>
          </p:cNvPr>
          <p:cNvCxnSpPr>
            <a:cxnSpLocks/>
          </p:cNvCxnSpPr>
          <p:nvPr/>
        </p:nvCxnSpPr>
        <p:spPr>
          <a:xfrm>
            <a:off x="8146754" y="2428849"/>
            <a:ext cx="0" cy="792000"/>
          </a:xfrm>
          <a:prstGeom prst="line">
            <a:avLst/>
          </a:prstGeom>
          <a:ln w="6350" cap="flat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59">
            <a:extLst>
              <a:ext uri="{FF2B5EF4-FFF2-40B4-BE49-F238E27FC236}">
                <a16:creationId xmlns:a16="http://schemas.microsoft.com/office/drawing/2014/main" id="{68D9E458-CE1E-0F65-8340-ACD38C9933D1}"/>
              </a:ext>
            </a:extLst>
          </p:cNvPr>
          <p:cNvCxnSpPr>
            <a:cxnSpLocks/>
          </p:cNvCxnSpPr>
          <p:nvPr/>
        </p:nvCxnSpPr>
        <p:spPr>
          <a:xfrm>
            <a:off x="5901856" y="2428849"/>
            <a:ext cx="0" cy="3132000"/>
          </a:xfrm>
          <a:prstGeom prst="line">
            <a:avLst/>
          </a:prstGeom>
          <a:ln w="6350" cap="flat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97469AE9-8DCF-EAFE-225B-BC2081238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FFFFFF"/>
                </a:solidFill>
                <a:latin typeface="+mn-lt"/>
              </a:rPr>
              <a:t>Study Startup Timeline 2023 (median, weeks)</a:t>
            </a:r>
            <a:endParaRPr lang="zh-CN" altLang="en-US" sz="4000" dirty="0"/>
          </a:p>
        </p:txBody>
      </p:sp>
      <p:cxnSp>
        <p:nvCxnSpPr>
          <p:cNvPr id="5" name="Straight Arrow Connector 58">
            <a:extLst>
              <a:ext uri="{FF2B5EF4-FFF2-40B4-BE49-F238E27FC236}">
                <a16:creationId xmlns:a16="http://schemas.microsoft.com/office/drawing/2014/main" id="{2ABB4888-D450-89D2-6551-3F6339471974}"/>
              </a:ext>
            </a:extLst>
          </p:cNvPr>
          <p:cNvCxnSpPr>
            <a:cxnSpLocks/>
          </p:cNvCxnSpPr>
          <p:nvPr/>
        </p:nvCxnSpPr>
        <p:spPr>
          <a:xfrm>
            <a:off x="1880091" y="1939462"/>
            <a:ext cx="8640000" cy="22121"/>
          </a:xfrm>
          <a:prstGeom prst="straightConnector1">
            <a:avLst/>
          </a:prstGeom>
          <a:ln w="19050" cap="flat">
            <a:solidFill>
              <a:schemeClr val="tx2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0">
            <a:extLst>
              <a:ext uri="{FF2B5EF4-FFF2-40B4-BE49-F238E27FC236}">
                <a16:creationId xmlns:a16="http://schemas.microsoft.com/office/drawing/2014/main" id="{B6597918-9698-0A33-C6AB-6A3D8846B086}"/>
              </a:ext>
            </a:extLst>
          </p:cNvPr>
          <p:cNvSpPr/>
          <p:nvPr/>
        </p:nvSpPr>
        <p:spPr>
          <a:xfrm>
            <a:off x="1826061" y="1878522"/>
            <a:ext cx="144000" cy="144000"/>
          </a:xfrm>
          <a:prstGeom prst="ellips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Arrow: Pentagon 88">
            <a:extLst>
              <a:ext uri="{FF2B5EF4-FFF2-40B4-BE49-F238E27FC236}">
                <a16:creationId xmlns:a16="http://schemas.microsoft.com/office/drawing/2014/main" id="{9DC4E3E5-BE7B-AB42-70EB-61965EE3CA00}"/>
              </a:ext>
            </a:extLst>
          </p:cNvPr>
          <p:cNvSpPr>
            <a:spLocks/>
          </p:cNvSpPr>
          <p:nvPr/>
        </p:nvSpPr>
        <p:spPr>
          <a:xfrm>
            <a:off x="1895865" y="2051183"/>
            <a:ext cx="1492534" cy="349869"/>
          </a:xfrm>
          <a:prstGeom prst="homePlate">
            <a:avLst>
              <a:gd name="adj" fmla="val 18199"/>
            </a:avLst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Preparation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楷体" panose="02010609060101010101" pitchFamily="49" charset="-122"/>
            </a:endParaRPr>
          </a:p>
        </p:txBody>
      </p:sp>
      <p:sp>
        <p:nvSpPr>
          <p:cNvPr id="10" name="TextBox 90">
            <a:extLst>
              <a:ext uri="{FF2B5EF4-FFF2-40B4-BE49-F238E27FC236}">
                <a16:creationId xmlns:a16="http://schemas.microsoft.com/office/drawing/2014/main" id="{70964195-8C2A-9746-EBB4-9731B2D3FE81}"/>
              </a:ext>
            </a:extLst>
          </p:cNvPr>
          <p:cNvSpPr txBox="1">
            <a:spLocks/>
          </p:cNvSpPr>
          <p:nvPr/>
        </p:nvSpPr>
        <p:spPr>
          <a:xfrm>
            <a:off x="1641479" y="1438956"/>
            <a:ext cx="943862" cy="428815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square" lIns="0" tIns="45720" rIns="0" bIns="45720" rtlCol="0" anchor="ctr">
            <a:noAutofit/>
          </a:bodyPr>
          <a:lstStyle>
            <a:lvl1pPr marL="342900" lvl="0" indent="-3429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1pPr>
            <a:lvl2pPr marL="742950" lvl="1" indent="-28575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2pPr>
            <a:lvl3pPr marL="1143000" lvl="2" indent="-2286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3pPr>
            <a:lvl4pPr marL="1600200" lvl="3" indent="-22860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4pPr>
            <a:lvl5pPr marL="2057400" lvl="4" indent="-228600" defTabSz="457200" eaLnBrk="1" latinLnBrk="0" hangingPunct="1">
              <a:spcBef>
                <a:spcPct val="20000"/>
              </a:spcBef>
              <a:buFont typeface="Arial"/>
              <a:buChar char="»"/>
              <a:defRPr sz="1400">
                <a:latin typeface="+mn-lt"/>
                <a:ea typeface="+mn-e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9pPr>
          </a:lstStyle>
          <a:p>
            <a:pPr marL="0" marR="0" lvl="0" indent="0" defTabSz="457200" rtl="0" eaLnBrk="1" fontAlgn="base" latinLnBrk="0" hangingPunct="1">
              <a:lnSpc>
                <a:spcPts val="1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protocol finalization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楷体" panose="02010609060101010101" pitchFamily="49" charset="-122"/>
            </a:endParaRPr>
          </a:p>
        </p:txBody>
      </p:sp>
      <p:sp>
        <p:nvSpPr>
          <p:cNvPr id="11" name="TextBox 90">
            <a:extLst>
              <a:ext uri="{FF2B5EF4-FFF2-40B4-BE49-F238E27FC236}">
                <a16:creationId xmlns:a16="http://schemas.microsoft.com/office/drawing/2014/main" id="{BAE4914C-ACD5-C9F8-11E0-3E8691E3D058}"/>
              </a:ext>
            </a:extLst>
          </p:cNvPr>
          <p:cNvSpPr txBox="1">
            <a:spLocks/>
          </p:cNvSpPr>
          <p:nvPr/>
        </p:nvSpPr>
        <p:spPr>
          <a:xfrm>
            <a:off x="3081386" y="1438956"/>
            <a:ext cx="943863" cy="428815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square" lIns="0" tIns="45720" rIns="0" bIns="45720" rtlCol="0" anchor="ctr">
            <a:noAutofit/>
          </a:bodyPr>
          <a:lstStyle>
            <a:lvl1pPr marL="342900" lvl="0" indent="-3429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1pPr>
            <a:lvl2pPr marL="742950" lvl="1" indent="-28575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2pPr>
            <a:lvl3pPr marL="1143000" lvl="2" indent="-2286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3pPr>
            <a:lvl4pPr marL="1600200" lvl="3" indent="-22860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4pPr>
            <a:lvl5pPr marL="2057400" lvl="4" indent="-228600" defTabSz="457200" eaLnBrk="1" latinLnBrk="0" hangingPunct="1">
              <a:spcBef>
                <a:spcPct val="20000"/>
              </a:spcBef>
              <a:buFont typeface="Arial"/>
              <a:buChar char="»"/>
              <a:defRPr sz="1400">
                <a:latin typeface="+mn-lt"/>
                <a:ea typeface="+mn-e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9pPr>
          </a:lstStyle>
          <a:p>
            <a:pPr marL="0" marR="0" lvl="0" indent="0" defTabSz="457200" rtl="0" eaLnBrk="1" fontAlgn="base" latinLnBrk="0" hangingPunct="1">
              <a:lnSpc>
                <a:spcPts val="1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CTA submission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楷体" panose="02010609060101010101" pitchFamily="49" charset="-122"/>
            </a:endParaRPr>
          </a:p>
        </p:txBody>
      </p:sp>
      <p:sp>
        <p:nvSpPr>
          <p:cNvPr id="12" name="TextBox 90">
            <a:extLst>
              <a:ext uri="{FF2B5EF4-FFF2-40B4-BE49-F238E27FC236}">
                <a16:creationId xmlns:a16="http://schemas.microsoft.com/office/drawing/2014/main" id="{805401F9-441F-7E0D-9CF8-73B3534A3591}"/>
              </a:ext>
            </a:extLst>
          </p:cNvPr>
          <p:cNvSpPr txBox="1">
            <a:spLocks/>
          </p:cNvSpPr>
          <p:nvPr/>
        </p:nvSpPr>
        <p:spPr>
          <a:xfrm>
            <a:off x="5156794" y="1438956"/>
            <a:ext cx="829159" cy="428815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square" lIns="0" tIns="45720" rIns="0" bIns="45720" rtlCol="0" anchor="ctr">
            <a:noAutofit/>
          </a:bodyPr>
          <a:lstStyle>
            <a:lvl1pPr marL="342900" lvl="0" indent="-3429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1pPr>
            <a:lvl2pPr marL="742950" lvl="1" indent="-28575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2pPr>
            <a:lvl3pPr marL="1143000" lvl="2" indent="-2286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3pPr>
            <a:lvl4pPr marL="1600200" lvl="3" indent="-22860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4pPr>
            <a:lvl5pPr marL="2057400" lvl="4" indent="-228600" defTabSz="457200" eaLnBrk="1" latinLnBrk="0" hangingPunct="1">
              <a:spcBef>
                <a:spcPct val="20000"/>
              </a:spcBef>
              <a:buFont typeface="Arial"/>
              <a:buChar char="»"/>
              <a:defRPr sz="1400">
                <a:latin typeface="+mn-lt"/>
                <a:ea typeface="+mn-e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9pPr>
          </a:lstStyle>
          <a:p>
            <a:pPr marL="0" marR="0" lvl="0" indent="0" defTabSz="457200" rtl="0" eaLnBrk="1" fontAlgn="base" latinLnBrk="0" hangingPunct="1">
              <a:lnSpc>
                <a:spcPts val="1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CTA </a:t>
            </a:r>
          </a:p>
          <a:p>
            <a:pPr marL="0" marR="0" lvl="0" indent="0" defTabSz="457200" rtl="0" eaLnBrk="1" fontAlgn="base" latinLnBrk="0" hangingPunct="1">
              <a:lnSpc>
                <a:spcPts val="1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approval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楷体" panose="02010609060101010101" pitchFamily="49" charset="-122"/>
            </a:endParaRPr>
          </a:p>
        </p:txBody>
      </p:sp>
      <p:sp>
        <p:nvSpPr>
          <p:cNvPr id="13" name="TextBox 90">
            <a:extLst>
              <a:ext uri="{FF2B5EF4-FFF2-40B4-BE49-F238E27FC236}">
                <a16:creationId xmlns:a16="http://schemas.microsoft.com/office/drawing/2014/main" id="{2E8DAB76-B102-C34F-9BBB-3C249B9787B5}"/>
              </a:ext>
            </a:extLst>
          </p:cNvPr>
          <p:cNvSpPr txBox="1">
            <a:spLocks/>
          </p:cNvSpPr>
          <p:nvPr/>
        </p:nvSpPr>
        <p:spPr>
          <a:xfrm>
            <a:off x="5537457" y="1266616"/>
            <a:ext cx="1103269" cy="428815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square" lIns="0" tIns="45720" rIns="0" bIns="45720" rtlCol="0" anchor="ctr">
            <a:noAutofit/>
          </a:bodyPr>
          <a:lstStyle>
            <a:lvl1pPr marL="342900" lvl="0" indent="-3429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1pPr>
            <a:lvl2pPr marL="742950" lvl="1" indent="-28575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2pPr>
            <a:lvl3pPr marL="1143000" lvl="2" indent="-2286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3pPr>
            <a:lvl4pPr marL="1600200" lvl="3" indent="-22860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4pPr>
            <a:lvl5pPr marL="2057400" lvl="4" indent="-228600" defTabSz="457200" eaLnBrk="1" latinLnBrk="0" hangingPunct="1">
              <a:spcBef>
                <a:spcPct val="20000"/>
              </a:spcBef>
              <a:buFont typeface="Arial"/>
              <a:buChar char="»"/>
              <a:defRPr sz="1400">
                <a:latin typeface="+mn-lt"/>
                <a:ea typeface="+mn-e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9pPr>
          </a:lstStyle>
          <a:p>
            <a:pPr marL="0" marR="0" lvl="0" indent="0" defTabSz="457200" rtl="0" eaLnBrk="1" fontAlgn="base" latinLnBrk="0" hangingPunct="1">
              <a:lnSpc>
                <a:spcPts val="1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leading site</a:t>
            </a:r>
          </a:p>
          <a:p>
            <a:pPr marL="0" marR="0" lvl="0" indent="0" defTabSz="457200" rtl="0" eaLnBrk="1" fontAlgn="base" latinLnBrk="0" hangingPunct="1">
              <a:lnSpc>
                <a:spcPts val="1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EC Approval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楷体" panose="02010609060101010101" pitchFamily="49" charset="-122"/>
            </a:endParaRPr>
          </a:p>
        </p:txBody>
      </p:sp>
      <p:sp>
        <p:nvSpPr>
          <p:cNvPr id="14" name="TextBox 90">
            <a:extLst>
              <a:ext uri="{FF2B5EF4-FFF2-40B4-BE49-F238E27FC236}">
                <a16:creationId xmlns:a16="http://schemas.microsoft.com/office/drawing/2014/main" id="{66C6F6A2-59A9-C843-7490-D1BEBA25E0A8}"/>
              </a:ext>
            </a:extLst>
          </p:cNvPr>
          <p:cNvSpPr txBox="1">
            <a:spLocks/>
          </p:cNvSpPr>
          <p:nvPr/>
        </p:nvSpPr>
        <p:spPr>
          <a:xfrm>
            <a:off x="8260389" y="1438956"/>
            <a:ext cx="813575" cy="428815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square" lIns="0" tIns="45720" rIns="0" bIns="45720" rtlCol="0" anchor="ctr">
            <a:noAutofit/>
          </a:bodyPr>
          <a:lstStyle>
            <a:lvl1pPr marL="342900" lvl="0" indent="-3429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1pPr>
            <a:lvl2pPr marL="742950" lvl="1" indent="-28575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2pPr>
            <a:lvl3pPr marL="1143000" lvl="2" indent="-2286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3pPr>
            <a:lvl4pPr marL="1600200" lvl="3" indent="-22860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4pPr>
            <a:lvl5pPr marL="2057400" lvl="4" indent="-228600" defTabSz="457200" eaLnBrk="1" latinLnBrk="0" hangingPunct="1">
              <a:spcBef>
                <a:spcPct val="20000"/>
              </a:spcBef>
              <a:buFont typeface="Arial"/>
              <a:buChar char="»"/>
              <a:defRPr sz="1400">
                <a:latin typeface="+mn-lt"/>
                <a:ea typeface="+mn-e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9pPr>
          </a:lstStyle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1st site contract </a:t>
            </a:r>
          </a:p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sign off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楷体" panose="02010609060101010101" pitchFamily="49" charset="-122"/>
            </a:endParaRPr>
          </a:p>
        </p:txBody>
      </p:sp>
      <p:sp>
        <p:nvSpPr>
          <p:cNvPr id="15" name="TextBox 90">
            <a:extLst>
              <a:ext uri="{FF2B5EF4-FFF2-40B4-BE49-F238E27FC236}">
                <a16:creationId xmlns:a16="http://schemas.microsoft.com/office/drawing/2014/main" id="{FEAB65C1-07B4-31BE-62BC-E391AFB8A6E7}"/>
              </a:ext>
            </a:extLst>
          </p:cNvPr>
          <p:cNvSpPr txBox="1">
            <a:spLocks/>
          </p:cNvSpPr>
          <p:nvPr/>
        </p:nvSpPr>
        <p:spPr>
          <a:xfrm>
            <a:off x="7092717" y="1438956"/>
            <a:ext cx="1103269" cy="428815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square" lIns="0" tIns="45720" rIns="0" bIns="45720" rtlCol="0" anchor="ctr">
            <a:noAutofit/>
          </a:bodyPr>
          <a:lstStyle>
            <a:lvl1pPr marL="342900" lvl="0" indent="-3429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1pPr>
            <a:lvl2pPr marL="742950" lvl="1" indent="-28575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2pPr>
            <a:lvl3pPr marL="1143000" lvl="2" indent="-2286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3pPr>
            <a:lvl4pPr marL="1600200" lvl="3" indent="-22860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4pPr>
            <a:lvl5pPr marL="2057400" lvl="4" indent="-228600" defTabSz="457200" eaLnBrk="1" latinLnBrk="0" hangingPunct="1">
              <a:spcBef>
                <a:spcPct val="20000"/>
              </a:spcBef>
              <a:buFont typeface="Arial"/>
              <a:buChar char="»"/>
              <a:defRPr sz="1400">
                <a:latin typeface="+mn-lt"/>
                <a:ea typeface="+mn-e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9pPr>
          </a:lstStyle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leading site HGR approval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楷体" panose="02010609060101010101" pitchFamily="49" charset="-122"/>
            </a:endParaRPr>
          </a:p>
        </p:txBody>
      </p:sp>
      <p:sp>
        <p:nvSpPr>
          <p:cNvPr id="17" name="TextBox 90">
            <a:extLst>
              <a:ext uri="{FF2B5EF4-FFF2-40B4-BE49-F238E27FC236}">
                <a16:creationId xmlns:a16="http://schemas.microsoft.com/office/drawing/2014/main" id="{AD686CE9-BB0F-A1D2-4D34-6EB4ADF4ED9C}"/>
              </a:ext>
            </a:extLst>
          </p:cNvPr>
          <p:cNvSpPr txBox="1">
            <a:spLocks/>
          </p:cNvSpPr>
          <p:nvPr/>
        </p:nvSpPr>
        <p:spPr>
          <a:xfrm>
            <a:off x="10315560" y="1453921"/>
            <a:ext cx="697829" cy="428815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square" lIns="0" tIns="45720" rIns="0" bIns="45720" rtlCol="0" anchor="ctr">
            <a:noAutofit/>
          </a:bodyPr>
          <a:lstStyle>
            <a:lvl1pPr marL="342900" lvl="0" indent="-3429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1pPr>
            <a:lvl2pPr marL="742950" lvl="1" indent="-28575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2pPr>
            <a:lvl3pPr marL="1143000" lvl="2" indent="-2286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3pPr>
            <a:lvl4pPr marL="1600200" lvl="3" indent="-22860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4pPr>
            <a:lvl5pPr marL="2057400" lvl="4" indent="-228600" defTabSz="457200" eaLnBrk="1" latinLnBrk="0" hangingPunct="1">
              <a:spcBef>
                <a:spcPct val="20000"/>
              </a:spcBef>
              <a:buFont typeface="Arial"/>
              <a:buChar char="»"/>
              <a:defRPr sz="1400">
                <a:latin typeface="+mn-lt"/>
                <a:ea typeface="+mn-e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9pPr>
          </a:lstStyle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1st site </a:t>
            </a:r>
            <a:r>
              <a:rPr lang="en-US" altLang="zh-CN" sz="105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</a:t>
            </a: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FPFV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楷体" panose="02010609060101010101" pitchFamily="49" charset="-122"/>
            </a:endParaRPr>
          </a:p>
        </p:txBody>
      </p:sp>
      <p:sp>
        <p:nvSpPr>
          <p:cNvPr id="18" name="Oval 60">
            <a:extLst>
              <a:ext uri="{FF2B5EF4-FFF2-40B4-BE49-F238E27FC236}">
                <a16:creationId xmlns:a16="http://schemas.microsoft.com/office/drawing/2014/main" id="{217BBD2D-C498-75B9-DAE9-8B1AFE7C7834}"/>
              </a:ext>
            </a:extLst>
          </p:cNvPr>
          <p:cNvSpPr/>
          <p:nvPr/>
        </p:nvSpPr>
        <p:spPr>
          <a:xfrm>
            <a:off x="3275286" y="1878522"/>
            <a:ext cx="144000" cy="144000"/>
          </a:xfrm>
          <a:prstGeom prst="ellips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Oval 60">
            <a:extLst>
              <a:ext uri="{FF2B5EF4-FFF2-40B4-BE49-F238E27FC236}">
                <a16:creationId xmlns:a16="http://schemas.microsoft.com/office/drawing/2014/main" id="{EF9EBC0F-C557-C602-EAAE-9D1A1D835D85}"/>
              </a:ext>
            </a:extLst>
          </p:cNvPr>
          <p:cNvSpPr/>
          <p:nvPr/>
        </p:nvSpPr>
        <p:spPr>
          <a:xfrm>
            <a:off x="5773116" y="1878522"/>
            <a:ext cx="144000" cy="144000"/>
          </a:xfrm>
          <a:prstGeom prst="ellips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" name="Oval 60">
            <a:extLst>
              <a:ext uri="{FF2B5EF4-FFF2-40B4-BE49-F238E27FC236}">
                <a16:creationId xmlns:a16="http://schemas.microsoft.com/office/drawing/2014/main" id="{986E3BFA-2C6E-9479-1312-9978B9D8A607}"/>
              </a:ext>
            </a:extLst>
          </p:cNvPr>
          <p:cNvSpPr/>
          <p:nvPr/>
        </p:nvSpPr>
        <p:spPr>
          <a:xfrm>
            <a:off x="5811778" y="1878522"/>
            <a:ext cx="144000" cy="144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" name="Oval 60">
            <a:extLst>
              <a:ext uri="{FF2B5EF4-FFF2-40B4-BE49-F238E27FC236}">
                <a16:creationId xmlns:a16="http://schemas.microsoft.com/office/drawing/2014/main" id="{39912242-BA6C-2FD5-FC84-FDCBB5212B9B}"/>
              </a:ext>
            </a:extLst>
          </p:cNvPr>
          <p:cNvSpPr/>
          <p:nvPr/>
        </p:nvSpPr>
        <p:spPr>
          <a:xfrm>
            <a:off x="8010431" y="1878522"/>
            <a:ext cx="144000" cy="144000"/>
          </a:xfrm>
          <a:prstGeom prst="ellips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" name="Oval 60">
            <a:extLst>
              <a:ext uri="{FF2B5EF4-FFF2-40B4-BE49-F238E27FC236}">
                <a16:creationId xmlns:a16="http://schemas.microsoft.com/office/drawing/2014/main" id="{E8E9994C-C88F-05D5-0C47-8D4B1C72295B}"/>
              </a:ext>
            </a:extLst>
          </p:cNvPr>
          <p:cNvSpPr/>
          <p:nvPr/>
        </p:nvSpPr>
        <p:spPr>
          <a:xfrm>
            <a:off x="8163757" y="1878522"/>
            <a:ext cx="144000" cy="144000"/>
          </a:xfrm>
          <a:prstGeom prst="ellips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4" name="Oval 60">
            <a:extLst>
              <a:ext uri="{FF2B5EF4-FFF2-40B4-BE49-F238E27FC236}">
                <a16:creationId xmlns:a16="http://schemas.microsoft.com/office/drawing/2014/main" id="{9AA95644-24A9-1B64-81A0-520E123F48DE}"/>
              </a:ext>
            </a:extLst>
          </p:cNvPr>
          <p:cNvSpPr/>
          <p:nvPr/>
        </p:nvSpPr>
        <p:spPr>
          <a:xfrm>
            <a:off x="10234285" y="1887886"/>
            <a:ext cx="144000" cy="144000"/>
          </a:xfrm>
          <a:prstGeom prst="ellips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" name="Arrow: Chevron 77">
            <a:extLst>
              <a:ext uri="{FF2B5EF4-FFF2-40B4-BE49-F238E27FC236}">
                <a16:creationId xmlns:a16="http://schemas.microsoft.com/office/drawing/2014/main" id="{E19B9692-E3BA-0D8D-634A-0FF202137E34}"/>
              </a:ext>
            </a:extLst>
          </p:cNvPr>
          <p:cNvSpPr>
            <a:spLocks/>
          </p:cNvSpPr>
          <p:nvPr/>
        </p:nvSpPr>
        <p:spPr>
          <a:xfrm>
            <a:off x="3362877" y="2051183"/>
            <a:ext cx="2573279" cy="349200"/>
          </a:xfrm>
          <a:prstGeom prst="chevron">
            <a:avLst>
              <a:gd name="adj" fmla="val 18199"/>
            </a:avLst>
          </a:prstGeom>
          <a:solidFill>
            <a:schemeClr val="accent2">
              <a:alpha val="7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CTA-A</a:t>
            </a:r>
          </a:p>
        </p:txBody>
      </p:sp>
      <p:sp>
        <p:nvSpPr>
          <p:cNvPr id="26" name="Arrow: Chevron 78">
            <a:extLst>
              <a:ext uri="{FF2B5EF4-FFF2-40B4-BE49-F238E27FC236}">
                <a16:creationId xmlns:a16="http://schemas.microsoft.com/office/drawing/2014/main" id="{024BD423-0B74-5AE2-E9A2-C9605C64A286}"/>
              </a:ext>
            </a:extLst>
          </p:cNvPr>
          <p:cNvSpPr>
            <a:spLocks/>
          </p:cNvSpPr>
          <p:nvPr/>
        </p:nvSpPr>
        <p:spPr>
          <a:xfrm>
            <a:off x="5925084" y="5071374"/>
            <a:ext cx="4428000" cy="216000"/>
          </a:xfrm>
          <a:prstGeom prst="chevron">
            <a:avLst>
              <a:gd name="adj" fmla="val 18199"/>
            </a:avLst>
          </a:prstGeom>
          <a:solidFill>
            <a:schemeClr val="bg1">
              <a:lumMod val="6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solidFill>
                  <a:prstClr val="white"/>
                </a:solidFill>
                <a:latin typeface="Verdana" panose="020B0604030504040204" pitchFamily="34" charset="0"/>
                <a:ea typeface="楷体" panose="02010609060101010101" pitchFamily="49" charset="-122"/>
              </a:rPr>
              <a:t>From</a:t>
            </a:r>
            <a:r>
              <a:rPr lang="zh-CN" altLang="en-US" sz="1200" b="1" dirty="0">
                <a:solidFill>
                  <a:prstClr val="white"/>
                </a:solidFill>
                <a:latin typeface="Verdana" panose="020B0604030504040204" pitchFamily="34" charset="0"/>
                <a:ea typeface="楷体" panose="02010609060101010101" pitchFamily="49" charset="-122"/>
              </a:rPr>
              <a:t>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CTA-A</a:t>
            </a:r>
            <a:r>
              <a:rPr lang="zh-CN" altLang="en-US" sz="1200" b="1" dirty="0">
                <a:solidFill>
                  <a:prstClr val="white"/>
                </a:solidFill>
                <a:latin typeface="Verdana" panose="020B0604030504040204" pitchFamily="34" charset="0"/>
                <a:ea typeface="楷体" panose="02010609060101010101" pitchFamily="49" charset="-122"/>
              </a:rPr>
              <a:t> </a:t>
            </a:r>
            <a:r>
              <a:rPr lang="en-US" altLang="zh-CN" sz="1200" b="1" dirty="0">
                <a:solidFill>
                  <a:prstClr val="white"/>
                </a:solidFill>
                <a:latin typeface="Verdana" panose="020B0604030504040204" pitchFamily="34" charset="0"/>
                <a:ea typeface="楷体" panose="02010609060101010101" pitchFamily="49" charset="-122"/>
              </a:rPr>
              <a:t>to</a:t>
            </a:r>
            <a:r>
              <a:rPr lang="zh-CN" altLang="en-US" sz="1200" b="1" dirty="0">
                <a:solidFill>
                  <a:prstClr val="white"/>
                </a:solidFill>
                <a:latin typeface="Verdana" panose="020B0604030504040204" pitchFamily="34" charset="0"/>
                <a:ea typeface="楷体" panose="02010609060101010101" pitchFamily="49" charset="-122"/>
              </a:rPr>
              <a:t>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FPFV</a:t>
            </a:r>
          </a:p>
        </p:txBody>
      </p:sp>
      <p:cxnSp>
        <p:nvCxnSpPr>
          <p:cNvPr id="28" name="Straight Arrow Connector 89">
            <a:extLst>
              <a:ext uri="{FF2B5EF4-FFF2-40B4-BE49-F238E27FC236}">
                <a16:creationId xmlns:a16="http://schemas.microsoft.com/office/drawing/2014/main" id="{3C3B7064-A014-3A62-B8E0-3B7C2E36D93B}"/>
              </a:ext>
            </a:extLst>
          </p:cNvPr>
          <p:cNvCxnSpPr>
            <a:cxnSpLocks/>
          </p:cNvCxnSpPr>
          <p:nvPr/>
        </p:nvCxnSpPr>
        <p:spPr>
          <a:xfrm flipV="1">
            <a:off x="3404818" y="2573531"/>
            <a:ext cx="2484778" cy="2523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90">
            <a:extLst>
              <a:ext uri="{FF2B5EF4-FFF2-40B4-BE49-F238E27FC236}">
                <a16:creationId xmlns:a16="http://schemas.microsoft.com/office/drawing/2014/main" id="{B5A46BC9-B788-25E6-0040-51A4AFDA9CB9}"/>
              </a:ext>
            </a:extLst>
          </p:cNvPr>
          <p:cNvSpPr txBox="1">
            <a:spLocks/>
          </p:cNvSpPr>
          <p:nvPr/>
        </p:nvSpPr>
        <p:spPr>
          <a:xfrm>
            <a:off x="4299925" y="2467696"/>
            <a:ext cx="679626" cy="246564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square" lIns="0" tIns="45720" rIns="0" bIns="45720" rtlCol="0" anchor="ctr">
            <a:noAutofit/>
          </a:bodyPr>
          <a:lstStyle>
            <a:lvl1pPr marL="342900" lvl="0" indent="-3429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1pPr>
            <a:lvl2pPr marL="742950" lvl="1" indent="-28575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2pPr>
            <a:lvl3pPr marL="1143000" lvl="2" indent="-2286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3pPr>
            <a:lvl4pPr marL="1600200" lvl="3" indent="-22860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4pPr>
            <a:lvl5pPr marL="2057400" lvl="4" indent="-228600" defTabSz="457200" eaLnBrk="1" latinLnBrk="0" hangingPunct="1">
              <a:spcBef>
                <a:spcPct val="20000"/>
              </a:spcBef>
              <a:buFont typeface="Arial"/>
              <a:buChar char="»"/>
              <a:defRPr sz="1400">
                <a:latin typeface="+mn-lt"/>
                <a:ea typeface="+mn-e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12.1wks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楷体" panose="02010609060101010101" pitchFamily="49" charset="-122"/>
            </a:endParaRPr>
          </a:p>
        </p:txBody>
      </p:sp>
      <p:cxnSp>
        <p:nvCxnSpPr>
          <p:cNvPr id="38" name="Straight Arrow Connector 89">
            <a:extLst>
              <a:ext uri="{FF2B5EF4-FFF2-40B4-BE49-F238E27FC236}">
                <a16:creationId xmlns:a16="http://schemas.microsoft.com/office/drawing/2014/main" id="{6BB0BFB8-08C9-6B6A-7A55-CF267F1937D6}"/>
              </a:ext>
            </a:extLst>
          </p:cNvPr>
          <p:cNvCxnSpPr>
            <a:cxnSpLocks/>
          </p:cNvCxnSpPr>
          <p:nvPr/>
        </p:nvCxnSpPr>
        <p:spPr>
          <a:xfrm>
            <a:off x="5920280" y="5422294"/>
            <a:ext cx="4392000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90">
            <a:extLst>
              <a:ext uri="{FF2B5EF4-FFF2-40B4-BE49-F238E27FC236}">
                <a16:creationId xmlns:a16="http://schemas.microsoft.com/office/drawing/2014/main" id="{AE93FE5F-4AD8-C816-98C5-E4AD0BDFB6AF}"/>
              </a:ext>
            </a:extLst>
          </p:cNvPr>
          <p:cNvSpPr txBox="1">
            <a:spLocks/>
          </p:cNvSpPr>
          <p:nvPr/>
        </p:nvSpPr>
        <p:spPr>
          <a:xfrm>
            <a:off x="7944682" y="5344778"/>
            <a:ext cx="679626" cy="246564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square" lIns="0" tIns="45720" rIns="0" bIns="45720" rtlCol="0" anchor="ctr">
            <a:noAutofit/>
          </a:bodyPr>
          <a:lstStyle>
            <a:lvl1pPr marL="342900" lvl="0" indent="-3429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1pPr>
            <a:lvl2pPr marL="742950" lvl="1" indent="-28575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2pPr>
            <a:lvl3pPr marL="1143000" lvl="2" indent="-2286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3pPr>
            <a:lvl4pPr marL="1600200" lvl="3" indent="-22860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4pPr>
            <a:lvl5pPr marL="2057400" lvl="4" indent="-228600" defTabSz="457200" eaLnBrk="1" latinLnBrk="0" hangingPunct="1">
              <a:spcBef>
                <a:spcPct val="20000"/>
              </a:spcBef>
              <a:buFont typeface="Arial"/>
              <a:buChar char="»"/>
              <a:defRPr sz="1400">
                <a:latin typeface="+mn-lt"/>
                <a:ea typeface="+mn-e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zh-CN" sz="105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22.1</a:t>
            </a:r>
            <a:r>
              <a:rPr kumimoji="0" lang="en-US" altLang="zh-CN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wks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zh-CN" sz="1050" u="sng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5.2M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楷体" panose="02010609060101010101" pitchFamily="49" charset="-122"/>
            </a:endParaRPr>
          </a:p>
        </p:txBody>
      </p:sp>
      <p:sp>
        <p:nvSpPr>
          <p:cNvPr id="41" name="Arrow: Chevron 77">
            <a:extLst>
              <a:ext uri="{FF2B5EF4-FFF2-40B4-BE49-F238E27FC236}">
                <a16:creationId xmlns:a16="http://schemas.microsoft.com/office/drawing/2014/main" id="{719BABA0-DB81-7520-54DA-F1CCBB749E59}"/>
              </a:ext>
            </a:extLst>
          </p:cNvPr>
          <p:cNvSpPr>
            <a:spLocks/>
          </p:cNvSpPr>
          <p:nvPr/>
        </p:nvSpPr>
        <p:spPr>
          <a:xfrm>
            <a:off x="5772895" y="2048182"/>
            <a:ext cx="97429" cy="349869"/>
          </a:xfrm>
          <a:prstGeom prst="chevron">
            <a:avLst>
              <a:gd name="adj" fmla="val 18199"/>
            </a:avLst>
          </a:prstGeom>
          <a:solidFill>
            <a:schemeClr val="accent4">
              <a:lumMod val="60000"/>
              <a:lumOff val="40000"/>
              <a:alpha val="7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EC-A</a:t>
            </a:r>
          </a:p>
        </p:txBody>
      </p:sp>
      <p:sp>
        <p:nvSpPr>
          <p:cNvPr id="42" name="Arrow: Chevron 77">
            <a:extLst>
              <a:ext uri="{FF2B5EF4-FFF2-40B4-BE49-F238E27FC236}">
                <a16:creationId xmlns:a16="http://schemas.microsoft.com/office/drawing/2014/main" id="{E690A1EC-3E94-8FB8-9E8E-FE8353938421}"/>
              </a:ext>
            </a:extLst>
          </p:cNvPr>
          <p:cNvSpPr>
            <a:spLocks/>
          </p:cNvSpPr>
          <p:nvPr/>
        </p:nvSpPr>
        <p:spPr>
          <a:xfrm>
            <a:off x="5910634" y="2051183"/>
            <a:ext cx="2273513" cy="349869"/>
          </a:xfrm>
          <a:prstGeom prst="chevron">
            <a:avLst>
              <a:gd name="adj" fmla="val 18199"/>
            </a:avLst>
          </a:prstGeom>
          <a:solidFill>
            <a:schemeClr val="accent5">
              <a:lumMod val="75000"/>
              <a:alpha val="7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HGR</a:t>
            </a:r>
          </a:p>
        </p:txBody>
      </p:sp>
      <p:sp>
        <p:nvSpPr>
          <p:cNvPr id="43" name="Arrow: Chevron 77">
            <a:extLst>
              <a:ext uri="{FF2B5EF4-FFF2-40B4-BE49-F238E27FC236}">
                <a16:creationId xmlns:a16="http://schemas.microsoft.com/office/drawing/2014/main" id="{90FA09F4-4A38-F1E8-93D6-CDF564DA6333}"/>
              </a:ext>
            </a:extLst>
          </p:cNvPr>
          <p:cNvSpPr>
            <a:spLocks/>
          </p:cNvSpPr>
          <p:nvPr/>
        </p:nvSpPr>
        <p:spPr>
          <a:xfrm>
            <a:off x="8158625" y="2051183"/>
            <a:ext cx="91354" cy="349869"/>
          </a:xfrm>
          <a:prstGeom prst="chevron">
            <a:avLst>
              <a:gd name="adj" fmla="val 18199"/>
            </a:avLst>
          </a:prstGeom>
          <a:solidFill>
            <a:schemeClr val="accent4">
              <a:lumMod val="75000"/>
              <a:alpha val="7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lnSpc>
                <a:spcPts val="700"/>
              </a:lnSpc>
              <a:spcBef>
                <a:spcPts val="225"/>
              </a:spcBef>
              <a:spcAft>
                <a:spcPts val="225"/>
              </a:spcAft>
              <a:defRPr/>
            </a:pPr>
            <a:r>
              <a:rPr lang="en-US" altLang="zh-CN" sz="9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</a:t>
            </a:r>
            <a:r>
              <a:rPr kumimoji="0" lang="en-US" altLang="zh-CN" sz="9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ontract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algn="ctr" eaLnBrk="0" fontAlgn="base" hangingPunct="0">
              <a:lnSpc>
                <a:spcPts val="700"/>
              </a:lnSpc>
              <a:spcBef>
                <a:spcPts val="225"/>
              </a:spcBef>
              <a:spcAft>
                <a:spcPts val="225"/>
              </a:spcAft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 sign off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楷体" panose="02010609060101010101" pitchFamily="49" charset="-122"/>
            </a:endParaRPr>
          </a:p>
        </p:txBody>
      </p:sp>
      <p:sp>
        <p:nvSpPr>
          <p:cNvPr id="44" name="Arrow: Chevron 77">
            <a:extLst>
              <a:ext uri="{FF2B5EF4-FFF2-40B4-BE49-F238E27FC236}">
                <a16:creationId xmlns:a16="http://schemas.microsoft.com/office/drawing/2014/main" id="{19A36F0B-FB45-74D6-A83A-9BC3D3FAC064}"/>
              </a:ext>
            </a:extLst>
          </p:cNvPr>
          <p:cNvSpPr>
            <a:spLocks/>
          </p:cNvSpPr>
          <p:nvPr/>
        </p:nvSpPr>
        <p:spPr>
          <a:xfrm>
            <a:off x="9867259" y="2051852"/>
            <a:ext cx="508863" cy="349200"/>
          </a:xfrm>
          <a:prstGeom prst="chevron">
            <a:avLst>
              <a:gd name="adj" fmla="val 18199"/>
            </a:avLst>
          </a:prstGeom>
          <a:solidFill>
            <a:schemeClr val="tx2">
              <a:lumMod val="60000"/>
              <a:lumOff val="40000"/>
              <a:alpha val="7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900" b="1" dirty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FPFV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4" name="Arrow: Chevron 77">
            <a:extLst>
              <a:ext uri="{FF2B5EF4-FFF2-40B4-BE49-F238E27FC236}">
                <a16:creationId xmlns:a16="http://schemas.microsoft.com/office/drawing/2014/main" id="{8FBE593A-AFA1-7930-EC83-98EF7BF00778}"/>
              </a:ext>
            </a:extLst>
          </p:cNvPr>
          <p:cNvSpPr>
            <a:spLocks/>
          </p:cNvSpPr>
          <p:nvPr/>
        </p:nvSpPr>
        <p:spPr>
          <a:xfrm>
            <a:off x="4509113" y="2804953"/>
            <a:ext cx="1401521" cy="321213"/>
          </a:xfrm>
          <a:prstGeom prst="chevron">
            <a:avLst>
              <a:gd name="adj" fmla="val 18199"/>
            </a:avLst>
          </a:prstGeom>
          <a:solidFill>
            <a:srgbClr val="CABED8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6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GCP filing +</a:t>
            </a:r>
          </a:p>
          <a:p>
            <a:pPr marL="0" marR="0" lvl="0" indent="0" algn="ctr" defTabSz="914400" rtl="0" eaLnBrk="0" fontAlgn="base" latinLnBrk="0" hangingPunct="0">
              <a:lnSpc>
                <a:spcPts val="6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 leading EC review</a:t>
            </a:r>
          </a:p>
        </p:txBody>
      </p:sp>
      <p:cxnSp>
        <p:nvCxnSpPr>
          <p:cNvPr id="56" name="Straight Arrow Connector 89">
            <a:extLst>
              <a:ext uri="{FF2B5EF4-FFF2-40B4-BE49-F238E27FC236}">
                <a16:creationId xmlns:a16="http://schemas.microsoft.com/office/drawing/2014/main" id="{2C2F733F-3E3D-1828-A2FC-9C12A12EBD4A}"/>
              </a:ext>
            </a:extLst>
          </p:cNvPr>
          <p:cNvCxnSpPr>
            <a:cxnSpLocks/>
          </p:cNvCxnSpPr>
          <p:nvPr/>
        </p:nvCxnSpPr>
        <p:spPr>
          <a:xfrm>
            <a:off x="4509113" y="3278327"/>
            <a:ext cx="1379223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90">
            <a:extLst>
              <a:ext uri="{FF2B5EF4-FFF2-40B4-BE49-F238E27FC236}">
                <a16:creationId xmlns:a16="http://schemas.microsoft.com/office/drawing/2014/main" id="{CCC7C403-8D97-1C12-6B09-C2362A21E18A}"/>
              </a:ext>
            </a:extLst>
          </p:cNvPr>
          <p:cNvSpPr txBox="1">
            <a:spLocks/>
          </p:cNvSpPr>
          <p:nvPr/>
        </p:nvSpPr>
        <p:spPr>
          <a:xfrm>
            <a:off x="4857831" y="3213938"/>
            <a:ext cx="679626" cy="246564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square" lIns="0" tIns="45720" rIns="0" bIns="45720" rtlCol="0" anchor="ctr">
            <a:noAutofit/>
          </a:bodyPr>
          <a:lstStyle>
            <a:lvl1pPr marL="342900" lvl="0" indent="-3429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1pPr>
            <a:lvl2pPr marL="742950" lvl="1" indent="-28575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2pPr>
            <a:lvl3pPr marL="1143000" lvl="2" indent="-2286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3pPr>
            <a:lvl4pPr marL="1600200" lvl="3" indent="-22860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4pPr>
            <a:lvl5pPr marL="2057400" lvl="4" indent="-228600" defTabSz="457200" eaLnBrk="1" latinLnBrk="0" hangingPunct="1">
              <a:spcBef>
                <a:spcPct val="20000"/>
              </a:spcBef>
              <a:buFont typeface="Arial"/>
              <a:buChar char="»"/>
              <a:defRPr sz="1400">
                <a:latin typeface="+mn-lt"/>
                <a:ea typeface="+mn-e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1.4+5.4 </a:t>
            </a:r>
            <a:r>
              <a:rPr kumimoji="0" lang="en-US" altLang="zh-CN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wks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楷体" panose="02010609060101010101" pitchFamily="49" charset="-122"/>
            </a:endParaRPr>
          </a:p>
        </p:txBody>
      </p:sp>
      <p:sp>
        <p:nvSpPr>
          <p:cNvPr id="59" name="Arrow: Chevron 77">
            <a:extLst>
              <a:ext uri="{FF2B5EF4-FFF2-40B4-BE49-F238E27FC236}">
                <a16:creationId xmlns:a16="http://schemas.microsoft.com/office/drawing/2014/main" id="{E6888EAD-B8EE-1E19-480E-11B019A15307}"/>
              </a:ext>
            </a:extLst>
          </p:cNvPr>
          <p:cNvSpPr>
            <a:spLocks/>
          </p:cNvSpPr>
          <p:nvPr/>
        </p:nvSpPr>
        <p:spPr>
          <a:xfrm>
            <a:off x="6344621" y="2947892"/>
            <a:ext cx="1800000" cy="216000"/>
          </a:xfrm>
          <a:prstGeom prst="chevron">
            <a:avLst>
              <a:gd name="adj" fmla="val 18199"/>
            </a:avLst>
          </a:prstGeom>
          <a:solidFill>
            <a:schemeClr val="accent5">
              <a:lumMod val="75000"/>
              <a:alpha val="7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HGR-A*</a:t>
            </a:r>
          </a:p>
        </p:txBody>
      </p:sp>
      <p:cxnSp>
        <p:nvCxnSpPr>
          <p:cNvPr id="61" name="Straight Arrow Connector 89">
            <a:extLst>
              <a:ext uri="{FF2B5EF4-FFF2-40B4-BE49-F238E27FC236}">
                <a16:creationId xmlns:a16="http://schemas.microsoft.com/office/drawing/2014/main" id="{2590C4AE-638C-9458-567B-F65641A6FE8D}"/>
              </a:ext>
            </a:extLst>
          </p:cNvPr>
          <p:cNvCxnSpPr>
            <a:cxnSpLocks/>
          </p:cNvCxnSpPr>
          <p:nvPr/>
        </p:nvCxnSpPr>
        <p:spPr>
          <a:xfrm>
            <a:off x="6376153" y="3319906"/>
            <a:ext cx="1779855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90">
            <a:extLst>
              <a:ext uri="{FF2B5EF4-FFF2-40B4-BE49-F238E27FC236}">
                <a16:creationId xmlns:a16="http://schemas.microsoft.com/office/drawing/2014/main" id="{E58CEE9E-CCE6-ECB1-6E61-864361F03735}"/>
              </a:ext>
            </a:extLst>
          </p:cNvPr>
          <p:cNvSpPr txBox="1">
            <a:spLocks/>
          </p:cNvSpPr>
          <p:nvPr/>
        </p:nvSpPr>
        <p:spPr>
          <a:xfrm>
            <a:off x="6917651" y="3197834"/>
            <a:ext cx="679626" cy="246564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square" lIns="0" tIns="45720" rIns="0" bIns="45720" rtlCol="0" anchor="ctr">
            <a:noAutofit/>
          </a:bodyPr>
          <a:lstStyle>
            <a:lvl1pPr marL="342900" lvl="0" indent="-3429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1pPr>
            <a:lvl2pPr marL="742950" lvl="1" indent="-28575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2pPr>
            <a:lvl3pPr marL="1143000" lvl="2" indent="-2286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3pPr>
            <a:lvl4pPr marL="1600200" lvl="3" indent="-22860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4pPr>
            <a:lvl5pPr marL="2057400" lvl="4" indent="-228600" defTabSz="457200" eaLnBrk="1" latinLnBrk="0" hangingPunct="1">
              <a:spcBef>
                <a:spcPct val="20000"/>
              </a:spcBef>
              <a:buFont typeface="Arial"/>
              <a:buChar char="»"/>
              <a:defRPr sz="1400">
                <a:latin typeface="+mn-lt"/>
                <a:ea typeface="+mn-e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8.3wks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楷体" panose="02010609060101010101" pitchFamily="49" charset="-122"/>
            </a:endParaRPr>
          </a:p>
        </p:txBody>
      </p:sp>
      <p:sp>
        <p:nvSpPr>
          <p:cNvPr id="63" name="Arrow: Chevron 77">
            <a:extLst>
              <a:ext uri="{FF2B5EF4-FFF2-40B4-BE49-F238E27FC236}">
                <a16:creationId xmlns:a16="http://schemas.microsoft.com/office/drawing/2014/main" id="{292162EC-0B74-E3A7-7B11-2664D9855BD7}"/>
              </a:ext>
            </a:extLst>
          </p:cNvPr>
          <p:cNvSpPr>
            <a:spLocks/>
          </p:cNvSpPr>
          <p:nvPr/>
        </p:nvSpPr>
        <p:spPr>
          <a:xfrm>
            <a:off x="5925084" y="3478763"/>
            <a:ext cx="2268000" cy="216000"/>
          </a:xfrm>
          <a:prstGeom prst="chevron">
            <a:avLst>
              <a:gd name="adj" fmla="val 18199"/>
            </a:avLst>
          </a:prstGeom>
          <a:solidFill>
            <a:srgbClr val="B9CF8A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Contract sign off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64" name="Straight Arrow Connector 89">
            <a:extLst>
              <a:ext uri="{FF2B5EF4-FFF2-40B4-BE49-F238E27FC236}">
                <a16:creationId xmlns:a16="http://schemas.microsoft.com/office/drawing/2014/main" id="{57593097-0AC3-F86E-0E6C-D49BA411F095}"/>
              </a:ext>
            </a:extLst>
          </p:cNvPr>
          <p:cNvCxnSpPr>
            <a:cxnSpLocks/>
          </p:cNvCxnSpPr>
          <p:nvPr/>
        </p:nvCxnSpPr>
        <p:spPr>
          <a:xfrm>
            <a:off x="5964321" y="3856773"/>
            <a:ext cx="2212077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90">
            <a:extLst>
              <a:ext uri="{FF2B5EF4-FFF2-40B4-BE49-F238E27FC236}">
                <a16:creationId xmlns:a16="http://schemas.microsoft.com/office/drawing/2014/main" id="{A1C9BA2B-FF8B-51E6-A9CC-DA2E254B5191}"/>
              </a:ext>
            </a:extLst>
          </p:cNvPr>
          <p:cNvSpPr txBox="1">
            <a:spLocks/>
          </p:cNvSpPr>
          <p:nvPr/>
        </p:nvSpPr>
        <p:spPr>
          <a:xfrm>
            <a:off x="6851477" y="3700999"/>
            <a:ext cx="679626" cy="246564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square" lIns="0" tIns="45720" rIns="0" bIns="45720" rtlCol="0" anchor="ctr">
            <a:noAutofit/>
          </a:bodyPr>
          <a:lstStyle>
            <a:lvl1pPr marL="342900" lvl="0" indent="-3429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1pPr>
            <a:lvl2pPr marL="742950" lvl="1" indent="-28575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2pPr>
            <a:lvl3pPr marL="1143000" lvl="2" indent="-2286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3pPr>
            <a:lvl4pPr marL="1600200" lvl="3" indent="-22860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4pPr>
            <a:lvl5pPr marL="2057400" lvl="4" indent="-228600" defTabSz="457200" eaLnBrk="1" latinLnBrk="0" hangingPunct="1">
              <a:spcBef>
                <a:spcPct val="20000"/>
              </a:spcBef>
              <a:buFont typeface="Arial"/>
              <a:buChar char="»"/>
              <a:defRPr sz="1400">
                <a:latin typeface="+mn-lt"/>
                <a:ea typeface="+mn-e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zh-CN" sz="105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10.7</a:t>
            </a:r>
            <a:r>
              <a:rPr kumimoji="0" lang="en-US" altLang="zh-CN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wks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楷体" panose="02010609060101010101" pitchFamily="49" charset="-122"/>
            </a:endParaRPr>
          </a:p>
        </p:txBody>
      </p:sp>
      <p:sp>
        <p:nvSpPr>
          <p:cNvPr id="3" name="Oval 60">
            <a:extLst>
              <a:ext uri="{FF2B5EF4-FFF2-40B4-BE49-F238E27FC236}">
                <a16:creationId xmlns:a16="http://schemas.microsoft.com/office/drawing/2014/main" id="{99477F2F-7FA2-B4DE-3E90-02D1FEA9F7E6}"/>
              </a:ext>
            </a:extLst>
          </p:cNvPr>
          <p:cNvSpPr/>
          <p:nvPr/>
        </p:nvSpPr>
        <p:spPr>
          <a:xfrm>
            <a:off x="9795259" y="1887886"/>
            <a:ext cx="144000" cy="144000"/>
          </a:xfrm>
          <a:prstGeom prst="ellips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TextBox 90">
            <a:extLst>
              <a:ext uri="{FF2B5EF4-FFF2-40B4-BE49-F238E27FC236}">
                <a16:creationId xmlns:a16="http://schemas.microsoft.com/office/drawing/2014/main" id="{678B96C1-842D-CD00-7D2C-C496EB409C2B}"/>
              </a:ext>
            </a:extLst>
          </p:cNvPr>
          <p:cNvSpPr txBox="1">
            <a:spLocks/>
          </p:cNvSpPr>
          <p:nvPr/>
        </p:nvSpPr>
        <p:spPr>
          <a:xfrm>
            <a:off x="9492710" y="1437215"/>
            <a:ext cx="813575" cy="428815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square" lIns="0" tIns="45720" rIns="0" bIns="45720" rtlCol="0" anchor="ctr">
            <a:noAutofit/>
          </a:bodyPr>
          <a:lstStyle>
            <a:lvl1pPr marL="342900" lvl="0" indent="-3429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1pPr>
            <a:lvl2pPr marL="742950" lvl="1" indent="-28575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2pPr>
            <a:lvl3pPr marL="1143000" lvl="2" indent="-2286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3pPr>
            <a:lvl4pPr marL="1600200" lvl="3" indent="-22860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4pPr>
            <a:lvl5pPr marL="2057400" lvl="4" indent="-228600" defTabSz="457200" eaLnBrk="1" latinLnBrk="0" hangingPunct="1">
              <a:spcBef>
                <a:spcPct val="20000"/>
              </a:spcBef>
              <a:buFont typeface="Arial"/>
              <a:buChar char="»"/>
              <a:defRPr sz="1400">
                <a:latin typeface="+mn-lt"/>
                <a:ea typeface="+mn-e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9pPr>
          </a:lstStyle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1st site activation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楷体" panose="02010609060101010101" pitchFamily="49" charset="-122"/>
            </a:endParaRPr>
          </a:p>
        </p:txBody>
      </p:sp>
      <p:sp>
        <p:nvSpPr>
          <p:cNvPr id="16" name="Arrow: Chevron 77">
            <a:extLst>
              <a:ext uri="{FF2B5EF4-FFF2-40B4-BE49-F238E27FC236}">
                <a16:creationId xmlns:a16="http://schemas.microsoft.com/office/drawing/2014/main" id="{7CC12C08-7C93-8860-E635-0EFD36311444}"/>
              </a:ext>
            </a:extLst>
          </p:cNvPr>
          <p:cNvSpPr>
            <a:spLocks/>
          </p:cNvSpPr>
          <p:nvPr/>
        </p:nvSpPr>
        <p:spPr>
          <a:xfrm>
            <a:off x="9558004" y="2051852"/>
            <a:ext cx="340154" cy="349200"/>
          </a:xfrm>
          <a:prstGeom prst="chevron">
            <a:avLst>
              <a:gd name="adj" fmla="val 18199"/>
            </a:avLst>
          </a:prstGeom>
          <a:solidFill>
            <a:srgbClr val="93BBFB">
              <a:alpha val="70000"/>
            </a:srgb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Site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activation</a:t>
            </a:r>
          </a:p>
        </p:txBody>
      </p:sp>
      <p:sp>
        <p:nvSpPr>
          <p:cNvPr id="45" name="Arrow: Chevron 77">
            <a:extLst>
              <a:ext uri="{FF2B5EF4-FFF2-40B4-BE49-F238E27FC236}">
                <a16:creationId xmlns:a16="http://schemas.microsoft.com/office/drawing/2014/main" id="{78587003-5A4D-413D-BFB9-0DC3B33A12EA}"/>
              </a:ext>
            </a:extLst>
          </p:cNvPr>
          <p:cNvSpPr>
            <a:spLocks/>
          </p:cNvSpPr>
          <p:nvPr/>
        </p:nvSpPr>
        <p:spPr>
          <a:xfrm>
            <a:off x="5925083" y="4009634"/>
            <a:ext cx="3600000" cy="216000"/>
          </a:xfrm>
          <a:prstGeom prst="chevron">
            <a:avLst>
              <a:gd name="adj" fmla="val 18199"/>
            </a:avLst>
          </a:prstGeom>
          <a:solidFill>
            <a:schemeClr val="accent5">
              <a:lumMod val="40000"/>
              <a:lumOff val="6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IP ready in China depot</a:t>
            </a:r>
          </a:p>
        </p:txBody>
      </p:sp>
      <p:cxnSp>
        <p:nvCxnSpPr>
          <p:cNvPr id="46" name="Straight Arrow Connector 89">
            <a:extLst>
              <a:ext uri="{FF2B5EF4-FFF2-40B4-BE49-F238E27FC236}">
                <a16:creationId xmlns:a16="http://schemas.microsoft.com/office/drawing/2014/main" id="{4BFE8F16-F201-4285-7FF9-AC508C9B308A}"/>
              </a:ext>
            </a:extLst>
          </p:cNvPr>
          <p:cNvCxnSpPr>
            <a:cxnSpLocks/>
          </p:cNvCxnSpPr>
          <p:nvPr/>
        </p:nvCxnSpPr>
        <p:spPr>
          <a:xfrm>
            <a:off x="5964321" y="4393640"/>
            <a:ext cx="3600000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90">
            <a:extLst>
              <a:ext uri="{FF2B5EF4-FFF2-40B4-BE49-F238E27FC236}">
                <a16:creationId xmlns:a16="http://schemas.microsoft.com/office/drawing/2014/main" id="{8876A5F5-B38F-E1E6-1996-F6CE7B9BC87E}"/>
              </a:ext>
            </a:extLst>
          </p:cNvPr>
          <p:cNvSpPr txBox="1">
            <a:spLocks/>
          </p:cNvSpPr>
          <p:nvPr/>
        </p:nvSpPr>
        <p:spPr>
          <a:xfrm>
            <a:off x="7388885" y="4275226"/>
            <a:ext cx="679626" cy="246564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square" lIns="0" tIns="45720" rIns="0" bIns="45720" rtlCol="0" anchor="ctr">
            <a:noAutofit/>
          </a:bodyPr>
          <a:lstStyle>
            <a:lvl1pPr marL="342900" lvl="0" indent="-3429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1pPr>
            <a:lvl2pPr marL="742950" lvl="1" indent="-28575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2pPr>
            <a:lvl3pPr marL="1143000" lvl="2" indent="-2286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3pPr>
            <a:lvl4pPr marL="1600200" lvl="3" indent="-22860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4pPr>
            <a:lvl5pPr marL="2057400" lvl="4" indent="-228600" defTabSz="457200" eaLnBrk="1" latinLnBrk="0" hangingPunct="1">
              <a:spcBef>
                <a:spcPct val="20000"/>
              </a:spcBef>
              <a:buFont typeface="Arial"/>
              <a:buChar char="»"/>
              <a:defRPr sz="1400">
                <a:latin typeface="+mn-lt"/>
                <a:ea typeface="+mn-e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zh-CN" sz="105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14.7</a:t>
            </a:r>
            <a:r>
              <a:rPr kumimoji="0" lang="en-US" altLang="zh-CN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wks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楷体" panose="02010609060101010101" pitchFamily="49" charset="-122"/>
            </a:endParaRPr>
          </a:p>
        </p:txBody>
      </p:sp>
      <p:cxnSp>
        <p:nvCxnSpPr>
          <p:cNvPr id="49" name="Straight Connector 59">
            <a:extLst>
              <a:ext uri="{FF2B5EF4-FFF2-40B4-BE49-F238E27FC236}">
                <a16:creationId xmlns:a16="http://schemas.microsoft.com/office/drawing/2014/main" id="{3ADCEA83-211F-BCC7-252A-6AB49E2DBC8F}"/>
              </a:ext>
            </a:extLst>
          </p:cNvPr>
          <p:cNvCxnSpPr>
            <a:cxnSpLocks/>
          </p:cNvCxnSpPr>
          <p:nvPr/>
        </p:nvCxnSpPr>
        <p:spPr>
          <a:xfrm flipH="1">
            <a:off x="8184147" y="2428848"/>
            <a:ext cx="3175" cy="1260000"/>
          </a:xfrm>
          <a:prstGeom prst="line">
            <a:avLst/>
          </a:prstGeom>
          <a:ln w="6350" cap="flat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60">
            <a:extLst>
              <a:ext uri="{FF2B5EF4-FFF2-40B4-BE49-F238E27FC236}">
                <a16:creationId xmlns:a16="http://schemas.microsoft.com/office/drawing/2014/main" id="{0E25B876-7875-ECA2-B08D-179A0414FA61}"/>
              </a:ext>
            </a:extLst>
          </p:cNvPr>
          <p:cNvSpPr/>
          <p:nvPr/>
        </p:nvSpPr>
        <p:spPr>
          <a:xfrm>
            <a:off x="9464975" y="1887886"/>
            <a:ext cx="144000" cy="144000"/>
          </a:xfrm>
          <a:prstGeom prst="ellips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3" name="Arrow: Chevron 77">
            <a:extLst>
              <a:ext uri="{FF2B5EF4-FFF2-40B4-BE49-F238E27FC236}">
                <a16:creationId xmlns:a16="http://schemas.microsoft.com/office/drawing/2014/main" id="{BF45A7D5-F1AB-3C7B-EC56-5BCC1F529895}"/>
              </a:ext>
            </a:extLst>
          </p:cNvPr>
          <p:cNvSpPr>
            <a:spLocks/>
          </p:cNvSpPr>
          <p:nvPr/>
        </p:nvSpPr>
        <p:spPr>
          <a:xfrm>
            <a:off x="5925084" y="4540505"/>
            <a:ext cx="3924000" cy="216000"/>
          </a:xfrm>
          <a:prstGeom prst="chevron">
            <a:avLst>
              <a:gd name="adj" fmla="val 18199"/>
            </a:avLst>
          </a:prstGeom>
          <a:solidFill>
            <a:schemeClr val="accent6">
              <a:lumMod val="60000"/>
              <a:lumOff val="4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1st site activation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楷体" panose="02010609060101010101" pitchFamily="49" charset="-122"/>
            </a:endParaRPr>
          </a:p>
        </p:txBody>
      </p:sp>
      <p:cxnSp>
        <p:nvCxnSpPr>
          <p:cNvPr id="48" name="Straight Connector 59">
            <a:extLst>
              <a:ext uri="{FF2B5EF4-FFF2-40B4-BE49-F238E27FC236}">
                <a16:creationId xmlns:a16="http://schemas.microsoft.com/office/drawing/2014/main" id="{B17051E7-DDC1-7232-45B2-C023037366F3}"/>
              </a:ext>
            </a:extLst>
          </p:cNvPr>
          <p:cNvCxnSpPr>
            <a:cxnSpLocks/>
          </p:cNvCxnSpPr>
          <p:nvPr/>
        </p:nvCxnSpPr>
        <p:spPr>
          <a:xfrm>
            <a:off x="1895865" y="2232074"/>
            <a:ext cx="0" cy="3390085"/>
          </a:xfrm>
          <a:prstGeom prst="line">
            <a:avLst/>
          </a:prstGeom>
          <a:ln w="6350" cap="flat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Arrow: Chevron 77">
            <a:extLst>
              <a:ext uri="{FF2B5EF4-FFF2-40B4-BE49-F238E27FC236}">
                <a16:creationId xmlns:a16="http://schemas.microsoft.com/office/drawing/2014/main" id="{209A94A3-5C3C-FD37-DA50-BD306630C794}"/>
              </a:ext>
            </a:extLst>
          </p:cNvPr>
          <p:cNvSpPr>
            <a:spLocks/>
          </p:cNvSpPr>
          <p:nvPr/>
        </p:nvSpPr>
        <p:spPr>
          <a:xfrm>
            <a:off x="8224457" y="2051852"/>
            <a:ext cx="1386590" cy="349200"/>
          </a:xfrm>
          <a:prstGeom prst="chevron">
            <a:avLst>
              <a:gd name="adj" fmla="val 18199"/>
            </a:avLst>
          </a:prstGeom>
          <a:solidFill>
            <a:schemeClr val="tx2">
              <a:lumMod val="60000"/>
              <a:lumOff val="40000"/>
              <a:alpha val="7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IP</a:t>
            </a:r>
          </a:p>
        </p:txBody>
      </p:sp>
      <p:sp>
        <p:nvSpPr>
          <p:cNvPr id="76" name="TextBox 90">
            <a:extLst>
              <a:ext uri="{FF2B5EF4-FFF2-40B4-BE49-F238E27FC236}">
                <a16:creationId xmlns:a16="http://schemas.microsoft.com/office/drawing/2014/main" id="{E285CC15-8316-C007-0E12-917390D1A869}"/>
              </a:ext>
            </a:extLst>
          </p:cNvPr>
          <p:cNvSpPr txBox="1">
            <a:spLocks/>
          </p:cNvSpPr>
          <p:nvPr/>
        </p:nvSpPr>
        <p:spPr>
          <a:xfrm>
            <a:off x="8971783" y="1438306"/>
            <a:ext cx="482610" cy="428815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square" lIns="0" tIns="45720" rIns="0" bIns="45720" rtlCol="0" anchor="ctr">
            <a:noAutofit/>
          </a:bodyPr>
          <a:lstStyle>
            <a:lvl1pPr marL="342900" lvl="0" indent="-3429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1pPr>
            <a:lvl2pPr marL="742950" lvl="1" indent="-28575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2pPr>
            <a:lvl3pPr marL="1143000" lvl="2" indent="-2286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3pPr>
            <a:lvl4pPr marL="1600200" lvl="3" indent="-22860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4pPr>
            <a:lvl5pPr marL="2057400" lvl="4" indent="-228600" defTabSz="457200" eaLnBrk="1" latinLnBrk="0" hangingPunct="1">
              <a:spcBef>
                <a:spcPct val="20000"/>
              </a:spcBef>
              <a:buFont typeface="Arial"/>
              <a:buChar char="»"/>
              <a:defRPr sz="1400">
                <a:latin typeface="+mn-lt"/>
                <a:ea typeface="+mn-e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9pPr>
          </a:lstStyle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IP </a:t>
            </a:r>
          </a:p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ready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楷体" panose="02010609060101010101" pitchFamily="49" charset="-122"/>
            </a:endParaRPr>
          </a:p>
        </p:txBody>
      </p:sp>
      <p:cxnSp>
        <p:nvCxnSpPr>
          <p:cNvPr id="88" name="Straight Arrow Connector 89">
            <a:extLst>
              <a:ext uri="{FF2B5EF4-FFF2-40B4-BE49-F238E27FC236}">
                <a16:creationId xmlns:a16="http://schemas.microsoft.com/office/drawing/2014/main" id="{816CF833-D082-C7F0-8C90-B07764EC7FB9}"/>
              </a:ext>
            </a:extLst>
          </p:cNvPr>
          <p:cNvCxnSpPr>
            <a:cxnSpLocks/>
          </p:cNvCxnSpPr>
          <p:nvPr/>
        </p:nvCxnSpPr>
        <p:spPr>
          <a:xfrm>
            <a:off x="1888317" y="2573531"/>
            <a:ext cx="1492533" cy="23333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3D696DF2-5909-C40C-F81D-1072AC072DC0}"/>
              </a:ext>
            </a:extLst>
          </p:cNvPr>
          <p:cNvCxnSpPr>
            <a:cxnSpLocks/>
          </p:cNvCxnSpPr>
          <p:nvPr/>
        </p:nvCxnSpPr>
        <p:spPr>
          <a:xfrm>
            <a:off x="5716300" y="2498680"/>
            <a:ext cx="169804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89">
            <a:extLst>
              <a:ext uri="{FF2B5EF4-FFF2-40B4-BE49-F238E27FC236}">
                <a16:creationId xmlns:a16="http://schemas.microsoft.com/office/drawing/2014/main" id="{64D02285-0601-68B6-A494-FE06E385BE73}"/>
              </a:ext>
            </a:extLst>
          </p:cNvPr>
          <p:cNvCxnSpPr>
            <a:cxnSpLocks/>
          </p:cNvCxnSpPr>
          <p:nvPr/>
        </p:nvCxnSpPr>
        <p:spPr>
          <a:xfrm>
            <a:off x="5937655" y="2573531"/>
            <a:ext cx="2169175" cy="625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89">
            <a:extLst>
              <a:ext uri="{FF2B5EF4-FFF2-40B4-BE49-F238E27FC236}">
                <a16:creationId xmlns:a16="http://schemas.microsoft.com/office/drawing/2014/main" id="{E75ED8A4-E5FF-74CE-633A-18DD7A551612}"/>
              </a:ext>
            </a:extLst>
          </p:cNvPr>
          <p:cNvCxnSpPr>
            <a:cxnSpLocks/>
          </p:cNvCxnSpPr>
          <p:nvPr/>
        </p:nvCxnSpPr>
        <p:spPr>
          <a:xfrm>
            <a:off x="8217101" y="2573531"/>
            <a:ext cx="1332000" cy="329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89">
            <a:extLst>
              <a:ext uri="{FF2B5EF4-FFF2-40B4-BE49-F238E27FC236}">
                <a16:creationId xmlns:a16="http://schemas.microsoft.com/office/drawing/2014/main" id="{07C0978D-8570-904A-29FF-AAD1083D9981}"/>
              </a:ext>
            </a:extLst>
          </p:cNvPr>
          <p:cNvCxnSpPr>
            <a:cxnSpLocks/>
          </p:cNvCxnSpPr>
          <p:nvPr/>
        </p:nvCxnSpPr>
        <p:spPr>
          <a:xfrm flipV="1">
            <a:off x="9611047" y="2573531"/>
            <a:ext cx="288000" cy="6865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89">
            <a:extLst>
              <a:ext uri="{FF2B5EF4-FFF2-40B4-BE49-F238E27FC236}">
                <a16:creationId xmlns:a16="http://schemas.microsoft.com/office/drawing/2014/main" id="{0FFC67FB-60C7-686D-592B-A29FB06CEEF2}"/>
              </a:ext>
            </a:extLst>
          </p:cNvPr>
          <p:cNvCxnSpPr>
            <a:cxnSpLocks/>
          </p:cNvCxnSpPr>
          <p:nvPr/>
        </p:nvCxnSpPr>
        <p:spPr>
          <a:xfrm flipV="1">
            <a:off x="9687291" y="2573531"/>
            <a:ext cx="684000" cy="3393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90">
            <a:extLst>
              <a:ext uri="{FF2B5EF4-FFF2-40B4-BE49-F238E27FC236}">
                <a16:creationId xmlns:a16="http://schemas.microsoft.com/office/drawing/2014/main" id="{97200759-BE0A-4B1A-7F38-DAB9CFB7DA6F}"/>
              </a:ext>
            </a:extLst>
          </p:cNvPr>
          <p:cNvSpPr txBox="1">
            <a:spLocks/>
          </p:cNvSpPr>
          <p:nvPr/>
        </p:nvSpPr>
        <p:spPr>
          <a:xfrm>
            <a:off x="2307335" y="2467696"/>
            <a:ext cx="679626" cy="246564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square" lIns="0" tIns="45720" rIns="0" bIns="45720" rtlCol="0" anchor="ctr">
            <a:noAutofit/>
          </a:bodyPr>
          <a:lstStyle>
            <a:lvl1pPr marL="342900" lvl="0" indent="-3429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1pPr>
            <a:lvl2pPr marL="742950" lvl="1" indent="-28575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2pPr>
            <a:lvl3pPr marL="1143000" lvl="2" indent="-2286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3pPr>
            <a:lvl4pPr marL="1600200" lvl="3" indent="-22860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4pPr>
            <a:lvl5pPr marL="2057400" lvl="4" indent="-228600" defTabSz="457200" eaLnBrk="1" latinLnBrk="0" hangingPunct="1">
              <a:spcBef>
                <a:spcPct val="20000"/>
              </a:spcBef>
              <a:buFont typeface="Arial"/>
              <a:buChar char="»"/>
              <a:defRPr sz="1400">
                <a:latin typeface="+mn-lt"/>
                <a:ea typeface="+mn-e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zh-CN" sz="105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7.1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en-US" altLang="zh-CN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wks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楷体" panose="02010609060101010101" pitchFamily="49" charset="-122"/>
            </a:endParaRPr>
          </a:p>
        </p:txBody>
      </p:sp>
      <p:sp>
        <p:nvSpPr>
          <p:cNvPr id="31" name="TextBox 90">
            <a:extLst>
              <a:ext uri="{FF2B5EF4-FFF2-40B4-BE49-F238E27FC236}">
                <a16:creationId xmlns:a16="http://schemas.microsoft.com/office/drawing/2014/main" id="{A8289834-1D25-DAE7-2D08-DC2FEA53C3FE}"/>
              </a:ext>
            </a:extLst>
          </p:cNvPr>
          <p:cNvSpPr txBox="1">
            <a:spLocks/>
          </p:cNvSpPr>
          <p:nvPr/>
        </p:nvSpPr>
        <p:spPr>
          <a:xfrm>
            <a:off x="5380098" y="2420181"/>
            <a:ext cx="363537" cy="372377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square" lIns="0" tIns="45720" rIns="0" bIns="45720" rtlCol="0" anchor="ctr">
            <a:noAutofit/>
          </a:bodyPr>
          <a:lstStyle>
            <a:lvl1pPr marL="342900" lvl="0" indent="-3429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1pPr>
            <a:lvl2pPr marL="742950" lvl="1" indent="-28575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2pPr>
            <a:lvl3pPr marL="1143000" lvl="2" indent="-2286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3pPr>
            <a:lvl4pPr marL="1600200" lvl="3" indent="-22860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4pPr>
            <a:lvl5pPr marL="2057400" lvl="4" indent="-228600" defTabSz="457200" eaLnBrk="1" latinLnBrk="0" hangingPunct="1">
              <a:spcBef>
                <a:spcPct val="20000"/>
              </a:spcBef>
              <a:buFont typeface="Arial"/>
              <a:buChar char="»"/>
              <a:defRPr sz="1400">
                <a:latin typeface="+mn-lt"/>
                <a:ea typeface="+mn-e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zh-CN" sz="105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-0.1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en-US" altLang="zh-CN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wks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楷体" panose="02010609060101010101" pitchFamily="49" charset="-122"/>
            </a:endParaRPr>
          </a:p>
        </p:txBody>
      </p:sp>
      <p:sp>
        <p:nvSpPr>
          <p:cNvPr id="33" name="TextBox 90">
            <a:extLst>
              <a:ext uri="{FF2B5EF4-FFF2-40B4-BE49-F238E27FC236}">
                <a16:creationId xmlns:a16="http://schemas.microsoft.com/office/drawing/2014/main" id="{CE744C56-F200-237F-5423-8FE6E819259E}"/>
              </a:ext>
            </a:extLst>
          </p:cNvPr>
          <p:cNvSpPr txBox="1">
            <a:spLocks/>
          </p:cNvSpPr>
          <p:nvPr/>
        </p:nvSpPr>
        <p:spPr>
          <a:xfrm>
            <a:off x="6800740" y="2467696"/>
            <a:ext cx="679626" cy="246564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square" lIns="0" tIns="45720" rIns="0" bIns="45720" rtlCol="0" anchor="ctr">
            <a:noAutofit/>
          </a:bodyPr>
          <a:lstStyle>
            <a:lvl1pPr marL="342900" lvl="0" indent="-3429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1pPr>
            <a:lvl2pPr marL="742950" lvl="1" indent="-28575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2pPr>
            <a:lvl3pPr marL="1143000" lvl="2" indent="-2286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3pPr>
            <a:lvl4pPr marL="1600200" lvl="3" indent="-22860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4pPr>
            <a:lvl5pPr marL="2057400" lvl="4" indent="-228600" defTabSz="457200" eaLnBrk="1" latinLnBrk="0" hangingPunct="1">
              <a:spcBef>
                <a:spcPct val="20000"/>
              </a:spcBef>
              <a:buFont typeface="Arial"/>
              <a:buChar char="»"/>
              <a:defRPr sz="1400">
                <a:latin typeface="+mn-lt"/>
                <a:ea typeface="+mn-e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11.0wks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楷体" panose="02010609060101010101" pitchFamily="49" charset="-122"/>
            </a:endParaRPr>
          </a:p>
        </p:txBody>
      </p:sp>
      <p:sp>
        <p:nvSpPr>
          <p:cNvPr id="35" name="TextBox 90">
            <a:extLst>
              <a:ext uri="{FF2B5EF4-FFF2-40B4-BE49-F238E27FC236}">
                <a16:creationId xmlns:a16="http://schemas.microsoft.com/office/drawing/2014/main" id="{C456E25C-0B4C-2F86-7F90-685438C01468}"/>
              </a:ext>
            </a:extLst>
          </p:cNvPr>
          <p:cNvSpPr txBox="1">
            <a:spLocks/>
          </p:cNvSpPr>
          <p:nvPr/>
        </p:nvSpPr>
        <p:spPr>
          <a:xfrm>
            <a:off x="7848704" y="2630994"/>
            <a:ext cx="638721" cy="245592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square" lIns="0" tIns="0" rIns="0" bIns="0" rtlCol="0" anchor="ctr">
            <a:noAutofit/>
          </a:bodyPr>
          <a:lstStyle>
            <a:lvl1pPr marL="342900" lvl="0" indent="-3429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1pPr>
            <a:lvl2pPr marL="742950" lvl="1" indent="-28575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2pPr>
            <a:lvl3pPr marL="1143000" lvl="2" indent="-2286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3pPr>
            <a:lvl4pPr marL="1600200" lvl="3" indent="-22860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4pPr>
            <a:lvl5pPr marL="2057400" lvl="4" indent="-228600" defTabSz="457200" eaLnBrk="1" latinLnBrk="0" hangingPunct="1">
              <a:spcBef>
                <a:spcPct val="20000"/>
              </a:spcBef>
              <a:buFont typeface="Arial"/>
              <a:buChar char="»"/>
              <a:defRPr sz="1400">
                <a:latin typeface="+mn-lt"/>
                <a:ea typeface="+mn-e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zh-CN" sz="105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0.3 </a:t>
            </a:r>
            <a:r>
              <a:rPr kumimoji="0" lang="en-US" altLang="zh-CN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wks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楷体" panose="02010609060101010101" pitchFamily="49" charset="-122"/>
            </a:endParaRPr>
          </a:p>
        </p:txBody>
      </p:sp>
      <p:sp>
        <p:nvSpPr>
          <p:cNvPr id="37" name="TextBox 90">
            <a:extLst>
              <a:ext uri="{FF2B5EF4-FFF2-40B4-BE49-F238E27FC236}">
                <a16:creationId xmlns:a16="http://schemas.microsoft.com/office/drawing/2014/main" id="{9D03A9A1-3399-3C1E-E700-076E6CCA0CB4}"/>
              </a:ext>
            </a:extLst>
          </p:cNvPr>
          <p:cNvSpPr txBox="1">
            <a:spLocks/>
          </p:cNvSpPr>
          <p:nvPr/>
        </p:nvSpPr>
        <p:spPr>
          <a:xfrm>
            <a:off x="9949054" y="2475391"/>
            <a:ext cx="342149" cy="246564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square" lIns="0" tIns="45720" rIns="0" bIns="45720" rtlCol="0" anchor="ctr">
            <a:noAutofit/>
          </a:bodyPr>
          <a:lstStyle>
            <a:lvl1pPr marL="342900" lvl="0" indent="-3429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1pPr>
            <a:lvl2pPr marL="742950" lvl="1" indent="-28575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2pPr>
            <a:lvl3pPr marL="1143000" lvl="2" indent="-2286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3pPr>
            <a:lvl4pPr marL="1600200" lvl="3" indent="-22860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4pPr>
            <a:lvl5pPr marL="2057400" lvl="4" indent="-228600" defTabSz="457200" eaLnBrk="1" latinLnBrk="0" hangingPunct="1">
              <a:spcBef>
                <a:spcPct val="20000"/>
              </a:spcBef>
              <a:buFont typeface="Arial"/>
              <a:buChar char="»"/>
              <a:defRPr sz="1400">
                <a:latin typeface="+mn-lt"/>
                <a:ea typeface="+mn-e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2.1</a:t>
            </a: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wks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楷体" panose="02010609060101010101" pitchFamily="49" charset="-122"/>
            </a:endParaRPr>
          </a:p>
        </p:txBody>
      </p:sp>
      <p:sp>
        <p:nvSpPr>
          <p:cNvPr id="40" name="TextBox 90">
            <a:extLst>
              <a:ext uri="{FF2B5EF4-FFF2-40B4-BE49-F238E27FC236}">
                <a16:creationId xmlns:a16="http://schemas.microsoft.com/office/drawing/2014/main" id="{356ED37E-0A35-5F9F-0C31-983FA8BB145A}"/>
              </a:ext>
            </a:extLst>
          </p:cNvPr>
          <p:cNvSpPr txBox="1">
            <a:spLocks/>
          </p:cNvSpPr>
          <p:nvPr/>
        </p:nvSpPr>
        <p:spPr>
          <a:xfrm>
            <a:off x="9498521" y="2500066"/>
            <a:ext cx="520838" cy="197214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square" lIns="0" tIns="45720" rIns="0" bIns="45720" rtlCol="0" anchor="ctr">
            <a:noAutofit/>
          </a:bodyPr>
          <a:lstStyle>
            <a:lvl1pPr marL="342900" lvl="0" indent="-3429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1pPr>
            <a:lvl2pPr marL="742950" lvl="1" indent="-28575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2pPr>
            <a:lvl3pPr marL="1143000" lvl="2" indent="-2286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3pPr>
            <a:lvl4pPr marL="1600200" lvl="3" indent="-22860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4pPr>
            <a:lvl5pPr marL="2057400" lvl="4" indent="-228600" defTabSz="457200" eaLnBrk="1" latinLnBrk="0" hangingPunct="1">
              <a:spcBef>
                <a:spcPct val="20000"/>
              </a:spcBef>
              <a:buFont typeface="Arial"/>
              <a:buChar char="»"/>
              <a:defRPr sz="1400">
                <a:latin typeface="+mn-lt"/>
                <a:ea typeface="+mn-e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zh-CN" sz="1050" dirty="0">
                <a:latin typeface="Verdana" panose="020B0604030504040204" pitchFamily="34" charset="0"/>
                <a:ea typeface="Verdana" panose="020B0604030504040204" pitchFamily="34" charset="0"/>
              </a:rPr>
              <a:t>1.3</a:t>
            </a: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wks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楷体" panose="02010609060101010101" pitchFamily="49" charset="-122"/>
            </a:endParaRPr>
          </a:p>
        </p:txBody>
      </p:sp>
      <p:cxnSp>
        <p:nvCxnSpPr>
          <p:cNvPr id="111" name="Straight Arrow Connector 89">
            <a:extLst>
              <a:ext uri="{FF2B5EF4-FFF2-40B4-BE49-F238E27FC236}">
                <a16:creationId xmlns:a16="http://schemas.microsoft.com/office/drawing/2014/main" id="{4659798D-0BE7-0E3B-317C-6F004BAEDF05}"/>
              </a:ext>
            </a:extLst>
          </p:cNvPr>
          <p:cNvCxnSpPr>
            <a:cxnSpLocks/>
          </p:cNvCxnSpPr>
          <p:nvPr/>
        </p:nvCxnSpPr>
        <p:spPr>
          <a:xfrm flipV="1">
            <a:off x="5964321" y="4860766"/>
            <a:ext cx="3888000" cy="24816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90">
            <a:extLst>
              <a:ext uri="{FF2B5EF4-FFF2-40B4-BE49-F238E27FC236}">
                <a16:creationId xmlns:a16="http://schemas.microsoft.com/office/drawing/2014/main" id="{703394F6-B0B9-D35D-4A22-96FC87A74FF3}"/>
              </a:ext>
            </a:extLst>
          </p:cNvPr>
          <p:cNvSpPr txBox="1">
            <a:spLocks/>
          </p:cNvSpPr>
          <p:nvPr/>
        </p:nvSpPr>
        <p:spPr>
          <a:xfrm>
            <a:off x="7630633" y="4783345"/>
            <a:ext cx="679626" cy="246564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square" lIns="0" tIns="45720" rIns="0" bIns="45720" rtlCol="0" anchor="ctr">
            <a:noAutofit/>
          </a:bodyPr>
          <a:lstStyle>
            <a:lvl1pPr marL="342900" lvl="0" indent="-3429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1pPr>
            <a:lvl2pPr marL="742950" lvl="1" indent="-28575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2pPr>
            <a:lvl3pPr marL="1143000" lvl="2" indent="-2286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3pPr>
            <a:lvl4pPr marL="1600200" lvl="3" indent="-22860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4pPr>
            <a:lvl5pPr marL="2057400" lvl="4" indent="-228600" defTabSz="457200" eaLnBrk="1" latinLnBrk="0" hangingPunct="1">
              <a:spcBef>
                <a:spcPct val="20000"/>
              </a:spcBef>
              <a:buFont typeface="Arial"/>
              <a:buChar char="»"/>
              <a:defRPr sz="1400">
                <a:latin typeface="+mn-lt"/>
                <a:ea typeface="+mn-e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17.4wks</a:t>
            </a:r>
          </a:p>
        </p:txBody>
      </p:sp>
      <p:cxnSp>
        <p:nvCxnSpPr>
          <p:cNvPr id="114" name="Straight Connector 59">
            <a:extLst>
              <a:ext uri="{FF2B5EF4-FFF2-40B4-BE49-F238E27FC236}">
                <a16:creationId xmlns:a16="http://schemas.microsoft.com/office/drawing/2014/main" id="{B3045DBA-7A76-15F4-2F39-74F2B9576A23}"/>
              </a:ext>
            </a:extLst>
          </p:cNvPr>
          <p:cNvCxnSpPr>
            <a:cxnSpLocks/>
          </p:cNvCxnSpPr>
          <p:nvPr/>
        </p:nvCxnSpPr>
        <p:spPr>
          <a:xfrm flipH="1">
            <a:off x="9891385" y="2398051"/>
            <a:ext cx="0" cy="2412000"/>
          </a:xfrm>
          <a:prstGeom prst="line">
            <a:avLst/>
          </a:prstGeom>
          <a:ln w="6350" cap="flat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89">
            <a:extLst>
              <a:ext uri="{FF2B5EF4-FFF2-40B4-BE49-F238E27FC236}">
                <a16:creationId xmlns:a16="http://schemas.microsoft.com/office/drawing/2014/main" id="{2A734727-D4DC-B2B2-A715-A8376238A93C}"/>
              </a:ext>
            </a:extLst>
          </p:cNvPr>
          <p:cNvCxnSpPr>
            <a:cxnSpLocks/>
          </p:cNvCxnSpPr>
          <p:nvPr/>
        </p:nvCxnSpPr>
        <p:spPr>
          <a:xfrm flipV="1">
            <a:off x="8070165" y="2573531"/>
            <a:ext cx="155708" cy="732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页脚占位符 2">
            <a:extLst>
              <a:ext uri="{FF2B5EF4-FFF2-40B4-BE49-F238E27FC236}">
                <a16:creationId xmlns:a16="http://schemas.microsoft.com/office/drawing/2014/main" id="{2D1C68E2-0C52-6617-49C3-6A57BD62BA90}"/>
              </a:ext>
            </a:extLst>
          </p:cNvPr>
          <p:cNvSpPr txBox="1">
            <a:spLocks/>
          </p:cNvSpPr>
          <p:nvPr/>
        </p:nvSpPr>
        <p:spPr>
          <a:xfrm>
            <a:off x="4346726" y="6550899"/>
            <a:ext cx="3498548" cy="27085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ct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Confidential for restricted internal use only</a:t>
            </a:r>
          </a:p>
        </p:txBody>
      </p:sp>
      <p:sp>
        <p:nvSpPr>
          <p:cNvPr id="9" name="灯片编号占位符 1">
            <a:extLst>
              <a:ext uri="{FF2B5EF4-FFF2-40B4-BE49-F238E27FC236}">
                <a16:creationId xmlns:a16="http://schemas.microsoft.com/office/drawing/2014/main" id="{0399B94A-DCE1-9902-F2B8-57B883D19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425631"/>
            <a:ext cx="2844800" cy="365125"/>
          </a:xfrm>
        </p:spPr>
        <p:txBody>
          <a:bodyPr/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fld id="{5E5495F7-5F52-4044-B612-BA773078B221}" type="slidenum">
              <a:rPr lang="en-US" sz="800" smtClean="0">
                <a:solidFill>
                  <a:prstClr val="black">
                    <a:tint val="75000"/>
                  </a:prstClr>
                </a:solidFill>
              </a:rPr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t>5</a:t>
            </a:fld>
            <a:endParaRPr lang="en-US" sz="8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2" name="TextBox 90">
            <a:extLst>
              <a:ext uri="{FF2B5EF4-FFF2-40B4-BE49-F238E27FC236}">
                <a16:creationId xmlns:a16="http://schemas.microsoft.com/office/drawing/2014/main" id="{D1BC911E-D9F5-ABA5-FCB3-5D5C3A733058}"/>
              </a:ext>
            </a:extLst>
          </p:cNvPr>
          <p:cNvSpPr txBox="1">
            <a:spLocks/>
          </p:cNvSpPr>
          <p:nvPr/>
        </p:nvSpPr>
        <p:spPr>
          <a:xfrm>
            <a:off x="8567503" y="2460793"/>
            <a:ext cx="610320" cy="246447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square" lIns="0" tIns="45720" rIns="0" bIns="45720" rtlCol="0" anchor="ctr">
            <a:noAutofit/>
          </a:bodyPr>
          <a:lstStyle>
            <a:lvl1pPr marL="342900" lvl="0" indent="-3429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1pPr>
            <a:lvl2pPr marL="742950" lvl="1" indent="-28575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2pPr>
            <a:lvl3pPr marL="1143000" lvl="2" indent="-2286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3pPr>
            <a:lvl4pPr marL="1600200" lvl="3" indent="-22860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4pPr>
            <a:lvl5pPr marL="2057400" lvl="4" indent="-228600" defTabSz="457200" eaLnBrk="1" latinLnBrk="0" hangingPunct="1">
              <a:spcBef>
                <a:spcPct val="20000"/>
              </a:spcBef>
              <a:buFont typeface="Arial"/>
              <a:buChar char="»"/>
              <a:defRPr sz="1400">
                <a:latin typeface="+mn-lt"/>
                <a:ea typeface="+mn-e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zh-CN" sz="1050" dirty="0">
                <a:latin typeface="Verdana" panose="020B0604030504040204" pitchFamily="34" charset="0"/>
                <a:ea typeface="Verdana" panose="020B0604030504040204" pitchFamily="34" charset="0"/>
              </a:rPr>
              <a:t>6.0 </a:t>
            </a:r>
            <a:r>
              <a:rPr kumimoji="0" lang="en-US" altLang="zh-CN" sz="105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wks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楷体" panose="02010609060101010101" pitchFamily="49" charset="-122"/>
            </a:endParaRPr>
          </a:p>
        </p:txBody>
      </p:sp>
      <p:cxnSp>
        <p:nvCxnSpPr>
          <p:cNvPr id="30" name="Straight Connector 59">
            <a:extLst>
              <a:ext uri="{FF2B5EF4-FFF2-40B4-BE49-F238E27FC236}">
                <a16:creationId xmlns:a16="http://schemas.microsoft.com/office/drawing/2014/main" id="{C7E9F51C-A89F-495E-4A3B-D350FDADA3D2}"/>
              </a:ext>
            </a:extLst>
          </p:cNvPr>
          <p:cNvCxnSpPr>
            <a:cxnSpLocks/>
          </p:cNvCxnSpPr>
          <p:nvPr/>
        </p:nvCxnSpPr>
        <p:spPr>
          <a:xfrm>
            <a:off x="3362877" y="2381563"/>
            <a:ext cx="0" cy="3321813"/>
          </a:xfrm>
          <a:prstGeom prst="line">
            <a:avLst/>
          </a:prstGeom>
          <a:ln w="6350" cap="flat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89">
            <a:extLst>
              <a:ext uri="{FF2B5EF4-FFF2-40B4-BE49-F238E27FC236}">
                <a16:creationId xmlns:a16="http://schemas.microsoft.com/office/drawing/2014/main" id="{BCEEEB16-CB10-A396-4EB1-B7DB29956E20}"/>
              </a:ext>
            </a:extLst>
          </p:cNvPr>
          <p:cNvCxnSpPr>
            <a:cxnSpLocks/>
          </p:cNvCxnSpPr>
          <p:nvPr/>
        </p:nvCxnSpPr>
        <p:spPr>
          <a:xfrm>
            <a:off x="3377216" y="5743982"/>
            <a:ext cx="6929069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90">
            <a:extLst>
              <a:ext uri="{FF2B5EF4-FFF2-40B4-BE49-F238E27FC236}">
                <a16:creationId xmlns:a16="http://schemas.microsoft.com/office/drawing/2014/main" id="{1CD480E7-501B-65EF-C36C-03366ECC6C9C}"/>
              </a:ext>
            </a:extLst>
          </p:cNvPr>
          <p:cNvSpPr txBox="1">
            <a:spLocks/>
          </p:cNvSpPr>
          <p:nvPr/>
        </p:nvSpPr>
        <p:spPr>
          <a:xfrm>
            <a:off x="5481796" y="5620557"/>
            <a:ext cx="679626" cy="246564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square" lIns="0" tIns="45720" rIns="0" bIns="45720" rtlCol="0" anchor="ctr">
            <a:noAutofit/>
          </a:bodyPr>
          <a:lstStyle>
            <a:lvl1pPr marL="342900" lvl="0" indent="-3429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1pPr>
            <a:lvl2pPr marL="742950" lvl="1" indent="-28575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2pPr>
            <a:lvl3pPr marL="1143000" lvl="2" indent="-228600" defTabSz="457200" eaLnBrk="1" latinLnBrk="0" hangingPunct="1">
              <a:spcBef>
                <a:spcPct val="20000"/>
              </a:spcBef>
              <a:buFont typeface="Arial"/>
              <a:buChar char="•"/>
              <a:defRPr sz="1400">
                <a:latin typeface="+mn-lt"/>
                <a:ea typeface="+mn-ea"/>
              </a:defRPr>
            </a:lvl3pPr>
            <a:lvl4pPr marL="1600200" lvl="3" indent="-228600" defTabSz="457200" eaLnBrk="1" latinLnBrk="0" hangingPunct="1">
              <a:spcBef>
                <a:spcPct val="20000"/>
              </a:spcBef>
              <a:buFont typeface="Arial"/>
              <a:buChar char="–"/>
              <a:defRPr sz="1400">
                <a:latin typeface="+mn-lt"/>
                <a:ea typeface="+mn-ea"/>
              </a:defRPr>
            </a:lvl4pPr>
            <a:lvl5pPr marL="2057400" lvl="4" indent="-228600" defTabSz="457200" eaLnBrk="1" latinLnBrk="0" hangingPunct="1">
              <a:spcBef>
                <a:spcPct val="20000"/>
              </a:spcBef>
              <a:buFont typeface="Arial"/>
              <a:buChar char="»"/>
              <a:defRPr sz="1400">
                <a:latin typeface="+mn-lt"/>
                <a:ea typeface="+mn-e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>
                <a:latin typeface="+mn-lt"/>
                <a:ea typeface="+mn-ea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zh-CN" sz="105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35.0 </a:t>
            </a:r>
            <a:r>
              <a:rPr kumimoji="0" lang="en-US" altLang="zh-CN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wks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E1EF378-4537-356E-33E2-C3C6D5A7B488}"/>
              </a:ext>
            </a:extLst>
          </p:cNvPr>
          <p:cNvSpPr/>
          <p:nvPr/>
        </p:nvSpPr>
        <p:spPr>
          <a:xfrm>
            <a:off x="7875801" y="5235760"/>
            <a:ext cx="828000" cy="432000"/>
          </a:xfrm>
          <a:prstGeom prst="round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7133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909"/>
    </mc:Choice>
    <mc:Fallback xmlns="">
      <p:transition spd="slow" advTm="519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89159-E9EA-7017-938F-7FA48D49A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+mn-lt"/>
              </a:rPr>
              <a:t>Benchmark with Boehringer China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8F874-7511-1A89-B42C-ED03F30B89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5495F7-5F52-4044-B612-BA773078B22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entury Gothic" pitchFamily="34" charset="0"/>
              <a:ea typeface="+mn-ea"/>
              <a:cs typeface="+mn-cs"/>
            </a:endParaRPr>
          </a:p>
        </p:txBody>
      </p:sp>
      <p:graphicFrame>
        <p:nvGraphicFramePr>
          <p:cNvPr id="5" name="Chart 63">
            <a:extLst>
              <a:ext uri="{FF2B5EF4-FFF2-40B4-BE49-F238E27FC236}">
                <a16:creationId xmlns:a16="http://schemas.microsoft.com/office/drawing/2014/main" id="{35BBC505-7179-4215-00BD-442543CE94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7791150"/>
              </p:ext>
            </p:extLst>
          </p:nvPr>
        </p:nvGraphicFramePr>
        <p:xfrm>
          <a:off x="77084" y="1210244"/>
          <a:ext cx="5992327" cy="54138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63">
            <a:extLst>
              <a:ext uri="{FF2B5EF4-FFF2-40B4-BE49-F238E27FC236}">
                <a16:creationId xmlns:a16="http://schemas.microsoft.com/office/drawing/2014/main" id="{9DD67585-B344-2FBC-24B5-E2D2B76BF6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2709976"/>
              </p:ext>
            </p:extLst>
          </p:nvPr>
        </p:nvGraphicFramePr>
        <p:xfrm>
          <a:off x="77084" y="1210244"/>
          <a:ext cx="5992327" cy="54138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Chart 63">
            <a:extLst>
              <a:ext uri="{FF2B5EF4-FFF2-40B4-BE49-F238E27FC236}">
                <a16:creationId xmlns:a16="http://schemas.microsoft.com/office/drawing/2014/main" id="{F4883A70-0CC0-F812-96B9-546FBEEBCA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4396169"/>
              </p:ext>
            </p:extLst>
          </p:nvPr>
        </p:nvGraphicFramePr>
        <p:xfrm>
          <a:off x="77084" y="1210244"/>
          <a:ext cx="5992327" cy="54138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2" name="Chart 63">
            <a:extLst>
              <a:ext uri="{FF2B5EF4-FFF2-40B4-BE49-F238E27FC236}">
                <a16:creationId xmlns:a16="http://schemas.microsoft.com/office/drawing/2014/main" id="{20AC5E3B-468F-1E5A-2F4B-A7541B710A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1117345"/>
              </p:ext>
            </p:extLst>
          </p:nvPr>
        </p:nvGraphicFramePr>
        <p:xfrm>
          <a:off x="77084" y="1210244"/>
          <a:ext cx="5992327" cy="54138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3" name="Chart 63">
            <a:extLst>
              <a:ext uri="{FF2B5EF4-FFF2-40B4-BE49-F238E27FC236}">
                <a16:creationId xmlns:a16="http://schemas.microsoft.com/office/drawing/2014/main" id="{FCF51BB1-1585-F68C-66A1-32EA785E24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0534673"/>
              </p:ext>
            </p:extLst>
          </p:nvPr>
        </p:nvGraphicFramePr>
        <p:xfrm>
          <a:off x="77084" y="1210244"/>
          <a:ext cx="5992327" cy="54138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5" name="Chart 63">
            <a:extLst>
              <a:ext uri="{FF2B5EF4-FFF2-40B4-BE49-F238E27FC236}">
                <a16:creationId xmlns:a16="http://schemas.microsoft.com/office/drawing/2014/main" id="{861D8F36-93D7-84C7-5696-57DBE0C63A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1068556"/>
              </p:ext>
            </p:extLst>
          </p:nvPr>
        </p:nvGraphicFramePr>
        <p:xfrm>
          <a:off x="77084" y="1210244"/>
          <a:ext cx="5992327" cy="54138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78024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939"/>
    </mc:Choice>
    <mc:Fallback xmlns="">
      <p:transition spd="slow" advTm="599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10" grpId="0">
        <p:bldAsOne/>
      </p:bldGraphic>
      <p:bldGraphic spid="11" grpId="0">
        <p:bldAsOne/>
      </p:bldGraphic>
      <p:bldGraphic spid="12" grpId="0">
        <p:bldAsOne/>
      </p:bldGraphic>
      <p:bldGraphic spid="13" grpId="0">
        <p:bldAsOne/>
      </p:bldGraphic>
      <p:bldGraphic spid="15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89159-E9EA-7017-938F-7FA48D49A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+mn-lt"/>
              </a:rPr>
              <a:t>Benchmark with Boehringer China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8F874-7511-1A89-B42C-ED03F30B89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5495F7-5F52-4044-B612-BA773078B22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entury Gothic" pitchFamily="34" charset="0"/>
              <a:ea typeface="+mn-ea"/>
              <a:cs typeface="+mn-cs"/>
            </a:endParaRPr>
          </a:p>
        </p:txBody>
      </p:sp>
      <p:graphicFrame>
        <p:nvGraphicFramePr>
          <p:cNvPr id="5" name="Chart 63">
            <a:extLst>
              <a:ext uri="{FF2B5EF4-FFF2-40B4-BE49-F238E27FC236}">
                <a16:creationId xmlns:a16="http://schemas.microsoft.com/office/drawing/2014/main" id="{35BBC505-7179-4215-00BD-442543CE9458}"/>
              </a:ext>
            </a:extLst>
          </p:cNvPr>
          <p:cNvGraphicFramePr/>
          <p:nvPr/>
        </p:nvGraphicFramePr>
        <p:xfrm>
          <a:off x="77084" y="1210244"/>
          <a:ext cx="5992327" cy="54138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63">
            <a:extLst>
              <a:ext uri="{FF2B5EF4-FFF2-40B4-BE49-F238E27FC236}">
                <a16:creationId xmlns:a16="http://schemas.microsoft.com/office/drawing/2014/main" id="{9DD67585-B344-2FBC-24B5-E2D2B76BF6D7}"/>
              </a:ext>
            </a:extLst>
          </p:cNvPr>
          <p:cNvGraphicFramePr/>
          <p:nvPr/>
        </p:nvGraphicFramePr>
        <p:xfrm>
          <a:off x="77084" y="1210244"/>
          <a:ext cx="5992327" cy="54138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Chart 63">
            <a:extLst>
              <a:ext uri="{FF2B5EF4-FFF2-40B4-BE49-F238E27FC236}">
                <a16:creationId xmlns:a16="http://schemas.microsoft.com/office/drawing/2014/main" id="{F4883A70-0CC0-F812-96B9-546FBEEBCAF1}"/>
              </a:ext>
            </a:extLst>
          </p:cNvPr>
          <p:cNvGraphicFramePr/>
          <p:nvPr/>
        </p:nvGraphicFramePr>
        <p:xfrm>
          <a:off x="77084" y="1210244"/>
          <a:ext cx="5992327" cy="54138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2" name="Chart 63">
            <a:extLst>
              <a:ext uri="{FF2B5EF4-FFF2-40B4-BE49-F238E27FC236}">
                <a16:creationId xmlns:a16="http://schemas.microsoft.com/office/drawing/2014/main" id="{20AC5E3B-468F-1E5A-2F4B-A7541B710A2F}"/>
              </a:ext>
            </a:extLst>
          </p:cNvPr>
          <p:cNvGraphicFramePr/>
          <p:nvPr/>
        </p:nvGraphicFramePr>
        <p:xfrm>
          <a:off x="77084" y="1210244"/>
          <a:ext cx="5992327" cy="54138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3" name="Chart 63">
            <a:extLst>
              <a:ext uri="{FF2B5EF4-FFF2-40B4-BE49-F238E27FC236}">
                <a16:creationId xmlns:a16="http://schemas.microsoft.com/office/drawing/2014/main" id="{FCF51BB1-1585-F68C-66A1-32EA785E2414}"/>
              </a:ext>
            </a:extLst>
          </p:cNvPr>
          <p:cNvGraphicFramePr/>
          <p:nvPr/>
        </p:nvGraphicFramePr>
        <p:xfrm>
          <a:off x="77084" y="1210244"/>
          <a:ext cx="5992327" cy="54138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5" name="Chart 63">
            <a:extLst>
              <a:ext uri="{FF2B5EF4-FFF2-40B4-BE49-F238E27FC236}">
                <a16:creationId xmlns:a16="http://schemas.microsoft.com/office/drawing/2014/main" id="{861D8F36-93D7-84C7-5696-57DBE0C63A92}"/>
              </a:ext>
            </a:extLst>
          </p:cNvPr>
          <p:cNvGraphicFramePr/>
          <p:nvPr/>
        </p:nvGraphicFramePr>
        <p:xfrm>
          <a:off x="77084" y="1210244"/>
          <a:ext cx="5992327" cy="54138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3" name="Chart 63">
            <a:extLst>
              <a:ext uri="{FF2B5EF4-FFF2-40B4-BE49-F238E27FC236}">
                <a16:creationId xmlns:a16="http://schemas.microsoft.com/office/drawing/2014/main" id="{3F081874-CFD9-5DB6-D293-BD3620DF79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2584098"/>
              </p:ext>
            </p:extLst>
          </p:nvPr>
        </p:nvGraphicFramePr>
        <p:xfrm>
          <a:off x="6069411" y="1210244"/>
          <a:ext cx="5773867" cy="54138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6" name="Chart 63">
            <a:extLst>
              <a:ext uri="{FF2B5EF4-FFF2-40B4-BE49-F238E27FC236}">
                <a16:creationId xmlns:a16="http://schemas.microsoft.com/office/drawing/2014/main" id="{CD3279D3-888F-52D3-3FE9-935689699C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5991653"/>
              </p:ext>
            </p:extLst>
          </p:nvPr>
        </p:nvGraphicFramePr>
        <p:xfrm>
          <a:off x="6069411" y="1210244"/>
          <a:ext cx="5773867" cy="54138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7" name="Chart 63">
            <a:extLst>
              <a:ext uri="{FF2B5EF4-FFF2-40B4-BE49-F238E27FC236}">
                <a16:creationId xmlns:a16="http://schemas.microsoft.com/office/drawing/2014/main" id="{5FA1C125-3952-F178-CDF3-F77C189903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183480"/>
              </p:ext>
            </p:extLst>
          </p:nvPr>
        </p:nvGraphicFramePr>
        <p:xfrm>
          <a:off x="6069411" y="1210244"/>
          <a:ext cx="5773867" cy="54138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8" name="Chart 63">
            <a:extLst>
              <a:ext uri="{FF2B5EF4-FFF2-40B4-BE49-F238E27FC236}">
                <a16:creationId xmlns:a16="http://schemas.microsoft.com/office/drawing/2014/main" id="{FC0CD5EC-92F6-2099-A88C-00032A688F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7633486"/>
              </p:ext>
            </p:extLst>
          </p:nvPr>
        </p:nvGraphicFramePr>
        <p:xfrm>
          <a:off x="6069411" y="1210244"/>
          <a:ext cx="5773867" cy="54138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graphicFrame>
        <p:nvGraphicFramePr>
          <p:cNvPr id="9" name="Chart 63">
            <a:extLst>
              <a:ext uri="{FF2B5EF4-FFF2-40B4-BE49-F238E27FC236}">
                <a16:creationId xmlns:a16="http://schemas.microsoft.com/office/drawing/2014/main" id="{1EC62EB9-A263-9E56-B212-DE9172C664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0944158"/>
              </p:ext>
            </p:extLst>
          </p:nvPr>
        </p:nvGraphicFramePr>
        <p:xfrm>
          <a:off x="6069411" y="1210244"/>
          <a:ext cx="5773867" cy="54138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855607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325"/>
    </mc:Choice>
    <mc:Fallback xmlns="">
      <p:transition spd="slow" advTm="613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  <p:bldGraphic spid="6" grpId="0">
        <p:bldAsOne/>
      </p:bldGraphic>
      <p:bldGraphic spid="7" grpId="0">
        <p:bldAsOne/>
      </p:bldGraphic>
      <p:bldGraphic spid="8" grpId="0">
        <p:bldAsOne/>
      </p:bldGraphic>
      <p:bldGraphic spid="9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89159-E9EA-7017-938F-7FA48D49A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+mn-lt"/>
              </a:rPr>
              <a:t>Benchmark with Boehringer China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8F874-7511-1A89-B42C-ED03F30B89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5495F7-5F52-4044-B612-BA773078B22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entury Gothic" pitchFamily="34" charset="0"/>
              <a:ea typeface="+mn-ea"/>
              <a:cs typeface="+mn-cs"/>
            </a:endParaRPr>
          </a:p>
        </p:txBody>
      </p:sp>
      <p:graphicFrame>
        <p:nvGraphicFramePr>
          <p:cNvPr id="15" name="Chart 63">
            <a:extLst>
              <a:ext uri="{FF2B5EF4-FFF2-40B4-BE49-F238E27FC236}">
                <a16:creationId xmlns:a16="http://schemas.microsoft.com/office/drawing/2014/main" id="{861D8F36-93D7-84C7-5696-57DBE0C63A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1373953"/>
              </p:ext>
            </p:extLst>
          </p:nvPr>
        </p:nvGraphicFramePr>
        <p:xfrm>
          <a:off x="77084" y="1210244"/>
          <a:ext cx="5992327" cy="54138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63">
            <a:extLst>
              <a:ext uri="{FF2B5EF4-FFF2-40B4-BE49-F238E27FC236}">
                <a16:creationId xmlns:a16="http://schemas.microsoft.com/office/drawing/2014/main" id="{1EC62EB9-A263-9E56-B212-DE9172C664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4182213"/>
              </p:ext>
            </p:extLst>
          </p:nvPr>
        </p:nvGraphicFramePr>
        <p:xfrm>
          <a:off x="6069411" y="1210244"/>
          <a:ext cx="5773867" cy="54138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8177EA53-5616-EDC0-E634-B727649D0887}"/>
              </a:ext>
            </a:extLst>
          </p:cNvPr>
          <p:cNvGrpSpPr/>
          <p:nvPr/>
        </p:nvGrpSpPr>
        <p:grpSpPr>
          <a:xfrm>
            <a:off x="6183241" y="4082488"/>
            <a:ext cx="6464321" cy="643669"/>
            <a:chOff x="6183241" y="4082488"/>
            <a:chExt cx="6464321" cy="64366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A1A19A5-0121-545C-0207-C64A8D67FDB4}"/>
                </a:ext>
              </a:extLst>
            </p:cNvPr>
            <p:cNvGrpSpPr/>
            <p:nvPr/>
          </p:nvGrpSpPr>
          <p:grpSpPr>
            <a:xfrm>
              <a:off x="6183241" y="4082488"/>
              <a:ext cx="6464321" cy="643669"/>
              <a:chOff x="6356977" y="4082488"/>
              <a:chExt cx="6464321" cy="643669"/>
            </a:xfrm>
          </p:grpSpPr>
          <p:sp>
            <p:nvSpPr>
              <p:cNvPr id="18" name="Cube 17">
                <a:extLst>
                  <a:ext uri="{FF2B5EF4-FFF2-40B4-BE49-F238E27FC236}">
                    <a16:creationId xmlns:a16="http://schemas.microsoft.com/office/drawing/2014/main" id="{EC6501C0-3FE1-6815-FF0E-0CC09B709CC0}"/>
                  </a:ext>
                </a:extLst>
              </p:cNvPr>
              <p:cNvSpPr/>
              <p:nvPr/>
            </p:nvSpPr>
            <p:spPr>
              <a:xfrm>
                <a:off x="7714513" y="4210492"/>
                <a:ext cx="2808000" cy="288000"/>
              </a:xfrm>
              <a:prstGeom prst="cub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E017672-AA82-4145-3C2F-4B5977FA3AF4}"/>
                  </a:ext>
                </a:extLst>
              </p:cNvPr>
              <p:cNvSpPr txBox="1"/>
              <p:nvPr/>
            </p:nvSpPr>
            <p:spPr>
              <a:xfrm>
                <a:off x="6356977" y="4264492"/>
                <a:ext cx="126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Boehringer C</a:t>
                </a:r>
                <a:r>
                  <a:rPr lang="en-US" altLang="zh-CN" sz="1200" dirty="0"/>
                  <a:t>hina Median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2769FC6-029A-EA32-F718-C4FE7A86589F}"/>
                  </a:ext>
                </a:extLst>
              </p:cNvPr>
              <p:cNvSpPr txBox="1"/>
              <p:nvPr/>
            </p:nvSpPr>
            <p:spPr>
              <a:xfrm>
                <a:off x="10625298" y="4082488"/>
                <a:ext cx="2196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1" dirty="0"/>
                  <a:t>CTA-A to </a:t>
                </a:r>
              </a:p>
              <a:p>
                <a:r>
                  <a:rPr lang="en-US" sz="1400" b="1" dirty="0">
                    <a:solidFill>
                      <a:srgbClr val="FF0000"/>
                    </a:solidFill>
                  </a:rPr>
                  <a:t>100% sites </a:t>
                </a:r>
                <a:r>
                  <a:rPr lang="en-US" sz="1400" b="1" dirty="0"/>
                  <a:t>activation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89E7A8B-F977-F3D4-9A75-585226E62039}"/>
                  </a:ext>
                </a:extLst>
              </p:cNvPr>
              <p:cNvSpPr txBox="1"/>
              <p:nvPr/>
            </p:nvSpPr>
            <p:spPr>
              <a:xfrm>
                <a:off x="10086454" y="4190210"/>
                <a:ext cx="6120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1" dirty="0"/>
                  <a:t>4.9</a:t>
                </a:r>
              </a:p>
            </p:txBody>
          </p: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2383DD1-A3E1-D7A1-6E78-5E10C3D642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53354" y="4354492"/>
              <a:ext cx="180000" cy="0"/>
            </a:xfrm>
            <a:prstGeom prst="straightConnector1">
              <a:avLst/>
            </a:prstGeom>
            <a:ln>
              <a:solidFill>
                <a:srgbClr val="B0D26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833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202"/>
    </mc:Choice>
    <mc:Fallback xmlns="">
      <p:transition spd="slow" advTm="44202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E305F87-C765-43D2-8747-7FB640C97690}"/>
              </a:ext>
            </a:extLst>
          </p:cNvPr>
          <p:cNvSpPr txBox="1">
            <a:spLocks/>
          </p:cNvSpPr>
          <p:nvPr/>
        </p:nvSpPr>
        <p:spPr>
          <a:xfrm>
            <a:off x="609600" y="67244"/>
            <a:ext cx="10972800" cy="1143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1600" kern="1200">
                <a:solidFill>
                  <a:schemeClr val="bg1"/>
                </a:solidFill>
                <a:latin typeface="Century Gothic" pitchFamily="34" charset="0"/>
                <a:ea typeface="+mj-ea"/>
                <a:cs typeface="+mj-cs"/>
              </a:defRPr>
            </a:lvl1pPr>
          </a:lstStyle>
          <a:p>
            <a:pPr marL="72000" fontAlgn="ctr"/>
            <a:r>
              <a:rPr lang="en-US" altLang="zh-CN" sz="4000" dirty="0">
                <a:latin typeface="Calibri" panose="020F0502020204030204" pitchFamily="34" charset="0"/>
                <a:ea typeface="等线" panose="02010600030101010101" pitchFamily="2" charset="-122"/>
              </a:rPr>
              <a:t>Last hurdles just</a:t>
            </a:r>
            <a:r>
              <a:rPr lang="zh-CN" altLang="en-US" sz="4000" dirty="0">
                <a:latin typeface="Calibri" panose="020F0502020204030204" pitchFamily="34" charset="0"/>
                <a:ea typeface="等线" panose="02010600030101010101" pitchFamily="2" charset="-122"/>
              </a:rPr>
              <a:t> </a:t>
            </a:r>
            <a:r>
              <a:rPr lang="en-US" altLang="zh-CN" sz="4000" dirty="0">
                <a:latin typeface="Calibri" panose="020F0502020204030204" pitchFamily="34" charset="0"/>
                <a:ea typeface="等线" panose="02010600030101010101" pitchFamily="2" charset="-122"/>
              </a:rPr>
              <a:t>before China FPFV</a:t>
            </a:r>
            <a:endParaRPr lang="en-US" altLang="zh-CN" sz="4000" b="0" i="0" u="none" strike="noStrike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</p:txBody>
      </p:sp>
      <p:sp>
        <p:nvSpPr>
          <p:cNvPr id="10" name="对话气泡: 椭圆形 9">
            <a:extLst>
              <a:ext uri="{FF2B5EF4-FFF2-40B4-BE49-F238E27FC236}">
                <a16:creationId xmlns:a16="http://schemas.microsoft.com/office/drawing/2014/main" id="{E0A0E879-1A61-6339-344C-B9C1E82F8B5F}"/>
              </a:ext>
            </a:extLst>
          </p:cNvPr>
          <p:cNvSpPr/>
          <p:nvPr/>
        </p:nvSpPr>
        <p:spPr>
          <a:xfrm>
            <a:off x="8643718" y="1883192"/>
            <a:ext cx="2844800" cy="1182259"/>
          </a:xfrm>
          <a:prstGeom prst="wedgeEllipseCallout">
            <a:avLst>
              <a:gd name="adj1" fmla="val -60903"/>
              <a:gd name="adj2" fmla="val 25844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For example: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/>
                </a:solidFill>
              </a:rPr>
              <a:t>Expiration date of IP,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/>
                </a:solidFill>
              </a:rPr>
              <a:t>Production capacity,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/>
                </a:solidFill>
              </a:rPr>
              <a:t>Too many types of IP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D8D06624-73D0-29AC-6361-B03D0CC86A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928506"/>
              </p:ext>
            </p:extLst>
          </p:nvPr>
        </p:nvGraphicFramePr>
        <p:xfrm>
          <a:off x="1411521" y="2617865"/>
          <a:ext cx="6936513" cy="32729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34F0F38-26EF-E4AB-08EC-6AEC5A1A1E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690278"/>
              </p:ext>
            </p:extLst>
          </p:nvPr>
        </p:nvGraphicFramePr>
        <p:xfrm>
          <a:off x="1411521" y="2677510"/>
          <a:ext cx="3791614" cy="3043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1614">
                  <a:extLst>
                    <a:ext uri="{9D8B030D-6E8A-4147-A177-3AD203B41FA5}">
                      <a16:colId xmlns:a16="http://schemas.microsoft.com/office/drawing/2014/main" val="3517391695"/>
                    </a:ext>
                  </a:extLst>
                </a:gridCol>
              </a:tblGrid>
              <a:tr h="30433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IP Supply (batch for FPFV)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238636"/>
                  </a:ext>
                </a:extLst>
              </a:tr>
              <a:tr h="30433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Kits/Lab Supply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694284"/>
                  </a:ext>
                </a:extLst>
              </a:tr>
              <a:tr h="30433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Limited patient pool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406530"/>
                  </a:ext>
                </a:extLst>
              </a:tr>
              <a:tr h="30433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status for process/system setting up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597756"/>
                  </a:ext>
                </a:extLst>
              </a:tr>
              <a:tr h="30433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HGR regulatory changes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723193"/>
                  </a:ext>
                </a:extLst>
              </a:tr>
              <a:tr h="30433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E-pro </a:t>
                      </a:r>
                      <a:r>
                        <a:rPr lang="en-US" altLang="zh-C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Chinesization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/customs clearance/delivery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001438"/>
                  </a:ext>
                </a:extLst>
              </a:tr>
              <a:tr h="30433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COVID-19 pandemic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525475"/>
                  </a:ext>
                </a:extLst>
              </a:tr>
              <a:tr h="30433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No last hurdle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747477"/>
                  </a:ext>
                </a:extLst>
              </a:tr>
              <a:tr h="30433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Others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316541"/>
                  </a:ext>
                </a:extLst>
              </a:tr>
              <a:tr h="30433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answers due to information availability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772370"/>
                  </a:ext>
                </a:extLst>
              </a:tr>
            </a:tbl>
          </a:graphicData>
        </a:graphic>
      </p:graphicFrame>
      <p:sp>
        <p:nvSpPr>
          <p:cNvPr id="3" name="对话气泡: 椭圆形 2">
            <a:extLst>
              <a:ext uri="{FF2B5EF4-FFF2-40B4-BE49-F238E27FC236}">
                <a16:creationId xmlns:a16="http://schemas.microsoft.com/office/drawing/2014/main" id="{D9384169-5D51-A15C-03AA-3A9B4F81BFBB}"/>
              </a:ext>
            </a:extLst>
          </p:cNvPr>
          <p:cNvSpPr/>
          <p:nvPr/>
        </p:nvSpPr>
        <p:spPr>
          <a:xfrm>
            <a:off x="8463951" y="3122911"/>
            <a:ext cx="1332630" cy="669639"/>
          </a:xfrm>
          <a:prstGeom prst="wedgeEllipseCallout">
            <a:avLst>
              <a:gd name="adj1" fmla="val -166623"/>
              <a:gd name="adj2" fmla="val -44777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Including Lab setup</a:t>
            </a:r>
          </a:p>
        </p:txBody>
      </p:sp>
      <p:sp>
        <p:nvSpPr>
          <p:cNvPr id="4" name="页脚占位符 2">
            <a:extLst>
              <a:ext uri="{FF2B5EF4-FFF2-40B4-BE49-F238E27FC236}">
                <a16:creationId xmlns:a16="http://schemas.microsoft.com/office/drawing/2014/main" id="{72CC0AB7-BEAD-2EBF-DEB4-BBA4C569C9F2}"/>
              </a:ext>
            </a:extLst>
          </p:cNvPr>
          <p:cNvSpPr txBox="1">
            <a:spLocks/>
          </p:cNvSpPr>
          <p:nvPr/>
        </p:nvSpPr>
        <p:spPr>
          <a:xfrm>
            <a:off x="4346726" y="6550899"/>
            <a:ext cx="3498548" cy="27085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ct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Confidential for restricted internal use only</a:t>
            </a: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62DF6634-5C12-B6B8-8FB4-16D8EC1910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425631"/>
            <a:ext cx="2844800" cy="365125"/>
          </a:xfrm>
        </p:spPr>
        <p:txBody>
          <a:bodyPr/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fld id="{5E5495F7-5F52-4044-B612-BA773078B221}" type="slidenum">
              <a:rPr lang="en-US" sz="800" smtClean="0">
                <a:solidFill>
                  <a:prstClr val="black">
                    <a:tint val="75000"/>
                  </a:prstClr>
                </a:solidFill>
              </a:rPr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t>9</a:t>
            </a:fld>
            <a:endParaRPr lang="en-US" sz="8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60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683"/>
    </mc:Choice>
    <mc:Fallback xmlns="">
      <p:transition spd="slow" advTm="3568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56B5-51FE-41C3-8DE1-F0F10ECA7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r>
              <a:rPr lang="en-US" altLang="zh-CN" sz="4000" dirty="0">
                <a:latin typeface="+mn-lt"/>
                <a:ea typeface="Verdana" panose="020B0604030504040204" pitchFamily="34" charset="0"/>
              </a:rPr>
              <a:t>3rd party QC for site close-out</a:t>
            </a:r>
            <a:endParaRPr lang="zh-CN" altLang="en-US" sz="4000" dirty="0">
              <a:solidFill>
                <a:srgbClr val="FFFFFF"/>
              </a:solidFill>
              <a:latin typeface="+mn-lt"/>
            </a:endParaRPr>
          </a:p>
        </p:txBody>
      </p:sp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15A51152-EAB4-4542-B4A3-6919DE8936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6557578"/>
              </p:ext>
            </p:extLst>
          </p:nvPr>
        </p:nvGraphicFramePr>
        <p:xfrm>
          <a:off x="1509205" y="1588890"/>
          <a:ext cx="4085554" cy="21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F79660D2-41D9-4AA8-89F6-A3B5631351B7}"/>
              </a:ext>
            </a:extLst>
          </p:cNvPr>
          <p:cNvSpPr txBox="1"/>
          <p:nvPr/>
        </p:nvSpPr>
        <p:spPr>
          <a:xfrm>
            <a:off x="4651902" y="1999475"/>
            <a:ext cx="772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Base=64</a:t>
            </a:r>
            <a:endParaRPr lang="zh-CN" altLang="en-US" sz="1200" dirty="0"/>
          </a:p>
        </p:txBody>
      </p:sp>
      <p:graphicFrame>
        <p:nvGraphicFramePr>
          <p:cNvPr id="10" name="图表 9">
            <a:extLst>
              <a:ext uri="{FF2B5EF4-FFF2-40B4-BE49-F238E27FC236}">
                <a16:creationId xmlns:a16="http://schemas.microsoft.com/office/drawing/2014/main" id="{F0C74930-E3E0-4E81-91D2-6BABC4F77B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0832636"/>
              </p:ext>
            </p:extLst>
          </p:nvPr>
        </p:nvGraphicFramePr>
        <p:xfrm>
          <a:off x="6170357" y="1588890"/>
          <a:ext cx="4085554" cy="21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B2E30012-7534-4365-8E8C-B9E318FB35A5}"/>
              </a:ext>
            </a:extLst>
          </p:cNvPr>
          <p:cNvSpPr txBox="1"/>
          <p:nvPr/>
        </p:nvSpPr>
        <p:spPr>
          <a:xfrm>
            <a:off x="9236250" y="1999475"/>
            <a:ext cx="957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Base=1250</a:t>
            </a:r>
            <a:endParaRPr lang="zh-CN" altLang="en-US" sz="1200" dirty="0"/>
          </a:p>
        </p:txBody>
      </p:sp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C062D7D4-F375-4E50-BCB9-E66C962CD0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1763624"/>
              </p:ext>
            </p:extLst>
          </p:nvPr>
        </p:nvGraphicFramePr>
        <p:xfrm>
          <a:off x="1509191" y="3950803"/>
          <a:ext cx="4085982" cy="21739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8170769E-8594-4D84-B6FD-02C6C964817A}"/>
              </a:ext>
            </a:extLst>
          </p:cNvPr>
          <p:cNvSpPr txBox="1"/>
          <p:nvPr/>
        </p:nvSpPr>
        <p:spPr>
          <a:xfrm>
            <a:off x="4651902" y="4537583"/>
            <a:ext cx="7254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Base=30</a:t>
            </a:r>
            <a:endParaRPr lang="zh-CN" altLang="en-US" sz="1200" dirty="0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5BCAE97F-DD63-437E-AA6D-9C13F30D8D23}"/>
              </a:ext>
            </a:extLst>
          </p:cNvPr>
          <p:cNvSpPr/>
          <p:nvPr/>
        </p:nvSpPr>
        <p:spPr>
          <a:xfrm>
            <a:off x="5754569" y="4817782"/>
            <a:ext cx="329694" cy="16814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ECC5D9D-E904-495D-A05E-504B6759560A}"/>
              </a:ext>
            </a:extLst>
          </p:cNvPr>
          <p:cNvSpPr txBox="1"/>
          <p:nvPr/>
        </p:nvSpPr>
        <p:spPr>
          <a:xfrm>
            <a:off x="5699470" y="4523246"/>
            <a:ext cx="517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Yes</a:t>
            </a:r>
            <a:endParaRPr lang="zh-CN" altLang="en-US" sz="1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481E421-30A5-499C-A03D-495DA98FA78A}"/>
              </a:ext>
            </a:extLst>
          </p:cNvPr>
          <p:cNvSpPr txBox="1"/>
          <p:nvPr/>
        </p:nvSpPr>
        <p:spPr>
          <a:xfrm>
            <a:off x="6181511" y="5523189"/>
            <a:ext cx="3913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Number of sites surveyed : Total=1250     Mean=19.5  </a:t>
            </a:r>
            <a:endParaRPr lang="zh-CN" altLang="en-US" sz="1200" dirty="0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1457432C-D1FA-4289-A798-F2D7D2B095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77742"/>
              </p:ext>
            </p:extLst>
          </p:nvPr>
        </p:nvGraphicFramePr>
        <p:xfrm>
          <a:off x="6161897" y="4193569"/>
          <a:ext cx="4162833" cy="117830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{2D5ABB26-0587-4C30-8999-92F81FD0307C}</a:tableStyleId>
              </a:tblPr>
              <a:tblGrid>
                <a:gridCol w="3252102">
                  <a:extLst>
                    <a:ext uri="{9D8B030D-6E8A-4147-A177-3AD203B41FA5}">
                      <a16:colId xmlns:a16="http://schemas.microsoft.com/office/drawing/2014/main" val="1417899124"/>
                    </a:ext>
                  </a:extLst>
                </a:gridCol>
                <a:gridCol w="910731">
                  <a:extLst>
                    <a:ext uri="{9D8B030D-6E8A-4147-A177-3AD203B41FA5}">
                      <a16:colId xmlns:a16="http://schemas.microsoft.com/office/drawing/2014/main" val="489562685"/>
                    </a:ext>
                  </a:extLst>
                </a:gridCol>
              </a:tblGrid>
              <a:tr h="37012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zh-C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</a:rPr>
                        <a:t>Number of sites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694355"/>
                  </a:ext>
                </a:extLst>
              </a:tr>
              <a:tr h="3455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DBL delay after 3rd party QC 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6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DBL broken occurred after 3rd party QC 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826664"/>
                  </a:ext>
                </a:extLst>
              </a:tr>
            </a:tbl>
          </a:graphicData>
        </a:graphic>
      </p:graphicFrame>
      <p:sp>
        <p:nvSpPr>
          <p:cNvPr id="4" name="页脚占位符 2">
            <a:extLst>
              <a:ext uri="{FF2B5EF4-FFF2-40B4-BE49-F238E27FC236}">
                <a16:creationId xmlns:a16="http://schemas.microsoft.com/office/drawing/2014/main" id="{C7B2D01A-0252-A21A-905B-ED69AC623D4B}"/>
              </a:ext>
            </a:extLst>
          </p:cNvPr>
          <p:cNvSpPr txBox="1">
            <a:spLocks/>
          </p:cNvSpPr>
          <p:nvPr/>
        </p:nvSpPr>
        <p:spPr>
          <a:xfrm>
            <a:off x="4346726" y="6550899"/>
            <a:ext cx="3498548" cy="27085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ct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Confidential for restricted internal use only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BE0475C9-17FD-C115-010E-ACFF68B7A7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425631"/>
            <a:ext cx="2844800" cy="365125"/>
          </a:xfrm>
        </p:spPr>
        <p:txBody>
          <a:bodyPr/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fld id="{5E5495F7-5F52-4044-B612-BA773078B221}" type="slidenum">
              <a:rPr lang="en-US" sz="800" smtClean="0">
                <a:solidFill>
                  <a:prstClr val="black">
                    <a:tint val="75000"/>
                  </a:prstClr>
                </a:solidFill>
              </a:rPr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t>10</a:t>
            </a:fld>
            <a:endParaRPr lang="en-US" sz="8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E607626-3AD2-11E2-679B-3545EE9C058B}"/>
              </a:ext>
            </a:extLst>
          </p:cNvPr>
          <p:cNvSpPr/>
          <p:nvPr/>
        </p:nvSpPr>
        <p:spPr>
          <a:xfrm>
            <a:off x="9572578" y="4461012"/>
            <a:ext cx="651981" cy="576746"/>
          </a:xfrm>
          <a:prstGeom prst="round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122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749"/>
    </mc:Choice>
    <mc:Fallback xmlns="">
      <p:transition spd="slow" advTm="307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2CD83-C574-424D-8D6B-90039BD109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0858" y="2276079"/>
            <a:ext cx="10363200" cy="14700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/>
          <a:p>
            <a:pPr algn="ctr"/>
            <a:r>
              <a:rPr lang="en-US" altLang="zh-CN" sz="4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THANK YOU!</a:t>
            </a:r>
            <a:endParaRPr lang="zh-CN" altLang="en-US" sz="4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180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58"/>
    </mc:Choice>
    <mc:Fallback xmlns="">
      <p:transition spd="slow" advTm="46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2|0.7|28.5|10.2|8.3|21.2|33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3|12.4|1.6|2|1.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5|11.5|13.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1|11.8|5.2|7.2|12.4|4.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|14.9|6.6|11.2|6.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7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bec3d6c-dc49-43d8-9f5f-fe75434a2497">
      <Terms xmlns="http://schemas.microsoft.com/office/infopath/2007/PartnerControls"/>
    </lcf76f155ced4ddcb4097134ff3c332f>
    <TaxCatchAll xmlns="e47812bf-c8f0-415c-9dc6-75659472579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242DF3D1D04D43AAE539FB642C880D" ma:contentTypeVersion="19" ma:contentTypeDescription="Create a new document." ma:contentTypeScope="" ma:versionID="216cf6b9bc403f004b8b7e86d8e72cfc">
  <xsd:schema xmlns:xsd="http://www.w3.org/2001/XMLSchema" xmlns:xs="http://www.w3.org/2001/XMLSchema" xmlns:p="http://schemas.microsoft.com/office/2006/metadata/properties" xmlns:ns2="abec3d6c-dc49-43d8-9f5f-fe75434a2497" xmlns:ns3="38988128-37ab-443d-bda8-e0f28155c68c" xmlns:ns4="e47812bf-c8f0-415c-9dc6-756594725798" targetNamespace="http://schemas.microsoft.com/office/2006/metadata/properties" ma:root="true" ma:fieldsID="22e1a6cbe640582aedff401e2d7c7a09" ns2:_="" ns3:_="" ns4:_="">
    <xsd:import namespace="abec3d6c-dc49-43d8-9f5f-fe75434a2497"/>
    <xsd:import namespace="38988128-37ab-443d-bda8-e0f28155c68c"/>
    <xsd:import namespace="e47812bf-c8f0-415c-9dc6-7565947257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ec3d6c-dc49-43d8-9f5f-fe75434a24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98f3110-b2b7-48bc-b5f0-a137367be0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988128-37ab-443d-bda8-e0f28155c68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7812bf-c8f0-415c-9dc6-756594725798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289bc802-be5d-4ad1-8fa5-936a0ef32c64}" ma:internalName="TaxCatchAll" ma:showField="CatchAllData" ma:web="38988128-37ab-443d-bda8-e0f28155c6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981AD2-6A6F-4756-BEC2-C973DB94F4C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05F6E58-136F-46E2-BADA-9F07FA38EA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46CFEB-21B9-416A-B230-E5FFC1302671}"/>
</file>

<file path=docMetadata/LabelInfo.xml><?xml version="1.0" encoding="utf-8"?>
<clbl:labelList xmlns:clbl="http://schemas.microsoft.com/office/2020/mipLabelMetadata">
  <clbl:label id="{e1f8af86-ee95-4718-bd0d-375b37366c83}" enabled="0" method="" siteId="{e1f8af86-ee95-4718-bd0d-375b37366c8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24341</TotalTime>
  <Words>1294</Words>
  <Application>Microsoft Office PowerPoint</Application>
  <PresentationFormat>Widescreen</PresentationFormat>
  <Paragraphs>305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等线</vt:lpstr>
      <vt:lpstr>楷体</vt:lpstr>
      <vt:lpstr>微软雅黑</vt:lpstr>
      <vt:lpstr>Arial</vt:lpstr>
      <vt:lpstr>Calibri</vt:lpstr>
      <vt:lpstr>Century Gothic</vt:lpstr>
      <vt:lpstr>Times New Roman</vt:lpstr>
      <vt:lpstr>Verdana</vt:lpstr>
      <vt:lpstr>Wingdings</vt:lpstr>
      <vt:lpstr>1_Office Theme</vt:lpstr>
      <vt:lpstr>Report for RDPAC CO Timeline Survey</vt:lpstr>
      <vt:lpstr>AGENDA</vt:lpstr>
      <vt:lpstr>Executive Summary</vt:lpstr>
      <vt:lpstr>Sample profile</vt:lpstr>
      <vt:lpstr>Study Startup Timeline 2023 (median, weeks)</vt:lpstr>
      <vt:lpstr>Benchmark with Boehringer China</vt:lpstr>
      <vt:lpstr>Benchmark with Boehringer China</vt:lpstr>
      <vt:lpstr>Benchmark with Boehringer China</vt:lpstr>
      <vt:lpstr>PowerPoint Presentation</vt:lpstr>
      <vt:lpstr>3rd party QC for site close-out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RDPAC  CO Timeline Survey 2021</dc:title>
  <dc:creator>Julia Man Rong Wang</dc:creator>
  <cp:lastModifiedBy>Li,Ansu (HP Medicine) BII-CN-S</cp:lastModifiedBy>
  <cp:revision>786</cp:revision>
  <cp:lastPrinted>2024-04-24T07:26:33Z</cp:lastPrinted>
  <dcterms:created xsi:type="dcterms:W3CDTF">2021-08-31T13:16:22Z</dcterms:created>
  <dcterms:modified xsi:type="dcterms:W3CDTF">2024-05-15T15:39:13Z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0x010100B9242DF3D1D04D43AAE539FB642C880D</vt:lpwstr>
  </property>
</Properties>
</file>