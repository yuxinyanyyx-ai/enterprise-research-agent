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notesSlides/notesSlide4.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5.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6.xml" ContentType="application/vnd.openxmlformats-officedocument.presentationml.notesSlide+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9.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notesSlides/notesSlide10.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4"/>
    <p:sldMasterId id="2147483788" r:id="rId5"/>
  </p:sldMasterIdLst>
  <p:notesMasterIdLst>
    <p:notesMasterId r:id="rId27"/>
  </p:notesMasterIdLst>
  <p:sldIdLst>
    <p:sldId id="9849" r:id="rId6"/>
    <p:sldId id="9850" r:id="rId7"/>
    <p:sldId id="9856" r:id="rId8"/>
    <p:sldId id="9852" r:id="rId9"/>
    <p:sldId id="2147483626" r:id="rId10"/>
    <p:sldId id="2147483631" r:id="rId11"/>
    <p:sldId id="2147483620" r:id="rId12"/>
    <p:sldId id="2147377127" r:id="rId13"/>
    <p:sldId id="2147483636" r:id="rId14"/>
    <p:sldId id="2147483619" r:id="rId15"/>
    <p:sldId id="2147483646" r:id="rId16"/>
    <p:sldId id="256" r:id="rId17"/>
    <p:sldId id="2147483647" r:id="rId18"/>
    <p:sldId id="2147377192" r:id="rId19"/>
    <p:sldId id="289" r:id="rId20"/>
    <p:sldId id="2147483621" r:id="rId21"/>
    <p:sldId id="2147483639" r:id="rId22"/>
    <p:sldId id="2147483638" r:id="rId23"/>
    <p:sldId id="2147483640" r:id="rId24"/>
    <p:sldId id="2147483645" r:id="rId25"/>
    <p:sldId id="2147483627"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Kong,Shenqi (HP Medicine) BII-CN-S" initials="KB" lastIdx="1" clrIdx="6">
    <p:extLst>
      <p:ext uri="{19B8F6BF-5375-455C-9EA6-DF929625EA0E}">
        <p15:presenceInfo xmlns:p15="http://schemas.microsoft.com/office/powerpoint/2012/main" userId="S::shenqi.kong@boehringer-ingelheim.com::4d81765c-e2f0-440b-b25b-1cd7f4e6edd9" providerId="AD"/>
      </p:ext>
    </p:extLst>
  </p:cmAuthor>
  <p:cmAuthor id="1" name="Liu,Dr.,Meiruo (HP Medicine) BII-CN-S" initials="ML" lastIdx="10" clrIdx="0">
    <p:extLst>
      <p:ext uri="{19B8F6BF-5375-455C-9EA6-DF929625EA0E}">
        <p15:presenceInfo xmlns:p15="http://schemas.microsoft.com/office/powerpoint/2012/main" userId="S::meiruo.liu@boehringer-ingelheim.com::ece9aa16-5bba-4d2f-b200-019c8e2ba0a0" providerId="AD"/>
      </p:ext>
    </p:extLst>
  </p:cmAuthor>
  <p:cmAuthor id="2" name="Herrmann,Dr.,Rolf (TMCP TAs) BIP-DE-B" initials="RH" lastIdx="1" clrIdx="1">
    <p:extLst>
      <p:ext uri="{19B8F6BF-5375-455C-9EA6-DF929625EA0E}">
        <p15:presenceInfo xmlns:p15="http://schemas.microsoft.com/office/powerpoint/2012/main" userId="S::rolf_1.herrmann@boehringer-ingelheim.com::0c623976-502e-4ef6-85a2-6caeddf1a16e" providerId="AD"/>
      </p:ext>
    </p:extLst>
  </p:cmAuthor>
  <p:cmAuthor id="3" name="Sahaboglu,Dr.,Ayse (TMCP TAs) BIP-DE-B" initials="SB" lastIdx="2" clrIdx="2">
    <p:extLst>
      <p:ext uri="{19B8F6BF-5375-455C-9EA6-DF929625EA0E}">
        <p15:presenceInfo xmlns:p15="http://schemas.microsoft.com/office/powerpoint/2012/main" userId="S::ayse.sahaboglu@boehringer-ingelheim.com::745bff41-f132-4c42-a5d8-e58c0781cdae" providerId="AD"/>
      </p:ext>
    </p:extLst>
  </p:cmAuthor>
  <p:cmAuthor id="4" name="Liang,Sarah (HP Medicine) BII-CN-S" initials="SL" lastIdx="1" clrIdx="3">
    <p:extLst>
      <p:ext uri="{19B8F6BF-5375-455C-9EA6-DF929625EA0E}">
        <p15:presenceInfo xmlns:p15="http://schemas.microsoft.com/office/powerpoint/2012/main" userId="S::sarah.liang@boehringer-ingelheim.com::b5b94567-963a-4c9d-af99-146fb15290a2" providerId="AD"/>
      </p:ext>
    </p:extLst>
  </p:cmAuthor>
  <p:cmAuthor id="5" name="Xiao,Jingbo (HP Medicine) BII-CN-S" initials="JX" lastIdx="1" clrIdx="4">
    <p:extLst>
      <p:ext uri="{19B8F6BF-5375-455C-9EA6-DF929625EA0E}">
        <p15:presenceInfo xmlns:p15="http://schemas.microsoft.com/office/powerpoint/2012/main" userId="S::jingbo.xiao@boehringer-ingelheim.com::240cea10-594f-4a4d-87cc-57b72bd70599" providerId="AD"/>
      </p:ext>
    </p:extLst>
  </p:cmAuthor>
  <p:cmAuthor id="6" name="Zhu,Dr.,Freya (HP Medicine) BII-CN-S" initials="SZ" lastIdx="3" clrIdx="5">
    <p:extLst>
      <p:ext uri="{19B8F6BF-5375-455C-9EA6-DF929625EA0E}">
        <p15:presenceInfo xmlns:p15="http://schemas.microsoft.com/office/powerpoint/2012/main" userId="S::freya.zhu@boehringer-ingelheim.com::ba7ac7f0-888b-42e4-ba04-1b1f5a94986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02060"/>
    <a:srgbClr val="405888"/>
    <a:srgbClr val="D6EAEC"/>
    <a:srgbClr val="F0F0F0"/>
    <a:srgbClr val="F9F9F9"/>
    <a:srgbClr val="D5E9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357DFF-2CB3-4498-8D14-E0F900D463AD}" v="2" dt="2025-12-19T06:32:06.36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74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 Type="http://schemas.openxmlformats.org/officeDocument/2006/relationships/customXml" Target="../customXml/item3.xml"/><Relationship Id="rId21" Type="http://schemas.openxmlformats.org/officeDocument/2006/relationships/slide" Target="slides/slide16.xml"/><Relationship Id="rId34" Type="http://schemas.microsoft.com/office/2015/10/relationships/revisionInfo" Target="revisionInfo.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commentAuthors" Target="commentAuthor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notesMaster" Target="notesMasters/notesMaster1.xml"/><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u,Dr.,Freya (HP Medicine) BII-CN-S" userId="ba7ac7f0-888b-42e4-ba04-1b1f5a949861" providerId="ADAL" clId="{531400F0-CFF9-4D10-860F-C34EE8FC565A}"/>
    <pc:docChg chg="undo redo custSel addSld modSld">
      <pc:chgData name="Zhu,Dr.,Freya (HP Medicine) BII-CN-S" userId="ba7ac7f0-888b-42e4-ba04-1b1f5a949861" providerId="ADAL" clId="{531400F0-CFF9-4D10-860F-C34EE8FC565A}" dt="2025-12-19T06:32:09.463" v="2519" actId="20577"/>
      <pc:docMkLst>
        <pc:docMk/>
      </pc:docMkLst>
      <pc:sldChg chg="addSp delSp modSp new mod modShow">
        <pc:chgData name="Zhu,Dr.,Freya (HP Medicine) BII-CN-S" userId="ba7ac7f0-888b-42e4-ba04-1b1f5a949861" providerId="ADAL" clId="{531400F0-CFF9-4D10-860F-C34EE8FC565A}" dt="2025-12-11T02:20:24.411" v="1620" actId="1076"/>
        <pc:sldMkLst>
          <pc:docMk/>
          <pc:sldMk cId="3589241233" sldId="256"/>
        </pc:sldMkLst>
        <pc:spChg chg="mod">
          <ac:chgData name="Zhu,Dr.,Freya (HP Medicine) BII-CN-S" userId="ba7ac7f0-888b-42e4-ba04-1b1f5a949861" providerId="ADAL" clId="{531400F0-CFF9-4D10-860F-C34EE8FC565A}" dt="2025-12-11T02:16:47.699" v="1551" actId="5793"/>
          <ac:spMkLst>
            <pc:docMk/>
            <pc:sldMk cId="3589241233" sldId="256"/>
            <ac:spMk id="2" creationId="{630B8DD5-A6EE-7FA8-C556-1E463E9C9434}"/>
          </ac:spMkLst>
        </pc:spChg>
        <pc:spChg chg="add mod">
          <ac:chgData name="Zhu,Dr.,Freya (HP Medicine) BII-CN-S" userId="ba7ac7f0-888b-42e4-ba04-1b1f5a949861" providerId="ADAL" clId="{531400F0-CFF9-4D10-860F-C34EE8FC565A}" dt="2025-12-11T02:20:04.536" v="1618" actId="20577"/>
          <ac:spMkLst>
            <pc:docMk/>
            <pc:sldMk cId="3589241233" sldId="256"/>
            <ac:spMk id="13" creationId="{2DB78041-F27D-0523-7BBD-22D227C44D64}"/>
          </ac:spMkLst>
        </pc:spChg>
        <pc:picChg chg="add mod">
          <ac:chgData name="Zhu,Dr.,Freya (HP Medicine) BII-CN-S" userId="ba7ac7f0-888b-42e4-ba04-1b1f5a949861" providerId="ADAL" clId="{531400F0-CFF9-4D10-860F-C34EE8FC565A}" dt="2025-12-11T02:20:22.193" v="1619" actId="1076"/>
          <ac:picMkLst>
            <pc:docMk/>
            <pc:sldMk cId="3589241233" sldId="256"/>
            <ac:picMk id="7" creationId="{0F27EF70-CAB8-3C56-2744-9BE160200E4C}"/>
          </ac:picMkLst>
        </pc:picChg>
        <pc:picChg chg="add mod">
          <ac:chgData name="Zhu,Dr.,Freya (HP Medicine) BII-CN-S" userId="ba7ac7f0-888b-42e4-ba04-1b1f5a949861" providerId="ADAL" clId="{531400F0-CFF9-4D10-860F-C34EE8FC565A}" dt="2025-12-11T02:20:24.411" v="1620" actId="1076"/>
          <ac:picMkLst>
            <pc:docMk/>
            <pc:sldMk cId="3589241233" sldId="256"/>
            <ac:picMk id="9" creationId="{861C52C5-6260-1660-E241-303A8F521E5E}"/>
          </ac:picMkLst>
        </pc:picChg>
        <pc:picChg chg="add mod modCrop">
          <ac:chgData name="Zhu,Dr.,Freya (HP Medicine) BII-CN-S" userId="ba7ac7f0-888b-42e4-ba04-1b1f5a949861" providerId="ADAL" clId="{531400F0-CFF9-4D10-860F-C34EE8FC565A}" dt="2025-12-11T02:17:29.782" v="1561" actId="1076"/>
          <ac:picMkLst>
            <pc:docMk/>
            <pc:sldMk cId="3589241233" sldId="256"/>
            <ac:picMk id="11" creationId="{77C92068-74BD-F2FF-B17B-509B5C876E09}"/>
          </ac:picMkLst>
        </pc:picChg>
      </pc:sldChg>
      <pc:sldChg chg="modSp mod">
        <pc:chgData name="Zhu,Dr.,Freya (HP Medicine) BII-CN-S" userId="ba7ac7f0-888b-42e4-ba04-1b1f5a949861" providerId="ADAL" clId="{531400F0-CFF9-4D10-860F-C34EE8FC565A}" dt="2025-12-19T06:32:09.463" v="2519" actId="20577"/>
        <pc:sldMkLst>
          <pc:docMk/>
          <pc:sldMk cId="2835965211" sldId="2147483646"/>
        </pc:sldMkLst>
        <pc:spChg chg="mod">
          <ac:chgData name="Zhu,Dr.,Freya (HP Medicine) BII-CN-S" userId="ba7ac7f0-888b-42e4-ba04-1b1f5a949861" providerId="ADAL" clId="{531400F0-CFF9-4D10-860F-C34EE8FC565A}" dt="2025-12-19T06:32:09.463" v="2519" actId="20577"/>
          <ac:spMkLst>
            <pc:docMk/>
            <pc:sldMk cId="2835965211" sldId="2147483646"/>
            <ac:spMk id="312" creationId="{931AEC1D-8E48-60AF-D0C2-9D75A18E515E}"/>
          </ac:spMkLst>
        </pc:spChg>
      </pc:sldChg>
    </pc:docChg>
  </pc:docChgLst>
  <pc:docChgLst>
    <pc:chgData name="Liu,Dr.,Meiruo (HP Medicine) BII-CN-S" userId="ece9aa16-5bba-4d2f-b200-019c8e2ba0a0" providerId="ADAL" clId="{7AE74376-5C31-4B5A-9670-ACD085A29F44}"/>
    <pc:docChg chg="undo redo custSel addSld delSld modSld sldOrd delMainMaster">
      <pc:chgData name="Liu,Dr.,Meiruo (HP Medicine) BII-CN-S" userId="ece9aa16-5bba-4d2f-b200-019c8e2ba0a0" providerId="ADAL" clId="{7AE74376-5C31-4B5A-9670-ACD085A29F44}" dt="2025-12-15T04:51:48.547" v="7816" actId="1038"/>
      <pc:docMkLst>
        <pc:docMk/>
      </pc:docMkLst>
      <pc:sldChg chg="modSp mod">
        <pc:chgData name="Liu,Dr.,Meiruo (HP Medicine) BII-CN-S" userId="ece9aa16-5bba-4d2f-b200-019c8e2ba0a0" providerId="ADAL" clId="{7AE74376-5C31-4B5A-9670-ACD085A29F44}" dt="2025-12-12T01:08:25.400" v="5374" actId="6549"/>
        <pc:sldMkLst>
          <pc:docMk/>
          <pc:sldMk cId="3380180432" sldId="9849"/>
        </pc:sldMkLst>
        <pc:spChg chg="mod">
          <ac:chgData name="Liu,Dr.,Meiruo (HP Medicine) BII-CN-S" userId="ece9aa16-5bba-4d2f-b200-019c8e2ba0a0" providerId="ADAL" clId="{7AE74376-5C31-4B5A-9670-ACD085A29F44}" dt="2025-12-12T01:08:25.400" v="5374" actId="6549"/>
          <ac:spMkLst>
            <pc:docMk/>
            <pc:sldMk cId="3380180432" sldId="9849"/>
            <ac:spMk id="3" creationId="{692796CB-E2C8-8508-DF5A-FC10693F0AFB}"/>
          </ac:spMkLst>
        </pc:spChg>
      </pc:sldChg>
      <pc:sldChg chg="mod modShow">
        <pc:chgData name="Liu,Dr.,Meiruo (HP Medicine) BII-CN-S" userId="ece9aa16-5bba-4d2f-b200-019c8e2ba0a0" providerId="ADAL" clId="{7AE74376-5C31-4B5A-9670-ACD085A29F44}" dt="2025-12-12T05:18:52.949" v="7045" actId="729"/>
        <pc:sldMkLst>
          <pc:docMk/>
          <pc:sldMk cId="251418594" sldId="9850"/>
        </pc:sldMkLst>
      </pc:sldChg>
      <pc:sldChg chg="mod modShow">
        <pc:chgData name="Liu,Dr.,Meiruo (HP Medicine) BII-CN-S" userId="ece9aa16-5bba-4d2f-b200-019c8e2ba0a0" providerId="ADAL" clId="{7AE74376-5C31-4B5A-9670-ACD085A29F44}" dt="2025-12-12T05:18:56.607" v="7046" actId="729"/>
        <pc:sldMkLst>
          <pc:docMk/>
          <pc:sldMk cId="884968604" sldId="9856"/>
        </pc:sldMkLst>
      </pc:sldChg>
      <pc:sldChg chg="delSp modSp add mod ord modNotesTx">
        <pc:chgData name="Liu,Dr.,Meiruo (HP Medicine) BII-CN-S" userId="ece9aa16-5bba-4d2f-b200-019c8e2ba0a0" providerId="ADAL" clId="{7AE74376-5C31-4B5A-9670-ACD085A29F44}" dt="2025-12-15T04:51:24.353" v="7787" actId="1038"/>
        <pc:sldMkLst>
          <pc:docMk/>
          <pc:sldMk cId="1159963927" sldId="2147377127"/>
        </pc:sldMkLst>
        <pc:spChg chg="mod">
          <ac:chgData name="Liu,Dr.,Meiruo (HP Medicine) BII-CN-S" userId="ece9aa16-5bba-4d2f-b200-019c8e2ba0a0" providerId="ADAL" clId="{7AE74376-5C31-4B5A-9670-ACD085A29F44}" dt="2025-12-12T03:53:10.389" v="6198" actId="14"/>
          <ac:spMkLst>
            <pc:docMk/>
            <pc:sldMk cId="1159963927" sldId="2147377127"/>
            <ac:spMk id="224" creationId="{CFC75FA6-FDEB-F4F3-CE22-DDDB6675CBA5}"/>
          </ac:spMkLst>
        </pc:spChg>
        <pc:grpChg chg="mod">
          <ac:chgData name="Liu,Dr.,Meiruo (HP Medicine) BII-CN-S" userId="ece9aa16-5bba-4d2f-b200-019c8e2ba0a0" providerId="ADAL" clId="{7AE74376-5C31-4B5A-9670-ACD085A29F44}" dt="2025-12-15T04:51:24.353" v="7787" actId="1038"/>
          <ac:grpSpMkLst>
            <pc:docMk/>
            <pc:sldMk cId="1159963927" sldId="2147377127"/>
            <ac:grpSpMk id="248" creationId="{6F799B9F-71D1-37D2-8833-8B70C84229FD}"/>
          </ac:grpSpMkLst>
        </pc:grpChg>
      </pc:sldChg>
      <pc:sldChg chg="modSp add del mod ord">
        <pc:chgData name="Liu,Dr.,Meiruo (HP Medicine) BII-CN-S" userId="ece9aa16-5bba-4d2f-b200-019c8e2ba0a0" providerId="ADAL" clId="{7AE74376-5C31-4B5A-9670-ACD085A29F44}" dt="2025-12-15T04:51:36.923" v="7804" actId="1038"/>
        <pc:sldMkLst>
          <pc:docMk/>
          <pc:sldMk cId="2465064741" sldId="2147483619"/>
        </pc:sldMkLst>
        <pc:spChg chg="mod">
          <ac:chgData name="Liu,Dr.,Meiruo (HP Medicine) BII-CN-S" userId="ece9aa16-5bba-4d2f-b200-019c8e2ba0a0" providerId="ADAL" clId="{7AE74376-5C31-4B5A-9670-ACD085A29F44}" dt="2025-12-14T13:43:09.242" v="7781" actId="14100"/>
          <ac:spMkLst>
            <pc:docMk/>
            <pc:sldMk cId="2465064741" sldId="2147483619"/>
            <ac:spMk id="2" creationId="{27964B61-0972-7D90-4DBE-9C8E909C4332}"/>
          </ac:spMkLst>
        </pc:spChg>
        <pc:spChg chg="mod">
          <ac:chgData name="Liu,Dr.,Meiruo (HP Medicine) BII-CN-S" userId="ece9aa16-5bba-4d2f-b200-019c8e2ba0a0" providerId="ADAL" clId="{7AE74376-5C31-4B5A-9670-ACD085A29F44}" dt="2025-12-14T13:43:26.744" v="7782" actId="13926"/>
          <ac:spMkLst>
            <pc:docMk/>
            <pc:sldMk cId="2465064741" sldId="2147483619"/>
            <ac:spMk id="15" creationId="{6F878770-AF10-8852-77D1-28B2A3D1C732}"/>
          </ac:spMkLst>
        </pc:spChg>
        <pc:spChg chg="mod">
          <ac:chgData name="Liu,Dr.,Meiruo (HP Medicine) BII-CN-S" userId="ece9aa16-5bba-4d2f-b200-019c8e2ba0a0" providerId="ADAL" clId="{7AE74376-5C31-4B5A-9670-ACD085A29F44}" dt="2025-12-12T04:28:26.306" v="6569" actId="20577"/>
          <ac:spMkLst>
            <pc:docMk/>
            <pc:sldMk cId="2465064741" sldId="2147483619"/>
            <ac:spMk id="310" creationId="{3FD03AF4-575A-567A-273B-692E8397B0FC}"/>
          </ac:spMkLst>
        </pc:spChg>
        <pc:spChg chg="mod ord">
          <ac:chgData name="Liu,Dr.,Meiruo (HP Medicine) BII-CN-S" userId="ece9aa16-5bba-4d2f-b200-019c8e2ba0a0" providerId="ADAL" clId="{7AE74376-5C31-4B5A-9670-ACD085A29F44}" dt="2025-12-12T04:33:09.227" v="6889" actId="20577"/>
          <ac:spMkLst>
            <pc:docMk/>
            <pc:sldMk cId="2465064741" sldId="2147483619"/>
            <ac:spMk id="312" creationId="{6A60ADB5-A864-167C-154A-A1DEF137F3D6}"/>
          </ac:spMkLst>
        </pc:spChg>
        <pc:grpChg chg="mod">
          <ac:chgData name="Liu,Dr.,Meiruo (HP Medicine) BII-CN-S" userId="ece9aa16-5bba-4d2f-b200-019c8e2ba0a0" providerId="ADAL" clId="{7AE74376-5C31-4B5A-9670-ACD085A29F44}" dt="2025-12-15T04:51:36.923" v="7804" actId="1038"/>
          <ac:grpSpMkLst>
            <pc:docMk/>
            <pc:sldMk cId="2465064741" sldId="2147483619"/>
            <ac:grpSpMk id="290" creationId="{B25396D2-01AC-22B9-E93F-03F8AE980D30}"/>
          </ac:grpSpMkLst>
        </pc:grpChg>
      </pc:sldChg>
      <pc:sldChg chg="addSp delSp modSp mod modShow">
        <pc:chgData name="Liu,Dr.,Meiruo (HP Medicine) BII-CN-S" userId="ece9aa16-5bba-4d2f-b200-019c8e2ba0a0" providerId="ADAL" clId="{7AE74376-5C31-4B5A-9670-ACD085A29F44}" dt="2025-12-12T09:19:00.995" v="7606" actId="14100"/>
        <pc:sldMkLst>
          <pc:docMk/>
          <pc:sldMk cId="1146060993" sldId="2147483626"/>
        </pc:sldMkLst>
        <pc:spChg chg="mod">
          <ac:chgData name="Liu,Dr.,Meiruo (HP Medicine) BII-CN-S" userId="ece9aa16-5bba-4d2f-b200-019c8e2ba0a0" providerId="ADAL" clId="{7AE74376-5C31-4B5A-9670-ACD085A29F44}" dt="2025-12-12T09:19:00.995" v="7606" actId="14100"/>
          <ac:spMkLst>
            <pc:docMk/>
            <pc:sldMk cId="1146060993" sldId="2147483626"/>
            <ac:spMk id="12" creationId="{EB9EC48E-2C45-E507-7AC6-EA44F57620F8}"/>
          </ac:spMkLst>
        </pc:spChg>
        <pc:spChg chg="mod">
          <ac:chgData name="Liu,Dr.,Meiruo (HP Medicine) BII-CN-S" userId="ece9aa16-5bba-4d2f-b200-019c8e2ba0a0" providerId="ADAL" clId="{7AE74376-5C31-4B5A-9670-ACD085A29F44}" dt="2025-12-12T09:17:48.192" v="7604" actId="1035"/>
          <ac:spMkLst>
            <pc:docMk/>
            <pc:sldMk cId="1146060993" sldId="2147483626"/>
            <ac:spMk id="27" creationId="{5C2050C1-12A0-F942-A09C-FEC1455AF2C4}"/>
          </ac:spMkLst>
        </pc:spChg>
        <pc:picChg chg="mod">
          <ac:chgData name="Liu,Dr.,Meiruo (HP Medicine) BII-CN-S" userId="ece9aa16-5bba-4d2f-b200-019c8e2ba0a0" providerId="ADAL" clId="{7AE74376-5C31-4B5A-9670-ACD085A29F44}" dt="2025-12-12T05:22:23.050" v="7110" actId="1036"/>
          <ac:picMkLst>
            <pc:docMk/>
            <pc:sldMk cId="1146060993" sldId="2147483626"/>
            <ac:picMk id="5" creationId="{C38FF323-3E5C-B59D-7DD8-9B3EBE9530F6}"/>
          </ac:picMkLst>
        </pc:picChg>
        <pc:picChg chg="add mod ord">
          <ac:chgData name="Liu,Dr.,Meiruo (HP Medicine) BII-CN-S" userId="ece9aa16-5bba-4d2f-b200-019c8e2ba0a0" providerId="ADAL" clId="{7AE74376-5C31-4B5A-9670-ACD085A29F44}" dt="2025-12-12T05:20:52.536" v="7056" actId="14100"/>
          <ac:picMkLst>
            <pc:docMk/>
            <pc:sldMk cId="1146060993" sldId="2147483626"/>
            <ac:picMk id="8" creationId="{391E5BFF-9B99-E0F5-22BA-0B9A0AE7C36C}"/>
          </ac:picMkLst>
        </pc:picChg>
      </pc:sldChg>
      <pc:sldChg chg="mod modShow">
        <pc:chgData name="Liu,Dr.,Meiruo (HP Medicine) BII-CN-S" userId="ece9aa16-5bba-4d2f-b200-019c8e2ba0a0" providerId="ADAL" clId="{7AE74376-5C31-4B5A-9670-ACD085A29F44}" dt="2025-12-12T03:28:54.386" v="5777" actId="729"/>
        <pc:sldMkLst>
          <pc:docMk/>
          <pc:sldMk cId="2399862224" sldId="2147483631"/>
        </pc:sldMkLst>
      </pc:sldChg>
      <pc:sldChg chg="addSp delSp modSp add del mod ord">
        <pc:chgData name="Liu,Dr.,Meiruo (HP Medicine) BII-CN-S" userId="ece9aa16-5bba-4d2f-b200-019c8e2ba0a0" providerId="ADAL" clId="{7AE74376-5C31-4B5A-9670-ACD085A29F44}" dt="2025-12-15T04:51:31.662" v="7796" actId="1038"/>
        <pc:sldMkLst>
          <pc:docMk/>
          <pc:sldMk cId="1527139656" sldId="2147483636"/>
        </pc:sldMkLst>
        <pc:spChg chg="mod">
          <ac:chgData name="Liu,Dr.,Meiruo (HP Medicine) BII-CN-S" userId="ece9aa16-5bba-4d2f-b200-019c8e2ba0a0" providerId="ADAL" clId="{7AE74376-5C31-4B5A-9670-ACD085A29F44}" dt="2025-12-14T13:40:55.185" v="7780" actId="13926"/>
          <ac:spMkLst>
            <pc:docMk/>
            <pc:sldMk cId="1527139656" sldId="2147483636"/>
            <ac:spMk id="7" creationId="{B1EE8699-A94D-27CE-B0CA-02B125823D7A}"/>
          </ac:spMkLst>
        </pc:spChg>
        <pc:spChg chg="mod">
          <ac:chgData name="Liu,Dr.,Meiruo (HP Medicine) BII-CN-S" userId="ece9aa16-5bba-4d2f-b200-019c8e2ba0a0" providerId="ADAL" clId="{7AE74376-5C31-4B5A-9670-ACD085A29F44}" dt="2025-12-12T05:10:48.959" v="7022" actId="207"/>
          <ac:spMkLst>
            <pc:docMk/>
            <pc:sldMk cId="1527139656" sldId="2147483636"/>
            <ac:spMk id="310" creationId="{79EFBEE8-7077-7835-C37D-53EFB4A34CE9}"/>
          </ac:spMkLst>
        </pc:spChg>
        <pc:spChg chg="mod">
          <ac:chgData name="Liu,Dr.,Meiruo (HP Medicine) BII-CN-S" userId="ece9aa16-5bba-4d2f-b200-019c8e2ba0a0" providerId="ADAL" clId="{7AE74376-5C31-4B5A-9670-ACD085A29F44}" dt="2025-12-12T05:12:10.242" v="7042" actId="1076"/>
          <ac:spMkLst>
            <pc:docMk/>
            <pc:sldMk cId="1527139656" sldId="2147483636"/>
            <ac:spMk id="312" creationId="{B82A092A-FDC5-E6CC-1758-7CC59A17A7EA}"/>
          </ac:spMkLst>
        </pc:spChg>
        <pc:grpChg chg="mod">
          <ac:chgData name="Liu,Dr.,Meiruo (HP Medicine) BII-CN-S" userId="ece9aa16-5bba-4d2f-b200-019c8e2ba0a0" providerId="ADAL" clId="{7AE74376-5C31-4B5A-9670-ACD085A29F44}" dt="2025-12-15T04:51:31.662" v="7796" actId="1038"/>
          <ac:grpSpMkLst>
            <pc:docMk/>
            <pc:sldMk cId="1527139656" sldId="2147483636"/>
            <ac:grpSpMk id="227" creationId="{C5843D3C-152A-21AD-D211-072FBE414710}"/>
          </ac:grpSpMkLst>
        </pc:grpChg>
      </pc:sldChg>
      <pc:sldChg chg="modSp add mod modShow">
        <pc:chgData name="Liu,Dr.,Meiruo (HP Medicine) BII-CN-S" userId="ece9aa16-5bba-4d2f-b200-019c8e2ba0a0" providerId="ADAL" clId="{7AE74376-5C31-4B5A-9670-ACD085A29F44}" dt="2025-12-12T06:18:47.023" v="7572" actId="12"/>
        <pc:sldMkLst>
          <pc:docMk/>
          <pc:sldMk cId="416498405" sldId="2147483638"/>
        </pc:sldMkLst>
        <pc:spChg chg="mod">
          <ac:chgData name="Liu,Dr.,Meiruo (HP Medicine) BII-CN-S" userId="ece9aa16-5bba-4d2f-b200-019c8e2ba0a0" providerId="ADAL" clId="{7AE74376-5C31-4B5A-9670-ACD085A29F44}" dt="2025-12-12T06:16:14.319" v="7368" actId="20577"/>
          <ac:spMkLst>
            <pc:docMk/>
            <pc:sldMk cId="416498405" sldId="2147483638"/>
            <ac:spMk id="251" creationId="{2E1F911C-1A84-F0F0-4D7A-B3A7795B885B}"/>
          </ac:spMkLst>
        </pc:spChg>
        <pc:spChg chg="mod">
          <ac:chgData name="Liu,Dr.,Meiruo (HP Medicine) BII-CN-S" userId="ece9aa16-5bba-4d2f-b200-019c8e2ba0a0" providerId="ADAL" clId="{7AE74376-5C31-4B5A-9670-ACD085A29F44}" dt="2025-12-12T06:18:47.023" v="7572" actId="12"/>
          <ac:spMkLst>
            <pc:docMk/>
            <pc:sldMk cId="416498405" sldId="2147483638"/>
            <ac:spMk id="310" creationId="{3A621BA0-8FC8-2D19-E343-357E8B5276CA}"/>
          </ac:spMkLst>
        </pc:spChg>
        <pc:grpChg chg="mod">
          <ac:chgData name="Liu,Dr.,Meiruo (HP Medicine) BII-CN-S" userId="ece9aa16-5bba-4d2f-b200-019c8e2ba0a0" providerId="ADAL" clId="{7AE74376-5C31-4B5A-9670-ACD085A29F44}" dt="2025-12-12T06:14:51.650" v="7361" actId="1038"/>
          <ac:grpSpMkLst>
            <pc:docMk/>
            <pc:sldMk cId="416498405" sldId="2147483638"/>
            <ac:grpSpMk id="248" creationId="{83338F01-ABEF-3CD7-3528-53743E582163}"/>
          </ac:grpSpMkLst>
        </pc:grpChg>
      </pc:sldChg>
      <pc:sldChg chg="modSp add mod ord">
        <pc:chgData name="Liu,Dr.,Meiruo (HP Medicine) BII-CN-S" userId="ece9aa16-5bba-4d2f-b200-019c8e2ba0a0" providerId="ADAL" clId="{7AE74376-5C31-4B5A-9670-ACD085A29F44}" dt="2025-12-12T06:14:43.985" v="7349" actId="1038"/>
        <pc:sldMkLst>
          <pc:docMk/>
          <pc:sldMk cId="3049262843" sldId="2147483639"/>
        </pc:sldMkLst>
        <pc:spChg chg="mod ord">
          <ac:chgData name="Liu,Dr.,Meiruo (HP Medicine) BII-CN-S" userId="ece9aa16-5bba-4d2f-b200-019c8e2ba0a0" providerId="ADAL" clId="{7AE74376-5C31-4B5A-9670-ACD085A29F44}" dt="2025-12-12T05:52:16.380" v="7249" actId="1076"/>
          <ac:spMkLst>
            <pc:docMk/>
            <pc:sldMk cId="3049262843" sldId="2147483639"/>
            <ac:spMk id="310" creationId="{9CE06C17-EF59-AFE3-92B8-DE5E347FDBAE}"/>
          </ac:spMkLst>
        </pc:spChg>
        <pc:spChg chg="mod">
          <ac:chgData name="Liu,Dr.,Meiruo (HP Medicine) BII-CN-S" userId="ece9aa16-5bba-4d2f-b200-019c8e2ba0a0" providerId="ADAL" clId="{7AE74376-5C31-4B5A-9670-ACD085A29F44}" dt="2025-12-12T05:59:58.327" v="7323" actId="20577"/>
          <ac:spMkLst>
            <pc:docMk/>
            <pc:sldMk cId="3049262843" sldId="2147483639"/>
            <ac:spMk id="312" creationId="{F681F3D6-A271-DB4E-E8ED-E1E0BD2AC357}"/>
          </ac:spMkLst>
        </pc:spChg>
        <pc:grpChg chg="mod">
          <ac:chgData name="Liu,Dr.,Meiruo (HP Medicine) BII-CN-S" userId="ece9aa16-5bba-4d2f-b200-019c8e2ba0a0" providerId="ADAL" clId="{7AE74376-5C31-4B5A-9670-ACD085A29F44}" dt="2025-12-12T06:14:43.985" v="7349" actId="1038"/>
          <ac:grpSpMkLst>
            <pc:docMk/>
            <pc:sldMk cId="3049262843" sldId="2147483639"/>
            <ac:grpSpMk id="248" creationId="{2FEA1C50-1E2B-1ECE-A41D-F63D8F4686E4}"/>
          </ac:grpSpMkLst>
        </pc:grpChg>
      </pc:sldChg>
      <pc:sldChg chg="addSp modSp add mod modShow">
        <pc:chgData name="Liu,Dr.,Meiruo (HP Medicine) BII-CN-S" userId="ece9aa16-5bba-4d2f-b200-019c8e2ba0a0" providerId="ADAL" clId="{7AE74376-5C31-4B5A-9670-ACD085A29F44}" dt="2025-12-15T04:51:48.547" v="7816" actId="1038"/>
        <pc:sldMkLst>
          <pc:docMk/>
          <pc:sldMk cId="4083202269" sldId="2147483640"/>
        </pc:sldMkLst>
        <pc:spChg chg="mod">
          <ac:chgData name="Liu,Dr.,Meiruo (HP Medicine) BII-CN-S" userId="ece9aa16-5bba-4d2f-b200-019c8e2ba0a0" providerId="ADAL" clId="{7AE74376-5C31-4B5A-9670-ACD085A29F44}" dt="2025-12-12T06:19:48.387" v="7574" actId="13926"/>
          <ac:spMkLst>
            <pc:docMk/>
            <pc:sldMk cId="4083202269" sldId="2147483640"/>
            <ac:spMk id="12" creationId="{EEF37EFE-FDD8-127B-CB20-A871D0C3DAAD}"/>
          </ac:spMkLst>
        </pc:spChg>
        <pc:spChg chg="mod">
          <ac:chgData name="Liu,Dr.,Meiruo (HP Medicine) BII-CN-S" userId="ece9aa16-5bba-4d2f-b200-019c8e2ba0a0" providerId="ADAL" clId="{7AE74376-5C31-4B5A-9670-ACD085A29F44}" dt="2025-12-12T06:19:44.215" v="7573" actId="13926"/>
          <ac:spMkLst>
            <pc:docMk/>
            <pc:sldMk cId="4083202269" sldId="2147483640"/>
            <ac:spMk id="310" creationId="{35A4BD12-71A0-4F48-08FB-844026E54D94}"/>
          </ac:spMkLst>
        </pc:spChg>
        <pc:grpChg chg="mod">
          <ac:chgData name="Liu,Dr.,Meiruo (HP Medicine) BII-CN-S" userId="ece9aa16-5bba-4d2f-b200-019c8e2ba0a0" providerId="ADAL" clId="{7AE74376-5C31-4B5A-9670-ACD085A29F44}" dt="2025-12-15T04:51:48.547" v="7816" actId="1038"/>
          <ac:grpSpMkLst>
            <pc:docMk/>
            <pc:sldMk cId="4083202269" sldId="2147483640"/>
            <ac:grpSpMk id="248" creationId="{1940D23F-7512-4EE8-0451-3CF5FBF55F72}"/>
          </ac:grpSpMkLst>
        </pc:grpChg>
      </pc:sldChg>
      <pc:sldChg chg="modSp mod">
        <pc:chgData name="Liu,Dr.,Meiruo (HP Medicine) BII-CN-S" userId="ece9aa16-5bba-4d2f-b200-019c8e2ba0a0" providerId="ADAL" clId="{7AE74376-5C31-4B5A-9670-ACD085A29F44}" dt="2025-12-12T06:20:49.850" v="7575" actId="13926"/>
        <pc:sldMkLst>
          <pc:docMk/>
          <pc:sldMk cId="2095078326" sldId="2147483645"/>
        </pc:sldMkLst>
        <pc:graphicFrameChg chg="modGraphic">
          <ac:chgData name="Liu,Dr.,Meiruo (HP Medicine) BII-CN-S" userId="ece9aa16-5bba-4d2f-b200-019c8e2ba0a0" providerId="ADAL" clId="{7AE74376-5C31-4B5A-9670-ACD085A29F44}" dt="2025-12-12T06:20:49.850" v="7575" actId="13926"/>
          <ac:graphicFrameMkLst>
            <pc:docMk/>
            <pc:sldMk cId="2095078326" sldId="2147483645"/>
            <ac:graphicFrameMk id="7" creationId="{5DD7B900-FCC7-19CC-3395-F642AA9955AD}"/>
          </ac:graphicFrameMkLst>
        </pc:graphicFrameChg>
      </pc:sldChg>
      <pc:sldChg chg="modSp add mod">
        <pc:chgData name="Liu,Dr.,Meiruo (HP Medicine) BII-CN-S" userId="ece9aa16-5bba-4d2f-b200-019c8e2ba0a0" providerId="ADAL" clId="{7AE74376-5C31-4B5A-9670-ACD085A29F44}" dt="2025-12-12T09:54:11.635" v="7774" actId="14100"/>
        <pc:sldMkLst>
          <pc:docMk/>
          <pc:sldMk cId="2835965211" sldId="2147483646"/>
        </pc:sldMkLst>
        <pc:spChg chg="mod">
          <ac:chgData name="Liu,Dr.,Meiruo (HP Medicine) BII-CN-S" userId="ece9aa16-5bba-4d2f-b200-019c8e2ba0a0" providerId="ADAL" clId="{7AE74376-5C31-4B5A-9670-ACD085A29F44}" dt="2025-12-12T09:52:36.546" v="7734" actId="20577"/>
          <ac:spMkLst>
            <pc:docMk/>
            <pc:sldMk cId="2835965211" sldId="2147483646"/>
            <ac:spMk id="310" creationId="{BA920182-1D07-BD4E-A814-04F315BE459F}"/>
          </ac:spMkLst>
        </pc:spChg>
        <pc:spChg chg="mod">
          <ac:chgData name="Liu,Dr.,Meiruo (HP Medicine) BII-CN-S" userId="ece9aa16-5bba-4d2f-b200-019c8e2ba0a0" providerId="ADAL" clId="{7AE74376-5C31-4B5A-9670-ACD085A29F44}" dt="2025-12-12T09:54:11.635" v="7774" actId="14100"/>
          <ac:spMkLst>
            <pc:docMk/>
            <pc:sldMk cId="2835965211" sldId="2147483646"/>
            <ac:spMk id="312" creationId="{931AEC1D-8E48-60AF-D0C2-9D75A18E515E}"/>
          </ac:spMkLst>
        </pc:spChg>
        <pc:grpChg chg="mod">
          <ac:chgData name="Liu,Dr.,Meiruo (HP Medicine) BII-CN-S" userId="ece9aa16-5bba-4d2f-b200-019c8e2ba0a0" providerId="ADAL" clId="{7AE74376-5C31-4B5A-9670-ACD085A29F44}" dt="2025-12-12T09:52:05.202" v="7712" actId="1037"/>
          <ac:grpSpMkLst>
            <pc:docMk/>
            <pc:sldMk cId="2835965211" sldId="2147483646"/>
            <ac:grpSpMk id="270" creationId="{0848280D-86A2-A0B5-DE17-3C780F22C1BC}"/>
          </ac:grpSpMkLst>
        </pc:grpChg>
      </pc:sldChg>
      <pc:sldChg chg="modSp add mod">
        <pc:chgData name="Liu,Dr.,Meiruo (HP Medicine) BII-CN-S" userId="ece9aa16-5bba-4d2f-b200-019c8e2ba0a0" providerId="ADAL" clId="{7AE74376-5C31-4B5A-9670-ACD085A29F44}" dt="2025-12-12T09:57:28.870" v="7779" actId="14100"/>
        <pc:sldMkLst>
          <pc:docMk/>
          <pc:sldMk cId="2798979907" sldId="2147483647"/>
        </pc:sldMkLst>
        <pc:spChg chg="mod">
          <ac:chgData name="Liu,Dr.,Meiruo (HP Medicine) BII-CN-S" userId="ece9aa16-5bba-4d2f-b200-019c8e2ba0a0" providerId="ADAL" clId="{7AE74376-5C31-4B5A-9670-ACD085A29F44}" dt="2025-12-12T09:57:28.870" v="7779" actId="14100"/>
          <ac:spMkLst>
            <pc:docMk/>
            <pc:sldMk cId="2798979907" sldId="2147483647"/>
            <ac:spMk id="8" creationId="{6A4112AC-4F78-C74A-7262-C2ECBE155952}"/>
          </ac:spMkLst>
        </pc:spChg>
      </pc:sldChg>
    </pc:docChg>
  </pc:docChgLst>
  <pc:docChgLst>
    <pc:chgData name="Xiao,Jingbo (HP Medicine) BII-CN-S" userId="S::jingbo.xiao@boehringer-ingelheim.com::240cea10-594f-4a4d-87cc-57b72bd70599" providerId="AD" clId="Web-{8262A313-0720-942A-6956-6360AA58B448}"/>
    <pc:docChg chg="modSld">
      <pc:chgData name="Xiao,Jingbo (HP Medicine) BII-CN-S" userId="S::jingbo.xiao@boehringer-ingelheim.com::240cea10-594f-4a4d-87cc-57b72bd70599" providerId="AD" clId="Web-{8262A313-0720-942A-6956-6360AA58B448}" dt="2025-12-14T08:38:23.636" v="18" actId="20577"/>
      <pc:docMkLst>
        <pc:docMk/>
      </pc:docMkLst>
      <pc:sldChg chg="modSp">
        <pc:chgData name="Xiao,Jingbo (HP Medicine) BII-CN-S" userId="S::jingbo.xiao@boehringer-ingelheim.com::240cea10-594f-4a4d-87cc-57b72bd70599" providerId="AD" clId="Web-{8262A313-0720-942A-6956-6360AA58B448}" dt="2025-12-14T08:38:23.636" v="18" actId="20577"/>
        <pc:sldMkLst>
          <pc:docMk/>
          <pc:sldMk cId="416498405" sldId="2147483638"/>
        </pc:sldMkLst>
        <pc:spChg chg="mod">
          <ac:chgData name="Xiao,Jingbo (HP Medicine) BII-CN-S" userId="S::jingbo.xiao@boehringer-ingelheim.com::240cea10-594f-4a4d-87cc-57b72bd70599" providerId="AD" clId="Web-{8262A313-0720-942A-6956-6360AA58B448}" dt="2025-12-14T08:38:23.636" v="18" actId="20577"/>
          <ac:spMkLst>
            <pc:docMk/>
            <pc:sldMk cId="416498405" sldId="2147483638"/>
            <ac:spMk id="2" creationId="{56FD8069-966B-5C1D-2DCA-40EBA6AE0C8B}"/>
          </ac:spMkLst>
        </pc:spChg>
      </pc:sldChg>
      <pc:sldChg chg="modSp">
        <pc:chgData name="Xiao,Jingbo (HP Medicine) BII-CN-S" userId="S::jingbo.xiao@boehringer-ingelheim.com::240cea10-594f-4a4d-87cc-57b72bd70599" providerId="AD" clId="Web-{8262A313-0720-942A-6956-6360AA58B448}" dt="2025-12-14T08:33:57.030" v="17" actId="20577"/>
        <pc:sldMkLst>
          <pc:docMk/>
          <pc:sldMk cId="3049262843" sldId="2147483639"/>
        </pc:sldMkLst>
        <pc:spChg chg="mod">
          <ac:chgData name="Xiao,Jingbo (HP Medicine) BII-CN-S" userId="S::jingbo.xiao@boehringer-ingelheim.com::240cea10-594f-4a4d-87cc-57b72bd70599" providerId="AD" clId="Web-{8262A313-0720-942A-6956-6360AA58B448}" dt="2025-12-14T08:33:57.030" v="17" actId="20577"/>
          <ac:spMkLst>
            <pc:docMk/>
            <pc:sldMk cId="3049262843" sldId="2147483639"/>
            <ac:spMk id="312" creationId="{F681F3D6-A271-DB4E-E8ED-E1E0BD2AC357}"/>
          </ac:spMkLst>
        </pc:spChg>
      </pc:sldChg>
    </pc:docChg>
  </pc:docChgLst>
  <pc:docChgLst>
    <pc:chgData name="Xiao,Jingbo (HP Medicine) BII-CN-S" userId="S::jingbo.xiao@boehringer-ingelheim.com::240cea10-594f-4a4d-87cc-57b72bd70599" providerId="AD" clId="Web-{AF0F2CC3-648D-30DD-FE55-9F96C1864564}"/>
    <pc:docChg chg="modSld">
      <pc:chgData name="Xiao,Jingbo (HP Medicine) BII-CN-S" userId="S::jingbo.xiao@boehringer-ingelheim.com::240cea10-594f-4a4d-87cc-57b72bd70599" providerId="AD" clId="Web-{AF0F2CC3-648D-30DD-FE55-9F96C1864564}" dt="2025-12-15T05:51:48.339" v="55" actId="14100"/>
      <pc:docMkLst>
        <pc:docMk/>
      </pc:docMkLst>
      <pc:sldChg chg="modSp">
        <pc:chgData name="Xiao,Jingbo (HP Medicine) BII-CN-S" userId="S::jingbo.xiao@boehringer-ingelheim.com::240cea10-594f-4a4d-87cc-57b72bd70599" providerId="AD" clId="Web-{AF0F2CC3-648D-30DD-FE55-9F96C1864564}" dt="2025-12-15T05:51:48.339" v="55" actId="14100"/>
        <pc:sldMkLst>
          <pc:docMk/>
          <pc:sldMk cId="3049262843" sldId="2147483639"/>
        </pc:sldMkLst>
        <pc:spChg chg="mod">
          <ac:chgData name="Xiao,Jingbo (HP Medicine) BII-CN-S" userId="S::jingbo.xiao@boehringer-ingelheim.com::240cea10-594f-4a4d-87cc-57b72bd70599" providerId="AD" clId="Web-{AF0F2CC3-648D-30DD-FE55-9F96C1864564}" dt="2025-12-15T05:51:48.339" v="55" actId="14100"/>
          <ac:spMkLst>
            <pc:docMk/>
            <pc:sldMk cId="3049262843" sldId="2147483639"/>
            <ac:spMk id="312" creationId="{F681F3D6-A271-DB4E-E8ED-E1E0BD2AC357}"/>
          </ac:spMkLst>
        </pc:spChg>
      </pc:sldChg>
    </pc:docChg>
  </pc:docChgLst>
  <pc:docChgLst>
    <pc:chgData name="Xiao,Jingbo (HP Medicine) BII-CN-S" userId="240cea10-594f-4a4d-87cc-57b72bd70599" providerId="ADAL" clId="{1EB586AE-5835-4AA4-B215-8BA3435CADB4}"/>
    <pc:docChg chg="undo custSel addSld delSld modSld">
      <pc:chgData name="Xiao,Jingbo (HP Medicine) BII-CN-S" userId="240cea10-594f-4a4d-87cc-57b72bd70599" providerId="ADAL" clId="{1EB586AE-5835-4AA4-B215-8BA3435CADB4}" dt="2025-12-12T03:47:32.479" v="1026" actId="20577"/>
      <pc:docMkLst>
        <pc:docMk/>
      </pc:docMkLst>
      <pc:sldChg chg="modSp mod">
        <pc:chgData name="Xiao,Jingbo (HP Medicine) BII-CN-S" userId="240cea10-594f-4a4d-87cc-57b72bd70599" providerId="ADAL" clId="{1EB586AE-5835-4AA4-B215-8BA3435CADB4}" dt="2025-12-12T02:09:56.176" v="18" actId="1076"/>
        <pc:sldMkLst>
          <pc:docMk/>
          <pc:sldMk cId="1146060993" sldId="2147483626"/>
        </pc:sldMkLst>
      </pc:sldChg>
      <pc:sldChg chg="modSp mod modCm">
        <pc:chgData name="Xiao,Jingbo (HP Medicine) BII-CN-S" userId="240cea10-594f-4a4d-87cc-57b72bd70599" providerId="ADAL" clId="{1EB586AE-5835-4AA4-B215-8BA3435CADB4}" dt="2025-12-12T02:55:58.088" v="76" actId="207"/>
        <pc:sldMkLst>
          <pc:docMk/>
          <pc:sldMk cId="416498405" sldId="2147483638"/>
        </pc:sldMkLst>
        <pc:spChg chg="mod">
          <ac:chgData name="Xiao,Jingbo (HP Medicine) BII-CN-S" userId="240cea10-594f-4a4d-87cc-57b72bd70599" providerId="ADAL" clId="{1EB586AE-5835-4AA4-B215-8BA3435CADB4}" dt="2025-12-12T02:55:58.088" v="76" actId="207"/>
          <ac:spMkLst>
            <pc:docMk/>
            <pc:sldMk cId="416498405" sldId="2147483638"/>
            <ac:spMk id="310" creationId="{3A621BA0-8FC8-2D19-E343-357E8B5276CA}"/>
          </ac:spMkLst>
        </pc:spChg>
      </pc:sldChg>
      <pc:sldChg chg="modSp mod">
        <pc:chgData name="Xiao,Jingbo (HP Medicine) BII-CN-S" userId="240cea10-594f-4a4d-87cc-57b72bd70599" providerId="ADAL" clId="{1EB586AE-5835-4AA4-B215-8BA3435CADB4}" dt="2025-12-12T03:47:32.479" v="1026" actId="20577"/>
        <pc:sldMkLst>
          <pc:docMk/>
          <pc:sldMk cId="3049262843" sldId="2147483639"/>
        </pc:sldMkLst>
        <pc:spChg chg="mod">
          <ac:chgData name="Xiao,Jingbo (HP Medicine) BII-CN-S" userId="240cea10-594f-4a4d-87cc-57b72bd70599" providerId="ADAL" clId="{1EB586AE-5835-4AA4-B215-8BA3435CADB4}" dt="2025-12-12T03:08:15.147" v="239" actId="20577"/>
          <ac:spMkLst>
            <pc:docMk/>
            <pc:sldMk cId="3049262843" sldId="2147483639"/>
            <ac:spMk id="310" creationId="{9CE06C17-EF59-AFE3-92B8-DE5E347FDBAE}"/>
          </ac:spMkLst>
        </pc:spChg>
        <pc:spChg chg="mod">
          <ac:chgData name="Xiao,Jingbo (HP Medicine) BII-CN-S" userId="240cea10-594f-4a4d-87cc-57b72bd70599" providerId="ADAL" clId="{1EB586AE-5835-4AA4-B215-8BA3435CADB4}" dt="2025-12-12T03:47:32.479" v="1026" actId="20577"/>
          <ac:spMkLst>
            <pc:docMk/>
            <pc:sldMk cId="3049262843" sldId="2147483639"/>
            <ac:spMk id="312" creationId="{F681F3D6-A271-DB4E-E8ED-E1E0BD2AC357}"/>
          </ac:spMkLst>
        </pc:spChg>
      </pc:sldChg>
      <pc:sldChg chg="modSp mod">
        <pc:chgData name="Xiao,Jingbo (HP Medicine) BII-CN-S" userId="240cea10-594f-4a4d-87cc-57b72bd70599" providerId="ADAL" clId="{1EB586AE-5835-4AA4-B215-8BA3435CADB4}" dt="2025-12-12T02:58:15.497" v="108" actId="13926"/>
        <pc:sldMkLst>
          <pc:docMk/>
          <pc:sldMk cId="4083202269" sldId="2147483640"/>
        </pc:sldMkLst>
        <pc:spChg chg="mod">
          <ac:chgData name="Xiao,Jingbo (HP Medicine) BII-CN-S" userId="240cea10-594f-4a4d-87cc-57b72bd70599" providerId="ADAL" clId="{1EB586AE-5835-4AA4-B215-8BA3435CADB4}" dt="2025-12-12T02:58:15.497" v="108" actId="13926"/>
          <ac:spMkLst>
            <pc:docMk/>
            <pc:sldMk cId="4083202269" sldId="2147483640"/>
            <ac:spMk id="310" creationId="{35A4BD12-71A0-4F48-08FB-844026E54D94}"/>
          </ac:spMkLst>
        </pc:spChg>
      </pc:sldChg>
      <pc:sldChg chg="modSp add mod">
        <pc:chgData name="Xiao,Jingbo (HP Medicine) BII-CN-S" userId="240cea10-594f-4a4d-87cc-57b72bd70599" providerId="ADAL" clId="{1EB586AE-5835-4AA4-B215-8BA3435CADB4}" dt="2025-12-12T03:41:37.176" v="995" actId="20577"/>
        <pc:sldMkLst>
          <pc:docMk/>
          <pc:sldMk cId="2095078326" sldId="2147483645"/>
        </pc:sldMkLst>
        <pc:graphicFrameChg chg="modGraphic">
          <ac:chgData name="Xiao,Jingbo (HP Medicine) BII-CN-S" userId="240cea10-594f-4a4d-87cc-57b72bd70599" providerId="ADAL" clId="{1EB586AE-5835-4AA4-B215-8BA3435CADB4}" dt="2025-12-12T03:40:16.943" v="968" actId="207"/>
          <ac:graphicFrameMkLst>
            <pc:docMk/>
            <pc:sldMk cId="2095078326" sldId="2147483645"/>
            <ac:graphicFrameMk id="3" creationId="{A07F6B0E-350A-A3FE-0CDC-09847B1C56FF}"/>
          </ac:graphicFrameMkLst>
        </pc:graphicFrameChg>
        <pc:graphicFrameChg chg="mod modGraphic">
          <ac:chgData name="Xiao,Jingbo (HP Medicine) BII-CN-S" userId="240cea10-594f-4a4d-87cc-57b72bd70599" providerId="ADAL" clId="{1EB586AE-5835-4AA4-B215-8BA3435CADB4}" dt="2025-12-12T03:41:37.176" v="995" actId="20577"/>
          <ac:graphicFrameMkLst>
            <pc:docMk/>
            <pc:sldMk cId="2095078326" sldId="2147483645"/>
            <ac:graphicFrameMk id="7" creationId="{5DD7B900-FCC7-19CC-3395-F642AA9955AD}"/>
          </ac:graphicFrameMkLst>
        </pc:graphicFrameChg>
      </pc:sldChg>
    </pc:docChg>
  </pc:docChgLst>
  <pc:docChgLst>
    <pc:chgData name="Kong,Shenqi (HP Medicine) BII-CN-S" userId="S::shenqi.kong@boehringer-ingelheim.com::4d81765c-e2f0-440b-b25b-1cd7f4e6edd9" providerId="AD" clId="Web-{DA85417A-0BCB-AE30-7986-36ABCCC26281}"/>
    <pc:docChg chg="modSld">
      <pc:chgData name="Kong,Shenqi (HP Medicine) BII-CN-S" userId="S::shenqi.kong@boehringer-ingelheim.com::4d81765c-e2f0-440b-b25b-1cd7f4e6edd9" providerId="AD" clId="Web-{DA85417A-0BCB-AE30-7986-36ABCCC26281}" dt="2025-12-12T05:15:59.684" v="16"/>
      <pc:docMkLst>
        <pc:docMk/>
      </pc:docMkLst>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6D1AF16-6F8D-4DA0-840B-A855AE3206B0}" type="datetimeFigureOut">
              <a:rPr lang="zh-CN" altLang="en-US" smtClean="0"/>
              <a:t>2025/12/19</a:t>
            </a:fld>
            <a:endParaRPr lang="zh-CN"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B4BB5-E309-45E5-BB7A-A4E8DEB85991}" type="slidenum">
              <a:rPr lang="zh-CN" altLang="en-US" smtClean="0"/>
              <a:t>‹#›</a:t>
            </a:fld>
            <a:endParaRPr lang="zh-CN" altLang="en-US"/>
          </a:p>
        </p:txBody>
      </p:sp>
    </p:spTree>
    <p:extLst>
      <p:ext uri="{BB962C8B-B14F-4D97-AF65-F5344CB8AC3E}">
        <p14:creationId xmlns:p14="http://schemas.microsoft.com/office/powerpoint/2010/main" val="954593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E7E6E6"/>
                </a:solidFill>
                <a:effectLst/>
                <a:uLnTx/>
                <a:uFillTx/>
                <a:latin typeface="等线" panose="020F0502020204030204"/>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E7E6E6"/>
                </a:solidFill>
                <a:effectLst/>
                <a:uLnTx/>
                <a:uFillTx/>
                <a:latin typeface="等线"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E7E6E6"/>
              </a:solidFill>
              <a:effectLst/>
              <a:uLnTx/>
              <a:uFillTx/>
              <a:latin typeface="等线" panose="020F0502020204030204"/>
              <a:ea typeface="+mn-ea"/>
              <a:cs typeface="+mn-cs"/>
            </a:endParaRPr>
          </a:p>
        </p:txBody>
      </p:sp>
    </p:spTree>
    <p:extLst>
      <p:ext uri="{BB962C8B-B14F-4D97-AF65-F5344CB8AC3E}">
        <p14:creationId xmlns:p14="http://schemas.microsoft.com/office/powerpoint/2010/main" val="34230965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2</a:t>
            </a:fld>
            <a:endParaRPr lang="zh-CN" altLang="en-US"/>
          </a:p>
        </p:txBody>
      </p:sp>
    </p:spTree>
    <p:extLst>
      <p:ext uri="{BB962C8B-B14F-4D97-AF65-F5344CB8AC3E}">
        <p14:creationId xmlns:p14="http://schemas.microsoft.com/office/powerpoint/2010/main" val="7816278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5</a:t>
            </a:fld>
            <a:endParaRPr lang="zh-CN" altLang="en-US"/>
          </a:p>
        </p:txBody>
      </p:sp>
    </p:spTree>
    <p:extLst>
      <p:ext uri="{BB962C8B-B14F-4D97-AF65-F5344CB8AC3E}">
        <p14:creationId xmlns:p14="http://schemas.microsoft.com/office/powerpoint/2010/main" val="10867998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endParaRPr lang="zh-CN" altLang="en-US"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8</a:t>
            </a:fld>
            <a:endParaRPr lang="zh-CN" altLang="en-US"/>
          </a:p>
        </p:txBody>
      </p:sp>
    </p:spTree>
    <p:extLst>
      <p:ext uri="{BB962C8B-B14F-4D97-AF65-F5344CB8AC3E}">
        <p14:creationId xmlns:p14="http://schemas.microsoft.com/office/powerpoint/2010/main" val="31594846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95998" indent="-95998" defTabSz="1219170">
              <a:spcAft>
                <a:spcPts val="267"/>
              </a:spcAft>
              <a:buFont typeface="Arial" panose="020B0604020202020204" pitchFamily="34" charset="0"/>
              <a:buChar char="•"/>
              <a:defRPr/>
            </a:pPr>
            <a:r>
              <a:rPr lang="en-US" altLang="zh-CN" sz="1200" i="1" err="1">
                <a:solidFill>
                  <a:schemeClr val="bg1">
                    <a:lumMod val="50000"/>
                  </a:schemeClr>
                </a:solidFill>
                <a:cs typeface="Calibri"/>
              </a:rPr>
              <a:t>Izervay</a:t>
            </a:r>
            <a:r>
              <a:rPr lang="en-US" altLang="zh-CN" sz="1200" i="1">
                <a:solidFill>
                  <a:schemeClr val="bg1">
                    <a:lumMod val="50000"/>
                  </a:schemeClr>
                </a:solidFill>
                <a:cs typeface="Calibri"/>
              </a:rPr>
              <a:t>, the C5 inhibitor from Astellas, with registrational trials (GATHER1 &amp; GATHER2 in US/EU) demonstrating positive results in reduction in GA lesion growth but no significant effect in visual function, was approved by FDA (2023), rejected by EMA, and now conditionally approved by PMDA in Sep 2025 waiving clinical data in Japanese patients. External information shows that an experts consultation panel was organized by CDE recently to evaluate </a:t>
            </a:r>
            <a:r>
              <a:rPr lang="en-US" altLang="zh-CN" sz="1200" i="1" err="1">
                <a:solidFill>
                  <a:schemeClr val="bg1">
                    <a:lumMod val="50000"/>
                  </a:schemeClr>
                </a:solidFill>
                <a:cs typeface="Calibri"/>
              </a:rPr>
              <a:t>Izervay</a:t>
            </a:r>
            <a:r>
              <a:rPr lang="en-US" altLang="zh-CN" sz="1200" i="1">
                <a:solidFill>
                  <a:schemeClr val="bg1">
                    <a:lumMod val="50000"/>
                  </a:schemeClr>
                </a:solidFill>
                <a:cs typeface="Calibri"/>
              </a:rPr>
              <a:t> approval in China waiving clinical data in Chinese patients. Local team is closely monitoring on the status.</a:t>
            </a:r>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9</a:t>
            </a:fld>
            <a:endParaRPr lang="zh-CN" altLang="en-US"/>
          </a:p>
        </p:txBody>
      </p:sp>
    </p:spTree>
    <p:extLst>
      <p:ext uri="{BB962C8B-B14F-4D97-AF65-F5344CB8AC3E}">
        <p14:creationId xmlns:p14="http://schemas.microsoft.com/office/powerpoint/2010/main" val="28067174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10</a:t>
            </a:fld>
            <a:endParaRPr lang="zh-CN" altLang="en-US"/>
          </a:p>
        </p:txBody>
      </p:sp>
    </p:spTree>
    <p:extLst>
      <p:ext uri="{BB962C8B-B14F-4D97-AF65-F5344CB8AC3E}">
        <p14:creationId xmlns:p14="http://schemas.microsoft.com/office/powerpoint/2010/main" val="35377569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fld id="{F6CB4BB5-E309-45E5-BB7A-A4E8DEB85991}" type="slidenum">
              <a:rPr lang="zh-CN" altLang="en-US" smtClean="0"/>
              <a:t>11</a:t>
            </a:fld>
            <a:endParaRPr lang="zh-CN" altLang="en-US"/>
          </a:p>
        </p:txBody>
      </p:sp>
    </p:spTree>
    <p:extLst>
      <p:ext uri="{BB962C8B-B14F-4D97-AF65-F5344CB8AC3E}">
        <p14:creationId xmlns:p14="http://schemas.microsoft.com/office/powerpoint/2010/main" val="23683095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D647232-E8F5-47F5-93FB-A3523A08FE3D}"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1153504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a:solidFill>
                  <a:schemeClr val="tx1"/>
                </a:solidFill>
                <a:effectLst/>
                <a:latin typeface="+mn-lt"/>
                <a:ea typeface="+mn-ea"/>
                <a:cs typeface="+mn-cs"/>
              </a:rPr>
              <a:t>Observational study</a:t>
            </a:r>
            <a:r>
              <a:rPr lang="zh-CN" altLang="en-US" sz="1200" kern="1200">
                <a:solidFill>
                  <a:schemeClr val="tx1"/>
                </a:solidFill>
                <a:effectLst/>
                <a:latin typeface="+mn-lt"/>
                <a:ea typeface="+mn-ea"/>
                <a:cs typeface="+mn-cs"/>
              </a:rPr>
              <a:t>预计在美国做。现在</a:t>
            </a:r>
            <a:r>
              <a:rPr lang="en-US" altLang="zh-CN" sz="1200" kern="1200">
                <a:solidFill>
                  <a:schemeClr val="tx1"/>
                </a:solidFill>
                <a:effectLst/>
                <a:latin typeface="+mn-lt"/>
                <a:ea typeface="+mn-ea"/>
                <a:cs typeface="+mn-cs"/>
              </a:rPr>
              <a:t>COA</a:t>
            </a:r>
            <a:r>
              <a:rPr lang="zh-CN" altLang="en-US" sz="1200" kern="1200">
                <a:solidFill>
                  <a:schemeClr val="tx1"/>
                </a:solidFill>
                <a:effectLst/>
                <a:latin typeface="+mn-lt"/>
                <a:ea typeface="+mn-ea"/>
                <a:cs typeface="+mn-cs"/>
              </a:rPr>
              <a:t>在开发中，会在</a:t>
            </a:r>
            <a:r>
              <a:rPr lang="en-US" altLang="zh-CN" sz="1200" kern="1200">
                <a:solidFill>
                  <a:schemeClr val="tx1"/>
                </a:solidFill>
                <a:effectLst/>
                <a:latin typeface="+mn-lt"/>
                <a:ea typeface="+mn-ea"/>
                <a:cs typeface="+mn-cs"/>
              </a:rPr>
              <a:t>Observational study</a:t>
            </a:r>
            <a:r>
              <a:rPr lang="zh-CN" altLang="en-US" sz="1200" kern="1200">
                <a:solidFill>
                  <a:schemeClr val="tx1"/>
                </a:solidFill>
                <a:effectLst/>
                <a:latin typeface="+mn-lt"/>
                <a:ea typeface="+mn-ea"/>
                <a:cs typeface="+mn-cs"/>
              </a:rPr>
              <a:t>中使用</a:t>
            </a:r>
            <a:endParaRPr lang="en-US" altLang="zh-CN" sz="1200" kern="1200">
              <a:solidFill>
                <a:schemeClr val="tx1"/>
              </a:solidFill>
              <a:effectLst/>
              <a:latin typeface="+mn-lt"/>
              <a:ea typeface="+mn-ea"/>
              <a:cs typeface="+mn-cs"/>
            </a:endParaRPr>
          </a:p>
          <a:p>
            <a:r>
              <a:rPr lang="en-US" altLang="zh-CN" sz="1200" kern="1200">
                <a:solidFill>
                  <a:schemeClr val="tx1"/>
                </a:solidFill>
                <a:effectLst/>
                <a:latin typeface="+mn-lt"/>
                <a:ea typeface="+mn-ea"/>
                <a:cs typeface="+mn-cs"/>
              </a:rPr>
              <a:t>PoC</a:t>
            </a:r>
            <a:r>
              <a:rPr lang="zh-CN" altLang="en-US" sz="1200" kern="1200">
                <a:solidFill>
                  <a:schemeClr val="tx1"/>
                </a:solidFill>
                <a:effectLst/>
                <a:latin typeface="+mn-lt"/>
                <a:ea typeface="+mn-ea"/>
                <a:cs typeface="+mn-cs"/>
              </a:rPr>
              <a:t>还在计划中，明年初会更加清楚。</a:t>
            </a:r>
            <a:endParaRPr lang="en-US" altLang="zh-CN" sz="1200" kern="1200">
              <a:solidFill>
                <a:schemeClr val="tx1"/>
              </a:solidFill>
              <a:effectLst/>
              <a:latin typeface="+mn-lt"/>
              <a:ea typeface="+mn-ea"/>
              <a:cs typeface="+mn-cs"/>
            </a:endParaRPr>
          </a:p>
          <a:p>
            <a:r>
              <a:rPr lang="zh-CN" altLang="en-US" sz="1200" kern="1200">
                <a:solidFill>
                  <a:schemeClr val="tx1"/>
                </a:solidFill>
                <a:effectLst/>
                <a:latin typeface="+mn-lt"/>
                <a:ea typeface="+mn-ea"/>
                <a:cs typeface="+mn-cs"/>
              </a:rPr>
              <a:t>中国 </a:t>
            </a:r>
            <a:r>
              <a:rPr lang="en-US" altLang="zh-CN" sz="1200" kern="1200">
                <a:solidFill>
                  <a:schemeClr val="tx1"/>
                </a:solidFill>
                <a:effectLst/>
                <a:latin typeface="+mn-lt"/>
                <a:ea typeface="+mn-ea"/>
                <a:cs typeface="+mn-cs"/>
              </a:rPr>
              <a:t>integration plan</a:t>
            </a:r>
            <a:r>
              <a:rPr lang="zh-CN" altLang="en-US" sz="1200" kern="1200">
                <a:solidFill>
                  <a:schemeClr val="tx1"/>
                </a:solidFill>
                <a:effectLst/>
                <a:latin typeface="+mn-lt"/>
                <a:ea typeface="+mn-ea"/>
                <a:cs typeface="+mn-cs"/>
              </a:rPr>
              <a:t>等</a:t>
            </a:r>
            <a:r>
              <a:rPr lang="en-US" altLang="zh-CN" sz="1200" kern="1200">
                <a:solidFill>
                  <a:schemeClr val="tx1"/>
                </a:solidFill>
                <a:effectLst/>
                <a:latin typeface="+mn-lt"/>
                <a:ea typeface="+mn-ea"/>
                <a:cs typeface="+mn-cs"/>
              </a:rPr>
              <a:t>PoC</a:t>
            </a:r>
            <a:r>
              <a:rPr lang="zh-CN" altLang="en-US" sz="1200" kern="1200">
                <a:solidFill>
                  <a:schemeClr val="tx1"/>
                </a:solidFill>
                <a:effectLst/>
                <a:latin typeface="+mn-lt"/>
                <a:ea typeface="+mn-ea"/>
                <a:cs typeface="+mn-cs"/>
              </a:rPr>
              <a:t>更加清楚后继续讨论。目前需要做的：了解</a:t>
            </a:r>
            <a:r>
              <a:rPr lang="en-US" altLang="zh-CN" sz="1200" kern="1200">
                <a:solidFill>
                  <a:schemeClr val="tx1"/>
                </a:solidFill>
                <a:effectLst/>
                <a:latin typeface="+mn-lt"/>
                <a:ea typeface="+mn-ea"/>
                <a:cs typeface="+mn-cs"/>
              </a:rPr>
              <a:t>BPD</a:t>
            </a:r>
            <a:r>
              <a:rPr lang="zh-CN" altLang="en-US" sz="1200" kern="1200">
                <a:solidFill>
                  <a:schemeClr val="tx1"/>
                </a:solidFill>
                <a:effectLst/>
                <a:latin typeface="+mn-lt"/>
                <a:ea typeface="+mn-ea"/>
                <a:cs typeface="+mn-cs"/>
              </a:rPr>
              <a:t>以及</a:t>
            </a:r>
            <a:r>
              <a:rPr lang="en-US" altLang="zh-CN" sz="1200" kern="1200">
                <a:solidFill>
                  <a:schemeClr val="tx1"/>
                </a:solidFill>
                <a:effectLst/>
                <a:latin typeface="+mn-lt"/>
                <a:ea typeface="+mn-ea"/>
                <a:cs typeface="+mn-cs"/>
              </a:rPr>
              <a:t>impulsivity in BPD</a:t>
            </a:r>
            <a:r>
              <a:rPr lang="zh-CN" altLang="en-US" sz="1200" kern="1200">
                <a:solidFill>
                  <a:schemeClr val="tx1"/>
                </a:solidFill>
                <a:effectLst/>
                <a:latin typeface="+mn-lt"/>
                <a:ea typeface="+mn-ea"/>
                <a:cs typeface="+mn-cs"/>
              </a:rPr>
              <a:t>在国内的情况，潜在</a:t>
            </a:r>
            <a:r>
              <a:rPr lang="en-US" altLang="zh-CN" sz="1200" kern="1200">
                <a:solidFill>
                  <a:schemeClr val="tx1"/>
                </a:solidFill>
                <a:effectLst/>
                <a:latin typeface="+mn-lt"/>
                <a:ea typeface="+mn-ea"/>
                <a:cs typeface="+mn-cs"/>
              </a:rPr>
              <a:t>site</a:t>
            </a:r>
            <a:r>
              <a:rPr lang="zh-CN" altLang="en-US" sz="1200" kern="1200">
                <a:solidFill>
                  <a:schemeClr val="tx1"/>
                </a:solidFill>
                <a:effectLst/>
                <a:latin typeface="+mn-lt"/>
                <a:ea typeface="+mn-ea"/>
                <a:cs typeface="+mn-cs"/>
              </a:rPr>
              <a:t>和</a:t>
            </a:r>
            <a:r>
              <a:rPr lang="en-US" altLang="zh-CN" sz="1200" kern="1200">
                <a:solidFill>
                  <a:schemeClr val="tx1"/>
                </a:solidFill>
                <a:effectLst/>
                <a:latin typeface="+mn-lt"/>
                <a:ea typeface="+mn-ea"/>
                <a:cs typeface="+mn-cs"/>
              </a:rPr>
              <a:t>PI</a:t>
            </a:r>
          </a:p>
        </p:txBody>
      </p:sp>
      <p:sp>
        <p:nvSpPr>
          <p:cNvPr id="4" name="灯片编号占位符 3"/>
          <p:cNvSpPr>
            <a:spLocks noGrp="1"/>
          </p:cNvSpPr>
          <p:nvPr>
            <p:ph type="sldNum" sz="quarter" idx="5"/>
          </p:nvPr>
        </p:nvSpPr>
        <p:spPr/>
        <p:txBody>
          <a:bodyPr/>
          <a:lstStyle/>
          <a:p>
            <a:fld id="{F6CB4BB5-E309-45E5-BB7A-A4E8DEB85991}" type="slidenum">
              <a:rPr lang="zh-CN" altLang="en-US" smtClean="0"/>
              <a:t>17</a:t>
            </a:fld>
            <a:endParaRPr lang="zh-CN" altLang="en-US"/>
          </a:p>
        </p:txBody>
      </p:sp>
    </p:spTree>
    <p:extLst>
      <p:ext uri="{BB962C8B-B14F-4D97-AF65-F5344CB8AC3E}">
        <p14:creationId xmlns:p14="http://schemas.microsoft.com/office/powerpoint/2010/main" val="3628850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err="1"/>
              <a:t>PoM</a:t>
            </a:r>
            <a:r>
              <a:rPr lang="en-US" altLang="zh-CN"/>
              <a:t> for OUD</a:t>
            </a:r>
            <a:r>
              <a:rPr lang="zh-CN" altLang="en-US"/>
              <a:t>（</a:t>
            </a:r>
            <a:r>
              <a:rPr lang="en-US" altLang="zh-CN"/>
              <a:t>Ph1b</a:t>
            </a:r>
            <a:r>
              <a:rPr lang="zh-CN" altLang="en-US"/>
              <a:t>）进行中，入组缓慢。</a:t>
            </a:r>
            <a:r>
              <a:rPr lang="zh-CN" altLang="zh-CN" sz="1200" kern="1200">
                <a:solidFill>
                  <a:schemeClr val="tx1"/>
                </a:solidFill>
                <a:effectLst/>
                <a:latin typeface="+mn-lt"/>
                <a:ea typeface="+mn-ea"/>
                <a:cs typeface="+mn-cs"/>
              </a:rPr>
              <a:t>主要原因是</a:t>
            </a:r>
            <a:r>
              <a:rPr lang="en-US" altLang="zh-CN" sz="1200" kern="1200">
                <a:solidFill>
                  <a:schemeClr val="tx1"/>
                </a:solidFill>
                <a:effectLst/>
                <a:latin typeface="+mn-lt"/>
                <a:ea typeface="+mn-ea"/>
                <a:cs typeface="+mn-cs"/>
              </a:rPr>
              <a:t>4-CSRTT</a:t>
            </a:r>
            <a:r>
              <a:rPr lang="zh-CN" altLang="zh-CN" sz="1200" kern="1200">
                <a:solidFill>
                  <a:schemeClr val="tx1"/>
                </a:solidFill>
                <a:effectLst/>
                <a:latin typeface="+mn-lt"/>
                <a:ea typeface="+mn-ea"/>
                <a:cs typeface="+mn-cs"/>
              </a:rPr>
              <a:t>筛查冲动失败率高。已经在</a:t>
            </a:r>
            <a:r>
              <a:rPr lang="en-US" altLang="zh-CN" sz="1200" kern="1200">
                <a:solidFill>
                  <a:schemeClr val="tx1"/>
                </a:solidFill>
                <a:effectLst/>
                <a:latin typeface="+mn-lt"/>
                <a:ea typeface="+mn-ea"/>
                <a:cs typeface="+mn-cs"/>
              </a:rPr>
              <a:t>9</a:t>
            </a:r>
            <a:r>
              <a:rPr lang="zh-CN" altLang="zh-CN" sz="1200" kern="1200">
                <a:solidFill>
                  <a:schemeClr val="tx1"/>
                </a:solidFill>
                <a:effectLst/>
                <a:latin typeface="+mn-lt"/>
                <a:ea typeface="+mn-ea"/>
                <a:cs typeface="+mn-cs"/>
              </a:rPr>
              <a:t>月修改了</a:t>
            </a:r>
            <a:r>
              <a:rPr lang="en-US" altLang="zh-CN" sz="1200" kern="1200">
                <a:solidFill>
                  <a:schemeClr val="tx1"/>
                </a:solidFill>
                <a:effectLst/>
                <a:latin typeface="+mn-lt"/>
                <a:ea typeface="+mn-ea"/>
                <a:cs typeface="+mn-cs"/>
              </a:rPr>
              <a:t>protocol</a:t>
            </a:r>
            <a:r>
              <a:rPr lang="zh-CN" altLang="zh-CN" sz="1200" kern="1200">
                <a:solidFill>
                  <a:schemeClr val="tx1"/>
                </a:solidFill>
                <a:effectLst/>
                <a:latin typeface="+mn-lt"/>
                <a:ea typeface="+mn-ea"/>
                <a:cs typeface="+mn-cs"/>
              </a:rPr>
              <a:t>。本来预计</a:t>
            </a:r>
            <a:r>
              <a:rPr lang="en-US" altLang="zh-CN" sz="1200" kern="1200">
                <a:solidFill>
                  <a:schemeClr val="tx1"/>
                </a:solidFill>
                <a:effectLst/>
                <a:latin typeface="+mn-lt"/>
                <a:ea typeface="+mn-ea"/>
                <a:cs typeface="+mn-cs"/>
              </a:rPr>
              <a:t>26</a:t>
            </a:r>
            <a:r>
              <a:rPr lang="zh-CN" altLang="zh-CN" sz="1200" kern="1200">
                <a:solidFill>
                  <a:schemeClr val="tx1"/>
                </a:solidFill>
                <a:effectLst/>
                <a:latin typeface="+mn-lt"/>
                <a:ea typeface="+mn-ea"/>
                <a:cs typeface="+mn-cs"/>
              </a:rPr>
              <a:t>年</a:t>
            </a:r>
            <a:r>
              <a:rPr lang="en-US" altLang="zh-CN" sz="1200" kern="1200">
                <a:solidFill>
                  <a:schemeClr val="tx1"/>
                </a:solidFill>
                <a:effectLst/>
                <a:latin typeface="+mn-lt"/>
                <a:ea typeface="+mn-ea"/>
                <a:cs typeface="+mn-cs"/>
              </a:rPr>
              <a:t>8</a:t>
            </a:r>
            <a:r>
              <a:rPr lang="zh-CN" altLang="zh-CN" sz="1200" kern="1200">
                <a:solidFill>
                  <a:schemeClr val="tx1"/>
                </a:solidFill>
                <a:effectLst/>
                <a:latin typeface="+mn-lt"/>
                <a:ea typeface="+mn-ea"/>
                <a:cs typeface="+mn-cs"/>
              </a:rPr>
              <a:t>月完成研究，但很可能完不成。会看看改了</a:t>
            </a:r>
            <a:r>
              <a:rPr lang="en-US" altLang="zh-CN" sz="1200" kern="1200">
                <a:solidFill>
                  <a:schemeClr val="tx1"/>
                </a:solidFill>
                <a:effectLst/>
                <a:latin typeface="+mn-lt"/>
                <a:ea typeface="+mn-ea"/>
                <a:cs typeface="+mn-cs"/>
              </a:rPr>
              <a:t>protocol</a:t>
            </a:r>
            <a:r>
              <a:rPr lang="zh-CN" altLang="zh-CN" sz="1200" kern="1200">
                <a:solidFill>
                  <a:schemeClr val="tx1"/>
                </a:solidFill>
                <a:effectLst/>
                <a:latin typeface="+mn-lt"/>
                <a:ea typeface="+mn-ea"/>
                <a:cs typeface="+mn-cs"/>
              </a:rPr>
              <a:t>之后入组会不会加快，年底再过</a:t>
            </a:r>
            <a:r>
              <a:rPr lang="en-US" altLang="zh-CN" sz="1200" kern="1200">
                <a:solidFill>
                  <a:schemeClr val="tx1"/>
                </a:solidFill>
                <a:effectLst/>
                <a:latin typeface="+mn-lt"/>
                <a:ea typeface="+mn-ea"/>
                <a:cs typeface="+mn-cs"/>
              </a:rPr>
              <a:t>IUPC</a:t>
            </a:r>
          </a:p>
          <a:p>
            <a:r>
              <a:rPr lang="zh-CN" altLang="en-US" sz="1200" kern="1200">
                <a:solidFill>
                  <a:schemeClr val="tx1"/>
                </a:solidFill>
                <a:effectLst/>
                <a:latin typeface="+mn-lt"/>
                <a:ea typeface="+mn-ea"/>
                <a:cs typeface="+mn-cs"/>
              </a:rPr>
              <a:t>中国 </a:t>
            </a:r>
            <a:r>
              <a:rPr lang="en-US" altLang="zh-CN" sz="1200" kern="1200">
                <a:solidFill>
                  <a:schemeClr val="tx1"/>
                </a:solidFill>
                <a:effectLst/>
                <a:latin typeface="+mn-lt"/>
                <a:ea typeface="+mn-ea"/>
                <a:cs typeface="+mn-cs"/>
              </a:rPr>
              <a:t>integration</a:t>
            </a:r>
            <a:r>
              <a:rPr lang="zh-CN" altLang="en-US" sz="1200" kern="1200">
                <a:solidFill>
                  <a:schemeClr val="tx1"/>
                </a:solidFill>
                <a:effectLst/>
                <a:latin typeface="+mn-lt"/>
                <a:ea typeface="+mn-ea"/>
                <a:cs typeface="+mn-cs"/>
              </a:rPr>
              <a:t>等总部</a:t>
            </a:r>
            <a:r>
              <a:rPr lang="en-US" altLang="zh-CN" sz="1200" kern="1200">
                <a:solidFill>
                  <a:schemeClr val="tx1"/>
                </a:solidFill>
                <a:effectLst/>
                <a:latin typeface="+mn-lt"/>
                <a:ea typeface="+mn-ea"/>
                <a:cs typeface="+mn-cs"/>
              </a:rPr>
              <a:t>ph1b</a:t>
            </a:r>
            <a:r>
              <a:rPr lang="zh-CN" altLang="en-US" sz="1200" kern="1200">
                <a:solidFill>
                  <a:schemeClr val="tx1"/>
                </a:solidFill>
                <a:effectLst/>
                <a:latin typeface="+mn-lt"/>
                <a:ea typeface="+mn-ea"/>
                <a:cs typeface="+mn-cs"/>
              </a:rPr>
              <a:t>年底的</a:t>
            </a:r>
            <a:r>
              <a:rPr lang="en-US" altLang="zh-CN" sz="1200" kern="1200">
                <a:solidFill>
                  <a:schemeClr val="tx1"/>
                </a:solidFill>
                <a:effectLst/>
                <a:latin typeface="+mn-lt"/>
                <a:ea typeface="+mn-ea"/>
                <a:cs typeface="+mn-cs"/>
              </a:rPr>
              <a:t>IUPC</a:t>
            </a:r>
            <a:r>
              <a:rPr lang="zh-CN" altLang="en-US" sz="1200" kern="1200">
                <a:solidFill>
                  <a:schemeClr val="tx1"/>
                </a:solidFill>
                <a:effectLst/>
                <a:latin typeface="+mn-lt"/>
                <a:ea typeface="+mn-ea"/>
                <a:cs typeface="+mn-cs"/>
              </a:rPr>
              <a:t>再进一步沟通</a:t>
            </a:r>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18</a:t>
            </a:fld>
            <a:endParaRPr lang="zh-CN" altLang="en-US"/>
          </a:p>
        </p:txBody>
      </p:sp>
    </p:spTree>
    <p:extLst>
      <p:ext uri="{BB962C8B-B14F-4D97-AF65-F5344CB8AC3E}">
        <p14:creationId xmlns:p14="http://schemas.microsoft.com/office/powerpoint/2010/main" val="14453411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SRD</a:t>
            </a:r>
            <a:r>
              <a:rPr lang="zh-CN" altLang="en-US"/>
              <a:t>和</a:t>
            </a:r>
            <a:r>
              <a:rPr lang="en-US" altLang="zh-CN"/>
              <a:t>MRD</a:t>
            </a:r>
            <a:r>
              <a:rPr lang="zh-CN" altLang="en-US"/>
              <a:t>预计延迟</a:t>
            </a:r>
            <a:r>
              <a:rPr lang="en-US" altLang="zh-CN"/>
              <a:t>4</a:t>
            </a:r>
            <a:r>
              <a:rPr lang="zh-CN" altLang="en-US"/>
              <a:t>个月，</a:t>
            </a:r>
            <a:r>
              <a:rPr lang="en-US" altLang="zh-CN"/>
              <a:t>26</a:t>
            </a:r>
            <a:r>
              <a:rPr lang="zh-CN" altLang="en-US"/>
              <a:t>年</a:t>
            </a:r>
            <a:r>
              <a:rPr lang="en-US" altLang="zh-CN"/>
              <a:t>8</a:t>
            </a:r>
            <a:r>
              <a:rPr lang="zh-CN" altLang="en-US"/>
              <a:t>月完成</a:t>
            </a:r>
            <a:endParaRPr lang="en-US" altLang="zh-CN"/>
          </a:p>
          <a:p>
            <a:r>
              <a:rPr lang="en-US" altLang="zh-CN" err="1"/>
              <a:t>PoCP</a:t>
            </a:r>
            <a:r>
              <a:rPr lang="zh-CN" altLang="en-US"/>
              <a:t>（</a:t>
            </a:r>
            <a:r>
              <a:rPr lang="en-US" altLang="zh-CN" err="1"/>
              <a:t>PoM</a:t>
            </a:r>
            <a:r>
              <a:rPr lang="zh-CN" altLang="en-US"/>
              <a:t>）不变，目前计划只在</a:t>
            </a:r>
            <a:r>
              <a:rPr lang="en-US" altLang="zh-CN"/>
              <a:t>US</a:t>
            </a:r>
            <a:r>
              <a:rPr lang="zh-CN" altLang="en-US"/>
              <a:t>做</a:t>
            </a:r>
            <a:endParaRPr lang="en-US" altLang="zh-CN"/>
          </a:p>
          <a:p>
            <a:r>
              <a:rPr lang="en-US" altLang="zh-CN" sz="1200" kern="1200">
                <a:solidFill>
                  <a:schemeClr val="tx1"/>
                </a:solidFill>
                <a:effectLst/>
                <a:latin typeface="+mn-lt"/>
                <a:ea typeface="+mn-ea"/>
                <a:cs typeface="+mn-cs"/>
              </a:rPr>
              <a:t>2</a:t>
            </a:r>
            <a:r>
              <a:rPr lang="zh-CN" altLang="zh-CN" sz="1200" kern="1200">
                <a:solidFill>
                  <a:schemeClr val="tx1"/>
                </a:solidFill>
                <a:effectLst/>
                <a:latin typeface="+mn-lt"/>
                <a:ea typeface="+mn-ea"/>
                <a:cs typeface="+mn-cs"/>
              </a:rPr>
              <a:t>期研究的</a:t>
            </a:r>
            <a:r>
              <a:rPr lang="en-US" altLang="zh-CN" sz="1200" kern="1200">
                <a:solidFill>
                  <a:schemeClr val="tx1"/>
                </a:solidFill>
                <a:effectLst/>
                <a:latin typeface="+mn-lt"/>
                <a:ea typeface="+mn-ea"/>
                <a:cs typeface="+mn-cs"/>
              </a:rPr>
              <a:t>plan</a:t>
            </a:r>
            <a:r>
              <a:rPr lang="zh-CN" altLang="en-US" sz="1200" kern="1200">
                <a:solidFill>
                  <a:schemeClr val="tx1"/>
                </a:solidFill>
                <a:effectLst/>
                <a:latin typeface="+mn-lt"/>
                <a:ea typeface="+mn-ea"/>
                <a:cs typeface="+mn-cs"/>
              </a:rPr>
              <a:t>（</a:t>
            </a:r>
            <a:r>
              <a:rPr lang="en-US" altLang="zh-CN" sz="1200" kern="1200">
                <a:solidFill>
                  <a:schemeClr val="tx1"/>
                </a:solidFill>
                <a:effectLst/>
                <a:latin typeface="+mn-lt"/>
                <a:ea typeface="+mn-ea"/>
                <a:cs typeface="+mn-cs"/>
              </a:rPr>
              <a:t>path to PoC</a:t>
            </a:r>
            <a:r>
              <a:rPr lang="zh-CN" altLang="en-US" sz="1200" kern="1200">
                <a:solidFill>
                  <a:schemeClr val="tx1"/>
                </a:solidFill>
                <a:effectLst/>
                <a:latin typeface="+mn-lt"/>
                <a:ea typeface="+mn-ea"/>
                <a:cs typeface="+mn-cs"/>
              </a:rPr>
              <a:t>）</a:t>
            </a:r>
            <a:r>
              <a:rPr lang="zh-CN" altLang="zh-CN" sz="1200" kern="1200">
                <a:solidFill>
                  <a:schemeClr val="tx1"/>
                </a:solidFill>
                <a:effectLst/>
                <a:latin typeface="+mn-lt"/>
                <a:ea typeface="+mn-ea"/>
                <a:cs typeface="+mn-cs"/>
              </a:rPr>
              <a:t>会在今年底上</a:t>
            </a:r>
            <a:r>
              <a:rPr lang="en-US" altLang="zh-CN" sz="1200" kern="1200">
                <a:solidFill>
                  <a:schemeClr val="tx1"/>
                </a:solidFill>
                <a:effectLst/>
                <a:latin typeface="+mn-lt"/>
                <a:ea typeface="+mn-ea"/>
                <a:cs typeface="+mn-cs"/>
              </a:rPr>
              <a:t>IUPC</a:t>
            </a:r>
          </a:p>
          <a:p>
            <a:r>
              <a:rPr lang="zh-CN" altLang="en-US" sz="1200" kern="1200">
                <a:solidFill>
                  <a:schemeClr val="tx1"/>
                </a:solidFill>
                <a:effectLst/>
                <a:latin typeface="+mn-lt"/>
                <a:ea typeface="+mn-ea"/>
                <a:cs typeface="+mn-cs"/>
              </a:rPr>
              <a:t>中国</a:t>
            </a:r>
            <a:r>
              <a:rPr lang="en-US" altLang="zh-CN" sz="1200" kern="1200">
                <a:solidFill>
                  <a:schemeClr val="tx1"/>
                </a:solidFill>
                <a:effectLst/>
                <a:latin typeface="+mn-lt"/>
                <a:ea typeface="+mn-ea"/>
                <a:cs typeface="+mn-cs"/>
              </a:rPr>
              <a:t>integration plan</a:t>
            </a:r>
            <a:r>
              <a:rPr lang="zh-CN" altLang="en-US" sz="1200" kern="1200">
                <a:solidFill>
                  <a:schemeClr val="tx1"/>
                </a:solidFill>
                <a:effectLst/>
                <a:latin typeface="+mn-lt"/>
                <a:ea typeface="+mn-ea"/>
                <a:cs typeface="+mn-cs"/>
              </a:rPr>
              <a:t>，年底后与</a:t>
            </a:r>
            <a:r>
              <a:rPr lang="en-US" altLang="zh-CN" sz="1200" kern="1200">
                <a:solidFill>
                  <a:schemeClr val="tx1"/>
                </a:solidFill>
                <a:effectLst/>
                <a:latin typeface="+mn-lt"/>
                <a:ea typeface="+mn-ea"/>
                <a:cs typeface="+mn-cs"/>
              </a:rPr>
              <a:t>global catch up</a:t>
            </a:r>
          </a:p>
          <a:p>
            <a:endParaRPr lang="zh-CN" altLang="en-US"/>
          </a:p>
        </p:txBody>
      </p:sp>
      <p:sp>
        <p:nvSpPr>
          <p:cNvPr id="4" name="灯片编号占位符 3"/>
          <p:cNvSpPr>
            <a:spLocks noGrp="1"/>
          </p:cNvSpPr>
          <p:nvPr>
            <p:ph type="sldNum" sz="quarter" idx="5"/>
          </p:nvPr>
        </p:nvSpPr>
        <p:spPr/>
        <p:txBody>
          <a:bodyPr/>
          <a:lstStyle/>
          <a:p>
            <a:fld id="{F6CB4BB5-E309-45E5-BB7A-A4E8DEB85991}" type="slidenum">
              <a:rPr lang="zh-CN" altLang="en-US" smtClean="0"/>
              <a:t>19</a:t>
            </a:fld>
            <a:endParaRPr lang="zh-CN" altLang="en-US"/>
          </a:p>
        </p:txBody>
      </p:sp>
    </p:spTree>
    <p:extLst>
      <p:ext uri="{BB962C8B-B14F-4D97-AF65-F5344CB8AC3E}">
        <p14:creationId xmlns:p14="http://schemas.microsoft.com/office/powerpoint/2010/main" val="25237885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sv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5.svg"/><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Master" Target="../slideMasters/slideMaster2.xml"/><Relationship Id="rId5" Type="http://schemas.openxmlformats.org/officeDocument/2006/relationships/image" Target="../media/image19.svg"/><Relationship Id="rId4" Type="http://schemas.openxmlformats.org/officeDocument/2006/relationships/image" Target="../media/image4.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9.svg"/><Relationship Id="rId4" Type="http://schemas.openxmlformats.org/officeDocument/2006/relationships/image" Target="../media/image4.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Master" Target="../slideMasters/slideMaster2.xml"/><Relationship Id="rId6" Type="http://schemas.openxmlformats.org/officeDocument/2006/relationships/image" Target="../media/image14.png"/><Relationship Id="rId5" Type="http://schemas.openxmlformats.org/officeDocument/2006/relationships/image" Target="../media/image16.svg"/><Relationship Id="rId4" Type="http://schemas.openxmlformats.org/officeDocument/2006/relationships/image" Target="../media/image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4.pn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png"/><Relationship Id="rId1" Type="http://schemas.openxmlformats.org/officeDocument/2006/relationships/slideMaster" Target="../slideMasters/slideMaster2.xml"/><Relationship Id="rId5" Type="http://schemas.openxmlformats.org/officeDocument/2006/relationships/image" Target="../media/image24.png"/><Relationship Id="rId4" Type="http://schemas.openxmlformats.org/officeDocument/2006/relationships/image" Target="../media/image23.png"/></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Tree>
    <p:extLst>
      <p:ext uri="{BB962C8B-B14F-4D97-AF65-F5344CB8AC3E}">
        <p14:creationId xmlns:p14="http://schemas.microsoft.com/office/powerpoint/2010/main" val="40713460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2256718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66635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a:prstGeom prst="rect">
            <a:avLst/>
          </a:prstGeo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59061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a:prstGeom prst="rect">
            <a:avLst/>
          </a:prstGeo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5751294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259958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18203822"/>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Tree>
    <p:extLst>
      <p:ext uri="{BB962C8B-B14F-4D97-AF65-F5344CB8AC3E}">
        <p14:creationId xmlns:p14="http://schemas.microsoft.com/office/powerpoint/2010/main" val="28300000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3964284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6919383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3882643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693764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583576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01269282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9246131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a:prstGeom prst="rect">
            <a:avLst/>
          </a:prstGeo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770396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1406195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Tree>
    <p:extLst>
      <p:ext uri="{BB962C8B-B14F-4D97-AF65-F5344CB8AC3E}">
        <p14:creationId xmlns:p14="http://schemas.microsoft.com/office/powerpoint/2010/main" val="232735386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0785132"/>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9524603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3502093"/>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493395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3281604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984867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5861098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44811232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2056046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323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a:xfrm>
            <a:off x="6312024" y="6246836"/>
            <a:ext cx="5040560" cy="288000"/>
          </a:xfrm>
          <a:prstGeom prst="rect">
            <a:avLst/>
          </a:prstGeom>
        </p:spPr>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82552585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4764304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62756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8731732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6318449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blank">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0AD1C50B-E8A2-4BF1-8E49-B64B7009FA23}" type="datetime1">
              <a:rPr lang="en-GB" noProof="0" smtClean="0"/>
              <a:t>19/12/2025</a:t>
            </a:fld>
            <a:endParaRPr lang="en-GB" noProof="0"/>
          </a:p>
        </p:txBody>
      </p:sp>
      <p:sp>
        <p:nvSpPr>
          <p:cNvPr id="3" name="Fußzeilenplatzhalter 2"/>
          <p:cNvSpPr>
            <a:spLocks noGrp="1"/>
          </p:cNvSpPr>
          <p:nvPr>
            <p:ph type="ftr" sz="quarter" idx="11"/>
          </p:nvPr>
        </p:nvSpPr>
        <p:spPr>
          <a:xfrm>
            <a:off x="6312024" y="6246836"/>
            <a:ext cx="5040560" cy="288000"/>
          </a:xfrm>
          <a:prstGeom prst="rect">
            <a:avLst/>
          </a:prstGeom>
        </p:spPr>
        <p:txBody>
          <a:bodyPr/>
          <a:lstStyle/>
          <a:p>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50558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96352410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56_Title Slide">
    <p:spTree>
      <p:nvGrpSpPr>
        <p:cNvPr id="1" name=""/>
        <p:cNvGrpSpPr/>
        <p:nvPr/>
      </p:nvGrpSpPr>
      <p:grpSpPr>
        <a:xfrm>
          <a:off x="0" y="0"/>
          <a:ext cx="0" cy="0"/>
          <a:chOff x="0" y="0"/>
          <a:chExt cx="0" cy="0"/>
        </a:xfrm>
      </p:grpSpPr>
      <p:sp>
        <p:nvSpPr>
          <p:cNvPr id="7" name="Picture Placeholder 2"/>
          <p:cNvSpPr>
            <a:spLocks noGrp="1"/>
          </p:cNvSpPr>
          <p:nvPr>
            <p:ph type="pic" sz="quarter" idx="11"/>
          </p:nvPr>
        </p:nvSpPr>
        <p:spPr>
          <a:xfrm>
            <a:off x="6583081" y="239892"/>
            <a:ext cx="5300117" cy="6335891"/>
          </a:xfrm>
          <a:custGeom>
            <a:avLst/>
            <a:gdLst/>
            <a:ahLst/>
            <a:cxnLst/>
            <a:rect l="l" t="t" r="r" b="b"/>
            <a:pathLst>
              <a:path w="4335753" h="5183067">
                <a:moveTo>
                  <a:pt x="2624125" y="1178296"/>
                </a:moveTo>
                <a:cubicBezTo>
                  <a:pt x="2698245" y="1173058"/>
                  <a:pt x="2774671" y="1189136"/>
                  <a:pt x="2843864" y="1229085"/>
                </a:cubicBezTo>
                <a:cubicBezTo>
                  <a:pt x="3028381" y="1335615"/>
                  <a:pt x="3091600" y="1571555"/>
                  <a:pt x="2985070" y="1756071"/>
                </a:cubicBezTo>
                <a:lnTo>
                  <a:pt x="1117895" y="4990113"/>
                </a:lnTo>
                <a:cubicBezTo>
                  <a:pt x="1011365" y="5174629"/>
                  <a:pt x="775425" y="5237849"/>
                  <a:pt x="590909" y="5131318"/>
                </a:cubicBezTo>
                <a:cubicBezTo>
                  <a:pt x="406393" y="5024788"/>
                  <a:pt x="343173" y="4788848"/>
                  <a:pt x="449703" y="4604332"/>
                </a:cubicBezTo>
                <a:lnTo>
                  <a:pt x="2316878" y="1370290"/>
                </a:lnTo>
                <a:cubicBezTo>
                  <a:pt x="2383459" y="1254968"/>
                  <a:pt x="2500592" y="1187027"/>
                  <a:pt x="2624125" y="1178296"/>
                </a:cubicBezTo>
                <a:close/>
                <a:moveTo>
                  <a:pt x="3923060" y="861165"/>
                </a:moveTo>
                <a:cubicBezTo>
                  <a:pt x="3997180" y="855927"/>
                  <a:pt x="4073605" y="872005"/>
                  <a:pt x="4142799" y="911954"/>
                </a:cubicBezTo>
                <a:cubicBezTo>
                  <a:pt x="4327315" y="1018484"/>
                  <a:pt x="4390534" y="1254424"/>
                  <a:pt x="4284004" y="1438940"/>
                </a:cubicBezTo>
                <a:lnTo>
                  <a:pt x="2416832" y="4672979"/>
                </a:lnTo>
                <a:cubicBezTo>
                  <a:pt x="2310301" y="4857495"/>
                  <a:pt x="2074361" y="4920715"/>
                  <a:pt x="1889845" y="4814185"/>
                </a:cubicBezTo>
                <a:cubicBezTo>
                  <a:pt x="1705329" y="4707654"/>
                  <a:pt x="1642109" y="4471714"/>
                  <a:pt x="1748639" y="4287198"/>
                </a:cubicBezTo>
                <a:lnTo>
                  <a:pt x="3615812" y="1053159"/>
                </a:lnTo>
                <a:cubicBezTo>
                  <a:pt x="3682394" y="937837"/>
                  <a:pt x="3799525" y="869895"/>
                  <a:pt x="3923060" y="861165"/>
                </a:cubicBezTo>
                <a:close/>
                <a:moveTo>
                  <a:pt x="2226169" y="961"/>
                </a:moveTo>
                <a:cubicBezTo>
                  <a:pt x="2300289" y="-4277"/>
                  <a:pt x="2376714" y="11800"/>
                  <a:pt x="2445908" y="51750"/>
                </a:cubicBezTo>
                <a:cubicBezTo>
                  <a:pt x="2630424" y="158280"/>
                  <a:pt x="2693644" y="394220"/>
                  <a:pt x="2587114" y="578736"/>
                </a:cubicBezTo>
                <a:lnTo>
                  <a:pt x="719942" y="3812773"/>
                </a:lnTo>
                <a:cubicBezTo>
                  <a:pt x="613411" y="3997289"/>
                  <a:pt x="377471" y="4060509"/>
                  <a:pt x="192955" y="3953979"/>
                </a:cubicBezTo>
                <a:cubicBezTo>
                  <a:pt x="8439" y="3847448"/>
                  <a:pt x="-54781" y="3611508"/>
                  <a:pt x="51749" y="3426992"/>
                </a:cubicBezTo>
                <a:lnTo>
                  <a:pt x="1918921" y="192955"/>
                </a:lnTo>
                <a:cubicBezTo>
                  <a:pt x="1985503" y="77633"/>
                  <a:pt x="2102635" y="9691"/>
                  <a:pt x="2226169" y="961"/>
                </a:cubicBezTo>
                <a:close/>
              </a:path>
            </a:pathLst>
          </a:custGeom>
          <a:noFill/>
        </p:spPr>
        <p:txBody>
          <a:bodyPr lIns="68580" tIns="34290" rIns="68580" bIns="34290" anchor="ctr">
            <a:normAutofit/>
          </a:bodyPr>
          <a:lstStyle>
            <a:lvl1pPr marL="0" indent="0" algn="ctr">
              <a:buNone/>
              <a:defRPr sz="1660" baseline="0">
                <a:latin typeface="OPPOSans M" panose="00020600040101010101" pitchFamily="18" charset="-122"/>
                <a:cs typeface="Lato Regular"/>
              </a:defRPr>
            </a:lvl1pPr>
          </a:lstStyle>
          <a:p>
            <a:endParaRPr lang="en-US"/>
          </a:p>
        </p:txBody>
      </p:sp>
    </p:spTree>
    <p:extLst>
      <p:ext uri="{BB962C8B-B14F-4D97-AF65-F5344CB8AC3E}">
        <p14:creationId xmlns:p14="http://schemas.microsoft.com/office/powerpoint/2010/main" val="127122722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标题">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891F1F4-B9F8-8CFC-C6FD-77C2D4ACAB82}"/>
              </a:ext>
            </a:extLst>
          </p:cNvPr>
          <p:cNvSpPr>
            <a:spLocks noGrp="1"/>
          </p:cNvSpPr>
          <p:nvPr>
            <p:ph type="dt" sz="half" idx="10"/>
          </p:nvPr>
        </p:nvSpPr>
        <p:spPr/>
        <p:txBody>
          <a:bodyPr/>
          <a:lstStyle/>
          <a:p>
            <a:fld id="{5DE66590-3E96-4764-9BF7-697F166BBDD2}" type="datetimeFigureOut">
              <a:rPr lang="zh-CN" altLang="en-US" smtClean="0"/>
              <a:t>2025/12/19</a:t>
            </a:fld>
            <a:endParaRPr lang="zh-CN" altLang="en-US"/>
          </a:p>
        </p:txBody>
      </p:sp>
      <p:sp>
        <p:nvSpPr>
          <p:cNvPr id="3" name="页脚占位符 2">
            <a:extLst>
              <a:ext uri="{FF2B5EF4-FFF2-40B4-BE49-F238E27FC236}">
                <a16:creationId xmlns:a16="http://schemas.microsoft.com/office/drawing/2014/main" id="{AC5AB01F-981A-1245-32FD-CA7ED3F1EF60}"/>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D059A1-3ADB-385A-0ACA-C3332CFAA1B5}"/>
              </a:ext>
            </a:extLst>
          </p:cNvPr>
          <p:cNvSpPr>
            <a:spLocks noGrp="1"/>
          </p:cNvSpPr>
          <p:nvPr>
            <p:ph type="sldNum" sz="quarter" idx="12"/>
          </p:nvPr>
        </p:nvSpPr>
        <p:spPr/>
        <p:txBody>
          <a:bodyPr/>
          <a:lstStyle/>
          <a:p>
            <a:fld id="{01C16240-A846-4458-80FC-BD33C1EA2FF0}" type="slidenum">
              <a:rPr lang="zh-CN" altLang="en-US" smtClean="0"/>
              <a:t>‹#›</a:t>
            </a:fld>
            <a:endParaRPr lang="zh-CN" altLang="en-US"/>
          </a:p>
        </p:txBody>
      </p:sp>
      <p:sp>
        <p:nvSpPr>
          <p:cNvPr id="6" name="文本占位符 5">
            <a:extLst>
              <a:ext uri="{FF2B5EF4-FFF2-40B4-BE49-F238E27FC236}">
                <a16:creationId xmlns:a16="http://schemas.microsoft.com/office/drawing/2014/main" id="{A7B5850D-D735-46B9-D260-373560190F41}"/>
              </a:ext>
            </a:extLst>
          </p:cNvPr>
          <p:cNvSpPr>
            <a:spLocks noGrp="1"/>
          </p:cNvSpPr>
          <p:nvPr>
            <p:ph type="body" sz="quarter" idx="13"/>
          </p:nvPr>
        </p:nvSpPr>
        <p:spPr>
          <a:xfrm>
            <a:off x="442913" y="454025"/>
            <a:ext cx="9600579" cy="398571"/>
          </a:xfrm>
        </p:spPr>
        <p:txBody>
          <a:bodyPr lIns="0" tIns="0" rIns="0" bIns="0" anchor="b" anchorCtr="0">
            <a:spAutoFit/>
          </a:bodyPr>
          <a:lstStyle>
            <a:lvl1pPr marL="0" indent="0">
              <a:buNone/>
              <a:defRPr lang="zh-CN" altLang="en-US" dirty="0">
                <a:gradFill>
                  <a:gsLst>
                    <a:gs pos="0">
                      <a:schemeClr val="accent1"/>
                    </a:gs>
                    <a:gs pos="100000">
                      <a:schemeClr val="accent1">
                        <a:lumMod val="75000"/>
                      </a:schemeClr>
                    </a:gs>
                  </a:gsLst>
                  <a:lin ang="2700000" scaled="1"/>
                </a:gradFill>
                <a:latin typeface="+mj-ea"/>
                <a:ea typeface="+mj-ea"/>
              </a:defRPr>
            </a:lvl1pPr>
          </a:lstStyle>
          <a:p>
            <a:pPr lvl="0"/>
            <a:r>
              <a:rPr lang="zh-CN" altLang="en-US"/>
              <a:t>单击此处编辑母版文本样式</a:t>
            </a:r>
          </a:p>
        </p:txBody>
      </p:sp>
    </p:spTree>
    <p:extLst>
      <p:ext uri="{BB962C8B-B14F-4D97-AF65-F5344CB8AC3E}">
        <p14:creationId xmlns:p14="http://schemas.microsoft.com/office/powerpoint/2010/main" val="37837935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7" name="内容占位符 2"/>
          <p:cNvSpPr>
            <a:spLocks noGrp="1"/>
          </p:cNvSpPr>
          <p:nvPr>
            <p:ph idx="1"/>
          </p:nvPr>
        </p:nvSpPr>
        <p:spPr>
          <a:xfrm>
            <a:off x="609601" y="988219"/>
            <a:ext cx="10972800" cy="5184000"/>
          </a:xfrm>
          <a:prstGeom prst="rect">
            <a:avLst/>
          </a:prstGeom>
        </p:spPr>
        <p:txBody>
          <a:bodyPr lIns="91429" tIns="45715" rIns="91429" bIns="45715"/>
          <a:lstStyle>
            <a:lvl1pPr>
              <a:defRPr sz="1920">
                <a:latin typeface="+mj-ea"/>
                <a:ea typeface="+mj-ea"/>
              </a:defRPr>
            </a:lvl1pPr>
            <a:lvl2pPr>
              <a:defRPr sz="1920">
                <a:latin typeface="+mj-ea"/>
                <a:ea typeface="+mj-ea"/>
              </a:defRPr>
            </a:lvl2pPr>
            <a:lvl3pPr>
              <a:defRPr sz="1680">
                <a:latin typeface="+mj-ea"/>
                <a:ea typeface="+mj-ea"/>
              </a:defRPr>
            </a:lvl3pPr>
            <a:lvl4pPr>
              <a:defRPr sz="1680">
                <a:latin typeface="+mj-ea"/>
                <a:ea typeface="+mj-ea"/>
              </a:defRPr>
            </a:lvl4pPr>
            <a:lvl5pPr>
              <a:defRPr sz="1680">
                <a:latin typeface="+mj-ea"/>
                <a:ea typeface="+mj-ea"/>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243507666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6_标题和内容">
    <p:spTree>
      <p:nvGrpSpPr>
        <p:cNvPr id="1" name=""/>
        <p:cNvGrpSpPr/>
        <p:nvPr/>
      </p:nvGrpSpPr>
      <p:grpSpPr>
        <a:xfrm>
          <a:off x="0" y="0"/>
          <a:ext cx="0" cy="0"/>
          <a:chOff x="0" y="0"/>
          <a:chExt cx="0" cy="0"/>
        </a:xfrm>
      </p:grpSpPr>
      <p:sp>
        <p:nvSpPr>
          <p:cNvPr id="4" name="标题 1"/>
          <p:cNvSpPr>
            <a:spLocks noGrp="1"/>
          </p:cNvSpPr>
          <p:nvPr>
            <p:ph type="title"/>
          </p:nvPr>
        </p:nvSpPr>
        <p:spPr>
          <a:xfrm>
            <a:off x="609601" y="274638"/>
            <a:ext cx="10972800" cy="582595"/>
          </a:xfrm>
          <a:prstGeom prst="rect">
            <a:avLst/>
          </a:prstGeom>
        </p:spPr>
        <p:txBody>
          <a:bodyPr lIns="91429" tIns="45715" rIns="91429" bIns="45715" anchor="ctr" anchorCtr="0"/>
          <a:lstStyle>
            <a:lvl1pPr algn="l">
              <a:defRPr sz="2880">
                <a:solidFill>
                  <a:schemeClr val="accent1"/>
                </a:solidFill>
                <a:latin typeface="+mj-ea"/>
                <a:ea typeface="+mj-ea"/>
              </a:defRPr>
            </a:lvl1pPr>
          </a:lstStyle>
          <a:p>
            <a:r>
              <a:rPr lang="zh-CN" altLang="en-US"/>
              <a:t>单击此处编辑母版标题样式</a:t>
            </a:r>
          </a:p>
        </p:txBody>
      </p:sp>
      <p:sp>
        <p:nvSpPr>
          <p:cNvPr id="8" name="文本占位符 11"/>
          <p:cNvSpPr>
            <a:spLocks noGrp="1"/>
          </p:cNvSpPr>
          <p:nvPr>
            <p:ph type="body" sz="quarter" idx="10" hasCustomPrompt="1"/>
          </p:nvPr>
        </p:nvSpPr>
        <p:spPr>
          <a:xfrm>
            <a:off x="609605" y="6467588"/>
            <a:ext cx="8462726" cy="318256"/>
          </a:xfrm>
          <a:prstGeom prst="rect">
            <a:avLst/>
          </a:prstGeom>
        </p:spPr>
        <p:txBody>
          <a:bodyPr lIns="76179" tIns="38089" rIns="76179" bIns="38089" anchor="ctr"/>
          <a:lstStyle>
            <a:lvl1pPr marL="0" indent="0">
              <a:buNone/>
              <a:defRPr kumimoji="0" lang="zh-CN" altLang="en-US" sz="1200" b="0" i="0" u="none" strike="noStrike" kern="0" cap="none" spc="0" normalizeH="0" baseline="0" noProof="0" dirty="0" smtClean="0">
                <a:ln>
                  <a:noFill/>
                </a:ln>
                <a:solidFill>
                  <a:schemeClr val="tx1"/>
                </a:solidFill>
                <a:effectLst/>
                <a:uLnTx/>
                <a:uFillTx/>
                <a:latin typeface="+mj-ea"/>
                <a:ea typeface="+mj-ea"/>
                <a:cs typeface="+mn-cs"/>
              </a:defRPr>
            </a:lvl1pPr>
          </a:lstStyle>
          <a:p>
            <a:pPr lvl="0"/>
            <a:r>
              <a:rPr lang="zh-CN" altLang="en-US"/>
              <a:t>数据来源：</a:t>
            </a:r>
          </a:p>
        </p:txBody>
      </p:sp>
    </p:spTree>
    <p:extLst>
      <p:ext uri="{BB962C8B-B14F-4D97-AF65-F5344CB8AC3E}">
        <p14:creationId xmlns:p14="http://schemas.microsoft.com/office/powerpoint/2010/main" val="373488531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9000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999539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074165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4791574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70681459"/>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44391242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108144577"/>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678385673"/>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312377396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9427807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53802326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887155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6654300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00230051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28146817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176269136"/>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1274220930"/>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629310785"/>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5310513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97923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43578400"/>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151609617"/>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7473489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4927664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1958090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947440405"/>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8104473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90637614"/>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67543025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252609349"/>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4343273"/>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785857917"/>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404819852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Title pag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497A48F-71BC-39D3-81E9-627ECA3B7687}"/>
              </a:ext>
            </a:extLst>
          </p:cNvPr>
          <p:cNvSpPr/>
          <p:nvPr userDrawn="1"/>
        </p:nvSpPr>
        <p:spPr>
          <a:xfrm>
            <a:off x="0" y="-315416"/>
            <a:ext cx="12192000" cy="6858000"/>
          </a:xfrm>
          <a:prstGeom prst="rect">
            <a:avLst/>
          </a:prstGeom>
          <a:solidFill>
            <a:schemeClr val="bg1"/>
          </a:solidFill>
          <a:ln w="38100" cap="flat">
            <a:no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3469"/>
              </a:solidFill>
              <a:effectLst/>
              <a:uLnTx/>
              <a:uFillTx/>
              <a:latin typeface="BISansOptiCond"/>
              <a:ea typeface="+mn-ea"/>
              <a:cs typeface="+mn-cs"/>
            </a:endParaRPr>
          </a:p>
        </p:txBody>
      </p:sp>
      <p:sp>
        <p:nvSpPr>
          <p:cNvPr id="4" name="Date Placeholder 3" hidden="1"/>
          <p:cNvSpPr>
            <a:spLocks noGrp="1"/>
          </p:cNvSpPr>
          <p:nvPr>
            <p:ph type="dt" sz="half" idx="10"/>
          </p:nvPr>
        </p:nvSpPr>
        <p:spPr/>
        <p:txBody>
          <a:bodyPr/>
          <a:lstStyle/>
          <a:p>
            <a:pPr defTabSz="914377">
              <a:defRPr/>
            </a:pPr>
            <a:fld id="{D7DB2F7D-7A16-4C18-B84A-A389AB693C3B}" type="datetime1">
              <a:rPr lang="en-GB" smtClean="0">
                <a:solidFill>
                  <a:srgbClr val="000000">
                    <a:tint val="75000"/>
                  </a:srgbClr>
                </a:solidFill>
              </a:rPr>
              <a:t>19/12/2025</a:t>
            </a:fld>
            <a:endParaRPr lang="en-GB">
              <a:solidFill>
                <a:srgbClr val="000000">
                  <a:tint val="75000"/>
                </a:srgbClr>
              </a:solidFill>
            </a:endParaRPr>
          </a:p>
        </p:txBody>
      </p:sp>
      <p:sp>
        <p:nvSpPr>
          <p:cNvPr id="5" name="Footer Placeholder 4" hidden="1"/>
          <p:cNvSpPr>
            <a:spLocks noGrp="1"/>
          </p:cNvSpPr>
          <p:nvPr>
            <p:ph type="ftr" sz="quarter" idx="11"/>
          </p:nvPr>
        </p:nvSpPr>
        <p:spPr>
          <a:xfrm>
            <a:off x="1852800" y="6216000"/>
            <a:ext cx="6259424" cy="523200"/>
          </a:xfrm>
          <a:prstGeom prst="rect">
            <a:avLst/>
          </a:prstGeom>
        </p:spPr>
        <p:txBody>
          <a:bodyPr/>
          <a:lstStyle/>
          <a:p>
            <a:pPr defTabSz="914377">
              <a:defRPr/>
            </a:pPr>
            <a:endParaRPr lang="en-GB">
              <a:solidFill>
                <a:srgbClr val="000000"/>
              </a:solidFill>
            </a:endParaRPr>
          </a:p>
        </p:txBody>
      </p:sp>
      <p:sp>
        <p:nvSpPr>
          <p:cNvPr id="15" name="Subtitle 2">
            <a:extLst>
              <a:ext uri="{FF2B5EF4-FFF2-40B4-BE49-F238E27FC236}">
                <a16:creationId xmlns:a16="http://schemas.microsoft.com/office/drawing/2014/main" id="{4B3D060B-DCFF-4DB8-9DC8-7168998F76E9}"/>
              </a:ext>
            </a:extLst>
          </p:cNvPr>
          <p:cNvSpPr>
            <a:spLocks noGrp="1"/>
          </p:cNvSpPr>
          <p:nvPr>
            <p:ph type="subTitle" idx="1" hasCustomPrompt="1"/>
          </p:nvPr>
        </p:nvSpPr>
        <p:spPr>
          <a:xfrm>
            <a:off x="470400" y="3364360"/>
            <a:ext cx="5414400" cy="494400"/>
          </a:xfrm>
          <a:prstGeom prst="rect">
            <a:avLst/>
          </a:prstGeom>
        </p:spPr>
        <p:txBody>
          <a:bodyPr>
            <a:noAutofit/>
          </a:bodyPr>
          <a:lstStyle>
            <a:lvl1pPr marL="0" indent="0" algn="l">
              <a:buNone/>
              <a:defRPr sz="2667">
                <a:solidFill>
                  <a:schemeClr val="tx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add text</a:t>
            </a:r>
          </a:p>
        </p:txBody>
      </p:sp>
      <p:sp>
        <p:nvSpPr>
          <p:cNvPr id="16" name="Title 1">
            <a:extLst>
              <a:ext uri="{FF2B5EF4-FFF2-40B4-BE49-F238E27FC236}">
                <a16:creationId xmlns:a16="http://schemas.microsoft.com/office/drawing/2014/main" id="{A97CDF2A-0D27-DEBA-E741-7BE56422A216}"/>
              </a:ext>
            </a:extLst>
          </p:cNvPr>
          <p:cNvSpPr>
            <a:spLocks noGrp="1"/>
          </p:cNvSpPr>
          <p:nvPr>
            <p:ph type="ctrTitle" hasCustomPrompt="1"/>
          </p:nvPr>
        </p:nvSpPr>
        <p:spPr>
          <a:xfrm>
            <a:off x="497864" y="1316765"/>
            <a:ext cx="5386939" cy="1937635"/>
          </a:xfrm>
          <a:prstGeom prst="rect">
            <a:avLst/>
          </a:prstGeom>
        </p:spPr>
        <p:txBody>
          <a:bodyPr anchor="b">
            <a:noAutofit/>
          </a:bodyPr>
          <a:lstStyle>
            <a:lvl1pPr algn="l">
              <a:defRPr sz="5333">
                <a:solidFill>
                  <a:schemeClr val="tx2"/>
                </a:solidFill>
              </a:defRPr>
            </a:lvl1pPr>
          </a:lstStyle>
          <a:p>
            <a:r>
              <a:rPr lang="en-GB"/>
              <a:t>Click to add chapter title</a:t>
            </a:r>
            <a:endParaRPr lang="en-US"/>
          </a:p>
        </p:txBody>
      </p:sp>
      <p:pic>
        <p:nvPicPr>
          <p:cNvPr id="6" name="Picture 5" descr="A logo with blue text&#10;&#10;Description automatically generated">
            <a:extLst>
              <a:ext uri="{FF2B5EF4-FFF2-40B4-BE49-F238E27FC236}">
                <a16:creationId xmlns:a16="http://schemas.microsoft.com/office/drawing/2014/main" id="{67875A5B-BD70-9558-8202-9DBBB4AD79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503" y="6211205"/>
            <a:ext cx="1105367" cy="471199"/>
          </a:xfrm>
          <a:prstGeom prst="rect">
            <a:avLst/>
          </a:prstGeom>
        </p:spPr>
      </p:pic>
      <p:pic>
        <p:nvPicPr>
          <p:cNvPr id="12" name="Picture 11">
            <a:extLst>
              <a:ext uri="{FF2B5EF4-FFF2-40B4-BE49-F238E27FC236}">
                <a16:creationId xmlns:a16="http://schemas.microsoft.com/office/drawing/2014/main" id="{EB30E831-E930-1A58-E451-C103400D8DBF}"/>
              </a:ext>
            </a:extLst>
          </p:cNvPr>
          <p:cNvPicPr>
            <a:picLocks noChangeAspect="1"/>
          </p:cNvPicPr>
          <p:nvPr userDrawn="1"/>
        </p:nvPicPr>
        <p:blipFill>
          <a:blip r:embed="rId3"/>
          <a:stretch>
            <a:fillRect/>
          </a:stretch>
        </p:blipFill>
        <p:spPr>
          <a:xfrm>
            <a:off x="4354582" y="6397637"/>
            <a:ext cx="3540556" cy="132979"/>
          </a:xfrm>
          <a:prstGeom prst="rect">
            <a:avLst/>
          </a:prstGeom>
        </p:spPr>
      </p:pic>
      <p:pic>
        <p:nvPicPr>
          <p:cNvPr id="2" name="Picture 1" descr="Blue text on a black background&#10;&#10;Description automatically generated">
            <a:extLst>
              <a:ext uri="{FF2B5EF4-FFF2-40B4-BE49-F238E27FC236}">
                <a16:creationId xmlns:a16="http://schemas.microsoft.com/office/drawing/2014/main" id="{E5FFB7DA-9A66-2422-9617-836C86D497D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23200" y="6273602"/>
            <a:ext cx="1156800" cy="364705"/>
          </a:xfrm>
          <a:prstGeom prst="rect">
            <a:avLst/>
          </a:prstGeom>
        </p:spPr>
      </p:pic>
      <p:pic>
        <p:nvPicPr>
          <p:cNvPr id="3" name="Picture 2" descr="A close up of a logo&#10;&#10;Description automatically generated">
            <a:extLst>
              <a:ext uri="{FF2B5EF4-FFF2-40B4-BE49-F238E27FC236}">
                <a16:creationId xmlns:a16="http://schemas.microsoft.com/office/drawing/2014/main" id="{5C793F2C-61CD-89CB-E8E9-EF4A3C0136C4}"/>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t="21428" r="21786"/>
          <a:stretch/>
        </p:blipFill>
        <p:spPr>
          <a:xfrm>
            <a:off x="7536157" y="-322269"/>
            <a:ext cx="4655843" cy="4677141"/>
          </a:xfrm>
          <a:prstGeom prst="rect">
            <a:avLst/>
          </a:prstGeom>
        </p:spPr>
      </p:pic>
    </p:spTree>
    <p:extLst>
      <p:ext uri="{BB962C8B-B14F-4D97-AF65-F5344CB8AC3E}">
        <p14:creationId xmlns:p14="http://schemas.microsoft.com/office/powerpoint/2010/main" val="387182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Content p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603" y="287961"/>
            <a:ext cx="10406933" cy="739200"/>
          </a:xfrm>
          <a:prstGeom prst="rect">
            <a:avLst/>
          </a:prstGeom>
        </p:spPr>
        <p:txBody>
          <a:bodyPr/>
          <a:lstStyle>
            <a:lvl1pPr>
              <a:defRPr>
                <a:solidFill>
                  <a:srgbClr val="003366"/>
                </a:solidFill>
              </a:defRPr>
            </a:lvl1pPr>
          </a:lstStyle>
          <a:p>
            <a:r>
              <a:rPr lang="en-US"/>
              <a:t>Insert title text here</a:t>
            </a:r>
          </a:p>
        </p:txBody>
      </p:sp>
      <p:sp>
        <p:nvSpPr>
          <p:cNvPr id="3" name="Content Placeholder 2"/>
          <p:cNvSpPr>
            <a:spLocks noGrp="1"/>
          </p:cNvSpPr>
          <p:nvPr>
            <p:ph idx="1"/>
          </p:nvPr>
        </p:nvSpPr>
        <p:spPr>
          <a:xfrm>
            <a:off x="489600" y="1598400"/>
            <a:ext cx="11212800" cy="4526400"/>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hidden="1"/>
          <p:cNvSpPr>
            <a:spLocks noGrp="1"/>
          </p:cNvSpPr>
          <p:nvPr>
            <p:ph type="dt" sz="half" idx="10"/>
          </p:nvPr>
        </p:nvSpPr>
        <p:spPr/>
        <p:txBody>
          <a:bodyPr/>
          <a:lstStyle/>
          <a:p>
            <a:pPr defTabSz="914377">
              <a:defRPr/>
            </a:pPr>
            <a:fld id="{90282427-5108-4CA6-8AFC-027F29BF0684}" type="datetime1">
              <a:rPr lang="en-GB" smtClean="0">
                <a:solidFill>
                  <a:srgbClr val="000000">
                    <a:tint val="75000"/>
                  </a:srgbClr>
                </a:solidFill>
              </a:rPr>
              <a:t>19/12/2025</a:t>
            </a:fld>
            <a:endParaRPr lang="en-GB">
              <a:solidFill>
                <a:srgbClr val="000000">
                  <a:tint val="75000"/>
                </a:srgbClr>
              </a:solidFill>
            </a:endParaRPr>
          </a:p>
        </p:txBody>
      </p:sp>
      <p:sp>
        <p:nvSpPr>
          <p:cNvPr id="10" name="Slide Number Placeholder 1">
            <a:extLst>
              <a:ext uri="{FF2B5EF4-FFF2-40B4-BE49-F238E27FC236}">
                <a16:creationId xmlns:a16="http://schemas.microsoft.com/office/drawing/2014/main" id="{8C60705A-2C21-FF01-A27B-4B610D5498DC}"/>
              </a:ext>
            </a:extLst>
          </p:cNvPr>
          <p:cNvSpPr txBox="1">
            <a:spLocks/>
          </p:cNvSpPr>
          <p:nvPr userDrawn="1"/>
        </p:nvSpPr>
        <p:spPr>
          <a:xfrm>
            <a:off x="11675244" y="6270901"/>
            <a:ext cx="486833" cy="366183"/>
          </a:xfrm>
          <a:prstGeom prst="rect">
            <a:avLst/>
          </a:prstGeom>
        </p:spPr>
        <p:txBody>
          <a:bodyPr vert="horz" lIns="121920" tIns="60960" rIns="121920" bIns="60960" rtlCol="0" anchor="ctr"/>
          <a:lstStyle>
            <a:defPPr>
              <a:defRPr lang="en-US"/>
            </a:defPPr>
            <a:lvl1pPr marL="0" algn="r" defTabSz="457200" rtl="0" eaLnBrk="1" latinLnBrk="0" hangingPunct="1">
              <a:defRPr sz="9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r" defTabSz="457189"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3469"/>
              </a:solidFill>
              <a:effectLst/>
              <a:uLnTx/>
              <a:uFillTx/>
              <a:latin typeface="BISansOptiCond"/>
              <a:ea typeface="+mn-ea"/>
              <a:cs typeface="+mn-cs"/>
            </a:endParaRPr>
          </a:p>
        </p:txBody>
      </p:sp>
      <p:grpSp>
        <p:nvGrpSpPr>
          <p:cNvPr id="5" name="Group 4">
            <a:extLst>
              <a:ext uri="{FF2B5EF4-FFF2-40B4-BE49-F238E27FC236}">
                <a16:creationId xmlns:a16="http://schemas.microsoft.com/office/drawing/2014/main" id="{D62F5F0C-0C59-D120-1DF6-DB6AF904602A}"/>
              </a:ext>
            </a:extLst>
          </p:cNvPr>
          <p:cNvGrpSpPr/>
          <p:nvPr userDrawn="1"/>
        </p:nvGrpSpPr>
        <p:grpSpPr>
          <a:xfrm>
            <a:off x="0" y="926348"/>
            <a:ext cx="12192000" cy="96011"/>
            <a:chOff x="0" y="699542"/>
            <a:chExt cx="9144000" cy="72008"/>
          </a:xfrm>
        </p:grpSpPr>
        <p:cxnSp>
          <p:nvCxnSpPr>
            <p:cNvPr id="6" name="Straight Connector 5">
              <a:extLst>
                <a:ext uri="{FF2B5EF4-FFF2-40B4-BE49-F238E27FC236}">
                  <a16:creationId xmlns:a16="http://schemas.microsoft.com/office/drawing/2014/main" id="{24065F1E-34E4-1A43-B6B3-D2754778DA32}"/>
                </a:ext>
              </a:extLst>
            </p:cNvPr>
            <p:cNvCxnSpPr>
              <a:cxnSpLocks/>
            </p:cNvCxnSpPr>
            <p:nvPr userDrawn="1"/>
          </p:nvCxnSpPr>
          <p:spPr>
            <a:xfrm>
              <a:off x="0" y="699542"/>
              <a:ext cx="9144000" cy="0"/>
            </a:xfrm>
            <a:prstGeom prst="line">
              <a:avLst/>
            </a:prstGeom>
            <a:ln w="15875">
              <a:solidFill>
                <a:schemeClr val="tx2"/>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BDB6337-AD52-0150-470A-B56DB2A22348}"/>
                </a:ext>
              </a:extLst>
            </p:cNvPr>
            <p:cNvSpPr/>
            <p:nvPr userDrawn="1"/>
          </p:nvSpPr>
          <p:spPr>
            <a:xfrm>
              <a:off x="0" y="717550"/>
              <a:ext cx="9144000" cy="54000"/>
            </a:xfrm>
            <a:prstGeom prst="rect">
              <a:avLst/>
            </a:prstGeom>
            <a:gradFill flip="none" rotWithShape="1">
              <a:gsLst>
                <a:gs pos="39000">
                  <a:srgbClr val="FF7B80"/>
                </a:gs>
                <a:gs pos="100000">
                  <a:srgbClr val="FF9900"/>
                </a:gs>
              </a:gsLst>
              <a:lin ang="0" scaled="1"/>
              <a:tileRect/>
            </a:gradFill>
            <a:ln w="38100" cap="flat">
              <a:no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3469"/>
                </a:solidFill>
                <a:effectLst/>
                <a:uLnTx/>
                <a:uFillTx/>
                <a:latin typeface="BISansOptiCond"/>
                <a:ea typeface="+mn-ea"/>
                <a:cs typeface="+mn-cs"/>
              </a:endParaRPr>
            </a:p>
          </p:txBody>
        </p:sp>
      </p:grpSp>
      <p:pic>
        <p:nvPicPr>
          <p:cNvPr id="24" name="Picture 23" descr="A logo with blue text&#10;&#10;Description automatically generated">
            <a:extLst>
              <a:ext uri="{FF2B5EF4-FFF2-40B4-BE49-F238E27FC236}">
                <a16:creationId xmlns:a16="http://schemas.microsoft.com/office/drawing/2014/main" id="{E834CEE3-4777-276E-B0A4-EDBDD65F86A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002" y="6211205"/>
            <a:ext cx="1105367" cy="471199"/>
          </a:xfrm>
          <a:prstGeom prst="rect">
            <a:avLst/>
          </a:prstGeom>
        </p:spPr>
      </p:pic>
      <p:pic>
        <p:nvPicPr>
          <p:cNvPr id="7" name="Picture 6" descr="Blue text on a black background&#10;&#10;Description automatically generated">
            <a:extLst>
              <a:ext uri="{FF2B5EF4-FFF2-40B4-BE49-F238E27FC236}">
                <a16:creationId xmlns:a16="http://schemas.microsoft.com/office/drawing/2014/main" id="{C6EDF457-B8DB-87FE-867B-0A06169A06C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3200" y="6273602"/>
            <a:ext cx="1156800" cy="364705"/>
          </a:xfrm>
          <a:prstGeom prst="rect">
            <a:avLst/>
          </a:prstGeom>
        </p:spPr>
      </p:pic>
    </p:spTree>
    <p:extLst>
      <p:ext uri="{BB962C8B-B14F-4D97-AF65-F5344CB8AC3E}">
        <p14:creationId xmlns:p14="http://schemas.microsoft.com/office/powerpoint/2010/main" val="26403766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userDrawn="1">
  <p:cSld name="Blank title page">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8935557C-7CE9-FD0B-D7BB-6B863AACE6AC}"/>
              </a:ext>
            </a:extLst>
          </p:cNvPr>
          <p:cNvGrpSpPr/>
          <p:nvPr userDrawn="1"/>
        </p:nvGrpSpPr>
        <p:grpSpPr>
          <a:xfrm>
            <a:off x="-2" y="940536"/>
            <a:ext cx="12192004" cy="86627"/>
            <a:chOff x="79104" y="692364"/>
            <a:chExt cx="9144003" cy="64970"/>
          </a:xfrm>
        </p:grpSpPr>
        <p:cxnSp>
          <p:nvCxnSpPr>
            <p:cNvPr id="23" name="Straight Connector 22">
              <a:extLst>
                <a:ext uri="{FF2B5EF4-FFF2-40B4-BE49-F238E27FC236}">
                  <a16:creationId xmlns:a16="http://schemas.microsoft.com/office/drawing/2014/main" id="{F90D724D-147D-54B6-148E-A66A5D435748}"/>
                </a:ext>
              </a:extLst>
            </p:cNvPr>
            <p:cNvCxnSpPr>
              <a:cxnSpLocks/>
            </p:cNvCxnSpPr>
            <p:nvPr userDrawn="1"/>
          </p:nvCxnSpPr>
          <p:spPr>
            <a:xfrm>
              <a:off x="79104" y="692364"/>
              <a:ext cx="9144000" cy="0"/>
            </a:xfrm>
            <a:prstGeom prst="line">
              <a:avLst/>
            </a:prstGeom>
            <a:ln w="28575">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6E599266-2700-4F89-F137-16A3A8475A2A}"/>
                </a:ext>
              </a:extLst>
            </p:cNvPr>
            <p:cNvSpPr/>
            <p:nvPr userDrawn="1"/>
          </p:nvSpPr>
          <p:spPr>
            <a:xfrm>
              <a:off x="79107" y="711615"/>
              <a:ext cx="9144000" cy="45719"/>
            </a:xfrm>
            <a:prstGeom prst="rect">
              <a:avLst/>
            </a:prstGeom>
            <a:gradFill flip="none" rotWithShape="1">
              <a:gsLst>
                <a:gs pos="39000">
                  <a:srgbClr val="FF7B80"/>
                </a:gs>
                <a:gs pos="100000">
                  <a:srgbClr val="FF9900"/>
                </a:gs>
              </a:gsLst>
              <a:lin ang="0" scaled="1"/>
              <a:tileRect/>
            </a:gradFill>
            <a:ln w="38100" cap="flat">
              <a:noFill/>
              <a:prstDash val="solid"/>
              <a:miter/>
            </a:ln>
          </p:spPr>
          <p:txBody>
            <a:bodyPr rtlCol="0" anchor="ct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3469"/>
                </a:solidFill>
                <a:effectLst/>
                <a:uLnTx/>
                <a:uFillTx/>
                <a:latin typeface="BISansOptiCond"/>
                <a:ea typeface="+mn-ea"/>
                <a:cs typeface="+mn-cs"/>
              </a:endParaRPr>
            </a:p>
          </p:txBody>
        </p:sp>
      </p:grpSp>
      <p:sp>
        <p:nvSpPr>
          <p:cNvPr id="7" name="Date Placeholder 6" hidden="1"/>
          <p:cNvSpPr>
            <a:spLocks noGrp="1"/>
          </p:cNvSpPr>
          <p:nvPr>
            <p:ph type="dt" sz="half" idx="10"/>
          </p:nvPr>
        </p:nvSpPr>
        <p:spPr/>
        <p:txBody>
          <a:bodyPr/>
          <a:lstStyle/>
          <a:p>
            <a:pPr defTabSz="914377">
              <a:defRPr/>
            </a:pPr>
            <a:fld id="{527EF19E-45DC-490F-B431-879D6D9B7946}" type="datetime1">
              <a:rPr lang="en-GB" smtClean="0">
                <a:solidFill>
                  <a:srgbClr val="000000">
                    <a:tint val="75000"/>
                  </a:srgbClr>
                </a:solidFill>
              </a:rPr>
              <a:t>19/12/2025</a:t>
            </a:fld>
            <a:endParaRPr lang="en-GB">
              <a:solidFill>
                <a:srgbClr val="000000">
                  <a:tint val="75000"/>
                </a:srgbClr>
              </a:solidFill>
            </a:endParaRPr>
          </a:p>
        </p:txBody>
      </p:sp>
      <p:sp>
        <p:nvSpPr>
          <p:cNvPr id="12" name="Title 1">
            <a:extLst>
              <a:ext uri="{FF2B5EF4-FFF2-40B4-BE49-F238E27FC236}">
                <a16:creationId xmlns:a16="http://schemas.microsoft.com/office/drawing/2014/main" id="{EEBA0535-3084-C9B9-DF0C-1137492DEF6A}"/>
              </a:ext>
            </a:extLst>
          </p:cNvPr>
          <p:cNvSpPr>
            <a:spLocks noGrp="1"/>
          </p:cNvSpPr>
          <p:nvPr>
            <p:ph type="title" hasCustomPrompt="1"/>
          </p:nvPr>
        </p:nvSpPr>
        <p:spPr>
          <a:xfrm>
            <a:off x="489603" y="287961"/>
            <a:ext cx="10406933" cy="739200"/>
          </a:xfrm>
          <a:prstGeom prst="rect">
            <a:avLst/>
          </a:prstGeom>
        </p:spPr>
        <p:txBody>
          <a:bodyPr/>
          <a:lstStyle>
            <a:lvl1pPr>
              <a:defRPr>
                <a:solidFill>
                  <a:srgbClr val="003366"/>
                </a:solidFill>
              </a:defRPr>
            </a:lvl1pPr>
          </a:lstStyle>
          <a:p>
            <a:r>
              <a:rPr lang="en-US"/>
              <a:t>Insert title text here</a:t>
            </a:r>
          </a:p>
        </p:txBody>
      </p:sp>
      <p:pic>
        <p:nvPicPr>
          <p:cNvPr id="15" name="Picture 14" descr="A logo with blue text&#10;&#10;Description automatically generated">
            <a:extLst>
              <a:ext uri="{FF2B5EF4-FFF2-40B4-BE49-F238E27FC236}">
                <a16:creationId xmlns:a16="http://schemas.microsoft.com/office/drawing/2014/main" id="{8D62D511-33FC-6F2F-E2EE-E5DA547B5A2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08002" y="6211205"/>
            <a:ext cx="1105367" cy="471199"/>
          </a:xfrm>
          <a:prstGeom prst="rect">
            <a:avLst/>
          </a:prstGeom>
        </p:spPr>
      </p:pic>
      <p:pic>
        <p:nvPicPr>
          <p:cNvPr id="2" name="Picture 1" descr="Blue text on a black background&#10;&#10;Description automatically generated">
            <a:extLst>
              <a:ext uri="{FF2B5EF4-FFF2-40B4-BE49-F238E27FC236}">
                <a16:creationId xmlns:a16="http://schemas.microsoft.com/office/drawing/2014/main" id="{920FAD36-1229-70B2-9D18-B0462A97BCF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23200" y="6273602"/>
            <a:ext cx="1156800" cy="364705"/>
          </a:xfrm>
          <a:prstGeom prst="rect">
            <a:avLst/>
          </a:prstGeom>
        </p:spPr>
      </p:pic>
    </p:spTree>
    <p:extLst>
      <p:ext uri="{BB962C8B-B14F-4D97-AF65-F5344CB8AC3E}">
        <p14:creationId xmlns:p14="http://schemas.microsoft.com/office/powerpoint/2010/main" val="3201108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98FFABE-58C3-75F7-65E6-DC126EE1ECE8}"/>
              </a:ext>
            </a:extLst>
          </p:cNvPr>
          <p:cNvSpPr>
            <a:spLocks noGrp="1"/>
          </p:cNvSpPr>
          <p:nvPr>
            <p:ph type="dt" sz="half" idx="10"/>
          </p:nvPr>
        </p:nvSpPr>
        <p:spPr/>
        <p:txBody>
          <a:bodyPr/>
          <a:lstStyle/>
          <a:p>
            <a:fld id="{7201911C-B974-4524-8C36-610A7D2DC1A9}" type="datetime1">
              <a:rPr lang="en-GB" altLang="zh-CN" smtClean="0"/>
              <a:t>19/12/2025</a:t>
            </a:fld>
            <a:endParaRPr lang="zh-CN" altLang="en-US"/>
          </a:p>
        </p:txBody>
      </p:sp>
      <p:sp>
        <p:nvSpPr>
          <p:cNvPr id="3" name="页脚占位符 2">
            <a:extLst>
              <a:ext uri="{FF2B5EF4-FFF2-40B4-BE49-F238E27FC236}">
                <a16:creationId xmlns:a16="http://schemas.microsoft.com/office/drawing/2014/main" id="{267874BB-6036-AE21-4195-ACE420F6727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4F46281-6356-BE0D-CE76-2421625586F3}"/>
              </a:ext>
            </a:extLst>
          </p:cNvPr>
          <p:cNvSpPr>
            <a:spLocks noGrp="1"/>
          </p:cNvSpPr>
          <p:nvPr>
            <p:ph type="sldNum" sz="quarter" idx="12"/>
          </p:nvPr>
        </p:nvSpPr>
        <p:spPr/>
        <p:txBody>
          <a:bodyPr/>
          <a:lstStyle/>
          <a:p>
            <a:fld id="{9251DE1B-A7FC-4487-8C62-808029F19693}" type="slidenum">
              <a:rPr lang="zh-CN" altLang="en-US" smtClean="0"/>
              <a:t>‹#›</a:t>
            </a:fld>
            <a:endParaRPr lang="zh-CN" altLang="en-US"/>
          </a:p>
        </p:txBody>
      </p:sp>
    </p:spTree>
    <p:extLst>
      <p:ext uri="{BB962C8B-B14F-4D97-AF65-F5344CB8AC3E}">
        <p14:creationId xmlns:p14="http://schemas.microsoft.com/office/powerpoint/2010/main" val="964371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9" Type="http://schemas.openxmlformats.org/officeDocument/2006/relationships/image" Target="../media/image1.png"/><Relationship Id="rId3" Type="http://schemas.openxmlformats.org/officeDocument/2006/relationships/slideLayout" Target="../slideLayouts/slideLayout42.xml"/><Relationship Id="rId21" Type="http://schemas.openxmlformats.org/officeDocument/2006/relationships/slideLayout" Target="../slideLayouts/slideLayout60.xml"/><Relationship Id="rId34" Type="http://schemas.openxmlformats.org/officeDocument/2006/relationships/slideLayout" Target="../slideLayouts/slideLayout73.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slideLayout" Target="../slideLayouts/slideLayout72.xml"/><Relationship Id="rId38" Type="http://schemas.openxmlformats.org/officeDocument/2006/relationships/theme" Target="../theme/theme2.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slideLayout" Target="../slideLayouts/slideLayout68.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37" Type="http://schemas.openxmlformats.org/officeDocument/2006/relationships/slideLayout" Target="../slideLayouts/slideLayout76.xml"/><Relationship Id="rId40" Type="http://schemas.openxmlformats.org/officeDocument/2006/relationships/image" Target="../media/image2.svg"/><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slideLayout" Target="../slideLayouts/slideLayout75.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1">
            <a:extLst>
              <a:ext uri="{96DAC541-7B7A-43D3-8B79-37D633B846F1}">
                <asvg:svgBlip xmlns:asvg="http://schemas.microsoft.com/office/drawing/2016/SVG/main" r:embed="rId42"/>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12581710"/>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66" r:id="rId35"/>
    <p:sldLayoutId id="2147483768" r:id="rId36"/>
    <p:sldLayoutId id="2147483772" r:id="rId37"/>
    <p:sldLayoutId id="2147483773" r:id="rId38"/>
    <p:sldLayoutId id="2147483774" r:id="rId39"/>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9">
            <a:extLst>
              <a:ext uri="{96DAC541-7B7A-43D3-8B79-37D633B846F1}">
                <asvg:svgBlip xmlns:asvg="http://schemas.microsoft.com/office/drawing/2016/SVG/main" r:embed="rId40"/>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887604070"/>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 id="2147483798" r:id="rId10"/>
    <p:sldLayoutId id="2147483799" r:id="rId11"/>
    <p:sldLayoutId id="2147483800" r:id="rId12"/>
    <p:sldLayoutId id="2147483801" r:id="rId13"/>
    <p:sldLayoutId id="2147483802" r:id="rId14"/>
    <p:sldLayoutId id="2147483803" r:id="rId15"/>
    <p:sldLayoutId id="2147483804" r:id="rId16"/>
    <p:sldLayoutId id="2147483805" r:id="rId17"/>
    <p:sldLayoutId id="2147483806" r:id="rId18"/>
    <p:sldLayoutId id="2147483807" r:id="rId19"/>
    <p:sldLayoutId id="2147483808" r:id="rId20"/>
    <p:sldLayoutId id="2147483809" r:id="rId21"/>
    <p:sldLayoutId id="2147483810" r:id="rId22"/>
    <p:sldLayoutId id="2147483811" r:id="rId23"/>
    <p:sldLayoutId id="2147483812" r:id="rId24"/>
    <p:sldLayoutId id="2147483813" r:id="rId25"/>
    <p:sldLayoutId id="2147483814" r:id="rId26"/>
    <p:sldLayoutId id="2147483815" r:id="rId27"/>
    <p:sldLayoutId id="2147483816" r:id="rId28"/>
    <p:sldLayoutId id="2147483817" r:id="rId29"/>
    <p:sldLayoutId id="2147483818" r:id="rId30"/>
    <p:sldLayoutId id="2147483819" r:id="rId31"/>
    <p:sldLayoutId id="2147483820" r:id="rId32"/>
    <p:sldLayoutId id="2147483821" r:id="rId33"/>
    <p:sldLayoutId id="2147483822" r:id="rId34"/>
    <p:sldLayoutId id="2147483823" r:id="rId35"/>
    <p:sldLayoutId id="2147483824" r:id="rId36"/>
    <p:sldLayoutId id="2147483825" r:id="rId37"/>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boehringer.sharepoint.com/:x:/r/sites/z365portfolioexecutivecommittee2/Shared%20Documents/MAP/MAP%20actions%20log.xlsx?d=wa04df7e5d6334e7c95d991fd87c086b4&amp;csf=1&amp;web=1&amp;e=4IW8aJ"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notesSlide" Target="../notesSlides/notesSlide4.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slideLayout" Target="../slideLayouts/slideLayout11.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30.png"/><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29.png"/></Relationships>
</file>

<file path=ppt/slides/_rels/slide9.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tags" Target="../tags/tag32.xml"/><Relationship Id="rId18" Type="http://schemas.openxmlformats.org/officeDocument/2006/relationships/tags" Target="../tags/tag37.xml"/><Relationship Id="rId3" Type="http://schemas.openxmlformats.org/officeDocument/2006/relationships/tags" Target="../tags/tag22.xml"/><Relationship Id="rId21" Type="http://schemas.openxmlformats.org/officeDocument/2006/relationships/notesSlide" Target="../notesSlides/notesSlide5.xml"/><Relationship Id="rId7" Type="http://schemas.openxmlformats.org/officeDocument/2006/relationships/tags" Target="../tags/tag26.xml"/><Relationship Id="rId12" Type="http://schemas.openxmlformats.org/officeDocument/2006/relationships/tags" Target="../tags/tag31.xml"/><Relationship Id="rId17" Type="http://schemas.openxmlformats.org/officeDocument/2006/relationships/tags" Target="../tags/tag36.xml"/><Relationship Id="rId2" Type="http://schemas.openxmlformats.org/officeDocument/2006/relationships/tags" Target="../tags/tag21.xml"/><Relationship Id="rId16" Type="http://schemas.openxmlformats.org/officeDocument/2006/relationships/tags" Target="../tags/tag35.xml"/><Relationship Id="rId20" Type="http://schemas.openxmlformats.org/officeDocument/2006/relationships/slideLayout" Target="../slideLayouts/slideLayout11.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0.xml"/><Relationship Id="rId5" Type="http://schemas.openxmlformats.org/officeDocument/2006/relationships/tags" Target="../tags/tag24.xml"/><Relationship Id="rId15" Type="http://schemas.openxmlformats.org/officeDocument/2006/relationships/tags" Target="../tags/tag34.xml"/><Relationship Id="rId23" Type="http://schemas.openxmlformats.org/officeDocument/2006/relationships/image" Target="../media/image30.png"/><Relationship Id="rId10" Type="http://schemas.openxmlformats.org/officeDocument/2006/relationships/tags" Target="../tags/tag29.xml"/><Relationship Id="rId19" Type="http://schemas.openxmlformats.org/officeDocument/2006/relationships/tags" Target="../tags/tag38.xml"/><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33.xml"/><Relationship Id="rId22" Type="http://schemas.openxmlformats.org/officeDocument/2006/relationships/image" Target="../media/image29.png"/></Relationships>
</file>

<file path=ppt/slides/_rels/slide10.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tags" Target="../tags/tag51.xml"/><Relationship Id="rId18" Type="http://schemas.openxmlformats.org/officeDocument/2006/relationships/tags" Target="../tags/tag56.xml"/><Relationship Id="rId3" Type="http://schemas.openxmlformats.org/officeDocument/2006/relationships/tags" Target="../tags/tag41.xml"/><Relationship Id="rId21" Type="http://schemas.openxmlformats.org/officeDocument/2006/relationships/tags" Target="../tags/tag59.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tags" Target="../tags/tag55.xml"/><Relationship Id="rId25" Type="http://schemas.openxmlformats.org/officeDocument/2006/relationships/image" Target="../media/image30.png"/><Relationship Id="rId2" Type="http://schemas.openxmlformats.org/officeDocument/2006/relationships/tags" Target="../tags/tag40.xml"/><Relationship Id="rId16" Type="http://schemas.openxmlformats.org/officeDocument/2006/relationships/tags" Target="../tags/tag54.xml"/><Relationship Id="rId20" Type="http://schemas.openxmlformats.org/officeDocument/2006/relationships/tags" Target="../tags/tag58.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24" Type="http://schemas.openxmlformats.org/officeDocument/2006/relationships/image" Target="../media/image29.png"/><Relationship Id="rId5" Type="http://schemas.openxmlformats.org/officeDocument/2006/relationships/tags" Target="../tags/tag43.xml"/><Relationship Id="rId15" Type="http://schemas.openxmlformats.org/officeDocument/2006/relationships/tags" Target="../tags/tag53.xml"/><Relationship Id="rId23" Type="http://schemas.openxmlformats.org/officeDocument/2006/relationships/notesSlide" Target="../notesSlides/notesSlide6.xml"/><Relationship Id="rId10" Type="http://schemas.openxmlformats.org/officeDocument/2006/relationships/tags" Target="../tags/tag48.xml"/><Relationship Id="rId19" Type="http://schemas.openxmlformats.org/officeDocument/2006/relationships/tags" Target="../tags/tag57.xml"/><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tags" Target="../tags/tag52.xml"/><Relationship Id="rId22"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8" Type="http://schemas.openxmlformats.org/officeDocument/2006/relationships/tags" Target="../tags/tag67.xml"/><Relationship Id="rId13" Type="http://schemas.openxmlformats.org/officeDocument/2006/relationships/tags" Target="../tags/tag72.xml"/><Relationship Id="rId18" Type="http://schemas.openxmlformats.org/officeDocument/2006/relationships/tags" Target="../tags/tag77.xml"/><Relationship Id="rId3" Type="http://schemas.openxmlformats.org/officeDocument/2006/relationships/tags" Target="../tags/tag62.xml"/><Relationship Id="rId21" Type="http://schemas.openxmlformats.org/officeDocument/2006/relationships/image" Target="../media/image29.png"/><Relationship Id="rId7" Type="http://schemas.openxmlformats.org/officeDocument/2006/relationships/tags" Target="../tags/tag66.xml"/><Relationship Id="rId12" Type="http://schemas.openxmlformats.org/officeDocument/2006/relationships/tags" Target="../tags/tag71.xml"/><Relationship Id="rId17" Type="http://schemas.openxmlformats.org/officeDocument/2006/relationships/tags" Target="../tags/tag76.xml"/><Relationship Id="rId2" Type="http://schemas.openxmlformats.org/officeDocument/2006/relationships/tags" Target="../tags/tag61.xml"/><Relationship Id="rId16" Type="http://schemas.openxmlformats.org/officeDocument/2006/relationships/tags" Target="../tags/tag75.xml"/><Relationship Id="rId20" Type="http://schemas.openxmlformats.org/officeDocument/2006/relationships/notesSlide" Target="../notesSlides/notesSlide7.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tags" Target="../tags/tag70.xml"/><Relationship Id="rId5" Type="http://schemas.openxmlformats.org/officeDocument/2006/relationships/tags" Target="../tags/tag64.xml"/><Relationship Id="rId15" Type="http://schemas.openxmlformats.org/officeDocument/2006/relationships/tags" Target="../tags/tag74.xml"/><Relationship Id="rId10" Type="http://schemas.openxmlformats.org/officeDocument/2006/relationships/tags" Target="../tags/tag69.xml"/><Relationship Id="rId19" Type="http://schemas.openxmlformats.org/officeDocument/2006/relationships/slideLayout" Target="../slideLayouts/slideLayout11.xml"/><Relationship Id="rId4" Type="http://schemas.openxmlformats.org/officeDocument/2006/relationships/tags" Target="../tags/tag63.xml"/><Relationship Id="rId9" Type="http://schemas.openxmlformats.org/officeDocument/2006/relationships/tags" Target="../tags/tag68.xml"/><Relationship Id="rId14" Type="http://schemas.openxmlformats.org/officeDocument/2006/relationships/tags" Target="../tags/tag73.xml"/><Relationship Id="rId22" Type="http://schemas.openxmlformats.org/officeDocument/2006/relationships/image" Target="../media/image30.png"/></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1.xml"/><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8" Type="http://schemas.openxmlformats.org/officeDocument/2006/relationships/tags" Target="../tags/tag85.xml"/><Relationship Id="rId13" Type="http://schemas.openxmlformats.org/officeDocument/2006/relationships/image" Target="../media/image30.png"/><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29.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notesSlide" Target="../notesSlides/notesSlide9.xml"/><Relationship Id="rId5" Type="http://schemas.openxmlformats.org/officeDocument/2006/relationships/tags" Target="../tags/tag82.xml"/><Relationship Id="rId10" Type="http://schemas.openxmlformats.org/officeDocument/2006/relationships/slideLayout" Target="../slideLayouts/slideLayout50.xml"/><Relationship Id="rId4" Type="http://schemas.openxmlformats.org/officeDocument/2006/relationships/tags" Target="../tags/tag81.xml"/><Relationship Id="rId9" Type="http://schemas.openxmlformats.org/officeDocument/2006/relationships/tags" Target="../tags/tag86.xml"/></Relationships>
</file>

<file path=ppt/slides/_rels/slide18.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notesSlide" Target="../notesSlides/notesSlide10.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slideLayout" Target="../slideLayouts/slideLayout50.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5" Type="http://schemas.openxmlformats.org/officeDocument/2006/relationships/tags" Target="../tags/tag91.xml"/><Relationship Id="rId15" Type="http://schemas.openxmlformats.org/officeDocument/2006/relationships/image" Target="../media/image30.png"/><Relationship Id="rId10" Type="http://schemas.openxmlformats.org/officeDocument/2006/relationships/tags" Target="../tags/tag96.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tags" Target="../tags/tag105.xml"/><Relationship Id="rId13" Type="http://schemas.openxmlformats.org/officeDocument/2006/relationships/tags" Target="../tags/tag110.xml"/><Relationship Id="rId3" Type="http://schemas.openxmlformats.org/officeDocument/2006/relationships/tags" Target="../tags/tag100.xml"/><Relationship Id="rId7" Type="http://schemas.openxmlformats.org/officeDocument/2006/relationships/tags" Target="../tags/tag104.xml"/><Relationship Id="rId12" Type="http://schemas.openxmlformats.org/officeDocument/2006/relationships/tags" Target="../tags/tag109.xml"/><Relationship Id="rId17" Type="http://schemas.openxmlformats.org/officeDocument/2006/relationships/image" Target="../media/image30.png"/><Relationship Id="rId2" Type="http://schemas.openxmlformats.org/officeDocument/2006/relationships/tags" Target="../tags/tag99.xml"/><Relationship Id="rId16" Type="http://schemas.openxmlformats.org/officeDocument/2006/relationships/image" Target="../media/image29.png"/><Relationship Id="rId1" Type="http://schemas.openxmlformats.org/officeDocument/2006/relationships/tags" Target="../tags/tag98.xml"/><Relationship Id="rId6" Type="http://schemas.openxmlformats.org/officeDocument/2006/relationships/tags" Target="../tags/tag103.xml"/><Relationship Id="rId11" Type="http://schemas.openxmlformats.org/officeDocument/2006/relationships/tags" Target="../tags/tag108.xml"/><Relationship Id="rId5" Type="http://schemas.openxmlformats.org/officeDocument/2006/relationships/tags" Target="../tags/tag102.xml"/><Relationship Id="rId15" Type="http://schemas.openxmlformats.org/officeDocument/2006/relationships/notesSlide" Target="../notesSlides/notesSlide11.xml"/><Relationship Id="rId10" Type="http://schemas.openxmlformats.org/officeDocument/2006/relationships/tags" Target="../tags/tag107.xml"/><Relationship Id="rId4" Type="http://schemas.openxmlformats.org/officeDocument/2006/relationships/tags" Target="../tags/tag101.xml"/><Relationship Id="rId9" Type="http://schemas.openxmlformats.org/officeDocument/2006/relationships/tags" Target="../tags/tag106.xml"/><Relationship Id="rId14"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3" Type="http://schemas.openxmlformats.org/officeDocument/2006/relationships/hyperlink" Target="https://eur03.safelinks.protection.outlook.com/?url=https%3A%2F%2Fwww.thelancet.com%2Fjournals%2Flanpsy%2Farticle%2FPIIS2215-0366(25)00296-2%2Fabstract&amp;data=05%7C02%7Cjingbo.xiao%40boehringer-ingelheim.com%7C344c26fc09e34fd0aeb808de223fe71e%7Ce1f8af86ee954718bd0d375b37366c83%7C0%7C0%7C638985855028469217%7CUnknown%7CTWFpbGZsb3d8eyJFbXB0eU1hcGkiOnRydWUsIlYiOiIwLjAuMDAwMCIsIlAiOiJXaW4zMiIsIkFOIjoiTWFpbCIsIldUIjoyfQ%3D%3D%7C0%7C%7C%7C&amp;sdata=fGf75j3xa1CYdDA%2FF2hHgU6u%2FqOB3hs4L9E3lk9HSps%3D&amp;reserved=0" TargetMode="External"/><Relationship Id="rId2" Type="http://schemas.openxmlformats.org/officeDocument/2006/relationships/image" Target="../media/image37.png"/><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479425" y="2637000"/>
            <a:ext cx="11587237" cy="1584000"/>
          </a:xfrm>
        </p:spPr>
        <p:txBody>
          <a:bodyPr anchor="t"/>
          <a:lstStyle/>
          <a:p>
            <a:r>
              <a:rPr lang="en-US" sz="3200"/>
              <a:t>Portfolio Executive Committee (PEC) Review Meeting</a:t>
            </a:r>
            <a:br>
              <a:rPr lang="en-US" sz="3200"/>
            </a:br>
            <a:br>
              <a:rPr lang="en-US" sz="3200"/>
            </a:br>
            <a:r>
              <a:rPr lang="en-US" sz="3200"/>
              <a:t>TA MHEH</a:t>
            </a:r>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479425" y="4437120"/>
            <a:ext cx="8281375" cy="936000"/>
          </a:xfrm>
        </p:spPr>
        <p:txBody>
          <a:bodyPr/>
          <a:lstStyle/>
          <a:p>
            <a:pPr lvl="1"/>
            <a:r>
              <a:rPr lang="en-US" altLang="zh-CN"/>
              <a:t>Meiruo Liu, Freya Zhu, </a:t>
            </a:r>
            <a:r>
              <a:rPr lang="en-US" altLang="zh-CN" err="1"/>
              <a:t>Jingbo</a:t>
            </a:r>
            <a:r>
              <a:rPr lang="en-US" altLang="zh-CN"/>
              <a:t> Xiao</a:t>
            </a:r>
            <a:r>
              <a:rPr lang="en-US"/>
              <a:t> | 15 December 2025 </a:t>
            </a:r>
            <a:r>
              <a:rPr lang="en-US" altLang="zh-CN"/>
              <a:t>| 10 min</a:t>
            </a:r>
            <a:endParaRPr lang="en-US"/>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a:xfrm>
            <a:off x="479936" y="6165328"/>
            <a:ext cx="5040000" cy="216000"/>
          </a:xfrm>
        </p:spPr>
        <p:txBody>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80000" marR="0" lvl="0" indent="-1800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TextBox 7">
            <a:extLst>
              <a:ext uri="{FF2B5EF4-FFF2-40B4-BE49-F238E27FC236}">
                <a16:creationId xmlns:a16="http://schemas.microsoft.com/office/drawing/2014/main" id="{28576732-9C88-DCDA-879A-44699A5FB4E6}"/>
              </a:ext>
            </a:extLst>
          </p:cNvPr>
          <p:cNvSpPr txBox="1">
            <a:spLocks noGrp="1" noRot="1" noMove="1" noResize="1" noEditPoints="1" noAdjustHandles="1" noChangeArrowheads="1" noChangeShapeType="1"/>
          </p:cNvSpPr>
          <p:nvPr/>
        </p:nvSpPr>
        <p:spPr bwMode="gray">
          <a:xfrm>
            <a:off x="12399976" y="-1"/>
            <a:ext cx="1715078" cy="3017521"/>
          </a:xfrm>
          <a:prstGeom prst="rect">
            <a:avLst/>
          </a:prstGeom>
          <a:solidFill>
            <a:schemeClr val="bg1"/>
          </a:solidFill>
        </p:spPr>
        <p:txBody>
          <a:bodyPr wrap="square" lIns="108000" tIns="108000" rIns="108000" bIns="108000">
            <a:noAutofit/>
          </a:bodyPr>
          <a:lstStyle/>
          <a:p>
            <a:pPr marL="0" marR="0" lvl="0" indent="0" algn="l" defTabSz="914400" rtl="0" eaLnBrk="1" fontAlgn="auto" latinLnBrk="0" hangingPunct="1">
              <a:lnSpc>
                <a:spcPct val="120000"/>
              </a:lnSpc>
              <a:spcBef>
                <a:spcPts val="0"/>
              </a:spcBef>
              <a:spcAft>
                <a:spcPts val="600"/>
              </a:spcAft>
              <a:buClrTx/>
              <a:buSzTx/>
              <a:buFontTx/>
              <a:buNone/>
              <a:tabLst/>
              <a:defRPr/>
            </a:pPr>
            <a:r>
              <a:rPr kumimoji="0" lang="en-US" sz="1100" b="1" i="0" u="none" strike="noStrike" kern="1200" cap="none" spc="0" normalizeH="0" baseline="0" noProof="0">
                <a:ln>
                  <a:noFill/>
                </a:ln>
                <a:solidFill>
                  <a:prstClr val="black"/>
                </a:solidFill>
                <a:effectLst/>
                <a:uLnTx/>
                <a:uFillTx/>
                <a:latin typeface="Boehringer Forward Head"/>
                <a:ea typeface="+mn-ea"/>
                <a:cs typeface="+mn-cs"/>
              </a:rPr>
              <a:t>To insert a wordmark:</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Add (e.g. via drag and drop) your wordmark file (in RGB) to this slide (in alignment with our brand governance and architecture guidelines)</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Change the size of the wordmark according to the height reference (magenta placeholder)</a:t>
            </a:r>
          </a:p>
          <a:p>
            <a:pPr marL="144000" marR="0" lvl="0" indent="-144000" algn="l" defTabSz="914400" rtl="0" eaLnBrk="1" fontAlgn="auto" latinLnBrk="0" hangingPunct="1">
              <a:lnSpc>
                <a:spcPct val="120000"/>
              </a:lnSpc>
              <a:spcBef>
                <a:spcPts val="0"/>
              </a:spcBef>
              <a:spcAft>
                <a:spcPts val="600"/>
              </a:spcAft>
              <a:buClrTx/>
              <a:buSzTx/>
              <a:buFont typeface="+mj-lt"/>
              <a:buAutoNum type="arabicPeriod"/>
              <a:tabLst/>
              <a:defRPr/>
            </a:pPr>
            <a:r>
              <a:rPr kumimoji="0" lang="en-US" sz="900" b="0" i="0" u="none" strike="noStrike" kern="1200" cap="none" spc="0" normalizeH="0" baseline="0" noProof="0">
                <a:ln>
                  <a:noFill/>
                </a:ln>
                <a:solidFill>
                  <a:prstClr val="black"/>
                </a:solidFill>
                <a:effectLst/>
                <a:uLnTx/>
                <a:uFillTx/>
                <a:latin typeface="Boehringer Forward Text"/>
                <a:ea typeface="+mn-ea"/>
                <a:cs typeface="+mn-cs"/>
              </a:rPr>
              <a:t>Select the “guides” in the navigation bar and move the wordmark to the right and top line (orange)</a:t>
            </a:r>
          </a:p>
        </p:txBody>
      </p:sp>
      <p:pic>
        <p:nvPicPr>
          <p:cNvPr id="10" name="Grafik 9">
            <a:extLst>
              <a:ext uri="{FF2B5EF4-FFF2-40B4-BE49-F238E27FC236}">
                <a16:creationId xmlns:a16="http://schemas.microsoft.com/office/drawing/2014/main" id="{3ABF3C48-BECA-13B1-0740-A1DC728D6B9E}"/>
              </a:ext>
            </a:extLst>
          </p:cNvPr>
          <p:cNvPicPr>
            <a:picLocks noGrp="1" noRot="1" noChangeAspect="1" noMove="1" noResize="1" noEditPoints="1" noAdjustHandles="1" noChangeArrowheads="1" noChangeShapeType="1" noCrop="1"/>
          </p:cNvPicPr>
          <p:nvPr/>
        </p:nvPicPr>
        <p:blipFill>
          <a:blip r:embed="rId3"/>
          <a:stretch>
            <a:fillRect/>
          </a:stretch>
        </p:blipFill>
        <p:spPr>
          <a:xfrm>
            <a:off x="12399976" y="3212976"/>
            <a:ext cx="2448273" cy="815185"/>
          </a:xfrm>
          <a:prstGeom prst="rect">
            <a:avLst/>
          </a:prstGeom>
        </p:spPr>
      </p:pic>
    </p:spTree>
    <p:extLst>
      <p:ext uri="{BB962C8B-B14F-4D97-AF65-F5344CB8AC3E}">
        <p14:creationId xmlns:p14="http://schemas.microsoft.com/office/powerpoint/2010/main" val="3380180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3DEEBB-CDFD-BBFA-517C-6C9314852D4C}"/>
              </a:ext>
            </a:extLst>
          </p:cNvPr>
          <p:cNvSpPr>
            <a:spLocks noGrp="1"/>
          </p:cNvSpPr>
          <p:nvPr>
            <p:ph type="ctrTitle"/>
          </p:nvPr>
        </p:nvSpPr>
        <p:spPr>
          <a:xfrm>
            <a:off x="479425" y="2637000"/>
            <a:ext cx="10474521" cy="1584000"/>
          </a:xfrm>
        </p:spPr>
        <p:txBody>
          <a:bodyPr vert="horz" lIns="0" tIns="0" rIns="0" bIns="0" rtlCol="0" anchor="b">
            <a:normAutofit fontScale="90000"/>
          </a:bodyPr>
          <a:lstStyle/>
          <a:p>
            <a:pPr marL="0" indent="0"/>
            <a:r>
              <a:rPr lang="en-US" altLang="zh-CN" b="1" i="0" kern="1200">
                <a:latin typeface="+mj-lt"/>
                <a:ea typeface="+mj-ea"/>
                <a:cs typeface="+mj-cs"/>
              </a:rPr>
              <a:t>Part I:</a:t>
            </a:r>
            <a:br>
              <a:rPr lang="en-US" altLang="zh-CN" b="1" i="0" kern="1200">
                <a:latin typeface="+mj-lt"/>
                <a:ea typeface="+mj-ea"/>
                <a:cs typeface="+mj-cs"/>
              </a:rPr>
            </a:br>
            <a:r>
              <a:rPr lang="en-US" altLang="zh-CN" b="1" i="0" kern="1200">
                <a:latin typeface="+mj-lt"/>
                <a:ea typeface="+mj-ea"/>
                <a:cs typeface="+mj-cs"/>
              </a:rPr>
              <a:t>Follow-up Actions from the Previous PEC</a:t>
            </a:r>
          </a:p>
        </p:txBody>
      </p:sp>
      <p:sp>
        <p:nvSpPr>
          <p:cNvPr id="7" name="TextBox 6">
            <a:extLst>
              <a:ext uri="{FF2B5EF4-FFF2-40B4-BE49-F238E27FC236}">
                <a16:creationId xmlns:a16="http://schemas.microsoft.com/office/drawing/2014/main" id="{7469B780-1BBC-792F-A6E5-B8CFDAFBCB97}"/>
              </a:ext>
            </a:extLst>
          </p:cNvPr>
          <p:cNvSpPr txBox="1"/>
          <p:nvPr/>
        </p:nvSpPr>
        <p:spPr bwMode="gray">
          <a:xfrm>
            <a:off x="479426" y="4437120"/>
            <a:ext cx="8281375" cy="936000"/>
          </a:xfrm>
          <a:prstGeom prst="rect">
            <a:avLst/>
          </a:prstGeom>
        </p:spPr>
        <p:txBody>
          <a:bodyPr vert="horz" lIns="0" tIns="0" rIns="0" bIns="0" rtlCol="0">
            <a:normAutofit/>
          </a:bodyPr>
          <a:lstStyle/>
          <a:p>
            <a:pPr defTabSz="914377">
              <a:spcAft>
                <a:spcPts val="2400"/>
              </a:spcAft>
            </a:pPr>
            <a:r>
              <a:rPr lang="en-US" altLang="zh-CN" sz="2400" u="sng">
                <a:solidFill>
                  <a:schemeClr val="bg2"/>
                </a:solidFill>
                <a:hlinkClick r:id="rId3"/>
              </a:rPr>
              <a:t>PEC action log</a:t>
            </a:r>
            <a:endParaRPr lang="en-US" altLang="zh-CN" sz="2400" u="sng">
              <a:solidFill>
                <a:schemeClr val="bg2"/>
              </a:solidFill>
            </a:endParaRPr>
          </a:p>
        </p:txBody>
      </p:sp>
      <p:sp>
        <p:nvSpPr>
          <p:cNvPr id="6" name="Slide Number Placeholder 5" hidden="1">
            <a:extLst>
              <a:ext uri="{FF2B5EF4-FFF2-40B4-BE49-F238E27FC236}">
                <a16:creationId xmlns:a16="http://schemas.microsoft.com/office/drawing/2014/main" id="{61BD01A9-C7E0-274E-262B-49239315BBD3}"/>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2</a:t>
            </a:fld>
            <a:endParaRPr lang="en-US"/>
          </a:p>
        </p:txBody>
      </p:sp>
    </p:spTree>
    <p:extLst>
      <p:ext uri="{BB962C8B-B14F-4D97-AF65-F5344CB8AC3E}">
        <p14:creationId xmlns:p14="http://schemas.microsoft.com/office/powerpoint/2010/main" val="251418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DA515E3-ED83-27E0-FCFF-4B60620A210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D2723B-0DA3-5B6D-FF67-B0737C886ED4}"/>
              </a:ext>
            </a:extLst>
          </p:cNvPr>
          <p:cNvSpPr>
            <a:spLocks noGrp="1"/>
          </p:cNvSpPr>
          <p:nvPr>
            <p:ph type="ctrTitle"/>
          </p:nvPr>
        </p:nvSpPr>
        <p:spPr>
          <a:xfrm>
            <a:off x="479425" y="2637000"/>
            <a:ext cx="8280755" cy="1584000"/>
          </a:xfrm>
        </p:spPr>
        <p:txBody>
          <a:bodyPr anchor="b">
            <a:normAutofit/>
          </a:bodyPr>
          <a:lstStyle/>
          <a:p>
            <a:pPr marL="0" indent="0">
              <a:buNone/>
            </a:pPr>
            <a:r>
              <a:rPr lang="en-US" altLang="zh-CN" b="1"/>
              <a:t>Part </a:t>
            </a:r>
            <a:r>
              <a:rPr lang="en-US" altLang="zh-CN"/>
              <a:t>II</a:t>
            </a:r>
            <a:r>
              <a:rPr lang="en-US" altLang="zh-CN" b="1"/>
              <a:t>: Discussion/</a:t>
            </a:r>
            <a:r>
              <a:rPr lang="en-US" altLang="zh-CN"/>
              <a:t>E</a:t>
            </a:r>
            <a:r>
              <a:rPr lang="en-US" altLang="zh-CN" b="1"/>
              <a:t>ndorsement</a:t>
            </a:r>
            <a:endParaRPr lang="zh-CN" altLang="en-US" b="1"/>
          </a:p>
        </p:txBody>
      </p:sp>
      <p:sp>
        <p:nvSpPr>
          <p:cNvPr id="6" name="Slide Number Placeholder 5" hidden="1">
            <a:extLst>
              <a:ext uri="{FF2B5EF4-FFF2-40B4-BE49-F238E27FC236}">
                <a16:creationId xmlns:a16="http://schemas.microsoft.com/office/drawing/2014/main" id="{E1489C0C-FF02-0D29-C7AA-96C633AA48D1}"/>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3</a:t>
            </a:fld>
            <a:endParaRPr lang="en-US"/>
          </a:p>
        </p:txBody>
      </p:sp>
    </p:spTree>
    <p:extLst>
      <p:ext uri="{BB962C8B-B14F-4D97-AF65-F5344CB8AC3E}">
        <p14:creationId xmlns:p14="http://schemas.microsoft.com/office/powerpoint/2010/main" val="884968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3307-A2AC-FD79-A6B1-B6FF397E302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A0ACD9-449E-959D-52D6-C8EC196674B8}"/>
              </a:ext>
            </a:extLst>
          </p:cNvPr>
          <p:cNvSpPr>
            <a:spLocks noGrp="1"/>
          </p:cNvSpPr>
          <p:nvPr>
            <p:ph type="ctrTitle"/>
          </p:nvPr>
        </p:nvSpPr>
        <p:spPr>
          <a:xfrm>
            <a:off x="479425" y="2637000"/>
            <a:ext cx="8280755" cy="1584000"/>
          </a:xfrm>
        </p:spPr>
        <p:txBody>
          <a:bodyPr anchor="b">
            <a:normAutofit/>
          </a:bodyPr>
          <a:lstStyle/>
          <a:p>
            <a:pPr marL="0" indent="0">
              <a:buNone/>
            </a:pPr>
            <a:r>
              <a:rPr lang="en-US" altLang="zh-CN" b="1"/>
              <a:t>Part III: Update</a:t>
            </a:r>
            <a:endParaRPr lang="zh-CN" altLang="en-US" b="1"/>
          </a:p>
        </p:txBody>
      </p:sp>
      <p:sp>
        <p:nvSpPr>
          <p:cNvPr id="6" name="Slide Number Placeholder 5" hidden="1">
            <a:extLst>
              <a:ext uri="{FF2B5EF4-FFF2-40B4-BE49-F238E27FC236}">
                <a16:creationId xmlns:a16="http://schemas.microsoft.com/office/drawing/2014/main" id="{212DC281-C5C9-FB64-DFB6-75FE95A7F99E}"/>
              </a:ext>
            </a:extLst>
          </p:cNvPr>
          <p:cNvSpPr>
            <a:spLocks noGrp="1"/>
          </p:cNvSpPr>
          <p:nvPr>
            <p:ph type="sldNum" sz="quarter" idx="4294967295"/>
          </p:nvPr>
        </p:nvSpPr>
        <p:spPr>
          <a:xfrm>
            <a:off x="11424592" y="6246836"/>
            <a:ext cx="288000" cy="288000"/>
          </a:xfrm>
        </p:spPr>
        <p:txBody>
          <a:bodyPr/>
          <a:lstStyle/>
          <a:p>
            <a:pPr>
              <a:spcAft>
                <a:spcPts val="600"/>
              </a:spcAft>
            </a:pPr>
            <a:fld id="{DF4E8F9F-5B1F-4F5B-BE49-3245D8C18D9F}" type="slidenum">
              <a:rPr lang="en-US" smtClean="0"/>
              <a:pPr>
                <a:spcAft>
                  <a:spcPts val="600"/>
                </a:spcAft>
              </a:pPr>
              <a:t>4</a:t>
            </a:fld>
            <a:endParaRPr lang="en-US"/>
          </a:p>
        </p:txBody>
      </p:sp>
    </p:spTree>
    <p:extLst>
      <p:ext uri="{BB962C8B-B14F-4D97-AF65-F5344CB8AC3E}">
        <p14:creationId xmlns:p14="http://schemas.microsoft.com/office/powerpoint/2010/main" val="2230873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C3A9C-ABB6-0ADC-B0EB-B9C6FAB2EFF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391E5BFF-9B99-E0F5-22BA-0B9A0AE7C36C}"/>
              </a:ext>
            </a:extLst>
          </p:cNvPr>
          <p:cNvPicPr>
            <a:picLocks noChangeAspect="1"/>
          </p:cNvPicPr>
          <p:nvPr/>
        </p:nvPicPr>
        <p:blipFill>
          <a:blip r:embed="rId3"/>
          <a:stretch>
            <a:fillRect/>
          </a:stretch>
        </p:blipFill>
        <p:spPr>
          <a:xfrm>
            <a:off x="479408" y="761058"/>
            <a:ext cx="11232592" cy="5817770"/>
          </a:xfrm>
          <a:prstGeom prst="rect">
            <a:avLst/>
          </a:prstGeom>
        </p:spPr>
      </p:pic>
      <p:sp>
        <p:nvSpPr>
          <p:cNvPr id="2" name="Title 1">
            <a:extLst>
              <a:ext uri="{FF2B5EF4-FFF2-40B4-BE49-F238E27FC236}">
                <a16:creationId xmlns:a16="http://schemas.microsoft.com/office/drawing/2014/main" id="{924CD80B-A8D2-40DF-6EF1-1EE9D19486E5}"/>
              </a:ext>
            </a:extLst>
          </p:cNvPr>
          <p:cNvSpPr>
            <a:spLocks noGrp="1"/>
          </p:cNvSpPr>
          <p:nvPr>
            <p:ph type="title"/>
          </p:nvPr>
        </p:nvSpPr>
        <p:spPr>
          <a:xfrm>
            <a:off x="479426" y="288461"/>
            <a:ext cx="11233151" cy="720000"/>
          </a:xfrm>
        </p:spPr>
        <p:txBody>
          <a:bodyPr/>
          <a:lstStyle/>
          <a:p>
            <a:r>
              <a:rPr lang="en-US" altLang="zh-CN"/>
              <a:t>TA MHEH Portfolio Summary - Pipeline Projects</a:t>
            </a:r>
            <a:endParaRPr lang="zh-CN" altLang="en-US"/>
          </a:p>
        </p:txBody>
      </p:sp>
      <p:sp>
        <p:nvSpPr>
          <p:cNvPr id="4" name="Text Placeholder 3">
            <a:extLst>
              <a:ext uri="{FF2B5EF4-FFF2-40B4-BE49-F238E27FC236}">
                <a16:creationId xmlns:a16="http://schemas.microsoft.com/office/drawing/2014/main" id="{D2CAC9D8-554D-6EF4-B4E7-EF62F9AFC16D}"/>
              </a:ext>
            </a:extLst>
          </p:cNvPr>
          <p:cNvSpPr>
            <a:spLocks noGrp="1"/>
          </p:cNvSpPr>
          <p:nvPr>
            <p:ph type="body" sz="quarter" idx="13"/>
          </p:nvPr>
        </p:nvSpPr>
        <p:spPr/>
        <p:txBody>
          <a:bodyPr/>
          <a:lstStyle/>
          <a:p>
            <a:endParaRPr lang="zh-CN" altLang="en-US"/>
          </a:p>
        </p:txBody>
      </p:sp>
      <p:sp>
        <p:nvSpPr>
          <p:cNvPr id="6" name="Slide Number Placeholder 5">
            <a:extLst>
              <a:ext uri="{FF2B5EF4-FFF2-40B4-BE49-F238E27FC236}">
                <a16:creationId xmlns:a16="http://schemas.microsoft.com/office/drawing/2014/main" id="{61A5EA93-ECBE-86CD-B859-049EF6A183BF}"/>
              </a:ext>
            </a:extLst>
          </p:cNvPr>
          <p:cNvSpPr>
            <a:spLocks noGrp="1"/>
          </p:cNvSpPr>
          <p:nvPr>
            <p:ph type="sldNum" sz="quarter" idx="20"/>
          </p:nvPr>
        </p:nvSpPr>
        <p:spPr/>
        <p:txBody>
          <a:bodyPr/>
          <a:lstStyle/>
          <a:p>
            <a:fld id="{DF4E8F9F-5B1F-4F5B-BE49-3245D8C18D9F}" type="slidenum">
              <a:rPr lang="en-US" smtClean="0"/>
              <a:pPr/>
              <a:t>5</a:t>
            </a:fld>
            <a:endParaRPr lang="en-US"/>
          </a:p>
        </p:txBody>
      </p:sp>
      <p:sp>
        <p:nvSpPr>
          <p:cNvPr id="12" name="Rectangle 11">
            <a:extLst>
              <a:ext uri="{FF2B5EF4-FFF2-40B4-BE49-F238E27FC236}">
                <a16:creationId xmlns:a16="http://schemas.microsoft.com/office/drawing/2014/main" id="{EB9EC48E-2C45-E507-7AC6-EA44F57620F8}"/>
              </a:ext>
            </a:extLst>
          </p:cNvPr>
          <p:cNvSpPr/>
          <p:nvPr/>
        </p:nvSpPr>
        <p:spPr bwMode="gray">
          <a:xfrm>
            <a:off x="1458764" y="4016700"/>
            <a:ext cx="4806365" cy="1703616"/>
          </a:xfrm>
          <a:prstGeom prst="rect">
            <a:avLst/>
          </a:prstGeom>
          <a:solidFill>
            <a:schemeClr val="bg1"/>
          </a:solidFill>
          <a:ln w="19050">
            <a:solidFill>
              <a:schemeClr val="bg1">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defTabSz="914377">
              <a:lnSpc>
                <a:spcPct val="110000"/>
              </a:lnSpc>
            </a:pPr>
            <a:r>
              <a:rPr lang="en-US" altLang="zh-CN" sz="1050" b="1">
                <a:solidFill>
                  <a:srgbClr val="5D4495"/>
                </a:solidFill>
              </a:rPr>
              <a:t>Status change:</a:t>
            </a:r>
            <a:r>
              <a:rPr lang="en-US" altLang="zh-CN" sz="1050" b="1" i="1">
                <a:solidFill>
                  <a:srgbClr val="5D4495"/>
                </a:solidFill>
              </a:rPr>
              <a:t> </a:t>
            </a:r>
          </a:p>
          <a:p>
            <a:pPr marL="171450" indent="-171450" defTabSz="914377">
              <a:lnSpc>
                <a:spcPct val="110000"/>
              </a:lnSpc>
              <a:buFont typeface="Arial" panose="020B0604020202020204" pitchFamily="34" charset="0"/>
              <a:buChar char="•"/>
            </a:pPr>
            <a:r>
              <a:rPr lang="en-US" altLang="zh-CN" sz="1050" i="1">
                <a:solidFill>
                  <a:srgbClr val="002060"/>
                </a:solidFill>
              </a:rPr>
              <a:t>New </a:t>
            </a:r>
            <a:r>
              <a:rPr lang="en-US" altLang="zh-CN" sz="1050" i="1" err="1">
                <a:solidFill>
                  <a:srgbClr val="002060"/>
                </a:solidFill>
              </a:rPr>
              <a:t>SoDs</a:t>
            </a:r>
            <a:r>
              <a:rPr lang="en-US" altLang="zh-CN" sz="1050" i="1">
                <a:solidFill>
                  <a:srgbClr val="002060"/>
                </a:solidFill>
              </a:rPr>
              <a:t> in Eye Health:</a:t>
            </a:r>
          </a:p>
          <a:p>
            <a:pPr marL="628650" lvl="1" indent="-171450" defTabSz="914377">
              <a:lnSpc>
                <a:spcPct val="110000"/>
              </a:lnSpc>
              <a:buFont typeface="Arial" panose="020B0604020202020204" pitchFamily="34" charset="0"/>
              <a:buChar char="•"/>
            </a:pPr>
            <a:r>
              <a:rPr lang="en-US" altLang="zh-CN" sz="1050" i="1">
                <a:solidFill>
                  <a:srgbClr val="002060"/>
                </a:solidFill>
              </a:rPr>
              <a:t>BI 3817491 anti‑VEGF/TNF</a:t>
            </a:r>
            <a:r>
              <a:rPr lang="el-GR" altLang="zh-CN" sz="1050" i="1">
                <a:solidFill>
                  <a:srgbClr val="002060"/>
                </a:solidFill>
              </a:rPr>
              <a:t>α</a:t>
            </a:r>
            <a:r>
              <a:rPr lang="en-US" altLang="zh-CN" sz="1050" i="1">
                <a:solidFill>
                  <a:srgbClr val="002060"/>
                </a:solidFill>
              </a:rPr>
              <a:t> in</a:t>
            </a:r>
            <a:r>
              <a:rPr lang="el-GR" altLang="zh-CN" sz="1050" i="1">
                <a:solidFill>
                  <a:srgbClr val="002060"/>
                </a:solidFill>
              </a:rPr>
              <a:t> </a:t>
            </a:r>
            <a:r>
              <a:rPr lang="en-US" altLang="zh-CN" sz="1050" i="1" err="1">
                <a:solidFill>
                  <a:srgbClr val="002060"/>
                </a:solidFill>
              </a:rPr>
              <a:t>nAMD</a:t>
            </a:r>
            <a:r>
              <a:rPr lang="en-US" altLang="zh-CN" sz="1050" i="1">
                <a:solidFill>
                  <a:srgbClr val="002060"/>
                </a:solidFill>
              </a:rPr>
              <a:t>: </a:t>
            </a:r>
            <a:r>
              <a:rPr lang="en-US" altLang="zh-CN" sz="1050" i="1" err="1">
                <a:solidFill>
                  <a:srgbClr val="002060"/>
                </a:solidFill>
              </a:rPr>
              <a:t>SoD</a:t>
            </a:r>
            <a:r>
              <a:rPr lang="en-US" altLang="zh-CN" sz="1050" i="1">
                <a:solidFill>
                  <a:srgbClr val="002060"/>
                </a:solidFill>
              </a:rPr>
              <a:t> in Nov</a:t>
            </a:r>
          </a:p>
          <a:p>
            <a:pPr marL="628650" lvl="1" indent="-171450" defTabSz="914377">
              <a:lnSpc>
                <a:spcPct val="110000"/>
              </a:lnSpc>
              <a:buFont typeface="Arial" panose="020B0604020202020204" pitchFamily="34" charset="0"/>
              <a:buChar char="•"/>
            </a:pPr>
            <a:r>
              <a:rPr lang="en-US" altLang="zh-CN" sz="1050" i="1">
                <a:solidFill>
                  <a:srgbClr val="002060"/>
                </a:solidFill>
              </a:rPr>
              <a:t>BI 3986283 BCL-</a:t>
            </a:r>
            <a:r>
              <a:rPr lang="en-US" altLang="zh-CN" sz="1050" i="1" err="1">
                <a:solidFill>
                  <a:srgbClr val="002060"/>
                </a:solidFill>
              </a:rPr>
              <a:t>xL</a:t>
            </a:r>
            <a:r>
              <a:rPr lang="en-US" altLang="zh-CN" sz="1050" i="1">
                <a:solidFill>
                  <a:srgbClr val="002060"/>
                </a:solidFill>
              </a:rPr>
              <a:t> inhibitor in DR: </a:t>
            </a:r>
            <a:r>
              <a:rPr lang="en-US" altLang="zh-CN" sz="1050" i="1" err="1">
                <a:solidFill>
                  <a:srgbClr val="002060"/>
                </a:solidFill>
              </a:rPr>
              <a:t>SoD</a:t>
            </a:r>
            <a:r>
              <a:rPr lang="en-US" altLang="zh-CN" sz="1050" i="1">
                <a:solidFill>
                  <a:srgbClr val="002060"/>
                </a:solidFill>
              </a:rPr>
              <a:t> in Nov</a:t>
            </a:r>
          </a:p>
          <a:p>
            <a:pPr marL="628650" lvl="1" indent="-171450" defTabSz="914377">
              <a:lnSpc>
                <a:spcPct val="110000"/>
              </a:lnSpc>
              <a:buFont typeface="Arial" panose="020B0604020202020204" pitchFamily="34" charset="0"/>
              <a:buChar char="•"/>
            </a:pPr>
            <a:r>
              <a:rPr lang="en-US" altLang="zh-CN" sz="1050" i="1">
                <a:solidFill>
                  <a:srgbClr val="002060"/>
                </a:solidFill>
              </a:rPr>
              <a:t>STING </a:t>
            </a:r>
            <a:r>
              <a:rPr lang="en-US" altLang="zh-CN" sz="1050" i="1" err="1">
                <a:solidFill>
                  <a:srgbClr val="002060"/>
                </a:solidFill>
              </a:rPr>
              <a:t>inh</a:t>
            </a:r>
            <a:r>
              <a:rPr lang="en-US" altLang="zh-CN" sz="1050" i="1">
                <a:solidFill>
                  <a:srgbClr val="002060"/>
                </a:solidFill>
              </a:rPr>
              <a:t>. IVT XT in DR/DME: </a:t>
            </a:r>
            <a:r>
              <a:rPr lang="en-US" altLang="zh-CN" sz="1050" i="1" err="1">
                <a:solidFill>
                  <a:srgbClr val="002060"/>
                </a:solidFill>
              </a:rPr>
              <a:t>SoD</a:t>
            </a:r>
            <a:r>
              <a:rPr lang="en-US" altLang="zh-CN" sz="1050" i="1">
                <a:solidFill>
                  <a:srgbClr val="002060"/>
                </a:solidFill>
              </a:rPr>
              <a:t> in Dec</a:t>
            </a:r>
          </a:p>
          <a:p>
            <a:pPr defTabSz="914377">
              <a:lnSpc>
                <a:spcPct val="110000"/>
              </a:lnSpc>
            </a:pPr>
            <a:endParaRPr lang="en-US" altLang="zh-CN" sz="1050" b="1">
              <a:solidFill>
                <a:srgbClr val="5D4495"/>
              </a:solidFill>
            </a:endParaRPr>
          </a:p>
          <a:p>
            <a:pPr defTabSz="914377">
              <a:lnSpc>
                <a:spcPct val="110000"/>
              </a:lnSpc>
            </a:pPr>
            <a:r>
              <a:rPr lang="en-US" altLang="zh-CN" sz="1050" b="1">
                <a:solidFill>
                  <a:srgbClr val="5D4495"/>
                </a:solidFill>
              </a:rPr>
              <a:t>Completion/Termination:</a:t>
            </a:r>
          </a:p>
          <a:p>
            <a:pPr marL="628650" lvl="1" indent="-171450" defTabSz="914377">
              <a:lnSpc>
                <a:spcPct val="110000"/>
              </a:lnSpc>
              <a:buFont typeface="Arial" panose="020B0604020202020204" pitchFamily="34" charset="0"/>
              <a:buChar char="•"/>
            </a:pPr>
            <a:r>
              <a:rPr lang="en-US" altLang="zh-CN" sz="1050" i="1">
                <a:solidFill>
                  <a:srgbClr val="002060"/>
                </a:solidFill>
              </a:rPr>
              <a:t>BI 3797479 </a:t>
            </a:r>
            <a:r>
              <a:rPr lang="en-US" altLang="zh-CN" sz="1050" i="1" err="1">
                <a:solidFill>
                  <a:srgbClr val="002060"/>
                </a:solidFill>
              </a:rPr>
              <a:t>COMTi</a:t>
            </a:r>
            <a:r>
              <a:rPr lang="en-US" altLang="zh-CN" sz="1050" i="1">
                <a:solidFill>
                  <a:srgbClr val="002060"/>
                </a:solidFill>
              </a:rPr>
              <a:t> in CIAS: the frontrunner asset was terminated in Nov 2025, and a backup asset will be evaluated.</a:t>
            </a:r>
          </a:p>
        </p:txBody>
      </p:sp>
      <p:sp>
        <p:nvSpPr>
          <p:cNvPr id="27" name="Isosceles Triangle 26">
            <a:extLst>
              <a:ext uri="{FF2B5EF4-FFF2-40B4-BE49-F238E27FC236}">
                <a16:creationId xmlns:a16="http://schemas.microsoft.com/office/drawing/2014/main" id="{5C2050C1-12A0-F942-A09C-FEC1455AF2C4}"/>
              </a:ext>
            </a:extLst>
          </p:cNvPr>
          <p:cNvSpPr/>
          <p:nvPr/>
        </p:nvSpPr>
        <p:spPr bwMode="gray">
          <a:xfrm>
            <a:off x="1185547" y="5130837"/>
            <a:ext cx="146304" cy="130897"/>
          </a:xfrm>
          <a:prstGeom prst="triangle">
            <a:avLst/>
          </a:prstGeom>
          <a:solidFill>
            <a:srgbClr val="5D449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pic>
        <p:nvPicPr>
          <p:cNvPr id="5" name="Picture 4">
            <a:extLst>
              <a:ext uri="{FF2B5EF4-FFF2-40B4-BE49-F238E27FC236}">
                <a16:creationId xmlns:a16="http://schemas.microsoft.com/office/drawing/2014/main" id="{C38FF323-3E5C-B59D-7DD8-9B3EBE9530F6}"/>
              </a:ext>
            </a:extLst>
          </p:cNvPr>
          <p:cNvPicPr>
            <a:picLocks noChangeAspect="1"/>
          </p:cNvPicPr>
          <p:nvPr/>
        </p:nvPicPr>
        <p:blipFill>
          <a:blip r:embed="rId4"/>
          <a:stretch>
            <a:fillRect/>
          </a:stretch>
        </p:blipFill>
        <p:spPr>
          <a:xfrm>
            <a:off x="1168346" y="4043501"/>
            <a:ext cx="182896" cy="182896"/>
          </a:xfrm>
          <a:prstGeom prst="rect">
            <a:avLst/>
          </a:prstGeom>
        </p:spPr>
      </p:pic>
    </p:spTree>
    <p:extLst>
      <p:ext uri="{BB962C8B-B14F-4D97-AF65-F5344CB8AC3E}">
        <p14:creationId xmlns:p14="http://schemas.microsoft.com/office/powerpoint/2010/main" val="1146060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9655DAC-411B-7922-9ABB-B9F443BE1D2C}"/>
            </a:ext>
          </a:extLst>
        </p:cNvPr>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9A22D156-98E6-D9FD-AC84-6137616487D1}"/>
              </a:ext>
            </a:extLst>
          </p:cNvPr>
          <p:cNvSpPr>
            <a:spLocks noGrp="1"/>
          </p:cNvSpPr>
          <p:nvPr>
            <p:ph type="sldNum" sz="quarter" idx="20"/>
          </p:nvPr>
        </p:nvSpPr>
        <p:spPr/>
        <p:txBody>
          <a:bodyPr/>
          <a:lstStyle/>
          <a:p>
            <a:fld id="{DF4E8F9F-5B1F-4F5B-BE49-3245D8C18D9F}" type="slidenum">
              <a:rPr lang="en-US" smtClean="0"/>
              <a:pPr/>
              <a:t>6</a:t>
            </a:fld>
            <a:endParaRPr lang="en-US"/>
          </a:p>
        </p:txBody>
      </p:sp>
      <p:sp>
        <p:nvSpPr>
          <p:cNvPr id="7" name="Title 1">
            <a:extLst>
              <a:ext uri="{FF2B5EF4-FFF2-40B4-BE49-F238E27FC236}">
                <a16:creationId xmlns:a16="http://schemas.microsoft.com/office/drawing/2014/main" id="{E6AC3710-1F7C-6CDC-0B5F-1D7836BB23AD}"/>
              </a:ext>
            </a:extLst>
          </p:cNvPr>
          <p:cNvSpPr>
            <a:spLocks noGrp="1"/>
          </p:cNvSpPr>
          <p:nvPr>
            <p:ph type="title"/>
          </p:nvPr>
        </p:nvSpPr>
        <p:spPr>
          <a:xfrm>
            <a:off x="479425" y="287710"/>
            <a:ext cx="11233150" cy="720725"/>
          </a:xfrm>
        </p:spPr>
        <p:txBody>
          <a:bodyPr/>
          <a:lstStyle/>
          <a:p>
            <a:r>
              <a:rPr lang="en-US" altLang="zh-CN"/>
              <a:t>TA MHEH Portfolio Summary - PMS Studies</a:t>
            </a:r>
            <a:endParaRPr lang="zh-CN" altLang="en-US"/>
          </a:p>
        </p:txBody>
      </p:sp>
      <p:pic>
        <p:nvPicPr>
          <p:cNvPr id="18" name="Content Placeholder 17">
            <a:extLst>
              <a:ext uri="{FF2B5EF4-FFF2-40B4-BE49-F238E27FC236}">
                <a16:creationId xmlns:a16="http://schemas.microsoft.com/office/drawing/2014/main" id="{7BA2FEE3-394A-8CD1-9E47-2E19F085D0F1}"/>
              </a:ext>
            </a:extLst>
          </p:cNvPr>
          <p:cNvPicPr>
            <a:picLocks noGrp="1" noChangeAspect="1"/>
          </p:cNvPicPr>
          <p:nvPr>
            <p:ph idx="1"/>
          </p:nvPr>
        </p:nvPicPr>
        <p:blipFill>
          <a:blip r:embed="rId2"/>
          <a:stretch>
            <a:fillRect/>
          </a:stretch>
        </p:blipFill>
        <p:spPr bwMode="gray">
          <a:xfrm>
            <a:off x="934945" y="1419699"/>
            <a:ext cx="10336696" cy="2578389"/>
          </a:xfrm>
          <a:prstGeom prst="rect">
            <a:avLst/>
          </a:prstGeom>
        </p:spPr>
      </p:pic>
      <p:sp>
        <p:nvSpPr>
          <p:cNvPr id="12" name="Oval 11">
            <a:extLst>
              <a:ext uri="{FF2B5EF4-FFF2-40B4-BE49-F238E27FC236}">
                <a16:creationId xmlns:a16="http://schemas.microsoft.com/office/drawing/2014/main" id="{404CB3CC-BEC0-76A6-0998-A5D9594C83E5}"/>
              </a:ext>
            </a:extLst>
          </p:cNvPr>
          <p:cNvSpPr/>
          <p:nvPr/>
        </p:nvSpPr>
        <p:spPr bwMode="gray">
          <a:xfrm>
            <a:off x="3216757" y="2685970"/>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9" name="Oval 18">
            <a:extLst>
              <a:ext uri="{FF2B5EF4-FFF2-40B4-BE49-F238E27FC236}">
                <a16:creationId xmlns:a16="http://schemas.microsoft.com/office/drawing/2014/main" id="{6CA163D6-A548-A608-4295-51EF8DE0CDC0}"/>
              </a:ext>
            </a:extLst>
          </p:cNvPr>
          <p:cNvSpPr/>
          <p:nvPr/>
        </p:nvSpPr>
        <p:spPr bwMode="gray">
          <a:xfrm>
            <a:off x="3216757" y="2916429"/>
            <a:ext cx="118872" cy="118872"/>
          </a:xfrm>
          <a:prstGeom prst="ellipse">
            <a:avLst/>
          </a:prstGeom>
          <a:solidFill>
            <a:schemeClr val="tx2"/>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2" name="TextBox 1">
            <a:extLst>
              <a:ext uri="{FF2B5EF4-FFF2-40B4-BE49-F238E27FC236}">
                <a16:creationId xmlns:a16="http://schemas.microsoft.com/office/drawing/2014/main" id="{578A4019-1B5B-6DE5-6282-7EEE7C91A8C7}"/>
              </a:ext>
            </a:extLst>
          </p:cNvPr>
          <p:cNvSpPr txBox="1"/>
          <p:nvPr/>
        </p:nvSpPr>
        <p:spPr bwMode="gray">
          <a:xfrm>
            <a:off x="1257300" y="2612056"/>
            <a:ext cx="1334756" cy="236924"/>
          </a:xfrm>
          <a:prstGeom prst="rect">
            <a:avLst/>
          </a:prstGeom>
          <a:noFill/>
        </p:spPr>
        <p:txBody>
          <a:bodyPr wrap="square" lIns="0" tIns="0" rIns="0" bIns="0" rtlCol="0" anchor="ctr">
            <a:spAutoFit/>
          </a:bodyPr>
          <a:lstStyle/>
          <a:p>
            <a:pPr algn="ctr">
              <a:lnSpc>
                <a:spcPct val="140000"/>
              </a:lnSpc>
            </a:pPr>
            <a:r>
              <a:rPr lang="en-US" sz="1200" b="1">
                <a:solidFill>
                  <a:srgbClr val="002060"/>
                </a:solidFill>
              </a:rPr>
              <a:t>BJ-PERFECT (VR)</a:t>
            </a:r>
          </a:p>
        </p:txBody>
      </p:sp>
      <p:sp>
        <p:nvSpPr>
          <p:cNvPr id="3" name="TextBox 2">
            <a:extLst>
              <a:ext uri="{FF2B5EF4-FFF2-40B4-BE49-F238E27FC236}">
                <a16:creationId xmlns:a16="http://schemas.microsoft.com/office/drawing/2014/main" id="{81654F17-1E89-A5D8-A8C3-A0299E69B7F1}"/>
              </a:ext>
            </a:extLst>
          </p:cNvPr>
          <p:cNvSpPr txBox="1"/>
          <p:nvPr/>
        </p:nvSpPr>
        <p:spPr bwMode="gray">
          <a:xfrm>
            <a:off x="1473260" y="2820405"/>
            <a:ext cx="1118796" cy="236924"/>
          </a:xfrm>
          <a:prstGeom prst="rect">
            <a:avLst/>
          </a:prstGeom>
          <a:noFill/>
        </p:spPr>
        <p:txBody>
          <a:bodyPr wrap="square" lIns="0" tIns="0" rIns="0" bIns="0" rtlCol="0" anchor="ctr">
            <a:spAutoFit/>
          </a:bodyPr>
          <a:lstStyle/>
          <a:p>
            <a:pPr algn="ctr">
              <a:lnSpc>
                <a:spcPct val="140000"/>
              </a:lnSpc>
            </a:pPr>
            <a:r>
              <a:rPr lang="en-US" sz="1200" b="1">
                <a:solidFill>
                  <a:srgbClr val="002060"/>
                </a:solidFill>
              </a:rPr>
              <a:t>COMPASS</a:t>
            </a:r>
          </a:p>
        </p:txBody>
      </p:sp>
    </p:spTree>
    <p:extLst>
      <p:ext uri="{BB962C8B-B14F-4D97-AF65-F5344CB8AC3E}">
        <p14:creationId xmlns:p14="http://schemas.microsoft.com/office/powerpoint/2010/main" val="2399862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BCC20-A499-CA41-09E1-A19759E166A2}"/>
              </a:ext>
            </a:extLst>
          </p:cNvPr>
          <p:cNvSpPr>
            <a:spLocks noGrp="1"/>
          </p:cNvSpPr>
          <p:nvPr>
            <p:ph type="title"/>
          </p:nvPr>
        </p:nvSpPr>
        <p:spPr/>
        <p:txBody>
          <a:bodyPr/>
          <a:lstStyle/>
          <a:p>
            <a:r>
              <a:rPr lang="en-US" altLang="zh-CN"/>
              <a:t>Eye Health Assets</a:t>
            </a:r>
            <a:endParaRPr lang="en-US"/>
          </a:p>
        </p:txBody>
      </p:sp>
      <p:sp>
        <p:nvSpPr>
          <p:cNvPr id="3" name="Subtitle 2">
            <a:extLst>
              <a:ext uri="{FF2B5EF4-FFF2-40B4-BE49-F238E27FC236}">
                <a16:creationId xmlns:a16="http://schemas.microsoft.com/office/drawing/2014/main" id="{DBE63635-07B9-1E94-FA95-640A7BC129CB}"/>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A166959F-F07C-7160-4455-F95BFC76B625}"/>
              </a:ext>
            </a:extLst>
          </p:cNvPr>
          <p:cNvSpPr>
            <a:spLocks noGrp="1"/>
          </p:cNvSpPr>
          <p:nvPr>
            <p:ph type="sldNum" sz="quarter" idx="16"/>
          </p:nvPr>
        </p:nvSpPr>
        <p:spPr/>
        <p:txBody>
          <a:bodyPr/>
          <a:lstStyle/>
          <a:p>
            <a:fld id="{8FF9B0DE-3FEB-4AA0-B465-B80EF7C1333D}" type="slidenum">
              <a:rPr lang="en-US" smtClean="0"/>
              <a:pPr/>
              <a:t>7</a:t>
            </a:fld>
            <a:endParaRPr lang="en-US"/>
          </a:p>
        </p:txBody>
      </p:sp>
    </p:spTree>
    <p:extLst>
      <p:ext uri="{BB962C8B-B14F-4D97-AF65-F5344CB8AC3E}">
        <p14:creationId xmlns:p14="http://schemas.microsoft.com/office/powerpoint/2010/main" val="1275130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EC4BE-E75C-0307-D9D4-7CE062EF48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273B0C-3A87-9DCF-9394-9846608D2817}"/>
              </a:ext>
            </a:extLst>
          </p:cNvPr>
          <p:cNvSpPr>
            <a:spLocks noGrp="1"/>
          </p:cNvSpPr>
          <p:nvPr>
            <p:ph type="title"/>
          </p:nvPr>
        </p:nvSpPr>
        <p:spPr/>
        <p:txBody>
          <a:bodyPr/>
          <a:lstStyle/>
          <a:p>
            <a:r>
              <a:rPr lang="en-US" altLang="zh-CN">
                <a:latin typeface="+mn-lt"/>
              </a:rPr>
              <a:t>BI 764524 / Anti-Sema3A, Diabetic Retinopathy (DR), Development Plan </a:t>
            </a:r>
            <a:endParaRPr lang="zh-CN" altLang="en-US">
              <a:latin typeface="+mn-lt"/>
            </a:endParaRPr>
          </a:p>
        </p:txBody>
      </p:sp>
      <p:sp>
        <p:nvSpPr>
          <p:cNvPr id="4" name="Text Placeholder 3">
            <a:extLst>
              <a:ext uri="{FF2B5EF4-FFF2-40B4-BE49-F238E27FC236}">
                <a16:creationId xmlns:a16="http://schemas.microsoft.com/office/drawing/2014/main" id="{752C30EF-6F40-6BE8-0628-F146A1B50E04}"/>
              </a:ext>
            </a:extLst>
          </p:cNvPr>
          <p:cNvSpPr>
            <a:spLocks noGrp="1"/>
          </p:cNvSpPr>
          <p:nvPr>
            <p:ph type="body" sz="quarter" idx="13"/>
          </p:nvPr>
        </p:nvSpPr>
        <p:spPr>
          <a:xfrm>
            <a:off x="484544" y="6706792"/>
            <a:ext cx="11232000" cy="144000"/>
          </a:xfrm>
        </p:spPr>
        <p:txBody>
          <a:bodyPr/>
          <a:lstStyle/>
          <a:p>
            <a:r>
              <a:rPr lang="en-US" altLang="zh-CN"/>
              <a:t>DR: Diabetic Retinopathy; CI-DME: Center-Involved Diabetic Macular Edema; RNP: Retinol Non-Perfusion; PRP: </a:t>
            </a:r>
            <a:r>
              <a:rPr lang="en-US" altLang="zh-CN" err="1"/>
              <a:t>Panretinal</a:t>
            </a:r>
            <a:r>
              <a:rPr lang="en-US" altLang="zh-CN"/>
              <a:t> Photocoagulation </a:t>
            </a:r>
            <a:endParaRPr lang="zh-CN" altLang="en-US"/>
          </a:p>
        </p:txBody>
      </p:sp>
      <p:sp>
        <p:nvSpPr>
          <p:cNvPr id="6" name="Slide Number Placeholder 5">
            <a:extLst>
              <a:ext uri="{FF2B5EF4-FFF2-40B4-BE49-F238E27FC236}">
                <a16:creationId xmlns:a16="http://schemas.microsoft.com/office/drawing/2014/main" id="{F876FF69-E445-682D-2F32-EE2ECA4E369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F743BF8B-7982-99BC-FCC3-C01B67F1CA10}"/>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8</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AF20707D-06DD-E9CD-AA70-74317D5662A8}"/>
              </a:ext>
            </a:extLst>
          </p:cNvPr>
          <p:cNvSpPr/>
          <p:nvPr>
            <p:custDataLst>
              <p:tags r:id="rId1"/>
            </p:custDataLst>
          </p:nvPr>
        </p:nvSpPr>
        <p:spPr bwMode="auto">
          <a:xfrm>
            <a:off x="4157517" y="2278100"/>
            <a:ext cx="3196564"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FB7DDFBA-A776-73D1-CFCA-57C6AF9A341D}"/>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31B940A1-AE57-58D4-AE26-A50D390FD430}"/>
              </a:ext>
            </a:extLst>
          </p:cNvPr>
          <p:cNvCxnSpPr>
            <a:cxnSpLocks/>
          </p:cNvCxnSpPr>
          <p:nvPr/>
        </p:nvCxnSpPr>
        <p:spPr bwMode="auto">
          <a:xfrm flipH="1">
            <a:off x="0" y="4079220"/>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04443C5A-9139-60A3-ED2F-C30350811A70}"/>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D908A37F-12F7-C375-04F6-67F8CB9BBFC8}"/>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3A58E601-81EE-A112-B522-047FC144B5A5}"/>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Ph2b -</a:t>
            </a:r>
          </a:p>
          <a:p>
            <a:pPr algn="ctr" defTabSz="914377">
              <a:defRPr/>
            </a:pPr>
            <a:r>
              <a:rPr lang="en-US" altLang="zh-CN" sz="1067" b="1">
                <a:solidFill>
                  <a:srgbClr val="08312A"/>
                </a:solidFill>
                <a:cs typeface="Calibri" panose="020F0502020204030204" pitchFamily="34" charset="0"/>
              </a:rPr>
              <a:t>1436-0007</a:t>
            </a:r>
          </a:p>
          <a:p>
            <a:pPr algn="ctr" defTabSz="914377">
              <a:defRPr/>
            </a:pPr>
            <a:r>
              <a:rPr lang="en-US" sz="1067" b="1">
                <a:solidFill>
                  <a:srgbClr val="08312A"/>
                </a:solidFill>
                <a:cs typeface="Calibri" panose="020F0502020204030204" pitchFamily="34" charset="0"/>
              </a:rPr>
              <a:t>CRIMSON</a:t>
            </a:r>
          </a:p>
        </p:txBody>
      </p:sp>
      <p:pic>
        <p:nvPicPr>
          <p:cNvPr id="246" name="Picture 4">
            <a:extLst>
              <a:ext uri="{FF2B5EF4-FFF2-40B4-BE49-F238E27FC236}">
                <a16:creationId xmlns:a16="http://schemas.microsoft.com/office/drawing/2014/main" id="{82BE6810-AD72-8444-BB36-8CB60FA95AFF}"/>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62F36FF7-B539-B248-4C14-A3CDE92E9A01}"/>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7783" y="4098683"/>
            <a:ext cx="1138019" cy="560880"/>
          </a:xfrm>
          <a:prstGeom prst="rect">
            <a:avLst/>
          </a:prstGeom>
        </p:spPr>
      </p:pic>
      <p:sp>
        <p:nvSpPr>
          <p:cNvPr id="249" name="Rectangle 52">
            <a:extLst>
              <a:ext uri="{FF2B5EF4-FFF2-40B4-BE49-F238E27FC236}">
                <a16:creationId xmlns:a16="http://schemas.microsoft.com/office/drawing/2014/main" id="{2F2C283F-3D49-F8E1-ED08-302C04BA624E}"/>
              </a:ext>
            </a:extLst>
          </p:cNvPr>
          <p:cNvSpPr/>
          <p:nvPr/>
        </p:nvSpPr>
        <p:spPr>
          <a:xfrm>
            <a:off x="90991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47107144-64CF-4511-D3FB-19ACE8C801A9}"/>
              </a:ext>
            </a:extLst>
          </p:cNvPr>
          <p:cNvSpPr txBox="1"/>
          <p:nvPr>
            <p:custDataLst>
              <p:tags r:id="rId2"/>
            </p:custDataLst>
          </p:nvPr>
        </p:nvSpPr>
        <p:spPr>
          <a:xfrm>
            <a:off x="586363"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May 2024</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42848E62-C9AE-E461-5409-BBB0859A4674}"/>
              </a:ext>
            </a:extLst>
          </p:cNvPr>
          <p:cNvSpPr/>
          <p:nvPr>
            <p:custDataLst>
              <p:tags r:id="rId3"/>
            </p:custDataLst>
          </p:nvPr>
        </p:nvSpPr>
        <p:spPr bwMode="auto">
          <a:xfrm>
            <a:off x="1110236" y="2273316"/>
            <a:ext cx="304760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Ph2b in NPDR without CI-DME, CRIMSON,</a:t>
            </a:r>
            <a:r>
              <a:rPr lang="zh-CN" altLang="en-US" sz="1067" b="1">
                <a:solidFill>
                  <a:prstClr val="black"/>
                </a:solidFill>
                <a:ea typeface="等线" panose="02010600030101010101" pitchFamily="2" charset="-122"/>
                <a:cs typeface="Calibri" panose="020F0502020204030204" pitchFamily="34" charset="0"/>
              </a:rPr>
              <a:t> </a:t>
            </a:r>
            <a:r>
              <a:rPr lang="en-US" altLang="zh-CN" sz="1067" b="1">
                <a:solidFill>
                  <a:prstClr val="black"/>
                </a:solidFill>
                <a:ea typeface="等线" panose="02010600030101010101" pitchFamily="2" charset="-122"/>
                <a:cs typeface="Calibri" panose="020F0502020204030204" pitchFamily="34" charset="0"/>
              </a:rPr>
              <a:t>N=178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30250655-D700-6B93-FD66-85F590B485BB}"/>
              </a:ext>
            </a:extLst>
          </p:cNvPr>
          <p:cNvSpPr/>
          <p:nvPr>
            <p:custDataLst>
              <p:tags r:id="rId4"/>
            </p:custDataLst>
          </p:nvPr>
        </p:nvSpPr>
        <p:spPr bwMode="auto">
          <a:xfrm>
            <a:off x="8614815" y="4784832"/>
            <a:ext cx="1611405"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kumimoji="0" lang="en-US" altLang="zh-CN" sz="7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Ph3 in NPDR without CI-DME</a:t>
            </a:r>
          </a:p>
          <a:p>
            <a:pPr algn="ctr" defTabSz="1219108"/>
            <a:r>
              <a:rPr kumimoji="0" lang="en-US" altLang="zh-CN" sz="700" b="1" i="0" u="none" strike="noStrike" kern="1200" cap="none" spc="0" normalizeH="0" baseline="0" noProof="0">
                <a:ln>
                  <a:noFill/>
                </a:ln>
                <a:solidFill>
                  <a:prstClr val="black"/>
                </a:solidFill>
                <a:effectLst/>
                <a:uLnTx/>
                <a:uFillTx/>
                <a:latin typeface="Boehringer Forward Text"/>
                <a:ea typeface="等线" panose="02010600030101010101" pitchFamily="2" charset="-122"/>
                <a:cs typeface="Calibri" panose="020F0502020204030204" pitchFamily="34" charset="0"/>
              </a:rPr>
              <a:t>Ph3 in PDR</a:t>
            </a:r>
            <a:endParaRPr lang="en-US" altLang="zh-CN" sz="1050" b="1">
              <a:solidFill>
                <a:prstClr val="black"/>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D5BE2779-E433-F631-4C07-3EF763B5160D}"/>
              </a:ext>
            </a:extLst>
          </p:cNvPr>
          <p:cNvSpPr/>
          <p:nvPr>
            <p:custDataLst>
              <p:tags r:id="rId5"/>
            </p:custDataLst>
          </p:nvPr>
        </p:nvSpPr>
        <p:spPr bwMode="auto">
          <a:xfrm>
            <a:off x="7438261" y="4791139"/>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1D49B15E-AAA6-69E4-2B50-80F9AB7AE21A}"/>
              </a:ext>
            </a:extLst>
          </p:cNvPr>
          <p:cNvSpPr/>
          <p:nvPr/>
        </p:nvSpPr>
        <p:spPr>
          <a:xfrm>
            <a:off x="8393761" y="5079430"/>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5A274EC8-C2A1-B64C-7678-8F93DCB78797}"/>
              </a:ext>
            </a:extLst>
          </p:cNvPr>
          <p:cNvSpPr/>
          <p:nvPr>
            <p:custDataLst>
              <p:tags r:id="rId6"/>
            </p:custDataLst>
          </p:nvPr>
        </p:nvSpPr>
        <p:spPr bwMode="auto">
          <a:xfrm rot="16200000">
            <a:off x="7427484" y="5024082"/>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1DE5DEC0-43F9-E8FA-8828-A8FA3B2BB621}"/>
              </a:ext>
            </a:extLst>
          </p:cNvPr>
          <p:cNvSpPr txBox="1"/>
          <p:nvPr>
            <p:custDataLst>
              <p:tags r:id="rId7"/>
            </p:custDataLst>
          </p:nvPr>
        </p:nvSpPr>
        <p:spPr>
          <a:xfrm>
            <a:off x="7208806" y="5125596"/>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2800F8C4-B222-E7BB-F968-0AD803FF2800}"/>
              </a:ext>
            </a:extLst>
          </p:cNvPr>
          <p:cNvSpPr/>
          <p:nvPr/>
        </p:nvSpPr>
        <p:spPr>
          <a:xfrm>
            <a:off x="3962894"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150F9172-907D-BAF4-6554-3533A0479C38}"/>
              </a:ext>
            </a:extLst>
          </p:cNvPr>
          <p:cNvSpPr txBox="1"/>
          <p:nvPr>
            <p:custDataLst>
              <p:tags r:id="rId8"/>
            </p:custDataLst>
          </p:nvPr>
        </p:nvSpPr>
        <p:spPr>
          <a:xfrm>
            <a:off x="3673812"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Apr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8" name="Rectangle 55">
            <a:extLst>
              <a:ext uri="{FF2B5EF4-FFF2-40B4-BE49-F238E27FC236}">
                <a16:creationId xmlns:a16="http://schemas.microsoft.com/office/drawing/2014/main" id="{BA102A08-D7E4-EAAA-93E3-5055EE92AE19}"/>
              </a:ext>
            </a:extLst>
          </p:cNvPr>
          <p:cNvSpPr/>
          <p:nvPr/>
        </p:nvSpPr>
        <p:spPr>
          <a:xfrm rot="18483593">
            <a:off x="6948890" y="2563974"/>
            <a:ext cx="98777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Final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9" name="OTLSHAPE_T_e17f3958430f4cff8650518c93c7635e_StartDate">
            <a:extLst>
              <a:ext uri="{FF2B5EF4-FFF2-40B4-BE49-F238E27FC236}">
                <a16:creationId xmlns:a16="http://schemas.microsoft.com/office/drawing/2014/main" id="{DA9C2BE8-544E-B4D6-47F1-CFCDA44DFEFD}"/>
              </a:ext>
            </a:extLst>
          </p:cNvPr>
          <p:cNvSpPr txBox="1"/>
          <p:nvPr>
            <p:custDataLst>
              <p:tags r:id="rId9"/>
            </p:custDataLst>
          </p:nvPr>
        </p:nvSpPr>
        <p:spPr>
          <a:xfrm rot="18777782">
            <a:off x="6895635" y="2099832"/>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68189283-3E8B-2387-4A58-6C3B4578005D}"/>
              </a:ext>
            </a:extLst>
          </p:cNvPr>
          <p:cNvSpPr/>
          <p:nvPr/>
        </p:nvSpPr>
        <p:spPr bwMode="auto">
          <a:xfrm>
            <a:off x="101651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B1273E1B-8A50-5702-E3AA-2627B0158E9A}"/>
              </a:ext>
            </a:extLst>
          </p:cNvPr>
          <p:cNvSpPr/>
          <p:nvPr/>
        </p:nvSpPr>
        <p:spPr bwMode="auto">
          <a:xfrm>
            <a:off x="4069394"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1B49EF60-E4D8-8C61-9095-4F2C43FF455E}"/>
              </a:ext>
            </a:extLst>
          </p:cNvPr>
          <p:cNvSpPr/>
          <p:nvPr/>
        </p:nvSpPr>
        <p:spPr bwMode="auto">
          <a:xfrm>
            <a:off x="7259090"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D1A47E0E-26C2-ACE0-B3C1-C0AD58F8B2B0}"/>
              </a:ext>
            </a:extLst>
          </p:cNvPr>
          <p:cNvSpPr/>
          <p:nvPr/>
        </p:nvSpPr>
        <p:spPr bwMode="auto">
          <a:xfrm>
            <a:off x="8523670" y="499324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5" name="Rectangle 55">
            <a:extLst>
              <a:ext uri="{FF2B5EF4-FFF2-40B4-BE49-F238E27FC236}">
                <a16:creationId xmlns:a16="http://schemas.microsoft.com/office/drawing/2014/main" id="{55E23D3A-B453-E234-EF5B-8775B6AC9BA6}"/>
              </a:ext>
            </a:extLst>
          </p:cNvPr>
          <p:cNvSpPr/>
          <p:nvPr/>
        </p:nvSpPr>
        <p:spPr>
          <a:xfrm>
            <a:off x="5807628" y="2565299"/>
            <a:ext cx="13532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52-wk 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52AA1CEF-88A9-EBE1-5915-4EF644E5E8D5}"/>
              </a:ext>
            </a:extLst>
          </p:cNvPr>
          <p:cNvSpPr txBox="1"/>
          <p:nvPr>
            <p:custDataLst>
              <p:tags r:id="rId10"/>
            </p:custDataLst>
          </p:nvPr>
        </p:nvSpPr>
        <p:spPr>
          <a:xfrm>
            <a:off x="5979910" y="2101158"/>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02588EE3-FFF9-B6CD-F0A0-BDF0AFB6A917}"/>
              </a:ext>
            </a:extLst>
          </p:cNvPr>
          <p:cNvSpPr/>
          <p:nvPr/>
        </p:nvSpPr>
        <p:spPr bwMode="auto">
          <a:xfrm>
            <a:off x="6385010" y="24673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9" name="OTLSHAPE_T_5a934a26f311425e8ebaa0f45e6533ad_Shape">
            <a:extLst>
              <a:ext uri="{FF2B5EF4-FFF2-40B4-BE49-F238E27FC236}">
                <a16:creationId xmlns:a16="http://schemas.microsoft.com/office/drawing/2014/main" id="{3FE6342F-66AB-294D-CE08-4E5998ADB92A}"/>
              </a:ext>
            </a:extLst>
          </p:cNvPr>
          <p:cNvSpPr/>
          <p:nvPr>
            <p:custDataLst>
              <p:tags r:id="rId11"/>
            </p:custDataLst>
          </p:nvPr>
        </p:nvSpPr>
        <p:spPr bwMode="auto">
          <a:xfrm>
            <a:off x="10226221" y="3231974"/>
            <a:ext cx="1876211"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10" name="Rectangle 52">
            <a:extLst>
              <a:ext uri="{FF2B5EF4-FFF2-40B4-BE49-F238E27FC236}">
                <a16:creationId xmlns:a16="http://schemas.microsoft.com/office/drawing/2014/main" id="{918791C7-D30A-FB76-C130-F3D9AC1C9185}"/>
              </a:ext>
            </a:extLst>
          </p:cNvPr>
          <p:cNvSpPr/>
          <p:nvPr/>
        </p:nvSpPr>
        <p:spPr>
          <a:xfrm>
            <a:off x="8411353" y="352580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1" name="OTLSHAPE_T_e17f3958430f4cff8650518c93c7635e_Shape">
            <a:extLst>
              <a:ext uri="{FF2B5EF4-FFF2-40B4-BE49-F238E27FC236}">
                <a16:creationId xmlns:a16="http://schemas.microsoft.com/office/drawing/2014/main" id="{BD2E7EF4-D87A-0FEB-4075-937D4934AEDF}"/>
              </a:ext>
            </a:extLst>
          </p:cNvPr>
          <p:cNvSpPr/>
          <p:nvPr>
            <p:custDataLst>
              <p:tags r:id="rId12"/>
            </p:custDataLst>
          </p:nvPr>
        </p:nvSpPr>
        <p:spPr bwMode="auto">
          <a:xfrm>
            <a:off x="8614816" y="3229377"/>
            <a:ext cx="161140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700" b="1">
                <a:solidFill>
                  <a:prstClr val="black"/>
                </a:solidFill>
                <a:ea typeface="等线" panose="02010600030101010101" pitchFamily="2" charset="-122"/>
                <a:cs typeface="Calibri" panose="020F0502020204030204" pitchFamily="34" charset="0"/>
              </a:rPr>
              <a:t>2 x Ph3 in NPDR wo CI-DME</a:t>
            </a:r>
          </a:p>
          <a:p>
            <a:pPr algn="ctr" defTabSz="1219108">
              <a:defRPr/>
            </a:pPr>
            <a:r>
              <a:rPr lang="en-US" altLang="zh-CN" sz="700" b="1">
                <a:solidFill>
                  <a:prstClr val="black"/>
                </a:solidFill>
                <a:ea typeface="等线" panose="02010600030101010101" pitchFamily="2" charset="-122"/>
                <a:cs typeface="Calibri" panose="020F0502020204030204" pitchFamily="34" charset="0"/>
              </a:rPr>
              <a:t>1 x Ph3 in PDR</a:t>
            </a:r>
            <a:endParaRPr lang="en-US" altLang="zh-CN" sz="700" b="1">
              <a:solidFill>
                <a:srgbClr val="000000"/>
              </a:solidFill>
              <a:ea typeface="等线" panose="02010600030101010101" pitchFamily="2" charset="-122"/>
              <a:cs typeface="Calibri" panose="020F0502020204030204" pitchFamily="34" charset="0"/>
            </a:endParaRPr>
          </a:p>
        </p:txBody>
      </p:sp>
      <p:sp>
        <p:nvSpPr>
          <p:cNvPr id="12" name="Rectangle 55">
            <a:extLst>
              <a:ext uri="{FF2B5EF4-FFF2-40B4-BE49-F238E27FC236}">
                <a16:creationId xmlns:a16="http://schemas.microsoft.com/office/drawing/2014/main" id="{58444C2C-9654-9C7B-A97C-1346D70F9114}"/>
              </a:ext>
            </a:extLst>
          </p:cNvPr>
          <p:cNvSpPr/>
          <p:nvPr/>
        </p:nvSpPr>
        <p:spPr>
          <a:xfrm>
            <a:off x="10026988" y="352003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EF623347-424E-3402-1E5D-69A99AFB05C7}"/>
              </a:ext>
            </a:extLst>
          </p:cNvPr>
          <p:cNvSpPr txBox="1"/>
          <p:nvPr>
            <p:custDataLst>
              <p:tags r:id="rId13"/>
            </p:custDataLst>
          </p:nvPr>
        </p:nvSpPr>
        <p:spPr>
          <a:xfrm>
            <a:off x="9737906" y="305589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6" name="Star: 4 Points 143">
            <a:extLst>
              <a:ext uri="{FF2B5EF4-FFF2-40B4-BE49-F238E27FC236}">
                <a16:creationId xmlns:a16="http://schemas.microsoft.com/office/drawing/2014/main" id="{77D8BC43-1C4F-E7D5-6092-0D83E083CD88}"/>
              </a:ext>
            </a:extLst>
          </p:cNvPr>
          <p:cNvSpPr/>
          <p:nvPr/>
        </p:nvSpPr>
        <p:spPr bwMode="auto">
          <a:xfrm>
            <a:off x="8513356" y="342206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7" name="Star: 4 Points 143">
            <a:extLst>
              <a:ext uri="{FF2B5EF4-FFF2-40B4-BE49-F238E27FC236}">
                <a16:creationId xmlns:a16="http://schemas.microsoft.com/office/drawing/2014/main" id="{39A3F6D3-0091-8A8D-883B-DC173A2EFEC3}"/>
              </a:ext>
            </a:extLst>
          </p:cNvPr>
          <p:cNvSpPr/>
          <p:nvPr/>
        </p:nvSpPr>
        <p:spPr bwMode="auto">
          <a:xfrm>
            <a:off x="10133488" y="342206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9" name="Rectangle 55">
            <a:extLst>
              <a:ext uri="{FF2B5EF4-FFF2-40B4-BE49-F238E27FC236}">
                <a16:creationId xmlns:a16="http://schemas.microsoft.com/office/drawing/2014/main" id="{94563A6C-AC4A-BF2D-366D-A24BF367D7E6}"/>
              </a:ext>
            </a:extLst>
          </p:cNvPr>
          <p:cNvSpPr/>
          <p:nvPr/>
        </p:nvSpPr>
        <p:spPr>
          <a:xfrm rot="19614369">
            <a:off x="10561807" y="3620962"/>
            <a:ext cx="938077" cy="278153"/>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52-wk </a:t>
            </a:r>
          </a:p>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primary results</a:t>
            </a:r>
            <a:endParaRPr lang="zh-CN" altLang="en-US" sz="800" b="1">
              <a:solidFill>
                <a:srgbClr val="44546A"/>
              </a:solidFill>
              <a:ea typeface="等线" panose="02010600030101010101" pitchFamily="2" charset="-122"/>
              <a:cs typeface="Calibri" panose="020F0502020204030204" pitchFamily="34" charset="0"/>
            </a:endParaRPr>
          </a:p>
        </p:txBody>
      </p:sp>
      <p:sp>
        <p:nvSpPr>
          <p:cNvPr id="20" name="OTLSHAPE_T_e17f3958430f4cff8650518c93c7635e_StartDate">
            <a:extLst>
              <a:ext uri="{FF2B5EF4-FFF2-40B4-BE49-F238E27FC236}">
                <a16:creationId xmlns:a16="http://schemas.microsoft.com/office/drawing/2014/main" id="{E6355972-3ECA-F154-7C1D-CE229D680431}"/>
              </a:ext>
            </a:extLst>
          </p:cNvPr>
          <p:cNvSpPr txBox="1"/>
          <p:nvPr>
            <p:custDataLst>
              <p:tags r:id="rId14"/>
            </p:custDataLst>
          </p:nvPr>
        </p:nvSpPr>
        <p:spPr>
          <a:xfrm rot="19699925">
            <a:off x="10831704" y="2983301"/>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May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1" name="Star: 4 Points 143">
            <a:extLst>
              <a:ext uri="{FF2B5EF4-FFF2-40B4-BE49-F238E27FC236}">
                <a16:creationId xmlns:a16="http://schemas.microsoft.com/office/drawing/2014/main" id="{37D4231A-191C-4904-F608-1FF1AF5A2860}"/>
              </a:ext>
            </a:extLst>
          </p:cNvPr>
          <p:cNvSpPr/>
          <p:nvPr/>
        </p:nvSpPr>
        <p:spPr bwMode="auto">
          <a:xfrm>
            <a:off x="11148870" y="342338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55267957-6587-AE8E-D90C-BF5DA20E3EF0}"/>
              </a:ext>
            </a:extLst>
          </p:cNvPr>
          <p:cNvSpPr txBox="1"/>
          <p:nvPr/>
        </p:nvSpPr>
        <p:spPr>
          <a:xfrm>
            <a:off x="31594" y="3297806"/>
            <a:ext cx="825189" cy="656846"/>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1436-0009/</a:t>
            </a:r>
          </a:p>
          <a:p>
            <a:pPr algn="ctr" defTabSz="914377">
              <a:defRPr/>
            </a:pPr>
            <a:r>
              <a:rPr lang="en-US" altLang="zh-CN" sz="1067" b="1">
                <a:solidFill>
                  <a:srgbClr val="08312A"/>
                </a:solidFill>
                <a:cs typeface="Calibri" panose="020F0502020204030204" pitchFamily="34" charset="0"/>
              </a:rPr>
              <a:t>1436-0010/</a:t>
            </a:r>
          </a:p>
          <a:p>
            <a:pPr algn="ctr" defTabSz="914377">
              <a:defRPr/>
            </a:pPr>
            <a:r>
              <a:rPr lang="en-US" altLang="zh-CN" sz="1067" b="1">
                <a:solidFill>
                  <a:srgbClr val="08312A"/>
                </a:solidFill>
                <a:cs typeface="Calibri" panose="020F0502020204030204" pitchFamily="34" charset="0"/>
              </a:rPr>
              <a:t>1436-0012</a:t>
            </a:r>
          </a:p>
        </p:txBody>
      </p:sp>
      <p:sp>
        <p:nvSpPr>
          <p:cNvPr id="23" name="OTLSHAPE_T_e17f3958430f4cff8650518c93c7635e_StartDate">
            <a:extLst>
              <a:ext uri="{FF2B5EF4-FFF2-40B4-BE49-F238E27FC236}">
                <a16:creationId xmlns:a16="http://schemas.microsoft.com/office/drawing/2014/main" id="{547B36CF-F40F-A095-D2E8-DB86B78678C7}"/>
              </a:ext>
            </a:extLst>
          </p:cNvPr>
          <p:cNvSpPr txBox="1"/>
          <p:nvPr>
            <p:custDataLst>
              <p:tags r:id="rId15"/>
            </p:custDataLst>
          </p:nvPr>
        </p:nvSpPr>
        <p:spPr>
          <a:xfrm>
            <a:off x="8149903" y="307124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B7296E48-8F4B-FFD6-E5B3-369576523B55}"/>
              </a:ext>
            </a:extLst>
          </p:cNvPr>
          <p:cNvSpPr>
            <a:spLocks/>
          </p:cNvSpPr>
          <p:nvPr/>
        </p:nvSpPr>
        <p:spPr bwMode="auto">
          <a:xfrm>
            <a:off x="11598478" y="3442084"/>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4" name="OTLSHAPE_T_e17f3958430f4cff8650518c93c7635e_StartDate">
            <a:extLst>
              <a:ext uri="{FF2B5EF4-FFF2-40B4-BE49-F238E27FC236}">
                <a16:creationId xmlns:a16="http://schemas.microsoft.com/office/drawing/2014/main" id="{DA2436C4-FDAE-4F0E-019E-4FC1A81A0CD9}"/>
              </a:ext>
            </a:extLst>
          </p:cNvPr>
          <p:cNvSpPr txBox="1"/>
          <p:nvPr>
            <p:custDataLst>
              <p:tags r:id="rId16"/>
            </p:custDataLst>
          </p:nvPr>
        </p:nvSpPr>
        <p:spPr>
          <a:xfrm rot="19699925">
            <a:off x="11424398" y="3001500"/>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Sep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5" name="Rectangle 55">
            <a:extLst>
              <a:ext uri="{FF2B5EF4-FFF2-40B4-BE49-F238E27FC236}">
                <a16:creationId xmlns:a16="http://schemas.microsoft.com/office/drawing/2014/main" id="{B33ADB29-8703-F136-8BCC-2B7CF6DC0183}"/>
              </a:ext>
            </a:extLst>
          </p:cNvPr>
          <p:cNvSpPr/>
          <p:nvPr/>
        </p:nvSpPr>
        <p:spPr>
          <a:xfrm rot="19614369">
            <a:off x="11349305" y="3665112"/>
            <a:ext cx="643125"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NDA sub.</a:t>
            </a:r>
            <a:endParaRPr lang="zh-CN" altLang="en-US" sz="800" b="1">
              <a:solidFill>
                <a:srgbClr val="44546A"/>
              </a:solidFill>
              <a:ea typeface="等线" panose="02010600030101010101" pitchFamily="2" charset="-122"/>
              <a:cs typeface="Calibri" panose="020F0502020204030204" pitchFamily="34" charset="0"/>
            </a:endParaRPr>
          </a:p>
        </p:txBody>
      </p:sp>
      <p:sp>
        <p:nvSpPr>
          <p:cNvPr id="26" name="Isosceles Triangle 128">
            <a:extLst>
              <a:ext uri="{FF2B5EF4-FFF2-40B4-BE49-F238E27FC236}">
                <a16:creationId xmlns:a16="http://schemas.microsoft.com/office/drawing/2014/main" id="{FBB2E94E-EB66-0204-5EE0-8950AC67F9DE}"/>
              </a:ext>
            </a:extLst>
          </p:cNvPr>
          <p:cNvSpPr/>
          <p:nvPr/>
        </p:nvSpPr>
        <p:spPr>
          <a:xfrm rot="5400000">
            <a:off x="12089428" y="3483528"/>
            <a:ext cx="256543" cy="230532"/>
          </a:xfrm>
          <a:prstGeom prst="triangle">
            <a:avLst/>
          </a:prstGeom>
          <a:pattFill prst="pct25">
            <a:fgClr>
              <a:srgbClr val="00B050"/>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9" name="TextBox 64">
            <a:extLst>
              <a:ext uri="{FF2B5EF4-FFF2-40B4-BE49-F238E27FC236}">
                <a16:creationId xmlns:a16="http://schemas.microsoft.com/office/drawing/2014/main" id="{170003EE-9912-0A6A-0DC6-E6CC91293402}"/>
              </a:ext>
            </a:extLst>
          </p:cNvPr>
          <p:cNvSpPr txBox="1"/>
          <p:nvPr/>
        </p:nvSpPr>
        <p:spPr>
          <a:xfrm>
            <a:off x="31594" y="4663117"/>
            <a:ext cx="825189" cy="656846"/>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1436-0009/</a:t>
            </a:r>
          </a:p>
          <a:p>
            <a:pPr algn="ctr" defTabSz="914377">
              <a:defRPr/>
            </a:pPr>
            <a:r>
              <a:rPr lang="en-US" altLang="zh-CN" sz="1067" b="1">
                <a:solidFill>
                  <a:srgbClr val="08312A"/>
                </a:solidFill>
                <a:cs typeface="Calibri" panose="020F0502020204030204" pitchFamily="34" charset="0"/>
              </a:rPr>
              <a:t>1436-0010/</a:t>
            </a:r>
          </a:p>
          <a:p>
            <a:pPr algn="ctr" defTabSz="914377">
              <a:defRPr/>
            </a:pPr>
            <a:r>
              <a:rPr lang="en-US" altLang="zh-CN" sz="1067" b="1">
                <a:solidFill>
                  <a:srgbClr val="08312A"/>
                </a:solidFill>
                <a:cs typeface="Calibri" panose="020F0502020204030204" pitchFamily="34" charset="0"/>
              </a:rPr>
              <a:t>1436-0012</a:t>
            </a:r>
          </a:p>
        </p:txBody>
      </p:sp>
      <p:sp>
        <p:nvSpPr>
          <p:cNvPr id="30" name="OTLSHAPE_T_5a934a26f311425e8ebaa0f45e6533ad_Shape">
            <a:extLst>
              <a:ext uri="{FF2B5EF4-FFF2-40B4-BE49-F238E27FC236}">
                <a16:creationId xmlns:a16="http://schemas.microsoft.com/office/drawing/2014/main" id="{8AAB61A2-B766-61E2-307B-3F03D3FD1A08}"/>
              </a:ext>
            </a:extLst>
          </p:cNvPr>
          <p:cNvSpPr/>
          <p:nvPr>
            <p:custDataLst>
              <p:tags r:id="rId17"/>
            </p:custDataLst>
          </p:nvPr>
        </p:nvSpPr>
        <p:spPr bwMode="auto">
          <a:xfrm>
            <a:off x="10226221" y="4791863"/>
            <a:ext cx="1718219"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31" name="Rectangle 55">
            <a:extLst>
              <a:ext uri="{FF2B5EF4-FFF2-40B4-BE49-F238E27FC236}">
                <a16:creationId xmlns:a16="http://schemas.microsoft.com/office/drawing/2014/main" id="{394E00C6-1EF7-3F5C-14F7-B5F16CE3C73A}"/>
              </a:ext>
            </a:extLst>
          </p:cNvPr>
          <p:cNvSpPr/>
          <p:nvPr/>
        </p:nvSpPr>
        <p:spPr>
          <a:xfrm>
            <a:off x="10027136" y="507992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5" name="Star: 4 Points 143">
            <a:extLst>
              <a:ext uri="{FF2B5EF4-FFF2-40B4-BE49-F238E27FC236}">
                <a16:creationId xmlns:a16="http://schemas.microsoft.com/office/drawing/2014/main" id="{D75B0D08-0F2B-8891-1378-088F1D5F7430}"/>
              </a:ext>
            </a:extLst>
          </p:cNvPr>
          <p:cNvSpPr/>
          <p:nvPr/>
        </p:nvSpPr>
        <p:spPr bwMode="auto">
          <a:xfrm>
            <a:off x="10133636" y="498195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8" name="五角星 55">
            <a:extLst>
              <a:ext uri="{FF2B5EF4-FFF2-40B4-BE49-F238E27FC236}">
                <a16:creationId xmlns:a16="http://schemas.microsoft.com/office/drawing/2014/main" id="{E171FA6F-0065-1440-3258-E5BB281E6EDC}"/>
              </a:ext>
            </a:extLst>
          </p:cNvPr>
          <p:cNvSpPr>
            <a:spLocks/>
          </p:cNvSpPr>
          <p:nvPr/>
        </p:nvSpPr>
        <p:spPr bwMode="auto">
          <a:xfrm>
            <a:off x="11683070" y="5001973"/>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29" name="OTLSHAPE_T_e17f3958430f4cff8650518c93c7635e_StartDate">
            <a:extLst>
              <a:ext uri="{FF2B5EF4-FFF2-40B4-BE49-F238E27FC236}">
                <a16:creationId xmlns:a16="http://schemas.microsoft.com/office/drawing/2014/main" id="{72E2FCC2-514D-5200-38E9-31B389CCB4AA}"/>
              </a:ext>
            </a:extLst>
          </p:cNvPr>
          <p:cNvSpPr txBox="1"/>
          <p:nvPr>
            <p:custDataLst>
              <p:tags r:id="rId18"/>
            </p:custDataLst>
          </p:nvPr>
        </p:nvSpPr>
        <p:spPr>
          <a:xfrm rot="19699925">
            <a:off x="11461366" y="4544647"/>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Oct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30" name="Rectangle 55">
            <a:extLst>
              <a:ext uri="{FF2B5EF4-FFF2-40B4-BE49-F238E27FC236}">
                <a16:creationId xmlns:a16="http://schemas.microsoft.com/office/drawing/2014/main" id="{39E7D0CB-B4CB-7306-59B3-B6265C5E459C}"/>
              </a:ext>
            </a:extLst>
          </p:cNvPr>
          <p:cNvSpPr/>
          <p:nvPr/>
        </p:nvSpPr>
        <p:spPr>
          <a:xfrm rot="19614369">
            <a:off x="11393697" y="5164424"/>
            <a:ext cx="827471"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CN NDA sub.</a:t>
            </a:r>
            <a:endParaRPr lang="zh-CN" altLang="en-US" sz="800" b="1">
              <a:solidFill>
                <a:srgbClr val="44546A"/>
              </a:solidFill>
              <a:ea typeface="等线" panose="02010600030101010101" pitchFamily="2" charset="-122"/>
              <a:cs typeface="Calibri" panose="020F0502020204030204" pitchFamily="34" charset="0"/>
            </a:endParaRPr>
          </a:p>
        </p:txBody>
      </p:sp>
      <p:sp>
        <p:nvSpPr>
          <p:cNvPr id="232" name="OTLSHAPE_T_e17f3958430f4cff8650518c93c7635e_StartDate">
            <a:extLst>
              <a:ext uri="{FF2B5EF4-FFF2-40B4-BE49-F238E27FC236}">
                <a16:creationId xmlns:a16="http://schemas.microsoft.com/office/drawing/2014/main" id="{F6485CFB-0767-31B3-7064-7CB778A9C3F8}"/>
              </a:ext>
            </a:extLst>
          </p:cNvPr>
          <p:cNvSpPr txBox="1"/>
          <p:nvPr>
            <p:custDataLst>
              <p:tags r:id="rId19"/>
            </p:custDataLst>
          </p:nvPr>
        </p:nvSpPr>
        <p:spPr>
          <a:xfrm>
            <a:off x="9765096" y="463036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cxnSp>
        <p:nvCxnSpPr>
          <p:cNvPr id="233" name="Connector: Elbow 232">
            <a:extLst>
              <a:ext uri="{FF2B5EF4-FFF2-40B4-BE49-F238E27FC236}">
                <a16:creationId xmlns:a16="http://schemas.microsoft.com/office/drawing/2014/main" id="{79B3E3E0-D8B3-E83A-C62C-9DBEE910450C}"/>
              </a:ext>
            </a:extLst>
          </p:cNvPr>
          <p:cNvCxnSpPr>
            <a:cxnSpLocks/>
            <a:stCxn id="5" idx="2"/>
            <a:endCxn id="235" idx="0"/>
          </p:cNvCxnSpPr>
          <p:nvPr/>
        </p:nvCxnSpPr>
        <p:spPr bwMode="gray">
          <a:xfrm rot="16200000" flipH="1">
            <a:off x="6403889" y="2902210"/>
            <a:ext cx="162638" cy="1905"/>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5" name="Star: 4 Points 143">
            <a:extLst>
              <a:ext uri="{FF2B5EF4-FFF2-40B4-BE49-F238E27FC236}">
                <a16:creationId xmlns:a16="http://schemas.microsoft.com/office/drawing/2014/main" id="{C3695904-785B-39F3-FF3B-1C9A671490D5}"/>
              </a:ext>
            </a:extLst>
          </p:cNvPr>
          <p:cNvSpPr/>
          <p:nvPr/>
        </p:nvSpPr>
        <p:spPr bwMode="auto">
          <a:xfrm>
            <a:off x="6394039" y="29844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37" name="Rectangle 55">
            <a:extLst>
              <a:ext uri="{FF2B5EF4-FFF2-40B4-BE49-F238E27FC236}">
                <a16:creationId xmlns:a16="http://schemas.microsoft.com/office/drawing/2014/main" id="{401FCF7D-BA56-F282-20FF-B4D10E73CC71}"/>
              </a:ext>
            </a:extLst>
          </p:cNvPr>
          <p:cNvSpPr/>
          <p:nvPr/>
        </p:nvSpPr>
        <p:spPr>
          <a:xfrm>
            <a:off x="6236265" y="3159838"/>
            <a:ext cx="499789" cy="276999"/>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endParaRPr lang="zh-CN" altLang="en-US" sz="1200" b="1" i="1">
              <a:solidFill>
                <a:srgbClr val="44546A"/>
              </a:solidFill>
              <a:ea typeface="等线" panose="02010600030101010101" pitchFamily="2" charset="-122"/>
              <a:cs typeface="Calibri" panose="020F0502020204030204" pitchFamily="34" charset="0"/>
            </a:endParaRPr>
          </a:p>
        </p:txBody>
      </p:sp>
      <p:grpSp>
        <p:nvGrpSpPr>
          <p:cNvPr id="248" name="Group 247">
            <a:extLst>
              <a:ext uri="{FF2B5EF4-FFF2-40B4-BE49-F238E27FC236}">
                <a16:creationId xmlns:a16="http://schemas.microsoft.com/office/drawing/2014/main" id="{6F799B9F-71D1-37D2-8833-8B70C84229FD}"/>
              </a:ext>
            </a:extLst>
          </p:cNvPr>
          <p:cNvGrpSpPr/>
          <p:nvPr/>
        </p:nvGrpSpPr>
        <p:grpSpPr>
          <a:xfrm>
            <a:off x="2966396" y="1675830"/>
            <a:ext cx="598242" cy="4062432"/>
            <a:chOff x="2444277" y="1675830"/>
            <a:chExt cx="598242" cy="4062432"/>
          </a:xfrm>
        </p:grpSpPr>
        <p:cxnSp>
          <p:nvCxnSpPr>
            <p:cNvPr id="257" name="Straight Connector 147">
              <a:extLst>
                <a:ext uri="{FF2B5EF4-FFF2-40B4-BE49-F238E27FC236}">
                  <a16:creationId xmlns:a16="http://schemas.microsoft.com/office/drawing/2014/main" id="{73377D77-D717-6962-C64F-34C6A90D54CE}"/>
                </a:ext>
              </a:extLst>
            </p:cNvPr>
            <p:cNvCxnSpPr>
              <a:cxnSpLocks/>
              <a:endCxn id="260" idx="2"/>
            </p:cNvCxnSpPr>
            <p:nvPr/>
          </p:nvCxnSpPr>
          <p:spPr bwMode="auto">
            <a:xfrm flipV="1">
              <a:off x="2743398" y="1932375"/>
              <a:ext cx="0" cy="3805887"/>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0" name="Rectangle 52">
              <a:extLst>
                <a:ext uri="{FF2B5EF4-FFF2-40B4-BE49-F238E27FC236}">
                  <a16:creationId xmlns:a16="http://schemas.microsoft.com/office/drawing/2014/main" id="{EFE7DE82-B128-0C68-0C08-186570D28EE7}"/>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3" name="Isosceles Triangle 128">
            <a:extLst>
              <a:ext uri="{FF2B5EF4-FFF2-40B4-BE49-F238E27FC236}">
                <a16:creationId xmlns:a16="http://schemas.microsoft.com/office/drawing/2014/main" id="{96A796AF-104D-887E-992F-30F319001293}"/>
              </a:ext>
            </a:extLst>
          </p:cNvPr>
          <p:cNvSpPr/>
          <p:nvPr/>
        </p:nvSpPr>
        <p:spPr>
          <a:xfrm rot="5400000">
            <a:off x="11931278" y="4820430"/>
            <a:ext cx="256543" cy="230532"/>
          </a:xfrm>
          <a:prstGeom prst="triangle">
            <a:avLst/>
          </a:prstGeom>
          <a:pattFill prst="pct25">
            <a:fgClr>
              <a:srgbClr val="00B050"/>
            </a:fgClr>
            <a:bgClr>
              <a:schemeClr val="bg1"/>
            </a:bgClr>
          </a:patt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14" name="TextBox 13">
            <a:extLst>
              <a:ext uri="{FF2B5EF4-FFF2-40B4-BE49-F238E27FC236}">
                <a16:creationId xmlns:a16="http://schemas.microsoft.com/office/drawing/2014/main" id="{A3CAFBAD-8BF7-FDCC-ED89-6693A0E33B31}"/>
              </a:ext>
            </a:extLst>
          </p:cNvPr>
          <p:cNvSpPr txBox="1"/>
          <p:nvPr/>
        </p:nvSpPr>
        <p:spPr bwMode="gray">
          <a:xfrm>
            <a:off x="3335386" y="2785065"/>
            <a:ext cx="1685671" cy="197426"/>
          </a:xfrm>
          <a:prstGeom prst="rect">
            <a:avLst/>
          </a:prstGeom>
          <a:solidFill>
            <a:schemeClr val="bg1"/>
          </a:solidFill>
        </p:spPr>
        <p:txBody>
          <a:bodyPr wrap="square" lIns="0" tIns="0" rIns="0" bIns="0" rtlCol="0" anchor="ctr">
            <a:spAutoFit/>
          </a:bodyPr>
          <a:lstStyle/>
          <a:p>
            <a:pPr algn="ctr">
              <a:lnSpc>
                <a:spcPct val="140000"/>
              </a:lnSpc>
            </a:pPr>
            <a:r>
              <a:rPr lang="en-US" altLang="zh-CN" sz="1000" b="1" i="1">
                <a:solidFill>
                  <a:srgbClr val="00B0F0"/>
                </a:solidFill>
              </a:rPr>
              <a:t>Cumulative 8m </a:t>
            </a:r>
            <a:r>
              <a:rPr lang="en-US" sz="1000" b="1" i="1">
                <a:solidFill>
                  <a:srgbClr val="00B0F0"/>
                </a:solidFill>
              </a:rPr>
              <a:t>Postponed</a:t>
            </a:r>
          </a:p>
        </p:txBody>
      </p:sp>
      <p:sp>
        <p:nvSpPr>
          <p:cNvPr id="224" name="文本框 160">
            <a:extLst>
              <a:ext uri="{FF2B5EF4-FFF2-40B4-BE49-F238E27FC236}">
                <a16:creationId xmlns:a16="http://schemas.microsoft.com/office/drawing/2014/main" id="{CFC75FA6-FDEB-F4F3-CE22-DDDB6675CBA5}"/>
              </a:ext>
            </a:extLst>
          </p:cNvPr>
          <p:cNvSpPr txBox="1"/>
          <p:nvPr/>
        </p:nvSpPr>
        <p:spPr>
          <a:xfrm>
            <a:off x="977964" y="4744693"/>
            <a:ext cx="6217920" cy="1038582"/>
          </a:xfrm>
          <a:prstGeom prst="roundRect">
            <a:avLst/>
          </a:prstGeom>
          <a:solidFill>
            <a:schemeClr val="bg1"/>
          </a:solidFill>
          <a:ln>
            <a:solidFill>
              <a:srgbClr val="076D7E"/>
            </a:solidFill>
            <a:prstDash val="lgDash"/>
          </a:ln>
        </p:spPr>
        <p:txBody>
          <a:bodyPr wrap="square" rtlCol="0" anchor="ctr">
            <a:spAutoFit/>
          </a:bodyPr>
          <a:lstStyle/>
          <a:p>
            <a:pPr defTabSz="1219170">
              <a:spcAft>
                <a:spcPts val="267"/>
              </a:spcAft>
              <a:defRPr/>
            </a:pPr>
            <a:r>
              <a:rPr lang="en-US" altLang="zh-CN" sz="1000" b="1" i="1">
                <a:solidFill>
                  <a:srgbClr val="002060"/>
                </a:solidFill>
                <a:cs typeface="Calibri" panose="020F0502020204030204" pitchFamily="34" charset="0"/>
              </a:rPr>
              <a:t>China Update:</a:t>
            </a:r>
            <a:r>
              <a:rPr lang="en-US" altLang="zh-CN" sz="1000" i="1">
                <a:solidFill>
                  <a:srgbClr val="002060"/>
                </a:solidFill>
                <a:cs typeface="Calibri" panose="020F0502020204030204" pitchFamily="34" charset="0"/>
              </a:rPr>
              <a:t>	</a:t>
            </a:r>
          </a:p>
          <a:p>
            <a:pPr marL="274320" lvl="1" indent="-95998" defTabSz="1219170">
              <a:spcAft>
                <a:spcPts val="267"/>
              </a:spcAft>
              <a:buFont typeface="Arial" panose="020B0604020202020204" pitchFamily="34" charset="0"/>
              <a:buChar char="•"/>
              <a:defRPr/>
            </a:pPr>
            <a:r>
              <a:rPr lang="en-US" altLang="zh-CN" sz="1000" b="1" i="1">
                <a:solidFill>
                  <a:srgbClr val="002060"/>
                </a:solidFill>
                <a:cs typeface="Calibri" panose="020F0502020204030204" pitchFamily="34" charset="0"/>
              </a:rPr>
              <a:t>DR/DME based on Beijing Healthcare Insurance Study </a:t>
            </a:r>
            <a:r>
              <a:rPr lang="en-US" altLang="zh-CN" sz="1000" i="1">
                <a:solidFill>
                  <a:srgbClr val="002060"/>
                </a:solidFill>
                <a:cs typeface="Calibri" panose="020F0502020204030204" pitchFamily="34" charset="0"/>
              </a:rPr>
              <a:t>was discussed with global brand teams of Anti-Sema3A and </a:t>
            </a:r>
            <a:r>
              <a:rPr lang="en-US" altLang="zh-CN" sz="1000" i="1" err="1">
                <a:solidFill>
                  <a:srgbClr val="002060"/>
                </a:solidFill>
                <a:cs typeface="Calibri" panose="020F0502020204030204" pitchFamily="34" charset="0"/>
              </a:rPr>
              <a:t>PKKi</a:t>
            </a:r>
            <a:r>
              <a:rPr lang="en-US" altLang="zh-CN" sz="1000" i="1">
                <a:solidFill>
                  <a:srgbClr val="002060"/>
                </a:solidFill>
                <a:cs typeface="Calibri" panose="020F0502020204030204" pitchFamily="34" charset="0"/>
              </a:rPr>
              <a:t> on 24 Nov 2025.  Proposal will be updated for further review. </a:t>
            </a:r>
          </a:p>
          <a:p>
            <a:pPr marL="274320" lvl="1" indent="-95998" defTabSz="1219170">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A brief proposal on sponsoring Prof Jie LI’s </a:t>
            </a:r>
            <a:r>
              <a:rPr lang="en-US" altLang="zh-CN" sz="1000" b="1" i="1">
                <a:solidFill>
                  <a:srgbClr val="002060"/>
                </a:solidFill>
                <a:cs typeface="Calibri" panose="020F0502020204030204" pitchFamily="34" charset="0"/>
              </a:rPr>
              <a:t>China RWS of natural course progression of DR and RNP</a:t>
            </a:r>
            <a:r>
              <a:rPr lang="en-US" altLang="zh-CN" sz="1000" i="1">
                <a:solidFill>
                  <a:srgbClr val="002060"/>
                </a:solidFill>
                <a:cs typeface="Calibri" panose="020F0502020204030204" pitchFamily="34" charset="0"/>
              </a:rPr>
              <a:t> will be prepared for global team’s review.</a:t>
            </a:r>
          </a:p>
        </p:txBody>
      </p:sp>
    </p:spTree>
    <p:extLst>
      <p:ext uri="{BB962C8B-B14F-4D97-AF65-F5344CB8AC3E}">
        <p14:creationId xmlns:p14="http://schemas.microsoft.com/office/powerpoint/2010/main" val="1159963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AD6F1D-F1C3-3176-E5EF-E372E643EB80}"/>
            </a:ext>
          </a:extLst>
        </p:cNvPr>
        <p:cNvGrpSpPr/>
        <p:nvPr/>
      </p:nvGrpSpPr>
      <p:grpSpPr>
        <a:xfrm>
          <a:off x="0" y="0"/>
          <a:ext cx="0" cy="0"/>
          <a:chOff x="0" y="0"/>
          <a:chExt cx="0" cy="0"/>
        </a:xfrm>
      </p:grpSpPr>
      <p:grpSp>
        <p:nvGrpSpPr>
          <p:cNvPr id="227" name="Group 226">
            <a:extLst>
              <a:ext uri="{FF2B5EF4-FFF2-40B4-BE49-F238E27FC236}">
                <a16:creationId xmlns:a16="http://schemas.microsoft.com/office/drawing/2014/main" id="{C5843D3C-152A-21AD-D211-072FBE414710}"/>
              </a:ext>
            </a:extLst>
          </p:cNvPr>
          <p:cNvGrpSpPr/>
          <p:nvPr/>
        </p:nvGrpSpPr>
        <p:grpSpPr>
          <a:xfrm>
            <a:off x="2979793" y="1675830"/>
            <a:ext cx="598242" cy="4062432"/>
            <a:chOff x="2444277" y="1675830"/>
            <a:chExt cx="598242" cy="4062432"/>
          </a:xfrm>
        </p:grpSpPr>
        <p:cxnSp>
          <p:nvCxnSpPr>
            <p:cNvPr id="277" name="Straight Connector 147">
              <a:extLst>
                <a:ext uri="{FF2B5EF4-FFF2-40B4-BE49-F238E27FC236}">
                  <a16:creationId xmlns:a16="http://schemas.microsoft.com/office/drawing/2014/main" id="{C693D84D-2F9D-0468-D58A-EE26A46E74A7}"/>
                </a:ext>
              </a:extLst>
            </p:cNvPr>
            <p:cNvCxnSpPr>
              <a:cxnSpLocks/>
              <a:endCxn id="279" idx="2"/>
            </p:cNvCxnSpPr>
            <p:nvPr/>
          </p:nvCxnSpPr>
          <p:spPr bwMode="auto">
            <a:xfrm flipV="1">
              <a:off x="2743398" y="1932375"/>
              <a:ext cx="0" cy="3805887"/>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79" name="Rectangle 52">
              <a:extLst>
                <a:ext uri="{FF2B5EF4-FFF2-40B4-BE49-F238E27FC236}">
                  <a16:creationId xmlns:a16="http://schemas.microsoft.com/office/drawing/2014/main" id="{38774EB7-F6C1-D162-3395-32A6FFFFD682}"/>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2" name="Title 1">
            <a:extLst>
              <a:ext uri="{FF2B5EF4-FFF2-40B4-BE49-F238E27FC236}">
                <a16:creationId xmlns:a16="http://schemas.microsoft.com/office/drawing/2014/main" id="{A80AB7EF-2479-BB73-CFE8-F9DEA598AD19}"/>
              </a:ext>
            </a:extLst>
          </p:cNvPr>
          <p:cNvSpPr>
            <a:spLocks noGrp="1"/>
          </p:cNvSpPr>
          <p:nvPr>
            <p:ph type="title"/>
          </p:nvPr>
        </p:nvSpPr>
        <p:spPr/>
        <p:txBody>
          <a:bodyPr/>
          <a:lstStyle/>
          <a:p>
            <a:r>
              <a:rPr lang="en-US" altLang="zh-CN">
                <a:latin typeface="+mn-lt"/>
              </a:rPr>
              <a:t>BI 771716 / Anti-C3 AB, Geographic Atrophy (GA), Development Plan </a:t>
            </a:r>
            <a:endParaRPr lang="zh-CN" altLang="en-US">
              <a:latin typeface="+mn-lt"/>
            </a:endParaRPr>
          </a:p>
        </p:txBody>
      </p:sp>
      <p:sp>
        <p:nvSpPr>
          <p:cNvPr id="4" name="Text Placeholder 3">
            <a:extLst>
              <a:ext uri="{FF2B5EF4-FFF2-40B4-BE49-F238E27FC236}">
                <a16:creationId xmlns:a16="http://schemas.microsoft.com/office/drawing/2014/main" id="{87010480-0048-FBAA-0649-5F50214B6634}"/>
              </a:ext>
            </a:extLst>
          </p:cNvPr>
          <p:cNvSpPr>
            <a:spLocks noGrp="1"/>
          </p:cNvSpPr>
          <p:nvPr>
            <p:ph type="body" sz="quarter" idx="13"/>
          </p:nvPr>
        </p:nvSpPr>
        <p:spPr>
          <a:xfrm>
            <a:off x="444188" y="6582084"/>
            <a:ext cx="11232000" cy="144000"/>
          </a:xfrm>
        </p:spPr>
        <p:txBody>
          <a:bodyPr/>
          <a:lstStyle/>
          <a:p>
            <a:endParaRPr lang="zh-CN" altLang="en-US"/>
          </a:p>
        </p:txBody>
      </p:sp>
      <p:sp>
        <p:nvSpPr>
          <p:cNvPr id="6" name="Slide Number Placeholder 5">
            <a:extLst>
              <a:ext uri="{FF2B5EF4-FFF2-40B4-BE49-F238E27FC236}">
                <a16:creationId xmlns:a16="http://schemas.microsoft.com/office/drawing/2014/main" id="{C810A3AB-A5A5-CAF9-84E6-9FC883EC438D}"/>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9BEF45BE-1209-F8E0-4650-BED8E378C266}"/>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9</a:t>
            </a:fld>
            <a:endParaRPr lang="en-US" kern="0">
              <a:solidFill>
                <a:srgbClr val="08312A"/>
              </a:solidFill>
              <a:cs typeface="Arial"/>
              <a:sym typeface="Arial"/>
            </a:endParaRPr>
          </a:p>
        </p:txBody>
      </p:sp>
      <p:sp>
        <p:nvSpPr>
          <p:cNvPr id="240" name="OTLSHAPE_T_5a934a26f311425e8ebaa0f45e6533ad_Shape">
            <a:extLst>
              <a:ext uri="{FF2B5EF4-FFF2-40B4-BE49-F238E27FC236}">
                <a16:creationId xmlns:a16="http://schemas.microsoft.com/office/drawing/2014/main" id="{830DBC56-9F89-F153-F741-B394C9099CA3}"/>
              </a:ext>
            </a:extLst>
          </p:cNvPr>
          <p:cNvSpPr/>
          <p:nvPr>
            <p:custDataLst>
              <p:tags r:id="rId1"/>
            </p:custDataLst>
          </p:nvPr>
        </p:nvSpPr>
        <p:spPr bwMode="auto">
          <a:xfrm>
            <a:off x="2740668" y="2278100"/>
            <a:ext cx="3050588"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7BFCDB58-3AEC-F2C3-3D60-CDE7C1D7D4FE}"/>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97A14C5A-0895-A6E7-1C2A-3E958B1C63FE}"/>
              </a:ext>
            </a:extLst>
          </p:cNvPr>
          <p:cNvCxnSpPr>
            <a:cxnSpLocks/>
          </p:cNvCxnSpPr>
          <p:nvPr/>
        </p:nvCxnSpPr>
        <p:spPr bwMode="auto">
          <a:xfrm flipH="1">
            <a:off x="0" y="4063345"/>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339A390B-327F-DD95-CE01-D128CE2742A6}"/>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63FEBB8F-19FC-931B-6FA9-67EA7F913EA5}"/>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D3DEB3C9-0C12-ED4F-87BA-85A2CE541904}"/>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1497-0002</a:t>
            </a:r>
          </a:p>
          <a:p>
            <a:pPr algn="ctr" defTabSz="914377">
              <a:defRPr/>
            </a:pPr>
            <a:r>
              <a:rPr lang="en-US" sz="1067" b="1">
                <a:solidFill>
                  <a:srgbClr val="08312A"/>
                </a:solidFill>
                <a:cs typeface="Calibri" panose="020F0502020204030204" pitchFamily="34" charset="0"/>
              </a:rPr>
              <a:t>VERDANT</a:t>
            </a:r>
          </a:p>
        </p:txBody>
      </p:sp>
      <p:pic>
        <p:nvPicPr>
          <p:cNvPr id="246" name="Picture 4">
            <a:extLst>
              <a:ext uri="{FF2B5EF4-FFF2-40B4-BE49-F238E27FC236}">
                <a16:creationId xmlns:a16="http://schemas.microsoft.com/office/drawing/2014/main" id="{AE38D148-B437-487C-7826-4DD203AD6114}"/>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E7C7D9AA-9072-0D4B-81DD-3089F282DB6C}"/>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27783" y="4040078"/>
            <a:ext cx="1138019" cy="560880"/>
          </a:xfrm>
          <a:prstGeom prst="rect">
            <a:avLst/>
          </a:prstGeom>
        </p:spPr>
      </p:pic>
      <p:sp>
        <p:nvSpPr>
          <p:cNvPr id="249" name="Rectangle 52">
            <a:extLst>
              <a:ext uri="{FF2B5EF4-FFF2-40B4-BE49-F238E27FC236}">
                <a16:creationId xmlns:a16="http://schemas.microsoft.com/office/drawing/2014/main" id="{31D8D689-5710-B451-EC33-D2D8F8037BDA}"/>
              </a:ext>
            </a:extLst>
          </p:cNvPr>
          <p:cNvSpPr/>
          <p:nvPr/>
        </p:nvSpPr>
        <p:spPr>
          <a:xfrm>
            <a:off x="1154408"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3A38B955-7CFF-EBA6-47F9-8CCE341DEF03}"/>
              </a:ext>
            </a:extLst>
          </p:cNvPr>
          <p:cNvSpPr txBox="1"/>
          <p:nvPr>
            <p:custDataLst>
              <p:tags r:id="rId2"/>
            </p:custDataLst>
          </p:nvPr>
        </p:nvSpPr>
        <p:spPr>
          <a:xfrm>
            <a:off x="830861"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2025</a:t>
            </a:r>
            <a:endParaRPr lang="zh-CN" altLang="en-US" sz="1067" b="1" i="1">
              <a:solidFill>
                <a:schemeClr val="bg1">
                  <a:lumMod val="65000"/>
                </a:schemeClr>
              </a:solidFill>
              <a:ea typeface="等线" panose="02010600030101010101" pitchFamily="2" charset="-122"/>
            </a:endParaRPr>
          </a:p>
        </p:txBody>
      </p:sp>
      <p:sp>
        <p:nvSpPr>
          <p:cNvPr id="264" name="Rectangle 55">
            <a:extLst>
              <a:ext uri="{FF2B5EF4-FFF2-40B4-BE49-F238E27FC236}">
                <a16:creationId xmlns:a16="http://schemas.microsoft.com/office/drawing/2014/main" id="{46255927-3BE1-32A9-531D-AF38B3C3EA39}"/>
              </a:ext>
            </a:extLst>
          </p:cNvPr>
          <p:cNvSpPr/>
          <p:nvPr/>
        </p:nvSpPr>
        <p:spPr>
          <a:xfrm>
            <a:off x="2545531"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95811C93-3B6D-20D5-872D-576F9A49953E}"/>
              </a:ext>
            </a:extLst>
          </p:cNvPr>
          <p:cNvSpPr txBox="1"/>
          <p:nvPr>
            <p:custDataLst>
              <p:tags r:id="rId3"/>
            </p:custDataLst>
          </p:nvPr>
        </p:nvSpPr>
        <p:spPr>
          <a:xfrm>
            <a:off x="2256449" y="2099832"/>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1C7A43B4-6E0D-C1B8-BFD8-624BC0CFC53C}"/>
              </a:ext>
            </a:extLst>
          </p:cNvPr>
          <p:cNvSpPr/>
          <p:nvPr/>
        </p:nvSpPr>
        <p:spPr bwMode="auto">
          <a:xfrm>
            <a:off x="126100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CA5AC320-1A56-EFC0-1D9A-A41C7CED5381}"/>
              </a:ext>
            </a:extLst>
          </p:cNvPr>
          <p:cNvSpPr/>
          <p:nvPr/>
        </p:nvSpPr>
        <p:spPr bwMode="auto">
          <a:xfrm>
            <a:off x="265203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12" name="文本框 160">
            <a:extLst>
              <a:ext uri="{FF2B5EF4-FFF2-40B4-BE49-F238E27FC236}">
                <a16:creationId xmlns:a16="http://schemas.microsoft.com/office/drawing/2014/main" id="{B82A092A-FDC5-E6CC-1758-7CC59A17A7EA}"/>
              </a:ext>
            </a:extLst>
          </p:cNvPr>
          <p:cNvSpPr txBox="1"/>
          <p:nvPr/>
        </p:nvSpPr>
        <p:spPr>
          <a:xfrm>
            <a:off x="1708216" y="5351348"/>
            <a:ext cx="8129000" cy="868323"/>
          </a:xfrm>
          <a:prstGeom prst="roundRect">
            <a:avLst/>
          </a:prstGeom>
          <a:solidFill>
            <a:schemeClr val="bg1"/>
          </a:solidFill>
          <a:ln>
            <a:solidFill>
              <a:srgbClr val="076D7E"/>
            </a:solidFill>
            <a:prstDash val="lgDash"/>
          </a:ln>
        </p:spPr>
        <p:txBody>
          <a:bodyPr wrap="square" rtlCol="0" anchor="ctr">
            <a:spAutoFit/>
          </a:bodyPr>
          <a:lstStyle/>
          <a:p>
            <a:pPr defTabSz="1219170">
              <a:spcAft>
                <a:spcPts val="267"/>
              </a:spcAft>
              <a:defRPr/>
            </a:pPr>
            <a:r>
              <a:rPr lang="en-US" altLang="zh-CN" sz="1000" b="1" i="1">
                <a:solidFill>
                  <a:srgbClr val="002060"/>
                </a:solidFill>
                <a:cs typeface="Calibri" panose="020F0502020204030204" pitchFamily="34" charset="0"/>
              </a:rPr>
              <a:t>China Update:</a:t>
            </a:r>
          </a:p>
          <a:p>
            <a:pPr marL="95998" indent="-95998" defTabSz="1219170">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After initial discussion with Anti-C3 CDL and GRA in Nov, GA pipeline consultation of Anti-C3 and PAFR was preferred and need to be further aligned with global TA level.</a:t>
            </a:r>
          </a:p>
          <a:p>
            <a:pPr marL="95998" indent="-95998" defTabSz="1219170">
              <a:spcAft>
                <a:spcPts val="267"/>
              </a:spcAft>
              <a:buFont typeface="Arial" panose="020B0604020202020204" pitchFamily="34" charset="0"/>
              <a:buChar char="•"/>
              <a:defRPr/>
            </a:pPr>
            <a:r>
              <a:rPr lang="en-US" altLang="zh-CN" sz="1000" i="1">
                <a:solidFill>
                  <a:schemeClr val="bg1">
                    <a:lumMod val="50000"/>
                  </a:schemeClr>
                </a:solidFill>
                <a:cs typeface="Calibri"/>
              </a:rPr>
              <a:t>The GA scientific exchange meeting with Prof. Xiaodong Sun’s team is rescheduled to Dec 2026 due to time feasibility (TBD).</a:t>
            </a:r>
          </a:p>
        </p:txBody>
      </p:sp>
      <p:sp>
        <p:nvSpPr>
          <p:cNvPr id="5" name="Rectangle 55">
            <a:extLst>
              <a:ext uri="{FF2B5EF4-FFF2-40B4-BE49-F238E27FC236}">
                <a16:creationId xmlns:a16="http://schemas.microsoft.com/office/drawing/2014/main" id="{909BD1EE-B7ED-7119-D824-5EB1551F34B7}"/>
              </a:ext>
            </a:extLst>
          </p:cNvPr>
          <p:cNvSpPr/>
          <p:nvPr/>
        </p:nvSpPr>
        <p:spPr>
          <a:xfrm>
            <a:off x="5337083" y="2565299"/>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B1EE8699-A94D-27CE-B0CA-02B125823D7A}"/>
              </a:ext>
            </a:extLst>
          </p:cNvPr>
          <p:cNvSpPr txBox="1"/>
          <p:nvPr>
            <p:custDataLst>
              <p:tags r:id="rId4"/>
            </p:custDataLst>
          </p:nvPr>
        </p:nvSpPr>
        <p:spPr>
          <a:xfrm>
            <a:off x="5296167" y="2101158"/>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36D30BCD-B345-D21D-66F4-6EFB9E399B57}"/>
              </a:ext>
            </a:extLst>
          </p:cNvPr>
          <p:cNvSpPr/>
          <p:nvPr/>
        </p:nvSpPr>
        <p:spPr bwMode="auto">
          <a:xfrm>
            <a:off x="5701267" y="24673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9" name="OTLSHAPE_T_5a934a26f311425e8ebaa0f45e6533ad_Shape">
            <a:extLst>
              <a:ext uri="{FF2B5EF4-FFF2-40B4-BE49-F238E27FC236}">
                <a16:creationId xmlns:a16="http://schemas.microsoft.com/office/drawing/2014/main" id="{3D105D39-F375-A841-5C81-957EB4C69B20}"/>
              </a:ext>
            </a:extLst>
          </p:cNvPr>
          <p:cNvSpPr/>
          <p:nvPr>
            <p:custDataLst>
              <p:tags r:id="rId5"/>
            </p:custDataLst>
          </p:nvPr>
        </p:nvSpPr>
        <p:spPr bwMode="auto">
          <a:xfrm>
            <a:off x="9444592" y="3261913"/>
            <a:ext cx="2425190"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10" name="Rectangle 52">
            <a:extLst>
              <a:ext uri="{FF2B5EF4-FFF2-40B4-BE49-F238E27FC236}">
                <a16:creationId xmlns:a16="http://schemas.microsoft.com/office/drawing/2014/main" id="{7EC083EA-D9F5-81BF-39D1-E47B480008A9}"/>
              </a:ext>
            </a:extLst>
          </p:cNvPr>
          <p:cNvSpPr/>
          <p:nvPr/>
        </p:nvSpPr>
        <p:spPr>
          <a:xfrm>
            <a:off x="7161361" y="355755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1" name="OTLSHAPE_T_e17f3958430f4cff8650518c93c7635e_Shape">
            <a:extLst>
              <a:ext uri="{FF2B5EF4-FFF2-40B4-BE49-F238E27FC236}">
                <a16:creationId xmlns:a16="http://schemas.microsoft.com/office/drawing/2014/main" id="{FA734B26-5507-6600-5529-A091FA652D5C}"/>
              </a:ext>
            </a:extLst>
          </p:cNvPr>
          <p:cNvSpPr/>
          <p:nvPr>
            <p:custDataLst>
              <p:tags r:id="rId6"/>
            </p:custDataLst>
          </p:nvPr>
        </p:nvSpPr>
        <p:spPr bwMode="auto">
          <a:xfrm>
            <a:off x="7345593" y="3261127"/>
            <a:ext cx="209899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2 x Ph3 in GA</a:t>
            </a:r>
          </a:p>
        </p:txBody>
      </p:sp>
      <p:sp>
        <p:nvSpPr>
          <p:cNvPr id="12" name="Rectangle 55">
            <a:extLst>
              <a:ext uri="{FF2B5EF4-FFF2-40B4-BE49-F238E27FC236}">
                <a16:creationId xmlns:a16="http://schemas.microsoft.com/office/drawing/2014/main" id="{9D51639D-EEB8-9905-0511-286EF80CED58}"/>
              </a:ext>
            </a:extLst>
          </p:cNvPr>
          <p:cNvSpPr/>
          <p:nvPr/>
        </p:nvSpPr>
        <p:spPr>
          <a:xfrm>
            <a:off x="9247256" y="3551784"/>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3" name="OTLSHAPE_T_e17f3958430f4cff8650518c93c7635e_StartDate">
            <a:extLst>
              <a:ext uri="{FF2B5EF4-FFF2-40B4-BE49-F238E27FC236}">
                <a16:creationId xmlns:a16="http://schemas.microsoft.com/office/drawing/2014/main" id="{2A36681F-FC92-EB76-CF61-4AC72C6D6E98}"/>
              </a:ext>
            </a:extLst>
          </p:cNvPr>
          <p:cNvSpPr txBox="1"/>
          <p:nvPr>
            <p:custDataLst>
              <p:tags r:id="rId7"/>
            </p:custDataLst>
          </p:nvPr>
        </p:nvSpPr>
        <p:spPr>
          <a:xfrm>
            <a:off x="8958174" y="308764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6" name="Star: 4 Points 143">
            <a:extLst>
              <a:ext uri="{FF2B5EF4-FFF2-40B4-BE49-F238E27FC236}">
                <a16:creationId xmlns:a16="http://schemas.microsoft.com/office/drawing/2014/main" id="{3C3A858E-FC1B-439E-0187-9B3B28A17433}"/>
              </a:ext>
            </a:extLst>
          </p:cNvPr>
          <p:cNvSpPr/>
          <p:nvPr/>
        </p:nvSpPr>
        <p:spPr bwMode="auto">
          <a:xfrm>
            <a:off x="7263364" y="34538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7" name="Star: 4 Points 143">
            <a:extLst>
              <a:ext uri="{FF2B5EF4-FFF2-40B4-BE49-F238E27FC236}">
                <a16:creationId xmlns:a16="http://schemas.microsoft.com/office/drawing/2014/main" id="{95AB1A5A-8186-FD68-E95B-EF945AB54446}"/>
              </a:ext>
            </a:extLst>
          </p:cNvPr>
          <p:cNvSpPr/>
          <p:nvPr/>
        </p:nvSpPr>
        <p:spPr bwMode="auto">
          <a:xfrm>
            <a:off x="9353756" y="34538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7C5CF588-03B6-D74B-5DC1-8A3387F0F3E3}"/>
              </a:ext>
            </a:extLst>
          </p:cNvPr>
          <p:cNvSpPr txBox="1"/>
          <p:nvPr/>
        </p:nvSpPr>
        <p:spPr>
          <a:xfrm>
            <a:off x="31594" y="3297806"/>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1497-0003/</a:t>
            </a:r>
          </a:p>
          <a:p>
            <a:pPr algn="ctr" defTabSz="914377">
              <a:defRPr/>
            </a:pPr>
            <a:r>
              <a:rPr lang="en-US" altLang="zh-CN" sz="1067" b="1">
                <a:solidFill>
                  <a:srgbClr val="08312A"/>
                </a:solidFill>
                <a:cs typeface="Calibri" panose="020F0502020204030204" pitchFamily="34" charset="0"/>
              </a:rPr>
              <a:t>1497-0004</a:t>
            </a:r>
          </a:p>
        </p:txBody>
      </p:sp>
      <p:sp>
        <p:nvSpPr>
          <p:cNvPr id="23" name="OTLSHAPE_T_e17f3958430f4cff8650518c93c7635e_StartDate">
            <a:extLst>
              <a:ext uri="{FF2B5EF4-FFF2-40B4-BE49-F238E27FC236}">
                <a16:creationId xmlns:a16="http://schemas.microsoft.com/office/drawing/2014/main" id="{C6D3B15B-361B-71FE-67D1-3AD24D32C712}"/>
              </a:ext>
            </a:extLst>
          </p:cNvPr>
          <p:cNvSpPr txBox="1"/>
          <p:nvPr>
            <p:custDataLst>
              <p:tags r:id="rId8"/>
            </p:custDataLst>
          </p:nvPr>
        </p:nvSpPr>
        <p:spPr>
          <a:xfrm>
            <a:off x="6899911" y="310299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98" name="五角星 55">
            <a:extLst>
              <a:ext uri="{FF2B5EF4-FFF2-40B4-BE49-F238E27FC236}">
                <a16:creationId xmlns:a16="http://schemas.microsoft.com/office/drawing/2014/main" id="{3DE1E7D5-8E6E-61EA-7BD4-13CF3DE4EF58}"/>
              </a:ext>
            </a:extLst>
          </p:cNvPr>
          <p:cNvSpPr>
            <a:spLocks/>
          </p:cNvSpPr>
          <p:nvPr/>
        </p:nvSpPr>
        <p:spPr bwMode="auto">
          <a:xfrm>
            <a:off x="11139563" y="3487904"/>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4" name="OTLSHAPE_T_e17f3958430f4cff8650518c93c7635e_StartDate">
            <a:extLst>
              <a:ext uri="{FF2B5EF4-FFF2-40B4-BE49-F238E27FC236}">
                <a16:creationId xmlns:a16="http://schemas.microsoft.com/office/drawing/2014/main" id="{E08709FE-4C9E-BBA8-2823-C14B7C54C12F}"/>
              </a:ext>
            </a:extLst>
          </p:cNvPr>
          <p:cNvSpPr txBox="1"/>
          <p:nvPr>
            <p:custDataLst>
              <p:tags r:id="rId9"/>
            </p:custDataLst>
          </p:nvPr>
        </p:nvSpPr>
        <p:spPr>
          <a:xfrm rot="19699925">
            <a:off x="10965483" y="3047320"/>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Apr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5" name="Rectangle 55">
            <a:extLst>
              <a:ext uri="{FF2B5EF4-FFF2-40B4-BE49-F238E27FC236}">
                <a16:creationId xmlns:a16="http://schemas.microsoft.com/office/drawing/2014/main" id="{DFF1C253-D9A1-4EFD-76AE-2EE456BCDA14}"/>
              </a:ext>
            </a:extLst>
          </p:cNvPr>
          <p:cNvSpPr/>
          <p:nvPr/>
        </p:nvSpPr>
        <p:spPr>
          <a:xfrm rot="19614369">
            <a:off x="10890390" y="3710932"/>
            <a:ext cx="643125"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NDA sub.</a:t>
            </a:r>
            <a:endParaRPr lang="zh-CN" altLang="en-US" sz="800" b="1">
              <a:solidFill>
                <a:srgbClr val="44546A"/>
              </a:solidFill>
              <a:ea typeface="等线" panose="02010600030101010101" pitchFamily="2" charset="-122"/>
              <a:cs typeface="Calibri" panose="020F0502020204030204" pitchFamily="34" charset="0"/>
            </a:endParaRPr>
          </a:p>
        </p:txBody>
      </p:sp>
      <p:cxnSp>
        <p:nvCxnSpPr>
          <p:cNvPr id="233" name="Connector: Elbow 232">
            <a:extLst>
              <a:ext uri="{FF2B5EF4-FFF2-40B4-BE49-F238E27FC236}">
                <a16:creationId xmlns:a16="http://schemas.microsoft.com/office/drawing/2014/main" id="{F2104929-4870-17B7-9E6C-788A6B374CE8}"/>
              </a:ext>
            </a:extLst>
          </p:cNvPr>
          <p:cNvCxnSpPr>
            <a:cxnSpLocks/>
            <a:stCxn id="5" idx="2"/>
            <a:endCxn id="235" idx="1"/>
          </p:cNvCxnSpPr>
          <p:nvPr/>
        </p:nvCxnSpPr>
        <p:spPr bwMode="gray">
          <a:xfrm rot="16200000" flipH="1">
            <a:off x="5677312" y="2945043"/>
            <a:ext cx="256546" cy="10147"/>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5" name="Star: 4 Points 143">
            <a:extLst>
              <a:ext uri="{FF2B5EF4-FFF2-40B4-BE49-F238E27FC236}">
                <a16:creationId xmlns:a16="http://schemas.microsoft.com/office/drawing/2014/main" id="{7697D7BC-F0C1-A431-2640-5112BA3813B8}"/>
              </a:ext>
            </a:extLst>
          </p:cNvPr>
          <p:cNvSpPr/>
          <p:nvPr/>
        </p:nvSpPr>
        <p:spPr bwMode="auto">
          <a:xfrm>
            <a:off x="5810659" y="29844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 name="TextBox 2">
            <a:extLst>
              <a:ext uri="{FF2B5EF4-FFF2-40B4-BE49-F238E27FC236}">
                <a16:creationId xmlns:a16="http://schemas.microsoft.com/office/drawing/2014/main" id="{96FB9561-572C-70B5-E887-9553BA597721}"/>
              </a:ext>
            </a:extLst>
          </p:cNvPr>
          <p:cNvSpPr txBox="1"/>
          <p:nvPr/>
        </p:nvSpPr>
        <p:spPr bwMode="gray">
          <a:xfrm>
            <a:off x="2141663" y="2919305"/>
            <a:ext cx="1198011" cy="412870"/>
          </a:xfrm>
          <a:prstGeom prst="rect">
            <a:avLst/>
          </a:prstGeom>
          <a:solidFill>
            <a:schemeClr val="bg1"/>
          </a:solidFill>
        </p:spPr>
        <p:txBody>
          <a:bodyPr wrap="square" lIns="0" tIns="0" rIns="0" bIns="0" rtlCol="0" anchor="ctr">
            <a:spAutoFit/>
          </a:bodyPr>
          <a:lstStyle/>
          <a:p>
            <a:pPr algn="ctr">
              <a:lnSpc>
                <a:spcPct val="140000"/>
              </a:lnSpc>
            </a:pPr>
            <a:r>
              <a:rPr lang="en-US" sz="1000" b="1" i="1">
                <a:solidFill>
                  <a:srgbClr val="00B0F0"/>
                </a:solidFill>
              </a:rPr>
              <a:t>LPI achieved 4m ahead of plan!</a:t>
            </a:r>
          </a:p>
        </p:txBody>
      </p:sp>
      <p:sp>
        <p:nvSpPr>
          <p:cNvPr id="14" name="Rectangle 55">
            <a:extLst>
              <a:ext uri="{FF2B5EF4-FFF2-40B4-BE49-F238E27FC236}">
                <a16:creationId xmlns:a16="http://schemas.microsoft.com/office/drawing/2014/main" id="{4AC54874-A7D8-D8A7-DD90-BAE6B40D9D58}"/>
              </a:ext>
            </a:extLst>
          </p:cNvPr>
          <p:cNvSpPr/>
          <p:nvPr/>
        </p:nvSpPr>
        <p:spPr>
          <a:xfrm>
            <a:off x="4272474" y="2561316"/>
            <a:ext cx="32412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IA</a:t>
            </a:r>
            <a:endParaRPr lang="zh-CN" altLang="en-US" sz="1067" b="1">
              <a:solidFill>
                <a:srgbClr val="44546A"/>
              </a:solidFill>
              <a:ea typeface="等线" panose="02010600030101010101" pitchFamily="2" charset="-122"/>
              <a:cs typeface="Calibri" panose="020F0502020204030204" pitchFamily="34" charset="0"/>
            </a:endParaRPr>
          </a:p>
        </p:txBody>
      </p:sp>
      <p:sp>
        <p:nvSpPr>
          <p:cNvPr id="15" name="OTLSHAPE_T_e17f3958430f4cff8650518c93c7635e_StartDate">
            <a:extLst>
              <a:ext uri="{FF2B5EF4-FFF2-40B4-BE49-F238E27FC236}">
                <a16:creationId xmlns:a16="http://schemas.microsoft.com/office/drawing/2014/main" id="{A69DEA15-17AC-DF50-B8EE-CBEBF35E5F5C}"/>
              </a:ext>
            </a:extLst>
          </p:cNvPr>
          <p:cNvSpPr txBox="1"/>
          <p:nvPr>
            <p:custDataLst>
              <p:tags r:id="rId10"/>
            </p:custDataLst>
          </p:nvPr>
        </p:nvSpPr>
        <p:spPr>
          <a:xfrm>
            <a:off x="3930194" y="2097175"/>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8" name="Star: 4 Points 143">
            <a:extLst>
              <a:ext uri="{FF2B5EF4-FFF2-40B4-BE49-F238E27FC236}">
                <a16:creationId xmlns:a16="http://schemas.microsoft.com/office/drawing/2014/main" id="{94D993EC-6EF8-E3D1-898B-BE9DF224CF89}"/>
              </a:ext>
            </a:extLst>
          </p:cNvPr>
          <p:cNvSpPr/>
          <p:nvPr/>
        </p:nvSpPr>
        <p:spPr bwMode="auto">
          <a:xfrm>
            <a:off x="4335294" y="246334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48" name="OTLSHAPE_T_e17f3958430f4cff8650518c93c7635e_StartDate">
            <a:extLst>
              <a:ext uri="{FF2B5EF4-FFF2-40B4-BE49-F238E27FC236}">
                <a16:creationId xmlns:a16="http://schemas.microsoft.com/office/drawing/2014/main" id="{A833FA60-C03A-5AE7-CF7E-0A586DF06371}"/>
              </a:ext>
            </a:extLst>
          </p:cNvPr>
          <p:cNvSpPr txBox="1"/>
          <p:nvPr>
            <p:custDataLst>
              <p:tags r:id="rId11"/>
            </p:custDataLst>
          </p:nvPr>
        </p:nvSpPr>
        <p:spPr>
          <a:xfrm rot="19699925">
            <a:off x="10415020" y="3043206"/>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Oct 2029</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53" name="Rectangle 55">
            <a:extLst>
              <a:ext uri="{FF2B5EF4-FFF2-40B4-BE49-F238E27FC236}">
                <a16:creationId xmlns:a16="http://schemas.microsoft.com/office/drawing/2014/main" id="{55DA54B6-90D1-AB03-D47C-5E150FD8A176}"/>
              </a:ext>
            </a:extLst>
          </p:cNvPr>
          <p:cNvSpPr/>
          <p:nvPr/>
        </p:nvSpPr>
        <p:spPr>
          <a:xfrm rot="19614369">
            <a:off x="10191652" y="3706818"/>
            <a:ext cx="939681"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Primary results</a:t>
            </a:r>
            <a:endParaRPr lang="zh-CN" altLang="en-US" sz="800" b="1">
              <a:solidFill>
                <a:srgbClr val="44546A"/>
              </a:solidFill>
              <a:ea typeface="等线" panose="02010600030101010101" pitchFamily="2" charset="-122"/>
              <a:cs typeface="Calibri" panose="020F0502020204030204" pitchFamily="34" charset="0"/>
            </a:endParaRPr>
          </a:p>
        </p:txBody>
      </p:sp>
      <p:sp>
        <p:nvSpPr>
          <p:cNvPr id="257" name="OTLSHAPE_T_e17f3958430f4cff8650518c93c7635e_StartDate">
            <a:extLst>
              <a:ext uri="{FF2B5EF4-FFF2-40B4-BE49-F238E27FC236}">
                <a16:creationId xmlns:a16="http://schemas.microsoft.com/office/drawing/2014/main" id="{24AB6CA5-D806-9D7C-230A-D3D7D0ED6C45}"/>
              </a:ext>
            </a:extLst>
          </p:cNvPr>
          <p:cNvSpPr txBox="1"/>
          <p:nvPr>
            <p:custDataLst>
              <p:tags r:id="rId12"/>
            </p:custDataLst>
          </p:nvPr>
        </p:nvSpPr>
        <p:spPr>
          <a:xfrm rot="19699925">
            <a:off x="11588589" y="3043496"/>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Dec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60" name="Rectangle 55">
            <a:extLst>
              <a:ext uri="{FF2B5EF4-FFF2-40B4-BE49-F238E27FC236}">
                <a16:creationId xmlns:a16="http://schemas.microsoft.com/office/drawing/2014/main" id="{C2295AE6-4750-25E4-CFAD-C25D414C6036}"/>
              </a:ext>
            </a:extLst>
          </p:cNvPr>
          <p:cNvSpPr/>
          <p:nvPr/>
        </p:nvSpPr>
        <p:spPr>
          <a:xfrm rot="19614369">
            <a:off x="11464607" y="3707108"/>
            <a:ext cx="740908"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Key results</a:t>
            </a:r>
            <a:endParaRPr lang="zh-CN" altLang="en-US" sz="800" b="1">
              <a:solidFill>
                <a:srgbClr val="44546A"/>
              </a:solidFill>
              <a:ea typeface="等线" panose="02010600030101010101" pitchFamily="2" charset="-122"/>
              <a:cs typeface="Calibri" panose="020F0502020204030204" pitchFamily="34" charset="0"/>
            </a:endParaRPr>
          </a:p>
        </p:txBody>
      </p:sp>
      <p:sp>
        <p:nvSpPr>
          <p:cNvPr id="261" name="Star: 4 Points 143">
            <a:extLst>
              <a:ext uri="{FF2B5EF4-FFF2-40B4-BE49-F238E27FC236}">
                <a16:creationId xmlns:a16="http://schemas.microsoft.com/office/drawing/2014/main" id="{8A42C960-9DB5-2F1C-B4F2-D41741773A7A}"/>
              </a:ext>
            </a:extLst>
          </p:cNvPr>
          <p:cNvSpPr/>
          <p:nvPr/>
        </p:nvSpPr>
        <p:spPr bwMode="auto">
          <a:xfrm>
            <a:off x="10614986" y="345302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62" name="Star: 4 Points 143">
            <a:extLst>
              <a:ext uri="{FF2B5EF4-FFF2-40B4-BE49-F238E27FC236}">
                <a16:creationId xmlns:a16="http://schemas.microsoft.com/office/drawing/2014/main" id="{18804651-44B5-5F21-891D-9166C0BC16DC}"/>
              </a:ext>
            </a:extLst>
          </p:cNvPr>
          <p:cNvSpPr/>
          <p:nvPr/>
        </p:nvSpPr>
        <p:spPr bwMode="auto">
          <a:xfrm>
            <a:off x="11776644" y="34567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646AEE82-E4D0-9231-D132-A36D55295426}"/>
              </a:ext>
            </a:extLst>
          </p:cNvPr>
          <p:cNvSpPr/>
          <p:nvPr>
            <p:custDataLst>
              <p:tags r:id="rId13"/>
            </p:custDataLst>
          </p:nvPr>
        </p:nvSpPr>
        <p:spPr bwMode="auto">
          <a:xfrm>
            <a:off x="6157896" y="4657851"/>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C2D3C7D7-F342-6CFB-55DF-2ABCCF8E98B8}"/>
              </a:ext>
            </a:extLst>
          </p:cNvPr>
          <p:cNvSpPr/>
          <p:nvPr/>
        </p:nvSpPr>
        <p:spPr>
          <a:xfrm>
            <a:off x="7113396" y="4946142"/>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7A0A198F-903D-67D0-8F4F-55DE7723AB0B}"/>
              </a:ext>
            </a:extLst>
          </p:cNvPr>
          <p:cNvSpPr/>
          <p:nvPr>
            <p:custDataLst>
              <p:tags r:id="rId14"/>
            </p:custDataLst>
          </p:nvPr>
        </p:nvSpPr>
        <p:spPr bwMode="auto">
          <a:xfrm rot="16200000">
            <a:off x="6147119" y="4890794"/>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D4424E47-D4DF-47BC-1D3F-B70177AF9ABE}"/>
              </a:ext>
            </a:extLst>
          </p:cNvPr>
          <p:cNvSpPr txBox="1"/>
          <p:nvPr>
            <p:custDataLst>
              <p:tags r:id="rId15"/>
            </p:custDataLst>
          </p:nvPr>
        </p:nvSpPr>
        <p:spPr>
          <a:xfrm>
            <a:off x="5928441" y="4992308"/>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C87616E8-A5F2-85C2-685B-53F79A76FCD3}"/>
              </a:ext>
            </a:extLst>
          </p:cNvPr>
          <p:cNvSpPr/>
          <p:nvPr/>
        </p:nvSpPr>
        <p:spPr bwMode="auto">
          <a:xfrm>
            <a:off x="7243305" y="485996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63" name="TextBox 64">
            <a:extLst>
              <a:ext uri="{FF2B5EF4-FFF2-40B4-BE49-F238E27FC236}">
                <a16:creationId xmlns:a16="http://schemas.microsoft.com/office/drawing/2014/main" id="{37182C31-465A-7564-B2B5-51FB0CBF22B8}"/>
              </a:ext>
            </a:extLst>
          </p:cNvPr>
          <p:cNvSpPr txBox="1"/>
          <p:nvPr/>
        </p:nvSpPr>
        <p:spPr>
          <a:xfrm>
            <a:off x="34181" y="4578951"/>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1497-0003/</a:t>
            </a:r>
          </a:p>
          <a:p>
            <a:pPr algn="ctr" defTabSz="914377">
              <a:defRPr/>
            </a:pPr>
            <a:r>
              <a:rPr lang="en-US" altLang="zh-CN" sz="1067" b="1">
                <a:solidFill>
                  <a:srgbClr val="08312A"/>
                </a:solidFill>
                <a:cs typeface="Calibri" panose="020F0502020204030204" pitchFamily="34" charset="0"/>
              </a:rPr>
              <a:t>1497-0004</a:t>
            </a:r>
          </a:p>
        </p:txBody>
      </p:sp>
      <p:sp>
        <p:nvSpPr>
          <p:cNvPr id="266" name="OTLSHAPE_T_5a934a26f311425e8ebaa0f45e6533ad_Shape">
            <a:extLst>
              <a:ext uri="{FF2B5EF4-FFF2-40B4-BE49-F238E27FC236}">
                <a16:creationId xmlns:a16="http://schemas.microsoft.com/office/drawing/2014/main" id="{DF4B40C6-F0F4-09C0-FDDC-E7400387E626}"/>
              </a:ext>
            </a:extLst>
          </p:cNvPr>
          <p:cNvSpPr/>
          <p:nvPr>
            <p:custDataLst>
              <p:tags r:id="rId16"/>
            </p:custDataLst>
          </p:nvPr>
        </p:nvSpPr>
        <p:spPr bwMode="auto">
          <a:xfrm>
            <a:off x="9444592" y="4658637"/>
            <a:ext cx="2425189"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70" name="OTLSHAPE_T_e17f3958430f4cff8650518c93c7635e_Shape">
            <a:extLst>
              <a:ext uri="{FF2B5EF4-FFF2-40B4-BE49-F238E27FC236}">
                <a16:creationId xmlns:a16="http://schemas.microsoft.com/office/drawing/2014/main" id="{F50B47DF-6226-BF23-5515-204AD69767E2}"/>
              </a:ext>
            </a:extLst>
          </p:cNvPr>
          <p:cNvSpPr/>
          <p:nvPr>
            <p:custDataLst>
              <p:tags r:id="rId17"/>
            </p:custDataLst>
          </p:nvPr>
        </p:nvSpPr>
        <p:spPr bwMode="auto">
          <a:xfrm>
            <a:off x="7345593" y="4657851"/>
            <a:ext cx="2098998"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in GA</a:t>
            </a:r>
          </a:p>
        </p:txBody>
      </p:sp>
      <p:sp>
        <p:nvSpPr>
          <p:cNvPr id="271" name="Rectangle 55">
            <a:extLst>
              <a:ext uri="{FF2B5EF4-FFF2-40B4-BE49-F238E27FC236}">
                <a16:creationId xmlns:a16="http://schemas.microsoft.com/office/drawing/2014/main" id="{710878B6-CA3A-A83E-6BC5-4086C44C1C6E}"/>
              </a:ext>
            </a:extLst>
          </p:cNvPr>
          <p:cNvSpPr/>
          <p:nvPr/>
        </p:nvSpPr>
        <p:spPr>
          <a:xfrm>
            <a:off x="9251842" y="4948508"/>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8" name="Star: 4 Points 143">
            <a:extLst>
              <a:ext uri="{FF2B5EF4-FFF2-40B4-BE49-F238E27FC236}">
                <a16:creationId xmlns:a16="http://schemas.microsoft.com/office/drawing/2014/main" id="{3AEB12E8-CDB3-B3F7-937D-002BA8E40BE7}"/>
              </a:ext>
            </a:extLst>
          </p:cNvPr>
          <p:cNvSpPr/>
          <p:nvPr/>
        </p:nvSpPr>
        <p:spPr bwMode="auto">
          <a:xfrm>
            <a:off x="9358342" y="485053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80" name="五角星 55">
            <a:extLst>
              <a:ext uri="{FF2B5EF4-FFF2-40B4-BE49-F238E27FC236}">
                <a16:creationId xmlns:a16="http://schemas.microsoft.com/office/drawing/2014/main" id="{79E6CF09-6BE4-B7C4-683B-C0E2DFF44F42}"/>
              </a:ext>
            </a:extLst>
          </p:cNvPr>
          <p:cNvSpPr>
            <a:spLocks/>
          </p:cNvSpPr>
          <p:nvPr/>
        </p:nvSpPr>
        <p:spPr bwMode="auto">
          <a:xfrm>
            <a:off x="11186679" y="4884628"/>
            <a:ext cx="144000" cy="144000"/>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defTabSz="914377" eaLnBrk="0" hangingPunct="0">
              <a:defRPr/>
            </a:pPr>
            <a:endParaRPr lang="zh-CN" altLang="en-US" sz="1067">
              <a:solidFill>
                <a:srgbClr val="FF0000"/>
              </a:solidFill>
              <a:ea typeface="等线" panose="02010600030101010101" pitchFamily="2" charset="-122"/>
            </a:endParaRPr>
          </a:p>
        </p:txBody>
      </p:sp>
      <p:sp>
        <p:nvSpPr>
          <p:cNvPr id="281" name="OTLSHAPE_T_e17f3958430f4cff8650518c93c7635e_StartDate">
            <a:extLst>
              <a:ext uri="{FF2B5EF4-FFF2-40B4-BE49-F238E27FC236}">
                <a16:creationId xmlns:a16="http://schemas.microsoft.com/office/drawing/2014/main" id="{05A411DD-BC80-4B2C-7676-223C7CF7FC95}"/>
              </a:ext>
            </a:extLst>
          </p:cNvPr>
          <p:cNvSpPr txBox="1"/>
          <p:nvPr>
            <p:custDataLst>
              <p:tags r:id="rId18"/>
            </p:custDataLst>
          </p:nvPr>
        </p:nvSpPr>
        <p:spPr>
          <a:xfrm rot="19699925">
            <a:off x="11012599" y="4444044"/>
            <a:ext cx="911151" cy="123111"/>
          </a:xfrm>
          <a:prstGeom prst="rect">
            <a:avLst/>
          </a:prstGeom>
          <a:noFill/>
        </p:spPr>
        <p:txBody>
          <a:bodyPr vert="horz" wrap="square" lIns="0" tIns="0" rIns="0" bIns="0" rtlCol="0" anchor="ctr" anchorCtr="0">
            <a:spAutoFit/>
          </a:bodyPr>
          <a:lstStyle/>
          <a:p>
            <a:pPr algn="ctr" defTabSz="1219108">
              <a:defRPr/>
            </a:pPr>
            <a:r>
              <a:rPr lang="en-US" altLang="zh-CN" sz="800" b="1" i="1">
                <a:solidFill>
                  <a:schemeClr val="bg1">
                    <a:lumMod val="65000"/>
                  </a:schemeClr>
                </a:solidFill>
                <a:ea typeface="等线" panose="02010600030101010101" pitchFamily="2" charset="-122"/>
                <a:cs typeface="Calibri" panose="020F0502020204030204" pitchFamily="34" charset="0"/>
              </a:rPr>
              <a:t>May 2030</a:t>
            </a:r>
            <a:endParaRPr lang="zh-CN" altLang="en-US" sz="800" b="1" i="1">
              <a:solidFill>
                <a:schemeClr val="bg1">
                  <a:lumMod val="65000"/>
                </a:schemeClr>
              </a:solidFill>
              <a:ea typeface="等线" panose="02010600030101010101" pitchFamily="2" charset="-122"/>
              <a:cs typeface="Calibri" panose="020F0502020204030204" pitchFamily="34" charset="0"/>
            </a:endParaRPr>
          </a:p>
        </p:txBody>
      </p:sp>
      <p:sp>
        <p:nvSpPr>
          <p:cNvPr id="282" name="Rectangle 55">
            <a:extLst>
              <a:ext uri="{FF2B5EF4-FFF2-40B4-BE49-F238E27FC236}">
                <a16:creationId xmlns:a16="http://schemas.microsoft.com/office/drawing/2014/main" id="{B77571AC-BAC0-87BE-F123-D656C6C58A27}"/>
              </a:ext>
            </a:extLst>
          </p:cNvPr>
          <p:cNvSpPr/>
          <p:nvPr/>
        </p:nvSpPr>
        <p:spPr>
          <a:xfrm rot="19614369">
            <a:off x="10942987" y="5035027"/>
            <a:ext cx="643125" cy="188385"/>
          </a:xfrm>
          <a:prstGeom prst="rect">
            <a:avLst/>
          </a:prstGeom>
        </p:spPr>
        <p:txBody>
          <a:bodyPr wrap="none">
            <a:spAutoFit/>
          </a:bodyPr>
          <a:lstStyle/>
          <a:p>
            <a:pPr algn="ctr" defTabSz="1219108">
              <a:lnSpc>
                <a:spcPts val="700"/>
              </a:lnSpc>
              <a:defRPr/>
            </a:pPr>
            <a:r>
              <a:rPr lang="en-US" altLang="zh-CN" sz="800" b="1">
                <a:solidFill>
                  <a:srgbClr val="44546A"/>
                </a:solidFill>
                <a:ea typeface="等线" panose="02010600030101010101" pitchFamily="2" charset="-122"/>
                <a:cs typeface="Calibri" panose="020F0502020204030204" pitchFamily="34" charset="0"/>
              </a:rPr>
              <a:t>NDA sub.</a:t>
            </a:r>
            <a:endParaRPr lang="zh-CN" altLang="en-US" sz="800" b="1">
              <a:solidFill>
                <a:srgbClr val="44546A"/>
              </a:solidFill>
              <a:ea typeface="等线" panose="02010600030101010101" pitchFamily="2" charset="-122"/>
              <a:cs typeface="Calibri" panose="020F0502020204030204" pitchFamily="34" charset="0"/>
            </a:endParaRPr>
          </a:p>
        </p:txBody>
      </p:sp>
      <p:cxnSp>
        <p:nvCxnSpPr>
          <p:cNvPr id="289" name="Connector: Elbow 288">
            <a:extLst>
              <a:ext uri="{FF2B5EF4-FFF2-40B4-BE49-F238E27FC236}">
                <a16:creationId xmlns:a16="http://schemas.microsoft.com/office/drawing/2014/main" id="{86B7C001-2835-D8E0-270F-83DD2E4F8964}"/>
              </a:ext>
            </a:extLst>
          </p:cNvPr>
          <p:cNvCxnSpPr>
            <a:cxnSpLocks/>
            <a:stCxn id="264" idx="2"/>
            <a:endCxn id="3" idx="0"/>
          </p:cNvCxnSpPr>
          <p:nvPr/>
        </p:nvCxnSpPr>
        <p:spPr bwMode="gray">
          <a:xfrm>
            <a:off x="2740456" y="2820519"/>
            <a:ext cx="213" cy="9878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1" name="OTLSHAPE_T_e17f3958430f4cff8650518c93c7635e_Shape">
            <a:extLst>
              <a:ext uri="{FF2B5EF4-FFF2-40B4-BE49-F238E27FC236}">
                <a16:creationId xmlns:a16="http://schemas.microsoft.com/office/drawing/2014/main" id="{8EC27930-95A4-CC5C-46C8-C70E5E5D39ED}"/>
              </a:ext>
            </a:extLst>
          </p:cNvPr>
          <p:cNvSpPr/>
          <p:nvPr>
            <p:custDataLst>
              <p:tags r:id="rId19"/>
            </p:custDataLst>
          </p:nvPr>
        </p:nvSpPr>
        <p:spPr bwMode="auto">
          <a:xfrm>
            <a:off x="1360481" y="2273316"/>
            <a:ext cx="138018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00" b="1">
                <a:solidFill>
                  <a:prstClr val="black"/>
                </a:solidFill>
                <a:ea typeface="等线" panose="02010600030101010101" pitchFamily="2" charset="-122"/>
                <a:cs typeface="Calibri" panose="020F0502020204030204" pitchFamily="34" charset="0"/>
              </a:rPr>
              <a:t>VERDANT Ph2b in GA, N=180 (US) </a:t>
            </a:r>
            <a:endParaRPr lang="en-US" altLang="zh-CN" sz="1000" b="1">
              <a:solidFill>
                <a:srgbClr val="000000"/>
              </a:solidFill>
              <a:ea typeface="等线" panose="02010600030101010101" pitchFamily="2" charset="-122"/>
              <a:cs typeface="Calibri" panose="020F0502020204030204" pitchFamily="34" charset="0"/>
            </a:endParaRPr>
          </a:p>
        </p:txBody>
      </p:sp>
      <p:cxnSp>
        <p:nvCxnSpPr>
          <p:cNvPr id="20" name="Connector: Elbow 19">
            <a:extLst>
              <a:ext uri="{FF2B5EF4-FFF2-40B4-BE49-F238E27FC236}">
                <a16:creationId xmlns:a16="http://schemas.microsoft.com/office/drawing/2014/main" id="{8C9A620C-7405-ACE5-9BA2-ABE797218B1F}"/>
              </a:ext>
            </a:extLst>
          </p:cNvPr>
          <p:cNvCxnSpPr>
            <a:cxnSpLocks/>
            <a:stCxn id="28" idx="3"/>
            <a:endCxn id="11" idx="1"/>
          </p:cNvCxnSpPr>
          <p:nvPr/>
        </p:nvCxnSpPr>
        <p:spPr bwMode="gray">
          <a:xfrm>
            <a:off x="6220228" y="3391364"/>
            <a:ext cx="1125365" cy="13763"/>
          </a:xfrm>
          <a:prstGeom prst="straightConnector1">
            <a:avLst/>
          </a:prstGeom>
          <a:ln w="6350">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8" name="Rectangle 55">
            <a:extLst>
              <a:ext uri="{FF2B5EF4-FFF2-40B4-BE49-F238E27FC236}">
                <a16:creationId xmlns:a16="http://schemas.microsoft.com/office/drawing/2014/main" id="{D298D469-E4A0-0722-2DDF-D80B1E55A160}"/>
              </a:ext>
            </a:extLst>
          </p:cNvPr>
          <p:cNvSpPr/>
          <p:nvPr/>
        </p:nvSpPr>
        <p:spPr>
          <a:xfrm>
            <a:off x="5589953" y="3160531"/>
            <a:ext cx="630275" cy="461665"/>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r>
              <a:rPr lang="en-US" altLang="zh-CN" sz="1200" b="1" i="1" err="1">
                <a:solidFill>
                  <a:srgbClr val="44546A"/>
                </a:solidFill>
                <a:ea typeface="等线" panose="02010600030101010101" pitchFamily="2" charset="-122"/>
                <a:cs typeface="Calibri" panose="020F0502020204030204" pitchFamily="34" charset="0"/>
              </a:rPr>
              <a:t>RoFD</a:t>
            </a:r>
            <a:endParaRPr lang="zh-CN" altLang="en-US" sz="1200" b="1" i="1">
              <a:solidFill>
                <a:srgbClr val="44546A"/>
              </a:solidFill>
              <a:ea typeface="等线" panose="02010600030101010101" pitchFamily="2" charset="-122"/>
              <a:cs typeface="Calibri" panose="020F0502020204030204" pitchFamily="34" charset="0"/>
            </a:endParaRPr>
          </a:p>
        </p:txBody>
      </p:sp>
      <p:sp>
        <p:nvSpPr>
          <p:cNvPr id="310" name="文本框 160">
            <a:extLst>
              <a:ext uri="{FF2B5EF4-FFF2-40B4-BE49-F238E27FC236}">
                <a16:creationId xmlns:a16="http://schemas.microsoft.com/office/drawing/2014/main" id="{79EFBEE8-7077-7835-C37D-53EFB4A34CE9}"/>
              </a:ext>
            </a:extLst>
          </p:cNvPr>
          <p:cNvSpPr txBox="1"/>
          <p:nvPr/>
        </p:nvSpPr>
        <p:spPr>
          <a:xfrm>
            <a:off x="6463425" y="2022284"/>
            <a:ext cx="5176422" cy="812209"/>
          </a:xfrm>
          <a:prstGeom prst="roundRect">
            <a:avLst/>
          </a:prstGeom>
          <a:solidFill>
            <a:schemeClr val="bg1"/>
          </a:solidFill>
          <a:ln>
            <a:solidFill>
              <a:srgbClr val="076D7E"/>
            </a:solidFill>
            <a:prstDash val="lgDash"/>
          </a:ln>
        </p:spPr>
        <p:txBody>
          <a:bodyPr wrap="square" lIns="0" tIns="45720" rIns="0" bIns="45720" rtlCol="0" anchor="ctr">
            <a:spAutoFit/>
          </a:bodyPr>
          <a:lstStyle/>
          <a:p>
            <a:pPr defTabSz="1219170">
              <a:lnSpc>
                <a:spcPts val="1500"/>
              </a:lnSpc>
              <a:spcAft>
                <a:spcPts val="267"/>
              </a:spcAft>
              <a:defRPr/>
            </a:pPr>
            <a:r>
              <a:rPr lang="en-US" altLang="zh-CN" sz="1000" b="1" i="1">
                <a:solidFill>
                  <a:srgbClr val="002060"/>
                </a:solidFill>
                <a:cs typeface="Calibri"/>
              </a:rPr>
              <a:t>Global Update:</a:t>
            </a:r>
          </a:p>
          <a:p>
            <a:pPr marL="95885" indent="-95885" defTabSz="1219170">
              <a:lnSpc>
                <a:spcPts val="1500"/>
              </a:lnSpc>
              <a:spcAft>
                <a:spcPts val="267"/>
              </a:spcAft>
              <a:buFont typeface="Arial" panose="020B0604020202020204" pitchFamily="34" charset="0"/>
              <a:buChar char="•"/>
              <a:defRPr/>
            </a:pPr>
            <a:r>
              <a:rPr lang="en-US" altLang="zh-CN" sz="1000" i="1">
                <a:solidFill>
                  <a:srgbClr val="002060"/>
                </a:solidFill>
                <a:cs typeface="Calibri"/>
              </a:rPr>
              <a:t>aC3 situational analysis is ongoing to prepare for GBP workshop in Feb 2026.</a:t>
            </a:r>
          </a:p>
          <a:p>
            <a:pPr marL="95885" indent="-95885" defTabSz="1219170">
              <a:lnSpc>
                <a:spcPts val="1500"/>
              </a:lnSpc>
              <a:spcAft>
                <a:spcPts val="267"/>
              </a:spcAft>
              <a:buFont typeface="Arial" panose="020B0604020202020204" pitchFamily="34" charset="0"/>
              <a:buChar char="•"/>
              <a:defRPr/>
            </a:pPr>
            <a:r>
              <a:rPr lang="en-US" altLang="zh-CN" sz="1000" i="1">
                <a:solidFill>
                  <a:schemeClr val="bg1">
                    <a:lumMod val="50000"/>
                  </a:schemeClr>
                </a:solidFill>
                <a:cs typeface="Calibri"/>
              </a:rPr>
              <a:t>Updated development plan and timeline needs to be endorsed in IUEC Jan 2026. </a:t>
            </a:r>
          </a:p>
        </p:txBody>
      </p:sp>
    </p:spTree>
    <p:extLst>
      <p:ext uri="{BB962C8B-B14F-4D97-AF65-F5344CB8AC3E}">
        <p14:creationId xmlns:p14="http://schemas.microsoft.com/office/powerpoint/2010/main" val="1527139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141CC-24ED-A441-73FA-6924BE6094B5}"/>
            </a:ext>
          </a:extLst>
        </p:cNvPr>
        <p:cNvGrpSpPr/>
        <p:nvPr/>
      </p:nvGrpSpPr>
      <p:grpSpPr>
        <a:xfrm>
          <a:off x="0" y="0"/>
          <a:ext cx="0" cy="0"/>
          <a:chOff x="0" y="0"/>
          <a:chExt cx="0" cy="0"/>
        </a:xfrm>
      </p:grpSpPr>
      <p:grpSp>
        <p:nvGrpSpPr>
          <p:cNvPr id="290" name="Group 289">
            <a:extLst>
              <a:ext uri="{FF2B5EF4-FFF2-40B4-BE49-F238E27FC236}">
                <a16:creationId xmlns:a16="http://schemas.microsoft.com/office/drawing/2014/main" id="{B25396D2-01AC-22B9-E93F-03F8AE980D30}"/>
              </a:ext>
            </a:extLst>
          </p:cNvPr>
          <p:cNvGrpSpPr/>
          <p:nvPr/>
        </p:nvGrpSpPr>
        <p:grpSpPr>
          <a:xfrm>
            <a:off x="2978278" y="1675830"/>
            <a:ext cx="598242" cy="2999745"/>
            <a:chOff x="2444277" y="1675830"/>
            <a:chExt cx="598242" cy="2999745"/>
          </a:xfrm>
        </p:grpSpPr>
        <p:cxnSp>
          <p:nvCxnSpPr>
            <p:cNvPr id="291" name="Straight Connector 147">
              <a:extLst>
                <a:ext uri="{FF2B5EF4-FFF2-40B4-BE49-F238E27FC236}">
                  <a16:creationId xmlns:a16="http://schemas.microsoft.com/office/drawing/2014/main" id="{57ACDC33-4C3D-86E1-2B07-D591A388AF6E}"/>
                </a:ext>
              </a:extLst>
            </p:cNvPr>
            <p:cNvCxnSpPr>
              <a:cxnSpLocks/>
              <a:endCxn id="292" idx="2"/>
            </p:cNvCxnSpPr>
            <p:nvPr/>
          </p:nvCxnSpPr>
          <p:spPr bwMode="auto">
            <a:xfrm flipV="1">
              <a:off x="2743398" y="1932375"/>
              <a:ext cx="0" cy="2743200"/>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92" name="Rectangle 52">
              <a:extLst>
                <a:ext uri="{FF2B5EF4-FFF2-40B4-BE49-F238E27FC236}">
                  <a16:creationId xmlns:a16="http://schemas.microsoft.com/office/drawing/2014/main" id="{ABBE6FB1-4667-2870-6786-0908146F60AC}"/>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2" name="Title 1">
            <a:extLst>
              <a:ext uri="{FF2B5EF4-FFF2-40B4-BE49-F238E27FC236}">
                <a16:creationId xmlns:a16="http://schemas.microsoft.com/office/drawing/2014/main" id="{27964B61-0972-7D90-4DBE-9C8E909C4332}"/>
              </a:ext>
            </a:extLst>
          </p:cNvPr>
          <p:cNvSpPr>
            <a:spLocks noGrp="1"/>
          </p:cNvSpPr>
          <p:nvPr>
            <p:ph type="title"/>
          </p:nvPr>
        </p:nvSpPr>
        <p:spPr>
          <a:xfrm>
            <a:off x="479426" y="477000"/>
            <a:ext cx="11712574" cy="720000"/>
          </a:xfrm>
        </p:spPr>
        <p:txBody>
          <a:bodyPr/>
          <a:lstStyle/>
          <a:p>
            <a:r>
              <a:rPr lang="en-US" altLang="zh-CN">
                <a:latin typeface="+mn-lt"/>
              </a:rPr>
              <a:t>BI 1584862/ </a:t>
            </a:r>
            <a:r>
              <a:rPr lang="nl-NL" altLang="zh-CN"/>
              <a:t>PAFR </a:t>
            </a:r>
            <a:r>
              <a:rPr lang="en-US" altLang="zh-CN"/>
              <a:t>Antagonist</a:t>
            </a:r>
            <a:r>
              <a:rPr lang="en-US" altLang="zh-CN">
                <a:latin typeface="+mn-lt"/>
              </a:rPr>
              <a:t>, Geographic Atrophy (GA), Development Plan </a:t>
            </a:r>
            <a:endParaRPr lang="zh-CN" altLang="en-US">
              <a:latin typeface="+mn-lt"/>
            </a:endParaRPr>
          </a:p>
        </p:txBody>
      </p:sp>
      <p:sp>
        <p:nvSpPr>
          <p:cNvPr id="4" name="Text Placeholder 3">
            <a:extLst>
              <a:ext uri="{FF2B5EF4-FFF2-40B4-BE49-F238E27FC236}">
                <a16:creationId xmlns:a16="http://schemas.microsoft.com/office/drawing/2014/main" id="{53BECE52-95DF-4E40-FEB1-FA028D161A1F}"/>
              </a:ext>
            </a:extLst>
          </p:cNvPr>
          <p:cNvSpPr>
            <a:spLocks noGrp="1"/>
          </p:cNvSpPr>
          <p:nvPr>
            <p:ph type="body" sz="quarter" idx="13"/>
          </p:nvPr>
        </p:nvSpPr>
        <p:spPr/>
        <p:txBody>
          <a:bodyPr/>
          <a:lstStyle/>
          <a:p>
            <a:endParaRPr lang="zh-CN" altLang="en-US"/>
          </a:p>
        </p:txBody>
      </p:sp>
      <p:sp>
        <p:nvSpPr>
          <p:cNvPr id="6" name="Slide Number Placeholder 5">
            <a:extLst>
              <a:ext uri="{FF2B5EF4-FFF2-40B4-BE49-F238E27FC236}">
                <a16:creationId xmlns:a16="http://schemas.microsoft.com/office/drawing/2014/main" id="{8A6CA1FA-59B9-1FAD-6061-5703072B3C13}"/>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4C58848A-494E-0449-039C-015A3164F31B}"/>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10</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A4E3C13D-BCD9-ED38-7645-FE150E45D3E1}"/>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5DF9328B-F689-1119-D656-D50FD281DE9D}"/>
              </a:ext>
            </a:extLst>
          </p:cNvPr>
          <p:cNvCxnSpPr>
            <a:cxnSpLocks/>
          </p:cNvCxnSpPr>
          <p:nvPr/>
        </p:nvCxnSpPr>
        <p:spPr bwMode="auto">
          <a:xfrm flipH="1">
            <a:off x="0" y="3691197"/>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2E1949CC-E03A-B82C-158E-03D1142884BF}"/>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F943F51E-045E-4E5E-E9E4-9EAAB89F8100}"/>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B364B69A-4678-98D0-BEE4-298930748977}"/>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1484-0005</a:t>
            </a:r>
          </a:p>
          <a:p>
            <a:pPr algn="ctr" defTabSz="914377">
              <a:defRPr/>
            </a:pPr>
            <a:r>
              <a:rPr lang="en-US" sz="1067" b="1">
                <a:solidFill>
                  <a:srgbClr val="08312A"/>
                </a:solidFill>
                <a:cs typeface="Calibri" panose="020F0502020204030204" pitchFamily="34" charset="0"/>
              </a:rPr>
              <a:t>JADE</a:t>
            </a:r>
          </a:p>
        </p:txBody>
      </p:sp>
      <p:pic>
        <p:nvPicPr>
          <p:cNvPr id="246" name="Picture 4">
            <a:extLst>
              <a:ext uri="{FF2B5EF4-FFF2-40B4-BE49-F238E27FC236}">
                <a16:creationId xmlns:a16="http://schemas.microsoft.com/office/drawing/2014/main" id="{E66E045D-7719-0081-A1D4-73E211C36271}"/>
              </a:ext>
            </a:extLst>
          </p:cNvPr>
          <p:cNvPicPr>
            <a:picLocks noChangeAspect="1"/>
          </p:cNvPicPr>
          <p:nvPr/>
        </p:nvPicPr>
        <p:blipFill>
          <a:blip r:embed="rId24">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FFA2CDCF-D148-931C-3F74-D0DA3C76AF46}"/>
              </a:ext>
            </a:extLst>
          </p:cNvPr>
          <p:cNvPicPr>
            <a:picLocks noChangeAspect="1"/>
          </p:cNvPicPr>
          <p:nvPr/>
        </p:nvPicPr>
        <p:blipFill>
          <a:blip r:embed="rId25">
            <a:extLst>
              <a:ext uri="{28A0092B-C50C-407E-A947-70E740481C1C}">
                <a14:useLocalDpi xmlns:a14="http://schemas.microsoft.com/office/drawing/2010/main" val="0"/>
              </a:ext>
            </a:extLst>
          </a:blip>
          <a:stretch>
            <a:fillRect/>
          </a:stretch>
        </p:blipFill>
        <p:spPr>
          <a:xfrm>
            <a:off x="-27783" y="3667930"/>
            <a:ext cx="1138019" cy="560880"/>
          </a:xfrm>
          <a:prstGeom prst="rect">
            <a:avLst/>
          </a:prstGeom>
        </p:spPr>
      </p:pic>
      <p:sp>
        <p:nvSpPr>
          <p:cNvPr id="249" name="Rectangle 52">
            <a:extLst>
              <a:ext uri="{FF2B5EF4-FFF2-40B4-BE49-F238E27FC236}">
                <a16:creationId xmlns:a16="http://schemas.microsoft.com/office/drawing/2014/main" id="{2D9A5100-3F17-85B3-C2DD-5C045DEB5D8F}"/>
              </a:ext>
            </a:extLst>
          </p:cNvPr>
          <p:cNvSpPr/>
          <p:nvPr/>
        </p:nvSpPr>
        <p:spPr>
          <a:xfrm>
            <a:off x="1154408"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AF4834AF-63DA-F126-0987-B521702F0CCF}"/>
              </a:ext>
            </a:extLst>
          </p:cNvPr>
          <p:cNvSpPr txBox="1"/>
          <p:nvPr>
            <p:custDataLst>
              <p:tags r:id="rId1"/>
            </p:custDataLst>
          </p:nvPr>
        </p:nvSpPr>
        <p:spPr>
          <a:xfrm>
            <a:off x="830861"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2025</a:t>
            </a:r>
            <a:endParaRPr lang="zh-CN" altLang="en-US" sz="1067" b="1" i="1">
              <a:solidFill>
                <a:schemeClr val="bg1">
                  <a:lumMod val="65000"/>
                </a:schemeClr>
              </a:solidFill>
              <a:ea typeface="等线" panose="02010600030101010101" pitchFamily="2" charset="-122"/>
            </a:endParaRPr>
          </a:p>
        </p:txBody>
      </p:sp>
      <p:sp>
        <p:nvSpPr>
          <p:cNvPr id="273" name="Star: 4 Points 143">
            <a:extLst>
              <a:ext uri="{FF2B5EF4-FFF2-40B4-BE49-F238E27FC236}">
                <a16:creationId xmlns:a16="http://schemas.microsoft.com/office/drawing/2014/main" id="{E9EC1F71-8B7A-C5BD-AB59-FE6C5A9B4A77}"/>
              </a:ext>
            </a:extLst>
          </p:cNvPr>
          <p:cNvSpPr/>
          <p:nvPr/>
        </p:nvSpPr>
        <p:spPr bwMode="auto">
          <a:xfrm>
            <a:off x="126100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10" name="文本框 160">
            <a:extLst>
              <a:ext uri="{FF2B5EF4-FFF2-40B4-BE49-F238E27FC236}">
                <a16:creationId xmlns:a16="http://schemas.microsoft.com/office/drawing/2014/main" id="{3FD03AF4-575A-567A-273B-692E8397B0FC}"/>
              </a:ext>
            </a:extLst>
          </p:cNvPr>
          <p:cNvSpPr txBox="1"/>
          <p:nvPr/>
        </p:nvSpPr>
        <p:spPr>
          <a:xfrm>
            <a:off x="6861549" y="1930763"/>
            <a:ext cx="4913073" cy="769644"/>
          </a:xfrm>
          <a:prstGeom prst="roundRect">
            <a:avLst/>
          </a:prstGeom>
          <a:noFill/>
          <a:ln>
            <a:solidFill>
              <a:srgbClr val="076D7E"/>
            </a:solidFill>
            <a:prstDash val="lgDash"/>
          </a:ln>
        </p:spPr>
        <p:txBody>
          <a:bodyPr wrap="square" lIns="0" rIns="0" rtlCol="0" anchor="ctr">
            <a:spAutoFit/>
          </a:bodyPr>
          <a:lstStyle/>
          <a:p>
            <a:pPr defTabSz="1219170">
              <a:lnSpc>
                <a:spcPts val="1100"/>
              </a:lnSpc>
              <a:spcAft>
                <a:spcPts val="267"/>
              </a:spcAft>
              <a:defRPr/>
            </a:pPr>
            <a:r>
              <a:rPr lang="en-US" altLang="zh-CN" sz="1000" b="1" i="1">
                <a:solidFill>
                  <a:srgbClr val="002060"/>
                </a:solidFill>
                <a:cs typeface="Calibri" panose="020F0502020204030204" pitchFamily="34" charset="0"/>
              </a:rPr>
              <a:t>Global Update: </a:t>
            </a:r>
          </a:p>
          <a:p>
            <a:pPr marL="95998" indent="-95998" defTabSz="1219170">
              <a:lnSpc>
                <a:spcPts val="1100"/>
              </a:lnSpc>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PMDA was consulted in Nov 2025, based on Japanese Phase 1 data to waive Japan dose finding before ph3. Global team will define concrete activities in 2026 for Asian (China/Japan) integration. </a:t>
            </a:r>
          </a:p>
        </p:txBody>
      </p:sp>
      <p:sp>
        <p:nvSpPr>
          <p:cNvPr id="5" name="Rectangle 55">
            <a:extLst>
              <a:ext uri="{FF2B5EF4-FFF2-40B4-BE49-F238E27FC236}">
                <a16:creationId xmlns:a16="http://schemas.microsoft.com/office/drawing/2014/main" id="{DE076EEC-6548-F389-BC46-C7123AC5B623}"/>
              </a:ext>
            </a:extLst>
          </p:cNvPr>
          <p:cNvSpPr/>
          <p:nvPr/>
        </p:nvSpPr>
        <p:spPr>
          <a:xfrm>
            <a:off x="5980788" y="2565299"/>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BFF66D2D-1725-9513-A5BD-2A1C4B163E01}"/>
              </a:ext>
            </a:extLst>
          </p:cNvPr>
          <p:cNvSpPr txBox="1"/>
          <p:nvPr>
            <p:custDataLst>
              <p:tags r:id="rId2"/>
            </p:custDataLst>
          </p:nvPr>
        </p:nvSpPr>
        <p:spPr>
          <a:xfrm>
            <a:off x="5939872" y="2101158"/>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May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C38CA5AB-7A74-618C-ADDD-B6254AF2EA27}"/>
              </a:ext>
            </a:extLst>
          </p:cNvPr>
          <p:cNvSpPr/>
          <p:nvPr/>
        </p:nvSpPr>
        <p:spPr bwMode="auto">
          <a:xfrm>
            <a:off x="6344972" y="24673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0" name="Rectangle 52">
            <a:extLst>
              <a:ext uri="{FF2B5EF4-FFF2-40B4-BE49-F238E27FC236}">
                <a16:creationId xmlns:a16="http://schemas.microsoft.com/office/drawing/2014/main" id="{53A2EDA3-46E1-CDE9-7211-574F9B92E571}"/>
              </a:ext>
            </a:extLst>
          </p:cNvPr>
          <p:cNvSpPr/>
          <p:nvPr/>
        </p:nvSpPr>
        <p:spPr>
          <a:xfrm>
            <a:off x="7752332" y="3457493"/>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1" name="OTLSHAPE_T_e17f3958430f4cff8650518c93c7635e_Shape">
            <a:extLst>
              <a:ext uri="{FF2B5EF4-FFF2-40B4-BE49-F238E27FC236}">
                <a16:creationId xmlns:a16="http://schemas.microsoft.com/office/drawing/2014/main" id="{A502AC5E-B916-09D3-B544-3DE24B36B4D5}"/>
              </a:ext>
            </a:extLst>
          </p:cNvPr>
          <p:cNvSpPr/>
          <p:nvPr>
            <p:custDataLst>
              <p:tags r:id="rId3"/>
            </p:custDataLst>
          </p:nvPr>
        </p:nvSpPr>
        <p:spPr bwMode="auto">
          <a:xfrm>
            <a:off x="7951958" y="3161066"/>
            <a:ext cx="3992312"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in GA</a:t>
            </a:r>
          </a:p>
        </p:txBody>
      </p:sp>
      <p:sp>
        <p:nvSpPr>
          <p:cNvPr id="16" name="Star: 4 Points 143">
            <a:extLst>
              <a:ext uri="{FF2B5EF4-FFF2-40B4-BE49-F238E27FC236}">
                <a16:creationId xmlns:a16="http://schemas.microsoft.com/office/drawing/2014/main" id="{0BC42376-E90C-63D4-726D-DA05B9601DC9}"/>
              </a:ext>
            </a:extLst>
          </p:cNvPr>
          <p:cNvSpPr/>
          <p:nvPr/>
        </p:nvSpPr>
        <p:spPr bwMode="auto">
          <a:xfrm>
            <a:off x="7854335" y="335375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37B34D11-813C-3CDF-3F89-8F5636D3C480}"/>
              </a:ext>
            </a:extLst>
          </p:cNvPr>
          <p:cNvSpPr txBox="1"/>
          <p:nvPr/>
        </p:nvSpPr>
        <p:spPr>
          <a:xfrm>
            <a:off x="31594" y="3126890"/>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1484-0015</a:t>
            </a:r>
          </a:p>
        </p:txBody>
      </p:sp>
      <p:sp>
        <p:nvSpPr>
          <p:cNvPr id="23" name="OTLSHAPE_T_e17f3958430f4cff8650518c93c7635e_StartDate">
            <a:extLst>
              <a:ext uri="{FF2B5EF4-FFF2-40B4-BE49-F238E27FC236}">
                <a16:creationId xmlns:a16="http://schemas.microsoft.com/office/drawing/2014/main" id="{6005A27D-1A25-AD89-D5E4-47E0B0BC1A91}"/>
              </a:ext>
            </a:extLst>
          </p:cNvPr>
          <p:cNvSpPr txBox="1"/>
          <p:nvPr>
            <p:custDataLst>
              <p:tags r:id="rId4"/>
            </p:custDataLst>
          </p:nvPr>
        </p:nvSpPr>
        <p:spPr>
          <a:xfrm>
            <a:off x="7490882" y="3002938"/>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Feb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cxnSp>
        <p:nvCxnSpPr>
          <p:cNvPr id="233" name="Connector: Elbow 232">
            <a:extLst>
              <a:ext uri="{FF2B5EF4-FFF2-40B4-BE49-F238E27FC236}">
                <a16:creationId xmlns:a16="http://schemas.microsoft.com/office/drawing/2014/main" id="{D20EDE4B-1C10-81B5-121D-8496BDBD767A}"/>
              </a:ext>
            </a:extLst>
          </p:cNvPr>
          <p:cNvCxnSpPr>
            <a:cxnSpLocks/>
            <a:stCxn id="14" idx="2"/>
            <a:endCxn id="235" idx="0"/>
          </p:cNvCxnSpPr>
          <p:nvPr/>
        </p:nvCxnSpPr>
        <p:spPr bwMode="gray">
          <a:xfrm>
            <a:off x="4964628" y="2817861"/>
            <a:ext cx="392" cy="16662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5" name="Star: 4 Points 143">
            <a:extLst>
              <a:ext uri="{FF2B5EF4-FFF2-40B4-BE49-F238E27FC236}">
                <a16:creationId xmlns:a16="http://schemas.microsoft.com/office/drawing/2014/main" id="{D6125F11-CC54-50D9-52DE-78C1F88D6C6F}"/>
              </a:ext>
            </a:extLst>
          </p:cNvPr>
          <p:cNvSpPr/>
          <p:nvPr/>
        </p:nvSpPr>
        <p:spPr bwMode="auto">
          <a:xfrm>
            <a:off x="4872898" y="298448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4" name="Rectangle 55">
            <a:extLst>
              <a:ext uri="{FF2B5EF4-FFF2-40B4-BE49-F238E27FC236}">
                <a16:creationId xmlns:a16="http://schemas.microsoft.com/office/drawing/2014/main" id="{7BA0E6CF-37C9-08A3-868E-84FBD983B940}"/>
              </a:ext>
            </a:extLst>
          </p:cNvPr>
          <p:cNvSpPr/>
          <p:nvPr/>
        </p:nvSpPr>
        <p:spPr>
          <a:xfrm>
            <a:off x="4802564" y="2561316"/>
            <a:ext cx="32412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IA</a:t>
            </a:r>
            <a:endParaRPr lang="zh-CN" altLang="en-US" sz="1067" b="1">
              <a:solidFill>
                <a:srgbClr val="44546A"/>
              </a:solidFill>
              <a:ea typeface="等线" panose="02010600030101010101" pitchFamily="2" charset="-122"/>
              <a:cs typeface="Calibri" panose="020F0502020204030204" pitchFamily="34" charset="0"/>
            </a:endParaRPr>
          </a:p>
        </p:txBody>
      </p:sp>
      <p:sp>
        <p:nvSpPr>
          <p:cNvPr id="15" name="OTLSHAPE_T_e17f3958430f4cff8650518c93c7635e_StartDate">
            <a:extLst>
              <a:ext uri="{FF2B5EF4-FFF2-40B4-BE49-F238E27FC236}">
                <a16:creationId xmlns:a16="http://schemas.microsoft.com/office/drawing/2014/main" id="{6F878770-AF10-8852-77D1-28B2A3D1C732}"/>
              </a:ext>
            </a:extLst>
          </p:cNvPr>
          <p:cNvSpPr txBox="1"/>
          <p:nvPr>
            <p:custDataLst>
              <p:tags r:id="rId5"/>
            </p:custDataLst>
          </p:nvPr>
        </p:nvSpPr>
        <p:spPr>
          <a:xfrm>
            <a:off x="4460284" y="2097175"/>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8" name="Star: 4 Points 143">
            <a:extLst>
              <a:ext uri="{FF2B5EF4-FFF2-40B4-BE49-F238E27FC236}">
                <a16:creationId xmlns:a16="http://schemas.microsoft.com/office/drawing/2014/main" id="{18F393E9-4053-8B1B-D521-A5FAB2597A0D}"/>
              </a:ext>
            </a:extLst>
          </p:cNvPr>
          <p:cNvSpPr/>
          <p:nvPr/>
        </p:nvSpPr>
        <p:spPr bwMode="auto">
          <a:xfrm>
            <a:off x="4865384" y="246334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51" name="OTLSHAPE_T_e17f3958430f4cff8650518c93c7635e_Shape">
            <a:extLst>
              <a:ext uri="{FF2B5EF4-FFF2-40B4-BE49-F238E27FC236}">
                <a16:creationId xmlns:a16="http://schemas.microsoft.com/office/drawing/2014/main" id="{E42E2F4A-05D9-BE2B-A0F9-01BDFF323E4C}"/>
              </a:ext>
            </a:extLst>
          </p:cNvPr>
          <p:cNvSpPr/>
          <p:nvPr>
            <p:custDataLst>
              <p:tags r:id="rId6"/>
            </p:custDataLst>
          </p:nvPr>
        </p:nvSpPr>
        <p:spPr bwMode="auto">
          <a:xfrm>
            <a:off x="1360481" y="2273316"/>
            <a:ext cx="5076896"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JADE Ph2 in GA, N=138 (US)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7" name="Isosceles Triangle 128">
            <a:extLst>
              <a:ext uri="{FF2B5EF4-FFF2-40B4-BE49-F238E27FC236}">
                <a16:creationId xmlns:a16="http://schemas.microsoft.com/office/drawing/2014/main" id="{C79A4982-1D19-32BD-C255-497604975B16}"/>
              </a:ext>
            </a:extLst>
          </p:cNvPr>
          <p:cNvSpPr/>
          <p:nvPr/>
        </p:nvSpPr>
        <p:spPr>
          <a:xfrm rot="5400000">
            <a:off x="11932670" y="3192967"/>
            <a:ext cx="256543" cy="230532"/>
          </a:xfrm>
          <a:prstGeom prst="triangle">
            <a:avLst/>
          </a:prstGeom>
          <a:solidFill>
            <a:srgbClr val="D6EAEC"/>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54" name="OTLSHAPE_T_e17f3958430f4cff8650518c93c7635e_Shape">
            <a:extLst>
              <a:ext uri="{FF2B5EF4-FFF2-40B4-BE49-F238E27FC236}">
                <a16:creationId xmlns:a16="http://schemas.microsoft.com/office/drawing/2014/main" id="{9AA696DA-CBB3-1CE8-4F88-20C9BA209A4B}"/>
              </a:ext>
            </a:extLst>
          </p:cNvPr>
          <p:cNvSpPr/>
          <p:nvPr>
            <p:custDataLst>
              <p:tags r:id="rId7"/>
            </p:custDataLst>
          </p:nvPr>
        </p:nvSpPr>
        <p:spPr bwMode="auto">
          <a:xfrm>
            <a:off x="6770148" y="5084157"/>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D669C2DE-430F-D66A-E928-1E7EF2224DB8}"/>
              </a:ext>
            </a:extLst>
          </p:cNvPr>
          <p:cNvSpPr/>
          <p:nvPr/>
        </p:nvSpPr>
        <p:spPr>
          <a:xfrm>
            <a:off x="7725648" y="5372448"/>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23ECE75C-FA9A-D84C-AFB4-3F6755F7792B}"/>
              </a:ext>
            </a:extLst>
          </p:cNvPr>
          <p:cNvSpPr/>
          <p:nvPr>
            <p:custDataLst>
              <p:tags r:id="rId8"/>
            </p:custDataLst>
          </p:nvPr>
        </p:nvSpPr>
        <p:spPr bwMode="auto">
          <a:xfrm rot="16200000">
            <a:off x="6759371" y="5317100"/>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D56D6CDD-73CA-1644-9493-B22CC6FBC07E}"/>
              </a:ext>
            </a:extLst>
          </p:cNvPr>
          <p:cNvSpPr txBox="1"/>
          <p:nvPr>
            <p:custDataLst>
              <p:tags r:id="rId9"/>
            </p:custDataLst>
          </p:nvPr>
        </p:nvSpPr>
        <p:spPr>
          <a:xfrm>
            <a:off x="6540693" y="5418614"/>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16AE2388-CAD4-5F51-107B-BE196B5DDAA2}"/>
              </a:ext>
            </a:extLst>
          </p:cNvPr>
          <p:cNvSpPr/>
          <p:nvPr/>
        </p:nvSpPr>
        <p:spPr bwMode="auto">
          <a:xfrm>
            <a:off x="7855557" y="528626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63" name="TextBox 64">
            <a:extLst>
              <a:ext uri="{FF2B5EF4-FFF2-40B4-BE49-F238E27FC236}">
                <a16:creationId xmlns:a16="http://schemas.microsoft.com/office/drawing/2014/main" id="{0036168F-56FC-B1F6-AA55-F38B30CF573C}"/>
              </a:ext>
            </a:extLst>
          </p:cNvPr>
          <p:cNvSpPr txBox="1"/>
          <p:nvPr/>
        </p:nvSpPr>
        <p:spPr>
          <a:xfrm>
            <a:off x="34181" y="5176174"/>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1484-0015</a:t>
            </a:r>
          </a:p>
        </p:txBody>
      </p:sp>
      <p:sp>
        <p:nvSpPr>
          <p:cNvPr id="28" name="OTLSHAPE_T_e17f3958430f4cff8650518c93c7635e_Shape">
            <a:extLst>
              <a:ext uri="{FF2B5EF4-FFF2-40B4-BE49-F238E27FC236}">
                <a16:creationId xmlns:a16="http://schemas.microsoft.com/office/drawing/2014/main" id="{EBD75F02-D074-3E0F-6B8F-1E847DFE318C}"/>
              </a:ext>
            </a:extLst>
          </p:cNvPr>
          <p:cNvSpPr/>
          <p:nvPr>
            <p:custDataLst>
              <p:tags r:id="rId10"/>
            </p:custDataLst>
          </p:nvPr>
        </p:nvSpPr>
        <p:spPr bwMode="auto">
          <a:xfrm>
            <a:off x="7951958" y="5089740"/>
            <a:ext cx="3992312"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Ph3 in GA</a:t>
            </a:r>
          </a:p>
        </p:txBody>
      </p:sp>
      <p:sp>
        <p:nvSpPr>
          <p:cNvPr id="31" name="Isosceles Triangle 128">
            <a:extLst>
              <a:ext uri="{FF2B5EF4-FFF2-40B4-BE49-F238E27FC236}">
                <a16:creationId xmlns:a16="http://schemas.microsoft.com/office/drawing/2014/main" id="{76E23FBF-7335-4EBE-586B-991C3F5CE90C}"/>
              </a:ext>
            </a:extLst>
          </p:cNvPr>
          <p:cNvSpPr/>
          <p:nvPr/>
        </p:nvSpPr>
        <p:spPr>
          <a:xfrm rot="5400000">
            <a:off x="11932670" y="5121641"/>
            <a:ext cx="256543" cy="230532"/>
          </a:xfrm>
          <a:prstGeom prst="triangle">
            <a:avLst/>
          </a:prstGeom>
          <a:solidFill>
            <a:srgbClr val="D6EAEC"/>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27" name="Rectangle 55">
            <a:extLst>
              <a:ext uri="{FF2B5EF4-FFF2-40B4-BE49-F238E27FC236}">
                <a16:creationId xmlns:a16="http://schemas.microsoft.com/office/drawing/2014/main" id="{ADFAD9DB-8622-B120-DCDA-6798E1E8A8B6}"/>
              </a:ext>
            </a:extLst>
          </p:cNvPr>
          <p:cNvSpPr/>
          <p:nvPr/>
        </p:nvSpPr>
        <p:spPr>
          <a:xfrm>
            <a:off x="4721157" y="3182583"/>
            <a:ext cx="499789" cy="276999"/>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endParaRPr lang="zh-CN" altLang="en-US" sz="1200" b="1" i="1">
              <a:solidFill>
                <a:srgbClr val="44546A"/>
              </a:solidFill>
              <a:ea typeface="等线" panose="02010600030101010101" pitchFamily="2" charset="-122"/>
              <a:cs typeface="Calibri" panose="020F0502020204030204" pitchFamily="34" charset="0"/>
            </a:endParaRPr>
          </a:p>
        </p:txBody>
      </p:sp>
      <p:grpSp>
        <p:nvGrpSpPr>
          <p:cNvPr id="3" name="Group 2">
            <a:extLst>
              <a:ext uri="{FF2B5EF4-FFF2-40B4-BE49-F238E27FC236}">
                <a16:creationId xmlns:a16="http://schemas.microsoft.com/office/drawing/2014/main" id="{A2E72D56-048C-1717-675D-5B897A1AC263}"/>
              </a:ext>
            </a:extLst>
          </p:cNvPr>
          <p:cNvGrpSpPr/>
          <p:nvPr/>
        </p:nvGrpSpPr>
        <p:grpSpPr>
          <a:xfrm>
            <a:off x="53194" y="4191622"/>
            <a:ext cx="10198968" cy="728419"/>
            <a:chOff x="53194" y="4669785"/>
            <a:chExt cx="10198968" cy="728419"/>
          </a:xfrm>
        </p:grpSpPr>
        <p:sp>
          <p:nvSpPr>
            <p:cNvPr id="9" name="OTLSHAPE_T_5a934a26f311425e8ebaa0f45e6533ad_Shape">
              <a:extLst>
                <a:ext uri="{FF2B5EF4-FFF2-40B4-BE49-F238E27FC236}">
                  <a16:creationId xmlns:a16="http://schemas.microsoft.com/office/drawing/2014/main" id="{2D32E60C-3410-F478-0854-6F9EE6814AEB}"/>
                </a:ext>
              </a:extLst>
            </p:cNvPr>
            <p:cNvSpPr/>
            <p:nvPr>
              <p:custDataLst>
                <p:tags r:id="rId11"/>
              </p:custDataLst>
            </p:nvPr>
          </p:nvSpPr>
          <p:spPr bwMode="auto">
            <a:xfrm>
              <a:off x="4542221" y="4851739"/>
              <a:ext cx="4285585"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12" name="TextBox 64">
              <a:extLst>
                <a:ext uri="{FF2B5EF4-FFF2-40B4-BE49-F238E27FC236}">
                  <a16:creationId xmlns:a16="http://schemas.microsoft.com/office/drawing/2014/main" id="{956F9D21-D872-B5CB-2D97-06252DB0044D}"/>
                </a:ext>
              </a:extLst>
            </p:cNvPr>
            <p:cNvSpPr txBox="1"/>
            <p:nvPr/>
          </p:nvSpPr>
          <p:spPr>
            <a:xfrm>
              <a:off x="53194" y="4836300"/>
              <a:ext cx="825189" cy="328423"/>
            </a:xfrm>
            <a:prstGeom prst="rect">
              <a:avLst/>
            </a:prstGeom>
            <a:noFill/>
            <a:ln>
              <a:noFill/>
            </a:ln>
          </p:spPr>
          <p:txBody>
            <a:bodyPr wrap="square" lIns="0" tIns="0" rIns="0" bIns="0" rtlCol="0">
              <a:spAutoFit/>
            </a:bodyPr>
            <a:lstStyle/>
            <a:p>
              <a:pPr algn="ctr" defTabSz="914377">
                <a:defRPr/>
              </a:pPr>
              <a:r>
                <a:rPr lang="en-US" altLang="zh-CN" sz="1067" b="1">
                  <a:solidFill>
                    <a:srgbClr val="08312A"/>
                  </a:solidFill>
                  <a:cs typeface="Calibri" panose="020F0502020204030204" pitchFamily="34" charset="0"/>
                </a:rPr>
                <a:t>RWE </a:t>
              </a:r>
              <a:r>
                <a:rPr lang="en-US" sz="1067" b="1">
                  <a:solidFill>
                    <a:srgbClr val="08312A"/>
                  </a:solidFill>
                  <a:cs typeface="Calibri" panose="020F0502020204030204" pitchFamily="34" charset="0"/>
                </a:rPr>
                <a:t>-</a:t>
              </a:r>
            </a:p>
            <a:p>
              <a:pPr algn="ctr" defTabSz="914377">
                <a:defRPr/>
              </a:pPr>
              <a:r>
                <a:rPr lang="en-US" altLang="zh-CN" sz="1067" b="1">
                  <a:solidFill>
                    <a:srgbClr val="08312A"/>
                  </a:solidFill>
                  <a:cs typeface="Calibri" panose="020F0502020204030204" pitchFamily="34" charset="0"/>
                </a:rPr>
                <a:t>1484-0020</a:t>
              </a:r>
            </a:p>
          </p:txBody>
        </p:sp>
        <p:sp>
          <p:nvSpPr>
            <p:cNvPr id="13" name="OTLSHAPE_T_e17f3958430f4cff8650518c93c7635e_Shape">
              <a:extLst>
                <a:ext uri="{FF2B5EF4-FFF2-40B4-BE49-F238E27FC236}">
                  <a16:creationId xmlns:a16="http://schemas.microsoft.com/office/drawing/2014/main" id="{07718C5C-9C03-D92E-42A9-88FE6E1865C9}"/>
                </a:ext>
              </a:extLst>
            </p:cNvPr>
            <p:cNvSpPr/>
            <p:nvPr>
              <p:custDataLst>
                <p:tags r:id="rId12"/>
              </p:custDataLst>
            </p:nvPr>
          </p:nvSpPr>
          <p:spPr bwMode="auto">
            <a:xfrm>
              <a:off x="987648" y="4836300"/>
              <a:ext cx="1299983"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Proposal + Contract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17" name="Rectangle 77">
              <a:extLst>
                <a:ext uri="{FF2B5EF4-FFF2-40B4-BE49-F238E27FC236}">
                  <a16:creationId xmlns:a16="http://schemas.microsoft.com/office/drawing/2014/main" id="{0D2F1D74-0881-E424-711E-7E01B363A1F8}"/>
                </a:ext>
              </a:extLst>
            </p:cNvPr>
            <p:cNvSpPr/>
            <p:nvPr/>
          </p:nvSpPr>
          <p:spPr>
            <a:xfrm>
              <a:off x="1980036" y="5124590"/>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19" name="OTLSHAPE_M_39ea6ebc19a94c9fab6ef5006c31df58_Shape">
              <a:extLst>
                <a:ext uri="{FF2B5EF4-FFF2-40B4-BE49-F238E27FC236}">
                  <a16:creationId xmlns:a16="http://schemas.microsoft.com/office/drawing/2014/main" id="{996063B9-49E2-1DA9-50C1-ECCCB1677B06}"/>
                </a:ext>
              </a:extLst>
            </p:cNvPr>
            <p:cNvSpPr/>
            <p:nvPr>
              <p:custDataLst>
                <p:tags r:id="rId13"/>
              </p:custDataLst>
            </p:nvPr>
          </p:nvSpPr>
          <p:spPr bwMode="auto">
            <a:xfrm rot="16200000">
              <a:off x="976872" y="5069243"/>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0" name="OTLSHAPE_M_39ea6ebc19a94c9fab6ef5006c31df58_Title">
              <a:extLst>
                <a:ext uri="{FF2B5EF4-FFF2-40B4-BE49-F238E27FC236}">
                  <a16:creationId xmlns:a16="http://schemas.microsoft.com/office/drawing/2014/main" id="{A0738A5B-898B-EC56-4BCD-9C61AE65CFA5}"/>
                </a:ext>
              </a:extLst>
            </p:cNvPr>
            <p:cNvSpPr txBox="1"/>
            <p:nvPr>
              <p:custDataLst>
                <p:tags r:id="rId14"/>
              </p:custDataLst>
            </p:nvPr>
          </p:nvSpPr>
          <p:spPr>
            <a:xfrm>
              <a:off x="758194" y="5170757"/>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1" name="Star: 4 Points 143">
              <a:extLst>
                <a:ext uri="{FF2B5EF4-FFF2-40B4-BE49-F238E27FC236}">
                  <a16:creationId xmlns:a16="http://schemas.microsoft.com/office/drawing/2014/main" id="{1512F7D5-881F-AD82-5C3A-3500FF62DAC6}"/>
                </a:ext>
              </a:extLst>
            </p:cNvPr>
            <p:cNvSpPr/>
            <p:nvPr/>
          </p:nvSpPr>
          <p:spPr bwMode="auto">
            <a:xfrm>
              <a:off x="2201245" y="503840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4" name="OTLSHAPE_T_e17f3958430f4cff8650518c93c7635e_StartDate">
              <a:extLst>
                <a:ext uri="{FF2B5EF4-FFF2-40B4-BE49-F238E27FC236}">
                  <a16:creationId xmlns:a16="http://schemas.microsoft.com/office/drawing/2014/main" id="{61C55E27-B620-FF6F-2730-B50F80A9B3FE}"/>
                </a:ext>
              </a:extLst>
            </p:cNvPr>
            <p:cNvSpPr txBox="1"/>
            <p:nvPr>
              <p:custDataLst>
                <p:tags r:id="rId15"/>
              </p:custDataLst>
            </p:nvPr>
          </p:nvSpPr>
          <p:spPr>
            <a:xfrm>
              <a:off x="520074" y="4702544"/>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2024</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 name="OTLSHAPE_T_e17f3958430f4cff8650518c93c7635e_StartDate">
              <a:extLst>
                <a:ext uri="{FF2B5EF4-FFF2-40B4-BE49-F238E27FC236}">
                  <a16:creationId xmlns:a16="http://schemas.microsoft.com/office/drawing/2014/main" id="{741E3327-26B9-A8F4-9387-5333DFA5F6D6}"/>
                </a:ext>
              </a:extLst>
            </p:cNvPr>
            <p:cNvSpPr txBox="1"/>
            <p:nvPr>
              <p:custDataLst>
                <p:tags r:id="rId16"/>
              </p:custDataLst>
            </p:nvPr>
          </p:nvSpPr>
          <p:spPr>
            <a:xfrm>
              <a:off x="1837792" y="4702544"/>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Jun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 name="Rectangle 55">
              <a:extLst>
                <a:ext uri="{FF2B5EF4-FFF2-40B4-BE49-F238E27FC236}">
                  <a16:creationId xmlns:a16="http://schemas.microsoft.com/office/drawing/2014/main" id="{43B527B1-6E7A-BB31-D879-284E3F1081C9}"/>
                </a:ext>
              </a:extLst>
            </p:cNvPr>
            <p:cNvSpPr/>
            <p:nvPr/>
          </p:nvSpPr>
          <p:spPr>
            <a:xfrm>
              <a:off x="7419440" y="5141659"/>
              <a:ext cx="53251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3</a:t>
              </a:r>
              <a:r>
                <a:rPr lang="en-US" altLang="zh-CN" sz="1067" b="1" baseline="30000">
                  <a:solidFill>
                    <a:srgbClr val="44546A"/>
                  </a:solidFill>
                  <a:ea typeface="等线" panose="02010600030101010101" pitchFamily="2" charset="-122"/>
                  <a:cs typeface="Calibri" panose="020F0502020204030204" pitchFamily="34" charset="0"/>
                </a:rPr>
                <a:t>rd</a:t>
              </a:r>
              <a:r>
                <a:rPr lang="en-US" altLang="zh-CN" sz="1067" b="1">
                  <a:solidFill>
                    <a:srgbClr val="44546A"/>
                  </a:solidFill>
                  <a:ea typeface="等线" panose="02010600030101010101" pitchFamily="2" charset="-122"/>
                  <a:cs typeface="Calibri" panose="020F0502020204030204" pitchFamily="34" charset="0"/>
                </a:rPr>
                <a:t> IA</a:t>
              </a:r>
              <a:endParaRPr lang="zh-CN" altLang="en-US" sz="1067" b="1">
                <a:solidFill>
                  <a:srgbClr val="44546A"/>
                </a:solidFill>
                <a:ea typeface="等线" panose="02010600030101010101" pitchFamily="2" charset="-122"/>
                <a:cs typeface="Calibri" panose="020F0502020204030204" pitchFamily="34" charset="0"/>
              </a:endParaRPr>
            </a:p>
          </p:txBody>
        </p:sp>
        <p:sp>
          <p:nvSpPr>
            <p:cNvPr id="29" name="Star: 4 Points 143">
              <a:extLst>
                <a:ext uri="{FF2B5EF4-FFF2-40B4-BE49-F238E27FC236}">
                  <a16:creationId xmlns:a16="http://schemas.microsoft.com/office/drawing/2014/main" id="{C8FB6967-A8C9-08D9-083D-F5E54F398498}"/>
                </a:ext>
              </a:extLst>
            </p:cNvPr>
            <p:cNvSpPr/>
            <p:nvPr/>
          </p:nvSpPr>
          <p:spPr bwMode="auto">
            <a:xfrm>
              <a:off x="7597274" y="504368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0" name="OTLSHAPE_T_e17f3958430f4cff8650518c93c7635e_StartDate">
              <a:extLst>
                <a:ext uri="{FF2B5EF4-FFF2-40B4-BE49-F238E27FC236}">
                  <a16:creationId xmlns:a16="http://schemas.microsoft.com/office/drawing/2014/main" id="{E2E0C8CE-5CA9-A0AF-3B53-B3FDD1A27DD5}"/>
                </a:ext>
              </a:extLst>
            </p:cNvPr>
            <p:cNvSpPr txBox="1"/>
            <p:nvPr>
              <p:custDataLst>
                <p:tags r:id="rId17"/>
              </p:custDataLst>
            </p:nvPr>
          </p:nvSpPr>
          <p:spPr>
            <a:xfrm>
              <a:off x="7227057" y="470042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Dec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4" name="Rectangle 55">
              <a:extLst>
                <a:ext uri="{FF2B5EF4-FFF2-40B4-BE49-F238E27FC236}">
                  <a16:creationId xmlns:a16="http://schemas.microsoft.com/office/drawing/2014/main" id="{176B8E19-A23E-B019-5CED-4AE109E739FE}"/>
                </a:ext>
              </a:extLst>
            </p:cNvPr>
            <p:cNvSpPr/>
            <p:nvPr/>
          </p:nvSpPr>
          <p:spPr>
            <a:xfrm>
              <a:off x="3516187" y="5133926"/>
              <a:ext cx="524504"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IA</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5" name="OTLSHAPE_T_e17f3958430f4cff8650518c93c7635e_StartDate">
              <a:extLst>
                <a:ext uri="{FF2B5EF4-FFF2-40B4-BE49-F238E27FC236}">
                  <a16:creationId xmlns:a16="http://schemas.microsoft.com/office/drawing/2014/main" id="{F71EE499-483D-63C9-3B24-7EADFB3A0676}"/>
                </a:ext>
              </a:extLst>
            </p:cNvPr>
            <p:cNvSpPr txBox="1"/>
            <p:nvPr>
              <p:custDataLst>
                <p:tags r:id="rId18"/>
              </p:custDataLst>
            </p:nvPr>
          </p:nvSpPr>
          <p:spPr>
            <a:xfrm>
              <a:off x="3294431" y="4669785"/>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Mar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6" name="Star: 4 Points 143">
              <a:extLst>
                <a:ext uri="{FF2B5EF4-FFF2-40B4-BE49-F238E27FC236}">
                  <a16:creationId xmlns:a16="http://schemas.microsoft.com/office/drawing/2014/main" id="{36FECE7C-1CF7-0E51-5971-556F15AB41AF}"/>
                </a:ext>
              </a:extLst>
            </p:cNvPr>
            <p:cNvSpPr/>
            <p:nvPr/>
          </p:nvSpPr>
          <p:spPr bwMode="auto">
            <a:xfrm>
              <a:off x="3690013" y="503595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8" name="OTLSHAPE_T_e17f3958430f4cff8650518c93c7635e_StartDate">
              <a:extLst>
                <a:ext uri="{FF2B5EF4-FFF2-40B4-BE49-F238E27FC236}">
                  <a16:creationId xmlns:a16="http://schemas.microsoft.com/office/drawing/2014/main" id="{3B4533B6-4C58-FBAD-BA00-599F747A48A9}"/>
                </a:ext>
              </a:extLst>
            </p:cNvPr>
            <p:cNvSpPr txBox="1"/>
            <p:nvPr>
              <p:custDataLst>
                <p:tags r:id="rId19"/>
              </p:custDataLst>
            </p:nvPr>
          </p:nvSpPr>
          <p:spPr>
            <a:xfrm>
              <a:off x="4050104" y="4675353"/>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Jul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9" name="Star: 4 Points 143">
              <a:extLst>
                <a:ext uri="{FF2B5EF4-FFF2-40B4-BE49-F238E27FC236}">
                  <a16:creationId xmlns:a16="http://schemas.microsoft.com/office/drawing/2014/main" id="{5858286E-66E2-B56C-8080-C97616DC259E}"/>
                </a:ext>
              </a:extLst>
            </p:cNvPr>
            <p:cNvSpPr/>
            <p:nvPr/>
          </p:nvSpPr>
          <p:spPr bwMode="auto">
            <a:xfrm>
              <a:off x="4445686" y="504152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30" name="OTLSHAPE_T_e17f3958430f4cff8650518c93c7635e_Shape">
              <a:extLst>
                <a:ext uri="{FF2B5EF4-FFF2-40B4-BE49-F238E27FC236}">
                  <a16:creationId xmlns:a16="http://schemas.microsoft.com/office/drawing/2014/main" id="{F448976A-992A-2134-9D36-454D29296F37}"/>
                </a:ext>
              </a:extLst>
            </p:cNvPr>
            <p:cNvSpPr/>
            <p:nvPr>
              <p:custDataLst>
                <p:tags r:id="rId20"/>
              </p:custDataLst>
            </p:nvPr>
          </p:nvSpPr>
          <p:spPr bwMode="auto">
            <a:xfrm>
              <a:off x="2287631" y="4842948"/>
              <a:ext cx="225459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COMPASS ECR in GA</a:t>
              </a:r>
            </a:p>
          </p:txBody>
        </p:sp>
        <p:sp>
          <p:nvSpPr>
            <p:cNvPr id="231" name="Rectangle 55">
              <a:extLst>
                <a:ext uri="{FF2B5EF4-FFF2-40B4-BE49-F238E27FC236}">
                  <a16:creationId xmlns:a16="http://schemas.microsoft.com/office/drawing/2014/main" id="{78B0CB03-F699-2D6C-2C6B-11617F9AA577}"/>
                </a:ext>
              </a:extLst>
            </p:cNvPr>
            <p:cNvSpPr/>
            <p:nvPr/>
          </p:nvSpPr>
          <p:spPr>
            <a:xfrm>
              <a:off x="9267597" y="5139985"/>
              <a:ext cx="984565"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Final Report</a:t>
              </a:r>
              <a:endParaRPr lang="zh-CN" altLang="en-US" sz="1067" b="1">
                <a:solidFill>
                  <a:srgbClr val="44546A"/>
                </a:solidFill>
                <a:ea typeface="等线" panose="02010600030101010101" pitchFamily="2" charset="-122"/>
                <a:cs typeface="Calibri" panose="020F0502020204030204" pitchFamily="34" charset="0"/>
              </a:endParaRPr>
            </a:p>
          </p:txBody>
        </p:sp>
        <p:sp>
          <p:nvSpPr>
            <p:cNvPr id="232" name="Star: 4 Points 143">
              <a:extLst>
                <a:ext uri="{FF2B5EF4-FFF2-40B4-BE49-F238E27FC236}">
                  <a16:creationId xmlns:a16="http://schemas.microsoft.com/office/drawing/2014/main" id="{ED404C68-2717-C915-000E-45C08B2118F4}"/>
                </a:ext>
              </a:extLst>
            </p:cNvPr>
            <p:cNvSpPr/>
            <p:nvPr/>
          </p:nvSpPr>
          <p:spPr bwMode="auto">
            <a:xfrm>
              <a:off x="9671452" y="504201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34" name="OTLSHAPE_T_e17f3958430f4cff8650518c93c7635e_StartDate">
              <a:extLst>
                <a:ext uri="{FF2B5EF4-FFF2-40B4-BE49-F238E27FC236}">
                  <a16:creationId xmlns:a16="http://schemas.microsoft.com/office/drawing/2014/main" id="{91EBB441-CB57-A6E7-2D7B-D446BF8D128E}"/>
                </a:ext>
              </a:extLst>
            </p:cNvPr>
            <p:cNvSpPr txBox="1"/>
            <p:nvPr>
              <p:custDataLst>
                <p:tags r:id="rId21"/>
              </p:custDataLst>
            </p:nvPr>
          </p:nvSpPr>
          <p:spPr>
            <a:xfrm>
              <a:off x="9301235" y="469874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Dec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grpSp>
      <p:sp>
        <p:nvSpPr>
          <p:cNvPr id="237" name="Rectangle 55">
            <a:extLst>
              <a:ext uri="{FF2B5EF4-FFF2-40B4-BE49-F238E27FC236}">
                <a16:creationId xmlns:a16="http://schemas.microsoft.com/office/drawing/2014/main" id="{24FF1CAA-3793-9FA5-5960-13CBD0E2FED7}"/>
              </a:ext>
            </a:extLst>
          </p:cNvPr>
          <p:cNvSpPr/>
          <p:nvPr/>
        </p:nvSpPr>
        <p:spPr>
          <a:xfrm>
            <a:off x="4259039" y="4669873"/>
            <a:ext cx="550151" cy="42075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p>
          <a:p>
            <a:pPr algn="ctr" defTabSz="1219108">
              <a:defRPr/>
            </a:pPr>
            <a:r>
              <a:rPr lang="en-US" altLang="zh-CN" sz="1067" b="1">
                <a:solidFill>
                  <a:srgbClr val="44546A"/>
                </a:solidFill>
                <a:ea typeface="等线" panose="02010600030101010101" pitchFamily="2" charset="-122"/>
                <a:cs typeface="Calibri" panose="020F0502020204030204" pitchFamily="34" charset="0"/>
              </a:rPr>
              <a:t>2</a:t>
            </a:r>
            <a:r>
              <a:rPr lang="en-US" altLang="zh-CN" sz="1067" b="1" baseline="30000">
                <a:solidFill>
                  <a:srgbClr val="44546A"/>
                </a:solidFill>
                <a:ea typeface="等线" panose="02010600030101010101" pitchFamily="2" charset="-122"/>
                <a:cs typeface="Calibri" panose="020F0502020204030204" pitchFamily="34" charset="0"/>
              </a:rPr>
              <a:t>nd</a:t>
            </a:r>
            <a:r>
              <a:rPr lang="en-US" altLang="zh-CN" sz="1067" b="1">
                <a:solidFill>
                  <a:srgbClr val="44546A"/>
                </a:solidFill>
                <a:ea typeface="等线" panose="02010600030101010101" pitchFamily="2" charset="-122"/>
                <a:cs typeface="Calibri" panose="020F0502020204030204" pitchFamily="34" charset="0"/>
              </a:rPr>
              <a:t> IA</a:t>
            </a:r>
            <a:endParaRPr lang="zh-CN" altLang="en-US" sz="1067" b="1">
              <a:solidFill>
                <a:srgbClr val="44546A"/>
              </a:solidFill>
              <a:ea typeface="等线" panose="02010600030101010101" pitchFamily="2" charset="-122"/>
              <a:cs typeface="Calibri" panose="020F0502020204030204" pitchFamily="34" charset="0"/>
            </a:endParaRPr>
          </a:p>
        </p:txBody>
      </p:sp>
      <p:cxnSp>
        <p:nvCxnSpPr>
          <p:cNvPr id="239" name="Connector: Elbow 238">
            <a:extLst>
              <a:ext uri="{FF2B5EF4-FFF2-40B4-BE49-F238E27FC236}">
                <a16:creationId xmlns:a16="http://schemas.microsoft.com/office/drawing/2014/main" id="{83CB3A8B-CB94-976C-FFEE-8EDEC6F325A9}"/>
              </a:ext>
            </a:extLst>
          </p:cNvPr>
          <p:cNvCxnSpPr>
            <a:cxnSpLocks/>
            <a:stCxn id="224" idx="2"/>
            <a:endCxn id="254" idx="1"/>
          </p:cNvCxnSpPr>
          <p:nvPr/>
        </p:nvCxnSpPr>
        <p:spPr bwMode="gray">
          <a:xfrm rot="16200000" flipH="1">
            <a:off x="5116369" y="3574377"/>
            <a:ext cx="315849" cy="2991709"/>
          </a:xfrm>
          <a:prstGeom prst="bentConnector2">
            <a:avLst/>
          </a:prstGeom>
          <a:ln w="6350">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0" name="Connector: Elbow 239">
            <a:extLst>
              <a:ext uri="{FF2B5EF4-FFF2-40B4-BE49-F238E27FC236}">
                <a16:creationId xmlns:a16="http://schemas.microsoft.com/office/drawing/2014/main" id="{67EA1F65-029F-CE1C-A325-0A4EFD0549D0}"/>
              </a:ext>
            </a:extLst>
          </p:cNvPr>
          <p:cNvCxnSpPr>
            <a:cxnSpLocks/>
            <a:stCxn id="237" idx="2"/>
            <a:endCxn id="254" idx="1"/>
          </p:cNvCxnSpPr>
          <p:nvPr/>
        </p:nvCxnSpPr>
        <p:spPr bwMode="gray">
          <a:xfrm rot="16200000" flipH="1">
            <a:off x="5583367" y="4041376"/>
            <a:ext cx="137528" cy="2236033"/>
          </a:xfrm>
          <a:prstGeom prst="bentConnector2">
            <a:avLst/>
          </a:prstGeom>
          <a:ln w="6350">
            <a:solidFill>
              <a:srgbClr val="00B0F0"/>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12" name="文本框 160">
            <a:extLst>
              <a:ext uri="{FF2B5EF4-FFF2-40B4-BE49-F238E27FC236}">
                <a16:creationId xmlns:a16="http://schemas.microsoft.com/office/drawing/2014/main" id="{6A60ADB5-A864-167C-154A-A1DEF137F3D6}"/>
              </a:ext>
            </a:extLst>
          </p:cNvPr>
          <p:cNvSpPr txBox="1"/>
          <p:nvPr/>
        </p:nvSpPr>
        <p:spPr>
          <a:xfrm>
            <a:off x="835810" y="5094263"/>
            <a:ext cx="5657270" cy="655499"/>
          </a:xfrm>
          <a:prstGeom prst="roundRect">
            <a:avLst/>
          </a:prstGeom>
          <a:solidFill>
            <a:schemeClr val="bg1"/>
          </a:solidFill>
          <a:ln>
            <a:solidFill>
              <a:srgbClr val="076D7E"/>
            </a:solidFill>
            <a:prstDash val="lgDash"/>
          </a:ln>
        </p:spPr>
        <p:txBody>
          <a:bodyPr wrap="square" rtlCol="0" anchor="ctr">
            <a:spAutoFit/>
          </a:bodyPr>
          <a:lstStyle/>
          <a:p>
            <a:pPr defTabSz="1219170">
              <a:spcAft>
                <a:spcPts val="267"/>
              </a:spcAft>
              <a:defRPr/>
            </a:pPr>
            <a:r>
              <a:rPr lang="en-US" altLang="zh-CN" sz="1000" b="1" i="1">
                <a:solidFill>
                  <a:srgbClr val="002060"/>
                </a:solidFill>
                <a:cs typeface="Calibri" panose="020F0502020204030204" pitchFamily="34" charset="0"/>
              </a:rPr>
              <a:t>China Update:</a:t>
            </a:r>
            <a:endParaRPr lang="en-US" altLang="zh-CN" sz="1000" i="1">
              <a:solidFill>
                <a:srgbClr val="002060"/>
              </a:solidFill>
              <a:cs typeface="Calibri" panose="020F0502020204030204" pitchFamily="34" charset="0"/>
            </a:endParaRPr>
          </a:p>
          <a:p>
            <a:pPr marL="95998" indent="-95998" defTabSz="1219170">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After initial discussion with Anti-C3 CDL and GRA in Nov, GA pipeline consultation of Anti-C3 and PAFR was preferred and need to be further aligned with global TA level.</a:t>
            </a:r>
          </a:p>
        </p:txBody>
      </p:sp>
    </p:spTree>
    <p:extLst>
      <p:ext uri="{BB962C8B-B14F-4D97-AF65-F5344CB8AC3E}">
        <p14:creationId xmlns:p14="http://schemas.microsoft.com/office/powerpoint/2010/main" val="24650647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3CB51-6B1F-0534-C8B2-D0C9231CD13B}"/>
            </a:ext>
          </a:extLst>
        </p:cNvPr>
        <p:cNvGrpSpPr/>
        <p:nvPr/>
      </p:nvGrpSpPr>
      <p:grpSpPr>
        <a:xfrm>
          <a:off x="0" y="0"/>
          <a:ext cx="0" cy="0"/>
          <a:chOff x="0" y="0"/>
          <a:chExt cx="0" cy="0"/>
        </a:xfrm>
      </p:grpSpPr>
      <p:cxnSp>
        <p:nvCxnSpPr>
          <p:cNvPr id="25" name="Straight Connector 24">
            <a:extLst>
              <a:ext uri="{FF2B5EF4-FFF2-40B4-BE49-F238E27FC236}">
                <a16:creationId xmlns:a16="http://schemas.microsoft.com/office/drawing/2014/main" id="{A1DA6153-25CD-BE89-1F49-EF0A8F110056}"/>
              </a:ext>
            </a:extLst>
          </p:cNvPr>
          <p:cNvCxnSpPr>
            <a:cxnSpLocks/>
          </p:cNvCxnSpPr>
          <p:nvPr/>
        </p:nvCxnSpPr>
        <p:spPr bwMode="gray">
          <a:xfrm>
            <a:off x="3735858" y="4847608"/>
            <a:ext cx="350546" cy="45292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8A759FC7-BD09-2C04-2316-CD0F0C06DE2B}"/>
              </a:ext>
            </a:extLst>
          </p:cNvPr>
          <p:cNvSpPr>
            <a:spLocks noGrp="1"/>
          </p:cNvSpPr>
          <p:nvPr>
            <p:ph type="title"/>
          </p:nvPr>
        </p:nvSpPr>
        <p:spPr/>
        <p:txBody>
          <a:bodyPr/>
          <a:lstStyle/>
          <a:p>
            <a:r>
              <a:rPr lang="en-US" altLang="zh-CN">
                <a:latin typeface="+mn-lt"/>
              </a:rPr>
              <a:t>BI 1815368 / </a:t>
            </a:r>
            <a:r>
              <a:rPr lang="en-US" altLang="zh-CN" err="1">
                <a:latin typeface="+mn-lt"/>
              </a:rPr>
              <a:t>PKKi</a:t>
            </a:r>
            <a:r>
              <a:rPr lang="en-US" altLang="zh-CN">
                <a:latin typeface="+mn-lt"/>
              </a:rPr>
              <a:t>, Diabetic Macular Edema (DME), Development Plan </a:t>
            </a:r>
            <a:endParaRPr lang="zh-CN" altLang="en-US">
              <a:latin typeface="+mn-lt"/>
            </a:endParaRPr>
          </a:p>
        </p:txBody>
      </p:sp>
      <p:sp>
        <p:nvSpPr>
          <p:cNvPr id="4" name="Text Placeholder 3">
            <a:extLst>
              <a:ext uri="{FF2B5EF4-FFF2-40B4-BE49-F238E27FC236}">
                <a16:creationId xmlns:a16="http://schemas.microsoft.com/office/drawing/2014/main" id="{137CF360-2A74-68C5-EEF6-FFCC529DCF59}"/>
              </a:ext>
            </a:extLst>
          </p:cNvPr>
          <p:cNvSpPr>
            <a:spLocks noGrp="1"/>
          </p:cNvSpPr>
          <p:nvPr>
            <p:ph type="body" sz="quarter" idx="13"/>
          </p:nvPr>
        </p:nvSpPr>
        <p:spPr>
          <a:xfrm>
            <a:off x="483944" y="6706844"/>
            <a:ext cx="11232000" cy="144000"/>
          </a:xfrm>
        </p:spPr>
        <p:txBody>
          <a:bodyPr/>
          <a:lstStyle/>
          <a:p>
            <a:r>
              <a:rPr lang="en-US" altLang="zh-CN"/>
              <a:t>China CIQ: China Entry-Exit Inspection and Quarantine; </a:t>
            </a:r>
            <a:r>
              <a:rPr lang="en-US" altLang="zh-CN" err="1"/>
              <a:t>nAMD</a:t>
            </a:r>
            <a:r>
              <a:rPr lang="en-US" altLang="zh-CN"/>
              <a:t>: neovascular age-related macular degeneration </a:t>
            </a:r>
            <a:endParaRPr lang="zh-CN" altLang="en-US"/>
          </a:p>
        </p:txBody>
      </p:sp>
      <p:sp>
        <p:nvSpPr>
          <p:cNvPr id="6" name="Slide Number Placeholder 5">
            <a:extLst>
              <a:ext uri="{FF2B5EF4-FFF2-40B4-BE49-F238E27FC236}">
                <a16:creationId xmlns:a16="http://schemas.microsoft.com/office/drawing/2014/main" id="{95772BF3-5B85-B900-E3B5-493C7868E567}"/>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4AAE491D-7F36-F85D-0462-E00A4E98FBE7}"/>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11</a:t>
            </a:fld>
            <a:endParaRPr lang="en-US" kern="0">
              <a:solidFill>
                <a:srgbClr val="08312A"/>
              </a:solidFill>
              <a:cs typeface="Arial"/>
              <a:sym typeface="Arial"/>
            </a:endParaRPr>
          </a:p>
        </p:txBody>
      </p:sp>
      <p:sp>
        <p:nvSpPr>
          <p:cNvPr id="239" name="OTLSHAPE_T_5a934a26f311425e8ebaa0f45e6533ad_Shape">
            <a:extLst>
              <a:ext uri="{FF2B5EF4-FFF2-40B4-BE49-F238E27FC236}">
                <a16:creationId xmlns:a16="http://schemas.microsoft.com/office/drawing/2014/main" id="{C54DFE29-E8A4-9128-78F9-6AE1E65DB16C}"/>
              </a:ext>
            </a:extLst>
          </p:cNvPr>
          <p:cNvSpPr/>
          <p:nvPr>
            <p:custDataLst>
              <p:tags r:id="rId1"/>
            </p:custDataLst>
          </p:nvPr>
        </p:nvSpPr>
        <p:spPr bwMode="auto">
          <a:xfrm>
            <a:off x="4894656" y="4424223"/>
            <a:ext cx="2610861" cy="288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sp>
        <p:nvSpPr>
          <p:cNvPr id="240" name="OTLSHAPE_T_5a934a26f311425e8ebaa0f45e6533ad_Shape">
            <a:extLst>
              <a:ext uri="{FF2B5EF4-FFF2-40B4-BE49-F238E27FC236}">
                <a16:creationId xmlns:a16="http://schemas.microsoft.com/office/drawing/2014/main" id="{8ED443D1-3C57-A227-0069-225955EA34D4}"/>
              </a:ext>
            </a:extLst>
          </p:cNvPr>
          <p:cNvSpPr/>
          <p:nvPr>
            <p:custDataLst>
              <p:tags r:id="rId2"/>
            </p:custDataLst>
          </p:nvPr>
        </p:nvSpPr>
        <p:spPr bwMode="auto">
          <a:xfrm>
            <a:off x="4899822" y="2278100"/>
            <a:ext cx="2605698" cy="288723"/>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algn="ctr" defTabSz="914377">
              <a:defRPr/>
            </a:pPr>
            <a:endParaRPr lang="en-US" altLang="zh-CN" sz="933" b="1" spc="-7">
              <a:solidFill>
                <a:srgbClr val="000000"/>
              </a:solidFill>
              <a:ea typeface="等线" panose="02010600030101010101" pitchFamily="2" charset="-122"/>
            </a:endParaRPr>
          </a:p>
        </p:txBody>
      </p:sp>
      <p:graphicFrame>
        <p:nvGraphicFramePr>
          <p:cNvPr id="241" name="Table 3">
            <a:extLst>
              <a:ext uri="{FF2B5EF4-FFF2-40B4-BE49-F238E27FC236}">
                <a16:creationId xmlns:a16="http://schemas.microsoft.com/office/drawing/2014/main" id="{0D1447CC-49BE-109C-B383-4C015A003AD9}"/>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AC0DBDF8-2F5E-2A98-B1CB-959B0B53B63C}"/>
              </a:ext>
            </a:extLst>
          </p:cNvPr>
          <p:cNvCxnSpPr>
            <a:cxnSpLocks/>
          </p:cNvCxnSpPr>
          <p:nvPr/>
        </p:nvCxnSpPr>
        <p:spPr bwMode="auto">
          <a:xfrm flipH="1">
            <a:off x="0" y="3791861"/>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2971C309-97E6-33F0-44B4-A350450C62CE}"/>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ECEEF0E0-7B95-D761-7363-6B79C9801A02}"/>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76518774-2366-0B58-A84F-DF326E49539B}"/>
              </a:ext>
            </a:extLst>
          </p:cNvPr>
          <p:cNvSpPr txBox="1"/>
          <p:nvPr/>
        </p:nvSpPr>
        <p:spPr>
          <a:xfrm>
            <a:off x="31595" y="2220808"/>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1485-0018</a:t>
            </a:r>
          </a:p>
          <a:p>
            <a:pPr algn="ctr" defTabSz="914377">
              <a:defRPr/>
            </a:pPr>
            <a:r>
              <a:rPr lang="en-US" sz="1067" b="1">
                <a:solidFill>
                  <a:srgbClr val="08312A"/>
                </a:solidFill>
                <a:cs typeface="Calibri" panose="020F0502020204030204" pitchFamily="34" charset="0"/>
              </a:rPr>
              <a:t>THULITE</a:t>
            </a:r>
          </a:p>
        </p:txBody>
      </p:sp>
      <p:pic>
        <p:nvPicPr>
          <p:cNvPr id="246" name="Picture 4">
            <a:extLst>
              <a:ext uri="{FF2B5EF4-FFF2-40B4-BE49-F238E27FC236}">
                <a16:creationId xmlns:a16="http://schemas.microsoft.com/office/drawing/2014/main" id="{B9DAFBEB-C855-F3FF-806F-87690871E90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1C3AB3B5-6378-5AB4-0BDB-6306A808159E}"/>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7783" y="3795419"/>
            <a:ext cx="1138019" cy="560880"/>
          </a:xfrm>
          <a:prstGeom prst="rect">
            <a:avLst/>
          </a:prstGeom>
        </p:spPr>
      </p:pic>
      <p:sp>
        <p:nvSpPr>
          <p:cNvPr id="249" name="Rectangle 52">
            <a:extLst>
              <a:ext uri="{FF2B5EF4-FFF2-40B4-BE49-F238E27FC236}">
                <a16:creationId xmlns:a16="http://schemas.microsoft.com/office/drawing/2014/main" id="{0C9FB1B1-F2F6-6FFF-1236-10EBD26BE206}"/>
              </a:ext>
            </a:extLst>
          </p:cNvPr>
          <p:cNvSpPr/>
          <p:nvPr/>
        </p:nvSpPr>
        <p:spPr>
          <a:xfrm>
            <a:off x="1887920" y="2563974"/>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31F144FA-68A6-31D0-5874-7715E8C04170}"/>
              </a:ext>
            </a:extLst>
          </p:cNvPr>
          <p:cNvSpPr txBox="1"/>
          <p:nvPr>
            <p:custDataLst>
              <p:tags r:id="rId3"/>
            </p:custDataLst>
          </p:nvPr>
        </p:nvSpPr>
        <p:spPr>
          <a:xfrm>
            <a:off x="1564373" y="2099832"/>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May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490D998F-8824-B7AC-C289-8A9276B4E189}"/>
              </a:ext>
            </a:extLst>
          </p:cNvPr>
          <p:cNvSpPr/>
          <p:nvPr>
            <p:custDataLst>
              <p:tags r:id="rId4"/>
            </p:custDataLst>
          </p:nvPr>
        </p:nvSpPr>
        <p:spPr bwMode="auto">
          <a:xfrm>
            <a:off x="2094831" y="2273316"/>
            <a:ext cx="2804991"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THULITE Ph2, N=300 </a:t>
            </a:r>
            <a:endParaRPr lang="en-US" altLang="zh-CN" sz="1067" b="1">
              <a:solidFill>
                <a:srgbClr val="000000"/>
              </a:solidFill>
              <a:ea typeface="等线" panose="02010600030101010101" pitchFamily="2" charset="-122"/>
              <a:cs typeface="Calibri" panose="020F0502020204030204" pitchFamily="34" charset="0"/>
            </a:endParaRPr>
          </a:p>
        </p:txBody>
      </p:sp>
      <p:sp>
        <p:nvSpPr>
          <p:cNvPr id="252" name="OTLSHAPE_T_e17f3958430f4cff8650518c93c7635e_Shape">
            <a:extLst>
              <a:ext uri="{FF2B5EF4-FFF2-40B4-BE49-F238E27FC236}">
                <a16:creationId xmlns:a16="http://schemas.microsoft.com/office/drawing/2014/main" id="{0084CC67-6213-7736-771B-57C8A418E84C}"/>
              </a:ext>
            </a:extLst>
          </p:cNvPr>
          <p:cNvSpPr/>
          <p:nvPr>
            <p:custDataLst>
              <p:tags r:id="rId5"/>
            </p:custDataLst>
          </p:nvPr>
        </p:nvSpPr>
        <p:spPr bwMode="auto">
          <a:xfrm>
            <a:off x="3708023" y="4424227"/>
            <a:ext cx="118663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1067" b="1">
                <a:solidFill>
                  <a:prstClr val="black"/>
                </a:solidFill>
                <a:ea typeface="等线" panose="02010600030101010101" pitchFamily="2" charset="-122"/>
                <a:cs typeface="Calibri" panose="020F0502020204030204" pitchFamily="34" charset="0"/>
              </a:rPr>
              <a:t>Ph2, N=8</a:t>
            </a:r>
          </a:p>
        </p:txBody>
      </p:sp>
      <p:sp>
        <p:nvSpPr>
          <p:cNvPr id="253" name="OTLSHAPE_T_e17f3958430f4cff8650518c93c7635e_StartDate">
            <a:extLst>
              <a:ext uri="{FF2B5EF4-FFF2-40B4-BE49-F238E27FC236}">
                <a16:creationId xmlns:a16="http://schemas.microsoft.com/office/drawing/2014/main" id="{2A79F745-30EF-54D3-55E4-CC95BA5CEF2E}"/>
              </a:ext>
            </a:extLst>
          </p:cNvPr>
          <p:cNvSpPr txBox="1"/>
          <p:nvPr>
            <p:custDataLst>
              <p:tags r:id="rId6"/>
            </p:custDataLst>
          </p:nvPr>
        </p:nvSpPr>
        <p:spPr>
          <a:xfrm>
            <a:off x="3517113" y="4252407"/>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Feb2026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4" name="OTLSHAPE_T_e17f3958430f4cff8650518c93c7635e_Shape">
            <a:extLst>
              <a:ext uri="{FF2B5EF4-FFF2-40B4-BE49-F238E27FC236}">
                <a16:creationId xmlns:a16="http://schemas.microsoft.com/office/drawing/2014/main" id="{470AEAFB-8B8E-5D5A-58B8-B9BEFD873912}"/>
              </a:ext>
            </a:extLst>
          </p:cNvPr>
          <p:cNvSpPr/>
          <p:nvPr>
            <p:custDataLst>
              <p:tags r:id="rId7"/>
            </p:custDataLst>
          </p:nvPr>
        </p:nvSpPr>
        <p:spPr bwMode="auto">
          <a:xfrm>
            <a:off x="1806922" y="4430534"/>
            <a:ext cx="1677288"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Contract</a:t>
            </a:r>
            <a:endParaRPr lang="zh-CN" altLang="en-US" sz="800" b="1">
              <a:solidFill>
                <a:srgbClr val="000000"/>
              </a:solidFill>
              <a:ea typeface="等线" panose="02010600030101010101" pitchFamily="2" charset="-122"/>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EC5E14B5-275C-1372-F1B1-19B481AF5D21}"/>
              </a:ext>
            </a:extLst>
          </p:cNvPr>
          <p:cNvSpPr txBox="1"/>
          <p:nvPr>
            <p:custDataLst>
              <p:tags r:id="rId8"/>
            </p:custDataLst>
          </p:nvPr>
        </p:nvSpPr>
        <p:spPr>
          <a:xfrm>
            <a:off x="1468266" y="4252407"/>
            <a:ext cx="682623" cy="164212"/>
          </a:xfrm>
          <a:prstGeom prst="rect">
            <a:avLst/>
          </a:prstGeom>
          <a:noFill/>
        </p:spPr>
        <p:txBody>
          <a:bodyPr vert="horz" wrap="square" lIns="0" tIns="0" rIns="0" bIns="0" rtlCol="0" anchor="ctr" anchorCtr="0">
            <a:spAutoFit/>
          </a:bodyPr>
          <a:lstStyle/>
          <a:p>
            <a:pPr algn="ctr" defTabSz="1219108">
              <a:defRPr/>
            </a:pPr>
            <a:r>
              <a:rPr lang="en-US" altLang="zh-CN" sz="1067" b="1" i="1" baseline="30000">
                <a:solidFill>
                  <a:schemeClr val="bg1">
                    <a:lumMod val="65000"/>
                  </a:schemeClr>
                </a:solidFill>
                <a:ea typeface="等线" panose="02010600030101010101" pitchFamily="2" charset="-122"/>
                <a:cs typeface="Calibri" panose="020F0502020204030204" pitchFamily="34" charset="0"/>
              </a:rPr>
              <a:t> </a:t>
            </a:r>
            <a:r>
              <a:rPr lang="en-US" altLang="zh-CN" sz="1067" b="1" i="1">
                <a:solidFill>
                  <a:schemeClr val="bg1">
                    <a:lumMod val="65000"/>
                  </a:schemeClr>
                </a:solidFill>
                <a:ea typeface="等线" panose="02010600030101010101" pitchFamily="2" charset="-122"/>
                <a:cs typeface="Calibri" panose="020F0502020204030204" pitchFamily="34" charset="0"/>
              </a:rPr>
              <a:t>Mar 2025</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56" name="Rectangle 77">
            <a:extLst>
              <a:ext uri="{FF2B5EF4-FFF2-40B4-BE49-F238E27FC236}">
                <a16:creationId xmlns:a16="http://schemas.microsoft.com/office/drawing/2014/main" id="{75ABDB27-8FE9-3131-AEF8-1900082C29C4}"/>
              </a:ext>
            </a:extLst>
          </p:cNvPr>
          <p:cNvSpPr/>
          <p:nvPr/>
        </p:nvSpPr>
        <p:spPr>
          <a:xfrm>
            <a:off x="3613214" y="4718825"/>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8" name="OTLSHAPE_M_39ea6ebc19a94c9fab6ef5006c31df58_Shape">
            <a:extLst>
              <a:ext uri="{FF2B5EF4-FFF2-40B4-BE49-F238E27FC236}">
                <a16:creationId xmlns:a16="http://schemas.microsoft.com/office/drawing/2014/main" id="{098FF7F5-CE4E-82F6-2EA0-7E87EDDD5EE9}"/>
              </a:ext>
            </a:extLst>
          </p:cNvPr>
          <p:cNvSpPr/>
          <p:nvPr>
            <p:custDataLst>
              <p:tags r:id="rId9"/>
            </p:custDataLst>
          </p:nvPr>
        </p:nvSpPr>
        <p:spPr bwMode="auto">
          <a:xfrm rot="16200000">
            <a:off x="1796145" y="4663477"/>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59" name="OTLSHAPE_M_39ea6ebc19a94c9fab6ef5006c31df58_Title">
            <a:extLst>
              <a:ext uri="{FF2B5EF4-FFF2-40B4-BE49-F238E27FC236}">
                <a16:creationId xmlns:a16="http://schemas.microsoft.com/office/drawing/2014/main" id="{9AC4E9B5-7C07-17A7-1181-75C4BBB08068}"/>
              </a:ext>
            </a:extLst>
          </p:cNvPr>
          <p:cNvSpPr txBox="1"/>
          <p:nvPr>
            <p:custDataLst>
              <p:tags r:id="rId10"/>
            </p:custDataLst>
          </p:nvPr>
        </p:nvSpPr>
        <p:spPr>
          <a:xfrm>
            <a:off x="1577467" y="4764991"/>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1" name="Rectangle 73">
            <a:extLst>
              <a:ext uri="{FF2B5EF4-FFF2-40B4-BE49-F238E27FC236}">
                <a16:creationId xmlns:a16="http://schemas.microsoft.com/office/drawing/2014/main" id="{8E296956-4C15-6873-FBCE-E5854A986A1B}"/>
              </a:ext>
            </a:extLst>
          </p:cNvPr>
          <p:cNvSpPr/>
          <p:nvPr/>
        </p:nvSpPr>
        <p:spPr>
          <a:xfrm>
            <a:off x="4698884" y="4718824"/>
            <a:ext cx="389851"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2" name="OTLSHAPE_T_e17f3958430f4cff8650518c93c7635e_StartDate">
            <a:extLst>
              <a:ext uri="{FF2B5EF4-FFF2-40B4-BE49-F238E27FC236}">
                <a16:creationId xmlns:a16="http://schemas.microsoft.com/office/drawing/2014/main" id="{DCBB8201-3597-8D32-8810-5628F4605BFC}"/>
              </a:ext>
            </a:extLst>
          </p:cNvPr>
          <p:cNvSpPr txBox="1"/>
          <p:nvPr>
            <p:custDataLst>
              <p:tags r:id="rId11"/>
            </p:custDataLst>
          </p:nvPr>
        </p:nvSpPr>
        <p:spPr>
          <a:xfrm>
            <a:off x="4430248" y="4252407"/>
            <a:ext cx="91114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4" name="Rectangle 55">
            <a:extLst>
              <a:ext uri="{FF2B5EF4-FFF2-40B4-BE49-F238E27FC236}">
                <a16:creationId xmlns:a16="http://schemas.microsoft.com/office/drawing/2014/main" id="{80117618-863A-BD8E-CA85-33EF3EE7A20C}"/>
              </a:ext>
            </a:extLst>
          </p:cNvPr>
          <p:cNvSpPr/>
          <p:nvPr/>
        </p:nvSpPr>
        <p:spPr>
          <a:xfrm>
            <a:off x="4695919" y="2563973"/>
            <a:ext cx="389850" cy="256546"/>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LPI</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5" name="OTLSHAPE_T_e17f3958430f4cff8650518c93c7635e_StartDate">
            <a:extLst>
              <a:ext uri="{FF2B5EF4-FFF2-40B4-BE49-F238E27FC236}">
                <a16:creationId xmlns:a16="http://schemas.microsoft.com/office/drawing/2014/main" id="{8C95ECF9-529E-ED02-168A-8D61D1C26D87}"/>
              </a:ext>
            </a:extLst>
          </p:cNvPr>
          <p:cNvSpPr txBox="1"/>
          <p:nvPr>
            <p:custDataLst>
              <p:tags r:id="rId12"/>
            </p:custDataLst>
          </p:nvPr>
        </p:nvSpPr>
        <p:spPr>
          <a:xfrm rot="19148296">
            <a:off x="4657496" y="1971559"/>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Sep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68" name="Rectangle 55">
            <a:extLst>
              <a:ext uri="{FF2B5EF4-FFF2-40B4-BE49-F238E27FC236}">
                <a16:creationId xmlns:a16="http://schemas.microsoft.com/office/drawing/2014/main" id="{FED51594-E398-1399-87F6-0906BEBEF1A1}"/>
              </a:ext>
            </a:extLst>
          </p:cNvPr>
          <p:cNvSpPr/>
          <p:nvPr/>
        </p:nvSpPr>
        <p:spPr>
          <a:xfrm>
            <a:off x="7034236" y="2563974"/>
            <a:ext cx="926856"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1" name="Rectangle 55">
            <a:extLst>
              <a:ext uri="{FF2B5EF4-FFF2-40B4-BE49-F238E27FC236}">
                <a16:creationId xmlns:a16="http://schemas.microsoft.com/office/drawing/2014/main" id="{0F1944D5-22D5-66E4-8BE5-299C0EE64FFB}"/>
              </a:ext>
            </a:extLst>
          </p:cNvPr>
          <p:cNvSpPr/>
          <p:nvPr/>
        </p:nvSpPr>
        <p:spPr>
          <a:xfrm>
            <a:off x="7575680" y="4462280"/>
            <a:ext cx="926857" cy="256544"/>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2" name="OTLSHAPE_T_e17f3958430f4cff8650518c93c7635e_StartDate">
            <a:extLst>
              <a:ext uri="{FF2B5EF4-FFF2-40B4-BE49-F238E27FC236}">
                <a16:creationId xmlns:a16="http://schemas.microsoft.com/office/drawing/2014/main" id="{1B8A2904-34C6-98DF-9802-7EF323B147D9}"/>
              </a:ext>
            </a:extLst>
          </p:cNvPr>
          <p:cNvSpPr txBox="1"/>
          <p:nvPr>
            <p:custDataLst>
              <p:tags r:id="rId13"/>
            </p:custDataLst>
          </p:nvPr>
        </p:nvSpPr>
        <p:spPr>
          <a:xfrm>
            <a:off x="7001194" y="4252407"/>
            <a:ext cx="911148" cy="164213"/>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Nov 2027</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74231B0A-A145-A8AE-1E9C-E2EF36204281}"/>
              </a:ext>
            </a:extLst>
          </p:cNvPr>
          <p:cNvSpPr/>
          <p:nvPr/>
        </p:nvSpPr>
        <p:spPr bwMode="auto">
          <a:xfrm>
            <a:off x="1994521"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4" name="Star: 4 Points 143">
            <a:extLst>
              <a:ext uri="{FF2B5EF4-FFF2-40B4-BE49-F238E27FC236}">
                <a16:creationId xmlns:a16="http://schemas.microsoft.com/office/drawing/2014/main" id="{B29C6251-BCCA-02DB-1FE4-A4AC6F93C4F4}"/>
              </a:ext>
            </a:extLst>
          </p:cNvPr>
          <p:cNvSpPr/>
          <p:nvPr/>
        </p:nvSpPr>
        <p:spPr bwMode="auto">
          <a:xfrm>
            <a:off x="480241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5" name="Star: 4 Points 143">
            <a:extLst>
              <a:ext uri="{FF2B5EF4-FFF2-40B4-BE49-F238E27FC236}">
                <a16:creationId xmlns:a16="http://schemas.microsoft.com/office/drawing/2014/main" id="{5F9FAA49-BA7E-4F54-9158-BF2E15FD528A}"/>
              </a:ext>
            </a:extLst>
          </p:cNvPr>
          <p:cNvSpPr/>
          <p:nvPr/>
        </p:nvSpPr>
        <p:spPr bwMode="auto">
          <a:xfrm>
            <a:off x="7398420"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6" name="Star: 4 Points 143">
            <a:extLst>
              <a:ext uri="{FF2B5EF4-FFF2-40B4-BE49-F238E27FC236}">
                <a16:creationId xmlns:a16="http://schemas.microsoft.com/office/drawing/2014/main" id="{E66314CB-80AA-A27E-30A5-69A553AAB4F7}"/>
              </a:ext>
            </a:extLst>
          </p:cNvPr>
          <p:cNvSpPr/>
          <p:nvPr/>
        </p:nvSpPr>
        <p:spPr bwMode="auto">
          <a:xfrm>
            <a:off x="3615903" y="46326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7" name="Star: 4 Points 143">
            <a:extLst>
              <a:ext uri="{FF2B5EF4-FFF2-40B4-BE49-F238E27FC236}">
                <a16:creationId xmlns:a16="http://schemas.microsoft.com/office/drawing/2014/main" id="{FDB68549-2749-C56C-C4B0-4838B4F9A09D}"/>
              </a:ext>
            </a:extLst>
          </p:cNvPr>
          <p:cNvSpPr/>
          <p:nvPr/>
        </p:nvSpPr>
        <p:spPr bwMode="auto">
          <a:xfrm>
            <a:off x="4793696" y="46326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8" name="Star: 4 Points 143">
            <a:extLst>
              <a:ext uri="{FF2B5EF4-FFF2-40B4-BE49-F238E27FC236}">
                <a16:creationId xmlns:a16="http://schemas.microsoft.com/office/drawing/2014/main" id="{F45273BB-E559-8B52-01BB-CF9BB4C48553}"/>
              </a:ext>
            </a:extLst>
          </p:cNvPr>
          <p:cNvSpPr/>
          <p:nvPr/>
        </p:nvSpPr>
        <p:spPr bwMode="auto">
          <a:xfrm>
            <a:off x="7422234" y="44792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97" name="Rectangle 100">
            <a:extLst>
              <a:ext uri="{FF2B5EF4-FFF2-40B4-BE49-F238E27FC236}">
                <a16:creationId xmlns:a16="http://schemas.microsoft.com/office/drawing/2014/main" id="{001E1F07-FD10-112E-2400-30D247DD744D}"/>
              </a:ext>
            </a:extLst>
          </p:cNvPr>
          <p:cNvSpPr/>
          <p:nvPr/>
        </p:nvSpPr>
        <p:spPr>
          <a:xfrm>
            <a:off x="7078931" y="2053666"/>
            <a:ext cx="837089"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Nov 2027</a:t>
            </a:r>
          </a:p>
        </p:txBody>
      </p:sp>
      <p:sp>
        <p:nvSpPr>
          <p:cNvPr id="310" name="文本框 160">
            <a:extLst>
              <a:ext uri="{FF2B5EF4-FFF2-40B4-BE49-F238E27FC236}">
                <a16:creationId xmlns:a16="http://schemas.microsoft.com/office/drawing/2014/main" id="{BA920182-1D07-BD4E-A814-04F315BE459F}"/>
              </a:ext>
            </a:extLst>
          </p:cNvPr>
          <p:cNvSpPr txBox="1"/>
          <p:nvPr/>
        </p:nvSpPr>
        <p:spPr>
          <a:xfrm>
            <a:off x="7869704" y="1694283"/>
            <a:ext cx="4116647" cy="1677055"/>
          </a:xfrm>
          <a:prstGeom prst="roundRect">
            <a:avLst/>
          </a:prstGeom>
          <a:noFill/>
          <a:ln>
            <a:solidFill>
              <a:srgbClr val="076D7E"/>
            </a:solidFill>
            <a:prstDash val="lgDash"/>
          </a:ln>
        </p:spPr>
        <p:txBody>
          <a:bodyPr wrap="square" rtlCol="0" anchor="ctr">
            <a:spAutoFit/>
          </a:bodyPr>
          <a:lstStyle/>
          <a:p>
            <a:pPr defTabSz="1219170">
              <a:spcAft>
                <a:spcPts val="267"/>
              </a:spcAft>
              <a:defRPr/>
            </a:pPr>
            <a:r>
              <a:rPr lang="en-GB" altLang="zh-CN" sz="1000" b="1" i="1">
                <a:solidFill>
                  <a:srgbClr val="002060"/>
                </a:solidFill>
                <a:latin typeface="Boehringer Forward Head"/>
              </a:rPr>
              <a:t>Global Update:</a:t>
            </a:r>
          </a:p>
          <a:p>
            <a:pPr marL="171450" indent="-171450" defTabSz="1219170">
              <a:spcAft>
                <a:spcPts val="267"/>
              </a:spcAft>
              <a:buFont typeface="Arial" panose="020B0604020202020204" pitchFamily="34" charset="0"/>
              <a:buChar char="•"/>
              <a:defRPr/>
            </a:pPr>
            <a:r>
              <a:rPr lang="en-US" altLang="zh-CN" sz="1000" i="1">
                <a:solidFill>
                  <a:srgbClr val="002060"/>
                </a:solidFill>
                <a:latin typeface="Boehringer Forward Head"/>
              </a:rPr>
              <a:t>DME Ph2:</a:t>
            </a:r>
          </a:p>
          <a:p>
            <a:pPr marL="274320" lvl="1" indent="-171450" defTabSz="1219170">
              <a:spcAft>
                <a:spcPts val="267"/>
              </a:spcAft>
              <a:buFont typeface="Arial" panose="020B0604020202020204" pitchFamily="34" charset="0"/>
              <a:buChar char="•"/>
              <a:defRPr/>
            </a:pPr>
            <a:r>
              <a:rPr lang="en-US" altLang="zh-CN" sz="1000" i="1">
                <a:solidFill>
                  <a:srgbClr val="002060"/>
                </a:solidFill>
                <a:latin typeface="Boehringer Forward Head"/>
              </a:rPr>
              <a:t>Trial status:  IA/PoC delay due to recruitment challenge will be confirmed in Jan 2026. </a:t>
            </a:r>
          </a:p>
          <a:p>
            <a:pPr marL="171450" indent="-171450" defTabSz="1080000">
              <a:spcAft>
                <a:spcPts val="267"/>
              </a:spcAft>
              <a:buFont typeface="Arial" panose="020B0604020202020204" pitchFamily="34" charset="0"/>
              <a:buChar char="•"/>
              <a:defRPr/>
            </a:pPr>
            <a:r>
              <a:rPr lang="en-US" altLang="zh-CN" sz="1000" i="1" err="1">
                <a:solidFill>
                  <a:srgbClr val="002060"/>
                </a:solidFill>
                <a:latin typeface="Boehringer Forward Head"/>
              </a:rPr>
              <a:t>nAMD</a:t>
            </a:r>
            <a:r>
              <a:rPr lang="en-US" altLang="zh-CN" sz="1000" i="1">
                <a:solidFill>
                  <a:srgbClr val="002060"/>
                </a:solidFill>
                <a:latin typeface="Boehringer Forward Head"/>
              </a:rPr>
              <a:t> Ph2:</a:t>
            </a:r>
          </a:p>
          <a:p>
            <a:pPr marL="274320" lvl="1" indent="-171450" defTabSz="1219170">
              <a:spcAft>
                <a:spcPts val="267"/>
              </a:spcAft>
              <a:buFont typeface="Arial" panose="020B0604020202020204" pitchFamily="34" charset="0"/>
              <a:buChar char="•"/>
              <a:defRPr/>
            </a:pPr>
            <a:r>
              <a:rPr lang="en-US" altLang="zh-CN" sz="1000" b="1" i="1">
                <a:solidFill>
                  <a:srgbClr val="002060"/>
                </a:solidFill>
                <a:latin typeface="Boehringer Forward Head"/>
              </a:rPr>
              <a:t> 2</a:t>
            </a:r>
            <a:r>
              <a:rPr lang="en-US" altLang="zh-CN" sz="1000" b="1" i="1" baseline="30000">
                <a:solidFill>
                  <a:srgbClr val="002060"/>
                </a:solidFill>
                <a:latin typeface="Boehringer Forward Head"/>
              </a:rPr>
              <a:t>nd</a:t>
            </a:r>
            <a:r>
              <a:rPr lang="en-US" altLang="zh-CN" sz="1000" b="1" i="1">
                <a:solidFill>
                  <a:srgbClr val="002060"/>
                </a:solidFill>
                <a:latin typeface="Boehringer Forward Head"/>
              </a:rPr>
              <a:t> indication </a:t>
            </a:r>
            <a:r>
              <a:rPr lang="en-US" altLang="zh-CN" sz="1000" i="1">
                <a:solidFill>
                  <a:srgbClr val="002060"/>
                </a:solidFill>
                <a:latin typeface="Boehringer Forward Head"/>
              </a:rPr>
              <a:t>(</a:t>
            </a:r>
            <a:r>
              <a:rPr lang="en-US" altLang="zh-CN" sz="1000" i="1" err="1">
                <a:solidFill>
                  <a:srgbClr val="002060"/>
                </a:solidFill>
                <a:latin typeface="Boehringer Forward Head"/>
              </a:rPr>
              <a:t>nAMD</a:t>
            </a:r>
            <a:r>
              <a:rPr lang="en-US" altLang="zh-CN" sz="1000" i="1">
                <a:solidFill>
                  <a:srgbClr val="002060"/>
                </a:solidFill>
                <a:latin typeface="Boehringer Forward Head"/>
              </a:rPr>
              <a:t>) ph2 to be accelerated </a:t>
            </a:r>
          </a:p>
          <a:p>
            <a:pPr marL="274320" lvl="1" indent="-171450" defTabSz="1219170">
              <a:spcAft>
                <a:spcPts val="267"/>
              </a:spcAft>
              <a:buFont typeface="Arial" panose="020B0604020202020204" pitchFamily="34" charset="0"/>
              <a:buChar char="•"/>
              <a:defRPr/>
            </a:pPr>
            <a:r>
              <a:rPr lang="en-US" altLang="zh-CN" sz="1000" i="1">
                <a:solidFill>
                  <a:srgbClr val="002060"/>
                </a:solidFill>
                <a:latin typeface="Boehringer Forward Head"/>
              </a:rPr>
              <a:t>Asian </a:t>
            </a:r>
            <a:r>
              <a:rPr lang="en-US" altLang="zh-CN" sz="1000" i="1" err="1">
                <a:solidFill>
                  <a:srgbClr val="002060"/>
                </a:solidFill>
                <a:latin typeface="Boehringer Forward Head"/>
              </a:rPr>
              <a:t>Adboard</a:t>
            </a:r>
            <a:r>
              <a:rPr lang="en-US" altLang="zh-CN" sz="1000" i="1">
                <a:solidFill>
                  <a:srgbClr val="002060"/>
                </a:solidFill>
                <a:latin typeface="Boehringer Forward Head"/>
              </a:rPr>
              <a:t> on development strategy scheduled in Jan 2026 in Shanghai.</a:t>
            </a:r>
          </a:p>
        </p:txBody>
      </p:sp>
      <p:sp>
        <p:nvSpPr>
          <p:cNvPr id="5" name="OTLSHAPE_T_e17f3958430f4cff8650518c93c7635e_Shape">
            <a:extLst>
              <a:ext uri="{FF2B5EF4-FFF2-40B4-BE49-F238E27FC236}">
                <a16:creationId xmlns:a16="http://schemas.microsoft.com/office/drawing/2014/main" id="{62180D29-F314-73AB-B1DF-FDD838228FAE}"/>
              </a:ext>
            </a:extLst>
          </p:cNvPr>
          <p:cNvSpPr/>
          <p:nvPr>
            <p:custDataLst>
              <p:tags r:id="rId14"/>
            </p:custDataLst>
          </p:nvPr>
        </p:nvSpPr>
        <p:spPr bwMode="auto">
          <a:xfrm>
            <a:off x="9027776" y="3339440"/>
            <a:ext cx="2916508"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2 x Ph3</a:t>
            </a:r>
            <a:endParaRPr lang="en-US" altLang="zh-CN" sz="1067" b="1">
              <a:solidFill>
                <a:srgbClr val="000000"/>
              </a:solidFill>
              <a:ea typeface="等线" panose="02010600030101010101" pitchFamily="2" charset="-122"/>
              <a:cs typeface="Calibri" panose="020F0502020204030204" pitchFamily="34" charset="0"/>
            </a:endParaRPr>
          </a:p>
        </p:txBody>
      </p:sp>
      <p:sp>
        <p:nvSpPr>
          <p:cNvPr id="7" name="Rectangle 52">
            <a:extLst>
              <a:ext uri="{FF2B5EF4-FFF2-40B4-BE49-F238E27FC236}">
                <a16:creationId xmlns:a16="http://schemas.microsoft.com/office/drawing/2014/main" id="{FF80F33C-6A58-BE94-80CB-02250A42A165}"/>
              </a:ext>
            </a:extLst>
          </p:cNvPr>
          <p:cNvSpPr/>
          <p:nvPr/>
        </p:nvSpPr>
        <p:spPr>
          <a:xfrm>
            <a:off x="8819943" y="3392317"/>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8" name="OTLSHAPE_T_e17f3958430f4cff8650518c93c7635e_StartDate">
            <a:extLst>
              <a:ext uri="{FF2B5EF4-FFF2-40B4-BE49-F238E27FC236}">
                <a16:creationId xmlns:a16="http://schemas.microsoft.com/office/drawing/2014/main" id="{BCBD9D7F-0BE1-A23C-247D-15F93B4FCD45}"/>
              </a:ext>
            </a:extLst>
          </p:cNvPr>
          <p:cNvSpPr txBox="1"/>
          <p:nvPr>
            <p:custDataLst>
              <p:tags r:id="rId15"/>
            </p:custDataLst>
          </p:nvPr>
        </p:nvSpPr>
        <p:spPr>
          <a:xfrm>
            <a:off x="8580329" y="3613045"/>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Aug 2028</a:t>
            </a:r>
            <a:endParaRPr lang="zh-CN" altLang="en-US" sz="1067" b="1" i="1">
              <a:solidFill>
                <a:schemeClr val="bg1">
                  <a:lumMod val="65000"/>
                </a:schemeClr>
              </a:solidFill>
              <a:ea typeface="等线" panose="02010600030101010101" pitchFamily="2" charset="-122"/>
            </a:endParaRPr>
          </a:p>
        </p:txBody>
      </p:sp>
      <p:sp>
        <p:nvSpPr>
          <p:cNvPr id="9" name="Star: 4 Points 143">
            <a:extLst>
              <a:ext uri="{FF2B5EF4-FFF2-40B4-BE49-F238E27FC236}">
                <a16:creationId xmlns:a16="http://schemas.microsoft.com/office/drawing/2014/main" id="{88F22E1F-28D5-AB7D-0111-559D92F4AA0F}"/>
              </a:ext>
            </a:extLst>
          </p:cNvPr>
          <p:cNvSpPr/>
          <p:nvPr/>
        </p:nvSpPr>
        <p:spPr bwMode="auto">
          <a:xfrm>
            <a:off x="8926544" y="329434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0" name="Isosceles Triangle 128">
            <a:extLst>
              <a:ext uri="{FF2B5EF4-FFF2-40B4-BE49-F238E27FC236}">
                <a16:creationId xmlns:a16="http://schemas.microsoft.com/office/drawing/2014/main" id="{380E4FF1-C95D-4E25-5129-E124052E8195}"/>
              </a:ext>
            </a:extLst>
          </p:cNvPr>
          <p:cNvSpPr/>
          <p:nvPr/>
        </p:nvSpPr>
        <p:spPr>
          <a:xfrm rot="5400000">
            <a:off x="11941788" y="3365426"/>
            <a:ext cx="256543" cy="230532"/>
          </a:xfrm>
          <a:prstGeom prst="triangle">
            <a:avLst/>
          </a:prstGeom>
          <a:solidFill>
            <a:srgbClr val="D5E9EC"/>
          </a:solidFill>
          <a:ln w="12700">
            <a:solidFill>
              <a:srgbClr val="D5E9EC"/>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11" name="TextBox 64">
            <a:extLst>
              <a:ext uri="{FF2B5EF4-FFF2-40B4-BE49-F238E27FC236}">
                <a16:creationId xmlns:a16="http://schemas.microsoft.com/office/drawing/2014/main" id="{3B231544-BEBB-9EF2-A652-6F1702FA4780}"/>
              </a:ext>
            </a:extLst>
          </p:cNvPr>
          <p:cNvSpPr txBox="1"/>
          <p:nvPr/>
        </p:nvSpPr>
        <p:spPr>
          <a:xfrm>
            <a:off x="31595" y="2986003"/>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Ph3 -</a:t>
            </a:r>
          </a:p>
          <a:p>
            <a:pPr algn="ctr" defTabSz="914377">
              <a:defRPr/>
            </a:pPr>
            <a:r>
              <a:rPr lang="en-US" altLang="zh-CN" sz="1067" b="1">
                <a:solidFill>
                  <a:srgbClr val="08312A"/>
                </a:solidFill>
                <a:cs typeface="Calibri" panose="020F0502020204030204" pitchFamily="34" charset="0"/>
              </a:rPr>
              <a:t>1485-0019/</a:t>
            </a:r>
          </a:p>
          <a:p>
            <a:pPr algn="ctr" defTabSz="914377">
              <a:defRPr/>
            </a:pPr>
            <a:r>
              <a:rPr lang="en-US" altLang="zh-CN" sz="1067" b="1">
                <a:solidFill>
                  <a:srgbClr val="08312A"/>
                </a:solidFill>
                <a:cs typeface="Calibri" panose="020F0502020204030204" pitchFamily="34" charset="0"/>
              </a:rPr>
              <a:t>1485-0020</a:t>
            </a:r>
            <a:endParaRPr lang="en-US" sz="1067" b="1">
              <a:solidFill>
                <a:srgbClr val="08312A"/>
              </a:solidFill>
              <a:cs typeface="Calibri" panose="020F0502020204030204" pitchFamily="34" charset="0"/>
            </a:endParaRPr>
          </a:p>
        </p:txBody>
      </p:sp>
      <p:sp>
        <p:nvSpPr>
          <p:cNvPr id="12" name="TextBox 64">
            <a:extLst>
              <a:ext uri="{FF2B5EF4-FFF2-40B4-BE49-F238E27FC236}">
                <a16:creationId xmlns:a16="http://schemas.microsoft.com/office/drawing/2014/main" id="{17DAABEA-93D3-F051-25D2-10D422D17495}"/>
              </a:ext>
            </a:extLst>
          </p:cNvPr>
          <p:cNvSpPr txBox="1"/>
          <p:nvPr/>
        </p:nvSpPr>
        <p:spPr>
          <a:xfrm>
            <a:off x="31595" y="4392997"/>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1485-0018</a:t>
            </a:r>
          </a:p>
          <a:p>
            <a:pPr algn="ctr" defTabSz="914377">
              <a:defRPr/>
            </a:pPr>
            <a:r>
              <a:rPr lang="en-US" sz="1067" b="1">
                <a:solidFill>
                  <a:srgbClr val="08312A"/>
                </a:solidFill>
                <a:cs typeface="Calibri" panose="020F0502020204030204" pitchFamily="34" charset="0"/>
              </a:rPr>
              <a:t>THULITE</a:t>
            </a:r>
          </a:p>
        </p:txBody>
      </p:sp>
      <p:sp>
        <p:nvSpPr>
          <p:cNvPr id="18" name="OTLSHAPE_T_e17f3958430f4cff8650518c93c7635e_Shape">
            <a:extLst>
              <a:ext uri="{FF2B5EF4-FFF2-40B4-BE49-F238E27FC236}">
                <a16:creationId xmlns:a16="http://schemas.microsoft.com/office/drawing/2014/main" id="{7BACA73D-D15D-E5D2-EDCF-23EF592039EC}"/>
              </a:ext>
            </a:extLst>
          </p:cNvPr>
          <p:cNvSpPr/>
          <p:nvPr>
            <p:custDataLst>
              <p:tags r:id="rId16"/>
            </p:custDataLst>
          </p:nvPr>
        </p:nvSpPr>
        <p:spPr bwMode="auto">
          <a:xfrm>
            <a:off x="3515134" y="4426114"/>
            <a:ext cx="184243" cy="288000"/>
          </a:xfrm>
          <a:prstGeom prst="roundRect">
            <a:avLst/>
          </a:prstGeom>
          <a:solidFill>
            <a:srgbClr val="EE6541">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endParaRPr lang="en-US" altLang="zh-CN" sz="900" b="1">
              <a:solidFill>
                <a:prstClr val="black"/>
              </a:solidFill>
              <a:ea typeface="等线" panose="02010600030101010101" pitchFamily="2" charset="-122"/>
              <a:cs typeface="Calibri" panose="020F0502020204030204" pitchFamily="34" charset="0"/>
            </a:endParaRPr>
          </a:p>
        </p:txBody>
      </p:sp>
      <p:sp>
        <p:nvSpPr>
          <p:cNvPr id="19" name="OTLSHAPE_T_e17f3958430f4cff8650518c93c7635e_Shape">
            <a:extLst>
              <a:ext uri="{FF2B5EF4-FFF2-40B4-BE49-F238E27FC236}">
                <a16:creationId xmlns:a16="http://schemas.microsoft.com/office/drawing/2014/main" id="{B53A0A5B-2BD1-60F9-1980-39A5E5FEA7DD}"/>
              </a:ext>
            </a:extLst>
          </p:cNvPr>
          <p:cNvSpPr/>
          <p:nvPr>
            <p:custDataLst>
              <p:tags r:id="rId17"/>
            </p:custDataLst>
          </p:nvPr>
        </p:nvSpPr>
        <p:spPr bwMode="auto">
          <a:xfrm>
            <a:off x="3172572" y="5301082"/>
            <a:ext cx="922000" cy="288000"/>
          </a:xfrm>
          <a:prstGeom prst="roundRect">
            <a:avLst/>
          </a:prstGeom>
          <a:solidFill>
            <a:srgbClr val="EE6541">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r>
              <a:rPr lang="en-US" altLang="zh-CN" sz="800" b="1">
                <a:solidFill>
                  <a:prstClr val="black"/>
                </a:solidFill>
                <a:ea typeface="等线" panose="02010600030101010101" pitchFamily="2" charset="-122"/>
                <a:cs typeface="Calibri" panose="020F0502020204030204" pitchFamily="34" charset="0"/>
              </a:rPr>
              <a:t>IMP relabel + shipment</a:t>
            </a:r>
          </a:p>
        </p:txBody>
      </p:sp>
      <p:sp>
        <p:nvSpPr>
          <p:cNvPr id="20" name="Star: 4 Points 143">
            <a:extLst>
              <a:ext uri="{FF2B5EF4-FFF2-40B4-BE49-F238E27FC236}">
                <a16:creationId xmlns:a16="http://schemas.microsoft.com/office/drawing/2014/main" id="{D321A77E-0458-5FB7-4045-033D748BB240}"/>
              </a:ext>
            </a:extLst>
          </p:cNvPr>
          <p:cNvSpPr/>
          <p:nvPr/>
        </p:nvSpPr>
        <p:spPr bwMode="auto">
          <a:xfrm>
            <a:off x="3412984" y="46326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1" name="Rectangle 77">
            <a:extLst>
              <a:ext uri="{FF2B5EF4-FFF2-40B4-BE49-F238E27FC236}">
                <a16:creationId xmlns:a16="http://schemas.microsoft.com/office/drawing/2014/main" id="{6EAF205B-53DB-AC48-1FF2-80C38830543A}"/>
              </a:ext>
            </a:extLst>
          </p:cNvPr>
          <p:cNvSpPr/>
          <p:nvPr/>
        </p:nvSpPr>
        <p:spPr>
          <a:xfrm>
            <a:off x="3144400" y="4718824"/>
            <a:ext cx="47319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CoA</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 name="OTLSHAPE_T_e17f3958430f4cff8650518c93c7635e_StartDate">
            <a:extLst>
              <a:ext uri="{FF2B5EF4-FFF2-40B4-BE49-F238E27FC236}">
                <a16:creationId xmlns:a16="http://schemas.microsoft.com/office/drawing/2014/main" id="{3103B7FE-1E70-881C-4C3C-609084C08DDA}"/>
              </a:ext>
            </a:extLst>
          </p:cNvPr>
          <p:cNvSpPr txBox="1"/>
          <p:nvPr>
            <p:custDataLst>
              <p:tags r:id="rId18"/>
            </p:custDataLst>
          </p:nvPr>
        </p:nvSpPr>
        <p:spPr>
          <a:xfrm>
            <a:off x="2825694" y="4255708"/>
            <a:ext cx="910164"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cxnSp>
        <p:nvCxnSpPr>
          <p:cNvPr id="24" name="Straight Connector 23">
            <a:extLst>
              <a:ext uri="{FF2B5EF4-FFF2-40B4-BE49-F238E27FC236}">
                <a16:creationId xmlns:a16="http://schemas.microsoft.com/office/drawing/2014/main" id="{C3964271-1415-7D1E-8A38-1B0C9A1D0066}"/>
              </a:ext>
            </a:extLst>
          </p:cNvPr>
          <p:cNvCxnSpPr>
            <a:cxnSpLocks/>
          </p:cNvCxnSpPr>
          <p:nvPr/>
        </p:nvCxnSpPr>
        <p:spPr bwMode="gray">
          <a:xfrm flipH="1">
            <a:off x="3165214" y="4870280"/>
            <a:ext cx="318999" cy="45157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230" name="Rectangle 55">
            <a:extLst>
              <a:ext uri="{FF2B5EF4-FFF2-40B4-BE49-F238E27FC236}">
                <a16:creationId xmlns:a16="http://schemas.microsoft.com/office/drawing/2014/main" id="{8E5E5C71-A529-757D-DC3B-D60A362381FB}"/>
              </a:ext>
            </a:extLst>
          </p:cNvPr>
          <p:cNvSpPr/>
          <p:nvPr/>
        </p:nvSpPr>
        <p:spPr>
          <a:xfrm>
            <a:off x="4184443" y="2563974"/>
            <a:ext cx="499789"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IA</a:t>
            </a:r>
            <a:endParaRPr lang="zh-CN" altLang="en-US" sz="1067" b="1">
              <a:solidFill>
                <a:srgbClr val="44546A"/>
              </a:solidFill>
              <a:ea typeface="等线" panose="02010600030101010101" pitchFamily="2" charset="-122"/>
              <a:cs typeface="Calibri" panose="020F0502020204030204" pitchFamily="34" charset="0"/>
            </a:endParaRPr>
          </a:p>
        </p:txBody>
      </p:sp>
      <p:sp>
        <p:nvSpPr>
          <p:cNvPr id="231" name="Star: 4 Points 143">
            <a:extLst>
              <a:ext uri="{FF2B5EF4-FFF2-40B4-BE49-F238E27FC236}">
                <a16:creationId xmlns:a16="http://schemas.microsoft.com/office/drawing/2014/main" id="{A1CD18BA-1E90-5381-1344-9B693087EBDA}"/>
              </a:ext>
            </a:extLst>
          </p:cNvPr>
          <p:cNvSpPr/>
          <p:nvPr/>
        </p:nvSpPr>
        <p:spPr bwMode="auto">
          <a:xfrm>
            <a:off x="4339399" y="246600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32" name="Rectangle 100">
            <a:extLst>
              <a:ext uri="{FF2B5EF4-FFF2-40B4-BE49-F238E27FC236}">
                <a16:creationId xmlns:a16="http://schemas.microsoft.com/office/drawing/2014/main" id="{1E9CA67C-CE5E-EE51-7964-1363EDC07471}"/>
              </a:ext>
            </a:extLst>
          </p:cNvPr>
          <p:cNvSpPr/>
          <p:nvPr/>
        </p:nvSpPr>
        <p:spPr>
          <a:xfrm rot="19269311">
            <a:off x="4235838" y="1933679"/>
            <a:ext cx="803426" cy="256545"/>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Jun 2026</a:t>
            </a:r>
          </a:p>
        </p:txBody>
      </p:sp>
      <p:cxnSp>
        <p:nvCxnSpPr>
          <p:cNvPr id="234" name="Connector: Elbow 233">
            <a:extLst>
              <a:ext uri="{FF2B5EF4-FFF2-40B4-BE49-F238E27FC236}">
                <a16:creationId xmlns:a16="http://schemas.microsoft.com/office/drawing/2014/main" id="{8FBF6930-7820-16C0-F6EB-4899AAC3ADB3}"/>
              </a:ext>
            </a:extLst>
          </p:cNvPr>
          <p:cNvCxnSpPr>
            <a:cxnSpLocks/>
            <a:stCxn id="230" idx="2"/>
            <a:endCxn id="236" idx="1"/>
          </p:cNvCxnSpPr>
          <p:nvPr/>
        </p:nvCxnSpPr>
        <p:spPr bwMode="gray">
          <a:xfrm rot="16200000" flipH="1">
            <a:off x="4351359" y="2903497"/>
            <a:ext cx="281442" cy="115485"/>
          </a:xfrm>
          <a:prstGeom prst="bentConnector2">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5" name="Rectangle 55">
            <a:extLst>
              <a:ext uri="{FF2B5EF4-FFF2-40B4-BE49-F238E27FC236}">
                <a16:creationId xmlns:a16="http://schemas.microsoft.com/office/drawing/2014/main" id="{01066266-337D-B790-10A2-3C0A3F0BEE09}"/>
              </a:ext>
            </a:extLst>
          </p:cNvPr>
          <p:cNvSpPr/>
          <p:nvPr/>
        </p:nvSpPr>
        <p:spPr>
          <a:xfrm>
            <a:off x="4394867" y="3215753"/>
            <a:ext cx="499789" cy="276999"/>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endParaRPr lang="zh-CN" altLang="en-US" sz="1200" b="1" i="1">
              <a:solidFill>
                <a:srgbClr val="44546A"/>
              </a:solidFill>
              <a:ea typeface="等线" panose="02010600030101010101" pitchFamily="2" charset="-122"/>
              <a:cs typeface="Calibri" panose="020F0502020204030204" pitchFamily="34" charset="0"/>
            </a:endParaRPr>
          </a:p>
        </p:txBody>
      </p:sp>
      <p:sp>
        <p:nvSpPr>
          <p:cNvPr id="236" name="Star: 4 Points 143">
            <a:extLst>
              <a:ext uri="{FF2B5EF4-FFF2-40B4-BE49-F238E27FC236}">
                <a16:creationId xmlns:a16="http://schemas.microsoft.com/office/drawing/2014/main" id="{BCA7B779-D9B1-CC1A-BB66-DA84A079D81A}"/>
              </a:ext>
            </a:extLst>
          </p:cNvPr>
          <p:cNvSpPr/>
          <p:nvPr/>
        </p:nvSpPr>
        <p:spPr bwMode="auto">
          <a:xfrm>
            <a:off x="4549823" y="300805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70" name="Group 269">
            <a:extLst>
              <a:ext uri="{FF2B5EF4-FFF2-40B4-BE49-F238E27FC236}">
                <a16:creationId xmlns:a16="http://schemas.microsoft.com/office/drawing/2014/main" id="{0848280D-86A2-A0B5-DE17-3C780F22C1BC}"/>
              </a:ext>
            </a:extLst>
          </p:cNvPr>
          <p:cNvGrpSpPr/>
          <p:nvPr/>
        </p:nvGrpSpPr>
        <p:grpSpPr>
          <a:xfrm>
            <a:off x="3005008" y="1688058"/>
            <a:ext cx="598242" cy="4062432"/>
            <a:chOff x="2444277" y="1675830"/>
            <a:chExt cx="598242" cy="4062432"/>
          </a:xfrm>
        </p:grpSpPr>
        <p:cxnSp>
          <p:nvCxnSpPr>
            <p:cNvPr id="248" name="Straight Connector 147">
              <a:extLst>
                <a:ext uri="{FF2B5EF4-FFF2-40B4-BE49-F238E27FC236}">
                  <a16:creationId xmlns:a16="http://schemas.microsoft.com/office/drawing/2014/main" id="{B36ADF1B-FA0E-3D17-5D18-B603A0469E9B}"/>
                </a:ext>
              </a:extLst>
            </p:cNvPr>
            <p:cNvCxnSpPr>
              <a:cxnSpLocks/>
              <a:endCxn id="263" idx="2"/>
            </p:cNvCxnSpPr>
            <p:nvPr/>
          </p:nvCxnSpPr>
          <p:spPr bwMode="auto">
            <a:xfrm flipV="1">
              <a:off x="2743398" y="1932375"/>
              <a:ext cx="0" cy="3805887"/>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3" name="Rectangle 52">
              <a:extLst>
                <a:ext uri="{FF2B5EF4-FFF2-40B4-BE49-F238E27FC236}">
                  <a16:creationId xmlns:a16="http://schemas.microsoft.com/office/drawing/2014/main" id="{505608A5-09B4-0CBC-333A-762DE0EEA393}"/>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312" name="文本框 160">
            <a:extLst>
              <a:ext uri="{FF2B5EF4-FFF2-40B4-BE49-F238E27FC236}">
                <a16:creationId xmlns:a16="http://schemas.microsoft.com/office/drawing/2014/main" id="{931AEC1D-8E48-60AF-D0C2-9D75A18E515E}"/>
              </a:ext>
            </a:extLst>
          </p:cNvPr>
          <p:cNvSpPr txBox="1"/>
          <p:nvPr/>
        </p:nvSpPr>
        <p:spPr>
          <a:xfrm>
            <a:off x="452137" y="4826365"/>
            <a:ext cx="8050400" cy="1719620"/>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spcAft>
                <a:spcPts val="267"/>
              </a:spcAft>
              <a:defRPr/>
            </a:pPr>
            <a:r>
              <a:rPr lang="en-US" altLang="zh-CN" sz="1000" b="1" i="1" dirty="0">
                <a:solidFill>
                  <a:srgbClr val="002060"/>
                </a:solidFill>
                <a:cs typeface="Calibri"/>
              </a:rPr>
              <a:t>THULITE China Preparation:</a:t>
            </a:r>
            <a:endParaRPr lang="en-US" altLang="zh-CN" sz="1000" i="1" dirty="0">
              <a:solidFill>
                <a:srgbClr val="002060"/>
              </a:solidFill>
              <a:cs typeface="Calibri"/>
            </a:endParaRPr>
          </a:p>
          <a:p>
            <a:pPr marL="95885" indent="-95885" defTabSz="1219170">
              <a:spcAft>
                <a:spcPts val="267"/>
              </a:spcAft>
              <a:buFont typeface="Arial" panose="020B0604020202020204" pitchFamily="34" charset="0"/>
              <a:buChar char="•"/>
              <a:defRPr/>
            </a:pPr>
            <a:r>
              <a:rPr lang="en-US" altLang="zh-CN" sz="1000" i="1" dirty="0">
                <a:solidFill>
                  <a:srgbClr val="002060"/>
                </a:solidFill>
                <a:cs typeface="Calibri"/>
              </a:rPr>
              <a:t>CTP amendment: global amendment (IN/EX, rescue, </a:t>
            </a:r>
            <a:r>
              <a:rPr lang="en-US" altLang="zh-CN" sz="1000" i="1" dirty="0" err="1">
                <a:solidFill>
                  <a:srgbClr val="002060"/>
                </a:solidFill>
                <a:cs typeface="Calibri"/>
              </a:rPr>
              <a:t>etc</a:t>
            </a:r>
            <a:r>
              <a:rPr lang="en-US" altLang="zh-CN" sz="1000" i="1" dirty="0">
                <a:solidFill>
                  <a:srgbClr val="002060"/>
                </a:solidFill>
                <a:cs typeface="Calibri"/>
              </a:rPr>
              <a:t>) and local amendment (CIQ) ongoing</a:t>
            </a:r>
          </a:p>
          <a:p>
            <a:pPr marL="95885" indent="-95885" defTabSz="1219170">
              <a:spcAft>
                <a:spcPts val="267"/>
              </a:spcAft>
              <a:buFont typeface="Arial" panose="020B0604020202020204" pitchFamily="34" charset="0"/>
              <a:buChar char="•"/>
              <a:defRPr/>
            </a:pPr>
            <a:r>
              <a:rPr lang="en-US" altLang="zh-CN" sz="1000" b="1" i="1" dirty="0">
                <a:solidFill>
                  <a:srgbClr val="002060"/>
                </a:solidFill>
                <a:cs typeface="Calibri"/>
              </a:rPr>
              <a:t>Study Status: </a:t>
            </a:r>
          </a:p>
          <a:p>
            <a:pPr marL="274320" lvl="1" indent="-171450" defTabSz="1219170">
              <a:spcAft>
                <a:spcPts val="267"/>
              </a:spcAft>
              <a:buFont typeface="Arial" panose="020B0604020202020204" pitchFamily="34" charset="0"/>
              <a:buChar char="•"/>
              <a:defRPr/>
            </a:pPr>
            <a:r>
              <a:rPr lang="en-US" altLang="zh-CN" sz="1000" b="1" i="1" dirty="0">
                <a:solidFill>
                  <a:srgbClr val="002060"/>
                </a:solidFill>
                <a:latin typeface="Boehringer Forward Head"/>
              </a:rPr>
              <a:t>IMP delayed risk mitigated by local IMP coordination with global, </a:t>
            </a:r>
            <a:r>
              <a:rPr lang="en-US" altLang="zh-CN" sz="1000" i="1" dirty="0">
                <a:solidFill>
                  <a:srgbClr val="002060"/>
                </a:solidFill>
                <a:latin typeface="Boehringer Forward Head"/>
              </a:rPr>
              <a:t>2-3 weeks due to CoA with FPI potentially delayed from end of Feb to mid Mar</a:t>
            </a:r>
          </a:p>
          <a:p>
            <a:pPr marL="274320" lvl="1" indent="-171450" defTabSz="1219170">
              <a:spcAft>
                <a:spcPts val="267"/>
              </a:spcAft>
              <a:buFont typeface="Arial" panose="020B0604020202020204" pitchFamily="34" charset="0"/>
              <a:buChar char="•"/>
              <a:defRPr/>
            </a:pPr>
            <a:r>
              <a:rPr lang="en-US" altLang="zh-CN" sz="1000" b="1" i="1" dirty="0">
                <a:solidFill>
                  <a:srgbClr val="002060"/>
                </a:solidFill>
                <a:latin typeface="Boehringer Forward Head"/>
              </a:rPr>
              <a:t>Dry SIV </a:t>
            </a:r>
            <a:r>
              <a:rPr lang="en-US" altLang="zh-CN" sz="1000" i="1" dirty="0">
                <a:solidFill>
                  <a:srgbClr val="002060"/>
                </a:solidFill>
                <a:latin typeface="Boehringer Forward Head"/>
              </a:rPr>
              <a:t>planed end of Jan 2026. China Investigator Meeting preparation on track (2026-01-10)</a:t>
            </a:r>
          </a:p>
          <a:p>
            <a:pPr marL="274320" lvl="1" indent="-171450" defTabSz="1219170">
              <a:spcAft>
                <a:spcPts val="267"/>
              </a:spcAft>
              <a:buFont typeface="Arial" panose="020B0604020202020204" pitchFamily="34" charset="0"/>
              <a:buChar char="•"/>
              <a:defRPr/>
            </a:pPr>
            <a:r>
              <a:rPr lang="en-US" altLang="zh-CN" sz="1000" i="1" dirty="0">
                <a:solidFill>
                  <a:srgbClr val="002060"/>
                </a:solidFill>
                <a:latin typeface="Boehringer Forward Head"/>
              </a:rPr>
              <a:t>Site engagement plan: co-SIVs planned; Ad hoc site visits based on situation need.   </a:t>
            </a:r>
          </a:p>
          <a:p>
            <a:pPr marL="274320" lvl="1" indent="-171450" defTabSz="1219170">
              <a:spcAft>
                <a:spcPts val="267"/>
              </a:spcAft>
              <a:buFont typeface="Arial" panose="020B0604020202020204" pitchFamily="34" charset="0"/>
              <a:buChar char="•"/>
              <a:defRPr/>
            </a:pPr>
            <a:r>
              <a:rPr lang="en-US" altLang="zh-CN" sz="1000" i="1" dirty="0">
                <a:solidFill>
                  <a:srgbClr val="002060"/>
                </a:solidFill>
                <a:latin typeface="Boehringer Forward Head"/>
              </a:rPr>
              <a:t>Global activities in Shanghai: leading site visit and internal workshop </a:t>
            </a:r>
          </a:p>
        </p:txBody>
      </p:sp>
    </p:spTree>
    <p:extLst>
      <p:ext uri="{BB962C8B-B14F-4D97-AF65-F5344CB8AC3E}">
        <p14:creationId xmlns:p14="http://schemas.microsoft.com/office/powerpoint/2010/main" val="2835965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B8DD5-A6EE-7FA8-C556-1E463E9C9434}"/>
              </a:ext>
            </a:extLst>
          </p:cNvPr>
          <p:cNvSpPr>
            <a:spLocks noGrp="1"/>
          </p:cNvSpPr>
          <p:nvPr>
            <p:ph type="title"/>
          </p:nvPr>
        </p:nvSpPr>
        <p:spPr/>
        <p:txBody>
          <a:bodyPr/>
          <a:lstStyle/>
          <a:p>
            <a:r>
              <a:rPr lang="en-US" altLang="zh-CN" err="1"/>
              <a:t>PKKi</a:t>
            </a:r>
            <a:r>
              <a:rPr lang="en-US" altLang="zh-CN"/>
              <a:t> Asia Advisory Board Meeting in Shanghai on Jan 9</a:t>
            </a:r>
            <a:r>
              <a:rPr lang="en-US" altLang="zh-CN" baseline="30000"/>
              <a:t>th</a:t>
            </a:r>
            <a:r>
              <a:rPr lang="en-US" altLang="zh-CN"/>
              <a:t> </a:t>
            </a:r>
            <a:endParaRPr lang="zh-CN" altLang="en-US"/>
          </a:p>
        </p:txBody>
      </p:sp>
      <p:sp>
        <p:nvSpPr>
          <p:cNvPr id="4" name="Text Placeholder 3">
            <a:extLst>
              <a:ext uri="{FF2B5EF4-FFF2-40B4-BE49-F238E27FC236}">
                <a16:creationId xmlns:a16="http://schemas.microsoft.com/office/drawing/2014/main" id="{9952ECC5-1B0B-FE6F-EBCA-CB93E9FF29A0}"/>
              </a:ext>
            </a:extLst>
          </p:cNvPr>
          <p:cNvSpPr>
            <a:spLocks noGrp="1"/>
          </p:cNvSpPr>
          <p:nvPr>
            <p:ph type="body" sz="quarter" idx="13"/>
          </p:nvPr>
        </p:nvSpPr>
        <p:spPr/>
        <p:txBody>
          <a:bodyPr/>
          <a:lstStyle/>
          <a:p>
            <a:endParaRPr lang="zh-CN" altLang="en-US"/>
          </a:p>
        </p:txBody>
      </p:sp>
      <p:sp>
        <p:nvSpPr>
          <p:cNvPr id="5" name="Slide Number Placeholder 4">
            <a:extLst>
              <a:ext uri="{FF2B5EF4-FFF2-40B4-BE49-F238E27FC236}">
                <a16:creationId xmlns:a16="http://schemas.microsoft.com/office/drawing/2014/main" id="{6DDF69B8-1282-9E43-5792-0AD91EFF0019}"/>
              </a:ext>
            </a:extLst>
          </p:cNvPr>
          <p:cNvSpPr>
            <a:spLocks noGrp="1"/>
          </p:cNvSpPr>
          <p:nvPr>
            <p:ph type="sldNum" sz="quarter" idx="20"/>
          </p:nvPr>
        </p:nvSpPr>
        <p:spPr/>
        <p:txBody>
          <a:bodyPr/>
          <a:lstStyle/>
          <a:p>
            <a:fld id="{DF4E8F9F-5B1F-4F5B-BE49-3245D8C18D9F}" type="slidenum">
              <a:rPr lang="en-US" smtClean="0"/>
              <a:pPr/>
              <a:t>12</a:t>
            </a:fld>
            <a:endParaRPr lang="en-US"/>
          </a:p>
        </p:txBody>
      </p:sp>
      <p:pic>
        <p:nvPicPr>
          <p:cNvPr id="7" name="Picture 6">
            <a:extLst>
              <a:ext uri="{FF2B5EF4-FFF2-40B4-BE49-F238E27FC236}">
                <a16:creationId xmlns:a16="http://schemas.microsoft.com/office/drawing/2014/main" id="{0F27EF70-CAB8-3C56-2744-9BE160200E4C}"/>
              </a:ext>
            </a:extLst>
          </p:cNvPr>
          <p:cNvPicPr>
            <a:picLocks noChangeAspect="1"/>
          </p:cNvPicPr>
          <p:nvPr/>
        </p:nvPicPr>
        <p:blipFill>
          <a:blip r:embed="rId2"/>
          <a:stretch>
            <a:fillRect/>
          </a:stretch>
        </p:blipFill>
        <p:spPr>
          <a:xfrm>
            <a:off x="479423" y="2186748"/>
            <a:ext cx="5248292" cy="3501387"/>
          </a:xfrm>
          <a:prstGeom prst="rect">
            <a:avLst/>
          </a:prstGeom>
        </p:spPr>
      </p:pic>
      <p:pic>
        <p:nvPicPr>
          <p:cNvPr id="9" name="Picture 8">
            <a:extLst>
              <a:ext uri="{FF2B5EF4-FFF2-40B4-BE49-F238E27FC236}">
                <a16:creationId xmlns:a16="http://schemas.microsoft.com/office/drawing/2014/main" id="{861C52C5-6260-1660-E241-303A8F521E5E}"/>
              </a:ext>
            </a:extLst>
          </p:cNvPr>
          <p:cNvPicPr>
            <a:picLocks noChangeAspect="1"/>
          </p:cNvPicPr>
          <p:nvPr/>
        </p:nvPicPr>
        <p:blipFill>
          <a:blip r:embed="rId3"/>
          <a:stretch>
            <a:fillRect/>
          </a:stretch>
        </p:blipFill>
        <p:spPr>
          <a:xfrm>
            <a:off x="373918" y="3707933"/>
            <a:ext cx="5353797" cy="2169331"/>
          </a:xfrm>
          <a:prstGeom prst="rect">
            <a:avLst/>
          </a:prstGeom>
        </p:spPr>
      </p:pic>
      <p:pic>
        <p:nvPicPr>
          <p:cNvPr id="11" name="Picture 10">
            <a:extLst>
              <a:ext uri="{FF2B5EF4-FFF2-40B4-BE49-F238E27FC236}">
                <a16:creationId xmlns:a16="http://schemas.microsoft.com/office/drawing/2014/main" id="{77C92068-74BD-F2FF-B17B-509B5C876E09}"/>
              </a:ext>
            </a:extLst>
          </p:cNvPr>
          <p:cNvPicPr>
            <a:picLocks noChangeAspect="1"/>
          </p:cNvPicPr>
          <p:nvPr/>
        </p:nvPicPr>
        <p:blipFill>
          <a:blip r:embed="rId4"/>
          <a:srcRect t="12670"/>
          <a:stretch>
            <a:fillRect/>
          </a:stretch>
        </p:blipFill>
        <p:spPr>
          <a:xfrm>
            <a:off x="5974051" y="1049444"/>
            <a:ext cx="5791279" cy="5208937"/>
          </a:xfrm>
          <a:prstGeom prst="rect">
            <a:avLst/>
          </a:prstGeom>
          <a:ln>
            <a:noFill/>
          </a:ln>
          <a:effectLst>
            <a:outerShdw blurRad="292100" dist="139700" dir="2700000" algn="tl" rotWithShape="0">
              <a:srgbClr val="333333">
                <a:alpha val="65000"/>
              </a:srgbClr>
            </a:outerShdw>
          </a:effectLst>
        </p:spPr>
      </p:pic>
      <p:sp>
        <p:nvSpPr>
          <p:cNvPr id="13" name="TextBox 12">
            <a:extLst>
              <a:ext uri="{FF2B5EF4-FFF2-40B4-BE49-F238E27FC236}">
                <a16:creationId xmlns:a16="http://schemas.microsoft.com/office/drawing/2014/main" id="{2DB78041-F27D-0523-7BBD-22D227C44D64}"/>
              </a:ext>
            </a:extLst>
          </p:cNvPr>
          <p:cNvSpPr txBox="1"/>
          <p:nvPr/>
        </p:nvSpPr>
        <p:spPr bwMode="gray">
          <a:xfrm>
            <a:off x="479423" y="1146289"/>
            <a:ext cx="5357959" cy="923330"/>
          </a:xfrm>
          <a:prstGeom prst="rect">
            <a:avLst/>
          </a:prstGeom>
          <a:noFill/>
        </p:spPr>
        <p:txBody>
          <a:bodyPr wrap="square">
            <a:spAutoFit/>
          </a:bodyPr>
          <a:lstStyle/>
          <a:p>
            <a:r>
              <a:rPr lang="en-US" altLang="zh-CN" sz="1800" i="1">
                <a:solidFill>
                  <a:srgbClr val="002060"/>
                </a:solidFill>
                <a:cs typeface="Calibri" panose="020F0502020204030204" pitchFamily="34" charset="0"/>
              </a:rPr>
              <a:t>KEEs from China, Japan</a:t>
            </a:r>
            <a:r>
              <a:rPr lang="en-US" altLang="zh-CN" i="1">
                <a:solidFill>
                  <a:srgbClr val="002060"/>
                </a:solidFill>
                <a:cs typeface="Calibri" panose="020F0502020204030204" pitchFamily="34" charset="0"/>
              </a:rPr>
              <a:t> and </a:t>
            </a:r>
            <a:r>
              <a:rPr lang="en-US" altLang="zh-CN" sz="1800" i="1">
                <a:solidFill>
                  <a:srgbClr val="002060"/>
                </a:solidFill>
                <a:cs typeface="Calibri" panose="020F0502020204030204" pitchFamily="34" charset="0"/>
              </a:rPr>
              <a:t>Singapore were invited. Two Chinese KEEs, Prof. </a:t>
            </a:r>
            <a:r>
              <a:rPr lang="en-US" altLang="zh-CN" sz="1800" i="1" err="1">
                <a:solidFill>
                  <a:srgbClr val="002060"/>
                </a:solidFill>
                <a:cs typeface="Calibri" panose="020F0502020204030204" pitchFamily="34" charset="0"/>
              </a:rPr>
              <a:t>Youxin</a:t>
            </a:r>
            <a:r>
              <a:rPr lang="en-US" altLang="zh-CN" sz="1800" i="1">
                <a:solidFill>
                  <a:srgbClr val="002060"/>
                </a:solidFill>
                <a:cs typeface="Calibri" panose="020F0502020204030204" pitchFamily="34" charset="0"/>
              </a:rPr>
              <a:t> Chen has accepted the invitation. </a:t>
            </a:r>
            <a:r>
              <a:rPr lang="en-US" altLang="zh-CN" i="1">
                <a:solidFill>
                  <a:srgbClr val="002060"/>
                </a:solidFill>
                <a:cs typeface="Calibri" panose="020F0502020204030204" pitchFamily="34" charset="0"/>
              </a:rPr>
              <a:t>Prof. Xiaodong Sun TBD. </a:t>
            </a:r>
            <a:endParaRPr lang="zh-CN" altLang="en-US"/>
          </a:p>
        </p:txBody>
      </p:sp>
    </p:spTree>
    <p:extLst>
      <p:ext uri="{BB962C8B-B14F-4D97-AF65-F5344CB8AC3E}">
        <p14:creationId xmlns:p14="http://schemas.microsoft.com/office/powerpoint/2010/main" val="35892412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89A64-E595-E363-93A3-7ACFD0865B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4FA70B-DF28-00E4-DBF1-826D8A3BDD59}"/>
              </a:ext>
            </a:extLst>
          </p:cNvPr>
          <p:cNvSpPr>
            <a:spLocks noGrp="1"/>
          </p:cNvSpPr>
          <p:nvPr>
            <p:ph type="title"/>
          </p:nvPr>
        </p:nvSpPr>
        <p:spPr/>
        <p:txBody>
          <a:bodyPr/>
          <a:lstStyle/>
          <a:p>
            <a:r>
              <a:rPr lang="it-IT" altLang="zh-CN"/>
              <a:t>1484-0020 COMPASS BI 771716 / Anti-C3 AB, GA, China Recruitment</a:t>
            </a:r>
            <a:endParaRPr lang="zh-CN" altLang="en-US"/>
          </a:p>
        </p:txBody>
      </p:sp>
      <p:sp>
        <p:nvSpPr>
          <p:cNvPr id="6" name="Slide Number Placeholder 5">
            <a:extLst>
              <a:ext uri="{FF2B5EF4-FFF2-40B4-BE49-F238E27FC236}">
                <a16:creationId xmlns:a16="http://schemas.microsoft.com/office/drawing/2014/main" id="{8D81F61B-593C-1531-3BFC-EDC4AF4ECD6F}"/>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0" name="TextBox 9">
            <a:extLst>
              <a:ext uri="{FF2B5EF4-FFF2-40B4-BE49-F238E27FC236}">
                <a16:creationId xmlns:a16="http://schemas.microsoft.com/office/drawing/2014/main" id="{E38E8A8B-106E-5368-F879-D99A678BEBFD}"/>
              </a:ext>
            </a:extLst>
          </p:cNvPr>
          <p:cNvSpPr txBox="1"/>
          <p:nvPr/>
        </p:nvSpPr>
        <p:spPr bwMode="gray">
          <a:xfrm>
            <a:off x="4731488" y="1197000"/>
            <a:ext cx="1839433" cy="31592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prstClr val="black"/>
                </a:solidFill>
                <a:effectLst/>
                <a:uLnTx/>
                <a:uFillTx/>
                <a:latin typeface="Boehringer Forward Text"/>
                <a:ea typeface="+mn-ea"/>
                <a:cs typeface="+mn-cs"/>
              </a:rPr>
              <a:t>Recruitment Curve</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Footer Placeholder 2">
            <a:extLst>
              <a:ext uri="{FF2B5EF4-FFF2-40B4-BE49-F238E27FC236}">
                <a16:creationId xmlns:a16="http://schemas.microsoft.com/office/drawing/2014/main" id="{835526D2-51A6-9B50-340F-BD908F3AD5F6}"/>
              </a:ext>
            </a:extLst>
          </p:cNvPr>
          <p:cNvSpPr>
            <a:spLocks noGrp="1"/>
          </p:cNvSpPr>
          <p:nvPr>
            <p:ph type="ftr" sz="quarter" idx="19"/>
          </p:nvPr>
        </p:nvSpPr>
        <p:spPr bwMode="gray">
          <a:xfrm>
            <a:off x="6312024" y="6246836"/>
            <a:ext cx="5040560" cy="288000"/>
          </a:xfrm>
          <a:prstGeom prst="rect">
            <a:avLst/>
          </a:prstGeom>
        </p:spPr>
        <p:txBody>
          <a:bodyPr vert="horz" lIns="0" tIns="0" rIns="0" bIns="0" rtlCol="0" anchor="b">
            <a:noAutofit/>
          </a:bodyPr>
          <a:lstStyle>
            <a:defPPr>
              <a:defRPr lang="zh-CN"/>
            </a:defPPr>
            <a:lvl1pPr marL="0" indent="0" algn="r" defTabSz="914400" rtl="0" eaLnBrk="1" latinLnBrk="0" hangingPunct="1">
              <a:spcAft>
                <a:spcPts val="300"/>
              </a:spcAft>
              <a:defRPr sz="800" kern="1200">
                <a:solidFill>
                  <a:schemeClr val="bg2"/>
                </a:solidFill>
                <a:latin typeface="+mn-lt"/>
                <a:ea typeface="+mn-ea"/>
                <a:cs typeface="+mn-cs"/>
              </a:defRPr>
            </a:lvl1pPr>
            <a:lvl2pPr marL="0" indent="0" algn="l" defTabSz="914400" rtl="0" eaLnBrk="1" latinLnBrk="0" hangingPunct="1">
              <a:defRPr sz="800" kern="1200">
                <a:solidFill>
                  <a:schemeClr val="tx1"/>
                </a:solidFill>
                <a:latin typeface="+mn-lt"/>
                <a:ea typeface="+mn-ea"/>
                <a:cs typeface="+mn-cs"/>
              </a:defRPr>
            </a:lvl2pPr>
            <a:lvl3pPr marL="0" indent="0" algn="l" defTabSz="914400" rtl="0" eaLnBrk="1" latinLnBrk="0" hangingPunct="1">
              <a:defRPr sz="800" kern="1200">
                <a:solidFill>
                  <a:schemeClr val="tx1"/>
                </a:solidFill>
                <a:latin typeface="+mn-lt"/>
                <a:ea typeface="+mn-ea"/>
                <a:cs typeface="+mn-cs"/>
              </a:defRPr>
            </a:lvl3pPr>
            <a:lvl4pPr marL="0" indent="0" algn="l" defTabSz="914400" rtl="0" eaLnBrk="1" latinLnBrk="0" hangingPunct="1">
              <a:defRPr sz="800" kern="1200">
                <a:solidFill>
                  <a:schemeClr val="tx1"/>
                </a:solidFill>
                <a:latin typeface="+mn-lt"/>
                <a:ea typeface="+mn-ea"/>
                <a:cs typeface="+mn-cs"/>
              </a:defRPr>
            </a:lvl4pPr>
            <a:lvl5pPr marL="0" indent="0" algn="l" defTabSz="914400" rtl="0" eaLnBrk="1" latinLnBrk="0" hangingPunct="1">
              <a:defRPr sz="800" kern="1200">
                <a:solidFill>
                  <a:schemeClr val="tx1"/>
                </a:solidFill>
                <a:latin typeface="+mn-lt"/>
                <a:ea typeface="+mn-ea"/>
                <a:cs typeface="+mn-cs"/>
              </a:defRPr>
            </a:lvl5pPr>
            <a:lvl6pPr marL="0" indent="0" algn="l" defTabSz="914400" rtl="0" eaLnBrk="1" latinLnBrk="0" hangingPunct="1">
              <a:defRPr sz="800" kern="1200">
                <a:solidFill>
                  <a:schemeClr val="tx1"/>
                </a:solidFill>
                <a:latin typeface="+mn-lt"/>
                <a:ea typeface="+mn-ea"/>
                <a:cs typeface="+mn-cs"/>
              </a:defRPr>
            </a:lvl6pPr>
            <a:lvl7pPr marL="0" indent="0" algn="l" defTabSz="914400" rtl="0" eaLnBrk="1" latinLnBrk="0" hangingPunct="1">
              <a:defRPr sz="800" kern="1200">
                <a:solidFill>
                  <a:schemeClr val="tx1"/>
                </a:solidFill>
                <a:latin typeface="+mn-lt"/>
                <a:ea typeface="+mn-ea"/>
                <a:cs typeface="+mn-cs"/>
              </a:defRPr>
            </a:lvl7pPr>
            <a:lvl8pPr marL="0" indent="0" algn="l" defTabSz="914400" rtl="0" eaLnBrk="1" latinLnBrk="0" hangingPunct="1">
              <a:defRPr sz="800" kern="1200">
                <a:solidFill>
                  <a:schemeClr val="tx1"/>
                </a:solidFill>
                <a:latin typeface="+mn-lt"/>
                <a:ea typeface="+mn-ea"/>
                <a:cs typeface="+mn-cs"/>
              </a:defRPr>
            </a:lvl8pPr>
            <a:lvl9pPr marL="0" indent="0" algn="l" defTabSz="914400" rtl="0" eaLnBrk="1" latinLnBrk="0" hangingPunct="1">
              <a:defRPr sz="800" kern="1200">
                <a:solidFill>
                  <a:schemeClr val="tx1"/>
                </a:solidFill>
                <a:latin typeface="+mn-lt"/>
                <a:ea typeface="+mn-ea"/>
                <a:cs typeface="+mn-cs"/>
              </a:defRPr>
            </a:lvl9pPr>
          </a:lstStyle>
          <a:p>
            <a:r>
              <a:rPr lang="en-US"/>
              <a:t>Presentation title    |    ONLY FOR INTERNAL USE</a:t>
            </a:r>
          </a:p>
        </p:txBody>
      </p:sp>
      <p:pic>
        <p:nvPicPr>
          <p:cNvPr id="5" name="图片 4" descr="图表&#10;&#10;AI 生成的内容可能不正确。">
            <a:extLst>
              <a:ext uri="{FF2B5EF4-FFF2-40B4-BE49-F238E27FC236}">
                <a16:creationId xmlns:a16="http://schemas.microsoft.com/office/drawing/2014/main" id="{60D6598F-5290-9BEA-8338-632B17B8197D}"/>
              </a:ext>
            </a:extLst>
          </p:cNvPr>
          <p:cNvPicPr>
            <a:picLocks noChangeAspect="1"/>
          </p:cNvPicPr>
          <p:nvPr/>
        </p:nvPicPr>
        <p:blipFill>
          <a:blip r:embed="rId2"/>
          <a:stretch>
            <a:fillRect/>
          </a:stretch>
        </p:blipFill>
        <p:spPr>
          <a:xfrm>
            <a:off x="835518" y="1511389"/>
            <a:ext cx="10198993" cy="4586488"/>
          </a:xfrm>
          <a:prstGeom prst="rect">
            <a:avLst/>
          </a:prstGeom>
        </p:spPr>
      </p:pic>
      <p:sp>
        <p:nvSpPr>
          <p:cNvPr id="7" name="Rectangle 5">
            <a:extLst>
              <a:ext uri="{FF2B5EF4-FFF2-40B4-BE49-F238E27FC236}">
                <a16:creationId xmlns:a16="http://schemas.microsoft.com/office/drawing/2014/main" id="{244B8DC7-F9CA-710D-9421-EA4ED4FD440C}"/>
              </a:ext>
            </a:extLst>
          </p:cNvPr>
          <p:cNvSpPr/>
          <p:nvPr/>
        </p:nvSpPr>
        <p:spPr>
          <a:xfrm>
            <a:off x="1371142" y="1301087"/>
            <a:ext cx="2090584" cy="812218"/>
          </a:xfrm>
          <a:prstGeom prst="rect">
            <a:avLst/>
          </a:prstGeom>
          <a:solidFill>
            <a:schemeClr val="accent4">
              <a:lumMod val="20000"/>
              <a:lumOff val="80000"/>
            </a:schemeClr>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38619" tIns="38619" rIns="38619" bIns="38619" rtlCol="0" anchor="ctr"/>
          <a:lstStyle>
            <a:defPPr>
              <a:defRPr lang="zh-CN"/>
            </a:defPPr>
            <a:lvl1pPr marL="0" indent="0" algn="l" defTabSz="914400" rtl="0" eaLnBrk="1" latinLnBrk="0" hangingPunct="1">
              <a:defRPr sz="1100" kern="1200">
                <a:solidFill>
                  <a:schemeClr val="lt1"/>
                </a:solidFill>
                <a:latin typeface="+mn-lt"/>
                <a:ea typeface="+mn-ea"/>
                <a:cs typeface="+mn-cs"/>
              </a:defRPr>
            </a:lvl1pPr>
            <a:lvl2pPr marL="457200" indent="0" algn="l" defTabSz="914400" rtl="0" eaLnBrk="1" latinLnBrk="0" hangingPunct="1">
              <a:defRPr sz="1100" kern="1200">
                <a:solidFill>
                  <a:schemeClr val="lt1"/>
                </a:solidFill>
                <a:latin typeface="+mn-lt"/>
                <a:ea typeface="+mn-ea"/>
                <a:cs typeface="+mn-cs"/>
              </a:defRPr>
            </a:lvl2pPr>
            <a:lvl3pPr marL="914400" indent="0" algn="l" defTabSz="914400" rtl="0" eaLnBrk="1" latinLnBrk="0" hangingPunct="1">
              <a:defRPr sz="1100" kern="1200">
                <a:solidFill>
                  <a:schemeClr val="lt1"/>
                </a:solidFill>
                <a:latin typeface="+mn-lt"/>
                <a:ea typeface="+mn-ea"/>
                <a:cs typeface="+mn-cs"/>
              </a:defRPr>
            </a:lvl3pPr>
            <a:lvl4pPr marL="1371600" indent="0" algn="l" defTabSz="914400" rtl="0" eaLnBrk="1" latinLnBrk="0" hangingPunct="1">
              <a:defRPr sz="1100" kern="1200">
                <a:solidFill>
                  <a:schemeClr val="lt1"/>
                </a:solidFill>
                <a:latin typeface="+mn-lt"/>
                <a:ea typeface="+mn-ea"/>
                <a:cs typeface="+mn-cs"/>
              </a:defRPr>
            </a:lvl4pPr>
            <a:lvl5pPr marL="1828800" indent="0" algn="l" defTabSz="914400" rtl="0" eaLnBrk="1" latinLnBrk="0" hangingPunct="1">
              <a:defRPr sz="1100" kern="1200">
                <a:solidFill>
                  <a:schemeClr val="lt1"/>
                </a:solidFill>
                <a:latin typeface="+mn-lt"/>
                <a:ea typeface="+mn-ea"/>
                <a:cs typeface="+mn-cs"/>
              </a:defRPr>
            </a:lvl5pPr>
            <a:lvl6pPr marL="2286000" indent="0" algn="l" defTabSz="914400" rtl="0" eaLnBrk="1" latinLnBrk="0" hangingPunct="1">
              <a:defRPr sz="1100" kern="1200">
                <a:solidFill>
                  <a:schemeClr val="lt1"/>
                </a:solidFill>
                <a:latin typeface="+mn-lt"/>
                <a:ea typeface="+mn-ea"/>
                <a:cs typeface="+mn-cs"/>
              </a:defRPr>
            </a:lvl6pPr>
            <a:lvl7pPr marL="2743200" indent="0" algn="l" defTabSz="914400" rtl="0" eaLnBrk="1" latinLnBrk="0" hangingPunct="1">
              <a:defRPr sz="1100" kern="1200">
                <a:solidFill>
                  <a:schemeClr val="lt1"/>
                </a:solidFill>
                <a:latin typeface="+mn-lt"/>
                <a:ea typeface="+mn-ea"/>
                <a:cs typeface="+mn-cs"/>
              </a:defRPr>
            </a:lvl7pPr>
            <a:lvl8pPr marL="3200400" indent="0" algn="l" defTabSz="914400" rtl="0" eaLnBrk="1" latinLnBrk="0" hangingPunct="1">
              <a:defRPr sz="1100" kern="1200">
                <a:solidFill>
                  <a:schemeClr val="lt1"/>
                </a:solidFill>
                <a:latin typeface="+mn-lt"/>
                <a:ea typeface="+mn-ea"/>
                <a:cs typeface="+mn-cs"/>
              </a:defRPr>
            </a:lvl8pPr>
            <a:lvl9pPr marL="3657600" indent="0" algn="l" defTabSz="914400" rtl="0" eaLnBrk="1" latinLnBrk="0" hangingPunct="1">
              <a:defRPr sz="1100" kern="1200">
                <a:solidFill>
                  <a:schemeClr val="lt1"/>
                </a:solidFill>
                <a:latin typeface="+mn-lt"/>
                <a:ea typeface="+mn-ea"/>
                <a:cs typeface="+mn-cs"/>
              </a:defRPr>
            </a:lvl9pPr>
          </a:lstStyle>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Cut-off date: </a:t>
            </a:r>
            <a:r>
              <a:rPr kumimoji="0" lang="en-US" sz="1000" b="0" i="1" u="none" strike="noStrike" kern="1200" cap="none" spc="0" normalizeH="0" baseline="0" noProof="0">
                <a:ln>
                  <a:noFill/>
                </a:ln>
                <a:solidFill>
                  <a:srgbClr val="002060"/>
                </a:solidFill>
                <a:effectLst/>
                <a:uLnTx/>
                <a:uFillTx/>
                <a:latin typeface="Boehringer Forward Text"/>
                <a:ea typeface="+mn-ea"/>
                <a:cs typeface="+mn-cs"/>
              </a:rPr>
              <a:t>2025.11.30</a:t>
            </a: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Total Enrollment:   </a:t>
            </a:r>
          </a:p>
          <a:p>
            <a:pPr marL="171450" marR="0" lvl="0" indent="-171450" algn="l" defTabSz="4904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Prospective group: </a:t>
            </a:r>
            <a:r>
              <a:rPr lang="en-US" sz="1000" b="1">
                <a:solidFill>
                  <a:srgbClr val="002060"/>
                </a:solidFill>
                <a:latin typeface="Boehringer Forward Text"/>
              </a:rPr>
              <a:t>7</a:t>
            </a: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/70</a:t>
            </a:r>
          </a:p>
          <a:p>
            <a:pPr marL="171450" marR="0" lvl="0" indent="-171450" algn="l" defTabSz="49045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solidFill>
                <a:effectLst/>
                <a:uLnTx/>
                <a:uFillTx/>
                <a:latin typeface="Boehringer Forward Text"/>
                <a:ea typeface="+mn-ea"/>
                <a:cs typeface="+mn-cs"/>
              </a:rPr>
              <a:t>Cross-sectional group: </a:t>
            </a:r>
            <a:r>
              <a:rPr kumimoji="0" lang="en-US" altLang="zh-CN" sz="1000" b="1" i="0" u="none" strike="noStrike" kern="1200" cap="none" spc="0" normalizeH="0" baseline="0" noProof="0">
                <a:ln>
                  <a:noFill/>
                </a:ln>
                <a:solidFill>
                  <a:srgbClr val="002060"/>
                </a:solidFill>
                <a:effectLst/>
                <a:uLnTx/>
                <a:uFillTx/>
                <a:latin typeface="Boehringer Forward Text"/>
                <a:ea typeface="+mn-ea"/>
                <a:cs typeface="+mn-cs"/>
              </a:rPr>
              <a:t>67</a:t>
            </a:r>
            <a:r>
              <a:rPr kumimoji="0" lang="en-US" altLang="zh-CN" sz="1000" b="0" i="0" u="none" strike="noStrike" kern="1200" cap="none" spc="0" normalizeH="0" baseline="0" noProof="0">
                <a:ln>
                  <a:noFill/>
                </a:ln>
                <a:solidFill>
                  <a:srgbClr val="002060"/>
                </a:solidFill>
                <a:effectLst/>
                <a:uLnTx/>
                <a:uFillTx/>
                <a:latin typeface="Boehringer Forward Text"/>
                <a:ea typeface="+mn-ea"/>
                <a:cs typeface="+mn-cs"/>
              </a:rPr>
              <a:t>/120</a:t>
            </a:r>
          </a:p>
          <a:p>
            <a:pPr marL="0" marR="0" lvl="0" indent="0" algn="l" defTabSz="49045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Boehringer Forward Text"/>
                <a:ea typeface="+mn-ea"/>
                <a:cs typeface="+mn-cs"/>
              </a:rPr>
              <a:t>Site initiation: </a:t>
            </a:r>
            <a:r>
              <a:rPr lang="en-US" sz="1000" b="1">
                <a:solidFill>
                  <a:srgbClr val="002060"/>
                </a:solidFill>
                <a:latin typeface="Boehringer Forward Text"/>
              </a:rPr>
              <a:t>7</a:t>
            </a:r>
            <a:r>
              <a:rPr kumimoji="0" lang="en-US" sz="1000" b="0" i="0" u="none" strike="noStrike" kern="1200" cap="none" spc="0" normalizeH="0" baseline="0" noProof="0">
                <a:ln>
                  <a:noFill/>
                </a:ln>
                <a:solidFill>
                  <a:srgbClr val="002060"/>
                </a:solidFill>
                <a:effectLst/>
                <a:uLnTx/>
                <a:uFillTx/>
                <a:latin typeface="Boehringer Forward Text"/>
                <a:ea typeface="+mn-ea"/>
                <a:cs typeface="+mn-cs"/>
              </a:rPr>
              <a:t>/16</a:t>
            </a:r>
          </a:p>
        </p:txBody>
      </p:sp>
      <p:sp>
        <p:nvSpPr>
          <p:cNvPr id="8" name="文本框 160">
            <a:extLst>
              <a:ext uri="{FF2B5EF4-FFF2-40B4-BE49-F238E27FC236}">
                <a16:creationId xmlns:a16="http://schemas.microsoft.com/office/drawing/2014/main" id="{6A4112AC-4F78-C74A-7262-C2ECBE155952}"/>
              </a:ext>
            </a:extLst>
          </p:cNvPr>
          <p:cNvSpPr txBox="1"/>
          <p:nvPr/>
        </p:nvSpPr>
        <p:spPr>
          <a:xfrm>
            <a:off x="1295428" y="2179476"/>
            <a:ext cx="7802851" cy="910888"/>
          </a:xfrm>
          <a:prstGeom prst="roundRect">
            <a:avLst/>
          </a:prstGeom>
          <a:solidFill>
            <a:schemeClr val="bg1"/>
          </a:solidFill>
          <a:ln>
            <a:solidFill>
              <a:srgbClr val="076D7E"/>
            </a:solidFill>
            <a:prstDash val="lgDash"/>
          </a:ln>
        </p:spPr>
        <p:txBody>
          <a:bodyPr wrap="square" rtlCol="0" anchor="ctr">
            <a:spAutoFit/>
          </a:bodyPr>
          <a:lstStyle/>
          <a:p>
            <a:pPr defTabSz="1219170">
              <a:spcAft>
                <a:spcPts val="267"/>
              </a:spcAft>
              <a:defRPr/>
            </a:pPr>
            <a:r>
              <a:rPr lang="en-US" altLang="zh-CN" sz="1000" i="1">
                <a:solidFill>
                  <a:srgbClr val="002060"/>
                </a:solidFill>
                <a:cs typeface="Calibri" panose="020F0502020204030204" pitchFamily="34" charset="0"/>
              </a:rPr>
              <a:t>Follow up actions update after visiting PI to discuss study progress (10 Nov 2025) :</a:t>
            </a:r>
          </a:p>
          <a:p>
            <a:pPr marL="274320" lvl="1" indent="-95998" defTabSz="1219170">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Sponsor –PI and his team will re-evaluate recruitment timeline by the</a:t>
            </a:r>
            <a:r>
              <a:rPr lang="zh-CN" altLang="en-US" sz="1000" i="1">
                <a:solidFill>
                  <a:srgbClr val="002060"/>
                </a:solidFill>
                <a:cs typeface="Calibri" panose="020F0502020204030204" pitchFamily="34" charset="0"/>
              </a:rPr>
              <a:t> </a:t>
            </a:r>
            <a:r>
              <a:rPr lang="en-US" altLang="zh-CN" sz="1000" i="1">
                <a:solidFill>
                  <a:srgbClr val="002060"/>
                </a:solidFill>
                <a:cs typeface="Calibri" panose="020F0502020204030204" pitchFamily="34" charset="0"/>
              </a:rPr>
              <a:t>end</a:t>
            </a:r>
            <a:r>
              <a:rPr lang="zh-CN" altLang="en-US" sz="1000" i="1">
                <a:solidFill>
                  <a:srgbClr val="002060"/>
                </a:solidFill>
                <a:cs typeface="Calibri" panose="020F0502020204030204" pitchFamily="34" charset="0"/>
              </a:rPr>
              <a:t> </a:t>
            </a:r>
            <a:r>
              <a:rPr lang="en-US" altLang="zh-CN" sz="1000" i="1">
                <a:solidFill>
                  <a:srgbClr val="002060"/>
                </a:solidFill>
                <a:cs typeface="Calibri" panose="020F0502020204030204" pitchFamily="34" charset="0"/>
              </a:rPr>
              <a:t>of Dec 2025.</a:t>
            </a:r>
          </a:p>
          <a:p>
            <a:pPr marL="274320" lvl="1" indent="-95998" defTabSz="1219170">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For study imaging cases discussion meeting, Sub-I will contact BI when they determined the meeting date</a:t>
            </a:r>
          </a:p>
          <a:p>
            <a:pPr marL="274320" lvl="1" indent="-95998" defTabSz="1219170">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We will continue to follow up with PI on interim data analysis (based on current collected data) and result publication plan.</a:t>
            </a:r>
          </a:p>
        </p:txBody>
      </p:sp>
    </p:spTree>
    <p:extLst>
      <p:ext uri="{BB962C8B-B14F-4D97-AF65-F5344CB8AC3E}">
        <p14:creationId xmlns:p14="http://schemas.microsoft.com/office/powerpoint/2010/main" val="27989799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BE7079-A0B0-48C3-BD10-83602507C888}"/>
              </a:ext>
            </a:extLst>
          </p:cNvPr>
          <p:cNvSpPr>
            <a:spLocks noGrp="1"/>
          </p:cNvSpPr>
          <p:nvPr>
            <p:ph type="title"/>
          </p:nvPr>
        </p:nvSpPr>
        <p:spPr>
          <a:xfrm>
            <a:off x="479424" y="477000"/>
            <a:ext cx="11233151" cy="431720"/>
          </a:xfrm>
        </p:spPr>
        <p:txBody>
          <a:bodyPr/>
          <a:lstStyle/>
          <a:p>
            <a:r>
              <a:rPr lang="en-US" altLang="zh-CN"/>
              <a:t>S</a:t>
            </a:r>
            <a:r>
              <a:rPr lang="en-US"/>
              <a:t>COMPASS (</a:t>
            </a:r>
            <a:r>
              <a:rPr lang="en-US" altLang="zh-CN"/>
              <a:t>1484-0020</a:t>
            </a:r>
            <a:r>
              <a:rPr lang="en-US"/>
              <a:t>) GA </a:t>
            </a:r>
            <a:r>
              <a:rPr lang="en-US" altLang="zh-CN"/>
              <a:t>Study Progress Overview </a:t>
            </a:r>
            <a:endParaRPr lang="zh-CN" altLang="en-US"/>
          </a:p>
        </p:txBody>
      </p:sp>
      <p:sp>
        <p:nvSpPr>
          <p:cNvPr id="3" name="文本占位符 2">
            <a:extLst>
              <a:ext uri="{FF2B5EF4-FFF2-40B4-BE49-F238E27FC236}">
                <a16:creationId xmlns:a16="http://schemas.microsoft.com/office/drawing/2014/main" id="{C8CAF283-62C8-6120-3A62-24A27A804B9D}"/>
              </a:ext>
            </a:extLst>
          </p:cNvPr>
          <p:cNvSpPr>
            <a:spLocks noGrp="1"/>
          </p:cNvSpPr>
          <p:nvPr>
            <p:ph type="body" sz="quarter" idx="13"/>
          </p:nvPr>
        </p:nvSpPr>
        <p:spPr/>
        <p:txBody>
          <a:bodyPr/>
          <a:lstStyle/>
          <a:p>
            <a:endParaRPr lang="zh-CN" altLang="en-US"/>
          </a:p>
        </p:txBody>
      </p:sp>
      <p:sp>
        <p:nvSpPr>
          <p:cNvPr id="4" name="灯片编号占位符 3"/>
          <p:cNvSpPr>
            <a:spLocks noGrp="1"/>
          </p:cNvSpPr>
          <p:nvPr>
            <p:ph type="sldNum" sz="quarter" idx="11"/>
          </p:nvPr>
        </p:nvSpPr>
        <p:spPr/>
        <p:txBody>
          <a:bodyPr/>
          <a:lstStyle/>
          <a:p>
            <a:pPr marL="0" marR="0" lvl="0" indent="0" algn="r" defTabSz="914309"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333" b="0" i="0" u="none" strike="noStrike" kern="1200" cap="none" spc="0" normalizeH="0" baseline="0" noProof="0">
                <a:ln>
                  <a:noFill/>
                </a:ln>
                <a:solidFill>
                  <a:srgbClr val="FFFFFF">
                    <a:lumMod val="50000"/>
                  </a:srgbClr>
                </a:solidFill>
                <a:effectLst/>
                <a:uLnTx/>
                <a:uFillTx/>
                <a:latin typeface="BISansOptiCond"/>
                <a:ea typeface="+mn-ea"/>
                <a:cs typeface="+mn-cs"/>
              </a:rPr>
              <a:pPr marL="0" marR="0" lvl="0" indent="0" algn="r" defTabSz="914309" rtl="0" eaLnBrk="1" fontAlgn="auto" latinLnBrk="0" hangingPunct="1">
                <a:lnSpc>
                  <a:spcPct val="100000"/>
                </a:lnSpc>
                <a:spcBef>
                  <a:spcPts val="0"/>
                </a:spcBef>
                <a:spcAft>
                  <a:spcPts val="0"/>
                </a:spcAft>
                <a:buClrTx/>
                <a:buSzTx/>
                <a:buFontTx/>
                <a:buNone/>
                <a:tabLst/>
                <a:defRPr/>
              </a:pPr>
              <a:t>14</a:t>
            </a:fld>
            <a:endParaRPr kumimoji="0" lang="en-GB" sz="1333" b="0" i="0" u="none" strike="noStrike" kern="1200" cap="none" spc="0" normalizeH="0" baseline="0" noProof="0">
              <a:ln>
                <a:noFill/>
              </a:ln>
              <a:solidFill>
                <a:srgbClr val="FFFFFF">
                  <a:lumMod val="50000"/>
                </a:srgbClr>
              </a:solidFill>
              <a:effectLst/>
              <a:uLnTx/>
              <a:uFillTx/>
              <a:latin typeface="BISansOptiCond"/>
              <a:ea typeface="+mn-ea"/>
              <a:cs typeface="+mn-cs"/>
            </a:endParaRPr>
          </a:p>
        </p:txBody>
      </p:sp>
      <p:graphicFrame>
        <p:nvGraphicFramePr>
          <p:cNvPr id="6" name="表格 5">
            <a:extLst>
              <a:ext uri="{FF2B5EF4-FFF2-40B4-BE49-F238E27FC236}">
                <a16:creationId xmlns:a16="http://schemas.microsoft.com/office/drawing/2014/main" id="{166F9F0F-6E3C-4D77-AA2D-00C247CDF4CE}"/>
              </a:ext>
            </a:extLst>
          </p:cNvPr>
          <p:cNvGraphicFramePr>
            <a:graphicFrameLocks noGrp="1"/>
          </p:cNvGraphicFramePr>
          <p:nvPr/>
        </p:nvGraphicFramePr>
        <p:xfrm>
          <a:off x="290391" y="1318953"/>
          <a:ext cx="11679002" cy="2604321"/>
        </p:xfrm>
        <a:graphic>
          <a:graphicData uri="http://schemas.openxmlformats.org/drawingml/2006/table">
            <a:tbl>
              <a:tblPr firstRow="1" bandRow="1">
                <a:tableStyleId>{21E4AEA4-8DFA-4A89-87EB-49C32662AFE0}</a:tableStyleId>
              </a:tblPr>
              <a:tblGrid>
                <a:gridCol w="955473">
                  <a:extLst>
                    <a:ext uri="{9D8B030D-6E8A-4147-A177-3AD203B41FA5}">
                      <a16:colId xmlns:a16="http://schemas.microsoft.com/office/drawing/2014/main" val="899480204"/>
                    </a:ext>
                  </a:extLst>
                </a:gridCol>
                <a:gridCol w="1832710">
                  <a:extLst>
                    <a:ext uri="{9D8B030D-6E8A-4147-A177-3AD203B41FA5}">
                      <a16:colId xmlns:a16="http://schemas.microsoft.com/office/drawing/2014/main" val="241393685"/>
                    </a:ext>
                  </a:extLst>
                </a:gridCol>
                <a:gridCol w="1199512">
                  <a:extLst>
                    <a:ext uri="{9D8B030D-6E8A-4147-A177-3AD203B41FA5}">
                      <a16:colId xmlns:a16="http://schemas.microsoft.com/office/drawing/2014/main" val="3682590430"/>
                    </a:ext>
                  </a:extLst>
                </a:gridCol>
                <a:gridCol w="1290507">
                  <a:extLst>
                    <a:ext uri="{9D8B030D-6E8A-4147-A177-3AD203B41FA5}">
                      <a16:colId xmlns:a16="http://schemas.microsoft.com/office/drawing/2014/main" val="4176390351"/>
                    </a:ext>
                  </a:extLst>
                </a:gridCol>
                <a:gridCol w="1176336">
                  <a:extLst>
                    <a:ext uri="{9D8B030D-6E8A-4147-A177-3AD203B41FA5}">
                      <a16:colId xmlns:a16="http://schemas.microsoft.com/office/drawing/2014/main" val="2116402459"/>
                    </a:ext>
                  </a:extLst>
                </a:gridCol>
                <a:gridCol w="1484671">
                  <a:extLst>
                    <a:ext uri="{9D8B030D-6E8A-4147-A177-3AD203B41FA5}">
                      <a16:colId xmlns:a16="http://schemas.microsoft.com/office/drawing/2014/main" val="291965189"/>
                    </a:ext>
                  </a:extLst>
                </a:gridCol>
                <a:gridCol w="3428869">
                  <a:extLst>
                    <a:ext uri="{9D8B030D-6E8A-4147-A177-3AD203B41FA5}">
                      <a16:colId xmlns:a16="http://schemas.microsoft.com/office/drawing/2014/main" val="1461099264"/>
                    </a:ext>
                  </a:extLst>
                </a:gridCol>
                <a:gridCol w="310924">
                  <a:extLst>
                    <a:ext uri="{9D8B030D-6E8A-4147-A177-3AD203B41FA5}">
                      <a16:colId xmlns:a16="http://schemas.microsoft.com/office/drawing/2014/main" val="1837298209"/>
                    </a:ext>
                  </a:extLst>
                </a:gridCol>
              </a:tblGrid>
              <a:tr h="592641">
                <a:tc>
                  <a:txBody>
                    <a:bodyPr/>
                    <a:lstStyle/>
                    <a:p>
                      <a:pPr marL="0" marR="0" indent="0" algn="ctr" rtl="0" eaLnBrk="1" fontAlgn="auto" latinLnBrk="0" hangingPunct="1">
                        <a:spcBef>
                          <a:spcPts val="0"/>
                        </a:spcBef>
                        <a:spcAft>
                          <a:spcPts val="0"/>
                        </a:spcAft>
                      </a:pPr>
                      <a:r>
                        <a:rPr lang="en-US" sz="1200" kern="1200">
                          <a:effectLst/>
                        </a:rPr>
                        <a:t>Substance/</a:t>
                      </a:r>
                      <a:endParaRPr lang="en-US" altLang="zh-CN" sz="1200">
                        <a:effectLst/>
                      </a:endParaRPr>
                    </a:p>
                    <a:p>
                      <a:pPr marL="0" marR="0" indent="0" algn="ctr" rtl="0" eaLnBrk="1" fontAlgn="auto" latinLnBrk="0" hangingPunct="1">
                        <a:spcBef>
                          <a:spcPts val="0"/>
                        </a:spcBef>
                        <a:spcAft>
                          <a:spcPts val="0"/>
                        </a:spcAft>
                      </a:pPr>
                      <a:r>
                        <a:rPr lang="en-US" sz="1200" kern="1200">
                          <a:effectLst/>
                        </a:rPr>
                        <a:t>MOA/</a:t>
                      </a:r>
                      <a:endParaRPr lang="en-US" altLang="zh-CN" sz="1200">
                        <a:effectLst/>
                      </a:endParaRPr>
                    </a:p>
                    <a:p>
                      <a:pPr marL="0" marR="0" indent="0" algn="ctr" rtl="0" eaLnBrk="1" fontAlgn="auto" latinLnBrk="0" hangingPunct="1">
                        <a:spcBef>
                          <a:spcPts val="0"/>
                        </a:spcBef>
                        <a:spcAft>
                          <a:spcPts val="0"/>
                        </a:spcAft>
                      </a:pPr>
                      <a:r>
                        <a:rPr lang="en-US" sz="1200" kern="1200">
                          <a:effectLst/>
                        </a:rPr>
                        <a:t>Formulation</a:t>
                      </a:r>
                      <a:endParaRPr lang="en-US" altLang="zh-CN" sz="1200">
                        <a:effectLst/>
                      </a:endParaRPr>
                    </a:p>
                  </a:txBody>
                  <a:tcPr marL="0" marR="0" marT="0" marB="0" anchor="ctr">
                    <a:solidFill>
                      <a:schemeClr val="bg2">
                        <a:lumMod val="75000"/>
                        <a:lumOff val="25000"/>
                      </a:schemeClr>
                    </a:solidFill>
                  </a:tcPr>
                </a:tc>
                <a:tc>
                  <a:txBody>
                    <a:bodyPr/>
                    <a:lstStyle/>
                    <a:p>
                      <a:pPr marL="0" marR="0" indent="0" algn="ctr" rtl="0" eaLnBrk="1" fontAlgn="auto" latinLnBrk="0" hangingPunct="1">
                        <a:spcBef>
                          <a:spcPts val="0"/>
                        </a:spcBef>
                        <a:spcAft>
                          <a:spcPts val="0"/>
                        </a:spcAft>
                      </a:pPr>
                      <a:r>
                        <a:rPr lang="en-US" sz="1500" kern="1200">
                          <a:effectLst/>
                        </a:rPr>
                        <a:t>Indication</a:t>
                      </a:r>
                      <a:endParaRPr lang="en-US" altLang="zh-CN" sz="1500">
                        <a:effectLst/>
                      </a:endParaRPr>
                    </a:p>
                  </a:txBody>
                  <a:tcPr marL="0" marR="0" marT="0" marB="0" anchor="ctr">
                    <a:solidFill>
                      <a:schemeClr val="bg2">
                        <a:lumMod val="75000"/>
                        <a:lumOff val="25000"/>
                      </a:schemeClr>
                    </a:solidFill>
                  </a:tcPr>
                </a:tc>
                <a:tc>
                  <a:txBody>
                    <a:bodyPr/>
                    <a:lstStyle/>
                    <a:p>
                      <a:pPr marL="0" marR="0" lvl="0" indent="0" algn="l">
                        <a:lnSpc>
                          <a:spcPct val="100000"/>
                        </a:lnSpc>
                        <a:spcBef>
                          <a:spcPts val="0"/>
                        </a:spcBef>
                        <a:spcAft>
                          <a:spcPts val="0"/>
                        </a:spcAft>
                        <a:buNone/>
                      </a:pPr>
                      <a:r>
                        <a:rPr lang="en-US" sz="1200" b="1" i="0" u="none" strike="noStrike" kern="1200" noProof="0">
                          <a:solidFill>
                            <a:schemeClr val="bg1"/>
                          </a:solidFill>
                          <a:effectLst/>
                          <a:latin typeface="Calibri"/>
                        </a:rPr>
                        <a:t>Study type</a:t>
                      </a:r>
                    </a:p>
                    <a:p>
                      <a:pPr marL="0" marR="0" lvl="0" indent="0" algn="l">
                        <a:lnSpc>
                          <a:spcPct val="100000"/>
                        </a:lnSpc>
                        <a:spcBef>
                          <a:spcPts val="0"/>
                        </a:spcBef>
                        <a:spcAft>
                          <a:spcPts val="0"/>
                        </a:spcAft>
                        <a:buNone/>
                      </a:pPr>
                      <a:r>
                        <a:rPr lang="en-US" sz="1200" b="1" i="0" u="none" strike="noStrike" kern="1200" noProof="0">
                          <a:solidFill>
                            <a:schemeClr val="bg1"/>
                          </a:solidFill>
                          <a:effectLst/>
                          <a:latin typeface="Calibri"/>
                        </a:rPr>
                        <a:t>(Study no.: FPI-LPO, CTR)</a:t>
                      </a:r>
                      <a:endParaRPr lang="en-US" sz="1200" b="1" i="0" u="none" strike="noStrike" noProof="0">
                        <a:solidFill>
                          <a:schemeClr val="bg1"/>
                        </a:solidFill>
                        <a:latin typeface="Calibri"/>
                      </a:endParaRPr>
                    </a:p>
                  </a:txBody>
                  <a:tcPr marL="0" marR="0" marT="0" marB="0" anchor="ctr">
                    <a:solidFill>
                      <a:schemeClr val="bg2">
                        <a:lumMod val="75000"/>
                        <a:lumOff val="25000"/>
                      </a:schemeClr>
                    </a:solidFill>
                  </a:tcPr>
                </a:tc>
                <a:tc>
                  <a:txBody>
                    <a:bodyPr/>
                    <a:lstStyle/>
                    <a:p>
                      <a:pPr marL="0" marR="0" lvl="0" indent="0" algn="ctr" rtl="0">
                        <a:spcBef>
                          <a:spcPts val="0"/>
                        </a:spcBef>
                        <a:spcAft>
                          <a:spcPts val="0"/>
                        </a:spcAft>
                        <a:buNone/>
                      </a:pPr>
                      <a:r>
                        <a:rPr lang="en-US" sz="1200" b="1" kern="1200">
                          <a:solidFill>
                            <a:schemeClr val="lt1"/>
                          </a:solidFill>
                          <a:effectLst/>
                        </a:rPr>
                        <a:t>China </a:t>
                      </a:r>
                      <a:endParaRPr lang="en-US" altLang="zh-CN" sz="1200" b="1" kern="1200">
                        <a:solidFill>
                          <a:schemeClr val="lt1"/>
                        </a:solidFill>
                        <a:effectLst/>
                      </a:endParaRPr>
                    </a:p>
                    <a:p>
                      <a:pPr marL="0" marR="0" lvl="0" indent="0" algn="ctr" rtl="0">
                        <a:spcBef>
                          <a:spcPts val="0"/>
                        </a:spcBef>
                        <a:spcAft>
                          <a:spcPts val="0"/>
                        </a:spcAft>
                        <a:buNone/>
                      </a:pPr>
                      <a:r>
                        <a:rPr lang="en-US" sz="1200" b="1" kern="1200">
                          <a:solidFill>
                            <a:schemeClr val="lt1"/>
                          </a:solidFill>
                          <a:effectLst/>
                        </a:rPr>
                        <a:t>Dev. Strat.</a:t>
                      </a:r>
                      <a:endParaRPr lang="en-US" altLang="zh-CN" sz="1200" b="1" kern="1200">
                        <a:solidFill>
                          <a:schemeClr val="lt1"/>
                        </a:solidFill>
                        <a:effectLst/>
                        <a:latin typeface="+mn-lt"/>
                        <a:ea typeface="+mn-ea"/>
                        <a:cs typeface="+mn-cs"/>
                      </a:endParaRPr>
                    </a:p>
                  </a:txBody>
                  <a:tcPr marL="0" marR="0" marT="0" marB="0" anchor="ctr">
                    <a:solidFill>
                      <a:schemeClr val="bg2">
                        <a:lumMod val="75000"/>
                        <a:lumOff val="25000"/>
                      </a:schemeClr>
                    </a:solidFill>
                  </a:tcPr>
                </a:tc>
                <a:tc>
                  <a:txBody>
                    <a:bodyPr/>
                    <a:lstStyle/>
                    <a:p>
                      <a:pPr marL="0" marR="0" lvl="0" indent="0" algn="ctr">
                        <a:spcBef>
                          <a:spcPts val="0"/>
                        </a:spcBef>
                        <a:spcAft>
                          <a:spcPts val="0"/>
                        </a:spcAft>
                        <a:buNone/>
                      </a:pPr>
                      <a:r>
                        <a:rPr lang="en-US" sz="1200" kern="1200">
                          <a:effectLst/>
                        </a:rPr>
                        <a:t>Current status</a:t>
                      </a:r>
                      <a:endParaRPr lang="zh-CN"/>
                    </a:p>
                  </a:txBody>
                  <a:tcPr marL="0" marR="0" marT="0" marB="0" anchor="ctr">
                    <a:solidFill>
                      <a:schemeClr val="bg2">
                        <a:lumMod val="75000"/>
                        <a:lumOff val="25000"/>
                      </a:schemeClr>
                    </a:solidFill>
                  </a:tcPr>
                </a:tc>
                <a:tc>
                  <a:txBody>
                    <a:bodyPr/>
                    <a:lstStyle/>
                    <a:p>
                      <a:pPr marL="0" marR="0" lvl="0" indent="0" algn="ctr" rtl="0">
                        <a:spcBef>
                          <a:spcPts val="0"/>
                        </a:spcBef>
                        <a:spcAft>
                          <a:spcPts val="0"/>
                        </a:spcAft>
                        <a:buNone/>
                      </a:pPr>
                      <a:r>
                        <a:rPr lang="en-US" sz="1200" kern="1200">
                          <a:effectLst/>
                        </a:rPr>
                        <a:t> Next </a:t>
                      </a:r>
                      <a:endParaRPr lang="en-US" altLang="zh-CN" sz="1200">
                        <a:effectLst/>
                      </a:endParaRPr>
                    </a:p>
                    <a:p>
                      <a:pPr marL="0" marR="0" lvl="0" indent="0" algn="ctr" rtl="0">
                        <a:spcBef>
                          <a:spcPts val="0"/>
                        </a:spcBef>
                        <a:spcAft>
                          <a:spcPts val="0"/>
                        </a:spcAft>
                        <a:buNone/>
                      </a:pPr>
                      <a:r>
                        <a:rPr lang="en-US" sz="1200" kern="1200">
                          <a:effectLst/>
                        </a:rPr>
                        <a:t>Milestone</a:t>
                      </a:r>
                      <a:endParaRPr lang="en-US" altLang="zh-CN" sz="1200">
                        <a:effectLst/>
                      </a:endParaRPr>
                    </a:p>
                  </a:txBody>
                  <a:tcPr marL="0" marR="0" marT="0" marB="0" anchor="ctr">
                    <a:solidFill>
                      <a:schemeClr val="bg2">
                        <a:lumMod val="75000"/>
                        <a:lumOff val="25000"/>
                      </a:schemeClr>
                    </a:solidFill>
                  </a:tcPr>
                </a:tc>
                <a:tc>
                  <a:txBody>
                    <a:bodyPr/>
                    <a:lstStyle/>
                    <a:p>
                      <a:pPr marL="0" marR="0" indent="0" algn="ctr" rtl="0" eaLnBrk="1" fontAlgn="auto" latinLnBrk="0" hangingPunct="1">
                        <a:spcBef>
                          <a:spcPts val="0"/>
                        </a:spcBef>
                        <a:spcAft>
                          <a:spcPts val="0"/>
                        </a:spcAft>
                      </a:pPr>
                      <a:r>
                        <a:rPr lang="en-US" sz="1200" kern="1200">
                          <a:effectLst/>
                        </a:rPr>
                        <a:t>Key Updates</a:t>
                      </a:r>
                      <a:endParaRPr lang="en-US" altLang="zh-CN" sz="1200">
                        <a:effectLst/>
                      </a:endParaRPr>
                    </a:p>
                  </a:txBody>
                  <a:tcPr marL="0" marR="0" marT="0" marB="0" anchor="ctr">
                    <a:solidFill>
                      <a:schemeClr val="bg2">
                        <a:lumMod val="75000"/>
                        <a:lumOff val="25000"/>
                      </a:schemeClr>
                    </a:solidFill>
                  </a:tcPr>
                </a:tc>
                <a:tc>
                  <a:txBody>
                    <a:bodyPr/>
                    <a:lstStyle/>
                    <a:p>
                      <a:pPr marL="0" marR="0" indent="0" algn="ctr" rtl="0" eaLnBrk="1" fontAlgn="auto" latinLnBrk="0" hangingPunct="1">
                        <a:spcBef>
                          <a:spcPts val="0"/>
                        </a:spcBef>
                        <a:spcAft>
                          <a:spcPts val="0"/>
                        </a:spcAft>
                      </a:pPr>
                      <a:endParaRPr lang="zh-CN" altLang="en-US" sz="3200">
                        <a:effectLst/>
                      </a:endParaRPr>
                    </a:p>
                  </a:txBody>
                  <a:tcPr marL="0" marR="0" marT="0" marB="0" anchor="ctr">
                    <a:solidFill>
                      <a:schemeClr val="bg2">
                        <a:lumMod val="75000"/>
                        <a:lumOff val="25000"/>
                      </a:schemeClr>
                    </a:solidFill>
                  </a:tcPr>
                </a:tc>
                <a:extLst>
                  <a:ext uri="{0D108BD9-81ED-4DB2-BD59-A6C34878D82A}">
                    <a16:rowId xmlns:a16="http://schemas.microsoft.com/office/drawing/2014/main" val="4244060689"/>
                  </a:ext>
                </a:extLst>
              </a:tr>
              <a:tr h="1580377">
                <a:tc>
                  <a:txBody>
                    <a:bodyPr/>
                    <a:lstStyle/>
                    <a:p>
                      <a:pPr marL="0" marR="0" indent="0" algn="ctr" rtl="0" eaLnBrk="1" fontAlgn="auto" latinLnBrk="0" hangingPunct="1">
                        <a:spcBef>
                          <a:spcPts val="0"/>
                        </a:spcBef>
                        <a:spcAft>
                          <a:spcPts val="0"/>
                        </a:spcAft>
                      </a:pPr>
                      <a:r>
                        <a:rPr lang="en-US" altLang="zh-CN" sz="1200" kern="1200">
                          <a:solidFill>
                            <a:schemeClr val="dk1"/>
                          </a:solidFill>
                          <a:effectLst/>
                          <a:latin typeface="+mn-lt"/>
                          <a:ea typeface="+mn-ea"/>
                          <a:cs typeface="+mn-cs"/>
                        </a:rPr>
                        <a:t>PAFR and anti-C3</a:t>
                      </a:r>
                    </a:p>
                  </a:txBody>
                  <a:tcPr marL="0" marR="0" marT="0" marB="0" anchor="ctr">
                    <a:solidFill>
                      <a:schemeClr val="bg1">
                        <a:lumMod val="85000"/>
                      </a:schemeClr>
                    </a:solidFill>
                  </a:tcPr>
                </a:tc>
                <a:tc>
                  <a:txBody>
                    <a:bodyPr/>
                    <a:lstStyle/>
                    <a:p>
                      <a:pPr marL="0" marR="0" indent="0" algn="ctr" rtl="0" eaLnBrk="1" fontAlgn="auto" latinLnBrk="0" hangingPunct="1">
                        <a:spcBef>
                          <a:spcPts val="0"/>
                        </a:spcBef>
                        <a:spcAft>
                          <a:spcPts val="0"/>
                        </a:spcAft>
                      </a:pPr>
                      <a:r>
                        <a:rPr lang="en-US" altLang="zh-CN" sz="1200" kern="1200">
                          <a:solidFill>
                            <a:schemeClr val="dk1"/>
                          </a:solidFill>
                          <a:effectLst/>
                          <a:latin typeface="+mn-lt"/>
                          <a:ea typeface="+mn-ea"/>
                          <a:cs typeface="+mn-cs"/>
                        </a:rPr>
                        <a:t>GA</a:t>
                      </a: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1200" kern="1200">
                          <a:solidFill>
                            <a:schemeClr val="dk1"/>
                          </a:solidFill>
                          <a:effectLst/>
                          <a:latin typeface="+mn-lt"/>
                          <a:ea typeface="+mn-ea"/>
                          <a:cs typeface="+mn-cs"/>
                        </a:rPr>
                        <a:t>ECR</a:t>
                      </a:r>
                    </a:p>
                    <a:p>
                      <a:pPr marL="0" marR="0" lvl="0" indent="0" algn="ctr">
                        <a:spcBef>
                          <a:spcPts val="0"/>
                        </a:spcBef>
                        <a:spcAft>
                          <a:spcPts val="0"/>
                        </a:spcAft>
                        <a:buNone/>
                      </a:pPr>
                      <a:r>
                        <a:rPr lang="en-US" altLang="zh-CN" sz="1200" kern="1200">
                          <a:solidFill>
                            <a:schemeClr val="dk1"/>
                          </a:solidFill>
                          <a:effectLst/>
                          <a:latin typeface="+mn-lt"/>
                          <a:ea typeface="+mn-ea"/>
                          <a:cs typeface="+mn-cs"/>
                        </a:rPr>
                        <a:t>1484-0020 (Jun2025-Jul-2028, </a:t>
                      </a:r>
                    </a:p>
                    <a:p>
                      <a:pPr marL="0" marR="0" lvl="0" indent="0" algn="ctr">
                        <a:spcBef>
                          <a:spcPts val="0"/>
                        </a:spcBef>
                        <a:spcAft>
                          <a:spcPts val="0"/>
                        </a:spcAft>
                        <a:buNone/>
                      </a:pPr>
                      <a:r>
                        <a:rPr lang="en-US" altLang="zh-CN" sz="1200" kern="1200">
                          <a:solidFill>
                            <a:schemeClr val="dk1"/>
                          </a:solidFill>
                          <a:effectLst/>
                          <a:latin typeface="+mn-lt"/>
                          <a:ea typeface="+mn-ea"/>
                          <a:cs typeface="+mn-cs"/>
                        </a:rPr>
                        <a:t>Dec 2028)</a:t>
                      </a:r>
                    </a:p>
                  </a:txBody>
                  <a:tcPr marL="0" marR="0" marT="0" marB="0" anchor="ctr">
                    <a:solidFill>
                      <a:schemeClr val="bg1">
                        <a:lumMod val="8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kern="1200">
                          <a:solidFill>
                            <a:schemeClr val="dk1"/>
                          </a:solidFill>
                          <a:effectLst/>
                        </a:rPr>
                        <a:t>China </a:t>
                      </a:r>
                      <a:r>
                        <a:rPr lang="en-US" altLang="zh-CN" sz="1200" kern="1200">
                          <a:solidFill>
                            <a:schemeClr val="dk1"/>
                          </a:solidFill>
                          <a:effectLst/>
                          <a:latin typeface="+mn-lt"/>
                          <a:ea typeface="+mn-ea"/>
                          <a:cs typeface="+mn-cs"/>
                        </a:rPr>
                        <a:t>alone</a:t>
                      </a:r>
                    </a:p>
                    <a:p>
                      <a:pPr marL="0" marR="0" lvl="0" indent="0" algn="ctr" rtl="0">
                        <a:lnSpc>
                          <a:spcPct val="100000"/>
                        </a:lnSpc>
                        <a:spcBef>
                          <a:spcPts val="0"/>
                        </a:spcBef>
                        <a:spcAft>
                          <a:spcPts val="0"/>
                        </a:spcAft>
                        <a:buClrTx/>
                        <a:buSzTx/>
                        <a:buFontTx/>
                        <a:buNone/>
                      </a:pPr>
                      <a:endParaRPr lang="en-US" altLang="zh-CN" sz="1200" kern="1200">
                        <a:solidFill>
                          <a:schemeClr val="dk1"/>
                        </a:solidFill>
                        <a:effectLst/>
                        <a:latin typeface="+mn-lt"/>
                        <a:ea typeface="+mn-ea"/>
                        <a:cs typeface="+mn-cs"/>
                      </a:endParaRP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1200" kern="1200" noProof="0">
                          <a:solidFill>
                            <a:schemeClr val="dk1"/>
                          </a:solidFill>
                          <a:effectLst/>
                          <a:latin typeface="+mn-lt"/>
                          <a:ea typeface="+mn-ea"/>
                          <a:cs typeface="+mn-cs"/>
                        </a:rPr>
                        <a:t>FPI</a:t>
                      </a:r>
                    </a:p>
                    <a:p>
                      <a:pPr marL="0" marR="0" lvl="0" indent="0" algn="ctr">
                        <a:spcBef>
                          <a:spcPts val="0"/>
                        </a:spcBef>
                        <a:spcAft>
                          <a:spcPts val="0"/>
                        </a:spcAft>
                        <a:buNone/>
                      </a:pPr>
                      <a:r>
                        <a:rPr lang="en-US" altLang="zh-CN" sz="1200" kern="1200" noProof="0">
                          <a:solidFill>
                            <a:schemeClr val="dk1"/>
                          </a:solidFill>
                          <a:effectLst/>
                          <a:latin typeface="+mn-lt"/>
                          <a:ea typeface="+mn-ea"/>
                          <a:cs typeface="+mn-cs"/>
                        </a:rPr>
                        <a:t>（Jun 2025</a:t>
                      </a:r>
                      <a:r>
                        <a:rPr lang="zh-CN" altLang="en-US" sz="1200" kern="1200" noProof="0">
                          <a:solidFill>
                            <a:schemeClr val="dk1"/>
                          </a:solidFill>
                          <a:effectLst/>
                          <a:latin typeface="+mn-lt"/>
                          <a:ea typeface="+mn-ea"/>
                          <a:cs typeface="+mn-cs"/>
                        </a:rPr>
                        <a:t>）</a:t>
                      </a:r>
                      <a:endParaRPr lang="en-US" altLang="zh-CN" sz="1200" kern="1200" noProof="0">
                        <a:solidFill>
                          <a:schemeClr val="dk1"/>
                        </a:solidFill>
                        <a:effectLst/>
                        <a:latin typeface="+mn-lt"/>
                        <a:ea typeface="+mn-ea"/>
                        <a:cs typeface="+mn-cs"/>
                      </a:endParaRPr>
                    </a:p>
                  </a:txBody>
                  <a:tcPr marL="0" marR="0" marT="0" marB="0" anchor="ctr">
                    <a:solidFill>
                      <a:schemeClr val="bg1">
                        <a:lumMod val="85000"/>
                      </a:schemeClr>
                    </a:solidFill>
                  </a:tcPr>
                </a:tc>
                <a:tc>
                  <a:txBody>
                    <a:bodyPr/>
                    <a:lstStyle/>
                    <a:p>
                      <a:pPr marL="0" marR="0" lvl="0" indent="0" algn="ctr">
                        <a:spcBef>
                          <a:spcPts val="0"/>
                        </a:spcBef>
                        <a:spcAft>
                          <a:spcPts val="0"/>
                        </a:spcAft>
                        <a:buNone/>
                      </a:pPr>
                      <a:r>
                        <a:rPr lang="en-US" altLang="zh-CN" sz="1200" kern="1200" noProof="0">
                          <a:solidFill>
                            <a:schemeClr val="dk1"/>
                          </a:solidFill>
                          <a:effectLst/>
                          <a:latin typeface="+mn-lt"/>
                          <a:ea typeface="+mn-ea"/>
                          <a:cs typeface="+mn-cs"/>
                        </a:rPr>
                        <a:t>1st  interim analysis </a:t>
                      </a:r>
                      <a:r>
                        <a:rPr lang="zh-CN" altLang="en-US" sz="1200" kern="1200" noProof="0">
                          <a:solidFill>
                            <a:schemeClr val="dk1"/>
                          </a:solidFill>
                          <a:effectLst/>
                          <a:latin typeface="+mn-lt"/>
                          <a:ea typeface="+mn-ea"/>
                          <a:cs typeface="+mn-cs"/>
                        </a:rPr>
                        <a:t>（</a:t>
                      </a:r>
                      <a:r>
                        <a:rPr lang="en-US" altLang="zh-CN" sz="1200" kern="1200" noProof="0">
                          <a:solidFill>
                            <a:schemeClr val="dk1"/>
                          </a:solidFill>
                          <a:effectLst/>
                          <a:latin typeface="+mn-lt"/>
                          <a:ea typeface="+mn-ea"/>
                          <a:cs typeface="+mn-cs"/>
                        </a:rPr>
                        <a:t>Mar 2026</a:t>
                      </a:r>
                      <a:r>
                        <a:rPr lang="zh-CN" altLang="en-US" sz="1200" kern="1200" noProof="0">
                          <a:solidFill>
                            <a:schemeClr val="dk1"/>
                          </a:solidFill>
                          <a:effectLst/>
                          <a:latin typeface="+mn-lt"/>
                          <a:ea typeface="+mn-ea"/>
                          <a:cs typeface="+mn-cs"/>
                        </a:rPr>
                        <a:t>）</a:t>
                      </a:r>
                      <a:endParaRPr lang="en-US" altLang="zh-CN" sz="1200" kern="1200" noProof="0">
                        <a:solidFill>
                          <a:schemeClr val="dk1"/>
                        </a:solidFill>
                        <a:effectLst/>
                        <a:latin typeface="+mn-lt"/>
                        <a:ea typeface="+mn-ea"/>
                        <a:cs typeface="+mn-cs"/>
                      </a:endParaRPr>
                    </a:p>
                  </a:txBody>
                  <a:tcPr marL="0" marR="0" marT="0" marB="0" anchor="ctr">
                    <a:solidFill>
                      <a:schemeClr val="bg1">
                        <a:lumMod val="85000"/>
                      </a:schemeClr>
                    </a:solidFill>
                  </a:tcPr>
                </a:tc>
                <a:tc>
                  <a:txBody>
                    <a:bodyPr/>
                    <a:lstStyle/>
                    <a:p>
                      <a:pPr marL="359410" marR="0" lvl="1" indent="-219075" algn="l">
                        <a:spcBef>
                          <a:spcPts val="0"/>
                        </a:spcBef>
                        <a:spcAft>
                          <a:spcPts val="0"/>
                        </a:spcAft>
                        <a:buClrTx/>
                        <a:buSzPts val="900"/>
                        <a:buFont typeface="Arial" panose="020B0604020202020204" pitchFamily="34" charset="0"/>
                        <a:buChar char="•"/>
                      </a:pPr>
                      <a:r>
                        <a:rPr lang="en-US" altLang="zh-CN" sz="1200" kern="1200">
                          <a:solidFill>
                            <a:schemeClr val="bg1">
                              <a:lumMod val="50000"/>
                            </a:schemeClr>
                          </a:solidFill>
                          <a:effectLst/>
                          <a:latin typeface="+mn-lt"/>
                          <a:ea typeface="+mn-ea"/>
                          <a:cs typeface="+mn-cs"/>
                        </a:rPr>
                        <a:t>Proposal was released on 24 Sep 2024</a:t>
                      </a:r>
                    </a:p>
                    <a:p>
                      <a:pPr marL="359410" marR="0" lvl="1" indent="-219075" algn="l">
                        <a:spcBef>
                          <a:spcPts val="0"/>
                        </a:spcBef>
                        <a:spcAft>
                          <a:spcPts val="0"/>
                        </a:spcAft>
                        <a:buClrTx/>
                        <a:buSzPts val="900"/>
                        <a:buFont typeface="Arial" panose="020B0604020202020204" pitchFamily="34" charset="0"/>
                        <a:buChar char="•"/>
                      </a:pPr>
                      <a:r>
                        <a:rPr lang="en-US" altLang="zh-CN" sz="1200" kern="1200">
                          <a:solidFill>
                            <a:schemeClr val="bg1">
                              <a:lumMod val="50000"/>
                            </a:schemeClr>
                          </a:solidFill>
                          <a:effectLst/>
                          <a:latin typeface="+mn-lt"/>
                          <a:ea typeface="+mn-ea"/>
                          <a:cs typeface="+mn-cs"/>
                        </a:rPr>
                        <a:t>Protocol was approved on 28 Nov 2024</a:t>
                      </a:r>
                    </a:p>
                    <a:p>
                      <a:pPr marL="359410" marR="0" lvl="1" indent="-219075" algn="l">
                        <a:lnSpc>
                          <a:spcPct val="100000"/>
                        </a:lnSpc>
                        <a:spcBef>
                          <a:spcPts val="0"/>
                        </a:spcBef>
                        <a:spcAft>
                          <a:spcPts val="0"/>
                        </a:spcAft>
                        <a:buClrTx/>
                        <a:buSzPts val="900"/>
                        <a:buFont typeface="Arial" panose="020B0604020202020204" pitchFamily="34" charset="0"/>
                        <a:buChar char="•"/>
                      </a:pPr>
                      <a:r>
                        <a:rPr lang="en-US" altLang="zh-CN" sz="1200" kern="1200">
                          <a:solidFill>
                            <a:schemeClr val="bg1">
                              <a:lumMod val="50000"/>
                            </a:schemeClr>
                          </a:solidFill>
                          <a:effectLst/>
                          <a:latin typeface="+mn-lt"/>
                          <a:ea typeface="+mn-ea"/>
                          <a:cs typeface="+mn-cs"/>
                        </a:rPr>
                        <a:t>Contract was signed on 12 May 2025.</a:t>
                      </a:r>
                    </a:p>
                    <a:p>
                      <a:pPr marL="359410" marR="0" lvl="1" indent="-219075" algn="l">
                        <a:lnSpc>
                          <a:spcPct val="100000"/>
                        </a:lnSpc>
                        <a:spcBef>
                          <a:spcPts val="0"/>
                        </a:spcBef>
                        <a:spcAft>
                          <a:spcPts val="0"/>
                        </a:spcAft>
                        <a:buClrTx/>
                        <a:buSzPts val="900"/>
                        <a:buFont typeface="Arial" panose="020B0604020202020204" pitchFamily="34" charset="0"/>
                        <a:buChar char="•"/>
                      </a:pPr>
                      <a:r>
                        <a:rPr lang="en-US" altLang="zh-CN" sz="1200" kern="1200">
                          <a:solidFill>
                            <a:schemeClr val="dk1"/>
                          </a:solidFill>
                          <a:effectLst/>
                          <a:latin typeface="+mn-lt"/>
                          <a:ea typeface="+mn-ea"/>
                          <a:cs typeface="+mn-cs"/>
                        </a:rPr>
                        <a:t>Study recruitment progress:</a:t>
                      </a:r>
                    </a:p>
                    <a:p>
                      <a:pPr marL="140335" marR="0" lvl="1" indent="0" algn="l">
                        <a:lnSpc>
                          <a:spcPct val="100000"/>
                        </a:lnSpc>
                        <a:spcBef>
                          <a:spcPts val="0"/>
                        </a:spcBef>
                        <a:spcAft>
                          <a:spcPts val="0"/>
                        </a:spcAft>
                        <a:buClrTx/>
                        <a:buSzPts val="900"/>
                        <a:buNone/>
                      </a:pPr>
                      <a:r>
                        <a:rPr lang="en-US" altLang="zh-CN" sz="1200" kern="1200">
                          <a:solidFill>
                            <a:schemeClr val="dk1"/>
                          </a:solidFill>
                          <a:effectLst/>
                          <a:latin typeface="+mn-lt"/>
                          <a:ea typeface="+mn-ea"/>
                          <a:cs typeface="+mn-cs"/>
                        </a:rPr>
                        <a:t>       Retrospective part:  120/65(+2 than last month);</a:t>
                      </a:r>
                    </a:p>
                    <a:p>
                      <a:pPr marL="140335" marR="0" lvl="1" indent="0" algn="l">
                        <a:lnSpc>
                          <a:spcPct val="100000"/>
                        </a:lnSpc>
                        <a:spcBef>
                          <a:spcPts val="0"/>
                        </a:spcBef>
                        <a:spcAft>
                          <a:spcPts val="0"/>
                        </a:spcAft>
                        <a:buClrTx/>
                        <a:buSzPts val="900"/>
                        <a:buNone/>
                      </a:pPr>
                      <a:r>
                        <a:rPr lang="en-US" altLang="zh-CN" sz="1200" kern="1200">
                          <a:solidFill>
                            <a:schemeClr val="dk1"/>
                          </a:solidFill>
                          <a:effectLst/>
                          <a:latin typeface="+mn-lt"/>
                          <a:ea typeface="+mn-ea"/>
                          <a:cs typeface="+mn-cs"/>
                        </a:rPr>
                        <a:t>       Prospective part: 70/5(+1 than last month);</a:t>
                      </a:r>
                    </a:p>
                    <a:p>
                      <a:pPr marL="311785" marR="0" lvl="1" indent="-171450" algn="l" rtl="0" eaLnBrk="1" fontAlgn="auto" latinLnBrk="0" hangingPunct="1">
                        <a:lnSpc>
                          <a:spcPct val="100000"/>
                        </a:lnSpc>
                        <a:spcBef>
                          <a:spcPts val="0"/>
                        </a:spcBef>
                        <a:spcAft>
                          <a:spcPts val="0"/>
                        </a:spcAft>
                        <a:buClrTx/>
                        <a:buSzPts val="900"/>
                        <a:buFont typeface="Arial" panose="020B0604020202020204" pitchFamily="34" charset="0"/>
                        <a:buChar char="•"/>
                      </a:pPr>
                      <a:r>
                        <a:rPr lang="en-US" altLang="zh-CN" sz="1200" kern="1200">
                          <a:solidFill>
                            <a:schemeClr val="dk1"/>
                          </a:solidFill>
                          <a:effectLst/>
                          <a:latin typeface="+mn-lt"/>
                          <a:ea typeface="+mn-ea"/>
                          <a:cs typeface="+mn-cs"/>
                        </a:rPr>
                        <a:t>  Site initiation progress: 16/5(+0 than last month)</a:t>
                      </a:r>
                    </a:p>
                    <a:p>
                      <a:pPr marL="140335" marR="0" lvl="1" indent="0" algn="l">
                        <a:lnSpc>
                          <a:spcPct val="100000"/>
                        </a:lnSpc>
                        <a:spcBef>
                          <a:spcPts val="0"/>
                        </a:spcBef>
                        <a:spcAft>
                          <a:spcPts val="0"/>
                        </a:spcAft>
                        <a:buClrTx/>
                        <a:buSzPts val="900"/>
                        <a:buNone/>
                      </a:pPr>
                      <a:r>
                        <a:rPr lang="en-US" altLang="zh-CN" sz="1200" kern="1200">
                          <a:solidFill>
                            <a:schemeClr val="dk1"/>
                          </a:solidFill>
                          <a:effectLst/>
                          <a:latin typeface="+mn-lt"/>
                          <a:ea typeface="+mn-ea"/>
                          <a:cs typeface="+mn-cs"/>
                        </a:rPr>
                        <a:t>  </a:t>
                      </a:r>
                    </a:p>
                    <a:p>
                      <a:pPr marL="359410" marR="0" lvl="1" indent="-219075" algn="l">
                        <a:spcBef>
                          <a:spcPts val="0"/>
                        </a:spcBef>
                        <a:spcAft>
                          <a:spcPts val="0"/>
                        </a:spcAft>
                        <a:buClrTx/>
                        <a:buSzPts val="900"/>
                        <a:buFont typeface="Arial" panose="020B0604020202020204" pitchFamily="34" charset="0"/>
                        <a:buChar char="•"/>
                      </a:pPr>
                      <a:endParaRPr lang="en-US" altLang="zh-CN" sz="1200" kern="1200">
                        <a:solidFill>
                          <a:schemeClr val="dk1"/>
                        </a:solidFill>
                        <a:effectLst/>
                        <a:latin typeface="+mn-lt"/>
                        <a:ea typeface="+mn-ea"/>
                        <a:cs typeface="+mn-cs"/>
                      </a:endParaRPr>
                    </a:p>
                  </a:txBody>
                  <a:tcPr marL="0" marR="0" marT="0" marB="0" anchor="ctr">
                    <a:solidFill>
                      <a:schemeClr val="bg1">
                        <a:lumMod val="85000"/>
                      </a:schemeClr>
                    </a:solidFill>
                  </a:tcPr>
                </a:tc>
                <a:tc>
                  <a:txBody>
                    <a:bodyPr/>
                    <a:lstStyle/>
                    <a:p>
                      <a:pPr marL="0" marR="0" indent="0" algn="ctr" rtl="0" eaLnBrk="1" fontAlgn="auto" latinLnBrk="0" hangingPunct="1">
                        <a:spcBef>
                          <a:spcPts val="0"/>
                        </a:spcBef>
                        <a:spcAft>
                          <a:spcPts val="0"/>
                        </a:spcAft>
                      </a:pPr>
                      <a:endParaRPr lang="en-US" altLang="zh-CN" sz="3600">
                        <a:effectLst/>
                      </a:endParaRPr>
                    </a:p>
                  </a:txBody>
                  <a:tcPr marL="0" marR="0" marT="0" marB="0" anchor="ctr">
                    <a:solidFill>
                      <a:schemeClr val="bg1">
                        <a:lumMod val="85000"/>
                      </a:schemeClr>
                    </a:solidFill>
                  </a:tcPr>
                </a:tc>
                <a:extLst>
                  <a:ext uri="{0D108BD9-81ED-4DB2-BD59-A6C34878D82A}">
                    <a16:rowId xmlns:a16="http://schemas.microsoft.com/office/drawing/2014/main" val="3318909972"/>
                  </a:ext>
                </a:extLst>
              </a:tr>
            </a:tbl>
          </a:graphicData>
        </a:graphic>
      </p:graphicFrame>
      <p:sp>
        <p:nvSpPr>
          <p:cNvPr id="5" name="Flowchart: Connector 24">
            <a:extLst>
              <a:ext uri="{FF2B5EF4-FFF2-40B4-BE49-F238E27FC236}">
                <a16:creationId xmlns:a16="http://schemas.microsoft.com/office/drawing/2014/main" id="{395C0308-99E2-0B39-A132-11B16504108F}"/>
              </a:ext>
            </a:extLst>
          </p:cNvPr>
          <p:cNvSpPr/>
          <p:nvPr/>
        </p:nvSpPr>
        <p:spPr bwMode="gray">
          <a:xfrm>
            <a:off x="11711998" y="2557630"/>
            <a:ext cx="182880" cy="182879"/>
          </a:xfrm>
          <a:prstGeom prst="flowChartConnector">
            <a:avLst/>
          </a:prstGeom>
          <a:solidFill>
            <a:srgbClr val="00B05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defRPr/>
            </a:pPr>
            <a:endParaRPr lang="zh-CN" altLang="en-US" sz="1200">
              <a:solidFill>
                <a:prstClr val="black"/>
              </a:solidFill>
              <a:latin typeface="Boehringer Forward Text"/>
            </a:endParaRPr>
          </a:p>
        </p:txBody>
      </p:sp>
      <p:sp>
        <p:nvSpPr>
          <p:cNvPr id="7" name="TextBox 6">
            <a:extLst>
              <a:ext uri="{FF2B5EF4-FFF2-40B4-BE49-F238E27FC236}">
                <a16:creationId xmlns:a16="http://schemas.microsoft.com/office/drawing/2014/main" id="{369DA580-13E7-EB29-7761-14302206EB7D}"/>
              </a:ext>
            </a:extLst>
          </p:cNvPr>
          <p:cNvSpPr txBox="1"/>
          <p:nvPr/>
        </p:nvSpPr>
        <p:spPr bwMode="gray">
          <a:xfrm>
            <a:off x="290391" y="4049486"/>
            <a:ext cx="11679002" cy="657359"/>
          </a:xfrm>
          <a:prstGeom prst="rect">
            <a:avLst/>
          </a:prstGeom>
          <a:noFill/>
        </p:spPr>
        <p:txBody>
          <a:bodyPr wrap="square" lIns="0" tIns="0" rIns="0" bIns="0" rtlCol="0" anchor="t">
            <a:spAutoFit/>
          </a:bodyPr>
          <a:lstStyle/>
          <a:p>
            <a:pPr marL="179705" indent="-179705">
              <a:lnSpc>
                <a:spcPct val="140000"/>
              </a:lnSpc>
              <a:buFont typeface="Arial" panose="020B0604020202020204" pitchFamily="34" charset="0"/>
              <a:buChar char="•"/>
            </a:pPr>
            <a:r>
              <a:rPr lang="en-US" altLang="zh-CN" sz="1600"/>
              <a:t>Monthly update</a:t>
            </a:r>
            <a:endParaRPr lang="zh-CN" altLang="en-US"/>
          </a:p>
          <a:p>
            <a:pPr marL="285750" indent="-285750">
              <a:lnSpc>
                <a:spcPct val="140000"/>
              </a:lnSpc>
              <a:buFont typeface="Wingdings" panose="05000000000000000000" pitchFamily="2" charset="2"/>
              <a:buChar char="Ø"/>
            </a:pPr>
            <a:r>
              <a:rPr lang="en-US" altLang="zh-CN" sz="1600"/>
              <a:t>Study team have met with PI and his team on 10 Nov 2025, to discuss study progress (includes sub-sites initiation and subjects screening)</a:t>
            </a:r>
            <a:endParaRPr lang="zh-CN" altLang="en-US" sz="1600"/>
          </a:p>
        </p:txBody>
      </p:sp>
    </p:spTree>
    <p:extLst>
      <p:ext uri="{BB962C8B-B14F-4D97-AF65-F5344CB8AC3E}">
        <p14:creationId xmlns:p14="http://schemas.microsoft.com/office/powerpoint/2010/main" val="29296552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E07F1-D514-EE30-099B-FB3D5BB2038F}"/>
              </a:ext>
            </a:extLst>
          </p:cNvPr>
          <p:cNvSpPr>
            <a:spLocks noGrp="1"/>
          </p:cNvSpPr>
          <p:nvPr>
            <p:ph type="title"/>
          </p:nvPr>
        </p:nvSpPr>
        <p:spPr>
          <a:xfrm>
            <a:off x="479426" y="477000"/>
            <a:ext cx="11233151" cy="431720"/>
          </a:xfrm>
        </p:spPr>
        <p:txBody>
          <a:bodyPr/>
          <a:lstStyle/>
          <a:p>
            <a:r>
              <a:rPr lang="en-US" altLang="zh-CN"/>
              <a:t>Visit PI on 10 Nov 2025</a:t>
            </a:r>
            <a:endParaRPr lang="zh-CN" altLang="en-US"/>
          </a:p>
        </p:txBody>
      </p:sp>
      <p:sp>
        <p:nvSpPr>
          <p:cNvPr id="4" name="Slide Number Placeholder 3">
            <a:extLst>
              <a:ext uri="{FF2B5EF4-FFF2-40B4-BE49-F238E27FC236}">
                <a16:creationId xmlns:a16="http://schemas.microsoft.com/office/drawing/2014/main" id="{B8F976E5-91C1-F498-8BCD-970F3E2E06EE}"/>
              </a:ext>
            </a:extLst>
          </p:cNvPr>
          <p:cNvSpPr>
            <a:spLocks noGrp="1"/>
          </p:cNvSpPr>
          <p:nvPr>
            <p:ph type="sldNum" sz="quarter" idx="11"/>
          </p:nvPr>
        </p:nvSpPr>
        <p:spPr/>
        <p:txBody>
          <a:bodyPr/>
          <a:lstStyle/>
          <a:p>
            <a:fld id="{8FF9B0DE-3FEB-4AA0-B465-B80EF7C1333D}" type="slidenum">
              <a:rPr lang="en-US" smtClean="0"/>
              <a:pPr/>
              <a:t>15</a:t>
            </a:fld>
            <a:endParaRPr lang="en-US"/>
          </a:p>
        </p:txBody>
      </p:sp>
      <p:sp>
        <p:nvSpPr>
          <p:cNvPr id="6" name="TextBox 5">
            <a:extLst>
              <a:ext uri="{FF2B5EF4-FFF2-40B4-BE49-F238E27FC236}">
                <a16:creationId xmlns:a16="http://schemas.microsoft.com/office/drawing/2014/main" id="{ED837021-5CAD-33B1-51EF-E9888FA8E16C}"/>
              </a:ext>
            </a:extLst>
          </p:cNvPr>
          <p:cNvSpPr txBox="1"/>
          <p:nvPr/>
        </p:nvSpPr>
        <p:spPr bwMode="gray">
          <a:xfrm>
            <a:off x="5511452" y="2599150"/>
            <a:ext cx="914400" cy="914400"/>
          </a:xfrm>
          <a:prstGeom prst="rect">
            <a:avLst/>
          </a:prstGeom>
          <a:noFill/>
        </p:spPr>
        <p:txBody>
          <a:bodyPr wrap="square" lIns="0" tIns="0" rIns="0" bIns="0" rtlCol="0">
            <a:spAutoFit/>
          </a:bodyPr>
          <a:lstStyle/>
          <a:p>
            <a:pPr marL="180000" indent="-180000" algn="l">
              <a:lnSpc>
                <a:spcPct val="140000"/>
              </a:lnSpc>
              <a:buFont typeface="Arial" panose="020B0604020202020204" pitchFamily="34" charset="0"/>
              <a:buChar char="•"/>
            </a:pPr>
            <a:endParaRPr lang="zh-CN" altLang="en-US" sz="1600"/>
          </a:p>
        </p:txBody>
      </p:sp>
      <p:sp>
        <p:nvSpPr>
          <p:cNvPr id="7" name="TextBox 6">
            <a:extLst>
              <a:ext uri="{FF2B5EF4-FFF2-40B4-BE49-F238E27FC236}">
                <a16:creationId xmlns:a16="http://schemas.microsoft.com/office/drawing/2014/main" id="{7DCC7B8C-A0A2-B9EF-B893-8499E59A4568}"/>
              </a:ext>
            </a:extLst>
          </p:cNvPr>
          <p:cNvSpPr txBox="1"/>
          <p:nvPr/>
        </p:nvSpPr>
        <p:spPr bwMode="gray">
          <a:xfrm>
            <a:off x="479426" y="1014608"/>
            <a:ext cx="11558086" cy="1594219"/>
          </a:xfrm>
          <a:prstGeom prst="rect">
            <a:avLst/>
          </a:prstGeom>
          <a:noFill/>
        </p:spPr>
        <p:txBody>
          <a:bodyPr wrap="square" lIns="0" tIns="0" rIns="0" bIns="0" rtlCol="0" anchor="t">
            <a:spAutoFit/>
          </a:bodyPr>
          <a:lstStyle/>
          <a:p>
            <a:pPr marL="285750" indent="-285750">
              <a:lnSpc>
                <a:spcPct val="140000"/>
              </a:lnSpc>
              <a:buFont typeface="Wingdings" panose="05000000000000000000" pitchFamily="2" charset="2"/>
              <a:buChar char="Ø"/>
            </a:pPr>
            <a:r>
              <a:rPr lang="en-US" altLang="zh-CN" sz="1600"/>
              <a:t>Investigator shared Sub-sites progress</a:t>
            </a:r>
          </a:p>
          <a:p>
            <a:pPr marL="285750" indent="-285750">
              <a:lnSpc>
                <a:spcPct val="140000"/>
              </a:lnSpc>
              <a:buFont typeface="Wingdings" panose="05000000000000000000" pitchFamily="2" charset="2"/>
              <a:buChar char="Ø"/>
            </a:pPr>
            <a:r>
              <a:rPr lang="en-US" altLang="zh-CN" sz="1600"/>
              <a:t>Discussion on recruitment issue:</a:t>
            </a:r>
          </a:p>
          <a:p>
            <a:pPr marL="285750" indent="-285750">
              <a:lnSpc>
                <a:spcPct val="140000"/>
              </a:lnSpc>
              <a:buFont typeface="Wingdings" panose="05000000000000000000" pitchFamily="2" charset="2"/>
              <a:buChar char="Ø"/>
            </a:pPr>
            <a:endParaRPr lang="en-US" altLang="zh-CN" sz="1600">
              <a:latin typeface="Boehringer Forward Text"/>
              <a:ea typeface="DengXian"/>
            </a:endParaRPr>
          </a:p>
          <a:p>
            <a:pPr marL="285750" indent="-285750">
              <a:lnSpc>
                <a:spcPct val="140000"/>
              </a:lnSpc>
              <a:buFont typeface="Wingdings" panose="05000000000000000000" pitchFamily="2" charset="2"/>
              <a:buChar char="Ø"/>
            </a:pPr>
            <a:endParaRPr lang="en-US" altLang="zh-CN" sz="1600">
              <a:latin typeface="Boehringer Forward Text"/>
              <a:ea typeface="DengXian"/>
            </a:endParaRPr>
          </a:p>
          <a:p>
            <a:pPr marL="285750" indent="-285750">
              <a:lnSpc>
                <a:spcPct val="140000"/>
              </a:lnSpc>
              <a:buFont typeface="Wingdings" panose="05000000000000000000" pitchFamily="2" charset="2"/>
              <a:buChar char="Ø"/>
            </a:pPr>
            <a:endParaRPr lang="en-US" sz="1100" b="1">
              <a:latin typeface="DengXian"/>
              <a:ea typeface="DengXian"/>
            </a:endParaRPr>
          </a:p>
        </p:txBody>
      </p:sp>
      <p:sp>
        <p:nvSpPr>
          <p:cNvPr id="8" name="文本框 7">
            <a:extLst>
              <a:ext uri="{FF2B5EF4-FFF2-40B4-BE49-F238E27FC236}">
                <a16:creationId xmlns:a16="http://schemas.microsoft.com/office/drawing/2014/main" id="{42BA2B89-4E14-C705-E0B1-883251246EC6}"/>
              </a:ext>
            </a:extLst>
          </p:cNvPr>
          <p:cNvSpPr txBox="1"/>
          <p:nvPr/>
        </p:nvSpPr>
        <p:spPr bwMode="gray">
          <a:xfrm>
            <a:off x="482958" y="4566634"/>
            <a:ext cx="6096000" cy="31271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285750" indent="-285750">
              <a:lnSpc>
                <a:spcPct val="140000"/>
              </a:lnSpc>
              <a:buFont typeface="Wingdings"/>
              <a:buChar char="Ø"/>
            </a:pPr>
            <a:r>
              <a:rPr lang="zh-CN" altLang="en-US" sz="1600"/>
              <a:t>Follow-up actions</a:t>
            </a:r>
          </a:p>
        </p:txBody>
      </p:sp>
      <p:pic>
        <p:nvPicPr>
          <p:cNvPr id="12" name="图片 11" descr="表格&#10;&#10;AI 生成的内容可能不正确。">
            <a:extLst>
              <a:ext uri="{FF2B5EF4-FFF2-40B4-BE49-F238E27FC236}">
                <a16:creationId xmlns:a16="http://schemas.microsoft.com/office/drawing/2014/main" id="{B7E86552-D3B4-2038-D0ED-C7F78F97468C}"/>
              </a:ext>
            </a:extLst>
          </p:cNvPr>
          <p:cNvPicPr>
            <a:picLocks noChangeAspect="1"/>
          </p:cNvPicPr>
          <p:nvPr/>
        </p:nvPicPr>
        <p:blipFill>
          <a:blip r:embed="rId2"/>
          <a:stretch>
            <a:fillRect/>
          </a:stretch>
        </p:blipFill>
        <p:spPr>
          <a:xfrm>
            <a:off x="763996" y="1695495"/>
            <a:ext cx="9791396" cy="2869112"/>
          </a:xfrm>
          <a:prstGeom prst="rect">
            <a:avLst/>
          </a:prstGeom>
        </p:spPr>
      </p:pic>
      <p:pic>
        <p:nvPicPr>
          <p:cNvPr id="5" name="图片 4" descr="矩形&#10;&#10;AI 生成的内容可能不正确。">
            <a:extLst>
              <a:ext uri="{FF2B5EF4-FFF2-40B4-BE49-F238E27FC236}">
                <a16:creationId xmlns:a16="http://schemas.microsoft.com/office/drawing/2014/main" id="{BDF8BFF1-A6BC-D36B-0763-8AAF7BE14F43}"/>
              </a:ext>
            </a:extLst>
          </p:cNvPr>
          <p:cNvPicPr>
            <a:picLocks noChangeAspect="1"/>
          </p:cNvPicPr>
          <p:nvPr/>
        </p:nvPicPr>
        <p:blipFill>
          <a:blip r:embed="rId3"/>
          <a:stretch>
            <a:fillRect/>
          </a:stretch>
        </p:blipFill>
        <p:spPr>
          <a:xfrm>
            <a:off x="751266" y="4880888"/>
            <a:ext cx="9809410" cy="1153068"/>
          </a:xfrm>
          <a:prstGeom prst="rect">
            <a:avLst/>
          </a:prstGeom>
        </p:spPr>
      </p:pic>
    </p:spTree>
    <p:extLst>
      <p:ext uri="{BB962C8B-B14F-4D97-AF65-F5344CB8AC3E}">
        <p14:creationId xmlns:p14="http://schemas.microsoft.com/office/powerpoint/2010/main" val="1701774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9D291-979A-5F67-0E76-7F410C4714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30AB30-536A-4C0F-CEBE-4A1FFE986518}"/>
              </a:ext>
            </a:extLst>
          </p:cNvPr>
          <p:cNvSpPr>
            <a:spLocks noGrp="1"/>
          </p:cNvSpPr>
          <p:nvPr>
            <p:ph type="title"/>
          </p:nvPr>
        </p:nvSpPr>
        <p:spPr/>
        <p:txBody>
          <a:bodyPr/>
          <a:lstStyle/>
          <a:p>
            <a:r>
              <a:rPr lang="en-US" altLang="zh-CN"/>
              <a:t>Mental Health Assets</a:t>
            </a:r>
            <a:endParaRPr lang="en-US"/>
          </a:p>
        </p:txBody>
      </p:sp>
      <p:sp>
        <p:nvSpPr>
          <p:cNvPr id="4" name="Slide Number Placeholder 3">
            <a:extLst>
              <a:ext uri="{FF2B5EF4-FFF2-40B4-BE49-F238E27FC236}">
                <a16:creationId xmlns:a16="http://schemas.microsoft.com/office/drawing/2014/main" id="{63810416-0AD8-D502-0EC0-8ABA0D4B2A85}"/>
              </a:ext>
            </a:extLst>
          </p:cNvPr>
          <p:cNvSpPr>
            <a:spLocks noGrp="1"/>
          </p:cNvSpPr>
          <p:nvPr>
            <p:ph type="sldNum" sz="quarter" idx="16"/>
          </p:nvPr>
        </p:nvSpPr>
        <p:spPr/>
        <p:txBody>
          <a:bodyPr/>
          <a:lstStyle/>
          <a:p>
            <a:fld id="{8FF9B0DE-3FEB-4AA0-B465-B80EF7C1333D}" type="slidenum">
              <a:rPr lang="en-US" smtClean="0"/>
              <a:pPr/>
              <a:t>16</a:t>
            </a:fld>
            <a:endParaRPr lang="en-US"/>
          </a:p>
        </p:txBody>
      </p:sp>
      <p:sp>
        <p:nvSpPr>
          <p:cNvPr id="6" name="Subtitle 5">
            <a:extLst>
              <a:ext uri="{FF2B5EF4-FFF2-40B4-BE49-F238E27FC236}">
                <a16:creationId xmlns:a16="http://schemas.microsoft.com/office/drawing/2014/main" id="{8D7EE4FF-28BC-4D96-E4E8-9C7BFBE4CF64}"/>
              </a:ext>
            </a:extLst>
          </p:cNvPr>
          <p:cNvSpPr>
            <a:spLocks noGrp="1"/>
          </p:cNvSpPr>
          <p:nvPr>
            <p:ph type="subTitle" idx="14"/>
          </p:nvPr>
        </p:nvSpPr>
        <p:spPr/>
        <p:txBody>
          <a:bodyPr/>
          <a:lstStyle/>
          <a:p>
            <a:endParaRPr lang="en-US"/>
          </a:p>
        </p:txBody>
      </p:sp>
    </p:spTree>
    <p:extLst>
      <p:ext uri="{BB962C8B-B14F-4D97-AF65-F5344CB8AC3E}">
        <p14:creationId xmlns:p14="http://schemas.microsoft.com/office/powerpoint/2010/main" val="3918069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F3599F-EC13-145A-64A5-18491CA7E3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BCDB5-DC07-3205-EE3A-2E14D6DA14EF}"/>
              </a:ext>
            </a:extLst>
          </p:cNvPr>
          <p:cNvSpPr>
            <a:spLocks noGrp="1"/>
          </p:cNvSpPr>
          <p:nvPr>
            <p:ph type="title"/>
          </p:nvPr>
        </p:nvSpPr>
        <p:spPr/>
        <p:txBody>
          <a:bodyPr/>
          <a:lstStyle/>
          <a:p>
            <a:r>
              <a:rPr lang="en-US" altLang="zh-CN">
                <a:latin typeface="+mn-lt"/>
              </a:rPr>
              <a:t>BI 3031185 / mGluR4 NAM, Impulsivity, Development Plan </a:t>
            </a:r>
            <a:endParaRPr lang="zh-CN" altLang="en-US">
              <a:latin typeface="+mn-lt"/>
            </a:endParaRPr>
          </a:p>
        </p:txBody>
      </p:sp>
      <p:sp>
        <p:nvSpPr>
          <p:cNvPr id="4" name="Text Placeholder 3">
            <a:extLst>
              <a:ext uri="{FF2B5EF4-FFF2-40B4-BE49-F238E27FC236}">
                <a16:creationId xmlns:a16="http://schemas.microsoft.com/office/drawing/2014/main" id="{2D38620A-A1A7-F113-761D-3020F1063F56}"/>
              </a:ext>
            </a:extLst>
          </p:cNvPr>
          <p:cNvSpPr>
            <a:spLocks noGrp="1"/>
          </p:cNvSpPr>
          <p:nvPr>
            <p:ph type="body" sz="quarter" idx="13"/>
          </p:nvPr>
        </p:nvSpPr>
        <p:spPr>
          <a:xfrm>
            <a:off x="500279" y="6550904"/>
            <a:ext cx="11232000" cy="144000"/>
          </a:xfrm>
        </p:spPr>
        <p:txBody>
          <a:bodyPr/>
          <a:lstStyle/>
          <a:p>
            <a:r>
              <a:rPr lang="en-US" altLang="zh-CN"/>
              <a:t>ADHD: Attention-Deficit/Hyperactivity Disorder; BPD: Borderline Personality Disorder; COA: Clinical Outcome Assessment </a:t>
            </a:r>
            <a:endParaRPr lang="zh-CN" altLang="en-US"/>
          </a:p>
        </p:txBody>
      </p:sp>
      <p:sp>
        <p:nvSpPr>
          <p:cNvPr id="6" name="Slide Number Placeholder 5">
            <a:extLst>
              <a:ext uri="{FF2B5EF4-FFF2-40B4-BE49-F238E27FC236}">
                <a16:creationId xmlns:a16="http://schemas.microsoft.com/office/drawing/2014/main" id="{410B83B8-7E3A-FD63-C34B-EDE53BDE1FA1}"/>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A211C0B9-3CE3-F60B-F713-D6E4C9C3C57D}"/>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17</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1843B2F5-47D9-BAAF-28D0-BC0F555D9C52}"/>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E51FFE77-403A-5259-E140-5BDE8E02D941}"/>
              </a:ext>
            </a:extLst>
          </p:cNvPr>
          <p:cNvCxnSpPr>
            <a:cxnSpLocks/>
          </p:cNvCxnSpPr>
          <p:nvPr/>
        </p:nvCxnSpPr>
        <p:spPr bwMode="auto">
          <a:xfrm flipH="1">
            <a:off x="0" y="3750619"/>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D53E9A4F-34A8-F9B0-BEEE-365F47475603}"/>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D8408ABC-3480-5F90-DF26-BBF1C7A05736}"/>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5E66D533-DBB8-12C1-2A84-40AB7B04F98B}"/>
              </a:ext>
            </a:extLst>
          </p:cNvPr>
          <p:cNvSpPr txBox="1"/>
          <p:nvPr/>
        </p:nvSpPr>
        <p:spPr>
          <a:xfrm>
            <a:off x="60338" y="1938790"/>
            <a:ext cx="773486"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Ph1b -</a:t>
            </a:r>
            <a:r>
              <a:rPr lang="en-US" altLang="zh-CN" sz="1067" b="1">
                <a:solidFill>
                  <a:srgbClr val="08312A"/>
                </a:solidFill>
                <a:cs typeface="Calibri" panose="020F0502020204030204" pitchFamily="34" charset="0"/>
              </a:rPr>
              <a:t>1516-0003</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E84DFEE4-603F-F93E-16CC-09631095793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00D53696-4A05-EAA9-298F-B5132C6B3CFB}"/>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7783" y="3778630"/>
            <a:ext cx="1138019" cy="560880"/>
          </a:xfrm>
          <a:prstGeom prst="rect">
            <a:avLst/>
          </a:prstGeom>
        </p:spPr>
      </p:pic>
      <p:sp>
        <p:nvSpPr>
          <p:cNvPr id="249" name="Rectangle 52">
            <a:extLst>
              <a:ext uri="{FF2B5EF4-FFF2-40B4-BE49-F238E27FC236}">
                <a16:creationId xmlns:a16="http://schemas.microsoft.com/office/drawing/2014/main" id="{433ABD22-DB80-1E04-12AE-2AA100ED6ECA}"/>
              </a:ext>
            </a:extLst>
          </p:cNvPr>
          <p:cNvSpPr/>
          <p:nvPr/>
        </p:nvSpPr>
        <p:spPr>
          <a:xfrm>
            <a:off x="1234655" y="2281956"/>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F9D90383-525A-5BBB-4F46-059D495FC3F7}"/>
              </a:ext>
            </a:extLst>
          </p:cNvPr>
          <p:cNvSpPr txBox="1"/>
          <p:nvPr>
            <p:custDataLst>
              <p:tags r:id="rId1"/>
            </p:custDataLst>
          </p:nvPr>
        </p:nvSpPr>
        <p:spPr>
          <a:xfrm>
            <a:off x="911108" y="1817814"/>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BADDECF2-7F73-F558-6798-6B9D434A5703}"/>
              </a:ext>
            </a:extLst>
          </p:cNvPr>
          <p:cNvSpPr/>
          <p:nvPr>
            <p:custDataLst>
              <p:tags r:id="rId2"/>
            </p:custDataLst>
          </p:nvPr>
        </p:nvSpPr>
        <p:spPr bwMode="auto">
          <a:xfrm>
            <a:off x="1434166" y="1991298"/>
            <a:ext cx="330875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Ph1b </a:t>
            </a:r>
            <a:r>
              <a:rPr lang="en-US" altLang="zh-CN" sz="1067" b="1" err="1">
                <a:solidFill>
                  <a:prstClr val="black"/>
                </a:solidFill>
                <a:ea typeface="等线" panose="02010600030101010101" pitchFamily="2" charset="-122"/>
                <a:cs typeface="Calibri" panose="020F0502020204030204" pitchFamily="34" charset="0"/>
              </a:rPr>
              <a:t>PoM</a:t>
            </a:r>
            <a:r>
              <a:rPr lang="en-US" altLang="zh-CN" sz="1067" b="1">
                <a:solidFill>
                  <a:prstClr val="black"/>
                </a:solidFill>
                <a:ea typeface="等线" panose="02010600030101010101" pitchFamily="2" charset="-122"/>
                <a:cs typeface="Calibri" panose="020F0502020204030204" pitchFamily="34" charset="0"/>
              </a:rPr>
              <a:t> in ADHD &amp; BPD,</a:t>
            </a:r>
            <a:r>
              <a:rPr lang="zh-CN" altLang="en-US" sz="1067" b="1">
                <a:solidFill>
                  <a:prstClr val="black"/>
                </a:solidFill>
                <a:ea typeface="等线" panose="02010600030101010101" pitchFamily="2" charset="-122"/>
                <a:cs typeface="Calibri" panose="020F0502020204030204" pitchFamily="34" charset="0"/>
              </a:rPr>
              <a:t> </a:t>
            </a:r>
            <a:r>
              <a:rPr lang="en-US" altLang="zh-CN" sz="1067" b="1">
                <a:solidFill>
                  <a:prstClr val="black"/>
                </a:solidFill>
                <a:ea typeface="等线" panose="02010600030101010101" pitchFamily="2" charset="-122"/>
                <a:cs typeface="Calibri" panose="020F0502020204030204" pitchFamily="34" charset="0"/>
              </a:rPr>
              <a:t>N=80 (GR)</a:t>
            </a:r>
            <a:endParaRPr lang="en-US" altLang="zh-CN" sz="1067" b="1">
              <a:solidFill>
                <a:srgbClr val="000000"/>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DB26956A-5FE4-DA89-50F6-8CE8F7609B85}"/>
              </a:ext>
            </a:extLst>
          </p:cNvPr>
          <p:cNvSpPr/>
          <p:nvPr/>
        </p:nvSpPr>
        <p:spPr bwMode="auto">
          <a:xfrm>
            <a:off x="1341256" y="218398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5" name="Rectangle 55">
            <a:extLst>
              <a:ext uri="{FF2B5EF4-FFF2-40B4-BE49-F238E27FC236}">
                <a16:creationId xmlns:a16="http://schemas.microsoft.com/office/drawing/2014/main" id="{4ED46B23-1D2B-4033-3BE3-67880292E142}"/>
              </a:ext>
            </a:extLst>
          </p:cNvPr>
          <p:cNvSpPr/>
          <p:nvPr/>
        </p:nvSpPr>
        <p:spPr>
          <a:xfrm>
            <a:off x="4288790" y="2283281"/>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50BF2557-B7C3-8B9A-719E-932C56D84E5D}"/>
              </a:ext>
            </a:extLst>
          </p:cNvPr>
          <p:cNvSpPr txBox="1"/>
          <p:nvPr>
            <p:custDataLst>
              <p:tags r:id="rId3"/>
            </p:custDataLst>
          </p:nvPr>
        </p:nvSpPr>
        <p:spPr>
          <a:xfrm>
            <a:off x="4247873" y="1819140"/>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BC604D53-1832-8449-11E6-FCCF2BF6E390}"/>
              </a:ext>
            </a:extLst>
          </p:cNvPr>
          <p:cNvSpPr/>
          <p:nvPr/>
        </p:nvSpPr>
        <p:spPr bwMode="auto">
          <a:xfrm>
            <a:off x="4652973" y="218530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5ECA5404-F405-9938-DDC3-F66A6F5438EF}"/>
              </a:ext>
            </a:extLst>
          </p:cNvPr>
          <p:cNvSpPr txBox="1"/>
          <p:nvPr/>
        </p:nvSpPr>
        <p:spPr>
          <a:xfrm>
            <a:off x="-44697" y="2526671"/>
            <a:ext cx="1048244"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Observational study - </a:t>
            </a:r>
          </a:p>
          <a:p>
            <a:pPr algn="ctr" defTabSz="914377">
              <a:defRPr/>
            </a:pPr>
            <a:r>
              <a:rPr lang="en-US" altLang="zh-CN" sz="1067" b="1">
                <a:solidFill>
                  <a:srgbClr val="08312A"/>
                </a:solidFill>
                <a:cs typeface="Calibri" panose="020F0502020204030204" pitchFamily="34" charset="0"/>
              </a:rPr>
              <a:t>1516-0030</a:t>
            </a:r>
          </a:p>
        </p:txBody>
      </p:sp>
      <p:grpSp>
        <p:nvGrpSpPr>
          <p:cNvPr id="248" name="Group 247">
            <a:extLst>
              <a:ext uri="{FF2B5EF4-FFF2-40B4-BE49-F238E27FC236}">
                <a16:creationId xmlns:a16="http://schemas.microsoft.com/office/drawing/2014/main" id="{2FEA1C50-1E2B-1ECE-A41D-F63D8F4686E4}"/>
              </a:ext>
            </a:extLst>
          </p:cNvPr>
          <p:cNvGrpSpPr/>
          <p:nvPr/>
        </p:nvGrpSpPr>
        <p:grpSpPr>
          <a:xfrm>
            <a:off x="3002555" y="1675830"/>
            <a:ext cx="598242" cy="2816865"/>
            <a:chOff x="2444277" y="1675830"/>
            <a:chExt cx="598242" cy="2816865"/>
          </a:xfrm>
        </p:grpSpPr>
        <p:cxnSp>
          <p:nvCxnSpPr>
            <p:cNvPr id="257" name="Straight Connector 147">
              <a:extLst>
                <a:ext uri="{FF2B5EF4-FFF2-40B4-BE49-F238E27FC236}">
                  <a16:creationId xmlns:a16="http://schemas.microsoft.com/office/drawing/2014/main" id="{00868A0C-A1E4-987E-C383-4368230A3A43}"/>
                </a:ext>
              </a:extLst>
            </p:cNvPr>
            <p:cNvCxnSpPr>
              <a:cxnSpLocks/>
              <a:endCxn id="260" idx="2"/>
            </p:cNvCxnSpPr>
            <p:nvPr/>
          </p:nvCxnSpPr>
          <p:spPr bwMode="auto">
            <a:xfrm flipV="1">
              <a:off x="2743398" y="1932375"/>
              <a:ext cx="0" cy="2560320"/>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0" name="Rectangle 52">
              <a:extLst>
                <a:ext uri="{FF2B5EF4-FFF2-40B4-BE49-F238E27FC236}">
                  <a16:creationId xmlns:a16="http://schemas.microsoft.com/office/drawing/2014/main" id="{5A29062D-01A7-C328-8196-F487B4853F74}"/>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312" name="文本框 160">
            <a:extLst>
              <a:ext uri="{FF2B5EF4-FFF2-40B4-BE49-F238E27FC236}">
                <a16:creationId xmlns:a16="http://schemas.microsoft.com/office/drawing/2014/main" id="{F681F3D6-A271-DB4E-E8ED-E1E0BD2AC357}"/>
              </a:ext>
            </a:extLst>
          </p:cNvPr>
          <p:cNvSpPr txBox="1"/>
          <p:nvPr/>
        </p:nvSpPr>
        <p:spPr>
          <a:xfrm>
            <a:off x="1626762" y="4960531"/>
            <a:ext cx="7418273" cy="1549360"/>
          </a:xfrm>
          <a:prstGeom prst="roundRect">
            <a:avLst/>
          </a:prstGeom>
          <a:solidFill>
            <a:schemeClr val="bg1"/>
          </a:solidFill>
          <a:ln>
            <a:solidFill>
              <a:srgbClr val="076D7E"/>
            </a:solidFill>
            <a:prstDash val="lgDash"/>
          </a:ln>
        </p:spPr>
        <p:txBody>
          <a:bodyPr wrap="square" lIns="91440" tIns="45720" rIns="91440" bIns="45720" rtlCol="0" anchor="ctr">
            <a:spAutoFit/>
          </a:bodyPr>
          <a:lstStyle/>
          <a:p>
            <a:pPr defTabSz="1219170">
              <a:spcAft>
                <a:spcPts val="267"/>
              </a:spcAft>
              <a:defRPr/>
            </a:pPr>
            <a:r>
              <a:rPr lang="en-US" altLang="zh-CN" sz="1000" b="1" i="1">
                <a:solidFill>
                  <a:srgbClr val="002060"/>
                </a:solidFill>
                <a:cs typeface="Calibri"/>
              </a:rPr>
              <a:t>China Update: </a:t>
            </a:r>
            <a:r>
              <a:rPr lang="en-US" altLang="zh-CN" sz="1000" i="1">
                <a:solidFill>
                  <a:srgbClr val="002060"/>
                </a:solidFill>
                <a:cs typeface="Calibri"/>
              </a:rPr>
              <a:t>1:1 consultations to understand BPD and impulsivity in BPD in China</a:t>
            </a: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Prof. Jun Tong (</a:t>
            </a:r>
            <a:r>
              <a:rPr lang="zh-CN" altLang="en-US" sz="1000" i="1">
                <a:solidFill>
                  <a:srgbClr val="002060"/>
                </a:solidFill>
                <a:cs typeface="Calibri"/>
              </a:rPr>
              <a:t>童俊</a:t>
            </a:r>
            <a:r>
              <a:rPr lang="en-US" altLang="zh-CN" sz="1000" i="1">
                <a:solidFill>
                  <a:srgbClr val="002060"/>
                </a:solidFill>
                <a:cs typeface="Calibri"/>
              </a:rPr>
              <a:t>) from Wuhan Mental Health Center: </a:t>
            </a:r>
          </a:p>
          <a:p>
            <a:pPr marL="628650" lvl="1" indent="-171450" defTabSz="1219170">
              <a:spcAft>
                <a:spcPts val="267"/>
              </a:spcAft>
              <a:buFont typeface="Arial" panose="020B0604020202020204" pitchFamily="34" charset="0"/>
              <a:buChar char="•"/>
              <a:defRPr/>
            </a:pPr>
            <a:r>
              <a:rPr lang="en-US" altLang="zh-CN" sz="1000" i="1">
                <a:solidFill>
                  <a:srgbClr val="002060"/>
                </a:solidFill>
                <a:cs typeface="Calibri"/>
              </a:rPr>
              <a:t>~20/month</a:t>
            </a:r>
            <a:r>
              <a:rPr lang="zh-CN" altLang="en-US" sz="1000" i="1">
                <a:solidFill>
                  <a:srgbClr val="002060"/>
                </a:solidFill>
                <a:cs typeface="Calibri"/>
              </a:rPr>
              <a:t> </a:t>
            </a:r>
            <a:r>
              <a:rPr lang="en-US" altLang="zh-CN" sz="1000" i="1">
                <a:solidFill>
                  <a:srgbClr val="002060"/>
                </a:solidFill>
                <a:cs typeface="Calibri"/>
              </a:rPr>
              <a:t>BPD</a:t>
            </a:r>
            <a:r>
              <a:rPr lang="zh-CN" altLang="en-US" sz="1000" i="1">
                <a:solidFill>
                  <a:srgbClr val="002060"/>
                </a:solidFill>
                <a:cs typeface="Calibri"/>
              </a:rPr>
              <a:t> </a:t>
            </a:r>
            <a:r>
              <a:rPr lang="en-US" altLang="zh-CN" sz="1000" i="1">
                <a:solidFill>
                  <a:srgbClr val="002060"/>
                </a:solidFill>
                <a:cs typeface="Calibri"/>
              </a:rPr>
              <a:t>patients in outpatient clinic. </a:t>
            </a:r>
          </a:p>
          <a:p>
            <a:pPr marL="628650" lvl="1" indent="-171450" defTabSz="1219170">
              <a:spcAft>
                <a:spcPts val="267"/>
              </a:spcAft>
              <a:buFont typeface="Arial" panose="020B0604020202020204" pitchFamily="34" charset="0"/>
              <a:buChar char="•"/>
              <a:defRPr/>
            </a:pPr>
            <a:r>
              <a:rPr lang="en-US" altLang="zh-CN" sz="1000" i="1">
                <a:solidFill>
                  <a:srgbClr val="002060"/>
                </a:solidFill>
                <a:cs typeface="Calibri"/>
              </a:rPr>
              <a:t>Most BPD patients present due to impulsivity symptoms. </a:t>
            </a:r>
          </a:p>
          <a:p>
            <a:pPr marL="628650" lvl="1" indent="-171450" defTabSz="1219170">
              <a:spcAft>
                <a:spcPts val="267"/>
              </a:spcAft>
              <a:buFont typeface="Arial" panose="020B0604020202020204" pitchFamily="34" charset="0"/>
              <a:buChar char="•"/>
              <a:defRPr/>
            </a:pPr>
            <a:r>
              <a:rPr lang="en-US" altLang="zh-CN" sz="1000" i="1">
                <a:solidFill>
                  <a:srgbClr val="002060"/>
                </a:solidFill>
                <a:cs typeface="Calibri"/>
              </a:rPr>
              <a:t>A database for BPD (~ 270 cases) with impulsivity assessment results (</a:t>
            </a:r>
            <a:r>
              <a:rPr lang="zh-CN" altLang="en-US" sz="1000" i="1">
                <a:solidFill>
                  <a:srgbClr val="002060"/>
                </a:solidFill>
                <a:cs typeface="Calibri"/>
              </a:rPr>
              <a:t>＞</a:t>
            </a:r>
            <a:r>
              <a:rPr lang="en-US" altLang="zh-CN" sz="1000" i="1">
                <a:solidFill>
                  <a:srgbClr val="002060"/>
                </a:solidFill>
                <a:cs typeface="Calibri"/>
              </a:rPr>
              <a:t>80 cases) has been identified.</a:t>
            </a: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Consultation with Prof. Zhen Wang (</a:t>
            </a:r>
            <a:r>
              <a:rPr lang="en-US" altLang="zh-CN" sz="1000" i="1" err="1">
                <a:solidFill>
                  <a:srgbClr val="002060"/>
                </a:solidFill>
                <a:cs typeface="Calibri"/>
              </a:rPr>
              <a:t>王振</a:t>
            </a:r>
            <a:r>
              <a:rPr lang="en-US" altLang="zh-CN" sz="1000" i="1">
                <a:solidFill>
                  <a:srgbClr val="002060"/>
                </a:solidFill>
                <a:cs typeface="Calibri"/>
              </a:rPr>
              <a:t>) from Shanghai Mental Health Center is planned on Thursday (19th Dec). </a:t>
            </a:r>
          </a:p>
          <a:p>
            <a:pPr marL="171450" indent="-171450" defTabSz="1219170">
              <a:spcAft>
                <a:spcPts val="267"/>
              </a:spcAft>
              <a:buFont typeface="Arial" panose="020B0604020202020204" pitchFamily="34" charset="0"/>
              <a:buChar char="•"/>
              <a:defRPr/>
            </a:pPr>
            <a:r>
              <a:rPr lang="en-US" altLang="zh-CN" sz="1000" i="1">
                <a:solidFill>
                  <a:srgbClr val="002060"/>
                </a:solidFill>
                <a:cs typeface="Calibri"/>
              </a:rPr>
              <a:t>Key insights will report back to global in Jan/Feb 2026 after all consultations are completed.</a:t>
            </a:r>
          </a:p>
        </p:txBody>
      </p:sp>
      <p:sp>
        <p:nvSpPr>
          <p:cNvPr id="18" name="OTLSHAPE_T_e17f3958430f4cff8650518c93c7635e_Shape">
            <a:extLst>
              <a:ext uri="{FF2B5EF4-FFF2-40B4-BE49-F238E27FC236}">
                <a16:creationId xmlns:a16="http://schemas.microsoft.com/office/drawing/2014/main" id="{FB05F816-9EDA-6F54-4B27-841DE14154F5}"/>
              </a:ext>
            </a:extLst>
          </p:cNvPr>
          <p:cNvSpPr/>
          <p:nvPr>
            <p:custDataLst>
              <p:tags r:id="rId4"/>
            </p:custDataLst>
          </p:nvPr>
        </p:nvSpPr>
        <p:spPr bwMode="auto">
          <a:xfrm>
            <a:off x="6749145" y="3167651"/>
            <a:ext cx="333537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Ph2a PoC in BPD</a:t>
            </a:r>
          </a:p>
        </p:txBody>
      </p:sp>
      <p:sp>
        <p:nvSpPr>
          <p:cNvPr id="261" name="OTLSHAPE_T_e17f3958430f4cff8650518c93c7635e_Shape">
            <a:extLst>
              <a:ext uri="{FF2B5EF4-FFF2-40B4-BE49-F238E27FC236}">
                <a16:creationId xmlns:a16="http://schemas.microsoft.com/office/drawing/2014/main" id="{0194268C-123F-A63B-DC6B-9C9541D078CE}"/>
              </a:ext>
            </a:extLst>
          </p:cNvPr>
          <p:cNvSpPr/>
          <p:nvPr>
            <p:custDataLst>
              <p:tags r:id="rId5"/>
            </p:custDataLst>
          </p:nvPr>
        </p:nvSpPr>
        <p:spPr bwMode="auto">
          <a:xfrm>
            <a:off x="5574060" y="4380566"/>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62" name="Rectangle 77">
            <a:extLst>
              <a:ext uri="{FF2B5EF4-FFF2-40B4-BE49-F238E27FC236}">
                <a16:creationId xmlns:a16="http://schemas.microsoft.com/office/drawing/2014/main" id="{97D04A57-7E5B-8013-67AD-6FEDDCD380B6}"/>
              </a:ext>
            </a:extLst>
          </p:cNvPr>
          <p:cNvSpPr/>
          <p:nvPr/>
        </p:nvSpPr>
        <p:spPr>
          <a:xfrm>
            <a:off x="6529560" y="4668857"/>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3" name="OTLSHAPE_M_39ea6ebc19a94c9fab6ef5006c31df58_Shape">
            <a:extLst>
              <a:ext uri="{FF2B5EF4-FFF2-40B4-BE49-F238E27FC236}">
                <a16:creationId xmlns:a16="http://schemas.microsoft.com/office/drawing/2014/main" id="{36AF57E8-D16B-AA9E-6855-DB6806C37120}"/>
              </a:ext>
            </a:extLst>
          </p:cNvPr>
          <p:cNvSpPr/>
          <p:nvPr>
            <p:custDataLst>
              <p:tags r:id="rId6"/>
            </p:custDataLst>
          </p:nvPr>
        </p:nvSpPr>
        <p:spPr bwMode="auto">
          <a:xfrm rot="16200000">
            <a:off x="5563283" y="4613509"/>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66" name="OTLSHAPE_M_39ea6ebc19a94c9fab6ef5006c31df58_Title">
            <a:extLst>
              <a:ext uri="{FF2B5EF4-FFF2-40B4-BE49-F238E27FC236}">
                <a16:creationId xmlns:a16="http://schemas.microsoft.com/office/drawing/2014/main" id="{2B03386F-2F01-2B68-CF32-A1ED54479EA0}"/>
              </a:ext>
            </a:extLst>
          </p:cNvPr>
          <p:cNvSpPr txBox="1"/>
          <p:nvPr>
            <p:custDataLst>
              <p:tags r:id="rId7"/>
            </p:custDataLst>
          </p:nvPr>
        </p:nvSpPr>
        <p:spPr>
          <a:xfrm>
            <a:off x="5344605" y="4715023"/>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7" name="Star: 4 Points 143">
            <a:extLst>
              <a:ext uri="{FF2B5EF4-FFF2-40B4-BE49-F238E27FC236}">
                <a16:creationId xmlns:a16="http://schemas.microsoft.com/office/drawing/2014/main" id="{A6C32C61-7905-6C94-3ABA-53B7F28C28AF}"/>
              </a:ext>
            </a:extLst>
          </p:cNvPr>
          <p:cNvSpPr/>
          <p:nvPr/>
        </p:nvSpPr>
        <p:spPr bwMode="auto">
          <a:xfrm>
            <a:off x="6659469" y="458267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3" name="TextBox 64">
            <a:extLst>
              <a:ext uri="{FF2B5EF4-FFF2-40B4-BE49-F238E27FC236}">
                <a16:creationId xmlns:a16="http://schemas.microsoft.com/office/drawing/2014/main" id="{C1BFDBDC-2778-C778-373C-33C9E5442E47}"/>
              </a:ext>
            </a:extLst>
          </p:cNvPr>
          <p:cNvSpPr txBox="1"/>
          <p:nvPr/>
        </p:nvSpPr>
        <p:spPr>
          <a:xfrm>
            <a:off x="31593" y="4344743"/>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1516-0006</a:t>
            </a:r>
          </a:p>
        </p:txBody>
      </p:sp>
      <p:sp>
        <p:nvSpPr>
          <p:cNvPr id="12" name="OTLSHAPE_T_e17f3958430f4cff8650518c93c7635e_Shape">
            <a:extLst>
              <a:ext uri="{FF2B5EF4-FFF2-40B4-BE49-F238E27FC236}">
                <a16:creationId xmlns:a16="http://schemas.microsoft.com/office/drawing/2014/main" id="{BA649E0B-3B53-31CF-606C-6D791713C8B5}"/>
              </a:ext>
            </a:extLst>
          </p:cNvPr>
          <p:cNvSpPr/>
          <p:nvPr>
            <p:custDataLst>
              <p:tags r:id="rId8"/>
            </p:custDataLst>
          </p:nvPr>
        </p:nvSpPr>
        <p:spPr bwMode="auto">
          <a:xfrm>
            <a:off x="3961298" y="2605692"/>
            <a:ext cx="1763662"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Observational COA</a:t>
            </a:r>
            <a:endParaRPr lang="en-US" altLang="zh-CN" sz="1067" b="1">
              <a:solidFill>
                <a:srgbClr val="000000"/>
              </a:solidFill>
              <a:ea typeface="等线" panose="02010600030101010101" pitchFamily="2" charset="-122"/>
              <a:cs typeface="Calibri" panose="020F0502020204030204" pitchFamily="34" charset="0"/>
            </a:endParaRPr>
          </a:p>
        </p:txBody>
      </p:sp>
      <p:sp>
        <p:nvSpPr>
          <p:cNvPr id="13" name="TextBox 64">
            <a:extLst>
              <a:ext uri="{FF2B5EF4-FFF2-40B4-BE49-F238E27FC236}">
                <a16:creationId xmlns:a16="http://schemas.microsoft.com/office/drawing/2014/main" id="{2332A135-3995-4521-71EA-970BEFD5698C}"/>
              </a:ext>
            </a:extLst>
          </p:cNvPr>
          <p:cNvSpPr txBox="1"/>
          <p:nvPr/>
        </p:nvSpPr>
        <p:spPr>
          <a:xfrm>
            <a:off x="57046" y="3133412"/>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1516-0006</a:t>
            </a:r>
          </a:p>
        </p:txBody>
      </p:sp>
      <p:cxnSp>
        <p:nvCxnSpPr>
          <p:cNvPr id="16" name="Connector: Elbow 15">
            <a:extLst>
              <a:ext uri="{FF2B5EF4-FFF2-40B4-BE49-F238E27FC236}">
                <a16:creationId xmlns:a16="http://schemas.microsoft.com/office/drawing/2014/main" id="{DB4948A0-36D4-0073-B325-C1DD506A8EBC}"/>
              </a:ext>
            </a:extLst>
          </p:cNvPr>
          <p:cNvCxnSpPr>
            <a:stCxn id="12" idx="3"/>
            <a:endCxn id="18" idx="1"/>
          </p:cNvCxnSpPr>
          <p:nvPr/>
        </p:nvCxnSpPr>
        <p:spPr bwMode="gray">
          <a:xfrm>
            <a:off x="5724960" y="2749692"/>
            <a:ext cx="1024185" cy="561959"/>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17" name="组合 129">
            <a:extLst>
              <a:ext uri="{FF2B5EF4-FFF2-40B4-BE49-F238E27FC236}">
                <a16:creationId xmlns:a16="http://schemas.microsoft.com/office/drawing/2014/main" id="{929E6E5B-7F0B-57F7-1146-584182C4D2C4}"/>
              </a:ext>
            </a:extLst>
          </p:cNvPr>
          <p:cNvGrpSpPr/>
          <p:nvPr/>
        </p:nvGrpSpPr>
        <p:grpSpPr>
          <a:xfrm>
            <a:off x="10165964" y="3165629"/>
            <a:ext cx="798617" cy="584968"/>
            <a:chOff x="9434742" y="3109009"/>
            <a:chExt cx="798617" cy="584967"/>
          </a:xfrm>
        </p:grpSpPr>
        <p:sp>
          <p:nvSpPr>
            <p:cNvPr id="19" name="Rectangle 100">
              <a:extLst>
                <a:ext uri="{FF2B5EF4-FFF2-40B4-BE49-F238E27FC236}">
                  <a16:creationId xmlns:a16="http://schemas.microsoft.com/office/drawing/2014/main" id="{4AC20C9C-FF5C-760D-AA62-65C8A44100C1}"/>
                </a:ext>
              </a:extLst>
            </p:cNvPr>
            <p:cNvSpPr/>
            <p:nvPr/>
          </p:nvSpPr>
          <p:spPr>
            <a:xfrm>
              <a:off x="9434742" y="3109009"/>
              <a:ext cx="798617" cy="584967"/>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H2 2029</a:t>
              </a:r>
            </a:p>
            <a:p>
              <a:pPr algn="ctr" defTabSz="914377">
                <a:defRPr/>
              </a:pPr>
              <a:endParaRPr lang="en-US" altLang="zh-CN" sz="1067" b="1">
                <a:solidFill>
                  <a:srgbClr val="44546A"/>
                </a:solidFill>
                <a:ea typeface="等线" panose="02010600030101010101" pitchFamily="2" charset="-122"/>
                <a:cs typeface="Calibri" panose="020F0502020204030204" pitchFamily="34" charset="0"/>
              </a:endParaRPr>
            </a:p>
            <a:p>
              <a:pPr algn="ctr" defTabSz="914377">
                <a:defRPr/>
              </a:pPr>
              <a:r>
                <a:rPr lang="en-US" altLang="zh-CN" sz="1067" b="1">
                  <a:solidFill>
                    <a:srgbClr val="44546A"/>
                  </a:solidFill>
                  <a:ea typeface="等线" panose="02010600030101010101" pitchFamily="2" charset="-122"/>
                  <a:cs typeface="Calibri" panose="020F0502020204030204" pitchFamily="34" charset="0"/>
                </a:rPr>
                <a:t>BTD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0" name="Star: 4 Points 143">
              <a:extLst>
                <a:ext uri="{FF2B5EF4-FFF2-40B4-BE49-F238E27FC236}">
                  <a16:creationId xmlns:a16="http://schemas.microsoft.com/office/drawing/2014/main" id="{659DB969-2E15-61B7-34EE-BD31C514E582}"/>
                </a:ext>
              </a:extLst>
            </p:cNvPr>
            <p:cNvSpPr/>
            <p:nvPr/>
          </p:nvSpPr>
          <p:spPr bwMode="auto">
            <a:xfrm>
              <a:off x="9741927" y="3313655"/>
              <a:ext cx="184243" cy="187816"/>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1067">
                <a:solidFill>
                  <a:srgbClr val="0066FF"/>
                </a:solidFill>
                <a:ea typeface="等线" panose="02010600030101010101" pitchFamily="2" charset="-122"/>
                <a:cs typeface="Calibri" panose="020F0502020204030204" pitchFamily="34" charset="0"/>
              </a:endParaRPr>
            </a:p>
          </p:txBody>
        </p:sp>
      </p:grpSp>
      <p:sp>
        <p:nvSpPr>
          <p:cNvPr id="21" name="OTLSHAPE_T_e17f3958430f4cff8650518c93c7635e_Shape">
            <a:extLst>
              <a:ext uri="{FF2B5EF4-FFF2-40B4-BE49-F238E27FC236}">
                <a16:creationId xmlns:a16="http://schemas.microsoft.com/office/drawing/2014/main" id="{4DAC73F2-D932-C51F-8C51-29D81B2BB3CF}"/>
              </a:ext>
            </a:extLst>
          </p:cNvPr>
          <p:cNvSpPr/>
          <p:nvPr>
            <p:custDataLst>
              <p:tags r:id="rId9"/>
            </p:custDataLst>
          </p:nvPr>
        </p:nvSpPr>
        <p:spPr bwMode="auto">
          <a:xfrm>
            <a:off x="6746790" y="4388166"/>
            <a:ext cx="333537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Ph2a PoC in BPD</a:t>
            </a:r>
          </a:p>
        </p:txBody>
      </p:sp>
      <p:grpSp>
        <p:nvGrpSpPr>
          <p:cNvPr id="23" name="组合 129">
            <a:extLst>
              <a:ext uri="{FF2B5EF4-FFF2-40B4-BE49-F238E27FC236}">
                <a16:creationId xmlns:a16="http://schemas.microsoft.com/office/drawing/2014/main" id="{A81509C7-6AFC-0270-CE1A-640EB17677ED}"/>
              </a:ext>
            </a:extLst>
          </p:cNvPr>
          <p:cNvGrpSpPr/>
          <p:nvPr/>
        </p:nvGrpSpPr>
        <p:grpSpPr>
          <a:xfrm>
            <a:off x="10203912" y="4360910"/>
            <a:ext cx="798617" cy="584968"/>
            <a:chOff x="9434742" y="3109009"/>
            <a:chExt cx="798617" cy="584967"/>
          </a:xfrm>
        </p:grpSpPr>
        <p:sp>
          <p:nvSpPr>
            <p:cNvPr id="24" name="Rectangle 100">
              <a:extLst>
                <a:ext uri="{FF2B5EF4-FFF2-40B4-BE49-F238E27FC236}">
                  <a16:creationId xmlns:a16="http://schemas.microsoft.com/office/drawing/2014/main" id="{A363D5F5-3929-99CA-BAD1-16D504E045F3}"/>
                </a:ext>
              </a:extLst>
            </p:cNvPr>
            <p:cNvSpPr/>
            <p:nvPr/>
          </p:nvSpPr>
          <p:spPr>
            <a:xfrm>
              <a:off x="9434742" y="3109009"/>
              <a:ext cx="798617" cy="584967"/>
            </a:xfrm>
            <a:prstGeom prst="rect">
              <a:avLst/>
            </a:prstGeom>
          </p:spPr>
          <p:txBody>
            <a:bodyPr wrap="none">
              <a:spAutoFit/>
            </a:bodyPr>
            <a:lstStyle/>
            <a:p>
              <a:pPr algn="ctr" defTabSz="914377">
                <a:defRPr/>
              </a:pPr>
              <a:r>
                <a:rPr lang="en-US" altLang="zh-CN" sz="1067" b="1" i="1">
                  <a:solidFill>
                    <a:schemeClr val="bg1">
                      <a:lumMod val="65000"/>
                    </a:schemeClr>
                  </a:solidFill>
                  <a:ea typeface="等线" panose="02010600030101010101" pitchFamily="2" charset="-122"/>
                  <a:cs typeface="Calibri" panose="020F0502020204030204" pitchFamily="34" charset="0"/>
                </a:rPr>
                <a:t>H2 2029</a:t>
              </a:r>
            </a:p>
            <a:p>
              <a:pPr algn="ctr" defTabSz="914377">
                <a:defRPr/>
              </a:pPr>
              <a:endParaRPr lang="en-US" altLang="zh-CN" sz="1067" b="1">
                <a:solidFill>
                  <a:srgbClr val="44546A"/>
                </a:solidFill>
                <a:ea typeface="等线" panose="02010600030101010101" pitchFamily="2" charset="-122"/>
                <a:cs typeface="Calibri" panose="020F0502020204030204" pitchFamily="34" charset="0"/>
              </a:endParaRPr>
            </a:p>
            <a:p>
              <a:pPr algn="ctr" defTabSz="914377">
                <a:defRPr/>
              </a:pPr>
              <a:r>
                <a:rPr lang="en-US" altLang="zh-CN" sz="1067" b="1">
                  <a:solidFill>
                    <a:srgbClr val="44546A"/>
                  </a:solidFill>
                  <a:ea typeface="等线" panose="02010600030101010101" pitchFamily="2" charset="-122"/>
                  <a:cs typeface="Calibri" panose="020F0502020204030204" pitchFamily="34" charset="0"/>
                </a:rPr>
                <a:t>BTD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5" name="Star: 4 Points 143">
              <a:extLst>
                <a:ext uri="{FF2B5EF4-FFF2-40B4-BE49-F238E27FC236}">
                  <a16:creationId xmlns:a16="http://schemas.microsoft.com/office/drawing/2014/main" id="{8AA91D08-66BF-F86C-84FD-C646C92404D1}"/>
                </a:ext>
              </a:extLst>
            </p:cNvPr>
            <p:cNvSpPr/>
            <p:nvPr/>
          </p:nvSpPr>
          <p:spPr bwMode="auto">
            <a:xfrm>
              <a:off x="9741927" y="3313655"/>
              <a:ext cx="184243" cy="187816"/>
            </a:xfrm>
            <a:prstGeom prst="star4">
              <a:avLst>
                <a:gd name="adj" fmla="val 12500"/>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1067">
                <a:solidFill>
                  <a:srgbClr val="0066FF"/>
                </a:solidFill>
                <a:ea typeface="等线" panose="02010600030101010101" pitchFamily="2" charset="-122"/>
                <a:cs typeface="Calibri" panose="020F0502020204030204" pitchFamily="34" charset="0"/>
              </a:endParaRPr>
            </a:p>
          </p:txBody>
        </p:sp>
      </p:grpSp>
      <p:sp>
        <p:nvSpPr>
          <p:cNvPr id="310" name="文本框 160">
            <a:extLst>
              <a:ext uri="{FF2B5EF4-FFF2-40B4-BE49-F238E27FC236}">
                <a16:creationId xmlns:a16="http://schemas.microsoft.com/office/drawing/2014/main" id="{9CE06C17-EF59-AFE3-92B8-DE5E347FDBAE}"/>
              </a:ext>
            </a:extLst>
          </p:cNvPr>
          <p:cNvSpPr txBox="1"/>
          <p:nvPr/>
        </p:nvSpPr>
        <p:spPr>
          <a:xfrm>
            <a:off x="6080760" y="1956620"/>
            <a:ext cx="5616575" cy="661452"/>
          </a:xfrm>
          <a:prstGeom prst="roundRect">
            <a:avLst>
              <a:gd name="adj" fmla="val 9252"/>
            </a:avLst>
          </a:prstGeom>
          <a:solidFill>
            <a:schemeClr val="bg1"/>
          </a:solidFill>
          <a:ln>
            <a:solidFill>
              <a:srgbClr val="076D7E"/>
            </a:solidFill>
            <a:prstDash val="lgDash"/>
          </a:ln>
        </p:spPr>
        <p:txBody>
          <a:bodyPr wrap="square" rtlCol="0" anchor="ctr">
            <a:spAutoFit/>
          </a:bodyPr>
          <a:lstStyle/>
          <a:p>
            <a:pPr defTabSz="1219170">
              <a:lnSpc>
                <a:spcPts val="1200"/>
              </a:lnSpc>
              <a:spcAft>
                <a:spcPts val="267"/>
              </a:spcAft>
              <a:defRPr/>
            </a:pPr>
            <a:r>
              <a:rPr lang="en-US" altLang="zh-CN" sz="1000" b="1" i="1">
                <a:solidFill>
                  <a:srgbClr val="002060"/>
                </a:solidFill>
                <a:cs typeface="Calibri" panose="020F0502020204030204" pitchFamily="34" charset="0"/>
              </a:rPr>
              <a:t>Global Update:</a:t>
            </a:r>
            <a:endParaRPr lang="zh-CN" altLang="en-US"/>
          </a:p>
          <a:p>
            <a:pPr marL="95998" indent="-95998" defTabSz="1219170">
              <a:lnSpc>
                <a:spcPts val="1200"/>
              </a:lnSpc>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Impurity found during MRD may delay timeline. Further test is ongoing.</a:t>
            </a:r>
          </a:p>
          <a:p>
            <a:pPr marL="95998" indent="-95998" defTabSz="1219170">
              <a:lnSpc>
                <a:spcPts val="1200"/>
              </a:lnSpc>
              <a:spcAft>
                <a:spcPts val="267"/>
              </a:spcAft>
              <a:buFont typeface="Arial" panose="020B0604020202020204" pitchFamily="34" charset="0"/>
              <a:buChar char="•"/>
              <a:defRPr/>
            </a:pPr>
            <a:r>
              <a:rPr lang="en-US" altLang="zh-CN" sz="1000" i="1">
                <a:solidFill>
                  <a:schemeClr val="bg1">
                    <a:lumMod val="50000"/>
                  </a:schemeClr>
                </a:solidFill>
                <a:cs typeface="Calibri" panose="020F0502020204030204" pitchFamily="34" charset="0"/>
              </a:rPr>
              <a:t>Path to PoC strategy (incl. PoC design) will be endorsed in IUEC Q1 2026.</a:t>
            </a:r>
          </a:p>
        </p:txBody>
      </p:sp>
    </p:spTree>
    <p:extLst>
      <p:ext uri="{BB962C8B-B14F-4D97-AF65-F5344CB8AC3E}">
        <p14:creationId xmlns:p14="http://schemas.microsoft.com/office/powerpoint/2010/main" val="30492628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B58DD-9679-95A4-DFFD-A3DAF3185D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FD8069-966B-5C1D-2DCA-40EBA6AE0C8B}"/>
              </a:ext>
            </a:extLst>
          </p:cNvPr>
          <p:cNvSpPr>
            <a:spLocks noGrp="1"/>
          </p:cNvSpPr>
          <p:nvPr>
            <p:ph type="title"/>
          </p:nvPr>
        </p:nvSpPr>
        <p:spPr/>
        <p:txBody>
          <a:bodyPr/>
          <a:lstStyle/>
          <a:p>
            <a:r>
              <a:rPr lang="en-US" altLang="zh-CN">
                <a:latin typeface="+mn-lt"/>
              </a:rPr>
              <a:t>BI 1356225 / </a:t>
            </a:r>
            <a:r>
              <a:rPr lang="en-US" altLang="zh-CN" err="1">
                <a:latin typeface="+mn-lt"/>
              </a:rPr>
              <a:t>GOATi</a:t>
            </a:r>
            <a:r>
              <a:rPr lang="en-US" altLang="zh-CN">
                <a:latin typeface="+mn-lt"/>
              </a:rPr>
              <a:t>, Impulsivity SUD, Development Plan </a:t>
            </a:r>
            <a:endParaRPr lang="zh-CN" altLang="en-US">
              <a:latin typeface="+mn-lt"/>
            </a:endParaRPr>
          </a:p>
        </p:txBody>
      </p:sp>
      <p:sp>
        <p:nvSpPr>
          <p:cNvPr id="4" name="Text Placeholder 3">
            <a:extLst>
              <a:ext uri="{FF2B5EF4-FFF2-40B4-BE49-F238E27FC236}">
                <a16:creationId xmlns:a16="http://schemas.microsoft.com/office/drawing/2014/main" id="{79F1E847-3E8C-1DDB-3BEE-AA80048B300D}"/>
              </a:ext>
            </a:extLst>
          </p:cNvPr>
          <p:cNvSpPr>
            <a:spLocks noGrp="1"/>
          </p:cNvSpPr>
          <p:nvPr>
            <p:ph type="body" sz="quarter" idx="13"/>
          </p:nvPr>
        </p:nvSpPr>
        <p:spPr>
          <a:xfrm>
            <a:off x="479424" y="6656145"/>
            <a:ext cx="11232000" cy="144000"/>
          </a:xfrm>
        </p:spPr>
        <p:txBody>
          <a:bodyPr/>
          <a:lstStyle/>
          <a:p>
            <a:r>
              <a:rPr lang="en-US" altLang="zh-CN"/>
              <a:t>Impulsivity </a:t>
            </a:r>
            <a:r>
              <a:rPr lang="en-US" altLang="zh-CN" err="1"/>
              <a:t>SuD</a:t>
            </a:r>
            <a:r>
              <a:rPr lang="en-US" altLang="zh-CN"/>
              <a:t>: Impulsivity Substance Use Disorders; OUD: Opioid Use Disorder; CUD: Cocaine Use Disorder; CSP: Chinese Society of Psychiatry</a:t>
            </a:r>
            <a:endParaRPr lang="zh-CN" altLang="en-US"/>
          </a:p>
        </p:txBody>
      </p:sp>
      <p:sp>
        <p:nvSpPr>
          <p:cNvPr id="6" name="Slide Number Placeholder 5">
            <a:extLst>
              <a:ext uri="{FF2B5EF4-FFF2-40B4-BE49-F238E27FC236}">
                <a16:creationId xmlns:a16="http://schemas.microsoft.com/office/drawing/2014/main" id="{A6C0AF08-8D48-F01C-0AFC-2F9BBA06E8CB}"/>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D90A3AB9-B846-13ED-24A9-993E374E9EF7}"/>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18</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DFD6AA33-99B1-832C-AEE9-978CF8558F65}"/>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CB9631F1-2172-3EF8-BF34-DD38CAC02F6A}"/>
              </a:ext>
            </a:extLst>
          </p:cNvPr>
          <p:cNvCxnSpPr>
            <a:cxnSpLocks/>
          </p:cNvCxnSpPr>
          <p:nvPr/>
        </p:nvCxnSpPr>
        <p:spPr bwMode="auto">
          <a:xfrm flipH="1">
            <a:off x="0" y="4246277"/>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87777895-4B85-CD31-C079-CC7A7E35B3F6}"/>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4EA91A4B-E916-8CF9-467E-D8023638F13C}"/>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E5050BC1-8E4C-E929-1542-3AC6C4D47C3F}"/>
              </a:ext>
            </a:extLst>
          </p:cNvPr>
          <p:cNvSpPr txBox="1"/>
          <p:nvPr/>
        </p:nvSpPr>
        <p:spPr>
          <a:xfrm>
            <a:off x="57370" y="1938114"/>
            <a:ext cx="776454"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Ph1b -</a:t>
            </a:r>
          </a:p>
          <a:p>
            <a:pPr algn="ctr" defTabSz="914377">
              <a:defRPr/>
            </a:pPr>
            <a:r>
              <a:rPr lang="en-US" altLang="zh-CN" sz="1067" b="1">
                <a:solidFill>
                  <a:srgbClr val="08312A"/>
                </a:solidFill>
                <a:cs typeface="Calibri" panose="020F0502020204030204" pitchFamily="34" charset="0"/>
              </a:rPr>
              <a:t>1427-0015</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B2A0C3C4-3170-E376-F90F-80960D132EE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43A1924A-F89F-F801-88CF-F92B46E0D4D2}"/>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27783" y="4487933"/>
            <a:ext cx="1138019" cy="560880"/>
          </a:xfrm>
          <a:prstGeom prst="rect">
            <a:avLst/>
          </a:prstGeom>
        </p:spPr>
      </p:pic>
      <p:sp>
        <p:nvSpPr>
          <p:cNvPr id="249" name="Rectangle 52">
            <a:extLst>
              <a:ext uri="{FF2B5EF4-FFF2-40B4-BE49-F238E27FC236}">
                <a16:creationId xmlns:a16="http://schemas.microsoft.com/office/drawing/2014/main" id="{1A68FEA3-B77B-7D61-4E8B-E953DE4BA6A4}"/>
              </a:ext>
            </a:extLst>
          </p:cNvPr>
          <p:cNvSpPr/>
          <p:nvPr/>
        </p:nvSpPr>
        <p:spPr>
          <a:xfrm>
            <a:off x="1234655" y="2281956"/>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250A5EB6-38EA-721F-E687-75425DAFD6DB}"/>
              </a:ext>
            </a:extLst>
          </p:cNvPr>
          <p:cNvSpPr txBox="1"/>
          <p:nvPr>
            <p:custDataLst>
              <p:tags r:id="rId1"/>
            </p:custDataLst>
          </p:nvPr>
        </p:nvSpPr>
        <p:spPr>
          <a:xfrm>
            <a:off x="911108" y="1817814"/>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2E1F911C-1A84-F0F0-4D7A-B3A7795B885B}"/>
              </a:ext>
            </a:extLst>
          </p:cNvPr>
          <p:cNvSpPr/>
          <p:nvPr>
            <p:custDataLst>
              <p:tags r:id="rId2"/>
            </p:custDataLst>
          </p:nvPr>
        </p:nvSpPr>
        <p:spPr bwMode="auto">
          <a:xfrm>
            <a:off x="1434166" y="1991298"/>
            <a:ext cx="3308750"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Ph1b </a:t>
            </a:r>
            <a:r>
              <a:rPr lang="en-US" altLang="zh-CN" sz="1067" b="1" err="1">
                <a:solidFill>
                  <a:prstClr val="black"/>
                </a:solidFill>
                <a:ea typeface="等线" panose="02010600030101010101" pitchFamily="2" charset="-122"/>
                <a:cs typeface="Calibri" panose="020F0502020204030204" pitchFamily="34" charset="0"/>
              </a:rPr>
              <a:t>PoM</a:t>
            </a:r>
            <a:r>
              <a:rPr lang="en-US" altLang="zh-CN" sz="1067" b="1">
                <a:solidFill>
                  <a:prstClr val="black"/>
                </a:solidFill>
                <a:ea typeface="等线" panose="02010600030101010101" pitchFamily="2" charset="-122"/>
                <a:cs typeface="Calibri" panose="020F0502020204030204" pitchFamily="34" charset="0"/>
              </a:rPr>
              <a:t>,</a:t>
            </a:r>
            <a:r>
              <a:rPr lang="zh-CN" altLang="en-US" sz="1067" b="1">
                <a:solidFill>
                  <a:prstClr val="black"/>
                </a:solidFill>
                <a:ea typeface="等线" panose="02010600030101010101" pitchFamily="2" charset="-122"/>
                <a:cs typeface="Calibri" panose="020F0502020204030204" pitchFamily="34" charset="0"/>
              </a:rPr>
              <a:t> </a:t>
            </a:r>
            <a:r>
              <a:rPr lang="en-US" altLang="zh-CN" sz="1067" b="1">
                <a:solidFill>
                  <a:prstClr val="black"/>
                </a:solidFill>
                <a:ea typeface="等线" panose="02010600030101010101" pitchFamily="2" charset="-122"/>
                <a:cs typeface="Calibri" panose="020F0502020204030204" pitchFamily="34" charset="0"/>
              </a:rPr>
              <a:t>N=60 (US)</a:t>
            </a:r>
            <a:endParaRPr lang="en-US" altLang="zh-CN" sz="1067" b="1">
              <a:solidFill>
                <a:srgbClr val="000000"/>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EC43D49C-C5A7-26B7-4F0E-F7A8B34C4009}"/>
              </a:ext>
            </a:extLst>
          </p:cNvPr>
          <p:cNvSpPr/>
          <p:nvPr/>
        </p:nvSpPr>
        <p:spPr bwMode="auto">
          <a:xfrm>
            <a:off x="1341256" y="218398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5" name="Rectangle 55">
            <a:extLst>
              <a:ext uri="{FF2B5EF4-FFF2-40B4-BE49-F238E27FC236}">
                <a16:creationId xmlns:a16="http://schemas.microsoft.com/office/drawing/2014/main" id="{1FF46C0E-F9AF-4579-4CEB-8EC6DEAA6485}"/>
              </a:ext>
            </a:extLst>
          </p:cNvPr>
          <p:cNvSpPr/>
          <p:nvPr/>
        </p:nvSpPr>
        <p:spPr>
          <a:xfrm>
            <a:off x="4288790" y="2283281"/>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7" name="OTLSHAPE_T_e17f3958430f4cff8650518c93c7635e_StartDate">
            <a:extLst>
              <a:ext uri="{FF2B5EF4-FFF2-40B4-BE49-F238E27FC236}">
                <a16:creationId xmlns:a16="http://schemas.microsoft.com/office/drawing/2014/main" id="{24B33351-EF97-718F-B100-FC4CE10C901C}"/>
              </a:ext>
            </a:extLst>
          </p:cNvPr>
          <p:cNvSpPr txBox="1"/>
          <p:nvPr>
            <p:custDataLst>
              <p:tags r:id="rId3"/>
            </p:custDataLst>
          </p:nvPr>
        </p:nvSpPr>
        <p:spPr>
          <a:xfrm>
            <a:off x="4247873" y="1819140"/>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FB759045-37F9-8B33-B97B-ED507A925840}"/>
              </a:ext>
            </a:extLst>
          </p:cNvPr>
          <p:cNvSpPr/>
          <p:nvPr/>
        </p:nvSpPr>
        <p:spPr bwMode="auto">
          <a:xfrm>
            <a:off x="4652973" y="218530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 name="TextBox 64">
            <a:extLst>
              <a:ext uri="{FF2B5EF4-FFF2-40B4-BE49-F238E27FC236}">
                <a16:creationId xmlns:a16="http://schemas.microsoft.com/office/drawing/2014/main" id="{3871EAE6-4197-5DFE-2FAD-86BC959262DD}"/>
              </a:ext>
            </a:extLst>
          </p:cNvPr>
          <p:cNvSpPr txBox="1"/>
          <p:nvPr/>
        </p:nvSpPr>
        <p:spPr>
          <a:xfrm>
            <a:off x="31594" y="2708134"/>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1427-0016/</a:t>
            </a:r>
          </a:p>
          <a:p>
            <a:pPr algn="ctr" defTabSz="914377">
              <a:defRPr/>
            </a:pPr>
            <a:r>
              <a:rPr lang="en-US" altLang="zh-CN" sz="1067" b="1">
                <a:solidFill>
                  <a:srgbClr val="08312A"/>
                </a:solidFill>
                <a:cs typeface="Calibri" panose="020F0502020204030204" pitchFamily="34" charset="0"/>
              </a:rPr>
              <a:t>1427-0017</a:t>
            </a:r>
          </a:p>
        </p:txBody>
      </p:sp>
      <p:grpSp>
        <p:nvGrpSpPr>
          <p:cNvPr id="248" name="Group 247">
            <a:extLst>
              <a:ext uri="{FF2B5EF4-FFF2-40B4-BE49-F238E27FC236}">
                <a16:creationId xmlns:a16="http://schemas.microsoft.com/office/drawing/2014/main" id="{83338F01-ABEF-3CD7-3528-53743E582163}"/>
              </a:ext>
            </a:extLst>
          </p:cNvPr>
          <p:cNvGrpSpPr/>
          <p:nvPr/>
        </p:nvGrpSpPr>
        <p:grpSpPr>
          <a:xfrm>
            <a:off x="3000377" y="1675831"/>
            <a:ext cx="598242" cy="3347406"/>
            <a:chOff x="2444277" y="1675830"/>
            <a:chExt cx="598242" cy="4062432"/>
          </a:xfrm>
        </p:grpSpPr>
        <p:cxnSp>
          <p:nvCxnSpPr>
            <p:cNvPr id="257" name="Straight Connector 147">
              <a:extLst>
                <a:ext uri="{FF2B5EF4-FFF2-40B4-BE49-F238E27FC236}">
                  <a16:creationId xmlns:a16="http://schemas.microsoft.com/office/drawing/2014/main" id="{E5C07F0B-3EDA-3513-EB46-D74E9414BBA7}"/>
                </a:ext>
              </a:extLst>
            </p:cNvPr>
            <p:cNvCxnSpPr>
              <a:cxnSpLocks/>
              <a:endCxn id="260" idx="2"/>
            </p:cNvCxnSpPr>
            <p:nvPr/>
          </p:nvCxnSpPr>
          <p:spPr bwMode="auto">
            <a:xfrm flipV="1">
              <a:off x="2743398" y="1932375"/>
              <a:ext cx="0" cy="3805887"/>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0" name="Rectangle 52">
              <a:extLst>
                <a:ext uri="{FF2B5EF4-FFF2-40B4-BE49-F238E27FC236}">
                  <a16:creationId xmlns:a16="http://schemas.microsoft.com/office/drawing/2014/main" id="{E9A602D0-FE25-FB39-958B-7E24F787750D}"/>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15" name="Rectangle 52">
            <a:extLst>
              <a:ext uri="{FF2B5EF4-FFF2-40B4-BE49-F238E27FC236}">
                <a16:creationId xmlns:a16="http://schemas.microsoft.com/office/drawing/2014/main" id="{C99A91CD-E263-C21F-E547-E7C11F46599D}"/>
              </a:ext>
            </a:extLst>
          </p:cNvPr>
          <p:cNvSpPr/>
          <p:nvPr/>
        </p:nvSpPr>
        <p:spPr>
          <a:xfrm>
            <a:off x="7589079" y="3133219"/>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8" name="OTLSHAPE_T_e17f3958430f4cff8650518c93c7635e_Shape">
            <a:extLst>
              <a:ext uri="{FF2B5EF4-FFF2-40B4-BE49-F238E27FC236}">
                <a16:creationId xmlns:a16="http://schemas.microsoft.com/office/drawing/2014/main" id="{38CAEA0E-1BD3-0E3E-8103-0F47806BCB98}"/>
              </a:ext>
            </a:extLst>
          </p:cNvPr>
          <p:cNvSpPr/>
          <p:nvPr>
            <p:custDataLst>
              <p:tags r:id="rId4"/>
            </p:custDataLst>
          </p:nvPr>
        </p:nvSpPr>
        <p:spPr bwMode="auto">
          <a:xfrm>
            <a:off x="7771806" y="2836792"/>
            <a:ext cx="318553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800" b="1">
                <a:solidFill>
                  <a:prstClr val="black"/>
                </a:solidFill>
                <a:ea typeface="等线" panose="02010600030101010101" pitchFamily="2" charset="-122"/>
                <a:cs typeface="Calibri" panose="020F0502020204030204" pitchFamily="34" charset="0"/>
              </a:rPr>
              <a:t>Ph2 PoC in Opioid Use Disorder (OUD) </a:t>
            </a:r>
          </a:p>
          <a:p>
            <a:pPr algn="ctr" defTabSz="1219108">
              <a:defRPr/>
            </a:pPr>
            <a:r>
              <a:rPr lang="en-US" altLang="zh-CN" sz="800" b="1">
                <a:solidFill>
                  <a:prstClr val="black"/>
                </a:solidFill>
                <a:ea typeface="等线" panose="02010600030101010101" pitchFamily="2" charset="-122"/>
                <a:cs typeface="Calibri" panose="020F0502020204030204" pitchFamily="34" charset="0"/>
              </a:rPr>
              <a:t>Ph2 PoC in Cocaine Use Disorder (CUD)</a:t>
            </a:r>
          </a:p>
        </p:txBody>
      </p:sp>
      <p:sp>
        <p:nvSpPr>
          <p:cNvPr id="27" name="Star: 4 Points 143">
            <a:extLst>
              <a:ext uri="{FF2B5EF4-FFF2-40B4-BE49-F238E27FC236}">
                <a16:creationId xmlns:a16="http://schemas.microsoft.com/office/drawing/2014/main" id="{CE75A348-14F5-513E-A10F-CCAE2B3AFAAD}"/>
              </a:ext>
            </a:extLst>
          </p:cNvPr>
          <p:cNvSpPr/>
          <p:nvPr/>
        </p:nvSpPr>
        <p:spPr bwMode="auto">
          <a:xfrm>
            <a:off x="7691082" y="302947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8" name="OTLSHAPE_T_e17f3958430f4cff8650518c93c7635e_StartDate">
            <a:extLst>
              <a:ext uri="{FF2B5EF4-FFF2-40B4-BE49-F238E27FC236}">
                <a16:creationId xmlns:a16="http://schemas.microsoft.com/office/drawing/2014/main" id="{1E0233AF-EED9-899C-687D-DC7D8E0098FC}"/>
              </a:ext>
            </a:extLst>
          </p:cNvPr>
          <p:cNvSpPr txBox="1"/>
          <p:nvPr>
            <p:custDataLst>
              <p:tags r:id="rId5"/>
            </p:custDataLst>
          </p:nvPr>
        </p:nvSpPr>
        <p:spPr>
          <a:xfrm>
            <a:off x="7327629" y="2678664"/>
            <a:ext cx="911147"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4" name="Rectangle 55">
            <a:extLst>
              <a:ext uri="{FF2B5EF4-FFF2-40B4-BE49-F238E27FC236}">
                <a16:creationId xmlns:a16="http://schemas.microsoft.com/office/drawing/2014/main" id="{4AE41EFE-42A0-4C1E-93E9-194924CCACEA}"/>
              </a:ext>
            </a:extLst>
          </p:cNvPr>
          <p:cNvSpPr/>
          <p:nvPr/>
        </p:nvSpPr>
        <p:spPr>
          <a:xfrm>
            <a:off x="10508993" y="3138534"/>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26" name="OTLSHAPE_T_e17f3958430f4cff8650518c93c7635e_StartDate">
            <a:extLst>
              <a:ext uri="{FF2B5EF4-FFF2-40B4-BE49-F238E27FC236}">
                <a16:creationId xmlns:a16="http://schemas.microsoft.com/office/drawing/2014/main" id="{9B1B0B0C-B76D-39E2-7EBA-1D4C338457D7}"/>
              </a:ext>
            </a:extLst>
          </p:cNvPr>
          <p:cNvSpPr txBox="1"/>
          <p:nvPr>
            <p:custDataLst>
              <p:tags r:id="rId6"/>
            </p:custDataLst>
          </p:nvPr>
        </p:nvSpPr>
        <p:spPr>
          <a:xfrm>
            <a:off x="10468076" y="2674393"/>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Jan 2030</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7" name="Star: 4 Points 143">
            <a:extLst>
              <a:ext uri="{FF2B5EF4-FFF2-40B4-BE49-F238E27FC236}">
                <a16:creationId xmlns:a16="http://schemas.microsoft.com/office/drawing/2014/main" id="{C1206A61-2288-278D-4DF1-A43C774D20F6}"/>
              </a:ext>
            </a:extLst>
          </p:cNvPr>
          <p:cNvSpPr/>
          <p:nvPr/>
        </p:nvSpPr>
        <p:spPr bwMode="auto">
          <a:xfrm>
            <a:off x="10873176" y="304056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cxnSp>
        <p:nvCxnSpPr>
          <p:cNvPr id="231" name="Connector: Elbow 232">
            <a:extLst>
              <a:ext uri="{FF2B5EF4-FFF2-40B4-BE49-F238E27FC236}">
                <a16:creationId xmlns:a16="http://schemas.microsoft.com/office/drawing/2014/main" id="{F7DFB529-252C-4FB3-ED0E-414955709FC4}"/>
              </a:ext>
            </a:extLst>
          </p:cNvPr>
          <p:cNvCxnSpPr>
            <a:cxnSpLocks/>
            <a:stCxn id="224" idx="2"/>
            <a:endCxn id="234" idx="0"/>
          </p:cNvCxnSpPr>
          <p:nvPr/>
        </p:nvCxnSpPr>
        <p:spPr bwMode="gray">
          <a:xfrm>
            <a:off x="10972422" y="3395079"/>
            <a:ext cx="4529" cy="130636"/>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4" name="Star: 4 Points 143">
            <a:extLst>
              <a:ext uri="{FF2B5EF4-FFF2-40B4-BE49-F238E27FC236}">
                <a16:creationId xmlns:a16="http://schemas.microsoft.com/office/drawing/2014/main" id="{DC79EF12-10B1-1FE3-6546-5F248EE8079B}"/>
              </a:ext>
            </a:extLst>
          </p:cNvPr>
          <p:cNvSpPr/>
          <p:nvPr/>
        </p:nvSpPr>
        <p:spPr bwMode="auto">
          <a:xfrm>
            <a:off x="10884829" y="352571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36" name="Rectangle 55">
            <a:extLst>
              <a:ext uri="{FF2B5EF4-FFF2-40B4-BE49-F238E27FC236}">
                <a16:creationId xmlns:a16="http://schemas.microsoft.com/office/drawing/2014/main" id="{82BBCAA4-BDA8-1936-1DD1-4893469E6754}"/>
              </a:ext>
            </a:extLst>
          </p:cNvPr>
          <p:cNvSpPr/>
          <p:nvPr/>
        </p:nvSpPr>
        <p:spPr>
          <a:xfrm>
            <a:off x="10671605" y="3726264"/>
            <a:ext cx="601632" cy="461665"/>
          </a:xfrm>
          <a:prstGeom prst="rect">
            <a:avLst/>
          </a:prstGeom>
          <a:solidFill>
            <a:schemeClr val="tx2"/>
          </a:solidFill>
          <a:ln>
            <a:solidFill>
              <a:schemeClr val="accent2"/>
            </a:solidFill>
          </a:ln>
        </p:spPr>
        <p:txBody>
          <a:bodyPr wrap="square">
            <a:spAutoFit/>
          </a:bodyPr>
          <a:lstStyle/>
          <a:p>
            <a:pPr algn="ctr" defTabSz="1219108">
              <a:defRPr/>
            </a:pPr>
            <a:r>
              <a:rPr lang="en-US" altLang="zh-CN" sz="1200" b="1" i="1">
                <a:solidFill>
                  <a:srgbClr val="44546A"/>
                </a:solidFill>
                <a:ea typeface="等线" panose="02010600030101010101" pitchFamily="2" charset="-122"/>
                <a:cs typeface="Calibri" panose="020F0502020204030204" pitchFamily="34" charset="0"/>
              </a:rPr>
              <a:t>PoC/</a:t>
            </a:r>
            <a:r>
              <a:rPr lang="en-US" altLang="zh-CN" sz="1200" b="1" i="1" err="1">
                <a:solidFill>
                  <a:srgbClr val="44546A"/>
                </a:solidFill>
                <a:ea typeface="等线" panose="02010600030101010101" pitchFamily="2" charset="-122"/>
                <a:cs typeface="Calibri" panose="020F0502020204030204" pitchFamily="34" charset="0"/>
              </a:rPr>
              <a:t>RoFD</a:t>
            </a:r>
            <a:endParaRPr lang="zh-CN" altLang="en-US" sz="1200" b="1" i="1">
              <a:solidFill>
                <a:srgbClr val="44546A"/>
              </a:solidFill>
              <a:ea typeface="等线" panose="02010600030101010101" pitchFamily="2" charset="-122"/>
              <a:cs typeface="Calibri" panose="020F0502020204030204" pitchFamily="34" charset="0"/>
            </a:endParaRPr>
          </a:p>
        </p:txBody>
      </p:sp>
      <p:sp>
        <p:nvSpPr>
          <p:cNvPr id="255" name="TextBox 64">
            <a:extLst>
              <a:ext uri="{FF2B5EF4-FFF2-40B4-BE49-F238E27FC236}">
                <a16:creationId xmlns:a16="http://schemas.microsoft.com/office/drawing/2014/main" id="{90E6301F-0399-7C3E-E9B5-93D1041C7FCF}"/>
              </a:ext>
            </a:extLst>
          </p:cNvPr>
          <p:cNvSpPr txBox="1"/>
          <p:nvPr/>
        </p:nvSpPr>
        <p:spPr>
          <a:xfrm>
            <a:off x="31594" y="5026402"/>
            <a:ext cx="825189" cy="492635"/>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1427-0016/</a:t>
            </a:r>
          </a:p>
          <a:p>
            <a:pPr algn="ctr" defTabSz="914377">
              <a:defRPr/>
            </a:pPr>
            <a:r>
              <a:rPr lang="en-US" altLang="zh-CN" sz="1067" b="1">
                <a:solidFill>
                  <a:srgbClr val="08312A"/>
                </a:solidFill>
                <a:cs typeface="Calibri" panose="020F0502020204030204" pitchFamily="34" charset="0"/>
              </a:rPr>
              <a:t>1427-0017</a:t>
            </a:r>
          </a:p>
        </p:txBody>
      </p:sp>
      <p:sp>
        <p:nvSpPr>
          <p:cNvPr id="261" name="OTLSHAPE_T_e17f3958430f4cff8650518c93c7635e_Shape">
            <a:extLst>
              <a:ext uri="{FF2B5EF4-FFF2-40B4-BE49-F238E27FC236}">
                <a16:creationId xmlns:a16="http://schemas.microsoft.com/office/drawing/2014/main" id="{075E193A-E32C-4702-AA42-E1F801AC8AA1}"/>
              </a:ext>
            </a:extLst>
          </p:cNvPr>
          <p:cNvSpPr/>
          <p:nvPr>
            <p:custDataLst>
              <p:tags r:id="rId7"/>
            </p:custDataLst>
          </p:nvPr>
        </p:nvSpPr>
        <p:spPr bwMode="auto">
          <a:xfrm>
            <a:off x="6589475" y="5034719"/>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262" name="Rectangle 77">
            <a:extLst>
              <a:ext uri="{FF2B5EF4-FFF2-40B4-BE49-F238E27FC236}">
                <a16:creationId xmlns:a16="http://schemas.microsoft.com/office/drawing/2014/main" id="{ADB3811B-6BBC-26E2-2FC1-80A5E6C155D4}"/>
              </a:ext>
            </a:extLst>
          </p:cNvPr>
          <p:cNvSpPr/>
          <p:nvPr/>
        </p:nvSpPr>
        <p:spPr>
          <a:xfrm>
            <a:off x="7544975" y="5323010"/>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3" name="OTLSHAPE_M_39ea6ebc19a94c9fab6ef5006c31df58_Shape">
            <a:extLst>
              <a:ext uri="{FF2B5EF4-FFF2-40B4-BE49-F238E27FC236}">
                <a16:creationId xmlns:a16="http://schemas.microsoft.com/office/drawing/2014/main" id="{9188171D-841A-D692-C1E3-D9CD0C26ED94}"/>
              </a:ext>
            </a:extLst>
          </p:cNvPr>
          <p:cNvSpPr/>
          <p:nvPr>
            <p:custDataLst>
              <p:tags r:id="rId8"/>
            </p:custDataLst>
          </p:nvPr>
        </p:nvSpPr>
        <p:spPr bwMode="auto">
          <a:xfrm rot="16200000">
            <a:off x="6578698" y="5267662"/>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266" name="OTLSHAPE_M_39ea6ebc19a94c9fab6ef5006c31df58_Title">
            <a:extLst>
              <a:ext uri="{FF2B5EF4-FFF2-40B4-BE49-F238E27FC236}">
                <a16:creationId xmlns:a16="http://schemas.microsoft.com/office/drawing/2014/main" id="{6AB2751A-2C9E-561F-AC13-51A86F3155C6}"/>
              </a:ext>
            </a:extLst>
          </p:cNvPr>
          <p:cNvSpPr txBox="1"/>
          <p:nvPr>
            <p:custDataLst>
              <p:tags r:id="rId9"/>
            </p:custDataLst>
          </p:nvPr>
        </p:nvSpPr>
        <p:spPr>
          <a:xfrm>
            <a:off x="6360020" y="5369176"/>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267" name="Star: 4 Points 143">
            <a:extLst>
              <a:ext uri="{FF2B5EF4-FFF2-40B4-BE49-F238E27FC236}">
                <a16:creationId xmlns:a16="http://schemas.microsoft.com/office/drawing/2014/main" id="{230584CC-11C6-130A-2CAC-5E6E678F5CE7}"/>
              </a:ext>
            </a:extLst>
          </p:cNvPr>
          <p:cNvSpPr/>
          <p:nvPr/>
        </p:nvSpPr>
        <p:spPr bwMode="auto">
          <a:xfrm>
            <a:off x="7674884" y="523682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0" name="OTLSHAPE_T_e17f3958430f4cff8650518c93c7635e_Shape">
            <a:extLst>
              <a:ext uri="{FF2B5EF4-FFF2-40B4-BE49-F238E27FC236}">
                <a16:creationId xmlns:a16="http://schemas.microsoft.com/office/drawing/2014/main" id="{7B3DAA8C-12AC-2B7B-E5AE-EBBBA368CA14}"/>
              </a:ext>
            </a:extLst>
          </p:cNvPr>
          <p:cNvSpPr/>
          <p:nvPr>
            <p:custDataLst>
              <p:tags r:id="rId10"/>
            </p:custDataLst>
          </p:nvPr>
        </p:nvSpPr>
        <p:spPr bwMode="auto">
          <a:xfrm>
            <a:off x="7771806" y="5040302"/>
            <a:ext cx="318553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800" b="1">
                <a:solidFill>
                  <a:prstClr val="black"/>
                </a:solidFill>
                <a:ea typeface="等线" panose="02010600030101010101" pitchFamily="2" charset="-122"/>
                <a:cs typeface="Calibri" panose="020F0502020204030204" pitchFamily="34" charset="0"/>
              </a:rPr>
              <a:t>Ph2 PoC in Opioid Use Disorder (OUD) </a:t>
            </a:r>
          </a:p>
          <a:p>
            <a:pPr algn="ctr" defTabSz="1219108">
              <a:defRPr/>
            </a:pPr>
            <a:r>
              <a:rPr lang="en-US" altLang="zh-CN" sz="800" b="1">
                <a:solidFill>
                  <a:prstClr val="black"/>
                </a:solidFill>
                <a:ea typeface="等线" panose="02010600030101010101" pitchFamily="2" charset="-122"/>
                <a:cs typeface="Calibri" panose="020F0502020204030204" pitchFamily="34" charset="0"/>
              </a:rPr>
              <a:t>Ph2 PoC in Cocaine Use Disorder (CUD)</a:t>
            </a:r>
          </a:p>
        </p:txBody>
      </p:sp>
      <p:sp>
        <p:nvSpPr>
          <p:cNvPr id="271" name="Rectangle 55">
            <a:extLst>
              <a:ext uri="{FF2B5EF4-FFF2-40B4-BE49-F238E27FC236}">
                <a16:creationId xmlns:a16="http://schemas.microsoft.com/office/drawing/2014/main" id="{72461314-E9EA-F65E-8992-55E7A150A83C}"/>
              </a:ext>
            </a:extLst>
          </p:cNvPr>
          <p:cNvSpPr/>
          <p:nvPr/>
        </p:nvSpPr>
        <p:spPr>
          <a:xfrm>
            <a:off x="10508993" y="5333885"/>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272" name="Star: 4 Points 143">
            <a:extLst>
              <a:ext uri="{FF2B5EF4-FFF2-40B4-BE49-F238E27FC236}">
                <a16:creationId xmlns:a16="http://schemas.microsoft.com/office/drawing/2014/main" id="{D973DB56-C539-7D2E-DAC7-5021D58E139D}"/>
              </a:ext>
            </a:extLst>
          </p:cNvPr>
          <p:cNvSpPr/>
          <p:nvPr/>
        </p:nvSpPr>
        <p:spPr bwMode="auto">
          <a:xfrm>
            <a:off x="10873176" y="52359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77" name="OTLSHAPE_T_e17f3958430f4cff8650518c93c7635e_Shape">
            <a:extLst>
              <a:ext uri="{FF2B5EF4-FFF2-40B4-BE49-F238E27FC236}">
                <a16:creationId xmlns:a16="http://schemas.microsoft.com/office/drawing/2014/main" id="{3993B856-5CF7-D978-B479-EACD1E4972E3}"/>
              </a:ext>
            </a:extLst>
          </p:cNvPr>
          <p:cNvSpPr/>
          <p:nvPr>
            <p:custDataLst>
              <p:tags r:id="rId11"/>
            </p:custDataLst>
          </p:nvPr>
        </p:nvSpPr>
        <p:spPr bwMode="auto">
          <a:xfrm>
            <a:off x="4835826" y="1997536"/>
            <a:ext cx="175364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Cocaine DDI</a:t>
            </a:r>
            <a:endParaRPr lang="en-US" altLang="zh-CN" sz="1067" b="1">
              <a:solidFill>
                <a:srgbClr val="000000"/>
              </a:solidFill>
              <a:ea typeface="等线" panose="02010600030101010101" pitchFamily="2" charset="-122"/>
              <a:cs typeface="Calibri" panose="020F0502020204030204" pitchFamily="34" charset="0"/>
            </a:endParaRPr>
          </a:p>
        </p:txBody>
      </p:sp>
      <p:cxnSp>
        <p:nvCxnSpPr>
          <p:cNvPr id="279" name="Connector: Elbow 278">
            <a:extLst>
              <a:ext uri="{FF2B5EF4-FFF2-40B4-BE49-F238E27FC236}">
                <a16:creationId xmlns:a16="http://schemas.microsoft.com/office/drawing/2014/main" id="{3B6FDA32-4393-A1C2-AD47-781B6DCE33CA}"/>
              </a:ext>
            </a:extLst>
          </p:cNvPr>
          <p:cNvCxnSpPr>
            <a:cxnSpLocks/>
            <a:stCxn id="251" idx="3"/>
            <a:endCxn id="277" idx="1"/>
          </p:cNvCxnSpPr>
          <p:nvPr/>
        </p:nvCxnSpPr>
        <p:spPr bwMode="gray">
          <a:xfrm>
            <a:off x="4742916" y="2135298"/>
            <a:ext cx="92910" cy="623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1" name="Connector: Elbow 280">
            <a:extLst>
              <a:ext uri="{FF2B5EF4-FFF2-40B4-BE49-F238E27FC236}">
                <a16:creationId xmlns:a16="http://schemas.microsoft.com/office/drawing/2014/main" id="{A5C07E6D-39EF-062C-A857-0AA0B3F793DB}"/>
              </a:ext>
            </a:extLst>
          </p:cNvPr>
          <p:cNvCxnSpPr>
            <a:cxnSpLocks/>
            <a:stCxn id="277" idx="3"/>
            <a:endCxn id="18" idx="1"/>
          </p:cNvCxnSpPr>
          <p:nvPr/>
        </p:nvCxnSpPr>
        <p:spPr bwMode="gray">
          <a:xfrm>
            <a:off x="6589475" y="2141536"/>
            <a:ext cx="1182331" cy="839256"/>
          </a:xfrm>
          <a:prstGeom prst="bentConnector3">
            <a:avLst>
              <a:gd name="adj1" fmla="val 50000"/>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10" name="文本框 160">
            <a:extLst>
              <a:ext uri="{FF2B5EF4-FFF2-40B4-BE49-F238E27FC236}">
                <a16:creationId xmlns:a16="http://schemas.microsoft.com/office/drawing/2014/main" id="{3A621BA0-8FC8-2D19-E343-357E8B5276CA}"/>
              </a:ext>
            </a:extLst>
          </p:cNvPr>
          <p:cNvSpPr txBox="1"/>
          <p:nvPr/>
        </p:nvSpPr>
        <p:spPr>
          <a:xfrm>
            <a:off x="1234656" y="3655092"/>
            <a:ext cx="8089994" cy="1251406"/>
          </a:xfrm>
          <a:prstGeom prst="roundRect">
            <a:avLst/>
          </a:prstGeom>
          <a:solidFill>
            <a:schemeClr val="bg1"/>
          </a:solidFill>
          <a:ln>
            <a:solidFill>
              <a:srgbClr val="076D7E"/>
            </a:solidFill>
            <a:prstDash val="lgDash"/>
          </a:ln>
        </p:spPr>
        <p:txBody>
          <a:bodyPr wrap="square" rtlCol="0" anchor="ctr">
            <a:spAutoFit/>
          </a:bodyPr>
          <a:lstStyle/>
          <a:p>
            <a:pPr defTabSz="1219170">
              <a:lnSpc>
                <a:spcPts val="1200"/>
              </a:lnSpc>
              <a:spcAft>
                <a:spcPts val="267"/>
              </a:spcAft>
              <a:defRPr/>
            </a:pPr>
            <a:r>
              <a:rPr lang="en-US" altLang="zh-CN" sz="1000" b="1" i="1">
                <a:solidFill>
                  <a:srgbClr val="002060"/>
                </a:solidFill>
                <a:cs typeface="Calibri" panose="020F0502020204030204" pitchFamily="34" charset="0"/>
              </a:rPr>
              <a:t>Global Update:</a:t>
            </a:r>
          </a:p>
          <a:p>
            <a:pPr marL="171450" indent="-171450">
              <a:buFont typeface="Arial" panose="020B0604020202020204" pitchFamily="34" charset="0"/>
              <a:buChar char="•"/>
            </a:pPr>
            <a:r>
              <a:rPr lang="en-US" altLang="zh-CN" sz="1000">
                <a:solidFill>
                  <a:srgbClr val="002060"/>
                </a:solidFill>
              </a:rPr>
              <a:t>11 Dec </a:t>
            </a:r>
            <a:r>
              <a:rPr lang="de-DE" altLang="zh-CN" sz="1000">
                <a:solidFill>
                  <a:srgbClr val="002060"/>
                </a:solidFill>
              </a:rPr>
              <a:t>IUPC endorsed to continue PoM study. The key results will be delayed to Apr 2027, and cocaine DDI-study will be postponed from Aug 2026 to May 2027.</a:t>
            </a:r>
            <a:endParaRPr lang="en-US" altLang="zh-CN" sz="1000">
              <a:solidFill>
                <a:srgbClr val="002060"/>
              </a:solidFill>
              <a:sym typeface="Wingdings" panose="05000000000000000000" pitchFamily="2" charset="2"/>
            </a:endParaRPr>
          </a:p>
          <a:p>
            <a:pPr defTabSz="1219170">
              <a:lnSpc>
                <a:spcPts val="1200"/>
              </a:lnSpc>
              <a:spcAft>
                <a:spcPts val="267"/>
              </a:spcAft>
              <a:defRPr/>
            </a:pPr>
            <a:endParaRPr lang="en-US" altLang="zh-CN" sz="1000" b="1" i="1">
              <a:solidFill>
                <a:srgbClr val="002060"/>
              </a:solidFill>
              <a:cs typeface="Calibri" panose="020F0502020204030204" pitchFamily="34" charset="0"/>
              <a:sym typeface="Wingdings" panose="05000000000000000000" pitchFamily="2" charset="2"/>
            </a:endParaRPr>
          </a:p>
          <a:p>
            <a:pPr defTabSz="1219170">
              <a:lnSpc>
                <a:spcPts val="1200"/>
              </a:lnSpc>
              <a:spcAft>
                <a:spcPts val="267"/>
              </a:spcAft>
              <a:defRPr/>
            </a:pPr>
            <a:r>
              <a:rPr lang="en-US" altLang="zh-CN" sz="1000" b="1" i="1">
                <a:solidFill>
                  <a:srgbClr val="002060"/>
                </a:solidFill>
                <a:cs typeface="Calibri" panose="020F0502020204030204" pitchFamily="34" charset="0"/>
                <a:sym typeface="Wingdings" panose="05000000000000000000" pitchFamily="2" charset="2"/>
              </a:rPr>
              <a:t>China Update:</a:t>
            </a:r>
          </a:p>
          <a:p>
            <a:pPr marL="171450" indent="-171450" defTabSz="1219170">
              <a:lnSpc>
                <a:spcPts val="1200"/>
              </a:lnSpc>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sym typeface="Wingdings" panose="05000000000000000000" pitchFamily="2" charset="2"/>
              </a:rPr>
              <a:t>China team will catch up with the Innovation team by </a:t>
            </a:r>
            <a:r>
              <a:rPr lang="en-US" altLang="zh-CN" sz="1000" b="1" i="1">
                <a:solidFill>
                  <a:srgbClr val="002060"/>
                </a:solidFill>
                <a:cs typeface="Calibri" panose="020F0502020204030204" pitchFamily="34" charset="0"/>
                <a:sym typeface="Wingdings" panose="05000000000000000000" pitchFamily="2" charset="2"/>
              </a:rPr>
              <a:t>mid Jan 2026 </a:t>
            </a:r>
            <a:r>
              <a:rPr lang="en-US" altLang="zh-CN" sz="1000" i="1">
                <a:solidFill>
                  <a:srgbClr val="002060"/>
                </a:solidFill>
                <a:cs typeface="Calibri" panose="020F0502020204030204" pitchFamily="34" charset="0"/>
                <a:sym typeface="Wingdings" panose="05000000000000000000" pitchFamily="2" charset="2"/>
              </a:rPr>
              <a:t>to revisit China integration into PoC in OUD.</a:t>
            </a:r>
          </a:p>
        </p:txBody>
      </p:sp>
    </p:spTree>
    <p:extLst>
      <p:ext uri="{BB962C8B-B14F-4D97-AF65-F5344CB8AC3E}">
        <p14:creationId xmlns:p14="http://schemas.microsoft.com/office/powerpoint/2010/main" val="4164984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8F97187-25BC-129B-6754-D86941F680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F4B1F-8CE6-C2B3-5E0D-44D729947218}"/>
              </a:ext>
            </a:extLst>
          </p:cNvPr>
          <p:cNvSpPr>
            <a:spLocks noGrp="1"/>
          </p:cNvSpPr>
          <p:nvPr>
            <p:ph type="title"/>
          </p:nvPr>
        </p:nvSpPr>
        <p:spPr/>
        <p:txBody>
          <a:bodyPr/>
          <a:lstStyle/>
          <a:p>
            <a:r>
              <a:rPr lang="en-US" altLang="zh-CN">
                <a:latin typeface="+mn-lt"/>
              </a:rPr>
              <a:t>BI 3776528 / SSTR4 Agonist, CI PSD, Development Plan </a:t>
            </a:r>
            <a:endParaRPr lang="zh-CN" altLang="en-US">
              <a:latin typeface="+mn-lt"/>
            </a:endParaRPr>
          </a:p>
        </p:txBody>
      </p:sp>
      <p:sp>
        <p:nvSpPr>
          <p:cNvPr id="4" name="Text Placeholder 3">
            <a:extLst>
              <a:ext uri="{FF2B5EF4-FFF2-40B4-BE49-F238E27FC236}">
                <a16:creationId xmlns:a16="http://schemas.microsoft.com/office/drawing/2014/main" id="{ED208B48-F2F6-498A-1DC5-B1DBE8C10DC0}"/>
              </a:ext>
            </a:extLst>
          </p:cNvPr>
          <p:cNvSpPr>
            <a:spLocks noGrp="1"/>
          </p:cNvSpPr>
          <p:nvPr>
            <p:ph type="body" sz="quarter" idx="13"/>
          </p:nvPr>
        </p:nvSpPr>
        <p:spPr>
          <a:xfrm>
            <a:off x="480000" y="6044548"/>
            <a:ext cx="11232000" cy="144000"/>
          </a:xfrm>
        </p:spPr>
        <p:txBody>
          <a:bodyPr/>
          <a:lstStyle/>
          <a:p>
            <a:r>
              <a:rPr lang="en-US" altLang="zh-CN"/>
              <a:t>CI PSD: Cognitive Impairment in Psychosis Spectrum Disorders;</a:t>
            </a:r>
            <a:endParaRPr lang="zh-CN" altLang="en-US"/>
          </a:p>
        </p:txBody>
      </p:sp>
      <p:sp>
        <p:nvSpPr>
          <p:cNvPr id="6" name="Slide Number Placeholder 5">
            <a:extLst>
              <a:ext uri="{FF2B5EF4-FFF2-40B4-BE49-F238E27FC236}">
                <a16:creationId xmlns:a16="http://schemas.microsoft.com/office/drawing/2014/main" id="{F0D5BDA5-2578-231F-72B1-5CECDA00DA48}"/>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800" b="0" i="0" u="none" strike="noStrike" kern="1200" cap="none" spc="0" normalizeH="0" baseline="0" noProof="0">
              <a:ln>
                <a:noFill/>
              </a:ln>
              <a:solidFill>
                <a:srgbClr val="08312A"/>
              </a:solidFill>
              <a:effectLst/>
              <a:uLnTx/>
              <a:uFillTx/>
              <a:ea typeface="+mn-ea"/>
              <a:cs typeface="+mn-cs"/>
            </a:endParaRPr>
          </a:p>
        </p:txBody>
      </p:sp>
      <p:sp>
        <p:nvSpPr>
          <p:cNvPr id="238" name="灯片编号占位符 4">
            <a:extLst>
              <a:ext uri="{FF2B5EF4-FFF2-40B4-BE49-F238E27FC236}">
                <a16:creationId xmlns:a16="http://schemas.microsoft.com/office/drawing/2014/main" id="{7CC5A573-1997-0B5D-F907-155F1C601F24}"/>
              </a:ext>
            </a:extLst>
          </p:cNvPr>
          <p:cNvSpPr txBox="1">
            <a:spLocks/>
          </p:cNvSpPr>
          <p:nvPr/>
        </p:nvSpPr>
        <p:spPr bwMode="gray">
          <a:xfrm>
            <a:off x="11424592" y="6246836"/>
            <a:ext cx="288000" cy="288000"/>
          </a:xfrm>
          <a:prstGeom prst="rect">
            <a:avLst/>
          </a:prstGeom>
        </p:spPr>
        <p:txBody>
          <a:bodyPr vert="horz" lIns="0" tIns="0" rIns="0" bIns="0" rtlCol="0" anchor="b">
            <a:noAutofit/>
          </a:bodyPr>
          <a:lstStyle>
            <a:defPPr>
              <a:defRPr lang="zh-CN"/>
            </a:defPPr>
            <a:lvl1pPr marL="0" algn="r" defTabSz="914400" rtl="0" eaLnBrk="1" latinLnBrk="0" hangingPunct="1">
              <a:defRPr sz="800" kern="1200">
                <a:solidFill>
                  <a:schemeClr val="bg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140">
              <a:buClr>
                <a:srgbClr val="000000"/>
              </a:buClr>
              <a:defRPr/>
            </a:pPr>
            <a:fld id="{8FF9B0DE-3FEB-4AA0-B465-B80EF7C1333D}" type="slidenum">
              <a:rPr lang="en-US" kern="0" smtClean="0">
                <a:solidFill>
                  <a:srgbClr val="08312A"/>
                </a:solidFill>
                <a:cs typeface="Arial"/>
                <a:sym typeface="Arial"/>
              </a:rPr>
              <a:pPr defTabSz="1219140">
                <a:buClr>
                  <a:srgbClr val="000000"/>
                </a:buClr>
                <a:defRPr/>
              </a:pPr>
              <a:t>19</a:t>
            </a:fld>
            <a:endParaRPr lang="en-US" kern="0">
              <a:solidFill>
                <a:srgbClr val="08312A"/>
              </a:solidFill>
              <a:cs typeface="Arial"/>
              <a:sym typeface="Arial"/>
            </a:endParaRPr>
          </a:p>
        </p:txBody>
      </p:sp>
      <p:graphicFrame>
        <p:nvGraphicFramePr>
          <p:cNvPr id="241" name="Table 3">
            <a:extLst>
              <a:ext uri="{FF2B5EF4-FFF2-40B4-BE49-F238E27FC236}">
                <a16:creationId xmlns:a16="http://schemas.microsoft.com/office/drawing/2014/main" id="{2AA2DAF7-B66E-60EB-50BA-96D0E51F7520}"/>
              </a:ext>
            </a:extLst>
          </p:cNvPr>
          <p:cNvGraphicFramePr>
            <a:graphicFrameLocks noGrp="1"/>
          </p:cNvGraphicFramePr>
          <p:nvPr/>
        </p:nvGraphicFramePr>
        <p:xfrm>
          <a:off x="1285344" y="1027483"/>
          <a:ext cx="10658940" cy="675640"/>
        </p:xfrm>
        <a:graphic>
          <a:graphicData uri="http://schemas.openxmlformats.org/drawingml/2006/table">
            <a:tbl>
              <a:tblPr firstRow="1" bandRow="1"/>
              <a:tblGrid>
                <a:gridCol w="532947">
                  <a:extLst>
                    <a:ext uri="{9D8B030D-6E8A-4147-A177-3AD203B41FA5}">
                      <a16:colId xmlns:a16="http://schemas.microsoft.com/office/drawing/2014/main" val="3091663135"/>
                    </a:ext>
                  </a:extLst>
                </a:gridCol>
                <a:gridCol w="532947">
                  <a:extLst>
                    <a:ext uri="{9D8B030D-6E8A-4147-A177-3AD203B41FA5}">
                      <a16:colId xmlns:a16="http://schemas.microsoft.com/office/drawing/2014/main" val="2003423086"/>
                    </a:ext>
                  </a:extLst>
                </a:gridCol>
                <a:gridCol w="532947">
                  <a:extLst>
                    <a:ext uri="{9D8B030D-6E8A-4147-A177-3AD203B41FA5}">
                      <a16:colId xmlns:a16="http://schemas.microsoft.com/office/drawing/2014/main" val="2466911814"/>
                    </a:ext>
                  </a:extLst>
                </a:gridCol>
                <a:gridCol w="532947">
                  <a:extLst>
                    <a:ext uri="{9D8B030D-6E8A-4147-A177-3AD203B41FA5}">
                      <a16:colId xmlns:a16="http://schemas.microsoft.com/office/drawing/2014/main" val="3023231563"/>
                    </a:ext>
                  </a:extLst>
                </a:gridCol>
                <a:gridCol w="532947">
                  <a:extLst>
                    <a:ext uri="{9D8B030D-6E8A-4147-A177-3AD203B41FA5}">
                      <a16:colId xmlns:a16="http://schemas.microsoft.com/office/drawing/2014/main" val="3411862845"/>
                    </a:ext>
                  </a:extLst>
                </a:gridCol>
                <a:gridCol w="532947">
                  <a:extLst>
                    <a:ext uri="{9D8B030D-6E8A-4147-A177-3AD203B41FA5}">
                      <a16:colId xmlns:a16="http://schemas.microsoft.com/office/drawing/2014/main" val="2851474774"/>
                    </a:ext>
                  </a:extLst>
                </a:gridCol>
                <a:gridCol w="532947">
                  <a:extLst>
                    <a:ext uri="{9D8B030D-6E8A-4147-A177-3AD203B41FA5}">
                      <a16:colId xmlns:a16="http://schemas.microsoft.com/office/drawing/2014/main" val="107595344"/>
                    </a:ext>
                  </a:extLst>
                </a:gridCol>
                <a:gridCol w="532947">
                  <a:extLst>
                    <a:ext uri="{9D8B030D-6E8A-4147-A177-3AD203B41FA5}">
                      <a16:colId xmlns:a16="http://schemas.microsoft.com/office/drawing/2014/main" val="1666999431"/>
                    </a:ext>
                  </a:extLst>
                </a:gridCol>
                <a:gridCol w="532947">
                  <a:extLst>
                    <a:ext uri="{9D8B030D-6E8A-4147-A177-3AD203B41FA5}">
                      <a16:colId xmlns:a16="http://schemas.microsoft.com/office/drawing/2014/main" val="3696607442"/>
                    </a:ext>
                  </a:extLst>
                </a:gridCol>
                <a:gridCol w="532947">
                  <a:extLst>
                    <a:ext uri="{9D8B030D-6E8A-4147-A177-3AD203B41FA5}">
                      <a16:colId xmlns:a16="http://schemas.microsoft.com/office/drawing/2014/main" val="223989776"/>
                    </a:ext>
                  </a:extLst>
                </a:gridCol>
                <a:gridCol w="532947">
                  <a:extLst>
                    <a:ext uri="{9D8B030D-6E8A-4147-A177-3AD203B41FA5}">
                      <a16:colId xmlns:a16="http://schemas.microsoft.com/office/drawing/2014/main" val="124731204"/>
                    </a:ext>
                  </a:extLst>
                </a:gridCol>
                <a:gridCol w="532947">
                  <a:extLst>
                    <a:ext uri="{9D8B030D-6E8A-4147-A177-3AD203B41FA5}">
                      <a16:colId xmlns:a16="http://schemas.microsoft.com/office/drawing/2014/main" val="3066978585"/>
                    </a:ext>
                  </a:extLst>
                </a:gridCol>
                <a:gridCol w="532947">
                  <a:extLst>
                    <a:ext uri="{9D8B030D-6E8A-4147-A177-3AD203B41FA5}">
                      <a16:colId xmlns:a16="http://schemas.microsoft.com/office/drawing/2014/main" val="1064917641"/>
                    </a:ext>
                  </a:extLst>
                </a:gridCol>
                <a:gridCol w="532947">
                  <a:extLst>
                    <a:ext uri="{9D8B030D-6E8A-4147-A177-3AD203B41FA5}">
                      <a16:colId xmlns:a16="http://schemas.microsoft.com/office/drawing/2014/main" val="4221117315"/>
                    </a:ext>
                  </a:extLst>
                </a:gridCol>
                <a:gridCol w="532947">
                  <a:extLst>
                    <a:ext uri="{9D8B030D-6E8A-4147-A177-3AD203B41FA5}">
                      <a16:colId xmlns:a16="http://schemas.microsoft.com/office/drawing/2014/main" val="3266065341"/>
                    </a:ext>
                  </a:extLst>
                </a:gridCol>
                <a:gridCol w="532947">
                  <a:extLst>
                    <a:ext uri="{9D8B030D-6E8A-4147-A177-3AD203B41FA5}">
                      <a16:colId xmlns:a16="http://schemas.microsoft.com/office/drawing/2014/main" val="2374051224"/>
                    </a:ext>
                  </a:extLst>
                </a:gridCol>
                <a:gridCol w="532947">
                  <a:extLst>
                    <a:ext uri="{9D8B030D-6E8A-4147-A177-3AD203B41FA5}">
                      <a16:colId xmlns:a16="http://schemas.microsoft.com/office/drawing/2014/main" val="1840388365"/>
                    </a:ext>
                  </a:extLst>
                </a:gridCol>
                <a:gridCol w="532947">
                  <a:extLst>
                    <a:ext uri="{9D8B030D-6E8A-4147-A177-3AD203B41FA5}">
                      <a16:colId xmlns:a16="http://schemas.microsoft.com/office/drawing/2014/main" val="267750830"/>
                    </a:ext>
                  </a:extLst>
                </a:gridCol>
                <a:gridCol w="532947">
                  <a:extLst>
                    <a:ext uri="{9D8B030D-6E8A-4147-A177-3AD203B41FA5}">
                      <a16:colId xmlns:a16="http://schemas.microsoft.com/office/drawing/2014/main" val="3966469970"/>
                    </a:ext>
                  </a:extLst>
                </a:gridCol>
                <a:gridCol w="532947">
                  <a:extLst>
                    <a:ext uri="{9D8B030D-6E8A-4147-A177-3AD203B41FA5}">
                      <a16:colId xmlns:a16="http://schemas.microsoft.com/office/drawing/2014/main" val="2522973146"/>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2026</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2027</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2028</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2722476245"/>
                  </a:ext>
                </a:extLst>
              </a:tr>
            </a:tbl>
          </a:graphicData>
        </a:graphic>
      </p:graphicFrame>
      <p:cxnSp>
        <p:nvCxnSpPr>
          <p:cNvPr id="242" name="Straight Connector 147">
            <a:extLst>
              <a:ext uri="{FF2B5EF4-FFF2-40B4-BE49-F238E27FC236}">
                <a16:creationId xmlns:a16="http://schemas.microsoft.com/office/drawing/2014/main" id="{01428E33-BE3F-15F1-66D9-A0B9FC9BDE95}"/>
              </a:ext>
            </a:extLst>
          </p:cNvPr>
          <p:cNvCxnSpPr>
            <a:cxnSpLocks/>
          </p:cNvCxnSpPr>
          <p:nvPr/>
        </p:nvCxnSpPr>
        <p:spPr bwMode="auto">
          <a:xfrm flipH="1">
            <a:off x="0" y="3872544"/>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243" name="Isosceles Triangle 1">
            <a:extLst>
              <a:ext uri="{FF2B5EF4-FFF2-40B4-BE49-F238E27FC236}">
                <a16:creationId xmlns:a16="http://schemas.microsoft.com/office/drawing/2014/main" id="{1606DD00-E565-1E5C-519D-2A6EF5B17F57}"/>
              </a:ext>
            </a:extLst>
          </p:cNvPr>
          <p:cNvSpPr/>
          <p:nvPr/>
        </p:nvSpPr>
        <p:spPr>
          <a:xfrm rot="16200000" flipH="1">
            <a:off x="869316" y="1254962"/>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4" name="Isosceles Triangle 128">
            <a:extLst>
              <a:ext uri="{FF2B5EF4-FFF2-40B4-BE49-F238E27FC236}">
                <a16:creationId xmlns:a16="http://schemas.microsoft.com/office/drawing/2014/main" id="{77938DCF-A405-FDCA-E355-6531446ADB55}"/>
              </a:ext>
            </a:extLst>
          </p:cNvPr>
          <p:cNvSpPr/>
          <p:nvPr/>
        </p:nvSpPr>
        <p:spPr>
          <a:xfrm rot="5400000">
            <a:off x="11736946" y="1254539"/>
            <a:ext cx="648393" cy="227349"/>
          </a:xfrm>
          <a:prstGeom prst="triangle">
            <a:avLst/>
          </a:prstGeom>
          <a:solidFill>
            <a:schemeClr val="bg1"/>
          </a:solidFill>
          <a:ln w="127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45" name="TextBox 64">
            <a:extLst>
              <a:ext uri="{FF2B5EF4-FFF2-40B4-BE49-F238E27FC236}">
                <a16:creationId xmlns:a16="http://schemas.microsoft.com/office/drawing/2014/main" id="{A52BDB9D-52E9-82F9-193C-7FAD54B76B4F}"/>
              </a:ext>
            </a:extLst>
          </p:cNvPr>
          <p:cNvSpPr txBox="1"/>
          <p:nvPr/>
        </p:nvSpPr>
        <p:spPr>
          <a:xfrm>
            <a:off x="60338" y="1938790"/>
            <a:ext cx="773486"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Ph1 –</a:t>
            </a:r>
          </a:p>
          <a:p>
            <a:pPr algn="ctr" defTabSz="914377">
              <a:defRPr/>
            </a:pPr>
            <a:r>
              <a:rPr lang="en-US" altLang="zh-CN" sz="1067" b="1">
                <a:solidFill>
                  <a:srgbClr val="08312A"/>
                </a:solidFill>
                <a:cs typeface="Calibri" panose="020F0502020204030204" pitchFamily="34" charset="0"/>
              </a:rPr>
              <a:t>1526-0001</a:t>
            </a:r>
            <a:endParaRPr lang="en-US" sz="1067" b="1">
              <a:solidFill>
                <a:srgbClr val="08312A"/>
              </a:solidFill>
              <a:cs typeface="Calibri" panose="020F0502020204030204" pitchFamily="34" charset="0"/>
            </a:endParaRPr>
          </a:p>
        </p:txBody>
      </p:sp>
      <p:pic>
        <p:nvPicPr>
          <p:cNvPr id="246" name="Picture 4">
            <a:extLst>
              <a:ext uri="{FF2B5EF4-FFF2-40B4-BE49-F238E27FC236}">
                <a16:creationId xmlns:a16="http://schemas.microsoft.com/office/drawing/2014/main" id="{E7E9B3D7-1A71-F0D8-EEB6-C6EB0BFB1107}"/>
              </a:ext>
            </a:extLst>
          </p:cNvPr>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7783" y="1087328"/>
            <a:ext cx="1138019" cy="560880"/>
          </a:xfrm>
          <a:prstGeom prst="rect">
            <a:avLst/>
          </a:prstGeom>
        </p:spPr>
      </p:pic>
      <p:pic>
        <p:nvPicPr>
          <p:cNvPr id="247" name="Picture 6">
            <a:extLst>
              <a:ext uri="{FF2B5EF4-FFF2-40B4-BE49-F238E27FC236}">
                <a16:creationId xmlns:a16="http://schemas.microsoft.com/office/drawing/2014/main" id="{74080442-8116-FE92-3BA4-55D47EF80C65}"/>
              </a:ext>
            </a:extLst>
          </p:cNvPr>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27783" y="3778630"/>
            <a:ext cx="1138019" cy="560880"/>
          </a:xfrm>
          <a:prstGeom prst="rect">
            <a:avLst/>
          </a:prstGeom>
        </p:spPr>
      </p:pic>
      <p:sp>
        <p:nvSpPr>
          <p:cNvPr id="249" name="Rectangle 52">
            <a:extLst>
              <a:ext uri="{FF2B5EF4-FFF2-40B4-BE49-F238E27FC236}">
                <a16:creationId xmlns:a16="http://schemas.microsoft.com/office/drawing/2014/main" id="{8AC0BBF3-0C78-F64B-E046-4CA64DD481BD}"/>
              </a:ext>
            </a:extLst>
          </p:cNvPr>
          <p:cNvSpPr/>
          <p:nvPr/>
        </p:nvSpPr>
        <p:spPr>
          <a:xfrm>
            <a:off x="1234655" y="2281956"/>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250" name="OTLSHAPE_T_e17f3958430f4cff8650518c93c7635e_StartDate">
            <a:extLst>
              <a:ext uri="{FF2B5EF4-FFF2-40B4-BE49-F238E27FC236}">
                <a16:creationId xmlns:a16="http://schemas.microsoft.com/office/drawing/2014/main" id="{F3B04AB6-6634-631C-5FFE-B9621804D349}"/>
              </a:ext>
            </a:extLst>
          </p:cNvPr>
          <p:cNvSpPr txBox="1"/>
          <p:nvPr>
            <p:custDataLst>
              <p:tags r:id="rId1"/>
            </p:custDataLst>
          </p:nvPr>
        </p:nvSpPr>
        <p:spPr>
          <a:xfrm>
            <a:off x="911108" y="1817814"/>
            <a:ext cx="1060915" cy="164212"/>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rPr>
              <a:t>Jan 2025</a:t>
            </a:r>
            <a:endParaRPr lang="zh-CN" altLang="en-US" sz="1067" b="1" i="1">
              <a:solidFill>
                <a:schemeClr val="bg1">
                  <a:lumMod val="65000"/>
                </a:schemeClr>
              </a:solidFill>
              <a:ea typeface="等线" panose="02010600030101010101" pitchFamily="2" charset="-122"/>
            </a:endParaRPr>
          </a:p>
        </p:txBody>
      </p:sp>
      <p:sp>
        <p:nvSpPr>
          <p:cNvPr id="251" name="OTLSHAPE_T_e17f3958430f4cff8650518c93c7635e_Shape">
            <a:extLst>
              <a:ext uri="{FF2B5EF4-FFF2-40B4-BE49-F238E27FC236}">
                <a16:creationId xmlns:a16="http://schemas.microsoft.com/office/drawing/2014/main" id="{A69CA111-2C58-72EC-ADA4-CEA54E33F4CB}"/>
              </a:ext>
            </a:extLst>
          </p:cNvPr>
          <p:cNvSpPr/>
          <p:nvPr>
            <p:custDataLst>
              <p:tags r:id="rId2"/>
            </p:custDataLst>
          </p:nvPr>
        </p:nvSpPr>
        <p:spPr bwMode="auto">
          <a:xfrm>
            <a:off x="1434165" y="1991298"/>
            <a:ext cx="3378839"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Ph1 SRD &amp; MRD,</a:t>
            </a:r>
            <a:r>
              <a:rPr lang="zh-CN" altLang="en-US" sz="1067" b="1">
                <a:solidFill>
                  <a:prstClr val="black"/>
                </a:solidFill>
                <a:ea typeface="等线" panose="02010600030101010101" pitchFamily="2" charset="-122"/>
                <a:cs typeface="Calibri" panose="020F0502020204030204" pitchFamily="34" charset="0"/>
              </a:rPr>
              <a:t> </a:t>
            </a:r>
            <a:r>
              <a:rPr lang="en-US" altLang="zh-CN" sz="1067" b="1">
                <a:solidFill>
                  <a:prstClr val="black"/>
                </a:solidFill>
                <a:ea typeface="等线" panose="02010600030101010101" pitchFamily="2" charset="-122"/>
                <a:cs typeface="Calibri" panose="020F0502020204030204" pitchFamily="34" charset="0"/>
              </a:rPr>
              <a:t>N=118</a:t>
            </a:r>
            <a:endParaRPr lang="en-US" altLang="zh-CN" sz="1067" b="1">
              <a:solidFill>
                <a:srgbClr val="000000"/>
              </a:solidFill>
              <a:ea typeface="等线" panose="02010600030101010101" pitchFamily="2" charset="-122"/>
              <a:cs typeface="Calibri" panose="020F0502020204030204" pitchFamily="34" charset="0"/>
            </a:endParaRPr>
          </a:p>
        </p:txBody>
      </p:sp>
      <p:sp>
        <p:nvSpPr>
          <p:cNvPr id="273" name="Star: 4 Points 143">
            <a:extLst>
              <a:ext uri="{FF2B5EF4-FFF2-40B4-BE49-F238E27FC236}">
                <a16:creationId xmlns:a16="http://schemas.microsoft.com/office/drawing/2014/main" id="{3D362722-388A-9CAF-5515-2A74C32791CB}"/>
              </a:ext>
            </a:extLst>
          </p:cNvPr>
          <p:cNvSpPr/>
          <p:nvPr/>
        </p:nvSpPr>
        <p:spPr bwMode="auto">
          <a:xfrm>
            <a:off x="1341256" y="218398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5" name="Rectangle 55">
            <a:extLst>
              <a:ext uri="{FF2B5EF4-FFF2-40B4-BE49-F238E27FC236}">
                <a16:creationId xmlns:a16="http://schemas.microsoft.com/office/drawing/2014/main" id="{2777A6E0-1240-5D03-C887-47E7B50EA214}"/>
              </a:ext>
            </a:extLst>
          </p:cNvPr>
          <p:cNvSpPr/>
          <p:nvPr/>
        </p:nvSpPr>
        <p:spPr>
          <a:xfrm>
            <a:off x="4359264" y="2283281"/>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8" name="Star: 4 Points 143">
            <a:extLst>
              <a:ext uri="{FF2B5EF4-FFF2-40B4-BE49-F238E27FC236}">
                <a16:creationId xmlns:a16="http://schemas.microsoft.com/office/drawing/2014/main" id="{24CE3990-83D7-03C1-7573-BADFC477F202}"/>
              </a:ext>
            </a:extLst>
          </p:cNvPr>
          <p:cNvSpPr/>
          <p:nvPr/>
        </p:nvSpPr>
        <p:spPr bwMode="auto">
          <a:xfrm>
            <a:off x="4723447" y="218530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grpSp>
        <p:nvGrpSpPr>
          <p:cNvPr id="248" name="Group 247">
            <a:extLst>
              <a:ext uri="{FF2B5EF4-FFF2-40B4-BE49-F238E27FC236}">
                <a16:creationId xmlns:a16="http://schemas.microsoft.com/office/drawing/2014/main" id="{1940D23F-7512-4EE8-0451-3CF5FBF55F72}"/>
              </a:ext>
            </a:extLst>
          </p:cNvPr>
          <p:cNvGrpSpPr/>
          <p:nvPr/>
        </p:nvGrpSpPr>
        <p:grpSpPr>
          <a:xfrm>
            <a:off x="2972487" y="1675831"/>
            <a:ext cx="598242" cy="2477956"/>
            <a:chOff x="2444277" y="1675830"/>
            <a:chExt cx="598242" cy="2816865"/>
          </a:xfrm>
        </p:grpSpPr>
        <p:cxnSp>
          <p:nvCxnSpPr>
            <p:cNvPr id="257" name="Straight Connector 147">
              <a:extLst>
                <a:ext uri="{FF2B5EF4-FFF2-40B4-BE49-F238E27FC236}">
                  <a16:creationId xmlns:a16="http://schemas.microsoft.com/office/drawing/2014/main" id="{2415086B-8860-A18D-CC82-4C38F868FB56}"/>
                </a:ext>
              </a:extLst>
            </p:cNvPr>
            <p:cNvCxnSpPr>
              <a:cxnSpLocks/>
              <a:endCxn id="260" idx="2"/>
            </p:cNvCxnSpPr>
            <p:nvPr/>
          </p:nvCxnSpPr>
          <p:spPr bwMode="auto">
            <a:xfrm flipV="1">
              <a:off x="2743398" y="1932375"/>
              <a:ext cx="0" cy="2560320"/>
            </a:xfrm>
            <a:prstGeom prst="line">
              <a:avLst/>
            </a:prstGeom>
            <a:solidFill>
              <a:schemeClr val="accent1"/>
            </a:solidFill>
            <a:ln w="15875" cap="flat" cmpd="sng" algn="ctr">
              <a:solidFill>
                <a:srgbClr val="FF0000"/>
              </a:solidFill>
              <a:prstDash val="sysDash"/>
              <a:round/>
              <a:headEnd type="none" w="med" len="med"/>
              <a:tailEnd type="none" w="med" len="med"/>
            </a:ln>
            <a:effectLst/>
          </p:spPr>
        </p:cxnSp>
        <p:sp>
          <p:nvSpPr>
            <p:cNvPr id="260" name="Rectangle 52">
              <a:extLst>
                <a:ext uri="{FF2B5EF4-FFF2-40B4-BE49-F238E27FC236}">
                  <a16:creationId xmlns:a16="http://schemas.microsoft.com/office/drawing/2014/main" id="{F2D650A8-7E40-34C7-53A3-08A98BE2029D}"/>
                </a:ext>
              </a:extLst>
            </p:cNvPr>
            <p:cNvSpPr/>
            <p:nvPr/>
          </p:nvSpPr>
          <p:spPr>
            <a:xfrm>
              <a:off x="2444277" y="1675830"/>
              <a:ext cx="598242" cy="256545"/>
            </a:xfrm>
            <a:prstGeom prst="rect">
              <a:avLst/>
            </a:prstGeom>
          </p:spPr>
          <p:txBody>
            <a:bodyPr wrap="none">
              <a:spAutoFit/>
            </a:bodyPr>
            <a:lstStyle/>
            <a:p>
              <a:pPr algn="ctr" defTabSz="1219108">
                <a:defRPr/>
              </a:pPr>
              <a:r>
                <a:rPr lang="en-US" altLang="zh-CN" sz="1067" b="1">
                  <a:solidFill>
                    <a:srgbClr val="FF0000"/>
                  </a:solidFill>
                  <a:ea typeface="等线" panose="02010600030101010101" pitchFamily="2" charset="-122"/>
                </a:rPr>
                <a:t>Today</a:t>
              </a:r>
              <a:endParaRPr lang="zh-CN" altLang="en-US" sz="1067" b="1">
                <a:solidFill>
                  <a:srgbClr val="FF0000"/>
                </a:solidFill>
                <a:ea typeface="等线" panose="02010600030101010101" pitchFamily="2" charset="-122"/>
              </a:endParaRPr>
            </a:p>
          </p:txBody>
        </p:sp>
      </p:grpSp>
      <p:sp>
        <p:nvSpPr>
          <p:cNvPr id="18" name="OTLSHAPE_T_e17f3958430f4cff8650518c93c7635e_Shape">
            <a:extLst>
              <a:ext uri="{FF2B5EF4-FFF2-40B4-BE49-F238E27FC236}">
                <a16:creationId xmlns:a16="http://schemas.microsoft.com/office/drawing/2014/main" id="{3B5A40BA-E5A2-565D-2A32-4215BDF1E141}"/>
              </a:ext>
            </a:extLst>
          </p:cNvPr>
          <p:cNvSpPr/>
          <p:nvPr>
            <p:custDataLst>
              <p:tags r:id="rId3"/>
            </p:custDataLst>
          </p:nvPr>
        </p:nvSpPr>
        <p:spPr bwMode="auto">
          <a:xfrm>
            <a:off x="5194691" y="2671259"/>
            <a:ext cx="2772283"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a:t>
            </a:r>
            <a:r>
              <a:rPr lang="en-US" altLang="zh-CN" sz="1067" b="1" err="1">
                <a:solidFill>
                  <a:prstClr val="black"/>
                </a:solidFill>
                <a:ea typeface="等线" panose="02010600030101010101" pitchFamily="2" charset="-122"/>
                <a:cs typeface="Calibri" panose="020F0502020204030204" pitchFamily="34" charset="0"/>
              </a:rPr>
              <a:t>PoM</a:t>
            </a:r>
            <a:r>
              <a:rPr lang="en-US" altLang="zh-CN" sz="1067" b="1">
                <a:solidFill>
                  <a:prstClr val="black"/>
                </a:solidFill>
                <a:ea typeface="等线" panose="02010600030101010101" pitchFamily="2" charset="-122"/>
                <a:cs typeface="Calibri" panose="020F0502020204030204" pitchFamily="34" charset="0"/>
              </a:rPr>
              <a:t> (US only)</a:t>
            </a:r>
          </a:p>
        </p:txBody>
      </p:sp>
      <p:sp>
        <p:nvSpPr>
          <p:cNvPr id="310" name="文本框 160">
            <a:extLst>
              <a:ext uri="{FF2B5EF4-FFF2-40B4-BE49-F238E27FC236}">
                <a16:creationId xmlns:a16="http://schemas.microsoft.com/office/drawing/2014/main" id="{35A4BD12-71A0-4F48-08FB-844026E54D94}"/>
              </a:ext>
            </a:extLst>
          </p:cNvPr>
          <p:cNvSpPr txBox="1"/>
          <p:nvPr/>
        </p:nvSpPr>
        <p:spPr>
          <a:xfrm>
            <a:off x="1460656" y="3434923"/>
            <a:ext cx="6704695" cy="868323"/>
          </a:xfrm>
          <a:prstGeom prst="roundRect">
            <a:avLst/>
          </a:prstGeom>
          <a:solidFill>
            <a:schemeClr val="bg1"/>
          </a:solidFill>
          <a:ln>
            <a:solidFill>
              <a:srgbClr val="076D7E"/>
            </a:solidFill>
            <a:prstDash val="lgDash"/>
          </a:ln>
        </p:spPr>
        <p:txBody>
          <a:bodyPr wrap="square" rtlCol="0" anchor="ctr">
            <a:spAutoFit/>
          </a:bodyPr>
          <a:lstStyle/>
          <a:p>
            <a:pPr defTabSz="1219170">
              <a:lnSpc>
                <a:spcPts val="1200"/>
              </a:lnSpc>
              <a:spcAft>
                <a:spcPts val="267"/>
              </a:spcAft>
              <a:defRPr/>
            </a:pPr>
            <a:r>
              <a:rPr lang="en-US" altLang="zh-CN" sz="1000" b="1" i="1">
                <a:solidFill>
                  <a:srgbClr val="002060"/>
                </a:solidFill>
                <a:cs typeface="Calibri" panose="020F0502020204030204" pitchFamily="34" charset="0"/>
              </a:rPr>
              <a:t>Global Update:</a:t>
            </a:r>
          </a:p>
          <a:p>
            <a:pPr marL="95998" indent="-95998" defTabSz="1219170">
              <a:lnSpc>
                <a:spcPts val="1200"/>
              </a:lnSpc>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The 1526‑0006 trial is currently being revised as a </a:t>
            </a:r>
            <a:r>
              <a:rPr lang="en-US" altLang="zh-CN" sz="1000" i="1" err="1">
                <a:solidFill>
                  <a:srgbClr val="002060"/>
                </a:solidFill>
                <a:cs typeface="Calibri" panose="020F0502020204030204" pitchFamily="34" charset="0"/>
              </a:rPr>
              <a:t>PoM</a:t>
            </a:r>
            <a:r>
              <a:rPr lang="en-US" altLang="zh-CN" sz="1000" i="1">
                <a:solidFill>
                  <a:srgbClr val="002060"/>
                </a:solidFill>
                <a:cs typeface="Calibri" panose="020F0502020204030204" pitchFamily="34" charset="0"/>
              </a:rPr>
              <a:t> study with 3 arms x 25 patients, which is planned in US only considering fMRI vendor feasibility and less variability.</a:t>
            </a:r>
          </a:p>
          <a:p>
            <a:pPr marL="95998" indent="-95998" defTabSz="1219170">
              <a:lnSpc>
                <a:spcPts val="1200"/>
              </a:lnSpc>
              <a:spcAft>
                <a:spcPts val="267"/>
              </a:spcAft>
              <a:buFont typeface="Arial" panose="020B0604020202020204" pitchFamily="34" charset="0"/>
              <a:buChar char="•"/>
              <a:defRPr/>
            </a:pPr>
            <a:r>
              <a:rPr lang="en-US" altLang="zh-CN" sz="1000" i="1">
                <a:solidFill>
                  <a:srgbClr val="002060"/>
                </a:solidFill>
                <a:cs typeface="Calibri" panose="020F0502020204030204" pitchFamily="34" charset="0"/>
              </a:rPr>
              <a:t>Path to PoC will be discussed in IUPC in Feb 2026.</a:t>
            </a:r>
          </a:p>
        </p:txBody>
      </p:sp>
      <p:sp>
        <p:nvSpPr>
          <p:cNvPr id="13" name="TextBox 64">
            <a:extLst>
              <a:ext uri="{FF2B5EF4-FFF2-40B4-BE49-F238E27FC236}">
                <a16:creationId xmlns:a16="http://schemas.microsoft.com/office/drawing/2014/main" id="{F1237741-0BA3-19AE-DB22-B9E94B1C386C}"/>
              </a:ext>
            </a:extLst>
          </p:cNvPr>
          <p:cNvSpPr txBox="1"/>
          <p:nvPr/>
        </p:nvSpPr>
        <p:spPr>
          <a:xfrm>
            <a:off x="57046" y="2637020"/>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Ph1</a:t>
            </a:r>
            <a:r>
              <a:rPr lang="en-US" altLang="zh-CN" sz="1067" b="1">
                <a:solidFill>
                  <a:srgbClr val="08312A"/>
                </a:solidFill>
                <a:cs typeface="Calibri" panose="020F0502020204030204" pitchFamily="34" charset="0"/>
              </a:rPr>
              <a:t>b</a:t>
            </a:r>
            <a:r>
              <a:rPr lang="en-US" sz="1067" b="1">
                <a:solidFill>
                  <a:srgbClr val="08312A"/>
                </a:solidFill>
                <a:cs typeface="Calibri" panose="020F0502020204030204" pitchFamily="34" charset="0"/>
              </a:rPr>
              <a:t> -</a:t>
            </a:r>
          </a:p>
          <a:p>
            <a:pPr algn="ctr" defTabSz="914377">
              <a:defRPr/>
            </a:pPr>
            <a:r>
              <a:rPr lang="en-US" altLang="zh-CN" sz="1067" b="1">
                <a:solidFill>
                  <a:srgbClr val="08312A"/>
                </a:solidFill>
                <a:cs typeface="Calibri" panose="020F0502020204030204" pitchFamily="34" charset="0"/>
              </a:rPr>
              <a:t>1526-0006</a:t>
            </a:r>
          </a:p>
        </p:txBody>
      </p:sp>
      <p:sp>
        <p:nvSpPr>
          <p:cNvPr id="9" name="Rectangle 52">
            <a:extLst>
              <a:ext uri="{FF2B5EF4-FFF2-40B4-BE49-F238E27FC236}">
                <a16:creationId xmlns:a16="http://schemas.microsoft.com/office/drawing/2014/main" id="{0223DBF1-9BEF-0F92-CFDA-82A42EF37E77}"/>
              </a:ext>
            </a:extLst>
          </p:cNvPr>
          <p:cNvSpPr/>
          <p:nvPr/>
        </p:nvSpPr>
        <p:spPr>
          <a:xfrm>
            <a:off x="4985120" y="2976970"/>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10" name="Star: 4 Points 143">
            <a:extLst>
              <a:ext uri="{FF2B5EF4-FFF2-40B4-BE49-F238E27FC236}">
                <a16:creationId xmlns:a16="http://schemas.microsoft.com/office/drawing/2014/main" id="{ED11B0BE-D2C0-440A-B05C-A5C7DD4275BB}"/>
              </a:ext>
            </a:extLst>
          </p:cNvPr>
          <p:cNvSpPr/>
          <p:nvPr/>
        </p:nvSpPr>
        <p:spPr bwMode="auto">
          <a:xfrm>
            <a:off x="5087123" y="287322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11" name="Rectangle 55">
            <a:extLst>
              <a:ext uri="{FF2B5EF4-FFF2-40B4-BE49-F238E27FC236}">
                <a16:creationId xmlns:a16="http://schemas.microsoft.com/office/drawing/2014/main" id="{9D85120B-B3A7-65B7-6AC7-94F305C48A52}"/>
              </a:ext>
            </a:extLst>
          </p:cNvPr>
          <p:cNvSpPr/>
          <p:nvPr/>
        </p:nvSpPr>
        <p:spPr>
          <a:xfrm>
            <a:off x="7497525" y="2982285"/>
            <a:ext cx="926857"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Key results</a:t>
            </a:r>
            <a:endParaRPr lang="zh-CN" altLang="en-US" sz="1067" b="1">
              <a:solidFill>
                <a:srgbClr val="44546A"/>
              </a:solidFill>
              <a:ea typeface="等线" panose="02010600030101010101" pitchFamily="2" charset="-122"/>
              <a:cs typeface="Calibri" panose="020F0502020204030204" pitchFamily="34" charset="0"/>
            </a:endParaRPr>
          </a:p>
        </p:txBody>
      </p:sp>
      <p:sp>
        <p:nvSpPr>
          <p:cNvPr id="14" name="OTLSHAPE_T_e17f3958430f4cff8650518c93c7635e_StartDate">
            <a:extLst>
              <a:ext uri="{FF2B5EF4-FFF2-40B4-BE49-F238E27FC236}">
                <a16:creationId xmlns:a16="http://schemas.microsoft.com/office/drawing/2014/main" id="{165917D6-61E0-6737-528C-1F3581FC962A}"/>
              </a:ext>
            </a:extLst>
          </p:cNvPr>
          <p:cNvSpPr txBox="1"/>
          <p:nvPr>
            <p:custDataLst>
              <p:tags r:id="rId4"/>
            </p:custDataLst>
          </p:nvPr>
        </p:nvSpPr>
        <p:spPr>
          <a:xfrm>
            <a:off x="7456608" y="2518144"/>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Feb 2028</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15" name="Star: 4 Points 143">
            <a:extLst>
              <a:ext uri="{FF2B5EF4-FFF2-40B4-BE49-F238E27FC236}">
                <a16:creationId xmlns:a16="http://schemas.microsoft.com/office/drawing/2014/main" id="{1E4FC323-CDBA-BC67-186F-386425AB6464}"/>
              </a:ext>
            </a:extLst>
          </p:cNvPr>
          <p:cNvSpPr/>
          <p:nvPr/>
        </p:nvSpPr>
        <p:spPr bwMode="auto">
          <a:xfrm>
            <a:off x="7861708" y="288431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6" name="OTLSHAPE_T_e17f3958430f4cff8650518c93c7635e_StartDate">
            <a:extLst>
              <a:ext uri="{FF2B5EF4-FFF2-40B4-BE49-F238E27FC236}">
                <a16:creationId xmlns:a16="http://schemas.microsoft.com/office/drawing/2014/main" id="{1472F05C-26B8-DA3D-0491-436D49CF8004}"/>
              </a:ext>
            </a:extLst>
          </p:cNvPr>
          <p:cNvSpPr txBox="1"/>
          <p:nvPr>
            <p:custDataLst>
              <p:tags r:id="rId5"/>
            </p:custDataLst>
          </p:nvPr>
        </p:nvSpPr>
        <p:spPr>
          <a:xfrm>
            <a:off x="4730895" y="2513841"/>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Oct 2026</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7" name="TextBox 64">
            <a:extLst>
              <a:ext uri="{FF2B5EF4-FFF2-40B4-BE49-F238E27FC236}">
                <a16:creationId xmlns:a16="http://schemas.microsoft.com/office/drawing/2014/main" id="{1D6BA4EC-E024-50BB-AC2A-2D9DB6E66425}"/>
              </a:ext>
            </a:extLst>
          </p:cNvPr>
          <p:cNvSpPr txBox="1"/>
          <p:nvPr/>
        </p:nvSpPr>
        <p:spPr>
          <a:xfrm>
            <a:off x="57045" y="3302774"/>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1526-0014</a:t>
            </a:r>
          </a:p>
        </p:txBody>
      </p:sp>
      <p:sp>
        <p:nvSpPr>
          <p:cNvPr id="28" name="OTLSHAPE_T_e17f3958430f4cff8650518c93c7635e_Shape">
            <a:extLst>
              <a:ext uri="{FF2B5EF4-FFF2-40B4-BE49-F238E27FC236}">
                <a16:creationId xmlns:a16="http://schemas.microsoft.com/office/drawing/2014/main" id="{DFA665A1-F0CC-1FA2-4B5D-C35A367D58F7}"/>
              </a:ext>
            </a:extLst>
          </p:cNvPr>
          <p:cNvSpPr/>
          <p:nvPr>
            <p:custDataLst>
              <p:tags r:id="rId6"/>
            </p:custDataLst>
          </p:nvPr>
        </p:nvSpPr>
        <p:spPr bwMode="auto">
          <a:xfrm>
            <a:off x="10548539" y="3342168"/>
            <a:ext cx="1395745"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PoC</a:t>
            </a:r>
          </a:p>
        </p:txBody>
      </p:sp>
      <p:sp>
        <p:nvSpPr>
          <p:cNvPr id="29" name="Rectangle 52">
            <a:extLst>
              <a:ext uri="{FF2B5EF4-FFF2-40B4-BE49-F238E27FC236}">
                <a16:creationId xmlns:a16="http://schemas.microsoft.com/office/drawing/2014/main" id="{34D09082-B9B6-F34F-B637-927CED9D07FC}"/>
              </a:ext>
            </a:extLst>
          </p:cNvPr>
          <p:cNvSpPr/>
          <p:nvPr/>
        </p:nvSpPr>
        <p:spPr>
          <a:xfrm>
            <a:off x="10338967" y="3647879"/>
            <a:ext cx="388248" cy="256545"/>
          </a:xfrm>
          <a:prstGeom prst="rect">
            <a:avLst/>
          </a:prstGeom>
        </p:spPr>
        <p:txBody>
          <a:bodyPr wrap="none">
            <a:spAutoFit/>
          </a:bodyPr>
          <a:lstStyle/>
          <a:p>
            <a:pPr algn="ctr" defTabSz="1219108">
              <a:defRPr/>
            </a:pPr>
            <a:r>
              <a:rPr lang="en-US" altLang="zh-CN" sz="1067" b="1">
                <a:solidFill>
                  <a:srgbClr val="44546A"/>
                </a:solidFill>
                <a:ea typeface="等线" panose="02010600030101010101" pitchFamily="2" charset="-122"/>
              </a:rPr>
              <a:t>FPI</a:t>
            </a:r>
            <a:endParaRPr lang="zh-CN" altLang="en-US" sz="1067" b="1">
              <a:solidFill>
                <a:srgbClr val="44546A"/>
              </a:solidFill>
              <a:ea typeface="等线" panose="02010600030101010101" pitchFamily="2" charset="-122"/>
            </a:endParaRPr>
          </a:p>
        </p:txBody>
      </p:sp>
      <p:sp>
        <p:nvSpPr>
          <p:cNvPr id="30" name="Star: 4 Points 143">
            <a:extLst>
              <a:ext uri="{FF2B5EF4-FFF2-40B4-BE49-F238E27FC236}">
                <a16:creationId xmlns:a16="http://schemas.microsoft.com/office/drawing/2014/main" id="{0EE61E37-3435-DB9F-0CB9-146E796A122A}"/>
              </a:ext>
            </a:extLst>
          </p:cNvPr>
          <p:cNvSpPr/>
          <p:nvPr/>
        </p:nvSpPr>
        <p:spPr bwMode="auto">
          <a:xfrm>
            <a:off x="10440970" y="354413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26" name="OTLSHAPE_T_e17f3958430f4cff8650518c93c7635e_StartDate">
            <a:extLst>
              <a:ext uri="{FF2B5EF4-FFF2-40B4-BE49-F238E27FC236}">
                <a16:creationId xmlns:a16="http://schemas.microsoft.com/office/drawing/2014/main" id="{8E4C61E4-70D4-0932-07C8-864D392C396D}"/>
              </a:ext>
            </a:extLst>
          </p:cNvPr>
          <p:cNvSpPr txBox="1"/>
          <p:nvPr>
            <p:custDataLst>
              <p:tags r:id="rId7"/>
            </p:custDataLst>
          </p:nvPr>
        </p:nvSpPr>
        <p:spPr>
          <a:xfrm>
            <a:off x="10084742" y="3184750"/>
            <a:ext cx="911151" cy="164211"/>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2029</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227" name="Isosceles Triangle 128">
            <a:extLst>
              <a:ext uri="{FF2B5EF4-FFF2-40B4-BE49-F238E27FC236}">
                <a16:creationId xmlns:a16="http://schemas.microsoft.com/office/drawing/2014/main" id="{AACCCE26-29D6-CCC2-90A6-27413ED029D2}"/>
              </a:ext>
            </a:extLst>
          </p:cNvPr>
          <p:cNvSpPr/>
          <p:nvPr/>
        </p:nvSpPr>
        <p:spPr>
          <a:xfrm rot="5400000">
            <a:off x="11941053" y="3379316"/>
            <a:ext cx="256543" cy="230532"/>
          </a:xfrm>
          <a:prstGeom prst="triangle">
            <a:avLst/>
          </a:prstGeom>
          <a:solidFill>
            <a:srgbClr val="D6EAEC"/>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
        <p:nvSpPr>
          <p:cNvPr id="229" name="OTLSHAPE_T_e17f3958430f4cff8650518c93c7635e_Shape">
            <a:extLst>
              <a:ext uri="{FF2B5EF4-FFF2-40B4-BE49-F238E27FC236}">
                <a16:creationId xmlns:a16="http://schemas.microsoft.com/office/drawing/2014/main" id="{540238EF-54E3-69F5-D72A-B37C37E38F24}"/>
              </a:ext>
            </a:extLst>
          </p:cNvPr>
          <p:cNvSpPr/>
          <p:nvPr>
            <p:custDataLst>
              <p:tags r:id="rId8"/>
            </p:custDataLst>
          </p:nvPr>
        </p:nvSpPr>
        <p:spPr bwMode="auto">
          <a:xfrm>
            <a:off x="8519867" y="2678052"/>
            <a:ext cx="926858"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800" b="1">
                <a:solidFill>
                  <a:prstClr val="black"/>
                </a:solidFill>
                <a:ea typeface="等线" panose="02010600030101010101" pitchFamily="2" charset="-122"/>
                <a:cs typeface="Calibri" panose="020F0502020204030204" pitchFamily="34" charset="0"/>
              </a:rPr>
              <a:t>Pan-Asian Ph1/DDI</a:t>
            </a:r>
          </a:p>
        </p:txBody>
      </p:sp>
      <p:sp>
        <p:nvSpPr>
          <p:cNvPr id="12" name="OTLSHAPE_T_e17f3958430f4cff8650518c93c7635e_StartDate">
            <a:extLst>
              <a:ext uri="{FF2B5EF4-FFF2-40B4-BE49-F238E27FC236}">
                <a16:creationId xmlns:a16="http://schemas.microsoft.com/office/drawing/2014/main" id="{EEF37EFE-FDD8-127B-CB20-A871D0C3DAAD}"/>
              </a:ext>
            </a:extLst>
          </p:cNvPr>
          <p:cNvSpPr txBox="1"/>
          <p:nvPr>
            <p:custDataLst>
              <p:tags r:id="rId9"/>
            </p:custDataLst>
          </p:nvPr>
        </p:nvSpPr>
        <p:spPr>
          <a:xfrm>
            <a:off x="4330559" y="1723015"/>
            <a:ext cx="911151" cy="328423"/>
          </a:xfrm>
          <a:prstGeom prst="rect">
            <a:avLst/>
          </a:prstGeom>
          <a:noFill/>
        </p:spPr>
        <p:txBody>
          <a:bodyPr vert="horz" wrap="square" lIns="0" tIns="0" rIns="0" bIns="0" rtlCol="0" anchor="ctr" anchorCtr="0">
            <a:spAutoFit/>
          </a:bodyPr>
          <a:lstStyle/>
          <a:p>
            <a:pPr algn="ctr" defTabSz="1219108">
              <a:defRPr/>
            </a:pPr>
            <a:r>
              <a:rPr lang="en-US" altLang="zh-CN" sz="1067" b="1" i="1">
                <a:solidFill>
                  <a:schemeClr val="bg1">
                    <a:lumMod val="65000"/>
                  </a:schemeClr>
                </a:solidFill>
                <a:ea typeface="等线" panose="02010600030101010101" pitchFamily="2" charset="-122"/>
                <a:cs typeface="Calibri" panose="020F0502020204030204" pitchFamily="34" charset="0"/>
              </a:rPr>
              <a:t>Aug 2026 (4m delayed)</a:t>
            </a:r>
            <a:endParaRPr lang="zh-CN" altLang="en-US" sz="1067" b="1" i="1">
              <a:solidFill>
                <a:schemeClr val="bg1">
                  <a:lumMod val="65000"/>
                </a:schemeClr>
              </a:solidFill>
              <a:ea typeface="等线" panose="02010600030101010101" pitchFamily="2" charset="-122"/>
              <a:cs typeface="Calibri" panose="020F0502020204030204" pitchFamily="34" charset="0"/>
            </a:endParaRPr>
          </a:p>
        </p:txBody>
      </p:sp>
      <p:sp>
        <p:nvSpPr>
          <p:cNvPr id="3" name="OTLSHAPE_T_e17f3958430f4cff8650518c93c7635e_Shape">
            <a:extLst>
              <a:ext uri="{FF2B5EF4-FFF2-40B4-BE49-F238E27FC236}">
                <a16:creationId xmlns:a16="http://schemas.microsoft.com/office/drawing/2014/main" id="{C1086083-FA6C-86B4-9583-234C240E3DA1}"/>
              </a:ext>
            </a:extLst>
          </p:cNvPr>
          <p:cNvSpPr/>
          <p:nvPr>
            <p:custDataLst>
              <p:tags r:id="rId10"/>
            </p:custDataLst>
          </p:nvPr>
        </p:nvSpPr>
        <p:spPr bwMode="auto">
          <a:xfrm>
            <a:off x="9353135" y="4383090"/>
            <a:ext cx="1179956" cy="288000"/>
          </a:xfrm>
          <a:prstGeom prst="roundRect">
            <a:avLst/>
          </a:prstGeom>
          <a:solidFill>
            <a:srgbClr val="5D4495">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1" rIns="91440" bIns="45721" numCol="1" rtlCol="0" anchor="ctr" anchorCtr="0" compatLnSpc="1">
            <a:prstTxWarp prst="textNoShape">
              <a:avLst/>
            </a:prstTxWarp>
          </a:bodyPr>
          <a:lstStyle/>
          <a:p>
            <a:pPr algn="ctr" defTabSz="1219108" eaLnBrk="0" fontAlgn="base" hangingPunct="0">
              <a:spcBef>
                <a:spcPct val="0"/>
              </a:spcBef>
              <a:spcAft>
                <a:spcPct val="0"/>
              </a:spcAft>
              <a:defRPr/>
            </a:pPr>
            <a:r>
              <a:rPr lang="en-US" altLang="zh-CN" sz="800" b="1">
                <a:solidFill>
                  <a:srgbClr val="000000"/>
                </a:solidFill>
                <a:ea typeface="等线" panose="02010600030101010101" pitchFamily="2" charset="-122"/>
                <a:cs typeface="Calibri" panose="020F0502020204030204" pitchFamily="34" charset="0"/>
              </a:rPr>
              <a:t>CTA Review + EC + HGRAC + 1</a:t>
            </a:r>
            <a:r>
              <a:rPr lang="en-US" altLang="zh-CN" sz="800" b="1" baseline="30000">
                <a:solidFill>
                  <a:srgbClr val="000000"/>
                </a:solidFill>
                <a:ea typeface="等线" panose="02010600030101010101" pitchFamily="2" charset="-122"/>
                <a:cs typeface="Calibri" panose="020F0502020204030204" pitchFamily="34" charset="0"/>
              </a:rPr>
              <a:t>st</a:t>
            </a:r>
            <a:r>
              <a:rPr lang="en-US" altLang="zh-CN" sz="800" b="1">
                <a:solidFill>
                  <a:srgbClr val="000000"/>
                </a:solidFill>
                <a:ea typeface="等线" panose="02010600030101010101" pitchFamily="2" charset="-122"/>
                <a:cs typeface="Calibri" panose="020F0502020204030204" pitchFamily="34" charset="0"/>
              </a:rPr>
              <a:t> SIV</a:t>
            </a:r>
            <a:endParaRPr lang="zh-CN" altLang="en-US" sz="800" b="1">
              <a:solidFill>
                <a:srgbClr val="000000"/>
              </a:solidFill>
              <a:ea typeface="等线" panose="02010600030101010101" pitchFamily="2" charset="-122"/>
              <a:cs typeface="Calibri" panose="020F0502020204030204" pitchFamily="34" charset="0"/>
            </a:endParaRPr>
          </a:p>
        </p:txBody>
      </p:sp>
      <p:sp>
        <p:nvSpPr>
          <p:cNvPr id="7" name="Rectangle 77">
            <a:extLst>
              <a:ext uri="{FF2B5EF4-FFF2-40B4-BE49-F238E27FC236}">
                <a16:creationId xmlns:a16="http://schemas.microsoft.com/office/drawing/2014/main" id="{DE5CC463-7EB3-458E-BBCF-2B80D32A29E8}"/>
              </a:ext>
            </a:extLst>
          </p:cNvPr>
          <p:cNvSpPr/>
          <p:nvPr/>
        </p:nvSpPr>
        <p:spPr>
          <a:xfrm>
            <a:off x="10308635" y="4671381"/>
            <a:ext cx="626660" cy="256545"/>
          </a:xfrm>
          <a:prstGeom prst="rect">
            <a:avLst/>
          </a:prstGeom>
        </p:spPr>
        <p:txBody>
          <a:bodyPr wrap="square">
            <a:spAutoFit/>
          </a:bodyPr>
          <a:lstStyle/>
          <a:p>
            <a:pPr algn="ctr" defTabSz="1219108">
              <a:defRPr/>
            </a:pPr>
            <a:r>
              <a:rPr lang="en-US" altLang="zh-CN" sz="1067" b="1">
                <a:solidFill>
                  <a:srgbClr val="44546A"/>
                </a:solidFill>
                <a:ea typeface="等线" panose="02010600030101010101" pitchFamily="2" charset="-122"/>
                <a:cs typeface="Calibri" panose="020F0502020204030204" pitchFamily="34" charset="0"/>
              </a:rPr>
              <a:t>1</a:t>
            </a:r>
            <a:r>
              <a:rPr lang="en-US" altLang="zh-CN" sz="1067" b="1" baseline="30000">
                <a:solidFill>
                  <a:srgbClr val="44546A"/>
                </a:solidFill>
                <a:ea typeface="等线" panose="02010600030101010101" pitchFamily="2" charset="-122"/>
                <a:cs typeface="Calibri" panose="020F0502020204030204" pitchFamily="34" charset="0"/>
              </a:rPr>
              <a:t>st</a:t>
            </a:r>
            <a:r>
              <a:rPr lang="en-US" altLang="zh-CN" sz="1067" b="1">
                <a:solidFill>
                  <a:srgbClr val="44546A"/>
                </a:solidFill>
                <a:ea typeface="等线" panose="02010600030101010101" pitchFamily="2" charset="-122"/>
                <a:cs typeface="Calibri" panose="020F0502020204030204" pitchFamily="34" charset="0"/>
              </a:rPr>
              <a:t> SIV</a:t>
            </a:r>
            <a:endParaRPr lang="zh-CN" altLang="en-US" sz="1067" b="1">
              <a:solidFill>
                <a:srgbClr val="44546A"/>
              </a:solidFill>
              <a:ea typeface="等线" panose="02010600030101010101" pitchFamily="2" charset="-122"/>
              <a:cs typeface="Calibri" panose="020F0502020204030204" pitchFamily="34" charset="0"/>
            </a:endParaRPr>
          </a:p>
        </p:txBody>
      </p:sp>
      <p:sp>
        <p:nvSpPr>
          <p:cNvPr id="16" name="OTLSHAPE_M_39ea6ebc19a94c9fab6ef5006c31df58_Shape">
            <a:extLst>
              <a:ext uri="{FF2B5EF4-FFF2-40B4-BE49-F238E27FC236}">
                <a16:creationId xmlns:a16="http://schemas.microsoft.com/office/drawing/2014/main" id="{BE233030-8DFC-17EA-19F0-86C880F9D5C3}"/>
              </a:ext>
            </a:extLst>
          </p:cNvPr>
          <p:cNvSpPr/>
          <p:nvPr>
            <p:custDataLst>
              <p:tags r:id="rId11"/>
            </p:custDataLst>
          </p:nvPr>
        </p:nvSpPr>
        <p:spPr bwMode="auto">
          <a:xfrm rot="16200000">
            <a:off x="9342358" y="4616033"/>
            <a:ext cx="77323"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1" rIns="91440" bIns="45721" numCol="1" rtlCol="0" anchor="t" anchorCtr="0" compatLnSpc="1">
            <a:prstTxWarp prst="textNoShape">
              <a:avLst/>
            </a:prstTxWarp>
          </a:bodyPr>
          <a:lstStyle/>
          <a:p>
            <a:pPr defTabSz="914332" eaLnBrk="0" fontAlgn="base" hangingPunct="0">
              <a:spcBef>
                <a:spcPct val="0"/>
              </a:spcBef>
              <a:spcAft>
                <a:spcPct val="0"/>
              </a:spcAft>
              <a:defRPr/>
            </a:pPr>
            <a:endParaRPr lang="zh-CN" altLang="en-US" sz="933">
              <a:solidFill>
                <a:srgbClr val="000000"/>
              </a:solidFill>
              <a:ea typeface="等线" panose="02010600030101010101" pitchFamily="2" charset="-122"/>
              <a:cs typeface="Calibri" panose="020F0502020204030204" pitchFamily="34" charset="0"/>
            </a:endParaRPr>
          </a:p>
        </p:txBody>
      </p:sp>
      <p:sp>
        <p:nvSpPr>
          <p:cNvPr id="17" name="OTLSHAPE_M_39ea6ebc19a94c9fab6ef5006c31df58_Title">
            <a:extLst>
              <a:ext uri="{FF2B5EF4-FFF2-40B4-BE49-F238E27FC236}">
                <a16:creationId xmlns:a16="http://schemas.microsoft.com/office/drawing/2014/main" id="{9DC6A4D3-D829-C24C-B731-DCD83D8300B2}"/>
              </a:ext>
            </a:extLst>
          </p:cNvPr>
          <p:cNvSpPr txBox="1"/>
          <p:nvPr>
            <p:custDataLst>
              <p:tags r:id="rId12"/>
            </p:custDataLst>
          </p:nvPr>
        </p:nvSpPr>
        <p:spPr>
          <a:xfrm>
            <a:off x="9123680" y="4717547"/>
            <a:ext cx="928201" cy="164212"/>
          </a:xfrm>
          <a:prstGeom prst="rect">
            <a:avLst/>
          </a:prstGeom>
          <a:noFill/>
        </p:spPr>
        <p:txBody>
          <a:bodyPr vert="horz" wrap="square" lIns="0" tIns="0" rIns="0" bIns="0" rtlCol="0" anchor="ctr" anchorCtr="0">
            <a:spAutoFit/>
          </a:bodyPr>
          <a:lstStyle/>
          <a:p>
            <a:pPr defTabSz="1219108">
              <a:defRPr/>
            </a:pPr>
            <a:r>
              <a:rPr lang="en-US" altLang="zh-CN" sz="1067" b="1">
                <a:solidFill>
                  <a:srgbClr val="44546A"/>
                </a:solidFill>
                <a:ea typeface="等线" panose="02010600030101010101" pitchFamily="2" charset="-122"/>
                <a:cs typeface="Calibri" panose="020F0502020204030204" pitchFamily="34" charset="0"/>
              </a:rPr>
              <a:t>CTA Sub</a:t>
            </a:r>
            <a:endParaRPr lang="zh-CN" altLang="en-US" sz="1067" b="1">
              <a:solidFill>
                <a:srgbClr val="44546A"/>
              </a:solidFill>
              <a:ea typeface="等线" panose="02010600030101010101" pitchFamily="2" charset="-122"/>
              <a:cs typeface="Calibri" panose="020F0502020204030204" pitchFamily="34" charset="0"/>
            </a:endParaRPr>
          </a:p>
        </p:txBody>
      </p:sp>
      <p:sp>
        <p:nvSpPr>
          <p:cNvPr id="19" name="Star: 4 Points 143">
            <a:extLst>
              <a:ext uri="{FF2B5EF4-FFF2-40B4-BE49-F238E27FC236}">
                <a16:creationId xmlns:a16="http://schemas.microsoft.com/office/drawing/2014/main" id="{16FB064B-A8DF-9018-6E75-89BAC8144BED}"/>
              </a:ext>
            </a:extLst>
          </p:cNvPr>
          <p:cNvSpPr/>
          <p:nvPr/>
        </p:nvSpPr>
        <p:spPr bwMode="auto">
          <a:xfrm>
            <a:off x="10438544" y="458519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defTabSz="914354" eaLnBrk="0" fontAlgn="base" hangingPunct="0">
              <a:spcBef>
                <a:spcPct val="0"/>
              </a:spcBef>
              <a:spcAft>
                <a:spcPct val="0"/>
              </a:spcAft>
              <a:defRPr/>
            </a:pPr>
            <a:endParaRPr lang="zh-CN" altLang="en-US" sz="2400">
              <a:solidFill>
                <a:prstClr val="black"/>
              </a:solidFill>
              <a:ea typeface="等线" panose="02010600030101010101" pitchFamily="2" charset="-122"/>
              <a:cs typeface="Calibri" panose="020F0502020204030204" pitchFamily="34" charset="0"/>
            </a:endParaRPr>
          </a:p>
        </p:txBody>
      </p:sp>
      <p:sp>
        <p:nvSpPr>
          <p:cNvPr id="20" name="TextBox 64">
            <a:extLst>
              <a:ext uri="{FF2B5EF4-FFF2-40B4-BE49-F238E27FC236}">
                <a16:creationId xmlns:a16="http://schemas.microsoft.com/office/drawing/2014/main" id="{36BDAEFF-11D5-6321-0484-029FF4ECF55A}"/>
              </a:ext>
            </a:extLst>
          </p:cNvPr>
          <p:cNvSpPr txBox="1"/>
          <p:nvPr/>
        </p:nvSpPr>
        <p:spPr>
          <a:xfrm>
            <a:off x="57045" y="4370554"/>
            <a:ext cx="825189" cy="328423"/>
          </a:xfrm>
          <a:prstGeom prst="rect">
            <a:avLst/>
          </a:prstGeom>
          <a:noFill/>
          <a:ln>
            <a:noFill/>
          </a:ln>
        </p:spPr>
        <p:txBody>
          <a:bodyPr wrap="square" lIns="0" tIns="0" rIns="0" bIns="0" rtlCol="0">
            <a:spAutoFit/>
          </a:bodyPr>
          <a:lstStyle/>
          <a:p>
            <a:pPr algn="ctr" defTabSz="914377">
              <a:defRPr/>
            </a:pPr>
            <a:r>
              <a:rPr lang="en-US" sz="1067" b="1">
                <a:solidFill>
                  <a:srgbClr val="08312A"/>
                </a:solidFill>
                <a:cs typeface="Calibri" panose="020F0502020204030204" pitchFamily="34" charset="0"/>
              </a:rPr>
              <a:t>Ph2 -</a:t>
            </a:r>
          </a:p>
          <a:p>
            <a:pPr algn="ctr" defTabSz="914377">
              <a:defRPr/>
            </a:pPr>
            <a:r>
              <a:rPr lang="en-US" altLang="zh-CN" sz="1067" b="1">
                <a:solidFill>
                  <a:srgbClr val="08312A"/>
                </a:solidFill>
                <a:cs typeface="Calibri" panose="020F0502020204030204" pitchFamily="34" charset="0"/>
              </a:rPr>
              <a:t>1526-0014</a:t>
            </a:r>
          </a:p>
        </p:txBody>
      </p:sp>
      <p:sp>
        <p:nvSpPr>
          <p:cNvPr id="21" name="OTLSHAPE_T_e17f3958430f4cff8650518c93c7635e_Shape">
            <a:extLst>
              <a:ext uri="{FF2B5EF4-FFF2-40B4-BE49-F238E27FC236}">
                <a16:creationId xmlns:a16="http://schemas.microsoft.com/office/drawing/2014/main" id="{69A6A7E9-6F57-B74E-3499-66739A859D8D}"/>
              </a:ext>
            </a:extLst>
          </p:cNvPr>
          <p:cNvSpPr/>
          <p:nvPr>
            <p:custDataLst>
              <p:tags r:id="rId13"/>
            </p:custDataLst>
          </p:nvPr>
        </p:nvSpPr>
        <p:spPr bwMode="auto">
          <a:xfrm>
            <a:off x="10533091" y="4373975"/>
            <a:ext cx="1395745" cy="288000"/>
          </a:xfrm>
          <a:prstGeom prst="roundRect">
            <a:avLst/>
          </a:prstGeom>
          <a:solidFill>
            <a:srgbClr val="076D7E">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121920" tIns="60960" rIns="121920" bIns="60960" numCol="1" rtlCol="0" anchor="ctr" anchorCtr="0" compatLnSpc="1">
            <a:prstTxWarp prst="textNoShape">
              <a:avLst/>
            </a:prstTxWarp>
          </a:bodyPr>
          <a:lstStyle/>
          <a:p>
            <a:pPr algn="ctr" defTabSz="1219108">
              <a:defRPr/>
            </a:pPr>
            <a:r>
              <a:rPr lang="en-US" altLang="zh-CN" sz="1067" b="1">
                <a:solidFill>
                  <a:prstClr val="black"/>
                </a:solidFill>
                <a:ea typeface="等线" panose="02010600030101010101" pitchFamily="2" charset="-122"/>
                <a:cs typeface="Calibri" panose="020F0502020204030204" pitchFamily="34" charset="0"/>
              </a:rPr>
              <a:t>Ph2 PoC</a:t>
            </a:r>
          </a:p>
        </p:txBody>
      </p:sp>
      <p:sp>
        <p:nvSpPr>
          <p:cNvPr id="22" name="Isosceles Triangle 128">
            <a:extLst>
              <a:ext uri="{FF2B5EF4-FFF2-40B4-BE49-F238E27FC236}">
                <a16:creationId xmlns:a16="http://schemas.microsoft.com/office/drawing/2014/main" id="{A409893B-6F9A-5C9F-CE17-D30C0A873F45}"/>
              </a:ext>
            </a:extLst>
          </p:cNvPr>
          <p:cNvSpPr/>
          <p:nvPr/>
        </p:nvSpPr>
        <p:spPr>
          <a:xfrm rot="5400000">
            <a:off x="11925605" y="4411123"/>
            <a:ext cx="256543" cy="230532"/>
          </a:xfrm>
          <a:prstGeom prst="triangle">
            <a:avLst/>
          </a:prstGeom>
          <a:solidFill>
            <a:srgbClr val="D6EAEC"/>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defTabSz="914377">
              <a:defRPr/>
            </a:pPr>
            <a:endParaRPr lang="en-US" sz="1867" err="1">
              <a:solidFill>
                <a:prstClr val="black"/>
              </a:solidFill>
            </a:endParaRPr>
          </a:p>
        </p:txBody>
      </p:sp>
    </p:spTree>
    <p:extLst>
      <p:ext uri="{BB962C8B-B14F-4D97-AF65-F5344CB8AC3E}">
        <p14:creationId xmlns:p14="http://schemas.microsoft.com/office/powerpoint/2010/main" val="4083202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03A09355-7E72-9E43-D465-B1518E85F91C}"/>
              </a:ext>
            </a:extLst>
          </p:cNvPr>
          <p:cNvSpPr>
            <a:spLocks noGrp="1"/>
          </p:cNvSpPr>
          <p:nvPr>
            <p:ph type="title"/>
          </p:nvPr>
        </p:nvSpPr>
        <p:spPr/>
        <p:txBody>
          <a:bodyPr/>
          <a:lstStyle/>
          <a:p>
            <a:r>
              <a:rPr lang="en-US" altLang="zh-CN"/>
              <a:t>Mental Health Ongoing Projects</a:t>
            </a:r>
            <a:endParaRPr lang="zh-CN" altLang="en-US"/>
          </a:p>
        </p:txBody>
      </p:sp>
      <p:sp>
        <p:nvSpPr>
          <p:cNvPr id="5" name="内容占位符 4">
            <a:extLst>
              <a:ext uri="{FF2B5EF4-FFF2-40B4-BE49-F238E27FC236}">
                <a16:creationId xmlns:a16="http://schemas.microsoft.com/office/drawing/2014/main" id="{DE9F9D13-974E-D971-43C6-A6E24E7DCDDD}"/>
              </a:ext>
            </a:extLst>
          </p:cNvPr>
          <p:cNvSpPr>
            <a:spLocks noGrp="1"/>
          </p:cNvSpPr>
          <p:nvPr>
            <p:ph idx="1"/>
          </p:nvPr>
        </p:nvSpPr>
        <p:spPr/>
        <p:txBody>
          <a:bodyPr/>
          <a:lstStyle/>
          <a:p>
            <a:endParaRPr lang="en-US" altLang="zh-CN"/>
          </a:p>
          <a:p>
            <a:endParaRPr lang="zh-CN" altLang="en-US"/>
          </a:p>
        </p:txBody>
      </p:sp>
      <p:graphicFrame>
        <p:nvGraphicFramePr>
          <p:cNvPr id="7" name="表格 6">
            <a:extLst>
              <a:ext uri="{FF2B5EF4-FFF2-40B4-BE49-F238E27FC236}">
                <a16:creationId xmlns:a16="http://schemas.microsoft.com/office/drawing/2014/main" id="{5DD7B900-FCC7-19CC-3395-F642AA9955AD}"/>
              </a:ext>
            </a:extLst>
          </p:cNvPr>
          <p:cNvGraphicFramePr>
            <a:graphicFrameLocks noGrp="1"/>
          </p:cNvGraphicFramePr>
          <p:nvPr>
            <p:extLst>
              <p:ext uri="{D42A27DB-BD31-4B8C-83A1-F6EECF244321}">
                <p14:modId xmlns:p14="http://schemas.microsoft.com/office/powerpoint/2010/main" val="1614846467"/>
              </p:ext>
            </p:extLst>
          </p:nvPr>
        </p:nvGraphicFramePr>
        <p:xfrm>
          <a:off x="479424" y="1197001"/>
          <a:ext cx="11233151" cy="3529963"/>
        </p:xfrm>
        <a:graphic>
          <a:graphicData uri="http://schemas.openxmlformats.org/drawingml/2006/table">
            <a:tbl>
              <a:tblPr firstRow="1" bandRow="1">
                <a:tableStyleId>{69012ECD-51FC-41F1-AA8D-1B2483CD663E}</a:tableStyleId>
              </a:tblPr>
              <a:tblGrid>
                <a:gridCol w="1198949">
                  <a:extLst>
                    <a:ext uri="{9D8B030D-6E8A-4147-A177-3AD203B41FA5}">
                      <a16:colId xmlns:a16="http://schemas.microsoft.com/office/drawing/2014/main" val="1377715731"/>
                    </a:ext>
                  </a:extLst>
                </a:gridCol>
                <a:gridCol w="3389386">
                  <a:extLst>
                    <a:ext uri="{9D8B030D-6E8A-4147-A177-3AD203B41FA5}">
                      <a16:colId xmlns:a16="http://schemas.microsoft.com/office/drawing/2014/main" val="4286885606"/>
                    </a:ext>
                  </a:extLst>
                </a:gridCol>
                <a:gridCol w="1465243">
                  <a:extLst>
                    <a:ext uri="{9D8B030D-6E8A-4147-A177-3AD203B41FA5}">
                      <a16:colId xmlns:a16="http://schemas.microsoft.com/office/drawing/2014/main" val="257025739"/>
                    </a:ext>
                  </a:extLst>
                </a:gridCol>
                <a:gridCol w="2754217">
                  <a:extLst>
                    <a:ext uri="{9D8B030D-6E8A-4147-A177-3AD203B41FA5}">
                      <a16:colId xmlns:a16="http://schemas.microsoft.com/office/drawing/2014/main" val="3766825478"/>
                    </a:ext>
                  </a:extLst>
                </a:gridCol>
                <a:gridCol w="2425356">
                  <a:extLst>
                    <a:ext uri="{9D8B030D-6E8A-4147-A177-3AD203B41FA5}">
                      <a16:colId xmlns:a16="http://schemas.microsoft.com/office/drawing/2014/main" val="381250352"/>
                    </a:ext>
                  </a:extLst>
                </a:gridCol>
              </a:tblGrid>
              <a:tr h="355223">
                <a:tc>
                  <a:txBody>
                    <a:bodyPr/>
                    <a:lstStyle/>
                    <a:p>
                      <a:pPr algn="ctr"/>
                      <a:r>
                        <a:rPr lang="en-US" altLang="zh-CN" sz="1600"/>
                        <a:t>Project</a:t>
                      </a:r>
                      <a:endParaRPr lang="zh-CN" altLang="en-US" sz="1600">
                        <a:latin typeface="+mn-ea"/>
                        <a:ea typeface="+mn-ea"/>
                      </a:endParaRPr>
                    </a:p>
                  </a:txBody>
                  <a:tcPr anchor="ctr"/>
                </a:tc>
                <a:tc>
                  <a:txBody>
                    <a:bodyPr/>
                    <a:lstStyle/>
                    <a:p>
                      <a:pPr algn="ctr"/>
                      <a:r>
                        <a:rPr lang="en-US" altLang="zh-CN" sz="1600"/>
                        <a:t>Description</a:t>
                      </a:r>
                      <a:endParaRPr lang="zh-CN" altLang="en-US" sz="1600">
                        <a:latin typeface="+mn-ea"/>
                        <a:ea typeface="+mn-ea"/>
                      </a:endParaRPr>
                    </a:p>
                  </a:txBody>
                  <a:tcPr anchor="ctr"/>
                </a:tc>
                <a:tc>
                  <a:txBody>
                    <a:bodyPr/>
                    <a:lstStyle/>
                    <a:p>
                      <a:pPr algn="ctr"/>
                      <a:r>
                        <a:rPr lang="en-US" altLang="zh-CN" sz="1600">
                          <a:latin typeface="+mn-ea"/>
                          <a:ea typeface="+mn-ea"/>
                        </a:rPr>
                        <a:t>Leading KEE</a:t>
                      </a:r>
                      <a:endParaRPr lang="zh-CN" altLang="en-US" sz="1600">
                        <a:latin typeface="+mn-ea"/>
                        <a:ea typeface="+mn-ea"/>
                      </a:endParaRPr>
                    </a:p>
                  </a:txBody>
                  <a:tcPr anchor="ctr"/>
                </a:tc>
                <a:tc>
                  <a:txBody>
                    <a:bodyPr/>
                    <a:lstStyle/>
                    <a:p>
                      <a:pPr algn="ctr"/>
                      <a:r>
                        <a:rPr lang="en-US" altLang="zh-CN" sz="1600"/>
                        <a:t>Key Update</a:t>
                      </a:r>
                      <a:endParaRPr lang="zh-CN" altLang="en-US" sz="1600">
                        <a:latin typeface="+mn-ea"/>
                        <a:ea typeface="+mn-ea"/>
                      </a:endParaRPr>
                    </a:p>
                  </a:txBody>
                  <a:tcPr anchor="ctr"/>
                </a:tc>
                <a:tc>
                  <a:txBody>
                    <a:bodyPr/>
                    <a:lstStyle/>
                    <a:p>
                      <a:pPr algn="ctr"/>
                      <a:r>
                        <a:rPr lang="en-US" altLang="zh-CN" sz="1600">
                          <a:latin typeface="+mn-ea"/>
                          <a:ea typeface="+mn-ea"/>
                        </a:rPr>
                        <a:t>Next Step</a:t>
                      </a:r>
                      <a:endParaRPr lang="zh-CN" altLang="en-US" sz="1600">
                        <a:latin typeface="+mn-ea"/>
                        <a:ea typeface="+mn-ea"/>
                      </a:endParaRPr>
                    </a:p>
                  </a:txBody>
                  <a:tcPr anchor="ctr"/>
                </a:tc>
                <a:extLst>
                  <a:ext uri="{0D108BD9-81ED-4DB2-BD59-A6C34878D82A}">
                    <a16:rowId xmlns:a16="http://schemas.microsoft.com/office/drawing/2014/main" val="3073051834"/>
                  </a:ext>
                </a:extLst>
              </a:tr>
              <a:tr h="1128754">
                <a:tc>
                  <a:txBody>
                    <a:bodyPr/>
                    <a:lstStyle/>
                    <a:p>
                      <a:r>
                        <a:rPr lang="en-US" altLang="zh-CN" sz="1200" i="0" strike="noStrike" kern="1200" baseline="0">
                          <a:solidFill>
                            <a:schemeClr val="tx1"/>
                          </a:solidFill>
                          <a:latin typeface="+mn-lt"/>
                          <a:ea typeface="+mn-ea"/>
                          <a:cs typeface="+mn-cs"/>
                        </a:rPr>
                        <a:t>BJ-PERFECT study</a:t>
                      </a:r>
                      <a:endParaRPr lang="zh-CN" altLang="en-US" sz="1200" i="0" strike="noStrike" kern="1200" baseline="0">
                        <a:solidFill>
                          <a:schemeClr val="tx1"/>
                        </a:solidFill>
                        <a:latin typeface="+mn-lt"/>
                        <a:ea typeface="+mn-ea"/>
                        <a:cs typeface="+mn-cs"/>
                      </a:endParaRP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ECR study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Aim to validate the functional capacity evaluation tool (BJ-PERFECT VR) and explore CIAS link to function. Meanwhile collect disease and economic burden of CIAS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i="0" strike="noStrike" kern="1200" baseline="0" noProof="0">
                          <a:solidFill>
                            <a:schemeClr val="tx1"/>
                          </a:solidFill>
                          <a:latin typeface="+mn-lt"/>
                          <a:ea typeface="+mn-ea"/>
                          <a:cs typeface="+mn-cs"/>
                        </a:rPr>
                        <a:t>石川</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noProof="0">
                          <a:solidFill>
                            <a:schemeClr val="tx1"/>
                          </a:solidFill>
                          <a:latin typeface="+mn-lt"/>
                          <a:ea typeface="+mn-ea"/>
                          <a:cs typeface="+mn-cs"/>
                        </a:rPr>
                        <a:t>Recruitment: Ongoing. 110</a:t>
                      </a:r>
                      <a:r>
                        <a:rPr lang="en-US" altLang="zh-CN" sz="1200" i="0" strike="noStrike" kern="1200" baseline="0">
                          <a:solidFill>
                            <a:schemeClr val="tx1"/>
                          </a:solidFill>
                          <a:latin typeface="+mn-lt"/>
                          <a:ea typeface="+mn-ea"/>
                          <a:cs typeface="+mn-cs"/>
                        </a:rPr>
                        <a:t> pts (150 planned) and 689 HCs (750 planned) have been enrolled By the end of Nov. (89%) </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Enrollment completion is expected by the end of 2025.</a:t>
                      </a:r>
                    </a:p>
                  </a:txBody>
                  <a:tcPr anchor="ctr"/>
                </a:tc>
                <a:extLst>
                  <a:ext uri="{0D108BD9-81ED-4DB2-BD59-A6C34878D82A}">
                    <a16:rowId xmlns:a16="http://schemas.microsoft.com/office/drawing/2014/main" val="2317817396"/>
                  </a:ext>
                </a:extLst>
              </a:tr>
              <a:tr h="71852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0" strike="noStrike" kern="1200" baseline="0" noProof="0">
                          <a:solidFill>
                            <a:schemeClr val="bg1">
                              <a:lumMod val="50000"/>
                            </a:schemeClr>
                          </a:solidFill>
                          <a:latin typeface="+mn-lt"/>
                          <a:ea typeface="+mn-ea"/>
                          <a:cs typeface="+mn-cs"/>
                        </a:rPr>
                        <a:t>Checklist Development</a:t>
                      </a:r>
                      <a:endParaRPr lang="zh-CN" altLang="en-US" sz="1200" i="0" strike="noStrike" kern="1200" baseline="0" noProof="0">
                        <a:solidFill>
                          <a:schemeClr val="bg1">
                            <a:lumMod val="50000"/>
                          </a:schemeClr>
                        </a:solidFill>
                        <a:latin typeface="+mn-lt"/>
                        <a:ea typeface="+mn-ea"/>
                        <a:cs typeface="+mn-cs"/>
                      </a:endParaRPr>
                    </a:p>
                  </a:txBody>
                  <a:tcPr anchor="ctr"/>
                </a:tc>
                <a:tc>
                  <a:txBody>
                    <a:bodyPr/>
                    <a:lstStyle/>
                    <a:p>
                      <a:pPr marL="171450" indent="-171450" algn="l" rtl="0" eaLnBrk="1" latinLnBrk="0" hangingPunct="1">
                        <a:lnSpc>
                          <a:spcPct val="106000"/>
                        </a:lnSpc>
                        <a:spcBef>
                          <a:spcPts val="0"/>
                        </a:spcBef>
                        <a:buFont typeface="Arial" panose="020B0604020202020204" pitchFamily="34" charset="0"/>
                        <a:buChar char="•"/>
                      </a:pPr>
                      <a:r>
                        <a:rPr lang="en-US" altLang="zh-CN" sz="1200" i="0" strike="noStrike" kern="1200" baseline="0">
                          <a:solidFill>
                            <a:schemeClr val="bg1">
                              <a:lumMod val="50000"/>
                            </a:schemeClr>
                          </a:solidFill>
                          <a:latin typeface="+mn-lt"/>
                          <a:ea typeface="+mn-ea"/>
                          <a:cs typeface="+mn-cs"/>
                        </a:rPr>
                        <a:t>Develop a simplified checklist using Delphi methodology for quick screening/identification of CIAS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i="0" strike="noStrike" kern="1200" baseline="0" noProof="0">
                          <a:solidFill>
                            <a:schemeClr val="bg1">
                              <a:lumMod val="50000"/>
                            </a:schemeClr>
                          </a:solidFill>
                          <a:latin typeface="+mn-lt"/>
                          <a:ea typeface="+mn-ea"/>
                          <a:cs typeface="+mn-cs"/>
                        </a:rPr>
                        <a:t>石川</a:t>
                      </a:r>
                      <a:endParaRPr lang="en-US" altLang="zh-CN" sz="1200" i="0" strike="noStrike" kern="1200" baseline="0" noProof="0">
                        <a:solidFill>
                          <a:schemeClr val="bg1">
                            <a:lumMod val="50000"/>
                          </a:schemeClr>
                        </a:solidFill>
                        <a:latin typeface="+mn-lt"/>
                        <a:ea typeface="+mn-ea"/>
                        <a:cs typeface="+mn-cs"/>
                      </a:endParaRP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bg1">
                              <a:lumMod val="50000"/>
                            </a:schemeClr>
                          </a:solidFill>
                          <a:latin typeface="+mn-lt"/>
                          <a:ea typeface="+mn-ea"/>
                          <a:cs typeface="+mn-cs"/>
                        </a:rPr>
                        <a:t>The project is completed as planned</a:t>
                      </a:r>
                      <a:endParaRPr lang="en-US" altLang="zh-CN" sz="1200" i="0" strike="noStrike" kern="1200" baseline="0" noProof="0">
                        <a:solidFill>
                          <a:schemeClr val="bg1">
                            <a:lumMod val="50000"/>
                          </a:schemeClr>
                        </a:solidFill>
                        <a:latin typeface="+mn-lt"/>
                        <a:ea typeface="+mn-ea"/>
                        <a:cs typeface="+mn-cs"/>
                      </a:endParaRP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altLang="zh-CN" sz="1200" i="0" strike="noStrike" kern="1200" baseline="0" noProof="0">
                          <a:solidFill>
                            <a:schemeClr val="bg1">
                              <a:lumMod val="50000"/>
                            </a:schemeClr>
                          </a:solidFill>
                          <a:latin typeface="+mn-lt"/>
                          <a:ea typeface="+mn-ea"/>
                          <a:cs typeface="+mn-cs"/>
                        </a:rPr>
                        <a:t>-</a:t>
                      </a:r>
                    </a:p>
                  </a:txBody>
                  <a:tcPr anchor="ctr"/>
                </a:tc>
                <a:extLst>
                  <a:ext uri="{0D108BD9-81ED-4DB2-BD59-A6C34878D82A}">
                    <a16:rowId xmlns:a16="http://schemas.microsoft.com/office/drawing/2014/main" val="445198969"/>
                  </a:ext>
                </a:extLst>
              </a:tr>
              <a:tr h="12675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i="0" strike="noStrike" kern="1200" baseline="0" noProof="0">
                          <a:solidFill>
                            <a:schemeClr val="tx1"/>
                          </a:solidFill>
                          <a:latin typeface="+mn-lt"/>
                          <a:ea typeface="+mn-ea"/>
                          <a:cs typeface="+mn-cs"/>
                        </a:rPr>
                        <a:t>CIAS review </a:t>
                      </a:r>
                    </a:p>
                  </a:txBody>
                  <a:tcPr anchor="ctr"/>
                </a:tc>
                <a:tc>
                  <a:txBody>
                    <a:bodyPr/>
                    <a:lstStyle/>
                    <a:p>
                      <a:pPr marL="171450" marR="0" lvl="0" indent="-171450" algn="l" defTabSz="914400" rtl="0" eaLnBrk="1" fontAlgn="auto" latinLnBrk="0" hangingPunct="1">
                        <a:lnSpc>
                          <a:spcPct val="106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Comprehensive review of CIAS literature in China, including epidemiology, burden and impact, potential pathophysiological mechanisms, clinical assessment methods, and treatment updates.</a:t>
                      </a:r>
                      <a:endParaRPr lang="en-US" altLang="zh-CN" sz="1200" i="0" strike="noStrike" kern="1200" baseline="0" noProof="0">
                        <a:solidFill>
                          <a:schemeClr val="tx1"/>
                        </a:solidFill>
                        <a:latin typeface="+mn-lt"/>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i="0" strike="noStrike" kern="1200" baseline="0">
                          <a:solidFill>
                            <a:schemeClr val="tx1"/>
                          </a:solidFill>
                          <a:latin typeface="+mn-lt"/>
                          <a:ea typeface="+mn-ea"/>
                          <a:cs typeface="+mn-cs"/>
                        </a:rPr>
                        <a:t>司天梅</a:t>
                      </a:r>
                      <a:endParaRPr lang="en-US" altLang="zh-CN" sz="1200" i="0" strike="noStrike" kern="1200" baseline="0">
                        <a:solidFill>
                          <a:schemeClr val="tx1"/>
                        </a:solidFill>
                        <a:latin typeface="+mn-lt"/>
                        <a:ea typeface="+mn-ea"/>
                        <a:cs typeface="+mn-cs"/>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i="0" strike="noStrike" kern="1200" baseline="0">
                          <a:solidFill>
                            <a:schemeClr val="tx1"/>
                          </a:solidFill>
                          <a:latin typeface="+mn-lt"/>
                          <a:ea typeface="+mn-ea"/>
                          <a:cs typeface="+mn-cs"/>
                        </a:rPr>
                        <a:t>蒲城城</a:t>
                      </a:r>
                      <a:endParaRPr lang="en-US" altLang="zh-CN" sz="1200" i="0" strike="noStrike" kern="1200" baseline="0">
                        <a:solidFill>
                          <a:schemeClr val="tx1"/>
                        </a:solidFill>
                        <a:latin typeface="+mn-lt"/>
                        <a:ea typeface="+mn-ea"/>
                        <a:cs typeface="+mn-cs"/>
                      </a:endParaRP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Manuscript is resubmitted to the Jornal 《</a:t>
                      </a:r>
                      <a:r>
                        <a:rPr lang="zh-CN" altLang="en-US" sz="1200" i="0" strike="noStrike" kern="1200" baseline="0">
                          <a:solidFill>
                            <a:schemeClr val="tx1"/>
                          </a:solidFill>
                          <a:latin typeface="+mn-lt"/>
                          <a:ea typeface="+mn-ea"/>
                          <a:cs typeface="+mn-cs"/>
                        </a:rPr>
                        <a:t>中国心理卫生杂志</a:t>
                      </a:r>
                      <a:r>
                        <a:rPr lang="en-US" altLang="zh-CN" sz="1200" i="0" strike="noStrike" kern="1200" baseline="0">
                          <a:solidFill>
                            <a:schemeClr val="tx1"/>
                          </a:solidFill>
                          <a:latin typeface="+mn-lt"/>
                          <a:ea typeface="+mn-ea"/>
                          <a:cs typeface="+mn-cs"/>
                        </a:rPr>
                        <a:t>》 on 10th Oct. </a:t>
                      </a:r>
                    </a:p>
                  </a:txBody>
                  <a:tcPr anchor="ct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1200" i="0" strike="noStrike" kern="1200" baseline="0">
                          <a:solidFill>
                            <a:schemeClr val="tx1"/>
                          </a:solidFill>
                          <a:latin typeface="+mn-lt"/>
                          <a:ea typeface="+mn-ea"/>
                          <a:cs typeface="+mn-cs"/>
                        </a:rPr>
                        <a:t>Waiting for 《</a:t>
                      </a:r>
                      <a:r>
                        <a:rPr lang="zh-CN" altLang="en-US" sz="1200" i="0" strike="noStrike" kern="1200" baseline="0">
                          <a:solidFill>
                            <a:schemeClr val="tx1"/>
                          </a:solidFill>
                          <a:latin typeface="+mn-lt"/>
                          <a:ea typeface="+mn-ea"/>
                          <a:cs typeface="+mn-cs"/>
                        </a:rPr>
                        <a:t>中国心理卫生杂志</a:t>
                      </a:r>
                      <a:r>
                        <a:rPr lang="en-US" altLang="zh-CN" sz="1200" i="0" strike="noStrike" kern="1200" baseline="0">
                          <a:solidFill>
                            <a:schemeClr val="tx1"/>
                          </a:solidFill>
                          <a:latin typeface="+mn-lt"/>
                          <a:ea typeface="+mn-ea"/>
                          <a:cs typeface="+mn-cs"/>
                        </a:rPr>
                        <a:t>》feedback </a:t>
                      </a:r>
                    </a:p>
                  </a:txBody>
                  <a:tcPr anchor="ctr"/>
                </a:tc>
                <a:extLst>
                  <a:ext uri="{0D108BD9-81ED-4DB2-BD59-A6C34878D82A}">
                    <a16:rowId xmlns:a16="http://schemas.microsoft.com/office/drawing/2014/main" val="3121995299"/>
                  </a:ext>
                </a:extLst>
              </a:tr>
            </a:tbl>
          </a:graphicData>
        </a:graphic>
      </p:graphicFrame>
      <p:graphicFrame>
        <p:nvGraphicFramePr>
          <p:cNvPr id="3" name="表格 2">
            <a:extLst>
              <a:ext uri="{FF2B5EF4-FFF2-40B4-BE49-F238E27FC236}">
                <a16:creationId xmlns:a16="http://schemas.microsoft.com/office/drawing/2014/main" id="{A07F6B0E-350A-A3FE-0CDC-09847B1C56FF}"/>
              </a:ext>
            </a:extLst>
          </p:cNvPr>
          <p:cNvGraphicFramePr>
            <a:graphicFrameLocks noGrp="1"/>
          </p:cNvGraphicFramePr>
          <p:nvPr>
            <p:extLst>
              <p:ext uri="{D42A27DB-BD31-4B8C-83A1-F6EECF244321}">
                <p14:modId xmlns:p14="http://schemas.microsoft.com/office/powerpoint/2010/main" val="1682712058"/>
              </p:ext>
            </p:extLst>
          </p:nvPr>
        </p:nvGraphicFramePr>
        <p:xfrm>
          <a:off x="479424" y="4820497"/>
          <a:ext cx="11231506" cy="1712504"/>
        </p:xfrm>
        <a:graphic>
          <a:graphicData uri="http://schemas.openxmlformats.org/drawingml/2006/table">
            <a:tbl>
              <a:tblPr firstRow="1" bandRow="1">
                <a:tableStyleId>{2D5ABB26-0587-4C30-8999-92F81FD0307C}</a:tableStyleId>
              </a:tblPr>
              <a:tblGrid>
                <a:gridCol w="1118022">
                  <a:extLst>
                    <a:ext uri="{9D8B030D-6E8A-4147-A177-3AD203B41FA5}">
                      <a16:colId xmlns:a16="http://schemas.microsoft.com/office/drawing/2014/main" val="244999192"/>
                    </a:ext>
                  </a:extLst>
                </a:gridCol>
                <a:gridCol w="10113484">
                  <a:extLst>
                    <a:ext uri="{9D8B030D-6E8A-4147-A177-3AD203B41FA5}">
                      <a16:colId xmlns:a16="http://schemas.microsoft.com/office/drawing/2014/main" val="2748962988"/>
                    </a:ext>
                  </a:extLst>
                </a:gridCol>
              </a:tblGrid>
              <a:tr h="171250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baseline="0">
                          <a:solidFill>
                            <a:schemeClr val="bg1">
                              <a:lumMod val="50000"/>
                            </a:schemeClr>
                          </a:solidFill>
                          <a:latin typeface="+mn-lt"/>
                        </a:rPr>
                        <a:t>CONNEX Pooled publication </a:t>
                      </a:r>
                      <a:r>
                        <a:rPr lang="en-US" altLang="zh-CN" sz="1200">
                          <a:latin typeface="+mn-lt"/>
                          <a:ea typeface="Boehringer Forward Text"/>
                          <a:cs typeface="Boehringer Forward Text"/>
                        </a:rPr>
                        <a:t>​</a:t>
                      </a:r>
                      <a:endParaRPr lang="en-US" altLang="zh-CN" sz="1200"/>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rtl="0" fontAlgn="base">
                        <a:lnSpc>
                          <a:spcPct val="100000"/>
                        </a:lnSpc>
                        <a:buFont typeface="Arial" panose="020B0604020202020204" pitchFamily="34" charset="0"/>
                        <a:buChar char="•"/>
                      </a:pPr>
                      <a:r>
                        <a:rPr lang="en-US" altLang="zh-CN" sz="1200" b="1" i="0">
                          <a:solidFill>
                            <a:srgbClr val="A6A6A6"/>
                          </a:solidFill>
                          <a:effectLst/>
                          <a:latin typeface="Boehringer Forward Text" panose="02000500000000020000" pitchFamily="2" charset="0"/>
                        </a:rPr>
                        <a:t>Oral presentation </a:t>
                      </a:r>
                      <a:r>
                        <a:rPr lang="en-US" altLang="zh-CN" sz="1200" b="0" i="0">
                          <a:solidFill>
                            <a:srgbClr val="A6A6A6"/>
                          </a:solidFill>
                          <a:effectLst/>
                          <a:latin typeface="Boehringer Forward Text" panose="02000500000000020000" pitchFamily="2" charset="0"/>
                        </a:rPr>
                        <a:t>at SIRS congress – Apr.1</a:t>
                      </a:r>
                      <a:r>
                        <a:rPr lang="en-US" altLang="zh-CN" sz="800" b="0" i="0">
                          <a:solidFill>
                            <a:srgbClr val="A6A6A6"/>
                          </a:solidFill>
                          <a:effectLst/>
                          <a:latin typeface="Boehringer Forward Text" panose="02000500000000020000" pitchFamily="2" charset="0"/>
                        </a:rPr>
                        <a:t>st</a:t>
                      </a:r>
                      <a:r>
                        <a:rPr lang="en-US" altLang="zh-CN" sz="1200" b="0" i="0">
                          <a:solidFill>
                            <a:srgbClr val="A6A6A6"/>
                          </a:solidFill>
                          <a:effectLst/>
                          <a:latin typeface="Boehringer Forward Text" panose="02000500000000020000" pitchFamily="2" charset="0"/>
                        </a:rPr>
                        <a:t> </a:t>
                      </a:r>
                      <a:r>
                        <a:rPr lang="en-US" altLang="zh-CN" sz="1200" b="0" i="0">
                          <a:solidFill>
                            <a:srgbClr val="000000"/>
                          </a:solidFill>
                          <a:effectLst/>
                          <a:latin typeface="Boehringer Forward Text" panose="02000500000000020000" pitchFamily="2" charset="0"/>
                        </a:rPr>
                        <a:t>​</a:t>
                      </a:r>
                      <a:endParaRPr lang="en-US" altLang="zh-CN" sz="1200" b="0" i="0">
                        <a:solidFill>
                          <a:srgbClr val="000000"/>
                        </a:solidFill>
                        <a:effectLst/>
                        <a:latin typeface="Arial" panose="020B0604020202020204" pitchFamily="34" charset="0"/>
                      </a:endParaRPr>
                    </a:p>
                    <a:p>
                      <a:pPr algn="l" rtl="0" fontAlgn="base">
                        <a:lnSpc>
                          <a:spcPct val="100000"/>
                        </a:lnSpc>
                        <a:buFont typeface="Arial" panose="020B0604020202020204" pitchFamily="34" charset="0"/>
                        <a:buChar char="•"/>
                      </a:pPr>
                      <a:r>
                        <a:rPr lang="en-US" altLang="zh-CN" sz="1200" b="1" i="0">
                          <a:solidFill>
                            <a:srgbClr val="808080"/>
                          </a:solidFill>
                          <a:effectLst/>
                          <a:latin typeface="Boehringer Forward Text" panose="02000500000000020000" pitchFamily="2" charset="0"/>
                        </a:rPr>
                        <a:t>Manuscript: </a:t>
                      </a:r>
                      <a:r>
                        <a:rPr lang="en-US" altLang="zh-CN" sz="1200" b="0" i="0">
                          <a:solidFill>
                            <a:srgbClr val="000000"/>
                          </a:solidFill>
                          <a:effectLst/>
                          <a:latin typeface="Boehringer Forward Text" panose="02000500000000020000" pitchFamily="2" charset="0"/>
                        </a:rPr>
                        <a:t>​</a:t>
                      </a:r>
                      <a:endParaRPr lang="en-US" altLang="zh-CN" sz="1200" b="0" i="0">
                        <a:solidFill>
                          <a:srgbClr val="000000"/>
                        </a:solidFill>
                        <a:effectLst/>
                        <a:latin typeface="Arial" panose="020B0604020202020204" pitchFamily="34" charset="0"/>
                      </a:endParaRPr>
                    </a:p>
                    <a:p>
                      <a:pPr marL="171450" lvl="0" indent="-171450" algn="l" rtl="0" fontAlgn="base">
                        <a:lnSpc>
                          <a:spcPct val="100000"/>
                        </a:lnSpc>
                        <a:buFont typeface="Wingdings" panose="05000000000000000000" pitchFamily="2" charset="2"/>
                        <a:buChar char="Ø"/>
                      </a:pPr>
                      <a:r>
                        <a:rPr lang="en-US" altLang="zh-CN" sz="1200" b="0" i="0">
                          <a:solidFill>
                            <a:srgbClr val="808080"/>
                          </a:solidFill>
                          <a:effectLst/>
                          <a:latin typeface="Boehringer Forward Text" panose="02000500000000020000" pitchFamily="2" charset="0"/>
                        </a:rPr>
                        <a:t>Prof. Gang Wang and Prof. Zhang had reviewed and provided feedback</a:t>
                      </a:r>
                      <a:r>
                        <a:rPr lang="en-US" altLang="zh-CN" sz="1200" b="0" i="0">
                          <a:solidFill>
                            <a:srgbClr val="000000"/>
                          </a:solidFill>
                          <a:effectLst/>
                          <a:latin typeface="Boehringer Forward Text" panose="02000500000000020000" pitchFamily="2" charset="0"/>
                        </a:rPr>
                        <a:t>​</a:t>
                      </a:r>
                      <a:endParaRPr lang="en-US" altLang="zh-CN" sz="1200" b="0" i="0">
                        <a:solidFill>
                          <a:srgbClr val="000000"/>
                        </a:solidFill>
                        <a:effectLst/>
                        <a:latin typeface="Arial" panose="020B0604020202020204" pitchFamily="34" charset="0"/>
                      </a:endParaRPr>
                    </a:p>
                    <a:p>
                      <a:pPr marL="171450" lvl="0" indent="-171450" algn="l" rtl="0" fontAlgn="base">
                        <a:lnSpc>
                          <a:spcPct val="100000"/>
                        </a:lnSpc>
                        <a:buFont typeface="Wingdings" panose="05000000000000000000" pitchFamily="2" charset="2"/>
                        <a:buChar char="Ø"/>
                      </a:pPr>
                      <a:r>
                        <a:rPr lang="en-US" altLang="zh-CN" sz="1200" b="0" i="0">
                          <a:solidFill>
                            <a:srgbClr val="00E47C"/>
                          </a:solidFill>
                          <a:effectLst/>
                          <a:latin typeface="Boehringer Forward Text" panose="02000500000000020000" pitchFamily="2" charset="0"/>
                        </a:rPr>
                        <a:t>Target journal: </a:t>
                      </a:r>
                      <a:r>
                        <a:rPr lang="en-US" altLang="zh-CN" sz="1200" b="0" i="0" u="none" strike="noStrike">
                          <a:solidFill>
                            <a:srgbClr val="00E47C"/>
                          </a:solidFill>
                          <a:effectLst/>
                          <a:latin typeface="Boehringer Forward Text" panose="02000500000000020000" pitchFamily="2" charset="0"/>
                        </a:rPr>
                        <a:t>Lancet Psychiatry </a:t>
                      </a:r>
                      <a:r>
                        <a:rPr lang="en-US" altLang="zh-CN" sz="1200" b="0" i="0">
                          <a:solidFill>
                            <a:srgbClr val="000000"/>
                          </a:solidFill>
                          <a:effectLst/>
                          <a:latin typeface="Boehringer Forward Text" panose="02000500000000020000" pitchFamily="2" charset="0"/>
                        </a:rPr>
                        <a:t>​</a:t>
                      </a:r>
                      <a:endParaRPr lang="en-US" altLang="zh-CN" sz="1200" b="0" i="0">
                        <a:solidFill>
                          <a:srgbClr val="000000"/>
                        </a:solidFill>
                        <a:effectLst/>
                        <a:latin typeface="Arial" panose="020B0604020202020204" pitchFamily="34" charset="0"/>
                      </a:endParaRPr>
                    </a:p>
                    <a:p>
                      <a:pPr marL="171450" lvl="0" indent="-171450" algn="l" rtl="0" fontAlgn="base">
                        <a:lnSpc>
                          <a:spcPct val="100000"/>
                        </a:lnSpc>
                        <a:buFont typeface="Wingdings" panose="05000000000000000000" pitchFamily="2" charset="2"/>
                        <a:buChar char="Ø"/>
                      </a:pPr>
                      <a:r>
                        <a:rPr lang="en-US" altLang="zh-CN" sz="1200" b="0" i="0">
                          <a:solidFill>
                            <a:srgbClr val="808080"/>
                          </a:solidFill>
                          <a:effectLst/>
                          <a:latin typeface="Boehringer Forward Text" panose="02000500000000020000" pitchFamily="2" charset="0"/>
                        </a:rPr>
                        <a:t>1</a:t>
                      </a:r>
                      <a:r>
                        <a:rPr lang="en-US" altLang="zh-CN" sz="800" b="0" i="0">
                          <a:solidFill>
                            <a:srgbClr val="808080"/>
                          </a:solidFill>
                          <a:effectLst/>
                          <a:latin typeface="Boehringer Forward Text" panose="02000500000000020000" pitchFamily="2" charset="0"/>
                        </a:rPr>
                        <a:t>st</a:t>
                      </a:r>
                      <a:r>
                        <a:rPr lang="en-US" altLang="zh-CN" sz="1200" b="0" i="0">
                          <a:solidFill>
                            <a:srgbClr val="808080"/>
                          </a:solidFill>
                          <a:effectLst/>
                          <a:latin typeface="Boehringer Forward Text" panose="02000500000000020000" pitchFamily="2" charset="0"/>
                        </a:rPr>
                        <a:t> Submission date: June 12</a:t>
                      </a:r>
                      <a:r>
                        <a:rPr lang="en-US" altLang="zh-CN" sz="800" b="0" i="0">
                          <a:solidFill>
                            <a:srgbClr val="808080"/>
                          </a:solidFill>
                          <a:effectLst/>
                          <a:latin typeface="Boehringer Forward Text" panose="02000500000000020000" pitchFamily="2" charset="0"/>
                        </a:rPr>
                        <a:t>th</a:t>
                      </a:r>
                      <a:r>
                        <a:rPr lang="en-US" altLang="zh-CN" sz="1200" b="0" i="0">
                          <a:solidFill>
                            <a:srgbClr val="808080"/>
                          </a:solidFill>
                          <a:effectLst/>
                          <a:latin typeface="Boehringer Forward Text" panose="02000500000000020000" pitchFamily="2" charset="0"/>
                        </a:rPr>
                        <a:t>, 2025</a:t>
                      </a:r>
                      <a:r>
                        <a:rPr lang="en-US" altLang="zh-CN" sz="1200" b="0" i="0">
                          <a:solidFill>
                            <a:srgbClr val="000000"/>
                          </a:solidFill>
                          <a:effectLst/>
                          <a:latin typeface="Boehringer Forward Text" panose="02000500000000020000" pitchFamily="2" charset="0"/>
                        </a:rPr>
                        <a:t>​</a:t>
                      </a:r>
                      <a:endParaRPr lang="en-US" altLang="zh-CN" sz="1200" b="0" i="0">
                        <a:solidFill>
                          <a:srgbClr val="000000"/>
                        </a:solidFill>
                        <a:effectLst/>
                        <a:latin typeface="Arial" panose="020B0604020202020204" pitchFamily="34" charset="0"/>
                      </a:endParaRPr>
                    </a:p>
                    <a:p>
                      <a:pPr marL="171450" lvl="0" indent="-171450" algn="l" rtl="0" fontAlgn="base">
                        <a:lnSpc>
                          <a:spcPct val="100000"/>
                        </a:lnSpc>
                        <a:buFont typeface="Wingdings" panose="05000000000000000000" pitchFamily="2" charset="2"/>
                        <a:buChar char="Ø"/>
                      </a:pPr>
                      <a:r>
                        <a:rPr lang="en-US" altLang="zh-CN" sz="1200" b="0" i="0">
                          <a:solidFill>
                            <a:srgbClr val="00E47C"/>
                          </a:solidFill>
                          <a:effectLst/>
                          <a:latin typeface="Boehringer Forward Text" panose="02000500000000020000" pitchFamily="2" charset="0"/>
                        </a:rPr>
                        <a:t>2</a:t>
                      </a:r>
                      <a:r>
                        <a:rPr lang="en-US" altLang="zh-CN" sz="800" b="0" i="0">
                          <a:solidFill>
                            <a:srgbClr val="00E47C"/>
                          </a:solidFill>
                          <a:effectLst/>
                          <a:latin typeface="Boehringer Forward Text" panose="02000500000000020000" pitchFamily="2" charset="0"/>
                        </a:rPr>
                        <a:t>nd</a:t>
                      </a:r>
                      <a:r>
                        <a:rPr lang="en-US" altLang="zh-CN" sz="1200" b="0" i="0">
                          <a:solidFill>
                            <a:srgbClr val="00E47C"/>
                          </a:solidFill>
                          <a:effectLst/>
                          <a:latin typeface="Boehringer Forward Text" panose="02000500000000020000" pitchFamily="2" charset="0"/>
                        </a:rPr>
                        <a:t> Submission date: Aug.29</a:t>
                      </a:r>
                      <a:r>
                        <a:rPr lang="en-US" altLang="zh-CN" sz="800" b="0" i="0">
                          <a:solidFill>
                            <a:srgbClr val="00E47C"/>
                          </a:solidFill>
                          <a:effectLst/>
                          <a:latin typeface="Boehringer Forward Text" panose="02000500000000020000" pitchFamily="2" charset="0"/>
                        </a:rPr>
                        <a:t>th </a:t>
                      </a:r>
                      <a:r>
                        <a:rPr lang="en-US" altLang="zh-CN" sz="1200" b="0" i="0">
                          <a:solidFill>
                            <a:srgbClr val="00E47C"/>
                          </a:solidFill>
                          <a:effectLst/>
                          <a:latin typeface="Boehringer Forward Text" panose="02000500000000020000" pitchFamily="2" charset="0"/>
                        </a:rPr>
                        <a:t>, 2025 (comments received on Aug.5</a:t>
                      </a:r>
                      <a:r>
                        <a:rPr lang="en-US" altLang="zh-CN" sz="800" b="0" i="0">
                          <a:solidFill>
                            <a:srgbClr val="00E47C"/>
                          </a:solidFill>
                          <a:effectLst/>
                          <a:latin typeface="Boehringer Forward Text" panose="02000500000000020000" pitchFamily="2" charset="0"/>
                        </a:rPr>
                        <a:t>th</a:t>
                      </a:r>
                      <a:r>
                        <a:rPr lang="en-US" altLang="zh-CN" sz="1200" b="0" i="0">
                          <a:solidFill>
                            <a:srgbClr val="00E47C"/>
                          </a:solidFill>
                          <a:effectLst/>
                          <a:latin typeface="Boehringer Forward Text" panose="02000500000000020000" pitchFamily="2" charset="0"/>
                        </a:rPr>
                        <a:t>)</a:t>
                      </a:r>
                      <a:r>
                        <a:rPr lang="en-US" altLang="zh-CN" sz="1200" b="0" i="0">
                          <a:solidFill>
                            <a:srgbClr val="000000"/>
                          </a:solidFill>
                          <a:effectLst/>
                          <a:latin typeface="Boehringer Forward Text" panose="02000500000000020000" pitchFamily="2" charset="0"/>
                        </a:rPr>
                        <a:t>​</a:t>
                      </a:r>
                    </a:p>
                    <a:p>
                      <a:pPr marL="171450" lvl="0" indent="-171450" algn="l" rtl="0" fontAlgn="base">
                        <a:lnSpc>
                          <a:spcPct val="100000"/>
                        </a:lnSpc>
                        <a:buFont typeface="Wingdings" panose="05000000000000000000" pitchFamily="2" charset="2"/>
                        <a:buChar char="Ø"/>
                      </a:pPr>
                      <a:r>
                        <a:rPr lang="en-US" altLang="zh-CN" sz="1200" b="1" i="0">
                          <a:solidFill>
                            <a:schemeClr val="bg1">
                              <a:lumMod val="50000"/>
                            </a:schemeClr>
                          </a:solidFill>
                          <a:effectLst/>
                          <a:latin typeface="Boehringer Forward Text" panose="02000500000000020000" pitchFamily="2" charset="0"/>
                        </a:rPr>
                        <a:t>Published by Lancet Psychiatry on 13</a:t>
                      </a:r>
                      <a:r>
                        <a:rPr lang="en-US" altLang="zh-CN" sz="1200" b="1" i="0" baseline="30000">
                          <a:solidFill>
                            <a:schemeClr val="bg1">
                              <a:lumMod val="50000"/>
                            </a:schemeClr>
                          </a:solidFill>
                          <a:effectLst/>
                          <a:latin typeface="Boehringer Forward Text" panose="02000500000000020000" pitchFamily="2" charset="0"/>
                        </a:rPr>
                        <a:t>th</a:t>
                      </a:r>
                      <a:r>
                        <a:rPr lang="en-US" altLang="zh-CN" sz="1200" b="1" i="0">
                          <a:solidFill>
                            <a:schemeClr val="bg1">
                              <a:lumMod val="50000"/>
                            </a:schemeClr>
                          </a:solidFill>
                          <a:effectLst/>
                          <a:latin typeface="Boehringer Forward Text" panose="02000500000000020000" pitchFamily="2" charset="0"/>
                        </a:rPr>
                        <a:t> Nov.</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08196124"/>
                  </a:ext>
                </a:extLst>
              </a:tr>
            </a:tbl>
          </a:graphicData>
        </a:graphic>
      </p:graphicFrame>
      <p:pic>
        <p:nvPicPr>
          <p:cNvPr id="8" name="图片 7">
            <a:extLst>
              <a:ext uri="{FF2B5EF4-FFF2-40B4-BE49-F238E27FC236}">
                <a16:creationId xmlns:a16="http://schemas.microsoft.com/office/drawing/2014/main" id="{4230C377-E2AD-7E42-6399-7DF0D6408D12}"/>
              </a:ext>
            </a:extLst>
          </p:cNvPr>
          <p:cNvPicPr>
            <a:picLocks noChangeAspect="1"/>
          </p:cNvPicPr>
          <p:nvPr/>
        </p:nvPicPr>
        <p:blipFill>
          <a:blip r:embed="rId2"/>
          <a:stretch>
            <a:fillRect/>
          </a:stretch>
        </p:blipFill>
        <p:spPr>
          <a:xfrm>
            <a:off x="7513503" y="4883278"/>
            <a:ext cx="3745736" cy="955623"/>
          </a:xfrm>
          <a:prstGeom prst="rect">
            <a:avLst/>
          </a:prstGeom>
          <a:ln>
            <a:noFill/>
          </a:ln>
          <a:effectLst>
            <a:outerShdw blurRad="292100" dist="139700" dir="2700000" algn="tl" rotWithShape="0">
              <a:srgbClr val="333333">
                <a:alpha val="65000"/>
              </a:srgbClr>
            </a:outerShdw>
          </a:effectLst>
        </p:spPr>
      </p:pic>
      <p:sp>
        <p:nvSpPr>
          <p:cNvPr id="10" name="文本框 9">
            <a:extLst>
              <a:ext uri="{FF2B5EF4-FFF2-40B4-BE49-F238E27FC236}">
                <a16:creationId xmlns:a16="http://schemas.microsoft.com/office/drawing/2014/main" id="{C0C546EE-6C6A-9D6A-A5F6-63C42632792F}"/>
              </a:ext>
            </a:extLst>
          </p:cNvPr>
          <p:cNvSpPr txBox="1"/>
          <p:nvPr/>
        </p:nvSpPr>
        <p:spPr bwMode="gray">
          <a:xfrm>
            <a:off x="7227065" y="5958375"/>
            <a:ext cx="4318613" cy="553998"/>
          </a:xfrm>
          <a:prstGeom prst="rect">
            <a:avLst/>
          </a:prstGeom>
          <a:noFill/>
        </p:spPr>
        <p:txBody>
          <a:bodyPr wrap="square">
            <a:spAutoFit/>
          </a:bodyPr>
          <a:lstStyle/>
          <a:p>
            <a:pPr lvl="0" algn="l" rtl="0" fontAlgn="base">
              <a:lnSpc>
                <a:spcPct val="100000"/>
              </a:lnSpc>
            </a:pPr>
            <a:r>
              <a:rPr lang="en-US" altLang="zh-CN" sz="1000" u="sng" kern="1200">
                <a:solidFill>
                  <a:schemeClr val="tx1"/>
                </a:solidFill>
                <a:effectLst/>
                <a:latin typeface="+mn-lt"/>
                <a:ea typeface="+mn-ea"/>
                <a:cs typeface="+mn-cs"/>
                <a:hlinkClick r:id="rId3"/>
              </a:rPr>
              <a:t>Efficacy and safety of iclepertin for cognitive impairment associated with schizophrenia (CONNEX </a:t>
            </a:r>
            <a:r>
              <a:rPr lang="en-US" altLang="zh-CN" sz="1000" u="sng" kern="1200" err="1">
                <a:solidFill>
                  <a:schemeClr val="tx1"/>
                </a:solidFill>
                <a:effectLst/>
                <a:latin typeface="+mn-lt"/>
                <a:ea typeface="+mn-ea"/>
                <a:cs typeface="+mn-cs"/>
                <a:hlinkClick r:id="rId3"/>
              </a:rPr>
              <a:t>programme</a:t>
            </a:r>
            <a:r>
              <a:rPr lang="en-US" altLang="zh-CN" sz="1000" u="sng" kern="1200">
                <a:solidFill>
                  <a:schemeClr val="tx1"/>
                </a:solidFill>
                <a:effectLst/>
                <a:latin typeface="+mn-lt"/>
                <a:ea typeface="+mn-ea"/>
                <a:cs typeface="+mn-cs"/>
                <a:hlinkClick r:id="rId3"/>
              </a:rPr>
              <a:t>): results from three phase 3 </a:t>
            </a:r>
            <a:r>
              <a:rPr lang="en-US" altLang="zh-CN" sz="1000" u="sng" kern="1200" err="1">
                <a:solidFill>
                  <a:schemeClr val="tx1"/>
                </a:solidFill>
                <a:effectLst/>
                <a:latin typeface="+mn-lt"/>
                <a:ea typeface="+mn-ea"/>
                <a:cs typeface="+mn-cs"/>
                <a:hlinkClick r:id="rId3"/>
              </a:rPr>
              <a:t>randomised</a:t>
            </a:r>
            <a:r>
              <a:rPr lang="en-US" altLang="zh-CN" sz="1000" u="sng" kern="1200">
                <a:solidFill>
                  <a:schemeClr val="tx1"/>
                </a:solidFill>
                <a:effectLst/>
                <a:latin typeface="+mn-lt"/>
                <a:ea typeface="+mn-ea"/>
                <a:cs typeface="+mn-cs"/>
                <a:hlinkClick r:id="rId3"/>
              </a:rPr>
              <a:t> controlled trials - The Lancet Psychiatry</a:t>
            </a:r>
            <a:endParaRPr lang="en-US" altLang="zh-CN" sz="700" b="1"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0950783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1F8D5-F4A6-531F-C9DC-8BE654CF947F}"/>
              </a:ext>
            </a:extLst>
          </p:cNvPr>
          <p:cNvSpPr>
            <a:spLocks noGrp="1"/>
          </p:cNvSpPr>
          <p:nvPr>
            <p:ph type="title"/>
          </p:nvPr>
        </p:nvSpPr>
        <p:spPr/>
        <p:txBody>
          <a:bodyPr/>
          <a:lstStyle/>
          <a:p>
            <a:r>
              <a:rPr lang="en-US" altLang="zh-CN"/>
              <a:t>Thank You!</a:t>
            </a:r>
            <a:endParaRPr lang="en-US"/>
          </a:p>
        </p:txBody>
      </p:sp>
      <p:sp>
        <p:nvSpPr>
          <p:cNvPr id="3" name="Subtitle 2">
            <a:extLst>
              <a:ext uri="{FF2B5EF4-FFF2-40B4-BE49-F238E27FC236}">
                <a16:creationId xmlns:a16="http://schemas.microsoft.com/office/drawing/2014/main" id="{51FB2C02-AE59-7E29-4387-C7A9DC5882CD}"/>
              </a:ext>
            </a:extLst>
          </p:cNvPr>
          <p:cNvSpPr>
            <a:spLocks noGrp="1"/>
          </p:cNvSpPr>
          <p:nvPr>
            <p:ph type="subTitle" idx="14"/>
          </p:nvPr>
        </p:nvSpPr>
        <p:spPr/>
        <p:txBody>
          <a:bodyPr/>
          <a:lstStyle/>
          <a:p>
            <a:endParaRPr lang="en-US"/>
          </a:p>
        </p:txBody>
      </p:sp>
      <p:sp>
        <p:nvSpPr>
          <p:cNvPr id="4" name="Slide Number Placeholder 3">
            <a:extLst>
              <a:ext uri="{FF2B5EF4-FFF2-40B4-BE49-F238E27FC236}">
                <a16:creationId xmlns:a16="http://schemas.microsoft.com/office/drawing/2014/main" id="{1AFF87EA-E022-F97F-C9DB-71F548B2EEDB}"/>
              </a:ext>
            </a:extLst>
          </p:cNvPr>
          <p:cNvSpPr>
            <a:spLocks noGrp="1"/>
          </p:cNvSpPr>
          <p:nvPr>
            <p:ph type="sldNum" sz="quarter" idx="16"/>
          </p:nvPr>
        </p:nvSpPr>
        <p:spPr/>
        <p:txBody>
          <a:bodyPr/>
          <a:lstStyle/>
          <a:p>
            <a:fld id="{8FF9B0DE-3FEB-4AA0-B465-B80EF7C1333D}" type="slidenum">
              <a:rPr lang="en-US" smtClean="0"/>
              <a:pPr/>
              <a:t>21</a:t>
            </a:fld>
            <a:endParaRPr lang="en-US"/>
          </a:p>
        </p:txBody>
      </p:sp>
    </p:spTree>
    <p:extLst>
      <p:ext uri="{BB962C8B-B14F-4D97-AF65-F5344CB8AC3E}">
        <p14:creationId xmlns:p14="http://schemas.microsoft.com/office/powerpoint/2010/main" val="330663609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TLMARKERSHAPE" val="OTL"/>
</p:tagLst>
</file>

<file path=ppt/tags/tag2.xml><?xml version="1.0" encoding="utf-8"?>
<p:tagLst xmlns:a="http://schemas.openxmlformats.org/drawingml/2006/main" xmlns:r="http://schemas.openxmlformats.org/officeDocument/2006/relationships" xmlns:p="http://schemas.openxmlformats.org/presentationml/2006/main">
  <p:tag name="OTLMARKERSHAPE" val="OTL"/>
</p:tagLst>
</file>

<file path=ppt/tags/tag3.xml><?xml version="1.0" encoding="utf-8"?>
<p:tagLst xmlns:a="http://schemas.openxmlformats.org/drawingml/2006/main" xmlns:r="http://schemas.openxmlformats.org/officeDocument/2006/relationships" xmlns:p="http://schemas.openxmlformats.org/presentationml/2006/main">
  <p:tag name="OTLMARKERSHAPE" val="OTL"/>
</p:tagLst>
</file>

<file path=ppt/tags/tag4.xml><?xml version="1.0" encoding="utf-8"?>
<p:tagLst xmlns:a="http://schemas.openxmlformats.org/drawingml/2006/main" xmlns:r="http://schemas.openxmlformats.org/officeDocument/2006/relationships" xmlns:p="http://schemas.openxmlformats.org/presentationml/2006/main">
  <p:tag name="OTLMARKERSHAPE" val="OTL"/>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OTLMARKERSHAPE" val="OTL"/>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2.xml><?xml version="1.0" encoding="utf-8"?>
<a:theme xmlns:a="http://schemas.openxmlformats.org/drawingml/2006/main" name="10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0089264629A9345B70E065414DFB55F" ma:contentTypeVersion="13" ma:contentTypeDescription="Create a new document." ma:contentTypeScope="" ma:versionID="5b3ecd571f2f479d86935419f04ebf61">
  <xsd:schema xmlns:xsd="http://www.w3.org/2001/XMLSchema" xmlns:xs="http://www.w3.org/2001/XMLSchema" xmlns:p="http://schemas.microsoft.com/office/2006/metadata/properties" xmlns:ns2="545a336c-45ba-4242-ba8b-2a24159e5b92" xmlns:ns3="6105e471-a007-4c69-b034-cfd36128fabd" targetNamespace="http://schemas.microsoft.com/office/2006/metadata/properties" ma:root="true" ma:fieldsID="407e22b21c13b20270037f8773d43d34" ns2:_="" ns3:_="">
    <xsd:import namespace="545a336c-45ba-4242-ba8b-2a24159e5b92"/>
    <xsd:import namespace="6105e471-a007-4c69-b034-cfd36128fabd"/>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DateTaken" minOccurs="0"/>
                <xsd:element ref="ns3:MediaLengthInSeconds" minOccurs="0"/>
                <xsd:element ref="ns3:MediaServiceObjectDetectorVersion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45a336c-45ba-4242-ba8b-2a24159e5b9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6105e471-a007-4c69-b034-cfd36128fabd"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DateTaken" ma:index="17" nillable="true" ma:displayName="MediaServiceDateTaken" ma:internalName="MediaServiceDateTake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bjectDetectorVersions" ma:index="19" nillable="true" ma:displayName="MediaServiceObjectDetectorVersions"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F10199E-2A6B-40FB-801B-497C2A8FA828}">
  <ds:schemaRefs>
    <ds:schemaRef ds:uri="545a336c-45ba-4242-ba8b-2a24159e5b92"/>
    <ds:schemaRef ds:uri="6105e471-a007-4c69-b034-cfd36128fa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5D0452D6-F2D9-4FC2-9863-71052AA7BDFA}">
  <ds:schemaRefs>
    <ds:schemaRef ds:uri="http://schemas.microsoft.com/office/2006/metadata/properties"/>
    <ds:schemaRef ds:uri="6105e471-a007-4c69-b034-cfd36128fabd"/>
    <ds:schemaRef ds:uri="http://purl.org/dc/terms/"/>
    <ds:schemaRef ds:uri="545a336c-45ba-4242-ba8b-2a24159e5b92"/>
    <ds:schemaRef ds:uri="http://schemas.openxmlformats.org/package/2006/metadata/core-properties"/>
    <ds:schemaRef ds:uri="http://schemas.microsoft.com/office/2006/documentManagement/types"/>
    <ds:schemaRef ds:uri="http://purl.org/dc/dcmitype/"/>
    <ds:schemaRef ds:uri="http://schemas.microsoft.com/office/infopath/2007/PartnerControls"/>
    <ds:schemaRef ds:uri="http://purl.org/dc/elements/1.1/"/>
    <ds:schemaRef ds:uri="http://www.w3.org/XML/1998/namespace"/>
  </ds:schemaRefs>
</ds:datastoreItem>
</file>

<file path=customXml/itemProps3.xml><?xml version="1.0" encoding="utf-8"?>
<ds:datastoreItem xmlns:ds="http://schemas.openxmlformats.org/officeDocument/2006/customXml" ds:itemID="{60E89AE9-096C-4008-8F14-FF16F0553995}">
  <ds:schemaRefs>
    <ds:schemaRef ds:uri="http://schemas.microsoft.com/sharepoint/v3/contenttype/forms"/>
  </ds:schemaRefs>
</ds:datastoreItem>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otalTime>0</TotalTime>
  <Words>2710</Words>
  <Application>Microsoft Office PowerPoint</Application>
  <PresentationFormat>Widescreen</PresentationFormat>
  <Paragraphs>633</Paragraphs>
  <Slides>21</Slides>
  <Notes>11</Notes>
  <HiddenSlides>7</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21</vt:i4>
      </vt:variant>
    </vt:vector>
  </HeadingPairs>
  <TitlesOfParts>
    <vt:vector size="32" baseType="lpstr">
      <vt:lpstr>DengXian</vt:lpstr>
      <vt:lpstr>DengXian</vt:lpstr>
      <vt:lpstr>OPPOSans M</vt:lpstr>
      <vt:lpstr>Arial</vt:lpstr>
      <vt:lpstr>BISansOptiCond</vt:lpstr>
      <vt:lpstr>Boehringer Forward Head</vt:lpstr>
      <vt:lpstr>Boehringer Forward Text</vt:lpstr>
      <vt:lpstr>Calibri</vt:lpstr>
      <vt:lpstr>Wingdings</vt:lpstr>
      <vt:lpstr>1_Boehringer Ingelheim 16:9</vt:lpstr>
      <vt:lpstr>10_Boehringer Ingelheim 16:9</vt:lpstr>
      <vt:lpstr>Portfolio Executive Committee (PEC) Review Meeting  TA MHEH</vt:lpstr>
      <vt:lpstr>Part I: Follow-up Actions from the Previous PEC</vt:lpstr>
      <vt:lpstr>Part II: Discussion/Endorsement</vt:lpstr>
      <vt:lpstr>Part III: Update</vt:lpstr>
      <vt:lpstr>TA MHEH Portfolio Summary - Pipeline Projects</vt:lpstr>
      <vt:lpstr>TA MHEH Portfolio Summary - PMS Studies</vt:lpstr>
      <vt:lpstr>Eye Health Assets</vt:lpstr>
      <vt:lpstr>BI 764524 / Anti-Sema3A, Diabetic Retinopathy (DR), Development Plan </vt:lpstr>
      <vt:lpstr>BI 771716 / Anti-C3 AB, Geographic Atrophy (GA), Development Plan </vt:lpstr>
      <vt:lpstr>BI 1584862/ PAFR Antagonist, Geographic Atrophy (GA), Development Plan </vt:lpstr>
      <vt:lpstr>BI 1815368 / PKKi, Diabetic Macular Edema (DME), Development Plan </vt:lpstr>
      <vt:lpstr>PKKi Asia Advisory Board Meeting in Shanghai on Jan 9th </vt:lpstr>
      <vt:lpstr>1484-0020 COMPASS BI 771716 / Anti-C3 AB, GA, China Recruitment</vt:lpstr>
      <vt:lpstr>SCOMPASS (1484-0020) GA Study Progress Overview </vt:lpstr>
      <vt:lpstr>Visit PI on 10 Nov 2025</vt:lpstr>
      <vt:lpstr>Mental Health Assets</vt:lpstr>
      <vt:lpstr>BI 3031185 / mGluR4 NAM, Impulsivity, Development Plan </vt:lpstr>
      <vt:lpstr>BI 1356225 / GOATi, Impulsivity SUD, Development Plan </vt:lpstr>
      <vt:lpstr>BI 3776528 / SSTR4 Agonist, CI PSD, Development Plan </vt:lpstr>
      <vt:lpstr>Mental Health Ongoing Projects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lastModifiedBy>Zhu,Dr.,Freya (HP Medicine) BII-CN-S</cp:lastModifiedBy>
  <cp:revision>1</cp:revision>
  <dcterms:created xsi:type="dcterms:W3CDTF">2023-11-09T09:11:57Z</dcterms:created>
  <dcterms:modified xsi:type="dcterms:W3CDTF">2025-12-19T06:32:13Z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0x01010040089264629A9345B70E065414DFB55F</vt:lpwstr>
  </property>
  <property fmtid="{D5CDD505-2E9C-101B-9397-08002B2CF9AE}" pid="3" name="MediaServiceImageTags">
    <vt:lpwstr/>
  </property>
</Properties>
</file>