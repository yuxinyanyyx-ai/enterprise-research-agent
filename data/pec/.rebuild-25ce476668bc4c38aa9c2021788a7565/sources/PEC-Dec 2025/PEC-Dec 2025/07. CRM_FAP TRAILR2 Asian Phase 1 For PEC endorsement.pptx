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2.xml" ContentType="application/vnd.openxmlformats-officedocument.theme+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theme/theme3.xml" ContentType="application/vnd.openxmlformats-officedocument.theme+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theme/theme4.xml" ContentType="application/vnd.openxmlformats-officedocument.theme+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35" r:id="rId5"/>
    <p:sldMasterId id="2147483770" r:id="rId6"/>
    <p:sldMasterId id="2147483845" r:id="rId7"/>
    <p:sldMasterId id="2147483879" r:id="rId8"/>
  </p:sldMasterIdLst>
  <p:notesMasterIdLst>
    <p:notesMasterId r:id="rId24"/>
  </p:notesMasterIdLst>
  <p:sldIdLst>
    <p:sldId id="256" r:id="rId9"/>
    <p:sldId id="9854" r:id="rId10"/>
    <p:sldId id="2147377564" r:id="rId11"/>
    <p:sldId id="275" r:id="rId12"/>
    <p:sldId id="265" r:id="rId13"/>
    <p:sldId id="2147482538" r:id="rId14"/>
    <p:sldId id="2147483647" r:id="rId15"/>
    <p:sldId id="2147483645" r:id="rId16"/>
    <p:sldId id="9860" r:id="rId17"/>
    <p:sldId id="272" r:id="rId18"/>
    <p:sldId id="279" r:id="rId19"/>
    <p:sldId id="285" r:id="rId20"/>
    <p:sldId id="2147483646" r:id="rId21"/>
    <p:sldId id="261" r:id="rId22"/>
    <p:sldId id="276"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6F33BD44-423A-4E0C-9B9A-A8BFAF92E879}">
          <p14:sldIdLst>
            <p14:sldId id="256"/>
            <p14:sldId id="9854"/>
            <p14:sldId id="2147377564"/>
            <p14:sldId id="275"/>
            <p14:sldId id="265"/>
            <p14:sldId id="2147482538"/>
            <p14:sldId id="2147483647"/>
            <p14:sldId id="2147483645"/>
            <p14:sldId id="9860"/>
            <p14:sldId id="272"/>
          </p14:sldIdLst>
        </p14:section>
        <p14:section name="Back up" id="{63374ADA-C385-4596-B1E2-2110DB947B44}">
          <p14:sldIdLst>
            <p14:sldId id="279"/>
            <p14:sldId id="285"/>
            <p14:sldId id="2147483646"/>
            <p14:sldId id="261"/>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D240B5-9BB4-D95D-16D6-320B15D3B847}" v="126" dt="2025-12-14T12:55:46.7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2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tableStyles" Target="tableStyles.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u,Julia (HP Medicine) BII-CN-S" userId="03b5dd03-9d84-43b3-85a3-94d8f7e7e050" providerId="ADAL" clId="{CC4420AD-58F3-42E3-B10F-530B999EE787}"/>
    <pc:docChg chg="undo custSel addSld modSld sldOrd addSection modSection">
      <pc:chgData name="Zhu,Julia (HP Medicine) BII-CN-S" userId="03b5dd03-9d84-43b3-85a3-94d8f7e7e050" providerId="ADAL" clId="{CC4420AD-58F3-42E3-B10F-530B999EE787}" dt="2025-12-09T15:29:59.737" v="3845" actId="20577"/>
      <pc:docMkLst>
        <pc:docMk/>
      </pc:docMkLst>
      <pc:sldChg chg="delSp add mod">
        <pc:chgData name="Zhu,Julia (HP Medicine) BII-CN-S" userId="03b5dd03-9d84-43b3-85a3-94d8f7e7e050" providerId="ADAL" clId="{CC4420AD-58F3-42E3-B10F-530B999EE787}" dt="2025-12-09T14:53:31.255" v="2609" actId="478"/>
        <pc:sldMkLst>
          <pc:docMk/>
          <pc:sldMk cId="1057594799" sldId="261"/>
        </pc:sldMkLst>
      </pc:sldChg>
      <pc:sldChg chg="delSp modSp add mod ord">
        <pc:chgData name="Zhu,Julia (HP Medicine) BII-CN-S" userId="03b5dd03-9d84-43b3-85a3-94d8f7e7e050" providerId="ADAL" clId="{CC4420AD-58F3-42E3-B10F-530B999EE787}" dt="2025-12-09T14:16:01.407" v="2256" actId="12"/>
        <pc:sldMkLst>
          <pc:docMk/>
          <pc:sldMk cId="4007405285" sldId="265"/>
        </pc:sldMkLst>
        <pc:spChg chg="mod">
          <ac:chgData name="Zhu,Julia (HP Medicine) BII-CN-S" userId="03b5dd03-9d84-43b3-85a3-94d8f7e7e050" providerId="ADAL" clId="{CC4420AD-58F3-42E3-B10F-530B999EE787}" dt="2025-12-08T09:25:05.732" v="950" actId="20577"/>
          <ac:spMkLst>
            <pc:docMk/>
            <pc:sldMk cId="4007405285" sldId="265"/>
            <ac:spMk id="2" creationId="{5E3DE54B-4FBE-5D9C-C351-F50825878FA6}"/>
          </ac:spMkLst>
        </pc:spChg>
        <pc:spChg chg="mod">
          <ac:chgData name="Zhu,Julia (HP Medicine) BII-CN-S" userId="03b5dd03-9d84-43b3-85a3-94d8f7e7e050" providerId="ADAL" clId="{CC4420AD-58F3-42E3-B10F-530B999EE787}" dt="2025-12-09T14:16:01.407" v="2256" actId="12"/>
          <ac:spMkLst>
            <pc:docMk/>
            <pc:sldMk cId="4007405285" sldId="265"/>
            <ac:spMk id="6" creationId="{3F2D38B5-1D62-9946-31F6-E4307FAA2B56}"/>
          </ac:spMkLst>
        </pc:spChg>
      </pc:sldChg>
      <pc:sldChg chg="addSp delSp modSp add mod">
        <pc:chgData name="Zhu,Julia (HP Medicine) BII-CN-S" userId="03b5dd03-9d84-43b3-85a3-94d8f7e7e050" providerId="ADAL" clId="{CC4420AD-58F3-42E3-B10F-530B999EE787}" dt="2025-12-09T15:29:59.737" v="3845" actId="20577"/>
        <pc:sldMkLst>
          <pc:docMk/>
          <pc:sldMk cId="1376912264" sldId="272"/>
        </pc:sldMkLst>
        <pc:spChg chg="mod">
          <ac:chgData name="Zhu,Julia (HP Medicine) BII-CN-S" userId="03b5dd03-9d84-43b3-85a3-94d8f7e7e050" providerId="ADAL" clId="{CC4420AD-58F3-42E3-B10F-530B999EE787}" dt="2025-12-09T14:53:59.934" v="2611" actId="21"/>
          <ac:spMkLst>
            <pc:docMk/>
            <pc:sldMk cId="1376912264" sldId="272"/>
            <ac:spMk id="9" creationId="{CAB564E9-8A35-46A7-8E58-BA7F93BB6C23}"/>
          </ac:spMkLst>
        </pc:spChg>
        <pc:spChg chg="add mod">
          <ac:chgData name="Zhu,Julia (HP Medicine) BII-CN-S" userId="03b5dd03-9d84-43b3-85a3-94d8f7e7e050" providerId="ADAL" clId="{CC4420AD-58F3-42E3-B10F-530B999EE787}" dt="2025-12-09T15:28:28.766" v="3778"/>
          <ac:spMkLst>
            <pc:docMk/>
            <pc:sldMk cId="1376912264" sldId="272"/>
            <ac:spMk id="14" creationId="{9DEA2D82-30F2-9D77-C3DF-3F28E0CB96CD}"/>
          </ac:spMkLst>
        </pc:spChg>
      </pc:sldChg>
      <pc:sldChg chg="modSp add mod ord">
        <pc:chgData name="Zhu,Julia (HP Medicine) BII-CN-S" userId="03b5dd03-9d84-43b3-85a3-94d8f7e7e050" providerId="ADAL" clId="{CC4420AD-58F3-42E3-B10F-530B999EE787}" dt="2025-12-09T08:59:35.332" v="1273"/>
        <pc:sldMkLst>
          <pc:docMk/>
          <pc:sldMk cId="81031211" sldId="275"/>
        </pc:sldMkLst>
        <pc:graphicFrameChg chg="modGraphic">
          <ac:chgData name="Zhu,Julia (HP Medicine) BII-CN-S" userId="03b5dd03-9d84-43b3-85a3-94d8f7e7e050" providerId="ADAL" clId="{CC4420AD-58F3-42E3-B10F-530B999EE787}" dt="2025-12-07T11:22:51.154" v="131" actId="20577"/>
          <ac:graphicFrameMkLst>
            <pc:docMk/>
            <pc:sldMk cId="81031211" sldId="275"/>
            <ac:graphicFrameMk id="6" creationId="{6079E598-C40E-E5C2-D7DA-05C114DFB5A3}"/>
          </ac:graphicFrameMkLst>
        </pc:graphicFrameChg>
      </pc:sldChg>
      <pc:sldChg chg="delSp modSp mod">
        <pc:chgData name="Zhu,Julia (HP Medicine) BII-CN-S" userId="03b5dd03-9d84-43b3-85a3-94d8f7e7e050" providerId="ADAL" clId="{CC4420AD-58F3-42E3-B10F-530B999EE787}" dt="2025-12-09T14:56:17.321" v="2714" actId="1036"/>
        <pc:sldMkLst>
          <pc:docMk/>
          <pc:sldMk cId="1409916241" sldId="9854"/>
        </pc:sldMkLst>
        <pc:spChg chg="mod">
          <ac:chgData name="Zhu,Julia (HP Medicine) BII-CN-S" userId="03b5dd03-9d84-43b3-85a3-94d8f7e7e050" providerId="ADAL" clId="{CC4420AD-58F3-42E3-B10F-530B999EE787}" dt="2025-12-09T14:56:07.163" v="2705" actId="20577"/>
          <ac:spMkLst>
            <pc:docMk/>
            <pc:sldMk cId="1409916241" sldId="9854"/>
            <ac:spMk id="17" creationId="{EC079AFD-EE9E-7681-626D-2A99C6AE0815}"/>
          </ac:spMkLst>
        </pc:spChg>
        <pc:spChg chg="mod">
          <ac:chgData name="Zhu,Julia (HP Medicine) BII-CN-S" userId="03b5dd03-9d84-43b3-85a3-94d8f7e7e050" providerId="ADAL" clId="{CC4420AD-58F3-42E3-B10F-530B999EE787}" dt="2025-12-09T14:56:17.321" v="2714" actId="1036"/>
          <ac:spMkLst>
            <pc:docMk/>
            <pc:sldMk cId="1409916241" sldId="9854"/>
            <ac:spMk id="18" creationId="{9F4BCB81-2BDA-D1FF-D908-92EC39FD31DA}"/>
          </ac:spMkLst>
        </pc:spChg>
        <pc:spChg chg="mod">
          <ac:chgData name="Zhu,Julia (HP Medicine) BII-CN-S" userId="03b5dd03-9d84-43b3-85a3-94d8f7e7e050" providerId="ADAL" clId="{CC4420AD-58F3-42E3-B10F-530B999EE787}" dt="2025-12-08T08:31:50.095" v="746" actId="20577"/>
          <ac:spMkLst>
            <pc:docMk/>
            <pc:sldMk cId="1409916241" sldId="9854"/>
            <ac:spMk id="19" creationId="{7CD815F8-7CA4-C9B8-DDE0-94C1281B0AA0}"/>
          </ac:spMkLst>
        </pc:spChg>
        <pc:spChg chg="mod">
          <ac:chgData name="Zhu,Julia (HP Medicine) BII-CN-S" userId="03b5dd03-9d84-43b3-85a3-94d8f7e7e050" providerId="ADAL" clId="{CC4420AD-58F3-42E3-B10F-530B999EE787}" dt="2025-12-08T08:24:51.198" v="481" actId="1036"/>
          <ac:spMkLst>
            <pc:docMk/>
            <pc:sldMk cId="1409916241" sldId="9854"/>
            <ac:spMk id="20" creationId="{F9E6C4B2-5F80-6752-78DD-E2E88B40E540}"/>
          </ac:spMkLst>
        </pc:spChg>
        <pc:picChg chg="mod">
          <ac:chgData name="Zhu,Julia (HP Medicine) BII-CN-S" userId="03b5dd03-9d84-43b3-85a3-94d8f7e7e050" providerId="ADAL" clId="{CC4420AD-58F3-42E3-B10F-530B999EE787}" dt="2025-12-08T08:25:00.214" v="507" actId="1035"/>
          <ac:picMkLst>
            <pc:docMk/>
            <pc:sldMk cId="1409916241" sldId="9854"/>
            <ac:picMk id="14" creationId="{A063004D-EEC8-1C7F-6484-5598BD29913F}"/>
          </ac:picMkLst>
        </pc:picChg>
      </pc:sldChg>
      <pc:sldChg chg="delSp modSp add mod">
        <pc:chgData name="Zhu,Julia (HP Medicine) BII-CN-S" userId="03b5dd03-9d84-43b3-85a3-94d8f7e7e050" providerId="ADAL" clId="{CC4420AD-58F3-42E3-B10F-530B999EE787}" dt="2025-12-09T15:27:55.335" v="3777" actId="20577"/>
        <pc:sldMkLst>
          <pc:docMk/>
          <pc:sldMk cId="3098173437" sldId="9860"/>
        </pc:sldMkLst>
        <pc:spChg chg="mod">
          <ac:chgData name="Zhu,Julia (HP Medicine) BII-CN-S" userId="03b5dd03-9d84-43b3-85a3-94d8f7e7e050" providerId="ADAL" clId="{CC4420AD-58F3-42E3-B10F-530B999EE787}" dt="2025-12-09T15:27:49.497" v="3776" actId="20577"/>
          <ac:spMkLst>
            <pc:docMk/>
            <pc:sldMk cId="3098173437" sldId="9860"/>
            <ac:spMk id="7" creationId="{A67261C5-D2B2-6FF1-79E6-F5FA2FCD5490}"/>
          </ac:spMkLst>
        </pc:spChg>
        <pc:spChg chg="mod">
          <ac:chgData name="Zhu,Julia (HP Medicine) BII-CN-S" userId="03b5dd03-9d84-43b3-85a3-94d8f7e7e050" providerId="ADAL" clId="{CC4420AD-58F3-42E3-B10F-530B999EE787}" dt="2025-12-09T15:27:55.335" v="3777" actId="20577"/>
          <ac:spMkLst>
            <pc:docMk/>
            <pc:sldMk cId="3098173437" sldId="9860"/>
            <ac:spMk id="8" creationId="{07D4F262-A7ED-D3AC-42F5-7B31175CD77F}"/>
          </ac:spMkLst>
        </pc:spChg>
        <pc:spChg chg="mod">
          <ac:chgData name="Zhu,Julia (HP Medicine) BII-CN-S" userId="03b5dd03-9d84-43b3-85a3-94d8f7e7e050" providerId="ADAL" clId="{CC4420AD-58F3-42E3-B10F-530B999EE787}" dt="2025-12-09T15:00:23.624" v="2913" actId="1076"/>
          <ac:spMkLst>
            <pc:docMk/>
            <pc:sldMk cId="3098173437" sldId="9860"/>
            <ac:spMk id="9" creationId="{5D5F0306-AE20-B972-0E46-E07150D51A38}"/>
          </ac:spMkLst>
        </pc:spChg>
        <pc:spChg chg="mod">
          <ac:chgData name="Zhu,Julia (HP Medicine) BII-CN-S" userId="03b5dd03-9d84-43b3-85a3-94d8f7e7e050" providerId="ADAL" clId="{CC4420AD-58F3-42E3-B10F-530B999EE787}" dt="2025-12-09T15:16:28.015" v="3467" actId="20577"/>
          <ac:spMkLst>
            <pc:docMk/>
            <pc:sldMk cId="3098173437" sldId="9860"/>
            <ac:spMk id="10" creationId="{080DADFE-34EC-AFCC-00CD-2E3DC1E618D6}"/>
          </ac:spMkLst>
        </pc:spChg>
        <pc:spChg chg="mod">
          <ac:chgData name="Zhu,Julia (HP Medicine) BII-CN-S" userId="03b5dd03-9d84-43b3-85a3-94d8f7e7e050" providerId="ADAL" clId="{CC4420AD-58F3-42E3-B10F-530B999EE787}" dt="2025-12-09T14:59:28.116" v="2889" actId="5793"/>
          <ac:spMkLst>
            <pc:docMk/>
            <pc:sldMk cId="3098173437" sldId="9860"/>
            <ac:spMk id="11" creationId="{136648C0-F54F-A70F-E261-2AF16C8E026B}"/>
          </ac:spMkLst>
        </pc:spChg>
      </pc:sldChg>
      <pc:sldChg chg="modSp add mod">
        <pc:chgData name="Zhu,Julia (HP Medicine) BII-CN-S" userId="03b5dd03-9d84-43b3-85a3-94d8f7e7e050" providerId="ADAL" clId="{CC4420AD-58F3-42E3-B10F-530B999EE787}" dt="2025-12-08T08:37:21.621" v="753" actId="207"/>
        <pc:sldMkLst>
          <pc:docMk/>
          <pc:sldMk cId="77917293" sldId="2147377564"/>
        </pc:sldMkLst>
        <pc:spChg chg="mod">
          <ac:chgData name="Zhu,Julia (HP Medicine) BII-CN-S" userId="03b5dd03-9d84-43b3-85a3-94d8f7e7e050" providerId="ADAL" clId="{CC4420AD-58F3-42E3-B10F-530B999EE787}" dt="2025-12-08T08:37:21.621" v="753" actId="207"/>
          <ac:spMkLst>
            <pc:docMk/>
            <pc:sldMk cId="77917293" sldId="2147377564"/>
            <ac:spMk id="12" creationId="{A1111294-48DE-4896-AA35-BAEEE6BD8D1A}"/>
          </ac:spMkLst>
        </pc:spChg>
      </pc:sldChg>
      <pc:sldChg chg="addSp delSp modSp add mod ord">
        <pc:chgData name="Zhu,Julia (HP Medicine) BII-CN-S" userId="03b5dd03-9d84-43b3-85a3-94d8f7e7e050" providerId="ADAL" clId="{CC4420AD-58F3-42E3-B10F-530B999EE787}" dt="2025-12-09T14:20:13.988" v="2273" actId="113"/>
        <pc:sldMkLst>
          <pc:docMk/>
          <pc:sldMk cId="2540672163" sldId="2147482538"/>
        </pc:sldMkLst>
        <pc:spChg chg="mod">
          <ac:chgData name="Zhu,Julia (HP Medicine) BII-CN-S" userId="03b5dd03-9d84-43b3-85a3-94d8f7e7e050" providerId="ADAL" clId="{CC4420AD-58F3-42E3-B10F-530B999EE787}" dt="2025-12-09T10:06:29.547" v="1952" actId="2085"/>
          <ac:spMkLst>
            <pc:docMk/>
            <pc:sldMk cId="2540672163" sldId="2147482538"/>
            <ac:spMk id="2" creationId="{8712F045-C77D-31F0-3A38-6F9BE30AF8F4}"/>
          </ac:spMkLst>
        </pc:spChg>
        <pc:spChg chg="add mod">
          <ac:chgData name="Zhu,Julia (HP Medicine) BII-CN-S" userId="03b5dd03-9d84-43b3-85a3-94d8f7e7e050" providerId="ADAL" clId="{CC4420AD-58F3-42E3-B10F-530B999EE787}" dt="2025-12-09T14:18:14.495" v="2258" actId="113"/>
          <ac:spMkLst>
            <pc:docMk/>
            <pc:sldMk cId="2540672163" sldId="2147482538"/>
            <ac:spMk id="7" creationId="{AB1D1E62-7FDB-EFE6-B405-1F2AA0EC3C8F}"/>
          </ac:spMkLst>
        </pc:spChg>
        <pc:spChg chg="add mod ord">
          <ac:chgData name="Zhu,Julia (HP Medicine) BII-CN-S" userId="03b5dd03-9d84-43b3-85a3-94d8f7e7e050" providerId="ADAL" clId="{CC4420AD-58F3-42E3-B10F-530B999EE787}" dt="2025-12-09T10:06:41.434" v="1953" actId="2085"/>
          <ac:spMkLst>
            <pc:docMk/>
            <pc:sldMk cId="2540672163" sldId="2147482538"/>
            <ac:spMk id="8" creationId="{F50A43A3-46A4-F886-D237-983155D678B3}"/>
          </ac:spMkLst>
        </pc:spChg>
        <pc:spChg chg="add mod ord">
          <ac:chgData name="Zhu,Julia (HP Medicine) BII-CN-S" userId="03b5dd03-9d84-43b3-85a3-94d8f7e7e050" providerId="ADAL" clId="{CC4420AD-58F3-42E3-B10F-530B999EE787}" dt="2025-12-09T14:19:12.164" v="2260" actId="14861"/>
          <ac:spMkLst>
            <pc:docMk/>
            <pc:sldMk cId="2540672163" sldId="2147482538"/>
            <ac:spMk id="9" creationId="{BA68191B-2A9A-0F3A-8D85-1240D60DD271}"/>
          </ac:spMkLst>
        </pc:spChg>
        <pc:spChg chg="mod">
          <ac:chgData name="Zhu,Julia (HP Medicine) BII-CN-S" userId="03b5dd03-9d84-43b3-85a3-94d8f7e7e050" providerId="ADAL" clId="{CC4420AD-58F3-42E3-B10F-530B999EE787}" dt="2025-12-09T14:19:48.942" v="2262" actId="14100"/>
          <ac:spMkLst>
            <pc:docMk/>
            <pc:sldMk cId="2540672163" sldId="2147482538"/>
            <ac:spMk id="13" creationId="{82DEAA9A-8840-319C-0FEF-3D3E0688391D}"/>
          </ac:spMkLst>
        </pc:spChg>
        <pc:spChg chg="mod">
          <ac:chgData name="Zhu,Julia (HP Medicine) BII-CN-S" userId="03b5dd03-9d84-43b3-85a3-94d8f7e7e050" providerId="ADAL" clId="{CC4420AD-58F3-42E3-B10F-530B999EE787}" dt="2025-12-09T14:19:38.611" v="2261" actId="1038"/>
          <ac:spMkLst>
            <pc:docMk/>
            <pc:sldMk cId="2540672163" sldId="2147482538"/>
            <ac:spMk id="14" creationId="{E6BD82BB-AE2D-0036-B64A-1C97566AB76C}"/>
          </ac:spMkLst>
        </pc:spChg>
        <pc:spChg chg="mod">
          <ac:chgData name="Zhu,Julia (HP Medicine) BII-CN-S" userId="03b5dd03-9d84-43b3-85a3-94d8f7e7e050" providerId="ADAL" clId="{CC4420AD-58F3-42E3-B10F-530B999EE787}" dt="2025-12-09T10:00:47.568" v="1937" actId="1076"/>
          <ac:spMkLst>
            <pc:docMk/>
            <pc:sldMk cId="2540672163" sldId="2147482538"/>
            <ac:spMk id="28" creationId="{8D191E03-E755-BD61-3605-FBB478952556}"/>
          </ac:spMkLst>
        </pc:spChg>
        <pc:spChg chg="mod">
          <ac:chgData name="Zhu,Julia (HP Medicine) BII-CN-S" userId="03b5dd03-9d84-43b3-85a3-94d8f7e7e050" providerId="ADAL" clId="{CC4420AD-58F3-42E3-B10F-530B999EE787}" dt="2025-12-09T14:16:19.769" v="2257" actId="108"/>
          <ac:spMkLst>
            <pc:docMk/>
            <pc:sldMk cId="2540672163" sldId="2147482538"/>
            <ac:spMk id="36" creationId="{4C5742EF-B123-5952-9B70-84B77A6E7EC0}"/>
          </ac:spMkLst>
        </pc:spChg>
        <pc:spChg chg="mod">
          <ac:chgData name="Zhu,Julia (HP Medicine) BII-CN-S" userId="03b5dd03-9d84-43b3-85a3-94d8f7e7e050" providerId="ADAL" clId="{CC4420AD-58F3-42E3-B10F-530B999EE787}" dt="2025-12-09T09:56:12.445" v="1805" actId="14100"/>
          <ac:spMkLst>
            <pc:docMk/>
            <pc:sldMk cId="2540672163" sldId="2147482538"/>
            <ac:spMk id="109" creationId="{5A8F5AF3-8EE3-C397-3657-FA2DABAE7F65}"/>
          </ac:spMkLst>
        </pc:spChg>
        <pc:spChg chg="mod ord">
          <ac:chgData name="Zhu,Julia (HP Medicine) BII-CN-S" userId="03b5dd03-9d84-43b3-85a3-94d8f7e7e050" providerId="ADAL" clId="{CC4420AD-58F3-42E3-B10F-530B999EE787}" dt="2025-12-09T10:00:20.816" v="1912" actId="166"/>
          <ac:spMkLst>
            <pc:docMk/>
            <pc:sldMk cId="2540672163" sldId="2147482538"/>
            <ac:spMk id="110" creationId="{9FA09DD7-8C9B-A869-43B5-76C44F89341C}"/>
          </ac:spMkLst>
        </pc:spChg>
        <pc:spChg chg="mod">
          <ac:chgData name="Zhu,Julia (HP Medicine) BII-CN-S" userId="03b5dd03-9d84-43b3-85a3-94d8f7e7e050" providerId="ADAL" clId="{CC4420AD-58F3-42E3-B10F-530B999EE787}" dt="2025-12-09T09:59:03.279" v="1903" actId="1037"/>
          <ac:spMkLst>
            <pc:docMk/>
            <pc:sldMk cId="2540672163" sldId="2147482538"/>
            <ac:spMk id="113" creationId="{82CF22EA-EC2C-3184-E391-22491A61DD69}"/>
          </ac:spMkLst>
        </pc:spChg>
        <pc:spChg chg="mod">
          <ac:chgData name="Zhu,Julia (HP Medicine) BII-CN-S" userId="03b5dd03-9d84-43b3-85a3-94d8f7e7e050" providerId="ADAL" clId="{CC4420AD-58F3-42E3-B10F-530B999EE787}" dt="2025-12-09T09:55:32.091" v="1803" actId="255"/>
          <ac:spMkLst>
            <pc:docMk/>
            <pc:sldMk cId="2540672163" sldId="2147482538"/>
            <ac:spMk id="115" creationId="{39B6D197-3020-05DA-503B-6C835A7E7F79}"/>
          </ac:spMkLst>
        </pc:spChg>
        <pc:spChg chg="mod">
          <ac:chgData name="Zhu,Julia (HP Medicine) BII-CN-S" userId="03b5dd03-9d84-43b3-85a3-94d8f7e7e050" providerId="ADAL" clId="{CC4420AD-58F3-42E3-B10F-530B999EE787}" dt="2025-12-09T14:20:13.988" v="2273" actId="113"/>
          <ac:spMkLst>
            <pc:docMk/>
            <pc:sldMk cId="2540672163" sldId="2147482538"/>
            <ac:spMk id="138" creationId="{297AB36A-89B2-3955-6C2B-4A00941AC766}"/>
          </ac:spMkLst>
        </pc:spChg>
        <pc:spChg chg="mod">
          <ac:chgData name="Zhu,Julia (HP Medicine) BII-CN-S" userId="03b5dd03-9d84-43b3-85a3-94d8f7e7e050" providerId="ADAL" clId="{CC4420AD-58F3-42E3-B10F-530B999EE787}" dt="2025-12-09T09:58:42.534" v="1889" actId="1038"/>
          <ac:spMkLst>
            <pc:docMk/>
            <pc:sldMk cId="2540672163" sldId="2147482538"/>
            <ac:spMk id="139" creationId="{63A795BB-F173-372D-1919-880C9B82B482}"/>
          </ac:spMkLst>
        </pc:spChg>
        <pc:spChg chg="mod">
          <ac:chgData name="Zhu,Julia (HP Medicine) BII-CN-S" userId="03b5dd03-9d84-43b3-85a3-94d8f7e7e050" providerId="ADAL" clId="{CC4420AD-58F3-42E3-B10F-530B999EE787}" dt="2025-12-09T09:59:20.792" v="1905" actId="14100"/>
          <ac:spMkLst>
            <pc:docMk/>
            <pc:sldMk cId="2540672163" sldId="2147482538"/>
            <ac:spMk id="148" creationId="{0BF0AFA5-B008-8B0C-C32A-63BF1E517663}"/>
          </ac:spMkLst>
        </pc:spChg>
        <pc:spChg chg="add del mod">
          <ac:chgData name="Zhu,Julia (HP Medicine) BII-CN-S" userId="03b5dd03-9d84-43b3-85a3-94d8f7e7e050" providerId="ADAL" clId="{CC4420AD-58F3-42E3-B10F-530B999EE787}" dt="2025-12-09T09:57:24.336" v="1853" actId="20577"/>
          <ac:spMkLst>
            <pc:docMk/>
            <pc:sldMk cId="2540672163" sldId="2147482538"/>
            <ac:spMk id="149" creationId="{EEF3C260-E12A-3404-01D0-67F0BDDA16C2}"/>
          </ac:spMkLst>
        </pc:spChg>
        <pc:cxnChg chg="mod">
          <ac:chgData name="Zhu,Julia (HP Medicine) BII-CN-S" userId="03b5dd03-9d84-43b3-85a3-94d8f7e7e050" providerId="ADAL" clId="{CC4420AD-58F3-42E3-B10F-530B999EE787}" dt="2025-12-09T10:00:07.494" v="1911" actId="1076"/>
          <ac:cxnSpMkLst>
            <pc:docMk/>
            <pc:sldMk cId="2540672163" sldId="2147482538"/>
            <ac:cxnSpMk id="20" creationId="{2C270017-4CE8-AC5A-E962-CC861331032A}"/>
          </ac:cxnSpMkLst>
        </pc:cxnChg>
        <pc:cxnChg chg="mod">
          <ac:chgData name="Zhu,Julia (HP Medicine) BII-CN-S" userId="03b5dd03-9d84-43b3-85a3-94d8f7e7e050" providerId="ADAL" clId="{CC4420AD-58F3-42E3-B10F-530B999EE787}" dt="2025-12-09T10:01:39.148" v="1938" actId="1076"/>
          <ac:cxnSpMkLst>
            <pc:docMk/>
            <pc:sldMk cId="2540672163" sldId="2147482538"/>
            <ac:cxnSpMk id="32" creationId="{A30E029A-B4EB-D1C5-44A7-EA809493E9AA}"/>
          </ac:cxnSpMkLst>
        </pc:cxnChg>
        <pc:cxnChg chg="mod">
          <ac:chgData name="Zhu,Julia (HP Medicine) BII-CN-S" userId="03b5dd03-9d84-43b3-85a3-94d8f7e7e050" providerId="ADAL" clId="{CC4420AD-58F3-42E3-B10F-530B999EE787}" dt="2025-12-09T09:59:20.792" v="1905" actId="14100"/>
          <ac:cxnSpMkLst>
            <pc:docMk/>
            <pc:sldMk cId="2540672163" sldId="2147482538"/>
            <ac:cxnSpMk id="159" creationId="{A2D28C0F-5282-D216-50BF-8D59F7377ECC}"/>
          </ac:cxnSpMkLst>
        </pc:cxnChg>
      </pc:sldChg>
      <pc:sldChg chg="addSp modSp mod ord">
        <pc:chgData name="Zhu,Julia (HP Medicine) BII-CN-S" userId="03b5dd03-9d84-43b3-85a3-94d8f7e7e050" providerId="ADAL" clId="{CC4420AD-58F3-42E3-B10F-530B999EE787}" dt="2025-12-09T15:07:23.059" v="3005" actId="20577"/>
        <pc:sldMkLst>
          <pc:docMk/>
          <pc:sldMk cId="3169643263" sldId="2147483645"/>
        </pc:sldMkLst>
        <pc:spChg chg="mod">
          <ac:chgData name="Zhu,Julia (HP Medicine) BII-CN-S" userId="03b5dd03-9d84-43b3-85a3-94d8f7e7e050" providerId="ADAL" clId="{CC4420AD-58F3-42E3-B10F-530B999EE787}" dt="2025-12-09T15:07:23.059" v="3005" actId="20577"/>
          <ac:spMkLst>
            <pc:docMk/>
            <pc:sldMk cId="3169643263" sldId="2147483645"/>
            <ac:spMk id="3" creationId="{D9A61E9D-5B96-7DF9-6861-3461B86355CB}"/>
          </ac:spMkLst>
        </pc:spChg>
        <pc:spChg chg="add mod">
          <ac:chgData name="Zhu,Julia (HP Medicine) BII-CN-S" userId="03b5dd03-9d84-43b3-85a3-94d8f7e7e050" providerId="ADAL" clId="{CC4420AD-58F3-42E3-B10F-530B999EE787}" dt="2025-12-09T14:26:00.568" v="2335"/>
          <ac:spMkLst>
            <pc:docMk/>
            <pc:sldMk cId="3169643263" sldId="2147483645"/>
            <ac:spMk id="14" creationId="{08911599-014B-6533-FAAA-3BB7338A6752}"/>
          </ac:spMkLst>
        </pc:spChg>
        <pc:spChg chg="add mod">
          <ac:chgData name="Zhu,Julia (HP Medicine) BII-CN-S" userId="03b5dd03-9d84-43b3-85a3-94d8f7e7e050" providerId="ADAL" clId="{CC4420AD-58F3-42E3-B10F-530B999EE787}" dt="2025-12-09T14:26:48.044" v="2348" actId="20577"/>
          <ac:spMkLst>
            <pc:docMk/>
            <pc:sldMk cId="3169643263" sldId="2147483645"/>
            <ac:spMk id="18" creationId="{0B81329D-A947-A7E1-8AA9-BAC948BC62EB}"/>
          </ac:spMkLst>
        </pc:spChg>
      </pc:sldChg>
      <pc:sldChg chg="addSp delSp modSp new mod">
        <pc:chgData name="Zhu,Julia (HP Medicine) BII-CN-S" userId="03b5dd03-9d84-43b3-85a3-94d8f7e7e050" providerId="ADAL" clId="{CC4420AD-58F3-42E3-B10F-530B999EE787}" dt="2025-12-09T14:48:24.754" v="2601" actId="13822"/>
        <pc:sldMkLst>
          <pc:docMk/>
          <pc:sldMk cId="166079454" sldId="2147483646"/>
        </pc:sldMkLst>
        <pc:spChg chg="mod">
          <ac:chgData name="Zhu,Julia (HP Medicine) BII-CN-S" userId="03b5dd03-9d84-43b3-85a3-94d8f7e7e050" providerId="ADAL" clId="{CC4420AD-58F3-42E3-B10F-530B999EE787}" dt="2025-12-09T14:33:53.244" v="2381" actId="20577"/>
          <ac:spMkLst>
            <pc:docMk/>
            <pc:sldMk cId="166079454" sldId="2147483646"/>
            <ac:spMk id="2" creationId="{F1479330-B647-570A-B154-3578B6313539}"/>
          </ac:spMkLst>
        </pc:spChg>
        <pc:spChg chg="add mod">
          <ac:chgData name="Zhu,Julia (HP Medicine) BII-CN-S" userId="03b5dd03-9d84-43b3-85a3-94d8f7e7e050" providerId="ADAL" clId="{CC4420AD-58F3-42E3-B10F-530B999EE787}" dt="2025-12-09T14:37:12.097" v="2400" actId="255"/>
          <ac:spMkLst>
            <pc:docMk/>
            <pc:sldMk cId="166079454" sldId="2147483646"/>
            <ac:spMk id="9" creationId="{0716462A-AB77-EFFB-8220-7B50746DDF2A}"/>
          </ac:spMkLst>
        </pc:spChg>
        <pc:spChg chg="add mod">
          <ac:chgData name="Zhu,Julia (HP Medicine) BII-CN-S" userId="03b5dd03-9d84-43b3-85a3-94d8f7e7e050" providerId="ADAL" clId="{CC4420AD-58F3-42E3-B10F-530B999EE787}" dt="2025-12-09T14:48:24.754" v="2601" actId="13822"/>
          <ac:spMkLst>
            <pc:docMk/>
            <pc:sldMk cId="166079454" sldId="2147483646"/>
            <ac:spMk id="10" creationId="{1EEA43AC-A353-F754-F88C-EAB17522F87F}"/>
          </ac:spMkLst>
        </pc:spChg>
        <pc:picChg chg="add mod">
          <ac:chgData name="Zhu,Julia (HP Medicine) BII-CN-S" userId="03b5dd03-9d84-43b3-85a3-94d8f7e7e050" providerId="ADAL" clId="{CC4420AD-58F3-42E3-B10F-530B999EE787}" dt="2025-12-09T14:37:16.193" v="2401" actId="1076"/>
          <ac:picMkLst>
            <pc:docMk/>
            <pc:sldMk cId="166079454" sldId="2147483646"/>
            <ac:picMk id="7" creationId="{346A6D36-37EB-7264-5BD7-C3CCD1045200}"/>
          </ac:picMkLst>
        </pc:picChg>
      </pc:sldChg>
    </pc:docChg>
  </pc:docChgLst>
  <pc:docChgLst>
    <pc:chgData name="Zhu,Julia (HP Medicine) BII-CN-S" userId="S::julia_2.zhu@boehringer-ingelheim.com::03b5dd03-9d84-43b3-85a3-94d8f7e7e050" providerId="AD" clId="Web-{99D240B5-9BB4-D95D-16D6-320B15D3B847}"/>
    <pc:docChg chg="addSld delSld modSld addMainMaster modSection">
      <pc:chgData name="Zhu,Julia (HP Medicine) BII-CN-S" userId="S::julia_2.zhu@boehringer-ingelheim.com::03b5dd03-9d84-43b3-85a3-94d8f7e7e050" providerId="AD" clId="Web-{99D240B5-9BB4-D95D-16D6-320B15D3B847}" dt="2025-12-14T12:55:46.721" v="76" actId="20577"/>
      <pc:docMkLst>
        <pc:docMk/>
      </pc:docMkLst>
      <pc:sldChg chg="delSp modSp">
        <pc:chgData name="Zhu,Julia (HP Medicine) BII-CN-S" userId="S::julia_2.zhu@boehringer-ingelheim.com::03b5dd03-9d84-43b3-85a3-94d8f7e7e050" providerId="AD" clId="Web-{99D240B5-9BB4-D95D-16D6-320B15D3B847}" dt="2025-12-14T11:45:39.213" v="37"/>
        <pc:sldMkLst>
          <pc:docMk/>
          <pc:sldMk cId="1376912264" sldId="272"/>
        </pc:sldMkLst>
        <pc:spChg chg="del">
          <ac:chgData name="Zhu,Julia (HP Medicine) BII-CN-S" userId="S::julia_2.zhu@boehringer-ingelheim.com::03b5dd03-9d84-43b3-85a3-94d8f7e7e050" providerId="AD" clId="Web-{99D240B5-9BB4-D95D-16D6-320B15D3B847}" dt="2025-12-14T11:44:49.713" v="7"/>
          <ac:spMkLst>
            <pc:docMk/>
            <pc:sldMk cId="1376912264" sldId="272"/>
            <ac:spMk id="5" creationId="{46941216-2AC9-1854-0C96-9A24CB746F71}"/>
          </ac:spMkLst>
        </pc:spChg>
        <pc:spChg chg="del">
          <ac:chgData name="Zhu,Julia (HP Medicine) BII-CN-S" userId="S::julia_2.zhu@boehringer-ingelheim.com::03b5dd03-9d84-43b3-85a3-94d8f7e7e050" providerId="AD" clId="Web-{99D240B5-9BB4-D95D-16D6-320B15D3B847}" dt="2025-12-14T11:45:39.213" v="37"/>
          <ac:spMkLst>
            <pc:docMk/>
            <pc:sldMk cId="1376912264" sldId="272"/>
            <ac:spMk id="6" creationId="{8438A485-3087-3EFC-6986-3F104C93C75B}"/>
          </ac:spMkLst>
        </pc:spChg>
        <pc:spChg chg="mod">
          <ac:chgData name="Zhu,Julia (HP Medicine) BII-CN-S" userId="S::julia_2.zhu@boehringer-ingelheim.com::03b5dd03-9d84-43b3-85a3-94d8f7e7e050" providerId="AD" clId="Web-{99D240B5-9BB4-D95D-16D6-320B15D3B847}" dt="2025-12-14T11:44:44.666" v="5" actId="20577"/>
          <ac:spMkLst>
            <pc:docMk/>
            <pc:sldMk cId="1376912264" sldId="272"/>
            <ac:spMk id="9" creationId="{CAB564E9-8A35-46A7-8E58-BA7F93BB6C23}"/>
          </ac:spMkLst>
        </pc:spChg>
        <pc:spChg chg="del">
          <ac:chgData name="Zhu,Julia (HP Medicine) BII-CN-S" userId="S::julia_2.zhu@boehringer-ingelheim.com::03b5dd03-9d84-43b3-85a3-94d8f7e7e050" providerId="AD" clId="Web-{99D240B5-9BB4-D95D-16D6-320B15D3B847}" dt="2025-12-14T11:44:47.072" v="6"/>
          <ac:spMkLst>
            <pc:docMk/>
            <pc:sldMk cId="1376912264" sldId="272"/>
            <ac:spMk id="10" creationId="{C1255DE0-1B0E-649D-17CD-A01A36D38599}"/>
          </ac:spMkLst>
        </pc:spChg>
        <pc:spChg chg="mod">
          <ac:chgData name="Zhu,Julia (HP Medicine) BII-CN-S" userId="S::julia_2.zhu@boehringer-ingelheim.com::03b5dd03-9d84-43b3-85a3-94d8f7e7e050" providerId="AD" clId="Web-{99D240B5-9BB4-D95D-16D6-320B15D3B847}" dt="2025-12-14T11:45:20.994" v="35" actId="20577"/>
          <ac:spMkLst>
            <pc:docMk/>
            <pc:sldMk cId="1376912264" sldId="272"/>
            <ac:spMk id="14" creationId="{9DEA2D82-30F2-9D77-C3DF-3F28E0CB96CD}"/>
          </ac:spMkLst>
        </pc:spChg>
        <pc:picChg chg="mod">
          <ac:chgData name="Zhu,Julia (HP Medicine) BII-CN-S" userId="S::julia_2.zhu@boehringer-ingelheim.com::03b5dd03-9d84-43b3-85a3-94d8f7e7e050" providerId="AD" clId="Web-{99D240B5-9BB4-D95D-16D6-320B15D3B847}" dt="2025-12-14T11:45:34.353" v="36" actId="1076"/>
          <ac:picMkLst>
            <pc:docMk/>
            <pc:sldMk cId="1376912264" sldId="272"/>
            <ac:picMk id="39" creationId="{170D9C01-6AB5-C418-57EC-EF99EF9E35B6}"/>
          </ac:picMkLst>
        </pc:picChg>
      </pc:sldChg>
      <pc:sldChg chg="add">
        <pc:chgData name="Zhu,Julia (HP Medicine) BII-CN-S" userId="S::julia_2.zhu@boehringer-ingelheim.com::03b5dd03-9d84-43b3-85a3-94d8f7e7e050" providerId="AD" clId="Web-{99D240B5-9BB4-D95D-16D6-320B15D3B847}" dt="2025-12-14T11:54:18.209" v="39"/>
        <pc:sldMkLst>
          <pc:docMk/>
          <pc:sldMk cId="3473914055" sldId="276"/>
        </pc:sldMkLst>
      </pc:sldChg>
      <pc:sldChg chg="modSp">
        <pc:chgData name="Zhu,Julia (HP Medicine) BII-CN-S" userId="S::julia_2.zhu@boehringer-ingelheim.com::03b5dd03-9d84-43b3-85a3-94d8f7e7e050" providerId="AD" clId="Web-{99D240B5-9BB4-D95D-16D6-320B15D3B847}" dt="2025-12-14T11:46:02.088" v="38" actId="20577"/>
        <pc:sldMkLst>
          <pc:docMk/>
          <pc:sldMk cId="1409916241" sldId="9854"/>
        </pc:sldMkLst>
        <pc:spChg chg="mod">
          <ac:chgData name="Zhu,Julia (HP Medicine) BII-CN-S" userId="S::julia_2.zhu@boehringer-ingelheim.com::03b5dd03-9d84-43b3-85a3-94d8f7e7e050" providerId="AD" clId="Web-{99D240B5-9BB4-D95D-16D6-320B15D3B847}" dt="2025-12-14T11:46:02.088" v="38" actId="20577"/>
          <ac:spMkLst>
            <pc:docMk/>
            <pc:sldMk cId="1409916241" sldId="9854"/>
            <ac:spMk id="17" creationId="{EC079AFD-EE9E-7681-626D-2A99C6AE0815}"/>
          </ac:spMkLst>
        </pc:spChg>
      </pc:sldChg>
      <pc:sldChg chg="modSp">
        <pc:chgData name="Zhu,Julia (HP Medicine) BII-CN-S" userId="S::julia_2.zhu@boehringer-ingelheim.com::03b5dd03-9d84-43b3-85a3-94d8f7e7e050" providerId="AD" clId="Web-{99D240B5-9BB4-D95D-16D6-320B15D3B847}" dt="2025-12-14T12:55:46.721" v="76" actId="20577"/>
        <pc:sldMkLst>
          <pc:docMk/>
          <pc:sldMk cId="3098173437" sldId="9860"/>
        </pc:sldMkLst>
        <pc:spChg chg="mod">
          <ac:chgData name="Zhu,Julia (HP Medicine) BII-CN-S" userId="S::julia_2.zhu@boehringer-ingelheim.com::03b5dd03-9d84-43b3-85a3-94d8f7e7e050" providerId="AD" clId="Web-{99D240B5-9BB4-D95D-16D6-320B15D3B847}" dt="2025-12-14T12:55:46.721" v="76" actId="20577"/>
          <ac:spMkLst>
            <pc:docMk/>
            <pc:sldMk cId="3098173437" sldId="9860"/>
            <ac:spMk id="8" creationId="{07D4F262-A7ED-D3AC-42F5-7B31175CD77F}"/>
          </ac:spMkLst>
        </pc:spChg>
      </pc:sldChg>
      <pc:sldChg chg="del">
        <pc:chgData name="Zhu,Julia (HP Medicine) BII-CN-S" userId="S::julia_2.zhu@boehringer-ingelheim.com::03b5dd03-9d84-43b3-85a3-94d8f7e7e050" providerId="AD" clId="Web-{99D240B5-9BB4-D95D-16D6-320B15D3B847}" dt="2025-12-14T11:44:18.947" v="1"/>
        <pc:sldMkLst>
          <pc:docMk/>
          <pc:sldMk cId="3684170711" sldId="2147483637"/>
        </pc:sldMkLst>
      </pc:sldChg>
      <pc:sldChg chg="modSp">
        <pc:chgData name="Zhu,Julia (HP Medicine) BII-CN-S" userId="S::julia_2.zhu@boehringer-ingelheim.com::03b5dd03-9d84-43b3-85a3-94d8f7e7e050" providerId="AD" clId="Web-{99D240B5-9BB4-D95D-16D6-320B15D3B847}" dt="2025-12-14T12:46:54.501" v="43" actId="20577"/>
        <pc:sldMkLst>
          <pc:docMk/>
          <pc:sldMk cId="3169643263" sldId="2147483645"/>
        </pc:sldMkLst>
        <pc:spChg chg="mod">
          <ac:chgData name="Zhu,Julia (HP Medicine) BII-CN-S" userId="S::julia_2.zhu@boehringer-ingelheim.com::03b5dd03-9d84-43b3-85a3-94d8f7e7e050" providerId="AD" clId="Web-{99D240B5-9BB4-D95D-16D6-320B15D3B847}" dt="2025-12-14T11:44:26.931" v="3" actId="20577"/>
          <ac:spMkLst>
            <pc:docMk/>
            <pc:sldMk cId="3169643263" sldId="2147483645"/>
            <ac:spMk id="3" creationId="{D9A61E9D-5B96-7DF9-6861-3461B86355CB}"/>
          </ac:spMkLst>
        </pc:spChg>
        <pc:spChg chg="mod">
          <ac:chgData name="Zhu,Julia (HP Medicine) BII-CN-S" userId="S::julia_2.zhu@boehringer-ingelheim.com::03b5dd03-9d84-43b3-85a3-94d8f7e7e050" providerId="AD" clId="Web-{99D240B5-9BB4-D95D-16D6-320B15D3B847}" dt="2025-12-14T12:46:54.501" v="43" actId="20577"/>
          <ac:spMkLst>
            <pc:docMk/>
            <pc:sldMk cId="3169643263" sldId="2147483645"/>
            <ac:spMk id="71" creationId="{70F580FD-8A45-22F6-2286-4D6F81C4000F}"/>
          </ac:spMkLst>
        </pc:spChg>
      </pc:sldChg>
      <pc:sldChg chg="modSp add">
        <pc:chgData name="Zhu,Julia (HP Medicine) BII-CN-S" userId="S::julia_2.zhu@boehringer-ingelheim.com::03b5dd03-9d84-43b3-85a3-94d8f7e7e050" providerId="AD" clId="Web-{99D240B5-9BB4-D95D-16D6-320B15D3B847}" dt="2025-12-14T12:53:30.842" v="58" actId="1076"/>
        <pc:sldMkLst>
          <pc:docMk/>
          <pc:sldMk cId="3334750060" sldId="2147483647"/>
        </pc:sldMkLst>
        <pc:spChg chg="mod">
          <ac:chgData name="Zhu,Julia (HP Medicine) BII-CN-S" userId="S::julia_2.zhu@boehringer-ingelheim.com::03b5dd03-9d84-43b3-85a3-94d8f7e7e050" providerId="AD" clId="Web-{99D240B5-9BB4-D95D-16D6-320B15D3B847}" dt="2025-12-14T12:52:29.745" v="48" actId="14100"/>
          <ac:spMkLst>
            <pc:docMk/>
            <pc:sldMk cId="3334750060" sldId="2147483647"/>
            <ac:spMk id="19" creationId="{F4B2B758-1F29-D7E4-053D-390E855D956E}"/>
          </ac:spMkLst>
        </pc:spChg>
        <pc:spChg chg="mod">
          <ac:chgData name="Zhu,Julia (HP Medicine) BII-CN-S" userId="S::julia_2.zhu@boehringer-ingelheim.com::03b5dd03-9d84-43b3-85a3-94d8f7e7e050" providerId="AD" clId="Web-{99D240B5-9BB4-D95D-16D6-320B15D3B847}" dt="2025-12-14T12:52:22.604" v="47" actId="20577"/>
          <ac:spMkLst>
            <pc:docMk/>
            <pc:sldMk cId="3334750060" sldId="2147483647"/>
            <ac:spMk id="25" creationId="{2FA5C382-61C4-052F-20D7-970A34595E38}"/>
          </ac:spMkLst>
        </pc:spChg>
        <pc:spChg chg="mod">
          <ac:chgData name="Zhu,Julia (HP Medicine) BII-CN-S" userId="S::julia_2.zhu@boehringer-ingelheim.com::03b5dd03-9d84-43b3-85a3-94d8f7e7e050" providerId="AD" clId="Web-{99D240B5-9BB4-D95D-16D6-320B15D3B847}" dt="2025-12-14T12:52:39.574" v="49" actId="14100"/>
          <ac:spMkLst>
            <pc:docMk/>
            <pc:sldMk cId="3334750060" sldId="2147483647"/>
            <ac:spMk id="48" creationId="{2352A979-16FA-5B13-7FD9-F021E74C3830}"/>
          </ac:spMkLst>
        </pc:spChg>
        <pc:spChg chg="mod">
          <ac:chgData name="Zhu,Julia (HP Medicine) BII-CN-S" userId="S::julia_2.zhu@boehringer-ingelheim.com::03b5dd03-9d84-43b3-85a3-94d8f7e7e050" providerId="AD" clId="Web-{99D240B5-9BB4-D95D-16D6-320B15D3B847}" dt="2025-12-14T12:53:16.951" v="56" actId="20577"/>
          <ac:spMkLst>
            <pc:docMk/>
            <pc:sldMk cId="3334750060" sldId="2147483647"/>
            <ac:spMk id="49" creationId="{13677742-A301-B52C-8E68-4BD4360EECFC}"/>
          </ac:spMkLst>
        </pc:spChg>
        <pc:spChg chg="mod">
          <ac:chgData name="Zhu,Julia (HP Medicine) BII-CN-S" userId="S::julia_2.zhu@boehringer-ingelheim.com::03b5dd03-9d84-43b3-85a3-94d8f7e7e050" providerId="AD" clId="Web-{99D240B5-9BB4-D95D-16D6-320B15D3B847}" dt="2025-12-14T12:53:30.842" v="58" actId="1076"/>
          <ac:spMkLst>
            <pc:docMk/>
            <pc:sldMk cId="3334750060" sldId="2147483647"/>
            <ac:spMk id="62" creationId="{0F5B3435-D892-E32D-4C96-33CBBEDDFD5B}"/>
          </ac:spMkLst>
        </pc:spChg>
      </pc:sldChg>
      <pc:sldMasterChg chg="add addSldLayout">
        <pc:chgData name="Zhu,Julia (HP Medicine) BII-CN-S" userId="S::julia_2.zhu@boehringer-ingelheim.com::03b5dd03-9d84-43b3-85a3-94d8f7e7e050" providerId="AD" clId="Web-{99D240B5-9BB4-D95D-16D6-320B15D3B847}" dt="2025-12-14T11:54:18.209" v="39"/>
        <pc:sldMasterMkLst>
          <pc:docMk/>
          <pc:sldMasterMk cId="1239339106" sldId="2147483879"/>
        </pc:sldMasterMkLst>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528255876" sldId="2147483880"/>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1198884876" sldId="2147483881"/>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830171478" sldId="2147483882"/>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3947434335" sldId="2147483883"/>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3937175118" sldId="2147483884"/>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3410126128" sldId="2147483885"/>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632709584" sldId="2147483886"/>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3764085342" sldId="2147483887"/>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3391281091" sldId="2147483888"/>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3620798519" sldId="2147483889"/>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285167033" sldId="2147483890"/>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3287435180" sldId="2147483891"/>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382708421" sldId="2147483892"/>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793244245" sldId="2147483893"/>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32687614" sldId="2147483894"/>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1264634505" sldId="2147483895"/>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4050797787" sldId="2147483896"/>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812542275" sldId="2147483897"/>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084771135" sldId="2147483898"/>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031668603" sldId="2147483899"/>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784980259" sldId="2147483900"/>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1070819159" sldId="2147483901"/>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1749779493" sldId="2147483902"/>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3813288335" sldId="2147483903"/>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669739105" sldId="2147483904"/>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02877583" sldId="2147483905"/>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512432288" sldId="2147483906"/>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1130408190" sldId="2147483907"/>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927684065" sldId="2147483908"/>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70078895" sldId="2147483909"/>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903553739" sldId="2147483910"/>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3437814701" sldId="2147483911"/>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3492471259" sldId="2147483912"/>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906192796" sldId="2147483913"/>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512873793" sldId="2147483914"/>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331053417" sldId="2147483915"/>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020826392" sldId="2147483916"/>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1135199493" sldId="2147483917"/>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503650405" sldId="2147483918"/>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3282857088" sldId="2147483919"/>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271528732" sldId="2147483920"/>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597488424" sldId="2147483921"/>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225633515" sldId="2147483922"/>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278588772" sldId="2147483923"/>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1621769739" sldId="2147483924"/>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084277068" sldId="2147483925"/>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682301051" sldId="2147483926"/>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259127355" sldId="2147483927"/>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1670589786" sldId="2147483928"/>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3540516537" sldId="2147483929"/>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790909544" sldId="2147483930"/>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667704660" sldId="2147483931"/>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3561415755" sldId="2147483932"/>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4281588863" sldId="2147483933"/>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080110646" sldId="2147483934"/>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3770266954" sldId="2147483935"/>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3050031094" sldId="2147483936"/>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5954017" sldId="2147483937"/>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3661258174" sldId="2147483938"/>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1724852114" sldId="2147483939"/>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3443011326" sldId="2147483940"/>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1077130593" sldId="2147483941"/>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510490671" sldId="2147483942"/>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332582625" sldId="2147483943"/>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357324905" sldId="2147483944"/>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924749793" sldId="2147483945"/>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405100546" sldId="2147483946"/>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1352676063" sldId="2147483947"/>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1831670493" sldId="2147483948"/>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3551218602" sldId="2147483949"/>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342001497" sldId="2147483950"/>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2361223320" sldId="2147483951"/>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1754771331" sldId="2147483952"/>
          </pc:sldLayoutMkLst>
        </pc:sldLayoutChg>
        <pc:sldLayoutChg chg="add">
          <pc:chgData name="Zhu,Julia (HP Medicine) BII-CN-S" userId="S::julia_2.zhu@boehringer-ingelheim.com::03b5dd03-9d84-43b3-85a3-94d8f7e7e050" providerId="AD" clId="Web-{99D240B5-9BB4-D95D-16D6-320B15D3B847}" dt="2025-12-14T11:54:18.209" v="39"/>
          <pc:sldLayoutMkLst>
            <pc:docMk/>
            <pc:sldMasterMk cId="1239339106" sldId="2147483879"/>
            <pc:sldLayoutMk cId="126770804" sldId="214748395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0F8F49-04C2-48C1-A173-082A07228EDD}" type="datetimeFigureOut">
              <a:rPr lang="zh-CN" altLang="en-US" smtClean="0"/>
              <a:t>2025/12/14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16599B-BB8B-4DE1-98D3-F5DC5B11E88E}" type="slidenum">
              <a:rPr lang="zh-CN" altLang="en-US" smtClean="0"/>
              <a:t>‹#›</a:t>
            </a:fld>
            <a:endParaRPr lang="zh-CN" altLang="en-US"/>
          </a:p>
        </p:txBody>
      </p:sp>
    </p:spTree>
    <p:extLst>
      <p:ext uri="{BB962C8B-B14F-4D97-AF65-F5344CB8AC3E}">
        <p14:creationId xmlns:p14="http://schemas.microsoft.com/office/powerpoint/2010/main" val="2097434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BI 3802876 will selectively target FAP+ hepatic stellate cells for apoptosis. Activated hepatic stellate cells (</a:t>
            </a:r>
            <a:r>
              <a:rPr lang="en-US" altLang="zh-CN" dirty="0" err="1"/>
              <a:t>aHSC</a:t>
            </a:r>
            <a:r>
              <a:rPr lang="en-US" altLang="zh-CN" dirty="0"/>
              <a:t>) are considered as the main drivers of liver fibrosis. It is now known that </a:t>
            </a:r>
            <a:r>
              <a:rPr lang="en-US" altLang="zh-CN" dirty="0" err="1"/>
              <a:t>aHSC’s</a:t>
            </a:r>
            <a:r>
              <a:rPr lang="en-US" altLang="zh-CN" dirty="0"/>
              <a:t> express </a:t>
            </a:r>
            <a:r>
              <a:rPr lang="en-US" altLang="zh-CN" b="1" dirty="0"/>
              <a:t>Fibroblast activation protein (FAP) </a:t>
            </a:r>
            <a:r>
              <a:rPr lang="en-US" altLang="zh-CN" dirty="0"/>
              <a:t>and TRAILR2 receptors on their cell surface and the number of cells expressing these proteins correlates with histological severity of liver fibrosis in NASH patients as well as in other </a:t>
            </a:r>
            <a:r>
              <a:rPr lang="en-US" altLang="zh-CN" dirty="0" err="1"/>
              <a:t>aetiologies</a:t>
            </a:r>
            <a:r>
              <a:rPr lang="en-US" altLang="zh-CN" dirty="0"/>
              <a:t>, including Hepatitis C and Alcoholic Liver disease.</a:t>
            </a:r>
          </a:p>
          <a:p>
            <a:r>
              <a:rPr lang="zh-CN" altLang="en-US" dirty="0"/>
              <a:t>可以特异性地靶向活化的星状细胞以用双特异性抗体诱导凋亡。通过通过</a:t>
            </a:r>
            <a:r>
              <a:rPr lang="en-US" altLang="zh-CN" dirty="0"/>
              <a:t>FAP</a:t>
            </a:r>
            <a:r>
              <a:rPr lang="zh-CN" altLang="en-US" dirty="0"/>
              <a:t>锚定</a:t>
            </a:r>
            <a:r>
              <a:rPr lang="en-US" altLang="zh-CN" dirty="0"/>
              <a:t>BI 3802876</a:t>
            </a:r>
            <a:r>
              <a:rPr lang="zh-CN" altLang="en-US" dirty="0"/>
              <a:t>，该双特异性抗体通过</a:t>
            </a:r>
            <a:r>
              <a:rPr lang="en-US" altLang="zh-CN" dirty="0"/>
              <a:t>TRAILR2</a:t>
            </a:r>
            <a:r>
              <a:rPr lang="zh-CN" altLang="en-US" dirty="0"/>
              <a:t>受体诱导活化星状细胞的凋亡，从而预防纤维化的进展，随后纤维化的潜在逆转</a:t>
            </a:r>
            <a:endParaRPr lang="en-US" altLang="zh-CN" dirty="0"/>
          </a:p>
          <a:p>
            <a:r>
              <a:rPr lang="en-US" altLang="zh-CN" dirty="0"/>
              <a:t>TRAILR2 TNF</a:t>
            </a:r>
            <a:r>
              <a:rPr lang="zh-CN" altLang="en-US" dirty="0"/>
              <a:t>相关凋亡诱导配体受体</a:t>
            </a:r>
            <a:r>
              <a:rPr lang="en-US" altLang="zh-CN" dirty="0"/>
              <a:t>2</a:t>
            </a:r>
            <a:r>
              <a:rPr lang="zh-CN" altLang="en-US" dirty="0"/>
              <a:t>（</a:t>
            </a:r>
            <a:r>
              <a:rPr lang="en-US" altLang="zh-CN" dirty="0"/>
              <a:t>TRAILR2</a:t>
            </a:r>
            <a:r>
              <a:rPr lang="zh-CN" altLang="en-US"/>
              <a:t>）</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676DAE-78EC-4251-9A44-1BEF7D6190F3}"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17784722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16599B-BB8B-4DE1-98D3-F5DC5B11E88E}" type="slidenum">
              <a:rPr lang="zh-CN" altLang="en-US" smtClean="0"/>
              <a:t>6</a:t>
            </a:fld>
            <a:endParaRPr lang="zh-CN" altLang="en-US"/>
          </a:p>
        </p:txBody>
      </p:sp>
    </p:spTree>
    <p:extLst>
      <p:ext uri="{BB962C8B-B14F-4D97-AF65-F5344CB8AC3E}">
        <p14:creationId xmlns:p14="http://schemas.microsoft.com/office/powerpoint/2010/main" val="3710667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7C32-012A-7E94-DCFA-12380EECCB0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219173-49E6-3FF4-B15C-4E5B058C01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038D7A3-F571-6A90-12BE-F2126DA4C864}"/>
              </a:ext>
            </a:extLst>
          </p:cNvPr>
          <p:cNvSpPr>
            <a:spLocks noGrp="1"/>
          </p:cNvSpPr>
          <p:nvPr>
            <p:ph type="body" idx="1"/>
          </p:nvPr>
        </p:nvSpPr>
        <p:spPr/>
        <p:txBody>
          <a:bodyPr/>
          <a:lstStyle/>
          <a:p>
            <a:r>
              <a:rPr lang="en-US" altLang="zh-CN"/>
              <a:t>CDE </a:t>
            </a:r>
            <a:r>
              <a:rPr lang="zh-CN" altLang="en-US"/>
              <a:t>同意</a:t>
            </a:r>
            <a:r>
              <a:rPr lang="en-US" altLang="zh-CN"/>
              <a:t>backloading: </a:t>
            </a:r>
            <a:r>
              <a:rPr lang="zh-CN" altLang="en-US"/>
              <a:t>参考</a:t>
            </a:r>
            <a:r>
              <a:rPr lang="en-US" altLang="zh-CN"/>
              <a:t>PMDA</a:t>
            </a:r>
            <a:r>
              <a:rPr lang="zh-CN" altLang="en-US"/>
              <a:t>对日本的要求</a:t>
            </a:r>
            <a:endParaRPr lang="en-US" altLang="zh-CN"/>
          </a:p>
          <a:p>
            <a:r>
              <a:rPr lang="en-US" altLang="zh-CN"/>
              <a:t>CDE</a:t>
            </a:r>
            <a:r>
              <a:rPr lang="zh-CN" altLang="en-US"/>
              <a:t>不同意</a:t>
            </a:r>
            <a:r>
              <a:rPr lang="en-US" altLang="zh-CN"/>
              <a:t>backloading</a:t>
            </a:r>
            <a:r>
              <a:rPr lang="zh-CN" altLang="en-US"/>
              <a:t>：中国最大的不确定是</a:t>
            </a:r>
            <a:r>
              <a:rPr lang="en-US" altLang="zh-CN"/>
              <a:t>skip low dose</a:t>
            </a:r>
            <a:endParaRPr lang="zh-CN" altLang="en-US"/>
          </a:p>
        </p:txBody>
      </p:sp>
      <p:sp>
        <p:nvSpPr>
          <p:cNvPr id="4" name="灯片编号占位符 3">
            <a:extLst>
              <a:ext uri="{FF2B5EF4-FFF2-40B4-BE49-F238E27FC236}">
                <a16:creationId xmlns:a16="http://schemas.microsoft.com/office/drawing/2014/main" id="{5A1EDC45-582D-6468-7BCE-24B667CA4E2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8A1DBA-B806-4352-9987-07994145F18A}"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12997567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7C32-012A-7E94-DCFA-12380EECCB0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219173-49E6-3FF4-B15C-4E5B058C01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038D7A3-F571-6A90-12BE-F2126DA4C864}"/>
              </a:ext>
            </a:extLst>
          </p:cNvPr>
          <p:cNvSpPr>
            <a:spLocks noGrp="1"/>
          </p:cNvSpPr>
          <p:nvPr>
            <p:ph type="body" idx="1"/>
          </p:nvPr>
        </p:nvSpPr>
        <p:spPr/>
        <p:txBody>
          <a:bodyPr/>
          <a:lstStyle/>
          <a:p>
            <a:r>
              <a:rPr lang="en-US" altLang="zh-CN" dirty="0"/>
              <a:t>CDE </a:t>
            </a:r>
            <a:r>
              <a:rPr lang="zh-CN" altLang="en-US" dirty="0"/>
              <a:t>同意</a:t>
            </a:r>
            <a:r>
              <a:rPr lang="en-US" altLang="zh-CN" dirty="0"/>
              <a:t>backloading: </a:t>
            </a:r>
            <a:r>
              <a:rPr lang="zh-CN" altLang="en-US" dirty="0"/>
              <a:t>参考</a:t>
            </a:r>
            <a:r>
              <a:rPr lang="en-US" altLang="zh-CN" dirty="0"/>
              <a:t>PMDA</a:t>
            </a:r>
            <a:r>
              <a:rPr lang="zh-CN" altLang="en-US" dirty="0"/>
              <a:t>对日本的要求</a:t>
            </a:r>
            <a:endParaRPr lang="en-US" altLang="zh-CN" dirty="0"/>
          </a:p>
          <a:p>
            <a:r>
              <a:rPr lang="en-US" altLang="zh-CN" dirty="0"/>
              <a:t>CDE</a:t>
            </a:r>
            <a:r>
              <a:rPr lang="zh-CN" altLang="en-US" dirty="0"/>
              <a:t>不同意</a:t>
            </a:r>
            <a:r>
              <a:rPr lang="en-US" altLang="zh-CN" dirty="0"/>
              <a:t>backloading</a:t>
            </a:r>
            <a:r>
              <a:rPr lang="zh-CN" altLang="en-US" dirty="0"/>
              <a:t>：中国最大的不确定是</a:t>
            </a:r>
            <a:r>
              <a:rPr lang="en-US" altLang="zh-CN" dirty="0"/>
              <a:t>skip low dose</a:t>
            </a:r>
            <a:endParaRPr lang="zh-CN" altLang="en-US" dirty="0"/>
          </a:p>
        </p:txBody>
      </p:sp>
      <p:sp>
        <p:nvSpPr>
          <p:cNvPr id="4" name="灯片编号占位符 3">
            <a:extLst>
              <a:ext uri="{FF2B5EF4-FFF2-40B4-BE49-F238E27FC236}">
                <a16:creationId xmlns:a16="http://schemas.microsoft.com/office/drawing/2014/main" id="{5A1EDC45-582D-6468-7BCE-24B667CA4E2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8A1DBA-B806-4352-9987-07994145F18A}"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1299756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8A1DBA-B806-4352-9987-07994145F18A}"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40615890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BB7B3-3A89-4852-780E-087F97DC2E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E4E105-1F9D-AA6A-9A45-5C422922243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E3811F-1C0D-A3B5-0C32-6A2CDA38288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1036FB6-F414-2424-A3EF-51A0B6EBF55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8A1DBA-B806-4352-9987-07994145F18A}"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23767644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1384E-B879-0012-B4EF-46B6C018EEB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EAA17D0-7DB9-03F4-331A-2AD361E88B5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9FDC024-0FD6-D816-7346-2B679BE838A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BF81539-7E51-7C2B-96F1-247698A9082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8A1DBA-B806-4352-9987-07994145F18A}"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30277207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13.sv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16.svg"/><Relationship Id="rId4" Type="http://schemas.openxmlformats.org/officeDocument/2006/relationships/image" Target="../media/image1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13.sv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13.svg"/><Relationship Id="rId4" Type="http://schemas.openxmlformats.org/officeDocument/2006/relationships/image" Target="../media/image4.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18.svg"/><Relationship Id="rId4" Type="http://schemas.openxmlformats.org/officeDocument/2006/relationships/image" Target="../media/image4.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13.svg"/><Relationship Id="rId4"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1.png"/><Relationship Id="rId1" Type="http://schemas.openxmlformats.org/officeDocument/2006/relationships/slideMaster" Target="../slideMasters/slideMaster2.xml"/><Relationship Id="rId5" Type="http://schemas.openxmlformats.org/officeDocument/2006/relationships/image" Target="../media/image16.svg"/><Relationship Id="rId4" Type="http://schemas.openxmlformats.org/officeDocument/2006/relationships/image" Target="../media/image15.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13.svg"/><Relationship Id="rId4" Type="http://schemas.openxmlformats.org/officeDocument/2006/relationships/image" Target="../media/image4.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png"/><Relationship Id="rId1" Type="http://schemas.openxmlformats.org/officeDocument/2006/relationships/slideMaster" Target="../slideMasters/slideMaster3.xml"/><Relationship Id="rId5" Type="http://schemas.openxmlformats.org/officeDocument/2006/relationships/image" Target="../media/image18.svg"/><Relationship Id="rId4" Type="http://schemas.openxmlformats.org/officeDocument/2006/relationships/image" Target="../media/image4.png"/></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1.png"/><Relationship Id="rId1" Type="http://schemas.openxmlformats.org/officeDocument/2006/relationships/slideMaster" Target="../slideMasters/slideMaster3.xml"/><Relationship Id="rId5" Type="http://schemas.openxmlformats.org/officeDocument/2006/relationships/image" Target="../media/image16.svg"/><Relationship Id="rId4" Type="http://schemas.openxmlformats.org/officeDocument/2006/relationships/image" Target="../media/image15.png"/></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18.svg"/><Relationship Id="rId4" Type="http://schemas.openxmlformats.org/officeDocument/2006/relationships/image" Target="../media/image4.png"/></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13.svg"/><Relationship Id="rId4" Type="http://schemas.openxmlformats.org/officeDocument/2006/relationships/image" Target="../media/image4.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18.svg"/><Relationship Id="rId4" Type="http://schemas.openxmlformats.org/officeDocument/2006/relationships/image" Target="../media/image4.png"/></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13.svg"/><Relationship Id="rId4" Type="http://schemas.openxmlformats.org/officeDocument/2006/relationships/image" Target="../media/image4.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18.svg"/><Relationship Id="rId4" Type="http://schemas.openxmlformats.org/officeDocument/2006/relationships/image" Target="../media/image4.png"/></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13.svg"/><Relationship Id="rId4" Type="http://schemas.openxmlformats.org/officeDocument/2006/relationships/image" Target="../media/image4.png"/></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4.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1.png"/><Relationship Id="rId1" Type="http://schemas.openxmlformats.org/officeDocument/2006/relationships/slideMaster" Target="../slideMasters/slideMaster4.xml"/><Relationship Id="rId5" Type="http://schemas.openxmlformats.org/officeDocument/2006/relationships/image" Target="../media/image16.svg"/><Relationship Id="rId4" Type="http://schemas.openxmlformats.org/officeDocument/2006/relationships/image" Target="../media/image15.png"/></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10.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6" Type="http://schemas.openxmlformats.org/officeDocument/2006/relationships/image" Target="../media/image10.png"/><Relationship Id="rId5" Type="http://schemas.openxmlformats.org/officeDocument/2006/relationships/image" Target="../media/image13.svg"/><Relationship Id="rId4" Type="http://schemas.openxmlformats.org/officeDocument/2006/relationships/image" Target="../media/image4.png"/></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0.png"/></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0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0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 Id="rId4" Type="http://schemas.openxmlformats.org/officeDocument/2006/relationships/image" Target="../media/image10.png"/></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0.png"/></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0.png"/></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 Id="rId4" Type="http://schemas.openxmlformats.org/officeDocument/2006/relationships/image" Target="../media/image10.png"/></Relationships>
</file>

<file path=ppt/slideLayouts/_rels/slideLayout20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 Id="rId4" Type="http://schemas.openxmlformats.org/officeDocument/2006/relationships/image" Target="../media/image10.png"/></Relationships>
</file>

<file path=ppt/slideLayouts/_rels/slideLayout20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 Id="rId4" Type="http://schemas.openxmlformats.org/officeDocument/2006/relationships/image" Target="../media/image10.png"/></Relationships>
</file>

<file path=ppt/slideLayouts/_rels/slideLayout2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 Id="rId4" Type="http://schemas.openxmlformats.org/officeDocument/2006/relationships/image" Target="../media/image10.png"/></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 Id="rId4" Type="http://schemas.openxmlformats.org/officeDocument/2006/relationships/image" Target="../media/image10.png"/></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0.png"/></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5.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2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10.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21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6" Type="http://schemas.openxmlformats.org/officeDocument/2006/relationships/image" Target="../media/image10.png"/><Relationship Id="rId5" Type="http://schemas.openxmlformats.org/officeDocument/2006/relationships/image" Target="../media/image13.svg"/><Relationship Id="rId4" Type="http://schemas.openxmlformats.org/officeDocument/2006/relationships/image" Target="../media/image4.png"/></Relationships>
</file>

<file path=ppt/slideLayouts/_rels/slideLayout22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1.png"/><Relationship Id="rId1" Type="http://schemas.openxmlformats.org/officeDocument/2006/relationships/slideMaster" Target="../slideMasters/slideMaster5.xml"/><Relationship Id="rId5" Type="http://schemas.openxmlformats.org/officeDocument/2006/relationships/image" Target="../media/image16.svg"/><Relationship Id="rId4" Type="http://schemas.openxmlformats.org/officeDocument/2006/relationships/image" Target="../media/image15.png"/></Relationships>
</file>

<file path=ppt/slideLayouts/_rels/slideLayout2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2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10.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22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6" Type="http://schemas.openxmlformats.org/officeDocument/2006/relationships/image" Target="../media/image10.png"/><Relationship Id="rId5" Type="http://schemas.openxmlformats.org/officeDocument/2006/relationships/image" Target="../media/image13.svg"/><Relationship Id="rId4" Type="http://schemas.openxmlformats.org/officeDocument/2006/relationships/image" Target="../media/image4.png"/></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22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23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2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2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24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4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4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4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4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4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4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4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4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5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5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5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5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25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10.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26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6" Type="http://schemas.openxmlformats.org/officeDocument/2006/relationships/image" Target="../media/image10.png"/><Relationship Id="rId5" Type="http://schemas.openxmlformats.org/officeDocument/2006/relationships/image" Target="../media/image13.svg"/><Relationship Id="rId4" Type="http://schemas.openxmlformats.org/officeDocument/2006/relationships/image" Target="../media/image4.png"/></Relationships>
</file>

<file path=ppt/slideLayouts/_rels/slideLayout26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6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6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6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6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6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png"/><Relationship Id="rId1" Type="http://schemas.openxmlformats.org/officeDocument/2006/relationships/slideMaster" Target="../slideMasters/slideMaster5.xml"/><Relationship Id="rId5" Type="http://schemas.openxmlformats.org/officeDocument/2006/relationships/image" Target="../media/image18.svg"/><Relationship Id="rId4" Type="http://schemas.openxmlformats.org/officeDocument/2006/relationships/image" Target="../media/image4.png"/></Relationships>
</file>

<file path=ppt/slideLayouts/_rels/slideLayout27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27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10.png"/><Relationship Id="rId5" Type="http://schemas.openxmlformats.org/officeDocument/2006/relationships/image" Target="../media/image18.svg"/><Relationship Id="rId4" Type="http://schemas.openxmlformats.org/officeDocument/2006/relationships/image" Target="../media/image4.png"/></Relationships>
</file>

<file path=ppt/slideLayouts/_rels/slideLayout27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5.xml"/><Relationship Id="rId6" Type="http://schemas.openxmlformats.org/officeDocument/2006/relationships/image" Target="../media/image10.png"/><Relationship Id="rId5" Type="http://schemas.openxmlformats.org/officeDocument/2006/relationships/image" Target="../media/image13.svg"/><Relationship Id="rId4" Type="http://schemas.openxmlformats.org/officeDocument/2006/relationships/image" Target="../media/image4.png"/></Relationships>
</file>

<file path=ppt/slideLayouts/_rels/slideLayout27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27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27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7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27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7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27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8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8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8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8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8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8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8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8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252825587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9888487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3017147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4743433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93717511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10126128"/>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3270958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64085342"/>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391281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620798519"/>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2285167033"/>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287435180"/>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82708421"/>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7932442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326876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26463450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405079778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812542275"/>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084771135"/>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031668603"/>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784980259"/>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070819159"/>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4977949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1328833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6973910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287758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1243228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30408190"/>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92768406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7007889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903553739"/>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437814701"/>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9247125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0619279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51287379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105341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020826392"/>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135199493"/>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5036504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28285708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71528732"/>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2597488424"/>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25633515"/>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78588772"/>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21769739"/>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84277068"/>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8230105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25912735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67058978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40516537"/>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790909544"/>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3D428F3A-D733-8B67-32B3-983F97D55E36}"/>
              </a:ext>
            </a:extLst>
          </p:cNvPr>
          <p:cNvSpPr>
            <a:spLocks noGrp="1"/>
          </p:cNvSpPr>
          <p:nvPr>
            <p:ph type="ftr" sz="quarter" idx="10"/>
          </p:nvPr>
        </p:nvSpPr>
        <p:spPr/>
        <p:txBody>
          <a:bodyPr/>
          <a:lstStyle/>
          <a:p>
            <a:r>
              <a:rPr lang="en-US"/>
              <a:t>Presentation title    |    ONLY FOR INTERNAL USE</a:t>
            </a:r>
          </a:p>
        </p:txBody>
      </p:sp>
      <p:sp>
        <p:nvSpPr>
          <p:cNvPr id="3" name="灯片编号占位符 2">
            <a:extLst>
              <a:ext uri="{FF2B5EF4-FFF2-40B4-BE49-F238E27FC236}">
                <a16:creationId xmlns:a16="http://schemas.microsoft.com/office/drawing/2014/main" id="{11AB6B05-0426-0515-46E9-30F37ACE87C0}"/>
              </a:ext>
            </a:extLst>
          </p:cNvPr>
          <p:cNvSpPr>
            <a:spLocks noGrp="1"/>
          </p:cNvSpPr>
          <p:nvPr>
            <p:ph type="sldNum" sz="quarter" idx="11"/>
          </p:nvPr>
        </p:nvSpPr>
        <p:spPr/>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66770466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CF9AB5-BE2F-FE3B-DEFF-5DFE70D64B5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E122F61-45E9-3571-CF37-F5E2F79A2838}"/>
              </a:ext>
            </a:extLst>
          </p:cNvPr>
          <p:cNvSpPr>
            <a:spLocks noGrp="1"/>
          </p:cNvSpPr>
          <p:nvPr>
            <p:ph type="dt" sz="half" idx="10"/>
          </p:nvPr>
        </p:nvSpPr>
        <p:spPr/>
        <p:txBody>
          <a:bodyPr/>
          <a:lstStyle/>
          <a:p>
            <a:fld id="{B2D0DF0C-1724-4D7F-B79B-1956A41AA1E8}" type="datetimeFigureOut">
              <a:rPr lang="zh-CN" altLang="en-US" smtClean="0"/>
              <a:t>2025/12/14</a:t>
            </a:fld>
            <a:endParaRPr lang="zh-CN" altLang="en-US"/>
          </a:p>
        </p:txBody>
      </p:sp>
      <p:sp>
        <p:nvSpPr>
          <p:cNvPr id="4" name="页脚占位符 3">
            <a:extLst>
              <a:ext uri="{FF2B5EF4-FFF2-40B4-BE49-F238E27FC236}">
                <a16:creationId xmlns:a16="http://schemas.microsoft.com/office/drawing/2014/main" id="{05AB7395-3B93-4731-6233-E5EC084C176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4B044BF-0261-6C18-DBA9-32DF8927BBAB}"/>
              </a:ext>
            </a:extLst>
          </p:cNvPr>
          <p:cNvSpPr>
            <a:spLocks noGrp="1"/>
          </p:cNvSpPr>
          <p:nvPr>
            <p:ph type="sldNum" sz="quarter" idx="12"/>
          </p:nvPr>
        </p:nvSpPr>
        <p:spPr/>
        <p:txBody>
          <a:bodyPr/>
          <a:lstStyle/>
          <a:p>
            <a:fld id="{8EEEBC61-59EE-4F34-A7D1-3D14A70EB880}" type="slidenum">
              <a:rPr lang="zh-CN" altLang="en-US" smtClean="0"/>
              <a:t>‹#›</a:t>
            </a:fld>
            <a:endParaRPr lang="zh-CN" altLang="en-US"/>
          </a:p>
        </p:txBody>
      </p:sp>
    </p:spTree>
    <p:extLst>
      <p:ext uri="{BB962C8B-B14F-4D97-AF65-F5344CB8AC3E}">
        <p14:creationId xmlns:p14="http://schemas.microsoft.com/office/powerpoint/2010/main" val="356141575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4281588863"/>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80110646"/>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3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70266954"/>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50031094"/>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5954017"/>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661258174"/>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24852114"/>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44301132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077130593"/>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510490671"/>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3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3258262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732490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2474979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3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510054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35267606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3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83167049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51218602"/>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3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342001497"/>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61223320"/>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91635" y="274320"/>
            <a:ext cx="9217149" cy="630936"/>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ONLY FOR INTERNAL USE</a:t>
            </a:r>
          </a:p>
        </p:txBody>
      </p:sp>
      <p:sp>
        <p:nvSpPr>
          <p:cNvPr id="6" name="Foliennummernplatzhalter 4">
            <a:extLst>
              <a:ext uri="{FF2B5EF4-FFF2-40B4-BE49-F238E27FC236}">
                <a16:creationId xmlns:a16="http://schemas.microsoft.com/office/drawing/2014/main" id="{58D61E7A-4875-7711-5427-5F0C7A1521E5}"/>
              </a:ext>
            </a:extLst>
          </p:cNvPr>
          <p:cNvSpPr>
            <a:spLocks noGrp="1"/>
          </p:cNvSpPr>
          <p:nvPr>
            <p:ph type="sldNum" sz="quarter" idx="20"/>
          </p:nvPr>
        </p:nvSpPr>
        <p:spPr bwMode="gray">
          <a:xfrm>
            <a:off x="11860870" y="6510269"/>
            <a:ext cx="288000" cy="288000"/>
          </a:xfrm>
        </p:spPr>
        <p:txBody>
          <a:bodyPr/>
          <a:lstStyle>
            <a:lvl1pPr>
              <a:defRPr sz="900">
                <a:solidFill>
                  <a:schemeClr val="tx1"/>
                </a:solidFill>
              </a:defRPr>
            </a:lvl1pPr>
          </a:lstStyle>
          <a:p>
            <a:fld id="{DF4E8F9F-5B1F-4F5B-BE49-3245D8C18D9F}" type="slidenum">
              <a:rPr lang="en-US" smtClean="0"/>
              <a:pPr/>
              <a:t>‹#›</a:t>
            </a:fld>
            <a:endParaRPr lang="en-US"/>
          </a:p>
        </p:txBody>
      </p:sp>
    </p:spTree>
    <p:extLst>
      <p:ext uri="{BB962C8B-B14F-4D97-AF65-F5344CB8AC3E}">
        <p14:creationId xmlns:p14="http://schemas.microsoft.com/office/powerpoint/2010/main" val="175477133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Title and Content - IQVIA">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4694" y="1286359"/>
            <a:ext cx="11338560" cy="4994125"/>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13" name="Title 1"/>
          <p:cNvSpPr>
            <a:spLocks noGrp="1"/>
          </p:cNvSpPr>
          <p:nvPr>
            <p:ph type="title" hasCustomPrompt="1"/>
          </p:nvPr>
        </p:nvSpPr>
        <p:spPr>
          <a:xfrm>
            <a:off x="384694" y="294468"/>
            <a:ext cx="11338560" cy="768263"/>
          </a:xfrm>
          <a:prstGeom prst="rect">
            <a:avLst/>
          </a:prstGeom>
        </p:spPr>
        <p:txBody>
          <a:bodyPr anchor="b" anchorCtr="0"/>
          <a:lstStyle>
            <a:lvl1pPr>
              <a:defRPr sz="2800" b="1">
                <a:solidFill>
                  <a:schemeClr val="tx1"/>
                </a:solidFill>
              </a:defRPr>
            </a:lvl1pPr>
          </a:lstStyle>
          <a:p>
            <a:r>
              <a:rPr lang="en-US"/>
              <a:t>Headlines are 28pt Arial Bold sentence case</a:t>
            </a:r>
          </a:p>
        </p:txBody>
      </p:sp>
      <p:sp>
        <p:nvSpPr>
          <p:cNvPr id="54" name="Footer Placeholder 4">
            <a:extLst>
              <a:ext uri="{FF2B5EF4-FFF2-40B4-BE49-F238E27FC236}">
                <a16:creationId xmlns:a16="http://schemas.microsoft.com/office/drawing/2014/main" id="{7088911A-0046-5847-8D5E-667B718ECD3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30" name="Slide Number Placeholder 5">
            <a:extLst>
              <a:ext uri="{FF2B5EF4-FFF2-40B4-BE49-F238E27FC236}">
                <a16:creationId xmlns:a16="http://schemas.microsoft.com/office/drawing/2014/main" id="{FCFC63C0-5262-4767-9F93-DEDAECE24DB7}"/>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pic>
        <p:nvPicPr>
          <p:cNvPr id="10" name="Graphic 9">
            <a:extLst>
              <a:ext uri="{FF2B5EF4-FFF2-40B4-BE49-F238E27FC236}">
                <a16:creationId xmlns:a16="http://schemas.microsoft.com/office/drawing/2014/main" id="{DB41C48F-5C1D-DE41-93AD-B4E269C3B3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26770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795452053"/>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2606637344"/>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95620189"/>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78739274"/>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50252247"/>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ltLang="zh-CN"/>
              <a:t>TA-CEC Presentation Template </a:t>
            </a:r>
            <a:r>
              <a:rPr lang="en-US"/>
              <a:t>|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06341466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ltLang="zh-CN"/>
              <a:t>TA-CEC Presentation Template </a:t>
            </a:r>
            <a:r>
              <a:rPr lang="en-US"/>
              <a:t>|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223279266"/>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ltLang="zh-CN"/>
              <a:t>TA-CEC Presentation Template </a:t>
            </a:r>
            <a:r>
              <a:rPr lang="en-US"/>
              <a:t> |    ONLY FOR INTERNAL USE</a:t>
            </a:r>
          </a:p>
        </p:txBody>
      </p:sp>
    </p:spTree>
    <p:extLst>
      <p:ext uri="{BB962C8B-B14F-4D97-AF65-F5344CB8AC3E}">
        <p14:creationId xmlns:p14="http://schemas.microsoft.com/office/powerpoint/2010/main" val="1201015292"/>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ltLang="zh-CN"/>
              <a:t>TA-CEC Presentation Template</a:t>
            </a:r>
            <a:r>
              <a:rPr lang="en-US"/>
              <a:t>    |    ONLY FOR INTERNAL USE</a:t>
            </a:r>
          </a:p>
        </p:txBody>
      </p:sp>
    </p:spTree>
    <p:extLst>
      <p:ext uri="{BB962C8B-B14F-4D97-AF65-F5344CB8AC3E}">
        <p14:creationId xmlns:p14="http://schemas.microsoft.com/office/powerpoint/2010/main" val="472317506"/>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ltLang="zh-CN"/>
              <a:t>TA-CEC Presentation Template </a:t>
            </a:r>
            <a:r>
              <a:rPr lang="en-US"/>
              <a:t>|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94858542"/>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ltLang="zh-CN"/>
              <a:t>TA-CEC Presentation Template</a:t>
            </a:r>
            <a:r>
              <a:rPr lang="en-US"/>
              <a:t>|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63735617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5">
            <a:extLst>
              <a:ext uri="{FF2B5EF4-FFF2-40B4-BE49-F238E27FC236}">
                <a16:creationId xmlns:a16="http://schemas.microsoft.com/office/drawing/2014/main" id="{B552526D-6691-56E1-0563-788677EB2275}"/>
              </a:ext>
            </a:extLst>
          </p:cNvPr>
          <p:cNvSpPr>
            <a:spLocks noGrp="1"/>
          </p:cNvSpPr>
          <p:nvPr>
            <p:ph type="ftr" sz="quarter" idx="16"/>
          </p:nvPr>
        </p:nvSpPr>
        <p:spPr bwMode="gray">
          <a:xfrm>
            <a:off x="6312024" y="6246836"/>
            <a:ext cx="5040560" cy="288000"/>
          </a:xfrm>
        </p:spPr>
        <p:txBody>
          <a:bodyPr/>
          <a:lstStyle>
            <a:lvl1pPr>
              <a:defRPr>
                <a:solidFill>
                  <a:schemeClr val="bg1"/>
                </a:solidFill>
              </a:defRPr>
            </a:lvl1pPr>
          </a:lstStyle>
          <a:p>
            <a:r>
              <a:rPr lang="en-US" altLang="zh-CN"/>
              <a:t>TA-CEC Presentation Template </a:t>
            </a:r>
            <a:r>
              <a:rPr lang="en-US"/>
              <a:t>|    ONLY FOR INTERNAL USE</a:t>
            </a:r>
          </a:p>
        </p:txBody>
      </p:sp>
    </p:spTree>
    <p:extLst>
      <p:ext uri="{BB962C8B-B14F-4D97-AF65-F5344CB8AC3E}">
        <p14:creationId xmlns:p14="http://schemas.microsoft.com/office/powerpoint/2010/main" val="262219720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ltLang="zh-CN"/>
              <a:t>TA-CEC Presentation Template</a:t>
            </a:r>
            <a:r>
              <a:rPr lang="en-US"/>
              <a:t>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568301156"/>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ltLang="zh-CN"/>
              <a:t>TA-CEC Presentation Template </a:t>
            </a:r>
            <a:r>
              <a:rPr lang="en-US"/>
              <a:t>|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54395273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ltLang="zh-CN"/>
              <a:t>TA-CEC Presentation Template </a:t>
            </a:r>
            <a:r>
              <a:rPr lang="en-US"/>
              <a:t>|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839097389"/>
      </p:ext>
    </p:extLst>
  </p:cSld>
  <p:clrMapOvr>
    <a:masterClrMapping/>
  </p:clrMapOvr>
  <p:extLst>
    <p:ext uri="{DCECCB84-F9BA-43D5-87BE-67443E8EF086}">
      <p15:sldGuideLst xmlns:p15="http://schemas.microsoft.com/office/powerpoint/2012/main"/>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ltLang="zh-CN"/>
              <a:t>TA-CEC Presentation Template </a:t>
            </a:r>
            <a:r>
              <a:rPr lang="en-US"/>
              <a:t>|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274717767"/>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ltLang="zh-CN"/>
              <a:t>TA-CEC Presentation Template </a:t>
            </a:r>
            <a:r>
              <a:rPr lang="en-US"/>
              <a:t>|    ONLY FOR INTERNAL USE</a:t>
            </a:r>
          </a:p>
        </p:txBody>
      </p:sp>
    </p:spTree>
    <p:extLst>
      <p:ext uri="{BB962C8B-B14F-4D97-AF65-F5344CB8AC3E}">
        <p14:creationId xmlns:p14="http://schemas.microsoft.com/office/powerpoint/2010/main" val="1624038250"/>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019049448"/>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59584167"/>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9912154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8476929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1271469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6920158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3198757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16006558"/>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69388063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15670478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042189796"/>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64353728"/>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18265539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2977721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54321550"/>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1944244166"/>
      </p:ext>
    </p:extLst>
  </p:cSld>
  <p:clrMapOvr>
    <a:masterClrMapping/>
  </p:clrMapOvr>
  <p:extLst>
    <p:ext uri="{DCECCB84-F9BA-43D5-87BE-67443E8EF086}">
      <p15:sldGuideLst xmlns:p15="http://schemas.microsoft.com/office/powerpoint/2012/main"/>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AD1C50B-E8A2-4BF1-8E49-B64B7009FA23}" type="datetime1">
              <a:rPr lang="en-GB" noProof="0" smtClean="0"/>
              <a:t>14/12/2025</a:t>
            </a:fld>
            <a:endParaRPr lang="en-GB" noProof="0"/>
          </a:p>
        </p:txBody>
      </p:sp>
      <p:sp>
        <p:nvSpPr>
          <p:cNvPr id="3" name="Fußzeilenplatzhalter 2"/>
          <p:cNvSpPr>
            <a:spLocks noGrp="1"/>
          </p:cNvSpPr>
          <p:nvPr>
            <p:ph type="ftr" sz="quarter" idx="11"/>
          </p:nvPr>
        </p:nvSpPr>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553398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BI 3802876-CEC meeting 8th April 2025 / For internal use only</a:t>
            </a:r>
          </a:p>
        </p:txBody>
      </p:sp>
    </p:spTree>
    <p:extLst>
      <p:ext uri="{BB962C8B-B14F-4D97-AF65-F5344CB8AC3E}">
        <p14:creationId xmlns:p14="http://schemas.microsoft.com/office/powerpoint/2010/main" val="3615457250"/>
      </p:ext>
    </p:extLst>
  </p:cSld>
  <p:clrMapOvr>
    <a:masterClrMapping/>
  </p:clrMapOvr>
  <p:extLst>
    <p:ext uri="{DCECCB84-F9BA-43D5-87BE-67443E8EF086}">
      <p15:sldGuideLst xmlns:p15="http://schemas.microsoft.com/office/powerpoint/2012/main"/>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BI 3802876-CEC meeting 8th April 2025 / For internal use only</a:t>
            </a:r>
          </a:p>
        </p:txBody>
      </p:sp>
    </p:spTree>
    <p:extLst>
      <p:ext uri="{BB962C8B-B14F-4D97-AF65-F5344CB8AC3E}">
        <p14:creationId xmlns:p14="http://schemas.microsoft.com/office/powerpoint/2010/main" val="777677856"/>
      </p:ext>
    </p:extLst>
  </p:cSld>
  <p:clrMapOvr>
    <a:masterClrMapping/>
  </p:clrMapOvr>
  <p:extLst>
    <p:ext uri="{DCECCB84-F9BA-43D5-87BE-67443E8EF086}">
      <p15:sldGuideLst xmlns:p15="http://schemas.microsoft.com/office/powerpoint/2012/main"/>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BI 3802876-CEC meeting 8th April 2025 / For internal use only</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47294560"/>
      </p:ext>
    </p:extLst>
  </p:cSld>
  <p:clrMapOvr>
    <a:masterClrMapping/>
  </p:clrMapOvr>
  <p:extLst>
    <p:ext uri="{DCECCB84-F9BA-43D5-87BE-67443E8EF086}">
      <p15:sldGuideLst xmlns:p15="http://schemas.microsoft.com/office/powerpoint/2012/main"/>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BI 3802876-CEC meeting 8th April 2025 / For internal use only</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78261107"/>
      </p:ext>
    </p:extLst>
  </p:cSld>
  <p:clrMapOvr>
    <a:masterClrMapping/>
  </p:clrMapOvr>
  <p:extLst>
    <p:ext uri="{DCECCB84-F9BA-43D5-87BE-67443E8EF086}">
      <p15:sldGuideLst xmlns:p15="http://schemas.microsoft.com/office/powerpoint/2012/main"/>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BI 3802876-CEC meeting 8th April 2025 / For internal use only</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96631834"/>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BI 3802876-CEC meeting 8th April 2025 / For internal use only</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89568428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BI 3802876-CEC meeting 8th April 2025 / For internal use only</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925320426"/>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BI 3802876-CEC meeting 8th April 2025 / For internal use only</a:t>
            </a:r>
          </a:p>
        </p:txBody>
      </p:sp>
    </p:spTree>
    <p:extLst>
      <p:ext uri="{BB962C8B-B14F-4D97-AF65-F5344CB8AC3E}">
        <p14:creationId xmlns:p14="http://schemas.microsoft.com/office/powerpoint/2010/main" val="1736827099"/>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BI 3802876-CEC meeting 8th April 2025 / For internal use only</a:t>
            </a:r>
          </a:p>
        </p:txBody>
      </p:sp>
    </p:spTree>
    <p:extLst>
      <p:ext uri="{BB962C8B-B14F-4D97-AF65-F5344CB8AC3E}">
        <p14:creationId xmlns:p14="http://schemas.microsoft.com/office/powerpoint/2010/main" val="2236773897"/>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BI 3802876-CEC meeting 8th April 2025 / For internal use only</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59374304"/>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BI 3802876-CEC meeting 8th April 2025 / For internal use only</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061667928"/>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BI 3802876-CEC meeting 8th April 2025 / For internal use only</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60356993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BI 3802876-CEC meeting 8th April 2025 / For internal use only</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01655276"/>
      </p:ext>
    </p:extLst>
  </p:cSld>
  <p:clrMapOvr>
    <a:masterClrMapping/>
  </p:clrMapOvr>
  <p:extLst>
    <p:ext uri="{DCECCB84-F9BA-43D5-87BE-67443E8EF086}">
      <p15:sldGuideLst xmlns:p15="http://schemas.microsoft.com/office/powerpoint/2012/main"/>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BI 3802876-CEC meeting 8th April 2025 / For internal use only</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69612749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BI 3802876-CEC meeting 8th April 2025 / For internal use only</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537598308"/>
      </p:ext>
    </p:extLst>
  </p:cSld>
  <p:clrMapOvr>
    <a:masterClrMapping/>
  </p:clrMapOvr>
  <p:extLst>
    <p:ext uri="{DCECCB84-F9BA-43D5-87BE-67443E8EF086}">
      <p15:sldGuideLst xmlns:p15="http://schemas.microsoft.com/office/powerpoint/2012/main"/>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BI 3802876-CEC meeting 8th April 2025 / For internal use only</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570265980"/>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842519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842519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9188819" y="0"/>
            <a:ext cx="3003181"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9410212" y="476670"/>
            <a:ext cx="2447959"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570171"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9410212" y="6246836"/>
            <a:ext cx="2087951" cy="288000"/>
          </a:xfrm>
        </p:spPr>
        <p:txBody>
          <a:bodyPr/>
          <a:lstStyle>
            <a:lvl1pPr>
              <a:defRPr>
                <a:solidFill>
                  <a:schemeClr val="bg1"/>
                </a:solidFill>
              </a:defRPr>
            </a:lvl1pPr>
          </a:lstStyle>
          <a:p>
            <a:r>
              <a:rPr lang="en-US"/>
              <a:t>BI 3802876-CEC meeting 8th April 2025 / For internal use only</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925830966"/>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BI 3802876-CEC meeting 8th April 2025 / For internal use only</a:t>
            </a:r>
          </a:p>
        </p:txBody>
      </p:sp>
    </p:spTree>
    <p:extLst>
      <p:ext uri="{BB962C8B-B14F-4D97-AF65-F5344CB8AC3E}">
        <p14:creationId xmlns:p14="http://schemas.microsoft.com/office/powerpoint/2010/main" val="102877250"/>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BI 3802876-CEC meeting 8th April 2025 / For internal use only</a:t>
            </a:r>
          </a:p>
        </p:txBody>
      </p:sp>
    </p:spTree>
    <p:extLst>
      <p:ext uri="{BB962C8B-B14F-4D97-AF65-F5344CB8AC3E}">
        <p14:creationId xmlns:p14="http://schemas.microsoft.com/office/powerpoint/2010/main" val="1452508240"/>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BI 3802876-CEC meeting 8th April 2025 / For internal use only</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78636695"/>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BI 3802876-CEC meeting 8th April 2025 / For internal use only</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1050968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BI 3802876-CEC meeting 8th April 2025 / For internal use only</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4317321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BI 3802876-CEC meeting 8th April 2025 / For internal use only</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69412334"/>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BI 3802876-CEC meeting 8th April 2025 / For internal use only</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9382859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BI 3802876-CEC meeting 8th April 2025 / For internal use only</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8539635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BI 3802876-CEC meeting 8th April 2025 / For internal use only</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19547064"/>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BI 3802876-CEC meeting 8th April 2025 / For internal use only</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73663773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BI 3802876-CEC meeting 8th April 2025 / For internal use only</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52423223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BI 3802876-CEC meeting 8th April 2025 / For internal use only</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4166882616"/>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BI 3802876-CEC meeting 8th April 2025 / For internal use only</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94129314"/>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BI 3802876-CEC meeting 8th April 2025 / For internal use only</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387290555"/>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BI 3802876-CEC meeting 8th April 2025 / For internal use only</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243432248"/>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BI 3802876-CEC meeting 8th April 2025 / For internal use only</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29567581"/>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BI 3802876-CEC meeting 8th April 2025 / For internal use only</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494714854"/>
      </p:ext>
    </p:extLst>
  </p:cSld>
  <p:clrMapOvr>
    <a:masterClrMapping/>
  </p:clrMapOvr>
  <p:extLst>
    <p:ext uri="{DCECCB84-F9BA-43D5-87BE-67443E8EF086}">
      <p15:sldGuideLst xmlns:p15="http://schemas.microsoft.com/office/powerpoint/2012/main"/>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type="title">
  <p:cSld name="Title page_01">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1" y="2654884"/>
            <a:ext cx="7845825" cy="984885"/>
          </a:xfrm>
        </p:spPr>
        <p:txBody>
          <a:bodyPr wrap="square" lIns="0">
            <a:spAutoFit/>
          </a:bodyPr>
          <a:lstStyle>
            <a:lvl1pPr>
              <a:defRPr sz="64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490100" y="4763671"/>
            <a:ext cx="7845825" cy="606513"/>
          </a:xfrm>
        </p:spPr>
        <p:txBody>
          <a:bodyPr wrap="square">
            <a:spAutoFit/>
          </a:bodyPr>
          <a:lstStyle>
            <a:lvl1pPr marL="0" indent="0" algn="l">
              <a:buNone/>
              <a:defRPr sz="3200" b="0" i="0" baseline="0">
                <a:solidFill>
                  <a:srgbClr val="003366"/>
                </a:solidFill>
                <a:latin typeface="BISansOptiCond"/>
                <a:cs typeface="BISansOptiCond"/>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3400985136"/>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userDrawn="1">
  <p:cSld name="Standard page_04">
    <p:spTree>
      <p:nvGrpSpPr>
        <p:cNvPr id="1" name=""/>
        <p:cNvGrpSpPr/>
        <p:nvPr/>
      </p:nvGrpSpPr>
      <p:grpSpPr>
        <a:xfrm>
          <a:off x="0" y="0"/>
          <a:ext cx="0" cy="0"/>
          <a:chOff x="0" y="0"/>
          <a:chExt cx="0" cy="0"/>
        </a:xfrm>
      </p:grpSpPr>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BI 3802876-CEC meeting 8th April 2025 / For internal use only</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5"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6"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7" name="Inhaltsplatzhalter 6"/>
          <p:cNvSpPr>
            <a:spLocks noGrp="1"/>
          </p:cNvSpPr>
          <p:nvPr>
            <p:ph sz="quarter" idx="13" hasCustomPrompt="1"/>
          </p:nvPr>
        </p:nvSpPr>
        <p:spPr>
          <a:xfrm>
            <a:off x="2361600" y="1598400"/>
            <a:ext cx="7488000" cy="45264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pic>
        <p:nvPicPr>
          <p:cNvPr id="13" name="Picture 12" descr="Logo&#10;&#10;Description automatically generated">
            <a:extLst>
              <a:ext uri="{FF2B5EF4-FFF2-40B4-BE49-F238E27FC236}">
                <a16:creationId xmlns:a16="http://schemas.microsoft.com/office/drawing/2014/main" id="{E518C4BF-C393-49CB-A7FB-0275C1D4BB2D}"/>
              </a:ext>
            </a:extLst>
          </p:cNvPr>
          <p:cNvPicPr>
            <a:picLocks noChangeAspect="1"/>
          </p:cNvPicPr>
          <p:nvPr userDrawn="1"/>
        </p:nvPicPr>
        <p:blipFill>
          <a:blip r:embed="rId3"/>
          <a:stretch>
            <a:fillRect/>
          </a:stretch>
        </p:blipFill>
        <p:spPr>
          <a:xfrm>
            <a:off x="10523166" y="52027"/>
            <a:ext cx="1493885" cy="840312"/>
          </a:xfrm>
          <a:prstGeom prst="rect">
            <a:avLst/>
          </a:prstGeom>
        </p:spPr>
      </p:pic>
    </p:spTree>
    <p:extLst>
      <p:ext uri="{BB962C8B-B14F-4D97-AF65-F5344CB8AC3E}">
        <p14:creationId xmlns:p14="http://schemas.microsoft.com/office/powerpoint/2010/main" val="896414585"/>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169C96B-2762-0BAD-1906-8DEE42D1369E}"/>
              </a:ext>
            </a:extLst>
          </p:cNvPr>
          <p:cNvSpPr>
            <a:spLocks noGrp="1"/>
          </p:cNvSpPr>
          <p:nvPr>
            <p:ph type="ftr" sz="quarter" idx="10"/>
          </p:nvPr>
        </p:nvSpPr>
        <p:spPr/>
        <p:txBody>
          <a:bodyPr/>
          <a:lstStyle/>
          <a:p>
            <a:r>
              <a:rPr lang="en-US"/>
              <a:t>BI 3802876-CEC meeting 8th April 2025 / For internal use only</a:t>
            </a:r>
          </a:p>
        </p:txBody>
      </p:sp>
      <p:sp>
        <p:nvSpPr>
          <p:cNvPr id="3" name="Slide Number Placeholder 2">
            <a:extLst>
              <a:ext uri="{FF2B5EF4-FFF2-40B4-BE49-F238E27FC236}">
                <a16:creationId xmlns:a16="http://schemas.microsoft.com/office/drawing/2014/main" id="{CF117E55-F6E0-5DB4-5D36-8E11F7DD0981}"/>
              </a:ext>
            </a:extLst>
          </p:cNvPr>
          <p:cNvSpPr>
            <a:spLocks noGrp="1"/>
          </p:cNvSpPr>
          <p:nvPr>
            <p:ph type="sldNum" sz="quarter" idx="11"/>
          </p:nvPr>
        </p:nvSpPr>
        <p:spPr/>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4190645713"/>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F9A667C-070A-FB92-E311-49FCFFABEC04}"/>
              </a:ext>
            </a:extLst>
          </p:cNvPr>
          <p:cNvPicPr>
            <a:picLocks noChangeAspect="1"/>
          </p:cNvPicPr>
          <p:nvPr userDrawn="1"/>
        </p:nvPicPr>
        <p:blipFill>
          <a:blip r:embed="rId2"/>
          <a:stretch>
            <a:fillRect/>
          </a:stretch>
        </p:blipFill>
        <p:spPr>
          <a:xfrm>
            <a:off x="230922" y="5027484"/>
            <a:ext cx="3219899" cy="1619476"/>
          </a:xfrm>
          <a:prstGeom prst="rect">
            <a:avLst/>
          </a:prstGeom>
        </p:spPr>
      </p:pic>
    </p:spTree>
    <p:extLst>
      <p:ext uri="{BB962C8B-B14F-4D97-AF65-F5344CB8AC3E}">
        <p14:creationId xmlns:p14="http://schemas.microsoft.com/office/powerpoint/2010/main" val="3999245221"/>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490100" y="187200"/>
            <a:ext cx="11211800" cy="738664"/>
          </a:xfrm>
        </p:spPr>
        <p:txBody>
          <a:bodyPr/>
          <a:lstStyle>
            <a:lvl1pPr>
              <a:defRPr sz="4800"/>
            </a:lvl1p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12" name="Fußzeilenplatzhalter 4">
            <a:extLst>
              <a:ext uri="{FF2B5EF4-FFF2-40B4-BE49-F238E27FC236}">
                <a16:creationId xmlns:a16="http://schemas.microsoft.com/office/drawing/2014/main" id="{02E6CBB3-24E3-4BDC-BDED-2AAA3ED140C3}"/>
              </a:ext>
            </a:extLst>
          </p:cNvPr>
          <p:cNvSpPr>
            <a:spLocks noGrp="1"/>
          </p:cNvSpPr>
          <p:nvPr>
            <p:ph type="ftr" sz="quarter" idx="3"/>
          </p:nvPr>
        </p:nvSpPr>
        <p:spPr>
          <a:xfrm>
            <a:off x="1801771" y="6547611"/>
            <a:ext cx="8186291" cy="205184"/>
          </a:xfrm>
          <a:prstGeom prst="rect">
            <a:avLst/>
          </a:prstGeom>
        </p:spPr>
        <p:txBody>
          <a:bodyPr vert="horz" wrap="square" lIns="0" tIns="0" rIns="0" bIns="0" rtlCol="0" anchor="ctr">
            <a:spAutoFit/>
          </a:bodyPr>
          <a:lstStyle>
            <a:lvl1pPr algn="l">
              <a:defRPr sz="1333" b="0" i="0">
                <a:solidFill>
                  <a:schemeClr val="bg1">
                    <a:lumMod val="50000"/>
                  </a:schemeClr>
                </a:solidFill>
                <a:latin typeface="BISansOptiCond"/>
                <a:cs typeface="BISansOptiCond"/>
              </a:defRPr>
            </a:lvl1pPr>
          </a:lstStyle>
          <a:p>
            <a:r>
              <a:rPr lang="en-US"/>
              <a:t>BI 3802876-CEC meeting 8th April 2025 / For internal use only</a:t>
            </a:r>
            <a:endParaRPr lang="en-GB" noProof="0"/>
          </a:p>
        </p:txBody>
      </p:sp>
    </p:spTree>
    <p:extLst>
      <p:ext uri="{BB962C8B-B14F-4D97-AF65-F5344CB8AC3E}">
        <p14:creationId xmlns:p14="http://schemas.microsoft.com/office/powerpoint/2010/main" val="2942880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9"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10" name="Fußzeilenplatzhalter 4">
            <a:extLst>
              <a:ext uri="{FF2B5EF4-FFF2-40B4-BE49-F238E27FC236}">
                <a16:creationId xmlns:a16="http://schemas.microsoft.com/office/drawing/2014/main" id="{78BFE0CE-06FA-4378-9BBC-75ECF3D8051E}"/>
              </a:ext>
            </a:extLst>
          </p:cNvPr>
          <p:cNvSpPr>
            <a:spLocks noGrp="1"/>
          </p:cNvSpPr>
          <p:nvPr>
            <p:ph type="ftr" sz="quarter" idx="3"/>
          </p:nvPr>
        </p:nvSpPr>
        <p:spPr>
          <a:xfrm>
            <a:off x="1801771" y="6547611"/>
            <a:ext cx="8186291" cy="205184"/>
          </a:xfrm>
          <a:prstGeom prst="rect">
            <a:avLst/>
          </a:prstGeom>
        </p:spPr>
        <p:txBody>
          <a:bodyPr vert="horz" wrap="square" lIns="0" tIns="0" rIns="0" bIns="0" rtlCol="0" anchor="ctr">
            <a:spAutoFit/>
          </a:bodyPr>
          <a:lstStyle>
            <a:lvl1pPr algn="l">
              <a:defRPr sz="1333" b="0" i="0">
                <a:solidFill>
                  <a:schemeClr val="bg1">
                    <a:lumMod val="50000"/>
                  </a:schemeClr>
                </a:solidFill>
                <a:latin typeface="BISansOptiCond"/>
                <a:cs typeface="BISansOptiCond"/>
              </a:defRPr>
            </a:lvl1pPr>
          </a:lstStyle>
          <a:p>
            <a:r>
              <a:rPr lang="en-US"/>
              <a:t>BI 3802876-CEC meeting 8th April 2025 / For internal use only</a:t>
            </a:r>
            <a:endParaRPr lang="en-GB" noProof="0"/>
          </a:p>
        </p:txBody>
      </p:sp>
    </p:spTree>
    <p:extLst>
      <p:ext uri="{BB962C8B-B14F-4D97-AF65-F5344CB8AC3E}">
        <p14:creationId xmlns:p14="http://schemas.microsoft.com/office/powerpoint/2010/main" val="2030705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p:cSld name="4_Blank">
    <p:spTree>
      <p:nvGrpSpPr>
        <p:cNvPr id="1" name=""/>
        <p:cNvGrpSpPr/>
        <p:nvPr/>
      </p:nvGrpSpPr>
      <p:grpSpPr>
        <a:xfrm>
          <a:off x="0" y="0"/>
          <a:ext cx="0" cy="0"/>
          <a:chOff x="0" y="0"/>
          <a:chExt cx="0" cy="0"/>
        </a:xfrm>
      </p:grpSpPr>
      <p:sp>
        <p:nvSpPr>
          <p:cNvPr id="5" name="Text Placeholder 10">
            <a:extLst>
              <a:ext uri="{FF2B5EF4-FFF2-40B4-BE49-F238E27FC236}">
                <a16:creationId xmlns:a16="http://schemas.microsoft.com/office/drawing/2014/main" id="{0A4AE0AD-8A19-F21E-9391-E37D3B35470D}"/>
              </a:ext>
            </a:extLst>
          </p:cNvPr>
          <p:cNvSpPr>
            <a:spLocks noGrp="1"/>
          </p:cNvSpPr>
          <p:nvPr>
            <p:ph type="body" sz="quarter" idx="14"/>
          </p:nvPr>
        </p:nvSpPr>
        <p:spPr>
          <a:xfrm>
            <a:off x="509046" y="5542962"/>
            <a:ext cx="5320255" cy="480015"/>
          </a:xfrm>
          <a:noFill/>
        </p:spPr>
        <p:txBody>
          <a:bodyPr vert="horz" lIns="0" tIns="0" rIns="0" bIns="0" rtlCol="0">
            <a:normAutofit/>
          </a:bodyPr>
          <a:lstStyle>
            <a:lvl1pPr>
              <a:defRPr lang="en-US" sz="900"/>
            </a:lvl1pPr>
          </a:lstStyle>
          <a:p>
            <a:pPr lvl="0">
              <a:spcBef>
                <a:spcPts val="0"/>
              </a:spcBef>
            </a:pPr>
            <a:r>
              <a:rPr lang="en-US"/>
              <a:t>Click to edit Master text styles</a:t>
            </a:r>
          </a:p>
        </p:txBody>
      </p:sp>
      <p:sp>
        <p:nvSpPr>
          <p:cNvPr id="6" name="Footer Placeholder 4">
            <a:extLst>
              <a:ext uri="{FF2B5EF4-FFF2-40B4-BE49-F238E27FC236}">
                <a16:creationId xmlns:a16="http://schemas.microsoft.com/office/drawing/2014/main" id="{20633BCD-2B94-AECA-35BB-6EFB279F9AFF}"/>
              </a:ext>
            </a:extLst>
          </p:cNvPr>
          <p:cNvSpPr>
            <a:spLocks noGrp="1"/>
          </p:cNvSpPr>
          <p:nvPr>
            <p:ph type="ftr" sz="quarter" idx="11"/>
          </p:nvPr>
        </p:nvSpPr>
        <p:spPr>
          <a:xfrm>
            <a:off x="1714500" y="6449115"/>
            <a:ext cx="4114800" cy="205184"/>
          </a:xfrm>
        </p:spPr>
        <p:txBody>
          <a:bodyPr vert="horz" lIns="0" tIns="0" rIns="0" bIns="0" rtlCol="0" anchor="b"/>
          <a:lstStyle>
            <a:lvl1pPr>
              <a:defRPr lang="en-US" smtClean="0"/>
            </a:lvl1pPr>
          </a:lstStyle>
          <a:p>
            <a:r>
              <a:rPr lang="en-US"/>
              <a:t>BI 3802876-CEC meeting 8th April 2025 / For internal use only</a:t>
            </a:r>
          </a:p>
        </p:txBody>
      </p:sp>
      <p:sp>
        <p:nvSpPr>
          <p:cNvPr id="7" name="Slide Number Placeholder 5">
            <a:extLst>
              <a:ext uri="{FF2B5EF4-FFF2-40B4-BE49-F238E27FC236}">
                <a16:creationId xmlns:a16="http://schemas.microsoft.com/office/drawing/2014/main" id="{E07B8194-3575-0512-C83B-9398C36ED769}"/>
              </a:ext>
            </a:extLst>
          </p:cNvPr>
          <p:cNvSpPr>
            <a:spLocks noGrp="1"/>
          </p:cNvSpPr>
          <p:nvPr>
            <p:ph type="sldNum" sz="quarter" idx="4"/>
          </p:nvPr>
        </p:nvSpPr>
        <p:spPr>
          <a:xfrm>
            <a:off x="11629604" y="6439687"/>
            <a:ext cx="196635" cy="205184"/>
          </a:xfrm>
          <a:prstGeom prst="rect">
            <a:avLst/>
          </a:prstGeom>
        </p:spPr>
        <p:txBody>
          <a:bodyPr vert="horz" lIns="0" tIns="0" rIns="0" bIns="0" rtlCol="0" anchor="b"/>
          <a:lstStyle>
            <a:lvl1pPr algn="r">
              <a:defRPr lang="en-US" smtClean="0"/>
            </a:lvl1pPr>
          </a:lstStyle>
          <a:p>
            <a:fld id="{25C30A3B-2FD6-4827-B4EE-26AF4FDF09E4}" type="slidenum">
              <a:rPr lang="en-US" smtClean="0"/>
              <a:t>‹#›</a:t>
            </a:fld>
            <a:endParaRPr lang="en-US"/>
          </a:p>
        </p:txBody>
      </p:sp>
      <p:sp>
        <p:nvSpPr>
          <p:cNvPr id="8" name="Text Placeholder 10">
            <a:extLst>
              <a:ext uri="{FF2B5EF4-FFF2-40B4-BE49-F238E27FC236}">
                <a16:creationId xmlns:a16="http://schemas.microsoft.com/office/drawing/2014/main" id="{8FB477C9-79D2-AB5D-677C-B098D72E530B}"/>
              </a:ext>
            </a:extLst>
          </p:cNvPr>
          <p:cNvSpPr>
            <a:spLocks noGrp="1"/>
          </p:cNvSpPr>
          <p:nvPr>
            <p:ph type="body" sz="quarter" idx="15" hasCustomPrompt="1"/>
          </p:nvPr>
        </p:nvSpPr>
        <p:spPr>
          <a:xfrm>
            <a:off x="9539807" y="6361121"/>
            <a:ext cx="880527" cy="292571"/>
          </a:xfrm>
        </p:spPr>
        <p:txBody>
          <a:bodyPr vert="horz" lIns="0" tIns="0" rIns="0" bIns="0" rtlCol="0" anchor="b"/>
          <a:lstStyle>
            <a:lvl1pPr algn="r">
              <a:spcBef>
                <a:spcPts val="0"/>
              </a:spcBef>
              <a:defRPr lang="en-US" sz="900" smtClean="0"/>
            </a:lvl1pPr>
          </a:lstStyle>
          <a:p>
            <a:pPr lvl="0"/>
            <a:r>
              <a:rPr lang="en-US"/>
              <a:t>Add date</a:t>
            </a:r>
          </a:p>
        </p:txBody>
      </p:sp>
    </p:spTree>
    <p:extLst>
      <p:ext uri="{BB962C8B-B14F-4D97-AF65-F5344CB8AC3E}">
        <p14:creationId xmlns:p14="http://schemas.microsoft.com/office/powerpoint/2010/main" val="2652366475"/>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Content slide with foo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100B6-15A0-49B3-A216-D7F517C8CA16}"/>
              </a:ext>
            </a:extLst>
          </p:cNvPr>
          <p:cNvSpPr>
            <a:spLocks noGrp="1"/>
          </p:cNvSpPr>
          <p:nvPr>
            <p:ph type="title"/>
          </p:nvPr>
        </p:nvSpPr>
        <p:spPr>
          <a:xfrm>
            <a:off x="367645" y="136525"/>
            <a:ext cx="10986155" cy="973933"/>
          </a:xfrm>
          <a:prstGeom prst="rect">
            <a:avLst/>
          </a:prstGeom>
        </p:spPr>
        <p:txBody>
          <a:bodyPr anchor="b"/>
          <a:lstStyle>
            <a:lvl1pPr>
              <a:defRPr sz="28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2627FE2-5261-4B94-933C-893B6AAFE2B7}"/>
              </a:ext>
            </a:extLst>
          </p:cNvPr>
          <p:cNvSpPr>
            <a:spLocks noGrp="1"/>
          </p:cNvSpPr>
          <p:nvPr>
            <p:ph idx="1"/>
          </p:nvPr>
        </p:nvSpPr>
        <p:spPr>
          <a:xfrm>
            <a:off x="377170" y="1545997"/>
            <a:ext cx="11368726" cy="4364610"/>
          </a:xfrm>
          <a:prstGeom prst="rect">
            <a:avLst/>
          </a:prstGeom>
        </p:spPr>
        <p:txBody>
          <a:bodyPr/>
          <a:lstStyle>
            <a:lvl1pPr marL="0" indent="0">
              <a:buNone/>
              <a:defRPr sz="2000"/>
            </a:lvl1pPr>
            <a:lvl2pPr marL="457200" indent="0">
              <a:buNone/>
              <a:defRPr sz="2000"/>
            </a:lvl2pPr>
            <a:lvl3pPr marL="914400" indent="0">
              <a:buNone/>
              <a:defRPr/>
            </a:lvl3pPr>
            <a:lvl4pPr marL="1371600" indent="0">
              <a:buNone/>
              <a:defRPr/>
            </a:lvl4pPr>
            <a:lvl5pPr marL="1828800" indent="0">
              <a:buNone/>
              <a:defRPr/>
            </a:lvl5pPr>
          </a:lstStyle>
          <a:p>
            <a:pPr lvl="0"/>
            <a:r>
              <a:rPr lang="en-US"/>
              <a:t>Click to edit Master text styles</a:t>
            </a:r>
          </a:p>
        </p:txBody>
      </p:sp>
      <p:cxnSp>
        <p:nvCxnSpPr>
          <p:cNvPr id="10" name="Straight Connector 9">
            <a:extLst>
              <a:ext uri="{FF2B5EF4-FFF2-40B4-BE49-F238E27FC236}">
                <a16:creationId xmlns:a16="http://schemas.microsoft.com/office/drawing/2014/main" id="{B478FCE3-BF7A-468D-93D5-56C52B3175DE}"/>
              </a:ext>
            </a:extLst>
          </p:cNvPr>
          <p:cNvCxnSpPr/>
          <p:nvPr userDrawn="1"/>
        </p:nvCxnSpPr>
        <p:spPr>
          <a:xfrm>
            <a:off x="-1" y="1212777"/>
            <a:ext cx="12192001"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C7F67F55-68B8-4BBA-B1E8-985B83944C2E}"/>
              </a:ext>
            </a:extLst>
          </p:cNvPr>
          <p:cNvSpPr>
            <a:spLocks noGrp="1"/>
          </p:cNvSpPr>
          <p:nvPr>
            <p:ph type="sldNum" sz="quarter" idx="11"/>
          </p:nvPr>
        </p:nvSpPr>
        <p:spPr/>
        <p:txBody>
          <a:bodyPr/>
          <a:lstStyle/>
          <a:p>
            <a:fld id="{99168A75-818D-48AE-8387-71DCE882AB34}" type="slidenum">
              <a:rPr lang="en-GB" smtClean="0"/>
              <a:pPr/>
              <a:t>‹#›</a:t>
            </a:fld>
            <a:endParaRPr lang="en-GB"/>
          </a:p>
        </p:txBody>
      </p:sp>
      <p:sp>
        <p:nvSpPr>
          <p:cNvPr id="4" name="TextBox 3">
            <a:extLst>
              <a:ext uri="{FF2B5EF4-FFF2-40B4-BE49-F238E27FC236}">
                <a16:creationId xmlns:a16="http://schemas.microsoft.com/office/drawing/2014/main" id="{77DAC73A-5C6F-B96B-31B7-141B1317C883}"/>
              </a:ext>
            </a:extLst>
          </p:cNvPr>
          <p:cNvSpPr txBox="1"/>
          <p:nvPr userDrawn="1"/>
        </p:nvSpPr>
        <p:spPr>
          <a:xfrm>
            <a:off x="0" y="6600051"/>
            <a:ext cx="12192000" cy="26161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183761"/>
                </a:solidFill>
                <a:effectLst/>
                <a:uLnTx/>
                <a:uFillTx/>
              </a:rPr>
              <a:t>STRICTLY CONFIDENTIAL. DO NOT COPY, DETAIL, OR SHARE EXTERNALLY</a:t>
            </a:r>
            <a:r>
              <a:rPr kumimoji="0" lang="en-GB" sz="1100" b="1" i="0" u="none" strike="noStrike" kern="0" cap="none" spc="0" normalizeH="0" baseline="0" noProof="0">
                <a:ln>
                  <a:noFill/>
                </a:ln>
                <a:solidFill>
                  <a:srgbClr val="183761"/>
                </a:solidFill>
                <a:effectLst/>
                <a:uLnTx/>
                <a:uFillTx/>
              </a:rPr>
              <a:t> </a:t>
            </a:r>
          </a:p>
        </p:txBody>
      </p:sp>
      <p:sp>
        <p:nvSpPr>
          <p:cNvPr id="6" name="Rectangle 5">
            <a:extLst>
              <a:ext uri="{FF2B5EF4-FFF2-40B4-BE49-F238E27FC236}">
                <a16:creationId xmlns:a16="http://schemas.microsoft.com/office/drawing/2014/main" id="{BA009D27-39D1-4640-7927-9881486446CF}"/>
              </a:ext>
            </a:extLst>
          </p:cNvPr>
          <p:cNvSpPr/>
          <p:nvPr userDrawn="1"/>
        </p:nvSpPr>
        <p:spPr>
          <a:xfrm>
            <a:off x="367645" y="6019137"/>
            <a:ext cx="1709555" cy="7023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7" name="Text Placeholder 4">
            <a:extLst>
              <a:ext uri="{FF2B5EF4-FFF2-40B4-BE49-F238E27FC236}">
                <a16:creationId xmlns:a16="http://schemas.microsoft.com/office/drawing/2014/main" id="{8CFF9F5D-ABED-1690-B7A6-2228806B6870}"/>
              </a:ext>
            </a:extLst>
          </p:cNvPr>
          <p:cNvSpPr>
            <a:spLocks noGrp="1"/>
          </p:cNvSpPr>
          <p:nvPr>
            <p:ph type="body" sz="quarter" idx="10" hasCustomPrompt="1"/>
          </p:nvPr>
        </p:nvSpPr>
        <p:spPr>
          <a:xfrm>
            <a:off x="377170" y="6112799"/>
            <a:ext cx="11358830" cy="487251"/>
          </a:xfrm>
          <a:prstGeom prst="rect">
            <a:avLst/>
          </a:prstGeom>
        </p:spPr>
        <p:txBody>
          <a:bodyPr anchor="b" anchorCtr="0"/>
          <a:lstStyle>
            <a:lvl1pPr marL="0" indent="0">
              <a:buFontTx/>
              <a:buNone/>
              <a:defRPr sz="9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Footnotes and references</a:t>
            </a:r>
            <a:endParaRPr lang="en-GB"/>
          </a:p>
        </p:txBody>
      </p:sp>
    </p:spTree>
    <p:extLst>
      <p:ext uri="{BB962C8B-B14F-4D97-AF65-F5344CB8AC3E}">
        <p14:creationId xmlns:p14="http://schemas.microsoft.com/office/powerpoint/2010/main" val="4071349364"/>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4_Title &amp; Sub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212840"/>
            <a:ext cx="11233151" cy="720000"/>
          </a:xfrm>
        </p:spPr>
        <p:txBody>
          <a:bodyPr/>
          <a:lstStyle>
            <a:lvl1pPr>
              <a:defRPr/>
            </a:lvl1pPr>
          </a:lstStyle>
          <a:p>
            <a:r>
              <a:rPr lang="en-US" err="1"/>
              <a:t>Folientitel</a:t>
            </a:r>
            <a:endParaRPr lang="en-US"/>
          </a:p>
        </p:txBody>
      </p:sp>
      <p:sp>
        <p:nvSpPr>
          <p:cNvPr id="4" name="Text Placeholder 3">
            <a:extLst>
              <a:ext uri="{FF2B5EF4-FFF2-40B4-BE49-F238E27FC236}">
                <a16:creationId xmlns:a16="http://schemas.microsoft.com/office/drawing/2014/main" id="{57D668E5-B02D-7999-4395-323A3B217A0E}"/>
              </a:ext>
            </a:extLst>
          </p:cNvPr>
          <p:cNvSpPr>
            <a:spLocks noGrp="1"/>
          </p:cNvSpPr>
          <p:nvPr>
            <p:ph type="body" sz="quarter" idx="14"/>
          </p:nvPr>
        </p:nvSpPr>
        <p:spPr>
          <a:xfrm>
            <a:off x="474754" y="935490"/>
            <a:ext cx="11233151" cy="284746"/>
          </a:xfrm>
        </p:spPr>
        <p:txBody>
          <a:bodyPr anchor="t"/>
          <a:lstStyle>
            <a:lvl1pPr marL="0" indent="0">
              <a:buFontTx/>
              <a:buNone/>
              <a:defRPr sz="1600" b="1" i="1">
                <a:solidFill>
                  <a:schemeClr val="tx2"/>
                </a:solidFill>
              </a:defRPr>
            </a:lvl1pPr>
            <a:lvl2pPr marL="216000" indent="0">
              <a:buFontTx/>
              <a:buNone/>
              <a:defRPr sz="1800" b="1" i="1">
                <a:solidFill>
                  <a:schemeClr val="tx2"/>
                </a:solidFill>
              </a:defRPr>
            </a:lvl2pPr>
          </a:lstStyle>
          <a:p>
            <a:pPr lvl="0"/>
            <a:r>
              <a:rPr lang="en-GB"/>
              <a:t>Click to edit Master text styles</a:t>
            </a:r>
          </a:p>
          <a:p>
            <a:pPr lvl="1"/>
            <a:endParaRPr lang="en-US"/>
          </a:p>
        </p:txBody>
      </p:sp>
      <p:sp>
        <p:nvSpPr>
          <p:cNvPr id="3" name="Fußzeilenplatzhalter 4">
            <a:extLst>
              <a:ext uri="{FF2B5EF4-FFF2-40B4-BE49-F238E27FC236}">
                <a16:creationId xmlns:a16="http://schemas.microsoft.com/office/drawing/2014/main" id="{BEA17B08-A05F-19A3-59D7-67ED26528987}"/>
              </a:ext>
            </a:extLst>
          </p:cNvPr>
          <p:cNvSpPr>
            <a:spLocks noGrp="1"/>
          </p:cNvSpPr>
          <p:nvPr>
            <p:ph type="ftr" sz="quarter" idx="3"/>
          </p:nvPr>
        </p:nvSpPr>
        <p:spPr bwMode="gray">
          <a:xfrm>
            <a:off x="6637144" y="6495918"/>
            <a:ext cx="5040560" cy="288000"/>
          </a:xfrm>
          <a:prstGeom prst="rect">
            <a:avLst/>
          </a:prstGeom>
        </p:spPr>
        <p:txBody>
          <a:bodyPr vert="horz" lIns="0" tIns="0" rIns="0" bIns="0" rtlCol="0" anchor="ctr">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BI 3802876-CEC meeting 8th April 2025 / For internal use only</a:t>
            </a:r>
          </a:p>
        </p:txBody>
      </p:sp>
      <p:sp>
        <p:nvSpPr>
          <p:cNvPr id="5" name="Foliennummernplatzhalter 5">
            <a:extLst>
              <a:ext uri="{FF2B5EF4-FFF2-40B4-BE49-F238E27FC236}">
                <a16:creationId xmlns:a16="http://schemas.microsoft.com/office/drawing/2014/main" id="{23810AE5-C2D7-D76A-4EE8-3E9C81FCCCC1}"/>
              </a:ext>
            </a:extLst>
          </p:cNvPr>
          <p:cNvSpPr>
            <a:spLocks noGrp="1"/>
          </p:cNvSpPr>
          <p:nvPr>
            <p:ph type="sldNum" sz="quarter" idx="4"/>
          </p:nvPr>
        </p:nvSpPr>
        <p:spPr bwMode="gray">
          <a:xfrm>
            <a:off x="11749712" y="6495918"/>
            <a:ext cx="288000" cy="288000"/>
          </a:xfrm>
          <a:prstGeom prst="rect">
            <a:avLst/>
          </a:prstGeom>
        </p:spPr>
        <p:txBody>
          <a:bodyPr vert="horz" lIns="0" tIns="0" rIns="0" bIns="0" rtlCol="0" anchor="ctr">
            <a:noAutofit/>
          </a:bodyPr>
          <a:lstStyle>
            <a:lvl1pPr algn="r">
              <a:defRPr sz="800">
                <a:solidFill>
                  <a:schemeClr val="bg2"/>
                </a:solidFill>
              </a:defRPr>
            </a:lvl1pPr>
          </a:lstStyle>
          <a:p>
            <a:fld id="{DF4E8F9F-5B1F-4F5B-BE49-3245D8C18D9F}" type="slidenum">
              <a:rPr lang="en-US" smtClean="0"/>
              <a:pPr/>
              <a:t>‹#›</a:t>
            </a:fld>
            <a:endParaRPr lang="en-US"/>
          </a:p>
        </p:txBody>
      </p:sp>
      <p:sp>
        <p:nvSpPr>
          <p:cNvPr id="6" name="Textplatzhalter 7">
            <a:extLst>
              <a:ext uri="{FF2B5EF4-FFF2-40B4-BE49-F238E27FC236}">
                <a16:creationId xmlns:a16="http://schemas.microsoft.com/office/drawing/2014/main" id="{0EF38F2B-084E-7BDF-626A-BA30462215FF}"/>
              </a:ext>
            </a:extLst>
          </p:cNvPr>
          <p:cNvSpPr>
            <a:spLocks noGrp="1"/>
          </p:cNvSpPr>
          <p:nvPr>
            <p:ph type="body" sz="quarter" idx="13" hasCustomPrompt="1"/>
          </p:nvPr>
        </p:nvSpPr>
        <p:spPr bwMode="gray">
          <a:xfrm>
            <a:off x="1353184" y="6559752"/>
            <a:ext cx="7524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lumMod val="65000"/>
                  </a:schemeClr>
                </a:solidFill>
              </a:defRPr>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1080484984"/>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4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BI 3802876-CEC meeting 8th April 2025 / For internal use only</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94652892"/>
      </p:ext>
    </p:extLst>
  </p:cSld>
  <p:clrMapOvr>
    <a:masterClrMapping/>
  </p:clrMapOvr>
  <p:extLst>
    <p:ext uri="{DCECCB84-F9BA-43D5-87BE-67443E8EF086}">
      <p15:sldGuideLst xmlns:p15="http://schemas.microsoft.com/office/powerpoint/2012/main"/>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4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BI 3802876-CEC meeting 8th April 2025 / For internal use only</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19743865"/>
      </p:ext>
    </p:extLst>
  </p:cSld>
  <p:clrMapOvr>
    <a:masterClrMapping/>
  </p:clrMapOvr>
  <p:extLst>
    <p:ext uri="{DCECCB84-F9BA-43D5-87BE-67443E8EF086}">
      <p15:sldGuideLst xmlns:p15="http://schemas.microsoft.com/office/powerpoint/2012/main"/>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4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BI 3802876-CEC meeting 8th April 2025 / For internal use only</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99690967"/>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4_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BI 3802876-CEC meeting 8th April 2025 / For internal use only</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041231590"/>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4_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BI 3802876-CEC meeting 8th April 2025 / For internal use only</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44456631"/>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4_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BI 3802876-CEC meeting 8th April 2025 / For internal use only</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582972301"/>
      </p:ext>
    </p:extLst>
  </p:cSld>
  <p:clrMapOvr>
    <a:masterClrMapping/>
  </p:clrMapOvr>
  <p:extLst>
    <p:ext uri="{DCECCB84-F9BA-43D5-87BE-67443E8EF086}">
      <p15:sldGuideLst xmlns:p15="http://schemas.microsoft.com/office/powerpoint/2012/main"/>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4_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BI 3802876-CEC meeting 8th April 2025 / For internal use only</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27631595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4_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BI 3802876-CEC meeting 8th April 2025 / For internal use only</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143674231"/>
      </p:ext>
    </p:extLst>
  </p:cSld>
  <p:clrMapOvr>
    <a:masterClrMapping/>
  </p:clrMapOvr>
  <p:extLst>
    <p:ext uri="{DCECCB84-F9BA-43D5-87BE-67443E8EF086}">
      <p15:sldGuideLst xmlns:p15="http://schemas.microsoft.com/office/powerpoint/2012/main"/>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6_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BI 3802876-CEC meeting 8th April 2025 / For internal use only</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272549263"/>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4_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BI 3802876-CEC meeting 8th April 2025 / For internal use only</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443392"/>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4_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BI 3802876-CEC meeting 8th April 2025 / For internal use only</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5703354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4_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BI 3802876-CEC meeting 8th April 2025 / For internal use only</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843397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4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BI 3802876-CEC meeting 8th April 2025 / For internal use only</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8145202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4_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BI 3802876-CEC meeting 8th April 2025 / For internal use only</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2018227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4_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BI 3802876-CEC meeting 8th April 2025 / For internal use only</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3036009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4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BI 3802876-CEC meeting 8th April 2025 / For internal use only</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53483422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4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BI 3802876-CEC meeting 8th April 2025 / For internal use only</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21478929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4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BI 3802876-CEC meeting 8th April 2025 / For internal use only</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06150108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4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BI 3802876-CEC meeting 8th April 2025 / For internal use only</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398686943"/>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4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BI 3802876-CEC meeting 8th April 2025 / For internal use only</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377639616"/>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BI 3802876-CEC meeting 8th April 2025 / For internal use only</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88800224"/>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userDrawn="1">
  <p:cSld name="2_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endParaRPr lang="en-GB" noProof="0"/>
          </a:p>
        </p:txBody>
      </p:sp>
      <p:sp>
        <p:nvSpPr>
          <p:cNvPr id="5" name="Fußzeilenplatzhalter 4"/>
          <p:cNvSpPr>
            <a:spLocks noGrp="1"/>
          </p:cNvSpPr>
          <p:nvPr>
            <p:ph type="ftr" sz="quarter" idx="11"/>
          </p:nvPr>
        </p:nvSpPr>
        <p:spPr/>
        <p:txBody>
          <a:bodyPr/>
          <a:lstStyle/>
          <a:p>
            <a:r>
              <a:rPr lang="en-US"/>
              <a:t>BI 3802876-CEC meeting 8th April 2025 / For internal use only</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9"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262111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5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BI 3802876-CEC meeting 8th April 2025 / For internal use only</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62455428"/>
      </p:ext>
    </p:extLst>
  </p:cSld>
  <p:clrMapOvr>
    <a:masterClrMapping/>
  </p:clrMapOvr>
  <p:extLst>
    <p:ext uri="{DCECCB84-F9BA-43D5-87BE-67443E8EF086}">
      <p15:sldGuideLst xmlns:p15="http://schemas.microsoft.com/office/powerpoint/2012/main"/>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5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BI 3802876-CEC meeting 8th April 2025 / For internal use only</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39144623"/>
      </p:ext>
    </p:extLst>
  </p:cSld>
  <p:clrMapOvr>
    <a:masterClrMapping/>
  </p:clrMapOvr>
  <p:extLst>
    <p:ext uri="{DCECCB84-F9BA-43D5-87BE-67443E8EF086}">
      <p15:sldGuideLst xmlns:p15="http://schemas.microsoft.com/office/powerpoint/2012/main"/>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5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BI 3802876-CEC meeting 8th April 2025 / For internal use only</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43190228"/>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5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BI 3802876-CEC meeting 8th April 2025 / For internal use only</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06302442"/>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5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BI 3802876-CEC meeting 8th April 2025 / For internal use only</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72149024"/>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5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BI 3802876-CEC meeting 8th April 2025 / For internal use only</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84274651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5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BI 3802876-CEC meeting 8th April 2025 / For internal use only</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423181727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5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BI 3802876-CEC meeting 8th April 2025 / For internal use only</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65920727"/>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5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BI 3802876-CEC meeting 8th April 2025 / For internal use only</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128591881"/>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1618272755"/>
      </p:ext>
    </p:extLst>
  </p:cSld>
  <p:clrMapOvr>
    <a:masterClrMapping/>
  </p:clrMapOvr>
  <p:extLst>
    <p:ext uri="{DCECCB84-F9BA-43D5-87BE-67443E8EF086}">
      <p15:sldGuideLst xmlns:p15="http://schemas.microsoft.com/office/powerpoint/2012/main"/>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039317146"/>
      </p:ext>
    </p:extLst>
  </p:cSld>
  <p:clrMapOvr>
    <a:masterClrMapping/>
  </p:clrMapOvr>
  <p:extLst>
    <p:ext uri="{DCECCB84-F9BA-43D5-87BE-67443E8EF086}">
      <p15:sldGuideLst xmlns:p15="http://schemas.microsoft.com/office/powerpoint/2012/main"/>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87408596"/>
      </p:ext>
    </p:extLst>
  </p:cSld>
  <p:clrMapOvr>
    <a:masterClrMapping/>
  </p:clrMapOvr>
  <p:extLst>
    <p:ext uri="{DCECCB84-F9BA-43D5-87BE-67443E8EF086}">
      <p15:sldGuideLst xmlns:p15="http://schemas.microsoft.com/office/powerpoint/2012/main"/>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81080435"/>
      </p:ext>
    </p:extLst>
  </p:cSld>
  <p:clrMapOvr>
    <a:masterClrMapping/>
  </p:clrMapOvr>
  <p:extLst>
    <p:ext uri="{DCECCB84-F9BA-43D5-87BE-67443E8EF086}">
      <p15:sldGuideLst xmlns:p15="http://schemas.microsoft.com/office/powerpoint/2012/main"/>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50556409"/>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374055037"/>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840567681"/>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1667716018"/>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426500928"/>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99106159"/>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896160556"/>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420442649"/>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946987860"/>
      </p:ext>
    </p:extLst>
  </p:cSld>
  <p:clrMapOvr>
    <a:masterClrMapping/>
  </p:clrMapOvr>
  <p:extLst>
    <p:ext uri="{DCECCB84-F9BA-43D5-87BE-67443E8EF086}">
      <p15:sldGuideLst xmlns:p15="http://schemas.microsoft.com/office/powerpoint/2012/main"/>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94955520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820406703"/>
      </p:ext>
    </p:extLst>
  </p:cSld>
  <p:clrMapOvr>
    <a:masterClrMapping/>
  </p:clrMapOvr>
  <p:extLst>
    <p:ext uri="{DCECCB84-F9BA-43D5-87BE-67443E8EF086}">
      <p15:sldGuideLst xmlns:p15="http://schemas.microsoft.com/office/powerpoint/2012/main"/>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470184645"/>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1392563445"/>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3381395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00805302"/>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1448657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5771804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8105470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445971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8163821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4100698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51871279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40827365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78532456"/>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973599133"/>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112920668"/>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472606649"/>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92054799"/>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3339822128"/>
      </p:ext>
    </p:extLst>
  </p:cSld>
  <p:clrMapOvr>
    <a:masterClrMapping/>
  </p:clrMapOvr>
  <p:extLst>
    <p:ext uri="{DCECCB84-F9BA-43D5-87BE-67443E8EF086}">
      <p15:sldGuideLst xmlns:p15="http://schemas.microsoft.com/office/powerpoint/2012/main"/>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2528255876"/>
      </p:ext>
    </p:extLst>
  </p:cSld>
  <p:clrMapOvr>
    <a:masterClrMapping/>
  </p:clrMapOvr>
  <p:extLst>
    <p:ext uri="{DCECCB84-F9BA-43D5-87BE-67443E8EF086}">
      <p15:sldGuideLst xmlns:p15="http://schemas.microsoft.com/office/powerpoint/2012/main"/>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98884876"/>
      </p:ext>
    </p:extLst>
  </p:cSld>
  <p:clrMapOvr>
    <a:masterClrMapping/>
  </p:clrMapOvr>
  <p:extLst>
    <p:ext uri="{DCECCB84-F9BA-43D5-87BE-67443E8EF086}">
      <p15:sldGuideLst xmlns:p15="http://schemas.microsoft.com/office/powerpoint/2012/main"/>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30171478"/>
      </p:ext>
    </p:extLst>
  </p:cSld>
  <p:clrMapOvr>
    <a:masterClrMapping/>
  </p:clrMapOvr>
  <p:extLst>
    <p:ext uri="{DCECCB84-F9BA-43D5-87BE-67443E8EF086}">
      <p15:sldGuideLst xmlns:p15="http://schemas.microsoft.com/office/powerpoint/2012/main"/>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4743433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937175118"/>
      </p:ext>
    </p:extLst>
  </p:cSld>
  <p:clrMapOvr>
    <a:masterClrMapping/>
  </p:clrMapOvr>
  <p:extLst>
    <p:ext uri="{DCECCB84-F9BA-43D5-87BE-67443E8EF086}">
      <p15:sldGuideLst xmlns:p15="http://schemas.microsoft.com/office/powerpoint/2012/main"/>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1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10126128"/>
      </p:ext>
    </p:extLst>
  </p:cSld>
  <p:clrMapOvr>
    <a:masterClrMapping/>
  </p:clrMapOvr>
  <p:extLst>
    <p:ext uri="{DCECCB84-F9BA-43D5-87BE-67443E8EF086}">
      <p15:sldGuideLst xmlns:p15="http://schemas.microsoft.com/office/powerpoint/2012/main"/>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1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32709584"/>
      </p:ext>
    </p:extLst>
  </p:cSld>
  <p:clrMapOvr>
    <a:masterClrMapping/>
  </p:clrMapOvr>
  <p:extLst>
    <p:ext uri="{DCECCB84-F9BA-43D5-87BE-67443E8EF086}">
      <p15:sldGuideLst xmlns:p15="http://schemas.microsoft.com/office/powerpoint/2012/main"/>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64085342"/>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391281091"/>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620798519"/>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2285167033"/>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287435180"/>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82708421"/>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793244245"/>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32687614"/>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264634505"/>
      </p:ext>
    </p:extLst>
  </p:cSld>
  <p:clrMapOvr>
    <a:masterClrMapping/>
  </p:clrMapOvr>
  <p:extLst>
    <p:ext uri="{DCECCB84-F9BA-43D5-87BE-67443E8EF086}">
      <p15:sldGuideLst xmlns:p15="http://schemas.microsoft.com/office/powerpoint/2012/main"/>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405079778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812542275"/>
      </p:ext>
    </p:extLst>
  </p:cSld>
  <p:clrMapOvr>
    <a:masterClrMapping/>
  </p:clrMapOvr>
  <p:extLst>
    <p:ext uri="{DCECCB84-F9BA-43D5-87BE-67443E8EF086}">
      <p15:sldGuideLst xmlns:p15="http://schemas.microsoft.com/office/powerpoint/2012/main"/>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084771135"/>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031668603"/>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784980259"/>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070819159"/>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4977949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1328833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6973910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287758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1243228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30408190"/>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92768406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7007889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903553739"/>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437814701"/>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9247125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0619279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51287379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105341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020826392"/>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135199493"/>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503650405"/>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282857088"/>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71528732"/>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2597488424"/>
      </p:ext>
    </p:extLst>
  </p:cSld>
  <p:clrMapOvr>
    <a:masterClrMapping/>
  </p:clrMapOvr>
  <p:extLst>
    <p:ext uri="{DCECCB84-F9BA-43D5-87BE-67443E8EF086}">
      <p15:sldGuideLst xmlns:p15="http://schemas.microsoft.com/office/powerpoint/2012/main"/>
    </p:ext>
  </p:extLs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2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25633515"/>
      </p:ext>
    </p:extLst>
  </p:cSld>
  <p:clrMapOvr>
    <a:masterClrMapping/>
  </p:clrMapOvr>
  <p:extLst>
    <p:ext uri="{DCECCB84-F9BA-43D5-87BE-67443E8EF086}">
      <p15:sldGuideLst xmlns:p15="http://schemas.microsoft.com/office/powerpoint/2012/main"/>
    </p:ext>
  </p:extLs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2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78588772"/>
      </p:ext>
    </p:extLst>
  </p:cSld>
  <p:clrMapOvr>
    <a:masterClrMapping/>
  </p:clrMapOvr>
  <p:extLst>
    <p:ext uri="{DCECCB84-F9BA-43D5-87BE-67443E8EF086}">
      <p15:sldGuideLst xmlns:p15="http://schemas.microsoft.com/office/powerpoint/2012/main"/>
    </p:ext>
  </p:extLs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2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21769739"/>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2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84277068"/>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2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8230105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2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25912735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2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67058978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2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40516537"/>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2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790909544"/>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3D428F3A-D733-8B67-32B3-983F97D55E36}"/>
              </a:ext>
            </a:extLst>
          </p:cNvPr>
          <p:cNvSpPr>
            <a:spLocks noGrp="1"/>
          </p:cNvSpPr>
          <p:nvPr>
            <p:ph type="ftr" sz="quarter" idx="10"/>
          </p:nvPr>
        </p:nvSpPr>
        <p:spPr/>
        <p:txBody>
          <a:bodyPr/>
          <a:lstStyle/>
          <a:p>
            <a:r>
              <a:rPr lang="en-US"/>
              <a:t>Presentation title    |    ONLY FOR INTERNAL USE</a:t>
            </a:r>
          </a:p>
        </p:txBody>
      </p:sp>
      <p:sp>
        <p:nvSpPr>
          <p:cNvPr id="3" name="灯片编号占位符 2">
            <a:extLst>
              <a:ext uri="{FF2B5EF4-FFF2-40B4-BE49-F238E27FC236}">
                <a16:creationId xmlns:a16="http://schemas.microsoft.com/office/drawing/2014/main" id="{11AB6B05-0426-0515-46E9-30F37ACE87C0}"/>
              </a:ext>
            </a:extLst>
          </p:cNvPr>
          <p:cNvSpPr>
            <a:spLocks noGrp="1"/>
          </p:cNvSpPr>
          <p:nvPr>
            <p:ph type="sldNum" sz="quarter" idx="11"/>
          </p:nvPr>
        </p:nvSpPr>
        <p:spPr/>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667704660"/>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CF9AB5-BE2F-FE3B-DEFF-5DFE70D64B5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E122F61-45E9-3571-CF37-F5E2F79A2838}"/>
              </a:ext>
            </a:extLst>
          </p:cNvPr>
          <p:cNvSpPr>
            <a:spLocks noGrp="1"/>
          </p:cNvSpPr>
          <p:nvPr>
            <p:ph type="dt" sz="half" idx="10"/>
          </p:nvPr>
        </p:nvSpPr>
        <p:spPr/>
        <p:txBody>
          <a:bodyPr/>
          <a:lstStyle/>
          <a:p>
            <a:fld id="{B2D0DF0C-1724-4D7F-B79B-1956A41AA1E8}" type="datetimeFigureOut">
              <a:rPr lang="zh-CN" altLang="en-US" smtClean="0"/>
              <a:t>2025/12/14</a:t>
            </a:fld>
            <a:endParaRPr lang="zh-CN" altLang="en-US"/>
          </a:p>
        </p:txBody>
      </p:sp>
      <p:sp>
        <p:nvSpPr>
          <p:cNvPr id="4" name="页脚占位符 3">
            <a:extLst>
              <a:ext uri="{FF2B5EF4-FFF2-40B4-BE49-F238E27FC236}">
                <a16:creationId xmlns:a16="http://schemas.microsoft.com/office/drawing/2014/main" id="{05AB7395-3B93-4731-6233-E5EC084C176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4B044BF-0261-6C18-DBA9-32DF8927BBAB}"/>
              </a:ext>
            </a:extLst>
          </p:cNvPr>
          <p:cNvSpPr>
            <a:spLocks noGrp="1"/>
          </p:cNvSpPr>
          <p:nvPr>
            <p:ph type="sldNum" sz="quarter" idx="12"/>
          </p:nvPr>
        </p:nvSpPr>
        <p:spPr/>
        <p:txBody>
          <a:bodyPr/>
          <a:lstStyle/>
          <a:p>
            <a:fld id="{8EEEBC61-59EE-4F34-A7D1-3D14A70EB880}" type="slidenum">
              <a:rPr lang="zh-CN" altLang="en-US" smtClean="0"/>
              <a:t>‹#›</a:t>
            </a:fld>
            <a:endParaRPr lang="zh-CN" altLang="en-US"/>
          </a:p>
        </p:txBody>
      </p:sp>
    </p:spTree>
    <p:extLst>
      <p:ext uri="{BB962C8B-B14F-4D97-AF65-F5344CB8AC3E}">
        <p14:creationId xmlns:p14="http://schemas.microsoft.com/office/powerpoint/2010/main" val="3561415755"/>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1_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4281588863"/>
      </p:ext>
    </p:extLst>
  </p:cSld>
  <p:clrMapOvr>
    <a:masterClrMapping/>
  </p:clrMapOvr>
  <p:extLst>
    <p:ext uri="{DCECCB84-F9BA-43D5-87BE-67443E8EF086}">
      <p15:sldGuideLst xmlns:p15="http://schemas.microsoft.com/office/powerpoint/2012/main"/>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3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80110646"/>
      </p:ext>
    </p:extLst>
  </p:cSld>
  <p:clrMapOvr>
    <a:masterClrMapping/>
  </p:clrMapOvr>
  <p:extLst>
    <p:ext uri="{DCECCB84-F9BA-43D5-87BE-67443E8EF086}">
      <p15:sldGuideLst xmlns:p15="http://schemas.microsoft.com/office/powerpoint/2012/main"/>
    </p:ext>
  </p:extLs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3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70266954"/>
      </p:ext>
    </p:extLst>
  </p:cSld>
  <p:clrMapOvr>
    <a:masterClrMapping/>
  </p:clrMapOvr>
  <p:extLst>
    <p:ext uri="{DCECCB84-F9BA-43D5-87BE-67443E8EF086}">
      <p15:sldGuideLst xmlns:p15="http://schemas.microsoft.com/office/powerpoint/2012/main"/>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3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50031094"/>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1_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5954017"/>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1_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661258174"/>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1_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24852114"/>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1_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443011326"/>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1_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077130593"/>
      </p:ext>
    </p:extLst>
  </p:cSld>
  <p:clrMapOvr>
    <a:masterClrMapping/>
  </p:clrMapOvr>
  <p:extLst>
    <p:ext uri="{DCECCB84-F9BA-43D5-87BE-67443E8EF086}">
      <p15:sldGuideLst xmlns:p15="http://schemas.microsoft.com/office/powerpoint/2012/main"/>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1_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510490671"/>
      </p:ext>
    </p:extLst>
  </p:cSld>
  <p:clrMapOvr>
    <a:masterClrMapping/>
  </p:clrMapOvr>
  <p:extLst>
    <p:ext uri="{DCECCB84-F9BA-43D5-87BE-67443E8EF086}">
      <p15:sldGuideLst xmlns:p15="http://schemas.microsoft.com/office/powerpoint/2012/main"/>
    </p:ext>
  </p:extLs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3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3258262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732490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2474979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3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510054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3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35267606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3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83167049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3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51218602"/>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3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342001497"/>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1_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61223320"/>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28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91635" y="274320"/>
            <a:ext cx="9217149" cy="630936"/>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ONLY FOR INTERNAL USE</a:t>
            </a:r>
          </a:p>
        </p:txBody>
      </p:sp>
      <p:sp>
        <p:nvSpPr>
          <p:cNvPr id="6" name="Foliennummernplatzhalter 4">
            <a:extLst>
              <a:ext uri="{FF2B5EF4-FFF2-40B4-BE49-F238E27FC236}">
                <a16:creationId xmlns:a16="http://schemas.microsoft.com/office/drawing/2014/main" id="{58D61E7A-4875-7711-5427-5F0C7A1521E5}"/>
              </a:ext>
            </a:extLst>
          </p:cNvPr>
          <p:cNvSpPr>
            <a:spLocks noGrp="1"/>
          </p:cNvSpPr>
          <p:nvPr>
            <p:ph type="sldNum" sz="quarter" idx="20"/>
          </p:nvPr>
        </p:nvSpPr>
        <p:spPr bwMode="gray">
          <a:xfrm>
            <a:off x="11860870" y="6510269"/>
            <a:ext cx="288000" cy="288000"/>
          </a:xfrm>
        </p:spPr>
        <p:txBody>
          <a:bodyPr/>
          <a:lstStyle>
            <a:lvl1pPr>
              <a:defRPr sz="900">
                <a:solidFill>
                  <a:schemeClr val="tx1"/>
                </a:solidFill>
              </a:defRPr>
            </a:lvl1pPr>
          </a:lstStyle>
          <a:p>
            <a:fld id="{DF4E8F9F-5B1F-4F5B-BE49-3245D8C18D9F}" type="slidenum">
              <a:rPr lang="en-US" smtClean="0"/>
              <a:pPr/>
              <a:t>‹#›</a:t>
            </a:fld>
            <a:endParaRPr lang="en-US"/>
          </a:p>
        </p:txBody>
      </p:sp>
    </p:spTree>
    <p:extLst>
      <p:ext uri="{BB962C8B-B14F-4D97-AF65-F5344CB8AC3E}">
        <p14:creationId xmlns:p14="http://schemas.microsoft.com/office/powerpoint/2010/main" val="1754771331"/>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p:cSld name="Title and Content - IQVIA">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4694" y="1286359"/>
            <a:ext cx="11338560" cy="4994125"/>
          </a:xfrm>
          <a:prstGeom prst="rect">
            <a:avLst/>
          </a:prstGeom>
        </p:spPr>
        <p:txBody>
          <a:bodyPr/>
          <a:lstStyle>
            <a:lvl1pPr marL="182880" indent="-182880">
              <a:lnSpc>
                <a:spcPct val="100000"/>
              </a:lnSpc>
              <a:spcBef>
                <a:spcPts val="1000"/>
              </a:spcBef>
              <a:defRPr sz="1600">
                <a:solidFill>
                  <a:schemeClr val="tx1"/>
                </a:solidFill>
              </a:defRPr>
            </a:lvl1pPr>
            <a:lvl2pPr marL="365760" indent="-182880">
              <a:lnSpc>
                <a:spcPct val="100000"/>
              </a:lnSpc>
              <a:spcBef>
                <a:spcPts val="800"/>
              </a:spcBef>
              <a:buFont typeface="Arial" panose="020B0604020202020204" pitchFamily="34" charset="0"/>
              <a:buChar char="-"/>
              <a:defRPr sz="1600">
                <a:solidFill>
                  <a:schemeClr val="tx1"/>
                </a:solidFill>
              </a:defRPr>
            </a:lvl2pPr>
            <a:lvl3pPr marL="548640" indent="-182880">
              <a:lnSpc>
                <a:spcPct val="100000"/>
              </a:lnSpc>
              <a:spcBef>
                <a:spcPts val="800"/>
              </a:spcBef>
              <a:buFont typeface="Arial" panose="020B0604020202020204" pitchFamily="34" charset="0"/>
              <a:buChar char="›"/>
              <a:defRPr sz="1600">
                <a:solidFill>
                  <a:schemeClr val="tx1"/>
                </a:solidFill>
              </a:defRPr>
            </a:lvl3pPr>
            <a:lvl4pPr marL="731520" indent="-182880">
              <a:lnSpc>
                <a:spcPct val="100000"/>
              </a:lnSpc>
              <a:spcBef>
                <a:spcPts val="800"/>
              </a:spcBef>
              <a:buFont typeface="Arial" panose="020B0604020202020204" pitchFamily="34" charset="0"/>
              <a:buChar char="»"/>
              <a:defRPr sz="1600">
                <a:solidFill>
                  <a:schemeClr val="tx1"/>
                </a:solidFill>
              </a:defRPr>
            </a:lvl4pPr>
            <a:lvl5pPr marL="914400" indent="-182880">
              <a:lnSpc>
                <a:spcPct val="100000"/>
              </a:lnSpc>
              <a:spcBef>
                <a:spcPts val="800"/>
              </a:spcBef>
              <a:buSzPct val="75000"/>
              <a:buFont typeface="Wingdings" panose="05000000000000000000" pitchFamily="2" charset="2"/>
              <a:buChar char="§"/>
              <a:defRPr sz="1600">
                <a:solidFill>
                  <a:schemeClr val="tx1"/>
                </a:solidFill>
              </a:defRPr>
            </a:lvl5pPr>
          </a:lstStyle>
          <a:p>
            <a:pPr lvl="0"/>
            <a:r>
              <a:rPr lang="en-US"/>
              <a:t>Arial 16pt bullet level 1</a:t>
            </a:r>
          </a:p>
          <a:p>
            <a:pPr lvl="1"/>
            <a:r>
              <a:rPr lang="en-US"/>
              <a:t>Arial 16pt bullet level 2</a:t>
            </a:r>
          </a:p>
          <a:p>
            <a:pPr lvl="2"/>
            <a:r>
              <a:rPr lang="en-US"/>
              <a:t>Arial 16pt bullet level 3</a:t>
            </a:r>
          </a:p>
          <a:p>
            <a:pPr lvl="3"/>
            <a:r>
              <a:rPr lang="en-US"/>
              <a:t>Arial 16pt bullet level 4</a:t>
            </a:r>
          </a:p>
          <a:p>
            <a:pPr lvl="4"/>
            <a:r>
              <a:rPr lang="en-US"/>
              <a:t>Arial 16pt bullet level 5</a:t>
            </a:r>
          </a:p>
        </p:txBody>
      </p:sp>
      <p:sp>
        <p:nvSpPr>
          <p:cNvPr id="13" name="Title 1"/>
          <p:cNvSpPr>
            <a:spLocks noGrp="1"/>
          </p:cNvSpPr>
          <p:nvPr>
            <p:ph type="title" hasCustomPrompt="1"/>
          </p:nvPr>
        </p:nvSpPr>
        <p:spPr>
          <a:xfrm>
            <a:off x="384694" y="294468"/>
            <a:ext cx="11338560" cy="768263"/>
          </a:xfrm>
          <a:prstGeom prst="rect">
            <a:avLst/>
          </a:prstGeom>
        </p:spPr>
        <p:txBody>
          <a:bodyPr anchor="b" anchorCtr="0"/>
          <a:lstStyle>
            <a:lvl1pPr>
              <a:defRPr sz="2800" b="1">
                <a:solidFill>
                  <a:schemeClr val="tx1"/>
                </a:solidFill>
              </a:defRPr>
            </a:lvl1pPr>
          </a:lstStyle>
          <a:p>
            <a:r>
              <a:rPr lang="en-US"/>
              <a:t>Headlines are 28pt Arial Bold sentence case</a:t>
            </a:r>
          </a:p>
        </p:txBody>
      </p:sp>
      <p:sp>
        <p:nvSpPr>
          <p:cNvPr id="54" name="Footer Placeholder 4">
            <a:extLst>
              <a:ext uri="{FF2B5EF4-FFF2-40B4-BE49-F238E27FC236}">
                <a16:creationId xmlns:a16="http://schemas.microsoft.com/office/drawing/2014/main" id="{7088911A-0046-5847-8D5E-667B718ECD3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Arial Narrow" panose="020B0606020202030204" pitchFamily="34" charset="0"/>
              </a:defRPr>
            </a:lvl1pPr>
          </a:lstStyle>
          <a:p>
            <a:endParaRPr lang="en-US"/>
          </a:p>
        </p:txBody>
      </p:sp>
      <p:sp>
        <p:nvSpPr>
          <p:cNvPr id="30" name="Slide Number Placeholder 5">
            <a:extLst>
              <a:ext uri="{FF2B5EF4-FFF2-40B4-BE49-F238E27FC236}">
                <a16:creationId xmlns:a16="http://schemas.microsoft.com/office/drawing/2014/main" id="{FCFC63C0-5262-4767-9F93-DEDAECE24DB7}"/>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pic>
        <p:nvPicPr>
          <p:cNvPr id="10" name="Graphic 9">
            <a:extLst>
              <a:ext uri="{FF2B5EF4-FFF2-40B4-BE49-F238E27FC236}">
                <a16:creationId xmlns:a16="http://schemas.microsoft.com/office/drawing/2014/main" id="{DB41C48F-5C1D-DE41-93AD-B4E269C3B3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267708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dt="0"/>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image" Target="../media/image2.svg"/><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image" Target="../media/image1.png"/><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87.xml"/><Relationship Id="rId18" Type="http://schemas.openxmlformats.org/officeDocument/2006/relationships/slideLayout" Target="../slideLayouts/slideLayout92.xml"/><Relationship Id="rId26" Type="http://schemas.openxmlformats.org/officeDocument/2006/relationships/slideLayout" Target="../slideLayouts/slideLayout100.xml"/><Relationship Id="rId21" Type="http://schemas.openxmlformats.org/officeDocument/2006/relationships/slideLayout" Target="../slideLayouts/slideLayout95.xml"/><Relationship Id="rId34" Type="http://schemas.openxmlformats.org/officeDocument/2006/relationships/slideLayout" Target="../slideLayouts/slideLayout108.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17" Type="http://schemas.openxmlformats.org/officeDocument/2006/relationships/slideLayout" Target="../slideLayouts/slideLayout91.xml"/><Relationship Id="rId25" Type="http://schemas.openxmlformats.org/officeDocument/2006/relationships/slideLayout" Target="../slideLayouts/slideLayout99.xml"/><Relationship Id="rId33" Type="http://schemas.openxmlformats.org/officeDocument/2006/relationships/slideLayout" Target="../slideLayouts/slideLayout107.xml"/><Relationship Id="rId2" Type="http://schemas.openxmlformats.org/officeDocument/2006/relationships/slideLayout" Target="../slideLayouts/slideLayout76.xml"/><Relationship Id="rId16" Type="http://schemas.openxmlformats.org/officeDocument/2006/relationships/slideLayout" Target="../slideLayouts/slideLayout90.xml"/><Relationship Id="rId20" Type="http://schemas.openxmlformats.org/officeDocument/2006/relationships/slideLayout" Target="../slideLayouts/slideLayout94.xml"/><Relationship Id="rId29" Type="http://schemas.openxmlformats.org/officeDocument/2006/relationships/slideLayout" Target="../slideLayouts/slideLayout103.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24" Type="http://schemas.openxmlformats.org/officeDocument/2006/relationships/slideLayout" Target="../slideLayouts/slideLayout98.xml"/><Relationship Id="rId32" Type="http://schemas.openxmlformats.org/officeDocument/2006/relationships/slideLayout" Target="../slideLayouts/slideLayout106.xml"/><Relationship Id="rId37" Type="http://schemas.openxmlformats.org/officeDocument/2006/relationships/image" Target="../media/image2.svg"/><Relationship Id="rId5" Type="http://schemas.openxmlformats.org/officeDocument/2006/relationships/slideLayout" Target="../slideLayouts/slideLayout79.xml"/><Relationship Id="rId15" Type="http://schemas.openxmlformats.org/officeDocument/2006/relationships/slideLayout" Target="../slideLayouts/slideLayout89.xml"/><Relationship Id="rId23" Type="http://schemas.openxmlformats.org/officeDocument/2006/relationships/slideLayout" Target="../slideLayouts/slideLayout97.xml"/><Relationship Id="rId28" Type="http://schemas.openxmlformats.org/officeDocument/2006/relationships/slideLayout" Target="../slideLayouts/slideLayout102.xml"/><Relationship Id="rId36" Type="http://schemas.openxmlformats.org/officeDocument/2006/relationships/image" Target="../media/image1.png"/><Relationship Id="rId10" Type="http://schemas.openxmlformats.org/officeDocument/2006/relationships/slideLayout" Target="../slideLayouts/slideLayout84.xml"/><Relationship Id="rId19" Type="http://schemas.openxmlformats.org/officeDocument/2006/relationships/slideLayout" Target="../slideLayouts/slideLayout93.xml"/><Relationship Id="rId31" Type="http://schemas.openxmlformats.org/officeDocument/2006/relationships/slideLayout" Target="../slideLayouts/slideLayout105.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slideLayout" Target="../slideLayouts/slideLayout88.xml"/><Relationship Id="rId22" Type="http://schemas.openxmlformats.org/officeDocument/2006/relationships/slideLayout" Target="../slideLayouts/slideLayout96.xml"/><Relationship Id="rId27" Type="http://schemas.openxmlformats.org/officeDocument/2006/relationships/slideLayout" Target="../slideLayouts/slideLayout101.xml"/><Relationship Id="rId30" Type="http://schemas.openxmlformats.org/officeDocument/2006/relationships/slideLayout" Target="../slideLayouts/slideLayout104.xml"/><Relationship Id="rId35" Type="http://schemas.openxmlformats.org/officeDocument/2006/relationships/theme" Target="../theme/theme2.xml"/><Relationship Id="rId8" Type="http://schemas.openxmlformats.org/officeDocument/2006/relationships/slideLayout" Target="../slideLayouts/slideLayout82.xml"/><Relationship Id="rId3" Type="http://schemas.openxmlformats.org/officeDocument/2006/relationships/slideLayout" Target="../slideLayouts/slideLayout7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34.xml"/><Relationship Id="rId21" Type="http://schemas.openxmlformats.org/officeDocument/2006/relationships/slideLayout" Target="../slideLayouts/slideLayout129.xml"/><Relationship Id="rId42" Type="http://schemas.openxmlformats.org/officeDocument/2006/relationships/slideLayout" Target="../slideLayouts/slideLayout150.xml"/><Relationship Id="rId47" Type="http://schemas.openxmlformats.org/officeDocument/2006/relationships/slideLayout" Target="../slideLayouts/slideLayout155.xml"/><Relationship Id="rId63" Type="http://schemas.openxmlformats.org/officeDocument/2006/relationships/slideLayout" Target="../slideLayouts/slideLayout171.xml"/><Relationship Id="rId68" Type="http://schemas.openxmlformats.org/officeDocument/2006/relationships/slideLayout" Target="../slideLayouts/slideLayout176.xml"/><Relationship Id="rId16" Type="http://schemas.openxmlformats.org/officeDocument/2006/relationships/slideLayout" Target="../slideLayouts/slideLayout124.xml"/><Relationship Id="rId11" Type="http://schemas.openxmlformats.org/officeDocument/2006/relationships/slideLayout" Target="../slideLayouts/slideLayout119.xml"/><Relationship Id="rId24" Type="http://schemas.openxmlformats.org/officeDocument/2006/relationships/slideLayout" Target="../slideLayouts/slideLayout132.xml"/><Relationship Id="rId32" Type="http://schemas.openxmlformats.org/officeDocument/2006/relationships/slideLayout" Target="../slideLayouts/slideLayout140.xml"/><Relationship Id="rId37" Type="http://schemas.openxmlformats.org/officeDocument/2006/relationships/slideLayout" Target="../slideLayouts/slideLayout145.xml"/><Relationship Id="rId40" Type="http://schemas.openxmlformats.org/officeDocument/2006/relationships/slideLayout" Target="../slideLayouts/slideLayout148.xml"/><Relationship Id="rId45" Type="http://schemas.openxmlformats.org/officeDocument/2006/relationships/slideLayout" Target="../slideLayouts/slideLayout153.xml"/><Relationship Id="rId53" Type="http://schemas.openxmlformats.org/officeDocument/2006/relationships/slideLayout" Target="../slideLayouts/slideLayout161.xml"/><Relationship Id="rId58" Type="http://schemas.openxmlformats.org/officeDocument/2006/relationships/slideLayout" Target="../slideLayouts/slideLayout166.xml"/><Relationship Id="rId66" Type="http://schemas.openxmlformats.org/officeDocument/2006/relationships/slideLayout" Target="../slideLayouts/slideLayout174.xml"/><Relationship Id="rId74" Type="http://schemas.openxmlformats.org/officeDocument/2006/relationships/slideLayout" Target="../slideLayouts/slideLayout182.xml"/><Relationship Id="rId5" Type="http://schemas.openxmlformats.org/officeDocument/2006/relationships/slideLayout" Target="../slideLayouts/slideLayout113.xml"/><Relationship Id="rId61" Type="http://schemas.openxmlformats.org/officeDocument/2006/relationships/slideLayout" Target="../slideLayouts/slideLayout169.xml"/><Relationship Id="rId19" Type="http://schemas.openxmlformats.org/officeDocument/2006/relationships/slideLayout" Target="../slideLayouts/slideLayout127.xml"/><Relationship Id="rId14" Type="http://schemas.openxmlformats.org/officeDocument/2006/relationships/slideLayout" Target="../slideLayouts/slideLayout122.xml"/><Relationship Id="rId22" Type="http://schemas.openxmlformats.org/officeDocument/2006/relationships/slideLayout" Target="../slideLayouts/slideLayout130.xml"/><Relationship Id="rId27" Type="http://schemas.openxmlformats.org/officeDocument/2006/relationships/slideLayout" Target="../slideLayouts/slideLayout135.xml"/><Relationship Id="rId30" Type="http://schemas.openxmlformats.org/officeDocument/2006/relationships/slideLayout" Target="../slideLayouts/slideLayout138.xml"/><Relationship Id="rId35" Type="http://schemas.openxmlformats.org/officeDocument/2006/relationships/slideLayout" Target="../slideLayouts/slideLayout143.xml"/><Relationship Id="rId43" Type="http://schemas.openxmlformats.org/officeDocument/2006/relationships/slideLayout" Target="../slideLayouts/slideLayout151.xml"/><Relationship Id="rId48" Type="http://schemas.openxmlformats.org/officeDocument/2006/relationships/slideLayout" Target="../slideLayouts/slideLayout156.xml"/><Relationship Id="rId56" Type="http://schemas.openxmlformats.org/officeDocument/2006/relationships/slideLayout" Target="../slideLayouts/slideLayout164.xml"/><Relationship Id="rId64" Type="http://schemas.openxmlformats.org/officeDocument/2006/relationships/slideLayout" Target="../slideLayouts/slideLayout172.xml"/><Relationship Id="rId69" Type="http://schemas.openxmlformats.org/officeDocument/2006/relationships/slideLayout" Target="../slideLayouts/slideLayout177.xml"/><Relationship Id="rId77" Type="http://schemas.openxmlformats.org/officeDocument/2006/relationships/image" Target="../media/image2.svg"/><Relationship Id="rId8" Type="http://schemas.openxmlformats.org/officeDocument/2006/relationships/slideLayout" Target="../slideLayouts/slideLayout116.xml"/><Relationship Id="rId51" Type="http://schemas.openxmlformats.org/officeDocument/2006/relationships/slideLayout" Target="../slideLayouts/slideLayout159.xml"/><Relationship Id="rId72" Type="http://schemas.openxmlformats.org/officeDocument/2006/relationships/slideLayout" Target="../slideLayouts/slideLayout180.xml"/><Relationship Id="rId3" Type="http://schemas.openxmlformats.org/officeDocument/2006/relationships/slideLayout" Target="../slideLayouts/slideLayout111.xml"/><Relationship Id="rId12" Type="http://schemas.openxmlformats.org/officeDocument/2006/relationships/slideLayout" Target="../slideLayouts/slideLayout120.xml"/><Relationship Id="rId17" Type="http://schemas.openxmlformats.org/officeDocument/2006/relationships/slideLayout" Target="../slideLayouts/slideLayout125.xml"/><Relationship Id="rId25" Type="http://schemas.openxmlformats.org/officeDocument/2006/relationships/slideLayout" Target="../slideLayouts/slideLayout133.xml"/><Relationship Id="rId33" Type="http://schemas.openxmlformats.org/officeDocument/2006/relationships/slideLayout" Target="../slideLayouts/slideLayout141.xml"/><Relationship Id="rId38" Type="http://schemas.openxmlformats.org/officeDocument/2006/relationships/slideLayout" Target="../slideLayouts/slideLayout146.xml"/><Relationship Id="rId46" Type="http://schemas.openxmlformats.org/officeDocument/2006/relationships/slideLayout" Target="../slideLayouts/slideLayout154.xml"/><Relationship Id="rId59" Type="http://schemas.openxmlformats.org/officeDocument/2006/relationships/slideLayout" Target="../slideLayouts/slideLayout167.xml"/><Relationship Id="rId67" Type="http://schemas.openxmlformats.org/officeDocument/2006/relationships/slideLayout" Target="../slideLayouts/slideLayout175.xml"/><Relationship Id="rId20" Type="http://schemas.openxmlformats.org/officeDocument/2006/relationships/slideLayout" Target="../slideLayouts/slideLayout128.xml"/><Relationship Id="rId41" Type="http://schemas.openxmlformats.org/officeDocument/2006/relationships/slideLayout" Target="../slideLayouts/slideLayout149.xml"/><Relationship Id="rId54" Type="http://schemas.openxmlformats.org/officeDocument/2006/relationships/slideLayout" Target="../slideLayouts/slideLayout162.xml"/><Relationship Id="rId62" Type="http://schemas.openxmlformats.org/officeDocument/2006/relationships/slideLayout" Target="../slideLayouts/slideLayout170.xml"/><Relationship Id="rId70" Type="http://schemas.openxmlformats.org/officeDocument/2006/relationships/slideLayout" Target="../slideLayouts/slideLayout178.xml"/><Relationship Id="rId75" Type="http://schemas.openxmlformats.org/officeDocument/2006/relationships/theme" Target="../theme/theme3.xml"/><Relationship Id="rId1" Type="http://schemas.openxmlformats.org/officeDocument/2006/relationships/slideLayout" Target="../slideLayouts/slideLayout109.xml"/><Relationship Id="rId6" Type="http://schemas.openxmlformats.org/officeDocument/2006/relationships/slideLayout" Target="../slideLayouts/slideLayout114.xml"/><Relationship Id="rId15" Type="http://schemas.openxmlformats.org/officeDocument/2006/relationships/slideLayout" Target="../slideLayouts/slideLayout123.xml"/><Relationship Id="rId23" Type="http://schemas.openxmlformats.org/officeDocument/2006/relationships/slideLayout" Target="../slideLayouts/slideLayout131.xml"/><Relationship Id="rId28" Type="http://schemas.openxmlformats.org/officeDocument/2006/relationships/slideLayout" Target="../slideLayouts/slideLayout136.xml"/><Relationship Id="rId36" Type="http://schemas.openxmlformats.org/officeDocument/2006/relationships/slideLayout" Target="../slideLayouts/slideLayout144.xml"/><Relationship Id="rId49" Type="http://schemas.openxmlformats.org/officeDocument/2006/relationships/slideLayout" Target="../slideLayouts/slideLayout157.xml"/><Relationship Id="rId57" Type="http://schemas.openxmlformats.org/officeDocument/2006/relationships/slideLayout" Target="../slideLayouts/slideLayout165.xml"/><Relationship Id="rId10" Type="http://schemas.openxmlformats.org/officeDocument/2006/relationships/slideLayout" Target="../slideLayouts/slideLayout118.xml"/><Relationship Id="rId31" Type="http://schemas.openxmlformats.org/officeDocument/2006/relationships/slideLayout" Target="../slideLayouts/slideLayout139.xml"/><Relationship Id="rId44" Type="http://schemas.openxmlformats.org/officeDocument/2006/relationships/slideLayout" Target="../slideLayouts/slideLayout152.xml"/><Relationship Id="rId52" Type="http://schemas.openxmlformats.org/officeDocument/2006/relationships/slideLayout" Target="../slideLayouts/slideLayout160.xml"/><Relationship Id="rId60" Type="http://schemas.openxmlformats.org/officeDocument/2006/relationships/slideLayout" Target="../slideLayouts/slideLayout168.xml"/><Relationship Id="rId65" Type="http://schemas.openxmlformats.org/officeDocument/2006/relationships/slideLayout" Target="../slideLayouts/slideLayout173.xml"/><Relationship Id="rId73" Type="http://schemas.openxmlformats.org/officeDocument/2006/relationships/slideLayout" Target="../slideLayouts/slideLayout181.xml"/><Relationship Id="rId4" Type="http://schemas.openxmlformats.org/officeDocument/2006/relationships/slideLayout" Target="../slideLayouts/slideLayout112.xml"/><Relationship Id="rId9" Type="http://schemas.openxmlformats.org/officeDocument/2006/relationships/slideLayout" Target="../slideLayouts/slideLayout117.xml"/><Relationship Id="rId13" Type="http://schemas.openxmlformats.org/officeDocument/2006/relationships/slideLayout" Target="../slideLayouts/slideLayout121.xml"/><Relationship Id="rId18" Type="http://schemas.openxmlformats.org/officeDocument/2006/relationships/slideLayout" Target="../slideLayouts/slideLayout126.xml"/><Relationship Id="rId39" Type="http://schemas.openxmlformats.org/officeDocument/2006/relationships/slideLayout" Target="../slideLayouts/slideLayout147.xml"/><Relationship Id="rId34" Type="http://schemas.openxmlformats.org/officeDocument/2006/relationships/slideLayout" Target="../slideLayouts/slideLayout142.xml"/><Relationship Id="rId50" Type="http://schemas.openxmlformats.org/officeDocument/2006/relationships/slideLayout" Target="../slideLayouts/slideLayout158.xml"/><Relationship Id="rId55" Type="http://schemas.openxmlformats.org/officeDocument/2006/relationships/slideLayout" Target="../slideLayouts/slideLayout163.xml"/><Relationship Id="rId76" Type="http://schemas.openxmlformats.org/officeDocument/2006/relationships/image" Target="../media/image1.png"/><Relationship Id="rId7" Type="http://schemas.openxmlformats.org/officeDocument/2006/relationships/slideLayout" Target="../slideLayouts/slideLayout115.xml"/><Relationship Id="rId71" Type="http://schemas.openxmlformats.org/officeDocument/2006/relationships/slideLayout" Target="../slideLayouts/slideLayout179.xml"/><Relationship Id="rId2" Type="http://schemas.openxmlformats.org/officeDocument/2006/relationships/slideLayout" Target="../slideLayouts/slideLayout110.xml"/><Relationship Id="rId29" Type="http://schemas.openxmlformats.org/officeDocument/2006/relationships/slideLayout" Target="../slideLayouts/slideLayout137.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95.xml"/><Relationship Id="rId18" Type="http://schemas.openxmlformats.org/officeDocument/2006/relationships/slideLayout" Target="../slideLayouts/slideLayout200.xml"/><Relationship Id="rId26" Type="http://schemas.openxmlformats.org/officeDocument/2006/relationships/slideLayout" Target="../slideLayouts/slideLayout208.xml"/><Relationship Id="rId3" Type="http://schemas.openxmlformats.org/officeDocument/2006/relationships/slideLayout" Target="../slideLayouts/slideLayout185.xml"/><Relationship Id="rId21" Type="http://schemas.openxmlformats.org/officeDocument/2006/relationships/slideLayout" Target="../slideLayouts/slideLayout203.xml"/><Relationship Id="rId34" Type="http://schemas.openxmlformats.org/officeDocument/2006/relationships/theme" Target="../theme/theme4.xml"/><Relationship Id="rId7" Type="http://schemas.openxmlformats.org/officeDocument/2006/relationships/slideLayout" Target="../slideLayouts/slideLayout189.xml"/><Relationship Id="rId12" Type="http://schemas.openxmlformats.org/officeDocument/2006/relationships/slideLayout" Target="../slideLayouts/slideLayout194.xml"/><Relationship Id="rId17" Type="http://schemas.openxmlformats.org/officeDocument/2006/relationships/slideLayout" Target="../slideLayouts/slideLayout199.xml"/><Relationship Id="rId25" Type="http://schemas.openxmlformats.org/officeDocument/2006/relationships/slideLayout" Target="../slideLayouts/slideLayout207.xml"/><Relationship Id="rId33" Type="http://schemas.openxmlformats.org/officeDocument/2006/relationships/slideLayout" Target="../slideLayouts/slideLayout215.xml"/><Relationship Id="rId2" Type="http://schemas.openxmlformats.org/officeDocument/2006/relationships/slideLayout" Target="../slideLayouts/slideLayout184.xml"/><Relationship Id="rId16" Type="http://schemas.openxmlformats.org/officeDocument/2006/relationships/slideLayout" Target="../slideLayouts/slideLayout198.xml"/><Relationship Id="rId20" Type="http://schemas.openxmlformats.org/officeDocument/2006/relationships/slideLayout" Target="../slideLayouts/slideLayout202.xml"/><Relationship Id="rId29" Type="http://schemas.openxmlformats.org/officeDocument/2006/relationships/slideLayout" Target="../slideLayouts/slideLayout211.xml"/><Relationship Id="rId1" Type="http://schemas.openxmlformats.org/officeDocument/2006/relationships/slideLayout" Target="../slideLayouts/slideLayout183.xml"/><Relationship Id="rId6" Type="http://schemas.openxmlformats.org/officeDocument/2006/relationships/slideLayout" Target="../slideLayouts/slideLayout188.xml"/><Relationship Id="rId11" Type="http://schemas.openxmlformats.org/officeDocument/2006/relationships/slideLayout" Target="../slideLayouts/slideLayout193.xml"/><Relationship Id="rId24" Type="http://schemas.openxmlformats.org/officeDocument/2006/relationships/slideLayout" Target="../slideLayouts/slideLayout206.xml"/><Relationship Id="rId32" Type="http://schemas.openxmlformats.org/officeDocument/2006/relationships/slideLayout" Target="../slideLayouts/slideLayout214.xml"/><Relationship Id="rId5" Type="http://schemas.openxmlformats.org/officeDocument/2006/relationships/slideLayout" Target="../slideLayouts/slideLayout187.xml"/><Relationship Id="rId15" Type="http://schemas.openxmlformats.org/officeDocument/2006/relationships/slideLayout" Target="../slideLayouts/slideLayout197.xml"/><Relationship Id="rId23" Type="http://schemas.openxmlformats.org/officeDocument/2006/relationships/slideLayout" Target="../slideLayouts/slideLayout205.xml"/><Relationship Id="rId28" Type="http://schemas.openxmlformats.org/officeDocument/2006/relationships/slideLayout" Target="../slideLayouts/slideLayout210.xml"/><Relationship Id="rId36" Type="http://schemas.openxmlformats.org/officeDocument/2006/relationships/image" Target="../media/image2.svg"/><Relationship Id="rId10" Type="http://schemas.openxmlformats.org/officeDocument/2006/relationships/slideLayout" Target="../slideLayouts/slideLayout192.xml"/><Relationship Id="rId19" Type="http://schemas.openxmlformats.org/officeDocument/2006/relationships/slideLayout" Target="../slideLayouts/slideLayout201.xml"/><Relationship Id="rId31" Type="http://schemas.openxmlformats.org/officeDocument/2006/relationships/slideLayout" Target="../slideLayouts/slideLayout213.xml"/><Relationship Id="rId4" Type="http://schemas.openxmlformats.org/officeDocument/2006/relationships/slideLayout" Target="../slideLayouts/slideLayout186.xml"/><Relationship Id="rId9" Type="http://schemas.openxmlformats.org/officeDocument/2006/relationships/slideLayout" Target="../slideLayouts/slideLayout191.xml"/><Relationship Id="rId14" Type="http://schemas.openxmlformats.org/officeDocument/2006/relationships/slideLayout" Target="../slideLayouts/slideLayout196.xml"/><Relationship Id="rId22" Type="http://schemas.openxmlformats.org/officeDocument/2006/relationships/slideLayout" Target="../slideLayouts/slideLayout204.xml"/><Relationship Id="rId27" Type="http://schemas.openxmlformats.org/officeDocument/2006/relationships/slideLayout" Target="../slideLayouts/slideLayout209.xml"/><Relationship Id="rId30" Type="http://schemas.openxmlformats.org/officeDocument/2006/relationships/slideLayout" Target="../slideLayouts/slideLayout212.xml"/><Relationship Id="rId35" Type="http://schemas.openxmlformats.org/officeDocument/2006/relationships/image" Target="../media/image1.png"/><Relationship Id="rId8" Type="http://schemas.openxmlformats.org/officeDocument/2006/relationships/slideLayout" Target="../slideLayouts/slideLayout190.xml"/></Relationships>
</file>

<file path=ppt/slideMasters/_rels/slideMaster5.xml.rels><?xml version="1.0" encoding="UTF-8" standalone="yes"?>
<Relationships xmlns="http://schemas.openxmlformats.org/package/2006/relationships"><Relationship Id="rId26" Type="http://schemas.openxmlformats.org/officeDocument/2006/relationships/slideLayout" Target="../slideLayouts/slideLayout241.xml"/><Relationship Id="rId21" Type="http://schemas.openxmlformats.org/officeDocument/2006/relationships/slideLayout" Target="../slideLayouts/slideLayout236.xml"/><Relationship Id="rId42" Type="http://schemas.openxmlformats.org/officeDocument/2006/relationships/slideLayout" Target="../slideLayouts/slideLayout257.xml"/><Relationship Id="rId47" Type="http://schemas.openxmlformats.org/officeDocument/2006/relationships/slideLayout" Target="../slideLayouts/slideLayout262.xml"/><Relationship Id="rId63" Type="http://schemas.openxmlformats.org/officeDocument/2006/relationships/slideLayout" Target="../slideLayouts/slideLayout278.xml"/><Relationship Id="rId68" Type="http://schemas.openxmlformats.org/officeDocument/2006/relationships/slideLayout" Target="../slideLayouts/slideLayout283.xml"/><Relationship Id="rId16" Type="http://schemas.openxmlformats.org/officeDocument/2006/relationships/slideLayout" Target="../slideLayouts/slideLayout231.xml"/><Relationship Id="rId11" Type="http://schemas.openxmlformats.org/officeDocument/2006/relationships/slideLayout" Target="../slideLayouts/slideLayout226.xml"/><Relationship Id="rId24" Type="http://schemas.openxmlformats.org/officeDocument/2006/relationships/slideLayout" Target="../slideLayouts/slideLayout239.xml"/><Relationship Id="rId32" Type="http://schemas.openxmlformats.org/officeDocument/2006/relationships/slideLayout" Target="../slideLayouts/slideLayout247.xml"/><Relationship Id="rId37" Type="http://schemas.openxmlformats.org/officeDocument/2006/relationships/slideLayout" Target="../slideLayouts/slideLayout252.xml"/><Relationship Id="rId40" Type="http://schemas.openxmlformats.org/officeDocument/2006/relationships/slideLayout" Target="../slideLayouts/slideLayout255.xml"/><Relationship Id="rId45" Type="http://schemas.openxmlformats.org/officeDocument/2006/relationships/slideLayout" Target="../slideLayouts/slideLayout260.xml"/><Relationship Id="rId53" Type="http://schemas.openxmlformats.org/officeDocument/2006/relationships/slideLayout" Target="../slideLayouts/slideLayout268.xml"/><Relationship Id="rId58" Type="http://schemas.openxmlformats.org/officeDocument/2006/relationships/slideLayout" Target="../slideLayouts/slideLayout273.xml"/><Relationship Id="rId66" Type="http://schemas.openxmlformats.org/officeDocument/2006/relationships/slideLayout" Target="../slideLayouts/slideLayout281.xml"/><Relationship Id="rId74" Type="http://schemas.openxmlformats.org/officeDocument/2006/relationships/slideLayout" Target="../slideLayouts/slideLayout289.xml"/><Relationship Id="rId5" Type="http://schemas.openxmlformats.org/officeDocument/2006/relationships/slideLayout" Target="../slideLayouts/slideLayout220.xml"/><Relationship Id="rId61" Type="http://schemas.openxmlformats.org/officeDocument/2006/relationships/slideLayout" Target="../slideLayouts/slideLayout276.xml"/><Relationship Id="rId19" Type="http://schemas.openxmlformats.org/officeDocument/2006/relationships/slideLayout" Target="../slideLayouts/slideLayout234.xml"/><Relationship Id="rId14" Type="http://schemas.openxmlformats.org/officeDocument/2006/relationships/slideLayout" Target="../slideLayouts/slideLayout229.xml"/><Relationship Id="rId22" Type="http://schemas.openxmlformats.org/officeDocument/2006/relationships/slideLayout" Target="../slideLayouts/slideLayout237.xml"/><Relationship Id="rId27" Type="http://schemas.openxmlformats.org/officeDocument/2006/relationships/slideLayout" Target="../slideLayouts/slideLayout242.xml"/><Relationship Id="rId30" Type="http://schemas.openxmlformats.org/officeDocument/2006/relationships/slideLayout" Target="../slideLayouts/slideLayout245.xml"/><Relationship Id="rId35" Type="http://schemas.openxmlformats.org/officeDocument/2006/relationships/slideLayout" Target="../slideLayouts/slideLayout250.xml"/><Relationship Id="rId43" Type="http://schemas.openxmlformats.org/officeDocument/2006/relationships/slideLayout" Target="../slideLayouts/slideLayout258.xml"/><Relationship Id="rId48" Type="http://schemas.openxmlformats.org/officeDocument/2006/relationships/slideLayout" Target="../slideLayouts/slideLayout263.xml"/><Relationship Id="rId56" Type="http://schemas.openxmlformats.org/officeDocument/2006/relationships/slideLayout" Target="../slideLayouts/slideLayout271.xml"/><Relationship Id="rId64" Type="http://schemas.openxmlformats.org/officeDocument/2006/relationships/slideLayout" Target="../slideLayouts/slideLayout279.xml"/><Relationship Id="rId69" Type="http://schemas.openxmlformats.org/officeDocument/2006/relationships/slideLayout" Target="../slideLayouts/slideLayout284.xml"/><Relationship Id="rId77" Type="http://schemas.openxmlformats.org/officeDocument/2006/relationships/image" Target="../media/image2.svg"/><Relationship Id="rId8" Type="http://schemas.openxmlformats.org/officeDocument/2006/relationships/slideLayout" Target="../slideLayouts/slideLayout223.xml"/><Relationship Id="rId51" Type="http://schemas.openxmlformats.org/officeDocument/2006/relationships/slideLayout" Target="../slideLayouts/slideLayout266.xml"/><Relationship Id="rId72" Type="http://schemas.openxmlformats.org/officeDocument/2006/relationships/slideLayout" Target="../slideLayouts/slideLayout287.xml"/><Relationship Id="rId3" Type="http://schemas.openxmlformats.org/officeDocument/2006/relationships/slideLayout" Target="../slideLayouts/slideLayout218.xml"/><Relationship Id="rId12" Type="http://schemas.openxmlformats.org/officeDocument/2006/relationships/slideLayout" Target="../slideLayouts/slideLayout227.xml"/><Relationship Id="rId17" Type="http://schemas.openxmlformats.org/officeDocument/2006/relationships/slideLayout" Target="../slideLayouts/slideLayout232.xml"/><Relationship Id="rId25" Type="http://schemas.openxmlformats.org/officeDocument/2006/relationships/slideLayout" Target="../slideLayouts/slideLayout240.xml"/><Relationship Id="rId33" Type="http://schemas.openxmlformats.org/officeDocument/2006/relationships/slideLayout" Target="../slideLayouts/slideLayout248.xml"/><Relationship Id="rId38" Type="http://schemas.openxmlformats.org/officeDocument/2006/relationships/slideLayout" Target="../slideLayouts/slideLayout253.xml"/><Relationship Id="rId46" Type="http://schemas.openxmlformats.org/officeDocument/2006/relationships/slideLayout" Target="../slideLayouts/slideLayout261.xml"/><Relationship Id="rId59" Type="http://schemas.openxmlformats.org/officeDocument/2006/relationships/slideLayout" Target="../slideLayouts/slideLayout274.xml"/><Relationship Id="rId67" Type="http://schemas.openxmlformats.org/officeDocument/2006/relationships/slideLayout" Target="../slideLayouts/slideLayout282.xml"/><Relationship Id="rId20" Type="http://schemas.openxmlformats.org/officeDocument/2006/relationships/slideLayout" Target="../slideLayouts/slideLayout235.xml"/><Relationship Id="rId41" Type="http://schemas.openxmlformats.org/officeDocument/2006/relationships/slideLayout" Target="../slideLayouts/slideLayout256.xml"/><Relationship Id="rId54" Type="http://schemas.openxmlformats.org/officeDocument/2006/relationships/slideLayout" Target="../slideLayouts/slideLayout269.xml"/><Relationship Id="rId62" Type="http://schemas.openxmlformats.org/officeDocument/2006/relationships/slideLayout" Target="../slideLayouts/slideLayout277.xml"/><Relationship Id="rId70" Type="http://schemas.openxmlformats.org/officeDocument/2006/relationships/slideLayout" Target="../slideLayouts/slideLayout285.xml"/><Relationship Id="rId75" Type="http://schemas.openxmlformats.org/officeDocument/2006/relationships/theme" Target="../theme/theme5.xml"/><Relationship Id="rId1" Type="http://schemas.openxmlformats.org/officeDocument/2006/relationships/slideLayout" Target="../slideLayouts/slideLayout216.xml"/><Relationship Id="rId6" Type="http://schemas.openxmlformats.org/officeDocument/2006/relationships/slideLayout" Target="../slideLayouts/slideLayout221.xml"/><Relationship Id="rId15" Type="http://schemas.openxmlformats.org/officeDocument/2006/relationships/slideLayout" Target="../slideLayouts/slideLayout230.xml"/><Relationship Id="rId23" Type="http://schemas.openxmlformats.org/officeDocument/2006/relationships/slideLayout" Target="../slideLayouts/slideLayout238.xml"/><Relationship Id="rId28" Type="http://schemas.openxmlformats.org/officeDocument/2006/relationships/slideLayout" Target="../slideLayouts/slideLayout243.xml"/><Relationship Id="rId36" Type="http://schemas.openxmlformats.org/officeDocument/2006/relationships/slideLayout" Target="../slideLayouts/slideLayout251.xml"/><Relationship Id="rId49" Type="http://schemas.openxmlformats.org/officeDocument/2006/relationships/slideLayout" Target="../slideLayouts/slideLayout264.xml"/><Relationship Id="rId57" Type="http://schemas.openxmlformats.org/officeDocument/2006/relationships/slideLayout" Target="../slideLayouts/slideLayout272.xml"/><Relationship Id="rId10" Type="http://schemas.openxmlformats.org/officeDocument/2006/relationships/slideLayout" Target="../slideLayouts/slideLayout225.xml"/><Relationship Id="rId31" Type="http://schemas.openxmlformats.org/officeDocument/2006/relationships/slideLayout" Target="../slideLayouts/slideLayout246.xml"/><Relationship Id="rId44" Type="http://schemas.openxmlformats.org/officeDocument/2006/relationships/slideLayout" Target="../slideLayouts/slideLayout259.xml"/><Relationship Id="rId52" Type="http://schemas.openxmlformats.org/officeDocument/2006/relationships/slideLayout" Target="../slideLayouts/slideLayout267.xml"/><Relationship Id="rId60" Type="http://schemas.openxmlformats.org/officeDocument/2006/relationships/slideLayout" Target="../slideLayouts/slideLayout275.xml"/><Relationship Id="rId65" Type="http://schemas.openxmlformats.org/officeDocument/2006/relationships/slideLayout" Target="../slideLayouts/slideLayout280.xml"/><Relationship Id="rId73" Type="http://schemas.openxmlformats.org/officeDocument/2006/relationships/slideLayout" Target="../slideLayouts/slideLayout288.xml"/><Relationship Id="rId4" Type="http://schemas.openxmlformats.org/officeDocument/2006/relationships/slideLayout" Target="../slideLayouts/slideLayout219.xml"/><Relationship Id="rId9" Type="http://schemas.openxmlformats.org/officeDocument/2006/relationships/slideLayout" Target="../slideLayouts/slideLayout224.xml"/><Relationship Id="rId13" Type="http://schemas.openxmlformats.org/officeDocument/2006/relationships/slideLayout" Target="../slideLayouts/slideLayout228.xml"/><Relationship Id="rId18" Type="http://schemas.openxmlformats.org/officeDocument/2006/relationships/slideLayout" Target="../slideLayouts/slideLayout233.xml"/><Relationship Id="rId39" Type="http://schemas.openxmlformats.org/officeDocument/2006/relationships/slideLayout" Target="../slideLayouts/slideLayout254.xml"/><Relationship Id="rId34" Type="http://schemas.openxmlformats.org/officeDocument/2006/relationships/slideLayout" Target="../slideLayouts/slideLayout249.xml"/><Relationship Id="rId50" Type="http://schemas.openxmlformats.org/officeDocument/2006/relationships/slideLayout" Target="../slideLayouts/slideLayout265.xml"/><Relationship Id="rId55" Type="http://schemas.openxmlformats.org/officeDocument/2006/relationships/slideLayout" Target="../slideLayouts/slideLayout270.xml"/><Relationship Id="rId76" Type="http://schemas.openxmlformats.org/officeDocument/2006/relationships/image" Target="../media/image1.png"/><Relationship Id="rId7" Type="http://schemas.openxmlformats.org/officeDocument/2006/relationships/slideLayout" Target="../slideLayouts/slideLayout222.xml"/><Relationship Id="rId71" Type="http://schemas.openxmlformats.org/officeDocument/2006/relationships/slideLayout" Target="../slideLayouts/slideLayout286.xml"/><Relationship Id="rId2" Type="http://schemas.openxmlformats.org/officeDocument/2006/relationships/slideLayout" Target="../slideLayouts/slideLayout217.xml"/><Relationship Id="rId29" Type="http://schemas.openxmlformats.org/officeDocument/2006/relationships/slideLayout" Target="../slideLayouts/slideLayout2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76">
            <a:extLst>
              <a:ext uri="{96DAC541-7B7A-43D3-8B79-37D633B846F1}">
                <asvg:svgBlip xmlns:asvg="http://schemas.microsoft.com/office/drawing/2016/SVG/main" r:embed="rId77"/>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2393391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TA-CEC Presentation Template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542249833"/>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49" r:id="rId14"/>
    <p:sldLayoutId id="2147483750" r:id="rId15"/>
    <p:sldLayoutId id="2147483751" r:id="rId16"/>
    <p:sldLayoutId id="2147483752" r:id="rId17"/>
    <p:sldLayoutId id="2147483753" r:id="rId18"/>
    <p:sldLayoutId id="2147483754" r:id="rId19"/>
    <p:sldLayoutId id="2147483755" r:id="rId20"/>
    <p:sldLayoutId id="2147483756" r:id="rId21"/>
    <p:sldLayoutId id="2147483757" r:id="rId22"/>
    <p:sldLayoutId id="2147483758" r:id="rId23"/>
    <p:sldLayoutId id="2147483759" r:id="rId24"/>
    <p:sldLayoutId id="2147483760" r:id="rId25"/>
    <p:sldLayoutId id="2147483761" r:id="rId26"/>
    <p:sldLayoutId id="2147483762" r:id="rId27"/>
    <p:sldLayoutId id="2147483763" r:id="rId28"/>
    <p:sldLayoutId id="2147483764" r:id="rId29"/>
    <p:sldLayoutId id="2147483765" r:id="rId30"/>
    <p:sldLayoutId id="2147483766" r:id="rId31"/>
    <p:sldLayoutId id="2147483767" r:id="rId32"/>
    <p:sldLayoutId id="2147483768" r:id="rId33"/>
    <p:sldLayoutId id="2147483769" r:id="rId34"/>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BI 3802876-CEC meeting 8th April 2025 / For internal use only</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76">
            <a:extLst>
              <a:ext uri="{96DAC541-7B7A-43D3-8B79-37D633B846F1}">
                <asvg:svgBlip xmlns:asvg="http://schemas.microsoft.com/office/drawing/2016/SVG/main" r:embed="rId77"/>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872224610"/>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 id="2147483783" r:id="rId13"/>
    <p:sldLayoutId id="2147483784" r:id="rId14"/>
    <p:sldLayoutId id="2147483785" r:id="rId15"/>
    <p:sldLayoutId id="2147483786" r:id="rId16"/>
    <p:sldLayoutId id="2147483787" r:id="rId17"/>
    <p:sldLayoutId id="2147483788" r:id="rId18"/>
    <p:sldLayoutId id="2147483789" r:id="rId19"/>
    <p:sldLayoutId id="2147483790" r:id="rId20"/>
    <p:sldLayoutId id="2147483791" r:id="rId21"/>
    <p:sldLayoutId id="2147483792" r:id="rId22"/>
    <p:sldLayoutId id="2147483793" r:id="rId23"/>
    <p:sldLayoutId id="2147483794" r:id="rId24"/>
    <p:sldLayoutId id="2147483795" r:id="rId25"/>
    <p:sldLayoutId id="2147483796" r:id="rId26"/>
    <p:sldLayoutId id="2147483797" r:id="rId27"/>
    <p:sldLayoutId id="2147483798" r:id="rId28"/>
    <p:sldLayoutId id="2147483799" r:id="rId29"/>
    <p:sldLayoutId id="2147483800" r:id="rId30"/>
    <p:sldLayoutId id="2147483801" r:id="rId31"/>
    <p:sldLayoutId id="2147483802" r:id="rId32"/>
    <p:sldLayoutId id="2147483803" r:id="rId33"/>
    <p:sldLayoutId id="2147483804" r:id="rId34"/>
    <p:sldLayoutId id="2147483805" r:id="rId35"/>
    <p:sldLayoutId id="2147483806" r:id="rId36"/>
    <p:sldLayoutId id="2147483807" r:id="rId37"/>
    <p:sldLayoutId id="2147483808" r:id="rId38"/>
    <p:sldLayoutId id="2147483809" r:id="rId39"/>
    <p:sldLayoutId id="2147483810" r:id="rId40"/>
    <p:sldLayoutId id="2147483811" r:id="rId41"/>
    <p:sldLayoutId id="2147483812" r:id="rId42"/>
    <p:sldLayoutId id="2147483813" r:id="rId43"/>
    <p:sldLayoutId id="2147483814" r:id="rId44"/>
    <p:sldLayoutId id="2147483815" r:id="rId45"/>
    <p:sldLayoutId id="2147483816" r:id="rId46"/>
    <p:sldLayoutId id="2147483817" r:id="rId47"/>
    <p:sldLayoutId id="2147483818" r:id="rId48"/>
    <p:sldLayoutId id="2147483819" r:id="rId49"/>
    <p:sldLayoutId id="2147483820" r:id="rId50"/>
    <p:sldLayoutId id="2147483821" r:id="rId51"/>
    <p:sldLayoutId id="2147483822" r:id="rId52"/>
    <p:sldLayoutId id="2147483823" r:id="rId53"/>
    <p:sldLayoutId id="2147483824" r:id="rId54"/>
    <p:sldLayoutId id="2147483825" r:id="rId55"/>
    <p:sldLayoutId id="2147483826" r:id="rId56"/>
    <p:sldLayoutId id="2147483827" r:id="rId57"/>
    <p:sldLayoutId id="2147483828" r:id="rId58"/>
    <p:sldLayoutId id="2147483829" r:id="rId59"/>
    <p:sldLayoutId id="2147483830" r:id="rId60"/>
    <p:sldLayoutId id="2147483831" r:id="rId61"/>
    <p:sldLayoutId id="2147483832" r:id="rId62"/>
    <p:sldLayoutId id="2147483833" r:id="rId63"/>
    <p:sldLayoutId id="2147483834" r:id="rId64"/>
    <p:sldLayoutId id="2147483835" r:id="rId65"/>
    <p:sldLayoutId id="2147483836" r:id="rId66"/>
    <p:sldLayoutId id="2147483837" r:id="rId67"/>
    <p:sldLayoutId id="2147483838" r:id="rId68"/>
    <p:sldLayoutId id="2147483839" r:id="rId69"/>
    <p:sldLayoutId id="2147483840" r:id="rId70"/>
    <p:sldLayoutId id="2147483841" r:id="rId71"/>
    <p:sldLayoutId id="2147483842" r:id="rId72"/>
    <p:sldLayoutId id="2147483843" r:id="rId73"/>
    <p:sldLayoutId id="2147483844" r:id="rId74"/>
  </p:sldLayoutIdLst>
  <p:hf sldNum="0"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5">
            <a:extLst>
              <a:ext uri="{96DAC541-7B7A-43D3-8B79-37D633B846F1}">
                <asvg:svgBlip xmlns:asvg="http://schemas.microsoft.com/office/drawing/2016/SVG/main" r:embed="rId36"/>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585041019"/>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848" r:id="rId3"/>
    <p:sldLayoutId id="2147483849" r:id="rId4"/>
    <p:sldLayoutId id="2147483850" r:id="rId5"/>
    <p:sldLayoutId id="2147483851" r:id="rId6"/>
    <p:sldLayoutId id="2147483852" r:id="rId7"/>
    <p:sldLayoutId id="2147483853" r:id="rId8"/>
    <p:sldLayoutId id="2147483854" r:id="rId9"/>
    <p:sldLayoutId id="2147483855" r:id="rId10"/>
    <p:sldLayoutId id="2147483856" r:id="rId11"/>
    <p:sldLayoutId id="2147483857" r:id="rId12"/>
    <p:sldLayoutId id="2147483858" r:id="rId13"/>
    <p:sldLayoutId id="2147483859" r:id="rId14"/>
    <p:sldLayoutId id="2147483860" r:id="rId15"/>
    <p:sldLayoutId id="2147483861" r:id="rId16"/>
    <p:sldLayoutId id="2147483862" r:id="rId17"/>
    <p:sldLayoutId id="2147483863" r:id="rId18"/>
    <p:sldLayoutId id="2147483864" r:id="rId19"/>
    <p:sldLayoutId id="2147483865" r:id="rId20"/>
    <p:sldLayoutId id="2147483866" r:id="rId21"/>
    <p:sldLayoutId id="2147483867" r:id="rId22"/>
    <p:sldLayoutId id="2147483868" r:id="rId23"/>
    <p:sldLayoutId id="2147483869" r:id="rId24"/>
    <p:sldLayoutId id="2147483870" r:id="rId25"/>
    <p:sldLayoutId id="2147483871" r:id="rId26"/>
    <p:sldLayoutId id="2147483872" r:id="rId27"/>
    <p:sldLayoutId id="2147483873" r:id="rId28"/>
    <p:sldLayoutId id="2147483874" r:id="rId29"/>
    <p:sldLayoutId id="2147483875" r:id="rId30"/>
    <p:sldLayoutId id="2147483876" r:id="rId31"/>
    <p:sldLayoutId id="2147483877" r:id="rId32"/>
    <p:sldLayoutId id="2147483878" r:id="rId33"/>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76">
            <a:extLst>
              <a:ext uri="{96DAC541-7B7A-43D3-8B79-37D633B846F1}">
                <asvg:svgBlip xmlns:asvg="http://schemas.microsoft.com/office/drawing/2016/SVG/main" r:embed="rId77"/>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239339106"/>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 id="2147483886" r:id="rId7"/>
    <p:sldLayoutId id="2147483887" r:id="rId8"/>
    <p:sldLayoutId id="2147483888" r:id="rId9"/>
    <p:sldLayoutId id="2147483889" r:id="rId10"/>
    <p:sldLayoutId id="2147483890" r:id="rId11"/>
    <p:sldLayoutId id="2147483891" r:id="rId12"/>
    <p:sldLayoutId id="2147483892" r:id="rId13"/>
    <p:sldLayoutId id="2147483893" r:id="rId14"/>
    <p:sldLayoutId id="2147483894" r:id="rId15"/>
    <p:sldLayoutId id="2147483895" r:id="rId16"/>
    <p:sldLayoutId id="2147483896" r:id="rId17"/>
    <p:sldLayoutId id="2147483897" r:id="rId18"/>
    <p:sldLayoutId id="2147483898" r:id="rId19"/>
    <p:sldLayoutId id="2147483899" r:id="rId20"/>
    <p:sldLayoutId id="2147483900" r:id="rId21"/>
    <p:sldLayoutId id="2147483901" r:id="rId22"/>
    <p:sldLayoutId id="2147483902" r:id="rId23"/>
    <p:sldLayoutId id="2147483903" r:id="rId24"/>
    <p:sldLayoutId id="2147483904" r:id="rId25"/>
    <p:sldLayoutId id="2147483905" r:id="rId26"/>
    <p:sldLayoutId id="2147483906" r:id="rId27"/>
    <p:sldLayoutId id="2147483907" r:id="rId28"/>
    <p:sldLayoutId id="2147483908" r:id="rId29"/>
    <p:sldLayoutId id="2147483909" r:id="rId30"/>
    <p:sldLayoutId id="2147483910" r:id="rId31"/>
    <p:sldLayoutId id="2147483911" r:id="rId32"/>
    <p:sldLayoutId id="2147483912" r:id="rId33"/>
    <p:sldLayoutId id="2147483913" r:id="rId34"/>
    <p:sldLayoutId id="2147483914" r:id="rId35"/>
    <p:sldLayoutId id="2147483915" r:id="rId36"/>
    <p:sldLayoutId id="2147483916" r:id="rId37"/>
    <p:sldLayoutId id="2147483917" r:id="rId38"/>
    <p:sldLayoutId id="2147483918" r:id="rId39"/>
    <p:sldLayoutId id="2147483919" r:id="rId40"/>
    <p:sldLayoutId id="2147483920" r:id="rId41"/>
    <p:sldLayoutId id="2147483921" r:id="rId42"/>
    <p:sldLayoutId id="2147483922" r:id="rId43"/>
    <p:sldLayoutId id="2147483923" r:id="rId44"/>
    <p:sldLayoutId id="2147483924" r:id="rId45"/>
    <p:sldLayoutId id="2147483925" r:id="rId46"/>
    <p:sldLayoutId id="2147483926" r:id="rId47"/>
    <p:sldLayoutId id="2147483927" r:id="rId48"/>
    <p:sldLayoutId id="2147483928" r:id="rId49"/>
    <p:sldLayoutId id="2147483929" r:id="rId50"/>
    <p:sldLayoutId id="2147483930" r:id="rId51"/>
    <p:sldLayoutId id="2147483931" r:id="rId52"/>
    <p:sldLayoutId id="2147483932" r:id="rId53"/>
    <p:sldLayoutId id="2147483933" r:id="rId54"/>
    <p:sldLayoutId id="2147483934" r:id="rId55"/>
    <p:sldLayoutId id="2147483935" r:id="rId56"/>
    <p:sldLayoutId id="2147483936" r:id="rId57"/>
    <p:sldLayoutId id="2147483937" r:id="rId58"/>
    <p:sldLayoutId id="2147483938" r:id="rId59"/>
    <p:sldLayoutId id="2147483939" r:id="rId60"/>
    <p:sldLayoutId id="2147483940" r:id="rId61"/>
    <p:sldLayoutId id="2147483941" r:id="rId62"/>
    <p:sldLayoutId id="2147483942" r:id="rId63"/>
    <p:sldLayoutId id="2147483943" r:id="rId64"/>
    <p:sldLayoutId id="2147483944" r:id="rId65"/>
    <p:sldLayoutId id="2147483945" r:id="rId66"/>
    <p:sldLayoutId id="2147483946" r:id="rId67"/>
    <p:sldLayoutId id="2147483947" r:id="rId68"/>
    <p:sldLayoutId id="2147483948" r:id="rId69"/>
    <p:sldLayoutId id="2147483949" r:id="rId70"/>
    <p:sldLayoutId id="2147483950" r:id="rId71"/>
    <p:sldLayoutId id="2147483951" r:id="rId72"/>
    <p:sldLayoutId id="2147483952" r:id="rId73"/>
    <p:sldLayoutId id="2147483953" r:id="rId74"/>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89.xml"/></Relationships>
</file>

<file path=ppt/slides/_rels/slide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15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8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8.xml"/></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38A3C64-630C-D3BF-9A8C-59C656DEB52B}"/>
              </a:ext>
            </a:extLst>
          </p:cNvPr>
          <p:cNvSpPr>
            <a:spLocks noGrp="1"/>
          </p:cNvSpPr>
          <p:nvPr>
            <p:ph type="ctrTitle"/>
          </p:nvPr>
        </p:nvSpPr>
        <p:spPr>
          <a:xfrm>
            <a:off x="479425" y="2637000"/>
            <a:ext cx="10557383" cy="1584000"/>
          </a:xfrm>
        </p:spPr>
        <p:txBody>
          <a:bodyPr/>
          <a:lstStyle/>
          <a:p>
            <a:r>
              <a:rPr lang="en-US" altLang="zh-CN" dirty="0"/>
              <a:t>FAP/TRAILR2 (BI 3802876) </a:t>
            </a:r>
            <a:br>
              <a:rPr lang="en-US" altLang="zh-CN" dirty="0"/>
            </a:br>
            <a:r>
              <a:rPr lang="en-US" altLang="zh-CN" dirty="0"/>
              <a:t>Asian Phase 1 in MASH cirrhosis </a:t>
            </a:r>
            <a:endParaRPr lang="zh-CN" altLang="en-US" dirty="0"/>
          </a:p>
        </p:txBody>
      </p:sp>
      <p:sp>
        <p:nvSpPr>
          <p:cNvPr id="5" name="副标题 4">
            <a:extLst>
              <a:ext uri="{FF2B5EF4-FFF2-40B4-BE49-F238E27FC236}">
                <a16:creationId xmlns:a16="http://schemas.microsoft.com/office/drawing/2014/main" id="{EAC87B00-E93B-2F36-8CE1-8DD9EDA62A77}"/>
              </a:ext>
            </a:extLst>
          </p:cNvPr>
          <p:cNvSpPr>
            <a:spLocks noGrp="1"/>
          </p:cNvSpPr>
          <p:nvPr>
            <p:ph type="subTitle" idx="1"/>
          </p:nvPr>
        </p:nvSpPr>
        <p:spPr/>
        <p:txBody>
          <a:bodyPr/>
          <a:lstStyle/>
          <a:p>
            <a:r>
              <a:rPr lang="en-US" altLang="zh-CN" dirty="0"/>
              <a:t>For endorsement</a:t>
            </a:r>
          </a:p>
          <a:p>
            <a:endParaRPr lang="zh-CN" altLang="en-US" dirty="0"/>
          </a:p>
        </p:txBody>
      </p:sp>
    </p:spTree>
    <p:extLst>
      <p:ext uri="{BB962C8B-B14F-4D97-AF65-F5344CB8AC3E}">
        <p14:creationId xmlns:p14="http://schemas.microsoft.com/office/powerpoint/2010/main" val="834230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3707B-E434-0441-E538-F1189F7DAC19}"/>
              </a:ext>
            </a:extLst>
          </p:cNvPr>
          <p:cNvSpPr>
            <a:spLocks noGrp="1"/>
          </p:cNvSpPr>
          <p:nvPr>
            <p:ph type="title"/>
          </p:nvPr>
        </p:nvSpPr>
        <p:spPr/>
        <p:txBody>
          <a:bodyPr/>
          <a:lstStyle/>
          <a:p>
            <a:pPr algn="ctr"/>
            <a:r>
              <a:rPr lang="en-US" altLang="zh-CN"/>
              <a:t>Executive Summary</a:t>
            </a:r>
            <a:endParaRPr lang="zh-CN" altLang="en-US"/>
          </a:p>
        </p:txBody>
      </p:sp>
      <p:sp>
        <p:nvSpPr>
          <p:cNvPr id="7" name="Slide Number Placeholder 6">
            <a:extLst>
              <a:ext uri="{FF2B5EF4-FFF2-40B4-BE49-F238E27FC236}">
                <a16:creationId xmlns:a16="http://schemas.microsoft.com/office/drawing/2014/main" id="{13BA5787-E7DA-BB4B-3F07-F7455584B6EB}"/>
              </a:ext>
            </a:extLst>
          </p:cNvPr>
          <p:cNvSpPr>
            <a:spLocks noGrp="1"/>
          </p:cNvSpPr>
          <p:nvPr>
            <p:ph type="sldNum" sz="quarter" idx="2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8" name="Textplatzhalter 2">
            <a:extLst>
              <a:ext uri="{FF2B5EF4-FFF2-40B4-BE49-F238E27FC236}">
                <a16:creationId xmlns:a16="http://schemas.microsoft.com/office/drawing/2014/main" id="{92AFA8A2-EE05-C396-D21F-C05229A42079}"/>
              </a:ext>
            </a:extLst>
          </p:cNvPr>
          <p:cNvSpPr txBox="1">
            <a:spLocks/>
          </p:cNvSpPr>
          <p:nvPr/>
        </p:nvSpPr>
        <p:spPr bwMode="gray">
          <a:xfrm>
            <a:off x="412524" y="1229238"/>
            <a:ext cx="2553431" cy="391473"/>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marR="0" lvl="0" indent="0" algn="l" defTabSz="914400" rtl="0" eaLnBrk="1" fontAlgn="auto" latinLnBrk="0" hangingPunct="1">
              <a:lnSpc>
                <a:spcPct val="140000"/>
              </a:lnSpc>
              <a:spcBef>
                <a:spcPts val="0"/>
              </a:spcBef>
              <a:spcAft>
                <a:spcPts val="600"/>
              </a:spcAft>
              <a:buClr>
                <a:srgbClr val="00E47C"/>
              </a:buClr>
              <a:buSzTx/>
              <a:buFont typeface="Arial" panose="020B0604020202020204" pitchFamily="34" charset="0"/>
              <a:buNone/>
              <a:tabLst/>
              <a:defRPr/>
            </a:pPr>
            <a:r>
              <a:rPr kumimoji="0" lang="en-US" sz="1600" b="1" i="0" u="none" strike="noStrike" kern="1200" cap="none" spc="0" normalizeH="0" baseline="0" noProof="0">
                <a:ln>
                  <a:noFill/>
                </a:ln>
                <a:solidFill>
                  <a:prstClr val="white"/>
                </a:solidFill>
                <a:effectLst/>
                <a:uLnTx/>
                <a:uFillTx/>
                <a:latin typeface="Boehringer Forward Text"/>
                <a:ea typeface="+mn-ea"/>
                <a:cs typeface="+mn-cs"/>
              </a:rPr>
              <a:t>Background </a:t>
            </a:r>
          </a:p>
        </p:txBody>
      </p:sp>
      <p:pic>
        <p:nvPicPr>
          <p:cNvPr id="9" name="Grafik 17">
            <a:extLst>
              <a:ext uri="{FF2B5EF4-FFF2-40B4-BE49-F238E27FC236}">
                <a16:creationId xmlns:a16="http://schemas.microsoft.com/office/drawing/2014/main" id="{9F61877D-FC4A-2CC4-B77D-D231A8253A9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2828247" y="1136974"/>
            <a:ext cx="576000" cy="576000"/>
          </a:xfrm>
          <a:prstGeom prst="rect">
            <a:avLst/>
          </a:prstGeom>
        </p:spPr>
      </p:pic>
      <p:sp>
        <p:nvSpPr>
          <p:cNvPr id="10" name="Textplatzhalter 2">
            <a:extLst>
              <a:ext uri="{FF2B5EF4-FFF2-40B4-BE49-F238E27FC236}">
                <a16:creationId xmlns:a16="http://schemas.microsoft.com/office/drawing/2014/main" id="{EEC3C00D-1B74-B99A-7349-EEAC3DCE6D40}"/>
              </a:ext>
            </a:extLst>
          </p:cNvPr>
          <p:cNvSpPr txBox="1">
            <a:spLocks/>
          </p:cNvSpPr>
          <p:nvPr/>
        </p:nvSpPr>
        <p:spPr bwMode="gray">
          <a:xfrm>
            <a:off x="412524" y="3835699"/>
            <a:ext cx="2088000" cy="663473"/>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marR="0" lvl="0" indent="0" algn="l" defTabSz="914400" rtl="0" eaLnBrk="1" fontAlgn="auto" latinLnBrk="0" hangingPunct="1">
              <a:lnSpc>
                <a:spcPct val="140000"/>
              </a:lnSpc>
              <a:spcBef>
                <a:spcPts val="0"/>
              </a:spcBef>
              <a:spcAft>
                <a:spcPts val="600"/>
              </a:spcAft>
              <a:buClr>
                <a:srgbClr val="00E47C"/>
              </a:buClr>
              <a:buSzTx/>
              <a:buFont typeface="Arial" panose="020B0604020202020204" pitchFamily="34" charset="0"/>
              <a:buNone/>
              <a:tabLst/>
              <a:defRPr/>
            </a:pPr>
            <a:r>
              <a:rPr kumimoji="0" lang="en-US" sz="1600" b="1" i="0" u="none" strike="noStrike" kern="1200" cap="none" spc="0" normalizeH="0" baseline="0" noProof="0">
                <a:ln>
                  <a:noFill/>
                </a:ln>
                <a:solidFill>
                  <a:prstClr val="white"/>
                </a:solidFill>
                <a:effectLst/>
                <a:uLnTx/>
                <a:uFillTx/>
                <a:latin typeface="Boehringer Forward Text"/>
                <a:ea typeface="+mn-ea"/>
                <a:cs typeface="+mn-cs"/>
              </a:rPr>
              <a:t>Team Recommendations</a:t>
            </a:r>
            <a:endParaRPr kumimoji="0" lang="en-US" sz="1600" b="1" i="0" u="none" strike="noStrike" kern="1200" cap="none" spc="0" normalizeH="0" baseline="0" noProof="0">
              <a:ln>
                <a:noFill/>
              </a:ln>
              <a:solidFill>
                <a:srgbClr val="FFE667"/>
              </a:solidFill>
              <a:effectLst/>
              <a:uLnTx/>
              <a:uFillTx/>
              <a:latin typeface="Boehringer Forward Text"/>
              <a:ea typeface="+mn-ea"/>
              <a:cs typeface="+mn-cs"/>
            </a:endParaRPr>
          </a:p>
        </p:txBody>
      </p:sp>
      <p:pic>
        <p:nvPicPr>
          <p:cNvPr id="11" name="Grafik 46">
            <a:extLst>
              <a:ext uri="{FF2B5EF4-FFF2-40B4-BE49-F238E27FC236}">
                <a16:creationId xmlns:a16="http://schemas.microsoft.com/office/drawing/2014/main" id="{74C800AF-A959-EB7D-CDFC-82EEAB798B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2856468" y="3879435"/>
            <a:ext cx="576000" cy="576000"/>
          </a:xfrm>
          <a:prstGeom prst="rect">
            <a:avLst/>
          </a:prstGeom>
        </p:spPr>
      </p:pic>
      <p:sp>
        <p:nvSpPr>
          <p:cNvPr id="12" name="Textplatzhalter 2">
            <a:extLst>
              <a:ext uri="{FF2B5EF4-FFF2-40B4-BE49-F238E27FC236}">
                <a16:creationId xmlns:a16="http://schemas.microsoft.com/office/drawing/2014/main" id="{CA94E05C-EC99-D66A-47DB-B09DC245EA34}"/>
              </a:ext>
            </a:extLst>
          </p:cNvPr>
          <p:cNvSpPr txBox="1">
            <a:spLocks/>
          </p:cNvSpPr>
          <p:nvPr/>
        </p:nvSpPr>
        <p:spPr bwMode="gray">
          <a:xfrm>
            <a:off x="412524" y="2722068"/>
            <a:ext cx="2377045" cy="463089"/>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marR="0" lvl="0" indent="0" algn="l" defTabSz="914400" rtl="0" eaLnBrk="1" fontAlgn="auto" latinLnBrk="0" hangingPunct="1">
              <a:lnSpc>
                <a:spcPct val="140000"/>
              </a:lnSpc>
              <a:spcBef>
                <a:spcPts val="0"/>
              </a:spcBef>
              <a:spcAft>
                <a:spcPts val="600"/>
              </a:spcAft>
              <a:buClr>
                <a:srgbClr val="00E47C"/>
              </a:buClr>
              <a:buSzTx/>
              <a:buFont typeface="Arial" panose="020B0604020202020204" pitchFamily="34" charset="0"/>
              <a:buNone/>
              <a:tabLst/>
              <a:defRPr/>
            </a:pPr>
            <a:r>
              <a:rPr kumimoji="0" lang="en-US" sz="1600" b="1" i="0" u="none" strike="noStrike" kern="1200" cap="none" spc="0" normalizeH="0" baseline="0" noProof="0" dirty="0">
                <a:ln>
                  <a:noFill/>
                </a:ln>
                <a:solidFill>
                  <a:prstClr val="white"/>
                </a:solidFill>
                <a:effectLst/>
                <a:uLnTx/>
                <a:uFillTx/>
                <a:latin typeface="Boehringer Forward Text"/>
                <a:ea typeface="+mn-ea"/>
                <a:cs typeface="+mn-cs"/>
              </a:rPr>
              <a:t>Key Message/Rationale</a:t>
            </a:r>
          </a:p>
        </p:txBody>
      </p:sp>
      <p:pic>
        <p:nvPicPr>
          <p:cNvPr id="13" name="Grafik 42">
            <a:extLst>
              <a:ext uri="{FF2B5EF4-FFF2-40B4-BE49-F238E27FC236}">
                <a16:creationId xmlns:a16="http://schemas.microsoft.com/office/drawing/2014/main" id="{4D4920A2-A67C-5622-D297-C51D4A2547C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2827811" y="2684129"/>
            <a:ext cx="576000" cy="576000"/>
          </a:xfrm>
          <a:prstGeom prst="rect">
            <a:avLst/>
          </a:prstGeom>
        </p:spPr>
      </p:pic>
      <p:pic>
        <p:nvPicPr>
          <p:cNvPr id="14" name="Grafik 17">
            <a:extLst>
              <a:ext uri="{FF2B5EF4-FFF2-40B4-BE49-F238E27FC236}">
                <a16:creationId xmlns:a16="http://schemas.microsoft.com/office/drawing/2014/main" id="{A063004D-EEC8-1C7F-6484-5598BD2991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2827811" y="5230630"/>
            <a:ext cx="576000" cy="576000"/>
          </a:xfrm>
          <a:prstGeom prst="rect">
            <a:avLst/>
          </a:prstGeom>
        </p:spPr>
      </p:pic>
      <p:sp>
        <p:nvSpPr>
          <p:cNvPr id="15" name="Textplatzhalter 2">
            <a:extLst>
              <a:ext uri="{FF2B5EF4-FFF2-40B4-BE49-F238E27FC236}">
                <a16:creationId xmlns:a16="http://schemas.microsoft.com/office/drawing/2014/main" id="{14E13E65-19E9-40D9-0E28-57EF046837FA}"/>
              </a:ext>
            </a:extLst>
          </p:cNvPr>
          <p:cNvSpPr txBox="1">
            <a:spLocks/>
          </p:cNvSpPr>
          <p:nvPr/>
        </p:nvSpPr>
        <p:spPr bwMode="gray">
          <a:xfrm>
            <a:off x="4038586" y="2007018"/>
            <a:ext cx="6552367" cy="1008000"/>
          </a:xfrm>
          <a:prstGeom prst="rect">
            <a:avLst/>
          </a:prstGeom>
          <a:noFill/>
        </p:spPr>
        <p:txBody>
          <a:bodyPr vert="horz" lIns="0" tIns="0" rIns="0" bIns="0" rtlCol="0" anchor="t" anchorCtr="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marR="0" lvl="0" indent="0" algn="just" defTabSz="914400" rtl="0" eaLnBrk="1" fontAlgn="auto" latinLnBrk="0" hangingPunct="1">
              <a:lnSpc>
                <a:spcPct val="140000"/>
              </a:lnSpc>
              <a:spcBef>
                <a:spcPts val="0"/>
              </a:spcBef>
              <a:spcAft>
                <a:spcPts val="600"/>
              </a:spcAft>
              <a:buClrTx/>
              <a:buSzTx/>
              <a:buFont typeface="Arial" panose="020B0604020202020204" pitchFamily="34" charset="0"/>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6" name="TextBox 15">
            <a:extLst>
              <a:ext uri="{FF2B5EF4-FFF2-40B4-BE49-F238E27FC236}">
                <a16:creationId xmlns:a16="http://schemas.microsoft.com/office/drawing/2014/main" id="{9F2FA1F5-A4EA-D77D-28A2-BDBE89322BEB}"/>
              </a:ext>
            </a:extLst>
          </p:cNvPr>
          <p:cNvSpPr txBox="1"/>
          <p:nvPr/>
        </p:nvSpPr>
        <p:spPr bwMode="gray">
          <a:xfrm>
            <a:off x="4279913" y="1094659"/>
            <a:ext cx="7704577" cy="1350050"/>
          </a:xfrm>
          <a:prstGeom prst="rect">
            <a:avLst/>
          </a:prstGeom>
          <a:noFill/>
        </p:spPr>
        <p:txBody>
          <a:bodyPr wrap="square" lIns="0" tIns="0" rIns="0" bIns="0" rtlCol="0">
            <a:spAutoFit/>
          </a:bodyPr>
          <a:lstStyle/>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600" b="0" u="none" strike="noStrike" kern="0" cap="none" spc="0" normalizeH="0" baseline="0" noProof="0" dirty="0">
                <a:ln>
                  <a:noFill/>
                </a:ln>
                <a:effectLst/>
                <a:uLnTx/>
                <a:uFillTx/>
                <a:latin typeface="Boehringer Forward Text"/>
                <a:ea typeface="+mn-ea"/>
                <a:cs typeface="+mn-cs"/>
              </a:rPr>
              <a:t>CV safety findings were identified in the 1517-0001(SRD, Part A) and (MD, Part B) health volunteer trials.</a:t>
            </a:r>
          </a:p>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lang="en-US" altLang="zh-CN" sz="1600" kern="0" dirty="0">
                <a:latin typeface="Boehringer Forward Text"/>
              </a:rPr>
              <a:t>Before PoC trial, global has initiated a phase 2a in MASH cirrhosis patients to establish a positive benefit/risk profile.</a:t>
            </a:r>
            <a:endParaRPr kumimoji="0" lang="en-US" altLang="zh-CN" sz="1600" b="0" u="none" strike="noStrike" kern="0" cap="none" spc="0" normalizeH="0" baseline="0" noProof="0" dirty="0">
              <a:ln>
                <a:noFill/>
              </a:ln>
              <a:effectLst/>
              <a:uLnTx/>
              <a:uFillTx/>
              <a:latin typeface="Boehringer Forward Text"/>
              <a:ea typeface="+mn-ea"/>
              <a:cs typeface="+mn-cs"/>
            </a:endParaRPr>
          </a:p>
        </p:txBody>
      </p:sp>
      <p:sp>
        <p:nvSpPr>
          <p:cNvPr id="17" name="TextBox 16">
            <a:extLst>
              <a:ext uri="{FF2B5EF4-FFF2-40B4-BE49-F238E27FC236}">
                <a16:creationId xmlns:a16="http://schemas.microsoft.com/office/drawing/2014/main" id="{EC079AFD-EE9E-7681-626D-2A99C6AE0815}"/>
              </a:ext>
            </a:extLst>
          </p:cNvPr>
          <p:cNvSpPr txBox="1"/>
          <p:nvPr/>
        </p:nvSpPr>
        <p:spPr bwMode="gray">
          <a:xfrm>
            <a:off x="4279912" y="2681237"/>
            <a:ext cx="7704577" cy="1005340"/>
          </a:xfrm>
          <a:prstGeom prst="rect">
            <a:avLst/>
          </a:prstGeom>
          <a:noFill/>
        </p:spPr>
        <p:txBody>
          <a:bodyPr wrap="square" lIns="0" tIns="0" rIns="0" bIns="0" rtlCol="0" anchor="t">
            <a:spAutoFit/>
          </a:bodyPr>
          <a:lstStyle/>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600" b="0" u="none" strike="noStrike" kern="0" cap="none" spc="0" normalizeH="0" baseline="0" noProof="0" dirty="0">
                <a:ln>
                  <a:noFill/>
                </a:ln>
                <a:effectLst/>
                <a:uLnTx/>
                <a:uFillTx/>
                <a:latin typeface="Boehringer Forward Text"/>
                <a:ea typeface="+mn-ea"/>
                <a:cs typeface="+mn-cs"/>
              </a:rPr>
              <a:t>There is uncertainty for China and Japan being requested Asian </a:t>
            </a:r>
            <a:r>
              <a:rPr lang="en-US" altLang="zh-CN" sz="1600" kern="0" dirty="0">
                <a:latin typeface="Boehringer Forward Text"/>
              </a:rPr>
              <a:t>data before integrating into next phase global trial. </a:t>
            </a:r>
          </a:p>
          <a:p>
            <a:pPr marL="179705" marR="0" lvl="0" indent="-179705"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600" b="1" u="none" strike="noStrike" kern="0" cap="none" spc="0" normalizeH="0" baseline="0" noProof="0" dirty="0">
                <a:ln>
                  <a:noFill/>
                </a:ln>
                <a:effectLst/>
                <a:uLnTx/>
                <a:uFillTx/>
                <a:latin typeface="Boehringer Forward Text"/>
                <a:ea typeface="+mn-ea"/>
                <a:cs typeface="+mn-cs"/>
              </a:rPr>
              <a:t>Global confirmed budget for Asian phase 1 was secured</a:t>
            </a:r>
            <a:r>
              <a:rPr kumimoji="0" lang="en-US" altLang="zh-CN" sz="1600" b="0" u="none" strike="noStrike" kern="0" cap="none" spc="0" normalizeH="0" baseline="0" noProof="0" dirty="0">
                <a:ln>
                  <a:noFill/>
                </a:ln>
                <a:effectLst/>
                <a:uLnTx/>
                <a:uFillTx/>
                <a:latin typeface="Boehringer Forward Text"/>
                <a:ea typeface="+mn-ea"/>
                <a:cs typeface="+mn-cs"/>
              </a:rPr>
              <a:t>. </a:t>
            </a:r>
            <a:endParaRPr lang="zh-CN" altLang="en-US" sz="1600" b="0" u="none" strike="noStrike" kern="0" cap="none" spc="0" normalizeH="0" baseline="0" noProof="0" dirty="0">
              <a:ln>
                <a:noFill/>
              </a:ln>
              <a:effectLst/>
              <a:uLnTx/>
              <a:uFillTx/>
              <a:latin typeface="Boehringer Forward Text"/>
            </a:endParaRPr>
          </a:p>
        </p:txBody>
      </p:sp>
      <p:sp>
        <p:nvSpPr>
          <p:cNvPr id="18" name="TextBox 17">
            <a:extLst>
              <a:ext uri="{FF2B5EF4-FFF2-40B4-BE49-F238E27FC236}">
                <a16:creationId xmlns:a16="http://schemas.microsoft.com/office/drawing/2014/main" id="{9F4BCB81-2BDA-D1FF-D908-92EC39FD31DA}"/>
              </a:ext>
            </a:extLst>
          </p:cNvPr>
          <p:cNvSpPr txBox="1"/>
          <p:nvPr/>
        </p:nvSpPr>
        <p:spPr bwMode="gray">
          <a:xfrm>
            <a:off x="4279912" y="3892508"/>
            <a:ext cx="7704577" cy="1005340"/>
          </a:xfrm>
          <a:prstGeom prst="rect">
            <a:avLst/>
          </a:prstGeom>
          <a:noFill/>
        </p:spPr>
        <p:txBody>
          <a:bodyPr wrap="square" lIns="0" tIns="0" rIns="0" bIns="0" rtlCol="0">
            <a:spAutoFit/>
          </a:bodyPr>
          <a:lstStyle/>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600" b="0" u="none" strike="noStrike" kern="1200" cap="none" spc="0" normalizeH="0" baseline="0" noProof="0" dirty="0">
                <a:ln>
                  <a:noFill/>
                </a:ln>
                <a:effectLst/>
                <a:uLnTx/>
                <a:uFillTx/>
                <a:latin typeface="Boehringer Forward Text"/>
                <a:ea typeface="+mn-ea"/>
                <a:cs typeface="+mn-cs"/>
              </a:rPr>
              <a:t>To mitigate this potential risk before PoC trial, both China and </a:t>
            </a:r>
            <a:r>
              <a:rPr lang="en-US" altLang="zh-CN" sz="1600" dirty="0">
                <a:latin typeface="Boehringer Forward Text"/>
              </a:rPr>
              <a:t>Japan </a:t>
            </a:r>
            <a:r>
              <a:rPr kumimoji="0" lang="en-US" altLang="zh-CN" sz="1600" b="0" u="none" strike="noStrike" kern="1200" cap="none" spc="0" normalizeH="0" baseline="0" noProof="0" dirty="0">
                <a:ln>
                  <a:noFill/>
                </a:ln>
                <a:effectLst/>
                <a:uLnTx/>
                <a:uFillTx/>
                <a:latin typeface="Boehringer Forward Text"/>
                <a:ea typeface="+mn-ea"/>
                <a:cs typeface="+mn-cs"/>
              </a:rPr>
              <a:t>proposed </a:t>
            </a:r>
            <a:r>
              <a:rPr lang="en-US" altLang="zh-CN" sz="1600" dirty="0">
                <a:latin typeface="Boehringer Forward Text"/>
              </a:rPr>
              <a:t>to have health authority interaction in 2026 and in parallel set up the </a:t>
            </a:r>
            <a:r>
              <a:rPr kumimoji="0" lang="en-US" altLang="zh-CN" sz="1600" b="0" u="none" strike="noStrike" kern="1200" cap="none" spc="0" normalizeH="0" baseline="0" noProof="0" dirty="0">
                <a:ln>
                  <a:noFill/>
                </a:ln>
                <a:effectLst/>
                <a:uLnTx/>
                <a:uFillTx/>
                <a:latin typeface="Boehringer Forward Text"/>
                <a:ea typeface="+mn-ea"/>
                <a:cs typeface="+mn-cs"/>
              </a:rPr>
              <a:t>joint Asian phase 1 preparation. </a:t>
            </a:r>
          </a:p>
        </p:txBody>
      </p:sp>
      <p:sp>
        <p:nvSpPr>
          <p:cNvPr id="19" name="TextBox 18">
            <a:extLst>
              <a:ext uri="{FF2B5EF4-FFF2-40B4-BE49-F238E27FC236}">
                <a16:creationId xmlns:a16="http://schemas.microsoft.com/office/drawing/2014/main" id="{7CD815F8-7CA4-C9B8-DDE0-94C1281B0AA0}"/>
              </a:ext>
            </a:extLst>
          </p:cNvPr>
          <p:cNvSpPr txBox="1"/>
          <p:nvPr/>
        </p:nvSpPr>
        <p:spPr bwMode="gray">
          <a:xfrm>
            <a:off x="4279912" y="5272199"/>
            <a:ext cx="7704577" cy="1350050"/>
          </a:xfrm>
          <a:prstGeom prst="rect">
            <a:avLst/>
          </a:prstGeom>
          <a:noFill/>
        </p:spPr>
        <p:txBody>
          <a:bodyPr wrap="square" lIns="0" tIns="0" rIns="0" bIns="0" rtlCol="0">
            <a:spAutoFit/>
          </a:bodyPr>
          <a:lstStyle/>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lang="en-US" altLang="zh-CN" sz="1600" i="1" dirty="0">
                <a:latin typeface="Boehringer Forward Text"/>
              </a:rPr>
              <a:t>Ask for PEC endorsement on :</a:t>
            </a:r>
          </a:p>
          <a:p>
            <a:pPr marL="742950" lvl="1" indent="-285750">
              <a:lnSpc>
                <a:spcPct val="140000"/>
              </a:lnSpc>
              <a:buFont typeface="Boehringer Forward Text" panose="020B0504030403020204" pitchFamily="2" charset="0"/>
              <a:buChar char="−"/>
              <a:defRPr/>
            </a:pPr>
            <a:r>
              <a:rPr lang="en-US" altLang="zh-CN" sz="1600" i="1" dirty="0">
                <a:latin typeface="Boehringer Forward Text"/>
              </a:rPr>
              <a:t>China HA interaction strategy and timeline</a:t>
            </a:r>
          </a:p>
          <a:p>
            <a:pPr marL="742950" lvl="1" indent="-285750">
              <a:lnSpc>
                <a:spcPct val="140000"/>
              </a:lnSpc>
              <a:buFont typeface="Boehringer Forward Text" panose="020B0504030403020204" pitchFamily="2" charset="0"/>
              <a:buChar char="−"/>
              <a:defRPr/>
            </a:pPr>
            <a:r>
              <a:rPr lang="en-US" altLang="zh-CN" sz="1600" i="1" dirty="0">
                <a:latin typeface="Boehringer Forward Text"/>
              </a:rPr>
              <a:t>Joint Asian phase 1 plan</a:t>
            </a:r>
          </a:p>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endParaRPr kumimoji="0" lang="zh-CN" altLang="en-US" sz="1600" b="0" i="1" u="none" strike="noStrike" kern="1200" cap="none" spc="0" normalizeH="0" baseline="0" noProof="0" dirty="0">
              <a:ln>
                <a:noFill/>
              </a:ln>
              <a:effectLst/>
              <a:uLnTx/>
              <a:uFillTx/>
              <a:latin typeface="Boehringer Forward Text"/>
              <a:ea typeface="+mn-ea"/>
              <a:cs typeface="+mn-cs"/>
            </a:endParaRPr>
          </a:p>
        </p:txBody>
      </p:sp>
      <p:sp>
        <p:nvSpPr>
          <p:cNvPr id="20" name="Textplatzhalter 2">
            <a:extLst>
              <a:ext uri="{FF2B5EF4-FFF2-40B4-BE49-F238E27FC236}">
                <a16:creationId xmlns:a16="http://schemas.microsoft.com/office/drawing/2014/main" id="{F9E6C4B2-5F80-6752-78DD-E2E88B40E540}"/>
              </a:ext>
            </a:extLst>
          </p:cNvPr>
          <p:cNvSpPr txBox="1">
            <a:spLocks/>
          </p:cNvSpPr>
          <p:nvPr/>
        </p:nvSpPr>
        <p:spPr bwMode="gray">
          <a:xfrm>
            <a:off x="412524" y="5279690"/>
            <a:ext cx="2553431" cy="354586"/>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marR="0" lvl="0" indent="0" algn="l" defTabSz="914400" rtl="0" eaLnBrk="1" fontAlgn="auto" latinLnBrk="0" hangingPunct="1">
              <a:lnSpc>
                <a:spcPct val="140000"/>
              </a:lnSpc>
              <a:spcBef>
                <a:spcPts val="0"/>
              </a:spcBef>
              <a:spcAft>
                <a:spcPts val="600"/>
              </a:spcAft>
              <a:buClr>
                <a:srgbClr val="00E47C"/>
              </a:buClr>
              <a:buSzTx/>
              <a:buFont typeface="Arial" panose="020B0604020202020204" pitchFamily="34" charset="0"/>
              <a:buNone/>
              <a:tabLst/>
              <a:defRPr/>
            </a:pPr>
            <a:r>
              <a:rPr kumimoji="0" lang="en-US" altLang="zh-CN" sz="1600" b="1" i="0" u="none" strike="noStrike" kern="1200" cap="none" spc="0" normalizeH="0" baseline="0" noProof="0" dirty="0">
                <a:ln>
                  <a:noFill/>
                </a:ln>
                <a:solidFill>
                  <a:prstClr val="white"/>
                </a:solidFill>
                <a:effectLst/>
                <a:uLnTx/>
                <a:uFillTx/>
                <a:latin typeface="Boehringer Forward Text"/>
                <a:ea typeface="+mn-ea"/>
                <a:cs typeface="+mn-cs"/>
              </a:rPr>
              <a:t>Request for </a:t>
            </a:r>
            <a:r>
              <a:rPr lang="en-US" altLang="zh-CN" b="1" dirty="0">
                <a:solidFill>
                  <a:prstClr val="white"/>
                </a:solidFill>
                <a:latin typeface="Boehringer Forward Text"/>
              </a:rPr>
              <a:t>PEC</a:t>
            </a:r>
            <a:endParaRPr kumimoji="0" lang="en-US" sz="1600" b="1" i="0" u="none" strike="noStrike" kern="1200" cap="none" spc="0" normalizeH="0" baseline="0" noProof="0" dirty="0">
              <a:ln>
                <a:noFill/>
              </a:ln>
              <a:solidFill>
                <a:prstClr val="white"/>
              </a:solidFill>
              <a:effectLst/>
              <a:uLnTx/>
              <a:uFillTx/>
              <a:latin typeface="Boehringer Forward Text"/>
              <a:ea typeface="+mn-ea"/>
              <a:cs typeface="+mn-cs"/>
            </a:endParaRPr>
          </a:p>
        </p:txBody>
      </p:sp>
    </p:spTree>
    <p:extLst>
      <p:ext uri="{BB962C8B-B14F-4D97-AF65-F5344CB8AC3E}">
        <p14:creationId xmlns:p14="http://schemas.microsoft.com/office/powerpoint/2010/main" val="1409916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en-GB" dirty="0"/>
              <a:t>Asset overview</a:t>
            </a:r>
          </a:p>
        </p:txBody>
      </p:sp>
      <p:sp>
        <p:nvSpPr>
          <p:cNvPr id="4" name="Foliennummernplatzhalter 3"/>
          <p:cNvSpPr>
            <a:spLocks noGrp="1"/>
          </p:cNvSpPr>
          <p:nvPr>
            <p:ph type="sldNum" sz="quarter" idx="17"/>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800" b="0" i="0" u="none" strike="noStrike" kern="1200" cap="none" spc="0" normalizeH="0" baseline="0" noProof="0">
                <a:ln>
                  <a:noFill/>
                </a:ln>
                <a:solidFill>
                  <a:srgbClr val="FFFFFF">
                    <a:lumMod val="50000"/>
                  </a:srgbClr>
                </a:solidFill>
                <a:effectLst/>
                <a:uLnTx/>
                <a:uFillTx/>
                <a:latin typeface="Boehringer Forward Text"/>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FFFFFF">
                  <a:lumMod val="50000"/>
                </a:srgbClr>
              </a:solidFill>
              <a:effectLst/>
              <a:uLnTx/>
              <a:uFillTx/>
              <a:latin typeface="Boehringer Forward Text"/>
              <a:ea typeface="+mn-ea"/>
              <a:cs typeface="+mn-cs"/>
            </a:endParaRPr>
          </a:p>
        </p:txBody>
      </p:sp>
      <p:sp>
        <p:nvSpPr>
          <p:cNvPr id="12" name="Content Placeholder 1">
            <a:extLst>
              <a:ext uri="{FF2B5EF4-FFF2-40B4-BE49-F238E27FC236}">
                <a16:creationId xmlns:a16="http://schemas.microsoft.com/office/drawing/2014/main" id="{A1111294-48DE-4896-AA35-BAEEE6BD8D1A}"/>
              </a:ext>
            </a:extLst>
          </p:cNvPr>
          <p:cNvSpPr txBox="1">
            <a:spLocks/>
          </p:cNvSpPr>
          <p:nvPr/>
        </p:nvSpPr>
        <p:spPr>
          <a:xfrm>
            <a:off x="610544" y="1071846"/>
            <a:ext cx="10538865" cy="5396819"/>
          </a:xfrm>
          <a:prstGeom prst="rect">
            <a:avLst/>
          </a:prstGeom>
        </p:spPr>
        <p:txBody>
          <a:bodyPr vert="horz" lIns="0" tIns="0" rIns="0" bIns="0" rtlCol="0" anchor="t">
            <a:noAutofit/>
          </a:bodyPr>
          <a:lstStyle>
            <a:lvl1pPr marL="266700" indent="-266700" algn="l" defTabSz="914400" rtl="0" eaLnBrk="1" latinLnBrk="0" hangingPunct="1">
              <a:spcBef>
                <a:spcPts val="400"/>
              </a:spcBef>
              <a:buFont typeface="Arial" panose="020B0604020202020204" pitchFamily="34" charset="0"/>
              <a:buChar char="•"/>
              <a:defRPr sz="2000" kern="1200">
                <a:solidFill>
                  <a:schemeClr val="tx1"/>
                </a:solidFill>
                <a:latin typeface="BISansOpti"/>
                <a:ea typeface="+mn-ea"/>
                <a:cs typeface="BISansOpti"/>
              </a:defRPr>
            </a:lvl1pPr>
            <a:lvl2pPr marL="450850" indent="-18415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2pPr>
            <a:lvl3pPr marL="628650" indent="-17780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3pPr>
            <a:lvl4pPr marL="806450" indent="-17780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4pPr>
            <a:lvl5pPr marL="984250" indent="-177800" algn="l" defTabSz="914400" rtl="0" eaLnBrk="1" latinLnBrk="0" hangingPunct="1">
              <a:spcBef>
                <a:spcPts val="0"/>
              </a:spcBef>
              <a:buFont typeface="Wingdings" panose="05000000000000000000" pitchFamily="2" charset="2"/>
              <a:buChar char="§"/>
              <a:defRPr sz="1600" kern="1200">
                <a:solidFill>
                  <a:schemeClr val="tx1"/>
                </a:solidFill>
                <a:latin typeface="BISansOpti"/>
                <a:ea typeface="+mn-ea"/>
                <a:cs typeface="BISansOpti"/>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55591" marR="0" lvl="0" indent="-355591" algn="l" defTabSz="1219170" rtl="0" eaLnBrk="1" fontAlgn="auto" latinLnBrk="0" hangingPunct="1">
              <a:lnSpc>
                <a:spcPct val="100000"/>
              </a:lnSpc>
              <a:spcBef>
                <a:spcPts val="533"/>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08312A">
                    <a:lumMod val="90000"/>
                    <a:lumOff val="10000"/>
                  </a:srgbClr>
                </a:solidFill>
                <a:effectLst/>
                <a:uLnTx/>
                <a:uFillTx/>
                <a:latin typeface="BISansOptiCond"/>
                <a:ea typeface="+mn-ea"/>
              </a:rPr>
              <a:t>Drug candidate </a:t>
            </a:r>
            <a:endParaRPr kumimoji="0" lang="en-US" sz="1600" b="0" i="0" u="none" strike="noStrike" kern="1200" cap="none" spc="0" normalizeH="0" baseline="0" noProof="0" dirty="0">
              <a:ln>
                <a:noFill/>
              </a:ln>
              <a:solidFill>
                <a:srgbClr val="08312A">
                  <a:lumMod val="90000"/>
                  <a:lumOff val="10000"/>
                </a:srgbClr>
              </a:solidFill>
              <a:effectLst/>
              <a:uLnTx/>
              <a:uFillTx/>
              <a:latin typeface="BISansOptiCond"/>
              <a:ea typeface="+mn-ea"/>
            </a:endParaRPr>
          </a:p>
          <a:p>
            <a:pPr marL="601118" marR="0" lvl="1" indent="-245527"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BISansOptiCond"/>
                <a:ea typeface="+mn-ea"/>
              </a:rPr>
              <a:t>BI 3802876 is a bispecific molecule binding FAP and TRAILR2. </a:t>
            </a:r>
          </a:p>
          <a:p>
            <a:pPr marL="355591" marR="0" lvl="0" indent="-355591" algn="l" defTabSz="1219170" rtl="0" eaLnBrk="1" fontAlgn="auto" latinLnBrk="0" hangingPunct="1">
              <a:lnSpc>
                <a:spcPct val="100000"/>
              </a:lnSpc>
              <a:spcBef>
                <a:spcPts val="533"/>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08312A">
                    <a:lumMod val="90000"/>
                    <a:lumOff val="10000"/>
                  </a:srgbClr>
                </a:solidFill>
                <a:effectLst/>
                <a:uLnTx/>
                <a:uFillTx/>
                <a:latin typeface="BISansOptiCond"/>
                <a:ea typeface="+mn-ea"/>
              </a:rPr>
              <a:t>Clinical hypothesis </a:t>
            </a:r>
          </a:p>
          <a:p>
            <a:pPr marL="601118" marR="0" lvl="1" indent="-245527"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BISansOptiCond"/>
                <a:ea typeface="+mn-ea"/>
              </a:rPr>
              <a:t>Selectively removing FAP+ TRAILR2+ </a:t>
            </a:r>
            <a:r>
              <a:rPr kumimoji="0" lang="en-US" sz="1600" b="0" i="0" u="none" strike="noStrike" kern="1200" cap="none" spc="0" normalizeH="0" baseline="0" noProof="0" dirty="0">
                <a:ln>
                  <a:noFill/>
                </a:ln>
                <a:effectLst/>
                <a:uLnTx/>
                <a:uFillTx/>
                <a:latin typeface="BISansOptiCond"/>
                <a:ea typeface="+mn-ea"/>
              </a:rPr>
              <a:t>activated Hepatic Stellate Cells </a:t>
            </a:r>
            <a:r>
              <a:rPr kumimoji="0" lang="en-US" sz="1600" b="0" i="0" u="none" strike="noStrike" kern="1200" cap="none" spc="0" normalizeH="0" baseline="0" noProof="0" dirty="0">
                <a:ln>
                  <a:noFill/>
                </a:ln>
                <a:solidFill>
                  <a:srgbClr val="000000"/>
                </a:solidFill>
                <a:effectLst/>
                <a:uLnTx/>
                <a:uFillTx/>
                <a:latin typeface="BISansOptiCond"/>
                <a:ea typeface="+mn-ea"/>
              </a:rPr>
              <a:t>will </a:t>
            </a:r>
            <a:r>
              <a:rPr kumimoji="0" lang="en-US" sz="1600" b="0" i="0" u="none" strike="noStrike" kern="1200" cap="none" spc="0" normalizeH="0" baseline="0" noProof="0" dirty="0">
                <a:ln>
                  <a:noFill/>
                </a:ln>
                <a:solidFill>
                  <a:srgbClr val="FF0000"/>
                </a:solidFill>
                <a:effectLst/>
                <a:uLnTx/>
                <a:uFillTx/>
                <a:latin typeface="BISansOptiCond"/>
                <a:ea typeface="+mn-ea"/>
              </a:rPr>
              <a:t>halt/reverse liver fibrosis</a:t>
            </a:r>
          </a:p>
          <a:p>
            <a:pPr marL="355591" marR="0" lvl="0" indent="-355591" algn="l" defTabSz="1219170" rtl="0" eaLnBrk="1" fontAlgn="auto" latinLnBrk="0" hangingPunct="1">
              <a:lnSpc>
                <a:spcPct val="100000"/>
              </a:lnSpc>
              <a:spcBef>
                <a:spcPts val="533"/>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08312A">
                    <a:lumMod val="90000"/>
                    <a:lumOff val="10000"/>
                  </a:srgbClr>
                </a:solidFill>
                <a:effectLst/>
                <a:uLnTx/>
                <a:uFillTx/>
                <a:latin typeface="BISansOptiCond"/>
                <a:ea typeface="+mn-ea"/>
              </a:rPr>
              <a:t>Unique MOA </a:t>
            </a:r>
          </a:p>
          <a:p>
            <a:pPr marL="601118" marR="0" lvl="1" indent="-245527"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BISansOptiCond"/>
                <a:ea typeface="+mn-ea"/>
              </a:rPr>
              <a:t>Directly targeting the source of liver fibrosis </a:t>
            </a:r>
          </a:p>
          <a:p>
            <a:pPr marL="601118" marR="0" lvl="1" indent="-245527"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BISansOptiCond"/>
                <a:ea typeface="+mn-ea"/>
              </a:rPr>
              <a:t>FAP binding provides cell specificity and clusters TRAILR2 mediates cell killing</a:t>
            </a:r>
          </a:p>
          <a:p>
            <a:pPr marL="355591" marR="0" lvl="0" indent="-355591" algn="l" defTabSz="1219170" rtl="0" eaLnBrk="1" fontAlgn="auto" latinLnBrk="0" hangingPunct="1">
              <a:lnSpc>
                <a:spcPct val="100000"/>
              </a:lnSpc>
              <a:spcBef>
                <a:spcPts val="533"/>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08312A">
                    <a:lumMod val="90000"/>
                    <a:lumOff val="10000"/>
                  </a:srgbClr>
                </a:solidFill>
                <a:effectLst/>
                <a:uLnTx/>
                <a:uFillTx/>
                <a:latin typeface="BISansOptiCond"/>
                <a:ea typeface="+mn-ea"/>
              </a:rPr>
              <a:t>Indication</a:t>
            </a:r>
          </a:p>
          <a:p>
            <a:pPr marL="601118" marR="0" lvl="1" indent="-245527"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solidFill>
                  <a:srgbClr val="000000"/>
                </a:solidFill>
                <a:latin typeface="BISansOptiCond"/>
              </a:rPr>
              <a:t>M</a:t>
            </a:r>
            <a:r>
              <a:rPr kumimoji="0" lang="en-US" sz="1600" b="1" i="0" u="none" strike="noStrike" kern="1200" cap="none" spc="0" normalizeH="0" baseline="0" noProof="0" dirty="0">
                <a:ln>
                  <a:noFill/>
                </a:ln>
                <a:solidFill>
                  <a:srgbClr val="000000"/>
                </a:solidFill>
                <a:effectLst/>
                <a:uLnTx/>
                <a:uFillTx/>
                <a:latin typeface="BISansOptiCond"/>
                <a:ea typeface="+mn-ea"/>
              </a:rPr>
              <a:t>ASH cF4 </a:t>
            </a:r>
            <a:r>
              <a:rPr kumimoji="0" lang="en-US" sz="1600" b="0" i="0" u="none" strike="noStrike" kern="1200" cap="none" spc="0" normalizeH="0" baseline="0" noProof="0" dirty="0">
                <a:ln>
                  <a:noFill/>
                </a:ln>
                <a:solidFill>
                  <a:srgbClr val="000000"/>
                </a:solidFill>
                <a:effectLst/>
                <a:uLnTx/>
                <a:uFillTx/>
                <a:latin typeface="BISansOptiCond"/>
                <a:ea typeface="+mn-ea"/>
              </a:rPr>
              <a:t>is a sentinel population with the potential to expand to other etiologies as a </a:t>
            </a:r>
            <a:r>
              <a:rPr kumimoji="0" lang="en-US" sz="1600" b="1" i="0" u="none" strike="noStrike" kern="1200" cap="none" spc="0" normalizeH="0" baseline="0" noProof="0" dirty="0">
                <a:ln>
                  <a:noFill/>
                </a:ln>
                <a:effectLst/>
                <a:uLnTx/>
                <a:uFillTx/>
                <a:latin typeface="BISansOptiCond"/>
                <a:ea typeface="+mn-ea"/>
              </a:rPr>
              <a:t>Pan-Cirrhotic Therapy</a:t>
            </a:r>
          </a:p>
          <a:p>
            <a:pPr marL="355591" marR="0" lvl="0" indent="-355591" algn="l" defTabSz="1219170" rtl="0" eaLnBrk="1" fontAlgn="auto" latinLnBrk="0" hangingPunct="1">
              <a:lnSpc>
                <a:spcPct val="100000"/>
              </a:lnSpc>
              <a:spcBef>
                <a:spcPts val="533"/>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08312A">
                    <a:lumMod val="90000"/>
                    <a:lumOff val="10000"/>
                  </a:srgbClr>
                </a:solidFill>
                <a:effectLst/>
                <a:uLnTx/>
                <a:uFillTx/>
                <a:latin typeface="BISansOptiCond"/>
                <a:ea typeface="+mn-ea"/>
              </a:rPr>
              <a:t>Treatment paradigm</a:t>
            </a:r>
          </a:p>
          <a:p>
            <a:pPr marL="601118" marR="0" lvl="1" indent="-245527"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BISansOptiCond"/>
                <a:ea typeface="+mn-ea"/>
              </a:rPr>
              <a:t>Intravenous drug, monthly or longer</a:t>
            </a:r>
          </a:p>
          <a:p>
            <a:pPr marL="601118" marR="0" lvl="1" indent="-245527"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BISansOptiCond"/>
                <a:ea typeface="+mn-ea"/>
              </a:rPr>
              <a:t>Short term/Cycling/Induction therapy</a:t>
            </a:r>
          </a:p>
          <a:p>
            <a:pPr marL="355591" marR="0" lvl="0" indent="-355591" algn="l" defTabSz="1219170" rtl="0" eaLnBrk="1" fontAlgn="auto" latinLnBrk="0" hangingPunct="1">
              <a:lnSpc>
                <a:spcPct val="100000"/>
              </a:lnSpc>
              <a:spcBef>
                <a:spcPts val="533"/>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08312A">
                    <a:lumMod val="90000"/>
                    <a:lumOff val="10000"/>
                  </a:srgbClr>
                </a:solidFill>
                <a:effectLst/>
                <a:uLnTx/>
                <a:uFillTx/>
                <a:latin typeface="BISansOptiCond"/>
                <a:ea typeface="+mn-ea"/>
              </a:rPr>
              <a:t>Competition</a:t>
            </a:r>
          </a:p>
          <a:p>
            <a:pPr marL="601118" marR="0" lvl="1" indent="-245527"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BISansOptiCond"/>
                <a:ea typeface="+mn-ea"/>
              </a:rPr>
              <a:t>No direct clinical competition for </a:t>
            </a:r>
            <a:r>
              <a:rPr kumimoji="0" lang="en-US" sz="1600" b="0" i="0" u="none" strike="noStrike" kern="1200" cap="none" spc="0" normalizeH="0" baseline="0" noProof="0" dirty="0" err="1">
                <a:ln>
                  <a:noFill/>
                </a:ln>
                <a:solidFill>
                  <a:srgbClr val="000000"/>
                </a:solidFill>
                <a:effectLst/>
                <a:uLnTx/>
                <a:uFillTx/>
                <a:latin typeface="BISansOptiCond"/>
                <a:ea typeface="+mn-ea"/>
              </a:rPr>
              <a:t>MoA</a:t>
            </a:r>
            <a:r>
              <a:rPr kumimoji="0" lang="en-US" sz="1600" b="0" i="0" u="none" strike="noStrike" kern="1200" cap="none" spc="0" normalizeH="0" baseline="0" noProof="0" dirty="0">
                <a:ln>
                  <a:noFill/>
                </a:ln>
                <a:solidFill>
                  <a:srgbClr val="000000"/>
                </a:solidFill>
                <a:effectLst/>
                <a:uLnTx/>
                <a:uFillTx/>
                <a:latin typeface="BISansOptiCond"/>
                <a:ea typeface="+mn-ea"/>
              </a:rPr>
              <a:t> in MASH</a:t>
            </a:r>
          </a:p>
          <a:p>
            <a:pPr marL="355591" marR="0" lvl="0" indent="-355591" algn="l" defTabSz="1219170" rtl="0" eaLnBrk="1" fontAlgn="auto" latinLnBrk="0" hangingPunct="1">
              <a:lnSpc>
                <a:spcPct val="100000"/>
              </a:lnSpc>
              <a:spcBef>
                <a:spcPts val="533"/>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08312A">
                    <a:lumMod val="90000"/>
                    <a:lumOff val="10000"/>
                  </a:srgbClr>
                </a:solidFill>
                <a:effectLst/>
                <a:uLnTx/>
                <a:uFillTx/>
                <a:latin typeface="BISansOptiCond"/>
                <a:ea typeface="+mn-ea"/>
              </a:rPr>
              <a:t>Pre-clinical results</a:t>
            </a:r>
          </a:p>
          <a:p>
            <a:pPr marL="601118" marR="0" lvl="1" indent="-245527"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BISansOptiCond"/>
                <a:ea typeface="+mn-ea"/>
              </a:rPr>
              <a:t>D</a:t>
            </a:r>
            <a:r>
              <a:rPr kumimoji="0" lang="en-US" sz="1600" b="0" i="0" u="none" strike="noStrike" kern="1200" cap="none" spc="0" normalizeH="0" baseline="0" noProof="0" dirty="0" err="1">
                <a:ln>
                  <a:noFill/>
                </a:ln>
                <a:solidFill>
                  <a:srgbClr val="000000"/>
                </a:solidFill>
                <a:effectLst/>
                <a:uLnTx/>
                <a:uFillTx/>
                <a:latin typeface="BISansOptiCond"/>
                <a:ea typeface="+mn-ea"/>
              </a:rPr>
              <a:t>emonstrated</a:t>
            </a:r>
            <a:r>
              <a:rPr kumimoji="0" lang="en-US" sz="1600" b="0" i="0" u="none" strike="noStrike" kern="1200" cap="none" spc="0" normalizeH="0" baseline="0" noProof="0" dirty="0">
                <a:ln>
                  <a:noFill/>
                </a:ln>
                <a:solidFill>
                  <a:srgbClr val="000000"/>
                </a:solidFill>
                <a:effectLst/>
                <a:uLnTx/>
                <a:uFillTx/>
                <a:latin typeface="BISansOptiCond"/>
                <a:ea typeface="+mn-ea"/>
              </a:rPr>
              <a:t> anti-fibrotic PoC in </a:t>
            </a:r>
            <a:r>
              <a:rPr kumimoji="0" lang="en-US" sz="1600" b="0" i="0" u="none" strike="noStrike" kern="1200" cap="none" spc="0" normalizeH="0" baseline="0" noProof="0" dirty="0" err="1">
                <a:ln>
                  <a:noFill/>
                </a:ln>
                <a:solidFill>
                  <a:srgbClr val="000000"/>
                </a:solidFill>
                <a:effectLst/>
                <a:uLnTx/>
                <a:uFillTx/>
                <a:latin typeface="BISansOptiCond"/>
                <a:ea typeface="+mn-ea"/>
              </a:rPr>
              <a:t>LiverChip</a:t>
            </a:r>
            <a:r>
              <a:rPr kumimoji="0" lang="en-US" sz="1600" b="0" i="0" u="none" strike="noStrike" kern="1200" cap="none" spc="0" normalizeH="0" baseline="0" noProof="0" dirty="0">
                <a:ln>
                  <a:noFill/>
                </a:ln>
                <a:solidFill>
                  <a:srgbClr val="000000"/>
                </a:solidFill>
                <a:effectLst/>
                <a:uLnTx/>
                <a:uFillTx/>
                <a:latin typeface="BISansOptiCond"/>
                <a:ea typeface="+mn-ea"/>
              </a:rPr>
              <a:t> (in vitro) fibrosis model with clinically relevant biomarkers (see next slide)</a:t>
            </a:r>
          </a:p>
          <a:p>
            <a:pPr marL="355591" marR="0" lvl="0" indent="-355591" algn="l" defTabSz="1219170" rtl="0" eaLnBrk="1" fontAlgn="auto" latinLnBrk="0" hangingPunct="1">
              <a:lnSpc>
                <a:spcPct val="100000"/>
              </a:lnSpc>
              <a:spcBef>
                <a:spcPts val="533"/>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08312A">
                    <a:lumMod val="90000"/>
                    <a:lumOff val="10000"/>
                  </a:srgbClr>
                </a:solidFill>
                <a:effectLst/>
                <a:uLnTx/>
                <a:uFillTx/>
                <a:latin typeface="BISansOptiCond"/>
                <a:ea typeface="+mn-ea"/>
              </a:rPr>
              <a:t>Phase I results</a:t>
            </a:r>
          </a:p>
          <a:p>
            <a:pPr marL="601118" marR="0" lvl="1" indent="-245527"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BISansOptiCond"/>
                <a:ea typeface="+mn-ea"/>
              </a:rPr>
              <a:t>BI 3802876 may cause small increases in </a:t>
            </a:r>
            <a:r>
              <a:rPr kumimoji="0" lang="en-US" sz="1600" b="0" i="0" u="none" strike="noStrike" kern="1200" cap="none" spc="0" normalizeH="0" baseline="0" noProof="0" dirty="0" err="1">
                <a:ln>
                  <a:noFill/>
                </a:ln>
                <a:solidFill>
                  <a:srgbClr val="000000"/>
                </a:solidFill>
                <a:effectLst/>
                <a:uLnTx/>
                <a:uFillTx/>
                <a:latin typeface="BISansOptiCond"/>
                <a:ea typeface="+mn-ea"/>
              </a:rPr>
              <a:t>hs-cTnT</a:t>
            </a:r>
            <a:r>
              <a:rPr kumimoji="0" lang="en-US" sz="1600" b="0" i="0" u="none" strike="noStrike" kern="1200" cap="none" spc="0" normalizeH="0" baseline="0" noProof="0" dirty="0">
                <a:ln>
                  <a:noFill/>
                </a:ln>
                <a:solidFill>
                  <a:srgbClr val="000000"/>
                </a:solidFill>
                <a:effectLst/>
                <a:uLnTx/>
                <a:uFillTx/>
                <a:latin typeface="BISansOptiCond"/>
                <a:ea typeface="+mn-ea"/>
              </a:rPr>
              <a:t>, which are of uncertain clinical significance at this time. </a:t>
            </a:r>
          </a:p>
          <a:p>
            <a:pPr marL="355591" marR="0" lvl="0" indent="-355591" algn="l" defTabSz="1219170" rtl="0" eaLnBrk="1" fontAlgn="auto" latinLnBrk="0" hangingPunct="1">
              <a:lnSpc>
                <a:spcPct val="100000"/>
              </a:lnSpc>
              <a:spcBef>
                <a:spcPts val="533"/>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BISansOptiCond"/>
              <a:ea typeface="+mn-ea"/>
            </a:endParaRPr>
          </a:p>
        </p:txBody>
      </p:sp>
      <p:pic>
        <p:nvPicPr>
          <p:cNvPr id="13" name="Picture 12">
            <a:extLst>
              <a:ext uri="{FF2B5EF4-FFF2-40B4-BE49-F238E27FC236}">
                <a16:creationId xmlns:a16="http://schemas.microsoft.com/office/drawing/2014/main" id="{121A3326-593C-4F32-A8AD-30E170A265DD}"/>
              </a:ext>
            </a:extLst>
          </p:cNvPr>
          <p:cNvPicPr>
            <a:picLocks noChangeAspect="1"/>
          </p:cNvPicPr>
          <p:nvPr/>
        </p:nvPicPr>
        <p:blipFill>
          <a:blip r:embed="rId3"/>
          <a:stretch>
            <a:fillRect/>
          </a:stretch>
        </p:blipFill>
        <p:spPr>
          <a:xfrm>
            <a:off x="9799455" y="848364"/>
            <a:ext cx="2112746" cy="1763393"/>
          </a:xfrm>
          <a:prstGeom prst="rect">
            <a:avLst/>
          </a:prstGeom>
          <a:ln>
            <a:noFill/>
          </a:ln>
          <a:effectLst/>
        </p:spPr>
      </p:pic>
    </p:spTree>
    <p:extLst>
      <p:ext uri="{BB962C8B-B14F-4D97-AF65-F5344CB8AC3E}">
        <p14:creationId xmlns:p14="http://schemas.microsoft.com/office/powerpoint/2010/main" val="77917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08A10-F3DC-4F5C-7DAC-41B27885F70B}"/>
              </a:ext>
            </a:extLst>
          </p:cNvPr>
          <p:cNvSpPr>
            <a:spLocks noGrp="1"/>
          </p:cNvSpPr>
          <p:nvPr>
            <p:ph type="title"/>
          </p:nvPr>
        </p:nvSpPr>
        <p:spPr/>
        <p:txBody>
          <a:bodyPr/>
          <a:lstStyle/>
          <a:p>
            <a:r>
              <a:rPr lang="en-US" altLang="zh-CN" dirty="0"/>
              <a:t>Possibility of PK backloading: Low</a:t>
            </a:r>
            <a:endParaRPr lang="zh-CN" altLang="en-US" dirty="0"/>
          </a:p>
        </p:txBody>
      </p:sp>
      <p:sp>
        <p:nvSpPr>
          <p:cNvPr id="4" name="Footer Placeholder 3">
            <a:extLst>
              <a:ext uri="{FF2B5EF4-FFF2-40B4-BE49-F238E27FC236}">
                <a16:creationId xmlns:a16="http://schemas.microsoft.com/office/drawing/2014/main" id="{33EEC3C3-C5CE-91CF-6A6F-8D09B08D8466}"/>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5" name="Slide Number Placeholder 4">
            <a:extLst>
              <a:ext uri="{FF2B5EF4-FFF2-40B4-BE49-F238E27FC236}">
                <a16:creationId xmlns:a16="http://schemas.microsoft.com/office/drawing/2014/main" id="{FCEB68FB-55DC-BA1E-BC48-2DF48EAE0574}"/>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6" name="Table 5">
            <a:extLst>
              <a:ext uri="{FF2B5EF4-FFF2-40B4-BE49-F238E27FC236}">
                <a16:creationId xmlns:a16="http://schemas.microsoft.com/office/drawing/2014/main" id="{6079E598-C40E-E5C2-D7DA-05C114DFB5A3}"/>
              </a:ext>
            </a:extLst>
          </p:cNvPr>
          <p:cNvGraphicFramePr>
            <a:graphicFrameLocks noGrp="1"/>
          </p:cNvGraphicFramePr>
          <p:nvPr>
            <p:extLst>
              <p:ext uri="{D42A27DB-BD31-4B8C-83A1-F6EECF244321}">
                <p14:modId xmlns:p14="http://schemas.microsoft.com/office/powerpoint/2010/main" val="2763586318"/>
              </p:ext>
            </p:extLst>
          </p:nvPr>
        </p:nvGraphicFramePr>
        <p:xfrm>
          <a:off x="510031" y="1198881"/>
          <a:ext cx="11171936" cy="4338318"/>
        </p:xfrm>
        <a:graphic>
          <a:graphicData uri="http://schemas.openxmlformats.org/drawingml/2006/table">
            <a:tbl>
              <a:tblPr firstRow="1" bandRow="1">
                <a:tableStyleId>{5C22544A-7EE6-4342-B048-85BDC9FD1C3A}</a:tableStyleId>
              </a:tblPr>
              <a:tblGrid>
                <a:gridCol w="1985833">
                  <a:extLst>
                    <a:ext uri="{9D8B030D-6E8A-4147-A177-3AD203B41FA5}">
                      <a16:colId xmlns:a16="http://schemas.microsoft.com/office/drawing/2014/main" val="4069037288"/>
                    </a:ext>
                  </a:extLst>
                </a:gridCol>
                <a:gridCol w="9186103">
                  <a:extLst>
                    <a:ext uri="{9D8B030D-6E8A-4147-A177-3AD203B41FA5}">
                      <a16:colId xmlns:a16="http://schemas.microsoft.com/office/drawing/2014/main" val="3162427949"/>
                    </a:ext>
                  </a:extLst>
                </a:gridCol>
              </a:tblGrid>
              <a:tr h="370840">
                <a:tc>
                  <a:txBody>
                    <a:bodyPr/>
                    <a:lstStyle/>
                    <a:p>
                      <a:endParaRPr lang="zh-CN" altLang="en-US"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Rationale</a:t>
                      </a:r>
                      <a:endParaRPr lang="zh-CN" altLang="en-US" sz="1400" dirty="0"/>
                    </a:p>
                  </a:txBody>
                  <a:tcPr/>
                </a:tc>
                <a:extLst>
                  <a:ext uri="{0D108BD9-81ED-4DB2-BD59-A6C34878D82A}">
                    <a16:rowId xmlns:a16="http://schemas.microsoft.com/office/drawing/2014/main" val="194964081"/>
                  </a:ext>
                </a:extLst>
              </a:tr>
              <a:tr h="370840">
                <a:tc>
                  <a:txBody>
                    <a:bodyPr/>
                    <a:lstStyle/>
                    <a:p>
                      <a:r>
                        <a:rPr lang="en-US" altLang="zh-CN" sz="1400" dirty="0"/>
                        <a:t>Sensitivity to ethnic factors</a:t>
                      </a:r>
                      <a:endParaRPr lang="zh-CN" altLang="en-US" sz="1400" dirty="0"/>
                    </a:p>
                  </a:txBody>
                  <a:tcPr/>
                </a:tc>
                <a:tc>
                  <a:txBody>
                    <a:bodyPr/>
                    <a:lstStyle/>
                    <a:p>
                      <a:pPr marL="285750" marR="0" lvl="0" indent="-285750" algn="l" rtl="0" eaLnBrk="1" fontAlgn="auto" latinLnBrk="0" hangingPunct="1">
                        <a:lnSpc>
                          <a:spcPct val="100000"/>
                        </a:lnSpc>
                        <a:spcBef>
                          <a:spcPts val="0"/>
                        </a:spcBef>
                        <a:spcAft>
                          <a:spcPts val="0"/>
                        </a:spcAft>
                        <a:buClrTx/>
                        <a:buSzTx/>
                        <a:buFont typeface="Arial" panose="020B0604020202020204" pitchFamily="34" charset="0"/>
                        <a:buChar char="•"/>
                      </a:pPr>
                      <a:r>
                        <a:rPr lang="en-US" altLang="zh-CN" sz="1400" b="1" u="sng" dirty="0"/>
                        <a:t>PK profile:</a:t>
                      </a:r>
                      <a:r>
                        <a:rPr lang="en-US" altLang="zh-CN" sz="1400" kern="1200" dirty="0">
                          <a:solidFill>
                            <a:schemeClr val="dk1"/>
                          </a:solidFill>
                          <a:latin typeface="+mn-lt"/>
                          <a:ea typeface="+mn-ea"/>
                          <a:cs typeface="+mn-cs"/>
                        </a:rPr>
                        <a:t> non-linear </a:t>
                      </a:r>
                      <a:r>
                        <a:rPr lang="en-US" altLang="zh-CN" sz="1400" dirty="0"/>
                        <a:t>PK, as NBE normally no ethnic difference in PK expected, the expression of FAP</a:t>
                      </a:r>
                      <a:r>
                        <a:rPr lang="ja-JP" altLang="en-US" sz="1400" dirty="0"/>
                        <a:t> </a:t>
                      </a:r>
                      <a:r>
                        <a:rPr lang="en-US" altLang="ja-JP" sz="1400" dirty="0"/>
                        <a:t>and </a:t>
                      </a:r>
                      <a:r>
                        <a:rPr lang="en-US" altLang="zh-CN" sz="1400" dirty="0"/>
                        <a:t>total FAP (</a:t>
                      </a:r>
                      <a:r>
                        <a:rPr lang="en-US" altLang="zh-CN" sz="1400" dirty="0" err="1"/>
                        <a:t>sFAP</a:t>
                      </a:r>
                      <a:r>
                        <a:rPr lang="en-US" altLang="zh-CN" sz="1400" dirty="0"/>
                        <a:t>) may impact PK, the expression in Asian is unclear</a:t>
                      </a:r>
                      <a:endParaRPr lang="zh-CN" altLang="en-US" sz="1400" dirty="0"/>
                    </a:p>
                    <a:p>
                      <a:pPr marL="285750" marR="0" lvl="0" indent="-285750" algn="l">
                        <a:lnSpc>
                          <a:spcPct val="100000"/>
                        </a:lnSpc>
                        <a:spcBef>
                          <a:spcPts val="0"/>
                        </a:spcBef>
                        <a:spcAft>
                          <a:spcPts val="0"/>
                        </a:spcAft>
                        <a:buClrTx/>
                        <a:buSzTx/>
                        <a:buFont typeface="Arial" panose="020B0604020202020204" pitchFamily="34" charset="0"/>
                        <a:buChar char="•"/>
                      </a:pPr>
                      <a:r>
                        <a:rPr lang="en-US" altLang="zh-CN" sz="1400" b="1" u="sng" dirty="0"/>
                        <a:t>Impact of body weight</a:t>
                      </a:r>
                      <a:r>
                        <a:rPr lang="en-US" altLang="zh-CN" sz="1400" dirty="0"/>
                        <a:t>: limited if dosing is BW based</a:t>
                      </a:r>
                      <a:endParaRPr lang="zh-CN" altLang="en-US" sz="1400" dirty="0"/>
                    </a:p>
                    <a:p>
                      <a:pPr marL="285750" marR="0" lvl="0" indent="-285750" algn="l" defTabSz="914400">
                        <a:lnSpc>
                          <a:spcPct val="100000"/>
                        </a:lnSpc>
                        <a:spcBef>
                          <a:spcPts val="0"/>
                        </a:spcBef>
                        <a:spcAft>
                          <a:spcPts val="0"/>
                        </a:spcAft>
                        <a:buClrTx/>
                        <a:buSzTx/>
                        <a:buFont typeface="Arial" panose="020B0604020202020204" pitchFamily="34" charset="0"/>
                        <a:buChar char="•"/>
                        <a:tabLst/>
                        <a:defRPr/>
                      </a:pPr>
                      <a:r>
                        <a:rPr lang="en-US" altLang="zh-CN" sz="1400" b="1" u="sng" dirty="0">
                          <a:effectLst/>
                        </a:rPr>
                        <a:t>Impact of metabolic enzyme and transporter polymorphism</a:t>
                      </a:r>
                      <a:r>
                        <a:rPr lang="en-US" altLang="zh-CN" sz="1400" kern="1200" dirty="0">
                          <a:solidFill>
                            <a:schemeClr val="dk1"/>
                          </a:solidFill>
                          <a:latin typeface="+mn-lt"/>
                          <a:ea typeface="+mn-ea"/>
                          <a:cs typeface="+mn-cs"/>
                        </a:rPr>
                        <a:t>: no impact expected</a:t>
                      </a:r>
                    </a:p>
                  </a:txBody>
                  <a:tcPr/>
                </a:tc>
                <a:extLst>
                  <a:ext uri="{0D108BD9-81ED-4DB2-BD59-A6C34878D82A}">
                    <a16:rowId xmlns:a16="http://schemas.microsoft.com/office/drawing/2014/main" val="4140775721"/>
                  </a:ext>
                </a:extLst>
              </a:tr>
              <a:tr h="370840">
                <a:tc>
                  <a:txBody>
                    <a:bodyPr/>
                    <a:lstStyle/>
                    <a:p>
                      <a:r>
                        <a:rPr lang="en-US" altLang="zh-CN" sz="1400" dirty="0"/>
                        <a:t>Nonclinical Safety</a:t>
                      </a:r>
                      <a:endParaRPr lang="zh-CN" altLang="en-US" sz="1400" dirty="0"/>
                    </a:p>
                  </a:txBody>
                  <a:tcPr/>
                </a:tc>
                <a:tc>
                  <a:txBody>
                    <a:bodyPr/>
                    <a:lstStyle/>
                    <a:p>
                      <a:pPr marL="285750" indent="-285750">
                        <a:buFont typeface="Arial" panose="020B0604020202020204" pitchFamily="34" charset="0"/>
                        <a:buChar char="•"/>
                      </a:pPr>
                      <a:r>
                        <a:rPr lang="en-US" altLang="zh-CN" sz="1400" dirty="0"/>
                        <a:t>No critical risks identified . The nonclinical safety package supports the safe administration of BI 3802876 to humans.</a:t>
                      </a:r>
                      <a:endParaRPr lang="zh-CN" dirty="0"/>
                    </a:p>
                    <a:p>
                      <a:pPr marL="285750" indent="-285750">
                        <a:buFont typeface="Arial" panose="020B0604020202020204" pitchFamily="34" charset="0"/>
                        <a:buChar char="•"/>
                      </a:pPr>
                      <a:r>
                        <a:rPr lang="en-US" altLang="zh-CN" sz="1400" dirty="0"/>
                        <a:t>Safety margins to NOAEL: Cmax (x48), AUC (x81) at 7.5 mg/kg</a:t>
                      </a:r>
                    </a:p>
                  </a:txBody>
                  <a:tcPr/>
                </a:tc>
                <a:extLst>
                  <a:ext uri="{0D108BD9-81ED-4DB2-BD59-A6C34878D82A}">
                    <a16:rowId xmlns:a16="http://schemas.microsoft.com/office/drawing/2014/main" val="907449082"/>
                  </a:ext>
                </a:extLst>
              </a:tr>
              <a:tr h="370840">
                <a:tc>
                  <a:txBody>
                    <a:bodyPr/>
                    <a:lstStyle/>
                    <a:p>
                      <a:r>
                        <a:rPr lang="en-US" altLang="zh-CN" sz="1400" dirty="0"/>
                        <a:t>Clinical Safety (SRD&amp;MRD)</a:t>
                      </a:r>
                      <a:endParaRPr lang="zh-CN" altLang="en-US" sz="1400" dirty="0"/>
                    </a:p>
                  </a:txBody>
                  <a:tcPr/>
                </a:tc>
                <a:tc>
                  <a:txBody>
                    <a:bodyPr/>
                    <a:lstStyle/>
                    <a:p>
                      <a:pPr marL="285750" indent="-285750">
                        <a:buFont typeface="Arial" panose="020B0604020202020204" pitchFamily="34" charset="0"/>
                        <a:buChar char="•"/>
                      </a:pPr>
                      <a:r>
                        <a:rPr lang="en-US" altLang="zh-CN" sz="1400" dirty="0"/>
                        <a:t> </a:t>
                      </a:r>
                      <a:r>
                        <a:rPr lang="en-US" altLang="zh-CN" sz="1400" dirty="0">
                          <a:solidFill>
                            <a:srgbClr val="F62B2B"/>
                          </a:solidFill>
                        </a:rPr>
                        <a:t>BI 3802876 may cause small increases in </a:t>
                      </a:r>
                      <a:r>
                        <a:rPr lang="en-US" altLang="zh-CN" sz="1400" dirty="0" err="1">
                          <a:solidFill>
                            <a:srgbClr val="F62B2B"/>
                          </a:solidFill>
                        </a:rPr>
                        <a:t>hs-cTnT</a:t>
                      </a:r>
                      <a:r>
                        <a:rPr lang="en-US" altLang="zh-CN" sz="1400" dirty="0"/>
                        <a:t>, which are of uncertain clinical significance at this time. </a:t>
                      </a:r>
                    </a:p>
                    <a:p>
                      <a:pPr marL="285750" indent="-285750">
                        <a:buFont typeface="Arial" panose="020B0604020202020204" pitchFamily="34" charset="0"/>
                        <a:buChar char="•"/>
                      </a:pPr>
                      <a:endParaRPr lang="zh-CN" altLang="en-US" dirty="0"/>
                    </a:p>
                  </a:txBody>
                  <a:tcPr/>
                </a:tc>
                <a:extLst>
                  <a:ext uri="{0D108BD9-81ED-4DB2-BD59-A6C34878D82A}">
                    <a16:rowId xmlns:a16="http://schemas.microsoft.com/office/drawing/2014/main" val="1441043495"/>
                  </a:ext>
                </a:extLst>
              </a:tr>
              <a:tr h="370839">
                <a:tc>
                  <a:txBody>
                    <a:bodyPr/>
                    <a:lstStyle/>
                    <a:p>
                      <a:pPr lvl="0">
                        <a:buNone/>
                      </a:pPr>
                      <a:r>
                        <a:rPr lang="en-US" altLang="zh-CN" sz="1400" dirty="0"/>
                        <a:t>Safety information from other medications with the same MOA</a:t>
                      </a:r>
                    </a:p>
                  </a:txBody>
                  <a:tcPr/>
                </a:tc>
                <a:tc>
                  <a:txBody>
                    <a:bodyPr/>
                    <a:lstStyle/>
                    <a:p>
                      <a:pPr marL="285750" lvl="0" indent="-285750">
                        <a:buFont typeface="Arial"/>
                        <a:buChar char="•"/>
                      </a:pPr>
                      <a:r>
                        <a:rPr lang="en-US" altLang="zh-CN" sz="1400" dirty="0"/>
                        <a:t>Data around other TRAILR2 agonists suggests hepatotoxicity as a potential risk associated</a:t>
                      </a:r>
                    </a:p>
                    <a:p>
                      <a:pPr marL="0" lvl="0" indent="0">
                        <a:buFont typeface="Arial"/>
                        <a:buNone/>
                      </a:pPr>
                      <a:endParaRPr lang="en-US" altLang="zh-CN" sz="1400" dirty="0"/>
                    </a:p>
                  </a:txBody>
                  <a:tcPr/>
                </a:tc>
                <a:extLst>
                  <a:ext uri="{0D108BD9-81ED-4DB2-BD59-A6C34878D82A}">
                    <a16:rowId xmlns:a16="http://schemas.microsoft.com/office/drawing/2014/main" val="1795090745"/>
                  </a:ext>
                </a:extLst>
              </a:tr>
              <a:tr h="259080">
                <a:tc>
                  <a:txBody>
                    <a:bodyPr/>
                    <a:lstStyle/>
                    <a:p>
                      <a:pPr lvl="0">
                        <a:buNone/>
                      </a:pPr>
                      <a:r>
                        <a:rPr lang="en-US" altLang="zh-CN" sz="1400" dirty="0"/>
                        <a:t>Asian data</a:t>
                      </a:r>
                    </a:p>
                  </a:txBody>
                  <a:tcPr/>
                </a:tc>
                <a:tc>
                  <a:txBody>
                    <a:bodyPr/>
                    <a:lstStyle/>
                    <a:p>
                      <a:pPr marL="285750" lvl="0" indent="-285750">
                        <a:buFont typeface="Arial"/>
                        <a:buChar char="•"/>
                      </a:pPr>
                      <a:r>
                        <a:rPr lang="en-US" altLang="zh-CN" sz="1400" dirty="0"/>
                        <a:t>Absence of Asian data</a:t>
                      </a:r>
                    </a:p>
                  </a:txBody>
                  <a:tcPr/>
                </a:tc>
                <a:extLst>
                  <a:ext uri="{0D108BD9-81ED-4DB2-BD59-A6C34878D82A}">
                    <a16:rowId xmlns:a16="http://schemas.microsoft.com/office/drawing/2014/main" val="2979028270"/>
                  </a:ext>
                </a:extLst>
              </a:tr>
              <a:tr h="259080">
                <a:tc>
                  <a:txBody>
                    <a:bodyPr/>
                    <a:lstStyle/>
                    <a:p>
                      <a:pPr lvl="0">
                        <a:buNone/>
                      </a:pPr>
                      <a:r>
                        <a:rPr lang="en-US" altLang="zh-CN" sz="1400" dirty="0"/>
                        <a:t>Safety monitoring in Phase 2 trial</a:t>
                      </a:r>
                    </a:p>
                  </a:txBody>
                  <a:tcPr/>
                </a:tc>
                <a:tc>
                  <a:txBody>
                    <a:bodyPr/>
                    <a:lstStyle/>
                    <a:p>
                      <a:pPr marL="285750" lvl="0" indent="-285750">
                        <a:buFont typeface="Arial"/>
                        <a:buChar char="•"/>
                      </a:pPr>
                      <a:r>
                        <a:rPr lang="en-US" altLang="zh-CN" sz="1400" dirty="0"/>
                        <a:t>Exclude patients with CV risk and close monitor troponin T , NT-</a:t>
                      </a:r>
                      <a:r>
                        <a:rPr lang="en-US" altLang="zh-CN" sz="1400" dirty="0" err="1"/>
                        <a:t>proBNP</a:t>
                      </a:r>
                      <a:r>
                        <a:rPr lang="en-US" altLang="zh-CN" sz="1400" dirty="0"/>
                        <a:t> and other biomarkers.</a:t>
                      </a:r>
                    </a:p>
                  </a:txBody>
                  <a:tcPr/>
                </a:tc>
                <a:extLst>
                  <a:ext uri="{0D108BD9-81ED-4DB2-BD59-A6C34878D82A}">
                    <a16:rowId xmlns:a16="http://schemas.microsoft.com/office/drawing/2014/main" val="568794631"/>
                  </a:ext>
                </a:extLst>
              </a:tr>
              <a:tr h="370838">
                <a:tc>
                  <a:txBody>
                    <a:bodyPr/>
                    <a:lstStyle/>
                    <a:p>
                      <a:pPr lvl="0">
                        <a:buNone/>
                      </a:pPr>
                      <a:r>
                        <a:rPr lang="en-US" altLang="zh-CN" sz="1400" dirty="0"/>
                        <a:t>Exposure in patient</a:t>
                      </a:r>
                    </a:p>
                  </a:txBody>
                  <a:tcPr/>
                </a:tc>
                <a:tc>
                  <a:txBody>
                    <a:bodyPr/>
                    <a:lstStyle/>
                    <a:p>
                      <a:pPr marL="285750" lvl="0" indent="-285750">
                        <a:buFont typeface="Arial"/>
                        <a:buChar char="•"/>
                      </a:pPr>
                      <a:r>
                        <a:rPr lang="en-US" altLang="zh-CN" sz="1400" dirty="0"/>
                        <a:t>TDO not available</a:t>
                      </a:r>
                    </a:p>
                  </a:txBody>
                  <a:tcPr/>
                </a:tc>
                <a:extLst>
                  <a:ext uri="{0D108BD9-81ED-4DB2-BD59-A6C34878D82A}">
                    <a16:rowId xmlns:a16="http://schemas.microsoft.com/office/drawing/2014/main" val="1564061779"/>
                  </a:ext>
                </a:extLst>
              </a:tr>
            </a:tbl>
          </a:graphicData>
        </a:graphic>
      </p:graphicFrame>
    </p:spTree>
    <p:extLst>
      <p:ext uri="{BB962C8B-B14F-4D97-AF65-F5344CB8AC3E}">
        <p14:creationId xmlns:p14="http://schemas.microsoft.com/office/powerpoint/2010/main" val="81031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525E8-24D2-76F5-1749-0A6724730B4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3DE54B-4FBE-5D9C-C351-F50825878FA6}"/>
              </a:ext>
            </a:extLst>
          </p:cNvPr>
          <p:cNvSpPr>
            <a:spLocks noGrp="1"/>
          </p:cNvSpPr>
          <p:nvPr>
            <p:ph type="title"/>
          </p:nvPr>
        </p:nvSpPr>
        <p:spPr/>
        <p:txBody>
          <a:bodyPr/>
          <a:lstStyle/>
          <a:p>
            <a:r>
              <a:rPr kumimoji="1" lang="en-US" altLang="ja-JP" dirty="0"/>
              <a:t>Different HA interaction strategy by China and Japan </a:t>
            </a:r>
            <a:endParaRPr kumimoji="1" lang="ja-JP" altLang="en-US" dirty="0"/>
          </a:p>
        </p:txBody>
      </p:sp>
      <p:sp>
        <p:nvSpPr>
          <p:cNvPr id="6" name="コンテンツ プレースホルダー 5">
            <a:extLst>
              <a:ext uri="{FF2B5EF4-FFF2-40B4-BE49-F238E27FC236}">
                <a16:creationId xmlns:a16="http://schemas.microsoft.com/office/drawing/2014/main" id="{3F2D38B5-1D62-9946-31F6-E4307FAA2B56}"/>
              </a:ext>
            </a:extLst>
          </p:cNvPr>
          <p:cNvSpPr>
            <a:spLocks noGrp="1"/>
          </p:cNvSpPr>
          <p:nvPr>
            <p:ph idx="1"/>
          </p:nvPr>
        </p:nvSpPr>
        <p:spPr>
          <a:xfrm>
            <a:off x="475388" y="1413264"/>
            <a:ext cx="11233151" cy="4392000"/>
          </a:xfrm>
        </p:spPr>
        <p:txBody>
          <a:bodyPr vert="horz" lIns="0" tIns="0" rIns="0" bIns="0" rtlCol="0" anchor="t">
            <a:noAutofit/>
          </a:bodyPr>
          <a:lstStyle/>
          <a:p>
            <a:pPr marL="0" indent="0">
              <a:buNone/>
            </a:pPr>
            <a:r>
              <a:rPr lang="en-US" b="1" u="sng" dirty="0"/>
              <a:t>Japan</a:t>
            </a:r>
            <a:endParaRPr lang="en-US" dirty="0"/>
          </a:p>
          <a:p>
            <a:r>
              <a:rPr lang="en-US" dirty="0"/>
              <a:t>In line with a lean development approach, Japan team will  focus on consulting with PMDA regarding the backloading of the Phase 1 trial in Japan.</a:t>
            </a:r>
          </a:p>
          <a:p>
            <a:r>
              <a:rPr lang="en-US" dirty="0"/>
              <a:t>If the feedback is positive, Japan will not participate in the Asian Phase 1 trial.</a:t>
            </a:r>
          </a:p>
          <a:p>
            <a:pPr marL="0" indent="0">
              <a:buNone/>
            </a:pPr>
            <a:r>
              <a:rPr lang="en-US" dirty="0"/>
              <a:t>​</a:t>
            </a:r>
          </a:p>
          <a:p>
            <a:pPr marL="0" indent="0">
              <a:buNone/>
            </a:pPr>
            <a:r>
              <a:rPr lang="en-US" b="1" u="sng" dirty="0"/>
              <a:t>China</a:t>
            </a:r>
            <a:endParaRPr lang="en-US" dirty="0"/>
          </a:p>
          <a:p>
            <a:r>
              <a:rPr lang="en-US" dirty="0"/>
              <a:t>Due to certain risks associated with the Asian Phase 1 trial design, China team intends to conduct a consultation aimed at explaining the rationale behind PK backloading and gathering feedback on the Phase 1 trial design.</a:t>
            </a:r>
          </a:p>
          <a:p>
            <a:r>
              <a:rPr lang="en-US" dirty="0"/>
              <a:t>Although the number of Chinese patients in the Asian Phase 1 is limited, the data may still provide valuable support to meet the requirements for intensive PK data.</a:t>
            </a:r>
          </a:p>
          <a:p>
            <a:pPr marL="0" indent="0">
              <a:buNone/>
            </a:pPr>
            <a:r>
              <a:rPr lang="en-US" dirty="0"/>
              <a:t>​</a:t>
            </a:r>
            <a:endParaRPr lang="en-US" altLang="ja-JP" sz="2000" dirty="0"/>
          </a:p>
        </p:txBody>
      </p:sp>
      <p:sp>
        <p:nvSpPr>
          <p:cNvPr id="7" name="テキスト プレースホルダー 6">
            <a:extLst>
              <a:ext uri="{FF2B5EF4-FFF2-40B4-BE49-F238E27FC236}">
                <a16:creationId xmlns:a16="http://schemas.microsoft.com/office/drawing/2014/main" id="{DECF2D4B-D331-0A3A-0F29-A48E11739A86}"/>
              </a:ext>
            </a:extLst>
          </p:cNvPr>
          <p:cNvSpPr>
            <a:spLocks noGrp="1"/>
          </p:cNvSpPr>
          <p:nvPr>
            <p:ph type="body" sz="quarter" idx="13"/>
          </p:nvPr>
        </p:nvSpPr>
        <p:spPr/>
        <p:txBody>
          <a:bodyPr/>
          <a:lstStyle/>
          <a:p>
            <a:endParaRPr lang="ja-JP" altLang="en-US"/>
          </a:p>
        </p:txBody>
      </p:sp>
      <p:sp>
        <p:nvSpPr>
          <p:cNvPr id="4" name="フッター プレースホルダー 3">
            <a:extLst>
              <a:ext uri="{FF2B5EF4-FFF2-40B4-BE49-F238E27FC236}">
                <a16:creationId xmlns:a16="http://schemas.microsoft.com/office/drawing/2014/main" id="{4F815AB0-C4AA-E97D-A084-E52E0210FC48}"/>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5" name="スライド番号プレースホルダー 4">
            <a:extLst>
              <a:ext uri="{FF2B5EF4-FFF2-40B4-BE49-F238E27FC236}">
                <a16:creationId xmlns:a16="http://schemas.microsoft.com/office/drawing/2014/main" id="{8AE13C49-34DC-0919-2839-E6C843AB4517}"/>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Tree>
    <p:extLst>
      <p:ext uri="{BB962C8B-B14F-4D97-AF65-F5344CB8AC3E}">
        <p14:creationId xmlns:p14="http://schemas.microsoft.com/office/powerpoint/2010/main" val="4007405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BA68191B-2A9A-0F3A-8D85-1240D60DD271}"/>
              </a:ext>
            </a:extLst>
          </p:cNvPr>
          <p:cNvSpPr/>
          <p:nvPr/>
        </p:nvSpPr>
        <p:spPr bwMode="gray">
          <a:xfrm>
            <a:off x="2600470" y="3944611"/>
            <a:ext cx="7642866" cy="2696366"/>
          </a:xfrm>
          <a:prstGeom prst="rect">
            <a:avLst/>
          </a:prstGeom>
          <a:solidFill>
            <a:schemeClr val="bg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dirty="0">
              <a:solidFill>
                <a:schemeClr val="tx1"/>
              </a:solidFill>
            </a:endParaRPr>
          </a:p>
        </p:txBody>
      </p:sp>
      <p:sp>
        <p:nvSpPr>
          <p:cNvPr id="8" name="矩形 7">
            <a:extLst>
              <a:ext uri="{FF2B5EF4-FFF2-40B4-BE49-F238E27FC236}">
                <a16:creationId xmlns:a16="http://schemas.microsoft.com/office/drawing/2014/main" id="{F50A43A3-46A4-F886-D237-983155D678B3}"/>
              </a:ext>
            </a:extLst>
          </p:cNvPr>
          <p:cNvSpPr/>
          <p:nvPr/>
        </p:nvSpPr>
        <p:spPr bwMode="gray">
          <a:xfrm>
            <a:off x="6773" y="739127"/>
            <a:ext cx="12192000" cy="2958957"/>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dirty="0">
              <a:solidFill>
                <a:schemeClr val="tx1"/>
              </a:solidFill>
            </a:endParaRPr>
          </a:p>
        </p:txBody>
      </p:sp>
      <p:sp>
        <p:nvSpPr>
          <p:cNvPr id="36" name="Title 1">
            <a:extLst>
              <a:ext uri="{FF2B5EF4-FFF2-40B4-BE49-F238E27FC236}">
                <a16:creationId xmlns:a16="http://schemas.microsoft.com/office/drawing/2014/main" id="{4C5742EF-B123-5952-9B70-84B77A6E7EC0}"/>
              </a:ext>
            </a:extLst>
          </p:cNvPr>
          <p:cNvSpPr>
            <a:spLocks noGrp="1"/>
          </p:cNvSpPr>
          <p:nvPr>
            <p:ph type="title"/>
          </p:nvPr>
        </p:nvSpPr>
        <p:spPr>
          <a:xfrm>
            <a:off x="341434" y="217024"/>
            <a:ext cx="11200630" cy="418702"/>
          </a:xfrm>
        </p:spPr>
        <p:txBody>
          <a:bodyPr/>
          <a:lstStyle/>
          <a:p>
            <a:r>
              <a:rPr kumimoji="1" lang="en-US" altLang="ja-JP" dirty="0"/>
              <a:t>Asian Phase1 Proposal</a:t>
            </a:r>
            <a:endParaRPr kumimoji="1" lang="en-US" dirty="0"/>
          </a:p>
        </p:txBody>
      </p:sp>
      <p:sp>
        <p:nvSpPr>
          <p:cNvPr id="109" name="Rectangle: Rounded Corners 108">
            <a:extLst>
              <a:ext uri="{FF2B5EF4-FFF2-40B4-BE49-F238E27FC236}">
                <a16:creationId xmlns:a16="http://schemas.microsoft.com/office/drawing/2014/main" id="{5A8F5AF3-8EE3-C397-3657-FA2DABAE7F65}"/>
              </a:ext>
            </a:extLst>
          </p:cNvPr>
          <p:cNvSpPr/>
          <p:nvPr/>
        </p:nvSpPr>
        <p:spPr bwMode="gray">
          <a:xfrm>
            <a:off x="6223117" y="5978434"/>
            <a:ext cx="1539568" cy="432605"/>
          </a:xfrm>
          <a:prstGeom prst="roundRect">
            <a:avLst>
              <a:gd name="adj" fmla="val 0"/>
            </a:avLst>
          </a:prstGeom>
          <a:solidFill>
            <a:schemeClr val="accent4">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Boehringer Forward Text"/>
                <a:ea typeface="+mn-ea"/>
                <a:cs typeface="+mn-cs"/>
              </a:rPr>
              <a:t>Safety PK observation</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Boehringer Forward Text"/>
                <a:ea typeface="+mn-ea"/>
                <a:cs typeface="+mn-cs"/>
              </a:rPr>
              <a:t>60 days</a:t>
            </a:r>
            <a:endParaRPr kumimoji="0" lang="de-DE"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113" name="Rectangle: Rounded Corners 112">
            <a:extLst>
              <a:ext uri="{FF2B5EF4-FFF2-40B4-BE49-F238E27FC236}">
                <a16:creationId xmlns:a16="http://schemas.microsoft.com/office/drawing/2014/main" id="{82CF22EA-EC2C-3184-E391-22491A61DD69}"/>
              </a:ext>
            </a:extLst>
          </p:cNvPr>
          <p:cNvSpPr/>
          <p:nvPr/>
        </p:nvSpPr>
        <p:spPr bwMode="gray">
          <a:xfrm>
            <a:off x="2830079" y="5982171"/>
            <a:ext cx="1996083" cy="430887"/>
          </a:xfrm>
          <a:prstGeom prst="roundRect">
            <a:avLst>
              <a:gd name="adj" fmla="val 0"/>
            </a:avLst>
          </a:prstGeom>
          <a:solidFill>
            <a:schemeClr val="bg1">
              <a:lumMod val="8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Boehringer Forward Text"/>
                <a:ea typeface="+mn-ea"/>
                <a:cs typeface="+mn-cs"/>
              </a:rPr>
              <a:t>Subject identification</a:t>
            </a:r>
          </a:p>
        </p:txBody>
      </p:sp>
      <p:sp>
        <p:nvSpPr>
          <p:cNvPr id="115" name="TextBox 114">
            <a:extLst>
              <a:ext uri="{FF2B5EF4-FFF2-40B4-BE49-F238E27FC236}">
                <a16:creationId xmlns:a16="http://schemas.microsoft.com/office/drawing/2014/main" id="{39B6D197-3020-05DA-503B-6C835A7E7F79}"/>
              </a:ext>
            </a:extLst>
          </p:cNvPr>
          <p:cNvSpPr txBox="1"/>
          <p:nvPr/>
        </p:nvSpPr>
        <p:spPr>
          <a:xfrm>
            <a:off x="3515617" y="5155886"/>
            <a:ext cx="1539570"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BISans"/>
                <a:ea typeface="+mn-ea"/>
                <a:cs typeface="+mn-cs"/>
              </a:rPr>
              <a:t>MABEL:</a:t>
            </a:r>
            <a:r>
              <a:rPr kumimoji="0" lang="en-US" sz="1000" b="0" i="0" u="none" strike="noStrike" kern="1200" cap="none" spc="0" normalizeH="0" baseline="0" noProof="0">
                <a:ln>
                  <a:noFill/>
                </a:ln>
                <a:solidFill>
                  <a:prstClr val="black"/>
                </a:solidFill>
                <a:effectLst/>
                <a:uLnTx/>
                <a:uFillTx/>
                <a:latin typeface="BISans"/>
                <a:ea typeface="+mn-ea"/>
                <a:cs typeface="+mn-cs"/>
              </a:rPr>
              <a:t> Minimal  Anticipated Biological Effect Level = 0.05mg/kg </a:t>
            </a:r>
          </a:p>
        </p:txBody>
      </p:sp>
      <p:sp>
        <p:nvSpPr>
          <p:cNvPr id="138" name="Rectangle: Rounded Corners 137">
            <a:extLst>
              <a:ext uri="{FF2B5EF4-FFF2-40B4-BE49-F238E27FC236}">
                <a16:creationId xmlns:a16="http://schemas.microsoft.com/office/drawing/2014/main" id="{297AB36A-89B2-3955-6C2B-4A00941AC766}"/>
              </a:ext>
            </a:extLst>
          </p:cNvPr>
          <p:cNvSpPr/>
          <p:nvPr/>
        </p:nvSpPr>
        <p:spPr bwMode="gray">
          <a:xfrm>
            <a:off x="7606443" y="4718998"/>
            <a:ext cx="720000" cy="432390"/>
          </a:xfrm>
          <a:prstGeom prst="roundRect">
            <a:avLst>
              <a:gd name="adj" fmla="val 0"/>
            </a:avLst>
          </a:prstGeom>
          <a:solidFill>
            <a:schemeClr val="accent3"/>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4572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Boehringer Forward Text"/>
                <a:ea typeface="+mn-ea"/>
                <a:cs typeface="+mn-cs"/>
              </a:rPr>
              <a:t>DG 2</a:t>
            </a:r>
          </a:p>
          <a:p>
            <a:pPr marL="0" marR="0" lvl="0" indent="0" algn="ctr" defTabSz="914400" rtl="0" eaLnBrk="1" fontAlgn="auto" latinLnBrk="0" hangingPunct="1">
              <a:lnSpc>
                <a:spcPct val="110000"/>
              </a:lnSpc>
              <a:spcBef>
                <a:spcPts val="0"/>
              </a:spcBef>
              <a:spcAft>
                <a:spcPts val="0"/>
              </a:spcAft>
              <a:buClrTx/>
              <a:buSzTx/>
              <a:buFontTx/>
              <a:buNone/>
              <a:tabLst/>
              <a:defRPr/>
            </a:pPr>
            <a:r>
              <a:rPr lang="en-US" sz="1000" dirty="0">
                <a:solidFill>
                  <a:prstClr val="black"/>
                </a:solidFill>
                <a:latin typeface="Boehringer Forward Text"/>
              </a:rPr>
              <a:t>Single</a:t>
            </a:r>
            <a:r>
              <a:rPr kumimoji="0" lang="en-US" sz="1000" b="0" i="0" u="none" strike="noStrike" kern="1200" cap="none" spc="0" normalizeH="0" baseline="0" noProof="0" dirty="0">
                <a:ln>
                  <a:noFill/>
                </a:ln>
                <a:solidFill>
                  <a:prstClr val="black"/>
                </a:solidFill>
                <a:effectLst/>
                <a:uLnTx/>
                <a:uFillTx/>
                <a:latin typeface="Boehringer Forward Text"/>
                <a:ea typeface="+mn-ea"/>
                <a:cs typeface="+mn-cs"/>
              </a:rPr>
              <a:t> dose</a:t>
            </a:r>
            <a:endParaRPr kumimoji="0" lang="en-US" sz="1000" b="1"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139" name="Rectangle: Rounded Corners 138">
            <a:extLst>
              <a:ext uri="{FF2B5EF4-FFF2-40B4-BE49-F238E27FC236}">
                <a16:creationId xmlns:a16="http://schemas.microsoft.com/office/drawing/2014/main" id="{63A795BB-F173-372D-1919-880C9B82B482}"/>
              </a:ext>
            </a:extLst>
          </p:cNvPr>
          <p:cNvSpPr/>
          <p:nvPr/>
        </p:nvSpPr>
        <p:spPr bwMode="gray">
          <a:xfrm>
            <a:off x="8326442" y="4718783"/>
            <a:ext cx="1403177" cy="432605"/>
          </a:xfrm>
          <a:prstGeom prst="roundRect">
            <a:avLst>
              <a:gd name="adj" fmla="val 0"/>
            </a:avLst>
          </a:prstGeom>
          <a:solidFill>
            <a:schemeClr val="accent4">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altLang="ja-JP" sz="1000" b="1" i="0" u="none" strike="noStrike" kern="1200" cap="none" spc="0" normalizeH="0" baseline="0" noProof="0" dirty="0">
                <a:ln>
                  <a:noFill/>
                </a:ln>
                <a:solidFill>
                  <a:prstClr val="black"/>
                </a:solidFill>
                <a:effectLst/>
                <a:uLnTx/>
                <a:uFillTx/>
                <a:latin typeface="Boehringer Forward Text"/>
                <a:ea typeface="+mn-ea"/>
                <a:cs typeface="+mn-cs"/>
              </a:rPr>
              <a:t>Safety PK observation</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Boehringer Forward Text"/>
                <a:ea typeface="+mn-ea"/>
                <a:cs typeface="+mn-cs"/>
              </a:rPr>
              <a:t>60 days</a:t>
            </a:r>
            <a:endParaRPr kumimoji="0" lang="de-DE" altLang="ja-JP"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148" name="Rectangle: Rounded Corners 147">
            <a:extLst>
              <a:ext uri="{FF2B5EF4-FFF2-40B4-BE49-F238E27FC236}">
                <a16:creationId xmlns:a16="http://schemas.microsoft.com/office/drawing/2014/main" id="{0BF0AFA5-B008-8B0C-C32A-63BF1E517663}"/>
              </a:ext>
            </a:extLst>
          </p:cNvPr>
          <p:cNvSpPr/>
          <p:nvPr/>
        </p:nvSpPr>
        <p:spPr bwMode="gray">
          <a:xfrm>
            <a:off x="4826162" y="5982171"/>
            <a:ext cx="678460" cy="430332"/>
          </a:xfrm>
          <a:prstGeom prst="roundRect">
            <a:avLst>
              <a:gd name="adj" fmla="val 0"/>
            </a:avLst>
          </a:prstGeom>
          <a:solidFill>
            <a:schemeClr val="accent5">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Boehringer Forward Text"/>
                <a:ea typeface="+mn-ea"/>
                <a:cs typeface="+mn-cs"/>
              </a:rPr>
              <a:t>Run-in</a:t>
            </a:r>
            <a:r>
              <a:rPr kumimoji="0" lang="en-US" sz="1000" b="0" i="0" u="none" strike="noStrike" kern="1200" cap="none" spc="0" normalizeH="0" baseline="0" noProof="0" dirty="0">
                <a:ln>
                  <a:noFill/>
                </a:ln>
                <a:solidFill>
                  <a:prstClr val="black"/>
                </a:solidFill>
                <a:effectLst/>
                <a:uLnTx/>
                <a:uFillTx/>
                <a:latin typeface="Boehringer Forward Text"/>
                <a:ea typeface="+mn-ea"/>
                <a:cs typeface="+mn-cs"/>
              </a:rPr>
              <a:t> </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Boehringer Forward Text"/>
                <a:ea typeface="+mn-ea"/>
                <a:cs typeface="+mn-cs"/>
              </a:rPr>
              <a:t>MABEL</a:t>
            </a:r>
          </a:p>
        </p:txBody>
      </p:sp>
      <p:sp>
        <p:nvSpPr>
          <p:cNvPr id="149" name="Rectangle: Rounded Corners 148">
            <a:extLst>
              <a:ext uri="{FF2B5EF4-FFF2-40B4-BE49-F238E27FC236}">
                <a16:creationId xmlns:a16="http://schemas.microsoft.com/office/drawing/2014/main" id="{EEF3C260-E12A-3404-01D0-67F0BDDA16C2}"/>
              </a:ext>
            </a:extLst>
          </p:cNvPr>
          <p:cNvSpPr/>
          <p:nvPr/>
        </p:nvSpPr>
        <p:spPr bwMode="gray">
          <a:xfrm>
            <a:off x="5509115" y="5982170"/>
            <a:ext cx="709509" cy="430331"/>
          </a:xfrm>
          <a:prstGeom prst="roundRect">
            <a:avLst>
              <a:gd name="adj" fmla="val 0"/>
            </a:avLst>
          </a:prstGeom>
          <a:solidFill>
            <a:schemeClr val="accent3"/>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45720" rIns="0" bIns="4572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i="0" u="none" strike="noStrike" kern="1200" cap="none" spc="0" normalizeH="0" baseline="0" noProof="0" dirty="0">
                <a:ln>
                  <a:noFill/>
                </a:ln>
                <a:solidFill>
                  <a:prstClr val="black"/>
                </a:solidFill>
                <a:effectLst/>
                <a:uLnTx/>
                <a:uFillTx/>
                <a:latin typeface="Boehringer Forward Text"/>
                <a:ea typeface="+mn-ea"/>
                <a:cs typeface="+mn-cs"/>
              </a:rPr>
              <a:t>DG 1</a:t>
            </a:r>
            <a:endParaRPr lang="en-US" sz="1000" dirty="0">
              <a:solidFill>
                <a:prstClr val="black"/>
              </a:solidFill>
              <a:latin typeface="Boehringer Forward Text"/>
            </a:endParaRP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i="0" u="none" strike="noStrike" kern="1200" cap="none" spc="0" normalizeH="0" baseline="0" noProof="0" dirty="0">
                <a:ln>
                  <a:noFill/>
                </a:ln>
                <a:solidFill>
                  <a:prstClr val="black"/>
                </a:solidFill>
                <a:effectLst/>
                <a:uLnTx/>
                <a:uFillTx/>
                <a:latin typeface="Boehringer Forward Text"/>
                <a:ea typeface="+mn-ea"/>
                <a:cs typeface="+mn-cs"/>
              </a:rPr>
              <a:t>Single dose</a:t>
            </a:r>
          </a:p>
        </p:txBody>
      </p:sp>
      <p:cxnSp>
        <p:nvCxnSpPr>
          <p:cNvPr id="159" name="Straight Connector 158">
            <a:extLst>
              <a:ext uri="{FF2B5EF4-FFF2-40B4-BE49-F238E27FC236}">
                <a16:creationId xmlns:a16="http://schemas.microsoft.com/office/drawing/2014/main" id="{A2D28C0F-5282-D216-50BF-8D59F7377ECC}"/>
              </a:ext>
            </a:extLst>
          </p:cNvPr>
          <p:cNvCxnSpPr>
            <a:cxnSpLocks/>
            <a:stCxn id="115" idx="2"/>
            <a:endCxn id="148" idx="0"/>
          </p:cNvCxnSpPr>
          <p:nvPr/>
        </p:nvCxnSpPr>
        <p:spPr bwMode="gray">
          <a:xfrm>
            <a:off x="4285402" y="5709884"/>
            <a:ext cx="879990" cy="272287"/>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712F045-C77D-31F0-3A38-6F9BE30AF8F4}"/>
              </a:ext>
            </a:extLst>
          </p:cNvPr>
          <p:cNvSpPr txBox="1"/>
          <p:nvPr/>
        </p:nvSpPr>
        <p:spPr bwMode="gray">
          <a:xfrm>
            <a:off x="942813" y="775858"/>
            <a:ext cx="9842112" cy="3168753"/>
          </a:xfrm>
          <a:prstGeom prst="rect">
            <a:avLst/>
          </a:prstGeom>
          <a:noFill/>
          <a:ln>
            <a:noFill/>
          </a:ln>
        </p:spPr>
        <p:txBody>
          <a:bodyPr wrap="square" lIns="0" tIns="0" rIns="0" bIns="0" rtlCol="0">
            <a:spAutoFit/>
          </a:bodyPr>
          <a:lstStyle/>
          <a:p>
            <a:pPr marL="285750" marR="0" lvl="0" indent="-285750" algn="l" defTabSz="914400" rtl="0" eaLnBrk="1" fontAlgn="auto" latinLnBrk="0" hangingPunct="1">
              <a:lnSpc>
                <a:spcPct val="140000"/>
              </a:lnSpc>
              <a:spcBef>
                <a:spcPts val="0"/>
              </a:spcBef>
              <a:spcAft>
                <a:spcPts val="600"/>
              </a:spcAft>
              <a:buClrTx/>
              <a:buSzTx/>
              <a:buFont typeface="Wingdings" panose="05000000000000000000" pitchFamily="2" charset="2"/>
              <a:buChar char="l"/>
              <a:tabLst/>
              <a:defRPr/>
            </a:pPr>
            <a:r>
              <a:rPr kumimoji="1" lang="en-US" sz="1600" b="0" i="0" u="none" strike="noStrike" kern="1200" cap="none" spc="0" normalizeH="0" baseline="0" noProof="0" dirty="0">
                <a:ln>
                  <a:noFill/>
                </a:ln>
                <a:solidFill>
                  <a:prstClr val="black"/>
                </a:solidFill>
                <a:effectLst/>
                <a:uLnTx/>
                <a:uFillTx/>
                <a:latin typeface="Boehringer Forward Text"/>
                <a:ea typeface="+mn-ea"/>
                <a:cs typeface="+mn-cs"/>
              </a:rPr>
              <a:t>Trial objectives: Safety and PK</a:t>
            </a:r>
          </a:p>
          <a:p>
            <a:pPr marL="285750" marR="0" lvl="0" indent="-285750" algn="l" defTabSz="914400" rtl="0" eaLnBrk="1" fontAlgn="auto" latinLnBrk="0" hangingPunct="1">
              <a:lnSpc>
                <a:spcPct val="140000"/>
              </a:lnSpc>
              <a:spcBef>
                <a:spcPts val="0"/>
              </a:spcBef>
              <a:spcAft>
                <a:spcPts val="600"/>
              </a:spcAft>
              <a:buClrTx/>
              <a:buSzTx/>
              <a:buFont typeface="Wingdings" panose="05000000000000000000" pitchFamily="2" charset="2"/>
              <a:buChar char="l"/>
              <a:tabLst/>
              <a:defRPr/>
            </a:pPr>
            <a:r>
              <a:rPr kumimoji="0" lang="en-US" sz="1600" b="0" i="0" u="none" strike="noStrike" kern="1200" cap="none" spc="0" normalizeH="0" baseline="0" noProof="0" dirty="0">
                <a:ln>
                  <a:noFill/>
                </a:ln>
                <a:solidFill>
                  <a:prstClr val="black"/>
                </a:solidFill>
                <a:effectLst/>
                <a:uLnTx/>
                <a:uFillTx/>
                <a:latin typeface="Boehringer Forward Text"/>
                <a:ea typeface="+mn-ea"/>
                <a:cs typeface="+mn-cs"/>
              </a:rPr>
              <a:t>Trial population: MASH cirrhosis (same as global phase 2a trial)</a:t>
            </a:r>
          </a:p>
          <a:p>
            <a:pPr marL="285750" marR="0" lvl="0" indent="-285750" algn="l" defTabSz="914400" rtl="0" eaLnBrk="1" fontAlgn="auto" latinLnBrk="0" hangingPunct="1">
              <a:lnSpc>
                <a:spcPct val="140000"/>
              </a:lnSpc>
              <a:spcBef>
                <a:spcPts val="0"/>
              </a:spcBef>
              <a:spcAft>
                <a:spcPts val="600"/>
              </a:spcAft>
              <a:buClrTx/>
              <a:buSzTx/>
              <a:buFont typeface="Wingdings" panose="05000000000000000000" pitchFamily="2" charset="2"/>
              <a:buChar char="l"/>
              <a:tabLst/>
              <a:defRPr/>
            </a:pPr>
            <a:r>
              <a:rPr lang="en-US" sz="1600" dirty="0">
                <a:solidFill>
                  <a:prstClr val="black"/>
                </a:solidFill>
                <a:latin typeface="Boehringer Forward Text"/>
              </a:rPr>
              <a:t>Trial design: open-label (no placebo), two-dose group cohorts , single dose administration</a:t>
            </a:r>
            <a:endParaRPr kumimoji="0" lang="en-US" sz="1600" b="0" i="0" u="none" strike="noStrike" kern="1200" cap="none" spc="0" normalizeH="0" baseline="0" noProof="0" dirty="0">
              <a:ln>
                <a:noFill/>
              </a:ln>
              <a:solidFill>
                <a:prstClr val="black"/>
              </a:solidFill>
              <a:effectLst/>
              <a:uLnTx/>
              <a:uFillTx/>
              <a:latin typeface="Boehringer Forward Text"/>
              <a:ea typeface="+mn-ea"/>
              <a:cs typeface="+mn-cs"/>
            </a:endParaRPr>
          </a:p>
          <a:p>
            <a:pPr marL="285750" marR="0" lvl="0" indent="-285750" algn="l" defTabSz="914400" rtl="0" eaLnBrk="1" fontAlgn="auto" latinLnBrk="0" hangingPunct="1">
              <a:lnSpc>
                <a:spcPct val="140000"/>
              </a:lnSpc>
              <a:spcBef>
                <a:spcPts val="0"/>
              </a:spcBef>
              <a:spcAft>
                <a:spcPts val="600"/>
              </a:spcAft>
              <a:buClrTx/>
              <a:buSzTx/>
              <a:buFont typeface="Wingdings" panose="05000000000000000000" pitchFamily="2" charset="2"/>
              <a:buChar char="l"/>
              <a:tabLst/>
              <a:defRPr/>
            </a:pPr>
            <a:r>
              <a:rPr kumimoji="0" lang="en-US" sz="1600" b="0" i="0" u="none" strike="noStrike" kern="1200" cap="none" spc="0" normalizeH="0" baseline="0" noProof="0" dirty="0">
                <a:ln>
                  <a:noFill/>
                </a:ln>
                <a:solidFill>
                  <a:prstClr val="black"/>
                </a:solidFill>
                <a:effectLst/>
                <a:uLnTx/>
                <a:uFillTx/>
                <a:latin typeface="Boehringer Forward Text"/>
                <a:ea typeface="+mn-ea"/>
                <a:cs typeface="+mn-cs"/>
              </a:rPr>
              <a:t>Participant country: China and Japan (based on HA interaction feedback) </a:t>
            </a:r>
          </a:p>
          <a:p>
            <a:pPr marL="285750" marR="0" lvl="0" indent="-285750" algn="l" defTabSz="914400" rtl="0" eaLnBrk="1" fontAlgn="auto" latinLnBrk="0" hangingPunct="1">
              <a:lnSpc>
                <a:spcPct val="140000"/>
              </a:lnSpc>
              <a:spcBef>
                <a:spcPts val="0"/>
              </a:spcBef>
              <a:spcAft>
                <a:spcPts val="600"/>
              </a:spcAft>
              <a:buClrTx/>
              <a:buSzTx/>
              <a:buFont typeface="Wingdings" panose="05000000000000000000" pitchFamily="2" charset="2"/>
              <a:buChar char="l"/>
              <a:tabLst/>
              <a:defRPr/>
            </a:pPr>
            <a:r>
              <a:rPr kumimoji="0" lang="en-US" sz="1600" b="0" i="0" u="none" strike="noStrike" kern="1200" cap="none" spc="0" normalizeH="0" baseline="0" noProof="0" dirty="0">
                <a:ln>
                  <a:noFill/>
                </a:ln>
                <a:solidFill>
                  <a:prstClr val="black"/>
                </a:solidFill>
                <a:effectLst/>
                <a:uLnTx/>
                <a:uFillTx/>
                <a:latin typeface="Boehringer Forward Text"/>
                <a:ea typeface="+mn-ea"/>
                <a:cs typeface="+mn-cs"/>
              </a:rPr>
              <a:t>Number of patients: 9pts</a:t>
            </a:r>
          </a:p>
          <a:p>
            <a:pPr marL="742950" marR="0" lvl="1" indent="-285750" algn="l" defTabSz="914400" rtl="0" eaLnBrk="1" fontAlgn="auto" latinLnBrk="0" hangingPunct="1">
              <a:lnSpc>
                <a:spcPct val="140000"/>
              </a:lnSpc>
              <a:spcBef>
                <a:spcPts val="0"/>
              </a:spcBef>
              <a:spcAft>
                <a:spcPts val="600"/>
              </a:spcAft>
              <a:buClrTx/>
              <a:buSzTx/>
              <a:buFont typeface="Wingdings" panose="05000000000000000000" pitchFamily="2" charset="2"/>
              <a:buChar char="p"/>
              <a:tabLst/>
              <a:defRPr/>
            </a:pPr>
            <a:r>
              <a:rPr kumimoji="0" lang="en-US" sz="1600" b="0" i="0" u="none" strike="noStrike" kern="1200" cap="none" spc="0" normalizeH="0" baseline="0" noProof="0" dirty="0">
                <a:ln>
                  <a:noFill/>
                </a:ln>
                <a:solidFill>
                  <a:prstClr val="black"/>
                </a:solidFill>
                <a:effectLst/>
                <a:uLnTx/>
                <a:uFillTx/>
                <a:latin typeface="Boehringer Forward Text"/>
                <a:ea typeface="+mn-ea"/>
                <a:cs typeface="+mn-cs"/>
              </a:rPr>
              <a:t>Japan : 3pts  + 3pts in Dosing Group 1 &amp;2  (Total: 6 pts)</a:t>
            </a:r>
          </a:p>
          <a:p>
            <a:pPr marL="742950" marR="0" lvl="1" indent="-285750" algn="l" defTabSz="914400" rtl="0" eaLnBrk="1" fontAlgn="auto" latinLnBrk="0" hangingPunct="1">
              <a:lnSpc>
                <a:spcPct val="140000"/>
              </a:lnSpc>
              <a:spcBef>
                <a:spcPts val="0"/>
              </a:spcBef>
              <a:spcAft>
                <a:spcPts val="600"/>
              </a:spcAft>
              <a:buClrTx/>
              <a:buSzTx/>
              <a:buFont typeface="Wingdings" panose="05000000000000000000" pitchFamily="2" charset="2"/>
              <a:buChar char="p"/>
              <a:tabLst/>
              <a:defRPr/>
            </a:pPr>
            <a:r>
              <a:rPr kumimoji="0" lang="en-US" sz="1600" b="0" i="0" u="none" strike="noStrike" kern="1200" cap="none" spc="0" normalizeH="0" baseline="0" noProof="0" dirty="0">
                <a:ln>
                  <a:noFill/>
                </a:ln>
                <a:solidFill>
                  <a:prstClr val="black"/>
                </a:solidFill>
                <a:effectLst/>
                <a:uLnTx/>
                <a:uFillTx/>
                <a:latin typeface="Boehringer Forward Text"/>
                <a:ea typeface="+mn-ea"/>
                <a:cs typeface="+mn-cs"/>
              </a:rPr>
              <a:t>China: Skip Dosing group 1 , 3pts in Dosing group 2 (Total 3pts)</a:t>
            </a:r>
          </a:p>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13" name="Rectangle: Rounded Corners 147">
            <a:extLst>
              <a:ext uri="{FF2B5EF4-FFF2-40B4-BE49-F238E27FC236}">
                <a16:creationId xmlns:a16="http://schemas.microsoft.com/office/drawing/2014/main" id="{82DEAA9A-8840-319C-0FEF-3D3E0688391D}"/>
              </a:ext>
            </a:extLst>
          </p:cNvPr>
          <p:cNvSpPr/>
          <p:nvPr/>
        </p:nvSpPr>
        <p:spPr bwMode="gray">
          <a:xfrm>
            <a:off x="6955502" y="4718783"/>
            <a:ext cx="650939" cy="432605"/>
          </a:xfrm>
          <a:prstGeom prst="roundRect">
            <a:avLst>
              <a:gd name="adj" fmla="val 0"/>
            </a:avLst>
          </a:prstGeom>
          <a:solidFill>
            <a:schemeClr val="accent5">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Boehringer Forward Text"/>
                <a:ea typeface="+mn-ea"/>
                <a:cs typeface="+mn-cs"/>
              </a:rPr>
              <a:t>Run-in</a:t>
            </a:r>
            <a:r>
              <a:rPr kumimoji="0" lang="en-US" sz="1000" b="0" i="0" u="none" strike="noStrike" kern="1200" cap="none" spc="0" normalizeH="0" baseline="0" noProof="0" dirty="0">
                <a:ln>
                  <a:noFill/>
                </a:ln>
                <a:solidFill>
                  <a:prstClr val="black"/>
                </a:solidFill>
                <a:effectLst/>
                <a:uLnTx/>
                <a:uFillTx/>
                <a:latin typeface="Boehringer Forward Text"/>
                <a:ea typeface="+mn-ea"/>
                <a:cs typeface="+mn-cs"/>
              </a:rPr>
              <a:t> </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Boehringer Forward Text"/>
                <a:ea typeface="+mn-ea"/>
                <a:cs typeface="+mn-cs"/>
              </a:rPr>
              <a:t>MABEL</a:t>
            </a:r>
          </a:p>
        </p:txBody>
      </p:sp>
      <p:sp>
        <p:nvSpPr>
          <p:cNvPr id="14" name="Rectangle: Rounded Corners 112">
            <a:extLst>
              <a:ext uri="{FF2B5EF4-FFF2-40B4-BE49-F238E27FC236}">
                <a16:creationId xmlns:a16="http://schemas.microsoft.com/office/drawing/2014/main" id="{E6BD82BB-AE2D-0036-B64A-1C97566AB76C}"/>
              </a:ext>
            </a:extLst>
          </p:cNvPr>
          <p:cNvSpPr/>
          <p:nvPr/>
        </p:nvSpPr>
        <p:spPr bwMode="gray">
          <a:xfrm>
            <a:off x="5278218" y="4720501"/>
            <a:ext cx="1669659" cy="430887"/>
          </a:xfrm>
          <a:prstGeom prst="roundRect">
            <a:avLst>
              <a:gd name="adj" fmla="val 0"/>
            </a:avLst>
          </a:prstGeom>
          <a:solidFill>
            <a:schemeClr val="bg1">
              <a:lumMod val="8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Boehringer Forward Text"/>
                <a:ea typeface="+mn-ea"/>
                <a:cs typeface="+mn-cs"/>
              </a:rPr>
              <a:t>Subject identification</a:t>
            </a:r>
          </a:p>
        </p:txBody>
      </p:sp>
      <p:cxnSp>
        <p:nvCxnSpPr>
          <p:cNvPr id="20" name="コネクタ: カギ線 19">
            <a:extLst>
              <a:ext uri="{FF2B5EF4-FFF2-40B4-BE49-F238E27FC236}">
                <a16:creationId xmlns:a16="http://schemas.microsoft.com/office/drawing/2014/main" id="{2C270017-4CE8-AC5A-E962-CC861331032A}"/>
              </a:ext>
            </a:extLst>
          </p:cNvPr>
          <p:cNvCxnSpPr>
            <a:cxnSpLocks/>
          </p:cNvCxnSpPr>
          <p:nvPr/>
        </p:nvCxnSpPr>
        <p:spPr bwMode="gray">
          <a:xfrm flipV="1">
            <a:off x="7103723" y="5226452"/>
            <a:ext cx="287371" cy="198555"/>
          </a:xfrm>
          <a:prstGeom prst="bentConnector3">
            <a:avLst>
              <a:gd name="adj1" fmla="val 101800"/>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114">
            <a:extLst>
              <a:ext uri="{FF2B5EF4-FFF2-40B4-BE49-F238E27FC236}">
                <a16:creationId xmlns:a16="http://schemas.microsoft.com/office/drawing/2014/main" id="{8D191E03-E755-BD61-3605-FBB478952556}"/>
              </a:ext>
            </a:extLst>
          </p:cNvPr>
          <p:cNvSpPr txBox="1"/>
          <p:nvPr/>
        </p:nvSpPr>
        <p:spPr>
          <a:xfrm>
            <a:off x="7606441" y="5243539"/>
            <a:ext cx="1985089"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BISans"/>
                <a:ea typeface="+mn-ea"/>
                <a:cs typeface="+mn-cs"/>
              </a:rPr>
              <a:t>Dose Escalation Committee:</a:t>
            </a:r>
            <a:r>
              <a:rPr kumimoji="0" lang="en-US" sz="1000" b="0" i="0" u="none" strike="noStrike" kern="1200" cap="none" spc="0" normalizeH="0" baseline="0" noProof="0" dirty="0">
                <a:ln>
                  <a:noFill/>
                </a:ln>
                <a:solidFill>
                  <a:prstClr val="black"/>
                </a:solidFill>
                <a:effectLst/>
                <a:uLnTx/>
                <a:uFillTx/>
                <a:latin typeface="BISans"/>
                <a:ea typeface="+mn-ea"/>
                <a:cs typeface="+mn-cs"/>
              </a:rPr>
              <a:t> </a:t>
            </a:r>
            <a:r>
              <a:rPr kumimoji="0" lang="ja-JP" altLang="en-US" sz="1000" b="0" i="0" u="none" strike="noStrike" kern="1200" cap="none" spc="0" normalizeH="0" baseline="0" noProof="0" dirty="0">
                <a:ln>
                  <a:noFill/>
                </a:ln>
                <a:solidFill>
                  <a:prstClr val="black"/>
                </a:solidFill>
                <a:effectLst/>
                <a:uLnTx/>
                <a:uFillTx/>
                <a:latin typeface="BISans"/>
                <a:ea typeface="+mn-ea"/>
                <a:cs typeface="+mn-cs"/>
              </a:rPr>
              <a:t> </a:t>
            </a:r>
            <a:r>
              <a:rPr kumimoji="0" lang="en-US" altLang="ja-JP" sz="1000" b="0" i="0" u="none" strike="noStrike" kern="1200" cap="none" spc="0" normalizeH="0" baseline="0" noProof="0" dirty="0">
                <a:ln>
                  <a:noFill/>
                </a:ln>
                <a:solidFill>
                  <a:prstClr val="black"/>
                </a:solidFill>
                <a:effectLst/>
                <a:uLnTx/>
                <a:uFillTx/>
                <a:latin typeface="BISans"/>
                <a:ea typeface="+mn-ea"/>
                <a:cs typeface="+mn-cs"/>
              </a:rPr>
              <a:t>DEC</a:t>
            </a:r>
            <a:r>
              <a:rPr kumimoji="0" lang="ja-JP" altLang="en-US" sz="1000" b="0" i="0" u="none" strike="noStrike" kern="1200" cap="none" spc="0" normalizeH="0" baseline="0" noProof="0" dirty="0">
                <a:ln>
                  <a:noFill/>
                </a:ln>
                <a:solidFill>
                  <a:prstClr val="black"/>
                </a:solidFill>
                <a:effectLst/>
                <a:uLnTx/>
                <a:uFillTx/>
                <a:latin typeface="BISans"/>
                <a:ea typeface="+mn-ea"/>
                <a:cs typeface="+mn-cs"/>
              </a:rPr>
              <a:t> </a:t>
            </a:r>
            <a:r>
              <a:rPr kumimoji="0" lang="en-US" altLang="ja-JP" sz="1000" b="0" i="0" u="none" strike="noStrike" kern="1200" cap="none" spc="0" normalizeH="0" baseline="0" noProof="0" dirty="0">
                <a:ln>
                  <a:noFill/>
                </a:ln>
                <a:solidFill>
                  <a:prstClr val="black"/>
                </a:solidFill>
                <a:effectLst/>
                <a:uLnTx/>
                <a:uFillTx/>
                <a:latin typeface="BISans"/>
                <a:ea typeface="+mn-ea"/>
                <a:cs typeface="+mn-cs"/>
              </a:rPr>
              <a:t>after</a:t>
            </a:r>
            <a:r>
              <a:rPr kumimoji="0" lang="ja-JP" altLang="en-US" sz="1000" b="0" i="0" u="none" strike="noStrike" kern="1200" cap="none" spc="0" normalizeH="0" baseline="0" noProof="0" dirty="0">
                <a:ln>
                  <a:noFill/>
                </a:ln>
                <a:solidFill>
                  <a:prstClr val="black"/>
                </a:solidFill>
                <a:effectLst/>
                <a:uLnTx/>
                <a:uFillTx/>
                <a:latin typeface="BISans"/>
                <a:ea typeface="+mn-ea"/>
                <a:cs typeface="+mn-cs"/>
              </a:rPr>
              <a:t> </a:t>
            </a:r>
            <a:r>
              <a:rPr kumimoji="0" lang="en-US" altLang="ja-JP" sz="1000" b="0" i="0" u="none" strike="noStrike" kern="1200" cap="none" spc="0" normalizeH="0" baseline="0" noProof="0" dirty="0">
                <a:ln>
                  <a:noFill/>
                </a:ln>
                <a:solidFill>
                  <a:prstClr val="black"/>
                </a:solidFill>
                <a:effectLst/>
                <a:uLnTx/>
                <a:uFillTx/>
                <a:latin typeface="BISans"/>
                <a:ea typeface="+mn-ea"/>
                <a:cs typeface="+mn-cs"/>
              </a:rPr>
              <a:t>30days</a:t>
            </a:r>
            <a:r>
              <a:rPr kumimoji="0" lang="ja-JP" altLang="en-US" sz="1000" b="0" i="0" u="none" strike="noStrike" kern="1200" cap="none" spc="0" normalizeH="0" baseline="0" noProof="0" dirty="0">
                <a:ln>
                  <a:noFill/>
                </a:ln>
                <a:solidFill>
                  <a:prstClr val="black"/>
                </a:solidFill>
                <a:effectLst/>
                <a:uLnTx/>
                <a:uFillTx/>
                <a:latin typeface="BISans"/>
                <a:ea typeface="+mn-ea"/>
                <a:cs typeface="+mn-cs"/>
              </a:rPr>
              <a:t> </a:t>
            </a:r>
            <a:r>
              <a:rPr kumimoji="0" lang="en-US" altLang="ja-JP" sz="1000" b="0" i="0" u="none" strike="noStrike" kern="1200" cap="none" spc="0" normalizeH="0" baseline="0" noProof="0" dirty="0">
                <a:ln>
                  <a:noFill/>
                </a:ln>
                <a:solidFill>
                  <a:prstClr val="black"/>
                </a:solidFill>
                <a:effectLst/>
                <a:uLnTx/>
                <a:uFillTx/>
                <a:latin typeface="BISans"/>
                <a:ea typeface="+mn-ea"/>
                <a:cs typeface="+mn-cs"/>
              </a:rPr>
              <a:t>safety</a:t>
            </a:r>
            <a:r>
              <a:rPr kumimoji="0" lang="ja-JP" altLang="en-US" sz="1000" b="0" i="0" u="none" strike="noStrike" kern="1200" cap="none" spc="0" normalizeH="0" baseline="0" noProof="0" dirty="0">
                <a:ln>
                  <a:noFill/>
                </a:ln>
                <a:solidFill>
                  <a:prstClr val="black"/>
                </a:solidFill>
                <a:effectLst/>
                <a:uLnTx/>
                <a:uFillTx/>
                <a:latin typeface="BISans"/>
                <a:ea typeface="+mn-ea"/>
                <a:cs typeface="+mn-cs"/>
              </a:rPr>
              <a:t> </a:t>
            </a:r>
            <a:r>
              <a:rPr kumimoji="0" lang="en-US" altLang="ja-JP" sz="1000" b="0" i="0" u="none" strike="noStrike" kern="1200" cap="none" spc="0" normalizeH="0" baseline="0" noProof="0" dirty="0">
                <a:ln>
                  <a:noFill/>
                </a:ln>
                <a:solidFill>
                  <a:prstClr val="black"/>
                </a:solidFill>
                <a:effectLst/>
                <a:uLnTx/>
                <a:uFillTx/>
                <a:latin typeface="BISans"/>
                <a:ea typeface="+mn-ea"/>
                <a:cs typeface="+mn-cs"/>
              </a:rPr>
              <a:t>observation</a:t>
            </a:r>
            <a:r>
              <a:rPr kumimoji="0" lang="ja-JP" altLang="en-US" sz="1000" b="0" i="0" u="none" strike="noStrike" kern="1200" cap="none" spc="0" normalizeH="0" baseline="0" noProof="0" dirty="0">
                <a:ln>
                  <a:noFill/>
                </a:ln>
                <a:solidFill>
                  <a:prstClr val="black"/>
                </a:solidFill>
                <a:effectLst/>
                <a:uLnTx/>
                <a:uFillTx/>
                <a:latin typeface="BISans"/>
                <a:ea typeface="+mn-ea"/>
                <a:cs typeface="+mn-cs"/>
              </a:rPr>
              <a:t> </a:t>
            </a:r>
            <a:r>
              <a:rPr kumimoji="0" lang="en-US" altLang="ja-JP" sz="1000" b="0" i="0" u="none" strike="noStrike" kern="1200" cap="none" spc="0" normalizeH="0" baseline="0" noProof="0" dirty="0">
                <a:ln>
                  <a:noFill/>
                </a:ln>
                <a:solidFill>
                  <a:prstClr val="black"/>
                </a:solidFill>
                <a:effectLst/>
                <a:uLnTx/>
                <a:uFillTx/>
                <a:latin typeface="BISans"/>
                <a:ea typeface="+mn-ea"/>
                <a:cs typeface="+mn-cs"/>
              </a:rPr>
              <a:t>in DG1</a:t>
            </a:r>
            <a:r>
              <a:rPr kumimoji="0" lang="ja-JP" altLang="en-US" sz="1000" b="0" i="0" u="none" strike="noStrike" kern="1200" cap="none" spc="0" normalizeH="0" baseline="0" noProof="0" dirty="0">
                <a:ln>
                  <a:noFill/>
                </a:ln>
                <a:solidFill>
                  <a:prstClr val="black"/>
                </a:solidFill>
                <a:effectLst/>
                <a:uLnTx/>
                <a:uFillTx/>
                <a:latin typeface="BISans"/>
                <a:ea typeface="+mn-ea"/>
                <a:cs typeface="+mn-cs"/>
              </a:rPr>
              <a:t> </a:t>
            </a:r>
            <a:endParaRPr kumimoji="0" lang="en-US" sz="1000" b="0" i="0" u="none" strike="noStrike" kern="1200" cap="none" spc="0" normalizeH="0" baseline="0" noProof="0" dirty="0">
              <a:ln>
                <a:noFill/>
              </a:ln>
              <a:solidFill>
                <a:prstClr val="black"/>
              </a:solidFill>
              <a:effectLst/>
              <a:uLnTx/>
              <a:uFillTx/>
              <a:latin typeface="BISans"/>
              <a:ea typeface="+mn-ea"/>
              <a:cs typeface="+mn-cs"/>
            </a:endParaRPr>
          </a:p>
        </p:txBody>
      </p:sp>
      <p:cxnSp>
        <p:nvCxnSpPr>
          <p:cNvPr id="32" name="直線矢印コネクタ 31">
            <a:extLst>
              <a:ext uri="{FF2B5EF4-FFF2-40B4-BE49-F238E27FC236}">
                <a16:creationId xmlns:a16="http://schemas.microsoft.com/office/drawing/2014/main" id="{A30E029A-B4EB-D1C5-44A7-EA809493E9AA}"/>
              </a:ext>
            </a:extLst>
          </p:cNvPr>
          <p:cNvCxnSpPr>
            <a:cxnSpLocks/>
          </p:cNvCxnSpPr>
          <p:nvPr/>
        </p:nvCxnSpPr>
        <p:spPr bwMode="gray">
          <a:xfrm flipV="1">
            <a:off x="6957986" y="5657712"/>
            <a:ext cx="0" cy="27965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Rectangle: Rounded Corners 109">
            <a:extLst>
              <a:ext uri="{FF2B5EF4-FFF2-40B4-BE49-F238E27FC236}">
                <a16:creationId xmlns:a16="http://schemas.microsoft.com/office/drawing/2014/main" id="{9FA09DD7-8C9B-A869-43B5-76C44F89341C}"/>
              </a:ext>
            </a:extLst>
          </p:cNvPr>
          <p:cNvSpPr/>
          <p:nvPr/>
        </p:nvSpPr>
        <p:spPr bwMode="gray">
          <a:xfrm>
            <a:off x="6731638" y="5327192"/>
            <a:ext cx="447728" cy="289448"/>
          </a:xfrm>
          <a:prstGeom prst="roundRect">
            <a:avLst>
              <a:gd name="adj" fmla="val 0"/>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Boehringer Forward Text"/>
                <a:ea typeface="+mn-ea"/>
                <a:cs typeface="+mn-cs"/>
              </a:rPr>
              <a:t>DEC</a:t>
            </a:r>
            <a:endParaRPr kumimoji="0" 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7" name="文本框 6">
            <a:extLst>
              <a:ext uri="{FF2B5EF4-FFF2-40B4-BE49-F238E27FC236}">
                <a16:creationId xmlns:a16="http://schemas.microsoft.com/office/drawing/2014/main" id="{AB1D1E62-7FDB-EFE6-B405-1F2AA0EC3C8F}"/>
              </a:ext>
            </a:extLst>
          </p:cNvPr>
          <p:cNvSpPr txBox="1"/>
          <p:nvPr/>
        </p:nvSpPr>
        <p:spPr bwMode="gray">
          <a:xfrm>
            <a:off x="5055188" y="4017199"/>
            <a:ext cx="2876462" cy="408253"/>
          </a:xfrm>
          <a:prstGeom prst="rect">
            <a:avLst/>
          </a:prstGeom>
          <a:noFill/>
        </p:spPr>
        <p:txBody>
          <a:bodyPr wrap="square">
            <a:spAutoFit/>
          </a:bodyPr>
          <a:lstStyle/>
          <a:p>
            <a:pPr>
              <a:lnSpc>
                <a:spcPct val="140000"/>
              </a:lnSpc>
              <a:spcAft>
                <a:spcPts val="600"/>
              </a:spcAft>
              <a:defRPr/>
            </a:pPr>
            <a:r>
              <a:rPr lang="en-US" altLang="zh-CN" sz="1600" b="1" dirty="0">
                <a:solidFill>
                  <a:prstClr val="black"/>
                </a:solidFill>
                <a:latin typeface="Boehringer Forward Text"/>
              </a:rPr>
              <a:t>Overall design of the trial</a:t>
            </a:r>
            <a:endParaRPr lang="zh-CN" altLang="en-US" sz="1600" b="1" dirty="0">
              <a:solidFill>
                <a:prstClr val="black"/>
              </a:solidFill>
              <a:latin typeface="Boehringer Forward Text"/>
            </a:endParaRPr>
          </a:p>
        </p:txBody>
      </p:sp>
    </p:spTree>
    <p:extLst>
      <p:ext uri="{BB962C8B-B14F-4D97-AF65-F5344CB8AC3E}">
        <p14:creationId xmlns:p14="http://schemas.microsoft.com/office/powerpoint/2010/main" val="2540672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BB02D-0C64-3E70-5E72-4E10C39B2A70}"/>
            </a:ext>
          </a:extLst>
        </p:cNvPr>
        <p:cNvGrpSpPr/>
        <p:nvPr/>
      </p:nvGrpSpPr>
      <p:grpSpPr>
        <a:xfrm>
          <a:off x="0" y="0"/>
          <a:ext cx="0" cy="0"/>
          <a:chOff x="0" y="0"/>
          <a:chExt cx="0" cy="0"/>
        </a:xfrm>
      </p:grpSpPr>
      <p:sp>
        <p:nvSpPr>
          <p:cNvPr id="59" name="矩形 58">
            <a:extLst>
              <a:ext uri="{FF2B5EF4-FFF2-40B4-BE49-F238E27FC236}">
                <a16:creationId xmlns:a16="http://schemas.microsoft.com/office/drawing/2014/main" id="{1D02CD1C-23C2-320E-5EBA-CBAF8FBF674D}"/>
              </a:ext>
            </a:extLst>
          </p:cNvPr>
          <p:cNvSpPr/>
          <p:nvPr/>
        </p:nvSpPr>
        <p:spPr bwMode="gray">
          <a:xfrm>
            <a:off x="795865" y="4805419"/>
            <a:ext cx="11032317" cy="1436984"/>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7" name="矩形 46">
            <a:extLst>
              <a:ext uri="{FF2B5EF4-FFF2-40B4-BE49-F238E27FC236}">
                <a16:creationId xmlns:a16="http://schemas.microsoft.com/office/drawing/2014/main" id="{914E6A3A-FCB3-461E-A680-0A88119B8319}"/>
              </a:ext>
            </a:extLst>
          </p:cNvPr>
          <p:cNvSpPr/>
          <p:nvPr/>
        </p:nvSpPr>
        <p:spPr bwMode="gray">
          <a:xfrm>
            <a:off x="805008" y="3399843"/>
            <a:ext cx="11032317" cy="1405575"/>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1" name="矩形 30">
            <a:extLst>
              <a:ext uri="{FF2B5EF4-FFF2-40B4-BE49-F238E27FC236}">
                <a16:creationId xmlns:a16="http://schemas.microsoft.com/office/drawing/2014/main" id="{1B002BCA-5D19-2F5D-A6B2-6F564EA82DC3}"/>
              </a:ext>
            </a:extLst>
          </p:cNvPr>
          <p:cNvSpPr/>
          <p:nvPr/>
        </p:nvSpPr>
        <p:spPr bwMode="gray">
          <a:xfrm>
            <a:off x="814150" y="1892929"/>
            <a:ext cx="11032317" cy="1502235"/>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 name="标题 1">
            <a:extLst>
              <a:ext uri="{FF2B5EF4-FFF2-40B4-BE49-F238E27FC236}">
                <a16:creationId xmlns:a16="http://schemas.microsoft.com/office/drawing/2014/main" id="{38B65AB1-832A-C238-BFCE-A8B2B83D7C0B}"/>
              </a:ext>
            </a:extLst>
          </p:cNvPr>
          <p:cNvSpPr>
            <a:spLocks noGrp="1"/>
          </p:cNvSpPr>
          <p:nvPr>
            <p:ph type="title"/>
          </p:nvPr>
        </p:nvSpPr>
        <p:spPr>
          <a:xfrm>
            <a:off x="424995" y="248400"/>
            <a:ext cx="11233151" cy="720000"/>
          </a:xfrm>
        </p:spPr>
        <p:txBody>
          <a:bodyPr/>
          <a:lstStyle/>
          <a:p>
            <a:r>
              <a:rPr lang="en-US" altLang="zh-CN"/>
              <a:t>Global and Asian timeline (Asian phase 1)</a:t>
            </a:r>
            <a:endParaRPr lang="zh-CN" altLang="en-US"/>
          </a:p>
        </p:txBody>
      </p:sp>
      <p:sp>
        <p:nvSpPr>
          <p:cNvPr id="5" name="灯片编号占位符 4">
            <a:extLst>
              <a:ext uri="{FF2B5EF4-FFF2-40B4-BE49-F238E27FC236}">
                <a16:creationId xmlns:a16="http://schemas.microsoft.com/office/drawing/2014/main" id="{95400268-2D26-43AD-117A-1A221ACA631E}"/>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2" name="文本框 11">
            <a:extLst>
              <a:ext uri="{FF2B5EF4-FFF2-40B4-BE49-F238E27FC236}">
                <a16:creationId xmlns:a16="http://schemas.microsoft.com/office/drawing/2014/main" id="{A669E9F8-B8CD-FB34-2268-CCB6A08F71B2}"/>
              </a:ext>
            </a:extLst>
          </p:cNvPr>
          <p:cNvSpPr txBox="1"/>
          <p:nvPr/>
        </p:nvSpPr>
        <p:spPr bwMode="gray">
          <a:xfrm>
            <a:off x="2341531" y="3719224"/>
            <a:ext cx="175967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Joint Pre-INA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 kick-off</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 name="文本框 12">
            <a:extLst>
              <a:ext uri="{FF2B5EF4-FFF2-40B4-BE49-F238E27FC236}">
                <a16:creationId xmlns:a16="http://schemas.microsoft.com/office/drawing/2014/main" id="{E9BDBF60-BE28-AD20-38C1-B165C1379BEC}"/>
              </a:ext>
            </a:extLst>
          </p:cNvPr>
          <p:cNvSpPr txBox="1"/>
          <p:nvPr/>
        </p:nvSpPr>
        <p:spPr bwMode="gray">
          <a:xfrm>
            <a:off x="3527160" y="3719224"/>
            <a:ext cx="175967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Pre-IND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Sub.</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6" name="文本框 15">
            <a:extLst>
              <a:ext uri="{FF2B5EF4-FFF2-40B4-BE49-F238E27FC236}">
                <a16:creationId xmlns:a16="http://schemas.microsoft.com/office/drawing/2014/main" id="{14619DBC-FEC0-7F2E-880B-06CB6D8F821F}"/>
              </a:ext>
            </a:extLst>
          </p:cNvPr>
          <p:cNvSpPr txBox="1"/>
          <p:nvPr/>
        </p:nvSpPr>
        <p:spPr bwMode="gray">
          <a:xfrm>
            <a:off x="2443954" y="4043140"/>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06/01</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7" name="文本框 16">
            <a:extLst>
              <a:ext uri="{FF2B5EF4-FFF2-40B4-BE49-F238E27FC236}">
                <a16:creationId xmlns:a16="http://schemas.microsoft.com/office/drawing/2014/main" id="{013045C4-998F-EF37-5391-C253A51BA88B}"/>
              </a:ext>
            </a:extLst>
          </p:cNvPr>
          <p:cNvSpPr txBox="1"/>
          <p:nvPr/>
        </p:nvSpPr>
        <p:spPr bwMode="gray">
          <a:xfrm>
            <a:off x="3492478" y="4038121"/>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Sep/01</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0" name="文本框 19">
            <a:extLst>
              <a:ext uri="{FF2B5EF4-FFF2-40B4-BE49-F238E27FC236}">
                <a16:creationId xmlns:a16="http://schemas.microsoft.com/office/drawing/2014/main" id="{BA2C740D-617C-D59F-236E-CA0572792723}"/>
              </a:ext>
            </a:extLst>
          </p:cNvPr>
          <p:cNvSpPr txBox="1"/>
          <p:nvPr/>
        </p:nvSpPr>
        <p:spPr bwMode="gray">
          <a:xfrm>
            <a:off x="2879349" y="2625784"/>
            <a:ext cx="971076"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DG1 DEC</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1" name="文本框 20">
            <a:extLst>
              <a:ext uri="{FF2B5EF4-FFF2-40B4-BE49-F238E27FC236}">
                <a16:creationId xmlns:a16="http://schemas.microsoft.com/office/drawing/2014/main" id="{8D1BAD6C-6C9A-ED56-D3B5-3B40D52DA5AA}"/>
              </a:ext>
            </a:extLst>
          </p:cNvPr>
          <p:cNvSpPr txBox="1"/>
          <p:nvPr/>
        </p:nvSpPr>
        <p:spPr bwMode="gray">
          <a:xfrm>
            <a:off x="2988422" y="2821496"/>
            <a:ext cx="421714" cy="203943"/>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Jul/06</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2" name="文本框 21">
            <a:extLst>
              <a:ext uri="{FF2B5EF4-FFF2-40B4-BE49-F238E27FC236}">
                <a16:creationId xmlns:a16="http://schemas.microsoft.com/office/drawing/2014/main" id="{7A44840E-E76F-95CB-CF2D-9B29F8A99094}"/>
              </a:ext>
            </a:extLst>
          </p:cNvPr>
          <p:cNvSpPr txBox="1"/>
          <p:nvPr/>
        </p:nvSpPr>
        <p:spPr bwMode="gray">
          <a:xfrm>
            <a:off x="3737905" y="2629070"/>
            <a:ext cx="1268821"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DG2 DEC</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 name="文本框 22">
            <a:extLst>
              <a:ext uri="{FF2B5EF4-FFF2-40B4-BE49-F238E27FC236}">
                <a16:creationId xmlns:a16="http://schemas.microsoft.com/office/drawing/2014/main" id="{33C9094D-6DEA-C336-CCFF-E34C84492F9D}"/>
              </a:ext>
            </a:extLst>
          </p:cNvPr>
          <p:cNvSpPr txBox="1"/>
          <p:nvPr/>
        </p:nvSpPr>
        <p:spPr bwMode="gray">
          <a:xfrm>
            <a:off x="3775707" y="2826048"/>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Oct/19</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0" name="テキスト ボックス 75">
            <a:extLst>
              <a:ext uri="{FF2B5EF4-FFF2-40B4-BE49-F238E27FC236}">
                <a16:creationId xmlns:a16="http://schemas.microsoft.com/office/drawing/2014/main" id="{99ABBA36-AF3C-597A-6329-B554C630F546}"/>
              </a:ext>
            </a:extLst>
          </p:cNvPr>
          <p:cNvSpPr txBox="1"/>
          <p:nvPr/>
        </p:nvSpPr>
        <p:spPr bwMode="gray">
          <a:xfrm>
            <a:off x="3810567" y="5471904"/>
            <a:ext cx="745060" cy="30777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000" b="0" i="0" u="none" strike="noStrike" kern="1200" cap="none" spc="0" normalizeH="0" baseline="0" noProof="0">
                <a:ln>
                  <a:noFill/>
                </a:ln>
                <a:solidFill>
                  <a:prstClr val="black"/>
                </a:solidFill>
                <a:effectLst/>
                <a:uLnTx/>
                <a:uFillTx/>
                <a:latin typeface="Boehringer Forward Text"/>
                <a:ea typeface="+mn-ea"/>
                <a:cs typeface="+mn-cs"/>
              </a:rPr>
              <a:t>PMDA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000" b="0" i="0" u="none" strike="noStrike" kern="1200" cap="none" spc="0" normalizeH="0" baseline="0" noProof="0">
                <a:ln>
                  <a:noFill/>
                </a:ln>
                <a:solidFill>
                  <a:prstClr val="black"/>
                </a:solidFill>
                <a:effectLst/>
                <a:uLnTx/>
                <a:uFillTx/>
                <a:latin typeface="Boehringer Forward Text"/>
                <a:ea typeface="+mn-ea"/>
                <a:cs typeface="+mn-cs"/>
              </a:rPr>
              <a:t>Pre-IND Sub.</a:t>
            </a:r>
          </a:p>
        </p:txBody>
      </p:sp>
      <p:sp>
        <p:nvSpPr>
          <p:cNvPr id="33" name="文本框 32">
            <a:extLst>
              <a:ext uri="{FF2B5EF4-FFF2-40B4-BE49-F238E27FC236}">
                <a16:creationId xmlns:a16="http://schemas.microsoft.com/office/drawing/2014/main" id="{D6007A3E-D5B6-5AC5-2FD5-BE519E42EEE4}"/>
              </a:ext>
            </a:extLst>
          </p:cNvPr>
          <p:cNvSpPr txBox="1"/>
          <p:nvPr/>
        </p:nvSpPr>
        <p:spPr bwMode="gray">
          <a:xfrm>
            <a:off x="1832458" y="1463040"/>
            <a:ext cx="1303934" cy="315920"/>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TDO?</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graphicFrame>
        <p:nvGraphicFramePr>
          <p:cNvPr id="7" name="表格 6">
            <a:extLst>
              <a:ext uri="{FF2B5EF4-FFF2-40B4-BE49-F238E27FC236}">
                <a16:creationId xmlns:a16="http://schemas.microsoft.com/office/drawing/2014/main" id="{2F867DED-048B-3B33-D5D6-A678E61D5042}"/>
              </a:ext>
            </a:extLst>
          </p:cNvPr>
          <p:cNvGraphicFramePr>
            <a:graphicFrameLocks noGrp="1"/>
          </p:cNvGraphicFramePr>
          <p:nvPr/>
        </p:nvGraphicFramePr>
        <p:xfrm>
          <a:off x="795866" y="1514752"/>
          <a:ext cx="11032316" cy="365760"/>
        </p:xfrm>
        <a:graphic>
          <a:graphicData uri="http://schemas.openxmlformats.org/drawingml/2006/table">
            <a:tbl>
              <a:tblPr firstRow="1" bandRow="1">
                <a:tableStyleId>{5C22544A-7EE6-4342-B048-85BDC9FD1C3A}</a:tableStyleId>
              </a:tblPr>
              <a:tblGrid>
                <a:gridCol w="4032988">
                  <a:extLst>
                    <a:ext uri="{9D8B030D-6E8A-4147-A177-3AD203B41FA5}">
                      <a16:colId xmlns:a16="http://schemas.microsoft.com/office/drawing/2014/main" val="56726269"/>
                    </a:ext>
                  </a:extLst>
                </a:gridCol>
                <a:gridCol w="3575407">
                  <a:extLst>
                    <a:ext uri="{9D8B030D-6E8A-4147-A177-3AD203B41FA5}">
                      <a16:colId xmlns:a16="http://schemas.microsoft.com/office/drawing/2014/main" val="2233752849"/>
                    </a:ext>
                  </a:extLst>
                </a:gridCol>
                <a:gridCol w="1191802">
                  <a:extLst>
                    <a:ext uri="{9D8B030D-6E8A-4147-A177-3AD203B41FA5}">
                      <a16:colId xmlns:a16="http://schemas.microsoft.com/office/drawing/2014/main" val="2231401120"/>
                    </a:ext>
                  </a:extLst>
                </a:gridCol>
                <a:gridCol w="1160980">
                  <a:extLst>
                    <a:ext uri="{9D8B030D-6E8A-4147-A177-3AD203B41FA5}">
                      <a16:colId xmlns:a16="http://schemas.microsoft.com/office/drawing/2014/main" val="1323505150"/>
                    </a:ext>
                  </a:extLst>
                </a:gridCol>
                <a:gridCol w="1071139">
                  <a:extLst>
                    <a:ext uri="{9D8B030D-6E8A-4147-A177-3AD203B41FA5}">
                      <a16:colId xmlns:a16="http://schemas.microsoft.com/office/drawing/2014/main" val="1196461059"/>
                    </a:ext>
                  </a:extLst>
                </a:gridCol>
              </a:tblGrid>
              <a:tr h="348622">
                <a:tc>
                  <a:txBody>
                    <a:bodyPr/>
                    <a:lstStyle/>
                    <a:p>
                      <a:pPr algn="ctr"/>
                      <a:r>
                        <a:rPr lang="en-US" altLang="zh-CN"/>
                        <a:t>2026</a:t>
                      </a:r>
                      <a:endParaRPr lang="zh-CN" altLang="en-US"/>
                    </a:p>
                  </a:txBody>
                  <a:tcPr>
                    <a:solidFill>
                      <a:schemeClr val="bg2"/>
                    </a:solidFill>
                  </a:tcPr>
                </a:tc>
                <a:tc>
                  <a:txBody>
                    <a:bodyPr/>
                    <a:lstStyle/>
                    <a:p>
                      <a:pPr algn="ctr"/>
                      <a:r>
                        <a:rPr lang="en-US" altLang="zh-CN"/>
                        <a:t>2027</a:t>
                      </a:r>
                      <a:endParaRPr lang="zh-CN" altLang="en-US"/>
                    </a:p>
                  </a:txBody>
                  <a:tcPr>
                    <a:solidFill>
                      <a:schemeClr val="bg2"/>
                    </a:solidFill>
                  </a:tcPr>
                </a:tc>
                <a:tc>
                  <a:txBody>
                    <a:bodyPr/>
                    <a:lstStyle/>
                    <a:p>
                      <a:pPr algn="ctr"/>
                      <a:r>
                        <a:rPr lang="en-US" altLang="zh-CN"/>
                        <a:t>2028</a:t>
                      </a:r>
                      <a:endParaRPr lang="zh-CN" altLang="en-US"/>
                    </a:p>
                  </a:txBody>
                  <a:tcPr>
                    <a:solidFill>
                      <a:schemeClr val="bg2"/>
                    </a:solidFill>
                  </a:tcPr>
                </a:tc>
                <a:tc>
                  <a:txBody>
                    <a:bodyPr/>
                    <a:lstStyle/>
                    <a:p>
                      <a:pPr algn="ctr"/>
                      <a:r>
                        <a:rPr lang="en-US" altLang="zh-CN"/>
                        <a:t>2029</a:t>
                      </a:r>
                      <a:endParaRPr lang="zh-CN" altLang="en-US"/>
                    </a:p>
                  </a:txBody>
                  <a:tcPr>
                    <a:solidFill>
                      <a:schemeClr val="bg2"/>
                    </a:solidFill>
                  </a:tcPr>
                </a:tc>
                <a:tc>
                  <a:txBody>
                    <a:bodyPr/>
                    <a:lstStyle/>
                    <a:p>
                      <a:pPr algn="ctr"/>
                      <a:r>
                        <a:rPr lang="en-US" altLang="zh-CN"/>
                        <a:t>2030</a:t>
                      </a:r>
                      <a:endParaRPr lang="zh-CN" altLang="en-US"/>
                    </a:p>
                  </a:txBody>
                  <a:tcPr>
                    <a:solidFill>
                      <a:schemeClr val="bg2"/>
                    </a:solidFill>
                  </a:tcPr>
                </a:tc>
                <a:extLst>
                  <a:ext uri="{0D108BD9-81ED-4DB2-BD59-A6C34878D82A}">
                    <a16:rowId xmlns:a16="http://schemas.microsoft.com/office/drawing/2014/main" val="2529309601"/>
                  </a:ext>
                </a:extLst>
              </a:tr>
            </a:tbl>
          </a:graphicData>
        </a:graphic>
      </p:graphicFrame>
      <p:sp>
        <p:nvSpPr>
          <p:cNvPr id="8" name="矩形 7">
            <a:extLst>
              <a:ext uri="{FF2B5EF4-FFF2-40B4-BE49-F238E27FC236}">
                <a16:creationId xmlns:a16="http://schemas.microsoft.com/office/drawing/2014/main" id="{A03175BA-B3F9-8F99-D0DB-729D53AFDABB}"/>
              </a:ext>
            </a:extLst>
          </p:cNvPr>
          <p:cNvSpPr/>
          <p:nvPr/>
        </p:nvSpPr>
        <p:spPr bwMode="gray">
          <a:xfrm>
            <a:off x="1109610" y="2119861"/>
            <a:ext cx="4243104" cy="476054"/>
          </a:xfrm>
          <a:prstGeom prst="rect">
            <a:avLst/>
          </a:prstGeom>
          <a:solidFill>
            <a:schemeClr val="accent1">
              <a:lumMod val="75000"/>
              <a:lumOff val="25000"/>
            </a:schemeClr>
          </a:solidFill>
          <a:ln/>
          <a:effectLst>
            <a:innerShdw blurRad="63500" dist="50800" dir="16200000">
              <a:prstClr val="black">
                <a:alpha val="50000"/>
              </a:prstClr>
            </a:innerShdw>
          </a:effectLst>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prstClr val="white"/>
                </a:solidFill>
                <a:effectLst/>
                <a:uLnTx/>
                <a:uFillTx/>
                <a:latin typeface="Boehringer Forward Text"/>
                <a:ea typeface="+mn-ea"/>
                <a:cs typeface="+mn-cs"/>
              </a:rPr>
              <a:t>1517-0002 (Ph2a)  in MASH cirrhosis</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prstClr val="white"/>
                </a:solidFill>
                <a:effectLst/>
                <a:uLnTx/>
                <a:uFillTx/>
                <a:latin typeface="Boehringer Forward Text"/>
                <a:ea typeface="+mn-ea"/>
                <a:cs typeface="+mn-cs"/>
              </a:rPr>
              <a:t>    </a:t>
            </a:r>
            <a:r>
              <a:rPr kumimoji="0" lang="en-US" altLang="zh-CN" sz="1000" b="0" i="0" u="none" strike="noStrike" kern="1200" cap="none" spc="0" normalizeH="0" baseline="0" noProof="0">
                <a:ln>
                  <a:noFill/>
                </a:ln>
                <a:solidFill>
                  <a:prstClr val="white"/>
                </a:solidFill>
                <a:effectLst/>
                <a:uLnTx/>
                <a:uFillTx/>
                <a:latin typeface="Boehringer Forward Text"/>
                <a:ea typeface="+mn-ea"/>
                <a:cs typeface="+mn-cs"/>
              </a:rPr>
              <a:t>FSS~LSO: 2026/Jan~2027/Feb</a:t>
            </a:r>
            <a:endParaRPr kumimoji="0" lang="zh-CN" altLang="en-US" sz="10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9" name="文本框 8">
            <a:extLst>
              <a:ext uri="{FF2B5EF4-FFF2-40B4-BE49-F238E27FC236}">
                <a16:creationId xmlns:a16="http://schemas.microsoft.com/office/drawing/2014/main" id="{19EAA588-C25E-FB21-F474-F65FBE40C6A5}"/>
              </a:ext>
            </a:extLst>
          </p:cNvPr>
          <p:cNvSpPr txBox="1"/>
          <p:nvPr/>
        </p:nvSpPr>
        <p:spPr bwMode="gray">
          <a:xfrm>
            <a:off x="5660086" y="2619369"/>
            <a:ext cx="1268821"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Key results</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 name="文本框 23">
            <a:extLst>
              <a:ext uri="{FF2B5EF4-FFF2-40B4-BE49-F238E27FC236}">
                <a16:creationId xmlns:a16="http://schemas.microsoft.com/office/drawing/2014/main" id="{37CFB4EF-0CFB-782F-5FCF-1C55E34A650E}"/>
              </a:ext>
            </a:extLst>
          </p:cNvPr>
          <p:cNvSpPr txBox="1"/>
          <p:nvPr/>
        </p:nvSpPr>
        <p:spPr bwMode="gray">
          <a:xfrm>
            <a:off x="5723774" y="2826048"/>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Apr/15</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5" name="矩形 34">
            <a:extLst>
              <a:ext uri="{FF2B5EF4-FFF2-40B4-BE49-F238E27FC236}">
                <a16:creationId xmlns:a16="http://schemas.microsoft.com/office/drawing/2014/main" id="{6EC4DDC0-E0E0-314F-D8B6-4A9FB9A8E7CA}"/>
              </a:ext>
            </a:extLst>
          </p:cNvPr>
          <p:cNvSpPr/>
          <p:nvPr/>
        </p:nvSpPr>
        <p:spPr bwMode="gray">
          <a:xfrm>
            <a:off x="5660087" y="4542806"/>
            <a:ext cx="2220498" cy="482684"/>
          </a:xfrm>
          <a:prstGeom prst="rect">
            <a:avLst/>
          </a:prstGeom>
          <a:solidFill>
            <a:schemeClr val="accent1">
              <a:lumMod val="75000"/>
              <a:lumOff val="25000"/>
            </a:schemeClr>
          </a:solidFill>
          <a:ln>
            <a:solidFill>
              <a:schemeClr val="accent6">
                <a:lumMod val="50000"/>
              </a:schemeClr>
            </a:solidFill>
          </a:ln>
          <a:effectLst>
            <a:innerShdw blurRad="63500" dist="50800" dir="16200000">
              <a:prstClr val="black">
                <a:alpha val="50000"/>
              </a:prstClr>
            </a:innerShdw>
          </a:effectLst>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white"/>
                </a:solidFill>
                <a:effectLst/>
                <a:uLnTx/>
                <a:uFillTx/>
                <a:latin typeface="Boehringer Forward Text"/>
                <a:ea typeface="+mn-ea"/>
                <a:cs typeface="+mn-cs"/>
              </a:rPr>
              <a:t>Asian Phase 1   in MASH cirrhosis   </a:t>
            </a:r>
            <a:r>
              <a:rPr kumimoji="0" lang="en-US" altLang="zh-CN" sz="800" b="0" i="0" u="none" strike="noStrike" kern="1200" cap="none" spc="0" normalizeH="0" baseline="0" noProof="0">
                <a:ln>
                  <a:noFill/>
                </a:ln>
                <a:solidFill>
                  <a:prstClr val="white"/>
                </a:solidFill>
                <a:effectLst/>
                <a:uLnTx/>
                <a:uFillTx/>
                <a:latin typeface="Boehringer Forward Text"/>
                <a:ea typeface="+mn-ea"/>
                <a:cs typeface="+mn-cs"/>
              </a:rPr>
              <a:t>FSS~LSO: 2027/Mar~2027/</a:t>
            </a:r>
            <a:r>
              <a:rPr lang="en-US" altLang="zh-CN" sz="800">
                <a:solidFill>
                  <a:prstClr val="white"/>
                </a:solidFill>
                <a:latin typeface="Boehringer Forward Text"/>
              </a:rPr>
              <a:t>Oct</a:t>
            </a:r>
            <a:endParaRPr kumimoji="0" lang="zh-CN" altLang="en-US" sz="8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41" name="矩形 40">
            <a:extLst>
              <a:ext uri="{FF2B5EF4-FFF2-40B4-BE49-F238E27FC236}">
                <a16:creationId xmlns:a16="http://schemas.microsoft.com/office/drawing/2014/main" id="{F09C8491-8F41-9CF3-B3EB-FB8E7B09EB32}"/>
              </a:ext>
            </a:extLst>
          </p:cNvPr>
          <p:cNvSpPr/>
          <p:nvPr/>
        </p:nvSpPr>
        <p:spPr bwMode="gray">
          <a:xfrm>
            <a:off x="47353" y="1880512"/>
            <a:ext cx="709655" cy="1466901"/>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white"/>
                </a:solidFill>
                <a:effectLst/>
                <a:uLnTx/>
                <a:uFillTx/>
                <a:latin typeface="Boehringer Forward Text"/>
                <a:ea typeface="+mn-ea"/>
                <a:cs typeface="+mn-cs"/>
              </a:rPr>
              <a:t>global</a:t>
            </a:r>
            <a:endParaRPr kumimoji="0" lang="zh-CN" altLang="en-US" sz="12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42" name="矩形 41">
            <a:extLst>
              <a:ext uri="{FF2B5EF4-FFF2-40B4-BE49-F238E27FC236}">
                <a16:creationId xmlns:a16="http://schemas.microsoft.com/office/drawing/2014/main" id="{70E70836-5CAF-D051-F9C2-98F0317A62CE}"/>
              </a:ext>
            </a:extLst>
          </p:cNvPr>
          <p:cNvSpPr/>
          <p:nvPr/>
        </p:nvSpPr>
        <p:spPr bwMode="gray">
          <a:xfrm>
            <a:off x="59119" y="3429000"/>
            <a:ext cx="697889" cy="139345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white"/>
                </a:solidFill>
                <a:effectLst/>
                <a:uLnTx/>
                <a:uFillTx/>
                <a:latin typeface="Boehringer Forward Text"/>
                <a:ea typeface="+mn-ea"/>
                <a:cs typeface="+mn-cs"/>
              </a:rPr>
              <a:t>China</a:t>
            </a:r>
            <a:endParaRPr kumimoji="0" lang="zh-CN" altLang="en-US" sz="12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43" name="矩形 42">
            <a:extLst>
              <a:ext uri="{FF2B5EF4-FFF2-40B4-BE49-F238E27FC236}">
                <a16:creationId xmlns:a16="http://schemas.microsoft.com/office/drawing/2014/main" id="{26AB73D1-5284-531B-2E77-E043A2DD804C}"/>
              </a:ext>
            </a:extLst>
          </p:cNvPr>
          <p:cNvSpPr/>
          <p:nvPr/>
        </p:nvSpPr>
        <p:spPr bwMode="gray">
          <a:xfrm>
            <a:off x="47353" y="4861665"/>
            <a:ext cx="697889" cy="1466901"/>
          </a:xfrm>
          <a:prstGeom prst="rect">
            <a:avLst/>
          </a:prstGeom>
          <a:solidFill>
            <a:schemeClr val="accent6">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white"/>
                </a:solidFill>
                <a:effectLst/>
                <a:uLnTx/>
                <a:uFillTx/>
                <a:latin typeface="Boehringer Forward Text"/>
                <a:ea typeface="+mn-ea"/>
                <a:cs typeface="+mn-cs"/>
              </a:rPr>
              <a:t>Japan</a:t>
            </a:r>
            <a:endParaRPr kumimoji="0" lang="zh-CN" altLang="en-US" sz="12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44" name="文本框 43">
            <a:extLst>
              <a:ext uri="{FF2B5EF4-FFF2-40B4-BE49-F238E27FC236}">
                <a16:creationId xmlns:a16="http://schemas.microsoft.com/office/drawing/2014/main" id="{FB17D45A-ACF8-6BF7-29FF-91ED4ACF2F43}"/>
              </a:ext>
            </a:extLst>
          </p:cNvPr>
          <p:cNvSpPr txBox="1"/>
          <p:nvPr/>
        </p:nvSpPr>
        <p:spPr bwMode="gray">
          <a:xfrm>
            <a:off x="4167337" y="3719113"/>
            <a:ext cx="823004"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CDE feedback</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5" name="文本框 44">
            <a:extLst>
              <a:ext uri="{FF2B5EF4-FFF2-40B4-BE49-F238E27FC236}">
                <a16:creationId xmlns:a16="http://schemas.microsoft.com/office/drawing/2014/main" id="{79B50AA9-3B12-36F6-3039-9462EEB19BA1}"/>
              </a:ext>
            </a:extLst>
          </p:cNvPr>
          <p:cNvSpPr txBox="1"/>
          <p:nvPr/>
        </p:nvSpPr>
        <p:spPr bwMode="gray">
          <a:xfrm>
            <a:off x="4105364" y="4033102"/>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Dec/01</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6" name="矩形 75">
            <a:extLst>
              <a:ext uri="{FF2B5EF4-FFF2-40B4-BE49-F238E27FC236}">
                <a16:creationId xmlns:a16="http://schemas.microsoft.com/office/drawing/2014/main" id="{EEEB5433-67FF-36E7-CB82-77FAD6D99664}"/>
              </a:ext>
            </a:extLst>
          </p:cNvPr>
          <p:cNvSpPr/>
          <p:nvPr/>
        </p:nvSpPr>
        <p:spPr bwMode="gray">
          <a:xfrm>
            <a:off x="8404261" y="2123246"/>
            <a:ext cx="2539193" cy="476054"/>
          </a:xfrm>
          <a:prstGeom prst="rect">
            <a:avLst/>
          </a:prstGeom>
          <a:solidFill>
            <a:schemeClr val="accent1">
              <a:lumMod val="75000"/>
              <a:lumOff val="25000"/>
            </a:schemeClr>
          </a:solidFill>
          <a:ln/>
          <a:effectLst>
            <a:innerShdw blurRad="63500" dist="50800" dir="16200000">
              <a:prstClr val="black">
                <a:alpha val="50000"/>
              </a:prstClr>
            </a:innerShdw>
          </a:effectLst>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prstClr val="white"/>
                </a:solidFill>
                <a:effectLst/>
                <a:uLnTx/>
                <a:uFillTx/>
                <a:latin typeface="Boehringer Forward Text"/>
                <a:ea typeface="+mn-ea"/>
                <a:cs typeface="+mn-cs"/>
              </a:rPr>
              <a:t>1517-0008 (Ph2b)  in MASH cirrhosis   </a:t>
            </a:r>
            <a:r>
              <a:rPr kumimoji="0" lang="en-US" altLang="zh-CN" sz="1000" b="0" i="0" u="none" strike="noStrike" kern="1200" cap="none" spc="0" normalizeH="0" baseline="0" noProof="0">
                <a:ln>
                  <a:noFill/>
                </a:ln>
                <a:solidFill>
                  <a:prstClr val="white"/>
                </a:solidFill>
                <a:effectLst/>
                <a:uLnTx/>
                <a:uFillTx/>
                <a:latin typeface="Boehringer Forward Text"/>
                <a:ea typeface="+mn-ea"/>
                <a:cs typeface="+mn-cs"/>
              </a:rPr>
              <a:t>FSS~LSO: 2028/Jan ~2030/Feb</a:t>
            </a:r>
            <a:endParaRPr kumimoji="0" lang="zh-CN" altLang="en-US" sz="10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3" name="文本框 2">
            <a:extLst>
              <a:ext uri="{FF2B5EF4-FFF2-40B4-BE49-F238E27FC236}">
                <a16:creationId xmlns:a16="http://schemas.microsoft.com/office/drawing/2014/main" id="{D9A61E9D-5B96-7DF9-6861-3461B86355CB}"/>
              </a:ext>
            </a:extLst>
          </p:cNvPr>
          <p:cNvSpPr txBox="1"/>
          <p:nvPr/>
        </p:nvSpPr>
        <p:spPr bwMode="gray">
          <a:xfrm>
            <a:off x="205924" y="735046"/>
            <a:ext cx="11561081" cy="723275"/>
          </a:xfrm>
          <a:prstGeom prst="rect">
            <a:avLst/>
          </a:prstGeom>
          <a:noFill/>
        </p:spPr>
        <p:txBody>
          <a:bodyPr wrap="square" lIns="0" tIns="0" rIns="0" bIns="0" rtlCol="0" anchor="t">
            <a:spAutoFit/>
          </a:bodyPr>
          <a:lstStyle/>
          <a:p>
            <a:pPr marL="0" indent="0">
              <a:spcBef>
                <a:spcPts val="600"/>
              </a:spcBef>
              <a:buNone/>
            </a:pPr>
            <a:r>
              <a:rPr lang="en-US" sz="1400" dirty="0"/>
              <a:t>Scenario 1: Both PMDA and CDE request  Asian data before moving forward to phase 2b.</a:t>
            </a:r>
          </a:p>
          <a:p>
            <a:pPr marL="0" indent="0">
              <a:spcBef>
                <a:spcPts val="600"/>
              </a:spcBef>
              <a:buNone/>
            </a:pPr>
            <a:r>
              <a:rPr lang="en-US" sz="1400" dirty="0"/>
              <a:t>Scenario 2: PMDA requests Asian data, while CDE agrees to the PK backloading; China will remain involved in the Asian phase 1 to gather early data, potentially allowing for the waiver of an extensive PK study..</a:t>
            </a:r>
            <a:endParaRPr lang="en-US" altLang="zh-CN" sz="1400" dirty="0">
              <a:solidFill>
                <a:prstClr val="black"/>
              </a:solidFill>
              <a:latin typeface="Boehringer Forward Text"/>
            </a:endParaRPr>
          </a:p>
        </p:txBody>
      </p:sp>
      <p:sp>
        <p:nvSpPr>
          <p:cNvPr id="10" name="テキスト ボックス 10">
            <a:extLst>
              <a:ext uri="{FF2B5EF4-FFF2-40B4-BE49-F238E27FC236}">
                <a16:creationId xmlns:a16="http://schemas.microsoft.com/office/drawing/2014/main" id="{CD7E5584-5594-E7FF-F7DD-9B3A72385EA7}"/>
              </a:ext>
            </a:extLst>
          </p:cNvPr>
          <p:cNvSpPr txBox="1"/>
          <p:nvPr/>
        </p:nvSpPr>
        <p:spPr bwMode="gray">
          <a:xfrm>
            <a:off x="6312023" y="2579617"/>
            <a:ext cx="1475694" cy="289759"/>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ja-JP" sz="1000" b="0" i="0" u="none" strike="noStrike" kern="1200" cap="none" spc="0" normalizeH="0" baseline="0" noProof="0">
                <a:ln>
                  <a:noFill/>
                </a:ln>
                <a:solidFill>
                  <a:prstClr val="black"/>
                </a:solidFill>
                <a:effectLst/>
                <a:uLnTx/>
                <a:uFillTx/>
                <a:latin typeface="Boehringer Forward Text"/>
                <a:ea typeface="+mn-ea"/>
                <a:cs typeface="+mn-cs"/>
              </a:rPr>
              <a:t>Type C Meeting </a:t>
            </a:r>
          </a:p>
        </p:txBody>
      </p:sp>
      <p:sp>
        <p:nvSpPr>
          <p:cNvPr id="26" name="文本框 25">
            <a:extLst>
              <a:ext uri="{FF2B5EF4-FFF2-40B4-BE49-F238E27FC236}">
                <a16:creationId xmlns:a16="http://schemas.microsoft.com/office/drawing/2014/main" id="{1FAC5DDE-1E67-CA31-982D-4E49885C922A}"/>
              </a:ext>
            </a:extLst>
          </p:cNvPr>
          <p:cNvSpPr txBox="1"/>
          <p:nvPr/>
        </p:nvSpPr>
        <p:spPr bwMode="gray">
          <a:xfrm>
            <a:off x="6442086" y="2782085"/>
            <a:ext cx="1065046" cy="289759"/>
          </a:xfrm>
          <a:prstGeom prst="rect">
            <a:avLst/>
          </a:prstGeom>
          <a:noFill/>
        </p:spPr>
        <p:txBody>
          <a:bodyPr wrap="square">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ja-JP" sz="1000" b="0" i="0" u="none" strike="noStrike" kern="1200" cap="none" spc="0" normalizeH="0" baseline="0" noProof="0">
                <a:ln>
                  <a:noFill/>
                </a:ln>
                <a:solidFill>
                  <a:prstClr val="black"/>
                </a:solidFill>
                <a:effectLst/>
                <a:uLnTx/>
                <a:uFillTx/>
                <a:latin typeface="Boehringer Forward Text"/>
                <a:ea typeface="+mn-ea"/>
                <a:cs typeface="+mn-cs"/>
              </a:rPr>
              <a:t>Jun</a:t>
            </a:r>
          </a:p>
        </p:txBody>
      </p:sp>
      <p:sp>
        <p:nvSpPr>
          <p:cNvPr id="27" name="二等辺三角形 7">
            <a:extLst>
              <a:ext uri="{FF2B5EF4-FFF2-40B4-BE49-F238E27FC236}">
                <a16:creationId xmlns:a16="http://schemas.microsoft.com/office/drawing/2014/main" id="{DFC924BF-B592-969C-795F-0A98AE664444}"/>
              </a:ext>
            </a:extLst>
          </p:cNvPr>
          <p:cNvSpPr/>
          <p:nvPr/>
        </p:nvSpPr>
        <p:spPr bwMode="gray">
          <a:xfrm>
            <a:off x="3120181" y="3094506"/>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 name="二等辺三角形 7">
            <a:extLst>
              <a:ext uri="{FF2B5EF4-FFF2-40B4-BE49-F238E27FC236}">
                <a16:creationId xmlns:a16="http://schemas.microsoft.com/office/drawing/2014/main" id="{B64F88F3-7C9D-B2F3-DEBA-CC318ED63E08}"/>
              </a:ext>
            </a:extLst>
          </p:cNvPr>
          <p:cNvSpPr/>
          <p:nvPr/>
        </p:nvSpPr>
        <p:spPr bwMode="gray">
          <a:xfrm>
            <a:off x="3868347" y="3091877"/>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2" name="二等辺三角形 7">
            <a:extLst>
              <a:ext uri="{FF2B5EF4-FFF2-40B4-BE49-F238E27FC236}">
                <a16:creationId xmlns:a16="http://schemas.microsoft.com/office/drawing/2014/main" id="{8A2B7323-849E-9792-04A6-3B0053082875}"/>
              </a:ext>
            </a:extLst>
          </p:cNvPr>
          <p:cNvSpPr/>
          <p:nvPr/>
        </p:nvSpPr>
        <p:spPr bwMode="gray">
          <a:xfrm>
            <a:off x="6684571" y="3099882"/>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4" name="二等辺三角形 7">
            <a:extLst>
              <a:ext uri="{FF2B5EF4-FFF2-40B4-BE49-F238E27FC236}">
                <a16:creationId xmlns:a16="http://schemas.microsoft.com/office/drawing/2014/main" id="{312C8CB3-BA87-7DBE-2B77-FFFF736A4E3D}"/>
              </a:ext>
            </a:extLst>
          </p:cNvPr>
          <p:cNvSpPr/>
          <p:nvPr/>
        </p:nvSpPr>
        <p:spPr bwMode="gray">
          <a:xfrm>
            <a:off x="5808242" y="3098384"/>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6" name="二等辺三角形 7">
            <a:extLst>
              <a:ext uri="{FF2B5EF4-FFF2-40B4-BE49-F238E27FC236}">
                <a16:creationId xmlns:a16="http://schemas.microsoft.com/office/drawing/2014/main" id="{814C4A49-512E-4FB3-7765-4B7E0621C0F6}"/>
              </a:ext>
            </a:extLst>
          </p:cNvPr>
          <p:cNvSpPr/>
          <p:nvPr/>
        </p:nvSpPr>
        <p:spPr bwMode="gray">
          <a:xfrm>
            <a:off x="2608389" y="4289902"/>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7" name="二等辺三角形 7">
            <a:extLst>
              <a:ext uri="{FF2B5EF4-FFF2-40B4-BE49-F238E27FC236}">
                <a16:creationId xmlns:a16="http://schemas.microsoft.com/office/drawing/2014/main" id="{AFE20E57-1B95-6371-C38E-02945A411BD7}"/>
              </a:ext>
            </a:extLst>
          </p:cNvPr>
          <p:cNvSpPr/>
          <p:nvPr/>
        </p:nvSpPr>
        <p:spPr bwMode="gray">
          <a:xfrm>
            <a:off x="3711602" y="4272297"/>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8" name="二等辺三角形 7">
            <a:extLst>
              <a:ext uri="{FF2B5EF4-FFF2-40B4-BE49-F238E27FC236}">
                <a16:creationId xmlns:a16="http://schemas.microsoft.com/office/drawing/2014/main" id="{8A32F1FD-339C-F87E-C98F-E9C3F54B0943}"/>
              </a:ext>
            </a:extLst>
          </p:cNvPr>
          <p:cNvSpPr/>
          <p:nvPr/>
        </p:nvSpPr>
        <p:spPr bwMode="gray">
          <a:xfrm>
            <a:off x="4350201" y="4266956"/>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9" name="文本框 38">
            <a:extLst>
              <a:ext uri="{FF2B5EF4-FFF2-40B4-BE49-F238E27FC236}">
                <a16:creationId xmlns:a16="http://schemas.microsoft.com/office/drawing/2014/main" id="{18C6BFFD-1095-B4F4-107C-4C5F44E7770E}"/>
              </a:ext>
            </a:extLst>
          </p:cNvPr>
          <p:cNvSpPr txBox="1"/>
          <p:nvPr/>
        </p:nvSpPr>
        <p:spPr bwMode="gray">
          <a:xfrm>
            <a:off x="5213170" y="5462999"/>
            <a:ext cx="823004"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CTA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 Sub.</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0" name="文本框 39">
            <a:extLst>
              <a:ext uri="{FF2B5EF4-FFF2-40B4-BE49-F238E27FC236}">
                <a16:creationId xmlns:a16="http://schemas.microsoft.com/office/drawing/2014/main" id="{CE9AE522-8D41-4772-11FD-4F6266852B22}"/>
              </a:ext>
            </a:extLst>
          </p:cNvPr>
          <p:cNvSpPr txBox="1"/>
          <p:nvPr/>
        </p:nvSpPr>
        <p:spPr bwMode="gray">
          <a:xfrm>
            <a:off x="4756789" y="4033102"/>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Jan/05</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6" name="二等辺三角形 7">
            <a:extLst>
              <a:ext uri="{FF2B5EF4-FFF2-40B4-BE49-F238E27FC236}">
                <a16:creationId xmlns:a16="http://schemas.microsoft.com/office/drawing/2014/main" id="{10B5395E-DCDC-FBFD-0FA8-1E23E9D6CB9C}"/>
              </a:ext>
            </a:extLst>
          </p:cNvPr>
          <p:cNvSpPr/>
          <p:nvPr/>
        </p:nvSpPr>
        <p:spPr bwMode="gray">
          <a:xfrm>
            <a:off x="4871610" y="4274974"/>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1" name="文本框 50">
            <a:extLst>
              <a:ext uri="{FF2B5EF4-FFF2-40B4-BE49-F238E27FC236}">
                <a16:creationId xmlns:a16="http://schemas.microsoft.com/office/drawing/2014/main" id="{62E5BE68-1E91-4A7F-304D-40F96BA7B92E}"/>
              </a:ext>
            </a:extLst>
          </p:cNvPr>
          <p:cNvSpPr txBox="1"/>
          <p:nvPr/>
        </p:nvSpPr>
        <p:spPr bwMode="gray">
          <a:xfrm>
            <a:off x="2949694" y="5694567"/>
            <a:ext cx="2494171" cy="301301"/>
          </a:xfrm>
          <a:prstGeom prst="rect">
            <a:avLst/>
          </a:prstGeom>
          <a:noFill/>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Boehringer Forward Text"/>
                <a:ea typeface="Meiryo UI"/>
                <a:cs typeface="+mn-cs"/>
              </a:rPr>
              <a:t> Nov/09</a:t>
            </a:r>
            <a:endParaRPr kumimoji="1" lang="ja-JP" altLang="en-US" sz="1000" b="0" i="0" u="none" strike="noStrike" kern="1200" cap="none" spc="0" normalizeH="0" baseline="0" noProof="0">
              <a:ln>
                <a:noFill/>
              </a:ln>
              <a:solidFill>
                <a:prstClr val="black"/>
              </a:solidFill>
              <a:effectLst/>
              <a:uLnTx/>
              <a:uFillTx/>
              <a:latin typeface="Boehringer Forward Text"/>
              <a:ea typeface="Meiryo UI"/>
              <a:cs typeface="+mn-cs"/>
            </a:endParaRPr>
          </a:p>
        </p:txBody>
      </p:sp>
      <p:sp>
        <p:nvSpPr>
          <p:cNvPr id="52" name="文本框 51">
            <a:extLst>
              <a:ext uri="{FF2B5EF4-FFF2-40B4-BE49-F238E27FC236}">
                <a16:creationId xmlns:a16="http://schemas.microsoft.com/office/drawing/2014/main" id="{40900E0B-DFF6-1189-0457-D59A4083E06C}"/>
              </a:ext>
            </a:extLst>
          </p:cNvPr>
          <p:cNvSpPr txBox="1"/>
          <p:nvPr/>
        </p:nvSpPr>
        <p:spPr bwMode="gray">
          <a:xfrm>
            <a:off x="4610581" y="5465002"/>
            <a:ext cx="823004"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PMDA feedback</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3" name="文本框 52">
            <a:extLst>
              <a:ext uri="{FF2B5EF4-FFF2-40B4-BE49-F238E27FC236}">
                <a16:creationId xmlns:a16="http://schemas.microsoft.com/office/drawing/2014/main" id="{B23D2D1D-1730-9013-30C4-0E07CF61C02D}"/>
              </a:ext>
            </a:extLst>
          </p:cNvPr>
          <p:cNvSpPr txBox="1"/>
          <p:nvPr/>
        </p:nvSpPr>
        <p:spPr bwMode="gray">
          <a:xfrm>
            <a:off x="4533272" y="5748990"/>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Dec/14-21</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4" name="二等辺三角形 7">
            <a:extLst>
              <a:ext uri="{FF2B5EF4-FFF2-40B4-BE49-F238E27FC236}">
                <a16:creationId xmlns:a16="http://schemas.microsoft.com/office/drawing/2014/main" id="{8A84C6AD-6B0E-B028-4984-B08ECAEA1E5C}"/>
              </a:ext>
            </a:extLst>
          </p:cNvPr>
          <p:cNvSpPr/>
          <p:nvPr/>
        </p:nvSpPr>
        <p:spPr bwMode="gray">
          <a:xfrm>
            <a:off x="4122757" y="6054798"/>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5" name="二等辺三角形 7">
            <a:extLst>
              <a:ext uri="{FF2B5EF4-FFF2-40B4-BE49-F238E27FC236}">
                <a16:creationId xmlns:a16="http://schemas.microsoft.com/office/drawing/2014/main" id="{AB0BBA9D-DD0A-3CF4-D177-A8F733DA6308}"/>
              </a:ext>
            </a:extLst>
          </p:cNvPr>
          <p:cNvSpPr/>
          <p:nvPr/>
        </p:nvSpPr>
        <p:spPr bwMode="gray">
          <a:xfrm>
            <a:off x="4659390" y="6049709"/>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6" name="文本框 55">
            <a:extLst>
              <a:ext uri="{FF2B5EF4-FFF2-40B4-BE49-F238E27FC236}">
                <a16:creationId xmlns:a16="http://schemas.microsoft.com/office/drawing/2014/main" id="{81DA1EC7-F1D4-D896-FEB8-5707D5864F6B}"/>
              </a:ext>
            </a:extLst>
          </p:cNvPr>
          <p:cNvSpPr txBox="1"/>
          <p:nvPr/>
        </p:nvSpPr>
        <p:spPr bwMode="gray">
          <a:xfrm>
            <a:off x="4867723" y="3718870"/>
            <a:ext cx="823004"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CTA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 Sub.</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7" name="文本框 56">
            <a:extLst>
              <a:ext uri="{FF2B5EF4-FFF2-40B4-BE49-F238E27FC236}">
                <a16:creationId xmlns:a16="http://schemas.microsoft.com/office/drawing/2014/main" id="{AE8A67F0-19E8-4749-641B-FE06C75EE55D}"/>
              </a:ext>
            </a:extLst>
          </p:cNvPr>
          <p:cNvSpPr txBox="1"/>
          <p:nvPr/>
        </p:nvSpPr>
        <p:spPr bwMode="gray">
          <a:xfrm>
            <a:off x="5225063" y="5748990"/>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Jan/29</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8" name="二等辺三角形 7">
            <a:extLst>
              <a:ext uri="{FF2B5EF4-FFF2-40B4-BE49-F238E27FC236}">
                <a16:creationId xmlns:a16="http://schemas.microsoft.com/office/drawing/2014/main" id="{F31DA808-A513-77E1-7DA7-A9BA5D47E148}"/>
              </a:ext>
            </a:extLst>
          </p:cNvPr>
          <p:cNvSpPr/>
          <p:nvPr/>
        </p:nvSpPr>
        <p:spPr bwMode="gray">
          <a:xfrm>
            <a:off x="5372454" y="6054635"/>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0" name="文本框 59">
            <a:extLst>
              <a:ext uri="{FF2B5EF4-FFF2-40B4-BE49-F238E27FC236}">
                <a16:creationId xmlns:a16="http://schemas.microsoft.com/office/drawing/2014/main" id="{D7789770-3C8D-49C0-9011-62CD1EC844E0}"/>
              </a:ext>
            </a:extLst>
          </p:cNvPr>
          <p:cNvSpPr txBox="1"/>
          <p:nvPr/>
        </p:nvSpPr>
        <p:spPr bwMode="gray">
          <a:xfrm>
            <a:off x="2329059" y="5479436"/>
            <a:ext cx="175967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Joint Pre-INA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 kick-off</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1" name="文本框 60">
            <a:extLst>
              <a:ext uri="{FF2B5EF4-FFF2-40B4-BE49-F238E27FC236}">
                <a16:creationId xmlns:a16="http://schemas.microsoft.com/office/drawing/2014/main" id="{CB7B8FBE-89B9-CF4F-0390-86854D2F1AB9}"/>
              </a:ext>
            </a:extLst>
          </p:cNvPr>
          <p:cNvSpPr txBox="1"/>
          <p:nvPr/>
        </p:nvSpPr>
        <p:spPr bwMode="gray">
          <a:xfrm>
            <a:off x="2363084" y="5787374"/>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06/01</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6" name="二等辺三角形 7">
            <a:extLst>
              <a:ext uri="{FF2B5EF4-FFF2-40B4-BE49-F238E27FC236}">
                <a16:creationId xmlns:a16="http://schemas.microsoft.com/office/drawing/2014/main" id="{AB3AD5FA-27AC-E1AB-0A07-7FAD7DD2B650}"/>
              </a:ext>
            </a:extLst>
          </p:cNvPr>
          <p:cNvSpPr/>
          <p:nvPr/>
        </p:nvSpPr>
        <p:spPr bwMode="gray">
          <a:xfrm>
            <a:off x="2643389" y="6052217"/>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7" name="矩形 66">
            <a:extLst>
              <a:ext uri="{FF2B5EF4-FFF2-40B4-BE49-F238E27FC236}">
                <a16:creationId xmlns:a16="http://schemas.microsoft.com/office/drawing/2014/main" id="{D9756792-49E9-79E1-3269-6FD0479A9FF6}"/>
              </a:ext>
            </a:extLst>
          </p:cNvPr>
          <p:cNvSpPr/>
          <p:nvPr/>
        </p:nvSpPr>
        <p:spPr bwMode="gray">
          <a:xfrm>
            <a:off x="2143802" y="3430485"/>
            <a:ext cx="1244658" cy="2835151"/>
          </a:xfrm>
          <a:prstGeom prst="rect">
            <a:avLst/>
          </a:prstGeom>
          <a:noFill/>
          <a:ln w="38100">
            <a:solidFill>
              <a:srgbClr val="8625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 name="文本框 13">
            <a:extLst>
              <a:ext uri="{FF2B5EF4-FFF2-40B4-BE49-F238E27FC236}">
                <a16:creationId xmlns:a16="http://schemas.microsoft.com/office/drawing/2014/main" id="{B2367183-D148-AF4B-407C-AFF82E55C4AE}"/>
              </a:ext>
            </a:extLst>
          </p:cNvPr>
          <p:cNvSpPr txBox="1"/>
          <p:nvPr/>
        </p:nvSpPr>
        <p:spPr bwMode="gray">
          <a:xfrm>
            <a:off x="5865037" y="5748990"/>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Mar-Jul</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5" name="矩形 14">
            <a:extLst>
              <a:ext uri="{FF2B5EF4-FFF2-40B4-BE49-F238E27FC236}">
                <a16:creationId xmlns:a16="http://schemas.microsoft.com/office/drawing/2014/main" id="{62C4E259-19B9-55CE-61DF-F6B2F8C8B6AF}"/>
              </a:ext>
            </a:extLst>
          </p:cNvPr>
          <p:cNvSpPr/>
          <p:nvPr/>
        </p:nvSpPr>
        <p:spPr bwMode="gray">
          <a:xfrm>
            <a:off x="5723774" y="5377942"/>
            <a:ext cx="918975" cy="307777"/>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900">
                <a:solidFill>
                  <a:schemeClr val="tx1"/>
                </a:solidFill>
              </a:rPr>
              <a:t>Dose group 1</a:t>
            </a:r>
          </a:p>
          <a:p>
            <a:pPr algn="ctr">
              <a:lnSpc>
                <a:spcPct val="140000"/>
              </a:lnSpc>
            </a:pPr>
            <a:r>
              <a:rPr lang="en-US" altLang="zh-CN" sz="900">
                <a:solidFill>
                  <a:schemeClr val="tx1"/>
                </a:solidFill>
              </a:rPr>
              <a:t>N=3</a:t>
            </a:r>
            <a:endParaRPr lang="zh-CN" altLang="en-US" sz="900">
              <a:solidFill>
                <a:schemeClr val="tx1"/>
              </a:solidFill>
            </a:endParaRPr>
          </a:p>
        </p:txBody>
      </p:sp>
      <p:sp>
        <p:nvSpPr>
          <p:cNvPr id="19" name="矩形 18">
            <a:extLst>
              <a:ext uri="{FF2B5EF4-FFF2-40B4-BE49-F238E27FC236}">
                <a16:creationId xmlns:a16="http://schemas.microsoft.com/office/drawing/2014/main" id="{F4B2B758-1F29-D7E4-053D-390E855D956E}"/>
              </a:ext>
            </a:extLst>
          </p:cNvPr>
          <p:cNvSpPr/>
          <p:nvPr/>
        </p:nvSpPr>
        <p:spPr bwMode="gray">
          <a:xfrm>
            <a:off x="6798843" y="5046463"/>
            <a:ext cx="1071375" cy="318662"/>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900">
                <a:solidFill>
                  <a:schemeClr val="tx1"/>
                </a:solidFill>
              </a:rPr>
              <a:t>Dose group 2</a:t>
            </a:r>
          </a:p>
          <a:p>
            <a:pPr algn="ctr">
              <a:lnSpc>
                <a:spcPct val="140000"/>
              </a:lnSpc>
            </a:pPr>
            <a:r>
              <a:rPr lang="en-US" altLang="zh-CN" sz="900">
                <a:solidFill>
                  <a:schemeClr val="tx1"/>
                </a:solidFill>
              </a:rPr>
              <a:t>N=3</a:t>
            </a:r>
            <a:endParaRPr lang="zh-CN" altLang="en-US" sz="900">
              <a:solidFill>
                <a:schemeClr val="tx1"/>
              </a:solidFill>
            </a:endParaRPr>
          </a:p>
        </p:txBody>
      </p:sp>
      <p:sp>
        <p:nvSpPr>
          <p:cNvPr id="25" name="文本框 24">
            <a:extLst>
              <a:ext uri="{FF2B5EF4-FFF2-40B4-BE49-F238E27FC236}">
                <a16:creationId xmlns:a16="http://schemas.microsoft.com/office/drawing/2014/main" id="{2FA5C382-61C4-052F-20D7-970A34595E38}"/>
              </a:ext>
            </a:extLst>
          </p:cNvPr>
          <p:cNvSpPr txBox="1"/>
          <p:nvPr/>
        </p:nvSpPr>
        <p:spPr bwMode="gray">
          <a:xfrm>
            <a:off x="7101429" y="5463031"/>
            <a:ext cx="1759673" cy="197426"/>
          </a:xfrm>
          <a:prstGeom prst="rect">
            <a:avLst/>
          </a:prstGeom>
          <a:noFill/>
        </p:spPr>
        <p:txBody>
          <a:bodyPr wrap="square" lIns="0" tIns="0" rIns="0" bIns="0" rtlCol="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lang="en-US" altLang="zh-CN" sz="1000">
                <a:solidFill>
                  <a:prstClr val="black"/>
                </a:solidFill>
                <a:latin typeface="Boehringer Forward Text"/>
              </a:rPr>
              <a:t>Jul-Oct</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8" name="矩形 47">
            <a:extLst>
              <a:ext uri="{FF2B5EF4-FFF2-40B4-BE49-F238E27FC236}">
                <a16:creationId xmlns:a16="http://schemas.microsoft.com/office/drawing/2014/main" id="{2352A979-16FA-5B13-7FD9-F021E74C3830}"/>
              </a:ext>
            </a:extLst>
          </p:cNvPr>
          <p:cNvSpPr/>
          <p:nvPr/>
        </p:nvSpPr>
        <p:spPr bwMode="gray">
          <a:xfrm>
            <a:off x="6817495" y="3685330"/>
            <a:ext cx="1049603" cy="318662"/>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900">
                <a:solidFill>
                  <a:schemeClr val="tx1"/>
                </a:solidFill>
              </a:rPr>
              <a:t>Dose group 2</a:t>
            </a:r>
          </a:p>
          <a:p>
            <a:pPr algn="ctr">
              <a:lnSpc>
                <a:spcPct val="140000"/>
              </a:lnSpc>
            </a:pPr>
            <a:r>
              <a:rPr lang="en-US" altLang="zh-CN" sz="900">
                <a:solidFill>
                  <a:schemeClr val="tx1"/>
                </a:solidFill>
              </a:rPr>
              <a:t>N=3</a:t>
            </a:r>
            <a:endParaRPr lang="zh-CN" altLang="en-US" sz="900">
              <a:solidFill>
                <a:schemeClr val="tx1"/>
              </a:solidFill>
            </a:endParaRPr>
          </a:p>
        </p:txBody>
      </p:sp>
      <p:sp>
        <p:nvSpPr>
          <p:cNvPr id="49" name="文本框 48">
            <a:extLst>
              <a:ext uri="{FF2B5EF4-FFF2-40B4-BE49-F238E27FC236}">
                <a16:creationId xmlns:a16="http://schemas.microsoft.com/office/drawing/2014/main" id="{13677742-A301-B52C-8E68-4BD4360EECFC}"/>
              </a:ext>
            </a:extLst>
          </p:cNvPr>
          <p:cNvSpPr txBox="1"/>
          <p:nvPr/>
        </p:nvSpPr>
        <p:spPr bwMode="gray">
          <a:xfrm>
            <a:off x="7085861" y="4033760"/>
            <a:ext cx="1759673" cy="197426"/>
          </a:xfrm>
          <a:prstGeom prst="rect">
            <a:avLst/>
          </a:prstGeom>
          <a:noFill/>
        </p:spPr>
        <p:txBody>
          <a:bodyPr wrap="square" lIns="0" tIns="0" rIns="0" bIns="0" rtlCol="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lang="en-US" altLang="zh-CN" sz="1000">
                <a:solidFill>
                  <a:prstClr val="black"/>
                </a:solidFill>
                <a:latin typeface="Boehringer Forward Text"/>
              </a:rPr>
              <a:t>Jul-Oct</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0" name="文本框 49">
            <a:extLst>
              <a:ext uri="{FF2B5EF4-FFF2-40B4-BE49-F238E27FC236}">
                <a16:creationId xmlns:a16="http://schemas.microsoft.com/office/drawing/2014/main" id="{C0B79871-97E7-B8E8-3CB3-4CDFBB630894}"/>
              </a:ext>
            </a:extLst>
          </p:cNvPr>
          <p:cNvSpPr txBox="1"/>
          <p:nvPr/>
        </p:nvSpPr>
        <p:spPr bwMode="gray">
          <a:xfrm>
            <a:off x="5892328" y="3727553"/>
            <a:ext cx="823004"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1</a:t>
            </a:r>
            <a:r>
              <a:rPr kumimoji="0" lang="en-US" altLang="zh-CN" sz="1000" b="0" i="0" u="none" strike="noStrike" kern="1200" cap="none" spc="0" normalizeH="0" baseline="30000" noProof="0">
                <a:ln>
                  <a:noFill/>
                </a:ln>
                <a:solidFill>
                  <a:prstClr val="black"/>
                </a:solidFill>
                <a:effectLst/>
                <a:uLnTx/>
                <a:uFillTx/>
                <a:latin typeface="Boehringer Forward Text"/>
                <a:ea typeface="+mn-ea"/>
                <a:cs typeface="+mn-cs"/>
              </a:rPr>
              <a:t>st</a:t>
            </a: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 site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Initiation </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2" name="文本框 61">
            <a:extLst>
              <a:ext uri="{FF2B5EF4-FFF2-40B4-BE49-F238E27FC236}">
                <a16:creationId xmlns:a16="http://schemas.microsoft.com/office/drawing/2014/main" id="{0F5B3435-D892-E32D-4C96-33CBBEDDFD5B}"/>
              </a:ext>
            </a:extLst>
          </p:cNvPr>
          <p:cNvSpPr txBox="1"/>
          <p:nvPr/>
        </p:nvSpPr>
        <p:spPr bwMode="gray">
          <a:xfrm>
            <a:off x="5755631" y="4032559"/>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Jun/05</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3" name="文本框 62">
            <a:extLst>
              <a:ext uri="{FF2B5EF4-FFF2-40B4-BE49-F238E27FC236}">
                <a16:creationId xmlns:a16="http://schemas.microsoft.com/office/drawing/2014/main" id="{F7F0E82D-EB99-7D0A-E352-A255679A6FD5}"/>
              </a:ext>
            </a:extLst>
          </p:cNvPr>
          <p:cNvSpPr txBox="1"/>
          <p:nvPr/>
        </p:nvSpPr>
        <p:spPr bwMode="gray">
          <a:xfrm>
            <a:off x="7540589" y="2627240"/>
            <a:ext cx="1268821"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CTA sub.</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4" name="文本框 63">
            <a:extLst>
              <a:ext uri="{FF2B5EF4-FFF2-40B4-BE49-F238E27FC236}">
                <a16:creationId xmlns:a16="http://schemas.microsoft.com/office/drawing/2014/main" id="{E1A72B1B-B04E-9290-C8A2-25A876A6C2BF}"/>
              </a:ext>
            </a:extLst>
          </p:cNvPr>
          <p:cNvSpPr txBox="1"/>
          <p:nvPr/>
        </p:nvSpPr>
        <p:spPr bwMode="gray">
          <a:xfrm>
            <a:off x="7483447" y="2787767"/>
            <a:ext cx="1065046" cy="289759"/>
          </a:xfrm>
          <a:prstGeom prst="rect">
            <a:avLst/>
          </a:prstGeom>
          <a:noFill/>
        </p:spPr>
        <p:txBody>
          <a:bodyPr wrap="square">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ja-JP" sz="1000" b="0" i="0" u="none" strike="noStrike" kern="1200" cap="none" spc="0" normalizeH="0" baseline="0" noProof="0">
                <a:ln>
                  <a:noFill/>
                </a:ln>
                <a:solidFill>
                  <a:prstClr val="black"/>
                </a:solidFill>
                <a:effectLst/>
                <a:uLnTx/>
                <a:uFillTx/>
                <a:latin typeface="Boehringer Forward Text"/>
                <a:ea typeface="+mn-ea"/>
                <a:cs typeface="+mn-cs"/>
              </a:rPr>
              <a:t>Oct</a:t>
            </a:r>
          </a:p>
        </p:txBody>
      </p:sp>
      <p:sp>
        <p:nvSpPr>
          <p:cNvPr id="65" name="二等辺三角形 7">
            <a:extLst>
              <a:ext uri="{FF2B5EF4-FFF2-40B4-BE49-F238E27FC236}">
                <a16:creationId xmlns:a16="http://schemas.microsoft.com/office/drawing/2014/main" id="{2D04EE32-F8B9-AE32-E0CE-168EBC74D6F8}"/>
              </a:ext>
            </a:extLst>
          </p:cNvPr>
          <p:cNvSpPr/>
          <p:nvPr/>
        </p:nvSpPr>
        <p:spPr bwMode="gray">
          <a:xfrm>
            <a:off x="7674127" y="3098384"/>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9" name="文本框 68">
            <a:extLst>
              <a:ext uri="{FF2B5EF4-FFF2-40B4-BE49-F238E27FC236}">
                <a16:creationId xmlns:a16="http://schemas.microsoft.com/office/drawing/2014/main" id="{71F09C10-B446-854E-6CC1-571184536D42}"/>
              </a:ext>
            </a:extLst>
          </p:cNvPr>
          <p:cNvSpPr txBox="1"/>
          <p:nvPr/>
        </p:nvSpPr>
        <p:spPr bwMode="gray">
          <a:xfrm>
            <a:off x="7965697" y="3695560"/>
            <a:ext cx="375121" cy="307777"/>
          </a:xfrm>
          <a:prstGeom prst="rect">
            <a:avLst/>
          </a:prstGeom>
          <a:noFill/>
        </p:spPr>
        <p:txBody>
          <a:bodyPr wrap="square" lIns="0" tIns="0" rIns="0" bIns="0" rtlCol="0">
            <a:spAutoFit/>
          </a:bodyPr>
          <a:lstStyle/>
          <a:p>
            <a:pPr marL="0" marR="0" lvl="0" indent="0" algn="l" defTabSz="914400" rtl="0" eaLnBrk="1" fontAlgn="auto" latinLnBrk="0" hangingPunct="1">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CTA sub.</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0" name="二等辺三角形 7">
            <a:extLst>
              <a:ext uri="{FF2B5EF4-FFF2-40B4-BE49-F238E27FC236}">
                <a16:creationId xmlns:a16="http://schemas.microsoft.com/office/drawing/2014/main" id="{76EA3807-946C-6FAB-57A3-F914E68C759C}"/>
              </a:ext>
            </a:extLst>
          </p:cNvPr>
          <p:cNvSpPr/>
          <p:nvPr/>
        </p:nvSpPr>
        <p:spPr bwMode="gray">
          <a:xfrm>
            <a:off x="8061409" y="4266956"/>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1" name="文本框 70">
            <a:extLst>
              <a:ext uri="{FF2B5EF4-FFF2-40B4-BE49-F238E27FC236}">
                <a16:creationId xmlns:a16="http://schemas.microsoft.com/office/drawing/2014/main" id="{70F580FD-8A45-22F6-2286-4D6F81C4000F}"/>
              </a:ext>
            </a:extLst>
          </p:cNvPr>
          <p:cNvSpPr txBox="1"/>
          <p:nvPr/>
        </p:nvSpPr>
        <p:spPr bwMode="gray">
          <a:xfrm>
            <a:off x="7965697" y="4029326"/>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Nov</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2" name="矩形 71">
            <a:extLst>
              <a:ext uri="{FF2B5EF4-FFF2-40B4-BE49-F238E27FC236}">
                <a16:creationId xmlns:a16="http://schemas.microsoft.com/office/drawing/2014/main" id="{FF11B3F6-5CB6-4F38-1D93-E87701DBC3F4}"/>
              </a:ext>
            </a:extLst>
          </p:cNvPr>
          <p:cNvSpPr/>
          <p:nvPr/>
        </p:nvSpPr>
        <p:spPr bwMode="gray">
          <a:xfrm>
            <a:off x="8893535" y="3656419"/>
            <a:ext cx="2049920" cy="476054"/>
          </a:xfrm>
          <a:prstGeom prst="rect">
            <a:avLst/>
          </a:prstGeom>
          <a:solidFill>
            <a:schemeClr val="accent1">
              <a:lumMod val="75000"/>
              <a:lumOff val="25000"/>
            </a:schemeClr>
          </a:solidFill>
          <a:ln/>
          <a:effectLst>
            <a:innerShdw blurRad="63500" dist="50800" dir="16200000">
              <a:prstClr val="black">
                <a:alpha val="50000"/>
              </a:prstClr>
            </a:innerShdw>
          </a:effectLst>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prstClr val="white"/>
                </a:solidFill>
                <a:effectLst/>
                <a:uLnTx/>
                <a:uFillTx/>
                <a:latin typeface="Boehringer Forward Text"/>
                <a:ea typeface="+mn-ea"/>
                <a:cs typeface="+mn-cs"/>
              </a:rPr>
              <a:t>1517-0008 (Ph2b)     </a:t>
            </a:r>
            <a:r>
              <a:rPr kumimoji="0" lang="en-US" altLang="zh-CN" sz="1000" b="0" i="0" u="none" strike="noStrike" kern="1200" cap="none" spc="0" normalizeH="0" baseline="0" noProof="0">
                <a:ln>
                  <a:noFill/>
                </a:ln>
                <a:solidFill>
                  <a:prstClr val="white"/>
                </a:solidFill>
                <a:effectLst/>
                <a:uLnTx/>
                <a:uFillTx/>
                <a:latin typeface="Boehringer Forward Text"/>
                <a:ea typeface="+mn-ea"/>
                <a:cs typeface="+mn-cs"/>
              </a:rPr>
              <a:t>FSS~LSO: 2028/May ~2030/Feb</a:t>
            </a:r>
            <a:endParaRPr kumimoji="0" lang="zh-CN" altLang="en-US" sz="10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73" name="文本框 72">
            <a:extLst>
              <a:ext uri="{FF2B5EF4-FFF2-40B4-BE49-F238E27FC236}">
                <a16:creationId xmlns:a16="http://schemas.microsoft.com/office/drawing/2014/main" id="{6B4E5E76-294C-5D91-4776-43B54EEAABED}"/>
              </a:ext>
            </a:extLst>
          </p:cNvPr>
          <p:cNvSpPr txBox="1"/>
          <p:nvPr/>
        </p:nvSpPr>
        <p:spPr bwMode="gray">
          <a:xfrm>
            <a:off x="8281658" y="5407855"/>
            <a:ext cx="375121" cy="307777"/>
          </a:xfrm>
          <a:prstGeom prst="rect">
            <a:avLst/>
          </a:prstGeom>
          <a:noFill/>
        </p:spPr>
        <p:txBody>
          <a:bodyPr wrap="square" lIns="0" tIns="0" rIns="0" bIns="0" rtlCol="0">
            <a:spAutoFit/>
          </a:bodyPr>
          <a:lstStyle/>
          <a:p>
            <a:pPr marL="0" marR="0" lvl="0" indent="0" algn="l" defTabSz="914400" rtl="0" eaLnBrk="1" fontAlgn="auto" latinLnBrk="0" hangingPunct="1">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CTA sub.</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4" name="文本框 73">
            <a:extLst>
              <a:ext uri="{FF2B5EF4-FFF2-40B4-BE49-F238E27FC236}">
                <a16:creationId xmlns:a16="http://schemas.microsoft.com/office/drawing/2014/main" id="{A3468D09-2AA2-FD21-9B99-E9AE43236D53}"/>
              </a:ext>
            </a:extLst>
          </p:cNvPr>
          <p:cNvSpPr txBox="1"/>
          <p:nvPr/>
        </p:nvSpPr>
        <p:spPr bwMode="gray">
          <a:xfrm>
            <a:off x="8288525" y="5710466"/>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Jan</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5" name="二等辺三角形 7">
            <a:extLst>
              <a:ext uri="{FF2B5EF4-FFF2-40B4-BE49-F238E27FC236}">
                <a16:creationId xmlns:a16="http://schemas.microsoft.com/office/drawing/2014/main" id="{22CBF85B-D080-714D-F5F8-18D8F83AADAB}"/>
              </a:ext>
            </a:extLst>
          </p:cNvPr>
          <p:cNvSpPr/>
          <p:nvPr/>
        </p:nvSpPr>
        <p:spPr bwMode="gray">
          <a:xfrm>
            <a:off x="8355629" y="6047178"/>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7" name="矩形 76">
            <a:extLst>
              <a:ext uri="{FF2B5EF4-FFF2-40B4-BE49-F238E27FC236}">
                <a16:creationId xmlns:a16="http://schemas.microsoft.com/office/drawing/2014/main" id="{F106F4A4-4AC7-6562-25CE-D5398D7A3AEF}"/>
              </a:ext>
            </a:extLst>
          </p:cNvPr>
          <p:cNvSpPr/>
          <p:nvPr/>
        </p:nvSpPr>
        <p:spPr bwMode="gray">
          <a:xfrm>
            <a:off x="8804939" y="5343248"/>
            <a:ext cx="2126669" cy="476054"/>
          </a:xfrm>
          <a:prstGeom prst="rect">
            <a:avLst/>
          </a:prstGeom>
          <a:solidFill>
            <a:schemeClr val="accent1">
              <a:lumMod val="75000"/>
              <a:lumOff val="25000"/>
            </a:schemeClr>
          </a:solidFill>
          <a:ln/>
          <a:effectLst>
            <a:innerShdw blurRad="63500" dist="50800" dir="16200000">
              <a:prstClr val="black">
                <a:alpha val="50000"/>
              </a:prstClr>
            </a:innerShdw>
          </a:effectLst>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prstClr val="white"/>
                </a:solidFill>
                <a:effectLst/>
                <a:uLnTx/>
                <a:uFillTx/>
                <a:latin typeface="Boehringer Forward Text"/>
                <a:ea typeface="+mn-ea"/>
                <a:cs typeface="+mn-cs"/>
              </a:rPr>
              <a:t>1517-0008 (Ph2b)     </a:t>
            </a:r>
            <a:r>
              <a:rPr kumimoji="0" lang="en-US" altLang="zh-CN" sz="1000" b="0" i="0" u="none" strike="noStrike" kern="1200" cap="none" spc="0" normalizeH="0" baseline="0" noProof="0">
                <a:ln>
                  <a:noFill/>
                </a:ln>
                <a:solidFill>
                  <a:prstClr val="white"/>
                </a:solidFill>
                <a:effectLst/>
                <a:uLnTx/>
                <a:uFillTx/>
                <a:latin typeface="Boehringer Forward Text"/>
                <a:ea typeface="+mn-ea"/>
                <a:cs typeface="+mn-cs"/>
              </a:rPr>
              <a:t>FSS~LSO: 2028/Apr ~2030/Feb</a:t>
            </a:r>
            <a:endParaRPr kumimoji="0" lang="zh-CN" altLang="en-US" sz="10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6" name="文本框 5">
            <a:extLst>
              <a:ext uri="{FF2B5EF4-FFF2-40B4-BE49-F238E27FC236}">
                <a16:creationId xmlns:a16="http://schemas.microsoft.com/office/drawing/2014/main" id="{DB9A29E4-19D8-3803-B15D-CD2261B5ED01}"/>
              </a:ext>
            </a:extLst>
          </p:cNvPr>
          <p:cNvSpPr txBox="1"/>
          <p:nvPr/>
        </p:nvSpPr>
        <p:spPr bwMode="gray">
          <a:xfrm>
            <a:off x="8956934" y="2618952"/>
            <a:ext cx="2395650" cy="236924"/>
          </a:xfrm>
          <a:prstGeom prst="rect">
            <a:avLst/>
          </a:prstGeom>
          <a:noFill/>
        </p:spPr>
        <p:txBody>
          <a:bodyPr wrap="square" lIns="0" tIns="0" rIns="0" bIns="0" rtlCol="0">
            <a:spAutoFit/>
          </a:bodyPr>
          <a:lstStyle/>
          <a:p>
            <a:pPr algn="l">
              <a:lnSpc>
                <a:spcPct val="140000"/>
              </a:lnSpc>
            </a:pPr>
            <a:r>
              <a:rPr lang="en-US" altLang="zh-CN" sz="1200"/>
              <a:t>~ 1 year enrollment </a:t>
            </a:r>
            <a:endParaRPr lang="zh-CN" altLang="en-US" sz="1200"/>
          </a:p>
        </p:txBody>
      </p:sp>
      <p:sp>
        <p:nvSpPr>
          <p:cNvPr id="11" name="文本框 10">
            <a:extLst>
              <a:ext uri="{FF2B5EF4-FFF2-40B4-BE49-F238E27FC236}">
                <a16:creationId xmlns:a16="http://schemas.microsoft.com/office/drawing/2014/main" id="{D836FEEB-AB14-07AD-736D-A96570E8F9C6}"/>
              </a:ext>
            </a:extLst>
          </p:cNvPr>
          <p:cNvSpPr txBox="1"/>
          <p:nvPr/>
        </p:nvSpPr>
        <p:spPr bwMode="gray">
          <a:xfrm>
            <a:off x="9204889" y="4209501"/>
            <a:ext cx="2395650" cy="236924"/>
          </a:xfrm>
          <a:prstGeom prst="rect">
            <a:avLst/>
          </a:prstGeom>
          <a:noFill/>
        </p:spPr>
        <p:txBody>
          <a:bodyPr wrap="square" lIns="0" tIns="0" rIns="0" bIns="0" rtlCol="0">
            <a:spAutoFit/>
          </a:bodyPr>
          <a:lstStyle/>
          <a:p>
            <a:pPr algn="l">
              <a:lnSpc>
                <a:spcPct val="140000"/>
              </a:lnSpc>
            </a:pPr>
            <a:r>
              <a:rPr lang="en-US" altLang="zh-CN" sz="1200"/>
              <a:t>~ 9 months enrollment </a:t>
            </a:r>
            <a:endParaRPr lang="zh-CN" altLang="en-US" sz="1200"/>
          </a:p>
        </p:txBody>
      </p:sp>
      <p:sp>
        <p:nvSpPr>
          <p:cNvPr id="4" name="矩形 3">
            <a:extLst>
              <a:ext uri="{FF2B5EF4-FFF2-40B4-BE49-F238E27FC236}">
                <a16:creationId xmlns:a16="http://schemas.microsoft.com/office/drawing/2014/main" id="{8A0C239D-B8D4-F599-9A7A-4789C3151575}"/>
              </a:ext>
            </a:extLst>
          </p:cNvPr>
          <p:cNvSpPr/>
          <p:nvPr/>
        </p:nvSpPr>
        <p:spPr bwMode="gray">
          <a:xfrm>
            <a:off x="2822207" y="2633148"/>
            <a:ext cx="619364" cy="404334"/>
          </a:xfrm>
          <a:prstGeom prst="rect">
            <a:avLst/>
          </a:prstGeom>
          <a:noFill/>
          <a:ln w="19050">
            <a:solidFill>
              <a:schemeClr val="bg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cxnSp>
        <p:nvCxnSpPr>
          <p:cNvPr id="29" name="连接符: 肘形 28">
            <a:extLst>
              <a:ext uri="{FF2B5EF4-FFF2-40B4-BE49-F238E27FC236}">
                <a16:creationId xmlns:a16="http://schemas.microsoft.com/office/drawing/2014/main" id="{CFAC2F36-5636-92ED-AE1A-001A5D1F426F}"/>
              </a:ext>
            </a:extLst>
          </p:cNvPr>
          <p:cNvCxnSpPr>
            <a:cxnSpLocks/>
            <a:stCxn id="4" idx="3"/>
          </p:cNvCxnSpPr>
          <p:nvPr/>
        </p:nvCxnSpPr>
        <p:spPr bwMode="gray">
          <a:xfrm>
            <a:off x="3441571" y="2835315"/>
            <a:ext cx="150592" cy="841937"/>
          </a:xfrm>
          <a:prstGeom prst="bentConnector2">
            <a:avLst/>
          </a:prstGeom>
          <a:ln w="9525">
            <a:solidFill>
              <a:schemeClr val="bg2">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8" name="矩形 67">
            <a:extLst>
              <a:ext uri="{FF2B5EF4-FFF2-40B4-BE49-F238E27FC236}">
                <a16:creationId xmlns:a16="http://schemas.microsoft.com/office/drawing/2014/main" id="{856CDF5C-610C-790C-A905-1DF31DE2EEE0}"/>
              </a:ext>
            </a:extLst>
          </p:cNvPr>
          <p:cNvSpPr/>
          <p:nvPr/>
        </p:nvSpPr>
        <p:spPr bwMode="gray">
          <a:xfrm>
            <a:off x="3716811" y="2636746"/>
            <a:ext cx="684069" cy="404334"/>
          </a:xfrm>
          <a:prstGeom prst="rect">
            <a:avLst/>
          </a:prstGeom>
          <a:noFill/>
          <a:ln w="19050">
            <a:solidFill>
              <a:schemeClr val="bg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cxnSp>
        <p:nvCxnSpPr>
          <p:cNvPr id="80" name="直接箭头连接符 79">
            <a:extLst>
              <a:ext uri="{FF2B5EF4-FFF2-40B4-BE49-F238E27FC236}">
                <a16:creationId xmlns:a16="http://schemas.microsoft.com/office/drawing/2014/main" id="{826F78F0-B987-8546-DEE3-08AEC56CA606}"/>
              </a:ext>
            </a:extLst>
          </p:cNvPr>
          <p:cNvCxnSpPr/>
          <p:nvPr/>
        </p:nvCxnSpPr>
        <p:spPr bwMode="gray">
          <a:xfrm>
            <a:off x="4046330" y="3071844"/>
            <a:ext cx="0" cy="2271404"/>
          </a:xfrm>
          <a:prstGeom prst="straightConnector1">
            <a:avLst/>
          </a:prstGeom>
          <a:ln w="9525">
            <a:solidFill>
              <a:schemeClr val="bg2">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4750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BB02D-0C64-3E70-5E72-4E10C39B2A70}"/>
            </a:ext>
          </a:extLst>
        </p:cNvPr>
        <p:cNvGrpSpPr/>
        <p:nvPr/>
      </p:nvGrpSpPr>
      <p:grpSpPr>
        <a:xfrm>
          <a:off x="0" y="0"/>
          <a:ext cx="0" cy="0"/>
          <a:chOff x="0" y="0"/>
          <a:chExt cx="0" cy="0"/>
        </a:xfrm>
      </p:grpSpPr>
      <p:sp>
        <p:nvSpPr>
          <p:cNvPr id="59" name="矩形 58">
            <a:extLst>
              <a:ext uri="{FF2B5EF4-FFF2-40B4-BE49-F238E27FC236}">
                <a16:creationId xmlns:a16="http://schemas.microsoft.com/office/drawing/2014/main" id="{1D02CD1C-23C2-320E-5EBA-CBAF8FBF674D}"/>
              </a:ext>
            </a:extLst>
          </p:cNvPr>
          <p:cNvSpPr/>
          <p:nvPr/>
        </p:nvSpPr>
        <p:spPr bwMode="gray">
          <a:xfrm>
            <a:off x="795865" y="4805419"/>
            <a:ext cx="11032317" cy="1436984"/>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47" name="矩形 46">
            <a:extLst>
              <a:ext uri="{FF2B5EF4-FFF2-40B4-BE49-F238E27FC236}">
                <a16:creationId xmlns:a16="http://schemas.microsoft.com/office/drawing/2014/main" id="{914E6A3A-FCB3-461E-A680-0A88119B8319}"/>
              </a:ext>
            </a:extLst>
          </p:cNvPr>
          <p:cNvSpPr/>
          <p:nvPr/>
        </p:nvSpPr>
        <p:spPr bwMode="gray">
          <a:xfrm>
            <a:off x="805008" y="3399843"/>
            <a:ext cx="11032317" cy="1405575"/>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31" name="矩形 30">
            <a:extLst>
              <a:ext uri="{FF2B5EF4-FFF2-40B4-BE49-F238E27FC236}">
                <a16:creationId xmlns:a16="http://schemas.microsoft.com/office/drawing/2014/main" id="{1B002BCA-5D19-2F5D-A6B2-6F564EA82DC3}"/>
              </a:ext>
            </a:extLst>
          </p:cNvPr>
          <p:cNvSpPr/>
          <p:nvPr/>
        </p:nvSpPr>
        <p:spPr bwMode="gray">
          <a:xfrm>
            <a:off x="814150" y="1892929"/>
            <a:ext cx="11032317" cy="1502235"/>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2" name="标题 1">
            <a:extLst>
              <a:ext uri="{FF2B5EF4-FFF2-40B4-BE49-F238E27FC236}">
                <a16:creationId xmlns:a16="http://schemas.microsoft.com/office/drawing/2014/main" id="{38B65AB1-832A-C238-BFCE-A8B2B83D7C0B}"/>
              </a:ext>
            </a:extLst>
          </p:cNvPr>
          <p:cNvSpPr>
            <a:spLocks noGrp="1"/>
          </p:cNvSpPr>
          <p:nvPr>
            <p:ph type="title"/>
          </p:nvPr>
        </p:nvSpPr>
        <p:spPr/>
        <p:txBody>
          <a:bodyPr/>
          <a:lstStyle/>
          <a:p>
            <a:r>
              <a:rPr lang="en-US" altLang="zh-CN" dirty="0"/>
              <a:t>Global and Asian timeline (China alone phase 1)</a:t>
            </a:r>
            <a:endParaRPr lang="zh-CN" altLang="en-US" dirty="0"/>
          </a:p>
        </p:txBody>
      </p:sp>
      <p:sp>
        <p:nvSpPr>
          <p:cNvPr id="4" name="页脚占位符 3">
            <a:extLst>
              <a:ext uri="{FF2B5EF4-FFF2-40B4-BE49-F238E27FC236}">
                <a16:creationId xmlns:a16="http://schemas.microsoft.com/office/drawing/2014/main" id="{CA57F57B-E1B5-09D0-6E50-94D7355CA4F7}"/>
              </a:ext>
            </a:extLst>
          </p:cNvPr>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5" name="灯片编号占位符 4">
            <a:extLst>
              <a:ext uri="{FF2B5EF4-FFF2-40B4-BE49-F238E27FC236}">
                <a16:creationId xmlns:a16="http://schemas.microsoft.com/office/drawing/2014/main" id="{95400268-2D26-43AD-117A-1A221ACA631E}"/>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2" name="文本框 11">
            <a:extLst>
              <a:ext uri="{FF2B5EF4-FFF2-40B4-BE49-F238E27FC236}">
                <a16:creationId xmlns:a16="http://schemas.microsoft.com/office/drawing/2014/main" id="{A669E9F8-B8CD-FB34-2268-CCB6A08F71B2}"/>
              </a:ext>
            </a:extLst>
          </p:cNvPr>
          <p:cNvSpPr txBox="1"/>
          <p:nvPr/>
        </p:nvSpPr>
        <p:spPr bwMode="gray">
          <a:xfrm>
            <a:off x="2341531" y="3719224"/>
            <a:ext cx="175967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Joint Pre-INA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 kick-off</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13" name="文本框 12">
            <a:extLst>
              <a:ext uri="{FF2B5EF4-FFF2-40B4-BE49-F238E27FC236}">
                <a16:creationId xmlns:a16="http://schemas.microsoft.com/office/drawing/2014/main" id="{E9BDBF60-BE28-AD20-38C1-B165C1379BEC}"/>
              </a:ext>
            </a:extLst>
          </p:cNvPr>
          <p:cNvSpPr txBox="1"/>
          <p:nvPr/>
        </p:nvSpPr>
        <p:spPr bwMode="gray">
          <a:xfrm>
            <a:off x="3527160" y="3719224"/>
            <a:ext cx="175967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Pre-IND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Sub.</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16" name="文本框 15">
            <a:extLst>
              <a:ext uri="{FF2B5EF4-FFF2-40B4-BE49-F238E27FC236}">
                <a16:creationId xmlns:a16="http://schemas.microsoft.com/office/drawing/2014/main" id="{14619DBC-FEC0-7F2E-880B-06CB6D8F821F}"/>
              </a:ext>
            </a:extLst>
          </p:cNvPr>
          <p:cNvSpPr txBox="1"/>
          <p:nvPr/>
        </p:nvSpPr>
        <p:spPr bwMode="gray">
          <a:xfrm>
            <a:off x="2443954" y="4043140"/>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06/01</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17" name="文本框 16">
            <a:extLst>
              <a:ext uri="{FF2B5EF4-FFF2-40B4-BE49-F238E27FC236}">
                <a16:creationId xmlns:a16="http://schemas.microsoft.com/office/drawing/2014/main" id="{013045C4-998F-EF37-5391-C253A51BA88B}"/>
              </a:ext>
            </a:extLst>
          </p:cNvPr>
          <p:cNvSpPr txBox="1"/>
          <p:nvPr/>
        </p:nvSpPr>
        <p:spPr bwMode="gray">
          <a:xfrm>
            <a:off x="3492478" y="4038121"/>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Sep/01</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20" name="文本框 19">
            <a:extLst>
              <a:ext uri="{FF2B5EF4-FFF2-40B4-BE49-F238E27FC236}">
                <a16:creationId xmlns:a16="http://schemas.microsoft.com/office/drawing/2014/main" id="{BA2C740D-617C-D59F-236E-CA0572792723}"/>
              </a:ext>
            </a:extLst>
          </p:cNvPr>
          <p:cNvSpPr txBox="1"/>
          <p:nvPr/>
        </p:nvSpPr>
        <p:spPr bwMode="gray">
          <a:xfrm>
            <a:off x="2879349" y="2625784"/>
            <a:ext cx="971076"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DG1 DEC</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21" name="文本框 20">
            <a:extLst>
              <a:ext uri="{FF2B5EF4-FFF2-40B4-BE49-F238E27FC236}">
                <a16:creationId xmlns:a16="http://schemas.microsoft.com/office/drawing/2014/main" id="{8D1BAD6C-6C9A-ED56-D3B5-3B40D52DA5AA}"/>
              </a:ext>
            </a:extLst>
          </p:cNvPr>
          <p:cNvSpPr txBox="1"/>
          <p:nvPr/>
        </p:nvSpPr>
        <p:spPr bwMode="gray">
          <a:xfrm>
            <a:off x="2988422" y="2821496"/>
            <a:ext cx="421714" cy="203943"/>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Jul/06</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22" name="文本框 21">
            <a:extLst>
              <a:ext uri="{FF2B5EF4-FFF2-40B4-BE49-F238E27FC236}">
                <a16:creationId xmlns:a16="http://schemas.microsoft.com/office/drawing/2014/main" id="{7A44840E-E76F-95CB-CF2D-9B29F8A99094}"/>
              </a:ext>
            </a:extLst>
          </p:cNvPr>
          <p:cNvSpPr txBox="1"/>
          <p:nvPr/>
        </p:nvSpPr>
        <p:spPr bwMode="gray">
          <a:xfrm>
            <a:off x="3737905" y="2629070"/>
            <a:ext cx="1268821"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DG2 DEC</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23" name="文本框 22">
            <a:extLst>
              <a:ext uri="{FF2B5EF4-FFF2-40B4-BE49-F238E27FC236}">
                <a16:creationId xmlns:a16="http://schemas.microsoft.com/office/drawing/2014/main" id="{33C9094D-6DEA-C336-CCFF-E34C84492F9D}"/>
              </a:ext>
            </a:extLst>
          </p:cNvPr>
          <p:cNvSpPr txBox="1"/>
          <p:nvPr/>
        </p:nvSpPr>
        <p:spPr bwMode="gray">
          <a:xfrm>
            <a:off x="3775707" y="2826048"/>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Oct/19</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30" name="テキスト ボックス 75">
            <a:extLst>
              <a:ext uri="{FF2B5EF4-FFF2-40B4-BE49-F238E27FC236}">
                <a16:creationId xmlns:a16="http://schemas.microsoft.com/office/drawing/2014/main" id="{99ABBA36-AF3C-597A-6329-B554C630F546}"/>
              </a:ext>
            </a:extLst>
          </p:cNvPr>
          <p:cNvSpPr txBox="1"/>
          <p:nvPr/>
        </p:nvSpPr>
        <p:spPr bwMode="gray">
          <a:xfrm>
            <a:off x="3810567" y="5471904"/>
            <a:ext cx="745060" cy="30777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Boehringer Forward Text"/>
                <a:ea typeface="+mn-ea"/>
                <a:cs typeface="+mn-cs"/>
              </a:rPr>
              <a:t>PMDA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Boehringer Forward Text"/>
                <a:ea typeface="+mn-ea"/>
                <a:cs typeface="+mn-cs"/>
              </a:rPr>
              <a:t>Pre-IND Sub.</a:t>
            </a:r>
          </a:p>
        </p:txBody>
      </p:sp>
      <p:sp>
        <p:nvSpPr>
          <p:cNvPr id="33" name="文本框 32">
            <a:extLst>
              <a:ext uri="{FF2B5EF4-FFF2-40B4-BE49-F238E27FC236}">
                <a16:creationId xmlns:a16="http://schemas.microsoft.com/office/drawing/2014/main" id="{D6007A3E-D5B6-5AC5-2FD5-BE519E42EEE4}"/>
              </a:ext>
            </a:extLst>
          </p:cNvPr>
          <p:cNvSpPr txBox="1"/>
          <p:nvPr/>
        </p:nvSpPr>
        <p:spPr bwMode="gray">
          <a:xfrm>
            <a:off x="1832458" y="1463040"/>
            <a:ext cx="1303934" cy="315920"/>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Boehringer Forward Text"/>
                <a:ea typeface="+mn-ea"/>
                <a:cs typeface="+mn-cs"/>
              </a:rPr>
              <a:t>TDO?</a:t>
            </a:r>
            <a:endParaRPr kumimoji="0" lang="zh-CN" altLang="en-US" sz="1600" b="0" i="0" u="none" strike="noStrike" kern="1200" cap="none" spc="0" normalizeH="0" baseline="0" noProof="0" dirty="0">
              <a:ln>
                <a:noFill/>
              </a:ln>
              <a:solidFill>
                <a:prstClr val="black"/>
              </a:solidFill>
              <a:effectLst/>
              <a:uLnTx/>
              <a:uFillTx/>
              <a:latin typeface="Boehringer Forward Text"/>
              <a:ea typeface="+mn-ea"/>
              <a:cs typeface="+mn-cs"/>
            </a:endParaRPr>
          </a:p>
        </p:txBody>
      </p:sp>
      <p:graphicFrame>
        <p:nvGraphicFramePr>
          <p:cNvPr id="7" name="表格 6">
            <a:extLst>
              <a:ext uri="{FF2B5EF4-FFF2-40B4-BE49-F238E27FC236}">
                <a16:creationId xmlns:a16="http://schemas.microsoft.com/office/drawing/2014/main" id="{2F867DED-048B-3B33-D5D6-A678E61D5042}"/>
              </a:ext>
            </a:extLst>
          </p:cNvPr>
          <p:cNvGraphicFramePr>
            <a:graphicFrameLocks noGrp="1"/>
          </p:cNvGraphicFramePr>
          <p:nvPr/>
        </p:nvGraphicFramePr>
        <p:xfrm>
          <a:off x="795866" y="1514752"/>
          <a:ext cx="11032316" cy="365760"/>
        </p:xfrm>
        <a:graphic>
          <a:graphicData uri="http://schemas.openxmlformats.org/drawingml/2006/table">
            <a:tbl>
              <a:tblPr firstRow="1" bandRow="1">
                <a:tableStyleId>{5C22544A-7EE6-4342-B048-85BDC9FD1C3A}</a:tableStyleId>
              </a:tblPr>
              <a:tblGrid>
                <a:gridCol w="4032988">
                  <a:extLst>
                    <a:ext uri="{9D8B030D-6E8A-4147-A177-3AD203B41FA5}">
                      <a16:colId xmlns:a16="http://schemas.microsoft.com/office/drawing/2014/main" val="56726269"/>
                    </a:ext>
                  </a:extLst>
                </a:gridCol>
                <a:gridCol w="3575407">
                  <a:extLst>
                    <a:ext uri="{9D8B030D-6E8A-4147-A177-3AD203B41FA5}">
                      <a16:colId xmlns:a16="http://schemas.microsoft.com/office/drawing/2014/main" val="2233752849"/>
                    </a:ext>
                  </a:extLst>
                </a:gridCol>
                <a:gridCol w="1191802">
                  <a:extLst>
                    <a:ext uri="{9D8B030D-6E8A-4147-A177-3AD203B41FA5}">
                      <a16:colId xmlns:a16="http://schemas.microsoft.com/office/drawing/2014/main" val="2231401120"/>
                    </a:ext>
                  </a:extLst>
                </a:gridCol>
                <a:gridCol w="1160980">
                  <a:extLst>
                    <a:ext uri="{9D8B030D-6E8A-4147-A177-3AD203B41FA5}">
                      <a16:colId xmlns:a16="http://schemas.microsoft.com/office/drawing/2014/main" val="1323505150"/>
                    </a:ext>
                  </a:extLst>
                </a:gridCol>
                <a:gridCol w="1071139">
                  <a:extLst>
                    <a:ext uri="{9D8B030D-6E8A-4147-A177-3AD203B41FA5}">
                      <a16:colId xmlns:a16="http://schemas.microsoft.com/office/drawing/2014/main" val="1196461059"/>
                    </a:ext>
                  </a:extLst>
                </a:gridCol>
              </a:tblGrid>
              <a:tr h="348622">
                <a:tc>
                  <a:txBody>
                    <a:bodyPr/>
                    <a:lstStyle/>
                    <a:p>
                      <a:pPr algn="ctr"/>
                      <a:r>
                        <a:rPr lang="en-US" altLang="zh-CN" dirty="0"/>
                        <a:t>2026</a:t>
                      </a:r>
                      <a:endParaRPr lang="zh-CN" altLang="en-US" dirty="0"/>
                    </a:p>
                  </a:txBody>
                  <a:tcPr>
                    <a:solidFill>
                      <a:schemeClr val="bg2"/>
                    </a:solidFill>
                  </a:tcPr>
                </a:tc>
                <a:tc>
                  <a:txBody>
                    <a:bodyPr/>
                    <a:lstStyle/>
                    <a:p>
                      <a:pPr algn="ctr"/>
                      <a:r>
                        <a:rPr lang="en-US" altLang="zh-CN" dirty="0"/>
                        <a:t>2027</a:t>
                      </a:r>
                      <a:endParaRPr lang="zh-CN" altLang="en-US" dirty="0"/>
                    </a:p>
                  </a:txBody>
                  <a:tcPr>
                    <a:solidFill>
                      <a:schemeClr val="bg2"/>
                    </a:solidFill>
                  </a:tcPr>
                </a:tc>
                <a:tc>
                  <a:txBody>
                    <a:bodyPr/>
                    <a:lstStyle/>
                    <a:p>
                      <a:pPr algn="ctr"/>
                      <a:r>
                        <a:rPr lang="en-US" altLang="zh-CN" dirty="0"/>
                        <a:t>2028</a:t>
                      </a:r>
                      <a:endParaRPr lang="zh-CN" altLang="en-US" dirty="0"/>
                    </a:p>
                  </a:txBody>
                  <a:tcPr>
                    <a:solidFill>
                      <a:schemeClr val="bg2"/>
                    </a:solidFill>
                  </a:tcPr>
                </a:tc>
                <a:tc>
                  <a:txBody>
                    <a:bodyPr/>
                    <a:lstStyle/>
                    <a:p>
                      <a:pPr algn="ctr"/>
                      <a:r>
                        <a:rPr lang="en-US" altLang="zh-CN" dirty="0"/>
                        <a:t>2029</a:t>
                      </a:r>
                      <a:endParaRPr lang="zh-CN" altLang="en-US" dirty="0"/>
                    </a:p>
                  </a:txBody>
                  <a:tcPr>
                    <a:solidFill>
                      <a:schemeClr val="bg2"/>
                    </a:solidFill>
                  </a:tcPr>
                </a:tc>
                <a:tc>
                  <a:txBody>
                    <a:bodyPr/>
                    <a:lstStyle/>
                    <a:p>
                      <a:pPr algn="ctr"/>
                      <a:r>
                        <a:rPr lang="en-US" altLang="zh-CN" dirty="0"/>
                        <a:t>2030</a:t>
                      </a:r>
                      <a:endParaRPr lang="zh-CN" altLang="en-US" dirty="0"/>
                    </a:p>
                  </a:txBody>
                  <a:tcPr>
                    <a:solidFill>
                      <a:schemeClr val="bg2"/>
                    </a:solidFill>
                  </a:tcPr>
                </a:tc>
                <a:extLst>
                  <a:ext uri="{0D108BD9-81ED-4DB2-BD59-A6C34878D82A}">
                    <a16:rowId xmlns:a16="http://schemas.microsoft.com/office/drawing/2014/main" val="2529309601"/>
                  </a:ext>
                </a:extLst>
              </a:tr>
            </a:tbl>
          </a:graphicData>
        </a:graphic>
      </p:graphicFrame>
      <p:sp>
        <p:nvSpPr>
          <p:cNvPr id="8" name="矩形 7">
            <a:extLst>
              <a:ext uri="{FF2B5EF4-FFF2-40B4-BE49-F238E27FC236}">
                <a16:creationId xmlns:a16="http://schemas.microsoft.com/office/drawing/2014/main" id="{A03175BA-B3F9-8F99-D0DB-729D53AFDABB}"/>
              </a:ext>
            </a:extLst>
          </p:cNvPr>
          <p:cNvSpPr/>
          <p:nvPr/>
        </p:nvSpPr>
        <p:spPr bwMode="gray">
          <a:xfrm>
            <a:off x="1109610" y="2119861"/>
            <a:ext cx="4243104" cy="476054"/>
          </a:xfrm>
          <a:prstGeom prst="rect">
            <a:avLst/>
          </a:prstGeom>
          <a:solidFill>
            <a:schemeClr val="accent1">
              <a:lumMod val="75000"/>
              <a:lumOff val="25000"/>
            </a:schemeClr>
          </a:solidFill>
          <a:ln/>
          <a:effectLst>
            <a:innerShdw blurRad="63500" dist="50800" dir="16200000">
              <a:prstClr val="black">
                <a:alpha val="50000"/>
              </a:prstClr>
            </a:innerShdw>
          </a:effectLst>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prstClr val="white"/>
                </a:solidFill>
                <a:effectLst/>
                <a:uLnTx/>
                <a:uFillTx/>
                <a:latin typeface="Boehringer Forward Text"/>
                <a:ea typeface="+mn-ea"/>
                <a:cs typeface="+mn-cs"/>
              </a:rPr>
              <a:t>1517-0002 (Ph2a)     </a:t>
            </a:r>
            <a:r>
              <a:rPr kumimoji="0" lang="en-US" altLang="zh-CN" sz="1000" b="0" i="0" u="none" strike="noStrike" kern="1200" cap="none" spc="0" normalizeH="0" baseline="0" noProof="0" dirty="0">
                <a:ln>
                  <a:noFill/>
                </a:ln>
                <a:solidFill>
                  <a:prstClr val="white"/>
                </a:solidFill>
                <a:effectLst/>
                <a:uLnTx/>
                <a:uFillTx/>
                <a:latin typeface="Boehringer Forward Text"/>
                <a:ea typeface="+mn-ea"/>
                <a:cs typeface="+mn-cs"/>
              </a:rPr>
              <a:t>FSS~LSO: 2026/Jan~2027/Feb</a:t>
            </a:r>
            <a:endParaRPr kumimoji="0" lang="zh-CN" altLang="en-US" sz="1000" b="0" i="0" u="none" strike="noStrike" kern="1200" cap="none" spc="0" normalizeH="0" baseline="0" noProof="0" dirty="0">
              <a:ln>
                <a:noFill/>
              </a:ln>
              <a:solidFill>
                <a:prstClr val="white"/>
              </a:solidFill>
              <a:effectLst/>
              <a:uLnTx/>
              <a:uFillTx/>
              <a:latin typeface="Boehringer Forward Text"/>
              <a:ea typeface="+mn-ea"/>
              <a:cs typeface="+mn-cs"/>
            </a:endParaRPr>
          </a:p>
        </p:txBody>
      </p:sp>
      <p:sp>
        <p:nvSpPr>
          <p:cNvPr id="9" name="文本框 8">
            <a:extLst>
              <a:ext uri="{FF2B5EF4-FFF2-40B4-BE49-F238E27FC236}">
                <a16:creationId xmlns:a16="http://schemas.microsoft.com/office/drawing/2014/main" id="{19EAA588-C25E-FB21-F474-F65FBE40C6A5}"/>
              </a:ext>
            </a:extLst>
          </p:cNvPr>
          <p:cNvSpPr txBox="1"/>
          <p:nvPr/>
        </p:nvSpPr>
        <p:spPr bwMode="gray">
          <a:xfrm>
            <a:off x="5660086" y="2619369"/>
            <a:ext cx="1268821"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Key results</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24" name="文本框 23">
            <a:extLst>
              <a:ext uri="{FF2B5EF4-FFF2-40B4-BE49-F238E27FC236}">
                <a16:creationId xmlns:a16="http://schemas.microsoft.com/office/drawing/2014/main" id="{37CFB4EF-0CFB-782F-5FCF-1C55E34A650E}"/>
              </a:ext>
            </a:extLst>
          </p:cNvPr>
          <p:cNvSpPr txBox="1"/>
          <p:nvPr/>
        </p:nvSpPr>
        <p:spPr bwMode="gray">
          <a:xfrm>
            <a:off x="5723774" y="2826048"/>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Apr/15</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35" name="矩形 34">
            <a:extLst>
              <a:ext uri="{FF2B5EF4-FFF2-40B4-BE49-F238E27FC236}">
                <a16:creationId xmlns:a16="http://schemas.microsoft.com/office/drawing/2014/main" id="{6EC4DDC0-E0E0-314F-D8B6-4A9FB9A8E7CA}"/>
              </a:ext>
            </a:extLst>
          </p:cNvPr>
          <p:cNvSpPr/>
          <p:nvPr/>
        </p:nvSpPr>
        <p:spPr bwMode="gray">
          <a:xfrm>
            <a:off x="6390248" y="4276894"/>
            <a:ext cx="2078971" cy="482684"/>
          </a:xfrm>
          <a:prstGeom prst="rect">
            <a:avLst/>
          </a:prstGeom>
          <a:solidFill>
            <a:schemeClr val="accent1">
              <a:lumMod val="75000"/>
              <a:lumOff val="25000"/>
            </a:schemeClr>
          </a:solidFill>
          <a:ln>
            <a:solidFill>
              <a:schemeClr val="accent6">
                <a:lumMod val="50000"/>
              </a:schemeClr>
            </a:solidFill>
          </a:ln>
          <a:effectLst>
            <a:innerShdw blurRad="63500" dist="50800" dir="16200000">
              <a:prstClr val="black">
                <a:alpha val="50000"/>
              </a:prstClr>
            </a:innerShdw>
          </a:effectLst>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white"/>
                </a:solidFill>
                <a:effectLst/>
                <a:uLnTx/>
                <a:uFillTx/>
                <a:latin typeface="Boehringer Forward Text"/>
                <a:ea typeface="+mn-ea"/>
                <a:cs typeface="+mn-cs"/>
              </a:rPr>
              <a:t>China Phase 1     </a:t>
            </a:r>
            <a:r>
              <a:rPr kumimoji="0" lang="en-US" altLang="zh-CN" sz="800" b="0" i="0" u="none" strike="noStrike" kern="1200" cap="none" spc="0" normalizeH="0" baseline="0" noProof="0" dirty="0">
                <a:ln>
                  <a:noFill/>
                </a:ln>
                <a:solidFill>
                  <a:prstClr val="white"/>
                </a:solidFill>
                <a:effectLst/>
                <a:uLnTx/>
                <a:uFillTx/>
                <a:latin typeface="Boehringer Forward Text"/>
                <a:ea typeface="+mn-ea"/>
                <a:cs typeface="+mn-cs"/>
              </a:rPr>
              <a:t>FSS~LSO: 2027/Jun~2028/Feb</a:t>
            </a:r>
            <a:endParaRPr kumimoji="0" lang="zh-CN" altLang="en-US" sz="800" b="0" i="0" u="none" strike="noStrike" kern="1200" cap="none" spc="0" normalizeH="0" baseline="0" noProof="0" dirty="0">
              <a:ln>
                <a:noFill/>
              </a:ln>
              <a:solidFill>
                <a:prstClr val="white"/>
              </a:solidFill>
              <a:effectLst/>
              <a:uLnTx/>
              <a:uFillTx/>
              <a:latin typeface="Boehringer Forward Text"/>
              <a:ea typeface="+mn-ea"/>
              <a:cs typeface="+mn-cs"/>
            </a:endParaRPr>
          </a:p>
        </p:txBody>
      </p:sp>
      <p:sp>
        <p:nvSpPr>
          <p:cNvPr id="41" name="矩形 40">
            <a:extLst>
              <a:ext uri="{FF2B5EF4-FFF2-40B4-BE49-F238E27FC236}">
                <a16:creationId xmlns:a16="http://schemas.microsoft.com/office/drawing/2014/main" id="{F09C8491-8F41-9CF3-B3EB-FB8E7B09EB32}"/>
              </a:ext>
            </a:extLst>
          </p:cNvPr>
          <p:cNvSpPr/>
          <p:nvPr/>
        </p:nvSpPr>
        <p:spPr bwMode="gray">
          <a:xfrm>
            <a:off x="47353" y="1880512"/>
            <a:ext cx="709655" cy="1466901"/>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white"/>
                </a:solidFill>
                <a:effectLst/>
                <a:uLnTx/>
                <a:uFillTx/>
                <a:latin typeface="Boehringer Forward Text"/>
                <a:ea typeface="+mn-ea"/>
                <a:cs typeface="+mn-cs"/>
              </a:rPr>
              <a:t>global</a:t>
            </a:r>
            <a:endParaRPr kumimoji="0" lang="zh-CN" altLang="en-US" sz="1200" b="0" i="0" u="none" strike="noStrike" kern="1200" cap="none" spc="0" normalizeH="0" baseline="0" noProof="0" dirty="0">
              <a:ln>
                <a:noFill/>
              </a:ln>
              <a:solidFill>
                <a:prstClr val="white"/>
              </a:solidFill>
              <a:effectLst/>
              <a:uLnTx/>
              <a:uFillTx/>
              <a:latin typeface="Boehringer Forward Text"/>
              <a:ea typeface="+mn-ea"/>
              <a:cs typeface="+mn-cs"/>
            </a:endParaRPr>
          </a:p>
        </p:txBody>
      </p:sp>
      <p:sp>
        <p:nvSpPr>
          <p:cNvPr id="42" name="矩形 41">
            <a:extLst>
              <a:ext uri="{FF2B5EF4-FFF2-40B4-BE49-F238E27FC236}">
                <a16:creationId xmlns:a16="http://schemas.microsoft.com/office/drawing/2014/main" id="{70E70836-5CAF-D051-F9C2-98F0317A62CE}"/>
              </a:ext>
            </a:extLst>
          </p:cNvPr>
          <p:cNvSpPr/>
          <p:nvPr/>
        </p:nvSpPr>
        <p:spPr bwMode="gray">
          <a:xfrm>
            <a:off x="59119" y="3429000"/>
            <a:ext cx="697889" cy="139345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white"/>
                </a:solidFill>
                <a:effectLst/>
                <a:uLnTx/>
                <a:uFillTx/>
                <a:latin typeface="Boehringer Forward Text"/>
                <a:ea typeface="+mn-ea"/>
                <a:cs typeface="+mn-cs"/>
              </a:rPr>
              <a:t>China</a:t>
            </a:r>
            <a:endParaRPr kumimoji="0" lang="zh-CN" altLang="en-US" sz="1200" b="0" i="0" u="none" strike="noStrike" kern="1200" cap="none" spc="0" normalizeH="0" baseline="0" noProof="0" dirty="0">
              <a:ln>
                <a:noFill/>
              </a:ln>
              <a:solidFill>
                <a:prstClr val="white"/>
              </a:solidFill>
              <a:effectLst/>
              <a:uLnTx/>
              <a:uFillTx/>
              <a:latin typeface="Boehringer Forward Text"/>
              <a:ea typeface="+mn-ea"/>
              <a:cs typeface="+mn-cs"/>
            </a:endParaRPr>
          </a:p>
        </p:txBody>
      </p:sp>
      <p:sp>
        <p:nvSpPr>
          <p:cNvPr id="43" name="矩形 42">
            <a:extLst>
              <a:ext uri="{FF2B5EF4-FFF2-40B4-BE49-F238E27FC236}">
                <a16:creationId xmlns:a16="http://schemas.microsoft.com/office/drawing/2014/main" id="{26AB73D1-5284-531B-2E77-E043A2DD804C}"/>
              </a:ext>
            </a:extLst>
          </p:cNvPr>
          <p:cNvSpPr/>
          <p:nvPr/>
        </p:nvSpPr>
        <p:spPr bwMode="gray">
          <a:xfrm>
            <a:off x="47353" y="4861665"/>
            <a:ext cx="697889" cy="1466901"/>
          </a:xfrm>
          <a:prstGeom prst="rect">
            <a:avLst/>
          </a:prstGeom>
          <a:solidFill>
            <a:schemeClr val="accent6">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white"/>
                </a:solidFill>
                <a:effectLst/>
                <a:uLnTx/>
                <a:uFillTx/>
                <a:latin typeface="Boehringer Forward Text"/>
                <a:ea typeface="+mn-ea"/>
                <a:cs typeface="+mn-cs"/>
              </a:rPr>
              <a:t>Japan</a:t>
            </a:r>
            <a:endParaRPr kumimoji="0" lang="zh-CN" altLang="en-US" sz="1200" b="0" i="0" u="none" strike="noStrike" kern="1200" cap="none" spc="0" normalizeH="0" baseline="0" noProof="0" dirty="0">
              <a:ln>
                <a:noFill/>
              </a:ln>
              <a:solidFill>
                <a:prstClr val="white"/>
              </a:solidFill>
              <a:effectLst/>
              <a:uLnTx/>
              <a:uFillTx/>
              <a:latin typeface="Boehringer Forward Text"/>
              <a:ea typeface="+mn-ea"/>
              <a:cs typeface="+mn-cs"/>
            </a:endParaRPr>
          </a:p>
        </p:txBody>
      </p:sp>
      <p:sp>
        <p:nvSpPr>
          <p:cNvPr id="44" name="文本框 43">
            <a:extLst>
              <a:ext uri="{FF2B5EF4-FFF2-40B4-BE49-F238E27FC236}">
                <a16:creationId xmlns:a16="http://schemas.microsoft.com/office/drawing/2014/main" id="{FB17D45A-ACF8-6BF7-29FF-91ED4ACF2F43}"/>
              </a:ext>
            </a:extLst>
          </p:cNvPr>
          <p:cNvSpPr txBox="1"/>
          <p:nvPr/>
        </p:nvSpPr>
        <p:spPr bwMode="gray">
          <a:xfrm>
            <a:off x="4167337" y="3719113"/>
            <a:ext cx="823004"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CDE feedback</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45" name="文本框 44">
            <a:extLst>
              <a:ext uri="{FF2B5EF4-FFF2-40B4-BE49-F238E27FC236}">
                <a16:creationId xmlns:a16="http://schemas.microsoft.com/office/drawing/2014/main" id="{79B50AA9-3B12-36F6-3039-9462EEB19BA1}"/>
              </a:ext>
            </a:extLst>
          </p:cNvPr>
          <p:cNvSpPr txBox="1"/>
          <p:nvPr/>
        </p:nvSpPr>
        <p:spPr bwMode="gray">
          <a:xfrm>
            <a:off x="4105364" y="4033102"/>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Dec/01</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76" name="矩形 75">
            <a:extLst>
              <a:ext uri="{FF2B5EF4-FFF2-40B4-BE49-F238E27FC236}">
                <a16:creationId xmlns:a16="http://schemas.microsoft.com/office/drawing/2014/main" id="{EEEB5433-67FF-36E7-CB82-77FAD6D99664}"/>
              </a:ext>
            </a:extLst>
          </p:cNvPr>
          <p:cNvSpPr/>
          <p:nvPr/>
        </p:nvSpPr>
        <p:spPr bwMode="gray">
          <a:xfrm>
            <a:off x="8404261" y="2123246"/>
            <a:ext cx="2539193" cy="476054"/>
          </a:xfrm>
          <a:prstGeom prst="rect">
            <a:avLst/>
          </a:prstGeom>
          <a:solidFill>
            <a:schemeClr val="accent1">
              <a:lumMod val="75000"/>
              <a:lumOff val="25000"/>
            </a:schemeClr>
          </a:solidFill>
          <a:ln/>
          <a:effectLst>
            <a:innerShdw blurRad="63500" dist="50800" dir="16200000">
              <a:prstClr val="black">
                <a:alpha val="50000"/>
              </a:prstClr>
            </a:innerShdw>
          </a:effectLst>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prstClr val="white"/>
                </a:solidFill>
                <a:effectLst/>
                <a:uLnTx/>
                <a:uFillTx/>
                <a:latin typeface="Boehringer Forward Text"/>
                <a:ea typeface="+mn-ea"/>
                <a:cs typeface="+mn-cs"/>
              </a:rPr>
              <a:t>1517-0008 (Ph2b)     </a:t>
            </a:r>
            <a:r>
              <a:rPr kumimoji="0" lang="en-US" altLang="zh-CN" sz="1000" b="0" i="0" u="none" strike="noStrike" kern="1200" cap="none" spc="0" normalizeH="0" baseline="0" noProof="0" dirty="0">
                <a:ln>
                  <a:noFill/>
                </a:ln>
                <a:solidFill>
                  <a:prstClr val="white"/>
                </a:solidFill>
                <a:effectLst/>
                <a:uLnTx/>
                <a:uFillTx/>
                <a:latin typeface="Boehringer Forward Text"/>
                <a:ea typeface="+mn-ea"/>
                <a:cs typeface="+mn-cs"/>
              </a:rPr>
              <a:t>FSS~LSO: 2028/Jan ~2030/Feb</a:t>
            </a:r>
            <a:endParaRPr kumimoji="0" lang="zh-CN" altLang="en-US" sz="1000" b="0" i="0" u="none" strike="noStrike" kern="1200" cap="none" spc="0" normalizeH="0" baseline="0" noProof="0" dirty="0">
              <a:ln>
                <a:noFill/>
              </a:ln>
              <a:solidFill>
                <a:prstClr val="white"/>
              </a:solidFill>
              <a:effectLst/>
              <a:uLnTx/>
              <a:uFillTx/>
              <a:latin typeface="Boehringer Forward Text"/>
              <a:ea typeface="+mn-ea"/>
              <a:cs typeface="+mn-cs"/>
            </a:endParaRPr>
          </a:p>
        </p:txBody>
      </p:sp>
      <p:sp>
        <p:nvSpPr>
          <p:cNvPr id="3" name="文本框 2">
            <a:extLst>
              <a:ext uri="{FF2B5EF4-FFF2-40B4-BE49-F238E27FC236}">
                <a16:creationId xmlns:a16="http://schemas.microsoft.com/office/drawing/2014/main" id="{D9A61E9D-5B96-7DF9-6861-3461B86355CB}"/>
              </a:ext>
            </a:extLst>
          </p:cNvPr>
          <p:cNvSpPr txBox="1"/>
          <p:nvPr/>
        </p:nvSpPr>
        <p:spPr bwMode="gray">
          <a:xfrm>
            <a:off x="66230" y="909098"/>
            <a:ext cx="7781544" cy="315920"/>
          </a:xfrm>
          <a:prstGeom prst="rect">
            <a:avLst/>
          </a:prstGeom>
          <a:noFill/>
        </p:spPr>
        <p:txBody>
          <a:bodyPr wrap="square" lIns="0" tIns="0" rIns="0" bIns="0" rtlCol="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Scenario </a:t>
            </a:r>
            <a:r>
              <a:rPr lang="en-US" altLang="zh-CN" sz="1600">
                <a:solidFill>
                  <a:prstClr val="black"/>
                </a:solidFill>
                <a:latin typeface="Boehringer Forward Text"/>
              </a:rPr>
              <a:t>3</a:t>
            </a: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  only CDE request the Asian data before joining phase 2b</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 name="テキスト ボックス 10">
            <a:extLst>
              <a:ext uri="{FF2B5EF4-FFF2-40B4-BE49-F238E27FC236}">
                <a16:creationId xmlns:a16="http://schemas.microsoft.com/office/drawing/2014/main" id="{CD7E5584-5594-E7FF-F7DD-9B3A72385EA7}"/>
              </a:ext>
            </a:extLst>
          </p:cNvPr>
          <p:cNvSpPr txBox="1"/>
          <p:nvPr/>
        </p:nvSpPr>
        <p:spPr bwMode="gray">
          <a:xfrm>
            <a:off x="6312023" y="2579617"/>
            <a:ext cx="1475694" cy="289759"/>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Boehringer Forward Text"/>
                <a:ea typeface="+mn-ea"/>
                <a:cs typeface="+mn-cs"/>
              </a:rPr>
              <a:t>Type C Meeting </a:t>
            </a:r>
          </a:p>
        </p:txBody>
      </p:sp>
      <p:sp>
        <p:nvSpPr>
          <p:cNvPr id="26" name="文本框 25">
            <a:extLst>
              <a:ext uri="{FF2B5EF4-FFF2-40B4-BE49-F238E27FC236}">
                <a16:creationId xmlns:a16="http://schemas.microsoft.com/office/drawing/2014/main" id="{1FAC5DDE-1E67-CA31-982D-4E49885C922A}"/>
              </a:ext>
            </a:extLst>
          </p:cNvPr>
          <p:cNvSpPr txBox="1"/>
          <p:nvPr/>
        </p:nvSpPr>
        <p:spPr bwMode="gray">
          <a:xfrm>
            <a:off x="6442086" y="2782085"/>
            <a:ext cx="1065046" cy="289759"/>
          </a:xfrm>
          <a:prstGeom prst="rect">
            <a:avLst/>
          </a:prstGeom>
          <a:noFill/>
        </p:spPr>
        <p:txBody>
          <a:bodyPr wrap="square">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Boehringer Forward Text"/>
                <a:ea typeface="+mn-ea"/>
                <a:cs typeface="+mn-cs"/>
              </a:rPr>
              <a:t>Jun</a:t>
            </a:r>
          </a:p>
        </p:txBody>
      </p:sp>
      <p:sp>
        <p:nvSpPr>
          <p:cNvPr id="27" name="二等辺三角形 7">
            <a:extLst>
              <a:ext uri="{FF2B5EF4-FFF2-40B4-BE49-F238E27FC236}">
                <a16:creationId xmlns:a16="http://schemas.microsoft.com/office/drawing/2014/main" id="{DFC924BF-B592-969C-795F-0A98AE664444}"/>
              </a:ext>
            </a:extLst>
          </p:cNvPr>
          <p:cNvSpPr/>
          <p:nvPr/>
        </p:nvSpPr>
        <p:spPr bwMode="gray">
          <a:xfrm>
            <a:off x="3120181" y="3094506"/>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 name="二等辺三角形 7">
            <a:extLst>
              <a:ext uri="{FF2B5EF4-FFF2-40B4-BE49-F238E27FC236}">
                <a16:creationId xmlns:a16="http://schemas.microsoft.com/office/drawing/2014/main" id="{B64F88F3-7C9D-B2F3-DEBA-CC318ED63E08}"/>
              </a:ext>
            </a:extLst>
          </p:cNvPr>
          <p:cNvSpPr/>
          <p:nvPr/>
        </p:nvSpPr>
        <p:spPr bwMode="gray">
          <a:xfrm>
            <a:off x="3868347" y="3091877"/>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2" name="二等辺三角形 7">
            <a:extLst>
              <a:ext uri="{FF2B5EF4-FFF2-40B4-BE49-F238E27FC236}">
                <a16:creationId xmlns:a16="http://schemas.microsoft.com/office/drawing/2014/main" id="{8A2B7323-849E-9792-04A6-3B0053082875}"/>
              </a:ext>
            </a:extLst>
          </p:cNvPr>
          <p:cNvSpPr/>
          <p:nvPr/>
        </p:nvSpPr>
        <p:spPr bwMode="gray">
          <a:xfrm>
            <a:off x="6684571" y="3099882"/>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4" name="二等辺三角形 7">
            <a:extLst>
              <a:ext uri="{FF2B5EF4-FFF2-40B4-BE49-F238E27FC236}">
                <a16:creationId xmlns:a16="http://schemas.microsoft.com/office/drawing/2014/main" id="{312C8CB3-BA87-7DBE-2B77-FFFF736A4E3D}"/>
              </a:ext>
            </a:extLst>
          </p:cNvPr>
          <p:cNvSpPr/>
          <p:nvPr/>
        </p:nvSpPr>
        <p:spPr bwMode="gray">
          <a:xfrm>
            <a:off x="5808242" y="3098384"/>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6" name="二等辺三角形 7">
            <a:extLst>
              <a:ext uri="{FF2B5EF4-FFF2-40B4-BE49-F238E27FC236}">
                <a16:creationId xmlns:a16="http://schemas.microsoft.com/office/drawing/2014/main" id="{814C4A49-512E-4FB3-7765-4B7E0621C0F6}"/>
              </a:ext>
            </a:extLst>
          </p:cNvPr>
          <p:cNvSpPr/>
          <p:nvPr/>
        </p:nvSpPr>
        <p:spPr bwMode="gray">
          <a:xfrm>
            <a:off x="2608389" y="4289902"/>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7" name="二等辺三角形 7">
            <a:extLst>
              <a:ext uri="{FF2B5EF4-FFF2-40B4-BE49-F238E27FC236}">
                <a16:creationId xmlns:a16="http://schemas.microsoft.com/office/drawing/2014/main" id="{AFE20E57-1B95-6371-C38E-02945A411BD7}"/>
              </a:ext>
            </a:extLst>
          </p:cNvPr>
          <p:cNvSpPr/>
          <p:nvPr/>
        </p:nvSpPr>
        <p:spPr bwMode="gray">
          <a:xfrm>
            <a:off x="3711602" y="4272297"/>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8" name="二等辺三角形 7">
            <a:extLst>
              <a:ext uri="{FF2B5EF4-FFF2-40B4-BE49-F238E27FC236}">
                <a16:creationId xmlns:a16="http://schemas.microsoft.com/office/drawing/2014/main" id="{8A32F1FD-339C-F87E-C98F-E9C3F54B0943}"/>
              </a:ext>
            </a:extLst>
          </p:cNvPr>
          <p:cNvSpPr/>
          <p:nvPr/>
        </p:nvSpPr>
        <p:spPr bwMode="gray">
          <a:xfrm>
            <a:off x="4350201" y="4266956"/>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0" name="文本框 39">
            <a:extLst>
              <a:ext uri="{FF2B5EF4-FFF2-40B4-BE49-F238E27FC236}">
                <a16:creationId xmlns:a16="http://schemas.microsoft.com/office/drawing/2014/main" id="{CE9AE522-8D41-4772-11FD-4F6266852B22}"/>
              </a:ext>
            </a:extLst>
          </p:cNvPr>
          <p:cNvSpPr txBox="1"/>
          <p:nvPr/>
        </p:nvSpPr>
        <p:spPr bwMode="gray">
          <a:xfrm>
            <a:off x="4756789" y="4033102"/>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Jan/05</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46" name="二等辺三角形 7">
            <a:extLst>
              <a:ext uri="{FF2B5EF4-FFF2-40B4-BE49-F238E27FC236}">
                <a16:creationId xmlns:a16="http://schemas.microsoft.com/office/drawing/2014/main" id="{10B5395E-DCDC-FBFD-0FA8-1E23E9D6CB9C}"/>
              </a:ext>
            </a:extLst>
          </p:cNvPr>
          <p:cNvSpPr/>
          <p:nvPr/>
        </p:nvSpPr>
        <p:spPr bwMode="gray">
          <a:xfrm>
            <a:off x="4871610" y="4274974"/>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1" name="文本框 50">
            <a:extLst>
              <a:ext uri="{FF2B5EF4-FFF2-40B4-BE49-F238E27FC236}">
                <a16:creationId xmlns:a16="http://schemas.microsoft.com/office/drawing/2014/main" id="{62E5BE68-1E91-4A7F-304D-40F96BA7B92E}"/>
              </a:ext>
            </a:extLst>
          </p:cNvPr>
          <p:cNvSpPr txBox="1"/>
          <p:nvPr/>
        </p:nvSpPr>
        <p:spPr bwMode="gray">
          <a:xfrm>
            <a:off x="2949694" y="5694567"/>
            <a:ext cx="2494171" cy="301301"/>
          </a:xfrm>
          <a:prstGeom prst="rect">
            <a:avLst/>
          </a:prstGeom>
          <a:noFill/>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Boehringer Forward Text"/>
                <a:ea typeface="Meiryo UI"/>
                <a:cs typeface="+mn-cs"/>
              </a:rPr>
              <a:t> Nov/09</a:t>
            </a:r>
            <a:endParaRPr kumimoji="1" lang="ja-JP" altLang="en-US" sz="1000" b="0" i="0" u="none" strike="noStrike" kern="1200" cap="none" spc="0" normalizeH="0" baseline="0" noProof="0" dirty="0">
              <a:ln>
                <a:noFill/>
              </a:ln>
              <a:solidFill>
                <a:prstClr val="black"/>
              </a:solidFill>
              <a:effectLst/>
              <a:uLnTx/>
              <a:uFillTx/>
              <a:latin typeface="Boehringer Forward Text"/>
              <a:ea typeface="Meiryo UI"/>
              <a:cs typeface="+mn-cs"/>
            </a:endParaRPr>
          </a:p>
        </p:txBody>
      </p:sp>
      <p:sp>
        <p:nvSpPr>
          <p:cNvPr id="52" name="文本框 51">
            <a:extLst>
              <a:ext uri="{FF2B5EF4-FFF2-40B4-BE49-F238E27FC236}">
                <a16:creationId xmlns:a16="http://schemas.microsoft.com/office/drawing/2014/main" id="{40900E0B-DFF6-1189-0457-D59A4083E06C}"/>
              </a:ext>
            </a:extLst>
          </p:cNvPr>
          <p:cNvSpPr txBox="1"/>
          <p:nvPr/>
        </p:nvSpPr>
        <p:spPr bwMode="gray">
          <a:xfrm>
            <a:off x="4610581" y="5465002"/>
            <a:ext cx="823004"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PMDA feedback</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53" name="文本框 52">
            <a:extLst>
              <a:ext uri="{FF2B5EF4-FFF2-40B4-BE49-F238E27FC236}">
                <a16:creationId xmlns:a16="http://schemas.microsoft.com/office/drawing/2014/main" id="{B23D2D1D-1730-9013-30C4-0E07CF61C02D}"/>
              </a:ext>
            </a:extLst>
          </p:cNvPr>
          <p:cNvSpPr txBox="1"/>
          <p:nvPr/>
        </p:nvSpPr>
        <p:spPr bwMode="gray">
          <a:xfrm>
            <a:off x="4533272" y="5748990"/>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Dec/14-21</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54" name="二等辺三角形 7">
            <a:extLst>
              <a:ext uri="{FF2B5EF4-FFF2-40B4-BE49-F238E27FC236}">
                <a16:creationId xmlns:a16="http://schemas.microsoft.com/office/drawing/2014/main" id="{8A84C6AD-6B0E-B028-4984-B08ECAEA1E5C}"/>
              </a:ext>
            </a:extLst>
          </p:cNvPr>
          <p:cNvSpPr/>
          <p:nvPr/>
        </p:nvSpPr>
        <p:spPr bwMode="gray">
          <a:xfrm>
            <a:off x="4122757" y="6054798"/>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5" name="二等辺三角形 7">
            <a:extLst>
              <a:ext uri="{FF2B5EF4-FFF2-40B4-BE49-F238E27FC236}">
                <a16:creationId xmlns:a16="http://schemas.microsoft.com/office/drawing/2014/main" id="{AB0BBA9D-DD0A-3CF4-D177-A8F733DA6308}"/>
              </a:ext>
            </a:extLst>
          </p:cNvPr>
          <p:cNvSpPr/>
          <p:nvPr/>
        </p:nvSpPr>
        <p:spPr bwMode="gray">
          <a:xfrm>
            <a:off x="4659390" y="6049709"/>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6" name="文本框 55">
            <a:extLst>
              <a:ext uri="{FF2B5EF4-FFF2-40B4-BE49-F238E27FC236}">
                <a16:creationId xmlns:a16="http://schemas.microsoft.com/office/drawing/2014/main" id="{81DA1EC7-F1D4-D896-FEB8-5707D5864F6B}"/>
              </a:ext>
            </a:extLst>
          </p:cNvPr>
          <p:cNvSpPr txBox="1"/>
          <p:nvPr/>
        </p:nvSpPr>
        <p:spPr bwMode="gray">
          <a:xfrm>
            <a:off x="4867723" y="3718870"/>
            <a:ext cx="823004"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CTA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 Sub.</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60" name="文本框 59">
            <a:extLst>
              <a:ext uri="{FF2B5EF4-FFF2-40B4-BE49-F238E27FC236}">
                <a16:creationId xmlns:a16="http://schemas.microsoft.com/office/drawing/2014/main" id="{D7789770-3C8D-49C0-9011-62CD1EC844E0}"/>
              </a:ext>
            </a:extLst>
          </p:cNvPr>
          <p:cNvSpPr txBox="1"/>
          <p:nvPr/>
        </p:nvSpPr>
        <p:spPr bwMode="gray">
          <a:xfrm>
            <a:off x="2329059" y="5479436"/>
            <a:ext cx="1759673"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Joint Pre-INA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 kick-off</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61" name="文本框 60">
            <a:extLst>
              <a:ext uri="{FF2B5EF4-FFF2-40B4-BE49-F238E27FC236}">
                <a16:creationId xmlns:a16="http://schemas.microsoft.com/office/drawing/2014/main" id="{CB7B8FBE-89B9-CF4F-0390-86854D2F1AB9}"/>
              </a:ext>
            </a:extLst>
          </p:cNvPr>
          <p:cNvSpPr txBox="1"/>
          <p:nvPr/>
        </p:nvSpPr>
        <p:spPr bwMode="gray">
          <a:xfrm>
            <a:off x="2363084" y="5787374"/>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06/01</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66" name="二等辺三角形 7">
            <a:extLst>
              <a:ext uri="{FF2B5EF4-FFF2-40B4-BE49-F238E27FC236}">
                <a16:creationId xmlns:a16="http://schemas.microsoft.com/office/drawing/2014/main" id="{AB3AD5FA-27AC-E1AB-0A07-7FAD7DD2B650}"/>
              </a:ext>
            </a:extLst>
          </p:cNvPr>
          <p:cNvSpPr/>
          <p:nvPr/>
        </p:nvSpPr>
        <p:spPr bwMode="gray">
          <a:xfrm>
            <a:off x="2643389" y="6052217"/>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7" name="矩形 66">
            <a:extLst>
              <a:ext uri="{FF2B5EF4-FFF2-40B4-BE49-F238E27FC236}">
                <a16:creationId xmlns:a16="http://schemas.microsoft.com/office/drawing/2014/main" id="{D9756792-49E9-79E1-3269-6FD0479A9FF6}"/>
              </a:ext>
            </a:extLst>
          </p:cNvPr>
          <p:cNvSpPr/>
          <p:nvPr/>
        </p:nvSpPr>
        <p:spPr bwMode="gray">
          <a:xfrm>
            <a:off x="2143802" y="3430485"/>
            <a:ext cx="1244658" cy="2835151"/>
          </a:xfrm>
          <a:prstGeom prst="rect">
            <a:avLst/>
          </a:prstGeom>
          <a:noFill/>
          <a:ln w="38100">
            <a:solidFill>
              <a:srgbClr val="8625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15" name="矩形 14">
            <a:extLst>
              <a:ext uri="{FF2B5EF4-FFF2-40B4-BE49-F238E27FC236}">
                <a16:creationId xmlns:a16="http://schemas.microsoft.com/office/drawing/2014/main" id="{62C4E259-19B9-55CE-61DF-F6B2F8C8B6AF}"/>
              </a:ext>
            </a:extLst>
          </p:cNvPr>
          <p:cNvSpPr/>
          <p:nvPr/>
        </p:nvSpPr>
        <p:spPr bwMode="gray">
          <a:xfrm>
            <a:off x="6390248" y="3703610"/>
            <a:ext cx="918975" cy="307777"/>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Boehringer Forward Text"/>
                <a:ea typeface="+mn-ea"/>
                <a:cs typeface="+mn-cs"/>
              </a:rPr>
              <a:t>Dose group 1</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Boehringer Forward Text"/>
                <a:ea typeface="+mn-ea"/>
                <a:cs typeface="+mn-cs"/>
              </a:rPr>
              <a:t>N=3</a:t>
            </a:r>
            <a:endParaRPr kumimoji="0" lang="zh-CN" altLang="en-US" sz="9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48" name="矩形 47">
            <a:extLst>
              <a:ext uri="{FF2B5EF4-FFF2-40B4-BE49-F238E27FC236}">
                <a16:creationId xmlns:a16="http://schemas.microsoft.com/office/drawing/2014/main" id="{2352A979-16FA-5B13-7FD9-F021E74C3830}"/>
              </a:ext>
            </a:extLst>
          </p:cNvPr>
          <p:cNvSpPr/>
          <p:nvPr/>
        </p:nvSpPr>
        <p:spPr bwMode="gray">
          <a:xfrm>
            <a:off x="7576895" y="3706162"/>
            <a:ext cx="918975" cy="307777"/>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Boehringer Forward Text"/>
                <a:ea typeface="+mn-ea"/>
                <a:cs typeface="+mn-cs"/>
              </a:rPr>
              <a:t>Dose group 2</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Boehringer Forward Text"/>
                <a:ea typeface="+mn-ea"/>
                <a:cs typeface="+mn-cs"/>
              </a:rPr>
              <a:t>N=6</a:t>
            </a:r>
            <a:endParaRPr kumimoji="0" lang="zh-CN" altLang="en-US" sz="9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62" name="文本框 61">
            <a:extLst>
              <a:ext uri="{FF2B5EF4-FFF2-40B4-BE49-F238E27FC236}">
                <a16:creationId xmlns:a16="http://schemas.microsoft.com/office/drawing/2014/main" id="{0F5B3435-D892-E32D-4C96-33CBBEDDFD5B}"/>
              </a:ext>
            </a:extLst>
          </p:cNvPr>
          <p:cNvSpPr txBox="1"/>
          <p:nvPr/>
        </p:nvSpPr>
        <p:spPr bwMode="gray">
          <a:xfrm>
            <a:off x="6603610" y="4019521"/>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Jun-Oct</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63" name="文本框 62">
            <a:extLst>
              <a:ext uri="{FF2B5EF4-FFF2-40B4-BE49-F238E27FC236}">
                <a16:creationId xmlns:a16="http://schemas.microsoft.com/office/drawing/2014/main" id="{F7F0E82D-EB99-7D0A-E352-A255679A6FD5}"/>
              </a:ext>
            </a:extLst>
          </p:cNvPr>
          <p:cNvSpPr txBox="1"/>
          <p:nvPr/>
        </p:nvSpPr>
        <p:spPr bwMode="gray">
          <a:xfrm>
            <a:off x="7540589" y="2627240"/>
            <a:ext cx="1268821"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CTA sub.</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64" name="文本框 63">
            <a:extLst>
              <a:ext uri="{FF2B5EF4-FFF2-40B4-BE49-F238E27FC236}">
                <a16:creationId xmlns:a16="http://schemas.microsoft.com/office/drawing/2014/main" id="{E1A72B1B-B04E-9290-C8A2-25A876A6C2BF}"/>
              </a:ext>
            </a:extLst>
          </p:cNvPr>
          <p:cNvSpPr txBox="1"/>
          <p:nvPr/>
        </p:nvSpPr>
        <p:spPr bwMode="gray">
          <a:xfrm>
            <a:off x="7483447" y="2787767"/>
            <a:ext cx="1065046" cy="289759"/>
          </a:xfrm>
          <a:prstGeom prst="rect">
            <a:avLst/>
          </a:prstGeom>
          <a:noFill/>
        </p:spPr>
        <p:txBody>
          <a:bodyPr wrap="square">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Boehringer Forward Text"/>
                <a:ea typeface="+mn-ea"/>
                <a:cs typeface="+mn-cs"/>
              </a:rPr>
              <a:t>Oct</a:t>
            </a:r>
          </a:p>
        </p:txBody>
      </p:sp>
      <p:sp>
        <p:nvSpPr>
          <p:cNvPr id="65" name="二等辺三角形 7">
            <a:extLst>
              <a:ext uri="{FF2B5EF4-FFF2-40B4-BE49-F238E27FC236}">
                <a16:creationId xmlns:a16="http://schemas.microsoft.com/office/drawing/2014/main" id="{2D04EE32-F8B9-AE32-E0CE-168EBC74D6F8}"/>
              </a:ext>
            </a:extLst>
          </p:cNvPr>
          <p:cNvSpPr/>
          <p:nvPr/>
        </p:nvSpPr>
        <p:spPr bwMode="gray">
          <a:xfrm>
            <a:off x="7674127" y="3098384"/>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9" name="文本框 68">
            <a:extLst>
              <a:ext uri="{FF2B5EF4-FFF2-40B4-BE49-F238E27FC236}">
                <a16:creationId xmlns:a16="http://schemas.microsoft.com/office/drawing/2014/main" id="{71F09C10-B446-854E-6CC1-571184536D42}"/>
              </a:ext>
            </a:extLst>
          </p:cNvPr>
          <p:cNvSpPr txBox="1"/>
          <p:nvPr/>
        </p:nvSpPr>
        <p:spPr bwMode="gray">
          <a:xfrm>
            <a:off x="8615981" y="3689823"/>
            <a:ext cx="375121"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CTA sub.</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71" name="文本框 70">
            <a:extLst>
              <a:ext uri="{FF2B5EF4-FFF2-40B4-BE49-F238E27FC236}">
                <a16:creationId xmlns:a16="http://schemas.microsoft.com/office/drawing/2014/main" id="{70F580FD-8A45-22F6-2286-4D6F81C4000F}"/>
              </a:ext>
            </a:extLst>
          </p:cNvPr>
          <p:cNvSpPr txBox="1"/>
          <p:nvPr/>
        </p:nvSpPr>
        <p:spPr bwMode="gray">
          <a:xfrm>
            <a:off x="7616033" y="4010959"/>
            <a:ext cx="1759673" cy="197426"/>
          </a:xfrm>
          <a:prstGeom prst="rect">
            <a:avLst/>
          </a:prstGeom>
          <a:noFill/>
        </p:spPr>
        <p:txBody>
          <a:bodyPr wrap="square" lIns="0" tIns="0" rIns="0" bIns="0" rtlCol="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27 </a:t>
            </a:r>
            <a:r>
              <a:rPr lang="en-US" altLang="zh-CN" sz="1000">
                <a:solidFill>
                  <a:prstClr val="black"/>
                </a:solidFill>
                <a:latin typeface="Boehringer Forward Text"/>
              </a:rPr>
              <a:t>Oct</a:t>
            </a:r>
            <a:r>
              <a:rPr lang="en-US" altLang="zh-CN" sz="1000" dirty="0">
                <a:solidFill>
                  <a:prstClr val="black"/>
                </a:solidFill>
                <a:latin typeface="Boehringer Forward Text"/>
              </a:rPr>
              <a:t>-</a:t>
            </a: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 28 Feb</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72" name="矩形 71">
            <a:extLst>
              <a:ext uri="{FF2B5EF4-FFF2-40B4-BE49-F238E27FC236}">
                <a16:creationId xmlns:a16="http://schemas.microsoft.com/office/drawing/2014/main" id="{FF11B3F6-5CB6-4F38-1D93-E87701DBC3F4}"/>
              </a:ext>
            </a:extLst>
          </p:cNvPr>
          <p:cNvSpPr/>
          <p:nvPr/>
        </p:nvSpPr>
        <p:spPr bwMode="gray">
          <a:xfrm>
            <a:off x="9336569" y="3656419"/>
            <a:ext cx="1606886" cy="476054"/>
          </a:xfrm>
          <a:prstGeom prst="rect">
            <a:avLst/>
          </a:prstGeom>
          <a:solidFill>
            <a:schemeClr val="accent1">
              <a:lumMod val="75000"/>
              <a:lumOff val="25000"/>
            </a:schemeClr>
          </a:solidFill>
          <a:ln/>
          <a:effectLst>
            <a:innerShdw blurRad="63500" dist="50800" dir="16200000">
              <a:prstClr val="black">
                <a:alpha val="50000"/>
              </a:prstClr>
            </a:innerShdw>
          </a:effectLst>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white"/>
                </a:solidFill>
                <a:effectLst/>
                <a:uLnTx/>
                <a:uFillTx/>
                <a:latin typeface="Boehringer Forward Text"/>
                <a:ea typeface="+mn-ea"/>
                <a:cs typeface="+mn-cs"/>
              </a:rPr>
              <a:t>1517-0008 (Ph2b)     </a:t>
            </a:r>
            <a:r>
              <a:rPr kumimoji="0" lang="en-US" altLang="zh-CN" sz="800" b="0" i="0" u="none" strike="noStrike" kern="1200" cap="none" spc="0" normalizeH="0" baseline="0" noProof="0" dirty="0">
                <a:ln>
                  <a:noFill/>
                </a:ln>
                <a:solidFill>
                  <a:prstClr val="white"/>
                </a:solidFill>
                <a:effectLst/>
                <a:uLnTx/>
                <a:uFillTx/>
                <a:latin typeface="Boehringer Forward Text"/>
                <a:ea typeface="+mn-ea"/>
                <a:cs typeface="+mn-cs"/>
              </a:rPr>
              <a:t>FSS~LSO: 2028/Sep~2030/Feb</a:t>
            </a:r>
            <a:endParaRPr kumimoji="0" lang="zh-CN" altLang="en-US" sz="800" b="0" i="0" u="none" strike="noStrike" kern="1200" cap="none" spc="0" normalizeH="0" baseline="0" noProof="0" dirty="0">
              <a:ln>
                <a:noFill/>
              </a:ln>
              <a:solidFill>
                <a:prstClr val="white"/>
              </a:solidFill>
              <a:effectLst/>
              <a:uLnTx/>
              <a:uFillTx/>
              <a:latin typeface="Boehringer Forward Text"/>
              <a:ea typeface="+mn-ea"/>
              <a:cs typeface="+mn-cs"/>
            </a:endParaRPr>
          </a:p>
        </p:txBody>
      </p:sp>
      <p:sp>
        <p:nvSpPr>
          <p:cNvPr id="73" name="文本框 72">
            <a:extLst>
              <a:ext uri="{FF2B5EF4-FFF2-40B4-BE49-F238E27FC236}">
                <a16:creationId xmlns:a16="http://schemas.microsoft.com/office/drawing/2014/main" id="{6B4E5E76-294C-5D91-4776-43B54EEAABED}"/>
              </a:ext>
            </a:extLst>
          </p:cNvPr>
          <p:cNvSpPr txBox="1"/>
          <p:nvPr/>
        </p:nvSpPr>
        <p:spPr bwMode="gray">
          <a:xfrm>
            <a:off x="7947144" y="5398256"/>
            <a:ext cx="375121"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CTA sub.</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74" name="文本框 73">
            <a:extLst>
              <a:ext uri="{FF2B5EF4-FFF2-40B4-BE49-F238E27FC236}">
                <a16:creationId xmlns:a16="http://schemas.microsoft.com/office/drawing/2014/main" id="{A3468D09-2AA2-FD21-9B99-E9AE43236D53}"/>
              </a:ext>
            </a:extLst>
          </p:cNvPr>
          <p:cNvSpPr txBox="1"/>
          <p:nvPr/>
        </p:nvSpPr>
        <p:spPr bwMode="gray">
          <a:xfrm>
            <a:off x="7923704" y="5684745"/>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Nov</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75" name="二等辺三角形 7">
            <a:extLst>
              <a:ext uri="{FF2B5EF4-FFF2-40B4-BE49-F238E27FC236}">
                <a16:creationId xmlns:a16="http://schemas.microsoft.com/office/drawing/2014/main" id="{22CBF85B-D080-714D-F5F8-18D8F83AADAB}"/>
              </a:ext>
            </a:extLst>
          </p:cNvPr>
          <p:cNvSpPr/>
          <p:nvPr/>
        </p:nvSpPr>
        <p:spPr bwMode="gray">
          <a:xfrm>
            <a:off x="7985538" y="5975197"/>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7" name="矩形 76">
            <a:extLst>
              <a:ext uri="{FF2B5EF4-FFF2-40B4-BE49-F238E27FC236}">
                <a16:creationId xmlns:a16="http://schemas.microsoft.com/office/drawing/2014/main" id="{F106F4A4-4AC7-6562-25CE-D5398D7A3AEF}"/>
              </a:ext>
            </a:extLst>
          </p:cNvPr>
          <p:cNvSpPr/>
          <p:nvPr/>
        </p:nvSpPr>
        <p:spPr bwMode="gray">
          <a:xfrm>
            <a:off x="8469219" y="5343248"/>
            <a:ext cx="2474235" cy="476054"/>
          </a:xfrm>
          <a:prstGeom prst="rect">
            <a:avLst/>
          </a:prstGeom>
          <a:solidFill>
            <a:schemeClr val="accent1">
              <a:lumMod val="75000"/>
              <a:lumOff val="25000"/>
            </a:schemeClr>
          </a:solidFill>
          <a:ln/>
          <a:effectLst>
            <a:innerShdw blurRad="63500" dist="50800" dir="16200000">
              <a:prstClr val="black">
                <a:alpha val="50000"/>
              </a:prstClr>
            </a:innerShdw>
          </a:effectLst>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prstClr val="white"/>
                </a:solidFill>
                <a:effectLst/>
                <a:uLnTx/>
                <a:uFillTx/>
                <a:latin typeface="Boehringer Forward Text"/>
                <a:ea typeface="+mn-ea"/>
                <a:cs typeface="+mn-cs"/>
              </a:rPr>
              <a:t>1517-0008 (Ph2b)     </a:t>
            </a:r>
            <a:r>
              <a:rPr kumimoji="0" lang="en-US" altLang="zh-CN" sz="1000" b="0" i="0" u="none" strike="noStrike" kern="1200" cap="none" spc="0" normalizeH="0" baseline="0" noProof="0" dirty="0">
                <a:ln>
                  <a:noFill/>
                </a:ln>
                <a:solidFill>
                  <a:prstClr val="white"/>
                </a:solidFill>
                <a:effectLst/>
                <a:uLnTx/>
                <a:uFillTx/>
                <a:latin typeface="Boehringer Forward Text"/>
                <a:ea typeface="+mn-ea"/>
                <a:cs typeface="+mn-cs"/>
              </a:rPr>
              <a:t>FSS~LSO: 2028/Jan ~2030/Feb</a:t>
            </a:r>
            <a:endParaRPr kumimoji="0" lang="zh-CN" altLang="en-US" sz="1000" b="0" i="0" u="none" strike="noStrike" kern="1200" cap="none" spc="0" normalizeH="0" baseline="0" noProof="0" dirty="0">
              <a:ln>
                <a:noFill/>
              </a:ln>
              <a:solidFill>
                <a:prstClr val="white"/>
              </a:solidFill>
              <a:effectLst/>
              <a:uLnTx/>
              <a:uFillTx/>
              <a:latin typeface="Boehringer Forward Text"/>
              <a:ea typeface="+mn-ea"/>
              <a:cs typeface="+mn-cs"/>
            </a:endParaRPr>
          </a:p>
        </p:txBody>
      </p:sp>
      <p:sp>
        <p:nvSpPr>
          <p:cNvPr id="6" name="文本框 5">
            <a:extLst>
              <a:ext uri="{FF2B5EF4-FFF2-40B4-BE49-F238E27FC236}">
                <a16:creationId xmlns:a16="http://schemas.microsoft.com/office/drawing/2014/main" id="{D88BCE93-C1C7-7B8C-C3F3-77201355898E}"/>
              </a:ext>
            </a:extLst>
          </p:cNvPr>
          <p:cNvSpPr txBox="1"/>
          <p:nvPr/>
        </p:nvSpPr>
        <p:spPr bwMode="gray">
          <a:xfrm>
            <a:off x="8638413" y="4008376"/>
            <a:ext cx="1759673"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Boehringer Forward Text"/>
                <a:ea typeface="+mn-ea"/>
                <a:cs typeface="+mn-cs"/>
              </a:rPr>
              <a:t>Mar</a:t>
            </a:r>
            <a:endParaRPr kumimoji="0" lang="zh-CN" altLang="en-US" sz="10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11" name="二等辺三角形 7">
            <a:extLst>
              <a:ext uri="{FF2B5EF4-FFF2-40B4-BE49-F238E27FC236}">
                <a16:creationId xmlns:a16="http://schemas.microsoft.com/office/drawing/2014/main" id="{9E809680-B7CF-F317-11A8-7C1D1C9C50DD}"/>
              </a:ext>
            </a:extLst>
          </p:cNvPr>
          <p:cNvSpPr/>
          <p:nvPr/>
        </p:nvSpPr>
        <p:spPr bwMode="gray">
          <a:xfrm>
            <a:off x="8658806" y="4274974"/>
            <a:ext cx="113590" cy="108000"/>
          </a:xfrm>
          <a:prstGeom prst="triangle">
            <a:avLst/>
          </a:prstGeom>
          <a:solidFill>
            <a:schemeClr val="accent6">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40000"/>
              </a:lnSpc>
              <a:spcBef>
                <a:spcPts val="0"/>
              </a:spcBef>
              <a:spcAft>
                <a:spcPts val="0"/>
              </a:spcAft>
              <a:buClrTx/>
              <a:buSzTx/>
              <a:buFontTx/>
              <a:buNone/>
              <a:tabLst/>
              <a:defRPr/>
            </a:pP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 name="文本框 13">
            <a:extLst>
              <a:ext uri="{FF2B5EF4-FFF2-40B4-BE49-F238E27FC236}">
                <a16:creationId xmlns:a16="http://schemas.microsoft.com/office/drawing/2014/main" id="{08911599-014B-6533-FAAA-3BB7338A6752}"/>
              </a:ext>
            </a:extLst>
          </p:cNvPr>
          <p:cNvSpPr txBox="1"/>
          <p:nvPr/>
        </p:nvSpPr>
        <p:spPr bwMode="gray">
          <a:xfrm>
            <a:off x="8956934" y="2618952"/>
            <a:ext cx="2395650" cy="236924"/>
          </a:xfrm>
          <a:prstGeom prst="rect">
            <a:avLst/>
          </a:prstGeom>
          <a:noFill/>
        </p:spPr>
        <p:txBody>
          <a:bodyPr wrap="square" lIns="0" tIns="0" rIns="0" bIns="0" rtlCol="0">
            <a:spAutoFit/>
          </a:bodyPr>
          <a:lstStyle/>
          <a:p>
            <a:pPr algn="l">
              <a:lnSpc>
                <a:spcPct val="140000"/>
              </a:lnSpc>
            </a:pPr>
            <a:r>
              <a:rPr lang="en-US" altLang="zh-CN" sz="1200" dirty="0"/>
              <a:t>~ 1 year enrollment </a:t>
            </a:r>
            <a:endParaRPr lang="zh-CN" altLang="en-US" sz="1200" dirty="0"/>
          </a:p>
        </p:txBody>
      </p:sp>
      <p:sp>
        <p:nvSpPr>
          <p:cNvPr id="18" name="文本框 17">
            <a:extLst>
              <a:ext uri="{FF2B5EF4-FFF2-40B4-BE49-F238E27FC236}">
                <a16:creationId xmlns:a16="http://schemas.microsoft.com/office/drawing/2014/main" id="{0B81329D-A947-A7E1-8AA9-BAC948BC62EB}"/>
              </a:ext>
            </a:extLst>
          </p:cNvPr>
          <p:cNvSpPr txBox="1"/>
          <p:nvPr/>
        </p:nvSpPr>
        <p:spPr bwMode="gray">
          <a:xfrm>
            <a:off x="9441675" y="4180428"/>
            <a:ext cx="2395650" cy="236924"/>
          </a:xfrm>
          <a:prstGeom prst="rect">
            <a:avLst/>
          </a:prstGeom>
          <a:noFill/>
        </p:spPr>
        <p:txBody>
          <a:bodyPr wrap="square" lIns="0" tIns="0" rIns="0" bIns="0" rtlCol="0">
            <a:spAutoFit/>
          </a:bodyPr>
          <a:lstStyle/>
          <a:p>
            <a:pPr algn="l">
              <a:lnSpc>
                <a:spcPct val="140000"/>
              </a:lnSpc>
            </a:pPr>
            <a:r>
              <a:rPr lang="en-US" altLang="zh-CN" sz="1200" dirty="0"/>
              <a:t>~ 5 months enrollment </a:t>
            </a:r>
            <a:endParaRPr lang="zh-CN" altLang="en-US" sz="1200" dirty="0"/>
          </a:p>
        </p:txBody>
      </p:sp>
    </p:spTree>
    <p:extLst>
      <p:ext uri="{BB962C8B-B14F-4D97-AF65-F5344CB8AC3E}">
        <p14:creationId xmlns:p14="http://schemas.microsoft.com/office/powerpoint/2010/main" val="3169643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362E1-1E8C-5526-A569-303499D01749}"/>
              </a:ext>
            </a:extLst>
          </p:cNvPr>
          <p:cNvSpPr>
            <a:spLocks noGrp="1"/>
          </p:cNvSpPr>
          <p:nvPr>
            <p:ph type="title"/>
          </p:nvPr>
        </p:nvSpPr>
        <p:spPr/>
        <p:txBody>
          <a:bodyPr/>
          <a:lstStyle/>
          <a:p>
            <a:r>
              <a:rPr lang="en-US" altLang="zh-CN"/>
              <a:t>Key Issue/Risk and Potential Impact</a:t>
            </a:r>
            <a:endParaRPr lang="zh-CN" altLang="en-US"/>
          </a:p>
        </p:txBody>
      </p:sp>
      <p:sp>
        <p:nvSpPr>
          <p:cNvPr id="6" name="Slide Number Placeholder 5">
            <a:extLst>
              <a:ext uri="{FF2B5EF4-FFF2-40B4-BE49-F238E27FC236}">
                <a16:creationId xmlns:a16="http://schemas.microsoft.com/office/drawing/2014/main" id="{55382480-511C-1A3F-15E3-E6CD7E7F6963}"/>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7" name="Rechteck 4">
            <a:extLst>
              <a:ext uri="{FF2B5EF4-FFF2-40B4-BE49-F238E27FC236}">
                <a16:creationId xmlns:a16="http://schemas.microsoft.com/office/drawing/2014/main" id="{A67261C5-D2B2-6FF1-79E6-F5FA2FCD5490}"/>
              </a:ext>
            </a:extLst>
          </p:cNvPr>
          <p:cNvSpPr/>
          <p:nvPr/>
        </p:nvSpPr>
        <p:spPr>
          <a:xfrm>
            <a:off x="982727" y="1769958"/>
            <a:ext cx="4635062" cy="4011768"/>
          </a:xfrm>
          <a:prstGeom prst="roundRect">
            <a:avLst>
              <a:gd name="adj" fmla="val 6767"/>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marR="0" lvl="0" indent="-3429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de-DE" sz="1800" b="0" i="0" u="none" strike="noStrike" kern="1200" cap="none" spc="0" normalizeH="0" baseline="0" noProof="0" dirty="0">
              <a:ln>
                <a:noFill/>
              </a:ln>
              <a:solidFill>
                <a:prstClr val="black"/>
              </a:solidFill>
              <a:effectLst/>
              <a:uLnTx/>
              <a:uFillTx/>
              <a:latin typeface="Boehringer Forward Text"/>
              <a:ea typeface="+mn-ea"/>
              <a:cs typeface="+mn-cs"/>
            </a:endParaRPr>
          </a:p>
          <a:p>
            <a:pPr marL="342900" marR="0" lvl="0" indent="-3429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lang="de-DE" dirty="0">
              <a:solidFill>
                <a:prstClr val="black"/>
              </a:solidFill>
              <a:latin typeface="Boehringer Forward Text"/>
            </a:endParaRPr>
          </a:p>
          <a:p>
            <a:pPr marL="342900" marR="0" lvl="0" indent="-3429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de-DE" sz="1800" b="0" i="0" u="none" strike="noStrike" kern="1200" cap="none" spc="0" normalizeH="0" baseline="0" noProof="0" dirty="0">
                <a:ln>
                  <a:noFill/>
                </a:ln>
                <a:solidFill>
                  <a:prstClr val="black"/>
                </a:solidFill>
                <a:effectLst/>
                <a:uLnTx/>
                <a:uFillTx/>
                <a:latin typeface="Boehringer Forward Text"/>
                <a:ea typeface="+mn-ea"/>
                <a:cs typeface="+mn-cs"/>
              </a:rPr>
              <a:t>Risk : CDE may not agree with the limited patient number of the Asian phase 1 trial, particular in dose group 1 (n=3). </a:t>
            </a:r>
          </a:p>
          <a:p>
            <a:pPr marL="342900" marR="0" lvl="0" indent="-3429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de-DE" sz="1800" b="0" i="0" u="none" strike="noStrike" kern="1200" cap="none" spc="0" normalizeH="0" baseline="0" noProof="0" dirty="0">
              <a:ln>
                <a:noFill/>
              </a:ln>
              <a:solidFill>
                <a:prstClr val="black"/>
              </a:solidFill>
              <a:effectLst/>
              <a:uLnTx/>
              <a:uFillTx/>
              <a:latin typeface="Boehringer Forward Text"/>
              <a:ea typeface="+mn-ea"/>
              <a:cs typeface="+mn-cs"/>
            </a:endParaRPr>
          </a:p>
          <a:p>
            <a:pPr marL="342900" marR="0" lvl="0" indent="-3429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de-DE" sz="1800" b="0" i="0" u="none" strike="noStrike" kern="1200" cap="none" spc="0" normalizeH="0" baseline="0" noProof="0" dirty="0">
              <a:ln>
                <a:noFill/>
              </a:ln>
              <a:solidFill>
                <a:prstClr val="black"/>
              </a:solidFill>
              <a:effectLst/>
              <a:uLnTx/>
              <a:uFillTx/>
              <a:latin typeface="Boehringer Forward Text"/>
              <a:ea typeface="+mn-ea"/>
              <a:cs typeface="+mn-cs"/>
            </a:endParaRPr>
          </a:p>
          <a:p>
            <a:pPr marL="342900" marR="0" lvl="0" indent="-3429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de-DE" sz="1800" b="0" i="0" u="none" strike="noStrike" kern="1200" cap="none" spc="0" normalizeH="0" baseline="0" noProof="0" dirty="0">
                <a:ln>
                  <a:noFill/>
                </a:ln>
                <a:solidFill>
                  <a:prstClr val="black"/>
                </a:solidFill>
                <a:effectLst/>
                <a:uLnTx/>
                <a:uFillTx/>
                <a:latin typeface="Boehringer Forward Text"/>
                <a:ea typeface="+mn-ea"/>
                <a:cs typeface="+mn-cs"/>
              </a:rPr>
              <a:t>Risk 2:  internal competition of three MASH cirrhosis trial may impact enrollment capability</a:t>
            </a:r>
          </a:p>
          <a:p>
            <a:pPr marL="0" marR="0" lvl="0" indent="0" algn="l" defTabSz="914400" rtl="0" eaLnBrk="1" fontAlgn="auto" latinLnBrk="0" hangingPunct="1">
              <a:lnSpc>
                <a:spcPct val="100000"/>
              </a:lnSpc>
              <a:spcBef>
                <a:spcPts val="0"/>
              </a:spcBef>
              <a:spcAft>
                <a:spcPts val="120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8" name="Rechteck 5">
            <a:extLst>
              <a:ext uri="{FF2B5EF4-FFF2-40B4-BE49-F238E27FC236}">
                <a16:creationId xmlns:a16="http://schemas.microsoft.com/office/drawing/2014/main" id="{07D4F262-A7ED-D3AC-42F5-7B31175CD77F}"/>
              </a:ext>
            </a:extLst>
          </p:cNvPr>
          <p:cNvSpPr/>
          <p:nvPr/>
        </p:nvSpPr>
        <p:spPr>
          <a:xfrm>
            <a:off x="6574211" y="1769958"/>
            <a:ext cx="4635062" cy="4011768"/>
          </a:xfrm>
          <a:prstGeom prst="roundRect">
            <a:avLst>
              <a:gd name="adj" fmla="val 4695"/>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7345" indent="-347345" algn="l" rtl="0" eaLnBrk="1" latinLnBrk="0" hangingPunct="1">
              <a:spcAft>
                <a:spcPts val="1800"/>
              </a:spcAft>
              <a:buFont typeface="Arial" panose="020B0604020202020204" pitchFamily="34" charset="0"/>
              <a:buChar char="•"/>
            </a:pPr>
            <a:r>
              <a:rPr lang="en-US" sz="1800" dirty="0">
                <a:solidFill>
                  <a:srgbClr val="000000"/>
                </a:solidFill>
                <a:effectLst/>
                <a:latin typeface="Boehringer Forward Text"/>
              </a:rPr>
              <a:t>Mitigation: 1) </a:t>
            </a:r>
            <a:r>
              <a:rPr lang="en-US">
                <a:solidFill>
                  <a:srgbClr val="000000"/>
                </a:solidFill>
                <a:latin typeface="Boehringer Forward Text"/>
              </a:rPr>
              <a:t>Emphasize</a:t>
            </a:r>
            <a:r>
              <a:rPr lang="en-US" sz="1800" dirty="0">
                <a:solidFill>
                  <a:srgbClr val="000000"/>
                </a:solidFill>
                <a:effectLst/>
                <a:latin typeface="Boehringer Forward Text"/>
              </a:rPr>
              <a:t> that the trial is not the first human study but seeks to connect data between Asian and Caucasian patients; 2) present global data to reinforce the existing evidence</a:t>
            </a:r>
            <a:endParaRPr lang="zh-CN" altLang="en-US">
              <a:latin typeface="Boehringer Forward Text"/>
            </a:endParaRPr>
          </a:p>
          <a:p>
            <a:pPr marL="347472" indent="-347472" algn="l" rtl="0" eaLnBrk="1" latinLnBrk="0" hangingPunct="1">
              <a:spcAft>
                <a:spcPts val="1800"/>
              </a:spcAft>
              <a:buFont typeface="Arial" panose="020B0604020202020204" pitchFamily="34" charset="0"/>
              <a:buChar char="•"/>
            </a:pPr>
            <a:endParaRPr lang="en-US" sz="1800" dirty="0">
              <a:solidFill>
                <a:srgbClr val="000000"/>
              </a:solidFill>
              <a:effectLst/>
              <a:latin typeface="Boehringer Forward Text" panose="020B0504030403020204" pitchFamily="2" charset="0"/>
            </a:endParaRPr>
          </a:p>
          <a:p>
            <a:pPr marL="347345" indent="-347345">
              <a:spcAft>
                <a:spcPts val="1800"/>
              </a:spcAft>
              <a:buFont typeface="Arial" panose="020B0604020202020204" pitchFamily="34" charset="0"/>
              <a:buChar char="•"/>
            </a:pPr>
            <a:r>
              <a:rPr lang="en-US" sz="1800" dirty="0">
                <a:solidFill>
                  <a:srgbClr val="000000"/>
                </a:solidFill>
                <a:effectLst/>
                <a:latin typeface="Boehringer Forward Text"/>
              </a:rPr>
              <a:t>Mitigation: prevent </a:t>
            </a:r>
            <a:r>
              <a:rPr lang="en-US" dirty="0">
                <a:solidFill>
                  <a:srgbClr val="000000"/>
                </a:solidFill>
                <a:latin typeface="Boehringer Forward Text"/>
              </a:rPr>
              <a:t>overlap in site</a:t>
            </a:r>
            <a:r>
              <a:rPr lang="en-US" sz="1800" dirty="0">
                <a:solidFill>
                  <a:srgbClr val="000000"/>
                </a:solidFill>
                <a:effectLst/>
                <a:latin typeface="Boehringer Forward Text"/>
              </a:rPr>
              <a:t> </a:t>
            </a:r>
            <a:r>
              <a:rPr lang="en-US" dirty="0">
                <a:solidFill>
                  <a:srgbClr val="000000"/>
                </a:solidFill>
                <a:latin typeface="Boehringer Forward Text"/>
              </a:rPr>
              <a:t>selection </a:t>
            </a:r>
            <a:endParaRPr lang="en-US" b="0" i="0" u="none" strike="noStrike" kern="1200" cap="none" spc="0" normalizeH="0" baseline="0" noProof="0" dirty="0">
              <a:ln>
                <a:noFill/>
              </a:ln>
              <a:solidFill>
                <a:prstClr val="black"/>
              </a:solidFill>
              <a:effectLst/>
              <a:uLnTx/>
              <a:uFillTx/>
              <a:latin typeface="Boehringer Forward Text"/>
            </a:endParaRPr>
          </a:p>
        </p:txBody>
      </p:sp>
      <p:sp>
        <p:nvSpPr>
          <p:cNvPr id="9" name="Pfeil nach rechts 6">
            <a:extLst>
              <a:ext uri="{FF2B5EF4-FFF2-40B4-BE49-F238E27FC236}">
                <a16:creationId xmlns:a16="http://schemas.microsoft.com/office/drawing/2014/main" id="{5D5F0306-AE20-B972-0E46-E07150D51A38}"/>
              </a:ext>
            </a:extLst>
          </p:cNvPr>
          <p:cNvSpPr/>
          <p:nvPr/>
        </p:nvSpPr>
        <p:spPr>
          <a:xfrm>
            <a:off x="5652036" y="3361918"/>
            <a:ext cx="847666" cy="720000"/>
          </a:xfrm>
          <a:prstGeom prst="rightArrow">
            <a:avLst/>
          </a:prstGeom>
          <a:solidFill>
            <a:srgbClr val="B7B6B2"/>
          </a:solidFill>
          <a:ln w="12700">
            <a:solidFill>
              <a:srgbClr val="003366"/>
            </a:solid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400" b="0" i="0" u="none" strike="noStrike" kern="1200" cap="none" spc="0" normalizeH="0" baseline="0" noProof="0" err="1">
              <a:ln>
                <a:noFill/>
              </a:ln>
              <a:solidFill>
                <a:prstClr val="black"/>
              </a:solidFill>
              <a:effectLst/>
              <a:uLnTx/>
              <a:uFillTx/>
              <a:latin typeface="Boehringer Forward Text"/>
              <a:ea typeface="+mn-ea"/>
              <a:cs typeface="+mn-cs"/>
            </a:endParaRPr>
          </a:p>
        </p:txBody>
      </p:sp>
      <p:sp>
        <p:nvSpPr>
          <p:cNvPr id="10" name="Rechteck 7">
            <a:extLst>
              <a:ext uri="{FF2B5EF4-FFF2-40B4-BE49-F238E27FC236}">
                <a16:creationId xmlns:a16="http://schemas.microsoft.com/office/drawing/2014/main" id="{080DADFE-34EC-AFCC-00CD-2E3DC1E618D6}"/>
              </a:ext>
            </a:extLst>
          </p:cNvPr>
          <p:cNvSpPr/>
          <p:nvPr/>
        </p:nvSpPr>
        <p:spPr>
          <a:xfrm>
            <a:off x="1228436" y="1031469"/>
            <a:ext cx="3992189" cy="620110"/>
          </a:xfrm>
          <a:prstGeom prst="roundRect">
            <a:avLst/>
          </a:prstGeom>
          <a:solidFill>
            <a:srgbClr val="E0E1F6"/>
          </a:solidFill>
          <a:ln w="12700">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Boehringer Forward Text"/>
                <a:ea typeface="+mn-ea"/>
                <a:cs typeface="+mn-cs"/>
              </a:rPr>
              <a:t>Key </a:t>
            </a:r>
            <a:r>
              <a:rPr lang="de-DE" b="1" dirty="0">
                <a:solidFill>
                  <a:prstClr val="black"/>
                </a:solidFill>
                <a:latin typeface="Boehringer Forward Text"/>
              </a:rPr>
              <a:t> </a:t>
            </a:r>
            <a:r>
              <a:rPr kumimoji="0" lang="de-DE" sz="1800" b="1" i="0" u="none" strike="noStrike" kern="1200" cap="none" spc="0" normalizeH="0" baseline="0" noProof="0" dirty="0">
                <a:ln>
                  <a:noFill/>
                </a:ln>
                <a:solidFill>
                  <a:prstClr val="black"/>
                </a:solidFill>
                <a:effectLst/>
                <a:uLnTx/>
                <a:uFillTx/>
                <a:latin typeface="Boehringer Forward Text"/>
                <a:ea typeface="+mn-ea"/>
                <a:cs typeface="+mn-cs"/>
              </a:rPr>
              <a:t>Risk </a:t>
            </a:r>
            <a:r>
              <a:rPr kumimoji="0" lang="en-US" sz="1800" b="1" i="0" u="none" strike="noStrike" kern="1200" cap="none" spc="0" normalizeH="0" baseline="0" noProof="0" dirty="0">
                <a:ln>
                  <a:noFill/>
                </a:ln>
                <a:solidFill>
                  <a:prstClr val="black"/>
                </a:solidFill>
                <a:effectLst/>
                <a:uLnTx/>
                <a:uFillTx/>
                <a:latin typeface="Boehringer Forward Text"/>
                <a:ea typeface="+mn-ea"/>
                <a:cs typeface="+mn-cs"/>
              </a:rPr>
              <a:t>/</a:t>
            </a:r>
            <a:r>
              <a:rPr kumimoji="0" lang="en-US" altLang="zh-CN" sz="1800" b="1" i="0" u="none" strike="noStrike" kern="1200" cap="none" spc="0" normalizeH="0" baseline="0" noProof="0" dirty="0">
                <a:ln>
                  <a:noFill/>
                </a:ln>
                <a:solidFill>
                  <a:prstClr val="black"/>
                </a:solidFill>
                <a:effectLst/>
                <a:uLnTx/>
                <a:uFillTx/>
                <a:latin typeface="Boehringer Forward Text"/>
                <a:ea typeface="+mn-ea"/>
                <a:cs typeface="+mn-cs"/>
              </a:rPr>
              <a:t>Issue</a:t>
            </a:r>
            <a:endParaRPr kumimoji="0" lang="de-DE" sz="1800" b="1"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11" name="Rechteck 9">
            <a:extLst>
              <a:ext uri="{FF2B5EF4-FFF2-40B4-BE49-F238E27FC236}">
                <a16:creationId xmlns:a16="http://schemas.microsoft.com/office/drawing/2014/main" id="{136648C0-F54F-A70F-E261-2AF16C8E026B}"/>
              </a:ext>
            </a:extLst>
          </p:cNvPr>
          <p:cNvSpPr/>
          <p:nvPr/>
        </p:nvSpPr>
        <p:spPr>
          <a:xfrm>
            <a:off x="6819919" y="1024143"/>
            <a:ext cx="3992189" cy="620110"/>
          </a:xfrm>
          <a:prstGeom prst="roundRect">
            <a:avLst/>
          </a:prstGeom>
          <a:solidFill>
            <a:srgbClr val="D2F2F7"/>
          </a:solidFill>
          <a:ln w="12700">
            <a:noFill/>
          </a:ln>
          <a:effectLst>
            <a:glow rad="635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Boehringer Forward Text"/>
                <a:ea typeface="+mn-ea"/>
                <a:cs typeface="+mn-cs"/>
              </a:rPr>
              <a:t>Mitigation </a:t>
            </a:r>
          </a:p>
        </p:txBody>
      </p:sp>
    </p:spTree>
    <p:extLst>
      <p:ext uri="{BB962C8B-B14F-4D97-AF65-F5344CB8AC3E}">
        <p14:creationId xmlns:p14="http://schemas.microsoft.com/office/powerpoint/2010/main" val="3098173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CAB564E9-8A35-46A7-8E58-BA7F93BB6C23}"/>
              </a:ext>
            </a:extLst>
          </p:cNvPr>
          <p:cNvSpPr/>
          <p:nvPr/>
        </p:nvSpPr>
        <p:spPr bwMode="gray">
          <a:xfrm>
            <a:off x="3842184" y="1142501"/>
            <a:ext cx="5301815" cy="375267"/>
          </a:xfrm>
          <a:prstGeom prst="roundRect">
            <a:avLst/>
          </a:prstGeom>
          <a:solidFill>
            <a:schemeClr val="tx2"/>
          </a:solidFill>
          <a:ln w="6350">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8288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white"/>
                </a:solidFill>
                <a:effectLst/>
                <a:uLnTx/>
                <a:uFillTx/>
                <a:latin typeface="Boehringer Forward Text"/>
                <a:ea typeface="+mn-ea"/>
                <a:cs typeface="+mn-cs"/>
              </a:rPr>
              <a:t>Requested Decision to </a:t>
            </a:r>
            <a:r>
              <a:rPr lang="en-US" altLang="zh-CN">
                <a:solidFill>
                  <a:prstClr val="white"/>
                </a:solidFill>
                <a:latin typeface="Boehringer Forward Text"/>
              </a:rPr>
              <a:t>PEC</a:t>
            </a:r>
            <a:endParaRPr kumimoji="0" lang="zh-CN" altLang="en-US" sz="1800" b="0" i="0" u="none" strike="noStrike" kern="1200" cap="none" spc="0" normalizeH="0" baseline="0" noProof="0" dirty="0">
              <a:ln>
                <a:noFill/>
              </a:ln>
              <a:solidFill>
                <a:prstClr val="white"/>
              </a:solidFill>
              <a:effectLst/>
              <a:uLnTx/>
              <a:uFillTx/>
              <a:latin typeface="Boehringer Forward Text"/>
              <a:ea typeface="+mn-ea"/>
              <a:cs typeface="+mn-cs"/>
            </a:endParaRPr>
          </a:p>
        </p:txBody>
      </p:sp>
      <p:sp>
        <p:nvSpPr>
          <p:cNvPr id="2" name="Title 1">
            <a:extLst>
              <a:ext uri="{FF2B5EF4-FFF2-40B4-BE49-F238E27FC236}">
                <a16:creationId xmlns:a16="http://schemas.microsoft.com/office/drawing/2014/main" id="{93A3707B-E434-0441-E538-F1189F7DAC19}"/>
              </a:ext>
            </a:extLst>
          </p:cNvPr>
          <p:cNvSpPr>
            <a:spLocks noGrp="1"/>
          </p:cNvSpPr>
          <p:nvPr>
            <p:ph type="title"/>
          </p:nvPr>
        </p:nvSpPr>
        <p:spPr/>
        <p:txBody>
          <a:bodyPr/>
          <a:lstStyle/>
          <a:p>
            <a:pPr algn="ctr"/>
            <a:r>
              <a:rPr lang="en-US" altLang="zh-CN"/>
              <a:t>Closing Slide</a:t>
            </a:r>
            <a:endParaRPr lang="zh-CN" altLang="en-US"/>
          </a:p>
        </p:txBody>
      </p:sp>
      <p:sp>
        <p:nvSpPr>
          <p:cNvPr id="4" name="Text Placeholder 3">
            <a:extLst>
              <a:ext uri="{FF2B5EF4-FFF2-40B4-BE49-F238E27FC236}">
                <a16:creationId xmlns:a16="http://schemas.microsoft.com/office/drawing/2014/main" id="{3B000BA3-1E0F-94F0-AF42-C92D4AC3C3F5}"/>
              </a:ext>
            </a:extLst>
          </p:cNvPr>
          <p:cNvSpPr>
            <a:spLocks noGrp="1"/>
          </p:cNvSpPr>
          <p:nvPr>
            <p:ph type="body" sz="quarter" idx="13"/>
          </p:nvPr>
        </p:nvSpPr>
        <p:spPr/>
        <p:txBody>
          <a:bodyPr/>
          <a:lstStyle/>
          <a:p>
            <a:endParaRPr lang="zh-CN" altLang="en-US"/>
          </a:p>
        </p:txBody>
      </p:sp>
      <p:sp>
        <p:nvSpPr>
          <p:cNvPr id="7" name="Slide Number Placeholder 6">
            <a:extLst>
              <a:ext uri="{FF2B5EF4-FFF2-40B4-BE49-F238E27FC236}">
                <a16:creationId xmlns:a16="http://schemas.microsoft.com/office/drawing/2014/main" id="{13BA5787-E7DA-BB4B-3F07-F7455584B6EB}"/>
              </a:ext>
            </a:extLst>
          </p:cNvPr>
          <p:cNvSpPr>
            <a:spLocks noGrp="1"/>
          </p:cNvSpPr>
          <p:nvPr>
            <p:ph type="sldNum" sz="quarter" idx="2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2" name="Graphic 48">
            <a:extLst>
              <a:ext uri="{FF2B5EF4-FFF2-40B4-BE49-F238E27FC236}">
                <a16:creationId xmlns:a16="http://schemas.microsoft.com/office/drawing/2014/main" id="{E837FDCF-8605-C039-800B-26C8ACC2F867}"/>
              </a:ext>
            </a:extLst>
          </p:cNvPr>
          <p:cNvSpPr/>
          <p:nvPr/>
        </p:nvSpPr>
        <p:spPr>
          <a:xfrm>
            <a:off x="207511" y="1040580"/>
            <a:ext cx="358380" cy="477828"/>
          </a:xfrm>
          <a:custGeom>
            <a:avLst/>
            <a:gdLst>
              <a:gd name="connsiteX0" fmla="*/ 20363 w 268785"/>
              <a:gd name="connsiteY0" fmla="*/ -952 h 358371"/>
              <a:gd name="connsiteX1" fmla="*/ 0 w 268785"/>
              <a:gd name="connsiteY1" fmla="*/ 19410 h 358371"/>
              <a:gd name="connsiteX2" fmla="*/ 0 w 268785"/>
              <a:gd name="connsiteY2" fmla="*/ 337057 h 358371"/>
              <a:gd name="connsiteX3" fmla="*/ 20363 w 268785"/>
              <a:gd name="connsiteY3" fmla="*/ 357419 h 358371"/>
              <a:gd name="connsiteX4" fmla="*/ 248423 w 268785"/>
              <a:gd name="connsiteY4" fmla="*/ 357419 h 358371"/>
              <a:gd name="connsiteX5" fmla="*/ 268785 w 268785"/>
              <a:gd name="connsiteY5" fmla="*/ 337057 h 358371"/>
              <a:gd name="connsiteX6" fmla="*/ 268785 w 268785"/>
              <a:gd name="connsiteY6" fmla="*/ 19410 h 358371"/>
              <a:gd name="connsiteX7" fmla="*/ 248423 w 268785"/>
              <a:gd name="connsiteY7" fmla="*/ -952 h 358371"/>
              <a:gd name="connsiteX8" fmla="*/ 20363 w 268785"/>
              <a:gd name="connsiteY8" fmla="*/ -952 h 358371"/>
              <a:gd name="connsiteX9" fmla="*/ 20363 w 268785"/>
              <a:gd name="connsiteY9" fmla="*/ 7193 h 358371"/>
              <a:gd name="connsiteX10" fmla="*/ 248423 w 268785"/>
              <a:gd name="connsiteY10" fmla="*/ 7193 h 358371"/>
              <a:gd name="connsiteX11" fmla="*/ 260640 w 268785"/>
              <a:gd name="connsiteY11" fmla="*/ 19410 h 358371"/>
              <a:gd name="connsiteX12" fmla="*/ 260640 w 268785"/>
              <a:gd name="connsiteY12" fmla="*/ 337057 h 358371"/>
              <a:gd name="connsiteX13" fmla="*/ 248423 w 268785"/>
              <a:gd name="connsiteY13" fmla="*/ 349274 h 358371"/>
              <a:gd name="connsiteX14" fmla="*/ 20363 w 268785"/>
              <a:gd name="connsiteY14" fmla="*/ 349274 h 358371"/>
              <a:gd name="connsiteX15" fmla="*/ 8145 w 268785"/>
              <a:gd name="connsiteY15" fmla="*/ 337057 h 358371"/>
              <a:gd name="connsiteX16" fmla="*/ 8145 w 268785"/>
              <a:gd name="connsiteY16" fmla="*/ 19410 h 358371"/>
              <a:gd name="connsiteX17" fmla="*/ 20363 w 268785"/>
              <a:gd name="connsiteY17" fmla="*/ 7193 h 358371"/>
              <a:gd name="connsiteX18" fmla="*/ 52943 w 268785"/>
              <a:gd name="connsiteY18" fmla="*/ 64208 h 358371"/>
              <a:gd name="connsiteX19" fmla="*/ 48870 w 268785"/>
              <a:gd name="connsiteY19" fmla="*/ 68280 h 358371"/>
              <a:gd name="connsiteX20" fmla="*/ 52943 w 268785"/>
              <a:gd name="connsiteY20" fmla="*/ 72353 h 358371"/>
              <a:gd name="connsiteX21" fmla="*/ 215843 w 268785"/>
              <a:gd name="connsiteY21" fmla="*/ 72353 h 358371"/>
              <a:gd name="connsiteX22" fmla="*/ 219915 w 268785"/>
              <a:gd name="connsiteY22" fmla="*/ 68280 h 358371"/>
              <a:gd name="connsiteX23" fmla="*/ 215843 w 268785"/>
              <a:gd name="connsiteY23" fmla="*/ 64208 h 358371"/>
              <a:gd name="connsiteX24" fmla="*/ 52943 w 268785"/>
              <a:gd name="connsiteY24" fmla="*/ 64208 h 358371"/>
              <a:gd name="connsiteX25" fmla="*/ 52943 w 268785"/>
              <a:gd name="connsiteY25" fmla="*/ 137513 h 358371"/>
              <a:gd name="connsiteX26" fmla="*/ 48870 w 268785"/>
              <a:gd name="connsiteY26" fmla="*/ 141585 h 358371"/>
              <a:gd name="connsiteX27" fmla="*/ 52943 w 268785"/>
              <a:gd name="connsiteY27" fmla="*/ 145658 h 358371"/>
              <a:gd name="connsiteX28" fmla="*/ 215843 w 268785"/>
              <a:gd name="connsiteY28" fmla="*/ 145658 h 358371"/>
              <a:gd name="connsiteX29" fmla="*/ 219915 w 268785"/>
              <a:gd name="connsiteY29" fmla="*/ 141585 h 358371"/>
              <a:gd name="connsiteX30" fmla="*/ 215843 w 268785"/>
              <a:gd name="connsiteY30" fmla="*/ 137513 h 358371"/>
              <a:gd name="connsiteX31" fmla="*/ 52943 w 268785"/>
              <a:gd name="connsiteY31" fmla="*/ 137513 h 358371"/>
              <a:gd name="connsiteX32" fmla="*/ 52943 w 268785"/>
              <a:gd name="connsiteY32" fmla="*/ 210809 h 358371"/>
              <a:gd name="connsiteX33" fmla="*/ 48870 w 268785"/>
              <a:gd name="connsiteY33" fmla="*/ 214882 h 358371"/>
              <a:gd name="connsiteX34" fmla="*/ 52943 w 268785"/>
              <a:gd name="connsiteY34" fmla="*/ 218954 h 358371"/>
              <a:gd name="connsiteX35" fmla="*/ 215843 w 268785"/>
              <a:gd name="connsiteY35" fmla="*/ 218954 h 358371"/>
              <a:gd name="connsiteX36" fmla="*/ 219915 w 268785"/>
              <a:gd name="connsiteY36" fmla="*/ 214882 h 358371"/>
              <a:gd name="connsiteX37" fmla="*/ 215843 w 268785"/>
              <a:gd name="connsiteY37" fmla="*/ 210809 h 358371"/>
              <a:gd name="connsiteX38" fmla="*/ 52943 w 268785"/>
              <a:gd name="connsiteY38" fmla="*/ 210809 h 358371"/>
              <a:gd name="connsiteX39" fmla="*/ 52943 w 268785"/>
              <a:gd name="connsiteY39" fmla="*/ 284114 h 358371"/>
              <a:gd name="connsiteX40" fmla="*/ 48870 w 268785"/>
              <a:gd name="connsiteY40" fmla="*/ 288187 h 358371"/>
              <a:gd name="connsiteX41" fmla="*/ 52943 w 268785"/>
              <a:gd name="connsiteY41" fmla="*/ 292259 h 358371"/>
              <a:gd name="connsiteX42" fmla="*/ 158828 w 268785"/>
              <a:gd name="connsiteY42" fmla="*/ 292259 h 358371"/>
              <a:gd name="connsiteX43" fmla="*/ 162900 w 268785"/>
              <a:gd name="connsiteY43" fmla="*/ 288187 h 358371"/>
              <a:gd name="connsiteX44" fmla="*/ 158828 w 268785"/>
              <a:gd name="connsiteY44" fmla="*/ 284114 h 358371"/>
              <a:gd name="connsiteX45" fmla="*/ 52943 w 268785"/>
              <a:gd name="connsiteY45" fmla="*/ 284114 h 358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68785" h="358371">
                <a:moveTo>
                  <a:pt x="20363" y="-952"/>
                </a:moveTo>
                <a:cubicBezTo>
                  <a:pt x="9152" y="-952"/>
                  <a:pt x="0" y="8199"/>
                  <a:pt x="0" y="19410"/>
                </a:cubicBezTo>
                <a:lnTo>
                  <a:pt x="0" y="337057"/>
                </a:lnTo>
                <a:cubicBezTo>
                  <a:pt x="0" y="348256"/>
                  <a:pt x="9152" y="357419"/>
                  <a:pt x="20363" y="357419"/>
                </a:cubicBezTo>
                <a:lnTo>
                  <a:pt x="248423" y="357419"/>
                </a:lnTo>
                <a:cubicBezTo>
                  <a:pt x="259633" y="357419"/>
                  <a:pt x="268785" y="348256"/>
                  <a:pt x="268785" y="337057"/>
                </a:cubicBezTo>
                <a:lnTo>
                  <a:pt x="268785" y="19410"/>
                </a:lnTo>
                <a:cubicBezTo>
                  <a:pt x="268785" y="8199"/>
                  <a:pt x="259633" y="-952"/>
                  <a:pt x="248423" y="-952"/>
                </a:cubicBezTo>
                <a:lnTo>
                  <a:pt x="20363" y="-952"/>
                </a:lnTo>
                <a:close/>
                <a:moveTo>
                  <a:pt x="20363" y="7193"/>
                </a:moveTo>
                <a:lnTo>
                  <a:pt x="248423" y="7193"/>
                </a:lnTo>
                <a:cubicBezTo>
                  <a:pt x="255261" y="7193"/>
                  <a:pt x="260640" y="12572"/>
                  <a:pt x="260640" y="19410"/>
                </a:cubicBezTo>
                <a:lnTo>
                  <a:pt x="260640" y="337057"/>
                </a:lnTo>
                <a:cubicBezTo>
                  <a:pt x="260640" y="343899"/>
                  <a:pt x="255261" y="349274"/>
                  <a:pt x="248423" y="349274"/>
                </a:cubicBezTo>
                <a:lnTo>
                  <a:pt x="20363" y="349274"/>
                </a:lnTo>
                <a:cubicBezTo>
                  <a:pt x="13524" y="349274"/>
                  <a:pt x="8145" y="343899"/>
                  <a:pt x="8145" y="337057"/>
                </a:cubicBezTo>
                <a:lnTo>
                  <a:pt x="8145" y="19410"/>
                </a:lnTo>
                <a:cubicBezTo>
                  <a:pt x="8145" y="12572"/>
                  <a:pt x="13524" y="7193"/>
                  <a:pt x="20363" y="7193"/>
                </a:cubicBezTo>
                <a:close/>
                <a:moveTo>
                  <a:pt x="52943" y="64208"/>
                </a:moveTo>
                <a:cubicBezTo>
                  <a:pt x="50693" y="64208"/>
                  <a:pt x="48870" y="66032"/>
                  <a:pt x="48870" y="68280"/>
                </a:cubicBezTo>
                <a:cubicBezTo>
                  <a:pt x="48870" y="70528"/>
                  <a:pt x="50693" y="72353"/>
                  <a:pt x="52943" y="72353"/>
                </a:cubicBezTo>
                <a:lnTo>
                  <a:pt x="215843" y="72353"/>
                </a:lnTo>
                <a:cubicBezTo>
                  <a:pt x="218092" y="72353"/>
                  <a:pt x="219915" y="70528"/>
                  <a:pt x="219915" y="68280"/>
                </a:cubicBezTo>
                <a:cubicBezTo>
                  <a:pt x="219915" y="66032"/>
                  <a:pt x="218092" y="64208"/>
                  <a:pt x="215843" y="64208"/>
                </a:cubicBezTo>
                <a:lnTo>
                  <a:pt x="52943" y="64208"/>
                </a:lnTo>
                <a:close/>
                <a:moveTo>
                  <a:pt x="52943" y="137513"/>
                </a:moveTo>
                <a:cubicBezTo>
                  <a:pt x="50693" y="137513"/>
                  <a:pt x="48870" y="139337"/>
                  <a:pt x="48870" y="141585"/>
                </a:cubicBezTo>
                <a:cubicBezTo>
                  <a:pt x="48870" y="143833"/>
                  <a:pt x="50693" y="145658"/>
                  <a:pt x="52943" y="145658"/>
                </a:cubicBezTo>
                <a:lnTo>
                  <a:pt x="215843" y="145658"/>
                </a:lnTo>
                <a:cubicBezTo>
                  <a:pt x="218092" y="145658"/>
                  <a:pt x="219915" y="143833"/>
                  <a:pt x="219915" y="141585"/>
                </a:cubicBezTo>
                <a:cubicBezTo>
                  <a:pt x="219915" y="139337"/>
                  <a:pt x="218092" y="137513"/>
                  <a:pt x="215843" y="137513"/>
                </a:cubicBezTo>
                <a:lnTo>
                  <a:pt x="52943" y="137513"/>
                </a:lnTo>
                <a:close/>
                <a:moveTo>
                  <a:pt x="52943" y="210809"/>
                </a:moveTo>
                <a:cubicBezTo>
                  <a:pt x="50693" y="210809"/>
                  <a:pt x="48870" y="212642"/>
                  <a:pt x="48870" y="214882"/>
                </a:cubicBezTo>
                <a:cubicBezTo>
                  <a:pt x="48870" y="217122"/>
                  <a:pt x="50693" y="218954"/>
                  <a:pt x="52943" y="218954"/>
                </a:cubicBezTo>
                <a:lnTo>
                  <a:pt x="215843" y="218954"/>
                </a:lnTo>
                <a:cubicBezTo>
                  <a:pt x="218092" y="218954"/>
                  <a:pt x="219915" y="217122"/>
                  <a:pt x="219915" y="214882"/>
                </a:cubicBezTo>
                <a:cubicBezTo>
                  <a:pt x="219915" y="212642"/>
                  <a:pt x="218092" y="210809"/>
                  <a:pt x="215843" y="210809"/>
                </a:cubicBezTo>
                <a:lnTo>
                  <a:pt x="52943" y="210809"/>
                </a:lnTo>
                <a:close/>
                <a:moveTo>
                  <a:pt x="52943" y="284114"/>
                </a:moveTo>
                <a:cubicBezTo>
                  <a:pt x="50693" y="284114"/>
                  <a:pt x="48870" y="285947"/>
                  <a:pt x="48870" y="288187"/>
                </a:cubicBezTo>
                <a:cubicBezTo>
                  <a:pt x="48870" y="290427"/>
                  <a:pt x="50693" y="292259"/>
                  <a:pt x="52943" y="292259"/>
                </a:cubicBezTo>
                <a:lnTo>
                  <a:pt x="158828" y="292259"/>
                </a:lnTo>
                <a:cubicBezTo>
                  <a:pt x="161077" y="292259"/>
                  <a:pt x="162900" y="290427"/>
                  <a:pt x="162900" y="288187"/>
                </a:cubicBezTo>
                <a:cubicBezTo>
                  <a:pt x="162900" y="285947"/>
                  <a:pt x="161077" y="284114"/>
                  <a:pt x="158828" y="284114"/>
                </a:cubicBezTo>
                <a:lnTo>
                  <a:pt x="52943" y="284114"/>
                </a:lnTo>
                <a:close/>
              </a:path>
            </a:pathLst>
          </a:custGeom>
          <a:solidFill>
            <a:srgbClr val="000000">
              <a:lumMod val="75000"/>
              <a:lumOff val="25000"/>
            </a:srgbClr>
          </a:solidFill>
          <a:ln w="4001" cap="flat">
            <a:solidFill>
              <a:schemeClr val="bg1"/>
            </a:solid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Boehringer Forward Text"/>
              <a:ea typeface="+mn-ea"/>
              <a:cs typeface="+mn-cs"/>
            </a:endParaRPr>
          </a:p>
        </p:txBody>
      </p:sp>
      <p:sp>
        <p:nvSpPr>
          <p:cNvPr id="23" name="TextBox 22">
            <a:extLst>
              <a:ext uri="{FF2B5EF4-FFF2-40B4-BE49-F238E27FC236}">
                <a16:creationId xmlns:a16="http://schemas.microsoft.com/office/drawing/2014/main" id="{47790EF3-C446-7C5D-9599-A4FB73C47EFB}"/>
              </a:ext>
            </a:extLst>
          </p:cNvPr>
          <p:cNvSpPr txBox="1"/>
          <p:nvPr/>
        </p:nvSpPr>
        <p:spPr bwMode="gray">
          <a:xfrm>
            <a:off x="645455" y="1109054"/>
            <a:ext cx="2898166" cy="315920"/>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Team Proposal/Key</a:t>
            </a:r>
            <a:r>
              <a:rPr kumimoji="0" lang="zh-CN" altLang="en-US" sz="1600" b="0" i="0" u="none" strike="noStrike" kern="1200" cap="none" spc="0" normalizeH="0" baseline="0" noProof="0">
                <a:ln>
                  <a:noFill/>
                </a:ln>
                <a:solidFill>
                  <a:prstClr val="white"/>
                </a:solidFill>
                <a:effectLst/>
                <a:uLnTx/>
                <a:uFillTx/>
                <a:latin typeface="Boehringer Forward Text"/>
                <a:ea typeface="+mn-ea"/>
                <a:cs typeface="+mn-cs"/>
              </a:rPr>
              <a:t> </a:t>
            </a: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Messages </a:t>
            </a:r>
            <a:endParaRPr kumimoji="0" lang="zh-CN" altLang="en-US" sz="1600" b="0" i="0" u="none" strike="noStrike" kern="1200" cap="none" spc="0" normalizeH="0" baseline="0" noProof="0">
              <a:ln>
                <a:noFill/>
              </a:ln>
              <a:solidFill>
                <a:prstClr val="white"/>
              </a:solidFill>
              <a:effectLst/>
              <a:uLnTx/>
              <a:uFillTx/>
              <a:latin typeface="Boehringer Forward Text"/>
              <a:ea typeface="+mn-ea"/>
              <a:cs typeface="+mn-cs"/>
            </a:endParaRPr>
          </a:p>
        </p:txBody>
      </p:sp>
      <p:pic>
        <p:nvPicPr>
          <p:cNvPr id="39" name="Picture 4">
            <a:extLst>
              <a:ext uri="{FF2B5EF4-FFF2-40B4-BE49-F238E27FC236}">
                <a16:creationId xmlns:a16="http://schemas.microsoft.com/office/drawing/2014/main" id="{170D9C01-6AB5-C418-57EC-EF99EF9E35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9253" y="1875809"/>
            <a:ext cx="319649" cy="319649"/>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a:extLst>
              <a:ext uri="{FF2B5EF4-FFF2-40B4-BE49-F238E27FC236}">
                <a16:creationId xmlns:a16="http://schemas.microsoft.com/office/drawing/2014/main" id="{D0CFF2B3-C95A-C625-101F-D3847ED368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3600" y="1153365"/>
            <a:ext cx="358380" cy="353537"/>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a:extLst>
              <a:ext uri="{FF2B5EF4-FFF2-40B4-BE49-F238E27FC236}">
                <a16:creationId xmlns:a16="http://schemas.microsoft.com/office/drawing/2014/main" id="{9DEA2D82-30F2-9D77-C3DF-3F28E0CB96CD}"/>
              </a:ext>
            </a:extLst>
          </p:cNvPr>
          <p:cNvSpPr txBox="1"/>
          <p:nvPr/>
        </p:nvSpPr>
        <p:spPr bwMode="gray">
          <a:xfrm>
            <a:off x="4205190" y="1871455"/>
            <a:ext cx="6179906" cy="1231106"/>
          </a:xfrm>
          <a:prstGeom prst="rect">
            <a:avLst/>
          </a:prstGeom>
          <a:noFill/>
        </p:spPr>
        <p:txBody>
          <a:bodyPr wrap="square" lIns="91440" tIns="45720" rIns="91440" bIns="45720" anchor="t">
            <a:spAutoFit/>
          </a:bodyPr>
          <a:lstStyle/>
          <a:p>
            <a:pPr>
              <a:spcBef>
                <a:spcPts val="600"/>
              </a:spcBef>
              <a:spcAft>
                <a:spcPts val="600"/>
              </a:spcAft>
            </a:pPr>
            <a:r>
              <a:rPr lang="en-US" altLang="zh-CN"/>
              <a:t>ASK FOR PEC'S ENDORSEMENT: </a:t>
            </a:r>
            <a:endParaRPr lang="en-US" altLang="zh-CN" dirty="0"/>
          </a:p>
          <a:p>
            <a:pPr marL="285750" indent="-285750">
              <a:spcBef>
                <a:spcPts val="600"/>
              </a:spcBef>
              <a:spcAft>
                <a:spcPts val="600"/>
              </a:spcAft>
              <a:buFont typeface="Arial" panose="020B0604020202020204" pitchFamily="34" charset="0"/>
              <a:buChar char="•"/>
            </a:pPr>
            <a:r>
              <a:rPr lang="en-US" altLang="zh-CN"/>
              <a:t>China HA interaction strategy and timeline</a:t>
            </a:r>
            <a:endParaRPr lang="en-US"/>
          </a:p>
          <a:p>
            <a:pPr marL="285750" indent="-285750">
              <a:spcBef>
                <a:spcPts val="600"/>
              </a:spcBef>
              <a:spcAft>
                <a:spcPts val="600"/>
              </a:spcAft>
              <a:buFont typeface="Arial" panose="020B0604020202020204" pitchFamily="34" charset="0"/>
              <a:buChar char="•"/>
            </a:pPr>
            <a:r>
              <a:rPr lang="en-US" altLang="zh-CN" dirty="0"/>
              <a:t>Joint Asian phase 1 plan</a:t>
            </a:r>
          </a:p>
        </p:txBody>
      </p:sp>
    </p:spTree>
    <p:extLst>
      <p:ext uri="{BB962C8B-B14F-4D97-AF65-F5344CB8AC3E}">
        <p14:creationId xmlns:p14="http://schemas.microsoft.com/office/powerpoint/2010/main" val="1376912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7C6C1-60A6-8E76-107A-DEA847F6219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CC35751-4785-2546-FCBD-5C432048D4D5}"/>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7" name="文本框 6">
            <a:extLst>
              <a:ext uri="{FF2B5EF4-FFF2-40B4-BE49-F238E27FC236}">
                <a16:creationId xmlns:a16="http://schemas.microsoft.com/office/drawing/2014/main" id="{68949D1C-DB78-060D-1E3E-ECAD84C73F2C}"/>
              </a:ext>
            </a:extLst>
          </p:cNvPr>
          <p:cNvSpPr txBox="1"/>
          <p:nvPr/>
        </p:nvSpPr>
        <p:spPr bwMode="gray">
          <a:xfrm>
            <a:off x="482885" y="0"/>
            <a:ext cx="3575407" cy="315920"/>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600" b="1" i="0" u="none" strike="noStrike" kern="1200" cap="none" spc="0" normalizeH="0" baseline="0" noProof="0">
                <a:ln>
                  <a:noFill/>
                </a:ln>
                <a:solidFill>
                  <a:prstClr val="black"/>
                </a:solidFill>
                <a:effectLst/>
                <a:uLnTx/>
                <a:uFillTx/>
                <a:latin typeface="Boehringer Forward Text"/>
                <a:ea typeface="+mn-ea"/>
                <a:cs typeface="+mn-cs"/>
              </a:rPr>
              <a:t>Japan timeline</a:t>
            </a:r>
            <a:endParaRPr kumimoji="0" lang="zh-CN" altLang="en-US" sz="16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 name="文本框 7">
            <a:extLst>
              <a:ext uri="{FF2B5EF4-FFF2-40B4-BE49-F238E27FC236}">
                <a16:creationId xmlns:a16="http://schemas.microsoft.com/office/drawing/2014/main" id="{32FEE5C7-93EE-AB7B-6426-A5AE379E0223}"/>
              </a:ext>
            </a:extLst>
          </p:cNvPr>
          <p:cNvSpPr txBox="1"/>
          <p:nvPr/>
        </p:nvSpPr>
        <p:spPr bwMode="gray">
          <a:xfrm>
            <a:off x="5986272" y="-5560"/>
            <a:ext cx="3575407" cy="315920"/>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600" b="1" i="0" u="none" strike="noStrike" kern="1200" cap="none" spc="0" normalizeH="0" baseline="0" noProof="0">
                <a:ln>
                  <a:noFill/>
                </a:ln>
                <a:solidFill>
                  <a:prstClr val="black"/>
                </a:solidFill>
                <a:effectLst/>
                <a:uLnTx/>
                <a:uFillTx/>
                <a:latin typeface="Boehringer Forward Text"/>
                <a:ea typeface="+mn-ea"/>
                <a:cs typeface="+mn-cs"/>
              </a:rPr>
              <a:t>China timeline</a:t>
            </a:r>
            <a:endParaRPr kumimoji="0" lang="zh-CN" altLang="en-US" sz="16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 name="テキスト ボックス 2">
            <a:extLst>
              <a:ext uri="{FF2B5EF4-FFF2-40B4-BE49-F238E27FC236}">
                <a16:creationId xmlns:a16="http://schemas.microsoft.com/office/drawing/2014/main" id="{4104AD40-65F0-456F-42EF-4B336AF5E5BB}"/>
              </a:ext>
            </a:extLst>
          </p:cNvPr>
          <p:cNvSpPr txBox="1"/>
          <p:nvPr/>
        </p:nvSpPr>
        <p:spPr bwMode="gray">
          <a:xfrm>
            <a:off x="1998489" y="-5560"/>
            <a:ext cx="794898" cy="315920"/>
          </a:xfrm>
          <a:prstGeom prst="rect">
            <a:avLst/>
          </a:prstGeom>
          <a:solidFill>
            <a:srgbClr val="FFFF00"/>
          </a:solid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prstClr val="black"/>
                </a:solidFill>
                <a:effectLst/>
                <a:uLnTx/>
                <a:uFillTx/>
                <a:latin typeface="Boehringer Forward Text"/>
                <a:ea typeface="+mn-ea"/>
                <a:cs typeface="+mn-cs"/>
              </a:rPr>
              <a:t>updated</a:t>
            </a: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graphicFrame>
        <p:nvGraphicFramePr>
          <p:cNvPr id="4" name="Table 8">
            <a:extLst>
              <a:ext uri="{FF2B5EF4-FFF2-40B4-BE49-F238E27FC236}">
                <a16:creationId xmlns:a16="http://schemas.microsoft.com/office/drawing/2014/main" id="{A73B0F8C-96A8-27EB-A4BA-CC312DB27A17}"/>
              </a:ext>
            </a:extLst>
          </p:cNvPr>
          <p:cNvGraphicFramePr>
            <a:graphicFrameLocks noGrp="1"/>
          </p:cNvGraphicFramePr>
          <p:nvPr/>
        </p:nvGraphicFramePr>
        <p:xfrm>
          <a:off x="183501" y="423136"/>
          <a:ext cx="5071990" cy="6171196"/>
        </p:xfrm>
        <a:graphic>
          <a:graphicData uri="http://schemas.openxmlformats.org/drawingml/2006/table">
            <a:tbl>
              <a:tblPr bandRow="1">
                <a:tableStyleId>{5940675A-B579-460E-94D1-54222C63F5DA}</a:tableStyleId>
              </a:tblPr>
              <a:tblGrid>
                <a:gridCol w="1959335">
                  <a:extLst>
                    <a:ext uri="{9D8B030D-6E8A-4147-A177-3AD203B41FA5}">
                      <a16:colId xmlns:a16="http://schemas.microsoft.com/office/drawing/2014/main" val="3838535701"/>
                    </a:ext>
                  </a:extLst>
                </a:gridCol>
                <a:gridCol w="951346">
                  <a:extLst>
                    <a:ext uri="{9D8B030D-6E8A-4147-A177-3AD203B41FA5}">
                      <a16:colId xmlns:a16="http://schemas.microsoft.com/office/drawing/2014/main" val="3758996023"/>
                    </a:ext>
                  </a:extLst>
                </a:gridCol>
                <a:gridCol w="1126836">
                  <a:extLst>
                    <a:ext uri="{9D8B030D-6E8A-4147-A177-3AD203B41FA5}">
                      <a16:colId xmlns:a16="http://schemas.microsoft.com/office/drawing/2014/main" val="2909090795"/>
                    </a:ext>
                  </a:extLst>
                </a:gridCol>
                <a:gridCol w="1034473">
                  <a:extLst>
                    <a:ext uri="{9D8B030D-6E8A-4147-A177-3AD203B41FA5}">
                      <a16:colId xmlns:a16="http://schemas.microsoft.com/office/drawing/2014/main" val="1925633484"/>
                    </a:ext>
                  </a:extLst>
                </a:gridCol>
              </a:tblGrid>
              <a:tr h="223919">
                <a:tc>
                  <a:txBody>
                    <a:bodyPr/>
                    <a:lstStyle/>
                    <a:p>
                      <a:pPr>
                        <a:buNone/>
                      </a:pPr>
                      <a:r>
                        <a:rPr lang="en-US" sz="900">
                          <a:effectLst/>
                        </a:rPr>
                        <a:t>Task Name</a:t>
                      </a:r>
                      <a:endParaRPr lang="en-US" sz="900"/>
                    </a:p>
                  </a:txBody>
                  <a:tcPr anchor="ctr">
                    <a:solidFill>
                      <a:schemeClr val="tx2"/>
                    </a:solidFill>
                  </a:tcPr>
                </a:tc>
                <a:tc>
                  <a:txBody>
                    <a:bodyPr/>
                    <a:lstStyle/>
                    <a:p>
                      <a:pPr>
                        <a:buNone/>
                      </a:pPr>
                      <a:r>
                        <a:rPr lang="en-US" sz="900">
                          <a:effectLst/>
                        </a:rPr>
                        <a:t>Duration</a:t>
                      </a:r>
                      <a:endParaRPr lang="en-US" sz="900"/>
                    </a:p>
                  </a:txBody>
                  <a:tcPr anchor="ctr">
                    <a:solidFill>
                      <a:schemeClr val="tx2"/>
                    </a:solidFill>
                  </a:tcPr>
                </a:tc>
                <a:tc>
                  <a:txBody>
                    <a:bodyPr/>
                    <a:lstStyle/>
                    <a:p>
                      <a:pPr>
                        <a:buNone/>
                      </a:pPr>
                      <a:r>
                        <a:rPr lang="en-US" sz="900">
                          <a:effectLst/>
                        </a:rPr>
                        <a:t>Start</a:t>
                      </a:r>
                      <a:endParaRPr lang="en-US" sz="900"/>
                    </a:p>
                  </a:txBody>
                  <a:tcPr anchor="ctr">
                    <a:solidFill>
                      <a:schemeClr val="tx2"/>
                    </a:solidFill>
                  </a:tcPr>
                </a:tc>
                <a:tc>
                  <a:txBody>
                    <a:bodyPr/>
                    <a:lstStyle/>
                    <a:p>
                      <a:pPr>
                        <a:buNone/>
                      </a:pPr>
                      <a:r>
                        <a:rPr lang="en-US" sz="900">
                          <a:effectLst/>
                        </a:rPr>
                        <a:t>Finish</a:t>
                      </a:r>
                      <a:endParaRPr lang="en-US" sz="900"/>
                    </a:p>
                  </a:txBody>
                  <a:tcPr anchor="ctr">
                    <a:solidFill>
                      <a:schemeClr val="tx2"/>
                    </a:solidFill>
                  </a:tcPr>
                </a:tc>
                <a:extLst>
                  <a:ext uri="{0D108BD9-81ED-4DB2-BD59-A6C34878D82A}">
                    <a16:rowId xmlns:a16="http://schemas.microsoft.com/office/drawing/2014/main" val="989235371"/>
                  </a:ext>
                </a:extLst>
              </a:tr>
              <a:tr h="223919">
                <a:tc>
                  <a:txBody>
                    <a:bodyPr/>
                    <a:lstStyle/>
                    <a:p>
                      <a:pPr>
                        <a:buNone/>
                      </a:pPr>
                      <a:r>
                        <a:rPr lang="en-US" sz="900"/>
                        <a:t>CTP development</a:t>
                      </a:r>
                    </a:p>
                  </a:txBody>
                  <a:tcPr anchor="ctr">
                    <a:solidFill>
                      <a:schemeClr val="accent4"/>
                    </a:solidFill>
                  </a:tcPr>
                </a:tc>
                <a:tc>
                  <a:txBody>
                    <a:bodyPr/>
                    <a:lstStyle/>
                    <a:p>
                      <a:pPr>
                        <a:buNone/>
                      </a:pPr>
                      <a:r>
                        <a:rPr lang="en-US" sz="900"/>
                        <a:t>140 edays</a:t>
                      </a:r>
                    </a:p>
                  </a:txBody>
                  <a:tcPr anchor="ctr"/>
                </a:tc>
                <a:tc>
                  <a:txBody>
                    <a:bodyPr/>
                    <a:lstStyle/>
                    <a:p>
                      <a:pPr>
                        <a:buNone/>
                      </a:pPr>
                      <a:r>
                        <a:rPr lang="en-US" sz="900"/>
                        <a:t>2026-07-20</a:t>
                      </a:r>
                    </a:p>
                  </a:txBody>
                  <a:tcPr anchor="ctr"/>
                </a:tc>
                <a:tc>
                  <a:txBody>
                    <a:bodyPr/>
                    <a:lstStyle/>
                    <a:p>
                      <a:pPr>
                        <a:buNone/>
                      </a:pPr>
                      <a:r>
                        <a:rPr lang="en-US" sz="900"/>
                        <a:t>2026-12-07</a:t>
                      </a:r>
                    </a:p>
                  </a:txBody>
                  <a:tcPr anchor="ctr"/>
                </a:tc>
                <a:extLst>
                  <a:ext uri="{0D108BD9-81ED-4DB2-BD59-A6C34878D82A}">
                    <a16:rowId xmlns:a16="http://schemas.microsoft.com/office/drawing/2014/main" val="426296496"/>
                  </a:ext>
                </a:extLst>
              </a:tr>
              <a:tr h="223919">
                <a:tc>
                  <a:txBody>
                    <a:bodyPr/>
                    <a:lstStyle/>
                    <a:p>
                      <a:pPr>
                        <a:buNone/>
                      </a:pPr>
                      <a:r>
                        <a:rPr lang="en-US" sz="900"/>
                        <a:t>CTN prep</a:t>
                      </a:r>
                    </a:p>
                  </a:txBody>
                  <a:tcPr anchor="ctr">
                    <a:solidFill>
                      <a:schemeClr val="accent4"/>
                    </a:solidFill>
                  </a:tcPr>
                </a:tc>
                <a:tc>
                  <a:txBody>
                    <a:bodyPr/>
                    <a:lstStyle/>
                    <a:p>
                      <a:pPr>
                        <a:buNone/>
                      </a:pPr>
                      <a:r>
                        <a:rPr lang="en-US" sz="900"/>
                        <a:t>21.38 </a:t>
                      </a:r>
                      <a:r>
                        <a:rPr lang="en-US" sz="900" err="1"/>
                        <a:t>edays</a:t>
                      </a:r>
                      <a:endParaRPr lang="en-US" sz="900"/>
                    </a:p>
                  </a:txBody>
                  <a:tcPr anchor="ctr"/>
                </a:tc>
                <a:tc>
                  <a:txBody>
                    <a:bodyPr/>
                    <a:lstStyle/>
                    <a:p>
                      <a:pPr>
                        <a:buNone/>
                      </a:pPr>
                      <a:r>
                        <a:rPr lang="en-US" sz="900"/>
                        <a:t>2027-01-07</a:t>
                      </a:r>
                    </a:p>
                  </a:txBody>
                  <a:tcPr anchor="ctr"/>
                </a:tc>
                <a:tc>
                  <a:txBody>
                    <a:bodyPr/>
                    <a:lstStyle/>
                    <a:p>
                      <a:pPr>
                        <a:buNone/>
                      </a:pPr>
                      <a:r>
                        <a:rPr lang="en-US" sz="900"/>
                        <a:t>2027-01-28</a:t>
                      </a:r>
                    </a:p>
                  </a:txBody>
                  <a:tcPr anchor="ctr"/>
                </a:tc>
                <a:extLst>
                  <a:ext uri="{0D108BD9-81ED-4DB2-BD59-A6C34878D82A}">
                    <a16:rowId xmlns:a16="http://schemas.microsoft.com/office/drawing/2014/main" val="4055119388"/>
                  </a:ext>
                </a:extLst>
              </a:tr>
              <a:tr h="223919">
                <a:tc>
                  <a:txBody>
                    <a:bodyPr/>
                    <a:lstStyle/>
                    <a:p>
                      <a:pPr>
                        <a:buNone/>
                      </a:pPr>
                      <a:r>
                        <a:rPr lang="en-US" sz="900"/>
                        <a:t>CTN</a:t>
                      </a:r>
                    </a:p>
                  </a:txBody>
                  <a:tcPr anchor="ctr">
                    <a:solidFill>
                      <a:schemeClr val="accent4"/>
                    </a:solidFill>
                  </a:tcPr>
                </a:tc>
                <a:tc>
                  <a:txBody>
                    <a:bodyPr/>
                    <a:lstStyle/>
                    <a:p>
                      <a:pPr>
                        <a:buNone/>
                      </a:pPr>
                      <a:r>
                        <a:rPr lang="en-US" sz="900"/>
                        <a:t>1 days</a:t>
                      </a:r>
                    </a:p>
                  </a:txBody>
                  <a:tcPr anchor="ctr"/>
                </a:tc>
                <a:tc>
                  <a:txBody>
                    <a:bodyPr/>
                    <a:lstStyle/>
                    <a:p>
                      <a:pPr>
                        <a:buNone/>
                      </a:pPr>
                      <a:r>
                        <a:rPr lang="en-US" sz="900"/>
                        <a:t>2027-01-29</a:t>
                      </a:r>
                    </a:p>
                  </a:txBody>
                  <a:tcPr anchor="ctr"/>
                </a:tc>
                <a:tc>
                  <a:txBody>
                    <a:bodyPr/>
                    <a:lstStyle/>
                    <a:p>
                      <a:pPr>
                        <a:buNone/>
                      </a:pPr>
                      <a:r>
                        <a:rPr lang="en-US" sz="900"/>
                        <a:t>2027-01-29</a:t>
                      </a:r>
                    </a:p>
                  </a:txBody>
                  <a:tcPr anchor="ctr"/>
                </a:tc>
                <a:extLst>
                  <a:ext uri="{0D108BD9-81ED-4DB2-BD59-A6C34878D82A}">
                    <a16:rowId xmlns:a16="http://schemas.microsoft.com/office/drawing/2014/main" val="2420466855"/>
                  </a:ext>
                </a:extLst>
              </a:tr>
              <a:tr h="223919">
                <a:tc>
                  <a:txBody>
                    <a:bodyPr/>
                    <a:lstStyle/>
                    <a:p>
                      <a:pPr>
                        <a:buNone/>
                      </a:pPr>
                      <a:r>
                        <a:rPr lang="en-US" sz="900"/>
                        <a:t>PMDA 30-day review</a:t>
                      </a:r>
                    </a:p>
                  </a:txBody>
                  <a:tcPr anchor="ctr">
                    <a:solidFill>
                      <a:schemeClr val="accent4"/>
                    </a:solidFill>
                  </a:tcPr>
                </a:tc>
                <a:tc>
                  <a:txBody>
                    <a:bodyPr/>
                    <a:lstStyle/>
                    <a:p>
                      <a:pPr>
                        <a:buNone/>
                      </a:pPr>
                      <a:r>
                        <a:rPr lang="en-US" sz="900"/>
                        <a:t>30 </a:t>
                      </a:r>
                      <a:r>
                        <a:rPr lang="en-US" sz="900" err="1"/>
                        <a:t>edays</a:t>
                      </a:r>
                      <a:endParaRPr lang="en-US" sz="900"/>
                    </a:p>
                  </a:txBody>
                  <a:tcPr anchor="ctr"/>
                </a:tc>
                <a:tc>
                  <a:txBody>
                    <a:bodyPr/>
                    <a:lstStyle/>
                    <a:p>
                      <a:pPr>
                        <a:buNone/>
                      </a:pPr>
                      <a:r>
                        <a:rPr lang="en-US" sz="900"/>
                        <a:t>2027-01-29</a:t>
                      </a:r>
                    </a:p>
                  </a:txBody>
                  <a:tcPr anchor="ctr"/>
                </a:tc>
                <a:tc>
                  <a:txBody>
                    <a:bodyPr/>
                    <a:lstStyle/>
                    <a:p>
                      <a:pPr>
                        <a:buNone/>
                      </a:pPr>
                      <a:r>
                        <a:rPr lang="en-US" sz="900"/>
                        <a:t>2027-02-28</a:t>
                      </a:r>
                    </a:p>
                  </a:txBody>
                  <a:tcPr anchor="ctr"/>
                </a:tc>
                <a:extLst>
                  <a:ext uri="{0D108BD9-81ED-4DB2-BD59-A6C34878D82A}">
                    <a16:rowId xmlns:a16="http://schemas.microsoft.com/office/drawing/2014/main" val="2318850354"/>
                  </a:ext>
                </a:extLst>
              </a:tr>
              <a:tr h="223919">
                <a:tc>
                  <a:txBody>
                    <a:bodyPr/>
                    <a:lstStyle/>
                    <a:p>
                      <a:pPr>
                        <a:buNone/>
                      </a:pPr>
                      <a:r>
                        <a:rPr lang="en-US" sz="900"/>
                        <a:t>IRB/contract</a:t>
                      </a:r>
                    </a:p>
                  </a:txBody>
                  <a:tcPr anchor="ctr">
                    <a:solidFill>
                      <a:schemeClr val="accent6"/>
                    </a:solidFill>
                  </a:tcPr>
                </a:tc>
                <a:tc>
                  <a:txBody>
                    <a:bodyPr/>
                    <a:lstStyle/>
                    <a:p>
                      <a:pPr>
                        <a:buNone/>
                      </a:pPr>
                      <a:r>
                        <a:rPr lang="en-US" sz="900"/>
                        <a:t>30 </a:t>
                      </a:r>
                      <a:r>
                        <a:rPr lang="en-US" sz="900" err="1"/>
                        <a:t>edays</a:t>
                      </a:r>
                      <a:endParaRPr lang="en-US" sz="900"/>
                    </a:p>
                  </a:txBody>
                  <a:tcPr anchor="ctr"/>
                </a:tc>
                <a:tc>
                  <a:txBody>
                    <a:bodyPr/>
                    <a:lstStyle/>
                    <a:p>
                      <a:pPr>
                        <a:buNone/>
                      </a:pPr>
                      <a:r>
                        <a:rPr lang="en-US" sz="900"/>
                        <a:t>2027-02-28</a:t>
                      </a:r>
                    </a:p>
                  </a:txBody>
                  <a:tcPr anchor="ctr"/>
                </a:tc>
                <a:tc>
                  <a:txBody>
                    <a:bodyPr/>
                    <a:lstStyle/>
                    <a:p>
                      <a:pPr>
                        <a:buNone/>
                      </a:pPr>
                      <a:r>
                        <a:rPr lang="en-US" sz="900"/>
                        <a:t>2027-03-30</a:t>
                      </a:r>
                    </a:p>
                  </a:txBody>
                  <a:tcPr anchor="ctr"/>
                </a:tc>
                <a:extLst>
                  <a:ext uri="{0D108BD9-81ED-4DB2-BD59-A6C34878D82A}">
                    <a16:rowId xmlns:a16="http://schemas.microsoft.com/office/drawing/2014/main" val="4025249045"/>
                  </a:ext>
                </a:extLst>
              </a:tr>
              <a:tr h="259482">
                <a:tc>
                  <a:txBody>
                    <a:bodyPr/>
                    <a:lstStyle/>
                    <a:p>
                      <a:pPr>
                        <a:buNone/>
                      </a:pPr>
                      <a:r>
                        <a:rPr lang="en-US" sz="900"/>
                        <a:t>DG1 Subject identification</a:t>
                      </a:r>
                    </a:p>
                  </a:txBody>
                  <a:tcPr anchor="ctr">
                    <a:solidFill>
                      <a:schemeClr val="accent6"/>
                    </a:solidFill>
                  </a:tcPr>
                </a:tc>
                <a:tc>
                  <a:txBody>
                    <a:bodyPr/>
                    <a:lstStyle/>
                    <a:p>
                      <a:pPr>
                        <a:buNone/>
                      </a:pPr>
                      <a:r>
                        <a:rPr lang="en-US" sz="900"/>
                        <a:t>60 edays</a:t>
                      </a:r>
                      <a:endParaRPr lang="en-US" sz="900" err="1"/>
                    </a:p>
                  </a:txBody>
                  <a:tcPr anchor="ctr"/>
                </a:tc>
                <a:tc>
                  <a:txBody>
                    <a:bodyPr/>
                    <a:lstStyle/>
                    <a:p>
                      <a:pPr>
                        <a:buNone/>
                      </a:pPr>
                      <a:r>
                        <a:rPr lang="en-US" sz="900"/>
                        <a:t>2027-03-30</a:t>
                      </a:r>
                    </a:p>
                  </a:txBody>
                  <a:tcPr anchor="ctr"/>
                </a:tc>
                <a:tc>
                  <a:txBody>
                    <a:bodyPr/>
                    <a:lstStyle/>
                    <a:p>
                      <a:pPr>
                        <a:buNone/>
                      </a:pPr>
                      <a:r>
                        <a:rPr lang="en-US" sz="900"/>
                        <a:t>2027-05-29</a:t>
                      </a:r>
                    </a:p>
                  </a:txBody>
                  <a:tcPr anchor="ctr"/>
                </a:tc>
                <a:extLst>
                  <a:ext uri="{0D108BD9-81ED-4DB2-BD59-A6C34878D82A}">
                    <a16:rowId xmlns:a16="http://schemas.microsoft.com/office/drawing/2014/main" val="1540787116"/>
                  </a:ext>
                </a:extLst>
              </a:tr>
              <a:tr h="223919">
                <a:tc>
                  <a:txBody>
                    <a:bodyPr/>
                    <a:lstStyle/>
                    <a:p>
                      <a:pPr>
                        <a:buNone/>
                      </a:pPr>
                      <a:r>
                        <a:rPr lang="en-US" sz="900">
                          <a:solidFill>
                            <a:srgbClr val="FF0000"/>
                          </a:solidFill>
                        </a:rPr>
                        <a:t>First Subject Screened</a:t>
                      </a:r>
                    </a:p>
                  </a:txBody>
                  <a:tcPr anchor="ctr">
                    <a:solidFill>
                      <a:schemeClr val="accent6"/>
                    </a:solidFill>
                  </a:tcPr>
                </a:tc>
                <a:tc>
                  <a:txBody>
                    <a:bodyPr/>
                    <a:lstStyle/>
                    <a:p>
                      <a:pPr>
                        <a:buNone/>
                      </a:pPr>
                      <a:r>
                        <a:rPr lang="en-US" sz="900">
                          <a:solidFill>
                            <a:srgbClr val="FF0000"/>
                          </a:solidFill>
                        </a:rPr>
                        <a:t>0 days</a:t>
                      </a:r>
                    </a:p>
                  </a:txBody>
                  <a:tcPr anchor="ctr"/>
                </a:tc>
                <a:tc>
                  <a:txBody>
                    <a:bodyPr/>
                    <a:lstStyle/>
                    <a:p>
                      <a:pPr>
                        <a:buNone/>
                      </a:pPr>
                      <a:r>
                        <a:rPr lang="en-US" sz="900">
                          <a:solidFill>
                            <a:srgbClr val="FF0000"/>
                          </a:solidFill>
                        </a:rPr>
                        <a:t>2027-05-29</a:t>
                      </a:r>
                    </a:p>
                  </a:txBody>
                  <a:tcPr anchor="ctr"/>
                </a:tc>
                <a:tc>
                  <a:txBody>
                    <a:bodyPr/>
                    <a:lstStyle/>
                    <a:p>
                      <a:pPr>
                        <a:buNone/>
                      </a:pPr>
                      <a:r>
                        <a:rPr lang="en-US" sz="900">
                          <a:solidFill>
                            <a:srgbClr val="FF0000"/>
                          </a:solidFill>
                        </a:rPr>
                        <a:t>2027-05-29</a:t>
                      </a:r>
                    </a:p>
                  </a:txBody>
                  <a:tcPr anchor="ctr"/>
                </a:tc>
                <a:extLst>
                  <a:ext uri="{0D108BD9-81ED-4DB2-BD59-A6C34878D82A}">
                    <a16:rowId xmlns:a16="http://schemas.microsoft.com/office/drawing/2014/main" val="3182133024"/>
                  </a:ext>
                </a:extLst>
              </a:tr>
              <a:tr h="223919">
                <a:tc>
                  <a:txBody>
                    <a:bodyPr/>
                    <a:lstStyle/>
                    <a:p>
                      <a:pPr>
                        <a:buNone/>
                      </a:pPr>
                      <a:r>
                        <a:rPr lang="en-US" sz="900"/>
                        <a:t>DG1 dosing (MABEL)</a:t>
                      </a:r>
                    </a:p>
                  </a:txBody>
                  <a:tcPr anchor="ctr">
                    <a:solidFill>
                      <a:schemeClr val="accent6"/>
                    </a:solidFill>
                  </a:tcPr>
                </a:tc>
                <a:tc>
                  <a:txBody>
                    <a:bodyPr/>
                    <a:lstStyle/>
                    <a:p>
                      <a:pPr>
                        <a:buNone/>
                      </a:pPr>
                      <a:r>
                        <a:rPr lang="en-US" sz="900"/>
                        <a:t>24 days</a:t>
                      </a:r>
                    </a:p>
                  </a:txBody>
                  <a:tcPr anchor="ctr"/>
                </a:tc>
                <a:tc>
                  <a:txBody>
                    <a:bodyPr/>
                    <a:lstStyle/>
                    <a:p>
                      <a:pPr>
                        <a:buNone/>
                      </a:pPr>
                      <a:r>
                        <a:rPr lang="en-US" sz="900"/>
                        <a:t>2027-05-29</a:t>
                      </a:r>
                    </a:p>
                  </a:txBody>
                  <a:tcPr anchor="ctr"/>
                </a:tc>
                <a:tc>
                  <a:txBody>
                    <a:bodyPr/>
                    <a:lstStyle/>
                    <a:p>
                      <a:pPr>
                        <a:buNone/>
                      </a:pPr>
                      <a:r>
                        <a:rPr lang="en-US" sz="900"/>
                        <a:t>2027-06-22</a:t>
                      </a:r>
                    </a:p>
                  </a:txBody>
                  <a:tcPr anchor="ctr"/>
                </a:tc>
                <a:extLst>
                  <a:ext uri="{0D108BD9-81ED-4DB2-BD59-A6C34878D82A}">
                    <a16:rowId xmlns:a16="http://schemas.microsoft.com/office/drawing/2014/main" val="1245132370"/>
                  </a:ext>
                </a:extLst>
              </a:tr>
              <a:tr h="268350">
                <a:tc>
                  <a:txBody>
                    <a:bodyPr/>
                    <a:lstStyle/>
                    <a:p>
                      <a:pPr>
                        <a:buNone/>
                      </a:pPr>
                      <a:r>
                        <a:rPr lang="en-US" sz="900"/>
                        <a:t>DG1 dosing (target dose)</a:t>
                      </a:r>
                    </a:p>
                  </a:txBody>
                  <a:tcPr anchor="ctr">
                    <a:solidFill>
                      <a:schemeClr val="accent6"/>
                    </a:solidFill>
                  </a:tcPr>
                </a:tc>
                <a:tc>
                  <a:txBody>
                    <a:bodyPr/>
                    <a:lstStyle/>
                    <a:p>
                      <a:pPr>
                        <a:buNone/>
                      </a:pPr>
                      <a:r>
                        <a:rPr lang="en-US" sz="900"/>
                        <a:t>0 </a:t>
                      </a:r>
                      <a:r>
                        <a:rPr lang="en-US" sz="900" err="1"/>
                        <a:t>edays</a:t>
                      </a:r>
                      <a:endParaRPr lang="en-US" sz="900"/>
                    </a:p>
                  </a:txBody>
                  <a:tcPr anchor="ctr"/>
                </a:tc>
                <a:tc>
                  <a:txBody>
                    <a:bodyPr/>
                    <a:lstStyle/>
                    <a:p>
                      <a:pPr>
                        <a:buNone/>
                      </a:pPr>
                      <a:r>
                        <a:rPr lang="en-US" sz="900"/>
                        <a:t>2027-06-22</a:t>
                      </a:r>
                    </a:p>
                  </a:txBody>
                  <a:tcPr anchor="ctr"/>
                </a:tc>
                <a:tc>
                  <a:txBody>
                    <a:bodyPr/>
                    <a:lstStyle/>
                    <a:p>
                      <a:pPr>
                        <a:buNone/>
                      </a:pPr>
                      <a:r>
                        <a:rPr lang="en-US" sz="900"/>
                        <a:t>2027-06-22</a:t>
                      </a:r>
                    </a:p>
                  </a:txBody>
                  <a:tcPr anchor="ctr"/>
                </a:tc>
                <a:extLst>
                  <a:ext uri="{0D108BD9-81ED-4DB2-BD59-A6C34878D82A}">
                    <a16:rowId xmlns:a16="http://schemas.microsoft.com/office/drawing/2014/main" val="3661507380"/>
                  </a:ext>
                </a:extLst>
              </a:tr>
              <a:tr h="223919">
                <a:tc>
                  <a:txBody>
                    <a:bodyPr/>
                    <a:lstStyle/>
                    <a:p>
                      <a:pPr>
                        <a:buNone/>
                      </a:pPr>
                      <a:r>
                        <a:rPr lang="en-US" sz="900"/>
                        <a:t>DG1 safety observation</a:t>
                      </a:r>
                    </a:p>
                  </a:txBody>
                  <a:tcPr anchor="ctr">
                    <a:solidFill>
                      <a:schemeClr val="accent6"/>
                    </a:solidFill>
                  </a:tcPr>
                </a:tc>
                <a:tc>
                  <a:txBody>
                    <a:bodyPr/>
                    <a:lstStyle/>
                    <a:p>
                      <a:pPr>
                        <a:buNone/>
                      </a:pPr>
                      <a:r>
                        <a:rPr lang="en-US" sz="900"/>
                        <a:t>28 edays</a:t>
                      </a:r>
                      <a:endParaRPr lang="en-US" sz="900" err="1"/>
                    </a:p>
                  </a:txBody>
                  <a:tcPr anchor="ctr"/>
                </a:tc>
                <a:tc>
                  <a:txBody>
                    <a:bodyPr/>
                    <a:lstStyle/>
                    <a:p>
                      <a:pPr>
                        <a:buNone/>
                      </a:pPr>
                      <a:r>
                        <a:rPr lang="en-US" sz="900"/>
                        <a:t>2027-06-22</a:t>
                      </a:r>
                    </a:p>
                  </a:txBody>
                  <a:tcPr anchor="ctr"/>
                </a:tc>
                <a:tc>
                  <a:txBody>
                    <a:bodyPr/>
                    <a:lstStyle/>
                    <a:p>
                      <a:pPr>
                        <a:buNone/>
                      </a:pPr>
                      <a:r>
                        <a:rPr lang="en-US" sz="900"/>
                        <a:t>2027-07-20</a:t>
                      </a:r>
                    </a:p>
                  </a:txBody>
                  <a:tcPr anchor="ctr"/>
                </a:tc>
                <a:extLst>
                  <a:ext uri="{0D108BD9-81ED-4DB2-BD59-A6C34878D82A}">
                    <a16:rowId xmlns:a16="http://schemas.microsoft.com/office/drawing/2014/main" val="914777403"/>
                  </a:ext>
                </a:extLst>
              </a:tr>
              <a:tr h="223919">
                <a:tc>
                  <a:txBody>
                    <a:bodyPr/>
                    <a:lstStyle/>
                    <a:p>
                      <a:pPr>
                        <a:buNone/>
                      </a:pPr>
                      <a:r>
                        <a:rPr lang="en-US" sz="900"/>
                        <a:t>DG1 PK observation</a:t>
                      </a:r>
                    </a:p>
                  </a:txBody>
                  <a:tcPr anchor="ctr">
                    <a:solidFill>
                      <a:schemeClr val="accent6"/>
                    </a:solidFill>
                  </a:tcPr>
                </a:tc>
                <a:tc>
                  <a:txBody>
                    <a:bodyPr/>
                    <a:lstStyle/>
                    <a:p>
                      <a:pPr>
                        <a:buNone/>
                      </a:pPr>
                      <a:r>
                        <a:rPr lang="en-US" sz="900"/>
                        <a:t>60 edays</a:t>
                      </a:r>
                      <a:endParaRPr lang="en-US" sz="900" err="1"/>
                    </a:p>
                  </a:txBody>
                  <a:tcPr anchor="ctr"/>
                </a:tc>
                <a:tc>
                  <a:txBody>
                    <a:bodyPr/>
                    <a:lstStyle/>
                    <a:p>
                      <a:pPr>
                        <a:buNone/>
                      </a:pPr>
                      <a:r>
                        <a:rPr lang="en-US" sz="900"/>
                        <a:t>2027-05-29</a:t>
                      </a:r>
                    </a:p>
                  </a:txBody>
                  <a:tcPr anchor="ctr"/>
                </a:tc>
                <a:tc>
                  <a:txBody>
                    <a:bodyPr/>
                    <a:lstStyle/>
                    <a:p>
                      <a:pPr>
                        <a:buNone/>
                      </a:pPr>
                      <a:r>
                        <a:rPr lang="en-US" sz="900"/>
                        <a:t>2027-07-21</a:t>
                      </a:r>
                    </a:p>
                  </a:txBody>
                  <a:tcPr anchor="ctr"/>
                </a:tc>
                <a:extLst>
                  <a:ext uri="{0D108BD9-81ED-4DB2-BD59-A6C34878D82A}">
                    <a16:rowId xmlns:a16="http://schemas.microsoft.com/office/drawing/2014/main" val="1783008398"/>
                  </a:ext>
                </a:extLst>
              </a:tr>
              <a:tr h="223919">
                <a:tc>
                  <a:txBody>
                    <a:bodyPr/>
                    <a:lstStyle/>
                    <a:p>
                      <a:pPr>
                        <a:buNone/>
                      </a:pPr>
                      <a:r>
                        <a:rPr lang="en-US" sz="900"/>
                        <a:t>DG1-DG2 DEC</a:t>
                      </a:r>
                    </a:p>
                  </a:txBody>
                  <a:tcPr anchor="ctr">
                    <a:solidFill>
                      <a:schemeClr val="accent6"/>
                    </a:solidFill>
                  </a:tcPr>
                </a:tc>
                <a:tc>
                  <a:txBody>
                    <a:bodyPr/>
                    <a:lstStyle/>
                    <a:p>
                      <a:pPr>
                        <a:buNone/>
                      </a:pPr>
                      <a:r>
                        <a:rPr lang="en-US" sz="900"/>
                        <a:t>12 days</a:t>
                      </a:r>
                    </a:p>
                  </a:txBody>
                  <a:tcPr anchor="ctr"/>
                </a:tc>
                <a:tc>
                  <a:txBody>
                    <a:bodyPr/>
                    <a:lstStyle/>
                    <a:p>
                      <a:pPr>
                        <a:buNone/>
                      </a:pPr>
                      <a:r>
                        <a:rPr lang="en-US" sz="900"/>
                        <a:t>2027-07-21</a:t>
                      </a:r>
                    </a:p>
                  </a:txBody>
                  <a:tcPr anchor="ctr"/>
                </a:tc>
                <a:tc>
                  <a:txBody>
                    <a:bodyPr/>
                    <a:lstStyle/>
                    <a:p>
                      <a:pPr>
                        <a:buNone/>
                      </a:pPr>
                      <a:r>
                        <a:rPr lang="en-US" sz="900"/>
                        <a:t>2027-08-05</a:t>
                      </a:r>
                    </a:p>
                  </a:txBody>
                  <a:tcPr anchor="ctr"/>
                </a:tc>
                <a:extLst>
                  <a:ext uri="{0D108BD9-81ED-4DB2-BD59-A6C34878D82A}">
                    <a16:rowId xmlns:a16="http://schemas.microsoft.com/office/drawing/2014/main" val="4174282441"/>
                  </a:ext>
                </a:extLst>
              </a:tr>
              <a:tr h="268351">
                <a:tc>
                  <a:txBody>
                    <a:bodyPr/>
                    <a:lstStyle/>
                    <a:p>
                      <a:pPr>
                        <a:buNone/>
                      </a:pPr>
                      <a:r>
                        <a:rPr lang="en-US" sz="900">
                          <a:solidFill>
                            <a:srgbClr val="FF0000"/>
                          </a:solidFill>
                        </a:rPr>
                        <a:t>DG2 subject identification</a:t>
                      </a:r>
                    </a:p>
                  </a:txBody>
                  <a:tcPr anchor="ctr">
                    <a:solidFill>
                      <a:schemeClr val="accent6"/>
                    </a:solidFill>
                  </a:tcPr>
                </a:tc>
                <a:tc>
                  <a:txBody>
                    <a:bodyPr/>
                    <a:lstStyle/>
                    <a:p>
                      <a:pPr>
                        <a:buNone/>
                      </a:pPr>
                      <a:r>
                        <a:rPr lang="en-US" sz="900">
                          <a:solidFill>
                            <a:srgbClr val="FF0000"/>
                          </a:solidFill>
                        </a:rPr>
                        <a:t>60 edays</a:t>
                      </a:r>
                      <a:endParaRPr lang="en-US" sz="900" err="1">
                        <a:solidFill>
                          <a:srgbClr val="FF0000"/>
                        </a:solidFill>
                      </a:endParaRPr>
                    </a:p>
                  </a:txBody>
                  <a:tcPr anchor="ctr"/>
                </a:tc>
                <a:tc>
                  <a:txBody>
                    <a:bodyPr/>
                    <a:lstStyle/>
                    <a:p>
                      <a:pPr>
                        <a:buNone/>
                      </a:pPr>
                      <a:r>
                        <a:rPr lang="en-US" sz="900">
                          <a:solidFill>
                            <a:srgbClr val="FF0000"/>
                          </a:solidFill>
                        </a:rPr>
                        <a:t>2027-05-29</a:t>
                      </a:r>
                    </a:p>
                  </a:txBody>
                  <a:tcPr anchor="ctr"/>
                </a:tc>
                <a:tc>
                  <a:txBody>
                    <a:bodyPr/>
                    <a:lstStyle/>
                    <a:p>
                      <a:pPr>
                        <a:buNone/>
                      </a:pPr>
                      <a:r>
                        <a:rPr lang="en-US" sz="900">
                          <a:solidFill>
                            <a:srgbClr val="FF0000"/>
                          </a:solidFill>
                        </a:rPr>
                        <a:t>2027-07-28</a:t>
                      </a:r>
                    </a:p>
                  </a:txBody>
                  <a:tcPr anchor="ctr"/>
                </a:tc>
                <a:extLst>
                  <a:ext uri="{0D108BD9-81ED-4DB2-BD59-A6C34878D82A}">
                    <a16:rowId xmlns:a16="http://schemas.microsoft.com/office/drawing/2014/main" val="3879822988"/>
                  </a:ext>
                </a:extLst>
              </a:tr>
              <a:tr h="223919">
                <a:tc>
                  <a:txBody>
                    <a:bodyPr/>
                    <a:lstStyle/>
                    <a:p>
                      <a:pPr>
                        <a:buNone/>
                      </a:pPr>
                      <a:r>
                        <a:rPr lang="en-US" sz="900"/>
                        <a:t>DG2 dosing (MABEL)</a:t>
                      </a:r>
                    </a:p>
                  </a:txBody>
                  <a:tcPr anchor="ctr">
                    <a:solidFill>
                      <a:schemeClr val="accent6"/>
                    </a:solidFill>
                  </a:tcPr>
                </a:tc>
                <a:tc>
                  <a:txBody>
                    <a:bodyPr/>
                    <a:lstStyle/>
                    <a:p>
                      <a:pPr>
                        <a:buNone/>
                      </a:pPr>
                      <a:r>
                        <a:rPr lang="en-US" sz="900"/>
                        <a:t>1 day</a:t>
                      </a:r>
                    </a:p>
                  </a:txBody>
                  <a:tcPr anchor="ctr"/>
                </a:tc>
                <a:tc>
                  <a:txBody>
                    <a:bodyPr/>
                    <a:lstStyle/>
                    <a:p>
                      <a:pPr>
                        <a:buNone/>
                      </a:pPr>
                      <a:r>
                        <a:rPr lang="en-US" sz="900"/>
                        <a:t>2027-08-05</a:t>
                      </a:r>
                    </a:p>
                  </a:txBody>
                  <a:tcPr anchor="ctr"/>
                </a:tc>
                <a:tc>
                  <a:txBody>
                    <a:bodyPr/>
                    <a:lstStyle/>
                    <a:p>
                      <a:pPr>
                        <a:buNone/>
                      </a:pPr>
                      <a:r>
                        <a:rPr lang="en-US" sz="900"/>
                        <a:t>2027-08-29</a:t>
                      </a:r>
                    </a:p>
                  </a:txBody>
                  <a:tcPr anchor="ctr"/>
                </a:tc>
                <a:extLst>
                  <a:ext uri="{0D108BD9-81ED-4DB2-BD59-A6C34878D82A}">
                    <a16:rowId xmlns:a16="http://schemas.microsoft.com/office/drawing/2014/main" val="1111194018"/>
                  </a:ext>
                </a:extLst>
              </a:tr>
              <a:tr h="223919">
                <a:tc>
                  <a:txBody>
                    <a:bodyPr/>
                    <a:lstStyle/>
                    <a:p>
                      <a:pPr>
                        <a:buNone/>
                      </a:pPr>
                      <a:r>
                        <a:rPr lang="en-US" sz="900"/>
                        <a:t>DG2 dosing (target dose)</a:t>
                      </a:r>
                    </a:p>
                  </a:txBody>
                  <a:tcPr anchor="ctr">
                    <a:solidFill>
                      <a:schemeClr val="accent6"/>
                    </a:solidFill>
                  </a:tcPr>
                </a:tc>
                <a:tc>
                  <a:txBody>
                    <a:bodyPr/>
                    <a:lstStyle/>
                    <a:p>
                      <a:pPr>
                        <a:buNone/>
                      </a:pPr>
                      <a:r>
                        <a:rPr lang="en-US" sz="900"/>
                        <a:t>1 day</a:t>
                      </a:r>
                    </a:p>
                  </a:txBody>
                  <a:tcPr anchor="ctr"/>
                </a:tc>
                <a:tc>
                  <a:txBody>
                    <a:bodyPr/>
                    <a:lstStyle/>
                    <a:p>
                      <a:pPr>
                        <a:buNone/>
                      </a:pPr>
                      <a:r>
                        <a:rPr lang="en-US" sz="900"/>
                        <a:t>2027-08-29</a:t>
                      </a:r>
                    </a:p>
                  </a:txBody>
                  <a:tcPr anchor="ctr"/>
                </a:tc>
                <a:tc>
                  <a:txBody>
                    <a:bodyPr/>
                    <a:lstStyle/>
                    <a:p>
                      <a:pPr>
                        <a:buNone/>
                      </a:pPr>
                      <a:r>
                        <a:rPr lang="en-US" sz="900"/>
                        <a:t>2027-08-29</a:t>
                      </a:r>
                    </a:p>
                  </a:txBody>
                  <a:tcPr anchor="ctr"/>
                </a:tc>
                <a:extLst>
                  <a:ext uri="{0D108BD9-81ED-4DB2-BD59-A6C34878D82A}">
                    <a16:rowId xmlns:a16="http://schemas.microsoft.com/office/drawing/2014/main" val="2477901554"/>
                  </a:ext>
                </a:extLst>
              </a:tr>
              <a:tr h="223919">
                <a:tc>
                  <a:txBody>
                    <a:bodyPr/>
                    <a:lstStyle/>
                    <a:p>
                      <a:pPr>
                        <a:buNone/>
                      </a:pPr>
                      <a:r>
                        <a:rPr lang="en-US" sz="900"/>
                        <a:t>DG2 safety observation</a:t>
                      </a:r>
                    </a:p>
                  </a:txBody>
                  <a:tcPr anchor="ctr">
                    <a:solidFill>
                      <a:schemeClr val="accent6"/>
                    </a:solidFill>
                  </a:tcPr>
                </a:tc>
                <a:tc>
                  <a:txBody>
                    <a:bodyPr/>
                    <a:lstStyle/>
                    <a:p>
                      <a:pPr>
                        <a:buNone/>
                      </a:pPr>
                      <a:r>
                        <a:rPr lang="en-US" sz="900"/>
                        <a:t>28 edays</a:t>
                      </a:r>
                      <a:endParaRPr lang="en-US" sz="900" err="1"/>
                    </a:p>
                  </a:txBody>
                  <a:tcPr anchor="ctr"/>
                </a:tc>
                <a:tc>
                  <a:txBody>
                    <a:bodyPr/>
                    <a:lstStyle/>
                    <a:p>
                      <a:pPr>
                        <a:buNone/>
                      </a:pPr>
                      <a:r>
                        <a:rPr lang="en-US" altLang="ja-JP" sz="900"/>
                        <a:t>2027-08-29</a:t>
                      </a:r>
                    </a:p>
                  </a:txBody>
                  <a:tcPr anchor="ctr"/>
                </a:tc>
                <a:tc>
                  <a:txBody>
                    <a:bodyPr/>
                    <a:lstStyle/>
                    <a:p>
                      <a:pPr>
                        <a:buNone/>
                      </a:pPr>
                      <a:r>
                        <a:rPr lang="en-US" sz="900"/>
                        <a:t>2027-09-26</a:t>
                      </a:r>
                    </a:p>
                  </a:txBody>
                  <a:tcPr anchor="ctr"/>
                </a:tc>
                <a:extLst>
                  <a:ext uri="{0D108BD9-81ED-4DB2-BD59-A6C34878D82A}">
                    <a16:rowId xmlns:a16="http://schemas.microsoft.com/office/drawing/2014/main" val="3348113126"/>
                  </a:ext>
                </a:extLst>
              </a:tr>
              <a:tr h="223919">
                <a:tc>
                  <a:txBody>
                    <a:bodyPr/>
                    <a:lstStyle/>
                    <a:p>
                      <a:pPr>
                        <a:buNone/>
                      </a:pPr>
                      <a:r>
                        <a:rPr lang="en-US" sz="900"/>
                        <a:t>DG2 PK observation</a:t>
                      </a:r>
                    </a:p>
                  </a:txBody>
                  <a:tcPr anchor="ctr">
                    <a:solidFill>
                      <a:schemeClr val="accent6"/>
                    </a:solidFill>
                  </a:tcPr>
                </a:tc>
                <a:tc>
                  <a:txBody>
                    <a:bodyPr/>
                    <a:lstStyle/>
                    <a:p>
                      <a:pPr>
                        <a:buNone/>
                      </a:pPr>
                      <a:r>
                        <a:rPr lang="en-US" sz="900"/>
                        <a:t>60 </a:t>
                      </a:r>
                      <a:r>
                        <a:rPr lang="en-US" sz="900" err="1"/>
                        <a:t>edays</a:t>
                      </a:r>
                      <a:endParaRPr lang="en-US" sz="900"/>
                    </a:p>
                  </a:txBody>
                  <a:tcPr anchor="ctr"/>
                </a:tc>
                <a:tc>
                  <a:txBody>
                    <a:bodyPr/>
                    <a:lstStyle/>
                    <a:p>
                      <a:pPr>
                        <a:buNone/>
                      </a:pPr>
                      <a:r>
                        <a:rPr lang="en-US" altLang="ja-JP" sz="900"/>
                        <a:t>2027-08-29</a:t>
                      </a:r>
                    </a:p>
                  </a:txBody>
                  <a:tcPr anchor="ctr"/>
                </a:tc>
                <a:tc>
                  <a:txBody>
                    <a:bodyPr/>
                    <a:lstStyle/>
                    <a:p>
                      <a:pPr>
                        <a:buNone/>
                      </a:pPr>
                      <a:r>
                        <a:rPr lang="en-US" sz="900"/>
                        <a:t>2027-10-28</a:t>
                      </a:r>
                    </a:p>
                  </a:txBody>
                  <a:tcPr anchor="ctr"/>
                </a:tc>
                <a:extLst>
                  <a:ext uri="{0D108BD9-81ED-4DB2-BD59-A6C34878D82A}">
                    <a16:rowId xmlns:a16="http://schemas.microsoft.com/office/drawing/2014/main" val="4120227884"/>
                  </a:ext>
                </a:extLst>
              </a:tr>
              <a:tr h="223919">
                <a:tc>
                  <a:txBody>
                    <a:bodyPr/>
                    <a:lstStyle/>
                    <a:p>
                      <a:pPr>
                        <a:buNone/>
                      </a:pPr>
                      <a:r>
                        <a:rPr lang="en-US" sz="900"/>
                        <a:t>DBL</a:t>
                      </a:r>
                    </a:p>
                  </a:txBody>
                  <a:tcPr anchor="ctr">
                    <a:solidFill>
                      <a:schemeClr val="accent6"/>
                    </a:solidFill>
                  </a:tcPr>
                </a:tc>
                <a:tc>
                  <a:txBody>
                    <a:bodyPr/>
                    <a:lstStyle/>
                    <a:p>
                      <a:pPr>
                        <a:buNone/>
                      </a:pPr>
                      <a:r>
                        <a:rPr lang="en-US" sz="900"/>
                        <a:t>40 days</a:t>
                      </a:r>
                    </a:p>
                  </a:txBody>
                  <a:tcPr anchor="ctr"/>
                </a:tc>
                <a:tc>
                  <a:txBody>
                    <a:bodyPr/>
                    <a:lstStyle/>
                    <a:p>
                      <a:pPr>
                        <a:buNone/>
                      </a:pPr>
                      <a:r>
                        <a:rPr lang="en-US" sz="900"/>
                        <a:t>2027-10-29</a:t>
                      </a:r>
                    </a:p>
                  </a:txBody>
                  <a:tcPr anchor="ctr"/>
                </a:tc>
                <a:tc>
                  <a:txBody>
                    <a:bodyPr/>
                    <a:lstStyle/>
                    <a:p>
                      <a:pPr>
                        <a:buNone/>
                      </a:pPr>
                      <a:r>
                        <a:rPr lang="en-US" sz="900"/>
                        <a:t>2027-10-23</a:t>
                      </a:r>
                    </a:p>
                  </a:txBody>
                  <a:tcPr anchor="ctr"/>
                </a:tc>
                <a:extLst>
                  <a:ext uri="{0D108BD9-81ED-4DB2-BD59-A6C34878D82A}">
                    <a16:rowId xmlns:a16="http://schemas.microsoft.com/office/drawing/2014/main" val="2068026147"/>
                  </a:ext>
                </a:extLst>
              </a:tr>
              <a:tr h="223919">
                <a:tc>
                  <a:txBody>
                    <a:bodyPr/>
                    <a:lstStyle/>
                    <a:p>
                      <a:pPr>
                        <a:buNone/>
                      </a:pPr>
                      <a:r>
                        <a:rPr lang="en-US" sz="900"/>
                        <a:t>Christmas break</a:t>
                      </a:r>
                    </a:p>
                  </a:txBody>
                  <a:tcPr anchor="ctr">
                    <a:solidFill>
                      <a:schemeClr val="accent6"/>
                    </a:solidFill>
                  </a:tcPr>
                </a:tc>
                <a:tc>
                  <a:txBody>
                    <a:bodyPr/>
                    <a:lstStyle/>
                    <a:p>
                      <a:pPr>
                        <a:buNone/>
                      </a:pPr>
                      <a:r>
                        <a:rPr lang="en-US" sz="900"/>
                        <a:t>10 days</a:t>
                      </a:r>
                    </a:p>
                  </a:txBody>
                  <a:tcPr anchor="ctr"/>
                </a:tc>
                <a:tc>
                  <a:txBody>
                    <a:bodyPr/>
                    <a:lstStyle/>
                    <a:p>
                      <a:pPr>
                        <a:buNone/>
                      </a:pPr>
                      <a:r>
                        <a:rPr lang="en-US" sz="900"/>
                        <a:t>2027-12-24</a:t>
                      </a:r>
                    </a:p>
                  </a:txBody>
                  <a:tcPr anchor="ctr"/>
                </a:tc>
                <a:tc>
                  <a:txBody>
                    <a:bodyPr/>
                    <a:lstStyle/>
                    <a:p>
                      <a:pPr>
                        <a:buNone/>
                      </a:pPr>
                      <a:r>
                        <a:rPr lang="en-US" sz="900"/>
                        <a:t>2028-01-06</a:t>
                      </a:r>
                    </a:p>
                  </a:txBody>
                  <a:tcPr anchor="ctr"/>
                </a:tc>
                <a:extLst>
                  <a:ext uri="{0D108BD9-81ED-4DB2-BD59-A6C34878D82A}">
                    <a16:rowId xmlns:a16="http://schemas.microsoft.com/office/drawing/2014/main" val="1121099186"/>
                  </a:ext>
                </a:extLst>
              </a:tr>
              <a:tr h="223919">
                <a:tc>
                  <a:txBody>
                    <a:bodyPr/>
                    <a:lstStyle/>
                    <a:p>
                      <a:pPr>
                        <a:buNone/>
                      </a:pPr>
                      <a:r>
                        <a:rPr lang="en-US" sz="900"/>
                        <a:t>TLR</a:t>
                      </a:r>
                    </a:p>
                  </a:txBody>
                  <a:tcPr anchor="ctr">
                    <a:solidFill>
                      <a:schemeClr val="accent6"/>
                    </a:solidFill>
                  </a:tcPr>
                </a:tc>
                <a:tc>
                  <a:txBody>
                    <a:bodyPr/>
                    <a:lstStyle/>
                    <a:p>
                      <a:pPr>
                        <a:buNone/>
                      </a:pPr>
                      <a:r>
                        <a:rPr lang="en-US" sz="900"/>
                        <a:t>5 days</a:t>
                      </a:r>
                    </a:p>
                  </a:txBody>
                  <a:tcPr anchor="ctr"/>
                </a:tc>
                <a:tc>
                  <a:txBody>
                    <a:bodyPr/>
                    <a:lstStyle/>
                    <a:p>
                      <a:pPr>
                        <a:buNone/>
                      </a:pPr>
                      <a:r>
                        <a:rPr lang="en-US" sz="900"/>
                        <a:t>2028-01-07</a:t>
                      </a:r>
                    </a:p>
                  </a:txBody>
                  <a:tcPr anchor="ctr"/>
                </a:tc>
                <a:tc>
                  <a:txBody>
                    <a:bodyPr/>
                    <a:lstStyle/>
                    <a:p>
                      <a:pPr>
                        <a:buNone/>
                      </a:pPr>
                      <a:r>
                        <a:rPr lang="en-US" sz="900"/>
                        <a:t>2028-01-13</a:t>
                      </a:r>
                    </a:p>
                  </a:txBody>
                  <a:tcPr anchor="ctr"/>
                </a:tc>
                <a:extLst>
                  <a:ext uri="{0D108BD9-81ED-4DB2-BD59-A6C34878D82A}">
                    <a16:rowId xmlns:a16="http://schemas.microsoft.com/office/drawing/2014/main" val="2903716691"/>
                  </a:ext>
                </a:extLst>
              </a:tr>
              <a:tr h="223919">
                <a:tc>
                  <a:txBody>
                    <a:bodyPr/>
                    <a:lstStyle/>
                    <a:p>
                      <a:pPr>
                        <a:buNone/>
                      </a:pPr>
                      <a:r>
                        <a:rPr lang="en-US" sz="900"/>
                        <a:t>CTN for next phase trial</a:t>
                      </a:r>
                    </a:p>
                  </a:txBody>
                  <a:tcPr anchor="ctr">
                    <a:solidFill>
                      <a:schemeClr val="accent4"/>
                    </a:solidFill>
                  </a:tcPr>
                </a:tc>
                <a:tc>
                  <a:txBody>
                    <a:bodyPr/>
                    <a:lstStyle/>
                    <a:p>
                      <a:pPr>
                        <a:buNone/>
                      </a:pPr>
                      <a:r>
                        <a:rPr lang="en-US" sz="900">
                          <a:highlight>
                            <a:srgbClr val="FFFF00"/>
                          </a:highlight>
                        </a:rPr>
                        <a:t>10 days</a:t>
                      </a:r>
                    </a:p>
                  </a:txBody>
                  <a:tcPr anchor="ctr"/>
                </a:tc>
                <a:tc>
                  <a:txBody>
                    <a:bodyPr/>
                    <a:lstStyle/>
                    <a:p>
                      <a:pPr>
                        <a:buNone/>
                      </a:pPr>
                      <a:r>
                        <a:rPr lang="en-US" sz="900">
                          <a:highlight>
                            <a:srgbClr val="FFFF00"/>
                          </a:highlight>
                        </a:rPr>
                        <a:t>2028-01-14</a:t>
                      </a:r>
                    </a:p>
                  </a:txBody>
                  <a:tcPr anchor="ctr"/>
                </a:tc>
                <a:tc>
                  <a:txBody>
                    <a:bodyPr/>
                    <a:lstStyle/>
                    <a:p>
                      <a:pPr>
                        <a:buNone/>
                      </a:pPr>
                      <a:r>
                        <a:rPr lang="en-US" sz="900">
                          <a:highlight>
                            <a:srgbClr val="FFFF00"/>
                          </a:highlight>
                        </a:rPr>
                        <a:t>2028-01-27</a:t>
                      </a:r>
                    </a:p>
                  </a:txBody>
                  <a:tcPr anchor="ctr"/>
                </a:tc>
                <a:extLst>
                  <a:ext uri="{0D108BD9-81ED-4DB2-BD59-A6C34878D82A}">
                    <a16:rowId xmlns:a16="http://schemas.microsoft.com/office/drawing/2014/main" val="3591380058"/>
                  </a:ext>
                </a:extLst>
              </a:tr>
              <a:tr h="223919">
                <a:tc>
                  <a:txBody>
                    <a:bodyPr/>
                    <a:lstStyle/>
                    <a:p>
                      <a:pPr>
                        <a:buNone/>
                      </a:pPr>
                      <a:r>
                        <a:rPr lang="en-US" sz="900"/>
                        <a:t>PMDA 14-day review</a:t>
                      </a:r>
                    </a:p>
                  </a:txBody>
                  <a:tcPr anchor="ctr">
                    <a:solidFill>
                      <a:schemeClr val="accent4"/>
                    </a:solidFill>
                  </a:tcPr>
                </a:tc>
                <a:tc>
                  <a:txBody>
                    <a:bodyPr/>
                    <a:lstStyle/>
                    <a:p>
                      <a:pPr>
                        <a:buNone/>
                      </a:pPr>
                      <a:r>
                        <a:rPr lang="en-US" sz="900"/>
                        <a:t>15 </a:t>
                      </a:r>
                      <a:r>
                        <a:rPr lang="en-US" sz="900" err="1"/>
                        <a:t>edays</a:t>
                      </a:r>
                      <a:endParaRPr lang="en-US" sz="900"/>
                    </a:p>
                  </a:txBody>
                  <a:tcPr anchor="ctr"/>
                </a:tc>
                <a:tc>
                  <a:txBody>
                    <a:bodyPr/>
                    <a:lstStyle/>
                    <a:p>
                      <a:pPr>
                        <a:buNone/>
                      </a:pPr>
                      <a:r>
                        <a:rPr lang="en-US" sz="900"/>
                        <a:t>2028-01-27</a:t>
                      </a:r>
                    </a:p>
                  </a:txBody>
                  <a:tcPr anchor="ctr"/>
                </a:tc>
                <a:tc>
                  <a:txBody>
                    <a:bodyPr/>
                    <a:lstStyle/>
                    <a:p>
                      <a:pPr>
                        <a:buNone/>
                      </a:pPr>
                      <a:r>
                        <a:rPr lang="en-US" sz="900"/>
                        <a:t>2028-02-11</a:t>
                      </a:r>
                    </a:p>
                  </a:txBody>
                  <a:tcPr anchor="ctr"/>
                </a:tc>
                <a:extLst>
                  <a:ext uri="{0D108BD9-81ED-4DB2-BD59-A6C34878D82A}">
                    <a16:rowId xmlns:a16="http://schemas.microsoft.com/office/drawing/2014/main" val="2896111461"/>
                  </a:ext>
                </a:extLst>
              </a:tr>
              <a:tr h="223919">
                <a:tc>
                  <a:txBody>
                    <a:bodyPr/>
                    <a:lstStyle/>
                    <a:p>
                      <a:pPr>
                        <a:buNone/>
                      </a:pPr>
                      <a:r>
                        <a:rPr lang="en-US" sz="900"/>
                        <a:t>IRB/contract</a:t>
                      </a:r>
                    </a:p>
                  </a:txBody>
                  <a:tcPr anchor="ctr">
                    <a:solidFill>
                      <a:schemeClr val="accent6"/>
                    </a:solidFill>
                  </a:tcPr>
                </a:tc>
                <a:tc>
                  <a:txBody>
                    <a:bodyPr/>
                    <a:lstStyle/>
                    <a:p>
                      <a:pPr>
                        <a:buNone/>
                      </a:pPr>
                      <a:r>
                        <a:rPr lang="en-US" sz="900"/>
                        <a:t>45 edays</a:t>
                      </a:r>
                      <a:endParaRPr lang="en-US" sz="900" err="1"/>
                    </a:p>
                  </a:txBody>
                  <a:tcPr anchor="ctr"/>
                </a:tc>
                <a:tc>
                  <a:txBody>
                    <a:bodyPr/>
                    <a:lstStyle/>
                    <a:p>
                      <a:pPr>
                        <a:buNone/>
                      </a:pPr>
                      <a:r>
                        <a:rPr lang="en-US" sz="900"/>
                        <a:t>2028-02-11</a:t>
                      </a:r>
                    </a:p>
                  </a:txBody>
                  <a:tcPr anchor="ctr"/>
                </a:tc>
                <a:tc>
                  <a:txBody>
                    <a:bodyPr/>
                    <a:lstStyle/>
                    <a:p>
                      <a:pPr>
                        <a:buNone/>
                      </a:pPr>
                      <a:r>
                        <a:rPr lang="en-US" sz="900"/>
                        <a:t>2028-03-27</a:t>
                      </a:r>
                    </a:p>
                  </a:txBody>
                  <a:tcPr anchor="ctr"/>
                </a:tc>
                <a:extLst>
                  <a:ext uri="{0D108BD9-81ED-4DB2-BD59-A6C34878D82A}">
                    <a16:rowId xmlns:a16="http://schemas.microsoft.com/office/drawing/2014/main" val="724285188"/>
                  </a:ext>
                </a:extLst>
              </a:tr>
              <a:tr h="223919">
                <a:tc>
                  <a:txBody>
                    <a:bodyPr/>
                    <a:lstStyle/>
                    <a:p>
                      <a:pPr>
                        <a:buNone/>
                      </a:pPr>
                      <a:r>
                        <a:rPr lang="en-US" sz="900"/>
                        <a:t>Site initiation</a:t>
                      </a:r>
                    </a:p>
                  </a:txBody>
                  <a:tcPr anchor="ctr">
                    <a:solidFill>
                      <a:schemeClr val="accent6"/>
                    </a:solidFill>
                  </a:tcPr>
                </a:tc>
                <a:tc>
                  <a:txBody>
                    <a:bodyPr/>
                    <a:lstStyle/>
                    <a:p>
                      <a:pPr>
                        <a:buNone/>
                      </a:pPr>
                      <a:r>
                        <a:rPr lang="en-US" sz="900"/>
                        <a:t>10 days</a:t>
                      </a:r>
                    </a:p>
                  </a:txBody>
                  <a:tcPr anchor="ctr"/>
                </a:tc>
                <a:tc>
                  <a:txBody>
                    <a:bodyPr/>
                    <a:lstStyle/>
                    <a:p>
                      <a:pPr>
                        <a:buNone/>
                      </a:pPr>
                      <a:r>
                        <a:rPr lang="en-US" sz="900"/>
                        <a:t>2028-03-28</a:t>
                      </a:r>
                    </a:p>
                  </a:txBody>
                  <a:tcPr anchor="ctr"/>
                </a:tc>
                <a:tc>
                  <a:txBody>
                    <a:bodyPr/>
                    <a:lstStyle/>
                    <a:p>
                      <a:pPr>
                        <a:buNone/>
                      </a:pPr>
                      <a:r>
                        <a:rPr lang="en-US" sz="900"/>
                        <a:t>2028-04-10</a:t>
                      </a:r>
                    </a:p>
                  </a:txBody>
                  <a:tcPr anchor="ctr"/>
                </a:tc>
                <a:extLst>
                  <a:ext uri="{0D108BD9-81ED-4DB2-BD59-A6C34878D82A}">
                    <a16:rowId xmlns:a16="http://schemas.microsoft.com/office/drawing/2014/main" val="675099050"/>
                  </a:ext>
                </a:extLst>
              </a:tr>
              <a:tr h="345813">
                <a:tc>
                  <a:txBody>
                    <a:bodyPr/>
                    <a:lstStyle/>
                    <a:p>
                      <a:pPr>
                        <a:buNone/>
                      </a:pPr>
                      <a:r>
                        <a:rPr lang="en-US" sz="900">
                          <a:highlight>
                            <a:srgbClr val="FFFF00"/>
                          </a:highlight>
                        </a:rPr>
                        <a:t>JP FPI for next phase trial</a:t>
                      </a:r>
                    </a:p>
                  </a:txBody>
                  <a:tcPr anchor="ctr">
                    <a:solidFill>
                      <a:schemeClr val="accent6"/>
                    </a:solidFill>
                  </a:tcPr>
                </a:tc>
                <a:tc>
                  <a:txBody>
                    <a:bodyPr/>
                    <a:lstStyle/>
                    <a:p>
                      <a:pPr>
                        <a:buNone/>
                      </a:pPr>
                      <a:r>
                        <a:rPr lang="en-US" sz="900">
                          <a:highlight>
                            <a:srgbClr val="FFFF00"/>
                          </a:highlight>
                        </a:rPr>
                        <a:t>1 day</a:t>
                      </a:r>
                    </a:p>
                  </a:txBody>
                  <a:tcPr anchor="ctr"/>
                </a:tc>
                <a:tc>
                  <a:txBody>
                    <a:bodyPr/>
                    <a:lstStyle/>
                    <a:p>
                      <a:pPr>
                        <a:buNone/>
                      </a:pPr>
                      <a:r>
                        <a:rPr lang="en-US" sz="900">
                          <a:highlight>
                            <a:srgbClr val="FFFF00"/>
                          </a:highlight>
                        </a:rPr>
                        <a:t>2028-04-11</a:t>
                      </a:r>
                    </a:p>
                  </a:txBody>
                  <a:tcPr anchor="ctr"/>
                </a:tc>
                <a:tc>
                  <a:txBody>
                    <a:bodyPr/>
                    <a:lstStyle/>
                    <a:p>
                      <a:pPr>
                        <a:buNone/>
                      </a:pPr>
                      <a:r>
                        <a:rPr lang="en-US" sz="900">
                          <a:highlight>
                            <a:srgbClr val="FFFF00"/>
                          </a:highlight>
                        </a:rPr>
                        <a:t>2028-04-11</a:t>
                      </a:r>
                    </a:p>
                  </a:txBody>
                  <a:tcPr anchor="ctr"/>
                </a:tc>
                <a:extLst>
                  <a:ext uri="{0D108BD9-81ED-4DB2-BD59-A6C34878D82A}">
                    <a16:rowId xmlns:a16="http://schemas.microsoft.com/office/drawing/2014/main" val="3732213417"/>
                  </a:ext>
                </a:extLst>
              </a:tr>
            </a:tbl>
          </a:graphicData>
        </a:graphic>
      </p:graphicFrame>
      <p:graphicFrame>
        <p:nvGraphicFramePr>
          <p:cNvPr id="2" name="Table 8">
            <a:extLst>
              <a:ext uri="{FF2B5EF4-FFF2-40B4-BE49-F238E27FC236}">
                <a16:creationId xmlns:a16="http://schemas.microsoft.com/office/drawing/2014/main" id="{876B920A-EAA8-719C-F039-EA58FFE0621A}"/>
              </a:ext>
            </a:extLst>
          </p:cNvPr>
          <p:cNvGraphicFramePr>
            <a:graphicFrameLocks noGrp="1"/>
          </p:cNvGraphicFramePr>
          <p:nvPr/>
        </p:nvGraphicFramePr>
        <p:xfrm>
          <a:off x="5337669" y="423136"/>
          <a:ext cx="5071990" cy="6171196"/>
        </p:xfrm>
        <a:graphic>
          <a:graphicData uri="http://schemas.openxmlformats.org/drawingml/2006/table">
            <a:tbl>
              <a:tblPr bandRow="1">
                <a:tableStyleId>{5940675A-B579-460E-94D1-54222C63F5DA}</a:tableStyleId>
              </a:tblPr>
              <a:tblGrid>
                <a:gridCol w="1959335">
                  <a:extLst>
                    <a:ext uri="{9D8B030D-6E8A-4147-A177-3AD203B41FA5}">
                      <a16:colId xmlns:a16="http://schemas.microsoft.com/office/drawing/2014/main" val="3838535701"/>
                    </a:ext>
                  </a:extLst>
                </a:gridCol>
                <a:gridCol w="951346">
                  <a:extLst>
                    <a:ext uri="{9D8B030D-6E8A-4147-A177-3AD203B41FA5}">
                      <a16:colId xmlns:a16="http://schemas.microsoft.com/office/drawing/2014/main" val="3758996023"/>
                    </a:ext>
                  </a:extLst>
                </a:gridCol>
                <a:gridCol w="1126836">
                  <a:extLst>
                    <a:ext uri="{9D8B030D-6E8A-4147-A177-3AD203B41FA5}">
                      <a16:colId xmlns:a16="http://schemas.microsoft.com/office/drawing/2014/main" val="2909090795"/>
                    </a:ext>
                  </a:extLst>
                </a:gridCol>
                <a:gridCol w="1034473">
                  <a:extLst>
                    <a:ext uri="{9D8B030D-6E8A-4147-A177-3AD203B41FA5}">
                      <a16:colId xmlns:a16="http://schemas.microsoft.com/office/drawing/2014/main" val="1925633484"/>
                    </a:ext>
                  </a:extLst>
                </a:gridCol>
              </a:tblGrid>
              <a:tr h="223919">
                <a:tc>
                  <a:txBody>
                    <a:bodyPr/>
                    <a:lstStyle/>
                    <a:p>
                      <a:pPr>
                        <a:buNone/>
                      </a:pPr>
                      <a:r>
                        <a:rPr lang="en-US" sz="900">
                          <a:effectLst/>
                        </a:rPr>
                        <a:t>Task Name</a:t>
                      </a:r>
                      <a:endParaRPr lang="en-US" sz="900"/>
                    </a:p>
                  </a:txBody>
                  <a:tcPr anchor="ctr">
                    <a:solidFill>
                      <a:schemeClr val="tx2"/>
                    </a:solidFill>
                  </a:tcPr>
                </a:tc>
                <a:tc>
                  <a:txBody>
                    <a:bodyPr/>
                    <a:lstStyle/>
                    <a:p>
                      <a:pPr>
                        <a:buNone/>
                      </a:pPr>
                      <a:r>
                        <a:rPr lang="en-US" sz="900">
                          <a:effectLst/>
                        </a:rPr>
                        <a:t>Comments</a:t>
                      </a:r>
                      <a:endParaRPr lang="en-US" sz="900"/>
                    </a:p>
                  </a:txBody>
                  <a:tcPr anchor="ctr">
                    <a:solidFill>
                      <a:schemeClr val="tx2"/>
                    </a:solidFill>
                  </a:tcPr>
                </a:tc>
                <a:tc>
                  <a:txBody>
                    <a:bodyPr/>
                    <a:lstStyle/>
                    <a:p>
                      <a:pPr>
                        <a:buNone/>
                      </a:pPr>
                      <a:r>
                        <a:rPr lang="en-US" sz="900">
                          <a:effectLst/>
                        </a:rPr>
                        <a:t>Start</a:t>
                      </a:r>
                      <a:endParaRPr lang="en-US" sz="900"/>
                    </a:p>
                  </a:txBody>
                  <a:tcPr anchor="ctr">
                    <a:solidFill>
                      <a:schemeClr val="tx2"/>
                    </a:solidFill>
                  </a:tcPr>
                </a:tc>
                <a:tc>
                  <a:txBody>
                    <a:bodyPr/>
                    <a:lstStyle/>
                    <a:p>
                      <a:pPr>
                        <a:buNone/>
                      </a:pPr>
                      <a:r>
                        <a:rPr lang="en-US" sz="900">
                          <a:effectLst/>
                        </a:rPr>
                        <a:t>Finish</a:t>
                      </a:r>
                      <a:endParaRPr lang="en-US" sz="900"/>
                    </a:p>
                  </a:txBody>
                  <a:tcPr anchor="ctr">
                    <a:solidFill>
                      <a:schemeClr val="tx2"/>
                    </a:solidFill>
                  </a:tcPr>
                </a:tc>
                <a:extLst>
                  <a:ext uri="{0D108BD9-81ED-4DB2-BD59-A6C34878D82A}">
                    <a16:rowId xmlns:a16="http://schemas.microsoft.com/office/drawing/2014/main" val="989235371"/>
                  </a:ext>
                </a:extLst>
              </a:tr>
              <a:tr h="223919">
                <a:tc>
                  <a:txBody>
                    <a:bodyPr/>
                    <a:lstStyle/>
                    <a:p>
                      <a:pPr>
                        <a:buNone/>
                      </a:pPr>
                      <a:r>
                        <a:rPr lang="en-US" sz="900"/>
                        <a:t>CTP development</a:t>
                      </a:r>
                    </a:p>
                  </a:txBody>
                  <a:tcPr anchor="ctr">
                    <a:solidFill>
                      <a:schemeClr val="accent4"/>
                    </a:solidFill>
                  </a:tcPr>
                </a:tc>
                <a:tc>
                  <a:txBody>
                    <a:bodyPr/>
                    <a:lstStyle/>
                    <a:p>
                      <a:pPr>
                        <a:buNone/>
                      </a:pPr>
                      <a:endParaRPr lang="en-US" sz="900"/>
                    </a:p>
                  </a:txBody>
                  <a:tcPr anchor="ctr"/>
                </a:tc>
                <a:tc>
                  <a:txBody>
                    <a:bodyPr/>
                    <a:lstStyle/>
                    <a:p>
                      <a:pPr>
                        <a:buNone/>
                      </a:pPr>
                      <a:r>
                        <a:rPr lang="en-US" sz="900"/>
                        <a:t>2026-07-20</a:t>
                      </a:r>
                    </a:p>
                  </a:txBody>
                  <a:tcPr anchor="ctr"/>
                </a:tc>
                <a:tc>
                  <a:txBody>
                    <a:bodyPr/>
                    <a:lstStyle/>
                    <a:p>
                      <a:pPr>
                        <a:buNone/>
                      </a:pPr>
                      <a:r>
                        <a:rPr lang="en-US" sz="900"/>
                        <a:t>2026-12-07</a:t>
                      </a:r>
                    </a:p>
                  </a:txBody>
                  <a:tcPr anchor="ctr"/>
                </a:tc>
                <a:extLst>
                  <a:ext uri="{0D108BD9-81ED-4DB2-BD59-A6C34878D82A}">
                    <a16:rowId xmlns:a16="http://schemas.microsoft.com/office/drawing/2014/main" val="426296496"/>
                  </a:ext>
                </a:extLst>
              </a:tr>
              <a:tr h="223919">
                <a:tc>
                  <a:txBody>
                    <a:bodyPr/>
                    <a:lstStyle/>
                    <a:p>
                      <a:pPr>
                        <a:buNone/>
                      </a:pPr>
                      <a:r>
                        <a:rPr lang="en-US" sz="900"/>
                        <a:t>CTA prep</a:t>
                      </a:r>
                    </a:p>
                  </a:txBody>
                  <a:tcPr anchor="ctr">
                    <a:solidFill>
                      <a:schemeClr val="accent4"/>
                    </a:solidFill>
                  </a:tcPr>
                </a:tc>
                <a:tc>
                  <a:txBody>
                    <a:bodyPr/>
                    <a:lstStyle/>
                    <a:p>
                      <a:pPr>
                        <a:buNone/>
                      </a:pPr>
                      <a:endParaRPr lang="en-US" sz="900"/>
                    </a:p>
                  </a:txBody>
                  <a:tcPr anchor="ctr"/>
                </a:tc>
                <a:tc>
                  <a:txBody>
                    <a:bodyPr/>
                    <a:lstStyle/>
                    <a:p>
                      <a:pPr>
                        <a:buNone/>
                      </a:pPr>
                      <a:r>
                        <a:rPr lang="en-US" sz="900"/>
                        <a:t>2026-01-07</a:t>
                      </a:r>
                    </a:p>
                  </a:txBody>
                  <a:tcPr anchor="ctr"/>
                </a:tc>
                <a:tc>
                  <a:txBody>
                    <a:bodyPr/>
                    <a:lstStyle/>
                    <a:p>
                      <a:pPr>
                        <a:buNone/>
                      </a:pPr>
                      <a:r>
                        <a:rPr lang="en-US" sz="900"/>
                        <a:t>2027-01-04</a:t>
                      </a:r>
                    </a:p>
                  </a:txBody>
                  <a:tcPr anchor="ctr"/>
                </a:tc>
                <a:extLst>
                  <a:ext uri="{0D108BD9-81ED-4DB2-BD59-A6C34878D82A}">
                    <a16:rowId xmlns:a16="http://schemas.microsoft.com/office/drawing/2014/main" val="4055119388"/>
                  </a:ext>
                </a:extLst>
              </a:tr>
              <a:tr h="223919">
                <a:tc>
                  <a:txBody>
                    <a:bodyPr/>
                    <a:lstStyle/>
                    <a:p>
                      <a:pPr>
                        <a:buNone/>
                      </a:pPr>
                      <a:r>
                        <a:rPr lang="en-US" sz="900"/>
                        <a:t>CTA submission</a:t>
                      </a:r>
                    </a:p>
                  </a:txBody>
                  <a:tcPr anchor="ctr">
                    <a:solidFill>
                      <a:schemeClr val="accent4"/>
                    </a:solidFill>
                  </a:tcPr>
                </a:tc>
                <a:tc>
                  <a:txBody>
                    <a:bodyPr/>
                    <a:lstStyle/>
                    <a:p>
                      <a:pPr>
                        <a:buNone/>
                      </a:pPr>
                      <a:endParaRPr lang="en-US" sz="900"/>
                    </a:p>
                  </a:txBody>
                  <a:tcPr anchor="ctr"/>
                </a:tc>
                <a:tc>
                  <a:txBody>
                    <a:bodyPr/>
                    <a:lstStyle/>
                    <a:p>
                      <a:pPr>
                        <a:buNone/>
                      </a:pPr>
                      <a:r>
                        <a:rPr lang="en-US" sz="900"/>
                        <a:t>2027-01-05</a:t>
                      </a:r>
                    </a:p>
                  </a:txBody>
                  <a:tcPr anchor="ctr"/>
                </a:tc>
                <a:tc>
                  <a:txBody>
                    <a:bodyPr/>
                    <a:lstStyle/>
                    <a:p>
                      <a:pPr>
                        <a:buNone/>
                      </a:pPr>
                      <a:endParaRPr lang="en-US" sz="900"/>
                    </a:p>
                  </a:txBody>
                  <a:tcPr anchor="ctr"/>
                </a:tc>
                <a:extLst>
                  <a:ext uri="{0D108BD9-81ED-4DB2-BD59-A6C34878D82A}">
                    <a16:rowId xmlns:a16="http://schemas.microsoft.com/office/drawing/2014/main" val="2420466855"/>
                  </a:ext>
                </a:extLst>
              </a:tr>
              <a:tr h="223919">
                <a:tc>
                  <a:txBody>
                    <a:bodyPr/>
                    <a:lstStyle/>
                    <a:p>
                      <a:pPr>
                        <a:buNone/>
                      </a:pPr>
                      <a:r>
                        <a:rPr lang="en-US" sz="900"/>
                        <a:t>CDE review</a:t>
                      </a:r>
                    </a:p>
                  </a:txBody>
                  <a:tcPr anchor="ctr">
                    <a:solidFill>
                      <a:schemeClr val="accent4"/>
                    </a:solidFill>
                  </a:tcPr>
                </a:tc>
                <a:tc>
                  <a:txBody>
                    <a:bodyPr/>
                    <a:lstStyle/>
                    <a:p>
                      <a:pPr>
                        <a:buNone/>
                      </a:pPr>
                      <a:endParaRPr lang="en-US" sz="900"/>
                    </a:p>
                  </a:txBody>
                  <a:tcPr anchor="ctr"/>
                </a:tc>
                <a:tc>
                  <a:txBody>
                    <a:bodyPr/>
                    <a:lstStyle/>
                    <a:p>
                      <a:pPr>
                        <a:buNone/>
                      </a:pPr>
                      <a:r>
                        <a:rPr lang="en-US" sz="900"/>
                        <a:t>2027-01-05</a:t>
                      </a:r>
                    </a:p>
                  </a:txBody>
                  <a:tcPr anchor="ctr"/>
                </a:tc>
                <a:tc>
                  <a:txBody>
                    <a:bodyPr/>
                    <a:lstStyle/>
                    <a:p>
                      <a:pPr>
                        <a:buNone/>
                      </a:pPr>
                      <a:r>
                        <a:rPr lang="en-US" sz="900"/>
                        <a:t>2027-04-02</a:t>
                      </a:r>
                    </a:p>
                  </a:txBody>
                  <a:tcPr anchor="ctr"/>
                </a:tc>
                <a:extLst>
                  <a:ext uri="{0D108BD9-81ED-4DB2-BD59-A6C34878D82A}">
                    <a16:rowId xmlns:a16="http://schemas.microsoft.com/office/drawing/2014/main" val="2318850354"/>
                  </a:ext>
                </a:extLst>
              </a:tr>
              <a:tr h="223919">
                <a:tc>
                  <a:txBody>
                    <a:bodyPr/>
                    <a:lstStyle/>
                    <a:p>
                      <a:pPr>
                        <a:buNone/>
                      </a:pPr>
                      <a:r>
                        <a:rPr lang="en-US" sz="900"/>
                        <a:t>IRB/contract</a:t>
                      </a:r>
                    </a:p>
                  </a:txBody>
                  <a:tcPr anchor="ctr">
                    <a:solidFill>
                      <a:schemeClr val="accent6"/>
                    </a:solidFill>
                  </a:tcPr>
                </a:tc>
                <a:tc>
                  <a:txBody>
                    <a:bodyPr/>
                    <a:lstStyle/>
                    <a:p>
                      <a:pPr>
                        <a:buNone/>
                      </a:pPr>
                      <a:endParaRPr lang="en-US" sz="900"/>
                    </a:p>
                  </a:txBody>
                  <a:tcPr anchor="ctr"/>
                </a:tc>
                <a:tc>
                  <a:txBody>
                    <a:bodyPr/>
                    <a:lstStyle/>
                    <a:p>
                      <a:pPr>
                        <a:buNone/>
                      </a:pPr>
                      <a:r>
                        <a:rPr lang="en-US" altLang="zh-CN" sz="900"/>
                        <a:t>2027-01-05</a:t>
                      </a:r>
                    </a:p>
                  </a:txBody>
                  <a:tcPr anchor="ctr"/>
                </a:tc>
                <a:tc>
                  <a:txBody>
                    <a:bodyPr/>
                    <a:lstStyle/>
                    <a:p>
                      <a:pPr>
                        <a:buNone/>
                      </a:pPr>
                      <a:r>
                        <a:rPr lang="en-US" sz="900">
                          <a:solidFill>
                            <a:schemeClr val="tx2">
                              <a:lumMod val="75000"/>
                            </a:schemeClr>
                          </a:solidFill>
                        </a:rPr>
                        <a:t>2027-06-05</a:t>
                      </a:r>
                    </a:p>
                  </a:txBody>
                  <a:tcPr anchor="ctr"/>
                </a:tc>
                <a:extLst>
                  <a:ext uri="{0D108BD9-81ED-4DB2-BD59-A6C34878D82A}">
                    <a16:rowId xmlns:a16="http://schemas.microsoft.com/office/drawing/2014/main" val="4025249045"/>
                  </a:ext>
                </a:extLst>
              </a:tr>
              <a:tr h="259482">
                <a:tc>
                  <a:txBody>
                    <a:bodyPr/>
                    <a:lstStyle/>
                    <a:p>
                      <a:pPr>
                        <a:buNone/>
                      </a:pPr>
                      <a:r>
                        <a:rPr lang="en-US" sz="900"/>
                        <a:t>DG1 Subject identification</a:t>
                      </a:r>
                    </a:p>
                  </a:txBody>
                  <a:tcPr anchor="ctr">
                    <a:solidFill>
                      <a:schemeClr val="accent6"/>
                    </a:solidFill>
                  </a:tcPr>
                </a:tc>
                <a:tc rowSpan="7">
                  <a:txBody>
                    <a:bodyPr/>
                    <a:lstStyle/>
                    <a:p>
                      <a:pPr>
                        <a:buNone/>
                      </a:pPr>
                      <a:r>
                        <a:rPr lang="en-US" sz="900">
                          <a:solidFill>
                            <a:schemeClr val="accent5">
                              <a:lumMod val="75000"/>
                            </a:schemeClr>
                          </a:solidFill>
                        </a:rPr>
                        <a:t>China not join DG1 due to the very limited window. </a:t>
                      </a:r>
                    </a:p>
                    <a:p>
                      <a:pPr>
                        <a:buNone/>
                      </a:pPr>
                      <a:r>
                        <a:rPr lang="en-US" sz="900">
                          <a:solidFill>
                            <a:schemeClr val="accent5">
                              <a:lumMod val="75000"/>
                            </a:schemeClr>
                          </a:solidFill>
                        </a:rPr>
                        <a:t>Need to provide strong rationales why only 3 pts for DG1. </a:t>
                      </a:r>
                    </a:p>
                  </a:txBody>
                  <a:tcPr anchor="ctr"/>
                </a:tc>
                <a:tc>
                  <a:txBody>
                    <a:bodyPr/>
                    <a:lstStyle/>
                    <a:p>
                      <a:pPr>
                        <a:buNone/>
                      </a:pPr>
                      <a:endParaRPr lang="en-US" sz="900"/>
                    </a:p>
                  </a:txBody>
                  <a:tcPr anchor="ctr"/>
                </a:tc>
                <a:tc>
                  <a:txBody>
                    <a:bodyPr/>
                    <a:lstStyle/>
                    <a:p>
                      <a:pPr>
                        <a:buNone/>
                      </a:pPr>
                      <a:endParaRPr lang="en-US" sz="900"/>
                    </a:p>
                  </a:txBody>
                  <a:tcPr anchor="ctr"/>
                </a:tc>
                <a:extLst>
                  <a:ext uri="{0D108BD9-81ED-4DB2-BD59-A6C34878D82A}">
                    <a16:rowId xmlns:a16="http://schemas.microsoft.com/office/drawing/2014/main" val="1540787116"/>
                  </a:ext>
                </a:extLst>
              </a:tr>
              <a:tr h="223919">
                <a:tc>
                  <a:txBody>
                    <a:bodyPr/>
                    <a:lstStyle/>
                    <a:p>
                      <a:pPr>
                        <a:buNone/>
                      </a:pPr>
                      <a:r>
                        <a:rPr lang="en-US" sz="900"/>
                        <a:t>First Subject Screened</a:t>
                      </a:r>
                    </a:p>
                  </a:txBody>
                  <a:tcPr anchor="ctr">
                    <a:solidFill>
                      <a:schemeClr val="accent6"/>
                    </a:solidFill>
                  </a:tcPr>
                </a:tc>
                <a:tc vMerge="1">
                  <a:txBody>
                    <a:bodyPr/>
                    <a:lstStyle/>
                    <a:p>
                      <a:pPr>
                        <a:buNone/>
                      </a:pPr>
                      <a:endParaRPr lang="en-US" sz="900"/>
                    </a:p>
                  </a:txBody>
                  <a:tcPr anchor="ctr"/>
                </a:tc>
                <a:tc>
                  <a:txBody>
                    <a:bodyPr/>
                    <a:lstStyle/>
                    <a:p>
                      <a:pPr>
                        <a:buNone/>
                      </a:pPr>
                      <a:endParaRPr lang="en-US" sz="900"/>
                    </a:p>
                  </a:txBody>
                  <a:tcPr anchor="ctr"/>
                </a:tc>
                <a:tc>
                  <a:txBody>
                    <a:bodyPr/>
                    <a:lstStyle/>
                    <a:p>
                      <a:pPr>
                        <a:buNone/>
                      </a:pPr>
                      <a:endParaRPr lang="en-US" sz="900"/>
                    </a:p>
                  </a:txBody>
                  <a:tcPr anchor="ctr"/>
                </a:tc>
                <a:extLst>
                  <a:ext uri="{0D108BD9-81ED-4DB2-BD59-A6C34878D82A}">
                    <a16:rowId xmlns:a16="http://schemas.microsoft.com/office/drawing/2014/main" val="3182133024"/>
                  </a:ext>
                </a:extLst>
              </a:tr>
              <a:tr h="223919">
                <a:tc>
                  <a:txBody>
                    <a:bodyPr/>
                    <a:lstStyle/>
                    <a:p>
                      <a:pPr>
                        <a:buNone/>
                      </a:pPr>
                      <a:r>
                        <a:rPr lang="en-US" sz="900"/>
                        <a:t>DG1 dosing (MABEL)</a:t>
                      </a:r>
                    </a:p>
                  </a:txBody>
                  <a:tcPr anchor="ctr">
                    <a:solidFill>
                      <a:schemeClr val="accent6"/>
                    </a:solidFill>
                  </a:tcPr>
                </a:tc>
                <a:tc vMerge="1">
                  <a:txBody>
                    <a:bodyPr/>
                    <a:lstStyle/>
                    <a:p>
                      <a:pPr>
                        <a:buNone/>
                      </a:pPr>
                      <a:endParaRPr lang="en-US" sz="900"/>
                    </a:p>
                  </a:txBody>
                  <a:tcPr anchor="ctr"/>
                </a:tc>
                <a:tc>
                  <a:txBody>
                    <a:bodyPr/>
                    <a:lstStyle/>
                    <a:p>
                      <a:pPr>
                        <a:buNone/>
                      </a:pPr>
                      <a:endParaRPr lang="en-US" sz="900"/>
                    </a:p>
                  </a:txBody>
                  <a:tcPr anchor="ctr"/>
                </a:tc>
                <a:tc>
                  <a:txBody>
                    <a:bodyPr/>
                    <a:lstStyle/>
                    <a:p>
                      <a:pPr>
                        <a:buNone/>
                      </a:pPr>
                      <a:endParaRPr lang="en-US" sz="900"/>
                    </a:p>
                  </a:txBody>
                  <a:tcPr anchor="ctr"/>
                </a:tc>
                <a:extLst>
                  <a:ext uri="{0D108BD9-81ED-4DB2-BD59-A6C34878D82A}">
                    <a16:rowId xmlns:a16="http://schemas.microsoft.com/office/drawing/2014/main" val="1245132370"/>
                  </a:ext>
                </a:extLst>
              </a:tr>
              <a:tr h="268350">
                <a:tc>
                  <a:txBody>
                    <a:bodyPr/>
                    <a:lstStyle/>
                    <a:p>
                      <a:pPr>
                        <a:buNone/>
                      </a:pPr>
                      <a:r>
                        <a:rPr lang="en-US" sz="900"/>
                        <a:t>DG1 dosing (target dose)</a:t>
                      </a:r>
                    </a:p>
                  </a:txBody>
                  <a:tcPr anchor="ctr">
                    <a:solidFill>
                      <a:schemeClr val="accent6"/>
                    </a:solidFill>
                  </a:tcPr>
                </a:tc>
                <a:tc vMerge="1">
                  <a:txBody>
                    <a:bodyPr/>
                    <a:lstStyle/>
                    <a:p>
                      <a:pPr>
                        <a:buNone/>
                      </a:pPr>
                      <a:endParaRPr lang="en-US" sz="900"/>
                    </a:p>
                  </a:txBody>
                  <a:tcPr anchor="ctr"/>
                </a:tc>
                <a:tc>
                  <a:txBody>
                    <a:bodyPr/>
                    <a:lstStyle/>
                    <a:p>
                      <a:pPr>
                        <a:buNone/>
                      </a:pPr>
                      <a:endParaRPr lang="en-US" sz="900"/>
                    </a:p>
                  </a:txBody>
                  <a:tcPr anchor="ctr"/>
                </a:tc>
                <a:tc>
                  <a:txBody>
                    <a:bodyPr/>
                    <a:lstStyle/>
                    <a:p>
                      <a:pPr>
                        <a:buNone/>
                      </a:pPr>
                      <a:endParaRPr lang="en-US" sz="900"/>
                    </a:p>
                  </a:txBody>
                  <a:tcPr anchor="ctr"/>
                </a:tc>
                <a:extLst>
                  <a:ext uri="{0D108BD9-81ED-4DB2-BD59-A6C34878D82A}">
                    <a16:rowId xmlns:a16="http://schemas.microsoft.com/office/drawing/2014/main" val="3661507380"/>
                  </a:ext>
                </a:extLst>
              </a:tr>
              <a:tr h="223919">
                <a:tc>
                  <a:txBody>
                    <a:bodyPr/>
                    <a:lstStyle/>
                    <a:p>
                      <a:pPr>
                        <a:buNone/>
                      </a:pPr>
                      <a:r>
                        <a:rPr lang="en-US" sz="900"/>
                        <a:t>DG1 safety observation</a:t>
                      </a:r>
                    </a:p>
                  </a:txBody>
                  <a:tcPr anchor="ctr">
                    <a:solidFill>
                      <a:schemeClr val="accent6"/>
                    </a:solidFill>
                  </a:tcPr>
                </a:tc>
                <a:tc vMerge="1">
                  <a:txBody>
                    <a:bodyPr/>
                    <a:lstStyle/>
                    <a:p>
                      <a:pPr>
                        <a:buNone/>
                      </a:pPr>
                      <a:endParaRPr lang="en-US" sz="900"/>
                    </a:p>
                  </a:txBody>
                  <a:tcPr anchor="ctr"/>
                </a:tc>
                <a:tc>
                  <a:txBody>
                    <a:bodyPr/>
                    <a:lstStyle/>
                    <a:p>
                      <a:pPr>
                        <a:buNone/>
                      </a:pPr>
                      <a:endParaRPr lang="en-US" sz="900"/>
                    </a:p>
                  </a:txBody>
                  <a:tcPr anchor="ctr"/>
                </a:tc>
                <a:tc>
                  <a:txBody>
                    <a:bodyPr/>
                    <a:lstStyle/>
                    <a:p>
                      <a:pPr>
                        <a:buNone/>
                      </a:pPr>
                      <a:endParaRPr lang="en-US" sz="900"/>
                    </a:p>
                  </a:txBody>
                  <a:tcPr anchor="ctr"/>
                </a:tc>
                <a:extLst>
                  <a:ext uri="{0D108BD9-81ED-4DB2-BD59-A6C34878D82A}">
                    <a16:rowId xmlns:a16="http://schemas.microsoft.com/office/drawing/2014/main" val="914777403"/>
                  </a:ext>
                </a:extLst>
              </a:tr>
              <a:tr h="223919">
                <a:tc>
                  <a:txBody>
                    <a:bodyPr/>
                    <a:lstStyle/>
                    <a:p>
                      <a:pPr>
                        <a:buNone/>
                      </a:pPr>
                      <a:r>
                        <a:rPr lang="en-US" sz="900"/>
                        <a:t>DG1 PK observation</a:t>
                      </a:r>
                    </a:p>
                  </a:txBody>
                  <a:tcPr anchor="ctr">
                    <a:solidFill>
                      <a:schemeClr val="accent6"/>
                    </a:solidFill>
                  </a:tcPr>
                </a:tc>
                <a:tc vMerge="1">
                  <a:txBody>
                    <a:bodyPr/>
                    <a:lstStyle/>
                    <a:p>
                      <a:pPr>
                        <a:buNone/>
                      </a:pPr>
                      <a:endParaRPr lang="en-US" sz="900"/>
                    </a:p>
                  </a:txBody>
                  <a:tcPr anchor="ctr"/>
                </a:tc>
                <a:tc>
                  <a:txBody>
                    <a:bodyPr/>
                    <a:lstStyle/>
                    <a:p>
                      <a:pPr>
                        <a:buNone/>
                      </a:pPr>
                      <a:endParaRPr lang="en-US" sz="900"/>
                    </a:p>
                  </a:txBody>
                  <a:tcPr anchor="ctr"/>
                </a:tc>
                <a:tc>
                  <a:txBody>
                    <a:bodyPr/>
                    <a:lstStyle/>
                    <a:p>
                      <a:pPr>
                        <a:buNone/>
                      </a:pPr>
                      <a:endParaRPr lang="en-US" sz="900"/>
                    </a:p>
                  </a:txBody>
                  <a:tcPr anchor="ctr"/>
                </a:tc>
                <a:extLst>
                  <a:ext uri="{0D108BD9-81ED-4DB2-BD59-A6C34878D82A}">
                    <a16:rowId xmlns:a16="http://schemas.microsoft.com/office/drawing/2014/main" val="1783008398"/>
                  </a:ext>
                </a:extLst>
              </a:tr>
              <a:tr h="223919">
                <a:tc>
                  <a:txBody>
                    <a:bodyPr/>
                    <a:lstStyle/>
                    <a:p>
                      <a:pPr>
                        <a:buNone/>
                      </a:pPr>
                      <a:r>
                        <a:rPr lang="en-US" sz="900"/>
                        <a:t>DG1-DG2 DEC</a:t>
                      </a:r>
                    </a:p>
                  </a:txBody>
                  <a:tcPr anchor="ctr">
                    <a:solidFill>
                      <a:schemeClr val="accent6"/>
                    </a:solidFill>
                  </a:tcPr>
                </a:tc>
                <a:tc vMerge="1">
                  <a:txBody>
                    <a:bodyPr/>
                    <a:lstStyle/>
                    <a:p>
                      <a:pPr>
                        <a:buNone/>
                      </a:pPr>
                      <a:endParaRPr lang="en-US" sz="900"/>
                    </a:p>
                  </a:txBody>
                  <a:tcPr anchor="ctr"/>
                </a:tc>
                <a:tc>
                  <a:txBody>
                    <a:bodyPr/>
                    <a:lstStyle/>
                    <a:p>
                      <a:pPr>
                        <a:buNone/>
                      </a:pPr>
                      <a:endParaRPr lang="en-US" sz="900"/>
                    </a:p>
                  </a:txBody>
                  <a:tcPr anchor="ctr"/>
                </a:tc>
                <a:tc>
                  <a:txBody>
                    <a:bodyPr/>
                    <a:lstStyle/>
                    <a:p>
                      <a:pPr>
                        <a:buNone/>
                      </a:pPr>
                      <a:endParaRPr lang="en-US" sz="900"/>
                    </a:p>
                  </a:txBody>
                  <a:tcPr anchor="ctr"/>
                </a:tc>
                <a:extLst>
                  <a:ext uri="{0D108BD9-81ED-4DB2-BD59-A6C34878D82A}">
                    <a16:rowId xmlns:a16="http://schemas.microsoft.com/office/drawing/2014/main" val="4174282441"/>
                  </a:ext>
                </a:extLst>
              </a:tr>
              <a:tr h="268351">
                <a:tc>
                  <a:txBody>
                    <a:bodyPr/>
                    <a:lstStyle/>
                    <a:p>
                      <a:pPr>
                        <a:buNone/>
                      </a:pPr>
                      <a:r>
                        <a:rPr lang="en-US" sz="900"/>
                        <a:t>DG2 subject identification</a:t>
                      </a:r>
                    </a:p>
                  </a:txBody>
                  <a:tcPr anchor="ctr">
                    <a:solidFill>
                      <a:schemeClr val="accent6"/>
                    </a:solidFill>
                  </a:tcPr>
                </a:tc>
                <a:tc>
                  <a:txBody>
                    <a:bodyPr/>
                    <a:lstStyle/>
                    <a:p>
                      <a:pPr>
                        <a:buNone/>
                      </a:pPr>
                      <a:endParaRPr lang="en-US" sz="900"/>
                    </a:p>
                  </a:txBody>
                  <a:tcPr anchor="ctr"/>
                </a:tc>
                <a:tc>
                  <a:txBody>
                    <a:bodyPr/>
                    <a:lstStyle/>
                    <a:p>
                      <a:pPr>
                        <a:buNone/>
                      </a:pPr>
                      <a:r>
                        <a:rPr lang="en-US" sz="900"/>
                        <a:t>2027-06-05</a:t>
                      </a:r>
                    </a:p>
                  </a:txBody>
                  <a:tcPr anchor="ctr"/>
                </a:tc>
                <a:tc>
                  <a:txBody>
                    <a:bodyPr/>
                    <a:lstStyle/>
                    <a:p>
                      <a:pPr>
                        <a:buNone/>
                      </a:pPr>
                      <a:r>
                        <a:rPr lang="en-US" sz="900"/>
                        <a:t>2027-07-28</a:t>
                      </a:r>
                    </a:p>
                  </a:txBody>
                  <a:tcPr anchor="ctr"/>
                </a:tc>
                <a:extLst>
                  <a:ext uri="{0D108BD9-81ED-4DB2-BD59-A6C34878D82A}">
                    <a16:rowId xmlns:a16="http://schemas.microsoft.com/office/drawing/2014/main" val="3879822988"/>
                  </a:ext>
                </a:extLst>
              </a:tr>
              <a:tr h="223919">
                <a:tc>
                  <a:txBody>
                    <a:bodyPr/>
                    <a:lstStyle/>
                    <a:p>
                      <a:pPr>
                        <a:buNone/>
                      </a:pPr>
                      <a:r>
                        <a:rPr lang="en-US" sz="900"/>
                        <a:t>DG2 dosing (MABEL)</a:t>
                      </a:r>
                    </a:p>
                  </a:txBody>
                  <a:tcPr anchor="ctr">
                    <a:solidFill>
                      <a:schemeClr val="accent6"/>
                    </a:solidFill>
                  </a:tcPr>
                </a:tc>
                <a:tc>
                  <a:txBody>
                    <a:bodyPr/>
                    <a:lstStyle/>
                    <a:p>
                      <a:pPr>
                        <a:buNone/>
                      </a:pPr>
                      <a:endParaRPr lang="en-US" sz="900"/>
                    </a:p>
                  </a:txBody>
                  <a:tcPr anchor="ctr"/>
                </a:tc>
                <a:tc>
                  <a:txBody>
                    <a:bodyPr/>
                    <a:lstStyle/>
                    <a:p>
                      <a:pPr>
                        <a:buNone/>
                      </a:pPr>
                      <a:r>
                        <a:rPr lang="en-US" sz="900"/>
                        <a:t>2027-08-05</a:t>
                      </a:r>
                    </a:p>
                  </a:txBody>
                  <a:tcPr anchor="ctr"/>
                </a:tc>
                <a:tc>
                  <a:txBody>
                    <a:bodyPr/>
                    <a:lstStyle/>
                    <a:p>
                      <a:pPr>
                        <a:buNone/>
                      </a:pPr>
                      <a:r>
                        <a:rPr lang="en-US" sz="900"/>
                        <a:t>2027-08-29</a:t>
                      </a:r>
                    </a:p>
                  </a:txBody>
                  <a:tcPr anchor="ctr"/>
                </a:tc>
                <a:extLst>
                  <a:ext uri="{0D108BD9-81ED-4DB2-BD59-A6C34878D82A}">
                    <a16:rowId xmlns:a16="http://schemas.microsoft.com/office/drawing/2014/main" val="1111194018"/>
                  </a:ext>
                </a:extLst>
              </a:tr>
              <a:tr h="223919">
                <a:tc>
                  <a:txBody>
                    <a:bodyPr/>
                    <a:lstStyle/>
                    <a:p>
                      <a:pPr>
                        <a:buNone/>
                      </a:pPr>
                      <a:r>
                        <a:rPr lang="en-US" sz="900"/>
                        <a:t>DG2 dosing (target dose)</a:t>
                      </a:r>
                    </a:p>
                  </a:txBody>
                  <a:tcPr anchor="ctr">
                    <a:solidFill>
                      <a:schemeClr val="accent6"/>
                    </a:solidFill>
                  </a:tcPr>
                </a:tc>
                <a:tc>
                  <a:txBody>
                    <a:bodyPr/>
                    <a:lstStyle/>
                    <a:p>
                      <a:pPr>
                        <a:buNone/>
                      </a:pPr>
                      <a:endParaRPr lang="en-US" sz="900"/>
                    </a:p>
                  </a:txBody>
                  <a:tcPr anchor="ctr"/>
                </a:tc>
                <a:tc>
                  <a:txBody>
                    <a:bodyPr/>
                    <a:lstStyle/>
                    <a:p>
                      <a:pPr>
                        <a:buNone/>
                      </a:pPr>
                      <a:r>
                        <a:rPr lang="en-US" sz="900"/>
                        <a:t>2027-08-29</a:t>
                      </a:r>
                    </a:p>
                  </a:txBody>
                  <a:tcPr anchor="ctr"/>
                </a:tc>
                <a:tc>
                  <a:txBody>
                    <a:bodyPr/>
                    <a:lstStyle/>
                    <a:p>
                      <a:pPr>
                        <a:buNone/>
                      </a:pPr>
                      <a:r>
                        <a:rPr lang="en-US" sz="900"/>
                        <a:t>2027-08-29</a:t>
                      </a:r>
                    </a:p>
                  </a:txBody>
                  <a:tcPr anchor="ctr"/>
                </a:tc>
                <a:extLst>
                  <a:ext uri="{0D108BD9-81ED-4DB2-BD59-A6C34878D82A}">
                    <a16:rowId xmlns:a16="http://schemas.microsoft.com/office/drawing/2014/main" val="2477901554"/>
                  </a:ext>
                </a:extLst>
              </a:tr>
              <a:tr h="223919">
                <a:tc>
                  <a:txBody>
                    <a:bodyPr/>
                    <a:lstStyle/>
                    <a:p>
                      <a:pPr>
                        <a:buNone/>
                      </a:pPr>
                      <a:r>
                        <a:rPr lang="en-US" sz="900"/>
                        <a:t>DG2 safety observation</a:t>
                      </a:r>
                    </a:p>
                  </a:txBody>
                  <a:tcPr anchor="ctr">
                    <a:solidFill>
                      <a:schemeClr val="accent6"/>
                    </a:solidFill>
                  </a:tcPr>
                </a:tc>
                <a:tc>
                  <a:txBody>
                    <a:bodyPr/>
                    <a:lstStyle/>
                    <a:p>
                      <a:pPr>
                        <a:buNone/>
                      </a:pPr>
                      <a:endParaRPr lang="en-US" sz="900" err="1"/>
                    </a:p>
                  </a:txBody>
                  <a:tcPr anchor="ctr"/>
                </a:tc>
                <a:tc>
                  <a:txBody>
                    <a:bodyPr/>
                    <a:lstStyle/>
                    <a:p>
                      <a:pPr>
                        <a:buNone/>
                      </a:pPr>
                      <a:r>
                        <a:rPr lang="en-US" altLang="ja-JP" sz="900"/>
                        <a:t>2027-08-29</a:t>
                      </a:r>
                    </a:p>
                  </a:txBody>
                  <a:tcPr anchor="ctr"/>
                </a:tc>
                <a:tc>
                  <a:txBody>
                    <a:bodyPr/>
                    <a:lstStyle/>
                    <a:p>
                      <a:pPr>
                        <a:buNone/>
                      </a:pPr>
                      <a:r>
                        <a:rPr lang="en-US" sz="900"/>
                        <a:t>2027-09-26</a:t>
                      </a:r>
                    </a:p>
                  </a:txBody>
                  <a:tcPr anchor="ctr"/>
                </a:tc>
                <a:extLst>
                  <a:ext uri="{0D108BD9-81ED-4DB2-BD59-A6C34878D82A}">
                    <a16:rowId xmlns:a16="http://schemas.microsoft.com/office/drawing/2014/main" val="3348113126"/>
                  </a:ext>
                </a:extLst>
              </a:tr>
              <a:tr h="223919">
                <a:tc>
                  <a:txBody>
                    <a:bodyPr/>
                    <a:lstStyle/>
                    <a:p>
                      <a:pPr>
                        <a:buNone/>
                      </a:pPr>
                      <a:r>
                        <a:rPr lang="en-US" sz="900"/>
                        <a:t>DG2 PK observation</a:t>
                      </a:r>
                    </a:p>
                  </a:txBody>
                  <a:tcPr anchor="ctr">
                    <a:solidFill>
                      <a:schemeClr val="accent6"/>
                    </a:solidFill>
                  </a:tcPr>
                </a:tc>
                <a:tc>
                  <a:txBody>
                    <a:bodyPr/>
                    <a:lstStyle/>
                    <a:p>
                      <a:pPr>
                        <a:buNone/>
                      </a:pPr>
                      <a:endParaRPr lang="en-US" sz="900"/>
                    </a:p>
                  </a:txBody>
                  <a:tcPr anchor="ctr"/>
                </a:tc>
                <a:tc>
                  <a:txBody>
                    <a:bodyPr/>
                    <a:lstStyle/>
                    <a:p>
                      <a:pPr>
                        <a:buNone/>
                      </a:pPr>
                      <a:r>
                        <a:rPr lang="en-US" altLang="ja-JP" sz="900"/>
                        <a:t>2027-08-29</a:t>
                      </a:r>
                    </a:p>
                  </a:txBody>
                  <a:tcPr anchor="ctr"/>
                </a:tc>
                <a:tc>
                  <a:txBody>
                    <a:bodyPr/>
                    <a:lstStyle/>
                    <a:p>
                      <a:pPr>
                        <a:buNone/>
                      </a:pPr>
                      <a:r>
                        <a:rPr lang="en-US" sz="900"/>
                        <a:t>2027-10-28</a:t>
                      </a:r>
                    </a:p>
                  </a:txBody>
                  <a:tcPr anchor="ctr"/>
                </a:tc>
                <a:extLst>
                  <a:ext uri="{0D108BD9-81ED-4DB2-BD59-A6C34878D82A}">
                    <a16:rowId xmlns:a16="http://schemas.microsoft.com/office/drawing/2014/main" val="4120227884"/>
                  </a:ext>
                </a:extLst>
              </a:tr>
              <a:tr h="223919">
                <a:tc>
                  <a:txBody>
                    <a:bodyPr/>
                    <a:lstStyle/>
                    <a:p>
                      <a:pPr>
                        <a:buNone/>
                      </a:pPr>
                      <a:r>
                        <a:rPr lang="en-US" sz="900"/>
                        <a:t>DBL</a:t>
                      </a:r>
                    </a:p>
                  </a:txBody>
                  <a:tcPr anchor="ctr">
                    <a:solidFill>
                      <a:schemeClr val="accent6"/>
                    </a:solidFill>
                  </a:tcPr>
                </a:tc>
                <a:tc>
                  <a:txBody>
                    <a:bodyPr/>
                    <a:lstStyle/>
                    <a:p>
                      <a:pPr>
                        <a:buNone/>
                      </a:pPr>
                      <a:endParaRPr lang="en-US" sz="900"/>
                    </a:p>
                  </a:txBody>
                  <a:tcPr anchor="ctr"/>
                </a:tc>
                <a:tc>
                  <a:txBody>
                    <a:bodyPr/>
                    <a:lstStyle/>
                    <a:p>
                      <a:pPr>
                        <a:buNone/>
                      </a:pPr>
                      <a:r>
                        <a:rPr lang="en-US" sz="900"/>
                        <a:t>2027-10-29</a:t>
                      </a:r>
                    </a:p>
                  </a:txBody>
                  <a:tcPr anchor="ctr"/>
                </a:tc>
                <a:tc>
                  <a:txBody>
                    <a:bodyPr/>
                    <a:lstStyle/>
                    <a:p>
                      <a:pPr>
                        <a:buNone/>
                      </a:pPr>
                      <a:r>
                        <a:rPr lang="en-US" sz="900"/>
                        <a:t>2027-10-23</a:t>
                      </a:r>
                    </a:p>
                  </a:txBody>
                  <a:tcPr anchor="ctr"/>
                </a:tc>
                <a:extLst>
                  <a:ext uri="{0D108BD9-81ED-4DB2-BD59-A6C34878D82A}">
                    <a16:rowId xmlns:a16="http://schemas.microsoft.com/office/drawing/2014/main" val="2068026147"/>
                  </a:ext>
                </a:extLst>
              </a:tr>
              <a:tr h="223919">
                <a:tc>
                  <a:txBody>
                    <a:bodyPr/>
                    <a:lstStyle/>
                    <a:p>
                      <a:pPr>
                        <a:buNone/>
                      </a:pPr>
                      <a:r>
                        <a:rPr lang="en-US" sz="900"/>
                        <a:t>Christmas break</a:t>
                      </a:r>
                    </a:p>
                  </a:txBody>
                  <a:tcPr anchor="ctr">
                    <a:solidFill>
                      <a:schemeClr val="accent6"/>
                    </a:solidFill>
                  </a:tcPr>
                </a:tc>
                <a:tc>
                  <a:txBody>
                    <a:bodyPr/>
                    <a:lstStyle/>
                    <a:p>
                      <a:pPr>
                        <a:buNone/>
                      </a:pPr>
                      <a:endParaRPr lang="en-US" sz="900"/>
                    </a:p>
                  </a:txBody>
                  <a:tcPr anchor="ctr"/>
                </a:tc>
                <a:tc>
                  <a:txBody>
                    <a:bodyPr/>
                    <a:lstStyle/>
                    <a:p>
                      <a:pPr>
                        <a:buNone/>
                      </a:pPr>
                      <a:r>
                        <a:rPr lang="en-US" sz="900"/>
                        <a:t>2027-12-24</a:t>
                      </a:r>
                    </a:p>
                  </a:txBody>
                  <a:tcPr anchor="ctr"/>
                </a:tc>
                <a:tc>
                  <a:txBody>
                    <a:bodyPr/>
                    <a:lstStyle/>
                    <a:p>
                      <a:pPr>
                        <a:buNone/>
                      </a:pPr>
                      <a:r>
                        <a:rPr lang="en-US" sz="900"/>
                        <a:t>2028-01-06</a:t>
                      </a:r>
                    </a:p>
                  </a:txBody>
                  <a:tcPr anchor="ctr"/>
                </a:tc>
                <a:extLst>
                  <a:ext uri="{0D108BD9-81ED-4DB2-BD59-A6C34878D82A}">
                    <a16:rowId xmlns:a16="http://schemas.microsoft.com/office/drawing/2014/main" val="1121099186"/>
                  </a:ext>
                </a:extLst>
              </a:tr>
              <a:tr h="223919">
                <a:tc>
                  <a:txBody>
                    <a:bodyPr/>
                    <a:lstStyle/>
                    <a:p>
                      <a:pPr>
                        <a:buNone/>
                      </a:pPr>
                      <a:r>
                        <a:rPr lang="en-US" sz="900"/>
                        <a:t>TLR</a:t>
                      </a:r>
                    </a:p>
                  </a:txBody>
                  <a:tcPr anchor="ctr">
                    <a:solidFill>
                      <a:schemeClr val="accent6"/>
                    </a:solidFill>
                  </a:tcPr>
                </a:tc>
                <a:tc rowSpan="6">
                  <a:txBody>
                    <a:bodyPr/>
                    <a:lstStyle/>
                    <a:p>
                      <a:pPr>
                        <a:buNone/>
                      </a:pPr>
                      <a:r>
                        <a:rPr lang="en-US" sz="900">
                          <a:solidFill>
                            <a:schemeClr val="accent5">
                              <a:lumMod val="75000"/>
                            </a:schemeClr>
                          </a:solidFill>
                        </a:rPr>
                        <a:t>China will submit CTA in parallel with global. Snapshot of DG2 safety data be included in CTA submission. </a:t>
                      </a:r>
                    </a:p>
                  </a:txBody>
                  <a:tcPr anchor="ctr"/>
                </a:tc>
                <a:tc>
                  <a:txBody>
                    <a:bodyPr/>
                    <a:lstStyle/>
                    <a:p>
                      <a:pPr>
                        <a:buNone/>
                      </a:pPr>
                      <a:r>
                        <a:rPr lang="en-US" sz="900"/>
                        <a:t>2028-01-07</a:t>
                      </a:r>
                    </a:p>
                  </a:txBody>
                  <a:tcPr anchor="ctr"/>
                </a:tc>
                <a:tc>
                  <a:txBody>
                    <a:bodyPr/>
                    <a:lstStyle/>
                    <a:p>
                      <a:pPr>
                        <a:buNone/>
                      </a:pPr>
                      <a:r>
                        <a:rPr lang="en-US" sz="900"/>
                        <a:t>2028-01-13</a:t>
                      </a:r>
                    </a:p>
                  </a:txBody>
                  <a:tcPr anchor="ctr"/>
                </a:tc>
                <a:extLst>
                  <a:ext uri="{0D108BD9-81ED-4DB2-BD59-A6C34878D82A}">
                    <a16:rowId xmlns:a16="http://schemas.microsoft.com/office/drawing/2014/main" val="2903716691"/>
                  </a:ext>
                </a:extLst>
              </a:tr>
              <a:tr h="223919">
                <a:tc>
                  <a:txBody>
                    <a:bodyPr/>
                    <a:lstStyle/>
                    <a:p>
                      <a:pPr>
                        <a:buNone/>
                      </a:pPr>
                      <a:r>
                        <a:rPr lang="en-US" sz="900"/>
                        <a:t>CTA for next phase trial</a:t>
                      </a:r>
                    </a:p>
                  </a:txBody>
                  <a:tcPr anchor="ctr">
                    <a:solidFill>
                      <a:schemeClr val="accent4"/>
                    </a:solidFill>
                  </a:tcPr>
                </a:tc>
                <a:tc vMerge="1">
                  <a:txBody>
                    <a:bodyPr/>
                    <a:lstStyle/>
                    <a:p>
                      <a:endParaRPr/>
                    </a:p>
                  </a:txBody>
                  <a:tcPr anchor="ctr"/>
                </a:tc>
                <a:tc>
                  <a:txBody>
                    <a:bodyPr/>
                    <a:lstStyle/>
                    <a:p>
                      <a:pPr>
                        <a:buNone/>
                      </a:pPr>
                      <a:endParaRPr lang="en-US" sz="900">
                        <a:highlight>
                          <a:srgbClr val="FFFF00"/>
                        </a:highlight>
                      </a:endParaRPr>
                    </a:p>
                  </a:txBody>
                  <a:tcPr anchor="ctr"/>
                </a:tc>
                <a:tc>
                  <a:txBody>
                    <a:bodyPr/>
                    <a:lstStyle/>
                    <a:p>
                      <a:pPr>
                        <a:buNone/>
                      </a:pPr>
                      <a:endParaRPr lang="en-US" sz="900">
                        <a:highlight>
                          <a:srgbClr val="FFFF00"/>
                        </a:highlight>
                      </a:endParaRPr>
                    </a:p>
                  </a:txBody>
                  <a:tcPr anchor="ctr"/>
                </a:tc>
                <a:extLst>
                  <a:ext uri="{0D108BD9-81ED-4DB2-BD59-A6C34878D82A}">
                    <a16:rowId xmlns:a16="http://schemas.microsoft.com/office/drawing/2014/main" val="3591380058"/>
                  </a:ext>
                </a:extLst>
              </a:tr>
              <a:tr h="223919">
                <a:tc>
                  <a:txBody>
                    <a:bodyPr/>
                    <a:lstStyle/>
                    <a:p>
                      <a:pPr>
                        <a:buNone/>
                      </a:pPr>
                      <a:r>
                        <a:rPr lang="en-US" sz="900"/>
                        <a:t>CDE review</a:t>
                      </a:r>
                    </a:p>
                  </a:txBody>
                  <a:tcPr anchor="ctr">
                    <a:solidFill>
                      <a:schemeClr val="accent4"/>
                    </a:solidFill>
                  </a:tcPr>
                </a:tc>
                <a:tc vMerge="1">
                  <a:txBody>
                    <a:bodyPr/>
                    <a:lstStyle/>
                    <a:p>
                      <a:pPr>
                        <a:buNone/>
                      </a:pPr>
                      <a:endParaRPr lang="en-US" sz="900"/>
                    </a:p>
                  </a:txBody>
                  <a:tcPr anchor="ctr"/>
                </a:tc>
                <a:tc>
                  <a:txBody>
                    <a:bodyPr/>
                    <a:lstStyle/>
                    <a:p>
                      <a:pPr>
                        <a:buNone/>
                      </a:pPr>
                      <a:endParaRPr lang="en-US" sz="900"/>
                    </a:p>
                  </a:txBody>
                  <a:tcPr anchor="ctr"/>
                </a:tc>
                <a:tc>
                  <a:txBody>
                    <a:bodyPr/>
                    <a:lstStyle/>
                    <a:p>
                      <a:pPr>
                        <a:buNone/>
                      </a:pPr>
                      <a:endParaRPr lang="en-US" sz="900"/>
                    </a:p>
                  </a:txBody>
                  <a:tcPr anchor="ctr"/>
                </a:tc>
                <a:extLst>
                  <a:ext uri="{0D108BD9-81ED-4DB2-BD59-A6C34878D82A}">
                    <a16:rowId xmlns:a16="http://schemas.microsoft.com/office/drawing/2014/main" val="2896111461"/>
                  </a:ext>
                </a:extLst>
              </a:tr>
              <a:tr h="223919">
                <a:tc>
                  <a:txBody>
                    <a:bodyPr/>
                    <a:lstStyle/>
                    <a:p>
                      <a:pPr>
                        <a:buNone/>
                      </a:pPr>
                      <a:r>
                        <a:rPr lang="en-US" sz="900"/>
                        <a:t>IRB/contract</a:t>
                      </a:r>
                    </a:p>
                  </a:txBody>
                  <a:tcPr anchor="ctr">
                    <a:solidFill>
                      <a:schemeClr val="accent6"/>
                    </a:solidFill>
                  </a:tcPr>
                </a:tc>
                <a:tc vMerge="1">
                  <a:txBody>
                    <a:bodyPr/>
                    <a:lstStyle/>
                    <a:p>
                      <a:pPr>
                        <a:buNone/>
                      </a:pPr>
                      <a:endParaRPr lang="en-US" sz="900" err="1"/>
                    </a:p>
                  </a:txBody>
                  <a:tcPr anchor="ctr"/>
                </a:tc>
                <a:tc>
                  <a:txBody>
                    <a:bodyPr/>
                    <a:lstStyle/>
                    <a:p>
                      <a:pPr>
                        <a:buNone/>
                      </a:pPr>
                      <a:endParaRPr lang="en-US" sz="900"/>
                    </a:p>
                  </a:txBody>
                  <a:tcPr anchor="ctr"/>
                </a:tc>
                <a:tc>
                  <a:txBody>
                    <a:bodyPr/>
                    <a:lstStyle/>
                    <a:p>
                      <a:pPr>
                        <a:buNone/>
                      </a:pPr>
                      <a:endParaRPr lang="en-US" sz="900"/>
                    </a:p>
                  </a:txBody>
                  <a:tcPr anchor="ctr"/>
                </a:tc>
                <a:extLst>
                  <a:ext uri="{0D108BD9-81ED-4DB2-BD59-A6C34878D82A}">
                    <a16:rowId xmlns:a16="http://schemas.microsoft.com/office/drawing/2014/main" val="724285188"/>
                  </a:ext>
                </a:extLst>
              </a:tr>
              <a:tr h="223919">
                <a:tc>
                  <a:txBody>
                    <a:bodyPr/>
                    <a:lstStyle/>
                    <a:p>
                      <a:pPr>
                        <a:buNone/>
                      </a:pPr>
                      <a:r>
                        <a:rPr lang="en-US" sz="900"/>
                        <a:t>Site initiation</a:t>
                      </a:r>
                    </a:p>
                  </a:txBody>
                  <a:tcPr anchor="ctr">
                    <a:solidFill>
                      <a:schemeClr val="accent6"/>
                    </a:solidFill>
                  </a:tcPr>
                </a:tc>
                <a:tc vMerge="1">
                  <a:txBody>
                    <a:bodyPr/>
                    <a:lstStyle/>
                    <a:p>
                      <a:endParaRPr/>
                    </a:p>
                  </a:txBody>
                  <a:tcPr anchor="ctr"/>
                </a:tc>
                <a:tc>
                  <a:txBody>
                    <a:bodyPr/>
                    <a:lstStyle/>
                    <a:p>
                      <a:pPr>
                        <a:buNone/>
                      </a:pPr>
                      <a:endParaRPr lang="en-US" sz="900"/>
                    </a:p>
                  </a:txBody>
                  <a:tcPr anchor="ctr"/>
                </a:tc>
                <a:tc>
                  <a:txBody>
                    <a:bodyPr/>
                    <a:lstStyle/>
                    <a:p>
                      <a:pPr>
                        <a:buNone/>
                      </a:pPr>
                      <a:endParaRPr lang="en-US" sz="900"/>
                    </a:p>
                  </a:txBody>
                  <a:tcPr anchor="ctr"/>
                </a:tc>
                <a:extLst>
                  <a:ext uri="{0D108BD9-81ED-4DB2-BD59-A6C34878D82A}">
                    <a16:rowId xmlns:a16="http://schemas.microsoft.com/office/drawing/2014/main" val="675099050"/>
                  </a:ext>
                </a:extLst>
              </a:tr>
              <a:tr h="345813">
                <a:tc>
                  <a:txBody>
                    <a:bodyPr/>
                    <a:lstStyle/>
                    <a:p>
                      <a:pPr>
                        <a:buNone/>
                      </a:pPr>
                      <a:r>
                        <a:rPr lang="en-US" sz="900">
                          <a:highlight>
                            <a:srgbClr val="FFFF00"/>
                          </a:highlight>
                        </a:rPr>
                        <a:t>China FPI for next phase trial</a:t>
                      </a:r>
                    </a:p>
                  </a:txBody>
                  <a:tcPr anchor="ctr">
                    <a:solidFill>
                      <a:schemeClr val="accent6"/>
                    </a:solidFill>
                  </a:tcPr>
                </a:tc>
                <a:tc vMerge="1">
                  <a:txBody>
                    <a:bodyPr/>
                    <a:lstStyle/>
                    <a:p>
                      <a:pPr>
                        <a:buNone/>
                      </a:pPr>
                      <a:endParaRPr lang="en-US" sz="900">
                        <a:highlight>
                          <a:srgbClr val="FFFF00"/>
                        </a:highlight>
                      </a:endParaRPr>
                    </a:p>
                  </a:txBody>
                  <a:tcPr anchor="ctr"/>
                </a:tc>
                <a:tc>
                  <a:txBody>
                    <a:bodyPr/>
                    <a:lstStyle/>
                    <a:p>
                      <a:pPr>
                        <a:buNone/>
                      </a:pPr>
                      <a:endParaRPr lang="en-US" sz="900">
                        <a:highlight>
                          <a:srgbClr val="FFFF00"/>
                        </a:highlight>
                      </a:endParaRPr>
                    </a:p>
                  </a:txBody>
                  <a:tcPr anchor="ctr"/>
                </a:tc>
                <a:tc>
                  <a:txBody>
                    <a:bodyPr/>
                    <a:lstStyle/>
                    <a:p>
                      <a:pPr>
                        <a:buNone/>
                      </a:pPr>
                      <a:endParaRPr lang="en-US" sz="900">
                        <a:highlight>
                          <a:srgbClr val="FFFF00"/>
                        </a:highlight>
                      </a:endParaRPr>
                    </a:p>
                  </a:txBody>
                  <a:tcPr anchor="ctr"/>
                </a:tc>
                <a:extLst>
                  <a:ext uri="{0D108BD9-81ED-4DB2-BD59-A6C34878D82A}">
                    <a16:rowId xmlns:a16="http://schemas.microsoft.com/office/drawing/2014/main" val="3732213417"/>
                  </a:ext>
                </a:extLst>
              </a:tr>
            </a:tbl>
          </a:graphicData>
        </a:graphic>
      </p:graphicFrame>
      <p:sp>
        <p:nvSpPr>
          <p:cNvPr id="6" name="テキスト ボックス 2">
            <a:extLst>
              <a:ext uri="{FF2B5EF4-FFF2-40B4-BE49-F238E27FC236}">
                <a16:creationId xmlns:a16="http://schemas.microsoft.com/office/drawing/2014/main" id="{AC9491DD-9988-1243-E3D2-EDA4DDA0D7AA}"/>
              </a:ext>
            </a:extLst>
          </p:cNvPr>
          <p:cNvSpPr txBox="1"/>
          <p:nvPr/>
        </p:nvSpPr>
        <p:spPr bwMode="gray">
          <a:xfrm>
            <a:off x="7565370" y="8180"/>
            <a:ext cx="794898" cy="315920"/>
          </a:xfrm>
          <a:prstGeom prst="rect">
            <a:avLst/>
          </a:prstGeom>
          <a:solidFill>
            <a:srgbClr val="FFFF00"/>
          </a:solid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prstClr val="black"/>
                </a:solidFill>
                <a:effectLst/>
                <a:uLnTx/>
                <a:uFillTx/>
                <a:latin typeface="Boehringer Forward Text"/>
                <a:ea typeface="+mn-ea"/>
                <a:cs typeface="+mn-cs"/>
              </a:rPr>
              <a:t>updated</a:t>
            </a:r>
            <a:endParaRPr kumimoji="1" lang="ja-JP"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10459747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F1A3-ADBE-FC9D-28AD-66A27FCB12A3}"/>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776FFEE-BDDB-C2DE-3956-ACD7E89F7BC2}"/>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6" name="Table 8">
            <a:extLst>
              <a:ext uri="{FF2B5EF4-FFF2-40B4-BE49-F238E27FC236}">
                <a16:creationId xmlns:a16="http://schemas.microsoft.com/office/drawing/2014/main" id="{75E85E65-0980-7078-6C2B-3CB0B7229D8D}"/>
              </a:ext>
            </a:extLst>
          </p:cNvPr>
          <p:cNvGraphicFramePr>
            <a:graphicFrameLocks noGrp="1"/>
          </p:cNvGraphicFramePr>
          <p:nvPr/>
        </p:nvGraphicFramePr>
        <p:xfrm>
          <a:off x="692616" y="310360"/>
          <a:ext cx="6088648" cy="5715000"/>
        </p:xfrm>
        <a:graphic>
          <a:graphicData uri="http://schemas.openxmlformats.org/drawingml/2006/table">
            <a:tbl>
              <a:tblPr bandRow="1">
                <a:tableStyleId>{5940675A-B579-460E-94D1-54222C63F5DA}</a:tableStyleId>
              </a:tblPr>
              <a:tblGrid>
                <a:gridCol w="1850136">
                  <a:extLst>
                    <a:ext uri="{9D8B030D-6E8A-4147-A177-3AD203B41FA5}">
                      <a16:colId xmlns:a16="http://schemas.microsoft.com/office/drawing/2014/main" val="3838535701"/>
                    </a:ext>
                  </a:extLst>
                </a:gridCol>
                <a:gridCol w="1833484">
                  <a:extLst>
                    <a:ext uri="{9D8B030D-6E8A-4147-A177-3AD203B41FA5}">
                      <a16:colId xmlns:a16="http://schemas.microsoft.com/office/drawing/2014/main" val="3758996023"/>
                    </a:ext>
                  </a:extLst>
                </a:gridCol>
                <a:gridCol w="1271239">
                  <a:extLst>
                    <a:ext uri="{9D8B030D-6E8A-4147-A177-3AD203B41FA5}">
                      <a16:colId xmlns:a16="http://schemas.microsoft.com/office/drawing/2014/main" val="2909090795"/>
                    </a:ext>
                  </a:extLst>
                </a:gridCol>
                <a:gridCol w="1133789">
                  <a:extLst>
                    <a:ext uri="{9D8B030D-6E8A-4147-A177-3AD203B41FA5}">
                      <a16:colId xmlns:a16="http://schemas.microsoft.com/office/drawing/2014/main" val="1925633484"/>
                    </a:ext>
                  </a:extLst>
                </a:gridCol>
              </a:tblGrid>
              <a:tr h="0">
                <a:tc>
                  <a:txBody>
                    <a:bodyPr/>
                    <a:lstStyle/>
                    <a:p>
                      <a:pPr>
                        <a:buNone/>
                      </a:pPr>
                      <a:r>
                        <a:rPr lang="en-US" sz="900">
                          <a:effectLst/>
                        </a:rPr>
                        <a:t>Task Name</a:t>
                      </a:r>
                      <a:endParaRPr lang="en-US" sz="900"/>
                    </a:p>
                  </a:txBody>
                  <a:tcPr anchor="ctr">
                    <a:solidFill>
                      <a:schemeClr val="tx2"/>
                    </a:solidFill>
                  </a:tcPr>
                </a:tc>
                <a:tc>
                  <a:txBody>
                    <a:bodyPr/>
                    <a:lstStyle/>
                    <a:p>
                      <a:pPr>
                        <a:buNone/>
                      </a:pPr>
                      <a:r>
                        <a:rPr lang="en-US" sz="900">
                          <a:effectLst/>
                        </a:rPr>
                        <a:t>Comments</a:t>
                      </a:r>
                      <a:endParaRPr lang="en-US" sz="900"/>
                    </a:p>
                  </a:txBody>
                  <a:tcPr anchor="ctr">
                    <a:solidFill>
                      <a:schemeClr val="tx2"/>
                    </a:solidFill>
                  </a:tcPr>
                </a:tc>
                <a:tc>
                  <a:txBody>
                    <a:bodyPr/>
                    <a:lstStyle/>
                    <a:p>
                      <a:pPr>
                        <a:buNone/>
                      </a:pPr>
                      <a:r>
                        <a:rPr lang="en-US" sz="900">
                          <a:effectLst/>
                        </a:rPr>
                        <a:t>Start</a:t>
                      </a:r>
                      <a:endParaRPr lang="en-US" sz="900"/>
                    </a:p>
                  </a:txBody>
                  <a:tcPr anchor="ctr">
                    <a:solidFill>
                      <a:schemeClr val="tx2"/>
                    </a:solidFill>
                  </a:tcPr>
                </a:tc>
                <a:tc>
                  <a:txBody>
                    <a:bodyPr/>
                    <a:lstStyle/>
                    <a:p>
                      <a:pPr>
                        <a:buNone/>
                      </a:pPr>
                      <a:r>
                        <a:rPr lang="en-US" sz="900">
                          <a:effectLst/>
                        </a:rPr>
                        <a:t>Finish</a:t>
                      </a:r>
                      <a:endParaRPr lang="en-US" sz="900"/>
                    </a:p>
                  </a:txBody>
                  <a:tcPr anchor="ctr">
                    <a:solidFill>
                      <a:schemeClr val="tx2"/>
                    </a:solidFill>
                  </a:tcPr>
                </a:tc>
                <a:extLst>
                  <a:ext uri="{0D108BD9-81ED-4DB2-BD59-A6C34878D82A}">
                    <a16:rowId xmlns:a16="http://schemas.microsoft.com/office/drawing/2014/main" val="989235371"/>
                  </a:ext>
                </a:extLst>
              </a:tr>
              <a:tr h="0">
                <a:tc>
                  <a:txBody>
                    <a:bodyPr/>
                    <a:lstStyle/>
                    <a:p>
                      <a:pPr>
                        <a:buNone/>
                      </a:pPr>
                      <a:r>
                        <a:rPr lang="en-US" sz="900"/>
                        <a:t>CTP development</a:t>
                      </a:r>
                    </a:p>
                  </a:txBody>
                  <a:tcPr anchor="ctr">
                    <a:solidFill>
                      <a:schemeClr val="accent4"/>
                    </a:solidFill>
                  </a:tcPr>
                </a:tc>
                <a:tc>
                  <a:txBody>
                    <a:bodyPr/>
                    <a:lstStyle/>
                    <a:p>
                      <a:pPr>
                        <a:buNone/>
                      </a:pPr>
                      <a:endParaRPr lang="en-US" sz="900"/>
                    </a:p>
                  </a:txBody>
                  <a:tcPr anchor="ctr"/>
                </a:tc>
                <a:tc>
                  <a:txBody>
                    <a:bodyPr/>
                    <a:lstStyle/>
                    <a:p>
                      <a:pPr>
                        <a:buNone/>
                      </a:pPr>
                      <a:r>
                        <a:rPr lang="en-US" sz="900"/>
                        <a:t>2026-07-20</a:t>
                      </a:r>
                    </a:p>
                  </a:txBody>
                  <a:tcPr anchor="ctr"/>
                </a:tc>
                <a:tc>
                  <a:txBody>
                    <a:bodyPr/>
                    <a:lstStyle/>
                    <a:p>
                      <a:pPr>
                        <a:buNone/>
                      </a:pPr>
                      <a:r>
                        <a:rPr lang="en-US" sz="900"/>
                        <a:t>2026-12-07</a:t>
                      </a:r>
                    </a:p>
                  </a:txBody>
                  <a:tcPr anchor="ctr"/>
                </a:tc>
                <a:extLst>
                  <a:ext uri="{0D108BD9-81ED-4DB2-BD59-A6C34878D82A}">
                    <a16:rowId xmlns:a16="http://schemas.microsoft.com/office/drawing/2014/main" val="426296496"/>
                  </a:ext>
                </a:extLst>
              </a:tr>
              <a:tr h="0">
                <a:tc>
                  <a:txBody>
                    <a:bodyPr/>
                    <a:lstStyle/>
                    <a:p>
                      <a:pPr>
                        <a:buNone/>
                      </a:pPr>
                      <a:r>
                        <a:rPr lang="en-US" sz="900"/>
                        <a:t>CTA  prep</a:t>
                      </a:r>
                    </a:p>
                  </a:txBody>
                  <a:tcPr anchor="ctr">
                    <a:solidFill>
                      <a:schemeClr val="accent4"/>
                    </a:solidFill>
                  </a:tcPr>
                </a:tc>
                <a:tc>
                  <a:txBody>
                    <a:bodyPr/>
                    <a:lstStyle/>
                    <a:p>
                      <a:pPr>
                        <a:buNone/>
                      </a:pPr>
                      <a:endParaRPr lang="en-US" sz="900"/>
                    </a:p>
                  </a:txBody>
                  <a:tcPr anchor="ctr"/>
                </a:tc>
                <a:tc>
                  <a:txBody>
                    <a:bodyPr/>
                    <a:lstStyle/>
                    <a:p>
                      <a:pPr>
                        <a:buNone/>
                      </a:pPr>
                      <a:r>
                        <a:rPr lang="en-US" sz="900"/>
                        <a:t>2026-01-07</a:t>
                      </a:r>
                    </a:p>
                  </a:txBody>
                  <a:tcPr anchor="ctr"/>
                </a:tc>
                <a:tc>
                  <a:txBody>
                    <a:bodyPr/>
                    <a:lstStyle/>
                    <a:p>
                      <a:pPr>
                        <a:buNone/>
                      </a:pPr>
                      <a:r>
                        <a:rPr lang="en-US" sz="900"/>
                        <a:t>2027-01-04</a:t>
                      </a:r>
                    </a:p>
                  </a:txBody>
                  <a:tcPr anchor="ctr"/>
                </a:tc>
                <a:extLst>
                  <a:ext uri="{0D108BD9-81ED-4DB2-BD59-A6C34878D82A}">
                    <a16:rowId xmlns:a16="http://schemas.microsoft.com/office/drawing/2014/main" val="4055119388"/>
                  </a:ext>
                </a:extLst>
              </a:tr>
              <a:tr h="0">
                <a:tc>
                  <a:txBody>
                    <a:bodyPr/>
                    <a:lstStyle/>
                    <a:p>
                      <a:pPr>
                        <a:buNone/>
                      </a:pPr>
                      <a:r>
                        <a:rPr lang="en-US" sz="900"/>
                        <a:t>CTA submission</a:t>
                      </a:r>
                    </a:p>
                  </a:txBody>
                  <a:tcPr anchor="ctr">
                    <a:solidFill>
                      <a:schemeClr val="accent4"/>
                    </a:solidFill>
                  </a:tcPr>
                </a:tc>
                <a:tc>
                  <a:txBody>
                    <a:bodyPr/>
                    <a:lstStyle/>
                    <a:p>
                      <a:pPr>
                        <a:buNone/>
                      </a:pPr>
                      <a:endParaRPr lang="en-US" sz="900"/>
                    </a:p>
                  </a:txBody>
                  <a:tcPr anchor="ctr"/>
                </a:tc>
                <a:tc>
                  <a:txBody>
                    <a:bodyPr/>
                    <a:lstStyle/>
                    <a:p>
                      <a:pPr>
                        <a:buNone/>
                      </a:pPr>
                      <a:r>
                        <a:rPr lang="en-US" sz="900"/>
                        <a:t>2027-01-05</a:t>
                      </a:r>
                    </a:p>
                  </a:txBody>
                  <a:tcPr anchor="ctr"/>
                </a:tc>
                <a:tc>
                  <a:txBody>
                    <a:bodyPr/>
                    <a:lstStyle/>
                    <a:p>
                      <a:pPr>
                        <a:buNone/>
                      </a:pPr>
                      <a:endParaRPr lang="en-US" sz="900"/>
                    </a:p>
                  </a:txBody>
                  <a:tcPr anchor="ctr"/>
                </a:tc>
                <a:extLst>
                  <a:ext uri="{0D108BD9-81ED-4DB2-BD59-A6C34878D82A}">
                    <a16:rowId xmlns:a16="http://schemas.microsoft.com/office/drawing/2014/main" val="826118907"/>
                  </a:ext>
                </a:extLst>
              </a:tr>
              <a:tr h="226368">
                <a:tc>
                  <a:txBody>
                    <a:bodyPr/>
                    <a:lstStyle/>
                    <a:p>
                      <a:pPr>
                        <a:buNone/>
                      </a:pPr>
                      <a:r>
                        <a:rPr lang="en-US" sz="900"/>
                        <a:t>CDE review</a:t>
                      </a:r>
                    </a:p>
                  </a:txBody>
                  <a:tcPr anchor="ctr">
                    <a:solidFill>
                      <a:schemeClr val="accent4"/>
                    </a:solidFill>
                  </a:tcPr>
                </a:tc>
                <a:tc>
                  <a:txBody>
                    <a:bodyPr/>
                    <a:lstStyle/>
                    <a:p>
                      <a:pPr>
                        <a:buNone/>
                      </a:pPr>
                      <a:r>
                        <a:rPr lang="en-US" sz="900"/>
                        <a:t>CTA sub +60 w days</a:t>
                      </a:r>
                    </a:p>
                  </a:txBody>
                  <a:tcPr anchor="ctr"/>
                </a:tc>
                <a:tc>
                  <a:txBody>
                    <a:bodyPr/>
                    <a:lstStyle/>
                    <a:p>
                      <a:pPr>
                        <a:buNone/>
                      </a:pPr>
                      <a:r>
                        <a:rPr lang="en-US" sz="900"/>
                        <a:t>2027-01-05</a:t>
                      </a:r>
                    </a:p>
                  </a:txBody>
                  <a:tcPr anchor="ctr"/>
                </a:tc>
                <a:tc>
                  <a:txBody>
                    <a:bodyPr/>
                    <a:lstStyle/>
                    <a:p>
                      <a:pPr>
                        <a:buNone/>
                      </a:pPr>
                      <a:r>
                        <a:rPr lang="en-US" sz="900"/>
                        <a:t>2027-04-02</a:t>
                      </a:r>
                    </a:p>
                  </a:txBody>
                  <a:tcPr anchor="ctr"/>
                </a:tc>
                <a:extLst>
                  <a:ext uri="{0D108BD9-81ED-4DB2-BD59-A6C34878D82A}">
                    <a16:rowId xmlns:a16="http://schemas.microsoft.com/office/drawing/2014/main" val="3949589415"/>
                  </a:ext>
                </a:extLst>
              </a:tr>
              <a:tr h="0">
                <a:tc>
                  <a:txBody>
                    <a:bodyPr/>
                    <a:lstStyle/>
                    <a:p>
                      <a:pPr>
                        <a:buNone/>
                      </a:pPr>
                      <a:r>
                        <a:rPr lang="en-US" sz="900"/>
                        <a:t>IRB/contract</a:t>
                      </a:r>
                    </a:p>
                  </a:txBody>
                  <a:tcPr anchor="ctr">
                    <a:solidFill>
                      <a:schemeClr val="accent6"/>
                    </a:solidFill>
                  </a:tcPr>
                </a:tc>
                <a:tc>
                  <a:txBody>
                    <a:bodyPr/>
                    <a:lstStyle/>
                    <a:p>
                      <a:pPr>
                        <a:buNone/>
                      </a:pPr>
                      <a:r>
                        <a:rPr lang="en-US" sz="900"/>
                        <a:t>CTA sub+ 5 months</a:t>
                      </a:r>
                    </a:p>
                  </a:txBody>
                  <a:tcPr anchor="ctr"/>
                </a:tc>
                <a:tc>
                  <a:txBody>
                    <a:bodyPr/>
                    <a:lstStyle/>
                    <a:p>
                      <a:pPr>
                        <a:buNone/>
                      </a:pPr>
                      <a:r>
                        <a:rPr lang="en-US" altLang="zh-CN" sz="900"/>
                        <a:t>2027-01-05</a:t>
                      </a:r>
                    </a:p>
                  </a:txBody>
                  <a:tcPr anchor="ctr"/>
                </a:tc>
                <a:tc>
                  <a:txBody>
                    <a:bodyPr/>
                    <a:lstStyle/>
                    <a:p>
                      <a:pPr>
                        <a:buNone/>
                      </a:pPr>
                      <a:r>
                        <a:rPr lang="en-US" sz="900"/>
                        <a:t>2027-06-05</a:t>
                      </a:r>
                    </a:p>
                  </a:txBody>
                  <a:tcPr anchor="ctr"/>
                </a:tc>
                <a:extLst>
                  <a:ext uri="{0D108BD9-81ED-4DB2-BD59-A6C34878D82A}">
                    <a16:rowId xmlns:a16="http://schemas.microsoft.com/office/drawing/2014/main" val="4025249045"/>
                  </a:ext>
                </a:extLst>
              </a:tr>
              <a:tr h="0">
                <a:tc>
                  <a:txBody>
                    <a:bodyPr/>
                    <a:lstStyle/>
                    <a:p>
                      <a:pPr>
                        <a:buNone/>
                      </a:pPr>
                      <a:r>
                        <a:rPr lang="en-US" sz="900"/>
                        <a:t>DG1 Subject identification</a:t>
                      </a:r>
                    </a:p>
                  </a:txBody>
                  <a:tcPr anchor="ctr">
                    <a:solidFill>
                      <a:schemeClr val="accent6"/>
                    </a:solidFill>
                  </a:tcPr>
                </a:tc>
                <a:tc>
                  <a:txBody>
                    <a:bodyPr/>
                    <a:lstStyle/>
                    <a:p>
                      <a:pPr>
                        <a:buNone/>
                      </a:pPr>
                      <a:r>
                        <a:rPr lang="en-US" sz="900"/>
                        <a:t>Reservation prior to SIV</a:t>
                      </a:r>
                    </a:p>
                  </a:txBody>
                  <a:tcPr anchor="ctr"/>
                </a:tc>
                <a:tc>
                  <a:txBody>
                    <a:bodyPr/>
                    <a:lstStyle/>
                    <a:p>
                      <a:pPr>
                        <a:buNone/>
                      </a:pPr>
                      <a:r>
                        <a:rPr lang="en-US" sz="900"/>
                        <a:t>2027-05-10</a:t>
                      </a:r>
                    </a:p>
                  </a:txBody>
                  <a:tcPr anchor="ctr"/>
                </a:tc>
                <a:tc>
                  <a:txBody>
                    <a:bodyPr/>
                    <a:lstStyle/>
                    <a:p>
                      <a:pPr>
                        <a:buNone/>
                      </a:pPr>
                      <a:r>
                        <a:rPr lang="en-US" sz="900"/>
                        <a:t>2027-07-09</a:t>
                      </a:r>
                    </a:p>
                  </a:txBody>
                  <a:tcPr anchor="ctr"/>
                </a:tc>
                <a:extLst>
                  <a:ext uri="{0D108BD9-81ED-4DB2-BD59-A6C34878D82A}">
                    <a16:rowId xmlns:a16="http://schemas.microsoft.com/office/drawing/2014/main" val="1540787116"/>
                  </a:ext>
                </a:extLst>
              </a:tr>
              <a:tr h="0">
                <a:tc>
                  <a:txBody>
                    <a:bodyPr/>
                    <a:lstStyle/>
                    <a:p>
                      <a:pPr>
                        <a:buNone/>
                      </a:pPr>
                      <a:r>
                        <a:rPr lang="en-US" sz="900"/>
                        <a:t>DG1 Subject Screened (n=3)</a:t>
                      </a:r>
                    </a:p>
                  </a:txBody>
                  <a:tcPr anchor="ctr">
                    <a:solidFill>
                      <a:schemeClr val="accent6"/>
                    </a:solidFill>
                  </a:tcPr>
                </a:tc>
                <a:tc>
                  <a:txBody>
                    <a:bodyPr/>
                    <a:lstStyle/>
                    <a:p>
                      <a:pPr>
                        <a:buNone/>
                      </a:pPr>
                      <a:r>
                        <a:rPr lang="en-US" sz="900"/>
                        <a:t>SIV + max. 1 month</a:t>
                      </a:r>
                    </a:p>
                  </a:txBody>
                  <a:tcPr anchor="ctr"/>
                </a:tc>
                <a:tc>
                  <a:txBody>
                    <a:bodyPr/>
                    <a:lstStyle/>
                    <a:p>
                      <a:pPr>
                        <a:buNone/>
                      </a:pPr>
                      <a:r>
                        <a:rPr lang="en-US" sz="900"/>
                        <a:t>2027-06-18</a:t>
                      </a:r>
                    </a:p>
                  </a:txBody>
                  <a:tcPr anchor="ctr"/>
                </a:tc>
                <a:tc>
                  <a:txBody>
                    <a:bodyPr/>
                    <a:lstStyle/>
                    <a:p>
                      <a:pPr>
                        <a:buNone/>
                      </a:pPr>
                      <a:r>
                        <a:rPr lang="en-US" sz="900"/>
                        <a:t>2027-07-09</a:t>
                      </a:r>
                    </a:p>
                  </a:txBody>
                  <a:tcPr anchor="ctr"/>
                </a:tc>
                <a:extLst>
                  <a:ext uri="{0D108BD9-81ED-4DB2-BD59-A6C34878D82A}">
                    <a16:rowId xmlns:a16="http://schemas.microsoft.com/office/drawing/2014/main" val="3182133024"/>
                  </a:ext>
                </a:extLst>
              </a:tr>
              <a:tr h="0">
                <a:tc>
                  <a:txBody>
                    <a:bodyPr/>
                    <a:lstStyle/>
                    <a:p>
                      <a:pPr>
                        <a:buNone/>
                      </a:pPr>
                      <a:r>
                        <a:rPr lang="en-US" sz="900"/>
                        <a:t>DG1 dosing (MABEL)</a:t>
                      </a:r>
                    </a:p>
                  </a:txBody>
                  <a:tcPr anchor="ctr">
                    <a:solidFill>
                      <a:schemeClr val="accent6"/>
                    </a:solidFill>
                  </a:tcPr>
                </a:tc>
                <a:tc>
                  <a:txBody>
                    <a:bodyPr/>
                    <a:lstStyle/>
                    <a:p>
                      <a:pPr>
                        <a:buNone/>
                      </a:pPr>
                      <a:r>
                        <a:rPr lang="en-US" sz="900"/>
                        <a:t>Screen + max. 1 month</a:t>
                      </a:r>
                    </a:p>
                  </a:txBody>
                  <a:tcPr anchor="ctr"/>
                </a:tc>
                <a:tc>
                  <a:txBody>
                    <a:bodyPr/>
                    <a:lstStyle/>
                    <a:p>
                      <a:pPr>
                        <a:buNone/>
                      </a:pPr>
                      <a:r>
                        <a:rPr lang="en-US" sz="900"/>
                        <a:t>2027-07-19</a:t>
                      </a:r>
                    </a:p>
                  </a:txBody>
                  <a:tcPr anchor="ctr"/>
                </a:tc>
                <a:tc>
                  <a:txBody>
                    <a:bodyPr/>
                    <a:lstStyle/>
                    <a:p>
                      <a:pPr>
                        <a:buNone/>
                      </a:pPr>
                      <a:r>
                        <a:rPr lang="en-US" sz="900"/>
                        <a:t>2027-08-10</a:t>
                      </a:r>
                    </a:p>
                  </a:txBody>
                  <a:tcPr anchor="ctr"/>
                </a:tc>
                <a:extLst>
                  <a:ext uri="{0D108BD9-81ED-4DB2-BD59-A6C34878D82A}">
                    <a16:rowId xmlns:a16="http://schemas.microsoft.com/office/drawing/2014/main" val="1245132370"/>
                  </a:ext>
                </a:extLst>
              </a:tr>
              <a:tr h="0">
                <a:tc>
                  <a:txBody>
                    <a:bodyPr/>
                    <a:lstStyle/>
                    <a:p>
                      <a:pPr>
                        <a:buNone/>
                      </a:pPr>
                      <a:r>
                        <a:rPr lang="en-US" sz="900"/>
                        <a:t>DG1 dosing (target dose)</a:t>
                      </a:r>
                    </a:p>
                  </a:txBody>
                  <a:tcPr anchor="ctr">
                    <a:solidFill>
                      <a:schemeClr val="accent6"/>
                    </a:solidFill>
                  </a:tcPr>
                </a:tc>
                <a:tc>
                  <a:txBody>
                    <a:bodyPr/>
                    <a:lstStyle/>
                    <a:p>
                      <a:pPr>
                        <a:buNone/>
                      </a:pPr>
                      <a:r>
                        <a:rPr lang="en-US" sz="900"/>
                        <a:t>MABEL + 21 days</a:t>
                      </a:r>
                    </a:p>
                  </a:txBody>
                  <a:tcPr anchor="ctr"/>
                </a:tc>
                <a:tc>
                  <a:txBody>
                    <a:bodyPr/>
                    <a:lstStyle/>
                    <a:p>
                      <a:pPr>
                        <a:buNone/>
                      </a:pPr>
                      <a:r>
                        <a:rPr lang="en-US" sz="900"/>
                        <a:t>2027-08-10</a:t>
                      </a:r>
                    </a:p>
                  </a:txBody>
                  <a:tcPr anchor="ctr"/>
                </a:tc>
                <a:tc>
                  <a:txBody>
                    <a:bodyPr/>
                    <a:lstStyle/>
                    <a:p>
                      <a:pPr>
                        <a:buNone/>
                      </a:pPr>
                      <a:r>
                        <a:rPr lang="en-US" sz="900"/>
                        <a:t>2027-08-31</a:t>
                      </a:r>
                    </a:p>
                  </a:txBody>
                  <a:tcPr anchor="ctr"/>
                </a:tc>
                <a:extLst>
                  <a:ext uri="{0D108BD9-81ED-4DB2-BD59-A6C34878D82A}">
                    <a16:rowId xmlns:a16="http://schemas.microsoft.com/office/drawing/2014/main" val="3661507380"/>
                  </a:ext>
                </a:extLst>
              </a:tr>
              <a:tr h="0">
                <a:tc>
                  <a:txBody>
                    <a:bodyPr/>
                    <a:lstStyle/>
                    <a:p>
                      <a:pPr>
                        <a:buNone/>
                      </a:pPr>
                      <a:r>
                        <a:rPr lang="en-US" sz="900"/>
                        <a:t>DG1 safety observation</a:t>
                      </a:r>
                    </a:p>
                  </a:txBody>
                  <a:tcPr anchor="ctr">
                    <a:solidFill>
                      <a:schemeClr val="accent6"/>
                    </a:solidFill>
                  </a:tcPr>
                </a:tc>
                <a:tc>
                  <a:txBody>
                    <a:bodyPr/>
                    <a:lstStyle/>
                    <a:p>
                      <a:pPr>
                        <a:buNone/>
                      </a:pPr>
                      <a:r>
                        <a:rPr lang="en-US" sz="900"/>
                        <a:t>Target dose + 28 days</a:t>
                      </a:r>
                    </a:p>
                  </a:txBody>
                  <a:tcPr anchor="ctr"/>
                </a:tc>
                <a:tc>
                  <a:txBody>
                    <a:bodyPr/>
                    <a:lstStyle/>
                    <a:p>
                      <a:pPr>
                        <a:buNone/>
                      </a:pPr>
                      <a:r>
                        <a:rPr lang="en-US" sz="900"/>
                        <a:t>2027-09-07</a:t>
                      </a:r>
                    </a:p>
                  </a:txBody>
                  <a:tcPr anchor="ctr"/>
                </a:tc>
                <a:tc>
                  <a:txBody>
                    <a:bodyPr/>
                    <a:lstStyle/>
                    <a:p>
                      <a:pPr>
                        <a:buNone/>
                      </a:pPr>
                      <a:r>
                        <a:rPr lang="en-US" sz="900"/>
                        <a:t>2027-09-28</a:t>
                      </a:r>
                    </a:p>
                  </a:txBody>
                  <a:tcPr anchor="ctr"/>
                </a:tc>
                <a:extLst>
                  <a:ext uri="{0D108BD9-81ED-4DB2-BD59-A6C34878D82A}">
                    <a16:rowId xmlns:a16="http://schemas.microsoft.com/office/drawing/2014/main" val="914777403"/>
                  </a:ext>
                </a:extLst>
              </a:tr>
              <a:tr h="0">
                <a:tc>
                  <a:txBody>
                    <a:bodyPr/>
                    <a:lstStyle/>
                    <a:p>
                      <a:pPr>
                        <a:buNone/>
                      </a:pPr>
                      <a:r>
                        <a:rPr lang="en-US" sz="900"/>
                        <a:t>DG1 PK observation</a:t>
                      </a:r>
                    </a:p>
                  </a:txBody>
                  <a:tcPr anchor="ctr">
                    <a:solidFill>
                      <a:schemeClr val="accent6"/>
                    </a:solidFill>
                  </a:tcPr>
                </a:tc>
                <a:tc>
                  <a:txBody>
                    <a:bodyPr/>
                    <a:lstStyle/>
                    <a:p>
                      <a:pPr>
                        <a:buNone/>
                      </a:pPr>
                      <a:r>
                        <a:rPr lang="en-US" sz="900"/>
                        <a:t>Target dose + 56  days</a:t>
                      </a:r>
                    </a:p>
                  </a:txBody>
                  <a:tcPr anchor="ctr"/>
                </a:tc>
                <a:tc>
                  <a:txBody>
                    <a:bodyPr/>
                    <a:lstStyle/>
                    <a:p>
                      <a:pPr>
                        <a:buNone/>
                      </a:pPr>
                      <a:r>
                        <a:rPr lang="en-US" sz="900"/>
                        <a:t>2027-10-05</a:t>
                      </a:r>
                    </a:p>
                  </a:txBody>
                  <a:tcPr anchor="ctr"/>
                </a:tc>
                <a:tc>
                  <a:txBody>
                    <a:bodyPr/>
                    <a:lstStyle/>
                    <a:p>
                      <a:pPr>
                        <a:buNone/>
                      </a:pPr>
                      <a:r>
                        <a:rPr lang="en-US" sz="900"/>
                        <a:t>2027-10-26</a:t>
                      </a:r>
                    </a:p>
                  </a:txBody>
                  <a:tcPr anchor="ctr"/>
                </a:tc>
                <a:extLst>
                  <a:ext uri="{0D108BD9-81ED-4DB2-BD59-A6C34878D82A}">
                    <a16:rowId xmlns:a16="http://schemas.microsoft.com/office/drawing/2014/main" val="1783008398"/>
                  </a:ext>
                </a:extLst>
              </a:tr>
              <a:tr h="0">
                <a:tc>
                  <a:txBody>
                    <a:bodyPr/>
                    <a:lstStyle/>
                    <a:p>
                      <a:pPr>
                        <a:buNone/>
                      </a:pPr>
                      <a:r>
                        <a:rPr lang="en-US" sz="900"/>
                        <a:t>DG1-DG2 DEC</a:t>
                      </a:r>
                    </a:p>
                  </a:txBody>
                  <a:tcPr anchor="ctr">
                    <a:solidFill>
                      <a:schemeClr val="accent6"/>
                    </a:solidFill>
                  </a:tcPr>
                </a:tc>
                <a:tc>
                  <a:txBody>
                    <a:bodyPr/>
                    <a:lstStyle/>
                    <a:p>
                      <a:pPr>
                        <a:buNone/>
                      </a:pPr>
                      <a:r>
                        <a:rPr lang="en-US" sz="900"/>
                        <a:t>Including national holidays</a:t>
                      </a:r>
                    </a:p>
                  </a:txBody>
                  <a:tcPr anchor="ctr"/>
                </a:tc>
                <a:tc>
                  <a:txBody>
                    <a:bodyPr/>
                    <a:lstStyle/>
                    <a:p>
                      <a:pPr>
                        <a:buNone/>
                      </a:pPr>
                      <a:r>
                        <a:rPr lang="en-US" sz="900"/>
                        <a:t>2027-09-29</a:t>
                      </a:r>
                    </a:p>
                  </a:txBody>
                  <a:tcPr anchor="ctr"/>
                </a:tc>
                <a:tc>
                  <a:txBody>
                    <a:bodyPr/>
                    <a:lstStyle/>
                    <a:p>
                      <a:pPr>
                        <a:buNone/>
                      </a:pPr>
                      <a:r>
                        <a:rPr lang="en-US" sz="900"/>
                        <a:t>2027-10-20</a:t>
                      </a:r>
                    </a:p>
                  </a:txBody>
                  <a:tcPr anchor="ctr"/>
                </a:tc>
                <a:extLst>
                  <a:ext uri="{0D108BD9-81ED-4DB2-BD59-A6C34878D82A}">
                    <a16:rowId xmlns:a16="http://schemas.microsoft.com/office/drawing/2014/main" val="4174282441"/>
                  </a:ext>
                </a:extLst>
              </a:tr>
              <a:tr h="0">
                <a:tc>
                  <a:txBody>
                    <a:bodyPr/>
                    <a:lstStyle/>
                    <a:p>
                      <a:pPr>
                        <a:buNone/>
                      </a:pPr>
                      <a:r>
                        <a:rPr lang="en-US" sz="900"/>
                        <a:t>DG2 subject identification</a:t>
                      </a:r>
                    </a:p>
                  </a:txBody>
                  <a:tcPr anchor="ctr">
                    <a:solidFill>
                      <a:schemeClr val="accent6"/>
                    </a:solidFill>
                  </a:tcPr>
                </a:tc>
                <a:tc>
                  <a:txBody>
                    <a:bodyPr/>
                    <a:lstStyle/>
                    <a:p>
                      <a:pPr>
                        <a:buNone/>
                      </a:pPr>
                      <a:r>
                        <a:rPr lang="en-US" sz="900"/>
                        <a:t>Reservation prior to DEC</a:t>
                      </a:r>
                    </a:p>
                  </a:txBody>
                  <a:tcPr anchor="ctr"/>
                </a:tc>
                <a:tc>
                  <a:txBody>
                    <a:bodyPr/>
                    <a:lstStyle/>
                    <a:p>
                      <a:pPr>
                        <a:buNone/>
                      </a:pPr>
                      <a:r>
                        <a:rPr lang="en-US" sz="900"/>
                        <a:t>2027-07-10</a:t>
                      </a:r>
                    </a:p>
                  </a:txBody>
                  <a:tcPr anchor="ctr"/>
                </a:tc>
                <a:tc>
                  <a:txBody>
                    <a:bodyPr/>
                    <a:lstStyle/>
                    <a:p>
                      <a:pPr>
                        <a:buNone/>
                      </a:pPr>
                      <a:r>
                        <a:rPr lang="en-US" sz="900"/>
                        <a:t>2027-11-11</a:t>
                      </a:r>
                    </a:p>
                  </a:txBody>
                  <a:tcPr anchor="ctr"/>
                </a:tc>
                <a:extLst>
                  <a:ext uri="{0D108BD9-81ED-4DB2-BD59-A6C34878D82A}">
                    <a16:rowId xmlns:a16="http://schemas.microsoft.com/office/drawing/2014/main" val="3879822988"/>
                  </a:ext>
                </a:extLst>
              </a:tr>
              <a:tr h="0">
                <a:tc>
                  <a:txBody>
                    <a:bodyPr/>
                    <a:lstStyle/>
                    <a:p>
                      <a:pPr>
                        <a:buNone/>
                      </a:pPr>
                      <a:r>
                        <a:rPr lang="en-US" sz="900"/>
                        <a:t>DG2 Subject Screened (n=6)</a:t>
                      </a:r>
                    </a:p>
                  </a:txBody>
                  <a:tcPr anchor="ctr">
                    <a:solidFill>
                      <a:schemeClr val="accent6"/>
                    </a:solidFill>
                  </a:tcPr>
                </a:tc>
                <a:tc>
                  <a:txBody>
                    <a:bodyPr/>
                    <a:lstStyle/>
                    <a:p>
                      <a:pPr>
                        <a:buNone/>
                      </a:pPr>
                      <a:r>
                        <a:rPr lang="en-US" sz="900"/>
                        <a:t>After DEC</a:t>
                      </a:r>
                    </a:p>
                  </a:txBody>
                  <a:tcPr anchor="ctr"/>
                </a:tc>
                <a:tc>
                  <a:txBody>
                    <a:bodyPr/>
                    <a:lstStyle/>
                    <a:p>
                      <a:pPr>
                        <a:buNone/>
                      </a:pPr>
                      <a:r>
                        <a:rPr lang="en-US" sz="900"/>
                        <a:t>2027-10-21</a:t>
                      </a:r>
                    </a:p>
                  </a:txBody>
                  <a:tcPr anchor="ctr"/>
                </a:tc>
                <a:tc>
                  <a:txBody>
                    <a:bodyPr/>
                    <a:lstStyle/>
                    <a:p>
                      <a:pPr>
                        <a:buNone/>
                      </a:pPr>
                      <a:r>
                        <a:rPr lang="en-US" sz="900"/>
                        <a:t>2027-11-11</a:t>
                      </a:r>
                    </a:p>
                  </a:txBody>
                  <a:tcPr anchor="ctr"/>
                </a:tc>
                <a:extLst>
                  <a:ext uri="{0D108BD9-81ED-4DB2-BD59-A6C34878D82A}">
                    <a16:rowId xmlns:a16="http://schemas.microsoft.com/office/drawing/2014/main" val="1111194018"/>
                  </a:ext>
                </a:extLst>
              </a:tr>
              <a:tr h="0">
                <a:tc>
                  <a:txBody>
                    <a:bodyPr/>
                    <a:lstStyle/>
                    <a:p>
                      <a:pPr>
                        <a:buNone/>
                      </a:pPr>
                      <a:r>
                        <a:rPr lang="en-US" sz="900"/>
                        <a:t>DG2 dosing (MABEL)</a:t>
                      </a:r>
                    </a:p>
                  </a:txBody>
                  <a:tcPr anchor="ctr">
                    <a:solidFill>
                      <a:schemeClr val="accent6"/>
                    </a:solidFill>
                  </a:tcPr>
                </a:tc>
                <a:tc>
                  <a:txBody>
                    <a:bodyPr/>
                    <a:lstStyle/>
                    <a:p>
                      <a:pPr>
                        <a:buNone/>
                      </a:pPr>
                      <a:r>
                        <a:rPr lang="en-US" sz="900"/>
                        <a:t>Screen + max 1 month</a:t>
                      </a:r>
                    </a:p>
                  </a:txBody>
                  <a:tcPr anchor="ctr"/>
                </a:tc>
                <a:tc>
                  <a:txBody>
                    <a:bodyPr/>
                    <a:lstStyle/>
                    <a:p>
                      <a:pPr>
                        <a:buNone/>
                      </a:pPr>
                      <a:r>
                        <a:rPr lang="en-US" sz="900"/>
                        <a:t>2027-11-22</a:t>
                      </a:r>
                    </a:p>
                  </a:txBody>
                  <a:tcPr anchor="ctr"/>
                </a:tc>
                <a:tc>
                  <a:txBody>
                    <a:bodyPr/>
                    <a:lstStyle/>
                    <a:p>
                      <a:pPr>
                        <a:buNone/>
                      </a:pPr>
                      <a:r>
                        <a:rPr lang="en-US" sz="900"/>
                        <a:t>2027-12-12</a:t>
                      </a:r>
                    </a:p>
                  </a:txBody>
                  <a:tcPr anchor="ctr"/>
                </a:tc>
                <a:extLst>
                  <a:ext uri="{0D108BD9-81ED-4DB2-BD59-A6C34878D82A}">
                    <a16:rowId xmlns:a16="http://schemas.microsoft.com/office/drawing/2014/main" val="3579005831"/>
                  </a:ext>
                </a:extLst>
              </a:tr>
              <a:tr h="0">
                <a:tc>
                  <a:txBody>
                    <a:bodyPr/>
                    <a:lstStyle/>
                    <a:p>
                      <a:pPr>
                        <a:buNone/>
                      </a:pPr>
                      <a:r>
                        <a:rPr lang="en-US" sz="900"/>
                        <a:t>DG2 dosing (target dose)</a:t>
                      </a:r>
                    </a:p>
                  </a:txBody>
                  <a:tcPr anchor="ctr">
                    <a:solidFill>
                      <a:schemeClr val="accent6"/>
                    </a:solidFill>
                  </a:tcPr>
                </a:tc>
                <a:tc>
                  <a:txBody>
                    <a:bodyPr/>
                    <a:lstStyle/>
                    <a:p>
                      <a:pPr>
                        <a:buNone/>
                      </a:pPr>
                      <a:r>
                        <a:rPr lang="en-US" sz="900"/>
                        <a:t>MABEL + 21 days</a:t>
                      </a:r>
                    </a:p>
                  </a:txBody>
                  <a:tcPr anchor="ctr"/>
                </a:tc>
                <a:tc>
                  <a:txBody>
                    <a:bodyPr/>
                    <a:lstStyle/>
                    <a:p>
                      <a:pPr>
                        <a:buNone/>
                      </a:pPr>
                      <a:r>
                        <a:rPr lang="en-US" sz="900"/>
                        <a:t>2027-12-13</a:t>
                      </a:r>
                    </a:p>
                  </a:txBody>
                  <a:tcPr anchor="ctr"/>
                </a:tc>
                <a:tc>
                  <a:txBody>
                    <a:bodyPr/>
                    <a:lstStyle/>
                    <a:p>
                      <a:pPr>
                        <a:buNone/>
                      </a:pPr>
                      <a:r>
                        <a:rPr lang="en-US" sz="900"/>
                        <a:t>2028-01-02</a:t>
                      </a:r>
                    </a:p>
                  </a:txBody>
                  <a:tcPr anchor="ctr"/>
                </a:tc>
                <a:extLst>
                  <a:ext uri="{0D108BD9-81ED-4DB2-BD59-A6C34878D82A}">
                    <a16:rowId xmlns:a16="http://schemas.microsoft.com/office/drawing/2014/main" val="2477901554"/>
                  </a:ext>
                </a:extLst>
              </a:tr>
              <a:tr h="0">
                <a:tc>
                  <a:txBody>
                    <a:bodyPr/>
                    <a:lstStyle/>
                    <a:p>
                      <a:pPr>
                        <a:buNone/>
                      </a:pPr>
                      <a:r>
                        <a:rPr lang="en-US" sz="900"/>
                        <a:t>DG2 safety observation</a:t>
                      </a:r>
                    </a:p>
                  </a:txBody>
                  <a:tcPr anchor="ctr">
                    <a:solidFill>
                      <a:schemeClr val="accent6"/>
                    </a:solidFill>
                  </a:tcPr>
                </a:tc>
                <a:tc>
                  <a:txBody>
                    <a:bodyPr/>
                    <a:lstStyle/>
                    <a:p>
                      <a:pPr>
                        <a:buNone/>
                      </a:pPr>
                      <a:r>
                        <a:rPr lang="en-US" sz="900"/>
                        <a:t>Target dose + 28 days</a:t>
                      </a:r>
                    </a:p>
                  </a:txBody>
                  <a:tcPr anchor="ctr"/>
                </a:tc>
                <a:tc>
                  <a:txBody>
                    <a:bodyPr/>
                    <a:lstStyle/>
                    <a:p>
                      <a:pPr>
                        <a:buNone/>
                      </a:pPr>
                      <a:r>
                        <a:rPr lang="en-US" sz="900"/>
                        <a:t>2028-01-10</a:t>
                      </a:r>
                    </a:p>
                  </a:txBody>
                  <a:tcPr anchor="ctr"/>
                </a:tc>
                <a:tc>
                  <a:txBody>
                    <a:bodyPr/>
                    <a:lstStyle/>
                    <a:p>
                      <a:pPr>
                        <a:buNone/>
                      </a:pPr>
                      <a:r>
                        <a:rPr lang="en-US" sz="900"/>
                        <a:t>2028-01-30</a:t>
                      </a:r>
                    </a:p>
                  </a:txBody>
                  <a:tcPr anchor="ctr"/>
                </a:tc>
                <a:extLst>
                  <a:ext uri="{0D108BD9-81ED-4DB2-BD59-A6C34878D82A}">
                    <a16:rowId xmlns:a16="http://schemas.microsoft.com/office/drawing/2014/main" val="3348113126"/>
                  </a:ext>
                </a:extLst>
              </a:tr>
              <a:tr h="0">
                <a:tc>
                  <a:txBody>
                    <a:bodyPr/>
                    <a:lstStyle/>
                    <a:p>
                      <a:pPr>
                        <a:buNone/>
                      </a:pPr>
                      <a:r>
                        <a:rPr lang="en-US" sz="900"/>
                        <a:t>DG2 PK observation</a:t>
                      </a:r>
                    </a:p>
                  </a:txBody>
                  <a:tcPr anchor="ctr">
                    <a:solidFill>
                      <a:schemeClr val="accent6"/>
                    </a:solidFill>
                  </a:tcPr>
                </a:tc>
                <a:tc>
                  <a:txBody>
                    <a:bodyPr/>
                    <a:lstStyle/>
                    <a:p>
                      <a:pPr>
                        <a:buNone/>
                      </a:pPr>
                      <a:r>
                        <a:rPr lang="en-US" sz="900"/>
                        <a:t>Target dose + 56  days</a:t>
                      </a:r>
                    </a:p>
                  </a:txBody>
                  <a:tcPr anchor="ctr"/>
                </a:tc>
                <a:tc>
                  <a:txBody>
                    <a:bodyPr/>
                    <a:lstStyle/>
                    <a:p>
                      <a:pPr>
                        <a:buNone/>
                      </a:pPr>
                      <a:r>
                        <a:rPr lang="en-US" sz="900"/>
                        <a:t>2028-02-07</a:t>
                      </a:r>
                    </a:p>
                  </a:txBody>
                  <a:tcPr anchor="ctr"/>
                </a:tc>
                <a:tc>
                  <a:txBody>
                    <a:bodyPr/>
                    <a:lstStyle/>
                    <a:p>
                      <a:pPr>
                        <a:buNone/>
                      </a:pPr>
                      <a:r>
                        <a:rPr lang="en-US" sz="900"/>
                        <a:t>2028-02-27</a:t>
                      </a:r>
                    </a:p>
                  </a:txBody>
                  <a:tcPr anchor="ctr"/>
                </a:tc>
                <a:extLst>
                  <a:ext uri="{0D108BD9-81ED-4DB2-BD59-A6C34878D82A}">
                    <a16:rowId xmlns:a16="http://schemas.microsoft.com/office/drawing/2014/main" val="4120227884"/>
                  </a:ext>
                </a:extLst>
              </a:tr>
              <a:tr h="0">
                <a:tc>
                  <a:txBody>
                    <a:bodyPr/>
                    <a:lstStyle/>
                    <a:p>
                      <a:pPr>
                        <a:buNone/>
                      </a:pPr>
                      <a:r>
                        <a:rPr lang="en-US" sz="900"/>
                        <a:t>DBL</a:t>
                      </a:r>
                    </a:p>
                  </a:txBody>
                  <a:tcPr anchor="ctr">
                    <a:solidFill>
                      <a:schemeClr val="accent6"/>
                    </a:solidFill>
                  </a:tcPr>
                </a:tc>
                <a:tc>
                  <a:txBody>
                    <a:bodyPr/>
                    <a:lstStyle/>
                    <a:p>
                      <a:pPr>
                        <a:buNone/>
                      </a:pPr>
                      <a:r>
                        <a:rPr lang="en-US" sz="900"/>
                        <a:t>Including sample exportation</a:t>
                      </a:r>
                    </a:p>
                  </a:txBody>
                  <a:tcPr anchor="ctr"/>
                </a:tc>
                <a:tc>
                  <a:txBody>
                    <a:bodyPr/>
                    <a:lstStyle/>
                    <a:p>
                      <a:pPr>
                        <a:buNone/>
                      </a:pPr>
                      <a:r>
                        <a:rPr lang="en-US" sz="900"/>
                        <a:t>2028-03-02</a:t>
                      </a:r>
                    </a:p>
                  </a:txBody>
                  <a:tcPr anchor="ctr"/>
                </a:tc>
                <a:tc>
                  <a:txBody>
                    <a:bodyPr/>
                    <a:lstStyle/>
                    <a:p>
                      <a:pPr>
                        <a:buNone/>
                      </a:pPr>
                      <a:r>
                        <a:rPr lang="en-US" sz="900"/>
                        <a:t>2028-05-16</a:t>
                      </a:r>
                    </a:p>
                  </a:txBody>
                  <a:tcPr anchor="ctr"/>
                </a:tc>
                <a:extLst>
                  <a:ext uri="{0D108BD9-81ED-4DB2-BD59-A6C34878D82A}">
                    <a16:rowId xmlns:a16="http://schemas.microsoft.com/office/drawing/2014/main" val="2068026147"/>
                  </a:ext>
                </a:extLst>
              </a:tr>
              <a:tr h="0">
                <a:tc>
                  <a:txBody>
                    <a:bodyPr/>
                    <a:lstStyle/>
                    <a:p>
                      <a:pPr>
                        <a:buNone/>
                      </a:pPr>
                      <a:r>
                        <a:rPr lang="en-US" sz="900"/>
                        <a:t>TLR</a:t>
                      </a:r>
                    </a:p>
                  </a:txBody>
                  <a:tcPr anchor="ctr">
                    <a:solidFill>
                      <a:schemeClr val="accent6"/>
                    </a:solidFill>
                  </a:tcPr>
                </a:tc>
                <a:tc>
                  <a:txBody>
                    <a:bodyPr/>
                    <a:lstStyle/>
                    <a:p>
                      <a:pPr>
                        <a:buNone/>
                      </a:pPr>
                      <a:r>
                        <a:rPr lang="en-US" sz="900"/>
                        <a:t>DBL + 1 month</a:t>
                      </a:r>
                    </a:p>
                  </a:txBody>
                  <a:tcPr anchor="ctr"/>
                </a:tc>
                <a:tc>
                  <a:txBody>
                    <a:bodyPr/>
                    <a:lstStyle/>
                    <a:p>
                      <a:pPr>
                        <a:buNone/>
                      </a:pPr>
                      <a:r>
                        <a:rPr lang="en-US" sz="900"/>
                        <a:t>2028-06-16</a:t>
                      </a:r>
                    </a:p>
                  </a:txBody>
                  <a:tcPr anchor="ctr"/>
                </a:tc>
                <a:tc>
                  <a:txBody>
                    <a:bodyPr/>
                    <a:lstStyle/>
                    <a:p>
                      <a:pPr>
                        <a:buNone/>
                      </a:pPr>
                      <a:endParaRPr lang="en-US" sz="900"/>
                    </a:p>
                  </a:txBody>
                  <a:tcPr anchor="ctr"/>
                </a:tc>
                <a:extLst>
                  <a:ext uri="{0D108BD9-81ED-4DB2-BD59-A6C34878D82A}">
                    <a16:rowId xmlns:a16="http://schemas.microsoft.com/office/drawing/2014/main" val="2903716691"/>
                  </a:ext>
                </a:extLst>
              </a:tr>
              <a:tr h="0">
                <a:tc>
                  <a:txBody>
                    <a:bodyPr/>
                    <a:lstStyle/>
                    <a:p>
                      <a:pPr>
                        <a:buNone/>
                      </a:pPr>
                      <a:r>
                        <a:rPr lang="en-US" sz="900"/>
                        <a:t>CTA for next phase trial</a:t>
                      </a:r>
                    </a:p>
                  </a:txBody>
                  <a:tcPr anchor="ctr">
                    <a:solidFill>
                      <a:schemeClr val="accent4"/>
                    </a:solidFill>
                  </a:tcPr>
                </a:tc>
                <a:tc>
                  <a:txBody>
                    <a:bodyPr/>
                    <a:lstStyle/>
                    <a:p>
                      <a:pPr>
                        <a:buNone/>
                      </a:pPr>
                      <a:r>
                        <a:rPr lang="en-US" sz="900"/>
                        <a:t>DG2 safety data available +1 m</a:t>
                      </a:r>
                    </a:p>
                  </a:txBody>
                  <a:tcPr anchor="ctr"/>
                </a:tc>
                <a:tc>
                  <a:txBody>
                    <a:bodyPr/>
                    <a:lstStyle/>
                    <a:p>
                      <a:pPr>
                        <a:buNone/>
                      </a:pPr>
                      <a:r>
                        <a:rPr lang="en-US" sz="900"/>
                        <a:t>2028-03-02</a:t>
                      </a:r>
                    </a:p>
                  </a:txBody>
                  <a:tcPr anchor="ctr"/>
                </a:tc>
                <a:tc>
                  <a:txBody>
                    <a:bodyPr/>
                    <a:lstStyle/>
                    <a:p>
                      <a:pPr>
                        <a:buNone/>
                      </a:pPr>
                      <a:endParaRPr lang="en-US" sz="900"/>
                    </a:p>
                  </a:txBody>
                  <a:tcPr anchor="ctr"/>
                </a:tc>
                <a:extLst>
                  <a:ext uri="{0D108BD9-81ED-4DB2-BD59-A6C34878D82A}">
                    <a16:rowId xmlns:a16="http://schemas.microsoft.com/office/drawing/2014/main" val="3591380058"/>
                  </a:ext>
                </a:extLst>
              </a:tr>
              <a:tr h="0">
                <a:tc>
                  <a:txBody>
                    <a:bodyPr/>
                    <a:lstStyle/>
                    <a:p>
                      <a:pPr>
                        <a:buNone/>
                      </a:pPr>
                      <a:r>
                        <a:rPr lang="en-US" sz="900"/>
                        <a:t>CDE review</a:t>
                      </a:r>
                    </a:p>
                  </a:txBody>
                  <a:tcPr anchor="ctr">
                    <a:solidFill>
                      <a:schemeClr val="accent4"/>
                    </a:solidFill>
                  </a:tcPr>
                </a:tc>
                <a:tc>
                  <a:txBody>
                    <a:bodyPr/>
                    <a:lstStyle/>
                    <a:p>
                      <a:pPr>
                        <a:buNone/>
                      </a:pPr>
                      <a:endParaRPr lang="en-US" sz="90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a:t>2028-03-02</a:t>
                      </a:r>
                    </a:p>
                  </a:txBody>
                  <a:tcPr anchor="ctr"/>
                </a:tc>
                <a:tc>
                  <a:txBody>
                    <a:bodyPr/>
                    <a:lstStyle/>
                    <a:p>
                      <a:pPr>
                        <a:buNone/>
                      </a:pPr>
                      <a:r>
                        <a:rPr lang="en-US" sz="900"/>
                        <a:t>2028-06-02</a:t>
                      </a:r>
                    </a:p>
                  </a:txBody>
                  <a:tcPr anchor="ctr"/>
                </a:tc>
                <a:extLst>
                  <a:ext uri="{0D108BD9-81ED-4DB2-BD59-A6C34878D82A}">
                    <a16:rowId xmlns:a16="http://schemas.microsoft.com/office/drawing/2014/main" val="2896111461"/>
                  </a:ext>
                </a:extLst>
              </a:tr>
              <a:tr h="0">
                <a:tc>
                  <a:txBody>
                    <a:bodyPr/>
                    <a:lstStyle/>
                    <a:p>
                      <a:pPr>
                        <a:buNone/>
                      </a:pPr>
                      <a:r>
                        <a:rPr lang="en-US" sz="900"/>
                        <a:t>IRB/contract</a:t>
                      </a:r>
                    </a:p>
                  </a:txBody>
                  <a:tcPr anchor="ctr">
                    <a:solidFill>
                      <a:schemeClr val="accent6"/>
                    </a:solidFill>
                  </a:tcPr>
                </a:tc>
                <a:tc>
                  <a:txBody>
                    <a:bodyPr/>
                    <a:lstStyle/>
                    <a:p>
                      <a:pPr>
                        <a:buNone/>
                      </a:pPr>
                      <a:endParaRPr lang="en-US" sz="900"/>
                    </a:p>
                  </a:txBody>
                  <a:tcPr anchor="ctr"/>
                </a:tc>
                <a:tc>
                  <a:txBody>
                    <a:bodyPr/>
                    <a:lstStyle/>
                    <a:p>
                      <a:pPr>
                        <a:buNone/>
                      </a:pPr>
                      <a:r>
                        <a:rPr lang="en-US" sz="900"/>
                        <a:t>2028-03-02</a:t>
                      </a:r>
                    </a:p>
                  </a:txBody>
                  <a:tcPr anchor="ctr"/>
                </a:tc>
                <a:tc>
                  <a:txBody>
                    <a:bodyPr/>
                    <a:lstStyle/>
                    <a:p>
                      <a:pPr>
                        <a:buNone/>
                      </a:pPr>
                      <a:r>
                        <a:rPr lang="en-US" sz="900"/>
                        <a:t>2028-09-02</a:t>
                      </a:r>
                    </a:p>
                  </a:txBody>
                  <a:tcPr anchor="ctr"/>
                </a:tc>
                <a:extLst>
                  <a:ext uri="{0D108BD9-81ED-4DB2-BD59-A6C34878D82A}">
                    <a16:rowId xmlns:a16="http://schemas.microsoft.com/office/drawing/2014/main" val="724285188"/>
                  </a:ext>
                </a:extLst>
              </a:tr>
              <a:tr h="0">
                <a:tc>
                  <a:txBody>
                    <a:bodyPr/>
                    <a:lstStyle/>
                    <a:p>
                      <a:pPr>
                        <a:buNone/>
                      </a:pPr>
                      <a:r>
                        <a:rPr lang="en-US" sz="900"/>
                        <a:t>Site initiation</a:t>
                      </a:r>
                    </a:p>
                  </a:txBody>
                  <a:tcPr anchor="ctr">
                    <a:solidFill>
                      <a:schemeClr val="accent6"/>
                    </a:solidFill>
                  </a:tcPr>
                </a:tc>
                <a:tc>
                  <a:txBody>
                    <a:bodyPr/>
                    <a:lstStyle/>
                    <a:p>
                      <a:pPr>
                        <a:buNone/>
                      </a:pPr>
                      <a:r>
                        <a:rPr lang="en-US" sz="900"/>
                        <a:t>CTA sub+ 6 months</a:t>
                      </a:r>
                    </a:p>
                  </a:txBody>
                  <a:tcPr anchor="ctr"/>
                </a:tc>
                <a:tc>
                  <a:txBody>
                    <a:bodyPr/>
                    <a:lstStyle/>
                    <a:p>
                      <a:pPr>
                        <a:buNone/>
                      </a:pPr>
                      <a:r>
                        <a:rPr lang="en-US" sz="900"/>
                        <a:t>2028-09-03</a:t>
                      </a:r>
                    </a:p>
                  </a:txBody>
                  <a:tcPr anchor="ctr"/>
                </a:tc>
                <a:tc>
                  <a:txBody>
                    <a:bodyPr/>
                    <a:lstStyle/>
                    <a:p>
                      <a:pPr>
                        <a:buNone/>
                      </a:pPr>
                      <a:endParaRPr lang="en-US" sz="900"/>
                    </a:p>
                  </a:txBody>
                  <a:tcPr anchor="ctr"/>
                </a:tc>
                <a:extLst>
                  <a:ext uri="{0D108BD9-81ED-4DB2-BD59-A6C34878D82A}">
                    <a16:rowId xmlns:a16="http://schemas.microsoft.com/office/drawing/2014/main" val="675099050"/>
                  </a:ext>
                </a:extLst>
              </a:tr>
            </a:tbl>
          </a:graphicData>
        </a:graphic>
      </p:graphicFrame>
      <p:sp>
        <p:nvSpPr>
          <p:cNvPr id="8" name="文本框 7">
            <a:extLst>
              <a:ext uri="{FF2B5EF4-FFF2-40B4-BE49-F238E27FC236}">
                <a16:creationId xmlns:a16="http://schemas.microsoft.com/office/drawing/2014/main" id="{EE028603-EF69-0E37-0051-86D3B100E95E}"/>
              </a:ext>
            </a:extLst>
          </p:cNvPr>
          <p:cNvSpPr txBox="1"/>
          <p:nvPr/>
        </p:nvSpPr>
        <p:spPr bwMode="gray">
          <a:xfrm>
            <a:off x="692616" y="-5560"/>
            <a:ext cx="7660274" cy="315920"/>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600" b="1" i="0" u="none" strike="noStrike" kern="1200" cap="none" spc="0" normalizeH="0" baseline="0" noProof="0">
                <a:ln>
                  <a:noFill/>
                </a:ln>
                <a:solidFill>
                  <a:prstClr val="black"/>
                </a:solidFill>
                <a:effectLst/>
                <a:uLnTx/>
                <a:uFillTx/>
                <a:latin typeface="Boehringer Forward Text"/>
                <a:ea typeface="+mn-ea"/>
                <a:cs typeface="+mn-cs"/>
              </a:rPr>
              <a:t>China timeline (CDE request phase 1 but PMDA not)</a:t>
            </a:r>
            <a:endParaRPr kumimoji="0" lang="zh-CN" altLang="en-US" sz="16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 name="文本框 1">
            <a:extLst>
              <a:ext uri="{FF2B5EF4-FFF2-40B4-BE49-F238E27FC236}">
                <a16:creationId xmlns:a16="http://schemas.microsoft.com/office/drawing/2014/main" id="{4553E1D1-F901-E0B9-2D30-C7476EF14EEC}"/>
              </a:ext>
            </a:extLst>
          </p:cNvPr>
          <p:cNvSpPr txBox="1"/>
          <p:nvPr/>
        </p:nvSpPr>
        <p:spPr bwMode="gray">
          <a:xfrm>
            <a:off x="7274104" y="1171254"/>
            <a:ext cx="4438488" cy="3752309"/>
          </a:xfrm>
          <a:prstGeom prst="rect">
            <a:avLst/>
          </a:prstGeom>
          <a:noFill/>
        </p:spPr>
        <p:txBody>
          <a:bodyPr wrap="square" lIns="0" tIns="0" rIns="0" bIns="0" rtlCol="0">
            <a:spAutoFit/>
          </a:bodyPr>
          <a:lstStyle/>
          <a:p>
            <a:pPr marL="285750" marR="0" lvl="0" indent="-28575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If PMDA accept backloading, but CDE requires Asian (Chinese) data before the next phase trial , a China alone phase 1 in China will be necessary.</a:t>
            </a:r>
          </a:p>
          <a:p>
            <a:pPr marL="285750" marR="0" lvl="0" indent="-28575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Completion of the China phase 1 is 4 months behind the joint Asan phase 1, which will delay the enrollment of Chinese participants in the phase 2b trial. </a:t>
            </a:r>
          </a:p>
          <a:p>
            <a:pPr marL="285750" marR="0" lvl="0" indent="-28575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The proposed mitigation strategy is to include the preliminary phase 1 data at the time of CTA submission.</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1717719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479330-B647-570A-B154-3578B6313539}"/>
              </a:ext>
            </a:extLst>
          </p:cNvPr>
          <p:cNvSpPr>
            <a:spLocks noGrp="1"/>
          </p:cNvSpPr>
          <p:nvPr>
            <p:ph type="title"/>
          </p:nvPr>
        </p:nvSpPr>
        <p:spPr/>
        <p:txBody>
          <a:bodyPr/>
          <a:lstStyle/>
          <a:p>
            <a:r>
              <a:rPr lang="en-US" altLang="zh-CN" dirty="0"/>
              <a:t>1517-0002 (Phase 2a trial)</a:t>
            </a:r>
            <a:endParaRPr lang="zh-CN" altLang="en-US" dirty="0"/>
          </a:p>
        </p:txBody>
      </p:sp>
      <p:sp>
        <p:nvSpPr>
          <p:cNvPr id="4" name="页脚占位符 3">
            <a:extLst>
              <a:ext uri="{FF2B5EF4-FFF2-40B4-BE49-F238E27FC236}">
                <a16:creationId xmlns:a16="http://schemas.microsoft.com/office/drawing/2014/main" id="{79DAEA77-B1CC-0F35-3F59-6BC0F18ABA26}"/>
              </a:ext>
            </a:extLst>
          </p:cNvPr>
          <p:cNvSpPr>
            <a:spLocks noGrp="1"/>
          </p:cNvSpPr>
          <p:nvPr>
            <p:ph type="ftr" sz="quarter" idx="16"/>
          </p:nvPr>
        </p:nvSpPr>
        <p:spPr/>
        <p:txBody>
          <a:bodyPr/>
          <a:lstStyle/>
          <a:p>
            <a:r>
              <a:rPr lang="en-US"/>
              <a:t>Presentation title    |    ONLY FOR INTERNAL USE</a:t>
            </a:r>
          </a:p>
        </p:txBody>
      </p:sp>
      <p:sp>
        <p:nvSpPr>
          <p:cNvPr id="5" name="灯片编号占位符 4">
            <a:extLst>
              <a:ext uri="{FF2B5EF4-FFF2-40B4-BE49-F238E27FC236}">
                <a16:creationId xmlns:a16="http://schemas.microsoft.com/office/drawing/2014/main" id="{D856EA01-2D93-A2DB-DBEB-9B42B3095501}"/>
              </a:ext>
            </a:extLst>
          </p:cNvPr>
          <p:cNvSpPr>
            <a:spLocks noGrp="1"/>
          </p:cNvSpPr>
          <p:nvPr>
            <p:ph type="sldNum" sz="quarter" idx="17"/>
          </p:nvPr>
        </p:nvSpPr>
        <p:spPr/>
        <p:txBody>
          <a:bodyPr/>
          <a:lstStyle/>
          <a:p>
            <a:fld id="{8FF9B0DE-3FEB-4AA0-B465-B80EF7C1333D}" type="slidenum">
              <a:rPr lang="en-US" smtClean="0"/>
              <a:pPr/>
              <a:t>13</a:t>
            </a:fld>
            <a:endParaRPr lang="en-US"/>
          </a:p>
        </p:txBody>
      </p:sp>
      <p:pic>
        <p:nvPicPr>
          <p:cNvPr id="7" name="图片 6">
            <a:extLst>
              <a:ext uri="{FF2B5EF4-FFF2-40B4-BE49-F238E27FC236}">
                <a16:creationId xmlns:a16="http://schemas.microsoft.com/office/drawing/2014/main" id="{346A6D36-37EB-7264-5BD7-C3CCD1045200}"/>
              </a:ext>
            </a:extLst>
          </p:cNvPr>
          <p:cNvPicPr>
            <a:picLocks noChangeAspect="1"/>
          </p:cNvPicPr>
          <p:nvPr/>
        </p:nvPicPr>
        <p:blipFill>
          <a:blip r:embed="rId2"/>
          <a:stretch>
            <a:fillRect/>
          </a:stretch>
        </p:blipFill>
        <p:spPr>
          <a:xfrm>
            <a:off x="350104" y="2073412"/>
            <a:ext cx="6991709" cy="2978303"/>
          </a:xfrm>
          <a:prstGeom prst="rect">
            <a:avLst/>
          </a:prstGeom>
        </p:spPr>
      </p:pic>
      <p:sp>
        <p:nvSpPr>
          <p:cNvPr id="9" name="文本框 8">
            <a:extLst>
              <a:ext uri="{FF2B5EF4-FFF2-40B4-BE49-F238E27FC236}">
                <a16:creationId xmlns:a16="http://schemas.microsoft.com/office/drawing/2014/main" id="{0716462A-AB77-EFFB-8220-7B50746DDF2A}"/>
              </a:ext>
            </a:extLst>
          </p:cNvPr>
          <p:cNvSpPr txBox="1"/>
          <p:nvPr/>
        </p:nvSpPr>
        <p:spPr bwMode="gray">
          <a:xfrm>
            <a:off x="274803" y="1159894"/>
            <a:ext cx="11530204" cy="523220"/>
          </a:xfrm>
          <a:prstGeom prst="rect">
            <a:avLst/>
          </a:prstGeom>
          <a:noFill/>
        </p:spPr>
        <p:txBody>
          <a:bodyPr wrap="square">
            <a:spAutoFit/>
          </a:bodyPr>
          <a:lstStyle/>
          <a:p>
            <a:pPr algn="l"/>
            <a:r>
              <a:rPr lang="en-US" altLang="zh-CN" sz="1400" b="0" i="0" u="none" strike="noStrike" baseline="0" dirty="0">
                <a:latin typeface="+mj-lt"/>
              </a:rPr>
              <a:t> A Phase </a:t>
            </a:r>
            <a:r>
              <a:rPr lang="en-US" altLang="zh-CN" sz="1400" b="0" i="0" u="none" strike="noStrike" baseline="0" dirty="0" err="1">
                <a:latin typeface="+mj-lt"/>
              </a:rPr>
              <a:t>IIa</a:t>
            </a:r>
            <a:r>
              <a:rPr lang="en-US" altLang="zh-CN" sz="1400" b="0" i="0" u="none" strike="noStrike" baseline="0" dirty="0">
                <a:latin typeface="+mj-lt"/>
              </a:rPr>
              <a:t> double-blind, placebo-controlled study evaluating the safety, tolerability, pharmacokinetics and pharmacodynamics of BI 3802876 in participants with compensated cirrhosis due to Metabolic Dysfunction-Associated Steatohepatitis (MASH)</a:t>
            </a:r>
            <a:endParaRPr lang="zh-CN" altLang="en-US" sz="1400" dirty="0">
              <a:latin typeface="+mj-lt"/>
            </a:endParaRPr>
          </a:p>
        </p:txBody>
      </p:sp>
      <p:sp>
        <p:nvSpPr>
          <p:cNvPr id="10" name="文本框 9">
            <a:extLst>
              <a:ext uri="{FF2B5EF4-FFF2-40B4-BE49-F238E27FC236}">
                <a16:creationId xmlns:a16="http://schemas.microsoft.com/office/drawing/2014/main" id="{1EEA43AC-A353-F754-F88C-EAB17522F87F}"/>
              </a:ext>
            </a:extLst>
          </p:cNvPr>
          <p:cNvSpPr txBox="1"/>
          <p:nvPr/>
        </p:nvSpPr>
        <p:spPr bwMode="gray">
          <a:xfrm>
            <a:off x="7459038" y="2073412"/>
            <a:ext cx="4099389" cy="2728889"/>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spAutoFit/>
          </a:bodyPr>
          <a:lstStyle/>
          <a:p>
            <a:pPr marL="180000" indent="-180000" algn="l">
              <a:lnSpc>
                <a:spcPct val="140000"/>
              </a:lnSpc>
              <a:buFont typeface="Arial" panose="020B0604020202020204" pitchFamily="34" charset="0"/>
              <a:buChar char="•"/>
            </a:pPr>
            <a:r>
              <a:rPr lang="en-US" altLang="zh-CN" sz="1600" dirty="0"/>
              <a:t>N=30</a:t>
            </a:r>
          </a:p>
          <a:p>
            <a:pPr marL="180000" indent="-180000" algn="l">
              <a:lnSpc>
                <a:spcPct val="140000"/>
              </a:lnSpc>
              <a:buFont typeface="Arial" panose="020B0604020202020204" pitchFamily="34" charset="0"/>
              <a:buChar char="•"/>
            </a:pPr>
            <a:r>
              <a:rPr lang="en-US" altLang="zh-CN" sz="1600" dirty="0"/>
              <a:t>Primary endpoints: AE</a:t>
            </a:r>
          </a:p>
          <a:p>
            <a:pPr marL="180000" indent="-180000" algn="l">
              <a:lnSpc>
                <a:spcPct val="140000"/>
              </a:lnSpc>
              <a:buFont typeface="Arial" panose="020B0604020202020204" pitchFamily="34" charset="0"/>
              <a:buChar char="•"/>
            </a:pPr>
            <a:r>
              <a:rPr lang="en-US" altLang="zh-CN" sz="1600" dirty="0"/>
              <a:t>Secondary endpoints:  PK (AUC, </a:t>
            </a:r>
            <a:r>
              <a:rPr lang="en-US" altLang="zh-CN" sz="1600" dirty="0" err="1"/>
              <a:t>Cmax</a:t>
            </a:r>
            <a:r>
              <a:rPr lang="en-US" altLang="zh-CN" sz="1600" dirty="0"/>
              <a:t>), PD (Pro-C3 at week 4)</a:t>
            </a:r>
          </a:p>
          <a:p>
            <a:pPr marL="180000" indent="-180000" algn="l">
              <a:lnSpc>
                <a:spcPct val="140000"/>
              </a:lnSpc>
              <a:buFont typeface="Arial" panose="020B0604020202020204" pitchFamily="34" charset="0"/>
              <a:buChar char="•"/>
            </a:pPr>
            <a:r>
              <a:rPr lang="en-US" altLang="zh-CN" sz="1600" dirty="0"/>
              <a:t>Treatment period:</a:t>
            </a:r>
          </a:p>
          <a:p>
            <a:pPr marL="637200" lvl="1" indent="-180000">
              <a:lnSpc>
                <a:spcPct val="140000"/>
              </a:lnSpc>
              <a:buFont typeface="Arial" panose="020B0604020202020204" pitchFamily="34" charset="0"/>
              <a:buChar char="•"/>
            </a:pPr>
            <a:r>
              <a:rPr lang="en-US" altLang="zh-CN" sz="1600" dirty="0"/>
              <a:t>Run-in (MABEL): 3 weeks</a:t>
            </a:r>
          </a:p>
          <a:p>
            <a:pPr marL="637200" lvl="1" indent="-180000">
              <a:lnSpc>
                <a:spcPct val="140000"/>
              </a:lnSpc>
              <a:buFont typeface="Arial" panose="020B0604020202020204" pitchFamily="34" charset="0"/>
              <a:buChar char="•"/>
            </a:pPr>
            <a:r>
              <a:rPr lang="en-US" altLang="zh-CN" sz="1600" dirty="0"/>
              <a:t>Target dose: 4 weeks</a:t>
            </a:r>
          </a:p>
          <a:p>
            <a:pPr marL="637200" lvl="1" indent="-180000">
              <a:lnSpc>
                <a:spcPct val="140000"/>
              </a:lnSpc>
              <a:buFont typeface="Arial" panose="020B0604020202020204" pitchFamily="34" charset="0"/>
              <a:buChar char="•"/>
            </a:pPr>
            <a:r>
              <a:rPr lang="en-US" altLang="zh-CN" sz="1600" dirty="0"/>
              <a:t>Follow up: 12 weeks from </a:t>
            </a:r>
            <a:r>
              <a:rPr lang="en-US" altLang="zh-CN" sz="1600" dirty="0" err="1"/>
              <a:t>EoT</a:t>
            </a:r>
            <a:endParaRPr lang="zh-CN" altLang="en-US" sz="1600" dirty="0"/>
          </a:p>
        </p:txBody>
      </p:sp>
    </p:spTree>
    <p:extLst>
      <p:ext uri="{BB962C8B-B14F-4D97-AF65-F5344CB8AC3E}">
        <p14:creationId xmlns:p14="http://schemas.microsoft.com/office/powerpoint/2010/main" val="166079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F99AA-46F2-F883-3A99-A266AC7BCE4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A3BF57A-7C74-4689-4B1C-9F92D36B611F}"/>
              </a:ext>
            </a:extLst>
          </p:cNvPr>
          <p:cNvSpPr>
            <a:spLocks noGrp="1"/>
          </p:cNvSpPr>
          <p:nvPr>
            <p:ph type="title"/>
          </p:nvPr>
        </p:nvSpPr>
        <p:spPr/>
        <p:txBody>
          <a:bodyPr/>
          <a:lstStyle/>
          <a:p>
            <a:r>
              <a:rPr kumimoji="1" lang="en-US" altLang="ja-JP"/>
              <a:t>BD preparation timeline w/HAI </a:t>
            </a:r>
            <a:endParaRPr kumimoji="1" lang="ja-JP" altLang="en-US"/>
          </a:p>
        </p:txBody>
      </p:sp>
      <p:sp>
        <p:nvSpPr>
          <p:cNvPr id="4" name="フッター プレースホルダー 3">
            <a:extLst>
              <a:ext uri="{FF2B5EF4-FFF2-40B4-BE49-F238E27FC236}">
                <a16:creationId xmlns:a16="http://schemas.microsoft.com/office/drawing/2014/main" id="{E2FBF66E-4D4A-F914-83CA-505C1D31ABA4}"/>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eiryo UI"/>
                <a:cs typeface="+mn-cs"/>
              </a:rPr>
              <a:t>Presentation title    |    ONLY FOR INTERNAL USE</a:t>
            </a:r>
          </a:p>
        </p:txBody>
      </p:sp>
      <p:sp>
        <p:nvSpPr>
          <p:cNvPr id="5" name="スライド番号プレースホルダー 4">
            <a:extLst>
              <a:ext uri="{FF2B5EF4-FFF2-40B4-BE49-F238E27FC236}">
                <a16:creationId xmlns:a16="http://schemas.microsoft.com/office/drawing/2014/main" id="{F4C3BCA6-A30E-1D4B-08BC-ABC8987C34A9}"/>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eiryo UI"/>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800" b="0" i="0" u="none" strike="noStrike" kern="1200" cap="none" spc="0" normalizeH="0" baseline="0" noProof="0">
              <a:ln>
                <a:noFill/>
              </a:ln>
              <a:solidFill>
                <a:srgbClr val="08312A"/>
              </a:solidFill>
              <a:effectLst/>
              <a:uLnTx/>
              <a:uFillTx/>
              <a:latin typeface="Boehringer Forward Text"/>
              <a:ea typeface="Meiryo UI"/>
              <a:cs typeface="+mn-cs"/>
            </a:endParaRPr>
          </a:p>
        </p:txBody>
      </p:sp>
      <p:sp>
        <p:nvSpPr>
          <p:cNvPr id="3" name="テキスト ボックス 2">
            <a:extLst>
              <a:ext uri="{FF2B5EF4-FFF2-40B4-BE49-F238E27FC236}">
                <a16:creationId xmlns:a16="http://schemas.microsoft.com/office/drawing/2014/main" id="{1C87DEA6-61DF-4961-F28A-B947443C4B0A}"/>
              </a:ext>
            </a:extLst>
          </p:cNvPr>
          <p:cNvSpPr txBox="1"/>
          <p:nvPr/>
        </p:nvSpPr>
        <p:spPr bwMode="gray">
          <a:xfrm>
            <a:off x="7348252" y="88460"/>
            <a:ext cx="1013550" cy="234704"/>
          </a:xfrm>
          <a:prstGeom prst="rect">
            <a:avLst/>
          </a:prstGeom>
          <a:solidFill>
            <a:schemeClr val="accent3"/>
          </a:solid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Boehringer Forward Text"/>
                <a:ea typeface="Meiryo UI"/>
                <a:cs typeface="+mn-cs"/>
              </a:rPr>
              <a:t>Japan/China</a:t>
            </a:r>
            <a:endParaRPr kumimoji="1" lang="ja-JP" altLang="en-US" sz="1200" b="0" i="0" u="none" strike="noStrike" kern="1200" cap="none" spc="0" normalizeH="0" baseline="0" noProof="0">
              <a:ln>
                <a:noFill/>
              </a:ln>
              <a:solidFill>
                <a:prstClr val="black"/>
              </a:solidFill>
              <a:effectLst/>
              <a:uLnTx/>
              <a:uFillTx/>
              <a:latin typeface="Boehringer Forward Text"/>
              <a:ea typeface="Meiryo UI"/>
              <a:cs typeface="+mn-cs"/>
            </a:endParaRPr>
          </a:p>
        </p:txBody>
      </p:sp>
      <p:sp>
        <p:nvSpPr>
          <p:cNvPr id="7" name="テキスト ボックス 6">
            <a:extLst>
              <a:ext uri="{FF2B5EF4-FFF2-40B4-BE49-F238E27FC236}">
                <a16:creationId xmlns:a16="http://schemas.microsoft.com/office/drawing/2014/main" id="{823DCC10-DF60-9773-3F84-B44BCCC96A13}"/>
              </a:ext>
            </a:extLst>
          </p:cNvPr>
          <p:cNvSpPr txBox="1"/>
          <p:nvPr/>
        </p:nvSpPr>
        <p:spPr bwMode="gray">
          <a:xfrm>
            <a:off x="8470137" y="78798"/>
            <a:ext cx="1013550" cy="234704"/>
          </a:xfrm>
          <a:prstGeom prst="rect">
            <a:avLst/>
          </a:prstGeom>
          <a:solidFill>
            <a:schemeClr val="accent4"/>
          </a:solid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Boehringer Forward Text"/>
                <a:ea typeface="Meiryo UI"/>
                <a:cs typeface="+mn-cs"/>
              </a:rPr>
              <a:t>China</a:t>
            </a:r>
            <a:endParaRPr kumimoji="1" lang="ja-JP" altLang="en-US" sz="1200" b="0" i="0" u="none" strike="noStrike" kern="1200" cap="none" spc="0" normalizeH="0" baseline="0" noProof="0">
              <a:ln>
                <a:noFill/>
              </a:ln>
              <a:solidFill>
                <a:prstClr val="black"/>
              </a:solidFill>
              <a:effectLst/>
              <a:uLnTx/>
              <a:uFillTx/>
              <a:latin typeface="Boehringer Forward Text"/>
              <a:ea typeface="Meiryo UI"/>
              <a:cs typeface="+mn-cs"/>
            </a:endParaRPr>
          </a:p>
        </p:txBody>
      </p:sp>
      <p:sp>
        <p:nvSpPr>
          <p:cNvPr id="8" name="テキスト ボックス 7">
            <a:extLst>
              <a:ext uri="{FF2B5EF4-FFF2-40B4-BE49-F238E27FC236}">
                <a16:creationId xmlns:a16="http://schemas.microsoft.com/office/drawing/2014/main" id="{1DF26FFB-61B1-70B9-4F9E-0A927963895F}"/>
              </a:ext>
            </a:extLst>
          </p:cNvPr>
          <p:cNvSpPr txBox="1"/>
          <p:nvPr/>
        </p:nvSpPr>
        <p:spPr bwMode="gray">
          <a:xfrm>
            <a:off x="9592022" y="88460"/>
            <a:ext cx="1013550" cy="234704"/>
          </a:xfrm>
          <a:prstGeom prst="rect">
            <a:avLst/>
          </a:prstGeom>
          <a:solidFill>
            <a:schemeClr val="accent5"/>
          </a:solid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Boehringer Forward Text"/>
                <a:ea typeface="Meiryo UI"/>
                <a:cs typeface="+mn-cs"/>
              </a:rPr>
              <a:t>Japan</a:t>
            </a:r>
            <a:endParaRPr kumimoji="1" lang="ja-JP" altLang="en-US" sz="1200" b="0" i="0" u="none" strike="noStrike" kern="1200" cap="none" spc="0" normalizeH="0" baseline="0" noProof="0">
              <a:ln>
                <a:noFill/>
              </a:ln>
              <a:solidFill>
                <a:prstClr val="black"/>
              </a:solidFill>
              <a:effectLst/>
              <a:uLnTx/>
              <a:uFillTx/>
              <a:latin typeface="Boehringer Forward Text"/>
              <a:ea typeface="Meiryo UI"/>
              <a:cs typeface="+mn-cs"/>
            </a:endParaRPr>
          </a:p>
        </p:txBody>
      </p:sp>
      <p:graphicFrame>
        <p:nvGraphicFramePr>
          <p:cNvPr id="6" name="表 5">
            <a:extLst>
              <a:ext uri="{FF2B5EF4-FFF2-40B4-BE49-F238E27FC236}">
                <a16:creationId xmlns:a16="http://schemas.microsoft.com/office/drawing/2014/main" id="{7373C508-C240-3213-CC52-DD364921B48A}"/>
              </a:ext>
            </a:extLst>
          </p:cNvPr>
          <p:cNvGraphicFramePr>
            <a:graphicFrameLocks noGrp="1"/>
          </p:cNvGraphicFramePr>
          <p:nvPr/>
        </p:nvGraphicFramePr>
        <p:xfrm>
          <a:off x="842481" y="934821"/>
          <a:ext cx="8321679" cy="5538973"/>
        </p:xfrm>
        <a:graphic>
          <a:graphicData uri="http://schemas.openxmlformats.org/drawingml/2006/table">
            <a:tbl>
              <a:tblPr>
                <a:tableStyleId>{5C22544A-7EE6-4342-B048-85BDC9FD1C3A}</a:tableStyleId>
              </a:tblPr>
              <a:tblGrid>
                <a:gridCol w="4658286">
                  <a:extLst>
                    <a:ext uri="{9D8B030D-6E8A-4147-A177-3AD203B41FA5}">
                      <a16:colId xmlns:a16="http://schemas.microsoft.com/office/drawing/2014/main" val="3232841951"/>
                    </a:ext>
                  </a:extLst>
                </a:gridCol>
                <a:gridCol w="1376930">
                  <a:extLst>
                    <a:ext uri="{9D8B030D-6E8A-4147-A177-3AD203B41FA5}">
                      <a16:colId xmlns:a16="http://schemas.microsoft.com/office/drawing/2014/main" val="3480078151"/>
                    </a:ext>
                  </a:extLst>
                </a:gridCol>
                <a:gridCol w="1440093">
                  <a:extLst>
                    <a:ext uri="{9D8B030D-6E8A-4147-A177-3AD203B41FA5}">
                      <a16:colId xmlns:a16="http://schemas.microsoft.com/office/drawing/2014/main" val="1435875050"/>
                    </a:ext>
                  </a:extLst>
                </a:gridCol>
                <a:gridCol w="846370">
                  <a:extLst>
                    <a:ext uri="{9D8B030D-6E8A-4147-A177-3AD203B41FA5}">
                      <a16:colId xmlns:a16="http://schemas.microsoft.com/office/drawing/2014/main" val="4016706241"/>
                    </a:ext>
                  </a:extLst>
                </a:gridCol>
              </a:tblGrid>
              <a:tr h="174503">
                <a:tc>
                  <a:txBody>
                    <a:bodyPr/>
                    <a:lstStyle/>
                    <a:p>
                      <a:pPr algn="l" fontAlgn="b">
                        <a:buNone/>
                      </a:pPr>
                      <a:r>
                        <a:rPr lang="en-US" sz="1400" b="0" i="0" u="none" strike="noStrike">
                          <a:effectLst/>
                          <a:latin typeface="Calibri" panose="020F0502020204030204" pitchFamily="34" charset="0"/>
                        </a:rPr>
                        <a:t>Task</a:t>
                      </a:r>
                    </a:p>
                  </a:txBody>
                  <a:tcPr marL="6017" marR="6017" marT="6017" marB="0" anchor="b">
                    <a:solidFill>
                      <a:schemeClr val="accent2"/>
                    </a:solidFill>
                  </a:tcPr>
                </a:tc>
                <a:tc>
                  <a:txBody>
                    <a:bodyPr/>
                    <a:lstStyle/>
                    <a:p>
                      <a:pPr algn="l" fontAlgn="b">
                        <a:buNone/>
                      </a:pPr>
                      <a:r>
                        <a:rPr lang="en-US" altLang="ja-JP" sz="1400" b="0" i="0" u="none" strike="noStrike">
                          <a:effectLst/>
                          <a:latin typeface="Calibri" panose="020F0502020204030204" pitchFamily="34" charset="0"/>
                        </a:rPr>
                        <a:t>Start</a:t>
                      </a:r>
                    </a:p>
                  </a:txBody>
                  <a:tcPr marL="6017" marR="6017" marT="6017" marB="0" anchor="b">
                    <a:solidFill>
                      <a:schemeClr val="accent2"/>
                    </a:solidFill>
                  </a:tcPr>
                </a:tc>
                <a:tc>
                  <a:txBody>
                    <a:bodyPr/>
                    <a:lstStyle/>
                    <a:p>
                      <a:pPr algn="l" fontAlgn="b">
                        <a:buNone/>
                      </a:pPr>
                      <a:r>
                        <a:rPr lang="en-US" altLang="ja-JP" sz="1400" b="0" i="0" u="none" strike="noStrike">
                          <a:effectLst/>
                          <a:latin typeface="Calibri" panose="020F0502020204030204" pitchFamily="34" charset="0"/>
                        </a:rPr>
                        <a:t>End</a:t>
                      </a:r>
                    </a:p>
                  </a:txBody>
                  <a:tcPr marL="6017" marR="6017" marT="6017" marB="0" anchor="b">
                    <a:solidFill>
                      <a:schemeClr val="accent2"/>
                    </a:solidFill>
                  </a:tcPr>
                </a:tc>
                <a:tc>
                  <a:txBody>
                    <a:bodyPr/>
                    <a:lstStyle/>
                    <a:p>
                      <a:pPr algn="l" fontAlgn="b">
                        <a:buNone/>
                      </a:pPr>
                      <a:r>
                        <a:rPr lang="en-US" altLang="ja-JP" sz="1400" b="0" i="0" u="none" strike="noStrike">
                          <a:effectLst/>
                          <a:latin typeface="Calibri" panose="020F0502020204030204" pitchFamily="34" charset="0"/>
                        </a:rPr>
                        <a:t>Duration</a:t>
                      </a:r>
                      <a:endParaRPr lang="ja-JP" altLang="en-US" sz="1400" b="0" i="0" u="none" strike="noStrike">
                        <a:effectLst/>
                        <a:latin typeface="Calibri" panose="020F0502020204030204" pitchFamily="34" charset="0"/>
                      </a:endParaRPr>
                    </a:p>
                  </a:txBody>
                  <a:tcPr marL="6017" marR="6017" marT="6017" marB="0" anchor="b">
                    <a:solidFill>
                      <a:schemeClr val="accent2"/>
                    </a:solidFill>
                  </a:tcPr>
                </a:tc>
                <a:extLst>
                  <a:ext uri="{0D108BD9-81ED-4DB2-BD59-A6C34878D82A}">
                    <a16:rowId xmlns:a16="http://schemas.microsoft.com/office/drawing/2014/main" val="3275169071"/>
                  </a:ext>
                </a:extLst>
              </a:tr>
              <a:tr h="174503">
                <a:tc>
                  <a:txBody>
                    <a:bodyPr/>
                    <a:lstStyle/>
                    <a:p>
                      <a:pPr algn="l" fontAlgn="b">
                        <a:buNone/>
                      </a:pPr>
                      <a:r>
                        <a:rPr lang="en-US" sz="1200" u="none" strike="noStrike">
                          <a:effectLst/>
                        </a:rPr>
                        <a:t>Synopsis of Phase2b</a:t>
                      </a:r>
                      <a:endParaRPr lang="en-US" sz="1200" b="0" i="0" u="none" strike="noStrike">
                        <a:effectLst/>
                        <a:latin typeface="Calibri" panose="020F0502020204030204" pitchFamily="34" charset="0"/>
                      </a:endParaRPr>
                    </a:p>
                  </a:txBody>
                  <a:tcPr marL="6017" marR="6017" marT="6017" marB="0" anchor="b"/>
                </a:tc>
                <a:tc>
                  <a:txBody>
                    <a:bodyPr/>
                    <a:lstStyle/>
                    <a:p>
                      <a:pPr algn="l" fontAlgn="b">
                        <a:buNone/>
                      </a:pPr>
                      <a:r>
                        <a:rPr lang="en-US" altLang="ja-JP" sz="1200" u="none" strike="noStrike">
                          <a:effectLst/>
                        </a:rPr>
                        <a:t>5/29/2026</a:t>
                      </a:r>
                      <a:endParaRPr lang="en-US" altLang="ja-JP" sz="1200" b="0" i="0" u="none" strike="noStrike">
                        <a:effectLst/>
                        <a:latin typeface="Calibri" panose="020F0502020204030204" pitchFamily="34" charset="0"/>
                      </a:endParaRPr>
                    </a:p>
                  </a:txBody>
                  <a:tcPr marL="6017" marR="6017" marT="6017" marB="0" anchor="b"/>
                </a:tc>
                <a:tc>
                  <a:txBody>
                    <a:bodyPr/>
                    <a:lstStyle/>
                    <a:p>
                      <a:pPr algn="l" fontAlgn="b">
                        <a:buNone/>
                      </a:pPr>
                      <a:r>
                        <a:rPr lang="en-US" altLang="ja-JP" sz="1200" u="none" strike="noStrike">
                          <a:effectLst/>
                        </a:rPr>
                        <a:t>5/29/2026</a:t>
                      </a:r>
                      <a:endParaRPr lang="en-US" altLang="ja-JP" sz="1200" b="0" i="0" u="none" strike="noStrike">
                        <a:effectLst/>
                        <a:latin typeface="Calibri" panose="020F0502020204030204" pitchFamily="34" charset="0"/>
                      </a:endParaRPr>
                    </a:p>
                  </a:txBody>
                  <a:tcPr marL="6017" marR="6017" marT="6017" marB="0" anchor="b"/>
                </a:tc>
                <a:tc>
                  <a:txBody>
                    <a:bodyPr/>
                    <a:lstStyle/>
                    <a:p>
                      <a:pPr algn="l" fontAlgn="b">
                        <a:buNone/>
                      </a:pPr>
                      <a:r>
                        <a:rPr lang="en-US" altLang="ja-JP" sz="1200" u="none" strike="noStrike">
                          <a:effectLst/>
                        </a:rPr>
                        <a:t>1 </a:t>
                      </a:r>
                      <a:r>
                        <a:rPr lang="ja-JP" altLang="en-US" sz="1200" u="none" strike="noStrike">
                          <a:effectLst/>
                        </a:rPr>
                        <a:t>日</a:t>
                      </a:r>
                      <a:endParaRPr lang="ja-JP" altLang="en-US" sz="1200" b="0" i="0" u="none" strike="noStrike">
                        <a:effectLst/>
                        <a:latin typeface="Calibri" panose="020F0502020204030204" pitchFamily="34" charset="0"/>
                      </a:endParaRPr>
                    </a:p>
                  </a:txBody>
                  <a:tcPr marL="6017" marR="6017" marT="6017" marB="0" anchor="b"/>
                </a:tc>
                <a:extLst>
                  <a:ext uri="{0D108BD9-81ED-4DB2-BD59-A6C34878D82A}">
                    <a16:rowId xmlns:a16="http://schemas.microsoft.com/office/drawing/2014/main" val="3765760596"/>
                  </a:ext>
                </a:extLst>
              </a:tr>
              <a:tr h="174503">
                <a:tc>
                  <a:txBody>
                    <a:bodyPr/>
                    <a:lstStyle/>
                    <a:p>
                      <a:pPr algn="l" fontAlgn="b">
                        <a:buNone/>
                      </a:pPr>
                      <a:r>
                        <a:rPr lang="en-US" sz="1200" u="none" strike="noStrike">
                          <a:effectLst/>
                        </a:rPr>
                        <a:t>Japan/China KOM</a:t>
                      </a:r>
                      <a:endParaRPr lang="en-US" sz="1200" b="0" i="0" u="none" strike="noStrike">
                        <a:effectLst/>
                        <a:latin typeface="Calibri" panose="020F0502020204030204" pitchFamily="34" charset="0"/>
                      </a:endParaRPr>
                    </a:p>
                  </a:txBody>
                  <a:tcPr marL="6017" marR="6017" marT="6017" marB="0" anchor="b">
                    <a:solidFill>
                      <a:schemeClr val="accent3"/>
                    </a:solidFill>
                  </a:tcPr>
                </a:tc>
                <a:tc>
                  <a:txBody>
                    <a:bodyPr/>
                    <a:lstStyle/>
                    <a:p>
                      <a:pPr algn="l" fontAlgn="b">
                        <a:buNone/>
                      </a:pPr>
                      <a:r>
                        <a:rPr lang="en-US" altLang="ja-JP" sz="1200" u="none" strike="noStrike">
                          <a:effectLst/>
                        </a:rPr>
                        <a:t>6/1/2026</a:t>
                      </a:r>
                      <a:endParaRPr lang="en-US" altLang="ja-JP" sz="1200" b="0" i="0" u="none" strike="noStrike">
                        <a:effectLst/>
                        <a:latin typeface="Calibri" panose="020F0502020204030204" pitchFamily="34" charset="0"/>
                      </a:endParaRPr>
                    </a:p>
                  </a:txBody>
                  <a:tcPr marL="6017" marR="6017" marT="6017" marB="0" anchor="b">
                    <a:solidFill>
                      <a:schemeClr val="accent3"/>
                    </a:solidFill>
                  </a:tcPr>
                </a:tc>
                <a:tc>
                  <a:txBody>
                    <a:bodyPr/>
                    <a:lstStyle/>
                    <a:p>
                      <a:pPr algn="l" fontAlgn="b">
                        <a:buNone/>
                      </a:pPr>
                      <a:r>
                        <a:rPr lang="en-US" altLang="ja-JP" sz="1200" u="none" strike="noStrike">
                          <a:effectLst/>
                        </a:rPr>
                        <a:t>6/1/2026</a:t>
                      </a:r>
                      <a:endParaRPr lang="en-US" altLang="ja-JP" sz="1200" b="0" i="0" u="none" strike="noStrike">
                        <a:effectLst/>
                        <a:latin typeface="Calibri" panose="020F0502020204030204" pitchFamily="34" charset="0"/>
                      </a:endParaRPr>
                    </a:p>
                  </a:txBody>
                  <a:tcPr marL="6017" marR="6017" marT="6017" marB="0" anchor="b">
                    <a:solidFill>
                      <a:schemeClr val="accent3"/>
                    </a:solidFill>
                  </a:tcPr>
                </a:tc>
                <a:tc>
                  <a:txBody>
                    <a:bodyPr/>
                    <a:lstStyle/>
                    <a:p>
                      <a:pPr algn="l" fontAlgn="b">
                        <a:buNone/>
                      </a:pPr>
                      <a:r>
                        <a:rPr lang="en-US" altLang="ja-JP" sz="1200" u="none" strike="noStrike">
                          <a:effectLst/>
                        </a:rPr>
                        <a:t>1 </a:t>
                      </a:r>
                      <a:r>
                        <a:rPr lang="ja-JP" altLang="en-US" sz="1200" u="none" strike="noStrike">
                          <a:effectLst/>
                        </a:rPr>
                        <a:t>日</a:t>
                      </a:r>
                      <a:endParaRPr lang="ja-JP" altLang="en-US" sz="1200" b="0" i="0" u="none" strike="noStrike">
                        <a:effectLst/>
                        <a:latin typeface="Calibri" panose="020F0502020204030204" pitchFamily="34" charset="0"/>
                      </a:endParaRPr>
                    </a:p>
                  </a:txBody>
                  <a:tcPr marL="6017" marR="6017" marT="6017" marB="0" anchor="b">
                    <a:solidFill>
                      <a:schemeClr val="accent3"/>
                    </a:solidFill>
                  </a:tcPr>
                </a:tc>
                <a:extLst>
                  <a:ext uri="{0D108BD9-81ED-4DB2-BD59-A6C34878D82A}">
                    <a16:rowId xmlns:a16="http://schemas.microsoft.com/office/drawing/2014/main" val="3194442513"/>
                  </a:ext>
                </a:extLst>
              </a:tr>
              <a:tr h="174503">
                <a:tc>
                  <a:txBody>
                    <a:bodyPr/>
                    <a:lstStyle/>
                    <a:p>
                      <a:pPr algn="l" fontAlgn="b">
                        <a:buNone/>
                      </a:pPr>
                      <a:r>
                        <a:rPr lang="en-US" sz="1200" u="none" strike="noStrike">
                          <a:effectLst/>
                        </a:rPr>
                        <a:t>D1 preparation (JP and CN team)</a:t>
                      </a:r>
                      <a:endParaRPr lang="en-US" sz="1200" b="0" i="0" u="none" strike="noStrike">
                        <a:effectLst/>
                        <a:latin typeface="Calibri" panose="020F0502020204030204" pitchFamily="34" charset="0"/>
                      </a:endParaRPr>
                    </a:p>
                  </a:txBody>
                  <a:tcPr marL="6017" marR="6017" marT="6017" marB="0" anchor="b">
                    <a:solidFill>
                      <a:schemeClr val="accent3"/>
                    </a:solidFill>
                  </a:tcPr>
                </a:tc>
                <a:tc>
                  <a:txBody>
                    <a:bodyPr/>
                    <a:lstStyle/>
                    <a:p>
                      <a:pPr algn="l" fontAlgn="b">
                        <a:buNone/>
                      </a:pPr>
                      <a:r>
                        <a:rPr lang="en-US" altLang="ja-JP" sz="1200" u="none" strike="noStrike">
                          <a:effectLst/>
                        </a:rPr>
                        <a:t>6/2/2026</a:t>
                      </a:r>
                      <a:endParaRPr lang="en-US" altLang="ja-JP" sz="1200" b="0" i="0" u="none" strike="noStrike">
                        <a:effectLst/>
                        <a:latin typeface="Calibri" panose="020F0502020204030204" pitchFamily="34" charset="0"/>
                      </a:endParaRPr>
                    </a:p>
                  </a:txBody>
                  <a:tcPr marL="6017" marR="6017" marT="6017" marB="0" anchor="b">
                    <a:solidFill>
                      <a:schemeClr val="accent3"/>
                    </a:solidFill>
                  </a:tcPr>
                </a:tc>
                <a:tc>
                  <a:txBody>
                    <a:bodyPr/>
                    <a:lstStyle/>
                    <a:p>
                      <a:pPr algn="l" fontAlgn="b">
                        <a:buNone/>
                      </a:pPr>
                      <a:r>
                        <a:rPr lang="en-US" altLang="ja-JP" sz="1200" u="none" strike="noStrike">
                          <a:effectLst/>
                        </a:rPr>
                        <a:t>6/26/2026</a:t>
                      </a:r>
                      <a:endParaRPr lang="en-US" altLang="ja-JP" sz="1200" b="0" i="0" u="none" strike="noStrike">
                        <a:effectLst/>
                        <a:latin typeface="Calibri" panose="020F0502020204030204" pitchFamily="34" charset="0"/>
                      </a:endParaRPr>
                    </a:p>
                  </a:txBody>
                  <a:tcPr marL="6017" marR="6017" marT="6017" marB="0" anchor="b">
                    <a:solidFill>
                      <a:schemeClr val="accent3"/>
                    </a:solidFill>
                  </a:tcPr>
                </a:tc>
                <a:tc>
                  <a:txBody>
                    <a:bodyPr/>
                    <a:lstStyle/>
                    <a:p>
                      <a:pPr algn="l" fontAlgn="b">
                        <a:buNone/>
                      </a:pPr>
                      <a:r>
                        <a:rPr lang="en-US" altLang="ja-JP" sz="1200" u="none" strike="noStrike">
                          <a:effectLst/>
                        </a:rPr>
                        <a:t>19 </a:t>
                      </a:r>
                      <a:r>
                        <a:rPr lang="ja-JP" altLang="en-US" sz="1200" u="none" strike="noStrike">
                          <a:effectLst/>
                        </a:rPr>
                        <a:t>日</a:t>
                      </a:r>
                      <a:endParaRPr lang="ja-JP" altLang="en-US" sz="1200" b="0" i="0" u="none" strike="noStrike">
                        <a:effectLst/>
                        <a:latin typeface="Calibri" panose="020F0502020204030204" pitchFamily="34" charset="0"/>
                      </a:endParaRPr>
                    </a:p>
                  </a:txBody>
                  <a:tcPr marL="6017" marR="6017" marT="6017" marB="0" anchor="b">
                    <a:solidFill>
                      <a:schemeClr val="accent3"/>
                    </a:solidFill>
                  </a:tcPr>
                </a:tc>
                <a:extLst>
                  <a:ext uri="{0D108BD9-81ED-4DB2-BD59-A6C34878D82A}">
                    <a16:rowId xmlns:a16="http://schemas.microsoft.com/office/drawing/2014/main" val="3957764580"/>
                  </a:ext>
                </a:extLst>
              </a:tr>
              <a:tr h="174503">
                <a:tc>
                  <a:txBody>
                    <a:bodyPr/>
                    <a:lstStyle/>
                    <a:p>
                      <a:pPr algn="l" fontAlgn="b">
                        <a:buNone/>
                      </a:pPr>
                      <a:r>
                        <a:rPr lang="en-US" sz="1200" u="none" strike="noStrike">
                          <a:effectLst/>
                        </a:rPr>
                        <a:t>D1 Review (JP and CN team)</a:t>
                      </a:r>
                      <a:endParaRPr lang="en-US" sz="1200" b="0" i="0" u="none" strike="noStrike">
                        <a:effectLst/>
                        <a:latin typeface="Calibri" panose="020F0502020204030204" pitchFamily="34" charset="0"/>
                      </a:endParaRPr>
                    </a:p>
                  </a:txBody>
                  <a:tcPr marL="6017" marR="6017" marT="6017" marB="0" anchor="b">
                    <a:solidFill>
                      <a:schemeClr val="accent3"/>
                    </a:solidFill>
                  </a:tcPr>
                </a:tc>
                <a:tc>
                  <a:txBody>
                    <a:bodyPr/>
                    <a:lstStyle/>
                    <a:p>
                      <a:pPr algn="l" fontAlgn="b">
                        <a:buNone/>
                      </a:pPr>
                      <a:r>
                        <a:rPr lang="en-US" altLang="ja-JP" sz="1200" u="none" strike="noStrike">
                          <a:effectLst/>
                        </a:rPr>
                        <a:t>6/29/2026</a:t>
                      </a:r>
                      <a:endParaRPr lang="en-US" altLang="ja-JP" sz="1200" b="0" i="0" u="none" strike="noStrike">
                        <a:effectLst/>
                        <a:latin typeface="Calibri" panose="020F0502020204030204" pitchFamily="34" charset="0"/>
                      </a:endParaRPr>
                    </a:p>
                  </a:txBody>
                  <a:tcPr marL="6017" marR="6017" marT="6017" marB="0" anchor="b">
                    <a:solidFill>
                      <a:schemeClr val="accent3"/>
                    </a:solidFill>
                  </a:tcPr>
                </a:tc>
                <a:tc>
                  <a:txBody>
                    <a:bodyPr/>
                    <a:lstStyle/>
                    <a:p>
                      <a:pPr algn="l" fontAlgn="b">
                        <a:buNone/>
                      </a:pPr>
                      <a:r>
                        <a:rPr lang="en-US" altLang="ja-JP" sz="1200" u="none" strike="noStrike">
                          <a:effectLst/>
                        </a:rPr>
                        <a:t>7/6/2026</a:t>
                      </a:r>
                      <a:endParaRPr lang="en-US" altLang="ja-JP" sz="1200" b="0" i="0" u="none" strike="noStrike">
                        <a:effectLst/>
                        <a:latin typeface="Calibri" panose="020F0502020204030204" pitchFamily="34" charset="0"/>
                      </a:endParaRPr>
                    </a:p>
                  </a:txBody>
                  <a:tcPr marL="6017" marR="6017" marT="6017" marB="0" anchor="b">
                    <a:solidFill>
                      <a:schemeClr val="accent3"/>
                    </a:solidFill>
                  </a:tcPr>
                </a:tc>
                <a:tc>
                  <a:txBody>
                    <a:bodyPr/>
                    <a:lstStyle/>
                    <a:p>
                      <a:pPr algn="l" fontAlgn="b">
                        <a:buNone/>
                      </a:pPr>
                      <a:r>
                        <a:rPr lang="en-US" altLang="ja-JP" sz="1200" u="none" strike="noStrike">
                          <a:effectLst/>
                        </a:rPr>
                        <a:t>6 </a:t>
                      </a:r>
                      <a:r>
                        <a:rPr lang="ja-JP" altLang="en-US" sz="1200" u="none" strike="noStrike">
                          <a:effectLst/>
                        </a:rPr>
                        <a:t>日</a:t>
                      </a:r>
                      <a:endParaRPr lang="ja-JP" altLang="en-US" sz="1200" b="0" i="0" u="none" strike="noStrike">
                        <a:effectLst/>
                        <a:latin typeface="Calibri" panose="020F0502020204030204" pitchFamily="34" charset="0"/>
                      </a:endParaRPr>
                    </a:p>
                  </a:txBody>
                  <a:tcPr marL="6017" marR="6017" marT="6017" marB="0" anchor="b">
                    <a:solidFill>
                      <a:schemeClr val="accent3"/>
                    </a:solidFill>
                  </a:tcPr>
                </a:tc>
                <a:extLst>
                  <a:ext uri="{0D108BD9-81ED-4DB2-BD59-A6C34878D82A}">
                    <a16:rowId xmlns:a16="http://schemas.microsoft.com/office/drawing/2014/main" val="3371995698"/>
                  </a:ext>
                </a:extLst>
              </a:tr>
              <a:tr h="94449">
                <a:tc>
                  <a:txBody>
                    <a:bodyPr/>
                    <a:lstStyle/>
                    <a:p>
                      <a:pPr marL="0" algn="l" defTabSz="914400" rtl="0" eaLnBrk="1" fontAlgn="b" latinLnBrk="0" hangingPunct="1">
                        <a:buNone/>
                      </a:pPr>
                      <a:r>
                        <a:rPr lang="en-US" sz="1200" u="none" strike="noStrike" kern="1200" dirty="0">
                          <a:solidFill>
                            <a:schemeClr val="dk1"/>
                          </a:solidFill>
                          <a:effectLst/>
                          <a:latin typeface="+mn-lt"/>
                          <a:ea typeface="+mn-ea"/>
                          <a:cs typeface="+mn-cs"/>
                        </a:rPr>
                        <a:t>★DG1 </a:t>
                      </a:r>
                      <a:r>
                        <a:rPr lang="en-US" sz="1200" u="none" strike="noStrike" kern="1200" dirty="0" err="1">
                          <a:solidFill>
                            <a:schemeClr val="dk1"/>
                          </a:solidFill>
                          <a:effectLst/>
                          <a:latin typeface="+mn-lt"/>
                          <a:ea typeface="+mn-ea"/>
                          <a:cs typeface="+mn-cs"/>
                        </a:rPr>
                        <a:t>DEC（</a:t>
                      </a:r>
                      <a:r>
                        <a:rPr lang="en-US" altLang="zh-CN" sz="1200" u="none" strike="noStrike" kern="1200" dirty="0" err="1">
                          <a:solidFill>
                            <a:schemeClr val="dk1"/>
                          </a:solidFill>
                          <a:effectLst/>
                          <a:latin typeface="+mn-lt"/>
                          <a:ea typeface="+mn-ea"/>
                          <a:cs typeface="+mn-cs"/>
                        </a:rPr>
                        <a:t>Jul</a:t>
                      </a:r>
                      <a:r>
                        <a:rPr lang="en-US" altLang="zh-CN" sz="1200" u="none" strike="noStrike" kern="1200" dirty="0">
                          <a:solidFill>
                            <a:schemeClr val="dk1"/>
                          </a:solidFill>
                          <a:effectLst/>
                          <a:latin typeface="+mn-lt"/>
                          <a:ea typeface="+mn-ea"/>
                          <a:cs typeface="+mn-cs"/>
                        </a:rPr>
                        <a:t> 6</a:t>
                      </a:r>
                      <a:r>
                        <a:rPr lang="en-US" sz="1200" u="none" strike="noStrike" kern="1200" dirty="0">
                          <a:solidFill>
                            <a:schemeClr val="dk1"/>
                          </a:solidFill>
                          <a:effectLst/>
                          <a:latin typeface="+mn-lt"/>
                          <a:ea typeface="+mn-ea"/>
                          <a:cs typeface="+mn-cs"/>
                        </a:rPr>
                        <a:t>）</a:t>
                      </a:r>
                    </a:p>
                  </a:txBody>
                  <a:tcPr marL="6017" marR="6017" marT="6017" marB="0" anchor="b">
                    <a:solidFill>
                      <a:srgbClr val="EFEEEB"/>
                    </a:solidFill>
                  </a:tcPr>
                </a:tc>
                <a:tc>
                  <a:txBody>
                    <a:bodyPr/>
                    <a:lstStyle/>
                    <a:p>
                      <a:pPr marL="0" algn="l" defTabSz="914400" rtl="0" eaLnBrk="1" fontAlgn="b" latinLnBrk="0" hangingPunct="1">
                        <a:buNone/>
                      </a:pPr>
                      <a:r>
                        <a:rPr lang="en-US" altLang="ja-JP" sz="1200" u="none" strike="noStrike" kern="1200" dirty="0">
                          <a:solidFill>
                            <a:schemeClr val="dk1"/>
                          </a:solidFill>
                          <a:effectLst/>
                          <a:latin typeface="+mn-lt"/>
                          <a:ea typeface="+mn-ea"/>
                          <a:cs typeface="+mn-cs"/>
                        </a:rPr>
                        <a:t>7/6/2027</a:t>
                      </a:r>
                    </a:p>
                  </a:txBody>
                  <a:tcPr marL="6017" marR="6017" marT="6017" marB="0" anchor="b">
                    <a:solidFill>
                      <a:srgbClr val="EFEEEB"/>
                    </a:solidFill>
                  </a:tcPr>
                </a:tc>
                <a:tc>
                  <a:txBody>
                    <a:bodyPr/>
                    <a:lstStyle/>
                    <a:p>
                      <a:pPr marL="0" algn="l" defTabSz="914400" rtl="0" eaLnBrk="1" fontAlgn="b" latinLnBrk="0" hangingPunct="1">
                        <a:buNone/>
                      </a:pPr>
                      <a:r>
                        <a:rPr lang="en-US" altLang="ja-JP" sz="1200" u="none" strike="noStrike" kern="1200" dirty="0">
                          <a:solidFill>
                            <a:schemeClr val="dk1"/>
                          </a:solidFill>
                          <a:effectLst/>
                          <a:latin typeface="+mn-lt"/>
                          <a:ea typeface="+mn-ea"/>
                          <a:cs typeface="+mn-cs"/>
                        </a:rPr>
                        <a:t>7/6/2027</a:t>
                      </a:r>
                    </a:p>
                  </a:txBody>
                  <a:tcPr marL="6017" marR="6017" marT="6017" marB="0" anchor="b">
                    <a:solidFill>
                      <a:srgbClr val="EFEEEB"/>
                    </a:solidFill>
                  </a:tcPr>
                </a:tc>
                <a:tc>
                  <a:txBody>
                    <a:bodyPr/>
                    <a:lstStyle/>
                    <a:p>
                      <a:pPr marL="0" algn="l" defTabSz="914400" rtl="0" eaLnBrk="1" fontAlgn="b" latinLnBrk="0" hangingPunct="1">
                        <a:buNone/>
                      </a:pPr>
                      <a:r>
                        <a:rPr lang="en-US" altLang="ja-JP" sz="1200" u="none" strike="noStrike" kern="1200" dirty="0">
                          <a:solidFill>
                            <a:schemeClr val="dk1"/>
                          </a:solidFill>
                          <a:effectLst/>
                          <a:latin typeface="+mn-lt"/>
                          <a:ea typeface="+mn-ea"/>
                          <a:cs typeface="+mn-cs"/>
                        </a:rPr>
                        <a:t>1 </a:t>
                      </a:r>
                      <a:r>
                        <a:rPr lang="ja-JP" altLang="en-US" sz="1200" u="none" strike="noStrike" kern="1200" dirty="0">
                          <a:solidFill>
                            <a:schemeClr val="dk1"/>
                          </a:solidFill>
                          <a:effectLst/>
                          <a:latin typeface="+mn-lt"/>
                          <a:ea typeface="+mn-ea"/>
                          <a:cs typeface="+mn-cs"/>
                        </a:rPr>
                        <a:t>日</a:t>
                      </a:r>
                    </a:p>
                  </a:txBody>
                  <a:tcPr marL="6017" marR="6017" marT="6017" marB="0" anchor="b">
                    <a:solidFill>
                      <a:srgbClr val="EFEEEB"/>
                    </a:solidFill>
                  </a:tcPr>
                </a:tc>
                <a:extLst>
                  <a:ext uri="{0D108BD9-81ED-4DB2-BD59-A6C34878D82A}">
                    <a16:rowId xmlns:a16="http://schemas.microsoft.com/office/drawing/2014/main" val="4200872393"/>
                  </a:ext>
                </a:extLst>
              </a:tr>
              <a:tr h="0">
                <a:tc>
                  <a:txBody>
                    <a:bodyPr/>
                    <a:lstStyle/>
                    <a:p>
                      <a:pPr algn="l" fontAlgn="b">
                        <a:buNone/>
                      </a:pPr>
                      <a:r>
                        <a:rPr lang="en-US" sz="1200" u="none" strike="noStrike" dirty="0">
                          <a:effectLst/>
                        </a:rPr>
                        <a:t>D2 Preparation</a:t>
                      </a:r>
                      <a:endParaRPr lang="en-US" sz="1200" b="0" i="0" u="none" strike="noStrike" dirty="0">
                        <a:effectLst/>
                        <a:latin typeface="Calibri" panose="020F0502020204030204" pitchFamily="34" charset="0"/>
                      </a:endParaRPr>
                    </a:p>
                  </a:txBody>
                  <a:tcPr marL="6017" marR="6017" marT="6017" marB="0" anchor="b">
                    <a:solidFill>
                      <a:schemeClr val="accent3"/>
                    </a:solidFill>
                  </a:tcPr>
                </a:tc>
                <a:tc>
                  <a:txBody>
                    <a:bodyPr/>
                    <a:lstStyle/>
                    <a:p>
                      <a:pPr algn="l" fontAlgn="b">
                        <a:buNone/>
                      </a:pPr>
                      <a:r>
                        <a:rPr lang="en-US" altLang="ja-JP" sz="1200" u="none" strike="noStrike" dirty="0">
                          <a:effectLst/>
                        </a:rPr>
                        <a:t>7/7/2026</a:t>
                      </a:r>
                      <a:endParaRPr lang="en-US" altLang="ja-JP" sz="1200" b="0" i="0" u="none" strike="noStrike" dirty="0">
                        <a:effectLst/>
                        <a:latin typeface="Calibri" panose="020F0502020204030204" pitchFamily="34" charset="0"/>
                      </a:endParaRPr>
                    </a:p>
                  </a:txBody>
                  <a:tcPr marL="6017" marR="6017" marT="6017" marB="0" anchor="b">
                    <a:solidFill>
                      <a:schemeClr val="accent3"/>
                    </a:solidFill>
                  </a:tcPr>
                </a:tc>
                <a:tc>
                  <a:txBody>
                    <a:bodyPr/>
                    <a:lstStyle/>
                    <a:p>
                      <a:pPr algn="l" fontAlgn="b">
                        <a:buNone/>
                      </a:pPr>
                      <a:r>
                        <a:rPr lang="en-US" altLang="ja-JP" sz="1200" u="none" strike="noStrike" dirty="0">
                          <a:effectLst/>
                        </a:rPr>
                        <a:t>7/20/2026</a:t>
                      </a:r>
                      <a:endParaRPr lang="en-US" altLang="ja-JP" sz="1200" b="0" i="0" u="none" strike="noStrike" dirty="0">
                        <a:effectLst/>
                        <a:latin typeface="Calibri" panose="020F0502020204030204" pitchFamily="34" charset="0"/>
                      </a:endParaRPr>
                    </a:p>
                  </a:txBody>
                  <a:tcPr marL="6017" marR="6017" marT="6017" marB="0" anchor="b">
                    <a:solidFill>
                      <a:schemeClr val="accent3"/>
                    </a:solidFill>
                  </a:tcPr>
                </a:tc>
                <a:tc>
                  <a:txBody>
                    <a:bodyPr/>
                    <a:lstStyle/>
                    <a:p>
                      <a:pPr algn="l" fontAlgn="b">
                        <a:buNone/>
                      </a:pPr>
                      <a:r>
                        <a:rPr lang="en-US" altLang="ja-JP" sz="1200" u="none" strike="noStrike" dirty="0">
                          <a:effectLst/>
                        </a:rPr>
                        <a:t>10 </a:t>
                      </a:r>
                      <a:r>
                        <a:rPr lang="ja-JP" altLang="en-US" sz="1200" u="none" strike="noStrike" dirty="0">
                          <a:effectLst/>
                        </a:rPr>
                        <a:t>日</a:t>
                      </a:r>
                      <a:endParaRPr lang="ja-JP" altLang="en-US" sz="1200" b="0" i="0" u="none" strike="noStrike" dirty="0">
                        <a:effectLst/>
                        <a:latin typeface="Calibri" panose="020F0502020204030204" pitchFamily="34" charset="0"/>
                      </a:endParaRPr>
                    </a:p>
                  </a:txBody>
                  <a:tcPr marL="6017" marR="6017" marT="6017" marB="0" anchor="b">
                    <a:solidFill>
                      <a:schemeClr val="accent3"/>
                    </a:solidFill>
                  </a:tcPr>
                </a:tc>
                <a:extLst>
                  <a:ext uri="{0D108BD9-81ED-4DB2-BD59-A6C34878D82A}">
                    <a16:rowId xmlns:a16="http://schemas.microsoft.com/office/drawing/2014/main" val="125679494"/>
                  </a:ext>
                </a:extLst>
              </a:tr>
              <a:tr h="174503">
                <a:tc>
                  <a:txBody>
                    <a:bodyPr/>
                    <a:lstStyle/>
                    <a:p>
                      <a:pPr algn="l" fontAlgn="b">
                        <a:buNone/>
                      </a:pPr>
                      <a:r>
                        <a:rPr lang="en-US" sz="1200" u="none" strike="noStrike">
                          <a:effectLst/>
                        </a:rPr>
                        <a:t>D2 Review (w/global)</a:t>
                      </a:r>
                      <a:endParaRPr lang="en-US" sz="1200" b="0" i="0" u="none" strike="noStrike">
                        <a:effectLst/>
                        <a:latin typeface="Calibri" panose="020F0502020204030204" pitchFamily="34" charset="0"/>
                      </a:endParaRPr>
                    </a:p>
                  </a:txBody>
                  <a:tcPr marL="6017" marR="6017" marT="6017" marB="0" anchor="b">
                    <a:solidFill>
                      <a:schemeClr val="accent3"/>
                    </a:solidFill>
                  </a:tcPr>
                </a:tc>
                <a:tc>
                  <a:txBody>
                    <a:bodyPr/>
                    <a:lstStyle/>
                    <a:p>
                      <a:pPr algn="l" fontAlgn="b">
                        <a:buNone/>
                      </a:pPr>
                      <a:r>
                        <a:rPr lang="en-US" altLang="ja-JP" sz="1200" u="none" strike="noStrike">
                          <a:effectLst/>
                        </a:rPr>
                        <a:t>7/21/2026</a:t>
                      </a:r>
                      <a:endParaRPr lang="en-US" altLang="ja-JP" sz="1200" b="0" i="0" u="none" strike="noStrike">
                        <a:effectLst/>
                        <a:latin typeface="Calibri" panose="020F0502020204030204" pitchFamily="34" charset="0"/>
                      </a:endParaRPr>
                    </a:p>
                  </a:txBody>
                  <a:tcPr marL="6017" marR="6017" marT="6017" marB="0" anchor="b">
                    <a:solidFill>
                      <a:schemeClr val="accent3"/>
                    </a:solidFill>
                  </a:tcPr>
                </a:tc>
                <a:tc>
                  <a:txBody>
                    <a:bodyPr/>
                    <a:lstStyle/>
                    <a:p>
                      <a:pPr algn="l" fontAlgn="b">
                        <a:buNone/>
                      </a:pPr>
                      <a:r>
                        <a:rPr lang="en-US" altLang="ja-JP" sz="1200" u="none" strike="noStrike">
                          <a:effectLst/>
                        </a:rPr>
                        <a:t>7/27/2026</a:t>
                      </a:r>
                      <a:endParaRPr lang="en-US" altLang="ja-JP" sz="1200" b="0" i="0" u="none" strike="noStrike">
                        <a:effectLst/>
                        <a:latin typeface="Calibri" panose="020F0502020204030204" pitchFamily="34" charset="0"/>
                      </a:endParaRPr>
                    </a:p>
                  </a:txBody>
                  <a:tcPr marL="6017" marR="6017" marT="6017" marB="0" anchor="b">
                    <a:solidFill>
                      <a:schemeClr val="accent3"/>
                    </a:solidFill>
                  </a:tcPr>
                </a:tc>
                <a:tc>
                  <a:txBody>
                    <a:bodyPr/>
                    <a:lstStyle/>
                    <a:p>
                      <a:pPr algn="l" fontAlgn="b">
                        <a:buNone/>
                      </a:pPr>
                      <a:r>
                        <a:rPr lang="en-US" altLang="ja-JP" sz="1200" u="none" strike="noStrike" dirty="0">
                          <a:effectLst/>
                        </a:rPr>
                        <a:t>5 </a:t>
                      </a:r>
                      <a:r>
                        <a:rPr lang="ja-JP" altLang="en-US" sz="1200" u="none" strike="noStrike" dirty="0">
                          <a:effectLst/>
                        </a:rPr>
                        <a:t>日</a:t>
                      </a:r>
                      <a:endParaRPr lang="ja-JP" altLang="en-US" sz="1200" b="0" i="0" u="none" strike="noStrike" dirty="0">
                        <a:effectLst/>
                        <a:latin typeface="Calibri" panose="020F0502020204030204" pitchFamily="34" charset="0"/>
                      </a:endParaRPr>
                    </a:p>
                  </a:txBody>
                  <a:tcPr marL="6017" marR="6017" marT="6017" marB="0" anchor="b">
                    <a:solidFill>
                      <a:schemeClr val="accent3"/>
                    </a:solidFill>
                  </a:tcPr>
                </a:tc>
                <a:extLst>
                  <a:ext uri="{0D108BD9-81ED-4DB2-BD59-A6C34878D82A}">
                    <a16:rowId xmlns:a16="http://schemas.microsoft.com/office/drawing/2014/main" val="140489166"/>
                  </a:ext>
                </a:extLst>
              </a:tr>
              <a:tr h="174503">
                <a:tc>
                  <a:txBody>
                    <a:bodyPr/>
                    <a:lstStyle/>
                    <a:p>
                      <a:pPr algn="l" fontAlgn="b">
                        <a:buNone/>
                      </a:pPr>
                      <a:r>
                        <a:rPr lang="en-US" sz="1200" u="none" strike="noStrike">
                          <a:effectLst/>
                        </a:rPr>
                        <a:t>D3 Preparation</a:t>
                      </a:r>
                      <a:endParaRPr lang="en-US" sz="1200" b="0" i="0" u="none" strike="noStrike">
                        <a:effectLst/>
                        <a:latin typeface="Calibri" panose="020F0502020204030204" pitchFamily="34" charset="0"/>
                      </a:endParaRPr>
                    </a:p>
                  </a:txBody>
                  <a:tcPr marL="6017" marR="6017" marT="6017" marB="0" anchor="b">
                    <a:solidFill>
                      <a:schemeClr val="accent3"/>
                    </a:solidFill>
                  </a:tcPr>
                </a:tc>
                <a:tc>
                  <a:txBody>
                    <a:bodyPr/>
                    <a:lstStyle/>
                    <a:p>
                      <a:pPr algn="l" fontAlgn="b">
                        <a:buNone/>
                      </a:pPr>
                      <a:r>
                        <a:rPr lang="en-US" altLang="ja-JP" sz="1200" u="none" strike="noStrike">
                          <a:effectLst/>
                        </a:rPr>
                        <a:t>7/28/2026</a:t>
                      </a:r>
                      <a:endParaRPr lang="en-US" altLang="ja-JP" sz="1200" b="0" i="0" u="none" strike="noStrike">
                        <a:effectLst/>
                        <a:latin typeface="Calibri" panose="020F0502020204030204" pitchFamily="34" charset="0"/>
                      </a:endParaRPr>
                    </a:p>
                  </a:txBody>
                  <a:tcPr marL="6017" marR="6017" marT="6017" marB="0" anchor="b">
                    <a:solidFill>
                      <a:schemeClr val="accent3"/>
                    </a:solidFill>
                  </a:tcPr>
                </a:tc>
                <a:tc>
                  <a:txBody>
                    <a:bodyPr/>
                    <a:lstStyle/>
                    <a:p>
                      <a:pPr algn="l" fontAlgn="b">
                        <a:buNone/>
                      </a:pPr>
                      <a:r>
                        <a:rPr lang="en-US" altLang="ja-JP" sz="1200" u="none" strike="noStrike" dirty="0">
                          <a:effectLst/>
                        </a:rPr>
                        <a:t>8/3/2026</a:t>
                      </a:r>
                      <a:endParaRPr lang="en-US" altLang="ja-JP" sz="1200" b="0" i="0" u="none" strike="noStrike" dirty="0">
                        <a:effectLst/>
                        <a:latin typeface="Calibri" panose="020F0502020204030204" pitchFamily="34" charset="0"/>
                      </a:endParaRPr>
                    </a:p>
                  </a:txBody>
                  <a:tcPr marL="6017" marR="6017" marT="6017" marB="0" anchor="b">
                    <a:solidFill>
                      <a:schemeClr val="accent3"/>
                    </a:solidFill>
                  </a:tcPr>
                </a:tc>
                <a:tc>
                  <a:txBody>
                    <a:bodyPr/>
                    <a:lstStyle/>
                    <a:p>
                      <a:pPr algn="l" fontAlgn="b">
                        <a:buNone/>
                      </a:pPr>
                      <a:r>
                        <a:rPr lang="en-US" altLang="ja-JP" sz="1200" u="none" strike="noStrike">
                          <a:effectLst/>
                        </a:rPr>
                        <a:t>5 </a:t>
                      </a:r>
                      <a:r>
                        <a:rPr lang="ja-JP" altLang="en-US" sz="1200" u="none" strike="noStrike">
                          <a:effectLst/>
                        </a:rPr>
                        <a:t>日</a:t>
                      </a:r>
                      <a:endParaRPr lang="ja-JP" altLang="en-US" sz="1200" b="0" i="0" u="none" strike="noStrike">
                        <a:effectLst/>
                        <a:latin typeface="Calibri" panose="020F0502020204030204" pitchFamily="34" charset="0"/>
                      </a:endParaRPr>
                    </a:p>
                  </a:txBody>
                  <a:tcPr marL="6017" marR="6017" marT="6017" marB="0" anchor="b">
                    <a:solidFill>
                      <a:schemeClr val="accent3"/>
                    </a:solidFill>
                  </a:tcPr>
                </a:tc>
                <a:extLst>
                  <a:ext uri="{0D108BD9-81ED-4DB2-BD59-A6C34878D82A}">
                    <a16:rowId xmlns:a16="http://schemas.microsoft.com/office/drawing/2014/main" val="4220340496"/>
                  </a:ext>
                </a:extLst>
              </a:tr>
              <a:tr h="92841">
                <a:tc>
                  <a:txBody>
                    <a:bodyPr/>
                    <a:lstStyle/>
                    <a:p>
                      <a:pPr algn="l" fontAlgn="b">
                        <a:buNone/>
                      </a:pPr>
                      <a:r>
                        <a:rPr lang="en-US" sz="1200" u="none" strike="noStrike" kern="1200">
                          <a:solidFill>
                            <a:schemeClr val="dk1"/>
                          </a:solidFill>
                          <a:effectLst/>
                          <a:latin typeface="+mn-lt"/>
                          <a:ea typeface="+mn-ea"/>
                          <a:cs typeface="+mn-cs"/>
                        </a:rPr>
                        <a:t>Ph1 TDO</a:t>
                      </a:r>
                    </a:p>
                  </a:txBody>
                  <a:tcPr marL="6017" marR="6017" marT="6017" marB="0" anchor="b">
                    <a:solidFill>
                      <a:schemeClr val="bg1">
                        <a:lumMod val="85000"/>
                      </a:schemeClr>
                    </a:solidFill>
                  </a:tcPr>
                </a:tc>
                <a:tc>
                  <a:txBody>
                    <a:bodyPr/>
                    <a:lstStyle/>
                    <a:p>
                      <a:pPr marL="0" algn="l" defTabSz="914400" rtl="0" eaLnBrk="1" fontAlgn="b" latinLnBrk="0" hangingPunct="1">
                        <a:buNone/>
                      </a:pPr>
                      <a:r>
                        <a:rPr lang="en-US" altLang="ja-JP" sz="1200" u="none" strike="noStrike" kern="1200" dirty="0">
                          <a:solidFill>
                            <a:schemeClr val="dk1"/>
                          </a:solidFill>
                          <a:effectLst/>
                          <a:latin typeface="+mn-lt"/>
                          <a:ea typeface="+mn-ea"/>
                          <a:cs typeface="+mn-cs"/>
                        </a:rPr>
                        <a:t>4/1/2026</a:t>
                      </a:r>
                    </a:p>
                  </a:txBody>
                  <a:tcPr marL="6017" marR="6017" marT="6017" marB="0" anchor="b">
                    <a:solidFill>
                      <a:schemeClr val="bg1">
                        <a:lumMod val="85000"/>
                      </a:schemeClr>
                    </a:solidFill>
                  </a:tcPr>
                </a:tc>
                <a:tc>
                  <a:txBody>
                    <a:bodyPr/>
                    <a:lstStyle/>
                    <a:p>
                      <a:pPr marL="0" algn="l" defTabSz="914400" rtl="0" eaLnBrk="1" fontAlgn="b" latinLnBrk="0" hangingPunct="1">
                        <a:buNone/>
                      </a:pPr>
                      <a:r>
                        <a:rPr lang="en-US" altLang="ja-JP" sz="1200" u="none" strike="noStrike" kern="1200" dirty="0">
                          <a:solidFill>
                            <a:schemeClr val="dk1"/>
                          </a:solidFill>
                          <a:effectLst/>
                          <a:latin typeface="+mn-lt"/>
                          <a:ea typeface="+mn-ea"/>
                          <a:cs typeface="+mn-cs"/>
                        </a:rPr>
                        <a:t>8/1/2026</a:t>
                      </a:r>
                    </a:p>
                  </a:txBody>
                  <a:tcPr marL="6017" marR="6017" marT="6017" marB="0" anchor="b">
                    <a:solidFill>
                      <a:schemeClr val="bg1">
                        <a:lumMod val="85000"/>
                      </a:schemeClr>
                    </a:solidFill>
                  </a:tcPr>
                </a:tc>
                <a:tc>
                  <a:txBody>
                    <a:bodyPr/>
                    <a:lstStyle/>
                    <a:p>
                      <a:pPr algn="l" fontAlgn="b">
                        <a:buNone/>
                      </a:pPr>
                      <a:r>
                        <a:rPr lang="en-US" altLang="ja-JP" sz="1400" b="0" i="0" u="none" strike="noStrike" dirty="0">
                          <a:effectLst/>
                          <a:latin typeface="Calibri" panose="020F0502020204030204" pitchFamily="34" charset="0"/>
                        </a:rPr>
                        <a:t>4 months</a:t>
                      </a:r>
                      <a:endParaRPr lang="ja-JP" altLang="en-US" sz="1400" b="0" i="0" u="none" strike="noStrike" dirty="0">
                        <a:effectLst/>
                        <a:latin typeface="Calibri" panose="020F0502020204030204" pitchFamily="34" charset="0"/>
                      </a:endParaRPr>
                    </a:p>
                  </a:txBody>
                  <a:tcPr marL="6017" marR="6017" marT="6017" marB="0" anchor="b">
                    <a:solidFill>
                      <a:schemeClr val="bg1">
                        <a:lumMod val="85000"/>
                      </a:schemeClr>
                    </a:solidFill>
                  </a:tcPr>
                </a:tc>
                <a:extLst>
                  <a:ext uri="{0D108BD9-81ED-4DB2-BD59-A6C34878D82A}">
                    <a16:rowId xmlns:a16="http://schemas.microsoft.com/office/drawing/2014/main" val="497305099"/>
                  </a:ext>
                </a:extLst>
              </a:tr>
              <a:tr h="174503">
                <a:tc>
                  <a:txBody>
                    <a:bodyPr/>
                    <a:lstStyle/>
                    <a:p>
                      <a:pPr algn="l" fontAlgn="b">
                        <a:buNone/>
                      </a:pPr>
                      <a:r>
                        <a:rPr lang="en-US" sz="1200" u="none" strike="noStrike">
                          <a:effectLst/>
                        </a:rPr>
                        <a:t>Translation and formatting for CDE submission</a:t>
                      </a:r>
                      <a:endParaRPr lang="en-US" sz="1200" b="0" i="0" u="none" strike="noStrike">
                        <a:effectLst/>
                        <a:latin typeface="Calibri" panose="020F0502020204030204" pitchFamily="34" charset="0"/>
                      </a:endParaRPr>
                    </a:p>
                  </a:txBody>
                  <a:tcPr marL="6017" marR="6017" marT="6017" marB="0" anchor="b">
                    <a:solidFill>
                      <a:schemeClr val="accent4"/>
                    </a:solidFill>
                  </a:tcPr>
                </a:tc>
                <a:tc>
                  <a:txBody>
                    <a:bodyPr/>
                    <a:lstStyle/>
                    <a:p>
                      <a:pPr algn="l" fontAlgn="b">
                        <a:buNone/>
                      </a:pPr>
                      <a:r>
                        <a:rPr lang="en-US" altLang="ja-JP" sz="1200" u="none" strike="noStrike">
                          <a:effectLst/>
                        </a:rPr>
                        <a:t>8/4/2026</a:t>
                      </a:r>
                      <a:endParaRPr lang="en-US" altLang="ja-JP" sz="1200" b="0" i="0" u="none" strike="noStrike">
                        <a:effectLst/>
                        <a:latin typeface="Calibri" panose="020F0502020204030204" pitchFamily="34" charset="0"/>
                      </a:endParaRPr>
                    </a:p>
                  </a:txBody>
                  <a:tcPr marL="6017" marR="6017" marT="6017" marB="0" anchor="b">
                    <a:solidFill>
                      <a:schemeClr val="accent4"/>
                    </a:solidFill>
                  </a:tcPr>
                </a:tc>
                <a:tc>
                  <a:txBody>
                    <a:bodyPr/>
                    <a:lstStyle/>
                    <a:p>
                      <a:pPr algn="l" fontAlgn="b">
                        <a:buNone/>
                      </a:pPr>
                      <a:r>
                        <a:rPr lang="en-US" altLang="ja-JP" sz="1200" u="none" strike="noStrike">
                          <a:effectLst/>
                        </a:rPr>
                        <a:t>8/28/2026</a:t>
                      </a:r>
                      <a:endParaRPr lang="en-US" altLang="ja-JP" sz="1200" b="0" i="0" u="none" strike="noStrike">
                        <a:effectLst/>
                        <a:latin typeface="Calibri" panose="020F0502020204030204" pitchFamily="34" charset="0"/>
                      </a:endParaRPr>
                    </a:p>
                  </a:txBody>
                  <a:tcPr marL="6017" marR="6017" marT="6017" marB="0" anchor="b">
                    <a:solidFill>
                      <a:schemeClr val="accent4"/>
                    </a:solidFill>
                  </a:tcPr>
                </a:tc>
                <a:tc>
                  <a:txBody>
                    <a:bodyPr/>
                    <a:lstStyle/>
                    <a:p>
                      <a:pPr algn="l" fontAlgn="b">
                        <a:buNone/>
                      </a:pPr>
                      <a:r>
                        <a:rPr lang="en-US" altLang="ja-JP" sz="1200" u="none" strike="noStrike">
                          <a:effectLst/>
                        </a:rPr>
                        <a:t>19 </a:t>
                      </a:r>
                      <a:r>
                        <a:rPr lang="ja-JP" altLang="en-US" sz="1200" u="none" strike="noStrike">
                          <a:effectLst/>
                        </a:rPr>
                        <a:t>日</a:t>
                      </a:r>
                      <a:endParaRPr lang="ja-JP" altLang="en-US" sz="1200" b="0" i="0" u="none" strike="noStrike">
                        <a:effectLst/>
                        <a:latin typeface="Calibri" panose="020F0502020204030204" pitchFamily="34" charset="0"/>
                      </a:endParaRPr>
                    </a:p>
                  </a:txBody>
                  <a:tcPr marL="6017" marR="6017" marT="6017" marB="0" anchor="b">
                    <a:solidFill>
                      <a:schemeClr val="accent4"/>
                    </a:solidFill>
                  </a:tcPr>
                </a:tc>
                <a:extLst>
                  <a:ext uri="{0D108BD9-81ED-4DB2-BD59-A6C34878D82A}">
                    <a16:rowId xmlns:a16="http://schemas.microsoft.com/office/drawing/2014/main" val="2345449139"/>
                  </a:ext>
                </a:extLst>
              </a:tr>
              <a:tr h="174503">
                <a:tc>
                  <a:txBody>
                    <a:bodyPr/>
                    <a:lstStyle/>
                    <a:p>
                      <a:pPr algn="l" fontAlgn="b">
                        <a:buNone/>
                      </a:pPr>
                      <a:r>
                        <a:rPr lang="en-US" sz="1200" u="none" strike="noStrike">
                          <a:effectLst/>
                        </a:rPr>
                        <a:t>Translation and formatting for PMDA pre-mtg (pre-fix)</a:t>
                      </a:r>
                      <a:endParaRPr lang="en-US"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8/4/2026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8/28/2026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19 </a:t>
                      </a:r>
                      <a:r>
                        <a:rPr lang="ja-JP" altLang="en-US" sz="1200" u="none" strike="noStrike">
                          <a:effectLst/>
                        </a:rPr>
                        <a:t>日</a:t>
                      </a:r>
                      <a:endParaRPr lang="ja-JP" altLang="en-US" sz="1200" b="0" i="0" u="none" strike="noStrike">
                        <a:effectLst/>
                        <a:latin typeface="Calibri" panose="020F0502020204030204" pitchFamily="34" charset="0"/>
                      </a:endParaRPr>
                    </a:p>
                  </a:txBody>
                  <a:tcPr marL="6017" marR="6017" marT="6017" marB="0" anchor="b">
                    <a:solidFill>
                      <a:schemeClr val="accent5"/>
                    </a:solidFill>
                  </a:tcPr>
                </a:tc>
                <a:extLst>
                  <a:ext uri="{0D108BD9-81ED-4DB2-BD59-A6C34878D82A}">
                    <a16:rowId xmlns:a16="http://schemas.microsoft.com/office/drawing/2014/main" val="3450513662"/>
                  </a:ext>
                </a:extLst>
              </a:tr>
              <a:tr h="174503">
                <a:tc>
                  <a:txBody>
                    <a:bodyPr/>
                    <a:lstStyle/>
                    <a:p>
                      <a:pPr algn="l" fontAlgn="b">
                        <a:buNone/>
                      </a:pPr>
                      <a:r>
                        <a:rPr lang="en-US" sz="1200" u="none" strike="noStrike">
                          <a:effectLst/>
                        </a:rPr>
                        <a:t>Preparation of Pre-meeting</a:t>
                      </a:r>
                      <a:endParaRPr lang="en-US"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8/31/2026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9/10/2026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9 </a:t>
                      </a:r>
                      <a:r>
                        <a:rPr lang="ja-JP" altLang="en-US" sz="1200" u="none" strike="noStrike">
                          <a:effectLst/>
                        </a:rPr>
                        <a:t>日</a:t>
                      </a:r>
                      <a:endParaRPr lang="ja-JP" altLang="en-US" sz="1200" b="0" i="0" u="none" strike="noStrike">
                        <a:effectLst/>
                        <a:latin typeface="Calibri" panose="020F0502020204030204" pitchFamily="34" charset="0"/>
                      </a:endParaRPr>
                    </a:p>
                  </a:txBody>
                  <a:tcPr marL="6017" marR="6017" marT="6017" marB="0" anchor="b">
                    <a:solidFill>
                      <a:schemeClr val="accent5"/>
                    </a:solidFill>
                  </a:tcPr>
                </a:tc>
                <a:extLst>
                  <a:ext uri="{0D108BD9-81ED-4DB2-BD59-A6C34878D82A}">
                    <a16:rowId xmlns:a16="http://schemas.microsoft.com/office/drawing/2014/main" val="3820932533"/>
                  </a:ext>
                </a:extLst>
              </a:tr>
              <a:tr h="174503">
                <a:tc>
                  <a:txBody>
                    <a:bodyPr/>
                    <a:lstStyle/>
                    <a:p>
                      <a:pPr algn="l" fontAlgn="b">
                        <a:buNone/>
                      </a:pPr>
                      <a:r>
                        <a:rPr lang="en-US" sz="1200" u="none" strike="noStrike">
                          <a:effectLst/>
                        </a:rPr>
                        <a:t>Submission to PMDA pre-meeting</a:t>
                      </a:r>
                      <a:endParaRPr lang="en-US"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9/11/2026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9/11/2026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 </a:t>
                      </a:r>
                      <a:r>
                        <a:rPr lang="ja-JP" altLang="en-US" sz="1200" u="none" strike="noStrike">
                          <a:effectLst/>
                        </a:rPr>
                        <a:t>日</a:t>
                      </a:r>
                      <a:endParaRPr lang="ja-JP" altLang="en-US" sz="1200" b="0" i="0" u="none" strike="noStrike">
                        <a:effectLst/>
                        <a:latin typeface="Calibri" panose="020F0502020204030204" pitchFamily="34" charset="0"/>
                      </a:endParaRPr>
                    </a:p>
                  </a:txBody>
                  <a:tcPr marL="6017" marR="6017" marT="6017" marB="0" anchor="b">
                    <a:solidFill>
                      <a:schemeClr val="accent5"/>
                    </a:solidFill>
                  </a:tcPr>
                </a:tc>
                <a:extLst>
                  <a:ext uri="{0D108BD9-81ED-4DB2-BD59-A6C34878D82A}">
                    <a16:rowId xmlns:a16="http://schemas.microsoft.com/office/drawing/2014/main" val="1256703539"/>
                  </a:ext>
                </a:extLst>
              </a:tr>
              <a:tr h="174503">
                <a:tc>
                  <a:txBody>
                    <a:bodyPr/>
                    <a:lstStyle/>
                    <a:p>
                      <a:pPr algn="l" fontAlgn="b">
                        <a:buNone/>
                      </a:pPr>
                      <a:r>
                        <a:rPr lang="en-US" sz="1200" u="none" strike="noStrike">
                          <a:effectLst/>
                        </a:rPr>
                        <a:t>Preliminary meeting</a:t>
                      </a:r>
                      <a:endParaRPr lang="en-US"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9/25/2026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9/30/2026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4 </a:t>
                      </a:r>
                      <a:r>
                        <a:rPr lang="ja-JP" altLang="en-US" sz="1200" u="none" strike="noStrike">
                          <a:effectLst/>
                        </a:rPr>
                        <a:t>日</a:t>
                      </a:r>
                      <a:endParaRPr lang="ja-JP" altLang="en-US" sz="1200" b="0" i="0" u="none" strike="noStrike">
                        <a:effectLst/>
                        <a:latin typeface="Calibri" panose="020F0502020204030204" pitchFamily="34" charset="0"/>
                      </a:endParaRPr>
                    </a:p>
                  </a:txBody>
                  <a:tcPr marL="6017" marR="6017" marT="6017" marB="0" anchor="b">
                    <a:solidFill>
                      <a:schemeClr val="accent5"/>
                    </a:solidFill>
                  </a:tcPr>
                </a:tc>
                <a:extLst>
                  <a:ext uri="{0D108BD9-81ED-4DB2-BD59-A6C34878D82A}">
                    <a16:rowId xmlns:a16="http://schemas.microsoft.com/office/drawing/2014/main" val="3552189417"/>
                  </a:ext>
                </a:extLst>
              </a:tr>
              <a:tr h="174503">
                <a:tc>
                  <a:txBody>
                    <a:bodyPr/>
                    <a:lstStyle/>
                    <a:p>
                      <a:pPr algn="l" fontAlgn="b">
                        <a:buNone/>
                      </a:pPr>
                      <a:r>
                        <a:rPr lang="en-US" sz="1200" b="0" i="0" u="none" strike="noStrike">
                          <a:effectLst/>
                          <a:latin typeface="Calibri" panose="020F0502020204030204" pitchFamily="34" charset="0"/>
                        </a:rPr>
                        <a:t>Meeting Request to PMDA</a:t>
                      </a:r>
                    </a:p>
                  </a:txBody>
                  <a:tcPr marL="6017" marR="6017" marT="6017" marB="0" anchor="b">
                    <a:solidFill>
                      <a:schemeClr val="accent5"/>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ja-JP" sz="1200" u="none" strike="noStrike">
                          <a:effectLst/>
                        </a:rPr>
                        <a:t>10/1/2026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ja-JP" sz="1200" u="none" strike="noStrike">
                          <a:effectLst/>
                        </a:rPr>
                        <a:t>10/1/2026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b="0" i="0" u="none" strike="noStrike">
                          <a:effectLst/>
                          <a:latin typeface="Calibri" panose="020F0502020204030204" pitchFamily="34" charset="0"/>
                        </a:rPr>
                        <a:t>1</a:t>
                      </a:r>
                      <a:r>
                        <a:rPr lang="ja-JP" altLang="en-US" sz="1200" b="0" i="0" u="none" strike="noStrike">
                          <a:effectLst/>
                          <a:latin typeface="Calibri" panose="020F0502020204030204" pitchFamily="34" charset="0"/>
                        </a:rPr>
                        <a:t>日</a:t>
                      </a:r>
                    </a:p>
                  </a:txBody>
                  <a:tcPr marL="6017" marR="6017" marT="6017" marB="0" anchor="b">
                    <a:solidFill>
                      <a:schemeClr val="accent5"/>
                    </a:solidFill>
                  </a:tcPr>
                </a:tc>
                <a:extLst>
                  <a:ext uri="{0D108BD9-81ED-4DB2-BD59-A6C34878D82A}">
                    <a16:rowId xmlns:a16="http://schemas.microsoft.com/office/drawing/2014/main" val="2671921430"/>
                  </a:ext>
                </a:extLst>
              </a:tr>
              <a:tr h="174503">
                <a:tc>
                  <a:txBody>
                    <a:bodyPr/>
                    <a:lstStyle/>
                    <a:p>
                      <a:pPr algn="l" fontAlgn="b">
                        <a:buNone/>
                      </a:pPr>
                      <a:r>
                        <a:rPr lang="en-US" sz="1200" u="none" strike="noStrike">
                          <a:effectLst/>
                        </a:rPr>
                        <a:t>D4 preparation incorporating PMDA's feedback</a:t>
                      </a:r>
                      <a:endParaRPr lang="en-US"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10/1/2026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10/14/2026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10 </a:t>
                      </a:r>
                      <a:r>
                        <a:rPr lang="ja-JP" altLang="en-US" sz="1200" u="none" strike="noStrike">
                          <a:effectLst/>
                        </a:rPr>
                        <a:t>日</a:t>
                      </a:r>
                      <a:endParaRPr lang="ja-JP" altLang="en-US" sz="1200" b="0" i="0" u="none" strike="noStrike">
                        <a:effectLst/>
                        <a:latin typeface="Calibri" panose="020F0502020204030204" pitchFamily="34" charset="0"/>
                      </a:endParaRPr>
                    </a:p>
                  </a:txBody>
                  <a:tcPr marL="6017" marR="6017" marT="6017" marB="0" anchor="b">
                    <a:solidFill>
                      <a:schemeClr val="accent5"/>
                    </a:solidFill>
                  </a:tcPr>
                </a:tc>
                <a:extLst>
                  <a:ext uri="{0D108BD9-81ED-4DB2-BD59-A6C34878D82A}">
                    <a16:rowId xmlns:a16="http://schemas.microsoft.com/office/drawing/2014/main" val="905030257"/>
                  </a:ext>
                </a:extLst>
              </a:tr>
              <a:tr h="174503">
                <a:tc>
                  <a:txBody>
                    <a:bodyPr/>
                    <a:lstStyle/>
                    <a:p>
                      <a:pPr algn="l" fontAlgn="b">
                        <a:buNone/>
                      </a:pPr>
                      <a:r>
                        <a:rPr lang="en-US" sz="1200" u="none" strike="noStrike">
                          <a:effectLst/>
                        </a:rPr>
                        <a:t>D4 review</a:t>
                      </a:r>
                      <a:endParaRPr lang="en-US"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10/15/2026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10/21/2026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5 </a:t>
                      </a:r>
                      <a:r>
                        <a:rPr lang="ja-JP" altLang="en-US" sz="1200" u="none" strike="noStrike">
                          <a:effectLst/>
                        </a:rPr>
                        <a:t>日</a:t>
                      </a:r>
                      <a:endParaRPr lang="ja-JP" altLang="en-US" sz="1200" b="0" i="0" u="none" strike="noStrike">
                        <a:effectLst/>
                        <a:latin typeface="Calibri" panose="020F0502020204030204" pitchFamily="34" charset="0"/>
                      </a:endParaRPr>
                    </a:p>
                  </a:txBody>
                  <a:tcPr marL="6017" marR="6017" marT="6017" marB="0" anchor="b">
                    <a:solidFill>
                      <a:schemeClr val="accent5"/>
                    </a:solidFill>
                  </a:tcPr>
                </a:tc>
                <a:extLst>
                  <a:ext uri="{0D108BD9-81ED-4DB2-BD59-A6C34878D82A}">
                    <a16:rowId xmlns:a16="http://schemas.microsoft.com/office/drawing/2014/main" val="2860689499"/>
                  </a:ext>
                </a:extLst>
              </a:tr>
              <a:tr h="174503">
                <a:tc>
                  <a:txBody>
                    <a:bodyPr/>
                    <a:lstStyle/>
                    <a:p>
                      <a:pPr algn="l" fontAlgn="b">
                        <a:buNone/>
                      </a:pPr>
                      <a:r>
                        <a:rPr lang="en-US" sz="1200" u="none" strike="noStrike" dirty="0">
                          <a:effectLst/>
                        </a:rPr>
                        <a:t>★DG2 DEC（Oct19）</a:t>
                      </a:r>
                      <a:endParaRPr lang="en-US" sz="1200" b="0" i="0" u="none" strike="noStrike" dirty="0">
                        <a:effectLst/>
                        <a:latin typeface="Calibri" panose="020F0502020204030204" pitchFamily="34" charset="0"/>
                      </a:endParaRPr>
                    </a:p>
                  </a:txBody>
                  <a:tcPr marL="6017" marR="6017" marT="6017" marB="0" anchor="b"/>
                </a:tc>
                <a:tc>
                  <a:txBody>
                    <a:bodyPr/>
                    <a:lstStyle/>
                    <a:p>
                      <a:pPr algn="l" fontAlgn="b">
                        <a:buNone/>
                      </a:pPr>
                      <a:r>
                        <a:rPr lang="en-US" altLang="ja-JP" sz="1200" u="none" strike="noStrike" dirty="0">
                          <a:effectLst/>
                        </a:rPr>
                        <a:t>10/19/2027</a:t>
                      </a:r>
                      <a:endParaRPr lang="en-US" altLang="ja-JP" sz="1200" b="0" i="0" u="none" strike="noStrike" dirty="0">
                        <a:effectLst/>
                        <a:latin typeface="Calibri" panose="020F0502020204030204" pitchFamily="34" charset="0"/>
                      </a:endParaRPr>
                    </a:p>
                  </a:txBody>
                  <a:tcPr marL="6017" marR="6017" marT="6017" marB="0" anchor="b"/>
                </a:tc>
                <a:tc>
                  <a:txBody>
                    <a:bodyPr/>
                    <a:lstStyle/>
                    <a:p>
                      <a:pPr algn="l" fontAlgn="b">
                        <a:buNone/>
                      </a:pPr>
                      <a:r>
                        <a:rPr lang="en-US" altLang="ja-JP" sz="1200" u="none" strike="noStrike" dirty="0">
                          <a:effectLst/>
                        </a:rPr>
                        <a:t>10/19/2027</a:t>
                      </a:r>
                      <a:endParaRPr lang="en-US" altLang="ja-JP" sz="1200" b="0" i="0" u="none" strike="noStrike" dirty="0">
                        <a:effectLst/>
                        <a:latin typeface="Calibri" panose="020F0502020204030204" pitchFamily="34" charset="0"/>
                      </a:endParaRPr>
                    </a:p>
                  </a:txBody>
                  <a:tcPr marL="6017" marR="6017" marT="6017" marB="0" anchor="b"/>
                </a:tc>
                <a:tc>
                  <a:txBody>
                    <a:bodyPr/>
                    <a:lstStyle/>
                    <a:p>
                      <a:pPr algn="l" fontAlgn="b">
                        <a:buNone/>
                      </a:pPr>
                      <a:r>
                        <a:rPr lang="en-US" altLang="ja-JP" sz="1200" u="none" strike="noStrike" dirty="0">
                          <a:effectLst/>
                        </a:rPr>
                        <a:t>1 </a:t>
                      </a:r>
                      <a:r>
                        <a:rPr lang="ja-JP" altLang="en-US" sz="1200" u="none" strike="noStrike" dirty="0">
                          <a:effectLst/>
                        </a:rPr>
                        <a:t>日</a:t>
                      </a:r>
                      <a:endParaRPr lang="ja-JP" altLang="en-US" sz="1200" b="0" i="0" u="none" strike="noStrike" dirty="0">
                        <a:effectLst/>
                        <a:latin typeface="Calibri" panose="020F0502020204030204" pitchFamily="34" charset="0"/>
                      </a:endParaRPr>
                    </a:p>
                  </a:txBody>
                  <a:tcPr marL="6017" marR="6017" marT="6017" marB="0" anchor="b"/>
                </a:tc>
                <a:extLst>
                  <a:ext uri="{0D108BD9-81ED-4DB2-BD59-A6C34878D82A}">
                    <a16:rowId xmlns:a16="http://schemas.microsoft.com/office/drawing/2014/main" val="4159046140"/>
                  </a:ext>
                </a:extLst>
              </a:tr>
              <a:tr h="174503">
                <a:tc>
                  <a:txBody>
                    <a:bodyPr/>
                    <a:lstStyle/>
                    <a:p>
                      <a:pPr algn="l" fontAlgn="b">
                        <a:buNone/>
                      </a:pPr>
                      <a:r>
                        <a:rPr lang="en-US" sz="1200" u="none" strike="noStrike">
                          <a:effectLst/>
                        </a:rPr>
                        <a:t>D5 preparation incorporating DG2 data</a:t>
                      </a:r>
                      <a:endParaRPr lang="en-US"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10/20/2027</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dirty="0">
                          <a:effectLst/>
                        </a:rPr>
                        <a:t>10/27/2027</a:t>
                      </a:r>
                      <a:endParaRPr lang="en-US" altLang="ja-JP" sz="1200" b="0" i="0" u="none" strike="noStrike" dirty="0">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dirty="0">
                          <a:effectLst/>
                        </a:rPr>
                        <a:t>6 </a:t>
                      </a:r>
                      <a:r>
                        <a:rPr lang="ja-JP" altLang="en-US" sz="1200" u="none" strike="noStrike" dirty="0">
                          <a:effectLst/>
                        </a:rPr>
                        <a:t>日</a:t>
                      </a:r>
                      <a:endParaRPr lang="ja-JP" altLang="en-US" sz="1200" b="0" i="0" u="none" strike="noStrike" dirty="0">
                        <a:effectLst/>
                        <a:latin typeface="Calibri" panose="020F0502020204030204" pitchFamily="34" charset="0"/>
                      </a:endParaRPr>
                    </a:p>
                  </a:txBody>
                  <a:tcPr marL="6017" marR="6017" marT="6017" marB="0" anchor="b">
                    <a:solidFill>
                      <a:schemeClr val="accent5"/>
                    </a:solidFill>
                  </a:tcPr>
                </a:tc>
                <a:extLst>
                  <a:ext uri="{0D108BD9-81ED-4DB2-BD59-A6C34878D82A}">
                    <a16:rowId xmlns:a16="http://schemas.microsoft.com/office/drawing/2014/main" val="1295983044"/>
                  </a:ext>
                </a:extLst>
              </a:tr>
              <a:tr h="174503">
                <a:tc>
                  <a:txBody>
                    <a:bodyPr/>
                    <a:lstStyle/>
                    <a:p>
                      <a:pPr algn="l" fontAlgn="b">
                        <a:buNone/>
                      </a:pPr>
                      <a:r>
                        <a:rPr lang="en-US" sz="1200" u="none" strike="noStrike">
                          <a:effectLst/>
                        </a:rPr>
                        <a:t>D5 review</a:t>
                      </a:r>
                      <a:endParaRPr lang="en-US"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10/28/2027</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11/3/2027</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5 </a:t>
                      </a:r>
                      <a:r>
                        <a:rPr lang="ja-JP" altLang="en-US" sz="1200" u="none" strike="noStrike">
                          <a:effectLst/>
                        </a:rPr>
                        <a:t>日</a:t>
                      </a:r>
                      <a:endParaRPr lang="ja-JP" altLang="en-US" sz="1200" b="0" i="0" u="none" strike="noStrike">
                        <a:effectLst/>
                        <a:latin typeface="Calibri" panose="020F0502020204030204" pitchFamily="34" charset="0"/>
                      </a:endParaRPr>
                    </a:p>
                  </a:txBody>
                  <a:tcPr marL="6017" marR="6017" marT="6017" marB="0" anchor="b">
                    <a:solidFill>
                      <a:schemeClr val="accent5"/>
                    </a:solidFill>
                  </a:tcPr>
                </a:tc>
                <a:extLst>
                  <a:ext uri="{0D108BD9-81ED-4DB2-BD59-A6C34878D82A}">
                    <a16:rowId xmlns:a16="http://schemas.microsoft.com/office/drawing/2014/main" val="3418392234"/>
                  </a:ext>
                </a:extLst>
              </a:tr>
              <a:tr h="174503">
                <a:tc>
                  <a:txBody>
                    <a:bodyPr/>
                    <a:lstStyle/>
                    <a:p>
                      <a:pPr algn="l" fontAlgn="b">
                        <a:buNone/>
                      </a:pPr>
                      <a:r>
                        <a:rPr lang="en-US" sz="1200" u="none" strike="noStrike">
                          <a:effectLst/>
                        </a:rPr>
                        <a:t>Finalization/formatting</a:t>
                      </a:r>
                      <a:endParaRPr lang="en-US"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11/4/2027</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11/8/2027</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3 </a:t>
                      </a:r>
                      <a:r>
                        <a:rPr lang="ja-JP" altLang="en-US" sz="1200" u="none" strike="noStrike">
                          <a:effectLst/>
                        </a:rPr>
                        <a:t>日</a:t>
                      </a:r>
                      <a:endParaRPr lang="ja-JP" altLang="en-US" sz="1200" b="0" i="0" u="none" strike="noStrike">
                        <a:effectLst/>
                        <a:latin typeface="Calibri" panose="020F0502020204030204" pitchFamily="34" charset="0"/>
                      </a:endParaRPr>
                    </a:p>
                  </a:txBody>
                  <a:tcPr marL="6017" marR="6017" marT="6017" marB="0" anchor="b">
                    <a:solidFill>
                      <a:schemeClr val="accent5"/>
                    </a:solidFill>
                  </a:tcPr>
                </a:tc>
                <a:extLst>
                  <a:ext uri="{0D108BD9-81ED-4DB2-BD59-A6C34878D82A}">
                    <a16:rowId xmlns:a16="http://schemas.microsoft.com/office/drawing/2014/main" val="617378062"/>
                  </a:ext>
                </a:extLst>
              </a:tr>
              <a:tr h="174503">
                <a:tc>
                  <a:txBody>
                    <a:bodyPr/>
                    <a:lstStyle/>
                    <a:p>
                      <a:pPr algn="l" fontAlgn="b">
                        <a:buNone/>
                      </a:pPr>
                      <a:r>
                        <a:rPr lang="en-US" sz="1200" u="none" strike="noStrike">
                          <a:effectLst/>
                        </a:rPr>
                        <a:t>Submission to PMDA</a:t>
                      </a:r>
                      <a:endParaRPr lang="en-US"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11/9/2027</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11/9/2027</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 </a:t>
                      </a:r>
                      <a:r>
                        <a:rPr lang="ja-JP" altLang="en-US" sz="1200" u="none" strike="noStrike">
                          <a:effectLst/>
                        </a:rPr>
                        <a:t>日</a:t>
                      </a:r>
                      <a:endParaRPr lang="ja-JP" altLang="en-US" sz="1200" b="0" i="0" u="none" strike="noStrike">
                        <a:effectLst/>
                        <a:latin typeface="Calibri" panose="020F0502020204030204" pitchFamily="34" charset="0"/>
                      </a:endParaRPr>
                    </a:p>
                  </a:txBody>
                  <a:tcPr marL="6017" marR="6017" marT="6017" marB="0" anchor="b">
                    <a:solidFill>
                      <a:schemeClr val="accent5"/>
                    </a:solidFill>
                  </a:tcPr>
                </a:tc>
                <a:extLst>
                  <a:ext uri="{0D108BD9-81ED-4DB2-BD59-A6C34878D82A}">
                    <a16:rowId xmlns:a16="http://schemas.microsoft.com/office/drawing/2014/main" val="2926930972"/>
                  </a:ext>
                </a:extLst>
              </a:tr>
              <a:tr h="174503">
                <a:tc>
                  <a:txBody>
                    <a:bodyPr/>
                    <a:lstStyle/>
                    <a:p>
                      <a:pPr algn="l" fontAlgn="b">
                        <a:buNone/>
                      </a:pPr>
                      <a:r>
                        <a:rPr lang="en-US" sz="1200" u="none" strike="noStrike">
                          <a:effectLst/>
                        </a:rPr>
                        <a:t>PMDA Query</a:t>
                      </a:r>
                      <a:endParaRPr lang="en-US"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11/20/2026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11/20/2026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 </a:t>
                      </a:r>
                      <a:r>
                        <a:rPr lang="ja-JP" altLang="en-US" sz="1200" u="none" strike="noStrike">
                          <a:effectLst/>
                        </a:rPr>
                        <a:t>日</a:t>
                      </a:r>
                      <a:endParaRPr lang="ja-JP" altLang="en-US" sz="1200" b="0" i="0" u="none" strike="noStrike">
                        <a:effectLst/>
                        <a:latin typeface="Calibri" panose="020F0502020204030204" pitchFamily="34" charset="0"/>
                      </a:endParaRPr>
                    </a:p>
                  </a:txBody>
                  <a:tcPr marL="6017" marR="6017" marT="6017" marB="0" anchor="b">
                    <a:solidFill>
                      <a:schemeClr val="accent5"/>
                    </a:solidFill>
                  </a:tcPr>
                </a:tc>
                <a:extLst>
                  <a:ext uri="{0D108BD9-81ED-4DB2-BD59-A6C34878D82A}">
                    <a16:rowId xmlns:a16="http://schemas.microsoft.com/office/drawing/2014/main" val="405172259"/>
                  </a:ext>
                </a:extLst>
              </a:tr>
              <a:tr h="174503">
                <a:tc>
                  <a:txBody>
                    <a:bodyPr/>
                    <a:lstStyle/>
                    <a:p>
                      <a:pPr algn="l" fontAlgn="b">
                        <a:buNone/>
                      </a:pPr>
                      <a:r>
                        <a:rPr lang="en-US" sz="1200" u="none" strike="noStrike">
                          <a:effectLst/>
                        </a:rPr>
                        <a:t>Response to Query</a:t>
                      </a:r>
                      <a:endParaRPr lang="en-US"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11/27/2026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11/27/2026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 </a:t>
                      </a:r>
                      <a:r>
                        <a:rPr lang="ja-JP" altLang="en-US" sz="1200" u="none" strike="noStrike">
                          <a:effectLst/>
                        </a:rPr>
                        <a:t>日</a:t>
                      </a:r>
                      <a:endParaRPr lang="ja-JP" altLang="en-US" sz="1200" b="0" i="0" u="none" strike="noStrike">
                        <a:effectLst/>
                        <a:latin typeface="Calibri" panose="020F0502020204030204" pitchFamily="34" charset="0"/>
                      </a:endParaRPr>
                    </a:p>
                  </a:txBody>
                  <a:tcPr marL="6017" marR="6017" marT="6017" marB="0" anchor="b">
                    <a:solidFill>
                      <a:schemeClr val="accent5"/>
                    </a:solidFill>
                  </a:tcPr>
                </a:tc>
                <a:extLst>
                  <a:ext uri="{0D108BD9-81ED-4DB2-BD59-A6C34878D82A}">
                    <a16:rowId xmlns:a16="http://schemas.microsoft.com/office/drawing/2014/main" val="282060629"/>
                  </a:ext>
                </a:extLst>
              </a:tr>
              <a:tr h="174503">
                <a:tc>
                  <a:txBody>
                    <a:bodyPr/>
                    <a:lstStyle/>
                    <a:p>
                      <a:pPr algn="l" fontAlgn="b">
                        <a:buNone/>
                      </a:pPr>
                      <a:r>
                        <a:rPr lang="en-US" sz="1200" u="none" strike="noStrike">
                          <a:effectLst/>
                        </a:rPr>
                        <a:t>Feedback from CDE</a:t>
                      </a:r>
                      <a:endParaRPr lang="en-US" sz="1200" b="0" i="0" u="none" strike="noStrike">
                        <a:effectLst/>
                        <a:latin typeface="Calibri" panose="020F0502020204030204" pitchFamily="34" charset="0"/>
                      </a:endParaRPr>
                    </a:p>
                  </a:txBody>
                  <a:tcPr marL="6017" marR="6017" marT="6017" marB="0" anchor="b">
                    <a:solidFill>
                      <a:schemeClr val="accent4"/>
                    </a:solidFill>
                  </a:tcPr>
                </a:tc>
                <a:tc>
                  <a:txBody>
                    <a:bodyPr/>
                    <a:lstStyle/>
                    <a:p>
                      <a:pPr algn="l" fontAlgn="b">
                        <a:buNone/>
                      </a:pPr>
                      <a:r>
                        <a:rPr lang="en-US" altLang="ja-JP" sz="1200" u="none" strike="noStrike">
                          <a:effectLst/>
                        </a:rPr>
                        <a:t>12/1/2026</a:t>
                      </a:r>
                      <a:endParaRPr lang="en-US" altLang="ja-JP" sz="1200" b="0" i="0" u="none" strike="noStrike">
                        <a:effectLst/>
                        <a:latin typeface="Calibri" panose="020F0502020204030204" pitchFamily="34" charset="0"/>
                      </a:endParaRPr>
                    </a:p>
                  </a:txBody>
                  <a:tcPr marL="6017" marR="6017" marT="6017" marB="0" anchor="b">
                    <a:solidFill>
                      <a:schemeClr val="accent4"/>
                    </a:solidFill>
                  </a:tcPr>
                </a:tc>
                <a:tc>
                  <a:txBody>
                    <a:bodyPr/>
                    <a:lstStyle/>
                    <a:p>
                      <a:pPr algn="l" fontAlgn="b">
                        <a:buNone/>
                      </a:pPr>
                      <a:r>
                        <a:rPr lang="en-US" altLang="ja-JP" sz="1200" u="none" strike="noStrike">
                          <a:effectLst/>
                        </a:rPr>
                        <a:t>12/1/2026</a:t>
                      </a:r>
                      <a:endParaRPr lang="en-US" altLang="ja-JP" sz="1200" b="0" i="0" u="none" strike="noStrike">
                        <a:effectLst/>
                        <a:latin typeface="Calibri" panose="020F0502020204030204" pitchFamily="34" charset="0"/>
                      </a:endParaRPr>
                    </a:p>
                  </a:txBody>
                  <a:tcPr marL="6017" marR="6017" marT="6017" marB="0" anchor="b">
                    <a:solidFill>
                      <a:schemeClr val="accent4"/>
                    </a:solidFill>
                  </a:tcPr>
                </a:tc>
                <a:tc>
                  <a:txBody>
                    <a:bodyPr/>
                    <a:lstStyle/>
                    <a:p>
                      <a:pPr algn="l" fontAlgn="b">
                        <a:buNone/>
                      </a:pPr>
                      <a:r>
                        <a:rPr lang="en-US" altLang="ja-JP" sz="1200" u="none" strike="noStrike">
                          <a:effectLst/>
                        </a:rPr>
                        <a:t>1 </a:t>
                      </a:r>
                      <a:r>
                        <a:rPr lang="ja-JP" altLang="en-US" sz="1200" u="none" strike="noStrike">
                          <a:effectLst/>
                        </a:rPr>
                        <a:t>日</a:t>
                      </a:r>
                      <a:endParaRPr lang="ja-JP" altLang="en-US" sz="1200" b="0" i="0" u="none" strike="noStrike">
                        <a:effectLst/>
                        <a:latin typeface="Calibri" panose="020F0502020204030204" pitchFamily="34" charset="0"/>
                      </a:endParaRPr>
                    </a:p>
                  </a:txBody>
                  <a:tcPr marL="6017" marR="6017" marT="6017" marB="0" anchor="b">
                    <a:solidFill>
                      <a:schemeClr val="accent4"/>
                    </a:solidFill>
                  </a:tcPr>
                </a:tc>
                <a:extLst>
                  <a:ext uri="{0D108BD9-81ED-4DB2-BD59-A6C34878D82A}">
                    <a16:rowId xmlns:a16="http://schemas.microsoft.com/office/drawing/2014/main" val="49826664"/>
                  </a:ext>
                </a:extLst>
              </a:tr>
              <a:tr h="174503">
                <a:tc>
                  <a:txBody>
                    <a:bodyPr/>
                    <a:lstStyle/>
                    <a:p>
                      <a:pPr algn="l" fontAlgn="b">
                        <a:buNone/>
                      </a:pPr>
                      <a:r>
                        <a:rPr lang="en-US" sz="1200" u="none" strike="noStrike">
                          <a:effectLst/>
                        </a:rPr>
                        <a:t>PMDA preliminary opinion</a:t>
                      </a:r>
                      <a:endParaRPr lang="en-US"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12/4/2026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12/4/2026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 </a:t>
                      </a:r>
                      <a:r>
                        <a:rPr lang="ja-JP" altLang="en-US" sz="1200" u="none" strike="noStrike">
                          <a:effectLst/>
                        </a:rPr>
                        <a:t>日</a:t>
                      </a:r>
                      <a:endParaRPr lang="ja-JP" altLang="en-US" sz="1200" b="0" i="0" u="none" strike="noStrike">
                        <a:effectLst/>
                        <a:latin typeface="Calibri" panose="020F0502020204030204" pitchFamily="34" charset="0"/>
                      </a:endParaRPr>
                    </a:p>
                  </a:txBody>
                  <a:tcPr marL="6017" marR="6017" marT="6017" marB="0" anchor="b">
                    <a:solidFill>
                      <a:schemeClr val="accent5"/>
                    </a:solidFill>
                  </a:tcPr>
                </a:tc>
                <a:extLst>
                  <a:ext uri="{0D108BD9-81ED-4DB2-BD59-A6C34878D82A}">
                    <a16:rowId xmlns:a16="http://schemas.microsoft.com/office/drawing/2014/main" val="696172057"/>
                  </a:ext>
                </a:extLst>
              </a:tr>
              <a:tr h="174503">
                <a:tc>
                  <a:txBody>
                    <a:bodyPr/>
                    <a:lstStyle/>
                    <a:p>
                      <a:pPr algn="l" fontAlgn="b">
                        <a:buNone/>
                      </a:pPr>
                      <a:r>
                        <a:rPr lang="en-US" sz="1200" u="none" strike="noStrike">
                          <a:effectLst/>
                        </a:rPr>
                        <a:t>Response to PMDA opinion</a:t>
                      </a:r>
                      <a:endParaRPr lang="en-US"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12/9/2026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12/9/2026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 </a:t>
                      </a:r>
                      <a:r>
                        <a:rPr lang="ja-JP" altLang="en-US" sz="1200" u="none" strike="noStrike">
                          <a:effectLst/>
                        </a:rPr>
                        <a:t>日</a:t>
                      </a:r>
                      <a:endParaRPr lang="ja-JP" altLang="en-US" sz="1200" b="0" i="0" u="none" strike="noStrike">
                        <a:effectLst/>
                        <a:latin typeface="Calibri" panose="020F0502020204030204" pitchFamily="34" charset="0"/>
                      </a:endParaRPr>
                    </a:p>
                  </a:txBody>
                  <a:tcPr marL="6017" marR="6017" marT="6017" marB="0" anchor="b">
                    <a:solidFill>
                      <a:schemeClr val="accent5"/>
                    </a:solidFill>
                  </a:tcPr>
                </a:tc>
                <a:extLst>
                  <a:ext uri="{0D108BD9-81ED-4DB2-BD59-A6C34878D82A}">
                    <a16:rowId xmlns:a16="http://schemas.microsoft.com/office/drawing/2014/main" val="2421640216"/>
                  </a:ext>
                </a:extLst>
              </a:tr>
              <a:tr h="174503">
                <a:tc>
                  <a:txBody>
                    <a:bodyPr/>
                    <a:lstStyle/>
                    <a:p>
                      <a:pPr algn="l" fontAlgn="b">
                        <a:buNone/>
                      </a:pPr>
                      <a:r>
                        <a:rPr lang="en-US" sz="1200" u="none" strike="noStrike">
                          <a:effectLst/>
                        </a:rPr>
                        <a:t>PMDA meeting</a:t>
                      </a:r>
                      <a:endParaRPr lang="en-US"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12/14/2026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a:effectLst/>
                        </a:rPr>
                        <a:t>12/18/2026</a:t>
                      </a:r>
                      <a:endParaRPr lang="en-US" altLang="ja-JP" sz="1200" b="0" i="0" u="none" strike="noStrike">
                        <a:effectLst/>
                        <a:latin typeface="Calibri" panose="020F0502020204030204" pitchFamily="34" charset="0"/>
                      </a:endParaRPr>
                    </a:p>
                  </a:txBody>
                  <a:tcPr marL="6017" marR="6017" marT="6017" marB="0" anchor="b">
                    <a:solidFill>
                      <a:schemeClr val="accent5"/>
                    </a:solidFill>
                  </a:tcPr>
                </a:tc>
                <a:tc>
                  <a:txBody>
                    <a:bodyPr/>
                    <a:lstStyle/>
                    <a:p>
                      <a:pPr algn="l" fontAlgn="b">
                        <a:buNone/>
                      </a:pPr>
                      <a:r>
                        <a:rPr lang="en-US" altLang="ja-JP" sz="1200" u="none" strike="noStrike" dirty="0">
                          <a:effectLst/>
                        </a:rPr>
                        <a:t>5 </a:t>
                      </a:r>
                      <a:r>
                        <a:rPr lang="ja-JP" altLang="en-US" sz="1200" u="none" strike="noStrike" dirty="0">
                          <a:effectLst/>
                        </a:rPr>
                        <a:t>日</a:t>
                      </a:r>
                      <a:endParaRPr lang="ja-JP" altLang="en-US" sz="1200" b="0" i="0" u="none" strike="noStrike" dirty="0">
                        <a:effectLst/>
                        <a:latin typeface="Calibri" panose="020F0502020204030204" pitchFamily="34" charset="0"/>
                      </a:endParaRPr>
                    </a:p>
                  </a:txBody>
                  <a:tcPr marL="6017" marR="6017" marT="6017" marB="0" anchor="b">
                    <a:solidFill>
                      <a:schemeClr val="accent5"/>
                    </a:solidFill>
                  </a:tcPr>
                </a:tc>
                <a:extLst>
                  <a:ext uri="{0D108BD9-81ED-4DB2-BD59-A6C34878D82A}">
                    <a16:rowId xmlns:a16="http://schemas.microsoft.com/office/drawing/2014/main" val="2240275120"/>
                  </a:ext>
                </a:extLst>
              </a:tr>
            </a:tbl>
          </a:graphicData>
        </a:graphic>
      </p:graphicFrame>
    </p:spTree>
    <p:extLst>
      <p:ext uri="{BB962C8B-B14F-4D97-AF65-F5344CB8AC3E}">
        <p14:creationId xmlns:p14="http://schemas.microsoft.com/office/powerpoint/2010/main" val="1057594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62102-838D-CD87-668A-D066C7FD05CB}"/>
              </a:ext>
            </a:extLst>
          </p:cNvPr>
          <p:cNvSpPr>
            <a:spLocks noGrp="1"/>
          </p:cNvSpPr>
          <p:nvPr>
            <p:ph type="title"/>
          </p:nvPr>
        </p:nvSpPr>
        <p:spPr/>
        <p:txBody>
          <a:bodyPr/>
          <a:lstStyle/>
          <a:p>
            <a:r>
              <a:rPr lang="en-US" altLang="zh-CN"/>
              <a:t>PI Qualification </a:t>
            </a:r>
            <a:endParaRPr lang="zh-CN" altLang="en-US"/>
          </a:p>
        </p:txBody>
      </p:sp>
      <p:sp>
        <p:nvSpPr>
          <p:cNvPr id="5" name="Footer Placeholder 4">
            <a:extLst>
              <a:ext uri="{FF2B5EF4-FFF2-40B4-BE49-F238E27FC236}">
                <a16:creationId xmlns:a16="http://schemas.microsoft.com/office/drawing/2014/main" id="{B599C944-89C7-6A59-1743-563893A58021}"/>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6" name="Slide Number Placeholder 5">
            <a:extLst>
              <a:ext uri="{FF2B5EF4-FFF2-40B4-BE49-F238E27FC236}">
                <a16:creationId xmlns:a16="http://schemas.microsoft.com/office/drawing/2014/main" id="{6190BF1A-7C11-E829-F411-5E51DDAEC74D}"/>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7" name="文本框 3">
            <a:extLst>
              <a:ext uri="{FF2B5EF4-FFF2-40B4-BE49-F238E27FC236}">
                <a16:creationId xmlns:a16="http://schemas.microsoft.com/office/drawing/2014/main" id="{869DAAE3-F8ED-E89C-82AB-991B56B506E3}"/>
              </a:ext>
            </a:extLst>
          </p:cNvPr>
          <p:cNvSpPr txBox="1"/>
          <p:nvPr/>
        </p:nvSpPr>
        <p:spPr bwMode="gray">
          <a:xfrm>
            <a:off x="735531" y="3617009"/>
            <a:ext cx="5981518" cy="2039469"/>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600" b="1" i="0" u="none" strike="noStrike" kern="1200" cap="none" spc="0" normalizeH="0" baseline="0" noProof="0">
                <a:ln>
                  <a:noFill/>
                </a:ln>
                <a:solidFill>
                  <a:prstClr val="black"/>
                </a:solidFill>
                <a:effectLst/>
                <a:uLnTx/>
                <a:uFillTx/>
                <a:latin typeface="Boehringer Forward Text"/>
                <a:ea typeface="+mn-ea"/>
                <a:cs typeface="+mn-cs"/>
              </a:rPr>
              <a:t>Phase I study published in CDE platform _ as PI</a:t>
            </a:r>
          </a:p>
          <a:p>
            <a:pPr marL="285750" marR="0" lvl="0" indent="-285750" algn="l" defTabSz="914400" rtl="0" eaLnBrk="1" fontAlgn="auto" latinLnBrk="0" hangingPunct="1">
              <a:lnSpc>
                <a:spcPct val="140000"/>
              </a:lnSpc>
              <a:spcBef>
                <a:spcPts val="0"/>
              </a:spcBef>
              <a:spcAft>
                <a:spcPts val="0"/>
              </a:spcAft>
              <a:buClrTx/>
              <a:buSzTx/>
              <a:buFont typeface="Wingdings" panose="05000000000000000000" pitchFamily="2" charset="2"/>
              <a:buChar char="ü"/>
              <a:tabLst/>
              <a:defRPr/>
            </a:pPr>
            <a:r>
              <a:rPr kumimoji="0" lang="zh-CN" altLang="en-US" sz="16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北京友谊，尤红</a:t>
            </a:r>
            <a:r>
              <a:rPr kumimoji="0" lang="en-US" altLang="zh-CN" sz="16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a:t>
            </a:r>
            <a:r>
              <a:rPr kumimoji="0" lang="zh-CN" altLang="en-US" sz="16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  </a:t>
            </a:r>
            <a:r>
              <a:rPr kumimoji="0" lang="en-US" altLang="zh-CN" sz="16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3</a:t>
            </a:r>
            <a:r>
              <a:rPr kumimoji="0" lang="zh-CN" altLang="en-US" sz="16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 </a:t>
            </a:r>
            <a:r>
              <a:rPr kumimoji="0" lang="en-US" altLang="zh-CN" sz="16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studies</a:t>
            </a:r>
            <a:r>
              <a:rPr kumimoji="0" lang="zh-CN" altLang="en-US" sz="16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 </a:t>
            </a:r>
            <a:endParaRPr kumimoji="0" lang="en-US" altLang="zh-CN" sz="16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285750" marR="0" lvl="0" indent="-285750" algn="l" defTabSz="914400" rtl="0" eaLnBrk="1" fontAlgn="auto" latinLnBrk="0" hangingPunct="1">
              <a:lnSpc>
                <a:spcPct val="140000"/>
              </a:lnSpc>
              <a:spcBef>
                <a:spcPts val="0"/>
              </a:spcBef>
              <a:spcAft>
                <a:spcPts val="0"/>
              </a:spcAft>
              <a:buClrTx/>
              <a:buSzTx/>
              <a:buFont typeface="Wingdings" panose="05000000000000000000" pitchFamily="2" charset="2"/>
              <a:buChar char="p"/>
              <a:tabLst/>
              <a:defRPr/>
            </a:pPr>
            <a:r>
              <a:rPr kumimoji="0" lang="zh-CN" altLang="en-US" sz="16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杭州师范，施军平</a:t>
            </a:r>
            <a:r>
              <a:rPr kumimoji="0" lang="en-US" altLang="zh-CN" sz="16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a:t>
            </a:r>
            <a:r>
              <a:rPr kumimoji="0" lang="zh-CN" altLang="en-US" sz="16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 </a:t>
            </a:r>
            <a:r>
              <a:rPr kumimoji="0" lang="en-US" altLang="zh-CN" sz="16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1 study </a:t>
            </a:r>
          </a:p>
          <a:p>
            <a:pPr marL="285750" marR="0" lvl="0" indent="-285750" algn="l" defTabSz="914400" rtl="0" eaLnBrk="1" fontAlgn="auto" latinLnBrk="0" hangingPunct="1">
              <a:lnSpc>
                <a:spcPct val="140000"/>
              </a:lnSpc>
              <a:spcBef>
                <a:spcPts val="0"/>
              </a:spcBef>
              <a:spcAft>
                <a:spcPts val="0"/>
              </a:spcAft>
              <a:buClrTx/>
              <a:buSzTx/>
              <a:buFont typeface="Wingdings" panose="05000000000000000000" pitchFamily="2" charset="2"/>
              <a:buChar char="p"/>
              <a:tabLst/>
              <a:defRPr/>
            </a:pPr>
            <a:r>
              <a:rPr kumimoji="0" lang="zh-CN" altLang="en-US" sz="16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温州附一 ，郑明华</a:t>
            </a:r>
            <a:r>
              <a:rPr kumimoji="0" lang="en-US" altLang="zh-CN" sz="16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 1 study </a:t>
            </a:r>
          </a:p>
          <a:p>
            <a:pPr marL="285750" marR="0" lvl="0" indent="-285750" algn="l" defTabSz="914400" rtl="0" eaLnBrk="1" fontAlgn="auto" latinLnBrk="0" hangingPunct="1">
              <a:lnSpc>
                <a:spcPct val="140000"/>
              </a:lnSpc>
              <a:spcBef>
                <a:spcPts val="0"/>
              </a:spcBef>
              <a:spcAft>
                <a:spcPts val="0"/>
              </a:spcAft>
              <a:buClrTx/>
              <a:buSzTx/>
              <a:buFont typeface="Wingdings" panose="05000000000000000000" pitchFamily="2" charset="2"/>
              <a:buChar char="ü"/>
              <a:tabLst/>
              <a:defRPr/>
            </a:pPr>
            <a:r>
              <a:rPr kumimoji="0" lang="zh-CN" altLang="en-US" sz="16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南方医院，侯金林</a:t>
            </a:r>
            <a:r>
              <a:rPr kumimoji="0" lang="en-US" altLang="zh-CN" sz="16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a:t>
            </a:r>
            <a:r>
              <a:rPr kumimoji="0" lang="zh-CN" altLang="en-US" sz="16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陈金军</a:t>
            </a:r>
            <a:r>
              <a:rPr kumimoji="0" lang="en-US" altLang="zh-CN" sz="16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 3 studies </a:t>
            </a:r>
          </a:p>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pic>
        <p:nvPicPr>
          <p:cNvPr id="9" name="Picture 8">
            <a:extLst>
              <a:ext uri="{FF2B5EF4-FFF2-40B4-BE49-F238E27FC236}">
                <a16:creationId xmlns:a16="http://schemas.microsoft.com/office/drawing/2014/main" id="{A0AE2DDF-81DE-F233-475F-29C2EC73E11E}"/>
              </a:ext>
            </a:extLst>
          </p:cNvPr>
          <p:cNvPicPr>
            <a:picLocks noChangeAspect="1"/>
          </p:cNvPicPr>
          <p:nvPr/>
        </p:nvPicPr>
        <p:blipFill>
          <a:blip r:embed="rId2"/>
          <a:stretch>
            <a:fillRect/>
          </a:stretch>
        </p:blipFill>
        <p:spPr>
          <a:xfrm>
            <a:off x="385324" y="1843908"/>
            <a:ext cx="6937691" cy="1475529"/>
          </a:xfrm>
          <a:prstGeom prst="rect">
            <a:avLst/>
          </a:prstGeom>
        </p:spPr>
      </p:pic>
      <p:sp>
        <p:nvSpPr>
          <p:cNvPr id="11" name="TextBox 10">
            <a:extLst>
              <a:ext uri="{FF2B5EF4-FFF2-40B4-BE49-F238E27FC236}">
                <a16:creationId xmlns:a16="http://schemas.microsoft.com/office/drawing/2014/main" id="{AF3F45A1-6918-4654-86FD-A7ED9C2D8C97}"/>
              </a:ext>
            </a:extLst>
          </p:cNvPr>
          <p:cNvSpPr txBox="1"/>
          <p:nvPr/>
        </p:nvSpPr>
        <p:spPr bwMode="gray">
          <a:xfrm>
            <a:off x="535081" y="1309906"/>
            <a:ext cx="618196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FZXBSJW--GB1-0"/>
                <a:ea typeface="+mn-ea"/>
                <a:cs typeface="+mn-cs"/>
              </a:rPr>
              <a:t>药物</a:t>
            </a:r>
            <a:r>
              <a:rPr kumimoji="0" lang="en-US" altLang="zh-CN" sz="1800" b="0" i="0" u="none" strike="noStrike" kern="1200" cap="none" spc="0" normalizeH="0" baseline="0" noProof="0">
                <a:ln>
                  <a:noFill/>
                </a:ln>
                <a:solidFill>
                  <a:prstClr val="black"/>
                </a:solidFill>
                <a:effectLst/>
                <a:uLnTx/>
                <a:uFillTx/>
                <a:latin typeface="FZXBSJW--GB1-0"/>
                <a:ea typeface="+mn-ea"/>
                <a:cs typeface="+mn-cs"/>
              </a:rPr>
              <a:t>Ⅰ</a:t>
            </a:r>
            <a:r>
              <a:rPr kumimoji="0" lang="zh-CN" altLang="en-US" sz="1800" b="0" i="0" u="none" strike="noStrike" kern="1200" cap="none" spc="0" normalizeH="0" baseline="0" noProof="0">
                <a:ln>
                  <a:noFill/>
                </a:ln>
                <a:solidFill>
                  <a:prstClr val="black"/>
                </a:solidFill>
                <a:effectLst/>
                <a:uLnTx/>
                <a:uFillTx/>
                <a:latin typeface="FZXBSJW--GB1-0"/>
                <a:ea typeface="+mn-ea"/>
                <a:cs typeface="+mn-cs"/>
              </a:rPr>
              <a:t>期临床试验管理指导原则</a:t>
            </a: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 name="文本框 3">
            <a:extLst>
              <a:ext uri="{FF2B5EF4-FFF2-40B4-BE49-F238E27FC236}">
                <a16:creationId xmlns:a16="http://schemas.microsoft.com/office/drawing/2014/main" id="{5AB2B500-9DDB-FC55-B3F4-67AEC26305C4}"/>
              </a:ext>
            </a:extLst>
          </p:cNvPr>
          <p:cNvSpPr txBox="1"/>
          <p:nvPr/>
        </p:nvSpPr>
        <p:spPr bwMode="gray">
          <a:xfrm>
            <a:off x="6991391" y="3617009"/>
            <a:ext cx="5981518" cy="2384179"/>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LIVERAGE cirrhosis enrollment for reference:</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rPr>
              <a:t>北京友谊 </a:t>
            </a: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5 pts (30-Dec-24 ~ now)</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rPr>
              <a:t>杭州师范 </a:t>
            </a: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2pts (21-Mar-25~now)</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rPr>
              <a:t>温州附一 </a:t>
            </a: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1pt  (25-Feb-25 ~now)  </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rPr>
              <a:t>南方医院 </a:t>
            </a: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1pt (21-Apr-25~now)</a:t>
            </a:r>
          </a:p>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3473914055"/>
      </p:ext>
    </p:extLst>
  </p:cSld>
  <p:clrMapOvr>
    <a:masterClrMapping/>
  </p:clrMapOvr>
</p:sld>
</file>

<file path=ppt/theme/theme1.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2.xml><?xml version="1.0" encoding="utf-8"?>
<a:theme xmlns:a="http://schemas.openxmlformats.org/drawingml/2006/main" name="2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3.xml><?xml version="1.0" encoding="utf-8"?>
<a:theme xmlns:a="http://schemas.openxmlformats.org/drawingml/2006/main" name="3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4.xml><?xml version="1.0" encoding="utf-8"?>
<a:theme xmlns:a="http://schemas.openxmlformats.org/drawingml/2006/main" name="4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ユーザー定義 4">
      <a:majorFont>
        <a:latin typeface="Boehringer Forward Head"/>
        <a:ea typeface="Meiryo UI"/>
        <a:cs typeface=""/>
      </a:majorFont>
      <a:minorFont>
        <a:latin typeface="Boehringer Forward Text"/>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PPT-Slide-Library_japan.potx" id="{D9925C62-1772-4034-AC8B-F47AE278665E}" vid="{9A5D55C5-1ACF-41F3-B9E5-F0389372E3FC}"/>
    </a:ext>
  </a:extLst>
</a:theme>
</file>

<file path=ppt/theme/theme5.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0089264629A9345B70E065414DFB55F" ma:contentTypeVersion="13" ma:contentTypeDescription="Create a new document." ma:contentTypeScope="" ma:versionID="5b3ecd571f2f479d86935419f04ebf61">
  <xsd:schema xmlns:xsd="http://www.w3.org/2001/XMLSchema" xmlns:xs="http://www.w3.org/2001/XMLSchema" xmlns:p="http://schemas.microsoft.com/office/2006/metadata/properties" xmlns:ns2="545a336c-45ba-4242-ba8b-2a24159e5b92" xmlns:ns3="6105e471-a007-4c69-b034-cfd36128fabd" targetNamespace="http://schemas.microsoft.com/office/2006/metadata/properties" ma:root="true" ma:fieldsID="407e22b21c13b20270037f8773d43d34" ns2:_="" ns3:_="">
    <xsd:import namespace="545a336c-45ba-4242-ba8b-2a24159e5b92"/>
    <xsd:import namespace="6105e471-a007-4c69-b034-cfd36128fab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DateTaken" minOccurs="0"/>
                <xsd:element ref="ns3:MediaLengthInSecond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5a336c-45ba-4242-ba8b-2a24159e5b9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05e471-a007-4c69-b034-cfd36128fab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C36C895-A12B-4F8C-861E-47640D95C080}">
  <ds:schemaRefs>
    <ds:schemaRef ds:uri="http://schemas.microsoft.com/sharepoint/v3/contenttype/forms"/>
  </ds:schemaRefs>
</ds:datastoreItem>
</file>

<file path=customXml/itemProps2.xml><?xml version="1.0" encoding="utf-8"?>
<ds:datastoreItem xmlns:ds="http://schemas.openxmlformats.org/officeDocument/2006/customXml" ds:itemID="{DDB14A06-70B2-47CB-A216-38AAE11B2BC5}">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FCD5F3A-5480-4F53-85F5-806264518D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45a336c-45ba-4242-ba8b-2a24159e5b92"/>
    <ds:schemaRef ds:uri="6105e471-a007-4c69-b034-cfd36128fab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fd0b529-4a04-4616-88d2-531082d94bb8}" enabled="1" method="Standard" siteId="{e1f8af86-ee95-4718-bd0d-375b37366c83}" contentBits="0" removed="0"/>
</clbl:labelList>
</file>

<file path=docProps/app.xml><?xml version="1.0" encoding="utf-8"?>
<Properties xmlns="http://schemas.openxmlformats.org/officeDocument/2006/extended-properties" xmlns:vt="http://schemas.openxmlformats.org/officeDocument/2006/docPropsVTypes">
  <TotalTime>3925</TotalTime>
  <Words>2546</Words>
  <Application>Microsoft Office PowerPoint</Application>
  <PresentationFormat>宽屏</PresentationFormat>
  <Paragraphs>652</Paragraphs>
  <Slides>15</Slides>
  <Notes>7</Notes>
  <HiddenSlides>0</HiddenSlides>
  <MMClips>0</MMClips>
  <ScaleCrop>false</ScaleCrop>
  <HeadingPairs>
    <vt:vector size="4" baseType="variant">
      <vt:variant>
        <vt:lpstr>主题</vt:lpstr>
      </vt:variant>
      <vt:variant>
        <vt:i4>5</vt:i4>
      </vt:variant>
      <vt:variant>
        <vt:lpstr>幻灯片标题</vt:lpstr>
      </vt:variant>
      <vt:variant>
        <vt:i4>15</vt:i4>
      </vt:variant>
    </vt:vector>
  </HeadingPairs>
  <TitlesOfParts>
    <vt:vector size="20" baseType="lpstr">
      <vt:lpstr>Boehringer Ingelheim 16:9</vt:lpstr>
      <vt:lpstr>2_Boehringer Ingelheim 16:9</vt:lpstr>
      <vt:lpstr>3_Boehringer Ingelheim 16:9</vt:lpstr>
      <vt:lpstr>4_Boehringer Ingelheim 16:9</vt:lpstr>
      <vt:lpstr>Boehringer Ingelheim 16:9</vt:lpstr>
      <vt:lpstr>FAP/TRAILR2 (BI 3802876)  Asian Phase 1 in MASH cirrhosis </vt:lpstr>
      <vt:lpstr>Executive Summary</vt:lpstr>
      <vt:lpstr>Asset overview</vt:lpstr>
      <vt:lpstr>Possibility of PK backloading: Low</vt:lpstr>
      <vt:lpstr>Different HA interaction strategy by China and Japan </vt:lpstr>
      <vt:lpstr>Asian Phase1 Proposal</vt:lpstr>
      <vt:lpstr>Global and Asian timeline (Asian phase 1)</vt:lpstr>
      <vt:lpstr>Global and Asian timeline (China alone phase 1)</vt:lpstr>
      <vt:lpstr>Key Issue/Risk and Potential Impact</vt:lpstr>
      <vt:lpstr>Closing Slide</vt:lpstr>
      <vt:lpstr>PowerPoint 演示文稿</vt:lpstr>
      <vt:lpstr>PowerPoint 演示文稿</vt:lpstr>
      <vt:lpstr>1517-0002 (Phase 2a trial)</vt:lpstr>
      <vt:lpstr>BD preparation timeline w/HAI </vt:lpstr>
      <vt:lpstr>PI Qualification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Zhu,Julia (HP Medicine) BII-CN-S</dc:creator>
  <cp:lastModifiedBy>Zhu,Julia (HP Medicine) BII-CN-S</cp:lastModifiedBy>
  <cp:revision>34</cp:revision>
  <dcterms:created xsi:type="dcterms:W3CDTF">2025-12-06T05:32:02Z</dcterms:created>
  <dcterms:modified xsi:type="dcterms:W3CDTF">2025-12-14T12:55:56Z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0x01010040089264629A9345B70E065414DFB55F</vt:lpwstr>
  </property>
</Properties>
</file>