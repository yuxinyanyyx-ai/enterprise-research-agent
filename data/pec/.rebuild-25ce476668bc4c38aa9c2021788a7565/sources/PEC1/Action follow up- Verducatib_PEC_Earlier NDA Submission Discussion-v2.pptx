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6" r:id="rId4"/>
  </p:sldMasterIdLst>
  <p:notesMasterIdLst>
    <p:notesMasterId r:id="rId9"/>
  </p:notesMasterIdLst>
  <p:sldIdLst>
    <p:sldId id="300" r:id="rId5"/>
    <p:sldId id="277" r:id="rId6"/>
    <p:sldId id="264" r:id="rId7"/>
    <p:sldId id="299"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713824-3DC7-4D9E-9504-4468A296EAA2}">
          <p14:sldIdLst>
            <p14:sldId id="300"/>
            <p14:sldId id="277"/>
            <p14:sldId id="264"/>
            <p14:sldId id="29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67A001-4951-305C-B98D-35FBBA796CD8}" name="Wang,Shirley (HP Medicine) BII-CN-B" initials="SW" userId="S::shirley_2.wang@boehringer-ingelheim.com::48b801ce-80b8-42d3-931b-2dcaf726016f" providerId="AD"/>
  <p188:author id="{3D341D07-0F5E-8CC2-0F30-ADC2F3A3C4FA}" name="Chen,Dr.,Ying (HP Medicine) BII-CN-S" initials="YC" userId="S::ying_4.chen@boehringer-ingelheim.com::7c019f49-0ee9-4787-9ac5-a11d3b82d6d2" providerId="AD"/>
  <p188:author id="{DBD85D0A-9BDD-43C6-9CE9-DD630CDA1613}" name="Tao,Helen (HP Medicine) BII-CN-S" initials="HT" userId="S::helen.tao@boehringer-ingelheim.com::35187e18-a979-452a-a00a-a6d2f11c820c" providerId="AD"/>
  <p188:author id="{A5B9440D-8132-04F9-2566-1BD904246C0C}" name="Qian,Qi (MED CDO) BII-CN-S" initials="QQ" userId="S::qi.qian@boehringer-ingelheim.com::a012f63a-3071-45e6-b604-0f04cceb25ea" providerId="AD"/>
  <p188:author id="{0A842A27-7018-A6FB-59DA-7BEDCCF43058}" name="Sieben,Dr.,Julia (MED RA) BII-DE-I" initials="SB" userId="S::julia.sieben@boehringer-ingelheim.com::ca481289-463b-4599-983d-a769bd16756b" providerId="AD"/>
  <p188:author id="{DFFCAA2A-7911-D1A6-A28E-2ECE6DB17DE2}" name="Lu,Yixin (MED CDO) BII-CN-S" initials="" userId="S::yixin.lu@boehringer-ingelheim.com::6055c963-f18b-4b43-9f26-62c3b4c5f854" providerId="AD"/>
  <p188:author id="{F81F842E-52A1-E1DA-A70C-D1ABAA0AF33D}" name="Saengsuriya,Dr.,Carola (MED RA) BII-DE-I" initials="SB" userId="S::carola.saengsuriya@boehringer-ingelheim.com::8ecc8233-882f-4e91-a487-5b98e0b85c38" providerId="AD"/>
  <p188:author id="{8C6F974B-7CBF-9607-CA34-60213B526921}" name="Liu,Lincy (HP Medicine) BII-CN-B" initials="YL" userId="S::lincy.liu@boehringer-ingelheim.com::7124b113-8c71-45ad-9c9b-482a6cac7cb5" providerId="AD"/>
  <p188:author id="{D51C7759-F581-2455-7906-7D8AEEDB1C6B}" name="Mao,Chunqi (HP Medicine) BII-CN-S" initials="MB" userId="S::chunqi.mao@boehringer-ingelheim.com::6947bbc1-66ed-4c0d-8cbe-9379e4b934b8" providerId="AD"/>
  <p188:author id="{F17A6769-F87E-EF61-FF60-5A97952D9034}" name="Xu,Lindsay (HP Medicine) BII-CN-S" initials="XB" userId="S::lindsay.xu@boehringer-ingelheim.com::80a8f60d-1654-4b86-b932-46a0c01eb59c" providerId="AD"/>
  <p188:author id="{3C62718A-852D-A254-B361-9150D9DB2D0E}" name="Li,Yuting (HP Medicine) BII-CN-S" initials="YL" userId="S::yuting.li@boehringer-ingelheim.com::ce8fbb54-122c-426d-b8da-fdcc5e1b5022" providerId="AD"/>
  <p188:author id="{D02E7CB4-282E-A6E2-4F34-22B5D2DCEC89}" name="Liu,Dr.,Meiruo (HP Medicine) BII-CN-S" initials="ML" userId="S::meiruo.liu@boehringer-ingelheim.com::ece9aa16-5bba-4d2f-b200-019c8e2ba0a0" providerId="AD"/>
  <p188:author id="{3EE9A3BA-A0DF-86C1-548A-56E94F48D9E7}" name="Wang,Dr.,Bo (HP Medicine) BII-CN-S" initials="" userId="S::bo_7.wang@boehringer-ingelheim.com::950b8564-41e4-4a68-9f11-e3d2e116a359" providerId="AD"/>
  <p188:author id="{F51ECDD6-236D-557A-332A-2E3D52E52276}" name="Zhang,Ying (MED CDO) BII-CN-S" initials="YZ" userId="S::ying_2.zhang@boehringer-ingelheim.com::456eb1e0-4978-443e-822e-be854341a778" providerId="AD"/>
  <p188:author id="{D7B8D2DE-D6DD-A4D5-E725-5140F840A37E}" name="Zhu,Dr.,Yayun (HP Medicine) BII-CN-S" initials="ZB" userId="S::yayun.zhu@boehringer-ingelheim.com::f923e91b-1433-4718-a9fb-37abca69f87f" providerId="AD"/>
  <p188:author id="{D51BEEF3-B88E-022B-990D-34AD78E64AAC}" name="Song,Jessie (MED CDO) BII-CN-B" initials="YS" userId="S::jessie.song@boehringer-ingelheim.com::8d621330-7e77-4ec8-8511-72401218b08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Zhu,Dr.,Yayun (HP Medicine) BII-CN-S" initials="ZB" lastIdx="5" clrIdx="6">
    <p:extLst>
      <p:ext uri="{19B8F6BF-5375-455C-9EA6-DF929625EA0E}">
        <p15:presenceInfo xmlns:p15="http://schemas.microsoft.com/office/powerpoint/2012/main" userId="S::yayun.zhu@boehringer-ingelheim.com::f923e91b-1433-4718-a9fb-37abca69f87f" providerId="AD"/>
      </p:ext>
    </p:extLst>
  </p:cmAuthor>
  <p:cmAuthor id="1" name="Chen,Dr.,Ying (HP Medicine) BII-CN-S" initials="YC" lastIdx="24" clrIdx="0">
    <p:extLst>
      <p:ext uri="{19B8F6BF-5375-455C-9EA6-DF929625EA0E}">
        <p15:presenceInfo xmlns:p15="http://schemas.microsoft.com/office/powerpoint/2012/main" userId="S::ying_4.chen@boehringer-ingelheim.com::7c019f49-0ee9-4787-9ac5-a11d3b82d6d2" providerId="AD"/>
      </p:ext>
    </p:extLst>
  </p:cmAuthor>
  <p:cmAuthor id="8" name="Wang,Dr.,Bo (HP Medicine) BII-CN-S" initials="BW" lastIdx="7" clrIdx="7">
    <p:extLst>
      <p:ext uri="{19B8F6BF-5375-455C-9EA6-DF929625EA0E}">
        <p15:presenceInfo xmlns:p15="http://schemas.microsoft.com/office/powerpoint/2012/main" userId="S::bo_7.wang@boehringer-ingelheim.com::950b8564-41e4-4a68-9f11-e3d2e116a359" providerId="AD"/>
      </p:ext>
    </p:extLst>
  </p:cmAuthor>
  <p:cmAuthor id="2" name="Qian,Qi (MED CD&amp;O) BII-CN-S" initials="QQ" lastIdx="12" clrIdx="1">
    <p:extLst>
      <p:ext uri="{19B8F6BF-5375-455C-9EA6-DF929625EA0E}">
        <p15:presenceInfo xmlns:p15="http://schemas.microsoft.com/office/powerpoint/2012/main" userId="S::qi.qian@boehringer-ingelheim.com::a012f63a-3071-45e6-b604-0f04cceb25ea" providerId="AD"/>
      </p:ext>
    </p:extLst>
  </p:cmAuthor>
  <p:cmAuthor id="9" name="Ma,Jiayi (MED CDO) BII-CN-S" initials="JM" lastIdx="3" clrIdx="8">
    <p:extLst>
      <p:ext uri="{19B8F6BF-5375-455C-9EA6-DF929625EA0E}">
        <p15:presenceInfo xmlns:p15="http://schemas.microsoft.com/office/powerpoint/2012/main" userId="S::jiayi.ma@boehringer-ingelheim.com::4bb250b1-eaf6-4ab9-91ce-2c35378e4e69" providerId="AD"/>
      </p:ext>
    </p:extLst>
  </p:cmAuthor>
  <p:cmAuthor id="3" name="Tao,Helen (HP Medicine) BII-CN-S" initials="TB" lastIdx="4" clrIdx="2">
    <p:extLst>
      <p:ext uri="{19B8F6BF-5375-455C-9EA6-DF929625EA0E}">
        <p15:presenceInfo xmlns:p15="http://schemas.microsoft.com/office/powerpoint/2012/main" userId="S::helen.tao@boehringer-ingelheim.com::35187e18-a979-452a-a00a-a6d2f11c820c" providerId="AD"/>
      </p:ext>
    </p:extLst>
  </p:cmAuthor>
  <p:cmAuthor id="10" name="Zhang,Ying (MED CDO) BII-CN-S" initials="YZ" lastIdx="6" clrIdx="9">
    <p:extLst>
      <p:ext uri="{19B8F6BF-5375-455C-9EA6-DF929625EA0E}">
        <p15:presenceInfo xmlns:p15="http://schemas.microsoft.com/office/powerpoint/2012/main" userId="S::ying_2.zhang@boehringer-ingelheim.com::456eb1e0-4978-443e-822e-be854341a778" providerId="AD"/>
      </p:ext>
    </p:extLst>
  </p:cmAuthor>
  <p:cmAuthor id="4" name="Xu,Lindsay (HP Medicine) BII-CN-S" initials="XB" lastIdx="3" clrIdx="3">
    <p:extLst>
      <p:ext uri="{19B8F6BF-5375-455C-9EA6-DF929625EA0E}">
        <p15:presenceInfo xmlns:p15="http://schemas.microsoft.com/office/powerpoint/2012/main" userId="S::lindsay.xu@boehringer-ingelheim.com::80a8f60d-1654-4b86-b932-46a0c01eb59c" providerId="AD"/>
      </p:ext>
    </p:extLst>
  </p:cmAuthor>
  <p:cmAuthor id="11" name="Li,Yuting (HP Medicine) BII-CN-S" initials="YL" lastIdx="2" clrIdx="10">
    <p:extLst>
      <p:ext uri="{19B8F6BF-5375-455C-9EA6-DF929625EA0E}">
        <p15:presenceInfo xmlns:p15="http://schemas.microsoft.com/office/powerpoint/2012/main" userId="S::yuting.li@boehringer-ingelheim.com::ce8fbb54-122c-426d-b8da-fdcc5e1b5022" providerId="AD"/>
      </p:ext>
    </p:extLst>
  </p:cmAuthor>
  <p:cmAuthor id="5" name="Kind,Saskia (HP Medicine) BII-CN-S" initials="SK" lastIdx="3" clrIdx="4">
    <p:extLst>
      <p:ext uri="{19B8F6BF-5375-455C-9EA6-DF929625EA0E}">
        <p15:presenceInfo xmlns:p15="http://schemas.microsoft.com/office/powerpoint/2012/main" userId="S::saskia.kind@boehringer-ingelheim.com::14424b57-ed60-4e43-9702-4cbb8465d621" providerId="AD"/>
      </p:ext>
    </p:extLst>
  </p:cmAuthor>
  <p:cmAuthor id="6" name="Ivanoff,Dr.,Nathalie (MED TA Infl) BII-DE-I" initials="NI" lastIdx="2" clrIdx="5">
    <p:extLst>
      <p:ext uri="{19B8F6BF-5375-455C-9EA6-DF929625EA0E}">
        <p15:presenceInfo xmlns:p15="http://schemas.microsoft.com/office/powerpoint/2012/main" userId="S::nathalie.ivanoff@boehringer-ingelheim.com::55733a91-2093-4bec-b3d1-e781a629847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4A1E4"/>
    <a:srgbClr val="052EFC"/>
    <a:srgbClr val="FFE667"/>
    <a:srgbClr val="F1FAFC"/>
    <a:srgbClr val="EEC800"/>
    <a:srgbClr val="2636A2"/>
    <a:srgbClr val="F75605"/>
    <a:srgbClr val="D80B0C"/>
    <a:srgbClr val="E1B900"/>
    <a:srgbClr val="C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B9BB8B-B3BF-4506-B719-0A4C159A8EF9}" v="8" dt="2026-05-14T00:07:35.626"/>
    <p1510:client id="{9C8BD72A-8FAB-1606-B0D7-4F956A174C51}" v="243" dt="2026-05-13T14:23:33.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u,Lincy (HP Medicine) BII-CN-B" userId="S::lincy.liu@boehringer-ingelheim.com::7124b113-8c71-45ad-9c9b-482a6cac7cb5" providerId="AD" clId="Web-{9C8BD72A-8FAB-1606-B0D7-4F956A174C51}"/>
    <pc:docChg chg="modSld">
      <pc:chgData name="Liu,Lincy (HP Medicine) BII-CN-B" userId="S::lincy.liu@boehringer-ingelheim.com::7124b113-8c71-45ad-9c9b-482a6cac7cb5" providerId="AD" clId="Web-{9C8BD72A-8FAB-1606-B0D7-4F956A174C51}" dt="2026-05-13T14:23:33.496" v="141" actId="20577"/>
      <pc:docMkLst>
        <pc:docMk/>
      </pc:docMkLst>
      <pc:sldChg chg="modSp">
        <pc:chgData name="Liu,Lincy (HP Medicine) BII-CN-B" userId="S::lincy.liu@boehringer-ingelheim.com::7124b113-8c71-45ad-9c9b-482a6cac7cb5" providerId="AD" clId="Web-{9C8BD72A-8FAB-1606-B0D7-4F956A174C51}" dt="2026-05-13T14:23:33.496" v="141" actId="20577"/>
        <pc:sldMkLst>
          <pc:docMk/>
          <pc:sldMk cId="523017801" sldId="264"/>
        </pc:sldMkLst>
        <pc:spChg chg="mod">
          <ac:chgData name="Liu,Lincy (HP Medicine) BII-CN-B" userId="S::lincy.liu@boehringer-ingelheim.com::7124b113-8c71-45ad-9c9b-482a6cac7cb5" providerId="AD" clId="Web-{9C8BD72A-8FAB-1606-B0D7-4F956A174C51}" dt="2026-05-13T14:23:33.496" v="141" actId="20577"/>
          <ac:spMkLst>
            <pc:docMk/>
            <pc:sldMk cId="523017801" sldId="264"/>
            <ac:spMk id="3" creationId="{BA66C484-7527-BBC0-7EBB-88970F4B6CF2}"/>
          </ac:spMkLst>
        </pc:spChg>
      </pc:sldChg>
      <pc:sldChg chg="delSp modSp">
        <pc:chgData name="Liu,Lincy (HP Medicine) BII-CN-B" userId="S::lincy.liu@boehringer-ingelheim.com::7124b113-8c71-45ad-9c9b-482a6cac7cb5" providerId="AD" clId="Web-{9C8BD72A-8FAB-1606-B0D7-4F956A174C51}" dt="2026-05-13T14:17:38.080" v="105" actId="20577"/>
        <pc:sldMkLst>
          <pc:docMk/>
          <pc:sldMk cId="2461504970" sldId="277"/>
        </pc:sldMkLst>
        <pc:spChg chg="del mod">
          <ac:chgData name="Liu,Lincy (HP Medicine) BII-CN-B" userId="S::lincy.liu@boehringer-ingelheim.com::7124b113-8c71-45ad-9c9b-482a6cac7cb5" providerId="AD" clId="Web-{9C8BD72A-8FAB-1606-B0D7-4F956A174C51}" dt="2026-05-13T14:13:15.976" v="6"/>
          <ac:spMkLst>
            <pc:docMk/>
            <pc:sldMk cId="2461504970" sldId="277"/>
            <ac:spMk id="23" creationId="{FA84DF32-642D-7585-6D4E-2F0A63C837CF}"/>
          </ac:spMkLst>
        </pc:spChg>
        <pc:spChg chg="mod">
          <ac:chgData name="Liu,Lincy (HP Medicine) BII-CN-B" userId="S::lincy.liu@boehringer-ingelheim.com::7124b113-8c71-45ad-9c9b-482a6cac7cb5" providerId="AD" clId="Web-{9C8BD72A-8FAB-1606-B0D7-4F956A174C51}" dt="2026-05-13T14:14:58.512" v="28" actId="20577"/>
          <ac:spMkLst>
            <pc:docMk/>
            <pc:sldMk cId="2461504970" sldId="277"/>
            <ac:spMk id="24" creationId="{BF7A55BE-F1D9-A8EB-125F-9752EE4AA4C4}"/>
          </ac:spMkLst>
        </pc:spChg>
        <pc:spChg chg="del mod">
          <ac:chgData name="Liu,Lincy (HP Medicine) BII-CN-B" userId="S::lincy.liu@boehringer-ingelheim.com::7124b113-8c71-45ad-9c9b-482a6cac7cb5" providerId="AD" clId="Web-{9C8BD72A-8FAB-1606-B0D7-4F956A174C51}" dt="2026-05-13T14:14:18.604" v="25"/>
          <ac:spMkLst>
            <pc:docMk/>
            <pc:sldMk cId="2461504970" sldId="277"/>
            <ac:spMk id="25" creationId="{C34D9036-5878-B628-8F13-47ED5569D1EC}"/>
          </ac:spMkLst>
        </pc:spChg>
        <pc:spChg chg="mod">
          <ac:chgData name="Liu,Lincy (HP Medicine) BII-CN-B" userId="S::lincy.liu@boehringer-ingelheim.com::7124b113-8c71-45ad-9c9b-482a6cac7cb5" providerId="AD" clId="Web-{9C8BD72A-8FAB-1606-B0D7-4F956A174C51}" dt="2026-05-13T14:14:32.667" v="26" actId="1076"/>
          <ac:spMkLst>
            <pc:docMk/>
            <pc:sldMk cId="2461504970" sldId="277"/>
            <ac:spMk id="26" creationId="{7C0427BE-A232-94D1-AFB0-DFE264A0B3AB}"/>
          </ac:spMkLst>
        </pc:spChg>
        <pc:spChg chg="mod">
          <ac:chgData name="Liu,Lincy (HP Medicine) BII-CN-B" userId="S::lincy.liu@boehringer-ingelheim.com::7124b113-8c71-45ad-9c9b-482a6cac7cb5" providerId="AD" clId="Web-{9C8BD72A-8FAB-1606-B0D7-4F956A174C51}" dt="2026-05-13T14:17:38.080" v="105" actId="20577"/>
          <ac:spMkLst>
            <pc:docMk/>
            <pc:sldMk cId="2461504970" sldId="277"/>
            <ac:spMk id="47" creationId="{ED7C8A94-0628-D5B6-54C7-E38A1E1809CE}"/>
          </ac:spMkLst>
        </pc:spChg>
      </pc:sldChg>
    </pc:docChg>
  </pc:docChgLst>
  <pc:docChgLst>
    <pc:chgData name="Tao,Helen (HP Medicine) BII-CN-S" userId="35187e18-a979-452a-a00a-a6d2f11c820c" providerId="ADAL" clId="{5344CDBA-D7FA-4190-A233-60C90B17B1B0}"/>
    <pc:docChg chg="undo custSel addSld delSld modSld sldOrd modSection">
      <pc:chgData name="Tao,Helen (HP Medicine) BII-CN-S" userId="35187e18-a979-452a-a00a-a6d2f11c820c" providerId="ADAL" clId="{5344CDBA-D7FA-4190-A233-60C90B17B1B0}" dt="2026-05-14T00:08:20.993" v="1250" actId="6549"/>
      <pc:docMkLst>
        <pc:docMk/>
      </pc:docMkLst>
      <pc:sldChg chg="addSp delSp modSp mod">
        <pc:chgData name="Tao,Helen (HP Medicine) BII-CN-S" userId="35187e18-a979-452a-a00a-a6d2f11c820c" providerId="ADAL" clId="{5344CDBA-D7FA-4190-A233-60C90B17B1B0}" dt="2026-05-14T00:02:07.953" v="1238" actId="20577"/>
        <pc:sldMkLst>
          <pc:docMk/>
          <pc:sldMk cId="523017801" sldId="264"/>
        </pc:sldMkLst>
        <pc:spChg chg="mod">
          <ac:chgData name="Tao,Helen (HP Medicine) BII-CN-S" userId="35187e18-a979-452a-a00a-a6d2f11c820c" providerId="ADAL" clId="{5344CDBA-D7FA-4190-A233-60C90B17B1B0}" dt="2026-05-14T00:00:21.563" v="1216" actId="20577"/>
          <ac:spMkLst>
            <pc:docMk/>
            <pc:sldMk cId="523017801" sldId="264"/>
            <ac:spMk id="2" creationId="{544A8336-7CB8-DC05-EF09-BF6A5D941A52}"/>
          </ac:spMkLst>
        </pc:spChg>
        <pc:spChg chg="mod">
          <ac:chgData name="Tao,Helen (HP Medicine) BII-CN-S" userId="35187e18-a979-452a-a00a-a6d2f11c820c" providerId="ADAL" clId="{5344CDBA-D7FA-4190-A233-60C90B17B1B0}" dt="2026-05-14T00:02:07.953" v="1238" actId="20577"/>
          <ac:spMkLst>
            <pc:docMk/>
            <pc:sldMk cId="523017801" sldId="264"/>
            <ac:spMk id="3" creationId="{BA66C484-7527-BBC0-7EBB-88970F4B6CF2}"/>
          </ac:spMkLst>
        </pc:spChg>
        <pc:spChg chg="add del">
          <ac:chgData name="Tao,Helen (HP Medicine) BII-CN-S" userId="35187e18-a979-452a-a00a-a6d2f11c820c" providerId="ADAL" clId="{5344CDBA-D7FA-4190-A233-60C90B17B1B0}" dt="2026-05-13T10:46:40.447" v="574" actId="22"/>
          <ac:spMkLst>
            <pc:docMk/>
            <pc:sldMk cId="523017801" sldId="264"/>
            <ac:spMk id="6" creationId="{1A4FC8B8-6090-CDCF-6E59-216702ED0147}"/>
          </ac:spMkLst>
        </pc:spChg>
        <pc:picChg chg="add mod">
          <ac:chgData name="Tao,Helen (HP Medicine) BII-CN-S" userId="35187e18-a979-452a-a00a-a6d2f11c820c" providerId="ADAL" clId="{5344CDBA-D7FA-4190-A233-60C90B17B1B0}" dt="2026-05-13T23:39:49.782" v="985" actId="1076"/>
          <ac:picMkLst>
            <pc:docMk/>
            <pc:sldMk cId="523017801" sldId="264"/>
            <ac:picMk id="8" creationId="{1D16AABF-07F8-3174-E94B-BF84D9408752}"/>
          </ac:picMkLst>
        </pc:picChg>
      </pc:sldChg>
      <pc:sldChg chg="addSp modSp mod">
        <pc:chgData name="Tao,Helen (HP Medicine) BII-CN-S" userId="35187e18-a979-452a-a00a-a6d2f11c820c" providerId="ADAL" clId="{5344CDBA-D7FA-4190-A233-60C90B17B1B0}" dt="2026-05-13T23:56:33.291" v="1163" actId="14100"/>
        <pc:sldMkLst>
          <pc:docMk/>
          <pc:sldMk cId="2461504970" sldId="277"/>
        </pc:sldMkLst>
        <pc:spChg chg="add mod">
          <ac:chgData name="Tao,Helen (HP Medicine) BII-CN-S" userId="35187e18-a979-452a-a00a-a6d2f11c820c" providerId="ADAL" clId="{5344CDBA-D7FA-4190-A233-60C90B17B1B0}" dt="2026-05-13T23:54:20.090" v="1145" actId="1076"/>
          <ac:spMkLst>
            <pc:docMk/>
            <pc:sldMk cId="2461504970" sldId="277"/>
            <ac:spMk id="3" creationId="{192614D3-5827-6C90-493E-19E90224BED2}"/>
          </ac:spMkLst>
        </pc:spChg>
        <pc:spChg chg="mod">
          <ac:chgData name="Tao,Helen (HP Medicine) BII-CN-S" userId="35187e18-a979-452a-a00a-a6d2f11c820c" providerId="ADAL" clId="{5344CDBA-D7FA-4190-A233-60C90B17B1B0}" dt="2026-05-13T23:55:07.944" v="1150" actId="20577"/>
          <ac:spMkLst>
            <pc:docMk/>
            <pc:sldMk cId="2461504970" sldId="277"/>
            <ac:spMk id="13" creationId="{CBC7C5C4-338E-3677-B0E3-40F01E2EFCC4}"/>
          </ac:spMkLst>
        </pc:spChg>
        <pc:spChg chg="mod">
          <ac:chgData name="Tao,Helen (HP Medicine) BII-CN-S" userId="35187e18-a979-452a-a00a-a6d2f11c820c" providerId="ADAL" clId="{5344CDBA-D7FA-4190-A233-60C90B17B1B0}" dt="2026-05-13T23:56:33.291" v="1163" actId="14100"/>
          <ac:spMkLst>
            <pc:docMk/>
            <pc:sldMk cId="2461504970" sldId="277"/>
            <ac:spMk id="24" creationId="{BF7A55BE-F1D9-A8EB-125F-9752EE4AA4C4}"/>
          </ac:spMkLst>
        </pc:spChg>
        <pc:spChg chg="mod">
          <ac:chgData name="Tao,Helen (HP Medicine) BII-CN-S" userId="35187e18-a979-452a-a00a-a6d2f11c820c" providerId="ADAL" clId="{5344CDBA-D7FA-4190-A233-60C90B17B1B0}" dt="2026-05-13T23:56:29.016" v="1162" actId="20577"/>
          <ac:spMkLst>
            <pc:docMk/>
            <pc:sldMk cId="2461504970" sldId="277"/>
            <ac:spMk id="26" creationId="{7C0427BE-A232-94D1-AFB0-DFE264A0B3AB}"/>
          </ac:spMkLst>
        </pc:spChg>
        <pc:spChg chg="mod">
          <ac:chgData name="Tao,Helen (HP Medicine) BII-CN-S" userId="35187e18-a979-452a-a00a-a6d2f11c820c" providerId="ADAL" clId="{5344CDBA-D7FA-4190-A233-60C90B17B1B0}" dt="2026-05-13T23:56:02.046" v="1156" actId="20577"/>
          <ac:spMkLst>
            <pc:docMk/>
            <pc:sldMk cId="2461504970" sldId="277"/>
            <ac:spMk id="47" creationId="{ED7C8A94-0628-D5B6-54C7-E38A1E1809CE}"/>
          </ac:spMkLst>
        </pc:spChg>
        <pc:spChg chg="mod">
          <ac:chgData name="Tao,Helen (HP Medicine) BII-CN-S" userId="35187e18-a979-452a-a00a-a6d2f11c820c" providerId="ADAL" clId="{5344CDBA-D7FA-4190-A233-60C90B17B1B0}" dt="2026-05-13T23:54:34.273" v="1146" actId="1076"/>
          <ac:spMkLst>
            <pc:docMk/>
            <pc:sldMk cId="2461504970" sldId="277"/>
            <ac:spMk id="52" creationId="{67BF1690-C222-85C0-86B5-F12328EDBF4B}"/>
          </ac:spMkLst>
        </pc:spChg>
      </pc:sldChg>
      <pc:sldChg chg="del">
        <pc:chgData name="Tao,Helen (HP Medicine) BII-CN-S" userId="35187e18-a979-452a-a00a-a6d2f11c820c" providerId="ADAL" clId="{5344CDBA-D7FA-4190-A233-60C90B17B1B0}" dt="2026-05-13T10:46:45.711" v="575" actId="47"/>
        <pc:sldMkLst>
          <pc:docMk/>
          <pc:sldMk cId="518466788" sldId="295"/>
        </pc:sldMkLst>
      </pc:sldChg>
      <pc:sldChg chg="modSp del mod">
        <pc:chgData name="Tao,Helen (HP Medicine) BII-CN-S" userId="35187e18-a979-452a-a00a-a6d2f11c820c" providerId="ADAL" clId="{5344CDBA-D7FA-4190-A233-60C90B17B1B0}" dt="2026-05-13T11:05:25.519" v="983" actId="47"/>
        <pc:sldMkLst>
          <pc:docMk/>
          <pc:sldMk cId="2466952316" sldId="298"/>
        </pc:sldMkLst>
        <pc:graphicFrameChg chg="mod modGraphic">
          <ac:chgData name="Tao,Helen (HP Medicine) BII-CN-S" userId="35187e18-a979-452a-a00a-a6d2f11c820c" providerId="ADAL" clId="{5344CDBA-D7FA-4190-A233-60C90B17B1B0}" dt="2026-05-13T10:58:53.302" v="593" actId="14100"/>
          <ac:graphicFrameMkLst>
            <pc:docMk/>
            <pc:sldMk cId="2466952316" sldId="298"/>
            <ac:graphicFrameMk id="4" creationId="{86CD6C81-9536-31DE-EC1F-EB87903899C9}"/>
          </ac:graphicFrameMkLst>
        </pc:graphicFrameChg>
      </pc:sldChg>
      <pc:sldChg chg="modSp new mod">
        <pc:chgData name="Tao,Helen (HP Medicine) BII-CN-S" userId="35187e18-a979-452a-a00a-a6d2f11c820c" providerId="ADAL" clId="{5344CDBA-D7FA-4190-A233-60C90B17B1B0}" dt="2026-05-14T00:08:20.993" v="1250" actId="6549"/>
        <pc:sldMkLst>
          <pc:docMk/>
          <pc:sldMk cId="842900181" sldId="299"/>
        </pc:sldMkLst>
        <pc:spChg chg="mod">
          <ac:chgData name="Tao,Helen (HP Medicine) BII-CN-S" userId="35187e18-a979-452a-a00a-a6d2f11c820c" providerId="ADAL" clId="{5344CDBA-D7FA-4190-A233-60C90B17B1B0}" dt="2026-05-14T00:07:50.147" v="1240" actId="108"/>
          <ac:spMkLst>
            <pc:docMk/>
            <pc:sldMk cId="842900181" sldId="299"/>
            <ac:spMk id="2" creationId="{36C50708-8E1F-897A-1553-35E6C37CEFC7}"/>
          </ac:spMkLst>
        </pc:spChg>
        <pc:spChg chg="mod">
          <ac:chgData name="Tao,Helen (HP Medicine) BII-CN-S" userId="35187e18-a979-452a-a00a-a6d2f11c820c" providerId="ADAL" clId="{5344CDBA-D7FA-4190-A233-60C90B17B1B0}" dt="2026-05-14T00:08:20.993" v="1250" actId="6549"/>
          <ac:spMkLst>
            <pc:docMk/>
            <pc:sldMk cId="842900181" sldId="299"/>
            <ac:spMk id="3" creationId="{35D35FCA-2ABF-53BD-9810-58F46BB6D73E}"/>
          </ac:spMkLst>
        </pc:spChg>
      </pc:sldChg>
      <pc:sldChg chg="modSp new mod ord">
        <pc:chgData name="Tao,Helen (HP Medicine) BII-CN-S" userId="35187e18-a979-452a-a00a-a6d2f11c820c" providerId="ADAL" clId="{5344CDBA-D7FA-4190-A233-60C90B17B1B0}" dt="2026-05-13T23:58:09.391" v="1208" actId="20577"/>
        <pc:sldMkLst>
          <pc:docMk/>
          <pc:sldMk cId="1523048694" sldId="300"/>
        </pc:sldMkLst>
        <pc:spChg chg="mod">
          <ac:chgData name="Tao,Helen (HP Medicine) BII-CN-S" userId="35187e18-a979-452a-a00a-a6d2f11c820c" providerId="ADAL" clId="{5344CDBA-D7FA-4190-A233-60C90B17B1B0}" dt="2026-05-13T23:57:58.987" v="1202" actId="20577"/>
          <ac:spMkLst>
            <pc:docMk/>
            <pc:sldMk cId="1523048694" sldId="300"/>
            <ac:spMk id="2" creationId="{F91AFD89-EA53-0727-367A-107D29247D7A}"/>
          </ac:spMkLst>
        </pc:spChg>
        <pc:spChg chg="mod">
          <ac:chgData name="Tao,Helen (HP Medicine) BII-CN-S" userId="35187e18-a979-452a-a00a-a6d2f11c820c" providerId="ADAL" clId="{5344CDBA-D7FA-4190-A233-60C90B17B1B0}" dt="2026-05-13T23:58:09.391" v="1208" actId="20577"/>
          <ac:spMkLst>
            <pc:docMk/>
            <pc:sldMk cId="1523048694" sldId="300"/>
            <ac:spMk id="3" creationId="{194B735E-2858-919E-49D4-F697C85B5B2F}"/>
          </ac:spMkLst>
        </pc:spChg>
      </pc:sldChg>
      <pc:sldChg chg="del">
        <pc:chgData name="Tao,Helen (HP Medicine) BII-CN-S" userId="35187e18-a979-452a-a00a-a6d2f11c820c" providerId="ADAL" clId="{5344CDBA-D7FA-4190-A233-60C90B17B1B0}" dt="2026-05-13T10:47:02.289" v="576" actId="47"/>
        <pc:sldMkLst>
          <pc:docMk/>
          <pc:sldMk cId="3684767456" sldId="214748363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2026/5/14</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3A3BA-3548-1089-163F-F98F8072D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5562B-B821-F520-DD3C-E4434FE5FA82}"/>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4F667BCC-1516-2C2D-314F-7742AD2E505A}"/>
              </a:ext>
            </a:extLst>
          </p:cNvPr>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altLang="zh-CN" sz="1200" b="0" i="0" kern="1200">
                <a:solidFill>
                  <a:schemeClr val="tx1"/>
                </a:solidFill>
                <a:effectLst/>
                <a:latin typeface="Boehringer Forward Text" panose="02000500000000020000" pitchFamily="2" charset="0"/>
                <a:ea typeface="+mn-ea"/>
                <a:cs typeface="+mn-cs"/>
              </a:rPr>
              <a:t>*Process Performance Qualification</a:t>
            </a:r>
          </a:p>
        </p:txBody>
      </p:sp>
      <p:sp>
        <p:nvSpPr>
          <p:cNvPr id="4" name="Footer Placeholder 3">
            <a:extLst>
              <a:ext uri="{FF2B5EF4-FFF2-40B4-BE49-F238E27FC236}">
                <a16:creationId xmlns:a16="http://schemas.microsoft.com/office/drawing/2014/main" id="{790DF310-EDDF-FF16-64CE-95AD0A683AD6}"/>
              </a:ext>
            </a:extLst>
          </p:cNvPr>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a:extLst>
              <a:ext uri="{FF2B5EF4-FFF2-40B4-BE49-F238E27FC236}">
                <a16:creationId xmlns:a16="http://schemas.microsoft.com/office/drawing/2014/main" id="{536E0141-7BBD-389B-A266-150C49624039}"/>
              </a:ext>
            </a:extLst>
          </p:cNvPr>
          <p:cNvSpPr>
            <a:spLocks noGrp="1"/>
          </p:cNvSpPr>
          <p:nvPr>
            <p:ph type="sldNum" sz="quarter" idx="5"/>
          </p:nvPr>
        </p:nvSpPr>
        <p:spPr/>
        <p:txBody>
          <a:bodyPr/>
          <a:lstStyle/>
          <a:p>
            <a:fld id="{D388EF01-4040-4B6C-80FD-9D313BD6F632}" type="slidenum">
              <a:rPr lang="en-US" sz="800" smtClean="0">
                <a:solidFill>
                  <a:schemeClr val="bg2"/>
                </a:solidFill>
              </a:rPr>
              <a:pPr/>
              <a:t>2</a:t>
            </a:fld>
            <a:endParaRPr lang="en-US" sz="800">
              <a:solidFill>
                <a:schemeClr val="bg2"/>
              </a:solidFill>
            </a:endParaRPr>
          </a:p>
        </p:txBody>
      </p:sp>
    </p:spTree>
    <p:extLst>
      <p:ext uri="{BB962C8B-B14F-4D97-AF65-F5344CB8AC3E}">
        <p14:creationId xmlns:p14="http://schemas.microsoft.com/office/powerpoint/2010/main" val="3526207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rtl="0" fontAlgn="base">
              <a:buNone/>
            </a:pPr>
            <a:r>
              <a:rPr lang="en-US" altLang="zh-CN" sz="1200" b="1" i="0" u="none" strike="noStrike">
                <a:solidFill>
                  <a:srgbClr val="000000"/>
                </a:solidFill>
                <a:effectLst/>
                <a:latin typeface="Boehringer Forward Text" panose="020B0504030403020204" pitchFamily="2" charset="0"/>
              </a:rPr>
              <a:t>Decision Tree</a:t>
            </a:r>
            <a:r>
              <a:rPr lang="en-US" altLang="zh-CN" sz="1200" b="0" i="0">
                <a:solidFill>
                  <a:srgbClr val="000000"/>
                </a:solidFill>
                <a:effectLst/>
                <a:latin typeface="Boehringer Forward Text" panose="020B0504030403020204" pitchFamily="2" charset="0"/>
              </a:rPr>
              <a:t>​ (draft)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200" b="0" i="0" u="none" strike="noStrike">
                <a:solidFill>
                  <a:srgbClr val="000000"/>
                </a:solidFill>
                <a:effectLst/>
                <a:latin typeface="Boehringer Forward Text" panose="020B0504030403020204" pitchFamily="2" charset="0"/>
              </a:rPr>
              <a:t>Effect size &gt;20% in PE + positive secondary endpoints → Proceed with full-speed submission</a:t>
            </a:r>
            <a:r>
              <a:rPr lang="en-US" altLang="zh-CN" sz="1200" b="0" i="0">
                <a:solidFill>
                  <a:srgbClr val="000000"/>
                </a:solidFill>
                <a:effectLst/>
                <a:latin typeface="Boehringer Forward Text" panose="020B0504030403020204"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200" b="0" i="0" u="none" strike="noStrike">
                <a:solidFill>
                  <a:srgbClr val="000000"/>
                </a:solidFill>
                <a:effectLst/>
                <a:latin typeface="Boehringer Forward Text" panose="020B0504030403020204" pitchFamily="2" charset="0"/>
              </a:rPr>
              <a:t>Lower effect size / negative trends → Further evaluation + business case review</a:t>
            </a:r>
            <a:r>
              <a:rPr lang="en-US" altLang="zh-CN" sz="1200" b="0" i="0">
                <a:solidFill>
                  <a:srgbClr val="000000"/>
                </a:solidFill>
                <a:effectLst/>
                <a:latin typeface="Boehringer Forward Text" panose="020B0504030403020204" pitchFamily="2" charset="0"/>
              </a:rPr>
              <a:t>​</a:t>
            </a:r>
            <a:endParaRPr lang="en-US" altLang="zh-CN" b="0" i="0">
              <a:solidFill>
                <a:srgbClr val="000000"/>
              </a:solidFill>
              <a:effectLst/>
              <a:latin typeface="Arial" panose="020B0604020202020204" pitchFamily="34" charset="0"/>
            </a:endParaRPr>
          </a:p>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3</a:t>
            </a:fld>
            <a:endParaRPr lang="zh-CN" altLang="en-US"/>
          </a:p>
        </p:txBody>
      </p:sp>
    </p:spTree>
    <p:extLst>
      <p:ext uri="{BB962C8B-B14F-4D97-AF65-F5344CB8AC3E}">
        <p14:creationId xmlns:p14="http://schemas.microsoft.com/office/powerpoint/2010/main" val="8238694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Separate topic for verducatib - 2026 Apr PEC</a:t>
            </a:r>
          </a:p>
        </p:txBody>
      </p:sp>
    </p:spTree>
    <p:extLst>
      <p:ext uri="{BB962C8B-B14F-4D97-AF65-F5344CB8AC3E}">
        <p14:creationId xmlns:p14="http://schemas.microsoft.com/office/powerpoint/2010/main" val="3160674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Separate topic for verducatib - 2026 Apr PEC</a:t>
            </a:r>
          </a:p>
        </p:txBody>
      </p:sp>
    </p:spTree>
    <p:extLst>
      <p:ext uri="{BB962C8B-B14F-4D97-AF65-F5344CB8AC3E}">
        <p14:creationId xmlns:p14="http://schemas.microsoft.com/office/powerpoint/2010/main" val="3427630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46551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Separate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0492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86038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Separate topic for verducatib - 2026 Apr PEC</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2678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Separate topic for verducatib - 2026 Apr PEC</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9669410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Separate topic for verducatib - 2026 Apr PEC</a:t>
            </a:r>
          </a:p>
        </p:txBody>
      </p:sp>
    </p:spTree>
    <p:extLst>
      <p:ext uri="{BB962C8B-B14F-4D97-AF65-F5344CB8AC3E}">
        <p14:creationId xmlns:p14="http://schemas.microsoft.com/office/powerpoint/2010/main" val="4237971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Separate topic for verducatib - 2026 Apr PEC</a:t>
            </a:r>
          </a:p>
        </p:txBody>
      </p:sp>
    </p:spTree>
    <p:extLst>
      <p:ext uri="{BB962C8B-B14F-4D97-AF65-F5344CB8AC3E}">
        <p14:creationId xmlns:p14="http://schemas.microsoft.com/office/powerpoint/2010/main" val="44767298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Separate topic for verducatib - 2026 Apr PEC</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307463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Separate topic for verducatib - 2026 Apr PEC</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809744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Separate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01847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Separate topic for verducatib - 2026 Apr PEC</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09470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Separate topic for verducatib - 2026 Apr PEC</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0662182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Separate topic for verducatib - 2026 Apr PEC</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90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Separate topic for verducatib - 2026 Apr PEC</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4074141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Separate topic for verducatib - 2026 Apr PEC</a:t>
            </a:r>
          </a:p>
        </p:txBody>
      </p:sp>
    </p:spTree>
    <p:extLst>
      <p:ext uri="{BB962C8B-B14F-4D97-AF65-F5344CB8AC3E}">
        <p14:creationId xmlns:p14="http://schemas.microsoft.com/office/powerpoint/2010/main" val="256410911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Separate topic for verducatib - 2026 Apr PEC</a:t>
            </a:r>
          </a:p>
        </p:txBody>
      </p:sp>
    </p:spTree>
    <p:extLst>
      <p:ext uri="{BB962C8B-B14F-4D97-AF65-F5344CB8AC3E}">
        <p14:creationId xmlns:p14="http://schemas.microsoft.com/office/powerpoint/2010/main" val="326082247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Separate topic for verducatib - 2026 Apr PEC</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5121153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Separate topic for verducatib - 2026 Apr PEC</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3672131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Separate topic for verducatib - 2026 Apr PEC</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182756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Separate topic for verducatib - 2026 Apr PEC</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129419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Separate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27267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Separate topic for verducatib - 2026 Apr PEC</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823996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Separate topic for verducatib - 2026 Apr PEC</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224960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Separate topic for verducatib - 2026 Apr PEC</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0485572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Separate topic for verducatib - 2026 Apr PEC</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045234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Separate topic for verducatib - 2026 Apr PEC</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191468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Separate topic for verducatib - 2026 Apr PEC</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0029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Separate topic for verducatib - 2026 Apr PEC</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22052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Separate topic for verducatib - 2026 Apr PEC</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72129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Separate topic for verducatib - 2026 Apr PEC</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5818692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Separate topic for verducatib - 2026 Apr PEC</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3002988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Separate topic for verducatib - 2026 Apr PEC</a:t>
            </a:r>
          </a:p>
        </p:txBody>
      </p:sp>
    </p:spTree>
    <p:extLst>
      <p:ext uri="{BB962C8B-B14F-4D97-AF65-F5344CB8AC3E}">
        <p14:creationId xmlns:p14="http://schemas.microsoft.com/office/powerpoint/2010/main" val="523038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71017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Separate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8482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Separate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65246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22632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21911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Separate topic for verducatib - 2026 Apr PEC</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46772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Chapter 6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0C46-08A3-7E21-9297-92FC23E3AB8B}"/>
              </a:ext>
            </a:extLst>
          </p:cNvPr>
          <p:cNvSpPr>
            <a:spLocks noGrp="1"/>
          </p:cNvSpPr>
          <p:nvPr>
            <p:ph type="title"/>
          </p:nvPr>
        </p:nvSpPr>
        <p:spPr>
          <a:xfrm>
            <a:off x="479424" y="1114651"/>
            <a:ext cx="11233151" cy="720000"/>
          </a:xfrm>
        </p:spPr>
        <p:txBody>
          <a:bodyPr/>
          <a:lstStyle>
            <a:lvl1pPr>
              <a:defRPr>
                <a:solidFill>
                  <a:schemeClr val="bg2"/>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733C2D44-6BAA-4EDF-02C8-C6896DB6A461}"/>
              </a:ext>
            </a:extLst>
          </p:cNvPr>
          <p:cNvSpPr>
            <a:spLocks noGrp="1"/>
          </p:cNvSpPr>
          <p:nvPr>
            <p:ph type="ftr" sz="quarter" idx="10"/>
          </p:nvPr>
        </p:nvSpPr>
        <p:spPr/>
        <p:txBody>
          <a:bodyPr/>
          <a:lstStyle>
            <a:lvl1pPr>
              <a:defRPr>
                <a:solidFill>
                  <a:schemeClr val="bg2"/>
                </a:solidFill>
              </a:defRPr>
            </a:lvl1pPr>
          </a:lstStyle>
          <a:p>
            <a:r>
              <a:rPr lang="en-US"/>
              <a:t>Separate topic for verducatib - 2026 Apr PEC</a:t>
            </a:r>
          </a:p>
        </p:txBody>
      </p:sp>
      <p:sp>
        <p:nvSpPr>
          <p:cNvPr id="4" name="Slide Number Placeholder 3">
            <a:extLst>
              <a:ext uri="{FF2B5EF4-FFF2-40B4-BE49-F238E27FC236}">
                <a16:creationId xmlns:a16="http://schemas.microsoft.com/office/drawing/2014/main" id="{EA45876D-91DB-DF5A-3483-10D5EBB756A4}"/>
              </a:ext>
            </a:extLst>
          </p:cNvPr>
          <p:cNvSpPr>
            <a:spLocks noGrp="1"/>
          </p:cNvSpPr>
          <p:nvPr>
            <p:ph type="sldNum" sz="quarter" idx="11"/>
          </p:nvPr>
        </p:nvSpPr>
        <p:spPr/>
        <p:txBody>
          <a:bodyPr/>
          <a:lstStyle>
            <a:lvl1pPr>
              <a:defRPr>
                <a:solidFill>
                  <a:schemeClr val="bg2"/>
                </a:solidFill>
              </a:defRPr>
            </a:lvl1pPr>
          </a:lstStyle>
          <a:p>
            <a:fld id="{DF4E8F9F-5B1F-4F5B-BE49-3245D8C18D9F}" type="slidenum">
              <a:rPr lang="en-US" smtClean="0"/>
              <a:pPr/>
              <a:t>‹#›</a:t>
            </a:fld>
            <a:endParaRPr lang="en-US"/>
          </a:p>
        </p:txBody>
      </p:sp>
      <p:sp>
        <p:nvSpPr>
          <p:cNvPr id="7" name="Textplatzhalter 7">
            <a:extLst>
              <a:ext uri="{FF2B5EF4-FFF2-40B4-BE49-F238E27FC236}">
                <a16:creationId xmlns:a16="http://schemas.microsoft.com/office/drawing/2014/main" id="{59435E96-6B61-E396-ABE5-F7D49F199A18}"/>
              </a:ext>
            </a:extLst>
          </p:cNvPr>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4" name="Rectangle 13">
            <a:extLst>
              <a:ext uri="{FF2B5EF4-FFF2-40B4-BE49-F238E27FC236}">
                <a16:creationId xmlns:a16="http://schemas.microsoft.com/office/drawing/2014/main" id="{2174349A-9548-EA6E-902E-5E7D51DE1C6A}"/>
              </a:ext>
            </a:extLst>
          </p:cNvPr>
          <p:cNvSpPr/>
          <p:nvPr userDrawn="1"/>
        </p:nvSpPr>
        <p:spPr bwMode="gray">
          <a:xfrm>
            <a:off x="7208409" y="262892"/>
            <a:ext cx="1153299" cy="74384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normAutofit/>
          </a:bodyPr>
          <a:lstStyle/>
          <a:p>
            <a:pPr algn="l">
              <a:lnSpc>
                <a:spcPct val="140000"/>
              </a:lnSpc>
            </a:pPr>
            <a:endParaRPr lang="en-US" sz="700">
              <a:solidFill>
                <a:schemeClr val="tx1"/>
              </a:solidFill>
            </a:endParaRPr>
          </a:p>
        </p:txBody>
      </p:sp>
      <p:sp>
        <p:nvSpPr>
          <p:cNvPr id="19" name="Rectangle 18">
            <a:extLst>
              <a:ext uri="{FF2B5EF4-FFF2-40B4-BE49-F238E27FC236}">
                <a16:creationId xmlns:a16="http://schemas.microsoft.com/office/drawing/2014/main" id="{B72FC428-DF9F-C227-E9BB-64F084C5AF02}"/>
              </a:ext>
            </a:extLst>
          </p:cNvPr>
          <p:cNvSpPr/>
          <p:nvPr userDrawn="1"/>
        </p:nvSpPr>
        <p:spPr bwMode="gray">
          <a:xfrm>
            <a:off x="0" y="0"/>
            <a:ext cx="12192000" cy="49917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object 34">
            <a:hlinkClick r:id="" action="ppaction://noaction"/>
            <a:extLst>
              <a:ext uri="{FF2B5EF4-FFF2-40B4-BE49-F238E27FC236}">
                <a16:creationId xmlns:a16="http://schemas.microsoft.com/office/drawing/2014/main" id="{62C9AE80-44F2-B73C-28E4-9F856FE3E458}"/>
              </a:ext>
            </a:extLst>
          </p:cNvPr>
          <p:cNvSpPr/>
          <p:nvPr userDrawn="1"/>
        </p:nvSpPr>
        <p:spPr>
          <a:xfrm>
            <a:off x="1605466"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Overview</a:t>
            </a:r>
          </a:p>
        </p:txBody>
      </p:sp>
      <p:pic>
        <p:nvPicPr>
          <p:cNvPr id="21" name="Grafik 18">
            <a:extLst>
              <a:ext uri="{FF2B5EF4-FFF2-40B4-BE49-F238E27FC236}">
                <a16:creationId xmlns:a16="http://schemas.microsoft.com/office/drawing/2014/main" id="{9B65ABB9-51D2-0732-864E-8E264854A7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16200000">
            <a:off x="11878255" y="66408"/>
            <a:ext cx="343434" cy="343434"/>
          </a:xfrm>
          <a:prstGeom prst="rect">
            <a:avLst/>
          </a:prstGeom>
        </p:spPr>
      </p:pic>
      <p:pic>
        <p:nvPicPr>
          <p:cNvPr id="22" name="Grafik 18">
            <a:extLst>
              <a:ext uri="{FF2B5EF4-FFF2-40B4-BE49-F238E27FC236}">
                <a16:creationId xmlns:a16="http://schemas.microsoft.com/office/drawing/2014/main" id="{F79BF1CA-232D-64DB-AFD4-BF06812ECC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5400000" flipH="1">
            <a:off x="11678855" y="66408"/>
            <a:ext cx="343434" cy="343434"/>
          </a:xfrm>
          <a:prstGeom prst="rect">
            <a:avLst/>
          </a:prstGeom>
        </p:spPr>
      </p:pic>
      <p:sp>
        <p:nvSpPr>
          <p:cNvPr id="23" name="Action Button: Blank 22">
            <a:hlinkClick r:id="" action="ppaction://hlinkshowjump?jump=previousslide" highlightClick="1"/>
            <a:extLst>
              <a:ext uri="{FF2B5EF4-FFF2-40B4-BE49-F238E27FC236}">
                <a16:creationId xmlns:a16="http://schemas.microsoft.com/office/drawing/2014/main" id="{71410380-5574-9ADE-9A83-F3F2945A9559}"/>
              </a:ext>
            </a:extLst>
          </p:cNvPr>
          <p:cNvSpPr/>
          <p:nvPr userDrawn="1"/>
        </p:nvSpPr>
        <p:spPr>
          <a:xfrm>
            <a:off x="11712575" y="-819"/>
            <a:ext cx="239597"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800" spc="200" baseline="0"/>
          </a:p>
        </p:txBody>
      </p:sp>
      <p:sp>
        <p:nvSpPr>
          <p:cNvPr id="24" name="Action Button: Blank 23">
            <a:hlinkClick r:id="" action="ppaction://hlinkshowjump?jump=nextslide" highlightClick="1"/>
            <a:extLst>
              <a:ext uri="{FF2B5EF4-FFF2-40B4-BE49-F238E27FC236}">
                <a16:creationId xmlns:a16="http://schemas.microsoft.com/office/drawing/2014/main" id="{D8A25991-7D97-2D7E-E7E5-7FCAF48960C2}"/>
              </a:ext>
            </a:extLst>
          </p:cNvPr>
          <p:cNvSpPr/>
          <p:nvPr userDrawn="1"/>
        </p:nvSpPr>
        <p:spPr>
          <a:xfrm>
            <a:off x="11952172" y="-819"/>
            <a:ext cx="239828"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pc="200" baseline="0"/>
          </a:p>
        </p:txBody>
      </p:sp>
      <p:pic>
        <p:nvPicPr>
          <p:cNvPr id="29" name="Grafik 30">
            <a:extLst>
              <a:ext uri="{FF2B5EF4-FFF2-40B4-BE49-F238E27FC236}">
                <a16:creationId xmlns:a16="http://schemas.microsoft.com/office/drawing/2014/main" id="{EF639587-D2FA-4C70-52C9-9E319196427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66730" y="65143"/>
            <a:ext cx="345964" cy="345964"/>
          </a:xfrm>
          <a:prstGeom prst="rect">
            <a:avLst/>
          </a:prstGeom>
        </p:spPr>
      </p:pic>
      <p:sp>
        <p:nvSpPr>
          <p:cNvPr id="30" name="object 34">
            <a:hlinkClick r:id="" action="ppaction://noaction"/>
            <a:extLst>
              <a:ext uri="{FF2B5EF4-FFF2-40B4-BE49-F238E27FC236}">
                <a16:creationId xmlns:a16="http://schemas.microsoft.com/office/drawing/2014/main" id="{747B53B0-886B-985E-FFD6-5976428E53A9}"/>
              </a:ext>
            </a:extLst>
          </p:cNvPr>
          <p:cNvSpPr/>
          <p:nvPr userDrawn="1"/>
        </p:nvSpPr>
        <p:spPr>
          <a:xfrm>
            <a:off x="479425"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Vision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objectives​</a:t>
            </a:r>
          </a:p>
        </p:txBody>
      </p:sp>
      <p:sp>
        <p:nvSpPr>
          <p:cNvPr id="31" name="object 34">
            <a:hlinkClick r:id="" action="ppaction://noaction"/>
            <a:extLst>
              <a:ext uri="{FF2B5EF4-FFF2-40B4-BE49-F238E27FC236}">
                <a16:creationId xmlns:a16="http://schemas.microsoft.com/office/drawing/2014/main" id="{B9A80D8E-2B2E-8D95-027D-E4F2F1176DC7}"/>
              </a:ext>
            </a:extLst>
          </p:cNvPr>
          <p:cNvSpPr/>
          <p:nvPr userDrawn="1"/>
        </p:nvSpPr>
        <p:spPr>
          <a:xfrm>
            <a:off x="2731507"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&amp; ​other</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Boehringer Ingelheim processes​</a:t>
            </a:r>
          </a:p>
        </p:txBody>
      </p:sp>
      <p:sp>
        <p:nvSpPr>
          <p:cNvPr id="36" name="object 34">
            <a:hlinkClick r:id="" action="ppaction://noaction"/>
            <a:extLst>
              <a:ext uri="{FF2B5EF4-FFF2-40B4-BE49-F238E27FC236}">
                <a16:creationId xmlns:a16="http://schemas.microsoft.com/office/drawing/2014/main" id="{E5E422C5-DA5B-8D47-D120-260568CB2019}"/>
              </a:ext>
            </a:extLst>
          </p:cNvPr>
          <p:cNvSpPr/>
          <p:nvPr userDrawn="1"/>
        </p:nvSpPr>
        <p:spPr>
          <a:xfrm>
            <a:off x="3857548"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process ​roles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responsibilities​</a:t>
            </a:r>
          </a:p>
        </p:txBody>
      </p:sp>
      <p:sp>
        <p:nvSpPr>
          <p:cNvPr id="37" name="object 34">
            <a:hlinkClick r:id="" action="ppaction://noaction"/>
            <a:extLst>
              <a:ext uri="{FF2B5EF4-FFF2-40B4-BE49-F238E27FC236}">
                <a16:creationId xmlns:a16="http://schemas.microsoft.com/office/drawing/2014/main" id="{6C7BEB55-8023-216C-74AE-C5498C81C379}"/>
              </a:ext>
            </a:extLst>
          </p:cNvPr>
          <p:cNvSpPr/>
          <p:nvPr userDrawn="1"/>
        </p:nvSpPr>
        <p:spPr>
          <a:xfrm>
            <a:off x="4983589"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Setup launch teams in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corporate</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TA &amp; OPUS​</a:t>
            </a:r>
          </a:p>
        </p:txBody>
      </p:sp>
      <p:sp>
        <p:nvSpPr>
          <p:cNvPr id="38" name="object 34">
            <a:hlinkClick r:id="" action="ppaction://noaction"/>
            <a:extLst>
              <a:ext uri="{FF2B5EF4-FFF2-40B4-BE49-F238E27FC236}">
                <a16:creationId xmlns:a16="http://schemas.microsoft.com/office/drawing/2014/main" id="{F7274F30-647A-B331-097E-1780D4B01FD3}"/>
              </a:ext>
            </a:extLst>
          </p:cNvPr>
          <p:cNvSpPr/>
          <p:nvPr userDrawn="1"/>
        </p:nvSpPr>
        <p:spPr>
          <a:xfrm>
            <a:off x="6109630" y="0"/>
            <a:ext cx="1098782" cy="476250"/>
          </a:xfrm>
          <a:prstGeom prst="rect">
            <a:avLst/>
          </a:prstGeom>
          <a:solidFill>
            <a:schemeClr val="tx2"/>
          </a:solidFill>
          <a:ln w="6350">
            <a:noFill/>
          </a:ln>
        </p:spPr>
        <p:txBody>
          <a:bodyPr wrap="square" lIns="288000" tIns="0" rIns="36000" bIns="0" rtlCol="0" anchor="ctr"/>
          <a:lstStyle/>
          <a:p>
            <a:pPr marL="12700" lvl="0">
              <a:lnSpc>
                <a:spcPct val="100000"/>
              </a:lnSpc>
              <a:spcBef>
                <a:spcPts val="100"/>
              </a:spcBef>
            </a:pPr>
            <a:r>
              <a:rPr lang="en-GB" sz="700" b="1" spc="0" baseline="0">
                <a:solidFill>
                  <a:schemeClr val="accent1"/>
                </a:solidFill>
                <a:latin typeface="Boehringer Forward Text" panose="02000500000000020000" pitchFamily="2" charset="0"/>
                <a:cs typeface="BISans"/>
              </a:rPr>
              <a:t>LR roadmap​</a:t>
            </a:r>
          </a:p>
        </p:txBody>
      </p:sp>
      <p:sp>
        <p:nvSpPr>
          <p:cNvPr id="39" name="object 34">
            <a:hlinkClick r:id="" action="ppaction://noaction"/>
            <a:extLst>
              <a:ext uri="{FF2B5EF4-FFF2-40B4-BE49-F238E27FC236}">
                <a16:creationId xmlns:a16="http://schemas.microsoft.com/office/drawing/2014/main" id="{0C62440B-102A-2AAE-45FB-D41DC3AC8287}"/>
              </a:ext>
            </a:extLst>
          </p:cNvPr>
          <p:cNvSpPr/>
          <p:nvPr userDrawn="1"/>
        </p:nvSpPr>
        <p:spPr>
          <a:xfrm>
            <a:off x="9487753"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Metrics of success​</a:t>
            </a:r>
          </a:p>
        </p:txBody>
      </p:sp>
      <p:grpSp>
        <p:nvGrpSpPr>
          <p:cNvPr id="57" name="Group 56">
            <a:extLst>
              <a:ext uri="{FF2B5EF4-FFF2-40B4-BE49-F238E27FC236}">
                <a16:creationId xmlns:a16="http://schemas.microsoft.com/office/drawing/2014/main" id="{68CEB4CB-45F1-67F7-B332-FEB1290F628B}"/>
              </a:ext>
            </a:extLst>
          </p:cNvPr>
          <p:cNvGrpSpPr/>
          <p:nvPr userDrawn="1"/>
        </p:nvGrpSpPr>
        <p:grpSpPr>
          <a:xfrm>
            <a:off x="544282" y="158858"/>
            <a:ext cx="158615" cy="158535"/>
            <a:chOff x="515356" y="35932"/>
            <a:chExt cx="158615" cy="158535"/>
          </a:xfrm>
          <a:solidFill>
            <a:schemeClr val="accent1"/>
          </a:solidFill>
        </p:grpSpPr>
        <p:sp>
          <p:nvSpPr>
            <p:cNvPr id="71" name="Freeform: Shape 70">
              <a:extLst>
                <a:ext uri="{FF2B5EF4-FFF2-40B4-BE49-F238E27FC236}">
                  <a16:creationId xmlns:a16="http://schemas.microsoft.com/office/drawing/2014/main" id="{A8BFFF01-614B-9BDC-3F1C-1FDDAAFD2DB1}"/>
                </a:ext>
              </a:extLst>
            </p:cNvPr>
            <p:cNvSpPr/>
            <p:nvPr/>
          </p:nvSpPr>
          <p:spPr>
            <a:xfrm>
              <a:off x="566880" y="79529"/>
              <a:ext cx="43597" cy="63414"/>
            </a:xfrm>
            <a:custGeom>
              <a:avLst/>
              <a:gdLst>
                <a:gd name="connsiteX0" fmla="*/ 43597 w 43597"/>
                <a:gd name="connsiteY0" fmla="*/ 46372 h 63414"/>
                <a:gd name="connsiteX1" fmla="*/ 33847 w 43597"/>
                <a:gd name="connsiteY1" fmla="*/ 31707 h 63414"/>
                <a:gd name="connsiteX2" fmla="*/ 13555 w 43597"/>
                <a:gd name="connsiteY2" fmla="*/ 31707 h 63414"/>
                <a:gd name="connsiteX3" fmla="*/ 7927 w 43597"/>
                <a:gd name="connsiteY3" fmla="*/ 26079 h 63414"/>
                <a:gd name="connsiteX4" fmla="*/ 7927 w 43597"/>
                <a:gd name="connsiteY4" fmla="*/ 15854 h 63414"/>
                <a:gd name="connsiteX5" fmla="*/ 0 w 43597"/>
                <a:gd name="connsiteY5" fmla="*/ 15854 h 63414"/>
                <a:gd name="connsiteX6" fmla="*/ 0 w 43597"/>
                <a:gd name="connsiteY6" fmla="*/ 29408 h 63414"/>
                <a:gd name="connsiteX7" fmla="*/ 10226 w 43597"/>
                <a:gd name="connsiteY7" fmla="*/ 39634 h 63414"/>
                <a:gd name="connsiteX8" fmla="*/ 29567 w 43597"/>
                <a:gd name="connsiteY8" fmla="*/ 39634 h 63414"/>
                <a:gd name="connsiteX9" fmla="*/ 35671 w 43597"/>
                <a:gd name="connsiteY9" fmla="*/ 48750 h 63414"/>
                <a:gd name="connsiteX10" fmla="*/ 35671 w 43597"/>
                <a:gd name="connsiteY10" fmla="*/ 63414 h 63414"/>
                <a:gd name="connsiteX11" fmla="*/ 43597 w 43597"/>
                <a:gd name="connsiteY11" fmla="*/ 63414 h 63414"/>
                <a:gd name="connsiteX12" fmla="*/ 43597 w 43597"/>
                <a:gd name="connsiteY12" fmla="*/ 46372 h 63414"/>
                <a:gd name="connsiteX13" fmla="*/ 7927 w 43597"/>
                <a:gd name="connsiteY13" fmla="*/ 15854 h 63414"/>
                <a:gd name="connsiteX14" fmla="*/ 27744 w 43597"/>
                <a:gd name="connsiteY14" fmla="*/ 7927 h 63414"/>
                <a:gd name="connsiteX15" fmla="*/ 27744 w 43597"/>
                <a:gd name="connsiteY15" fmla="*/ 0 h 63414"/>
                <a:gd name="connsiteX16" fmla="*/ 7927 w 43597"/>
                <a:gd name="connsiteY16" fmla="*/ 7927 h 63414"/>
                <a:gd name="connsiteX17" fmla="*/ 7927 w 43597"/>
                <a:gd name="connsiteY17" fmla="*/ 15854 h 6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597" h="63414">
                  <a:moveTo>
                    <a:pt x="43597" y="46372"/>
                  </a:moveTo>
                  <a:lnTo>
                    <a:pt x="33847" y="31707"/>
                  </a:lnTo>
                  <a:lnTo>
                    <a:pt x="13555" y="31707"/>
                  </a:lnTo>
                  <a:lnTo>
                    <a:pt x="7927" y="26079"/>
                  </a:lnTo>
                  <a:lnTo>
                    <a:pt x="7927" y="15854"/>
                  </a:lnTo>
                  <a:lnTo>
                    <a:pt x="0" y="15854"/>
                  </a:lnTo>
                  <a:lnTo>
                    <a:pt x="0" y="29408"/>
                  </a:lnTo>
                  <a:lnTo>
                    <a:pt x="10226" y="39634"/>
                  </a:lnTo>
                  <a:lnTo>
                    <a:pt x="29567" y="39634"/>
                  </a:lnTo>
                  <a:lnTo>
                    <a:pt x="35671" y="48750"/>
                  </a:lnTo>
                  <a:lnTo>
                    <a:pt x="35671" y="63414"/>
                  </a:lnTo>
                  <a:lnTo>
                    <a:pt x="43597" y="63414"/>
                  </a:lnTo>
                  <a:lnTo>
                    <a:pt x="43597" y="46372"/>
                  </a:lnTo>
                  <a:close/>
                  <a:moveTo>
                    <a:pt x="7927" y="15854"/>
                  </a:moveTo>
                  <a:lnTo>
                    <a:pt x="27744" y="7927"/>
                  </a:lnTo>
                  <a:lnTo>
                    <a:pt x="27744" y="0"/>
                  </a:lnTo>
                  <a:lnTo>
                    <a:pt x="7927" y="7927"/>
                  </a:lnTo>
                  <a:lnTo>
                    <a:pt x="7927" y="15854"/>
                  </a:lnTo>
                  <a:close/>
                </a:path>
              </a:pathLst>
            </a:custGeom>
            <a:grpFill/>
            <a:ln w="754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876478-D943-210D-6278-8531066421C8}"/>
                </a:ext>
              </a:extLst>
            </p:cNvPr>
            <p:cNvSpPr/>
            <p:nvPr/>
          </p:nvSpPr>
          <p:spPr>
            <a:xfrm>
              <a:off x="594624" y="91420"/>
              <a:ext cx="39633" cy="39633"/>
            </a:xfrm>
            <a:custGeom>
              <a:avLst/>
              <a:gdLst>
                <a:gd name="connsiteX0" fmla="*/ 39634 w 39633"/>
                <a:gd name="connsiteY0" fmla="*/ 23780 h 39633"/>
                <a:gd name="connsiteX1" fmla="*/ 31707 w 39633"/>
                <a:gd name="connsiteY1" fmla="*/ 23780 h 39633"/>
                <a:gd name="connsiteX2" fmla="*/ 31707 w 39633"/>
                <a:gd name="connsiteY2" fmla="*/ 39634 h 39633"/>
                <a:gd name="connsiteX3" fmla="*/ 39634 w 39633"/>
                <a:gd name="connsiteY3" fmla="*/ 39634 h 39633"/>
                <a:gd name="connsiteX4" fmla="*/ 39634 w 39633"/>
                <a:gd name="connsiteY4" fmla="*/ 23780 h 39633"/>
                <a:gd name="connsiteX5" fmla="*/ 7927 w 39633"/>
                <a:gd name="connsiteY5" fmla="*/ 0 h 39633"/>
                <a:gd name="connsiteX6" fmla="*/ 0 w 39633"/>
                <a:gd name="connsiteY6" fmla="*/ 0 h 39633"/>
                <a:gd name="connsiteX7" fmla="*/ 0 w 39633"/>
                <a:gd name="connsiteY7" fmla="*/ 7927 h 39633"/>
                <a:gd name="connsiteX8" fmla="*/ 7927 w 39633"/>
                <a:gd name="connsiteY8" fmla="*/ 7927 h 39633"/>
                <a:gd name="connsiteX9" fmla="*/ 7927 w 39633"/>
                <a:gd name="connsiteY9" fmla="*/ 0 h 39633"/>
                <a:gd name="connsiteX10" fmla="*/ 15854 w 39633"/>
                <a:gd name="connsiteY10" fmla="*/ 7927 h 39633"/>
                <a:gd name="connsiteX11" fmla="*/ 7927 w 39633"/>
                <a:gd name="connsiteY11" fmla="*/ 7927 h 39633"/>
                <a:gd name="connsiteX12" fmla="*/ 7927 w 39633"/>
                <a:gd name="connsiteY12" fmla="*/ 15854 h 39633"/>
                <a:gd name="connsiteX13" fmla="*/ 15854 w 39633"/>
                <a:gd name="connsiteY13" fmla="*/ 15854 h 39633"/>
                <a:gd name="connsiteX14" fmla="*/ 15854 w 39633"/>
                <a:gd name="connsiteY14" fmla="*/ 7927 h 3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633" h="39633">
                  <a:moveTo>
                    <a:pt x="39634" y="23780"/>
                  </a:moveTo>
                  <a:lnTo>
                    <a:pt x="31707" y="23780"/>
                  </a:lnTo>
                  <a:lnTo>
                    <a:pt x="31707" y="39634"/>
                  </a:lnTo>
                  <a:lnTo>
                    <a:pt x="39634" y="39634"/>
                  </a:lnTo>
                  <a:lnTo>
                    <a:pt x="39634" y="23780"/>
                  </a:lnTo>
                  <a:close/>
                  <a:moveTo>
                    <a:pt x="7927" y="0"/>
                  </a:moveTo>
                  <a:lnTo>
                    <a:pt x="0" y="0"/>
                  </a:lnTo>
                  <a:lnTo>
                    <a:pt x="0" y="7927"/>
                  </a:lnTo>
                  <a:lnTo>
                    <a:pt x="7927" y="7927"/>
                  </a:lnTo>
                  <a:lnTo>
                    <a:pt x="7927" y="0"/>
                  </a:lnTo>
                  <a:close/>
                  <a:moveTo>
                    <a:pt x="15854" y="7927"/>
                  </a:moveTo>
                  <a:lnTo>
                    <a:pt x="7927" y="7927"/>
                  </a:lnTo>
                  <a:lnTo>
                    <a:pt x="7927" y="15854"/>
                  </a:lnTo>
                  <a:lnTo>
                    <a:pt x="15854" y="15854"/>
                  </a:lnTo>
                  <a:lnTo>
                    <a:pt x="15854" y="7927"/>
                  </a:lnTo>
                  <a:close/>
                </a:path>
              </a:pathLst>
            </a:custGeom>
            <a:grpFill/>
            <a:ln w="754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DFC8D67-B5C1-7BB9-9297-E5D0D4BFEEA1}"/>
                </a:ext>
              </a:extLst>
            </p:cNvPr>
            <p:cNvSpPr/>
            <p:nvPr/>
          </p:nvSpPr>
          <p:spPr>
            <a:xfrm>
              <a:off x="515356" y="35932"/>
              <a:ext cx="158615" cy="158535"/>
            </a:xfrm>
            <a:custGeom>
              <a:avLst/>
              <a:gdLst>
                <a:gd name="connsiteX0" fmla="*/ 79268 w 158615"/>
                <a:gd name="connsiteY0" fmla="*/ 0 h 158535"/>
                <a:gd name="connsiteX1" fmla="*/ 0 w 158615"/>
                <a:gd name="connsiteY1" fmla="*/ 79268 h 158535"/>
                <a:gd name="connsiteX2" fmla="*/ 79268 w 158615"/>
                <a:gd name="connsiteY2" fmla="*/ 158536 h 158535"/>
                <a:gd name="connsiteX3" fmla="*/ 142603 w 158615"/>
                <a:gd name="connsiteY3" fmla="*/ 126829 h 158535"/>
                <a:gd name="connsiteX4" fmla="*/ 142682 w 158615"/>
                <a:gd name="connsiteY4" fmla="*/ 126829 h 158535"/>
                <a:gd name="connsiteX5" fmla="*/ 142682 w 158615"/>
                <a:gd name="connsiteY5" fmla="*/ 126749 h 158535"/>
                <a:gd name="connsiteX6" fmla="*/ 158615 w 158615"/>
                <a:gd name="connsiteY6" fmla="*/ 79268 h 158535"/>
                <a:gd name="connsiteX7" fmla="*/ 79268 w 158615"/>
                <a:gd name="connsiteY7" fmla="*/ 0 h 158535"/>
                <a:gd name="connsiteX8" fmla="*/ 138640 w 158615"/>
                <a:gd name="connsiteY8" fmla="*/ 118743 h 158535"/>
                <a:gd name="connsiteX9" fmla="*/ 126829 w 158615"/>
                <a:gd name="connsiteY9" fmla="*/ 95122 h 158535"/>
                <a:gd name="connsiteX10" fmla="*/ 118902 w 158615"/>
                <a:gd name="connsiteY10" fmla="*/ 95122 h 158535"/>
                <a:gd name="connsiteX11" fmla="*/ 126829 w 158615"/>
                <a:gd name="connsiteY11" fmla="*/ 110975 h 158535"/>
                <a:gd name="connsiteX12" fmla="*/ 133884 w 158615"/>
                <a:gd name="connsiteY12" fmla="*/ 125085 h 158535"/>
                <a:gd name="connsiteX13" fmla="*/ 79268 w 158615"/>
                <a:gd name="connsiteY13" fmla="*/ 150609 h 158535"/>
                <a:gd name="connsiteX14" fmla="*/ 79268 w 158615"/>
                <a:gd name="connsiteY14" fmla="*/ 126829 h 158535"/>
                <a:gd name="connsiteX15" fmla="*/ 87195 w 158615"/>
                <a:gd name="connsiteY15" fmla="*/ 107012 h 158535"/>
                <a:gd name="connsiteX16" fmla="*/ 79189 w 158615"/>
                <a:gd name="connsiteY16" fmla="*/ 107012 h 158535"/>
                <a:gd name="connsiteX17" fmla="*/ 71341 w 158615"/>
                <a:gd name="connsiteY17" fmla="*/ 126829 h 158535"/>
                <a:gd name="connsiteX18" fmla="*/ 71341 w 158615"/>
                <a:gd name="connsiteY18" fmla="*/ 150133 h 158535"/>
                <a:gd name="connsiteX19" fmla="*/ 63018 w 158615"/>
                <a:gd name="connsiteY19" fmla="*/ 148627 h 158535"/>
                <a:gd name="connsiteX20" fmla="*/ 43914 w 158615"/>
                <a:gd name="connsiteY20" fmla="*/ 99006 h 158535"/>
                <a:gd name="connsiteX21" fmla="*/ 35433 w 158615"/>
                <a:gd name="connsiteY21" fmla="*/ 99006 h 158535"/>
                <a:gd name="connsiteX22" fmla="*/ 53347 w 158615"/>
                <a:gd name="connsiteY22" fmla="*/ 145615 h 158535"/>
                <a:gd name="connsiteX23" fmla="*/ 7927 w 158615"/>
                <a:gd name="connsiteY23" fmla="*/ 79189 h 158535"/>
                <a:gd name="connsiteX24" fmla="*/ 18628 w 158615"/>
                <a:gd name="connsiteY24" fmla="*/ 41695 h 158535"/>
                <a:gd name="connsiteX25" fmla="*/ 31628 w 158615"/>
                <a:gd name="connsiteY25" fmla="*/ 53268 h 158535"/>
                <a:gd name="connsiteX26" fmla="*/ 31628 w 158615"/>
                <a:gd name="connsiteY26" fmla="*/ 67298 h 158535"/>
                <a:gd name="connsiteX27" fmla="*/ 22908 w 158615"/>
                <a:gd name="connsiteY27" fmla="*/ 67298 h 158535"/>
                <a:gd name="connsiteX28" fmla="*/ 29250 w 158615"/>
                <a:gd name="connsiteY28" fmla="*/ 83152 h 158535"/>
                <a:gd name="connsiteX29" fmla="*/ 20530 w 158615"/>
                <a:gd name="connsiteY29" fmla="*/ 83152 h 158535"/>
                <a:gd name="connsiteX30" fmla="*/ 26793 w 158615"/>
                <a:gd name="connsiteY30" fmla="*/ 99006 h 158535"/>
                <a:gd name="connsiteX31" fmla="*/ 35353 w 158615"/>
                <a:gd name="connsiteY31" fmla="*/ 99006 h 158535"/>
                <a:gd name="connsiteX32" fmla="*/ 29329 w 158615"/>
                <a:gd name="connsiteY32" fmla="*/ 83152 h 158535"/>
                <a:gd name="connsiteX33" fmla="*/ 37732 w 158615"/>
                <a:gd name="connsiteY33" fmla="*/ 83152 h 158535"/>
                <a:gd name="connsiteX34" fmla="*/ 31628 w 158615"/>
                <a:gd name="connsiteY34" fmla="*/ 67298 h 158535"/>
                <a:gd name="connsiteX35" fmla="*/ 39555 w 158615"/>
                <a:gd name="connsiteY35" fmla="*/ 67298 h 158535"/>
                <a:gd name="connsiteX36" fmla="*/ 39555 w 158615"/>
                <a:gd name="connsiteY36" fmla="*/ 49622 h 158535"/>
                <a:gd name="connsiteX37" fmla="*/ 23225 w 158615"/>
                <a:gd name="connsiteY37" fmla="*/ 35116 h 158535"/>
                <a:gd name="connsiteX38" fmla="*/ 63414 w 158615"/>
                <a:gd name="connsiteY38" fmla="*/ 9671 h 158535"/>
                <a:gd name="connsiteX39" fmla="*/ 63414 w 158615"/>
                <a:gd name="connsiteY39" fmla="*/ 17439 h 158535"/>
                <a:gd name="connsiteX40" fmla="*/ 79268 w 158615"/>
                <a:gd name="connsiteY40" fmla="*/ 33293 h 158535"/>
                <a:gd name="connsiteX41" fmla="*/ 79268 w 158615"/>
                <a:gd name="connsiteY41" fmla="*/ 43518 h 158535"/>
                <a:gd name="connsiteX42" fmla="*/ 87195 w 158615"/>
                <a:gd name="connsiteY42" fmla="*/ 43518 h 158535"/>
                <a:gd name="connsiteX43" fmla="*/ 87195 w 158615"/>
                <a:gd name="connsiteY43" fmla="*/ 29963 h 158535"/>
                <a:gd name="connsiteX44" fmla="*/ 71341 w 158615"/>
                <a:gd name="connsiteY44" fmla="*/ 14110 h 158535"/>
                <a:gd name="connsiteX45" fmla="*/ 71341 w 158615"/>
                <a:gd name="connsiteY45" fmla="*/ 8323 h 158535"/>
                <a:gd name="connsiteX46" fmla="*/ 79268 w 158615"/>
                <a:gd name="connsiteY46" fmla="*/ 7848 h 158535"/>
                <a:gd name="connsiteX47" fmla="*/ 146170 w 158615"/>
                <a:gd name="connsiteY47" fmla="*/ 54536 h 158535"/>
                <a:gd name="connsiteX48" fmla="*/ 118902 w 158615"/>
                <a:gd name="connsiteY48" fmla="*/ 70311 h 158535"/>
                <a:gd name="connsiteX49" fmla="*/ 118902 w 158615"/>
                <a:gd name="connsiteY49" fmla="*/ 79189 h 158535"/>
                <a:gd name="connsiteX50" fmla="*/ 148310 w 158615"/>
                <a:gd name="connsiteY50" fmla="*/ 61512 h 158535"/>
                <a:gd name="connsiteX51" fmla="*/ 150609 w 158615"/>
                <a:gd name="connsiteY51" fmla="*/ 79189 h 158535"/>
                <a:gd name="connsiteX52" fmla="*/ 138640 w 158615"/>
                <a:gd name="connsiteY52" fmla="*/ 118664 h 158535"/>
                <a:gd name="connsiteX53" fmla="*/ 138640 w 158615"/>
                <a:gd name="connsiteY53" fmla="*/ 118743 h 15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8615" h="158535">
                  <a:moveTo>
                    <a:pt x="79268" y="0"/>
                  </a:moveTo>
                  <a:cubicBezTo>
                    <a:pt x="35512" y="0"/>
                    <a:pt x="0" y="35512"/>
                    <a:pt x="0" y="79268"/>
                  </a:cubicBezTo>
                  <a:cubicBezTo>
                    <a:pt x="0" y="123024"/>
                    <a:pt x="35512" y="158536"/>
                    <a:pt x="79268" y="158536"/>
                  </a:cubicBezTo>
                  <a:cubicBezTo>
                    <a:pt x="105189" y="158536"/>
                    <a:pt x="128097" y="146012"/>
                    <a:pt x="142603" y="126829"/>
                  </a:cubicBezTo>
                  <a:lnTo>
                    <a:pt x="142682" y="126829"/>
                  </a:lnTo>
                  <a:lnTo>
                    <a:pt x="142682" y="126749"/>
                  </a:lnTo>
                  <a:cubicBezTo>
                    <a:pt x="153001" y="113068"/>
                    <a:pt x="158592" y="96404"/>
                    <a:pt x="158615" y="79268"/>
                  </a:cubicBezTo>
                  <a:cubicBezTo>
                    <a:pt x="158536" y="35512"/>
                    <a:pt x="123024" y="0"/>
                    <a:pt x="79268" y="0"/>
                  </a:cubicBezTo>
                  <a:close/>
                  <a:moveTo>
                    <a:pt x="138640" y="118743"/>
                  </a:moveTo>
                  <a:lnTo>
                    <a:pt x="126829" y="95122"/>
                  </a:lnTo>
                  <a:lnTo>
                    <a:pt x="118902" y="95122"/>
                  </a:lnTo>
                  <a:cubicBezTo>
                    <a:pt x="120566" y="98371"/>
                    <a:pt x="123658" y="104713"/>
                    <a:pt x="126829" y="110975"/>
                  </a:cubicBezTo>
                  <a:lnTo>
                    <a:pt x="133884" y="125085"/>
                  </a:lnTo>
                  <a:cubicBezTo>
                    <a:pt x="120352" y="141255"/>
                    <a:pt x="100353" y="150601"/>
                    <a:pt x="79268" y="150609"/>
                  </a:cubicBezTo>
                  <a:lnTo>
                    <a:pt x="79268" y="126829"/>
                  </a:lnTo>
                  <a:lnTo>
                    <a:pt x="87195" y="107012"/>
                  </a:lnTo>
                  <a:lnTo>
                    <a:pt x="79189" y="107012"/>
                  </a:lnTo>
                  <a:lnTo>
                    <a:pt x="71341" y="126829"/>
                  </a:lnTo>
                  <a:lnTo>
                    <a:pt x="71341" y="150133"/>
                  </a:lnTo>
                  <a:cubicBezTo>
                    <a:pt x="68539" y="149799"/>
                    <a:pt x="65760" y="149296"/>
                    <a:pt x="63018" y="148627"/>
                  </a:cubicBezTo>
                  <a:lnTo>
                    <a:pt x="43914" y="99006"/>
                  </a:lnTo>
                  <a:lnTo>
                    <a:pt x="35433" y="99006"/>
                  </a:lnTo>
                  <a:lnTo>
                    <a:pt x="53347" y="145615"/>
                  </a:lnTo>
                  <a:cubicBezTo>
                    <a:pt x="26793" y="135231"/>
                    <a:pt x="7927" y="109469"/>
                    <a:pt x="7927" y="79189"/>
                  </a:cubicBezTo>
                  <a:cubicBezTo>
                    <a:pt x="7927" y="65396"/>
                    <a:pt x="11890" y="52634"/>
                    <a:pt x="18628" y="41695"/>
                  </a:cubicBezTo>
                  <a:cubicBezTo>
                    <a:pt x="20134" y="43042"/>
                    <a:pt x="28695" y="50731"/>
                    <a:pt x="31628" y="53268"/>
                  </a:cubicBezTo>
                  <a:lnTo>
                    <a:pt x="31628" y="67298"/>
                  </a:lnTo>
                  <a:lnTo>
                    <a:pt x="22908" y="67298"/>
                  </a:lnTo>
                  <a:lnTo>
                    <a:pt x="29250" y="83152"/>
                  </a:lnTo>
                  <a:lnTo>
                    <a:pt x="20530" y="83152"/>
                  </a:lnTo>
                  <a:lnTo>
                    <a:pt x="26793" y="99006"/>
                  </a:lnTo>
                  <a:lnTo>
                    <a:pt x="35353" y="99006"/>
                  </a:lnTo>
                  <a:lnTo>
                    <a:pt x="29329" y="83152"/>
                  </a:lnTo>
                  <a:lnTo>
                    <a:pt x="37732" y="83152"/>
                  </a:lnTo>
                  <a:lnTo>
                    <a:pt x="31628" y="67298"/>
                  </a:lnTo>
                  <a:lnTo>
                    <a:pt x="39555" y="67298"/>
                  </a:lnTo>
                  <a:lnTo>
                    <a:pt x="39555" y="49622"/>
                  </a:lnTo>
                  <a:cubicBezTo>
                    <a:pt x="39555" y="49622"/>
                    <a:pt x="24890" y="36622"/>
                    <a:pt x="23225" y="35116"/>
                  </a:cubicBezTo>
                  <a:cubicBezTo>
                    <a:pt x="33304" y="22273"/>
                    <a:pt x="47495" y="13288"/>
                    <a:pt x="63414" y="9671"/>
                  </a:cubicBezTo>
                  <a:lnTo>
                    <a:pt x="63414" y="17439"/>
                  </a:lnTo>
                  <a:lnTo>
                    <a:pt x="79268" y="33293"/>
                  </a:lnTo>
                  <a:lnTo>
                    <a:pt x="79268" y="43518"/>
                  </a:lnTo>
                  <a:lnTo>
                    <a:pt x="87195" y="43518"/>
                  </a:lnTo>
                  <a:lnTo>
                    <a:pt x="87195" y="29963"/>
                  </a:lnTo>
                  <a:lnTo>
                    <a:pt x="71341" y="14110"/>
                  </a:lnTo>
                  <a:lnTo>
                    <a:pt x="71341" y="8323"/>
                  </a:lnTo>
                  <a:cubicBezTo>
                    <a:pt x="73957" y="8006"/>
                    <a:pt x="76573" y="7848"/>
                    <a:pt x="79268" y="7848"/>
                  </a:cubicBezTo>
                  <a:cubicBezTo>
                    <a:pt x="110024" y="7848"/>
                    <a:pt x="136103" y="27347"/>
                    <a:pt x="146170" y="54536"/>
                  </a:cubicBezTo>
                  <a:lnTo>
                    <a:pt x="118902" y="70311"/>
                  </a:lnTo>
                  <a:lnTo>
                    <a:pt x="118902" y="79189"/>
                  </a:lnTo>
                  <a:lnTo>
                    <a:pt x="148310" y="61512"/>
                  </a:lnTo>
                  <a:cubicBezTo>
                    <a:pt x="149737" y="67219"/>
                    <a:pt x="150609" y="73085"/>
                    <a:pt x="150609" y="79189"/>
                  </a:cubicBezTo>
                  <a:cubicBezTo>
                    <a:pt x="150609" y="93774"/>
                    <a:pt x="146170" y="107408"/>
                    <a:pt x="138640" y="118664"/>
                  </a:cubicBezTo>
                  <a:lnTo>
                    <a:pt x="138640" y="118743"/>
                  </a:lnTo>
                  <a:close/>
                </a:path>
              </a:pathLst>
            </a:custGeom>
            <a:grpFill/>
            <a:ln w="7541" cap="flat">
              <a:noFill/>
              <a:prstDash val="solid"/>
              <a:miter/>
            </a:ln>
          </p:spPr>
          <p:txBody>
            <a:bodyPr rtlCol="0" anchor="ctr"/>
            <a:lstStyle/>
            <a:p>
              <a:endParaRPr lang="en-US"/>
            </a:p>
          </p:txBody>
        </p:sp>
      </p:grpSp>
      <p:pic>
        <p:nvPicPr>
          <p:cNvPr id="58" name="Graphic 57">
            <a:hlinkClick r:id="" action="ppaction://noaction"/>
            <a:extLst>
              <a:ext uri="{FF2B5EF4-FFF2-40B4-BE49-F238E27FC236}">
                <a16:creationId xmlns:a16="http://schemas.microsoft.com/office/drawing/2014/main" id="{66B8993D-43CB-E13B-63EA-F35F1170E3C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1143" y="162182"/>
            <a:ext cx="151886" cy="151886"/>
          </a:xfrm>
          <a:prstGeom prst="rect">
            <a:avLst/>
          </a:prstGeom>
        </p:spPr>
      </p:pic>
      <p:sp>
        <p:nvSpPr>
          <p:cNvPr id="59" name="Graphic 30">
            <a:extLst>
              <a:ext uri="{FF2B5EF4-FFF2-40B4-BE49-F238E27FC236}">
                <a16:creationId xmlns:a16="http://schemas.microsoft.com/office/drawing/2014/main" id="{CDA087CC-6694-28E5-AEC4-82B75CDBC45D}"/>
              </a:ext>
            </a:extLst>
          </p:cNvPr>
          <p:cNvSpPr/>
          <p:nvPr userDrawn="1"/>
        </p:nvSpPr>
        <p:spPr>
          <a:xfrm>
            <a:off x="2801186" y="159969"/>
            <a:ext cx="156312" cy="156312"/>
          </a:xfrm>
          <a:custGeom>
            <a:avLst/>
            <a:gdLst>
              <a:gd name="connsiteX0" fmla="*/ 103232 w 171450"/>
              <a:gd name="connsiteY0" fmla="*/ 0 h 171450"/>
              <a:gd name="connsiteX1" fmla="*/ 68218 w 171450"/>
              <a:gd name="connsiteY1" fmla="*/ 0 h 171450"/>
              <a:gd name="connsiteX2" fmla="*/ 59312 w 171450"/>
              <a:gd name="connsiteY2" fmla="*/ 22241 h 171450"/>
              <a:gd name="connsiteX3" fmla="*/ 37509 w 171450"/>
              <a:gd name="connsiteY3" fmla="*/ 12716 h 171450"/>
              <a:gd name="connsiteX4" fmla="*/ 12706 w 171450"/>
              <a:gd name="connsiteY4" fmla="*/ 37509 h 171450"/>
              <a:gd name="connsiteX5" fmla="*/ 22241 w 171450"/>
              <a:gd name="connsiteY5" fmla="*/ 59322 h 171450"/>
              <a:gd name="connsiteX6" fmla="*/ 0 w 171450"/>
              <a:gd name="connsiteY6" fmla="*/ 68199 h 171450"/>
              <a:gd name="connsiteX7" fmla="*/ 0 w 171450"/>
              <a:gd name="connsiteY7" fmla="*/ 103222 h 171450"/>
              <a:gd name="connsiteX8" fmla="*/ 22241 w 171450"/>
              <a:gd name="connsiteY8" fmla="*/ 112128 h 171450"/>
              <a:gd name="connsiteX9" fmla="*/ 12716 w 171450"/>
              <a:gd name="connsiteY9" fmla="*/ 133941 h 171450"/>
              <a:gd name="connsiteX10" fmla="*/ 37509 w 171450"/>
              <a:gd name="connsiteY10" fmla="*/ 158734 h 171450"/>
              <a:gd name="connsiteX11" fmla="*/ 59322 w 171450"/>
              <a:gd name="connsiteY11" fmla="*/ 149200 h 171450"/>
              <a:gd name="connsiteX12" fmla="*/ 68199 w 171450"/>
              <a:gd name="connsiteY12" fmla="*/ 171450 h 171450"/>
              <a:gd name="connsiteX13" fmla="*/ 103251 w 171450"/>
              <a:gd name="connsiteY13" fmla="*/ 171450 h 171450"/>
              <a:gd name="connsiteX14" fmla="*/ 111928 w 171450"/>
              <a:gd name="connsiteY14" fmla="*/ 149285 h 171450"/>
              <a:gd name="connsiteX15" fmla="*/ 133950 w 171450"/>
              <a:gd name="connsiteY15" fmla="*/ 158725 h 171450"/>
              <a:gd name="connsiteX16" fmla="*/ 158734 w 171450"/>
              <a:gd name="connsiteY16" fmla="*/ 133941 h 171450"/>
              <a:gd name="connsiteX17" fmla="*/ 149200 w 171450"/>
              <a:gd name="connsiteY17" fmla="*/ 112128 h 171450"/>
              <a:gd name="connsiteX18" fmla="*/ 171450 w 171450"/>
              <a:gd name="connsiteY18" fmla="*/ 103241 h 171450"/>
              <a:gd name="connsiteX19" fmla="*/ 171450 w 171450"/>
              <a:gd name="connsiteY19" fmla="*/ 68218 h 171450"/>
              <a:gd name="connsiteX20" fmla="*/ 149209 w 171450"/>
              <a:gd name="connsiteY20" fmla="*/ 59322 h 171450"/>
              <a:gd name="connsiteX21" fmla="*/ 158734 w 171450"/>
              <a:gd name="connsiteY21" fmla="*/ 37519 h 171450"/>
              <a:gd name="connsiteX22" fmla="*/ 133941 w 171450"/>
              <a:gd name="connsiteY22" fmla="*/ 12716 h 171450"/>
              <a:gd name="connsiteX23" fmla="*/ 112128 w 171450"/>
              <a:gd name="connsiteY23" fmla="*/ 22250 h 171450"/>
              <a:gd name="connsiteX24" fmla="*/ 103251 w 171450"/>
              <a:gd name="connsiteY24" fmla="*/ 0 h 171450"/>
              <a:gd name="connsiteX25" fmla="*/ 69513 w 171450"/>
              <a:gd name="connsiteY25" fmla="*/ 22384 h 171450"/>
              <a:gd name="connsiteX26" fmla="*/ 74657 w 171450"/>
              <a:gd name="connsiteY26" fmla="*/ 9525 h 171450"/>
              <a:gd name="connsiteX27" fmla="*/ 96793 w 171450"/>
              <a:gd name="connsiteY27" fmla="*/ 9525 h 171450"/>
              <a:gd name="connsiteX28" fmla="*/ 101937 w 171450"/>
              <a:gd name="connsiteY28" fmla="*/ 22384 h 171450"/>
              <a:gd name="connsiteX29" fmla="*/ 117624 w 171450"/>
              <a:gd name="connsiteY29" fmla="*/ 30242 h 171450"/>
              <a:gd name="connsiteX30" fmla="*/ 131797 w 171450"/>
              <a:gd name="connsiteY30" fmla="*/ 24041 h 171450"/>
              <a:gd name="connsiteX31" fmla="*/ 147418 w 171450"/>
              <a:gd name="connsiteY31" fmla="*/ 39653 h 171450"/>
              <a:gd name="connsiteX32" fmla="*/ 141218 w 171450"/>
              <a:gd name="connsiteY32" fmla="*/ 53826 h 171450"/>
              <a:gd name="connsiteX33" fmla="*/ 149057 w 171450"/>
              <a:gd name="connsiteY33" fmla="*/ 69513 h 171450"/>
              <a:gd name="connsiteX34" fmla="*/ 161925 w 171450"/>
              <a:gd name="connsiteY34" fmla="*/ 74657 h 171450"/>
              <a:gd name="connsiteX35" fmla="*/ 161925 w 171450"/>
              <a:gd name="connsiteY35" fmla="*/ 96793 h 171450"/>
              <a:gd name="connsiteX36" fmla="*/ 149066 w 171450"/>
              <a:gd name="connsiteY36" fmla="*/ 101937 h 171450"/>
              <a:gd name="connsiteX37" fmla="*/ 141218 w 171450"/>
              <a:gd name="connsiteY37" fmla="*/ 117624 h 171450"/>
              <a:gd name="connsiteX38" fmla="*/ 147409 w 171450"/>
              <a:gd name="connsiteY38" fmla="*/ 131797 h 171450"/>
              <a:gd name="connsiteX39" fmla="*/ 131788 w 171450"/>
              <a:gd name="connsiteY39" fmla="*/ 147428 h 171450"/>
              <a:gd name="connsiteX40" fmla="*/ 117462 w 171450"/>
              <a:gd name="connsiteY40" fmla="*/ 141294 h 171450"/>
              <a:gd name="connsiteX41" fmla="*/ 101765 w 171450"/>
              <a:gd name="connsiteY41" fmla="*/ 149142 h 171450"/>
              <a:gd name="connsiteX42" fmla="*/ 96774 w 171450"/>
              <a:gd name="connsiteY42" fmla="*/ 161925 h 171450"/>
              <a:gd name="connsiteX43" fmla="*/ 74676 w 171450"/>
              <a:gd name="connsiteY43" fmla="*/ 161925 h 171450"/>
              <a:gd name="connsiteX44" fmla="*/ 69533 w 171450"/>
              <a:gd name="connsiteY44" fmla="*/ 149066 h 171450"/>
              <a:gd name="connsiteX45" fmla="*/ 53835 w 171450"/>
              <a:gd name="connsiteY45" fmla="*/ 141218 h 171450"/>
              <a:gd name="connsiteX46" fmla="*/ 39662 w 171450"/>
              <a:gd name="connsiteY46" fmla="*/ 147409 h 171450"/>
              <a:gd name="connsiteX47" fmla="*/ 24041 w 171450"/>
              <a:gd name="connsiteY47" fmla="*/ 131797 h 171450"/>
              <a:gd name="connsiteX48" fmla="*/ 30251 w 171450"/>
              <a:gd name="connsiteY48" fmla="*/ 117624 h 171450"/>
              <a:gd name="connsiteX49" fmla="*/ 22403 w 171450"/>
              <a:gd name="connsiteY49" fmla="*/ 101937 h 171450"/>
              <a:gd name="connsiteX50" fmla="*/ 9525 w 171450"/>
              <a:gd name="connsiteY50" fmla="*/ 96793 h 171450"/>
              <a:gd name="connsiteX51" fmla="*/ 9525 w 171450"/>
              <a:gd name="connsiteY51" fmla="*/ 74657 h 171450"/>
              <a:gd name="connsiteX52" fmla="*/ 22384 w 171450"/>
              <a:gd name="connsiteY52" fmla="*/ 69513 h 171450"/>
              <a:gd name="connsiteX53" fmla="*/ 30242 w 171450"/>
              <a:gd name="connsiteY53" fmla="*/ 53826 h 171450"/>
              <a:gd name="connsiteX54" fmla="*/ 24041 w 171450"/>
              <a:gd name="connsiteY54" fmla="*/ 39653 h 171450"/>
              <a:gd name="connsiteX55" fmla="*/ 39653 w 171450"/>
              <a:gd name="connsiteY55" fmla="*/ 24032 h 171450"/>
              <a:gd name="connsiteX56" fmla="*/ 53826 w 171450"/>
              <a:gd name="connsiteY56" fmla="*/ 30232 h 171450"/>
              <a:gd name="connsiteX57" fmla="*/ 69513 w 171450"/>
              <a:gd name="connsiteY57" fmla="*/ 22393 h 171450"/>
              <a:gd name="connsiteX58" fmla="*/ 114300 w 171450"/>
              <a:gd name="connsiteY58" fmla="*/ 85725 h 171450"/>
              <a:gd name="connsiteX59" fmla="*/ 85725 w 171450"/>
              <a:gd name="connsiteY59" fmla="*/ 114300 h 171450"/>
              <a:gd name="connsiteX60" fmla="*/ 57150 w 171450"/>
              <a:gd name="connsiteY60" fmla="*/ 85725 h 171450"/>
              <a:gd name="connsiteX61" fmla="*/ 85725 w 171450"/>
              <a:gd name="connsiteY61" fmla="*/ 57150 h 171450"/>
              <a:gd name="connsiteX62" fmla="*/ 114300 w 171450"/>
              <a:gd name="connsiteY62" fmla="*/ 85725 h 171450"/>
              <a:gd name="connsiteX63" fmla="*/ 123825 w 171450"/>
              <a:gd name="connsiteY63" fmla="*/ 85725 h 171450"/>
              <a:gd name="connsiteX64" fmla="*/ 85725 w 171450"/>
              <a:gd name="connsiteY64" fmla="*/ 123825 h 171450"/>
              <a:gd name="connsiteX65" fmla="*/ 47625 w 171450"/>
              <a:gd name="connsiteY65" fmla="*/ 85725 h 171450"/>
              <a:gd name="connsiteX66" fmla="*/ 85725 w 171450"/>
              <a:gd name="connsiteY66" fmla="*/ 47625 h 171450"/>
              <a:gd name="connsiteX67" fmla="*/ 123825 w 171450"/>
              <a:gd name="connsiteY67"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450" h="171450">
                <a:moveTo>
                  <a:pt x="103232" y="0"/>
                </a:moveTo>
                <a:lnTo>
                  <a:pt x="68218" y="0"/>
                </a:lnTo>
                <a:lnTo>
                  <a:pt x="59312" y="22241"/>
                </a:lnTo>
                <a:lnTo>
                  <a:pt x="37509" y="12716"/>
                </a:lnTo>
                <a:lnTo>
                  <a:pt x="12706" y="37509"/>
                </a:lnTo>
                <a:lnTo>
                  <a:pt x="22241" y="59322"/>
                </a:lnTo>
                <a:lnTo>
                  <a:pt x="0" y="68199"/>
                </a:lnTo>
                <a:lnTo>
                  <a:pt x="0" y="103222"/>
                </a:lnTo>
                <a:lnTo>
                  <a:pt x="22241" y="112128"/>
                </a:lnTo>
                <a:lnTo>
                  <a:pt x="12716" y="133941"/>
                </a:lnTo>
                <a:lnTo>
                  <a:pt x="37509" y="158734"/>
                </a:lnTo>
                <a:lnTo>
                  <a:pt x="59322" y="149200"/>
                </a:lnTo>
                <a:lnTo>
                  <a:pt x="68199" y="171450"/>
                </a:lnTo>
                <a:lnTo>
                  <a:pt x="103251" y="171450"/>
                </a:lnTo>
                <a:lnTo>
                  <a:pt x="111928" y="149285"/>
                </a:lnTo>
                <a:lnTo>
                  <a:pt x="133950" y="158725"/>
                </a:lnTo>
                <a:lnTo>
                  <a:pt x="158734" y="133941"/>
                </a:lnTo>
                <a:lnTo>
                  <a:pt x="149200" y="112128"/>
                </a:lnTo>
                <a:lnTo>
                  <a:pt x="171450" y="103241"/>
                </a:lnTo>
                <a:lnTo>
                  <a:pt x="171450" y="68218"/>
                </a:lnTo>
                <a:lnTo>
                  <a:pt x="149209" y="59322"/>
                </a:lnTo>
                <a:lnTo>
                  <a:pt x="158734" y="37519"/>
                </a:lnTo>
                <a:lnTo>
                  <a:pt x="133941" y="12716"/>
                </a:lnTo>
                <a:lnTo>
                  <a:pt x="112128" y="22250"/>
                </a:lnTo>
                <a:lnTo>
                  <a:pt x="103251" y="0"/>
                </a:lnTo>
                <a:close/>
                <a:moveTo>
                  <a:pt x="69513" y="22384"/>
                </a:moveTo>
                <a:lnTo>
                  <a:pt x="74657" y="9525"/>
                </a:lnTo>
                <a:lnTo>
                  <a:pt x="96793" y="9525"/>
                </a:lnTo>
                <a:lnTo>
                  <a:pt x="101937" y="22384"/>
                </a:lnTo>
                <a:lnTo>
                  <a:pt x="117624" y="30242"/>
                </a:lnTo>
                <a:lnTo>
                  <a:pt x="131797" y="24041"/>
                </a:lnTo>
                <a:lnTo>
                  <a:pt x="147418" y="39653"/>
                </a:lnTo>
                <a:lnTo>
                  <a:pt x="141218" y="53826"/>
                </a:lnTo>
                <a:lnTo>
                  <a:pt x="149057" y="69513"/>
                </a:lnTo>
                <a:lnTo>
                  <a:pt x="161925" y="74657"/>
                </a:lnTo>
                <a:lnTo>
                  <a:pt x="161925" y="96793"/>
                </a:lnTo>
                <a:lnTo>
                  <a:pt x="149066" y="101937"/>
                </a:lnTo>
                <a:lnTo>
                  <a:pt x="141218" y="117624"/>
                </a:lnTo>
                <a:lnTo>
                  <a:pt x="147409" y="131797"/>
                </a:lnTo>
                <a:lnTo>
                  <a:pt x="131788" y="147428"/>
                </a:lnTo>
                <a:lnTo>
                  <a:pt x="117462" y="141294"/>
                </a:lnTo>
                <a:lnTo>
                  <a:pt x="101765" y="149142"/>
                </a:lnTo>
                <a:lnTo>
                  <a:pt x="96774" y="161925"/>
                </a:lnTo>
                <a:lnTo>
                  <a:pt x="74676" y="161925"/>
                </a:lnTo>
                <a:lnTo>
                  <a:pt x="69533" y="149066"/>
                </a:lnTo>
                <a:lnTo>
                  <a:pt x="53835" y="141218"/>
                </a:lnTo>
                <a:lnTo>
                  <a:pt x="39662" y="147409"/>
                </a:lnTo>
                <a:lnTo>
                  <a:pt x="24041" y="131797"/>
                </a:lnTo>
                <a:lnTo>
                  <a:pt x="30251" y="117624"/>
                </a:lnTo>
                <a:lnTo>
                  <a:pt x="22403" y="101937"/>
                </a:lnTo>
                <a:lnTo>
                  <a:pt x="9525" y="96793"/>
                </a:lnTo>
                <a:lnTo>
                  <a:pt x="9525" y="74657"/>
                </a:lnTo>
                <a:lnTo>
                  <a:pt x="22384" y="69513"/>
                </a:lnTo>
                <a:lnTo>
                  <a:pt x="30242" y="53826"/>
                </a:lnTo>
                <a:lnTo>
                  <a:pt x="24041" y="39653"/>
                </a:lnTo>
                <a:lnTo>
                  <a:pt x="39653" y="24032"/>
                </a:lnTo>
                <a:lnTo>
                  <a:pt x="53826" y="30232"/>
                </a:lnTo>
                <a:lnTo>
                  <a:pt x="69513" y="22393"/>
                </a:lnTo>
                <a:close/>
                <a:moveTo>
                  <a:pt x="114300" y="85725"/>
                </a:moveTo>
                <a:cubicBezTo>
                  <a:pt x="114300" y="101507"/>
                  <a:pt x="101507" y="114300"/>
                  <a:pt x="85725" y="114300"/>
                </a:cubicBezTo>
                <a:cubicBezTo>
                  <a:pt x="69943" y="114300"/>
                  <a:pt x="57150" y="101507"/>
                  <a:pt x="57150" y="85725"/>
                </a:cubicBezTo>
                <a:cubicBezTo>
                  <a:pt x="57150" y="69943"/>
                  <a:pt x="69943" y="57150"/>
                  <a:pt x="85725" y="57150"/>
                </a:cubicBezTo>
                <a:cubicBezTo>
                  <a:pt x="101507" y="57150"/>
                  <a:pt x="114300" y="69943"/>
                  <a:pt x="114300" y="85725"/>
                </a:cubicBezTo>
                <a:close/>
                <a:moveTo>
                  <a:pt x="123825" y="85725"/>
                </a:moveTo>
                <a:cubicBezTo>
                  <a:pt x="123825" y="106767"/>
                  <a:pt x="106767" y="123825"/>
                  <a:pt x="85725" y="123825"/>
                </a:cubicBezTo>
                <a:cubicBezTo>
                  <a:pt x="64683" y="123825"/>
                  <a:pt x="47625" y="106767"/>
                  <a:pt x="47625" y="85725"/>
                </a:cubicBezTo>
                <a:cubicBezTo>
                  <a:pt x="47625" y="64683"/>
                  <a:pt x="64683" y="47625"/>
                  <a:pt x="85725" y="47625"/>
                </a:cubicBezTo>
                <a:cubicBezTo>
                  <a:pt x="106767" y="47625"/>
                  <a:pt x="123825" y="64683"/>
                  <a:pt x="123825" y="85725"/>
                </a:cubicBezTo>
                <a:close/>
              </a:path>
            </a:pathLst>
          </a:custGeom>
          <a:solidFill>
            <a:srgbClr val="08312A"/>
          </a:solidFill>
          <a:ln w="9525" cap="flat">
            <a:noFill/>
            <a:prstDash val="solid"/>
            <a:miter/>
          </a:ln>
        </p:spPr>
        <p:txBody>
          <a:bodyPr rtlCol="0" anchor="ctr"/>
          <a:lstStyle/>
          <a:p>
            <a:endParaRPr lang="en-US"/>
          </a:p>
        </p:txBody>
      </p:sp>
      <p:sp>
        <p:nvSpPr>
          <p:cNvPr id="60" name="Graphic 37">
            <a:extLst>
              <a:ext uri="{FF2B5EF4-FFF2-40B4-BE49-F238E27FC236}">
                <a16:creationId xmlns:a16="http://schemas.microsoft.com/office/drawing/2014/main" id="{2C5B3D12-0CD0-4DC1-F522-DFE0F30F1986}"/>
              </a:ext>
            </a:extLst>
          </p:cNvPr>
          <p:cNvSpPr/>
          <p:nvPr userDrawn="1"/>
        </p:nvSpPr>
        <p:spPr>
          <a:xfrm>
            <a:off x="3896025" y="152400"/>
            <a:ext cx="190500" cy="171450"/>
          </a:xfrm>
          <a:custGeom>
            <a:avLst/>
            <a:gdLst>
              <a:gd name="connsiteX0" fmla="*/ 47625 w 190500"/>
              <a:gd name="connsiteY0" fmla="*/ 47625 h 171450"/>
              <a:gd name="connsiteX1" fmla="*/ 66675 w 190500"/>
              <a:gd name="connsiteY1" fmla="*/ 28575 h 171450"/>
              <a:gd name="connsiteX2" fmla="*/ 47625 w 190500"/>
              <a:gd name="connsiteY2" fmla="*/ 9525 h 171450"/>
              <a:gd name="connsiteX3" fmla="*/ 28575 w 190500"/>
              <a:gd name="connsiteY3" fmla="*/ 28575 h 171450"/>
              <a:gd name="connsiteX4" fmla="*/ 47625 w 190500"/>
              <a:gd name="connsiteY4" fmla="*/ 47625 h 171450"/>
              <a:gd name="connsiteX5" fmla="*/ 47625 w 190500"/>
              <a:gd name="connsiteY5" fmla="*/ 57150 h 171450"/>
              <a:gd name="connsiteX6" fmla="*/ 76200 w 190500"/>
              <a:gd name="connsiteY6" fmla="*/ 28575 h 171450"/>
              <a:gd name="connsiteX7" fmla="*/ 47625 w 190500"/>
              <a:gd name="connsiteY7" fmla="*/ 0 h 171450"/>
              <a:gd name="connsiteX8" fmla="*/ 19050 w 190500"/>
              <a:gd name="connsiteY8" fmla="*/ 28575 h 171450"/>
              <a:gd name="connsiteX9" fmla="*/ 47625 w 190500"/>
              <a:gd name="connsiteY9" fmla="*/ 57150 h 171450"/>
              <a:gd name="connsiteX10" fmla="*/ 142875 w 190500"/>
              <a:gd name="connsiteY10" fmla="*/ 47625 h 171450"/>
              <a:gd name="connsiteX11" fmla="*/ 161925 w 190500"/>
              <a:gd name="connsiteY11" fmla="*/ 28575 h 171450"/>
              <a:gd name="connsiteX12" fmla="*/ 142875 w 190500"/>
              <a:gd name="connsiteY12" fmla="*/ 9525 h 171450"/>
              <a:gd name="connsiteX13" fmla="*/ 123825 w 190500"/>
              <a:gd name="connsiteY13" fmla="*/ 28575 h 171450"/>
              <a:gd name="connsiteX14" fmla="*/ 142875 w 190500"/>
              <a:gd name="connsiteY14" fmla="*/ 47625 h 171450"/>
              <a:gd name="connsiteX15" fmla="*/ 142875 w 190500"/>
              <a:gd name="connsiteY15" fmla="*/ 57150 h 171450"/>
              <a:gd name="connsiteX16" fmla="*/ 171450 w 190500"/>
              <a:gd name="connsiteY16" fmla="*/ 28575 h 171450"/>
              <a:gd name="connsiteX17" fmla="*/ 142875 w 190500"/>
              <a:gd name="connsiteY17" fmla="*/ 0 h 171450"/>
              <a:gd name="connsiteX18" fmla="*/ 114300 w 190500"/>
              <a:gd name="connsiteY18" fmla="*/ 28575 h 171450"/>
              <a:gd name="connsiteX19" fmla="*/ 142875 w 190500"/>
              <a:gd name="connsiteY19" fmla="*/ 57150 h 171450"/>
              <a:gd name="connsiteX20" fmla="*/ 9525 w 190500"/>
              <a:gd name="connsiteY20" fmla="*/ 100441 h 171450"/>
              <a:gd name="connsiteX21" fmla="*/ 15392 w 190500"/>
              <a:gd name="connsiteY21" fmla="*/ 85430 h 171450"/>
              <a:gd name="connsiteX22" fmla="*/ 28575 w 190500"/>
              <a:gd name="connsiteY22" fmla="*/ 80963 h 171450"/>
              <a:gd name="connsiteX23" fmla="*/ 57150 w 190500"/>
              <a:gd name="connsiteY23" fmla="*/ 80963 h 171450"/>
              <a:gd name="connsiteX24" fmla="*/ 57150 w 190500"/>
              <a:gd name="connsiteY24" fmla="*/ 71438 h 171450"/>
              <a:gd name="connsiteX25" fmla="*/ 28575 w 190500"/>
              <a:gd name="connsiteY25" fmla="*/ 71438 h 171450"/>
              <a:gd name="connsiteX26" fmla="*/ 9144 w 190500"/>
              <a:gd name="connsiteY26" fmla="*/ 78229 h 171450"/>
              <a:gd name="connsiteX27" fmla="*/ 0 w 190500"/>
              <a:gd name="connsiteY27" fmla="*/ 100441 h 171450"/>
              <a:gd name="connsiteX28" fmla="*/ 0 w 190500"/>
              <a:gd name="connsiteY28" fmla="*/ 114300 h 171450"/>
              <a:gd name="connsiteX29" fmla="*/ 9525 w 190500"/>
              <a:gd name="connsiteY29" fmla="*/ 114300 h 171450"/>
              <a:gd name="connsiteX30" fmla="*/ 9525 w 190500"/>
              <a:gd name="connsiteY30" fmla="*/ 123825 h 171450"/>
              <a:gd name="connsiteX31" fmla="*/ 47625 w 190500"/>
              <a:gd name="connsiteY31" fmla="*/ 123825 h 171450"/>
              <a:gd name="connsiteX32" fmla="*/ 47625 w 190500"/>
              <a:gd name="connsiteY32" fmla="*/ 114300 h 171450"/>
              <a:gd name="connsiteX33" fmla="*/ 9525 w 190500"/>
              <a:gd name="connsiteY33" fmla="*/ 114300 h 171450"/>
              <a:gd name="connsiteX34" fmla="*/ 9525 w 190500"/>
              <a:gd name="connsiteY34" fmla="*/ 100441 h 171450"/>
              <a:gd name="connsiteX35" fmla="*/ 190500 w 190500"/>
              <a:gd name="connsiteY35" fmla="*/ 114300 h 171450"/>
              <a:gd name="connsiteX36" fmla="*/ 180975 w 190500"/>
              <a:gd name="connsiteY36" fmla="*/ 114300 h 171450"/>
              <a:gd name="connsiteX37" fmla="*/ 180975 w 190500"/>
              <a:gd name="connsiteY37" fmla="*/ 100441 h 171450"/>
              <a:gd name="connsiteX38" fmla="*/ 175108 w 190500"/>
              <a:gd name="connsiteY38" fmla="*/ 85430 h 171450"/>
              <a:gd name="connsiteX39" fmla="*/ 161925 w 190500"/>
              <a:gd name="connsiteY39" fmla="*/ 80963 h 171450"/>
              <a:gd name="connsiteX40" fmla="*/ 133350 w 190500"/>
              <a:gd name="connsiteY40" fmla="*/ 80963 h 171450"/>
              <a:gd name="connsiteX41" fmla="*/ 133350 w 190500"/>
              <a:gd name="connsiteY41" fmla="*/ 71438 h 171450"/>
              <a:gd name="connsiteX42" fmla="*/ 161925 w 190500"/>
              <a:gd name="connsiteY42" fmla="*/ 71438 h 171450"/>
              <a:gd name="connsiteX43" fmla="*/ 181356 w 190500"/>
              <a:gd name="connsiteY43" fmla="*/ 78229 h 171450"/>
              <a:gd name="connsiteX44" fmla="*/ 190500 w 190500"/>
              <a:gd name="connsiteY44" fmla="*/ 100441 h 171450"/>
              <a:gd name="connsiteX45" fmla="*/ 190500 w 190500"/>
              <a:gd name="connsiteY45" fmla="*/ 114300 h 171450"/>
              <a:gd name="connsiteX46" fmla="*/ 180975 w 190500"/>
              <a:gd name="connsiteY46" fmla="*/ 114300 h 171450"/>
              <a:gd name="connsiteX47" fmla="*/ 180975 w 190500"/>
              <a:gd name="connsiteY47" fmla="*/ 123825 h 171450"/>
              <a:gd name="connsiteX48" fmla="*/ 142875 w 190500"/>
              <a:gd name="connsiteY48" fmla="*/ 123825 h 171450"/>
              <a:gd name="connsiteX49" fmla="*/ 142875 w 190500"/>
              <a:gd name="connsiteY49" fmla="*/ 114300 h 171450"/>
              <a:gd name="connsiteX50" fmla="*/ 180975 w 190500"/>
              <a:gd name="connsiteY50" fmla="*/ 114300 h 171450"/>
              <a:gd name="connsiteX51" fmla="*/ 114300 w 190500"/>
              <a:gd name="connsiteY51" fmla="*/ 76200 h 171450"/>
              <a:gd name="connsiteX52" fmla="*/ 95250 w 190500"/>
              <a:gd name="connsiteY52" fmla="*/ 95250 h 171450"/>
              <a:gd name="connsiteX53" fmla="*/ 76200 w 190500"/>
              <a:gd name="connsiteY53" fmla="*/ 76200 h 171450"/>
              <a:gd name="connsiteX54" fmla="*/ 95250 w 190500"/>
              <a:gd name="connsiteY54" fmla="*/ 57150 h 171450"/>
              <a:gd name="connsiteX55" fmla="*/ 114300 w 190500"/>
              <a:gd name="connsiteY55" fmla="*/ 76200 h 171450"/>
              <a:gd name="connsiteX56" fmla="*/ 123825 w 190500"/>
              <a:gd name="connsiteY56" fmla="*/ 76200 h 171450"/>
              <a:gd name="connsiteX57" fmla="*/ 95250 w 190500"/>
              <a:gd name="connsiteY57" fmla="*/ 104775 h 171450"/>
              <a:gd name="connsiteX58" fmla="*/ 66675 w 190500"/>
              <a:gd name="connsiteY58" fmla="*/ 76200 h 171450"/>
              <a:gd name="connsiteX59" fmla="*/ 95250 w 190500"/>
              <a:gd name="connsiteY59" fmla="*/ 47625 h 171450"/>
              <a:gd name="connsiteX60" fmla="*/ 123825 w 190500"/>
              <a:gd name="connsiteY60" fmla="*/ 76200 h 171450"/>
              <a:gd name="connsiteX61" fmla="*/ 57150 w 190500"/>
              <a:gd name="connsiteY61" fmla="*/ 171450 h 171450"/>
              <a:gd name="connsiteX62" fmla="*/ 57150 w 190500"/>
              <a:gd name="connsiteY62" fmla="*/ 161925 h 171450"/>
              <a:gd name="connsiteX63" fmla="*/ 133350 w 190500"/>
              <a:gd name="connsiteY63" fmla="*/ 161925 h 171450"/>
              <a:gd name="connsiteX64" fmla="*/ 133350 w 190500"/>
              <a:gd name="connsiteY64" fmla="*/ 171450 h 171450"/>
              <a:gd name="connsiteX65" fmla="*/ 57150 w 190500"/>
              <a:gd name="connsiteY65" fmla="*/ 171450 h 171450"/>
              <a:gd name="connsiteX66" fmla="*/ 133350 w 190500"/>
              <a:gd name="connsiteY66" fmla="*/ 161925 h 171450"/>
              <a:gd name="connsiteX67" fmla="*/ 133350 w 190500"/>
              <a:gd name="connsiteY67" fmla="*/ 148066 h 171450"/>
              <a:gd name="connsiteX68" fmla="*/ 127483 w 190500"/>
              <a:gd name="connsiteY68" fmla="*/ 133055 h 171450"/>
              <a:gd name="connsiteX69" fmla="*/ 114300 w 190500"/>
              <a:gd name="connsiteY69" fmla="*/ 128588 h 171450"/>
              <a:gd name="connsiteX70" fmla="*/ 76200 w 190500"/>
              <a:gd name="connsiteY70" fmla="*/ 128588 h 171450"/>
              <a:gd name="connsiteX71" fmla="*/ 63017 w 190500"/>
              <a:gd name="connsiteY71" fmla="*/ 133055 h 171450"/>
              <a:gd name="connsiteX72" fmla="*/ 57150 w 190500"/>
              <a:gd name="connsiteY72" fmla="*/ 148066 h 171450"/>
              <a:gd name="connsiteX73" fmla="*/ 57150 w 190500"/>
              <a:gd name="connsiteY73" fmla="*/ 161925 h 171450"/>
              <a:gd name="connsiteX74" fmla="*/ 47625 w 190500"/>
              <a:gd name="connsiteY74" fmla="*/ 161925 h 171450"/>
              <a:gd name="connsiteX75" fmla="*/ 47625 w 190500"/>
              <a:gd name="connsiteY75" fmla="*/ 148066 h 171450"/>
              <a:gd name="connsiteX76" fmla="*/ 56769 w 190500"/>
              <a:gd name="connsiteY76" fmla="*/ 125854 h 171450"/>
              <a:gd name="connsiteX77" fmla="*/ 76200 w 190500"/>
              <a:gd name="connsiteY77" fmla="*/ 119063 h 171450"/>
              <a:gd name="connsiteX78" fmla="*/ 114300 w 190500"/>
              <a:gd name="connsiteY78" fmla="*/ 119063 h 171450"/>
              <a:gd name="connsiteX79" fmla="*/ 133731 w 190500"/>
              <a:gd name="connsiteY79" fmla="*/ 125854 h 171450"/>
              <a:gd name="connsiteX80" fmla="*/ 142875 w 190500"/>
              <a:gd name="connsiteY80" fmla="*/ 148066 h 171450"/>
              <a:gd name="connsiteX81" fmla="*/ 142875 w 190500"/>
              <a:gd name="connsiteY81" fmla="*/ 161925 h 171450"/>
              <a:gd name="connsiteX82" fmla="*/ 133350 w 190500"/>
              <a:gd name="connsiteY82" fmla="*/ 1619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90500" h="171450">
                <a:moveTo>
                  <a:pt x="47625" y="47625"/>
                </a:moveTo>
                <a:cubicBezTo>
                  <a:pt x="58146" y="47625"/>
                  <a:pt x="66675" y="39096"/>
                  <a:pt x="66675" y="28575"/>
                </a:cubicBezTo>
                <a:cubicBezTo>
                  <a:pt x="66675" y="18054"/>
                  <a:pt x="58146" y="9525"/>
                  <a:pt x="47625" y="9525"/>
                </a:cubicBezTo>
                <a:cubicBezTo>
                  <a:pt x="37104" y="9525"/>
                  <a:pt x="28575" y="18054"/>
                  <a:pt x="28575" y="28575"/>
                </a:cubicBezTo>
                <a:cubicBezTo>
                  <a:pt x="28575" y="39096"/>
                  <a:pt x="37104" y="47625"/>
                  <a:pt x="47625" y="47625"/>
                </a:cubicBezTo>
                <a:close/>
                <a:moveTo>
                  <a:pt x="47625" y="57150"/>
                </a:moveTo>
                <a:cubicBezTo>
                  <a:pt x="63407" y="57150"/>
                  <a:pt x="76200" y="44357"/>
                  <a:pt x="76200" y="28575"/>
                </a:cubicBezTo>
                <a:cubicBezTo>
                  <a:pt x="76200" y="12793"/>
                  <a:pt x="63407" y="0"/>
                  <a:pt x="47625" y="0"/>
                </a:cubicBezTo>
                <a:cubicBezTo>
                  <a:pt x="31843" y="0"/>
                  <a:pt x="19050" y="12793"/>
                  <a:pt x="19050" y="28575"/>
                </a:cubicBezTo>
                <a:cubicBezTo>
                  <a:pt x="19050" y="44357"/>
                  <a:pt x="31843" y="57150"/>
                  <a:pt x="47625" y="57150"/>
                </a:cubicBezTo>
                <a:close/>
                <a:moveTo>
                  <a:pt x="142875" y="47625"/>
                </a:moveTo>
                <a:cubicBezTo>
                  <a:pt x="153396" y="47625"/>
                  <a:pt x="161925" y="39096"/>
                  <a:pt x="161925" y="28575"/>
                </a:cubicBezTo>
                <a:cubicBezTo>
                  <a:pt x="161925" y="18054"/>
                  <a:pt x="153396" y="9525"/>
                  <a:pt x="142875" y="9525"/>
                </a:cubicBezTo>
                <a:cubicBezTo>
                  <a:pt x="132354" y="9525"/>
                  <a:pt x="123825" y="18054"/>
                  <a:pt x="123825" y="28575"/>
                </a:cubicBezTo>
                <a:cubicBezTo>
                  <a:pt x="123825" y="39096"/>
                  <a:pt x="132354" y="47625"/>
                  <a:pt x="142875" y="47625"/>
                </a:cubicBezTo>
                <a:close/>
                <a:moveTo>
                  <a:pt x="142875" y="57150"/>
                </a:moveTo>
                <a:cubicBezTo>
                  <a:pt x="158657" y="57150"/>
                  <a:pt x="171450" y="44357"/>
                  <a:pt x="171450" y="28575"/>
                </a:cubicBezTo>
                <a:cubicBezTo>
                  <a:pt x="171450" y="12793"/>
                  <a:pt x="158657" y="0"/>
                  <a:pt x="142875" y="0"/>
                </a:cubicBezTo>
                <a:cubicBezTo>
                  <a:pt x="127093" y="0"/>
                  <a:pt x="114300" y="12793"/>
                  <a:pt x="114300" y="28575"/>
                </a:cubicBezTo>
                <a:cubicBezTo>
                  <a:pt x="114300" y="44357"/>
                  <a:pt x="127093" y="57150"/>
                  <a:pt x="142875" y="57150"/>
                </a:cubicBezTo>
                <a:close/>
                <a:moveTo>
                  <a:pt x="9525" y="100441"/>
                </a:moveTo>
                <a:cubicBezTo>
                  <a:pt x="9525" y="92993"/>
                  <a:pt x="12078" y="88306"/>
                  <a:pt x="15392" y="85430"/>
                </a:cubicBezTo>
                <a:cubicBezTo>
                  <a:pt x="18831" y="82439"/>
                  <a:pt x="23584" y="80963"/>
                  <a:pt x="28575" y="80963"/>
                </a:cubicBezTo>
                <a:lnTo>
                  <a:pt x="57150" y="80963"/>
                </a:lnTo>
                <a:lnTo>
                  <a:pt x="57150" y="71438"/>
                </a:lnTo>
                <a:lnTo>
                  <a:pt x="28575" y="71438"/>
                </a:lnTo>
                <a:cubicBezTo>
                  <a:pt x="21841" y="71438"/>
                  <a:pt x="14688" y="73419"/>
                  <a:pt x="9144" y="78229"/>
                </a:cubicBezTo>
                <a:cubicBezTo>
                  <a:pt x="3496" y="83144"/>
                  <a:pt x="0" y="90583"/>
                  <a:pt x="0" y="100441"/>
                </a:cubicBezTo>
                <a:lnTo>
                  <a:pt x="0" y="114300"/>
                </a:lnTo>
                <a:lnTo>
                  <a:pt x="9525" y="114300"/>
                </a:lnTo>
                <a:lnTo>
                  <a:pt x="9525" y="123825"/>
                </a:lnTo>
                <a:lnTo>
                  <a:pt x="47625" y="123825"/>
                </a:lnTo>
                <a:lnTo>
                  <a:pt x="47625" y="114300"/>
                </a:lnTo>
                <a:lnTo>
                  <a:pt x="9525" y="114300"/>
                </a:lnTo>
                <a:lnTo>
                  <a:pt x="9525" y="100441"/>
                </a:lnTo>
                <a:close/>
                <a:moveTo>
                  <a:pt x="190500" y="114300"/>
                </a:moveTo>
                <a:lnTo>
                  <a:pt x="180975" y="114300"/>
                </a:lnTo>
                <a:lnTo>
                  <a:pt x="180975" y="100441"/>
                </a:lnTo>
                <a:cubicBezTo>
                  <a:pt x="180975" y="92993"/>
                  <a:pt x="178422" y="88306"/>
                  <a:pt x="175108" y="85430"/>
                </a:cubicBezTo>
                <a:cubicBezTo>
                  <a:pt x="171669" y="82439"/>
                  <a:pt x="166916" y="80963"/>
                  <a:pt x="161925" y="80963"/>
                </a:cubicBezTo>
                <a:lnTo>
                  <a:pt x="133350" y="80963"/>
                </a:lnTo>
                <a:lnTo>
                  <a:pt x="133350" y="71438"/>
                </a:lnTo>
                <a:lnTo>
                  <a:pt x="161925" y="71438"/>
                </a:lnTo>
                <a:cubicBezTo>
                  <a:pt x="168659" y="71438"/>
                  <a:pt x="175812" y="73419"/>
                  <a:pt x="181356" y="78229"/>
                </a:cubicBezTo>
                <a:cubicBezTo>
                  <a:pt x="187004" y="83144"/>
                  <a:pt x="190500" y="90583"/>
                  <a:pt x="190500" y="100441"/>
                </a:cubicBezTo>
                <a:lnTo>
                  <a:pt x="190500" y="114300"/>
                </a:lnTo>
                <a:close/>
                <a:moveTo>
                  <a:pt x="180975" y="114300"/>
                </a:moveTo>
                <a:lnTo>
                  <a:pt x="180975" y="123825"/>
                </a:lnTo>
                <a:lnTo>
                  <a:pt x="142875" y="123825"/>
                </a:lnTo>
                <a:lnTo>
                  <a:pt x="142875" y="114300"/>
                </a:lnTo>
                <a:lnTo>
                  <a:pt x="180975" y="114300"/>
                </a:lnTo>
                <a:close/>
                <a:moveTo>
                  <a:pt x="114300" y="76200"/>
                </a:moveTo>
                <a:cubicBezTo>
                  <a:pt x="114300" y="86721"/>
                  <a:pt x="105771" y="95250"/>
                  <a:pt x="95250" y="95250"/>
                </a:cubicBezTo>
                <a:cubicBezTo>
                  <a:pt x="84729" y="95250"/>
                  <a:pt x="76200" y="86721"/>
                  <a:pt x="76200" y="76200"/>
                </a:cubicBezTo>
                <a:cubicBezTo>
                  <a:pt x="76200" y="65679"/>
                  <a:pt x="84729" y="57150"/>
                  <a:pt x="95250" y="57150"/>
                </a:cubicBezTo>
                <a:cubicBezTo>
                  <a:pt x="105771" y="57150"/>
                  <a:pt x="114300" y="65679"/>
                  <a:pt x="114300" y="76200"/>
                </a:cubicBezTo>
                <a:close/>
                <a:moveTo>
                  <a:pt x="123825" y="76200"/>
                </a:moveTo>
                <a:cubicBezTo>
                  <a:pt x="123825" y="91982"/>
                  <a:pt x="111032" y="104775"/>
                  <a:pt x="95250" y="104775"/>
                </a:cubicBezTo>
                <a:cubicBezTo>
                  <a:pt x="79468" y="104775"/>
                  <a:pt x="66675" y="91982"/>
                  <a:pt x="66675" y="76200"/>
                </a:cubicBezTo>
                <a:cubicBezTo>
                  <a:pt x="66675" y="60418"/>
                  <a:pt x="79468" y="47625"/>
                  <a:pt x="95250" y="47625"/>
                </a:cubicBezTo>
                <a:cubicBezTo>
                  <a:pt x="111032" y="47625"/>
                  <a:pt x="123825" y="60418"/>
                  <a:pt x="123825" y="76200"/>
                </a:cubicBezTo>
                <a:close/>
                <a:moveTo>
                  <a:pt x="57150" y="171450"/>
                </a:moveTo>
                <a:lnTo>
                  <a:pt x="57150" y="161925"/>
                </a:lnTo>
                <a:lnTo>
                  <a:pt x="133350" y="161925"/>
                </a:lnTo>
                <a:lnTo>
                  <a:pt x="133350" y="171450"/>
                </a:lnTo>
                <a:lnTo>
                  <a:pt x="57150" y="171450"/>
                </a:lnTo>
                <a:close/>
                <a:moveTo>
                  <a:pt x="133350" y="161925"/>
                </a:moveTo>
                <a:lnTo>
                  <a:pt x="133350" y="148066"/>
                </a:lnTo>
                <a:cubicBezTo>
                  <a:pt x="133350" y="140618"/>
                  <a:pt x="130797" y="135931"/>
                  <a:pt x="127483" y="133055"/>
                </a:cubicBezTo>
                <a:cubicBezTo>
                  <a:pt x="124044" y="130064"/>
                  <a:pt x="119291" y="128588"/>
                  <a:pt x="114300" y="128588"/>
                </a:cubicBezTo>
                <a:lnTo>
                  <a:pt x="76200" y="128588"/>
                </a:lnTo>
                <a:cubicBezTo>
                  <a:pt x="71218" y="128588"/>
                  <a:pt x="66456" y="130064"/>
                  <a:pt x="63017" y="133055"/>
                </a:cubicBezTo>
                <a:cubicBezTo>
                  <a:pt x="59703" y="135931"/>
                  <a:pt x="57150" y="140618"/>
                  <a:pt x="57150" y="148066"/>
                </a:cubicBezTo>
                <a:lnTo>
                  <a:pt x="57150" y="161925"/>
                </a:lnTo>
                <a:lnTo>
                  <a:pt x="47625" y="161925"/>
                </a:lnTo>
                <a:lnTo>
                  <a:pt x="47625" y="148066"/>
                </a:lnTo>
                <a:cubicBezTo>
                  <a:pt x="47625" y="138208"/>
                  <a:pt x="51121" y="130769"/>
                  <a:pt x="56769" y="125854"/>
                </a:cubicBezTo>
                <a:cubicBezTo>
                  <a:pt x="62313" y="121044"/>
                  <a:pt x="69466" y="119063"/>
                  <a:pt x="76200" y="119063"/>
                </a:cubicBezTo>
                <a:lnTo>
                  <a:pt x="114300" y="119063"/>
                </a:lnTo>
                <a:cubicBezTo>
                  <a:pt x="121034" y="119063"/>
                  <a:pt x="128187" y="121044"/>
                  <a:pt x="133731" y="125854"/>
                </a:cubicBezTo>
                <a:cubicBezTo>
                  <a:pt x="139379" y="130769"/>
                  <a:pt x="142875" y="138208"/>
                  <a:pt x="142875" y="148066"/>
                </a:cubicBezTo>
                <a:lnTo>
                  <a:pt x="142875" y="161925"/>
                </a:lnTo>
                <a:lnTo>
                  <a:pt x="133350" y="161925"/>
                </a:lnTo>
                <a:close/>
              </a:path>
            </a:pathLst>
          </a:custGeom>
          <a:solidFill>
            <a:srgbClr val="08312A"/>
          </a:solidFill>
          <a:ln w="9525" cap="flat">
            <a:noFill/>
            <a:prstDash val="solid"/>
            <a:miter/>
          </a:ln>
        </p:spPr>
        <p:txBody>
          <a:bodyPr rtlCol="0" anchor="ctr"/>
          <a:lstStyle/>
          <a:p>
            <a:endParaRPr lang="en-US"/>
          </a:p>
        </p:txBody>
      </p:sp>
      <p:sp>
        <p:nvSpPr>
          <p:cNvPr id="61" name="Graphic 40">
            <a:extLst>
              <a:ext uri="{FF2B5EF4-FFF2-40B4-BE49-F238E27FC236}">
                <a16:creationId xmlns:a16="http://schemas.microsoft.com/office/drawing/2014/main" id="{42BC4AAC-69D3-85E7-6156-458D1E700138}"/>
              </a:ext>
            </a:extLst>
          </p:cNvPr>
          <p:cNvSpPr/>
          <p:nvPr userDrawn="1"/>
        </p:nvSpPr>
        <p:spPr>
          <a:xfrm>
            <a:off x="5049759" y="161925"/>
            <a:ext cx="171450" cy="152400"/>
          </a:xfrm>
          <a:custGeom>
            <a:avLst/>
            <a:gdLst>
              <a:gd name="connsiteX0" fmla="*/ 161887 w 171450"/>
              <a:gd name="connsiteY0" fmla="*/ 0 h 152400"/>
              <a:gd name="connsiteX1" fmla="*/ 85687 w 171450"/>
              <a:gd name="connsiteY1" fmla="*/ 0 h 152400"/>
              <a:gd name="connsiteX2" fmla="*/ 85687 w 171450"/>
              <a:gd name="connsiteY2" fmla="*/ 76200 h 152400"/>
              <a:gd name="connsiteX3" fmla="*/ 95212 w 171450"/>
              <a:gd name="connsiteY3" fmla="*/ 76200 h 152400"/>
              <a:gd name="connsiteX4" fmla="*/ 95212 w 171450"/>
              <a:gd name="connsiteY4" fmla="*/ 85725 h 152400"/>
              <a:gd name="connsiteX5" fmla="*/ 171412 w 171450"/>
              <a:gd name="connsiteY5" fmla="*/ 85725 h 152400"/>
              <a:gd name="connsiteX6" fmla="*/ 171412 w 171450"/>
              <a:gd name="connsiteY6" fmla="*/ 9525 h 152400"/>
              <a:gd name="connsiteX7" fmla="*/ 161887 w 171450"/>
              <a:gd name="connsiteY7" fmla="*/ 9525 h 152400"/>
              <a:gd name="connsiteX8" fmla="*/ 161887 w 171450"/>
              <a:gd name="connsiteY8" fmla="*/ 0 h 152400"/>
              <a:gd name="connsiteX9" fmla="*/ 161887 w 171450"/>
              <a:gd name="connsiteY9" fmla="*/ 9525 h 152400"/>
              <a:gd name="connsiteX10" fmla="*/ 161887 w 171450"/>
              <a:gd name="connsiteY10" fmla="*/ 76200 h 152400"/>
              <a:gd name="connsiteX11" fmla="*/ 95212 w 171450"/>
              <a:gd name="connsiteY11" fmla="*/ 76200 h 152400"/>
              <a:gd name="connsiteX12" fmla="*/ 95212 w 171450"/>
              <a:gd name="connsiteY12" fmla="*/ 9525 h 152400"/>
              <a:gd name="connsiteX13" fmla="*/ 161887 w 171450"/>
              <a:gd name="connsiteY13" fmla="*/ 9525 h 152400"/>
              <a:gd name="connsiteX14" fmla="*/ 66675 w 171450"/>
              <a:gd name="connsiteY14" fmla="*/ 28575 h 152400"/>
              <a:gd name="connsiteX15" fmla="*/ 44482 w 171450"/>
              <a:gd name="connsiteY15" fmla="*/ 9296 h 152400"/>
              <a:gd name="connsiteX16" fmla="*/ 38233 w 171450"/>
              <a:gd name="connsiteY16" fmla="*/ 16488 h 152400"/>
              <a:gd name="connsiteX17" fmla="*/ 63122 w 171450"/>
              <a:gd name="connsiteY17" fmla="*/ 38110 h 152400"/>
              <a:gd name="connsiteX18" fmla="*/ 0 w 171450"/>
              <a:gd name="connsiteY18" fmla="*/ 38100 h 152400"/>
              <a:gd name="connsiteX19" fmla="*/ 0 w 171450"/>
              <a:gd name="connsiteY19" fmla="*/ 47625 h 152400"/>
              <a:gd name="connsiteX20" fmla="*/ 63113 w 171450"/>
              <a:gd name="connsiteY20" fmla="*/ 47625 h 152400"/>
              <a:gd name="connsiteX21" fmla="*/ 38233 w 171450"/>
              <a:gd name="connsiteY21" fmla="*/ 69228 h 152400"/>
              <a:gd name="connsiteX22" fmla="*/ 44482 w 171450"/>
              <a:gd name="connsiteY22" fmla="*/ 76419 h 152400"/>
              <a:gd name="connsiteX23" fmla="*/ 66675 w 171450"/>
              <a:gd name="connsiteY23" fmla="*/ 57150 h 152400"/>
              <a:gd name="connsiteX24" fmla="*/ 66675 w 171450"/>
              <a:gd name="connsiteY24" fmla="*/ 28575 h 152400"/>
              <a:gd name="connsiteX25" fmla="*/ 9525 w 171450"/>
              <a:gd name="connsiteY25" fmla="*/ 114300 h 152400"/>
              <a:gd name="connsiteX26" fmla="*/ 152400 w 171450"/>
              <a:gd name="connsiteY26" fmla="*/ 114300 h 152400"/>
              <a:gd name="connsiteX27" fmla="*/ 161925 w 171450"/>
              <a:gd name="connsiteY27" fmla="*/ 123825 h 152400"/>
              <a:gd name="connsiteX28" fmla="*/ 161925 w 171450"/>
              <a:gd name="connsiteY28" fmla="*/ 133350 h 152400"/>
              <a:gd name="connsiteX29" fmla="*/ 152400 w 171450"/>
              <a:gd name="connsiteY29" fmla="*/ 142875 h 152400"/>
              <a:gd name="connsiteX30" fmla="*/ 0 w 171450"/>
              <a:gd name="connsiteY30" fmla="*/ 142875 h 152400"/>
              <a:gd name="connsiteX31" fmla="*/ 0 w 171450"/>
              <a:gd name="connsiteY31" fmla="*/ 152400 h 152400"/>
              <a:gd name="connsiteX32" fmla="*/ 152400 w 171450"/>
              <a:gd name="connsiteY32" fmla="*/ 152400 h 152400"/>
              <a:gd name="connsiteX33" fmla="*/ 171450 w 171450"/>
              <a:gd name="connsiteY33" fmla="*/ 133350 h 152400"/>
              <a:gd name="connsiteX34" fmla="*/ 171450 w 171450"/>
              <a:gd name="connsiteY34" fmla="*/ 123825 h 152400"/>
              <a:gd name="connsiteX35" fmla="*/ 152400 w 171450"/>
              <a:gd name="connsiteY35" fmla="*/ 104775 h 152400"/>
              <a:gd name="connsiteX36" fmla="*/ 0 w 171450"/>
              <a:gd name="connsiteY36" fmla="*/ 104775 h 152400"/>
              <a:gd name="connsiteX37" fmla="*/ 0 w 171450"/>
              <a:gd name="connsiteY37" fmla="*/ 114300 h 152400"/>
              <a:gd name="connsiteX38" fmla="*/ 9525 w 171450"/>
              <a:gd name="connsiteY38" fmla="*/ 1143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52400">
                <a:moveTo>
                  <a:pt x="161887" y="0"/>
                </a:moveTo>
                <a:lnTo>
                  <a:pt x="85687" y="0"/>
                </a:lnTo>
                <a:lnTo>
                  <a:pt x="85687" y="76200"/>
                </a:lnTo>
                <a:lnTo>
                  <a:pt x="95212" y="76200"/>
                </a:lnTo>
                <a:lnTo>
                  <a:pt x="95212" y="85725"/>
                </a:lnTo>
                <a:lnTo>
                  <a:pt x="171412" y="85725"/>
                </a:lnTo>
                <a:lnTo>
                  <a:pt x="171412" y="9525"/>
                </a:lnTo>
                <a:lnTo>
                  <a:pt x="161887" y="9525"/>
                </a:lnTo>
                <a:lnTo>
                  <a:pt x="161887" y="0"/>
                </a:lnTo>
                <a:close/>
                <a:moveTo>
                  <a:pt x="161887" y="9525"/>
                </a:moveTo>
                <a:lnTo>
                  <a:pt x="161887" y="76200"/>
                </a:lnTo>
                <a:lnTo>
                  <a:pt x="95212" y="76200"/>
                </a:lnTo>
                <a:lnTo>
                  <a:pt x="95212" y="9525"/>
                </a:lnTo>
                <a:lnTo>
                  <a:pt x="161887" y="9525"/>
                </a:lnTo>
                <a:close/>
                <a:moveTo>
                  <a:pt x="66675" y="28575"/>
                </a:moveTo>
                <a:lnTo>
                  <a:pt x="44482" y="9296"/>
                </a:lnTo>
                <a:lnTo>
                  <a:pt x="38233" y="16488"/>
                </a:lnTo>
                <a:lnTo>
                  <a:pt x="63122" y="38110"/>
                </a:lnTo>
                <a:lnTo>
                  <a:pt x="0" y="38100"/>
                </a:lnTo>
                <a:lnTo>
                  <a:pt x="0" y="47625"/>
                </a:lnTo>
                <a:lnTo>
                  <a:pt x="63113" y="47625"/>
                </a:lnTo>
                <a:lnTo>
                  <a:pt x="38233" y="69228"/>
                </a:lnTo>
                <a:lnTo>
                  <a:pt x="44482" y="76419"/>
                </a:lnTo>
                <a:lnTo>
                  <a:pt x="66675" y="57150"/>
                </a:lnTo>
                <a:lnTo>
                  <a:pt x="66675" y="28575"/>
                </a:lnTo>
                <a:close/>
                <a:moveTo>
                  <a:pt x="9525" y="114300"/>
                </a:moveTo>
                <a:lnTo>
                  <a:pt x="152400" y="114300"/>
                </a:lnTo>
                <a:cubicBezTo>
                  <a:pt x="157661" y="114300"/>
                  <a:pt x="161925" y="118564"/>
                  <a:pt x="161925" y="123825"/>
                </a:cubicBezTo>
                <a:lnTo>
                  <a:pt x="161925" y="133350"/>
                </a:lnTo>
                <a:cubicBezTo>
                  <a:pt x="161925" y="138611"/>
                  <a:pt x="157661" y="142875"/>
                  <a:pt x="152400" y="142875"/>
                </a:cubicBezTo>
                <a:lnTo>
                  <a:pt x="0" y="142875"/>
                </a:lnTo>
                <a:lnTo>
                  <a:pt x="0" y="152400"/>
                </a:lnTo>
                <a:lnTo>
                  <a:pt x="152400" y="152400"/>
                </a:lnTo>
                <a:cubicBezTo>
                  <a:pt x="162921" y="152400"/>
                  <a:pt x="171450" y="143871"/>
                  <a:pt x="171450" y="133350"/>
                </a:cubicBezTo>
                <a:lnTo>
                  <a:pt x="171450" y="123825"/>
                </a:lnTo>
                <a:cubicBezTo>
                  <a:pt x="171450" y="113304"/>
                  <a:pt x="162921" y="104775"/>
                  <a:pt x="152400" y="104775"/>
                </a:cubicBezTo>
                <a:lnTo>
                  <a:pt x="0" y="104775"/>
                </a:lnTo>
                <a:lnTo>
                  <a:pt x="0" y="114300"/>
                </a:lnTo>
                <a:lnTo>
                  <a:pt x="9525" y="114300"/>
                </a:lnTo>
                <a:close/>
              </a:path>
            </a:pathLst>
          </a:custGeom>
          <a:solidFill>
            <a:srgbClr val="08312A"/>
          </a:solidFill>
          <a:ln w="9525" cap="flat">
            <a:noFill/>
            <a:prstDash val="solid"/>
            <a:miter/>
          </a:ln>
        </p:spPr>
        <p:txBody>
          <a:bodyPr rtlCol="0" anchor="ctr"/>
          <a:lstStyle/>
          <a:p>
            <a:endParaRPr lang="en-US"/>
          </a:p>
        </p:txBody>
      </p:sp>
      <p:sp>
        <p:nvSpPr>
          <p:cNvPr id="62" name="Graphic 44">
            <a:extLst>
              <a:ext uri="{FF2B5EF4-FFF2-40B4-BE49-F238E27FC236}">
                <a16:creationId xmlns:a16="http://schemas.microsoft.com/office/drawing/2014/main" id="{82C15C46-3DA4-8042-AE0B-4F05319C0B84}"/>
              </a:ext>
            </a:extLst>
          </p:cNvPr>
          <p:cNvSpPr/>
          <p:nvPr userDrawn="1"/>
        </p:nvSpPr>
        <p:spPr>
          <a:xfrm>
            <a:off x="6171094" y="166429"/>
            <a:ext cx="143391" cy="143391"/>
          </a:xfrm>
          <a:custGeom>
            <a:avLst/>
            <a:gdLst>
              <a:gd name="connsiteX0" fmla="*/ 57150 w 171450"/>
              <a:gd name="connsiteY0" fmla="*/ 0 h 171450"/>
              <a:gd name="connsiteX1" fmla="*/ 57150 w 171450"/>
              <a:gd name="connsiteY1" fmla="*/ 9525 h 171450"/>
              <a:gd name="connsiteX2" fmla="*/ 114300 w 171450"/>
              <a:gd name="connsiteY2" fmla="*/ 9525 h 171450"/>
              <a:gd name="connsiteX3" fmla="*/ 114300 w 171450"/>
              <a:gd name="connsiteY3" fmla="*/ 0 h 171450"/>
              <a:gd name="connsiteX4" fmla="*/ 123825 w 171450"/>
              <a:gd name="connsiteY4" fmla="*/ 0 h 171450"/>
              <a:gd name="connsiteX5" fmla="*/ 123825 w 171450"/>
              <a:gd name="connsiteY5" fmla="*/ 9525 h 171450"/>
              <a:gd name="connsiteX6" fmla="*/ 171450 w 171450"/>
              <a:gd name="connsiteY6" fmla="*/ 9525 h 171450"/>
              <a:gd name="connsiteX7" fmla="*/ 171450 w 171450"/>
              <a:gd name="connsiteY7" fmla="*/ 150019 h 171450"/>
              <a:gd name="connsiteX8" fmla="*/ 150019 w 171450"/>
              <a:gd name="connsiteY8" fmla="*/ 171450 h 171450"/>
              <a:gd name="connsiteX9" fmla="*/ 21431 w 171450"/>
              <a:gd name="connsiteY9" fmla="*/ 171450 h 171450"/>
              <a:gd name="connsiteX10" fmla="*/ 0 w 171450"/>
              <a:gd name="connsiteY10" fmla="*/ 150019 h 171450"/>
              <a:gd name="connsiteX11" fmla="*/ 0 w 171450"/>
              <a:gd name="connsiteY11" fmla="*/ 9525 h 171450"/>
              <a:gd name="connsiteX12" fmla="*/ 47625 w 171450"/>
              <a:gd name="connsiteY12" fmla="*/ 9525 h 171450"/>
              <a:gd name="connsiteX13" fmla="*/ 47625 w 171450"/>
              <a:gd name="connsiteY13" fmla="*/ 0 h 171450"/>
              <a:gd name="connsiteX14" fmla="*/ 57150 w 171450"/>
              <a:gd name="connsiteY14" fmla="*/ 0 h 171450"/>
              <a:gd name="connsiteX15" fmla="*/ 114300 w 171450"/>
              <a:gd name="connsiteY15" fmla="*/ 19050 h 171450"/>
              <a:gd name="connsiteX16" fmla="*/ 114300 w 171450"/>
              <a:gd name="connsiteY16" fmla="*/ 28575 h 171450"/>
              <a:gd name="connsiteX17" fmla="*/ 123825 w 171450"/>
              <a:gd name="connsiteY17" fmla="*/ 28575 h 171450"/>
              <a:gd name="connsiteX18" fmla="*/ 123825 w 171450"/>
              <a:gd name="connsiteY18" fmla="*/ 19050 h 171450"/>
              <a:gd name="connsiteX19" fmla="*/ 161925 w 171450"/>
              <a:gd name="connsiteY19" fmla="*/ 19050 h 171450"/>
              <a:gd name="connsiteX20" fmla="*/ 161925 w 171450"/>
              <a:gd name="connsiteY20" fmla="*/ 47625 h 171450"/>
              <a:gd name="connsiteX21" fmla="*/ 9525 w 171450"/>
              <a:gd name="connsiteY21" fmla="*/ 47625 h 171450"/>
              <a:gd name="connsiteX22" fmla="*/ 9525 w 171450"/>
              <a:gd name="connsiteY22" fmla="*/ 19050 h 171450"/>
              <a:gd name="connsiteX23" fmla="*/ 47625 w 171450"/>
              <a:gd name="connsiteY23" fmla="*/ 19050 h 171450"/>
              <a:gd name="connsiteX24" fmla="*/ 47625 w 171450"/>
              <a:gd name="connsiteY24" fmla="*/ 28575 h 171450"/>
              <a:gd name="connsiteX25" fmla="*/ 57150 w 171450"/>
              <a:gd name="connsiteY25" fmla="*/ 28575 h 171450"/>
              <a:gd name="connsiteX26" fmla="*/ 57150 w 171450"/>
              <a:gd name="connsiteY26" fmla="*/ 19050 h 171450"/>
              <a:gd name="connsiteX27" fmla="*/ 114300 w 171450"/>
              <a:gd name="connsiteY27" fmla="*/ 19050 h 171450"/>
              <a:gd name="connsiteX28" fmla="*/ 161925 w 171450"/>
              <a:gd name="connsiteY28" fmla="*/ 57150 h 171450"/>
              <a:gd name="connsiteX29" fmla="*/ 161925 w 171450"/>
              <a:gd name="connsiteY29" fmla="*/ 150019 h 171450"/>
              <a:gd name="connsiteX30" fmla="*/ 150019 w 171450"/>
              <a:gd name="connsiteY30" fmla="*/ 161925 h 171450"/>
              <a:gd name="connsiteX31" fmla="*/ 21431 w 171450"/>
              <a:gd name="connsiteY31" fmla="*/ 161925 h 171450"/>
              <a:gd name="connsiteX32" fmla="*/ 9525 w 171450"/>
              <a:gd name="connsiteY32" fmla="*/ 150019 h 171450"/>
              <a:gd name="connsiteX33" fmla="*/ 9525 w 171450"/>
              <a:gd name="connsiteY33" fmla="*/ 57150 h 171450"/>
              <a:gd name="connsiteX34" fmla="*/ 161925 w 171450"/>
              <a:gd name="connsiteY34" fmla="*/ 57150 h 171450"/>
              <a:gd name="connsiteX35" fmla="*/ 76200 w 171450"/>
              <a:gd name="connsiteY35" fmla="*/ 95250 h 171450"/>
              <a:gd name="connsiteX36" fmla="*/ 28575 w 171450"/>
              <a:gd name="connsiteY36" fmla="*/ 95250 h 171450"/>
              <a:gd name="connsiteX37" fmla="*/ 28575 w 171450"/>
              <a:gd name="connsiteY37" fmla="*/ 85725 h 171450"/>
              <a:gd name="connsiteX38" fmla="*/ 76200 w 171450"/>
              <a:gd name="connsiteY38" fmla="*/ 85725 h 171450"/>
              <a:gd name="connsiteX39" fmla="*/ 76200 w 171450"/>
              <a:gd name="connsiteY39" fmla="*/ 95250 h 171450"/>
              <a:gd name="connsiteX40" fmla="*/ 28575 w 171450"/>
              <a:gd name="connsiteY40" fmla="*/ 133350 h 171450"/>
              <a:gd name="connsiteX41" fmla="*/ 76200 w 171450"/>
              <a:gd name="connsiteY41" fmla="*/ 133350 h 171450"/>
              <a:gd name="connsiteX42" fmla="*/ 76200 w 171450"/>
              <a:gd name="connsiteY42" fmla="*/ 123825 h 171450"/>
              <a:gd name="connsiteX43" fmla="*/ 28575 w 171450"/>
              <a:gd name="connsiteY43" fmla="*/ 123825 h 171450"/>
              <a:gd name="connsiteX44" fmla="*/ 28575 w 171450"/>
              <a:gd name="connsiteY44" fmla="*/ 133350 h 171450"/>
              <a:gd name="connsiteX45" fmla="*/ 142875 w 171450"/>
              <a:gd name="connsiteY45" fmla="*/ 95250 h 171450"/>
              <a:gd name="connsiteX46" fmla="*/ 95250 w 171450"/>
              <a:gd name="connsiteY46" fmla="*/ 95250 h 171450"/>
              <a:gd name="connsiteX47" fmla="*/ 95250 w 171450"/>
              <a:gd name="connsiteY47" fmla="*/ 85725 h 171450"/>
              <a:gd name="connsiteX48" fmla="*/ 142875 w 171450"/>
              <a:gd name="connsiteY48" fmla="*/ 85725 h 171450"/>
              <a:gd name="connsiteX49" fmla="*/ 142875 w 171450"/>
              <a:gd name="connsiteY49" fmla="*/ 95250 h 171450"/>
              <a:gd name="connsiteX50" fmla="*/ 95250 w 171450"/>
              <a:gd name="connsiteY50" fmla="*/ 133350 h 171450"/>
              <a:gd name="connsiteX51" fmla="*/ 142875 w 171450"/>
              <a:gd name="connsiteY51" fmla="*/ 133350 h 171450"/>
              <a:gd name="connsiteX52" fmla="*/ 142875 w 171450"/>
              <a:gd name="connsiteY52" fmla="*/ 123825 h 171450"/>
              <a:gd name="connsiteX53" fmla="*/ 95250 w 171450"/>
              <a:gd name="connsiteY53" fmla="*/ 123825 h 171450"/>
              <a:gd name="connsiteX54" fmla="*/ 95250 w 171450"/>
              <a:gd name="connsiteY54"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0" h="171450">
                <a:moveTo>
                  <a:pt x="57150" y="0"/>
                </a:moveTo>
                <a:lnTo>
                  <a:pt x="57150" y="9525"/>
                </a:lnTo>
                <a:lnTo>
                  <a:pt x="114300" y="9525"/>
                </a:lnTo>
                <a:lnTo>
                  <a:pt x="114300" y="0"/>
                </a:lnTo>
                <a:lnTo>
                  <a:pt x="123825" y="0"/>
                </a:lnTo>
                <a:lnTo>
                  <a:pt x="123825" y="9525"/>
                </a:lnTo>
                <a:lnTo>
                  <a:pt x="171450" y="9525"/>
                </a:lnTo>
                <a:lnTo>
                  <a:pt x="171450" y="150019"/>
                </a:lnTo>
                <a:cubicBezTo>
                  <a:pt x="171450" y="161855"/>
                  <a:pt x="161855" y="171450"/>
                  <a:pt x="150019" y="171450"/>
                </a:cubicBezTo>
                <a:lnTo>
                  <a:pt x="21431" y="171450"/>
                </a:lnTo>
                <a:cubicBezTo>
                  <a:pt x="9595" y="171450"/>
                  <a:pt x="0" y="161855"/>
                  <a:pt x="0" y="150019"/>
                </a:cubicBezTo>
                <a:lnTo>
                  <a:pt x="0" y="9525"/>
                </a:lnTo>
                <a:lnTo>
                  <a:pt x="47625" y="9525"/>
                </a:lnTo>
                <a:lnTo>
                  <a:pt x="47625" y="0"/>
                </a:lnTo>
                <a:lnTo>
                  <a:pt x="57150" y="0"/>
                </a:lnTo>
                <a:close/>
                <a:moveTo>
                  <a:pt x="114300" y="19050"/>
                </a:moveTo>
                <a:lnTo>
                  <a:pt x="114300" y="28575"/>
                </a:lnTo>
                <a:lnTo>
                  <a:pt x="123825" y="28575"/>
                </a:lnTo>
                <a:lnTo>
                  <a:pt x="123825" y="19050"/>
                </a:lnTo>
                <a:lnTo>
                  <a:pt x="161925" y="19050"/>
                </a:lnTo>
                <a:lnTo>
                  <a:pt x="161925" y="47625"/>
                </a:lnTo>
                <a:lnTo>
                  <a:pt x="9525" y="47625"/>
                </a:lnTo>
                <a:lnTo>
                  <a:pt x="9525" y="19050"/>
                </a:lnTo>
                <a:lnTo>
                  <a:pt x="47625" y="19050"/>
                </a:lnTo>
                <a:lnTo>
                  <a:pt x="47625" y="28575"/>
                </a:lnTo>
                <a:lnTo>
                  <a:pt x="57150" y="28575"/>
                </a:lnTo>
                <a:lnTo>
                  <a:pt x="57150" y="19050"/>
                </a:lnTo>
                <a:lnTo>
                  <a:pt x="114300" y="19050"/>
                </a:lnTo>
                <a:close/>
                <a:moveTo>
                  <a:pt x="161925" y="57150"/>
                </a:moveTo>
                <a:lnTo>
                  <a:pt x="161925" y="150019"/>
                </a:lnTo>
                <a:cubicBezTo>
                  <a:pt x="161925" y="156591"/>
                  <a:pt x="156591" y="161925"/>
                  <a:pt x="150019" y="161925"/>
                </a:cubicBezTo>
                <a:lnTo>
                  <a:pt x="21431" y="161925"/>
                </a:lnTo>
                <a:cubicBezTo>
                  <a:pt x="14859" y="161925"/>
                  <a:pt x="9525" y="156591"/>
                  <a:pt x="9525" y="150019"/>
                </a:cubicBezTo>
                <a:lnTo>
                  <a:pt x="9525" y="57150"/>
                </a:lnTo>
                <a:lnTo>
                  <a:pt x="161925" y="57150"/>
                </a:lnTo>
                <a:close/>
                <a:moveTo>
                  <a:pt x="76200" y="95250"/>
                </a:moveTo>
                <a:lnTo>
                  <a:pt x="28575" y="95250"/>
                </a:lnTo>
                <a:lnTo>
                  <a:pt x="28575" y="85725"/>
                </a:lnTo>
                <a:lnTo>
                  <a:pt x="76200" y="85725"/>
                </a:lnTo>
                <a:lnTo>
                  <a:pt x="76200" y="95250"/>
                </a:lnTo>
                <a:close/>
                <a:moveTo>
                  <a:pt x="28575" y="133350"/>
                </a:moveTo>
                <a:lnTo>
                  <a:pt x="76200" y="133350"/>
                </a:lnTo>
                <a:lnTo>
                  <a:pt x="76200" y="123825"/>
                </a:lnTo>
                <a:lnTo>
                  <a:pt x="28575" y="123825"/>
                </a:lnTo>
                <a:lnTo>
                  <a:pt x="28575" y="133350"/>
                </a:lnTo>
                <a:close/>
                <a:moveTo>
                  <a:pt x="142875" y="95250"/>
                </a:moveTo>
                <a:lnTo>
                  <a:pt x="95250" y="95250"/>
                </a:lnTo>
                <a:lnTo>
                  <a:pt x="95250" y="85725"/>
                </a:lnTo>
                <a:lnTo>
                  <a:pt x="142875" y="85725"/>
                </a:lnTo>
                <a:lnTo>
                  <a:pt x="142875" y="95250"/>
                </a:lnTo>
                <a:close/>
                <a:moveTo>
                  <a:pt x="95250" y="133350"/>
                </a:moveTo>
                <a:lnTo>
                  <a:pt x="142875" y="133350"/>
                </a:lnTo>
                <a:lnTo>
                  <a:pt x="142875" y="123825"/>
                </a:lnTo>
                <a:lnTo>
                  <a:pt x="95250" y="123825"/>
                </a:lnTo>
                <a:lnTo>
                  <a:pt x="95250" y="133350"/>
                </a:lnTo>
                <a:close/>
              </a:path>
            </a:pathLst>
          </a:custGeom>
          <a:solidFill>
            <a:srgbClr val="08312A"/>
          </a:solidFill>
          <a:ln w="9525" cap="flat">
            <a:noFill/>
            <a:prstDash val="solid"/>
            <a:miter/>
          </a:ln>
        </p:spPr>
        <p:txBody>
          <a:bodyPr rtlCol="0" anchor="ctr"/>
          <a:lstStyle/>
          <a:p>
            <a:endParaRPr lang="en-US"/>
          </a:p>
        </p:txBody>
      </p:sp>
      <p:sp>
        <p:nvSpPr>
          <p:cNvPr id="63" name="Graphic 55">
            <a:extLst>
              <a:ext uri="{FF2B5EF4-FFF2-40B4-BE49-F238E27FC236}">
                <a16:creationId xmlns:a16="http://schemas.microsoft.com/office/drawing/2014/main" id="{73CBB9BC-9EB4-FB45-78DD-0FCEC92192D8}"/>
              </a:ext>
            </a:extLst>
          </p:cNvPr>
          <p:cNvSpPr/>
          <p:nvPr userDrawn="1"/>
        </p:nvSpPr>
        <p:spPr>
          <a:xfrm>
            <a:off x="9556025" y="169096"/>
            <a:ext cx="138058" cy="138058"/>
          </a:xfrm>
          <a:custGeom>
            <a:avLst/>
            <a:gdLst>
              <a:gd name="connsiteX0" fmla="*/ 0 w 171450"/>
              <a:gd name="connsiteY0" fmla="*/ 171450 h 171450"/>
              <a:gd name="connsiteX1" fmla="*/ 47625 w 171450"/>
              <a:gd name="connsiteY1" fmla="*/ 171450 h 171450"/>
              <a:gd name="connsiteX2" fmla="*/ 47625 w 171450"/>
              <a:gd name="connsiteY2" fmla="*/ 104775 h 171450"/>
              <a:gd name="connsiteX3" fmla="*/ 0 w 171450"/>
              <a:gd name="connsiteY3" fmla="*/ 104775 h 171450"/>
              <a:gd name="connsiteX4" fmla="*/ 0 w 171450"/>
              <a:gd name="connsiteY4" fmla="*/ 171450 h 171450"/>
              <a:gd name="connsiteX5" fmla="*/ 9525 w 171450"/>
              <a:gd name="connsiteY5" fmla="*/ 114300 h 171450"/>
              <a:gd name="connsiteX6" fmla="*/ 38100 w 171450"/>
              <a:gd name="connsiteY6" fmla="*/ 114300 h 171450"/>
              <a:gd name="connsiteX7" fmla="*/ 38100 w 171450"/>
              <a:gd name="connsiteY7" fmla="*/ 161925 h 171450"/>
              <a:gd name="connsiteX8" fmla="*/ 9525 w 171450"/>
              <a:gd name="connsiteY8" fmla="*/ 161925 h 171450"/>
              <a:gd name="connsiteX9" fmla="*/ 9525 w 171450"/>
              <a:gd name="connsiteY9" fmla="*/ 114300 h 171450"/>
              <a:gd name="connsiteX10" fmla="*/ 61913 w 171450"/>
              <a:gd name="connsiteY10" fmla="*/ 171450 h 171450"/>
              <a:gd name="connsiteX11" fmla="*/ 109538 w 171450"/>
              <a:gd name="connsiteY11" fmla="*/ 171450 h 171450"/>
              <a:gd name="connsiteX12" fmla="*/ 109538 w 171450"/>
              <a:gd name="connsiteY12" fmla="*/ 123825 h 171450"/>
              <a:gd name="connsiteX13" fmla="*/ 61913 w 171450"/>
              <a:gd name="connsiteY13" fmla="*/ 123825 h 171450"/>
              <a:gd name="connsiteX14" fmla="*/ 61913 w 171450"/>
              <a:gd name="connsiteY14" fmla="*/ 171450 h 171450"/>
              <a:gd name="connsiteX15" fmla="*/ 71438 w 171450"/>
              <a:gd name="connsiteY15" fmla="*/ 133350 h 171450"/>
              <a:gd name="connsiteX16" fmla="*/ 100013 w 171450"/>
              <a:gd name="connsiteY16" fmla="*/ 133350 h 171450"/>
              <a:gd name="connsiteX17" fmla="*/ 100013 w 171450"/>
              <a:gd name="connsiteY17" fmla="*/ 161925 h 171450"/>
              <a:gd name="connsiteX18" fmla="*/ 71438 w 171450"/>
              <a:gd name="connsiteY18" fmla="*/ 161925 h 171450"/>
              <a:gd name="connsiteX19" fmla="*/ 71438 w 171450"/>
              <a:gd name="connsiteY19" fmla="*/ 133350 h 171450"/>
              <a:gd name="connsiteX20" fmla="*/ 123825 w 171450"/>
              <a:gd name="connsiteY20" fmla="*/ 85725 h 171450"/>
              <a:gd name="connsiteX21" fmla="*/ 123825 w 171450"/>
              <a:gd name="connsiteY21" fmla="*/ 171450 h 171450"/>
              <a:gd name="connsiteX22" fmla="*/ 171450 w 171450"/>
              <a:gd name="connsiteY22" fmla="*/ 171450 h 171450"/>
              <a:gd name="connsiteX23" fmla="*/ 171450 w 171450"/>
              <a:gd name="connsiteY23" fmla="*/ 85725 h 171450"/>
              <a:gd name="connsiteX24" fmla="*/ 123825 w 171450"/>
              <a:gd name="connsiteY24" fmla="*/ 85725 h 171450"/>
              <a:gd name="connsiteX25" fmla="*/ 161925 w 171450"/>
              <a:gd name="connsiteY25" fmla="*/ 161925 h 171450"/>
              <a:gd name="connsiteX26" fmla="*/ 133350 w 171450"/>
              <a:gd name="connsiteY26" fmla="*/ 161925 h 171450"/>
              <a:gd name="connsiteX27" fmla="*/ 133350 w 171450"/>
              <a:gd name="connsiteY27" fmla="*/ 95250 h 171450"/>
              <a:gd name="connsiteX28" fmla="*/ 161925 w 171450"/>
              <a:gd name="connsiteY28" fmla="*/ 95250 h 171450"/>
              <a:gd name="connsiteX29" fmla="*/ 161925 w 171450"/>
              <a:gd name="connsiteY29" fmla="*/ 161925 h 171450"/>
              <a:gd name="connsiteX30" fmla="*/ 85725 w 171450"/>
              <a:gd name="connsiteY30" fmla="*/ 92393 h 171450"/>
              <a:gd name="connsiteX31" fmla="*/ 161925 w 171450"/>
              <a:gd name="connsiteY31" fmla="*/ 16192 h 171450"/>
              <a:gd name="connsiteX32" fmla="*/ 161925 w 171450"/>
              <a:gd name="connsiteY32" fmla="*/ 66675 h 171450"/>
              <a:gd name="connsiteX33" fmla="*/ 171450 w 171450"/>
              <a:gd name="connsiteY33" fmla="*/ 66675 h 171450"/>
              <a:gd name="connsiteX34" fmla="*/ 171450 w 171450"/>
              <a:gd name="connsiteY34" fmla="*/ 19050 h 171450"/>
              <a:gd name="connsiteX35" fmla="*/ 152400 w 171450"/>
              <a:gd name="connsiteY35" fmla="*/ 0 h 171450"/>
              <a:gd name="connsiteX36" fmla="*/ 104775 w 171450"/>
              <a:gd name="connsiteY36" fmla="*/ 0 h 171450"/>
              <a:gd name="connsiteX37" fmla="*/ 104775 w 171450"/>
              <a:gd name="connsiteY37" fmla="*/ 9525 h 171450"/>
              <a:gd name="connsiteX38" fmla="*/ 155258 w 171450"/>
              <a:gd name="connsiteY38" fmla="*/ 9525 h 171450"/>
              <a:gd name="connsiteX39" fmla="*/ 85725 w 171450"/>
              <a:gd name="connsiteY39" fmla="*/ 79058 h 171450"/>
              <a:gd name="connsiteX40" fmla="*/ 38100 w 171450"/>
              <a:gd name="connsiteY40" fmla="*/ 36195 h 171450"/>
              <a:gd name="connsiteX41" fmla="*/ 0 w 171450"/>
              <a:gd name="connsiteY41" fmla="*/ 74295 h 171450"/>
              <a:gd name="connsiteX42" fmla="*/ 0 w 171450"/>
              <a:gd name="connsiteY42" fmla="*/ 87630 h 171450"/>
              <a:gd name="connsiteX43" fmla="*/ 38100 w 171450"/>
              <a:gd name="connsiteY43" fmla="*/ 49530 h 171450"/>
              <a:gd name="connsiteX44" fmla="*/ 85725 w 171450"/>
              <a:gd name="connsiteY44" fmla="*/ 9239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0" y="171450"/>
                </a:moveTo>
                <a:lnTo>
                  <a:pt x="47625" y="171450"/>
                </a:lnTo>
                <a:lnTo>
                  <a:pt x="47625" y="104775"/>
                </a:lnTo>
                <a:lnTo>
                  <a:pt x="0" y="104775"/>
                </a:lnTo>
                <a:lnTo>
                  <a:pt x="0" y="171450"/>
                </a:lnTo>
                <a:close/>
                <a:moveTo>
                  <a:pt x="9525" y="114300"/>
                </a:moveTo>
                <a:lnTo>
                  <a:pt x="38100" y="114300"/>
                </a:lnTo>
                <a:lnTo>
                  <a:pt x="38100" y="161925"/>
                </a:lnTo>
                <a:lnTo>
                  <a:pt x="9525" y="161925"/>
                </a:lnTo>
                <a:lnTo>
                  <a:pt x="9525" y="114300"/>
                </a:lnTo>
                <a:close/>
                <a:moveTo>
                  <a:pt x="61913" y="171450"/>
                </a:moveTo>
                <a:lnTo>
                  <a:pt x="109538" y="171450"/>
                </a:lnTo>
                <a:lnTo>
                  <a:pt x="109538" y="123825"/>
                </a:lnTo>
                <a:lnTo>
                  <a:pt x="61913" y="123825"/>
                </a:lnTo>
                <a:lnTo>
                  <a:pt x="61913" y="171450"/>
                </a:lnTo>
                <a:close/>
                <a:moveTo>
                  <a:pt x="71438" y="133350"/>
                </a:moveTo>
                <a:lnTo>
                  <a:pt x="100013" y="133350"/>
                </a:lnTo>
                <a:lnTo>
                  <a:pt x="100013" y="161925"/>
                </a:lnTo>
                <a:lnTo>
                  <a:pt x="71438" y="161925"/>
                </a:lnTo>
                <a:lnTo>
                  <a:pt x="71438" y="133350"/>
                </a:lnTo>
                <a:close/>
                <a:moveTo>
                  <a:pt x="123825" y="85725"/>
                </a:moveTo>
                <a:lnTo>
                  <a:pt x="123825" y="171450"/>
                </a:lnTo>
                <a:lnTo>
                  <a:pt x="171450" y="171450"/>
                </a:lnTo>
                <a:lnTo>
                  <a:pt x="171450" y="85725"/>
                </a:lnTo>
                <a:lnTo>
                  <a:pt x="123825" y="85725"/>
                </a:lnTo>
                <a:close/>
                <a:moveTo>
                  <a:pt x="161925" y="161925"/>
                </a:moveTo>
                <a:lnTo>
                  <a:pt x="133350" y="161925"/>
                </a:lnTo>
                <a:lnTo>
                  <a:pt x="133350" y="95250"/>
                </a:lnTo>
                <a:lnTo>
                  <a:pt x="161925" y="95250"/>
                </a:lnTo>
                <a:lnTo>
                  <a:pt x="161925" y="161925"/>
                </a:lnTo>
                <a:close/>
                <a:moveTo>
                  <a:pt x="85725" y="92393"/>
                </a:moveTo>
                <a:lnTo>
                  <a:pt x="161925" y="16192"/>
                </a:lnTo>
                <a:lnTo>
                  <a:pt x="161925" y="66675"/>
                </a:lnTo>
                <a:lnTo>
                  <a:pt x="171450" y="66675"/>
                </a:lnTo>
                <a:lnTo>
                  <a:pt x="171450" y="19050"/>
                </a:lnTo>
                <a:lnTo>
                  <a:pt x="152400" y="0"/>
                </a:lnTo>
                <a:lnTo>
                  <a:pt x="104775" y="0"/>
                </a:lnTo>
                <a:lnTo>
                  <a:pt x="104775" y="9525"/>
                </a:lnTo>
                <a:lnTo>
                  <a:pt x="155258" y="9525"/>
                </a:lnTo>
                <a:lnTo>
                  <a:pt x="85725" y="79058"/>
                </a:lnTo>
                <a:lnTo>
                  <a:pt x="38100" y="36195"/>
                </a:lnTo>
                <a:lnTo>
                  <a:pt x="0" y="74295"/>
                </a:lnTo>
                <a:lnTo>
                  <a:pt x="0" y="87630"/>
                </a:lnTo>
                <a:lnTo>
                  <a:pt x="38100" y="49530"/>
                </a:lnTo>
                <a:lnTo>
                  <a:pt x="85725" y="92393"/>
                </a:lnTo>
                <a:close/>
              </a:path>
            </a:pathLst>
          </a:custGeom>
          <a:solidFill>
            <a:srgbClr val="08312A"/>
          </a:solidFill>
          <a:ln w="9525" cap="flat">
            <a:noFill/>
            <a:prstDash val="solid"/>
            <a:miter/>
          </a:ln>
        </p:spPr>
        <p:txBody>
          <a:bodyPr rtlCol="0" anchor="ctr"/>
          <a:lstStyle/>
          <a:p>
            <a:endParaRPr lang="en-US"/>
          </a:p>
        </p:txBody>
      </p:sp>
      <p:sp>
        <p:nvSpPr>
          <p:cNvPr id="65" name="object 34">
            <a:hlinkClick r:id="" action="ppaction://noaction"/>
            <a:extLst>
              <a:ext uri="{FF2B5EF4-FFF2-40B4-BE49-F238E27FC236}">
                <a16:creationId xmlns:a16="http://schemas.microsoft.com/office/drawing/2014/main" id="{EB9E7F5E-9988-180B-D608-DC35490AD207}"/>
              </a:ext>
            </a:extLst>
          </p:cNvPr>
          <p:cNvSpPr/>
          <p:nvPr userDrawn="1"/>
        </p:nvSpPr>
        <p:spPr>
          <a:xfrm>
            <a:off x="7235671"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expectations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at key timepoints​</a:t>
            </a:r>
          </a:p>
        </p:txBody>
      </p:sp>
      <p:sp>
        <p:nvSpPr>
          <p:cNvPr id="66" name="object 34">
            <a:hlinkClick r:id="" action="ppaction://noaction"/>
            <a:extLst>
              <a:ext uri="{FF2B5EF4-FFF2-40B4-BE49-F238E27FC236}">
                <a16:creationId xmlns:a16="http://schemas.microsoft.com/office/drawing/2014/main" id="{17578091-907A-E481-014F-104820989C1E}"/>
              </a:ext>
            </a:extLst>
          </p:cNvPr>
          <p:cNvSpPr/>
          <p:nvPr userDrawn="1"/>
        </p:nvSpPr>
        <p:spPr>
          <a:xfrm>
            <a:off x="8361712"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Preparing &amp; conducting</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LR reviews</a:t>
            </a:r>
          </a:p>
        </p:txBody>
      </p:sp>
      <p:sp>
        <p:nvSpPr>
          <p:cNvPr id="67" name="object 34">
            <a:hlinkClick r:id="" action="ppaction://noaction"/>
            <a:extLst>
              <a:ext uri="{FF2B5EF4-FFF2-40B4-BE49-F238E27FC236}">
                <a16:creationId xmlns:a16="http://schemas.microsoft.com/office/drawing/2014/main" id="{3286F00A-0848-1B52-F0C7-AC5091403AC0}"/>
              </a:ext>
            </a:extLst>
          </p:cNvPr>
          <p:cNvSpPr/>
          <p:nvPr userDrawn="1"/>
        </p:nvSpPr>
        <p:spPr>
          <a:xfrm>
            <a:off x="7235668" y="499172"/>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1: Corporate</a:t>
            </a:r>
          </a:p>
        </p:txBody>
      </p:sp>
      <p:sp>
        <p:nvSpPr>
          <p:cNvPr id="68" name="object 34">
            <a:hlinkClick r:id="" action="ppaction://noaction"/>
            <a:extLst>
              <a:ext uri="{FF2B5EF4-FFF2-40B4-BE49-F238E27FC236}">
                <a16:creationId xmlns:a16="http://schemas.microsoft.com/office/drawing/2014/main" id="{DFAFFFB2-C578-7A78-5EFD-7F709EED8499}"/>
              </a:ext>
            </a:extLst>
          </p:cNvPr>
          <p:cNvSpPr/>
          <p:nvPr userDrawn="1"/>
        </p:nvSpPr>
        <p:spPr>
          <a:xfrm>
            <a:off x="7235668" y="752493"/>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2: </a:t>
            </a:r>
            <a:r>
              <a:rPr lang="en-GB" sz="700" b="0" spc="0" baseline="0" err="1">
                <a:solidFill>
                  <a:schemeClr val="bg2"/>
                </a:solidFill>
                <a:latin typeface="Boehringer Forward Text" panose="02000500000000020000" pitchFamily="2" charset="0"/>
                <a:cs typeface="BISans"/>
              </a:rPr>
              <a:t>OPU</a:t>
            </a:r>
            <a:endParaRPr lang="en-GB" sz="700" b="0" spc="0" baseline="0">
              <a:solidFill>
                <a:schemeClr val="bg2"/>
              </a:solidFill>
              <a:latin typeface="Boehringer Forward Text" panose="02000500000000020000" pitchFamily="2" charset="0"/>
              <a:cs typeface="BISans"/>
            </a:endParaRPr>
          </a:p>
        </p:txBody>
      </p:sp>
      <p:sp>
        <p:nvSpPr>
          <p:cNvPr id="69" name="Graphic 47">
            <a:extLst>
              <a:ext uri="{FF2B5EF4-FFF2-40B4-BE49-F238E27FC236}">
                <a16:creationId xmlns:a16="http://schemas.microsoft.com/office/drawing/2014/main" id="{143F4B65-6F84-C403-55C7-E9DE058D77C1}"/>
              </a:ext>
            </a:extLst>
          </p:cNvPr>
          <p:cNvSpPr/>
          <p:nvPr userDrawn="1"/>
        </p:nvSpPr>
        <p:spPr>
          <a:xfrm>
            <a:off x="7301025" y="159544"/>
            <a:ext cx="157163" cy="157163"/>
          </a:xfrm>
          <a:custGeom>
            <a:avLst/>
            <a:gdLst>
              <a:gd name="connsiteX0" fmla="*/ 100013 w 190500"/>
              <a:gd name="connsiteY0" fmla="*/ 9525 h 190500"/>
              <a:gd name="connsiteX1" fmla="*/ 100013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90488 w 190500"/>
              <a:gd name="connsiteY5" fmla="*/ 0 h 190500"/>
              <a:gd name="connsiteX6" fmla="*/ 90488 w 190500"/>
              <a:gd name="connsiteY6" fmla="*/ 9525 h 190500"/>
              <a:gd name="connsiteX7" fmla="*/ 9525 w 190500"/>
              <a:gd name="connsiteY7" fmla="*/ 95250 h 190500"/>
              <a:gd name="connsiteX8" fmla="*/ 95250 w 190500"/>
              <a:gd name="connsiteY8" fmla="*/ 180975 h 190500"/>
              <a:gd name="connsiteX9" fmla="*/ 180975 w 190500"/>
              <a:gd name="connsiteY9" fmla="*/ 95250 h 190500"/>
              <a:gd name="connsiteX10" fmla="*/ 100013 w 190500"/>
              <a:gd name="connsiteY10" fmla="*/ 9525 h 190500"/>
              <a:gd name="connsiteX11" fmla="*/ 100013 w 190500"/>
              <a:gd name="connsiteY11" fmla="*/ 9525 h 190500"/>
              <a:gd name="connsiteX12" fmla="*/ 90488 w 190500"/>
              <a:gd name="connsiteY12" fmla="*/ 9525 h 190500"/>
              <a:gd name="connsiteX13" fmla="*/ 90488 w 190500"/>
              <a:gd name="connsiteY13" fmla="*/ 97155 h 190500"/>
              <a:gd name="connsiteX14" fmla="*/ 129540 w 190500"/>
              <a:gd name="connsiteY14" fmla="*/ 137160 h 190500"/>
              <a:gd name="connsiteX15" fmla="*/ 137160 w 190500"/>
              <a:gd name="connsiteY15" fmla="*/ 129540 h 190500"/>
              <a:gd name="connsiteX16" fmla="*/ 100013 w 190500"/>
              <a:gd name="connsiteY16" fmla="*/ 93345 h 190500"/>
              <a:gd name="connsiteX17" fmla="*/ 100013 w 190500"/>
              <a:gd name="connsiteY17" fmla="*/ 95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190500">
                <a:moveTo>
                  <a:pt x="100013" y="9525"/>
                </a:moveTo>
                <a:lnTo>
                  <a:pt x="100013" y="0"/>
                </a:lnTo>
                <a:cubicBezTo>
                  <a:pt x="150495" y="2857"/>
                  <a:pt x="190500" y="43815"/>
                  <a:pt x="190500" y="95250"/>
                </a:cubicBezTo>
                <a:cubicBezTo>
                  <a:pt x="190500" y="147638"/>
                  <a:pt x="147638" y="190500"/>
                  <a:pt x="95250" y="190500"/>
                </a:cubicBezTo>
                <a:cubicBezTo>
                  <a:pt x="42863" y="190500"/>
                  <a:pt x="0" y="147638"/>
                  <a:pt x="0" y="95250"/>
                </a:cubicBezTo>
                <a:cubicBezTo>
                  <a:pt x="0" y="43815"/>
                  <a:pt x="40005" y="2857"/>
                  <a:pt x="90488" y="0"/>
                </a:cubicBezTo>
                <a:lnTo>
                  <a:pt x="90488" y="9525"/>
                </a:lnTo>
                <a:cubicBezTo>
                  <a:pt x="45720" y="12383"/>
                  <a:pt x="9525" y="49530"/>
                  <a:pt x="9525" y="95250"/>
                </a:cubicBezTo>
                <a:cubicBezTo>
                  <a:pt x="9525" y="142875"/>
                  <a:pt x="47625" y="180975"/>
                  <a:pt x="95250" y="180975"/>
                </a:cubicBezTo>
                <a:cubicBezTo>
                  <a:pt x="142875" y="180975"/>
                  <a:pt x="180975" y="142875"/>
                  <a:pt x="180975" y="95250"/>
                </a:cubicBezTo>
                <a:cubicBezTo>
                  <a:pt x="180975" y="49530"/>
                  <a:pt x="144780" y="12383"/>
                  <a:pt x="100013" y="9525"/>
                </a:cubicBezTo>
                <a:close/>
                <a:moveTo>
                  <a:pt x="100013" y="9525"/>
                </a:moveTo>
                <a:lnTo>
                  <a:pt x="90488" y="9525"/>
                </a:lnTo>
                <a:lnTo>
                  <a:pt x="90488" y="97155"/>
                </a:lnTo>
                <a:lnTo>
                  <a:pt x="129540" y="137160"/>
                </a:lnTo>
                <a:lnTo>
                  <a:pt x="137160" y="129540"/>
                </a:lnTo>
                <a:lnTo>
                  <a:pt x="100013" y="93345"/>
                </a:lnTo>
                <a:lnTo>
                  <a:pt x="100013" y="9525"/>
                </a:lnTo>
                <a:close/>
              </a:path>
            </a:pathLst>
          </a:custGeom>
          <a:solidFill>
            <a:srgbClr val="08312A"/>
          </a:solidFill>
          <a:ln w="9525" cap="flat">
            <a:noFill/>
            <a:prstDash val="solid"/>
            <a:miter/>
          </a:ln>
        </p:spPr>
        <p:txBody>
          <a:bodyPr rtlCol="0" anchor="ctr"/>
          <a:lstStyle/>
          <a:p>
            <a:endParaRPr lang="en-US"/>
          </a:p>
        </p:txBody>
      </p:sp>
      <p:sp>
        <p:nvSpPr>
          <p:cNvPr id="70" name="Graphic 52">
            <a:extLst>
              <a:ext uri="{FF2B5EF4-FFF2-40B4-BE49-F238E27FC236}">
                <a16:creationId xmlns:a16="http://schemas.microsoft.com/office/drawing/2014/main" id="{87CE1A50-728B-A2F0-B35B-D82F43260BA4}"/>
              </a:ext>
            </a:extLst>
          </p:cNvPr>
          <p:cNvSpPr/>
          <p:nvPr userDrawn="1"/>
        </p:nvSpPr>
        <p:spPr>
          <a:xfrm>
            <a:off x="8427065" y="149066"/>
            <a:ext cx="138537" cy="178119"/>
          </a:xfrm>
          <a:custGeom>
            <a:avLst/>
            <a:gdLst>
              <a:gd name="connsiteX0" fmla="*/ 0 w 133350"/>
              <a:gd name="connsiteY0" fmla="*/ 171450 h 171450"/>
              <a:gd name="connsiteX1" fmla="*/ 0 w 133350"/>
              <a:gd name="connsiteY1" fmla="*/ 0 h 171450"/>
              <a:gd name="connsiteX2" fmla="*/ 87697 w 133350"/>
              <a:gd name="connsiteY2" fmla="*/ 0 h 171450"/>
              <a:gd name="connsiteX3" fmla="*/ 133350 w 133350"/>
              <a:gd name="connsiteY3" fmla="*/ 45653 h 171450"/>
              <a:gd name="connsiteX4" fmla="*/ 133350 w 133350"/>
              <a:gd name="connsiteY4" fmla="*/ 171450 h 171450"/>
              <a:gd name="connsiteX5" fmla="*/ 0 w 133350"/>
              <a:gd name="connsiteY5" fmla="*/ 171450 h 171450"/>
              <a:gd name="connsiteX6" fmla="*/ 9525 w 133350"/>
              <a:gd name="connsiteY6" fmla="*/ 161925 h 171450"/>
              <a:gd name="connsiteX7" fmla="*/ 123825 w 133350"/>
              <a:gd name="connsiteY7" fmla="*/ 161925 h 171450"/>
              <a:gd name="connsiteX8" fmla="*/ 123825 w 133350"/>
              <a:gd name="connsiteY8" fmla="*/ 57150 h 171450"/>
              <a:gd name="connsiteX9" fmla="*/ 85725 w 133350"/>
              <a:gd name="connsiteY9" fmla="*/ 57150 h 171450"/>
              <a:gd name="connsiteX10" fmla="*/ 85725 w 133350"/>
              <a:gd name="connsiteY10" fmla="*/ 47625 h 171450"/>
              <a:gd name="connsiteX11" fmla="*/ 121853 w 133350"/>
              <a:gd name="connsiteY11" fmla="*/ 47625 h 171450"/>
              <a:gd name="connsiteX12" fmla="*/ 85725 w 133350"/>
              <a:gd name="connsiteY12" fmla="*/ 11497 h 171450"/>
              <a:gd name="connsiteX13" fmla="*/ 85725 w 133350"/>
              <a:gd name="connsiteY13" fmla="*/ 47625 h 171450"/>
              <a:gd name="connsiteX14" fmla="*/ 76200 w 133350"/>
              <a:gd name="connsiteY14" fmla="*/ 47625 h 171450"/>
              <a:gd name="connsiteX15" fmla="*/ 76200 w 133350"/>
              <a:gd name="connsiteY15" fmla="*/ 9525 h 171450"/>
              <a:gd name="connsiteX16" fmla="*/ 9525 w 133350"/>
              <a:gd name="connsiteY16" fmla="*/ 9525 h 171450"/>
              <a:gd name="connsiteX17" fmla="*/ 9525 w 133350"/>
              <a:gd name="connsiteY17" fmla="*/ 161925 h 171450"/>
              <a:gd name="connsiteX18" fmla="*/ 28575 w 133350"/>
              <a:gd name="connsiteY18" fmla="*/ 104775 h 171450"/>
              <a:gd name="connsiteX19" fmla="*/ 76200 w 133350"/>
              <a:gd name="connsiteY19" fmla="*/ 104775 h 171450"/>
              <a:gd name="connsiteX20" fmla="*/ 76200 w 133350"/>
              <a:gd name="connsiteY20" fmla="*/ 95250 h 171450"/>
              <a:gd name="connsiteX21" fmla="*/ 28575 w 133350"/>
              <a:gd name="connsiteY21" fmla="*/ 95250 h 171450"/>
              <a:gd name="connsiteX22" fmla="*/ 28575 w 133350"/>
              <a:gd name="connsiteY22" fmla="*/ 104775 h 171450"/>
              <a:gd name="connsiteX23" fmla="*/ 104775 w 133350"/>
              <a:gd name="connsiteY23" fmla="*/ 133350 h 171450"/>
              <a:gd name="connsiteX24" fmla="*/ 28575 w 133350"/>
              <a:gd name="connsiteY24" fmla="*/ 133350 h 171450"/>
              <a:gd name="connsiteX25" fmla="*/ 28575 w 133350"/>
              <a:gd name="connsiteY25" fmla="*/ 123825 h 171450"/>
              <a:gd name="connsiteX26" fmla="*/ 104775 w 133350"/>
              <a:gd name="connsiteY26" fmla="*/ 123825 h 171450"/>
              <a:gd name="connsiteX27" fmla="*/ 104775 w 133350"/>
              <a:gd name="connsiteY27"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50" h="171450">
                <a:moveTo>
                  <a:pt x="0" y="171450"/>
                </a:moveTo>
                <a:lnTo>
                  <a:pt x="0" y="0"/>
                </a:lnTo>
                <a:lnTo>
                  <a:pt x="87697" y="0"/>
                </a:lnTo>
                <a:lnTo>
                  <a:pt x="133350" y="45653"/>
                </a:lnTo>
                <a:lnTo>
                  <a:pt x="133350" y="171450"/>
                </a:lnTo>
                <a:lnTo>
                  <a:pt x="0" y="171450"/>
                </a:lnTo>
                <a:close/>
                <a:moveTo>
                  <a:pt x="9525" y="161925"/>
                </a:moveTo>
                <a:lnTo>
                  <a:pt x="123825" y="161925"/>
                </a:lnTo>
                <a:lnTo>
                  <a:pt x="123825" y="57150"/>
                </a:lnTo>
                <a:lnTo>
                  <a:pt x="85725" y="57150"/>
                </a:lnTo>
                <a:lnTo>
                  <a:pt x="85725" y="47625"/>
                </a:lnTo>
                <a:lnTo>
                  <a:pt x="121853" y="47625"/>
                </a:lnTo>
                <a:lnTo>
                  <a:pt x="85725" y="11497"/>
                </a:lnTo>
                <a:lnTo>
                  <a:pt x="85725" y="47625"/>
                </a:lnTo>
                <a:lnTo>
                  <a:pt x="76200" y="47625"/>
                </a:lnTo>
                <a:lnTo>
                  <a:pt x="76200" y="9525"/>
                </a:lnTo>
                <a:lnTo>
                  <a:pt x="9525" y="9525"/>
                </a:lnTo>
                <a:lnTo>
                  <a:pt x="9525" y="161925"/>
                </a:lnTo>
                <a:close/>
                <a:moveTo>
                  <a:pt x="28575" y="104775"/>
                </a:moveTo>
                <a:lnTo>
                  <a:pt x="76200" y="104775"/>
                </a:lnTo>
                <a:lnTo>
                  <a:pt x="76200" y="95250"/>
                </a:lnTo>
                <a:lnTo>
                  <a:pt x="28575" y="95250"/>
                </a:lnTo>
                <a:lnTo>
                  <a:pt x="28575" y="104775"/>
                </a:lnTo>
                <a:close/>
                <a:moveTo>
                  <a:pt x="104775" y="133350"/>
                </a:moveTo>
                <a:lnTo>
                  <a:pt x="28575" y="133350"/>
                </a:lnTo>
                <a:lnTo>
                  <a:pt x="28575" y="123825"/>
                </a:lnTo>
                <a:lnTo>
                  <a:pt x="104775" y="123825"/>
                </a:lnTo>
                <a:lnTo>
                  <a:pt x="104775" y="133350"/>
                </a:lnTo>
                <a:close/>
              </a:path>
            </a:pathLst>
          </a:custGeom>
          <a:solidFill>
            <a:srgbClr val="08312A"/>
          </a:solidFill>
          <a:ln w="9525" cap="flat">
            <a:noFill/>
            <a:prstDash val="solid"/>
            <a:miter/>
          </a:ln>
        </p:spPr>
        <p:txBody>
          <a:bodyPr rtlCol="0" anchor="ctr"/>
          <a:lstStyle/>
          <a:p>
            <a:endParaRPr lang="en-US"/>
          </a:p>
        </p:txBody>
      </p:sp>
      <p:sp>
        <p:nvSpPr>
          <p:cNvPr id="5" name="Rectangle 4">
            <a:hlinkClick r:id="" action="ppaction://noaction"/>
            <a:extLst>
              <a:ext uri="{FF2B5EF4-FFF2-40B4-BE49-F238E27FC236}">
                <a16:creationId xmlns:a16="http://schemas.microsoft.com/office/drawing/2014/main" id="{1A3557B1-05E8-8664-1F11-B7969C31E869}"/>
              </a:ext>
            </a:extLst>
          </p:cNvPr>
          <p:cNvSpPr/>
          <p:nvPr userDrawn="1"/>
        </p:nvSpPr>
        <p:spPr>
          <a:xfrm>
            <a:off x="0" y="-11461"/>
            <a:ext cx="479424" cy="499172"/>
          </a:xfrm>
          <a:prstGeom prst="rect">
            <a:avLst/>
          </a:prstGeom>
          <a:solidFill>
            <a:schemeClr val="accent3">
              <a:alpha val="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sz="1400" spc="200" baseline="0">
              <a:solidFill>
                <a:schemeClr val="accent1"/>
              </a:solidFill>
            </a:endParaRPr>
          </a:p>
        </p:txBody>
      </p:sp>
    </p:spTree>
    <p:extLst>
      <p:ext uri="{BB962C8B-B14F-4D97-AF65-F5344CB8AC3E}">
        <p14:creationId xmlns:p14="http://schemas.microsoft.com/office/powerpoint/2010/main" val="15915659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874253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Separate topic for verducatib - 2026 Apr PEC</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7230365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Separate topic for verducatib - 2026 Apr PEC</a:t>
            </a:r>
          </a:p>
        </p:txBody>
      </p:sp>
    </p:spTree>
    <p:extLst>
      <p:ext uri="{BB962C8B-B14F-4D97-AF65-F5344CB8AC3E}">
        <p14:creationId xmlns:p14="http://schemas.microsoft.com/office/powerpoint/2010/main" val="212603669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Separate topic for verducatib - 2026 Apr PEC</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752452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Separate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864807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Separate topic for verducatib - 2026 Apr PEC</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478084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Separate topic for verducatib - 2026 Apr PEC</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43128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Separate topic for verducatib - 2026 Apr PEC</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16697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Separate topic for verducatib - 2026 Apr PEC</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997070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Separate topic for verducatib - 2026 Apr PEC</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040823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Separate topic for verducatib - 2026 Apr PEC</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197606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Separate topic for verducatib - 2026 Apr PEC</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8829743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Separate topic for verducatib - 2026 Apr PEC</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08825686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Separate topic for verducatib - 2026 Apr PEC</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7629462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Separate topic for verducatib - 2026 Apr PEC</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992742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Separate topic for verducatib - 2026 Apr PEC</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816949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Separate topic for verducatib - 2026 Apr PEC</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1513228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Separate topic for verducatib - 2026 Apr PEC</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033748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Separate topic for verducatib - 2026 Apr PEC</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6307718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Separate topic for verducatib - 2026 Apr PEC</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5878083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Separate topic for verducatib - 2026 Apr PEC</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616367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Separate topic for verducatib - 2026 Apr PEC</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16549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Separate topic for verducatib - 2026 Apr PEC</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289851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_One content_Strategic">
    <p:bg>
      <p:bgPr>
        <a:solidFill>
          <a:srgbClr val="EFEEEB"/>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Separate topic for verducatib - 2026 Apr PEC</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217263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ags" Target="../tags/tag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9946BBC-947B-E9FD-10D6-A9E21B0CE53F}"/>
              </a:ext>
            </a:extLst>
          </p:cNvPr>
          <p:cNvGraphicFramePr>
            <a:graphicFrameLocks noChangeAspect="1"/>
          </p:cNvGraphicFramePr>
          <p:nvPr userDrawn="1">
            <p:custDataLst>
              <p:tags r:id="rId67"/>
            </p:custDataLst>
            <p:extLst>
              <p:ext uri="{D42A27DB-BD31-4B8C-83A1-F6EECF244321}">
                <p14:modId xmlns:p14="http://schemas.microsoft.com/office/powerpoint/2010/main" val="1974699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8" imgW="404" imgH="405" progId="TCLayout.ActiveDocument.1">
                  <p:embed/>
                </p:oleObj>
              </mc:Choice>
              <mc:Fallback>
                <p:oleObj name="think-cell 幻灯片" r:id="rId68" imgW="404" imgH="405" progId="TCLayout.ActiveDocument.1">
                  <p:embed/>
                  <p:pic>
                    <p:nvPicPr>
                      <p:cNvPr id="7" name="think-cell data - do not delete" hidden="1">
                        <a:extLst>
                          <a:ext uri="{FF2B5EF4-FFF2-40B4-BE49-F238E27FC236}">
                            <a16:creationId xmlns:a16="http://schemas.microsoft.com/office/drawing/2014/main" id="{69946BBC-947B-E9FD-10D6-A9E21B0CE53F}"/>
                          </a:ext>
                        </a:extLst>
                      </p:cNvPr>
                      <p:cNvPicPr/>
                      <p:nvPr/>
                    </p:nvPicPr>
                    <p:blipFill>
                      <a:blip r:embed="rId69"/>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Separate topic for verducatib - 2026 Apr PEC</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0"/>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88107887"/>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 id="2147483951" r:id="rId45"/>
    <p:sldLayoutId id="2147483952" r:id="rId46"/>
    <p:sldLayoutId id="2147483953" r:id="rId47"/>
    <p:sldLayoutId id="2147483954" r:id="rId48"/>
    <p:sldLayoutId id="2147483955" r:id="rId49"/>
    <p:sldLayoutId id="2147483956" r:id="rId50"/>
    <p:sldLayoutId id="2147483957" r:id="rId51"/>
    <p:sldLayoutId id="2147483958" r:id="rId52"/>
    <p:sldLayoutId id="2147483959" r:id="rId53"/>
    <p:sldLayoutId id="2147483960" r:id="rId54"/>
    <p:sldLayoutId id="2147483961" r:id="rId55"/>
    <p:sldLayoutId id="2147483962" r:id="rId56"/>
    <p:sldLayoutId id="2147483963" r:id="rId57"/>
    <p:sldLayoutId id="2147483964" r:id="rId58"/>
    <p:sldLayoutId id="2147483965" r:id="rId59"/>
    <p:sldLayoutId id="2147483966" r:id="rId60"/>
    <p:sldLayoutId id="2147483967" r:id="rId61"/>
    <p:sldLayoutId id="2147483968" r:id="rId62"/>
    <p:sldLayoutId id="2147483969" r:id="rId63"/>
    <p:sldLayoutId id="2147483971" r:id="rId64"/>
    <p:sldLayoutId id="2147483972" r:id="rId65"/>
  </p:sldLayoutIdLst>
  <p:hf sldNum="0"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1AFD89-EA53-0727-367A-107D29247D7A}"/>
              </a:ext>
            </a:extLst>
          </p:cNvPr>
          <p:cNvSpPr>
            <a:spLocks noGrp="1"/>
          </p:cNvSpPr>
          <p:nvPr>
            <p:ph type="ctrTitle"/>
          </p:nvPr>
        </p:nvSpPr>
        <p:spPr/>
        <p:txBody>
          <a:bodyPr/>
          <a:lstStyle/>
          <a:p>
            <a:r>
              <a:rPr lang="en-US" altLang="zh-CN" dirty="0"/>
              <a:t>Evaluation of </a:t>
            </a:r>
            <a:r>
              <a:rPr lang="en-US" altLang="zh-CN" dirty="0" err="1"/>
              <a:t>verducatib</a:t>
            </a:r>
            <a:r>
              <a:rPr lang="en-US" altLang="zh-CN" dirty="0"/>
              <a:t> NDA Submission/Approval Timeline</a:t>
            </a:r>
            <a:endParaRPr lang="zh-CN" altLang="en-US" dirty="0"/>
          </a:p>
        </p:txBody>
      </p:sp>
      <p:sp>
        <p:nvSpPr>
          <p:cNvPr id="3" name="副标题 2">
            <a:extLst>
              <a:ext uri="{FF2B5EF4-FFF2-40B4-BE49-F238E27FC236}">
                <a16:creationId xmlns:a16="http://schemas.microsoft.com/office/drawing/2014/main" id="{194B735E-2858-919E-49D4-F697C85B5B2F}"/>
              </a:ext>
            </a:extLst>
          </p:cNvPr>
          <p:cNvSpPr>
            <a:spLocks noGrp="1"/>
          </p:cNvSpPr>
          <p:nvPr>
            <p:ph type="subTitle" idx="1"/>
          </p:nvPr>
        </p:nvSpPr>
        <p:spPr/>
        <p:txBody>
          <a:bodyPr/>
          <a:lstStyle/>
          <a:p>
            <a:endParaRPr lang="zh-CN" altLang="en-US" dirty="0"/>
          </a:p>
        </p:txBody>
      </p:sp>
      <p:sp>
        <p:nvSpPr>
          <p:cNvPr id="4" name="页脚占位符 3">
            <a:extLst>
              <a:ext uri="{FF2B5EF4-FFF2-40B4-BE49-F238E27FC236}">
                <a16:creationId xmlns:a16="http://schemas.microsoft.com/office/drawing/2014/main" id="{4E471C3C-E8E8-763C-6E62-C0C0DBDB2F6F}"/>
              </a:ext>
            </a:extLst>
          </p:cNvPr>
          <p:cNvSpPr>
            <a:spLocks noGrp="1"/>
          </p:cNvSpPr>
          <p:nvPr>
            <p:ph type="ftr" sz="quarter" idx="19"/>
          </p:nvPr>
        </p:nvSpPr>
        <p:spPr/>
        <p:txBody>
          <a:bodyPr/>
          <a:lstStyle/>
          <a:p>
            <a:r>
              <a:rPr lang="en-US"/>
              <a:t>Separate topic for verducatib - 2026 Apr PEC</a:t>
            </a:r>
          </a:p>
        </p:txBody>
      </p:sp>
    </p:spTree>
    <p:extLst>
      <p:ext uri="{BB962C8B-B14F-4D97-AF65-F5344CB8AC3E}">
        <p14:creationId xmlns:p14="http://schemas.microsoft.com/office/powerpoint/2010/main" val="152304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D9B15-3BFC-891D-A821-FC79AFA9B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B7328-B081-2744-F198-743ECEA5D3C8}"/>
              </a:ext>
            </a:extLst>
          </p:cNvPr>
          <p:cNvSpPr>
            <a:spLocks noGrp="1"/>
          </p:cNvSpPr>
          <p:nvPr>
            <p:ph type="title"/>
          </p:nvPr>
        </p:nvSpPr>
        <p:spPr>
          <a:xfrm>
            <a:off x="191442" y="425531"/>
            <a:ext cx="12246364" cy="571665"/>
          </a:xfrm>
        </p:spPr>
        <p:txBody>
          <a:bodyPr/>
          <a:lstStyle/>
          <a:p>
            <a:r>
              <a:rPr lang="en-US" altLang="zh-CN" dirty="0"/>
              <a:t>The Under-Assessment </a:t>
            </a:r>
            <a:r>
              <a:rPr lang="en-US" altLang="zh-CN" dirty="0">
                <a:solidFill>
                  <a:srgbClr val="FF0000"/>
                </a:solidFill>
              </a:rPr>
              <a:t>Acceleration </a:t>
            </a:r>
            <a:r>
              <a:rPr lang="en-US" altLang="zh-CN" dirty="0"/>
              <a:t>in the NDA Submission/Approval Timeline</a:t>
            </a:r>
            <a:endParaRPr lang="zh-CN" altLang="en-US" dirty="0"/>
          </a:p>
        </p:txBody>
      </p:sp>
      <p:cxnSp>
        <p:nvCxnSpPr>
          <p:cNvPr id="8" name="Straight Arrow Connector 7">
            <a:extLst>
              <a:ext uri="{FF2B5EF4-FFF2-40B4-BE49-F238E27FC236}">
                <a16:creationId xmlns:a16="http://schemas.microsoft.com/office/drawing/2014/main" id="{432E3230-6B40-4D83-133A-7EC212DE6C8A}"/>
              </a:ext>
            </a:extLst>
          </p:cNvPr>
          <p:cNvCxnSpPr>
            <a:cxnSpLocks/>
          </p:cNvCxnSpPr>
          <p:nvPr/>
        </p:nvCxnSpPr>
        <p:spPr bwMode="gray">
          <a:xfrm>
            <a:off x="380144" y="2835106"/>
            <a:ext cx="1181185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Flowchart: Connector 8">
            <a:extLst>
              <a:ext uri="{FF2B5EF4-FFF2-40B4-BE49-F238E27FC236}">
                <a16:creationId xmlns:a16="http://schemas.microsoft.com/office/drawing/2014/main" id="{A6F67F9A-3581-94B3-88D1-5C2E88DF1F5A}"/>
              </a:ext>
            </a:extLst>
          </p:cNvPr>
          <p:cNvSpPr/>
          <p:nvPr/>
        </p:nvSpPr>
        <p:spPr bwMode="gray">
          <a:xfrm>
            <a:off x="437344" y="2718323"/>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Flowchart: Connector 9">
            <a:extLst>
              <a:ext uri="{FF2B5EF4-FFF2-40B4-BE49-F238E27FC236}">
                <a16:creationId xmlns:a16="http://schemas.microsoft.com/office/drawing/2014/main" id="{91E87D2A-2832-4A90-100A-EC31909A29AE}"/>
              </a:ext>
            </a:extLst>
          </p:cNvPr>
          <p:cNvSpPr/>
          <p:nvPr/>
        </p:nvSpPr>
        <p:spPr bwMode="gray">
          <a:xfrm>
            <a:off x="2213855" y="2718322"/>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0" name="TextBox 19">
            <a:extLst>
              <a:ext uri="{FF2B5EF4-FFF2-40B4-BE49-F238E27FC236}">
                <a16:creationId xmlns:a16="http://schemas.microsoft.com/office/drawing/2014/main" id="{52892889-0B1B-7940-8123-CF553F4DE681}"/>
              </a:ext>
            </a:extLst>
          </p:cNvPr>
          <p:cNvSpPr txBox="1"/>
          <p:nvPr/>
        </p:nvSpPr>
        <p:spPr bwMode="gray">
          <a:xfrm>
            <a:off x="305992" y="3010812"/>
            <a:ext cx="1101049" cy="433517"/>
          </a:xfrm>
          <a:prstGeom prst="rect">
            <a:avLst/>
          </a:prstGeom>
          <a:noFill/>
        </p:spPr>
        <p:txBody>
          <a:bodyPr wrap="square" lIns="0" tIns="0" rIns="0" bIns="0" rtlCol="0">
            <a:spAutoFit/>
          </a:bodyPr>
          <a:lstStyle/>
          <a:p>
            <a:pPr algn="l">
              <a:lnSpc>
                <a:spcPct val="140000"/>
              </a:lnSpc>
            </a:pPr>
            <a:r>
              <a:rPr lang="en-US" altLang="zh-CN" sz="1050" b="1"/>
              <a:t>DBL(1)</a:t>
            </a:r>
          </a:p>
          <a:p>
            <a:pPr algn="l">
              <a:lnSpc>
                <a:spcPct val="140000"/>
              </a:lnSpc>
            </a:pPr>
            <a:r>
              <a:rPr lang="en-US" altLang="zh-CN" sz="1050">
                <a:solidFill>
                  <a:srgbClr val="052EFC"/>
                </a:solidFill>
              </a:rPr>
              <a:t>Jul 26, 2027</a:t>
            </a:r>
            <a:endParaRPr lang="zh-CN" altLang="en-US" sz="1050">
              <a:solidFill>
                <a:srgbClr val="052EFC"/>
              </a:solidFill>
            </a:endParaRPr>
          </a:p>
        </p:txBody>
      </p:sp>
      <p:sp>
        <p:nvSpPr>
          <p:cNvPr id="21" name="TextBox 20">
            <a:extLst>
              <a:ext uri="{FF2B5EF4-FFF2-40B4-BE49-F238E27FC236}">
                <a16:creationId xmlns:a16="http://schemas.microsoft.com/office/drawing/2014/main" id="{7D6A6C23-75E4-0956-2C00-555748468317}"/>
              </a:ext>
            </a:extLst>
          </p:cNvPr>
          <p:cNvSpPr txBox="1"/>
          <p:nvPr/>
        </p:nvSpPr>
        <p:spPr bwMode="gray">
          <a:xfrm>
            <a:off x="2150497" y="2996925"/>
            <a:ext cx="1101049" cy="433517"/>
          </a:xfrm>
          <a:prstGeom prst="rect">
            <a:avLst/>
          </a:prstGeom>
          <a:noFill/>
        </p:spPr>
        <p:txBody>
          <a:bodyPr wrap="square" lIns="0" tIns="0" rIns="0" bIns="0" rtlCol="0" anchor="t">
            <a:spAutoFit/>
          </a:bodyPr>
          <a:lstStyle/>
          <a:p>
            <a:pPr algn="l">
              <a:lnSpc>
                <a:spcPct val="140000"/>
              </a:lnSpc>
            </a:pPr>
            <a:r>
              <a:rPr lang="en-US" altLang="zh-CN" sz="1050" b="1"/>
              <a:t>TLR</a:t>
            </a:r>
          </a:p>
          <a:p>
            <a:pPr>
              <a:lnSpc>
                <a:spcPct val="140000"/>
              </a:lnSpc>
            </a:pPr>
            <a:r>
              <a:rPr lang="en-US" altLang="zh-CN" sz="1050">
                <a:solidFill>
                  <a:srgbClr val="052EFC"/>
                </a:solidFill>
              </a:rPr>
              <a:t>05 Aug 2027</a:t>
            </a:r>
            <a:endParaRPr lang="zh-CN" altLang="en-US" sz="1050">
              <a:solidFill>
                <a:srgbClr val="052EFC"/>
              </a:solidFill>
            </a:endParaRPr>
          </a:p>
        </p:txBody>
      </p:sp>
      <p:sp>
        <p:nvSpPr>
          <p:cNvPr id="22" name="Flowchart: Connector 21">
            <a:extLst>
              <a:ext uri="{FF2B5EF4-FFF2-40B4-BE49-F238E27FC236}">
                <a16:creationId xmlns:a16="http://schemas.microsoft.com/office/drawing/2014/main" id="{DD5DF258-5F91-DD0C-D9B6-3E153ECB9707}"/>
              </a:ext>
            </a:extLst>
          </p:cNvPr>
          <p:cNvSpPr/>
          <p:nvPr/>
        </p:nvSpPr>
        <p:spPr bwMode="gray">
          <a:xfrm>
            <a:off x="3371409" y="2718944"/>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4" name="TextBox 23">
            <a:extLst>
              <a:ext uri="{FF2B5EF4-FFF2-40B4-BE49-F238E27FC236}">
                <a16:creationId xmlns:a16="http://schemas.microsoft.com/office/drawing/2014/main" id="{BF7A55BE-F1D9-A8EB-125F-9752EE4AA4C4}"/>
              </a:ext>
            </a:extLst>
          </p:cNvPr>
          <p:cNvSpPr txBox="1"/>
          <p:nvPr/>
        </p:nvSpPr>
        <p:spPr bwMode="gray">
          <a:xfrm>
            <a:off x="2150495" y="3496890"/>
            <a:ext cx="958113" cy="896720"/>
          </a:xfrm>
          <a:prstGeom prst="rect">
            <a:avLst/>
          </a:prstGeom>
          <a:noFill/>
        </p:spPr>
        <p:txBody>
          <a:bodyPr wrap="square" lIns="0" tIns="0" rIns="0" bIns="0" rtlCol="0" anchor="t">
            <a:spAutoFit/>
          </a:bodyPr>
          <a:lstStyle/>
          <a:p>
            <a:pPr>
              <a:lnSpc>
                <a:spcPct val="140000"/>
              </a:lnSpc>
            </a:pPr>
            <a:r>
              <a:rPr lang="en-US" sz="1100" b="1" dirty="0"/>
              <a:t>BTD*/</a:t>
            </a:r>
            <a:r>
              <a:rPr lang="en-US" altLang="zh-CN" sz="1050" b="1" dirty="0"/>
              <a:t>China pre-NDA (PR) sub.</a:t>
            </a:r>
            <a:endParaRPr lang="zh-CN" altLang="en-US" dirty="0"/>
          </a:p>
          <a:p>
            <a:pPr>
              <a:lnSpc>
                <a:spcPct val="140000"/>
              </a:lnSpc>
            </a:pPr>
            <a:r>
              <a:rPr lang="en-US" altLang="zh-CN" sz="1050" dirty="0">
                <a:solidFill>
                  <a:srgbClr val="052EFC"/>
                </a:solidFill>
              </a:rPr>
              <a:t>Aug 2027</a:t>
            </a:r>
            <a:endParaRPr lang="zh-CN" altLang="en-US" sz="1050" dirty="0">
              <a:solidFill>
                <a:srgbClr val="052EFC"/>
              </a:solidFill>
            </a:endParaRPr>
          </a:p>
        </p:txBody>
      </p:sp>
      <p:sp>
        <p:nvSpPr>
          <p:cNvPr id="26" name="TextBox 25">
            <a:extLst>
              <a:ext uri="{FF2B5EF4-FFF2-40B4-BE49-F238E27FC236}">
                <a16:creationId xmlns:a16="http://schemas.microsoft.com/office/drawing/2014/main" id="{7C0427BE-A232-94D1-AFB0-DFE264A0B3AB}"/>
              </a:ext>
            </a:extLst>
          </p:cNvPr>
          <p:cNvSpPr txBox="1"/>
          <p:nvPr/>
        </p:nvSpPr>
        <p:spPr bwMode="gray">
          <a:xfrm>
            <a:off x="3232493" y="3007489"/>
            <a:ext cx="1689807" cy="657681"/>
          </a:xfrm>
          <a:prstGeom prst="rect">
            <a:avLst/>
          </a:prstGeom>
          <a:noFill/>
        </p:spPr>
        <p:txBody>
          <a:bodyPr wrap="square" lIns="0" tIns="0" rIns="0" bIns="0" rtlCol="0" anchor="t">
            <a:spAutoFit/>
          </a:bodyPr>
          <a:lstStyle/>
          <a:p>
            <a:pPr>
              <a:lnSpc>
                <a:spcPct val="140000"/>
              </a:lnSpc>
            </a:pPr>
            <a:r>
              <a:rPr lang="en-US" altLang="zh-CN" sz="1050" b="1" dirty="0"/>
              <a:t>BTD feedback/Pre-NDA (</a:t>
            </a:r>
            <a:r>
              <a:rPr lang="en-US" altLang="zh-CN" sz="1050" b="1" dirty="0">
                <a:solidFill>
                  <a:srgbClr val="7030A0"/>
                </a:solidFill>
              </a:rPr>
              <a:t>PR)</a:t>
            </a:r>
            <a:r>
              <a:rPr lang="en-US" altLang="zh-CN" sz="1050" b="1" dirty="0"/>
              <a:t> Feedback</a:t>
            </a:r>
          </a:p>
          <a:p>
            <a:pPr algn="l">
              <a:lnSpc>
                <a:spcPct val="140000"/>
              </a:lnSpc>
            </a:pPr>
            <a:r>
              <a:rPr lang="en-US" altLang="zh-CN" sz="1050" dirty="0">
                <a:solidFill>
                  <a:srgbClr val="052EFC"/>
                </a:solidFill>
              </a:rPr>
              <a:t>Oct 2027</a:t>
            </a:r>
            <a:endParaRPr lang="zh-CN" altLang="en-US" sz="1050" dirty="0">
              <a:solidFill>
                <a:srgbClr val="052EFC"/>
              </a:solidFill>
            </a:endParaRPr>
          </a:p>
        </p:txBody>
      </p:sp>
      <p:sp>
        <p:nvSpPr>
          <p:cNvPr id="27" name="Flowchart: Connector 26">
            <a:extLst>
              <a:ext uri="{FF2B5EF4-FFF2-40B4-BE49-F238E27FC236}">
                <a16:creationId xmlns:a16="http://schemas.microsoft.com/office/drawing/2014/main" id="{3E569169-BF5E-284A-7A08-731C289C1DFD}"/>
              </a:ext>
            </a:extLst>
          </p:cNvPr>
          <p:cNvSpPr/>
          <p:nvPr/>
        </p:nvSpPr>
        <p:spPr bwMode="gray">
          <a:xfrm>
            <a:off x="5521812" y="2711390"/>
            <a:ext cx="226031" cy="233565"/>
          </a:xfrm>
          <a:prstGeom prst="flowChartConnector">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8" name="TextBox 27">
            <a:extLst>
              <a:ext uri="{FF2B5EF4-FFF2-40B4-BE49-F238E27FC236}">
                <a16:creationId xmlns:a16="http://schemas.microsoft.com/office/drawing/2014/main" id="{F95B685F-8795-B463-6374-41ECB47EBB2F}"/>
              </a:ext>
            </a:extLst>
          </p:cNvPr>
          <p:cNvSpPr txBox="1"/>
          <p:nvPr/>
        </p:nvSpPr>
        <p:spPr bwMode="gray">
          <a:xfrm>
            <a:off x="5195073" y="3129684"/>
            <a:ext cx="1337059" cy="659732"/>
          </a:xfrm>
          <a:prstGeom prst="rect">
            <a:avLst/>
          </a:prstGeom>
          <a:noFill/>
        </p:spPr>
        <p:txBody>
          <a:bodyPr wrap="square" lIns="0" tIns="0" rIns="0" bIns="0" rtlCol="0" anchor="t">
            <a:spAutoFit/>
          </a:bodyPr>
          <a:lstStyle/>
          <a:p>
            <a:pPr algn="l">
              <a:lnSpc>
                <a:spcPct val="140000"/>
              </a:lnSpc>
            </a:pPr>
            <a:r>
              <a:rPr lang="en-US" altLang="zh-CN" sz="1050" b="1">
                <a:solidFill>
                  <a:srgbClr val="FF0000"/>
                </a:solidFill>
              </a:rPr>
              <a:t>Accelerated:</a:t>
            </a:r>
          </a:p>
          <a:p>
            <a:pPr algn="l">
              <a:lnSpc>
                <a:spcPct val="140000"/>
              </a:lnSpc>
            </a:pPr>
            <a:r>
              <a:rPr lang="en-US" altLang="zh-CN" sz="1050" b="1">
                <a:solidFill>
                  <a:srgbClr val="FF0000"/>
                </a:solidFill>
              </a:rPr>
              <a:t>NDA Submission</a:t>
            </a:r>
          </a:p>
          <a:p>
            <a:pPr algn="l">
              <a:lnSpc>
                <a:spcPct val="140000"/>
              </a:lnSpc>
            </a:pPr>
            <a:r>
              <a:rPr lang="en-US" altLang="zh-CN" sz="1050">
                <a:solidFill>
                  <a:srgbClr val="FF0000"/>
                </a:solidFill>
              </a:rPr>
              <a:t>Oct 2027</a:t>
            </a:r>
            <a:endParaRPr lang="zh-CN" altLang="en-US" sz="1050">
              <a:solidFill>
                <a:srgbClr val="FF0000"/>
              </a:solidFill>
            </a:endParaRPr>
          </a:p>
        </p:txBody>
      </p:sp>
      <p:sp>
        <p:nvSpPr>
          <p:cNvPr id="34" name="Flowchart: Connector 33">
            <a:extLst>
              <a:ext uri="{FF2B5EF4-FFF2-40B4-BE49-F238E27FC236}">
                <a16:creationId xmlns:a16="http://schemas.microsoft.com/office/drawing/2014/main" id="{FF19B7E3-8CDB-07EA-3A70-EE3B1E97C4AA}"/>
              </a:ext>
            </a:extLst>
          </p:cNvPr>
          <p:cNvSpPr/>
          <p:nvPr/>
        </p:nvSpPr>
        <p:spPr bwMode="gray">
          <a:xfrm>
            <a:off x="7025587" y="2718322"/>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5" name="TextBox 34">
            <a:extLst>
              <a:ext uri="{FF2B5EF4-FFF2-40B4-BE49-F238E27FC236}">
                <a16:creationId xmlns:a16="http://schemas.microsoft.com/office/drawing/2014/main" id="{32FE44E5-0158-9BA4-36AE-6F1D48451A4C}"/>
              </a:ext>
            </a:extLst>
          </p:cNvPr>
          <p:cNvSpPr txBox="1"/>
          <p:nvPr/>
        </p:nvSpPr>
        <p:spPr bwMode="gray">
          <a:xfrm>
            <a:off x="6701419" y="3103779"/>
            <a:ext cx="1371681" cy="659732"/>
          </a:xfrm>
          <a:prstGeom prst="rect">
            <a:avLst/>
          </a:prstGeom>
          <a:noFill/>
        </p:spPr>
        <p:txBody>
          <a:bodyPr wrap="square" lIns="0" tIns="0" rIns="0" bIns="0" rtlCol="0" anchor="t">
            <a:spAutoFit/>
          </a:bodyPr>
          <a:lstStyle/>
          <a:p>
            <a:pPr algn="l">
              <a:lnSpc>
                <a:spcPct val="140000"/>
              </a:lnSpc>
            </a:pPr>
            <a:r>
              <a:rPr lang="en-US" altLang="zh-CN" sz="1050" b="1" dirty="0"/>
              <a:t>Best case:</a:t>
            </a:r>
          </a:p>
          <a:p>
            <a:pPr algn="l">
              <a:lnSpc>
                <a:spcPct val="140000"/>
              </a:lnSpc>
            </a:pPr>
            <a:r>
              <a:rPr lang="en-US" altLang="zh-CN" sz="1050" b="1" dirty="0"/>
              <a:t>NDA Submission</a:t>
            </a:r>
          </a:p>
          <a:p>
            <a:pPr algn="l">
              <a:lnSpc>
                <a:spcPct val="140000"/>
              </a:lnSpc>
            </a:pPr>
            <a:r>
              <a:rPr lang="en-US" altLang="zh-CN" sz="1050" dirty="0">
                <a:solidFill>
                  <a:srgbClr val="052EFC"/>
                </a:solidFill>
              </a:rPr>
              <a:t>Dec 2027</a:t>
            </a:r>
            <a:endParaRPr lang="zh-CN" altLang="en-US" sz="1050" dirty="0">
              <a:solidFill>
                <a:srgbClr val="052EFC"/>
              </a:solidFill>
            </a:endParaRPr>
          </a:p>
        </p:txBody>
      </p:sp>
      <p:sp>
        <p:nvSpPr>
          <p:cNvPr id="5" name="Flowchart: Connector 4">
            <a:extLst>
              <a:ext uri="{FF2B5EF4-FFF2-40B4-BE49-F238E27FC236}">
                <a16:creationId xmlns:a16="http://schemas.microsoft.com/office/drawing/2014/main" id="{2771209D-CCF7-9608-0D6E-008A8E88D13C}"/>
              </a:ext>
            </a:extLst>
          </p:cNvPr>
          <p:cNvSpPr/>
          <p:nvPr/>
        </p:nvSpPr>
        <p:spPr bwMode="gray">
          <a:xfrm>
            <a:off x="8616369" y="2718321"/>
            <a:ext cx="226031" cy="233565"/>
          </a:xfrm>
          <a:prstGeom prst="flowChartConnector">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Flowchart: Connector 10">
            <a:extLst>
              <a:ext uri="{FF2B5EF4-FFF2-40B4-BE49-F238E27FC236}">
                <a16:creationId xmlns:a16="http://schemas.microsoft.com/office/drawing/2014/main" id="{E896B090-32ED-9CBB-F508-A06716CA1A9C}"/>
              </a:ext>
            </a:extLst>
          </p:cNvPr>
          <p:cNvSpPr/>
          <p:nvPr/>
        </p:nvSpPr>
        <p:spPr bwMode="gray">
          <a:xfrm>
            <a:off x="10155862" y="2698222"/>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TextBox 11">
            <a:extLst>
              <a:ext uri="{FF2B5EF4-FFF2-40B4-BE49-F238E27FC236}">
                <a16:creationId xmlns:a16="http://schemas.microsoft.com/office/drawing/2014/main" id="{BDDC7569-4EAD-2A3A-59BD-61F14B3C4D9B}"/>
              </a:ext>
            </a:extLst>
          </p:cNvPr>
          <p:cNvSpPr txBox="1"/>
          <p:nvPr/>
        </p:nvSpPr>
        <p:spPr bwMode="gray">
          <a:xfrm>
            <a:off x="9743205" y="3112479"/>
            <a:ext cx="1085757" cy="659732"/>
          </a:xfrm>
          <a:prstGeom prst="rect">
            <a:avLst/>
          </a:prstGeom>
          <a:noFill/>
        </p:spPr>
        <p:txBody>
          <a:bodyPr wrap="square" lIns="0" tIns="0" rIns="0" bIns="0" rtlCol="0">
            <a:spAutoFit/>
          </a:bodyPr>
          <a:lstStyle/>
          <a:p>
            <a:pPr algn="l">
              <a:lnSpc>
                <a:spcPct val="140000"/>
              </a:lnSpc>
            </a:pPr>
            <a:r>
              <a:rPr lang="en-US" altLang="zh-CN" sz="1050" b="1"/>
              <a:t>Best case NDA Approval</a:t>
            </a:r>
          </a:p>
          <a:p>
            <a:pPr algn="l">
              <a:lnSpc>
                <a:spcPct val="140000"/>
              </a:lnSpc>
            </a:pPr>
            <a:r>
              <a:rPr lang="en-US" altLang="zh-CN" sz="1050">
                <a:solidFill>
                  <a:srgbClr val="052EFC"/>
                </a:solidFill>
              </a:rPr>
              <a:t>Dec 2028</a:t>
            </a:r>
            <a:endParaRPr lang="zh-CN" altLang="en-US" sz="1050">
              <a:solidFill>
                <a:srgbClr val="052EFC"/>
              </a:solidFill>
            </a:endParaRPr>
          </a:p>
        </p:txBody>
      </p:sp>
      <p:sp>
        <p:nvSpPr>
          <p:cNvPr id="13" name="TextBox 12">
            <a:extLst>
              <a:ext uri="{FF2B5EF4-FFF2-40B4-BE49-F238E27FC236}">
                <a16:creationId xmlns:a16="http://schemas.microsoft.com/office/drawing/2014/main" id="{CBC7C5C4-338E-3677-B0E3-40F01E2EFCC4}"/>
              </a:ext>
            </a:extLst>
          </p:cNvPr>
          <p:cNvSpPr txBox="1"/>
          <p:nvPr/>
        </p:nvSpPr>
        <p:spPr bwMode="gray">
          <a:xfrm>
            <a:off x="8322399" y="3105960"/>
            <a:ext cx="1078455" cy="659732"/>
          </a:xfrm>
          <a:prstGeom prst="rect">
            <a:avLst/>
          </a:prstGeom>
          <a:noFill/>
        </p:spPr>
        <p:txBody>
          <a:bodyPr wrap="square" lIns="0" tIns="0" rIns="0" bIns="0" rtlCol="0">
            <a:spAutoFit/>
          </a:bodyPr>
          <a:lstStyle/>
          <a:p>
            <a:pPr>
              <a:lnSpc>
                <a:spcPct val="140000"/>
              </a:lnSpc>
            </a:pPr>
            <a:r>
              <a:rPr lang="en-US" altLang="zh-CN" sz="1050" b="1" dirty="0">
                <a:solidFill>
                  <a:srgbClr val="FF0000"/>
                </a:solidFill>
              </a:rPr>
              <a:t>Accelerated:</a:t>
            </a:r>
          </a:p>
          <a:p>
            <a:pPr algn="l">
              <a:lnSpc>
                <a:spcPct val="140000"/>
              </a:lnSpc>
            </a:pPr>
            <a:r>
              <a:rPr lang="en-US" altLang="zh-CN" sz="1050" b="1" dirty="0">
                <a:solidFill>
                  <a:srgbClr val="FF0000"/>
                </a:solidFill>
              </a:rPr>
              <a:t>NDA Approval</a:t>
            </a:r>
          </a:p>
          <a:p>
            <a:pPr algn="l">
              <a:lnSpc>
                <a:spcPct val="140000"/>
              </a:lnSpc>
            </a:pPr>
            <a:r>
              <a:rPr lang="en-US" altLang="zh-CN" sz="1050" dirty="0">
                <a:solidFill>
                  <a:srgbClr val="FF0000"/>
                </a:solidFill>
              </a:rPr>
              <a:t>June 2028</a:t>
            </a:r>
            <a:endParaRPr lang="zh-CN" altLang="en-US" sz="1050" dirty="0">
              <a:solidFill>
                <a:srgbClr val="FF0000"/>
              </a:solidFill>
            </a:endParaRPr>
          </a:p>
        </p:txBody>
      </p:sp>
      <p:sp>
        <p:nvSpPr>
          <p:cNvPr id="30" name="Rectangle: Rounded Corners 29">
            <a:extLst>
              <a:ext uri="{FF2B5EF4-FFF2-40B4-BE49-F238E27FC236}">
                <a16:creationId xmlns:a16="http://schemas.microsoft.com/office/drawing/2014/main" id="{E18C6551-375E-217E-1DB9-8A87265EA9C1}"/>
              </a:ext>
            </a:extLst>
          </p:cNvPr>
          <p:cNvSpPr/>
          <p:nvPr/>
        </p:nvSpPr>
        <p:spPr bwMode="gray">
          <a:xfrm>
            <a:off x="5096048" y="3010813"/>
            <a:ext cx="1371681" cy="844898"/>
          </a:xfrm>
          <a:prstGeom prst="round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400">
              <a:solidFill>
                <a:schemeClr val="tx1"/>
              </a:solidFill>
            </a:endParaRPr>
          </a:p>
        </p:txBody>
      </p:sp>
      <p:sp>
        <p:nvSpPr>
          <p:cNvPr id="32" name="Rectangle: Rounded Corners 31">
            <a:extLst>
              <a:ext uri="{FF2B5EF4-FFF2-40B4-BE49-F238E27FC236}">
                <a16:creationId xmlns:a16="http://schemas.microsoft.com/office/drawing/2014/main" id="{140879D5-7569-5E4D-D861-1F62ADAC031E}"/>
              </a:ext>
            </a:extLst>
          </p:cNvPr>
          <p:cNvSpPr/>
          <p:nvPr/>
        </p:nvSpPr>
        <p:spPr bwMode="gray">
          <a:xfrm>
            <a:off x="8165567" y="3058683"/>
            <a:ext cx="1235288" cy="797028"/>
          </a:xfrm>
          <a:prstGeom prst="round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3" name="Rectangle: Rounded Corners 32">
            <a:extLst>
              <a:ext uri="{FF2B5EF4-FFF2-40B4-BE49-F238E27FC236}">
                <a16:creationId xmlns:a16="http://schemas.microsoft.com/office/drawing/2014/main" id="{059B9383-EBC8-CD35-1438-B7BA6470D10E}"/>
              </a:ext>
            </a:extLst>
          </p:cNvPr>
          <p:cNvSpPr/>
          <p:nvPr/>
        </p:nvSpPr>
        <p:spPr bwMode="gray">
          <a:xfrm>
            <a:off x="6591614" y="3010813"/>
            <a:ext cx="1337059" cy="844898"/>
          </a:xfrm>
          <a:prstGeom prst="roundRect">
            <a:avLst/>
          </a:prstGeom>
          <a:noFill/>
          <a:ln w="6350">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6" name="Rectangle: Rounded Corners 35">
            <a:extLst>
              <a:ext uri="{FF2B5EF4-FFF2-40B4-BE49-F238E27FC236}">
                <a16:creationId xmlns:a16="http://schemas.microsoft.com/office/drawing/2014/main" id="{DB5B2D97-9070-0D36-0697-D726D8F4A830}"/>
              </a:ext>
            </a:extLst>
          </p:cNvPr>
          <p:cNvSpPr/>
          <p:nvPr/>
        </p:nvSpPr>
        <p:spPr bwMode="gray">
          <a:xfrm>
            <a:off x="9649379" y="3047949"/>
            <a:ext cx="1179584" cy="844898"/>
          </a:xfrm>
          <a:prstGeom prst="roundRect">
            <a:avLst/>
          </a:prstGeom>
          <a:noFill/>
          <a:ln w="6350">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TextBox 3">
            <a:extLst>
              <a:ext uri="{FF2B5EF4-FFF2-40B4-BE49-F238E27FC236}">
                <a16:creationId xmlns:a16="http://schemas.microsoft.com/office/drawing/2014/main" id="{4EAE7967-00B2-D30E-3D95-7A941B4898E8}"/>
              </a:ext>
            </a:extLst>
          </p:cNvPr>
          <p:cNvSpPr txBox="1"/>
          <p:nvPr/>
        </p:nvSpPr>
        <p:spPr bwMode="gray">
          <a:xfrm>
            <a:off x="5072390" y="2411361"/>
            <a:ext cx="1350905" cy="276422"/>
          </a:xfrm>
          <a:prstGeom prst="rect">
            <a:avLst/>
          </a:prstGeom>
          <a:noFill/>
        </p:spPr>
        <p:txBody>
          <a:bodyPr wrap="square" lIns="0" tIns="0" rIns="0" bIns="0" rtlCol="0">
            <a:spAutoFit/>
          </a:bodyPr>
          <a:lstStyle/>
          <a:p>
            <a:pPr algn="l">
              <a:lnSpc>
                <a:spcPct val="140000"/>
              </a:lnSpc>
            </a:pPr>
            <a:r>
              <a:rPr lang="en-US" altLang="zh-CN" sz="1400" b="1"/>
              <a:t>Oct 29, 2027</a:t>
            </a:r>
            <a:endParaRPr lang="zh-CN" altLang="en-US" sz="1400" b="1"/>
          </a:p>
        </p:txBody>
      </p:sp>
      <p:sp>
        <p:nvSpPr>
          <p:cNvPr id="17" name="TextBox 16">
            <a:extLst>
              <a:ext uri="{FF2B5EF4-FFF2-40B4-BE49-F238E27FC236}">
                <a16:creationId xmlns:a16="http://schemas.microsoft.com/office/drawing/2014/main" id="{C68CCB6E-ACE5-A99C-B299-EF61356BCC2C}"/>
              </a:ext>
            </a:extLst>
          </p:cNvPr>
          <p:cNvSpPr txBox="1"/>
          <p:nvPr/>
        </p:nvSpPr>
        <p:spPr bwMode="gray">
          <a:xfrm>
            <a:off x="5659434" y="4436373"/>
            <a:ext cx="1167986" cy="659732"/>
          </a:xfrm>
          <a:prstGeom prst="rect">
            <a:avLst/>
          </a:prstGeom>
          <a:noFill/>
        </p:spPr>
        <p:txBody>
          <a:bodyPr wrap="square" lIns="0" tIns="0" rIns="0" bIns="0" rtlCol="0">
            <a:spAutoFit/>
          </a:bodyPr>
          <a:lstStyle/>
          <a:p>
            <a:pPr algn="l">
              <a:lnSpc>
                <a:spcPct val="140000"/>
              </a:lnSpc>
            </a:pPr>
            <a:r>
              <a:rPr lang="en-US" altLang="zh-CN" sz="1050" b="1"/>
              <a:t>China</a:t>
            </a:r>
            <a:r>
              <a:rPr lang="en-US" altLang="zh-CN" sz="1050"/>
              <a:t> submission</a:t>
            </a:r>
          </a:p>
          <a:p>
            <a:pPr algn="l">
              <a:lnSpc>
                <a:spcPct val="140000"/>
              </a:lnSpc>
            </a:pPr>
            <a:r>
              <a:rPr lang="en-US" altLang="zh-CN" sz="1050" b="1"/>
              <a:t>US</a:t>
            </a:r>
            <a:r>
              <a:rPr lang="en-US" altLang="zh-CN" sz="1050"/>
              <a:t> submission</a:t>
            </a:r>
          </a:p>
          <a:p>
            <a:pPr algn="l">
              <a:lnSpc>
                <a:spcPct val="140000"/>
              </a:lnSpc>
            </a:pPr>
            <a:r>
              <a:rPr lang="en-US" altLang="zh-CN" sz="1050" b="1"/>
              <a:t>EU</a:t>
            </a:r>
            <a:r>
              <a:rPr lang="en-US" altLang="zh-CN" sz="1050"/>
              <a:t> submission</a:t>
            </a:r>
            <a:endParaRPr lang="zh-CN" altLang="en-US" sz="1050"/>
          </a:p>
        </p:txBody>
      </p:sp>
      <p:sp>
        <p:nvSpPr>
          <p:cNvPr id="18" name="Rectangle: Rounded Corners 17">
            <a:extLst>
              <a:ext uri="{FF2B5EF4-FFF2-40B4-BE49-F238E27FC236}">
                <a16:creationId xmlns:a16="http://schemas.microsoft.com/office/drawing/2014/main" id="{559E6697-6859-BDD0-65D9-78601FE87767}"/>
              </a:ext>
            </a:extLst>
          </p:cNvPr>
          <p:cNvSpPr/>
          <p:nvPr/>
        </p:nvSpPr>
        <p:spPr bwMode="gray">
          <a:xfrm>
            <a:off x="5521812" y="4359419"/>
            <a:ext cx="1371680" cy="753989"/>
          </a:xfrm>
          <a:prstGeom prst="round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29" name="Connector: Elbow 28">
            <a:extLst>
              <a:ext uri="{FF2B5EF4-FFF2-40B4-BE49-F238E27FC236}">
                <a16:creationId xmlns:a16="http://schemas.microsoft.com/office/drawing/2014/main" id="{66F1D6CB-57DA-635D-4C4B-13EE87304C96}"/>
              </a:ext>
            </a:extLst>
          </p:cNvPr>
          <p:cNvCxnSpPr>
            <a:cxnSpLocks/>
            <a:stCxn id="30" idx="2"/>
            <a:endCxn id="18" idx="1"/>
          </p:cNvCxnSpPr>
          <p:nvPr/>
        </p:nvCxnSpPr>
        <p:spPr bwMode="gray">
          <a:xfrm rot="5400000">
            <a:off x="5211500" y="4166024"/>
            <a:ext cx="880703" cy="260077"/>
          </a:xfrm>
          <a:prstGeom prst="bentConnector4">
            <a:avLst>
              <a:gd name="adj1" fmla="val 28597"/>
              <a:gd name="adj2" fmla="val 187897"/>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C16A11FC-38C9-F853-E180-AAC24DEE2AC9}"/>
              </a:ext>
            </a:extLst>
          </p:cNvPr>
          <p:cNvSpPr/>
          <p:nvPr/>
        </p:nvSpPr>
        <p:spPr bwMode="gray">
          <a:xfrm>
            <a:off x="118085" y="878071"/>
            <a:ext cx="12073915" cy="544657"/>
          </a:xfrm>
          <a:prstGeom prst="roundRect">
            <a:avLst/>
          </a:prstGeom>
          <a:noFill/>
          <a:ln w="63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40000"/>
              </a:lnSpc>
            </a:pPr>
            <a:r>
              <a:rPr lang="en-US" altLang="zh-CN" sz="1600" b="1">
                <a:solidFill>
                  <a:schemeClr val="tx1">
                    <a:lumMod val="50000"/>
                    <a:lumOff val="50000"/>
                  </a:schemeClr>
                </a:solidFill>
              </a:rPr>
              <a:t>Aiming for NRDL Negotiation in 2028 (same cycle with HSK31858 which is estimated to be approved Q1 2028 or earlier in Q4 2027</a:t>
            </a:r>
            <a:endParaRPr lang="zh-CN" altLang="en-US" sz="1600">
              <a:solidFill>
                <a:schemeClr val="tx1">
                  <a:lumMod val="50000"/>
                  <a:lumOff val="50000"/>
                </a:schemeClr>
              </a:solidFill>
            </a:endParaRPr>
          </a:p>
        </p:txBody>
      </p:sp>
      <p:sp>
        <p:nvSpPr>
          <p:cNvPr id="47" name="TextBox 46">
            <a:extLst>
              <a:ext uri="{FF2B5EF4-FFF2-40B4-BE49-F238E27FC236}">
                <a16:creationId xmlns:a16="http://schemas.microsoft.com/office/drawing/2014/main" id="{ED7C8A94-0628-D5B6-54C7-E38A1E1809CE}"/>
              </a:ext>
            </a:extLst>
          </p:cNvPr>
          <p:cNvSpPr txBox="1"/>
          <p:nvPr/>
        </p:nvSpPr>
        <p:spPr bwMode="gray">
          <a:xfrm>
            <a:off x="438991" y="5388031"/>
            <a:ext cx="8327940" cy="830997"/>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US" altLang="zh-CN" sz="1200" dirty="0"/>
              <a:t>NDA submission in Oct 2027 is a shared goal for US/EU, and China.</a:t>
            </a:r>
          </a:p>
          <a:p>
            <a:pPr marL="285750" indent="-285750">
              <a:buFont typeface="Arial" panose="020B0604020202020204" pitchFamily="34" charset="0"/>
              <a:buChar char="•"/>
            </a:pPr>
            <a:r>
              <a:rPr lang="en-US" altLang="zh-CN" sz="1200" dirty="0"/>
              <a:t>The evaluation was well aligned with global clinical development team (evidence team).</a:t>
            </a:r>
          </a:p>
          <a:p>
            <a:r>
              <a:rPr lang="en-US" altLang="zh-CN" sz="1200" dirty="0"/>
              <a:t>*        BTD is just to try with low </a:t>
            </a:r>
            <a:r>
              <a:rPr lang="en-US" altLang="zh-CN" sz="1200" dirty="0" err="1"/>
              <a:t>PoS</a:t>
            </a:r>
            <a:r>
              <a:rPr lang="en-US" altLang="zh-CN" sz="1200" dirty="0"/>
              <a:t> given CDE did not supported in End of PhII interaction.</a:t>
            </a:r>
          </a:p>
          <a:p>
            <a:endParaRPr lang="en-US" altLang="zh-CN" sz="1200" dirty="0"/>
          </a:p>
        </p:txBody>
      </p:sp>
      <p:sp>
        <p:nvSpPr>
          <p:cNvPr id="52" name="Footer Placeholder 51">
            <a:extLst>
              <a:ext uri="{FF2B5EF4-FFF2-40B4-BE49-F238E27FC236}">
                <a16:creationId xmlns:a16="http://schemas.microsoft.com/office/drawing/2014/main" id="{67BF1690-C222-85C0-86B5-F12328EDBF4B}"/>
              </a:ext>
            </a:extLst>
          </p:cNvPr>
          <p:cNvSpPr>
            <a:spLocks noGrp="1"/>
          </p:cNvSpPr>
          <p:nvPr>
            <p:ph type="ftr" sz="quarter" idx="19"/>
          </p:nvPr>
        </p:nvSpPr>
        <p:spPr>
          <a:xfrm>
            <a:off x="6467729" y="6346349"/>
            <a:ext cx="5040560" cy="288000"/>
          </a:xfrm>
        </p:spPr>
        <p:txBody>
          <a:bodyPr/>
          <a:lstStyle/>
          <a:p>
            <a:r>
              <a:rPr lang="en-US"/>
              <a:t>Separate topic for verducatib - 2026 Apr PEC</a:t>
            </a:r>
          </a:p>
        </p:txBody>
      </p:sp>
      <p:sp>
        <p:nvSpPr>
          <p:cNvPr id="15" name="Rectangle: Rounded Corners 14">
            <a:extLst>
              <a:ext uri="{FF2B5EF4-FFF2-40B4-BE49-F238E27FC236}">
                <a16:creationId xmlns:a16="http://schemas.microsoft.com/office/drawing/2014/main" id="{6B883252-A267-6A35-6992-CAF0E55B0CA7}"/>
              </a:ext>
            </a:extLst>
          </p:cNvPr>
          <p:cNvSpPr/>
          <p:nvPr/>
        </p:nvSpPr>
        <p:spPr bwMode="gray">
          <a:xfrm>
            <a:off x="7719295" y="1771188"/>
            <a:ext cx="1998327" cy="627511"/>
          </a:xfrm>
          <a:prstGeom prst="roundRect">
            <a:avLst/>
          </a:prstGeom>
          <a:solidFill>
            <a:schemeClr val="bg1"/>
          </a:solidFill>
          <a:ln w="127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050" b="1">
                <a:solidFill>
                  <a:schemeClr val="tx1"/>
                </a:solidFill>
              </a:rPr>
              <a:t>Pre-requisite for 2028 NRDL Negotiation</a:t>
            </a:r>
            <a:endParaRPr lang="zh-CN" altLang="en-US" sz="1050" b="1">
              <a:solidFill>
                <a:schemeClr val="tx1"/>
              </a:solidFill>
            </a:endParaRPr>
          </a:p>
        </p:txBody>
      </p:sp>
      <p:cxnSp>
        <p:nvCxnSpPr>
          <p:cNvPr id="19" name="Straight Arrow Connector 18">
            <a:extLst>
              <a:ext uri="{FF2B5EF4-FFF2-40B4-BE49-F238E27FC236}">
                <a16:creationId xmlns:a16="http://schemas.microsoft.com/office/drawing/2014/main" id="{CB1156F6-4E62-96E2-5134-C097F26ED45E}"/>
              </a:ext>
            </a:extLst>
          </p:cNvPr>
          <p:cNvCxnSpPr>
            <a:stCxn id="5" idx="0"/>
            <a:endCxn id="15" idx="2"/>
          </p:cNvCxnSpPr>
          <p:nvPr/>
        </p:nvCxnSpPr>
        <p:spPr bwMode="gray">
          <a:xfrm flipH="1" flipV="1">
            <a:off x="8718459" y="2398699"/>
            <a:ext cx="10926" cy="31962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C230A35-16A0-F68F-0AB2-AD630EA80F85}"/>
              </a:ext>
            </a:extLst>
          </p:cNvPr>
          <p:cNvSpPr txBox="1"/>
          <p:nvPr/>
        </p:nvSpPr>
        <p:spPr bwMode="gray">
          <a:xfrm>
            <a:off x="11127405" y="3106557"/>
            <a:ext cx="1023499" cy="659732"/>
          </a:xfrm>
          <a:prstGeom prst="rect">
            <a:avLst/>
          </a:prstGeom>
          <a:noFill/>
        </p:spPr>
        <p:txBody>
          <a:bodyPr wrap="square" lIns="0" tIns="0" rIns="0" bIns="0" rtlCol="0">
            <a:spAutoFit/>
          </a:bodyPr>
          <a:lstStyle/>
          <a:p>
            <a:pPr algn="l">
              <a:lnSpc>
                <a:spcPct val="140000"/>
              </a:lnSpc>
            </a:pPr>
            <a:r>
              <a:rPr lang="en-US" altLang="zh-CN" sz="1050" b="1"/>
              <a:t>Base case NDA Approval</a:t>
            </a:r>
          </a:p>
          <a:p>
            <a:pPr algn="l">
              <a:lnSpc>
                <a:spcPct val="140000"/>
              </a:lnSpc>
            </a:pPr>
            <a:r>
              <a:rPr lang="en-US" altLang="zh-CN" sz="1050">
                <a:solidFill>
                  <a:srgbClr val="052EFC"/>
                </a:solidFill>
              </a:rPr>
              <a:t>June 2029</a:t>
            </a:r>
            <a:endParaRPr lang="zh-CN" altLang="en-US" sz="1050">
              <a:solidFill>
                <a:srgbClr val="052EFC"/>
              </a:solidFill>
            </a:endParaRPr>
          </a:p>
        </p:txBody>
      </p:sp>
      <p:sp>
        <p:nvSpPr>
          <p:cNvPr id="38" name="Rectangle: Rounded Corners 37">
            <a:extLst>
              <a:ext uri="{FF2B5EF4-FFF2-40B4-BE49-F238E27FC236}">
                <a16:creationId xmlns:a16="http://schemas.microsoft.com/office/drawing/2014/main" id="{8437C756-39F9-513B-23C8-5E28F6E78F65}"/>
              </a:ext>
            </a:extLst>
          </p:cNvPr>
          <p:cNvSpPr/>
          <p:nvPr/>
        </p:nvSpPr>
        <p:spPr bwMode="gray">
          <a:xfrm>
            <a:off x="11033577" y="3056569"/>
            <a:ext cx="1117327" cy="844898"/>
          </a:xfrm>
          <a:prstGeom prst="roundRect">
            <a:avLst/>
          </a:prstGeom>
          <a:noFill/>
          <a:ln w="6350">
            <a:solidFill>
              <a:schemeClr val="tx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0" name="Flowchart: Connector 39">
            <a:extLst>
              <a:ext uri="{FF2B5EF4-FFF2-40B4-BE49-F238E27FC236}">
                <a16:creationId xmlns:a16="http://schemas.microsoft.com/office/drawing/2014/main" id="{C1BCAF47-5BA2-3186-A8B0-B64A299D8592}"/>
              </a:ext>
            </a:extLst>
          </p:cNvPr>
          <p:cNvSpPr/>
          <p:nvPr/>
        </p:nvSpPr>
        <p:spPr bwMode="gray">
          <a:xfrm>
            <a:off x="11484895" y="2707665"/>
            <a:ext cx="226031" cy="233565"/>
          </a:xfrm>
          <a:prstGeom prst="flowChartConnector">
            <a:avLst/>
          </a:prstGeom>
          <a:solidFill>
            <a:schemeClr val="accent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48" name="Graphic 47" descr="Golf Flag In Hole with solid fill">
            <a:extLst>
              <a:ext uri="{FF2B5EF4-FFF2-40B4-BE49-F238E27FC236}">
                <a16:creationId xmlns:a16="http://schemas.microsoft.com/office/drawing/2014/main" id="{AA2FD63D-C607-E37D-88A4-C820557DEA1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0391" y="1809668"/>
            <a:ext cx="578086" cy="578086"/>
          </a:xfrm>
          <a:prstGeom prst="rect">
            <a:avLst/>
          </a:prstGeom>
        </p:spPr>
      </p:pic>
      <p:sp>
        <p:nvSpPr>
          <p:cNvPr id="3" name="文本框 2">
            <a:extLst>
              <a:ext uri="{FF2B5EF4-FFF2-40B4-BE49-F238E27FC236}">
                <a16:creationId xmlns:a16="http://schemas.microsoft.com/office/drawing/2014/main" id="{192614D3-5827-6C90-493E-19E90224BED2}"/>
              </a:ext>
            </a:extLst>
          </p:cNvPr>
          <p:cNvSpPr txBox="1"/>
          <p:nvPr/>
        </p:nvSpPr>
        <p:spPr bwMode="gray">
          <a:xfrm>
            <a:off x="9191049" y="4362997"/>
            <a:ext cx="5706940" cy="1920975"/>
          </a:xfrm>
          <a:prstGeom prst="rect">
            <a:avLst/>
          </a:prstGeom>
          <a:noFill/>
        </p:spPr>
        <p:txBody>
          <a:bodyPr wrap="square" lIns="0" tIns="0" rIns="0" bIns="0" rtlCol="0">
            <a:spAutoFit/>
          </a:bodyPr>
          <a:lstStyle/>
          <a:p>
            <a:pPr>
              <a:lnSpc>
                <a:spcPct val="140000"/>
              </a:lnSpc>
            </a:pPr>
            <a:r>
              <a:rPr lang="en-US" altLang="zh-CN" sz="1000" dirty="0"/>
              <a:t>Abbreviation:</a:t>
            </a:r>
          </a:p>
          <a:p>
            <a:pPr marL="180000" indent="-180000">
              <a:lnSpc>
                <a:spcPct val="140000"/>
              </a:lnSpc>
              <a:buFont typeface="Arial" panose="020B0604020202020204" pitchFamily="34" charset="0"/>
              <a:buChar char="•"/>
            </a:pPr>
            <a:r>
              <a:rPr lang="en-US" altLang="zh-CN" sz="1000" dirty="0"/>
              <a:t>NDA: New Drug Application</a:t>
            </a:r>
          </a:p>
          <a:p>
            <a:pPr marL="180000" indent="-180000">
              <a:lnSpc>
                <a:spcPct val="140000"/>
              </a:lnSpc>
              <a:buFont typeface="Arial" panose="020B0604020202020204" pitchFamily="34" charset="0"/>
              <a:buChar char="•"/>
            </a:pPr>
            <a:r>
              <a:rPr lang="en-US" altLang="zh-CN" sz="1000" dirty="0"/>
              <a:t>NRDL: National Reimbursement Drug List</a:t>
            </a:r>
          </a:p>
          <a:p>
            <a:pPr marL="180000" indent="-180000" algn="l">
              <a:lnSpc>
                <a:spcPct val="140000"/>
              </a:lnSpc>
              <a:buFont typeface="Arial" panose="020B0604020202020204" pitchFamily="34" charset="0"/>
              <a:buChar char="•"/>
            </a:pPr>
            <a:r>
              <a:rPr lang="en-US" altLang="zh-CN" sz="1000" dirty="0"/>
              <a:t>DBL: Database lock</a:t>
            </a:r>
          </a:p>
          <a:p>
            <a:pPr marL="180000" indent="-180000" algn="l">
              <a:lnSpc>
                <a:spcPct val="140000"/>
              </a:lnSpc>
              <a:buFont typeface="Arial" panose="020B0604020202020204" pitchFamily="34" charset="0"/>
              <a:buChar char="•"/>
            </a:pPr>
            <a:r>
              <a:rPr lang="en-US" altLang="zh-CN" sz="1000" dirty="0" err="1"/>
              <a:t>TLR:Top-Line</a:t>
            </a:r>
            <a:r>
              <a:rPr lang="en-US" altLang="zh-CN" sz="1000" dirty="0"/>
              <a:t> Results</a:t>
            </a:r>
          </a:p>
          <a:p>
            <a:pPr marL="180000" indent="-180000" algn="l">
              <a:lnSpc>
                <a:spcPct val="140000"/>
              </a:lnSpc>
              <a:buFont typeface="Arial" panose="020B0604020202020204" pitchFamily="34" charset="0"/>
              <a:buChar char="•"/>
            </a:pPr>
            <a:r>
              <a:rPr lang="en-US" altLang="zh-CN" sz="1000" dirty="0" err="1"/>
              <a:t>BTD:Breakthrough</a:t>
            </a:r>
            <a:r>
              <a:rPr lang="en-US" altLang="zh-CN" sz="1000" dirty="0"/>
              <a:t> Therapy Designation</a:t>
            </a:r>
          </a:p>
          <a:p>
            <a:pPr marL="180000" indent="-180000">
              <a:lnSpc>
                <a:spcPct val="140000"/>
              </a:lnSpc>
              <a:buFont typeface="Arial" panose="020B0604020202020204" pitchFamily="34" charset="0"/>
              <a:buChar char="•"/>
            </a:pPr>
            <a:r>
              <a:rPr lang="en-US" altLang="zh-CN" sz="1000" dirty="0"/>
              <a:t>PR: Priority Review</a:t>
            </a:r>
          </a:p>
          <a:p>
            <a:pPr marL="180000" indent="-180000">
              <a:lnSpc>
                <a:spcPct val="140000"/>
              </a:lnSpc>
              <a:buFont typeface="Arial" panose="020B0604020202020204" pitchFamily="34" charset="0"/>
              <a:buChar char="•"/>
            </a:pPr>
            <a:r>
              <a:rPr lang="en-US" altLang="zh-CN" sz="1000" dirty="0" err="1"/>
              <a:t>PoS</a:t>
            </a:r>
            <a:r>
              <a:rPr lang="en-US" altLang="zh-CN" sz="1000" dirty="0"/>
              <a:t>: Probability of Success</a:t>
            </a:r>
          </a:p>
          <a:p>
            <a:pPr marL="180000" indent="-180000" algn="l">
              <a:lnSpc>
                <a:spcPct val="140000"/>
              </a:lnSpc>
              <a:buFont typeface="Arial" panose="020B0604020202020204" pitchFamily="34" charset="0"/>
              <a:buChar char="•"/>
            </a:pPr>
            <a:r>
              <a:rPr lang="en-US" altLang="zh-CN" sz="1000" dirty="0" err="1"/>
              <a:t>CDE:Center</a:t>
            </a:r>
            <a:r>
              <a:rPr lang="en-US" altLang="zh-CN" sz="1000" dirty="0"/>
              <a:t> for Drug Evaluation</a:t>
            </a:r>
          </a:p>
        </p:txBody>
      </p:sp>
    </p:spTree>
    <p:extLst>
      <p:ext uri="{BB962C8B-B14F-4D97-AF65-F5344CB8AC3E}">
        <p14:creationId xmlns:p14="http://schemas.microsoft.com/office/powerpoint/2010/main" val="2461504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A8336-7CB8-DC05-EF09-BF6A5D941A52}"/>
              </a:ext>
            </a:extLst>
          </p:cNvPr>
          <p:cNvSpPr>
            <a:spLocks noGrp="1"/>
          </p:cNvSpPr>
          <p:nvPr>
            <p:ph type="title"/>
          </p:nvPr>
        </p:nvSpPr>
        <p:spPr/>
        <p:txBody>
          <a:bodyPr/>
          <a:lstStyle/>
          <a:p>
            <a:r>
              <a:rPr lang="en-US" altLang="zh-CN" dirty="0"/>
              <a:t>NDA approval by June 2028 is team shared goal, while the possibility is low</a:t>
            </a:r>
            <a:endParaRPr lang="zh-CN" altLang="en-US" dirty="0"/>
          </a:p>
        </p:txBody>
      </p:sp>
      <p:sp>
        <p:nvSpPr>
          <p:cNvPr id="3" name="Content Placeholder 2">
            <a:extLst>
              <a:ext uri="{FF2B5EF4-FFF2-40B4-BE49-F238E27FC236}">
                <a16:creationId xmlns:a16="http://schemas.microsoft.com/office/drawing/2014/main" id="{BA66C484-7527-BBC0-7EBB-88970F4B6CF2}"/>
              </a:ext>
            </a:extLst>
          </p:cNvPr>
          <p:cNvSpPr>
            <a:spLocks noGrp="1"/>
          </p:cNvSpPr>
          <p:nvPr>
            <p:ph idx="1"/>
          </p:nvPr>
        </p:nvSpPr>
        <p:spPr>
          <a:xfrm>
            <a:off x="479424" y="985492"/>
            <a:ext cx="11233151" cy="4392000"/>
          </a:xfrm>
        </p:spPr>
        <p:txBody>
          <a:bodyPr vert="horz" lIns="0" tIns="0" rIns="0" bIns="0" rtlCol="0" anchor="t">
            <a:noAutofit/>
          </a:bodyPr>
          <a:lstStyle/>
          <a:p>
            <a:pPr marL="215900" indent="-215900"/>
            <a:r>
              <a:rPr lang="en-US" altLang="zh-CN" dirty="0"/>
              <a:t>China original NDA submission timeline is in Dec 2027. Submission by Oct 2027 (2 months acceleration) is possible mainly driven by global submission dossier ready, which leads to the best approval in Oct 2028 if priority review (PR)  is granted (Boehringer benchmark in HPBU time tracker is 12 month).</a:t>
            </a:r>
            <a:endParaRPr lang="zh-CN" altLang="en-US" dirty="0"/>
          </a:p>
          <a:p>
            <a:pPr marL="215900" indent="-215900"/>
            <a:r>
              <a:rPr lang="en-US" altLang="zh-CN" dirty="0"/>
              <a:t>Health Authority review timeline is significantly shorter than </a:t>
            </a:r>
            <a:r>
              <a:rPr lang="en-US" dirty="0"/>
              <a:t>Boehringer benchmark in HPBU time tracker</a:t>
            </a:r>
            <a:r>
              <a:rPr lang="en-US" altLang="zh-CN" dirty="0"/>
              <a:t>(8 vs 12 months) if the target is to approve by Jun 2028 with PR granted.</a:t>
            </a:r>
          </a:p>
          <a:p>
            <a:r>
              <a:rPr lang="en-US" altLang="zh-CN" dirty="0"/>
              <a:t>Possibility of PR is medium as assessed.</a:t>
            </a:r>
          </a:p>
          <a:p>
            <a:pPr marL="0" indent="0">
              <a:buNone/>
            </a:pPr>
            <a:endParaRPr lang="en-US" altLang="zh-CN" dirty="0"/>
          </a:p>
          <a:p>
            <a:pPr marL="0" indent="0">
              <a:buNone/>
            </a:pPr>
            <a:endParaRPr lang="en-US" altLang="zh-CN" dirty="0"/>
          </a:p>
        </p:txBody>
      </p:sp>
      <p:sp>
        <p:nvSpPr>
          <p:cNvPr id="5" name="Footer Placeholder 4">
            <a:extLst>
              <a:ext uri="{FF2B5EF4-FFF2-40B4-BE49-F238E27FC236}">
                <a16:creationId xmlns:a16="http://schemas.microsoft.com/office/drawing/2014/main" id="{71FE3B49-2926-0F4F-8DB1-8725BD835F4B}"/>
              </a:ext>
            </a:extLst>
          </p:cNvPr>
          <p:cNvSpPr>
            <a:spLocks noGrp="1"/>
          </p:cNvSpPr>
          <p:nvPr>
            <p:ph type="ftr" sz="quarter" idx="19"/>
          </p:nvPr>
        </p:nvSpPr>
        <p:spPr/>
        <p:txBody>
          <a:bodyPr/>
          <a:lstStyle/>
          <a:p>
            <a:r>
              <a:rPr lang="en-US"/>
              <a:t>Separate topic for </a:t>
            </a:r>
            <a:r>
              <a:rPr lang="en-US" err="1"/>
              <a:t>verducatib</a:t>
            </a:r>
            <a:r>
              <a:rPr lang="en-US"/>
              <a:t> - 2026 Apr PEC</a:t>
            </a:r>
          </a:p>
        </p:txBody>
      </p:sp>
      <p:pic>
        <p:nvPicPr>
          <p:cNvPr id="8" name="图片 7">
            <a:extLst>
              <a:ext uri="{FF2B5EF4-FFF2-40B4-BE49-F238E27FC236}">
                <a16:creationId xmlns:a16="http://schemas.microsoft.com/office/drawing/2014/main" id="{1D16AABF-07F8-3174-E94B-BF84D9408752}"/>
              </a:ext>
            </a:extLst>
          </p:cNvPr>
          <p:cNvPicPr>
            <a:picLocks noChangeAspect="1"/>
          </p:cNvPicPr>
          <p:nvPr/>
        </p:nvPicPr>
        <p:blipFill>
          <a:blip r:embed="rId3"/>
          <a:stretch>
            <a:fillRect/>
          </a:stretch>
        </p:blipFill>
        <p:spPr>
          <a:xfrm>
            <a:off x="555292" y="3181492"/>
            <a:ext cx="8494338" cy="2994678"/>
          </a:xfrm>
          <a:prstGeom prst="rect">
            <a:avLst/>
          </a:prstGeom>
        </p:spPr>
      </p:pic>
    </p:spTree>
    <p:extLst>
      <p:ext uri="{BB962C8B-B14F-4D97-AF65-F5344CB8AC3E}">
        <p14:creationId xmlns:p14="http://schemas.microsoft.com/office/powerpoint/2010/main" val="523017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C50708-8E1F-897A-1553-35E6C37CEFC7}"/>
              </a:ext>
            </a:extLst>
          </p:cNvPr>
          <p:cNvSpPr>
            <a:spLocks noGrp="1"/>
          </p:cNvSpPr>
          <p:nvPr>
            <p:ph type="title"/>
          </p:nvPr>
        </p:nvSpPr>
        <p:spPr/>
        <p:txBody>
          <a:bodyPr/>
          <a:lstStyle/>
          <a:p>
            <a:r>
              <a:rPr lang="en-US" altLang="zh-CN" dirty="0"/>
              <a:t>Driving Acceleration Through Proactive Action</a:t>
            </a:r>
            <a:endParaRPr lang="zh-CN" altLang="en-US" dirty="0"/>
          </a:p>
        </p:txBody>
      </p:sp>
      <p:sp>
        <p:nvSpPr>
          <p:cNvPr id="3" name="内容占位符 2">
            <a:extLst>
              <a:ext uri="{FF2B5EF4-FFF2-40B4-BE49-F238E27FC236}">
                <a16:creationId xmlns:a16="http://schemas.microsoft.com/office/drawing/2014/main" id="{35D35FCA-2ABF-53BD-9810-58F46BB6D73E}"/>
              </a:ext>
            </a:extLst>
          </p:cNvPr>
          <p:cNvSpPr>
            <a:spLocks noGrp="1"/>
          </p:cNvSpPr>
          <p:nvPr>
            <p:ph idx="1"/>
          </p:nvPr>
        </p:nvSpPr>
        <p:spPr/>
        <p:txBody>
          <a:bodyPr/>
          <a:lstStyle/>
          <a:p>
            <a:pPr marL="0" indent="0">
              <a:buNone/>
            </a:pPr>
            <a:r>
              <a:rPr lang="en-US" altLang="zh-CN" dirty="0"/>
              <a:t>Next Step</a:t>
            </a:r>
          </a:p>
          <a:p>
            <a:r>
              <a:rPr lang="en-US" altLang="zh-CN" dirty="0"/>
              <a:t>Push adolescent population enrollment.</a:t>
            </a:r>
          </a:p>
          <a:p>
            <a:r>
              <a:rPr lang="en-US" altLang="zh-CN" dirty="0"/>
              <a:t>Close collaborate with global team regarding NDA strategy (expedited pathway/labeling/adolescent evidence) development and revisit at critical milestones.</a:t>
            </a:r>
          </a:p>
          <a:p>
            <a:r>
              <a:rPr lang="en-US" altLang="zh-CN" dirty="0"/>
              <a:t>Initiate NDA submission preparation on 1</a:t>
            </a:r>
            <a:r>
              <a:rPr lang="en-US" altLang="zh-CN" baseline="30000" dirty="0"/>
              <a:t>st </a:t>
            </a:r>
            <a:r>
              <a:rPr lang="en-US" altLang="zh-CN" dirty="0"/>
              <a:t>June 2026 based on accelerated timeline and pre-assessment.</a:t>
            </a:r>
          </a:p>
          <a:p>
            <a:endParaRPr lang="zh-CN" altLang="en-US" dirty="0"/>
          </a:p>
        </p:txBody>
      </p:sp>
      <p:sp>
        <p:nvSpPr>
          <p:cNvPr id="4" name="文本占位符 3">
            <a:extLst>
              <a:ext uri="{FF2B5EF4-FFF2-40B4-BE49-F238E27FC236}">
                <a16:creationId xmlns:a16="http://schemas.microsoft.com/office/drawing/2014/main" id="{803FC822-76F6-D155-7520-DB0FC4EC3B8D}"/>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40F9386C-9539-BD91-BE27-71BFFE5C8F85}"/>
              </a:ext>
            </a:extLst>
          </p:cNvPr>
          <p:cNvSpPr>
            <a:spLocks noGrp="1"/>
          </p:cNvSpPr>
          <p:nvPr>
            <p:ph type="ftr" sz="quarter" idx="19"/>
          </p:nvPr>
        </p:nvSpPr>
        <p:spPr/>
        <p:txBody>
          <a:bodyPr/>
          <a:lstStyle/>
          <a:p>
            <a:r>
              <a:rPr lang="en-US"/>
              <a:t>Separate topic for verducatib - 2026 Apr PEC</a:t>
            </a:r>
          </a:p>
        </p:txBody>
      </p:sp>
    </p:spTree>
    <p:extLst>
      <p:ext uri="{BB962C8B-B14F-4D97-AF65-F5344CB8AC3E}">
        <p14:creationId xmlns:p14="http://schemas.microsoft.com/office/powerpoint/2010/main" val="8429001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
        <AccountId xsi:nil="true"/>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2.xml><?xml version="1.0" encoding="utf-8"?>
<ds:datastoreItem xmlns:ds="http://schemas.openxmlformats.org/officeDocument/2006/customXml" ds:itemID="{5D0452D6-F2D9-4FC2-9863-71052AA7BDFA}">
  <ds:schemaRefs>
    <ds:schemaRef ds:uri="38988128-37ab-443d-bda8-e0f28155c68c"/>
    <ds:schemaRef ds:uri="abec3d6c-dc49-43d8-9f5f-fe75434a2497"/>
    <ds:schemaRef ds:uri="e47812bf-c8f0-415c-9dc6-75659472579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4E1E414-6C18-453B-94B8-4386024BCAE7}"/>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0</TotalTime>
  <Words>459</Words>
  <Application>Microsoft Office PowerPoint</Application>
  <PresentationFormat>宽屏</PresentationFormat>
  <Paragraphs>61</Paragraphs>
  <Slides>4</Slides>
  <Notes>2</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4</vt:i4>
      </vt:variant>
    </vt:vector>
  </HeadingPairs>
  <TitlesOfParts>
    <vt:vector size="10" baseType="lpstr">
      <vt:lpstr>等线</vt:lpstr>
      <vt:lpstr>Arial</vt:lpstr>
      <vt:lpstr>Boehringer Forward Head</vt:lpstr>
      <vt:lpstr>Boehringer Forward Text</vt:lpstr>
      <vt:lpstr>9_Boehringer Ingelheim 16:9</vt:lpstr>
      <vt:lpstr>think-cell 幻灯片</vt:lpstr>
      <vt:lpstr>Evaluation of verducatib NDA Submission/Approval Timeline</vt:lpstr>
      <vt:lpstr>The Under-Assessment Acceleration in the NDA Submission/Approval Timeline</vt:lpstr>
      <vt:lpstr>NDA approval by June 2028 is team shared goal, while the possibility is low</vt:lpstr>
      <vt:lpstr>Driving Acceleration Through Proactive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Tao,Helen (HP Medicine) BII-CN-S</cp:lastModifiedBy>
  <cp:revision>1</cp:revision>
  <dcterms:created xsi:type="dcterms:W3CDTF">2023-11-09T09:11:57Z</dcterms:created>
  <dcterms:modified xsi:type="dcterms:W3CDTF">2026-05-14T00:30:08Z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Order">
    <vt:r8>210300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