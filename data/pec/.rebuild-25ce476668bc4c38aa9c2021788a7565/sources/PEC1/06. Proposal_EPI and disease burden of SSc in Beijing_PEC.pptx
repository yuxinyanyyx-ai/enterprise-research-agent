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1" r:id="rId4"/>
  </p:sldMasterIdLst>
  <p:notesMasterIdLst>
    <p:notesMasterId r:id="rId20"/>
  </p:notesMasterIdLst>
  <p:handoutMasterIdLst>
    <p:handoutMasterId r:id="rId21"/>
  </p:handoutMasterIdLst>
  <p:sldIdLst>
    <p:sldId id="14999391" r:id="rId5"/>
    <p:sldId id="9859" r:id="rId6"/>
    <p:sldId id="2147483647" r:id="rId7"/>
    <p:sldId id="264" r:id="rId8"/>
    <p:sldId id="258" r:id="rId9"/>
    <p:sldId id="265" r:id="rId10"/>
    <p:sldId id="259" r:id="rId11"/>
    <p:sldId id="256" r:id="rId12"/>
    <p:sldId id="2147483645" r:id="rId13"/>
    <p:sldId id="3418" r:id="rId14"/>
    <p:sldId id="260" r:id="rId15"/>
    <p:sldId id="2147483636" r:id="rId16"/>
    <p:sldId id="2147483638" r:id="rId17"/>
    <p:sldId id="263" r:id="rId18"/>
    <p:sldId id="266" r:id="rId19"/>
  </p:sldIdLst>
  <p:sldSz cx="12192000" cy="6858000"/>
  <p:notesSz cx="6858000" cy="9144000"/>
  <p:embeddedFontLst>
    <p:embeddedFont>
      <p:font typeface="DengXian" panose="02010600030101010101" pitchFamily="2" charset="-122"/>
      <p:regular r:id="rId22"/>
      <p:bold r:id="rId23"/>
    </p:embeddedFont>
    <p:embeddedFont>
      <p:font typeface="Microsoft YaHei" panose="020B0503020204020204" pitchFamily="34" charset="-122"/>
      <p:regular r:id="rId24"/>
      <p:bold r:id="rId25"/>
    </p:embeddedFont>
    <p:embeddedFont>
      <p:font typeface="Arial Black" panose="020B0A04020102020204" pitchFamily="34" charset="0"/>
      <p:bold r:id="rId26"/>
    </p:embeddedFont>
    <p:embeddedFont>
      <p:font typeface="Boehringer Forward Head" panose="020B0504030403020204" pitchFamily="2" charset="0"/>
      <p:regular r:id="rId27"/>
      <p:bold r:id="rId28"/>
      <p:italic r:id="rId29"/>
      <p:boldItalic r:id="rId30"/>
    </p:embeddedFont>
    <p:embeddedFont>
      <p:font typeface="Boehringer Forward Text" panose="020B0504030403020204" pitchFamily="2" charset="0"/>
      <p:regular r:id="rId31"/>
      <p:bold r:id="rId32"/>
      <p:italic r:id="rId33"/>
      <p:boldItalic r:id="rId34"/>
    </p:embeddedFont>
    <p:embeddedFont>
      <p:font typeface="Open Sans Extrabold" panose="020B0906030804020204" pitchFamily="34" charset="0"/>
      <p:bold r:id="rId35"/>
      <p:boldItalic r:id="rId36"/>
    </p:embeddedFont>
  </p:embeddedFontLst>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to-slides" id="{AA08E66F-718D-4436-8623-AEBA27634B0F}">
          <p14:sldIdLst>
            <p14:sldId id="14999391"/>
            <p14:sldId id="9859"/>
            <p14:sldId id="2147483647"/>
            <p14:sldId id="264"/>
            <p14:sldId id="258"/>
            <p14:sldId id="265"/>
            <p14:sldId id="259"/>
            <p14:sldId id="256"/>
            <p14:sldId id="2147483645"/>
            <p14:sldId id="3418"/>
            <p14:sldId id="260"/>
            <p14:sldId id="2147483636"/>
          </p14:sldIdLst>
        </p14:section>
        <p14:section name="back up" id="{F6135164-930C-4F17-8810-A4D7425EDECA}">
          <p14:sldIdLst>
            <p14:sldId id="2147483638"/>
            <p14:sldId id="263"/>
            <p14:sldId id="26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35C20C-1799-04BF-EC57-8681E2E4FDA1}" name="Shi,Cherry (HP Medicine) BII-CN-S" initials="SB" userId="S::cherry.shi@boehringer-ingelheim.com::d1fa847a-fc45-456f-9c70-a123cc9ed61e" providerId="AD"/>
  <p188:author id="{E60EA52E-9BA3-7138-8266-C46A8B86CA26}" name="Li,Zoran (HP Medicine) BII-CN-S" initials="" userId="S::zoran.li@boehringer-ingelheim.com::91757209-a538-474c-a624-23bf1e8499fd" providerId="AD"/>
  <p188:author id="{8330995D-35E5-7816-7440-BAEC7114D6F1}" name="zxSHA Li,Shuli (HP Medicine) EXTERNAL" initials="SL" userId="S::shuli.li.ext@boehringer-ingelheim.com::ce5c88b6-b979-44ee-995e-89f85a8d0e6e" providerId="AD"/>
  <p188:author id="{0D33249D-27AF-05A4-3FB0-967ED7334D91}" name="Coeytaux,Karen (TA Infl) BIP-US-R" initials="KC" userId="S::karen.coeytaux@boehringer-ingelheim.com::18ce4a5f-26bd-4429-ac05-45d9ffb6f52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extLst>
      <p:ext uri="{19B8F6BF-5375-455C-9EA6-DF929625EA0E}">
        <p15:presenceInfo xmlns:p15="http://schemas.microsoft.com/office/powerpoint/2012/main" userId=" " providerId="None"/>
      </p:ext>
    </p:extLst>
  </p:cmAuthor>
  <p:cmAuthor id="2" name="zxSHA Li,Shuli (HP Medicine) EXTERNAL" initials="SL" lastIdx="36" clrIdx="1">
    <p:extLst>
      <p:ext uri="{19B8F6BF-5375-455C-9EA6-DF929625EA0E}">
        <p15:presenceInfo xmlns:p15="http://schemas.microsoft.com/office/powerpoint/2012/main" userId="S::shuli.li.ext@boehringer-ingelheim.com::ce5c88b6-b979-44ee-995e-89f85a8d0e6e" providerId="AD"/>
      </p:ext>
    </p:extLst>
  </p:cmAuthor>
  <p:cmAuthor id="3" name="Li,Dr.,Qiang (HP Medicine) BII-CN-B" initials="QL" lastIdx="17" clrIdx="2">
    <p:extLst>
      <p:ext uri="{19B8F6BF-5375-455C-9EA6-DF929625EA0E}">
        <p15:presenceInfo xmlns:p15="http://schemas.microsoft.com/office/powerpoint/2012/main" userId="S::qiang_2.li@boehringer-ingelheim.com::051ef0c9-db2b-4cf4-b303-f22050f532c7" providerId="AD"/>
      </p:ext>
    </p:extLst>
  </p:cmAuthor>
  <p:cmAuthor id="4" name="Feng,Guoze (HP Medicine) BII-CN-B" initials="GF" lastIdx="1" clrIdx="3">
    <p:extLst>
      <p:ext uri="{19B8F6BF-5375-455C-9EA6-DF929625EA0E}">
        <p15:presenceInfo xmlns:p15="http://schemas.microsoft.com/office/powerpoint/2012/main" userId="S::guoze.feng@boehringer-ingelheim.com::b1418259-1f57-45cc-b305-eee398dc22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312A"/>
    <a:srgbClr val="FFFFFF"/>
    <a:srgbClr val="F2F6FB"/>
    <a:srgbClr val="000000"/>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A7050E-F423-4F3A-8313-B61AF69A3097}" v="103" dt="2026-04-21T03:09:10.920"/>
  </p1510:revLst>
</p1510:revInfo>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20" autoAdjust="0"/>
  </p:normalViewPr>
  <p:slideViewPr>
    <p:cSldViewPr snapToGrid="0">
      <p:cViewPr varScale="1">
        <p:scale>
          <a:sx n="100" d="100"/>
          <a:sy n="100" d="100"/>
        </p:scale>
        <p:origin x="9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8.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gs" Target="tags/tag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0.fntdata"/><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xSHA Li,Shuli (HP Medicine) EXTERNAL" userId="ce5c88b6-b979-44ee-995e-89f85a8d0e6e" providerId="ADAL" clId="{B33312A7-60CE-40F7-84F5-07FCCC76EF12}"/>
    <pc:docChg chg="undo custSel addSld delSld modSld modSection">
      <pc:chgData name="zxSHA Li,Shuli (HP Medicine) EXTERNAL" userId="ce5c88b6-b979-44ee-995e-89f85a8d0e6e" providerId="ADAL" clId="{B33312A7-60CE-40F7-84F5-07FCCC76EF12}" dt="2026-04-21T03:21:34.208" v="696" actId="1037"/>
      <pc:docMkLst>
        <pc:docMk/>
      </pc:docMkLst>
      <pc:sldChg chg="del">
        <pc:chgData name="zxSHA Li,Shuli (HP Medicine) EXTERNAL" userId="ce5c88b6-b979-44ee-995e-89f85a8d0e6e" providerId="ADAL" clId="{B33312A7-60CE-40F7-84F5-07FCCC76EF12}" dt="2026-04-10T08:20:33.130" v="1" actId="2696"/>
        <pc:sldMkLst>
          <pc:docMk/>
          <pc:sldMk cId="2147621077" sldId="257"/>
        </pc:sldMkLst>
      </pc:sldChg>
      <pc:sldChg chg="addSp delSp modSp mod">
        <pc:chgData name="zxSHA Li,Shuli (HP Medicine) EXTERNAL" userId="ce5c88b6-b979-44ee-995e-89f85a8d0e6e" providerId="ADAL" clId="{B33312A7-60CE-40F7-84F5-07FCCC76EF12}" dt="2026-04-15T09:31:03.302" v="393" actId="14100"/>
        <pc:sldMkLst>
          <pc:docMk/>
          <pc:sldMk cId="2464539894" sldId="260"/>
        </pc:sldMkLst>
        <pc:spChg chg="mod">
          <ac:chgData name="zxSHA Li,Shuli (HP Medicine) EXTERNAL" userId="ce5c88b6-b979-44ee-995e-89f85a8d0e6e" providerId="ADAL" clId="{B33312A7-60CE-40F7-84F5-07FCCC76EF12}" dt="2026-04-15T09:27:42.796" v="358" actId="1035"/>
          <ac:spMkLst>
            <pc:docMk/>
            <pc:sldMk cId="2464539894" sldId="260"/>
            <ac:spMk id="3" creationId="{E10AA3C6-0210-E666-B669-44F30AE35B6D}"/>
          </ac:spMkLst>
        </pc:spChg>
        <pc:spChg chg="mod">
          <ac:chgData name="zxSHA Li,Shuli (HP Medicine) EXTERNAL" userId="ce5c88b6-b979-44ee-995e-89f85a8d0e6e" providerId="ADAL" clId="{B33312A7-60CE-40F7-84F5-07FCCC76EF12}" dt="2026-04-15T09:14:08.300" v="63" actId="1035"/>
          <ac:spMkLst>
            <pc:docMk/>
            <pc:sldMk cId="2464539894" sldId="260"/>
            <ac:spMk id="7" creationId="{9C0C78F2-4B2B-4F82-541E-2820325C17E2}"/>
          </ac:spMkLst>
        </pc:spChg>
        <pc:spChg chg="mod">
          <ac:chgData name="zxSHA Li,Shuli (HP Medicine) EXTERNAL" userId="ce5c88b6-b979-44ee-995e-89f85a8d0e6e" providerId="ADAL" clId="{B33312A7-60CE-40F7-84F5-07FCCC76EF12}" dt="2026-04-15T09:27:28.463" v="354" actId="1038"/>
          <ac:spMkLst>
            <pc:docMk/>
            <pc:sldMk cId="2464539894" sldId="260"/>
            <ac:spMk id="9" creationId="{97978D10-896C-32CF-C37F-D8E4223EC7B7}"/>
          </ac:spMkLst>
        </pc:spChg>
        <pc:spChg chg="mod">
          <ac:chgData name="zxSHA Li,Shuli (HP Medicine) EXTERNAL" userId="ce5c88b6-b979-44ee-995e-89f85a8d0e6e" providerId="ADAL" clId="{B33312A7-60CE-40F7-84F5-07FCCC76EF12}" dt="2026-04-15T09:14:20.341" v="66" actId="1076"/>
          <ac:spMkLst>
            <pc:docMk/>
            <pc:sldMk cId="2464539894" sldId="260"/>
            <ac:spMk id="11" creationId="{036AB3D7-5F23-2592-ADAE-E1AA92426F2D}"/>
          </ac:spMkLst>
        </pc:spChg>
        <pc:spChg chg="mod">
          <ac:chgData name="zxSHA Li,Shuli (HP Medicine) EXTERNAL" userId="ce5c88b6-b979-44ee-995e-89f85a8d0e6e" providerId="ADAL" clId="{B33312A7-60CE-40F7-84F5-07FCCC76EF12}" dt="2026-04-15T09:14:08.300" v="63" actId="1035"/>
          <ac:spMkLst>
            <pc:docMk/>
            <pc:sldMk cId="2464539894" sldId="260"/>
            <ac:spMk id="13" creationId="{FD72F90B-A8FE-77E8-CBF5-872C25E01264}"/>
          </ac:spMkLst>
        </pc:spChg>
        <pc:spChg chg="mod">
          <ac:chgData name="zxSHA Li,Shuli (HP Medicine) EXTERNAL" userId="ce5c88b6-b979-44ee-995e-89f85a8d0e6e" providerId="ADAL" clId="{B33312A7-60CE-40F7-84F5-07FCCC76EF12}" dt="2026-04-15T09:27:42.796" v="358" actId="1035"/>
          <ac:spMkLst>
            <pc:docMk/>
            <pc:sldMk cId="2464539894" sldId="260"/>
            <ac:spMk id="14" creationId="{AD2BA05D-9678-F8DE-D526-370D6A8D22FE}"/>
          </ac:spMkLst>
        </pc:spChg>
        <pc:spChg chg="mod">
          <ac:chgData name="zxSHA Li,Shuli (HP Medicine) EXTERNAL" userId="ce5c88b6-b979-44ee-995e-89f85a8d0e6e" providerId="ADAL" clId="{B33312A7-60CE-40F7-84F5-07FCCC76EF12}" dt="2026-04-15T09:27:42.796" v="358" actId="1035"/>
          <ac:spMkLst>
            <pc:docMk/>
            <pc:sldMk cId="2464539894" sldId="260"/>
            <ac:spMk id="15" creationId="{CE9A3596-501E-2082-93AB-4AD18065BB3C}"/>
          </ac:spMkLst>
        </pc:spChg>
        <pc:spChg chg="mod">
          <ac:chgData name="zxSHA Li,Shuli (HP Medicine) EXTERNAL" userId="ce5c88b6-b979-44ee-995e-89f85a8d0e6e" providerId="ADAL" clId="{B33312A7-60CE-40F7-84F5-07FCCC76EF12}" dt="2026-04-15T09:25:24.558" v="249" actId="948"/>
          <ac:spMkLst>
            <pc:docMk/>
            <pc:sldMk cId="2464539894" sldId="260"/>
            <ac:spMk id="19" creationId="{77B0888E-FD04-BBFC-6327-3F9BFD3A29D6}"/>
          </ac:spMkLst>
        </pc:spChg>
        <pc:spChg chg="mod">
          <ac:chgData name="zxSHA Li,Shuli (HP Medicine) EXTERNAL" userId="ce5c88b6-b979-44ee-995e-89f85a8d0e6e" providerId="ADAL" clId="{B33312A7-60CE-40F7-84F5-07FCCC76EF12}" dt="2026-04-15T09:14:08.300" v="63" actId="1035"/>
          <ac:spMkLst>
            <pc:docMk/>
            <pc:sldMk cId="2464539894" sldId="260"/>
            <ac:spMk id="20" creationId="{AEE3D9F1-74CE-CE5E-7390-7E829AA6695B}"/>
          </ac:spMkLst>
        </pc:spChg>
        <pc:spChg chg="mod">
          <ac:chgData name="zxSHA Li,Shuli (HP Medicine) EXTERNAL" userId="ce5c88b6-b979-44ee-995e-89f85a8d0e6e" providerId="ADAL" clId="{B33312A7-60CE-40F7-84F5-07FCCC76EF12}" dt="2026-04-15T09:27:28.463" v="354" actId="1038"/>
          <ac:spMkLst>
            <pc:docMk/>
            <pc:sldMk cId="2464539894" sldId="260"/>
            <ac:spMk id="21" creationId="{F04934BF-D594-691E-0513-D895466A0C2E}"/>
          </ac:spMkLst>
        </pc:spChg>
        <pc:spChg chg="mod">
          <ac:chgData name="zxSHA Li,Shuli (HP Medicine) EXTERNAL" userId="ce5c88b6-b979-44ee-995e-89f85a8d0e6e" providerId="ADAL" clId="{B33312A7-60CE-40F7-84F5-07FCCC76EF12}" dt="2026-04-15T09:27:28.463" v="354" actId="1038"/>
          <ac:spMkLst>
            <pc:docMk/>
            <pc:sldMk cId="2464539894" sldId="260"/>
            <ac:spMk id="22" creationId="{66558F5F-5848-0D66-E6C3-9F2673FB005A}"/>
          </ac:spMkLst>
        </pc:spChg>
        <pc:spChg chg="mod">
          <ac:chgData name="zxSHA Li,Shuli (HP Medicine) EXTERNAL" userId="ce5c88b6-b979-44ee-995e-89f85a8d0e6e" providerId="ADAL" clId="{B33312A7-60CE-40F7-84F5-07FCCC76EF12}" dt="2026-04-15T09:27:42.796" v="358" actId="1035"/>
          <ac:spMkLst>
            <pc:docMk/>
            <pc:sldMk cId="2464539894" sldId="260"/>
            <ac:spMk id="24" creationId="{B0639A7A-0294-6FB8-6389-80D006BA06A8}"/>
          </ac:spMkLst>
        </pc:spChg>
        <pc:spChg chg="mod">
          <ac:chgData name="zxSHA Li,Shuli (HP Medicine) EXTERNAL" userId="ce5c88b6-b979-44ee-995e-89f85a8d0e6e" providerId="ADAL" clId="{B33312A7-60CE-40F7-84F5-07FCCC76EF12}" dt="2026-04-15T09:27:42.796" v="358" actId="1035"/>
          <ac:spMkLst>
            <pc:docMk/>
            <pc:sldMk cId="2464539894" sldId="260"/>
            <ac:spMk id="25" creationId="{B445CE81-17D9-F4EE-2CAD-9CDA6A4903A0}"/>
          </ac:spMkLst>
        </pc:spChg>
        <pc:spChg chg="mod">
          <ac:chgData name="zxSHA Li,Shuli (HP Medicine) EXTERNAL" userId="ce5c88b6-b979-44ee-995e-89f85a8d0e6e" providerId="ADAL" clId="{B33312A7-60CE-40F7-84F5-07FCCC76EF12}" dt="2026-04-15T09:27:28.463" v="354" actId="1038"/>
          <ac:spMkLst>
            <pc:docMk/>
            <pc:sldMk cId="2464539894" sldId="260"/>
            <ac:spMk id="27" creationId="{37108287-1FD7-9C7A-E639-0675E12C41A8}"/>
          </ac:spMkLst>
        </pc:spChg>
        <pc:spChg chg="mod">
          <ac:chgData name="zxSHA Li,Shuli (HP Medicine) EXTERNAL" userId="ce5c88b6-b979-44ee-995e-89f85a8d0e6e" providerId="ADAL" clId="{B33312A7-60CE-40F7-84F5-07FCCC76EF12}" dt="2026-04-15T09:27:42.796" v="358" actId="1035"/>
          <ac:spMkLst>
            <pc:docMk/>
            <pc:sldMk cId="2464539894" sldId="260"/>
            <ac:spMk id="28" creationId="{710DA56E-D83C-420D-BF61-8DB3CB3A417A}"/>
          </ac:spMkLst>
        </pc:spChg>
        <pc:spChg chg="mod">
          <ac:chgData name="zxSHA Li,Shuli (HP Medicine) EXTERNAL" userId="ce5c88b6-b979-44ee-995e-89f85a8d0e6e" providerId="ADAL" clId="{B33312A7-60CE-40F7-84F5-07FCCC76EF12}" dt="2026-04-15T09:27:42.796" v="358" actId="1035"/>
          <ac:spMkLst>
            <pc:docMk/>
            <pc:sldMk cId="2464539894" sldId="260"/>
            <ac:spMk id="29" creationId="{517DC0B9-244B-C5DD-1181-8AFA92231F1D}"/>
          </ac:spMkLst>
        </pc:spChg>
        <pc:spChg chg="mod">
          <ac:chgData name="zxSHA Li,Shuli (HP Medicine) EXTERNAL" userId="ce5c88b6-b979-44ee-995e-89f85a8d0e6e" providerId="ADAL" clId="{B33312A7-60CE-40F7-84F5-07FCCC76EF12}" dt="2026-04-15T09:27:42.796" v="358" actId="1035"/>
          <ac:spMkLst>
            <pc:docMk/>
            <pc:sldMk cId="2464539894" sldId="260"/>
            <ac:spMk id="31" creationId="{7DDA880D-168C-C111-4615-E8A7264AF026}"/>
          </ac:spMkLst>
        </pc:spChg>
        <pc:spChg chg="mod">
          <ac:chgData name="zxSHA Li,Shuli (HP Medicine) EXTERNAL" userId="ce5c88b6-b979-44ee-995e-89f85a8d0e6e" providerId="ADAL" clId="{B33312A7-60CE-40F7-84F5-07FCCC76EF12}" dt="2026-04-15T09:27:42.796" v="358" actId="1035"/>
          <ac:spMkLst>
            <pc:docMk/>
            <pc:sldMk cId="2464539894" sldId="260"/>
            <ac:spMk id="64" creationId="{9EB93B93-48F4-3BE2-71F5-ABC4C0E75D5A}"/>
          </ac:spMkLst>
        </pc:spChg>
        <pc:grpChg chg="add mod">
          <ac:chgData name="zxSHA Li,Shuli (HP Medicine) EXTERNAL" userId="ce5c88b6-b979-44ee-995e-89f85a8d0e6e" providerId="ADAL" clId="{B33312A7-60CE-40F7-84F5-07FCCC76EF12}" dt="2026-04-15T09:25:58.915" v="309" actId="1076"/>
          <ac:grpSpMkLst>
            <pc:docMk/>
            <pc:sldMk cId="2464539894" sldId="260"/>
            <ac:grpSpMk id="2" creationId="{B2D0B98E-0203-32D1-FBF0-6A9E259BFE19}"/>
          </ac:grpSpMkLst>
        </pc:grpChg>
        <pc:grpChg chg="mod">
          <ac:chgData name="zxSHA Li,Shuli (HP Medicine) EXTERNAL" userId="ce5c88b6-b979-44ee-995e-89f85a8d0e6e" providerId="ADAL" clId="{B33312A7-60CE-40F7-84F5-07FCCC76EF12}" dt="2026-04-15T09:25:40.014" v="263" actId="1035"/>
          <ac:grpSpMkLst>
            <pc:docMk/>
            <pc:sldMk cId="2464539894" sldId="260"/>
            <ac:grpSpMk id="12" creationId="{24A40D13-7301-2F9C-868E-4EF5FBA44DE2}"/>
          </ac:grpSpMkLst>
        </pc:grpChg>
        <pc:grpChg chg="add mod">
          <ac:chgData name="zxSHA Li,Shuli (HP Medicine) EXTERNAL" userId="ce5c88b6-b979-44ee-995e-89f85a8d0e6e" providerId="ADAL" clId="{B33312A7-60CE-40F7-84F5-07FCCC76EF12}" dt="2026-04-15T09:26:04.122" v="311" actId="1076"/>
          <ac:grpSpMkLst>
            <pc:docMk/>
            <pc:sldMk cId="2464539894" sldId="260"/>
            <ac:grpSpMk id="18" creationId="{CB27B5FF-E548-A21F-C56C-D346A8A68F7B}"/>
          </ac:grpSpMkLst>
        </pc:grpChg>
        <pc:grpChg chg="mod">
          <ac:chgData name="zxSHA Li,Shuli (HP Medicine) EXTERNAL" userId="ce5c88b6-b979-44ee-995e-89f85a8d0e6e" providerId="ADAL" clId="{B33312A7-60CE-40F7-84F5-07FCCC76EF12}" dt="2026-04-15T09:21:19.665" v="182"/>
          <ac:grpSpMkLst>
            <pc:docMk/>
            <pc:sldMk cId="2464539894" sldId="260"/>
            <ac:grpSpMk id="23" creationId="{80EF3DC1-82EB-6218-F5C1-9317157421F6}"/>
          </ac:grpSpMkLst>
        </pc:grpChg>
        <pc:grpChg chg="mod">
          <ac:chgData name="zxSHA Li,Shuli (HP Medicine) EXTERNAL" userId="ce5c88b6-b979-44ee-995e-89f85a8d0e6e" providerId="ADAL" clId="{B33312A7-60CE-40F7-84F5-07FCCC76EF12}" dt="2026-04-15T09:21:19.665" v="182"/>
          <ac:grpSpMkLst>
            <pc:docMk/>
            <pc:sldMk cId="2464539894" sldId="260"/>
            <ac:grpSpMk id="26" creationId="{FD7CBA81-DC8D-D2DE-12E7-728D42C00D61}"/>
          </ac:grpSpMkLst>
        </pc:grpChg>
        <pc:grpChg chg="mod">
          <ac:chgData name="zxSHA Li,Shuli (HP Medicine) EXTERNAL" userId="ce5c88b6-b979-44ee-995e-89f85a8d0e6e" providerId="ADAL" clId="{B33312A7-60CE-40F7-84F5-07FCCC76EF12}" dt="2026-04-15T09:25:35.189" v="251" actId="1076"/>
          <ac:grpSpMkLst>
            <pc:docMk/>
            <pc:sldMk cId="2464539894" sldId="260"/>
            <ac:grpSpMk id="30" creationId="{3B566DF8-ED25-C0C0-2A69-2C66078083AE}"/>
          </ac:grpSpMkLst>
        </pc:grpChg>
        <pc:picChg chg="mod">
          <ac:chgData name="zxSHA Li,Shuli (HP Medicine) EXTERNAL" userId="ce5c88b6-b979-44ee-995e-89f85a8d0e6e" providerId="ADAL" clId="{B33312A7-60CE-40F7-84F5-07FCCC76EF12}" dt="2026-04-15T09:27:16.611" v="349" actId="14100"/>
          <ac:picMkLst>
            <pc:docMk/>
            <pc:sldMk cId="2464539894" sldId="260"/>
            <ac:picMk id="10" creationId="{A7DE91D8-2DB0-2A5A-7235-D6BBCA1FDC9E}"/>
          </ac:picMkLst>
        </pc:picChg>
        <pc:picChg chg="add mod">
          <ac:chgData name="zxSHA Li,Shuli (HP Medicine) EXTERNAL" userId="ce5c88b6-b979-44ee-995e-89f85a8d0e6e" providerId="ADAL" clId="{B33312A7-60CE-40F7-84F5-07FCCC76EF12}" dt="2026-04-15T09:27:42.796" v="358" actId="1035"/>
          <ac:picMkLst>
            <pc:docMk/>
            <pc:sldMk cId="2464539894" sldId="260"/>
            <ac:picMk id="1026" creationId="{487D4460-0F7D-CAE1-AAFE-F13B76E837F1}"/>
          </ac:picMkLst>
        </pc:picChg>
        <pc:cxnChg chg="mod">
          <ac:chgData name="zxSHA Li,Shuli (HP Medicine) EXTERNAL" userId="ce5c88b6-b979-44ee-995e-89f85a8d0e6e" providerId="ADAL" clId="{B33312A7-60CE-40F7-84F5-07FCCC76EF12}" dt="2026-04-15T09:23:09.095" v="209" actId="1035"/>
          <ac:cxnSpMkLst>
            <pc:docMk/>
            <pc:sldMk cId="2464539894" sldId="260"/>
            <ac:cxnSpMk id="67" creationId="{E6B016A8-F602-C211-BB5B-E8C86C2D26BB}"/>
          </ac:cxnSpMkLst>
        </pc:cxnChg>
        <pc:cxnChg chg="mod">
          <ac:chgData name="zxSHA Li,Shuli (HP Medicine) EXTERNAL" userId="ce5c88b6-b979-44ee-995e-89f85a8d0e6e" providerId="ADAL" clId="{B33312A7-60CE-40F7-84F5-07FCCC76EF12}" dt="2026-04-15T09:23:09.095" v="209" actId="1035"/>
          <ac:cxnSpMkLst>
            <pc:docMk/>
            <pc:sldMk cId="2464539894" sldId="260"/>
            <ac:cxnSpMk id="68" creationId="{42FC5752-03A2-94B9-27FA-954A68D98955}"/>
          </ac:cxnSpMkLst>
        </pc:cxnChg>
        <pc:cxnChg chg="mod">
          <ac:chgData name="zxSHA Li,Shuli (HP Medicine) EXTERNAL" userId="ce5c88b6-b979-44ee-995e-89f85a8d0e6e" providerId="ADAL" clId="{B33312A7-60CE-40F7-84F5-07FCCC76EF12}" dt="2026-04-15T09:23:09.095" v="209" actId="1035"/>
          <ac:cxnSpMkLst>
            <pc:docMk/>
            <pc:sldMk cId="2464539894" sldId="260"/>
            <ac:cxnSpMk id="69" creationId="{745BACB3-3547-D902-FE2A-4EEA5912C7D0}"/>
          </ac:cxnSpMkLst>
        </pc:cxnChg>
        <pc:cxnChg chg="add mod">
          <ac:chgData name="zxSHA Li,Shuli (HP Medicine) EXTERNAL" userId="ce5c88b6-b979-44ee-995e-89f85a8d0e6e" providerId="ADAL" clId="{B33312A7-60CE-40F7-84F5-07FCCC76EF12}" dt="2026-04-15T09:31:03.302" v="393" actId="14100"/>
          <ac:cxnSpMkLst>
            <pc:docMk/>
            <pc:sldMk cId="2464539894" sldId="260"/>
            <ac:cxnSpMk id="71" creationId="{6706796A-94E1-E46E-536A-64DAD4510C38}"/>
          </ac:cxnSpMkLst>
        </pc:cxnChg>
      </pc:sldChg>
      <pc:sldChg chg="del">
        <pc:chgData name="zxSHA Li,Shuli (HP Medicine) EXTERNAL" userId="ce5c88b6-b979-44ee-995e-89f85a8d0e6e" providerId="ADAL" clId="{B33312A7-60CE-40F7-84F5-07FCCC76EF12}" dt="2026-04-10T08:20:31.195" v="0" actId="2696"/>
        <pc:sldMkLst>
          <pc:docMk/>
          <pc:sldMk cId="0" sldId="261"/>
        </pc:sldMkLst>
      </pc:sldChg>
      <pc:sldChg chg="del">
        <pc:chgData name="zxSHA Li,Shuli (HP Medicine) EXTERNAL" userId="ce5c88b6-b979-44ee-995e-89f85a8d0e6e" providerId="ADAL" clId="{B33312A7-60CE-40F7-84F5-07FCCC76EF12}" dt="2026-04-10T08:20:36.289" v="2" actId="2696"/>
        <pc:sldMkLst>
          <pc:docMk/>
          <pc:sldMk cId="803341923" sldId="262"/>
        </pc:sldMkLst>
      </pc:sldChg>
      <pc:sldChg chg="modSp mod">
        <pc:chgData name="zxSHA Li,Shuli (HP Medicine) EXTERNAL" userId="ce5c88b6-b979-44ee-995e-89f85a8d0e6e" providerId="ADAL" clId="{B33312A7-60CE-40F7-84F5-07FCCC76EF12}" dt="2026-04-12T14:43:41.257" v="12" actId="20577"/>
        <pc:sldMkLst>
          <pc:docMk/>
          <pc:sldMk cId="772939229" sldId="264"/>
        </pc:sldMkLst>
        <pc:spChg chg="mod">
          <ac:chgData name="zxSHA Li,Shuli (HP Medicine) EXTERNAL" userId="ce5c88b6-b979-44ee-995e-89f85a8d0e6e" providerId="ADAL" clId="{B33312A7-60CE-40F7-84F5-07FCCC76EF12}" dt="2026-04-12T14:43:41.257" v="12" actId="20577"/>
          <ac:spMkLst>
            <pc:docMk/>
            <pc:sldMk cId="772939229" sldId="264"/>
            <ac:spMk id="2" creationId="{5D190D1E-144A-F376-C189-432AA7E3A847}"/>
          </ac:spMkLst>
        </pc:spChg>
      </pc:sldChg>
      <pc:sldChg chg="addSp delSp modSp add mod">
        <pc:chgData name="zxSHA Li,Shuli (HP Medicine) EXTERNAL" userId="ce5c88b6-b979-44ee-995e-89f85a8d0e6e" providerId="ADAL" clId="{B33312A7-60CE-40F7-84F5-07FCCC76EF12}" dt="2026-04-21T03:21:34.208" v="696" actId="1037"/>
        <pc:sldMkLst>
          <pc:docMk/>
          <pc:sldMk cId="1316504130" sldId="9859"/>
        </pc:sldMkLst>
        <pc:spChg chg="add mod ord">
          <ac:chgData name="zxSHA Li,Shuli (HP Medicine) EXTERNAL" userId="ce5c88b6-b979-44ee-995e-89f85a8d0e6e" providerId="ADAL" clId="{B33312A7-60CE-40F7-84F5-07FCCC76EF12}" dt="2026-04-21T03:10:43.598" v="581" actId="14100"/>
          <ac:spMkLst>
            <pc:docMk/>
            <pc:sldMk cId="1316504130" sldId="9859"/>
            <ac:spMk id="2" creationId="{293F9099-EF9F-1C96-8F9B-A8570577C9FA}"/>
          </ac:spMkLst>
        </pc:spChg>
        <pc:spChg chg="del">
          <ac:chgData name="zxSHA Li,Shuli (HP Medicine) EXTERNAL" userId="ce5c88b6-b979-44ee-995e-89f85a8d0e6e" providerId="ADAL" clId="{B33312A7-60CE-40F7-84F5-07FCCC76EF12}" dt="2026-04-21T02:02:25.043" v="395" actId="478"/>
          <ac:spMkLst>
            <pc:docMk/>
            <pc:sldMk cId="1316504130" sldId="9859"/>
            <ac:spMk id="2" creationId="{D86A0537-FA91-BED1-BC19-7E42E2C982F2}"/>
          </ac:spMkLst>
        </pc:spChg>
        <pc:spChg chg="mod">
          <ac:chgData name="zxSHA Li,Shuli (HP Medicine) EXTERNAL" userId="ce5c88b6-b979-44ee-995e-89f85a8d0e6e" providerId="ADAL" clId="{B33312A7-60CE-40F7-84F5-07FCCC76EF12}" dt="2026-04-21T03:16:46.022" v="666" actId="20577"/>
          <ac:spMkLst>
            <pc:docMk/>
            <pc:sldMk cId="1316504130" sldId="9859"/>
            <ac:spMk id="13" creationId="{EE74D0FF-E456-2432-D436-0A5DE5BC10E4}"/>
          </ac:spMkLst>
        </pc:spChg>
        <pc:spChg chg="mod">
          <ac:chgData name="zxSHA Li,Shuli (HP Medicine) EXTERNAL" userId="ce5c88b6-b979-44ee-995e-89f85a8d0e6e" providerId="ADAL" clId="{B33312A7-60CE-40F7-84F5-07FCCC76EF12}" dt="2026-04-21T02:23:27.475" v="503" actId="1035"/>
          <ac:spMkLst>
            <pc:docMk/>
            <pc:sldMk cId="1316504130" sldId="9859"/>
            <ac:spMk id="15" creationId="{018A4351-50B2-A250-4CF2-62E918AE2C27}"/>
          </ac:spMkLst>
        </pc:spChg>
        <pc:spChg chg="mod">
          <ac:chgData name="zxSHA Li,Shuli (HP Medicine) EXTERNAL" userId="ce5c88b6-b979-44ee-995e-89f85a8d0e6e" providerId="ADAL" clId="{B33312A7-60CE-40F7-84F5-07FCCC76EF12}" dt="2026-04-21T03:09:52.472" v="565" actId="1076"/>
          <ac:spMkLst>
            <pc:docMk/>
            <pc:sldMk cId="1316504130" sldId="9859"/>
            <ac:spMk id="77" creationId="{64A8B87B-92C1-F3A2-C6D8-205E26BCED07}"/>
          </ac:spMkLst>
        </pc:spChg>
        <pc:spChg chg="mod">
          <ac:chgData name="zxSHA Li,Shuli (HP Medicine) EXTERNAL" userId="ce5c88b6-b979-44ee-995e-89f85a8d0e6e" providerId="ADAL" clId="{B33312A7-60CE-40F7-84F5-07FCCC76EF12}" dt="2026-04-21T03:09:30.553" v="558" actId="14100"/>
          <ac:spMkLst>
            <pc:docMk/>
            <pc:sldMk cId="1316504130" sldId="9859"/>
            <ac:spMk id="105" creationId="{F6F9C9E3-5BEA-396C-CC84-7FC99FC96EB4}"/>
          </ac:spMkLst>
        </pc:spChg>
        <pc:spChg chg="del">
          <ac:chgData name="zxSHA Li,Shuli (HP Medicine) EXTERNAL" userId="ce5c88b6-b979-44ee-995e-89f85a8d0e6e" providerId="ADAL" clId="{B33312A7-60CE-40F7-84F5-07FCCC76EF12}" dt="2026-04-21T02:52:36.794" v="519" actId="478"/>
          <ac:spMkLst>
            <pc:docMk/>
            <pc:sldMk cId="1316504130" sldId="9859"/>
            <ac:spMk id="107" creationId="{26404657-AF42-E04C-0484-8E12BF4F88B5}"/>
          </ac:spMkLst>
        </pc:spChg>
        <pc:spChg chg="mod ord">
          <ac:chgData name="zxSHA Li,Shuli (HP Medicine) EXTERNAL" userId="ce5c88b6-b979-44ee-995e-89f85a8d0e6e" providerId="ADAL" clId="{B33312A7-60CE-40F7-84F5-07FCCC76EF12}" dt="2026-04-21T03:13:18.245" v="590" actId="20577"/>
          <ac:spMkLst>
            <pc:docMk/>
            <pc:sldMk cId="1316504130" sldId="9859"/>
            <ac:spMk id="108" creationId="{7EC3D8D4-E562-802E-C322-11C97D6B087E}"/>
          </ac:spMkLst>
        </pc:spChg>
        <pc:spChg chg="mod">
          <ac:chgData name="zxSHA Li,Shuli (HP Medicine) EXTERNAL" userId="ce5c88b6-b979-44ee-995e-89f85a8d0e6e" providerId="ADAL" clId="{B33312A7-60CE-40F7-84F5-07FCCC76EF12}" dt="2026-04-21T03:09:29.954" v="557" actId="14100"/>
          <ac:spMkLst>
            <pc:docMk/>
            <pc:sldMk cId="1316504130" sldId="9859"/>
            <ac:spMk id="111" creationId="{D57E4B50-846D-F18E-0522-72F0DAEE8133}"/>
          </ac:spMkLst>
        </pc:spChg>
        <pc:spChg chg="add del mod">
          <ac:chgData name="zxSHA Li,Shuli (HP Medicine) EXTERNAL" userId="ce5c88b6-b979-44ee-995e-89f85a8d0e6e" providerId="ADAL" clId="{B33312A7-60CE-40F7-84F5-07FCCC76EF12}" dt="2026-04-21T03:21:34.208" v="696" actId="1037"/>
          <ac:spMkLst>
            <pc:docMk/>
            <pc:sldMk cId="1316504130" sldId="9859"/>
            <ac:spMk id="112" creationId="{C8ABFF76-4F68-FECA-8E75-1E50F2ABC296}"/>
          </ac:spMkLst>
        </pc:spChg>
        <pc:spChg chg="del mod">
          <ac:chgData name="zxSHA Li,Shuli (HP Medicine) EXTERNAL" userId="ce5c88b6-b979-44ee-995e-89f85a8d0e6e" providerId="ADAL" clId="{B33312A7-60CE-40F7-84F5-07FCCC76EF12}" dt="2026-04-21T02:52:49.378" v="522" actId="478"/>
          <ac:spMkLst>
            <pc:docMk/>
            <pc:sldMk cId="1316504130" sldId="9859"/>
            <ac:spMk id="114" creationId="{945DE71A-BABA-A10E-6CDC-E43B1D69FB3C}"/>
          </ac:spMkLst>
        </pc:spChg>
      </pc:sldChg>
      <pc:sldChg chg="modSp mod">
        <pc:chgData name="zxSHA Li,Shuli (HP Medicine) EXTERNAL" userId="ce5c88b6-b979-44ee-995e-89f85a8d0e6e" providerId="ADAL" clId="{B33312A7-60CE-40F7-84F5-07FCCC76EF12}" dt="2026-04-21T03:19:50.839" v="694" actId="114"/>
        <pc:sldMkLst>
          <pc:docMk/>
          <pc:sldMk cId="0" sldId="14999391"/>
        </pc:sldMkLst>
        <pc:spChg chg="mod">
          <ac:chgData name="zxSHA Li,Shuli (HP Medicine) EXTERNAL" userId="ce5c88b6-b979-44ee-995e-89f85a8d0e6e" providerId="ADAL" clId="{B33312A7-60CE-40F7-84F5-07FCCC76EF12}" dt="2026-04-21T03:19:50.839" v="694" actId="114"/>
          <ac:spMkLst>
            <pc:docMk/>
            <pc:sldMk cId="0" sldId="14999391"/>
            <ac:spMk id="4" creationId="{00000000-0000-0000-0000-000000000000}"/>
          </ac:spMkLst>
        </pc:spChg>
        <pc:spChg chg="mod">
          <ac:chgData name="zxSHA Li,Shuli (HP Medicine) EXTERNAL" userId="ce5c88b6-b979-44ee-995e-89f85a8d0e6e" providerId="ADAL" clId="{B33312A7-60CE-40F7-84F5-07FCCC76EF12}" dt="2026-04-21T03:19:24.919" v="691" actId="1076"/>
          <ac:spMkLst>
            <pc:docMk/>
            <pc:sldMk cId="0" sldId="14999391"/>
            <ac:spMk id="5" creationId="{00000000-0000-0000-0000-000000000000}"/>
          </ac:spMkLst>
        </pc:spChg>
      </pc:sldChg>
      <pc:sldChg chg="del">
        <pc:chgData name="zxSHA Li,Shuli (HP Medicine) EXTERNAL" userId="ce5c88b6-b979-44ee-995e-89f85a8d0e6e" providerId="ADAL" clId="{B33312A7-60CE-40F7-84F5-07FCCC76EF12}" dt="2026-04-21T03:12:46.726" v="587" actId="2696"/>
        <pc:sldMkLst>
          <pc:docMk/>
          <pc:sldMk cId="3988874192" sldId="2145705916"/>
        </pc:sldMkLst>
      </pc:sldChg>
      <pc:sldChg chg="modSp mod">
        <pc:chgData name="zxSHA Li,Shuli (HP Medicine) EXTERNAL" userId="ce5c88b6-b979-44ee-995e-89f85a8d0e6e" providerId="ADAL" clId="{B33312A7-60CE-40F7-84F5-07FCCC76EF12}" dt="2026-04-21T02:24:24.866" v="506" actId="1076"/>
        <pc:sldMkLst>
          <pc:docMk/>
          <pc:sldMk cId="3264206248" sldId="2147483647"/>
        </pc:sldMkLst>
        <pc:spChg chg="mod">
          <ac:chgData name="zxSHA Li,Shuli (HP Medicine) EXTERNAL" userId="ce5c88b6-b979-44ee-995e-89f85a8d0e6e" providerId="ADAL" clId="{B33312A7-60CE-40F7-84F5-07FCCC76EF12}" dt="2026-04-21T02:24:24.866" v="506" actId="1076"/>
          <ac:spMkLst>
            <pc:docMk/>
            <pc:sldMk cId="3264206248" sldId="2147483647"/>
            <ac:spMk id="4" creationId="{37005254-2966-77DF-6B58-06D832A827CF}"/>
          </ac:spMkLst>
        </pc:spChg>
        <pc:spChg chg="mod">
          <ac:chgData name="zxSHA Li,Shuli (HP Medicine) EXTERNAL" userId="ce5c88b6-b979-44ee-995e-89f85a8d0e6e" providerId="ADAL" clId="{B33312A7-60CE-40F7-84F5-07FCCC76EF12}" dt="2026-04-21T02:24:19.610" v="505" actId="1076"/>
          <ac:spMkLst>
            <pc:docMk/>
            <pc:sldMk cId="3264206248" sldId="2147483647"/>
            <ac:spMk id="6" creationId="{51DE10E3-2E4D-8656-C967-2BD69CC83D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OPPOSans M" panose="00020600040101010101"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OPPOSans M" panose="00020600040101010101" pitchFamily="18" charset="-122"/>
              <a:cs typeface="+mn-cs"/>
            </a:endParaRPr>
          </a:p>
        </p:txBody>
      </p:sp>
    </p:spTree>
    <p:extLst>
      <p:ext uri="{BB962C8B-B14F-4D97-AF65-F5344CB8AC3E}">
        <p14:creationId xmlns:p14="http://schemas.microsoft.com/office/powerpoint/2010/main" val="394752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3AC3E-8305-C46E-1D85-8C5C76CB14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5F3A7E-3BC3-1A08-7DCE-EA0D8DB539F8}"/>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04D35E82-F9E9-DF24-B5F8-AA8E1D5D5681}"/>
              </a:ext>
            </a:extLst>
          </p:cNvPr>
          <p:cNvSpPr>
            <a:spLocks noGrp="1"/>
          </p:cNvSpPr>
          <p:nvPr>
            <p:ph type="body" idx="1"/>
          </p:nvPr>
        </p:nvSpPr>
        <p:spPr/>
        <p:txBody>
          <a:bodyPr/>
          <a:lstStyle/>
          <a:p>
            <a:pPr rtl="0" fontAlgn="ctr"/>
            <a:endParaRPr lang="zh-CN" altLang="zh-CN" sz="1200" b="1" kern="1200" dirty="0">
              <a:solidFill>
                <a:schemeClr val="tx1"/>
              </a:solidFill>
              <a:effectLst/>
              <a:latin typeface="Boehringer Forward Text" panose="02000500000000020000" pitchFamily="2" charset="0"/>
              <a:ea typeface="+mn-ea"/>
              <a:cs typeface="+mn-cs"/>
            </a:endParaRPr>
          </a:p>
        </p:txBody>
      </p:sp>
      <p:sp>
        <p:nvSpPr>
          <p:cNvPr id="4" name="页脚占位符 3">
            <a:extLst>
              <a:ext uri="{FF2B5EF4-FFF2-40B4-BE49-F238E27FC236}">
                <a16:creationId xmlns:a16="http://schemas.microsoft.com/office/drawing/2014/main" id="{DFEB4903-40D5-5B0E-18E3-575515071920}"/>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a:extLst>
              <a:ext uri="{FF2B5EF4-FFF2-40B4-BE49-F238E27FC236}">
                <a16:creationId xmlns:a16="http://schemas.microsoft.com/office/drawing/2014/main" id="{7B712468-A383-6D40-D89B-9513BA23B70A}"/>
              </a:ext>
            </a:extLst>
          </p:cNvPr>
          <p:cNvSpPr>
            <a:spLocks noGrp="1"/>
          </p:cNvSpPr>
          <p:nvPr>
            <p:ph type="sldNum" sz="quarter" idx="5"/>
          </p:nvPr>
        </p:nvSpPr>
        <p:spPr/>
        <p:txBody>
          <a:bodyPr/>
          <a:lstStyle/>
          <a:p>
            <a:fld id="{D388EF01-4040-4B6C-80FD-9D313BD6F632}" type="slidenum">
              <a:rPr lang="en-US" sz="800" smtClean="0">
                <a:solidFill>
                  <a:schemeClr val="bg2"/>
                </a:solidFill>
              </a:rPr>
              <a:pPr/>
              <a:t>3</a:t>
            </a:fld>
            <a:endParaRPr lang="en-US" sz="800">
              <a:solidFill>
                <a:schemeClr val="bg2"/>
              </a:solidFill>
            </a:endParaRPr>
          </a:p>
        </p:txBody>
      </p:sp>
    </p:spTree>
    <p:extLst>
      <p:ext uri="{BB962C8B-B14F-4D97-AF65-F5344CB8AC3E}">
        <p14:creationId xmlns:p14="http://schemas.microsoft.com/office/powerpoint/2010/main" val="116031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5FC42-8ED2-9442-5A05-AE1B33C46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0513D-7832-74FA-6472-F443F49A7259}"/>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42C3156C-316D-7F29-8016-E616F813B0A9}"/>
              </a:ext>
            </a:extLst>
          </p:cNvPr>
          <p:cNvSpPr>
            <a:spLocks noGrp="1"/>
          </p:cNvSpPr>
          <p:nvPr>
            <p:ph type="body" idx="1"/>
          </p:nvPr>
        </p:nvSpPr>
        <p:spPr/>
        <p:txBody>
          <a:bodyPr/>
          <a:lstStyle/>
          <a:p>
            <a:endParaRPr lang="zh-CN" altLang="en-US" dirty="0"/>
          </a:p>
        </p:txBody>
      </p:sp>
      <p:sp>
        <p:nvSpPr>
          <p:cNvPr id="4" name="Footer Placeholder 3">
            <a:extLst>
              <a:ext uri="{FF2B5EF4-FFF2-40B4-BE49-F238E27FC236}">
                <a16:creationId xmlns:a16="http://schemas.microsoft.com/office/drawing/2014/main" id="{3B0E4C1A-63D5-43F0-3AC3-590FB799B662}"/>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a:extLst>
              <a:ext uri="{FF2B5EF4-FFF2-40B4-BE49-F238E27FC236}">
                <a16:creationId xmlns:a16="http://schemas.microsoft.com/office/drawing/2014/main" id="{E1CCA449-F555-DB8F-FA84-433B8D723AA4}"/>
              </a:ext>
            </a:extLst>
          </p:cNvPr>
          <p:cNvSpPr>
            <a:spLocks noGrp="1"/>
          </p:cNvSpPr>
          <p:nvPr>
            <p:ph type="sldNum" sz="quarter" idx="5"/>
          </p:nvPr>
        </p:nvSpPr>
        <p:spPr/>
        <p:txBody>
          <a:bodyPr/>
          <a:lstStyle/>
          <a:p>
            <a:fld id="{D388EF01-4040-4B6C-80FD-9D313BD6F632}" type="slidenum">
              <a:rPr lang="en-US" sz="800" smtClean="0">
                <a:solidFill>
                  <a:schemeClr val="bg2"/>
                </a:solidFill>
              </a:rPr>
              <a:pPr/>
              <a:t>4</a:t>
            </a:fld>
            <a:endParaRPr lang="en-US" sz="800">
              <a:solidFill>
                <a:schemeClr val="bg2"/>
              </a:solidFill>
            </a:endParaRPr>
          </a:p>
        </p:txBody>
      </p:sp>
    </p:spTree>
    <p:extLst>
      <p:ext uri="{BB962C8B-B14F-4D97-AF65-F5344CB8AC3E}">
        <p14:creationId xmlns:p14="http://schemas.microsoft.com/office/powerpoint/2010/main" val="955147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53F0-062B-8ED9-B064-8831C88700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37C8AB-15C0-3745-992D-E51F63AA1426}"/>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6619180F-F376-D30E-5111-CF6E58D502A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001948A-6054-E62F-1CF1-1AE6EB63EFE1}"/>
              </a:ext>
            </a:extLst>
          </p:cNvPr>
          <p:cNvSpPr>
            <a:spLocks noGrp="1"/>
          </p:cNvSpPr>
          <p:nvPr>
            <p:ph type="sldNum" sz="quarter" idx="5"/>
          </p:nvPr>
        </p:nvSpPr>
        <p:spPr/>
        <p:txBody>
          <a:bodyPr/>
          <a:lstStyle/>
          <a:p>
            <a:fld id="{29C6583C-5D3C-754D-9703-0AE26E04DEDF}" type="slidenum">
              <a:rPr kumimoji="1" lang="zh-CN" altLang="en-US" smtClean="0"/>
              <a:t>5</a:t>
            </a:fld>
            <a:endParaRPr kumimoji="1" lang="zh-CN" altLang="en-US"/>
          </a:p>
        </p:txBody>
      </p:sp>
    </p:spTree>
    <p:extLst>
      <p:ext uri="{BB962C8B-B14F-4D97-AF65-F5344CB8AC3E}">
        <p14:creationId xmlns:p14="http://schemas.microsoft.com/office/powerpoint/2010/main" val="1902808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600FA-DBFC-9150-DC61-87387D0C18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DC86FC-B65E-8808-074D-27C2A3452D16}"/>
              </a:ext>
            </a:extLst>
          </p:cNvPr>
          <p:cNvSpPr>
            <a:spLocks noGrp="1" noRot="1" noChangeAspect="1"/>
          </p:cNvSpPr>
          <p:nvPr>
            <p:ph type="sldImg"/>
          </p:nvPr>
        </p:nvSpPr>
        <p:spPr>
          <a:xfrm>
            <a:off x="476250" y="611188"/>
            <a:ext cx="5903913" cy="3321050"/>
          </a:xfrm>
        </p:spPr>
        <p:txBody>
          <a:bodyPr/>
          <a:lstStyle/>
          <a:p>
            <a:endParaRPr lang="zh-CN" altLang="en-US"/>
          </a:p>
        </p:txBody>
      </p:sp>
      <p:sp>
        <p:nvSpPr>
          <p:cNvPr id="3" name="备注占位符 2">
            <a:extLst>
              <a:ext uri="{FF2B5EF4-FFF2-40B4-BE49-F238E27FC236}">
                <a16:creationId xmlns:a16="http://schemas.microsoft.com/office/drawing/2014/main" id="{3D40CD7D-A9B6-C4A7-0233-E422F7D701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47F2312-24D7-09F9-D831-1F5F44B941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67C21-C5F1-4013-8929-90D390346C6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69590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950BF-4CD0-F96C-0268-BC124029B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3D02F-8723-A295-02C2-71265DD678C7}"/>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2C174921-209E-1243-C86F-FF0A6F9FC317}"/>
              </a:ext>
            </a:extLst>
          </p:cNvPr>
          <p:cNvSpPr>
            <a:spLocks noGrp="1"/>
          </p:cNvSpPr>
          <p:nvPr>
            <p:ph type="body" idx="1"/>
          </p:nvPr>
        </p:nvSpPr>
        <p:spPr/>
        <p:txBody>
          <a:bodyPr/>
          <a:lstStyle/>
          <a:p>
            <a:endParaRPr lang="zh-CN" altLang="zh-CN" sz="1200" kern="1200" dirty="0">
              <a:solidFill>
                <a:schemeClr val="tx1"/>
              </a:solidFill>
              <a:effectLst/>
              <a:latin typeface="Boehringer Forward Text" panose="02000500000000020000" pitchFamily="2" charset="0"/>
              <a:ea typeface="+mn-ea"/>
              <a:cs typeface="+mn-cs"/>
            </a:endParaRPr>
          </a:p>
        </p:txBody>
      </p:sp>
      <p:sp>
        <p:nvSpPr>
          <p:cNvPr id="4" name="Footer Placeholder 3">
            <a:extLst>
              <a:ext uri="{FF2B5EF4-FFF2-40B4-BE49-F238E27FC236}">
                <a16:creationId xmlns:a16="http://schemas.microsoft.com/office/drawing/2014/main" id="{7E88E00C-E8A2-B8C3-7521-FD2081DADDFF}"/>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a:extLst>
              <a:ext uri="{FF2B5EF4-FFF2-40B4-BE49-F238E27FC236}">
                <a16:creationId xmlns:a16="http://schemas.microsoft.com/office/drawing/2014/main" id="{80C3EA89-29A0-8EF6-2781-ED56EE52EB31}"/>
              </a:ext>
            </a:extLst>
          </p:cNvPr>
          <p:cNvSpPr>
            <a:spLocks noGrp="1"/>
          </p:cNvSpPr>
          <p:nvPr>
            <p:ph type="sldNum" sz="quarter" idx="5"/>
          </p:nvPr>
        </p:nvSpPr>
        <p:spPr/>
        <p:txBody>
          <a:bodyPr/>
          <a:lstStyle/>
          <a:p>
            <a:fld id="{D388EF01-4040-4B6C-80FD-9D313BD6F632}" type="slidenum">
              <a:rPr lang="en-US" sz="800" smtClean="0">
                <a:solidFill>
                  <a:schemeClr val="bg2"/>
                </a:solidFill>
              </a:rPr>
              <a:pPr/>
              <a:t>7</a:t>
            </a:fld>
            <a:endParaRPr lang="en-US" sz="800">
              <a:solidFill>
                <a:schemeClr val="bg2"/>
              </a:solidFill>
            </a:endParaRPr>
          </a:p>
        </p:txBody>
      </p:sp>
    </p:spTree>
    <p:extLst>
      <p:ext uri="{BB962C8B-B14F-4D97-AF65-F5344CB8AC3E}">
        <p14:creationId xmlns:p14="http://schemas.microsoft.com/office/powerpoint/2010/main" val="3797179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B050-5F2D-6030-53D7-2F0376394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2751B-5CDD-5017-1508-3F325C8B050A}"/>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23CA67E4-B76F-32ED-C91D-BC1DAD1EA6BF}"/>
              </a:ext>
            </a:extLst>
          </p:cNvPr>
          <p:cNvSpPr>
            <a:spLocks noGrp="1"/>
          </p:cNvSpPr>
          <p:nvPr>
            <p:ph type="body" idx="1"/>
          </p:nvPr>
        </p:nvSpPr>
        <p:spPr/>
        <p:txBody>
          <a:bodyPr/>
          <a:lstStyle/>
          <a:p>
            <a:endParaRPr lang="zh-CN" altLang="en-US" dirty="0"/>
          </a:p>
        </p:txBody>
      </p:sp>
      <p:sp>
        <p:nvSpPr>
          <p:cNvPr id="4" name="Footer Placeholder 3">
            <a:extLst>
              <a:ext uri="{FF2B5EF4-FFF2-40B4-BE49-F238E27FC236}">
                <a16:creationId xmlns:a16="http://schemas.microsoft.com/office/drawing/2014/main" id="{199D9CB1-3762-5B83-4FD5-3B32FFE07F04}"/>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a:extLst>
              <a:ext uri="{FF2B5EF4-FFF2-40B4-BE49-F238E27FC236}">
                <a16:creationId xmlns:a16="http://schemas.microsoft.com/office/drawing/2014/main" id="{96F5FDB8-A737-82BC-D77C-BFCFE1B3D9B0}"/>
              </a:ext>
            </a:extLst>
          </p:cNvPr>
          <p:cNvSpPr>
            <a:spLocks noGrp="1"/>
          </p:cNvSpPr>
          <p:nvPr>
            <p:ph type="sldNum" sz="quarter" idx="5"/>
          </p:nvPr>
        </p:nvSpPr>
        <p:spPr/>
        <p:txBody>
          <a:bodyPr/>
          <a:lstStyle/>
          <a:p>
            <a:fld id="{D388EF01-4040-4B6C-80FD-9D313BD6F632}" type="slidenum">
              <a:rPr lang="en-US" sz="800" smtClean="0">
                <a:solidFill>
                  <a:schemeClr val="bg2"/>
                </a:solidFill>
              </a:rPr>
              <a:pPr/>
              <a:t>8</a:t>
            </a:fld>
            <a:endParaRPr lang="en-US" sz="800">
              <a:solidFill>
                <a:schemeClr val="bg2"/>
              </a:solidFill>
            </a:endParaRPr>
          </a:p>
        </p:txBody>
      </p:sp>
    </p:spTree>
    <p:extLst>
      <p:ext uri="{BB962C8B-B14F-4D97-AF65-F5344CB8AC3E}">
        <p14:creationId xmlns:p14="http://schemas.microsoft.com/office/powerpoint/2010/main" val="2264220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9</a:t>
            </a:fld>
            <a:endParaRPr lang="en-US" sz="800">
              <a:solidFill>
                <a:schemeClr val="bg2"/>
              </a:solidFill>
            </a:endParaRPr>
          </a:p>
        </p:txBody>
      </p:sp>
    </p:spTree>
    <p:extLst>
      <p:ext uri="{BB962C8B-B14F-4D97-AF65-F5344CB8AC3E}">
        <p14:creationId xmlns:p14="http://schemas.microsoft.com/office/powerpoint/2010/main" val="4276350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01853D5B-F17D-838C-4DF0-16F3901245D8}"/>
              </a:ext>
            </a:extLst>
          </p:cNvPr>
          <p:cNvSpPr>
            <a:spLocks noGrp="1" noRot="1" noChangeAspect="1"/>
          </p:cNvSpPr>
          <p:nvPr>
            <p:ph type="sldImg"/>
          </p:nvPr>
        </p:nvSpPr>
        <p:spPr>
          <a:xfrm>
            <a:off x="476250" y="611188"/>
            <a:ext cx="5903913" cy="3321050"/>
          </a:xfrm>
        </p:spPr>
        <p:txBody>
          <a:bodyPr/>
          <a:lstStyle/>
          <a:p>
            <a:endParaRPr lang="zh-CN" altLang="en-US"/>
          </a:p>
        </p:txBody>
      </p:sp>
      <p:sp>
        <p:nvSpPr>
          <p:cNvPr id="7" name="Notizenplatzhalter 6">
            <a:extLst>
              <a:ext uri="{FF2B5EF4-FFF2-40B4-BE49-F238E27FC236}">
                <a16:creationId xmlns:a16="http://schemas.microsoft.com/office/drawing/2014/main" id="{D331D499-F707-C6C7-6935-EC73A068317D}"/>
              </a:ext>
            </a:extLst>
          </p:cNvPr>
          <p:cNvSpPr>
            <a:spLocks noGrp="1"/>
          </p:cNvSpPr>
          <p:nvPr>
            <p:ph type="body" idx="1"/>
          </p:nvPr>
        </p:nvSpPr>
        <p:spPr/>
        <p:txBody>
          <a:bodyPr/>
          <a:lstStyle/>
          <a:p>
            <a:endParaRPr lang="de-DE" dirty="0"/>
          </a:p>
        </p:txBody>
      </p:sp>
      <p:sp>
        <p:nvSpPr>
          <p:cNvPr id="8" name="Fußzeilenplatzhalter 3">
            <a:extLst>
              <a:ext uri="{FF2B5EF4-FFF2-40B4-BE49-F238E27FC236}">
                <a16:creationId xmlns:a16="http://schemas.microsoft.com/office/drawing/2014/main" id="{C26B6035-B32F-620E-080B-0A8E4FFC29C6}"/>
              </a:ext>
            </a:extLst>
          </p:cNvPr>
          <p:cNvSpPr>
            <a:spLocks noGrp="1"/>
          </p:cNvSpPr>
          <p:nvPr>
            <p:ph type="ftr" sz="quarter" idx="4"/>
          </p:nvPr>
        </p:nvSpPr>
        <p:spPr>
          <a:xfrm>
            <a:off x="483022" y="8640452"/>
            <a:ext cx="5148000" cy="216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9" name="Foliennummernplatzhalter 4">
            <a:extLst>
              <a:ext uri="{FF2B5EF4-FFF2-40B4-BE49-F238E27FC236}">
                <a16:creationId xmlns:a16="http://schemas.microsoft.com/office/drawing/2014/main" id="{CD34DA0D-1F35-9294-701F-C618E7D31E19}"/>
              </a:ext>
            </a:extLst>
          </p:cNvPr>
          <p:cNvSpPr>
            <a:spLocks noGrp="1"/>
          </p:cNvSpPr>
          <p:nvPr>
            <p:ph type="sldNum" sz="quarter" idx="5"/>
          </p:nvPr>
        </p:nvSpPr>
        <p:spPr>
          <a:xfrm>
            <a:off x="6026812" y="8640452"/>
            <a:ext cx="360040" cy="216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0729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A15D-BB69-3789-B5E4-F0A658846F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8A1F53-7AD8-4D9F-5941-118DBC3BF54B}"/>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A49C62EF-E433-F0CC-7656-BF5AFA7AE876}"/>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800205F-5263-1D24-4C47-F560261E7319}"/>
              </a:ext>
            </a:extLst>
          </p:cNvPr>
          <p:cNvSpPr>
            <a:spLocks noGrp="1"/>
          </p:cNvSpPr>
          <p:nvPr>
            <p:ph type="sldNum" sz="quarter" idx="5"/>
          </p:nvPr>
        </p:nvSpPr>
        <p:spPr/>
        <p:txBody>
          <a:bodyPr/>
          <a:lstStyle/>
          <a:p>
            <a:fld id="{600874E2-4638-A144-B945-139F2EEBE113}" type="slidenum">
              <a:rPr kumimoji="1" lang="zh-CN" altLang="en-US" smtClean="0"/>
              <a:t>11</a:t>
            </a:fld>
            <a:endParaRPr kumimoji="1" lang="zh-CN" altLang="en-US"/>
          </a:p>
        </p:txBody>
      </p:sp>
    </p:spTree>
    <p:extLst>
      <p:ext uri="{BB962C8B-B14F-4D97-AF65-F5344CB8AC3E}">
        <p14:creationId xmlns:p14="http://schemas.microsoft.com/office/powerpoint/2010/main" val="176327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12</a:t>
            </a:fld>
            <a:endParaRPr lang="en-US" sz="800">
              <a:solidFill>
                <a:schemeClr val="bg2"/>
              </a:solidFill>
            </a:endParaRPr>
          </a:p>
        </p:txBody>
      </p:sp>
    </p:spTree>
    <p:extLst>
      <p:ext uri="{BB962C8B-B14F-4D97-AF65-F5344CB8AC3E}">
        <p14:creationId xmlns:p14="http://schemas.microsoft.com/office/powerpoint/2010/main" val="4126130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8F0E-73FF-C6C7-AE9B-0DEE5241C7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62A268-236D-3259-8E1E-F93C3E885CC3}"/>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8E6F76B3-AB1A-7A86-79A9-2EF8230274DE}"/>
              </a:ext>
            </a:extLst>
          </p:cNvPr>
          <p:cNvSpPr>
            <a:spLocks noGrp="1"/>
          </p:cNvSpPr>
          <p:nvPr>
            <p:ph type="body" idx="1"/>
          </p:nvPr>
        </p:nvSpPr>
        <p:spPr/>
        <p:txBody>
          <a:bodyPr/>
          <a:lstStyle/>
          <a:p>
            <a:pPr algn="l"/>
            <a:endParaRPr lang="zh-CN" altLang="en-US" dirty="0"/>
          </a:p>
        </p:txBody>
      </p:sp>
      <p:sp>
        <p:nvSpPr>
          <p:cNvPr id="4" name="灯片编号占位符 3">
            <a:extLst>
              <a:ext uri="{FF2B5EF4-FFF2-40B4-BE49-F238E27FC236}">
                <a16:creationId xmlns:a16="http://schemas.microsoft.com/office/drawing/2014/main" id="{9243AD90-EBE9-6AAA-7F1E-F6E81AA06000}"/>
              </a:ext>
            </a:extLst>
          </p:cNvPr>
          <p:cNvSpPr>
            <a:spLocks noGrp="1"/>
          </p:cNvSpPr>
          <p:nvPr>
            <p:ph type="sldNum" sz="quarter" idx="5"/>
          </p:nvPr>
        </p:nvSpPr>
        <p:spPr/>
        <p:txBody>
          <a:bodyPr/>
          <a:lstStyle/>
          <a:p>
            <a:fld id="{12274EC9-568A-489C-B31E-FBC464B1B833}" type="slidenum">
              <a:rPr lang="zh-CN" altLang="en-US" smtClean="0"/>
              <a:t>13</a:t>
            </a:fld>
            <a:endParaRPr lang="zh-CN" altLang="en-US"/>
          </a:p>
        </p:txBody>
      </p:sp>
    </p:spTree>
    <p:extLst>
      <p:ext uri="{BB962C8B-B14F-4D97-AF65-F5344CB8AC3E}">
        <p14:creationId xmlns:p14="http://schemas.microsoft.com/office/powerpoint/2010/main" val="1639596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dirty="0"/>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15</a:t>
            </a:fld>
            <a:endParaRPr lang="en-US" sz="800">
              <a:solidFill>
                <a:schemeClr val="bg2"/>
              </a:solidFill>
            </a:endParaRPr>
          </a:p>
        </p:txBody>
      </p:sp>
    </p:spTree>
    <p:extLst>
      <p:ext uri="{BB962C8B-B14F-4D97-AF65-F5344CB8AC3E}">
        <p14:creationId xmlns:p14="http://schemas.microsoft.com/office/powerpoint/2010/main" val="1248132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09285A"/>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38100">
              <a:lnSpc>
                <a:spcPts val="1425"/>
              </a:lnSpc>
            </a:pPr>
            <a:fld id="{81D60167-4931-47E6-BA6A-407CBD079E47}" type="slidenum">
              <a:rPr spc="-5" dirty="0"/>
              <a:t>‹#›</a:t>
            </a:fld>
            <a:endParaRPr spc="-5"/>
          </a:p>
        </p:txBody>
      </p:sp>
    </p:spTree>
    <p:extLst>
      <p:ext uri="{BB962C8B-B14F-4D97-AF65-F5344CB8AC3E}">
        <p14:creationId xmlns:p14="http://schemas.microsoft.com/office/powerpoint/2010/main" val="78235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14D59A-536F-C9D6-F23A-7437F56AA7D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25EA546-DA6E-3826-2D5F-891EBBAABA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F68BD70-B566-3BFD-D4A8-DC17B8DE7BEC}"/>
              </a:ext>
            </a:extLst>
          </p:cNvPr>
          <p:cNvSpPr>
            <a:spLocks noGrp="1"/>
          </p:cNvSpPr>
          <p:nvPr>
            <p:ph type="dt" sz="half" idx="10"/>
          </p:nvPr>
        </p:nvSpPr>
        <p:spPr/>
        <p:txBody>
          <a:bodyPr/>
          <a:lstStyle/>
          <a:p>
            <a:fld id="{D70A6046-DEC1-4693-8A22-98AEFF15F8F9}"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D0FEF087-5F80-3E4A-0680-37A119C0DD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9E2DB4-736B-E000-BC77-ED30FD95C614}"/>
              </a:ext>
            </a:extLst>
          </p:cNvPr>
          <p:cNvSpPr>
            <a:spLocks noGrp="1"/>
          </p:cNvSpPr>
          <p:nvPr>
            <p:ph type="sldNum" sz="quarter" idx="12"/>
          </p:nvPr>
        </p:nvSpPr>
        <p:spPr/>
        <p:txBody>
          <a:bodyPr/>
          <a:lstStyle/>
          <a:p>
            <a:fld id="{29D7AC48-93D0-4CE4-99CF-17AE4CDD127D}" type="slidenum">
              <a:rPr lang="zh-CN" altLang="en-US" smtClean="0"/>
              <a:t>‹#›</a:t>
            </a:fld>
            <a:endParaRPr lang="zh-CN" altLang="en-US"/>
          </a:p>
        </p:txBody>
      </p:sp>
    </p:spTree>
    <p:extLst>
      <p:ext uri="{BB962C8B-B14F-4D97-AF65-F5344CB8AC3E}">
        <p14:creationId xmlns:p14="http://schemas.microsoft.com/office/powerpoint/2010/main" val="12195523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7464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4" r:id="rId22"/>
    <p:sldLayoutId id="2147483799" r:id="rId23"/>
    <p:sldLayoutId id="2147483800" r:id="rId24"/>
    <p:sldLayoutId id="2147483806" r:id="rId25"/>
    <p:sldLayoutId id="2147483795" r:id="rId26"/>
    <p:sldLayoutId id="2147483796" r:id="rId27"/>
    <p:sldLayoutId id="2147483797" r:id="rId28"/>
    <p:sldLayoutId id="2147483798" r:id="rId29"/>
    <p:sldLayoutId id="2147483783" r:id="rId30"/>
    <p:sldLayoutId id="2147483784" r:id="rId31"/>
    <p:sldLayoutId id="2147483785" r:id="rId32"/>
    <p:sldLayoutId id="2147483811" r:id="rId33"/>
    <p:sldLayoutId id="2147483815" r:id="rId34"/>
    <p:sldLayoutId id="2147483816" r:id="rId35"/>
    <p:sldLayoutId id="2147483817" r:id="rId36"/>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slideLayout" Target="../slideLayouts/slideLayout3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slideLayout" Target="../slideLayouts/slideLayout30.xml"/><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tags" Target="../tags/tag9.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tags" Target="../tags/tag8.xml"/><Relationship Id="rId6" Type="http://schemas.openxmlformats.org/officeDocument/2006/relationships/image" Target="../media/image19.emf"/><Relationship Id="rId11" Type="http://schemas.openxmlformats.org/officeDocument/2006/relationships/image" Target="../media/image24.png"/><Relationship Id="rId5" Type="http://schemas.openxmlformats.org/officeDocument/2006/relationships/oleObject" Target="../embeddings/oleObject1.bin"/><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32.png"/><Relationship Id="rId4" Type="http://schemas.openxmlformats.org/officeDocument/2006/relationships/notesSlide" Target="../notesSlides/notesSlide9.xml"/><Relationship Id="rId9" Type="http://schemas.openxmlformats.org/officeDocument/2006/relationships/image" Target="../media/image22.png"/><Relationship Id="rId1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0.xml"/><Relationship Id="rId1" Type="http://schemas.openxmlformats.org/officeDocument/2006/relationships/slideLayout" Target="../slideLayouts/slideLayout34.xml"/><Relationship Id="rId4" Type="http://schemas.openxmlformats.org/officeDocument/2006/relationships/image" Target="../media/image3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3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479425" y="2426385"/>
            <a:ext cx="10364528" cy="1584000"/>
          </a:xfrm>
        </p:spPr>
        <p:txBody>
          <a:bodyPr/>
          <a:lstStyle/>
          <a:p>
            <a:r>
              <a:rPr lang="en-US" altLang="zh-CN" sz="3200" i="1" dirty="0">
                <a:solidFill>
                  <a:schemeClr val="bg1"/>
                </a:solidFill>
                <a:latin typeface="+mj-ea"/>
              </a:rPr>
              <a:t>ECR proposal</a:t>
            </a:r>
            <a:br>
              <a:rPr lang="en-US" altLang="zh-CN" sz="3200" dirty="0">
                <a:solidFill>
                  <a:srgbClr val="00E47C"/>
                </a:solidFill>
                <a:latin typeface="+mj-ea"/>
              </a:rPr>
            </a:br>
            <a:r>
              <a:rPr lang="en-US" altLang="zh-CN" sz="3200" dirty="0">
                <a:solidFill>
                  <a:srgbClr val="00E47C"/>
                </a:solidFill>
                <a:latin typeface="+mj-ea"/>
              </a:rPr>
              <a:t>Epidemiology and Disease Burden of </a:t>
            </a:r>
            <a:r>
              <a:rPr lang="en-US" altLang="zh-CN" sz="3200" dirty="0"/>
              <a:t>Systemic Sclerosis (SSc) </a:t>
            </a:r>
            <a:r>
              <a:rPr lang="en-US" altLang="zh-CN" sz="3200" b="0" dirty="0">
                <a:solidFill>
                  <a:srgbClr val="000000"/>
                </a:solidFill>
                <a:latin typeface="+mj-ea"/>
              </a:rPr>
              <a:t>​</a:t>
            </a:r>
            <a:r>
              <a:rPr lang="en-US" altLang="zh-CN" sz="3200" dirty="0">
                <a:solidFill>
                  <a:srgbClr val="00E47C"/>
                </a:solidFill>
                <a:latin typeface="+mj-ea"/>
              </a:rPr>
              <a:t>in Beijing</a:t>
            </a:r>
            <a:r>
              <a:rPr lang="en-US" altLang="zh-CN" sz="3200" dirty="0"/>
              <a:t>: </a:t>
            </a:r>
            <a:br>
              <a:rPr lang="en-US" altLang="zh-CN" sz="3200" dirty="0"/>
            </a:br>
            <a:r>
              <a:rPr lang="en-US" altLang="zh-CN" sz="3200" dirty="0"/>
              <a:t>A Study Based on the Beijing Claims Database</a:t>
            </a:r>
            <a:endParaRPr lang="zh-CN" altLang="en-US" sz="3200" dirty="0"/>
          </a:p>
        </p:txBody>
      </p:sp>
      <p:sp>
        <p:nvSpPr>
          <p:cNvPr id="5" name="副标题 4"/>
          <p:cNvSpPr>
            <a:spLocks noGrp="1"/>
          </p:cNvSpPr>
          <p:nvPr>
            <p:ph type="subTitle" idx="1"/>
          </p:nvPr>
        </p:nvSpPr>
        <p:spPr>
          <a:xfrm>
            <a:off x="479425" y="4431615"/>
            <a:ext cx="8281375" cy="1704673"/>
          </a:xfrm>
        </p:spPr>
        <p:txBody>
          <a:bodyPr/>
          <a:lstStyle/>
          <a:p>
            <a:r>
              <a:rPr lang="en-US" altLang="zh-CN" sz="2000" dirty="0"/>
              <a:t>Shuli Li</a:t>
            </a:r>
            <a:br>
              <a:rPr lang="en-US" altLang="zh-CN" sz="2000" dirty="0"/>
            </a:br>
            <a:r>
              <a:rPr lang="en-US" altLang="zh-CN" sz="2000" dirty="0"/>
              <a:t>April 2026</a:t>
            </a:r>
          </a:p>
        </p:txBody>
      </p:sp>
      <p:sp>
        <p:nvSpPr>
          <p:cNvPr id="8" name="AutoShape 2">
            <a:extLst>
              <a:ext uri="{FF2B5EF4-FFF2-40B4-BE49-F238E27FC236}">
                <a16:creationId xmlns:a16="http://schemas.microsoft.com/office/drawing/2014/main" id="{B0B883E4-9B61-6F3D-B704-E14DCA33F5C1}"/>
              </a:ext>
            </a:extLst>
          </p:cNvPr>
          <p:cNvSpPr>
            <a:spLocks noChangeAspect="1" noChangeArrowheads="1"/>
          </p:cNvSpPr>
          <p:nvPr/>
        </p:nvSpPr>
        <p:spPr bwMode="auto">
          <a:xfrm>
            <a:off x="63500" y="-2746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54D75C7F-CD17-A223-84D3-786B0C0C0D43}"/>
              </a:ext>
            </a:extLst>
          </p:cNvPr>
          <p:cNvSpPr/>
          <p:nvPr>
            <p:custDataLst>
              <p:tags r:id="rId1"/>
            </p:custDataLst>
          </p:nvPr>
        </p:nvSpPr>
        <p:spPr>
          <a:xfrm>
            <a:off x="429158" y="1552345"/>
            <a:ext cx="5104468" cy="4486948"/>
          </a:xfrm>
          <a:prstGeom prst="roundRect">
            <a:avLst>
              <a:gd name="adj"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71" name="任意多边形: 形状 70">
            <a:extLst>
              <a:ext uri="{FF2B5EF4-FFF2-40B4-BE49-F238E27FC236}">
                <a16:creationId xmlns:a16="http://schemas.microsoft.com/office/drawing/2014/main" id="{4F17F9DA-EDAB-F90B-3181-0AFEC6BB2424}"/>
              </a:ext>
            </a:extLst>
          </p:cNvPr>
          <p:cNvSpPr/>
          <p:nvPr>
            <p:custDataLst>
              <p:tags r:id="rId2"/>
            </p:custDataLst>
          </p:nvPr>
        </p:nvSpPr>
        <p:spPr>
          <a:xfrm>
            <a:off x="422730" y="1263012"/>
            <a:ext cx="5110896" cy="647523"/>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70332" dist="111100"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8879" tIns="44440" rIns="88879" bIns="44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750" b="0" i="0" u="none" strike="noStrike" kern="1200" cap="none" spc="0" normalizeH="0" baseline="0" noProof="0">
              <a:ln>
                <a:noFill/>
              </a:ln>
              <a:solidFill>
                <a:prstClr val="white"/>
              </a:solidFill>
              <a:effectLst>
                <a:outerShdw blurRad="123444" dist="37033" dir="2699979" algn="tl">
                  <a:srgbClr val="000000">
                    <a:alpha val="40000"/>
                  </a:srgbClr>
                </a:outerShdw>
              </a:effectLst>
              <a:uLnTx/>
              <a:uFillTx/>
              <a:latin typeface="+mj-ea"/>
              <a:ea typeface="OPPOSans M"/>
              <a:cs typeface="+mn-cs"/>
            </a:endParaRPr>
          </a:p>
        </p:txBody>
      </p:sp>
      <p:sp>
        <p:nvSpPr>
          <p:cNvPr id="72" name="文本框 71">
            <a:extLst>
              <a:ext uri="{FF2B5EF4-FFF2-40B4-BE49-F238E27FC236}">
                <a16:creationId xmlns:a16="http://schemas.microsoft.com/office/drawing/2014/main" id="{31742A8B-BC79-371E-B4CA-EBB040CBE1EE}"/>
              </a:ext>
            </a:extLst>
          </p:cNvPr>
          <p:cNvSpPr txBox="1"/>
          <p:nvPr/>
        </p:nvSpPr>
        <p:spPr>
          <a:xfrm>
            <a:off x="688370" y="1270576"/>
            <a:ext cx="4845255"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Background</a:t>
            </a:r>
            <a:endParaRPr kumimoji="0" lang="zh-CN" alt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77" name="矩形: 圆角 76">
            <a:extLst>
              <a:ext uri="{FF2B5EF4-FFF2-40B4-BE49-F238E27FC236}">
                <a16:creationId xmlns:a16="http://schemas.microsoft.com/office/drawing/2014/main" id="{64A8B87B-92C1-F3A2-C6D8-205E26BCED07}"/>
              </a:ext>
            </a:extLst>
          </p:cNvPr>
          <p:cNvSpPr/>
          <p:nvPr>
            <p:custDataLst>
              <p:tags r:id="rId3"/>
            </p:custDataLst>
          </p:nvPr>
        </p:nvSpPr>
        <p:spPr>
          <a:xfrm>
            <a:off x="5791659" y="1541712"/>
            <a:ext cx="5979103" cy="4486948"/>
          </a:xfrm>
          <a:prstGeom prst="roundRect">
            <a:avLst>
              <a:gd name="adj"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81" name="任意多边形: 形状 80">
            <a:extLst>
              <a:ext uri="{FF2B5EF4-FFF2-40B4-BE49-F238E27FC236}">
                <a16:creationId xmlns:a16="http://schemas.microsoft.com/office/drawing/2014/main" id="{5630280C-7927-0B9E-CEFB-2E08CD26C19B}"/>
              </a:ext>
            </a:extLst>
          </p:cNvPr>
          <p:cNvSpPr/>
          <p:nvPr>
            <p:custDataLst>
              <p:tags r:id="rId4"/>
            </p:custDataLst>
          </p:nvPr>
        </p:nvSpPr>
        <p:spPr>
          <a:xfrm>
            <a:off x="5799265" y="1263012"/>
            <a:ext cx="5979133" cy="647524"/>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OPPOSans M"/>
              <a:cs typeface="+mn-cs"/>
            </a:endParaRPr>
          </a:p>
        </p:txBody>
      </p:sp>
      <p:sp>
        <p:nvSpPr>
          <p:cNvPr id="62" name="文本占位符 1">
            <a:extLst>
              <a:ext uri="{FF2B5EF4-FFF2-40B4-BE49-F238E27FC236}">
                <a16:creationId xmlns:a16="http://schemas.microsoft.com/office/drawing/2014/main" id="{8BBEA513-3F42-1249-7A77-74867D20D3A8}"/>
              </a:ext>
            </a:extLst>
          </p:cNvPr>
          <p:cNvSpPr txBox="1">
            <a:spLocks/>
          </p:cNvSpPr>
          <p:nvPr/>
        </p:nvSpPr>
        <p:spPr>
          <a:xfrm>
            <a:off x="578417" y="-841540"/>
            <a:ext cx="4634366" cy="391967"/>
          </a:xfrm>
          <a:prstGeom prst="rect">
            <a:avLst/>
          </a:prstGeom>
        </p:spPr>
        <p:txBody>
          <a:bodyPr/>
          <a:lstStyle>
            <a:defPPr>
              <a:defRPr lang="zh-CN"/>
            </a:defPPr>
            <a:lvl1pPr indent="0">
              <a:lnSpc>
                <a:spcPct val="90000"/>
              </a:lnSpc>
              <a:spcBef>
                <a:spcPts val="1000"/>
              </a:spcBef>
              <a:buFont typeface="Arial" panose="020B0604020202020204" pitchFamily="34" charset="0"/>
              <a:buNone/>
              <a:defRPr sz="2800">
                <a:solidFill>
                  <a:schemeClr val="accent1"/>
                </a:solidFill>
                <a:latin typeface="思源宋体 CN Heavy" panose="02020900000000000000" pitchFamily="18" charset="-122"/>
                <a:ea typeface="思源宋体 CN Heavy" panose="02020900000000000000" pitchFamily="18" charset="-122"/>
                <a:cs typeface="阿里巴巴普惠体 M"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srgbClr val="1E4123"/>
              </a:solidFill>
              <a:effectLst/>
              <a:uLnTx/>
              <a:uFillTx/>
              <a:latin typeface="OPPOSans B" panose="00020600040101010101" pitchFamily="18" charset="-122"/>
              <a:ea typeface="OPPOSans B" panose="00020600040101010101" pitchFamily="18" charset="-122"/>
            </a:endParaRPr>
          </a:p>
        </p:txBody>
      </p:sp>
      <p:sp>
        <p:nvSpPr>
          <p:cNvPr id="87" name="文本框 86">
            <a:extLst>
              <a:ext uri="{FF2B5EF4-FFF2-40B4-BE49-F238E27FC236}">
                <a16:creationId xmlns:a16="http://schemas.microsoft.com/office/drawing/2014/main" id="{DF6302AA-82F6-4611-02FC-8C777B7FD34D}"/>
              </a:ext>
            </a:extLst>
          </p:cNvPr>
          <p:cNvSpPr txBox="1"/>
          <p:nvPr/>
        </p:nvSpPr>
        <p:spPr>
          <a:xfrm>
            <a:off x="6540175" y="1270576"/>
            <a:ext cx="4850842"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PEC Discussion</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5" name="矩形 104">
            <a:extLst>
              <a:ext uri="{FF2B5EF4-FFF2-40B4-BE49-F238E27FC236}">
                <a16:creationId xmlns:a16="http://schemas.microsoft.com/office/drawing/2014/main" id="{F6F9C9E3-5BEA-396C-CC84-7FC99FC96EB4}"/>
              </a:ext>
            </a:extLst>
          </p:cNvPr>
          <p:cNvSpPr/>
          <p:nvPr/>
        </p:nvSpPr>
        <p:spPr>
          <a:xfrm>
            <a:off x="5997915" y="2286414"/>
            <a:ext cx="5522419" cy="2091943"/>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6" name="矩形: 圆角 105">
            <a:extLst>
              <a:ext uri="{FF2B5EF4-FFF2-40B4-BE49-F238E27FC236}">
                <a16:creationId xmlns:a16="http://schemas.microsoft.com/office/drawing/2014/main" id="{504627DC-1B8D-D359-EEFB-F586635E91D4}"/>
              </a:ext>
            </a:extLst>
          </p:cNvPr>
          <p:cNvSpPr/>
          <p:nvPr>
            <p:custDataLst>
              <p:tags r:id="rId5"/>
            </p:custDataLst>
          </p:nvPr>
        </p:nvSpPr>
        <p:spPr>
          <a:xfrm>
            <a:off x="6236300" y="2077511"/>
            <a:ext cx="3365795"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Team Proposal</a:t>
            </a:r>
            <a:endParaRPr kumimoji="0" lang="zh-CN" altLang="en-US"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11" name="文本框 110">
            <a:extLst>
              <a:ext uri="{FF2B5EF4-FFF2-40B4-BE49-F238E27FC236}">
                <a16:creationId xmlns:a16="http://schemas.microsoft.com/office/drawing/2014/main" id="{D57E4B50-846D-F18E-0522-72F0DAEE8133}"/>
              </a:ext>
            </a:extLst>
          </p:cNvPr>
          <p:cNvSpPr txBox="1"/>
          <p:nvPr/>
        </p:nvSpPr>
        <p:spPr>
          <a:xfrm>
            <a:off x="6236301" y="2603446"/>
            <a:ext cx="5154716" cy="1601680"/>
          </a:xfrm>
          <a:prstGeom prst="rect">
            <a:avLst/>
          </a:prstGeom>
          <a:noFill/>
        </p:spPr>
        <p:txBody>
          <a:bodyPr wrap="square">
            <a:noAutofit/>
          </a:bodyPr>
          <a:lstStyle>
            <a:defPPr>
              <a:defRPr lang="en-US"/>
            </a:defPPr>
            <a:lvl1pPr>
              <a:lnSpc>
                <a:spcPct val="125000"/>
              </a:lnSpc>
              <a:defRPr kern="100">
                <a:effectLst/>
                <a:latin typeface="+mn-ea"/>
                <a:cs typeface="仿宋" panose="02010609060101010101" pitchFamily="49" charset="-122"/>
              </a:defRPr>
            </a:lvl1pPr>
          </a:lstStyle>
          <a:p>
            <a:pPr marL="274320" lvl="0" indent="-274320">
              <a:lnSpc>
                <a:spcPct val="100000"/>
              </a:lnSpc>
              <a:spcAft>
                <a:spcPts val="600"/>
              </a:spcAft>
              <a:buFont typeface="Arial" panose="020B0604020202020204" pitchFamily="34" charset="0"/>
              <a:buChar char="•"/>
            </a:pPr>
            <a:r>
              <a:rPr lang="en-US" altLang="zh-CN" sz="1400" dirty="0"/>
              <a:t>ECR</a:t>
            </a:r>
            <a:r>
              <a:rPr lang="en-US" altLang="zh-CN" sz="1400" i="1" dirty="0"/>
              <a:t>, a </a:t>
            </a:r>
            <a:r>
              <a:rPr lang="en-US" altLang="zh-CN" sz="1400" dirty="0"/>
              <a:t>non-interventional study based on Beijing claims data processed by Linkdoc</a:t>
            </a:r>
            <a:r>
              <a:rPr lang="en-US" altLang="zh-CN" sz="1400" i="1" dirty="0"/>
              <a:t>, </a:t>
            </a:r>
            <a:r>
              <a:rPr lang="en-US" altLang="zh-CN" sz="1400" dirty="0"/>
              <a:t>with Peking University Third Hospital </a:t>
            </a:r>
          </a:p>
          <a:p>
            <a:pPr marL="274320" indent="-274320">
              <a:lnSpc>
                <a:spcPct val="100000"/>
              </a:lnSpc>
              <a:spcAft>
                <a:spcPts val="600"/>
              </a:spcAft>
              <a:buFont typeface="Arial" panose="020B0604020202020204" pitchFamily="34" charset="0"/>
              <a:buChar char="•"/>
            </a:pPr>
            <a:r>
              <a:rPr lang="en-US" altLang="zh-CN" sz="1400" dirty="0"/>
              <a:t>To address existing evidence gaps and support future submissions (e.g., NDA, NRDL) </a:t>
            </a:r>
            <a:endParaRPr lang="zh-CN" altLang="en-US" sz="1400" i="1" dirty="0"/>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zh-CN" altLang="en-US" sz="1400" b="0" i="1"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112" name="文本框 111">
            <a:extLst>
              <a:ext uri="{FF2B5EF4-FFF2-40B4-BE49-F238E27FC236}">
                <a16:creationId xmlns:a16="http://schemas.microsoft.com/office/drawing/2014/main" id="{C8ABFF76-4F68-FECA-8E75-1E50F2ABC296}"/>
              </a:ext>
            </a:extLst>
          </p:cNvPr>
          <p:cNvSpPr txBox="1"/>
          <p:nvPr/>
        </p:nvSpPr>
        <p:spPr>
          <a:xfrm>
            <a:off x="6250199" y="5092069"/>
            <a:ext cx="4998185" cy="424621"/>
          </a:xfrm>
          <a:prstGeom prst="rect">
            <a:avLst/>
          </a:prstGeom>
          <a:noFill/>
        </p:spPr>
        <p:txBody>
          <a:bodyPr wrap="square">
            <a:noAutofit/>
          </a:bodyPr>
          <a:lstStyle/>
          <a:p>
            <a:pPr marL="27432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1400" b="0" i="1" u="none" strike="noStrike" kern="1200" cap="none" spc="0" normalizeH="0" baseline="0" noProof="0" dirty="0">
                <a:ln>
                  <a:noFill/>
                </a:ln>
                <a:solidFill>
                  <a:prstClr val="black">
                    <a:lumMod val="75000"/>
                    <a:lumOff val="25000"/>
                  </a:prstClr>
                </a:solidFill>
                <a:effectLst/>
                <a:uLnTx/>
                <a:uFillTx/>
                <a:latin typeface="+mn-ea"/>
                <a:cs typeface="+mn-cs"/>
              </a:rPr>
              <a:t>For information sharing</a:t>
            </a:r>
            <a:endParaRPr kumimoji="0" lang="zh-CN" altLang="en-US" sz="1400" b="0" i="1" u="none" strike="noStrike" kern="1200" cap="none" spc="0" normalizeH="0" baseline="0" noProof="0" dirty="0">
              <a:ln>
                <a:noFill/>
              </a:ln>
              <a:solidFill>
                <a:prstClr val="black">
                  <a:lumMod val="75000"/>
                  <a:lumOff val="25000"/>
                </a:prstClr>
              </a:solidFill>
              <a:effectLst/>
              <a:uLnTx/>
              <a:uFillTx/>
              <a:latin typeface="+mn-ea"/>
              <a:cs typeface="+mn-cs"/>
            </a:endParaRPr>
          </a:p>
        </p:txBody>
      </p:sp>
      <p:sp>
        <p:nvSpPr>
          <p:cNvPr id="13" name="文本框 12">
            <a:extLst>
              <a:ext uri="{FF2B5EF4-FFF2-40B4-BE49-F238E27FC236}">
                <a16:creationId xmlns:a16="http://schemas.microsoft.com/office/drawing/2014/main" id="{EE74D0FF-E456-2432-D436-0A5DE5BC10E4}"/>
              </a:ext>
            </a:extLst>
          </p:cNvPr>
          <p:cNvSpPr txBox="1"/>
          <p:nvPr/>
        </p:nvSpPr>
        <p:spPr>
          <a:xfrm>
            <a:off x="687191" y="2533342"/>
            <a:ext cx="4627759" cy="3234703"/>
          </a:xfrm>
          <a:prstGeom prst="rect">
            <a:avLst/>
          </a:prstGeom>
          <a:noFill/>
        </p:spPr>
        <p:txBody>
          <a:bodyPr wrap="square">
            <a:noAutofit/>
          </a:bodyPr>
          <a:lstStyle/>
          <a:p>
            <a:pPr marL="285750" indent="-285750">
              <a:spcBef>
                <a:spcPts val="600"/>
              </a:spcBef>
              <a:spcAft>
                <a:spcPts val="600"/>
              </a:spcAft>
              <a:buFont typeface="Arial" panose="020B0604020202020204" pitchFamily="34" charset="0"/>
              <a:buChar char="•"/>
            </a:pPr>
            <a:r>
              <a:rPr lang="en-US" altLang="zh-CN" sz="1400" dirty="0">
                <a:latin typeface="+mn-ea"/>
              </a:rPr>
              <a:t>SSc’s epidemiology, patient journey, treatment patterns and burden have remained critical evidence gaps.</a:t>
            </a:r>
          </a:p>
          <a:p>
            <a:pPr marL="285750" indent="-285750">
              <a:spcBef>
                <a:spcPts val="600"/>
              </a:spcBef>
              <a:spcAft>
                <a:spcPts val="600"/>
              </a:spcAft>
              <a:buFont typeface="Arial" panose="020B0604020202020204" pitchFamily="34" charset="0"/>
              <a:buChar char="•"/>
            </a:pPr>
            <a:r>
              <a:rPr lang="en-US" altLang="zh-CN" sz="1400" dirty="0">
                <a:latin typeface="+mn-ea"/>
              </a:rPr>
              <a:t>Aligned with global team and integrated strategic recommendations</a:t>
            </a:r>
          </a:p>
          <a:p>
            <a:pPr marL="285750" indent="-285750">
              <a:spcBef>
                <a:spcPts val="600"/>
              </a:spcBef>
              <a:spcAft>
                <a:spcPts val="600"/>
              </a:spcAft>
              <a:buFont typeface="Arial" panose="020B0604020202020204" pitchFamily="34" charset="0"/>
              <a:buChar char="•"/>
            </a:pPr>
            <a:r>
              <a:rPr lang="en-US" altLang="zh-CN" sz="1400" i="1" dirty="0">
                <a:latin typeface="+mn-ea"/>
              </a:rPr>
              <a:t>~ 1,460,000 RMB, </a:t>
            </a:r>
            <a:r>
              <a:rPr lang="en-US" altLang="zh-CN" sz="1400" dirty="0">
                <a:latin typeface="+mn-ea"/>
              </a:rPr>
              <a:t>the study has a</a:t>
            </a:r>
            <a:r>
              <a:rPr lang="en-US" altLang="zh-CN" sz="1400" i="1" dirty="0">
                <a:latin typeface="+mn-ea"/>
              </a:rPr>
              <a:t> </a:t>
            </a:r>
            <a:r>
              <a:rPr lang="en-US" altLang="zh-CN" sz="1400" dirty="0">
                <a:latin typeface="+mn-ea"/>
              </a:rPr>
              <a:t>budget placeholder in </a:t>
            </a:r>
            <a:r>
              <a:rPr lang="en-US" altLang="zh-CN" sz="1400" i="1" dirty="0">
                <a:latin typeface="+mn-ea"/>
              </a:rPr>
              <a:t>Corporate TA funding</a:t>
            </a:r>
            <a:endParaRPr lang="zh-CN" altLang="en-US" sz="1400" i="1" dirty="0">
              <a:latin typeface="+mn-ea"/>
            </a:endParaRPr>
          </a:p>
          <a:p>
            <a:pPr marL="285750" indent="-285750">
              <a:spcBef>
                <a:spcPts val="600"/>
              </a:spcBef>
              <a:spcAft>
                <a:spcPts val="600"/>
              </a:spcAft>
              <a:buFont typeface="Arial" panose="020B0604020202020204" pitchFamily="34" charset="0"/>
              <a:buChar char="•"/>
            </a:pPr>
            <a:r>
              <a:rPr lang="en-US" altLang="zh-CN" sz="1400" dirty="0"/>
              <a:t>INFL CEC endorsed on Apr 13</a:t>
            </a:r>
            <a:r>
              <a:rPr lang="en-US" altLang="zh-CN" sz="1400" baseline="30000" dirty="0"/>
              <a:t>th</a:t>
            </a:r>
            <a:r>
              <a:rPr lang="en-US" altLang="zh-CN" sz="1400" dirty="0"/>
              <a:t>, 2026</a:t>
            </a:r>
          </a:p>
          <a:p>
            <a:pPr>
              <a:spcBef>
                <a:spcPts val="600"/>
              </a:spcBef>
              <a:spcAft>
                <a:spcPts val="600"/>
              </a:spcAft>
            </a:pPr>
            <a:endParaRPr lang="en-US" altLang="zh-CN" sz="1400" dirty="0">
              <a:latin typeface="+mn-ea"/>
            </a:endParaRPr>
          </a:p>
        </p:txBody>
      </p:sp>
      <p:sp>
        <p:nvSpPr>
          <p:cNvPr id="3" name="Object13">
            <a:extLst>
              <a:ext uri="{FF2B5EF4-FFF2-40B4-BE49-F238E27FC236}">
                <a16:creationId xmlns:a16="http://schemas.microsoft.com/office/drawing/2014/main" id="{83ED1057-69A6-3F8F-8268-ED1DF559A4CE}"/>
              </a:ext>
            </a:extLst>
          </p:cNvPr>
          <p:cNvSpPr/>
          <p:nvPr/>
        </p:nvSpPr>
        <p:spPr>
          <a:xfrm>
            <a:off x="688370" y="512812"/>
            <a:ext cx="2857500" cy="365760"/>
          </a:xfrm>
          <a:prstGeom prst="rect">
            <a:avLst/>
          </a:prstGeom>
          <a:noFill/>
          <a:ln/>
        </p:spPr>
        <p:txBody>
          <a:bodyPr wrap="square" lIns="0" tIns="0" rIns="0" bIns="0" rtlCol="0" anchor="ctr"/>
          <a:lstStyle/>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3182" b="0" i="0" u="none" strike="noStrike" kern="1200" cap="none" spc="0" normalizeH="0" baseline="0" noProof="0">
              <a:ln>
                <a:noFill/>
              </a:ln>
              <a:solidFill>
                <a:sysClr val="windowText" lastClr="000000"/>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sp>
        <p:nvSpPr>
          <p:cNvPr id="2" name="矩形 104">
            <a:extLst>
              <a:ext uri="{FF2B5EF4-FFF2-40B4-BE49-F238E27FC236}">
                <a16:creationId xmlns:a16="http://schemas.microsoft.com/office/drawing/2014/main" id="{293F9099-EF9F-1C96-8F9B-A8570577C9FA}"/>
              </a:ext>
            </a:extLst>
          </p:cNvPr>
          <p:cNvSpPr/>
          <p:nvPr/>
        </p:nvSpPr>
        <p:spPr>
          <a:xfrm>
            <a:off x="5997915" y="4695390"/>
            <a:ext cx="5522420" cy="1072656"/>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5" name="Title 1">
            <a:extLst>
              <a:ext uri="{FF2B5EF4-FFF2-40B4-BE49-F238E27FC236}">
                <a16:creationId xmlns:a16="http://schemas.microsoft.com/office/drawing/2014/main" id="{018A4351-50B2-A250-4CF2-62E918AE2C27}"/>
              </a:ext>
            </a:extLst>
          </p:cNvPr>
          <p:cNvSpPr txBox="1">
            <a:spLocks/>
          </p:cNvSpPr>
          <p:nvPr/>
        </p:nvSpPr>
        <p:spPr>
          <a:xfrm>
            <a:off x="422729" y="192585"/>
            <a:ext cx="11348033" cy="72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buClrTx/>
              <a:buSzTx/>
              <a:buFontTx/>
              <a:buNone/>
              <a:tabLst/>
              <a:defRPr/>
            </a:pPr>
            <a:r>
              <a:rPr kumimoji="0" lang="en-US" altLang="zh-CN" sz="1800" b="1" i="1" u="none" strike="noStrike" kern="1200" cap="none" spc="0" normalizeH="0" baseline="0" noProof="0" dirty="0">
                <a:ln>
                  <a:noFill/>
                </a:ln>
                <a:solidFill>
                  <a:prstClr val="black">
                    <a:lumMod val="50000"/>
                    <a:lumOff val="50000"/>
                  </a:prstClr>
                </a:solidFill>
                <a:effectLst/>
                <a:uLnTx/>
                <a:uFillTx/>
                <a:latin typeface="Boehringer Forward Head"/>
                <a:ea typeface="OPPOSans M"/>
                <a:cs typeface="+mj-cs"/>
              </a:rPr>
              <a:t>Executive Summary</a:t>
            </a:r>
            <a:br>
              <a:rPr kumimoji="0" lang="en-US" altLang="zh-CN" sz="2500" b="1" i="0" u="none" strike="noStrike" kern="1200" cap="none" spc="0" normalizeH="0" baseline="0" noProof="0" dirty="0">
                <a:ln>
                  <a:noFill/>
                </a:ln>
                <a:solidFill>
                  <a:prstClr val="black">
                    <a:lumMod val="50000"/>
                    <a:lumOff val="50000"/>
                  </a:prstClr>
                </a:solidFill>
                <a:effectLst/>
                <a:uLnTx/>
                <a:uFillTx/>
                <a:latin typeface="Boehringer Forward Head"/>
                <a:ea typeface="OPPOSans M"/>
                <a:cs typeface="+mj-cs"/>
              </a:rPr>
            </a:br>
            <a:r>
              <a:rPr kumimoji="0" lang="en-US" altLang="zh-CN" sz="2000" b="1" i="0" u="none" strike="noStrike" kern="1200" cap="none" spc="0" normalizeH="0" baseline="0" noProof="0" dirty="0">
                <a:ln>
                  <a:noFill/>
                </a:ln>
                <a:solidFill>
                  <a:srgbClr val="306534"/>
                </a:solidFill>
                <a:effectLst/>
                <a:uLnTx/>
                <a:uFillTx/>
                <a:latin typeface="Boehringer Forward Head"/>
                <a:ea typeface="OPPOSans M"/>
                <a:cs typeface="+mj-cs"/>
              </a:rPr>
              <a:t>Epidemiology and Disease Burden of SSc in Beijing: </a:t>
            </a:r>
          </a:p>
          <a:p>
            <a:pPr marL="0" marR="0" lvl="0" indent="0" algn="l" defTabSz="914400" rtl="0" eaLnBrk="1" fontAlgn="auto" latinLnBrk="0" hangingPunct="1">
              <a:lnSpc>
                <a:spcPct val="100000"/>
              </a:lnSpc>
              <a:spcBef>
                <a:spcPct val="0"/>
              </a:spcBef>
              <a:buClrTx/>
              <a:buSzTx/>
              <a:buFontTx/>
              <a:buNone/>
              <a:tabLst/>
              <a:defRPr/>
            </a:pPr>
            <a:r>
              <a:rPr kumimoji="0" lang="en-US" altLang="zh-CN" sz="2000" b="1" i="0" u="none" strike="noStrike" kern="1200" cap="none" spc="0" normalizeH="0" baseline="0" noProof="0" dirty="0">
                <a:ln>
                  <a:noFill/>
                </a:ln>
                <a:solidFill>
                  <a:srgbClr val="306534"/>
                </a:solidFill>
                <a:effectLst/>
                <a:uLnTx/>
                <a:uFillTx/>
                <a:latin typeface="Boehringer Forward Head"/>
                <a:ea typeface="OPPOSans M"/>
                <a:cs typeface="+mj-cs"/>
              </a:rPr>
              <a:t>A Study Based on the Beijing Basic Medical Claims Database   </a:t>
            </a:r>
            <a:endParaRPr kumimoji="0" lang="zh-CN" altLang="en-US" sz="2000" b="0" i="0" u="none" strike="noStrike" kern="1200" cap="none" spc="0" normalizeH="0" baseline="0" noProof="0" dirty="0">
              <a:ln>
                <a:noFill/>
              </a:ln>
              <a:solidFill>
                <a:srgbClr val="306534"/>
              </a:solidFill>
              <a:effectLst/>
              <a:uLnTx/>
              <a:uFillTx/>
              <a:latin typeface="Arial Black"/>
              <a:ea typeface="OPPOSans M"/>
              <a:cs typeface="+mj-cs"/>
            </a:endParaRPr>
          </a:p>
        </p:txBody>
      </p:sp>
      <p:sp>
        <p:nvSpPr>
          <p:cNvPr id="108" name="矩形: 圆角 107">
            <a:extLst>
              <a:ext uri="{FF2B5EF4-FFF2-40B4-BE49-F238E27FC236}">
                <a16:creationId xmlns:a16="http://schemas.microsoft.com/office/drawing/2014/main" id="{7EC3D8D4-E562-802E-C322-11C97D6B087E}"/>
              </a:ext>
            </a:extLst>
          </p:cNvPr>
          <p:cNvSpPr/>
          <p:nvPr>
            <p:custDataLst>
              <p:tags r:id="rId6"/>
            </p:custDataLst>
          </p:nvPr>
        </p:nvSpPr>
        <p:spPr>
          <a:xfrm>
            <a:off x="6248422" y="4518264"/>
            <a:ext cx="3353673"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Request for PEC</a:t>
            </a:r>
            <a:endParaRPr kumimoji="0" lang="zh-CN" altLang="en-US" sz="1600" b="1" i="1"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Tree>
    <p:extLst>
      <p:ext uri="{BB962C8B-B14F-4D97-AF65-F5344CB8AC3E}">
        <p14:creationId xmlns:p14="http://schemas.microsoft.com/office/powerpoint/2010/main" val="1316504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CE725-A9F7-9BA8-20FF-51AC3C031626}"/>
            </a:ext>
          </a:extLst>
        </p:cNvPr>
        <p:cNvGrpSpPr/>
        <p:nvPr/>
      </p:nvGrpSpPr>
      <p:grpSpPr>
        <a:xfrm>
          <a:off x="0" y="0"/>
          <a:ext cx="0" cy="0"/>
          <a:chOff x="0" y="0"/>
          <a:chExt cx="0" cy="0"/>
        </a:xfrm>
      </p:grpSpPr>
      <p:sp>
        <p:nvSpPr>
          <p:cNvPr id="6" name="矩形 28">
            <a:extLst>
              <a:ext uri="{FF2B5EF4-FFF2-40B4-BE49-F238E27FC236}">
                <a16:creationId xmlns:a16="http://schemas.microsoft.com/office/drawing/2014/main" id="{51DE10E3-2E4D-8656-C967-2BD69CC83DC1}"/>
              </a:ext>
            </a:extLst>
          </p:cNvPr>
          <p:cNvSpPr/>
          <p:nvPr/>
        </p:nvSpPr>
        <p:spPr>
          <a:xfrm>
            <a:off x="1883093" y="5342165"/>
            <a:ext cx="9115425" cy="896090"/>
          </a:xfrm>
          <a:prstGeom prst="rect">
            <a:avLst/>
          </a:prstGeom>
          <a:solidFill>
            <a:schemeClr val="accent1">
              <a:lumMod val="90000"/>
              <a:lumOff val="10000"/>
            </a:schemeClr>
          </a:solidFill>
          <a:ln>
            <a:noFill/>
            <a:prstDash val="sysDash"/>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52641204-C52C-7C8D-B7A2-D07D769C9B2C}"/>
              </a:ext>
            </a:extLst>
          </p:cNvPr>
          <p:cNvSpPr/>
          <p:nvPr/>
        </p:nvSpPr>
        <p:spPr>
          <a:xfrm>
            <a:off x="356829" y="1654552"/>
            <a:ext cx="5703030" cy="2425336"/>
          </a:xfrm>
          <a:custGeom>
            <a:avLst/>
            <a:gdLst>
              <a:gd name="connsiteX0" fmla="*/ 5299710 w 6104889"/>
              <a:gd name="connsiteY0" fmla="*/ 3091180 h 3091180"/>
              <a:gd name="connsiteX1" fmla="*/ 0 w 6104889"/>
              <a:gd name="connsiteY1" fmla="*/ 3091180 h 3091180"/>
              <a:gd name="connsiteX2" fmla="*/ 0 w 6104889"/>
              <a:gd name="connsiteY2" fmla="*/ 0 h 3091180"/>
              <a:gd name="connsiteX3" fmla="*/ 6104890 w 6104889"/>
              <a:gd name="connsiteY3" fmla="*/ 0 h 3091180"/>
            </a:gdLst>
            <a:ahLst/>
            <a:cxnLst>
              <a:cxn ang="0">
                <a:pos x="connsiteX0" y="connsiteY0"/>
              </a:cxn>
              <a:cxn ang="0">
                <a:pos x="connsiteX1" y="connsiteY1"/>
              </a:cxn>
              <a:cxn ang="0">
                <a:pos x="connsiteX2" y="connsiteY2"/>
              </a:cxn>
              <a:cxn ang="0">
                <a:pos x="connsiteX3" y="connsiteY3"/>
              </a:cxn>
            </a:cxnLst>
            <a:rect l="l" t="t" r="r" b="b"/>
            <a:pathLst>
              <a:path w="6104889" h="3091180">
                <a:moveTo>
                  <a:pt x="5299710" y="3091180"/>
                </a:moveTo>
                <a:lnTo>
                  <a:pt x="0" y="3091180"/>
                </a:lnTo>
                <a:lnTo>
                  <a:pt x="0" y="0"/>
                </a:lnTo>
                <a:lnTo>
                  <a:pt x="6104890" y="0"/>
                </a:lnTo>
                <a:close/>
              </a:path>
            </a:pathLst>
          </a:custGeom>
          <a:solidFill>
            <a:schemeClr val="bg1">
              <a:lumMod val="95000"/>
            </a:schemeClr>
          </a:solidFill>
          <a:ln w="17261" cap="flat">
            <a:noFill/>
            <a:prstDash val="solid"/>
            <a:miter/>
          </a:ln>
        </p:spPr>
        <p:txBody>
          <a:bodyPr rtlCol="0" anchor="ctr"/>
          <a:lstStyle/>
          <a:p>
            <a:pPr marL="180000" indent="-180000">
              <a:spcAft>
                <a:spcPts val="600"/>
              </a:spcAft>
              <a:buFont typeface="Arial" panose="020B0604020202020204" pitchFamily="34" charset="0"/>
              <a:buChar char="•"/>
            </a:pPr>
            <a:endParaRPr lang="en-US" altLang="zh-CN" i="1"/>
          </a:p>
        </p:txBody>
      </p:sp>
      <p:sp>
        <p:nvSpPr>
          <p:cNvPr id="14" name="任意形状 13">
            <a:extLst>
              <a:ext uri="{FF2B5EF4-FFF2-40B4-BE49-F238E27FC236}">
                <a16:creationId xmlns:a16="http://schemas.microsoft.com/office/drawing/2014/main" id="{F1E5C366-1BA9-7B34-65E7-6D90E7D00736}"/>
              </a:ext>
            </a:extLst>
          </p:cNvPr>
          <p:cNvSpPr/>
          <p:nvPr/>
        </p:nvSpPr>
        <p:spPr>
          <a:xfrm>
            <a:off x="5597836" y="2150500"/>
            <a:ext cx="6219916" cy="3052948"/>
          </a:xfrm>
          <a:custGeom>
            <a:avLst/>
            <a:gdLst>
              <a:gd name="connsiteX0" fmla="*/ 805180 w 6104890"/>
              <a:gd name="connsiteY0" fmla="*/ 0 h 3091180"/>
              <a:gd name="connsiteX1" fmla="*/ 6104890 w 6104890"/>
              <a:gd name="connsiteY1" fmla="*/ 0 h 3091180"/>
              <a:gd name="connsiteX2" fmla="*/ 6104890 w 6104890"/>
              <a:gd name="connsiteY2" fmla="*/ 3091180 h 3091180"/>
              <a:gd name="connsiteX3" fmla="*/ 0 w 6104890"/>
              <a:gd name="connsiteY3" fmla="*/ 3091180 h 3091180"/>
            </a:gdLst>
            <a:ahLst/>
            <a:cxnLst>
              <a:cxn ang="0">
                <a:pos x="connsiteX0" y="connsiteY0"/>
              </a:cxn>
              <a:cxn ang="0">
                <a:pos x="connsiteX1" y="connsiteY1"/>
              </a:cxn>
              <a:cxn ang="0">
                <a:pos x="connsiteX2" y="connsiteY2"/>
              </a:cxn>
              <a:cxn ang="0">
                <a:pos x="connsiteX3" y="connsiteY3"/>
              </a:cxn>
            </a:cxnLst>
            <a:rect l="l" t="t" r="r" b="b"/>
            <a:pathLst>
              <a:path w="6104890" h="3091180">
                <a:moveTo>
                  <a:pt x="805180" y="0"/>
                </a:moveTo>
                <a:lnTo>
                  <a:pt x="6104890" y="0"/>
                </a:lnTo>
                <a:lnTo>
                  <a:pt x="6104890" y="3091180"/>
                </a:lnTo>
                <a:lnTo>
                  <a:pt x="0" y="3091180"/>
                </a:lnTo>
                <a:close/>
              </a:path>
            </a:pathLst>
          </a:custGeom>
          <a:solidFill>
            <a:schemeClr val="bg1">
              <a:lumMod val="95000"/>
            </a:schemeClr>
          </a:solidFill>
          <a:ln w="17261"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8" name="任意形状 17">
            <a:extLst>
              <a:ext uri="{FF2B5EF4-FFF2-40B4-BE49-F238E27FC236}">
                <a16:creationId xmlns:a16="http://schemas.microsoft.com/office/drawing/2014/main" id="{611212AE-E14C-EEE8-8F31-D8AECD46D045}"/>
              </a:ext>
            </a:extLst>
          </p:cNvPr>
          <p:cNvSpPr/>
          <p:nvPr/>
        </p:nvSpPr>
        <p:spPr>
          <a:xfrm>
            <a:off x="4780915" y="1973091"/>
            <a:ext cx="2306319" cy="2306320"/>
          </a:xfrm>
          <a:custGeom>
            <a:avLst/>
            <a:gdLst>
              <a:gd name="connsiteX0" fmla="*/ 2306320 w 2306319"/>
              <a:gd name="connsiteY0" fmla="*/ 1153160 h 2306320"/>
              <a:gd name="connsiteX1" fmla="*/ 1153160 w 2306319"/>
              <a:gd name="connsiteY1" fmla="*/ 2306320 h 2306320"/>
              <a:gd name="connsiteX2" fmla="*/ 0 w 2306319"/>
              <a:gd name="connsiteY2" fmla="*/ 1153160 h 2306320"/>
              <a:gd name="connsiteX3" fmla="*/ 1153160 w 2306319"/>
              <a:gd name="connsiteY3" fmla="*/ 0 h 2306320"/>
              <a:gd name="connsiteX4" fmla="*/ 2306320 w 2306319"/>
              <a:gd name="connsiteY4" fmla="*/ 1153160 h 2306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6319" h="2306320">
                <a:moveTo>
                  <a:pt x="2306320" y="1153160"/>
                </a:moveTo>
                <a:cubicBezTo>
                  <a:pt x="2306320" y="1790033"/>
                  <a:pt x="1790033" y="2306320"/>
                  <a:pt x="1153160" y="2306320"/>
                </a:cubicBezTo>
                <a:cubicBezTo>
                  <a:pt x="516287" y="2306320"/>
                  <a:pt x="0" y="1790032"/>
                  <a:pt x="0" y="1153160"/>
                </a:cubicBezTo>
                <a:cubicBezTo>
                  <a:pt x="0" y="516287"/>
                  <a:pt x="516288" y="0"/>
                  <a:pt x="1153160" y="0"/>
                </a:cubicBezTo>
                <a:cubicBezTo>
                  <a:pt x="1790033" y="0"/>
                  <a:pt x="2306320" y="516287"/>
                  <a:pt x="2306320" y="1153160"/>
                </a:cubicBezTo>
                <a:close/>
              </a:path>
            </a:pathLst>
          </a:custGeom>
          <a:solidFill>
            <a:schemeClr val="bg1"/>
          </a:solidFill>
          <a:ln w="16651"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 name="任意形状 11">
            <a:extLst>
              <a:ext uri="{FF2B5EF4-FFF2-40B4-BE49-F238E27FC236}">
                <a16:creationId xmlns:a16="http://schemas.microsoft.com/office/drawing/2014/main" id="{6C5DF5BE-C477-2032-43FA-E8CD9382F683}"/>
              </a:ext>
            </a:extLst>
          </p:cNvPr>
          <p:cNvSpPr/>
          <p:nvPr/>
        </p:nvSpPr>
        <p:spPr>
          <a:xfrm>
            <a:off x="616165" y="3859162"/>
            <a:ext cx="2117510" cy="462279"/>
          </a:xfrm>
          <a:custGeom>
            <a:avLst/>
            <a:gdLst>
              <a:gd name="connsiteX0" fmla="*/ 0 w 2378710"/>
              <a:gd name="connsiteY0" fmla="*/ 0 h 462279"/>
              <a:gd name="connsiteX1" fmla="*/ 2378710 w 2378710"/>
              <a:gd name="connsiteY1" fmla="*/ 0 h 462279"/>
              <a:gd name="connsiteX2" fmla="*/ 2378710 w 2378710"/>
              <a:gd name="connsiteY2" fmla="*/ 462280 h 462279"/>
              <a:gd name="connsiteX3" fmla="*/ 0 w 2378710"/>
              <a:gd name="connsiteY3" fmla="*/ 462280 h 462279"/>
            </a:gdLst>
            <a:ahLst/>
            <a:cxnLst>
              <a:cxn ang="0">
                <a:pos x="connsiteX0" y="connsiteY0"/>
              </a:cxn>
              <a:cxn ang="0">
                <a:pos x="connsiteX1" y="connsiteY1"/>
              </a:cxn>
              <a:cxn ang="0">
                <a:pos x="connsiteX2" y="connsiteY2"/>
              </a:cxn>
              <a:cxn ang="0">
                <a:pos x="connsiteX3" y="connsiteY3"/>
              </a:cxn>
            </a:cxnLst>
            <a:rect l="l" t="t" r="r" b="b"/>
            <a:pathLst>
              <a:path w="2378710" h="462279">
                <a:moveTo>
                  <a:pt x="0" y="0"/>
                </a:moveTo>
                <a:lnTo>
                  <a:pt x="2378710" y="0"/>
                </a:lnTo>
                <a:lnTo>
                  <a:pt x="2378710" y="462280"/>
                </a:lnTo>
                <a:lnTo>
                  <a:pt x="0" y="462280"/>
                </a:lnTo>
                <a:close/>
              </a:path>
            </a:pathLst>
          </a:custGeom>
          <a:gradFill flip="none" rotWithShape="1">
            <a:gsLst>
              <a:gs pos="0">
                <a:schemeClr val="tx2">
                  <a:lumMod val="50000"/>
                  <a:tint val="66000"/>
                  <a:satMod val="160000"/>
                </a:schemeClr>
              </a:gs>
              <a:gs pos="50000">
                <a:schemeClr val="tx2">
                  <a:lumMod val="50000"/>
                  <a:tint val="44500"/>
                  <a:satMod val="160000"/>
                </a:schemeClr>
              </a:gs>
              <a:gs pos="100000">
                <a:schemeClr val="tx2">
                  <a:lumMod val="50000"/>
                  <a:tint val="23500"/>
                  <a:satMod val="160000"/>
                </a:schemeClr>
              </a:gs>
            </a:gsLst>
            <a:lin ang="0" scaled="1"/>
            <a:tileRect/>
          </a:gradFill>
          <a:ln w="14522"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5" name="任意形状 14">
            <a:extLst>
              <a:ext uri="{FF2B5EF4-FFF2-40B4-BE49-F238E27FC236}">
                <a16:creationId xmlns:a16="http://schemas.microsoft.com/office/drawing/2014/main" id="{71366384-BBF4-7779-DBBB-865431CF9AF7}"/>
              </a:ext>
            </a:extLst>
          </p:cNvPr>
          <p:cNvSpPr/>
          <p:nvPr/>
        </p:nvSpPr>
        <p:spPr>
          <a:xfrm rot="10800000">
            <a:off x="8537575" y="1890164"/>
            <a:ext cx="2973746" cy="462279"/>
          </a:xfrm>
          <a:custGeom>
            <a:avLst/>
            <a:gdLst>
              <a:gd name="connsiteX0" fmla="*/ 0 w 2378709"/>
              <a:gd name="connsiteY0" fmla="*/ 0 h 462279"/>
              <a:gd name="connsiteX1" fmla="*/ 2378710 w 2378709"/>
              <a:gd name="connsiteY1" fmla="*/ 0 h 462279"/>
              <a:gd name="connsiteX2" fmla="*/ 2378710 w 2378709"/>
              <a:gd name="connsiteY2" fmla="*/ 462280 h 462279"/>
              <a:gd name="connsiteX3" fmla="*/ 0 w 2378709"/>
              <a:gd name="connsiteY3" fmla="*/ 462280 h 462279"/>
            </a:gdLst>
            <a:ahLst/>
            <a:cxnLst>
              <a:cxn ang="0">
                <a:pos x="connsiteX0" y="connsiteY0"/>
              </a:cxn>
              <a:cxn ang="0">
                <a:pos x="connsiteX1" y="connsiteY1"/>
              </a:cxn>
              <a:cxn ang="0">
                <a:pos x="connsiteX2" y="connsiteY2"/>
              </a:cxn>
              <a:cxn ang="0">
                <a:pos x="connsiteX3" y="connsiteY3"/>
              </a:cxn>
            </a:cxnLst>
            <a:rect l="l" t="t" r="r" b="b"/>
            <a:pathLst>
              <a:path w="2378709" h="462279">
                <a:moveTo>
                  <a:pt x="0" y="0"/>
                </a:moveTo>
                <a:lnTo>
                  <a:pt x="2378710" y="0"/>
                </a:lnTo>
                <a:lnTo>
                  <a:pt x="2378710" y="462280"/>
                </a:lnTo>
                <a:lnTo>
                  <a:pt x="0" y="462280"/>
                </a:lnTo>
                <a:close/>
              </a:path>
            </a:pathLst>
          </a:cu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2700000" scaled="1"/>
            <a:tileRect/>
          </a:gradFill>
          <a:ln w="14522"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6" name="文本框 25">
            <a:extLst>
              <a:ext uri="{FF2B5EF4-FFF2-40B4-BE49-F238E27FC236}">
                <a16:creationId xmlns:a16="http://schemas.microsoft.com/office/drawing/2014/main" id="{5AEE643F-6F08-5187-BEC2-6CF771B924BE}"/>
              </a:ext>
            </a:extLst>
          </p:cNvPr>
          <p:cNvSpPr txBox="1"/>
          <p:nvPr/>
        </p:nvSpPr>
        <p:spPr>
          <a:xfrm>
            <a:off x="7200625" y="2537860"/>
            <a:ext cx="4524639" cy="2492990"/>
          </a:xfrm>
          <a:prstGeom prst="rect">
            <a:avLst/>
          </a:prstGeom>
          <a:noFill/>
          <a:ln>
            <a:noFill/>
          </a:ln>
        </p:spPr>
        <p:txBody>
          <a:bodyPr wrap="square" rtlCol="0">
            <a:spAutoFit/>
          </a:bodyPr>
          <a:lstStyle/>
          <a:p>
            <a:pPr marL="285750" lvl="0" indent="-285750">
              <a:spcAft>
                <a:spcPts val="600"/>
              </a:spcAft>
              <a:buFont typeface="Arial" panose="020B0604020202020204" pitchFamily="34" charset="0"/>
              <a:buChar char="•"/>
              <a:defRPr/>
            </a:pPr>
            <a:r>
              <a:rPr lang="en-US" altLang="zh-CN" sz="1400" dirty="0">
                <a:latin typeface="+mn-ea"/>
              </a:rPr>
              <a:t>Prevalence, demographics and SDOH of patients</a:t>
            </a:r>
          </a:p>
          <a:p>
            <a:pPr marL="285750" lvl="0" indent="-285750">
              <a:spcAft>
                <a:spcPts val="600"/>
              </a:spcAft>
              <a:buFont typeface="Arial" panose="020B0604020202020204" pitchFamily="34" charset="0"/>
              <a:buChar char="•"/>
              <a:defRPr/>
            </a:pPr>
            <a:r>
              <a:rPr lang="en-GB" altLang="zh-CN" sz="1400" dirty="0">
                <a:latin typeface="+mn-ea"/>
              </a:rPr>
              <a:t>Natural history of SSc </a:t>
            </a:r>
          </a:p>
          <a:p>
            <a:pPr marL="285750" indent="-285750">
              <a:spcAft>
                <a:spcPts val="600"/>
              </a:spcAft>
              <a:buFont typeface="Arial" panose="020B0604020202020204" pitchFamily="34" charset="0"/>
              <a:buChar char="•"/>
              <a:defRPr/>
            </a:pPr>
            <a:r>
              <a:rPr lang="en-US" altLang="zh-CN" sz="1400" kern="100" dirty="0">
                <a:latin typeface="+mn-ea"/>
                <a:cs typeface="Calibri" panose="020F0502020204030204" pitchFamily="34" charset="0"/>
              </a:rPr>
              <a:t>Mortality rates of SSc </a:t>
            </a:r>
          </a:p>
          <a:p>
            <a:pPr marL="285750" indent="-285750">
              <a:spcAft>
                <a:spcPts val="600"/>
              </a:spcAft>
              <a:buFont typeface="Arial" panose="020B0604020202020204" pitchFamily="34" charset="0"/>
              <a:buChar char="•"/>
              <a:defRPr/>
            </a:pPr>
            <a:r>
              <a:rPr lang="en-US" altLang="zh-CN" sz="1400" kern="100" dirty="0">
                <a:latin typeface="+mn-ea"/>
                <a:cs typeface="Calibri" panose="020F0502020204030204" pitchFamily="34" charset="0"/>
              </a:rPr>
              <a:t>Background rates of disease complications and co-morbidities</a:t>
            </a:r>
          </a:p>
          <a:p>
            <a:pPr marL="285750" indent="-285750">
              <a:spcAft>
                <a:spcPts val="600"/>
              </a:spcAft>
              <a:buFont typeface="Arial" panose="020B0604020202020204" pitchFamily="34" charset="0"/>
              <a:buChar char="•"/>
              <a:defRPr/>
            </a:pPr>
            <a:r>
              <a:rPr lang="en-US" altLang="zh-CN" sz="1400" kern="100" dirty="0">
                <a:latin typeface="+mn-ea"/>
                <a:cs typeface="Calibri" panose="020F0502020204030204" pitchFamily="34" charset="0"/>
              </a:rPr>
              <a:t>Patient journey pre-diagnosis and post-diagnosis</a:t>
            </a:r>
          </a:p>
          <a:p>
            <a:pPr marL="285750" indent="-285750">
              <a:spcAft>
                <a:spcPts val="600"/>
              </a:spcAft>
              <a:buFont typeface="Arial" panose="020B0604020202020204" pitchFamily="34" charset="0"/>
              <a:buChar char="•"/>
              <a:defRPr/>
            </a:pPr>
            <a:r>
              <a:rPr lang="en-US" altLang="zh-CN" sz="1400" kern="100" dirty="0">
                <a:latin typeface="+mn-ea"/>
                <a:cs typeface="Calibri" panose="020F0502020204030204" pitchFamily="34" charset="0"/>
              </a:rPr>
              <a:t>Treatment patterns including co-medications</a:t>
            </a:r>
          </a:p>
          <a:p>
            <a:pPr marL="285750" indent="-285750">
              <a:spcAft>
                <a:spcPts val="600"/>
              </a:spcAft>
              <a:buFont typeface="Arial" panose="020B0604020202020204" pitchFamily="34" charset="0"/>
              <a:buChar char="•"/>
              <a:defRPr/>
            </a:pPr>
            <a:r>
              <a:rPr lang="en-US" altLang="zh-CN" sz="1400" dirty="0">
                <a:latin typeface="+mn-ea"/>
              </a:rPr>
              <a:t>Healthcare Resource Utilization &amp; cost of illness including </a:t>
            </a:r>
            <a:r>
              <a:rPr lang="en-US" altLang="zh-CN" sz="1400" kern="100" dirty="0">
                <a:latin typeface="+mn-ea"/>
                <a:cs typeface="Calibri" panose="020F0502020204030204" pitchFamily="34" charset="0"/>
              </a:rPr>
              <a:t>direct and indirect/non-medical costs </a:t>
            </a:r>
          </a:p>
        </p:txBody>
      </p:sp>
      <p:sp>
        <p:nvSpPr>
          <p:cNvPr id="34" name="任意形状 33">
            <a:extLst>
              <a:ext uri="{FF2B5EF4-FFF2-40B4-BE49-F238E27FC236}">
                <a16:creationId xmlns:a16="http://schemas.microsoft.com/office/drawing/2014/main" id="{F41AD01F-81DA-B657-04A5-74B8BD1497F9}"/>
              </a:ext>
            </a:extLst>
          </p:cNvPr>
          <p:cNvSpPr/>
          <p:nvPr/>
        </p:nvSpPr>
        <p:spPr>
          <a:xfrm>
            <a:off x="4973955" y="2159648"/>
            <a:ext cx="1920238" cy="1920239"/>
          </a:xfrm>
          <a:custGeom>
            <a:avLst/>
            <a:gdLst>
              <a:gd name="connsiteX0" fmla="*/ 2306320 w 2306319"/>
              <a:gd name="connsiteY0" fmla="*/ 1153160 h 2306320"/>
              <a:gd name="connsiteX1" fmla="*/ 1153160 w 2306319"/>
              <a:gd name="connsiteY1" fmla="*/ 2306320 h 2306320"/>
              <a:gd name="connsiteX2" fmla="*/ 0 w 2306319"/>
              <a:gd name="connsiteY2" fmla="*/ 1153160 h 2306320"/>
              <a:gd name="connsiteX3" fmla="*/ 1153160 w 2306319"/>
              <a:gd name="connsiteY3" fmla="*/ 0 h 2306320"/>
              <a:gd name="connsiteX4" fmla="*/ 2306320 w 2306319"/>
              <a:gd name="connsiteY4" fmla="*/ 1153160 h 2306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6319" h="2306320">
                <a:moveTo>
                  <a:pt x="2306320" y="1153160"/>
                </a:moveTo>
                <a:cubicBezTo>
                  <a:pt x="2306320" y="1790033"/>
                  <a:pt x="1790033" y="2306320"/>
                  <a:pt x="1153160" y="2306320"/>
                </a:cubicBezTo>
                <a:cubicBezTo>
                  <a:pt x="516287" y="2306320"/>
                  <a:pt x="0" y="1790032"/>
                  <a:pt x="0" y="1153160"/>
                </a:cubicBezTo>
                <a:cubicBezTo>
                  <a:pt x="0" y="516287"/>
                  <a:pt x="516288" y="0"/>
                  <a:pt x="1153160" y="0"/>
                </a:cubicBezTo>
                <a:cubicBezTo>
                  <a:pt x="1790033" y="0"/>
                  <a:pt x="2306320" y="516287"/>
                  <a:pt x="2306320" y="1153160"/>
                </a:cubicBezTo>
                <a:close/>
              </a:path>
            </a:pathLst>
          </a:custGeom>
          <a:solidFill>
            <a:schemeClr val="bg2">
              <a:lumMod val="90000"/>
              <a:lumOff val="10000"/>
            </a:schemeClr>
          </a:solidFill>
          <a:ln w="16651"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文本框 6">
            <a:extLst>
              <a:ext uri="{FF2B5EF4-FFF2-40B4-BE49-F238E27FC236}">
                <a16:creationId xmlns:a16="http://schemas.microsoft.com/office/drawing/2014/main" id="{852B5203-50BA-3EA5-05E8-9F3FC82955A8}"/>
              </a:ext>
            </a:extLst>
          </p:cNvPr>
          <p:cNvSpPr txBox="1"/>
          <p:nvPr/>
        </p:nvSpPr>
        <p:spPr>
          <a:xfrm>
            <a:off x="5252197" y="2672267"/>
            <a:ext cx="1441337" cy="1015663"/>
          </a:xfrm>
          <a:prstGeom prst="rect">
            <a:avLst/>
          </a:prstGeom>
          <a:noFill/>
        </p:spPr>
        <p:txBody>
          <a:bodyPr wrap="square" rtlCol="0">
            <a:spAutoFit/>
          </a:bodyPr>
          <a:lstStyle/>
          <a:p>
            <a:pPr algn="ctr"/>
            <a:r>
              <a:rPr lang="en-US" altLang="zh-CN" sz="2000" b="1" dirty="0">
                <a:solidFill>
                  <a:schemeClr val="bg1"/>
                </a:solidFill>
                <a:latin typeface="+mn-ea"/>
              </a:rPr>
              <a:t>Systemic Sclerosis </a:t>
            </a:r>
          </a:p>
          <a:p>
            <a:pPr algn="ctr"/>
            <a:r>
              <a:rPr lang="en-US" altLang="zh-CN" sz="2000" b="1" dirty="0">
                <a:solidFill>
                  <a:schemeClr val="bg1"/>
                </a:solidFill>
                <a:latin typeface="+mn-ea"/>
              </a:rPr>
              <a:t>(SSc)</a:t>
            </a:r>
            <a:endParaRPr lang="zh-CN" altLang="en-US" sz="2000" b="1" dirty="0">
              <a:solidFill>
                <a:schemeClr val="bg1"/>
              </a:solidFill>
              <a:latin typeface="+mn-ea"/>
            </a:endParaRPr>
          </a:p>
        </p:txBody>
      </p:sp>
      <p:sp>
        <p:nvSpPr>
          <p:cNvPr id="5" name="Title 1">
            <a:extLst>
              <a:ext uri="{FF2B5EF4-FFF2-40B4-BE49-F238E27FC236}">
                <a16:creationId xmlns:a16="http://schemas.microsoft.com/office/drawing/2014/main" id="{1BA57B87-80AF-DA40-B917-79606365272F}"/>
              </a:ext>
            </a:extLst>
          </p:cNvPr>
          <p:cNvSpPr txBox="1">
            <a:spLocks noGrp="1"/>
          </p:cNvSpPr>
          <p:nvPr>
            <p:ph type="title"/>
          </p:nvPr>
        </p:nvSpPr>
        <p:spPr>
          <a:xfrm>
            <a:off x="479425" y="476250"/>
            <a:ext cx="11233150" cy="720725"/>
          </a:xfrm>
          <a:prstGeom prst="rect">
            <a:avLst/>
          </a:prstGeom>
        </p:spPr>
        <p:txBody>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800" dirty="0">
                <a:solidFill>
                  <a:schemeClr val="tx1">
                    <a:lumMod val="85000"/>
                    <a:lumOff val="15000"/>
                  </a:schemeClr>
                </a:solidFill>
              </a:rPr>
              <a:t>Addressing Evidence Gaps Identified in 2025 SSc RWE Planning</a:t>
            </a:r>
            <a:endParaRPr lang="zh-CN" altLang="en-US" sz="2800" dirty="0"/>
          </a:p>
        </p:txBody>
      </p:sp>
      <p:sp>
        <p:nvSpPr>
          <p:cNvPr id="33" name="文本框 23">
            <a:extLst>
              <a:ext uri="{FF2B5EF4-FFF2-40B4-BE49-F238E27FC236}">
                <a16:creationId xmlns:a16="http://schemas.microsoft.com/office/drawing/2014/main" id="{0BB0D87C-BCF5-524A-ADAE-A09B50D9B453}"/>
              </a:ext>
            </a:extLst>
          </p:cNvPr>
          <p:cNvSpPr txBox="1"/>
          <p:nvPr/>
        </p:nvSpPr>
        <p:spPr>
          <a:xfrm>
            <a:off x="645468" y="2220552"/>
            <a:ext cx="4089459" cy="1184940"/>
          </a:xfrm>
          <a:prstGeom prst="rect">
            <a:avLst/>
          </a:prstGeom>
          <a:noFill/>
          <a:ln>
            <a:noFill/>
          </a:ln>
        </p:spPr>
        <p:txBody>
          <a:bodyPr wrap="square" rtlCol="0">
            <a:spAutoFit/>
          </a:bodyPr>
          <a:lstStyle/>
          <a:p>
            <a:pPr marL="285750" indent="-285750">
              <a:spcAft>
                <a:spcPts val="600"/>
              </a:spcAft>
              <a:buFont typeface="Arial" panose="020B0604020202020204" pitchFamily="34" charset="0"/>
              <a:buChar char="•"/>
            </a:pPr>
            <a:r>
              <a:rPr lang="en-US" altLang="zh-CN" sz="1400" dirty="0">
                <a:latin typeface="+mn-ea"/>
              </a:rPr>
              <a:t>Prevalence and incidence of SSc</a:t>
            </a:r>
          </a:p>
          <a:p>
            <a:pPr marL="285750" indent="-285750">
              <a:spcAft>
                <a:spcPts val="600"/>
              </a:spcAft>
              <a:buFont typeface="Arial" panose="020B0604020202020204" pitchFamily="34" charset="0"/>
              <a:buChar char="•"/>
            </a:pPr>
            <a:r>
              <a:rPr lang="en-US" altLang="zh-CN" sz="1400" dirty="0">
                <a:latin typeface="+mn-ea"/>
              </a:rPr>
              <a:t>Patient journey of SSc</a:t>
            </a:r>
          </a:p>
          <a:p>
            <a:pPr marL="285750" indent="-285750">
              <a:spcAft>
                <a:spcPts val="600"/>
              </a:spcAft>
              <a:buFont typeface="Arial" panose="020B0604020202020204" pitchFamily="34" charset="0"/>
              <a:buChar char="•"/>
            </a:pPr>
            <a:r>
              <a:rPr lang="en-US" altLang="zh-CN" sz="1400" dirty="0">
                <a:latin typeface="+mn-ea"/>
              </a:rPr>
              <a:t>Treatment patterns of SSc</a:t>
            </a:r>
          </a:p>
          <a:p>
            <a:pPr marL="285750" indent="-285750">
              <a:spcAft>
                <a:spcPts val="600"/>
              </a:spcAft>
              <a:buFont typeface="Arial" panose="020B0604020202020204" pitchFamily="34" charset="0"/>
              <a:buChar char="•"/>
            </a:pPr>
            <a:r>
              <a:rPr lang="en-US" altLang="zh-CN" sz="1400" dirty="0">
                <a:latin typeface="+mn-ea"/>
              </a:rPr>
              <a:t>Disease burden and HCRU </a:t>
            </a:r>
          </a:p>
        </p:txBody>
      </p:sp>
      <p:sp>
        <p:nvSpPr>
          <p:cNvPr id="4" name="TextBox 3">
            <a:extLst>
              <a:ext uri="{FF2B5EF4-FFF2-40B4-BE49-F238E27FC236}">
                <a16:creationId xmlns:a16="http://schemas.microsoft.com/office/drawing/2014/main" id="{37005254-2966-77DF-6B58-06D832A827CF}"/>
              </a:ext>
            </a:extLst>
          </p:cNvPr>
          <p:cNvSpPr txBox="1"/>
          <p:nvPr/>
        </p:nvSpPr>
        <p:spPr bwMode="gray">
          <a:xfrm>
            <a:off x="1958470" y="5537355"/>
            <a:ext cx="8778656" cy="584775"/>
          </a:xfrm>
          <a:prstGeom prst="rect">
            <a:avLst/>
          </a:prstGeom>
          <a:noFill/>
        </p:spPr>
        <p:txBody>
          <a:bodyPr wrap="square">
            <a:spAutoFit/>
          </a:bodyPr>
          <a:lstStyle/>
          <a:p>
            <a:pPr algn="ctr">
              <a:spcAft>
                <a:spcPts val="600"/>
              </a:spcAft>
            </a:pPr>
            <a:r>
              <a:rPr lang="en-US" altLang="zh-CN" sz="1600" dirty="0">
                <a:solidFill>
                  <a:schemeClr val="bg1"/>
                </a:solidFill>
                <a:latin typeface="+mn-ea"/>
              </a:rPr>
              <a:t>Addressing these evidence gaps will support NDA submission, marketing access (NRDL submissions, value story and economic modeling, etc.), and medical communication</a:t>
            </a:r>
            <a:endParaRPr lang="zh-CN" altLang="en-US" sz="1600" dirty="0">
              <a:solidFill>
                <a:schemeClr val="bg1"/>
              </a:solidFill>
              <a:latin typeface="+mn-ea"/>
            </a:endParaRPr>
          </a:p>
        </p:txBody>
      </p:sp>
      <p:sp>
        <p:nvSpPr>
          <p:cNvPr id="9" name="TextBox 8">
            <a:extLst>
              <a:ext uri="{FF2B5EF4-FFF2-40B4-BE49-F238E27FC236}">
                <a16:creationId xmlns:a16="http://schemas.microsoft.com/office/drawing/2014/main" id="{F9FE5731-C7A5-770F-3D87-88E21428CA87}"/>
              </a:ext>
            </a:extLst>
          </p:cNvPr>
          <p:cNvSpPr txBox="1"/>
          <p:nvPr/>
        </p:nvSpPr>
        <p:spPr bwMode="gray">
          <a:xfrm>
            <a:off x="8490129" y="1982279"/>
            <a:ext cx="3068637" cy="307777"/>
          </a:xfrm>
          <a:prstGeom prst="rect">
            <a:avLst/>
          </a:prstGeom>
          <a:noFill/>
        </p:spPr>
        <p:txBody>
          <a:bodyPr wrap="square">
            <a:spAutoFit/>
          </a:bodyPr>
          <a:lstStyle/>
          <a:p>
            <a:pPr algn="ctr"/>
            <a:r>
              <a:rPr kumimoji="1" lang="en-US" altLang="zh-CN" sz="1400" b="1" dirty="0">
                <a:latin typeface="+mj-ea"/>
                <a:ea typeface="+mj-ea"/>
                <a:cs typeface="Alibaba PuHuiTi" pitchFamily="18" charset="-122"/>
              </a:rPr>
              <a:t>Global Integrated Evidence Gaps</a:t>
            </a:r>
            <a:endParaRPr kumimoji="1" lang="zh-CN" altLang="en-US" sz="1400" b="1" dirty="0">
              <a:latin typeface="+mj-ea"/>
              <a:ea typeface="+mj-ea"/>
              <a:cs typeface="Alibaba PuHuiTi" pitchFamily="18" charset="-122"/>
            </a:endParaRPr>
          </a:p>
        </p:txBody>
      </p:sp>
      <p:sp>
        <p:nvSpPr>
          <p:cNvPr id="2" name="TextBox 1">
            <a:extLst>
              <a:ext uri="{FF2B5EF4-FFF2-40B4-BE49-F238E27FC236}">
                <a16:creationId xmlns:a16="http://schemas.microsoft.com/office/drawing/2014/main" id="{D247A34A-75C0-58C6-A0FD-539B15AF841A}"/>
              </a:ext>
            </a:extLst>
          </p:cNvPr>
          <p:cNvSpPr txBox="1"/>
          <p:nvPr/>
        </p:nvSpPr>
        <p:spPr bwMode="gray">
          <a:xfrm>
            <a:off x="1883093" y="6459427"/>
            <a:ext cx="6181724" cy="338554"/>
          </a:xfrm>
          <a:prstGeom prst="rect">
            <a:avLst/>
          </a:prstGeom>
          <a:noFill/>
        </p:spPr>
        <p:txBody>
          <a:bodyPr wrap="square">
            <a:spAutoFit/>
          </a:bodyPr>
          <a:lstStyle/>
          <a:p>
            <a:r>
              <a:rPr lang="en-US" altLang="zh-CN" sz="800" dirty="0">
                <a:latin typeface="+mn-ea"/>
              </a:rPr>
              <a:t>HCRU: Healthcare resource utilization</a:t>
            </a:r>
            <a:endParaRPr lang="zh-CN" altLang="en-US" sz="800" dirty="0">
              <a:latin typeface="+mn-ea"/>
            </a:endParaRPr>
          </a:p>
          <a:p>
            <a:r>
              <a:rPr lang="en-US" altLang="zh-CN" sz="800" dirty="0">
                <a:latin typeface="+mn-ea"/>
              </a:rPr>
              <a:t>SDOH: Social Determinants of Health</a:t>
            </a:r>
            <a:endParaRPr lang="zh-CN" altLang="en-US" sz="800" dirty="0">
              <a:latin typeface="+mn-ea"/>
            </a:endParaRPr>
          </a:p>
        </p:txBody>
      </p:sp>
      <p:sp>
        <p:nvSpPr>
          <p:cNvPr id="3" name="TextBox 2">
            <a:extLst>
              <a:ext uri="{FF2B5EF4-FFF2-40B4-BE49-F238E27FC236}">
                <a16:creationId xmlns:a16="http://schemas.microsoft.com/office/drawing/2014/main" id="{644B61D4-DBFA-94FB-2934-37FFD3D9B597}"/>
              </a:ext>
            </a:extLst>
          </p:cNvPr>
          <p:cNvSpPr txBox="1"/>
          <p:nvPr/>
        </p:nvSpPr>
        <p:spPr bwMode="gray">
          <a:xfrm>
            <a:off x="671410" y="3943108"/>
            <a:ext cx="2081315" cy="307777"/>
          </a:xfrm>
          <a:prstGeom prst="rect">
            <a:avLst/>
          </a:prstGeom>
          <a:noFill/>
        </p:spPr>
        <p:txBody>
          <a:bodyPr wrap="square">
            <a:spAutoFit/>
          </a:bodyPr>
          <a:lstStyle/>
          <a:p>
            <a:r>
              <a:rPr kumimoji="1" lang="en-US" altLang="zh-CN" sz="1400" b="1" dirty="0">
                <a:latin typeface="+mj-ea"/>
                <a:ea typeface="+mj-ea"/>
                <a:cs typeface="Alibaba PuHuiTi" pitchFamily="18" charset="-122"/>
              </a:rPr>
              <a:t>Local Evidence Gaps</a:t>
            </a:r>
            <a:endParaRPr kumimoji="1" lang="zh-CN" altLang="en-US" sz="1400" b="1" dirty="0">
              <a:latin typeface="+mj-ea"/>
              <a:ea typeface="+mj-ea"/>
              <a:cs typeface="Alibaba PuHuiTi" pitchFamily="18" charset="-122"/>
            </a:endParaRPr>
          </a:p>
        </p:txBody>
      </p:sp>
    </p:spTree>
    <p:extLst>
      <p:ext uri="{BB962C8B-B14F-4D97-AF65-F5344CB8AC3E}">
        <p14:creationId xmlns:p14="http://schemas.microsoft.com/office/powerpoint/2010/main" val="32642062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AE3E-EECC-51E9-9D6E-460644741E75}"/>
            </a:ext>
          </a:extLst>
        </p:cNvPr>
        <p:cNvGrpSpPr/>
        <p:nvPr/>
      </p:nvGrpSpPr>
      <p:grpSpPr>
        <a:xfrm>
          <a:off x="0" y="0"/>
          <a:ext cx="0" cy="0"/>
          <a:chOff x="0" y="0"/>
          <a:chExt cx="0" cy="0"/>
        </a:xfrm>
      </p:grpSpPr>
      <p:sp>
        <p:nvSpPr>
          <p:cNvPr id="2" name="内容占位符 5">
            <a:extLst>
              <a:ext uri="{FF2B5EF4-FFF2-40B4-BE49-F238E27FC236}">
                <a16:creationId xmlns:a16="http://schemas.microsoft.com/office/drawing/2014/main" id="{5D190D1E-144A-F376-C189-432AA7E3A847}"/>
              </a:ext>
            </a:extLst>
          </p:cNvPr>
          <p:cNvSpPr>
            <a:spLocks noGrp="1"/>
          </p:cNvSpPr>
          <p:nvPr>
            <p:ph idx="16"/>
          </p:nvPr>
        </p:nvSpPr>
        <p:spPr>
          <a:xfrm>
            <a:off x="8790358" y="1384033"/>
            <a:ext cx="3275282" cy="4509672"/>
          </a:xfrm>
        </p:spPr>
        <p:txBody>
          <a:bodyPr>
            <a:noAutofit/>
          </a:bodyPr>
          <a:lstStyle/>
          <a:p>
            <a:pPr marL="91440" indent="0">
              <a:lnSpc>
                <a:spcPct val="100000"/>
              </a:lnSpc>
              <a:buNone/>
            </a:pPr>
            <a:r>
              <a:rPr lang="en-US" altLang="zh-CN" sz="1600" b="1" dirty="0">
                <a:latin typeface="+mn-ea"/>
              </a:rPr>
              <a:t>Study Outcomes</a:t>
            </a:r>
          </a:p>
          <a:p>
            <a:pPr marL="91440">
              <a:lnSpc>
                <a:spcPct val="100000"/>
              </a:lnSpc>
              <a:buFont typeface="Wingdings" panose="05000000000000000000" pitchFamily="2" charset="2"/>
              <a:buChar char="Ø"/>
            </a:pPr>
            <a:r>
              <a:rPr lang="en-US" altLang="zh-CN" sz="1400" dirty="0">
                <a:latin typeface="+mn-ea"/>
              </a:rPr>
              <a:t>Prevalence and</a:t>
            </a:r>
            <a:r>
              <a:rPr lang="zh-CN" altLang="en-US" sz="1400" dirty="0">
                <a:latin typeface="+mn-ea"/>
              </a:rPr>
              <a:t> </a:t>
            </a:r>
            <a:r>
              <a:rPr lang="en-US" altLang="zh-CN" sz="1400" dirty="0">
                <a:latin typeface="+mn-ea"/>
              </a:rPr>
              <a:t>incidence</a:t>
            </a:r>
            <a:r>
              <a:rPr lang="zh-CN" altLang="en-US" sz="1400" dirty="0">
                <a:latin typeface="+mn-ea"/>
              </a:rPr>
              <a:t> </a:t>
            </a:r>
            <a:r>
              <a:rPr lang="en-US" altLang="zh-CN" sz="1400" dirty="0">
                <a:latin typeface="+mn-ea"/>
              </a:rPr>
              <a:t>of SSc</a:t>
            </a:r>
          </a:p>
          <a:p>
            <a:pPr marL="91440">
              <a:lnSpc>
                <a:spcPct val="100000"/>
              </a:lnSpc>
              <a:buFont typeface="Wingdings" panose="05000000000000000000" pitchFamily="2" charset="2"/>
              <a:buChar char="Ø"/>
            </a:pPr>
            <a:r>
              <a:rPr lang="en-US" altLang="zh-CN" sz="1400" dirty="0">
                <a:latin typeface="+mn-ea"/>
              </a:rPr>
              <a:t>Demographics characteristics</a:t>
            </a:r>
          </a:p>
          <a:p>
            <a:pPr marL="521190" lvl="2" indent="-285750">
              <a:lnSpc>
                <a:spcPct val="100000"/>
              </a:lnSpc>
            </a:pPr>
            <a:r>
              <a:rPr lang="en-US" altLang="zh-CN" sz="1400" dirty="0">
                <a:latin typeface="+mn-ea"/>
              </a:rPr>
              <a:t>Age, gender, insurance type, etc.</a:t>
            </a:r>
          </a:p>
          <a:p>
            <a:pPr marL="91440">
              <a:lnSpc>
                <a:spcPct val="100000"/>
              </a:lnSpc>
              <a:buFont typeface="Wingdings" panose="05000000000000000000" pitchFamily="2" charset="2"/>
              <a:buChar char="Ø"/>
            </a:pPr>
            <a:r>
              <a:rPr lang="en-US" altLang="zh-CN" sz="1400" dirty="0">
                <a:latin typeface="+mn-ea"/>
              </a:rPr>
              <a:t>Clinical characteristics</a:t>
            </a:r>
          </a:p>
          <a:p>
            <a:pPr marL="521190" lvl="2" indent="-285750">
              <a:lnSpc>
                <a:spcPct val="100000"/>
              </a:lnSpc>
            </a:pPr>
            <a:r>
              <a:rPr lang="en-US" altLang="zh-CN" sz="1400" dirty="0">
                <a:latin typeface="+mn-ea"/>
              </a:rPr>
              <a:t>Associated comorbidities, co-medications</a:t>
            </a:r>
          </a:p>
          <a:p>
            <a:pPr marL="91440">
              <a:lnSpc>
                <a:spcPct val="100000"/>
              </a:lnSpc>
              <a:buFont typeface="Wingdings" panose="05000000000000000000" pitchFamily="2" charset="2"/>
              <a:buChar char="Ø"/>
            </a:pPr>
            <a:r>
              <a:rPr lang="en-US" altLang="zh-CN" sz="1400" dirty="0">
                <a:latin typeface="+mn-ea"/>
              </a:rPr>
              <a:t>Patient journey</a:t>
            </a:r>
          </a:p>
          <a:p>
            <a:pPr marL="91440">
              <a:lnSpc>
                <a:spcPct val="100000"/>
              </a:lnSpc>
              <a:buFont typeface="Wingdings" panose="05000000000000000000" pitchFamily="2" charset="2"/>
              <a:buChar char="Ø"/>
            </a:pPr>
            <a:r>
              <a:rPr lang="en-US" altLang="zh-CN" sz="1400" dirty="0">
                <a:latin typeface="+mn-ea"/>
              </a:rPr>
              <a:t>Treatment patterns</a:t>
            </a:r>
          </a:p>
          <a:p>
            <a:pPr marL="521190" lvl="2" indent="-285750">
              <a:lnSpc>
                <a:spcPct val="100000"/>
              </a:lnSpc>
            </a:pPr>
            <a:r>
              <a:rPr lang="en-US" altLang="zh-CN" sz="1400" dirty="0">
                <a:latin typeface="+mn-ea"/>
              </a:rPr>
              <a:t>Types of treatment, duration of treatment (DOT), treatment switching, etc.</a:t>
            </a:r>
          </a:p>
          <a:p>
            <a:pPr marL="91440">
              <a:lnSpc>
                <a:spcPct val="100000"/>
              </a:lnSpc>
              <a:buFont typeface="Wingdings" panose="05000000000000000000" pitchFamily="2" charset="2"/>
              <a:buChar char="Ø"/>
            </a:pPr>
            <a:r>
              <a:rPr lang="en-US" altLang="zh-CN" sz="1400" dirty="0">
                <a:latin typeface="+mn-ea"/>
              </a:rPr>
              <a:t>HCRU &amp; direct medical cost</a:t>
            </a:r>
          </a:p>
          <a:p>
            <a:pPr marL="521190" lvl="2" indent="-285750">
              <a:lnSpc>
                <a:spcPct val="100000"/>
              </a:lnSpc>
            </a:pPr>
            <a:r>
              <a:rPr lang="en-US" altLang="zh-CN" sz="1400" dirty="0">
                <a:latin typeface="+mn-ea"/>
              </a:rPr>
              <a:t>Direct medical expense, annual number of visits/hospitalizations, length of stay</a:t>
            </a:r>
            <a:endParaRPr lang="zh-CN" altLang="en-US" sz="1400" dirty="0">
              <a:latin typeface="+mn-ea"/>
            </a:endParaRPr>
          </a:p>
        </p:txBody>
      </p:sp>
      <p:sp>
        <p:nvSpPr>
          <p:cNvPr id="17" name="Slide Number Placeholder 5">
            <a:extLst>
              <a:ext uri="{FF2B5EF4-FFF2-40B4-BE49-F238E27FC236}">
                <a16:creationId xmlns:a16="http://schemas.microsoft.com/office/drawing/2014/main" id="{2FAC6FA9-ACA5-2493-72B4-CE73B5020DC3}"/>
              </a:ext>
            </a:extLst>
          </p:cNvPr>
          <p:cNvSpPr>
            <a:spLocks noGrp="1"/>
          </p:cNvSpPr>
          <p:nvPr>
            <p:ph type="sldNum" sz="quarter" idx="18"/>
          </p:nvPr>
        </p:nvSpPr>
        <p:spPr>
          <a:xfrm>
            <a:off x="11424592" y="6246837"/>
            <a:ext cx="288000" cy="2880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FF9B0DE-3FEB-4AA0-B465-B80EF7C1333D}" type="slidenum">
              <a:rPr kumimoji="0" lang="en-US" sz="799"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799"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3" name="Group 2">
            <a:extLst>
              <a:ext uri="{FF2B5EF4-FFF2-40B4-BE49-F238E27FC236}">
                <a16:creationId xmlns:a16="http://schemas.microsoft.com/office/drawing/2014/main" id="{CF0BBE7E-AAED-4799-A248-DC1FDC8E1F0C}"/>
              </a:ext>
            </a:extLst>
          </p:cNvPr>
          <p:cNvGrpSpPr/>
          <p:nvPr/>
        </p:nvGrpSpPr>
        <p:grpSpPr>
          <a:xfrm>
            <a:off x="479376" y="1568472"/>
            <a:ext cx="7721649" cy="1069953"/>
            <a:chOff x="479376" y="1435122"/>
            <a:chExt cx="7721649" cy="1069953"/>
          </a:xfrm>
        </p:grpSpPr>
        <p:sp>
          <p:nvSpPr>
            <p:cNvPr id="9" name="Rectangle: Diagonal Corners Rounded 8">
              <a:extLst>
                <a:ext uri="{FF2B5EF4-FFF2-40B4-BE49-F238E27FC236}">
                  <a16:creationId xmlns:a16="http://schemas.microsoft.com/office/drawing/2014/main" id="{5711CCEF-06AE-A400-FA86-D414B5F3E9EB}"/>
                </a:ext>
              </a:extLst>
            </p:cNvPr>
            <p:cNvSpPr/>
            <p:nvPr/>
          </p:nvSpPr>
          <p:spPr bwMode="gray">
            <a:xfrm>
              <a:off x="479376" y="1652099"/>
              <a:ext cx="7721649" cy="852976"/>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marL="274320">
                <a:spcAft>
                  <a:spcPts val="600"/>
                </a:spcAft>
              </a:pPr>
              <a:endParaRPr lang="en-US" altLang="zh-CN" sz="1600" dirty="0">
                <a:solidFill>
                  <a:schemeClr val="tx1"/>
                </a:solidFill>
                <a:latin typeface="+mn-ea"/>
              </a:endParaRPr>
            </a:p>
            <a:p>
              <a:pPr marL="731520" lvl="1" indent="-285750">
                <a:spcAft>
                  <a:spcPts val="600"/>
                </a:spcAft>
                <a:buFont typeface="Wingdings" panose="05000000000000000000" pitchFamily="2" charset="2"/>
                <a:buChar char="Ø"/>
              </a:pPr>
              <a:r>
                <a:rPr lang="en-US" altLang="zh-CN" sz="1600" dirty="0">
                  <a:solidFill>
                    <a:schemeClr val="tx1"/>
                  </a:solidFill>
                  <a:latin typeface="+mn-ea"/>
                </a:rPr>
                <a:t>To describe the </a:t>
              </a:r>
              <a:r>
                <a:rPr lang="en-US" altLang="zh-CN" sz="1600" b="1" dirty="0">
                  <a:solidFill>
                    <a:schemeClr val="tx1"/>
                  </a:solidFill>
                  <a:latin typeface="+mn-ea"/>
                </a:rPr>
                <a:t>prevalence and incidence rates of SSc </a:t>
              </a:r>
              <a:r>
                <a:rPr lang="en-US" altLang="zh-CN" sz="1600" dirty="0">
                  <a:solidFill>
                    <a:schemeClr val="tx1"/>
                  </a:solidFill>
                  <a:latin typeface="+mn-ea"/>
                </a:rPr>
                <a:t>in Beijing</a:t>
              </a:r>
            </a:p>
          </p:txBody>
        </p:sp>
        <p:sp>
          <p:nvSpPr>
            <p:cNvPr id="6" name="Freeform: Shape 5">
              <a:extLst>
                <a:ext uri="{FF2B5EF4-FFF2-40B4-BE49-F238E27FC236}">
                  <a16:creationId xmlns:a16="http://schemas.microsoft.com/office/drawing/2014/main" id="{3E7AD2B0-C643-C4D1-457B-785D9A71158A}"/>
                </a:ext>
              </a:extLst>
            </p:cNvPr>
            <p:cNvSpPr/>
            <p:nvPr/>
          </p:nvSpPr>
          <p:spPr>
            <a:xfrm>
              <a:off x="874983" y="1435122"/>
              <a:ext cx="5405154" cy="503321"/>
            </a:xfrm>
            <a:custGeom>
              <a:avLst/>
              <a:gdLst>
                <a:gd name="connsiteX0" fmla="*/ 0 w 5405154"/>
                <a:gd name="connsiteY0" fmla="*/ 120211 h 721254"/>
                <a:gd name="connsiteX1" fmla="*/ 120211 w 5405154"/>
                <a:gd name="connsiteY1" fmla="*/ 0 h 721254"/>
                <a:gd name="connsiteX2" fmla="*/ 5284943 w 5405154"/>
                <a:gd name="connsiteY2" fmla="*/ 0 h 721254"/>
                <a:gd name="connsiteX3" fmla="*/ 5405154 w 5405154"/>
                <a:gd name="connsiteY3" fmla="*/ 120211 h 721254"/>
                <a:gd name="connsiteX4" fmla="*/ 5405154 w 5405154"/>
                <a:gd name="connsiteY4" fmla="*/ 601043 h 721254"/>
                <a:gd name="connsiteX5" fmla="*/ 5284943 w 5405154"/>
                <a:gd name="connsiteY5" fmla="*/ 721254 h 721254"/>
                <a:gd name="connsiteX6" fmla="*/ 120211 w 5405154"/>
                <a:gd name="connsiteY6" fmla="*/ 721254 h 721254"/>
                <a:gd name="connsiteX7" fmla="*/ 0 w 5405154"/>
                <a:gd name="connsiteY7" fmla="*/ 601043 h 721254"/>
                <a:gd name="connsiteX8" fmla="*/ 0 w 5405154"/>
                <a:gd name="connsiteY8" fmla="*/ 120211 h 72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05154" h="721254">
                  <a:moveTo>
                    <a:pt x="0" y="120211"/>
                  </a:moveTo>
                  <a:cubicBezTo>
                    <a:pt x="0" y="53820"/>
                    <a:pt x="53820" y="0"/>
                    <a:pt x="120211" y="0"/>
                  </a:cubicBezTo>
                  <a:lnTo>
                    <a:pt x="5284943" y="0"/>
                  </a:lnTo>
                  <a:cubicBezTo>
                    <a:pt x="5351334" y="0"/>
                    <a:pt x="5405154" y="53820"/>
                    <a:pt x="5405154" y="120211"/>
                  </a:cubicBezTo>
                  <a:lnTo>
                    <a:pt x="5405154" y="601043"/>
                  </a:lnTo>
                  <a:cubicBezTo>
                    <a:pt x="5405154" y="667434"/>
                    <a:pt x="5351334" y="721254"/>
                    <a:pt x="5284943" y="721254"/>
                  </a:cubicBezTo>
                  <a:lnTo>
                    <a:pt x="120211" y="721254"/>
                  </a:lnTo>
                  <a:cubicBezTo>
                    <a:pt x="53820" y="721254"/>
                    <a:pt x="0" y="667434"/>
                    <a:pt x="0" y="601043"/>
                  </a:cubicBezTo>
                  <a:lnTo>
                    <a:pt x="0" y="120211"/>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39511" tIns="35209" rIns="239511" bIns="35209" numCol="1" spcCol="1270" anchor="ctr" anchorCtr="0">
              <a:noAutofit/>
            </a:bodyPr>
            <a:lstStyle/>
            <a:p>
              <a:pPr marL="274320" lvl="0" indent="0" algn="l" defTabSz="889000">
                <a:lnSpc>
                  <a:spcPct val="100000"/>
                </a:lnSpc>
                <a:spcBef>
                  <a:spcPts val="0"/>
                </a:spcBef>
                <a:spcAft>
                  <a:spcPts val="600"/>
                </a:spcAft>
                <a:buNone/>
              </a:pPr>
              <a:r>
                <a:rPr lang="en-US" sz="2000" b="1" kern="1200" dirty="0">
                  <a:latin typeface="+mn-ea"/>
                  <a:ea typeface="+mn-ea"/>
                </a:rPr>
                <a:t>Primary Objective</a:t>
              </a:r>
              <a:endParaRPr lang="en-US" sz="2000" kern="1200" dirty="0">
                <a:latin typeface="+mn-ea"/>
                <a:ea typeface="+mn-ea"/>
              </a:endParaRPr>
            </a:p>
          </p:txBody>
        </p:sp>
      </p:grpSp>
      <p:sp>
        <p:nvSpPr>
          <p:cNvPr id="5" name="Title 1">
            <a:extLst>
              <a:ext uri="{FF2B5EF4-FFF2-40B4-BE49-F238E27FC236}">
                <a16:creationId xmlns:a16="http://schemas.microsoft.com/office/drawing/2014/main" id="{0E82F225-48A1-7650-1CBF-B52904FC5B07}"/>
              </a:ext>
            </a:extLst>
          </p:cNvPr>
          <p:cNvSpPr txBox="1">
            <a:spLocks/>
          </p:cNvSpPr>
          <p:nvPr/>
        </p:nvSpPr>
        <p:spPr bwMode="gray">
          <a:xfrm>
            <a:off x="479376" y="447056"/>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800" dirty="0">
                <a:solidFill>
                  <a:schemeClr val="tx1">
                    <a:lumMod val="85000"/>
                    <a:lumOff val="15000"/>
                  </a:schemeClr>
                </a:solidFill>
                <a:latin typeface="+mj-ea"/>
              </a:rPr>
              <a:t>Study</a:t>
            </a:r>
            <a:r>
              <a:rPr lang="en-US" altLang="zh-CN" sz="2800" dirty="0">
                <a:solidFill>
                  <a:schemeClr val="accent1">
                    <a:lumMod val="90000"/>
                    <a:lumOff val="10000"/>
                  </a:schemeClr>
                </a:solidFill>
                <a:latin typeface="+mj-ea"/>
              </a:rPr>
              <a:t> </a:t>
            </a:r>
            <a:r>
              <a:rPr lang="en-US" altLang="zh-CN" sz="2800" dirty="0">
                <a:solidFill>
                  <a:schemeClr val="tx1">
                    <a:lumMod val="85000"/>
                    <a:lumOff val="15000"/>
                  </a:schemeClr>
                </a:solidFill>
                <a:latin typeface="+mj-ea"/>
              </a:rPr>
              <a:t>Objectives</a:t>
            </a:r>
            <a:br>
              <a:rPr lang="zh-CN" altLang="en-US" sz="2800" dirty="0">
                <a:solidFill>
                  <a:schemeClr val="accent1">
                    <a:lumMod val="90000"/>
                    <a:lumOff val="10000"/>
                  </a:schemeClr>
                </a:solidFill>
                <a:latin typeface="+mj-ea"/>
              </a:rPr>
            </a:br>
            <a:endParaRPr lang="zh-CN" altLang="en-US" sz="2800" dirty="0">
              <a:solidFill>
                <a:schemeClr val="accent1">
                  <a:lumMod val="90000"/>
                  <a:lumOff val="10000"/>
                </a:schemeClr>
              </a:solidFill>
              <a:latin typeface="+mj-ea"/>
            </a:endParaRPr>
          </a:p>
        </p:txBody>
      </p:sp>
      <p:sp>
        <p:nvSpPr>
          <p:cNvPr id="10" name="Rectangle: Diagonal Corners Rounded 9">
            <a:extLst>
              <a:ext uri="{FF2B5EF4-FFF2-40B4-BE49-F238E27FC236}">
                <a16:creationId xmlns:a16="http://schemas.microsoft.com/office/drawing/2014/main" id="{B80F8FAE-6868-6438-2394-43A894908AE1}"/>
              </a:ext>
            </a:extLst>
          </p:cNvPr>
          <p:cNvSpPr/>
          <p:nvPr/>
        </p:nvSpPr>
        <p:spPr bwMode="gray">
          <a:xfrm>
            <a:off x="479376" y="3072379"/>
            <a:ext cx="7721649" cy="2566421"/>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marL="274320" lvl="1" indent="-274320" defTabSz="711200">
              <a:spcAft>
                <a:spcPts val="600"/>
              </a:spcAft>
            </a:pPr>
            <a:endParaRPr lang="en-US" altLang="zh-CN" sz="1600" dirty="0">
              <a:solidFill>
                <a:schemeClr val="tx1"/>
              </a:solidFill>
              <a:latin typeface="+mn-ea"/>
            </a:endParaRPr>
          </a:p>
          <a:p>
            <a:pPr marL="274320" lvl="1" indent="-274320" defTabSz="711200">
              <a:spcAft>
                <a:spcPts val="600"/>
              </a:spcAft>
            </a:pPr>
            <a:r>
              <a:rPr lang="en-US" altLang="zh-CN" sz="1600" dirty="0">
                <a:solidFill>
                  <a:schemeClr val="tx1"/>
                </a:solidFill>
                <a:latin typeface="+mn-ea"/>
              </a:rPr>
              <a:t>	Among SSc patients in Beijing,</a:t>
            </a:r>
          </a:p>
          <a:p>
            <a:pPr marL="731520" lvl="3" indent="-274320" defTabSz="711200">
              <a:spcAft>
                <a:spcPts val="600"/>
              </a:spcAft>
              <a:buFont typeface="Wingdings" panose="05000000000000000000" pitchFamily="2" charset="2"/>
              <a:buChar char="Ø"/>
            </a:pPr>
            <a:r>
              <a:rPr lang="en-US" altLang="zh-CN" sz="1600" dirty="0">
                <a:solidFill>
                  <a:schemeClr val="tx1"/>
                </a:solidFill>
                <a:latin typeface="+mn-ea"/>
              </a:rPr>
              <a:t> To assess the </a:t>
            </a:r>
            <a:r>
              <a:rPr lang="en-US" altLang="zh-CN" sz="1600" b="1" dirty="0">
                <a:solidFill>
                  <a:schemeClr val="tx1"/>
                </a:solidFill>
                <a:latin typeface="+mn-ea"/>
              </a:rPr>
              <a:t>demographic characteristics</a:t>
            </a:r>
            <a:endParaRPr lang="zh-CN" altLang="zh-CN" sz="1600" b="1" dirty="0">
              <a:solidFill>
                <a:schemeClr val="tx1"/>
              </a:solidFill>
              <a:latin typeface="+mn-ea"/>
            </a:endParaRPr>
          </a:p>
          <a:p>
            <a:pPr marL="731520" lvl="3" indent="-274320" defTabSz="711200">
              <a:spcAft>
                <a:spcPts val="600"/>
              </a:spcAft>
              <a:buFont typeface="Wingdings" panose="05000000000000000000" pitchFamily="2" charset="2"/>
              <a:buChar char="Ø"/>
            </a:pPr>
            <a:r>
              <a:rPr lang="en-US" altLang="zh-CN" sz="1600" dirty="0">
                <a:solidFill>
                  <a:schemeClr val="tx1"/>
                </a:solidFill>
                <a:latin typeface="+mn-ea"/>
              </a:rPr>
              <a:t> To describe the </a:t>
            </a:r>
            <a:r>
              <a:rPr lang="en-US" altLang="zh-CN" sz="1600" b="1" dirty="0">
                <a:solidFill>
                  <a:schemeClr val="tx1"/>
                </a:solidFill>
                <a:latin typeface="+mn-ea"/>
              </a:rPr>
              <a:t>comorbidity profiles </a:t>
            </a:r>
          </a:p>
          <a:p>
            <a:pPr marL="731520" lvl="3" indent="-274320" defTabSz="711200">
              <a:spcAft>
                <a:spcPts val="600"/>
              </a:spcAft>
              <a:buFont typeface="Wingdings" panose="05000000000000000000" pitchFamily="2" charset="2"/>
              <a:buChar char="Ø"/>
            </a:pPr>
            <a:r>
              <a:rPr lang="en-US" altLang="zh-CN" sz="1600" dirty="0">
                <a:solidFill>
                  <a:schemeClr val="tx1"/>
                </a:solidFill>
                <a:latin typeface="+mn-ea"/>
              </a:rPr>
              <a:t> To explore </a:t>
            </a:r>
            <a:r>
              <a:rPr lang="en-US" altLang="zh-CN" sz="1600" b="1" dirty="0">
                <a:solidFill>
                  <a:schemeClr val="tx1"/>
                </a:solidFill>
                <a:latin typeface="+mn-ea"/>
              </a:rPr>
              <a:t>patient journey </a:t>
            </a:r>
            <a:r>
              <a:rPr lang="en-US" altLang="zh-CN" sz="1600" dirty="0">
                <a:solidFill>
                  <a:schemeClr val="tx1"/>
                </a:solidFill>
                <a:latin typeface="+mn-ea"/>
              </a:rPr>
              <a:t>and</a:t>
            </a:r>
            <a:r>
              <a:rPr lang="en-US" altLang="zh-CN" sz="1600" b="1" dirty="0">
                <a:solidFill>
                  <a:schemeClr val="tx1"/>
                </a:solidFill>
                <a:latin typeface="+mn-ea"/>
              </a:rPr>
              <a:t> treatment patterns </a:t>
            </a:r>
          </a:p>
          <a:p>
            <a:pPr marL="731520" lvl="3" indent="-274320" defTabSz="711200">
              <a:spcAft>
                <a:spcPts val="600"/>
              </a:spcAft>
              <a:buFont typeface="Wingdings" panose="05000000000000000000" pitchFamily="2" charset="2"/>
              <a:buChar char="Ø"/>
            </a:pPr>
            <a:r>
              <a:rPr lang="en-US" altLang="zh-CN" sz="1600" dirty="0">
                <a:solidFill>
                  <a:schemeClr val="tx1"/>
                </a:solidFill>
                <a:latin typeface="+mn-ea"/>
              </a:rPr>
              <a:t> To evaluate </a:t>
            </a:r>
            <a:r>
              <a:rPr lang="en-US" altLang="zh-CN" sz="1600" b="1" dirty="0">
                <a:solidFill>
                  <a:schemeClr val="tx1"/>
                </a:solidFill>
                <a:latin typeface="+mn-ea"/>
              </a:rPr>
              <a:t>healthcare resource utilization (HCRU) </a:t>
            </a:r>
            <a:r>
              <a:rPr lang="en-US" altLang="zh-CN" sz="1600" dirty="0">
                <a:solidFill>
                  <a:schemeClr val="tx1"/>
                </a:solidFill>
                <a:latin typeface="+mn-ea"/>
              </a:rPr>
              <a:t>and</a:t>
            </a:r>
            <a:r>
              <a:rPr lang="en-US" altLang="zh-CN" sz="1600" b="1" dirty="0">
                <a:solidFill>
                  <a:schemeClr val="tx1"/>
                </a:solidFill>
                <a:latin typeface="+mn-ea"/>
              </a:rPr>
              <a:t> direct medical cost</a:t>
            </a:r>
          </a:p>
          <a:p>
            <a:pPr marL="274320">
              <a:spcAft>
                <a:spcPts val="600"/>
              </a:spcAft>
            </a:pPr>
            <a:endParaRPr lang="en-US" altLang="zh-CN" sz="1600" dirty="0">
              <a:solidFill>
                <a:schemeClr val="tx1"/>
              </a:solidFill>
              <a:latin typeface="+mn-ea"/>
            </a:endParaRPr>
          </a:p>
        </p:txBody>
      </p:sp>
      <p:sp>
        <p:nvSpPr>
          <p:cNvPr id="11" name="Freeform: Shape 10">
            <a:extLst>
              <a:ext uri="{FF2B5EF4-FFF2-40B4-BE49-F238E27FC236}">
                <a16:creationId xmlns:a16="http://schemas.microsoft.com/office/drawing/2014/main" id="{09B8A15B-1D8F-DA71-C281-CBB8CF3C6C7C}"/>
              </a:ext>
            </a:extLst>
          </p:cNvPr>
          <p:cNvSpPr/>
          <p:nvPr/>
        </p:nvSpPr>
        <p:spPr>
          <a:xfrm>
            <a:off x="874983" y="2855402"/>
            <a:ext cx="5405154" cy="503321"/>
          </a:xfrm>
          <a:custGeom>
            <a:avLst/>
            <a:gdLst>
              <a:gd name="connsiteX0" fmla="*/ 0 w 5405154"/>
              <a:gd name="connsiteY0" fmla="*/ 120211 h 721254"/>
              <a:gd name="connsiteX1" fmla="*/ 120211 w 5405154"/>
              <a:gd name="connsiteY1" fmla="*/ 0 h 721254"/>
              <a:gd name="connsiteX2" fmla="*/ 5284943 w 5405154"/>
              <a:gd name="connsiteY2" fmla="*/ 0 h 721254"/>
              <a:gd name="connsiteX3" fmla="*/ 5405154 w 5405154"/>
              <a:gd name="connsiteY3" fmla="*/ 120211 h 721254"/>
              <a:gd name="connsiteX4" fmla="*/ 5405154 w 5405154"/>
              <a:gd name="connsiteY4" fmla="*/ 601043 h 721254"/>
              <a:gd name="connsiteX5" fmla="*/ 5284943 w 5405154"/>
              <a:gd name="connsiteY5" fmla="*/ 721254 h 721254"/>
              <a:gd name="connsiteX6" fmla="*/ 120211 w 5405154"/>
              <a:gd name="connsiteY6" fmla="*/ 721254 h 721254"/>
              <a:gd name="connsiteX7" fmla="*/ 0 w 5405154"/>
              <a:gd name="connsiteY7" fmla="*/ 601043 h 721254"/>
              <a:gd name="connsiteX8" fmla="*/ 0 w 5405154"/>
              <a:gd name="connsiteY8" fmla="*/ 120211 h 72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05154" h="721254">
                <a:moveTo>
                  <a:pt x="0" y="120211"/>
                </a:moveTo>
                <a:cubicBezTo>
                  <a:pt x="0" y="53820"/>
                  <a:pt x="53820" y="0"/>
                  <a:pt x="120211" y="0"/>
                </a:cubicBezTo>
                <a:lnTo>
                  <a:pt x="5284943" y="0"/>
                </a:lnTo>
                <a:cubicBezTo>
                  <a:pt x="5351334" y="0"/>
                  <a:pt x="5405154" y="53820"/>
                  <a:pt x="5405154" y="120211"/>
                </a:cubicBezTo>
                <a:lnTo>
                  <a:pt x="5405154" y="601043"/>
                </a:lnTo>
                <a:cubicBezTo>
                  <a:pt x="5405154" y="667434"/>
                  <a:pt x="5351334" y="721254"/>
                  <a:pt x="5284943" y="721254"/>
                </a:cubicBezTo>
                <a:lnTo>
                  <a:pt x="120211" y="721254"/>
                </a:lnTo>
                <a:cubicBezTo>
                  <a:pt x="53820" y="721254"/>
                  <a:pt x="0" y="667434"/>
                  <a:pt x="0" y="601043"/>
                </a:cubicBezTo>
                <a:lnTo>
                  <a:pt x="0" y="120211"/>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39511" tIns="35209" rIns="239511" bIns="35209" numCol="1" spcCol="1270" anchor="ctr" anchorCtr="0">
            <a:noAutofit/>
          </a:bodyPr>
          <a:lstStyle/>
          <a:p>
            <a:pPr marL="274320" lvl="0" indent="0" algn="l" defTabSz="889000">
              <a:lnSpc>
                <a:spcPct val="100000"/>
              </a:lnSpc>
              <a:spcBef>
                <a:spcPts val="0"/>
              </a:spcBef>
              <a:spcAft>
                <a:spcPts val="600"/>
              </a:spcAft>
              <a:buNone/>
            </a:pPr>
            <a:r>
              <a:rPr lang="en-US" sz="2000" b="1" kern="1200" dirty="0">
                <a:latin typeface="+mn-ea"/>
                <a:ea typeface="+mn-ea"/>
              </a:rPr>
              <a:t>Secondary Objectives</a:t>
            </a:r>
            <a:endParaRPr lang="en-US" sz="2000" kern="1200" dirty="0">
              <a:latin typeface="+mn-ea"/>
              <a:ea typeface="+mn-ea"/>
            </a:endParaRPr>
          </a:p>
        </p:txBody>
      </p:sp>
    </p:spTree>
    <p:extLst>
      <p:ext uri="{BB962C8B-B14F-4D97-AF65-F5344CB8AC3E}">
        <p14:creationId xmlns:p14="http://schemas.microsoft.com/office/powerpoint/2010/main" val="772939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368FB-23B2-D565-3513-F53223F93A0B}"/>
            </a:ext>
          </a:extLst>
        </p:cNvPr>
        <p:cNvGrpSpPr/>
        <p:nvPr/>
      </p:nvGrpSpPr>
      <p:grpSpPr>
        <a:xfrm>
          <a:off x="0" y="0"/>
          <a:ext cx="0" cy="0"/>
          <a:chOff x="0" y="0"/>
          <a:chExt cx="0" cy="0"/>
        </a:xfrm>
      </p:grpSpPr>
      <p:sp>
        <p:nvSpPr>
          <p:cNvPr id="29" name="任意形状 28">
            <a:extLst>
              <a:ext uri="{FF2B5EF4-FFF2-40B4-BE49-F238E27FC236}">
                <a16:creationId xmlns:a16="http://schemas.microsoft.com/office/drawing/2014/main" id="{9BC9A64A-E83E-3DAD-90E0-B914A7C73432}"/>
              </a:ext>
            </a:extLst>
          </p:cNvPr>
          <p:cNvSpPr/>
          <p:nvPr/>
        </p:nvSpPr>
        <p:spPr>
          <a:xfrm>
            <a:off x="1052195" y="1199622"/>
            <a:ext cx="10544810" cy="1345923"/>
          </a:xfrm>
          <a:custGeom>
            <a:avLst/>
            <a:gdLst>
              <a:gd name="connsiteX0" fmla="*/ 0 w 10544810"/>
              <a:gd name="connsiteY0" fmla="*/ 0 h 1687830"/>
              <a:gd name="connsiteX1" fmla="*/ 10544810 w 10544810"/>
              <a:gd name="connsiteY1" fmla="*/ 0 h 1687830"/>
              <a:gd name="connsiteX2" fmla="*/ 10544810 w 10544810"/>
              <a:gd name="connsiteY2" fmla="*/ 1687830 h 1687830"/>
              <a:gd name="connsiteX3" fmla="*/ 0 w 10544810"/>
              <a:gd name="connsiteY3" fmla="*/ 1687830 h 1687830"/>
            </a:gdLst>
            <a:ahLst/>
            <a:cxnLst>
              <a:cxn ang="0">
                <a:pos x="connsiteX0" y="connsiteY0"/>
              </a:cxn>
              <a:cxn ang="0">
                <a:pos x="connsiteX1" y="connsiteY1"/>
              </a:cxn>
              <a:cxn ang="0">
                <a:pos x="connsiteX2" y="connsiteY2"/>
              </a:cxn>
              <a:cxn ang="0">
                <a:pos x="connsiteX3" y="connsiteY3"/>
              </a:cxn>
            </a:cxnLst>
            <a:rect l="l" t="t" r="r" b="b"/>
            <a:pathLst>
              <a:path w="10544810" h="1687830">
                <a:moveTo>
                  <a:pt x="0" y="0"/>
                </a:moveTo>
                <a:lnTo>
                  <a:pt x="10544810" y="0"/>
                </a:lnTo>
                <a:lnTo>
                  <a:pt x="10544810" y="1687830"/>
                </a:lnTo>
                <a:lnTo>
                  <a:pt x="0" y="1687830"/>
                </a:lnTo>
                <a:close/>
              </a:path>
            </a:pathLst>
          </a:custGeom>
          <a:solidFill>
            <a:schemeClr val="bg1">
              <a:lumMod val="95000"/>
            </a:schemeClr>
          </a:solidFill>
          <a:ln w="12700" cap="flat">
            <a:noFill/>
            <a:prstDash val="solid"/>
            <a:miter/>
          </a:ln>
        </p:spPr>
        <p:txBody>
          <a:bodyPr rtlCol="0" anchor="ctr"/>
          <a:lstStyle/>
          <a:p>
            <a:endParaRPr lang="zh-CN" altLang="en-US">
              <a:latin typeface="+mn-ea"/>
              <a:cs typeface="Alibaba PuHuiTi" pitchFamily="18" charset="-122"/>
            </a:endParaRPr>
          </a:p>
        </p:txBody>
      </p:sp>
      <p:sp>
        <p:nvSpPr>
          <p:cNvPr id="30" name="任意形状 29">
            <a:extLst>
              <a:ext uri="{FF2B5EF4-FFF2-40B4-BE49-F238E27FC236}">
                <a16:creationId xmlns:a16="http://schemas.microsoft.com/office/drawing/2014/main" id="{60FD0088-18F4-6979-15EF-38E7F588F983}"/>
              </a:ext>
            </a:extLst>
          </p:cNvPr>
          <p:cNvSpPr/>
          <p:nvPr/>
        </p:nvSpPr>
        <p:spPr>
          <a:xfrm>
            <a:off x="1055912" y="2543176"/>
            <a:ext cx="10544810" cy="1457631"/>
          </a:xfrm>
          <a:custGeom>
            <a:avLst/>
            <a:gdLst>
              <a:gd name="connsiteX0" fmla="*/ 0 w 10544810"/>
              <a:gd name="connsiteY0" fmla="*/ 0 h 1687829"/>
              <a:gd name="connsiteX1" fmla="*/ 10544810 w 10544810"/>
              <a:gd name="connsiteY1" fmla="*/ 0 h 1687829"/>
              <a:gd name="connsiteX2" fmla="*/ 10544810 w 10544810"/>
              <a:gd name="connsiteY2" fmla="*/ 1687830 h 1687829"/>
              <a:gd name="connsiteX3" fmla="*/ 0 w 10544810"/>
              <a:gd name="connsiteY3" fmla="*/ 1687830 h 1687829"/>
            </a:gdLst>
            <a:ahLst/>
            <a:cxnLst>
              <a:cxn ang="0">
                <a:pos x="connsiteX0" y="connsiteY0"/>
              </a:cxn>
              <a:cxn ang="0">
                <a:pos x="connsiteX1" y="connsiteY1"/>
              </a:cxn>
              <a:cxn ang="0">
                <a:pos x="connsiteX2" y="connsiteY2"/>
              </a:cxn>
              <a:cxn ang="0">
                <a:pos x="connsiteX3" y="connsiteY3"/>
              </a:cxn>
            </a:cxnLst>
            <a:rect l="l" t="t" r="r" b="b"/>
            <a:pathLst>
              <a:path w="10544810" h="1687829">
                <a:moveTo>
                  <a:pt x="0" y="0"/>
                </a:moveTo>
                <a:lnTo>
                  <a:pt x="10544810" y="0"/>
                </a:lnTo>
                <a:lnTo>
                  <a:pt x="10544810" y="1687830"/>
                </a:lnTo>
                <a:lnTo>
                  <a:pt x="0" y="1687830"/>
                </a:lnTo>
                <a:close/>
              </a:path>
            </a:pathLst>
          </a:custGeom>
          <a:solidFill>
            <a:schemeClr val="bg1">
              <a:lumMod val="95000"/>
            </a:schemeClr>
          </a:solidFill>
          <a:ln w="12700" cap="flat">
            <a:noFill/>
            <a:prstDash val="solid"/>
            <a:miter/>
          </a:ln>
        </p:spPr>
        <p:txBody>
          <a:bodyPr rtlCol="0" anchor="ctr"/>
          <a:lstStyle/>
          <a:p>
            <a:endParaRPr lang="zh-CN" altLang="en-US">
              <a:latin typeface="+mn-ea"/>
              <a:cs typeface="Alibaba PuHuiTi" pitchFamily="18" charset="-122"/>
            </a:endParaRPr>
          </a:p>
        </p:txBody>
      </p:sp>
      <p:sp>
        <p:nvSpPr>
          <p:cNvPr id="31" name="任意形状 30">
            <a:extLst>
              <a:ext uri="{FF2B5EF4-FFF2-40B4-BE49-F238E27FC236}">
                <a16:creationId xmlns:a16="http://schemas.microsoft.com/office/drawing/2014/main" id="{5F82DD64-ABC0-11AE-F7D5-38BF4B9D311D}"/>
              </a:ext>
            </a:extLst>
          </p:cNvPr>
          <p:cNvSpPr/>
          <p:nvPr/>
        </p:nvSpPr>
        <p:spPr>
          <a:xfrm>
            <a:off x="1043304" y="4199269"/>
            <a:ext cx="10544810" cy="1847847"/>
          </a:xfrm>
          <a:custGeom>
            <a:avLst/>
            <a:gdLst>
              <a:gd name="connsiteX0" fmla="*/ 0 w 10544810"/>
              <a:gd name="connsiteY0" fmla="*/ 0 h 1687829"/>
              <a:gd name="connsiteX1" fmla="*/ 10544810 w 10544810"/>
              <a:gd name="connsiteY1" fmla="*/ 0 h 1687829"/>
              <a:gd name="connsiteX2" fmla="*/ 10544810 w 10544810"/>
              <a:gd name="connsiteY2" fmla="*/ 1687830 h 1687829"/>
              <a:gd name="connsiteX3" fmla="*/ 0 w 10544810"/>
              <a:gd name="connsiteY3" fmla="*/ 1687830 h 1687829"/>
            </a:gdLst>
            <a:ahLst/>
            <a:cxnLst>
              <a:cxn ang="0">
                <a:pos x="connsiteX0" y="connsiteY0"/>
              </a:cxn>
              <a:cxn ang="0">
                <a:pos x="connsiteX1" y="connsiteY1"/>
              </a:cxn>
              <a:cxn ang="0">
                <a:pos x="connsiteX2" y="connsiteY2"/>
              </a:cxn>
              <a:cxn ang="0">
                <a:pos x="connsiteX3" y="connsiteY3"/>
              </a:cxn>
            </a:cxnLst>
            <a:rect l="l" t="t" r="r" b="b"/>
            <a:pathLst>
              <a:path w="10544810" h="1687829">
                <a:moveTo>
                  <a:pt x="0" y="0"/>
                </a:moveTo>
                <a:lnTo>
                  <a:pt x="10544810" y="0"/>
                </a:lnTo>
                <a:lnTo>
                  <a:pt x="10544810" y="1687830"/>
                </a:lnTo>
                <a:lnTo>
                  <a:pt x="0" y="168783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3" name="任意形状 12">
            <a:extLst>
              <a:ext uri="{FF2B5EF4-FFF2-40B4-BE49-F238E27FC236}">
                <a16:creationId xmlns:a16="http://schemas.microsoft.com/office/drawing/2014/main" id="{2835F82F-4571-5393-0F27-3F943989326A}"/>
              </a:ext>
            </a:extLst>
          </p:cNvPr>
          <p:cNvSpPr/>
          <p:nvPr/>
        </p:nvSpPr>
        <p:spPr>
          <a:xfrm>
            <a:off x="3966055" y="1199622"/>
            <a:ext cx="2488238" cy="1427852"/>
          </a:xfrm>
          <a:custGeom>
            <a:avLst/>
            <a:gdLst>
              <a:gd name="connsiteX0" fmla="*/ 136044 w 2488238"/>
              <a:gd name="connsiteY0" fmla="*/ 0 h 1687830"/>
              <a:gd name="connsiteX1" fmla="*/ 1193954 w 2488238"/>
              <a:gd name="connsiteY1" fmla="*/ 0 h 1687830"/>
              <a:gd name="connsiteX2" fmla="*/ 1294284 w 2488238"/>
              <a:gd name="connsiteY2" fmla="*/ 0 h 1687830"/>
              <a:gd name="connsiteX3" fmla="*/ 2352194 w 2488238"/>
              <a:gd name="connsiteY3" fmla="*/ 0 h 1687830"/>
              <a:gd name="connsiteX4" fmla="*/ 2488238 w 2488238"/>
              <a:gd name="connsiteY4" fmla="*/ 1687830 h 1687830"/>
              <a:gd name="connsiteX5" fmla="*/ 0 w 2488238"/>
              <a:gd name="connsiteY5" fmla="*/ 1687830 h 1687830"/>
              <a:gd name="connsiteX6" fmla="*/ 136044 w 2488238"/>
              <a:gd name="connsiteY6" fmla="*/ 0 h 1687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8238" h="1687830">
                <a:moveTo>
                  <a:pt x="136044" y="0"/>
                </a:moveTo>
                <a:lnTo>
                  <a:pt x="1193954" y="0"/>
                </a:lnTo>
                <a:lnTo>
                  <a:pt x="1294284" y="0"/>
                </a:lnTo>
                <a:lnTo>
                  <a:pt x="2352194" y="0"/>
                </a:lnTo>
                <a:lnTo>
                  <a:pt x="2488238" y="1687830"/>
                </a:lnTo>
                <a:lnTo>
                  <a:pt x="0" y="1687830"/>
                </a:lnTo>
                <a:lnTo>
                  <a:pt x="136044"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9859D1B3-9D1B-1BD3-B89B-F9AFF1D359AC}"/>
              </a:ext>
            </a:extLst>
          </p:cNvPr>
          <p:cNvSpPr/>
          <p:nvPr/>
        </p:nvSpPr>
        <p:spPr>
          <a:xfrm>
            <a:off x="3824283" y="2630306"/>
            <a:ext cx="2767017" cy="1370502"/>
          </a:xfrm>
          <a:custGeom>
            <a:avLst/>
            <a:gdLst>
              <a:gd name="connsiteX0" fmla="*/ 136184 w 2780464"/>
              <a:gd name="connsiteY0" fmla="*/ 0 h 1689568"/>
              <a:gd name="connsiteX1" fmla="*/ 2644280 w 2780464"/>
              <a:gd name="connsiteY1" fmla="*/ 0 h 1689568"/>
              <a:gd name="connsiteX2" fmla="*/ 2780464 w 2780464"/>
              <a:gd name="connsiteY2" fmla="*/ 1689568 h 1689568"/>
              <a:gd name="connsiteX3" fmla="*/ 0 w 2780464"/>
              <a:gd name="connsiteY3" fmla="*/ 1689568 h 1689568"/>
              <a:gd name="connsiteX4" fmla="*/ 136184 w 2780464"/>
              <a:gd name="connsiteY4" fmla="*/ 0 h 168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464" h="1689568">
                <a:moveTo>
                  <a:pt x="136184" y="0"/>
                </a:moveTo>
                <a:lnTo>
                  <a:pt x="2644280" y="0"/>
                </a:lnTo>
                <a:lnTo>
                  <a:pt x="2780464" y="1689568"/>
                </a:lnTo>
                <a:lnTo>
                  <a:pt x="0" y="1689568"/>
                </a:lnTo>
                <a:lnTo>
                  <a:pt x="13618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6" name="任意形状 15">
            <a:extLst>
              <a:ext uri="{FF2B5EF4-FFF2-40B4-BE49-F238E27FC236}">
                <a16:creationId xmlns:a16="http://schemas.microsoft.com/office/drawing/2014/main" id="{D03EAF23-3312-8E8C-90E1-1A17AB165372}"/>
              </a:ext>
            </a:extLst>
          </p:cNvPr>
          <p:cNvSpPr/>
          <p:nvPr/>
        </p:nvSpPr>
        <p:spPr>
          <a:xfrm>
            <a:off x="682624" y="1199622"/>
            <a:ext cx="626589" cy="2801186"/>
          </a:xfrm>
          <a:custGeom>
            <a:avLst/>
            <a:gdLst>
              <a:gd name="connsiteX0" fmla="*/ 0 w 360680"/>
              <a:gd name="connsiteY0" fmla="*/ 0 h 1687830"/>
              <a:gd name="connsiteX1" fmla="*/ 360680 w 360680"/>
              <a:gd name="connsiteY1" fmla="*/ 0 h 1687830"/>
              <a:gd name="connsiteX2" fmla="*/ 360680 w 360680"/>
              <a:gd name="connsiteY2" fmla="*/ 1687830 h 1687830"/>
              <a:gd name="connsiteX3" fmla="*/ 0 w 360680"/>
              <a:gd name="connsiteY3" fmla="*/ 1687830 h 1687830"/>
            </a:gdLst>
            <a:ahLst/>
            <a:cxnLst>
              <a:cxn ang="0">
                <a:pos x="connsiteX0" y="connsiteY0"/>
              </a:cxn>
              <a:cxn ang="0">
                <a:pos x="connsiteX1" y="connsiteY1"/>
              </a:cxn>
              <a:cxn ang="0">
                <a:pos x="connsiteX2" y="connsiteY2"/>
              </a:cxn>
              <a:cxn ang="0">
                <a:pos x="connsiteX3" y="connsiteY3"/>
              </a:cxn>
            </a:cxnLst>
            <a:rect l="l" t="t" r="r" b="b"/>
            <a:pathLst>
              <a:path w="360680" h="1687830">
                <a:moveTo>
                  <a:pt x="0" y="0"/>
                </a:moveTo>
                <a:lnTo>
                  <a:pt x="360680" y="0"/>
                </a:lnTo>
                <a:lnTo>
                  <a:pt x="360680" y="1687830"/>
                </a:lnTo>
                <a:lnTo>
                  <a:pt x="0" y="1687830"/>
                </a:lnTo>
                <a:close/>
              </a:path>
            </a:pathLst>
          </a:custGeom>
          <a:solidFill>
            <a:schemeClr val="accent2">
              <a:lumMod val="50000"/>
            </a:schemeClr>
          </a:solidFill>
          <a:ln w="12700" cap="flat">
            <a:noFill/>
            <a:prstDash val="solid"/>
            <a:miter/>
          </a:ln>
        </p:spPr>
        <p:txBody>
          <a:bodyPr vert="eaVert" rtlCol="0" anchor="ctr"/>
          <a:lstStyle/>
          <a:p>
            <a:pPr algn="ctr"/>
            <a:r>
              <a:rPr lang="en-US" altLang="zh-CN" sz="1600">
                <a:solidFill>
                  <a:schemeClr val="bg1"/>
                </a:solidFill>
                <a:latin typeface="+mn-ea"/>
                <a:cs typeface="Alibaba PuHuiTi" pitchFamily="18" charset="-122"/>
              </a:rPr>
              <a:t>Coverage</a:t>
            </a:r>
            <a:endParaRPr lang="zh-CN" altLang="en-US" sz="1600">
              <a:solidFill>
                <a:schemeClr val="bg1"/>
              </a:solidFill>
              <a:latin typeface="+mn-ea"/>
              <a:cs typeface="Alibaba PuHuiTi" pitchFamily="18" charset="-122"/>
            </a:endParaRPr>
          </a:p>
        </p:txBody>
      </p:sp>
      <p:sp>
        <p:nvSpPr>
          <p:cNvPr id="18" name="任意形状 17">
            <a:extLst>
              <a:ext uri="{FF2B5EF4-FFF2-40B4-BE49-F238E27FC236}">
                <a16:creationId xmlns:a16="http://schemas.microsoft.com/office/drawing/2014/main" id="{C88534EE-95CE-9084-535A-209ECC0BB87D}"/>
              </a:ext>
            </a:extLst>
          </p:cNvPr>
          <p:cNvSpPr/>
          <p:nvPr/>
        </p:nvSpPr>
        <p:spPr>
          <a:xfrm>
            <a:off x="682624" y="4199270"/>
            <a:ext cx="627224" cy="1847845"/>
          </a:xfrm>
          <a:custGeom>
            <a:avLst/>
            <a:gdLst>
              <a:gd name="connsiteX0" fmla="*/ 0 w 360680"/>
              <a:gd name="connsiteY0" fmla="*/ 0 h 1687829"/>
              <a:gd name="connsiteX1" fmla="*/ 360680 w 360680"/>
              <a:gd name="connsiteY1" fmla="*/ 0 h 1687829"/>
              <a:gd name="connsiteX2" fmla="*/ 360680 w 360680"/>
              <a:gd name="connsiteY2" fmla="*/ 1687830 h 1687829"/>
              <a:gd name="connsiteX3" fmla="*/ 0 w 360680"/>
              <a:gd name="connsiteY3" fmla="*/ 1687830 h 1687829"/>
            </a:gdLst>
            <a:ahLst/>
            <a:cxnLst>
              <a:cxn ang="0">
                <a:pos x="connsiteX0" y="connsiteY0"/>
              </a:cxn>
              <a:cxn ang="0">
                <a:pos x="connsiteX1" y="connsiteY1"/>
              </a:cxn>
              <a:cxn ang="0">
                <a:pos x="connsiteX2" y="connsiteY2"/>
              </a:cxn>
              <a:cxn ang="0">
                <a:pos x="connsiteX3" y="connsiteY3"/>
              </a:cxn>
            </a:cxnLst>
            <a:rect l="l" t="t" r="r" b="b"/>
            <a:pathLst>
              <a:path w="360680" h="1687829">
                <a:moveTo>
                  <a:pt x="0" y="0"/>
                </a:moveTo>
                <a:lnTo>
                  <a:pt x="360680" y="0"/>
                </a:lnTo>
                <a:lnTo>
                  <a:pt x="360680" y="1687830"/>
                </a:lnTo>
                <a:lnTo>
                  <a:pt x="0" y="1687830"/>
                </a:lnTo>
                <a:close/>
              </a:path>
            </a:pathLst>
          </a:custGeom>
          <a:solidFill>
            <a:schemeClr val="bg2">
              <a:lumMod val="75000"/>
              <a:lumOff val="25000"/>
            </a:schemeClr>
          </a:solidFill>
          <a:ln w="12700" cap="flat">
            <a:noFill/>
            <a:prstDash val="solid"/>
            <a:miter/>
          </a:ln>
        </p:spPr>
        <p:txBody>
          <a:bodyPr vert="eaVert" rtlCol="0" anchor="ctr"/>
          <a:lstStyle/>
          <a:p>
            <a:pPr algn="ctr"/>
            <a:r>
              <a:rPr lang="en-US" altLang="zh-CN" sz="1600">
                <a:solidFill>
                  <a:schemeClr val="bg1"/>
                </a:solidFill>
                <a:latin typeface="+mn-ea"/>
                <a:cs typeface="Alibaba PuHuiTi" pitchFamily="18" charset="-122"/>
              </a:rPr>
              <a:t>Data</a:t>
            </a:r>
            <a:r>
              <a:rPr lang="en-US" altLang="zh-CN" sz="1600">
                <a:solidFill>
                  <a:schemeClr val="bg1"/>
                </a:solidFill>
                <a:latin typeface="Alibaba PuHuiTi" pitchFamily="18" charset="-122"/>
                <a:ea typeface="Alibaba PuHuiTi" pitchFamily="18" charset="-122"/>
                <a:cs typeface="Alibaba PuHuiTi" pitchFamily="18" charset="-122"/>
              </a:rPr>
              <a:t> </a:t>
            </a:r>
          </a:p>
          <a:p>
            <a:pPr algn="ctr"/>
            <a:r>
              <a:rPr lang="en-US" altLang="zh-CN" sz="1600">
                <a:solidFill>
                  <a:schemeClr val="bg1"/>
                </a:solidFill>
                <a:latin typeface="+mn-ea"/>
                <a:cs typeface="Alibaba PuHuiTi" pitchFamily="18" charset="-122"/>
              </a:rPr>
              <a:t>scope &amp; value</a:t>
            </a:r>
            <a:endParaRPr lang="zh-CN" altLang="en-US" sz="1600">
              <a:solidFill>
                <a:schemeClr val="bg1"/>
              </a:solidFill>
              <a:latin typeface="+mn-ea"/>
              <a:cs typeface="Alibaba PuHuiTi" pitchFamily="18" charset="-122"/>
            </a:endParaRPr>
          </a:p>
        </p:txBody>
      </p:sp>
      <p:sp>
        <p:nvSpPr>
          <p:cNvPr id="26" name="任意形状 25">
            <a:extLst>
              <a:ext uri="{FF2B5EF4-FFF2-40B4-BE49-F238E27FC236}">
                <a16:creationId xmlns:a16="http://schemas.microsoft.com/office/drawing/2014/main" id="{BCD8D4D1-60EB-AA2B-5E11-1C6F6EAACC60}"/>
              </a:ext>
            </a:extLst>
          </p:cNvPr>
          <p:cNvSpPr/>
          <p:nvPr/>
        </p:nvSpPr>
        <p:spPr>
          <a:xfrm>
            <a:off x="4757575" y="2830497"/>
            <a:ext cx="733741" cy="661272"/>
          </a:xfrm>
          <a:custGeom>
            <a:avLst/>
            <a:gdLst>
              <a:gd name="connsiteX0" fmla="*/ 830580 w 830579"/>
              <a:gd name="connsiteY0" fmla="*/ 415290 h 830579"/>
              <a:gd name="connsiteX1" fmla="*/ 415290 w 830579"/>
              <a:gd name="connsiteY1" fmla="*/ 830580 h 830579"/>
              <a:gd name="connsiteX2" fmla="*/ 0 w 830579"/>
              <a:gd name="connsiteY2" fmla="*/ 415290 h 830579"/>
              <a:gd name="connsiteX3" fmla="*/ 415290 w 830579"/>
              <a:gd name="connsiteY3" fmla="*/ 0 h 830579"/>
              <a:gd name="connsiteX4" fmla="*/ 830580 w 830579"/>
              <a:gd name="connsiteY4" fmla="*/ 415290 h 830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79" h="830579">
                <a:moveTo>
                  <a:pt x="830580" y="415290"/>
                </a:moveTo>
                <a:cubicBezTo>
                  <a:pt x="830580" y="644648"/>
                  <a:pt x="644648" y="830580"/>
                  <a:pt x="415290" y="830580"/>
                </a:cubicBezTo>
                <a:cubicBezTo>
                  <a:pt x="185931" y="830580"/>
                  <a:pt x="0" y="644648"/>
                  <a:pt x="0" y="415290"/>
                </a:cubicBezTo>
                <a:cubicBezTo>
                  <a:pt x="0" y="185931"/>
                  <a:pt x="185931" y="0"/>
                  <a:pt x="415290" y="0"/>
                </a:cubicBezTo>
                <a:cubicBezTo>
                  <a:pt x="644648" y="0"/>
                  <a:pt x="830580" y="185931"/>
                  <a:pt x="830580" y="41529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grpSp>
        <p:nvGrpSpPr>
          <p:cNvPr id="19" name="组合 18">
            <a:extLst>
              <a:ext uri="{FF2B5EF4-FFF2-40B4-BE49-F238E27FC236}">
                <a16:creationId xmlns:a16="http://schemas.microsoft.com/office/drawing/2014/main" id="{6EAE9553-CA7E-31E4-8C11-887E1022829A}"/>
              </a:ext>
            </a:extLst>
          </p:cNvPr>
          <p:cNvGrpSpPr/>
          <p:nvPr/>
        </p:nvGrpSpPr>
        <p:grpSpPr>
          <a:xfrm>
            <a:off x="1423514" y="1381373"/>
            <a:ext cx="2456970" cy="1156466"/>
            <a:chOff x="4416017" y="1269291"/>
            <a:chExt cx="2456970" cy="1156466"/>
          </a:xfrm>
        </p:grpSpPr>
        <p:sp>
          <p:nvSpPr>
            <p:cNvPr id="20" name="文本框 19">
              <a:extLst>
                <a:ext uri="{FF2B5EF4-FFF2-40B4-BE49-F238E27FC236}">
                  <a16:creationId xmlns:a16="http://schemas.microsoft.com/office/drawing/2014/main" id="{DB560B83-39B2-167C-72F8-1BA17D98827A}"/>
                </a:ext>
              </a:extLst>
            </p:cNvPr>
            <p:cNvSpPr txBox="1"/>
            <p:nvPr/>
          </p:nvSpPr>
          <p:spPr>
            <a:xfrm>
              <a:off x="4416017" y="1902537"/>
              <a:ext cx="2456970" cy="523220"/>
            </a:xfrm>
            <a:prstGeom prst="rect">
              <a:avLst/>
            </a:prstGeom>
            <a:noFill/>
          </p:spPr>
          <p:txBody>
            <a:bodyPr wrap="square" rtlCol="0">
              <a:spAutoFit/>
            </a:bodyPr>
            <a:lstStyle/>
            <a:p>
              <a:pPr lvl="0" algn="ctr">
                <a:defRPr/>
              </a:pPr>
              <a:r>
                <a:rPr lang="en-US" altLang="zh-CN" sz="1400">
                  <a:solidFill>
                    <a:schemeClr val="accent2">
                      <a:lumMod val="50000"/>
                    </a:schemeClr>
                  </a:solidFill>
                  <a:latin typeface="+mn-ea"/>
                </a:rPr>
                <a:t>designated medical institutions</a:t>
              </a:r>
              <a:endParaRPr kumimoji="1" lang="zh-CN" altLang="en-US" sz="1400" b="0" i="0" u="none" strike="noStrike" kern="1200" cap="none" spc="0" normalizeH="0" baseline="0" noProof="0">
                <a:ln>
                  <a:noFill/>
                </a:ln>
                <a:solidFill>
                  <a:schemeClr val="accent2">
                    <a:lumMod val="50000"/>
                  </a:schemeClr>
                </a:solidFill>
                <a:effectLst/>
                <a:uLnTx/>
                <a:uFillTx/>
                <a:latin typeface="Alibaba PuHuiTi" pitchFamily="18" charset="-122"/>
                <a:ea typeface="Alibaba PuHuiTi" pitchFamily="18" charset="-122"/>
                <a:cs typeface="Alibaba PuHuiTi" pitchFamily="18" charset="-122"/>
              </a:endParaRPr>
            </a:p>
          </p:txBody>
        </p:sp>
        <p:sp>
          <p:nvSpPr>
            <p:cNvPr id="21" name="文本框 20">
              <a:extLst>
                <a:ext uri="{FF2B5EF4-FFF2-40B4-BE49-F238E27FC236}">
                  <a16:creationId xmlns:a16="http://schemas.microsoft.com/office/drawing/2014/main" id="{88D60B2F-31BC-2DAB-74EF-67E2DE330D99}"/>
                </a:ext>
              </a:extLst>
            </p:cNvPr>
            <p:cNvSpPr txBox="1"/>
            <p:nvPr/>
          </p:nvSpPr>
          <p:spPr>
            <a:xfrm>
              <a:off x="4761514" y="1269291"/>
              <a:ext cx="1677062" cy="584775"/>
            </a:xfrm>
            <a:prstGeom prst="rect">
              <a:avLst/>
            </a:prstGeom>
            <a:noFill/>
          </p:spPr>
          <p:txBody>
            <a:bodyPr wrap="none" rtlCol="0">
              <a:spAutoFit/>
            </a:bodyPr>
            <a:lstStyle/>
            <a:p>
              <a:pPr lvl="0" algn="ctr">
                <a:defRPr/>
              </a:pPr>
              <a:r>
                <a:rPr lang="en-US" altLang="zh-CN" sz="3200">
                  <a:solidFill>
                    <a:schemeClr val="accent2">
                      <a:lumMod val="50000"/>
                    </a:schemeClr>
                  </a:solidFill>
                  <a:latin typeface="+mn-ea"/>
                </a:rPr>
                <a:t>~ 8,000 </a:t>
              </a:r>
            </a:p>
          </p:txBody>
        </p:sp>
      </p:grpSp>
      <p:sp>
        <p:nvSpPr>
          <p:cNvPr id="39" name="文本框 38">
            <a:extLst>
              <a:ext uri="{FF2B5EF4-FFF2-40B4-BE49-F238E27FC236}">
                <a16:creationId xmlns:a16="http://schemas.microsoft.com/office/drawing/2014/main" id="{5DF280F8-D013-7123-2A45-3D68A457335E}"/>
              </a:ext>
            </a:extLst>
          </p:cNvPr>
          <p:cNvSpPr txBox="1"/>
          <p:nvPr/>
        </p:nvSpPr>
        <p:spPr>
          <a:xfrm>
            <a:off x="3969940" y="2164287"/>
            <a:ext cx="2480467" cy="338554"/>
          </a:xfrm>
          <a:prstGeom prst="rect">
            <a:avLst/>
          </a:prstGeom>
          <a:noFill/>
        </p:spPr>
        <p:txBody>
          <a:bodyPr wrap="square">
            <a:spAutoFit/>
          </a:bodyPr>
          <a:lstStyle/>
          <a:p>
            <a:pPr algn="ctr"/>
            <a:r>
              <a:rPr lang="en-US" altLang="zh-CN" sz="1600" b="1">
                <a:solidFill>
                  <a:schemeClr val="bg1"/>
                </a:solidFill>
                <a:latin typeface="+mn-ea"/>
                <a:cs typeface="Alibaba PuHuiTi" pitchFamily="18" charset="-122"/>
              </a:rPr>
              <a:t>Institutions</a:t>
            </a:r>
            <a:endParaRPr lang="zh-CN" altLang="en-US" sz="1600" b="1">
              <a:solidFill>
                <a:schemeClr val="bg1"/>
              </a:solidFill>
              <a:latin typeface="+mn-ea"/>
              <a:cs typeface="Alibaba PuHuiTi" pitchFamily="18" charset="-122"/>
            </a:endParaRPr>
          </a:p>
        </p:txBody>
      </p:sp>
      <p:sp>
        <p:nvSpPr>
          <p:cNvPr id="40" name="文本框 39">
            <a:extLst>
              <a:ext uri="{FF2B5EF4-FFF2-40B4-BE49-F238E27FC236}">
                <a16:creationId xmlns:a16="http://schemas.microsoft.com/office/drawing/2014/main" id="{9C06F40A-CF94-8A6D-B781-EE903B7F4D5C}"/>
              </a:ext>
            </a:extLst>
          </p:cNvPr>
          <p:cNvSpPr txBox="1"/>
          <p:nvPr/>
        </p:nvSpPr>
        <p:spPr>
          <a:xfrm>
            <a:off x="3933113" y="3558737"/>
            <a:ext cx="2488237" cy="338554"/>
          </a:xfrm>
          <a:prstGeom prst="rect">
            <a:avLst/>
          </a:prstGeom>
          <a:noFill/>
        </p:spPr>
        <p:txBody>
          <a:bodyPr wrap="square">
            <a:spAutoFit/>
          </a:bodyPr>
          <a:lstStyle/>
          <a:p>
            <a:pPr algn="ctr"/>
            <a:r>
              <a:rPr lang="en-US" altLang="zh-CN" sz="1600" b="1">
                <a:solidFill>
                  <a:schemeClr val="bg1"/>
                </a:solidFill>
                <a:latin typeface="+mn-ea"/>
                <a:cs typeface="Alibaba PuHuiTi" pitchFamily="18" charset="-122"/>
              </a:rPr>
              <a:t>Population</a:t>
            </a:r>
            <a:endParaRPr lang="zh-CN" altLang="en-US" sz="1600" b="1">
              <a:solidFill>
                <a:schemeClr val="bg1"/>
              </a:solidFill>
              <a:latin typeface="+mn-ea"/>
              <a:cs typeface="Alibaba PuHuiTi" pitchFamily="18" charset="-122"/>
            </a:endParaRPr>
          </a:p>
        </p:txBody>
      </p:sp>
      <p:sp>
        <p:nvSpPr>
          <p:cNvPr id="42" name="文本框 81">
            <a:extLst>
              <a:ext uri="{FF2B5EF4-FFF2-40B4-BE49-F238E27FC236}">
                <a16:creationId xmlns:a16="http://schemas.microsoft.com/office/drawing/2014/main" id="{81306647-789C-0F50-C0D8-2DB8B86C0227}"/>
              </a:ext>
            </a:extLst>
          </p:cNvPr>
          <p:cNvSpPr txBox="1"/>
          <p:nvPr/>
        </p:nvSpPr>
        <p:spPr>
          <a:xfrm>
            <a:off x="6547457" y="1477131"/>
            <a:ext cx="4918076" cy="103105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spcAft>
                <a:spcPts val="600"/>
              </a:spcAft>
              <a:buFont typeface="Arial" panose="020B0604020202020204" pitchFamily="34" charset="0"/>
              <a:buChar char="•"/>
              <a:defRPr/>
            </a:pPr>
            <a:r>
              <a:rPr lang="en-US" altLang="zh-CN" sz="1400">
                <a:solidFill>
                  <a:schemeClr val="accent2">
                    <a:lumMod val="50000"/>
                  </a:schemeClr>
                </a:solidFill>
                <a:latin typeface="+mn-ea"/>
              </a:rPr>
              <a:t>Covers nearly </a:t>
            </a:r>
            <a:r>
              <a:rPr lang="en-US" altLang="zh-CN" sz="1400" b="1">
                <a:solidFill>
                  <a:schemeClr val="accent2">
                    <a:lumMod val="50000"/>
                  </a:schemeClr>
                </a:solidFill>
                <a:latin typeface="+mn-ea"/>
              </a:rPr>
              <a:t>8,000 designated medical institutions </a:t>
            </a:r>
          </a:p>
          <a:p>
            <a:pPr marL="742950" lvl="1" indent="-285750">
              <a:spcAft>
                <a:spcPts val="600"/>
              </a:spcAft>
              <a:buFont typeface="Arial" panose="020B0604020202020204" pitchFamily="34" charset="0"/>
              <a:buChar char="•"/>
              <a:defRPr/>
            </a:pPr>
            <a:r>
              <a:rPr lang="en-US" altLang="zh-CN" sz="1400">
                <a:solidFill>
                  <a:schemeClr val="accent2">
                    <a:lumMod val="50000"/>
                  </a:schemeClr>
                </a:solidFill>
                <a:latin typeface="+mn-ea"/>
              </a:rPr>
              <a:t>Includes 765 hospitals (135 tertiary, 177 secondary, 405 primary); 2,143 community health centers and other health institutions</a:t>
            </a:r>
            <a:r>
              <a:rPr lang="en-US" altLang="zh-CN" sz="1400" baseline="30000">
                <a:solidFill>
                  <a:schemeClr val="accent2">
                    <a:lumMod val="50000"/>
                  </a:schemeClr>
                </a:solidFill>
                <a:latin typeface="+mn-ea"/>
              </a:rPr>
              <a:t>1 </a:t>
            </a:r>
            <a:endParaRPr kumimoji="0" lang="zh-CN" altLang="en-US" sz="1400" i="0" u="none" strike="noStrike" kern="1200" cap="none" spc="0" normalizeH="0" baseline="0" noProof="0">
              <a:ln>
                <a:noFill/>
              </a:ln>
              <a:solidFill>
                <a:schemeClr val="accent2">
                  <a:lumMod val="50000"/>
                </a:schemeClr>
              </a:solidFill>
              <a:effectLst/>
              <a:uLnTx/>
              <a:uFillTx/>
              <a:latin typeface="Alibaba PuHuiTi" pitchFamily="18" charset="-122"/>
              <a:ea typeface="Alibaba PuHuiTi" pitchFamily="18" charset="-122"/>
              <a:cs typeface="Alibaba PuHuiTi" pitchFamily="18" charset="-122"/>
            </a:endParaRPr>
          </a:p>
        </p:txBody>
      </p:sp>
      <p:sp>
        <p:nvSpPr>
          <p:cNvPr id="43" name="文本框 81">
            <a:extLst>
              <a:ext uri="{FF2B5EF4-FFF2-40B4-BE49-F238E27FC236}">
                <a16:creationId xmlns:a16="http://schemas.microsoft.com/office/drawing/2014/main" id="{F5C8E7D9-58A6-9924-ED30-2BE40DAC8EF3}"/>
              </a:ext>
            </a:extLst>
          </p:cNvPr>
          <p:cNvSpPr txBox="1"/>
          <p:nvPr/>
        </p:nvSpPr>
        <p:spPr>
          <a:xfrm>
            <a:off x="6745460" y="2865083"/>
            <a:ext cx="4648826" cy="954107"/>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defRPr/>
            </a:pPr>
            <a:r>
              <a:rPr lang="en-US" altLang="zh-CN" sz="1400">
                <a:solidFill>
                  <a:schemeClr val="accent2">
                    <a:lumMod val="50000"/>
                  </a:schemeClr>
                </a:solidFill>
                <a:latin typeface="+mn-ea"/>
              </a:rPr>
              <a:t>Covers all clinical and medication data of more than </a:t>
            </a:r>
            <a:r>
              <a:rPr lang="en-US" altLang="zh-CN" sz="1400" b="1">
                <a:solidFill>
                  <a:schemeClr val="accent2">
                    <a:lumMod val="50000"/>
                  </a:schemeClr>
                </a:solidFill>
                <a:latin typeface="+mn-ea"/>
              </a:rPr>
              <a:t>19 million insured persons from insurance-billed healthcare visits</a:t>
            </a:r>
            <a:r>
              <a:rPr lang="en-US" altLang="zh-CN" sz="1400">
                <a:solidFill>
                  <a:schemeClr val="accent2">
                    <a:lumMod val="50000"/>
                  </a:schemeClr>
                </a:solidFill>
                <a:latin typeface="+mn-ea"/>
              </a:rPr>
              <a:t>, including outpatient/ inpatient, emergency, and external pharmacies </a:t>
            </a:r>
          </a:p>
        </p:txBody>
      </p:sp>
      <p:sp>
        <p:nvSpPr>
          <p:cNvPr id="44" name="文本框 81">
            <a:extLst>
              <a:ext uri="{FF2B5EF4-FFF2-40B4-BE49-F238E27FC236}">
                <a16:creationId xmlns:a16="http://schemas.microsoft.com/office/drawing/2014/main" id="{3DFBEDA1-4A16-9B8B-4FBD-6155A59D87DC}"/>
              </a:ext>
            </a:extLst>
          </p:cNvPr>
          <p:cNvSpPr txBox="1"/>
          <p:nvPr/>
        </p:nvSpPr>
        <p:spPr>
          <a:xfrm>
            <a:off x="1517909" y="4297345"/>
            <a:ext cx="10070205" cy="1692771"/>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Aft>
                <a:spcPts val="600"/>
              </a:spcAft>
              <a:buFont typeface="Arial" panose="020B0604020202020204" pitchFamily="34" charset="0"/>
              <a:buChar char="•"/>
              <a:defRPr/>
            </a:pPr>
            <a:r>
              <a:rPr lang="en-US" altLang="zh-CN" sz="1400" b="1">
                <a:solidFill>
                  <a:schemeClr val="bg2">
                    <a:lumMod val="75000"/>
                    <a:lumOff val="25000"/>
                  </a:schemeClr>
                </a:solidFill>
                <a:latin typeface="+mn-ea"/>
              </a:rPr>
              <a:t>Comprehensive patient journey</a:t>
            </a:r>
            <a:r>
              <a:rPr lang="en-US" altLang="zh-CN" sz="1400">
                <a:solidFill>
                  <a:schemeClr val="bg2">
                    <a:lumMod val="75000"/>
                    <a:lumOff val="25000"/>
                  </a:schemeClr>
                </a:solidFill>
                <a:latin typeface="+mn-ea"/>
              </a:rPr>
              <a:t> tracks full treatment pathways from diagnosis to prescriptions across inpatient, cross-institutional, and external settings</a:t>
            </a:r>
          </a:p>
          <a:p>
            <a:pPr marL="171450" indent="-171450">
              <a:spcAft>
                <a:spcPts val="600"/>
              </a:spcAft>
              <a:buFont typeface="Arial" panose="020B0604020202020204" pitchFamily="34" charset="0"/>
              <a:buChar char="•"/>
              <a:defRPr/>
            </a:pPr>
            <a:r>
              <a:rPr lang="en-US" altLang="zh-CN" sz="1400" b="1">
                <a:solidFill>
                  <a:schemeClr val="bg2">
                    <a:lumMod val="75000"/>
                    <a:lumOff val="25000"/>
                  </a:schemeClr>
                </a:solidFill>
                <a:latin typeface="+mn-ea"/>
              </a:rPr>
              <a:t>Representative </a:t>
            </a:r>
            <a:r>
              <a:rPr lang="en-US" altLang="zh-CN" sz="1400">
                <a:solidFill>
                  <a:schemeClr val="bg2">
                    <a:lumMod val="75000"/>
                    <a:lumOff val="25000"/>
                  </a:schemeClr>
                </a:solidFill>
                <a:latin typeface="+mn-ea"/>
              </a:rPr>
              <a:t>of the total population in Beijing</a:t>
            </a:r>
          </a:p>
          <a:p>
            <a:pPr marL="171450" indent="-171450">
              <a:spcAft>
                <a:spcPts val="600"/>
              </a:spcAft>
              <a:buFont typeface="Arial" panose="020B0604020202020204" pitchFamily="34" charset="0"/>
              <a:buChar char="•"/>
              <a:defRPr/>
            </a:pPr>
            <a:r>
              <a:rPr lang="en-US" altLang="zh-CN" sz="1400" b="1">
                <a:solidFill>
                  <a:schemeClr val="bg2">
                    <a:lumMod val="75000"/>
                    <a:lumOff val="25000"/>
                  </a:schemeClr>
                </a:solidFill>
                <a:latin typeface="+mn-ea"/>
                <a:cs typeface="Times New Roman" panose="02020603050405020304" pitchFamily="18" charset="0"/>
              </a:rPr>
              <a:t>Accurate &amp; timely data: </a:t>
            </a:r>
            <a:r>
              <a:rPr lang="en-US" altLang="zh-CN" sz="1400">
                <a:solidFill>
                  <a:schemeClr val="bg2">
                    <a:lumMod val="75000"/>
                    <a:lumOff val="25000"/>
                  </a:schemeClr>
                </a:solidFill>
                <a:latin typeface="+mn-ea"/>
                <a:cs typeface="Times New Roman" panose="02020603050405020304" pitchFamily="18" charset="0"/>
              </a:rPr>
              <a:t>medical</a:t>
            </a:r>
            <a:r>
              <a:rPr lang="en-US" altLang="zh-CN" sz="1400" b="1">
                <a:solidFill>
                  <a:schemeClr val="bg2">
                    <a:lumMod val="75000"/>
                    <a:lumOff val="25000"/>
                  </a:schemeClr>
                </a:solidFill>
                <a:latin typeface="+mn-ea"/>
                <a:cs typeface="Times New Roman" panose="02020603050405020304" pitchFamily="18" charset="0"/>
              </a:rPr>
              <a:t> </a:t>
            </a:r>
            <a:r>
              <a:rPr lang="en-US" altLang="zh-CN" sz="1400">
                <a:solidFill>
                  <a:schemeClr val="bg2">
                    <a:lumMod val="75000"/>
                    <a:lumOff val="25000"/>
                  </a:schemeClr>
                </a:solidFill>
                <a:latin typeface="+mn-ea"/>
                <a:cs typeface="Times New Roman" panose="02020603050405020304" pitchFamily="18" charset="0"/>
              </a:rPr>
              <a:t>settlement updated within T+2 days; medical records updated within T + 3 months</a:t>
            </a:r>
          </a:p>
          <a:p>
            <a:pPr marL="171450" indent="-171450">
              <a:spcAft>
                <a:spcPts val="600"/>
              </a:spcAft>
              <a:buFont typeface="Arial" panose="020B0604020202020204" pitchFamily="34" charset="0"/>
              <a:buChar char="•"/>
              <a:defRPr/>
            </a:pPr>
            <a:r>
              <a:rPr lang="en-US" altLang="zh-CN" sz="1400" b="1">
                <a:solidFill>
                  <a:schemeClr val="bg2">
                    <a:lumMod val="75000"/>
                    <a:lumOff val="25000"/>
                  </a:schemeClr>
                </a:solidFill>
                <a:latin typeface="+mn-ea"/>
              </a:rPr>
              <a:t>Medical insights</a:t>
            </a:r>
            <a:r>
              <a:rPr lang="en-US" altLang="zh-CN" sz="1400">
                <a:solidFill>
                  <a:schemeClr val="bg2">
                    <a:lumMod val="75000"/>
                    <a:lumOff val="25000"/>
                  </a:schemeClr>
                </a:solidFill>
                <a:latin typeface="+mn-ea"/>
              </a:rPr>
              <a:t>: helps reveal changes in clinical practice and identify clinical unmet needs</a:t>
            </a:r>
          </a:p>
          <a:p>
            <a:pPr marL="171450" indent="-171450">
              <a:spcAft>
                <a:spcPts val="600"/>
              </a:spcAft>
              <a:buFont typeface="Arial" panose="020B0604020202020204" pitchFamily="34" charset="0"/>
              <a:buChar char="•"/>
              <a:defRPr/>
            </a:pPr>
            <a:r>
              <a:rPr lang="en-US" altLang="zh-CN" sz="1400">
                <a:solidFill>
                  <a:schemeClr val="bg2">
                    <a:lumMod val="75000"/>
                    <a:lumOff val="25000"/>
                  </a:schemeClr>
                </a:solidFill>
                <a:latin typeface="+mn-ea"/>
              </a:rPr>
              <a:t>Limitation: only has payment records of test; does not have the results of the tests</a:t>
            </a:r>
          </a:p>
        </p:txBody>
      </p:sp>
      <p:grpSp>
        <p:nvGrpSpPr>
          <p:cNvPr id="51" name="组合 50">
            <a:extLst>
              <a:ext uri="{FF2B5EF4-FFF2-40B4-BE49-F238E27FC236}">
                <a16:creationId xmlns:a16="http://schemas.microsoft.com/office/drawing/2014/main" id="{1CA5DE67-4CF5-BEDE-3958-0CD2752F42CE}"/>
              </a:ext>
            </a:extLst>
          </p:cNvPr>
          <p:cNvGrpSpPr/>
          <p:nvPr/>
        </p:nvGrpSpPr>
        <p:grpSpPr>
          <a:xfrm>
            <a:off x="1481298" y="2884375"/>
            <a:ext cx="2270173" cy="969698"/>
            <a:chOff x="4375556" y="1238467"/>
            <a:chExt cx="2270173" cy="969698"/>
          </a:xfrm>
        </p:grpSpPr>
        <p:sp>
          <p:nvSpPr>
            <p:cNvPr id="52" name="文本框 51">
              <a:extLst>
                <a:ext uri="{FF2B5EF4-FFF2-40B4-BE49-F238E27FC236}">
                  <a16:creationId xmlns:a16="http://schemas.microsoft.com/office/drawing/2014/main" id="{D56E8DD1-7540-5D60-BE4F-326F32144F2C}"/>
                </a:ext>
              </a:extLst>
            </p:cNvPr>
            <p:cNvSpPr txBox="1"/>
            <p:nvPr/>
          </p:nvSpPr>
          <p:spPr>
            <a:xfrm>
              <a:off x="4777124" y="1900388"/>
              <a:ext cx="146706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a:ln>
                    <a:noFill/>
                  </a:ln>
                  <a:solidFill>
                    <a:schemeClr val="accent2">
                      <a:lumMod val="50000"/>
                    </a:schemeClr>
                  </a:solidFill>
                  <a:effectLst/>
                  <a:uLnTx/>
                  <a:uFillTx/>
                  <a:latin typeface="+mn-ea"/>
                  <a:cs typeface="Alibaba PuHuiTi" pitchFamily="18" charset="-122"/>
                </a:rPr>
                <a:t>Insured persons</a:t>
              </a:r>
              <a:endParaRPr kumimoji="1" lang="zh-CN" altLang="en-US" sz="1400" b="0" i="0" u="none" strike="noStrike" kern="1200" cap="none" spc="0" normalizeH="0" baseline="0" noProof="0">
                <a:ln>
                  <a:noFill/>
                </a:ln>
                <a:solidFill>
                  <a:schemeClr val="accent2">
                    <a:lumMod val="50000"/>
                  </a:schemeClr>
                </a:solidFill>
                <a:effectLst/>
                <a:uLnTx/>
                <a:uFillTx/>
                <a:latin typeface="+mn-ea"/>
                <a:cs typeface="Alibaba PuHuiTi" pitchFamily="18" charset="-122"/>
              </a:endParaRPr>
            </a:p>
          </p:txBody>
        </p:sp>
        <p:sp>
          <p:nvSpPr>
            <p:cNvPr id="53" name="文本框 52">
              <a:extLst>
                <a:ext uri="{FF2B5EF4-FFF2-40B4-BE49-F238E27FC236}">
                  <a16:creationId xmlns:a16="http://schemas.microsoft.com/office/drawing/2014/main" id="{26548C5B-DE04-D93D-F49B-1A379A597B40}"/>
                </a:ext>
              </a:extLst>
            </p:cNvPr>
            <p:cNvSpPr txBox="1"/>
            <p:nvPr/>
          </p:nvSpPr>
          <p:spPr>
            <a:xfrm>
              <a:off x="4375556" y="1238467"/>
              <a:ext cx="2270173"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i="0" u="none" strike="noStrike" kern="1200" cap="none" spc="0" normalizeH="0" baseline="0" noProof="0">
                  <a:ln>
                    <a:noFill/>
                  </a:ln>
                  <a:solidFill>
                    <a:schemeClr val="accent2">
                      <a:lumMod val="50000"/>
                    </a:schemeClr>
                  </a:solidFill>
                  <a:effectLst/>
                  <a:uLnTx/>
                  <a:uFillTx/>
                  <a:latin typeface="+mn-ea"/>
                  <a:cs typeface="Alibaba PuHuiTi" pitchFamily="18" charset="-122"/>
                </a:rPr>
                <a:t>&gt; 19 million</a:t>
              </a:r>
              <a:endParaRPr kumimoji="1" lang="zh-CN" altLang="en-US" sz="3200" i="0" u="none" strike="noStrike" kern="1200" cap="none" spc="0" normalizeH="0" baseline="0" noProof="0">
                <a:ln>
                  <a:noFill/>
                </a:ln>
                <a:solidFill>
                  <a:schemeClr val="accent2">
                    <a:lumMod val="50000"/>
                  </a:schemeClr>
                </a:solidFill>
                <a:effectLst/>
                <a:uLnTx/>
                <a:uFillTx/>
                <a:latin typeface="+mn-ea"/>
                <a:cs typeface="Alibaba PuHuiTi" pitchFamily="18" charset="-122"/>
              </a:endParaRPr>
            </a:p>
          </p:txBody>
        </p:sp>
      </p:grpSp>
      <p:sp>
        <p:nvSpPr>
          <p:cNvPr id="57" name="Freeform 80">
            <a:extLst>
              <a:ext uri="{FF2B5EF4-FFF2-40B4-BE49-F238E27FC236}">
                <a16:creationId xmlns:a16="http://schemas.microsoft.com/office/drawing/2014/main" id="{C8904010-AE5B-B3C1-A51D-DA6C7368BBFE}"/>
              </a:ext>
            </a:extLst>
          </p:cNvPr>
          <p:cNvSpPr>
            <a:spLocks noChangeArrowheads="1"/>
          </p:cNvSpPr>
          <p:nvPr/>
        </p:nvSpPr>
        <p:spPr bwMode="auto">
          <a:xfrm>
            <a:off x="4935534" y="2973837"/>
            <a:ext cx="377825" cy="377825"/>
          </a:xfrm>
          <a:custGeom>
            <a:avLst/>
            <a:gdLst>
              <a:gd name="T0" fmla="*/ 175 w 1050"/>
              <a:gd name="T1" fmla="*/ 817 h 1050"/>
              <a:gd name="T2" fmla="*/ 175 w 1050"/>
              <a:gd name="T3" fmla="*/ 875 h 1050"/>
              <a:gd name="T4" fmla="*/ 874 w 1050"/>
              <a:gd name="T5" fmla="*/ 875 h 1050"/>
              <a:gd name="T6" fmla="*/ 874 w 1050"/>
              <a:gd name="T7" fmla="*/ 817 h 1050"/>
              <a:gd name="T8" fmla="*/ 524 w 1050"/>
              <a:gd name="T9" fmla="*/ 637 h 1050"/>
              <a:gd name="T10" fmla="*/ 175 w 1050"/>
              <a:gd name="T11" fmla="*/ 817 h 1050"/>
              <a:gd name="T12" fmla="*/ 699 w 1050"/>
              <a:gd name="T13" fmla="*/ 350 h 1050"/>
              <a:gd name="T14" fmla="*/ 524 w 1050"/>
              <a:gd name="T15" fmla="*/ 175 h 1050"/>
              <a:gd name="T16" fmla="*/ 350 w 1050"/>
              <a:gd name="T17" fmla="*/ 350 h 1050"/>
              <a:gd name="T18" fmla="*/ 524 w 1050"/>
              <a:gd name="T19" fmla="*/ 525 h 1050"/>
              <a:gd name="T20" fmla="*/ 699 w 1050"/>
              <a:gd name="T21" fmla="*/ 350 h 1050"/>
              <a:gd name="T22" fmla="*/ 0 w 1050"/>
              <a:gd name="T23" fmla="*/ 118 h 1050"/>
              <a:gd name="T24" fmla="*/ 117 w 1050"/>
              <a:gd name="T25" fmla="*/ 0 h 1050"/>
              <a:gd name="T26" fmla="*/ 932 w 1050"/>
              <a:gd name="T27" fmla="*/ 0 h 1050"/>
              <a:gd name="T28" fmla="*/ 1049 w 1050"/>
              <a:gd name="T29" fmla="*/ 118 h 1050"/>
              <a:gd name="T30" fmla="*/ 1049 w 1050"/>
              <a:gd name="T31" fmla="*/ 932 h 1050"/>
              <a:gd name="T32" fmla="*/ 932 w 1050"/>
              <a:gd name="T33" fmla="*/ 1049 h 1050"/>
              <a:gd name="T34" fmla="*/ 117 w 1050"/>
              <a:gd name="T35" fmla="*/ 1049 h 1050"/>
              <a:gd name="T36" fmla="*/ 0 w 1050"/>
              <a:gd name="T37" fmla="*/ 932 h 1050"/>
              <a:gd name="T38" fmla="*/ 0 w 1050"/>
              <a:gd name="T39" fmla="*/ 118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0" h="1050">
                <a:moveTo>
                  <a:pt x="175" y="817"/>
                </a:moveTo>
                <a:lnTo>
                  <a:pt x="175" y="875"/>
                </a:lnTo>
                <a:lnTo>
                  <a:pt x="874" y="875"/>
                </a:lnTo>
                <a:lnTo>
                  <a:pt x="874" y="817"/>
                </a:lnTo>
                <a:cubicBezTo>
                  <a:pt x="874" y="700"/>
                  <a:pt x="642" y="637"/>
                  <a:pt x="524" y="637"/>
                </a:cubicBezTo>
                <a:cubicBezTo>
                  <a:pt x="407" y="637"/>
                  <a:pt x="175" y="700"/>
                  <a:pt x="175" y="817"/>
                </a:cubicBezTo>
                <a:close/>
                <a:moveTo>
                  <a:pt x="699" y="350"/>
                </a:moveTo>
                <a:cubicBezTo>
                  <a:pt x="699" y="254"/>
                  <a:pt x="619" y="175"/>
                  <a:pt x="524" y="175"/>
                </a:cubicBezTo>
                <a:cubicBezTo>
                  <a:pt x="428" y="175"/>
                  <a:pt x="350" y="254"/>
                  <a:pt x="350" y="350"/>
                </a:cubicBezTo>
                <a:cubicBezTo>
                  <a:pt x="350" y="446"/>
                  <a:pt x="428" y="525"/>
                  <a:pt x="524" y="525"/>
                </a:cubicBezTo>
                <a:cubicBezTo>
                  <a:pt x="619" y="525"/>
                  <a:pt x="699" y="446"/>
                  <a:pt x="699" y="350"/>
                </a:cubicBezTo>
                <a:close/>
                <a:moveTo>
                  <a:pt x="0" y="118"/>
                </a:moveTo>
                <a:cubicBezTo>
                  <a:pt x="0" y="55"/>
                  <a:pt x="52" y="0"/>
                  <a:pt x="117" y="0"/>
                </a:cubicBezTo>
                <a:lnTo>
                  <a:pt x="932" y="0"/>
                </a:lnTo>
                <a:cubicBezTo>
                  <a:pt x="994" y="0"/>
                  <a:pt x="1049" y="55"/>
                  <a:pt x="1049" y="118"/>
                </a:cubicBezTo>
                <a:lnTo>
                  <a:pt x="1049" y="932"/>
                </a:lnTo>
                <a:cubicBezTo>
                  <a:pt x="1049" y="995"/>
                  <a:pt x="994" y="1049"/>
                  <a:pt x="932" y="1049"/>
                </a:cubicBezTo>
                <a:lnTo>
                  <a:pt x="117" y="1049"/>
                </a:lnTo>
                <a:cubicBezTo>
                  <a:pt x="52" y="1049"/>
                  <a:pt x="0" y="995"/>
                  <a:pt x="0" y="932"/>
                </a:cubicBezTo>
                <a:lnTo>
                  <a:pt x="0" y="118"/>
                </a:lnTo>
                <a:close/>
              </a:path>
            </a:pathLst>
          </a:custGeom>
          <a:solidFill>
            <a:schemeClr val="accent2"/>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2" name="Title 1">
            <a:extLst>
              <a:ext uri="{FF2B5EF4-FFF2-40B4-BE49-F238E27FC236}">
                <a16:creationId xmlns:a16="http://schemas.microsoft.com/office/drawing/2014/main" id="{B8251870-7DDF-85E3-2734-2CA446833CF9}"/>
              </a:ext>
            </a:extLst>
          </p:cNvPr>
          <p:cNvSpPr>
            <a:spLocks noGrp="1"/>
          </p:cNvSpPr>
          <p:nvPr>
            <p:ph type="title"/>
          </p:nvPr>
        </p:nvSpPr>
        <p:spPr>
          <a:xfrm>
            <a:off x="463551" y="336283"/>
            <a:ext cx="11728450" cy="720000"/>
          </a:xfrm>
        </p:spPr>
        <p:txBody>
          <a:bodyPr/>
          <a:lstStyle/>
          <a:p>
            <a:r>
              <a:rPr lang="en-US" altLang="zh-CN" sz="2800" dirty="0">
                <a:solidFill>
                  <a:schemeClr val="tx1">
                    <a:lumMod val="85000"/>
                    <a:lumOff val="15000"/>
                  </a:schemeClr>
                </a:solidFill>
                <a:latin typeface="+mj-ea"/>
              </a:rPr>
              <a:t>Data Source: Beijing Claims Database</a:t>
            </a:r>
            <a:endParaRPr lang="zh-CN" altLang="en-US" sz="2800" dirty="0">
              <a:solidFill>
                <a:schemeClr val="tx1">
                  <a:lumMod val="85000"/>
                  <a:lumOff val="15000"/>
                </a:schemeClr>
              </a:solidFill>
              <a:latin typeface="+mj-ea"/>
            </a:endParaRPr>
          </a:p>
        </p:txBody>
      </p:sp>
      <p:grpSp>
        <p:nvGrpSpPr>
          <p:cNvPr id="11" name="Group 10">
            <a:extLst>
              <a:ext uri="{FF2B5EF4-FFF2-40B4-BE49-F238E27FC236}">
                <a16:creationId xmlns:a16="http://schemas.microsoft.com/office/drawing/2014/main" id="{EA39437E-AA19-803D-B79F-361D85A95F94}"/>
              </a:ext>
            </a:extLst>
          </p:cNvPr>
          <p:cNvGrpSpPr/>
          <p:nvPr/>
        </p:nvGrpSpPr>
        <p:grpSpPr>
          <a:xfrm>
            <a:off x="4773929" y="1398357"/>
            <a:ext cx="711199" cy="655443"/>
            <a:chOff x="4490720" y="1169229"/>
            <a:chExt cx="830579" cy="830579"/>
          </a:xfrm>
        </p:grpSpPr>
        <p:sp>
          <p:nvSpPr>
            <p:cNvPr id="28" name="任意形状 27">
              <a:extLst>
                <a:ext uri="{FF2B5EF4-FFF2-40B4-BE49-F238E27FC236}">
                  <a16:creationId xmlns:a16="http://schemas.microsoft.com/office/drawing/2014/main" id="{0E12B9CA-8E02-8D3D-88FE-EA43AA5D1DFC}"/>
                </a:ext>
              </a:extLst>
            </p:cNvPr>
            <p:cNvSpPr/>
            <p:nvPr/>
          </p:nvSpPr>
          <p:spPr>
            <a:xfrm>
              <a:off x="4490720" y="1169229"/>
              <a:ext cx="830579" cy="830579"/>
            </a:xfrm>
            <a:custGeom>
              <a:avLst/>
              <a:gdLst>
                <a:gd name="connsiteX0" fmla="*/ 830580 w 830579"/>
                <a:gd name="connsiteY0" fmla="*/ 415290 h 830579"/>
                <a:gd name="connsiteX1" fmla="*/ 415290 w 830579"/>
                <a:gd name="connsiteY1" fmla="*/ 830580 h 830579"/>
                <a:gd name="connsiteX2" fmla="*/ 0 w 830579"/>
                <a:gd name="connsiteY2" fmla="*/ 415290 h 830579"/>
                <a:gd name="connsiteX3" fmla="*/ 415290 w 830579"/>
                <a:gd name="connsiteY3" fmla="*/ 0 h 830579"/>
                <a:gd name="connsiteX4" fmla="*/ 830580 w 830579"/>
                <a:gd name="connsiteY4" fmla="*/ 415290 h 830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79" h="830579">
                  <a:moveTo>
                    <a:pt x="830580" y="415290"/>
                  </a:moveTo>
                  <a:cubicBezTo>
                    <a:pt x="830580" y="644648"/>
                    <a:pt x="644648" y="830580"/>
                    <a:pt x="415290" y="830580"/>
                  </a:cubicBezTo>
                  <a:cubicBezTo>
                    <a:pt x="185931" y="830580"/>
                    <a:pt x="0" y="644648"/>
                    <a:pt x="0" y="415290"/>
                  </a:cubicBezTo>
                  <a:cubicBezTo>
                    <a:pt x="0" y="185932"/>
                    <a:pt x="185931" y="0"/>
                    <a:pt x="415290" y="0"/>
                  </a:cubicBezTo>
                  <a:cubicBezTo>
                    <a:pt x="644648" y="0"/>
                    <a:pt x="830580" y="185932"/>
                    <a:pt x="830580" y="41529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pic>
          <p:nvPicPr>
            <p:cNvPr id="6" name="Graphic 5" descr="Medical with solid fill">
              <a:extLst>
                <a:ext uri="{FF2B5EF4-FFF2-40B4-BE49-F238E27FC236}">
                  <a16:creationId xmlns:a16="http://schemas.microsoft.com/office/drawing/2014/main" id="{42323925-EE1D-BFD6-6375-FBE5209016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316" y="1250005"/>
              <a:ext cx="666115" cy="666115"/>
            </a:xfrm>
            <a:prstGeom prst="rect">
              <a:avLst/>
            </a:prstGeom>
          </p:spPr>
        </p:pic>
      </p:grpSp>
      <p:sp>
        <p:nvSpPr>
          <p:cNvPr id="7" name="TextBox 6">
            <a:extLst>
              <a:ext uri="{FF2B5EF4-FFF2-40B4-BE49-F238E27FC236}">
                <a16:creationId xmlns:a16="http://schemas.microsoft.com/office/drawing/2014/main" id="{442A6FEE-5D90-C8B0-595B-572E2C388DF3}"/>
              </a:ext>
            </a:extLst>
          </p:cNvPr>
          <p:cNvSpPr txBox="1"/>
          <p:nvPr/>
        </p:nvSpPr>
        <p:spPr bwMode="gray">
          <a:xfrm>
            <a:off x="1751509" y="6306273"/>
            <a:ext cx="3389128" cy="215444"/>
          </a:xfrm>
          <a:prstGeom prst="rect">
            <a:avLst/>
          </a:prstGeom>
          <a:noFill/>
        </p:spPr>
        <p:txBody>
          <a:bodyPr wrap="square">
            <a:spAutoFit/>
          </a:bodyPr>
          <a:lstStyle/>
          <a:p>
            <a:r>
              <a:rPr lang="zh-CN" altLang="en-US" sz="800" b="0" i="0" u="none" strike="noStrike" baseline="0">
                <a:solidFill>
                  <a:srgbClr val="000000"/>
                </a:solidFill>
                <a:latin typeface="+mn-ea"/>
              </a:rPr>
              <a:t> </a:t>
            </a:r>
            <a:r>
              <a:rPr lang="en-US" altLang="zh-CN" sz="800" b="0" i="0" u="none" strike="noStrike" baseline="0">
                <a:solidFill>
                  <a:srgbClr val="000000"/>
                </a:solidFill>
                <a:latin typeface="+mn-ea"/>
              </a:rPr>
              <a:t>1. </a:t>
            </a:r>
            <a:r>
              <a:rPr lang="zh-CN" altLang="en-US" sz="800" b="0" i="0" u="none" strike="noStrike" baseline="0">
                <a:solidFill>
                  <a:srgbClr val="000000"/>
                </a:solidFill>
                <a:latin typeface="+mn-ea"/>
              </a:rPr>
              <a:t>北京市卫健委</a:t>
            </a:r>
            <a:r>
              <a:rPr lang="en-US" altLang="zh-CN" sz="800" b="0" i="0" u="none" strike="noStrike" baseline="0">
                <a:solidFill>
                  <a:srgbClr val="000000"/>
                </a:solidFill>
                <a:latin typeface="+mn-ea"/>
              </a:rPr>
              <a:t>《2023</a:t>
            </a:r>
            <a:r>
              <a:rPr lang="zh-CN" altLang="en-US" sz="800" b="0" i="0" u="none" strike="noStrike" baseline="0">
                <a:solidFill>
                  <a:srgbClr val="000000"/>
                </a:solidFill>
                <a:latin typeface="+mn-ea"/>
              </a:rPr>
              <a:t>年北京卫生健康事业发展统计公报</a:t>
            </a:r>
            <a:r>
              <a:rPr lang="en-US" altLang="zh-CN" sz="800" b="0" i="0" u="none" strike="noStrike" baseline="0">
                <a:solidFill>
                  <a:srgbClr val="000000"/>
                </a:solidFill>
                <a:latin typeface="+mn-ea"/>
              </a:rPr>
              <a:t>》</a:t>
            </a:r>
            <a:endParaRPr lang="zh-CN" altLang="en-US" sz="800">
              <a:latin typeface="+mn-ea"/>
            </a:endParaRPr>
          </a:p>
        </p:txBody>
      </p:sp>
    </p:spTree>
    <p:extLst>
      <p:ext uri="{BB962C8B-B14F-4D97-AF65-F5344CB8AC3E}">
        <p14:creationId xmlns:p14="http://schemas.microsoft.com/office/powerpoint/2010/main" val="3246347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9B027-47B1-CB48-5684-C5C770567257}"/>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22FC8736-5E5C-CC1E-ABCE-F15C24E3B6BB}"/>
              </a:ext>
            </a:extLst>
          </p:cNvPr>
          <p:cNvSpPr>
            <a:spLocks noGrp="1"/>
          </p:cNvSpPr>
          <p:nvPr>
            <p:ph type="title"/>
          </p:nvPr>
        </p:nvSpPr>
        <p:spPr>
          <a:xfrm>
            <a:off x="479424" y="407252"/>
            <a:ext cx="11233151" cy="720000"/>
          </a:xfrm>
        </p:spPr>
        <p:txBody>
          <a:bodyPr/>
          <a:lstStyle/>
          <a:p>
            <a:r>
              <a:rPr lang="en-US" altLang="zh-CN" sz="2800" dirty="0">
                <a:solidFill>
                  <a:schemeClr val="tx1">
                    <a:lumMod val="85000"/>
                    <a:lumOff val="15000"/>
                  </a:schemeClr>
                </a:solidFill>
              </a:rPr>
              <a:t>Study Design – patient’s characteristics, prevalence and incidence</a:t>
            </a:r>
            <a:endParaRPr lang="zh-CN" altLang="en-US" sz="2800" dirty="0">
              <a:solidFill>
                <a:schemeClr val="tx1">
                  <a:lumMod val="85000"/>
                  <a:lumOff val="15000"/>
                </a:schemeClr>
              </a:solidFill>
            </a:endParaRPr>
          </a:p>
        </p:txBody>
      </p:sp>
      <p:sp>
        <p:nvSpPr>
          <p:cNvPr id="16" name="矩形: 圆角 16">
            <a:extLst>
              <a:ext uri="{FF2B5EF4-FFF2-40B4-BE49-F238E27FC236}">
                <a16:creationId xmlns:a16="http://schemas.microsoft.com/office/drawing/2014/main" id="{9E3BCEF5-DC47-68E8-4095-9FF992B1F625}"/>
              </a:ext>
            </a:extLst>
          </p:cNvPr>
          <p:cNvSpPr/>
          <p:nvPr/>
        </p:nvSpPr>
        <p:spPr bwMode="gray">
          <a:xfrm>
            <a:off x="5214061" y="3279591"/>
            <a:ext cx="6065991" cy="768903"/>
          </a:xfrm>
          <a:prstGeom prst="roundRect">
            <a:avLst/>
          </a:prstGeom>
          <a:solidFill>
            <a:srgbClr val="E0E1F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US" altLang="zh-CN" sz="1200" dirty="0">
                <a:solidFill>
                  <a:srgbClr val="0F1115"/>
                </a:solidFill>
                <a:latin typeface="+mn-ea"/>
              </a:rPr>
              <a:t>Study population</a:t>
            </a:r>
          </a:p>
          <a:p>
            <a:pPr marL="285750" indent="-285750">
              <a:spcAft>
                <a:spcPts val="600"/>
              </a:spcAft>
              <a:buFont typeface="Arial" panose="020B0604020202020204" pitchFamily="34" charset="0"/>
              <a:buChar char="•"/>
            </a:pPr>
            <a:r>
              <a:rPr lang="en-US" altLang="zh-CN" sz="1200" dirty="0">
                <a:solidFill>
                  <a:srgbClr val="0F1115"/>
                </a:solidFill>
                <a:latin typeface="+mn-ea"/>
              </a:rPr>
              <a:t>Consist of all patients identified as having SSc (both outpatients and inpatients)</a:t>
            </a:r>
          </a:p>
          <a:p>
            <a:pPr marL="285750" indent="-285750">
              <a:spcAft>
                <a:spcPts val="600"/>
              </a:spcAft>
              <a:buFont typeface="Arial" panose="020B0604020202020204" pitchFamily="34" charset="0"/>
              <a:buChar char="•"/>
            </a:pPr>
            <a:r>
              <a:rPr lang="en-US" altLang="zh-CN" sz="1200" dirty="0">
                <a:solidFill>
                  <a:srgbClr val="0F1115"/>
                </a:solidFill>
                <a:latin typeface="+mn-ea"/>
              </a:rPr>
              <a:t>SSc cases will be identified by Chinese medical terms and ICD-10 codes (</a:t>
            </a:r>
            <a:r>
              <a:rPr lang="en-US" altLang="zh-CN" sz="1200" dirty="0">
                <a:solidFill>
                  <a:srgbClr val="000000"/>
                </a:solidFill>
                <a:latin typeface="+mn-ea"/>
              </a:rPr>
              <a:t>M34</a:t>
            </a:r>
            <a:r>
              <a:rPr lang="en-US" altLang="zh-CN" sz="1200" dirty="0">
                <a:solidFill>
                  <a:srgbClr val="0F1115"/>
                </a:solidFill>
                <a:latin typeface="+mn-ea"/>
              </a:rPr>
              <a:t>)</a:t>
            </a:r>
          </a:p>
        </p:txBody>
      </p:sp>
      <p:sp>
        <p:nvSpPr>
          <p:cNvPr id="17" name="矩形: 圆角 16">
            <a:extLst>
              <a:ext uri="{FF2B5EF4-FFF2-40B4-BE49-F238E27FC236}">
                <a16:creationId xmlns:a16="http://schemas.microsoft.com/office/drawing/2014/main" id="{3AF8A895-B586-21A9-5EC1-B06D6F3308FB}"/>
              </a:ext>
            </a:extLst>
          </p:cNvPr>
          <p:cNvSpPr/>
          <p:nvPr/>
        </p:nvSpPr>
        <p:spPr bwMode="gray">
          <a:xfrm>
            <a:off x="5835234" y="1162725"/>
            <a:ext cx="3080846" cy="357767"/>
          </a:xfrm>
          <a:prstGeom prst="roundRect">
            <a:avLst/>
          </a:prstGeom>
          <a:solidFill>
            <a:schemeClr val="accent1">
              <a:lumMod val="10000"/>
              <a:lumOff val="9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b="1" dirty="0">
                <a:solidFill>
                  <a:srgbClr val="0F1115"/>
                </a:solidFill>
                <a:latin typeface="+mn-ea"/>
              </a:rPr>
              <a:t>Index date</a:t>
            </a:r>
            <a:r>
              <a:rPr lang="en-US" altLang="zh-CN" sz="1200" dirty="0">
                <a:solidFill>
                  <a:srgbClr val="0F1115"/>
                </a:solidFill>
                <a:latin typeface="+mn-ea"/>
              </a:rPr>
              <a:t>: </a:t>
            </a:r>
            <a:r>
              <a:rPr lang="zh-CN" altLang="zh-CN" sz="1200" dirty="0">
                <a:solidFill>
                  <a:schemeClr val="tx1"/>
                </a:solidFill>
                <a:latin typeface="+mn-ea"/>
              </a:rPr>
              <a:t>date of the first </a:t>
            </a:r>
            <a:r>
              <a:rPr lang="en-US" altLang="zh-CN" sz="1200" dirty="0">
                <a:solidFill>
                  <a:schemeClr val="tx1"/>
                </a:solidFill>
                <a:latin typeface="+mn-ea"/>
              </a:rPr>
              <a:t>SSc</a:t>
            </a:r>
            <a:r>
              <a:rPr lang="zh-CN" altLang="zh-CN" sz="1200" dirty="0">
                <a:solidFill>
                  <a:schemeClr val="tx1"/>
                </a:solidFill>
                <a:latin typeface="+mn-ea"/>
              </a:rPr>
              <a:t> diagnosis</a:t>
            </a:r>
            <a:endParaRPr lang="en-US" altLang="zh-CN" sz="1200" dirty="0">
              <a:solidFill>
                <a:schemeClr val="tx1"/>
              </a:solidFill>
              <a:latin typeface="+mn-ea"/>
            </a:endParaRPr>
          </a:p>
        </p:txBody>
      </p:sp>
      <p:sp>
        <p:nvSpPr>
          <p:cNvPr id="24" name="矩形: 圆角 16">
            <a:extLst>
              <a:ext uri="{FF2B5EF4-FFF2-40B4-BE49-F238E27FC236}">
                <a16:creationId xmlns:a16="http://schemas.microsoft.com/office/drawing/2014/main" id="{7FE94A90-0EBA-C687-B7F2-228FCC1BE4F2}"/>
              </a:ext>
            </a:extLst>
          </p:cNvPr>
          <p:cNvSpPr/>
          <p:nvPr/>
        </p:nvSpPr>
        <p:spPr bwMode="gray">
          <a:xfrm>
            <a:off x="1013442" y="3279591"/>
            <a:ext cx="3789135" cy="348055"/>
          </a:xfrm>
          <a:prstGeom prst="roundRect">
            <a:avLst/>
          </a:prstGeom>
          <a:solidFill>
            <a:schemeClr val="accent1">
              <a:lumMod val="10000"/>
              <a:lumOff val="9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b="1" dirty="0">
                <a:solidFill>
                  <a:schemeClr val="tx1"/>
                </a:solidFill>
                <a:latin typeface="+mn-ea"/>
              </a:rPr>
              <a:t>Baseline period</a:t>
            </a:r>
            <a:r>
              <a:rPr lang="en-US" altLang="zh-CN" sz="1200" dirty="0">
                <a:solidFill>
                  <a:schemeClr val="tx1"/>
                </a:solidFill>
                <a:latin typeface="+mn-ea"/>
              </a:rPr>
              <a:t>: 12 months prior to the index date</a:t>
            </a:r>
          </a:p>
        </p:txBody>
      </p:sp>
      <p:grpSp>
        <p:nvGrpSpPr>
          <p:cNvPr id="28" name="Group 27">
            <a:extLst>
              <a:ext uri="{FF2B5EF4-FFF2-40B4-BE49-F238E27FC236}">
                <a16:creationId xmlns:a16="http://schemas.microsoft.com/office/drawing/2014/main" id="{C7DF8A0C-AC69-2D00-9422-81E282D783FB}"/>
              </a:ext>
            </a:extLst>
          </p:cNvPr>
          <p:cNvGrpSpPr/>
          <p:nvPr/>
        </p:nvGrpSpPr>
        <p:grpSpPr>
          <a:xfrm>
            <a:off x="5863203" y="4199414"/>
            <a:ext cx="5849389" cy="2093702"/>
            <a:chOff x="426720" y="4303415"/>
            <a:chExt cx="5849389" cy="1887671"/>
          </a:xfrm>
        </p:grpSpPr>
        <p:sp>
          <p:nvSpPr>
            <p:cNvPr id="29" name="矩形: 圆角 16">
              <a:extLst>
                <a:ext uri="{FF2B5EF4-FFF2-40B4-BE49-F238E27FC236}">
                  <a16:creationId xmlns:a16="http://schemas.microsoft.com/office/drawing/2014/main" id="{A7D89E90-C749-C540-D37C-28E36E9430BD}"/>
                </a:ext>
              </a:extLst>
            </p:cNvPr>
            <p:cNvSpPr/>
            <p:nvPr/>
          </p:nvSpPr>
          <p:spPr bwMode="gray">
            <a:xfrm>
              <a:off x="426720" y="4303415"/>
              <a:ext cx="5849389" cy="1887671"/>
            </a:xfrm>
            <a:prstGeom prst="round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endParaRPr lang="zh-CN" altLang="zh-CN" sz="1600" dirty="0">
                <a:solidFill>
                  <a:schemeClr val="tx1"/>
                </a:solidFill>
              </a:endParaRPr>
            </a:p>
          </p:txBody>
        </p:sp>
        <p:sp>
          <p:nvSpPr>
            <p:cNvPr id="30" name="TextBox 29">
              <a:extLst>
                <a:ext uri="{FF2B5EF4-FFF2-40B4-BE49-F238E27FC236}">
                  <a16:creationId xmlns:a16="http://schemas.microsoft.com/office/drawing/2014/main" id="{F17719FB-DF7C-19AB-3F3C-EA28B9272665}"/>
                </a:ext>
              </a:extLst>
            </p:cNvPr>
            <p:cNvSpPr txBox="1"/>
            <p:nvPr/>
          </p:nvSpPr>
          <p:spPr bwMode="gray">
            <a:xfrm>
              <a:off x="670601" y="4445574"/>
              <a:ext cx="5514976" cy="1581691"/>
            </a:xfrm>
            <a:prstGeom prst="rect">
              <a:avLst/>
            </a:prstGeom>
            <a:noFill/>
          </p:spPr>
          <p:txBody>
            <a:bodyPr wrap="square">
              <a:spAutoFit/>
            </a:bodyPr>
            <a:lstStyle/>
            <a:p>
              <a:pPr algn="l">
                <a:spcAft>
                  <a:spcPts val="600"/>
                </a:spcAft>
                <a:buNone/>
              </a:pPr>
              <a:r>
                <a:rPr lang="en-US" altLang="zh-CN" sz="1400" b="1" dirty="0">
                  <a:solidFill>
                    <a:srgbClr val="0F1115"/>
                  </a:solidFill>
                  <a:effectLst/>
                  <a:latin typeface="+mn-ea"/>
                </a:rPr>
                <a:t>Prevalence/Incidence</a:t>
              </a:r>
            </a:p>
            <a:p>
              <a:pPr marL="285750" indent="-285750" fontAlgn="base">
                <a:spcAft>
                  <a:spcPts val="600"/>
                </a:spcAft>
                <a:buFont typeface="Arial" panose="020B0604020202020204" pitchFamily="34" charset="0"/>
                <a:buChar char="•"/>
              </a:pPr>
              <a:r>
                <a:rPr lang="en-US" altLang="zh-CN" sz="1400" dirty="0">
                  <a:latin typeface="+mn-ea"/>
                </a:rPr>
                <a:t>Prevalence: total number of prevalent SSc cases who were alive at any time during the calendar year divided by the total insured population on July 1 of that year</a:t>
              </a:r>
            </a:p>
            <a:p>
              <a:pPr marL="285750" indent="-285750" fontAlgn="base">
                <a:spcAft>
                  <a:spcPts val="600"/>
                </a:spcAft>
                <a:buFont typeface="Arial" panose="020B0604020202020204" pitchFamily="34" charset="0"/>
                <a:buChar char="•"/>
              </a:pPr>
              <a:r>
                <a:rPr lang="en-US" altLang="zh-CN" sz="1400" dirty="0">
                  <a:latin typeface="+mn-ea"/>
                </a:rPr>
                <a:t>Yearly incidence: </a:t>
              </a:r>
              <a:r>
                <a:rPr lang="en-GB" altLang="zh-CN" sz="1400" dirty="0">
                  <a:latin typeface="+mn-ea"/>
                </a:rPr>
                <a:t>the number of new </a:t>
              </a:r>
              <a:r>
                <a:rPr lang="en-GB" altLang="zh-CN" sz="1400" dirty="0" err="1">
                  <a:latin typeface="+mn-ea"/>
                </a:rPr>
                <a:t>SSc</a:t>
              </a:r>
              <a:r>
                <a:rPr lang="en-GB" altLang="zh-CN" sz="1400" dirty="0">
                  <a:latin typeface="+mn-ea"/>
                </a:rPr>
                <a:t> cases of each year divided by the total number of at-risk insured individuals in the database at that mid-year (July 1) of each year </a:t>
              </a:r>
              <a:endParaRPr lang="en-US" altLang="zh-CN" sz="1400" dirty="0">
                <a:latin typeface="+mn-ea"/>
              </a:endParaRPr>
            </a:p>
          </p:txBody>
        </p:sp>
      </p:grpSp>
      <p:grpSp>
        <p:nvGrpSpPr>
          <p:cNvPr id="31" name="Group 30">
            <a:extLst>
              <a:ext uri="{FF2B5EF4-FFF2-40B4-BE49-F238E27FC236}">
                <a16:creationId xmlns:a16="http://schemas.microsoft.com/office/drawing/2014/main" id="{C8BD0CF1-8D9F-B9AE-9225-FB2719BAD6E4}"/>
              </a:ext>
            </a:extLst>
          </p:cNvPr>
          <p:cNvGrpSpPr/>
          <p:nvPr/>
        </p:nvGrpSpPr>
        <p:grpSpPr>
          <a:xfrm>
            <a:off x="479408" y="4199418"/>
            <a:ext cx="5158649" cy="1942775"/>
            <a:chOff x="6501912" y="4303415"/>
            <a:chExt cx="5158649" cy="1942775"/>
          </a:xfrm>
        </p:grpSpPr>
        <p:sp>
          <p:nvSpPr>
            <p:cNvPr id="32" name="矩形: 圆角 16">
              <a:extLst>
                <a:ext uri="{FF2B5EF4-FFF2-40B4-BE49-F238E27FC236}">
                  <a16:creationId xmlns:a16="http://schemas.microsoft.com/office/drawing/2014/main" id="{F27263B1-F718-1E4F-ACFF-67E1799816DF}"/>
                </a:ext>
              </a:extLst>
            </p:cNvPr>
            <p:cNvSpPr/>
            <p:nvPr/>
          </p:nvSpPr>
          <p:spPr bwMode="gray">
            <a:xfrm>
              <a:off x="6501912" y="4303415"/>
              <a:ext cx="5158649" cy="1925158"/>
            </a:xfrm>
            <a:prstGeom prst="round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3" name="TextBox 32">
              <a:extLst>
                <a:ext uri="{FF2B5EF4-FFF2-40B4-BE49-F238E27FC236}">
                  <a16:creationId xmlns:a16="http://schemas.microsoft.com/office/drawing/2014/main" id="{7C05E7B2-5D4D-0531-F76A-60D31C74C1FD}"/>
                </a:ext>
              </a:extLst>
            </p:cNvPr>
            <p:cNvSpPr txBox="1"/>
            <p:nvPr/>
          </p:nvSpPr>
          <p:spPr bwMode="gray">
            <a:xfrm>
              <a:off x="6874529" y="4430308"/>
              <a:ext cx="4413413" cy="1815882"/>
            </a:xfrm>
            <a:prstGeom prst="rect">
              <a:avLst/>
            </a:prstGeom>
            <a:noFill/>
          </p:spPr>
          <p:txBody>
            <a:bodyPr wrap="square" numCol="2">
              <a:spAutoFit/>
            </a:bodyPr>
            <a:lstStyle/>
            <a:p>
              <a:pPr algn="l">
                <a:spcAft>
                  <a:spcPts val="600"/>
                </a:spcAft>
                <a:buNone/>
              </a:pPr>
              <a:r>
                <a:rPr lang="en-US" altLang="zh-CN" sz="1400" b="1" dirty="0">
                  <a:solidFill>
                    <a:srgbClr val="0F1115"/>
                  </a:solidFill>
                  <a:latin typeface="+mn-ea"/>
                </a:rPr>
                <a:t>Demographic C</a:t>
              </a:r>
              <a:r>
                <a:rPr lang="en-US" altLang="zh-CN" sz="1400" b="1" dirty="0">
                  <a:solidFill>
                    <a:srgbClr val="0F1115"/>
                  </a:solidFill>
                  <a:effectLst/>
                  <a:latin typeface="+mn-ea"/>
                </a:rPr>
                <a:t>haracteristics</a:t>
              </a:r>
            </a:p>
            <a:p>
              <a:pPr marL="285750" indent="-285750" algn="l">
                <a:spcAft>
                  <a:spcPts val="600"/>
                </a:spcAft>
                <a:buFont typeface="Arial" panose="020B0604020202020204" pitchFamily="34" charset="0"/>
                <a:buChar char="•"/>
              </a:pPr>
              <a:r>
                <a:rPr lang="en-US" altLang="zh-CN" sz="1400" dirty="0">
                  <a:solidFill>
                    <a:srgbClr val="0F1115"/>
                  </a:solidFill>
                  <a:latin typeface="+mn-ea"/>
                </a:rPr>
                <a:t>Age </a:t>
              </a:r>
            </a:p>
            <a:p>
              <a:pPr marL="285750" indent="-285750" algn="l">
                <a:spcAft>
                  <a:spcPts val="600"/>
                </a:spcAft>
                <a:buFont typeface="Arial" panose="020B0604020202020204" pitchFamily="34" charset="0"/>
                <a:buChar char="•"/>
              </a:pPr>
              <a:r>
                <a:rPr lang="en-US" altLang="zh-CN" sz="1400" dirty="0">
                  <a:solidFill>
                    <a:srgbClr val="0F1115"/>
                  </a:solidFill>
                  <a:effectLst/>
                  <a:latin typeface="+mn-ea"/>
                </a:rPr>
                <a:t>Gender </a:t>
              </a:r>
            </a:p>
            <a:p>
              <a:pPr marL="285750" indent="-285750" algn="l">
                <a:spcAft>
                  <a:spcPts val="600"/>
                </a:spcAft>
                <a:buFont typeface="Arial" panose="020B0604020202020204" pitchFamily="34" charset="0"/>
                <a:buChar char="•"/>
              </a:pPr>
              <a:r>
                <a:rPr lang="en-US" altLang="zh-CN" sz="1400" dirty="0">
                  <a:solidFill>
                    <a:srgbClr val="0F1115"/>
                  </a:solidFill>
                  <a:latin typeface="+mn-ea"/>
                </a:rPr>
                <a:t>Ethnicity</a:t>
              </a:r>
              <a:endParaRPr lang="en-US" altLang="zh-CN" sz="1400" dirty="0">
                <a:solidFill>
                  <a:srgbClr val="0F1115"/>
                </a:solidFill>
                <a:effectLst/>
                <a:latin typeface="+mn-ea"/>
              </a:endParaRPr>
            </a:p>
            <a:p>
              <a:pPr marL="285750" indent="-285750" algn="l">
                <a:spcAft>
                  <a:spcPts val="600"/>
                </a:spcAft>
                <a:buFont typeface="Arial" panose="020B0604020202020204" pitchFamily="34" charset="0"/>
                <a:buChar char="•"/>
              </a:pPr>
              <a:r>
                <a:rPr lang="en-US" altLang="zh-CN" sz="1400" dirty="0">
                  <a:solidFill>
                    <a:srgbClr val="0F1115"/>
                  </a:solidFill>
                  <a:latin typeface="+mn-ea"/>
                </a:rPr>
                <a:t>Insurance type</a:t>
              </a:r>
              <a:endParaRPr lang="en-US" altLang="zh-CN" sz="1400" dirty="0">
                <a:solidFill>
                  <a:srgbClr val="0F1115"/>
                </a:solidFill>
                <a:effectLst/>
                <a:latin typeface="+mn-ea"/>
              </a:endParaRPr>
            </a:p>
            <a:p>
              <a:pPr>
                <a:spcAft>
                  <a:spcPts val="600"/>
                </a:spcAft>
              </a:pPr>
              <a:r>
                <a:rPr lang="en-US" altLang="zh-CN" sz="1400" b="1" dirty="0">
                  <a:solidFill>
                    <a:srgbClr val="0F1115"/>
                  </a:solidFill>
                  <a:latin typeface="+mn-ea"/>
                </a:rPr>
                <a:t>Clinical Characteristics</a:t>
              </a:r>
            </a:p>
            <a:p>
              <a:pPr marL="285750" indent="-285750">
                <a:spcAft>
                  <a:spcPts val="600"/>
                </a:spcAft>
                <a:buFont typeface="Arial" panose="020B0604020202020204" pitchFamily="34" charset="0"/>
                <a:buChar char="•"/>
              </a:pPr>
              <a:r>
                <a:rPr lang="en-US" altLang="zh-CN" sz="1400" dirty="0">
                  <a:solidFill>
                    <a:srgbClr val="0F1115"/>
                  </a:solidFill>
                  <a:latin typeface="+mn-ea"/>
                </a:rPr>
                <a:t>Associated comorbidities</a:t>
              </a:r>
            </a:p>
            <a:p>
              <a:pPr marL="285750" indent="-285750">
                <a:spcAft>
                  <a:spcPts val="600"/>
                </a:spcAft>
                <a:buFont typeface="Arial" panose="020B0604020202020204" pitchFamily="34" charset="0"/>
                <a:buChar char="•"/>
              </a:pPr>
              <a:r>
                <a:rPr lang="en-US" altLang="zh-CN" sz="1400" dirty="0">
                  <a:solidFill>
                    <a:srgbClr val="0F1115"/>
                  </a:solidFill>
                  <a:latin typeface="+mn-ea"/>
                </a:rPr>
                <a:t>Concomitant medications</a:t>
              </a:r>
            </a:p>
          </p:txBody>
        </p:sp>
      </p:grpSp>
      <p:sp>
        <p:nvSpPr>
          <p:cNvPr id="12" name="TextBox 11">
            <a:extLst>
              <a:ext uri="{FF2B5EF4-FFF2-40B4-BE49-F238E27FC236}">
                <a16:creationId xmlns:a16="http://schemas.microsoft.com/office/drawing/2014/main" id="{06E9196E-D64D-5AE9-7023-BFBC31B094CE}"/>
              </a:ext>
            </a:extLst>
          </p:cNvPr>
          <p:cNvSpPr txBox="1"/>
          <p:nvPr/>
        </p:nvSpPr>
        <p:spPr bwMode="gray">
          <a:xfrm>
            <a:off x="1814513" y="6293117"/>
            <a:ext cx="6181724" cy="215444"/>
          </a:xfrm>
          <a:prstGeom prst="rect">
            <a:avLst/>
          </a:prstGeom>
          <a:noFill/>
        </p:spPr>
        <p:txBody>
          <a:bodyPr wrap="square">
            <a:spAutoFit/>
          </a:bodyPr>
          <a:lstStyle/>
          <a:p>
            <a:r>
              <a:rPr lang="en-US" altLang="zh-CN" sz="800" dirty="0">
                <a:latin typeface="+mn-ea"/>
              </a:rPr>
              <a:t>ICD: International Classification of Diseases code</a:t>
            </a:r>
          </a:p>
        </p:txBody>
      </p:sp>
      <p:sp>
        <p:nvSpPr>
          <p:cNvPr id="4" name="任意形状 13">
            <a:extLst>
              <a:ext uri="{FF2B5EF4-FFF2-40B4-BE49-F238E27FC236}">
                <a16:creationId xmlns:a16="http://schemas.microsoft.com/office/drawing/2014/main" id="{D27C4330-B9F9-EE2C-9433-8C4EA24BE190}"/>
              </a:ext>
            </a:extLst>
          </p:cNvPr>
          <p:cNvSpPr/>
          <p:nvPr/>
        </p:nvSpPr>
        <p:spPr>
          <a:xfrm>
            <a:off x="2646391" y="1973804"/>
            <a:ext cx="261619" cy="261620"/>
          </a:xfrm>
          <a:custGeom>
            <a:avLst/>
            <a:gdLst>
              <a:gd name="connsiteX0" fmla="*/ 130810 w 261619"/>
              <a:gd name="connsiteY0" fmla="*/ 0 h 261620"/>
              <a:gd name="connsiteX1" fmla="*/ 0 w 261619"/>
              <a:gd name="connsiteY1" fmla="*/ 130810 h 261620"/>
              <a:gd name="connsiteX2" fmla="*/ 130810 w 261619"/>
              <a:gd name="connsiteY2" fmla="*/ 261620 h 261620"/>
              <a:gd name="connsiteX3" fmla="*/ 261620 w 261619"/>
              <a:gd name="connsiteY3" fmla="*/ 130810 h 261620"/>
              <a:gd name="connsiteX4" fmla="*/ 130810 w 261619"/>
              <a:gd name="connsiteY4" fmla="*/ 0 h 261620"/>
              <a:gd name="connsiteX5" fmla="*/ 116840 w 261619"/>
              <a:gd name="connsiteY5" fmla="*/ 201930 h 261620"/>
              <a:gd name="connsiteX6" fmla="*/ 38100 w 261619"/>
              <a:gd name="connsiteY6" fmla="*/ 130810 h 261620"/>
              <a:gd name="connsiteX7" fmla="*/ 72390 w 261619"/>
              <a:gd name="connsiteY7" fmla="*/ 92710 h 261620"/>
              <a:gd name="connsiteX8" fmla="*/ 115570 w 261619"/>
              <a:gd name="connsiteY8" fmla="*/ 132080 h 261620"/>
              <a:gd name="connsiteX9" fmla="*/ 185420 w 261619"/>
              <a:gd name="connsiteY9" fmla="*/ 62230 h 261620"/>
              <a:gd name="connsiteX10" fmla="*/ 220980 w 261619"/>
              <a:gd name="connsiteY10" fmla="*/ 97790 h 261620"/>
              <a:gd name="connsiteX11" fmla="*/ 116840 w 261619"/>
              <a:gd name="connsiteY11" fmla="*/ 201930 h 2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619" h="261620">
                <a:moveTo>
                  <a:pt x="130810" y="0"/>
                </a:moveTo>
                <a:cubicBezTo>
                  <a:pt x="58420" y="0"/>
                  <a:pt x="0" y="58420"/>
                  <a:pt x="0" y="130810"/>
                </a:cubicBezTo>
                <a:cubicBezTo>
                  <a:pt x="0" y="203200"/>
                  <a:pt x="58420" y="261620"/>
                  <a:pt x="130810" y="261620"/>
                </a:cubicBezTo>
                <a:cubicBezTo>
                  <a:pt x="203200" y="261620"/>
                  <a:pt x="261620" y="201930"/>
                  <a:pt x="261620" y="130810"/>
                </a:cubicBezTo>
                <a:cubicBezTo>
                  <a:pt x="261620" y="59690"/>
                  <a:pt x="203200" y="0"/>
                  <a:pt x="130810" y="0"/>
                </a:cubicBezTo>
                <a:close/>
                <a:moveTo>
                  <a:pt x="116840" y="201930"/>
                </a:moveTo>
                <a:lnTo>
                  <a:pt x="38100" y="130810"/>
                </a:lnTo>
                <a:lnTo>
                  <a:pt x="72390" y="92710"/>
                </a:lnTo>
                <a:lnTo>
                  <a:pt x="115570" y="132080"/>
                </a:lnTo>
                <a:lnTo>
                  <a:pt x="185420" y="62230"/>
                </a:lnTo>
                <a:lnTo>
                  <a:pt x="220980" y="97790"/>
                </a:lnTo>
                <a:lnTo>
                  <a:pt x="116840" y="201930"/>
                </a:ln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左大括号 6">
            <a:extLst>
              <a:ext uri="{FF2B5EF4-FFF2-40B4-BE49-F238E27FC236}">
                <a16:creationId xmlns:a16="http://schemas.microsoft.com/office/drawing/2014/main" id="{18E20D07-F3F7-21DA-A92B-AA3A3502D896}"/>
              </a:ext>
            </a:extLst>
          </p:cNvPr>
          <p:cNvSpPr/>
          <p:nvPr/>
        </p:nvSpPr>
        <p:spPr>
          <a:xfrm rot="16200000">
            <a:off x="7229656" y="641955"/>
            <a:ext cx="146110" cy="3987374"/>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箭头: 右 7">
            <a:extLst>
              <a:ext uri="{FF2B5EF4-FFF2-40B4-BE49-F238E27FC236}">
                <a16:creationId xmlns:a16="http://schemas.microsoft.com/office/drawing/2014/main" id="{B2684BEB-B690-8F1C-AAE9-7667633DF58D}"/>
              </a:ext>
            </a:extLst>
          </p:cNvPr>
          <p:cNvSpPr/>
          <p:nvPr/>
        </p:nvSpPr>
        <p:spPr>
          <a:xfrm>
            <a:off x="2143126" y="1272559"/>
            <a:ext cx="8050184" cy="1553889"/>
          </a:xfrm>
          <a:prstGeom prst="rightArrow">
            <a:avLst/>
          </a:prstGeom>
          <a:solidFill>
            <a:schemeClr val="accent1">
              <a:lumMod val="90000"/>
              <a:lumOff val="1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cxnSp>
        <p:nvCxnSpPr>
          <p:cNvPr id="18" name="直接连接符 8">
            <a:extLst>
              <a:ext uri="{FF2B5EF4-FFF2-40B4-BE49-F238E27FC236}">
                <a16:creationId xmlns:a16="http://schemas.microsoft.com/office/drawing/2014/main" id="{3935DAB0-3DDE-D46A-C087-A3D3A3CEFFCC}"/>
              </a:ext>
            </a:extLst>
          </p:cNvPr>
          <p:cNvCxnSpPr>
            <a:cxnSpLocks/>
          </p:cNvCxnSpPr>
          <p:nvPr/>
        </p:nvCxnSpPr>
        <p:spPr>
          <a:xfrm>
            <a:off x="5309028" y="1563123"/>
            <a:ext cx="0" cy="877951"/>
          </a:xfrm>
          <a:prstGeom prst="line">
            <a:avLst/>
          </a:prstGeom>
          <a:ln w="28575"/>
        </p:spPr>
        <p:style>
          <a:lnRef idx="3">
            <a:schemeClr val="accent2"/>
          </a:lnRef>
          <a:fillRef idx="0">
            <a:schemeClr val="accent2"/>
          </a:fillRef>
          <a:effectRef idx="2">
            <a:schemeClr val="accent2"/>
          </a:effectRef>
          <a:fontRef idx="minor">
            <a:schemeClr val="tx1"/>
          </a:fontRef>
        </p:style>
      </p:cxnSp>
      <p:sp>
        <p:nvSpPr>
          <p:cNvPr id="19" name="文本框 11">
            <a:extLst>
              <a:ext uri="{FF2B5EF4-FFF2-40B4-BE49-F238E27FC236}">
                <a16:creationId xmlns:a16="http://schemas.microsoft.com/office/drawing/2014/main" id="{0D8DF09B-C129-C304-575D-52E81DBCDC64}"/>
              </a:ext>
            </a:extLst>
          </p:cNvPr>
          <p:cNvSpPr txBox="1"/>
          <p:nvPr/>
        </p:nvSpPr>
        <p:spPr>
          <a:xfrm>
            <a:off x="5566367" y="2752572"/>
            <a:ext cx="3457677" cy="492443"/>
          </a:xfrm>
          <a:prstGeom prst="rect">
            <a:avLst/>
          </a:prstGeom>
          <a:noFill/>
        </p:spPr>
        <p:txBody>
          <a:bodyPr wrap="none" lIns="0" tIns="0" rIns="0" bIns="0" rtlCol="0">
            <a:spAutoFit/>
          </a:bodyPr>
          <a:lstStyle/>
          <a:p>
            <a:pPr lvl="0" algn="ctr">
              <a:defRPr/>
            </a:pPr>
            <a:r>
              <a:rPr lang="en-US" altLang="zh-CN" sz="1600" b="1" dirty="0">
                <a:solidFill>
                  <a:prstClr val="black"/>
                </a:solidFill>
                <a:latin typeface="+mn-ea"/>
              </a:rPr>
              <a:t>Follow-up period:</a:t>
            </a:r>
          </a:p>
          <a:p>
            <a:pPr marL="0" marR="0" lvl="0" indent="0" algn="ctr" defTabSz="914400" rtl="0" eaLnBrk="1" fontAlgn="auto" latinLnBrk="0" hangingPunct="1">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n-ea"/>
                <a:cs typeface="+mn-cs"/>
              </a:rPr>
              <a:t>January 1</a:t>
            </a:r>
            <a:r>
              <a:rPr kumimoji="0" lang="en-US" altLang="zh-CN" sz="1600" i="0" u="none" strike="noStrike" kern="1200" cap="none" spc="0" normalizeH="0" baseline="0" noProof="0" dirty="0">
                <a:ln>
                  <a:noFill/>
                </a:ln>
                <a:solidFill>
                  <a:prstClr val="black"/>
                </a:solidFill>
                <a:effectLst/>
                <a:uLnTx/>
                <a:uFillTx/>
                <a:latin typeface="+mn-ea"/>
                <a:cs typeface="+mn-cs"/>
              </a:rPr>
              <a:t>, </a:t>
            </a:r>
            <a:r>
              <a:rPr lang="en-US" altLang="zh-CN" sz="1600" b="1" dirty="0">
                <a:solidFill>
                  <a:srgbClr val="C00000"/>
                </a:solidFill>
                <a:latin typeface="+mn-ea"/>
              </a:rPr>
              <a:t>2020</a:t>
            </a:r>
            <a:r>
              <a:rPr kumimoji="0" lang="en-US" altLang="zh-CN" sz="1600" i="0" u="none" strike="noStrike" kern="1200" cap="none" spc="0" normalizeH="0" baseline="0" noProof="0" dirty="0">
                <a:ln>
                  <a:noFill/>
                </a:ln>
                <a:solidFill>
                  <a:prstClr val="black"/>
                </a:solidFill>
                <a:effectLst/>
                <a:uLnTx/>
                <a:uFillTx/>
                <a:latin typeface="+mn-ea"/>
                <a:cs typeface="+mn-cs"/>
              </a:rPr>
              <a:t> - December 31, </a:t>
            </a:r>
            <a:r>
              <a:rPr kumimoji="0" lang="en-US" altLang="zh-CN" sz="1600" b="1" i="0" u="none" strike="noStrike" kern="1200" cap="none" spc="0" normalizeH="0" baseline="0" noProof="0" dirty="0">
                <a:ln>
                  <a:noFill/>
                </a:ln>
                <a:solidFill>
                  <a:srgbClr val="C00000"/>
                </a:solidFill>
                <a:effectLst/>
                <a:uLnTx/>
                <a:uFillTx/>
                <a:latin typeface="+mn-ea"/>
                <a:cs typeface="+mn-cs"/>
              </a:rPr>
              <a:t>2026</a:t>
            </a:r>
            <a:endParaRPr kumimoji="0" lang="zh-CN" altLang="en-US" sz="1600" b="1" i="0" u="none" strike="noStrike" kern="1200" cap="none" spc="0" normalizeH="0" baseline="0" noProof="0" dirty="0">
              <a:ln>
                <a:noFill/>
              </a:ln>
              <a:solidFill>
                <a:srgbClr val="C00000"/>
              </a:solidFill>
              <a:effectLst/>
              <a:uLnTx/>
              <a:uFillTx/>
              <a:latin typeface="+mn-ea"/>
              <a:cs typeface="+mn-cs"/>
            </a:endParaRPr>
          </a:p>
        </p:txBody>
      </p:sp>
      <p:sp>
        <p:nvSpPr>
          <p:cNvPr id="20" name="左大括号 9">
            <a:extLst>
              <a:ext uri="{FF2B5EF4-FFF2-40B4-BE49-F238E27FC236}">
                <a16:creationId xmlns:a16="http://schemas.microsoft.com/office/drawing/2014/main" id="{4EBA4EAC-4202-3A4E-D2A3-B1BCBCD9906C}"/>
              </a:ext>
            </a:extLst>
          </p:cNvPr>
          <p:cNvSpPr/>
          <p:nvPr/>
        </p:nvSpPr>
        <p:spPr>
          <a:xfrm rot="16200000">
            <a:off x="3627032" y="1170883"/>
            <a:ext cx="160696" cy="2914932"/>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文本框 10">
            <a:extLst>
              <a:ext uri="{FF2B5EF4-FFF2-40B4-BE49-F238E27FC236}">
                <a16:creationId xmlns:a16="http://schemas.microsoft.com/office/drawing/2014/main" id="{E1D7FDB7-A82D-7678-3318-5BFC2E83E866}"/>
              </a:ext>
            </a:extLst>
          </p:cNvPr>
          <p:cNvSpPr txBox="1"/>
          <p:nvPr/>
        </p:nvSpPr>
        <p:spPr>
          <a:xfrm>
            <a:off x="2981173" y="2737912"/>
            <a:ext cx="1596591"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Baseline</a:t>
            </a:r>
            <a:r>
              <a:rPr kumimoji="0" lang="en-US" altLang="zh-CN" sz="1600" b="1" i="0" u="none" strike="noStrike" kern="1200" cap="none" spc="0" normalizeH="0" baseline="0" noProof="0" dirty="0">
                <a:ln>
                  <a:noFill/>
                </a:ln>
                <a:solidFill>
                  <a:prstClr val="black"/>
                </a:solidFill>
                <a:effectLst/>
                <a:uLnTx/>
                <a:uFillTx/>
                <a:latin typeface="+mn-ea"/>
                <a:cs typeface="+mn-cs"/>
              </a:rPr>
              <a:t> period: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prstClr val="black"/>
                </a:solidFill>
                <a:latin typeface="+mn-ea"/>
              </a:rPr>
              <a:t>12 months</a:t>
            </a:r>
            <a:endParaRPr kumimoji="0" lang="en-US" altLang="zh-CN" sz="1600" i="0" u="none" strike="noStrike" kern="1200" cap="none" spc="0" normalizeH="0" baseline="0" noProof="0" dirty="0">
              <a:ln>
                <a:noFill/>
              </a:ln>
              <a:solidFill>
                <a:prstClr val="black"/>
              </a:solidFill>
              <a:effectLst/>
              <a:uLnTx/>
              <a:uFillTx/>
              <a:latin typeface="+mn-ea"/>
              <a:cs typeface="+mn-cs"/>
            </a:endParaRPr>
          </a:p>
        </p:txBody>
      </p:sp>
      <p:sp>
        <p:nvSpPr>
          <p:cNvPr id="22" name="文本框 10">
            <a:extLst>
              <a:ext uri="{FF2B5EF4-FFF2-40B4-BE49-F238E27FC236}">
                <a16:creationId xmlns:a16="http://schemas.microsoft.com/office/drawing/2014/main" id="{71F1A8FF-2A7D-04F9-5794-75BC8D583B35}"/>
              </a:ext>
            </a:extLst>
          </p:cNvPr>
          <p:cNvSpPr txBox="1"/>
          <p:nvPr/>
        </p:nvSpPr>
        <p:spPr>
          <a:xfrm>
            <a:off x="4745191" y="1244646"/>
            <a:ext cx="1090043"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mn-ea"/>
                <a:cs typeface="+mn-cs"/>
              </a:rPr>
              <a:t>Index date </a:t>
            </a:r>
          </a:p>
        </p:txBody>
      </p:sp>
      <p:sp>
        <p:nvSpPr>
          <p:cNvPr id="23" name="文本框 9">
            <a:extLst>
              <a:ext uri="{FF2B5EF4-FFF2-40B4-BE49-F238E27FC236}">
                <a16:creationId xmlns:a16="http://schemas.microsoft.com/office/drawing/2014/main" id="{773CF88F-BEEF-6A2D-9A1F-185EFF43D484}"/>
              </a:ext>
            </a:extLst>
          </p:cNvPr>
          <p:cNvSpPr txBox="1"/>
          <p:nvPr/>
        </p:nvSpPr>
        <p:spPr>
          <a:xfrm>
            <a:off x="2249914" y="1697640"/>
            <a:ext cx="3059110" cy="73866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altLang="zh-CN" sz="1200" b="1" dirty="0">
                <a:solidFill>
                  <a:schemeClr val="bg1"/>
                </a:solidFill>
                <a:latin typeface="+mn-ea"/>
              </a:rPr>
              <a:t>Demographic characteristics</a:t>
            </a:r>
            <a:endParaRPr kumimoji="0" lang="en-US" altLang="zh-CN" sz="1200" b="1" i="0" u="none" strike="noStrike" kern="1200" cap="none" spc="0" normalizeH="0" baseline="0" noProof="0" dirty="0">
              <a:ln>
                <a:noFill/>
              </a:ln>
              <a:solidFill>
                <a:schemeClr val="bg1"/>
              </a:solidFill>
              <a:effectLst/>
              <a:uLnTx/>
              <a:uFillTx/>
              <a:latin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Clinical characteristics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1" dirty="0">
                <a:solidFill>
                  <a:prstClr val="white"/>
                </a:solidFill>
                <a:latin typeface="Boehringer Forward Text"/>
              </a:rPr>
              <a:t>Patient journey and treatment history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HCRU</a:t>
            </a:r>
          </a:p>
        </p:txBody>
      </p:sp>
      <p:sp>
        <p:nvSpPr>
          <p:cNvPr id="25" name="文本框 9">
            <a:extLst>
              <a:ext uri="{FF2B5EF4-FFF2-40B4-BE49-F238E27FC236}">
                <a16:creationId xmlns:a16="http://schemas.microsoft.com/office/drawing/2014/main" id="{6FD0B4D6-5436-37CF-6188-ED1A6C218A00}"/>
              </a:ext>
            </a:extLst>
          </p:cNvPr>
          <p:cNvSpPr txBox="1"/>
          <p:nvPr/>
        </p:nvSpPr>
        <p:spPr>
          <a:xfrm>
            <a:off x="5507707" y="1798382"/>
            <a:ext cx="3574998"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altLang="zh-CN" sz="1200" b="1" dirty="0">
                <a:solidFill>
                  <a:schemeClr val="bg1"/>
                </a:solidFill>
                <a:latin typeface="+mn-ea"/>
              </a:rPr>
              <a:t>Incidence rates</a:t>
            </a:r>
          </a:p>
          <a:p>
            <a:pPr marL="171450" lvl="0" indent="-171450">
              <a:buFont typeface="Arial" panose="020B0604020202020204" pitchFamily="34" charset="0"/>
              <a:buChar char="•"/>
              <a:defRPr/>
            </a:pPr>
            <a:r>
              <a:rPr lang="en-US" altLang="zh-CN" sz="1200" b="1" dirty="0">
                <a:solidFill>
                  <a:schemeClr val="bg1"/>
                </a:solidFill>
                <a:latin typeface="+mn-ea"/>
              </a:rPr>
              <a:t>Patient journey and treatment patterns</a:t>
            </a:r>
            <a:endParaRPr lang="en-US" altLang="zh-CN" sz="1200" b="1" dirty="0">
              <a:solidFill>
                <a:prstClr val="white"/>
              </a:solidFill>
              <a:latin typeface="Boehringer Forward Text"/>
            </a:endParaRPr>
          </a:p>
          <a:p>
            <a:pPr marL="171450" lvl="0" indent="-171450">
              <a:buFont typeface="Arial" panose="020B0604020202020204" pitchFamily="34" charset="0"/>
              <a:buChar char="•"/>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HCRU and direct medical cost</a:t>
            </a:r>
            <a:endParaRPr kumimoji="0" lang="zh-CN" altLang="en-US" sz="1200" b="1"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26" name="文本框 10">
            <a:extLst>
              <a:ext uri="{FF2B5EF4-FFF2-40B4-BE49-F238E27FC236}">
                <a16:creationId xmlns:a16="http://schemas.microsoft.com/office/drawing/2014/main" id="{311A270B-A21F-9BD4-2DAC-88D21B44EAC3}"/>
              </a:ext>
            </a:extLst>
          </p:cNvPr>
          <p:cNvSpPr txBox="1"/>
          <p:nvPr/>
        </p:nvSpPr>
        <p:spPr>
          <a:xfrm>
            <a:off x="1102975" y="1949014"/>
            <a:ext cx="865622"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Jan</a:t>
            </a:r>
            <a:r>
              <a:rPr kumimoji="0" lang="en-US" altLang="zh-CN" sz="1600" b="1" i="0" u="none" strike="noStrike" kern="1200" cap="none" spc="0" normalizeH="0" baseline="0" noProof="0" dirty="0">
                <a:ln>
                  <a:noFill/>
                </a:ln>
                <a:solidFill>
                  <a:prstClr val="black"/>
                </a:solidFill>
                <a:effectLst/>
                <a:uLnTx/>
                <a:uFillTx/>
                <a:latin typeface="+mn-ea"/>
                <a:cs typeface="+mn-cs"/>
              </a:rPr>
              <a:t> 2019</a:t>
            </a:r>
          </a:p>
        </p:txBody>
      </p:sp>
      <p:sp>
        <p:nvSpPr>
          <p:cNvPr id="34" name="文本框 10">
            <a:extLst>
              <a:ext uri="{FF2B5EF4-FFF2-40B4-BE49-F238E27FC236}">
                <a16:creationId xmlns:a16="http://schemas.microsoft.com/office/drawing/2014/main" id="{03391074-CD7C-AC1F-8C93-61AF21FA1BCC}"/>
              </a:ext>
            </a:extLst>
          </p:cNvPr>
          <p:cNvSpPr txBox="1"/>
          <p:nvPr/>
        </p:nvSpPr>
        <p:spPr>
          <a:xfrm>
            <a:off x="10391988" y="1945662"/>
            <a:ext cx="88806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Dec</a:t>
            </a:r>
            <a:r>
              <a:rPr kumimoji="0" lang="en-US" altLang="zh-CN" sz="1600" b="1" i="0" u="none" strike="noStrike" kern="1200" cap="none" spc="0" normalizeH="0" baseline="0" noProof="0" dirty="0">
                <a:ln>
                  <a:noFill/>
                </a:ln>
                <a:solidFill>
                  <a:prstClr val="black"/>
                </a:solidFill>
                <a:effectLst/>
                <a:uLnTx/>
                <a:uFillTx/>
                <a:latin typeface="+mn-ea"/>
                <a:cs typeface="+mn-cs"/>
              </a:rPr>
              <a:t> 2026</a:t>
            </a:r>
          </a:p>
        </p:txBody>
      </p:sp>
    </p:spTree>
    <p:extLst>
      <p:ext uri="{BB962C8B-B14F-4D97-AF65-F5344CB8AC3E}">
        <p14:creationId xmlns:p14="http://schemas.microsoft.com/office/powerpoint/2010/main" val="3736803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1F171-F7A4-AA7A-C1A8-9DC4EC351BAB}"/>
            </a:ext>
          </a:extLst>
        </p:cNvPr>
        <p:cNvGrpSpPr/>
        <p:nvPr/>
      </p:nvGrpSpPr>
      <p:grpSpPr>
        <a:xfrm>
          <a:off x="0" y="0"/>
          <a:ext cx="0" cy="0"/>
          <a:chOff x="0" y="0"/>
          <a:chExt cx="0" cy="0"/>
        </a:xfrm>
      </p:grpSpPr>
      <p:sp>
        <p:nvSpPr>
          <p:cNvPr id="12" name="矩形: 圆角 16">
            <a:extLst>
              <a:ext uri="{FF2B5EF4-FFF2-40B4-BE49-F238E27FC236}">
                <a16:creationId xmlns:a16="http://schemas.microsoft.com/office/drawing/2014/main" id="{BF6AC296-6D71-B89F-439D-505FCFBDB7F7}"/>
              </a:ext>
            </a:extLst>
          </p:cNvPr>
          <p:cNvSpPr/>
          <p:nvPr/>
        </p:nvSpPr>
        <p:spPr bwMode="gray">
          <a:xfrm>
            <a:off x="658884" y="3904376"/>
            <a:ext cx="4021493" cy="2198586"/>
          </a:xfrm>
          <a:prstGeom prst="round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 name="Title 1">
            <a:extLst>
              <a:ext uri="{FF2B5EF4-FFF2-40B4-BE49-F238E27FC236}">
                <a16:creationId xmlns:a16="http://schemas.microsoft.com/office/drawing/2014/main" id="{1BA3D187-065A-DF28-F230-D0BFEA297B1A}"/>
              </a:ext>
            </a:extLst>
          </p:cNvPr>
          <p:cNvSpPr>
            <a:spLocks noGrp="1"/>
          </p:cNvSpPr>
          <p:nvPr>
            <p:ph type="title"/>
          </p:nvPr>
        </p:nvSpPr>
        <p:spPr>
          <a:xfrm>
            <a:off x="479424" y="291586"/>
            <a:ext cx="11233151" cy="720000"/>
          </a:xfrm>
        </p:spPr>
        <p:txBody>
          <a:bodyPr/>
          <a:lstStyle/>
          <a:p>
            <a:r>
              <a:rPr lang="en-US" altLang="zh-CN" sz="2800" dirty="0">
                <a:solidFill>
                  <a:schemeClr val="tx1">
                    <a:lumMod val="85000"/>
                    <a:lumOff val="15000"/>
                  </a:schemeClr>
                </a:solidFill>
              </a:rPr>
              <a:t>Study Design – patient journey and treatment patterns</a:t>
            </a:r>
            <a:endParaRPr lang="zh-CN" altLang="en-US" sz="2800" dirty="0">
              <a:solidFill>
                <a:schemeClr val="tx1">
                  <a:lumMod val="85000"/>
                  <a:lumOff val="15000"/>
                </a:schemeClr>
              </a:solidFill>
            </a:endParaRPr>
          </a:p>
        </p:txBody>
      </p:sp>
      <p:sp>
        <p:nvSpPr>
          <p:cNvPr id="5" name="Slide Number Placeholder 4">
            <a:extLst>
              <a:ext uri="{FF2B5EF4-FFF2-40B4-BE49-F238E27FC236}">
                <a16:creationId xmlns:a16="http://schemas.microsoft.com/office/drawing/2014/main" id="{87651DF6-3B51-4B08-7F8D-F472FBB7C424}"/>
              </a:ext>
            </a:extLst>
          </p:cNvPr>
          <p:cNvSpPr>
            <a:spLocks noGrp="1"/>
          </p:cNvSpPr>
          <p:nvPr>
            <p:ph type="sldNum" sz="quarter" idx="17"/>
          </p:nvPr>
        </p:nvSpPr>
        <p:spPr>
          <a:xfrm>
            <a:off x="11434117" y="6256361"/>
            <a:ext cx="288000" cy="288000"/>
          </a:xfrm>
        </p:spPr>
        <p:txBody>
          <a:bodyPr/>
          <a:lstStyle/>
          <a:p>
            <a:fld id="{8FF9B0DE-3FEB-4AA0-B465-B80EF7C1333D}" type="slidenum">
              <a:rPr lang="en-US" smtClean="0"/>
              <a:pPr/>
              <a:t>7</a:t>
            </a:fld>
            <a:endParaRPr lang="en-US"/>
          </a:p>
        </p:txBody>
      </p:sp>
      <p:sp>
        <p:nvSpPr>
          <p:cNvPr id="64" name="任意形状 13">
            <a:extLst>
              <a:ext uri="{FF2B5EF4-FFF2-40B4-BE49-F238E27FC236}">
                <a16:creationId xmlns:a16="http://schemas.microsoft.com/office/drawing/2014/main" id="{D74396E1-4C7A-3AEF-0564-0BFBA79CD7A2}"/>
              </a:ext>
            </a:extLst>
          </p:cNvPr>
          <p:cNvSpPr/>
          <p:nvPr/>
        </p:nvSpPr>
        <p:spPr>
          <a:xfrm>
            <a:off x="2779741" y="1946019"/>
            <a:ext cx="261619" cy="261620"/>
          </a:xfrm>
          <a:custGeom>
            <a:avLst/>
            <a:gdLst>
              <a:gd name="connsiteX0" fmla="*/ 130810 w 261619"/>
              <a:gd name="connsiteY0" fmla="*/ 0 h 261620"/>
              <a:gd name="connsiteX1" fmla="*/ 0 w 261619"/>
              <a:gd name="connsiteY1" fmla="*/ 130810 h 261620"/>
              <a:gd name="connsiteX2" fmla="*/ 130810 w 261619"/>
              <a:gd name="connsiteY2" fmla="*/ 261620 h 261620"/>
              <a:gd name="connsiteX3" fmla="*/ 261620 w 261619"/>
              <a:gd name="connsiteY3" fmla="*/ 130810 h 261620"/>
              <a:gd name="connsiteX4" fmla="*/ 130810 w 261619"/>
              <a:gd name="connsiteY4" fmla="*/ 0 h 261620"/>
              <a:gd name="connsiteX5" fmla="*/ 116840 w 261619"/>
              <a:gd name="connsiteY5" fmla="*/ 201930 h 261620"/>
              <a:gd name="connsiteX6" fmla="*/ 38100 w 261619"/>
              <a:gd name="connsiteY6" fmla="*/ 130810 h 261620"/>
              <a:gd name="connsiteX7" fmla="*/ 72390 w 261619"/>
              <a:gd name="connsiteY7" fmla="*/ 92710 h 261620"/>
              <a:gd name="connsiteX8" fmla="*/ 115570 w 261619"/>
              <a:gd name="connsiteY8" fmla="*/ 132080 h 261620"/>
              <a:gd name="connsiteX9" fmla="*/ 185420 w 261619"/>
              <a:gd name="connsiteY9" fmla="*/ 62230 h 261620"/>
              <a:gd name="connsiteX10" fmla="*/ 220980 w 261619"/>
              <a:gd name="connsiteY10" fmla="*/ 97790 h 261620"/>
              <a:gd name="connsiteX11" fmla="*/ 116840 w 261619"/>
              <a:gd name="connsiteY11" fmla="*/ 201930 h 2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619" h="261620">
                <a:moveTo>
                  <a:pt x="130810" y="0"/>
                </a:moveTo>
                <a:cubicBezTo>
                  <a:pt x="58420" y="0"/>
                  <a:pt x="0" y="58420"/>
                  <a:pt x="0" y="130810"/>
                </a:cubicBezTo>
                <a:cubicBezTo>
                  <a:pt x="0" y="203200"/>
                  <a:pt x="58420" y="261620"/>
                  <a:pt x="130810" y="261620"/>
                </a:cubicBezTo>
                <a:cubicBezTo>
                  <a:pt x="203200" y="261620"/>
                  <a:pt x="261620" y="201930"/>
                  <a:pt x="261620" y="130810"/>
                </a:cubicBezTo>
                <a:cubicBezTo>
                  <a:pt x="261620" y="59690"/>
                  <a:pt x="203200" y="0"/>
                  <a:pt x="130810" y="0"/>
                </a:cubicBezTo>
                <a:close/>
                <a:moveTo>
                  <a:pt x="116840" y="201930"/>
                </a:moveTo>
                <a:lnTo>
                  <a:pt x="38100" y="130810"/>
                </a:lnTo>
                <a:lnTo>
                  <a:pt x="72390" y="92710"/>
                </a:lnTo>
                <a:lnTo>
                  <a:pt x="115570" y="132080"/>
                </a:lnTo>
                <a:lnTo>
                  <a:pt x="185420" y="62230"/>
                </a:lnTo>
                <a:lnTo>
                  <a:pt x="220980" y="97790"/>
                </a:lnTo>
                <a:lnTo>
                  <a:pt x="116840" y="201930"/>
                </a:ln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TextBox 10">
            <a:extLst>
              <a:ext uri="{FF2B5EF4-FFF2-40B4-BE49-F238E27FC236}">
                <a16:creationId xmlns:a16="http://schemas.microsoft.com/office/drawing/2014/main" id="{DD370AD6-5EAA-98AC-140E-C71BFA163F6A}"/>
              </a:ext>
            </a:extLst>
          </p:cNvPr>
          <p:cNvSpPr txBox="1"/>
          <p:nvPr/>
        </p:nvSpPr>
        <p:spPr bwMode="gray">
          <a:xfrm>
            <a:off x="808325" y="4066838"/>
            <a:ext cx="3973225" cy="1985159"/>
          </a:xfrm>
          <a:prstGeom prst="rect">
            <a:avLst/>
          </a:prstGeom>
          <a:noFill/>
        </p:spPr>
        <p:txBody>
          <a:bodyPr wrap="square">
            <a:spAutoFit/>
          </a:bodyPr>
          <a:lstStyle/>
          <a:p>
            <a:pPr algn="l">
              <a:spcAft>
                <a:spcPts val="600"/>
              </a:spcAft>
              <a:buNone/>
            </a:pPr>
            <a:r>
              <a:rPr lang="en-US" altLang="zh-CN" sz="1400" b="1" dirty="0">
                <a:solidFill>
                  <a:srgbClr val="0F1115"/>
                </a:solidFill>
                <a:effectLst/>
                <a:latin typeface="+mn-ea"/>
              </a:rPr>
              <a:t>Patient journey</a:t>
            </a:r>
          </a:p>
          <a:p>
            <a:pPr algn="l">
              <a:spcAft>
                <a:spcPts val="600"/>
              </a:spcAft>
              <a:buNone/>
            </a:pPr>
            <a:r>
              <a:rPr lang="en-US" altLang="zh-CN" sz="1400" dirty="0">
                <a:solidFill>
                  <a:srgbClr val="0F1115"/>
                </a:solidFill>
                <a:latin typeface="+mn-ea"/>
              </a:rPr>
              <a:t>Time frame: during baseline and follow-up</a:t>
            </a:r>
            <a:endParaRPr lang="en-US" altLang="zh-CN" sz="1400" dirty="0">
              <a:solidFill>
                <a:srgbClr val="0F1115"/>
              </a:solidFill>
              <a:effectLst/>
              <a:latin typeface="+mn-ea"/>
            </a:endParaRPr>
          </a:p>
          <a:p>
            <a:pPr marL="285750" indent="-285750">
              <a:spcAft>
                <a:spcPts val="600"/>
              </a:spcAft>
              <a:buFont typeface="Arial" panose="020B0604020202020204" pitchFamily="34" charset="0"/>
              <a:buChar char="•"/>
            </a:pPr>
            <a:r>
              <a:rPr lang="en-US" altLang="zh-CN" sz="1400" dirty="0">
                <a:solidFill>
                  <a:srgbClr val="0F1115"/>
                </a:solidFill>
                <a:latin typeface="+mn-ea"/>
              </a:rPr>
              <a:t>Hospital tiers, departments visited</a:t>
            </a:r>
          </a:p>
          <a:p>
            <a:pPr marL="285750" indent="-285750">
              <a:spcAft>
                <a:spcPts val="600"/>
              </a:spcAft>
              <a:buFont typeface="Arial" panose="020B0604020202020204" pitchFamily="34" charset="0"/>
              <a:buChar char="•"/>
            </a:pPr>
            <a:r>
              <a:rPr lang="en-US" altLang="zh-CN" sz="1400" dirty="0">
                <a:solidFill>
                  <a:srgbClr val="0F1115"/>
                </a:solidFill>
                <a:latin typeface="+mn-ea"/>
              </a:rPr>
              <a:t>Date of visit, admission date and discharge date</a:t>
            </a:r>
          </a:p>
          <a:p>
            <a:pPr marL="285750" indent="-285750">
              <a:spcAft>
                <a:spcPts val="600"/>
              </a:spcAft>
              <a:buFont typeface="Arial" panose="020B0604020202020204" pitchFamily="34" charset="0"/>
              <a:buChar char="•"/>
            </a:pPr>
            <a:r>
              <a:rPr lang="en-US" altLang="zh-CN" sz="1400" dirty="0">
                <a:solidFill>
                  <a:srgbClr val="0F1115"/>
                </a:solidFill>
                <a:latin typeface="+mn-ea"/>
              </a:rPr>
              <a:t>Disease diagnoses</a:t>
            </a:r>
          </a:p>
          <a:p>
            <a:pPr marL="285750" indent="-285750" algn="l">
              <a:spcAft>
                <a:spcPts val="600"/>
              </a:spcAft>
              <a:buFont typeface="Arial" panose="020B0604020202020204" pitchFamily="34" charset="0"/>
              <a:buChar char="•"/>
            </a:pPr>
            <a:r>
              <a:rPr lang="en-US" altLang="zh-CN" sz="1400" dirty="0">
                <a:solidFill>
                  <a:srgbClr val="0F1115"/>
                </a:solidFill>
                <a:effectLst/>
                <a:latin typeface="+mn-ea"/>
              </a:rPr>
              <a:t>Treatment choices</a:t>
            </a:r>
          </a:p>
        </p:txBody>
      </p:sp>
      <p:sp>
        <p:nvSpPr>
          <p:cNvPr id="6" name="左大括号 6">
            <a:extLst>
              <a:ext uri="{FF2B5EF4-FFF2-40B4-BE49-F238E27FC236}">
                <a16:creationId xmlns:a16="http://schemas.microsoft.com/office/drawing/2014/main" id="{11514CB2-7DEC-B2AE-9E61-0D553503F03A}"/>
              </a:ext>
            </a:extLst>
          </p:cNvPr>
          <p:cNvSpPr/>
          <p:nvPr/>
        </p:nvSpPr>
        <p:spPr>
          <a:xfrm rot="16200000">
            <a:off x="7363006" y="614170"/>
            <a:ext cx="146110" cy="3987374"/>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箭头: 右 7">
            <a:extLst>
              <a:ext uri="{FF2B5EF4-FFF2-40B4-BE49-F238E27FC236}">
                <a16:creationId xmlns:a16="http://schemas.microsoft.com/office/drawing/2014/main" id="{45848267-1E27-02FE-00B9-FD712A168F24}"/>
              </a:ext>
            </a:extLst>
          </p:cNvPr>
          <p:cNvSpPr/>
          <p:nvPr/>
        </p:nvSpPr>
        <p:spPr>
          <a:xfrm>
            <a:off x="2276476" y="1244774"/>
            <a:ext cx="8050184" cy="1553889"/>
          </a:xfrm>
          <a:prstGeom prst="rightArrow">
            <a:avLst/>
          </a:prstGeom>
          <a:solidFill>
            <a:schemeClr val="accent1">
              <a:lumMod val="90000"/>
              <a:lumOff val="1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cxnSp>
        <p:nvCxnSpPr>
          <p:cNvPr id="10" name="直接连接符 8">
            <a:extLst>
              <a:ext uri="{FF2B5EF4-FFF2-40B4-BE49-F238E27FC236}">
                <a16:creationId xmlns:a16="http://schemas.microsoft.com/office/drawing/2014/main" id="{10167085-0765-E289-93C4-21F72B0A3170}"/>
              </a:ext>
            </a:extLst>
          </p:cNvPr>
          <p:cNvCxnSpPr>
            <a:cxnSpLocks/>
          </p:cNvCxnSpPr>
          <p:nvPr/>
        </p:nvCxnSpPr>
        <p:spPr>
          <a:xfrm>
            <a:off x="5442378" y="1535338"/>
            <a:ext cx="0" cy="877951"/>
          </a:xfrm>
          <a:prstGeom prst="line">
            <a:avLst/>
          </a:prstGeom>
          <a:ln w="28575"/>
        </p:spPr>
        <p:style>
          <a:lnRef idx="3">
            <a:schemeClr val="accent2"/>
          </a:lnRef>
          <a:fillRef idx="0">
            <a:schemeClr val="accent2"/>
          </a:fillRef>
          <a:effectRef idx="2">
            <a:schemeClr val="accent2"/>
          </a:effectRef>
          <a:fontRef idx="minor">
            <a:schemeClr val="tx1"/>
          </a:fontRef>
        </p:style>
      </p:cxnSp>
      <p:sp>
        <p:nvSpPr>
          <p:cNvPr id="13" name="文本框 11">
            <a:extLst>
              <a:ext uri="{FF2B5EF4-FFF2-40B4-BE49-F238E27FC236}">
                <a16:creationId xmlns:a16="http://schemas.microsoft.com/office/drawing/2014/main" id="{BAF7A317-0F33-47CE-3AF0-171541F3CD42}"/>
              </a:ext>
            </a:extLst>
          </p:cNvPr>
          <p:cNvSpPr txBox="1"/>
          <p:nvPr/>
        </p:nvSpPr>
        <p:spPr>
          <a:xfrm>
            <a:off x="5699717" y="2724787"/>
            <a:ext cx="3457677" cy="492443"/>
          </a:xfrm>
          <a:prstGeom prst="rect">
            <a:avLst/>
          </a:prstGeom>
          <a:noFill/>
        </p:spPr>
        <p:txBody>
          <a:bodyPr wrap="none" lIns="0" tIns="0" rIns="0" bIns="0" rtlCol="0">
            <a:spAutoFit/>
          </a:bodyPr>
          <a:lstStyle/>
          <a:p>
            <a:pPr lvl="0" algn="ctr">
              <a:defRPr/>
            </a:pPr>
            <a:r>
              <a:rPr lang="en-US" altLang="zh-CN" sz="1600" b="1" dirty="0">
                <a:solidFill>
                  <a:prstClr val="black"/>
                </a:solidFill>
                <a:latin typeface="+mn-ea"/>
              </a:rPr>
              <a:t>Follow-up period:</a:t>
            </a:r>
          </a:p>
          <a:p>
            <a:pPr marL="0" marR="0" lvl="0" indent="0" algn="ctr" defTabSz="914400" rtl="0" eaLnBrk="1" fontAlgn="auto" latinLnBrk="0" hangingPunct="1">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n-ea"/>
                <a:cs typeface="+mn-cs"/>
              </a:rPr>
              <a:t>January 1</a:t>
            </a:r>
            <a:r>
              <a:rPr kumimoji="0" lang="en-US" altLang="zh-CN" sz="1600" i="0" u="none" strike="noStrike" kern="1200" cap="none" spc="0" normalizeH="0" baseline="0" noProof="0" dirty="0">
                <a:ln>
                  <a:noFill/>
                </a:ln>
                <a:solidFill>
                  <a:prstClr val="black"/>
                </a:solidFill>
                <a:effectLst/>
                <a:uLnTx/>
                <a:uFillTx/>
                <a:latin typeface="+mn-ea"/>
                <a:cs typeface="+mn-cs"/>
              </a:rPr>
              <a:t>, </a:t>
            </a:r>
            <a:r>
              <a:rPr lang="en-US" altLang="zh-CN" sz="1600" b="1" dirty="0">
                <a:solidFill>
                  <a:srgbClr val="C00000"/>
                </a:solidFill>
                <a:latin typeface="+mn-ea"/>
              </a:rPr>
              <a:t>2020</a:t>
            </a:r>
            <a:r>
              <a:rPr kumimoji="0" lang="en-US" altLang="zh-CN" sz="1600" i="0" u="none" strike="noStrike" kern="1200" cap="none" spc="0" normalizeH="0" baseline="0" noProof="0" dirty="0">
                <a:ln>
                  <a:noFill/>
                </a:ln>
                <a:solidFill>
                  <a:prstClr val="black"/>
                </a:solidFill>
                <a:effectLst/>
                <a:uLnTx/>
                <a:uFillTx/>
                <a:latin typeface="+mn-ea"/>
                <a:cs typeface="+mn-cs"/>
              </a:rPr>
              <a:t> - December 31, </a:t>
            </a:r>
            <a:r>
              <a:rPr kumimoji="0" lang="en-US" altLang="zh-CN" sz="1600" b="1" i="0" u="none" strike="noStrike" kern="1200" cap="none" spc="0" normalizeH="0" baseline="0" noProof="0" dirty="0">
                <a:ln>
                  <a:noFill/>
                </a:ln>
                <a:solidFill>
                  <a:srgbClr val="C00000"/>
                </a:solidFill>
                <a:effectLst/>
                <a:uLnTx/>
                <a:uFillTx/>
                <a:latin typeface="+mn-ea"/>
                <a:cs typeface="+mn-cs"/>
              </a:rPr>
              <a:t>2026</a:t>
            </a:r>
            <a:endParaRPr kumimoji="0" lang="zh-CN" altLang="en-US" sz="1600" b="1" i="0" u="none" strike="noStrike" kern="1200" cap="none" spc="0" normalizeH="0" baseline="0" noProof="0" dirty="0">
              <a:ln>
                <a:noFill/>
              </a:ln>
              <a:solidFill>
                <a:srgbClr val="C00000"/>
              </a:solidFill>
              <a:effectLst/>
              <a:uLnTx/>
              <a:uFillTx/>
              <a:latin typeface="+mn-ea"/>
              <a:cs typeface="+mn-cs"/>
            </a:endParaRPr>
          </a:p>
        </p:txBody>
      </p:sp>
      <p:sp>
        <p:nvSpPr>
          <p:cNvPr id="14" name="左大括号 9">
            <a:extLst>
              <a:ext uri="{FF2B5EF4-FFF2-40B4-BE49-F238E27FC236}">
                <a16:creationId xmlns:a16="http://schemas.microsoft.com/office/drawing/2014/main" id="{7FD9C1D0-2A48-AFDF-732E-B32DD7334277}"/>
              </a:ext>
            </a:extLst>
          </p:cNvPr>
          <p:cNvSpPr/>
          <p:nvPr/>
        </p:nvSpPr>
        <p:spPr>
          <a:xfrm rot="16200000">
            <a:off x="3760382" y="1143098"/>
            <a:ext cx="160696" cy="2914932"/>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文本框 10">
            <a:extLst>
              <a:ext uri="{FF2B5EF4-FFF2-40B4-BE49-F238E27FC236}">
                <a16:creationId xmlns:a16="http://schemas.microsoft.com/office/drawing/2014/main" id="{5818F300-D46D-66B6-DCFD-3378289F1FF3}"/>
              </a:ext>
            </a:extLst>
          </p:cNvPr>
          <p:cNvSpPr txBox="1"/>
          <p:nvPr/>
        </p:nvSpPr>
        <p:spPr>
          <a:xfrm>
            <a:off x="3114523" y="2710127"/>
            <a:ext cx="1596591"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Baseline</a:t>
            </a:r>
            <a:r>
              <a:rPr kumimoji="0" lang="en-US" altLang="zh-CN" sz="1600" b="1" i="0" u="none" strike="noStrike" kern="1200" cap="none" spc="0" normalizeH="0" baseline="0" noProof="0" dirty="0">
                <a:ln>
                  <a:noFill/>
                </a:ln>
                <a:solidFill>
                  <a:prstClr val="black"/>
                </a:solidFill>
                <a:effectLst/>
                <a:uLnTx/>
                <a:uFillTx/>
                <a:latin typeface="+mn-ea"/>
                <a:cs typeface="+mn-cs"/>
              </a:rPr>
              <a:t> period: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prstClr val="black"/>
                </a:solidFill>
                <a:latin typeface="+mn-ea"/>
              </a:rPr>
              <a:t>12 months</a:t>
            </a:r>
            <a:endParaRPr kumimoji="0" lang="en-US" altLang="zh-CN" sz="1600" i="0" u="none" strike="noStrike" kern="1200" cap="none" spc="0" normalizeH="0" baseline="0" noProof="0" dirty="0">
              <a:ln>
                <a:noFill/>
              </a:ln>
              <a:solidFill>
                <a:prstClr val="black"/>
              </a:solidFill>
              <a:effectLst/>
              <a:uLnTx/>
              <a:uFillTx/>
              <a:latin typeface="+mn-ea"/>
              <a:cs typeface="+mn-cs"/>
            </a:endParaRPr>
          </a:p>
        </p:txBody>
      </p:sp>
      <p:sp>
        <p:nvSpPr>
          <p:cNvPr id="17" name="文本框 10">
            <a:extLst>
              <a:ext uri="{FF2B5EF4-FFF2-40B4-BE49-F238E27FC236}">
                <a16:creationId xmlns:a16="http://schemas.microsoft.com/office/drawing/2014/main" id="{7B06A1D8-6AF6-9A0A-305A-FE4D84B926C0}"/>
              </a:ext>
            </a:extLst>
          </p:cNvPr>
          <p:cNvSpPr txBox="1"/>
          <p:nvPr/>
        </p:nvSpPr>
        <p:spPr>
          <a:xfrm>
            <a:off x="4878541" y="1216861"/>
            <a:ext cx="1090043"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mn-ea"/>
                <a:cs typeface="+mn-cs"/>
              </a:rPr>
              <a:t>Index date </a:t>
            </a:r>
          </a:p>
        </p:txBody>
      </p:sp>
      <p:sp>
        <p:nvSpPr>
          <p:cNvPr id="3" name="矩形: 圆角 14">
            <a:extLst>
              <a:ext uri="{FF2B5EF4-FFF2-40B4-BE49-F238E27FC236}">
                <a16:creationId xmlns:a16="http://schemas.microsoft.com/office/drawing/2014/main" id="{E9E28F3F-5796-658E-6534-B648C89D3577}"/>
              </a:ext>
            </a:extLst>
          </p:cNvPr>
          <p:cNvSpPr/>
          <p:nvPr/>
        </p:nvSpPr>
        <p:spPr bwMode="gray">
          <a:xfrm>
            <a:off x="4781550" y="3928150"/>
            <a:ext cx="6851344" cy="2656463"/>
          </a:xfrm>
          <a:prstGeom prst="round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8" name="文本框 23">
            <a:extLst>
              <a:ext uri="{FF2B5EF4-FFF2-40B4-BE49-F238E27FC236}">
                <a16:creationId xmlns:a16="http://schemas.microsoft.com/office/drawing/2014/main" id="{C50DD44B-1305-43FB-FCA5-81F70605865F}"/>
              </a:ext>
            </a:extLst>
          </p:cNvPr>
          <p:cNvSpPr txBox="1"/>
          <p:nvPr/>
        </p:nvSpPr>
        <p:spPr bwMode="gray">
          <a:xfrm>
            <a:off x="4931642" y="4145391"/>
            <a:ext cx="6601474" cy="2262158"/>
          </a:xfrm>
          <a:prstGeom prst="rect">
            <a:avLst/>
          </a:prstGeom>
          <a:noFill/>
        </p:spPr>
        <p:txBody>
          <a:bodyPr wrap="square" lIns="0" tIns="0" rIns="0" bIns="0" numCol="2" rtlCol="0">
            <a:spAutoFit/>
          </a:bodyPr>
          <a:lstStyle/>
          <a:p>
            <a:pPr algn="l">
              <a:spcAft>
                <a:spcPts val="600"/>
              </a:spcAft>
            </a:pPr>
            <a:r>
              <a:rPr lang="en-US" altLang="zh-CN" sz="1400" b="1" dirty="0">
                <a:latin typeface="+mn-ea"/>
              </a:rPr>
              <a:t>Treatment patterns</a:t>
            </a:r>
          </a:p>
          <a:p>
            <a:pPr>
              <a:spcAft>
                <a:spcPts val="600"/>
              </a:spcAft>
            </a:pPr>
            <a:r>
              <a:rPr lang="en-US" altLang="zh-CN" sz="1400" dirty="0">
                <a:solidFill>
                  <a:srgbClr val="0F1115"/>
                </a:solidFill>
                <a:latin typeface="+mn-ea"/>
              </a:rPr>
              <a:t>Time frame: during baseline and follow-up</a:t>
            </a:r>
            <a:endParaRPr lang="en-US" altLang="zh-CN" sz="1400" b="1" dirty="0">
              <a:latin typeface="+mn-ea"/>
            </a:endParaRPr>
          </a:p>
          <a:p>
            <a:pPr marL="342900" indent="-342900" algn="l">
              <a:spcAft>
                <a:spcPts val="600"/>
              </a:spcAft>
              <a:buAutoNum type="arabicPeriod"/>
            </a:pPr>
            <a:r>
              <a:rPr lang="en-US" altLang="zh-CN" sz="1400" i="0" u="none" strike="noStrike" baseline="0" dirty="0">
                <a:latin typeface="+mn-ea"/>
              </a:rPr>
              <a:t>Types and proportion of treatments</a:t>
            </a:r>
          </a:p>
          <a:p>
            <a:pPr marL="800100" lvl="1" indent="-342900">
              <a:spcAft>
                <a:spcPts val="600"/>
              </a:spcAft>
              <a:buFont typeface="Arial" panose="020B0604020202020204" pitchFamily="34" charset="0"/>
              <a:buChar char="•"/>
            </a:pPr>
            <a:r>
              <a:rPr lang="en-US" altLang="zh-CN" sz="1400" dirty="0">
                <a:latin typeface="+mn-ea"/>
              </a:rPr>
              <a:t>Antifibrotics</a:t>
            </a:r>
          </a:p>
          <a:p>
            <a:pPr marL="800100" lvl="1" indent="-342900">
              <a:spcAft>
                <a:spcPts val="600"/>
              </a:spcAft>
              <a:buFont typeface="Arial" panose="020B0604020202020204" pitchFamily="34" charset="0"/>
              <a:buChar char="•"/>
            </a:pPr>
            <a:r>
              <a:rPr lang="en-US" altLang="zh-CN" sz="1400" dirty="0">
                <a:latin typeface="+mn-ea"/>
              </a:rPr>
              <a:t>Immunosuppression &amp; other classes of medication</a:t>
            </a:r>
          </a:p>
          <a:p>
            <a:pPr marL="800100" lvl="1" indent="-342900">
              <a:spcAft>
                <a:spcPts val="600"/>
              </a:spcAft>
              <a:buFont typeface="Arial" panose="020B0604020202020204" pitchFamily="34" charset="0"/>
              <a:buChar char="•"/>
            </a:pPr>
            <a:r>
              <a:rPr lang="en-US" altLang="zh-CN" sz="1400" dirty="0">
                <a:latin typeface="+mn-ea"/>
              </a:rPr>
              <a:t>Non-pharmacologic treatments</a:t>
            </a:r>
            <a:endParaRPr lang="en-US" altLang="zh-CN" sz="1400" i="0" u="none" strike="noStrike" baseline="0" dirty="0">
              <a:latin typeface="+mn-ea"/>
            </a:endParaRPr>
          </a:p>
          <a:p>
            <a:pPr marL="342900" indent="-342900">
              <a:spcAft>
                <a:spcPts val="600"/>
              </a:spcAft>
              <a:buFontTx/>
              <a:buAutoNum type="arabicPeriod"/>
            </a:pPr>
            <a:r>
              <a:rPr lang="en-US" altLang="zh-CN" sz="1400" dirty="0">
                <a:latin typeface="+mn-ea"/>
              </a:rPr>
              <a:t>Co-medications for drug of interest </a:t>
            </a:r>
          </a:p>
          <a:p>
            <a:pPr marL="342900" indent="-342900">
              <a:spcAft>
                <a:spcPts val="600"/>
              </a:spcAft>
              <a:buFontTx/>
              <a:buAutoNum type="arabicPeriod"/>
            </a:pPr>
            <a:r>
              <a:rPr lang="en-US" altLang="zh-CN" sz="1400" dirty="0">
                <a:latin typeface="+mn-ea"/>
              </a:rPr>
              <a:t>Duration of Treatment (DOT) for drug of interest</a:t>
            </a:r>
          </a:p>
          <a:p>
            <a:pPr marL="342900" indent="-342900">
              <a:spcAft>
                <a:spcPts val="600"/>
              </a:spcAft>
              <a:buFontTx/>
              <a:buAutoNum type="arabicPeriod"/>
            </a:pPr>
            <a:r>
              <a:rPr lang="en-US" altLang="zh-CN" sz="1400" dirty="0">
                <a:latin typeface="+mn-ea"/>
              </a:rPr>
              <a:t>Time from diagnosis to treatment initiation for drug of interest</a:t>
            </a:r>
          </a:p>
        </p:txBody>
      </p:sp>
      <p:sp>
        <p:nvSpPr>
          <p:cNvPr id="22" name="矩形: 圆角 16">
            <a:extLst>
              <a:ext uri="{FF2B5EF4-FFF2-40B4-BE49-F238E27FC236}">
                <a16:creationId xmlns:a16="http://schemas.microsoft.com/office/drawing/2014/main" id="{08367D1C-18B0-F3EE-4FD5-B9FFAFF91DDD}"/>
              </a:ext>
            </a:extLst>
          </p:cNvPr>
          <p:cNvSpPr/>
          <p:nvPr/>
        </p:nvSpPr>
        <p:spPr bwMode="gray">
          <a:xfrm>
            <a:off x="156264" y="3114361"/>
            <a:ext cx="3034116" cy="720000"/>
          </a:xfrm>
          <a:prstGeom prst="roundRect">
            <a:avLst/>
          </a:prstGeom>
          <a:solidFill>
            <a:schemeClr val="accent1">
              <a:lumMod val="10000"/>
              <a:lumOff val="9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rPr>
              <a:t>Use a </a:t>
            </a:r>
            <a:r>
              <a:rPr lang="en-US" altLang="zh-CN" sz="1200" b="1" dirty="0">
                <a:solidFill>
                  <a:schemeClr val="tx1"/>
                </a:solidFill>
              </a:rPr>
              <a:t>Sankey diagram </a:t>
            </a:r>
            <a:r>
              <a:rPr lang="en-US" altLang="zh-CN" sz="1200" dirty="0">
                <a:solidFill>
                  <a:schemeClr val="tx1"/>
                </a:solidFill>
              </a:rPr>
              <a:t>to visualize the patient journey from initial diagnosis to treatment initiation and follow-up</a:t>
            </a:r>
            <a:endParaRPr lang="zh-CN" altLang="en-US" sz="1200" dirty="0">
              <a:solidFill>
                <a:schemeClr val="tx1"/>
              </a:solidFill>
            </a:endParaRPr>
          </a:p>
        </p:txBody>
      </p:sp>
      <p:sp>
        <p:nvSpPr>
          <p:cNvPr id="16" name="文本框 9">
            <a:extLst>
              <a:ext uri="{FF2B5EF4-FFF2-40B4-BE49-F238E27FC236}">
                <a16:creationId xmlns:a16="http://schemas.microsoft.com/office/drawing/2014/main" id="{915973FD-76FE-F171-76A5-B1743CF9035C}"/>
              </a:ext>
            </a:extLst>
          </p:cNvPr>
          <p:cNvSpPr txBox="1"/>
          <p:nvPr/>
        </p:nvSpPr>
        <p:spPr>
          <a:xfrm>
            <a:off x="2383264" y="1669855"/>
            <a:ext cx="3059110" cy="73866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altLang="zh-CN" sz="1200" b="1" dirty="0">
                <a:solidFill>
                  <a:schemeClr val="bg1"/>
                </a:solidFill>
                <a:latin typeface="+mn-ea"/>
              </a:rPr>
              <a:t>Demographic characteristics</a:t>
            </a:r>
            <a:endParaRPr kumimoji="0" lang="en-US" altLang="zh-CN" sz="1200" b="1" i="0" u="none" strike="noStrike" kern="1200" cap="none" spc="0" normalizeH="0" baseline="0" noProof="0" dirty="0">
              <a:ln>
                <a:noFill/>
              </a:ln>
              <a:solidFill>
                <a:schemeClr val="bg1"/>
              </a:solidFill>
              <a:effectLst/>
              <a:uLnTx/>
              <a:uFillTx/>
              <a:latin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Clinical characteristics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1" dirty="0">
                <a:solidFill>
                  <a:prstClr val="white"/>
                </a:solidFill>
                <a:latin typeface="Boehringer Forward Text"/>
              </a:rPr>
              <a:t>Patient journey and treatment history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HCRU</a:t>
            </a:r>
          </a:p>
        </p:txBody>
      </p:sp>
      <p:sp>
        <p:nvSpPr>
          <p:cNvPr id="28" name="文本占位符 4">
            <a:extLst>
              <a:ext uri="{FF2B5EF4-FFF2-40B4-BE49-F238E27FC236}">
                <a16:creationId xmlns:a16="http://schemas.microsoft.com/office/drawing/2014/main" id="{130CFFE3-0B02-6786-6A6C-5AE61F06ED6D}"/>
              </a:ext>
            </a:extLst>
          </p:cNvPr>
          <p:cNvSpPr>
            <a:spLocks noGrp="1"/>
          </p:cNvSpPr>
          <p:nvPr/>
        </p:nvSpPr>
        <p:spPr bwMode="gray">
          <a:xfrm>
            <a:off x="4450975" y="6474834"/>
            <a:ext cx="7482102" cy="219558"/>
          </a:xfrm>
          <a:prstGeom prst="rect">
            <a:avLst/>
          </a:prstGeom>
        </p:spPr>
        <p:txBody>
          <a:bodyPr vert="horz" lIns="0" tIns="0" rIns="0" bIns="0" rtlCol="0" anchor="b">
            <a:noAutofit/>
          </a:bodyPr>
          <a:lstStyle>
            <a:lvl1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1pPr>
            <a:lvl2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2pPr>
            <a:lvl3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3pPr>
            <a:lvl4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4pPr>
            <a:lvl5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5pPr>
            <a:lvl6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6pPr>
            <a:lvl7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7pPr>
            <a:lvl8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8pPr>
            <a:lvl9pPr marL="0" indent="0" algn="l" defTabSz="913532" rtl="0" eaLnBrk="1" latinLnBrk="0" hangingPunct="1">
              <a:lnSpc>
                <a:spcPct val="100000"/>
              </a:lnSpc>
              <a:spcBef>
                <a:spcPts val="0"/>
              </a:spcBef>
              <a:spcAft>
                <a:spcPts val="0"/>
              </a:spcAft>
              <a:buFont typeface="Arial" panose="020B0604020202020204" pitchFamily="34" charset="0"/>
              <a:buNone/>
              <a:defRPr sz="799" b="0" kern="1200">
                <a:solidFill>
                  <a:schemeClr val="tx1"/>
                </a:solidFill>
                <a:latin typeface="+mn-lt"/>
                <a:ea typeface="+mn-ea"/>
                <a:cs typeface="+mn-cs"/>
              </a:defRPr>
            </a:lvl9pPr>
          </a:lstStyle>
          <a:p>
            <a:endParaRPr lang="zh-CN" altLang="en-US"/>
          </a:p>
        </p:txBody>
      </p:sp>
      <p:sp>
        <p:nvSpPr>
          <p:cNvPr id="4" name="文本框 10">
            <a:extLst>
              <a:ext uri="{FF2B5EF4-FFF2-40B4-BE49-F238E27FC236}">
                <a16:creationId xmlns:a16="http://schemas.microsoft.com/office/drawing/2014/main" id="{C4827BC7-4E49-0646-06FB-1E90D00F86C9}"/>
              </a:ext>
            </a:extLst>
          </p:cNvPr>
          <p:cNvSpPr txBox="1"/>
          <p:nvPr/>
        </p:nvSpPr>
        <p:spPr>
          <a:xfrm>
            <a:off x="1236325" y="1921229"/>
            <a:ext cx="865622"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Jan</a:t>
            </a:r>
            <a:r>
              <a:rPr kumimoji="0" lang="en-US" altLang="zh-CN" sz="1600" b="1" i="0" u="none" strike="noStrike" kern="1200" cap="none" spc="0" normalizeH="0" baseline="0" noProof="0" dirty="0">
                <a:ln>
                  <a:noFill/>
                </a:ln>
                <a:solidFill>
                  <a:prstClr val="black"/>
                </a:solidFill>
                <a:effectLst/>
                <a:uLnTx/>
                <a:uFillTx/>
                <a:latin typeface="+mn-ea"/>
                <a:cs typeface="+mn-cs"/>
              </a:rPr>
              <a:t> 2019</a:t>
            </a:r>
          </a:p>
        </p:txBody>
      </p:sp>
      <p:sp>
        <p:nvSpPr>
          <p:cNvPr id="9" name="文本框 10">
            <a:extLst>
              <a:ext uri="{FF2B5EF4-FFF2-40B4-BE49-F238E27FC236}">
                <a16:creationId xmlns:a16="http://schemas.microsoft.com/office/drawing/2014/main" id="{F83FC903-F9A7-773B-A4F6-02AABD5452E1}"/>
              </a:ext>
            </a:extLst>
          </p:cNvPr>
          <p:cNvSpPr txBox="1"/>
          <p:nvPr/>
        </p:nvSpPr>
        <p:spPr>
          <a:xfrm>
            <a:off x="10525338" y="1917877"/>
            <a:ext cx="88806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Dec</a:t>
            </a:r>
            <a:r>
              <a:rPr kumimoji="0" lang="en-US" altLang="zh-CN" sz="1600" b="1" i="0" u="none" strike="noStrike" kern="1200" cap="none" spc="0" normalizeH="0" baseline="0" noProof="0" dirty="0">
                <a:ln>
                  <a:noFill/>
                </a:ln>
                <a:solidFill>
                  <a:prstClr val="black"/>
                </a:solidFill>
                <a:effectLst/>
                <a:uLnTx/>
                <a:uFillTx/>
                <a:latin typeface="+mn-ea"/>
                <a:cs typeface="+mn-cs"/>
              </a:rPr>
              <a:t> 2026</a:t>
            </a:r>
          </a:p>
        </p:txBody>
      </p:sp>
      <p:cxnSp>
        <p:nvCxnSpPr>
          <p:cNvPr id="23" name="Connector: Elbow 22">
            <a:extLst>
              <a:ext uri="{FF2B5EF4-FFF2-40B4-BE49-F238E27FC236}">
                <a16:creationId xmlns:a16="http://schemas.microsoft.com/office/drawing/2014/main" id="{79D330E7-DD62-F5A5-7FDA-82888812FBD7}"/>
              </a:ext>
            </a:extLst>
          </p:cNvPr>
          <p:cNvCxnSpPr>
            <a:cxnSpLocks/>
          </p:cNvCxnSpPr>
          <p:nvPr/>
        </p:nvCxnSpPr>
        <p:spPr bwMode="gray">
          <a:xfrm>
            <a:off x="328024" y="3862346"/>
            <a:ext cx="480301" cy="373438"/>
          </a:xfrm>
          <a:prstGeom prst="bentConnector3">
            <a:avLst>
              <a:gd name="adj1" fmla="val 42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9">
            <a:extLst>
              <a:ext uri="{FF2B5EF4-FFF2-40B4-BE49-F238E27FC236}">
                <a16:creationId xmlns:a16="http://schemas.microsoft.com/office/drawing/2014/main" id="{D51CDCD8-C55B-30D1-B003-1F3676C624BF}"/>
              </a:ext>
            </a:extLst>
          </p:cNvPr>
          <p:cNvSpPr txBox="1"/>
          <p:nvPr/>
        </p:nvSpPr>
        <p:spPr>
          <a:xfrm>
            <a:off x="5641052" y="1769385"/>
            <a:ext cx="3574998"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altLang="zh-CN" sz="1200" b="1" dirty="0">
                <a:solidFill>
                  <a:schemeClr val="bg1"/>
                </a:solidFill>
                <a:latin typeface="+mn-ea"/>
              </a:rPr>
              <a:t>Incidence rates</a:t>
            </a:r>
          </a:p>
          <a:p>
            <a:pPr marL="171450" lvl="0" indent="-171450">
              <a:buFont typeface="Arial" panose="020B0604020202020204" pitchFamily="34" charset="0"/>
              <a:buChar char="•"/>
              <a:defRPr/>
            </a:pPr>
            <a:r>
              <a:rPr lang="en-US" altLang="zh-CN" sz="1200" b="1" dirty="0">
                <a:solidFill>
                  <a:schemeClr val="bg1"/>
                </a:solidFill>
                <a:latin typeface="+mn-ea"/>
              </a:rPr>
              <a:t>Patient journey and treatment patterns</a:t>
            </a:r>
            <a:endParaRPr lang="en-US" altLang="zh-CN" sz="1200" b="1" dirty="0">
              <a:solidFill>
                <a:prstClr val="white"/>
              </a:solidFill>
              <a:latin typeface="Boehringer Forward Text"/>
            </a:endParaRPr>
          </a:p>
          <a:p>
            <a:pPr marL="171450" lvl="0" indent="-171450">
              <a:buFont typeface="Arial" panose="020B0604020202020204" pitchFamily="34" charset="0"/>
              <a:buChar char="•"/>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HCRU and direct medical cost</a:t>
            </a:r>
            <a:endParaRPr kumimoji="0" lang="zh-CN" altLang="en-US" sz="1200" b="1" i="0" u="none" strike="noStrike" kern="1200" cap="none" spc="0" normalizeH="0" baseline="0" noProof="0" dirty="0">
              <a:ln>
                <a:noFill/>
              </a:ln>
              <a:solidFill>
                <a:prstClr val="white"/>
              </a:solidFill>
              <a:effectLst/>
              <a:uLnTx/>
              <a:uFillTx/>
              <a:latin typeface="Boehringer Forward Text"/>
              <a:ea typeface="+mn-ea"/>
              <a:cs typeface="+mn-cs"/>
            </a:endParaRPr>
          </a:p>
        </p:txBody>
      </p:sp>
    </p:spTree>
    <p:extLst>
      <p:ext uri="{BB962C8B-B14F-4D97-AF65-F5344CB8AC3E}">
        <p14:creationId xmlns:p14="http://schemas.microsoft.com/office/powerpoint/2010/main" val="1866523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993E-08D0-6FE7-2E68-47F0C67CEB17}"/>
            </a:ext>
          </a:extLst>
        </p:cNvPr>
        <p:cNvGrpSpPr/>
        <p:nvPr/>
      </p:nvGrpSpPr>
      <p:grpSpPr>
        <a:xfrm>
          <a:off x="0" y="0"/>
          <a:ext cx="0" cy="0"/>
          <a:chOff x="0" y="0"/>
          <a:chExt cx="0" cy="0"/>
        </a:xfrm>
      </p:grpSpPr>
      <p:sp>
        <p:nvSpPr>
          <p:cNvPr id="12" name="矩形: 圆角 16">
            <a:extLst>
              <a:ext uri="{FF2B5EF4-FFF2-40B4-BE49-F238E27FC236}">
                <a16:creationId xmlns:a16="http://schemas.microsoft.com/office/drawing/2014/main" id="{C5B3A5CE-3A65-85E7-CEB9-ED343DA1F35A}"/>
              </a:ext>
            </a:extLst>
          </p:cNvPr>
          <p:cNvSpPr/>
          <p:nvPr/>
        </p:nvSpPr>
        <p:spPr bwMode="gray">
          <a:xfrm>
            <a:off x="971550" y="3458056"/>
            <a:ext cx="4781550" cy="2788779"/>
          </a:xfrm>
          <a:prstGeom prst="round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 name="Title 1">
            <a:extLst>
              <a:ext uri="{FF2B5EF4-FFF2-40B4-BE49-F238E27FC236}">
                <a16:creationId xmlns:a16="http://schemas.microsoft.com/office/drawing/2014/main" id="{9E875693-B630-8677-94F5-FE7C6B196342}"/>
              </a:ext>
            </a:extLst>
          </p:cNvPr>
          <p:cNvSpPr>
            <a:spLocks noGrp="1"/>
          </p:cNvSpPr>
          <p:nvPr>
            <p:ph type="title"/>
          </p:nvPr>
        </p:nvSpPr>
        <p:spPr>
          <a:xfrm>
            <a:off x="491962" y="372945"/>
            <a:ext cx="11233151" cy="720000"/>
          </a:xfrm>
        </p:spPr>
        <p:txBody>
          <a:bodyPr/>
          <a:lstStyle/>
          <a:p>
            <a:r>
              <a:rPr lang="en-US" altLang="zh-CN" sz="2800" dirty="0">
                <a:solidFill>
                  <a:schemeClr val="tx1">
                    <a:lumMod val="85000"/>
                    <a:lumOff val="15000"/>
                  </a:schemeClr>
                </a:solidFill>
              </a:rPr>
              <a:t>Study Design – disease burden and HCRU </a:t>
            </a:r>
            <a:endParaRPr lang="zh-CN" altLang="en-US" sz="2800" dirty="0">
              <a:solidFill>
                <a:schemeClr val="tx1">
                  <a:lumMod val="85000"/>
                  <a:lumOff val="15000"/>
                </a:schemeClr>
              </a:solidFill>
            </a:endParaRPr>
          </a:p>
        </p:txBody>
      </p:sp>
      <p:sp>
        <p:nvSpPr>
          <p:cNvPr id="5" name="Slide Number Placeholder 4">
            <a:extLst>
              <a:ext uri="{FF2B5EF4-FFF2-40B4-BE49-F238E27FC236}">
                <a16:creationId xmlns:a16="http://schemas.microsoft.com/office/drawing/2014/main" id="{CF4B7E90-BD16-1042-C2B1-3D42CF0D2E89}"/>
              </a:ext>
            </a:extLst>
          </p:cNvPr>
          <p:cNvSpPr>
            <a:spLocks noGrp="1"/>
          </p:cNvSpPr>
          <p:nvPr>
            <p:ph type="sldNum" sz="quarter" idx="17"/>
          </p:nvPr>
        </p:nvSpPr>
        <p:spPr/>
        <p:txBody>
          <a:bodyPr/>
          <a:lstStyle/>
          <a:p>
            <a:fld id="{8FF9B0DE-3FEB-4AA0-B465-B80EF7C1333D}" type="slidenum">
              <a:rPr lang="en-US" smtClean="0"/>
              <a:pPr/>
              <a:t>8</a:t>
            </a:fld>
            <a:endParaRPr lang="en-US"/>
          </a:p>
        </p:txBody>
      </p:sp>
      <p:sp>
        <p:nvSpPr>
          <p:cNvPr id="11" name="TextBox 10">
            <a:extLst>
              <a:ext uri="{FF2B5EF4-FFF2-40B4-BE49-F238E27FC236}">
                <a16:creationId xmlns:a16="http://schemas.microsoft.com/office/drawing/2014/main" id="{6CBD8579-EA33-193C-38F5-E40B31B92AF3}"/>
              </a:ext>
            </a:extLst>
          </p:cNvPr>
          <p:cNvSpPr txBox="1"/>
          <p:nvPr/>
        </p:nvSpPr>
        <p:spPr bwMode="gray">
          <a:xfrm>
            <a:off x="1200698" y="3573841"/>
            <a:ext cx="4773053" cy="2646878"/>
          </a:xfrm>
          <a:prstGeom prst="rect">
            <a:avLst/>
          </a:prstGeom>
          <a:noFill/>
        </p:spPr>
        <p:txBody>
          <a:bodyPr wrap="square">
            <a:spAutoFit/>
          </a:bodyPr>
          <a:lstStyle/>
          <a:p>
            <a:pPr algn="l">
              <a:spcAft>
                <a:spcPts val="600"/>
              </a:spcAft>
              <a:buNone/>
            </a:pPr>
            <a:r>
              <a:rPr lang="en-US" altLang="zh-CN" sz="1400" b="1" dirty="0">
                <a:solidFill>
                  <a:srgbClr val="0F1115"/>
                </a:solidFill>
                <a:effectLst/>
                <a:latin typeface="+mn-ea"/>
              </a:rPr>
              <a:t>Healthcare Resource Utilization (HCRU)</a:t>
            </a:r>
          </a:p>
          <a:p>
            <a:pPr>
              <a:spcAft>
                <a:spcPts val="600"/>
              </a:spcAft>
            </a:pPr>
            <a:r>
              <a:rPr lang="en-US" altLang="zh-CN" sz="1400" dirty="0">
                <a:solidFill>
                  <a:srgbClr val="0F1115"/>
                </a:solidFill>
                <a:latin typeface="+mn-ea"/>
              </a:rPr>
              <a:t>Time frame: during baseline and follow-up</a:t>
            </a:r>
          </a:p>
          <a:p>
            <a:pPr marL="285750" indent="-285750">
              <a:spcAft>
                <a:spcPts val="600"/>
              </a:spcAft>
              <a:buFont typeface="Arial" panose="020B0604020202020204" pitchFamily="34" charset="0"/>
              <a:buChar char="•"/>
            </a:pPr>
            <a:r>
              <a:rPr lang="en-US" altLang="zh-CN" sz="1400" b="1" dirty="0">
                <a:latin typeface="+mn-ea"/>
                <a:cs typeface="Times New Roman" panose="02020603050405020304" pitchFamily="18" charset="0"/>
              </a:rPr>
              <a:t>Hospitalization per patient by year:</a:t>
            </a:r>
          </a:p>
          <a:p>
            <a:pPr>
              <a:spcAft>
                <a:spcPts val="600"/>
              </a:spcAft>
              <a:buSzPts val="1200"/>
              <a:tabLst>
                <a:tab pos="318135" algn="l"/>
              </a:tabLst>
            </a:pPr>
            <a:r>
              <a:rPr lang="en-US" altLang="zh-CN" sz="1400" dirty="0">
                <a:latin typeface="+mn-ea"/>
                <a:cs typeface="Times New Roman" panose="02020603050405020304" pitchFamily="18" charset="0"/>
              </a:rPr>
              <a:t>       •  Number of hospitalizations</a:t>
            </a:r>
          </a:p>
          <a:p>
            <a:pPr>
              <a:spcAft>
                <a:spcPts val="600"/>
              </a:spcAft>
              <a:buSzPts val="1200"/>
              <a:tabLst>
                <a:tab pos="318135" algn="l"/>
              </a:tabLst>
            </a:pPr>
            <a:r>
              <a:rPr lang="en-US" altLang="zh-CN" sz="1400" dirty="0">
                <a:latin typeface="+mn-ea"/>
                <a:cs typeface="Times New Roman" panose="02020603050405020304" pitchFamily="18" charset="0"/>
              </a:rPr>
              <a:t>       •  Total days of hospitalization</a:t>
            </a:r>
          </a:p>
          <a:p>
            <a:pPr>
              <a:spcAft>
                <a:spcPts val="600"/>
              </a:spcAft>
              <a:buSzPts val="1200"/>
              <a:tabLst>
                <a:tab pos="318135" algn="l"/>
              </a:tabLst>
            </a:pPr>
            <a:r>
              <a:rPr lang="en-US" altLang="zh-CN" sz="1400" dirty="0">
                <a:latin typeface="+mn-ea"/>
                <a:cs typeface="Times New Roman" panose="02020603050405020304" pitchFamily="18" charset="0"/>
              </a:rPr>
              <a:t>       •  Average length of stay for each hospitalization    </a:t>
            </a:r>
          </a:p>
          <a:p>
            <a:pPr marL="285750" lvl="0" indent="-285750">
              <a:spcAft>
                <a:spcPts val="600"/>
              </a:spcAft>
              <a:buSzPts val="1200"/>
              <a:buFont typeface="Arial" panose="020B0604020202020204" pitchFamily="34" charset="0"/>
              <a:buChar char="•"/>
              <a:tabLst>
                <a:tab pos="318135" algn="l"/>
              </a:tabLst>
            </a:pPr>
            <a:r>
              <a:rPr lang="en-US" altLang="zh-CN" sz="1400" b="1" dirty="0">
                <a:latin typeface="+mn-ea"/>
                <a:cs typeface="Times New Roman" panose="02020603050405020304" pitchFamily="18" charset="0"/>
              </a:rPr>
              <a:t>Outpatient visit per patient by year:</a:t>
            </a:r>
          </a:p>
          <a:p>
            <a:pPr lvl="0">
              <a:spcAft>
                <a:spcPts val="600"/>
              </a:spcAft>
              <a:buSzPts val="1200"/>
              <a:tabLst>
                <a:tab pos="318135" algn="l"/>
              </a:tabLst>
            </a:pPr>
            <a:r>
              <a:rPr lang="en-US" altLang="zh-CN" sz="1400" dirty="0">
                <a:latin typeface="+mn-ea"/>
                <a:cs typeface="Times New Roman" panose="02020603050405020304" pitchFamily="18" charset="0"/>
              </a:rPr>
              <a:t>       •  Number of outpatient visit</a:t>
            </a:r>
          </a:p>
          <a:p>
            <a:pPr lvl="0">
              <a:spcAft>
                <a:spcPts val="600"/>
              </a:spcAft>
              <a:buSzPts val="1200"/>
              <a:tabLst>
                <a:tab pos="318135" algn="l"/>
              </a:tabLst>
            </a:pPr>
            <a:r>
              <a:rPr lang="en-US" altLang="zh-CN" sz="1400" dirty="0">
                <a:latin typeface="+mn-ea"/>
                <a:cs typeface="Times New Roman" panose="02020603050405020304" pitchFamily="18" charset="0"/>
              </a:rPr>
              <a:t>       •  Number of ER visits</a:t>
            </a:r>
            <a:endParaRPr lang="en-US" altLang="zh-CN" sz="1400" b="0" i="0" dirty="0">
              <a:solidFill>
                <a:srgbClr val="0F1115"/>
              </a:solidFill>
              <a:effectLst/>
              <a:latin typeface="+mn-ea"/>
            </a:endParaRPr>
          </a:p>
        </p:txBody>
      </p:sp>
      <p:sp>
        <p:nvSpPr>
          <p:cNvPr id="3" name="矩形: 圆角 16">
            <a:extLst>
              <a:ext uri="{FF2B5EF4-FFF2-40B4-BE49-F238E27FC236}">
                <a16:creationId xmlns:a16="http://schemas.microsoft.com/office/drawing/2014/main" id="{BBCB9B9D-AA96-21DF-24DD-9AFE8CEED447}"/>
              </a:ext>
            </a:extLst>
          </p:cNvPr>
          <p:cNvSpPr/>
          <p:nvPr/>
        </p:nvSpPr>
        <p:spPr bwMode="gray">
          <a:xfrm>
            <a:off x="6237300" y="3429001"/>
            <a:ext cx="4602150" cy="2936558"/>
          </a:xfrm>
          <a:prstGeom prst="round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7" name="TextBox 16">
            <a:extLst>
              <a:ext uri="{FF2B5EF4-FFF2-40B4-BE49-F238E27FC236}">
                <a16:creationId xmlns:a16="http://schemas.microsoft.com/office/drawing/2014/main" id="{F672FF18-AD10-3E88-FD05-83169E9E11AC}"/>
              </a:ext>
            </a:extLst>
          </p:cNvPr>
          <p:cNvSpPr txBox="1"/>
          <p:nvPr/>
        </p:nvSpPr>
        <p:spPr bwMode="gray">
          <a:xfrm>
            <a:off x="6558893" y="3448531"/>
            <a:ext cx="4382758" cy="2939266"/>
          </a:xfrm>
          <a:prstGeom prst="rect">
            <a:avLst/>
          </a:prstGeom>
          <a:noFill/>
        </p:spPr>
        <p:txBody>
          <a:bodyPr wrap="square">
            <a:spAutoFit/>
          </a:bodyPr>
          <a:lstStyle/>
          <a:p>
            <a:pPr algn="l">
              <a:spcAft>
                <a:spcPts val="600"/>
              </a:spcAft>
              <a:buNone/>
            </a:pPr>
            <a:r>
              <a:rPr lang="en-US" altLang="zh-CN" sz="1400" b="1" dirty="0">
                <a:solidFill>
                  <a:srgbClr val="0F1115"/>
                </a:solidFill>
                <a:effectLst/>
                <a:latin typeface="+mn-ea"/>
              </a:rPr>
              <a:t>Direct medical cost</a:t>
            </a:r>
          </a:p>
          <a:p>
            <a:pPr algn="l">
              <a:spcAft>
                <a:spcPts val="600"/>
              </a:spcAft>
              <a:buNone/>
            </a:pPr>
            <a:r>
              <a:rPr lang="en-US" altLang="zh-CN" sz="1400" dirty="0">
                <a:solidFill>
                  <a:srgbClr val="0F1115"/>
                </a:solidFill>
                <a:latin typeface="+mn-ea"/>
              </a:rPr>
              <a:t>Time frame: post-diagnosis</a:t>
            </a:r>
            <a:endParaRPr lang="en-US" altLang="zh-CN" sz="1400" dirty="0">
              <a:solidFill>
                <a:srgbClr val="0F1115"/>
              </a:solidFill>
              <a:effectLst/>
              <a:latin typeface="+mn-ea"/>
            </a:endParaRPr>
          </a:p>
          <a:p>
            <a:pPr marL="285750" indent="-285750">
              <a:spcAft>
                <a:spcPts val="600"/>
              </a:spcAft>
              <a:buFont typeface="Arial" panose="020B0604020202020204" pitchFamily="34" charset="0"/>
              <a:buChar char="•"/>
            </a:pPr>
            <a:r>
              <a:rPr lang="en-US" altLang="zh-CN" sz="1400" b="1" dirty="0">
                <a:latin typeface="+mn-ea"/>
                <a:cs typeface="Times New Roman" panose="02020603050405020304" pitchFamily="18" charset="0"/>
              </a:rPr>
              <a:t>Hospitalization per patient by year:</a:t>
            </a:r>
            <a:endParaRPr lang="en-US" altLang="zh-CN" sz="1400" b="1" dirty="0">
              <a:solidFill>
                <a:srgbClr val="0F1115"/>
              </a:solidFill>
              <a:effectLst/>
              <a:latin typeface="+mn-ea"/>
            </a:endParaRPr>
          </a:p>
          <a:p>
            <a:pPr marL="742950" lvl="1" indent="-285750">
              <a:spcAft>
                <a:spcPts val="600"/>
              </a:spcAft>
              <a:buSzPts val="1200"/>
              <a:buFont typeface="Arial" panose="020B0604020202020204" pitchFamily="34" charset="0"/>
              <a:buChar char="•"/>
              <a:tabLst>
                <a:tab pos="318135" algn="l"/>
              </a:tabLst>
            </a:pPr>
            <a:r>
              <a:rPr lang="en-US" altLang="zh-CN" sz="1400" dirty="0">
                <a:latin typeface="+mn-ea"/>
                <a:cs typeface="Times New Roman" panose="02020603050405020304" pitchFamily="18" charset="0"/>
              </a:rPr>
              <a:t>Total costs of hospitalization </a:t>
            </a:r>
          </a:p>
          <a:p>
            <a:pPr marL="742950" lvl="1" indent="-285750">
              <a:spcAft>
                <a:spcPts val="600"/>
              </a:spcAft>
              <a:buSzPts val="1200"/>
              <a:buFont typeface="Arial" panose="020B0604020202020204" pitchFamily="34" charset="0"/>
              <a:buChar char="•"/>
              <a:tabLst>
                <a:tab pos="318135" algn="l"/>
              </a:tabLst>
            </a:pPr>
            <a:r>
              <a:rPr lang="en-US" altLang="zh-CN" sz="1400" dirty="0">
                <a:latin typeface="+mn-ea"/>
                <a:cs typeface="Times New Roman" panose="02020603050405020304" pitchFamily="18" charset="0"/>
              </a:rPr>
              <a:t>Average cost per hospitalization </a:t>
            </a:r>
          </a:p>
          <a:p>
            <a:pPr marL="285750" lvl="0" indent="-285750">
              <a:spcAft>
                <a:spcPts val="600"/>
              </a:spcAft>
              <a:buSzPts val="1200"/>
              <a:buFont typeface="Arial" panose="020B0604020202020204" pitchFamily="34" charset="0"/>
              <a:buChar char="•"/>
              <a:tabLst>
                <a:tab pos="318135" algn="l"/>
              </a:tabLst>
            </a:pPr>
            <a:r>
              <a:rPr lang="en-US" altLang="zh-CN" sz="1400" b="1" dirty="0">
                <a:latin typeface="+mn-ea"/>
                <a:cs typeface="Times New Roman" panose="02020603050405020304" pitchFamily="18" charset="0"/>
              </a:rPr>
              <a:t>Outpatient visit per patient by year:</a:t>
            </a:r>
          </a:p>
          <a:p>
            <a:pPr marL="742950" lvl="1" indent="-285750">
              <a:spcAft>
                <a:spcPts val="600"/>
              </a:spcAft>
              <a:buSzPts val="1200"/>
              <a:buFont typeface="Arial" panose="020B0604020202020204" pitchFamily="34" charset="0"/>
              <a:buChar char="•"/>
              <a:tabLst>
                <a:tab pos="318135" algn="l"/>
              </a:tabLst>
            </a:pPr>
            <a:r>
              <a:rPr lang="en-US" altLang="zh-CN" sz="1400" dirty="0">
                <a:latin typeface="+mn-ea"/>
                <a:cs typeface="Times New Roman" panose="02020603050405020304" pitchFamily="18" charset="0"/>
              </a:rPr>
              <a:t>Total cost of outpatient visit</a:t>
            </a:r>
          </a:p>
          <a:p>
            <a:pPr marL="742950" lvl="1" indent="-285750">
              <a:spcAft>
                <a:spcPts val="600"/>
              </a:spcAft>
              <a:buSzPts val="1200"/>
              <a:buFont typeface="Arial" panose="020B0604020202020204" pitchFamily="34" charset="0"/>
              <a:buChar char="•"/>
              <a:tabLst>
                <a:tab pos="318135" algn="l"/>
              </a:tabLst>
            </a:pPr>
            <a:r>
              <a:rPr lang="en-US" altLang="zh-CN" sz="1400" dirty="0">
                <a:latin typeface="+mn-ea"/>
                <a:cs typeface="Times New Roman" panose="02020603050405020304" pitchFamily="18" charset="0"/>
              </a:rPr>
              <a:t>Total cost of ER visit</a:t>
            </a:r>
          </a:p>
          <a:p>
            <a:pPr marL="742950" lvl="1" indent="-285750">
              <a:spcAft>
                <a:spcPts val="600"/>
              </a:spcAft>
              <a:buSzPts val="1200"/>
              <a:buFont typeface="Arial" panose="020B0604020202020204" pitchFamily="34" charset="0"/>
              <a:buChar char="•"/>
              <a:tabLst>
                <a:tab pos="318135" algn="l"/>
              </a:tabLst>
            </a:pPr>
            <a:r>
              <a:rPr lang="en-US" altLang="zh-CN" sz="1400" dirty="0">
                <a:latin typeface="+mn-ea"/>
                <a:cs typeface="Times New Roman" panose="02020603050405020304" pitchFamily="18" charset="0"/>
              </a:rPr>
              <a:t>Average cost per outpatient visit</a:t>
            </a:r>
          </a:p>
          <a:p>
            <a:pPr marL="742950" lvl="1" indent="-285750">
              <a:spcAft>
                <a:spcPts val="600"/>
              </a:spcAft>
              <a:buSzPts val="1200"/>
              <a:buFont typeface="Arial" panose="020B0604020202020204" pitchFamily="34" charset="0"/>
              <a:buChar char="•"/>
              <a:tabLst>
                <a:tab pos="318135" algn="l"/>
              </a:tabLst>
            </a:pPr>
            <a:r>
              <a:rPr lang="en-US" altLang="zh-CN" sz="1400" dirty="0">
                <a:latin typeface="+mn-ea"/>
                <a:cs typeface="Times New Roman" panose="02020603050405020304" pitchFamily="18" charset="0"/>
              </a:rPr>
              <a:t>Average cost per ER visit</a:t>
            </a:r>
          </a:p>
        </p:txBody>
      </p:sp>
      <p:grpSp>
        <p:nvGrpSpPr>
          <p:cNvPr id="66" name="Group 65">
            <a:extLst>
              <a:ext uri="{FF2B5EF4-FFF2-40B4-BE49-F238E27FC236}">
                <a16:creationId xmlns:a16="http://schemas.microsoft.com/office/drawing/2014/main" id="{4AA92FE4-5916-B46B-591F-F84D355DF108}"/>
              </a:ext>
            </a:extLst>
          </p:cNvPr>
          <p:cNvGrpSpPr/>
          <p:nvPr/>
        </p:nvGrpSpPr>
        <p:grpSpPr>
          <a:xfrm>
            <a:off x="788573" y="1166559"/>
            <a:ext cx="10177077" cy="2071434"/>
            <a:chOff x="687857" y="1153978"/>
            <a:chExt cx="10177077" cy="2071434"/>
          </a:xfrm>
        </p:grpSpPr>
        <p:sp>
          <p:nvSpPr>
            <p:cNvPr id="9" name="任意形状 13">
              <a:extLst>
                <a:ext uri="{FF2B5EF4-FFF2-40B4-BE49-F238E27FC236}">
                  <a16:creationId xmlns:a16="http://schemas.microsoft.com/office/drawing/2014/main" id="{6B620087-83E9-3AC2-E204-AB7BDD22825D}"/>
                </a:ext>
              </a:extLst>
            </p:cNvPr>
            <p:cNvSpPr/>
            <p:nvPr/>
          </p:nvSpPr>
          <p:spPr>
            <a:xfrm>
              <a:off x="2231273" y="1883136"/>
              <a:ext cx="261619" cy="261620"/>
            </a:xfrm>
            <a:custGeom>
              <a:avLst/>
              <a:gdLst>
                <a:gd name="connsiteX0" fmla="*/ 130810 w 261619"/>
                <a:gd name="connsiteY0" fmla="*/ 0 h 261620"/>
                <a:gd name="connsiteX1" fmla="*/ 0 w 261619"/>
                <a:gd name="connsiteY1" fmla="*/ 130810 h 261620"/>
                <a:gd name="connsiteX2" fmla="*/ 130810 w 261619"/>
                <a:gd name="connsiteY2" fmla="*/ 261620 h 261620"/>
                <a:gd name="connsiteX3" fmla="*/ 261620 w 261619"/>
                <a:gd name="connsiteY3" fmla="*/ 130810 h 261620"/>
                <a:gd name="connsiteX4" fmla="*/ 130810 w 261619"/>
                <a:gd name="connsiteY4" fmla="*/ 0 h 261620"/>
                <a:gd name="connsiteX5" fmla="*/ 116840 w 261619"/>
                <a:gd name="connsiteY5" fmla="*/ 201930 h 261620"/>
                <a:gd name="connsiteX6" fmla="*/ 38100 w 261619"/>
                <a:gd name="connsiteY6" fmla="*/ 130810 h 261620"/>
                <a:gd name="connsiteX7" fmla="*/ 72390 w 261619"/>
                <a:gd name="connsiteY7" fmla="*/ 92710 h 261620"/>
                <a:gd name="connsiteX8" fmla="*/ 115570 w 261619"/>
                <a:gd name="connsiteY8" fmla="*/ 132080 h 261620"/>
                <a:gd name="connsiteX9" fmla="*/ 185420 w 261619"/>
                <a:gd name="connsiteY9" fmla="*/ 62230 h 261620"/>
                <a:gd name="connsiteX10" fmla="*/ 220980 w 261619"/>
                <a:gd name="connsiteY10" fmla="*/ 97790 h 261620"/>
                <a:gd name="connsiteX11" fmla="*/ 116840 w 261619"/>
                <a:gd name="connsiteY11" fmla="*/ 201930 h 2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619" h="261620">
                  <a:moveTo>
                    <a:pt x="130810" y="0"/>
                  </a:moveTo>
                  <a:cubicBezTo>
                    <a:pt x="58420" y="0"/>
                    <a:pt x="0" y="58420"/>
                    <a:pt x="0" y="130810"/>
                  </a:cubicBezTo>
                  <a:cubicBezTo>
                    <a:pt x="0" y="203200"/>
                    <a:pt x="58420" y="261620"/>
                    <a:pt x="130810" y="261620"/>
                  </a:cubicBezTo>
                  <a:cubicBezTo>
                    <a:pt x="203200" y="261620"/>
                    <a:pt x="261620" y="201930"/>
                    <a:pt x="261620" y="130810"/>
                  </a:cubicBezTo>
                  <a:cubicBezTo>
                    <a:pt x="261620" y="59690"/>
                    <a:pt x="203200" y="0"/>
                    <a:pt x="130810" y="0"/>
                  </a:cubicBezTo>
                  <a:close/>
                  <a:moveTo>
                    <a:pt x="116840" y="201930"/>
                  </a:moveTo>
                  <a:lnTo>
                    <a:pt x="38100" y="130810"/>
                  </a:lnTo>
                  <a:lnTo>
                    <a:pt x="72390" y="92710"/>
                  </a:lnTo>
                  <a:lnTo>
                    <a:pt x="115570" y="132080"/>
                  </a:lnTo>
                  <a:lnTo>
                    <a:pt x="185420" y="62230"/>
                  </a:lnTo>
                  <a:lnTo>
                    <a:pt x="220980" y="97790"/>
                  </a:lnTo>
                  <a:lnTo>
                    <a:pt x="116840" y="201930"/>
                  </a:ln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左大括号 6">
              <a:extLst>
                <a:ext uri="{FF2B5EF4-FFF2-40B4-BE49-F238E27FC236}">
                  <a16:creationId xmlns:a16="http://schemas.microsoft.com/office/drawing/2014/main" id="{45BF8141-D215-44E7-451E-F43602146AC2}"/>
                </a:ext>
              </a:extLst>
            </p:cNvPr>
            <p:cNvSpPr/>
            <p:nvPr/>
          </p:nvSpPr>
          <p:spPr>
            <a:xfrm rot="16200000">
              <a:off x="6814538" y="494137"/>
              <a:ext cx="146110" cy="3987374"/>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箭头: 右 7">
              <a:extLst>
                <a:ext uri="{FF2B5EF4-FFF2-40B4-BE49-F238E27FC236}">
                  <a16:creationId xmlns:a16="http://schemas.microsoft.com/office/drawing/2014/main" id="{B3E4EDAC-C6C2-BE34-1441-6220969DD4E1}"/>
                </a:ext>
              </a:extLst>
            </p:cNvPr>
            <p:cNvSpPr/>
            <p:nvPr/>
          </p:nvSpPr>
          <p:spPr>
            <a:xfrm>
              <a:off x="1728008" y="1181891"/>
              <a:ext cx="8050184" cy="1553889"/>
            </a:xfrm>
            <a:prstGeom prst="rightArrow">
              <a:avLst/>
            </a:prstGeom>
            <a:solidFill>
              <a:schemeClr val="accent1">
                <a:lumMod val="90000"/>
                <a:lumOff val="1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cxnSp>
          <p:nvCxnSpPr>
            <p:cNvPr id="14" name="直接连接符 8">
              <a:extLst>
                <a:ext uri="{FF2B5EF4-FFF2-40B4-BE49-F238E27FC236}">
                  <a16:creationId xmlns:a16="http://schemas.microsoft.com/office/drawing/2014/main" id="{FCA8B617-776A-2D02-E70E-10D719D5FD72}"/>
                </a:ext>
              </a:extLst>
            </p:cNvPr>
            <p:cNvCxnSpPr>
              <a:cxnSpLocks/>
            </p:cNvCxnSpPr>
            <p:nvPr/>
          </p:nvCxnSpPr>
          <p:spPr>
            <a:xfrm>
              <a:off x="4893910" y="1472455"/>
              <a:ext cx="0" cy="877951"/>
            </a:xfrm>
            <a:prstGeom prst="line">
              <a:avLst/>
            </a:prstGeom>
            <a:ln w="28575"/>
          </p:spPr>
          <p:style>
            <a:lnRef idx="3">
              <a:schemeClr val="accent2"/>
            </a:lnRef>
            <a:fillRef idx="0">
              <a:schemeClr val="accent2"/>
            </a:fillRef>
            <a:effectRef idx="2">
              <a:schemeClr val="accent2"/>
            </a:effectRef>
            <a:fontRef idx="minor">
              <a:schemeClr val="tx1"/>
            </a:fontRef>
          </p:style>
        </p:cxnSp>
        <p:sp>
          <p:nvSpPr>
            <p:cNvPr id="15" name="文本框 11">
              <a:extLst>
                <a:ext uri="{FF2B5EF4-FFF2-40B4-BE49-F238E27FC236}">
                  <a16:creationId xmlns:a16="http://schemas.microsoft.com/office/drawing/2014/main" id="{39336A1C-1A05-94E1-4874-CB5A63062BA8}"/>
                </a:ext>
              </a:extLst>
            </p:cNvPr>
            <p:cNvSpPr txBox="1"/>
            <p:nvPr/>
          </p:nvSpPr>
          <p:spPr>
            <a:xfrm>
              <a:off x="5151249" y="2680954"/>
              <a:ext cx="3457677" cy="492443"/>
            </a:xfrm>
            <a:prstGeom prst="rect">
              <a:avLst/>
            </a:prstGeom>
            <a:noFill/>
          </p:spPr>
          <p:txBody>
            <a:bodyPr wrap="none" lIns="0" tIns="0" rIns="0" bIns="0" rtlCol="0">
              <a:spAutoFit/>
            </a:bodyPr>
            <a:lstStyle/>
            <a:p>
              <a:pPr lvl="0" algn="ctr">
                <a:defRPr/>
              </a:pPr>
              <a:r>
                <a:rPr lang="en-US" altLang="zh-CN" sz="1600" b="1" dirty="0">
                  <a:solidFill>
                    <a:prstClr val="black"/>
                  </a:solidFill>
                  <a:latin typeface="+mn-ea"/>
                </a:rPr>
                <a:t>Follow-up period: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n-ea"/>
                  <a:cs typeface="+mn-cs"/>
                </a:rPr>
                <a:t>January 1</a:t>
              </a:r>
              <a:r>
                <a:rPr kumimoji="0" lang="en-US" altLang="zh-CN" sz="1600" i="0" u="none" strike="noStrike" kern="1200" cap="none" spc="0" normalizeH="0" baseline="0" noProof="0" dirty="0">
                  <a:ln>
                    <a:noFill/>
                  </a:ln>
                  <a:solidFill>
                    <a:prstClr val="black"/>
                  </a:solidFill>
                  <a:effectLst/>
                  <a:uLnTx/>
                  <a:uFillTx/>
                  <a:latin typeface="+mn-ea"/>
                  <a:cs typeface="+mn-cs"/>
                </a:rPr>
                <a:t>, </a:t>
              </a:r>
              <a:r>
                <a:rPr lang="en-US" altLang="zh-CN" sz="1600" b="1" dirty="0">
                  <a:solidFill>
                    <a:srgbClr val="C00000"/>
                  </a:solidFill>
                  <a:latin typeface="+mn-ea"/>
                </a:rPr>
                <a:t>2020</a:t>
              </a:r>
              <a:r>
                <a:rPr kumimoji="0" lang="en-US" altLang="zh-CN" sz="1600" i="0" u="none" strike="noStrike" kern="1200" cap="none" spc="0" normalizeH="0" baseline="0" noProof="0" dirty="0">
                  <a:ln>
                    <a:noFill/>
                  </a:ln>
                  <a:solidFill>
                    <a:prstClr val="black"/>
                  </a:solidFill>
                  <a:effectLst/>
                  <a:uLnTx/>
                  <a:uFillTx/>
                  <a:latin typeface="+mn-ea"/>
                  <a:cs typeface="+mn-cs"/>
                </a:rPr>
                <a:t> - December 31, </a:t>
              </a:r>
              <a:r>
                <a:rPr kumimoji="0" lang="en-US" altLang="zh-CN" sz="1600" b="1" i="0" u="none" strike="noStrike" kern="1200" cap="none" spc="0" normalizeH="0" baseline="0" noProof="0" dirty="0">
                  <a:ln>
                    <a:noFill/>
                  </a:ln>
                  <a:solidFill>
                    <a:srgbClr val="C00000"/>
                  </a:solidFill>
                  <a:effectLst/>
                  <a:uLnTx/>
                  <a:uFillTx/>
                  <a:latin typeface="+mn-ea"/>
                  <a:cs typeface="+mn-cs"/>
                </a:rPr>
                <a:t>2026</a:t>
              </a:r>
              <a:endParaRPr kumimoji="0" lang="zh-CN" altLang="en-US" sz="1600" b="1" i="0" u="none" strike="noStrike" kern="1200" cap="none" spc="0" normalizeH="0" baseline="0" noProof="0" dirty="0">
                <a:ln>
                  <a:noFill/>
                </a:ln>
                <a:solidFill>
                  <a:srgbClr val="C00000"/>
                </a:solidFill>
                <a:effectLst/>
                <a:uLnTx/>
                <a:uFillTx/>
                <a:latin typeface="+mn-ea"/>
                <a:cs typeface="+mn-cs"/>
              </a:endParaRPr>
            </a:p>
          </p:txBody>
        </p:sp>
        <p:sp>
          <p:nvSpPr>
            <p:cNvPr id="16" name="左大括号 9">
              <a:extLst>
                <a:ext uri="{FF2B5EF4-FFF2-40B4-BE49-F238E27FC236}">
                  <a16:creationId xmlns:a16="http://schemas.microsoft.com/office/drawing/2014/main" id="{1FA86A01-0ED4-84A4-8F5E-1810677D92D2}"/>
                </a:ext>
              </a:extLst>
            </p:cNvPr>
            <p:cNvSpPr/>
            <p:nvPr/>
          </p:nvSpPr>
          <p:spPr>
            <a:xfrm rot="16200000">
              <a:off x="3211914" y="1080215"/>
              <a:ext cx="160696" cy="2914932"/>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 name="文本框 10">
              <a:extLst>
                <a:ext uri="{FF2B5EF4-FFF2-40B4-BE49-F238E27FC236}">
                  <a16:creationId xmlns:a16="http://schemas.microsoft.com/office/drawing/2014/main" id="{95982F17-3895-FC80-E64C-CE7FFADF4E08}"/>
                </a:ext>
              </a:extLst>
            </p:cNvPr>
            <p:cNvSpPr txBox="1"/>
            <p:nvPr/>
          </p:nvSpPr>
          <p:spPr>
            <a:xfrm>
              <a:off x="2566055" y="2732969"/>
              <a:ext cx="1596591"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Baseline</a:t>
              </a:r>
              <a:r>
                <a:rPr kumimoji="0" lang="en-US" altLang="zh-CN" sz="1600" b="1" i="0" u="none" strike="noStrike" kern="1200" cap="none" spc="0" normalizeH="0" baseline="0" noProof="0" dirty="0">
                  <a:ln>
                    <a:noFill/>
                  </a:ln>
                  <a:solidFill>
                    <a:prstClr val="black"/>
                  </a:solidFill>
                  <a:effectLst/>
                  <a:uLnTx/>
                  <a:uFillTx/>
                  <a:latin typeface="+mn-ea"/>
                  <a:cs typeface="+mn-cs"/>
                </a:rPr>
                <a:t> period: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prstClr val="black"/>
                  </a:solidFill>
                  <a:latin typeface="+mn-ea"/>
                </a:rPr>
                <a:t>12 months</a:t>
              </a:r>
              <a:endParaRPr kumimoji="0" lang="en-US" altLang="zh-CN" sz="1600" i="0" u="none" strike="noStrike" kern="1200" cap="none" spc="0" normalizeH="0" baseline="0" noProof="0" dirty="0">
                <a:ln>
                  <a:noFill/>
                </a:ln>
                <a:solidFill>
                  <a:prstClr val="black"/>
                </a:solidFill>
                <a:effectLst/>
                <a:uLnTx/>
                <a:uFillTx/>
                <a:latin typeface="+mn-ea"/>
                <a:cs typeface="+mn-cs"/>
              </a:endParaRPr>
            </a:p>
          </p:txBody>
        </p:sp>
        <p:sp>
          <p:nvSpPr>
            <p:cNvPr id="28" name="文本框 10">
              <a:extLst>
                <a:ext uri="{FF2B5EF4-FFF2-40B4-BE49-F238E27FC236}">
                  <a16:creationId xmlns:a16="http://schemas.microsoft.com/office/drawing/2014/main" id="{CFC3A28B-5EE2-1A01-6E0F-B1447A01D606}"/>
                </a:ext>
              </a:extLst>
            </p:cNvPr>
            <p:cNvSpPr txBox="1"/>
            <p:nvPr/>
          </p:nvSpPr>
          <p:spPr>
            <a:xfrm>
              <a:off x="4387223" y="1153978"/>
              <a:ext cx="1090043"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mn-ea"/>
                  <a:cs typeface="+mn-cs"/>
                </a:rPr>
                <a:t>Index date </a:t>
              </a:r>
            </a:p>
          </p:txBody>
        </p:sp>
        <p:sp>
          <p:nvSpPr>
            <p:cNvPr id="29" name="文本框 9">
              <a:extLst>
                <a:ext uri="{FF2B5EF4-FFF2-40B4-BE49-F238E27FC236}">
                  <a16:creationId xmlns:a16="http://schemas.microsoft.com/office/drawing/2014/main" id="{C34C23F6-9DB7-61D9-6C09-59EEF38FCB84}"/>
                </a:ext>
              </a:extLst>
            </p:cNvPr>
            <p:cNvSpPr txBox="1"/>
            <p:nvPr/>
          </p:nvSpPr>
          <p:spPr>
            <a:xfrm>
              <a:off x="1834796" y="1626022"/>
              <a:ext cx="3059110" cy="73866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altLang="zh-CN" sz="1200" b="1" dirty="0">
                  <a:solidFill>
                    <a:schemeClr val="bg1"/>
                  </a:solidFill>
                  <a:latin typeface="+mn-ea"/>
                </a:rPr>
                <a:t>Demographic characteristics</a:t>
              </a:r>
              <a:endParaRPr kumimoji="0" lang="en-US" altLang="zh-CN" sz="1200" b="1" i="0" u="none" strike="noStrike" kern="1200" cap="none" spc="0" normalizeH="0" baseline="0" noProof="0" dirty="0">
                <a:ln>
                  <a:noFill/>
                </a:ln>
                <a:solidFill>
                  <a:schemeClr val="bg1"/>
                </a:solidFill>
                <a:effectLst/>
                <a:uLnTx/>
                <a:uFillTx/>
                <a:latin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Clinical characteristics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1" dirty="0">
                  <a:solidFill>
                    <a:prstClr val="white"/>
                  </a:solidFill>
                  <a:latin typeface="Boehringer Forward Text"/>
                </a:rPr>
                <a:t>Patient journey and treatment history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HCRU</a:t>
              </a:r>
            </a:p>
          </p:txBody>
        </p:sp>
        <p:sp>
          <p:nvSpPr>
            <p:cNvPr id="31" name="文本框 10">
              <a:extLst>
                <a:ext uri="{FF2B5EF4-FFF2-40B4-BE49-F238E27FC236}">
                  <a16:creationId xmlns:a16="http://schemas.microsoft.com/office/drawing/2014/main" id="{607BD370-027C-1FD0-637C-F2EE555B1100}"/>
                </a:ext>
              </a:extLst>
            </p:cNvPr>
            <p:cNvSpPr txBox="1"/>
            <p:nvPr/>
          </p:nvSpPr>
          <p:spPr>
            <a:xfrm>
              <a:off x="687857" y="1858346"/>
              <a:ext cx="865622"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Jan</a:t>
              </a:r>
              <a:r>
                <a:rPr kumimoji="0" lang="en-US" altLang="zh-CN" sz="1600" b="1" i="0" u="none" strike="noStrike" kern="1200" cap="none" spc="0" normalizeH="0" baseline="0" noProof="0" dirty="0">
                  <a:ln>
                    <a:noFill/>
                  </a:ln>
                  <a:solidFill>
                    <a:prstClr val="black"/>
                  </a:solidFill>
                  <a:effectLst/>
                  <a:uLnTx/>
                  <a:uFillTx/>
                  <a:latin typeface="+mn-ea"/>
                  <a:cs typeface="+mn-cs"/>
                </a:rPr>
                <a:t> 2019</a:t>
              </a:r>
            </a:p>
          </p:txBody>
        </p:sp>
        <p:sp>
          <p:nvSpPr>
            <p:cNvPr id="65" name="文本框 10">
              <a:extLst>
                <a:ext uri="{FF2B5EF4-FFF2-40B4-BE49-F238E27FC236}">
                  <a16:creationId xmlns:a16="http://schemas.microsoft.com/office/drawing/2014/main" id="{7ADC9615-70CA-7109-431C-567079645CB0}"/>
                </a:ext>
              </a:extLst>
            </p:cNvPr>
            <p:cNvSpPr txBox="1"/>
            <p:nvPr/>
          </p:nvSpPr>
          <p:spPr>
            <a:xfrm>
              <a:off x="9976870" y="1854994"/>
              <a:ext cx="888064"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mn-ea"/>
                </a:rPr>
                <a:t>Dec</a:t>
              </a:r>
              <a:r>
                <a:rPr kumimoji="0" lang="en-US" altLang="zh-CN" sz="1600" b="1" i="0" u="none" strike="noStrike" kern="1200" cap="none" spc="0" normalizeH="0" baseline="0" noProof="0" dirty="0">
                  <a:ln>
                    <a:noFill/>
                  </a:ln>
                  <a:solidFill>
                    <a:prstClr val="black"/>
                  </a:solidFill>
                  <a:effectLst/>
                  <a:uLnTx/>
                  <a:uFillTx/>
                  <a:latin typeface="+mn-ea"/>
                  <a:cs typeface="+mn-cs"/>
                </a:rPr>
                <a:t> 2026</a:t>
              </a:r>
            </a:p>
          </p:txBody>
        </p:sp>
      </p:grpSp>
      <p:sp>
        <p:nvSpPr>
          <p:cNvPr id="67" name="文本框 9">
            <a:extLst>
              <a:ext uri="{FF2B5EF4-FFF2-40B4-BE49-F238E27FC236}">
                <a16:creationId xmlns:a16="http://schemas.microsoft.com/office/drawing/2014/main" id="{7F4B0925-E451-E5BA-2E72-808D8143D8FE}"/>
              </a:ext>
            </a:extLst>
          </p:cNvPr>
          <p:cNvSpPr txBox="1"/>
          <p:nvPr/>
        </p:nvSpPr>
        <p:spPr>
          <a:xfrm>
            <a:off x="5251965" y="1701920"/>
            <a:ext cx="3574998" cy="553998"/>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altLang="zh-CN" sz="1200" b="1" dirty="0">
                <a:solidFill>
                  <a:schemeClr val="bg1"/>
                </a:solidFill>
                <a:latin typeface="+mn-ea"/>
              </a:rPr>
              <a:t>Incidence rates</a:t>
            </a:r>
          </a:p>
          <a:p>
            <a:pPr marL="171450" lvl="0" indent="-171450">
              <a:buFont typeface="Arial" panose="020B0604020202020204" pitchFamily="34" charset="0"/>
              <a:buChar char="•"/>
              <a:defRPr/>
            </a:pPr>
            <a:r>
              <a:rPr lang="en-US" altLang="zh-CN" sz="1200" b="1" dirty="0">
                <a:solidFill>
                  <a:schemeClr val="bg1"/>
                </a:solidFill>
                <a:latin typeface="+mn-ea"/>
              </a:rPr>
              <a:t>Patient journey and treatment patterns</a:t>
            </a:r>
            <a:endParaRPr lang="en-US" altLang="zh-CN" sz="1200" b="1" dirty="0">
              <a:solidFill>
                <a:prstClr val="white"/>
              </a:solidFill>
              <a:latin typeface="Boehringer Forward Text"/>
            </a:endParaRPr>
          </a:p>
          <a:p>
            <a:pPr marL="171450" lvl="0" indent="-171450">
              <a:buFont typeface="Arial" panose="020B0604020202020204" pitchFamily="34" charset="0"/>
              <a:buChar char="•"/>
              <a:defRPr/>
            </a:pPr>
            <a:r>
              <a:rPr kumimoji="0" lang="en-US" altLang="zh-CN" sz="1200" b="1" i="0" u="none" strike="noStrike" kern="1200" cap="none" spc="0" normalizeH="0" baseline="0" noProof="0" dirty="0">
                <a:ln>
                  <a:noFill/>
                </a:ln>
                <a:solidFill>
                  <a:prstClr val="white"/>
                </a:solidFill>
                <a:effectLst/>
                <a:uLnTx/>
                <a:uFillTx/>
                <a:latin typeface="Boehringer Forward Text"/>
                <a:ea typeface="+mn-ea"/>
                <a:cs typeface="+mn-cs"/>
              </a:rPr>
              <a:t>HCRU and direct medical cost</a:t>
            </a:r>
            <a:endParaRPr kumimoji="0" lang="zh-CN" altLang="en-US" sz="1200" b="1" i="0" u="none" strike="noStrike" kern="1200" cap="none" spc="0" normalizeH="0" baseline="0" noProof="0" dirty="0">
              <a:ln>
                <a:noFill/>
              </a:ln>
              <a:solidFill>
                <a:prstClr val="white"/>
              </a:solidFill>
              <a:effectLst/>
              <a:uLnTx/>
              <a:uFillTx/>
              <a:latin typeface="Boehringer Forward Text"/>
              <a:ea typeface="+mn-ea"/>
              <a:cs typeface="+mn-cs"/>
            </a:endParaRPr>
          </a:p>
        </p:txBody>
      </p:sp>
    </p:spTree>
    <p:extLst>
      <p:ext uri="{BB962C8B-B14F-4D97-AF65-F5344CB8AC3E}">
        <p14:creationId xmlns:p14="http://schemas.microsoft.com/office/powerpoint/2010/main" val="356565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4981-6757-1B2B-775C-1346825E6A9F}"/>
              </a:ext>
            </a:extLst>
          </p:cNvPr>
          <p:cNvSpPr>
            <a:spLocks noGrp="1"/>
          </p:cNvSpPr>
          <p:nvPr>
            <p:ph type="title"/>
          </p:nvPr>
        </p:nvSpPr>
        <p:spPr>
          <a:xfrm>
            <a:off x="479441" y="696075"/>
            <a:ext cx="11233151" cy="720000"/>
          </a:xfrm>
        </p:spPr>
        <p:txBody>
          <a:bodyPr/>
          <a:lstStyle/>
          <a:p>
            <a:r>
              <a:rPr lang="en-US" altLang="zh-CN" sz="2800" dirty="0">
                <a:solidFill>
                  <a:schemeClr val="tx1">
                    <a:lumMod val="85000"/>
                    <a:lumOff val="15000"/>
                  </a:schemeClr>
                </a:solidFill>
              </a:rPr>
              <a:t>Data Analysis</a:t>
            </a:r>
            <a:endParaRPr lang="zh-CN" altLang="en-US" sz="2800" dirty="0">
              <a:solidFill>
                <a:schemeClr val="tx1">
                  <a:lumMod val="85000"/>
                  <a:lumOff val="15000"/>
                </a:schemeClr>
              </a:solidFill>
            </a:endParaRPr>
          </a:p>
        </p:txBody>
      </p:sp>
      <p:sp>
        <p:nvSpPr>
          <p:cNvPr id="5" name="Slide Number Placeholder 4">
            <a:extLst>
              <a:ext uri="{FF2B5EF4-FFF2-40B4-BE49-F238E27FC236}">
                <a16:creationId xmlns:a16="http://schemas.microsoft.com/office/drawing/2014/main" id="{F78C233D-DE7B-2049-427E-C8D3D15E8BFC}"/>
              </a:ext>
            </a:extLst>
          </p:cNvPr>
          <p:cNvSpPr>
            <a:spLocks noGrp="1"/>
          </p:cNvSpPr>
          <p:nvPr>
            <p:ph type="sldNum" sz="quarter" idx="17"/>
          </p:nvPr>
        </p:nvSpPr>
        <p:spPr/>
        <p:txBody>
          <a:bodyPr/>
          <a:lstStyle/>
          <a:p>
            <a:fld id="{8FF9B0DE-3FEB-4AA0-B465-B80EF7C1333D}" type="slidenum">
              <a:rPr lang="en-US" smtClean="0"/>
              <a:pPr/>
              <a:t>9</a:t>
            </a:fld>
            <a:endParaRPr lang="en-US"/>
          </a:p>
        </p:txBody>
      </p:sp>
      <p:sp>
        <p:nvSpPr>
          <p:cNvPr id="8" name="TextBox 7">
            <a:extLst>
              <a:ext uri="{FF2B5EF4-FFF2-40B4-BE49-F238E27FC236}">
                <a16:creationId xmlns:a16="http://schemas.microsoft.com/office/drawing/2014/main" id="{CDFD5303-E606-65BC-984D-8221FC031225}"/>
              </a:ext>
            </a:extLst>
          </p:cNvPr>
          <p:cNvSpPr txBox="1"/>
          <p:nvPr/>
        </p:nvSpPr>
        <p:spPr bwMode="gray">
          <a:xfrm>
            <a:off x="609600" y="1566952"/>
            <a:ext cx="10776892" cy="3831818"/>
          </a:xfrm>
          <a:prstGeom prst="rect">
            <a:avLst/>
          </a:prstGeom>
          <a:noFill/>
        </p:spPr>
        <p:txBody>
          <a:bodyPr wrap="square" lIns="0" tIns="0" rIns="0" bIns="0" rtlCol="0">
            <a:spAutoFit/>
          </a:bodyPr>
          <a:lstStyle/>
          <a:p>
            <a:pPr marL="171450" indent="-171450">
              <a:spcAft>
                <a:spcPts val="600"/>
              </a:spcAft>
              <a:buFont typeface="Arial" panose="020B0604020202020204" pitchFamily="34" charset="0"/>
              <a:buChar char="•"/>
            </a:pPr>
            <a:r>
              <a:rPr lang="en-US" altLang="zh-CN" sz="1400" dirty="0">
                <a:latin typeface="+mn-ea"/>
              </a:rPr>
              <a:t>The prevalence and incidence (along with 95% CIs) of SSc patients among general population will be calculated</a:t>
            </a:r>
          </a:p>
          <a:p>
            <a:pPr marL="628650" lvl="1" indent="-171450">
              <a:spcAft>
                <a:spcPts val="600"/>
              </a:spcAft>
              <a:buFont typeface="Arial" panose="020B0604020202020204" pitchFamily="34" charset="0"/>
              <a:buChar char="•"/>
            </a:pPr>
            <a:r>
              <a:rPr lang="en-US" altLang="zh-CN" sz="1400" dirty="0">
                <a:latin typeface="+mn-ea"/>
              </a:rPr>
              <a:t>Year-by-year prevalence and incidence of SSc between 2020 and 2026</a:t>
            </a:r>
          </a:p>
          <a:p>
            <a:pPr>
              <a:spcAft>
                <a:spcPts val="600"/>
              </a:spcAft>
            </a:pPr>
            <a:endParaRPr lang="en-US" altLang="zh-CN" sz="1400" dirty="0">
              <a:highlight>
                <a:srgbClr val="FFFF00"/>
              </a:highlight>
              <a:latin typeface="+mn-ea"/>
            </a:endParaRPr>
          </a:p>
          <a:p>
            <a:pPr marL="171450" indent="-171450">
              <a:spcAft>
                <a:spcPts val="600"/>
              </a:spcAft>
              <a:buFont typeface="Arial" panose="020B0604020202020204" pitchFamily="34" charset="0"/>
              <a:buChar char="•"/>
            </a:pPr>
            <a:r>
              <a:rPr lang="en-US" altLang="zh-CN" sz="1400" dirty="0">
                <a:latin typeface="+mn-ea"/>
              </a:rPr>
              <a:t>Demographic characteristics, clinical characteristics, patient journey, treatment patterns, direct medical cost and HCRU of SSc patients will be described​ as descriptive analysis</a:t>
            </a:r>
            <a:endParaRPr lang="en-US" altLang="zh-CN" sz="1400" b="1" dirty="0">
              <a:latin typeface="+mn-ea"/>
            </a:endParaRPr>
          </a:p>
          <a:p>
            <a:pPr marL="465455" lvl="1" indent="-285750">
              <a:spcAft>
                <a:spcPts val="600"/>
              </a:spcAft>
              <a:buFont typeface="Arial" panose="020B0604020202020204" pitchFamily="34" charset="0"/>
              <a:buChar char="•"/>
            </a:pPr>
            <a:r>
              <a:rPr lang="en-US" altLang="zh-CN" sz="1400" dirty="0">
                <a:latin typeface="+mn-ea"/>
              </a:rPr>
              <a:t>Mean ± standard deviation (SD) for normally distributed continuous variables</a:t>
            </a:r>
          </a:p>
          <a:p>
            <a:pPr marL="465455" lvl="1" indent="-285750">
              <a:spcAft>
                <a:spcPts val="600"/>
              </a:spcAft>
              <a:buFont typeface="Arial" panose="020B0604020202020204" pitchFamily="34" charset="0"/>
              <a:buChar char="•"/>
            </a:pPr>
            <a:r>
              <a:rPr lang="en-US" altLang="zh-CN" sz="1400" dirty="0">
                <a:latin typeface="+mn-ea"/>
              </a:rPr>
              <a:t>Median (interquartile range [IQR]) for non-normally distributed data</a:t>
            </a:r>
          </a:p>
          <a:p>
            <a:pPr marL="465455" lvl="1" indent="-285750">
              <a:spcAft>
                <a:spcPts val="600"/>
              </a:spcAft>
              <a:buFont typeface="Arial" panose="020B0604020202020204" pitchFamily="34" charset="0"/>
              <a:buChar char="•"/>
            </a:pPr>
            <a:r>
              <a:rPr lang="en-US" altLang="zh-CN" sz="1400" dirty="0">
                <a:latin typeface="+mn-ea"/>
              </a:rPr>
              <a:t>Percentages for categorical variables</a:t>
            </a:r>
          </a:p>
          <a:p>
            <a:pPr marL="171450" indent="-171450">
              <a:spcAft>
                <a:spcPts val="600"/>
              </a:spcAft>
              <a:buFont typeface="Arial" panose="020B0604020202020204" pitchFamily="34" charset="0"/>
              <a:buChar char="•"/>
            </a:pPr>
            <a:endParaRPr lang="en-US" altLang="zh-CN" sz="1400" dirty="0">
              <a:latin typeface="+mn-ea"/>
            </a:endParaRPr>
          </a:p>
          <a:p>
            <a:pPr>
              <a:spcAft>
                <a:spcPts val="600"/>
              </a:spcAft>
            </a:pPr>
            <a:endParaRPr lang="en-US" altLang="zh-CN" sz="1400" dirty="0">
              <a:latin typeface="+mn-ea"/>
            </a:endParaRPr>
          </a:p>
          <a:p>
            <a:pPr>
              <a:spcAft>
                <a:spcPts val="600"/>
              </a:spcAft>
            </a:pPr>
            <a:endParaRPr lang="en-US" altLang="zh-CN" sz="1400" dirty="0">
              <a:latin typeface="+mn-ea"/>
            </a:endParaRPr>
          </a:p>
          <a:p>
            <a:pPr>
              <a:spcAft>
                <a:spcPts val="600"/>
              </a:spcAft>
            </a:pPr>
            <a:endParaRPr lang="en-US" altLang="zh-CN" sz="1200" dirty="0">
              <a:latin typeface="+mn-ea"/>
            </a:endParaRPr>
          </a:p>
          <a:p>
            <a:pPr>
              <a:spcAft>
                <a:spcPts val="600"/>
              </a:spcAft>
            </a:pPr>
            <a:r>
              <a:rPr lang="en-US" altLang="zh-CN" sz="1400" dirty="0">
                <a:latin typeface="+mn-ea"/>
              </a:rPr>
              <a:t>*Outcomes will be stratified according to age, gender and calendar year where applicable. A detailed statistical analysis plan will be provided in the protocol</a:t>
            </a:r>
          </a:p>
        </p:txBody>
      </p:sp>
    </p:spTree>
    <p:extLst>
      <p:ext uri="{BB962C8B-B14F-4D97-AF65-F5344CB8AC3E}">
        <p14:creationId xmlns:p14="http://schemas.microsoft.com/office/powerpoint/2010/main" val="1014201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iekt 3" hidden="1">
            <a:extLst>
              <a:ext uri="{FF2B5EF4-FFF2-40B4-BE49-F238E27FC236}">
                <a16:creationId xmlns:a16="http://schemas.microsoft.com/office/drawing/2014/main" id="{B1113471-D478-4F70-AD1C-AB5B7B8314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99" imgH="399" progId="TCLayout.ActiveDocument.1">
                  <p:embed/>
                </p:oleObj>
              </mc:Choice>
              <mc:Fallback>
                <p:oleObj name="think-cell Folie" r:id="rId5" imgW="399" imgH="399" progId="TCLayout.ActiveDocument.1">
                  <p:embed/>
                  <p:pic>
                    <p:nvPicPr>
                      <p:cNvPr id="4" name="Obiekt 3" hidden="1">
                        <a:extLst>
                          <a:ext uri="{FF2B5EF4-FFF2-40B4-BE49-F238E27FC236}">
                            <a16:creationId xmlns:a16="http://schemas.microsoft.com/office/drawing/2014/main" id="{B1113471-D478-4F70-AD1C-AB5B7B83146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Prostokąt 2" hidden="1">
            <a:extLst>
              <a:ext uri="{FF2B5EF4-FFF2-40B4-BE49-F238E27FC236}">
                <a16:creationId xmlns:a16="http://schemas.microsoft.com/office/drawing/2014/main" id="{7F43898E-F1B5-4619-89C6-3A92D40FA4F8}"/>
              </a:ext>
            </a:extLst>
          </p:cNvPr>
          <p:cNvSpPr/>
          <p:nvPr>
            <p:custDataLst>
              <p:tags r:id="rId2"/>
            </p:custDataLst>
          </p:nvPr>
        </p:nvSpPr>
        <p:spPr>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1" name="Titel 10">
            <a:extLst>
              <a:ext uri="{FF2B5EF4-FFF2-40B4-BE49-F238E27FC236}">
                <a16:creationId xmlns:a16="http://schemas.microsoft.com/office/drawing/2014/main" id="{9DED22F0-7C9C-435B-5798-C83C37D0847F}"/>
              </a:ext>
            </a:extLst>
          </p:cNvPr>
          <p:cNvSpPr>
            <a:spLocks noGrp="1"/>
          </p:cNvSpPr>
          <p:nvPr>
            <p:ph type="title"/>
          </p:nvPr>
        </p:nvSpPr>
        <p:spPr bwMode="gray">
          <a:xfrm>
            <a:off x="477794" y="469996"/>
            <a:ext cx="11233151" cy="720000"/>
          </a:xfrm>
        </p:spPr>
        <p:txBody>
          <a:bodyPr/>
          <a:lstStyle/>
          <a:p>
            <a:r>
              <a:rPr lang="en-US" sz="2800" dirty="0">
                <a:solidFill>
                  <a:schemeClr val="tx1">
                    <a:lumMod val="95000"/>
                    <a:lumOff val="5000"/>
                  </a:schemeClr>
                </a:solidFill>
              </a:rPr>
              <a:t>Timeline/Milestones and Budgets</a:t>
            </a:r>
          </a:p>
        </p:txBody>
      </p:sp>
      <p:sp>
        <p:nvSpPr>
          <p:cNvPr id="6" name="Fußzeilenplatzhalter 5">
            <a:extLst>
              <a:ext uri="{FF2B5EF4-FFF2-40B4-BE49-F238E27FC236}">
                <a16:creationId xmlns:a16="http://schemas.microsoft.com/office/drawing/2014/main" id="{9CB8603A-E279-3440-8BCE-DA5DFC43E200}"/>
              </a:ext>
            </a:extLst>
          </p:cNvPr>
          <p:cNvSpPr>
            <a:spLocks noGrp="1"/>
          </p:cNvSpPr>
          <p:nvPr>
            <p:ph type="ftr" sz="quarter" idx="10"/>
          </p:nvPr>
        </p:nvSpPr>
        <p:spPr bwMode="gray">
          <a:xfrm>
            <a:off x="6312024"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799" b="0" i="0" u="none" strike="noStrike" kern="1200" cap="none" spc="0" normalizeH="0" baseline="0" noProof="0" dirty="0">
                <a:ln>
                  <a:noFill/>
                </a:ln>
                <a:solidFill>
                  <a:srgbClr val="08312A"/>
                </a:solidFill>
                <a:effectLst/>
                <a:uLnTx/>
                <a:uFillTx/>
                <a:latin typeface="Boehringer Forward Text"/>
                <a:ea typeface="+mn-ea"/>
                <a:cs typeface="+mn-cs"/>
              </a:rPr>
              <a:t>|      ONLY FOR INTERNAL USE</a:t>
            </a:r>
          </a:p>
        </p:txBody>
      </p:sp>
      <p:sp>
        <p:nvSpPr>
          <p:cNvPr id="7" name="Foliennummernplatzhalter 6">
            <a:extLst>
              <a:ext uri="{FF2B5EF4-FFF2-40B4-BE49-F238E27FC236}">
                <a16:creationId xmlns:a16="http://schemas.microsoft.com/office/drawing/2014/main" id="{E6798797-CE04-FCA7-7A89-0E0C40884CEC}"/>
              </a:ext>
            </a:extLst>
          </p:cNvPr>
          <p:cNvSpPr>
            <a:spLocks noGrp="1"/>
          </p:cNvSpPr>
          <p:nvPr>
            <p:ph type="sldNum" sz="quarter" idx="11"/>
          </p:nvPr>
        </p:nvSpPr>
        <p:spPr bwMode="gray">
          <a:xfrm>
            <a:off x="11424592"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799"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799" b="0" i="0"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14" name="Gerader Verbinder 13">
            <a:extLst>
              <a:ext uri="{FF2B5EF4-FFF2-40B4-BE49-F238E27FC236}">
                <a16:creationId xmlns:a16="http://schemas.microsoft.com/office/drawing/2014/main" id="{34A127BF-6D2E-1592-FFF8-44E4242F0341}"/>
              </a:ext>
            </a:extLst>
          </p:cNvPr>
          <p:cNvCxnSpPr>
            <a:cxnSpLocks/>
          </p:cNvCxnSpPr>
          <p:nvPr/>
        </p:nvCxnSpPr>
        <p:spPr bwMode="gray">
          <a:xfrm>
            <a:off x="96354" y="3184361"/>
            <a:ext cx="11712575"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15" name="Textplatzhalter 2">
            <a:extLst>
              <a:ext uri="{FF2B5EF4-FFF2-40B4-BE49-F238E27FC236}">
                <a16:creationId xmlns:a16="http://schemas.microsoft.com/office/drawing/2014/main" id="{8B52D360-81E7-E758-FF2F-7E8AFB10EDA2}"/>
              </a:ext>
            </a:extLst>
          </p:cNvPr>
          <p:cNvSpPr txBox="1">
            <a:spLocks/>
          </p:cNvSpPr>
          <p:nvPr/>
        </p:nvSpPr>
        <p:spPr bwMode="gray">
          <a:xfrm>
            <a:off x="436858" y="4200568"/>
            <a:ext cx="1656000" cy="1025442"/>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400" b="1" dirty="0">
                <a:solidFill>
                  <a:prstClr val="black"/>
                </a:solidFill>
                <a:latin typeface="Boehringer Forward Text"/>
              </a:rPr>
              <a:t>CEC/PEC</a:t>
            </a:r>
            <a:endParaRPr kumimoji="0" lang="en-US" sz="1400" b="1" i="0" u="none" strike="noStrike" kern="1200" cap="none" spc="0" normalizeH="0" baseline="0" noProof="0" dirty="0">
              <a:ln>
                <a:noFill/>
              </a:ln>
              <a:solidFill>
                <a:prstClr val="black"/>
              </a:solidFill>
              <a:effectLst/>
              <a:uLnTx/>
              <a:uFillTx/>
              <a:latin typeface="Boehringer Forward Text"/>
              <a:ea typeface="+mn-ea"/>
              <a:cs typeface="+mn-cs"/>
            </a:endParaRPr>
          </a:p>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Boehringer Forward Text"/>
                <a:ea typeface="+mn-ea"/>
                <a:cs typeface="+mn-cs"/>
              </a:rPr>
              <a:t>Project planning and concept endorsement</a:t>
            </a:r>
          </a:p>
        </p:txBody>
      </p:sp>
      <p:sp>
        <p:nvSpPr>
          <p:cNvPr id="16" name="Textplatzhalter 2">
            <a:extLst>
              <a:ext uri="{FF2B5EF4-FFF2-40B4-BE49-F238E27FC236}">
                <a16:creationId xmlns:a16="http://schemas.microsoft.com/office/drawing/2014/main" id="{98426FD2-3DAC-5A77-7B8B-D1E1E2C3F125}"/>
              </a:ext>
            </a:extLst>
          </p:cNvPr>
          <p:cNvSpPr txBox="1">
            <a:spLocks/>
          </p:cNvSpPr>
          <p:nvPr/>
        </p:nvSpPr>
        <p:spPr bwMode="gray">
          <a:xfrm>
            <a:off x="2391684" y="4200568"/>
            <a:ext cx="1620000" cy="101621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Boehringer Forward Text"/>
                <a:ea typeface="+mn-ea"/>
                <a:cs typeface="+mn-cs"/>
              </a:rPr>
              <a:t>Proposal release</a:t>
            </a:r>
          </a:p>
          <a:p>
            <a:pPr marL="0" lvl="4" indent="0">
              <a:lnSpc>
                <a:spcPct val="100000"/>
              </a:lnSpc>
              <a:buNone/>
              <a:defRPr/>
            </a:pPr>
            <a:r>
              <a:rPr lang="en-US" altLang="zh-CN" sz="1400" dirty="0">
                <a:solidFill>
                  <a:prstClr val="black"/>
                </a:solidFill>
              </a:rPr>
              <a:t>Hybrid review and budget release</a:t>
            </a:r>
          </a:p>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7" name="Textplatzhalter 2">
            <a:extLst>
              <a:ext uri="{FF2B5EF4-FFF2-40B4-BE49-F238E27FC236}">
                <a16:creationId xmlns:a16="http://schemas.microsoft.com/office/drawing/2014/main" id="{3D3632E4-9DE1-F2B8-394E-9184261C3B5C}"/>
              </a:ext>
            </a:extLst>
          </p:cNvPr>
          <p:cNvSpPr txBox="1">
            <a:spLocks/>
          </p:cNvSpPr>
          <p:nvPr/>
        </p:nvSpPr>
        <p:spPr bwMode="gray">
          <a:xfrm>
            <a:off x="4299822" y="4200568"/>
            <a:ext cx="1620000" cy="101621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400" b="1" dirty="0">
                <a:solidFill>
                  <a:prstClr val="black"/>
                </a:solidFill>
                <a:latin typeface="Boehringer Forward Text"/>
              </a:rPr>
              <a:t>Protocol</a:t>
            </a:r>
            <a:r>
              <a:rPr kumimoji="0" lang="en-US" sz="1400" b="1" i="0" u="none" strike="noStrike" kern="1200" cap="none" spc="0" normalizeH="0" baseline="0" noProof="0" dirty="0">
                <a:ln>
                  <a:noFill/>
                </a:ln>
                <a:solidFill>
                  <a:prstClr val="black"/>
                </a:solidFill>
                <a:effectLst/>
                <a:uLnTx/>
                <a:uFillTx/>
                <a:latin typeface="Boehringer Forward Text"/>
                <a:ea typeface="+mn-ea"/>
                <a:cs typeface="+mn-cs"/>
              </a:rPr>
              <a:t> review and approval</a:t>
            </a:r>
          </a:p>
        </p:txBody>
      </p:sp>
      <p:pic>
        <p:nvPicPr>
          <p:cNvPr id="18" name="Grafik 17">
            <a:extLst>
              <a:ext uri="{FF2B5EF4-FFF2-40B4-BE49-F238E27FC236}">
                <a16:creationId xmlns:a16="http://schemas.microsoft.com/office/drawing/2014/main" id="{6C3EAAA3-B654-6FA8-8B23-444E7905D7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bwMode="gray">
          <a:xfrm>
            <a:off x="447394" y="2320265"/>
            <a:ext cx="576000" cy="576000"/>
          </a:xfrm>
          <a:prstGeom prst="rect">
            <a:avLst/>
          </a:prstGeom>
        </p:spPr>
      </p:pic>
      <p:pic>
        <p:nvPicPr>
          <p:cNvPr id="19" name="Grafik 18">
            <a:extLst>
              <a:ext uri="{FF2B5EF4-FFF2-40B4-BE49-F238E27FC236}">
                <a16:creationId xmlns:a16="http://schemas.microsoft.com/office/drawing/2014/main" id="{04AFC841-284E-6BBF-9EBE-FA3AD8494A2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bwMode="gray">
          <a:xfrm>
            <a:off x="2391684" y="2320265"/>
            <a:ext cx="576000" cy="576000"/>
          </a:xfrm>
          <a:prstGeom prst="rect">
            <a:avLst/>
          </a:prstGeom>
        </p:spPr>
      </p:pic>
      <p:pic>
        <p:nvPicPr>
          <p:cNvPr id="20" name="Grafik 19">
            <a:extLst>
              <a:ext uri="{FF2B5EF4-FFF2-40B4-BE49-F238E27FC236}">
                <a16:creationId xmlns:a16="http://schemas.microsoft.com/office/drawing/2014/main" id="{E96444D4-B100-D302-D202-1F07D5EA79B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bwMode="gray">
          <a:xfrm>
            <a:off x="4299822" y="2320265"/>
            <a:ext cx="576000" cy="576000"/>
          </a:xfrm>
          <a:prstGeom prst="rect">
            <a:avLst/>
          </a:prstGeom>
        </p:spPr>
      </p:pic>
      <p:sp>
        <p:nvSpPr>
          <p:cNvPr id="21" name="Textplatzhalter 2">
            <a:extLst>
              <a:ext uri="{FF2B5EF4-FFF2-40B4-BE49-F238E27FC236}">
                <a16:creationId xmlns:a16="http://schemas.microsoft.com/office/drawing/2014/main" id="{DD56AA47-8F14-C9C3-EB5E-D9780E1B4E9A}"/>
              </a:ext>
            </a:extLst>
          </p:cNvPr>
          <p:cNvSpPr txBox="1">
            <a:spLocks/>
          </p:cNvSpPr>
          <p:nvPr/>
        </p:nvSpPr>
        <p:spPr bwMode="gray">
          <a:xfrm>
            <a:off x="6208070" y="4200568"/>
            <a:ext cx="1620000" cy="1033257"/>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Boehringer Forward Text"/>
                <a:ea typeface="+mn-ea"/>
                <a:cs typeface="+mn-cs"/>
              </a:rPr>
              <a:t>Data extraction </a:t>
            </a:r>
            <a:r>
              <a:rPr lang="en-US" sz="1400" b="1" dirty="0">
                <a:solidFill>
                  <a:prstClr val="black"/>
                </a:solidFill>
                <a:latin typeface="Boehringer Forward Text"/>
              </a:rPr>
              <a:t>ends</a:t>
            </a:r>
            <a:endParaRPr kumimoji="0" lang="en-US" sz="14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2" name="Textplatzhalter 2">
            <a:extLst>
              <a:ext uri="{FF2B5EF4-FFF2-40B4-BE49-F238E27FC236}">
                <a16:creationId xmlns:a16="http://schemas.microsoft.com/office/drawing/2014/main" id="{199CDB6F-0DC4-7E47-1D09-89FB8DEB5438}"/>
              </a:ext>
            </a:extLst>
          </p:cNvPr>
          <p:cNvSpPr txBox="1">
            <a:spLocks/>
          </p:cNvSpPr>
          <p:nvPr/>
        </p:nvSpPr>
        <p:spPr bwMode="gray">
          <a:xfrm>
            <a:off x="8116263" y="4200569"/>
            <a:ext cx="1620000" cy="101621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Boehringer Forward Text"/>
                <a:ea typeface="+mn-ea"/>
                <a:cs typeface="+mn-cs"/>
              </a:rPr>
              <a:t>Data analysis and abstract</a:t>
            </a:r>
          </a:p>
        </p:txBody>
      </p:sp>
      <p:sp>
        <p:nvSpPr>
          <p:cNvPr id="23" name="Textplatzhalter 2">
            <a:extLst>
              <a:ext uri="{FF2B5EF4-FFF2-40B4-BE49-F238E27FC236}">
                <a16:creationId xmlns:a16="http://schemas.microsoft.com/office/drawing/2014/main" id="{E872B040-3BA1-1502-9B49-F2F4A4FF2851}"/>
              </a:ext>
            </a:extLst>
          </p:cNvPr>
          <p:cNvSpPr txBox="1">
            <a:spLocks/>
          </p:cNvSpPr>
          <p:nvPr/>
        </p:nvSpPr>
        <p:spPr bwMode="gray">
          <a:xfrm>
            <a:off x="10033992" y="4056175"/>
            <a:ext cx="1656000" cy="1277834"/>
          </a:xfrm>
          <a:prstGeom prst="rect">
            <a:avLst/>
          </a:prstGeom>
        </p:spPr>
        <p:txBody>
          <a:bodyPr vert="horz" lIns="144000" tIns="14400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Boehringer Forward Text"/>
                <a:ea typeface="+mn-ea"/>
                <a:cs typeface="+mn-cs"/>
              </a:rPr>
              <a:t>Final report and communication of results</a:t>
            </a:r>
          </a:p>
          <a:p>
            <a:pPr marL="0" marR="0" lvl="4"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32" name="Textplatzhalter 8">
            <a:extLst>
              <a:ext uri="{FF2B5EF4-FFF2-40B4-BE49-F238E27FC236}">
                <a16:creationId xmlns:a16="http://schemas.microsoft.com/office/drawing/2014/main" id="{EB135C87-2B56-404A-63AF-BEBBB24B31FA}"/>
              </a:ext>
            </a:extLst>
          </p:cNvPr>
          <p:cNvSpPr txBox="1">
            <a:spLocks/>
          </p:cNvSpPr>
          <p:nvPr/>
        </p:nvSpPr>
        <p:spPr bwMode="gray">
          <a:xfrm>
            <a:off x="447498" y="3184361"/>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Apr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2026</a:t>
            </a:r>
          </a:p>
        </p:txBody>
      </p:sp>
      <p:cxnSp>
        <p:nvCxnSpPr>
          <p:cNvPr id="27" name="Gerader Verbinder 26">
            <a:extLst>
              <a:ext uri="{FF2B5EF4-FFF2-40B4-BE49-F238E27FC236}">
                <a16:creationId xmlns:a16="http://schemas.microsoft.com/office/drawing/2014/main" id="{1386965E-4568-7D4E-0514-6C3FFF39433A}"/>
              </a:ext>
            </a:extLst>
          </p:cNvPr>
          <p:cNvCxnSpPr>
            <a:cxnSpLocks/>
          </p:cNvCxnSpPr>
          <p:nvPr/>
        </p:nvCxnSpPr>
        <p:spPr bwMode="gray">
          <a:xfrm flipV="1">
            <a:off x="447419" y="3184360"/>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8268C79C-4FE3-19EC-E850-229D4105BD38}"/>
              </a:ext>
            </a:extLst>
          </p:cNvPr>
          <p:cNvCxnSpPr>
            <a:cxnSpLocks/>
          </p:cNvCxnSpPr>
          <p:nvPr/>
        </p:nvCxnSpPr>
        <p:spPr bwMode="gray">
          <a:xfrm flipV="1">
            <a:off x="2391635" y="3184360"/>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13A4334-92B3-9280-ADFB-AA2663EDEAFC}"/>
              </a:ext>
            </a:extLst>
          </p:cNvPr>
          <p:cNvCxnSpPr>
            <a:cxnSpLocks/>
          </p:cNvCxnSpPr>
          <p:nvPr/>
        </p:nvCxnSpPr>
        <p:spPr bwMode="gray">
          <a:xfrm flipV="1">
            <a:off x="4299822" y="3184360"/>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48" name="Grafik 47">
            <a:extLst>
              <a:ext uri="{FF2B5EF4-FFF2-40B4-BE49-F238E27FC236}">
                <a16:creationId xmlns:a16="http://schemas.microsoft.com/office/drawing/2014/main" id="{104B17A8-E18D-D309-86B2-2438E257B27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bwMode="gray">
          <a:xfrm>
            <a:off x="8116426" y="2320265"/>
            <a:ext cx="576000" cy="576000"/>
          </a:xfrm>
          <a:prstGeom prst="rect">
            <a:avLst/>
          </a:prstGeom>
        </p:spPr>
      </p:pic>
      <p:pic>
        <p:nvPicPr>
          <p:cNvPr id="49" name="Grafik 48">
            <a:extLst>
              <a:ext uri="{FF2B5EF4-FFF2-40B4-BE49-F238E27FC236}">
                <a16:creationId xmlns:a16="http://schemas.microsoft.com/office/drawing/2014/main" id="{B579221B-5AE9-6917-5613-2A21EB23B6A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bwMode="gray">
          <a:xfrm>
            <a:off x="6208214" y="2320265"/>
            <a:ext cx="576000" cy="576000"/>
          </a:xfrm>
          <a:prstGeom prst="rect">
            <a:avLst/>
          </a:prstGeom>
        </p:spPr>
      </p:pic>
      <p:sp>
        <p:nvSpPr>
          <p:cNvPr id="50" name="Textplatzhalter 8">
            <a:extLst>
              <a:ext uri="{FF2B5EF4-FFF2-40B4-BE49-F238E27FC236}">
                <a16:creationId xmlns:a16="http://schemas.microsoft.com/office/drawing/2014/main" id="{703EB0B9-D1C8-BAA5-A353-2057EF40689E}"/>
              </a:ext>
            </a:extLst>
          </p:cNvPr>
          <p:cNvSpPr txBox="1">
            <a:spLocks/>
          </p:cNvSpPr>
          <p:nvPr/>
        </p:nvSpPr>
        <p:spPr bwMode="gray">
          <a:xfrm>
            <a:off x="4299822" y="3184361"/>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dirty="0">
                <a:solidFill>
                  <a:srgbClr val="08312A"/>
                </a:solidFill>
                <a:latin typeface="Boehringer Forward Head"/>
              </a:rPr>
              <a:t>Oct</a:t>
            </a:r>
            <a:endParaRPr kumimoji="0" lang="en-US" sz="2500" b="1" i="0" u="none" strike="noStrike" kern="1200" cap="none" spc="0" normalizeH="0" baseline="0" noProof="0" dirty="0">
              <a:ln>
                <a:noFill/>
              </a:ln>
              <a:solidFill>
                <a:srgbClr val="08312A"/>
              </a:solidFill>
              <a:effectLst/>
              <a:uLnTx/>
              <a:uFillTx/>
              <a:latin typeface="Boehringer Forward Hea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2026</a:t>
            </a:r>
          </a:p>
        </p:txBody>
      </p:sp>
      <p:cxnSp>
        <p:nvCxnSpPr>
          <p:cNvPr id="51" name="Gerader Verbinder 50">
            <a:extLst>
              <a:ext uri="{FF2B5EF4-FFF2-40B4-BE49-F238E27FC236}">
                <a16:creationId xmlns:a16="http://schemas.microsoft.com/office/drawing/2014/main" id="{CDB88EC2-DEFF-A5E1-AFA3-F8A400EC6690}"/>
              </a:ext>
            </a:extLst>
          </p:cNvPr>
          <p:cNvCxnSpPr>
            <a:cxnSpLocks/>
          </p:cNvCxnSpPr>
          <p:nvPr/>
        </p:nvCxnSpPr>
        <p:spPr bwMode="gray">
          <a:xfrm flipV="1">
            <a:off x="6208214" y="3184360"/>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4" name="Textplatzhalter 8">
            <a:extLst>
              <a:ext uri="{FF2B5EF4-FFF2-40B4-BE49-F238E27FC236}">
                <a16:creationId xmlns:a16="http://schemas.microsoft.com/office/drawing/2014/main" id="{BF0ACEFC-FDD7-0F41-F46A-108156DE3DB0}"/>
              </a:ext>
            </a:extLst>
          </p:cNvPr>
          <p:cNvSpPr txBox="1">
            <a:spLocks/>
          </p:cNvSpPr>
          <p:nvPr/>
        </p:nvSpPr>
        <p:spPr bwMode="gray">
          <a:xfrm>
            <a:off x="6208214" y="3184361"/>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Jun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2027</a:t>
            </a:r>
          </a:p>
        </p:txBody>
      </p:sp>
      <p:cxnSp>
        <p:nvCxnSpPr>
          <p:cNvPr id="56" name="Gerader Verbinder 55">
            <a:extLst>
              <a:ext uri="{FF2B5EF4-FFF2-40B4-BE49-F238E27FC236}">
                <a16:creationId xmlns:a16="http://schemas.microsoft.com/office/drawing/2014/main" id="{5B951E74-AD58-8B37-5B2D-51DE931CAEA0}"/>
              </a:ext>
            </a:extLst>
          </p:cNvPr>
          <p:cNvCxnSpPr>
            <a:cxnSpLocks/>
          </p:cNvCxnSpPr>
          <p:nvPr/>
        </p:nvCxnSpPr>
        <p:spPr bwMode="gray">
          <a:xfrm flipV="1">
            <a:off x="8116246" y="3184360"/>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9" name="Textplatzhalter 8">
            <a:extLst>
              <a:ext uri="{FF2B5EF4-FFF2-40B4-BE49-F238E27FC236}">
                <a16:creationId xmlns:a16="http://schemas.microsoft.com/office/drawing/2014/main" id="{C5FE56AE-2BBE-2AD1-2D55-69A7C885A481}"/>
              </a:ext>
            </a:extLst>
          </p:cNvPr>
          <p:cNvSpPr txBox="1">
            <a:spLocks/>
          </p:cNvSpPr>
          <p:nvPr/>
        </p:nvSpPr>
        <p:spPr bwMode="gray">
          <a:xfrm>
            <a:off x="8116426" y="3184361"/>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dirty="0">
                <a:solidFill>
                  <a:srgbClr val="08312A"/>
                </a:solidFill>
                <a:latin typeface="Boehringer Forward Head"/>
              </a:rPr>
              <a:t>Nov</a:t>
            </a:r>
            <a:endParaRPr kumimoji="0" lang="en-US" sz="2500" b="1" i="0" u="none" strike="noStrike" kern="1200" cap="none" spc="0" normalizeH="0" baseline="0" noProof="0" dirty="0">
              <a:ln>
                <a:noFill/>
              </a:ln>
              <a:solidFill>
                <a:srgbClr val="08312A"/>
              </a:solidFill>
              <a:effectLst/>
              <a:uLnTx/>
              <a:uFillTx/>
              <a:latin typeface="Boehringer Forward Hea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2027</a:t>
            </a:r>
          </a:p>
        </p:txBody>
      </p:sp>
      <p:sp>
        <p:nvSpPr>
          <p:cNvPr id="315393" name="Textplatzhalter 8">
            <a:extLst>
              <a:ext uri="{FF2B5EF4-FFF2-40B4-BE49-F238E27FC236}">
                <a16:creationId xmlns:a16="http://schemas.microsoft.com/office/drawing/2014/main" id="{EC19A6B4-6175-0C26-090F-FC2C20AE8C72}"/>
              </a:ext>
            </a:extLst>
          </p:cNvPr>
          <p:cNvSpPr txBox="1">
            <a:spLocks/>
          </p:cNvSpPr>
          <p:nvPr/>
        </p:nvSpPr>
        <p:spPr bwMode="gray">
          <a:xfrm>
            <a:off x="10024642" y="3184361"/>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dirty="0">
                <a:solidFill>
                  <a:srgbClr val="08312A"/>
                </a:solidFill>
                <a:latin typeface="Boehringer Forward Head"/>
              </a:rPr>
              <a:t>Jan</a:t>
            </a:r>
            <a:endParaRPr kumimoji="0" lang="en-US" sz="2500" b="1" i="0" u="none" strike="noStrike" kern="1200" cap="none" spc="0" normalizeH="0" baseline="0" noProof="0" dirty="0">
              <a:ln>
                <a:noFill/>
              </a:ln>
              <a:solidFill>
                <a:srgbClr val="08312A"/>
              </a:solidFill>
              <a:effectLst/>
              <a:uLnTx/>
              <a:uFillTx/>
              <a:latin typeface="Boehringer Forward Hea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2028</a:t>
            </a:r>
          </a:p>
        </p:txBody>
      </p:sp>
      <p:cxnSp>
        <p:nvCxnSpPr>
          <p:cNvPr id="315395" name="Gerader Verbinder 315394">
            <a:extLst>
              <a:ext uri="{FF2B5EF4-FFF2-40B4-BE49-F238E27FC236}">
                <a16:creationId xmlns:a16="http://schemas.microsoft.com/office/drawing/2014/main" id="{ADD98F6A-DACE-E67E-A983-13731A35A021}"/>
              </a:ext>
            </a:extLst>
          </p:cNvPr>
          <p:cNvCxnSpPr>
            <a:cxnSpLocks/>
          </p:cNvCxnSpPr>
          <p:nvPr/>
        </p:nvCxnSpPr>
        <p:spPr bwMode="gray">
          <a:xfrm flipV="1">
            <a:off x="10024563" y="3184360"/>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315399" name="Grafik 315398">
            <a:extLst>
              <a:ext uri="{FF2B5EF4-FFF2-40B4-BE49-F238E27FC236}">
                <a16:creationId xmlns:a16="http://schemas.microsoft.com/office/drawing/2014/main" id="{D3C05880-C7C4-C419-577F-F41A78C1BAF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bwMode="gray">
          <a:xfrm>
            <a:off x="10024642" y="2320265"/>
            <a:ext cx="576000" cy="576000"/>
          </a:xfrm>
          <a:prstGeom prst="rect">
            <a:avLst/>
          </a:prstGeom>
        </p:spPr>
      </p:pic>
      <p:sp>
        <p:nvSpPr>
          <p:cNvPr id="39" name="Ellipse 38">
            <a:extLst>
              <a:ext uri="{FF2B5EF4-FFF2-40B4-BE49-F238E27FC236}">
                <a16:creationId xmlns:a16="http://schemas.microsoft.com/office/drawing/2014/main" id="{9F09B556-F01B-1117-3675-856E85DD62FF}"/>
              </a:ext>
            </a:extLst>
          </p:cNvPr>
          <p:cNvSpPr>
            <a:spLocks noChangeAspect="1"/>
          </p:cNvSpPr>
          <p:nvPr/>
        </p:nvSpPr>
        <p:spPr bwMode="gray">
          <a:xfrm>
            <a:off x="2338702" y="3131401"/>
            <a:ext cx="108000" cy="108000"/>
          </a:xfrm>
          <a:prstGeom prst="ellipse">
            <a:avLst/>
          </a:prstGeom>
          <a:solidFill>
            <a:srgbClr val="FFFFFF"/>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3" name="Ellipse 42">
            <a:extLst>
              <a:ext uri="{FF2B5EF4-FFF2-40B4-BE49-F238E27FC236}">
                <a16:creationId xmlns:a16="http://schemas.microsoft.com/office/drawing/2014/main" id="{760FCC7A-F11D-5CC0-201D-2B62F2CD023B}"/>
              </a:ext>
            </a:extLst>
          </p:cNvPr>
          <p:cNvSpPr>
            <a:spLocks noChangeAspect="1"/>
          </p:cNvSpPr>
          <p:nvPr/>
        </p:nvSpPr>
        <p:spPr bwMode="gray">
          <a:xfrm>
            <a:off x="393443" y="3131401"/>
            <a:ext cx="108000" cy="108000"/>
          </a:xfrm>
          <a:prstGeom prst="ellipse">
            <a:avLst/>
          </a:prstGeom>
          <a:solidFill>
            <a:schemeClr val="tx2">
              <a:lumMod val="60000"/>
              <a:lumOff val="40000"/>
            </a:schemeClr>
          </a:solidFill>
          <a:ln w="952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6" name="Ellipse 45">
            <a:extLst>
              <a:ext uri="{FF2B5EF4-FFF2-40B4-BE49-F238E27FC236}">
                <a16:creationId xmlns:a16="http://schemas.microsoft.com/office/drawing/2014/main" id="{974D6F8D-9A02-9C76-C9B6-8A8185B4233B}"/>
              </a:ext>
            </a:extLst>
          </p:cNvPr>
          <p:cNvSpPr>
            <a:spLocks noChangeAspect="1"/>
          </p:cNvSpPr>
          <p:nvPr/>
        </p:nvSpPr>
        <p:spPr bwMode="gray">
          <a:xfrm>
            <a:off x="4244780" y="3131401"/>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2" name="Ellipse 51">
            <a:extLst>
              <a:ext uri="{FF2B5EF4-FFF2-40B4-BE49-F238E27FC236}">
                <a16:creationId xmlns:a16="http://schemas.microsoft.com/office/drawing/2014/main" id="{F1394CBA-5969-644F-088B-FDE4DB3892CA}"/>
              </a:ext>
            </a:extLst>
          </p:cNvPr>
          <p:cNvSpPr>
            <a:spLocks noChangeAspect="1"/>
          </p:cNvSpPr>
          <p:nvPr/>
        </p:nvSpPr>
        <p:spPr bwMode="gray">
          <a:xfrm>
            <a:off x="6153172" y="3131401"/>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Ellipse 56">
            <a:extLst>
              <a:ext uri="{FF2B5EF4-FFF2-40B4-BE49-F238E27FC236}">
                <a16:creationId xmlns:a16="http://schemas.microsoft.com/office/drawing/2014/main" id="{53B6B0BB-D32C-E7CE-F19F-33CDF65BA035}"/>
              </a:ext>
            </a:extLst>
          </p:cNvPr>
          <p:cNvSpPr>
            <a:spLocks noChangeAspect="1"/>
          </p:cNvSpPr>
          <p:nvPr/>
        </p:nvSpPr>
        <p:spPr bwMode="gray">
          <a:xfrm>
            <a:off x="8063288" y="3131401"/>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5397" name="Ellipse 315396">
            <a:extLst>
              <a:ext uri="{FF2B5EF4-FFF2-40B4-BE49-F238E27FC236}">
                <a16:creationId xmlns:a16="http://schemas.microsoft.com/office/drawing/2014/main" id="{E838320F-3B52-B421-51E8-61AED173A3FB}"/>
              </a:ext>
            </a:extLst>
          </p:cNvPr>
          <p:cNvSpPr>
            <a:spLocks noChangeAspect="1"/>
          </p:cNvSpPr>
          <p:nvPr/>
        </p:nvSpPr>
        <p:spPr bwMode="gray">
          <a:xfrm>
            <a:off x="9970587" y="3131401"/>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Textplatzhalter 8">
            <a:extLst>
              <a:ext uri="{FF2B5EF4-FFF2-40B4-BE49-F238E27FC236}">
                <a16:creationId xmlns:a16="http://schemas.microsoft.com/office/drawing/2014/main" id="{AA4D9E35-2B5A-F188-6E8E-E857E188F014}"/>
              </a:ext>
            </a:extLst>
          </p:cNvPr>
          <p:cNvSpPr txBox="1">
            <a:spLocks/>
          </p:cNvSpPr>
          <p:nvPr/>
        </p:nvSpPr>
        <p:spPr bwMode="gray">
          <a:xfrm>
            <a:off x="2460236" y="3186987"/>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J</a:t>
            </a:r>
            <a:r>
              <a:rPr kumimoji="0" lang="en-US" altLang="zh-CN" sz="2500" b="1" i="0" u="none" strike="noStrike" kern="1200" cap="none" spc="0" normalizeH="0" baseline="0" noProof="0" dirty="0">
                <a:ln>
                  <a:noFill/>
                </a:ln>
                <a:solidFill>
                  <a:srgbClr val="08312A"/>
                </a:solidFill>
                <a:effectLst/>
                <a:uLnTx/>
                <a:uFillTx/>
                <a:latin typeface="Boehringer Forward Head"/>
                <a:ea typeface="+mn-ea"/>
                <a:cs typeface="+mn-cs"/>
              </a:rPr>
              <a:t>ul</a:t>
            </a: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n-ea"/>
                <a:cs typeface="+mn-cs"/>
              </a:rPr>
              <a:t>2026</a:t>
            </a:r>
          </a:p>
        </p:txBody>
      </p:sp>
      <p:sp>
        <p:nvSpPr>
          <p:cNvPr id="5" name="文本框 4">
            <a:extLst>
              <a:ext uri="{FF2B5EF4-FFF2-40B4-BE49-F238E27FC236}">
                <a16:creationId xmlns:a16="http://schemas.microsoft.com/office/drawing/2014/main" id="{21C5132A-D07C-B7B2-043C-F6390705B947}"/>
              </a:ext>
            </a:extLst>
          </p:cNvPr>
          <p:cNvSpPr txBox="1"/>
          <p:nvPr/>
        </p:nvSpPr>
        <p:spPr bwMode="gray">
          <a:xfrm>
            <a:off x="2391635" y="1319767"/>
            <a:ext cx="7968517" cy="990977"/>
          </a:xfrm>
          <a:prstGeom prst="rect">
            <a:avLst/>
          </a:prstGeom>
          <a:noFill/>
        </p:spPr>
        <p:txBody>
          <a:bodyPr wrap="square" lIns="0" tIns="0" rIns="0" bIns="0" rtlCol="0">
            <a:spAutoFit/>
          </a:bodyPr>
          <a:lstStyle/>
          <a:p>
            <a:pPr>
              <a:lnSpc>
                <a:spcPct val="140000"/>
              </a:lnSpc>
            </a:pPr>
            <a:r>
              <a:rPr lang="en-US" altLang="zh-CN" sz="2400" b="1" dirty="0"/>
              <a:t>Total budget: ~</a:t>
            </a:r>
            <a:r>
              <a:rPr lang="zh-CN" altLang="en-US" sz="2400" dirty="0">
                <a:solidFill>
                  <a:srgbClr val="000000"/>
                </a:solidFill>
                <a:latin typeface="+mn-ea"/>
              </a:rPr>
              <a:t>￥</a:t>
            </a:r>
            <a:r>
              <a:rPr lang="en-US" altLang="zh-CN" sz="2400" b="1" dirty="0">
                <a:solidFill>
                  <a:srgbClr val="000000"/>
                </a:solidFill>
                <a:latin typeface="+mn-ea"/>
              </a:rPr>
              <a:t>1,460,000, </a:t>
            </a:r>
            <a:r>
              <a:rPr lang="en-US" altLang="zh-CN" sz="2400" dirty="0">
                <a:latin typeface="+mn-ea"/>
              </a:rPr>
              <a:t>corporate TA funding</a:t>
            </a:r>
          </a:p>
          <a:p>
            <a:pPr>
              <a:lnSpc>
                <a:spcPct val="140000"/>
              </a:lnSpc>
            </a:pPr>
            <a:r>
              <a:rPr lang="en-US" altLang="zh-CN" sz="2400" b="1" dirty="0"/>
              <a:t> </a:t>
            </a:r>
            <a:endParaRPr lang="zh-CN" altLang="en-US" sz="2400" b="1" dirty="0"/>
          </a:p>
        </p:txBody>
      </p:sp>
      <p:pic>
        <p:nvPicPr>
          <p:cNvPr id="8" name="图形 13" descr="指向右边的反手食指 纯色填充">
            <a:extLst>
              <a:ext uri="{FF2B5EF4-FFF2-40B4-BE49-F238E27FC236}">
                <a16:creationId xmlns:a16="http://schemas.microsoft.com/office/drawing/2014/main" id="{6F5D7E47-BA3B-F5D0-8FFA-21988F8E678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443102" y="5238651"/>
            <a:ext cx="580292" cy="580292"/>
          </a:xfrm>
          <a:prstGeom prst="rect">
            <a:avLst/>
          </a:prstGeom>
        </p:spPr>
      </p:pic>
    </p:spTree>
    <p:extLst>
      <p:ext uri="{BB962C8B-B14F-4D97-AF65-F5344CB8AC3E}">
        <p14:creationId xmlns:p14="http://schemas.microsoft.com/office/powerpoint/2010/main" val="299709628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F3CB-A3ED-1568-3167-C213402C7255}"/>
            </a:ext>
          </a:extLst>
        </p:cNvPr>
        <p:cNvGrpSpPr/>
        <p:nvPr/>
      </p:nvGrpSpPr>
      <p:grpSpPr>
        <a:xfrm>
          <a:off x="0" y="0"/>
          <a:ext cx="0" cy="0"/>
          <a:chOff x="0" y="0"/>
          <a:chExt cx="0" cy="0"/>
        </a:xfrm>
      </p:grpSpPr>
      <p:cxnSp>
        <p:nvCxnSpPr>
          <p:cNvPr id="67" name="直线连接符 66">
            <a:extLst>
              <a:ext uri="{FF2B5EF4-FFF2-40B4-BE49-F238E27FC236}">
                <a16:creationId xmlns:a16="http://schemas.microsoft.com/office/drawing/2014/main" id="{E6B016A8-F602-C211-BB5B-E8C86C2D26BB}"/>
              </a:ext>
            </a:extLst>
          </p:cNvPr>
          <p:cNvCxnSpPr>
            <a:cxnSpLocks/>
          </p:cNvCxnSpPr>
          <p:nvPr/>
        </p:nvCxnSpPr>
        <p:spPr>
          <a:xfrm>
            <a:off x="3798190" y="5772285"/>
            <a:ext cx="0" cy="493641"/>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8" name="直线连接符 67">
            <a:extLst>
              <a:ext uri="{FF2B5EF4-FFF2-40B4-BE49-F238E27FC236}">
                <a16:creationId xmlns:a16="http://schemas.microsoft.com/office/drawing/2014/main" id="{42FC5752-03A2-94B9-27FA-954A68D98955}"/>
              </a:ext>
            </a:extLst>
          </p:cNvPr>
          <p:cNvCxnSpPr>
            <a:cxnSpLocks/>
          </p:cNvCxnSpPr>
          <p:nvPr/>
        </p:nvCxnSpPr>
        <p:spPr>
          <a:xfrm>
            <a:off x="6569744" y="5772285"/>
            <a:ext cx="0" cy="493641"/>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直线连接符 68">
            <a:extLst>
              <a:ext uri="{FF2B5EF4-FFF2-40B4-BE49-F238E27FC236}">
                <a16:creationId xmlns:a16="http://schemas.microsoft.com/office/drawing/2014/main" id="{745BACB3-3547-D902-FE2A-4EEA5912C7D0}"/>
              </a:ext>
            </a:extLst>
          </p:cNvPr>
          <p:cNvCxnSpPr>
            <a:cxnSpLocks/>
          </p:cNvCxnSpPr>
          <p:nvPr/>
        </p:nvCxnSpPr>
        <p:spPr>
          <a:xfrm>
            <a:off x="9341297" y="5772285"/>
            <a:ext cx="0" cy="493641"/>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标题 1">
            <a:extLst>
              <a:ext uri="{FF2B5EF4-FFF2-40B4-BE49-F238E27FC236}">
                <a16:creationId xmlns:a16="http://schemas.microsoft.com/office/drawing/2014/main" id="{036AB3D7-5F23-2592-ADAE-E1AA92426F2D}"/>
              </a:ext>
            </a:extLst>
          </p:cNvPr>
          <p:cNvSpPr>
            <a:spLocks noGrp="1"/>
          </p:cNvSpPr>
          <p:nvPr>
            <p:ph type="title"/>
          </p:nvPr>
        </p:nvSpPr>
        <p:spPr>
          <a:xfrm>
            <a:off x="478031" y="385961"/>
            <a:ext cx="11233151" cy="720000"/>
          </a:xfrm>
        </p:spPr>
        <p:txBody>
          <a:bodyPr anchor="t">
            <a:normAutofit/>
          </a:bodyPr>
          <a:lstStyle/>
          <a:p>
            <a:r>
              <a:rPr lang="en-US" altLang="zh-CN" sz="2800" dirty="0">
                <a:solidFill>
                  <a:schemeClr val="tx1"/>
                </a:solidFill>
                <a:latin typeface="+mj-ea"/>
              </a:rPr>
              <a:t>Investigators</a:t>
            </a:r>
            <a:endParaRPr lang="zh-CN" altLang="en-US" sz="2800" dirty="0">
              <a:solidFill>
                <a:schemeClr val="tx1"/>
              </a:solidFill>
              <a:latin typeface="+mj-ea"/>
            </a:endParaRPr>
          </a:p>
        </p:txBody>
      </p:sp>
      <p:sp>
        <p:nvSpPr>
          <p:cNvPr id="13" name="文本框 12">
            <a:extLst>
              <a:ext uri="{FF2B5EF4-FFF2-40B4-BE49-F238E27FC236}">
                <a16:creationId xmlns:a16="http://schemas.microsoft.com/office/drawing/2014/main" id="{FD72F90B-A8FE-77E8-CBF5-872C25E01264}"/>
              </a:ext>
            </a:extLst>
          </p:cNvPr>
          <p:cNvSpPr txBox="1"/>
          <p:nvPr/>
        </p:nvSpPr>
        <p:spPr>
          <a:xfrm>
            <a:off x="1009490" y="1103850"/>
            <a:ext cx="4037867" cy="461665"/>
          </a:xfrm>
          <a:prstGeom prst="rect">
            <a:avLst/>
          </a:prstGeom>
          <a:noFill/>
        </p:spPr>
        <p:txBody>
          <a:bodyPr wrap="square" rtlCol="0">
            <a:spAutoFit/>
          </a:bodyPr>
          <a:lstStyle/>
          <a:p>
            <a:pPr algn="just"/>
            <a:r>
              <a:rPr lang="en-US" altLang="zh-CN" sz="2400" dirty="0">
                <a:solidFill>
                  <a:schemeClr val="accent1"/>
                </a:solidFill>
                <a:latin typeface="+mn-ea"/>
                <a:cs typeface="Alibaba PuHuiTi" pitchFamily="18" charset="-122"/>
              </a:rPr>
              <a:t>Principle Investigator</a:t>
            </a:r>
            <a:endParaRPr lang="zh-CN" altLang="en-US" sz="2400" dirty="0">
              <a:solidFill>
                <a:schemeClr val="accent1"/>
              </a:solidFill>
              <a:latin typeface="+mn-ea"/>
              <a:cs typeface="Alibaba PuHuiTi" pitchFamily="18" charset="-122"/>
            </a:endParaRPr>
          </a:p>
        </p:txBody>
      </p:sp>
      <p:grpSp>
        <p:nvGrpSpPr>
          <p:cNvPr id="30" name="Group 29">
            <a:extLst>
              <a:ext uri="{FF2B5EF4-FFF2-40B4-BE49-F238E27FC236}">
                <a16:creationId xmlns:a16="http://schemas.microsoft.com/office/drawing/2014/main" id="{3B566DF8-ED25-C0C0-2A69-2C66078083AE}"/>
              </a:ext>
            </a:extLst>
          </p:cNvPr>
          <p:cNvGrpSpPr/>
          <p:nvPr/>
        </p:nvGrpSpPr>
        <p:grpSpPr>
          <a:xfrm>
            <a:off x="4565778" y="1109621"/>
            <a:ext cx="5760009" cy="793199"/>
            <a:chOff x="2587782" y="1292142"/>
            <a:chExt cx="3670427" cy="793199"/>
          </a:xfrm>
        </p:grpSpPr>
        <p:sp>
          <p:nvSpPr>
            <p:cNvPr id="19" name="文本框 18">
              <a:extLst>
                <a:ext uri="{FF2B5EF4-FFF2-40B4-BE49-F238E27FC236}">
                  <a16:creationId xmlns:a16="http://schemas.microsoft.com/office/drawing/2014/main" id="{77B0888E-FD04-BBFC-6327-3F9BFD3A29D6}"/>
                </a:ext>
              </a:extLst>
            </p:cNvPr>
            <p:cNvSpPr txBox="1"/>
            <p:nvPr/>
          </p:nvSpPr>
          <p:spPr>
            <a:xfrm>
              <a:off x="2587782" y="1292142"/>
              <a:ext cx="2610616" cy="461665"/>
            </a:xfrm>
            <a:prstGeom prst="rect">
              <a:avLst/>
            </a:prstGeom>
            <a:noFill/>
          </p:spPr>
          <p:txBody>
            <a:bodyPr wrap="square" rtlCol="0">
              <a:spAutoFit/>
            </a:bodyPr>
            <a:lstStyle/>
            <a:p>
              <a:pPr algn="just">
                <a:spcAft>
                  <a:spcPts val="600"/>
                </a:spcAft>
              </a:pPr>
              <a:r>
                <a:rPr lang="en-US" altLang="zh-CN" sz="2400" b="1" dirty="0">
                  <a:solidFill>
                    <a:schemeClr val="accent1"/>
                  </a:solidFill>
                  <a:effectLst/>
                  <a:latin typeface="+mn-ea"/>
                  <a:cs typeface="Alibaba PuHuiTi" pitchFamily="18" charset="-122"/>
                </a:rPr>
                <a:t>Prof. Lin Zhuo</a:t>
              </a:r>
              <a:endParaRPr lang="zh-CN" altLang="en-US" sz="2400" b="1" dirty="0">
                <a:solidFill>
                  <a:schemeClr val="accent1"/>
                </a:solidFill>
                <a:effectLst/>
                <a:latin typeface="+mn-ea"/>
                <a:cs typeface="Alibaba PuHuiTi" pitchFamily="18" charset="-122"/>
              </a:endParaRPr>
            </a:p>
          </p:txBody>
        </p:sp>
        <p:sp>
          <p:nvSpPr>
            <p:cNvPr id="22" name="文本框 21">
              <a:extLst>
                <a:ext uri="{FF2B5EF4-FFF2-40B4-BE49-F238E27FC236}">
                  <a16:creationId xmlns:a16="http://schemas.microsoft.com/office/drawing/2014/main" id="{66558F5F-5848-0D66-E6C3-9F2673FB005A}"/>
                </a:ext>
              </a:extLst>
            </p:cNvPr>
            <p:cNvSpPr txBox="1"/>
            <p:nvPr/>
          </p:nvSpPr>
          <p:spPr>
            <a:xfrm>
              <a:off x="2590959" y="1746787"/>
              <a:ext cx="3667250" cy="338554"/>
            </a:xfrm>
            <a:prstGeom prst="rect">
              <a:avLst/>
            </a:prstGeom>
            <a:noFill/>
          </p:spPr>
          <p:txBody>
            <a:bodyPr wrap="square" rtlCol="0">
              <a:spAutoFit/>
            </a:bodyPr>
            <a:lstStyle/>
            <a:p>
              <a:r>
                <a:rPr lang="en" altLang="zh-CN" sz="1600" dirty="0">
                  <a:solidFill>
                    <a:srgbClr val="08312A"/>
                  </a:solidFill>
                  <a:effectLst/>
                  <a:latin typeface="+mn-ea"/>
                  <a:cs typeface="Alibaba PuHuiTi" pitchFamily="18" charset="-122"/>
                </a:rPr>
                <a:t>Resea</a:t>
              </a:r>
              <a:r>
                <a:rPr lang="en" altLang="zh-CN" sz="1600" dirty="0">
                  <a:solidFill>
                    <a:srgbClr val="08312A"/>
                  </a:solidFill>
                  <a:latin typeface="+mn-ea"/>
                  <a:cs typeface="Alibaba PuHuiTi" pitchFamily="18" charset="-122"/>
                </a:rPr>
                <a:t>rch Associate, </a:t>
              </a:r>
              <a:r>
                <a:rPr lang="en" altLang="zh-CN" sz="1600" dirty="0">
                  <a:solidFill>
                    <a:srgbClr val="08312A"/>
                  </a:solidFill>
                  <a:effectLst/>
                  <a:latin typeface="+mn-ea"/>
                  <a:cs typeface="Alibaba PuHuiTi" pitchFamily="18" charset="-122"/>
                </a:rPr>
                <a:t>Peking University Third Hospital</a:t>
              </a:r>
              <a:endParaRPr lang="zh-CN" altLang="en-US" sz="1600" dirty="0">
                <a:solidFill>
                  <a:srgbClr val="08312A"/>
                </a:solidFill>
                <a:effectLst/>
                <a:latin typeface="+mn-ea"/>
                <a:cs typeface="Alibaba PuHuiTi" pitchFamily="18" charset="-122"/>
              </a:endParaRPr>
            </a:p>
          </p:txBody>
        </p:sp>
      </p:grpSp>
      <p:pic>
        <p:nvPicPr>
          <p:cNvPr id="10" name="图片 1">
            <a:extLst>
              <a:ext uri="{FF2B5EF4-FFF2-40B4-BE49-F238E27FC236}">
                <a16:creationId xmlns:a16="http://schemas.microsoft.com/office/drawing/2014/main" id="{A7DE91D8-2DB0-2A5A-7235-D6BBCA1FDC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8922" y="1800681"/>
            <a:ext cx="1325311" cy="1861075"/>
          </a:xfrm>
          <a:prstGeom prst="roundRect">
            <a:avLst>
              <a:gd name="adj" fmla="val 8594"/>
            </a:avLst>
          </a:prstGeom>
          <a:noFill/>
          <a:ln>
            <a:solidFill>
              <a:schemeClr val="bg2"/>
            </a:solidFill>
          </a:ln>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24A40D13-7301-2F9C-868E-4EF5FBA44DE2}"/>
              </a:ext>
            </a:extLst>
          </p:cNvPr>
          <p:cNvGrpSpPr/>
          <p:nvPr/>
        </p:nvGrpSpPr>
        <p:grpSpPr>
          <a:xfrm>
            <a:off x="4651535" y="1985844"/>
            <a:ext cx="6048356" cy="1901281"/>
            <a:chOff x="3595373" y="2614258"/>
            <a:chExt cx="6048356" cy="1901281"/>
          </a:xfrm>
        </p:grpSpPr>
        <p:grpSp>
          <p:nvGrpSpPr>
            <p:cNvPr id="16" name="Group 15">
              <a:extLst>
                <a:ext uri="{FF2B5EF4-FFF2-40B4-BE49-F238E27FC236}">
                  <a16:creationId xmlns:a16="http://schemas.microsoft.com/office/drawing/2014/main" id="{7ECBE31C-B0F5-BE19-9219-9CB8A0E4E2AF}"/>
                </a:ext>
              </a:extLst>
            </p:cNvPr>
            <p:cNvGrpSpPr/>
            <p:nvPr/>
          </p:nvGrpSpPr>
          <p:grpSpPr>
            <a:xfrm>
              <a:off x="3595373" y="2614258"/>
              <a:ext cx="6048356" cy="347441"/>
              <a:chOff x="2587780" y="2366281"/>
              <a:chExt cx="6278377" cy="347441"/>
            </a:xfrm>
          </p:grpSpPr>
          <p:sp>
            <p:nvSpPr>
              <p:cNvPr id="7" name="矩形 6">
                <a:extLst>
                  <a:ext uri="{FF2B5EF4-FFF2-40B4-BE49-F238E27FC236}">
                    <a16:creationId xmlns:a16="http://schemas.microsoft.com/office/drawing/2014/main" id="{9C0C78F2-4B2B-4F82-541E-2820325C17E2}"/>
                  </a:ext>
                </a:extLst>
              </p:cNvPr>
              <p:cNvSpPr/>
              <p:nvPr/>
            </p:nvSpPr>
            <p:spPr>
              <a:xfrm>
                <a:off x="2587780" y="2390421"/>
                <a:ext cx="6278377" cy="323301"/>
              </a:xfrm>
              <a:prstGeom prst="rect">
                <a:avLst/>
              </a:prstGeom>
              <a:gradFill>
                <a:gsLst>
                  <a:gs pos="0">
                    <a:schemeClr val="accent1"/>
                  </a:gs>
                  <a:gs pos="99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cs typeface="Alibaba PuHuiTi" pitchFamily="18" charset="-122"/>
                </a:endParaRPr>
              </a:p>
            </p:txBody>
          </p:sp>
          <p:sp>
            <p:nvSpPr>
              <p:cNvPr id="8" name="文本框 7">
                <a:extLst>
                  <a:ext uri="{FF2B5EF4-FFF2-40B4-BE49-F238E27FC236}">
                    <a16:creationId xmlns:a16="http://schemas.microsoft.com/office/drawing/2014/main" id="{77CE8C49-2B52-0C41-E76F-E501A4BB33A4}"/>
                  </a:ext>
                </a:extLst>
              </p:cNvPr>
              <p:cNvSpPr txBox="1"/>
              <p:nvPr/>
            </p:nvSpPr>
            <p:spPr>
              <a:xfrm>
                <a:off x="2694853" y="2366281"/>
                <a:ext cx="4437042" cy="338554"/>
              </a:xfrm>
              <a:prstGeom prst="rect">
                <a:avLst/>
              </a:prstGeom>
              <a:noFill/>
              <a:ln>
                <a:noFill/>
              </a:ln>
            </p:spPr>
            <p:txBody>
              <a:bodyPr wrap="square" rtlCol="0" anchor="ctr">
                <a:spAutoFit/>
              </a:bodyPr>
              <a:lstStyle/>
              <a:p>
                <a:r>
                  <a:rPr lang="en" altLang="zh-CN" sz="1600" b="1" dirty="0">
                    <a:solidFill>
                      <a:schemeClr val="bg1"/>
                    </a:solidFill>
                    <a:latin typeface="+mn-ea"/>
                    <a:cs typeface="Alibaba PuHuiTi" pitchFamily="18" charset="-122"/>
                  </a:rPr>
                  <a:t>Education</a:t>
                </a:r>
                <a:endParaRPr lang="zh-CN" altLang="en-US" sz="1600" b="1" dirty="0">
                  <a:solidFill>
                    <a:schemeClr val="bg1"/>
                  </a:solidFill>
                  <a:effectLst/>
                  <a:latin typeface="+mn-ea"/>
                  <a:cs typeface="Alibaba PuHuiTi" pitchFamily="18" charset="-122"/>
                </a:endParaRPr>
              </a:p>
            </p:txBody>
          </p:sp>
        </p:grpSp>
        <p:sp>
          <p:nvSpPr>
            <p:cNvPr id="9" name="文本框 8">
              <a:extLst>
                <a:ext uri="{FF2B5EF4-FFF2-40B4-BE49-F238E27FC236}">
                  <a16:creationId xmlns:a16="http://schemas.microsoft.com/office/drawing/2014/main" id="{97978D10-896C-32CF-C37F-D8E4223EC7B7}"/>
                </a:ext>
              </a:extLst>
            </p:cNvPr>
            <p:cNvSpPr txBox="1"/>
            <p:nvPr/>
          </p:nvSpPr>
          <p:spPr>
            <a:xfrm>
              <a:off x="3706902" y="3023632"/>
              <a:ext cx="5936827" cy="338554"/>
            </a:xfrm>
            <a:prstGeom prst="rect">
              <a:avLst/>
            </a:prstGeom>
            <a:noFill/>
            <a:ln>
              <a:noFill/>
            </a:ln>
          </p:spPr>
          <p:txBody>
            <a:bodyPr wrap="square" rtlCol="0">
              <a:spAutoFit/>
            </a:bodyPr>
            <a:lstStyle/>
            <a:p>
              <a:pPr>
                <a:spcAft>
                  <a:spcPts val="600"/>
                </a:spcAft>
              </a:pPr>
              <a:r>
                <a:rPr lang="en-US" altLang="zh-CN" sz="1600" dirty="0">
                  <a:solidFill>
                    <a:schemeClr val="accent1"/>
                  </a:solidFill>
                  <a:effectLst/>
                  <a:latin typeface="+mn-ea"/>
                  <a:cs typeface="Alibaba PuHuiTi" pitchFamily="18" charset="-122"/>
                </a:rPr>
                <a:t>PhD in Epidemiology and Health Statistics, Peking University</a:t>
              </a:r>
            </a:p>
          </p:txBody>
        </p:sp>
        <p:sp>
          <p:nvSpPr>
            <p:cNvPr id="27" name="文本框 26">
              <a:extLst>
                <a:ext uri="{FF2B5EF4-FFF2-40B4-BE49-F238E27FC236}">
                  <a16:creationId xmlns:a16="http://schemas.microsoft.com/office/drawing/2014/main" id="{37108287-1FD7-9C7A-E639-0675E12C41A8}"/>
                </a:ext>
              </a:extLst>
            </p:cNvPr>
            <p:cNvSpPr txBox="1"/>
            <p:nvPr/>
          </p:nvSpPr>
          <p:spPr>
            <a:xfrm>
              <a:off x="3693681" y="3853819"/>
              <a:ext cx="4552094" cy="661720"/>
            </a:xfrm>
            <a:prstGeom prst="rect">
              <a:avLst/>
            </a:prstGeom>
            <a:noFill/>
            <a:ln>
              <a:noFill/>
            </a:ln>
          </p:spPr>
          <p:txBody>
            <a:bodyPr wrap="square" rtlCol="0">
              <a:spAutoFit/>
            </a:bodyPr>
            <a:lstStyle/>
            <a:p>
              <a:pPr marL="274320" indent="-274320">
                <a:spcAft>
                  <a:spcPts val="600"/>
                </a:spcAft>
                <a:buFont typeface="Arial" panose="020B0604020202020204" pitchFamily="34" charset="0"/>
                <a:buChar char="•"/>
              </a:pPr>
              <a:r>
                <a:rPr lang="en-US" altLang="zh-CN" sz="1600" dirty="0">
                  <a:solidFill>
                    <a:schemeClr val="accent1"/>
                  </a:solidFill>
                  <a:latin typeface="+mn-ea"/>
                  <a:cs typeface="Alibaba PuHuiTi" pitchFamily="18" charset="-122"/>
                </a:rPr>
                <a:t>Pharmacoepidemiology</a:t>
              </a:r>
            </a:p>
            <a:p>
              <a:pPr marL="274320" indent="-274320">
                <a:spcAft>
                  <a:spcPts val="600"/>
                </a:spcAft>
                <a:buFont typeface="Arial" panose="020B0604020202020204" pitchFamily="34" charset="0"/>
                <a:buChar char="•"/>
              </a:pPr>
              <a:r>
                <a:rPr lang="en-US" altLang="zh-CN" sz="1600" dirty="0">
                  <a:solidFill>
                    <a:schemeClr val="accent1"/>
                  </a:solidFill>
                  <a:effectLst/>
                  <a:latin typeface="+mn-ea"/>
                  <a:cs typeface="Alibaba PuHuiTi" pitchFamily="18" charset="-122"/>
                </a:rPr>
                <a:t>Evidence-based medicine</a:t>
              </a:r>
            </a:p>
          </p:txBody>
        </p:sp>
        <p:grpSp>
          <p:nvGrpSpPr>
            <p:cNvPr id="17" name="Group 16">
              <a:extLst>
                <a:ext uri="{FF2B5EF4-FFF2-40B4-BE49-F238E27FC236}">
                  <a16:creationId xmlns:a16="http://schemas.microsoft.com/office/drawing/2014/main" id="{2DF3EF36-53D2-01F1-3D29-465D6160BCF1}"/>
                </a:ext>
              </a:extLst>
            </p:cNvPr>
            <p:cNvGrpSpPr/>
            <p:nvPr/>
          </p:nvGrpSpPr>
          <p:grpSpPr>
            <a:xfrm>
              <a:off x="3595373" y="3443424"/>
              <a:ext cx="6048356" cy="347441"/>
              <a:chOff x="2587780" y="2366281"/>
              <a:chExt cx="6278377" cy="347441"/>
            </a:xfrm>
          </p:grpSpPr>
          <p:sp>
            <p:nvSpPr>
              <p:cNvPr id="20" name="矩形 6">
                <a:extLst>
                  <a:ext uri="{FF2B5EF4-FFF2-40B4-BE49-F238E27FC236}">
                    <a16:creationId xmlns:a16="http://schemas.microsoft.com/office/drawing/2014/main" id="{AEE3D9F1-74CE-CE5E-7390-7E829AA6695B}"/>
                  </a:ext>
                </a:extLst>
              </p:cNvPr>
              <p:cNvSpPr/>
              <p:nvPr/>
            </p:nvSpPr>
            <p:spPr>
              <a:xfrm>
                <a:off x="2587780" y="2390421"/>
                <a:ext cx="6278377" cy="323301"/>
              </a:xfrm>
              <a:prstGeom prst="rect">
                <a:avLst/>
              </a:prstGeom>
              <a:gradFill>
                <a:gsLst>
                  <a:gs pos="0">
                    <a:schemeClr val="accent1"/>
                  </a:gs>
                  <a:gs pos="99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cs typeface="Alibaba PuHuiTi" pitchFamily="18" charset="-122"/>
                </a:endParaRPr>
              </a:p>
            </p:txBody>
          </p:sp>
          <p:sp>
            <p:nvSpPr>
              <p:cNvPr id="21" name="文本框 7">
                <a:extLst>
                  <a:ext uri="{FF2B5EF4-FFF2-40B4-BE49-F238E27FC236}">
                    <a16:creationId xmlns:a16="http://schemas.microsoft.com/office/drawing/2014/main" id="{F04934BF-D594-691E-0513-D895466A0C2E}"/>
                  </a:ext>
                </a:extLst>
              </p:cNvPr>
              <p:cNvSpPr txBox="1"/>
              <p:nvPr/>
            </p:nvSpPr>
            <p:spPr>
              <a:xfrm>
                <a:off x="2694853" y="2366281"/>
                <a:ext cx="4437042" cy="338554"/>
              </a:xfrm>
              <a:prstGeom prst="rect">
                <a:avLst/>
              </a:prstGeom>
              <a:noFill/>
              <a:ln>
                <a:noFill/>
              </a:ln>
            </p:spPr>
            <p:txBody>
              <a:bodyPr wrap="square" rtlCol="0" anchor="ctr">
                <a:spAutoFit/>
              </a:bodyPr>
              <a:lstStyle/>
              <a:p>
                <a:r>
                  <a:rPr lang="en" altLang="zh-CN" sz="1600" b="1" dirty="0">
                    <a:solidFill>
                      <a:schemeClr val="bg1"/>
                    </a:solidFill>
                    <a:latin typeface="+mn-ea"/>
                    <a:cs typeface="Alibaba PuHuiTi" pitchFamily="18" charset="-122"/>
                  </a:rPr>
                  <a:t>Research Interests </a:t>
                </a:r>
                <a:endParaRPr lang="zh-CN" altLang="en-US" sz="1600" b="1" dirty="0">
                  <a:solidFill>
                    <a:schemeClr val="bg1"/>
                  </a:solidFill>
                  <a:effectLst/>
                  <a:latin typeface="+mn-ea"/>
                  <a:cs typeface="Alibaba PuHuiTi" pitchFamily="18" charset="-122"/>
                </a:endParaRPr>
              </a:p>
            </p:txBody>
          </p:sp>
        </p:grpSp>
      </p:grpSp>
      <p:sp>
        <p:nvSpPr>
          <p:cNvPr id="3" name="文本框 12">
            <a:extLst>
              <a:ext uri="{FF2B5EF4-FFF2-40B4-BE49-F238E27FC236}">
                <a16:creationId xmlns:a16="http://schemas.microsoft.com/office/drawing/2014/main" id="{E10AA3C6-0210-E666-B669-44F30AE35B6D}"/>
              </a:ext>
            </a:extLst>
          </p:cNvPr>
          <p:cNvSpPr txBox="1"/>
          <p:nvPr/>
        </p:nvSpPr>
        <p:spPr>
          <a:xfrm>
            <a:off x="1009490" y="4022682"/>
            <a:ext cx="3034062" cy="461665"/>
          </a:xfrm>
          <a:prstGeom prst="rect">
            <a:avLst/>
          </a:prstGeom>
          <a:noFill/>
        </p:spPr>
        <p:txBody>
          <a:bodyPr wrap="square" rtlCol="0">
            <a:spAutoFit/>
          </a:bodyPr>
          <a:lstStyle/>
          <a:p>
            <a:pPr algn="just"/>
            <a:r>
              <a:rPr lang="en-US" altLang="zh-CN" sz="2400" dirty="0">
                <a:solidFill>
                  <a:schemeClr val="accent1"/>
                </a:solidFill>
                <a:latin typeface="+mn-ea"/>
                <a:cs typeface="Alibaba PuHuiTi" pitchFamily="18" charset="-122"/>
              </a:rPr>
              <a:t>Clinical Expert</a:t>
            </a:r>
            <a:endParaRPr lang="zh-CN" altLang="en-US" sz="2400" dirty="0">
              <a:solidFill>
                <a:schemeClr val="accent1"/>
              </a:solidFill>
              <a:latin typeface="+mn-ea"/>
              <a:cs typeface="Alibaba PuHuiTi" pitchFamily="18" charset="-122"/>
            </a:endParaRPr>
          </a:p>
        </p:txBody>
      </p:sp>
      <p:grpSp>
        <p:nvGrpSpPr>
          <p:cNvPr id="2" name="Group 1">
            <a:extLst>
              <a:ext uri="{FF2B5EF4-FFF2-40B4-BE49-F238E27FC236}">
                <a16:creationId xmlns:a16="http://schemas.microsoft.com/office/drawing/2014/main" id="{B2D0B98E-0203-32D1-FBF0-6A9E259BFE19}"/>
              </a:ext>
            </a:extLst>
          </p:cNvPr>
          <p:cNvGrpSpPr/>
          <p:nvPr/>
        </p:nvGrpSpPr>
        <p:grpSpPr>
          <a:xfrm>
            <a:off x="4565778" y="4054362"/>
            <a:ext cx="6333380" cy="787800"/>
            <a:chOff x="2587782" y="1292142"/>
            <a:chExt cx="3671576" cy="787800"/>
          </a:xfrm>
        </p:grpSpPr>
        <p:sp>
          <p:nvSpPr>
            <p:cNvPr id="14" name="文本框 18">
              <a:extLst>
                <a:ext uri="{FF2B5EF4-FFF2-40B4-BE49-F238E27FC236}">
                  <a16:creationId xmlns:a16="http://schemas.microsoft.com/office/drawing/2014/main" id="{AD2BA05D-9678-F8DE-D526-370D6A8D22FE}"/>
                </a:ext>
              </a:extLst>
            </p:cNvPr>
            <p:cNvSpPr txBox="1"/>
            <p:nvPr/>
          </p:nvSpPr>
          <p:spPr>
            <a:xfrm>
              <a:off x="2587782" y="1292142"/>
              <a:ext cx="2610616" cy="461665"/>
            </a:xfrm>
            <a:prstGeom prst="rect">
              <a:avLst/>
            </a:prstGeom>
            <a:noFill/>
          </p:spPr>
          <p:txBody>
            <a:bodyPr wrap="square" rtlCol="0">
              <a:spAutoFit/>
            </a:bodyPr>
            <a:lstStyle/>
            <a:p>
              <a:r>
                <a:rPr lang="en-US" altLang="zh-CN" sz="2400" b="1" dirty="0">
                  <a:solidFill>
                    <a:schemeClr val="accent1"/>
                  </a:solidFill>
                  <a:effectLst/>
                  <a:latin typeface="+mn-ea"/>
                  <a:cs typeface="Alibaba PuHuiTi" pitchFamily="18" charset="-122"/>
                </a:rPr>
                <a:t>Prof. Dong Xu</a:t>
              </a:r>
              <a:endParaRPr lang="zh-CN" altLang="en-US" sz="2400" b="1" dirty="0">
                <a:solidFill>
                  <a:schemeClr val="accent1"/>
                </a:solidFill>
                <a:effectLst/>
                <a:latin typeface="+mn-ea"/>
                <a:cs typeface="Alibaba PuHuiTi" pitchFamily="18" charset="-122"/>
              </a:endParaRPr>
            </a:p>
          </p:txBody>
        </p:sp>
        <p:sp>
          <p:nvSpPr>
            <p:cNvPr id="15" name="文本框 21">
              <a:extLst>
                <a:ext uri="{FF2B5EF4-FFF2-40B4-BE49-F238E27FC236}">
                  <a16:creationId xmlns:a16="http://schemas.microsoft.com/office/drawing/2014/main" id="{CE9A3596-501E-2082-93AB-4AD18065BB3C}"/>
                </a:ext>
              </a:extLst>
            </p:cNvPr>
            <p:cNvSpPr txBox="1"/>
            <p:nvPr/>
          </p:nvSpPr>
          <p:spPr>
            <a:xfrm>
              <a:off x="2592108" y="1741388"/>
              <a:ext cx="3667250" cy="338554"/>
            </a:xfrm>
            <a:prstGeom prst="rect">
              <a:avLst/>
            </a:prstGeom>
            <a:noFill/>
          </p:spPr>
          <p:txBody>
            <a:bodyPr wrap="square" rtlCol="0">
              <a:spAutoFit/>
            </a:bodyPr>
            <a:lstStyle/>
            <a:p>
              <a:r>
                <a:rPr lang="en" altLang="zh-CN" sz="1600" dirty="0">
                  <a:solidFill>
                    <a:srgbClr val="08312A"/>
                  </a:solidFill>
                  <a:latin typeface="+mn-ea"/>
                  <a:cs typeface="Alibaba PuHuiTi" pitchFamily="18" charset="-122"/>
                </a:rPr>
                <a:t>Chief Physician, </a:t>
              </a:r>
              <a:r>
                <a:rPr lang="en" altLang="zh-CN" sz="1600" dirty="0">
                  <a:solidFill>
                    <a:srgbClr val="08312A"/>
                  </a:solidFill>
                  <a:effectLst/>
                  <a:latin typeface="+mn-ea"/>
                  <a:cs typeface="Alibaba PuHuiTi" pitchFamily="18" charset="-122"/>
                </a:rPr>
                <a:t>Peking Union Medical College Hospital</a:t>
              </a:r>
              <a:endParaRPr lang="zh-CN" altLang="en-US" sz="1600" dirty="0">
                <a:solidFill>
                  <a:srgbClr val="08312A"/>
                </a:solidFill>
                <a:effectLst/>
                <a:latin typeface="+mn-ea"/>
                <a:cs typeface="Alibaba PuHuiTi" pitchFamily="18" charset="-122"/>
              </a:endParaRPr>
            </a:p>
          </p:txBody>
        </p:sp>
      </p:grpSp>
      <p:grpSp>
        <p:nvGrpSpPr>
          <p:cNvPr id="18" name="Group 17">
            <a:extLst>
              <a:ext uri="{FF2B5EF4-FFF2-40B4-BE49-F238E27FC236}">
                <a16:creationId xmlns:a16="http://schemas.microsoft.com/office/drawing/2014/main" id="{CB27B5FF-E548-A21F-C56C-D346A8A68F7B}"/>
              </a:ext>
            </a:extLst>
          </p:cNvPr>
          <p:cNvGrpSpPr/>
          <p:nvPr/>
        </p:nvGrpSpPr>
        <p:grpSpPr>
          <a:xfrm>
            <a:off x="4573240" y="4954197"/>
            <a:ext cx="6048356" cy="1578115"/>
            <a:chOff x="3595373" y="2614258"/>
            <a:chExt cx="6048356" cy="1578115"/>
          </a:xfrm>
        </p:grpSpPr>
        <p:grpSp>
          <p:nvGrpSpPr>
            <p:cNvPr id="23" name="Group 22">
              <a:extLst>
                <a:ext uri="{FF2B5EF4-FFF2-40B4-BE49-F238E27FC236}">
                  <a16:creationId xmlns:a16="http://schemas.microsoft.com/office/drawing/2014/main" id="{80EF3DC1-82EB-6218-F5C1-9317157421F6}"/>
                </a:ext>
              </a:extLst>
            </p:cNvPr>
            <p:cNvGrpSpPr/>
            <p:nvPr/>
          </p:nvGrpSpPr>
          <p:grpSpPr>
            <a:xfrm>
              <a:off x="3595373" y="2614258"/>
              <a:ext cx="6048356" cy="347441"/>
              <a:chOff x="2587780" y="2366281"/>
              <a:chExt cx="6278377" cy="347441"/>
            </a:xfrm>
          </p:grpSpPr>
          <p:sp>
            <p:nvSpPr>
              <p:cNvPr id="31" name="矩形 6">
                <a:extLst>
                  <a:ext uri="{FF2B5EF4-FFF2-40B4-BE49-F238E27FC236}">
                    <a16:creationId xmlns:a16="http://schemas.microsoft.com/office/drawing/2014/main" id="{7DDA880D-168C-C111-4615-E8A7264AF026}"/>
                  </a:ext>
                </a:extLst>
              </p:cNvPr>
              <p:cNvSpPr/>
              <p:nvPr/>
            </p:nvSpPr>
            <p:spPr>
              <a:xfrm>
                <a:off x="2587780" y="2390421"/>
                <a:ext cx="6278377" cy="323301"/>
              </a:xfrm>
              <a:prstGeom prst="rect">
                <a:avLst/>
              </a:prstGeom>
              <a:gradFill>
                <a:gsLst>
                  <a:gs pos="0">
                    <a:schemeClr val="accent1"/>
                  </a:gs>
                  <a:gs pos="99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cs typeface="Alibaba PuHuiTi" pitchFamily="18" charset="-122"/>
                </a:endParaRPr>
              </a:p>
            </p:txBody>
          </p:sp>
          <p:sp>
            <p:nvSpPr>
              <p:cNvPr id="64" name="文本框 7">
                <a:extLst>
                  <a:ext uri="{FF2B5EF4-FFF2-40B4-BE49-F238E27FC236}">
                    <a16:creationId xmlns:a16="http://schemas.microsoft.com/office/drawing/2014/main" id="{9EB93B93-48F4-3BE2-71F5-ABC4C0E75D5A}"/>
                  </a:ext>
                </a:extLst>
              </p:cNvPr>
              <p:cNvSpPr txBox="1"/>
              <p:nvPr/>
            </p:nvSpPr>
            <p:spPr>
              <a:xfrm>
                <a:off x="2694853" y="2366281"/>
                <a:ext cx="4437042" cy="338554"/>
              </a:xfrm>
              <a:prstGeom prst="rect">
                <a:avLst/>
              </a:prstGeom>
              <a:noFill/>
              <a:ln>
                <a:noFill/>
              </a:ln>
            </p:spPr>
            <p:txBody>
              <a:bodyPr wrap="square" rtlCol="0" anchor="ctr">
                <a:spAutoFit/>
              </a:bodyPr>
              <a:lstStyle/>
              <a:p>
                <a:r>
                  <a:rPr lang="en" altLang="zh-CN" sz="1600" b="1" dirty="0">
                    <a:solidFill>
                      <a:schemeClr val="bg1"/>
                    </a:solidFill>
                    <a:latin typeface="+mn-ea"/>
                    <a:cs typeface="Alibaba PuHuiTi" pitchFamily="18" charset="-122"/>
                  </a:rPr>
                  <a:t>Education</a:t>
                </a:r>
                <a:endParaRPr lang="zh-CN" altLang="en-US" sz="1600" b="1" dirty="0">
                  <a:solidFill>
                    <a:schemeClr val="bg1"/>
                  </a:solidFill>
                  <a:effectLst/>
                  <a:latin typeface="+mn-ea"/>
                  <a:cs typeface="Alibaba PuHuiTi" pitchFamily="18" charset="-122"/>
                </a:endParaRPr>
              </a:p>
            </p:txBody>
          </p:sp>
        </p:grpSp>
        <p:sp>
          <p:nvSpPr>
            <p:cNvPr id="24" name="文本框 8">
              <a:extLst>
                <a:ext uri="{FF2B5EF4-FFF2-40B4-BE49-F238E27FC236}">
                  <a16:creationId xmlns:a16="http://schemas.microsoft.com/office/drawing/2014/main" id="{B0639A7A-0294-6FB8-6389-80D006BA06A8}"/>
                </a:ext>
              </a:extLst>
            </p:cNvPr>
            <p:cNvSpPr txBox="1"/>
            <p:nvPr/>
          </p:nvSpPr>
          <p:spPr>
            <a:xfrm>
              <a:off x="3706902" y="3023632"/>
              <a:ext cx="5936827" cy="338554"/>
            </a:xfrm>
            <a:prstGeom prst="rect">
              <a:avLst/>
            </a:prstGeom>
            <a:noFill/>
            <a:ln>
              <a:noFill/>
            </a:ln>
          </p:spPr>
          <p:txBody>
            <a:bodyPr wrap="square" rtlCol="0">
              <a:spAutoFit/>
            </a:bodyPr>
            <a:lstStyle/>
            <a:p>
              <a:pPr>
                <a:spcAft>
                  <a:spcPts val="600"/>
                </a:spcAft>
              </a:pPr>
              <a:r>
                <a:rPr lang="en-US" altLang="zh-CN" sz="1600" dirty="0">
                  <a:solidFill>
                    <a:schemeClr val="accent1"/>
                  </a:solidFill>
                  <a:latin typeface="+mn-ea"/>
                  <a:cs typeface="Alibaba PuHuiTi" pitchFamily="18" charset="-122"/>
                </a:rPr>
                <a:t>M</a:t>
              </a:r>
              <a:r>
                <a:rPr lang="en-US" altLang="zh-CN" sz="1600" dirty="0">
                  <a:solidFill>
                    <a:schemeClr val="accent1"/>
                  </a:solidFill>
                  <a:effectLst/>
                  <a:latin typeface="+mn-ea"/>
                  <a:cs typeface="Alibaba PuHuiTi" pitchFamily="18" charset="-122"/>
                </a:rPr>
                <a:t>D in </a:t>
              </a:r>
              <a:r>
                <a:rPr lang="en" altLang="zh-CN" sz="1600" dirty="0">
                  <a:solidFill>
                    <a:srgbClr val="08312A"/>
                  </a:solidFill>
                  <a:latin typeface="+mn-ea"/>
                  <a:cs typeface="Alibaba PuHuiTi" pitchFamily="18" charset="-122"/>
                </a:rPr>
                <a:t>Peking Union Medical College Hospital</a:t>
              </a:r>
              <a:endParaRPr lang="en-US" altLang="zh-CN" sz="1600" dirty="0">
                <a:solidFill>
                  <a:schemeClr val="accent1"/>
                </a:solidFill>
                <a:effectLst/>
                <a:latin typeface="+mn-ea"/>
                <a:cs typeface="Alibaba PuHuiTi" pitchFamily="18" charset="-122"/>
              </a:endParaRPr>
            </a:p>
          </p:txBody>
        </p:sp>
        <p:sp>
          <p:nvSpPr>
            <p:cNvPr id="25" name="文本框 26">
              <a:extLst>
                <a:ext uri="{FF2B5EF4-FFF2-40B4-BE49-F238E27FC236}">
                  <a16:creationId xmlns:a16="http://schemas.microsoft.com/office/drawing/2014/main" id="{B445CE81-17D9-F4EE-2CAD-9CDA6A4903A0}"/>
                </a:ext>
              </a:extLst>
            </p:cNvPr>
            <p:cNvSpPr txBox="1"/>
            <p:nvPr/>
          </p:nvSpPr>
          <p:spPr>
            <a:xfrm>
              <a:off x="3693681" y="3853819"/>
              <a:ext cx="4552094" cy="338554"/>
            </a:xfrm>
            <a:prstGeom prst="rect">
              <a:avLst/>
            </a:prstGeom>
            <a:noFill/>
            <a:ln>
              <a:noFill/>
            </a:ln>
          </p:spPr>
          <p:txBody>
            <a:bodyPr wrap="square" rtlCol="0">
              <a:spAutoFit/>
            </a:bodyPr>
            <a:lstStyle/>
            <a:p>
              <a:pPr marL="274320" indent="-274320">
                <a:spcAft>
                  <a:spcPts val="600"/>
                </a:spcAft>
                <a:buFont typeface="Arial" panose="020B0604020202020204" pitchFamily="34" charset="0"/>
                <a:buChar char="•"/>
              </a:pPr>
              <a:r>
                <a:rPr lang="en-US" altLang="zh-CN" sz="1600" dirty="0">
                  <a:solidFill>
                    <a:schemeClr val="accent1"/>
                  </a:solidFill>
                  <a:latin typeface="+mn-ea"/>
                  <a:cs typeface="Alibaba PuHuiTi" pitchFamily="18" charset="-122"/>
                </a:rPr>
                <a:t>Rheumatology and immunology</a:t>
              </a:r>
            </a:p>
          </p:txBody>
        </p:sp>
        <p:grpSp>
          <p:nvGrpSpPr>
            <p:cNvPr id="26" name="Group 25">
              <a:extLst>
                <a:ext uri="{FF2B5EF4-FFF2-40B4-BE49-F238E27FC236}">
                  <a16:creationId xmlns:a16="http://schemas.microsoft.com/office/drawing/2014/main" id="{FD7CBA81-DC8D-D2DE-12E7-728D42C00D61}"/>
                </a:ext>
              </a:extLst>
            </p:cNvPr>
            <p:cNvGrpSpPr/>
            <p:nvPr/>
          </p:nvGrpSpPr>
          <p:grpSpPr>
            <a:xfrm>
              <a:off x="3595373" y="3443424"/>
              <a:ext cx="6048356" cy="347441"/>
              <a:chOff x="2587780" y="2366281"/>
              <a:chExt cx="6278377" cy="347441"/>
            </a:xfrm>
          </p:grpSpPr>
          <p:sp>
            <p:nvSpPr>
              <p:cNvPr id="28" name="矩形 6">
                <a:extLst>
                  <a:ext uri="{FF2B5EF4-FFF2-40B4-BE49-F238E27FC236}">
                    <a16:creationId xmlns:a16="http://schemas.microsoft.com/office/drawing/2014/main" id="{710DA56E-D83C-420D-BF61-8DB3CB3A417A}"/>
                  </a:ext>
                </a:extLst>
              </p:cNvPr>
              <p:cNvSpPr/>
              <p:nvPr/>
            </p:nvSpPr>
            <p:spPr>
              <a:xfrm>
                <a:off x="2587780" y="2390421"/>
                <a:ext cx="6278377" cy="323301"/>
              </a:xfrm>
              <a:prstGeom prst="rect">
                <a:avLst/>
              </a:prstGeom>
              <a:gradFill>
                <a:gsLst>
                  <a:gs pos="0">
                    <a:schemeClr val="accent1"/>
                  </a:gs>
                  <a:gs pos="99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cs typeface="Alibaba PuHuiTi" pitchFamily="18" charset="-122"/>
                </a:endParaRPr>
              </a:p>
            </p:txBody>
          </p:sp>
          <p:sp>
            <p:nvSpPr>
              <p:cNvPr id="29" name="文本框 7">
                <a:extLst>
                  <a:ext uri="{FF2B5EF4-FFF2-40B4-BE49-F238E27FC236}">
                    <a16:creationId xmlns:a16="http://schemas.microsoft.com/office/drawing/2014/main" id="{517DC0B9-244B-C5DD-1181-8AFA92231F1D}"/>
                  </a:ext>
                </a:extLst>
              </p:cNvPr>
              <p:cNvSpPr txBox="1"/>
              <p:nvPr/>
            </p:nvSpPr>
            <p:spPr>
              <a:xfrm>
                <a:off x="2694853" y="2366281"/>
                <a:ext cx="4437042" cy="338554"/>
              </a:xfrm>
              <a:prstGeom prst="rect">
                <a:avLst/>
              </a:prstGeom>
              <a:noFill/>
              <a:ln>
                <a:noFill/>
              </a:ln>
            </p:spPr>
            <p:txBody>
              <a:bodyPr wrap="square" rtlCol="0" anchor="ctr">
                <a:spAutoFit/>
              </a:bodyPr>
              <a:lstStyle/>
              <a:p>
                <a:r>
                  <a:rPr lang="en" altLang="zh-CN" sz="1600" b="1" dirty="0">
                    <a:solidFill>
                      <a:schemeClr val="bg1"/>
                    </a:solidFill>
                    <a:latin typeface="+mn-ea"/>
                    <a:cs typeface="Alibaba PuHuiTi" pitchFamily="18" charset="-122"/>
                  </a:rPr>
                  <a:t>Research Interests </a:t>
                </a:r>
                <a:endParaRPr lang="zh-CN" altLang="en-US" sz="1600" b="1" dirty="0">
                  <a:solidFill>
                    <a:schemeClr val="bg1"/>
                  </a:solidFill>
                  <a:effectLst/>
                  <a:latin typeface="+mn-ea"/>
                  <a:cs typeface="Alibaba PuHuiTi" pitchFamily="18" charset="-122"/>
                </a:endParaRPr>
              </a:p>
            </p:txBody>
          </p:sp>
        </p:grpSp>
      </p:grpSp>
      <p:pic>
        <p:nvPicPr>
          <p:cNvPr id="1026" name="Picture 2">
            <a:extLst>
              <a:ext uri="{FF2B5EF4-FFF2-40B4-BE49-F238E27FC236}">
                <a16:creationId xmlns:a16="http://schemas.microsoft.com/office/drawing/2014/main" id="{487D4460-0F7D-CAE1-AAFE-F13B76E837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8922" y="4526689"/>
            <a:ext cx="1254219" cy="1836346"/>
          </a:xfrm>
          <a:prstGeom prst="rect">
            <a:avLst/>
          </a:prstGeom>
          <a:noFill/>
          <a:extLst>
            <a:ext uri="{909E8E84-426E-40DD-AFC4-6F175D3DCCD1}">
              <a14:hiddenFill xmlns:a14="http://schemas.microsoft.com/office/drawing/2010/main">
                <a:solidFill>
                  <a:srgbClr val="FFFFFF"/>
                </a:solidFill>
              </a14:hiddenFill>
            </a:ext>
          </a:extLst>
        </p:spPr>
      </p:pic>
      <p:cxnSp>
        <p:nvCxnSpPr>
          <p:cNvPr id="71" name="Straight Connector 70">
            <a:extLst>
              <a:ext uri="{FF2B5EF4-FFF2-40B4-BE49-F238E27FC236}">
                <a16:creationId xmlns:a16="http://schemas.microsoft.com/office/drawing/2014/main" id="{6706796A-94E1-E46E-536A-64DAD4510C38}"/>
              </a:ext>
            </a:extLst>
          </p:cNvPr>
          <p:cNvCxnSpPr>
            <a:cxnSpLocks/>
          </p:cNvCxnSpPr>
          <p:nvPr/>
        </p:nvCxnSpPr>
        <p:spPr bwMode="gray">
          <a:xfrm>
            <a:off x="478031" y="3953440"/>
            <a:ext cx="10936558" cy="32798"/>
          </a:xfrm>
          <a:prstGeom prst="line">
            <a:avLst/>
          </a:prstGeom>
          <a:ln w="12700" cap="sq" cmpd="tri">
            <a:solidFill>
              <a:schemeClr val="accent1">
                <a:lumMod val="90000"/>
                <a:lumOff val="10000"/>
              </a:schemeClr>
            </a:solidFill>
            <a:prstDash val="lgDashDot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5398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487C2-D946-F44F-1CC0-34584C4FDBC6}"/>
              </a:ext>
            </a:extLst>
          </p:cNvPr>
          <p:cNvSpPr>
            <a:spLocks noGrp="1"/>
          </p:cNvSpPr>
          <p:nvPr>
            <p:ph type="ctrTitle"/>
          </p:nvPr>
        </p:nvSpPr>
        <p:spPr/>
        <p:txBody>
          <a:bodyPr/>
          <a:lstStyle/>
          <a:p>
            <a:r>
              <a:rPr lang="en-US" altLang="zh-CN"/>
              <a:t>THANK YOU</a:t>
            </a:r>
            <a:endParaRPr lang="zh-CN" altLang="en-US"/>
          </a:p>
        </p:txBody>
      </p:sp>
    </p:spTree>
    <p:extLst>
      <p:ext uri="{BB962C8B-B14F-4D97-AF65-F5344CB8AC3E}">
        <p14:creationId xmlns:p14="http://schemas.microsoft.com/office/powerpoint/2010/main" val="52164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CB3F1-75E9-90AE-978E-BEA018F1307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3D76C2-19B4-8B71-73CD-98C613DBC103}"/>
              </a:ext>
            </a:extLst>
          </p:cNvPr>
          <p:cNvSpPr>
            <a:spLocks noGrp="1"/>
          </p:cNvSpPr>
          <p:nvPr>
            <p:ph type="title"/>
          </p:nvPr>
        </p:nvSpPr>
        <p:spPr>
          <a:xfrm>
            <a:off x="479441" y="550973"/>
            <a:ext cx="11233151" cy="720000"/>
          </a:xfrm>
        </p:spPr>
        <p:txBody>
          <a:bodyPr/>
          <a:lstStyle/>
          <a:p>
            <a:r>
              <a:rPr lang="en-US" altLang="zh-CN" sz="2800" dirty="0">
                <a:solidFill>
                  <a:schemeClr val="tx1"/>
                </a:solidFill>
              </a:rPr>
              <a:t>Study Timeline</a:t>
            </a:r>
            <a:endParaRPr lang="zh-CN" altLang="en-US" sz="2800" dirty="0">
              <a:solidFill>
                <a:schemeClr val="tx1"/>
              </a:solidFill>
            </a:endParaRPr>
          </a:p>
        </p:txBody>
      </p:sp>
      <p:sp>
        <p:nvSpPr>
          <p:cNvPr id="4" name="页脚占位符 3">
            <a:extLst>
              <a:ext uri="{FF2B5EF4-FFF2-40B4-BE49-F238E27FC236}">
                <a16:creationId xmlns:a16="http://schemas.microsoft.com/office/drawing/2014/main" id="{5F0DFDDD-44A1-5576-CDFE-21F70DD484CF}"/>
              </a:ext>
            </a:extLst>
          </p:cNvPr>
          <p:cNvSpPr>
            <a:spLocks noGrp="1"/>
          </p:cNvSpPr>
          <p:nvPr>
            <p:ph type="ftr" sz="quarter" idx="16"/>
          </p:nvPr>
        </p:nvSpPr>
        <p:spPr/>
        <p:txBody>
          <a:bodyPr/>
          <a:lstStyle/>
          <a:p>
            <a:r>
              <a:rPr lang="en-US"/>
              <a:t>|    ONLY FOR INTERNAL USE</a:t>
            </a:r>
          </a:p>
        </p:txBody>
      </p:sp>
      <p:sp>
        <p:nvSpPr>
          <p:cNvPr id="5" name="灯片编号占位符 4">
            <a:extLst>
              <a:ext uri="{FF2B5EF4-FFF2-40B4-BE49-F238E27FC236}">
                <a16:creationId xmlns:a16="http://schemas.microsoft.com/office/drawing/2014/main" id="{27A0B309-17A2-40A1-62C8-5A38FECA5308}"/>
              </a:ext>
            </a:extLst>
          </p:cNvPr>
          <p:cNvSpPr>
            <a:spLocks noGrp="1"/>
          </p:cNvSpPr>
          <p:nvPr>
            <p:ph type="sldNum" sz="quarter" idx="17"/>
          </p:nvPr>
        </p:nvSpPr>
        <p:spPr/>
        <p:txBody>
          <a:bodyPr/>
          <a:lstStyle/>
          <a:p>
            <a:fld id="{8FF9B0DE-3FEB-4AA0-B465-B80EF7C1333D}" type="slidenum">
              <a:rPr lang="en-US" smtClean="0"/>
              <a:pPr/>
              <a:t>13</a:t>
            </a:fld>
            <a:endParaRPr lang="en-US"/>
          </a:p>
        </p:txBody>
      </p:sp>
      <p:graphicFrame>
        <p:nvGraphicFramePr>
          <p:cNvPr id="8" name="内容占位符 7">
            <a:extLst>
              <a:ext uri="{FF2B5EF4-FFF2-40B4-BE49-F238E27FC236}">
                <a16:creationId xmlns:a16="http://schemas.microsoft.com/office/drawing/2014/main" id="{55A56C88-6C94-8D5C-A2E0-60DD2048FA54}"/>
              </a:ext>
            </a:extLst>
          </p:cNvPr>
          <p:cNvGraphicFramePr>
            <a:graphicFrameLocks/>
          </p:cNvGraphicFramePr>
          <p:nvPr>
            <p:extLst>
              <p:ext uri="{D42A27DB-BD31-4B8C-83A1-F6EECF244321}">
                <p14:modId xmlns:p14="http://schemas.microsoft.com/office/powerpoint/2010/main" val="2731181227"/>
              </p:ext>
            </p:extLst>
          </p:nvPr>
        </p:nvGraphicFramePr>
        <p:xfrm>
          <a:off x="2705147" y="1477672"/>
          <a:ext cx="5271191" cy="3902655"/>
        </p:xfrm>
        <a:graphic>
          <a:graphicData uri="http://schemas.openxmlformats.org/drawingml/2006/table">
            <a:tbl>
              <a:tblPr firstRow="1" firstCol="1" bandRow="1">
                <a:tableStyleId>{0E3FDE45-AF77-4B5C-9715-49D594BDF05E}</a:tableStyleId>
              </a:tblPr>
              <a:tblGrid>
                <a:gridCol w="3528975">
                  <a:extLst>
                    <a:ext uri="{9D8B030D-6E8A-4147-A177-3AD203B41FA5}">
                      <a16:colId xmlns:a16="http://schemas.microsoft.com/office/drawing/2014/main" val="2718335937"/>
                    </a:ext>
                  </a:extLst>
                </a:gridCol>
                <a:gridCol w="1742216">
                  <a:extLst>
                    <a:ext uri="{9D8B030D-6E8A-4147-A177-3AD203B41FA5}">
                      <a16:colId xmlns:a16="http://schemas.microsoft.com/office/drawing/2014/main" val="2704648831"/>
                    </a:ext>
                  </a:extLst>
                </a:gridCol>
              </a:tblGrid>
              <a:tr h="326448">
                <a:tc>
                  <a:txBody>
                    <a:bodyPr/>
                    <a:lstStyle/>
                    <a:p>
                      <a:pPr algn="just"/>
                      <a:r>
                        <a:rPr lang="en-US" sz="1600" kern="100" dirty="0">
                          <a:effectLst/>
                          <a:latin typeface="+mn-ea"/>
                          <a:ea typeface="+mn-ea"/>
                        </a:rPr>
                        <a:t>Milestones</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100" dirty="0">
                          <a:effectLst/>
                          <a:latin typeface="+mn-ea"/>
                          <a:ea typeface="+mn-ea"/>
                          <a:cs typeface="Times New Roman" panose="02020603050405020304" pitchFamily="18" charset="0"/>
                        </a:rPr>
                        <a:t>Timeline</a:t>
                      </a:r>
                      <a:endParaRPr lang="zh-CN" alt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039613929"/>
                  </a:ext>
                </a:extLst>
              </a:tr>
              <a:tr h="3264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kern="100" dirty="0">
                          <a:solidFill>
                            <a:schemeClr val="tx1"/>
                          </a:solidFill>
                          <a:effectLst/>
                          <a:latin typeface="+mn-ea"/>
                          <a:ea typeface="+mn-ea"/>
                        </a:rPr>
                        <a:t>Local CEC/PEC endorsement</a:t>
                      </a:r>
                      <a:endParaRPr lang="zh-CN" altLang="en-US" sz="1600" b="0" kern="100" dirty="0">
                        <a:solidFill>
                          <a:schemeClr val="tx1"/>
                        </a:solidFill>
                        <a:effectLst/>
                        <a:latin typeface="+mn-ea"/>
                        <a:ea typeface="+mn-ea"/>
                        <a:cs typeface="+mn-cs"/>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100" dirty="0">
                          <a:effectLst/>
                          <a:latin typeface="+mn-ea"/>
                          <a:ea typeface="+mn-ea"/>
                        </a:rPr>
                        <a:t>Apr 2026</a:t>
                      </a:r>
                      <a:endParaRPr lang="zh-CN" alt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598921070"/>
                  </a:ext>
                </a:extLst>
              </a:tr>
              <a:tr h="326448">
                <a:tc>
                  <a:txBody>
                    <a:bodyPr/>
                    <a:lstStyle/>
                    <a:p>
                      <a:pPr marL="0" algn="l" defTabSz="913532" rtl="0" eaLnBrk="1" latinLnBrk="0" hangingPunct="1"/>
                      <a:r>
                        <a:rPr lang="en-US" altLang="zh-CN" sz="1600" b="0" kern="100" dirty="0">
                          <a:effectLst/>
                          <a:latin typeface="+mn-ea"/>
                          <a:ea typeface="+mn-ea"/>
                        </a:rPr>
                        <a:t>Proposal submitted to Lectrona </a:t>
                      </a:r>
                      <a:endParaRPr lang="zh-CN" altLang="en-US" sz="1600" b="0" kern="100" dirty="0">
                        <a:solidFill>
                          <a:schemeClr val="tx1"/>
                        </a:solidFill>
                        <a:effectLst/>
                        <a:latin typeface="+mn-ea"/>
                        <a:ea typeface="+mn-ea"/>
                        <a:cs typeface="+mn-cs"/>
                      </a:endParaRPr>
                    </a:p>
                  </a:txBody>
                  <a:tcPr marL="68580" marR="68580" marT="0" marB="0" anchor="ctr"/>
                </a:tc>
                <a:tc>
                  <a:txBody>
                    <a:bodyPr/>
                    <a:lstStyle/>
                    <a:p>
                      <a:pPr marL="0" algn="ctr" defTabSz="913532" rtl="0" eaLnBrk="1" latinLnBrk="0" hangingPunct="1"/>
                      <a:r>
                        <a:rPr lang="en-US" altLang="zh-CN" sz="1600" b="0" kern="100" dirty="0">
                          <a:solidFill>
                            <a:schemeClr val="tx1"/>
                          </a:solidFill>
                          <a:effectLst/>
                          <a:latin typeface="+mn-ea"/>
                          <a:ea typeface="+mn-ea"/>
                          <a:cs typeface="+mn-cs"/>
                        </a:rPr>
                        <a:t>May 2026</a:t>
                      </a:r>
                      <a:endParaRPr lang="zh-CN" altLang="en-US" sz="1600" b="0" kern="100" dirty="0">
                        <a:solidFill>
                          <a:schemeClr val="tx1"/>
                        </a:solidFill>
                        <a:effectLst/>
                        <a:latin typeface="+mn-ea"/>
                        <a:ea typeface="+mn-ea"/>
                        <a:cs typeface="+mn-cs"/>
                      </a:endParaRPr>
                    </a:p>
                  </a:txBody>
                  <a:tcPr marL="68580" marR="68580" marT="0" marB="0" anchor="ctr"/>
                </a:tc>
                <a:extLst>
                  <a:ext uri="{0D108BD9-81ED-4DB2-BD59-A6C34878D82A}">
                    <a16:rowId xmlns:a16="http://schemas.microsoft.com/office/drawing/2014/main" val="3642483411"/>
                  </a:ext>
                </a:extLst>
              </a:tr>
              <a:tr h="326448">
                <a:tc>
                  <a:txBody>
                    <a:bodyPr/>
                    <a:lstStyle/>
                    <a:p>
                      <a:pPr algn="l"/>
                      <a:r>
                        <a:rPr lang="en-US" sz="1600" b="0" kern="100" dirty="0">
                          <a:effectLst/>
                          <a:latin typeface="+mn-ea"/>
                          <a:ea typeface="+mn-ea"/>
                        </a:rPr>
                        <a:t>Proposal release</a:t>
                      </a:r>
                      <a:endParaRPr lang="zh-CN" sz="1600" b="0" kern="100" dirty="0">
                        <a:effectLst/>
                        <a:latin typeface="+mn-ea"/>
                        <a:ea typeface="+mn-ea"/>
                        <a:cs typeface="Times New Roman" panose="02020603050405020304" pitchFamily="18" charset="0"/>
                      </a:endParaRPr>
                    </a:p>
                  </a:txBody>
                  <a:tcPr marL="68580" marR="68580" marT="0" marB="0" anchor="ctr"/>
                </a:tc>
                <a:tc>
                  <a:txBody>
                    <a:bodyPr/>
                    <a:lstStyle/>
                    <a:p>
                      <a:pPr marL="0" algn="ctr" defTabSz="913532" rtl="0" eaLnBrk="1" latinLnBrk="0" hangingPunct="1"/>
                      <a:r>
                        <a:rPr lang="en-US" altLang="zh-CN" sz="1600" b="0" kern="100" dirty="0">
                          <a:solidFill>
                            <a:schemeClr val="tx1"/>
                          </a:solidFill>
                          <a:effectLst/>
                          <a:latin typeface="+mn-ea"/>
                          <a:ea typeface="+mn-ea"/>
                          <a:cs typeface="+mn-cs"/>
                        </a:rPr>
                        <a:t>July 2026</a:t>
                      </a:r>
                      <a:endParaRPr lang="zh-CN" altLang="en-US" sz="1600" b="0" kern="100" dirty="0">
                        <a:solidFill>
                          <a:schemeClr val="tx1"/>
                        </a:solidFill>
                        <a:effectLst/>
                        <a:latin typeface="+mn-ea"/>
                        <a:ea typeface="+mn-ea"/>
                        <a:cs typeface="+mn-cs"/>
                      </a:endParaRPr>
                    </a:p>
                  </a:txBody>
                  <a:tcPr marL="68580" marR="68580" marT="0" marB="0" anchor="ctr"/>
                </a:tc>
                <a:extLst>
                  <a:ext uri="{0D108BD9-81ED-4DB2-BD59-A6C34878D82A}">
                    <a16:rowId xmlns:a16="http://schemas.microsoft.com/office/drawing/2014/main" val="1252790041"/>
                  </a:ext>
                </a:extLst>
              </a:tr>
              <a:tr h="326448">
                <a:tc>
                  <a:txBody>
                    <a:bodyPr/>
                    <a:lstStyle/>
                    <a:p>
                      <a:pPr algn="l"/>
                      <a:r>
                        <a:rPr lang="en-US" sz="1600" b="0" kern="100" dirty="0">
                          <a:effectLst/>
                          <a:latin typeface="+mn-ea"/>
                          <a:ea typeface="+mn-ea"/>
                        </a:rPr>
                        <a:t>Protocol submitted to Lectrona</a:t>
                      </a:r>
                      <a:endParaRPr lang="zh-CN" sz="1600" b="0" kern="100" dirty="0">
                        <a:effectLst/>
                        <a:latin typeface="+mn-ea"/>
                        <a:ea typeface="+mn-ea"/>
                        <a:cs typeface="Times New Roman" panose="02020603050405020304" pitchFamily="18" charset="0"/>
                      </a:endParaRPr>
                    </a:p>
                  </a:txBody>
                  <a:tcPr marL="68580" marR="68580" marT="0" marB="0" anchor="ctr"/>
                </a:tc>
                <a:tc>
                  <a:txBody>
                    <a:bodyPr/>
                    <a:lstStyle/>
                    <a:p>
                      <a:pPr algn="ctr"/>
                      <a:r>
                        <a:rPr lang="en-US" altLang="zh-CN" sz="1600" kern="100" dirty="0">
                          <a:effectLst/>
                          <a:latin typeface="+mn-ea"/>
                          <a:ea typeface="+mn-ea"/>
                          <a:cs typeface="Times New Roman" panose="02020603050405020304" pitchFamily="18" charset="0"/>
                        </a:rPr>
                        <a:t>Aug 2026</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142673170"/>
                  </a:ext>
                </a:extLst>
              </a:tr>
              <a:tr h="326448">
                <a:tc>
                  <a:txBody>
                    <a:bodyPr/>
                    <a:lstStyle/>
                    <a:p>
                      <a:pPr algn="l"/>
                      <a:r>
                        <a:rPr lang="en-US" sz="1600" b="0" kern="100" dirty="0">
                          <a:effectLst/>
                          <a:latin typeface="+mn-ea"/>
                          <a:ea typeface="+mn-ea"/>
                        </a:rPr>
                        <a:t>Protocol review &amp; approval</a:t>
                      </a:r>
                      <a:endParaRPr lang="zh-CN" sz="1600" b="0" kern="100" dirty="0">
                        <a:effectLst/>
                        <a:latin typeface="+mn-ea"/>
                        <a:ea typeface="+mn-ea"/>
                        <a:cs typeface="Times New Roman" panose="02020603050405020304" pitchFamily="18" charset="0"/>
                      </a:endParaRPr>
                    </a:p>
                  </a:txBody>
                  <a:tcPr marL="68580" marR="68580" marT="0" marB="0" anchor="ctr"/>
                </a:tc>
                <a:tc>
                  <a:txBody>
                    <a:bodyPr/>
                    <a:lstStyle/>
                    <a:p>
                      <a:pPr algn="ctr"/>
                      <a:r>
                        <a:rPr lang="en-US" altLang="zh-CN" sz="1600" kern="100" dirty="0">
                          <a:effectLst/>
                          <a:latin typeface="+mn-ea"/>
                          <a:ea typeface="+mn-ea"/>
                          <a:cs typeface="Times New Roman" panose="02020603050405020304" pitchFamily="18" charset="0"/>
                        </a:rPr>
                        <a:t>Oct 2026</a:t>
                      </a:r>
                      <a:endParaRPr lang="zh-CN" alt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773946682"/>
                  </a:ext>
                </a:extLst>
              </a:tr>
              <a:tr h="326448">
                <a:tc>
                  <a:txBody>
                    <a:bodyPr/>
                    <a:lstStyle/>
                    <a:p>
                      <a:pPr algn="l"/>
                      <a:r>
                        <a:rPr lang="en-GB" sz="1600" b="0" kern="100">
                          <a:effectLst/>
                          <a:latin typeface="+mn-ea"/>
                          <a:ea typeface="+mn-ea"/>
                        </a:rPr>
                        <a:t>IRB/IEC approval</a:t>
                      </a:r>
                      <a:endParaRPr lang="zh-CN" sz="1600" b="0" kern="100">
                        <a:effectLst/>
                        <a:latin typeface="+mn-ea"/>
                        <a:ea typeface="+mn-ea"/>
                        <a:cs typeface="Times New Roman" panose="02020603050405020304" pitchFamily="18" charset="0"/>
                      </a:endParaRPr>
                    </a:p>
                  </a:txBody>
                  <a:tcPr marL="68580" marR="68580" marT="0" marB="0" anchor="ctr"/>
                </a:tc>
                <a:tc>
                  <a:txBody>
                    <a:bodyPr/>
                    <a:lstStyle/>
                    <a:p>
                      <a:pPr algn="ctr"/>
                      <a:r>
                        <a:rPr lang="en-US" altLang="zh-CN" sz="1600" kern="100" dirty="0">
                          <a:effectLst/>
                          <a:latin typeface="+mn-ea"/>
                          <a:ea typeface="+mn-ea"/>
                          <a:cs typeface="Times New Roman" panose="02020603050405020304" pitchFamily="18" charset="0"/>
                        </a:rPr>
                        <a:t>Nov 2026</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535682880"/>
                  </a:ext>
                </a:extLst>
              </a:tr>
              <a:tr h="326448">
                <a:tc>
                  <a:txBody>
                    <a:bodyPr/>
                    <a:lstStyle/>
                    <a:p>
                      <a:pPr algn="l"/>
                      <a:r>
                        <a:rPr lang="en-US" sz="1600" b="0" kern="100" dirty="0">
                          <a:effectLst/>
                          <a:latin typeface="+mn-ea"/>
                          <a:ea typeface="+mn-ea"/>
                        </a:rPr>
                        <a:t>Contract</a:t>
                      </a:r>
                      <a:endParaRPr lang="zh-CN" sz="1600" b="0" kern="100" dirty="0">
                        <a:effectLst/>
                        <a:latin typeface="+mn-ea"/>
                        <a:ea typeface="+mn-ea"/>
                        <a:cs typeface="Times New Roman" panose="02020603050405020304" pitchFamily="18" charset="0"/>
                      </a:endParaRPr>
                    </a:p>
                  </a:txBody>
                  <a:tcPr marL="68580" marR="68580" marT="0" marB="0" anchor="ctr"/>
                </a:tc>
                <a:tc>
                  <a:txBody>
                    <a:bodyPr/>
                    <a:lstStyle/>
                    <a:p>
                      <a:pPr algn="ctr"/>
                      <a:r>
                        <a:rPr lang="en-US" altLang="zh-CN" sz="1600" kern="100" dirty="0">
                          <a:effectLst/>
                          <a:latin typeface="+mn-ea"/>
                          <a:ea typeface="+mn-ea"/>
                          <a:cs typeface="Times New Roman" panose="02020603050405020304" pitchFamily="18" charset="0"/>
                        </a:rPr>
                        <a:t>Feb 2027</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81618328"/>
                  </a:ext>
                </a:extLst>
              </a:tr>
              <a:tr h="326448">
                <a:tc>
                  <a:txBody>
                    <a:bodyPr/>
                    <a:lstStyle/>
                    <a:p>
                      <a:pPr algn="l"/>
                      <a:r>
                        <a:rPr lang="en-US" sz="1600" b="0" i="0" kern="100">
                          <a:effectLst/>
                          <a:latin typeface="+mn-ea"/>
                          <a:ea typeface="+mn-ea"/>
                        </a:rPr>
                        <a:t>Data extraction starts</a:t>
                      </a:r>
                      <a:endParaRPr lang="zh-CN" sz="1600" b="0" i="0" kern="100">
                        <a:effectLst/>
                        <a:latin typeface="+mn-ea"/>
                        <a:ea typeface="+mn-ea"/>
                        <a:cs typeface="Times New Roman" panose="02020603050405020304" pitchFamily="18" charset="0"/>
                      </a:endParaRPr>
                    </a:p>
                  </a:txBody>
                  <a:tcPr marL="68580" marR="68580" marT="0" marB="0" anchor="ctr"/>
                </a:tc>
                <a:tc>
                  <a:txBody>
                    <a:bodyPr/>
                    <a:lstStyle/>
                    <a:p>
                      <a:pPr algn="ctr"/>
                      <a:r>
                        <a:rPr lang="en-US" altLang="zh-CN" sz="1600" i="0" kern="100" dirty="0">
                          <a:effectLst/>
                          <a:latin typeface="+mn-ea"/>
                          <a:ea typeface="+mn-ea"/>
                          <a:cs typeface="Times New Roman" panose="02020603050405020304" pitchFamily="18" charset="0"/>
                        </a:rPr>
                        <a:t>Apr 2027</a:t>
                      </a:r>
                      <a:endParaRPr lang="zh-CN" sz="1600" i="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65136805"/>
                  </a:ext>
                </a:extLst>
              </a:tr>
              <a:tr h="311727">
                <a:tc>
                  <a:txBody>
                    <a:bodyPr/>
                    <a:lstStyle/>
                    <a:p>
                      <a:pPr algn="l"/>
                      <a:r>
                        <a:rPr lang="en-US" sz="1600" b="0" i="0" kern="100">
                          <a:effectLst/>
                          <a:latin typeface="+mn-ea"/>
                          <a:ea typeface="+mn-ea"/>
                        </a:rPr>
                        <a:t>Data extraction ends</a:t>
                      </a:r>
                      <a:endParaRPr lang="zh-CN" sz="1600" b="0" i="0" kern="100">
                        <a:effectLst/>
                        <a:latin typeface="+mn-ea"/>
                        <a:ea typeface="+mn-ea"/>
                        <a:cs typeface="Times New Roman" panose="02020603050405020304" pitchFamily="18" charset="0"/>
                      </a:endParaRPr>
                    </a:p>
                  </a:txBody>
                  <a:tcPr marL="68580" marR="68580" marT="0" marB="0" anchor="ctr"/>
                </a:tc>
                <a:tc>
                  <a:txBody>
                    <a:bodyPr/>
                    <a:lstStyle/>
                    <a:p>
                      <a:pPr algn="ctr"/>
                      <a:r>
                        <a:rPr lang="en-US" altLang="zh-CN" sz="1600" b="0" i="0" kern="100" dirty="0">
                          <a:effectLst/>
                          <a:latin typeface="+mn-ea"/>
                          <a:ea typeface="+mn-ea"/>
                          <a:cs typeface="Times New Roman" panose="02020603050405020304" pitchFamily="18" charset="0"/>
                        </a:rPr>
                        <a:t>Jun 2027</a:t>
                      </a:r>
                      <a:endParaRPr lang="zh-CN" sz="1600" b="0" i="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733554917"/>
                  </a:ext>
                </a:extLst>
              </a:tr>
              <a:tr h="326448">
                <a:tc>
                  <a:txBody>
                    <a:bodyPr/>
                    <a:lstStyle/>
                    <a:p>
                      <a:pPr algn="l" fontAlgn="base"/>
                      <a:r>
                        <a:rPr lang="en-US" sz="1600" b="0" i="0" kern="100" dirty="0">
                          <a:effectLst/>
                          <a:latin typeface="+mn-ea"/>
                          <a:ea typeface="+mn-ea"/>
                        </a:rPr>
                        <a:t>Data analysis and abstract </a:t>
                      </a:r>
                      <a:endParaRPr lang="zh-CN" sz="1600" b="0" i="0" kern="100" dirty="0">
                        <a:effectLst/>
                        <a:latin typeface="+mn-ea"/>
                        <a:ea typeface="+mn-ea"/>
                        <a:cs typeface="Times New Roman" panose="02020603050405020304" pitchFamily="18" charset="0"/>
                      </a:endParaRPr>
                    </a:p>
                  </a:txBody>
                  <a:tcPr marL="68580" marR="68580" marT="0" marB="0" anchor="ctr"/>
                </a:tc>
                <a:tc>
                  <a:txBody>
                    <a:bodyPr/>
                    <a:lstStyle/>
                    <a:p>
                      <a:pPr algn="ctr" fontAlgn="base"/>
                      <a:r>
                        <a:rPr lang="en-US" altLang="zh-CN" sz="1600" b="0" i="0" kern="100" dirty="0">
                          <a:effectLst/>
                          <a:latin typeface="+mn-ea"/>
                          <a:ea typeface="+mn-ea"/>
                          <a:cs typeface="Times New Roman" panose="02020603050405020304" pitchFamily="18" charset="0"/>
                        </a:rPr>
                        <a:t>Nov 2027</a:t>
                      </a:r>
                      <a:endParaRPr lang="zh-CN" sz="1600" b="0" i="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903015854"/>
                  </a:ext>
                </a:extLst>
              </a:tr>
              <a:tr h="326448">
                <a:tc>
                  <a:txBody>
                    <a:bodyPr/>
                    <a:lstStyle/>
                    <a:p>
                      <a:pPr algn="l" fontAlgn="base"/>
                      <a:r>
                        <a:rPr lang="en-US" sz="1600" b="0" kern="100" dirty="0">
                          <a:effectLst/>
                          <a:latin typeface="+mn-ea"/>
                          <a:ea typeface="+mn-ea"/>
                        </a:rPr>
                        <a:t>Study report review &amp; approval</a:t>
                      </a:r>
                      <a:endParaRPr lang="zh-CN" sz="1600" b="0" kern="100" dirty="0">
                        <a:effectLst/>
                        <a:latin typeface="+mn-ea"/>
                        <a:ea typeface="+mn-ea"/>
                        <a:cs typeface="Times New Roman" panose="02020603050405020304" pitchFamily="18" charset="0"/>
                      </a:endParaRPr>
                    </a:p>
                  </a:txBody>
                  <a:tcPr marL="68580" marR="68580" marT="0" marB="0" anchor="ctr"/>
                </a:tc>
                <a:tc>
                  <a:txBody>
                    <a:bodyPr/>
                    <a:lstStyle/>
                    <a:p>
                      <a:pPr algn="ctr" fontAlgn="base"/>
                      <a:r>
                        <a:rPr lang="en-US" altLang="zh-CN" sz="1600" kern="100" dirty="0">
                          <a:effectLst/>
                          <a:latin typeface="+mn-ea"/>
                          <a:ea typeface="+mn-ea"/>
                          <a:cs typeface="Times New Roman" panose="02020603050405020304" pitchFamily="18" charset="0"/>
                        </a:rPr>
                        <a:t>Jan 2028</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950397730"/>
                  </a:ext>
                </a:extLst>
              </a:tr>
            </a:tbl>
          </a:graphicData>
        </a:graphic>
      </p:graphicFrame>
      <p:pic>
        <p:nvPicPr>
          <p:cNvPr id="3" name="图形 13" descr="指向右边的反手食指 纯色填充">
            <a:extLst>
              <a:ext uri="{FF2B5EF4-FFF2-40B4-BE49-F238E27FC236}">
                <a16:creationId xmlns:a16="http://schemas.microsoft.com/office/drawing/2014/main" id="{61359632-D657-3E93-1B24-72B14BECF8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53983" y="1653736"/>
            <a:ext cx="764797" cy="764797"/>
          </a:xfrm>
          <a:prstGeom prst="rect">
            <a:avLst/>
          </a:prstGeom>
        </p:spPr>
      </p:pic>
    </p:spTree>
    <p:extLst>
      <p:ext uri="{BB962C8B-B14F-4D97-AF65-F5344CB8AC3E}">
        <p14:creationId xmlns:p14="http://schemas.microsoft.com/office/powerpoint/2010/main" val="2718045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520788D7-6BAB-5E15-4438-28D4A3F75FFB}"/>
              </a:ext>
            </a:extLst>
          </p:cNvPr>
          <p:cNvGraphicFramePr>
            <a:graphicFrameLocks noGrp="1"/>
          </p:cNvGraphicFramePr>
          <p:nvPr>
            <p:extLst>
              <p:ext uri="{D42A27DB-BD31-4B8C-83A1-F6EECF244321}">
                <p14:modId xmlns:p14="http://schemas.microsoft.com/office/powerpoint/2010/main" val="1835793654"/>
              </p:ext>
            </p:extLst>
          </p:nvPr>
        </p:nvGraphicFramePr>
        <p:xfrm>
          <a:off x="1062736" y="1547193"/>
          <a:ext cx="9644887" cy="3171135"/>
        </p:xfrm>
        <a:graphic>
          <a:graphicData uri="http://schemas.openxmlformats.org/drawingml/2006/table">
            <a:tbl>
              <a:tblPr firstRow="1" bandRow="1">
                <a:tableStyleId>{073A0DAA-6AF3-43AB-8588-CEC1D06C72B9}</a:tableStyleId>
              </a:tblPr>
              <a:tblGrid>
                <a:gridCol w="3362960">
                  <a:extLst>
                    <a:ext uri="{9D8B030D-6E8A-4147-A177-3AD203B41FA5}">
                      <a16:colId xmlns:a16="http://schemas.microsoft.com/office/drawing/2014/main" val="3302322938"/>
                    </a:ext>
                  </a:extLst>
                </a:gridCol>
                <a:gridCol w="2011680">
                  <a:extLst>
                    <a:ext uri="{9D8B030D-6E8A-4147-A177-3AD203B41FA5}">
                      <a16:colId xmlns:a16="http://schemas.microsoft.com/office/drawing/2014/main" val="1522181275"/>
                    </a:ext>
                  </a:extLst>
                </a:gridCol>
                <a:gridCol w="2752344">
                  <a:extLst>
                    <a:ext uri="{9D8B030D-6E8A-4147-A177-3AD203B41FA5}">
                      <a16:colId xmlns:a16="http://schemas.microsoft.com/office/drawing/2014/main" val="2290469662"/>
                    </a:ext>
                  </a:extLst>
                </a:gridCol>
                <a:gridCol w="1517903">
                  <a:extLst>
                    <a:ext uri="{9D8B030D-6E8A-4147-A177-3AD203B41FA5}">
                      <a16:colId xmlns:a16="http://schemas.microsoft.com/office/drawing/2014/main" val="3202493638"/>
                    </a:ext>
                  </a:extLst>
                </a:gridCol>
              </a:tblGrid>
              <a:tr h="553348">
                <a:tc>
                  <a:txBody>
                    <a:bodyPr/>
                    <a:lstStyle/>
                    <a:p>
                      <a:pPr algn="ctr"/>
                      <a:r>
                        <a:rPr lang="en-US" altLang="zh-CN" sz="1600" dirty="0">
                          <a:latin typeface="+mn-ea"/>
                          <a:ea typeface="+mn-ea"/>
                        </a:rPr>
                        <a:t>Congress Name</a:t>
                      </a:r>
                      <a:endParaRPr lang="zh-CN" altLang="en-US" sz="1600" dirty="0">
                        <a:latin typeface="+mn-ea"/>
                        <a:ea typeface="+mn-ea"/>
                      </a:endParaRPr>
                    </a:p>
                  </a:txBody>
                  <a:tcPr/>
                </a:tc>
                <a:tc>
                  <a:txBody>
                    <a:bodyPr/>
                    <a:lstStyle/>
                    <a:p>
                      <a:pPr algn="ctr"/>
                      <a:r>
                        <a:rPr lang="en-US" altLang="zh-CN" sz="1600" dirty="0">
                          <a:latin typeface="+mn-ea"/>
                          <a:ea typeface="+mn-ea"/>
                        </a:rPr>
                        <a:t>Congress Time*</a:t>
                      </a:r>
                      <a:endParaRPr lang="zh-CN" altLang="en-US" sz="1600" dirty="0">
                        <a:latin typeface="+mn-ea"/>
                        <a:ea typeface="+mn-ea"/>
                      </a:endParaRPr>
                    </a:p>
                  </a:txBody>
                  <a:tcPr/>
                </a:tc>
                <a:tc>
                  <a:txBody>
                    <a:bodyPr/>
                    <a:lstStyle/>
                    <a:p>
                      <a:pPr algn="ctr"/>
                      <a:r>
                        <a:rPr lang="en-US" altLang="zh-CN" sz="1600" dirty="0">
                          <a:latin typeface="+mn-ea"/>
                          <a:ea typeface="+mn-ea"/>
                        </a:rPr>
                        <a:t>Abstract submission </a:t>
                      </a:r>
                    </a:p>
                    <a:p>
                      <a:pPr algn="ctr"/>
                      <a:r>
                        <a:rPr lang="en-US" altLang="zh-CN" sz="1600" dirty="0">
                          <a:latin typeface="+mn-ea"/>
                          <a:ea typeface="+mn-ea"/>
                        </a:rPr>
                        <a:t>time window*</a:t>
                      </a:r>
                      <a:endParaRPr lang="zh-CN" altLang="en-US" sz="1600" dirty="0">
                        <a:latin typeface="+mn-ea"/>
                        <a:ea typeface="+mn-ea"/>
                      </a:endParaRPr>
                    </a:p>
                  </a:txBody>
                  <a:tcPr/>
                </a:tc>
                <a:tc>
                  <a:txBody>
                    <a:bodyPr/>
                    <a:lstStyle/>
                    <a:p>
                      <a:pPr algn="ctr"/>
                      <a:r>
                        <a:rPr lang="en-US" altLang="zh-CN" sz="1600" dirty="0">
                          <a:latin typeface="+mn-ea"/>
                          <a:ea typeface="+mn-ea"/>
                        </a:rPr>
                        <a:t>Site</a:t>
                      </a:r>
                      <a:endParaRPr lang="zh-CN" altLang="en-US" sz="1600" dirty="0">
                        <a:latin typeface="+mn-ea"/>
                        <a:ea typeface="+mn-ea"/>
                      </a:endParaRPr>
                    </a:p>
                  </a:txBody>
                  <a:tcPr/>
                </a:tc>
                <a:extLst>
                  <a:ext uri="{0D108BD9-81ED-4DB2-BD59-A6C34878D82A}">
                    <a16:rowId xmlns:a16="http://schemas.microsoft.com/office/drawing/2014/main" val="1220402629"/>
                  </a:ext>
                </a:extLst>
              </a:tr>
              <a:tr h="589159">
                <a:tc>
                  <a:txBody>
                    <a:bodyPr/>
                    <a:lstStyle/>
                    <a:p>
                      <a:r>
                        <a:rPr lang="en-US" altLang="zh-CN" sz="1600" dirty="0">
                          <a:latin typeface="+mn-ea"/>
                          <a:ea typeface="+mn-ea"/>
                        </a:rPr>
                        <a:t>CRA </a:t>
                      </a:r>
                      <a:r>
                        <a:rPr lang="zh-CN" altLang="en-US" sz="1600" dirty="0">
                          <a:latin typeface="+mn-ea"/>
                          <a:ea typeface="+mn-ea"/>
                        </a:rPr>
                        <a:t>中华医学会风湿病学学术会议</a:t>
                      </a:r>
                    </a:p>
                  </a:txBody>
                  <a:tcPr/>
                </a:tc>
                <a:tc>
                  <a:txBody>
                    <a:bodyPr/>
                    <a:lstStyle/>
                    <a:p>
                      <a:r>
                        <a:rPr lang="en-US" altLang="zh-CN" sz="1600" dirty="0">
                          <a:latin typeface="+mn-ea"/>
                          <a:ea typeface="+mn-ea"/>
                        </a:rPr>
                        <a:t>2028.5/2028.10</a:t>
                      </a:r>
                      <a:endParaRPr lang="zh-CN" altLang="en-US" sz="1600" dirty="0">
                        <a:latin typeface="+mn-ea"/>
                        <a:ea typeface="+mn-ea"/>
                      </a:endParaRPr>
                    </a:p>
                  </a:txBody>
                  <a:tcPr/>
                </a:tc>
                <a:tc>
                  <a:txBody>
                    <a:bodyPr/>
                    <a:lstStyle/>
                    <a:p>
                      <a:r>
                        <a:rPr lang="en-US" altLang="zh-CN" sz="1600" dirty="0">
                          <a:latin typeface="+mn-ea"/>
                          <a:ea typeface="+mn-ea"/>
                        </a:rPr>
                        <a:t>2028.3/2028.9</a:t>
                      </a:r>
                      <a:endParaRPr lang="zh-CN" altLang="en-US" sz="1600" dirty="0">
                        <a:latin typeface="+mn-ea"/>
                        <a:ea typeface="+mn-ea"/>
                      </a:endParaRPr>
                    </a:p>
                  </a:txBody>
                  <a:tcPr/>
                </a:tc>
                <a:tc>
                  <a:txBody>
                    <a:bodyPr/>
                    <a:lstStyle/>
                    <a:p>
                      <a:r>
                        <a:rPr lang="en-US" altLang="zh-CN" sz="1600" dirty="0">
                          <a:latin typeface="+mn-ea"/>
                          <a:ea typeface="+mn-ea"/>
                        </a:rPr>
                        <a:t>China</a:t>
                      </a:r>
                      <a:endParaRPr lang="zh-CN" altLang="en-US" sz="1600" dirty="0">
                        <a:latin typeface="+mn-ea"/>
                        <a:ea typeface="+mn-ea"/>
                      </a:endParaRPr>
                    </a:p>
                  </a:txBody>
                  <a:tcPr/>
                </a:tc>
                <a:extLst>
                  <a:ext uri="{0D108BD9-81ED-4DB2-BD59-A6C34878D82A}">
                    <a16:rowId xmlns:a16="http://schemas.microsoft.com/office/drawing/2014/main" val="525270334"/>
                  </a:ext>
                </a:extLst>
              </a:tr>
              <a:tr h="500714">
                <a:tc>
                  <a:txBody>
                    <a:bodyPr/>
                    <a:lstStyle/>
                    <a:p>
                      <a:r>
                        <a:rPr lang="en-US" altLang="zh-CN" sz="1600" dirty="0">
                          <a:latin typeface="+mn-ea"/>
                          <a:ea typeface="+mn-ea"/>
                        </a:rPr>
                        <a:t>SER </a:t>
                      </a:r>
                      <a:r>
                        <a:rPr lang="zh-CN" altLang="en-US" sz="1600" dirty="0">
                          <a:latin typeface="+mn-ea"/>
                          <a:ea typeface="+mn-ea"/>
                        </a:rPr>
                        <a:t>美国流行病学研究学会年会</a:t>
                      </a:r>
                    </a:p>
                  </a:txBody>
                  <a:tcPr/>
                </a:tc>
                <a:tc>
                  <a:txBody>
                    <a:bodyPr/>
                    <a:lstStyle/>
                    <a:p>
                      <a:r>
                        <a:rPr lang="en-US" altLang="zh-CN" sz="1600" dirty="0">
                          <a:latin typeface="+mn-ea"/>
                          <a:ea typeface="+mn-ea"/>
                        </a:rPr>
                        <a:t>2028.6</a:t>
                      </a:r>
                      <a:endParaRPr lang="zh-CN" altLang="en-US" sz="1600" dirty="0">
                        <a:latin typeface="+mn-ea"/>
                        <a:ea typeface="+mn-ea"/>
                      </a:endParaRPr>
                    </a:p>
                  </a:txBody>
                  <a:tcPr/>
                </a:tc>
                <a:tc>
                  <a:txBody>
                    <a:bodyPr/>
                    <a:lstStyle/>
                    <a:p>
                      <a:r>
                        <a:rPr lang="en-US" altLang="zh-CN" sz="1600" dirty="0">
                          <a:latin typeface="+mn-ea"/>
                          <a:ea typeface="+mn-ea"/>
                        </a:rPr>
                        <a:t>2027.11 to 2028.1</a:t>
                      </a:r>
                      <a:endParaRPr lang="zh-CN" altLang="en-US" sz="1600" dirty="0">
                        <a:latin typeface="+mn-ea"/>
                        <a:ea typeface="+mn-ea"/>
                      </a:endParaRPr>
                    </a:p>
                  </a:txBody>
                  <a:tcPr/>
                </a:tc>
                <a:tc>
                  <a:txBody>
                    <a:bodyPr/>
                    <a:lstStyle/>
                    <a:p>
                      <a:r>
                        <a:rPr lang="en-US" altLang="zh-CN" sz="1600" dirty="0">
                          <a:latin typeface="+mn-ea"/>
                          <a:ea typeface="+mn-ea"/>
                        </a:rPr>
                        <a:t>USA</a:t>
                      </a:r>
                      <a:endParaRPr lang="zh-CN" altLang="en-US" sz="1600" dirty="0">
                        <a:latin typeface="+mn-ea"/>
                        <a:ea typeface="+mn-ea"/>
                      </a:endParaRPr>
                    </a:p>
                  </a:txBody>
                  <a:tcPr/>
                </a:tc>
                <a:extLst>
                  <a:ext uri="{0D108BD9-81ED-4DB2-BD59-A6C34878D82A}">
                    <a16:rowId xmlns:a16="http://schemas.microsoft.com/office/drawing/2014/main" val="143156837"/>
                  </a:ext>
                </a:extLst>
              </a:tr>
              <a:tr h="500714">
                <a:tc>
                  <a:txBody>
                    <a:bodyPr/>
                    <a:lstStyle/>
                    <a:p>
                      <a:r>
                        <a:rPr lang="en-US" altLang="zh-CN" sz="1600" dirty="0">
                          <a:latin typeface="+mn-ea"/>
                          <a:ea typeface="+mn-ea"/>
                        </a:rPr>
                        <a:t>EULAR </a:t>
                      </a:r>
                      <a:r>
                        <a:rPr lang="zh-CN" altLang="en-US" sz="1600" dirty="0">
                          <a:latin typeface="+mn-ea"/>
                          <a:ea typeface="+mn-ea"/>
                        </a:rPr>
                        <a:t>欧洲风湿病学大会</a:t>
                      </a:r>
                    </a:p>
                  </a:txBody>
                  <a:tcPr/>
                </a:tc>
                <a:tc>
                  <a:txBody>
                    <a:bodyPr/>
                    <a:lstStyle/>
                    <a:p>
                      <a:r>
                        <a:rPr lang="en-US" altLang="zh-CN" sz="1600" dirty="0">
                          <a:latin typeface="+mn-ea"/>
                          <a:ea typeface="+mn-ea"/>
                        </a:rPr>
                        <a:t>2028.6</a:t>
                      </a:r>
                      <a:endParaRPr lang="zh-CN" altLang="en-US" sz="1600" dirty="0">
                        <a:latin typeface="+mn-ea"/>
                        <a:ea typeface="+mn-ea"/>
                      </a:endParaRPr>
                    </a:p>
                  </a:txBody>
                  <a:tcPr/>
                </a:tc>
                <a:tc>
                  <a:txBody>
                    <a:bodyPr/>
                    <a:lstStyle/>
                    <a:p>
                      <a:r>
                        <a:rPr lang="en-US" altLang="zh-CN" sz="1600" dirty="0">
                          <a:latin typeface="+mn-ea"/>
                          <a:ea typeface="+mn-ea"/>
                        </a:rPr>
                        <a:t>2027.10 to</a:t>
                      </a:r>
                      <a:r>
                        <a:rPr lang="zh-CN" altLang="en-US" sz="1600" dirty="0">
                          <a:latin typeface="+mn-ea"/>
                          <a:ea typeface="+mn-ea"/>
                        </a:rPr>
                        <a:t> </a:t>
                      </a:r>
                      <a:r>
                        <a:rPr lang="en-US" altLang="zh-CN" sz="1600" dirty="0">
                          <a:latin typeface="+mn-ea"/>
                          <a:ea typeface="+mn-ea"/>
                        </a:rPr>
                        <a:t>2028.1</a:t>
                      </a:r>
                      <a:endParaRPr lang="zh-CN" altLang="en-US" sz="16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latin typeface="+mn-ea"/>
                          <a:ea typeface="+mn-ea"/>
                        </a:rPr>
                        <a:t>(TBD)</a:t>
                      </a:r>
                      <a:endParaRPr lang="zh-CN" altLang="en-US" sz="1600" dirty="0">
                        <a:latin typeface="+mn-ea"/>
                        <a:ea typeface="+mn-ea"/>
                      </a:endParaRPr>
                    </a:p>
                  </a:txBody>
                  <a:tcPr/>
                </a:tc>
                <a:extLst>
                  <a:ext uri="{0D108BD9-81ED-4DB2-BD59-A6C34878D82A}">
                    <a16:rowId xmlns:a16="http://schemas.microsoft.com/office/drawing/2014/main" val="3609214463"/>
                  </a:ext>
                </a:extLst>
              </a:tr>
              <a:tr h="500714">
                <a:tc>
                  <a:txBody>
                    <a:bodyPr/>
                    <a:lstStyle/>
                    <a:p>
                      <a:r>
                        <a:rPr lang="en-US" altLang="zh-CN" sz="1600" dirty="0">
                          <a:latin typeface="+mn-ea"/>
                          <a:ea typeface="+mn-ea"/>
                        </a:rPr>
                        <a:t>APLAR </a:t>
                      </a:r>
                      <a:r>
                        <a:rPr lang="zh-CN" altLang="en-US" sz="1600" dirty="0">
                          <a:latin typeface="+mn-ea"/>
                          <a:ea typeface="+mn-ea"/>
                        </a:rPr>
                        <a:t>亚太风湿病协会联盟年会</a:t>
                      </a:r>
                    </a:p>
                  </a:txBody>
                  <a:tcPr/>
                </a:tc>
                <a:tc>
                  <a:txBody>
                    <a:bodyPr/>
                    <a:lstStyle/>
                    <a:p>
                      <a:r>
                        <a:rPr lang="en-US" altLang="zh-CN" sz="1600" dirty="0">
                          <a:latin typeface="+mn-ea"/>
                          <a:ea typeface="+mn-ea"/>
                        </a:rPr>
                        <a:t>2028.10</a:t>
                      </a:r>
                      <a:endParaRPr lang="zh-CN" altLang="en-US" sz="1600" dirty="0">
                        <a:latin typeface="+mn-ea"/>
                        <a:ea typeface="+mn-ea"/>
                      </a:endParaRPr>
                    </a:p>
                  </a:txBody>
                  <a:tcPr/>
                </a:tc>
                <a:tc>
                  <a:txBody>
                    <a:bodyPr/>
                    <a:lstStyle/>
                    <a:p>
                      <a:r>
                        <a:rPr lang="en-US" altLang="zh-CN" sz="1600" dirty="0">
                          <a:latin typeface="+mn-ea"/>
                          <a:ea typeface="+mn-ea"/>
                        </a:rPr>
                        <a:t>2027.9 to 2028.4</a:t>
                      </a:r>
                      <a:endParaRPr lang="zh-CN" altLang="en-US" sz="1600" dirty="0">
                        <a:latin typeface="+mn-ea"/>
                        <a:ea typeface="+mn-ea"/>
                      </a:endParaRPr>
                    </a:p>
                  </a:txBody>
                  <a:tcPr/>
                </a:tc>
                <a:tc>
                  <a:txBody>
                    <a:bodyPr/>
                    <a:lstStyle/>
                    <a:p>
                      <a:r>
                        <a:rPr lang="en-US" altLang="zh-CN" sz="1600" dirty="0">
                          <a:latin typeface="+mn-ea"/>
                          <a:ea typeface="+mn-ea"/>
                        </a:rPr>
                        <a:t>(TBD)</a:t>
                      </a:r>
                      <a:endParaRPr lang="zh-CN" altLang="en-US" sz="1600" dirty="0">
                        <a:latin typeface="+mn-ea"/>
                        <a:ea typeface="+mn-ea"/>
                      </a:endParaRPr>
                    </a:p>
                  </a:txBody>
                  <a:tcPr/>
                </a:tc>
                <a:extLst>
                  <a:ext uri="{0D108BD9-81ED-4DB2-BD59-A6C34878D82A}">
                    <a16:rowId xmlns:a16="http://schemas.microsoft.com/office/drawing/2014/main" val="3566024215"/>
                  </a:ext>
                </a:extLst>
              </a:tr>
              <a:tr h="500714">
                <a:tc>
                  <a:txBody>
                    <a:bodyPr/>
                    <a:lstStyle/>
                    <a:p>
                      <a:r>
                        <a:rPr lang="en-US" altLang="zh-CN" sz="1600" dirty="0">
                          <a:latin typeface="+mn-ea"/>
                          <a:ea typeface="+mn-ea"/>
                        </a:rPr>
                        <a:t>ACR</a:t>
                      </a:r>
                      <a:r>
                        <a:rPr lang="zh-CN" altLang="en-US" sz="1600" dirty="0">
                          <a:latin typeface="+mn-ea"/>
                          <a:ea typeface="+mn-ea"/>
                        </a:rPr>
                        <a:t>美国风湿病学年会</a:t>
                      </a:r>
                    </a:p>
                  </a:txBody>
                  <a:tcPr/>
                </a:tc>
                <a:tc>
                  <a:txBody>
                    <a:bodyPr/>
                    <a:lstStyle/>
                    <a:p>
                      <a:r>
                        <a:rPr lang="en-US" altLang="zh-CN" sz="1600" dirty="0">
                          <a:latin typeface="+mn-ea"/>
                          <a:ea typeface="+mn-ea"/>
                        </a:rPr>
                        <a:t>2028.10</a:t>
                      </a:r>
                      <a:endParaRPr lang="zh-CN" altLang="en-US" sz="1600" dirty="0">
                        <a:latin typeface="+mn-ea"/>
                        <a:ea typeface="+mn-ea"/>
                      </a:endParaRPr>
                    </a:p>
                  </a:txBody>
                  <a:tcPr/>
                </a:tc>
                <a:tc>
                  <a:txBody>
                    <a:bodyPr/>
                    <a:lstStyle/>
                    <a:p>
                      <a:r>
                        <a:rPr lang="en-US" altLang="zh-CN" sz="1600" dirty="0">
                          <a:latin typeface="+mn-ea"/>
                          <a:ea typeface="+mn-ea"/>
                        </a:rPr>
                        <a:t>2028.3 to</a:t>
                      </a:r>
                      <a:r>
                        <a:rPr lang="zh-CN" altLang="en-US" sz="1600" dirty="0">
                          <a:latin typeface="+mn-ea"/>
                          <a:ea typeface="+mn-ea"/>
                        </a:rPr>
                        <a:t> </a:t>
                      </a:r>
                      <a:r>
                        <a:rPr lang="en-US" altLang="zh-CN" sz="1600" dirty="0">
                          <a:latin typeface="+mn-ea"/>
                          <a:ea typeface="+mn-ea"/>
                        </a:rPr>
                        <a:t>2028.5</a:t>
                      </a:r>
                      <a:endParaRPr lang="zh-CN" altLang="en-US" sz="1600" dirty="0">
                        <a:latin typeface="+mn-ea"/>
                        <a:ea typeface="+mn-ea"/>
                      </a:endParaRPr>
                    </a:p>
                  </a:txBody>
                  <a:tcPr/>
                </a:tc>
                <a:tc>
                  <a:txBody>
                    <a:bodyPr/>
                    <a:lstStyle/>
                    <a:p>
                      <a:r>
                        <a:rPr lang="en-US" altLang="zh-CN" sz="1600" dirty="0">
                          <a:latin typeface="+mn-ea"/>
                          <a:ea typeface="+mn-ea"/>
                        </a:rPr>
                        <a:t>USA</a:t>
                      </a:r>
                      <a:endParaRPr lang="zh-CN" altLang="en-US" sz="1600" dirty="0">
                        <a:latin typeface="+mn-ea"/>
                        <a:ea typeface="+mn-ea"/>
                      </a:endParaRPr>
                    </a:p>
                  </a:txBody>
                  <a:tcPr/>
                </a:tc>
                <a:extLst>
                  <a:ext uri="{0D108BD9-81ED-4DB2-BD59-A6C34878D82A}">
                    <a16:rowId xmlns:a16="http://schemas.microsoft.com/office/drawing/2014/main" val="1220605140"/>
                  </a:ext>
                </a:extLst>
              </a:tr>
            </a:tbl>
          </a:graphicData>
        </a:graphic>
      </p:graphicFrame>
      <p:sp>
        <p:nvSpPr>
          <p:cNvPr id="5" name="文本框 4">
            <a:extLst>
              <a:ext uri="{FF2B5EF4-FFF2-40B4-BE49-F238E27FC236}">
                <a16:creationId xmlns:a16="http://schemas.microsoft.com/office/drawing/2014/main" id="{876BF8B5-B1E4-1353-C9FD-42ED7E9A7908}"/>
              </a:ext>
            </a:extLst>
          </p:cNvPr>
          <p:cNvSpPr txBox="1"/>
          <p:nvPr/>
        </p:nvSpPr>
        <p:spPr>
          <a:xfrm>
            <a:off x="1062736" y="5577840"/>
            <a:ext cx="6455664" cy="307777"/>
          </a:xfrm>
          <a:prstGeom prst="rect">
            <a:avLst/>
          </a:prstGeom>
          <a:noFill/>
        </p:spPr>
        <p:txBody>
          <a:bodyPr wrap="square" rtlCol="0">
            <a:spAutoFit/>
          </a:bodyPr>
          <a:lstStyle/>
          <a:p>
            <a:r>
              <a:rPr lang="en-US" altLang="zh-CN" sz="1400" dirty="0"/>
              <a:t>*The time is estimated based on past information and may change annually.</a:t>
            </a:r>
            <a:endParaRPr lang="zh-CN" altLang="en-US" sz="1400" dirty="0"/>
          </a:p>
        </p:txBody>
      </p:sp>
      <p:sp>
        <p:nvSpPr>
          <p:cNvPr id="2" name="Title 1">
            <a:extLst>
              <a:ext uri="{FF2B5EF4-FFF2-40B4-BE49-F238E27FC236}">
                <a16:creationId xmlns:a16="http://schemas.microsoft.com/office/drawing/2014/main" id="{DAD1A1A3-35DC-E5FA-3859-C21C1FE61D62}"/>
              </a:ext>
            </a:extLst>
          </p:cNvPr>
          <p:cNvSpPr txBox="1">
            <a:spLocks/>
          </p:cNvSpPr>
          <p:nvPr/>
        </p:nvSpPr>
        <p:spPr bwMode="gray">
          <a:xfrm>
            <a:off x="479424" y="513576"/>
            <a:ext cx="11233151" cy="720000"/>
          </a:xfrm>
          <a:prstGeom prst="rect">
            <a:avLst/>
          </a:prstGeom>
        </p:spPr>
        <p:txBody>
          <a:bodyPr vert="horz" lIns="0" tIns="0" rIns="0" bIns="0" rtlCol="0" anchor="t">
            <a:noAutofit/>
          </a:bodyPr>
          <a:lstStyle>
            <a:lvl1pPr algn="ctr" defTabSz="914400" rtl="0" eaLnBrk="1" latinLnBrk="0" hangingPunct="1">
              <a:lnSpc>
                <a:spcPct val="100000"/>
              </a:lnSpc>
              <a:spcBef>
                <a:spcPct val="0"/>
              </a:spcBef>
              <a:buNone/>
              <a:defRPr sz="6000" b="1" kern="1200">
                <a:solidFill>
                  <a:schemeClr val="bg2"/>
                </a:solidFill>
                <a:latin typeface="+mj-lt"/>
                <a:ea typeface="+mj-ea"/>
                <a:cs typeface="+mj-cs"/>
              </a:defRPr>
            </a:lvl1pPr>
          </a:lstStyle>
          <a:p>
            <a:pPr algn="l"/>
            <a:r>
              <a:rPr lang="en-US" altLang="zh-CN" sz="2800" dirty="0">
                <a:latin typeface="+mj-ea"/>
              </a:rPr>
              <a:t>2028</a:t>
            </a:r>
            <a:r>
              <a:rPr lang="zh-CN" altLang="en-US" sz="2800" dirty="0">
                <a:latin typeface="+mj-ea"/>
              </a:rPr>
              <a:t>年</a:t>
            </a:r>
            <a:r>
              <a:rPr lang="en-US" altLang="zh-CN" sz="2800" dirty="0">
                <a:latin typeface="+mj-ea"/>
              </a:rPr>
              <a:t>SSc</a:t>
            </a:r>
            <a:r>
              <a:rPr lang="zh-CN" altLang="en-US" sz="2800" dirty="0">
                <a:latin typeface="+mj-ea"/>
              </a:rPr>
              <a:t>相关大会信息</a:t>
            </a:r>
          </a:p>
        </p:txBody>
      </p:sp>
    </p:spTree>
    <p:extLst>
      <p:ext uri="{BB962C8B-B14F-4D97-AF65-F5344CB8AC3E}">
        <p14:creationId xmlns:p14="http://schemas.microsoft.com/office/powerpoint/2010/main" val="4050255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93CB-0975-8DA0-A7F3-0F1E82722B3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35C394-B4C3-C283-6A2E-5BABA62DA848}"/>
              </a:ext>
            </a:extLst>
          </p:cNvPr>
          <p:cNvSpPr>
            <a:spLocks noGrp="1"/>
          </p:cNvSpPr>
          <p:nvPr>
            <p:ph type="sldNum" sz="quarter" idx="20"/>
          </p:nvPr>
        </p:nvSpPr>
        <p:spPr/>
        <p:txBody>
          <a:bodyPr/>
          <a:lstStyle/>
          <a:p>
            <a:fld id="{DF4E8F9F-5B1F-4F5B-BE49-3245D8C18D9F}" type="slidenum">
              <a:rPr lang="en-US" smtClean="0"/>
              <a:pPr/>
              <a:t>15</a:t>
            </a:fld>
            <a:endParaRPr lang="en-US"/>
          </a:p>
        </p:txBody>
      </p:sp>
      <p:graphicFrame>
        <p:nvGraphicFramePr>
          <p:cNvPr id="8" name="Table 7">
            <a:extLst>
              <a:ext uri="{FF2B5EF4-FFF2-40B4-BE49-F238E27FC236}">
                <a16:creationId xmlns:a16="http://schemas.microsoft.com/office/drawing/2014/main" id="{2D3F66C6-D712-6F57-846B-F2740FB6C91D}"/>
              </a:ext>
            </a:extLst>
          </p:cNvPr>
          <p:cNvGraphicFramePr>
            <a:graphicFrameLocks noGrp="1"/>
          </p:cNvGraphicFramePr>
          <p:nvPr>
            <p:extLst>
              <p:ext uri="{D42A27DB-BD31-4B8C-83A1-F6EECF244321}">
                <p14:modId xmlns:p14="http://schemas.microsoft.com/office/powerpoint/2010/main" val="2287808726"/>
              </p:ext>
            </p:extLst>
          </p:nvPr>
        </p:nvGraphicFramePr>
        <p:xfrm>
          <a:off x="1036237" y="815512"/>
          <a:ext cx="10436732" cy="5226976"/>
        </p:xfrm>
        <a:graphic>
          <a:graphicData uri="http://schemas.openxmlformats.org/drawingml/2006/table">
            <a:tbl>
              <a:tblPr firstRow="1">
                <a:tableStyleId>{6E25E649-3F16-4E02-A733-19D2CDBF48F0}</a:tableStyleId>
              </a:tblPr>
              <a:tblGrid>
                <a:gridCol w="2175668">
                  <a:extLst>
                    <a:ext uri="{9D8B030D-6E8A-4147-A177-3AD203B41FA5}">
                      <a16:colId xmlns:a16="http://schemas.microsoft.com/office/drawing/2014/main" val="954024403"/>
                    </a:ext>
                  </a:extLst>
                </a:gridCol>
                <a:gridCol w="5487076">
                  <a:extLst>
                    <a:ext uri="{9D8B030D-6E8A-4147-A177-3AD203B41FA5}">
                      <a16:colId xmlns:a16="http://schemas.microsoft.com/office/drawing/2014/main" val="2216726037"/>
                    </a:ext>
                  </a:extLst>
                </a:gridCol>
                <a:gridCol w="2773988">
                  <a:extLst>
                    <a:ext uri="{9D8B030D-6E8A-4147-A177-3AD203B41FA5}">
                      <a16:colId xmlns:a16="http://schemas.microsoft.com/office/drawing/2014/main" val="4231055978"/>
                    </a:ext>
                  </a:extLst>
                </a:gridCol>
              </a:tblGrid>
              <a:tr h="320934">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dirty="0">
                          <a:latin typeface="SimSun" panose="02010600030101010101" pitchFamily="2" charset="-122"/>
                          <a:ea typeface="SimSun" panose="02010600030101010101" pitchFamily="2" charset="-122"/>
                        </a:rPr>
                        <a:t>项目类别</a:t>
                      </a: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dirty="0">
                          <a:latin typeface="SimSun" panose="02010600030101010101" pitchFamily="2" charset="-122"/>
                          <a:ea typeface="SimSun" panose="02010600030101010101" pitchFamily="2" charset="-122"/>
                        </a:rPr>
                        <a:t>详细内容</a:t>
                      </a:r>
                    </a:p>
                  </a:txBody>
                  <a:tcPr anchor="ctr"/>
                </a:tc>
                <a:tc>
                  <a:txBody>
                    <a:bodyPr/>
                    <a:lstStyle/>
                    <a:p>
                      <a:pPr algn="ctr">
                        <a:spcAft>
                          <a:spcPts val="600"/>
                        </a:spcAft>
                      </a:pPr>
                      <a:r>
                        <a:rPr lang="zh-CN" altLang="en-US" sz="1200" dirty="0">
                          <a:latin typeface="SimSun" panose="02010600030101010101" pitchFamily="2" charset="-122"/>
                          <a:ea typeface="SimSun" panose="02010600030101010101" pitchFamily="2" charset="-122"/>
                        </a:rPr>
                        <a:t>小计（元）</a:t>
                      </a:r>
                    </a:p>
                  </a:txBody>
                  <a:tcPr anchor="ctr"/>
                </a:tc>
                <a:extLst>
                  <a:ext uri="{0D108BD9-81ED-4DB2-BD59-A6C34878D82A}">
                    <a16:rowId xmlns:a16="http://schemas.microsoft.com/office/drawing/2014/main" val="3549677398"/>
                  </a:ext>
                </a:extLst>
              </a:tr>
              <a:tr h="377467">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研究方案</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方案制定与专家咨询（方案起草</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审核</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修订）</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400,000.00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extLst>
                  <a:ext uri="{0D108BD9-81ED-4DB2-BD59-A6C34878D82A}">
                    <a16:rowId xmlns:a16="http://schemas.microsoft.com/office/drawing/2014/main" val="1292811090"/>
                  </a:ext>
                </a:extLst>
              </a:tr>
              <a:tr h="430306">
                <a:tc rowSpan="3">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数据管理</a:t>
                      </a:r>
                      <a:endParaRPr lang="en-US" altLang="zh-CN" sz="1200" b="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数据治理与数据管理（数据库访问）</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solidFill>
                  </a:tcPr>
                </a:tc>
                <a:tc>
                  <a:txBody>
                    <a:bodyPr/>
                    <a:lstStyle/>
                    <a:p>
                      <a:pPr algn="ctr" fontAlgn="t">
                        <a:spcAft>
                          <a:spcPts val="600"/>
                        </a:spcAft>
                        <a:buNone/>
                      </a:pPr>
                      <a:r>
                        <a:rPr lang="en-US" altLang="zh-CN" sz="1200" b="0" u="none" strike="noStrike" dirty="0">
                          <a:solidFill>
                            <a:srgbClr val="000000"/>
                          </a:solidFill>
                          <a:effectLst/>
                          <a:latin typeface="SimSun" panose="02010600030101010101" pitchFamily="2" charset="-122"/>
                          <a:ea typeface="SimSun" panose="02010600030101010101" pitchFamily="2" charset="-122"/>
                        </a:rPr>
                        <a:t>¥ 800,000.00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marB="0" anchor="ctr">
                    <a:solidFill>
                      <a:schemeClr val="bg1"/>
                    </a:solidFill>
                  </a:tcPr>
                </a:tc>
                <a:extLst>
                  <a:ext uri="{0D108BD9-81ED-4DB2-BD59-A6C34878D82A}">
                    <a16:rowId xmlns:a16="http://schemas.microsoft.com/office/drawing/2014/main" val="4098353666"/>
                  </a:ext>
                </a:extLst>
              </a:tr>
              <a:tr h="257810">
                <a:tc vMerge="1">
                  <a:txBody>
                    <a:bodyPr/>
                    <a:lstStyle/>
                    <a:p>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病例审核</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solidFill>
                  </a:tcPr>
                </a:tc>
                <a:tc>
                  <a:txBody>
                    <a:bodyPr/>
                    <a:lstStyle/>
                    <a:p>
                      <a:pPr marL="0" marR="0" lvl="0" indent="0" algn="ctr" defTabSz="914400" rtl="0" eaLnBrk="1" fontAlgn="t"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40,000.00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marB="0" anchor="ctr">
                    <a:solidFill>
                      <a:schemeClr val="bg1"/>
                    </a:solidFill>
                  </a:tcPr>
                </a:tc>
                <a:extLst>
                  <a:ext uri="{0D108BD9-81ED-4DB2-BD59-A6C34878D82A}">
                    <a16:rowId xmlns:a16="http://schemas.microsoft.com/office/drawing/2014/main" val="455414550"/>
                  </a:ext>
                </a:extLst>
              </a:tr>
              <a:tr h="343814">
                <a:tc vMerge="1">
                  <a:txBody>
                    <a:bodyPr/>
                    <a:lstStyle/>
                    <a:p>
                      <a:endParaRPr lang="zh-CN" altLang="en-US"/>
                    </a:p>
                  </a:txBody>
                  <a:tcPr>
                    <a:lnT w="9525" cap="flat" cmpd="sng" algn="ctr">
                      <a:solidFill>
                        <a:schemeClr val="accent1">
                          <a:lumMod val="90000"/>
                          <a:lumOff val="10000"/>
                        </a:schemeClr>
                      </a:solidFill>
                      <a:prstDash val="solid"/>
                      <a:round/>
                      <a:headEnd type="none" w="med" len="med"/>
                      <a:tailEnd type="none" w="med" len="med"/>
                    </a:lnT>
                  </a:tcPr>
                </a:tc>
                <a:tc>
                  <a:txBody>
                    <a:bodyPr/>
                    <a:lstStyle/>
                    <a:p>
                      <a:pPr 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数据管理</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数据管理计划</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疑问解决</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验证与清理等</a:t>
                      </a:r>
                      <a:endParaRPr lang="zh-CN" altLang="en-US" sz="1200" dirty="0">
                        <a:latin typeface="SimSun" panose="02010600030101010101" pitchFamily="2" charset="-122"/>
                        <a:ea typeface="SimSun" panose="02010600030101010101" pitchFamily="2" charset="-122"/>
                      </a:endParaRPr>
                    </a:p>
                  </a:txBody>
                  <a:tcPr marL="9525" marR="9525" marT="9525" anchor="ctr">
                    <a:solidFill>
                      <a:schemeClr val="bg1"/>
                    </a:solidFill>
                  </a:tcPr>
                </a:tc>
                <a:tc>
                  <a:txBody>
                    <a:bodyPr/>
                    <a:lstStyle/>
                    <a:p>
                      <a:pPr marL="0" marR="0" lvl="0" indent="0" algn="ctr" defTabSz="914400" rtl="0" eaLnBrk="1" fontAlgn="t"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40,000.00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marB="0" anchor="ctr">
                    <a:solidFill>
                      <a:schemeClr val="bg1"/>
                    </a:solidFill>
                  </a:tcPr>
                </a:tc>
                <a:extLst>
                  <a:ext uri="{0D108BD9-81ED-4DB2-BD59-A6C34878D82A}">
                    <a16:rowId xmlns:a16="http://schemas.microsoft.com/office/drawing/2014/main" val="3930640724"/>
                  </a:ext>
                </a:extLst>
              </a:tr>
              <a:tr h="297607">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统计分析</a:t>
                      </a:r>
                      <a:endParaRPr lang="en-US" altLang="zh-CN" sz="1200" b="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数据分析</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统计分析计划</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统计分析报告，统计图表生成等</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50,000.00</a:t>
                      </a:r>
                      <a:endParaRPr lang="zh-CN" altLang="en-US" dirty="0">
                        <a:latin typeface="SimSun" panose="02010600030101010101" pitchFamily="2" charset="-122"/>
                        <a:ea typeface="SimSun" panose="02010600030101010101" pitchFamily="2" charset="-122"/>
                      </a:endParaRPr>
                    </a:p>
                  </a:txBody>
                  <a:tcPr marL="9525" marR="9525" marT="9525" marB="0" anchor="ctr">
                    <a:solidFill>
                      <a:schemeClr val="bg1">
                        <a:lumMod val="85000"/>
                      </a:schemeClr>
                    </a:solidFill>
                  </a:tcPr>
                </a:tc>
                <a:extLst>
                  <a:ext uri="{0D108BD9-81ED-4DB2-BD59-A6C34878D82A}">
                    <a16:rowId xmlns:a16="http://schemas.microsoft.com/office/drawing/2014/main" val="484827210"/>
                  </a:ext>
                </a:extLst>
              </a:tr>
              <a:tr h="320934">
                <a:tc rowSpan="2">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发表成果</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anchor="ct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期刊发表（期刊文章处理费）</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15,000.00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tc>
                <a:extLst>
                  <a:ext uri="{0D108BD9-81ED-4DB2-BD59-A6C34878D82A}">
                    <a16:rowId xmlns:a16="http://schemas.microsoft.com/office/drawing/2014/main" val="2528582509"/>
                  </a:ext>
                </a:extLst>
              </a:tr>
              <a:tr h="320934">
                <a:tc vMerge="1">
                  <a:txBody>
                    <a:bodyPr/>
                    <a:lstStyle/>
                    <a:p>
                      <a:pPr marL="0" algn="ctr" defTabSz="914400" rtl="0" eaLnBrk="1" fontAlgn="ctr" latinLnBrk="0" hangingPunct="1">
                        <a:spcAft>
                          <a:spcPts val="0"/>
                        </a:spcAft>
                      </a:pPr>
                      <a:endParaRPr lang="en-US" altLang="zh-CN" sz="1200" b="0" u="none" strike="noStrike" kern="1200" dirty="0">
                        <a:solidFill>
                          <a:srgbClr val="000000"/>
                        </a:solidFill>
                        <a:effectLst/>
                        <a:latin typeface="+mn-ea"/>
                        <a:ea typeface="+mn-ea"/>
                        <a:cs typeface="+mn-cs"/>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学术会议（国内或国际会议差旅费）</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26,000.00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solidFill>
                  </a:tcPr>
                </a:tc>
                <a:extLst>
                  <a:ext uri="{0D108BD9-81ED-4DB2-BD59-A6C34878D82A}">
                    <a16:rowId xmlns:a16="http://schemas.microsoft.com/office/drawing/2014/main" val="3902138196"/>
                  </a:ext>
                </a:extLst>
              </a:tr>
              <a:tr h="320934">
                <a:tc rowSpan="3">
                  <a:txBody>
                    <a:bodyPr/>
                    <a:lstStyle/>
                    <a:p>
                      <a:pPr marL="0" algn="ctr" defTabSz="914400" rtl="0" eaLnBrk="1" fontAlgn="ctr" latinLnBrk="0" hangingPunct="1">
                        <a:spcAft>
                          <a:spcPts val="600"/>
                        </a:spcAft>
                      </a:pPr>
                      <a:r>
                        <a:rPr lang="zh-CN" altLang="en-US" sz="1200" b="0" u="none" strike="noStrike" kern="1200" dirty="0">
                          <a:solidFill>
                            <a:srgbClr val="000000"/>
                          </a:solidFill>
                          <a:effectLst/>
                          <a:latin typeface="SimSun" panose="02010600030101010101" pitchFamily="2" charset="-122"/>
                          <a:ea typeface="SimSun" panose="02010600030101010101" pitchFamily="2" charset="-122"/>
                        </a:rPr>
                        <a:t>项目管理</a:t>
                      </a:r>
                      <a:endParaRPr lang="en-US" altLang="zh-CN" sz="1200" b="0" u="none" strike="noStrike" kern="1200" dirty="0">
                        <a:solidFill>
                          <a:srgbClr val="000000"/>
                        </a:solidFill>
                        <a:effectLst/>
                        <a:latin typeface="SimSun" panose="02010600030101010101" pitchFamily="2" charset="-122"/>
                        <a:ea typeface="SimSun" panose="02010600030101010101" pitchFamily="2" charset="-122"/>
                        <a:cs typeface="+mn-cs"/>
                      </a:endParaRPr>
                    </a:p>
                  </a:txBody>
                  <a:tcPr marL="9525" marR="9525" marT="9525" anchor="ctr">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研究相关差旅</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4,000.00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extLst>
                  <a:ext uri="{0D108BD9-81ED-4DB2-BD59-A6C34878D82A}">
                    <a16:rowId xmlns:a16="http://schemas.microsoft.com/office/drawing/2014/main" val="1387634683"/>
                  </a:ext>
                </a:extLst>
              </a:tr>
              <a:tr h="106978">
                <a:tc vMerge="1">
                  <a:txBody>
                    <a:bodyPr/>
                    <a:lstStyle/>
                    <a:p>
                      <a:endParaRPr/>
                    </a:p>
                  </a:txBody>
                  <a:tcPr marL="9525" marR="9525" marT="9525" anchor="ctr">
                    <a:lnB w="9525" cap="flat" cmpd="sng" algn="ctr">
                      <a:solidFill>
                        <a:schemeClr val="tx1"/>
                      </a:solidFill>
                      <a:prstDash val="solid"/>
                      <a:round/>
                      <a:headEnd type="none" w="med" len="med"/>
                      <a:tailEnd type="none" w="med" len="med"/>
                    </a:lnB>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项目讨论会</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10,000.00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extLst>
                  <a:ext uri="{0D108BD9-81ED-4DB2-BD59-A6C34878D82A}">
                    <a16:rowId xmlns:a16="http://schemas.microsoft.com/office/drawing/2014/main" val="2978202534"/>
                  </a:ext>
                </a:extLst>
              </a:tr>
              <a:tr h="158750">
                <a:tc vMerge="1">
                  <a:txBody>
                    <a:bodyPr/>
                    <a:lstStyle/>
                    <a:p>
                      <a:endParaRPr lang="zh-CN" altLang="en-US"/>
                    </a:p>
                  </a:txBody>
                  <a:tcPr/>
                </a:tc>
                <a:tc>
                  <a:txBody>
                    <a:bodyPr/>
                    <a:lstStyle/>
                    <a:p>
                      <a:pPr marL="0" marR="0" lvl="0" indent="0" algn="ctr" defTabSz="914400" rtl="0" eaLnBrk="1" fontAlgn="ctr"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其他（打印</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邮寄</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办公用品</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专业书籍等）</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6,000.00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extLst>
                  <a:ext uri="{0D108BD9-81ED-4DB2-BD59-A6C34878D82A}">
                    <a16:rowId xmlns:a16="http://schemas.microsoft.com/office/drawing/2014/main" val="3534598751"/>
                  </a:ext>
                </a:extLst>
              </a:tr>
              <a:tr h="238125">
                <a:tc rowSpan="2">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人员费用</a:t>
                      </a:r>
                      <a:endParaRPr lang="en-US" altLang="zh-CN" sz="1200" b="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T w="9525" cap="flat" cmpd="sng" algn="ctr">
                      <a:solidFill>
                        <a:schemeClr val="bg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研究团队外人员费用：专家咨询</a:t>
                      </a:r>
                      <a:r>
                        <a:rPr lang="en-US" altLang="zh-CN" sz="1200" b="0" u="none" strike="noStrike" dirty="0">
                          <a:solidFill>
                            <a:srgbClr val="000000"/>
                          </a:solidFill>
                          <a:effectLst/>
                          <a:latin typeface="SimSun" panose="02010600030101010101" pitchFamily="2" charset="-122"/>
                          <a:ea typeface="SimSun" panose="02010600030101010101" pitchFamily="2" charset="-122"/>
                        </a:rPr>
                        <a:t>/</a:t>
                      </a:r>
                      <a:r>
                        <a:rPr lang="zh-CN" altLang="en-US" sz="1200" b="0" u="none" strike="noStrike" dirty="0">
                          <a:solidFill>
                            <a:srgbClr val="000000"/>
                          </a:solidFill>
                          <a:effectLst/>
                          <a:latin typeface="SimSun" panose="02010600030101010101" pitchFamily="2" charset="-122"/>
                          <a:ea typeface="SimSun" panose="02010600030101010101" pitchFamily="2" charset="-122"/>
                        </a:rPr>
                        <a:t>第三方评估等</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B w="9525" cap="flat" cmpd="sng" algn="ctr">
                      <a:solidFill>
                        <a:schemeClr val="bg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39,000.00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84970193"/>
                  </a:ext>
                </a:extLst>
              </a:tr>
              <a:tr h="0">
                <a:tc vMerge="1">
                  <a:txBody>
                    <a:bodyPr/>
                    <a:lstStyle/>
                    <a:p>
                      <a:pPr algn="ctr" fontAlgn="ctr">
                        <a:spcAft>
                          <a:spcPts val="0"/>
                        </a:spcAft>
                      </a:pPr>
                      <a:endParaRPr lang="en-US" altLang="zh-CN" sz="1200" b="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spcAft>
                          <a:spcPts val="600"/>
                        </a:spcAft>
                      </a:pPr>
                      <a:r>
                        <a:rPr lang="zh-CN" altLang="en-US" sz="1200" b="0" i="0" u="none" strike="noStrike" dirty="0">
                          <a:solidFill>
                            <a:srgbClr val="000000"/>
                          </a:solidFill>
                          <a:effectLst/>
                          <a:latin typeface="SimSun" panose="02010600030101010101" pitchFamily="2" charset="-122"/>
                          <a:ea typeface="SimSun" panose="02010600030101010101" pitchFamily="2" charset="-122"/>
                        </a:rPr>
                        <a:t>研究团队人员费用：方案</a:t>
                      </a:r>
                      <a:r>
                        <a:rPr lang="en-US" altLang="zh-CN" sz="1200" b="0" i="0" u="none" strike="noStrike" dirty="0">
                          <a:solidFill>
                            <a:srgbClr val="000000"/>
                          </a:solidFill>
                          <a:effectLst/>
                          <a:latin typeface="SimSun" panose="02010600030101010101" pitchFamily="2" charset="-122"/>
                          <a:ea typeface="SimSun" panose="02010600030101010101" pitchFamily="2" charset="-122"/>
                        </a:rPr>
                        <a:t>/</a:t>
                      </a:r>
                      <a:r>
                        <a:rPr lang="zh-CN" altLang="en-US" sz="1200" b="0" i="0" u="none" strike="noStrike" dirty="0">
                          <a:solidFill>
                            <a:srgbClr val="000000"/>
                          </a:solidFill>
                          <a:effectLst/>
                          <a:latin typeface="SimSun" panose="02010600030101010101" pitchFamily="2" charset="-122"/>
                          <a:ea typeface="SimSun" panose="02010600030101010101" pitchFamily="2" charset="-122"/>
                        </a:rPr>
                        <a:t>报告等的起草</a:t>
                      </a:r>
                      <a:r>
                        <a:rPr lang="en-US" altLang="zh-CN" sz="1200" b="0" i="0" u="none" strike="noStrike" dirty="0">
                          <a:solidFill>
                            <a:srgbClr val="000000"/>
                          </a:solidFill>
                          <a:effectLst/>
                          <a:latin typeface="SimSun" panose="02010600030101010101" pitchFamily="2" charset="-122"/>
                          <a:ea typeface="SimSun" panose="02010600030101010101" pitchFamily="2" charset="-122"/>
                        </a:rPr>
                        <a:t>/</a:t>
                      </a:r>
                      <a:r>
                        <a:rPr lang="zh-CN" altLang="en-US" sz="1200" b="0" i="0" u="none" strike="noStrike" dirty="0">
                          <a:solidFill>
                            <a:srgbClr val="000000"/>
                          </a:solidFill>
                          <a:effectLst/>
                          <a:latin typeface="SimSun" panose="02010600030101010101" pitchFamily="2" charset="-122"/>
                          <a:ea typeface="SimSun" panose="02010600030101010101" pitchFamily="2" charset="-122"/>
                        </a:rPr>
                        <a:t>审核</a:t>
                      </a:r>
                      <a:r>
                        <a:rPr lang="en-US" altLang="zh-CN" sz="1200" b="0" i="0" u="none" strike="noStrike" dirty="0">
                          <a:solidFill>
                            <a:srgbClr val="000000"/>
                          </a:solidFill>
                          <a:effectLst/>
                          <a:latin typeface="SimSun" panose="02010600030101010101" pitchFamily="2" charset="-122"/>
                          <a:ea typeface="SimSun" panose="02010600030101010101" pitchFamily="2" charset="-122"/>
                        </a:rPr>
                        <a:t>/</a:t>
                      </a:r>
                      <a:r>
                        <a:rPr lang="zh-CN" altLang="en-US" sz="1200" b="0" i="0" u="none" strike="noStrike" dirty="0">
                          <a:solidFill>
                            <a:srgbClr val="000000"/>
                          </a:solidFill>
                          <a:effectLst/>
                          <a:latin typeface="SimSun" panose="02010600030101010101" pitchFamily="2" charset="-122"/>
                          <a:ea typeface="SimSun" panose="02010600030101010101" pitchFamily="2" charset="-122"/>
                        </a:rPr>
                        <a:t>病例审核费</a:t>
                      </a:r>
                    </a:p>
                  </a:txBody>
                  <a:tcPr marL="9525" marR="9525" marT="9525" anchor="ctr">
                    <a:lnT w="9525" cap="flat" cmpd="sng" algn="ctr">
                      <a:solidFill>
                        <a:schemeClr val="bg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45,000.00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T w="9525" cap="flat" cmpd="sng" algn="ctr">
                      <a:solidFill>
                        <a:schemeClr val="bg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1015892"/>
                  </a:ext>
                </a:extLst>
              </a:tr>
              <a:tr h="320934">
                <a:tc rowSpan="2">
                  <a:txBody>
                    <a:bodyPr/>
                    <a:lstStyle/>
                    <a:p>
                      <a:pPr algn="ctr" fontAlgn="b">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医院管理</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T w="952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机构研究管理费（</a:t>
                      </a:r>
                      <a:r>
                        <a:rPr lang="en-US" altLang="zh-CN" sz="1200" b="0" u="none" strike="noStrike" dirty="0">
                          <a:solidFill>
                            <a:srgbClr val="000000"/>
                          </a:solidFill>
                          <a:effectLst/>
                          <a:latin typeface="SimSun" panose="02010600030101010101" pitchFamily="2" charset="-122"/>
                          <a:ea typeface="SimSun" panose="02010600030101010101" pitchFamily="2" charset="-122"/>
                        </a:rPr>
                        <a:t>20%</a:t>
                      </a:r>
                      <a:r>
                        <a:rPr lang="zh-CN" altLang="en-US" sz="1200" b="0" u="none" strike="noStrike" dirty="0">
                          <a:solidFill>
                            <a:srgbClr val="000000"/>
                          </a:solidFill>
                          <a:effectLst/>
                          <a:latin typeface="SimSun" panose="02010600030101010101" pitchFamily="2" charset="-122"/>
                          <a:ea typeface="SimSun" panose="02010600030101010101" pitchFamily="2" charset="-122"/>
                        </a:rPr>
                        <a:t>）</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lnT w="952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t">
                        <a:spcAft>
                          <a:spcPts val="600"/>
                        </a:spcAft>
                        <a:buNone/>
                      </a:pPr>
                      <a:r>
                        <a:rPr lang="en-US" altLang="zh-CN" sz="1200" b="0" u="none" strike="noStrike" dirty="0">
                          <a:solidFill>
                            <a:srgbClr val="000000"/>
                          </a:solidFill>
                          <a:effectLst/>
                          <a:latin typeface="SimSun" panose="02010600030101010101" pitchFamily="2" charset="-122"/>
                          <a:ea typeface="SimSun" panose="02010600030101010101" pitchFamily="2" charset="-122"/>
                        </a:rPr>
                        <a:t>¥291,454.00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marB="0" anchor="ctr">
                    <a:lnT w="952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2588596860"/>
                  </a:ext>
                </a:extLst>
              </a:tr>
              <a:tr h="320934">
                <a:tc vMerge="1">
                  <a:txBody>
                    <a:bodyPr/>
                    <a:lstStyle/>
                    <a:p>
                      <a:pPr algn="ctr" fontAlgn="b">
                        <a:spcAft>
                          <a:spcPts val="0"/>
                        </a:spcAft>
                      </a:pPr>
                      <a:endParaRPr lang="zh-CN" altLang="en-US" sz="1200" b="1"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医院伦理费</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ctr" fontAlgn="ctr">
                        <a:spcAft>
                          <a:spcPts val="600"/>
                        </a:spcAft>
                      </a:pPr>
                      <a:r>
                        <a:rPr lang="zh-CN" altLang="en-US" sz="1200" b="0" u="none" strike="noStrike" dirty="0">
                          <a:solidFill>
                            <a:srgbClr val="000000"/>
                          </a:solidFill>
                          <a:effectLst/>
                          <a:latin typeface="SimSun" panose="02010600030101010101" pitchFamily="2" charset="-122"/>
                          <a:ea typeface="SimSun" panose="02010600030101010101" pitchFamily="2" charset="-122"/>
                        </a:rPr>
                        <a:t>￥</a:t>
                      </a:r>
                      <a:r>
                        <a:rPr lang="en-US" altLang="zh-CN" sz="1200" b="0" u="none" strike="noStrike" dirty="0">
                          <a:solidFill>
                            <a:srgbClr val="000000"/>
                          </a:solidFill>
                          <a:effectLst/>
                          <a:latin typeface="SimSun" panose="02010600030101010101" pitchFamily="2" charset="-122"/>
                          <a:ea typeface="SimSun" panose="02010600030101010101" pitchFamily="2" charset="-122"/>
                        </a:rPr>
                        <a:t>5,000.00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extLst>
                  <a:ext uri="{0D108BD9-81ED-4DB2-BD59-A6C34878D82A}">
                    <a16:rowId xmlns:a16="http://schemas.microsoft.com/office/drawing/2014/main" val="3538889360"/>
                  </a:ext>
                </a:extLst>
              </a:tr>
              <a:tr h="320934">
                <a:tc>
                  <a:txBody>
                    <a:bodyPr/>
                    <a:lstStyle/>
                    <a:p>
                      <a:pPr marL="0" marR="0" lvl="0" indent="0" algn="ctr" defTabSz="914400" rtl="0" eaLnBrk="1" fontAlgn="b" latinLnBrk="0" hangingPunct="1">
                        <a:lnSpc>
                          <a:spcPct val="100000"/>
                        </a:lnSpc>
                        <a:spcBef>
                          <a:spcPts val="0"/>
                        </a:spcBef>
                        <a:spcAft>
                          <a:spcPts val="600"/>
                        </a:spcAft>
                        <a:buClrTx/>
                        <a:buSzTx/>
                        <a:buFontTx/>
                        <a:buNone/>
                        <a:tabLst/>
                        <a:defRPr/>
                      </a:pPr>
                      <a:r>
                        <a:rPr lang="zh-CN" altLang="en-US" sz="1200" b="0" u="none" strike="noStrike" dirty="0">
                          <a:solidFill>
                            <a:srgbClr val="000000"/>
                          </a:solidFill>
                          <a:effectLst/>
                          <a:latin typeface="SimSun" panose="02010600030101010101" pitchFamily="2" charset="-122"/>
                          <a:ea typeface="SimSun" panose="02010600030101010101" pitchFamily="2" charset="-122"/>
                        </a:rPr>
                        <a:t>税费</a:t>
                      </a:r>
                      <a:endParaRPr lang="zh-CN" altLang="en-US"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tc>
                <a:tc>
                  <a:txBody>
                    <a:bodyPr/>
                    <a:lstStyle/>
                    <a:p>
                      <a:pPr algn="ctr" fontAlgn="b">
                        <a:spcAft>
                          <a:spcPts val="600"/>
                        </a:spcAft>
                      </a:pPr>
                      <a:r>
                        <a:rPr lang="en-US" altLang="zh-CN" sz="1200" b="0" u="none" strike="noStrike" dirty="0">
                          <a:solidFill>
                            <a:srgbClr val="000000"/>
                          </a:solidFill>
                          <a:effectLst/>
                          <a:latin typeface="SimSun" panose="02010600030101010101" pitchFamily="2" charset="-122"/>
                          <a:ea typeface="SimSun" panose="02010600030101010101" pitchFamily="2" charset="-122"/>
                        </a:rPr>
                        <a:t>3.26%</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tc>
                <a:tc>
                  <a:txBody>
                    <a:bodyPr/>
                    <a:lstStyle/>
                    <a:p>
                      <a:pPr algn="ctr" fontAlgn="t">
                        <a:spcAft>
                          <a:spcPts val="600"/>
                        </a:spcAft>
                        <a:buNone/>
                      </a:pPr>
                      <a:r>
                        <a:rPr lang="en-US" altLang="zh-CN" sz="1200" b="0" u="none" strike="noStrike" dirty="0">
                          <a:solidFill>
                            <a:srgbClr val="000000"/>
                          </a:solidFill>
                          <a:effectLst/>
                          <a:latin typeface="SimSun" panose="02010600030101010101" pitchFamily="2" charset="-122"/>
                          <a:ea typeface="SimSun" panose="02010600030101010101" pitchFamily="2" charset="-122"/>
                        </a:rPr>
                        <a:t>¥47,507.00</a:t>
                      </a:r>
                      <a:endParaRPr lang="en-US" altLang="zh-CN" sz="1200" b="0"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marB="0" anchor="ctr"/>
                </a:tc>
                <a:extLst>
                  <a:ext uri="{0D108BD9-81ED-4DB2-BD59-A6C34878D82A}">
                    <a16:rowId xmlns:a16="http://schemas.microsoft.com/office/drawing/2014/main" val="2000254792"/>
                  </a:ext>
                </a:extLst>
              </a:tr>
              <a:tr h="320934">
                <a:tc>
                  <a:txBody>
                    <a:bodyPr/>
                    <a:lstStyle/>
                    <a:p>
                      <a:pPr marL="0" marR="0" lvl="0" indent="0" algn="ctr" defTabSz="914400" rtl="0" eaLnBrk="1" fontAlgn="b" latinLnBrk="0" hangingPunct="1">
                        <a:lnSpc>
                          <a:spcPct val="100000"/>
                        </a:lnSpc>
                        <a:spcBef>
                          <a:spcPts val="0"/>
                        </a:spcBef>
                        <a:spcAft>
                          <a:spcPts val="600"/>
                        </a:spcAft>
                        <a:buClrTx/>
                        <a:buSzTx/>
                        <a:buFontTx/>
                        <a:buNone/>
                        <a:tabLst/>
                        <a:defRPr/>
                      </a:pPr>
                      <a:r>
                        <a:rPr lang="zh-CN" altLang="en-US" sz="1200" b="1" u="none" strike="noStrike" dirty="0">
                          <a:solidFill>
                            <a:srgbClr val="000000"/>
                          </a:solidFill>
                          <a:effectLst/>
                          <a:latin typeface="SimSun" panose="02010600030101010101" pitchFamily="2" charset="-122"/>
                          <a:ea typeface="SimSun" panose="02010600030101010101" pitchFamily="2" charset="-122"/>
                        </a:rPr>
                        <a:t>总计</a:t>
                      </a:r>
                      <a:endParaRPr lang="zh-CN" altLang="en-US" sz="1200" b="1"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l" fontAlgn="b">
                        <a:spcAft>
                          <a:spcPts val="600"/>
                        </a:spcAft>
                      </a:pPr>
                      <a:endParaRPr lang="zh-CN" altLang="en-US" sz="1200" b="1"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anchor="ctr">
                    <a:solidFill>
                      <a:schemeClr val="bg1">
                        <a:lumMod val="85000"/>
                      </a:schemeClr>
                    </a:solidFill>
                  </a:tcPr>
                </a:tc>
                <a:tc>
                  <a:txBody>
                    <a:bodyPr/>
                    <a:lstStyle/>
                    <a:p>
                      <a:pPr algn="r" fontAlgn="t">
                        <a:spcAft>
                          <a:spcPts val="600"/>
                        </a:spcAft>
                        <a:buNone/>
                      </a:pPr>
                      <a:r>
                        <a:rPr lang="en-US" altLang="zh-CN" sz="1200" b="1" u="none" strike="noStrike" dirty="0">
                          <a:solidFill>
                            <a:srgbClr val="000000"/>
                          </a:solidFill>
                          <a:effectLst/>
                          <a:latin typeface="SimSun" panose="02010600030101010101" pitchFamily="2" charset="-122"/>
                          <a:ea typeface="SimSun" panose="02010600030101010101" pitchFamily="2" charset="-122"/>
                        </a:rPr>
                        <a:t>¥1,458,961.00</a:t>
                      </a:r>
                      <a:endParaRPr lang="en-US" altLang="zh-CN" sz="1200" b="1" i="0" u="none" strike="noStrike" dirty="0">
                        <a:solidFill>
                          <a:srgbClr val="000000"/>
                        </a:solidFill>
                        <a:effectLst/>
                        <a:latin typeface="SimSun" panose="02010600030101010101" pitchFamily="2" charset="-122"/>
                        <a:ea typeface="SimSun" panose="02010600030101010101" pitchFamily="2" charset="-122"/>
                      </a:endParaRPr>
                    </a:p>
                  </a:txBody>
                  <a:tcPr marL="9525" marR="9525" marT="9525" marB="0" anchor="ctr">
                    <a:solidFill>
                      <a:schemeClr val="bg1">
                        <a:lumMod val="85000"/>
                      </a:schemeClr>
                    </a:solidFill>
                  </a:tcPr>
                </a:tc>
                <a:extLst>
                  <a:ext uri="{0D108BD9-81ED-4DB2-BD59-A6C34878D82A}">
                    <a16:rowId xmlns:a16="http://schemas.microsoft.com/office/drawing/2014/main" val="2516664542"/>
                  </a:ext>
                </a:extLst>
              </a:tr>
            </a:tbl>
          </a:graphicData>
        </a:graphic>
      </p:graphicFrame>
      <p:sp>
        <p:nvSpPr>
          <p:cNvPr id="2" name="Title 1">
            <a:extLst>
              <a:ext uri="{FF2B5EF4-FFF2-40B4-BE49-F238E27FC236}">
                <a16:creationId xmlns:a16="http://schemas.microsoft.com/office/drawing/2014/main" id="{EE3A8F06-5769-CE3B-4845-1638DD1A3836}"/>
              </a:ext>
            </a:extLst>
          </p:cNvPr>
          <p:cNvSpPr>
            <a:spLocks noGrp="1"/>
          </p:cNvSpPr>
          <p:nvPr>
            <p:ph type="title"/>
          </p:nvPr>
        </p:nvSpPr>
        <p:spPr>
          <a:xfrm>
            <a:off x="479441" y="245240"/>
            <a:ext cx="11233151" cy="720000"/>
          </a:xfrm>
        </p:spPr>
        <p:txBody>
          <a:bodyPr/>
          <a:lstStyle/>
          <a:p>
            <a:r>
              <a:rPr lang="zh-CN" altLang="en-US" sz="2800" dirty="0">
                <a:solidFill>
                  <a:schemeClr val="tx1">
                    <a:lumMod val="85000"/>
                    <a:lumOff val="15000"/>
                  </a:schemeClr>
                </a:solidFill>
                <a:latin typeface="SimSun" panose="02010600030101010101" pitchFamily="2" charset="-122"/>
                <a:ea typeface="SimSun" panose="02010600030101010101" pitchFamily="2" charset="-122"/>
              </a:rPr>
              <a:t>费用明细</a:t>
            </a:r>
          </a:p>
        </p:txBody>
      </p:sp>
    </p:spTree>
    <p:extLst>
      <p:ext uri="{BB962C8B-B14F-4D97-AF65-F5344CB8AC3E}">
        <p14:creationId xmlns:p14="http://schemas.microsoft.com/office/powerpoint/2010/main" val="1484893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VCT_SHOW_CA" val="False"/>
</p:tagLst>
</file>

<file path=ppt/tags/tag2.xml><?xml version="1.0" encoding="utf-8"?>
<p:tagLst xmlns:a="http://schemas.openxmlformats.org/drawingml/2006/main" xmlns:r="http://schemas.openxmlformats.org/officeDocument/2006/relationships" xmlns:p="http://schemas.openxmlformats.org/presentationml/2006/main">
  <p:tag name="ADJUSTMENTS" val="0"/>
</p:tagLst>
</file>

<file path=ppt/tags/tag3.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4.xml><?xml version="1.0" encoding="utf-8"?>
<p:tagLst xmlns:a="http://schemas.openxmlformats.org/drawingml/2006/main" xmlns:r="http://schemas.openxmlformats.org/officeDocument/2006/relationships" xmlns:p="http://schemas.openxmlformats.org/presentationml/2006/main">
  <p:tag name="ADJUSTMENTS" val="0"/>
</p:tagLst>
</file>

<file path=ppt/tags/tag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6.xml><?xml version="1.0" encoding="utf-8"?>
<p:tagLst xmlns:a="http://schemas.openxmlformats.org/drawingml/2006/main" xmlns:r="http://schemas.openxmlformats.org/officeDocument/2006/relationships" xmlns:p="http://schemas.openxmlformats.org/presentationml/2006/main">
  <p:tag name="ADJUSTMENTS" val="3.162912"/>
</p:tagLst>
</file>

<file path=ppt/tags/tag7.xml><?xml version="1.0" encoding="utf-8"?>
<p:tagLst xmlns:a="http://schemas.openxmlformats.org/drawingml/2006/main" xmlns:r="http://schemas.openxmlformats.org/officeDocument/2006/relationships" xmlns:p="http://schemas.openxmlformats.org/presentationml/2006/main">
  <p:tag name="ADJUSTMENTS" val="3.162912"/>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rPhdLRV8wozFTvJc2kvpZg"/>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C3F0F1-6A6B-4BEE-BD61-B5DC962FA8C2}">
  <ds:schemaRefs>
    <ds:schemaRef ds:uri="http://schemas.microsoft.com/sharepoint/v3/contenttype/forms"/>
  </ds:schemaRefs>
</ds:datastoreItem>
</file>

<file path=customXml/itemProps2.xml><?xml version="1.0" encoding="utf-8"?>
<ds:datastoreItem xmlns:ds="http://schemas.openxmlformats.org/officeDocument/2006/customXml" ds:itemID="{EA0AD926-1C5C-4F7A-82C7-04A492D29124}">
  <ds:schemaRefs>
    <ds:schemaRef ds:uri="http://purl.org/dc/dcmitype/"/>
    <ds:schemaRef ds:uri="http://purl.org/dc/elements/1.1/"/>
    <ds:schemaRef ds:uri="http://schemas.microsoft.com/office/2006/metadata/properties"/>
    <ds:schemaRef ds:uri="3e6c12b9-8ddc-4867-a0d6-e1515d106c9b"/>
    <ds:schemaRef ds:uri="http://schemas.openxmlformats.org/package/2006/metadata/core-properties"/>
    <ds:schemaRef ds:uri="http://purl.org/dc/terms/"/>
    <ds:schemaRef ds:uri="3bf1e40b-b310-4774-88e2-db1d51a3eab1"/>
    <ds:schemaRef ds:uri="http://schemas.microsoft.com/office/infopath/2007/PartnerControls"/>
    <ds:schemaRef ds:uri="http://schemas.microsoft.com/office/2006/documentManagement/types"/>
    <ds:schemaRef ds:uri="e47812bf-c8f0-415c-9dc6-756594725798"/>
    <ds:schemaRef ds:uri="http://www.w3.org/XML/1998/namespace"/>
  </ds:schemaRefs>
</ds:datastoreItem>
</file>

<file path=customXml/itemProps3.xml><?xml version="1.0" encoding="utf-8"?>
<ds:datastoreItem xmlns:ds="http://schemas.openxmlformats.org/officeDocument/2006/customXml" ds:itemID="{54B69B06-8625-4518-B372-2BD93CA1A9E9}"/>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Boehringer_Ingelheim_Master_1.0</Template>
  <TotalTime>20747</TotalTime>
  <Words>1698</Words>
  <Application>Microsoft Office PowerPoint</Application>
  <PresentationFormat>Widescreen</PresentationFormat>
  <Paragraphs>351</Paragraphs>
  <Slides>15</Slides>
  <Notes>13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9" baseType="lpstr">
      <vt:lpstr>Microsoft YaHei</vt:lpstr>
      <vt:lpstr>OPPOSans H</vt:lpstr>
      <vt:lpstr>Boehringer Forward Text</vt:lpstr>
      <vt:lpstr>Wingdings</vt:lpstr>
      <vt:lpstr>Arial</vt:lpstr>
      <vt:lpstr>Boehringer Forward Head</vt:lpstr>
      <vt:lpstr>DengXian</vt:lpstr>
      <vt:lpstr>Arial Black</vt:lpstr>
      <vt:lpstr>宋体</vt:lpstr>
      <vt:lpstr>OPPOSans B</vt:lpstr>
      <vt:lpstr>Open Sans Extrabold</vt:lpstr>
      <vt:lpstr>Alibaba PuHuiTi</vt:lpstr>
      <vt:lpstr>Boehringer Ingelheim 16:9</vt:lpstr>
      <vt:lpstr>think-cell Folie</vt:lpstr>
      <vt:lpstr>ECR proposal Epidemiology and Disease Burden of Systemic Sclerosis (SSc) ​in Beijing:  A Study Based on the Beijing Claims Database</vt:lpstr>
      <vt:lpstr>PowerPoint Presentation</vt:lpstr>
      <vt:lpstr>Addressing Evidence Gaps Identified in 2025 SSc RWE Planning</vt:lpstr>
      <vt:lpstr>PowerPoint Presentation</vt:lpstr>
      <vt:lpstr>Data Source: Beijing Claims Database</vt:lpstr>
      <vt:lpstr>Study Design – patient’s characteristics, prevalence and incidence</vt:lpstr>
      <vt:lpstr>Study Design – patient journey and treatment patterns</vt:lpstr>
      <vt:lpstr>Study Design – disease burden and HCRU </vt:lpstr>
      <vt:lpstr>Data Analysis</vt:lpstr>
      <vt:lpstr>Timeline/Milestones and Budgets</vt:lpstr>
      <vt:lpstr>Investigators</vt:lpstr>
      <vt:lpstr>THANK YOU</vt:lpstr>
      <vt:lpstr>Study Timeline</vt:lpstr>
      <vt:lpstr>PowerPoint Presentation</vt:lpstr>
      <vt:lpstr>费用明细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zxSHA Li,Shuli (HP Medicine) EXTERNAL</dc:creator>
  <dc:description>Optimized for Office 365</dc:description>
  <cp:lastModifiedBy>zxSHA Li,Shuli (HP Medicine) EXTERNAL</cp:lastModifiedBy>
  <cp:revision>10</cp:revision>
  <dcterms:created xsi:type="dcterms:W3CDTF">2025-07-22T02:33:18Z</dcterms:created>
  <dcterms:modified xsi:type="dcterms:W3CDTF">2026-04-21T03:21:42Z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