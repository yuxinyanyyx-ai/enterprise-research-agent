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5" r:id="rId5"/>
    <p:sldMasterId id="2147483736" r:id="rId6"/>
  </p:sldMasterIdLst>
  <p:notesMasterIdLst>
    <p:notesMasterId r:id="rId10"/>
  </p:notesMasterIdLst>
  <p:sldIdLst>
    <p:sldId id="9848" r:id="rId7"/>
    <p:sldId id="2147483646" r:id="rId8"/>
    <p:sldId id="280"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EB49CE-31AD-4831-990C-DF4F26B4523A}" v="124" dt="2026-04-23T01:38:32.041"/>
    <p1510:client id="{F779B6AA-3B2D-499A-8170-D328A960F493}" v="222" dt="2026-04-22T14:34:14.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Dr.,Meiruo (HP Medicine) BII-CN-S" userId="ece9aa16-5bba-4d2f-b200-019c8e2ba0a0" providerId="ADAL" clId="{7AE74376-5C31-4B5A-9670-ACD085A29F44}"/>
    <pc:docChg chg="undo custSel addSld modSld">
      <pc:chgData name="Liu,Dr.,Meiruo (HP Medicine) BII-CN-S" userId="ece9aa16-5bba-4d2f-b200-019c8e2ba0a0" providerId="ADAL" clId="{7AE74376-5C31-4B5A-9670-ACD085A29F44}" dt="2026-04-22T14:35:34.596" v="869" actId="20577"/>
      <pc:docMkLst>
        <pc:docMk/>
      </pc:docMkLst>
      <pc:sldChg chg="modSp add mod">
        <pc:chgData name="Liu,Dr.,Meiruo (HP Medicine) BII-CN-S" userId="ece9aa16-5bba-4d2f-b200-019c8e2ba0a0" providerId="ADAL" clId="{7AE74376-5C31-4B5A-9670-ACD085A29F44}" dt="2026-04-22T14:02:39.752" v="821" actId="20577"/>
        <pc:sldMkLst>
          <pc:docMk/>
          <pc:sldMk cId="1703955296" sldId="280"/>
        </pc:sldMkLst>
        <pc:spChg chg="mod">
          <ac:chgData name="Liu,Dr.,Meiruo (HP Medicine) BII-CN-S" userId="ece9aa16-5bba-4d2f-b200-019c8e2ba0a0" providerId="ADAL" clId="{7AE74376-5C31-4B5A-9670-ACD085A29F44}" dt="2026-04-22T12:44:37.250" v="458" actId="1035"/>
          <ac:spMkLst>
            <pc:docMk/>
            <pc:sldMk cId="1703955296" sldId="280"/>
            <ac:spMk id="3" creationId="{A5C2A270-700E-409A-BC5D-545C5ECE1348}"/>
          </ac:spMkLst>
        </pc:spChg>
        <pc:spChg chg="mod">
          <ac:chgData name="Liu,Dr.,Meiruo (HP Medicine) BII-CN-S" userId="ece9aa16-5bba-4d2f-b200-019c8e2ba0a0" providerId="ADAL" clId="{7AE74376-5C31-4B5A-9670-ACD085A29F44}" dt="2026-04-22T14:02:39.752" v="821" actId="20577"/>
          <ac:spMkLst>
            <pc:docMk/>
            <pc:sldMk cId="1703955296" sldId="280"/>
            <ac:spMk id="8" creationId="{00000000-0000-0000-0000-000000000000}"/>
          </ac:spMkLst>
        </pc:spChg>
      </pc:sldChg>
      <pc:sldChg chg="modSp mod">
        <pc:chgData name="Liu,Dr.,Meiruo (HP Medicine) BII-CN-S" userId="ece9aa16-5bba-4d2f-b200-019c8e2ba0a0" providerId="ADAL" clId="{7AE74376-5C31-4B5A-9670-ACD085A29F44}" dt="2026-04-22T14:35:34.596" v="869" actId="20577"/>
        <pc:sldMkLst>
          <pc:docMk/>
          <pc:sldMk cId="4024630899" sldId="2147483646"/>
        </pc:sldMkLst>
        <pc:graphicFrameChg chg="mod modGraphic">
          <ac:chgData name="Liu,Dr.,Meiruo (HP Medicine) BII-CN-S" userId="ece9aa16-5bba-4d2f-b200-019c8e2ba0a0" providerId="ADAL" clId="{7AE74376-5C31-4B5A-9670-ACD085A29F44}" dt="2026-04-22T14:35:34.596" v="869" actId="20577"/>
          <ac:graphicFrameMkLst>
            <pc:docMk/>
            <pc:sldMk cId="4024630899" sldId="2147483646"/>
            <ac:graphicFrameMk id="9" creationId="{F3D725D6-1E11-6563-895F-5E356D3A8A05}"/>
          </ac:graphicFrameMkLst>
        </pc:graphicFrameChg>
      </pc:sldChg>
    </pc:docChg>
  </pc:docChgLst>
  <pc:docChgLst>
    <pc:chgData name="Li,Yuting (HP Medicine) BII-CN-S" userId="ce8fbb54-122c-426d-b8da-fdcc5e1b5022" providerId="ADAL" clId="{8A9581F2-25E5-4790-9FBF-270AA6305938}"/>
    <pc:docChg chg="addSld delSld modSld">
      <pc:chgData name="Li,Yuting (HP Medicine) BII-CN-S" userId="ce8fbb54-122c-426d-b8da-fdcc5e1b5022" providerId="ADAL" clId="{8A9581F2-25E5-4790-9FBF-270AA6305938}" dt="2026-04-23T01:38:32.041" v="216" actId="20577"/>
      <pc:docMkLst>
        <pc:docMk/>
      </pc:docMkLst>
      <pc:sldChg chg="modSp mod">
        <pc:chgData name="Li,Yuting (HP Medicine) BII-CN-S" userId="ce8fbb54-122c-426d-b8da-fdcc5e1b5022" providerId="ADAL" clId="{8A9581F2-25E5-4790-9FBF-270AA6305938}" dt="2026-04-23T01:38:32.041" v="216" actId="20577"/>
        <pc:sldMkLst>
          <pc:docMk/>
          <pc:sldMk cId="1922158299" sldId="9848"/>
        </pc:sldMkLst>
        <pc:spChg chg="mod">
          <ac:chgData name="Li,Yuting (HP Medicine) BII-CN-S" userId="ce8fbb54-122c-426d-b8da-fdcc5e1b5022" providerId="ADAL" clId="{8A9581F2-25E5-4790-9FBF-270AA6305938}" dt="2026-04-23T01:37:49.175" v="159" actId="6549"/>
          <ac:spMkLst>
            <pc:docMk/>
            <pc:sldMk cId="1922158299" sldId="9848"/>
            <ac:spMk id="3" creationId="{692796CB-E2C8-8508-DF5A-FC10693F0AFB}"/>
          </ac:spMkLst>
        </pc:spChg>
        <pc:spChg chg="mod">
          <ac:chgData name="Li,Yuting (HP Medicine) BII-CN-S" userId="ce8fbb54-122c-426d-b8da-fdcc5e1b5022" providerId="ADAL" clId="{8A9581F2-25E5-4790-9FBF-270AA6305938}" dt="2026-04-23T01:38:32.041" v="216" actId="20577"/>
          <ac:spMkLst>
            <pc:docMk/>
            <pc:sldMk cId="1922158299" sldId="9848"/>
            <ac:spMk id="20" creationId="{8D17EF76-2217-4565-20CD-D65D723EE31F}"/>
          </ac:spMkLst>
        </pc:spChg>
      </pc:sldChg>
      <pc:sldChg chg="modSp add mod">
        <pc:chgData name="Li,Yuting (HP Medicine) BII-CN-S" userId="ce8fbb54-122c-426d-b8da-fdcc5e1b5022" providerId="ADAL" clId="{8A9581F2-25E5-4790-9FBF-270AA6305938}" dt="2026-04-20T12:28:25.920" v="92" actId="20577"/>
        <pc:sldMkLst>
          <pc:docMk/>
          <pc:sldMk cId="4024630899" sldId="2147483646"/>
        </pc:sldMkLst>
        <pc:spChg chg="mod">
          <ac:chgData name="Li,Yuting (HP Medicine) BII-CN-S" userId="ce8fbb54-122c-426d-b8da-fdcc5e1b5022" providerId="ADAL" clId="{8A9581F2-25E5-4790-9FBF-270AA6305938}" dt="2026-04-20T09:43:32.192" v="49" actId="20577"/>
          <ac:spMkLst>
            <pc:docMk/>
            <pc:sldMk cId="4024630899" sldId="2147483646"/>
            <ac:spMk id="2" creationId="{BBEFA591-C10F-45A9-9EBE-C53D53FB111B}"/>
          </ac:spMkLst>
        </pc:spChg>
        <pc:graphicFrameChg chg="mod modGraphic">
          <ac:chgData name="Li,Yuting (HP Medicine) BII-CN-S" userId="ce8fbb54-122c-426d-b8da-fdcc5e1b5022" providerId="ADAL" clId="{8A9581F2-25E5-4790-9FBF-270AA6305938}" dt="2026-04-20T12:28:25.920" v="92" actId="20577"/>
          <ac:graphicFrameMkLst>
            <pc:docMk/>
            <pc:sldMk cId="4024630899" sldId="2147483646"/>
            <ac:graphicFrameMk id="9" creationId="{F3D725D6-1E11-6563-895F-5E356D3A8A0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2026/4/22</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79152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37675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0229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15943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2810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098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16303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357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74885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554077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120615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20321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6246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2457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741783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78991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86747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803764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70360603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0836630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81312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3170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02411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047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6347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38383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4146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07136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100783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82558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7824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67020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04930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06880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3486675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22/04/2026</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71112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10375424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3006844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707604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757709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6779337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254318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7669734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406974125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29782449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8239097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516264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788510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1812701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76008976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426742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7320821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0919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24147328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3397413"/>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5897242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8911377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9000309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27717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9743252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66669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1277533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6786439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0964959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568584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8765382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690933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258324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4628120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22/04/2026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71502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90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2801938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2026/4/22</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4259324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19040318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4178844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156-BF7E-CDE9-3E99-F53A9DF51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37C13-3D18-1362-FC67-B374142FB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44C16-6798-D4A3-5624-CD52AA8D00F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229EC4C-9B85-91E1-ED6A-2A694801D0DD}"/>
              </a:ext>
            </a:extLst>
          </p:cNvPr>
          <p:cNvSpPr>
            <a:spLocks noGrp="1"/>
          </p:cNvSpPr>
          <p:nvPr>
            <p:ph type="ftr" sz="quarter" idx="11"/>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F2033110-F28C-3315-85FF-6974DBBAE50C}"/>
              </a:ext>
            </a:extLst>
          </p:cNvPr>
          <p:cNvSpPr>
            <a:spLocks noGrp="1"/>
          </p:cNvSpPr>
          <p:nvPr>
            <p:ph type="sldNum" sz="quarter" idx="12"/>
          </p:nvPr>
        </p:nvSpPr>
        <p:spPr/>
        <p:txBody>
          <a:bodyPr/>
          <a:lstStyle/>
          <a:p>
            <a:fld id="{8D70766E-ED60-4152-BABF-438224519024}" type="slidenum">
              <a:rPr lang="en-US" smtClean="0"/>
              <a:t>‹#›</a:t>
            </a:fld>
            <a:endParaRPr lang="en-US"/>
          </a:p>
        </p:txBody>
      </p:sp>
    </p:spTree>
    <p:extLst>
      <p:ext uri="{BB962C8B-B14F-4D97-AF65-F5344CB8AC3E}">
        <p14:creationId xmlns:p14="http://schemas.microsoft.com/office/powerpoint/2010/main" val="17856330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7165397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8971393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621868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41099029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4030296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944742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22/04/2026</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61195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22/04/2026</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202418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724482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22/04/2026</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0272312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22/04/2026</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198011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169258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22/04/2026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03992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22/04/2026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234082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22/04/2026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903540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22/04/2026</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640812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22/04/2026</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8900922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22/04/2026</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97140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3472877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846691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0062403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007376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951469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5715193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22/04/2026</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3697305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0" y="1463709"/>
            <a:ext cx="224100"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1" y="1675201"/>
            <a:ext cx="288349"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en-GB" sz="1333" noProof="0">
                <a:solidFill>
                  <a:srgbClr val="1F497D"/>
                </a:solidFill>
                <a:latin typeface="BISansOpti"/>
                <a:cs typeface="BISansOpti"/>
              </a:rPr>
              <a:t>Click to add copyright-text</a:t>
            </a:r>
          </a:p>
        </p:txBody>
      </p:sp>
      <p:sp>
        <p:nvSpPr>
          <p:cNvPr id="5"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en-GB" noProof="0"/>
              <a:t>Click to add year of copyright</a:t>
            </a:r>
          </a:p>
        </p:txBody>
      </p:sp>
    </p:spTree>
    <p:extLst>
      <p:ext uri="{BB962C8B-B14F-4D97-AF65-F5344CB8AC3E}">
        <p14:creationId xmlns:p14="http://schemas.microsoft.com/office/powerpoint/2010/main" val="716535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0" y="1463709"/>
            <a:ext cx="224100"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1" y="1675201"/>
            <a:ext cx="288349"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5"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baseline="0">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de-DE" sz="1333" noProof="0">
                <a:solidFill>
                  <a:srgbClr val="1F497D"/>
                </a:solidFill>
                <a:latin typeface="BISansOpti"/>
                <a:cs typeface="BISansOpti"/>
              </a:rPr>
              <a:t>Zum Einfügen des Copyright-Textes hier klicken</a:t>
            </a:r>
          </a:p>
        </p:txBody>
      </p:sp>
      <p:sp>
        <p:nvSpPr>
          <p:cNvPr id="37" name="Textfeld 36"/>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38"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de-DE" noProof="0"/>
              <a:t>Zum Einfügen des Copyright-Jahres hier klicken</a:t>
            </a:r>
          </a:p>
        </p:txBody>
      </p:sp>
    </p:spTree>
    <p:extLst>
      <p:ext uri="{BB962C8B-B14F-4D97-AF65-F5344CB8AC3E}">
        <p14:creationId xmlns:p14="http://schemas.microsoft.com/office/powerpoint/2010/main" val="3861738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9" Type="http://schemas.openxmlformats.org/officeDocument/2006/relationships/slideLayout" Target="../slideLayouts/slideLayout73.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42" Type="http://schemas.openxmlformats.org/officeDocument/2006/relationships/image" Target="../media/image1.svg"/><Relationship Id="rId7" Type="http://schemas.openxmlformats.org/officeDocument/2006/relationships/slideLayout" Target="../slideLayouts/slideLayout4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41" Type="http://schemas.openxmlformats.org/officeDocument/2006/relationships/theme" Target="../theme/theme2.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slideLayout" Target="../slideLayouts/slideLayout71.xml"/><Relationship Id="rId40" Type="http://schemas.openxmlformats.org/officeDocument/2006/relationships/slideLayout" Target="../slideLayouts/slideLayout74.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slideLayout" Target="../slideLayouts/slideLayout7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image" Target="../media/image12.png"/><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theme" Target="../theme/theme3.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7658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5240632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134108" y="6547642"/>
            <a:ext cx="804707"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9FC3183C-1A43-43C0-8392-1DBE7E166C5E}" type="datetime1">
              <a:rPr lang="en-GB" noProof="0" smtClean="0"/>
              <a:pPr/>
              <a:t>22/04/2026</a:t>
            </a:fld>
            <a:endParaRPr lang="en-GB" noProof="0"/>
          </a:p>
        </p:txBody>
      </p:sp>
      <p:sp>
        <p:nvSpPr>
          <p:cNvPr id="5" name="Fußzeilenplatzhalter 4"/>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11499922" y="6547642"/>
            <a:ext cx="201978"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6204210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121917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91" indent="-355591" algn="l" defTabSz="121917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8280755" cy="1584000"/>
          </a:xfrm>
        </p:spPr>
        <p:txBody>
          <a:bodyPr/>
          <a:lstStyle/>
          <a:p>
            <a:r>
              <a:rPr lang="en-US" altLang="zh-CN"/>
              <a:t>Follow up actions </a:t>
            </a:r>
            <a:br>
              <a:rPr lang="en-US" altLang="zh-CN"/>
            </a:br>
            <a:r>
              <a:rPr lang="en-US" altLang="zh-CN"/>
              <a:t>(Cross-TA topics)</a:t>
            </a:r>
            <a:endParaRPr lang="en-US"/>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r>
              <a:rPr lang="en-US" altLang="zh-CN"/>
              <a:t>Action owners</a:t>
            </a:r>
            <a:endParaRPr lang="en-US"/>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r>
              <a:rPr lang="en-US"/>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wordmark:</a:t>
            </a:r>
          </a:p>
          <a:p>
            <a:pPr marL="144000" indent="-144000">
              <a:lnSpc>
                <a:spcPct val="120000"/>
              </a:lnSpc>
              <a:spcAft>
                <a:spcPts val="600"/>
              </a:spcAft>
              <a:buFont typeface="+mj-lt"/>
              <a:buAutoNum type="arabicPeriod"/>
            </a:pPr>
            <a:r>
              <a:rPr lang="en-US" sz="900">
                <a:solidFill>
                  <a:schemeClr val="tx1"/>
                </a:solidFill>
                <a:effectLst/>
                <a:latin typeface="+mn-lt"/>
              </a:rPr>
              <a:t>Add (e.g. via drag and drop) your wordmark file (in RGB) to this slide (in alignment with our brand governance and architecture guidelines)</a:t>
            </a:r>
          </a:p>
          <a:p>
            <a:pPr marL="144000" indent="-144000">
              <a:lnSpc>
                <a:spcPct val="120000"/>
              </a:lnSpc>
              <a:spcAft>
                <a:spcPts val="600"/>
              </a:spcAft>
              <a:buFont typeface="+mj-lt"/>
              <a:buAutoNum type="arabicPeriod"/>
            </a:pPr>
            <a:r>
              <a:rPr lang="en-US" sz="900">
                <a:solidFill>
                  <a:schemeClr val="tx1"/>
                </a:solidFill>
                <a:effectLst/>
                <a:latin typeface="+mn-lt"/>
              </a:rPr>
              <a:t>Change the size of the wordmark according to the height reference (magenta placeholder)</a:t>
            </a:r>
          </a:p>
          <a:p>
            <a:pPr marL="144000" indent="-144000">
              <a:lnSpc>
                <a:spcPct val="120000"/>
              </a:lnSpc>
              <a:spcAft>
                <a:spcPts val="600"/>
              </a:spcAft>
              <a:buFont typeface="+mj-lt"/>
              <a:buAutoNum type="arabicPeriod"/>
            </a:pPr>
            <a:r>
              <a:rPr lang="en-US" sz="900">
                <a:solidFill>
                  <a:schemeClr val="tx1"/>
                </a:solidFill>
                <a:effectLst/>
                <a:latin typeface="+mn-lt"/>
              </a:rPr>
              <a:t>Select the “guides” in the navigation bar and move the wordmark to the right and top line (orange)</a:t>
            </a:r>
            <a:endParaRPr lang="en-US" sz="900">
              <a:solidFill>
                <a:schemeClr val="tx1"/>
              </a:solidFill>
              <a:latin typeface="+mn-lt"/>
            </a:endParaRP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1922158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A591-C10F-45A9-9EBE-C53D53FB111B}"/>
              </a:ext>
            </a:extLst>
          </p:cNvPr>
          <p:cNvSpPr>
            <a:spLocks noGrp="1"/>
          </p:cNvSpPr>
          <p:nvPr>
            <p:ph type="title"/>
          </p:nvPr>
        </p:nvSpPr>
        <p:spPr/>
        <p:txBody>
          <a:bodyPr/>
          <a:lstStyle/>
          <a:p>
            <a:r>
              <a:rPr lang="de-DE"/>
              <a:t>Follow up actions from previous PEC (</a:t>
            </a:r>
            <a:r>
              <a:rPr lang="en-US" altLang="zh-CN"/>
              <a:t>Mar</a:t>
            </a:r>
            <a:r>
              <a:rPr lang="de-DE"/>
              <a:t>. 2026)</a:t>
            </a:r>
            <a:endParaRPr lang="en-US"/>
          </a:p>
        </p:txBody>
      </p:sp>
      <p:sp>
        <p:nvSpPr>
          <p:cNvPr id="4" name="Text Placeholder 3">
            <a:extLst>
              <a:ext uri="{FF2B5EF4-FFF2-40B4-BE49-F238E27FC236}">
                <a16:creationId xmlns:a16="http://schemas.microsoft.com/office/drawing/2014/main" id="{35EA6F6E-4910-161B-7A4A-FAAC3D442B87}"/>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8442DC39-1FFB-6525-EF65-B37D0E6B2539}"/>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8" name="Graphic 7" descr="Clipboard Checked with solid fill">
            <a:extLst>
              <a:ext uri="{FF2B5EF4-FFF2-40B4-BE49-F238E27FC236}">
                <a16:creationId xmlns:a16="http://schemas.microsoft.com/office/drawing/2014/main" id="{73351106-93DF-9E89-81BB-98C6D29095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76340" y="35040"/>
            <a:ext cx="984504" cy="984504"/>
          </a:xfrm>
          <a:prstGeom prst="rect">
            <a:avLst/>
          </a:prstGeom>
        </p:spPr>
      </p:pic>
      <p:graphicFrame>
        <p:nvGraphicFramePr>
          <p:cNvPr id="9" name="Content Placeholder 8">
            <a:extLst>
              <a:ext uri="{FF2B5EF4-FFF2-40B4-BE49-F238E27FC236}">
                <a16:creationId xmlns:a16="http://schemas.microsoft.com/office/drawing/2014/main" id="{F3D725D6-1E11-6563-895F-5E356D3A8A05}"/>
              </a:ext>
            </a:extLst>
          </p:cNvPr>
          <p:cNvGraphicFramePr>
            <a:graphicFrameLocks noGrp="1"/>
          </p:cNvGraphicFramePr>
          <p:nvPr>
            <p:ph idx="1"/>
            <p:extLst>
              <p:ext uri="{D42A27DB-BD31-4B8C-83A1-F6EECF244321}">
                <p14:modId xmlns:p14="http://schemas.microsoft.com/office/powerpoint/2010/main" val="2750060022"/>
              </p:ext>
            </p:extLst>
          </p:nvPr>
        </p:nvGraphicFramePr>
        <p:xfrm>
          <a:off x="479424" y="1638961"/>
          <a:ext cx="11231999" cy="2959771"/>
        </p:xfrm>
        <a:graphic>
          <a:graphicData uri="http://schemas.openxmlformats.org/drawingml/2006/table">
            <a:tbl>
              <a:tblPr>
                <a:tableStyleId>{793D81CF-94F2-401A-BA57-92F5A7B2D0C5}</a:tableStyleId>
              </a:tblPr>
              <a:tblGrid>
                <a:gridCol w="1885495">
                  <a:extLst>
                    <a:ext uri="{9D8B030D-6E8A-4147-A177-3AD203B41FA5}">
                      <a16:colId xmlns:a16="http://schemas.microsoft.com/office/drawing/2014/main" val="1502121859"/>
                    </a:ext>
                  </a:extLst>
                </a:gridCol>
                <a:gridCol w="2643068">
                  <a:extLst>
                    <a:ext uri="{9D8B030D-6E8A-4147-A177-3AD203B41FA5}">
                      <a16:colId xmlns:a16="http://schemas.microsoft.com/office/drawing/2014/main" val="3207840293"/>
                    </a:ext>
                  </a:extLst>
                </a:gridCol>
                <a:gridCol w="640069">
                  <a:extLst>
                    <a:ext uri="{9D8B030D-6E8A-4147-A177-3AD203B41FA5}">
                      <a16:colId xmlns:a16="http://schemas.microsoft.com/office/drawing/2014/main" val="350647286"/>
                    </a:ext>
                  </a:extLst>
                </a:gridCol>
                <a:gridCol w="518169">
                  <a:extLst>
                    <a:ext uri="{9D8B030D-6E8A-4147-A177-3AD203B41FA5}">
                      <a16:colId xmlns:a16="http://schemas.microsoft.com/office/drawing/2014/main" val="1267020032"/>
                    </a:ext>
                  </a:extLst>
                </a:gridCol>
                <a:gridCol w="3659093">
                  <a:extLst>
                    <a:ext uri="{9D8B030D-6E8A-4147-A177-3AD203B41FA5}">
                      <a16:colId xmlns:a16="http://schemas.microsoft.com/office/drawing/2014/main" val="99814811"/>
                    </a:ext>
                  </a:extLst>
                </a:gridCol>
                <a:gridCol w="1886105">
                  <a:extLst>
                    <a:ext uri="{9D8B030D-6E8A-4147-A177-3AD203B41FA5}">
                      <a16:colId xmlns:a16="http://schemas.microsoft.com/office/drawing/2014/main" val="3564037770"/>
                    </a:ext>
                  </a:extLst>
                </a:gridCol>
              </a:tblGrid>
              <a:tr h="216131">
                <a:tc>
                  <a:txBody>
                    <a:bodyPr/>
                    <a:lstStyle/>
                    <a:p>
                      <a:pPr algn="l" fontAlgn="ctr">
                        <a:buNone/>
                      </a:pPr>
                      <a:r>
                        <a:rPr lang="en-US" sz="1400" b="0" u="none" strike="noStrike">
                          <a:solidFill>
                            <a:schemeClr val="bg1"/>
                          </a:solidFill>
                          <a:effectLst/>
                        </a:rPr>
                        <a:t>Topic</a:t>
                      </a:r>
                      <a:endParaRPr lang="en-US" sz="1400" b="0" i="0" u="none" strike="noStrike">
                        <a:solidFill>
                          <a:schemeClr val="bg1"/>
                        </a:solidFill>
                        <a:effectLst/>
                        <a:latin typeface="Calibri" panose="020F0502020204030204" pitchFamily="34" charset="0"/>
                        <a:ea typeface="等线" panose="02010600030101010101" pitchFamily="2" charset="-122"/>
                      </a:endParaRPr>
                    </a:p>
                  </a:txBody>
                  <a:tcPr marL="6350" marR="6350" marT="6350" marB="0" anchor="ctr">
                    <a:solidFill>
                      <a:schemeClr val="tx2"/>
                    </a:solidFill>
                  </a:tcPr>
                </a:tc>
                <a:tc>
                  <a:txBody>
                    <a:bodyPr/>
                    <a:lstStyle/>
                    <a:p>
                      <a:pPr algn="l" fontAlgn="ctr">
                        <a:buNone/>
                      </a:pPr>
                      <a:r>
                        <a:rPr lang="en-US" sz="1400" b="0" u="none" strike="noStrike">
                          <a:solidFill>
                            <a:schemeClr val="bg1"/>
                          </a:solidFill>
                          <a:effectLst/>
                        </a:rPr>
                        <a:t>Action</a:t>
                      </a:r>
                      <a:endParaRPr lang="en-US" sz="1400" b="0" i="0" u="none" strike="noStrike">
                        <a:solidFill>
                          <a:schemeClr val="bg1"/>
                        </a:solidFill>
                        <a:effectLst/>
                        <a:latin typeface="Calibri" panose="020F0502020204030204" pitchFamily="34" charset="0"/>
                        <a:ea typeface="等线" panose="02010600030101010101" pitchFamily="2" charset="-122"/>
                      </a:endParaRPr>
                    </a:p>
                  </a:txBody>
                  <a:tcPr marL="6350" marR="6350" marT="6350" marB="0" anchor="ctr">
                    <a:solidFill>
                      <a:schemeClr val="tx2"/>
                    </a:solidFill>
                  </a:tcPr>
                </a:tc>
                <a:tc>
                  <a:txBody>
                    <a:bodyPr/>
                    <a:lstStyle/>
                    <a:p>
                      <a:pPr algn="ctr" fontAlgn="ctr">
                        <a:buNone/>
                      </a:pPr>
                      <a:r>
                        <a:rPr lang="en-US" sz="1400" b="0" u="none" strike="noStrike">
                          <a:solidFill>
                            <a:schemeClr val="bg1"/>
                          </a:solidFill>
                          <a:effectLst/>
                        </a:rPr>
                        <a:t>Owner</a:t>
                      </a:r>
                      <a:endParaRPr lang="en-US" sz="1400" b="0" i="0" u="none" strike="noStrike">
                        <a:solidFill>
                          <a:schemeClr val="bg1"/>
                        </a:solidFill>
                        <a:effectLst/>
                        <a:latin typeface="Calibri" panose="020F0502020204030204" pitchFamily="34" charset="0"/>
                        <a:ea typeface="等线" panose="02010600030101010101" pitchFamily="2" charset="-122"/>
                      </a:endParaRPr>
                    </a:p>
                  </a:txBody>
                  <a:tcPr marL="6350" marR="6350" marT="6350" marB="0" anchor="ctr">
                    <a:solidFill>
                      <a:schemeClr val="tx2"/>
                    </a:solidFill>
                  </a:tcPr>
                </a:tc>
                <a:tc>
                  <a:txBody>
                    <a:bodyPr/>
                    <a:lstStyle/>
                    <a:p>
                      <a:pPr algn="ctr" fontAlgn="ctr">
                        <a:buNone/>
                      </a:pPr>
                      <a:r>
                        <a:rPr lang="en-US" sz="1400" b="0" u="none" strike="noStrike" kern="1200">
                          <a:solidFill>
                            <a:schemeClr val="bg1"/>
                          </a:solidFill>
                          <a:effectLst/>
                          <a:latin typeface="+mn-lt"/>
                          <a:ea typeface="+mn-ea"/>
                          <a:cs typeface="+mn-cs"/>
                        </a:rPr>
                        <a:t>Due Day</a:t>
                      </a:r>
                    </a:p>
                  </a:txBody>
                  <a:tcPr marL="6350" marR="6350" marT="6350" marB="0" anchor="ctr">
                    <a:solidFill>
                      <a:schemeClr val="tx2"/>
                    </a:solidFill>
                  </a:tcPr>
                </a:tc>
                <a:tc>
                  <a:txBody>
                    <a:bodyPr/>
                    <a:lstStyle/>
                    <a:p>
                      <a:pPr algn="ctr" fontAlgn="ctr">
                        <a:buNone/>
                      </a:pPr>
                      <a:r>
                        <a:rPr lang="en-US" altLang="zh-CN" sz="1400" b="0" u="none" strike="noStrike" kern="1200">
                          <a:solidFill>
                            <a:schemeClr val="bg1"/>
                          </a:solidFill>
                          <a:effectLst/>
                          <a:latin typeface="+mn-lt"/>
                          <a:ea typeface="+mn-ea"/>
                          <a:cs typeface="+mn-cs"/>
                        </a:rPr>
                        <a:t>Update</a:t>
                      </a:r>
                      <a:endParaRPr lang="zh-CN" altLang="en-US" sz="1400" b="0" u="none" strike="noStrike" kern="1200">
                        <a:solidFill>
                          <a:schemeClr val="bg1"/>
                        </a:solidFill>
                        <a:effectLst/>
                        <a:latin typeface="+mn-lt"/>
                        <a:ea typeface="+mn-ea"/>
                        <a:cs typeface="+mn-cs"/>
                      </a:endParaRPr>
                    </a:p>
                  </a:txBody>
                  <a:tcPr marL="6350" marR="6350" marT="6350" marB="0" anchor="ctr">
                    <a:solidFill>
                      <a:schemeClr val="tx2"/>
                    </a:solidFill>
                  </a:tcPr>
                </a:tc>
                <a:tc>
                  <a:txBody>
                    <a:bodyPr/>
                    <a:lstStyle/>
                    <a:p>
                      <a:pPr algn="ctr" fontAlgn="ctr">
                        <a:buNone/>
                      </a:pPr>
                      <a:r>
                        <a:rPr lang="en-US" altLang="zh-CN" sz="1400" b="0" u="none" strike="noStrike" kern="1200">
                          <a:solidFill>
                            <a:schemeClr val="bg1"/>
                          </a:solidFill>
                          <a:effectLst/>
                          <a:latin typeface="+mn-lt"/>
                          <a:ea typeface="+mn-ea"/>
                          <a:cs typeface="+mn-cs"/>
                        </a:rPr>
                        <a:t>Completion (Y/N)</a:t>
                      </a:r>
                      <a:endParaRPr lang="zh-CN" altLang="en-US" sz="1400" b="0" u="none" strike="noStrike" kern="1200">
                        <a:solidFill>
                          <a:schemeClr val="bg1"/>
                        </a:solidFill>
                        <a:effectLst/>
                        <a:latin typeface="+mn-lt"/>
                        <a:ea typeface="+mn-ea"/>
                        <a:cs typeface="+mn-cs"/>
                      </a:endParaRPr>
                    </a:p>
                  </a:txBody>
                  <a:tcPr marL="6350" marR="6350" marT="6350" marB="0" anchor="ctr">
                    <a:solidFill>
                      <a:schemeClr val="tx2"/>
                    </a:solidFill>
                  </a:tcPr>
                </a:tc>
                <a:extLst>
                  <a:ext uri="{0D108BD9-81ED-4DB2-BD59-A6C34878D82A}">
                    <a16:rowId xmlns:a16="http://schemas.microsoft.com/office/drawing/2014/main" val="770973355"/>
                  </a:ext>
                </a:extLst>
              </a:tr>
              <a:tr h="905125">
                <a:tc>
                  <a:txBody>
                    <a:bodyPr/>
                    <a:lstStyle/>
                    <a:p>
                      <a:pPr marL="0" algn="l" defTabSz="914377" rtl="0" eaLnBrk="1" fontAlgn="ctr" latinLnBrk="0" hangingPunct="1">
                        <a:buNone/>
                      </a:pPr>
                      <a:r>
                        <a:rPr lang="en-US" altLang="zh-CN" sz="1100" u="none" strike="noStrike" kern="1200">
                          <a:solidFill>
                            <a:schemeClr val="dk1"/>
                          </a:solidFill>
                          <a:effectLst/>
                          <a:latin typeface="+mn-lt"/>
                          <a:ea typeface="+mn-ea"/>
                          <a:cs typeface="+mn-cs"/>
                        </a:rPr>
                        <a:t>Sample size commitment to CDE</a:t>
                      </a:r>
                      <a:endParaRPr lang="en-US" sz="1100" u="none" strike="noStrike" kern="1200">
                        <a:solidFill>
                          <a:schemeClr val="dk1"/>
                        </a:solidFill>
                        <a:effectLst/>
                        <a:latin typeface="+mn-lt"/>
                        <a:ea typeface="+mn-ea"/>
                        <a:cs typeface="+mn-cs"/>
                      </a:endParaRPr>
                    </a:p>
                  </a:txBody>
                  <a:tcPr marL="6350" marR="6350" marT="6350" marB="0" anchor="ctr"/>
                </a:tc>
                <a:tc>
                  <a:txBody>
                    <a:bodyPr/>
                    <a:lstStyle/>
                    <a:p>
                      <a:pPr marL="171450" indent="-171450" algn="l" defTabSz="914377" rtl="0" eaLnBrk="1" fontAlgn="ctr" latinLnBrk="0" hangingPunct="1">
                        <a:buFont typeface="Arial" panose="020B0604020202020204" pitchFamily="34" charset="0"/>
                        <a:buChar char="•"/>
                      </a:pPr>
                      <a:r>
                        <a:rPr lang="en-US" altLang="zh-CN" sz="1100" b="0" i="0" u="none" strike="noStrike" kern="1200">
                          <a:solidFill>
                            <a:srgbClr val="000000"/>
                          </a:solidFill>
                          <a:effectLst/>
                          <a:latin typeface="Calibri"/>
                          <a:ea typeface="等线"/>
                          <a:cs typeface="+mn-cs"/>
                        </a:rPr>
                        <a:t>To review the previous sample size commitments and assess any potential risks. </a:t>
                      </a:r>
                    </a:p>
                    <a:p>
                      <a:pPr marL="171450" indent="-171450" algn="l" defTabSz="914377" rtl="0" eaLnBrk="1" fontAlgn="ctr" latinLnBrk="0" hangingPunct="1">
                        <a:buFont typeface="Arial" panose="020B0604020202020204" pitchFamily="34" charset="0"/>
                        <a:buChar char="•"/>
                      </a:pPr>
                      <a:r>
                        <a:rPr lang="en-US" altLang="zh-CN" sz="1100" b="0" i="0" u="none" strike="noStrike" kern="1200">
                          <a:solidFill>
                            <a:srgbClr val="000000"/>
                          </a:solidFill>
                          <a:effectLst/>
                          <a:latin typeface="Calibri"/>
                          <a:ea typeface="等线"/>
                          <a:cs typeface="+mn-cs"/>
                        </a:rPr>
                        <a:t>To evaluate the pre-IND package review process and update as needed. </a:t>
                      </a:r>
                    </a:p>
                  </a:txBody>
                  <a:tcPr marL="6350" marR="6350" marT="6350" marB="0" anchor="ctr"/>
                </a:tc>
                <a:tc>
                  <a:txBody>
                    <a:bodyPr/>
                    <a:lstStyle/>
                    <a:p>
                      <a:pPr marL="171450" indent="-171450" algn="l" defTabSz="914377" rtl="0" eaLnBrk="1" fontAlgn="ctr" latinLnBrk="0" hangingPunct="1">
                        <a:buFont typeface="Arial" panose="020B0604020202020204" pitchFamily="34" charset="0"/>
                        <a:buChar char="•"/>
                      </a:pPr>
                      <a:r>
                        <a:rPr lang="en-US" altLang="zh-CN" sz="1100" b="0" i="0" u="none" strike="noStrike" kern="1200">
                          <a:solidFill>
                            <a:srgbClr val="000000"/>
                          </a:solidFill>
                          <a:effectLst/>
                          <a:latin typeface="Calibri"/>
                          <a:ea typeface="等线"/>
                          <a:cs typeface="+mn-cs"/>
                        </a:rPr>
                        <a:t>TA and RA </a:t>
                      </a:r>
                    </a:p>
                    <a:p>
                      <a:pPr marL="171450" indent="-171450" algn="l" defTabSz="914377" rtl="0" eaLnBrk="1" fontAlgn="ctr" latinLnBrk="0" hangingPunct="1">
                        <a:buFont typeface="Arial" panose="020B0604020202020204" pitchFamily="34" charset="0"/>
                        <a:buChar char="•"/>
                      </a:pPr>
                      <a:r>
                        <a:rPr lang="en-US" altLang="zh-CN" sz="1100" b="0" i="0" u="none" strike="noStrike" kern="1200">
                          <a:solidFill>
                            <a:srgbClr val="000000"/>
                          </a:solidFill>
                          <a:effectLst/>
                          <a:latin typeface="Calibri"/>
                          <a:ea typeface="等线"/>
                          <a:cs typeface="+mn-cs"/>
                        </a:rPr>
                        <a:t>PPM to lead </a:t>
                      </a:r>
                    </a:p>
                  </a:txBody>
                  <a:tcPr marL="6350" marR="6350" marT="6350" marB="0" anchor="ctr"/>
                </a:tc>
                <a:tc>
                  <a:txBody>
                    <a:bodyPr/>
                    <a:lstStyle/>
                    <a:p>
                      <a:pPr algn="ctr" fontAlgn="ctr">
                        <a:buNone/>
                      </a:pPr>
                      <a:r>
                        <a:rPr lang="en-US" sz="1100" u="none" strike="noStrike">
                          <a:effectLst/>
                        </a:rPr>
                        <a:t>Apr PEC</a:t>
                      </a:r>
                      <a:endParaRPr lang="en-US" sz="1100" b="0" i="0" u="none" strike="noStrike">
                        <a:solidFill>
                          <a:srgbClr val="000000"/>
                        </a:solidFill>
                        <a:effectLst/>
                        <a:latin typeface="Calibri" panose="020F0502020204030204" pitchFamily="34" charset="0"/>
                        <a:ea typeface="等线" panose="02010600030101010101" pitchFamily="2" charset="-122"/>
                      </a:endParaRPr>
                    </a:p>
                  </a:txBody>
                  <a:tcPr marL="6350" marR="6350" marT="6350" marB="0" anchor="ctr"/>
                </a:tc>
                <a:tc>
                  <a:txBody>
                    <a:bodyPr/>
                    <a:lstStyle/>
                    <a:p>
                      <a:pPr marL="171450" indent="-171450" algn="l" fontAlgn="ctr">
                        <a:buFont typeface="Arial" panose="020B0604020202020204" pitchFamily="34" charset="0"/>
                        <a:buChar char="•"/>
                      </a:pPr>
                      <a:r>
                        <a:rPr lang="en-US" altLang="zh-CN" sz="1100" b="0" i="0" u="none" strike="noStrike">
                          <a:solidFill>
                            <a:srgbClr val="000000"/>
                          </a:solidFill>
                          <a:effectLst/>
                          <a:latin typeface="Calibri"/>
                          <a:ea typeface="等线"/>
                        </a:rPr>
                        <a:t>RA TAHs reviewed the previous TA pre-IND packages for any disclosure of unnecessary sample size allocation breakdown (Mainland/TW/HK). </a:t>
                      </a:r>
                      <a:r>
                        <a:rPr lang="en-US" altLang="zh-CN" sz="1100" b="1" i="0" u="none" strike="noStrike">
                          <a:solidFill>
                            <a:srgbClr val="000000"/>
                          </a:solidFill>
                          <a:effectLst/>
                          <a:latin typeface="Calibri"/>
                          <a:ea typeface="等线"/>
                        </a:rPr>
                        <a:t>No additional cases identified. </a:t>
                      </a:r>
                      <a:r>
                        <a:rPr lang="en-US" altLang="zh-CN" sz="1100" b="0" i="0" u="none" strike="noStrike">
                          <a:solidFill>
                            <a:srgbClr val="000000"/>
                          </a:solidFill>
                          <a:effectLst/>
                          <a:latin typeface="Calibri"/>
                          <a:ea typeface="等线"/>
                        </a:rPr>
                        <a:t>The current case was a</a:t>
                      </a:r>
                      <a:r>
                        <a:rPr lang="zh-CN" altLang="en-US" sz="1100" b="0" i="0" u="none" strike="noStrike">
                          <a:solidFill>
                            <a:srgbClr val="000000"/>
                          </a:solidFill>
                          <a:effectLst/>
                          <a:latin typeface="Calibri"/>
                          <a:ea typeface="等线"/>
                        </a:rPr>
                        <a:t> </a:t>
                      </a:r>
                      <a:r>
                        <a:rPr lang="en-US" altLang="zh-CN" sz="1100" b="0" i="0" u="none" strike="noStrike">
                          <a:solidFill>
                            <a:srgbClr val="000000"/>
                          </a:solidFill>
                          <a:effectLst/>
                          <a:latin typeface="Calibri"/>
                          <a:ea typeface="等线"/>
                        </a:rPr>
                        <a:t>single</a:t>
                      </a:r>
                      <a:r>
                        <a:rPr lang="zh-CN" altLang="en-US" sz="1100" b="0" i="0" u="none" strike="noStrike">
                          <a:solidFill>
                            <a:srgbClr val="000000"/>
                          </a:solidFill>
                          <a:effectLst/>
                          <a:latin typeface="Calibri"/>
                          <a:ea typeface="等线"/>
                        </a:rPr>
                        <a:t> </a:t>
                      </a:r>
                      <a:r>
                        <a:rPr lang="en-US" altLang="zh-CN" sz="1100" b="0" i="0" u="none" strike="noStrike">
                          <a:solidFill>
                            <a:srgbClr val="000000"/>
                          </a:solidFill>
                          <a:effectLst/>
                          <a:latin typeface="Calibri"/>
                          <a:ea typeface="等线"/>
                        </a:rPr>
                        <a:t>case, and review process was followed. </a:t>
                      </a:r>
                      <a:endParaRPr lang="en-US" altLang="zh-CN" sz="1100" b="1" i="0" u="none" strike="noStrike">
                        <a:solidFill>
                          <a:srgbClr val="000000"/>
                        </a:solidFill>
                        <a:effectLst/>
                        <a:latin typeface="Calibri"/>
                        <a:ea typeface="等线"/>
                      </a:endParaRPr>
                    </a:p>
                    <a:p>
                      <a:pPr marL="171450" indent="-171450" algn="l" fontAlgn="ctr">
                        <a:buFont typeface="Arial" panose="020B0604020202020204" pitchFamily="34" charset="0"/>
                        <a:buChar char="•"/>
                      </a:pPr>
                      <a:r>
                        <a:rPr lang="en-US" altLang="zh-CN" sz="1100" b="0" i="0" u="none" strike="noStrike">
                          <a:solidFill>
                            <a:srgbClr val="000000"/>
                          </a:solidFill>
                          <a:effectLst/>
                          <a:latin typeface="Calibri"/>
                          <a:ea typeface="等线"/>
                        </a:rPr>
                        <a:t>Process strengthened: Add a note in the process document “China Sample Size Proposal for Joining Pivotal Studies (Registration Purpose)”: </a:t>
                      </a:r>
                      <a:r>
                        <a:rPr lang="en-US" altLang="zh-CN" sz="1100" b="1" i="1" u="none" strike="noStrike">
                          <a:solidFill>
                            <a:srgbClr val="000000"/>
                          </a:solidFill>
                          <a:effectLst/>
                          <a:latin typeface="Calibri"/>
                          <a:ea typeface="等线"/>
                        </a:rPr>
                        <a:t>“Do not share unnecessary allocation details (esp. Mainland/TW/HK), which is internal execution-level alignment; default to Greater China total sample size for HA communication.”</a:t>
                      </a:r>
                    </a:p>
                  </a:txBody>
                  <a:tcPr marL="6350" marR="6350" marT="6350" marB="0" anchor="ctr"/>
                </a:tc>
                <a:tc>
                  <a:txBody>
                    <a:bodyPr/>
                    <a:lstStyle/>
                    <a:p>
                      <a:pPr marL="457189" lvl="1" indent="0" algn="l" fontAlgn="ctr">
                        <a:buFont typeface="Arial" panose="020B0604020202020204" pitchFamily="34" charset="0"/>
                        <a:buNone/>
                      </a:pPr>
                      <a:r>
                        <a:rPr lang="en-US" altLang="zh-CN" sz="1100" b="0" i="0" u="none" strike="noStrike">
                          <a:solidFill>
                            <a:srgbClr val="000000"/>
                          </a:solidFill>
                          <a:effectLst/>
                          <a:latin typeface="Calibri"/>
                          <a:ea typeface="等线"/>
                        </a:rPr>
                        <a:t>              Y</a:t>
                      </a:r>
                    </a:p>
                  </a:txBody>
                  <a:tcPr marL="6350" marR="6350" marT="6350" marB="0" anchor="ctr"/>
                </a:tc>
                <a:extLst>
                  <a:ext uri="{0D108BD9-81ED-4DB2-BD59-A6C34878D82A}">
                    <a16:rowId xmlns:a16="http://schemas.microsoft.com/office/drawing/2014/main" val="1240069646"/>
                  </a:ext>
                </a:extLst>
              </a:tr>
              <a:tr h="676311">
                <a:tc>
                  <a:txBody>
                    <a:bodyPr/>
                    <a:lstStyle/>
                    <a:p>
                      <a:pPr algn="l" fontAlgn="ctr">
                        <a:buNone/>
                      </a:pPr>
                      <a:r>
                        <a:rPr lang="fr-FR" altLang="zh-CN" sz="1100" u="none" strike="noStrike" kern="1200">
                          <a:solidFill>
                            <a:schemeClr val="dk1"/>
                          </a:solidFill>
                          <a:effectLst/>
                          <a:latin typeface="+mn-lt"/>
                          <a:ea typeface="+mn-ea"/>
                          <a:cs typeface="+mn-cs"/>
                        </a:rPr>
                        <a:t>Communication on CFDI/CDE </a:t>
                      </a:r>
                      <a:r>
                        <a:rPr lang="fr-FR" altLang="zh-CN" sz="1100" u="none" strike="noStrike" kern="1200" err="1">
                          <a:solidFill>
                            <a:schemeClr val="dk1"/>
                          </a:solidFill>
                          <a:effectLst/>
                          <a:latin typeface="+mn-lt"/>
                          <a:ea typeface="+mn-ea"/>
                          <a:cs typeface="+mn-cs"/>
                        </a:rPr>
                        <a:t>comments</a:t>
                      </a:r>
                      <a:r>
                        <a:rPr lang="fr-FR" altLang="zh-CN" sz="1100" u="none" strike="noStrike" kern="1200">
                          <a:solidFill>
                            <a:schemeClr val="dk1"/>
                          </a:solidFill>
                          <a:effectLst/>
                          <a:latin typeface="+mn-lt"/>
                          <a:ea typeface="+mn-ea"/>
                          <a:cs typeface="+mn-cs"/>
                        </a:rPr>
                        <a:t>/questions </a:t>
                      </a:r>
                      <a:endParaRPr lang="en-US" sz="1100" u="none" strike="noStrike" kern="1200">
                        <a:solidFill>
                          <a:schemeClr val="dk1"/>
                        </a:solidFill>
                        <a:effectLst/>
                        <a:latin typeface="+mn-lt"/>
                        <a:ea typeface="+mn-ea"/>
                        <a:cs typeface="+mn-cs"/>
                      </a:endParaRPr>
                    </a:p>
                  </a:txBody>
                  <a:tcPr marL="6350" marR="6350" marT="6350" marB="0" anchor="ctr"/>
                </a:tc>
                <a:tc>
                  <a:txBody>
                    <a:bodyPr/>
                    <a:lstStyle/>
                    <a:p>
                      <a:pPr marL="171450" indent="-171450" algn="l" defTabSz="914377" rtl="0" eaLnBrk="1" fontAlgn="ctr" latinLnBrk="0" hangingPunct="1">
                        <a:buFont typeface="Arial" panose="020B0604020202020204" pitchFamily="34" charset="0"/>
                        <a:buChar char="•"/>
                      </a:pPr>
                      <a:r>
                        <a:rPr lang="en-US" sz="1100" b="0" i="0" u="none" strike="noStrike" kern="1200">
                          <a:solidFill>
                            <a:srgbClr val="000000"/>
                          </a:solidFill>
                          <a:effectLst/>
                          <a:latin typeface="Calibri"/>
                          <a:ea typeface="等线"/>
                          <a:cs typeface="+mn-cs"/>
                        </a:rPr>
                        <a:t>To report comments/questions from CFDI/CDE immediately once received and share the responses with related MLT. </a:t>
                      </a:r>
                    </a:p>
                  </a:txBody>
                  <a:tcPr marL="6350" marR="6350" marT="6350" marB="0" anchor="ctr"/>
                </a:tc>
                <a:tc>
                  <a:txBody>
                    <a:bodyPr/>
                    <a:lstStyle/>
                    <a:p>
                      <a:pPr algn="ctr" fontAlgn="ctr">
                        <a:buNone/>
                      </a:pPr>
                      <a:r>
                        <a:rPr lang="en-US" altLang="zh-CN" sz="1100" u="none" strike="noStrike">
                          <a:effectLst/>
                        </a:rPr>
                        <a:t>RA</a:t>
                      </a:r>
                      <a:endParaRPr lang="en-US" sz="1100" b="0" i="0" u="none" strike="noStrike">
                        <a:solidFill>
                          <a:srgbClr val="000000"/>
                        </a:solidFill>
                        <a:effectLst/>
                        <a:latin typeface="Calibri" panose="020F0502020204030204" pitchFamily="34" charset="0"/>
                        <a:ea typeface="等线" panose="02010600030101010101" pitchFamily="2" charset="-122"/>
                      </a:endParaRPr>
                    </a:p>
                  </a:txBody>
                  <a:tcPr marL="6350" marR="6350" marT="6350" marB="0" anchor="ctr"/>
                </a:tc>
                <a:tc>
                  <a:txBody>
                    <a:bodyPr/>
                    <a:lstStyle/>
                    <a:p>
                      <a:pPr algn="ctr" fontAlgn="ctr">
                        <a:buNone/>
                      </a:pPr>
                      <a:r>
                        <a:rPr lang="en-US" altLang="zh-CN" sz="1100" u="none" strike="noStrike">
                          <a:effectLst/>
                        </a:rPr>
                        <a:t>Apr</a:t>
                      </a:r>
                      <a:r>
                        <a:rPr lang="en-US" sz="1100" u="none" strike="noStrike">
                          <a:effectLst/>
                        </a:rPr>
                        <a:t> PEC</a:t>
                      </a:r>
                      <a:endParaRPr lang="en-US" sz="1100" b="0" i="0" u="none" strike="noStrike">
                        <a:solidFill>
                          <a:srgbClr val="000000"/>
                        </a:solidFill>
                        <a:effectLst/>
                        <a:latin typeface="Calibri" panose="020F0502020204030204" pitchFamily="34" charset="0"/>
                        <a:ea typeface="等线" panose="02010600030101010101" pitchFamily="2" charset="-122"/>
                      </a:endParaRPr>
                    </a:p>
                  </a:txBody>
                  <a:tcPr marL="6350" marR="6350" marT="6350" marB="0" anchor="ctr"/>
                </a:tc>
                <a:tc>
                  <a:txBody>
                    <a:bodyPr/>
                    <a:lstStyle/>
                    <a:p>
                      <a:pPr marL="0" indent="0" algn="l" defTabSz="914377" rtl="0" eaLnBrk="1" fontAlgn="ctr" latinLnBrk="0" hangingPunct="1">
                        <a:buFont typeface="Arial" panose="020B0604020202020204" pitchFamily="34" charset="0"/>
                        <a:buNone/>
                      </a:pPr>
                      <a:r>
                        <a:rPr lang="en-US" altLang="zh-CN" sz="1100" b="0" i="0" u="none" strike="noStrike" kern="1200">
                          <a:solidFill>
                            <a:srgbClr val="000000"/>
                          </a:solidFill>
                          <a:effectLst/>
                          <a:latin typeface="Calibri"/>
                          <a:ea typeface="等线"/>
                          <a:cs typeface="+mn-cs"/>
                        </a:rPr>
                        <a:t>RA function has embedded the agreed process into daily practice to immediately inform CFDI/CDE formal questions and circulate responses to the relevant MLT.</a:t>
                      </a:r>
                      <a:endParaRPr lang="zh-CN" altLang="en-US" sz="1100" b="0" i="0" u="none" strike="noStrike" kern="1200">
                        <a:solidFill>
                          <a:srgbClr val="000000"/>
                        </a:solidFill>
                        <a:effectLst/>
                        <a:latin typeface="Calibri"/>
                        <a:ea typeface="等线"/>
                        <a:cs typeface="+mn-cs"/>
                      </a:endParaRPr>
                    </a:p>
                  </a:txBody>
                  <a:tcPr marL="6350" marR="6350" marT="6350" marB="0" anchor="ctr"/>
                </a:tc>
                <a:tc>
                  <a:txBody>
                    <a:bodyPr/>
                    <a:lstStyle/>
                    <a:p>
                      <a:pPr marL="0" indent="0" algn="ctr" defTabSz="914377" rtl="0" eaLnBrk="1" fontAlgn="ctr" latinLnBrk="0" hangingPunct="1">
                        <a:buFont typeface="Arial" panose="020B0604020202020204" pitchFamily="34" charset="0"/>
                        <a:buNone/>
                      </a:pPr>
                      <a:r>
                        <a:rPr lang="en-US" altLang="zh-CN" sz="1100" b="0" i="0" u="none" strike="noStrike" kern="1200">
                          <a:solidFill>
                            <a:srgbClr val="000000"/>
                          </a:solidFill>
                          <a:effectLst/>
                          <a:latin typeface="Calibri"/>
                          <a:ea typeface="等线"/>
                          <a:cs typeface="+mn-cs"/>
                        </a:rPr>
                        <a:t>Y</a:t>
                      </a:r>
                      <a:endParaRPr lang="zh-CN" altLang="en-US" sz="1100" b="0" i="0" u="none" strike="noStrike" kern="1200">
                        <a:solidFill>
                          <a:srgbClr val="000000"/>
                        </a:solidFill>
                        <a:effectLst/>
                        <a:latin typeface="Calibri"/>
                        <a:ea typeface="等线"/>
                        <a:cs typeface="+mn-cs"/>
                      </a:endParaRPr>
                    </a:p>
                  </a:txBody>
                  <a:tcPr marL="6350" marR="6350" marT="6350" marB="0" anchor="ctr"/>
                </a:tc>
                <a:extLst>
                  <a:ext uri="{0D108BD9-81ED-4DB2-BD59-A6C34878D82A}">
                    <a16:rowId xmlns:a16="http://schemas.microsoft.com/office/drawing/2014/main" val="3060905581"/>
                  </a:ext>
                </a:extLst>
              </a:tr>
            </a:tbl>
          </a:graphicData>
        </a:graphic>
      </p:graphicFrame>
    </p:spTree>
    <p:extLst>
      <p:ext uri="{BB962C8B-B14F-4D97-AF65-F5344CB8AC3E}">
        <p14:creationId xmlns:p14="http://schemas.microsoft.com/office/powerpoint/2010/main" val="4024630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el 1"/>
          <p:cNvSpPr txBox="1">
            <a:spLocks/>
          </p:cNvSpPr>
          <p:nvPr/>
        </p:nvSpPr>
        <p:spPr>
          <a:xfrm>
            <a:off x="378531" y="278469"/>
            <a:ext cx="11788069" cy="471989"/>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400" kern="1200">
                <a:solidFill>
                  <a:srgbClr val="003366"/>
                </a:solidFill>
                <a:latin typeface="+mj-lt"/>
                <a:ea typeface="+mj-ea"/>
                <a:cs typeface="+mj-cs"/>
              </a:defRPr>
            </a:lvl1pPr>
          </a:lstStyle>
          <a:p>
            <a:pPr marL="0" marR="0" lvl="0" indent="0" algn="l" defTabSz="1219140" rtl="0" eaLnBrk="1" fontAlgn="auto" latinLnBrk="0" hangingPunct="1">
              <a:lnSpc>
                <a:spcPct val="100000"/>
              </a:lnSpc>
              <a:spcBef>
                <a:spcPct val="0"/>
              </a:spcBef>
              <a:spcAft>
                <a:spcPts val="0"/>
              </a:spcAft>
              <a:buClrTx/>
              <a:buSzTx/>
              <a:buFontTx/>
              <a:buNone/>
              <a:tabLst/>
              <a:defRPr/>
            </a:pPr>
            <a:r>
              <a:rPr kumimoji="0" lang="en-US" sz="3067" b="0" i="0" u="none" strike="noStrike" kern="1200" cap="none" spc="0" normalizeH="0" baseline="0" noProof="0">
                <a:ln>
                  <a:noFill/>
                </a:ln>
                <a:solidFill>
                  <a:srgbClr val="003366"/>
                </a:solidFill>
                <a:effectLst/>
                <a:uLnTx/>
                <a:uFillTx/>
                <a:latin typeface="BISansOptiCond"/>
                <a:ea typeface="SimSun"/>
                <a:cs typeface="Times New Roman"/>
              </a:rPr>
              <a:t>China Sample Size Proposal for Joining Pivotal Studies </a:t>
            </a:r>
            <a:r>
              <a:rPr kumimoji="0" lang="en-US" sz="3067" b="0" i="1" u="none" strike="noStrike" kern="1200" cap="none" spc="0" normalizeH="0" baseline="0" noProof="0">
                <a:ln>
                  <a:noFill/>
                </a:ln>
                <a:solidFill>
                  <a:srgbClr val="000000">
                    <a:lumMod val="50000"/>
                    <a:lumOff val="50000"/>
                  </a:srgbClr>
                </a:solidFill>
                <a:effectLst/>
                <a:uLnTx/>
                <a:uFillTx/>
                <a:latin typeface="BISansOptiCond"/>
                <a:ea typeface="SimSun"/>
                <a:cs typeface="Times New Roman"/>
              </a:rPr>
              <a:t>(Registration Purpose)</a:t>
            </a:r>
          </a:p>
        </p:txBody>
      </p:sp>
      <p:sp>
        <p:nvSpPr>
          <p:cNvPr id="2" name="Slide Number Placeholder 1"/>
          <p:cNvSpPr>
            <a:spLocks noGrp="1"/>
          </p:cNvSpPr>
          <p:nvPr>
            <p:ph type="sldNum" sz="quarter" idx="12"/>
          </p:nvPr>
        </p:nvSpPr>
        <p:spPr>
          <a:xfrm>
            <a:off x="11615338" y="6547645"/>
            <a:ext cx="86562" cy="205121"/>
          </a:xfrm>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333" b="0" i="0" u="none" strike="noStrike" kern="1200" cap="none" spc="0" normalizeH="0" baseline="0" noProof="0">
                <a:ln>
                  <a:noFill/>
                </a:ln>
                <a:solidFill>
                  <a:srgbClr val="FFFFFF">
                    <a:lumMod val="50000"/>
                  </a:srgbClr>
                </a:solidFill>
                <a:effectLst/>
                <a:uLnTx/>
                <a:uFillTx/>
                <a:latin typeface="BISansOptiCond"/>
                <a:ea typeface="+mn-ea"/>
              </a:rPr>
              <a:pPr marL="0" marR="0" lvl="0" indent="0" algn="r" defTabSz="1219140" rtl="0" eaLnBrk="1" fontAlgn="auto" latinLnBrk="0" hangingPunct="1">
                <a:lnSpc>
                  <a:spcPct val="100000"/>
                </a:lnSpc>
                <a:spcBef>
                  <a:spcPts val="0"/>
                </a:spcBef>
                <a:spcAft>
                  <a:spcPts val="0"/>
                </a:spcAft>
                <a:buClrTx/>
                <a:buSzTx/>
                <a:buFontTx/>
                <a:buNone/>
                <a:tabLst/>
                <a:defRPr/>
              </a:pPr>
              <a:t>3</a:t>
            </a:fld>
            <a:endParaRPr kumimoji="0" lang="en-GB" sz="1333" b="0" i="0" u="none" strike="noStrike" kern="1200" cap="none" spc="0" normalizeH="0" baseline="0" noProof="0">
              <a:ln>
                <a:noFill/>
              </a:ln>
              <a:solidFill>
                <a:srgbClr val="FFFFFF">
                  <a:lumMod val="50000"/>
                </a:srgbClr>
              </a:solidFill>
              <a:effectLst/>
              <a:uLnTx/>
              <a:uFillTx/>
              <a:latin typeface="BISansOptiCond"/>
              <a:ea typeface="+mn-ea"/>
            </a:endParaRPr>
          </a:p>
        </p:txBody>
      </p:sp>
      <p:sp>
        <p:nvSpPr>
          <p:cNvPr id="17" name="Inhaltsplatzhalter 4"/>
          <p:cNvSpPr txBox="1">
            <a:spLocks/>
          </p:cNvSpPr>
          <p:nvPr/>
        </p:nvSpPr>
        <p:spPr>
          <a:xfrm>
            <a:off x="342803" y="873226"/>
            <a:ext cx="11652604" cy="537164"/>
          </a:xfrm>
          <a:prstGeom prst="rect">
            <a:avLst/>
          </a:prstGeom>
          <a:ln w="1270">
            <a:noFill/>
            <a:prstDash val="sysDot"/>
          </a:ln>
        </p:spPr>
        <p:txBody>
          <a:bodyPr vert="horz" lIns="48000" tIns="96000" rIns="48000" bIns="96000" rtlCol="0" anchor="ctr">
            <a:noAutofit/>
          </a:bodyPr>
          <a:lstStyle>
            <a:defPPr>
              <a:defRPr lang="de-DE"/>
            </a:defPPr>
            <a:lvl1pPr marL="268288" indent="-268288">
              <a:spcBef>
                <a:spcPts val="400"/>
              </a:spcBef>
              <a:buFont typeface="Arial" panose="020B0604020202020204" pitchFamily="34" charset="0"/>
              <a:buNone/>
              <a:defRPr sz="1600">
                <a:solidFill>
                  <a:srgbClr val="000000"/>
                </a:solidFill>
                <a:latin typeface="BISansOpti"/>
                <a:cs typeface="BISansOpti"/>
              </a:defRPr>
            </a:lvl1pPr>
            <a:lvl2pPr marL="450850" indent="-184150">
              <a:spcBef>
                <a:spcPts val="0"/>
              </a:spcBef>
              <a:buFont typeface="Arial" panose="020B0604020202020204" pitchFamily="34" charset="0"/>
              <a:buChar char="–"/>
              <a:defRPr sz="1600">
                <a:latin typeface="BISansOpti"/>
                <a:cs typeface="BISansOpti"/>
              </a:defRPr>
            </a:lvl2pPr>
            <a:lvl3pPr marL="628650" indent="-177800">
              <a:spcBef>
                <a:spcPts val="0"/>
              </a:spcBef>
              <a:buFont typeface="Arial" panose="020B0604020202020204" pitchFamily="34" charset="0"/>
              <a:buChar char="•"/>
              <a:defRPr sz="1600">
                <a:latin typeface="BISansOpti"/>
                <a:cs typeface="BISansOpti"/>
              </a:defRPr>
            </a:lvl3pPr>
            <a:lvl4pPr marL="806450" indent="-177800">
              <a:spcBef>
                <a:spcPts val="0"/>
              </a:spcBef>
              <a:buFont typeface="Arial" panose="020B0604020202020204" pitchFamily="34" charset="0"/>
              <a:buChar char="–"/>
              <a:defRPr sz="1600">
                <a:latin typeface="BISansOpti"/>
                <a:cs typeface="BISansOpti"/>
              </a:defRPr>
            </a:lvl4pPr>
            <a:lvl5pPr marL="984250" indent="-177800">
              <a:spcBef>
                <a:spcPts val="0"/>
              </a:spcBef>
              <a:buFont typeface="Wingdings" panose="05000000000000000000" pitchFamily="2" charset="2"/>
              <a:buChar char="§"/>
              <a:defRPr sz="1600">
                <a:latin typeface="BISansOpti"/>
                <a:cs typeface="BISansOpti"/>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marR="0" lvl="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733" b="0" i="0" u="none" strike="noStrike" kern="1200" cap="none" spc="0" normalizeH="0" baseline="0" noProof="0">
                <a:ln>
                  <a:noFill/>
                </a:ln>
                <a:solidFill>
                  <a:srgbClr val="000000"/>
                </a:solidFill>
                <a:effectLst/>
                <a:uLnTx/>
                <a:uFillTx/>
                <a:latin typeface="BISansOptiCond"/>
                <a:ea typeface="+mn-ea"/>
              </a:rPr>
              <a:t>CD physicians will lead Local Project Team to evaluate and propose sample for registration purpose trial</a:t>
            </a:r>
            <a:r>
              <a:rPr kumimoji="0" lang="en-US" altLang="zh-CN" sz="1733" b="0" i="0" u="none" strike="noStrike" kern="1200" cap="none" spc="0" normalizeH="0" baseline="0" noProof="0">
                <a:ln>
                  <a:noFill/>
                </a:ln>
                <a:solidFill>
                  <a:srgbClr val="000000"/>
                </a:solidFill>
                <a:effectLst/>
                <a:uLnTx/>
                <a:uFillTx/>
                <a:latin typeface="BISansOptiCond"/>
                <a:ea typeface="+mn-ea"/>
              </a:rPr>
              <a:t>,</a:t>
            </a:r>
            <a:r>
              <a:rPr kumimoji="0" lang="en-US" sz="1733" b="0" i="0" u="none" strike="noStrike" kern="1200" cap="none" spc="0" normalizeH="0" baseline="0" noProof="0">
                <a:ln>
                  <a:noFill/>
                </a:ln>
                <a:solidFill>
                  <a:srgbClr val="000000"/>
                </a:solidFill>
                <a:effectLst/>
                <a:uLnTx/>
                <a:uFillTx/>
                <a:latin typeface="BISansOptiCond"/>
                <a:ea typeface="+mn-ea"/>
              </a:rPr>
              <a:t> as part of China integration plan.</a:t>
            </a:r>
          </a:p>
        </p:txBody>
      </p:sp>
      <p:graphicFrame>
        <p:nvGraphicFramePr>
          <p:cNvPr id="4" name="表格 3"/>
          <p:cNvGraphicFramePr>
            <a:graphicFrameLocks noGrp="1"/>
          </p:cNvGraphicFramePr>
          <p:nvPr/>
        </p:nvGraphicFramePr>
        <p:xfrm>
          <a:off x="368203" y="1325723"/>
          <a:ext cx="11391231" cy="4139692"/>
        </p:xfrm>
        <a:graphic>
          <a:graphicData uri="http://schemas.openxmlformats.org/drawingml/2006/table">
            <a:tbl>
              <a:tblPr firstRow="1" bandRow="1">
                <a:tableStyleId>{5C22544A-7EE6-4342-B048-85BDC9FD1C3A}</a:tableStyleId>
              </a:tblPr>
              <a:tblGrid>
                <a:gridCol w="2307264">
                  <a:extLst>
                    <a:ext uri="{9D8B030D-6E8A-4147-A177-3AD203B41FA5}">
                      <a16:colId xmlns:a16="http://schemas.microsoft.com/office/drawing/2014/main" val="4218705946"/>
                    </a:ext>
                  </a:extLst>
                </a:gridCol>
                <a:gridCol w="7690383">
                  <a:extLst>
                    <a:ext uri="{9D8B030D-6E8A-4147-A177-3AD203B41FA5}">
                      <a16:colId xmlns:a16="http://schemas.microsoft.com/office/drawing/2014/main" val="3953092797"/>
                    </a:ext>
                  </a:extLst>
                </a:gridCol>
                <a:gridCol w="1393584">
                  <a:extLst>
                    <a:ext uri="{9D8B030D-6E8A-4147-A177-3AD203B41FA5}">
                      <a16:colId xmlns:a16="http://schemas.microsoft.com/office/drawing/2014/main" val="1321990618"/>
                    </a:ext>
                  </a:extLst>
                </a:gridCol>
              </a:tblGrid>
              <a:tr h="365760">
                <a:tc>
                  <a:txBody>
                    <a:bodyPr/>
                    <a:lstStyle/>
                    <a:p>
                      <a:r>
                        <a:rPr lang="en-US" sz="1600"/>
                        <a:t>Evaluation</a:t>
                      </a:r>
                      <a:r>
                        <a:rPr lang="en-US" sz="1600" baseline="0"/>
                        <a:t> Items</a:t>
                      </a:r>
                      <a:endParaRPr lang="en-US" sz="1600"/>
                    </a:p>
                  </a:txBody>
                  <a:tcPr marL="121920" marR="121920" marT="60960" marB="60960"/>
                </a:tc>
                <a:tc>
                  <a:txBody>
                    <a:bodyPr/>
                    <a:lstStyle/>
                    <a:p>
                      <a:r>
                        <a:rPr lang="en-US" sz="1600"/>
                        <a:t>Considerations</a:t>
                      </a:r>
                    </a:p>
                  </a:txBody>
                  <a:tcPr marL="121920" marR="121920" marT="60960" marB="60960"/>
                </a:tc>
                <a:tc>
                  <a:txBody>
                    <a:bodyPr/>
                    <a:lstStyle/>
                    <a:p>
                      <a:r>
                        <a:rPr lang="en-US" sz="1600"/>
                        <a:t>Responsible</a:t>
                      </a:r>
                    </a:p>
                  </a:txBody>
                  <a:tcPr marL="121920" marR="121920" marT="60960" marB="60960"/>
                </a:tc>
                <a:extLst>
                  <a:ext uri="{0D108BD9-81ED-4DB2-BD59-A6C34878D82A}">
                    <a16:rowId xmlns:a16="http://schemas.microsoft.com/office/drawing/2014/main" val="328244741"/>
                  </a:ext>
                </a:extLst>
              </a:tr>
              <a:tr h="807889">
                <a:tc>
                  <a:txBody>
                    <a:bodyPr/>
                    <a:lstStyle/>
                    <a:p>
                      <a:r>
                        <a:rPr lang="en-US" sz="1500"/>
                        <a:t>Statistical Perspective</a:t>
                      </a:r>
                    </a:p>
                  </a:txBody>
                  <a:tcPr marL="121920" marR="121920" marT="60960" marB="60960"/>
                </a:tc>
                <a:tc>
                  <a:txBody>
                    <a:bodyPr/>
                    <a:lstStyle/>
                    <a:p>
                      <a:pPr marL="216000" lvl="1" indent="-214313">
                        <a:lnSpc>
                          <a:spcPct val="105000"/>
                        </a:lnSpc>
                        <a:buFont typeface="Arial" panose="020B0604020202020204" pitchFamily="34" charset="0"/>
                        <a:buChar char="•"/>
                        <a:defRPr/>
                      </a:pPr>
                      <a:r>
                        <a:rPr lang="en-US" sz="1500" kern="1200">
                          <a:solidFill>
                            <a:schemeClr val="tx1"/>
                          </a:solidFill>
                          <a:latin typeface="+mn-lt"/>
                          <a:ea typeface="+mn-ea"/>
                          <a:cs typeface="+mn-cs"/>
                        </a:rPr>
                        <a:t>PMDA Method 1: </a:t>
                      </a:r>
                      <a:r>
                        <a:rPr lang="en-US" sz="1500" kern="1200">
                          <a:solidFill>
                            <a:schemeClr val="tx1">
                              <a:lumMod val="65000"/>
                              <a:lumOff val="35000"/>
                            </a:schemeClr>
                          </a:solidFill>
                          <a:latin typeface="+mn-lt"/>
                          <a:ea typeface="+mn-ea"/>
                          <a:cs typeface="+mn-cs"/>
                        </a:rPr>
                        <a:t>primary choice, to allow 80% chance to meet consistency criteria</a:t>
                      </a:r>
                    </a:p>
                    <a:p>
                      <a:pPr marL="216000" lvl="1" indent="-214313">
                        <a:lnSpc>
                          <a:spcPct val="105000"/>
                        </a:lnSpc>
                        <a:buFont typeface="Arial" panose="020B0604020202020204" pitchFamily="34" charset="0"/>
                        <a:buChar char="•"/>
                        <a:defRPr/>
                      </a:pPr>
                      <a:r>
                        <a:rPr lang="en-US" sz="1500" kern="1200">
                          <a:solidFill>
                            <a:schemeClr val="tx1"/>
                          </a:solidFill>
                          <a:latin typeface="+mn-lt"/>
                          <a:ea typeface="+mn-ea"/>
                          <a:cs typeface="+mn-cs"/>
                        </a:rPr>
                        <a:t>PMDA Method 2: </a:t>
                      </a:r>
                      <a:r>
                        <a:rPr lang="en-US" sz="1500" kern="1200">
                          <a:solidFill>
                            <a:schemeClr val="tx1">
                              <a:lumMod val="65000"/>
                              <a:lumOff val="35000"/>
                            </a:schemeClr>
                          </a:solidFill>
                          <a:latin typeface="+mn-lt"/>
                          <a:ea typeface="+mn-ea"/>
                          <a:cs typeface="+mn-cs"/>
                        </a:rPr>
                        <a:t>secondary choice</a:t>
                      </a:r>
                    </a:p>
                    <a:p>
                      <a:pPr marL="216000" lvl="1" indent="-214313">
                        <a:lnSpc>
                          <a:spcPct val="105000"/>
                        </a:lnSpc>
                        <a:buFont typeface="Arial" panose="020B0604020202020204" pitchFamily="34" charset="0"/>
                        <a:buChar char="•"/>
                        <a:defRPr/>
                      </a:pPr>
                      <a:r>
                        <a:rPr lang="en-US" sz="1500" kern="1200">
                          <a:solidFill>
                            <a:schemeClr val="tx1"/>
                          </a:solidFill>
                          <a:latin typeface="+mn-lt"/>
                          <a:ea typeface="+mn-ea"/>
                          <a:cs typeface="+mn-cs"/>
                        </a:rPr>
                        <a:t>Special considerations for multiple comparisons and multiple trial participation</a:t>
                      </a:r>
                    </a:p>
                  </a:txBody>
                  <a:tcPr marL="121920" marR="121920" marT="60960" marB="60960"/>
                </a:tc>
                <a:tc>
                  <a:txBody>
                    <a:bodyPr/>
                    <a:lstStyle/>
                    <a:p>
                      <a:r>
                        <a:rPr lang="en-US" sz="1500"/>
                        <a:t>Statistician</a:t>
                      </a:r>
                    </a:p>
                  </a:txBody>
                  <a:tcPr marL="121920" marR="121920" marT="60960" marB="60960"/>
                </a:tc>
                <a:extLst>
                  <a:ext uri="{0D108BD9-81ED-4DB2-BD59-A6C34878D82A}">
                    <a16:rowId xmlns:a16="http://schemas.microsoft.com/office/drawing/2014/main" val="1635658262"/>
                  </a:ext>
                </a:extLst>
              </a:tr>
              <a:tr h="573193">
                <a:tc>
                  <a:txBody>
                    <a:bodyPr/>
                    <a:lstStyle/>
                    <a:p>
                      <a:r>
                        <a:rPr lang="en-US" sz="1500"/>
                        <a:t>Regulatory Consideration</a:t>
                      </a:r>
                    </a:p>
                  </a:txBody>
                  <a:tcPr marL="121920" marR="121920" marT="60960" marB="60960"/>
                </a:tc>
                <a:tc>
                  <a:txBody>
                    <a:bodyPr/>
                    <a:lstStyle/>
                    <a:p>
                      <a:pPr marL="216000" lvl="1" indent="-214313" algn="l" defTabSz="914400" rtl="0" eaLnBrk="1" latinLnBrk="0" hangingPunct="1">
                        <a:lnSpc>
                          <a:spcPct val="105000"/>
                        </a:lnSpc>
                        <a:buFont typeface="Arial" panose="020B0604020202020204" pitchFamily="34" charset="0"/>
                        <a:buChar char="•"/>
                        <a:defRPr/>
                      </a:pPr>
                      <a:r>
                        <a:rPr lang="en-US" sz="1500" b="0" kern="1200">
                          <a:solidFill>
                            <a:srgbClr val="00B050"/>
                          </a:solidFill>
                          <a:latin typeface="+mn-lt"/>
                          <a:ea typeface="+mn-ea"/>
                          <a:cs typeface="+mn-cs"/>
                        </a:rPr>
                        <a:t>15-20%</a:t>
                      </a:r>
                      <a:r>
                        <a:rPr lang="en-US" sz="1500" kern="1200">
                          <a:solidFill>
                            <a:schemeClr val="tx1"/>
                          </a:solidFill>
                          <a:latin typeface="+mn-lt"/>
                          <a:ea typeface="+mn-ea"/>
                          <a:cs typeface="+mn-cs"/>
                        </a:rPr>
                        <a:t> of overall study population in general</a:t>
                      </a:r>
                    </a:p>
                    <a:p>
                      <a:pPr marL="216000" lvl="1" indent="-214313" algn="l" defTabSz="914400" rtl="0" eaLnBrk="1" latinLnBrk="0" hangingPunct="1">
                        <a:lnSpc>
                          <a:spcPct val="105000"/>
                        </a:lnSpc>
                        <a:buFont typeface="Arial" panose="020B0604020202020204" pitchFamily="34" charset="0"/>
                        <a:buChar char="•"/>
                        <a:defRPr/>
                      </a:pPr>
                      <a:r>
                        <a:rPr lang="en-US" sz="1500" i="0" kern="1200">
                          <a:solidFill>
                            <a:schemeClr val="tx1"/>
                          </a:solidFill>
                          <a:latin typeface="+mn-lt"/>
                          <a:ea typeface="+mn-ea"/>
                          <a:cs typeface="+mn-cs"/>
                        </a:rPr>
                        <a:t>Sample size of successful precedents with similar indication</a:t>
                      </a:r>
                    </a:p>
                  </a:txBody>
                  <a:tcPr marL="121920" marR="121920" marT="60960" marB="60960"/>
                </a:tc>
                <a:tc>
                  <a:txBody>
                    <a:bodyPr/>
                    <a:lstStyle/>
                    <a:p>
                      <a:r>
                        <a:rPr lang="en-US" sz="1500"/>
                        <a:t>RA</a:t>
                      </a:r>
                    </a:p>
                  </a:txBody>
                  <a:tcPr marL="121920" marR="121920" marT="60960" marB="60960"/>
                </a:tc>
                <a:extLst>
                  <a:ext uri="{0D108BD9-81ED-4DB2-BD59-A6C34878D82A}">
                    <a16:rowId xmlns:a16="http://schemas.microsoft.com/office/drawing/2014/main" val="1664061677"/>
                  </a:ext>
                </a:extLst>
              </a:tr>
              <a:tr h="1042585">
                <a:tc>
                  <a:txBody>
                    <a:bodyPr/>
                    <a:lstStyle/>
                    <a:p>
                      <a:r>
                        <a:rPr lang="en-US" sz="1500" baseline="0"/>
                        <a:t>Operation Feasibility</a:t>
                      </a:r>
                      <a:endParaRPr lang="en-US" sz="1500"/>
                    </a:p>
                  </a:txBody>
                  <a:tcPr marL="121920" marR="121920" marT="60960" marB="60960"/>
                </a:tc>
                <a:tc>
                  <a:txBody>
                    <a:bodyPr/>
                    <a:lstStyle/>
                    <a:p>
                      <a:pPr marL="216000" lvl="1" indent="-214313" algn="l" defTabSz="914400" rtl="0" eaLnBrk="1" latinLnBrk="0" hangingPunct="1">
                        <a:lnSpc>
                          <a:spcPct val="105000"/>
                        </a:lnSpc>
                        <a:buFont typeface="Arial" panose="020B0604020202020204" pitchFamily="34" charset="0"/>
                        <a:buChar char="•"/>
                        <a:defRPr/>
                      </a:pPr>
                      <a:r>
                        <a:rPr lang="en-US" sz="1500" strike="noStrike" kern="1200" baseline="0">
                          <a:solidFill>
                            <a:schemeClr val="tx1"/>
                          </a:solidFill>
                          <a:latin typeface="+mn-lt"/>
                          <a:ea typeface="+mn-ea"/>
                          <a:cs typeface="+mn-cs"/>
                        </a:rPr>
                        <a:t>B</a:t>
                      </a:r>
                      <a:r>
                        <a:rPr lang="en-US" altLang="zh-CN" sz="1500" strike="noStrike" kern="1200" baseline="0">
                          <a:solidFill>
                            <a:schemeClr val="tx1"/>
                          </a:solidFill>
                          <a:latin typeface="+mn-lt"/>
                          <a:ea typeface="+mn-ea"/>
                          <a:cs typeface="+mn-cs"/>
                        </a:rPr>
                        <a:t>enchmark data reference (Internal &amp; External, Global &amp; Local) </a:t>
                      </a:r>
                      <a:endParaRPr lang="en-US" sz="1500" strike="noStrike" kern="1200" baseline="0">
                        <a:solidFill>
                          <a:schemeClr val="tx1"/>
                        </a:solidFill>
                        <a:latin typeface="+mn-lt"/>
                        <a:ea typeface="+mn-ea"/>
                        <a:cs typeface="+mn-cs"/>
                      </a:endParaRPr>
                    </a:p>
                    <a:p>
                      <a:pPr marL="216000" marR="0" lvl="1" indent="-214313" algn="l" defTabSz="914400" rtl="0" eaLnBrk="1" fontAlgn="auto" latinLnBrk="0" hangingPunct="1">
                        <a:lnSpc>
                          <a:spcPct val="105000"/>
                        </a:lnSpc>
                        <a:spcBef>
                          <a:spcPts val="0"/>
                        </a:spcBef>
                        <a:spcAft>
                          <a:spcPts val="0"/>
                        </a:spcAft>
                        <a:buClrTx/>
                        <a:buSzTx/>
                        <a:buFont typeface="Arial" panose="020B0604020202020204" pitchFamily="34" charset="0"/>
                        <a:buChar char="•"/>
                        <a:tabLst/>
                        <a:defRPr/>
                      </a:pPr>
                      <a:r>
                        <a:rPr lang="en-US" sz="1500" kern="1200">
                          <a:solidFill>
                            <a:schemeClr val="tx1"/>
                          </a:solidFill>
                          <a:latin typeface="+mn-lt"/>
                          <a:ea typeface="+mn-ea"/>
                          <a:cs typeface="+mn-cs"/>
                        </a:rPr>
                        <a:t>Global strategic feasibility for reference, if applied</a:t>
                      </a:r>
                    </a:p>
                    <a:p>
                      <a:pPr marL="216000" marR="0" lvl="1" indent="-214313" algn="l" defTabSz="914400" rtl="0" eaLnBrk="1" fontAlgn="auto" latinLnBrk="0" hangingPunct="1">
                        <a:lnSpc>
                          <a:spcPct val="105000"/>
                        </a:lnSpc>
                        <a:spcBef>
                          <a:spcPts val="0"/>
                        </a:spcBef>
                        <a:spcAft>
                          <a:spcPts val="0"/>
                        </a:spcAft>
                        <a:buClrTx/>
                        <a:buSzTx/>
                        <a:buFont typeface="Arial" panose="020B0604020202020204" pitchFamily="34" charset="0"/>
                        <a:buChar char="•"/>
                        <a:tabLst/>
                        <a:defRPr/>
                      </a:pPr>
                      <a:r>
                        <a:rPr lang="en-US" sz="1500" kern="1200">
                          <a:solidFill>
                            <a:schemeClr val="tx1"/>
                          </a:solidFill>
                          <a:latin typeface="+mn-lt"/>
                          <a:ea typeface="+mn-ea"/>
                          <a:cs typeface="+mn-cs"/>
                        </a:rPr>
                        <a:t>Preliminary feasibility evaluation, </a:t>
                      </a:r>
                      <a:r>
                        <a:rPr lang="en-US" sz="1500" kern="1200" err="1">
                          <a:solidFill>
                            <a:schemeClr val="tx1"/>
                          </a:solidFill>
                          <a:latin typeface="+mn-lt"/>
                          <a:ea typeface="+mn-ea"/>
                          <a:cs typeface="+mn-cs"/>
                        </a:rPr>
                        <a:t>eg.</a:t>
                      </a:r>
                      <a:r>
                        <a:rPr lang="en-US" sz="1500" kern="1200">
                          <a:solidFill>
                            <a:schemeClr val="tx1"/>
                          </a:solidFill>
                          <a:latin typeface="+mn-lt"/>
                          <a:ea typeface="+mn-ea"/>
                          <a:cs typeface="+mn-cs"/>
                        </a:rPr>
                        <a:t> EE feedback</a:t>
                      </a:r>
                    </a:p>
                    <a:p>
                      <a:pPr marL="216000" marR="0" lvl="1" indent="-214313" algn="l" defTabSz="914400" rtl="0" eaLnBrk="1" fontAlgn="auto" latinLnBrk="0" hangingPunct="1">
                        <a:lnSpc>
                          <a:spcPct val="105000"/>
                        </a:lnSpc>
                        <a:spcBef>
                          <a:spcPts val="0"/>
                        </a:spcBef>
                        <a:spcAft>
                          <a:spcPts val="0"/>
                        </a:spcAft>
                        <a:buClrTx/>
                        <a:buSzTx/>
                        <a:buFont typeface="Arial" panose="020B0604020202020204" pitchFamily="34" charset="0"/>
                        <a:buChar char="•"/>
                        <a:tabLst/>
                        <a:defRPr/>
                      </a:pPr>
                      <a:r>
                        <a:rPr lang="en-US" altLang="zh-CN" sz="1500" kern="1200">
                          <a:solidFill>
                            <a:schemeClr val="tx1"/>
                          </a:solidFill>
                          <a:latin typeface="+mn-lt"/>
                          <a:ea typeface="+mn-ea"/>
                          <a:cs typeface="+mn-cs"/>
                        </a:rPr>
                        <a:t>Participation patient number of TW/HK and other East Asian countries, if available</a:t>
                      </a:r>
                    </a:p>
                  </a:txBody>
                  <a:tcPr marL="121920" marR="121920" marT="60960" marB="60960"/>
                </a:tc>
                <a:tc>
                  <a:txBody>
                    <a:bodyPr/>
                    <a:lstStyle/>
                    <a:p>
                      <a:r>
                        <a:rPr lang="en-US" sz="1500"/>
                        <a:t>ClinOps</a:t>
                      </a:r>
                    </a:p>
                  </a:txBody>
                  <a:tcPr marL="121920" marR="121920" marT="60960" marB="60960"/>
                </a:tc>
                <a:extLst>
                  <a:ext uri="{0D108BD9-81ED-4DB2-BD59-A6C34878D82A}">
                    <a16:rowId xmlns:a16="http://schemas.microsoft.com/office/drawing/2014/main" val="3607277077"/>
                  </a:ext>
                </a:extLst>
              </a:tr>
              <a:tr h="1277281">
                <a:tc>
                  <a:txBody>
                    <a:bodyPr/>
                    <a:lstStyle/>
                    <a:p>
                      <a:r>
                        <a:rPr lang="en-US" sz="1500"/>
                        <a:t>Clinical Consideration</a:t>
                      </a:r>
                    </a:p>
                  </a:txBody>
                  <a:tcPr marL="121920" marR="121920" marT="60960" marB="60960"/>
                </a:tc>
                <a:tc>
                  <a:txBody>
                    <a:bodyPr/>
                    <a:lstStyle/>
                    <a:p>
                      <a:pPr marL="216000" marR="0" lvl="1" indent="-214313" algn="l" defTabSz="914400" rtl="0" eaLnBrk="1" fontAlgn="auto" latinLnBrk="0" hangingPunct="1">
                        <a:lnSpc>
                          <a:spcPct val="105000"/>
                        </a:lnSpc>
                        <a:spcBef>
                          <a:spcPts val="0"/>
                        </a:spcBef>
                        <a:spcAft>
                          <a:spcPts val="0"/>
                        </a:spcAft>
                        <a:buClrTx/>
                        <a:buSzTx/>
                        <a:buFont typeface="Arial" panose="020B0604020202020204" pitchFamily="34" charset="0"/>
                        <a:buChar char="•"/>
                        <a:tabLst/>
                        <a:defRPr/>
                      </a:pPr>
                      <a:r>
                        <a:rPr lang="en-US" altLang="zh-CN" sz="1500" kern="1200">
                          <a:solidFill>
                            <a:schemeClr val="tx1"/>
                          </a:solidFill>
                          <a:latin typeface="+mn-lt"/>
                          <a:ea typeface="+mn-ea"/>
                          <a:cs typeface="+mn-cs"/>
                        </a:rPr>
                        <a:t>Target patient</a:t>
                      </a:r>
                      <a:r>
                        <a:rPr lang="en-US" altLang="zh-CN" sz="1500" kern="1200" baseline="0">
                          <a:solidFill>
                            <a:schemeClr val="tx1"/>
                          </a:solidFill>
                          <a:latin typeface="+mn-lt"/>
                          <a:ea typeface="+mn-ea"/>
                          <a:cs typeface="+mn-cs"/>
                        </a:rPr>
                        <a:t> population and medical practice in China</a:t>
                      </a:r>
                      <a:endParaRPr lang="en-US" altLang="zh-CN" sz="1500" kern="1200">
                        <a:solidFill>
                          <a:schemeClr val="tx1"/>
                        </a:solidFill>
                        <a:latin typeface="+mn-lt"/>
                        <a:ea typeface="+mn-ea"/>
                        <a:cs typeface="+mn-cs"/>
                      </a:endParaRPr>
                    </a:p>
                    <a:p>
                      <a:pPr marL="216000" lvl="1" indent="-214313" algn="l" defTabSz="914400" rtl="0" eaLnBrk="1" latinLnBrk="0" hangingPunct="1">
                        <a:lnSpc>
                          <a:spcPct val="105000"/>
                        </a:lnSpc>
                        <a:buFont typeface="Arial" panose="020B0604020202020204" pitchFamily="34" charset="0"/>
                        <a:buChar char="•"/>
                        <a:defRPr/>
                      </a:pPr>
                      <a:r>
                        <a:rPr lang="en-US" altLang="zh-CN" sz="1500" kern="1200">
                          <a:solidFill>
                            <a:schemeClr val="tx1"/>
                          </a:solidFill>
                          <a:latin typeface="+mn-lt"/>
                          <a:ea typeface="+mn-ea"/>
                          <a:cs typeface="+mn-cs"/>
                        </a:rPr>
                        <a:t>Rare disease in China or not</a:t>
                      </a:r>
                    </a:p>
                    <a:p>
                      <a:pPr marL="216000" lvl="1" indent="-214313" algn="l" defTabSz="914400" rtl="0" eaLnBrk="1" latinLnBrk="0" hangingPunct="1">
                        <a:lnSpc>
                          <a:spcPct val="105000"/>
                        </a:lnSpc>
                        <a:buFont typeface="Arial" panose="020B0604020202020204" pitchFamily="34" charset="0"/>
                        <a:buChar char="•"/>
                        <a:defRPr/>
                      </a:pPr>
                      <a:r>
                        <a:rPr lang="en-US" altLang="zh-CN" sz="1500" kern="1200">
                          <a:solidFill>
                            <a:schemeClr val="tx1"/>
                          </a:solidFill>
                          <a:latin typeface="+mn-lt"/>
                          <a:ea typeface="+mn-ea"/>
                          <a:cs typeface="+mn-cs"/>
                        </a:rPr>
                        <a:t>Mega trial</a:t>
                      </a:r>
                    </a:p>
                    <a:p>
                      <a:pPr marL="216000" lvl="1" indent="-214313" algn="l" defTabSz="914400" rtl="0" eaLnBrk="1" latinLnBrk="0" hangingPunct="1">
                        <a:lnSpc>
                          <a:spcPct val="105000"/>
                        </a:lnSpc>
                        <a:buFont typeface="Arial" panose="020B0604020202020204" pitchFamily="34" charset="0"/>
                        <a:buChar char="•"/>
                        <a:defRPr/>
                      </a:pPr>
                      <a:r>
                        <a:rPr lang="en-US" altLang="zh-CN" sz="1500" kern="1200">
                          <a:solidFill>
                            <a:schemeClr val="tx1"/>
                          </a:solidFill>
                          <a:latin typeface="+mn-lt"/>
                          <a:ea typeface="+mn-ea"/>
                          <a:cs typeface="+mn-cs"/>
                        </a:rPr>
                        <a:t>Sample size and data from early phase trials if China has joined</a:t>
                      </a:r>
                    </a:p>
                    <a:p>
                      <a:pPr marL="216000" marR="0" lvl="1" indent="-214313" algn="l" defTabSz="914400" rtl="0" eaLnBrk="1" fontAlgn="auto" latinLnBrk="0" hangingPunct="1">
                        <a:lnSpc>
                          <a:spcPct val="105000"/>
                        </a:lnSpc>
                        <a:spcBef>
                          <a:spcPts val="0"/>
                        </a:spcBef>
                        <a:spcAft>
                          <a:spcPts val="0"/>
                        </a:spcAft>
                        <a:buClrTx/>
                        <a:buSzTx/>
                        <a:buFont typeface="Arial" panose="020B0604020202020204" pitchFamily="34" charset="0"/>
                        <a:buChar char="•"/>
                        <a:tabLst/>
                        <a:defRPr/>
                      </a:pPr>
                      <a:r>
                        <a:rPr lang="en-US" altLang="zh-CN" sz="1500" kern="1200">
                          <a:solidFill>
                            <a:schemeClr val="tx1"/>
                          </a:solidFill>
                          <a:latin typeface="+mn-lt"/>
                          <a:ea typeface="+mn-ea"/>
                          <a:cs typeface="+mn-cs"/>
                        </a:rPr>
                        <a:t>Sample size of trials with similar indication</a:t>
                      </a:r>
                    </a:p>
                  </a:txBody>
                  <a:tcPr marL="121920" marR="121920" marT="60960" marB="60960"/>
                </a:tc>
                <a:tc>
                  <a:txBody>
                    <a:bodyPr/>
                    <a:lstStyle/>
                    <a:p>
                      <a:r>
                        <a:rPr lang="en-US" sz="1500"/>
                        <a:t>CD</a:t>
                      </a:r>
                    </a:p>
                  </a:txBody>
                  <a:tcPr marL="121920" marR="121920" marT="60960" marB="60960"/>
                </a:tc>
                <a:extLst>
                  <a:ext uri="{0D108BD9-81ED-4DB2-BD59-A6C34878D82A}">
                    <a16:rowId xmlns:a16="http://schemas.microsoft.com/office/drawing/2014/main" val="4258643672"/>
                  </a:ext>
                </a:extLst>
              </a:tr>
            </a:tbl>
          </a:graphicData>
        </a:graphic>
      </p:graphicFrame>
      <p:sp>
        <p:nvSpPr>
          <p:cNvPr id="8" name="Inhaltsplatzhalter 4"/>
          <p:cNvSpPr txBox="1">
            <a:spLocks/>
          </p:cNvSpPr>
          <p:nvPr/>
        </p:nvSpPr>
        <p:spPr>
          <a:xfrm>
            <a:off x="281678" y="5827676"/>
            <a:ext cx="11747596" cy="220133"/>
          </a:xfrm>
          <a:prstGeom prst="rect">
            <a:avLst/>
          </a:prstGeom>
          <a:ln w="1270">
            <a:noFill/>
            <a:prstDash val="sysDot"/>
          </a:ln>
        </p:spPr>
        <p:txBody>
          <a:bodyPr vert="horz" lIns="48000" tIns="96000" rIns="48000" bIns="96000" rtlCol="0" anchor="ctr">
            <a:noAutofit/>
          </a:bodyPr>
          <a:lstStyle>
            <a:defPPr>
              <a:defRPr lang="de-DE"/>
            </a:defPPr>
            <a:lvl1pPr marL="268288" indent="-268288">
              <a:spcBef>
                <a:spcPts val="400"/>
              </a:spcBef>
              <a:buFont typeface="Arial" panose="020B0604020202020204" pitchFamily="34" charset="0"/>
              <a:buNone/>
              <a:defRPr sz="1600">
                <a:solidFill>
                  <a:srgbClr val="000000"/>
                </a:solidFill>
                <a:latin typeface="BISansOpti"/>
                <a:cs typeface="BISansOpti"/>
              </a:defRPr>
            </a:lvl1pPr>
            <a:lvl2pPr marL="450850" indent="-184150">
              <a:spcBef>
                <a:spcPts val="0"/>
              </a:spcBef>
              <a:buFont typeface="Arial" panose="020B0604020202020204" pitchFamily="34" charset="0"/>
              <a:buChar char="–"/>
              <a:defRPr sz="1600">
                <a:latin typeface="BISansOpti"/>
                <a:cs typeface="BISansOpti"/>
              </a:defRPr>
            </a:lvl2pPr>
            <a:lvl3pPr marL="628650" indent="-177800">
              <a:spcBef>
                <a:spcPts val="0"/>
              </a:spcBef>
              <a:buFont typeface="Arial" panose="020B0604020202020204" pitchFamily="34" charset="0"/>
              <a:buChar char="•"/>
              <a:defRPr sz="1600">
                <a:latin typeface="BISansOpti"/>
                <a:cs typeface="BISansOpti"/>
              </a:defRPr>
            </a:lvl3pPr>
            <a:lvl4pPr marL="806450" indent="-177800">
              <a:spcBef>
                <a:spcPts val="0"/>
              </a:spcBef>
              <a:buFont typeface="Arial" panose="020B0604020202020204" pitchFamily="34" charset="0"/>
              <a:buChar char="–"/>
              <a:defRPr sz="1600">
                <a:latin typeface="BISansOpti"/>
                <a:cs typeface="BISansOpti"/>
              </a:defRPr>
            </a:lvl4pPr>
            <a:lvl5pPr marL="984250" indent="-177800">
              <a:spcBef>
                <a:spcPts val="0"/>
              </a:spcBef>
              <a:buFont typeface="Wingdings" panose="05000000000000000000" pitchFamily="2" charset="2"/>
              <a:buChar char="§"/>
              <a:defRPr sz="1600">
                <a:latin typeface="BISansOpti"/>
                <a:cs typeface="BISansOpti"/>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380981" marR="0" lvl="0" indent="-380981" algn="l" defTabSz="1219140" rtl="0" eaLnBrk="1" fontAlgn="auto" latinLnBrk="0" hangingPunct="1">
              <a:lnSpc>
                <a:spcPct val="105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srgbClr val="000000"/>
                </a:solidFill>
                <a:effectLst/>
                <a:uLnTx/>
                <a:uFillTx/>
                <a:latin typeface="BISansOptiCond"/>
                <a:ea typeface="+mn-ea"/>
              </a:rPr>
              <a:t>Team proposal is a balance of the four aspects. </a:t>
            </a:r>
          </a:p>
          <a:p>
            <a:pPr marL="380981" marR="0" lvl="0" indent="-380981" algn="l" defTabSz="121914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srgbClr val="000000"/>
                </a:solidFill>
                <a:effectLst/>
                <a:uLnTx/>
                <a:uFillTx/>
                <a:latin typeface="BISansOptiCond"/>
                <a:ea typeface="+mn-ea"/>
              </a:rPr>
              <a:t>If certain requirement cannot be met, LPT need to assess the risk and mitigation plan, and incorporate into China integration proposal.</a:t>
            </a:r>
          </a:p>
          <a:p>
            <a:pPr marL="380981" marR="0" lvl="0" indent="-380981" algn="l" defTabSz="121914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1" i="1" u="none" strike="noStrike" kern="1200" cap="none" spc="0" normalizeH="0" baseline="0" noProof="0">
                <a:ln>
                  <a:noFill/>
                </a:ln>
                <a:solidFill>
                  <a:srgbClr val="FF0000"/>
                </a:solidFill>
                <a:effectLst/>
                <a:uLnTx/>
                <a:uFillTx/>
                <a:latin typeface="BISansOptiCond"/>
                <a:ea typeface="+mn-ea"/>
              </a:rPr>
              <a:t>Do not share unnecessary allocation details (esp. Mainland/TW/HK), which is internal execution-level alignment; default to Greater China sample size information only for HA communication.</a:t>
            </a:r>
          </a:p>
        </p:txBody>
      </p:sp>
      <p:sp>
        <p:nvSpPr>
          <p:cNvPr id="3" name="矩形: 圆角 2">
            <a:extLst>
              <a:ext uri="{FF2B5EF4-FFF2-40B4-BE49-F238E27FC236}">
                <a16:creationId xmlns:a16="http://schemas.microsoft.com/office/drawing/2014/main" id="{A5C2A270-700E-409A-BC5D-545C5ECE1348}"/>
              </a:ext>
            </a:extLst>
          </p:cNvPr>
          <p:cNvSpPr/>
          <p:nvPr/>
        </p:nvSpPr>
        <p:spPr>
          <a:xfrm>
            <a:off x="310670" y="6417349"/>
            <a:ext cx="11391231" cy="509395"/>
          </a:xfrm>
          <a:prstGeom prst="round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1F497D"/>
                </a:solidFill>
                <a:effectLst/>
                <a:uLnTx/>
                <a:uFillTx/>
                <a:latin typeface="BISansOptiCond"/>
                <a:ea typeface="+mn-ea"/>
                <a:cs typeface="+mn-cs"/>
              </a:rPr>
              <a:t>CO will lead OPU feasibility, final commitment to individual study should rely upon final OPU allocation. If any deviation to proposed sample size by OPU feasibility, China development plan re-assessment and mitigation may be considered, please consider to raise to PEC and/or core team.</a:t>
            </a:r>
          </a:p>
        </p:txBody>
      </p:sp>
    </p:spTree>
    <p:extLst>
      <p:ext uri="{BB962C8B-B14F-4D97-AF65-F5344CB8AC3E}">
        <p14:creationId xmlns:p14="http://schemas.microsoft.com/office/powerpoint/2010/main" val="170395529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Präsentation15" id="{2EE0B740-C1E2-5F47-9DC9-1AB0F3EB6989}" vid="{318FD161-97DC-7F45-B134-E4A575C46A9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8AA324C-5278-4E0D-98C2-3B10DE127498}">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6BDBC09-F494-42EC-97A8-962B1DA039F6}">
  <ds:schemaRefs>
    <ds:schemaRef ds:uri="http://schemas.microsoft.com/sharepoint/v3/contenttype/forms"/>
  </ds:schemaRefs>
</ds:datastoreItem>
</file>

<file path=customXml/itemProps3.xml><?xml version="1.0" encoding="utf-8"?>
<ds:datastoreItem xmlns:ds="http://schemas.openxmlformats.org/officeDocument/2006/customXml" ds:itemID="{170C821C-8DB2-4D7B-96F2-EE226F57FF6F}"/>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3</Notes>
  <HiddenSlides>0</HiddenSlide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Boehringer Ingelheim 16:9</vt:lpstr>
      <vt:lpstr>1_Boehringer Ingelheim 16:9</vt:lpstr>
      <vt:lpstr>1_BI_Corporate_16_9</vt:lpstr>
      <vt:lpstr>Follow up actions  (Cross-TA topics)</vt:lpstr>
      <vt:lpstr>Follow up actions from previous PEC (Mar. 2026)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revision>1</cp:revision>
  <dcterms:created xsi:type="dcterms:W3CDTF">2023-11-09T09:11:57Z</dcterms:created>
  <dcterms:modified xsi:type="dcterms:W3CDTF">2026-04-23T01:38:35Z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