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0C_2E72DD8D.xml" ContentType="application/vnd.ms-powerpoint.comments+xml"/>
  <Override PartName="/ppt/comments/modernComment_105_BB2E943D.xml" ContentType="application/vnd.ms-powerpoint.comment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6" r:id="rId4"/>
  </p:sldMasterIdLst>
  <p:notesMasterIdLst>
    <p:notesMasterId r:id="rId17"/>
  </p:notesMasterIdLst>
  <p:sldIdLst>
    <p:sldId id="260" r:id="rId5"/>
    <p:sldId id="262" r:id="rId6"/>
    <p:sldId id="263" r:id="rId7"/>
    <p:sldId id="268" r:id="rId8"/>
    <p:sldId id="261" r:id="rId9"/>
    <p:sldId id="256" r:id="rId10"/>
    <p:sldId id="264" r:id="rId11"/>
    <p:sldId id="272" r:id="rId12"/>
    <p:sldId id="273" r:id="rId13"/>
    <p:sldId id="266" r:id="rId14"/>
    <p:sldId id="267" r:id="rId15"/>
    <p:sldId id="271"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3713824-3DC7-4D9E-9504-4468A296EAA2}">
          <p14:sldIdLst>
            <p14:sldId id="260"/>
            <p14:sldId id="262"/>
            <p14:sldId id="263"/>
            <p14:sldId id="268"/>
            <p14:sldId id="261"/>
            <p14:sldId id="256"/>
            <p14:sldId id="264"/>
            <p14:sldId id="272"/>
            <p14:sldId id="273"/>
            <p14:sldId id="266"/>
            <p14:sldId id="267"/>
            <p14:sldId id="271"/>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C67A001-4951-305C-B98D-35FBBA796CD8}" name="Wang,Shirley (HP Medicine) BII-CN-B" initials="SW" userId="S::shirley_2.wang@boehringer-ingelheim.com::48b801ce-80b8-42d3-931b-2dcaf726016f" providerId="AD"/>
  <p188:author id="{3D341D07-0F5E-8CC2-0F30-ADC2F3A3C4FA}" name="Chen,Dr.,Ying (HP Medicine) BII-CN-S" initials="YC" userId="S::ying_4.chen@boehringer-ingelheim.com::7c019f49-0ee9-4787-9ac5-a11d3b82d6d2" providerId="AD"/>
  <p188:author id="{DBD85D0A-9BDD-43C6-9CE9-DD630CDA1613}" name="Tao,Helen (HP Medicine) BII-CN-S" initials="HT" userId="S::helen.tao@boehringer-ingelheim.com::35187e18-a979-452a-a00a-a6d2f11c820c" providerId="AD"/>
  <p188:author id="{A5B9440D-8132-04F9-2566-1BD904246C0C}" name="Qian,Qi (MED CDO) BII-CN-S" initials="QQ" userId="S::qi.qian@boehringer-ingelheim.com::a012f63a-3071-45e6-b604-0f04cceb25ea" providerId="AD"/>
  <p188:author id="{0A842A27-7018-A6FB-59DA-7BEDCCF43058}" name="Sieben,Dr.,Julia (MED RA) BII-DE-I" initials="SB" userId="S::julia.sieben@boehringer-ingelheim.com::ca481289-463b-4599-983d-a769bd16756b" providerId="AD"/>
  <p188:author id="{DFFCAA2A-7911-D1A6-A28E-2ECE6DB17DE2}" name="Lu,Yixin (MED CDO) BII-CN-S" initials="" userId="S::yixin.lu@boehringer-ingelheim.com::6055c963-f18b-4b43-9f26-62c3b4c5f854" providerId="AD"/>
  <p188:author id="{F81F842E-52A1-E1DA-A70C-D1ABAA0AF33D}" name="Saengsuriya,Dr.,Carola (MED RA) BII-DE-I" initials="SB" userId="S::carola.saengsuriya@boehringer-ingelheim.com::8ecc8233-882f-4e91-a487-5b98e0b85c38" providerId="AD"/>
  <p188:author id="{D51C7759-F581-2455-7906-7D8AEEDB1C6B}" name="Mao,Chunqi (HP Medicine) BII-CN-S" initials="MB" userId="S::chunqi.mao@boehringer-ingelheim.com::6947bbc1-66ed-4c0d-8cbe-9379e4b934b8" providerId="AD"/>
  <p188:author id="{F17A6769-F87E-EF61-FF60-5A97952D9034}" name="Xu,Lindsay (HP Medicine) BII-CN-S" initials="XB" userId="S::lindsay.xu@boehringer-ingelheim.com::80a8f60d-1654-4b86-b932-46a0c01eb59c" providerId="AD"/>
  <p188:author id="{3C62718A-852D-A254-B361-9150D9DB2D0E}" name="Li,Yuting (HP Medicine) BII-CN-S" initials="YL" userId="S::yuting.li@boehringer-ingelheim.com::ce8fbb54-122c-426d-b8da-fdcc5e1b5022" providerId="AD"/>
  <p188:author id="{D02E7CB4-282E-A6E2-4F34-22B5D2DCEC89}" name="Liu,Dr.,Meiruo (HP Medicine) BII-CN-S" initials="ML" userId="S::meiruo.liu@boehringer-ingelheim.com::ece9aa16-5bba-4d2f-b200-019c8e2ba0a0" providerId="AD"/>
  <p188:author id="{3EE9A3BA-A0DF-86C1-548A-56E94F48D9E7}" name="Wang,Dr.,Bo (HP Medicine) BII-CN-S" initials="" userId="S::bo_7.wang@boehringer-ingelheim.com::950b8564-41e4-4a68-9f11-e3d2e116a359" providerId="AD"/>
  <p188:author id="{F51ECDD6-236D-557A-332A-2E3D52E52276}" name="Zhang,Ying (MED CDO) BII-CN-S" initials="YZ" userId="S::ying_2.zhang@boehringer-ingelheim.com::456eb1e0-4978-443e-822e-be854341a778" providerId="AD"/>
  <p188:author id="{D7B8D2DE-D6DD-A4D5-E725-5140F840A37E}" name="Zhu,Dr.,Yayun (HP Medicine) BII-CN-S" initials="ZB" userId="S::yayun.zhu@boehringer-ingelheim.com::f923e91b-1433-4718-a9fb-37abca69f87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Zhu,Dr.,Yayun (HP Medicine) BII-CN-S" initials="ZB" lastIdx="5" clrIdx="6">
    <p:extLst>
      <p:ext uri="{19B8F6BF-5375-455C-9EA6-DF929625EA0E}">
        <p15:presenceInfo xmlns:p15="http://schemas.microsoft.com/office/powerpoint/2012/main" userId="S::yayun.zhu@boehringer-ingelheim.com::f923e91b-1433-4718-a9fb-37abca69f87f" providerId="AD"/>
      </p:ext>
    </p:extLst>
  </p:cmAuthor>
  <p:cmAuthor id="1" name="Chen,Dr.,Ying (HP Medicine) BII-CN-S" initials="YC" lastIdx="24" clrIdx="0">
    <p:extLst>
      <p:ext uri="{19B8F6BF-5375-455C-9EA6-DF929625EA0E}">
        <p15:presenceInfo xmlns:p15="http://schemas.microsoft.com/office/powerpoint/2012/main" userId="S::ying_4.chen@boehringer-ingelheim.com::7c019f49-0ee9-4787-9ac5-a11d3b82d6d2" providerId="AD"/>
      </p:ext>
    </p:extLst>
  </p:cmAuthor>
  <p:cmAuthor id="8" name="Wang,Dr.,Bo (HP Medicine) BII-CN-S" initials="BW" lastIdx="7" clrIdx="7">
    <p:extLst>
      <p:ext uri="{19B8F6BF-5375-455C-9EA6-DF929625EA0E}">
        <p15:presenceInfo xmlns:p15="http://schemas.microsoft.com/office/powerpoint/2012/main" userId="S::bo_7.wang@boehringer-ingelheim.com::950b8564-41e4-4a68-9f11-e3d2e116a359" providerId="AD"/>
      </p:ext>
    </p:extLst>
  </p:cmAuthor>
  <p:cmAuthor id="2" name="Qian,Qi (MED CD&amp;O) BII-CN-S" initials="QQ" lastIdx="12" clrIdx="1">
    <p:extLst>
      <p:ext uri="{19B8F6BF-5375-455C-9EA6-DF929625EA0E}">
        <p15:presenceInfo xmlns:p15="http://schemas.microsoft.com/office/powerpoint/2012/main" userId="S::qi.qian@boehringer-ingelheim.com::a012f63a-3071-45e6-b604-0f04cceb25ea" providerId="AD"/>
      </p:ext>
    </p:extLst>
  </p:cmAuthor>
  <p:cmAuthor id="9" name="Ma,Jiayi (MED CDO) BII-CN-S" initials="JM" lastIdx="3" clrIdx="8">
    <p:extLst>
      <p:ext uri="{19B8F6BF-5375-455C-9EA6-DF929625EA0E}">
        <p15:presenceInfo xmlns:p15="http://schemas.microsoft.com/office/powerpoint/2012/main" userId="S::jiayi.ma@boehringer-ingelheim.com::4bb250b1-eaf6-4ab9-91ce-2c35378e4e69" providerId="AD"/>
      </p:ext>
    </p:extLst>
  </p:cmAuthor>
  <p:cmAuthor id="3" name="Tao,Helen (HP Medicine) BII-CN-S" initials="TB" lastIdx="4" clrIdx="2">
    <p:extLst>
      <p:ext uri="{19B8F6BF-5375-455C-9EA6-DF929625EA0E}">
        <p15:presenceInfo xmlns:p15="http://schemas.microsoft.com/office/powerpoint/2012/main" userId="S::helen.tao@boehringer-ingelheim.com::35187e18-a979-452a-a00a-a6d2f11c820c" providerId="AD"/>
      </p:ext>
    </p:extLst>
  </p:cmAuthor>
  <p:cmAuthor id="10" name="Zhang,Ying (MED CDO) BII-CN-S" initials="YZ" lastIdx="6" clrIdx="9">
    <p:extLst>
      <p:ext uri="{19B8F6BF-5375-455C-9EA6-DF929625EA0E}">
        <p15:presenceInfo xmlns:p15="http://schemas.microsoft.com/office/powerpoint/2012/main" userId="S::ying_2.zhang@boehringer-ingelheim.com::456eb1e0-4978-443e-822e-be854341a778" providerId="AD"/>
      </p:ext>
    </p:extLst>
  </p:cmAuthor>
  <p:cmAuthor id="4" name="Xu,Lindsay (HP Medicine) BII-CN-S" initials="XB" lastIdx="3" clrIdx="3">
    <p:extLst>
      <p:ext uri="{19B8F6BF-5375-455C-9EA6-DF929625EA0E}">
        <p15:presenceInfo xmlns:p15="http://schemas.microsoft.com/office/powerpoint/2012/main" userId="S::lindsay.xu@boehringer-ingelheim.com::80a8f60d-1654-4b86-b932-46a0c01eb59c" providerId="AD"/>
      </p:ext>
    </p:extLst>
  </p:cmAuthor>
  <p:cmAuthor id="11" name="Li,Yuting (HP Medicine) BII-CN-S" initials="YL" lastIdx="2" clrIdx="10">
    <p:extLst>
      <p:ext uri="{19B8F6BF-5375-455C-9EA6-DF929625EA0E}">
        <p15:presenceInfo xmlns:p15="http://schemas.microsoft.com/office/powerpoint/2012/main" userId="S::yuting.li@boehringer-ingelheim.com::ce8fbb54-122c-426d-b8da-fdcc5e1b5022" providerId="AD"/>
      </p:ext>
    </p:extLst>
  </p:cmAuthor>
  <p:cmAuthor id="5" name="Kind,Saskia (HP Medicine) BII-CN-S" initials="SK" lastIdx="3" clrIdx="4">
    <p:extLst>
      <p:ext uri="{19B8F6BF-5375-455C-9EA6-DF929625EA0E}">
        <p15:presenceInfo xmlns:p15="http://schemas.microsoft.com/office/powerpoint/2012/main" userId="S::saskia.kind@boehringer-ingelheim.com::14424b57-ed60-4e43-9702-4cbb8465d621" providerId="AD"/>
      </p:ext>
    </p:extLst>
  </p:cmAuthor>
  <p:cmAuthor id="6" name="Ivanoff,Dr.,Nathalie (MED TA Infl) BII-DE-I" initials="NI" lastIdx="2" clrIdx="5">
    <p:extLst>
      <p:ext uri="{19B8F6BF-5375-455C-9EA6-DF929625EA0E}">
        <p15:presenceInfo xmlns:p15="http://schemas.microsoft.com/office/powerpoint/2012/main" userId="S::nathalie.ivanoff@boehringer-ingelheim.com::55733a91-2093-4bec-b3d1-e781a629847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52EFC"/>
    <a:srgbClr val="FFE667"/>
    <a:srgbClr val="F1FAFC"/>
    <a:srgbClr val="EEC800"/>
    <a:srgbClr val="2636A2"/>
    <a:srgbClr val="F75605"/>
    <a:srgbClr val="D80B0C"/>
    <a:srgbClr val="E1B900"/>
    <a:srgbClr val="CF0000"/>
    <a:srgbClr val="00E47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6BA324-773B-4A49-B5E9-3F1614319DA5}" v="246" dt="2026-04-23T05:42:36.4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u,Dr.,Yayun (HP Medicine) BII-CN-S" userId="f923e91b-1433-4718-a9fb-37abca69f87f" providerId="ADAL" clId="{353978F8-FE93-47DA-9992-C48A2C69D624}"/>
    <pc:docChg chg="undo redo custSel addSld delSld modSld sldOrd delMainMaster modSection">
      <pc:chgData name="Zhu,Dr.,Yayun (HP Medicine) BII-CN-S" userId="f923e91b-1433-4718-a9fb-37abca69f87f" providerId="ADAL" clId="{353978F8-FE93-47DA-9992-C48A2C69D624}" dt="2026-04-23T05:42:36.471" v="1145" actId="14100"/>
      <pc:docMkLst>
        <pc:docMk/>
      </pc:docMkLst>
      <pc:sldChg chg="addSp modSp mod ord modShow">
        <pc:chgData name="Zhu,Dr.,Yayun (HP Medicine) BII-CN-S" userId="f923e91b-1433-4718-a9fb-37abca69f87f" providerId="ADAL" clId="{353978F8-FE93-47DA-9992-C48A2C69D624}" dt="2026-04-23T05:36:55.388" v="1119" actId="20577"/>
        <pc:sldMkLst>
          <pc:docMk/>
          <pc:sldMk cId="509509767" sldId="256"/>
        </pc:sldMkLst>
        <pc:spChg chg="mod">
          <ac:chgData name="Zhu,Dr.,Yayun (HP Medicine) BII-CN-S" userId="f923e91b-1433-4718-a9fb-37abca69f87f" providerId="ADAL" clId="{353978F8-FE93-47DA-9992-C48A2C69D624}" dt="2026-04-22T05:19:31.095" v="718" actId="20577"/>
          <ac:spMkLst>
            <pc:docMk/>
            <pc:sldMk cId="509509767" sldId="256"/>
            <ac:spMk id="2" creationId="{8B2B2FEA-A339-C025-4A82-A320BD9B355D}"/>
          </ac:spMkLst>
        </pc:spChg>
        <pc:spChg chg="mod">
          <ac:chgData name="Zhu,Dr.,Yayun (HP Medicine) BII-CN-S" userId="f923e91b-1433-4718-a9fb-37abca69f87f" providerId="ADAL" clId="{353978F8-FE93-47DA-9992-C48A2C69D624}" dt="2026-04-23T05:36:55.388" v="1119" actId="20577"/>
          <ac:spMkLst>
            <pc:docMk/>
            <pc:sldMk cId="509509767" sldId="256"/>
            <ac:spMk id="3" creationId="{623D5CCF-9D23-28B9-4F97-B6D99E2399D4}"/>
          </ac:spMkLst>
        </pc:spChg>
        <pc:spChg chg="add mod">
          <ac:chgData name="Zhu,Dr.,Yayun (HP Medicine) BII-CN-S" userId="f923e91b-1433-4718-a9fb-37abca69f87f" providerId="ADAL" clId="{353978F8-FE93-47DA-9992-C48A2C69D624}" dt="2026-04-23T02:52:49.353" v="930" actId="1076"/>
          <ac:spMkLst>
            <pc:docMk/>
            <pc:sldMk cId="509509767" sldId="256"/>
            <ac:spMk id="4" creationId="{BE12CD5B-C472-A4E8-DE3E-46C8A8190BE6}"/>
          </ac:spMkLst>
        </pc:spChg>
        <pc:spChg chg="add mod">
          <ac:chgData name="Zhu,Dr.,Yayun (HP Medicine) BII-CN-S" userId="f923e91b-1433-4718-a9fb-37abca69f87f" providerId="ADAL" clId="{353978F8-FE93-47DA-9992-C48A2C69D624}" dt="2026-04-23T05:35:55.442" v="1110" actId="14100"/>
          <ac:spMkLst>
            <pc:docMk/>
            <pc:sldMk cId="509509767" sldId="256"/>
            <ac:spMk id="6" creationId="{7CE5AA8C-B413-6A45-59EA-E0F476B5263B}"/>
          </ac:spMkLst>
        </pc:spChg>
      </pc:sldChg>
      <pc:sldChg chg="del">
        <pc:chgData name="Zhu,Dr.,Yayun (HP Medicine) BII-CN-S" userId="f923e91b-1433-4718-a9fb-37abca69f87f" providerId="ADAL" clId="{353978F8-FE93-47DA-9992-C48A2C69D624}" dt="2026-04-22T03:30:17.415" v="468" actId="47"/>
        <pc:sldMkLst>
          <pc:docMk/>
          <pc:sldMk cId="999931895" sldId="259"/>
        </pc:sldMkLst>
      </pc:sldChg>
      <pc:sldChg chg="addSp modSp add mod">
        <pc:chgData name="Zhu,Dr.,Yayun (HP Medicine) BII-CN-S" userId="f923e91b-1433-4718-a9fb-37abca69f87f" providerId="ADAL" clId="{353978F8-FE93-47DA-9992-C48A2C69D624}" dt="2026-04-23T05:42:36.471" v="1145" actId="14100"/>
        <pc:sldMkLst>
          <pc:docMk/>
          <pc:sldMk cId="3367332714" sldId="260"/>
        </pc:sldMkLst>
        <pc:spChg chg="mod">
          <ac:chgData name="Zhu,Dr.,Yayun (HP Medicine) BII-CN-S" userId="f923e91b-1433-4718-a9fb-37abca69f87f" providerId="ADAL" clId="{353978F8-FE93-47DA-9992-C48A2C69D624}" dt="2026-04-23T02:53:57.218" v="960" actId="207"/>
          <ac:spMkLst>
            <pc:docMk/>
            <pc:sldMk cId="3367332714" sldId="260"/>
            <ac:spMk id="6" creationId="{D3A64658-DA29-CB20-8D00-19E9D3D47423}"/>
          </ac:spMkLst>
        </pc:spChg>
        <pc:spChg chg="mod">
          <ac:chgData name="Zhu,Dr.,Yayun (HP Medicine) BII-CN-S" userId="f923e91b-1433-4718-a9fb-37abca69f87f" providerId="ADAL" clId="{353978F8-FE93-47DA-9992-C48A2C69D624}" dt="2026-04-23T02:53:57.218" v="960" actId="207"/>
          <ac:spMkLst>
            <pc:docMk/>
            <pc:sldMk cId="3367332714" sldId="260"/>
            <ac:spMk id="8" creationId="{122CE422-A0BC-5426-17D1-46BAD372DD62}"/>
          </ac:spMkLst>
        </pc:spChg>
        <pc:spChg chg="mod">
          <ac:chgData name="Zhu,Dr.,Yayun (HP Medicine) BII-CN-S" userId="f923e91b-1433-4718-a9fb-37abca69f87f" providerId="ADAL" clId="{353978F8-FE93-47DA-9992-C48A2C69D624}" dt="2026-04-23T02:53:43.528" v="959" actId="1038"/>
          <ac:spMkLst>
            <pc:docMk/>
            <pc:sldMk cId="3367332714" sldId="260"/>
            <ac:spMk id="11" creationId="{13916146-3463-2A24-A7D5-A17659D84EB9}"/>
          </ac:spMkLst>
        </pc:spChg>
        <pc:spChg chg="mod">
          <ac:chgData name="Zhu,Dr.,Yayun (HP Medicine) BII-CN-S" userId="f923e91b-1433-4718-a9fb-37abca69f87f" providerId="ADAL" clId="{353978F8-FE93-47DA-9992-C48A2C69D624}" dt="2026-04-23T02:54:36.786" v="984" actId="1038"/>
          <ac:spMkLst>
            <pc:docMk/>
            <pc:sldMk cId="3367332714" sldId="260"/>
            <ac:spMk id="12" creationId="{CEA63E06-1882-2CB8-33D1-4E93281538AF}"/>
          </ac:spMkLst>
        </pc:spChg>
        <pc:spChg chg="mod">
          <ac:chgData name="Zhu,Dr.,Yayun (HP Medicine) BII-CN-S" userId="f923e91b-1433-4718-a9fb-37abca69f87f" providerId="ADAL" clId="{353978F8-FE93-47DA-9992-C48A2C69D624}" dt="2026-04-23T01:46:51.611" v="909" actId="20577"/>
          <ac:spMkLst>
            <pc:docMk/>
            <pc:sldMk cId="3367332714" sldId="260"/>
            <ac:spMk id="13" creationId="{535D8A5C-58A9-7337-F4D3-7D1BA51C2CD8}"/>
          </ac:spMkLst>
        </pc:spChg>
        <pc:spChg chg="mod">
          <ac:chgData name="Zhu,Dr.,Yayun (HP Medicine) BII-CN-S" userId="f923e91b-1433-4718-a9fb-37abca69f87f" providerId="ADAL" clId="{353978F8-FE93-47DA-9992-C48A2C69D624}" dt="2026-04-23T02:54:00.063" v="961" actId="207"/>
          <ac:spMkLst>
            <pc:docMk/>
            <pc:sldMk cId="3367332714" sldId="260"/>
            <ac:spMk id="14" creationId="{E2742CA6-9010-ECD4-9832-5347EBA2766F}"/>
          </ac:spMkLst>
        </pc:spChg>
        <pc:spChg chg="mod">
          <ac:chgData name="Zhu,Dr.,Yayun (HP Medicine) BII-CN-S" userId="f923e91b-1433-4718-a9fb-37abca69f87f" providerId="ADAL" clId="{353978F8-FE93-47DA-9992-C48A2C69D624}" dt="2026-04-23T05:26:53.053" v="1095" actId="20577"/>
          <ac:spMkLst>
            <pc:docMk/>
            <pc:sldMk cId="3367332714" sldId="260"/>
            <ac:spMk id="15" creationId="{9CAEB505-8AA3-BF33-A06A-63027225206B}"/>
          </ac:spMkLst>
        </pc:spChg>
        <pc:spChg chg="mod">
          <ac:chgData name="Zhu,Dr.,Yayun (HP Medicine) BII-CN-S" userId="f923e91b-1433-4718-a9fb-37abca69f87f" providerId="ADAL" clId="{353978F8-FE93-47DA-9992-C48A2C69D624}" dt="2026-04-23T05:09:39.071" v="988" actId="1076"/>
          <ac:spMkLst>
            <pc:docMk/>
            <pc:sldMk cId="3367332714" sldId="260"/>
            <ac:spMk id="16" creationId="{3F60DEC6-70D9-B68A-A3DD-2E5E13124C77}"/>
          </ac:spMkLst>
        </pc:spChg>
        <pc:spChg chg="mod">
          <ac:chgData name="Zhu,Dr.,Yayun (HP Medicine) BII-CN-S" userId="f923e91b-1433-4718-a9fb-37abca69f87f" providerId="ADAL" clId="{353978F8-FE93-47DA-9992-C48A2C69D624}" dt="2026-04-22T10:21:49.872" v="862" actId="207"/>
          <ac:spMkLst>
            <pc:docMk/>
            <pc:sldMk cId="3367332714" sldId="260"/>
            <ac:spMk id="17" creationId="{AEDC3D5B-FDEE-5378-FD4B-E544594DF1E8}"/>
          </ac:spMkLst>
        </pc:spChg>
        <pc:spChg chg="mod">
          <ac:chgData name="Zhu,Dr.,Yayun (HP Medicine) BII-CN-S" userId="f923e91b-1433-4718-a9fb-37abca69f87f" providerId="ADAL" clId="{353978F8-FE93-47DA-9992-C48A2C69D624}" dt="2026-04-22T10:21:53.607" v="863" actId="207"/>
          <ac:spMkLst>
            <pc:docMk/>
            <pc:sldMk cId="3367332714" sldId="260"/>
            <ac:spMk id="18" creationId="{0D239470-3F3D-A807-D394-522C4B518D48}"/>
          </ac:spMkLst>
        </pc:spChg>
        <pc:spChg chg="mod">
          <ac:chgData name="Zhu,Dr.,Yayun (HP Medicine) BII-CN-S" userId="f923e91b-1433-4718-a9fb-37abca69f87f" providerId="ADAL" clId="{353978F8-FE93-47DA-9992-C48A2C69D624}" dt="2026-04-23T05:09:36.980" v="987" actId="1076"/>
          <ac:spMkLst>
            <pc:docMk/>
            <pc:sldMk cId="3367332714" sldId="260"/>
            <ac:spMk id="19" creationId="{0B5916AB-4707-0A4B-B63A-328656A3E987}"/>
          </ac:spMkLst>
        </pc:spChg>
        <pc:spChg chg="add mod">
          <ac:chgData name="Zhu,Dr.,Yayun (HP Medicine) BII-CN-S" userId="f923e91b-1433-4718-a9fb-37abca69f87f" providerId="ADAL" clId="{353978F8-FE93-47DA-9992-C48A2C69D624}" dt="2026-04-23T02:54:32.013" v="981" actId="121"/>
          <ac:spMkLst>
            <pc:docMk/>
            <pc:sldMk cId="3367332714" sldId="260"/>
            <ac:spMk id="20" creationId="{EB7BB885-0C5C-3D77-E85C-E7A7749A7F96}"/>
          </ac:spMkLst>
        </pc:spChg>
        <pc:spChg chg="add mod">
          <ac:chgData name="Zhu,Dr.,Yayun (HP Medicine) BII-CN-S" userId="f923e91b-1433-4718-a9fb-37abca69f87f" providerId="ADAL" clId="{353978F8-FE93-47DA-9992-C48A2C69D624}" dt="2026-04-23T05:09:36.980" v="987" actId="1076"/>
          <ac:spMkLst>
            <pc:docMk/>
            <pc:sldMk cId="3367332714" sldId="260"/>
            <ac:spMk id="21" creationId="{66A22F7C-591A-FD50-58D5-4E48DA37EE2E}"/>
          </ac:spMkLst>
        </pc:spChg>
        <pc:spChg chg="add mod">
          <ac:chgData name="Zhu,Dr.,Yayun (HP Medicine) BII-CN-S" userId="f923e91b-1433-4718-a9fb-37abca69f87f" providerId="ADAL" clId="{353978F8-FE93-47DA-9992-C48A2C69D624}" dt="2026-04-23T02:54:19.848" v="970" actId="1036"/>
          <ac:spMkLst>
            <pc:docMk/>
            <pc:sldMk cId="3367332714" sldId="260"/>
            <ac:spMk id="23" creationId="{DE1AE167-7DB9-4130-5D48-DA5A1D002764}"/>
          </ac:spMkLst>
        </pc:spChg>
        <pc:spChg chg="mod">
          <ac:chgData name="Zhu,Dr.,Yayun (HP Medicine) BII-CN-S" userId="f923e91b-1433-4718-a9fb-37abca69f87f" providerId="ADAL" clId="{353978F8-FE93-47DA-9992-C48A2C69D624}" dt="2026-04-23T05:37:56.452" v="1141" actId="14100"/>
          <ac:spMkLst>
            <pc:docMk/>
            <pc:sldMk cId="3367332714" sldId="260"/>
            <ac:spMk id="105" creationId="{B64F824A-54BD-AC7A-7832-E0A1FC032D83}"/>
          </ac:spMkLst>
        </pc:spChg>
        <pc:spChg chg="mod">
          <ac:chgData name="Zhu,Dr.,Yayun (HP Medicine) BII-CN-S" userId="f923e91b-1433-4718-a9fb-37abca69f87f" providerId="ADAL" clId="{353978F8-FE93-47DA-9992-C48A2C69D624}" dt="2026-04-23T05:37:23.797" v="1133" actId="14100"/>
          <ac:spMkLst>
            <pc:docMk/>
            <pc:sldMk cId="3367332714" sldId="260"/>
            <ac:spMk id="107" creationId="{09A565E2-578E-809A-54E0-DC19407D71DB}"/>
          </ac:spMkLst>
        </pc:spChg>
        <pc:spChg chg="mod">
          <ac:chgData name="Zhu,Dr.,Yayun (HP Medicine) BII-CN-S" userId="f923e91b-1433-4718-a9fb-37abca69f87f" providerId="ADAL" clId="{353978F8-FE93-47DA-9992-C48A2C69D624}" dt="2026-04-23T05:37:26.459" v="1134" actId="1076"/>
          <ac:spMkLst>
            <pc:docMk/>
            <pc:sldMk cId="3367332714" sldId="260"/>
            <ac:spMk id="108" creationId="{8B48CF73-2BC2-114D-1206-18606BD463CC}"/>
          </ac:spMkLst>
        </pc:spChg>
        <pc:spChg chg="mod">
          <ac:chgData name="Zhu,Dr.,Yayun (HP Medicine) BII-CN-S" userId="f923e91b-1433-4718-a9fb-37abca69f87f" providerId="ADAL" clId="{353978F8-FE93-47DA-9992-C48A2C69D624}" dt="2026-04-23T05:42:36.471" v="1145" actId="14100"/>
          <ac:spMkLst>
            <pc:docMk/>
            <pc:sldMk cId="3367332714" sldId="260"/>
            <ac:spMk id="111" creationId="{4ACF4F76-8080-4F4E-8B1D-D9FEA8474FCC}"/>
          </ac:spMkLst>
        </pc:spChg>
        <pc:spChg chg="mod">
          <ac:chgData name="Zhu,Dr.,Yayun (HP Medicine) BII-CN-S" userId="f923e91b-1433-4718-a9fb-37abca69f87f" providerId="ADAL" clId="{353978F8-FE93-47DA-9992-C48A2C69D624}" dt="2026-04-23T05:37:19.142" v="1132" actId="1076"/>
          <ac:spMkLst>
            <pc:docMk/>
            <pc:sldMk cId="3367332714" sldId="260"/>
            <ac:spMk id="112" creationId="{2D66FB3C-8C6F-1465-0B30-4BE8612D2899}"/>
          </ac:spMkLst>
        </pc:spChg>
        <pc:cxnChg chg="add mod">
          <ac:chgData name="Zhu,Dr.,Yayun (HP Medicine) BII-CN-S" userId="f923e91b-1433-4718-a9fb-37abca69f87f" providerId="ADAL" clId="{353978F8-FE93-47DA-9992-C48A2C69D624}" dt="2026-04-22T10:21:16.675" v="860" actId="1076"/>
          <ac:cxnSpMkLst>
            <pc:docMk/>
            <pc:sldMk cId="3367332714" sldId="260"/>
            <ac:cxnSpMk id="10" creationId="{BC850A88-7CFA-29E3-A338-F8BCAEB265AF}"/>
          </ac:cxnSpMkLst>
        </pc:cxnChg>
      </pc:sldChg>
      <pc:sldChg chg="addSp modSp mod ord modShow">
        <pc:chgData name="Zhu,Dr.,Yayun (HP Medicine) BII-CN-S" userId="f923e91b-1433-4718-a9fb-37abca69f87f" providerId="ADAL" clId="{353978F8-FE93-47DA-9992-C48A2C69D624}" dt="2026-04-23T02:53:09.295" v="948"/>
        <pc:sldMkLst>
          <pc:docMk/>
          <pc:sldMk cId="3140391997" sldId="261"/>
        </pc:sldMkLst>
        <pc:spChg chg="add mod">
          <ac:chgData name="Zhu,Dr.,Yayun (HP Medicine) BII-CN-S" userId="f923e91b-1433-4718-a9fb-37abca69f87f" providerId="ADAL" clId="{353978F8-FE93-47DA-9992-C48A2C69D624}" dt="2026-04-22T04:48:29.408" v="579"/>
          <ac:spMkLst>
            <pc:docMk/>
            <pc:sldMk cId="3140391997" sldId="261"/>
            <ac:spMk id="3" creationId="{C6EE6D28-55DD-920F-4E7D-DDD1D45A552F}"/>
          </ac:spMkLst>
        </pc:spChg>
        <pc:graphicFrameChg chg="modGraphic">
          <ac:chgData name="Zhu,Dr.,Yayun (HP Medicine) BII-CN-S" userId="f923e91b-1433-4718-a9fb-37abca69f87f" providerId="ADAL" clId="{353978F8-FE93-47DA-9992-C48A2C69D624}" dt="2026-04-22T02:50:47.585" v="364" actId="20577"/>
          <ac:graphicFrameMkLst>
            <pc:docMk/>
            <pc:sldMk cId="3140391997" sldId="261"/>
            <ac:graphicFrameMk id="6" creationId="{3AB591C1-53D0-DA4A-F790-571A597F72ED}"/>
          </ac:graphicFrameMkLst>
        </pc:graphicFrameChg>
      </pc:sldChg>
      <pc:sldChg chg="addSp modSp add mod">
        <pc:chgData name="Zhu,Dr.,Yayun (HP Medicine) BII-CN-S" userId="f923e91b-1433-4718-a9fb-37abca69f87f" providerId="ADAL" clId="{353978F8-FE93-47DA-9992-C48A2C69D624}" dt="2026-04-23T05:18:29.225" v="1010" actId="1076"/>
        <pc:sldMkLst>
          <pc:docMk/>
          <pc:sldMk cId="555324703" sldId="262"/>
        </pc:sldMkLst>
        <pc:spChg chg="add mod">
          <ac:chgData name="Zhu,Dr.,Yayun (HP Medicine) BII-CN-S" userId="f923e91b-1433-4718-a9fb-37abca69f87f" providerId="ADAL" clId="{353978F8-FE93-47DA-9992-C48A2C69D624}" dt="2026-04-23T05:18:20.789" v="1008" actId="1076"/>
          <ac:spMkLst>
            <pc:docMk/>
            <pc:sldMk cId="555324703" sldId="262"/>
            <ac:spMk id="6" creationId="{D14D4CEE-07EA-A69B-F8EC-30A80F7B2C47}"/>
          </ac:spMkLst>
        </pc:spChg>
        <pc:spChg chg="add mod">
          <ac:chgData name="Zhu,Dr.,Yayun (HP Medicine) BII-CN-S" userId="f923e91b-1433-4718-a9fb-37abca69f87f" providerId="ADAL" clId="{353978F8-FE93-47DA-9992-C48A2C69D624}" dt="2026-04-23T05:18:29.225" v="1010" actId="1076"/>
          <ac:spMkLst>
            <pc:docMk/>
            <pc:sldMk cId="555324703" sldId="262"/>
            <ac:spMk id="7" creationId="{4AD96B2D-4323-6C6D-9C20-56D30EB13629}"/>
          </ac:spMkLst>
        </pc:spChg>
      </pc:sldChg>
      <pc:sldChg chg="addSp delSp modSp add mod">
        <pc:chgData name="Zhu,Dr.,Yayun (HP Medicine) BII-CN-S" userId="f923e91b-1433-4718-a9fb-37abca69f87f" providerId="ADAL" clId="{353978F8-FE93-47DA-9992-C48A2C69D624}" dt="2026-04-23T05:39:19.399" v="1144" actId="207"/>
        <pc:sldMkLst>
          <pc:docMk/>
          <pc:sldMk cId="2719048979" sldId="263"/>
        </pc:sldMkLst>
        <pc:spChg chg="mod">
          <ac:chgData name="Zhu,Dr.,Yayun (HP Medicine) BII-CN-S" userId="f923e91b-1433-4718-a9fb-37abca69f87f" providerId="ADAL" clId="{353978F8-FE93-47DA-9992-C48A2C69D624}" dt="2026-04-23T05:39:19.399" v="1144" actId="207"/>
          <ac:spMkLst>
            <pc:docMk/>
            <pc:sldMk cId="2719048979" sldId="263"/>
            <ac:spMk id="2" creationId="{CF2CFECE-E461-ACD1-6D53-CEC245537407}"/>
          </ac:spMkLst>
        </pc:spChg>
        <pc:spChg chg="add mod">
          <ac:chgData name="Zhu,Dr.,Yayun (HP Medicine) BII-CN-S" userId="f923e91b-1433-4718-a9fb-37abca69f87f" providerId="ADAL" clId="{353978F8-FE93-47DA-9992-C48A2C69D624}" dt="2026-04-23T05:20:42.996" v="1016" actId="20577"/>
          <ac:spMkLst>
            <pc:docMk/>
            <pc:sldMk cId="2719048979" sldId="263"/>
            <ac:spMk id="3" creationId="{85B479F2-31DE-BD6A-DFB6-901706412206}"/>
          </ac:spMkLst>
        </pc:spChg>
        <pc:spChg chg="mod">
          <ac:chgData name="Zhu,Dr.,Yayun (HP Medicine) BII-CN-S" userId="f923e91b-1433-4718-a9fb-37abca69f87f" providerId="ADAL" clId="{353978F8-FE93-47DA-9992-C48A2C69D624}" dt="2026-04-23T05:33:05.422" v="1097" actId="113"/>
          <ac:spMkLst>
            <pc:docMk/>
            <pc:sldMk cId="2719048979" sldId="263"/>
            <ac:spMk id="7" creationId="{23BF7FF9-B883-167F-2A08-C500D7ADEAEA}"/>
          </ac:spMkLst>
        </pc:spChg>
        <pc:spChg chg="del">
          <ac:chgData name="Zhu,Dr.,Yayun (HP Medicine) BII-CN-S" userId="f923e91b-1433-4718-a9fb-37abca69f87f" providerId="ADAL" clId="{353978F8-FE93-47DA-9992-C48A2C69D624}" dt="2026-04-23T05:20:30.336" v="1012" actId="478"/>
          <ac:spMkLst>
            <pc:docMk/>
            <pc:sldMk cId="2719048979" sldId="263"/>
            <ac:spMk id="8" creationId="{06F4E84E-880C-7002-3FE6-5BCC3DC8C1FA}"/>
          </ac:spMkLst>
        </pc:spChg>
        <pc:spChg chg="mod">
          <ac:chgData name="Zhu,Dr.,Yayun (HP Medicine) BII-CN-S" userId="f923e91b-1433-4718-a9fb-37abca69f87f" providerId="ADAL" clId="{353978F8-FE93-47DA-9992-C48A2C69D624}" dt="2026-04-23T05:21:47.560" v="1019" actId="207"/>
          <ac:spMkLst>
            <pc:docMk/>
            <pc:sldMk cId="2719048979" sldId="263"/>
            <ac:spMk id="9" creationId="{90A8BB4D-EDF2-4E13-210B-364B03061EBC}"/>
          </ac:spMkLst>
        </pc:spChg>
      </pc:sldChg>
      <pc:sldChg chg="add del">
        <pc:chgData name="Zhu,Dr.,Yayun (HP Medicine) BII-CN-S" userId="f923e91b-1433-4718-a9fb-37abca69f87f" providerId="ADAL" clId="{353978F8-FE93-47DA-9992-C48A2C69D624}" dt="2026-04-22T02:49:44.547" v="362" actId="47"/>
        <pc:sldMkLst>
          <pc:docMk/>
          <pc:sldMk cId="3847723482" sldId="265"/>
        </pc:sldMkLst>
      </pc:sldChg>
      <pc:sldChg chg="modSp mod">
        <pc:chgData name="Zhu,Dr.,Yayun (HP Medicine) BII-CN-S" userId="f923e91b-1433-4718-a9fb-37abca69f87f" providerId="ADAL" clId="{353978F8-FE93-47DA-9992-C48A2C69D624}" dt="2026-04-22T04:35:54.386" v="503" actId="20577"/>
        <pc:sldMkLst>
          <pc:docMk/>
          <pc:sldMk cId="3595943643" sldId="266"/>
        </pc:sldMkLst>
        <pc:graphicFrameChg chg="modGraphic">
          <ac:chgData name="Zhu,Dr.,Yayun (HP Medicine) BII-CN-S" userId="f923e91b-1433-4718-a9fb-37abca69f87f" providerId="ADAL" clId="{353978F8-FE93-47DA-9992-C48A2C69D624}" dt="2026-04-22T04:35:54.386" v="503" actId="20577"/>
          <ac:graphicFrameMkLst>
            <pc:docMk/>
            <pc:sldMk cId="3595943643" sldId="266"/>
            <ac:graphicFrameMk id="6" creationId="{562C631D-1214-08BF-ADBB-D873FEB2B146}"/>
          </ac:graphicFrameMkLst>
        </pc:graphicFrameChg>
      </pc:sldChg>
      <pc:sldChg chg="modSp mod">
        <pc:chgData name="Zhu,Dr.,Yayun (HP Medicine) BII-CN-S" userId="f923e91b-1433-4718-a9fb-37abca69f87f" providerId="ADAL" clId="{353978F8-FE93-47DA-9992-C48A2C69D624}" dt="2026-04-22T04:36:11.181" v="504" actId="20577"/>
        <pc:sldMkLst>
          <pc:docMk/>
          <pc:sldMk cId="173024587" sldId="267"/>
        </pc:sldMkLst>
        <pc:spChg chg="mod">
          <ac:chgData name="Zhu,Dr.,Yayun (HP Medicine) BII-CN-S" userId="f923e91b-1433-4718-a9fb-37abca69f87f" providerId="ADAL" clId="{353978F8-FE93-47DA-9992-C48A2C69D624}" dt="2026-04-22T04:36:11.181" v="504" actId="20577"/>
          <ac:spMkLst>
            <pc:docMk/>
            <pc:sldMk cId="173024587" sldId="267"/>
            <ac:spMk id="2" creationId="{C9AB085B-0530-9F49-BEF3-9DE0E7511CC6}"/>
          </ac:spMkLst>
        </pc:spChg>
      </pc:sldChg>
      <pc:sldChg chg="addSp modSp add mod">
        <pc:chgData name="Zhu,Dr.,Yayun (HP Medicine) BII-CN-S" userId="f923e91b-1433-4718-a9fb-37abca69f87f" providerId="ADAL" clId="{353978F8-FE93-47DA-9992-C48A2C69D624}" dt="2026-04-23T05:24:52.022" v="1042" actId="113"/>
        <pc:sldMkLst>
          <pc:docMk/>
          <pc:sldMk cId="779279757" sldId="268"/>
        </pc:sldMkLst>
        <pc:spChg chg="add mod">
          <ac:chgData name="Zhu,Dr.,Yayun (HP Medicine) BII-CN-S" userId="f923e91b-1433-4718-a9fb-37abca69f87f" providerId="ADAL" clId="{353978F8-FE93-47DA-9992-C48A2C69D624}" dt="2026-04-23T05:22:52.748" v="1035" actId="1076"/>
          <ac:spMkLst>
            <pc:docMk/>
            <pc:sldMk cId="779279757" sldId="268"/>
            <ac:spMk id="3" creationId="{2801E15D-54F0-AAB0-A74E-DC505EB2AC56}"/>
          </ac:spMkLst>
        </pc:spChg>
        <pc:graphicFrameChg chg="mod modGraphic">
          <ac:chgData name="Zhu,Dr.,Yayun (HP Medicine) BII-CN-S" userId="f923e91b-1433-4718-a9fb-37abca69f87f" providerId="ADAL" clId="{353978F8-FE93-47DA-9992-C48A2C69D624}" dt="2026-04-23T05:24:52.022" v="1042" actId="113"/>
          <ac:graphicFrameMkLst>
            <pc:docMk/>
            <pc:sldMk cId="779279757" sldId="268"/>
            <ac:graphicFrameMk id="7" creationId="{376312A5-7664-B7AB-7936-41DC1BAACFF8}"/>
          </ac:graphicFrameMkLst>
        </pc:graphicFrameChg>
      </pc:sldChg>
      <pc:sldChg chg="addSp modSp add del">
        <pc:chgData name="Zhu,Dr.,Yayun (HP Medicine) BII-CN-S" userId="f923e91b-1433-4718-a9fb-37abca69f87f" providerId="ADAL" clId="{353978F8-FE93-47DA-9992-C48A2C69D624}" dt="2026-04-22T09:14:18.955" v="769" actId="47"/>
        <pc:sldMkLst>
          <pc:docMk/>
          <pc:sldMk cId="26921968" sldId="270"/>
        </pc:sldMkLst>
        <pc:spChg chg="add mod">
          <ac:chgData name="Zhu,Dr.,Yayun (HP Medicine) BII-CN-S" userId="f923e91b-1433-4718-a9fb-37abca69f87f" providerId="ADAL" clId="{353978F8-FE93-47DA-9992-C48A2C69D624}" dt="2026-04-22T04:48:19.190" v="576"/>
          <ac:spMkLst>
            <pc:docMk/>
            <pc:sldMk cId="26921968" sldId="270"/>
            <ac:spMk id="6" creationId="{40E637E6-5B64-5A35-EB77-654D59D6ADE8}"/>
          </ac:spMkLst>
        </pc:spChg>
      </pc:sldChg>
      <pc:sldChg chg="modSp mod">
        <pc:chgData name="Zhu,Dr.,Yayun (HP Medicine) BII-CN-S" userId="f923e91b-1433-4718-a9fb-37abca69f87f" providerId="ADAL" clId="{353978F8-FE93-47DA-9992-C48A2C69D624}" dt="2026-04-22T04:37:10.429" v="533" actId="14100"/>
        <pc:sldMkLst>
          <pc:docMk/>
          <pc:sldMk cId="3280251995" sldId="271"/>
        </pc:sldMkLst>
        <pc:spChg chg="mod">
          <ac:chgData name="Zhu,Dr.,Yayun (HP Medicine) BII-CN-S" userId="f923e91b-1433-4718-a9fb-37abca69f87f" providerId="ADAL" clId="{353978F8-FE93-47DA-9992-C48A2C69D624}" dt="2026-04-22T04:36:16.342" v="505" actId="20577"/>
          <ac:spMkLst>
            <pc:docMk/>
            <pc:sldMk cId="3280251995" sldId="271"/>
            <ac:spMk id="2" creationId="{B7032928-1F6F-BDC6-5196-BECDA7255A39}"/>
          </ac:spMkLst>
        </pc:spChg>
        <pc:spChg chg="mod">
          <ac:chgData name="Zhu,Dr.,Yayun (HP Medicine) BII-CN-S" userId="f923e91b-1433-4718-a9fb-37abca69f87f" providerId="ADAL" clId="{353978F8-FE93-47DA-9992-C48A2C69D624}" dt="2026-04-22T04:37:10.429" v="533" actId="14100"/>
          <ac:spMkLst>
            <pc:docMk/>
            <pc:sldMk cId="3280251995" sldId="271"/>
            <ac:spMk id="3" creationId="{2D589475-F5F0-0CA7-6BAB-183E8C324BA3}"/>
          </ac:spMkLst>
        </pc:spChg>
      </pc:sldChg>
      <pc:sldChg chg="modSp add mod ord modShow">
        <pc:chgData name="Zhu,Dr.,Yayun (HP Medicine) BII-CN-S" userId="f923e91b-1433-4718-a9fb-37abca69f87f" providerId="ADAL" clId="{353978F8-FE93-47DA-9992-C48A2C69D624}" dt="2026-04-23T05:25:50.185" v="1045" actId="729"/>
        <pc:sldMkLst>
          <pc:docMk/>
          <pc:sldMk cId="3866778749" sldId="272"/>
        </pc:sldMkLst>
        <pc:spChg chg="mod">
          <ac:chgData name="Zhu,Dr.,Yayun (HP Medicine) BII-CN-S" userId="f923e91b-1433-4718-a9fb-37abca69f87f" providerId="ADAL" clId="{353978F8-FE93-47DA-9992-C48A2C69D624}" dt="2026-04-22T02:40:45.509" v="336" actId="20577"/>
          <ac:spMkLst>
            <pc:docMk/>
            <pc:sldMk cId="3866778749" sldId="272"/>
            <ac:spMk id="3" creationId="{EDFF3DE9-3638-153E-A3B9-3978D48E23C2}"/>
          </ac:spMkLst>
        </pc:spChg>
      </pc:sldChg>
      <pc:sldChg chg="addSp modSp add mod ord modShow">
        <pc:chgData name="Zhu,Dr.,Yayun (HP Medicine) BII-CN-S" userId="f923e91b-1433-4718-a9fb-37abca69f87f" providerId="ADAL" clId="{353978F8-FE93-47DA-9992-C48A2C69D624}" dt="2026-04-23T05:25:50.185" v="1045" actId="729"/>
        <pc:sldMkLst>
          <pc:docMk/>
          <pc:sldMk cId="3026472984" sldId="273"/>
        </pc:sldMkLst>
        <pc:spChg chg="add mod">
          <ac:chgData name="Zhu,Dr.,Yayun (HP Medicine) BII-CN-S" userId="f923e91b-1433-4718-a9fb-37abca69f87f" providerId="ADAL" clId="{353978F8-FE93-47DA-9992-C48A2C69D624}" dt="2026-04-22T04:48:22.722" v="577"/>
          <ac:spMkLst>
            <pc:docMk/>
            <pc:sldMk cId="3026472984" sldId="273"/>
            <ac:spMk id="2" creationId="{B3CDE1AF-CAC0-182B-C876-79A78E7EA459}"/>
          </ac:spMkLst>
        </pc:spChg>
      </pc:sldChg>
      <pc:sldChg chg="addSp modSp del mod ord modShow">
        <pc:chgData name="Zhu,Dr.,Yayun (HP Medicine) BII-CN-S" userId="f923e91b-1433-4718-a9fb-37abca69f87f" providerId="ADAL" clId="{353978F8-FE93-47DA-9992-C48A2C69D624}" dt="2026-04-22T09:14:15.149" v="768" actId="47"/>
        <pc:sldMkLst>
          <pc:docMk/>
          <pc:sldMk cId="2100369509" sldId="2147483647"/>
        </pc:sldMkLst>
        <pc:spChg chg="add mod">
          <ac:chgData name="Zhu,Dr.,Yayun (HP Medicine) BII-CN-S" userId="f923e91b-1433-4718-a9fb-37abca69f87f" providerId="ADAL" clId="{353978F8-FE93-47DA-9992-C48A2C69D624}" dt="2026-04-22T04:48:32.393" v="580"/>
          <ac:spMkLst>
            <pc:docMk/>
            <pc:sldMk cId="2100369509" sldId="2147483647"/>
            <ac:spMk id="3" creationId="{F4BEF2F6-4971-1CA4-9FF8-FF6C2618AE1A}"/>
          </ac:spMkLst>
        </pc:spChg>
        <pc:spChg chg="mod">
          <ac:chgData name="Zhu,Dr.,Yayun (HP Medicine) BII-CN-S" userId="f923e91b-1433-4718-a9fb-37abca69f87f" providerId="ADAL" clId="{353978F8-FE93-47DA-9992-C48A2C69D624}" dt="2026-04-22T02:48:55.018" v="361" actId="14100"/>
          <ac:spMkLst>
            <pc:docMk/>
            <pc:sldMk cId="2100369509" sldId="2147483647"/>
            <ac:spMk id="7" creationId="{8395228A-4FFD-5A1F-8FAE-A2118BEBE4FD}"/>
          </ac:spMkLst>
        </pc:spChg>
      </pc:sldChg>
    </pc:docChg>
  </pc:docChgLst>
  <pc:docChgLst>
    <pc:chgData name="Zhu,Dr.,Yayun (HP Medicine) BII-CN-S" userId="S::yayun.zhu@boehringer-ingelheim.com::f923e91b-1433-4718-a9fb-37abca69f87f" providerId="AD" clId="Web-{B2D14FD0-9FC4-5FE0-D1A5-92E7C0E686FA}"/>
    <pc:docChg chg="modSld">
      <pc:chgData name="Zhu,Dr.,Yayun (HP Medicine) BII-CN-S" userId="S::yayun.zhu@boehringer-ingelheim.com::f923e91b-1433-4718-a9fb-37abca69f87f" providerId="AD" clId="Web-{B2D14FD0-9FC4-5FE0-D1A5-92E7C0E686FA}" dt="2026-04-21T14:34:11.108" v="0" actId="14100"/>
      <pc:docMkLst>
        <pc:docMk/>
      </pc:docMkLst>
    </pc:docChg>
  </pc:docChgLst>
</pc:chgInfo>
</file>

<file path=ppt/comments/modernComment_10C_2E72DD8D.xml><?xml version="1.0" encoding="utf-8"?>
<p188:cmLst xmlns:a="http://schemas.openxmlformats.org/drawingml/2006/main" xmlns:r="http://schemas.openxmlformats.org/officeDocument/2006/relationships" xmlns:p188="http://schemas.microsoft.com/office/powerpoint/2018/8/main">
  <p188:cm id="{F8CF515C-891A-43A2-89A2-7DC69C453751}" authorId="{D7B8D2DE-D6DD-A4D5-E725-5140F840A37E}" status="resolved" created="2026-04-20T09:59:24.956" complete="100000">
    <pc:sldMkLst xmlns:pc="http://schemas.microsoft.com/office/powerpoint/2013/main/command">
      <pc:docMk/>
      <pc:sldMk cId="1437580038" sldId="258"/>
    </pc:sldMkLst>
    <p188:txBody>
      <a:bodyPr/>
      <a:lstStyle/>
      <a:p>
        <a:r>
          <a:rPr lang="zh-CN" altLang="en-US"/>
          <a:t>[@Tao,Helen (HP Medicine) BII-CN-S] [@Li,Ling (MED BDS) BII-CN-S] [@Wang,Shirley (HP Medicine) BII-CN-B] 
Dear all, please see the modified assessment table and feel free to modify or comment</a:t>
        </a:r>
      </a:p>
    </p188:txBody>
  </p188:cm>
</p188:cmLst>
</file>

<file path=ppt/comments/modernComment_105_BB2E943D.xml><?xml version="1.0" encoding="utf-8"?>
<p188:cmLst xmlns:a="http://schemas.openxmlformats.org/drawingml/2006/main" xmlns:r="http://schemas.openxmlformats.org/officeDocument/2006/relationships" xmlns:p188="http://schemas.microsoft.com/office/powerpoint/2018/8/main">
  <p188:cm id="{EB2FCEE9-FB80-4463-BF74-3AD44EC3EF30}" authorId="{D7B8D2DE-D6DD-A4D5-E725-5140F840A37E}" created="2026-04-20T14:04:54.221">
    <pc:sldMkLst xmlns:pc="http://schemas.microsoft.com/office/powerpoint/2013/main/command">
      <pc:docMk/>
      <pc:sldMk cId="3140391997" sldId="261"/>
    </pc:sldMkLst>
    <p188:txBody>
      <a:bodyPr/>
      <a:lstStyle/>
      <a:p>
        <a:r>
          <a:rPr lang="zh-CN" altLang="en-US"/>
          <a:t>Need discussions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D1AF16-6F8D-4DA0-840B-A855AE3206B0}" type="datetimeFigureOut">
              <a:rPr lang="zh-CN" altLang="en-US" smtClean="0"/>
              <a:t>2026/4/22</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CB4BB5-E309-45E5-BB7A-A4E8DEB85991}" type="slidenum">
              <a:rPr lang="zh-CN" altLang="en-US" smtClean="0"/>
              <a:t>‹#›</a:t>
            </a:fld>
            <a:endParaRPr lang="zh-CN" altLang="en-US"/>
          </a:p>
        </p:txBody>
      </p:sp>
    </p:spTree>
    <p:extLst>
      <p:ext uri="{BB962C8B-B14F-4D97-AF65-F5344CB8AC3E}">
        <p14:creationId xmlns:p14="http://schemas.microsoft.com/office/powerpoint/2010/main" val="954593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fda.gov/files/drugs/published/Process-Validation--General-Principles-and-Practices.pdf"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77D3B-2A68-0D79-95B1-E393E56F9AB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5327A8-671B-89B9-D943-E1C30B22DF8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A9829C1-FD4C-923C-1BCA-52730CE5810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5F32E4D-65CB-99DF-2B10-AD5FF6340BC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807B83-C6EF-4820-B29B-23163268F2B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OPPOSans M" panose="00020600040101010101"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OPPOSans M" panose="00020600040101010101" pitchFamily="18" charset="-122"/>
              <a:cs typeface="+mn-cs"/>
            </a:endParaRPr>
          </a:p>
        </p:txBody>
      </p:sp>
    </p:spTree>
    <p:extLst>
      <p:ext uri="{BB962C8B-B14F-4D97-AF65-F5344CB8AC3E}">
        <p14:creationId xmlns:p14="http://schemas.microsoft.com/office/powerpoint/2010/main" val="17902062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lang="en-US" altLang="zh-CN" sz="1200" b="0" i="0" kern="1200">
                <a:solidFill>
                  <a:schemeClr val="tx1"/>
                </a:solidFill>
                <a:effectLst/>
                <a:latin typeface="Boehringer Forward Text" panose="02000500000000020000" pitchFamily="2" charset="0"/>
                <a:ea typeface="+mn-ea"/>
                <a:cs typeface="+mn-cs"/>
              </a:rPr>
              <a:t>*Process Performance Qualification</a:t>
            </a:r>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2</a:t>
            </a:fld>
            <a:endParaRPr lang="en-US" sz="800">
              <a:solidFill>
                <a:schemeClr val="bg2"/>
              </a:solidFill>
            </a:endParaRPr>
          </a:p>
        </p:txBody>
      </p:sp>
    </p:spTree>
    <p:extLst>
      <p:ext uri="{BB962C8B-B14F-4D97-AF65-F5344CB8AC3E}">
        <p14:creationId xmlns:p14="http://schemas.microsoft.com/office/powerpoint/2010/main" val="4207825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A618D-8929-36FA-6465-BB14257B39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1467BD-1122-1910-63B5-B14140999D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3A8018-C49D-F349-836F-0E5095870ED2}"/>
              </a:ext>
            </a:extLst>
          </p:cNvPr>
          <p:cNvSpPr>
            <a:spLocks noGrp="1"/>
          </p:cNvSpPr>
          <p:nvPr>
            <p:ph type="body" idx="1"/>
          </p:nvPr>
        </p:nvSpPr>
        <p:spPr/>
        <p:txBody>
          <a:bodyPr/>
          <a:lstStyle/>
          <a:p>
            <a:r>
              <a:rPr lang="en-US" altLang="zh-CN">
                <a:hlinkClick r:id="rId3"/>
              </a:rPr>
              <a:t>Process Validation: General Principles and Practices</a:t>
            </a:r>
            <a:endParaRPr lang="zh-CN" altLang="en-US"/>
          </a:p>
        </p:txBody>
      </p:sp>
      <p:sp>
        <p:nvSpPr>
          <p:cNvPr id="4" name="Slide Number Placeholder 3">
            <a:extLst>
              <a:ext uri="{FF2B5EF4-FFF2-40B4-BE49-F238E27FC236}">
                <a16:creationId xmlns:a16="http://schemas.microsoft.com/office/drawing/2014/main" id="{BA05F5DF-9582-98EF-404B-93CAA44616C7}"/>
              </a:ext>
            </a:extLst>
          </p:cNvPr>
          <p:cNvSpPr>
            <a:spLocks noGrp="1"/>
          </p:cNvSpPr>
          <p:nvPr>
            <p:ph type="sldNum" sz="quarter" idx="5"/>
          </p:nvPr>
        </p:nvSpPr>
        <p:spPr/>
        <p:txBody>
          <a:bodyPr/>
          <a:lstStyle/>
          <a:p>
            <a:fld id="{F6CB4BB5-E309-45E5-BB7A-A4E8DEB85991}" type="slidenum">
              <a:rPr lang="zh-CN" altLang="en-US" smtClean="0"/>
              <a:t>4</a:t>
            </a:fld>
            <a:endParaRPr lang="zh-CN" altLang="en-US"/>
          </a:p>
        </p:txBody>
      </p:sp>
    </p:spTree>
    <p:extLst>
      <p:ext uri="{BB962C8B-B14F-4D97-AF65-F5344CB8AC3E}">
        <p14:creationId xmlns:p14="http://schemas.microsoft.com/office/powerpoint/2010/main" val="34335755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1" i="0" kern="1200">
                <a:solidFill>
                  <a:schemeClr val="tx1"/>
                </a:solidFill>
                <a:effectLst/>
                <a:latin typeface="+mn-lt"/>
                <a:ea typeface="+mn-ea"/>
                <a:cs typeface="+mn-cs"/>
              </a:rPr>
              <a:t>On global side:</a:t>
            </a:r>
          </a:p>
          <a:p>
            <a:pPr marL="171450" indent="-171450">
              <a:buFont typeface="Arial" panose="020B0604020202020204" pitchFamily="34" charset="0"/>
              <a:buChar char="•"/>
            </a:pPr>
            <a:r>
              <a:rPr lang="en-US" altLang="zh-CN" sz="1200" b="0" i="0" kern="1200">
                <a:solidFill>
                  <a:schemeClr val="tx1"/>
                </a:solidFill>
                <a:effectLst/>
                <a:latin typeface="+mn-lt"/>
                <a:ea typeface="+mn-ea"/>
                <a:cs typeface="+mn-cs"/>
              </a:rPr>
              <a:t>All submission-relevant analyses and results are finalized and available on time, with no open scientific concerns. No pooling or late revised decision.</a:t>
            </a:r>
          </a:p>
          <a:p>
            <a:pPr marL="171450" indent="-171450">
              <a:buFont typeface="Arial" panose="020B0604020202020204" pitchFamily="34" charset="0"/>
              <a:buChar char="•"/>
            </a:pPr>
            <a:r>
              <a:rPr lang="en-US" altLang="zh-CN" sz="1200" b="0" i="0" kern="1200">
                <a:solidFill>
                  <a:schemeClr val="tx1"/>
                </a:solidFill>
                <a:effectLst/>
                <a:latin typeface="+mn-lt"/>
                <a:ea typeface="+mn-ea"/>
                <a:cs typeface="+mn-cs"/>
              </a:rPr>
              <a:t>Front loading most of the documents. Core submission documents are review-ready before 2</a:t>
            </a:r>
            <a:r>
              <a:rPr lang="en-US" altLang="zh-CN" sz="1200" b="0" i="0" kern="1200" baseline="30000">
                <a:solidFill>
                  <a:schemeClr val="tx1"/>
                </a:solidFill>
                <a:effectLst/>
                <a:latin typeface="+mn-lt"/>
                <a:ea typeface="+mn-ea"/>
                <a:cs typeface="+mn-cs"/>
              </a:rPr>
              <a:t>nd</a:t>
            </a:r>
            <a:r>
              <a:rPr lang="en-US" altLang="zh-CN" sz="1200" b="0" i="0" kern="1200">
                <a:solidFill>
                  <a:schemeClr val="tx1"/>
                </a:solidFill>
                <a:effectLst/>
                <a:latin typeface="+mn-lt"/>
                <a:ea typeface="+mn-ea"/>
                <a:cs typeface="+mn-cs"/>
              </a:rPr>
              <a:t> draft.</a:t>
            </a:r>
          </a:p>
          <a:p>
            <a:pPr marL="171450" indent="-171450">
              <a:buFont typeface="Arial" panose="020B0604020202020204" pitchFamily="34" charset="0"/>
              <a:buChar char="•"/>
            </a:pPr>
            <a:r>
              <a:rPr lang="en-US" altLang="zh-CN" sz="1200" b="0" i="0" kern="1200">
                <a:solidFill>
                  <a:schemeClr val="tx1"/>
                </a:solidFill>
                <a:effectLst/>
                <a:latin typeface="+mn-lt"/>
                <a:ea typeface="+mn-ea"/>
                <a:cs typeface="+mn-cs"/>
              </a:rPr>
              <a:t>No unexpected analytical results in DS PPQ (unreleased data expected to be only available by 25 Sep 27) / or failure in DS synthesis steps.</a:t>
            </a:r>
          </a:p>
          <a:p>
            <a:pPr marL="171450" indent="-171450">
              <a:buFont typeface="Arial" panose="020B0604020202020204" pitchFamily="34" charset="0"/>
              <a:buChar char="•"/>
            </a:pPr>
            <a:r>
              <a:rPr lang="en-US" altLang="zh-CN" sz="1200" b="1" i="0" kern="1200">
                <a:solidFill>
                  <a:schemeClr val="tx1"/>
                </a:solidFill>
                <a:effectLst/>
                <a:latin typeface="+mn-lt"/>
                <a:ea typeface="+mn-ea"/>
                <a:cs typeface="+mn-cs"/>
              </a:rPr>
              <a:t>The current clinical development timeline from LPO to DBL is 6 weeks (vs 4 weeks for current best target) for pivotal phase III trials. The team is looking into all possibilities in order support early submission. Furthermore, the site resources will also be an important factor influencing this timeline due to the high amount of data to be cleaned in a shorter time.</a:t>
            </a:r>
            <a:endParaRPr lang="en-US" altLang="zh-CN" sz="1200" b="0" i="0" kern="1200">
              <a:solidFill>
                <a:schemeClr val="tx1"/>
              </a:solidFill>
              <a:effectLst/>
              <a:latin typeface="+mn-lt"/>
              <a:ea typeface="+mn-ea"/>
              <a:cs typeface="+mn-cs"/>
            </a:endParaRPr>
          </a:p>
          <a:p>
            <a:pPr marL="171450" indent="-171450">
              <a:buFont typeface="Arial" panose="020B0604020202020204" pitchFamily="34" charset="0"/>
              <a:buChar char="•"/>
            </a:pPr>
            <a:r>
              <a:rPr lang="en-US" altLang="zh-CN" sz="1200" b="0" i="0" kern="1200">
                <a:solidFill>
                  <a:schemeClr val="tx1"/>
                </a:solidFill>
                <a:effectLst/>
                <a:latin typeface="+mn-lt"/>
                <a:ea typeface="+mn-ea"/>
                <a:cs typeface="+mn-cs"/>
              </a:rPr>
              <a:t>Submission work prioritized over other activities.  </a:t>
            </a:r>
          </a:p>
          <a:p>
            <a:r>
              <a:rPr lang="en-US" altLang="zh-CN" sz="1200" b="0" i="0" kern="1200">
                <a:solidFill>
                  <a:schemeClr val="tx1"/>
                </a:solidFill>
                <a:effectLst/>
                <a:latin typeface="+mn-lt"/>
                <a:ea typeface="+mn-ea"/>
                <a:cs typeface="+mn-cs"/>
              </a:rPr>
              <a:t> </a:t>
            </a:r>
          </a:p>
          <a:p>
            <a:r>
              <a:rPr lang="en-US" altLang="zh-CN" sz="1200" b="0" i="0" kern="1200">
                <a:solidFill>
                  <a:schemeClr val="tx1"/>
                </a:solidFill>
                <a:effectLst/>
                <a:latin typeface="+mn-lt"/>
                <a:ea typeface="+mn-ea"/>
                <a:cs typeface="+mn-cs"/>
              </a:rPr>
              <a:t>China Team additional:</a:t>
            </a:r>
          </a:p>
          <a:p>
            <a:r>
              <a:rPr lang="en-US" altLang="zh-CN" sz="1200" b="0" i="0" kern="1200">
                <a:solidFill>
                  <a:schemeClr val="tx1"/>
                </a:solidFill>
                <a:effectLst/>
                <a:latin typeface="+mn-lt"/>
                <a:ea typeface="+mn-ea"/>
                <a:cs typeface="+mn-cs"/>
              </a:rPr>
              <a:t>CN subgroup TLR ready on time to support pre-NDA interaction and BTD in Aug. ​</a:t>
            </a:r>
          </a:p>
          <a:p>
            <a:r>
              <a:rPr lang="en-US" altLang="zh-CN" sz="1200" b="0" i="0" kern="1200">
                <a:solidFill>
                  <a:schemeClr val="tx1"/>
                </a:solidFill>
                <a:effectLst/>
                <a:latin typeface="+mn-lt"/>
                <a:ea typeface="+mn-ea"/>
                <a:cs typeface="+mn-cs"/>
              </a:rPr>
              <a:t>CN subgroup data available on time –in one week after entire data available or earlier if possible ​</a:t>
            </a:r>
          </a:p>
          <a:p>
            <a:r>
              <a:rPr lang="en-US" altLang="zh-CN" sz="1200" b="0" i="0" kern="1200">
                <a:solidFill>
                  <a:schemeClr val="tx1"/>
                </a:solidFill>
                <a:effectLst/>
                <a:latin typeface="+mn-lt"/>
                <a:ea typeface="+mn-ea"/>
                <a:cs typeface="+mn-cs"/>
              </a:rPr>
              <a:t>Whole dossier ready by 15 Oct 2027 in both EN and CN​</a:t>
            </a:r>
          </a:p>
          <a:p>
            <a:r>
              <a:rPr lang="en-US" altLang="zh-CN" sz="1200" b="0" i="0" kern="1200">
                <a:solidFill>
                  <a:schemeClr val="tx1"/>
                </a:solidFill>
                <a:effectLst/>
                <a:latin typeface="+mn-lt"/>
                <a:ea typeface="+mn-ea"/>
                <a:cs typeface="+mn-cs"/>
              </a:rPr>
              <a:t>Ø  ​Pre-block review time slot for CN specific documents, including China RMP, SGAR, CMC docs (CNTS, TMP), etc.​</a:t>
            </a:r>
          </a:p>
          <a:p>
            <a:r>
              <a:rPr lang="en-US" altLang="zh-CN" sz="1200" b="0" i="0" kern="1200">
                <a:solidFill>
                  <a:schemeClr val="tx1"/>
                </a:solidFill>
                <a:effectLst/>
                <a:latin typeface="+mn-lt"/>
                <a:ea typeface="+mn-ea"/>
                <a:cs typeface="+mn-cs"/>
              </a:rPr>
              <a:t>Ø  Prepare CN labeling in paralleled and aligned with CCDS​, no buffer to address country specific needs before submission</a:t>
            </a:r>
          </a:p>
          <a:p>
            <a:r>
              <a:rPr lang="en-US" altLang="zh-CN" sz="1200" b="0" i="0" kern="1200">
                <a:solidFill>
                  <a:schemeClr val="tx1"/>
                </a:solidFill>
                <a:effectLst/>
                <a:latin typeface="+mn-lt"/>
                <a:ea typeface="+mn-ea"/>
                <a:cs typeface="+mn-cs"/>
              </a:rPr>
              <a:t>Ø  Prepare 1397-0014 SGRA in parallel with CTR, review and translate based on mock document and fill in CN results in Chinese version only (MW will coordinate further with BDS). ​</a:t>
            </a:r>
          </a:p>
          <a:p>
            <a:r>
              <a:rPr lang="en-US" altLang="zh-CN" sz="1200" b="0" i="0" kern="1200">
                <a:solidFill>
                  <a:schemeClr val="tx1"/>
                </a:solidFill>
                <a:effectLst/>
                <a:latin typeface="+mn-lt"/>
                <a:ea typeface="+mn-ea"/>
                <a:cs typeface="+mn-cs"/>
              </a:rPr>
              <a:t>Ø  LRA request to </a:t>
            </a:r>
            <a:r>
              <a:rPr lang="en-US" altLang="zh-CN" sz="1200" b="0" i="0" kern="1200" err="1">
                <a:solidFill>
                  <a:schemeClr val="tx1"/>
                </a:solidFill>
                <a:effectLst/>
                <a:latin typeface="+mn-lt"/>
                <a:ea typeface="+mn-ea"/>
                <a:cs typeface="+mn-cs"/>
              </a:rPr>
              <a:t>involv</a:t>
            </a:r>
            <a:endParaRPr lang="en-US" altLang="zh-CN" sz="1200" b="0" i="0" kern="1200">
              <a:solidFill>
                <a:schemeClr val="tx1"/>
              </a:solidFill>
              <a:effectLst/>
              <a:latin typeface="+mn-lt"/>
              <a:ea typeface="+mn-ea"/>
              <a:cs typeface="+mn-cs"/>
            </a:endParaRPr>
          </a:p>
          <a:p>
            <a:endParaRPr lang="zh-CN" altLang="en-US"/>
          </a:p>
          <a:p>
            <a:endParaRPr lang="zh-CN" altLang="en-US"/>
          </a:p>
        </p:txBody>
      </p:sp>
      <p:sp>
        <p:nvSpPr>
          <p:cNvPr id="4" name="Slide Number Placeholder 3"/>
          <p:cNvSpPr>
            <a:spLocks noGrp="1"/>
          </p:cNvSpPr>
          <p:nvPr>
            <p:ph type="sldNum" sz="quarter" idx="5"/>
          </p:nvPr>
        </p:nvSpPr>
        <p:spPr/>
        <p:txBody>
          <a:bodyPr/>
          <a:lstStyle/>
          <a:p>
            <a:fld id="{F6CB4BB5-E309-45E5-BB7A-A4E8DEB85991}" type="slidenum">
              <a:rPr lang="zh-CN" altLang="en-US" smtClean="0"/>
              <a:t>8</a:t>
            </a:fld>
            <a:endParaRPr lang="zh-CN" altLang="en-US"/>
          </a:p>
        </p:txBody>
      </p:sp>
    </p:spTree>
    <p:extLst>
      <p:ext uri="{BB962C8B-B14F-4D97-AF65-F5344CB8AC3E}">
        <p14:creationId xmlns:p14="http://schemas.microsoft.com/office/powerpoint/2010/main" val="3750715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1" i="0" kern="1200">
                <a:solidFill>
                  <a:schemeClr val="tx1"/>
                </a:solidFill>
                <a:effectLst/>
                <a:latin typeface="+mn-lt"/>
                <a:ea typeface="+mn-ea"/>
                <a:cs typeface="+mn-cs"/>
              </a:rPr>
              <a:t>On global side:</a:t>
            </a:r>
          </a:p>
          <a:p>
            <a:pPr marL="171450" indent="-171450">
              <a:buFont typeface="Arial" panose="020B0604020202020204" pitchFamily="34" charset="0"/>
              <a:buChar char="•"/>
            </a:pPr>
            <a:r>
              <a:rPr lang="en-US" altLang="zh-CN" sz="1200" b="0" i="0" kern="1200">
                <a:solidFill>
                  <a:schemeClr val="tx1"/>
                </a:solidFill>
                <a:effectLst/>
                <a:latin typeface="+mn-lt"/>
                <a:ea typeface="+mn-ea"/>
                <a:cs typeface="+mn-cs"/>
              </a:rPr>
              <a:t>All submission-relevant analyses and results are finalized and available on time, with no open scientific concerns. No pooling or late revised decision.</a:t>
            </a:r>
          </a:p>
          <a:p>
            <a:pPr marL="171450" indent="-171450">
              <a:buFont typeface="Arial" panose="020B0604020202020204" pitchFamily="34" charset="0"/>
              <a:buChar char="•"/>
            </a:pPr>
            <a:r>
              <a:rPr lang="en-US" altLang="zh-CN" sz="1200" b="0" i="0" kern="1200">
                <a:solidFill>
                  <a:schemeClr val="tx1"/>
                </a:solidFill>
                <a:effectLst/>
                <a:latin typeface="+mn-lt"/>
                <a:ea typeface="+mn-ea"/>
                <a:cs typeface="+mn-cs"/>
              </a:rPr>
              <a:t>Front loading most of the documents. Core submission documents are review-ready before 2</a:t>
            </a:r>
            <a:r>
              <a:rPr lang="en-US" altLang="zh-CN" sz="1200" b="0" i="0" kern="1200" baseline="30000">
                <a:solidFill>
                  <a:schemeClr val="tx1"/>
                </a:solidFill>
                <a:effectLst/>
                <a:latin typeface="+mn-lt"/>
                <a:ea typeface="+mn-ea"/>
                <a:cs typeface="+mn-cs"/>
              </a:rPr>
              <a:t>nd</a:t>
            </a:r>
            <a:r>
              <a:rPr lang="en-US" altLang="zh-CN" sz="1200" b="0" i="0" kern="1200">
                <a:solidFill>
                  <a:schemeClr val="tx1"/>
                </a:solidFill>
                <a:effectLst/>
                <a:latin typeface="+mn-lt"/>
                <a:ea typeface="+mn-ea"/>
                <a:cs typeface="+mn-cs"/>
              </a:rPr>
              <a:t> draft.</a:t>
            </a:r>
          </a:p>
          <a:p>
            <a:pPr marL="171450" indent="-171450">
              <a:buFont typeface="Arial" panose="020B0604020202020204" pitchFamily="34" charset="0"/>
              <a:buChar char="•"/>
            </a:pPr>
            <a:r>
              <a:rPr lang="en-US" altLang="zh-CN" sz="1200" b="0" i="0" kern="1200">
                <a:solidFill>
                  <a:schemeClr val="tx1"/>
                </a:solidFill>
                <a:effectLst/>
                <a:latin typeface="+mn-lt"/>
                <a:ea typeface="+mn-ea"/>
                <a:cs typeface="+mn-cs"/>
              </a:rPr>
              <a:t>No unexpected analytical results in DS PPQ (unreleased data expected to be only available by 25 Sep 27) / or failure in DS synthesis steps.</a:t>
            </a:r>
          </a:p>
          <a:p>
            <a:pPr marL="171450" indent="-171450">
              <a:buFont typeface="Arial" panose="020B0604020202020204" pitchFamily="34" charset="0"/>
              <a:buChar char="•"/>
            </a:pPr>
            <a:r>
              <a:rPr lang="en-US" altLang="zh-CN" sz="1200" b="1" i="0" kern="1200">
                <a:solidFill>
                  <a:schemeClr val="tx1"/>
                </a:solidFill>
                <a:effectLst/>
                <a:latin typeface="+mn-lt"/>
                <a:ea typeface="+mn-ea"/>
                <a:cs typeface="+mn-cs"/>
              </a:rPr>
              <a:t>The current clinical development timeline from LPO to DBL is 6 weeks (vs 4 weeks for current best target) for pivotal phase III trials. The team is looking into all possibilities in order support early submission. Furthermore, the site resources will also be an important factor influencing this timeline due to the high amount of data to be cleaned in a shorter time.</a:t>
            </a:r>
            <a:endParaRPr lang="en-US" altLang="zh-CN" sz="1200" b="0" i="0" kern="1200">
              <a:solidFill>
                <a:schemeClr val="tx1"/>
              </a:solidFill>
              <a:effectLst/>
              <a:latin typeface="+mn-lt"/>
              <a:ea typeface="+mn-ea"/>
              <a:cs typeface="+mn-cs"/>
            </a:endParaRPr>
          </a:p>
          <a:p>
            <a:pPr marL="171450" indent="-171450">
              <a:buFont typeface="Arial" panose="020B0604020202020204" pitchFamily="34" charset="0"/>
              <a:buChar char="•"/>
            </a:pPr>
            <a:r>
              <a:rPr lang="en-US" altLang="zh-CN" sz="1200" b="0" i="0" kern="1200">
                <a:solidFill>
                  <a:schemeClr val="tx1"/>
                </a:solidFill>
                <a:effectLst/>
                <a:latin typeface="+mn-lt"/>
                <a:ea typeface="+mn-ea"/>
                <a:cs typeface="+mn-cs"/>
              </a:rPr>
              <a:t>Submission work prioritized over other activities.  </a:t>
            </a:r>
          </a:p>
          <a:p>
            <a:r>
              <a:rPr lang="en-US" altLang="zh-CN" sz="1200" b="0" i="0" kern="1200">
                <a:solidFill>
                  <a:schemeClr val="tx1"/>
                </a:solidFill>
                <a:effectLst/>
                <a:latin typeface="+mn-lt"/>
                <a:ea typeface="+mn-ea"/>
                <a:cs typeface="+mn-cs"/>
              </a:rPr>
              <a:t> </a:t>
            </a:r>
          </a:p>
          <a:p>
            <a:r>
              <a:rPr lang="en-US" altLang="zh-CN" sz="1200" b="0" i="0" kern="1200">
                <a:solidFill>
                  <a:schemeClr val="tx1"/>
                </a:solidFill>
                <a:effectLst/>
                <a:latin typeface="+mn-lt"/>
                <a:ea typeface="+mn-ea"/>
                <a:cs typeface="+mn-cs"/>
              </a:rPr>
              <a:t>China Team additional:</a:t>
            </a:r>
          </a:p>
          <a:p>
            <a:r>
              <a:rPr lang="en-US" altLang="zh-CN" sz="1200" b="0" i="0" kern="1200">
                <a:solidFill>
                  <a:schemeClr val="tx1"/>
                </a:solidFill>
                <a:effectLst/>
                <a:latin typeface="+mn-lt"/>
                <a:ea typeface="+mn-ea"/>
                <a:cs typeface="+mn-cs"/>
              </a:rPr>
              <a:t>CN subgroup TLR ready on time to support pre-NDA interaction and BTD in Aug. ​</a:t>
            </a:r>
          </a:p>
          <a:p>
            <a:r>
              <a:rPr lang="en-US" altLang="zh-CN" sz="1200" b="0" i="0" kern="1200">
                <a:solidFill>
                  <a:schemeClr val="tx1"/>
                </a:solidFill>
                <a:effectLst/>
                <a:latin typeface="+mn-lt"/>
                <a:ea typeface="+mn-ea"/>
                <a:cs typeface="+mn-cs"/>
              </a:rPr>
              <a:t>CN subgroup data available on time –in one week after entire data available or earlier if possible ​</a:t>
            </a:r>
          </a:p>
          <a:p>
            <a:r>
              <a:rPr lang="en-US" altLang="zh-CN" sz="1200" b="0" i="0" kern="1200">
                <a:solidFill>
                  <a:schemeClr val="tx1"/>
                </a:solidFill>
                <a:effectLst/>
                <a:latin typeface="+mn-lt"/>
                <a:ea typeface="+mn-ea"/>
                <a:cs typeface="+mn-cs"/>
              </a:rPr>
              <a:t>Whole dossier ready by 15 Oct 2027 in both EN and CN​</a:t>
            </a:r>
          </a:p>
          <a:p>
            <a:r>
              <a:rPr lang="en-US" altLang="zh-CN" sz="1200" b="0" i="0" kern="1200">
                <a:solidFill>
                  <a:schemeClr val="tx1"/>
                </a:solidFill>
                <a:effectLst/>
                <a:latin typeface="+mn-lt"/>
                <a:ea typeface="+mn-ea"/>
                <a:cs typeface="+mn-cs"/>
              </a:rPr>
              <a:t>Ø  ​Pre-block review time slot for CN specific documents, including China RMP, SGAR, CMC docs (CNTS, TMP), etc.​</a:t>
            </a:r>
          </a:p>
          <a:p>
            <a:r>
              <a:rPr lang="en-US" altLang="zh-CN" sz="1200" b="0" i="0" kern="1200">
                <a:solidFill>
                  <a:schemeClr val="tx1"/>
                </a:solidFill>
                <a:effectLst/>
                <a:latin typeface="+mn-lt"/>
                <a:ea typeface="+mn-ea"/>
                <a:cs typeface="+mn-cs"/>
              </a:rPr>
              <a:t>Ø  Prepare CN labeling in paralleled and aligned with CCDS​, no buffer to address country specific needs before submission</a:t>
            </a:r>
          </a:p>
          <a:p>
            <a:r>
              <a:rPr lang="en-US" altLang="zh-CN" sz="1200" b="0" i="0" kern="1200">
                <a:solidFill>
                  <a:schemeClr val="tx1"/>
                </a:solidFill>
                <a:effectLst/>
                <a:latin typeface="+mn-lt"/>
                <a:ea typeface="+mn-ea"/>
                <a:cs typeface="+mn-cs"/>
              </a:rPr>
              <a:t>Ø  Prepare 1397-0014 SGRA in parallel with CTR, review and translate based on mock document and fill in CN results in Chinese version only (MW will coordinate further with BDS). ​</a:t>
            </a:r>
          </a:p>
          <a:p>
            <a:r>
              <a:rPr lang="en-US" altLang="zh-CN" sz="1200" b="0" i="0" kern="1200">
                <a:solidFill>
                  <a:schemeClr val="tx1"/>
                </a:solidFill>
                <a:effectLst/>
                <a:latin typeface="+mn-lt"/>
                <a:ea typeface="+mn-ea"/>
                <a:cs typeface="+mn-cs"/>
              </a:rPr>
              <a:t>Ø  LRA request to </a:t>
            </a:r>
            <a:r>
              <a:rPr lang="en-US" altLang="zh-CN" sz="1200" b="0" i="0" kern="1200" err="1">
                <a:solidFill>
                  <a:schemeClr val="tx1"/>
                </a:solidFill>
                <a:effectLst/>
                <a:latin typeface="+mn-lt"/>
                <a:ea typeface="+mn-ea"/>
                <a:cs typeface="+mn-cs"/>
              </a:rPr>
              <a:t>involv</a:t>
            </a:r>
            <a:endParaRPr lang="en-US" altLang="zh-CN" sz="1200" b="0" i="0" kern="1200">
              <a:solidFill>
                <a:schemeClr val="tx1"/>
              </a:solidFill>
              <a:effectLst/>
              <a:latin typeface="+mn-lt"/>
              <a:ea typeface="+mn-ea"/>
              <a:cs typeface="+mn-cs"/>
            </a:endParaRPr>
          </a:p>
          <a:p>
            <a:endParaRPr lang="zh-CN" altLang="en-US"/>
          </a:p>
        </p:txBody>
      </p:sp>
      <p:sp>
        <p:nvSpPr>
          <p:cNvPr id="4" name="Slide Number Placeholder 3"/>
          <p:cNvSpPr>
            <a:spLocks noGrp="1"/>
          </p:cNvSpPr>
          <p:nvPr>
            <p:ph type="sldNum" sz="quarter" idx="5"/>
          </p:nvPr>
        </p:nvSpPr>
        <p:spPr/>
        <p:txBody>
          <a:bodyPr/>
          <a:lstStyle/>
          <a:p>
            <a:fld id="{F6CB4BB5-E309-45E5-BB7A-A4E8DEB85991}" type="slidenum">
              <a:rPr lang="zh-CN" altLang="en-US" smtClean="0"/>
              <a:t>9</a:t>
            </a:fld>
            <a:endParaRPr lang="zh-CN" altLang="en-US"/>
          </a:p>
        </p:txBody>
      </p:sp>
    </p:spTree>
    <p:extLst>
      <p:ext uri="{BB962C8B-B14F-4D97-AF65-F5344CB8AC3E}">
        <p14:creationId xmlns:p14="http://schemas.microsoft.com/office/powerpoint/2010/main" val="14233256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4.sv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4.sv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Seperate topic for verducatib - 2026 Apr PEC</a:t>
            </a:r>
          </a:p>
        </p:txBody>
      </p:sp>
    </p:spTree>
    <p:extLst>
      <p:ext uri="{BB962C8B-B14F-4D97-AF65-F5344CB8AC3E}">
        <p14:creationId xmlns:p14="http://schemas.microsoft.com/office/powerpoint/2010/main" val="3160674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Seperate topic for verducatib - 2026 Apr PEC</a:t>
            </a:r>
          </a:p>
        </p:txBody>
      </p:sp>
    </p:spTree>
    <p:extLst>
      <p:ext uri="{BB962C8B-B14F-4D97-AF65-F5344CB8AC3E}">
        <p14:creationId xmlns:p14="http://schemas.microsoft.com/office/powerpoint/2010/main" val="3427630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Seperate topic for verducatib - 2026 Apr PEC</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46551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Seperate topic for verducatib - 2026 Apr PEC</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20492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Seperate topic for verducatib - 2026 Apr PEC</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0860385"/>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Seperate topic for verducatib - 2026 Apr PEC</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412678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Seperate topic for verducatib - 2026 Apr PEC</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796694109"/>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Seperate topic for verducatib - 2026 Apr PEC</a:t>
            </a:r>
          </a:p>
        </p:txBody>
      </p:sp>
    </p:spTree>
    <p:extLst>
      <p:ext uri="{BB962C8B-B14F-4D97-AF65-F5344CB8AC3E}">
        <p14:creationId xmlns:p14="http://schemas.microsoft.com/office/powerpoint/2010/main" val="423797186"/>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Seperate topic for verducatib - 2026 Apr PEC</a:t>
            </a:r>
          </a:p>
        </p:txBody>
      </p:sp>
    </p:spTree>
    <p:extLst>
      <p:ext uri="{BB962C8B-B14F-4D97-AF65-F5344CB8AC3E}">
        <p14:creationId xmlns:p14="http://schemas.microsoft.com/office/powerpoint/2010/main" val="447672988"/>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Seperate topic for verducatib - 2026 Apr PEC</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83074638"/>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Seperate topic for verducatib - 2026 Apr PEC</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8097445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Seperate topic for verducatib - 2026 Apr PEC</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7018478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Seperate topic for verducatib - 2026 Apr PEC</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2094704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Seperate topic for verducatib - 2026 Apr PEC</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06621827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Seperate topic for verducatib - 2026 Apr PEC</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8909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Seperate topic for verducatib - 2026 Apr PEC</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340741418"/>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Seperate topic for verducatib - 2026 Apr PEC</a:t>
            </a:r>
          </a:p>
        </p:txBody>
      </p:sp>
    </p:spTree>
    <p:extLst>
      <p:ext uri="{BB962C8B-B14F-4D97-AF65-F5344CB8AC3E}">
        <p14:creationId xmlns:p14="http://schemas.microsoft.com/office/powerpoint/2010/main" val="2564109113"/>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Seperate topic for verducatib - 2026 Apr PEC</a:t>
            </a:r>
          </a:p>
        </p:txBody>
      </p:sp>
    </p:spTree>
    <p:extLst>
      <p:ext uri="{BB962C8B-B14F-4D97-AF65-F5344CB8AC3E}">
        <p14:creationId xmlns:p14="http://schemas.microsoft.com/office/powerpoint/2010/main" val="3260822474"/>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Seperate topic for verducatib - 2026 Apr PEC</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751211536"/>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Seperate topic for verducatib - 2026 Apr PEC</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83672131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Seperate topic for verducatib - 2026 Apr PEC</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1827568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Seperate topic for verducatib - 2026 Apr PEC</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61294193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Seperate topic for verducatib - 2026 Apr PEC</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0272675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Seperate topic for verducatib - 2026 Apr PEC</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1823996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Seperate topic for verducatib - 2026 Apr PEC</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2249604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Seperate topic for verducatib - 2026 Apr PEC</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304855721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Seperate topic for verducatib - 2026 Apr PEC</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420452343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Seperate topic for verducatib - 2026 Apr PEC</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519146827"/>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Seperate topic for verducatib - 2026 Apr PEC</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900293970"/>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Seperate topic for verducatib - 2026 Apr PEC</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522052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Seperate topic for verducatib - 2026 Apr PEC</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2572129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Seperate topic for verducatib - 2026 Apr PEC</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58186924"/>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Seperate topic for verducatib - 2026 Apr PEC</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2026</a:t>
            </a:fld>
            <a:r>
              <a:rPr lang="en-US" sz="900"/>
              <a:t> Boehringer Ingelheim International GmbH. All rights reserved.</a:t>
            </a:r>
          </a:p>
        </p:txBody>
      </p:sp>
    </p:spTree>
    <p:extLst>
      <p:ext uri="{BB962C8B-B14F-4D97-AF65-F5344CB8AC3E}">
        <p14:creationId xmlns:p14="http://schemas.microsoft.com/office/powerpoint/2010/main" val="13002988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_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Seperate topic for verducatib - 2026 Apr PEC</a:t>
            </a:r>
          </a:p>
        </p:txBody>
      </p:sp>
    </p:spTree>
    <p:extLst>
      <p:ext uri="{BB962C8B-B14F-4D97-AF65-F5344CB8AC3E}">
        <p14:creationId xmlns:p14="http://schemas.microsoft.com/office/powerpoint/2010/main" val="5230381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_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Seperate topic for verducatib - 2026 Apr PEC</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771017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Seperate topic for verducatib - 2026 Apr PEC</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8482526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5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Seperate topic for verducatib - 2026 Apr PEC</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51652466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6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Seperate topic for verducatib - 2026 Apr PEC</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02263235"/>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_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Seperate topic for verducatib - 2026 Apr PEC</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5921911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Seperate topic for verducatib - 2026 Apr PEC</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3467722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Chapter 6_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30C46-08A3-7E21-9297-92FC23E3AB8B}"/>
              </a:ext>
            </a:extLst>
          </p:cNvPr>
          <p:cNvSpPr>
            <a:spLocks noGrp="1"/>
          </p:cNvSpPr>
          <p:nvPr>
            <p:ph type="title"/>
          </p:nvPr>
        </p:nvSpPr>
        <p:spPr>
          <a:xfrm>
            <a:off x="479424" y="1114651"/>
            <a:ext cx="11233151" cy="720000"/>
          </a:xfrm>
        </p:spPr>
        <p:txBody>
          <a:bodyPr/>
          <a:lstStyle>
            <a:lvl1pPr>
              <a:defRPr>
                <a:solidFill>
                  <a:schemeClr val="bg2"/>
                </a:solidFill>
              </a:defRPr>
            </a:lvl1pPr>
          </a:lstStyle>
          <a:p>
            <a:r>
              <a:rPr lang="en-US"/>
              <a:t>Click to edit Master title style</a:t>
            </a:r>
          </a:p>
        </p:txBody>
      </p:sp>
      <p:sp>
        <p:nvSpPr>
          <p:cNvPr id="3" name="Footer Placeholder 2">
            <a:extLst>
              <a:ext uri="{FF2B5EF4-FFF2-40B4-BE49-F238E27FC236}">
                <a16:creationId xmlns:a16="http://schemas.microsoft.com/office/drawing/2014/main" id="{733C2D44-6BAA-4EDF-02C8-C6896DB6A461}"/>
              </a:ext>
            </a:extLst>
          </p:cNvPr>
          <p:cNvSpPr>
            <a:spLocks noGrp="1"/>
          </p:cNvSpPr>
          <p:nvPr>
            <p:ph type="ftr" sz="quarter" idx="10"/>
          </p:nvPr>
        </p:nvSpPr>
        <p:spPr/>
        <p:txBody>
          <a:bodyPr/>
          <a:lstStyle>
            <a:lvl1pPr>
              <a:defRPr>
                <a:solidFill>
                  <a:schemeClr val="bg2"/>
                </a:solidFill>
              </a:defRPr>
            </a:lvl1pPr>
          </a:lstStyle>
          <a:p>
            <a:r>
              <a:rPr lang="en-US"/>
              <a:t>Seperate topic for verducatib - 2026 Apr PEC</a:t>
            </a:r>
          </a:p>
        </p:txBody>
      </p:sp>
      <p:sp>
        <p:nvSpPr>
          <p:cNvPr id="4" name="Slide Number Placeholder 3">
            <a:extLst>
              <a:ext uri="{FF2B5EF4-FFF2-40B4-BE49-F238E27FC236}">
                <a16:creationId xmlns:a16="http://schemas.microsoft.com/office/drawing/2014/main" id="{EA45876D-91DB-DF5A-3483-10D5EBB756A4}"/>
              </a:ext>
            </a:extLst>
          </p:cNvPr>
          <p:cNvSpPr>
            <a:spLocks noGrp="1"/>
          </p:cNvSpPr>
          <p:nvPr>
            <p:ph type="sldNum" sz="quarter" idx="11"/>
          </p:nvPr>
        </p:nvSpPr>
        <p:spPr/>
        <p:txBody>
          <a:bodyPr/>
          <a:lstStyle>
            <a:lvl1pPr>
              <a:defRPr>
                <a:solidFill>
                  <a:schemeClr val="bg2"/>
                </a:solidFill>
              </a:defRPr>
            </a:lvl1pPr>
          </a:lstStyle>
          <a:p>
            <a:fld id="{DF4E8F9F-5B1F-4F5B-BE49-3245D8C18D9F}" type="slidenum">
              <a:rPr lang="en-US" smtClean="0"/>
              <a:pPr/>
              <a:t>‹#›</a:t>
            </a:fld>
            <a:endParaRPr lang="en-US"/>
          </a:p>
        </p:txBody>
      </p:sp>
      <p:sp>
        <p:nvSpPr>
          <p:cNvPr id="7" name="Textplatzhalter 7">
            <a:extLst>
              <a:ext uri="{FF2B5EF4-FFF2-40B4-BE49-F238E27FC236}">
                <a16:creationId xmlns:a16="http://schemas.microsoft.com/office/drawing/2014/main" id="{59435E96-6B61-E396-ABE5-F7D49F199A18}"/>
              </a:ext>
            </a:extLst>
          </p:cNvPr>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4" name="Rectangle 13">
            <a:extLst>
              <a:ext uri="{FF2B5EF4-FFF2-40B4-BE49-F238E27FC236}">
                <a16:creationId xmlns:a16="http://schemas.microsoft.com/office/drawing/2014/main" id="{2174349A-9548-EA6E-902E-5E7D51DE1C6A}"/>
              </a:ext>
            </a:extLst>
          </p:cNvPr>
          <p:cNvSpPr/>
          <p:nvPr userDrawn="1"/>
        </p:nvSpPr>
        <p:spPr bwMode="gray">
          <a:xfrm>
            <a:off x="7208409" y="262892"/>
            <a:ext cx="1153299" cy="743841"/>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normAutofit/>
          </a:bodyPr>
          <a:lstStyle/>
          <a:p>
            <a:pPr algn="l">
              <a:lnSpc>
                <a:spcPct val="140000"/>
              </a:lnSpc>
            </a:pPr>
            <a:endParaRPr lang="en-US" sz="700">
              <a:solidFill>
                <a:schemeClr val="tx1"/>
              </a:solidFill>
            </a:endParaRPr>
          </a:p>
        </p:txBody>
      </p:sp>
      <p:sp>
        <p:nvSpPr>
          <p:cNvPr id="19" name="Rectangle 18">
            <a:extLst>
              <a:ext uri="{FF2B5EF4-FFF2-40B4-BE49-F238E27FC236}">
                <a16:creationId xmlns:a16="http://schemas.microsoft.com/office/drawing/2014/main" id="{B72FC428-DF9F-C227-E9BB-64F084C5AF02}"/>
              </a:ext>
            </a:extLst>
          </p:cNvPr>
          <p:cNvSpPr/>
          <p:nvPr userDrawn="1"/>
        </p:nvSpPr>
        <p:spPr bwMode="gray">
          <a:xfrm>
            <a:off x="0" y="0"/>
            <a:ext cx="12192000" cy="499171"/>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20" name="object 34">
            <a:hlinkClick r:id="" action="ppaction://noaction"/>
            <a:extLst>
              <a:ext uri="{FF2B5EF4-FFF2-40B4-BE49-F238E27FC236}">
                <a16:creationId xmlns:a16="http://schemas.microsoft.com/office/drawing/2014/main" id="{62C9AE80-44F2-B73C-28E4-9F856FE3E458}"/>
              </a:ext>
            </a:extLst>
          </p:cNvPr>
          <p:cNvSpPr/>
          <p:nvPr userDrawn="1"/>
        </p:nvSpPr>
        <p:spPr>
          <a:xfrm>
            <a:off x="1605466" y="0"/>
            <a:ext cx="1098782" cy="476250"/>
          </a:xfrm>
          <a:prstGeom prst="rect">
            <a:avLst/>
          </a:prstGeom>
          <a:solidFill>
            <a:srgbClr val="EFEEEB"/>
          </a:solidFill>
          <a:ln w="6350">
            <a:noFill/>
          </a:ln>
        </p:spPr>
        <p:txBody>
          <a:bodyPr wrap="square" lIns="288000" tIns="0" rIns="36000" bIns="0" rtlCol="0" anchor="ct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Overview</a:t>
            </a:r>
          </a:p>
        </p:txBody>
      </p:sp>
      <p:pic>
        <p:nvPicPr>
          <p:cNvPr id="21" name="Grafik 18">
            <a:extLst>
              <a:ext uri="{FF2B5EF4-FFF2-40B4-BE49-F238E27FC236}">
                <a16:creationId xmlns:a16="http://schemas.microsoft.com/office/drawing/2014/main" id="{9B65ABB9-51D2-0732-864E-8E264854A71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rot="16200000">
            <a:off x="11878255" y="66408"/>
            <a:ext cx="343434" cy="343434"/>
          </a:xfrm>
          <a:prstGeom prst="rect">
            <a:avLst/>
          </a:prstGeom>
        </p:spPr>
      </p:pic>
      <p:pic>
        <p:nvPicPr>
          <p:cNvPr id="22" name="Grafik 18">
            <a:extLst>
              <a:ext uri="{FF2B5EF4-FFF2-40B4-BE49-F238E27FC236}">
                <a16:creationId xmlns:a16="http://schemas.microsoft.com/office/drawing/2014/main" id="{F79BF1CA-232D-64DB-AFD4-BF06812ECC5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rot="5400000" flipH="1">
            <a:off x="11678855" y="66408"/>
            <a:ext cx="343434" cy="343434"/>
          </a:xfrm>
          <a:prstGeom prst="rect">
            <a:avLst/>
          </a:prstGeom>
        </p:spPr>
      </p:pic>
      <p:sp>
        <p:nvSpPr>
          <p:cNvPr id="23" name="Action Button: Blank 22">
            <a:hlinkClick r:id="" action="ppaction://hlinkshowjump?jump=previousslide" highlightClick="1"/>
            <a:extLst>
              <a:ext uri="{FF2B5EF4-FFF2-40B4-BE49-F238E27FC236}">
                <a16:creationId xmlns:a16="http://schemas.microsoft.com/office/drawing/2014/main" id="{71410380-5574-9ADE-9A83-F3F2945A9559}"/>
              </a:ext>
            </a:extLst>
          </p:cNvPr>
          <p:cNvSpPr/>
          <p:nvPr userDrawn="1"/>
        </p:nvSpPr>
        <p:spPr>
          <a:xfrm>
            <a:off x="11712575" y="-819"/>
            <a:ext cx="239597" cy="477887"/>
          </a:xfrm>
          <a:prstGeom prst="actionButtonBlank">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GB" sz="800" spc="200" baseline="0"/>
          </a:p>
        </p:txBody>
      </p:sp>
      <p:sp>
        <p:nvSpPr>
          <p:cNvPr id="24" name="Action Button: Blank 23">
            <a:hlinkClick r:id="" action="ppaction://hlinkshowjump?jump=nextslide" highlightClick="1"/>
            <a:extLst>
              <a:ext uri="{FF2B5EF4-FFF2-40B4-BE49-F238E27FC236}">
                <a16:creationId xmlns:a16="http://schemas.microsoft.com/office/drawing/2014/main" id="{D8A25991-7D97-2D7E-E7E5-7FCAF48960C2}"/>
              </a:ext>
            </a:extLst>
          </p:cNvPr>
          <p:cNvSpPr/>
          <p:nvPr userDrawn="1"/>
        </p:nvSpPr>
        <p:spPr>
          <a:xfrm>
            <a:off x="11952172" y="-819"/>
            <a:ext cx="239828" cy="477887"/>
          </a:xfrm>
          <a:prstGeom prst="actionButtonBlank">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pc="200" baseline="0"/>
          </a:p>
        </p:txBody>
      </p:sp>
      <p:pic>
        <p:nvPicPr>
          <p:cNvPr id="29" name="Grafik 30">
            <a:extLst>
              <a:ext uri="{FF2B5EF4-FFF2-40B4-BE49-F238E27FC236}">
                <a16:creationId xmlns:a16="http://schemas.microsoft.com/office/drawing/2014/main" id="{EF639587-D2FA-4C70-52C9-9E319196427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bwMode="gray">
          <a:xfrm>
            <a:off x="66730" y="65143"/>
            <a:ext cx="345964" cy="345964"/>
          </a:xfrm>
          <a:prstGeom prst="rect">
            <a:avLst/>
          </a:prstGeom>
        </p:spPr>
      </p:pic>
      <p:sp>
        <p:nvSpPr>
          <p:cNvPr id="30" name="object 34">
            <a:hlinkClick r:id="" action="ppaction://noaction"/>
            <a:extLst>
              <a:ext uri="{FF2B5EF4-FFF2-40B4-BE49-F238E27FC236}">
                <a16:creationId xmlns:a16="http://schemas.microsoft.com/office/drawing/2014/main" id="{747B53B0-886B-985E-FFD6-5976428E53A9}"/>
              </a:ext>
            </a:extLst>
          </p:cNvPr>
          <p:cNvSpPr/>
          <p:nvPr userDrawn="1"/>
        </p:nvSpPr>
        <p:spPr>
          <a:xfrm>
            <a:off x="479425" y="0"/>
            <a:ext cx="1098782" cy="476250"/>
          </a:xfrm>
          <a:prstGeom prst="rect">
            <a:avLst/>
          </a:prstGeom>
          <a:solidFill>
            <a:srgbClr val="EFEEEB"/>
          </a:solidFill>
          <a:ln w="6350">
            <a:noFill/>
          </a:ln>
        </p:spPr>
        <p:txBody>
          <a:bodyPr wrap="square" lIns="288000" tIns="0" rIns="36000" bIns="0" rtlCol="0" anchor="ct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Vision</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&amp; objectives​</a:t>
            </a:r>
          </a:p>
        </p:txBody>
      </p:sp>
      <p:sp>
        <p:nvSpPr>
          <p:cNvPr id="31" name="object 34">
            <a:hlinkClick r:id="" action="ppaction://noaction"/>
            <a:extLst>
              <a:ext uri="{FF2B5EF4-FFF2-40B4-BE49-F238E27FC236}">
                <a16:creationId xmlns:a16="http://schemas.microsoft.com/office/drawing/2014/main" id="{B9A80D8E-2B2E-8D95-027D-E4F2F1176DC7}"/>
              </a:ext>
            </a:extLst>
          </p:cNvPr>
          <p:cNvSpPr/>
          <p:nvPr userDrawn="1"/>
        </p:nvSpPr>
        <p:spPr>
          <a:xfrm>
            <a:off x="2731507" y="0"/>
            <a:ext cx="1098782" cy="476250"/>
          </a:xfrm>
          <a:prstGeom prst="rect">
            <a:avLst/>
          </a:prstGeom>
          <a:solidFill>
            <a:srgbClr val="EFEEEB"/>
          </a:solidFill>
          <a:ln w="6350">
            <a:noFill/>
          </a:ln>
        </p:spPr>
        <p:txBody>
          <a:bodyPr wrap="square" lIns="288000" tIns="0" rIns="0" bIns="0" rtlCol="0" anchor="ct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LR &amp; ​other</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Boehringer Ingelheim processes​</a:t>
            </a:r>
          </a:p>
        </p:txBody>
      </p:sp>
      <p:sp>
        <p:nvSpPr>
          <p:cNvPr id="36" name="object 34">
            <a:hlinkClick r:id="" action="ppaction://noaction"/>
            <a:extLst>
              <a:ext uri="{FF2B5EF4-FFF2-40B4-BE49-F238E27FC236}">
                <a16:creationId xmlns:a16="http://schemas.microsoft.com/office/drawing/2014/main" id="{E5E422C5-DA5B-8D47-D120-260568CB2019}"/>
              </a:ext>
            </a:extLst>
          </p:cNvPr>
          <p:cNvSpPr/>
          <p:nvPr userDrawn="1"/>
        </p:nvSpPr>
        <p:spPr>
          <a:xfrm>
            <a:off x="3857548" y="0"/>
            <a:ext cx="1098782" cy="476250"/>
          </a:xfrm>
          <a:prstGeom prst="rect">
            <a:avLst/>
          </a:prstGeom>
          <a:solidFill>
            <a:srgbClr val="EFEEEB"/>
          </a:solidFill>
          <a:ln w="6350">
            <a:noFill/>
          </a:ln>
        </p:spPr>
        <p:txBody>
          <a:bodyPr wrap="square" lIns="288000" tIns="0" rIns="0" bIns="0" rtlCol="0" anchor="ct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LR process ​roles</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&amp; responsibilities​</a:t>
            </a:r>
          </a:p>
        </p:txBody>
      </p:sp>
      <p:sp>
        <p:nvSpPr>
          <p:cNvPr id="37" name="object 34">
            <a:hlinkClick r:id="" action="ppaction://noaction"/>
            <a:extLst>
              <a:ext uri="{FF2B5EF4-FFF2-40B4-BE49-F238E27FC236}">
                <a16:creationId xmlns:a16="http://schemas.microsoft.com/office/drawing/2014/main" id="{6C7BEB55-8023-216C-74AE-C5498C81C379}"/>
              </a:ext>
            </a:extLst>
          </p:cNvPr>
          <p:cNvSpPr/>
          <p:nvPr userDrawn="1"/>
        </p:nvSpPr>
        <p:spPr>
          <a:xfrm>
            <a:off x="4983589" y="0"/>
            <a:ext cx="1098782" cy="476250"/>
          </a:xfrm>
          <a:prstGeom prst="rect">
            <a:avLst/>
          </a:prstGeom>
          <a:solidFill>
            <a:srgbClr val="EFEEEB"/>
          </a:solidFill>
          <a:ln w="6350">
            <a:noFill/>
          </a:ln>
        </p:spPr>
        <p:txBody>
          <a:bodyPr wrap="square" lIns="288000" tIns="0" rIns="0" bIns="0" rtlCol="0" anchor="ct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Setup launch teams in</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corporate</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TA &amp; OPUS​</a:t>
            </a:r>
          </a:p>
        </p:txBody>
      </p:sp>
      <p:sp>
        <p:nvSpPr>
          <p:cNvPr id="38" name="object 34">
            <a:hlinkClick r:id="" action="ppaction://noaction"/>
            <a:extLst>
              <a:ext uri="{FF2B5EF4-FFF2-40B4-BE49-F238E27FC236}">
                <a16:creationId xmlns:a16="http://schemas.microsoft.com/office/drawing/2014/main" id="{F7274F30-647A-B331-097E-1780D4B01FD3}"/>
              </a:ext>
            </a:extLst>
          </p:cNvPr>
          <p:cNvSpPr/>
          <p:nvPr userDrawn="1"/>
        </p:nvSpPr>
        <p:spPr>
          <a:xfrm>
            <a:off x="6109630" y="0"/>
            <a:ext cx="1098782" cy="476250"/>
          </a:xfrm>
          <a:prstGeom prst="rect">
            <a:avLst/>
          </a:prstGeom>
          <a:solidFill>
            <a:schemeClr val="tx2"/>
          </a:solidFill>
          <a:ln w="6350">
            <a:noFill/>
          </a:ln>
        </p:spPr>
        <p:txBody>
          <a:bodyPr wrap="square" lIns="288000" tIns="0" rIns="36000" bIns="0" rtlCol="0" anchor="ctr"/>
          <a:lstStyle/>
          <a:p>
            <a:pPr marL="12700" lvl="0">
              <a:lnSpc>
                <a:spcPct val="100000"/>
              </a:lnSpc>
              <a:spcBef>
                <a:spcPts val="100"/>
              </a:spcBef>
            </a:pPr>
            <a:r>
              <a:rPr lang="en-GB" sz="700" b="1" spc="0" baseline="0">
                <a:solidFill>
                  <a:schemeClr val="accent1"/>
                </a:solidFill>
                <a:latin typeface="Boehringer Forward Text" panose="02000500000000020000" pitchFamily="2" charset="0"/>
                <a:cs typeface="BISans"/>
              </a:rPr>
              <a:t>LR roadmap​</a:t>
            </a:r>
          </a:p>
        </p:txBody>
      </p:sp>
      <p:sp>
        <p:nvSpPr>
          <p:cNvPr id="39" name="object 34">
            <a:hlinkClick r:id="" action="ppaction://noaction"/>
            <a:extLst>
              <a:ext uri="{FF2B5EF4-FFF2-40B4-BE49-F238E27FC236}">
                <a16:creationId xmlns:a16="http://schemas.microsoft.com/office/drawing/2014/main" id="{0C62440B-102A-2AAE-45FB-D41DC3AC8287}"/>
              </a:ext>
            </a:extLst>
          </p:cNvPr>
          <p:cNvSpPr/>
          <p:nvPr userDrawn="1"/>
        </p:nvSpPr>
        <p:spPr>
          <a:xfrm>
            <a:off x="9487753" y="0"/>
            <a:ext cx="1098782" cy="476250"/>
          </a:xfrm>
          <a:prstGeom prst="rect">
            <a:avLst/>
          </a:prstGeom>
          <a:solidFill>
            <a:srgbClr val="EFEEEB"/>
          </a:solidFill>
          <a:ln w="6350">
            <a:noFill/>
          </a:ln>
        </p:spPr>
        <p:txBody>
          <a:bodyPr wrap="square" lIns="288000" tIns="0" rIns="36000" bIns="0" rtlCol="0" anchor="ctr">
            <a:normAutofit/>
          </a:bodyP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Metrics of success​</a:t>
            </a:r>
          </a:p>
        </p:txBody>
      </p:sp>
      <p:grpSp>
        <p:nvGrpSpPr>
          <p:cNvPr id="57" name="Group 56">
            <a:extLst>
              <a:ext uri="{FF2B5EF4-FFF2-40B4-BE49-F238E27FC236}">
                <a16:creationId xmlns:a16="http://schemas.microsoft.com/office/drawing/2014/main" id="{68CEB4CB-45F1-67F7-B332-FEB1290F628B}"/>
              </a:ext>
            </a:extLst>
          </p:cNvPr>
          <p:cNvGrpSpPr/>
          <p:nvPr userDrawn="1"/>
        </p:nvGrpSpPr>
        <p:grpSpPr>
          <a:xfrm>
            <a:off x="544282" y="158858"/>
            <a:ext cx="158615" cy="158535"/>
            <a:chOff x="515356" y="35932"/>
            <a:chExt cx="158615" cy="158535"/>
          </a:xfrm>
          <a:solidFill>
            <a:schemeClr val="accent1"/>
          </a:solidFill>
        </p:grpSpPr>
        <p:sp>
          <p:nvSpPr>
            <p:cNvPr id="71" name="Freeform: Shape 70">
              <a:extLst>
                <a:ext uri="{FF2B5EF4-FFF2-40B4-BE49-F238E27FC236}">
                  <a16:creationId xmlns:a16="http://schemas.microsoft.com/office/drawing/2014/main" id="{A8BFFF01-614B-9BDC-3F1C-1FDDAAFD2DB1}"/>
                </a:ext>
              </a:extLst>
            </p:cNvPr>
            <p:cNvSpPr/>
            <p:nvPr/>
          </p:nvSpPr>
          <p:spPr>
            <a:xfrm>
              <a:off x="566880" y="79529"/>
              <a:ext cx="43597" cy="63414"/>
            </a:xfrm>
            <a:custGeom>
              <a:avLst/>
              <a:gdLst>
                <a:gd name="connsiteX0" fmla="*/ 43597 w 43597"/>
                <a:gd name="connsiteY0" fmla="*/ 46372 h 63414"/>
                <a:gd name="connsiteX1" fmla="*/ 33847 w 43597"/>
                <a:gd name="connsiteY1" fmla="*/ 31707 h 63414"/>
                <a:gd name="connsiteX2" fmla="*/ 13555 w 43597"/>
                <a:gd name="connsiteY2" fmla="*/ 31707 h 63414"/>
                <a:gd name="connsiteX3" fmla="*/ 7927 w 43597"/>
                <a:gd name="connsiteY3" fmla="*/ 26079 h 63414"/>
                <a:gd name="connsiteX4" fmla="*/ 7927 w 43597"/>
                <a:gd name="connsiteY4" fmla="*/ 15854 h 63414"/>
                <a:gd name="connsiteX5" fmla="*/ 0 w 43597"/>
                <a:gd name="connsiteY5" fmla="*/ 15854 h 63414"/>
                <a:gd name="connsiteX6" fmla="*/ 0 w 43597"/>
                <a:gd name="connsiteY6" fmla="*/ 29408 h 63414"/>
                <a:gd name="connsiteX7" fmla="*/ 10226 w 43597"/>
                <a:gd name="connsiteY7" fmla="*/ 39634 h 63414"/>
                <a:gd name="connsiteX8" fmla="*/ 29567 w 43597"/>
                <a:gd name="connsiteY8" fmla="*/ 39634 h 63414"/>
                <a:gd name="connsiteX9" fmla="*/ 35671 w 43597"/>
                <a:gd name="connsiteY9" fmla="*/ 48750 h 63414"/>
                <a:gd name="connsiteX10" fmla="*/ 35671 w 43597"/>
                <a:gd name="connsiteY10" fmla="*/ 63414 h 63414"/>
                <a:gd name="connsiteX11" fmla="*/ 43597 w 43597"/>
                <a:gd name="connsiteY11" fmla="*/ 63414 h 63414"/>
                <a:gd name="connsiteX12" fmla="*/ 43597 w 43597"/>
                <a:gd name="connsiteY12" fmla="*/ 46372 h 63414"/>
                <a:gd name="connsiteX13" fmla="*/ 7927 w 43597"/>
                <a:gd name="connsiteY13" fmla="*/ 15854 h 63414"/>
                <a:gd name="connsiteX14" fmla="*/ 27744 w 43597"/>
                <a:gd name="connsiteY14" fmla="*/ 7927 h 63414"/>
                <a:gd name="connsiteX15" fmla="*/ 27744 w 43597"/>
                <a:gd name="connsiteY15" fmla="*/ 0 h 63414"/>
                <a:gd name="connsiteX16" fmla="*/ 7927 w 43597"/>
                <a:gd name="connsiteY16" fmla="*/ 7927 h 63414"/>
                <a:gd name="connsiteX17" fmla="*/ 7927 w 43597"/>
                <a:gd name="connsiteY17" fmla="*/ 15854 h 63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597" h="63414">
                  <a:moveTo>
                    <a:pt x="43597" y="46372"/>
                  </a:moveTo>
                  <a:lnTo>
                    <a:pt x="33847" y="31707"/>
                  </a:lnTo>
                  <a:lnTo>
                    <a:pt x="13555" y="31707"/>
                  </a:lnTo>
                  <a:lnTo>
                    <a:pt x="7927" y="26079"/>
                  </a:lnTo>
                  <a:lnTo>
                    <a:pt x="7927" y="15854"/>
                  </a:lnTo>
                  <a:lnTo>
                    <a:pt x="0" y="15854"/>
                  </a:lnTo>
                  <a:lnTo>
                    <a:pt x="0" y="29408"/>
                  </a:lnTo>
                  <a:lnTo>
                    <a:pt x="10226" y="39634"/>
                  </a:lnTo>
                  <a:lnTo>
                    <a:pt x="29567" y="39634"/>
                  </a:lnTo>
                  <a:lnTo>
                    <a:pt x="35671" y="48750"/>
                  </a:lnTo>
                  <a:lnTo>
                    <a:pt x="35671" y="63414"/>
                  </a:lnTo>
                  <a:lnTo>
                    <a:pt x="43597" y="63414"/>
                  </a:lnTo>
                  <a:lnTo>
                    <a:pt x="43597" y="46372"/>
                  </a:lnTo>
                  <a:close/>
                  <a:moveTo>
                    <a:pt x="7927" y="15854"/>
                  </a:moveTo>
                  <a:lnTo>
                    <a:pt x="27744" y="7927"/>
                  </a:lnTo>
                  <a:lnTo>
                    <a:pt x="27744" y="0"/>
                  </a:lnTo>
                  <a:lnTo>
                    <a:pt x="7927" y="7927"/>
                  </a:lnTo>
                  <a:lnTo>
                    <a:pt x="7927" y="15854"/>
                  </a:lnTo>
                  <a:close/>
                </a:path>
              </a:pathLst>
            </a:custGeom>
            <a:grpFill/>
            <a:ln w="7541"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3876478-D943-210D-6278-8531066421C8}"/>
                </a:ext>
              </a:extLst>
            </p:cNvPr>
            <p:cNvSpPr/>
            <p:nvPr/>
          </p:nvSpPr>
          <p:spPr>
            <a:xfrm>
              <a:off x="594624" y="91420"/>
              <a:ext cx="39633" cy="39633"/>
            </a:xfrm>
            <a:custGeom>
              <a:avLst/>
              <a:gdLst>
                <a:gd name="connsiteX0" fmla="*/ 39634 w 39633"/>
                <a:gd name="connsiteY0" fmla="*/ 23780 h 39633"/>
                <a:gd name="connsiteX1" fmla="*/ 31707 w 39633"/>
                <a:gd name="connsiteY1" fmla="*/ 23780 h 39633"/>
                <a:gd name="connsiteX2" fmla="*/ 31707 w 39633"/>
                <a:gd name="connsiteY2" fmla="*/ 39634 h 39633"/>
                <a:gd name="connsiteX3" fmla="*/ 39634 w 39633"/>
                <a:gd name="connsiteY3" fmla="*/ 39634 h 39633"/>
                <a:gd name="connsiteX4" fmla="*/ 39634 w 39633"/>
                <a:gd name="connsiteY4" fmla="*/ 23780 h 39633"/>
                <a:gd name="connsiteX5" fmla="*/ 7927 w 39633"/>
                <a:gd name="connsiteY5" fmla="*/ 0 h 39633"/>
                <a:gd name="connsiteX6" fmla="*/ 0 w 39633"/>
                <a:gd name="connsiteY6" fmla="*/ 0 h 39633"/>
                <a:gd name="connsiteX7" fmla="*/ 0 w 39633"/>
                <a:gd name="connsiteY7" fmla="*/ 7927 h 39633"/>
                <a:gd name="connsiteX8" fmla="*/ 7927 w 39633"/>
                <a:gd name="connsiteY8" fmla="*/ 7927 h 39633"/>
                <a:gd name="connsiteX9" fmla="*/ 7927 w 39633"/>
                <a:gd name="connsiteY9" fmla="*/ 0 h 39633"/>
                <a:gd name="connsiteX10" fmla="*/ 15854 w 39633"/>
                <a:gd name="connsiteY10" fmla="*/ 7927 h 39633"/>
                <a:gd name="connsiteX11" fmla="*/ 7927 w 39633"/>
                <a:gd name="connsiteY11" fmla="*/ 7927 h 39633"/>
                <a:gd name="connsiteX12" fmla="*/ 7927 w 39633"/>
                <a:gd name="connsiteY12" fmla="*/ 15854 h 39633"/>
                <a:gd name="connsiteX13" fmla="*/ 15854 w 39633"/>
                <a:gd name="connsiteY13" fmla="*/ 15854 h 39633"/>
                <a:gd name="connsiteX14" fmla="*/ 15854 w 39633"/>
                <a:gd name="connsiteY14" fmla="*/ 7927 h 3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633" h="39633">
                  <a:moveTo>
                    <a:pt x="39634" y="23780"/>
                  </a:moveTo>
                  <a:lnTo>
                    <a:pt x="31707" y="23780"/>
                  </a:lnTo>
                  <a:lnTo>
                    <a:pt x="31707" y="39634"/>
                  </a:lnTo>
                  <a:lnTo>
                    <a:pt x="39634" y="39634"/>
                  </a:lnTo>
                  <a:lnTo>
                    <a:pt x="39634" y="23780"/>
                  </a:lnTo>
                  <a:close/>
                  <a:moveTo>
                    <a:pt x="7927" y="0"/>
                  </a:moveTo>
                  <a:lnTo>
                    <a:pt x="0" y="0"/>
                  </a:lnTo>
                  <a:lnTo>
                    <a:pt x="0" y="7927"/>
                  </a:lnTo>
                  <a:lnTo>
                    <a:pt x="7927" y="7927"/>
                  </a:lnTo>
                  <a:lnTo>
                    <a:pt x="7927" y="0"/>
                  </a:lnTo>
                  <a:close/>
                  <a:moveTo>
                    <a:pt x="15854" y="7927"/>
                  </a:moveTo>
                  <a:lnTo>
                    <a:pt x="7927" y="7927"/>
                  </a:lnTo>
                  <a:lnTo>
                    <a:pt x="7927" y="15854"/>
                  </a:lnTo>
                  <a:lnTo>
                    <a:pt x="15854" y="15854"/>
                  </a:lnTo>
                  <a:lnTo>
                    <a:pt x="15854" y="7927"/>
                  </a:lnTo>
                  <a:close/>
                </a:path>
              </a:pathLst>
            </a:custGeom>
            <a:grpFill/>
            <a:ln w="7541"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BDFC8D67-B5C1-7BB9-9297-E5D0D4BFEEA1}"/>
                </a:ext>
              </a:extLst>
            </p:cNvPr>
            <p:cNvSpPr/>
            <p:nvPr/>
          </p:nvSpPr>
          <p:spPr>
            <a:xfrm>
              <a:off x="515356" y="35932"/>
              <a:ext cx="158615" cy="158535"/>
            </a:xfrm>
            <a:custGeom>
              <a:avLst/>
              <a:gdLst>
                <a:gd name="connsiteX0" fmla="*/ 79268 w 158615"/>
                <a:gd name="connsiteY0" fmla="*/ 0 h 158535"/>
                <a:gd name="connsiteX1" fmla="*/ 0 w 158615"/>
                <a:gd name="connsiteY1" fmla="*/ 79268 h 158535"/>
                <a:gd name="connsiteX2" fmla="*/ 79268 w 158615"/>
                <a:gd name="connsiteY2" fmla="*/ 158536 h 158535"/>
                <a:gd name="connsiteX3" fmla="*/ 142603 w 158615"/>
                <a:gd name="connsiteY3" fmla="*/ 126829 h 158535"/>
                <a:gd name="connsiteX4" fmla="*/ 142682 w 158615"/>
                <a:gd name="connsiteY4" fmla="*/ 126829 h 158535"/>
                <a:gd name="connsiteX5" fmla="*/ 142682 w 158615"/>
                <a:gd name="connsiteY5" fmla="*/ 126749 h 158535"/>
                <a:gd name="connsiteX6" fmla="*/ 158615 w 158615"/>
                <a:gd name="connsiteY6" fmla="*/ 79268 h 158535"/>
                <a:gd name="connsiteX7" fmla="*/ 79268 w 158615"/>
                <a:gd name="connsiteY7" fmla="*/ 0 h 158535"/>
                <a:gd name="connsiteX8" fmla="*/ 138640 w 158615"/>
                <a:gd name="connsiteY8" fmla="*/ 118743 h 158535"/>
                <a:gd name="connsiteX9" fmla="*/ 126829 w 158615"/>
                <a:gd name="connsiteY9" fmla="*/ 95122 h 158535"/>
                <a:gd name="connsiteX10" fmla="*/ 118902 w 158615"/>
                <a:gd name="connsiteY10" fmla="*/ 95122 h 158535"/>
                <a:gd name="connsiteX11" fmla="*/ 126829 w 158615"/>
                <a:gd name="connsiteY11" fmla="*/ 110975 h 158535"/>
                <a:gd name="connsiteX12" fmla="*/ 133884 w 158615"/>
                <a:gd name="connsiteY12" fmla="*/ 125085 h 158535"/>
                <a:gd name="connsiteX13" fmla="*/ 79268 w 158615"/>
                <a:gd name="connsiteY13" fmla="*/ 150609 h 158535"/>
                <a:gd name="connsiteX14" fmla="*/ 79268 w 158615"/>
                <a:gd name="connsiteY14" fmla="*/ 126829 h 158535"/>
                <a:gd name="connsiteX15" fmla="*/ 87195 w 158615"/>
                <a:gd name="connsiteY15" fmla="*/ 107012 h 158535"/>
                <a:gd name="connsiteX16" fmla="*/ 79189 w 158615"/>
                <a:gd name="connsiteY16" fmla="*/ 107012 h 158535"/>
                <a:gd name="connsiteX17" fmla="*/ 71341 w 158615"/>
                <a:gd name="connsiteY17" fmla="*/ 126829 h 158535"/>
                <a:gd name="connsiteX18" fmla="*/ 71341 w 158615"/>
                <a:gd name="connsiteY18" fmla="*/ 150133 h 158535"/>
                <a:gd name="connsiteX19" fmla="*/ 63018 w 158615"/>
                <a:gd name="connsiteY19" fmla="*/ 148627 h 158535"/>
                <a:gd name="connsiteX20" fmla="*/ 43914 w 158615"/>
                <a:gd name="connsiteY20" fmla="*/ 99006 h 158535"/>
                <a:gd name="connsiteX21" fmla="*/ 35433 w 158615"/>
                <a:gd name="connsiteY21" fmla="*/ 99006 h 158535"/>
                <a:gd name="connsiteX22" fmla="*/ 53347 w 158615"/>
                <a:gd name="connsiteY22" fmla="*/ 145615 h 158535"/>
                <a:gd name="connsiteX23" fmla="*/ 7927 w 158615"/>
                <a:gd name="connsiteY23" fmla="*/ 79189 h 158535"/>
                <a:gd name="connsiteX24" fmla="*/ 18628 w 158615"/>
                <a:gd name="connsiteY24" fmla="*/ 41695 h 158535"/>
                <a:gd name="connsiteX25" fmla="*/ 31628 w 158615"/>
                <a:gd name="connsiteY25" fmla="*/ 53268 h 158535"/>
                <a:gd name="connsiteX26" fmla="*/ 31628 w 158615"/>
                <a:gd name="connsiteY26" fmla="*/ 67298 h 158535"/>
                <a:gd name="connsiteX27" fmla="*/ 22908 w 158615"/>
                <a:gd name="connsiteY27" fmla="*/ 67298 h 158535"/>
                <a:gd name="connsiteX28" fmla="*/ 29250 w 158615"/>
                <a:gd name="connsiteY28" fmla="*/ 83152 h 158535"/>
                <a:gd name="connsiteX29" fmla="*/ 20530 w 158615"/>
                <a:gd name="connsiteY29" fmla="*/ 83152 h 158535"/>
                <a:gd name="connsiteX30" fmla="*/ 26793 w 158615"/>
                <a:gd name="connsiteY30" fmla="*/ 99006 h 158535"/>
                <a:gd name="connsiteX31" fmla="*/ 35353 w 158615"/>
                <a:gd name="connsiteY31" fmla="*/ 99006 h 158535"/>
                <a:gd name="connsiteX32" fmla="*/ 29329 w 158615"/>
                <a:gd name="connsiteY32" fmla="*/ 83152 h 158535"/>
                <a:gd name="connsiteX33" fmla="*/ 37732 w 158615"/>
                <a:gd name="connsiteY33" fmla="*/ 83152 h 158535"/>
                <a:gd name="connsiteX34" fmla="*/ 31628 w 158615"/>
                <a:gd name="connsiteY34" fmla="*/ 67298 h 158535"/>
                <a:gd name="connsiteX35" fmla="*/ 39555 w 158615"/>
                <a:gd name="connsiteY35" fmla="*/ 67298 h 158535"/>
                <a:gd name="connsiteX36" fmla="*/ 39555 w 158615"/>
                <a:gd name="connsiteY36" fmla="*/ 49622 h 158535"/>
                <a:gd name="connsiteX37" fmla="*/ 23225 w 158615"/>
                <a:gd name="connsiteY37" fmla="*/ 35116 h 158535"/>
                <a:gd name="connsiteX38" fmla="*/ 63414 w 158615"/>
                <a:gd name="connsiteY38" fmla="*/ 9671 h 158535"/>
                <a:gd name="connsiteX39" fmla="*/ 63414 w 158615"/>
                <a:gd name="connsiteY39" fmla="*/ 17439 h 158535"/>
                <a:gd name="connsiteX40" fmla="*/ 79268 w 158615"/>
                <a:gd name="connsiteY40" fmla="*/ 33293 h 158535"/>
                <a:gd name="connsiteX41" fmla="*/ 79268 w 158615"/>
                <a:gd name="connsiteY41" fmla="*/ 43518 h 158535"/>
                <a:gd name="connsiteX42" fmla="*/ 87195 w 158615"/>
                <a:gd name="connsiteY42" fmla="*/ 43518 h 158535"/>
                <a:gd name="connsiteX43" fmla="*/ 87195 w 158615"/>
                <a:gd name="connsiteY43" fmla="*/ 29963 h 158535"/>
                <a:gd name="connsiteX44" fmla="*/ 71341 w 158615"/>
                <a:gd name="connsiteY44" fmla="*/ 14110 h 158535"/>
                <a:gd name="connsiteX45" fmla="*/ 71341 w 158615"/>
                <a:gd name="connsiteY45" fmla="*/ 8323 h 158535"/>
                <a:gd name="connsiteX46" fmla="*/ 79268 w 158615"/>
                <a:gd name="connsiteY46" fmla="*/ 7848 h 158535"/>
                <a:gd name="connsiteX47" fmla="*/ 146170 w 158615"/>
                <a:gd name="connsiteY47" fmla="*/ 54536 h 158535"/>
                <a:gd name="connsiteX48" fmla="*/ 118902 w 158615"/>
                <a:gd name="connsiteY48" fmla="*/ 70311 h 158535"/>
                <a:gd name="connsiteX49" fmla="*/ 118902 w 158615"/>
                <a:gd name="connsiteY49" fmla="*/ 79189 h 158535"/>
                <a:gd name="connsiteX50" fmla="*/ 148310 w 158615"/>
                <a:gd name="connsiteY50" fmla="*/ 61512 h 158535"/>
                <a:gd name="connsiteX51" fmla="*/ 150609 w 158615"/>
                <a:gd name="connsiteY51" fmla="*/ 79189 h 158535"/>
                <a:gd name="connsiteX52" fmla="*/ 138640 w 158615"/>
                <a:gd name="connsiteY52" fmla="*/ 118664 h 158535"/>
                <a:gd name="connsiteX53" fmla="*/ 138640 w 158615"/>
                <a:gd name="connsiteY53" fmla="*/ 118743 h 15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58615" h="158535">
                  <a:moveTo>
                    <a:pt x="79268" y="0"/>
                  </a:moveTo>
                  <a:cubicBezTo>
                    <a:pt x="35512" y="0"/>
                    <a:pt x="0" y="35512"/>
                    <a:pt x="0" y="79268"/>
                  </a:cubicBezTo>
                  <a:cubicBezTo>
                    <a:pt x="0" y="123024"/>
                    <a:pt x="35512" y="158536"/>
                    <a:pt x="79268" y="158536"/>
                  </a:cubicBezTo>
                  <a:cubicBezTo>
                    <a:pt x="105189" y="158536"/>
                    <a:pt x="128097" y="146012"/>
                    <a:pt x="142603" y="126829"/>
                  </a:cubicBezTo>
                  <a:lnTo>
                    <a:pt x="142682" y="126829"/>
                  </a:lnTo>
                  <a:lnTo>
                    <a:pt x="142682" y="126749"/>
                  </a:lnTo>
                  <a:cubicBezTo>
                    <a:pt x="153001" y="113068"/>
                    <a:pt x="158592" y="96404"/>
                    <a:pt x="158615" y="79268"/>
                  </a:cubicBezTo>
                  <a:cubicBezTo>
                    <a:pt x="158536" y="35512"/>
                    <a:pt x="123024" y="0"/>
                    <a:pt x="79268" y="0"/>
                  </a:cubicBezTo>
                  <a:close/>
                  <a:moveTo>
                    <a:pt x="138640" y="118743"/>
                  </a:moveTo>
                  <a:lnTo>
                    <a:pt x="126829" y="95122"/>
                  </a:lnTo>
                  <a:lnTo>
                    <a:pt x="118902" y="95122"/>
                  </a:lnTo>
                  <a:cubicBezTo>
                    <a:pt x="120566" y="98371"/>
                    <a:pt x="123658" y="104713"/>
                    <a:pt x="126829" y="110975"/>
                  </a:cubicBezTo>
                  <a:lnTo>
                    <a:pt x="133884" y="125085"/>
                  </a:lnTo>
                  <a:cubicBezTo>
                    <a:pt x="120352" y="141255"/>
                    <a:pt x="100353" y="150601"/>
                    <a:pt x="79268" y="150609"/>
                  </a:cubicBezTo>
                  <a:lnTo>
                    <a:pt x="79268" y="126829"/>
                  </a:lnTo>
                  <a:lnTo>
                    <a:pt x="87195" y="107012"/>
                  </a:lnTo>
                  <a:lnTo>
                    <a:pt x="79189" y="107012"/>
                  </a:lnTo>
                  <a:lnTo>
                    <a:pt x="71341" y="126829"/>
                  </a:lnTo>
                  <a:lnTo>
                    <a:pt x="71341" y="150133"/>
                  </a:lnTo>
                  <a:cubicBezTo>
                    <a:pt x="68539" y="149799"/>
                    <a:pt x="65760" y="149296"/>
                    <a:pt x="63018" y="148627"/>
                  </a:cubicBezTo>
                  <a:lnTo>
                    <a:pt x="43914" y="99006"/>
                  </a:lnTo>
                  <a:lnTo>
                    <a:pt x="35433" y="99006"/>
                  </a:lnTo>
                  <a:lnTo>
                    <a:pt x="53347" y="145615"/>
                  </a:lnTo>
                  <a:cubicBezTo>
                    <a:pt x="26793" y="135231"/>
                    <a:pt x="7927" y="109469"/>
                    <a:pt x="7927" y="79189"/>
                  </a:cubicBezTo>
                  <a:cubicBezTo>
                    <a:pt x="7927" y="65396"/>
                    <a:pt x="11890" y="52634"/>
                    <a:pt x="18628" y="41695"/>
                  </a:cubicBezTo>
                  <a:cubicBezTo>
                    <a:pt x="20134" y="43042"/>
                    <a:pt x="28695" y="50731"/>
                    <a:pt x="31628" y="53268"/>
                  </a:cubicBezTo>
                  <a:lnTo>
                    <a:pt x="31628" y="67298"/>
                  </a:lnTo>
                  <a:lnTo>
                    <a:pt x="22908" y="67298"/>
                  </a:lnTo>
                  <a:lnTo>
                    <a:pt x="29250" y="83152"/>
                  </a:lnTo>
                  <a:lnTo>
                    <a:pt x="20530" y="83152"/>
                  </a:lnTo>
                  <a:lnTo>
                    <a:pt x="26793" y="99006"/>
                  </a:lnTo>
                  <a:lnTo>
                    <a:pt x="35353" y="99006"/>
                  </a:lnTo>
                  <a:lnTo>
                    <a:pt x="29329" y="83152"/>
                  </a:lnTo>
                  <a:lnTo>
                    <a:pt x="37732" y="83152"/>
                  </a:lnTo>
                  <a:lnTo>
                    <a:pt x="31628" y="67298"/>
                  </a:lnTo>
                  <a:lnTo>
                    <a:pt x="39555" y="67298"/>
                  </a:lnTo>
                  <a:lnTo>
                    <a:pt x="39555" y="49622"/>
                  </a:lnTo>
                  <a:cubicBezTo>
                    <a:pt x="39555" y="49622"/>
                    <a:pt x="24890" y="36622"/>
                    <a:pt x="23225" y="35116"/>
                  </a:cubicBezTo>
                  <a:cubicBezTo>
                    <a:pt x="33304" y="22273"/>
                    <a:pt x="47495" y="13288"/>
                    <a:pt x="63414" y="9671"/>
                  </a:cubicBezTo>
                  <a:lnTo>
                    <a:pt x="63414" y="17439"/>
                  </a:lnTo>
                  <a:lnTo>
                    <a:pt x="79268" y="33293"/>
                  </a:lnTo>
                  <a:lnTo>
                    <a:pt x="79268" y="43518"/>
                  </a:lnTo>
                  <a:lnTo>
                    <a:pt x="87195" y="43518"/>
                  </a:lnTo>
                  <a:lnTo>
                    <a:pt x="87195" y="29963"/>
                  </a:lnTo>
                  <a:lnTo>
                    <a:pt x="71341" y="14110"/>
                  </a:lnTo>
                  <a:lnTo>
                    <a:pt x="71341" y="8323"/>
                  </a:lnTo>
                  <a:cubicBezTo>
                    <a:pt x="73957" y="8006"/>
                    <a:pt x="76573" y="7848"/>
                    <a:pt x="79268" y="7848"/>
                  </a:cubicBezTo>
                  <a:cubicBezTo>
                    <a:pt x="110024" y="7848"/>
                    <a:pt x="136103" y="27347"/>
                    <a:pt x="146170" y="54536"/>
                  </a:cubicBezTo>
                  <a:lnTo>
                    <a:pt x="118902" y="70311"/>
                  </a:lnTo>
                  <a:lnTo>
                    <a:pt x="118902" y="79189"/>
                  </a:lnTo>
                  <a:lnTo>
                    <a:pt x="148310" y="61512"/>
                  </a:lnTo>
                  <a:cubicBezTo>
                    <a:pt x="149737" y="67219"/>
                    <a:pt x="150609" y="73085"/>
                    <a:pt x="150609" y="79189"/>
                  </a:cubicBezTo>
                  <a:cubicBezTo>
                    <a:pt x="150609" y="93774"/>
                    <a:pt x="146170" y="107408"/>
                    <a:pt x="138640" y="118664"/>
                  </a:cubicBezTo>
                  <a:lnTo>
                    <a:pt x="138640" y="118743"/>
                  </a:lnTo>
                  <a:close/>
                </a:path>
              </a:pathLst>
            </a:custGeom>
            <a:grpFill/>
            <a:ln w="7541" cap="flat">
              <a:noFill/>
              <a:prstDash val="solid"/>
              <a:miter/>
            </a:ln>
          </p:spPr>
          <p:txBody>
            <a:bodyPr rtlCol="0" anchor="ctr"/>
            <a:lstStyle/>
            <a:p>
              <a:endParaRPr lang="en-US"/>
            </a:p>
          </p:txBody>
        </p:sp>
      </p:grpSp>
      <p:pic>
        <p:nvPicPr>
          <p:cNvPr id="58" name="Graphic 57">
            <a:hlinkClick r:id="" action="ppaction://noaction"/>
            <a:extLst>
              <a:ext uri="{FF2B5EF4-FFF2-40B4-BE49-F238E27FC236}">
                <a16:creationId xmlns:a16="http://schemas.microsoft.com/office/drawing/2014/main" id="{66B8993D-43CB-E13B-63EA-F35F1170E3CC}"/>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671143" y="162182"/>
            <a:ext cx="151886" cy="151886"/>
          </a:xfrm>
          <a:prstGeom prst="rect">
            <a:avLst/>
          </a:prstGeom>
        </p:spPr>
      </p:pic>
      <p:sp>
        <p:nvSpPr>
          <p:cNvPr id="59" name="Graphic 30">
            <a:extLst>
              <a:ext uri="{FF2B5EF4-FFF2-40B4-BE49-F238E27FC236}">
                <a16:creationId xmlns:a16="http://schemas.microsoft.com/office/drawing/2014/main" id="{CDA087CC-6694-28E5-AEC4-82B75CDBC45D}"/>
              </a:ext>
            </a:extLst>
          </p:cNvPr>
          <p:cNvSpPr/>
          <p:nvPr userDrawn="1"/>
        </p:nvSpPr>
        <p:spPr>
          <a:xfrm>
            <a:off x="2801186" y="159969"/>
            <a:ext cx="156312" cy="156312"/>
          </a:xfrm>
          <a:custGeom>
            <a:avLst/>
            <a:gdLst>
              <a:gd name="connsiteX0" fmla="*/ 103232 w 171450"/>
              <a:gd name="connsiteY0" fmla="*/ 0 h 171450"/>
              <a:gd name="connsiteX1" fmla="*/ 68218 w 171450"/>
              <a:gd name="connsiteY1" fmla="*/ 0 h 171450"/>
              <a:gd name="connsiteX2" fmla="*/ 59312 w 171450"/>
              <a:gd name="connsiteY2" fmla="*/ 22241 h 171450"/>
              <a:gd name="connsiteX3" fmla="*/ 37509 w 171450"/>
              <a:gd name="connsiteY3" fmla="*/ 12716 h 171450"/>
              <a:gd name="connsiteX4" fmla="*/ 12706 w 171450"/>
              <a:gd name="connsiteY4" fmla="*/ 37509 h 171450"/>
              <a:gd name="connsiteX5" fmla="*/ 22241 w 171450"/>
              <a:gd name="connsiteY5" fmla="*/ 59322 h 171450"/>
              <a:gd name="connsiteX6" fmla="*/ 0 w 171450"/>
              <a:gd name="connsiteY6" fmla="*/ 68199 h 171450"/>
              <a:gd name="connsiteX7" fmla="*/ 0 w 171450"/>
              <a:gd name="connsiteY7" fmla="*/ 103222 h 171450"/>
              <a:gd name="connsiteX8" fmla="*/ 22241 w 171450"/>
              <a:gd name="connsiteY8" fmla="*/ 112128 h 171450"/>
              <a:gd name="connsiteX9" fmla="*/ 12716 w 171450"/>
              <a:gd name="connsiteY9" fmla="*/ 133941 h 171450"/>
              <a:gd name="connsiteX10" fmla="*/ 37509 w 171450"/>
              <a:gd name="connsiteY10" fmla="*/ 158734 h 171450"/>
              <a:gd name="connsiteX11" fmla="*/ 59322 w 171450"/>
              <a:gd name="connsiteY11" fmla="*/ 149200 h 171450"/>
              <a:gd name="connsiteX12" fmla="*/ 68199 w 171450"/>
              <a:gd name="connsiteY12" fmla="*/ 171450 h 171450"/>
              <a:gd name="connsiteX13" fmla="*/ 103251 w 171450"/>
              <a:gd name="connsiteY13" fmla="*/ 171450 h 171450"/>
              <a:gd name="connsiteX14" fmla="*/ 111928 w 171450"/>
              <a:gd name="connsiteY14" fmla="*/ 149285 h 171450"/>
              <a:gd name="connsiteX15" fmla="*/ 133950 w 171450"/>
              <a:gd name="connsiteY15" fmla="*/ 158725 h 171450"/>
              <a:gd name="connsiteX16" fmla="*/ 158734 w 171450"/>
              <a:gd name="connsiteY16" fmla="*/ 133941 h 171450"/>
              <a:gd name="connsiteX17" fmla="*/ 149200 w 171450"/>
              <a:gd name="connsiteY17" fmla="*/ 112128 h 171450"/>
              <a:gd name="connsiteX18" fmla="*/ 171450 w 171450"/>
              <a:gd name="connsiteY18" fmla="*/ 103241 h 171450"/>
              <a:gd name="connsiteX19" fmla="*/ 171450 w 171450"/>
              <a:gd name="connsiteY19" fmla="*/ 68218 h 171450"/>
              <a:gd name="connsiteX20" fmla="*/ 149209 w 171450"/>
              <a:gd name="connsiteY20" fmla="*/ 59322 h 171450"/>
              <a:gd name="connsiteX21" fmla="*/ 158734 w 171450"/>
              <a:gd name="connsiteY21" fmla="*/ 37519 h 171450"/>
              <a:gd name="connsiteX22" fmla="*/ 133941 w 171450"/>
              <a:gd name="connsiteY22" fmla="*/ 12716 h 171450"/>
              <a:gd name="connsiteX23" fmla="*/ 112128 w 171450"/>
              <a:gd name="connsiteY23" fmla="*/ 22250 h 171450"/>
              <a:gd name="connsiteX24" fmla="*/ 103251 w 171450"/>
              <a:gd name="connsiteY24" fmla="*/ 0 h 171450"/>
              <a:gd name="connsiteX25" fmla="*/ 69513 w 171450"/>
              <a:gd name="connsiteY25" fmla="*/ 22384 h 171450"/>
              <a:gd name="connsiteX26" fmla="*/ 74657 w 171450"/>
              <a:gd name="connsiteY26" fmla="*/ 9525 h 171450"/>
              <a:gd name="connsiteX27" fmla="*/ 96793 w 171450"/>
              <a:gd name="connsiteY27" fmla="*/ 9525 h 171450"/>
              <a:gd name="connsiteX28" fmla="*/ 101937 w 171450"/>
              <a:gd name="connsiteY28" fmla="*/ 22384 h 171450"/>
              <a:gd name="connsiteX29" fmla="*/ 117624 w 171450"/>
              <a:gd name="connsiteY29" fmla="*/ 30242 h 171450"/>
              <a:gd name="connsiteX30" fmla="*/ 131797 w 171450"/>
              <a:gd name="connsiteY30" fmla="*/ 24041 h 171450"/>
              <a:gd name="connsiteX31" fmla="*/ 147418 w 171450"/>
              <a:gd name="connsiteY31" fmla="*/ 39653 h 171450"/>
              <a:gd name="connsiteX32" fmla="*/ 141218 w 171450"/>
              <a:gd name="connsiteY32" fmla="*/ 53826 h 171450"/>
              <a:gd name="connsiteX33" fmla="*/ 149057 w 171450"/>
              <a:gd name="connsiteY33" fmla="*/ 69513 h 171450"/>
              <a:gd name="connsiteX34" fmla="*/ 161925 w 171450"/>
              <a:gd name="connsiteY34" fmla="*/ 74657 h 171450"/>
              <a:gd name="connsiteX35" fmla="*/ 161925 w 171450"/>
              <a:gd name="connsiteY35" fmla="*/ 96793 h 171450"/>
              <a:gd name="connsiteX36" fmla="*/ 149066 w 171450"/>
              <a:gd name="connsiteY36" fmla="*/ 101937 h 171450"/>
              <a:gd name="connsiteX37" fmla="*/ 141218 w 171450"/>
              <a:gd name="connsiteY37" fmla="*/ 117624 h 171450"/>
              <a:gd name="connsiteX38" fmla="*/ 147409 w 171450"/>
              <a:gd name="connsiteY38" fmla="*/ 131797 h 171450"/>
              <a:gd name="connsiteX39" fmla="*/ 131788 w 171450"/>
              <a:gd name="connsiteY39" fmla="*/ 147428 h 171450"/>
              <a:gd name="connsiteX40" fmla="*/ 117462 w 171450"/>
              <a:gd name="connsiteY40" fmla="*/ 141294 h 171450"/>
              <a:gd name="connsiteX41" fmla="*/ 101765 w 171450"/>
              <a:gd name="connsiteY41" fmla="*/ 149142 h 171450"/>
              <a:gd name="connsiteX42" fmla="*/ 96774 w 171450"/>
              <a:gd name="connsiteY42" fmla="*/ 161925 h 171450"/>
              <a:gd name="connsiteX43" fmla="*/ 74676 w 171450"/>
              <a:gd name="connsiteY43" fmla="*/ 161925 h 171450"/>
              <a:gd name="connsiteX44" fmla="*/ 69533 w 171450"/>
              <a:gd name="connsiteY44" fmla="*/ 149066 h 171450"/>
              <a:gd name="connsiteX45" fmla="*/ 53835 w 171450"/>
              <a:gd name="connsiteY45" fmla="*/ 141218 h 171450"/>
              <a:gd name="connsiteX46" fmla="*/ 39662 w 171450"/>
              <a:gd name="connsiteY46" fmla="*/ 147409 h 171450"/>
              <a:gd name="connsiteX47" fmla="*/ 24041 w 171450"/>
              <a:gd name="connsiteY47" fmla="*/ 131797 h 171450"/>
              <a:gd name="connsiteX48" fmla="*/ 30251 w 171450"/>
              <a:gd name="connsiteY48" fmla="*/ 117624 h 171450"/>
              <a:gd name="connsiteX49" fmla="*/ 22403 w 171450"/>
              <a:gd name="connsiteY49" fmla="*/ 101937 h 171450"/>
              <a:gd name="connsiteX50" fmla="*/ 9525 w 171450"/>
              <a:gd name="connsiteY50" fmla="*/ 96793 h 171450"/>
              <a:gd name="connsiteX51" fmla="*/ 9525 w 171450"/>
              <a:gd name="connsiteY51" fmla="*/ 74657 h 171450"/>
              <a:gd name="connsiteX52" fmla="*/ 22384 w 171450"/>
              <a:gd name="connsiteY52" fmla="*/ 69513 h 171450"/>
              <a:gd name="connsiteX53" fmla="*/ 30242 w 171450"/>
              <a:gd name="connsiteY53" fmla="*/ 53826 h 171450"/>
              <a:gd name="connsiteX54" fmla="*/ 24041 w 171450"/>
              <a:gd name="connsiteY54" fmla="*/ 39653 h 171450"/>
              <a:gd name="connsiteX55" fmla="*/ 39653 w 171450"/>
              <a:gd name="connsiteY55" fmla="*/ 24032 h 171450"/>
              <a:gd name="connsiteX56" fmla="*/ 53826 w 171450"/>
              <a:gd name="connsiteY56" fmla="*/ 30232 h 171450"/>
              <a:gd name="connsiteX57" fmla="*/ 69513 w 171450"/>
              <a:gd name="connsiteY57" fmla="*/ 22393 h 171450"/>
              <a:gd name="connsiteX58" fmla="*/ 114300 w 171450"/>
              <a:gd name="connsiteY58" fmla="*/ 85725 h 171450"/>
              <a:gd name="connsiteX59" fmla="*/ 85725 w 171450"/>
              <a:gd name="connsiteY59" fmla="*/ 114300 h 171450"/>
              <a:gd name="connsiteX60" fmla="*/ 57150 w 171450"/>
              <a:gd name="connsiteY60" fmla="*/ 85725 h 171450"/>
              <a:gd name="connsiteX61" fmla="*/ 85725 w 171450"/>
              <a:gd name="connsiteY61" fmla="*/ 57150 h 171450"/>
              <a:gd name="connsiteX62" fmla="*/ 114300 w 171450"/>
              <a:gd name="connsiteY62" fmla="*/ 85725 h 171450"/>
              <a:gd name="connsiteX63" fmla="*/ 123825 w 171450"/>
              <a:gd name="connsiteY63" fmla="*/ 85725 h 171450"/>
              <a:gd name="connsiteX64" fmla="*/ 85725 w 171450"/>
              <a:gd name="connsiteY64" fmla="*/ 123825 h 171450"/>
              <a:gd name="connsiteX65" fmla="*/ 47625 w 171450"/>
              <a:gd name="connsiteY65" fmla="*/ 85725 h 171450"/>
              <a:gd name="connsiteX66" fmla="*/ 85725 w 171450"/>
              <a:gd name="connsiteY66" fmla="*/ 47625 h 171450"/>
              <a:gd name="connsiteX67" fmla="*/ 123825 w 171450"/>
              <a:gd name="connsiteY67"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171450" h="171450">
                <a:moveTo>
                  <a:pt x="103232" y="0"/>
                </a:moveTo>
                <a:lnTo>
                  <a:pt x="68218" y="0"/>
                </a:lnTo>
                <a:lnTo>
                  <a:pt x="59312" y="22241"/>
                </a:lnTo>
                <a:lnTo>
                  <a:pt x="37509" y="12716"/>
                </a:lnTo>
                <a:lnTo>
                  <a:pt x="12706" y="37509"/>
                </a:lnTo>
                <a:lnTo>
                  <a:pt x="22241" y="59322"/>
                </a:lnTo>
                <a:lnTo>
                  <a:pt x="0" y="68199"/>
                </a:lnTo>
                <a:lnTo>
                  <a:pt x="0" y="103222"/>
                </a:lnTo>
                <a:lnTo>
                  <a:pt x="22241" y="112128"/>
                </a:lnTo>
                <a:lnTo>
                  <a:pt x="12716" y="133941"/>
                </a:lnTo>
                <a:lnTo>
                  <a:pt x="37509" y="158734"/>
                </a:lnTo>
                <a:lnTo>
                  <a:pt x="59322" y="149200"/>
                </a:lnTo>
                <a:lnTo>
                  <a:pt x="68199" y="171450"/>
                </a:lnTo>
                <a:lnTo>
                  <a:pt x="103251" y="171450"/>
                </a:lnTo>
                <a:lnTo>
                  <a:pt x="111928" y="149285"/>
                </a:lnTo>
                <a:lnTo>
                  <a:pt x="133950" y="158725"/>
                </a:lnTo>
                <a:lnTo>
                  <a:pt x="158734" y="133941"/>
                </a:lnTo>
                <a:lnTo>
                  <a:pt x="149200" y="112128"/>
                </a:lnTo>
                <a:lnTo>
                  <a:pt x="171450" y="103241"/>
                </a:lnTo>
                <a:lnTo>
                  <a:pt x="171450" y="68218"/>
                </a:lnTo>
                <a:lnTo>
                  <a:pt x="149209" y="59322"/>
                </a:lnTo>
                <a:lnTo>
                  <a:pt x="158734" y="37519"/>
                </a:lnTo>
                <a:lnTo>
                  <a:pt x="133941" y="12716"/>
                </a:lnTo>
                <a:lnTo>
                  <a:pt x="112128" y="22250"/>
                </a:lnTo>
                <a:lnTo>
                  <a:pt x="103251" y="0"/>
                </a:lnTo>
                <a:close/>
                <a:moveTo>
                  <a:pt x="69513" y="22384"/>
                </a:moveTo>
                <a:lnTo>
                  <a:pt x="74657" y="9525"/>
                </a:lnTo>
                <a:lnTo>
                  <a:pt x="96793" y="9525"/>
                </a:lnTo>
                <a:lnTo>
                  <a:pt x="101937" y="22384"/>
                </a:lnTo>
                <a:lnTo>
                  <a:pt x="117624" y="30242"/>
                </a:lnTo>
                <a:lnTo>
                  <a:pt x="131797" y="24041"/>
                </a:lnTo>
                <a:lnTo>
                  <a:pt x="147418" y="39653"/>
                </a:lnTo>
                <a:lnTo>
                  <a:pt x="141218" y="53826"/>
                </a:lnTo>
                <a:lnTo>
                  <a:pt x="149057" y="69513"/>
                </a:lnTo>
                <a:lnTo>
                  <a:pt x="161925" y="74657"/>
                </a:lnTo>
                <a:lnTo>
                  <a:pt x="161925" y="96793"/>
                </a:lnTo>
                <a:lnTo>
                  <a:pt x="149066" y="101937"/>
                </a:lnTo>
                <a:lnTo>
                  <a:pt x="141218" y="117624"/>
                </a:lnTo>
                <a:lnTo>
                  <a:pt x="147409" y="131797"/>
                </a:lnTo>
                <a:lnTo>
                  <a:pt x="131788" y="147428"/>
                </a:lnTo>
                <a:lnTo>
                  <a:pt x="117462" y="141294"/>
                </a:lnTo>
                <a:lnTo>
                  <a:pt x="101765" y="149142"/>
                </a:lnTo>
                <a:lnTo>
                  <a:pt x="96774" y="161925"/>
                </a:lnTo>
                <a:lnTo>
                  <a:pt x="74676" y="161925"/>
                </a:lnTo>
                <a:lnTo>
                  <a:pt x="69533" y="149066"/>
                </a:lnTo>
                <a:lnTo>
                  <a:pt x="53835" y="141218"/>
                </a:lnTo>
                <a:lnTo>
                  <a:pt x="39662" y="147409"/>
                </a:lnTo>
                <a:lnTo>
                  <a:pt x="24041" y="131797"/>
                </a:lnTo>
                <a:lnTo>
                  <a:pt x="30251" y="117624"/>
                </a:lnTo>
                <a:lnTo>
                  <a:pt x="22403" y="101937"/>
                </a:lnTo>
                <a:lnTo>
                  <a:pt x="9525" y="96793"/>
                </a:lnTo>
                <a:lnTo>
                  <a:pt x="9525" y="74657"/>
                </a:lnTo>
                <a:lnTo>
                  <a:pt x="22384" y="69513"/>
                </a:lnTo>
                <a:lnTo>
                  <a:pt x="30242" y="53826"/>
                </a:lnTo>
                <a:lnTo>
                  <a:pt x="24041" y="39653"/>
                </a:lnTo>
                <a:lnTo>
                  <a:pt x="39653" y="24032"/>
                </a:lnTo>
                <a:lnTo>
                  <a:pt x="53826" y="30232"/>
                </a:lnTo>
                <a:lnTo>
                  <a:pt x="69513" y="22393"/>
                </a:lnTo>
                <a:close/>
                <a:moveTo>
                  <a:pt x="114300" y="85725"/>
                </a:moveTo>
                <a:cubicBezTo>
                  <a:pt x="114300" y="101507"/>
                  <a:pt x="101507" y="114300"/>
                  <a:pt x="85725" y="114300"/>
                </a:cubicBezTo>
                <a:cubicBezTo>
                  <a:pt x="69943" y="114300"/>
                  <a:pt x="57150" y="101507"/>
                  <a:pt x="57150" y="85725"/>
                </a:cubicBezTo>
                <a:cubicBezTo>
                  <a:pt x="57150" y="69943"/>
                  <a:pt x="69943" y="57150"/>
                  <a:pt x="85725" y="57150"/>
                </a:cubicBezTo>
                <a:cubicBezTo>
                  <a:pt x="101507" y="57150"/>
                  <a:pt x="114300" y="69943"/>
                  <a:pt x="114300" y="85725"/>
                </a:cubicBezTo>
                <a:close/>
                <a:moveTo>
                  <a:pt x="123825" y="85725"/>
                </a:moveTo>
                <a:cubicBezTo>
                  <a:pt x="123825" y="106767"/>
                  <a:pt x="106767" y="123825"/>
                  <a:pt x="85725" y="123825"/>
                </a:cubicBezTo>
                <a:cubicBezTo>
                  <a:pt x="64683" y="123825"/>
                  <a:pt x="47625" y="106767"/>
                  <a:pt x="47625" y="85725"/>
                </a:cubicBezTo>
                <a:cubicBezTo>
                  <a:pt x="47625" y="64683"/>
                  <a:pt x="64683" y="47625"/>
                  <a:pt x="85725" y="47625"/>
                </a:cubicBezTo>
                <a:cubicBezTo>
                  <a:pt x="106767" y="47625"/>
                  <a:pt x="123825" y="64683"/>
                  <a:pt x="123825" y="85725"/>
                </a:cubicBezTo>
                <a:close/>
              </a:path>
            </a:pathLst>
          </a:custGeom>
          <a:solidFill>
            <a:srgbClr val="08312A"/>
          </a:solidFill>
          <a:ln w="9525" cap="flat">
            <a:noFill/>
            <a:prstDash val="solid"/>
            <a:miter/>
          </a:ln>
        </p:spPr>
        <p:txBody>
          <a:bodyPr rtlCol="0" anchor="ctr"/>
          <a:lstStyle/>
          <a:p>
            <a:endParaRPr lang="en-US"/>
          </a:p>
        </p:txBody>
      </p:sp>
      <p:sp>
        <p:nvSpPr>
          <p:cNvPr id="60" name="Graphic 37">
            <a:extLst>
              <a:ext uri="{FF2B5EF4-FFF2-40B4-BE49-F238E27FC236}">
                <a16:creationId xmlns:a16="http://schemas.microsoft.com/office/drawing/2014/main" id="{2C5B3D12-0CD0-4DC1-F522-DFE0F30F1986}"/>
              </a:ext>
            </a:extLst>
          </p:cNvPr>
          <p:cNvSpPr/>
          <p:nvPr userDrawn="1"/>
        </p:nvSpPr>
        <p:spPr>
          <a:xfrm>
            <a:off x="3896025" y="152400"/>
            <a:ext cx="190500" cy="171450"/>
          </a:xfrm>
          <a:custGeom>
            <a:avLst/>
            <a:gdLst>
              <a:gd name="connsiteX0" fmla="*/ 47625 w 190500"/>
              <a:gd name="connsiteY0" fmla="*/ 47625 h 171450"/>
              <a:gd name="connsiteX1" fmla="*/ 66675 w 190500"/>
              <a:gd name="connsiteY1" fmla="*/ 28575 h 171450"/>
              <a:gd name="connsiteX2" fmla="*/ 47625 w 190500"/>
              <a:gd name="connsiteY2" fmla="*/ 9525 h 171450"/>
              <a:gd name="connsiteX3" fmla="*/ 28575 w 190500"/>
              <a:gd name="connsiteY3" fmla="*/ 28575 h 171450"/>
              <a:gd name="connsiteX4" fmla="*/ 47625 w 190500"/>
              <a:gd name="connsiteY4" fmla="*/ 47625 h 171450"/>
              <a:gd name="connsiteX5" fmla="*/ 47625 w 190500"/>
              <a:gd name="connsiteY5" fmla="*/ 57150 h 171450"/>
              <a:gd name="connsiteX6" fmla="*/ 76200 w 190500"/>
              <a:gd name="connsiteY6" fmla="*/ 28575 h 171450"/>
              <a:gd name="connsiteX7" fmla="*/ 47625 w 190500"/>
              <a:gd name="connsiteY7" fmla="*/ 0 h 171450"/>
              <a:gd name="connsiteX8" fmla="*/ 19050 w 190500"/>
              <a:gd name="connsiteY8" fmla="*/ 28575 h 171450"/>
              <a:gd name="connsiteX9" fmla="*/ 47625 w 190500"/>
              <a:gd name="connsiteY9" fmla="*/ 57150 h 171450"/>
              <a:gd name="connsiteX10" fmla="*/ 142875 w 190500"/>
              <a:gd name="connsiteY10" fmla="*/ 47625 h 171450"/>
              <a:gd name="connsiteX11" fmla="*/ 161925 w 190500"/>
              <a:gd name="connsiteY11" fmla="*/ 28575 h 171450"/>
              <a:gd name="connsiteX12" fmla="*/ 142875 w 190500"/>
              <a:gd name="connsiteY12" fmla="*/ 9525 h 171450"/>
              <a:gd name="connsiteX13" fmla="*/ 123825 w 190500"/>
              <a:gd name="connsiteY13" fmla="*/ 28575 h 171450"/>
              <a:gd name="connsiteX14" fmla="*/ 142875 w 190500"/>
              <a:gd name="connsiteY14" fmla="*/ 47625 h 171450"/>
              <a:gd name="connsiteX15" fmla="*/ 142875 w 190500"/>
              <a:gd name="connsiteY15" fmla="*/ 57150 h 171450"/>
              <a:gd name="connsiteX16" fmla="*/ 171450 w 190500"/>
              <a:gd name="connsiteY16" fmla="*/ 28575 h 171450"/>
              <a:gd name="connsiteX17" fmla="*/ 142875 w 190500"/>
              <a:gd name="connsiteY17" fmla="*/ 0 h 171450"/>
              <a:gd name="connsiteX18" fmla="*/ 114300 w 190500"/>
              <a:gd name="connsiteY18" fmla="*/ 28575 h 171450"/>
              <a:gd name="connsiteX19" fmla="*/ 142875 w 190500"/>
              <a:gd name="connsiteY19" fmla="*/ 57150 h 171450"/>
              <a:gd name="connsiteX20" fmla="*/ 9525 w 190500"/>
              <a:gd name="connsiteY20" fmla="*/ 100441 h 171450"/>
              <a:gd name="connsiteX21" fmla="*/ 15392 w 190500"/>
              <a:gd name="connsiteY21" fmla="*/ 85430 h 171450"/>
              <a:gd name="connsiteX22" fmla="*/ 28575 w 190500"/>
              <a:gd name="connsiteY22" fmla="*/ 80963 h 171450"/>
              <a:gd name="connsiteX23" fmla="*/ 57150 w 190500"/>
              <a:gd name="connsiteY23" fmla="*/ 80963 h 171450"/>
              <a:gd name="connsiteX24" fmla="*/ 57150 w 190500"/>
              <a:gd name="connsiteY24" fmla="*/ 71438 h 171450"/>
              <a:gd name="connsiteX25" fmla="*/ 28575 w 190500"/>
              <a:gd name="connsiteY25" fmla="*/ 71438 h 171450"/>
              <a:gd name="connsiteX26" fmla="*/ 9144 w 190500"/>
              <a:gd name="connsiteY26" fmla="*/ 78229 h 171450"/>
              <a:gd name="connsiteX27" fmla="*/ 0 w 190500"/>
              <a:gd name="connsiteY27" fmla="*/ 100441 h 171450"/>
              <a:gd name="connsiteX28" fmla="*/ 0 w 190500"/>
              <a:gd name="connsiteY28" fmla="*/ 114300 h 171450"/>
              <a:gd name="connsiteX29" fmla="*/ 9525 w 190500"/>
              <a:gd name="connsiteY29" fmla="*/ 114300 h 171450"/>
              <a:gd name="connsiteX30" fmla="*/ 9525 w 190500"/>
              <a:gd name="connsiteY30" fmla="*/ 123825 h 171450"/>
              <a:gd name="connsiteX31" fmla="*/ 47625 w 190500"/>
              <a:gd name="connsiteY31" fmla="*/ 123825 h 171450"/>
              <a:gd name="connsiteX32" fmla="*/ 47625 w 190500"/>
              <a:gd name="connsiteY32" fmla="*/ 114300 h 171450"/>
              <a:gd name="connsiteX33" fmla="*/ 9525 w 190500"/>
              <a:gd name="connsiteY33" fmla="*/ 114300 h 171450"/>
              <a:gd name="connsiteX34" fmla="*/ 9525 w 190500"/>
              <a:gd name="connsiteY34" fmla="*/ 100441 h 171450"/>
              <a:gd name="connsiteX35" fmla="*/ 190500 w 190500"/>
              <a:gd name="connsiteY35" fmla="*/ 114300 h 171450"/>
              <a:gd name="connsiteX36" fmla="*/ 180975 w 190500"/>
              <a:gd name="connsiteY36" fmla="*/ 114300 h 171450"/>
              <a:gd name="connsiteX37" fmla="*/ 180975 w 190500"/>
              <a:gd name="connsiteY37" fmla="*/ 100441 h 171450"/>
              <a:gd name="connsiteX38" fmla="*/ 175108 w 190500"/>
              <a:gd name="connsiteY38" fmla="*/ 85430 h 171450"/>
              <a:gd name="connsiteX39" fmla="*/ 161925 w 190500"/>
              <a:gd name="connsiteY39" fmla="*/ 80963 h 171450"/>
              <a:gd name="connsiteX40" fmla="*/ 133350 w 190500"/>
              <a:gd name="connsiteY40" fmla="*/ 80963 h 171450"/>
              <a:gd name="connsiteX41" fmla="*/ 133350 w 190500"/>
              <a:gd name="connsiteY41" fmla="*/ 71438 h 171450"/>
              <a:gd name="connsiteX42" fmla="*/ 161925 w 190500"/>
              <a:gd name="connsiteY42" fmla="*/ 71438 h 171450"/>
              <a:gd name="connsiteX43" fmla="*/ 181356 w 190500"/>
              <a:gd name="connsiteY43" fmla="*/ 78229 h 171450"/>
              <a:gd name="connsiteX44" fmla="*/ 190500 w 190500"/>
              <a:gd name="connsiteY44" fmla="*/ 100441 h 171450"/>
              <a:gd name="connsiteX45" fmla="*/ 190500 w 190500"/>
              <a:gd name="connsiteY45" fmla="*/ 114300 h 171450"/>
              <a:gd name="connsiteX46" fmla="*/ 180975 w 190500"/>
              <a:gd name="connsiteY46" fmla="*/ 114300 h 171450"/>
              <a:gd name="connsiteX47" fmla="*/ 180975 w 190500"/>
              <a:gd name="connsiteY47" fmla="*/ 123825 h 171450"/>
              <a:gd name="connsiteX48" fmla="*/ 142875 w 190500"/>
              <a:gd name="connsiteY48" fmla="*/ 123825 h 171450"/>
              <a:gd name="connsiteX49" fmla="*/ 142875 w 190500"/>
              <a:gd name="connsiteY49" fmla="*/ 114300 h 171450"/>
              <a:gd name="connsiteX50" fmla="*/ 180975 w 190500"/>
              <a:gd name="connsiteY50" fmla="*/ 114300 h 171450"/>
              <a:gd name="connsiteX51" fmla="*/ 114300 w 190500"/>
              <a:gd name="connsiteY51" fmla="*/ 76200 h 171450"/>
              <a:gd name="connsiteX52" fmla="*/ 95250 w 190500"/>
              <a:gd name="connsiteY52" fmla="*/ 95250 h 171450"/>
              <a:gd name="connsiteX53" fmla="*/ 76200 w 190500"/>
              <a:gd name="connsiteY53" fmla="*/ 76200 h 171450"/>
              <a:gd name="connsiteX54" fmla="*/ 95250 w 190500"/>
              <a:gd name="connsiteY54" fmla="*/ 57150 h 171450"/>
              <a:gd name="connsiteX55" fmla="*/ 114300 w 190500"/>
              <a:gd name="connsiteY55" fmla="*/ 76200 h 171450"/>
              <a:gd name="connsiteX56" fmla="*/ 123825 w 190500"/>
              <a:gd name="connsiteY56" fmla="*/ 76200 h 171450"/>
              <a:gd name="connsiteX57" fmla="*/ 95250 w 190500"/>
              <a:gd name="connsiteY57" fmla="*/ 104775 h 171450"/>
              <a:gd name="connsiteX58" fmla="*/ 66675 w 190500"/>
              <a:gd name="connsiteY58" fmla="*/ 76200 h 171450"/>
              <a:gd name="connsiteX59" fmla="*/ 95250 w 190500"/>
              <a:gd name="connsiteY59" fmla="*/ 47625 h 171450"/>
              <a:gd name="connsiteX60" fmla="*/ 123825 w 190500"/>
              <a:gd name="connsiteY60" fmla="*/ 76200 h 171450"/>
              <a:gd name="connsiteX61" fmla="*/ 57150 w 190500"/>
              <a:gd name="connsiteY61" fmla="*/ 171450 h 171450"/>
              <a:gd name="connsiteX62" fmla="*/ 57150 w 190500"/>
              <a:gd name="connsiteY62" fmla="*/ 161925 h 171450"/>
              <a:gd name="connsiteX63" fmla="*/ 133350 w 190500"/>
              <a:gd name="connsiteY63" fmla="*/ 161925 h 171450"/>
              <a:gd name="connsiteX64" fmla="*/ 133350 w 190500"/>
              <a:gd name="connsiteY64" fmla="*/ 171450 h 171450"/>
              <a:gd name="connsiteX65" fmla="*/ 57150 w 190500"/>
              <a:gd name="connsiteY65" fmla="*/ 171450 h 171450"/>
              <a:gd name="connsiteX66" fmla="*/ 133350 w 190500"/>
              <a:gd name="connsiteY66" fmla="*/ 161925 h 171450"/>
              <a:gd name="connsiteX67" fmla="*/ 133350 w 190500"/>
              <a:gd name="connsiteY67" fmla="*/ 148066 h 171450"/>
              <a:gd name="connsiteX68" fmla="*/ 127483 w 190500"/>
              <a:gd name="connsiteY68" fmla="*/ 133055 h 171450"/>
              <a:gd name="connsiteX69" fmla="*/ 114300 w 190500"/>
              <a:gd name="connsiteY69" fmla="*/ 128588 h 171450"/>
              <a:gd name="connsiteX70" fmla="*/ 76200 w 190500"/>
              <a:gd name="connsiteY70" fmla="*/ 128588 h 171450"/>
              <a:gd name="connsiteX71" fmla="*/ 63017 w 190500"/>
              <a:gd name="connsiteY71" fmla="*/ 133055 h 171450"/>
              <a:gd name="connsiteX72" fmla="*/ 57150 w 190500"/>
              <a:gd name="connsiteY72" fmla="*/ 148066 h 171450"/>
              <a:gd name="connsiteX73" fmla="*/ 57150 w 190500"/>
              <a:gd name="connsiteY73" fmla="*/ 161925 h 171450"/>
              <a:gd name="connsiteX74" fmla="*/ 47625 w 190500"/>
              <a:gd name="connsiteY74" fmla="*/ 161925 h 171450"/>
              <a:gd name="connsiteX75" fmla="*/ 47625 w 190500"/>
              <a:gd name="connsiteY75" fmla="*/ 148066 h 171450"/>
              <a:gd name="connsiteX76" fmla="*/ 56769 w 190500"/>
              <a:gd name="connsiteY76" fmla="*/ 125854 h 171450"/>
              <a:gd name="connsiteX77" fmla="*/ 76200 w 190500"/>
              <a:gd name="connsiteY77" fmla="*/ 119063 h 171450"/>
              <a:gd name="connsiteX78" fmla="*/ 114300 w 190500"/>
              <a:gd name="connsiteY78" fmla="*/ 119063 h 171450"/>
              <a:gd name="connsiteX79" fmla="*/ 133731 w 190500"/>
              <a:gd name="connsiteY79" fmla="*/ 125854 h 171450"/>
              <a:gd name="connsiteX80" fmla="*/ 142875 w 190500"/>
              <a:gd name="connsiteY80" fmla="*/ 148066 h 171450"/>
              <a:gd name="connsiteX81" fmla="*/ 142875 w 190500"/>
              <a:gd name="connsiteY81" fmla="*/ 161925 h 171450"/>
              <a:gd name="connsiteX82" fmla="*/ 133350 w 190500"/>
              <a:gd name="connsiteY82" fmla="*/ 1619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90500" h="171450">
                <a:moveTo>
                  <a:pt x="47625" y="47625"/>
                </a:moveTo>
                <a:cubicBezTo>
                  <a:pt x="58146" y="47625"/>
                  <a:pt x="66675" y="39096"/>
                  <a:pt x="66675" y="28575"/>
                </a:cubicBezTo>
                <a:cubicBezTo>
                  <a:pt x="66675" y="18054"/>
                  <a:pt x="58146" y="9525"/>
                  <a:pt x="47625" y="9525"/>
                </a:cubicBezTo>
                <a:cubicBezTo>
                  <a:pt x="37104" y="9525"/>
                  <a:pt x="28575" y="18054"/>
                  <a:pt x="28575" y="28575"/>
                </a:cubicBezTo>
                <a:cubicBezTo>
                  <a:pt x="28575" y="39096"/>
                  <a:pt x="37104" y="47625"/>
                  <a:pt x="47625" y="47625"/>
                </a:cubicBezTo>
                <a:close/>
                <a:moveTo>
                  <a:pt x="47625" y="57150"/>
                </a:moveTo>
                <a:cubicBezTo>
                  <a:pt x="63407" y="57150"/>
                  <a:pt x="76200" y="44357"/>
                  <a:pt x="76200" y="28575"/>
                </a:cubicBezTo>
                <a:cubicBezTo>
                  <a:pt x="76200" y="12793"/>
                  <a:pt x="63407" y="0"/>
                  <a:pt x="47625" y="0"/>
                </a:cubicBezTo>
                <a:cubicBezTo>
                  <a:pt x="31843" y="0"/>
                  <a:pt x="19050" y="12793"/>
                  <a:pt x="19050" y="28575"/>
                </a:cubicBezTo>
                <a:cubicBezTo>
                  <a:pt x="19050" y="44357"/>
                  <a:pt x="31843" y="57150"/>
                  <a:pt x="47625" y="57150"/>
                </a:cubicBezTo>
                <a:close/>
                <a:moveTo>
                  <a:pt x="142875" y="47625"/>
                </a:moveTo>
                <a:cubicBezTo>
                  <a:pt x="153396" y="47625"/>
                  <a:pt x="161925" y="39096"/>
                  <a:pt x="161925" y="28575"/>
                </a:cubicBezTo>
                <a:cubicBezTo>
                  <a:pt x="161925" y="18054"/>
                  <a:pt x="153396" y="9525"/>
                  <a:pt x="142875" y="9525"/>
                </a:cubicBezTo>
                <a:cubicBezTo>
                  <a:pt x="132354" y="9525"/>
                  <a:pt x="123825" y="18054"/>
                  <a:pt x="123825" y="28575"/>
                </a:cubicBezTo>
                <a:cubicBezTo>
                  <a:pt x="123825" y="39096"/>
                  <a:pt x="132354" y="47625"/>
                  <a:pt x="142875" y="47625"/>
                </a:cubicBezTo>
                <a:close/>
                <a:moveTo>
                  <a:pt x="142875" y="57150"/>
                </a:moveTo>
                <a:cubicBezTo>
                  <a:pt x="158657" y="57150"/>
                  <a:pt x="171450" y="44357"/>
                  <a:pt x="171450" y="28575"/>
                </a:cubicBezTo>
                <a:cubicBezTo>
                  <a:pt x="171450" y="12793"/>
                  <a:pt x="158657" y="0"/>
                  <a:pt x="142875" y="0"/>
                </a:cubicBezTo>
                <a:cubicBezTo>
                  <a:pt x="127093" y="0"/>
                  <a:pt x="114300" y="12793"/>
                  <a:pt x="114300" y="28575"/>
                </a:cubicBezTo>
                <a:cubicBezTo>
                  <a:pt x="114300" y="44357"/>
                  <a:pt x="127093" y="57150"/>
                  <a:pt x="142875" y="57150"/>
                </a:cubicBezTo>
                <a:close/>
                <a:moveTo>
                  <a:pt x="9525" y="100441"/>
                </a:moveTo>
                <a:cubicBezTo>
                  <a:pt x="9525" y="92993"/>
                  <a:pt x="12078" y="88306"/>
                  <a:pt x="15392" y="85430"/>
                </a:cubicBezTo>
                <a:cubicBezTo>
                  <a:pt x="18831" y="82439"/>
                  <a:pt x="23584" y="80963"/>
                  <a:pt x="28575" y="80963"/>
                </a:cubicBezTo>
                <a:lnTo>
                  <a:pt x="57150" y="80963"/>
                </a:lnTo>
                <a:lnTo>
                  <a:pt x="57150" y="71438"/>
                </a:lnTo>
                <a:lnTo>
                  <a:pt x="28575" y="71438"/>
                </a:lnTo>
                <a:cubicBezTo>
                  <a:pt x="21841" y="71438"/>
                  <a:pt x="14688" y="73419"/>
                  <a:pt x="9144" y="78229"/>
                </a:cubicBezTo>
                <a:cubicBezTo>
                  <a:pt x="3496" y="83144"/>
                  <a:pt x="0" y="90583"/>
                  <a:pt x="0" y="100441"/>
                </a:cubicBezTo>
                <a:lnTo>
                  <a:pt x="0" y="114300"/>
                </a:lnTo>
                <a:lnTo>
                  <a:pt x="9525" y="114300"/>
                </a:lnTo>
                <a:lnTo>
                  <a:pt x="9525" y="123825"/>
                </a:lnTo>
                <a:lnTo>
                  <a:pt x="47625" y="123825"/>
                </a:lnTo>
                <a:lnTo>
                  <a:pt x="47625" y="114300"/>
                </a:lnTo>
                <a:lnTo>
                  <a:pt x="9525" y="114300"/>
                </a:lnTo>
                <a:lnTo>
                  <a:pt x="9525" y="100441"/>
                </a:lnTo>
                <a:close/>
                <a:moveTo>
                  <a:pt x="190500" y="114300"/>
                </a:moveTo>
                <a:lnTo>
                  <a:pt x="180975" y="114300"/>
                </a:lnTo>
                <a:lnTo>
                  <a:pt x="180975" y="100441"/>
                </a:lnTo>
                <a:cubicBezTo>
                  <a:pt x="180975" y="92993"/>
                  <a:pt x="178422" y="88306"/>
                  <a:pt x="175108" y="85430"/>
                </a:cubicBezTo>
                <a:cubicBezTo>
                  <a:pt x="171669" y="82439"/>
                  <a:pt x="166916" y="80963"/>
                  <a:pt x="161925" y="80963"/>
                </a:cubicBezTo>
                <a:lnTo>
                  <a:pt x="133350" y="80963"/>
                </a:lnTo>
                <a:lnTo>
                  <a:pt x="133350" y="71438"/>
                </a:lnTo>
                <a:lnTo>
                  <a:pt x="161925" y="71438"/>
                </a:lnTo>
                <a:cubicBezTo>
                  <a:pt x="168659" y="71438"/>
                  <a:pt x="175812" y="73419"/>
                  <a:pt x="181356" y="78229"/>
                </a:cubicBezTo>
                <a:cubicBezTo>
                  <a:pt x="187004" y="83144"/>
                  <a:pt x="190500" y="90583"/>
                  <a:pt x="190500" y="100441"/>
                </a:cubicBezTo>
                <a:lnTo>
                  <a:pt x="190500" y="114300"/>
                </a:lnTo>
                <a:close/>
                <a:moveTo>
                  <a:pt x="180975" y="114300"/>
                </a:moveTo>
                <a:lnTo>
                  <a:pt x="180975" y="123825"/>
                </a:lnTo>
                <a:lnTo>
                  <a:pt x="142875" y="123825"/>
                </a:lnTo>
                <a:lnTo>
                  <a:pt x="142875" y="114300"/>
                </a:lnTo>
                <a:lnTo>
                  <a:pt x="180975" y="114300"/>
                </a:lnTo>
                <a:close/>
                <a:moveTo>
                  <a:pt x="114300" y="76200"/>
                </a:moveTo>
                <a:cubicBezTo>
                  <a:pt x="114300" y="86721"/>
                  <a:pt x="105771" y="95250"/>
                  <a:pt x="95250" y="95250"/>
                </a:cubicBezTo>
                <a:cubicBezTo>
                  <a:pt x="84729" y="95250"/>
                  <a:pt x="76200" y="86721"/>
                  <a:pt x="76200" y="76200"/>
                </a:cubicBezTo>
                <a:cubicBezTo>
                  <a:pt x="76200" y="65679"/>
                  <a:pt x="84729" y="57150"/>
                  <a:pt x="95250" y="57150"/>
                </a:cubicBezTo>
                <a:cubicBezTo>
                  <a:pt x="105771" y="57150"/>
                  <a:pt x="114300" y="65679"/>
                  <a:pt x="114300" y="76200"/>
                </a:cubicBezTo>
                <a:close/>
                <a:moveTo>
                  <a:pt x="123825" y="76200"/>
                </a:moveTo>
                <a:cubicBezTo>
                  <a:pt x="123825" y="91982"/>
                  <a:pt x="111032" y="104775"/>
                  <a:pt x="95250" y="104775"/>
                </a:cubicBezTo>
                <a:cubicBezTo>
                  <a:pt x="79468" y="104775"/>
                  <a:pt x="66675" y="91982"/>
                  <a:pt x="66675" y="76200"/>
                </a:cubicBezTo>
                <a:cubicBezTo>
                  <a:pt x="66675" y="60418"/>
                  <a:pt x="79468" y="47625"/>
                  <a:pt x="95250" y="47625"/>
                </a:cubicBezTo>
                <a:cubicBezTo>
                  <a:pt x="111032" y="47625"/>
                  <a:pt x="123825" y="60418"/>
                  <a:pt x="123825" y="76200"/>
                </a:cubicBezTo>
                <a:close/>
                <a:moveTo>
                  <a:pt x="57150" y="171450"/>
                </a:moveTo>
                <a:lnTo>
                  <a:pt x="57150" y="161925"/>
                </a:lnTo>
                <a:lnTo>
                  <a:pt x="133350" y="161925"/>
                </a:lnTo>
                <a:lnTo>
                  <a:pt x="133350" y="171450"/>
                </a:lnTo>
                <a:lnTo>
                  <a:pt x="57150" y="171450"/>
                </a:lnTo>
                <a:close/>
                <a:moveTo>
                  <a:pt x="133350" y="161925"/>
                </a:moveTo>
                <a:lnTo>
                  <a:pt x="133350" y="148066"/>
                </a:lnTo>
                <a:cubicBezTo>
                  <a:pt x="133350" y="140618"/>
                  <a:pt x="130797" y="135931"/>
                  <a:pt x="127483" y="133055"/>
                </a:cubicBezTo>
                <a:cubicBezTo>
                  <a:pt x="124044" y="130064"/>
                  <a:pt x="119291" y="128588"/>
                  <a:pt x="114300" y="128588"/>
                </a:cubicBezTo>
                <a:lnTo>
                  <a:pt x="76200" y="128588"/>
                </a:lnTo>
                <a:cubicBezTo>
                  <a:pt x="71218" y="128588"/>
                  <a:pt x="66456" y="130064"/>
                  <a:pt x="63017" y="133055"/>
                </a:cubicBezTo>
                <a:cubicBezTo>
                  <a:pt x="59703" y="135931"/>
                  <a:pt x="57150" y="140618"/>
                  <a:pt x="57150" y="148066"/>
                </a:cubicBezTo>
                <a:lnTo>
                  <a:pt x="57150" y="161925"/>
                </a:lnTo>
                <a:lnTo>
                  <a:pt x="47625" y="161925"/>
                </a:lnTo>
                <a:lnTo>
                  <a:pt x="47625" y="148066"/>
                </a:lnTo>
                <a:cubicBezTo>
                  <a:pt x="47625" y="138208"/>
                  <a:pt x="51121" y="130769"/>
                  <a:pt x="56769" y="125854"/>
                </a:cubicBezTo>
                <a:cubicBezTo>
                  <a:pt x="62313" y="121044"/>
                  <a:pt x="69466" y="119063"/>
                  <a:pt x="76200" y="119063"/>
                </a:cubicBezTo>
                <a:lnTo>
                  <a:pt x="114300" y="119063"/>
                </a:lnTo>
                <a:cubicBezTo>
                  <a:pt x="121034" y="119063"/>
                  <a:pt x="128187" y="121044"/>
                  <a:pt x="133731" y="125854"/>
                </a:cubicBezTo>
                <a:cubicBezTo>
                  <a:pt x="139379" y="130769"/>
                  <a:pt x="142875" y="138208"/>
                  <a:pt x="142875" y="148066"/>
                </a:cubicBezTo>
                <a:lnTo>
                  <a:pt x="142875" y="161925"/>
                </a:lnTo>
                <a:lnTo>
                  <a:pt x="133350" y="161925"/>
                </a:lnTo>
                <a:close/>
              </a:path>
            </a:pathLst>
          </a:custGeom>
          <a:solidFill>
            <a:srgbClr val="08312A"/>
          </a:solidFill>
          <a:ln w="9525" cap="flat">
            <a:noFill/>
            <a:prstDash val="solid"/>
            <a:miter/>
          </a:ln>
        </p:spPr>
        <p:txBody>
          <a:bodyPr rtlCol="0" anchor="ctr"/>
          <a:lstStyle/>
          <a:p>
            <a:endParaRPr lang="en-US"/>
          </a:p>
        </p:txBody>
      </p:sp>
      <p:sp>
        <p:nvSpPr>
          <p:cNvPr id="61" name="Graphic 40">
            <a:extLst>
              <a:ext uri="{FF2B5EF4-FFF2-40B4-BE49-F238E27FC236}">
                <a16:creationId xmlns:a16="http://schemas.microsoft.com/office/drawing/2014/main" id="{42BC4AAC-69D3-85E7-6156-458D1E700138}"/>
              </a:ext>
            </a:extLst>
          </p:cNvPr>
          <p:cNvSpPr/>
          <p:nvPr userDrawn="1"/>
        </p:nvSpPr>
        <p:spPr>
          <a:xfrm>
            <a:off x="5049759" y="161925"/>
            <a:ext cx="171450" cy="152400"/>
          </a:xfrm>
          <a:custGeom>
            <a:avLst/>
            <a:gdLst>
              <a:gd name="connsiteX0" fmla="*/ 161887 w 171450"/>
              <a:gd name="connsiteY0" fmla="*/ 0 h 152400"/>
              <a:gd name="connsiteX1" fmla="*/ 85687 w 171450"/>
              <a:gd name="connsiteY1" fmla="*/ 0 h 152400"/>
              <a:gd name="connsiteX2" fmla="*/ 85687 w 171450"/>
              <a:gd name="connsiteY2" fmla="*/ 76200 h 152400"/>
              <a:gd name="connsiteX3" fmla="*/ 95212 w 171450"/>
              <a:gd name="connsiteY3" fmla="*/ 76200 h 152400"/>
              <a:gd name="connsiteX4" fmla="*/ 95212 w 171450"/>
              <a:gd name="connsiteY4" fmla="*/ 85725 h 152400"/>
              <a:gd name="connsiteX5" fmla="*/ 171412 w 171450"/>
              <a:gd name="connsiteY5" fmla="*/ 85725 h 152400"/>
              <a:gd name="connsiteX6" fmla="*/ 171412 w 171450"/>
              <a:gd name="connsiteY6" fmla="*/ 9525 h 152400"/>
              <a:gd name="connsiteX7" fmla="*/ 161887 w 171450"/>
              <a:gd name="connsiteY7" fmla="*/ 9525 h 152400"/>
              <a:gd name="connsiteX8" fmla="*/ 161887 w 171450"/>
              <a:gd name="connsiteY8" fmla="*/ 0 h 152400"/>
              <a:gd name="connsiteX9" fmla="*/ 161887 w 171450"/>
              <a:gd name="connsiteY9" fmla="*/ 9525 h 152400"/>
              <a:gd name="connsiteX10" fmla="*/ 161887 w 171450"/>
              <a:gd name="connsiteY10" fmla="*/ 76200 h 152400"/>
              <a:gd name="connsiteX11" fmla="*/ 95212 w 171450"/>
              <a:gd name="connsiteY11" fmla="*/ 76200 h 152400"/>
              <a:gd name="connsiteX12" fmla="*/ 95212 w 171450"/>
              <a:gd name="connsiteY12" fmla="*/ 9525 h 152400"/>
              <a:gd name="connsiteX13" fmla="*/ 161887 w 171450"/>
              <a:gd name="connsiteY13" fmla="*/ 9525 h 152400"/>
              <a:gd name="connsiteX14" fmla="*/ 66675 w 171450"/>
              <a:gd name="connsiteY14" fmla="*/ 28575 h 152400"/>
              <a:gd name="connsiteX15" fmla="*/ 44482 w 171450"/>
              <a:gd name="connsiteY15" fmla="*/ 9296 h 152400"/>
              <a:gd name="connsiteX16" fmla="*/ 38233 w 171450"/>
              <a:gd name="connsiteY16" fmla="*/ 16488 h 152400"/>
              <a:gd name="connsiteX17" fmla="*/ 63122 w 171450"/>
              <a:gd name="connsiteY17" fmla="*/ 38110 h 152400"/>
              <a:gd name="connsiteX18" fmla="*/ 0 w 171450"/>
              <a:gd name="connsiteY18" fmla="*/ 38100 h 152400"/>
              <a:gd name="connsiteX19" fmla="*/ 0 w 171450"/>
              <a:gd name="connsiteY19" fmla="*/ 47625 h 152400"/>
              <a:gd name="connsiteX20" fmla="*/ 63113 w 171450"/>
              <a:gd name="connsiteY20" fmla="*/ 47625 h 152400"/>
              <a:gd name="connsiteX21" fmla="*/ 38233 w 171450"/>
              <a:gd name="connsiteY21" fmla="*/ 69228 h 152400"/>
              <a:gd name="connsiteX22" fmla="*/ 44482 w 171450"/>
              <a:gd name="connsiteY22" fmla="*/ 76419 h 152400"/>
              <a:gd name="connsiteX23" fmla="*/ 66675 w 171450"/>
              <a:gd name="connsiteY23" fmla="*/ 57150 h 152400"/>
              <a:gd name="connsiteX24" fmla="*/ 66675 w 171450"/>
              <a:gd name="connsiteY24" fmla="*/ 28575 h 152400"/>
              <a:gd name="connsiteX25" fmla="*/ 9525 w 171450"/>
              <a:gd name="connsiteY25" fmla="*/ 114300 h 152400"/>
              <a:gd name="connsiteX26" fmla="*/ 152400 w 171450"/>
              <a:gd name="connsiteY26" fmla="*/ 114300 h 152400"/>
              <a:gd name="connsiteX27" fmla="*/ 161925 w 171450"/>
              <a:gd name="connsiteY27" fmla="*/ 123825 h 152400"/>
              <a:gd name="connsiteX28" fmla="*/ 161925 w 171450"/>
              <a:gd name="connsiteY28" fmla="*/ 133350 h 152400"/>
              <a:gd name="connsiteX29" fmla="*/ 152400 w 171450"/>
              <a:gd name="connsiteY29" fmla="*/ 142875 h 152400"/>
              <a:gd name="connsiteX30" fmla="*/ 0 w 171450"/>
              <a:gd name="connsiteY30" fmla="*/ 142875 h 152400"/>
              <a:gd name="connsiteX31" fmla="*/ 0 w 171450"/>
              <a:gd name="connsiteY31" fmla="*/ 152400 h 152400"/>
              <a:gd name="connsiteX32" fmla="*/ 152400 w 171450"/>
              <a:gd name="connsiteY32" fmla="*/ 152400 h 152400"/>
              <a:gd name="connsiteX33" fmla="*/ 171450 w 171450"/>
              <a:gd name="connsiteY33" fmla="*/ 133350 h 152400"/>
              <a:gd name="connsiteX34" fmla="*/ 171450 w 171450"/>
              <a:gd name="connsiteY34" fmla="*/ 123825 h 152400"/>
              <a:gd name="connsiteX35" fmla="*/ 152400 w 171450"/>
              <a:gd name="connsiteY35" fmla="*/ 104775 h 152400"/>
              <a:gd name="connsiteX36" fmla="*/ 0 w 171450"/>
              <a:gd name="connsiteY36" fmla="*/ 104775 h 152400"/>
              <a:gd name="connsiteX37" fmla="*/ 0 w 171450"/>
              <a:gd name="connsiteY37" fmla="*/ 114300 h 152400"/>
              <a:gd name="connsiteX38" fmla="*/ 9525 w 171450"/>
              <a:gd name="connsiteY38" fmla="*/ 11430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71450" h="152400">
                <a:moveTo>
                  <a:pt x="161887" y="0"/>
                </a:moveTo>
                <a:lnTo>
                  <a:pt x="85687" y="0"/>
                </a:lnTo>
                <a:lnTo>
                  <a:pt x="85687" y="76200"/>
                </a:lnTo>
                <a:lnTo>
                  <a:pt x="95212" y="76200"/>
                </a:lnTo>
                <a:lnTo>
                  <a:pt x="95212" y="85725"/>
                </a:lnTo>
                <a:lnTo>
                  <a:pt x="171412" y="85725"/>
                </a:lnTo>
                <a:lnTo>
                  <a:pt x="171412" y="9525"/>
                </a:lnTo>
                <a:lnTo>
                  <a:pt x="161887" y="9525"/>
                </a:lnTo>
                <a:lnTo>
                  <a:pt x="161887" y="0"/>
                </a:lnTo>
                <a:close/>
                <a:moveTo>
                  <a:pt x="161887" y="9525"/>
                </a:moveTo>
                <a:lnTo>
                  <a:pt x="161887" y="76200"/>
                </a:lnTo>
                <a:lnTo>
                  <a:pt x="95212" y="76200"/>
                </a:lnTo>
                <a:lnTo>
                  <a:pt x="95212" y="9525"/>
                </a:lnTo>
                <a:lnTo>
                  <a:pt x="161887" y="9525"/>
                </a:lnTo>
                <a:close/>
                <a:moveTo>
                  <a:pt x="66675" y="28575"/>
                </a:moveTo>
                <a:lnTo>
                  <a:pt x="44482" y="9296"/>
                </a:lnTo>
                <a:lnTo>
                  <a:pt x="38233" y="16488"/>
                </a:lnTo>
                <a:lnTo>
                  <a:pt x="63122" y="38110"/>
                </a:lnTo>
                <a:lnTo>
                  <a:pt x="0" y="38100"/>
                </a:lnTo>
                <a:lnTo>
                  <a:pt x="0" y="47625"/>
                </a:lnTo>
                <a:lnTo>
                  <a:pt x="63113" y="47625"/>
                </a:lnTo>
                <a:lnTo>
                  <a:pt x="38233" y="69228"/>
                </a:lnTo>
                <a:lnTo>
                  <a:pt x="44482" y="76419"/>
                </a:lnTo>
                <a:lnTo>
                  <a:pt x="66675" y="57150"/>
                </a:lnTo>
                <a:lnTo>
                  <a:pt x="66675" y="28575"/>
                </a:lnTo>
                <a:close/>
                <a:moveTo>
                  <a:pt x="9525" y="114300"/>
                </a:moveTo>
                <a:lnTo>
                  <a:pt x="152400" y="114300"/>
                </a:lnTo>
                <a:cubicBezTo>
                  <a:pt x="157661" y="114300"/>
                  <a:pt x="161925" y="118564"/>
                  <a:pt x="161925" y="123825"/>
                </a:cubicBezTo>
                <a:lnTo>
                  <a:pt x="161925" y="133350"/>
                </a:lnTo>
                <a:cubicBezTo>
                  <a:pt x="161925" y="138611"/>
                  <a:pt x="157661" y="142875"/>
                  <a:pt x="152400" y="142875"/>
                </a:cubicBezTo>
                <a:lnTo>
                  <a:pt x="0" y="142875"/>
                </a:lnTo>
                <a:lnTo>
                  <a:pt x="0" y="152400"/>
                </a:lnTo>
                <a:lnTo>
                  <a:pt x="152400" y="152400"/>
                </a:lnTo>
                <a:cubicBezTo>
                  <a:pt x="162921" y="152400"/>
                  <a:pt x="171450" y="143871"/>
                  <a:pt x="171450" y="133350"/>
                </a:cubicBezTo>
                <a:lnTo>
                  <a:pt x="171450" y="123825"/>
                </a:lnTo>
                <a:cubicBezTo>
                  <a:pt x="171450" y="113304"/>
                  <a:pt x="162921" y="104775"/>
                  <a:pt x="152400" y="104775"/>
                </a:cubicBezTo>
                <a:lnTo>
                  <a:pt x="0" y="104775"/>
                </a:lnTo>
                <a:lnTo>
                  <a:pt x="0" y="114300"/>
                </a:lnTo>
                <a:lnTo>
                  <a:pt x="9525" y="114300"/>
                </a:lnTo>
                <a:close/>
              </a:path>
            </a:pathLst>
          </a:custGeom>
          <a:solidFill>
            <a:srgbClr val="08312A"/>
          </a:solidFill>
          <a:ln w="9525" cap="flat">
            <a:noFill/>
            <a:prstDash val="solid"/>
            <a:miter/>
          </a:ln>
        </p:spPr>
        <p:txBody>
          <a:bodyPr rtlCol="0" anchor="ctr"/>
          <a:lstStyle/>
          <a:p>
            <a:endParaRPr lang="en-US"/>
          </a:p>
        </p:txBody>
      </p:sp>
      <p:sp>
        <p:nvSpPr>
          <p:cNvPr id="62" name="Graphic 44">
            <a:extLst>
              <a:ext uri="{FF2B5EF4-FFF2-40B4-BE49-F238E27FC236}">
                <a16:creationId xmlns:a16="http://schemas.microsoft.com/office/drawing/2014/main" id="{82C15C46-3DA4-8042-AE0B-4F05319C0B84}"/>
              </a:ext>
            </a:extLst>
          </p:cNvPr>
          <p:cNvSpPr/>
          <p:nvPr userDrawn="1"/>
        </p:nvSpPr>
        <p:spPr>
          <a:xfrm>
            <a:off x="6171094" y="166429"/>
            <a:ext cx="143391" cy="143391"/>
          </a:xfrm>
          <a:custGeom>
            <a:avLst/>
            <a:gdLst>
              <a:gd name="connsiteX0" fmla="*/ 57150 w 171450"/>
              <a:gd name="connsiteY0" fmla="*/ 0 h 171450"/>
              <a:gd name="connsiteX1" fmla="*/ 57150 w 171450"/>
              <a:gd name="connsiteY1" fmla="*/ 9525 h 171450"/>
              <a:gd name="connsiteX2" fmla="*/ 114300 w 171450"/>
              <a:gd name="connsiteY2" fmla="*/ 9525 h 171450"/>
              <a:gd name="connsiteX3" fmla="*/ 114300 w 171450"/>
              <a:gd name="connsiteY3" fmla="*/ 0 h 171450"/>
              <a:gd name="connsiteX4" fmla="*/ 123825 w 171450"/>
              <a:gd name="connsiteY4" fmla="*/ 0 h 171450"/>
              <a:gd name="connsiteX5" fmla="*/ 123825 w 171450"/>
              <a:gd name="connsiteY5" fmla="*/ 9525 h 171450"/>
              <a:gd name="connsiteX6" fmla="*/ 171450 w 171450"/>
              <a:gd name="connsiteY6" fmla="*/ 9525 h 171450"/>
              <a:gd name="connsiteX7" fmla="*/ 171450 w 171450"/>
              <a:gd name="connsiteY7" fmla="*/ 150019 h 171450"/>
              <a:gd name="connsiteX8" fmla="*/ 150019 w 171450"/>
              <a:gd name="connsiteY8" fmla="*/ 171450 h 171450"/>
              <a:gd name="connsiteX9" fmla="*/ 21431 w 171450"/>
              <a:gd name="connsiteY9" fmla="*/ 171450 h 171450"/>
              <a:gd name="connsiteX10" fmla="*/ 0 w 171450"/>
              <a:gd name="connsiteY10" fmla="*/ 150019 h 171450"/>
              <a:gd name="connsiteX11" fmla="*/ 0 w 171450"/>
              <a:gd name="connsiteY11" fmla="*/ 9525 h 171450"/>
              <a:gd name="connsiteX12" fmla="*/ 47625 w 171450"/>
              <a:gd name="connsiteY12" fmla="*/ 9525 h 171450"/>
              <a:gd name="connsiteX13" fmla="*/ 47625 w 171450"/>
              <a:gd name="connsiteY13" fmla="*/ 0 h 171450"/>
              <a:gd name="connsiteX14" fmla="*/ 57150 w 171450"/>
              <a:gd name="connsiteY14" fmla="*/ 0 h 171450"/>
              <a:gd name="connsiteX15" fmla="*/ 114300 w 171450"/>
              <a:gd name="connsiteY15" fmla="*/ 19050 h 171450"/>
              <a:gd name="connsiteX16" fmla="*/ 114300 w 171450"/>
              <a:gd name="connsiteY16" fmla="*/ 28575 h 171450"/>
              <a:gd name="connsiteX17" fmla="*/ 123825 w 171450"/>
              <a:gd name="connsiteY17" fmla="*/ 28575 h 171450"/>
              <a:gd name="connsiteX18" fmla="*/ 123825 w 171450"/>
              <a:gd name="connsiteY18" fmla="*/ 19050 h 171450"/>
              <a:gd name="connsiteX19" fmla="*/ 161925 w 171450"/>
              <a:gd name="connsiteY19" fmla="*/ 19050 h 171450"/>
              <a:gd name="connsiteX20" fmla="*/ 161925 w 171450"/>
              <a:gd name="connsiteY20" fmla="*/ 47625 h 171450"/>
              <a:gd name="connsiteX21" fmla="*/ 9525 w 171450"/>
              <a:gd name="connsiteY21" fmla="*/ 47625 h 171450"/>
              <a:gd name="connsiteX22" fmla="*/ 9525 w 171450"/>
              <a:gd name="connsiteY22" fmla="*/ 19050 h 171450"/>
              <a:gd name="connsiteX23" fmla="*/ 47625 w 171450"/>
              <a:gd name="connsiteY23" fmla="*/ 19050 h 171450"/>
              <a:gd name="connsiteX24" fmla="*/ 47625 w 171450"/>
              <a:gd name="connsiteY24" fmla="*/ 28575 h 171450"/>
              <a:gd name="connsiteX25" fmla="*/ 57150 w 171450"/>
              <a:gd name="connsiteY25" fmla="*/ 28575 h 171450"/>
              <a:gd name="connsiteX26" fmla="*/ 57150 w 171450"/>
              <a:gd name="connsiteY26" fmla="*/ 19050 h 171450"/>
              <a:gd name="connsiteX27" fmla="*/ 114300 w 171450"/>
              <a:gd name="connsiteY27" fmla="*/ 19050 h 171450"/>
              <a:gd name="connsiteX28" fmla="*/ 161925 w 171450"/>
              <a:gd name="connsiteY28" fmla="*/ 57150 h 171450"/>
              <a:gd name="connsiteX29" fmla="*/ 161925 w 171450"/>
              <a:gd name="connsiteY29" fmla="*/ 150019 h 171450"/>
              <a:gd name="connsiteX30" fmla="*/ 150019 w 171450"/>
              <a:gd name="connsiteY30" fmla="*/ 161925 h 171450"/>
              <a:gd name="connsiteX31" fmla="*/ 21431 w 171450"/>
              <a:gd name="connsiteY31" fmla="*/ 161925 h 171450"/>
              <a:gd name="connsiteX32" fmla="*/ 9525 w 171450"/>
              <a:gd name="connsiteY32" fmla="*/ 150019 h 171450"/>
              <a:gd name="connsiteX33" fmla="*/ 9525 w 171450"/>
              <a:gd name="connsiteY33" fmla="*/ 57150 h 171450"/>
              <a:gd name="connsiteX34" fmla="*/ 161925 w 171450"/>
              <a:gd name="connsiteY34" fmla="*/ 57150 h 171450"/>
              <a:gd name="connsiteX35" fmla="*/ 76200 w 171450"/>
              <a:gd name="connsiteY35" fmla="*/ 95250 h 171450"/>
              <a:gd name="connsiteX36" fmla="*/ 28575 w 171450"/>
              <a:gd name="connsiteY36" fmla="*/ 95250 h 171450"/>
              <a:gd name="connsiteX37" fmla="*/ 28575 w 171450"/>
              <a:gd name="connsiteY37" fmla="*/ 85725 h 171450"/>
              <a:gd name="connsiteX38" fmla="*/ 76200 w 171450"/>
              <a:gd name="connsiteY38" fmla="*/ 85725 h 171450"/>
              <a:gd name="connsiteX39" fmla="*/ 76200 w 171450"/>
              <a:gd name="connsiteY39" fmla="*/ 95250 h 171450"/>
              <a:gd name="connsiteX40" fmla="*/ 28575 w 171450"/>
              <a:gd name="connsiteY40" fmla="*/ 133350 h 171450"/>
              <a:gd name="connsiteX41" fmla="*/ 76200 w 171450"/>
              <a:gd name="connsiteY41" fmla="*/ 133350 h 171450"/>
              <a:gd name="connsiteX42" fmla="*/ 76200 w 171450"/>
              <a:gd name="connsiteY42" fmla="*/ 123825 h 171450"/>
              <a:gd name="connsiteX43" fmla="*/ 28575 w 171450"/>
              <a:gd name="connsiteY43" fmla="*/ 123825 h 171450"/>
              <a:gd name="connsiteX44" fmla="*/ 28575 w 171450"/>
              <a:gd name="connsiteY44" fmla="*/ 133350 h 171450"/>
              <a:gd name="connsiteX45" fmla="*/ 142875 w 171450"/>
              <a:gd name="connsiteY45" fmla="*/ 95250 h 171450"/>
              <a:gd name="connsiteX46" fmla="*/ 95250 w 171450"/>
              <a:gd name="connsiteY46" fmla="*/ 95250 h 171450"/>
              <a:gd name="connsiteX47" fmla="*/ 95250 w 171450"/>
              <a:gd name="connsiteY47" fmla="*/ 85725 h 171450"/>
              <a:gd name="connsiteX48" fmla="*/ 142875 w 171450"/>
              <a:gd name="connsiteY48" fmla="*/ 85725 h 171450"/>
              <a:gd name="connsiteX49" fmla="*/ 142875 w 171450"/>
              <a:gd name="connsiteY49" fmla="*/ 95250 h 171450"/>
              <a:gd name="connsiteX50" fmla="*/ 95250 w 171450"/>
              <a:gd name="connsiteY50" fmla="*/ 133350 h 171450"/>
              <a:gd name="connsiteX51" fmla="*/ 142875 w 171450"/>
              <a:gd name="connsiteY51" fmla="*/ 133350 h 171450"/>
              <a:gd name="connsiteX52" fmla="*/ 142875 w 171450"/>
              <a:gd name="connsiteY52" fmla="*/ 123825 h 171450"/>
              <a:gd name="connsiteX53" fmla="*/ 95250 w 171450"/>
              <a:gd name="connsiteY53" fmla="*/ 123825 h 171450"/>
              <a:gd name="connsiteX54" fmla="*/ 95250 w 171450"/>
              <a:gd name="connsiteY54" fmla="*/ 13335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71450" h="171450">
                <a:moveTo>
                  <a:pt x="57150" y="0"/>
                </a:moveTo>
                <a:lnTo>
                  <a:pt x="57150" y="9525"/>
                </a:lnTo>
                <a:lnTo>
                  <a:pt x="114300" y="9525"/>
                </a:lnTo>
                <a:lnTo>
                  <a:pt x="114300" y="0"/>
                </a:lnTo>
                <a:lnTo>
                  <a:pt x="123825" y="0"/>
                </a:lnTo>
                <a:lnTo>
                  <a:pt x="123825" y="9525"/>
                </a:lnTo>
                <a:lnTo>
                  <a:pt x="171450" y="9525"/>
                </a:lnTo>
                <a:lnTo>
                  <a:pt x="171450" y="150019"/>
                </a:lnTo>
                <a:cubicBezTo>
                  <a:pt x="171450" y="161855"/>
                  <a:pt x="161855" y="171450"/>
                  <a:pt x="150019" y="171450"/>
                </a:cubicBezTo>
                <a:lnTo>
                  <a:pt x="21431" y="171450"/>
                </a:lnTo>
                <a:cubicBezTo>
                  <a:pt x="9595" y="171450"/>
                  <a:pt x="0" y="161855"/>
                  <a:pt x="0" y="150019"/>
                </a:cubicBezTo>
                <a:lnTo>
                  <a:pt x="0" y="9525"/>
                </a:lnTo>
                <a:lnTo>
                  <a:pt x="47625" y="9525"/>
                </a:lnTo>
                <a:lnTo>
                  <a:pt x="47625" y="0"/>
                </a:lnTo>
                <a:lnTo>
                  <a:pt x="57150" y="0"/>
                </a:lnTo>
                <a:close/>
                <a:moveTo>
                  <a:pt x="114300" y="19050"/>
                </a:moveTo>
                <a:lnTo>
                  <a:pt x="114300" y="28575"/>
                </a:lnTo>
                <a:lnTo>
                  <a:pt x="123825" y="28575"/>
                </a:lnTo>
                <a:lnTo>
                  <a:pt x="123825" y="19050"/>
                </a:lnTo>
                <a:lnTo>
                  <a:pt x="161925" y="19050"/>
                </a:lnTo>
                <a:lnTo>
                  <a:pt x="161925" y="47625"/>
                </a:lnTo>
                <a:lnTo>
                  <a:pt x="9525" y="47625"/>
                </a:lnTo>
                <a:lnTo>
                  <a:pt x="9525" y="19050"/>
                </a:lnTo>
                <a:lnTo>
                  <a:pt x="47625" y="19050"/>
                </a:lnTo>
                <a:lnTo>
                  <a:pt x="47625" y="28575"/>
                </a:lnTo>
                <a:lnTo>
                  <a:pt x="57150" y="28575"/>
                </a:lnTo>
                <a:lnTo>
                  <a:pt x="57150" y="19050"/>
                </a:lnTo>
                <a:lnTo>
                  <a:pt x="114300" y="19050"/>
                </a:lnTo>
                <a:close/>
                <a:moveTo>
                  <a:pt x="161925" y="57150"/>
                </a:moveTo>
                <a:lnTo>
                  <a:pt x="161925" y="150019"/>
                </a:lnTo>
                <a:cubicBezTo>
                  <a:pt x="161925" y="156591"/>
                  <a:pt x="156591" y="161925"/>
                  <a:pt x="150019" y="161925"/>
                </a:cubicBezTo>
                <a:lnTo>
                  <a:pt x="21431" y="161925"/>
                </a:lnTo>
                <a:cubicBezTo>
                  <a:pt x="14859" y="161925"/>
                  <a:pt x="9525" y="156591"/>
                  <a:pt x="9525" y="150019"/>
                </a:cubicBezTo>
                <a:lnTo>
                  <a:pt x="9525" y="57150"/>
                </a:lnTo>
                <a:lnTo>
                  <a:pt x="161925" y="57150"/>
                </a:lnTo>
                <a:close/>
                <a:moveTo>
                  <a:pt x="76200" y="95250"/>
                </a:moveTo>
                <a:lnTo>
                  <a:pt x="28575" y="95250"/>
                </a:lnTo>
                <a:lnTo>
                  <a:pt x="28575" y="85725"/>
                </a:lnTo>
                <a:lnTo>
                  <a:pt x="76200" y="85725"/>
                </a:lnTo>
                <a:lnTo>
                  <a:pt x="76200" y="95250"/>
                </a:lnTo>
                <a:close/>
                <a:moveTo>
                  <a:pt x="28575" y="133350"/>
                </a:moveTo>
                <a:lnTo>
                  <a:pt x="76200" y="133350"/>
                </a:lnTo>
                <a:lnTo>
                  <a:pt x="76200" y="123825"/>
                </a:lnTo>
                <a:lnTo>
                  <a:pt x="28575" y="123825"/>
                </a:lnTo>
                <a:lnTo>
                  <a:pt x="28575" y="133350"/>
                </a:lnTo>
                <a:close/>
                <a:moveTo>
                  <a:pt x="142875" y="95250"/>
                </a:moveTo>
                <a:lnTo>
                  <a:pt x="95250" y="95250"/>
                </a:lnTo>
                <a:lnTo>
                  <a:pt x="95250" y="85725"/>
                </a:lnTo>
                <a:lnTo>
                  <a:pt x="142875" y="85725"/>
                </a:lnTo>
                <a:lnTo>
                  <a:pt x="142875" y="95250"/>
                </a:lnTo>
                <a:close/>
                <a:moveTo>
                  <a:pt x="95250" y="133350"/>
                </a:moveTo>
                <a:lnTo>
                  <a:pt x="142875" y="133350"/>
                </a:lnTo>
                <a:lnTo>
                  <a:pt x="142875" y="123825"/>
                </a:lnTo>
                <a:lnTo>
                  <a:pt x="95250" y="123825"/>
                </a:lnTo>
                <a:lnTo>
                  <a:pt x="95250" y="133350"/>
                </a:lnTo>
                <a:close/>
              </a:path>
            </a:pathLst>
          </a:custGeom>
          <a:solidFill>
            <a:srgbClr val="08312A"/>
          </a:solidFill>
          <a:ln w="9525" cap="flat">
            <a:noFill/>
            <a:prstDash val="solid"/>
            <a:miter/>
          </a:ln>
        </p:spPr>
        <p:txBody>
          <a:bodyPr rtlCol="0" anchor="ctr"/>
          <a:lstStyle/>
          <a:p>
            <a:endParaRPr lang="en-US"/>
          </a:p>
        </p:txBody>
      </p:sp>
      <p:sp>
        <p:nvSpPr>
          <p:cNvPr id="63" name="Graphic 55">
            <a:extLst>
              <a:ext uri="{FF2B5EF4-FFF2-40B4-BE49-F238E27FC236}">
                <a16:creationId xmlns:a16="http://schemas.microsoft.com/office/drawing/2014/main" id="{73CBB9BC-9EB4-FB45-78DD-0FCEC92192D8}"/>
              </a:ext>
            </a:extLst>
          </p:cNvPr>
          <p:cNvSpPr/>
          <p:nvPr userDrawn="1"/>
        </p:nvSpPr>
        <p:spPr>
          <a:xfrm>
            <a:off x="9556025" y="169096"/>
            <a:ext cx="138058" cy="138058"/>
          </a:xfrm>
          <a:custGeom>
            <a:avLst/>
            <a:gdLst>
              <a:gd name="connsiteX0" fmla="*/ 0 w 171450"/>
              <a:gd name="connsiteY0" fmla="*/ 171450 h 171450"/>
              <a:gd name="connsiteX1" fmla="*/ 47625 w 171450"/>
              <a:gd name="connsiteY1" fmla="*/ 171450 h 171450"/>
              <a:gd name="connsiteX2" fmla="*/ 47625 w 171450"/>
              <a:gd name="connsiteY2" fmla="*/ 104775 h 171450"/>
              <a:gd name="connsiteX3" fmla="*/ 0 w 171450"/>
              <a:gd name="connsiteY3" fmla="*/ 104775 h 171450"/>
              <a:gd name="connsiteX4" fmla="*/ 0 w 171450"/>
              <a:gd name="connsiteY4" fmla="*/ 171450 h 171450"/>
              <a:gd name="connsiteX5" fmla="*/ 9525 w 171450"/>
              <a:gd name="connsiteY5" fmla="*/ 114300 h 171450"/>
              <a:gd name="connsiteX6" fmla="*/ 38100 w 171450"/>
              <a:gd name="connsiteY6" fmla="*/ 114300 h 171450"/>
              <a:gd name="connsiteX7" fmla="*/ 38100 w 171450"/>
              <a:gd name="connsiteY7" fmla="*/ 161925 h 171450"/>
              <a:gd name="connsiteX8" fmla="*/ 9525 w 171450"/>
              <a:gd name="connsiteY8" fmla="*/ 161925 h 171450"/>
              <a:gd name="connsiteX9" fmla="*/ 9525 w 171450"/>
              <a:gd name="connsiteY9" fmla="*/ 114300 h 171450"/>
              <a:gd name="connsiteX10" fmla="*/ 61913 w 171450"/>
              <a:gd name="connsiteY10" fmla="*/ 171450 h 171450"/>
              <a:gd name="connsiteX11" fmla="*/ 109538 w 171450"/>
              <a:gd name="connsiteY11" fmla="*/ 171450 h 171450"/>
              <a:gd name="connsiteX12" fmla="*/ 109538 w 171450"/>
              <a:gd name="connsiteY12" fmla="*/ 123825 h 171450"/>
              <a:gd name="connsiteX13" fmla="*/ 61913 w 171450"/>
              <a:gd name="connsiteY13" fmla="*/ 123825 h 171450"/>
              <a:gd name="connsiteX14" fmla="*/ 61913 w 171450"/>
              <a:gd name="connsiteY14" fmla="*/ 171450 h 171450"/>
              <a:gd name="connsiteX15" fmla="*/ 71438 w 171450"/>
              <a:gd name="connsiteY15" fmla="*/ 133350 h 171450"/>
              <a:gd name="connsiteX16" fmla="*/ 100013 w 171450"/>
              <a:gd name="connsiteY16" fmla="*/ 133350 h 171450"/>
              <a:gd name="connsiteX17" fmla="*/ 100013 w 171450"/>
              <a:gd name="connsiteY17" fmla="*/ 161925 h 171450"/>
              <a:gd name="connsiteX18" fmla="*/ 71438 w 171450"/>
              <a:gd name="connsiteY18" fmla="*/ 161925 h 171450"/>
              <a:gd name="connsiteX19" fmla="*/ 71438 w 171450"/>
              <a:gd name="connsiteY19" fmla="*/ 133350 h 171450"/>
              <a:gd name="connsiteX20" fmla="*/ 123825 w 171450"/>
              <a:gd name="connsiteY20" fmla="*/ 85725 h 171450"/>
              <a:gd name="connsiteX21" fmla="*/ 123825 w 171450"/>
              <a:gd name="connsiteY21" fmla="*/ 171450 h 171450"/>
              <a:gd name="connsiteX22" fmla="*/ 171450 w 171450"/>
              <a:gd name="connsiteY22" fmla="*/ 171450 h 171450"/>
              <a:gd name="connsiteX23" fmla="*/ 171450 w 171450"/>
              <a:gd name="connsiteY23" fmla="*/ 85725 h 171450"/>
              <a:gd name="connsiteX24" fmla="*/ 123825 w 171450"/>
              <a:gd name="connsiteY24" fmla="*/ 85725 h 171450"/>
              <a:gd name="connsiteX25" fmla="*/ 161925 w 171450"/>
              <a:gd name="connsiteY25" fmla="*/ 161925 h 171450"/>
              <a:gd name="connsiteX26" fmla="*/ 133350 w 171450"/>
              <a:gd name="connsiteY26" fmla="*/ 161925 h 171450"/>
              <a:gd name="connsiteX27" fmla="*/ 133350 w 171450"/>
              <a:gd name="connsiteY27" fmla="*/ 95250 h 171450"/>
              <a:gd name="connsiteX28" fmla="*/ 161925 w 171450"/>
              <a:gd name="connsiteY28" fmla="*/ 95250 h 171450"/>
              <a:gd name="connsiteX29" fmla="*/ 161925 w 171450"/>
              <a:gd name="connsiteY29" fmla="*/ 161925 h 171450"/>
              <a:gd name="connsiteX30" fmla="*/ 85725 w 171450"/>
              <a:gd name="connsiteY30" fmla="*/ 92393 h 171450"/>
              <a:gd name="connsiteX31" fmla="*/ 161925 w 171450"/>
              <a:gd name="connsiteY31" fmla="*/ 16192 h 171450"/>
              <a:gd name="connsiteX32" fmla="*/ 161925 w 171450"/>
              <a:gd name="connsiteY32" fmla="*/ 66675 h 171450"/>
              <a:gd name="connsiteX33" fmla="*/ 171450 w 171450"/>
              <a:gd name="connsiteY33" fmla="*/ 66675 h 171450"/>
              <a:gd name="connsiteX34" fmla="*/ 171450 w 171450"/>
              <a:gd name="connsiteY34" fmla="*/ 19050 h 171450"/>
              <a:gd name="connsiteX35" fmla="*/ 152400 w 171450"/>
              <a:gd name="connsiteY35" fmla="*/ 0 h 171450"/>
              <a:gd name="connsiteX36" fmla="*/ 104775 w 171450"/>
              <a:gd name="connsiteY36" fmla="*/ 0 h 171450"/>
              <a:gd name="connsiteX37" fmla="*/ 104775 w 171450"/>
              <a:gd name="connsiteY37" fmla="*/ 9525 h 171450"/>
              <a:gd name="connsiteX38" fmla="*/ 155258 w 171450"/>
              <a:gd name="connsiteY38" fmla="*/ 9525 h 171450"/>
              <a:gd name="connsiteX39" fmla="*/ 85725 w 171450"/>
              <a:gd name="connsiteY39" fmla="*/ 79058 h 171450"/>
              <a:gd name="connsiteX40" fmla="*/ 38100 w 171450"/>
              <a:gd name="connsiteY40" fmla="*/ 36195 h 171450"/>
              <a:gd name="connsiteX41" fmla="*/ 0 w 171450"/>
              <a:gd name="connsiteY41" fmla="*/ 74295 h 171450"/>
              <a:gd name="connsiteX42" fmla="*/ 0 w 171450"/>
              <a:gd name="connsiteY42" fmla="*/ 87630 h 171450"/>
              <a:gd name="connsiteX43" fmla="*/ 38100 w 171450"/>
              <a:gd name="connsiteY43" fmla="*/ 49530 h 171450"/>
              <a:gd name="connsiteX44" fmla="*/ 85725 w 171450"/>
              <a:gd name="connsiteY44" fmla="*/ 92393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71450" h="171450">
                <a:moveTo>
                  <a:pt x="0" y="171450"/>
                </a:moveTo>
                <a:lnTo>
                  <a:pt x="47625" y="171450"/>
                </a:lnTo>
                <a:lnTo>
                  <a:pt x="47625" y="104775"/>
                </a:lnTo>
                <a:lnTo>
                  <a:pt x="0" y="104775"/>
                </a:lnTo>
                <a:lnTo>
                  <a:pt x="0" y="171450"/>
                </a:lnTo>
                <a:close/>
                <a:moveTo>
                  <a:pt x="9525" y="114300"/>
                </a:moveTo>
                <a:lnTo>
                  <a:pt x="38100" y="114300"/>
                </a:lnTo>
                <a:lnTo>
                  <a:pt x="38100" y="161925"/>
                </a:lnTo>
                <a:lnTo>
                  <a:pt x="9525" y="161925"/>
                </a:lnTo>
                <a:lnTo>
                  <a:pt x="9525" y="114300"/>
                </a:lnTo>
                <a:close/>
                <a:moveTo>
                  <a:pt x="61913" y="171450"/>
                </a:moveTo>
                <a:lnTo>
                  <a:pt x="109538" y="171450"/>
                </a:lnTo>
                <a:lnTo>
                  <a:pt x="109538" y="123825"/>
                </a:lnTo>
                <a:lnTo>
                  <a:pt x="61913" y="123825"/>
                </a:lnTo>
                <a:lnTo>
                  <a:pt x="61913" y="171450"/>
                </a:lnTo>
                <a:close/>
                <a:moveTo>
                  <a:pt x="71438" y="133350"/>
                </a:moveTo>
                <a:lnTo>
                  <a:pt x="100013" y="133350"/>
                </a:lnTo>
                <a:lnTo>
                  <a:pt x="100013" y="161925"/>
                </a:lnTo>
                <a:lnTo>
                  <a:pt x="71438" y="161925"/>
                </a:lnTo>
                <a:lnTo>
                  <a:pt x="71438" y="133350"/>
                </a:lnTo>
                <a:close/>
                <a:moveTo>
                  <a:pt x="123825" y="85725"/>
                </a:moveTo>
                <a:lnTo>
                  <a:pt x="123825" y="171450"/>
                </a:lnTo>
                <a:lnTo>
                  <a:pt x="171450" y="171450"/>
                </a:lnTo>
                <a:lnTo>
                  <a:pt x="171450" y="85725"/>
                </a:lnTo>
                <a:lnTo>
                  <a:pt x="123825" y="85725"/>
                </a:lnTo>
                <a:close/>
                <a:moveTo>
                  <a:pt x="161925" y="161925"/>
                </a:moveTo>
                <a:lnTo>
                  <a:pt x="133350" y="161925"/>
                </a:lnTo>
                <a:lnTo>
                  <a:pt x="133350" y="95250"/>
                </a:lnTo>
                <a:lnTo>
                  <a:pt x="161925" y="95250"/>
                </a:lnTo>
                <a:lnTo>
                  <a:pt x="161925" y="161925"/>
                </a:lnTo>
                <a:close/>
                <a:moveTo>
                  <a:pt x="85725" y="92393"/>
                </a:moveTo>
                <a:lnTo>
                  <a:pt x="161925" y="16192"/>
                </a:lnTo>
                <a:lnTo>
                  <a:pt x="161925" y="66675"/>
                </a:lnTo>
                <a:lnTo>
                  <a:pt x="171450" y="66675"/>
                </a:lnTo>
                <a:lnTo>
                  <a:pt x="171450" y="19050"/>
                </a:lnTo>
                <a:lnTo>
                  <a:pt x="152400" y="0"/>
                </a:lnTo>
                <a:lnTo>
                  <a:pt x="104775" y="0"/>
                </a:lnTo>
                <a:lnTo>
                  <a:pt x="104775" y="9525"/>
                </a:lnTo>
                <a:lnTo>
                  <a:pt x="155258" y="9525"/>
                </a:lnTo>
                <a:lnTo>
                  <a:pt x="85725" y="79058"/>
                </a:lnTo>
                <a:lnTo>
                  <a:pt x="38100" y="36195"/>
                </a:lnTo>
                <a:lnTo>
                  <a:pt x="0" y="74295"/>
                </a:lnTo>
                <a:lnTo>
                  <a:pt x="0" y="87630"/>
                </a:lnTo>
                <a:lnTo>
                  <a:pt x="38100" y="49530"/>
                </a:lnTo>
                <a:lnTo>
                  <a:pt x="85725" y="92393"/>
                </a:lnTo>
                <a:close/>
              </a:path>
            </a:pathLst>
          </a:custGeom>
          <a:solidFill>
            <a:srgbClr val="08312A"/>
          </a:solidFill>
          <a:ln w="9525" cap="flat">
            <a:noFill/>
            <a:prstDash val="solid"/>
            <a:miter/>
          </a:ln>
        </p:spPr>
        <p:txBody>
          <a:bodyPr rtlCol="0" anchor="ctr"/>
          <a:lstStyle/>
          <a:p>
            <a:endParaRPr lang="en-US"/>
          </a:p>
        </p:txBody>
      </p:sp>
      <p:sp>
        <p:nvSpPr>
          <p:cNvPr id="65" name="object 34">
            <a:hlinkClick r:id="" action="ppaction://noaction"/>
            <a:extLst>
              <a:ext uri="{FF2B5EF4-FFF2-40B4-BE49-F238E27FC236}">
                <a16:creationId xmlns:a16="http://schemas.microsoft.com/office/drawing/2014/main" id="{EB9E7F5E-9988-180B-D608-DC35490AD207}"/>
              </a:ext>
            </a:extLst>
          </p:cNvPr>
          <p:cNvSpPr/>
          <p:nvPr userDrawn="1"/>
        </p:nvSpPr>
        <p:spPr>
          <a:xfrm>
            <a:off x="7235671" y="0"/>
            <a:ext cx="1098782" cy="476250"/>
          </a:xfrm>
          <a:prstGeom prst="rect">
            <a:avLst/>
          </a:prstGeom>
          <a:solidFill>
            <a:srgbClr val="EFEEEB"/>
          </a:solidFill>
          <a:ln w="6350">
            <a:noFill/>
          </a:ln>
        </p:spPr>
        <p:txBody>
          <a:bodyPr wrap="square" lIns="288000" tIns="0" rIns="36000" bIns="0" rtlCol="0" anchor="ctr">
            <a:normAutofit/>
          </a:bodyP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LR expectations</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at key timepoints​</a:t>
            </a:r>
          </a:p>
        </p:txBody>
      </p:sp>
      <p:sp>
        <p:nvSpPr>
          <p:cNvPr id="66" name="object 34">
            <a:hlinkClick r:id="" action="ppaction://noaction"/>
            <a:extLst>
              <a:ext uri="{FF2B5EF4-FFF2-40B4-BE49-F238E27FC236}">
                <a16:creationId xmlns:a16="http://schemas.microsoft.com/office/drawing/2014/main" id="{17578091-907A-E481-014F-104820989C1E}"/>
              </a:ext>
            </a:extLst>
          </p:cNvPr>
          <p:cNvSpPr/>
          <p:nvPr userDrawn="1"/>
        </p:nvSpPr>
        <p:spPr>
          <a:xfrm>
            <a:off x="8361712" y="0"/>
            <a:ext cx="1098782" cy="476250"/>
          </a:xfrm>
          <a:prstGeom prst="rect">
            <a:avLst/>
          </a:prstGeom>
          <a:solidFill>
            <a:srgbClr val="EFEEEB"/>
          </a:solidFill>
          <a:ln w="6350">
            <a:noFill/>
          </a:ln>
        </p:spPr>
        <p:txBody>
          <a:bodyPr wrap="square" lIns="288000" tIns="0" rIns="36000" bIns="0" rtlCol="0" anchor="ctr">
            <a:normAutofit/>
          </a:bodyP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Preparing &amp; conducting</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LR reviews</a:t>
            </a:r>
          </a:p>
        </p:txBody>
      </p:sp>
      <p:sp>
        <p:nvSpPr>
          <p:cNvPr id="67" name="object 34">
            <a:hlinkClick r:id="" action="ppaction://noaction"/>
            <a:extLst>
              <a:ext uri="{FF2B5EF4-FFF2-40B4-BE49-F238E27FC236}">
                <a16:creationId xmlns:a16="http://schemas.microsoft.com/office/drawing/2014/main" id="{3286F00A-0848-1B52-F0C7-AC5091403AC0}"/>
              </a:ext>
            </a:extLst>
          </p:cNvPr>
          <p:cNvSpPr/>
          <p:nvPr userDrawn="1"/>
        </p:nvSpPr>
        <p:spPr>
          <a:xfrm>
            <a:off x="7235668" y="499172"/>
            <a:ext cx="1098000" cy="230400"/>
          </a:xfrm>
          <a:prstGeom prst="rect">
            <a:avLst/>
          </a:prstGeom>
          <a:solidFill>
            <a:srgbClr val="EFEEEB"/>
          </a:solidFill>
          <a:ln w="6350">
            <a:noFill/>
          </a:ln>
        </p:spPr>
        <p:txBody>
          <a:bodyPr wrap="square" lIns="36000" tIns="0" rIns="36000" bIns="0" rtlCol="0" anchor="ctr">
            <a:normAutofit/>
          </a:bodyPr>
          <a:lstStyle/>
          <a:p>
            <a:pPr marL="12700" lvl="0" algn="l" defTabSz="914400">
              <a:lnSpc>
                <a:spcPct val="100000"/>
              </a:lnSpc>
              <a:spcBef>
                <a:spcPts val="100"/>
              </a:spcBef>
            </a:pPr>
            <a:r>
              <a:rPr lang="en-GB" sz="700" b="0" spc="0" baseline="0">
                <a:solidFill>
                  <a:schemeClr val="bg2"/>
                </a:solidFill>
                <a:latin typeface="Boehringer Forward Text" panose="02000500000000020000" pitchFamily="2" charset="0"/>
                <a:cs typeface="BISans"/>
              </a:rPr>
              <a:t>Part 1: Corporate</a:t>
            </a:r>
          </a:p>
        </p:txBody>
      </p:sp>
      <p:sp>
        <p:nvSpPr>
          <p:cNvPr id="68" name="object 34">
            <a:hlinkClick r:id="" action="ppaction://noaction"/>
            <a:extLst>
              <a:ext uri="{FF2B5EF4-FFF2-40B4-BE49-F238E27FC236}">
                <a16:creationId xmlns:a16="http://schemas.microsoft.com/office/drawing/2014/main" id="{DFAFFFB2-C578-7A78-5EFD-7F709EED8499}"/>
              </a:ext>
            </a:extLst>
          </p:cNvPr>
          <p:cNvSpPr/>
          <p:nvPr userDrawn="1"/>
        </p:nvSpPr>
        <p:spPr>
          <a:xfrm>
            <a:off x="7235668" y="752493"/>
            <a:ext cx="1098000" cy="230400"/>
          </a:xfrm>
          <a:prstGeom prst="rect">
            <a:avLst/>
          </a:prstGeom>
          <a:solidFill>
            <a:srgbClr val="EFEEEB"/>
          </a:solidFill>
          <a:ln w="6350">
            <a:noFill/>
          </a:ln>
        </p:spPr>
        <p:txBody>
          <a:bodyPr wrap="square" lIns="36000" tIns="0" rIns="36000" bIns="0" rtlCol="0" anchor="ctr">
            <a:normAutofit/>
          </a:bodyPr>
          <a:lstStyle/>
          <a:p>
            <a:pPr marL="12700" lvl="0" algn="l" defTabSz="914400">
              <a:lnSpc>
                <a:spcPct val="100000"/>
              </a:lnSpc>
              <a:spcBef>
                <a:spcPts val="100"/>
              </a:spcBef>
            </a:pPr>
            <a:r>
              <a:rPr lang="en-GB" sz="700" b="0" spc="0" baseline="0">
                <a:solidFill>
                  <a:schemeClr val="bg2"/>
                </a:solidFill>
                <a:latin typeface="Boehringer Forward Text" panose="02000500000000020000" pitchFamily="2" charset="0"/>
                <a:cs typeface="BISans"/>
              </a:rPr>
              <a:t>Part 2: </a:t>
            </a:r>
            <a:r>
              <a:rPr lang="en-GB" sz="700" b="0" spc="0" baseline="0" err="1">
                <a:solidFill>
                  <a:schemeClr val="bg2"/>
                </a:solidFill>
                <a:latin typeface="Boehringer Forward Text" panose="02000500000000020000" pitchFamily="2" charset="0"/>
                <a:cs typeface="BISans"/>
              </a:rPr>
              <a:t>OPU</a:t>
            </a:r>
            <a:endParaRPr lang="en-GB" sz="700" b="0" spc="0" baseline="0">
              <a:solidFill>
                <a:schemeClr val="bg2"/>
              </a:solidFill>
              <a:latin typeface="Boehringer Forward Text" panose="02000500000000020000" pitchFamily="2" charset="0"/>
              <a:cs typeface="BISans"/>
            </a:endParaRPr>
          </a:p>
        </p:txBody>
      </p:sp>
      <p:sp>
        <p:nvSpPr>
          <p:cNvPr id="69" name="Graphic 47">
            <a:extLst>
              <a:ext uri="{FF2B5EF4-FFF2-40B4-BE49-F238E27FC236}">
                <a16:creationId xmlns:a16="http://schemas.microsoft.com/office/drawing/2014/main" id="{143F4B65-6F84-C403-55C7-E9DE058D77C1}"/>
              </a:ext>
            </a:extLst>
          </p:cNvPr>
          <p:cNvSpPr/>
          <p:nvPr userDrawn="1"/>
        </p:nvSpPr>
        <p:spPr>
          <a:xfrm>
            <a:off x="7301025" y="159544"/>
            <a:ext cx="157163" cy="157163"/>
          </a:xfrm>
          <a:custGeom>
            <a:avLst/>
            <a:gdLst>
              <a:gd name="connsiteX0" fmla="*/ 100013 w 190500"/>
              <a:gd name="connsiteY0" fmla="*/ 9525 h 190500"/>
              <a:gd name="connsiteX1" fmla="*/ 100013 w 190500"/>
              <a:gd name="connsiteY1" fmla="*/ 0 h 190500"/>
              <a:gd name="connsiteX2" fmla="*/ 190500 w 190500"/>
              <a:gd name="connsiteY2" fmla="*/ 95250 h 190500"/>
              <a:gd name="connsiteX3" fmla="*/ 95250 w 190500"/>
              <a:gd name="connsiteY3" fmla="*/ 190500 h 190500"/>
              <a:gd name="connsiteX4" fmla="*/ 0 w 190500"/>
              <a:gd name="connsiteY4" fmla="*/ 95250 h 190500"/>
              <a:gd name="connsiteX5" fmla="*/ 90488 w 190500"/>
              <a:gd name="connsiteY5" fmla="*/ 0 h 190500"/>
              <a:gd name="connsiteX6" fmla="*/ 90488 w 190500"/>
              <a:gd name="connsiteY6" fmla="*/ 9525 h 190500"/>
              <a:gd name="connsiteX7" fmla="*/ 9525 w 190500"/>
              <a:gd name="connsiteY7" fmla="*/ 95250 h 190500"/>
              <a:gd name="connsiteX8" fmla="*/ 95250 w 190500"/>
              <a:gd name="connsiteY8" fmla="*/ 180975 h 190500"/>
              <a:gd name="connsiteX9" fmla="*/ 180975 w 190500"/>
              <a:gd name="connsiteY9" fmla="*/ 95250 h 190500"/>
              <a:gd name="connsiteX10" fmla="*/ 100013 w 190500"/>
              <a:gd name="connsiteY10" fmla="*/ 9525 h 190500"/>
              <a:gd name="connsiteX11" fmla="*/ 100013 w 190500"/>
              <a:gd name="connsiteY11" fmla="*/ 9525 h 190500"/>
              <a:gd name="connsiteX12" fmla="*/ 90488 w 190500"/>
              <a:gd name="connsiteY12" fmla="*/ 9525 h 190500"/>
              <a:gd name="connsiteX13" fmla="*/ 90488 w 190500"/>
              <a:gd name="connsiteY13" fmla="*/ 97155 h 190500"/>
              <a:gd name="connsiteX14" fmla="*/ 129540 w 190500"/>
              <a:gd name="connsiteY14" fmla="*/ 137160 h 190500"/>
              <a:gd name="connsiteX15" fmla="*/ 137160 w 190500"/>
              <a:gd name="connsiteY15" fmla="*/ 129540 h 190500"/>
              <a:gd name="connsiteX16" fmla="*/ 100013 w 190500"/>
              <a:gd name="connsiteY16" fmla="*/ 93345 h 190500"/>
              <a:gd name="connsiteX17" fmla="*/ 100013 w 190500"/>
              <a:gd name="connsiteY17" fmla="*/ 952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0500" h="190500">
                <a:moveTo>
                  <a:pt x="100013" y="9525"/>
                </a:moveTo>
                <a:lnTo>
                  <a:pt x="100013" y="0"/>
                </a:lnTo>
                <a:cubicBezTo>
                  <a:pt x="150495" y="2857"/>
                  <a:pt x="190500" y="43815"/>
                  <a:pt x="190500" y="95250"/>
                </a:cubicBezTo>
                <a:cubicBezTo>
                  <a:pt x="190500" y="147638"/>
                  <a:pt x="147638" y="190500"/>
                  <a:pt x="95250" y="190500"/>
                </a:cubicBezTo>
                <a:cubicBezTo>
                  <a:pt x="42863" y="190500"/>
                  <a:pt x="0" y="147638"/>
                  <a:pt x="0" y="95250"/>
                </a:cubicBezTo>
                <a:cubicBezTo>
                  <a:pt x="0" y="43815"/>
                  <a:pt x="40005" y="2857"/>
                  <a:pt x="90488" y="0"/>
                </a:cubicBezTo>
                <a:lnTo>
                  <a:pt x="90488" y="9525"/>
                </a:lnTo>
                <a:cubicBezTo>
                  <a:pt x="45720" y="12383"/>
                  <a:pt x="9525" y="49530"/>
                  <a:pt x="9525" y="95250"/>
                </a:cubicBezTo>
                <a:cubicBezTo>
                  <a:pt x="9525" y="142875"/>
                  <a:pt x="47625" y="180975"/>
                  <a:pt x="95250" y="180975"/>
                </a:cubicBezTo>
                <a:cubicBezTo>
                  <a:pt x="142875" y="180975"/>
                  <a:pt x="180975" y="142875"/>
                  <a:pt x="180975" y="95250"/>
                </a:cubicBezTo>
                <a:cubicBezTo>
                  <a:pt x="180975" y="49530"/>
                  <a:pt x="144780" y="12383"/>
                  <a:pt x="100013" y="9525"/>
                </a:cubicBezTo>
                <a:close/>
                <a:moveTo>
                  <a:pt x="100013" y="9525"/>
                </a:moveTo>
                <a:lnTo>
                  <a:pt x="90488" y="9525"/>
                </a:lnTo>
                <a:lnTo>
                  <a:pt x="90488" y="97155"/>
                </a:lnTo>
                <a:lnTo>
                  <a:pt x="129540" y="137160"/>
                </a:lnTo>
                <a:lnTo>
                  <a:pt x="137160" y="129540"/>
                </a:lnTo>
                <a:lnTo>
                  <a:pt x="100013" y="93345"/>
                </a:lnTo>
                <a:lnTo>
                  <a:pt x="100013" y="9525"/>
                </a:lnTo>
                <a:close/>
              </a:path>
            </a:pathLst>
          </a:custGeom>
          <a:solidFill>
            <a:srgbClr val="08312A"/>
          </a:solidFill>
          <a:ln w="9525" cap="flat">
            <a:noFill/>
            <a:prstDash val="solid"/>
            <a:miter/>
          </a:ln>
        </p:spPr>
        <p:txBody>
          <a:bodyPr rtlCol="0" anchor="ctr"/>
          <a:lstStyle/>
          <a:p>
            <a:endParaRPr lang="en-US"/>
          </a:p>
        </p:txBody>
      </p:sp>
      <p:sp>
        <p:nvSpPr>
          <p:cNvPr id="70" name="Graphic 52">
            <a:extLst>
              <a:ext uri="{FF2B5EF4-FFF2-40B4-BE49-F238E27FC236}">
                <a16:creationId xmlns:a16="http://schemas.microsoft.com/office/drawing/2014/main" id="{87CE1A50-728B-A2F0-B35B-D82F43260BA4}"/>
              </a:ext>
            </a:extLst>
          </p:cNvPr>
          <p:cNvSpPr/>
          <p:nvPr userDrawn="1"/>
        </p:nvSpPr>
        <p:spPr>
          <a:xfrm>
            <a:off x="8427065" y="149066"/>
            <a:ext cx="138537" cy="178119"/>
          </a:xfrm>
          <a:custGeom>
            <a:avLst/>
            <a:gdLst>
              <a:gd name="connsiteX0" fmla="*/ 0 w 133350"/>
              <a:gd name="connsiteY0" fmla="*/ 171450 h 171450"/>
              <a:gd name="connsiteX1" fmla="*/ 0 w 133350"/>
              <a:gd name="connsiteY1" fmla="*/ 0 h 171450"/>
              <a:gd name="connsiteX2" fmla="*/ 87697 w 133350"/>
              <a:gd name="connsiteY2" fmla="*/ 0 h 171450"/>
              <a:gd name="connsiteX3" fmla="*/ 133350 w 133350"/>
              <a:gd name="connsiteY3" fmla="*/ 45653 h 171450"/>
              <a:gd name="connsiteX4" fmla="*/ 133350 w 133350"/>
              <a:gd name="connsiteY4" fmla="*/ 171450 h 171450"/>
              <a:gd name="connsiteX5" fmla="*/ 0 w 133350"/>
              <a:gd name="connsiteY5" fmla="*/ 171450 h 171450"/>
              <a:gd name="connsiteX6" fmla="*/ 9525 w 133350"/>
              <a:gd name="connsiteY6" fmla="*/ 161925 h 171450"/>
              <a:gd name="connsiteX7" fmla="*/ 123825 w 133350"/>
              <a:gd name="connsiteY7" fmla="*/ 161925 h 171450"/>
              <a:gd name="connsiteX8" fmla="*/ 123825 w 133350"/>
              <a:gd name="connsiteY8" fmla="*/ 57150 h 171450"/>
              <a:gd name="connsiteX9" fmla="*/ 85725 w 133350"/>
              <a:gd name="connsiteY9" fmla="*/ 57150 h 171450"/>
              <a:gd name="connsiteX10" fmla="*/ 85725 w 133350"/>
              <a:gd name="connsiteY10" fmla="*/ 47625 h 171450"/>
              <a:gd name="connsiteX11" fmla="*/ 121853 w 133350"/>
              <a:gd name="connsiteY11" fmla="*/ 47625 h 171450"/>
              <a:gd name="connsiteX12" fmla="*/ 85725 w 133350"/>
              <a:gd name="connsiteY12" fmla="*/ 11497 h 171450"/>
              <a:gd name="connsiteX13" fmla="*/ 85725 w 133350"/>
              <a:gd name="connsiteY13" fmla="*/ 47625 h 171450"/>
              <a:gd name="connsiteX14" fmla="*/ 76200 w 133350"/>
              <a:gd name="connsiteY14" fmla="*/ 47625 h 171450"/>
              <a:gd name="connsiteX15" fmla="*/ 76200 w 133350"/>
              <a:gd name="connsiteY15" fmla="*/ 9525 h 171450"/>
              <a:gd name="connsiteX16" fmla="*/ 9525 w 133350"/>
              <a:gd name="connsiteY16" fmla="*/ 9525 h 171450"/>
              <a:gd name="connsiteX17" fmla="*/ 9525 w 133350"/>
              <a:gd name="connsiteY17" fmla="*/ 161925 h 171450"/>
              <a:gd name="connsiteX18" fmla="*/ 28575 w 133350"/>
              <a:gd name="connsiteY18" fmla="*/ 104775 h 171450"/>
              <a:gd name="connsiteX19" fmla="*/ 76200 w 133350"/>
              <a:gd name="connsiteY19" fmla="*/ 104775 h 171450"/>
              <a:gd name="connsiteX20" fmla="*/ 76200 w 133350"/>
              <a:gd name="connsiteY20" fmla="*/ 95250 h 171450"/>
              <a:gd name="connsiteX21" fmla="*/ 28575 w 133350"/>
              <a:gd name="connsiteY21" fmla="*/ 95250 h 171450"/>
              <a:gd name="connsiteX22" fmla="*/ 28575 w 133350"/>
              <a:gd name="connsiteY22" fmla="*/ 104775 h 171450"/>
              <a:gd name="connsiteX23" fmla="*/ 104775 w 133350"/>
              <a:gd name="connsiteY23" fmla="*/ 133350 h 171450"/>
              <a:gd name="connsiteX24" fmla="*/ 28575 w 133350"/>
              <a:gd name="connsiteY24" fmla="*/ 133350 h 171450"/>
              <a:gd name="connsiteX25" fmla="*/ 28575 w 133350"/>
              <a:gd name="connsiteY25" fmla="*/ 123825 h 171450"/>
              <a:gd name="connsiteX26" fmla="*/ 104775 w 133350"/>
              <a:gd name="connsiteY26" fmla="*/ 123825 h 171450"/>
              <a:gd name="connsiteX27" fmla="*/ 104775 w 133350"/>
              <a:gd name="connsiteY27" fmla="*/ 13335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3350" h="171450">
                <a:moveTo>
                  <a:pt x="0" y="171450"/>
                </a:moveTo>
                <a:lnTo>
                  <a:pt x="0" y="0"/>
                </a:lnTo>
                <a:lnTo>
                  <a:pt x="87697" y="0"/>
                </a:lnTo>
                <a:lnTo>
                  <a:pt x="133350" y="45653"/>
                </a:lnTo>
                <a:lnTo>
                  <a:pt x="133350" y="171450"/>
                </a:lnTo>
                <a:lnTo>
                  <a:pt x="0" y="171450"/>
                </a:lnTo>
                <a:close/>
                <a:moveTo>
                  <a:pt x="9525" y="161925"/>
                </a:moveTo>
                <a:lnTo>
                  <a:pt x="123825" y="161925"/>
                </a:lnTo>
                <a:lnTo>
                  <a:pt x="123825" y="57150"/>
                </a:lnTo>
                <a:lnTo>
                  <a:pt x="85725" y="57150"/>
                </a:lnTo>
                <a:lnTo>
                  <a:pt x="85725" y="47625"/>
                </a:lnTo>
                <a:lnTo>
                  <a:pt x="121853" y="47625"/>
                </a:lnTo>
                <a:lnTo>
                  <a:pt x="85725" y="11497"/>
                </a:lnTo>
                <a:lnTo>
                  <a:pt x="85725" y="47625"/>
                </a:lnTo>
                <a:lnTo>
                  <a:pt x="76200" y="47625"/>
                </a:lnTo>
                <a:lnTo>
                  <a:pt x="76200" y="9525"/>
                </a:lnTo>
                <a:lnTo>
                  <a:pt x="9525" y="9525"/>
                </a:lnTo>
                <a:lnTo>
                  <a:pt x="9525" y="161925"/>
                </a:lnTo>
                <a:close/>
                <a:moveTo>
                  <a:pt x="28575" y="104775"/>
                </a:moveTo>
                <a:lnTo>
                  <a:pt x="76200" y="104775"/>
                </a:lnTo>
                <a:lnTo>
                  <a:pt x="76200" y="95250"/>
                </a:lnTo>
                <a:lnTo>
                  <a:pt x="28575" y="95250"/>
                </a:lnTo>
                <a:lnTo>
                  <a:pt x="28575" y="104775"/>
                </a:lnTo>
                <a:close/>
                <a:moveTo>
                  <a:pt x="104775" y="133350"/>
                </a:moveTo>
                <a:lnTo>
                  <a:pt x="28575" y="133350"/>
                </a:lnTo>
                <a:lnTo>
                  <a:pt x="28575" y="123825"/>
                </a:lnTo>
                <a:lnTo>
                  <a:pt x="104775" y="123825"/>
                </a:lnTo>
                <a:lnTo>
                  <a:pt x="104775" y="133350"/>
                </a:lnTo>
                <a:close/>
              </a:path>
            </a:pathLst>
          </a:custGeom>
          <a:solidFill>
            <a:srgbClr val="08312A"/>
          </a:solidFill>
          <a:ln w="9525" cap="flat">
            <a:noFill/>
            <a:prstDash val="solid"/>
            <a:miter/>
          </a:ln>
        </p:spPr>
        <p:txBody>
          <a:bodyPr rtlCol="0" anchor="ctr"/>
          <a:lstStyle/>
          <a:p>
            <a:endParaRPr lang="en-US"/>
          </a:p>
        </p:txBody>
      </p:sp>
      <p:sp>
        <p:nvSpPr>
          <p:cNvPr id="5" name="Rectangle 4">
            <a:hlinkClick r:id="" action="ppaction://noaction"/>
            <a:extLst>
              <a:ext uri="{FF2B5EF4-FFF2-40B4-BE49-F238E27FC236}">
                <a16:creationId xmlns:a16="http://schemas.microsoft.com/office/drawing/2014/main" id="{1A3557B1-05E8-8664-1F11-B7969C31E869}"/>
              </a:ext>
            </a:extLst>
          </p:cNvPr>
          <p:cNvSpPr/>
          <p:nvPr userDrawn="1"/>
        </p:nvSpPr>
        <p:spPr>
          <a:xfrm>
            <a:off x="0" y="-11461"/>
            <a:ext cx="479424" cy="499172"/>
          </a:xfrm>
          <a:prstGeom prst="rect">
            <a:avLst/>
          </a:prstGeom>
          <a:solidFill>
            <a:schemeClr val="accent3">
              <a:alpha val="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GB" sz="1400" spc="200" baseline="0">
              <a:solidFill>
                <a:schemeClr val="accent1"/>
              </a:solidFill>
            </a:endParaRPr>
          </a:p>
        </p:txBody>
      </p:sp>
    </p:spTree>
    <p:extLst>
      <p:ext uri="{BB962C8B-B14F-4D97-AF65-F5344CB8AC3E}">
        <p14:creationId xmlns:p14="http://schemas.microsoft.com/office/powerpoint/2010/main" val="15915659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4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Seperate topic for verducatib - 2026 Apr PEC</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88742536"/>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5_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Seperate topic for verducatib - 2026 Apr PEC</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272303656"/>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5_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Seperate topic for verducatib - 2026 Apr PEC</a:t>
            </a:r>
          </a:p>
        </p:txBody>
      </p:sp>
    </p:spTree>
    <p:extLst>
      <p:ext uri="{BB962C8B-B14F-4D97-AF65-F5344CB8AC3E}">
        <p14:creationId xmlns:p14="http://schemas.microsoft.com/office/powerpoint/2010/main" val="2126036699"/>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Seperate topic for verducatib - 2026 Apr PEC</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77524523"/>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5_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Seperate topic for verducatib - 2026 Apr PEC</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5864807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5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Seperate topic for verducatib - 2026 Apr PEC</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24780840"/>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5_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Seperate topic for verducatib - 2026 Apr PEC</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24312857"/>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_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Seperate topic for verducatib - 2026 Apr PEC</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6166973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5_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Seperate topic for verducatib - 2026 Apr PEC</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49970704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5_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Seperate topic for verducatib - 2026 Apr PEC</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50408231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5_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Seperate topic for verducatib - 2026 Apr PEC</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20197606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5_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Seperate topic for verducatib - 2026 Apr PEC</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88297437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5_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Seperate topic for verducatib - 2026 Apr PEC</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4088256860"/>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5_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Seperate topic for verducatib - 2026 Apr PEC</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776294626"/>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_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Seperate topic for verducatib - 2026 Apr PEC</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699274246"/>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4_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Seperate topic for verducatib - 2026 Apr PEC</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8169492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4_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Seperate topic for verducatib - 2026 Apr PEC</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315132284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_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Seperate topic for verducatib - 2026 Apr PEC</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10337486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4_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Seperate topic for verducatib - 2026 Apr PEC</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263077180"/>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4_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Seperate topic for verducatib - 2026 Apr PEC</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458780836"/>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5_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Seperate topic for verducatib - 2026 Apr PEC</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66163678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5_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Seperate topic for verducatib - 2026 Apr PEC</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32165492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5_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Seperate topic for verducatib - 2026 Apr PEC</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42898518"/>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5_One content_Strategic">
    <p:bg>
      <p:bgPr>
        <a:solidFill>
          <a:srgbClr val="EFEEEB"/>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Seperate topic for verducatib - 2026 Apr PEC</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92172637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9671425"/>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ags" Target="../tags/tag1.xml"/><Relationship Id="rId7" Type="http://schemas.openxmlformats.org/officeDocument/2006/relationships/slideLayout" Target="../slideLayouts/slideLayout7.xml"/><Relationship Id="rId71"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oleObject" Target="../embeddings/oleObject1.bin"/><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69946BBC-947B-E9FD-10D6-A9E21B0CE53F}"/>
              </a:ext>
            </a:extLst>
          </p:cNvPr>
          <p:cNvGraphicFramePr>
            <a:graphicFrameLocks noChangeAspect="1"/>
          </p:cNvGraphicFramePr>
          <p:nvPr userDrawn="1">
            <p:custDataLst>
              <p:tags r:id="rId68"/>
            </p:custDataLst>
            <p:extLst>
              <p:ext uri="{D42A27DB-BD31-4B8C-83A1-F6EECF244321}">
                <p14:modId xmlns:p14="http://schemas.microsoft.com/office/powerpoint/2010/main" val="1974699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69" imgW="404" imgH="405" progId="TCLayout.ActiveDocument.1">
                  <p:embed/>
                </p:oleObj>
              </mc:Choice>
              <mc:Fallback>
                <p:oleObj name="think-cell 幻灯片" r:id="rId69" imgW="404" imgH="405" progId="TCLayout.ActiveDocument.1">
                  <p:embed/>
                  <p:pic>
                    <p:nvPicPr>
                      <p:cNvPr id="7" name="think-cell data - do not delete" hidden="1">
                        <a:extLst>
                          <a:ext uri="{FF2B5EF4-FFF2-40B4-BE49-F238E27FC236}">
                            <a16:creationId xmlns:a16="http://schemas.microsoft.com/office/drawing/2014/main" id="{69946BBC-947B-E9FD-10D6-A9E21B0CE53F}"/>
                          </a:ext>
                        </a:extLst>
                      </p:cNvPr>
                      <p:cNvPicPr/>
                      <p:nvPr/>
                    </p:nvPicPr>
                    <p:blipFill>
                      <a:blip r:embed="rId70"/>
                      <a:stretch>
                        <a:fillRect/>
                      </a:stretch>
                    </p:blipFill>
                    <p:spPr>
                      <a:xfrm>
                        <a:off x="1588" y="1588"/>
                        <a:ext cx="1588" cy="1588"/>
                      </a:xfrm>
                      <a:prstGeom prst="rect">
                        <a:avLst/>
                      </a:prstGeom>
                    </p:spPr>
                  </p:pic>
                </p:oleObj>
              </mc:Fallback>
            </mc:AlternateContent>
          </a:graphicData>
        </a:graphic>
      </p:graphicFrame>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Seperate topic for verducatib - 2026 Apr PEC</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71"/>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688107887"/>
      </p:ext>
    </p:extLst>
  </p:cSld>
  <p:clrMap bg1="lt1" tx1="dk1" bg2="lt2" tx2="dk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 id="2147483918" r:id="rId12"/>
    <p:sldLayoutId id="2147483919" r:id="rId13"/>
    <p:sldLayoutId id="2147483920" r:id="rId14"/>
    <p:sldLayoutId id="2147483921" r:id="rId15"/>
    <p:sldLayoutId id="2147483922" r:id="rId16"/>
    <p:sldLayoutId id="2147483923" r:id="rId17"/>
    <p:sldLayoutId id="2147483924" r:id="rId18"/>
    <p:sldLayoutId id="2147483925" r:id="rId19"/>
    <p:sldLayoutId id="2147483926" r:id="rId20"/>
    <p:sldLayoutId id="2147483927" r:id="rId21"/>
    <p:sldLayoutId id="2147483928" r:id="rId22"/>
    <p:sldLayoutId id="2147483929" r:id="rId23"/>
    <p:sldLayoutId id="2147483930" r:id="rId24"/>
    <p:sldLayoutId id="2147483931" r:id="rId25"/>
    <p:sldLayoutId id="2147483932" r:id="rId26"/>
    <p:sldLayoutId id="2147483933" r:id="rId27"/>
    <p:sldLayoutId id="2147483934" r:id="rId28"/>
    <p:sldLayoutId id="2147483935" r:id="rId29"/>
    <p:sldLayoutId id="2147483936" r:id="rId30"/>
    <p:sldLayoutId id="2147483937" r:id="rId31"/>
    <p:sldLayoutId id="2147483938" r:id="rId32"/>
    <p:sldLayoutId id="2147483939" r:id="rId33"/>
    <p:sldLayoutId id="2147483940" r:id="rId34"/>
    <p:sldLayoutId id="2147483941" r:id="rId35"/>
    <p:sldLayoutId id="2147483942" r:id="rId36"/>
    <p:sldLayoutId id="2147483943" r:id="rId37"/>
    <p:sldLayoutId id="2147483944" r:id="rId38"/>
    <p:sldLayoutId id="2147483945" r:id="rId39"/>
    <p:sldLayoutId id="2147483946" r:id="rId40"/>
    <p:sldLayoutId id="2147483947" r:id="rId41"/>
    <p:sldLayoutId id="2147483948" r:id="rId42"/>
    <p:sldLayoutId id="2147483949" r:id="rId43"/>
    <p:sldLayoutId id="2147483950" r:id="rId44"/>
    <p:sldLayoutId id="2147483951" r:id="rId45"/>
    <p:sldLayoutId id="2147483952" r:id="rId46"/>
    <p:sldLayoutId id="2147483953" r:id="rId47"/>
    <p:sldLayoutId id="2147483954" r:id="rId48"/>
    <p:sldLayoutId id="2147483955" r:id="rId49"/>
    <p:sldLayoutId id="2147483956" r:id="rId50"/>
    <p:sldLayoutId id="2147483957" r:id="rId51"/>
    <p:sldLayoutId id="2147483958" r:id="rId52"/>
    <p:sldLayoutId id="2147483959" r:id="rId53"/>
    <p:sldLayoutId id="2147483960" r:id="rId54"/>
    <p:sldLayoutId id="2147483961" r:id="rId55"/>
    <p:sldLayoutId id="2147483962" r:id="rId56"/>
    <p:sldLayoutId id="2147483963" r:id="rId57"/>
    <p:sldLayoutId id="2147483964" r:id="rId58"/>
    <p:sldLayoutId id="2147483965" r:id="rId59"/>
    <p:sldLayoutId id="2147483966" r:id="rId60"/>
    <p:sldLayoutId id="2147483967" r:id="rId61"/>
    <p:sldLayoutId id="2147483968" r:id="rId62"/>
    <p:sldLayoutId id="2147483969" r:id="rId63"/>
    <p:sldLayoutId id="2147483971" r:id="rId64"/>
    <p:sldLayoutId id="2147483972" r:id="rId65"/>
    <p:sldLayoutId id="2147483974" r:id="rId66"/>
  </p:sldLayoutIdLst>
  <p:hf sldNum="0"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4.xml"/><Relationship Id="rId7" Type="http://schemas.openxmlformats.org/officeDocument/2006/relationships/slideLayout" Target="../slideLayouts/slideLayout66.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C_2E72DD8D.xml"/><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microsoft.com/office/2018/10/relationships/comments" Target="../comments/modernComment_105_BB2E943D.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6" Type="http://schemas.openxmlformats.org/officeDocument/2006/relationships/tags" Target="../tags/tag33.xml"/><Relationship Id="rId21" Type="http://schemas.openxmlformats.org/officeDocument/2006/relationships/tags" Target="../tags/tag28.xml"/><Relationship Id="rId42" Type="http://schemas.openxmlformats.org/officeDocument/2006/relationships/tags" Target="../tags/tag49.xml"/><Relationship Id="rId47" Type="http://schemas.openxmlformats.org/officeDocument/2006/relationships/tags" Target="../tags/tag54.xml"/><Relationship Id="rId63" Type="http://schemas.openxmlformats.org/officeDocument/2006/relationships/tags" Target="../tags/tag70.xml"/><Relationship Id="rId68" Type="http://schemas.openxmlformats.org/officeDocument/2006/relationships/tags" Target="../tags/tag75.xml"/><Relationship Id="rId84" Type="http://schemas.openxmlformats.org/officeDocument/2006/relationships/tags" Target="../tags/tag91.xml"/><Relationship Id="rId89" Type="http://schemas.openxmlformats.org/officeDocument/2006/relationships/tags" Target="../tags/tag96.xml"/><Relationship Id="rId16" Type="http://schemas.openxmlformats.org/officeDocument/2006/relationships/tags" Target="../tags/tag23.xml"/><Relationship Id="rId107" Type="http://schemas.openxmlformats.org/officeDocument/2006/relationships/tags" Target="../tags/tag114.xml"/><Relationship Id="rId11" Type="http://schemas.openxmlformats.org/officeDocument/2006/relationships/tags" Target="../tags/tag18.xml"/><Relationship Id="rId32" Type="http://schemas.openxmlformats.org/officeDocument/2006/relationships/tags" Target="../tags/tag39.xml"/><Relationship Id="rId37" Type="http://schemas.openxmlformats.org/officeDocument/2006/relationships/tags" Target="../tags/tag44.xml"/><Relationship Id="rId53" Type="http://schemas.openxmlformats.org/officeDocument/2006/relationships/tags" Target="../tags/tag60.xml"/><Relationship Id="rId58" Type="http://schemas.openxmlformats.org/officeDocument/2006/relationships/tags" Target="../tags/tag65.xml"/><Relationship Id="rId74" Type="http://schemas.openxmlformats.org/officeDocument/2006/relationships/tags" Target="../tags/tag81.xml"/><Relationship Id="rId79" Type="http://schemas.openxmlformats.org/officeDocument/2006/relationships/tags" Target="../tags/tag86.xml"/><Relationship Id="rId102" Type="http://schemas.openxmlformats.org/officeDocument/2006/relationships/tags" Target="../tags/tag109.xml"/><Relationship Id="rId5" Type="http://schemas.openxmlformats.org/officeDocument/2006/relationships/tags" Target="../tags/tag12.xml"/><Relationship Id="rId90" Type="http://schemas.openxmlformats.org/officeDocument/2006/relationships/tags" Target="../tags/tag97.xml"/><Relationship Id="rId95" Type="http://schemas.openxmlformats.org/officeDocument/2006/relationships/tags" Target="../tags/tag102.xml"/><Relationship Id="rId22" Type="http://schemas.openxmlformats.org/officeDocument/2006/relationships/tags" Target="../tags/tag29.xml"/><Relationship Id="rId27" Type="http://schemas.openxmlformats.org/officeDocument/2006/relationships/tags" Target="../tags/tag34.xml"/><Relationship Id="rId43" Type="http://schemas.openxmlformats.org/officeDocument/2006/relationships/tags" Target="../tags/tag50.xml"/><Relationship Id="rId48" Type="http://schemas.openxmlformats.org/officeDocument/2006/relationships/tags" Target="../tags/tag55.xml"/><Relationship Id="rId64" Type="http://schemas.openxmlformats.org/officeDocument/2006/relationships/tags" Target="../tags/tag71.xml"/><Relationship Id="rId69" Type="http://schemas.openxmlformats.org/officeDocument/2006/relationships/tags" Target="../tags/tag76.xml"/><Relationship Id="rId80" Type="http://schemas.openxmlformats.org/officeDocument/2006/relationships/tags" Target="../tags/tag87.xml"/><Relationship Id="rId85" Type="http://schemas.openxmlformats.org/officeDocument/2006/relationships/tags" Target="../tags/tag92.xml"/><Relationship Id="rId12" Type="http://schemas.openxmlformats.org/officeDocument/2006/relationships/tags" Target="../tags/tag19.xml"/><Relationship Id="rId17" Type="http://schemas.openxmlformats.org/officeDocument/2006/relationships/tags" Target="../tags/tag24.xml"/><Relationship Id="rId33" Type="http://schemas.openxmlformats.org/officeDocument/2006/relationships/tags" Target="../tags/tag40.xml"/><Relationship Id="rId38" Type="http://schemas.openxmlformats.org/officeDocument/2006/relationships/tags" Target="../tags/tag45.xml"/><Relationship Id="rId59" Type="http://schemas.openxmlformats.org/officeDocument/2006/relationships/tags" Target="../tags/tag66.xml"/><Relationship Id="rId103" Type="http://schemas.openxmlformats.org/officeDocument/2006/relationships/tags" Target="../tags/tag110.xml"/><Relationship Id="rId108" Type="http://schemas.openxmlformats.org/officeDocument/2006/relationships/tags" Target="../tags/tag115.xml"/><Relationship Id="rId54" Type="http://schemas.openxmlformats.org/officeDocument/2006/relationships/tags" Target="../tags/tag61.xml"/><Relationship Id="rId70" Type="http://schemas.openxmlformats.org/officeDocument/2006/relationships/tags" Target="../tags/tag77.xml"/><Relationship Id="rId75" Type="http://schemas.openxmlformats.org/officeDocument/2006/relationships/tags" Target="../tags/tag82.xml"/><Relationship Id="rId91" Type="http://schemas.openxmlformats.org/officeDocument/2006/relationships/tags" Target="../tags/tag98.xml"/><Relationship Id="rId96" Type="http://schemas.openxmlformats.org/officeDocument/2006/relationships/tags" Target="../tags/tag103.xml"/><Relationship Id="rId1" Type="http://schemas.openxmlformats.org/officeDocument/2006/relationships/tags" Target="../tags/tag8.xml"/><Relationship Id="rId6" Type="http://schemas.openxmlformats.org/officeDocument/2006/relationships/tags" Target="../tags/tag13.xml"/><Relationship Id="rId15" Type="http://schemas.openxmlformats.org/officeDocument/2006/relationships/tags" Target="../tags/tag22.xml"/><Relationship Id="rId23" Type="http://schemas.openxmlformats.org/officeDocument/2006/relationships/tags" Target="../tags/tag30.xml"/><Relationship Id="rId28" Type="http://schemas.openxmlformats.org/officeDocument/2006/relationships/tags" Target="../tags/tag35.xml"/><Relationship Id="rId36" Type="http://schemas.openxmlformats.org/officeDocument/2006/relationships/tags" Target="../tags/tag43.xml"/><Relationship Id="rId49" Type="http://schemas.openxmlformats.org/officeDocument/2006/relationships/tags" Target="../tags/tag56.xml"/><Relationship Id="rId57" Type="http://schemas.openxmlformats.org/officeDocument/2006/relationships/tags" Target="../tags/tag64.xml"/><Relationship Id="rId106" Type="http://schemas.openxmlformats.org/officeDocument/2006/relationships/tags" Target="../tags/tag113.xml"/><Relationship Id="rId10" Type="http://schemas.openxmlformats.org/officeDocument/2006/relationships/tags" Target="../tags/tag17.xml"/><Relationship Id="rId31" Type="http://schemas.openxmlformats.org/officeDocument/2006/relationships/tags" Target="../tags/tag38.xml"/><Relationship Id="rId44" Type="http://schemas.openxmlformats.org/officeDocument/2006/relationships/tags" Target="../tags/tag51.xml"/><Relationship Id="rId52" Type="http://schemas.openxmlformats.org/officeDocument/2006/relationships/tags" Target="../tags/tag59.xml"/><Relationship Id="rId60" Type="http://schemas.openxmlformats.org/officeDocument/2006/relationships/tags" Target="../tags/tag67.xml"/><Relationship Id="rId65" Type="http://schemas.openxmlformats.org/officeDocument/2006/relationships/tags" Target="../tags/tag72.xml"/><Relationship Id="rId73" Type="http://schemas.openxmlformats.org/officeDocument/2006/relationships/tags" Target="../tags/tag80.xml"/><Relationship Id="rId78" Type="http://schemas.openxmlformats.org/officeDocument/2006/relationships/tags" Target="../tags/tag85.xml"/><Relationship Id="rId81" Type="http://schemas.openxmlformats.org/officeDocument/2006/relationships/tags" Target="../tags/tag88.xml"/><Relationship Id="rId86" Type="http://schemas.openxmlformats.org/officeDocument/2006/relationships/tags" Target="../tags/tag93.xml"/><Relationship Id="rId94" Type="http://schemas.openxmlformats.org/officeDocument/2006/relationships/tags" Target="../tags/tag101.xml"/><Relationship Id="rId99" Type="http://schemas.openxmlformats.org/officeDocument/2006/relationships/tags" Target="../tags/tag106.xml"/><Relationship Id="rId101" Type="http://schemas.openxmlformats.org/officeDocument/2006/relationships/tags" Target="../tags/tag108.xml"/><Relationship Id="rId4" Type="http://schemas.openxmlformats.org/officeDocument/2006/relationships/tags" Target="../tags/tag11.xml"/><Relationship Id="rId9" Type="http://schemas.openxmlformats.org/officeDocument/2006/relationships/tags" Target="../tags/tag16.xml"/><Relationship Id="rId13" Type="http://schemas.openxmlformats.org/officeDocument/2006/relationships/tags" Target="../tags/tag20.xml"/><Relationship Id="rId18" Type="http://schemas.openxmlformats.org/officeDocument/2006/relationships/tags" Target="../tags/tag25.xml"/><Relationship Id="rId39" Type="http://schemas.openxmlformats.org/officeDocument/2006/relationships/tags" Target="../tags/tag46.xml"/><Relationship Id="rId109" Type="http://schemas.openxmlformats.org/officeDocument/2006/relationships/slideLayout" Target="../slideLayouts/slideLayout11.xml"/><Relationship Id="rId34" Type="http://schemas.openxmlformats.org/officeDocument/2006/relationships/tags" Target="../tags/tag41.xml"/><Relationship Id="rId50" Type="http://schemas.openxmlformats.org/officeDocument/2006/relationships/tags" Target="../tags/tag57.xml"/><Relationship Id="rId55" Type="http://schemas.openxmlformats.org/officeDocument/2006/relationships/tags" Target="../tags/tag62.xml"/><Relationship Id="rId76" Type="http://schemas.openxmlformats.org/officeDocument/2006/relationships/tags" Target="../tags/tag83.xml"/><Relationship Id="rId97" Type="http://schemas.openxmlformats.org/officeDocument/2006/relationships/tags" Target="../tags/tag104.xml"/><Relationship Id="rId104" Type="http://schemas.openxmlformats.org/officeDocument/2006/relationships/tags" Target="../tags/tag111.xml"/><Relationship Id="rId7" Type="http://schemas.openxmlformats.org/officeDocument/2006/relationships/tags" Target="../tags/tag14.xml"/><Relationship Id="rId71" Type="http://schemas.openxmlformats.org/officeDocument/2006/relationships/tags" Target="../tags/tag78.xml"/><Relationship Id="rId92" Type="http://schemas.openxmlformats.org/officeDocument/2006/relationships/tags" Target="../tags/tag99.xml"/><Relationship Id="rId2" Type="http://schemas.openxmlformats.org/officeDocument/2006/relationships/tags" Target="../tags/tag9.xml"/><Relationship Id="rId29" Type="http://schemas.openxmlformats.org/officeDocument/2006/relationships/tags" Target="../tags/tag36.xml"/><Relationship Id="rId24" Type="http://schemas.openxmlformats.org/officeDocument/2006/relationships/tags" Target="../tags/tag31.xml"/><Relationship Id="rId40" Type="http://schemas.openxmlformats.org/officeDocument/2006/relationships/tags" Target="../tags/tag47.xml"/><Relationship Id="rId45" Type="http://schemas.openxmlformats.org/officeDocument/2006/relationships/tags" Target="../tags/tag52.xml"/><Relationship Id="rId66" Type="http://schemas.openxmlformats.org/officeDocument/2006/relationships/tags" Target="../tags/tag73.xml"/><Relationship Id="rId87" Type="http://schemas.openxmlformats.org/officeDocument/2006/relationships/tags" Target="../tags/tag94.xml"/><Relationship Id="rId110" Type="http://schemas.openxmlformats.org/officeDocument/2006/relationships/notesSlide" Target="../notesSlides/notesSlide4.xml"/><Relationship Id="rId61" Type="http://schemas.openxmlformats.org/officeDocument/2006/relationships/tags" Target="../tags/tag68.xml"/><Relationship Id="rId82" Type="http://schemas.openxmlformats.org/officeDocument/2006/relationships/tags" Target="../tags/tag89.xml"/><Relationship Id="rId19" Type="http://schemas.openxmlformats.org/officeDocument/2006/relationships/tags" Target="../tags/tag26.xml"/><Relationship Id="rId14" Type="http://schemas.openxmlformats.org/officeDocument/2006/relationships/tags" Target="../tags/tag21.xml"/><Relationship Id="rId30" Type="http://schemas.openxmlformats.org/officeDocument/2006/relationships/tags" Target="../tags/tag37.xml"/><Relationship Id="rId35" Type="http://schemas.openxmlformats.org/officeDocument/2006/relationships/tags" Target="../tags/tag42.xml"/><Relationship Id="rId56" Type="http://schemas.openxmlformats.org/officeDocument/2006/relationships/tags" Target="../tags/tag63.xml"/><Relationship Id="rId77" Type="http://schemas.openxmlformats.org/officeDocument/2006/relationships/tags" Target="../tags/tag84.xml"/><Relationship Id="rId100" Type="http://schemas.openxmlformats.org/officeDocument/2006/relationships/tags" Target="../tags/tag107.xml"/><Relationship Id="rId105" Type="http://schemas.openxmlformats.org/officeDocument/2006/relationships/tags" Target="../tags/tag112.xml"/><Relationship Id="rId8" Type="http://schemas.openxmlformats.org/officeDocument/2006/relationships/tags" Target="../tags/tag15.xml"/><Relationship Id="rId51" Type="http://schemas.openxmlformats.org/officeDocument/2006/relationships/tags" Target="../tags/tag58.xml"/><Relationship Id="rId72" Type="http://schemas.openxmlformats.org/officeDocument/2006/relationships/tags" Target="../tags/tag79.xml"/><Relationship Id="rId93" Type="http://schemas.openxmlformats.org/officeDocument/2006/relationships/tags" Target="../tags/tag100.xml"/><Relationship Id="rId98" Type="http://schemas.openxmlformats.org/officeDocument/2006/relationships/tags" Target="../tags/tag105.xml"/><Relationship Id="rId3" Type="http://schemas.openxmlformats.org/officeDocument/2006/relationships/tags" Target="../tags/tag10.xml"/><Relationship Id="rId25" Type="http://schemas.openxmlformats.org/officeDocument/2006/relationships/tags" Target="../tags/tag32.xml"/><Relationship Id="rId46" Type="http://schemas.openxmlformats.org/officeDocument/2006/relationships/tags" Target="../tags/tag53.xml"/><Relationship Id="rId67" Type="http://schemas.openxmlformats.org/officeDocument/2006/relationships/tags" Target="../tags/tag74.xml"/><Relationship Id="rId20" Type="http://schemas.openxmlformats.org/officeDocument/2006/relationships/tags" Target="../tags/tag27.xml"/><Relationship Id="rId41" Type="http://schemas.openxmlformats.org/officeDocument/2006/relationships/tags" Target="../tags/tag48.xml"/><Relationship Id="rId62" Type="http://schemas.openxmlformats.org/officeDocument/2006/relationships/tags" Target="../tags/tag69.xml"/><Relationship Id="rId83" Type="http://schemas.openxmlformats.org/officeDocument/2006/relationships/tags" Target="../tags/tag90.xml"/><Relationship Id="rId88" Type="http://schemas.openxmlformats.org/officeDocument/2006/relationships/tags" Target="../tags/tag95.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1.xml"/><Relationship Id="rId5" Type="http://schemas.openxmlformats.org/officeDocument/2006/relationships/image" Target="../media/image24.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A1561-DC49-1584-F25D-18468607E5A3}"/>
            </a:ext>
          </a:extLst>
        </p:cNvPr>
        <p:cNvGrpSpPr/>
        <p:nvPr/>
      </p:nvGrpSpPr>
      <p:grpSpPr>
        <a:xfrm>
          <a:off x="0" y="0"/>
          <a:ext cx="0" cy="0"/>
          <a:chOff x="0" y="0"/>
          <a:chExt cx="0" cy="0"/>
        </a:xfrm>
      </p:grpSpPr>
      <p:sp>
        <p:nvSpPr>
          <p:cNvPr id="114" name="文本框 113">
            <a:extLst>
              <a:ext uri="{FF2B5EF4-FFF2-40B4-BE49-F238E27FC236}">
                <a16:creationId xmlns:a16="http://schemas.microsoft.com/office/drawing/2014/main" id="{D7F6F8AA-6110-7A97-0042-9B96AF97CD4A}"/>
              </a:ext>
            </a:extLst>
          </p:cNvPr>
          <p:cNvSpPr txBox="1"/>
          <p:nvPr/>
        </p:nvSpPr>
        <p:spPr>
          <a:xfrm>
            <a:off x="6220358" y="6043038"/>
            <a:ext cx="5522420" cy="338554"/>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a:ln>
                  <a:noFill/>
                </a:ln>
                <a:solidFill>
                  <a:schemeClr val="tx1">
                    <a:lumMod val="50000"/>
                    <a:lumOff val="50000"/>
                  </a:schemeClr>
                </a:solidFill>
                <a:effectLst/>
                <a:uLnTx/>
                <a:uFillTx/>
                <a:latin typeface="Boehringer Forward Head"/>
                <a:ea typeface="OPPOSans M"/>
                <a:cs typeface="+mn-cs"/>
              </a:rPr>
              <a:t>□</a:t>
            </a:r>
            <a:r>
              <a:rPr kumimoji="0" lang="en-US" altLang="zh-CN" sz="1600" b="1" i="1" u="none" strike="noStrike" kern="1200" cap="none" spc="0" normalizeH="0" baseline="0" noProof="0">
                <a:ln>
                  <a:noFill/>
                </a:ln>
                <a:solidFill>
                  <a:schemeClr val="tx1">
                    <a:lumMod val="50000"/>
                    <a:lumOff val="50000"/>
                  </a:schemeClr>
                </a:solidFill>
                <a:effectLst/>
                <a:uLnTx/>
                <a:uFillTx/>
                <a:latin typeface="Boehringer Forward Head"/>
                <a:ea typeface="OPPOSans M"/>
                <a:cs typeface="+mn-cs"/>
              </a:rPr>
              <a:t>  For Sharing    </a:t>
            </a:r>
            <a:r>
              <a:rPr kumimoji="0" lang="zh-CN" altLang="en-US" sz="1600" b="1" i="0" u="none" strike="noStrike" kern="1200" cap="none" spc="0" normalizeH="0" baseline="0" noProof="0">
                <a:ln>
                  <a:noFill/>
                </a:ln>
                <a:effectLst/>
                <a:uLnTx/>
                <a:uFillTx/>
                <a:latin typeface="Boehringer Forward Head"/>
                <a:ea typeface="OPPOSans M"/>
                <a:cs typeface="+mn-cs"/>
              </a:rPr>
              <a:t>√</a:t>
            </a:r>
            <a:r>
              <a:rPr kumimoji="0" lang="en-US" altLang="zh-CN" sz="1600" b="1" i="0" u="none" strike="noStrike" kern="1200" cap="none" spc="0" normalizeH="0" baseline="0" noProof="0">
                <a:ln>
                  <a:noFill/>
                </a:ln>
                <a:effectLst/>
                <a:uLnTx/>
                <a:uFillTx/>
                <a:latin typeface="Boehringer Forward Head"/>
                <a:ea typeface="OPPOSans M"/>
                <a:cs typeface="+mn-cs"/>
              </a:rPr>
              <a:t> </a:t>
            </a:r>
            <a:r>
              <a:rPr kumimoji="0" lang="en-US" altLang="zh-CN" sz="1600" b="1" i="1" u="none" strike="noStrike" kern="1200" cap="none" spc="0" normalizeH="0" baseline="0" noProof="0">
                <a:ln>
                  <a:noFill/>
                </a:ln>
                <a:effectLst/>
                <a:uLnTx/>
                <a:uFillTx/>
                <a:latin typeface="Boehringer Forward Head"/>
                <a:ea typeface="OPPOSans M"/>
                <a:cs typeface="+mn-cs"/>
              </a:rPr>
              <a:t> For Advice    </a:t>
            </a:r>
            <a:r>
              <a:rPr kumimoji="0" lang="en-US" altLang="zh-CN" sz="1600" b="1" i="0" u="none" strike="noStrike" kern="1200" cap="none" spc="0" normalizeH="0" baseline="0" noProof="0">
                <a:ln>
                  <a:noFill/>
                </a:ln>
                <a:solidFill>
                  <a:schemeClr val="tx1">
                    <a:lumMod val="50000"/>
                    <a:lumOff val="50000"/>
                  </a:schemeClr>
                </a:solidFill>
                <a:effectLst/>
                <a:uLnTx/>
                <a:uFillTx/>
                <a:latin typeface="Boehringer Forward Head"/>
                <a:ea typeface="OPPOSans M"/>
                <a:cs typeface="+mn-cs"/>
              </a:rPr>
              <a:t>□ </a:t>
            </a:r>
            <a:r>
              <a:rPr kumimoji="0" lang="en-US" altLang="zh-CN" sz="1600" b="1" i="1" u="none" strike="noStrike" kern="1200" cap="none" spc="0" normalizeH="0" baseline="0" noProof="0">
                <a:ln>
                  <a:noFill/>
                </a:ln>
                <a:solidFill>
                  <a:schemeClr val="tx1">
                    <a:lumMod val="50000"/>
                    <a:lumOff val="50000"/>
                  </a:schemeClr>
                </a:solidFill>
                <a:effectLst/>
                <a:uLnTx/>
                <a:uFillTx/>
                <a:latin typeface="Boehringer Forward Head"/>
                <a:ea typeface="OPPOSans M"/>
                <a:cs typeface="+mn-cs"/>
              </a:rPr>
              <a:t> For Endorsement</a:t>
            </a:r>
          </a:p>
        </p:txBody>
      </p:sp>
      <p:sp>
        <p:nvSpPr>
          <p:cNvPr id="5" name="矩形: 圆角 4">
            <a:extLst>
              <a:ext uri="{FF2B5EF4-FFF2-40B4-BE49-F238E27FC236}">
                <a16:creationId xmlns:a16="http://schemas.microsoft.com/office/drawing/2014/main" id="{303C73A6-1C68-D803-61EA-36694E81CAB1}"/>
              </a:ext>
            </a:extLst>
          </p:cNvPr>
          <p:cNvSpPr/>
          <p:nvPr>
            <p:custDataLst>
              <p:tags r:id="rId1"/>
            </p:custDataLst>
          </p:nvPr>
        </p:nvSpPr>
        <p:spPr>
          <a:xfrm>
            <a:off x="429157" y="1552345"/>
            <a:ext cx="5550405" cy="4490693"/>
          </a:xfrm>
          <a:prstGeom prst="roundRect">
            <a:avLst>
              <a:gd name="adj" fmla="val 0"/>
            </a:avLst>
          </a:prstGeom>
          <a:noFill/>
          <a:ln w="11430">
            <a:solidFill>
              <a:schemeClr val="bg1">
                <a:lumMod val="75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20" b="0" i="0" u="none" strike="noStrike" kern="1200" cap="none" spc="0" normalizeH="0" baseline="0" noProof="0">
              <a:ln>
                <a:noFill/>
              </a:ln>
              <a:solidFill>
                <a:prstClr val="white"/>
              </a:solidFill>
              <a:effectLst/>
              <a:uLnTx/>
              <a:uFillTx/>
              <a:latin typeface="Arial"/>
              <a:ea typeface="OPPOSans R"/>
              <a:cs typeface="+mn-cs"/>
            </a:endParaRPr>
          </a:p>
        </p:txBody>
      </p:sp>
      <p:sp>
        <p:nvSpPr>
          <p:cNvPr id="71" name="任意多边形: 形状 70">
            <a:extLst>
              <a:ext uri="{FF2B5EF4-FFF2-40B4-BE49-F238E27FC236}">
                <a16:creationId xmlns:a16="http://schemas.microsoft.com/office/drawing/2014/main" id="{EE986E14-8745-090E-B4E7-83C3B4DDFF20}"/>
              </a:ext>
            </a:extLst>
          </p:cNvPr>
          <p:cNvSpPr/>
          <p:nvPr>
            <p:custDataLst>
              <p:tags r:id="rId2"/>
            </p:custDataLst>
          </p:nvPr>
        </p:nvSpPr>
        <p:spPr>
          <a:xfrm>
            <a:off x="422729" y="1177808"/>
            <a:ext cx="5564469" cy="611756"/>
          </a:xfrm>
          <a:custGeom>
            <a:avLst/>
            <a:gdLst>
              <a:gd name="connsiteX0" fmla="*/ 171559 w 5653087"/>
              <a:gd name="connsiteY0" fmla="*/ 0 h 779010"/>
              <a:gd name="connsiteX1" fmla="*/ 5481528 w 5653087"/>
              <a:gd name="connsiteY1" fmla="*/ 0 h 779010"/>
              <a:gd name="connsiteX2" fmla="*/ 5653087 w 5653087"/>
              <a:gd name="connsiteY2" fmla="*/ 171559 h 779010"/>
              <a:gd name="connsiteX3" fmla="*/ 5653087 w 5653087"/>
              <a:gd name="connsiteY3" fmla="*/ 779010 h 779010"/>
              <a:gd name="connsiteX4" fmla="*/ 0 w 5653087"/>
              <a:gd name="connsiteY4" fmla="*/ 779010 h 779010"/>
              <a:gd name="connsiteX5" fmla="*/ 0 w 5653087"/>
              <a:gd name="connsiteY5" fmla="*/ 171559 h 779010"/>
              <a:gd name="connsiteX6" fmla="*/ 171559 w 5653087"/>
              <a:gd name="connsiteY6" fmla="*/ 0 h 77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53087" h="779010">
                <a:moveTo>
                  <a:pt x="171559" y="0"/>
                </a:moveTo>
                <a:lnTo>
                  <a:pt x="5481528" y="0"/>
                </a:lnTo>
                <a:cubicBezTo>
                  <a:pt x="5576277" y="0"/>
                  <a:pt x="5653087" y="76810"/>
                  <a:pt x="5653087" y="171559"/>
                </a:cubicBezTo>
                <a:lnTo>
                  <a:pt x="5653087" y="779010"/>
                </a:lnTo>
                <a:lnTo>
                  <a:pt x="0" y="779010"/>
                </a:lnTo>
                <a:lnTo>
                  <a:pt x="0" y="171559"/>
                </a:lnTo>
                <a:cubicBezTo>
                  <a:pt x="0" y="76810"/>
                  <a:pt x="76810" y="0"/>
                  <a:pt x="171559" y="0"/>
                </a:cubicBezTo>
                <a:close/>
              </a:path>
            </a:pathLst>
          </a:custGeom>
          <a:gradFill flip="none" rotWithShape="1">
            <a:gsLst>
              <a:gs pos="23000">
                <a:schemeClr val="accent1"/>
              </a:gs>
              <a:gs pos="100000">
                <a:schemeClr val="accent1">
                  <a:lumMod val="80000"/>
                  <a:lumOff val="20000"/>
                </a:schemeClr>
              </a:gs>
            </a:gsLst>
            <a:path path="circle">
              <a:fillToRect l="100000" t="100000"/>
            </a:path>
            <a:tileRect r="-100000" b="-100000"/>
          </a:gradFill>
          <a:ln w="38100">
            <a:noFill/>
          </a:ln>
          <a:effectLst>
            <a:outerShdw blurRad="370332" dist="111100"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8879" tIns="44440" rIns="88879" bIns="4444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750" b="0" i="0" u="none" strike="noStrike" kern="1200" cap="none" spc="0" normalizeH="0" baseline="0" noProof="0">
              <a:ln>
                <a:noFill/>
              </a:ln>
              <a:solidFill>
                <a:prstClr val="white"/>
              </a:solidFill>
              <a:effectLst>
                <a:outerShdw blurRad="123444" dist="37033" dir="2699979" algn="tl">
                  <a:srgbClr val="000000">
                    <a:alpha val="40000"/>
                  </a:srgbClr>
                </a:outerShdw>
              </a:effectLst>
              <a:uLnTx/>
              <a:uFillTx/>
              <a:latin typeface="+mj-ea"/>
              <a:ea typeface="OPPOSans M"/>
              <a:cs typeface="+mn-cs"/>
            </a:endParaRPr>
          </a:p>
        </p:txBody>
      </p:sp>
      <p:sp>
        <p:nvSpPr>
          <p:cNvPr id="72" name="文本框 71">
            <a:extLst>
              <a:ext uri="{FF2B5EF4-FFF2-40B4-BE49-F238E27FC236}">
                <a16:creationId xmlns:a16="http://schemas.microsoft.com/office/drawing/2014/main" id="{67E9D1A4-3E33-5ABF-AF59-D20BFF7AD820}"/>
              </a:ext>
            </a:extLst>
          </p:cNvPr>
          <p:cNvSpPr txBox="1"/>
          <p:nvPr/>
        </p:nvSpPr>
        <p:spPr>
          <a:xfrm>
            <a:off x="668273" y="1178073"/>
            <a:ext cx="4845255" cy="518988"/>
          </a:xfrm>
          <a:prstGeom prst="rect">
            <a:avLst/>
          </a:prstGeom>
          <a:noFill/>
          <a:effectLst/>
        </p:spPr>
        <p:txBody>
          <a:bodyPr wrap="square" lIns="82296" tIns="41148" rIns="82296" bIns="41148">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5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rPr>
              <a:t>Background</a:t>
            </a:r>
            <a:endParaRPr kumimoji="0" lang="zh-CN" altLang="en-US" sz="25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endParaRPr>
          </a:p>
        </p:txBody>
      </p:sp>
      <p:sp>
        <p:nvSpPr>
          <p:cNvPr id="77" name="矩形: 圆角 76">
            <a:extLst>
              <a:ext uri="{FF2B5EF4-FFF2-40B4-BE49-F238E27FC236}">
                <a16:creationId xmlns:a16="http://schemas.microsoft.com/office/drawing/2014/main" id="{8BC925BA-F084-0F1C-CA5D-BA65169AE0A9}"/>
              </a:ext>
            </a:extLst>
          </p:cNvPr>
          <p:cNvSpPr/>
          <p:nvPr>
            <p:custDataLst>
              <p:tags r:id="rId3"/>
            </p:custDataLst>
          </p:nvPr>
        </p:nvSpPr>
        <p:spPr>
          <a:xfrm>
            <a:off x="6227993" y="1552345"/>
            <a:ext cx="5550405" cy="4899826"/>
          </a:xfrm>
          <a:prstGeom prst="roundRect">
            <a:avLst>
              <a:gd name="adj" fmla="val 0"/>
            </a:avLst>
          </a:prstGeom>
          <a:noFill/>
          <a:ln w="11430">
            <a:solidFill>
              <a:schemeClr val="bg1">
                <a:lumMod val="75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20" b="0" i="0" u="none" strike="noStrike" kern="1200" cap="none" spc="0" normalizeH="0" baseline="0" noProof="0">
              <a:ln>
                <a:noFill/>
              </a:ln>
              <a:solidFill>
                <a:prstClr val="white"/>
              </a:solidFill>
              <a:effectLst/>
              <a:uLnTx/>
              <a:uFillTx/>
              <a:latin typeface="Arial"/>
              <a:ea typeface="OPPOSans R"/>
              <a:cs typeface="+mn-cs"/>
            </a:endParaRPr>
          </a:p>
        </p:txBody>
      </p:sp>
      <p:sp>
        <p:nvSpPr>
          <p:cNvPr id="81" name="任意多边形: 形状 80">
            <a:extLst>
              <a:ext uri="{FF2B5EF4-FFF2-40B4-BE49-F238E27FC236}">
                <a16:creationId xmlns:a16="http://schemas.microsoft.com/office/drawing/2014/main" id="{1E187093-28DE-3B25-6412-5DBA35504C35}"/>
              </a:ext>
            </a:extLst>
          </p:cNvPr>
          <p:cNvSpPr/>
          <p:nvPr>
            <p:custDataLst>
              <p:tags r:id="rId4"/>
            </p:custDataLst>
          </p:nvPr>
        </p:nvSpPr>
        <p:spPr>
          <a:xfrm>
            <a:off x="6213929" y="1177808"/>
            <a:ext cx="5564469" cy="611756"/>
          </a:xfrm>
          <a:custGeom>
            <a:avLst/>
            <a:gdLst>
              <a:gd name="connsiteX0" fmla="*/ 171559 w 5653087"/>
              <a:gd name="connsiteY0" fmla="*/ 0 h 779010"/>
              <a:gd name="connsiteX1" fmla="*/ 5481528 w 5653087"/>
              <a:gd name="connsiteY1" fmla="*/ 0 h 779010"/>
              <a:gd name="connsiteX2" fmla="*/ 5653087 w 5653087"/>
              <a:gd name="connsiteY2" fmla="*/ 171559 h 779010"/>
              <a:gd name="connsiteX3" fmla="*/ 5653087 w 5653087"/>
              <a:gd name="connsiteY3" fmla="*/ 779010 h 779010"/>
              <a:gd name="connsiteX4" fmla="*/ 0 w 5653087"/>
              <a:gd name="connsiteY4" fmla="*/ 779010 h 779010"/>
              <a:gd name="connsiteX5" fmla="*/ 0 w 5653087"/>
              <a:gd name="connsiteY5" fmla="*/ 171559 h 779010"/>
              <a:gd name="connsiteX6" fmla="*/ 171559 w 5653087"/>
              <a:gd name="connsiteY6" fmla="*/ 0 h 77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53087" h="779010">
                <a:moveTo>
                  <a:pt x="171559" y="0"/>
                </a:moveTo>
                <a:lnTo>
                  <a:pt x="5481528" y="0"/>
                </a:lnTo>
                <a:cubicBezTo>
                  <a:pt x="5576277" y="0"/>
                  <a:pt x="5653087" y="76810"/>
                  <a:pt x="5653087" y="171559"/>
                </a:cubicBezTo>
                <a:lnTo>
                  <a:pt x="5653087" y="779010"/>
                </a:lnTo>
                <a:lnTo>
                  <a:pt x="0" y="779010"/>
                </a:lnTo>
                <a:lnTo>
                  <a:pt x="0" y="171559"/>
                </a:lnTo>
                <a:cubicBezTo>
                  <a:pt x="0" y="76810"/>
                  <a:pt x="76810" y="0"/>
                  <a:pt x="171559" y="0"/>
                </a:cubicBezTo>
                <a:close/>
              </a:path>
            </a:pathLst>
          </a:custGeom>
          <a:gradFill flip="none" rotWithShape="1">
            <a:gsLst>
              <a:gs pos="0">
                <a:schemeClr val="accent2"/>
              </a:gs>
              <a:gs pos="100000">
                <a:schemeClr val="accent2">
                  <a:lumMod val="90000"/>
                  <a:lumOff val="10000"/>
                </a:schemeClr>
              </a:gs>
            </a:gsLst>
            <a:path path="circle">
              <a:fillToRect t="100000" r="100000"/>
            </a:path>
            <a:tileRect l="-100000" b="-100000"/>
          </a:gradFill>
          <a:ln w="38100">
            <a:noFill/>
          </a:ln>
          <a:effectLst>
            <a:outerShdw blurRad="254000" dist="123444" dir="5400000" sx="99000" sy="99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944" b="0" i="0" u="none" strike="noStrike" kern="1200" cap="none" spc="0" normalizeH="0" baseline="0" noProof="0">
              <a:ln>
                <a:noFill/>
              </a:ln>
              <a:solidFill>
                <a:prstClr val="white"/>
              </a:solidFill>
              <a:effectLst>
                <a:outerShdw blurRad="137160" dist="41148" dir="2699997" algn="tl">
                  <a:srgbClr val="000000">
                    <a:alpha val="40000"/>
                  </a:srgbClr>
                </a:outerShdw>
              </a:effectLst>
              <a:uLnTx/>
              <a:uFillTx/>
              <a:latin typeface="+mj-ea"/>
              <a:ea typeface="OPPOSans M"/>
              <a:cs typeface="+mn-cs"/>
            </a:endParaRPr>
          </a:p>
        </p:txBody>
      </p:sp>
      <p:sp>
        <p:nvSpPr>
          <p:cNvPr id="62" name="文本占位符 1">
            <a:extLst>
              <a:ext uri="{FF2B5EF4-FFF2-40B4-BE49-F238E27FC236}">
                <a16:creationId xmlns:a16="http://schemas.microsoft.com/office/drawing/2014/main" id="{4B527DEF-BA14-337C-1D00-1B0FA20E4C6B}"/>
              </a:ext>
            </a:extLst>
          </p:cNvPr>
          <p:cNvSpPr txBox="1">
            <a:spLocks/>
          </p:cNvSpPr>
          <p:nvPr/>
        </p:nvSpPr>
        <p:spPr>
          <a:xfrm>
            <a:off x="578417" y="-841540"/>
            <a:ext cx="4634366" cy="391967"/>
          </a:xfrm>
          <a:prstGeom prst="rect">
            <a:avLst/>
          </a:prstGeom>
        </p:spPr>
        <p:txBody>
          <a:bodyPr/>
          <a:lstStyle>
            <a:defPPr>
              <a:defRPr lang="zh-CN"/>
            </a:defPPr>
            <a:lvl1pPr indent="0">
              <a:lnSpc>
                <a:spcPct val="90000"/>
              </a:lnSpc>
              <a:spcBef>
                <a:spcPts val="1000"/>
              </a:spcBef>
              <a:buFont typeface="Arial" panose="020B0604020202020204" pitchFamily="34" charset="0"/>
              <a:buNone/>
              <a:defRPr sz="2800">
                <a:solidFill>
                  <a:schemeClr val="accent1"/>
                </a:solidFill>
                <a:latin typeface="思源宋体 CN Heavy" panose="02020900000000000000" pitchFamily="18" charset="-122"/>
                <a:ea typeface="思源宋体 CN Heavy" panose="02020900000000000000" pitchFamily="18" charset="-122"/>
                <a:cs typeface="阿里巴巴普惠体 M" panose="00020600040101010101" pitchFamily="18"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zh-CN" altLang="en-US" sz="2400" b="0" i="0" u="none" strike="noStrike" kern="1200" cap="none" spc="0" normalizeH="0" baseline="0" noProof="0">
              <a:ln>
                <a:noFill/>
              </a:ln>
              <a:solidFill>
                <a:srgbClr val="1E4123"/>
              </a:solidFill>
              <a:effectLst/>
              <a:uLnTx/>
              <a:uFillTx/>
              <a:latin typeface="OPPOSans B" panose="00020600040101010101" pitchFamily="18" charset="-122"/>
              <a:ea typeface="OPPOSans B" panose="00020600040101010101" pitchFamily="18" charset="-122"/>
            </a:endParaRPr>
          </a:p>
        </p:txBody>
      </p:sp>
      <p:sp>
        <p:nvSpPr>
          <p:cNvPr id="87" name="文本框 86">
            <a:extLst>
              <a:ext uri="{FF2B5EF4-FFF2-40B4-BE49-F238E27FC236}">
                <a16:creationId xmlns:a16="http://schemas.microsoft.com/office/drawing/2014/main" id="{9FB4F76F-99A7-ED5E-7FFC-EB63C2124275}"/>
              </a:ext>
            </a:extLst>
          </p:cNvPr>
          <p:cNvSpPr txBox="1"/>
          <p:nvPr/>
        </p:nvSpPr>
        <p:spPr>
          <a:xfrm>
            <a:off x="6540174" y="1191485"/>
            <a:ext cx="4850842" cy="518988"/>
          </a:xfrm>
          <a:prstGeom prst="rect">
            <a:avLst/>
          </a:prstGeom>
          <a:noFill/>
          <a:effectLst/>
        </p:spPr>
        <p:txBody>
          <a:bodyPr wrap="square" lIns="82296" tIns="41148" rIns="82296" bIns="41148">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5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rPr>
              <a:t>PEC Discussion</a:t>
            </a:r>
            <a:endParaRPr kumimoji="0" lang="zh-CN" altLang="en-US" sz="25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endParaRPr>
          </a:p>
        </p:txBody>
      </p:sp>
      <p:sp>
        <p:nvSpPr>
          <p:cNvPr id="105" name="矩形 104">
            <a:extLst>
              <a:ext uri="{FF2B5EF4-FFF2-40B4-BE49-F238E27FC236}">
                <a16:creationId xmlns:a16="http://schemas.microsoft.com/office/drawing/2014/main" id="{B64F824A-54BD-AC7A-7832-E0A1FC032D83}"/>
              </a:ext>
            </a:extLst>
          </p:cNvPr>
          <p:cNvSpPr/>
          <p:nvPr/>
        </p:nvSpPr>
        <p:spPr>
          <a:xfrm>
            <a:off x="6540175" y="2590365"/>
            <a:ext cx="4963454" cy="2112264"/>
          </a:xfrm>
          <a:prstGeom prst="rect">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OPPOSans R"/>
              <a:cs typeface="+mn-cs"/>
            </a:endParaRPr>
          </a:p>
        </p:txBody>
      </p:sp>
      <p:sp>
        <p:nvSpPr>
          <p:cNvPr id="106" name="矩形: 圆角 105">
            <a:extLst>
              <a:ext uri="{FF2B5EF4-FFF2-40B4-BE49-F238E27FC236}">
                <a16:creationId xmlns:a16="http://schemas.microsoft.com/office/drawing/2014/main" id="{E77B23B5-8FF8-07B8-00CC-DFFC38E9218B}"/>
              </a:ext>
            </a:extLst>
          </p:cNvPr>
          <p:cNvSpPr/>
          <p:nvPr>
            <p:custDataLst>
              <p:tags r:id="rId5"/>
            </p:custDataLst>
          </p:nvPr>
        </p:nvSpPr>
        <p:spPr>
          <a:xfrm>
            <a:off x="6448818" y="2127796"/>
            <a:ext cx="3365795" cy="377055"/>
          </a:xfrm>
          <a:prstGeom prst="roundRect">
            <a:avLst>
              <a:gd name="adj" fmla="val 13302"/>
            </a:avLst>
          </a:prstGeom>
          <a:solidFill>
            <a:schemeClr val="tx2"/>
          </a:solidFill>
          <a:ln w="38100">
            <a:noFill/>
          </a:ln>
          <a:effectLst>
            <a:outerShdw blurRad="411480" dist="123444"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rPr>
              <a:t>Team Proposal</a:t>
            </a:r>
            <a:endParaRPr kumimoji="0" lang="zh-CN" altLang="en-US" sz="1600" b="1"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endParaRPr>
          </a:p>
        </p:txBody>
      </p:sp>
      <p:sp>
        <p:nvSpPr>
          <p:cNvPr id="107" name="矩形 106">
            <a:extLst>
              <a:ext uri="{FF2B5EF4-FFF2-40B4-BE49-F238E27FC236}">
                <a16:creationId xmlns:a16="http://schemas.microsoft.com/office/drawing/2014/main" id="{09A565E2-578E-809A-54E0-DC19407D71DB}"/>
              </a:ext>
            </a:extLst>
          </p:cNvPr>
          <p:cNvSpPr/>
          <p:nvPr/>
        </p:nvSpPr>
        <p:spPr>
          <a:xfrm>
            <a:off x="6540175" y="5417829"/>
            <a:ext cx="4963454" cy="570232"/>
          </a:xfrm>
          <a:prstGeom prst="rect">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OPPOSans R"/>
              <a:cs typeface="+mn-cs"/>
            </a:endParaRPr>
          </a:p>
        </p:txBody>
      </p:sp>
      <p:sp>
        <p:nvSpPr>
          <p:cNvPr id="108" name="矩形: 圆角 107">
            <a:extLst>
              <a:ext uri="{FF2B5EF4-FFF2-40B4-BE49-F238E27FC236}">
                <a16:creationId xmlns:a16="http://schemas.microsoft.com/office/drawing/2014/main" id="{8B48CF73-2BC2-114D-1206-18606BD463CC}"/>
              </a:ext>
            </a:extLst>
          </p:cNvPr>
          <p:cNvSpPr/>
          <p:nvPr>
            <p:custDataLst>
              <p:tags r:id="rId6"/>
            </p:custDataLst>
          </p:nvPr>
        </p:nvSpPr>
        <p:spPr>
          <a:xfrm>
            <a:off x="6448817" y="4915704"/>
            <a:ext cx="3365795" cy="377055"/>
          </a:xfrm>
          <a:prstGeom prst="roundRect">
            <a:avLst>
              <a:gd name="adj" fmla="val 13302"/>
            </a:avLst>
          </a:prstGeom>
          <a:solidFill>
            <a:schemeClr val="tx2"/>
          </a:solidFill>
          <a:ln w="38100">
            <a:noFill/>
          </a:ln>
          <a:effectLst>
            <a:outerShdw blurRad="411480" dist="123444"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1">
                <a:solidFill>
                  <a:prstClr val="white"/>
                </a:solidFill>
                <a:effectLst>
                  <a:outerShdw blurRad="38100" dist="38100" dir="2700000" algn="tl">
                    <a:srgbClr val="000000">
                      <a:alpha val="43137"/>
                    </a:srgbClr>
                  </a:outerShdw>
                </a:effectLst>
                <a:latin typeface="Boehringer Forward Head"/>
                <a:ea typeface="OPPOSans M"/>
              </a:rPr>
              <a:t>Request for PEC</a:t>
            </a:r>
            <a:endParaRPr kumimoji="0" lang="zh-CN" altLang="en-US" sz="1600" b="1"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endParaRPr>
          </a:p>
        </p:txBody>
      </p:sp>
      <p:sp>
        <p:nvSpPr>
          <p:cNvPr id="111" name="文本框 110">
            <a:extLst>
              <a:ext uri="{FF2B5EF4-FFF2-40B4-BE49-F238E27FC236}">
                <a16:creationId xmlns:a16="http://schemas.microsoft.com/office/drawing/2014/main" id="{4ACF4F76-8080-4F4E-8B1D-D9FEA8474FCC}"/>
              </a:ext>
            </a:extLst>
          </p:cNvPr>
          <p:cNvSpPr txBox="1"/>
          <p:nvPr/>
        </p:nvSpPr>
        <p:spPr>
          <a:xfrm>
            <a:off x="6540173" y="2753649"/>
            <a:ext cx="4894017" cy="1948980"/>
          </a:xfrm>
          <a:prstGeom prst="rect">
            <a:avLst/>
          </a:prstGeom>
          <a:noFill/>
        </p:spPr>
        <p:txBody>
          <a:bodyPr wrap="square">
            <a:noAutofit/>
          </a:bodyPr>
          <a:lstStyle>
            <a:defPPr>
              <a:defRPr lang="en-US"/>
            </a:defPPr>
            <a:lvl1pPr>
              <a:lnSpc>
                <a:spcPct val="125000"/>
              </a:lnSpc>
              <a:defRPr kern="100">
                <a:effectLst/>
                <a:latin typeface="+mn-ea"/>
                <a:cs typeface="仿宋" panose="02010609060101010101" pitchFamily="49" charset="-122"/>
              </a:defRPr>
            </a:lvl1pPr>
          </a:lstStyle>
          <a:p>
            <a:pPr marL="0" marR="0" lvl="0" indent="0" algn="l" defTabSz="914400" rtl="0" eaLnBrk="1" fontAlgn="auto" latinLnBrk="0" hangingPunct="1">
              <a:lnSpc>
                <a:spcPct val="100000"/>
              </a:lnSpc>
              <a:spcBef>
                <a:spcPts val="0"/>
              </a:spcBef>
              <a:spcAft>
                <a:spcPts val="200"/>
              </a:spcAft>
              <a:buClrTx/>
              <a:buSzTx/>
              <a:buFontTx/>
              <a:buNone/>
              <a:tabLst/>
              <a:defRPr/>
            </a:pPr>
            <a:r>
              <a:rPr lang="en-US" altLang="zh-CN" sz="1300" b="1" kern="1200">
                <a:latin typeface="Arial"/>
                <a:cs typeface="+mn-cs"/>
              </a:rPr>
              <a:t>Team proposed the following key results &amp; messages to deliver to key stakeholders (commercial TA, LRR </a:t>
            </a:r>
            <a:r>
              <a:rPr lang="en-US" altLang="zh-CN" sz="1300" b="1" kern="1200" err="1">
                <a:latin typeface="Arial"/>
                <a:cs typeface="+mn-cs"/>
              </a:rPr>
              <a:t>etc</a:t>
            </a:r>
            <a:r>
              <a:rPr lang="en-US" altLang="zh-CN" sz="1300" b="1" kern="1200">
                <a:latin typeface="Arial"/>
                <a:cs typeface="+mn-cs"/>
              </a:rPr>
              <a:t>):</a:t>
            </a:r>
          </a:p>
          <a:p>
            <a:pPr marL="342900" marR="0" lvl="0" indent="-342900" algn="l" defTabSz="914400" rtl="0" eaLnBrk="1" fontAlgn="auto" latinLnBrk="0" hangingPunct="1">
              <a:lnSpc>
                <a:spcPct val="100000"/>
              </a:lnSpc>
              <a:spcBef>
                <a:spcPts val="0"/>
              </a:spcBef>
              <a:spcAft>
                <a:spcPts val="200"/>
              </a:spcAft>
              <a:buClrTx/>
              <a:buSzTx/>
              <a:buFont typeface="+mj-lt"/>
              <a:buAutoNum type="arabicPeriod"/>
              <a:tabLst/>
              <a:defRPr/>
            </a:pPr>
            <a:r>
              <a:rPr kumimoji="0" lang="en-US" altLang="zh-CN" sz="1300" b="0" u="none" strike="noStrike" kern="1200" cap="none" spc="0" normalizeH="0" baseline="0" noProof="0">
                <a:ln>
                  <a:noFill/>
                </a:ln>
                <a:effectLst/>
                <a:uLnTx/>
                <a:uFillTx/>
                <a:latin typeface="Arial"/>
                <a:cs typeface="+mn-cs"/>
              </a:rPr>
              <a:t>Acceleration of NDA submission is </a:t>
            </a:r>
            <a:r>
              <a:rPr kumimoji="0" lang="en-US" altLang="zh-CN" sz="1300" b="1" u="none" strike="noStrike" kern="1200" cap="none" spc="0" normalizeH="0" baseline="0" noProof="0">
                <a:ln>
                  <a:noFill/>
                </a:ln>
                <a:solidFill>
                  <a:srgbClr val="FF0000"/>
                </a:solidFill>
                <a:effectLst/>
                <a:uLnTx/>
                <a:uFillTx/>
                <a:latin typeface="Arial"/>
                <a:cs typeface="+mn-cs"/>
              </a:rPr>
              <a:t>conditionally possible</a:t>
            </a:r>
            <a:r>
              <a:rPr kumimoji="0" lang="en-US" altLang="zh-CN" sz="1300" b="0" u="none" strike="noStrike" kern="1200" cap="none" spc="0" normalizeH="0" baseline="0" noProof="0">
                <a:ln>
                  <a:noFill/>
                </a:ln>
                <a:effectLst/>
                <a:uLnTx/>
                <a:uFillTx/>
                <a:latin typeface="Arial"/>
                <a:cs typeface="+mn-cs"/>
              </a:rPr>
              <a:t> and requires explicit documentation of assumptions and risks. (Re-visits should be considered following each milestones</a:t>
            </a:r>
            <a:r>
              <a:rPr lang="en-US" altLang="zh-CN" sz="1300" kern="1200">
                <a:latin typeface="Arial"/>
                <a:cs typeface="+mn-cs"/>
              </a:rPr>
              <a:t>.)</a:t>
            </a:r>
          </a:p>
          <a:p>
            <a:pPr marL="342900" marR="0" lvl="0" indent="-342900" algn="l" defTabSz="914400" rtl="0" eaLnBrk="1" fontAlgn="auto" latinLnBrk="0" hangingPunct="1">
              <a:lnSpc>
                <a:spcPct val="100000"/>
              </a:lnSpc>
              <a:spcBef>
                <a:spcPts val="0"/>
              </a:spcBef>
              <a:spcAft>
                <a:spcPts val="200"/>
              </a:spcAft>
              <a:buClrTx/>
              <a:buSzTx/>
              <a:buFont typeface="+mj-lt"/>
              <a:buAutoNum type="arabicPeriod"/>
              <a:tabLst/>
              <a:defRPr/>
            </a:pPr>
            <a:endParaRPr lang="en-US" altLang="zh-CN" sz="1300" kern="1200">
              <a:latin typeface="Arial"/>
              <a:cs typeface="+mn-cs"/>
            </a:endParaRPr>
          </a:p>
          <a:p>
            <a:pPr marL="342900" marR="0" lvl="0" indent="-342900" algn="l" defTabSz="914400" rtl="0" eaLnBrk="1" fontAlgn="auto" latinLnBrk="0" hangingPunct="1">
              <a:lnSpc>
                <a:spcPct val="100000"/>
              </a:lnSpc>
              <a:spcBef>
                <a:spcPts val="0"/>
              </a:spcBef>
              <a:spcAft>
                <a:spcPts val="200"/>
              </a:spcAft>
              <a:buClrTx/>
              <a:buSzTx/>
              <a:buFont typeface="+mj-lt"/>
              <a:buAutoNum type="arabicPeriod"/>
              <a:tabLst/>
              <a:defRPr/>
            </a:pPr>
            <a:r>
              <a:rPr kumimoji="0" lang="en-US" altLang="zh-CN" sz="1300" b="0" u="none" strike="noStrike" kern="1200" cap="none" spc="0" normalizeH="0" baseline="0" noProof="0">
                <a:ln>
                  <a:noFill/>
                </a:ln>
                <a:effectLst/>
                <a:uLnTx/>
                <a:uFillTx/>
                <a:latin typeface="Arial"/>
                <a:cs typeface="+mn-cs"/>
              </a:rPr>
              <a:t>The </a:t>
            </a:r>
            <a:r>
              <a:rPr lang="en-US" altLang="zh-CN" sz="1300" kern="1200" err="1">
                <a:latin typeface="Arial"/>
                <a:cs typeface="+mn-cs"/>
              </a:rPr>
              <a:t>PoS</a:t>
            </a:r>
            <a:r>
              <a:rPr lang="en-US" altLang="zh-CN" sz="1300" kern="1200">
                <a:latin typeface="Arial"/>
                <a:cs typeface="+mn-cs"/>
              </a:rPr>
              <a:t> (Probability of Success) of NDA approval in China in </a:t>
            </a:r>
            <a:r>
              <a:rPr lang="en-US" altLang="zh-CN" sz="1300" b="1" kern="1200">
                <a:latin typeface="Arial"/>
                <a:cs typeface="+mn-cs"/>
              </a:rPr>
              <a:t>June 2028 </a:t>
            </a:r>
            <a:r>
              <a:rPr lang="en-US" altLang="zh-CN" sz="1300" kern="1200">
                <a:latin typeface="Arial"/>
                <a:cs typeface="+mn-cs"/>
              </a:rPr>
              <a:t>is </a:t>
            </a:r>
            <a:r>
              <a:rPr lang="en-US" altLang="zh-CN" sz="1300" b="1" u="sng" kern="1200">
                <a:solidFill>
                  <a:srgbClr val="FF0000"/>
                </a:solidFill>
                <a:latin typeface="Arial"/>
                <a:cs typeface="+mn-cs"/>
              </a:rPr>
              <a:t>low</a:t>
            </a:r>
            <a:r>
              <a:rPr lang="en-US" altLang="zh-CN" sz="1300" kern="1200">
                <a:latin typeface="Arial"/>
                <a:cs typeface="+mn-cs"/>
              </a:rPr>
              <a:t>.</a:t>
            </a:r>
            <a:endParaRPr kumimoji="0" lang="zh-CN" altLang="en-US" sz="1300" b="0" u="none" strike="noStrike" kern="1200" cap="none" spc="0" normalizeH="0" baseline="0" noProof="0">
              <a:ln>
                <a:noFill/>
              </a:ln>
              <a:effectLst/>
              <a:uLnTx/>
              <a:uFillTx/>
              <a:latin typeface="Arial"/>
              <a:cs typeface="+mn-cs"/>
            </a:endParaRPr>
          </a:p>
        </p:txBody>
      </p:sp>
      <p:sp>
        <p:nvSpPr>
          <p:cNvPr id="112" name="文本框 111">
            <a:extLst>
              <a:ext uri="{FF2B5EF4-FFF2-40B4-BE49-F238E27FC236}">
                <a16:creationId xmlns:a16="http://schemas.microsoft.com/office/drawing/2014/main" id="{2D66FB3C-8C6F-1465-0B30-4BE8612D2899}"/>
              </a:ext>
            </a:extLst>
          </p:cNvPr>
          <p:cNvSpPr txBox="1"/>
          <p:nvPr/>
        </p:nvSpPr>
        <p:spPr>
          <a:xfrm>
            <a:off x="6609613" y="5444560"/>
            <a:ext cx="4824577" cy="443909"/>
          </a:xfrm>
          <a:prstGeom prst="rect">
            <a:avLst/>
          </a:prstGeom>
          <a:noFill/>
        </p:spPr>
        <p:txBody>
          <a:bodyPr wrap="square">
            <a:no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lang="en-US" altLang="zh-CN" sz="1200">
                <a:latin typeface="Arial"/>
              </a:rPr>
              <a:t>Seek PEC </a:t>
            </a:r>
            <a:r>
              <a:rPr lang="en-US" altLang="zh-CN" sz="1200" b="1">
                <a:latin typeface="Arial"/>
              </a:rPr>
              <a:t>advice</a:t>
            </a:r>
            <a:r>
              <a:rPr lang="en-US" altLang="zh-CN" sz="1200">
                <a:latin typeface="Arial"/>
              </a:rPr>
              <a:t> on the assessment results and stakeholder communication message/plan.</a:t>
            </a:r>
            <a:endParaRPr kumimoji="0" lang="zh-CN" altLang="en-US" sz="1200" b="0" u="none" strike="noStrike" kern="1200" cap="none" spc="0" normalizeH="0" baseline="0" noProof="0">
              <a:ln>
                <a:noFill/>
              </a:ln>
              <a:effectLst/>
              <a:uLnTx/>
              <a:uFillTx/>
              <a:latin typeface="Arial"/>
              <a:cs typeface="+mn-cs"/>
            </a:endParaRPr>
          </a:p>
        </p:txBody>
      </p:sp>
      <p:sp>
        <p:nvSpPr>
          <p:cNvPr id="13" name="文本框 12">
            <a:extLst>
              <a:ext uri="{FF2B5EF4-FFF2-40B4-BE49-F238E27FC236}">
                <a16:creationId xmlns:a16="http://schemas.microsoft.com/office/drawing/2014/main" id="{535D8A5C-58A9-7337-F4D3-7D1BA51C2CD8}"/>
              </a:ext>
            </a:extLst>
          </p:cNvPr>
          <p:cNvSpPr txBox="1"/>
          <p:nvPr/>
        </p:nvSpPr>
        <p:spPr>
          <a:xfrm>
            <a:off x="415151" y="1819708"/>
            <a:ext cx="5680849" cy="4223330"/>
          </a:xfrm>
          <a:prstGeom prst="rect">
            <a:avLst/>
          </a:prstGeom>
          <a:noFill/>
        </p:spPr>
        <p:txBody>
          <a:bodyPr wrap="square">
            <a:noAutofit/>
          </a:bodyPr>
          <a:lstStyle/>
          <a:p>
            <a:pPr marL="0" marR="0" lvl="0" indent="0" algn="ctr" defTabSz="457200" rtl="0" eaLnBrk="1" fontAlgn="auto" latinLnBrk="0" hangingPunct="1">
              <a:lnSpc>
                <a:spcPct val="100000"/>
              </a:lnSpc>
              <a:spcBef>
                <a:spcPts val="0"/>
              </a:spcBef>
              <a:spcAft>
                <a:spcPts val="200"/>
              </a:spcAft>
              <a:buClrTx/>
              <a:buSzTx/>
              <a:buFontTx/>
              <a:buNone/>
              <a:tabLst/>
              <a:defRPr/>
            </a:pPr>
            <a:r>
              <a:rPr kumimoji="0" lang="en-US" altLang="zh-CN" sz="1400" b="1" u="none" strike="noStrike" kern="1200" cap="none" spc="0" normalizeH="0" baseline="0" noProof="0">
                <a:ln>
                  <a:noFill/>
                </a:ln>
                <a:effectLst/>
                <a:highlight>
                  <a:srgbClr val="C0C0C0"/>
                </a:highlight>
                <a:uLnTx/>
                <a:uFillTx/>
                <a:latin typeface="Arial"/>
                <a:ea typeface="OPPOSans R"/>
                <a:cs typeface="+mn-cs"/>
              </a:rPr>
              <a:t>Rationale for Evaluating Earlier NDA Submission (China)</a:t>
            </a:r>
          </a:p>
          <a:p>
            <a:pPr marR="0" lvl="0" algn="l" defTabSz="457200" rtl="0" eaLnBrk="1" fontAlgn="auto" latinLnBrk="0" hangingPunct="1">
              <a:lnSpc>
                <a:spcPct val="100000"/>
              </a:lnSpc>
              <a:spcBef>
                <a:spcPts val="0"/>
              </a:spcBef>
              <a:spcAft>
                <a:spcPts val="200"/>
              </a:spcAft>
              <a:buClrTx/>
              <a:buSzTx/>
              <a:tabLst/>
              <a:defRPr/>
            </a:pPr>
            <a:endParaRPr kumimoji="0" lang="en-US" altLang="zh-CN" sz="1400" b="1" u="none" strike="noStrike" kern="1200" cap="none" spc="0" normalizeH="0" baseline="0" noProof="0">
              <a:ln>
                <a:noFill/>
              </a:ln>
              <a:effectLst/>
              <a:uLnTx/>
              <a:uFillTx/>
              <a:latin typeface="Arial"/>
              <a:ea typeface="OPPOSans R"/>
              <a:cs typeface="+mn-cs"/>
            </a:endParaRPr>
          </a:p>
          <a:p>
            <a:pPr marR="0" lvl="0" algn="l" defTabSz="457200" rtl="0" eaLnBrk="1" fontAlgn="auto" latinLnBrk="0" hangingPunct="1">
              <a:lnSpc>
                <a:spcPct val="100000"/>
              </a:lnSpc>
              <a:spcBef>
                <a:spcPts val="0"/>
              </a:spcBef>
              <a:spcAft>
                <a:spcPts val="200"/>
              </a:spcAft>
              <a:buClrTx/>
              <a:buSzTx/>
              <a:tabLst/>
              <a:defRPr/>
            </a:pPr>
            <a:r>
              <a:rPr kumimoji="0" lang="en-US" altLang="zh-CN" sz="1400" b="1" u="none" strike="noStrike" kern="1200" cap="none" spc="0" normalizeH="0" baseline="0" noProof="0">
                <a:ln>
                  <a:noFill/>
                </a:ln>
                <a:solidFill>
                  <a:srgbClr val="7030A0"/>
                </a:solidFill>
                <a:effectLst/>
                <a:uLnTx/>
                <a:uFillTx/>
                <a:latin typeface="Arial"/>
                <a:ea typeface="OPPOSans R"/>
                <a:cs typeface="+mn-cs"/>
              </a:rPr>
              <a:t>Current best case NDA submission &amp; approval in China</a:t>
            </a:r>
          </a:p>
          <a:p>
            <a:pPr marL="0" marR="0" lvl="0" indent="0" algn="l" defTabSz="457200" rtl="0" eaLnBrk="1" fontAlgn="auto" latinLnBrk="0" hangingPunct="1">
              <a:lnSpc>
                <a:spcPct val="100000"/>
              </a:lnSpc>
              <a:spcBef>
                <a:spcPts val="0"/>
              </a:spcBef>
              <a:spcAft>
                <a:spcPts val="200"/>
              </a:spcAft>
              <a:buClrTx/>
              <a:buSzTx/>
              <a:buFontTx/>
              <a:buNone/>
              <a:tabLst/>
              <a:defRPr/>
            </a:pPr>
            <a:endParaRPr lang="en-US" altLang="zh-CN" sz="1400">
              <a:latin typeface="Arial"/>
              <a:ea typeface="OPPOSans R"/>
            </a:endParaRPr>
          </a:p>
          <a:p>
            <a:pPr marL="0" marR="0" lvl="0" indent="0" algn="l" defTabSz="457200" rtl="0" eaLnBrk="1" fontAlgn="auto" latinLnBrk="0" hangingPunct="1">
              <a:lnSpc>
                <a:spcPct val="100000"/>
              </a:lnSpc>
              <a:spcBef>
                <a:spcPts val="0"/>
              </a:spcBef>
              <a:spcAft>
                <a:spcPts val="200"/>
              </a:spcAft>
              <a:buClrTx/>
              <a:buSzTx/>
              <a:buFontTx/>
              <a:buNone/>
              <a:tabLst/>
              <a:defRPr/>
            </a:pPr>
            <a:endParaRPr lang="en-US" altLang="zh-CN" sz="1400">
              <a:latin typeface="Arial"/>
              <a:ea typeface="OPPOSans R"/>
            </a:endParaRPr>
          </a:p>
          <a:p>
            <a:pPr marL="0" marR="0" lvl="0" indent="0" algn="l" defTabSz="457200" rtl="0" eaLnBrk="1" fontAlgn="auto" latinLnBrk="0" hangingPunct="1">
              <a:lnSpc>
                <a:spcPct val="100000"/>
              </a:lnSpc>
              <a:spcBef>
                <a:spcPts val="0"/>
              </a:spcBef>
              <a:spcAft>
                <a:spcPts val="200"/>
              </a:spcAft>
              <a:buClrTx/>
              <a:buSzTx/>
              <a:buFontTx/>
              <a:buNone/>
              <a:tabLst/>
              <a:defRPr/>
            </a:pPr>
            <a:endParaRPr lang="en-US" altLang="zh-CN" sz="1400">
              <a:latin typeface="Arial"/>
              <a:ea typeface="OPPOSans R"/>
            </a:endParaRPr>
          </a:p>
          <a:p>
            <a:pPr marL="0" marR="0" lvl="0" indent="0" algn="l" defTabSz="457200" rtl="0" eaLnBrk="1" fontAlgn="auto" latinLnBrk="0" hangingPunct="1">
              <a:lnSpc>
                <a:spcPct val="100000"/>
              </a:lnSpc>
              <a:spcBef>
                <a:spcPts val="0"/>
              </a:spcBef>
              <a:spcAft>
                <a:spcPts val="200"/>
              </a:spcAft>
              <a:buClrTx/>
              <a:buSzTx/>
              <a:buFontTx/>
              <a:buNone/>
              <a:tabLst/>
              <a:defRPr/>
            </a:pPr>
            <a:endParaRPr lang="en-US" altLang="zh-CN" sz="1400">
              <a:latin typeface="Arial"/>
              <a:ea typeface="OPPOSans R"/>
            </a:endParaRPr>
          </a:p>
          <a:p>
            <a:pPr marL="0" marR="0" lvl="0" indent="0" algn="l" defTabSz="457200" rtl="0" eaLnBrk="1" fontAlgn="auto" latinLnBrk="0" hangingPunct="1">
              <a:lnSpc>
                <a:spcPct val="100000"/>
              </a:lnSpc>
              <a:spcBef>
                <a:spcPts val="0"/>
              </a:spcBef>
              <a:spcAft>
                <a:spcPts val="200"/>
              </a:spcAft>
              <a:buClrTx/>
              <a:buSzTx/>
              <a:buFontTx/>
              <a:buNone/>
              <a:tabLst/>
              <a:defRPr/>
            </a:pPr>
            <a:endParaRPr lang="en-US" altLang="zh-CN" sz="1400">
              <a:latin typeface="Arial"/>
              <a:ea typeface="OPPOSans R"/>
            </a:endParaRPr>
          </a:p>
          <a:p>
            <a:pPr marL="0" marR="0" lvl="0" indent="0" algn="l" defTabSz="457200" rtl="0" eaLnBrk="1" fontAlgn="auto" latinLnBrk="0" hangingPunct="1">
              <a:lnSpc>
                <a:spcPct val="150000"/>
              </a:lnSpc>
              <a:spcBef>
                <a:spcPts val="0"/>
              </a:spcBef>
              <a:spcAft>
                <a:spcPts val="200"/>
              </a:spcAft>
              <a:buClrTx/>
              <a:buSzTx/>
              <a:buFontTx/>
              <a:buNone/>
              <a:tabLst/>
              <a:defRPr/>
            </a:pPr>
            <a:r>
              <a:rPr kumimoji="0" lang="en-US" altLang="zh-CN" sz="1400" b="1" u="none" strike="noStrike" kern="1200" cap="none" spc="0" normalizeH="0" baseline="0" noProof="0">
                <a:ln>
                  <a:noFill/>
                </a:ln>
                <a:solidFill>
                  <a:srgbClr val="7030A0"/>
                </a:solidFill>
                <a:effectLst/>
                <a:uLnTx/>
                <a:uFillTx/>
                <a:latin typeface="Arial"/>
                <a:ea typeface="OPPOSans R"/>
                <a:cs typeface="+mn-cs"/>
              </a:rPr>
              <a:t>Why reconsider the timeline now</a:t>
            </a:r>
            <a:r>
              <a:rPr kumimoji="0" lang="zh-CN" altLang="en-US" sz="1400" b="1" u="none" strike="noStrike" kern="1200" cap="none" spc="0" normalizeH="0" baseline="0" noProof="0">
                <a:ln>
                  <a:noFill/>
                </a:ln>
                <a:solidFill>
                  <a:srgbClr val="7030A0"/>
                </a:solidFill>
                <a:effectLst/>
                <a:uLnTx/>
                <a:uFillTx/>
                <a:latin typeface="Arial"/>
                <a:ea typeface="OPPOSans R"/>
                <a:cs typeface="+mn-cs"/>
              </a:rPr>
              <a:t>？</a:t>
            </a:r>
            <a:endParaRPr kumimoji="0" lang="en-US" altLang="zh-CN" sz="1400" b="1" u="none" strike="noStrike" kern="1200" cap="none" spc="0" normalizeH="0" baseline="0" noProof="0">
              <a:ln>
                <a:noFill/>
              </a:ln>
              <a:solidFill>
                <a:srgbClr val="7030A0"/>
              </a:solidFill>
              <a:effectLst/>
              <a:uLnTx/>
              <a:uFillTx/>
              <a:latin typeface="Arial"/>
              <a:ea typeface="OPPOSans R"/>
              <a:cs typeface="+mn-cs"/>
            </a:endParaRPr>
          </a:p>
          <a:p>
            <a:pPr marL="0" marR="0" lvl="0" indent="0" algn="l" defTabSz="457200" rtl="0" eaLnBrk="1" fontAlgn="auto" latinLnBrk="0" hangingPunct="1">
              <a:lnSpc>
                <a:spcPct val="150000"/>
              </a:lnSpc>
              <a:spcBef>
                <a:spcPts val="0"/>
              </a:spcBef>
              <a:spcAft>
                <a:spcPts val="200"/>
              </a:spcAft>
              <a:buClrTx/>
              <a:buSzTx/>
              <a:buFontTx/>
              <a:buNone/>
              <a:tabLst/>
              <a:defRPr/>
            </a:pPr>
            <a:r>
              <a:rPr kumimoji="0" lang="en-US" altLang="zh-CN" sz="1300" b="1" u="none" strike="noStrike" kern="1200" cap="none" spc="0" normalizeH="0" baseline="0" noProof="0">
                <a:ln>
                  <a:noFill/>
                </a:ln>
                <a:effectLst/>
                <a:uLnTx/>
                <a:uFillTx/>
                <a:latin typeface="Arial"/>
                <a:ea typeface="OPPOSans R"/>
                <a:cs typeface="+mn-cs"/>
              </a:rPr>
              <a:t>Target to enter the same NRDL cycle with HSK31858 (commercial ambition)</a:t>
            </a:r>
          </a:p>
          <a:p>
            <a:pPr marL="285750" marR="0" lvl="0" indent="-285750" algn="l" defTabSz="457200" rtl="0" eaLnBrk="1" fontAlgn="auto" latinLnBrk="0" hangingPunct="1">
              <a:lnSpc>
                <a:spcPct val="150000"/>
              </a:lnSpc>
              <a:spcBef>
                <a:spcPts val="0"/>
              </a:spcBef>
              <a:spcAft>
                <a:spcPts val="200"/>
              </a:spcAft>
              <a:buClrTx/>
              <a:buSzTx/>
              <a:buFont typeface="Arial" panose="020B0604020202020204" pitchFamily="34" charset="0"/>
              <a:buChar char="•"/>
              <a:tabLst/>
              <a:defRPr/>
            </a:pPr>
            <a:r>
              <a:rPr lang="en-US" altLang="zh-CN" sz="1300" b="1">
                <a:latin typeface="Arial"/>
                <a:ea typeface="OPPOSans R"/>
              </a:rPr>
              <a:t>Competitive context: </a:t>
            </a:r>
            <a:r>
              <a:rPr lang="en-US" altLang="zh-CN" sz="1300">
                <a:latin typeface="Arial"/>
                <a:ea typeface="OPPOSans R"/>
              </a:rPr>
              <a:t>The local DPP‑1 inhibitor </a:t>
            </a:r>
            <a:r>
              <a:rPr lang="en-US" altLang="zh-CN" sz="1300">
                <a:solidFill>
                  <a:srgbClr val="7030A0"/>
                </a:solidFill>
                <a:latin typeface="Arial"/>
                <a:ea typeface="OPPOSans R"/>
              </a:rPr>
              <a:t>HSK31858</a:t>
            </a:r>
            <a:r>
              <a:rPr lang="en-US" altLang="zh-CN" sz="1300">
                <a:latin typeface="Arial"/>
                <a:ea typeface="OPPOSans R"/>
              </a:rPr>
              <a:t> is expected to get NDA approval before Q1 2028 (~1 year earlier than verducatib under the current plan), which could materially affect pricing leverage and market positioning if verducatib enters NRDL 1y later.</a:t>
            </a:r>
          </a:p>
        </p:txBody>
      </p:sp>
      <p:sp>
        <p:nvSpPr>
          <p:cNvPr id="3" name="Object13">
            <a:extLst>
              <a:ext uri="{FF2B5EF4-FFF2-40B4-BE49-F238E27FC236}">
                <a16:creationId xmlns:a16="http://schemas.microsoft.com/office/drawing/2014/main" id="{92AA00A2-7158-0AF9-9552-DC21A4AAA83F}"/>
              </a:ext>
            </a:extLst>
          </p:cNvPr>
          <p:cNvSpPr/>
          <p:nvPr/>
        </p:nvSpPr>
        <p:spPr>
          <a:xfrm>
            <a:off x="1165860" y="533400"/>
            <a:ext cx="2857500" cy="365760"/>
          </a:xfrm>
          <a:prstGeom prst="rect">
            <a:avLst/>
          </a:prstGeom>
          <a:noFill/>
          <a:ln/>
        </p:spPr>
        <p:txBody>
          <a:bodyPr wrap="square" lIns="0" tIns="0" rIns="0" bIns="0" rtlCol="0" anchor="ctr"/>
          <a:lstStyle/>
          <a:p>
            <a:pPr marL="0" marR="0" lvl="0" indent="0" algn="l" defTabSz="731520" rtl="0" eaLnBrk="1" fontAlgn="auto" latinLnBrk="0" hangingPunct="1">
              <a:lnSpc>
                <a:spcPct val="100000"/>
              </a:lnSpc>
              <a:spcBef>
                <a:spcPts val="0"/>
              </a:spcBef>
              <a:spcAft>
                <a:spcPts val="0"/>
              </a:spcAft>
              <a:buClrTx/>
              <a:buSzTx/>
              <a:buFontTx/>
              <a:buNone/>
              <a:tabLst/>
              <a:defRPr/>
            </a:pPr>
            <a:endParaRPr kumimoji="0" lang="en-US" sz="3182" b="0" i="0" u="none" strike="noStrike" kern="1200" cap="none" spc="0" normalizeH="0" baseline="0" noProof="0">
              <a:ln>
                <a:noFill/>
              </a:ln>
              <a:solidFill>
                <a:sysClr val="windowText" lastClr="000000"/>
              </a:solidFill>
              <a:effectLst/>
              <a:uLnTx/>
              <a:uFillTx/>
              <a:latin typeface="OPPOSans H" panose="00020600040101010101" pitchFamily="18" charset="-122"/>
              <a:ea typeface="OPPOSans H" panose="00020600040101010101" pitchFamily="18" charset="-122"/>
              <a:cs typeface="OPPOSans H" panose="00020600040101010101" pitchFamily="18" charset="-122"/>
            </a:endParaRPr>
          </a:p>
        </p:txBody>
      </p:sp>
      <p:sp>
        <p:nvSpPr>
          <p:cNvPr id="15" name="Title 1">
            <a:extLst>
              <a:ext uri="{FF2B5EF4-FFF2-40B4-BE49-F238E27FC236}">
                <a16:creationId xmlns:a16="http://schemas.microsoft.com/office/drawing/2014/main" id="{9CAEB505-8AA3-BF33-A06A-63027225206B}"/>
              </a:ext>
            </a:extLst>
          </p:cNvPr>
          <p:cNvSpPr txBox="1">
            <a:spLocks/>
          </p:cNvSpPr>
          <p:nvPr/>
        </p:nvSpPr>
        <p:spPr>
          <a:xfrm>
            <a:off x="422729" y="261244"/>
            <a:ext cx="11348033" cy="720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1800" b="1" i="1" u="none" strike="noStrike" kern="1200" cap="none" spc="0" normalizeH="0" baseline="0" noProof="0">
                <a:ln>
                  <a:noFill/>
                </a:ln>
                <a:solidFill>
                  <a:prstClr val="black">
                    <a:lumMod val="50000"/>
                    <a:lumOff val="50000"/>
                  </a:prstClr>
                </a:solidFill>
                <a:effectLst/>
                <a:uLnTx/>
                <a:uFillTx/>
                <a:latin typeface="Boehringer Forward Head"/>
                <a:ea typeface="OPPOSans M"/>
                <a:cs typeface="+mj-cs"/>
              </a:rPr>
              <a:t>Executive Summary for Specific Topic</a:t>
            </a:r>
            <a:br>
              <a:rPr kumimoji="0" lang="en-US" altLang="zh-CN" sz="2500" b="1" i="0" u="none" strike="noStrike" kern="1200" cap="none" spc="0" normalizeH="0" baseline="0" noProof="0">
                <a:ln>
                  <a:noFill/>
                </a:ln>
                <a:solidFill>
                  <a:prstClr val="black">
                    <a:lumMod val="50000"/>
                    <a:lumOff val="50000"/>
                  </a:prstClr>
                </a:solidFill>
                <a:effectLst/>
                <a:uLnTx/>
                <a:uFillTx/>
                <a:latin typeface="Boehringer Forward Head"/>
                <a:ea typeface="OPPOSans M"/>
                <a:cs typeface="+mj-cs"/>
              </a:rPr>
            </a:br>
            <a:r>
              <a:rPr kumimoji="0" lang="en-US" altLang="zh-CN" sz="2500" b="1" i="0" u="none" strike="noStrike" kern="1200" cap="none" spc="0" normalizeH="0" baseline="0" noProof="0">
                <a:ln>
                  <a:noFill/>
                </a:ln>
                <a:solidFill>
                  <a:srgbClr val="306534"/>
                </a:solidFill>
                <a:effectLst/>
                <a:uLnTx/>
                <a:uFillTx/>
                <a:latin typeface="Boehringer Forward Head"/>
                <a:ea typeface="OPPOSans M"/>
                <a:cs typeface="+mj-cs"/>
              </a:rPr>
              <a:t>Verducatib - Earlier NDA Submission Probability Analysis</a:t>
            </a:r>
            <a:endParaRPr kumimoji="0" lang="zh-CN" altLang="en-US" sz="4400" b="0" i="0" u="none" strike="noStrike" kern="1200" cap="none" spc="0" normalizeH="0" baseline="0" noProof="0">
              <a:ln>
                <a:noFill/>
              </a:ln>
              <a:solidFill>
                <a:srgbClr val="306534"/>
              </a:solidFill>
              <a:effectLst/>
              <a:uLnTx/>
              <a:uFillTx/>
              <a:latin typeface="Arial Black"/>
              <a:ea typeface="OPPOSans M"/>
              <a:cs typeface="+mj-cs"/>
            </a:endParaRPr>
          </a:p>
        </p:txBody>
      </p:sp>
      <p:cxnSp>
        <p:nvCxnSpPr>
          <p:cNvPr id="4" name="Straight Arrow Connector 3">
            <a:extLst>
              <a:ext uri="{FF2B5EF4-FFF2-40B4-BE49-F238E27FC236}">
                <a16:creationId xmlns:a16="http://schemas.microsoft.com/office/drawing/2014/main" id="{2571C7CE-36AC-853F-E215-4AFF533F75C8}"/>
              </a:ext>
            </a:extLst>
          </p:cNvPr>
          <p:cNvCxnSpPr>
            <a:cxnSpLocks/>
          </p:cNvCxnSpPr>
          <p:nvPr/>
        </p:nvCxnSpPr>
        <p:spPr bwMode="gray">
          <a:xfrm>
            <a:off x="1331464" y="3114988"/>
            <a:ext cx="3672615"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Flowchart: Connector 5">
            <a:extLst>
              <a:ext uri="{FF2B5EF4-FFF2-40B4-BE49-F238E27FC236}">
                <a16:creationId xmlns:a16="http://schemas.microsoft.com/office/drawing/2014/main" id="{D3A64658-DA29-CB20-8D00-19E9D3D47423}"/>
              </a:ext>
            </a:extLst>
          </p:cNvPr>
          <p:cNvSpPr/>
          <p:nvPr/>
        </p:nvSpPr>
        <p:spPr bwMode="gray">
          <a:xfrm>
            <a:off x="1497205" y="3044650"/>
            <a:ext cx="150725" cy="150725"/>
          </a:xfrm>
          <a:prstGeom prst="flowChartConnector">
            <a:avLst/>
          </a:prstGeom>
          <a:solidFill>
            <a:srgbClr val="00B05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7" name="TextBox 6">
            <a:extLst>
              <a:ext uri="{FF2B5EF4-FFF2-40B4-BE49-F238E27FC236}">
                <a16:creationId xmlns:a16="http://schemas.microsoft.com/office/drawing/2014/main" id="{0B541FBD-6B4C-30FF-AA3D-0F20D7C48C86}"/>
              </a:ext>
            </a:extLst>
          </p:cNvPr>
          <p:cNvSpPr txBox="1"/>
          <p:nvPr/>
        </p:nvSpPr>
        <p:spPr bwMode="gray">
          <a:xfrm>
            <a:off x="1318934" y="3335721"/>
            <a:ext cx="1002294" cy="371577"/>
          </a:xfrm>
          <a:prstGeom prst="rect">
            <a:avLst/>
          </a:prstGeom>
          <a:noFill/>
        </p:spPr>
        <p:txBody>
          <a:bodyPr wrap="square" lIns="0" tIns="0" rIns="0" bIns="0" rtlCol="0">
            <a:spAutoFit/>
          </a:bodyPr>
          <a:lstStyle/>
          <a:p>
            <a:pPr>
              <a:lnSpc>
                <a:spcPct val="140000"/>
              </a:lnSpc>
            </a:pPr>
            <a:r>
              <a:rPr lang="en-US" altLang="zh-CN" sz="900" b="1"/>
              <a:t>Dec 2027</a:t>
            </a:r>
          </a:p>
          <a:p>
            <a:pPr>
              <a:lnSpc>
                <a:spcPct val="140000"/>
              </a:lnSpc>
            </a:pPr>
            <a:r>
              <a:rPr lang="en-US" altLang="zh-CN" sz="900" b="1"/>
              <a:t>NDA submission</a:t>
            </a:r>
            <a:endParaRPr lang="zh-CN" altLang="en-US" sz="900" b="1"/>
          </a:p>
        </p:txBody>
      </p:sp>
      <p:sp>
        <p:nvSpPr>
          <p:cNvPr id="8" name="Flowchart: Connector 7">
            <a:extLst>
              <a:ext uri="{FF2B5EF4-FFF2-40B4-BE49-F238E27FC236}">
                <a16:creationId xmlns:a16="http://schemas.microsoft.com/office/drawing/2014/main" id="{122CE422-A0BC-5426-17D1-46BAD372DD62}"/>
              </a:ext>
            </a:extLst>
          </p:cNvPr>
          <p:cNvSpPr/>
          <p:nvPr/>
        </p:nvSpPr>
        <p:spPr bwMode="gray">
          <a:xfrm>
            <a:off x="2775513" y="3039625"/>
            <a:ext cx="150725" cy="150725"/>
          </a:xfrm>
          <a:prstGeom prst="flowChartConnector">
            <a:avLst/>
          </a:prstGeom>
          <a:solidFill>
            <a:srgbClr val="00B05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9" name="TextBox 8">
            <a:extLst>
              <a:ext uri="{FF2B5EF4-FFF2-40B4-BE49-F238E27FC236}">
                <a16:creationId xmlns:a16="http://schemas.microsoft.com/office/drawing/2014/main" id="{362EB066-3659-8F86-C7F3-A648DB8A6029}"/>
              </a:ext>
            </a:extLst>
          </p:cNvPr>
          <p:cNvSpPr txBox="1"/>
          <p:nvPr/>
        </p:nvSpPr>
        <p:spPr bwMode="gray">
          <a:xfrm>
            <a:off x="2731952" y="3335721"/>
            <a:ext cx="1009802" cy="371577"/>
          </a:xfrm>
          <a:prstGeom prst="rect">
            <a:avLst/>
          </a:prstGeom>
          <a:noFill/>
        </p:spPr>
        <p:txBody>
          <a:bodyPr wrap="square" lIns="0" tIns="0" rIns="0" bIns="0" rtlCol="0">
            <a:spAutoFit/>
          </a:bodyPr>
          <a:lstStyle/>
          <a:p>
            <a:pPr>
              <a:lnSpc>
                <a:spcPct val="140000"/>
              </a:lnSpc>
            </a:pPr>
            <a:r>
              <a:rPr lang="en-US" altLang="zh-CN" sz="900" b="1"/>
              <a:t>Dec 2028</a:t>
            </a:r>
          </a:p>
          <a:p>
            <a:pPr>
              <a:lnSpc>
                <a:spcPct val="140000"/>
              </a:lnSpc>
            </a:pPr>
            <a:r>
              <a:rPr lang="en-US" altLang="zh-CN" sz="900" b="1"/>
              <a:t>NDA Approval</a:t>
            </a:r>
            <a:endParaRPr lang="zh-CN" altLang="en-US" sz="900" b="1"/>
          </a:p>
        </p:txBody>
      </p:sp>
      <p:sp>
        <p:nvSpPr>
          <p:cNvPr id="11" name="Flowchart: Connector 10">
            <a:extLst>
              <a:ext uri="{FF2B5EF4-FFF2-40B4-BE49-F238E27FC236}">
                <a16:creationId xmlns:a16="http://schemas.microsoft.com/office/drawing/2014/main" id="{13916146-3463-2A24-A7D5-A17659D84EB9}"/>
              </a:ext>
            </a:extLst>
          </p:cNvPr>
          <p:cNvSpPr/>
          <p:nvPr/>
        </p:nvSpPr>
        <p:spPr bwMode="gray">
          <a:xfrm>
            <a:off x="2319874" y="3039625"/>
            <a:ext cx="150725" cy="150725"/>
          </a:xfrm>
          <a:prstGeom prst="flowChartConnector">
            <a:avLst/>
          </a:prstGeom>
          <a:solidFill>
            <a:srgbClr val="FFFF00"/>
          </a:solid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highlight>
                <a:srgbClr val="FFFF00"/>
              </a:highlight>
            </a:endParaRPr>
          </a:p>
        </p:txBody>
      </p:sp>
      <p:sp>
        <p:nvSpPr>
          <p:cNvPr id="12" name="TextBox 11">
            <a:extLst>
              <a:ext uri="{FF2B5EF4-FFF2-40B4-BE49-F238E27FC236}">
                <a16:creationId xmlns:a16="http://schemas.microsoft.com/office/drawing/2014/main" id="{CEA63E06-1882-2CB8-33D1-4E93281538AF}"/>
              </a:ext>
            </a:extLst>
          </p:cNvPr>
          <p:cNvSpPr txBox="1"/>
          <p:nvPr/>
        </p:nvSpPr>
        <p:spPr bwMode="gray">
          <a:xfrm>
            <a:off x="2056919" y="2625380"/>
            <a:ext cx="757413" cy="371577"/>
          </a:xfrm>
          <a:prstGeom prst="rect">
            <a:avLst/>
          </a:prstGeom>
          <a:solidFill>
            <a:srgbClr val="FFFF00"/>
          </a:solidFill>
          <a:ln>
            <a:solidFill>
              <a:schemeClr val="tx1"/>
            </a:solidFill>
            <a:prstDash val="lgDash"/>
          </a:ln>
        </p:spPr>
        <p:txBody>
          <a:bodyPr wrap="square" lIns="0" tIns="0" rIns="0" bIns="0" rtlCol="0" anchor="t">
            <a:spAutoFit/>
          </a:bodyPr>
          <a:lstStyle/>
          <a:p>
            <a:pPr algn="ctr">
              <a:lnSpc>
                <a:spcPct val="140000"/>
              </a:lnSpc>
            </a:pPr>
            <a:r>
              <a:rPr lang="en-US" altLang="zh-CN" sz="900"/>
              <a:t>June 2028</a:t>
            </a:r>
          </a:p>
          <a:p>
            <a:pPr algn="ctr">
              <a:lnSpc>
                <a:spcPct val="140000"/>
              </a:lnSpc>
            </a:pPr>
            <a:r>
              <a:rPr lang="en-US" altLang="zh-CN" sz="900" b="1"/>
              <a:t>2028 NRDL</a:t>
            </a:r>
            <a:endParaRPr lang="zh-CN" altLang="en-US" sz="900" b="1"/>
          </a:p>
        </p:txBody>
      </p:sp>
      <p:sp>
        <p:nvSpPr>
          <p:cNvPr id="14" name="Flowchart: Connector 13">
            <a:extLst>
              <a:ext uri="{FF2B5EF4-FFF2-40B4-BE49-F238E27FC236}">
                <a16:creationId xmlns:a16="http://schemas.microsoft.com/office/drawing/2014/main" id="{E2742CA6-9010-ECD4-9832-5347EBA2766F}"/>
              </a:ext>
            </a:extLst>
          </p:cNvPr>
          <p:cNvSpPr/>
          <p:nvPr/>
        </p:nvSpPr>
        <p:spPr bwMode="gray">
          <a:xfrm>
            <a:off x="3436823" y="3039625"/>
            <a:ext cx="150725" cy="150725"/>
          </a:xfrm>
          <a:prstGeom prst="flowChartConnector">
            <a:avLst/>
          </a:prstGeom>
          <a:solidFill>
            <a:srgbClr val="00B05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6" name="TextBox 15">
            <a:extLst>
              <a:ext uri="{FF2B5EF4-FFF2-40B4-BE49-F238E27FC236}">
                <a16:creationId xmlns:a16="http://schemas.microsoft.com/office/drawing/2014/main" id="{3F60DEC6-70D9-B68A-A3DD-2E5E13124C77}"/>
              </a:ext>
            </a:extLst>
          </p:cNvPr>
          <p:cNvSpPr txBox="1"/>
          <p:nvPr/>
        </p:nvSpPr>
        <p:spPr bwMode="gray">
          <a:xfrm>
            <a:off x="3195337" y="2630560"/>
            <a:ext cx="694760" cy="371577"/>
          </a:xfrm>
          <a:prstGeom prst="rect">
            <a:avLst/>
          </a:prstGeom>
          <a:solidFill>
            <a:schemeClr val="accent2">
              <a:lumMod val="20000"/>
              <a:lumOff val="80000"/>
            </a:schemeClr>
          </a:solidFill>
        </p:spPr>
        <p:txBody>
          <a:bodyPr wrap="square" lIns="0" tIns="0" rIns="0" bIns="0" rtlCol="0" anchor="t">
            <a:spAutoFit/>
          </a:bodyPr>
          <a:lstStyle/>
          <a:p>
            <a:pPr>
              <a:lnSpc>
                <a:spcPct val="140000"/>
              </a:lnSpc>
            </a:pPr>
            <a:r>
              <a:rPr lang="en-US" altLang="zh-CN" sz="900"/>
              <a:t>June 2029</a:t>
            </a:r>
          </a:p>
          <a:p>
            <a:pPr>
              <a:lnSpc>
                <a:spcPct val="140000"/>
              </a:lnSpc>
            </a:pPr>
            <a:r>
              <a:rPr lang="en-US" altLang="zh-CN" sz="900" b="1"/>
              <a:t>2029 NRDL</a:t>
            </a:r>
            <a:endParaRPr lang="zh-CN" altLang="en-US" sz="900" b="1"/>
          </a:p>
        </p:txBody>
      </p:sp>
      <p:sp>
        <p:nvSpPr>
          <p:cNvPr id="17" name="Action Button: Go Home 16">
            <a:hlinkClick r:id="" action="ppaction://hlinkshowjump?jump=firstslide" highlightClick="1"/>
            <a:extLst>
              <a:ext uri="{FF2B5EF4-FFF2-40B4-BE49-F238E27FC236}">
                <a16:creationId xmlns:a16="http://schemas.microsoft.com/office/drawing/2014/main" id="{AEDC3D5B-FDEE-5378-FD4B-E544594DF1E8}"/>
              </a:ext>
            </a:extLst>
          </p:cNvPr>
          <p:cNvSpPr/>
          <p:nvPr/>
        </p:nvSpPr>
        <p:spPr bwMode="gray">
          <a:xfrm>
            <a:off x="1012987" y="3399805"/>
            <a:ext cx="222919" cy="272156"/>
          </a:xfrm>
          <a:prstGeom prst="actionButtonHome">
            <a:avLst/>
          </a:prstGeom>
          <a:solidFill>
            <a:schemeClr val="accent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highlight>
                <a:srgbClr val="FFFF00"/>
              </a:highlight>
            </a:endParaRPr>
          </a:p>
        </p:txBody>
      </p:sp>
      <p:sp>
        <p:nvSpPr>
          <p:cNvPr id="18" name="Action Button: Go Home 17">
            <a:hlinkClick r:id="" action="ppaction://hlinkshowjump?jump=firstslide" highlightClick="1"/>
            <a:extLst>
              <a:ext uri="{FF2B5EF4-FFF2-40B4-BE49-F238E27FC236}">
                <a16:creationId xmlns:a16="http://schemas.microsoft.com/office/drawing/2014/main" id="{0D239470-3F3D-A807-D394-522C4B518D48}"/>
              </a:ext>
            </a:extLst>
          </p:cNvPr>
          <p:cNvSpPr/>
          <p:nvPr/>
        </p:nvSpPr>
        <p:spPr bwMode="gray">
          <a:xfrm>
            <a:off x="2426273" y="3390341"/>
            <a:ext cx="222919" cy="272156"/>
          </a:xfrm>
          <a:prstGeom prst="actionButtonHome">
            <a:avLst/>
          </a:prstGeom>
          <a:solidFill>
            <a:schemeClr val="accent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9" name="Action Button: Go Home 18">
            <a:hlinkClick r:id="" action="ppaction://hlinkshowjump?jump=firstslide" highlightClick="1"/>
            <a:extLst>
              <a:ext uri="{FF2B5EF4-FFF2-40B4-BE49-F238E27FC236}">
                <a16:creationId xmlns:a16="http://schemas.microsoft.com/office/drawing/2014/main" id="{0B5916AB-4707-0A4B-B63A-328656A3E987}"/>
              </a:ext>
            </a:extLst>
          </p:cNvPr>
          <p:cNvSpPr/>
          <p:nvPr/>
        </p:nvSpPr>
        <p:spPr bwMode="gray">
          <a:xfrm>
            <a:off x="3927877" y="2717305"/>
            <a:ext cx="222919" cy="272156"/>
          </a:xfrm>
          <a:prstGeom prst="actionButtonHome">
            <a:avLst/>
          </a:prstGeom>
          <a:solidFill>
            <a:schemeClr val="accent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cxnSp>
        <p:nvCxnSpPr>
          <p:cNvPr id="22" name="Straight Arrow Connector 21">
            <a:extLst>
              <a:ext uri="{FF2B5EF4-FFF2-40B4-BE49-F238E27FC236}">
                <a16:creationId xmlns:a16="http://schemas.microsoft.com/office/drawing/2014/main" id="{7155E9DC-6072-70AF-34E9-C3647F613244}"/>
              </a:ext>
            </a:extLst>
          </p:cNvPr>
          <p:cNvCxnSpPr>
            <a:cxnSpLocks/>
          </p:cNvCxnSpPr>
          <p:nvPr/>
        </p:nvCxnSpPr>
        <p:spPr bwMode="gray">
          <a:xfrm>
            <a:off x="1565558" y="3224859"/>
            <a:ext cx="0" cy="136078"/>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2E27E30-2B33-F279-33CF-1D00D867E5DF}"/>
              </a:ext>
            </a:extLst>
          </p:cNvPr>
          <p:cNvCxnSpPr>
            <a:cxnSpLocks/>
          </p:cNvCxnSpPr>
          <p:nvPr/>
        </p:nvCxnSpPr>
        <p:spPr bwMode="gray">
          <a:xfrm>
            <a:off x="2854031" y="3224858"/>
            <a:ext cx="0" cy="136078"/>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BC850A88-7CFA-29E3-A338-F8BCAEB265AF}"/>
              </a:ext>
            </a:extLst>
          </p:cNvPr>
          <p:cNvCxnSpPr/>
          <p:nvPr/>
        </p:nvCxnSpPr>
        <p:spPr bwMode="gray">
          <a:xfrm>
            <a:off x="3028513" y="3224858"/>
            <a:ext cx="351692" cy="0"/>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 name="TextBox 19">
            <a:extLst>
              <a:ext uri="{FF2B5EF4-FFF2-40B4-BE49-F238E27FC236}">
                <a16:creationId xmlns:a16="http://schemas.microsoft.com/office/drawing/2014/main" id="{EB7BB885-0C5C-3D77-E85C-E7A7749A7F96}"/>
              </a:ext>
            </a:extLst>
          </p:cNvPr>
          <p:cNvSpPr txBox="1"/>
          <p:nvPr/>
        </p:nvSpPr>
        <p:spPr bwMode="gray">
          <a:xfrm>
            <a:off x="1405412" y="2609783"/>
            <a:ext cx="613727" cy="371577"/>
          </a:xfrm>
          <a:prstGeom prst="rect">
            <a:avLst/>
          </a:prstGeom>
          <a:noFill/>
        </p:spPr>
        <p:txBody>
          <a:bodyPr wrap="square" lIns="0" tIns="0" rIns="0" bIns="0" rtlCol="0">
            <a:spAutoFit/>
          </a:bodyPr>
          <a:lstStyle/>
          <a:p>
            <a:pPr algn="r">
              <a:lnSpc>
                <a:spcPct val="140000"/>
              </a:lnSpc>
            </a:pPr>
            <a:r>
              <a:rPr lang="en-US" altLang="zh-CN" sz="900">
                <a:highlight>
                  <a:srgbClr val="FFFF00"/>
                </a:highlight>
              </a:rPr>
              <a:t>HSK31858 approval</a:t>
            </a:r>
            <a:endParaRPr lang="zh-CN" altLang="en-US" sz="900">
              <a:highlight>
                <a:srgbClr val="FFFF00"/>
              </a:highlight>
            </a:endParaRPr>
          </a:p>
        </p:txBody>
      </p:sp>
      <p:sp>
        <p:nvSpPr>
          <p:cNvPr id="21" name="TextBox 20">
            <a:extLst>
              <a:ext uri="{FF2B5EF4-FFF2-40B4-BE49-F238E27FC236}">
                <a16:creationId xmlns:a16="http://schemas.microsoft.com/office/drawing/2014/main" id="{66A22F7C-591A-FD50-58D5-4E48DA37EE2E}"/>
              </a:ext>
            </a:extLst>
          </p:cNvPr>
          <p:cNvSpPr txBox="1"/>
          <p:nvPr/>
        </p:nvSpPr>
        <p:spPr bwMode="gray">
          <a:xfrm>
            <a:off x="4232548" y="2778140"/>
            <a:ext cx="613727" cy="176896"/>
          </a:xfrm>
          <a:prstGeom prst="rect">
            <a:avLst/>
          </a:prstGeom>
          <a:noFill/>
        </p:spPr>
        <p:txBody>
          <a:bodyPr wrap="square" lIns="0" tIns="0" rIns="0" bIns="0" rtlCol="0">
            <a:spAutoFit/>
          </a:bodyPr>
          <a:lstStyle/>
          <a:p>
            <a:pPr algn="l">
              <a:lnSpc>
                <a:spcPct val="140000"/>
              </a:lnSpc>
            </a:pPr>
            <a:r>
              <a:rPr lang="en-US" altLang="zh-CN" sz="900">
                <a:highlight>
                  <a:srgbClr val="00FF00"/>
                </a:highlight>
              </a:rPr>
              <a:t>Verducatib</a:t>
            </a:r>
            <a:endParaRPr lang="zh-CN" altLang="en-US" sz="900">
              <a:highlight>
                <a:srgbClr val="00FF00"/>
              </a:highlight>
            </a:endParaRPr>
          </a:p>
        </p:txBody>
      </p:sp>
      <p:sp>
        <p:nvSpPr>
          <p:cNvPr id="23" name="Flowchart: Connector 22">
            <a:extLst>
              <a:ext uri="{FF2B5EF4-FFF2-40B4-BE49-F238E27FC236}">
                <a16:creationId xmlns:a16="http://schemas.microsoft.com/office/drawing/2014/main" id="{DE1AE167-7DB9-4130-5D48-DA5A1D002764}"/>
              </a:ext>
            </a:extLst>
          </p:cNvPr>
          <p:cNvSpPr/>
          <p:nvPr/>
        </p:nvSpPr>
        <p:spPr bwMode="gray">
          <a:xfrm>
            <a:off x="1917673" y="3042504"/>
            <a:ext cx="150725" cy="150725"/>
          </a:xfrm>
          <a:prstGeom prst="flowChartConnector">
            <a:avLst/>
          </a:prstGeom>
          <a:solidFill>
            <a:srgbClr val="FFFF00"/>
          </a:solid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highlight>
                <a:srgbClr val="FFFF00"/>
              </a:highlight>
            </a:endParaRPr>
          </a:p>
        </p:txBody>
      </p:sp>
    </p:spTree>
    <p:extLst>
      <p:ext uri="{BB962C8B-B14F-4D97-AF65-F5344CB8AC3E}">
        <p14:creationId xmlns:p14="http://schemas.microsoft.com/office/powerpoint/2010/main" val="3367332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B8A50-332A-B3BB-7DE9-EEBB208DB9D4}"/>
              </a:ext>
            </a:extLst>
          </p:cNvPr>
          <p:cNvSpPr>
            <a:spLocks noGrp="1"/>
          </p:cNvSpPr>
          <p:nvPr>
            <p:ph type="title"/>
          </p:nvPr>
        </p:nvSpPr>
        <p:spPr>
          <a:xfrm>
            <a:off x="191442" y="425531"/>
            <a:ext cx="11188448" cy="571665"/>
          </a:xfrm>
        </p:spPr>
        <p:txBody>
          <a:bodyPr/>
          <a:lstStyle/>
          <a:p>
            <a:r>
              <a:rPr lang="en-US" altLang="zh-CN"/>
              <a:t>The Under-Assessment </a:t>
            </a:r>
            <a:r>
              <a:rPr lang="en-US" altLang="zh-CN">
                <a:solidFill>
                  <a:srgbClr val="FF0000"/>
                </a:solidFill>
              </a:rPr>
              <a:t>Acceleration </a:t>
            </a:r>
            <a:r>
              <a:rPr lang="en-US" altLang="zh-CN"/>
              <a:t>in the </a:t>
            </a:r>
            <a:r>
              <a:rPr lang="en-US" altLang="zh-CN" i="1" u="sng">
                <a:solidFill>
                  <a:srgbClr val="00B050"/>
                </a:solidFill>
              </a:rPr>
              <a:t>Best Case </a:t>
            </a:r>
            <a:r>
              <a:rPr lang="en-US" altLang="zh-CN"/>
              <a:t>NDA Submission Timeline</a:t>
            </a:r>
            <a:endParaRPr lang="zh-CN" altLang="en-US"/>
          </a:p>
        </p:txBody>
      </p:sp>
      <p:cxnSp>
        <p:nvCxnSpPr>
          <p:cNvPr id="8" name="Straight Arrow Connector 7">
            <a:extLst>
              <a:ext uri="{FF2B5EF4-FFF2-40B4-BE49-F238E27FC236}">
                <a16:creationId xmlns:a16="http://schemas.microsoft.com/office/drawing/2014/main" id="{4C6FE72E-6E0C-9492-7F61-4C981944E34B}"/>
              </a:ext>
            </a:extLst>
          </p:cNvPr>
          <p:cNvCxnSpPr/>
          <p:nvPr/>
        </p:nvCxnSpPr>
        <p:spPr bwMode="gray">
          <a:xfrm>
            <a:off x="380144" y="2835106"/>
            <a:ext cx="1118844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Flowchart: Connector 8">
            <a:extLst>
              <a:ext uri="{FF2B5EF4-FFF2-40B4-BE49-F238E27FC236}">
                <a16:creationId xmlns:a16="http://schemas.microsoft.com/office/drawing/2014/main" id="{53F30DDD-72B0-CF3B-2826-49E199A51E87}"/>
              </a:ext>
            </a:extLst>
          </p:cNvPr>
          <p:cNvSpPr/>
          <p:nvPr/>
        </p:nvSpPr>
        <p:spPr bwMode="gray">
          <a:xfrm>
            <a:off x="1135983" y="2718323"/>
            <a:ext cx="226031" cy="233565"/>
          </a:xfrm>
          <a:prstGeom prst="flowChartConnector">
            <a:avLst/>
          </a:prstGeom>
          <a:solidFill>
            <a:schemeClr val="accent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0" name="Flowchart: Connector 9">
            <a:extLst>
              <a:ext uri="{FF2B5EF4-FFF2-40B4-BE49-F238E27FC236}">
                <a16:creationId xmlns:a16="http://schemas.microsoft.com/office/drawing/2014/main" id="{C2CB2CE9-4AC7-7726-5886-287DFAC16CC6}"/>
              </a:ext>
            </a:extLst>
          </p:cNvPr>
          <p:cNvSpPr/>
          <p:nvPr/>
        </p:nvSpPr>
        <p:spPr bwMode="gray">
          <a:xfrm>
            <a:off x="2912494" y="2718322"/>
            <a:ext cx="226031" cy="233565"/>
          </a:xfrm>
          <a:prstGeom prst="flowChartConnector">
            <a:avLst/>
          </a:prstGeom>
          <a:solidFill>
            <a:schemeClr val="accent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0" name="TextBox 19">
            <a:extLst>
              <a:ext uri="{FF2B5EF4-FFF2-40B4-BE49-F238E27FC236}">
                <a16:creationId xmlns:a16="http://schemas.microsoft.com/office/drawing/2014/main" id="{38B2892E-1E88-A705-7708-BE35D51AC7FD}"/>
              </a:ext>
            </a:extLst>
          </p:cNvPr>
          <p:cNvSpPr txBox="1"/>
          <p:nvPr/>
        </p:nvSpPr>
        <p:spPr bwMode="gray">
          <a:xfrm>
            <a:off x="1004631" y="3010812"/>
            <a:ext cx="1101049" cy="495457"/>
          </a:xfrm>
          <a:prstGeom prst="rect">
            <a:avLst/>
          </a:prstGeom>
          <a:noFill/>
        </p:spPr>
        <p:txBody>
          <a:bodyPr wrap="square" lIns="0" tIns="0" rIns="0" bIns="0" rtlCol="0">
            <a:spAutoFit/>
          </a:bodyPr>
          <a:lstStyle/>
          <a:p>
            <a:pPr algn="l">
              <a:lnSpc>
                <a:spcPct val="140000"/>
              </a:lnSpc>
            </a:pPr>
            <a:r>
              <a:rPr lang="en-US" altLang="zh-CN" sz="1200" b="1"/>
              <a:t>DBL(1)</a:t>
            </a:r>
          </a:p>
          <a:p>
            <a:pPr algn="l">
              <a:lnSpc>
                <a:spcPct val="140000"/>
              </a:lnSpc>
            </a:pPr>
            <a:r>
              <a:rPr lang="en-US" altLang="zh-CN" sz="1200">
                <a:solidFill>
                  <a:srgbClr val="052EFC"/>
                </a:solidFill>
              </a:rPr>
              <a:t>Jul 26, 2027</a:t>
            </a:r>
            <a:endParaRPr lang="zh-CN" altLang="en-US" sz="1200">
              <a:solidFill>
                <a:srgbClr val="052EFC"/>
              </a:solidFill>
            </a:endParaRPr>
          </a:p>
        </p:txBody>
      </p:sp>
      <p:sp>
        <p:nvSpPr>
          <p:cNvPr id="21" name="TextBox 20">
            <a:extLst>
              <a:ext uri="{FF2B5EF4-FFF2-40B4-BE49-F238E27FC236}">
                <a16:creationId xmlns:a16="http://schemas.microsoft.com/office/drawing/2014/main" id="{B02A1A3B-A30E-0EAA-9E74-217595913B50}"/>
              </a:ext>
            </a:extLst>
          </p:cNvPr>
          <p:cNvSpPr txBox="1"/>
          <p:nvPr/>
        </p:nvSpPr>
        <p:spPr bwMode="gray">
          <a:xfrm>
            <a:off x="2849136" y="2996925"/>
            <a:ext cx="1101049" cy="495457"/>
          </a:xfrm>
          <a:prstGeom prst="rect">
            <a:avLst/>
          </a:prstGeom>
          <a:noFill/>
        </p:spPr>
        <p:txBody>
          <a:bodyPr wrap="square" lIns="0" tIns="0" rIns="0" bIns="0" rtlCol="0" anchor="t">
            <a:spAutoFit/>
          </a:bodyPr>
          <a:lstStyle/>
          <a:p>
            <a:pPr algn="l">
              <a:lnSpc>
                <a:spcPct val="140000"/>
              </a:lnSpc>
            </a:pPr>
            <a:r>
              <a:rPr lang="en-US" altLang="zh-CN" sz="1200" b="1"/>
              <a:t>TLR</a:t>
            </a:r>
          </a:p>
          <a:p>
            <a:pPr>
              <a:lnSpc>
                <a:spcPct val="140000"/>
              </a:lnSpc>
            </a:pPr>
            <a:r>
              <a:rPr lang="en-US" altLang="zh-CN" sz="1200">
                <a:solidFill>
                  <a:srgbClr val="052EFC"/>
                </a:solidFill>
              </a:rPr>
              <a:t>05 Aug 2027</a:t>
            </a:r>
            <a:endParaRPr lang="zh-CN" altLang="en-US" sz="1200">
              <a:solidFill>
                <a:srgbClr val="052EFC"/>
              </a:solidFill>
            </a:endParaRPr>
          </a:p>
        </p:txBody>
      </p:sp>
      <p:sp>
        <p:nvSpPr>
          <p:cNvPr id="22" name="Flowchart: Connector 21">
            <a:extLst>
              <a:ext uri="{FF2B5EF4-FFF2-40B4-BE49-F238E27FC236}">
                <a16:creationId xmlns:a16="http://schemas.microsoft.com/office/drawing/2014/main" id="{6E98A626-FA98-30EA-0B70-F7AA1FF88281}"/>
              </a:ext>
            </a:extLst>
          </p:cNvPr>
          <p:cNvSpPr/>
          <p:nvPr/>
        </p:nvSpPr>
        <p:spPr bwMode="gray">
          <a:xfrm>
            <a:off x="4070048" y="2718944"/>
            <a:ext cx="226031" cy="233565"/>
          </a:xfrm>
          <a:prstGeom prst="flowChartConnector">
            <a:avLst/>
          </a:prstGeom>
          <a:solidFill>
            <a:schemeClr val="accent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3" name="TextBox 22">
            <a:extLst>
              <a:ext uri="{FF2B5EF4-FFF2-40B4-BE49-F238E27FC236}">
                <a16:creationId xmlns:a16="http://schemas.microsoft.com/office/drawing/2014/main" id="{8D12D386-09CF-BE8B-304A-5A7A34376F09}"/>
              </a:ext>
            </a:extLst>
          </p:cNvPr>
          <p:cNvSpPr txBox="1"/>
          <p:nvPr/>
        </p:nvSpPr>
        <p:spPr bwMode="gray">
          <a:xfrm>
            <a:off x="2849135" y="3537420"/>
            <a:ext cx="1101049" cy="495457"/>
          </a:xfrm>
          <a:prstGeom prst="rect">
            <a:avLst/>
          </a:prstGeom>
          <a:noFill/>
        </p:spPr>
        <p:txBody>
          <a:bodyPr wrap="square" lIns="0" tIns="0" rIns="0" bIns="0" rtlCol="0" anchor="t">
            <a:spAutoFit/>
          </a:bodyPr>
          <a:lstStyle/>
          <a:p>
            <a:pPr>
              <a:lnSpc>
                <a:spcPct val="140000"/>
              </a:lnSpc>
            </a:pPr>
            <a:r>
              <a:rPr lang="en-US" altLang="zh-CN" sz="1200" b="1"/>
              <a:t>BTD sub.</a:t>
            </a:r>
          </a:p>
          <a:p>
            <a:pPr>
              <a:lnSpc>
                <a:spcPct val="140000"/>
              </a:lnSpc>
            </a:pPr>
            <a:r>
              <a:rPr lang="en-US" altLang="zh-CN" sz="1200">
                <a:solidFill>
                  <a:srgbClr val="052EFC"/>
                </a:solidFill>
              </a:rPr>
              <a:t>Aug 2027</a:t>
            </a:r>
            <a:endParaRPr lang="zh-CN" altLang="en-US" sz="1200">
              <a:solidFill>
                <a:srgbClr val="052EFC"/>
              </a:solidFill>
            </a:endParaRPr>
          </a:p>
        </p:txBody>
      </p:sp>
      <p:sp>
        <p:nvSpPr>
          <p:cNvPr id="24" name="TextBox 23">
            <a:extLst>
              <a:ext uri="{FF2B5EF4-FFF2-40B4-BE49-F238E27FC236}">
                <a16:creationId xmlns:a16="http://schemas.microsoft.com/office/drawing/2014/main" id="{AD588624-5E75-A60A-B892-8D180E931BC9}"/>
              </a:ext>
            </a:extLst>
          </p:cNvPr>
          <p:cNvSpPr txBox="1"/>
          <p:nvPr/>
        </p:nvSpPr>
        <p:spPr bwMode="gray">
          <a:xfrm>
            <a:off x="2849134" y="4077915"/>
            <a:ext cx="1101049" cy="753989"/>
          </a:xfrm>
          <a:prstGeom prst="rect">
            <a:avLst/>
          </a:prstGeom>
          <a:noFill/>
        </p:spPr>
        <p:txBody>
          <a:bodyPr wrap="square" lIns="0" tIns="0" rIns="0" bIns="0" rtlCol="0" anchor="t">
            <a:spAutoFit/>
          </a:bodyPr>
          <a:lstStyle/>
          <a:p>
            <a:pPr>
              <a:lnSpc>
                <a:spcPct val="140000"/>
              </a:lnSpc>
            </a:pPr>
            <a:r>
              <a:rPr lang="en-US" altLang="zh-CN" sz="1200" b="1"/>
              <a:t>China pre-NDA (PR) sub.</a:t>
            </a:r>
          </a:p>
          <a:p>
            <a:pPr>
              <a:lnSpc>
                <a:spcPct val="140000"/>
              </a:lnSpc>
            </a:pPr>
            <a:r>
              <a:rPr lang="en-US" altLang="zh-CN" sz="1200">
                <a:solidFill>
                  <a:srgbClr val="052EFC"/>
                </a:solidFill>
              </a:rPr>
              <a:t>Aug 2027</a:t>
            </a:r>
            <a:endParaRPr lang="zh-CN" altLang="en-US" sz="1200">
              <a:solidFill>
                <a:srgbClr val="052EFC"/>
              </a:solidFill>
            </a:endParaRPr>
          </a:p>
        </p:txBody>
      </p:sp>
      <p:sp>
        <p:nvSpPr>
          <p:cNvPr id="25" name="TextBox 24">
            <a:extLst>
              <a:ext uri="{FF2B5EF4-FFF2-40B4-BE49-F238E27FC236}">
                <a16:creationId xmlns:a16="http://schemas.microsoft.com/office/drawing/2014/main" id="{468471A2-EAF8-2B49-E74E-46B2C6CF3CF9}"/>
              </a:ext>
            </a:extLst>
          </p:cNvPr>
          <p:cNvSpPr txBox="1"/>
          <p:nvPr/>
        </p:nvSpPr>
        <p:spPr bwMode="gray">
          <a:xfrm>
            <a:off x="3950183" y="3041342"/>
            <a:ext cx="1101049" cy="495457"/>
          </a:xfrm>
          <a:prstGeom prst="rect">
            <a:avLst/>
          </a:prstGeom>
          <a:noFill/>
        </p:spPr>
        <p:txBody>
          <a:bodyPr wrap="square" lIns="0" tIns="0" rIns="0" bIns="0" rtlCol="0">
            <a:spAutoFit/>
          </a:bodyPr>
          <a:lstStyle/>
          <a:p>
            <a:pPr algn="l">
              <a:lnSpc>
                <a:spcPct val="140000"/>
              </a:lnSpc>
            </a:pPr>
            <a:r>
              <a:rPr lang="en-US" altLang="zh-CN" sz="1200" b="1">
                <a:solidFill>
                  <a:srgbClr val="7030A0"/>
                </a:solidFill>
              </a:rPr>
              <a:t>BTD</a:t>
            </a:r>
            <a:r>
              <a:rPr lang="en-US" altLang="zh-CN" sz="1200" b="1"/>
              <a:t> Feedback</a:t>
            </a:r>
          </a:p>
          <a:p>
            <a:pPr algn="l">
              <a:lnSpc>
                <a:spcPct val="140000"/>
              </a:lnSpc>
            </a:pPr>
            <a:r>
              <a:rPr lang="en-US" altLang="zh-CN" sz="1200">
                <a:solidFill>
                  <a:srgbClr val="052EFC"/>
                </a:solidFill>
              </a:rPr>
              <a:t>Oct 2027</a:t>
            </a:r>
            <a:endParaRPr lang="zh-CN" altLang="en-US" sz="1200">
              <a:solidFill>
                <a:srgbClr val="052EFC"/>
              </a:solidFill>
            </a:endParaRPr>
          </a:p>
        </p:txBody>
      </p:sp>
      <p:sp>
        <p:nvSpPr>
          <p:cNvPr id="26" name="TextBox 25">
            <a:extLst>
              <a:ext uri="{FF2B5EF4-FFF2-40B4-BE49-F238E27FC236}">
                <a16:creationId xmlns:a16="http://schemas.microsoft.com/office/drawing/2014/main" id="{423E145C-B3EA-D2B8-1502-5C007D1AA165}"/>
              </a:ext>
            </a:extLst>
          </p:cNvPr>
          <p:cNvSpPr txBox="1"/>
          <p:nvPr/>
        </p:nvSpPr>
        <p:spPr bwMode="gray">
          <a:xfrm>
            <a:off x="3950182" y="3559939"/>
            <a:ext cx="1689807" cy="753989"/>
          </a:xfrm>
          <a:prstGeom prst="rect">
            <a:avLst/>
          </a:prstGeom>
          <a:noFill/>
        </p:spPr>
        <p:txBody>
          <a:bodyPr wrap="square" lIns="0" tIns="0" rIns="0" bIns="0" rtlCol="0">
            <a:spAutoFit/>
          </a:bodyPr>
          <a:lstStyle/>
          <a:p>
            <a:pPr algn="l">
              <a:lnSpc>
                <a:spcPct val="140000"/>
              </a:lnSpc>
            </a:pPr>
            <a:r>
              <a:rPr lang="en-US" altLang="zh-CN" sz="1200" b="1"/>
              <a:t>Pre-NDA (</a:t>
            </a:r>
            <a:r>
              <a:rPr lang="en-US" altLang="zh-CN" sz="1200" b="1">
                <a:solidFill>
                  <a:srgbClr val="7030A0"/>
                </a:solidFill>
              </a:rPr>
              <a:t>PR</a:t>
            </a:r>
            <a:r>
              <a:rPr lang="en-US" altLang="zh-CN" sz="1200" b="1"/>
              <a:t>) Feedback</a:t>
            </a:r>
          </a:p>
          <a:p>
            <a:pPr algn="l">
              <a:lnSpc>
                <a:spcPct val="140000"/>
              </a:lnSpc>
            </a:pPr>
            <a:r>
              <a:rPr lang="en-US" altLang="zh-CN" sz="1200">
                <a:solidFill>
                  <a:srgbClr val="052EFC"/>
                </a:solidFill>
              </a:rPr>
              <a:t>Oct 2027</a:t>
            </a:r>
            <a:endParaRPr lang="zh-CN" altLang="en-US" sz="1200">
              <a:solidFill>
                <a:srgbClr val="052EFC"/>
              </a:solidFill>
            </a:endParaRPr>
          </a:p>
        </p:txBody>
      </p:sp>
      <p:sp>
        <p:nvSpPr>
          <p:cNvPr id="27" name="Flowchart: Connector 26">
            <a:extLst>
              <a:ext uri="{FF2B5EF4-FFF2-40B4-BE49-F238E27FC236}">
                <a16:creationId xmlns:a16="http://schemas.microsoft.com/office/drawing/2014/main" id="{FEDA8931-07FB-EC19-EEBA-4399ED1FABFD}"/>
              </a:ext>
            </a:extLst>
          </p:cNvPr>
          <p:cNvSpPr/>
          <p:nvPr/>
        </p:nvSpPr>
        <p:spPr bwMode="gray">
          <a:xfrm>
            <a:off x="6220451" y="2711390"/>
            <a:ext cx="226031" cy="233565"/>
          </a:xfrm>
          <a:prstGeom prst="flowChartConnector">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8" name="TextBox 27">
            <a:extLst>
              <a:ext uri="{FF2B5EF4-FFF2-40B4-BE49-F238E27FC236}">
                <a16:creationId xmlns:a16="http://schemas.microsoft.com/office/drawing/2014/main" id="{D7608AE1-560F-772B-EFC9-B7E7897D3DA1}"/>
              </a:ext>
            </a:extLst>
          </p:cNvPr>
          <p:cNvSpPr txBox="1"/>
          <p:nvPr/>
        </p:nvSpPr>
        <p:spPr bwMode="gray">
          <a:xfrm>
            <a:off x="5893712" y="3010812"/>
            <a:ext cx="1337059" cy="753989"/>
          </a:xfrm>
          <a:prstGeom prst="rect">
            <a:avLst/>
          </a:prstGeom>
          <a:noFill/>
        </p:spPr>
        <p:txBody>
          <a:bodyPr wrap="square" lIns="0" tIns="0" rIns="0" bIns="0" rtlCol="0" anchor="t">
            <a:spAutoFit/>
          </a:bodyPr>
          <a:lstStyle/>
          <a:p>
            <a:pPr algn="l">
              <a:lnSpc>
                <a:spcPct val="140000"/>
              </a:lnSpc>
            </a:pPr>
            <a:r>
              <a:rPr lang="en-US" altLang="zh-CN" sz="1200" b="1"/>
              <a:t>Accelerated:</a:t>
            </a:r>
          </a:p>
          <a:p>
            <a:pPr algn="l">
              <a:lnSpc>
                <a:spcPct val="140000"/>
              </a:lnSpc>
            </a:pPr>
            <a:r>
              <a:rPr lang="en-US" altLang="zh-CN" sz="1200" b="1"/>
              <a:t>NDA Submission</a:t>
            </a:r>
          </a:p>
          <a:p>
            <a:pPr algn="l">
              <a:lnSpc>
                <a:spcPct val="140000"/>
              </a:lnSpc>
            </a:pPr>
            <a:r>
              <a:rPr lang="en-US" altLang="zh-CN" sz="1200">
                <a:solidFill>
                  <a:srgbClr val="052EFC"/>
                </a:solidFill>
              </a:rPr>
              <a:t>Oct 2027</a:t>
            </a:r>
            <a:endParaRPr lang="zh-CN" altLang="en-US" sz="1200">
              <a:solidFill>
                <a:srgbClr val="052EFC"/>
              </a:solidFill>
            </a:endParaRPr>
          </a:p>
        </p:txBody>
      </p:sp>
      <p:sp>
        <p:nvSpPr>
          <p:cNvPr id="34" name="Flowchart: Connector 33">
            <a:extLst>
              <a:ext uri="{FF2B5EF4-FFF2-40B4-BE49-F238E27FC236}">
                <a16:creationId xmlns:a16="http://schemas.microsoft.com/office/drawing/2014/main" id="{FD249561-1310-4996-DB8E-D0AB11B1D884}"/>
              </a:ext>
            </a:extLst>
          </p:cNvPr>
          <p:cNvSpPr/>
          <p:nvPr/>
        </p:nvSpPr>
        <p:spPr bwMode="gray">
          <a:xfrm>
            <a:off x="7724226" y="2718322"/>
            <a:ext cx="226031" cy="233565"/>
          </a:xfrm>
          <a:prstGeom prst="flowChartConnector">
            <a:avLst/>
          </a:prstGeom>
          <a:solidFill>
            <a:schemeClr val="accent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5" name="TextBox 34">
            <a:extLst>
              <a:ext uri="{FF2B5EF4-FFF2-40B4-BE49-F238E27FC236}">
                <a16:creationId xmlns:a16="http://schemas.microsoft.com/office/drawing/2014/main" id="{46CAFE3C-1540-057E-90FF-11236757B916}"/>
              </a:ext>
            </a:extLst>
          </p:cNvPr>
          <p:cNvSpPr txBox="1"/>
          <p:nvPr/>
        </p:nvSpPr>
        <p:spPr bwMode="gray">
          <a:xfrm>
            <a:off x="7484494" y="3041342"/>
            <a:ext cx="1371681" cy="753989"/>
          </a:xfrm>
          <a:prstGeom prst="rect">
            <a:avLst/>
          </a:prstGeom>
          <a:noFill/>
        </p:spPr>
        <p:txBody>
          <a:bodyPr wrap="square" lIns="0" tIns="0" rIns="0" bIns="0" rtlCol="0" anchor="t">
            <a:spAutoFit/>
          </a:bodyPr>
          <a:lstStyle/>
          <a:p>
            <a:pPr algn="l">
              <a:lnSpc>
                <a:spcPct val="140000"/>
              </a:lnSpc>
            </a:pPr>
            <a:r>
              <a:rPr lang="en-US" altLang="zh-CN" sz="1200" b="1"/>
              <a:t>Best case:</a:t>
            </a:r>
          </a:p>
          <a:p>
            <a:pPr algn="l">
              <a:lnSpc>
                <a:spcPct val="140000"/>
              </a:lnSpc>
            </a:pPr>
            <a:r>
              <a:rPr lang="en-US" altLang="zh-CN" sz="1200" b="1"/>
              <a:t>NDA Submission</a:t>
            </a:r>
          </a:p>
          <a:p>
            <a:pPr algn="l">
              <a:lnSpc>
                <a:spcPct val="140000"/>
              </a:lnSpc>
            </a:pPr>
            <a:r>
              <a:rPr lang="en-US" altLang="zh-CN" sz="1200">
                <a:solidFill>
                  <a:srgbClr val="052EFC"/>
                </a:solidFill>
              </a:rPr>
              <a:t>Dec 2027</a:t>
            </a:r>
            <a:endParaRPr lang="zh-CN" altLang="en-US" sz="1200">
              <a:solidFill>
                <a:srgbClr val="052EFC"/>
              </a:solidFill>
            </a:endParaRPr>
          </a:p>
        </p:txBody>
      </p:sp>
      <p:sp>
        <p:nvSpPr>
          <p:cNvPr id="37" name="Rectangle: Rounded Corners 36">
            <a:extLst>
              <a:ext uri="{FF2B5EF4-FFF2-40B4-BE49-F238E27FC236}">
                <a16:creationId xmlns:a16="http://schemas.microsoft.com/office/drawing/2014/main" id="{86E9EB4F-F70A-B2C2-C42D-4C5FB665CC26}"/>
              </a:ext>
            </a:extLst>
          </p:cNvPr>
          <p:cNvSpPr/>
          <p:nvPr/>
        </p:nvSpPr>
        <p:spPr bwMode="gray">
          <a:xfrm>
            <a:off x="139391" y="1426980"/>
            <a:ext cx="2196952" cy="993767"/>
          </a:xfrm>
          <a:prstGeom prst="roundRect">
            <a:avLst/>
          </a:prstGeom>
          <a:solidFill>
            <a:schemeClr val="accent6">
              <a:lumMod val="20000"/>
              <a:lumOff val="80000"/>
            </a:schemeClr>
          </a:solidFill>
          <a:ln w="63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40000"/>
              </a:lnSpc>
            </a:pPr>
            <a:r>
              <a:rPr lang="en-US" altLang="zh-CN" sz="1100" b="1">
                <a:solidFill>
                  <a:schemeClr val="tx1"/>
                </a:solidFill>
              </a:rPr>
              <a:t>Adolescent recruitment expectation: </a:t>
            </a:r>
            <a:r>
              <a:rPr lang="en-US" altLang="zh-CN" sz="1100" b="1">
                <a:solidFill>
                  <a:schemeClr val="tx1"/>
                </a:solidFill>
                <a:highlight>
                  <a:srgbClr val="FFFF00"/>
                </a:highlight>
              </a:rPr>
              <a:t>~</a:t>
            </a:r>
            <a:r>
              <a:rPr lang="en-US" altLang="zh-CN" sz="1100">
                <a:solidFill>
                  <a:schemeClr val="tx1"/>
                </a:solidFill>
                <a:highlight>
                  <a:srgbClr val="FFFF00"/>
                </a:highlight>
              </a:rPr>
              <a:t>40</a:t>
            </a:r>
            <a:r>
              <a:rPr lang="en-US" altLang="zh-CN" sz="1100">
                <a:solidFill>
                  <a:schemeClr val="tx1"/>
                </a:solidFill>
              </a:rPr>
              <a:t> (</a:t>
            </a:r>
            <a:r>
              <a:rPr lang="en-US" altLang="zh-CN" sz="1100">
                <a:solidFill>
                  <a:schemeClr val="tx1"/>
                </a:solidFill>
                <a:highlight>
                  <a:srgbClr val="FFFF00"/>
                </a:highlight>
              </a:rPr>
              <a:t>~16  complete study</a:t>
            </a:r>
            <a:r>
              <a:rPr lang="en-US" altLang="zh-CN" sz="1100">
                <a:solidFill>
                  <a:schemeClr val="tx1"/>
                </a:solidFill>
              </a:rPr>
              <a:t>) (still a potential risk for HA)</a:t>
            </a:r>
            <a:endParaRPr lang="zh-CN" altLang="en-US" sz="1100">
              <a:solidFill>
                <a:schemeClr val="tx1"/>
              </a:solidFill>
            </a:endParaRPr>
          </a:p>
        </p:txBody>
      </p:sp>
      <p:cxnSp>
        <p:nvCxnSpPr>
          <p:cNvPr id="38" name="Straight Arrow Connector 37">
            <a:extLst>
              <a:ext uri="{FF2B5EF4-FFF2-40B4-BE49-F238E27FC236}">
                <a16:creationId xmlns:a16="http://schemas.microsoft.com/office/drawing/2014/main" id="{7010992A-E18A-8BAB-8CAE-0440A5CFA40A}"/>
              </a:ext>
            </a:extLst>
          </p:cNvPr>
          <p:cNvCxnSpPr>
            <a:cxnSpLocks/>
          </p:cNvCxnSpPr>
          <p:nvPr/>
        </p:nvCxnSpPr>
        <p:spPr bwMode="gray">
          <a:xfrm flipH="1" flipV="1">
            <a:off x="1237867" y="2420747"/>
            <a:ext cx="11132" cy="297576"/>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Rounded Corners 36">
            <a:extLst>
              <a:ext uri="{FF2B5EF4-FFF2-40B4-BE49-F238E27FC236}">
                <a16:creationId xmlns:a16="http://schemas.microsoft.com/office/drawing/2014/main" id="{7BDD9FDB-7919-6304-F1C2-5CD51C7528A5}"/>
              </a:ext>
            </a:extLst>
          </p:cNvPr>
          <p:cNvSpPr/>
          <p:nvPr/>
        </p:nvSpPr>
        <p:spPr bwMode="gray">
          <a:xfrm>
            <a:off x="139390" y="4075395"/>
            <a:ext cx="2479985" cy="1160578"/>
          </a:xfrm>
          <a:prstGeom prst="roundRect">
            <a:avLst/>
          </a:prstGeom>
          <a:solidFill>
            <a:schemeClr val="accent6">
              <a:lumMod val="20000"/>
              <a:lumOff val="80000"/>
            </a:schemeClr>
          </a:solidFill>
          <a:ln w="63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nSpc>
                <a:spcPct val="140000"/>
              </a:lnSpc>
            </a:pPr>
            <a:r>
              <a:rPr lang="en-US" altLang="zh-CN" sz="1100" b="1">
                <a:solidFill>
                  <a:schemeClr val="tx1"/>
                </a:solidFill>
              </a:rPr>
              <a:t>CTP 3.0 - event-driven DBL (tbd)</a:t>
            </a:r>
            <a:r>
              <a:rPr lang="en-US" altLang="zh-CN" sz="1100">
                <a:solidFill>
                  <a:schemeClr val="tx1"/>
                </a:solidFill>
              </a:rPr>
              <a:t> may delay the planned DBL(1).</a:t>
            </a:r>
          </a:p>
          <a:p>
            <a:pPr>
              <a:lnSpc>
                <a:spcPct val="140000"/>
              </a:lnSpc>
            </a:pPr>
            <a:r>
              <a:rPr lang="en-US" altLang="zh-CN" sz="1100">
                <a:solidFill>
                  <a:schemeClr val="tx1"/>
                </a:solidFill>
              </a:rPr>
              <a:t>(needs close monitoring and dynamic evaluation)</a:t>
            </a:r>
          </a:p>
        </p:txBody>
      </p:sp>
      <p:sp>
        <p:nvSpPr>
          <p:cNvPr id="5" name="Flowchart: Connector 4">
            <a:extLst>
              <a:ext uri="{FF2B5EF4-FFF2-40B4-BE49-F238E27FC236}">
                <a16:creationId xmlns:a16="http://schemas.microsoft.com/office/drawing/2014/main" id="{A09E2A29-79B9-8F7F-92AD-CEF9CC640B7B}"/>
              </a:ext>
            </a:extLst>
          </p:cNvPr>
          <p:cNvSpPr/>
          <p:nvPr/>
        </p:nvSpPr>
        <p:spPr bwMode="gray">
          <a:xfrm>
            <a:off x="9315008" y="2718321"/>
            <a:ext cx="226031" cy="233565"/>
          </a:xfrm>
          <a:prstGeom prst="flowChartConnector">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1" name="Flowchart: Connector 10">
            <a:extLst>
              <a:ext uri="{FF2B5EF4-FFF2-40B4-BE49-F238E27FC236}">
                <a16:creationId xmlns:a16="http://schemas.microsoft.com/office/drawing/2014/main" id="{56C4B036-3546-B761-D86B-97CAAFA6356F}"/>
              </a:ext>
            </a:extLst>
          </p:cNvPr>
          <p:cNvSpPr/>
          <p:nvPr/>
        </p:nvSpPr>
        <p:spPr bwMode="gray">
          <a:xfrm>
            <a:off x="10854501" y="2698222"/>
            <a:ext cx="226031" cy="233565"/>
          </a:xfrm>
          <a:prstGeom prst="flowChartConnector">
            <a:avLst/>
          </a:prstGeom>
          <a:solidFill>
            <a:schemeClr val="accent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2" name="TextBox 11">
            <a:extLst>
              <a:ext uri="{FF2B5EF4-FFF2-40B4-BE49-F238E27FC236}">
                <a16:creationId xmlns:a16="http://schemas.microsoft.com/office/drawing/2014/main" id="{FE8FCABB-1CA1-9E81-E9CA-0927DD7138DB}"/>
              </a:ext>
            </a:extLst>
          </p:cNvPr>
          <p:cNvSpPr txBox="1"/>
          <p:nvPr/>
        </p:nvSpPr>
        <p:spPr bwMode="gray">
          <a:xfrm>
            <a:off x="10575406" y="3050641"/>
            <a:ext cx="1197906" cy="753989"/>
          </a:xfrm>
          <a:prstGeom prst="rect">
            <a:avLst/>
          </a:prstGeom>
          <a:noFill/>
        </p:spPr>
        <p:txBody>
          <a:bodyPr wrap="square" lIns="0" tIns="0" rIns="0" bIns="0" rtlCol="0">
            <a:spAutoFit/>
          </a:bodyPr>
          <a:lstStyle/>
          <a:p>
            <a:pPr algn="l">
              <a:lnSpc>
                <a:spcPct val="140000"/>
              </a:lnSpc>
            </a:pPr>
            <a:r>
              <a:rPr lang="en-US" altLang="zh-CN" sz="1200" b="1"/>
              <a:t>Best case NDA Approval</a:t>
            </a:r>
          </a:p>
          <a:p>
            <a:pPr algn="l">
              <a:lnSpc>
                <a:spcPct val="140000"/>
              </a:lnSpc>
            </a:pPr>
            <a:r>
              <a:rPr lang="en-US" altLang="zh-CN" sz="1200">
                <a:solidFill>
                  <a:srgbClr val="052EFC"/>
                </a:solidFill>
              </a:rPr>
              <a:t>Dec 2028</a:t>
            </a:r>
            <a:endParaRPr lang="zh-CN" altLang="en-US" sz="1200">
              <a:solidFill>
                <a:srgbClr val="052EFC"/>
              </a:solidFill>
            </a:endParaRPr>
          </a:p>
        </p:txBody>
      </p:sp>
      <p:sp>
        <p:nvSpPr>
          <p:cNvPr id="13" name="TextBox 12">
            <a:extLst>
              <a:ext uri="{FF2B5EF4-FFF2-40B4-BE49-F238E27FC236}">
                <a16:creationId xmlns:a16="http://schemas.microsoft.com/office/drawing/2014/main" id="{FC669017-6A79-0277-F490-042447645A77}"/>
              </a:ext>
            </a:extLst>
          </p:cNvPr>
          <p:cNvSpPr txBox="1"/>
          <p:nvPr/>
        </p:nvSpPr>
        <p:spPr bwMode="gray">
          <a:xfrm>
            <a:off x="9109898" y="3043122"/>
            <a:ext cx="1197906" cy="753989"/>
          </a:xfrm>
          <a:prstGeom prst="rect">
            <a:avLst/>
          </a:prstGeom>
          <a:noFill/>
        </p:spPr>
        <p:txBody>
          <a:bodyPr wrap="square" lIns="0" tIns="0" rIns="0" bIns="0" rtlCol="0">
            <a:spAutoFit/>
          </a:bodyPr>
          <a:lstStyle/>
          <a:p>
            <a:pPr>
              <a:lnSpc>
                <a:spcPct val="140000"/>
              </a:lnSpc>
            </a:pPr>
            <a:r>
              <a:rPr lang="en-US" altLang="zh-CN" sz="1200" b="1"/>
              <a:t>Accelerated:</a:t>
            </a:r>
          </a:p>
          <a:p>
            <a:pPr algn="l">
              <a:lnSpc>
                <a:spcPct val="140000"/>
              </a:lnSpc>
            </a:pPr>
            <a:r>
              <a:rPr lang="en-US" altLang="zh-CN" sz="1200" b="1"/>
              <a:t>NDA Approval</a:t>
            </a:r>
          </a:p>
          <a:p>
            <a:pPr algn="l">
              <a:lnSpc>
                <a:spcPct val="140000"/>
              </a:lnSpc>
            </a:pPr>
            <a:r>
              <a:rPr lang="en-US" altLang="zh-CN" sz="1200">
                <a:solidFill>
                  <a:srgbClr val="052EFC"/>
                </a:solidFill>
              </a:rPr>
              <a:t>June 2028</a:t>
            </a:r>
            <a:endParaRPr lang="zh-CN" altLang="en-US" sz="1200">
              <a:solidFill>
                <a:srgbClr val="052EFC"/>
              </a:solidFill>
            </a:endParaRPr>
          </a:p>
        </p:txBody>
      </p:sp>
      <p:sp>
        <p:nvSpPr>
          <p:cNvPr id="30" name="Rectangle: Rounded Corners 29">
            <a:extLst>
              <a:ext uri="{FF2B5EF4-FFF2-40B4-BE49-F238E27FC236}">
                <a16:creationId xmlns:a16="http://schemas.microsoft.com/office/drawing/2014/main" id="{E584BD77-7393-AE88-C6EC-03564735CE71}"/>
              </a:ext>
            </a:extLst>
          </p:cNvPr>
          <p:cNvSpPr/>
          <p:nvPr/>
        </p:nvSpPr>
        <p:spPr bwMode="gray">
          <a:xfrm>
            <a:off x="5794687" y="3010813"/>
            <a:ext cx="1371681" cy="844898"/>
          </a:xfrm>
          <a:prstGeom prst="roundRect">
            <a:avLst/>
          </a:prstGeom>
          <a:no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2" name="Rectangle: Rounded Corners 31">
            <a:extLst>
              <a:ext uri="{FF2B5EF4-FFF2-40B4-BE49-F238E27FC236}">
                <a16:creationId xmlns:a16="http://schemas.microsoft.com/office/drawing/2014/main" id="{CF716575-0C9E-FE5B-8797-7E6383A4AA07}"/>
              </a:ext>
            </a:extLst>
          </p:cNvPr>
          <p:cNvSpPr/>
          <p:nvPr/>
        </p:nvSpPr>
        <p:spPr bwMode="gray">
          <a:xfrm>
            <a:off x="8936123" y="3058683"/>
            <a:ext cx="1371681" cy="797028"/>
          </a:xfrm>
          <a:prstGeom prst="roundRect">
            <a:avLst/>
          </a:prstGeom>
          <a:no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3" name="Rectangle: Rounded Corners 32">
            <a:extLst>
              <a:ext uri="{FF2B5EF4-FFF2-40B4-BE49-F238E27FC236}">
                <a16:creationId xmlns:a16="http://schemas.microsoft.com/office/drawing/2014/main" id="{88795FDD-7F55-8F22-EDAF-F59C1AB8D29B}"/>
              </a:ext>
            </a:extLst>
          </p:cNvPr>
          <p:cNvSpPr/>
          <p:nvPr/>
        </p:nvSpPr>
        <p:spPr bwMode="gray">
          <a:xfrm>
            <a:off x="7372445" y="3010813"/>
            <a:ext cx="1451629" cy="844898"/>
          </a:xfrm>
          <a:prstGeom prst="roundRect">
            <a:avLst/>
          </a:prstGeom>
          <a:noFill/>
          <a:ln w="6350">
            <a:solidFill>
              <a:schemeClr val="tx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6" name="Rectangle: Rounded Corners 35">
            <a:extLst>
              <a:ext uri="{FF2B5EF4-FFF2-40B4-BE49-F238E27FC236}">
                <a16:creationId xmlns:a16="http://schemas.microsoft.com/office/drawing/2014/main" id="{03EA74EB-023C-791A-A228-C26B7CD71038}"/>
              </a:ext>
            </a:extLst>
          </p:cNvPr>
          <p:cNvSpPr/>
          <p:nvPr/>
        </p:nvSpPr>
        <p:spPr bwMode="gray">
          <a:xfrm>
            <a:off x="10481579" y="3047949"/>
            <a:ext cx="1291733" cy="844898"/>
          </a:xfrm>
          <a:prstGeom prst="roundRect">
            <a:avLst/>
          </a:prstGeom>
          <a:noFill/>
          <a:ln w="6350">
            <a:solidFill>
              <a:schemeClr val="tx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4" name="TextBox 3">
            <a:extLst>
              <a:ext uri="{FF2B5EF4-FFF2-40B4-BE49-F238E27FC236}">
                <a16:creationId xmlns:a16="http://schemas.microsoft.com/office/drawing/2014/main" id="{74D429C6-7E97-ABE0-3499-28E2D4D8A233}"/>
              </a:ext>
            </a:extLst>
          </p:cNvPr>
          <p:cNvSpPr txBox="1"/>
          <p:nvPr/>
        </p:nvSpPr>
        <p:spPr bwMode="gray">
          <a:xfrm>
            <a:off x="5771029" y="2411361"/>
            <a:ext cx="1350905" cy="276422"/>
          </a:xfrm>
          <a:prstGeom prst="rect">
            <a:avLst/>
          </a:prstGeom>
          <a:noFill/>
        </p:spPr>
        <p:txBody>
          <a:bodyPr wrap="square" lIns="0" tIns="0" rIns="0" bIns="0" rtlCol="0">
            <a:spAutoFit/>
          </a:bodyPr>
          <a:lstStyle/>
          <a:p>
            <a:pPr algn="l">
              <a:lnSpc>
                <a:spcPct val="140000"/>
              </a:lnSpc>
            </a:pPr>
            <a:r>
              <a:rPr lang="en-US" altLang="zh-CN" sz="1400" b="1"/>
              <a:t>Oct 29, 2027</a:t>
            </a:r>
            <a:endParaRPr lang="zh-CN" altLang="en-US" sz="1400" b="1"/>
          </a:p>
        </p:txBody>
      </p:sp>
      <p:sp>
        <p:nvSpPr>
          <p:cNvPr id="17" name="TextBox 16">
            <a:extLst>
              <a:ext uri="{FF2B5EF4-FFF2-40B4-BE49-F238E27FC236}">
                <a16:creationId xmlns:a16="http://schemas.microsoft.com/office/drawing/2014/main" id="{EBF2B9D2-DF8A-8864-C7DB-EFC1386D1520}"/>
              </a:ext>
            </a:extLst>
          </p:cNvPr>
          <p:cNvSpPr txBox="1"/>
          <p:nvPr/>
        </p:nvSpPr>
        <p:spPr bwMode="gray">
          <a:xfrm>
            <a:off x="6358073" y="4436373"/>
            <a:ext cx="1167986" cy="659732"/>
          </a:xfrm>
          <a:prstGeom prst="rect">
            <a:avLst/>
          </a:prstGeom>
          <a:noFill/>
        </p:spPr>
        <p:txBody>
          <a:bodyPr wrap="square" lIns="0" tIns="0" rIns="0" bIns="0" rtlCol="0">
            <a:spAutoFit/>
          </a:bodyPr>
          <a:lstStyle/>
          <a:p>
            <a:pPr algn="l">
              <a:lnSpc>
                <a:spcPct val="140000"/>
              </a:lnSpc>
            </a:pPr>
            <a:r>
              <a:rPr lang="en-US" altLang="zh-CN" sz="1050" b="1"/>
              <a:t>China</a:t>
            </a:r>
            <a:r>
              <a:rPr lang="en-US" altLang="zh-CN" sz="1050"/>
              <a:t> submission</a:t>
            </a:r>
          </a:p>
          <a:p>
            <a:pPr algn="l">
              <a:lnSpc>
                <a:spcPct val="140000"/>
              </a:lnSpc>
            </a:pPr>
            <a:r>
              <a:rPr lang="en-US" altLang="zh-CN" sz="1050" b="1"/>
              <a:t>US</a:t>
            </a:r>
            <a:r>
              <a:rPr lang="en-US" altLang="zh-CN" sz="1050"/>
              <a:t> submission</a:t>
            </a:r>
          </a:p>
          <a:p>
            <a:pPr algn="l">
              <a:lnSpc>
                <a:spcPct val="140000"/>
              </a:lnSpc>
            </a:pPr>
            <a:r>
              <a:rPr lang="en-US" altLang="zh-CN" sz="1050" b="1"/>
              <a:t>EU</a:t>
            </a:r>
            <a:r>
              <a:rPr lang="en-US" altLang="zh-CN" sz="1050"/>
              <a:t> submission</a:t>
            </a:r>
            <a:endParaRPr lang="zh-CN" altLang="en-US" sz="1050"/>
          </a:p>
        </p:txBody>
      </p:sp>
      <p:sp>
        <p:nvSpPr>
          <p:cNvPr id="18" name="Rectangle: Rounded Corners 17">
            <a:extLst>
              <a:ext uri="{FF2B5EF4-FFF2-40B4-BE49-F238E27FC236}">
                <a16:creationId xmlns:a16="http://schemas.microsoft.com/office/drawing/2014/main" id="{B446E3CB-7527-50E7-E6BB-52005B6CA128}"/>
              </a:ext>
            </a:extLst>
          </p:cNvPr>
          <p:cNvSpPr/>
          <p:nvPr/>
        </p:nvSpPr>
        <p:spPr bwMode="gray">
          <a:xfrm>
            <a:off x="6220451" y="4359419"/>
            <a:ext cx="1371680" cy="753989"/>
          </a:xfrm>
          <a:prstGeom prst="roundRect">
            <a:avLst/>
          </a:prstGeom>
          <a:no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cxnSp>
        <p:nvCxnSpPr>
          <p:cNvPr id="29" name="Connector: Elbow 28">
            <a:extLst>
              <a:ext uri="{FF2B5EF4-FFF2-40B4-BE49-F238E27FC236}">
                <a16:creationId xmlns:a16="http://schemas.microsoft.com/office/drawing/2014/main" id="{E81D35D8-A089-F870-1C71-7CCB6BA00E38}"/>
              </a:ext>
            </a:extLst>
          </p:cNvPr>
          <p:cNvCxnSpPr>
            <a:cxnSpLocks/>
            <a:stCxn id="30" idx="2"/>
            <a:endCxn id="18" idx="1"/>
          </p:cNvCxnSpPr>
          <p:nvPr/>
        </p:nvCxnSpPr>
        <p:spPr bwMode="gray">
          <a:xfrm rot="5400000">
            <a:off x="5910139" y="4166024"/>
            <a:ext cx="880703" cy="260077"/>
          </a:xfrm>
          <a:prstGeom prst="bentConnector4">
            <a:avLst>
              <a:gd name="adj1" fmla="val 28597"/>
              <a:gd name="adj2" fmla="val 187897"/>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296D7E5-CAD0-F3F7-492A-6B8E6A38EA3A}"/>
              </a:ext>
            </a:extLst>
          </p:cNvPr>
          <p:cNvCxnSpPr>
            <a:cxnSpLocks/>
            <a:stCxn id="5" idx="0"/>
            <a:endCxn id="42" idx="2"/>
          </p:cNvCxnSpPr>
          <p:nvPr/>
        </p:nvCxnSpPr>
        <p:spPr bwMode="gray">
          <a:xfrm flipV="1">
            <a:off x="9428024" y="2251582"/>
            <a:ext cx="5319" cy="466739"/>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Rectangle: Rounded Corners 41">
            <a:extLst>
              <a:ext uri="{FF2B5EF4-FFF2-40B4-BE49-F238E27FC236}">
                <a16:creationId xmlns:a16="http://schemas.microsoft.com/office/drawing/2014/main" id="{12596FB3-D3A3-A8AE-FF49-EE0E8095D76E}"/>
              </a:ext>
            </a:extLst>
          </p:cNvPr>
          <p:cNvSpPr/>
          <p:nvPr/>
        </p:nvSpPr>
        <p:spPr bwMode="gray">
          <a:xfrm>
            <a:off x="8334867" y="1475513"/>
            <a:ext cx="2196952" cy="776069"/>
          </a:xfrm>
          <a:prstGeom prst="roundRect">
            <a:avLst/>
          </a:prstGeom>
          <a:solidFill>
            <a:schemeClr val="accent2">
              <a:lumMod val="20000"/>
              <a:lumOff val="80000"/>
            </a:schemeClr>
          </a:solidFill>
          <a:ln w="63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40000"/>
              </a:lnSpc>
            </a:pPr>
            <a:r>
              <a:rPr lang="en-US" altLang="zh-CN" sz="1100" b="1">
                <a:solidFill>
                  <a:schemeClr val="tx1"/>
                </a:solidFill>
              </a:rPr>
              <a:t>Trigger NRDL Negotiation in 2028 and DRDL listing in 2029</a:t>
            </a:r>
            <a:endParaRPr lang="zh-CN" altLang="en-US" sz="1100">
              <a:solidFill>
                <a:schemeClr val="tx1"/>
              </a:solidFill>
            </a:endParaRPr>
          </a:p>
        </p:txBody>
      </p:sp>
      <p:sp>
        <p:nvSpPr>
          <p:cNvPr id="47" name="TextBox 46">
            <a:extLst>
              <a:ext uri="{FF2B5EF4-FFF2-40B4-BE49-F238E27FC236}">
                <a16:creationId xmlns:a16="http://schemas.microsoft.com/office/drawing/2014/main" id="{1B7BBBF8-97A2-94B7-F449-F39462523FD5}"/>
              </a:ext>
            </a:extLst>
          </p:cNvPr>
          <p:cNvSpPr txBox="1"/>
          <p:nvPr/>
        </p:nvSpPr>
        <p:spPr bwMode="gray">
          <a:xfrm>
            <a:off x="3035702" y="5556736"/>
            <a:ext cx="8327940" cy="523220"/>
          </a:xfrm>
          <a:prstGeom prst="rect">
            <a:avLst/>
          </a:prstGeom>
          <a:noFill/>
        </p:spPr>
        <p:txBody>
          <a:bodyPr wrap="square">
            <a:spAutoFit/>
          </a:bodyPr>
          <a:lstStyle/>
          <a:p>
            <a:pPr marL="285750" indent="-285750">
              <a:buFont typeface="Arial" panose="020B0604020202020204" pitchFamily="34" charset="0"/>
              <a:buChar char="•"/>
            </a:pPr>
            <a:r>
              <a:rPr lang="en-US" altLang="zh-CN" sz="1400"/>
              <a:t>NDA submission in Oct 2027 is a shared goal for US/EU, and China.</a:t>
            </a:r>
          </a:p>
          <a:p>
            <a:pPr marL="285750" indent="-285750">
              <a:buFont typeface="Arial" panose="020B0604020202020204" pitchFamily="34" charset="0"/>
              <a:buChar char="•"/>
            </a:pPr>
            <a:r>
              <a:rPr lang="en-US" altLang="zh-CN" sz="1400"/>
              <a:t>The evaluation was well aligned with global clinical development team (evidence team).</a:t>
            </a:r>
          </a:p>
        </p:txBody>
      </p:sp>
      <p:cxnSp>
        <p:nvCxnSpPr>
          <p:cNvPr id="48" name="Straight Arrow Connector 47">
            <a:extLst>
              <a:ext uri="{FF2B5EF4-FFF2-40B4-BE49-F238E27FC236}">
                <a16:creationId xmlns:a16="http://schemas.microsoft.com/office/drawing/2014/main" id="{BB204C69-EACB-FDEC-0751-15553F0C059E}"/>
              </a:ext>
            </a:extLst>
          </p:cNvPr>
          <p:cNvCxnSpPr>
            <a:cxnSpLocks/>
          </p:cNvCxnSpPr>
          <p:nvPr/>
        </p:nvCxnSpPr>
        <p:spPr bwMode="gray">
          <a:xfrm>
            <a:off x="1248998" y="3536799"/>
            <a:ext cx="0" cy="459382"/>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Footer Placeholder 51">
            <a:extLst>
              <a:ext uri="{FF2B5EF4-FFF2-40B4-BE49-F238E27FC236}">
                <a16:creationId xmlns:a16="http://schemas.microsoft.com/office/drawing/2014/main" id="{24FB95DE-2BE2-1226-856E-9907736FC44A}"/>
              </a:ext>
            </a:extLst>
          </p:cNvPr>
          <p:cNvSpPr>
            <a:spLocks noGrp="1"/>
          </p:cNvSpPr>
          <p:nvPr>
            <p:ph type="ftr" sz="quarter" idx="19"/>
          </p:nvPr>
        </p:nvSpPr>
        <p:spPr/>
        <p:txBody>
          <a:bodyPr/>
          <a:lstStyle/>
          <a:p>
            <a:r>
              <a:rPr lang="en-US"/>
              <a:t>Seperate topic for verducatib - 2026 Apr PEC</a:t>
            </a:r>
          </a:p>
        </p:txBody>
      </p:sp>
      <p:sp>
        <p:nvSpPr>
          <p:cNvPr id="6" name="Explosion: 8 Points 5">
            <a:extLst>
              <a:ext uri="{FF2B5EF4-FFF2-40B4-BE49-F238E27FC236}">
                <a16:creationId xmlns:a16="http://schemas.microsoft.com/office/drawing/2014/main" id="{D14D4CEE-07EA-A69B-F8EC-30A80F7B2C47}"/>
              </a:ext>
            </a:extLst>
          </p:cNvPr>
          <p:cNvSpPr/>
          <p:nvPr/>
        </p:nvSpPr>
        <p:spPr bwMode="gray">
          <a:xfrm>
            <a:off x="6055461" y="1905125"/>
            <a:ext cx="556009" cy="455335"/>
          </a:xfrm>
          <a:prstGeom prst="irregularSeal1">
            <a:avLst/>
          </a:prstGeom>
          <a:solidFill>
            <a:srgbClr val="052EFC"/>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7" name="Explosion: 8 Points 6">
            <a:extLst>
              <a:ext uri="{FF2B5EF4-FFF2-40B4-BE49-F238E27FC236}">
                <a16:creationId xmlns:a16="http://schemas.microsoft.com/office/drawing/2014/main" id="{4AD96B2D-4323-6C6D-9C20-56D30EB13629}"/>
              </a:ext>
            </a:extLst>
          </p:cNvPr>
          <p:cNvSpPr/>
          <p:nvPr/>
        </p:nvSpPr>
        <p:spPr bwMode="gray">
          <a:xfrm>
            <a:off x="9407266" y="3996181"/>
            <a:ext cx="556009" cy="455335"/>
          </a:xfrm>
          <a:prstGeom prst="irregularSeal1">
            <a:avLst/>
          </a:prstGeom>
          <a:solidFill>
            <a:srgbClr val="052EFC"/>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Tree>
    <p:extLst>
      <p:ext uri="{BB962C8B-B14F-4D97-AF65-F5344CB8AC3E}">
        <p14:creationId xmlns:p14="http://schemas.microsoft.com/office/powerpoint/2010/main" val="555324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2CFECE-E461-ACD1-6D53-CEC245537407}"/>
              </a:ext>
            </a:extLst>
          </p:cNvPr>
          <p:cNvSpPr>
            <a:spLocks noGrp="1"/>
          </p:cNvSpPr>
          <p:nvPr>
            <p:ph type="title"/>
          </p:nvPr>
        </p:nvSpPr>
        <p:spPr/>
        <p:txBody>
          <a:bodyPr/>
          <a:lstStyle/>
          <a:p>
            <a:r>
              <a:rPr lang="en-US" altLang="zh-CN">
                <a:solidFill>
                  <a:schemeClr val="accent3">
                    <a:lumMod val="50000"/>
                  </a:schemeClr>
                </a:solidFill>
              </a:rPr>
              <a:t>Critical assumptions </a:t>
            </a:r>
            <a:r>
              <a:rPr lang="en-US" altLang="zh-CN"/>
              <a:t>for accelerated best case</a:t>
            </a:r>
            <a:endParaRPr lang="zh-CN" altLang="en-US"/>
          </a:p>
        </p:txBody>
      </p:sp>
      <p:sp>
        <p:nvSpPr>
          <p:cNvPr id="7" name="内容占位符 6">
            <a:extLst>
              <a:ext uri="{FF2B5EF4-FFF2-40B4-BE49-F238E27FC236}">
                <a16:creationId xmlns:a16="http://schemas.microsoft.com/office/drawing/2014/main" id="{23BF7FF9-B883-167F-2A08-C500D7ADEAEA}"/>
              </a:ext>
            </a:extLst>
          </p:cNvPr>
          <p:cNvSpPr>
            <a:spLocks noGrp="1"/>
          </p:cNvSpPr>
          <p:nvPr>
            <p:ph idx="1"/>
          </p:nvPr>
        </p:nvSpPr>
        <p:spPr>
          <a:xfrm>
            <a:off x="479425" y="1412876"/>
            <a:ext cx="5378764" cy="4392000"/>
          </a:xfrm>
        </p:spPr>
        <p:txBody>
          <a:bodyPr/>
          <a:lstStyle/>
          <a:p>
            <a:pPr marL="0" indent="0">
              <a:buNone/>
            </a:pPr>
            <a:r>
              <a:rPr lang="en-US" altLang="zh-CN" b="1"/>
              <a:t>Submission on </a:t>
            </a:r>
            <a:r>
              <a:rPr lang="en-US" altLang="zh-CN" b="1">
                <a:highlight>
                  <a:srgbClr val="FFFF00"/>
                </a:highlight>
              </a:rPr>
              <a:t>29 Oct 2027</a:t>
            </a:r>
          </a:p>
          <a:p>
            <a:r>
              <a:rPr lang="fi-FI" altLang="zh-CN">
                <a:solidFill>
                  <a:schemeClr val="tx1">
                    <a:lumMod val="50000"/>
                    <a:lumOff val="50000"/>
                  </a:schemeClr>
                </a:solidFill>
              </a:rPr>
              <a:t>LPO on 01Jul2027, DBL on 26Jul2027, </a:t>
            </a:r>
            <a:r>
              <a:rPr lang="fi-FI" altLang="zh-CN" b="1"/>
              <a:t>TLR</a:t>
            </a:r>
            <a:r>
              <a:rPr lang="fi-FI" altLang="zh-CN"/>
              <a:t> on </a:t>
            </a:r>
            <a:r>
              <a:rPr lang="fi-FI" altLang="zh-CN" b="1">
                <a:solidFill>
                  <a:srgbClr val="7030A0"/>
                </a:solidFill>
              </a:rPr>
              <a:t>05Aug2027</a:t>
            </a:r>
            <a:endParaRPr lang="en-US" altLang="zh-CN" b="1">
              <a:solidFill>
                <a:srgbClr val="7030A0"/>
              </a:solidFill>
            </a:endParaRPr>
          </a:p>
          <a:p>
            <a:r>
              <a:rPr lang="en-US" altLang="zh-CN" b="1"/>
              <a:t>CMC DS PPQ </a:t>
            </a:r>
            <a:r>
              <a:rPr lang="en-US" altLang="zh-CN"/>
              <a:t>completion on </a:t>
            </a:r>
            <a:r>
              <a:rPr lang="en-US" altLang="zh-CN" b="1">
                <a:solidFill>
                  <a:srgbClr val="7030A0"/>
                </a:solidFill>
              </a:rPr>
              <a:t>25Sep2027</a:t>
            </a:r>
            <a:r>
              <a:rPr lang="en-US" altLang="zh-CN"/>
              <a:t> </a:t>
            </a:r>
            <a:r>
              <a:rPr lang="en-US" altLang="zh-CN">
                <a:solidFill>
                  <a:schemeClr val="tx1">
                    <a:lumMod val="50000"/>
                    <a:lumOff val="50000"/>
                  </a:schemeClr>
                </a:solidFill>
              </a:rPr>
              <a:t>without unexpected analytical results</a:t>
            </a:r>
          </a:p>
          <a:p>
            <a:r>
              <a:rPr lang="en-US" altLang="zh-CN" b="1"/>
              <a:t>PR</a:t>
            </a:r>
            <a:r>
              <a:rPr lang="en-US" altLang="zh-CN"/>
              <a:t> confirmed in </a:t>
            </a:r>
            <a:r>
              <a:rPr lang="en-US" altLang="zh-CN" b="1">
                <a:solidFill>
                  <a:srgbClr val="7030A0"/>
                </a:solidFill>
              </a:rPr>
              <a:t>Oct 2027</a:t>
            </a:r>
            <a:r>
              <a:rPr lang="en-US" altLang="zh-CN"/>
              <a:t> </a:t>
            </a:r>
            <a:r>
              <a:rPr lang="en-US" altLang="zh-CN">
                <a:solidFill>
                  <a:schemeClr val="tx1">
                    <a:lumMod val="50000"/>
                    <a:lumOff val="50000"/>
                  </a:schemeClr>
                </a:solidFill>
              </a:rPr>
              <a:t>via pre-NDA (30WD for pediatric case)</a:t>
            </a:r>
            <a:r>
              <a:rPr lang="zh-CN" altLang="en-US">
                <a:solidFill>
                  <a:schemeClr val="tx1">
                    <a:lumMod val="50000"/>
                    <a:lumOff val="50000"/>
                  </a:schemeClr>
                </a:solidFill>
              </a:rPr>
              <a:t>，</a:t>
            </a:r>
            <a:r>
              <a:rPr lang="en-US" altLang="zh-CN">
                <a:solidFill>
                  <a:schemeClr val="tx1">
                    <a:lumMod val="50000"/>
                    <a:lumOff val="50000"/>
                  </a:schemeClr>
                </a:solidFill>
              </a:rPr>
              <a:t>based on data from </a:t>
            </a:r>
            <a:r>
              <a:rPr lang="en-US" altLang="zh-CN" b="1">
                <a:solidFill>
                  <a:schemeClr val="tx1">
                    <a:lumMod val="50000"/>
                    <a:lumOff val="50000"/>
                  </a:schemeClr>
                </a:solidFill>
              </a:rPr>
              <a:t>~40 </a:t>
            </a:r>
            <a:r>
              <a:rPr lang="en-US" altLang="zh-CN">
                <a:solidFill>
                  <a:schemeClr val="tx1">
                    <a:lumMod val="50000"/>
                    <a:lumOff val="50000"/>
                  </a:schemeClr>
                </a:solidFill>
              </a:rPr>
              <a:t>adolescents (75 planned for the trial).</a:t>
            </a:r>
          </a:p>
          <a:p>
            <a:r>
              <a:rPr lang="en-US" altLang="zh-CN" b="1"/>
              <a:t>Whole dossier ready </a:t>
            </a:r>
            <a:r>
              <a:rPr lang="en-US" altLang="zh-CN"/>
              <a:t>on </a:t>
            </a:r>
            <a:r>
              <a:rPr lang="en-US" altLang="zh-CN" b="1">
                <a:solidFill>
                  <a:srgbClr val="7030A0"/>
                </a:solidFill>
              </a:rPr>
              <a:t>15 Oct 2027 </a:t>
            </a:r>
            <a:r>
              <a:rPr lang="en-US" altLang="zh-CN">
                <a:solidFill>
                  <a:schemeClr val="tx1">
                    <a:lumMod val="50000"/>
                    <a:lumOff val="50000"/>
                  </a:schemeClr>
                </a:solidFill>
              </a:rPr>
              <a:t>in CN and EN </a:t>
            </a:r>
          </a:p>
          <a:p>
            <a:r>
              <a:rPr lang="en-US" altLang="zh-CN">
                <a:solidFill>
                  <a:schemeClr val="tx1">
                    <a:lumMod val="50000"/>
                    <a:lumOff val="50000"/>
                  </a:schemeClr>
                </a:solidFill>
              </a:rPr>
              <a:t>eCTD publication in one week (vs standard 10WD)</a:t>
            </a:r>
          </a:p>
          <a:p>
            <a:r>
              <a:rPr lang="en-US" altLang="zh-CN">
                <a:solidFill>
                  <a:schemeClr val="tx1">
                    <a:lumMod val="50000"/>
                    <a:lumOff val="50000"/>
                  </a:schemeClr>
                </a:solidFill>
              </a:rPr>
              <a:t>Resource should be prioritized and sticked </a:t>
            </a:r>
          </a:p>
          <a:p>
            <a:endParaRPr lang="en-US" altLang="zh-CN"/>
          </a:p>
          <a:p>
            <a:pPr marL="0" indent="0">
              <a:buNone/>
            </a:pPr>
            <a:endParaRPr lang="zh-CN" altLang="en-US"/>
          </a:p>
        </p:txBody>
      </p:sp>
      <p:sp>
        <p:nvSpPr>
          <p:cNvPr id="9" name="内容占位符 8">
            <a:extLst>
              <a:ext uri="{FF2B5EF4-FFF2-40B4-BE49-F238E27FC236}">
                <a16:creationId xmlns:a16="http://schemas.microsoft.com/office/drawing/2014/main" id="{90A8BB4D-EDF2-4E13-210B-364B03061EBC}"/>
              </a:ext>
            </a:extLst>
          </p:cNvPr>
          <p:cNvSpPr>
            <a:spLocks noGrp="1"/>
          </p:cNvSpPr>
          <p:nvPr>
            <p:ph idx="16"/>
          </p:nvPr>
        </p:nvSpPr>
        <p:spPr>
          <a:xfrm>
            <a:off x="6312024" y="1412876"/>
            <a:ext cx="5472114" cy="3269656"/>
          </a:xfrm>
        </p:spPr>
        <p:txBody>
          <a:bodyPr vert="horz" lIns="0" tIns="0" rIns="0" bIns="0" rtlCol="0" anchor="t">
            <a:noAutofit/>
          </a:bodyPr>
          <a:lstStyle/>
          <a:p>
            <a:pPr marL="0" indent="0">
              <a:buNone/>
            </a:pPr>
            <a:r>
              <a:rPr lang="en-US" altLang="zh-CN" b="1"/>
              <a:t>Approval by </a:t>
            </a:r>
            <a:r>
              <a:rPr lang="en-US" altLang="zh-CN" b="1">
                <a:highlight>
                  <a:srgbClr val="FFFF00"/>
                </a:highlight>
              </a:rPr>
              <a:t>end of Jun 2028 </a:t>
            </a:r>
          </a:p>
          <a:p>
            <a:pPr marL="575945" lvl="3" indent="0">
              <a:buNone/>
            </a:pPr>
            <a:r>
              <a:rPr lang="en-US" altLang="zh-CN"/>
              <a:t>Approval in </a:t>
            </a:r>
            <a:r>
              <a:rPr lang="en-US" altLang="zh-CN" b="1">
                <a:solidFill>
                  <a:srgbClr val="7030A0"/>
                </a:solidFill>
              </a:rPr>
              <a:t>8M</a:t>
            </a:r>
            <a:r>
              <a:rPr lang="en-US" altLang="zh-CN"/>
              <a:t> (vs current benchmark for NDA approval with </a:t>
            </a:r>
            <a:r>
              <a:rPr lang="en-US" altLang="zh-CN" b="1">
                <a:solidFill>
                  <a:srgbClr val="FF0000"/>
                </a:solidFill>
              </a:rPr>
              <a:t>PR</a:t>
            </a:r>
            <a:r>
              <a:rPr lang="en-US" altLang="zh-CN"/>
              <a:t> is </a:t>
            </a:r>
            <a:r>
              <a:rPr lang="en-US" altLang="zh-CN" b="1">
                <a:solidFill>
                  <a:srgbClr val="FF0000"/>
                </a:solidFill>
              </a:rPr>
              <a:t>12M</a:t>
            </a:r>
            <a:r>
              <a:rPr lang="en-US" altLang="zh-CN"/>
              <a:t>) including </a:t>
            </a:r>
          </a:p>
          <a:p>
            <a:pPr marL="791845" lvl="3" indent="-215900">
              <a:buFont typeface="Arial" panose="05000000000000000000" pitchFamily="2" charset="2"/>
              <a:buChar char="•"/>
            </a:pPr>
            <a:r>
              <a:rPr lang="en-US" altLang="zh-CN">
                <a:solidFill>
                  <a:schemeClr val="tx1">
                    <a:lumMod val="50000"/>
                    <a:lumOff val="50000"/>
                  </a:schemeClr>
                </a:solidFill>
              </a:rPr>
              <a:t>QC testing </a:t>
            </a:r>
          </a:p>
          <a:p>
            <a:pPr marL="791845" lvl="3" indent="-215900">
              <a:buFont typeface="Arial" panose="05000000000000000000" pitchFamily="2" charset="2"/>
              <a:buChar char="•"/>
            </a:pPr>
            <a:r>
              <a:rPr lang="en-US" altLang="zh-CN">
                <a:solidFill>
                  <a:schemeClr val="tx1">
                    <a:lumMod val="50000"/>
                    <a:lumOff val="50000"/>
                  </a:schemeClr>
                </a:solidFill>
              </a:rPr>
              <a:t>ad hoc panel meeting</a:t>
            </a:r>
          </a:p>
          <a:p>
            <a:pPr marL="791845" lvl="3" indent="-215900">
              <a:buFont typeface="Arial" panose="05000000000000000000" pitchFamily="2" charset="2"/>
              <a:buChar char="•"/>
            </a:pPr>
            <a:r>
              <a:rPr lang="en-US" altLang="zh-CN">
                <a:solidFill>
                  <a:schemeClr val="tx1">
                    <a:lumMod val="50000"/>
                    <a:lumOff val="50000"/>
                  </a:schemeClr>
                </a:solidFill>
              </a:rPr>
              <a:t>potential GMP inspection (if CN progress faster than US)</a:t>
            </a:r>
          </a:p>
          <a:p>
            <a:pPr marL="791845" lvl="3" indent="-215900">
              <a:buFont typeface="Arial" panose="05000000000000000000" pitchFamily="2" charset="2"/>
              <a:buChar char="•"/>
            </a:pPr>
            <a:r>
              <a:rPr lang="en-US" altLang="zh-CN">
                <a:solidFill>
                  <a:schemeClr val="tx1">
                    <a:lumMod val="50000"/>
                    <a:lumOff val="50000"/>
                  </a:schemeClr>
                </a:solidFill>
              </a:rPr>
              <a:t>Fast negotiation for approval documents</a:t>
            </a:r>
            <a:endParaRPr lang="zh-CN" altLang="en-US">
              <a:solidFill>
                <a:schemeClr val="tx1">
                  <a:lumMod val="50000"/>
                  <a:lumOff val="50000"/>
                </a:schemeClr>
              </a:solidFill>
            </a:endParaRPr>
          </a:p>
        </p:txBody>
      </p:sp>
      <p:sp>
        <p:nvSpPr>
          <p:cNvPr id="6" name="灯片编号占位符 5">
            <a:extLst>
              <a:ext uri="{FF2B5EF4-FFF2-40B4-BE49-F238E27FC236}">
                <a16:creationId xmlns:a16="http://schemas.microsoft.com/office/drawing/2014/main" id="{C90ED2E9-511C-0786-33B9-EA28C00D29E3}"/>
              </a:ext>
            </a:extLst>
          </p:cNvPr>
          <p:cNvSpPr>
            <a:spLocks noGrp="1"/>
          </p:cNvSpPr>
          <p:nvPr>
            <p:ph type="sldNum" sz="quarter"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5" name="页脚占位符 4">
            <a:extLst>
              <a:ext uri="{FF2B5EF4-FFF2-40B4-BE49-F238E27FC236}">
                <a16:creationId xmlns:a16="http://schemas.microsoft.com/office/drawing/2014/main" id="{D33AC63B-6B2C-5575-0703-219DC6A3EAAF}"/>
              </a:ext>
            </a:extLst>
          </p:cNvPr>
          <p:cNvSpPr>
            <a:spLocks noGrp="1"/>
          </p:cNvSpPr>
          <p:nvPr>
            <p:ph type="ftr" sz="quarter" idx="21"/>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    ONLY FOR INTERNAL USE</a:t>
            </a:r>
          </a:p>
        </p:txBody>
      </p:sp>
      <p:pic>
        <p:nvPicPr>
          <p:cNvPr id="11" name="图形 10" descr="警报响了 纯色填充">
            <a:extLst>
              <a:ext uri="{FF2B5EF4-FFF2-40B4-BE49-F238E27FC236}">
                <a16:creationId xmlns:a16="http://schemas.microsoft.com/office/drawing/2014/main" id="{B16D144A-35A9-CDBA-9A56-268F08EA97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095999" y="1891567"/>
            <a:ext cx="572784" cy="572784"/>
          </a:xfrm>
          <a:prstGeom prst="rect">
            <a:avLst/>
          </a:prstGeom>
        </p:spPr>
      </p:pic>
      <p:sp>
        <p:nvSpPr>
          <p:cNvPr id="3" name="TextBox 2">
            <a:extLst>
              <a:ext uri="{FF2B5EF4-FFF2-40B4-BE49-F238E27FC236}">
                <a16:creationId xmlns:a16="http://schemas.microsoft.com/office/drawing/2014/main" id="{85B479F2-31DE-BD6A-DFB6-901706412206}"/>
              </a:ext>
            </a:extLst>
          </p:cNvPr>
          <p:cNvSpPr txBox="1"/>
          <p:nvPr/>
        </p:nvSpPr>
        <p:spPr bwMode="gray">
          <a:xfrm>
            <a:off x="709386" y="5803577"/>
            <a:ext cx="6578600" cy="207301"/>
          </a:xfrm>
          <a:prstGeom prst="rect">
            <a:avLst/>
          </a:prstGeom>
          <a:noFill/>
        </p:spPr>
        <p:txBody>
          <a:bodyPr wrap="square" lIns="0" tIns="0" rIns="0" bIns="0" rtlCol="0">
            <a:spAutoFit/>
          </a:bodyPr>
          <a:lstStyle/>
          <a:p>
            <a:pPr algn="l">
              <a:lnSpc>
                <a:spcPct val="140000"/>
              </a:lnSpc>
            </a:pPr>
            <a:r>
              <a:rPr lang="en-US" altLang="zh-CN" sz="1050" b="1"/>
              <a:t>DS PPQ</a:t>
            </a:r>
            <a:r>
              <a:rPr lang="en-US" altLang="zh-CN" sz="1050"/>
              <a:t>=drug substance process performance qualification.</a:t>
            </a:r>
            <a:endParaRPr lang="zh-CN" altLang="en-US" sz="1050"/>
          </a:p>
        </p:txBody>
      </p:sp>
    </p:spTree>
    <p:extLst>
      <p:ext uri="{BB962C8B-B14F-4D97-AF65-F5344CB8AC3E}">
        <p14:creationId xmlns:p14="http://schemas.microsoft.com/office/powerpoint/2010/main" val="2719048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53107-C996-D7A7-F756-47924D71E8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715BD7-20FC-510A-DF5F-3E8C5FF3F692}"/>
              </a:ext>
            </a:extLst>
          </p:cNvPr>
          <p:cNvSpPr>
            <a:spLocks noGrp="1"/>
          </p:cNvSpPr>
          <p:nvPr>
            <p:ph type="title"/>
          </p:nvPr>
        </p:nvSpPr>
        <p:spPr>
          <a:xfrm>
            <a:off x="227634" y="236854"/>
            <a:ext cx="11233151" cy="720000"/>
          </a:xfrm>
        </p:spPr>
        <p:txBody>
          <a:bodyPr/>
          <a:lstStyle/>
          <a:p>
            <a:r>
              <a:rPr lang="en-US" altLang="zh-CN" sz="2400"/>
              <a:t>Acceleration of verducatib launch and NRDL entry assessment</a:t>
            </a:r>
            <a:endParaRPr lang="zh-CN" altLang="en-US" sz="2400"/>
          </a:p>
        </p:txBody>
      </p:sp>
      <p:graphicFrame>
        <p:nvGraphicFramePr>
          <p:cNvPr id="7" name="Content Placeholder 6">
            <a:extLst>
              <a:ext uri="{FF2B5EF4-FFF2-40B4-BE49-F238E27FC236}">
                <a16:creationId xmlns:a16="http://schemas.microsoft.com/office/drawing/2014/main" id="{376312A5-7664-B7AB-7936-41DC1BAACFF8}"/>
              </a:ext>
            </a:extLst>
          </p:cNvPr>
          <p:cNvGraphicFramePr>
            <a:graphicFrameLocks noGrp="1"/>
          </p:cNvGraphicFramePr>
          <p:nvPr>
            <p:ph idx="1"/>
            <p:extLst>
              <p:ext uri="{D42A27DB-BD31-4B8C-83A1-F6EECF244321}">
                <p14:modId xmlns:p14="http://schemas.microsoft.com/office/powerpoint/2010/main" val="1337765518"/>
              </p:ext>
            </p:extLst>
          </p:nvPr>
        </p:nvGraphicFramePr>
        <p:xfrm>
          <a:off x="227634" y="651165"/>
          <a:ext cx="11736732" cy="5588351"/>
        </p:xfrm>
        <a:graphic>
          <a:graphicData uri="http://schemas.openxmlformats.org/drawingml/2006/table">
            <a:tbl>
              <a:tblPr firstRow="1" bandRow="1">
                <a:tableStyleId>{5C22544A-7EE6-4342-B048-85BDC9FD1C3A}</a:tableStyleId>
              </a:tblPr>
              <a:tblGrid>
                <a:gridCol w="1254705">
                  <a:extLst>
                    <a:ext uri="{9D8B030D-6E8A-4147-A177-3AD203B41FA5}">
                      <a16:colId xmlns:a16="http://schemas.microsoft.com/office/drawing/2014/main" val="1096600408"/>
                    </a:ext>
                  </a:extLst>
                </a:gridCol>
                <a:gridCol w="2887642">
                  <a:extLst>
                    <a:ext uri="{9D8B030D-6E8A-4147-A177-3AD203B41FA5}">
                      <a16:colId xmlns:a16="http://schemas.microsoft.com/office/drawing/2014/main" val="3449473155"/>
                    </a:ext>
                  </a:extLst>
                </a:gridCol>
                <a:gridCol w="1190933">
                  <a:extLst>
                    <a:ext uri="{9D8B030D-6E8A-4147-A177-3AD203B41FA5}">
                      <a16:colId xmlns:a16="http://schemas.microsoft.com/office/drawing/2014/main" val="1946274857"/>
                    </a:ext>
                  </a:extLst>
                </a:gridCol>
                <a:gridCol w="1037092">
                  <a:extLst>
                    <a:ext uri="{9D8B030D-6E8A-4147-A177-3AD203B41FA5}">
                      <a16:colId xmlns:a16="http://schemas.microsoft.com/office/drawing/2014/main" val="860024416"/>
                    </a:ext>
                  </a:extLst>
                </a:gridCol>
                <a:gridCol w="2844245">
                  <a:extLst>
                    <a:ext uri="{9D8B030D-6E8A-4147-A177-3AD203B41FA5}">
                      <a16:colId xmlns:a16="http://schemas.microsoft.com/office/drawing/2014/main" val="593458149"/>
                    </a:ext>
                  </a:extLst>
                </a:gridCol>
                <a:gridCol w="2522115">
                  <a:extLst>
                    <a:ext uri="{9D8B030D-6E8A-4147-A177-3AD203B41FA5}">
                      <a16:colId xmlns:a16="http://schemas.microsoft.com/office/drawing/2014/main" val="1042904680"/>
                    </a:ext>
                  </a:extLst>
                </a:gridCol>
              </a:tblGrid>
              <a:tr h="345791">
                <a:tc>
                  <a:txBody>
                    <a:bodyPr/>
                    <a:lstStyle/>
                    <a:p>
                      <a:pPr algn="ctr"/>
                      <a:r>
                        <a:rPr lang="en-US" altLang="zh-CN" sz="1100"/>
                        <a:t>Priorities</a:t>
                      </a:r>
                      <a:endParaRPr lang="zh-CN" altLang="en-US" sz="1100"/>
                    </a:p>
                  </a:txBody>
                  <a:tcPr anchor="ctr"/>
                </a:tc>
                <a:tc>
                  <a:txBody>
                    <a:bodyPr/>
                    <a:lstStyle/>
                    <a:p>
                      <a:r>
                        <a:rPr lang="en-US" altLang="zh-CN" sz="1100"/>
                        <a:t>Current Issues</a:t>
                      </a:r>
                      <a:endParaRPr lang="zh-CN" altLang="en-US" sz="1100"/>
                    </a:p>
                  </a:txBody>
                  <a:tcPr anchor="ctr"/>
                </a:tc>
                <a:tc>
                  <a:txBody>
                    <a:bodyPr/>
                    <a:lstStyle/>
                    <a:p>
                      <a:pPr algn="ctr"/>
                      <a:r>
                        <a:rPr lang="en-US" altLang="zh-CN" sz="1100"/>
                        <a:t>Target Date</a:t>
                      </a:r>
                      <a:endParaRPr lang="zh-CN" altLang="en-US" sz="1100"/>
                    </a:p>
                  </a:txBody>
                  <a:tcPr anchor="ctr"/>
                </a:tc>
                <a:tc>
                  <a:txBody>
                    <a:bodyPr/>
                    <a:lstStyle/>
                    <a:p>
                      <a:pPr algn="ctr"/>
                      <a:r>
                        <a:rPr lang="en-US" altLang="zh-CN" sz="1100" err="1"/>
                        <a:t>PoS</a:t>
                      </a:r>
                      <a:r>
                        <a:rPr lang="en-US" altLang="zh-CN" sz="1100"/>
                        <a:t> Level</a:t>
                      </a:r>
                      <a:endParaRPr lang="zh-CN" altLang="en-US" sz="1100"/>
                    </a:p>
                  </a:txBody>
                  <a:tcPr anchor="ctr"/>
                </a:tc>
                <a:tc>
                  <a:txBody>
                    <a:bodyPr/>
                    <a:lstStyle/>
                    <a:p>
                      <a:r>
                        <a:rPr lang="en-US" altLang="zh-CN" sz="1100"/>
                        <a:t>Mitigation Plan/Next actions</a:t>
                      </a:r>
                      <a:endParaRPr lang="zh-CN" altLang="en-US" sz="1100"/>
                    </a:p>
                  </a:txBody>
                  <a:tcPr anchor="ctr"/>
                </a:tc>
                <a:tc>
                  <a:txBody>
                    <a:bodyPr/>
                    <a:lstStyle/>
                    <a:p>
                      <a:r>
                        <a:rPr lang="en-US" altLang="zh-CN" sz="1100"/>
                        <a:t>Support Requested</a:t>
                      </a:r>
                      <a:endParaRPr lang="zh-CN" altLang="en-US" sz="1100"/>
                    </a:p>
                  </a:txBody>
                  <a:tcPr anchor="ctr"/>
                </a:tc>
                <a:extLst>
                  <a:ext uri="{0D108BD9-81ED-4DB2-BD59-A6C34878D82A}">
                    <a16:rowId xmlns:a16="http://schemas.microsoft.com/office/drawing/2014/main" val="1299596225"/>
                  </a:ext>
                </a:extLst>
              </a:tr>
              <a:tr h="481637">
                <a:tc>
                  <a:txBody>
                    <a:bodyPr/>
                    <a:lstStyle/>
                    <a:p>
                      <a:pPr lvl="0" algn="ctr">
                        <a:buNone/>
                      </a:pPr>
                      <a:r>
                        <a:rPr lang="en-US" altLang="zh-CN" sz="1100" b="1"/>
                        <a:t>DBL (adults)/TLR</a:t>
                      </a:r>
                      <a:endParaRPr lang="zh-CN" altLang="en-US" sz="1100" b="1"/>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100" b="1"/>
                        <a:t>Uncertainty in DBL timeline: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100"/>
                        <a:t>Events-driven DBL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100"/>
                        <a:t>Global LPO</a:t>
                      </a:r>
                      <a:r>
                        <a:rPr lang="zh-CN" altLang="en-US" sz="1100"/>
                        <a:t>→</a:t>
                      </a:r>
                      <a:r>
                        <a:rPr lang="en-US" altLang="zh-CN" sz="1100"/>
                        <a:t>DBL</a:t>
                      </a:r>
                      <a:endParaRPr lang="zh-CN" altLang="en-US" sz="1100"/>
                    </a:p>
                  </a:txBody>
                  <a:tcPr anchor="ctr"/>
                </a:tc>
                <a:tc>
                  <a:txBody>
                    <a:bodyPr/>
                    <a:lstStyle/>
                    <a:p>
                      <a:pPr lvl="0" algn="ctr">
                        <a:buNone/>
                      </a:pPr>
                      <a:r>
                        <a:rPr lang="en-US" altLang="zh-CN" sz="1100"/>
                        <a:t>Jul 26, 2027</a:t>
                      </a:r>
                      <a:endParaRPr lang="zh-CN" altLang="en-US" sz="1100"/>
                    </a:p>
                  </a:txBody>
                  <a:tcPr anchor="ctr"/>
                </a:tc>
                <a:tc>
                  <a:txBody>
                    <a:bodyPr/>
                    <a:lstStyle/>
                    <a:p>
                      <a:pPr lvl="0" algn="ctr">
                        <a:buNone/>
                      </a:pPr>
                      <a:r>
                        <a:rPr lang="en-US" altLang="zh-CN" sz="1100" b="1"/>
                        <a:t>Medium</a:t>
                      </a:r>
                      <a:endParaRPr lang="zh-CN" altLang="en-US" sz="1100" b="1"/>
                    </a:p>
                  </a:txBody>
                  <a:tcPr anchor="ctr">
                    <a:solidFill>
                      <a:schemeClr val="accent4"/>
                    </a:solidFill>
                  </a:tcPr>
                </a:tc>
                <a:tc>
                  <a:txBody>
                    <a:bodyPr/>
                    <a:lstStyle/>
                    <a:p>
                      <a:pPr marL="171450" lvl="0" indent="-171450">
                        <a:buFont typeface="Arial" panose="020B0604020202020204" pitchFamily="34" charset="0"/>
                        <a:buChar char="•"/>
                      </a:pPr>
                      <a:r>
                        <a:rPr lang="en-US" altLang="zh-CN" sz="1100"/>
                        <a:t>Keep monitoring the number of events and </a:t>
                      </a:r>
                      <a:r>
                        <a:rPr lang="en-US" altLang="zh-CN" sz="1100" b="1"/>
                        <a:t>update</a:t>
                      </a:r>
                      <a:r>
                        <a:rPr lang="en-US" altLang="zh-CN" sz="1100"/>
                        <a:t> risk level accordingly</a:t>
                      </a:r>
                      <a:endParaRPr lang="zh-CN" sz="1100"/>
                    </a:p>
                  </a:txBody>
                  <a:tcPr anchor="ctr"/>
                </a:tc>
                <a:tc>
                  <a:txBody>
                    <a:bodyPr/>
                    <a:lstStyle/>
                    <a:p>
                      <a:pPr marL="171450" lvl="0" indent="-171450">
                        <a:buFont typeface="Arial"/>
                        <a:buChar char="•"/>
                      </a:pPr>
                      <a:r>
                        <a:rPr lang="en-US" altLang="zh-CN" sz="1100"/>
                        <a:t>NA</a:t>
                      </a:r>
                      <a:endParaRPr lang="zh-CN" sz="1100"/>
                    </a:p>
                  </a:txBody>
                  <a:tcPr anchor="ctr"/>
                </a:tc>
                <a:extLst>
                  <a:ext uri="{0D108BD9-81ED-4DB2-BD59-A6C34878D82A}">
                    <a16:rowId xmlns:a16="http://schemas.microsoft.com/office/drawing/2014/main" val="2992247336"/>
                  </a:ext>
                </a:extLst>
              </a:tr>
              <a:tr h="75333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t>Adolescent recruitment</a:t>
                      </a:r>
                      <a:endParaRPr lang="zh-CN" altLang="zh-CN" sz="1100" b="1"/>
                    </a:p>
                  </a:txBody>
                  <a:tcPr anchor="ctr"/>
                </a:tc>
                <a:tc>
                  <a:txBody>
                    <a:bodyPr/>
                    <a:lstStyle/>
                    <a:p>
                      <a:pPr lvl="0">
                        <a:buNone/>
                      </a:pPr>
                      <a:r>
                        <a:rPr lang="en-US" altLang="zh-CN" sz="1100" b="1"/>
                        <a:t>Challenge in adolescent recruitment:</a:t>
                      </a:r>
                    </a:p>
                    <a:p>
                      <a:pPr marL="171450" lvl="0" indent="-171450">
                        <a:buFont typeface="Arial" panose="020B0604020202020204" pitchFamily="34" charset="0"/>
                        <a:buChar char="•"/>
                      </a:pPr>
                      <a:r>
                        <a:rPr lang="en-US" altLang="zh-CN" sz="1100"/>
                        <a:t>Small patient size for recruitment (protocol required </a:t>
                      </a:r>
                      <a:r>
                        <a:rPr lang="en-US" altLang="zh-CN" sz="1100">
                          <a:highlight>
                            <a:srgbClr val="FFFF00"/>
                          </a:highlight>
                        </a:rPr>
                        <a:t>75</a:t>
                      </a:r>
                      <a:r>
                        <a:rPr lang="en-US" altLang="zh-CN" sz="1100"/>
                        <a:t> adolescents)</a:t>
                      </a:r>
                    </a:p>
                    <a:p>
                      <a:pPr marL="171450" lvl="0" indent="-171450">
                        <a:buFont typeface="Arial" panose="020B0604020202020204" pitchFamily="34" charset="0"/>
                        <a:buChar char="•"/>
                      </a:pPr>
                      <a:r>
                        <a:rPr lang="en-US" altLang="zh-CN" sz="1100"/>
                        <a:t>Adolescent data is critical for PR application</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a:t>Jul 26, 2027</a:t>
                      </a:r>
                      <a:endParaRPr lang="zh-CN" altLang="en-US" sz="1100"/>
                    </a:p>
                  </a:txBody>
                  <a:tcPr anchor="ctr"/>
                </a:tc>
                <a:tc>
                  <a:txBody>
                    <a:bodyPr/>
                    <a:lstStyle/>
                    <a:p>
                      <a:pPr lvl="0" algn="ctr">
                        <a:buNone/>
                      </a:pPr>
                      <a:r>
                        <a:rPr lang="en-US" altLang="zh-CN" sz="1100" b="0">
                          <a:solidFill>
                            <a:schemeClr val="tx1">
                              <a:lumMod val="50000"/>
                              <a:lumOff val="50000"/>
                            </a:schemeClr>
                          </a:solidFill>
                        </a:rPr>
                        <a:t>Low</a:t>
                      </a:r>
                      <a:r>
                        <a:rPr lang="en-US" altLang="zh-CN" sz="1100" b="0"/>
                        <a:t>-</a:t>
                      </a:r>
                      <a:r>
                        <a:rPr lang="en-US" altLang="zh-CN" sz="1100" b="1"/>
                        <a:t>Medium</a:t>
                      </a:r>
                      <a:endParaRPr lang="zh-CN" altLang="en-US" sz="1100" b="0"/>
                    </a:p>
                  </a:txBody>
                  <a:tcPr anchor="ctr">
                    <a:gradFill>
                      <a:gsLst>
                        <a:gs pos="0">
                          <a:schemeClr val="accent1">
                            <a:lumMod val="5000"/>
                            <a:lumOff val="95000"/>
                          </a:schemeClr>
                        </a:gs>
                        <a:gs pos="0">
                          <a:srgbClr val="FFE667"/>
                        </a:gs>
                        <a:gs pos="62000">
                          <a:srgbClr val="FFE667"/>
                        </a:gs>
                        <a:gs pos="100000">
                          <a:srgbClr val="FF0000"/>
                        </a:gs>
                      </a:gsLst>
                      <a:lin ang="5400000" scaled="1"/>
                    </a:gradFill>
                  </a:tcPr>
                </a:tc>
                <a:tc>
                  <a:txBody>
                    <a:bodyPr/>
                    <a:lstStyle/>
                    <a:p>
                      <a:pPr marL="171450" lvl="0" indent="-171450">
                        <a:buFont typeface="Arial" panose="020B0604020202020204" pitchFamily="34" charset="0"/>
                        <a:buChar char="•"/>
                      </a:pPr>
                      <a:r>
                        <a:rPr lang="en-US" altLang="zh-CN" sz="1100"/>
                        <a:t>Internal assessment of ~</a:t>
                      </a:r>
                      <a:r>
                        <a:rPr lang="en-US" altLang="zh-CN" sz="1100">
                          <a:highlight>
                            <a:srgbClr val="FFFF00"/>
                          </a:highlight>
                        </a:rPr>
                        <a:t>40</a:t>
                      </a:r>
                      <a:r>
                        <a:rPr lang="en-US" altLang="zh-CN" sz="1100"/>
                        <a:t> patient data to support China PR.</a:t>
                      </a:r>
                    </a:p>
                    <a:p>
                      <a:pPr marL="171450" lvl="0" indent="-171450">
                        <a:buFont typeface="Arial" panose="020B0604020202020204" pitchFamily="34" charset="0"/>
                        <a:buChar char="•"/>
                      </a:pPr>
                      <a:r>
                        <a:rPr lang="en-US" altLang="zh-CN" sz="1100"/>
                        <a:t>Accelerate adolescent recruitment.</a:t>
                      </a:r>
                      <a:endParaRPr lang="zh-CN" altLang="en-US" sz="1100"/>
                    </a:p>
                  </a:txBody>
                  <a:tcPr anchor="ctr"/>
                </a:tc>
                <a:tc>
                  <a:txBody>
                    <a:bodyPr/>
                    <a:lstStyle/>
                    <a:p>
                      <a:pPr marL="171450" lvl="0" indent="-171450">
                        <a:buFont typeface="Arial" panose="020B0604020202020204" pitchFamily="34" charset="0"/>
                        <a:buChar char="•"/>
                      </a:pPr>
                      <a:r>
                        <a:rPr lang="zh-CN" altLang="en-US" sz="1100"/>
                        <a:t>Global (+local) acceleration plan for adol</a:t>
                      </a:r>
                      <a:r>
                        <a:rPr lang="en-US" altLang="zh-CN" sz="1100" err="1"/>
                        <a:t>escent</a:t>
                      </a:r>
                      <a:r>
                        <a:rPr lang="en-US" altLang="zh-CN" sz="1100"/>
                        <a:t> recruitment</a:t>
                      </a:r>
                    </a:p>
                    <a:p>
                      <a:pPr marL="171450" lvl="0" indent="-171450">
                        <a:buFont typeface="Arial" panose="020B0604020202020204" pitchFamily="34" charset="0"/>
                        <a:buChar char="•"/>
                      </a:pPr>
                      <a:r>
                        <a:rPr lang="en-US" altLang="zh-CN" sz="1100"/>
                        <a:t>Interim analysis plan to be decided to support PR/BTD.</a:t>
                      </a:r>
                      <a:endParaRPr lang="zh-CN" altLang="en-US" sz="1100"/>
                    </a:p>
                  </a:txBody>
                  <a:tcPr anchor="ctr"/>
                </a:tc>
                <a:extLst>
                  <a:ext uri="{0D108BD9-81ED-4DB2-BD59-A6C34878D82A}">
                    <a16:rowId xmlns:a16="http://schemas.microsoft.com/office/drawing/2014/main" val="2532133920"/>
                  </a:ext>
                </a:extLst>
              </a:tr>
              <a:tr h="1160868">
                <a:tc>
                  <a:txBody>
                    <a:bodyPr/>
                    <a:lstStyle/>
                    <a:p>
                      <a:pPr lvl="0" algn="ctr">
                        <a:buNone/>
                      </a:pPr>
                      <a:r>
                        <a:rPr lang="en-US" altLang="zh-CN" sz="1100" b="1"/>
                        <a:t>Clinical&amp; CMC Dossier Readiness</a:t>
                      </a:r>
                      <a:endParaRPr lang="zh-CN" sz="1100" b="1"/>
                    </a:p>
                  </a:txBody>
                  <a:tcPr anchor="ctr"/>
                </a:tc>
                <a:tc>
                  <a:txBody>
                    <a:bodyPr/>
                    <a:lstStyle/>
                    <a:p>
                      <a:pPr lvl="0">
                        <a:buNone/>
                      </a:pPr>
                      <a:r>
                        <a:rPr lang="en-US" altLang="zh-CN" sz="1100" b="1"/>
                        <a:t>Tight timeline for NDA dossier readiness timeline (</a:t>
                      </a:r>
                      <a:r>
                        <a:rPr lang="en-US" altLang="zh-CN" sz="1100" b="1">
                          <a:highlight>
                            <a:srgbClr val="FFFF00"/>
                          </a:highlight>
                        </a:rPr>
                        <a:t>Oct 15, 2027 </a:t>
                      </a:r>
                      <a:r>
                        <a:rPr lang="en-US" altLang="zh-CN" sz="1100" b="1"/>
                        <a:t>is a critical cutoff date for all document readiness for submission)</a:t>
                      </a:r>
                    </a:p>
                    <a:p>
                      <a:pPr marL="171450" lvl="0" indent="-171450">
                        <a:buFont typeface="Arial" panose="020B0604020202020204" pitchFamily="34" charset="0"/>
                        <a:buChar char="•"/>
                      </a:pPr>
                      <a:r>
                        <a:rPr lang="en-US" altLang="zh-CN" sz="1100"/>
                        <a:t>Clinical: CTR&amp;SGAR</a:t>
                      </a:r>
                      <a:r>
                        <a:rPr lang="zh-CN" altLang="en-US" sz="1100"/>
                        <a:t>，</a:t>
                      </a:r>
                      <a:r>
                        <a:rPr lang="en-US" altLang="zh-CN" sz="1100"/>
                        <a:t>CO</a:t>
                      </a:r>
                    </a:p>
                    <a:p>
                      <a:pPr marL="171450" lvl="0" indent="-171450">
                        <a:buFont typeface="Arial" panose="020B0604020202020204" pitchFamily="34" charset="0"/>
                        <a:buChar char="•"/>
                      </a:pPr>
                      <a:r>
                        <a:rPr lang="en-US" altLang="zh-CN" sz="1100"/>
                        <a:t>CMC: DS PPQ report &amp; S250</a:t>
                      </a:r>
                    </a:p>
                    <a:p>
                      <a:pPr marL="171450" lvl="0" indent="-171450">
                        <a:buFont typeface="Arial" panose="020B0604020202020204" pitchFamily="34" charset="0"/>
                        <a:buChar char="•"/>
                      </a:pPr>
                      <a:r>
                        <a:rPr lang="en-US" altLang="zh-CN" sz="1100"/>
                        <a:t>No buffer to address country specific needs in LPI before submission</a:t>
                      </a:r>
                      <a:endParaRPr lang="zh-CN" altLang="en-US" sz="1100"/>
                    </a:p>
                  </a:txBody>
                  <a:tcPr anchor="ctr"/>
                </a:tc>
                <a:tc>
                  <a:txBody>
                    <a:bodyPr/>
                    <a:lstStyle/>
                    <a:p>
                      <a:pPr lvl="0" algn="ctr">
                        <a:buNone/>
                      </a:pPr>
                      <a:r>
                        <a:rPr lang="en-US" altLang="zh-CN" sz="1100"/>
                        <a:t>Oct 15, 2027</a:t>
                      </a:r>
                      <a:endParaRPr lang="zh-CN" sz="1100"/>
                    </a:p>
                  </a:txBody>
                  <a:tcPr anchor="ctr"/>
                </a:tc>
                <a:tc>
                  <a:txBody>
                    <a:bodyPr/>
                    <a:lstStyle/>
                    <a:p>
                      <a:pPr lvl="0" algn="ctr">
                        <a:buNone/>
                      </a:pPr>
                      <a:r>
                        <a:rPr lang="en-US" altLang="zh-CN" sz="1100" b="0">
                          <a:solidFill>
                            <a:schemeClr val="tx1">
                              <a:lumMod val="50000"/>
                              <a:lumOff val="50000"/>
                            </a:schemeClr>
                          </a:solidFill>
                        </a:rPr>
                        <a:t>Medium</a:t>
                      </a:r>
                      <a:r>
                        <a:rPr lang="en-US" altLang="zh-CN" sz="1100" b="1"/>
                        <a:t>-High</a:t>
                      </a:r>
                      <a:endParaRPr lang="zh-CN" sz="1100" b="1"/>
                    </a:p>
                  </a:txBody>
                  <a:tcPr anchor="ctr">
                    <a:gradFill flip="none" rotWithShape="1">
                      <a:gsLst>
                        <a:gs pos="17500">
                          <a:srgbClr val="FFFFFF"/>
                        </a:gs>
                        <a:gs pos="0">
                          <a:schemeClr val="accent2">
                            <a:lumMod val="0"/>
                            <a:lumOff val="100000"/>
                          </a:schemeClr>
                        </a:gs>
                        <a:gs pos="91000">
                          <a:srgbClr val="FFE667"/>
                        </a:gs>
                        <a:gs pos="75000">
                          <a:schemeClr val="accent2">
                            <a:lumMod val="100000"/>
                          </a:schemeClr>
                        </a:gs>
                      </a:gsLst>
                      <a:path path="circle">
                        <a:fillToRect l="50000" t="-80000" r="50000" b="180000"/>
                      </a:path>
                      <a:tileRect/>
                    </a:gradFill>
                  </a:tcPr>
                </a:tc>
                <a:tc>
                  <a:txBody>
                    <a:bodyPr/>
                    <a:lstStyle/>
                    <a:p>
                      <a:pPr marL="171450" lvl="0" indent="-171450">
                        <a:buFont typeface="Arial"/>
                        <a:buChar char="•"/>
                      </a:pPr>
                      <a:r>
                        <a:rPr lang="en-US" altLang="zh-CN" sz="1100"/>
                        <a:t>Frontloading package preparation, </a:t>
                      </a:r>
                      <a:r>
                        <a:rPr lang="en-US" altLang="zh-CN" sz="1100" err="1"/>
                        <a:t>esp</a:t>
                      </a:r>
                      <a:r>
                        <a:rPr lang="en-US" altLang="zh-CN" sz="1100"/>
                        <a:t> CMC/SGAR documents.</a:t>
                      </a:r>
                    </a:p>
                    <a:p>
                      <a:pPr marL="171450" lvl="0" indent="-171450">
                        <a:buFont typeface="Arial"/>
                        <a:buChar char="•"/>
                      </a:pPr>
                      <a:r>
                        <a:rPr lang="en-US" altLang="zh-CN" sz="1100"/>
                        <a:t>Early involved CN team into core documents draft flow</a:t>
                      </a:r>
                    </a:p>
                  </a:txBody>
                  <a:tcPr anchor="ctr"/>
                </a:tc>
                <a:tc>
                  <a:txBody>
                    <a:bodyPr/>
                    <a:lstStyle/>
                    <a:p>
                      <a:pPr marL="171450" lvl="0" indent="-171450">
                        <a:buFont typeface="Arial" panose="020B0604020202020204" pitchFamily="34" charset="0"/>
                        <a:buChar char="•"/>
                      </a:pPr>
                      <a:r>
                        <a:rPr lang="en-US" altLang="zh-CN" sz="1100"/>
                        <a:t>Global support for in-parallel preparation of NDA documents (authoring, translation, proofreading, review, </a:t>
                      </a:r>
                      <a:r>
                        <a:rPr lang="en-US" altLang="zh-CN" sz="1100" err="1"/>
                        <a:t>etc</a:t>
                      </a:r>
                      <a:r>
                        <a:rPr lang="en-US" altLang="zh-CN" sz="1100"/>
                        <a:t>).</a:t>
                      </a:r>
                    </a:p>
                  </a:txBody>
                  <a:tcPr anchor="ctr"/>
                </a:tc>
                <a:extLst>
                  <a:ext uri="{0D108BD9-81ED-4DB2-BD59-A6C34878D82A}">
                    <a16:rowId xmlns:a16="http://schemas.microsoft.com/office/drawing/2014/main" val="4232001683"/>
                  </a:ext>
                </a:extLst>
              </a:tr>
              <a:tr h="617483">
                <a:tc>
                  <a:txBody>
                    <a:bodyPr/>
                    <a:lstStyle/>
                    <a:p>
                      <a:pPr lvl="0" algn="ctr">
                        <a:buNone/>
                      </a:pPr>
                      <a:r>
                        <a:rPr lang="en-US" altLang="zh-CN" sz="1100" b="1"/>
                        <a:t>BTD</a:t>
                      </a:r>
                      <a:endParaRPr lang="zh-CN" sz="1100" b="1"/>
                    </a:p>
                  </a:txBody>
                  <a:tcPr anchor="ctr"/>
                </a:tc>
                <a:tc>
                  <a:txBody>
                    <a:bodyPr/>
                    <a:lstStyle/>
                    <a:p>
                      <a:pPr marL="171450" lvl="0" indent="-171450">
                        <a:buFont typeface="Arial" panose="020B0604020202020204" pitchFamily="34" charset="0"/>
                        <a:buChar char="•"/>
                      </a:pPr>
                      <a:r>
                        <a:rPr lang="en-US" altLang="zh-CN" sz="1100"/>
                        <a:t>CDE discouraged BI to further apply for BTD</a:t>
                      </a:r>
                    </a:p>
                    <a:p>
                      <a:pPr marL="171450" lvl="0" indent="-171450" algn="l">
                        <a:buFont typeface="Arial" panose="020B0604020202020204" pitchFamily="34" charset="0"/>
                        <a:buChar char="•"/>
                      </a:pPr>
                      <a:r>
                        <a:rPr lang="en-US" altLang="zh-CN" sz="1100"/>
                        <a:t>China subgroup efficacy/safety profile needs to be 'superior' to HSK31858</a:t>
                      </a:r>
                      <a:endParaRPr lang="zh-CN" altLang="en-US" sz="1100"/>
                    </a:p>
                  </a:txBody>
                  <a:tcPr anchor="ctr"/>
                </a:tc>
                <a:tc>
                  <a:txBody>
                    <a:bodyPr/>
                    <a:lstStyle/>
                    <a:p>
                      <a:pPr lvl="0" algn="ctr">
                        <a:buNone/>
                      </a:pPr>
                      <a:r>
                        <a:rPr lang="en-US" altLang="zh-CN" sz="1100"/>
                        <a:t>Aug 2027</a:t>
                      </a:r>
                      <a:endParaRPr lang="zh-CN" sz="1100"/>
                    </a:p>
                  </a:txBody>
                  <a:tcPr anchor="ctr"/>
                </a:tc>
                <a:tc>
                  <a:txBody>
                    <a:bodyPr/>
                    <a:lstStyle/>
                    <a:p>
                      <a:pPr lvl="0" algn="ctr">
                        <a:buNone/>
                      </a:pPr>
                      <a:r>
                        <a:rPr lang="en-US" altLang="zh-CN" sz="1100" b="1">
                          <a:solidFill>
                            <a:schemeClr val="bg1"/>
                          </a:solidFill>
                        </a:rPr>
                        <a:t>Low</a:t>
                      </a:r>
                      <a:endParaRPr lang="zh-CN" sz="1100" b="1">
                        <a:solidFill>
                          <a:schemeClr val="bg1"/>
                        </a:solidFill>
                      </a:endParaRPr>
                    </a:p>
                  </a:txBody>
                  <a:tcPr anchor="ctr">
                    <a:solidFill>
                      <a:srgbClr val="FF0000"/>
                    </a:solidFill>
                  </a:tcPr>
                </a:tc>
                <a:tc>
                  <a:txBody>
                    <a:bodyPr/>
                    <a:lstStyle/>
                    <a:p>
                      <a:pPr marL="171450" lvl="0" indent="-171450">
                        <a:buFont typeface="Arial"/>
                        <a:buChar char="•"/>
                      </a:pPr>
                      <a:r>
                        <a:rPr lang="en-US" altLang="zh-CN" sz="1100"/>
                        <a:t>NA</a:t>
                      </a:r>
                      <a:endParaRPr lang="zh-CN" altLang="en-US" sz="1100"/>
                    </a:p>
                  </a:txBody>
                  <a:tcPr anchor="ctr"/>
                </a:tc>
                <a:tc>
                  <a:txBody>
                    <a:bodyPr/>
                    <a:lstStyle/>
                    <a:p>
                      <a:pPr marL="171450" lvl="0" indent="-171450">
                        <a:buFont typeface="Arial"/>
                        <a:buChar char="•"/>
                      </a:pPr>
                      <a:r>
                        <a:rPr lang="en-US" altLang="zh-CN" sz="1100"/>
                        <a:t>NA</a:t>
                      </a:r>
                      <a:endParaRPr lang="zh-CN" altLang="en-US" sz="1100"/>
                    </a:p>
                  </a:txBody>
                  <a:tcPr anchor="ctr"/>
                </a:tc>
                <a:extLst>
                  <a:ext uri="{0D108BD9-81ED-4DB2-BD59-A6C34878D82A}">
                    <a16:rowId xmlns:a16="http://schemas.microsoft.com/office/drawing/2014/main" val="620749655"/>
                  </a:ext>
                </a:extLst>
              </a:tr>
              <a:tr h="617483">
                <a:tc>
                  <a:txBody>
                    <a:bodyPr/>
                    <a:lstStyle/>
                    <a:p>
                      <a:pPr lvl="0" algn="ctr">
                        <a:buNone/>
                      </a:pPr>
                      <a:r>
                        <a:rPr lang="en-US" altLang="zh-CN" sz="1100" b="1"/>
                        <a:t>PR</a:t>
                      </a:r>
                      <a:endParaRPr lang="zh-CN" sz="1100" b="1"/>
                    </a:p>
                  </a:txBody>
                  <a:tcPr anchor="ctr"/>
                </a:tc>
                <a:tc>
                  <a:txBody>
                    <a:bodyPr/>
                    <a:lstStyle/>
                    <a:p>
                      <a:pPr marL="171450" lvl="0" indent="-171450">
                        <a:buFont typeface="Arial" panose="020B0604020202020204" pitchFamily="34" charset="0"/>
                        <a:buChar char="•"/>
                      </a:pPr>
                      <a:r>
                        <a:rPr lang="en-US" altLang="zh-CN" sz="1100" b="0" i="0" u="none" strike="noStrike" noProof="0">
                          <a:solidFill>
                            <a:srgbClr val="000000"/>
                          </a:solidFill>
                          <a:latin typeface="Boehringer Forward Text"/>
                        </a:rPr>
                        <a:t>Need solid evidence to extrapolate efficacy in adults to adols.</a:t>
                      </a:r>
                    </a:p>
                    <a:p>
                      <a:pPr marL="171450" lvl="0" indent="-171450">
                        <a:buFont typeface="Arial" panose="020B0604020202020204" pitchFamily="34" charset="0"/>
                        <a:buChar char="•"/>
                      </a:pPr>
                      <a:r>
                        <a:rPr lang="en-US" altLang="zh-CN" sz="1100" b="0" i="0" u="none" strike="noStrike" noProof="0">
                          <a:solidFill>
                            <a:srgbClr val="000000"/>
                          </a:solidFill>
                          <a:latin typeface="Boehringer Forward Text"/>
                        </a:rPr>
                        <a:t>Need adequate </a:t>
                      </a:r>
                      <a:r>
                        <a:rPr lang="en-US" altLang="zh-CN" sz="1100" b="0" i="0" u="none" strike="noStrike" noProof="0" err="1">
                          <a:solidFill>
                            <a:srgbClr val="000000"/>
                          </a:solidFill>
                          <a:latin typeface="Boehringer Forward Text"/>
                        </a:rPr>
                        <a:t>adol</a:t>
                      </a:r>
                      <a:r>
                        <a:rPr lang="en-US" altLang="zh-CN" sz="1100" b="0" i="0" u="none" strike="noStrike" noProof="0">
                          <a:solidFill>
                            <a:srgbClr val="000000"/>
                          </a:solidFill>
                          <a:latin typeface="Boehringer Forward Text"/>
                        </a:rPr>
                        <a:t> data to support PR</a:t>
                      </a:r>
                      <a:endParaRPr lang="zh-CN" altLang="en-US" sz="1100" b="0" i="0" u="none" strike="noStrike" noProof="0">
                        <a:solidFill>
                          <a:srgbClr val="000000"/>
                        </a:solidFill>
                        <a:latin typeface="Boehringer Forward Text"/>
                      </a:endParaRPr>
                    </a:p>
                  </a:txBody>
                  <a:tcPr anchor="ctr"/>
                </a:tc>
                <a:tc>
                  <a:txBody>
                    <a:bodyPr/>
                    <a:lstStyle/>
                    <a:p>
                      <a:pPr lvl="0" algn="ctr">
                        <a:buNone/>
                      </a:pPr>
                      <a:r>
                        <a:rPr lang="en-US" altLang="zh-CN" sz="1100">
                          <a:solidFill>
                            <a:schemeClr val="tx1"/>
                          </a:solidFill>
                        </a:rPr>
                        <a:t>Aug 2027</a:t>
                      </a:r>
                      <a:endParaRPr lang="zh-CN" sz="1100">
                        <a:solidFill>
                          <a:schemeClr val="tx1"/>
                        </a:solidFill>
                      </a:endParaRPr>
                    </a:p>
                  </a:txBody>
                  <a:tcPr anchor="ctr"/>
                </a:tc>
                <a:tc>
                  <a:txBody>
                    <a:bodyPr/>
                    <a:lstStyle/>
                    <a:p>
                      <a:pPr lvl="0" algn="ctr">
                        <a:buNone/>
                      </a:pPr>
                      <a:r>
                        <a:rPr lang="en-US" altLang="zh-CN" sz="1100" b="1">
                          <a:solidFill>
                            <a:schemeClr val="tx1"/>
                          </a:solidFill>
                        </a:rPr>
                        <a:t>Medium</a:t>
                      </a:r>
                      <a:endParaRPr lang="zh-CN" sz="1100" b="1">
                        <a:solidFill>
                          <a:schemeClr val="tx1"/>
                        </a:solidFill>
                      </a:endParaRPr>
                    </a:p>
                  </a:txBody>
                  <a:tcPr anchor="ctr">
                    <a:solidFill>
                      <a:schemeClr val="accent4"/>
                    </a:solidFill>
                  </a:tcPr>
                </a:tc>
                <a:tc>
                  <a:txBody>
                    <a:bodyPr/>
                    <a:lstStyle/>
                    <a:p>
                      <a:pPr marL="171450" lvl="0" indent="-171450">
                        <a:buFont typeface="Arial" panose="020B0604020202020204" pitchFamily="34" charset="0"/>
                        <a:buChar char="•"/>
                      </a:pPr>
                      <a:r>
                        <a:rPr lang="en-US" altLang="zh-CN" sz="1100"/>
                        <a:t>Internal assessment of ~</a:t>
                      </a:r>
                      <a:r>
                        <a:rPr lang="en-US" altLang="zh-CN" sz="1100">
                          <a:highlight>
                            <a:srgbClr val="FFFF00"/>
                          </a:highlight>
                        </a:rPr>
                        <a:t>40</a:t>
                      </a:r>
                      <a:r>
                        <a:rPr lang="en-US" altLang="zh-CN" sz="1100"/>
                        <a:t> patient data to support China PR.</a:t>
                      </a:r>
                    </a:p>
                    <a:p>
                      <a:pPr marL="171450" lvl="0" indent="-171450">
                        <a:buFont typeface="Arial" panose="020B0604020202020204" pitchFamily="34" charset="0"/>
                        <a:buChar char="•"/>
                      </a:pPr>
                      <a:r>
                        <a:rPr lang="en-US" altLang="zh-CN" sz="1100"/>
                        <a:t>Accelerate adolescent recruitment</a:t>
                      </a:r>
                      <a:endParaRPr lang="zh-CN" altLang="en-US" sz="1100"/>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100"/>
                        <a:t>Global (+local) acceleration plan for adol. </a:t>
                      </a:r>
                      <a:r>
                        <a:rPr lang="en-US" altLang="zh-CN" sz="1100"/>
                        <a:t>To accumulate more  evidence in adolescents</a:t>
                      </a:r>
                    </a:p>
                  </a:txBody>
                  <a:tcPr anchor="ctr"/>
                </a:tc>
                <a:extLst>
                  <a:ext uri="{0D108BD9-81ED-4DB2-BD59-A6C34878D82A}">
                    <a16:rowId xmlns:a16="http://schemas.microsoft.com/office/drawing/2014/main" val="289189463"/>
                  </a:ext>
                </a:extLst>
              </a:tr>
              <a:tr h="617483">
                <a:tc>
                  <a:txBody>
                    <a:bodyPr/>
                    <a:lstStyle/>
                    <a:p>
                      <a:pPr lvl="0" algn="ctr">
                        <a:buNone/>
                      </a:pPr>
                      <a:r>
                        <a:rPr lang="en-US" altLang="zh-CN" sz="1100" b="1"/>
                        <a:t>NDA Approval in June 2028</a:t>
                      </a:r>
                      <a:endParaRPr lang="zh-CN" altLang="en-US" sz="1100" b="1"/>
                    </a:p>
                  </a:txBody>
                  <a:tcPr anchor="ctr"/>
                </a:tc>
                <a:tc>
                  <a:txBody>
                    <a:bodyPr/>
                    <a:lstStyle/>
                    <a:p>
                      <a:pPr marL="171450" lvl="0" indent="-171450">
                        <a:buFont typeface="Arial" panose="020B0604020202020204" pitchFamily="34" charset="0"/>
                        <a:buChar char="•"/>
                      </a:pPr>
                      <a:r>
                        <a:rPr lang="en-US" altLang="zh-CN" sz="1100"/>
                        <a:t>Medium risk for PR</a:t>
                      </a:r>
                    </a:p>
                    <a:p>
                      <a:pPr marL="171450" lvl="0" indent="-171450">
                        <a:buFont typeface="Arial" panose="020B0604020202020204" pitchFamily="34" charset="0"/>
                        <a:buChar char="•"/>
                      </a:pPr>
                      <a:r>
                        <a:rPr lang="en-US" altLang="zh-CN" sz="1100"/>
                        <a:t>High risk for </a:t>
                      </a:r>
                      <a:r>
                        <a:rPr lang="en-US" altLang="zh-CN" sz="1100" b="1"/>
                        <a:t>8-month</a:t>
                      </a:r>
                      <a:r>
                        <a:rPr lang="en-US" altLang="zh-CN" sz="1100"/>
                        <a:t> NDA review timeline even under PR</a:t>
                      </a:r>
                      <a:endParaRPr lang="zh-CN" altLang="en-US" sz="1100"/>
                    </a:p>
                  </a:txBody>
                  <a:tcPr anchor="ctr"/>
                </a:tc>
                <a:tc>
                  <a:txBody>
                    <a:bodyPr/>
                    <a:lstStyle/>
                    <a:p>
                      <a:pPr lvl="0" algn="ctr">
                        <a:buNone/>
                      </a:pPr>
                      <a:r>
                        <a:rPr lang="en-US" altLang="zh-CN" sz="1100"/>
                        <a:t>June 2028</a:t>
                      </a:r>
                      <a:endParaRPr lang="zh-CN" altLang="en-US" sz="1100"/>
                    </a:p>
                  </a:txBody>
                  <a:tcPr anchor="ctr"/>
                </a:tc>
                <a:tc>
                  <a:txBody>
                    <a:bodyPr/>
                    <a:lstStyle/>
                    <a:p>
                      <a:pPr lvl="0" algn="ctr">
                        <a:buNone/>
                      </a:pPr>
                      <a:r>
                        <a:rPr lang="en-US" altLang="zh-CN" sz="1100" b="1">
                          <a:solidFill>
                            <a:schemeClr val="bg1"/>
                          </a:solidFill>
                        </a:rPr>
                        <a:t>Low</a:t>
                      </a:r>
                      <a:endParaRPr lang="zh-CN" altLang="en-US" sz="1100" b="1">
                        <a:solidFill>
                          <a:schemeClr val="bg1"/>
                        </a:solidFill>
                      </a:endParaRPr>
                    </a:p>
                  </a:txBody>
                  <a:tcPr anchor="ctr">
                    <a:solidFill>
                      <a:srgbClr val="FF0000"/>
                    </a:solidFill>
                  </a:tcPr>
                </a:tc>
                <a:tc>
                  <a:txBody>
                    <a:bodyPr/>
                    <a:lstStyle/>
                    <a:p>
                      <a:pPr marL="171450" lvl="0" indent="-171450">
                        <a:buFont typeface="Arial"/>
                        <a:buChar char="•"/>
                      </a:pPr>
                      <a:r>
                        <a:rPr lang="en-US" altLang="zh-CN" sz="1100"/>
                        <a:t>Local team to manage all </a:t>
                      </a:r>
                      <a:r>
                        <a:rPr lang="en-US" altLang="zh-CN" sz="1100" b="1"/>
                        <a:t>controllables</a:t>
                      </a:r>
                      <a:r>
                        <a:rPr lang="en-US" altLang="zh-CN" sz="1100"/>
                        <a:t>: QC sample readiness, GCP inspection,  timeline which could impact NDA approval timeline;</a:t>
                      </a:r>
                      <a:endParaRPr lang="zh-CN" altLang="en-US" sz="1100"/>
                    </a:p>
                  </a:txBody>
                  <a:tcPr anchor="ctr"/>
                </a:tc>
                <a:tc>
                  <a:txBody>
                    <a:bodyPr/>
                    <a:lstStyle/>
                    <a:p>
                      <a:pPr marL="171450" lvl="0" indent="-171450">
                        <a:buFont typeface="Arial"/>
                        <a:buChar char="•"/>
                      </a:pPr>
                      <a:r>
                        <a:rPr lang="en-US" altLang="zh-CN" sz="1100" b="0" i="0" u="none" strike="noStrike" baseline="0" noProof="0">
                          <a:solidFill>
                            <a:srgbClr val="000000"/>
                          </a:solidFill>
                          <a:latin typeface="Boehringer Forward Text"/>
                        </a:rPr>
                        <a:t>Seamless planning and collaboration among x-functional teams.</a:t>
                      </a:r>
                    </a:p>
                  </a:txBody>
                  <a:tcPr anchor="ctr"/>
                </a:tc>
                <a:extLst>
                  <a:ext uri="{0D108BD9-81ED-4DB2-BD59-A6C34878D82A}">
                    <a16:rowId xmlns:a16="http://schemas.microsoft.com/office/drawing/2014/main" val="3753726768"/>
                  </a:ext>
                </a:extLst>
              </a:tr>
            </a:tbl>
          </a:graphicData>
        </a:graphic>
      </p:graphicFrame>
      <p:sp>
        <p:nvSpPr>
          <p:cNvPr id="3" name="TextBox 2">
            <a:extLst>
              <a:ext uri="{FF2B5EF4-FFF2-40B4-BE49-F238E27FC236}">
                <a16:creationId xmlns:a16="http://schemas.microsoft.com/office/drawing/2014/main" id="{2801E15D-54F0-AAB0-A74E-DC505EB2AC56}"/>
              </a:ext>
            </a:extLst>
          </p:cNvPr>
          <p:cNvSpPr txBox="1"/>
          <p:nvPr/>
        </p:nvSpPr>
        <p:spPr bwMode="gray">
          <a:xfrm>
            <a:off x="1736997" y="6320445"/>
            <a:ext cx="9723788" cy="217175"/>
          </a:xfrm>
          <a:prstGeom prst="rect">
            <a:avLst/>
          </a:prstGeom>
          <a:noFill/>
        </p:spPr>
        <p:txBody>
          <a:bodyPr wrap="square" lIns="0" tIns="0" rIns="0" bIns="0" rtlCol="0">
            <a:spAutoFit/>
          </a:bodyPr>
          <a:lstStyle/>
          <a:p>
            <a:pPr algn="l">
              <a:lnSpc>
                <a:spcPct val="140000"/>
              </a:lnSpc>
            </a:pPr>
            <a:r>
              <a:rPr lang="en-US" altLang="zh-CN" sz="1100" b="1"/>
              <a:t>DS PPQ</a:t>
            </a:r>
            <a:r>
              <a:rPr lang="en-US" altLang="zh-CN" sz="1100"/>
              <a:t>=drug substance process performance qualification;  </a:t>
            </a:r>
            <a:r>
              <a:rPr lang="en-US" altLang="zh-CN" sz="1100" b="1"/>
              <a:t>SGAR</a:t>
            </a:r>
            <a:r>
              <a:rPr lang="en-US" altLang="zh-CN" sz="1100"/>
              <a:t>=subgroup analysis report;  </a:t>
            </a:r>
            <a:r>
              <a:rPr lang="en-US" altLang="zh-CN" sz="1100" b="1" err="1"/>
              <a:t>PoS</a:t>
            </a:r>
            <a:r>
              <a:rPr lang="en-US" altLang="zh-CN" sz="1100"/>
              <a:t>=Probability of Success</a:t>
            </a:r>
            <a:endParaRPr lang="zh-CN" altLang="en-US" sz="1100"/>
          </a:p>
        </p:txBody>
      </p:sp>
    </p:spTree>
    <p:extLst>
      <p:ext uri="{BB962C8B-B14F-4D97-AF65-F5344CB8AC3E}">
        <p14:creationId xmlns:p14="http://schemas.microsoft.com/office/powerpoint/2010/main" val="779279757"/>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C6813-4DED-B183-4085-816C3BB6F5AA}"/>
              </a:ext>
            </a:extLst>
          </p:cNvPr>
          <p:cNvSpPr>
            <a:spLocks noGrp="1"/>
          </p:cNvSpPr>
          <p:nvPr>
            <p:ph type="title"/>
          </p:nvPr>
        </p:nvSpPr>
        <p:spPr>
          <a:xfrm>
            <a:off x="208971" y="457770"/>
            <a:ext cx="11233151" cy="431736"/>
          </a:xfrm>
        </p:spPr>
        <p:txBody>
          <a:bodyPr/>
          <a:lstStyle/>
          <a:p>
            <a:r>
              <a:rPr lang="en-US" altLang="zh-CN"/>
              <a:t>Next actions (next 2–4 weeks)</a:t>
            </a:r>
            <a:endParaRPr lang="zh-CN" altLang="en-US"/>
          </a:p>
        </p:txBody>
      </p:sp>
      <p:sp>
        <p:nvSpPr>
          <p:cNvPr id="5" name="Footer Placeholder 4">
            <a:extLst>
              <a:ext uri="{FF2B5EF4-FFF2-40B4-BE49-F238E27FC236}">
                <a16:creationId xmlns:a16="http://schemas.microsoft.com/office/drawing/2014/main" id="{2A9B9752-62D9-2827-C3AA-5BE36204C07A}"/>
              </a:ext>
            </a:extLst>
          </p:cNvPr>
          <p:cNvSpPr>
            <a:spLocks noGrp="1"/>
          </p:cNvSpPr>
          <p:nvPr>
            <p:ph type="ftr" sz="quarter" idx="19"/>
          </p:nvPr>
        </p:nvSpPr>
        <p:spPr/>
        <p:txBody>
          <a:bodyPr/>
          <a:lstStyle/>
          <a:p>
            <a:r>
              <a:rPr lang="en-US"/>
              <a:t>Seperate topic for verducatib - 2026 Apr PEC</a:t>
            </a:r>
          </a:p>
        </p:txBody>
      </p:sp>
      <p:graphicFrame>
        <p:nvGraphicFramePr>
          <p:cNvPr id="6" name="Table 5">
            <a:extLst>
              <a:ext uri="{FF2B5EF4-FFF2-40B4-BE49-F238E27FC236}">
                <a16:creationId xmlns:a16="http://schemas.microsoft.com/office/drawing/2014/main" id="{3AB591C1-53D0-DA4A-F790-571A597F72ED}"/>
              </a:ext>
            </a:extLst>
          </p:cNvPr>
          <p:cNvGraphicFramePr>
            <a:graphicFrameLocks noGrp="1"/>
          </p:cNvGraphicFramePr>
          <p:nvPr>
            <p:extLst>
              <p:ext uri="{D42A27DB-BD31-4B8C-83A1-F6EECF244321}">
                <p14:modId xmlns:p14="http://schemas.microsoft.com/office/powerpoint/2010/main" val="947303640"/>
              </p:ext>
            </p:extLst>
          </p:nvPr>
        </p:nvGraphicFramePr>
        <p:xfrm>
          <a:off x="208970" y="1052470"/>
          <a:ext cx="11864881" cy="5001964"/>
        </p:xfrm>
        <a:graphic>
          <a:graphicData uri="http://schemas.openxmlformats.org/drawingml/2006/table">
            <a:tbl>
              <a:tblPr firstRow="1" bandRow="1">
                <a:tableStyleId>{5C22544A-7EE6-4342-B048-85BDC9FD1C3A}</a:tableStyleId>
              </a:tblPr>
              <a:tblGrid>
                <a:gridCol w="4392083">
                  <a:extLst>
                    <a:ext uri="{9D8B030D-6E8A-4147-A177-3AD203B41FA5}">
                      <a16:colId xmlns:a16="http://schemas.microsoft.com/office/drawing/2014/main" val="2790347636"/>
                    </a:ext>
                  </a:extLst>
                </a:gridCol>
                <a:gridCol w="3115317">
                  <a:extLst>
                    <a:ext uri="{9D8B030D-6E8A-4147-A177-3AD203B41FA5}">
                      <a16:colId xmlns:a16="http://schemas.microsoft.com/office/drawing/2014/main" val="3376895790"/>
                    </a:ext>
                  </a:extLst>
                </a:gridCol>
                <a:gridCol w="2053592">
                  <a:extLst>
                    <a:ext uri="{9D8B030D-6E8A-4147-A177-3AD203B41FA5}">
                      <a16:colId xmlns:a16="http://schemas.microsoft.com/office/drawing/2014/main" val="2495224525"/>
                    </a:ext>
                  </a:extLst>
                </a:gridCol>
                <a:gridCol w="2303889">
                  <a:extLst>
                    <a:ext uri="{9D8B030D-6E8A-4147-A177-3AD203B41FA5}">
                      <a16:colId xmlns:a16="http://schemas.microsoft.com/office/drawing/2014/main" val="3344483491"/>
                    </a:ext>
                  </a:extLst>
                </a:gridCol>
              </a:tblGrid>
              <a:tr h="444212">
                <a:tc>
                  <a:txBody>
                    <a:bodyPr/>
                    <a:lstStyle/>
                    <a:p>
                      <a:r>
                        <a:rPr lang="en-US" sz="1600"/>
                        <a:t>Actions</a:t>
                      </a:r>
                    </a:p>
                  </a:txBody>
                  <a:tcPr/>
                </a:tc>
                <a:tc>
                  <a:txBody>
                    <a:bodyPr/>
                    <a:lstStyle/>
                    <a:p>
                      <a:r>
                        <a:rPr lang="en-US" sz="1600"/>
                        <a:t>Deliverables</a:t>
                      </a:r>
                    </a:p>
                  </a:txBody>
                  <a:tcPr/>
                </a:tc>
                <a:tc>
                  <a:txBody>
                    <a:bodyPr/>
                    <a:lstStyle/>
                    <a:p>
                      <a:r>
                        <a:rPr lang="en-US" sz="1600"/>
                        <a:t>Due</a:t>
                      </a:r>
                    </a:p>
                  </a:txBody>
                  <a:tcPr/>
                </a:tc>
                <a:tc>
                  <a:txBody>
                    <a:bodyPr/>
                    <a:lstStyle/>
                    <a:p>
                      <a:r>
                        <a:rPr lang="en-US" sz="1600"/>
                        <a:t>Owner</a:t>
                      </a:r>
                    </a:p>
                  </a:txBody>
                  <a:tcPr/>
                </a:tc>
                <a:extLst>
                  <a:ext uri="{0D108BD9-81ED-4DB2-BD59-A6C34878D82A}">
                    <a16:rowId xmlns:a16="http://schemas.microsoft.com/office/drawing/2014/main" val="2133701395"/>
                  </a:ext>
                </a:extLst>
              </a:tr>
              <a:tr h="755160">
                <a:tc>
                  <a:txBody>
                    <a:bodyPr/>
                    <a:lstStyle/>
                    <a:p>
                      <a:r>
                        <a:rPr lang="en-US" sz="1600"/>
                        <a:t>Confirm </a:t>
                      </a:r>
                      <a:r>
                        <a:rPr lang="en-US" sz="1600" err="1"/>
                        <a:t>adol</a:t>
                      </a:r>
                      <a:r>
                        <a:rPr lang="en-US" sz="1600"/>
                        <a:t> recruitment acceleration plan; lock sites/KPIs and resourcing</a:t>
                      </a:r>
                    </a:p>
                  </a:txBody>
                  <a:tcPr/>
                </a:tc>
                <a:tc>
                  <a:txBody>
                    <a:bodyPr/>
                    <a:lstStyle/>
                    <a:p>
                      <a:r>
                        <a:rPr lang="en-US" sz="1600"/>
                        <a:t>Acceleration plan v1</a:t>
                      </a:r>
                    </a:p>
                  </a:txBody>
                  <a:tcPr/>
                </a:tc>
                <a:tc>
                  <a:txBody>
                    <a:bodyPr/>
                    <a:lstStyle/>
                    <a:p>
                      <a:r>
                        <a:rPr lang="en-US" sz="1600"/>
                        <a:t>Within 2 weeks</a:t>
                      </a:r>
                    </a:p>
                  </a:txBody>
                  <a:tcPr/>
                </a:tc>
                <a:tc>
                  <a:txBody>
                    <a:bodyPr/>
                    <a:lstStyle/>
                    <a:p>
                      <a:r>
                        <a:rPr lang="en-US" sz="1600"/>
                        <a:t>ET / Global </a:t>
                      </a:r>
                      <a:r>
                        <a:rPr lang="en-US" sz="1600" err="1"/>
                        <a:t>ClinOps</a:t>
                      </a:r>
                      <a:r>
                        <a:rPr lang="en-US" sz="1600"/>
                        <a:t> / Local</a:t>
                      </a:r>
                    </a:p>
                  </a:txBody>
                  <a:tcPr/>
                </a:tc>
                <a:extLst>
                  <a:ext uri="{0D108BD9-81ED-4DB2-BD59-A6C34878D82A}">
                    <a16:rowId xmlns:a16="http://schemas.microsoft.com/office/drawing/2014/main" val="1292865235"/>
                  </a:ext>
                </a:extLst>
              </a:tr>
              <a:tr h="761858">
                <a:tc>
                  <a:txBody>
                    <a:bodyPr/>
                    <a:lstStyle/>
                    <a:p>
                      <a:r>
                        <a:rPr lang="en-US" sz="1600"/>
                        <a:t>Align interim analysis framework and go/no-go checkpoints for PR/BTD + NDA</a:t>
                      </a:r>
                    </a:p>
                  </a:txBody>
                  <a:tcPr/>
                </a:tc>
                <a:tc>
                  <a:txBody>
                    <a:bodyPr/>
                    <a:lstStyle/>
                    <a:p>
                      <a:r>
                        <a:rPr lang="en-US" sz="1600"/>
                        <a:t>Interim analysis decision memo</a:t>
                      </a:r>
                    </a:p>
                  </a:txBody>
                  <a:tcPr/>
                </a:tc>
                <a:tc>
                  <a:txBody>
                    <a:bodyPr/>
                    <a:lstStyle/>
                    <a:p>
                      <a:r>
                        <a:rPr lang="en-US" sz="1600"/>
                        <a:t>Within 2 weeks</a:t>
                      </a:r>
                    </a:p>
                  </a:txBody>
                  <a:tcPr/>
                </a:tc>
                <a:tc>
                  <a:txBody>
                    <a:bodyPr/>
                    <a:lstStyle/>
                    <a:p>
                      <a:r>
                        <a:rPr lang="en-US" sz="1600"/>
                        <a:t>Global Stats / Clin Dev</a:t>
                      </a:r>
                    </a:p>
                  </a:txBody>
                  <a:tcPr/>
                </a:tc>
                <a:extLst>
                  <a:ext uri="{0D108BD9-81ED-4DB2-BD59-A6C34878D82A}">
                    <a16:rowId xmlns:a16="http://schemas.microsoft.com/office/drawing/2014/main" val="1173605529"/>
                  </a:ext>
                </a:extLst>
              </a:tr>
              <a:tr h="755160">
                <a:tc>
                  <a:txBody>
                    <a:bodyPr/>
                    <a:lstStyle/>
                    <a:p>
                      <a:r>
                        <a:rPr lang="en-US" sz="1600"/>
                        <a:t>Complete China-specific TLR subgroup analysis; include in next TLR batch</a:t>
                      </a:r>
                    </a:p>
                  </a:txBody>
                  <a:tcPr/>
                </a:tc>
                <a:tc>
                  <a:txBody>
                    <a:bodyPr/>
                    <a:lstStyle/>
                    <a:p>
                      <a:r>
                        <a:rPr lang="en-US" sz="1600"/>
                        <a:t>China subgroup pack + conclusion</a:t>
                      </a:r>
                    </a:p>
                  </a:txBody>
                  <a:tcPr/>
                </a:tc>
                <a:tc>
                  <a:txBody>
                    <a:bodyPr/>
                    <a:lstStyle/>
                    <a:p>
                      <a:r>
                        <a:rPr lang="en-US" sz="1600"/>
                        <a:t>Within 3 weeks</a:t>
                      </a:r>
                    </a:p>
                  </a:txBody>
                  <a:tcPr/>
                </a:tc>
                <a:tc>
                  <a:txBody>
                    <a:bodyPr/>
                    <a:lstStyle/>
                    <a:p>
                      <a:r>
                        <a:rPr lang="en-US" sz="1600"/>
                        <a:t>Global Clin Dev / Biometrics</a:t>
                      </a:r>
                    </a:p>
                  </a:txBody>
                  <a:tcPr/>
                </a:tc>
                <a:extLst>
                  <a:ext uri="{0D108BD9-81ED-4DB2-BD59-A6C34878D82A}">
                    <a16:rowId xmlns:a16="http://schemas.microsoft.com/office/drawing/2014/main" val="1110871518"/>
                  </a:ext>
                </a:extLst>
              </a:tr>
              <a:tr h="761858">
                <a:tc>
                  <a:txBody>
                    <a:bodyPr/>
                    <a:lstStyle/>
                    <a:p>
                      <a:r>
                        <a:rPr lang="en-US" sz="1600"/>
                        <a:t>Finalize BTD/PR path and package checklist (incl. BB frontloading)</a:t>
                      </a:r>
                    </a:p>
                  </a:txBody>
                  <a:tcPr/>
                </a:tc>
                <a:tc>
                  <a:txBody>
                    <a:bodyPr/>
                    <a:lstStyle/>
                    <a:p>
                      <a:r>
                        <a:rPr lang="en-US" sz="1600"/>
                        <a:t>Strategy decision + checklist/RACI</a:t>
                      </a:r>
                    </a:p>
                  </a:txBody>
                  <a:tcPr/>
                </a:tc>
                <a:tc>
                  <a:txBody>
                    <a:bodyPr/>
                    <a:lstStyle/>
                    <a:p>
                      <a:r>
                        <a:rPr lang="en-US" sz="1600"/>
                        <a:t>Within 3 weeks</a:t>
                      </a:r>
                    </a:p>
                  </a:txBody>
                  <a:tcPr/>
                </a:tc>
                <a:tc>
                  <a:txBody>
                    <a:bodyPr/>
                    <a:lstStyle/>
                    <a:p>
                      <a:r>
                        <a:rPr lang="en-US" sz="1600"/>
                        <a:t>Global Reg / Clin Dev</a:t>
                      </a:r>
                    </a:p>
                  </a:txBody>
                  <a:tcPr/>
                </a:tc>
                <a:extLst>
                  <a:ext uri="{0D108BD9-81ED-4DB2-BD59-A6C34878D82A}">
                    <a16:rowId xmlns:a16="http://schemas.microsoft.com/office/drawing/2014/main" val="3928650274"/>
                  </a:ext>
                </a:extLst>
              </a:tr>
              <a:tr h="761858">
                <a:tc>
                  <a:txBody>
                    <a:bodyPr/>
                    <a:lstStyle/>
                    <a:p>
                      <a:r>
                        <a:rPr lang="en-US" sz="1600"/>
                        <a:t>Stand up parallel NDA doc tracker for CMC + China clinical docs; confirm critical path</a:t>
                      </a:r>
                    </a:p>
                  </a:txBody>
                  <a:tcPr/>
                </a:tc>
                <a:tc>
                  <a:txBody>
                    <a:bodyPr/>
                    <a:lstStyle/>
                    <a:p>
                      <a:r>
                        <a:rPr lang="en-US" sz="1600"/>
                        <a:t>NDA tracker + gated timeline</a:t>
                      </a:r>
                    </a:p>
                  </a:txBody>
                  <a:tcPr/>
                </a:tc>
                <a:tc>
                  <a:txBody>
                    <a:bodyPr/>
                    <a:lstStyle/>
                    <a:p>
                      <a:r>
                        <a:rPr lang="en-US" sz="1600"/>
                        <a:t>Within 4 weeks</a:t>
                      </a:r>
                    </a:p>
                  </a:txBody>
                  <a:tcPr/>
                </a:tc>
                <a:tc>
                  <a:txBody>
                    <a:bodyPr/>
                    <a:lstStyle/>
                    <a:p>
                      <a:r>
                        <a:rPr lang="en-US" sz="1600"/>
                        <a:t>Global Reg Ops / CMC / Local RA</a:t>
                      </a:r>
                    </a:p>
                  </a:txBody>
                  <a:tcPr/>
                </a:tc>
                <a:extLst>
                  <a:ext uri="{0D108BD9-81ED-4DB2-BD59-A6C34878D82A}">
                    <a16:rowId xmlns:a16="http://schemas.microsoft.com/office/drawing/2014/main" val="1839721177"/>
                  </a:ext>
                </a:extLst>
              </a:tr>
              <a:tr h="761858">
                <a:tc>
                  <a:txBody>
                    <a:bodyPr/>
                    <a:lstStyle/>
                    <a:p>
                      <a:r>
                        <a:rPr lang="en-US" sz="1600"/>
                        <a:t>Map QC readiness and GCP inspection risks impacting NDA approval; define mitigations</a:t>
                      </a:r>
                    </a:p>
                  </a:txBody>
                  <a:tcPr/>
                </a:tc>
                <a:tc>
                  <a:txBody>
                    <a:bodyPr/>
                    <a:lstStyle/>
                    <a:p>
                      <a:r>
                        <a:rPr lang="en-US" sz="1600"/>
                        <a:t>QC/GCP risk log + mitigations</a:t>
                      </a:r>
                    </a:p>
                  </a:txBody>
                  <a:tcPr/>
                </a:tc>
                <a:tc>
                  <a:txBody>
                    <a:bodyPr/>
                    <a:lstStyle/>
                    <a:p>
                      <a:r>
                        <a:rPr lang="en-US" sz="1600"/>
                        <a:t>Within 4 weeks</a:t>
                      </a:r>
                    </a:p>
                  </a:txBody>
                  <a:tcPr/>
                </a:tc>
                <a:tc>
                  <a:txBody>
                    <a:bodyPr/>
                    <a:lstStyle/>
                    <a:p>
                      <a:r>
                        <a:rPr lang="en-US" sz="1600"/>
                        <a:t>Local QA/QC / ET</a:t>
                      </a:r>
                    </a:p>
                  </a:txBody>
                  <a:tcPr/>
                </a:tc>
                <a:extLst>
                  <a:ext uri="{0D108BD9-81ED-4DB2-BD59-A6C34878D82A}">
                    <a16:rowId xmlns:a16="http://schemas.microsoft.com/office/drawing/2014/main" val="4126899895"/>
                  </a:ext>
                </a:extLst>
              </a:tr>
            </a:tbl>
          </a:graphicData>
        </a:graphic>
      </p:graphicFrame>
      <p:sp>
        <p:nvSpPr>
          <p:cNvPr id="3" name="TextBox 2">
            <a:extLst>
              <a:ext uri="{FF2B5EF4-FFF2-40B4-BE49-F238E27FC236}">
                <a16:creationId xmlns:a16="http://schemas.microsoft.com/office/drawing/2014/main" id="{C6EE6D28-55DD-920F-4E7D-DDD1D45A552F}"/>
              </a:ext>
            </a:extLst>
          </p:cNvPr>
          <p:cNvSpPr txBox="1"/>
          <p:nvPr/>
        </p:nvSpPr>
        <p:spPr bwMode="gray">
          <a:xfrm>
            <a:off x="317500" y="6512558"/>
            <a:ext cx="6578600" cy="217175"/>
          </a:xfrm>
          <a:prstGeom prst="rect">
            <a:avLst/>
          </a:prstGeom>
          <a:noFill/>
        </p:spPr>
        <p:txBody>
          <a:bodyPr wrap="square" lIns="0" tIns="0" rIns="0" bIns="0" rtlCol="0">
            <a:spAutoFit/>
          </a:bodyPr>
          <a:lstStyle/>
          <a:p>
            <a:pPr algn="l">
              <a:lnSpc>
                <a:spcPct val="140000"/>
              </a:lnSpc>
            </a:pPr>
            <a:r>
              <a:rPr lang="en-US" altLang="zh-CN" sz="1100" b="1"/>
              <a:t>DS PPQ</a:t>
            </a:r>
            <a:r>
              <a:rPr lang="en-US" altLang="zh-CN" sz="1100"/>
              <a:t>=drug substance process performance qualification; </a:t>
            </a:r>
            <a:r>
              <a:rPr lang="en-US" altLang="zh-CN" sz="1100" b="1"/>
              <a:t>SGAR</a:t>
            </a:r>
            <a:r>
              <a:rPr lang="en-US" altLang="zh-CN" sz="1100"/>
              <a:t>=subgroup analysis report</a:t>
            </a:r>
            <a:endParaRPr lang="zh-CN" altLang="en-US" sz="1100"/>
          </a:p>
        </p:txBody>
      </p:sp>
    </p:spTree>
    <p:extLst>
      <p:ext uri="{BB962C8B-B14F-4D97-AF65-F5344CB8AC3E}">
        <p14:creationId xmlns:p14="http://schemas.microsoft.com/office/powerpoint/2010/main" val="3140391997"/>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B2FEA-A339-C025-4A82-A320BD9B355D}"/>
              </a:ext>
            </a:extLst>
          </p:cNvPr>
          <p:cNvSpPr>
            <a:spLocks noGrp="1"/>
          </p:cNvSpPr>
          <p:nvPr>
            <p:ph type="title"/>
          </p:nvPr>
        </p:nvSpPr>
        <p:spPr>
          <a:xfrm>
            <a:off x="479424" y="323164"/>
            <a:ext cx="11233151" cy="492864"/>
          </a:xfrm>
        </p:spPr>
        <p:txBody>
          <a:bodyPr/>
          <a:lstStyle/>
          <a:p>
            <a:r>
              <a:rPr lang="en-US" altLang="zh-CN"/>
              <a:t>Summary &amp; Discussion</a:t>
            </a:r>
            <a:endParaRPr lang="zh-CN" altLang="en-US"/>
          </a:p>
        </p:txBody>
      </p:sp>
      <p:sp>
        <p:nvSpPr>
          <p:cNvPr id="3" name="Content Placeholder 2">
            <a:extLst>
              <a:ext uri="{FF2B5EF4-FFF2-40B4-BE49-F238E27FC236}">
                <a16:creationId xmlns:a16="http://schemas.microsoft.com/office/drawing/2014/main" id="{623D5CCF-9D23-28B9-4F97-B6D99E2399D4}"/>
              </a:ext>
            </a:extLst>
          </p:cNvPr>
          <p:cNvSpPr>
            <a:spLocks noGrp="1"/>
          </p:cNvSpPr>
          <p:nvPr>
            <p:ph idx="1"/>
          </p:nvPr>
        </p:nvSpPr>
        <p:spPr>
          <a:xfrm>
            <a:off x="479423" y="1073360"/>
            <a:ext cx="11455121" cy="4895362"/>
          </a:xfrm>
        </p:spPr>
        <p:txBody>
          <a:bodyPr/>
          <a:lstStyle/>
          <a:p>
            <a:r>
              <a:rPr lang="en-US" altLang="zh-CN">
                <a:solidFill>
                  <a:schemeClr val="bg1">
                    <a:lumMod val="65000"/>
                  </a:schemeClr>
                </a:solidFill>
              </a:rPr>
              <a:t>Acceleration assessment in the </a:t>
            </a:r>
            <a:r>
              <a:rPr lang="en-US" altLang="zh-CN" b="1">
                <a:solidFill>
                  <a:schemeClr val="bg1">
                    <a:lumMod val="65000"/>
                  </a:schemeClr>
                </a:solidFill>
              </a:rPr>
              <a:t>best-case NDA submission </a:t>
            </a:r>
            <a:r>
              <a:rPr lang="en-US" altLang="zh-CN">
                <a:solidFill>
                  <a:schemeClr val="bg1">
                    <a:lumMod val="65000"/>
                  </a:schemeClr>
                </a:solidFill>
              </a:rPr>
              <a:t>is a shared effort </a:t>
            </a:r>
            <a:r>
              <a:rPr lang="en-US" altLang="zh-CN" b="1">
                <a:solidFill>
                  <a:schemeClr val="bg1">
                    <a:lumMod val="65000"/>
                  </a:schemeClr>
                </a:solidFill>
              </a:rPr>
              <a:t>across local and global </a:t>
            </a:r>
            <a:r>
              <a:rPr lang="en-US" altLang="zh-CN">
                <a:solidFill>
                  <a:schemeClr val="bg1">
                    <a:lumMod val="65000"/>
                  </a:schemeClr>
                </a:solidFill>
              </a:rPr>
              <a:t>clinical development teams.</a:t>
            </a:r>
          </a:p>
          <a:p>
            <a:r>
              <a:rPr lang="en-US" altLang="zh-CN" b="1"/>
              <a:t>NDA submission in Oct 2027 </a:t>
            </a:r>
            <a:r>
              <a:rPr lang="en-US" altLang="zh-CN" sz="1400"/>
              <a:t>(2 months earlier) </a:t>
            </a:r>
            <a:r>
              <a:rPr lang="en-US" altLang="zh-CN" b="1"/>
              <a:t>is </a:t>
            </a:r>
            <a:r>
              <a:rPr lang="en-US" altLang="zh-CN" b="1">
                <a:highlight>
                  <a:srgbClr val="FFFF00"/>
                </a:highlight>
              </a:rPr>
              <a:t>conditionally possible</a:t>
            </a:r>
            <a:r>
              <a:rPr lang="en-US" altLang="zh-CN" b="1"/>
              <a:t> based on local and global joint evaluation with the following risks to note:</a:t>
            </a:r>
          </a:p>
          <a:p>
            <a:pPr marL="636905" lvl="1" indent="-179705"/>
            <a:r>
              <a:rPr lang="en-US" altLang="zh-CN" sz="1400"/>
              <a:t>DBL delay (events-driven DBL, LPO→DBL timeline).              </a:t>
            </a:r>
            <a:endParaRPr lang="en-US" altLang="zh-CN" sz="1400">
              <a:highlight>
                <a:srgbClr val="FFFF00"/>
              </a:highlight>
            </a:endParaRPr>
          </a:p>
          <a:p>
            <a:pPr marL="636905" lvl="1" indent="-179705"/>
            <a:r>
              <a:rPr lang="en-US" altLang="zh-CN" sz="1400"/>
              <a:t>HA feedback on BTD/PR.</a:t>
            </a:r>
            <a:endParaRPr lang="en-US" altLang="zh-CN" sz="1400">
              <a:highlight>
                <a:srgbClr val="FFFF00"/>
              </a:highlight>
            </a:endParaRPr>
          </a:p>
          <a:p>
            <a:pPr marL="636905" lvl="1" indent="-179705"/>
            <a:r>
              <a:rPr lang="en-US" altLang="zh-CN" sz="1400"/>
              <a:t>Critical document readiness (Critical CMC document: DS PPQ; Critical clinical document: SGAR).</a:t>
            </a:r>
            <a:endParaRPr lang="en-US" altLang="zh-CN" sz="1400">
              <a:highlight>
                <a:srgbClr val="FFFF00"/>
              </a:highlight>
            </a:endParaRPr>
          </a:p>
          <a:p>
            <a:r>
              <a:rPr lang="en-US" altLang="zh-CN" b="1" err="1"/>
              <a:t>PoS</a:t>
            </a:r>
            <a:r>
              <a:rPr lang="en-US" altLang="zh-CN" b="1"/>
              <a:t> of NDA approval in June 2028 is considered as </a:t>
            </a:r>
            <a:r>
              <a:rPr lang="en-US" altLang="zh-CN" b="1" u="sng">
                <a:solidFill>
                  <a:srgbClr val="FF0000"/>
                </a:solidFill>
              </a:rPr>
              <a:t>low</a:t>
            </a:r>
            <a:r>
              <a:rPr lang="en-US" altLang="zh-CN" b="1"/>
              <a:t>, given the critical challenges below:</a:t>
            </a:r>
          </a:p>
          <a:p>
            <a:pPr marL="636905" lvl="1" indent="-179705"/>
            <a:r>
              <a:rPr lang="en-US" altLang="zh-CN" sz="1400"/>
              <a:t>Uncertainty in </a:t>
            </a:r>
            <a:r>
              <a:rPr lang="en-US" altLang="zh-CN" sz="1400" b="1"/>
              <a:t>PR</a:t>
            </a:r>
            <a:r>
              <a:rPr lang="en-US" altLang="zh-CN" sz="1400"/>
              <a:t>/BTD </a:t>
            </a:r>
          </a:p>
          <a:p>
            <a:pPr marL="636905" lvl="1" indent="-179705"/>
            <a:r>
              <a:rPr lang="en-US" altLang="zh-CN" sz="1400"/>
              <a:t>The </a:t>
            </a:r>
            <a:r>
              <a:rPr lang="en-US" altLang="zh-CN" sz="1400" b="1"/>
              <a:t>8-month</a:t>
            </a:r>
            <a:r>
              <a:rPr lang="en-US" altLang="zh-CN" sz="1400"/>
              <a:t> NDA review timeline for verducatib under PR is below industry benchmark.</a:t>
            </a:r>
          </a:p>
          <a:p>
            <a:pPr marL="233363" indent="-233363"/>
            <a:r>
              <a:rPr lang="en-US" altLang="zh-CN" b="1">
                <a:solidFill>
                  <a:schemeClr val="bg1">
                    <a:lumMod val="65000"/>
                  </a:schemeClr>
                </a:solidFill>
              </a:rPr>
              <a:t>Next step actions </a:t>
            </a:r>
            <a:r>
              <a:rPr lang="en-US" altLang="zh-CN">
                <a:solidFill>
                  <a:schemeClr val="bg1">
                    <a:lumMod val="65000"/>
                  </a:schemeClr>
                </a:solidFill>
              </a:rPr>
              <a:t>(see next slide for detailed plan):</a:t>
            </a:r>
          </a:p>
          <a:p>
            <a:pPr marL="636905" lvl="1" indent="-179705"/>
            <a:r>
              <a:rPr lang="en-US" altLang="zh-CN" sz="1400">
                <a:solidFill>
                  <a:schemeClr val="bg1">
                    <a:lumMod val="65000"/>
                  </a:schemeClr>
                </a:solidFill>
              </a:rPr>
              <a:t>Closely work with global team for breakdown document preparation</a:t>
            </a:r>
          </a:p>
          <a:p>
            <a:pPr marL="636905" lvl="1" indent="-179705"/>
            <a:r>
              <a:rPr lang="en-US" altLang="zh-CN" sz="1400">
                <a:solidFill>
                  <a:schemeClr val="bg1">
                    <a:lumMod val="65000"/>
                  </a:schemeClr>
                </a:solidFill>
              </a:rPr>
              <a:t>Local NDA kickoff in June and report back to PEC for NDA strategy endorsement (June/Jul 2026).</a:t>
            </a:r>
            <a:endParaRPr lang="en-US" altLang="zh-CN" sz="1800">
              <a:solidFill>
                <a:schemeClr val="bg1">
                  <a:lumMod val="65000"/>
                </a:schemeClr>
              </a:solidFill>
            </a:endParaRPr>
          </a:p>
        </p:txBody>
      </p:sp>
      <p:sp>
        <p:nvSpPr>
          <p:cNvPr id="5" name="Footer Placeholder 4">
            <a:extLst>
              <a:ext uri="{FF2B5EF4-FFF2-40B4-BE49-F238E27FC236}">
                <a16:creationId xmlns:a16="http://schemas.microsoft.com/office/drawing/2014/main" id="{F46B4AA8-B8B2-8A4B-04CF-93EFC202737C}"/>
              </a:ext>
            </a:extLst>
          </p:cNvPr>
          <p:cNvSpPr>
            <a:spLocks noGrp="1"/>
          </p:cNvSpPr>
          <p:nvPr>
            <p:ph type="ftr" sz="quarter" idx="19"/>
          </p:nvPr>
        </p:nvSpPr>
        <p:spPr/>
        <p:txBody>
          <a:bodyPr/>
          <a:lstStyle/>
          <a:p>
            <a:r>
              <a:rPr lang="en-US"/>
              <a:t>Seperate topic for verducatib - 2026 Apr PEC</a:t>
            </a:r>
          </a:p>
        </p:txBody>
      </p:sp>
      <p:sp>
        <p:nvSpPr>
          <p:cNvPr id="4" name="TextBox 3">
            <a:extLst>
              <a:ext uri="{FF2B5EF4-FFF2-40B4-BE49-F238E27FC236}">
                <a16:creationId xmlns:a16="http://schemas.microsoft.com/office/drawing/2014/main" id="{BE12CD5B-C472-A4E8-DE3E-46C8A8190BE6}"/>
              </a:ext>
            </a:extLst>
          </p:cNvPr>
          <p:cNvSpPr txBox="1"/>
          <p:nvPr/>
        </p:nvSpPr>
        <p:spPr bwMode="gray">
          <a:xfrm>
            <a:off x="1915188" y="6280387"/>
            <a:ext cx="6578600" cy="217175"/>
          </a:xfrm>
          <a:prstGeom prst="rect">
            <a:avLst/>
          </a:prstGeom>
          <a:noFill/>
        </p:spPr>
        <p:txBody>
          <a:bodyPr wrap="square" lIns="0" tIns="0" rIns="0" bIns="0" rtlCol="0">
            <a:spAutoFit/>
          </a:bodyPr>
          <a:lstStyle/>
          <a:p>
            <a:pPr algn="l">
              <a:lnSpc>
                <a:spcPct val="140000"/>
              </a:lnSpc>
            </a:pPr>
            <a:r>
              <a:rPr lang="en-US" altLang="zh-CN" sz="1100" b="1"/>
              <a:t>DS PPQ</a:t>
            </a:r>
            <a:r>
              <a:rPr lang="en-US" altLang="zh-CN" sz="1100"/>
              <a:t>=drug substance process performance qualification; </a:t>
            </a:r>
            <a:r>
              <a:rPr lang="en-US" altLang="zh-CN" sz="1100" b="1"/>
              <a:t>SGAR</a:t>
            </a:r>
            <a:r>
              <a:rPr lang="en-US" altLang="zh-CN" sz="1100"/>
              <a:t>=subgroup analysis report</a:t>
            </a:r>
            <a:endParaRPr lang="zh-CN" altLang="en-US" sz="1100"/>
          </a:p>
        </p:txBody>
      </p:sp>
      <p:sp>
        <p:nvSpPr>
          <p:cNvPr id="6" name="Rectangle: Rounded Corners 5">
            <a:extLst>
              <a:ext uri="{FF2B5EF4-FFF2-40B4-BE49-F238E27FC236}">
                <a16:creationId xmlns:a16="http://schemas.microsoft.com/office/drawing/2014/main" id="{7CE5AA8C-B413-6A45-59EA-E0F476B5263B}"/>
              </a:ext>
            </a:extLst>
          </p:cNvPr>
          <p:cNvSpPr/>
          <p:nvPr/>
        </p:nvSpPr>
        <p:spPr bwMode="gray">
          <a:xfrm>
            <a:off x="371789" y="1828800"/>
            <a:ext cx="11455121" cy="3064747"/>
          </a:xfrm>
          <a:prstGeom prst="roundRect">
            <a:avLst>
              <a:gd name="adj" fmla="val 4979"/>
            </a:avLst>
          </a:prstGeom>
          <a:noFill/>
          <a:ln w="19050">
            <a:solidFill>
              <a:schemeClr val="accent3">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Tree>
    <p:extLst>
      <p:ext uri="{BB962C8B-B14F-4D97-AF65-F5344CB8AC3E}">
        <p14:creationId xmlns:p14="http://schemas.microsoft.com/office/powerpoint/2010/main" val="509509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A8336-7CB8-DC05-EF09-BF6A5D941A52}"/>
              </a:ext>
            </a:extLst>
          </p:cNvPr>
          <p:cNvSpPr>
            <a:spLocks noGrp="1"/>
          </p:cNvSpPr>
          <p:nvPr>
            <p:ph type="title"/>
          </p:nvPr>
        </p:nvSpPr>
        <p:spPr/>
        <p:txBody>
          <a:bodyPr/>
          <a:lstStyle/>
          <a:p>
            <a:r>
              <a:rPr lang="zh-CN" altLang="en-US"/>
              <a:t>Back up</a:t>
            </a:r>
          </a:p>
        </p:txBody>
      </p:sp>
      <p:sp>
        <p:nvSpPr>
          <p:cNvPr id="3" name="Content Placeholder 2">
            <a:extLst>
              <a:ext uri="{FF2B5EF4-FFF2-40B4-BE49-F238E27FC236}">
                <a16:creationId xmlns:a16="http://schemas.microsoft.com/office/drawing/2014/main" id="{BA66C484-7527-BBC0-7EBB-88970F4B6CF2}"/>
              </a:ext>
            </a:extLst>
          </p:cNvPr>
          <p:cNvSpPr>
            <a:spLocks noGrp="1"/>
          </p:cNvSpPr>
          <p:nvPr>
            <p:ph idx="1"/>
          </p:nvPr>
        </p:nvSpPr>
        <p:spPr/>
        <p:txBody>
          <a:bodyPr/>
          <a:lstStyle/>
          <a:p>
            <a:endParaRPr lang="zh-CN" altLang="en-US"/>
          </a:p>
        </p:txBody>
      </p:sp>
      <p:sp>
        <p:nvSpPr>
          <p:cNvPr id="4" name="Text Placeholder 3">
            <a:extLst>
              <a:ext uri="{FF2B5EF4-FFF2-40B4-BE49-F238E27FC236}">
                <a16:creationId xmlns:a16="http://schemas.microsoft.com/office/drawing/2014/main" id="{FACFC327-93C1-1708-C4CD-B1A2C5F02493}"/>
              </a:ext>
            </a:extLst>
          </p:cNvPr>
          <p:cNvSpPr>
            <a:spLocks noGrp="1"/>
          </p:cNvSpPr>
          <p:nvPr>
            <p:ph type="body" sz="quarter" idx="13"/>
          </p:nvPr>
        </p:nvSpPr>
        <p:spPr/>
        <p:txBody>
          <a:bodyPr/>
          <a:lstStyle/>
          <a:p>
            <a:endParaRPr lang="zh-CN" altLang="en-US"/>
          </a:p>
        </p:txBody>
      </p:sp>
      <p:sp>
        <p:nvSpPr>
          <p:cNvPr id="5" name="Footer Placeholder 4">
            <a:extLst>
              <a:ext uri="{FF2B5EF4-FFF2-40B4-BE49-F238E27FC236}">
                <a16:creationId xmlns:a16="http://schemas.microsoft.com/office/drawing/2014/main" id="{71FE3B49-2926-0F4F-8DB1-8725BD835F4B}"/>
              </a:ext>
            </a:extLst>
          </p:cNvPr>
          <p:cNvSpPr>
            <a:spLocks noGrp="1"/>
          </p:cNvSpPr>
          <p:nvPr>
            <p:ph type="ftr" sz="quarter" idx="19"/>
          </p:nvPr>
        </p:nvSpPr>
        <p:spPr/>
        <p:txBody>
          <a:bodyPr/>
          <a:lstStyle/>
          <a:p>
            <a:r>
              <a:rPr lang="en-US"/>
              <a:t>Seperate topic for verducatib - 2026 Apr PEC</a:t>
            </a:r>
          </a:p>
        </p:txBody>
      </p:sp>
    </p:spTree>
    <p:extLst>
      <p:ext uri="{BB962C8B-B14F-4D97-AF65-F5344CB8AC3E}">
        <p14:creationId xmlns:p14="http://schemas.microsoft.com/office/powerpoint/2010/main" val="523017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TLSHAPE_TB_00000000000000000000000000000000_RightEndCaps">
            <a:extLst>
              <a:ext uri="{FF2B5EF4-FFF2-40B4-BE49-F238E27FC236}">
                <a16:creationId xmlns:a16="http://schemas.microsoft.com/office/drawing/2014/main" id="{F6A22CB7-807A-6A07-1F38-0BAD4B5CE8DD}"/>
              </a:ext>
            </a:extLst>
          </p:cNvPr>
          <p:cNvSpPr txBox="1"/>
          <p:nvPr>
            <p:custDataLst>
              <p:tags r:id="rId1"/>
            </p:custDataLst>
          </p:nvPr>
        </p:nvSpPr>
        <p:spPr bwMode="gray">
          <a:xfrm>
            <a:off x="11521119" y="2764237"/>
            <a:ext cx="352148" cy="273601"/>
          </a:xfrm>
          <a:prstGeom prst="rect">
            <a:avLst/>
          </a:prstGeom>
          <a:noFill/>
        </p:spPr>
        <p:txBody>
          <a:bodyPr vert="horz" wrap="none" lIns="0" tIns="0" rIns="0" bIns="0" rtlCol="0" anchor="b"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1400" b="1" i="0" u="none" strike="noStrike" kern="1200" cap="none" spc="-26" normalizeH="0" baseline="0" noProof="0">
                <a:ln>
                  <a:noFill/>
                </a:ln>
                <a:solidFill>
                  <a:srgbClr val="B20E12"/>
                </a:solidFill>
                <a:effectLst/>
                <a:uLnTx/>
                <a:uFillTx/>
                <a:latin typeface="Calibri" panose="020F0502020204030204" pitchFamily="34" charset="0"/>
                <a:ea typeface="+mn-ea"/>
                <a:cs typeface="+mn-cs"/>
              </a:rPr>
              <a:t>2027</a:t>
            </a:r>
          </a:p>
        </p:txBody>
      </p:sp>
      <p:cxnSp>
        <p:nvCxnSpPr>
          <p:cNvPr id="182" name="OTLSHAPE_T_71ebd99c3b90472682cc99ad192fe685_LeftVerticalConnector1">
            <a:extLst>
              <a:ext uri="{FF2B5EF4-FFF2-40B4-BE49-F238E27FC236}">
                <a16:creationId xmlns:a16="http://schemas.microsoft.com/office/drawing/2014/main" id="{9B640E6A-AE3C-7EC1-71BB-8C7011968E7A}"/>
              </a:ext>
            </a:extLst>
          </p:cNvPr>
          <p:cNvCxnSpPr/>
          <p:nvPr>
            <p:custDataLst>
              <p:tags r:id="rId2"/>
            </p:custDataLst>
          </p:nvPr>
        </p:nvCxnSpPr>
        <p:spPr bwMode="gray">
          <a:xfrm>
            <a:off x="7300266" y="3043636"/>
            <a:ext cx="0" cy="1503172"/>
          </a:xfrm>
          <a:prstGeom prst="line">
            <a:avLst/>
          </a:prstGeom>
          <a:ln w="7620" cap="flat" cmpd="sng" algn="ctr">
            <a:solidFill>
              <a:srgbClr val="CCCCC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4" name="OTLSHAPE_T_71ebd99c3b90472682cc99ad192fe685_RightVerticalConnector1">
            <a:extLst>
              <a:ext uri="{FF2B5EF4-FFF2-40B4-BE49-F238E27FC236}">
                <a16:creationId xmlns:a16="http://schemas.microsoft.com/office/drawing/2014/main" id="{7E35B6D6-0969-B95A-BD2C-150DAFBFD392}"/>
              </a:ext>
            </a:extLst>
          </p:cNvPr>
          <p:cNvCxnSpPr/>
          <p:nvPr>
            <p:custDataLst>
              <p:tags r:id="rId3"/>
            </p:custDataLst>
          </p:nvPr>
        </p:nvCxnSpPr>
        <p:spPr bwMode="gray">
          <a:xfrm>
            <a:off x="7819039" y="3043637"/>
            <a:ext cx="0" cy="1363641"/>
          </a:xfrm>
          <a:prstGeom prst="line">
            <a:avLst/>
          </a:prstGeom>
          <a:ln w="7620" cap="flat" cmpd="sng" algn="ctr">
            <a:solidFill>
              <a:srgbClr val="CCCCC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5" name="OTLSHAPE_T_71ebd99c3b90472682cc99ad192fe685_RightVerticalConnector2">
            <a:extLst>
              <a:ext uri="{FF2B5EF4-FFF2-40B4-BE49-F238E27FC236}">
                <a16:creationId xmlns:a16="http://schemas.microsoft.com/office/drawing/2014/main" id="{C6817CB0-D9D3-78C1-AFB2-5864D51B6E35}"/>
              </a:ext>
            </a:extLst>
          </p:cNvPr>
          <p:cNvCxnSpPr/>
          <p:nvPr>
            <p:custDataLst>
              <p:tags r:id="rId4"/>
            </p:custDataLst>
          </p:nvPr>
        </p:nvCxnSpPr>
        <p:spPr bwMode="gray">
          <a:xfrm>
            <a:off x="7819039" y="4546809"/>
            <a:ext cx="0" cy="507831"/>
          </a:xfrm>
          <a:prstGeom prst="line">
            <a:avLst/>
          </a:prstGeom>
          <a:ln w="7620" cap="flat" cmpd="sng" algn="ctr">
            <a:solidFill>
              <a:srgbClr val="CCCCC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9" name="OTLSHAPE_T_4c113f7cf57c4a33841d7ca129b0b95e_LeftVerticalConnector1">
            <a:extLst>
              <a:ext uri="{FF2B5EF4-FFF2-40B4-BE49-F238E27FC236}">
                <a16:creationId xmlns:a16="http://schemas.microsoft.com/office/drawing/2014/main" id="{289F8269-BE92-3B16-BE65-4DB6220BC91B}"/>
              </a:ext>
            </a:extLst>
          </p:cNvPr>
          <p:cNvCxnSpPr/>
          <p:nvPr>
            <p:custDataLst>
              <p:tags r:id="rId5"/>
            </p:custDataLst>
          </p:nvPr>
        </p:nvCxnSpPr>
        <p:spPr bwMode="gray">
          <a:xfrm flipV="1">
            <a:off x="9721207" y="3043637"/>
            <a:ext cx="0" cy="2823464"/>
          </a:xfrm>
          <a:prstGeom prst="line">
            <a:avLst/>
          </a:prstGeom>
          <a:ln w="7620" cap="flat" cmpd="sng" algn="ctr">
            <a:solidFill>
              <a:srgbClr val="CCCCC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0" name="OTLSHAPE_T_4c113f7cf57c4a33841d7ca129b0b95e_RightVerticalConnector1">
            <a:extLst>
              <a:ext uri="{FF2B5EF4-FFF2-40B4-BE49-F238E27FC236}">
                <a16:creationId xmlns:a16="http://schemas.microsoft.com/office/drawing/2014/main" id="{6DBD6F47-7F84-1000-8367-C0E62F397F58}"/>
              </a:ext>
            </a:extLst>
          </p:cNvPr>
          <p:cNvCxnSpPr/>
          <p:nvPr>
            <p:custDataLst>
              <p:tags r:id="rId6"/>
            </p:custDataLst>
          </p:nvPr>
        </p:nvCxnSpPr>
        <p:spPr bwMode="gray">
          <a:xfrm flipV="1">
            <a:off x="10874035" y="3043637"/>
            <a:ext cx="0" cy="2823464"/>
          </a:xfrm>
          <a:prstGeom prst="line">
            <a:avLst/>
          </a:prstGeom>
          <a:ln w="7620" cap="flat" cmpd="sng" algn="ctr">
            <a:solidFill>
              <a:srgbClr val="CCCCC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0" name="OTLSHAPE_T_71ebd99c3b90472682cc99ad192fe685_LeftVerticalConnector2">
            <a:extLst>
              <a:ext uri="{FF2B5EF4-FFF2-40B4-BE49-F238E27FC236}">
                <a16:creationId xmlns:a16="http://schemas.microsoft.com/office/drawing/2014/main" id="{E73E7AAF-FABC-2C06-8B88-1BF20D0DD54F}"/>
              </a:ext>
            </a:extLst>
          </p:cNvPr>
          <p:cNvCxnSpPr/>
          <p:nvPr>
            <p:custDataLst>
              <p:tags r:id="rId7"/>
            </p:custDataLst>
          </p:nvPr>
        </p:nvCxnSpPr>
        <p:spPr bwMode="gray">
          <a:xfrm>
            <a:off x="7300266" y="4750009"/>
            <a:ext cx="0" cy="304631"/>
          </a:xfrm>
          <a:prstGeom prst="line">
            <a:avLst/>
          </a:prstGeom>
          <a:ln w="7620" cap="flat" cmpd="sng" algn="ctr">
            <a:solidFill>
              <a:srgbClr val="CCCCC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4" name="OTLSHAPE_T_bf111ccaf3344795b34e29980e8a5408_LeftVerticalConnector1">
            <a:extLst>
              <a:ext uri="{FF2B5EF4-FFF2-40B4-BE49-F238E27FC236}">
                <a16:creationId xmlns:a16="http://schemas.microsoft.com/office/drawing/2014/main" id="{741F5DF7-7581-8DF9-920D-6AAE501E3118}"/>
              </a:ext>
            </a:extLst>
          </p:cNvPr>
          <p:cNvCxnSpPr/>
          <p:nvPr>
            <p:custDataLst>
              <p:tags r:id="rId8"/>
            </p:custDataLst>
          </p:nvPr>
        </p:nvCxnSpPr>
        <p:spPr bwMode="gray">
          <a:xfrm>
            <a:off x="5398099" y="1065316"/>
            <a:ext cx="0" cy="1213866"/>
          </a:xfrm>
          <a:prstGeom prst="line">
            <a:avLst/>
          </a:prstGeom>
          <a:ln w="7620" cap="flat" cmpd="sng" algn="ctr">
            <a:solidFill>
              <a:srgbClr val="CCCCC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5" name="OTLSHAPE_T_bf111ccaf3344795b34e29980e8a5408_LeftVerticalConnector2">
            <a:extLst>
              <a:ext uri="{FF2B5EF4-FFF2-40B4-BE49-F238E27FC236}">
                <a16:creationId xmlns:a16="http://schemas.microsoft.com/office/drawing/2014/main" id="{A0B4A9C7-2484-4134-9942-406905FB4810}"/>
              </a:ext>
            </a:extLst>
          </p:cNvPr>
          <p:cNvCxnSpPr/>
          <p:nvPr>
            <p:custDataLst>
              <p:tags r:id="rId9"/>
            </p:custDataLst>
          </p:nvPr>
        </p:nvCxnSpPr>
        <p:spPr bwMode="gray">
          <a:xfrm>
            <a:off x="5398099" y="2573737"/>
            <a:ext cx="0" cy="215900"/>
          </a:xfrm>
          <a:prstGeom prst="line">
            <a:avLst/>
          </a:prstGeom>
          <a:ln w="7620" cap="flat" cmpd="sng" algn="ctr">
            <a:solidFill>
              <a:srgbClr val="CCCCC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6" name="OTLSHAPE_T_bf111ccaf3344795b34e29980e8a5408_RightVerticalConnector1">
            <a:extLst>
              <a:ext uri="{FF2B5EF4-FFF2-40B4-BE49-F238E27FC236}">
                <a16:creationId xmlns:a16="http://schemas.microsoft.com/office/drawing/2014/main" id="{F6E9B5FF-D255-FD16-4F5B-EAC355E5E617}"/>
              </a:ext>
            </a:extLst>
          </p:cNvPr>
          <p:cNvCxnSpPr/>
          <p:nvPr>
            <p:custDataLst>
              <p:tags r:id="rId10"/>
            </p:custDataLst>
          </p:nvPr>
        </p:nvCxnSpPr>
        <p:spPr bwMode="gray">
          <a:xfrm flipV="1">
            <a:off x="6839135" y="1065316"/>
            <a:ext cx="0" cy="830411"/>
          </a:xfrm>
          <a:prstGeom prst="line">
            <a:avLst/>
          </a:prstGeom>
          <a:ln w="7620" cap="flat" cmpd="sng" algn="ctr">
            <a:solidFill>
              <a:srgbClr val="CCCCC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9" name="OTLSHAPE_T_bf111ccaf3344795b34e29980e8a5408_RightVerticalConnector2">
            <a:extLst>
              <a:ext uri="{FF2B5EF4-FFF2-40B4-BE49-F238E27FC236}">
                <a16:creationId xmlns:a16="http://schemas.microsoft.com/office/drawing/2014/main" id="{9B2183BC-23D2-90E2-4E7F-DAADF3F93F55}"/>
              </a:ext>
            </a:extLst>
          </p:cNvPr>
          <p:cNvCxnSpPr/>
          <p:nvPr>
            <p:custDataLst>
              <p:tags r:id="rId11"/>
            </p:custDataLst>
          </p:nvPr>
        </p:nvCxnSpPr>
        <p:spPr bwMode="gray">
          <a:xfrm>
            <a:off x="6839135" y="2190282"/>
            <a:ext cx="0" cy="88900"/>
          </a:xfrm>
          <a:prstGeom prst="line">
            <a:avLst/>
          </a:prstGeom>
          <a:ln w="7620" cap="flat" cmpd="sng" algn="ctr">
            <a:solidFill>
              <a:srgbClr val="CCCCC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0" name="OTLSHAPE_M_4ffc564ffce3497580664479dbc2991e_Connector1">
            <a:extLst>
              <a:ext uri="{FF2B5EF4-FFF2-40B4-BE49-F238E27FC236}">
                <a16:creationId xmlns:a16="http://schemas.microsoft.com/office/drawing/2014/main" id="{C7207FDC-1DCF-B183-4D09-CF8B7CB2516F}"/>
              </a:ext>
            </a:extLst>
          </p:cNvPr>
          <p:cNvCxnSpPr/>
          <p:nvPr>
            <p:custDataLst>
              <p:tags r:id="rId12"/>
            </p:custDataLst>
          </p:nvPr>
        </p:nvCxnSpPr>
        <p:spPr bwMode="gray">
          <a:xfrm>
            <a:off x="6205079" y="1448771"/>
            <a:ext cx="0" cy="1277366"/>
          </a:xfrm>
          <a:prstGeom prst="line">
            <a:avLst/>
          </a:prstGeom>
          <a:ln w="7620" cap="flat" cmpd="sng" algn="ctr">
            <a:solidFill>
              <a:srgbClr val="4F81BD">
                <a:alpha val="49804"/>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2" name="OTLSHAPE_T_bf111ccaf3344795b34e29980e8a5408_RightVerticalConnector3">
            <a:extLst>
              <a:ext uri="{FF2B5EF4-FFF2-40B4-BE49-F238E27FC236}">
                <a16:creationId xmlns:a16="http://schemas.microsoft.com/office/drawing/2014/main" id="{BADBC962-0587-85A4-BD7E-BDA2E308553F}"/>
              </a:ext>
            </a:extLst>
          </p:cNvPr>
          <p:cNvCxnSpPr/>
          <p:nvPr>
            <p:custDataLst>
              <p:tags r:id="rId13"/>
            </p:custDataLst>
          </p:nvPr>
        </p:nvCxnSpPr>
        <p:spPr bwMode="gray">
          <a:xfrm>
            <a:off x="6839135" y="2434206"/>
            <a:ext cx="0" cy="355431"/>
          </a:xfrm>
          <a:prstGeom prst="line">
            <a:avLst/>
          </a:prstGeom>
          <a:ln w="7620" cap="flat" cmpd="sng" algn="ctr">
            <a:solidFill>
              <a:srgbClr val="CCCCC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2" name="OTLSHAPE_T_1f3c26b0db574a0890a4869859883f55_LeftVerticalConnector1">
            <a:extLst>
              <a:ext uri="{FF2B5EF4-FFF2-40B4-BE49-F238E27FC236}">
                <a16:creationId xmlns:a16="http://schemas.microsoft.com/office/drawing/2014/main" id="{CDF699F6-F7FC-3685-EFAA-D1ED061F33C6}"/>
              </a:ext>
            </a:extLst>
          </p:cNvPr>
          <p:cNvCxnSpPr/>
          <p:nvPr>
            <p:custDataLst>
              <p:tags r:id="rId14"/>
            </p:custDataLst>
          </p:nvPr>
        </p:nvCxnSpPr>
        <p:spPr bwMode="gray">
          <a:xfrm>
            <a:off x="4014705" y="3043637"/>
            <a:ext cx="0" cy="215900"/>
          </a:xfrm>
          <a:prstGeom prst="line">
            <a:avLst/>
          </a:prstGeom>
          <a:ln w="7620" cap="flat" cmpd="sng" algn="ctr">
            <a:solidFill>
              <a:srgbClr val="CCCCC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3" name="OTLSHAPE_T_1f3c26b0db574a0890a4869859883f55_LeftVerticalConnector2">
            <a:extLst>
              <a:ext uri="{FF2B5EF4-FFF2-40B4-BE49-F238E27FC236}">
                <a16:creationId xmlns:a16="http://schemas.microsoft.com/office/drawing/2014/main" id="{202102D4-364B-8E08-4882-806728EBE909}"/>
              </a:ext>
            </a:extLst>
          </p:cNvPr>
          <p:cNvCxnSpPr/>
          <p:nvPr>
            <p:custDataLst>
              <p:tags r:id="rId15"/>
            </p:custDataLst>
          </p:nvPr>
        </p:nvCxnSpPr>
        <p:spPr bwMode="gray">
          <a:xfrm>
            <a:off x="4014705" y="3554092"/>
            <a:ext cx="0" cy="586486"/>
          </a:xfrm>
          <a:prstGeom prst="line">
            <a:avLst/>
          </a:prstGeom>
          <a:ln w="7620" cap="flat" cmpd="sng" algn="ctr">
            <a:solidFill>
              <a:srgbClr val="CCCCC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4" name="OTLSHAPE_T_1f3c26b0db574a0890a4869859883f55_RightVerticalConnector1">
            <a:extLst>
              <a:ext uri="{FF2B5EF4-FFF2-40B4-BE49-F238E27FC236}">
                <a16:creationId xmlns:a16="http://schemas.microsoft.com/office/drawing/2014/main" id="{33532F2E-FA76-2E89-80A6-361B3F59E518}"/>
              </a:ext>
            </a:extLst>
          </p:cNvPr>
          <p:cNvCxnSpPr/>
          <p:nvPr>
            <p:custDataLst>
              <p:tags r:id="rId16"/>
            </p:custDataLst>
          </p:nvPr>
        </p:nvCxnSpPr>
        <p:spPr bwMode="gray">
          <a:xfrm>
            <a:off x="6147438" y="3043637"/>
            <a:ext cx="0" cy="599355"/>
          </a:xfrm>
          <a:prstGeom prst="line">
            <a:avLst/>
          </a:prstGeom>
          <a:ln w="7620" cap="flat" cmpd="sng" algn="ctr">
            <a:solidFill>
              <a:srgbClr val="CCCCC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5" name="OTLSHAPE_T_1f3c26b0db574a0890a4869859883f55_RightVerticalConnector2">
            <a:extLst>
              <a:ext uri="{FF2B5EF4-FFF2-40B4-BE49-F238E27FC236}">
                <a16:creationId xmlns:a16="http://schemas.microsoft.com/office/drawing/2014/main" id="{987A953D-468C-8F9E-FF6E-D5DEDDAF1A99}"/>
              </a:ext>
            </a:extLst>
          </p:cNvPr>
          <p:cNvCxnSpPr/>
          <p:nvPr>
            <p:custDataLst>
              <p:tags r:id="rId17"/>
            </p:custDataLst>
          </p:nvPr>
        </p:nvCxnSpPr>
        <p:spPr bwMode="gray">
          <a:xfrm>
            <a:off x="6147438" y="3937549"/>
            <a:ext cx="0" cy="203031"/>
          </a:xfrm>
          <a:prstGeom prst="line">
            <a:avLst/>
          </a:prstGeom>
          <a:ln w="7620" cap="flat" cmpd="sng" algn="ctr">
            <a:solidFill>
              <a:srgbClr val="CCCCC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8" name="OTLSHAPE_M_751735472f274edb82d079afc8bad984_Connector1">
            <a:extLst>
              <a:ext uri="{FF2B5EF4-FFF2-40B4-BE49-F238E27FC236}">
                <a16:creationId xmlns:a16="http://schemas.microsoft.com/office/drawing/2014/main" id="{B190777F-B894-0C46-45EB-227F3C71B6FC}"/>
              </a:ext>
            </a:extLst>
          </p:cNvPr>
          <p:cNvCxnSpPr/>
          <p:nvPr>
            <p:custDataLst>
              <p:tags r:id="rId18"/>
            </p:custDataLst>
          </p:nvPr>
        </p:nvCxnSpPr>
        <p:spPr bwMode="gray">
          <a:xfrm>
            <a:off x="6435645" y="1832226"/>
            <a:ext cx="0" cy="63500"/>
          </a:xfrm>
          <a:prstGeom prst="line">
            <a:avLst/>
          </a:prstGeom>
          <a:ln w="7620" cap="flat" cmpd="sng" algn="ctr">
            <a:solidFill>
              <a:srgbClr val="4F81BD">
                <a:alpha val="49804"/>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9" name="OTLSHAPE_M_751735472f274edb82d079afc8bad984_Connector2">
            <a:extLst>
              <a:ext uri="{FF2B5EF4-FFF2-40B4-BE49-F238E27FC236}">
                <a16:creationId xmlns:a16="http://schemas.microsoft.com/office/drawing/2014/main" id="{610B0D12-C3E4-014D-FE4E-D1803580AFF2}"/>
              </a:ext>
            </a:extLst>
          </p:cNvPr>
          <p:cNvCxnSpPr/>
          <p:nvPr>
            <p:custDataLst>
              <p:tags r:id="rId19"/>
            </p:custDataLst>
          </p:nvPr>
        </p:nvCxnSpPr>
        <p:spPr bwMode="gray">
          <a:xfrm>
            <a:off x="6435645" y="2050751"/>
            <a:ext cx="0" cy="713486"/>
          </a:xfrm>
          <a:prstGeom prst="line">
            <a:avLst/>
          </a:prstGeom>
          <a:ln w="7620" cap="flat" cmpd="sng" algn="ctr">
            <a:solidFill>
              <a:srgbClr val="4F81BD">
                <a:alpha val="49804"/>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9" name="OTLSHAPE_M_9602e4327ff646369f8d50f690e4049f_Connector1">
            <a:extLst>
              <a:ext uri="{FF2B5EF4-FFF2-40B4-BE49-F238E27FC236}">
                <a16:creationId xmlns:a16="http://schemas.microsoft.com/office/drawing/2014/main" id="{539A53CE-E720-C715-7FEB-81BDAE5F389E}"/>
              </a:ext>
            </a:extLst>
          </p:cNvPr>
          <p:cNvCxnSpPr/>
          <p:nvPr>
            <p:custDataLst>
              <p:tags r:id="rId20"/>
            </p:custDataLst>
          </p:nvPr>
        </p:nvCxnSpPr>
        <p:spPr bwMode="gray">
          <a:xfrm>
            <a:off x="4879326" y="3107137"/>
            <a:ext cx="0" cy="510455"/>
          </a:xfrm>
          <a:prstGeom prst="line">
            <a:avLst/>
          </a:prstGeom>
          <a:ln w="7620" cap="flat" cmpd="sng" algn="ctr">
            <a:solidFill>
              <a:srgbClr val="4F81BD">
                <a:alpha val="49804"/>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1" name="OTLSHAPE_M_39363e8a52d74eabbe595b5db6ba3d1d_Connector1">
            <a:extLst>
              <a:ext uri="{FF2B5EF4-FFF2-40B4-BE49-F238E27FC236}">
                <a16:creationId xmlns:a16="http://schemas.microsoft.com/office/drawing/2014/main" id="{53B4C002-350A-4B39-7653-6630FA1593D4}"/>
              </a:ext>
            </a:extLst>
          </p:cNvPr>
          <p:cNvCxnSpPr/>
          <p:nvPr>
            <p:custDataLst>
              <p:tags r:id="rId21"/>
            </p:custDataLst>
          </p:nvPr>
        </p:nvCxnSpPr>
        <p:spPr bwMode="gray">
          <a:xfrm>
            <a:off x="6435645" y="3069037"/>
            <a:ext cx="0" cy="165100"/>
          </a:xfrm>
          <a:prstGeom prst="line">
            <a:avLst/>
          </a:prstGeom>
          <a:ln w="7620" cap="flat" cmpd="sng" algn="ctr">
            <a:solidFill>
              <a:srgbClr val="4F81BD">
                <a:alpha val="49804"/>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5" name="OTLSHAPE_T_05e88fd7c06c430d82b8304234123beb_HorizontalConnector1">
            <a:extLst>
              <a:ext uri="{FF2B5EF4-FFF2-40B4-BE49-F238E27FC236}">
                <a16:creationId xmlns:a16="http://schemas.microsoft.com/office/drawing/2014/main" id="{62E66E46-79F1-E884-1FF3-D577E919F9FD}"/>
              </a:ext>
            </a:extLst>
          </p:cNvPr>
          <p:cNvCxnSpPr/>
          <p:nvPr>
            <p:custDataLst>
              <p:tags r:id="rId22"/>
            </p:custDataLst>
          </p:nvPr>
        </p:nvCxnSpPr>
        <p:spPr bwMode="gray">
          <a:xfrm>
            <a:off x="1031240" y="4648409"/>
            <a:ext cx="6269026" cy="0"/>
          </a:xfrm>
          <a:prstGeom prst="line">
            <a:avLst/>
          </a:prstGeom>
          <a:ln w="7620" cap="flat" cmpd="sng" algn="ctr">
            <a:solidFill>
              <a:srgbClr val="CCCCC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6" name="OTLSHAPE_T_71ebd99c3b90472682cc99ad192fe685_HorizontalConnector1">
            <a:extLst>
              <a:ext uri="{FF2B5EF4-FFF2-40B4-BE49-F238E27FC236}">
                <a16:creationId xmlns:a16="http://schemas.microsoft.com/office/drawing/2014/main" id="{AFF0FC91-B03A-36E3-5432-48CCFFC7D844}"/>
              </a:ext>
            </a:extLst>
          </p:cNvPr>
          <p:cNvCxnSpPr/>
          <p:nvPr>
            <p:custDataLst>
              <p:tags r:id="rId23"/>
            </p:custDataLst>
          </p:nvPr>
        </p:nvCxnSpPr>
        <p:spPr bwMode="gray">
          <a:xfrm>
            <a:off x="935101" y="5054640"/>
            <a:ext cx="6365165" cy="0"/>
          </a:xfrm>
          <a:prstGeom prst="line">
            <a:avLst/>
          </a:prstGeom>
          <a:ln w="7620" cap="flat" cmpd="sng" algn="ctr">
            <a:solidFill>
              <a:srgbClr val="CCCCC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7" name="OTLSHAPE_T_ec4775a7a9b54a3cb308b944bded2ee6_HorizontalConnector1">
            <a:extLst>
              <a:ext uri="{FF2B5EF4-FFF2-40B4-BE49-F238E27FC236}">
                <a16:creationId xmlns:a16="http://schemas.microsoft.com/office/drawing/2014/main" id="{F7124326-8463-F0B6-D244-210764B9383B}"/>
              </a:ext>
            </a:extLst>
          </p:cNvPr>
          <p:cNvCxnSpPr/>
          <p:nvPr>
            <p:custDataLst>
              <p:tags r:id="rId24"/>
            </p:custDataLst>
          </p:nvPr>
        </p:nvCxnSpPr>
        <p:spPr bwMode="gray">
          <a:xfrm>
            <a:off x="929047" y="5460870"/>
            <a:ext cx="6371219" cy="0"/>
          </a:xfrm>
          <a:prstGeom prst="line">
            <a:avLst/>
          </a:prstGeom>
          <a:ln w="7620" cap="flat" cmpd="sng" algn="ctr">
            <a:solidFill>
              <a:srgbClr val="CCCCC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OTLSHAPE_TB_00000000000000000000000000000000_ScaleContainer">
            <a:extLst>
              <a:ext uri="{FF2B5EF4-FFF2-40B4-BE49-F238E27FC236}">
                <a16:creationId xmlns:a16="http://schemas.microsoft.com/office/drawing/2014/main" id="{73BD1F8B-68B3-E80E-9C4A-A139529B1D8E}"/>
              </a:ext>
            </a:extLst>
          </p:cNvPr>
          <p:cNvSpPr/>
          <p:nvPr>
            <p:custDataLst>
              <p:tags r:id="rId25"/>
            </p:custDataLst>
          </p:nvPr>
        </p:nvSpPr>
        <p:spPr bwMode="gray">
          <a:xfrm>
            <a:off x="844465" y="2789637"/>
            <a:ext cx="10617200" cy="254000"/>
          </a:xfrm>
          <a:prstGeom prst="roundRect">
            <a:avLst/>
          </a:prstGeom>
          <a:solidFill>
            <a:srgbClr val="303030"/>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 name="OTLSHAPE_TB_00000000000000000000000000000000_TimescaleInterval1">
            <a:extLst>
              <a:ext uri="{FF2B5EF4-FFF2-40B4-BE49-F238E27FC236}">
                <a16:creationId xmlns:a16="http://schemas.microsoft.com/office/drawing/2014/main" id="{412035C1-FB10-26FD-C9A5-DE639155F98A}"/>
              </a:ext>
            </a:extLst>
          </p:cNvPr>
          <p:cNvSpPr txBox="1"/>
          <p:nvPr>
            <p:custDataLst>
              <p:tags r:id="rId26"/>
            </p:custDataLst>
          </p:nvPr>
        </p:nvSpPr>
        <p:spPr bwMode="gray">
          <a:xfrm>
            <a:off x="895265" y="2823610"/>
            <a:ext cx="158185"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rPr>
              <a:t>Jul</a:t>
            </a:r>
          </a:p>
        </p:txBody>
      </p:sp>
      <p:sp>
        <p:nvSpPr>
          <p:cNvPr id="12" name="OTLSHAPE_TB_00000000000000000000000000000000_TimescaleInterval2">
            <a:extLst>
              <a:ext uri="{FF2B5EF4-FFF2-40B4-BE49-F238E27FC236}">
                <a16:creationId xmlns:a16="http://schemas.microsoft.com/office/drawing/2014/main" id="{C2AE6ABD-320E-4B42-7A82-8A413E063EB3}"/>
              </a:ext>
            </a:extLst>
          </p:cNvPr>
          <p:cNvSpPr txBox="1"/>
          <p:nvPr>
            <p:custDataLst>
              <p:tags r:id="rId27"/>
            </p:custDataLst>
          </p:nvPr>
        </p:nvSpPr>
        <p:spPr bwMode="gray">
          <a:xfrm>
            <a:off x="2682150" y="2823610"/>
            <a:ext cx="242054"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rPr>
              <a:t>Aug</a:t>
            </a:r>
          </a:p>
        </p:txBody>
      </p:sp>
      <p:sp>
        <p:nvSpPr>
          <p:cNvPr id="14" name="OTLSHAPE_TB_00000000000000000000000000000000_TimescaleInterval3">
            <a:extLst>
              <a:ext uri="{FF2B5EF4-FFF2-40B4-BE49-F238E27FC236}">
                <a16:creationId xmlns:a16="http://schemas.microsoft.com/office/drawing/2014/main" id="{9BE63C4D-D417-E98A-D834-08BEE926032B}"/>
              </a:ext>
            </a:extLst>
          </p:cNvPr>
          <p:cNvSpPr txBox="1"/>
          <p:nvPr>
            <p:custDataLst>
              <p:tags r:id="rId28"/>
            </p:custDataLst>
          </p:nvPr>
        </p:nvSpPr>
        <p:spPr bwMode="gray">
          <a:xfrm>
            <a:off x="4469035" y="2823610"/>
            <a:ext cx="227626"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18" normalizeH="0" baseline="0" noProof="0">
                <a:ln>
                  <a:noFill/>
                </a:ln>
                <a:solidFill>
                  <a:prstClr val="white"/>
                </a:solidFill>
                <a:effectLst/>
                <a:uLnTx/>
                <a:uFillTx/>
                <a:latin typeface="Calibri" panose="020F0502020204030204" pitchFamily="34" charset="0"/>
                <a:ea typeface="+mn-ea"/>
                <a:cs typeface="+mn-cs"/>
              </a:rPr>
              <a:t>Sep</a:t>
            </a:r>
          </a:p>
        </p:txBody>
      </p:sp>
      <p:sp>
        <p:nvSpPr>
          <p:cNvPr id="115" name="OTLSHAPE_TB_00000000000000000000000000000000_TimescaleInterval4">
            <a:extLst>
              <a:ext uri="{FF2B5EF4-FFF2-40B4-BE49-F238E27FC236}">
                <a16:creationId xmlns:a16="http://schemas.microsoft.com/office/drawing/2014/main" id="{268DA129-3601-EE31-8BFD-A370189BE7AF}"/>
              </a:ext>
            </a:extLst>
          </p:cNvPr>
          <p:cNvSpPr txBox="1"/>
          <p:nvPr>
            <p:custDataLst>
              <p:tags r:id="rId29"/>
            </p:custDataLst>
          </p:nvPr>
        </p:nvSpPr>
        <p:spPr bwMode="gray">
          <a:xfrm>
            <a:off x="6198277" y="2823610"/>
            <a:ext cx="211148"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22" normalizeH="0" baseline="0" noProof="0">
                <a:ln>
                  <a:noFill/>
                </a:ln>
                <a:solidFill>
                  <a:prstClr val="white"/>
                </a:solidFill>
                <a:effectLst/>
                <a:uLnTx/>
                <a:uFillTx/>
                <a:latin typeface="Calibri" panose="020F0502020204030204" pitchFamily="34" charset="0"/>
                <a:ea typeface="+mn-ea"/>
                <a:cs typeface="+mn-cs"/>
              </a:rPr>
              <a:t>Oct</a:t>
            </a:r>
          </a:p>
        </p:txBody>
      </p:sp>
      <p:sp>
        <p:nvSpPr>
          <p:cNvPr id="117" name="OTLSHAPE_TB_00000000000000000000000000000000_TimescaleInterval5">
            <a:extLst>
              <a:ext uri="{FF2B5EF4-FFF2-40B4-BE49-F238E27FC236}">
                <a16:creationId xmlns:a16="http://schemas.microsoft.com/office/drawing/2014/main" id="{13CB47AE-E91A-E588-F025-4DF69AA6C91F}"/>
              </a:ext>
            </a:extLst>
          </p:cNvPr>
          <p:cNvSpPr txBox="1"/>
          <p:nvPr>
            <p:custDataLst>
              <p:tags r:id="rId30"/>
            </p:custDataLst>
          </p:nvPr>
        </p:nvSpPr>
        <p:spPr bwMode="gray">
          <a:xfrm>
            <a:off x="7985162" y="2823610"/>
            <a:ext cx="249364"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rPr>
              <a:t>Nov</a:t>
            </a:r>
          </a:p>
        </p:txBody>
      </p:sp>
      <p:sp>
        <p:nvSpPr>
          <p:cNvPr id="119" name="OTLSHAPE_TB_00000000000000000000000000000000_TimescaleInterval6">
            <a:extLst>
              <a:ext uri="{FF2B5EF4-FFF2-40B4-BE49-F238E27FC236}">
                <a16:creationId xmlns:a16="http://schemas.microsoft.com/office/drawing/2014/main" id="{A3572E8E-EC33-762E-13E3-5DCA3F146C87}"/>
              </a:ext>
            </a:extLst>
          </p:cNvPr>
          <p:cNvSpPr txBox="1"/>
          <p:nvPr>
            <p:custDataLst>
              <p:tags r:id="rId31"/>
            </p:custDataLst>
          </p:nvPr>
        </p:nvSpPr>
        <p:spPr bwMode="gray">
          <a:xfrm>
            <a:off x="9714405" y="2823610"/>
            <a:ext cx="237244"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22" normalizeH="0" baseline="0" noProof="0">
                <a:ln>
                  <a:noFill/>
                </a:ln>
                <a:solidFill>
                  <a:prstClr val="white"/>
                </a:solidFill>
                <a:effectLst/>
                <a:uLnTx/>
                <a:uFillTx/>
                <a:latin typeface="Calibri" panose="020F0502020204030204" pitchFamily="34" charset="0"/>
                <a:ea typeface="+mn-ea"/>
                <a:cs typeface="+mn-cs"/>
              </a:rPr>
              <a:t>Dec</a:t>
            </a:r>
          </a:p>
        </p:txBody>
      </p:sp>
      <p:cxnSp>
        <p:nvCxnSpPr>
          <p:cNvPr id="11" name="OTLSHAPE_TB_00000000000000000000000000000000_Separator1">
            <a:extLst>
              <a:ext uri="{FF2B5EF4-FFF2-40B4-BE49-F238E27FC236}">
                <a16:creationId xmlns:a16="http://schemas.microsoft.com/office/drawing/2014/main" id="{6BA21053-5EB4-0D66-E893-9307BD6F5653}"/>
              </a:ext>
            </a:extLst>
          </p:cNvPr>
          <p:cNvCxnSpPr/>
          <p:nvPr>
            <p:custDataLst>
              <p:tags r:id="rId32"/>
            </p:custDataLst>
          </p:nvPr>
        </p:nvCxnSpPr>
        <p:spPr bwMode="gray">
          <a:xfrm>
            <a:off x="2631349" y="2815037"/>
            <a:ext cx="0" cy="203200"/>
          </a:xfrm>
          <a:prstGeom prst="line">
            <a:avLst/>
          </a:prstGeom>
          <a:ln w="762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OTLSHAPE_TB_00000000000000000000000000000000_Separator2">
            <a:extLst>
              <a:ext uri="{FF2B5EF4-FFF2-40B4-BE49-F238E27FC236}">
                <a16:creationId xmlns:a16="http://schemas.microsoft.com/office/drawing/2014/main" id="{75FE165F-D69D-8E04-A23D-09621A9B610F}"/>
              </a:ext>
            </a:extLst>
          </p:cNvPr>
          <p:cNvCxnSpPr/>
          <p:nvPr>
            <p:custDataLst>
              <p:tags r:id="rId33"/>
            </p:custDataLst>
          </p:nvPr>
        </p:nvCxnSpPr>
        <p:spPr bwMode="gray">
          <a:xfrm>
            <a:off x="4418234" y="2815037"/>
            <a:ext cx="0" cy="203200"/>
          </a:xfrm>
          <a:prstGeom prst="line">
            <a:avLst/>
          </a:prstGeom>
          <a:ln w="762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4" name="OTLSHAPE_TB_00000000000000000000000000000000_Separator3">
            <a:extLst>
              <a:ext uri="{FF2B5EF4-FFF2-40B4-BE49-F238E27FC236}">
                <a16:creationId xmlns:a16="http://schemas.microsoft.com/office/drawing/2014/main" id="{DF6B5E2A-2D14-5834-B342-1B324C346DBA}"/>
              </a:ext>
            </a:extLst>
          </p:cNvPr>
          <p:cNvCxnSpPr/>
          <p:nvPr>
            <p:custDataLst>
              <p:tags r:id="rId34"/>
            </p:custDataLst>
          </p:nvPr>
        </p:nvCxnSpPr>
        <p:spPr bwMode="gray">
          <a:xfrm>
            <a:off x="6147477" y="2815037"/>
            <a:ext cx="0" cy="203200"/>
          </a:xfrm>
          <a:prstGeom prst="line">
            <a:avLst/>
          </a:prstGeom>
          <a:ln w="762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6" name="OTLSHAPE_TB_00000000000000000000000000000000_Separator4">
            <a:extLst>
              <a:ext uri="{FF2B5EF4-FFF2-40B4-BE49-F238E27FC236}">
                <a16:creationId xmlns:a16="http://schemas.microsoft.com/office/drawing/2014/main" id="{71836C98-35D7-3339-5719-03716C13AA68}"/>
              </a:ext>
            </a:extLst>
          </p:cNvPr>
          <p:cNvCxnSpPr/>
          <p:nvPr>
            <p:custDataLst>
              <p:tags r:id="rId35"/>
            </p:custDataLst>
          </p:nvPr>
        </p:nvCxnSpPr>
        <p:spPr bwMode="gray">
          <a:xfrm>
            <a:off x="7934361" y="2815037"/>
            <a:ext cx="0" cy="203200"/>
          </a:xfrm>
          <a:prstGeom prst="line">
            <a:avLst/>
          </a:prstGeom>
          <a:ln w="762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8" name="OTLSHAPE_TB_00000000000000000000000000000000_Separator5">
            <a:extLst>
              <a:ext uri="{FF2B5EF4-FFF2-40B4-BE49-F238E27FC236}">
                <a16:creationId xmlns:a16="http://schemas.microsoft.com/office/drawing/2014/main" id="{471F7864-345F-0B1E-BF2C-A33593125E9A}"/>
              </a:ext>
            </a:extLst>
          </p:cNvPr>
          <p:cNvCxnSpPr/>
          <p:nvPr>
            <p:custDataLst>
              <p:tags r:id="rId36"/>
            </p:custDataLst>
          </p:nvPr>
        </p:nvCxnSpPr>
        <p:spPr bwMode="gray">
          <a:xfrm>
            <a:off x="9663605" y="2815037"/>
            <a:ext cx="0" cy="203200"/>
          </a:xfrm>
          <a:prstGeom prst="line">
            <a:avLst/>
          </a:prstGeom>
          <a:ln w="762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5" name="OTLSHAPE_T_71ebd99c3b90472682cc99ad192fe685_Shape">
            <a:extLst>
              <a:ext uri="{FF2B5EF4-FFF2-40B4-BE49-F238E27FC236}">
                <a16:creationId xmlns:a16="http://schemas.microsoft.com/office/drawing/2014/main" id="{D5D759C5-EBD9-0551-9F47-4F63361DEC3F}"/>
              </a:ext>
            </a:extLst>
          </p:cNvPr>
          <p:cNvSpPr/>
          <p:nvPr>
            <p:custDataLst>
              <p:tags r:id="rId37"/>
            </p:custDataLst>
          </p:nvPr>
        </p:nvSpPr>
        <p:spPr bwMode="gray">
          <a:xfrm>
            <a:off x="7300266" y="4953040"/>
            <a:ext cx="520700" cy="203200"/>
          </a:xfrm>
          <a:prstGeom prst="homePlate">
            <a:avLst/>
          </a:prstGeom>
          <a:solidFill>
            <a:srgbClr val="AD0101"/>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11" name="OTLSHAPE_T_ec4775a7a9b54a3cb308b944bded2ee6_Shape">
            <a:extLst>
              <a:ext uri="{FF2B5EF4-FFF2-40B4-BE49-F238E27FC236}">
                <a16:creationId xmlns:a16="http://schemas.microsoft.com/office/drawing/2014/main" id="{D6B27521-DD6C-9318-74EF-E3D976813C5A}"/>
              </a:ext>
            </a:extLst>
          </p:cNvPr>
          <p:cNvSpPr/>
          <p:nvPr>
            <p:custDataLst>
              <p:tags r:id="rId38"/>
            </p:custDataLst>
          </p:nvPr>
        </p:nvSpPr>
        <p:spPr bwMode="gray">
          <a:xfrm>
            <a:off x="7300266" y="5359270"/>
            <a:ext cx="520700" cy="203200"/>
          </a:xfrm>
          <a:prstGeom prst="homePlate">
            <a:avLst/>
          </a:prstGeom>
          <a:solidFill>
            <a:srgbClr val="AD0101"/>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20" name="OTLSHAPE_T_4c113f7cf57c4a33841d7ca129b0b95e_Shape">
            <a:extLst>
              <a:ext uri="{FF2B5EF4-FFF2-40B4-BE49-F238E27FC236}">
                <a16:creationId xmlns:a16="http://schemas.microsoft.com/office/drawing/2014/main" id="{069B19EB-8F7E-8087-B174-7E6A40F098E6}"/>
              </a:ext>
            </a:extLst>
          </p:cNvPr>
          <p:cNvSpPr/>
          <p:nvPr>
            <p:custDataLst>
              <p:tags r:id="rId39"/>
            </p:custDataLst>
          </p:nvPr>
        </p:nvSpPr>
        <p:spPr bwMode="gray">
          <a:xfrm>
            <a:off x="9721207" y="5765501"/>
            <a:ext cx="1155700" cy="203200"/>
          </a:xfrm>
          <a:prstGeom prst="homePlate">
            <a:avLst/>
          </a:prstGeom>
          <a:solidFill>
            <a:srgbClr val="AD0101"/>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96" name="OTLSHAPE_T_05e88fd7c06c430d82b8304234123beb_Shape">
            <a:extLst>
              <a:ext uri="{FF2B5EF4-FFF2-40B4-BE49-F238E27FC236}">
                <a16:creationId xmlns:a16="http://schemas.microsoft.com/office/drawing/2014/main" id="{3399F2CE-4F50-F268-B03A-556D32F88684}"/>
              </a:ext>
            </a:extLst>
          </p:cNvPr>
          <p:cNvSpPr/>
          <p:nvPr>
            <p:custDataLst>
              <p:tags r:id="rId40"/>
            </p:custDataLst>
          </p:nvPr>
        </p:nvSpPr>
        <p:spPr bwMode="gray">
          <a:xfrm>
            <a:off x="7300266" y="4546809"/>
            <a:ext cx="520700" cy="203200"/>
          </a:xfrm>
          <a:prstGeom prst="homePlate">
            <a:avLst/>
          </a:prstGeom>
          <a:solidFill>
            <a:srgbClr val="AD0101"/>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30" name="OTLSHAPE_T_bf111ccaf3344795b34e29980e8a5408_Shape">
            <a:extLst>
              <a:ext uri="{FF2B5EF4-FFF2-40B4-BE49-F238E27FC236}">
                <a16:creationId xmlns:a16="http://schemas.microsoft.com/office/drawing/2014/main" id="{E04886B7-9F53-DA07-49BF-CAB4592A31C8}"/>
              </a:ext>
            </a:extLst>
          </p:cNvPr>
          <p:cNvSpPr/>
          <p:nvPr>
            <p:custDataLst>
              <p:tags r:id="rId41"/>
            </p:custDataLst>
          </p:nvPr>
        </p:nvSpPr>
        <p:spPr bwMode="gray">
          <a:xfrm>
            <a:off x="5398099" y="862116"/>
            <a:ext cx="1447800" cy="203200"/>
          </a:xfrm>
          <a:prstGeom prst="rect">
            <a:avLst/>
          </a:prstGeom>
          <a:solidFill>
            <a:srgbClr val="0065B8"/>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69" name="OTLSHAPE_T_1f3c26b0db574a0890a4869859883f55_Shape">
            <a:extLst>
              <a:ext uri="{FF2B5EF4-FFF2-40B4-BE49-F238E27FC236}">
                <a16:creationId xmlns:a16="http://schemas.microsoft.com/office/drawing/2014/main" id="{56B2D789-EE53-E76A-FC31-B7376DAC7D4F}"/>
              </a:ext>
            </a:extLst>
          </p:cNvPr>
          <p:cNvSpPr/>
          <p:nvPr>
            <p:custDataLst>
              <p:tags r:id="rId42"/>
            </p:custDataLst>
          </p:nvPr>
        </p:nvSpPr>
        <p:spPr bwMode="gray">
          <a:xfrm>
            <a:off x="4014705" y="4140578"/>
            <a:ext cx="2133600" cy="203200"/>
          </a:xfrm>
          <a:prstGeom prst="rect">
            <a:avLst/>
          </a:prstGeom>
          <a:solidFill>
            <a:srgbClr val="00A746"/>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01" name="OTLSHAPE_T_71ebd99c3b90472682cc99ad192fe685_Title">
            <a:extLst>
              <a:ext uri="{FF2B5EF4-FFF2-40B4-BE49-F238E27FC236}">
                <a16:creationId xmlns:a16="http://schemas.microsoft.com/office/drawing/2014/main" id="{D03406FC-1048-2FF6-6A55-D45524BEEC8D}"/>
              </a:ext>
            </a:extLst>
          </p:cNvPr>
          <p:cNvSpPr txBox="1"/>
          <p:nvPr>
            <p:custDataLst>
              <p:tags r:id="rId43"/>
            </p:custDataLst>
          </p:nvPr>
        </p:nvSpPr>
        <p:spPr bwMode="gray">
          <a:xfrm>
            <a:off x="127000" y="4977127"/>
            <a:ext cx="8128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CN Submission </a:t>
            </a:r>
          </a:p>
        </p:txBody>
      </p:sp>
      <p:sp>
        <p:nvSpPr>
          <p:cNvPr id="202" name="OTLSHAPE_T_71ebd99c3b90472682cc99ad192fe685_JoinedDate">
            <a:extLst>
              <a:ext uri="{FF2B5EF4-FFF2-40B4-BE49-F238E27FC236}">
                <a16:creationId xmlns:a16="http://schemas.microsoft.com/office/drawing/2014/main" id="{FF36FABE-7591-1C45-3247-BBE74FCF7124}"/>
              </a:ext>
            </a:extLst>
          </p:cNvPr>
          <p:cNvSpPr txBox="1"/>
          <p:nvPr>
            <p:custDataLst>
              <p:tags r:id="rId44"/>
            </p:custDataLst>
          </p:nvPr>
        </p:nvSpPr>
        <p:spPr bwMode="gray">
          <a:xfrm>
            <a:off x="7300266" y="4813509"/>
            <a:ext cx="698500" cy="139531"/>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Oct 20 - Oct 29</a:t>
            </a:r>
          </a:p>
        </p:txBody>
      </p:sp>
      <p:sp>
        <p:nvSpPr>
          <p:cNvPr id="203" name="OTLSHAPE_T_71ebd99c3b90472682cc99ad192fe685_Duration">
            <a:extLst>
              <a:ext uri="{FF2B5EF4-FFF2-40B4-BE49-F238E27FC236}">
                <a16:creationId xmlns:a16="http://schemas.microsoft.com/office/drawing/2014/main" id="{682A423E-88AA-B010-3DE7-40DF1DA63B50}"/>
              </a:ext>
            </a:extLst>
          </p:cNvPr>
          <p:cNvSpPr txBox="1"/>
          <p:nvPr>
            <p:custDataLst>
              <p:tags r:id="rId45"/>
            </p:custDataLst>
          </p:nvPr>
        </p:nvSpPr>
        <p:spPr bwMode="gray">
          <a:xfrm>
            <a:off x="7397538" y="4936714"/>
            <a:ext cx="330200" cy="195438"/>
          </a:xfrm>
          <a:prstGeom prst="rect">
            <a:avLst/>
          </a:prstGeom>
          <a:noFill/>
        </p:spPr>
        <p:txBody>
          <a:bodyPr vert="horz" wrap="square" lIns="0" tIns="0" rIns="0" bIns="0" rtlCol="0" anchor="b"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1000" b="0" i="0" u="none" strike="noStrike" kern="1200" cap="none" spc="-8" normalizeH="0" baseline="0" noProof="0">
                <a:ln>
                  <a:noFill/>
                </a:ln>
                <a:solidFill>
                  <a:prstClr val="black"/>
                </a:solidFill>
                <a:effectLst/>
                <a:uLnTx/>
                <a:uFillTx/>
                <a:latin typeface="Calibri" panose="020F0502020204030204" pitchFamily="34" charset="0"/>
                <a:ea typeface="+mn-ea"/>
                <a:cs typeface="+mn-cs"/>
              </a:rPr>
              <a:t>9 days</a:t>
            </a:r>
          </a:p>
        </p:txBody>
      </p:sp>
      <p:sp>
        <p:nvSpPr>
          <p:cNvPr id="217" name="OTLSHAPE_T_ec4775a7a9b54a3cb308b944bded2ee6_JoinedDate">
            <a:extLst>
              <a:ext uri="{FF2B5EF4-FFF2-40B4-BE49-F238E27FC236}">
                <a16:creationId xmlns:a16="http://schemas.microsoft.com/office/drawing/2014/main" id="{715AAAD8-E1AD-4C01-F931-A8108F7802B5}"/>
              </a:ext>
            </a:extLst>
          </p:cNvPr>
          <p:cNvSpPr txBox="1"/>
          <p:nvPr>
            <p:custDataLst>
              <p:tags r:id="rId46"/>
            </p:custDataLst>
          </p:nvPr>
        </p:nvSpPr>
        <p:spPr bwMode="gray">
          <a:xfrm>
            <a:off x="7300266" y="5219740"/>
            <a:ext cx="698500" cy="139531"/>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Oct 20 - Oct 29</a:t>
            </a:r>
          </a:p>
        </p:txBody>
      </p:sp>
      <p:sp>
        <p:nvSpPr>
          <p:cNvPr id="218" name="OTLSHAPE_T_ec4775a7a9b54a3cb308b944bded2ee6_Duration">
            <a:extLst>
              <a:ext uri="{FF2B5EF4-FFF2-40B4-BE49-F238E27FC236}">
                <a16:creationId xmlns:a16="http://schemas.microsoft.com/office/drawing/2014/main" id="{39102937-B252-F07D-15DB-82CA16CAD2CA}"/>
              </a:ext>
            </a:extLst>
          </p:cNvPr>
          <p:cNvSpPr txBox="1"/>
          <p:nvPr>
            <p:custDataLst>
              <p:tags r:id="rId47"/>
            </p:custDataLst>
          </p:nvPr>
        </p:nvSpPr>
        <p:spPr bwMode="gray">
          <a:xfrm>
            <a:off x="7397538" y="5342945"/>
            <a:ext cx="330200" cy="195438"/>
          </a:xfrm>
          <a:prstGeom prst="rect">
            <a:avLst/>
          </a:prstGeom>
          <a:noFill/>
        </p:spPr>
        <p:txBody>
          <a:bodyPr vert="horz" wrap="square" lIns="0" tIns="0" rIns="0" bIns="0" rtlCol="0" anchor="b"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1000" b="0" i="0" u="none" strike="noStrike" kern="1200" cap="none" spc="-8" normalizeH="0" baseline="0" noProof="0">
                <a:ln>
                  <a:noFill/>
                </a:ln>
                <a:solidFill>
                  <a:prstClr val="black"/>
                </a:solidFill>
                <a:effectLst/>
                <a:uLnTx/>
                <a:uFillTx/>
                <a:latin typeface="Calibri" panose="020F0502020204030204" pitchFamily="34" charset="0"/>
                <a:ea typeface="+mn-ea"/>
                <a:cs typeface="+mn-cs"/>
              </a:rPr>
              <a:t>9 days</a:t>
            </a:r>
          </a:p>
        </p:txBody>
      </p:sp>
      <p:sp>
        <p:nvSpPr>
          <p:cNvPr id="219" name="OTLSHAPE_T_ec4775a7a9b54a3cb308b944bded2ee6_Title">
            <a:extLst>
              <a:ext uri="{FF2B5EF4-FFF2-40B4-BE49-F238E27FC236}">
                <a16:creationId xmlns:a16="http://schemas.microsoft.com/office/drawing/2014/main" id="{5A9F6593-FFB8-9344-A584-2CCFF56C541E}"/>
              </a:ext>
            </a:extLst>
          </p:cNvPr>
          <p:cNvSpPr txBox="1"/>
          <p:nvPr>
            <p:custDataLst>
              <p:tags r:id="rId48"/>
            </p:custDataLst>
          </p:nvPr>
        </p:nvSpPr>
        <p:spPr bwMode="gray">
          <a:xfrm>
            <a:off x="127000" y="5383358"/>
            <a:ext cx="8128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EU Submission </a:t>
            </a:r>
          </a:p>
        </p:txBody>
      </p:sp>
      <p:sp>
        <p:nvSpPr>
          <p:cNvPr id="226" name="OTLSHAPE_T_4c113f7cf57c4a33841d7ca129b0b95e_JoinedDate">
            <a:extLst>
              <a:ext uri="{FF2B5EF4-FFF2-40B4-BE49-F238E27FC236}">
                <a16:creationId xmlns:a16="http://schemas.microsoft.com/office/drawing/2014/main" id="{6BC5FC8F-18F7-1C7F-53CA-6F6943180897}"/>
              </a:ext>
            </a:extLst>
          </p:cNvPr>
          <p:cNvSpPr txBox="1"/>
          <p:nvPr>
            <p:custDataLst>
              <p:tags r:id="rId49"/>
            </p:custDataLst>
          </p:nvPr>
        </p:nvSpPr>
        <p:spPr bwMode="gray">
          <a:xfrm>
            <a:off x="9721207" y="5625970"/>
            <a:ext cx="673100" cy="139531"/>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Dec 1 - Dec 21</a:t>
            </a:r>
          </a:p>
        </p:txBody>
      </p:sp>
      <p:sp>
        <p:nvSpPr>
          <p:cNvPr id="227" name="OTLSHAPE_T_4c113f7cf57c4a33841d7ca129b0b95e_Duration">
            <a:extLst>
              <a:ext uri="{FF2B5EF4-FFF2-40B4-BE49-F238E27FC236}">
                <a16:creationId xmlns:a16="http://schemas.microsoft.com/office/drawing/2014/main" id="{FC7FBBF6-BFA7-2414-7DAC-7781821929F4}"/>
              </a:ext>
            </a:extLst>
          </p:cNvPr>
          <p:cNvSpPr txBox="1"/>
          <p:nvPr>
            <p:custDataLst>
              <p:tags r:id="rId50"/>
            </p:custDataLst>
          </p:nvPr>
        </p:nvSpPr>
        <p:spPr bwMode="gray">
          <a:xfrm>
            <a:off x="10924835" y="5789589"/>
            <a:ext cx="393700" cy="15502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00" b="0" i="0" u="none" strike="noStrike" kern="1200" cap="none" spc="-8" normalizeH="0" baseline="0" noProof="0">
                <a:ln>
                  <a:noFill/>
                </a:ln>
                <a:solidFill>
                  <a:prstClr val="black"/>
                </a:solidFill>
                <a:effectLst/>
                <a:uLnTx/>
                <a:uFillTx/>
                <a:latin typeface="Calibri" panose="020F0502020204030204" pitchFamily="34" charset="0"/>
                <a:ea typeface="+mn-ea"/>
                <a:cs typeface="+mn-cs"/>
              </a:rPr>
              <a:t>20 days</a:t>
            </a:r>
          </a:p>
        </p:txBody>
      </p:sp>
      <p:sp>
        <p:nvSpPr>
          <p:cNvPr id="228" name="OTLSHAPE_T_4c113f7cf57c4a33841d7ca129b0b95e_Title">
            <a:extLst>
              <a:ext uri="{FF2B5EF4-FFF2-40B4-BE49-F238E27FC236}">
                <a16:creationId xmlns:a16="http://schemas.microsoft.com/office/drawing/2014/main" id="{BE8A453E-84FF-FD72-4051-B56B1E36D7DB}"/>
              </a:ext>
            </a:extLst>
          </p:cNvPr>
          <p:cNvSpPr txBox="1"/>
          <p:nvPr>
            <p:custDataLst>
              <p:tags r:id="rId51"/>
            </p:custDataLst>
          </p:nvPr>
        </p:nvSpPr>
        <p:spPr bwMode="gray">
          <a:xfrm>
            <a:off x="9914187" y="5789589"/>
            <a:ext cx="774700" cy="155025"/>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4" normalizeH="0" baseline="0" noProof="0">
                <a:ln>
                  <a:noFill/>
                </a:ln>
                <a:solidFill>
                  <a:srgbClr val="E8E8E8"/>
                </a:solidFill>
                <a:effectLst/>
                <a:uLnTx/>
                <a:uFillTx/>
                <a:latin typeface="Calibri" panose="020F0502020204030204" pitchFamily="34" charset="0"/>
                <a:ea typeface="+mn-ea"/>
                <a:cs typeface="+mn-cs"/>
              </a:rPr>
              <a:t>JP Submission </a:t>
            </a:r>
          </a:p>
        </p:txBody>
      </p:sp>
      <p:sp>
        <p:nvSpPr>
          <p:cNvPr id="302" name="OTLSHAPE_T_05e88fd7c06c430d82b8304234123beb_JoinedDate">
            <a:extLst>
              <a:ext uri="{FF2B5EF4-FFF2-40B4-BE49-F238E27FC236}">
                <a16:creationId xmlns:a16="http://schemas.microsoft.com/office/drawing/2014/main" id="{4803A5C5-7A8B-648E-AD54-A8B4E15F988C}"/>
              </a:ext>
            </a:extLst>
          </p:cNvPr>
          <p:cNvSpPr txBox="1"/>
          <p:nvPr>
            <p:custDataLst>
              <p:tags r:id="rId52"/>
            </p:custDataLst>
          </p:nvPr>
        </p:nvSpPr>
        <p:spPr bwMode="gray">
          <a:xfrm>
            <a:off x="7300266" y="4407278"/>
            <a:ext cx="698500" cy="139531"/>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Oct 20 - Oct 29</a:t>
            </a:r>
          </a:p>
        </p:txBody>
      </p:sp>
      <p:sp>
        <p:nvSpPr>
          <p:cNvPr id="303" name="OTLSHAPE_T_05e88fd7c06c430d82b8304234123beb_Duration">
            <a:extLst>
              <a:ext uri="{FF2B5EF4-FFF2-40B4-BE49-F238E27FC236}">
                <a16:creationId xmlns:a16="http://schemas.microsoft.com/office/drawing/2014/main" id="{258A2DCE-2055-7BFC-3B75-800B3A78E9EA}"/>
              </a:ext>
            </a:extLst>
          </p:cNvPr>
          <p:cNvSpPr txBox="1"/>
          <p:nvPr>
            <p:custDataLst>
              <p:tags r:id="rId53"/>
            </p:custDataLst>
          </p:nvPr>
        </p:nvSpPr>
        <p:spPr bwMode="gray">
          <a:xfrm>
            <a:off x="7397538" y="4530484"/>
            <a:ext cx="330200" cy="195438"/>
          </a:xfrm>
          <a:prstGeom prst="rect">
            <a:avLst/>
          </a:prstGeom>
          <a:noFill/>
        </p:spPr>
        <p:txBody>
          <a:bodyPr vert="horz" wrap="square" lIns="0" tIns="0" rIns="0" bIns="0" rtlCol="0" anchor="b"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1000" b="0" i="0" u="none" strike="noStrike" kern="1200" cap="none" spc="-8" normalizeH="0" baseline="0" noProof="0">
                <a:ln>
                  <a:noFill/>
                </a:ln>
                <a:solidFill>
                  <a:prstClr val="black"/>
                </a:solidFill>
                <a:effectLst/>
                <a:uLnTx/>
                <a:uFillTx/>
                <a:latin typeface="Calibri" panose="020F0502020204030204" pitchFamily="34" charset="0"/>
                <a:ea typeface="+mn-ea"/>
                <a:cs typeface="+mn-cs"/>
              </a:rPr>
              <a:t>9 days</a:t>
            </a:r>
          </a:p>
        </p:txBody>
      </p:sp>
      <p:sp>
        <p:nvSpPr>
          <p:cNvPr id="304" name="OTLSHAPE_T_05e88fd7c06c430d82b8304234123beb_Title">
            <a:extLst>
              <a:ext uri="{FF2B5EF4-FFF2-40B4-BE49-F238E27FC236}">
                <a16:creationId xmlns:a16="http://schemas.microsoft.com/office/drawing/2014/main" id="{8CB0F915-3971-D6CA-A455-C00A85E960DF}"/>
              </a:ext>
            </a:extLst>
          </p:cNvPr>
          <p:cNvSpPr txBox="1"/>
          <p:nvPr>
            <p:custDataLst>
              <p:tags r:id="rId54"/>
            </p:custDataLst>
          </p:nvPr>
        </p:nvSpPr>
        <p:spPr bwMode="gray">
          <a:xfrm>
            <a:off x="127000" y="4570897"/>
            <a:ext cx="9144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USA Submission  </a:t>
            </a:r>
          </a:p>
        </p:txBody>
      </p:sp>
      <p:sp>
        <p:nvSpPr>
          <p:cNvPr id="336" name="OTLSHAPE_T_bf111ccaf3344795b34e29980e8a5408_JoinedDate">
            <a:extLst>
              <a:ext uri="{FF2B5EF4-FFF2-40B4-BE49-F238E27FC236}">
                <a16:creationId xmlns:a16="http://schemas.microsoft.com/office/drawing/2014/main" id="{B0EFAC48-0691-C016-6B9F-8EC0CD01CCC3}"/>
              </a:ext>
            </a:extLst>
          </p:cNvPr>
          <p:cNvSpPr txBox="1"/>
          <p:nvPr>
            <p:custDataLst>
              <p:tags r:id="rId55"/>
            </p:custDataLst>
          </p:nvPr>
        </p:nvSpPr>
        <p:spPr bwMode="gray">
          <a:xfrm>
            <a:off x="5398099" y="722585"/>
            <a:ext cx="711200" cy="139531"/>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Sep 17 - Oct 12</a:t>
            </a:r>
          </a:p>
        </p:txBody>
      </p:sp>
      <p:sp>
        <p:nvSpPr>
          <p:cNvPr id="337" name="OTLSHAPE_T_bf111ccaf3344795b34e29980e8a5408_Duration">
            <a:extLst>
              <a:ext uri="{FF2B5EF4-FFF2-40B4-BE49-F238E27FC236}">
                <a16:creationId xmlns:a16="http://schemas.microsoft.com/office/drawing/2014/main" id="{BAA88275-DC2B-5343-B3D0-1F31412DF6F3}"/>
              </a:ext>
            </a:extLst>
          </p:cNvPr>
          <p:cNvSpPr txBox="1"/>
          <p:nvPr>
            <p:custDataLst>
              <p:tags r:id="rId56"/>
            </p:custDataLst>
          </p:nvPr>
        </p:nvSpPr>
        <p:spPr bwMode="gray">
          <a:xfrm>
            <a:off x="6889935" y="886203"/>
            <a:ext cx="393700" cy="15502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00" b="0" i="0" u="none" strike="noStrike" kern="1200" cap="none" spc="-8" normalizeH="0" baseline="0" noProof="0">
                <a:ln>
                  <a:noFill/>
                </a:ln>
                <a:solidFill>
                  <a:prstClr val="black"/>
                </a:solidFill>
                <a:effectLst/>
                <a:uLnTx/>
                <a:uFillTx/>
                <a:latin typeface="Calibri" panose="020F0502020204030204" pitchFamily="34" charset="0"/>
                <a:ea typeface="+mn-ea"/>
                <a:cs typeface="+mn-cs"/>
              </a:rPr>
              <a:t>25 days</a:t>
            </a:r>
          </a:p>
        </p:txBody>
      </p:sp>
      <p:sp>
        <p:nvSpPr>
          <p:cNvPr id="338" name="OTLSHAPE_T_bf111ccaf3344795b34e29980e8a5408_Title">
            <a:extLst>
              <a:ext uri="{FF2B5EF4-FFF2-40B4-BE49-F238E27FC236}">
                <a16:creationId xmlns:a16="http://schemas.microsoft.com/office/drawing/2014/main" id="{9B9C35A9-9D55-0527-514A-F934BEE07ADB}"/>
              </a:ext>
            </a:extLst>
          </p:cNvPr>
          <p:cNvSpPr txBox="1"/>
          <p:nvPr>
            <p:custDataLst>
              <p:tags r:id="rId57"/>
            </p:custDataLst>
          </p:nvPr>
        </p:nvSpPr>
        <p:spPr bwMode="gray">
          <a:xfrm>
            <a:off x="6042523" y="886203"/>
            <a:ext cx="152400" cy="155025"/>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10" normalizeH="0" baseline="0" noProof="0">
                <a:ln>
                  <a:noFill/>
                </a:ln>
                <a:solidFill>
                  <a:srgbClr val="E8E8E8"/>
                </a:solidFill>
                <a:effectLst/>
                <a:uLnTx/>
                <a:uFillTx/>
                <a:latin typeface="Calibri" panose="020F0502020204030204" pitchFamily="34" charset="0"/>
                <a:ea typeface="+mn-ea"/>
                <a:cs typeface="+mn-cs"/>
              </a:rPr>
              <a:t>CO</a:t>
            </a:r>
          </a:p>
        </p:txBody>
      </p:sp>
      <p:sp>
        <p:nvSpPr>
          <p:cNvPr id="375" name="OTLSHAPE_T_1f3c26b0db574a0890a4869859883f55_JoinedDate">
            <a:extLst>
              <a:ext uri="{FF2B5EF4-FFF2-40B4-BE49-F238E27FC236}">
                <a16:creationId xmlns:a16="http://schemas.microsoft.com/office/drawing/2014/main" id="{80E9C411-02FB-9ED5-D228-11BFA21DE6E8}"/>
              </a:ext>
            </a:extLst>
          </p:cNvPr>
          <p:cNvSpPr txBox="1"/>
          <p:nvPr>
            <p:custDataLst>
              <p:tags r:id="rId58"/>
            </p:custDataLst>
          </p:nvPr>
        </p:nvSpPr>
        <p:spPr bwMode="gray">
          <a:xfrm>
            <a:off x="4014705" y="4001048"/>
            <a:ext cx="723900" cy="139531"/>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Aug 24 - Sep 30</a:t>
            </a:r>
          </a:p>
        </p:txBody>
      </p:sp>
      <p:sp>
        <p:nvSpPr>
          <p:cNvPr id="376" name="OTLSHAPE_T_1f3c26b0db574a0890a4869859883f55_Duration">
            <a:extLst>
              <a:ext uri="{FF2B5EF4-FFF2-40B4-BE49-F238E27FC236}">
                <a16:creationId xmlns:a16="http://schemas.microsoft.com/office/drawing/2014/main" id="{66E072DF-6599-D94F-B2B7-40B49ABFEE64}"/>
              </a:ext>
            </a:extLst>
          </p:cNvPr>
          <p:cNvSpPr txBox="1"/>
          <p:nvPr>
            <p:custDataLst>
              <p:tags r:id="rId59"/>
            </p:custDataLst>
          </p:nvPr>
        </p:nvSpPr>
        <p:spPr bwMode="gray">
          <a:xfrm>
            <a:off x="6198238" y="4164666"/>
            <a:ext cx="393700" cy="15502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00" b="0" i="0" u="none" strike="noStrike" kern="1200" cap="none" spc="-8" normalizeH="0" baseline="0" noProof="0">
                <a:ln>
                  <a:noFill/>
                </a:ln>
                <a:solidFill>
                  <a:prstClr val="black"/>
                </a:solidFill>
                <a:effectLst/>
                <a:uLnTx/>
                <a:uFillTx/>
                <a:latin typeface="Calibri" panose="020F0502020204030204" pitchFamily="34" charset="0"/>
                <a:ea typeface="+mn-ea"/>
                <a:cs typeface="+mn-cs"/>
              </a:rPr>
              <a:t>37 days</a:t>
            </a:r>
          </a:p>
        </p:txBody>
      </p:sp>
      <p:sp>
        <p:nvSpPr>
          <p:cNvPr id="377" name="OTLSHAPE_T_1f3c26b0db574a0890a4869859883f55_Title">
            <a:extLst>
              <a:ext uri="{FF2B5EF4-FFF2-40B4-BE49-F238E27FC236}">
                <a16:creationId xmlns:a16="http://schemas.microsoft.com/office/drawing/2014/main" id="{6B7395AD-4E2B-3814-55F5-FA79E2656DC6}"/>
              </a:ext>
            </a:extLst>
          </p:cNvPr>
          <p:cNvSpPr txBox="1"/>
          <p:nvPr>
            <p:custDataLst>
              <p:tags r:id="rId60"/>
            </p:custDataLst>
          </p:nvPr>
        </p:nvSpPr>
        <p:spPr bwMode="gray">
          <a:xfrm>
            <a:off x="4979958" y="4164666"/>
            <a:ext cx="203200" cy="155025"/>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6" normalizeH="0" baseline="0" noProof="0">
                <a:ln>
                  <a:noFill/>
                </a:ln>
                <a:solidFill>
                  <a:srgbClr val="E8E8E8"/>
                </a:solidFill>
                <a:effectLst/>
                <a:uLnTx/>
                <a:uFillTx/>
                <a:latin typeface="Calibri" panose="020F0502020204030204" pitchFamily="34" charset="0"/>
                <a:ea typeface="+mn-ea"/>
                <a:cs typeface="+mn-cs"/>
              </a:rPr>
              <a:t>CTR</a:t>
            </a:r>
          </a:p>
        </p:txBody>
      </p:sp>
      <p:sp>
        <p:nvSpPr>
          <p:cNvPr id="38" name="OTLSHAPE_M_9264e1e25f62466b92a10a515539fa3b_Shape">
            <a:extLst>
              <a:ext uri="{FF2B5EF4-FFF2-40B4-BE49-F238E27FC236}">
                <a16:creationId xmlns:a16="http://schemas.microsoft.com/office/drawing/2014/main" id="{9CCEB5D5-BE74-3720-1E53-5CFC96D72FBA}"/>
              </a:ext>
            </a:extLst>
          </p:cNvPr>
          <p:cNvSpPr/>
          <p:nvPr>
            <p:custDataLst>
              <p:tags r:id="rId61"/>
            </p:custDataLst>
          </p:nvPr>
        </p:nvSpPr>
        <p:spPr bwMode="gray">
          <a:xfrm>
            <a:off x="787767" y="2599137"/>
            <a:ext cx="228600" cy="254000"/>
          </a:xfrm>
          <a:prstGeom prst="roundRect">
            <a:avLst/>
          </a:prstGeom>
          <a:solidFill>
            <a:srgbClr val="FFB708"/>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1" name="OTLSHAPE_M_21632b61796e4ebf885adb6ae777b708_Shape">
            <a:extLst>
              <a:ext uri="{FF2B5EF4-FFF2-40B4-BE49-F238E27FC236}">
                <a16:creationId xmlns:a16="http://schemas.microsoft.com/office/drawing/2014/main" id="{87EEA44F-1EAB-AD5F-A8FF-FBBD194AD313}"/>
              </a:ext>
            </a:extLst>
          </p:cNvPr>
          <p:cNvSpPr/>
          <p:nvPr>
            <p:custDataLst>
              <p:tags r:id="rId62"/>
            </p:custDataLst>
          </p:nvPr>
        </p:nvSpPr>
        <p:spPr bwMode="gray">
          <a:xfrm>
            <a:off x="2228803" y="2599137"/>
            <a:ext cx="228600" cy="254000"/>
          </a:xfrm>
          <a:prstGeom prst="roundRect">
            <a:avLst/>
          </a:prstGeom>
          <a:solidFill>
            <a:srgbClr val="FFB708"/>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3" name="OTLSHAPE_M_16da7faca78b4ead96c9a42d4a598990_Shape">
            <a:extLst>
              <a:ext uri="{FF2B5EF4-FFF2-40B4-BE49-F238E27FC236}">
                <a16:creationId xmlns:a16="http://schemas.microsoft.com/office/drawing/2014/main" id="{F6EC0FAA-82DB-66C1-07DC-5AB30B7A14A4}"/>
              </a:ext>
            </a:extLst>
          </p:cNvPr>
          <p:cNvSpPr/>
          <p:nvPr>
            <p:custDataLst>
              <p:tags r:id="rId63"/>
            </p:custDataLst>
          </p:nvPr>
        </p:nvSpPr>
        <p:spPr bwMode="gray">
          <a:xfrm>
            <a:off x="2805217" y="2599137"/>
            <a:ext cx="228600" cy="254000"/>
          </a:xfrm>
          <a:prstGeom prst="roundRect">
            <a:avLst/>
          </a:prstGeom>
          <a:solidFill>
            <a:srgbClr val="FFB708"/>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66" name="OTLSHAPE_M_a66dd2c476ff46d78720f9aea7a1b7f1_Shape">
            <a:extLst>
              <a:ext uri="{FF2B5EF4-FFF2-40B4-BE49-F238E27FC236}">
                <a16:creationId xmlns:a16="http://schemas.microsoft.com/office/drawing/2014/main" id="{CF0EEF24-6816-54E7-7693-EFED9DDCF1D4}"/>
              </a:ext>
            </a:extLst>
          </p:cNvPr>
          <p:cNvSpPr/>
          <p:nvPr>
            <p:custDataLst>
              <p:tags r:id="rId64"/>
            </p:custDataLst>
          </p:nvPr>
        </p:nvSpPr>
        <p:spPr bwMode="gray">
          <a:xfrm>
            <a:off x="6897760" y="2599137"/>
            <a:ext cx="228600" cy="254000"/>
          </a:xfrm>
          <a:prstGeom prst="star5">
            <a:avLst>
              <a:gd name="adj" fmla="val 25000"/>
              <a:gd name="hf" fmla="val 105146"/>
              <a:gd name="vf" fmla="val 110557"/>
            </a:avLst>
          </a:prstGeom>
          <a:solidFill>
            <a:srgbClr val="AD0101"/>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13" name="OTLSHAPE_M_9602e4327ff646369f8d50f690e4049f_Shape">
            <a:extLst>
              <a:ext uri="{FF2B5EF4-FFF2-40B4-BE49-F238E27FC236}">
                <a16:creationId xmlns:a16="http://schemas.microsoft.com/office/drawing/2014/main" id="{A7D3BAF7-41AF-7ADD-3B49-F04E357737A8}"/>
              </a:ext>
            </a:extLst>
          </p:cNvPr>
          <p:cNvSpPr/>
          <p:nvPr>
            <p:custDataLst>
              <p:tags r:id="rId65"/>
            </p:custDataLst>
          </p:nvPr>
        </p:nvSpPr>
        <p:spPr bwMode="gray">
          <a:xfrm>
            <a:off x="4765026" y="2980137"/>
            <a:ext cx="228600" cy="254000"/>
          </a:xfrm>
          <a:prstGeom prst="chevron">
            <a:avLst>
              <a:gd name="adj" fmla="val 30000"/>
            </a:avLst>
          </a:prstGeom>
          <a:solidFill>
            <a:srgbClr val="00A746"/>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16" name="OTLSHAPE_M_616aa08cb88345aaa6646a2366cb6a2c_Shape">
            <a:extLst>
              <a:ext uri="{FF2B5EF4-FFF2-40B4-BE49-F238E27FC236}">
                <a16:creationId xmlns:a16="http://schemas.microsoft.com/office/drawing/2014/main" id="{304C2966-760B-8F3C-20CC-F0942D7591C6}"/>
              </a:ext>
            </a:extLst>
          </p:cNvPr>
          <p:cNvSpPr/>
          <p:nvPr>
            <p:custDataLst>
              <p:tags r:id="rId66"/>
            </p:custDataLst>
          </p:nvPr>
        </p:nvSpPr>
        <p:spPr bwMode="gray">
          <a:xfrm>
            <a:off x="5514365" y="2980137"/>
            <a:ext cx="228600" cy="254000"/>
          </a:xfrm>
          <a:prstGeom prst="chevron">
            <a:avLst>
              <a:gd name="adj" fmla="val 30000"/>
            </a:avLst>
          </a:prstGeom>
          <a:solidFill>
            <a:srgbClr val="00A746"/>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19" name="OTLSHAPE_M_27d97be96eca4b1084f09393b565fd0d_Shape">
            <a:extLst>
              <a:ext uri="{FF2B5EF4-FFF2-40B4-BE49-F238E27FC236}">
                <a16:creationId xmlns:a16="http://schemas.microsoft.com/office/drawing/2014/main" id="{13E7FFE3-688B-7C45-8324-04BDCD086D97}"/>
              </a:ext>
            </a:extLst>
          </p:cNvPr>
          <p:cNvSpPr/>
          <p:nvPr>
            <p:custDataLst>
              <p:tags r:id="rId67"/>
            </p:custDataLst>
          </p:nvPr>
        </p:nvSpPr>
        <p:spPr bwMode="gray">
          <a:xfrm>
            <a:off x="6033138" y="2980137"/>
            <a:ext cx="228600" cy="254000"/>
          </a:xfrm>
          <a:prstGeom prst="chevron">
            <a:avLst>
              <a:gd name="adj" fmla="val 30000"/>
            </a:avLst>
          </a:prstGeom>
          <a:solidFill>
            <a:srgbClr val="00A746"/>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45" name="OTLSHAPE_M_5c436ae5169346048c6eba681fdda09e_Shape">
            <a:extLst>
              <a:ext uri="{FF2B5EF4-FFF2-40B4-BE49-F238E27FC236}">
                <a16:creationId xmlns:a16="http://schemas.microsoft.com/office/drawing/2014/main" id="{A7D0170E-69FC-D986-BD4B-3EE356B21BF8}"/>
              </a:ext>
            </a:extLst>
          </p:cNvPr>
          <p:cNvSpPr/>
          <p:nvPr>
            <p:custDataLst>
              <p:tags r:id="rId68"/>
            </p:custDataLst>
          </p:nvPr>
        </p:nvSpPr>
        <p:spPr bwMode="gray">
          <a:xfrm flipV="1">
            <a:off x="5283799" y="2599137"/>
            <a:ext cx="228600" cy="254000"/>
          </a:xfrm>
          <a:prstGeom prst="triangle">
            <a:avLst/>
          </a:prstGeom>
          <a:solidFill>
            <a:srgbClr val="0065B8"/>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48" name="OTLSHAPE_M_4ffc564ffce3497580664479dbc2991e_Shape">
            <a:extLst>
              <a:ext uri="{FF2B5EF4-FFF2-40B4-BE49-F238E27FC236}">
                <a16:creationId xmlns:a16="http://schemas.microsoft.com/office/drawing/2014/main" id="{A579A834-39BB-3362-A6F0-20F95643862F}"/>
              </a:ext>
            </a:extLst>
          </p:cNvPr>
          <p:cNvSpPr/>
          <p:nvPr>
            <p:custDataLst>
              <p:tags r:id="rId69"/>
            </p:custDataLst>
          </p:nvPr>
        </p:nvSpPr>
        <p:spPr bwMode="gray">
          <a:xfrm flipV="1">
            <a:off x="6090779" y="2599137"/>
            <a:ext cx="228600" cy="254000"/>
          </a:xfrm>
          <a:prstGeom prst="triangle">
            <a:avLst/>
          </a:prstGeom>
          <a:solidFill>
            <a:srgbClr val="0065B8"/>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51" name="OTLSHAPE_M_959e9d3e86ed4e75a03d61df33919727_Shape">
            <a:extLst>
              <a:ext uri="{FF2B5EF4-FFF2-40B4-BE49-F238E27FC236}">
                <a16:creationId xmlns:a16="http://schemas.microsoft.com/office/drawing/2014/main" id="{8D5EDE18-B025-4843-B331-72020F7516DA}"/>
              </a:ext>
            </a:extLst>
          </p:cNvPr>
          <p:cNvSpPr/>
          <p:nvPr>
            <p:custDataLst>
              <p:tags r:id="rId70"/>
            </p:custDataLst>
          </p:nvPr>
        </p:nvSpPr>
        <p:spPr bwMode="gray">
          <a:xfrm flipV="1">
            <a:off x="6724835" y="2599137"/>
            <a:ext cx="228600" cy="254000"/>
          </a:xfrm>
          <a:prstGeom prst="triangle">
            <a:avLst/>
          </a:prstGeom>
          <a:solidFill>
            <a:srgbClr val="0065B8"/>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68" name="OTLSHAPE_M_88e5000ed0d042ef9709d511f45b9639_Shape">
            <a:extLst>
              <a:ext uri="{FF2B5EF4-FFF2-40B4-BE49-F238E27FC236}">
                <a16:creationId xmlns:a16="http://schemas.microsoft.com/office/drawing/2014/main" id="{70BFEBAA-42B6-B01B-F63B-C7D261304315}"/>
              </a:ext>
            </a:extLst>
          </p:cNvPr>
          <p:cNvSpPr/>
          <p:nvPr>
            <p:custDataLst>
              <p:tags r:id="rId71"/>
            </p:custDataLst>
          </p:nvPr>
        </p:nvSpPr>
        <p:spPr bwMode="gray">
          <a:xfrm>
            <a:off x="3900405" y="2980137"/>
            <a:ext cx="228600" cy="254000"/>
          </a:xfrm>
          <a:prstGeom prst="chevron">
            <a:avLst>
              <a:gd name="adj" fmla="val 30000"/>
            </a:avLst>
          </a:prstGeom>
          <a:solidFill>
            <a:srgbClr val="00A746"/>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85" name="OTLSHAPE_M_751735472f274edb82d079afc8bad984_Shape">
            <a:extLst>
              <a:ext uri="{FF2B5EF4-FFF2-40B4-BE49-F238E27FC236}">
                <a16:creationId xmlns:a16="http://schemas.microsoft.com/office/drawing/2014/main" id="{3B18A584-4DC2-E1E7-C458-30838EA80520}"/>
              </a:ext>
            </a:extLst>
          </p:cNvPr>
          <p:cNvSpPr/>
          <p:nvPr>
            <p:custDataLst>
              <p:tags r:id="rId72"/>
            </p:custDataLst>
          </p:nvPr>
        </p:nvSpPr>
        <p:spPr bwMode="gray">
          <a:xfrm>
            <a:off x="6359445" y="2675337"/>
            <a:ext cx="152400" cy="177800"/>
          </a:xfrm>
          <a:prstGeom prst="roundRect">
            <a:avLst/>
          </a:prstGeom>
          <a:solidFill>
            <a:srgbClr val="652A96"/>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88" name="OTLSHAPE_M_39363e8a52d74eabbe595b5db6ba3d1d_Shape">
            <a:extLst>
              <a:ext uri="{FF2B5EF4-FFF2-40B4-BE49-F238E27FC236}">
                <a16:creationId xmlns:a16="http://schemas.microsoft.com/office/drawing/2014/main" id="{BAA7B40F-B69E-F580-4038-75C257A60173}"/>
              </a:ext>
            </a:extLst>
          </p:cNvPr>
          <p:cNvSpPr/>
          <p:nvPr>
            <p:custDataLst>
              <p:tags r:id="rId73"/>
            </p:custDataLst>
          </p:nvPr>
        </p:nvSpPr>
        <p:spPr bwMode="gray">
          <a:xfrm>
            <a:off x="6359445" y="2980137"/>
            <a:ext cx="152400" cy="177800"/>
          </a:xfrm>
          <a:prstGeom prst="roundRect">
            <a:avLst/>
          </a:prstGeom>
          <a:solidFill>
            <a:srgbClr val="0AA7EE"/>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6" name="OTLSHAPE_M_9264e1e25f62466b92a10a515539fa3b_Title">
            <a:extLst>
              <a:ext uri="{FF2B5EF4-FFF2-40B4-BE49-F238E27FC236}">
                <a16:creationId xmlns:a16="http://schemas.microsoft.com/office/drawing/2014/main" id="{1DBEA45C-1C56-3647-57FF-313C169E9A6E}"/>
              </a:ext>
            </a:extLst>
          </p:cNvPr>
          <p:cNvSpPr txBox="1"/>
          <p:nvPr>
            <p:custDataLst>
              <p:tags r:id="rId74"/>
            </p:custDataLst>
          </p:nvPr>
        </p:nvSpPr>
        <p:spPr bwMode="gray">
          <a:xfrm>
            <a:off x="798456" y="2279182"/>
            <a:ext cx="215900" cy="155025"/>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8" normalizeH="0" baseline="0" noProof="0">
                <a:ln>
                  <a:noFill/>
                </a:ln>
                <a:solidFill>
                  <a:prstClr val="black"/>
                </a:solidFill>
                <a:effectLst/>
                <a:uLnTx/>
                <a:uFillTx/>
                <a:latin typeface="Calibri" panose="020F0502020204030204" pitchFamily="34" charset="0"/>
                <a:ea typeface="+mn-ea"/>
                <a:cs typeface="+mn-cs"/>
              </a:rPr>
              <a:t>LPO</a:t>
            </a:r>
          </a:p>
        </p:txBody>
      </p:sp>
      <p:sp>
        <p:nvSpPr>
          <p:cNvPr id="37" name="OTLSHAPE_M_9264e1e25f62466b92a10a515539fa3b_Date">
            <a:extLst>
              <a:ext uri="{FF2B5EF4-FFF2-40B4-BE49-F238E27FC236}">
                <a16:creationId xmlns:a16="http://schemas.microsoft.com/office/drawing/2014/main" id="{D9C4A370-54C8-7770-A40A-BC4FCC473529}"/>
              </a:ext>
            </a:extLst>
          </p:cNvPr>
          <p:cNvSpPr txBox="1"/>
          <p:nvPr>
            <p:custDataLst>
              <p:tags r:id="rId75"/>
            </p:custDataLst>
          </p:nvPr>
        </p:nvSpPr>
        <p:spPr bwMode="gray">
          <a:xfrm>
            <a:off x="798816" y="2434206"/>
            <a:ext cx="215900" cy="139531"/>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9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Jul 1</a:t>
            </a:r>
          </a:p>
        </p:txBody>
      </p:sp>
      <p:sp>
        <p:nvSpPr>
          <p:cNvPr id="39" name="OTLSHAPE_M_21632b61796e4ebf885adb6ae777b708_Title">
            <a:extLst>
              <a:ext uri="{FF2B5EF4-FFF2-40B4-BE49-F238E27FC236}">
                <a16:creationId xmlns:a16="http://schemas.microsoft.com/office/drawing/2014/main" id="{FC471791-256D-CE59-DD59-09B4B63A919B}"/>
              </a:ext>
            </a:extLst>
          </p:cNvPr>
          <p:cNvSpPr txBox="1"/>
          <p:nvPr>
            <p:custDataLst>
              <p:tags r:id="rId76"/>
            </p:custDataLst>
          </p:nvPr>
        </p:nvSpPr>
        <p:spPr bwMode="gray">
          <a:xfrm>
            <a:off x="2240614" y="2279182"/>
            <a:ext cx="215900" cy="155025"/>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6" normalizeH="0" baseline="0" noProof="0">
                <a:ln>
                  <a:noFill/>
                </a:ln>
                <a:solidFill>
                  <a:prstClr val="black"/>
                </a:solidFill>
                <a:effectLst/>
                <a:uLnTx/>
                <a:uFillTx/>
                <a:latin typeface="Calibri" panose="020F0502020204030204" pitchFamily="34" charset="0"/>
                <a:ea typeface="+mn-ea"/>
                <a:cs typeface="+mn-cs"/>
              </a:rPr>
              <a:t>DBL</a:t>
            </a:r>
          </a:p>
        </p:txBody>
      </p:sp>
      <p:sp>
        <p:nvSpPr>
          <p:cNvPr id="40" name="OTLSHAPE_M_21632b61796e4ebf885adb6ae777b708_Date">
            <a:extLst>
              <a:ext uri="{FF2B5EF4-FFF2-40B4-BE49-F238E27FC236}">
                <a16:creationId xmlns:a16="http://schemas.microsoft.com/office/drawing/2014/main" id="{225104F6-DD3F-C8FD-43F1-8B563DA08A82}"/>
              </a:ext>
            </a:extLst>
          </p:cNvPr>
          <p:cNvSpPr txBox="1"/>
          <p:nvPr>
            <p:custDataLst>
              <p:tags r:id="rId77"/>
            </p:custDataLst>
          </p:nvPr>
        </p:nvSpPr>
        <p:spPr bwMode="gray">
          <a:xfrm>
            <a:off x="2210896" y="2434206"/>
            <a:ext cx="254000" cy="139531"/>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900" b="0" i="0" u="none" strike="noStrike" kern="1200" cap="none" spc="-14" normalizeH="0" baseline="0" noProof="0">
                <a:ln>
                  <a:noFill/>
                </a:ln>
                <a:solidFill>
                  <a:srgbClr val="44546A"/>
                </a:solidFill>
                <a:effectLst/>
                <a:uLnTx/>
                <a:uFillTx/>
                <a:latin typeface="Calibri" panose="020F0502020204030204" pitchFamily="34" charset="0"/>
                <a:ea typeface="+mn-ea"/>
                <a:cs typeface="+mn-cs"/>
              </a:rPr>
              <a:t>Jul 26</a:t>
            </a:r>
          </a:p>
        </p:txBody>
      </p:sp>
      <p:sp>
        <p:nvSpPr>
          <p:cNvPr id="51" name="OTLSHAPE_M_16da7faca78b4ead96c9a42d4a598990_Title">
            <a:extLst>
              <a:ext uri="{FF2B5EF4-FFF2-40B4-BE49-F238E27FC236}">
                <a16:creationId xmlns:a16="http://schemas.microsoft.com/office/drawing/2014/main" id="{2B4E9FA6-2AC6-FEA4-FD29-0CA64990381B}"/>
              </a:ext>
            </a:extLst>
          </p:cNvPr>
          <p:cNvSpPr txBox="1"/>
          <p:nvPr>
            <p:custDataLst>
              <p:tags r:id="rId78"/>
            </p:custDataLst>
          </p:nvPr>
        </p:nvSpPr>
        <p:spPr bwMode="gray">
          <a:xfrm>
            <a:off x="2596471" y="2279182"/>
            <a:ext cx="647700" cy="155025"/>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approx. TLR </a:t>
            </a:r>
          </a:p>
        </p:txBody>
      </p:sp>
      <p:sp>
        <p:nvSpPr>
          <p:cNvPr id="52" name="OTLSHAPE_M_16da7faca78b4ead96c9a42d4a598990_Date">
            <a:extLst>
              <a:ext uri="{FF2B5EF4-FFF2-40B4-BE49-F238E27FC236}">
                <a16:creationId xmlns:a16="http://schemas.microsoft.com/office/drawing/2014/main" id="{C5DCFDF3-3CCB-AE51-27DF-299D8538652D}"/>
              </a:ext>
            </a:extLst>
          </p:cNvPr>
          <p:cNvSpPr txBox="1"/>
          <p:nvPr>
            <p:custDataLst>
              <p:tags r:id="rId79"/>
            </p:custDataLst>
          </p:nvPr>
        </p:nvSpPr>
        <p:spPr bwMode="gray">
          <a:xfrm>
            <a:off x="2787649" y="2434206"/>
            <a:ext cx="266700" cy="139531"/>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9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Aug 5</a:t>
            </a:r>
          </a:p>
        </p:txBody>
      </p:sp>
      <p:sp>
        <p:nvSpPr>
          <p:cNvPr id="264" name="OTLSHAPE_M_a66dd2c476ff46d78720f9aea7a1b7f1_Title">
            <a:extLst>
              <a:ext uri="{FF2B5EF4-FFF2-40B4-BE49-F238E27FC236}">
                <a16:creationId xmlns:a16="http://schemas.microsoft.com/office/drawing/2014/main" id="{A6213698-AA47-D406-30C6-619873AA3E89}"/>
              </a:ext>
            </a:extLst>
          </p:cNvPr>
          <p:cNvSpPr txBox="1"/>
          <p:nvPr>
            <p:custDataLst>
              <p:tags r:id="rId80"/>
            </p:custDataLst>
          </p:nvPr>
        </p:nvSpPr>
        <p:spPr bwMode="gray">
          <a:xfrm>
            <a:off x="6556891" y="2279182"/>
            <a:ext cx="914400" cy="155025"/>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Start compilation</a:t>
            </a:r>
          </a:p>
        </p:txBody>
      </p:sp>
      <p:sp>
        <p:nvSpPr>
          <p:cNvPr id="265" name="OTLSHAPE_M_a66dd2c476ff46d78720f9aea7a1b7f1_Date">
            <a:extLst>
              <a:ext uri="{FF2B5EF4-FFF2-40B4-BE49-F238E27FC236}">
                <a16:creationId xmlns:a16="http://schemas.microsoft.com/office/drawing/2014/main" id="{A7D204A4-404F-DD98-247F-4A19390570A8}"/>
              </a:ext>
            </a:extLst>
          </p:cNvPr>
          <p:cNvSpPr txBox="1"/>
          <p:nvPr>
            <p:custDataLst>
              <p:tags r:id="rId81"/>
            </p:custDataLst>
          </p:nvPr>
        </p:nvSpPr>
        <p:spPr bwMode="gray">
          <a:xfrm>
            <a:off x="6860083" y="2434206"/>
            <a:ext cx="304800" cy="139531"/>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9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Oct 15</a:t>
            </a:r>
          </a:p>
        </p:txBody>
      </p:sp>
      <p:sp>
        <p:nvSpPr>
          <p:cNvPr id="311" name="OTLSHAPE_M_9602e4327ff646369f8d50f690e4049f_Title">
            <a:extLst>
              <a:ext uri="{FF2B5EF4-FFF2-40B4-BE49-F238E27FC236}">
                <a16:creationId xmlns:a16="http://schemas.microsoft.com/office/drawing/2014/main" id="{04D8553E-915B-E79E-3F1D-EB6B9643568E}"/>
              </a:ext>
            </a:extLst>
          </p:cNvPr>
          <p:cNvSpPr txBox="1"/>
          <p:nvPr>
            <p:custDataLst>
              <p:tags r:id="rId82"/>
            </p:custDataLst>
          </p:nvPr>
        </p:nvSpPr>
        <p:spPr bwMode="gray">
          <a:xfrm>
            <a:off x="4439483" y="3782523"/>
            <a:ext cx="889000" cy="155025"/>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6" normalizeH="0" baseline="0" noProof="0">
                <a:ln>
                  <a:noFill/>
                </a:ln>
                <a:solidFill>
                  <a:prstClr val="black"/>
                </a:solidFill>
                <a:effectLst/>
                <a:uLnTx/>
                <a:uFillTx/>
                <a:latin typeface="Calibri" panose="020F0502020204030204" pitchFamily="34" charset="0"/>
                <a:ea typeface="+mn-ea"/>
                <a:cs typeface="+mn-cs"/>
              </a:rPr>
              <a:t>CTR 1st draft out</a:t>
            </a:r>
          </a:p>
        </p:txBody>
      </p:sp>
      <p:sp>
        <p:nvSpPr>
          <p:cNvPr id="312" name="OTLSHAPE_M_9602e4327ff646369f8d50f690e4049f_Date">
            <a:extLst>
              <a:ext uri="{FF2B5EF4-FFF2-40B4-BE49-F238E27FC236}">
                <a16:creationId xmlns:a16="http://schemas.microsoft.com/office/drawing/2014/main" id="{32697775-DF57-164D-BE49-EFD073506239}"/>
              </a:ext>
            </a:extLst>
          </p:cNvPr>
          <p:cNvSpPr txBox="1"/>
          <p:nvPr>
            <p:custDataLst>
              <p:tags r:id="rId83"/>
            </p:custDataLst>
          </p:nvPr>
        </p:nvSpPr>
        <p:spPr bwMode="gray">
          <a:xfrm>
            <a:off x="4752728" y="3642992"/>
            <a:ext cx="254000" cy="139531"/>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9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Sep 8</a:t>
            </a:r>
          </a:p>
        </p:txBody>
      </p:sp>
      <p:sp>
        <p:nvSpPr>
          <p:cNvPr id="314" name="OTLSHAPE_M_616aa08cb88345aaa6646a2366cb6a2c_Title">
            <a:extLst>
              <a:ext uri="{FF2B5EF4-FFF2-40B4-BE49-F238E27FC236}">
                <a16:creationId xmlns:a16="http://schemas.microsoft.com/office/drawing/2014/main" id="{CE37B3B0-14D7-E53F-AA81-AE6E0B7B0FD9}"/>
              </a:ext>
            </a:extLst>
          </p:cNvPr>
          <p:cNvSpPr txBox="1"/>
          <p:nvPr>
            <p:custDataLst>
              <p:tags r:id="rId84"/>
            </p:custDataLst>
          </p:nvPr>
        </p:nvSpPr>
        <p:spPr bwMode="gray">
          <a:xfrm>
            <a:off x="5167295" y="3399068"/>
            <a:ext cx="927100" cy="155025"/>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CTR 2nd draft out</a:t>
            </a:r>
          </a:p>
        </p:txBody>
      </p:sp>
      <p:sp>
        <p:nvSpPr>
          <p:cNvPr id="315" name="OTLSHAPE_M_616aa08cb88345aaa6646a2366cb6a2c_Date">
            <a:extLst>
              <a:ext uri="{FF2B5EF4-FFF2-40B4-BE49-F238E27FC236}">
                <a16:creationId xmlns:a16="http://schemas.microsoft.com/office/drawing/2014/main" id="{462AA0AB-AD91-7AF6-3036-8425EB8AED4D}"/>
              </a:ext>
            </a:extLst>
          </p:cNvPr>
          <p:cNvSpPr txBox="1"/>
          <p:nvPr>
            <p:custDataLst>
              <p:tags r:id="rId85"/>
            </p:custDataLst>
          </p:nvPr>
        </p:nvSpPr>
        <p:spPr bwMode="gray">
          <a:xfrm>
            <a:off x="5473111" y="3259537"/>
            <a:ext cx="317500" cy="139531"/>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9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Sep 21</a:t>
            </a:r>
          </a:p>
        </p:txBody>
      </p:sp>
      <p:sp>
        <p:nvSpPr>
          <p:cNvPr id="317" name="OTLSHAPE_M_27d97be96eca4b1084f09393b565fd0d_Title">
            <a:extLst>
              <a:ext uri="{FF2B5EF4-FFF2-40B4-BE49-F238E27FC236}">
                <a16:creationId xmlns:a16="http://schemas.microsoft.com/office/drawing/2014/main" id="{690F97F2-2A57-ACF5-1BC2-C894D422088D}"/>
              </a:ext>
            </a:extLst>
          </p:cNvPr>
          <p:cNvSpPr txBox="1"/>
          <p:nvPr>
            <p:custDataLst>
              <p:tags r:id="rId86"/>
            </p:custDataLst>
          </p:nvPr>
        </p:nvSpPr>
        <p:spPr bwMode="gray">
          <a:xfrm>
            <a:off x="5698810" y="3782523"/>
            <a:ext cx="901700" cy="155025"/>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CTR content final</a:t>
            </a:r>
          </a:p>
        </p:txBody>
      </p:sp>
      <p:sp>
        <p:nvSpPr>
          <p:cNvPr id="318" name="OTLSHAPE_M_27d97be96eca4b1084f09393b565fd0d_Date">
            <a:extLst>
              <a:ext uri="{FF2B5EF4-FFF2-40B4-BE49-F238E27FC236}">
                <a16:creationId xmlns:a16="http://schemas.microsoft.com/office/drawing/2014/main" id="{67880AA3-0DC8-317F-D6D4-4992B550A141}"/>
              </a:ext>
            </a:extLst>
          </p:cNvPr>
          <p:cNvSpPr txBox="1"/>
          <p:nvPr>
            <p:custDataLst>
              <p:tags r:id="rId87"/>
            </p:custDataLst>
          </p:nvPr>
        </p:nvSpPr>
        <p:spPr bwMode="gray">
          <a:xfrm>
            <a:off x="5991884" y="3642992"/>
            <a:ext cx="317500" cy="139531"/>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9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Sep 30</a:t>
            </a:r>
          </a:p>
        </p:txBody>
      </p:sp>
      <p:sp>
        <p:nvSpPr>
          <p:cNvPr id="343" name="OTLSHAPE_M_5c436ae5169346048c6eba681fdda09e_Title">
            <a:extLst>
              <a:ext uri="{FF2B5EF4-FFF2-40B4-BE49-F238E27FC236}">
                <a16:creationId xmlns:a16="http://schemas.microsoft.com/office/drawing/2014/main" id="{0D620990-CFD9-A8B8-5B3F-F581CFC88D19}"/>
              </a:ext>
            </a:extLst>
          </p:cNvPr>
          <p:cNvSpPr txBox="1"/>
          <p:nvPr>
            <p:custDataLst>
              <p:tags r:id="rId88"/>
            </p:custDataLst>
          </p:nvPr>
        </p:nvSpPr>
        <p:spPr bwMode="gray">
          <a:xfrm>
            <a:off x="4968923" y="2279182"/>
            <a:ext cx="863600" cy="155025"/>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6" normalizeH="0" baseline="0" noProof="0">
                <a:ln>
                  <a:noFill/>
                </a:ln>
                <a:solidFill>
                  <a:prstClr val="black"/>
                </a:solidFill>
                <a:effectLst/>
                <a:uLnTx/>
                <a:uFillTx/>
                <a:latin typeface="Calibri" panose="020F0502020204030204" pitchFamily="34" charset="0"/>
                <a:ea typeface="+mn-ea"/>
                <a:cs typeface="+mn-cs"/>
              </a:rPr>
              <a:t>CO 1st draft out </a:t>
            </a:r>
          </a:p>
        </p:txBody>
      </p:sp>
      <p:sp>
        <p:nvSpPr>
          <p:cNvPr id="344" name="OTLSHAPE_M_5c436ae5169346048c6eba681fdda09e_Date">
            <a:extLst>
              <a:ext uri="{FF2B5EF4-FFF2-40B4-BE49-F238E27FC236}">
                <a16:creationId xmlns:a16="http://schemas.microsoft.com/office/drawing/2014/main" id="{77D2461F-BCF0-475A-3F54-8CAD8BEF7D6E}"/>
              </a:ext>
            </a:extLst>
          </p:cNvPr>
          <p:cNvSpPr txBox="1"/>
          <p:nvPr>
            <p:custDataLst>
              <p:tags r:id="rId89"/>
            </p:custDataLst>
          </p:nvPr>
        </p:nvSpPr>
        <p:spPr bwMode="gray">
          <a:xfrm>
            <a:off x="5242545" y="2434206"/>
            <a:ext cx="317500" cy="139531"/>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9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Sep 17</a:t>
            </a:r>
          </a:p>
        </p:txBody>
      </p:sp>
      <p:sp>
        <p:nvSpPr>
          <p:cNvPr id="346" name="OTLSHAPE_M_4ffc564ffce3497580664479dbc2991e_Title">
            <a:extLst>
              <a:ext uri="{FF2B5EF4-FFF2-40B4-BE49-F238E27FC236}">
                <a16:creationId xmlns:a16="http://schemas.microsoft.com/office/drawing/2014/main" id="{4C94AA02-063B-373B-3FBA-591BB6115E01}"/>
              </a:ext>
            </a:extLst>
          </p:cNvPr>
          <p:cNvSpPr txBox="1"/>
          <p:nvPr>
            <p:custDataLst>
              <p:tags r:id="rId90"/>
            </p:custDataLst>
          </p:nvPr>
        </p:nvSpPr>
        <p:spPr bwMode="gray">
          <a:xfrm>
            <a:off x="5754377" y="1128816"/>
            <a:ext cx="901700" cy="155025"/>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6" normalizeH="0" baseline="0" noProof="0">
                <a:ln>
                  <a:noFill/>
                </a:ln>
                <a:solidFill>
                  <a:prstClr val="black"/>
                </a:solidFill>
                <a:effectLst/>
                <a:uLnTx/>
                <a:uFillTx/>
                <a:latin typeface="Calibri" panose="020F0502020204030204" pitchFamily="34" charset="0"/>
                <a:ea typeface="+mn-ea"/>
                <a:cs typeface="+mn-cs"/>
              </a:rPr>
              <a:t>CO 2nd draft out </a:t>
            </a:r>
          </a:p>
        </p:txBody>
      </p:sp>
      <p:sp>
        <p:nvSpPr>
          <p:cNvPr id="347" name="OTLSHAPE_M_4ffc564ffce3497580664479dbc2991e_Date">
            <a:extLst>
              <a:ext uri="{FF2B5EF4-FFF2-40B4-BE49-F238E27FC236}">
                <a16:creationId xmlns:a16="http://schemas.microsoft.com/office/drawing/2014/main" id="{84E4A68D-73CA-A8CB-E601-9BC3ED3FD36B}"/>
              </a:ext>
            </a:extLst>
          </p:cNvPr>
          <p:cNvSpPr txBox="1"/>
          <p:nvPr>
            <p:custDataLst>
              <p:tags r:id="rId91"/>
            </p:custDataLst>
          </p:nvPr>
        </p:nvSpPr>
        <p:spPr bwMode="gray">
          <a:xfrm>
            <a:off x="6082059" y="1283840"/>
            <a:ext cx="254000" cy="139531"/>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9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Oct 1</a:t>
            </a:r>
          </a:p>
        </p:txBody>
      </p:sp>
      <p:sp>
        <p:nvSpPr>
          <p:cNvPr id="349" name="OTLSHAPE_M_959e9d3e86ed4e75a03d61df33919727_Title">
            <a:extLst>
              <a:ext uri="{FF2B5EF4-FFF2-40B4-BE49-F238E27FC236}">
                <a16:creationId xmlns:a16="http://schemas.microsoft.com/office/drawing/2014/main" id="{E2993C81-33E8-680D-6D35-D03870C62F4F}"/>
              </a:ext>
            </a:extLst>
          </p:cNvPr>
          <p:cNvSpPr txBox="1"/>
          <p:nvPr>
            <p:custDataLst>
              <p:tags r:id="rId92"/>
            </p:custDataLst>
          </p:nvPr>
        </p:nvSpPr>
        <p:spPr bwMode="gray">
          <a:xfrm>
            <a:off x="6425729" y="1895726"/>
            <a:ext cx="838200" cy="155025"/>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CO final version</a:t>
            </a:r>
          </a:p>
        </p:txBody>
      </p:sp>
      <p:sp>
        <p:nvSpPr>
          <p:cNvPr id="350" name="OTLSHAPE_M_959e9d3e86ed4e75a03d61df33919727_Date">
            <a:extLst>
              <a:ext uri="{FF2B5EF4-FFF2-40B4-BE49-F238E27FC236}">
                <a16:creationId xmlns:a16="http://schemas.microsoft.com/office/drawing/2014/main" id="{43D4B9C5-2AEB-2AFF-4CE0-0B541117CF48}"/>
              </a:ext>
            </a:extLst>
          </p:cNvPr>
          <p:cNvSpPr txBox="1"/>
          <p:nvPr>
            <p:custDataLst>
              <p:tags r:id="rId93"/>
            </p:custDataLst>
          </p:nvPr>
        </p:nvSpPr>
        <p:spPr bwMode="gray">
          <a:xfrm>
            <a:off x="6687158" y="2050751"/>
            <a:ext cx="304800" cy="139531"/>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9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Oct 12</a:t>
            </a:r>
          </a:p>
        </p:txBody>
      </p:sp>
      <p:sp>
        <p:nvSpPr>
          <p:cNvPr id="366" name="OTLSHAPE_M_88e5000ed0d042ef9709d511f45b9639_Title">
            <a:extLst>
              <a:ext uri="{FF2B5EF4-FFF2-40B4-BE49-F238E27FC236}">
                <a16:creationId xmlns:a16="http://schemas.microsoft.com/office/drawing/2014/main" id="{07586BD5-5A11-1CC2-F00B-84B495060AAB}"/>
              </a:ext>
            </a:extLst>
          </p:cNvPr>
          <p:cNvSpPr txBox="1"/>
          <p:nvPr>
            <p:custDataLst>
              <p:tags r:id="rId94"/>
            </p:custDataLst>
          </p:nvPr>
        </p:nvSpPr>
        <p:spPr bwMode="gray">
          <a:xfrm>
            <a:off x="3664629" y="3399068"/>
            <a:ext cx="711200" cy="155025"/>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22" normalizeH="0" baseline="0" noProof="0">
                <a:ln>
                  <a:noFill/>
                </a:ln>
                <a:solidFill>
                  <a:prstClr val="black"/>
                </a:solidFill>
                <a:effectLst/>
                <a:uLnTx/>
                <a:uFillTx/>
                <a:latin typeface="Calibri" panose="020F0502020204030204" pitchFamily="34" charset="0"/>
                <a:ea typeface="+mn-ea"/>
                <a:cs typeface="+mn-cs"/>
              </a:rPr>
              <a:t>CTR STATANA</a:t>
            </a:r>
          </a:p>
        </p:txBody>
      </p:sp>
      <p:sp>
        <p:nvSpPr>
          <p:cNvPr id="367" name="OTLSHAPE_M_88e5000ed0d042ef9709d511f45b9639_Date">
            <a:extLst>
              <a:ext uri="{FF2B5EF4-FFF2-40B4-BE49-F238E27FC236}">
                <a16:creationId xmlns:a16="http://schemas.microsoft.com/office/drawing/2014/main" id="{6FF83427-8018-72D3-17BD-86C82ECD234E}"/>
              </a:ext>
            </a:extLst>
          </p:cNvPr>
          <p:cNvSpPr txBox="1"/>
          <p:nvPr>
            <p:custDataLst>
              <p:tags r:id="rId95"/>
            </p:custDataLst>
          </p:nvPr>
        </p:nvSpPr>
        <p:spPr bwMode="gray">
          <a:xfrm>
            <a:off x="3853880" y="3259537"/>
            <a:ext cx="330200" cy="139531"/>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9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Aug 24</a:t>
            </a:r>
          </a:p>
        </p:txBody>
      </p:sp>
      <p:sp>
        <p:nvSpPr>
          <p:cNvPr id="383" name="OTLSHAPE_M_751735472f274edb82d079afc8bad984_Title">
            <a:extLst>
              <a:ext uri="{FF2B5EF4-FFF2-40B4-BE49-F238E27FC236}">
                <a16:creationId xmlns:a16="http://schemas.microsoft.com/office/drawing/2014/main" id="{8A5AE17E-C542-736E-BC2D-1A4CAB30D5D1}"/>
              </a:ext>
            </a:extLst>
          </p:cNvPr>
          <p:cNvSpPr txBox="1"/>
          <p:nvPr>
            <p:custDataLst>
              <p:tags r:id="rId96"/>
            </p:custDataLst>
          </p:nvPr>
        </p:nvSpPr>
        <p:spPr bwMode="gray">
          <a:xfrm>
            <a:off x="6210474" y="1512271"/>
            <a:ext cx="457200" cy="155025"/>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SCE final</a:t>
            </a:r>
          </a:p>
        </p:txBody>
      </p:sp>
      <p:sp>
        <p:nvSpPr>
          <p:cNvPr id="384" name="OTLSHAPE_M_751735472f274edb82d079afc8bad984_Date">
            <a:extLst>
              <a:ext uri="{FF2B5EF4-FFF2-40B4-BE49-F238E27FC236}">
                <a16:creationId xmlns:a16="http://schemas.microsoft.com/office/drawing/2014/main" id="{38B0A35E-68DB-DE3F-48F4-0B4FD7C310E2}"/>
              </a:ext>
            </a:extLst>
          </p:cNvPr>
          <p:cNvSpPr txBox="1"/>
          <p:nvPr>
            <p:custDataLst>
              <p:tags r:id="rId97"/>
            </p:custDataLst>
          </p:nvPr>
        </p:nvSpPr>
        <p:spPr bwMode="gray">
          <a:xfrm>
            <a:off x="6312624" y="1667296"/>
            <a:ext cx="266700" cy="139531"/>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9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Oct 5</a:t>
            </a:r>
          </a:p>
        </p:txBody>
      </p:sp>
      <p:sp>
        <p:nvSpPr>
          <p:cNvPr id="386" name="OTLSHAPE_M_39363e8a52d74eabbe595b5db6ba3d1d_Title">
            <a:extLst>
              <a:ext uri="{FF2B5EF4-FFF2-40B4-BE49-F238E27FC236}">
                <a16:creationId xmlns:a16="http://schemas.microsoft.com/office/drawing/2014/main" id="{9020CEDA-232B-71DF-8ED9-2A7EBAAC1B99}"/>
              </a:ext>
            </a:extLst>
          </p:cNvPr>
          <p:cNvSpPr txBox="1"/>
          <p:nvPr>
            <p:custDataLst>
              <p:tags r:id="rId98"/>
            </p:custDataLst>
          </p:nvPr>
        </p:nvSpPr>
        <p:spPr bwMode="gray">
          <a:xfrm>
            <a:off x="6212294" y="3399068"/>
            <a:ext cx="457200" cy="155025"/>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SCF final</a:t>
            </a:r>
          </a:p>
        </p:txBody>
      </p:sp>
      <p:sp>
        <p:nvSpPr>
          <p:cNvPr id="387" name="OTLSHAPE_M_39363e8a52d74eabbe595b5db6ba3d1d_Date">
            <a:extLst>
              <a:ext uri="{FF2B5EF4-FFF2-40B4-BE49-F238E27FC236}">
                <a16:creationId xmlns:a16="http://schemas.microsoft.com/office/drawing/2014/main" id="{3874F7CE-8AFD-6629-D0A9-190C357ED23E}"/>
              </a:ext>
            </a:extLst>
          </p:cNvPr>
          <p:cNvSpPr txBox="1"/>
          <p:nvPr>
            <p:custDataLst>
              <p:tags r:id="rId99"/>
            </p:custDataLst>
          </p:nvPr>
        </p:nvSpPr>
        <p:spPr bwMode="gray">
          <a:xfrm>
            <a:off x="6312624" y="3259537"/>
            <a:ext cx="266700" cy="139531"/>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9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Oct 5</a:t>
            </a:r>
          </a:p>
        </p:txBody>
      </p:sp>
      <p:sp>
        <p:nvSpPr>
          <p:cNvPr id="353" name="OTLSHAPE_D_b6806ec4d1aa43d7a0b2c630aa2ad8f8_Line">
            <a:extLst>
              <a:ext uri="{FF2B5EF4-FFF2-40B4-BE49-F238E27FC236}">
                <a16:creationId xmlns:a16="http://schemas.microsoft.com/office/drawing/2014/main" id="{406F33AF-D4A9-6768-C512-CFA799AF871E}"/>
              </a:ext>
            </a:extLst>
          </p:cNvPr>
          <p:cNvSpPr/>
          <p:nvPr>
            <p:custDataLst>
              <p:tags r:id="rId100"/>
            </p:custDataLst>
          </p:nvPr>
        </p:nvSpPr>
        <p:spPr bwMode="gray">
          <a:xfrm>
            <a:off x="4014705" y="3234137"/>
            <a:ext cx="864622" cy="55433"/>
          </a:xfrm>
          <a:custGeom>
            <a:avLst/>
            <a:gdLst/>
            <a:ahLst/>
            <a:cxnLst/>
            <a:rect l="0" t="0" r="0" b="0"/>
            <a:pathLst>
              <a:path w="864622" h="55433">
                <a:moveTo>
                  <a:pt x="0" y="0"/>
                </a:moveTo>
                <a:lnTo>
                  <a:pt x="0" y="25400"/>
                </a:lnTo>
                <a:lnTo>
                  <a:pt x="864621" y="25400"/>
                </a:lnTo>
                <a:lnTo>
                  <a:pt x="864621" y="55432"/>
                </a:lnTo>
                <a:lnTo>
                  <a:pt x="864621" y="0"/>
                </a:lnTo>
              </a:path>
            </a:pathLst>
          </a:custGeom>
          <a:ln w="12700">
            <a:solidFill>
              <a:schemeClr val="tx1"/>
            </a:solidFill>
            <a:headEnd type="none"/>
            <a:tailEnd type="triangle"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54" name="OTLSHAPE_D_c49f1b24865c4d05b02db001b284dbd4_Line">
            <a:extLst>
              <a:ext uri="{FF2B5EF4-FFF2-40B4-BE49-F238E27FC236}">
                <a16:creationId xmlns:a16="http://schemas.microsoft.com/office/drawing/2014/main" id="{74B04708-4EA5-F296-3E03-E4CE9E62568A}"/>
              </a:ext>
            </a:extLst>
          </p:cNvPr>
          <p:cNvSpPr/>
          <p:nvPr>
            <p:custDataLst>
              <p:tags r:id="rId101"/>
            </p:custDataLst>
          </p:nvPr>
        </p:nvSpPr>
        <p:spPr bwMode="gray">
          <a:xfrm>
            <a:off x="4879326" y="3234137"/>
            <a:ext cx="749340" cy="55433"/>
          </a:xfrm>
          <a:custGeom>
            <a:avLst/>
            <a:gdLst/>
            <a:ahLst/>
            <a:cxnLst/>
            <a:rect l="0" t="0" r="0" b="0"/>
            <a:pathLst>
              <a:path w="749340" h="55433">
                <a:moveTo>
                  <a:pt x="0" y="0"/>
                </a:moveTo>
                <a:lnTo>
                  <a:pt x="0" y="25400"/>
                </a:lnTo>
                <a:lnTo>
                  <a:pt x="749339" y="25400"/>
                </a:lnTo>
                <a:lnTo>
                  <a:pt x="749339" y="55432"/>
                </a:lnTo>
                <a:lnTo>
                  <a:pt x="749339" y="0"/>
                </a:lnTo>
              </a:path>
            </a:pathLst>
          </a:custGeom>
          <a:ln w="12700">
            <a:solidFill>
              <a:schemeClr val="tx1"/>
            </a:solidFill>
            <a:headEnd type="none"/>
            <a:tailEnd type="triangle"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55" name="OTLSHAPE_D_276fd47b1c09436f9482f22ab72b7844_Line">
            <a:extLst>
              <a:ext uri="{FF2B5EF4-FFF2-40B4-BE49-F238E27FC236}">
                <a16:creationId xmlns:a16="http://schemas.microsoft.com/office/drawing/2014/main" id="{B097DA38-F819-F23D-5D74-F84B810ACBF3}"/>
              </a:ext>
            </a:extLst>
          </p:cNvPr>
          <p:cNvSpPr/>
          <p:nvPr>
            <p:custDataLst>
              <p:tags r:id="rId102"/>
            </p:custDataLst>
          </p:nvPr>
        </p:nvSpPr>
        <p:spPr bwMode="gray">
          <a:xfrm>
            <a:off x="5628665" y="3234137"/>
            <a:ext cx="518774" cy="55433"/>
          </a:xfrm>
          <a:custGeom>
            <a:avLst/>
            <a:gdLst/>
            <a:ahLst/>
            <a:cxnLst/>
            <a:rect l="0" t="0" r="0" b="0"/>
            <a:pathLst>
              <a:path w="518774" h="55433">
                <a:moveTo>
                  <a:pt x="0" y="0"/>
                </a:moveTo>
                <a:lnTo>
                  <a:pt x="0" y="25400"/>
                </a:lnTo>
                <a:lnTo>
                  <a:pt x="518773" y="25400"/>
                </a:lnTo>
                <a:lnTo>
                  <a:pt x="518773" y="55432"/>
                </a:lnTo>
                <a:lnTo>
                  <a:pt x="518773" y="0"/>
                </a:lnTo>
              </a:path>
            </a:pathLst>
          </a:custGeom>
          <a:ln w="12700">
            <a:solidFill>
              <a:schemeClr val="tx1"/>
            </a:solidFill>
            <a:headEnd type="none"/>
            <a:tailEnd type="triangle"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56" name="OTLSHAPE_D_81bbd8b4a8c34a6e9ca5a94bcd346d7f_Line">
            <a:extLst>
              <a:ext uri="{FF2B5EF4-FFF2-40B4-BE49-F238E27FC236}">
                <a16:creationId xmlns:a16="http://schemas.microsoft.com/office/drawing/2014/main" id="{1C9322CA-223F-628A-072C-E4F65553BAD3}"/>
              </a:ext>
            </a:extLst>
          </p:cNvPr>
          <p:cNvSpPr/>
          <p:nvPr>
            <p:custDataLst>
              <p:tags r:id="rId103"/>
            </p:custDataLst>
          </p:nvPr>
        </p:nvSpPr>
        <p:spPr bwMode="gray">
          <a:xfrm>
            <a:off x="5398099" y="2543704"/>
            <a:ext cx="806981" cy="55434"/>
          </a:xfrm>
          <a:custGeom>
            <a:avLst/>
            <a:gdLst/>
            <a:ahLst/>
            <a:cxnLst/>
            <a:rect l="0" t="0" r="0" b="0"/>
            <a:pathLst>
              <a:path w="806981" h="55434">
                <a:moveTo>
                  <a:pt x="0" y="55433"/>
                </a:moveTo>
                <a:lnTo>
                  <a:pt x="0" y="30033"/>
                </a:lnTo>
                <a:lnTo>
                  <a:pt x="806980" y="30033"/>
                </a:lnTo>
                <a:lnTo>
                  <a:pt x="806980" y="0"/>
                </a:lnTo>
                <a:lnTo>
                  <a:pt x="806980" y="55433"/>
                </a:lnTo>
              </a:path>
            </a:pathLst>
          </a:custGeom>
          <a:ln w="12700">
            <a:solidFill>
              <a:schemeClr val="tx1"/>
            </a:solidFill>
            <a:headEnd type="none"/>
            <a:tailEnd type="triangle"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57" name="OTLSHAPE_D_b64a4719141e4e26a36373822c79d776_Line">
            <a:extLst>
              <a:ext uri="{FF2B5EF4-FFF2-40B4-BE49-F238E27FC236}">
                <a16:creationId xmlns:a16="http://schemas.microsoft.com/office/drawing/2014/main" id="{B40AB7B4-0466-CC8D-C83E-B88CB70348D1}"/>
              </a:ext>
            </a:extLst>
          </p:cNvPr>
          <p:cNvSpPr/>
          <p:nvPr>
            <p:custDataLst>
              <p:tags r:id="rId104"/>
            </p:custDataLst>
          </p:nvPr>
        </p:nvSpPr>
        <p:spPr bwMode="gray">
          <a:xfrm>
            <a:off x="6205079" y="2543704"/>
            <a:ext cx="634057" cy="55434"/>
          </a:xfrm>
          <a:custGeom>
            <a:avLst/>
            <a:gdLst/>
            <a:ahLst/>
            <a:cxnLst/>
            <a:rect l="0" t="0" r="0" b="0"/>
            <a:pathLst>
              <a:path w="634057" h="55434">
                <a:moveTo>
                  <a:pt x="0" y="55433"/>
                </a:moveTo>
                <a:lnTo>
                  <a:pt x="0" y="30033"/>
                </a:lnTo>
                <a:lnTo>
                  <a:pt x="634056" y="30033"/>
                </a:lnTo>
                <a:lnTo>
                  <a:pt x="634056" y="0"/>
                </a:lnTo>
                <a:lnTo>
                  <a:pt x="634056" y="55433"/>
                </a:lnTo>
              </a:path>
            </a:pathLst>
          </a:custGeom>
          <a:ln w="12700">
            <a:solidFill>
              <a:schemeClr val="tx1"/>
            </a:solidFill>
            <a:headEnd type="none"/>
            <a:tailEnd type="triangle"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92" name="OTLSHAPE_D_0e69c059b9a3495e851c41963939d472_Line">
            <a:extLst>
              <a:ext uri="{FF2B5EF4-FFF2-40B4-BE49-F238E27FC236}">
                <a16:creationId xmlns:a16="http://schemas.microsoft.com/office/drawing/2014/main" id="{FD81B580-6CD0-2006-CF69-1EA65301A2E2}"/>
              </a:ext>
            </a:extLst>
          </p:cNvPr>
          <p:cNvSpPr/>
          <p:nvPr>
            <p:custDataLst>
              <p:tags r:id="rId105"/>
            </p:custDataLst>
          </p:nvPr>
        </p:nvSpPr>
        <p:spPr bwMode="gray">
          <a:xfrm>
            <a:off x="7012060" y="2573737"/>
            <a:ext cx="288207" cy="2074673"/>
          </a:xfrm>
          <a:custGeom>
            <a:avLst/>
            <a:gdLst/>
            <a:ahLst/>
            <a:cxnLst/>
            <a:rect l="0" t="0" r="0" b="0"/>
            <a:pathLst>
              <a:path w="288207" h="2074673">
                <a:moveTo>
                  <a:pt x="0" y="25400"/>
                </a:moveTo>
                <a:lnTo>
                  <a:pt x="0" y="0"/>
                </a:lnTo>
                <a:lnTo>
                  <a:pt x="139700" y="0"/>
                </a:lnTo>
                <a:lnTo>
                  <a:pt x="139700" y="2074672"/>
                </a:lnTo>
                <a:lnTo>
                  <a:pt x="288206" y="2074672"/>
                </a:lnTo>
              </a:path>
            </a:pathLst>
          </a:custGeom>
          <a:ln w="12700">
            <a:solidFill>
              <a:schemeClr val="tx1"/>
            </a:solidFill>
            <a:headEnd type="none"/>
            <a:tailEnd type="triangle"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93" name="OTLSHAPE_D_e2c9878429344bd3b9437db4dcf7acf8_Line">
            <a:extLst>
              <a:ext uri="{FF2B5EF4-FFF2-40B4-BE49-F238E27FC236}">
                <a16:creationId xmlns:a16="http://schemas.microsoft.com/office/drawing/2014/main" id="{8E4D8075-4B73-F035-CEFB-F27AD9B15372}"/>
              </a:ext>
            </a:extLst>
          </p:cNvPr>
          <p:cNvSpPr/>
          <p:nvPr>
            <p:custDataLst>
              <p:tags r:id="rId106"/>
            </p:custDataLst>
          </p:nvPr>
        </p:nvSpPr>
        <p:spPr bwMode="gray">
          <a:xfrm>
            <a:off x="7012060" y="2573737"/>
            <a:ext cx="288207" cy="2480904"/>
          </a:xfrm>
          <a:custGeom>
            <a:avLst/>
            <a:gdLst/>
            <a:ahLst/>
            <a:cxnLst/>
            <a:rect l="0" t="0" r="0" b="0"/>
            <a:pathLst>
              <a:path w="288207" h="2480904">
                <a:moveTo>
                  <a:pt x="0" y="25400"/>
                </a:moveTo>
                <a:lnTo>
                  <a:pt x="0" y="0"/>
                </a:lnTo>
                <a:lnTo>
                  <a:pt x="139700" y="0"/>
                </a:lnTo>
                <a:lnTo>
                  <a:pt x="139700" y="2480903"/>
                </a:lnTo>
                <a:lnTo>
                  <a:pt x="288206" y="2480903"/>
                </a:lnTo>
              </a:path>
            </a:pathLst>
          </a:custGeom>
          <a:ln w="12700">
            <a:solidFill>
              <a:schemeClr val="tx1"/>
            </a:solidFill>
            <a:headEnd type="none"/>
            <a:tailEnd type="triangle"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94" name="OTLSHAPE_D_033116b6452f41b8a929c74c1073df43_Line">
            <a:extLst>
              <a:ext uri="{FF2B5EF4-FFF2-40B4-BE49-F238E27FC236}">
                <a16:creationId xmlns:a16="http://schemas.microsoft.com/office/drawing/2014/main" id="{4A5EAD55-1C4B-9500-3CA4-704B57CDE221}"/>
              </a:ext>
            </a:extLst>
          </p:cNvPr>
          <p:cNvSpPr/>
          <p:nvPr>
            <p:custDataLst>
              <p:tags r:id="rId107"/>
            </p:custDataLst>
          </p:nvPr>
        </p:nvSpPr>
        <p:spPr bwMode="gray">
          <a:xfrm>
            <a:off x="7012060" y="2573737"/>
            <a:ext cx="288207" cy="2887134"/>
          </a:xfrm>
          <a:custGeom>
            <a:avLst/>
            <a:gdLst/>
            <a:ahLst/>
            <a:cxnLst/>
            <a:rect l="0" t="0" r="0" b="0"/>
            <a:pathLst>
              <a:path w="288207" h="2887134">
                <a:moveTo>
                  <a:pt x="0" y="25400"/>
                </a:moveTo>
                <a:lnTo>
                  <a:pt x="0" y="0"/>
                </a:lnTo>
                <a:lnTo>
                  <a:pt x="139700" y="0"/>
                </a:lnTo>
                <a:lnTo>
                  <a:pt x="139700" y="2887133"/>
                </a:lnTo>
                <a:lnTo>
                  <a:pt x="288206" y="2887133"/>
                </a:lnTo>
              </a:path>
            </a:pathLst>
          </a:custGeom>
          <a:ln w="12700">
            <a:solidFill>
              <a:schemeClr val="tx1"/>
            </a:solidFill>
            <a:headEnd type="none"/>
            <a:tailEnd type="triangle"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61" name="OTLSHAPE_D_b2de64948aa448d6ba067f501255bbaf_Line">
            <a:extLst>
              <a:ext uri="{FF2B5EF4-FFF2-40B4-BE49-F238E27FC236}">
                <a16:creationId xmlns:a16="http://schemas.microsoft.com/office/drawing/2014/main" id="{059E1BFB-EBAD-D931-0384-BD33E18DA49F}"/>
              </a:ext>
            </a:extLst>
          </p:cNvPr>
          <p:cNvSpPr/>
          <p:nvPr>
            <p:custDataLst>
              <p:tags r:id="rId108"/>
            </p:custDataLst>
          </p:nvPr>
        </p:nvSpPr>
        <p:spPr bwMode="gray">
          <a:xfrm>
            <a:off x="7012060" y="2573737"/>
            <a:ext cx="2709148" cy="3293365"/>
          </a:xfrm>
          <a:custGeom>
            <a:avLst/>
            <a:gdLst/>
            <a:ahLst/>
            <a:cxnLst/>
            <a:rect l="0" t="0" r="0" b="0"/>
            <a:pathLst>
              <a:path w="2709148" h="3293365">
                <a:moveTo>
                  <a:pt x="0" y="25400"/>
                </a:moveTo>
                <a:lnTo>
                  <a:pt x="0" y="0"/>
                </a:lnTo>
                <a:lnTo>
                  <a:pt x="139700" y="0"/>
                </a:lnTo>
                <a:lnTo>
                  <a:pt x="139700" y="3293364"/>
                </a:lnTo>
                <a:lnTo>
                  <a:pt x="2709147" y="3293364"/>
                </a:lnTo>
              </a:path>
            </a:pathLst>
          </a:custGeom>
          <a:ln w="12700">
            <a:solidFill>
              <a:schemeClr val="tx1"/>
            </a:solidFill>
            <a:headEnd type="none"/>
            <a:tailEnd type="triangle"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29" name="Title 1">
            <a:extLst>
              <a:ext uri="{FF2B5EF4-FFF2-40B4-BE49-F238E27FC236}">
                <a16:creationId xmlns:a16="http://schemas.microsoft.com/office/drawing/2014/main" id="{8CB8ABAB-5830-3D70-F40F-8B0F75EF0805}"/>
              </a:ext>
            </a:extLst>
          </p:cNvPr>
          <p:cNvSpPr txBox="1">
            <a:spLocks/>
          </p:cNvSpPr>
          <p:nvPr/>
        </p:nvSpPr>
        <p:spPr>
          <a:xfrm>
            <a:off x="290210" y="202568"/>
            <a:ext cx="11233151" cy="452156"/>
          </a:xfrm>
          <a:prstGeom prst="rect">
            <a:avLst/>
          </a:prstGeom>
        </p:spPr>
        <p:txBody>
          <a:bodyPr lIns="91440" tIns="45720" rIns="91440" bIns="45720" anchor="t"/>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pPr>
              <a:defRPr/>
            </a:pPr>
            <a:r>
              <a:rPr kumimoji="0" lang="en-US" sz="2500" b="1" i="0" u="none" strike="noStrike" kern="1200" cap="none" spc="0" normalizeH="0" baseline="0" noProof="0">
                <a:ln>
                  <a:noFill/>
                </a:ln>
                <a:solidFill>
                  <a:srgbClr val="7030A0"/>
                </a:solidFill>
                <a:effectLst/>
                <a:uLnTx/>
                <a:uFillTx/>
                <a:latin typeface="Boehringer Forward Head"/>
                <a:ea typeface="+mj-ea"/>
                <a:cs typeface="+mj-cs"/>
              </a:rPr>
              <a:t>Global </a:t>
            </a:r>
            <a:r>
              <a:rPr kumimoji="0" lang="en-US" sz="2500" b="1" i="0" u="none" strike="noStrike" kern="1200" cap="none" spc="0" normalizeH="0" baseline="0" noProof="0">
                <a:ln>
                  <a:noFill/>
                </a:ln>
                <a:solidFill>
                  <a:srgbClr val="00E47C"/>
                </a:solidFill>
                <a:effectLst/>
                <a:uLnTx/>
                <a:uFillTx/>
                <a:latin typeface="Boehringer Forward Head"/>
                <a:ea typeface="+mj-ea"/>
                <a:cs typeface="+mj-cs"/>
              </a:rPr>
              <a:t>DRAFT </a:t>
            </a:r>
            <a:r>
              <a:rPr lang="en-US">
                <a:solidFill>
                  <a:srgbClr val="00E47C"/>
                </a:solidFill>
                <a:latin typeface="Boehringer Forward Head"/>
              </a:rPr>
              <a:t>NDA Submission</a:t>
            </a:r>
            <a:r>
              <a:rPr kumimoji="0" lang="en-US" sz="2500" b="1" i="0" u="none" strike="noStrike" kern="1200" cap="none" spc="0" normalizeH="0" baseline="0" noProof="0">
                <a:ln>
                  <a:noFill/>
                </a:ln>
                <a:solidFill>
                  <a:srgbClr val="00E47C"/>
                </a:solidFill>
                <a:effectLst/>
                <a:uLnTx/>
                <a:uFillTx/>
                <a:latin typeface="Boehringer Forward Head"/>
                <a:ea typeface="+mj-ea"/>
                <a:cs typeface="+mj-cs"/>
              </a:rPr>
              <a:t> </a:t>
            </a:r>
            <a:r>
              <a:rPr kumimoji="0" lang="en-US" sz="2500" b="1" i="0" u="none" strike="noStrike" kern="1200" cap="none" spc="0" normalizeH="0" baseline="0" noProof="0">
                <a:ln>
                  <a:noFill/>
                </a:ln>
                <a:solidFill>
                  <a:srgbClr val="08312A"/>
                </a:solidFill>
                <a:effectLst/>
                <a:uLnTx/>
                <a:uFillTx/>
                <a:latin typeface="Boehringer Forward Head"/>
                <a:ea typeface="+mj-ea"/>
                <a:cs typeface="+mj-cs"/>
              </a:rPr>
              <a:t>Timeline </a:t>
            </a:r>
            <a:r>
              <a:rPr kumimoji="0" lang="en-US" sz="2400" b="0" i="0" u="none" strike="noStrike" kern="1200" cap="none" spc="0" normalizeH="0" baseline="0" noProof="0">
                <a:ln>
                  <a:noFill/>
                </a:ln>
                <a:solidFill>
                  <a:srgbClr val="08312A"/>
                </a:solidFill>
                <a:effectLst/>
                <a:uLnTx/>
                <a:uFillTx/>
                <a:latin typeface="Boehringer Forward Head"/>
                <a:ea typeface="+mj-ea"/>
                <a:cs typeface="+mj-cs"/>
              </a:rPr>
              <a:t>as of April 2026</a:t>
            </a:r>
            <a:endParaRPr kumimoji="0" lang="en-US" sz="2500" b="0" i="0" u="none" strike="noStrike" kern="1200" cap="none" spc="0" normalizeH="0" baseline="0" noProof="0">
              <a:ln>
                <a:noFill/>
              </a:ln>
              <a:solidFill>
                <a:srgbClr val="08312A"/>
              </a:solidFill>
              <a:effectLst/>
              <a:uLnTx/>
              <a:uFillTx/>
              <a:latin typeface="Boehringer Forward Head"/>
              <a:ea typeface="+mj-ea"/>
              <a:cs typeface="+mj-cs"/>
            </a:endParaRPr>
          </a:p>
        </p:txBody>
      </p:sp>
      <p:sp>
        <p:nvSpPr>
          <p:cNvPr id="15" name="TextBox 14">
            <a:extLst>
              <a:ext uri="{FF2B5EF4-FFF2-40B4-BE49-F238E27FC236}">
                <a16:creationId xmlns:a16="http://schemas.microsoft.com/office/drawing/2014/main" id="{E45C84AC-973B-28D4-7A1A-C0EC150DC0A1}"/>
              </a:ext>
            </a:extLst>
          </p:cNvPr>
          <p:cNvSpPr txBox="1"/>
          <p:nvPr/>
        </p:nvSpPr>
        <p:spPr bwMode="gray">
          <a:xfrm>
            <a:off x="528445" y="5785463"/>
            <a:ext cx="2521830" cy="197426"/>
          </a:xfrm>
          <a:prstGeom prst="rect">
            <a:avLst/>
          </a:prstGeom>
          <a:noFill/>
        </p:spPr>
        <p:txBody>
          <a:bodyPr wrap="square" lIns="0" tIns="0" rIns="0" bIns="0" rtlCol="0" anchor="t">
            <a:spAutoFit/>
          </a:bodyPr>
          <a:lstStyle/>
          <a:p>
            <a:pPr>
              <a:lnSpc>
                <a:spcPct val="140000"/>
              </a:lnSpc>
              <a:defRPr/>
            </a:pPr>
            <a:r>
              <a:rPr lang="de-DE" sz="1000">
                <a:solidFill>
                  <a:prstClr val="black"/>
                </a:solidFill>
                <a:latin typeface="Boehringer Forward Text"/>
              </a:rPr>
              <a:t>* SGAR=Sub-Group Analysis Report</a:t>
            </a:r>
            <a:endParaRPr lang="de-DE" sz="1000" b="0" i="0" u="none" strike="noStrike" kern="1200" cap="none" spc="0" normalizeH="0" baseline="0" noProof="0">
              <a:ln>
                <a:noFill/>
              </a:ln>
              <a:solidFill>
                <a:prstClr val="black"/>
              </a:solidFill>
              <a:effectLst/>
              <a:uLnTx/>
              <a:uFillTx/>
              <a:latin typeface="Boehringer Forward Text"/>
            </a:endParaRPr>
          </a:p>
        </p:txBody>
      </p:sp>
      <p:sp>
        <p:nvSpPr>
          <p:cNvPr id="16" name="Rectangle: Rounded Corners 15">
            <a:extLst>
              <a:ext uri="{FF2B5EF4-FFF2-40B4-BE49-F238E27FC236}">
                <a16:creationId xmlns:a16="http://schemas.microsoft.com/office/drawing/2014/main" id="{57F22E52-FD16-5969-CB06-8CBAD9D8A4EE}"/>
              </a:ext>
            </a:extLst>
          </p:cNvPr>
          <p:cNvSpPr/>
          <p:nvPr/>
        </p:nvSpPr>
        <p:spPr bwMode="gray">
          <a:xfrm>
            <a:off x="1244627" y="997549"/>
            <a:ext cx="2196952" cy="993767"/>
          </a:xfrm>
          <a:prstGeom prst="roundRect">
            <a:avLst/>
          </a:prstGeom>
          <a:solidFill>
            <a:schemeClr val="accent6">
              <a:lumMod val="20000"/>
              <a:lumOff val="80000"/>
            </a:schemeClr>
          </a:solidFill>
          <a:ln w="63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40000"/>
              </a:lnSpc>
            </a:pPr>
            <a:r>
              <a:rPr lang="en-US" altLang="zh-CN" sz="1100" b="1">
                <a:solidFill>
                  <a:schemeClr val="tx1"/>
                </a:solidFill>
              </a:rPr>
              <a:t>Adolescent recruitment expectation: </a:t>
            </a:r>
            <a:r>
              <a:rPr lang="en-US" altLang="zh-CN" sz="1100" b="1">
                <a:solidFill>
                  <a:schemeClr val="tx1"/>
                </a:solidFill>
                <a:highlight>
                  <a:srgbClr val="FFFF00"/>
                </a:highlight>
              </a:rPr>
              <a:t>~</a:t>
            </a:r>
            <a:r>
              <a:rPr lang="en-US" altLang="zh-CN" sz="1100">
                <a:solidFill>
                  <a:schemeClr val="tx1"/>
                </a:solidFill>
                <a:highlight>
                  <a:srgbClr val="FFFF00"/>
                </a:highlight>
              </a:rPr>
              <a:t>40</a:t>
            </a:r>
            <a:r>
              <a:rPr lang="en-US" altLang="zh-CN" sz="1100">
                <a:solidFill>
                  <a:schemeClr val="tx1"/>
                </a:solidFill>
              </a:rPr>
              <a:t> (</a:t>
            </a:r>
            <a:r>
              <a:rPr lang="en-US" altLang="zh-CN" sz="1100">
                <a:solidFill>
                  <a:schemeClr val="tx1"/>
                </a:solidFill>
                <a:highlight>
                  <a:srgbClr val="FFFF00"/>
                </a:highlight>
              </a:rPr>
              <a:t>~16  complete study</a:t>
            </a:r>
            <a:r>
              <a:rPr lang="en-US" altLang="zh-CN" sz="1100">
                <a:solidFill>
                  <a:schemeClr val="tx1"/>
                </a:solidFill>
              </a:rPr>
              <a:t>) (still a potential risk for HA)</a:t>
            </a:r>
            <a:endParaRPr lang="zh-CN" altLang="en-US" sz="1100">
              <a:solidFill>
                <a:schemeClr val="tx1"/>
              </a:solidFill>
            </a:endParaRPr>
          </a:p>
        </p:txBody>
      </p:sp>
      <p:cxnSp>
        <p:nvCxnSpPr>
          <p:cNvPr id="18" name="Straight Arrow Connector 17">
            <a:extLst>
              <a:ext uri="{FF2B5EF4-FFF2-40B4-BE49-F238E27FC236}">
                <a16:creationId xmlns:a16="http://schemas.microsoft.com/office/drawing/2014/main" id="{79195CAF-629C-C22B-B715-B23E23AD6A58}"/>
              </a:ext>
            </a:extLst>
          </p:cNvPr>
          <p:cNvCxnSpPr>
            <a:cxnSpLocks/>
            <a:endCxn id="16" idx="2"/>
          </p:cNvCxnSpPr>
          <p:nvPr/>
        </p:nvCxnSpPr>
        <p:spPr bwMode="gray">
          <a:xfrm flipH="1" flipV="1">
            <a:off x="2343103" y="1991316"/>
            <a:ext cx="5461" cy="218591"/>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Rounded Corners 36">
            <a:extLst>
              <a:ext uri="{FF2B5EF4-FFF2-40B4-BE49-F238E27FC236}">
                <a16:creationId xmlns:a16="http://schemas.microsoft.com/office/drawing/2014/main" id="{6D1D6AC1-6E3F-BFFE-8998-679BE5A2FD30}"/>
              </a:ext>
            </a:extLst>
          </p:cNvPr>
          <p:cNvSpPr/>
          <p:nvPr/>
        </p:nvSpPr>
        <p:spPr bwMode="gray">
          <a:xfrm>
            <a:off x="1011878" y="3424466"/>
            <a:ext cx="2484046" cy="919312"/>
          </a:xfrm>
          <a:prstGeom prst="roundRect">
            <a:avLst/>
          </a:prstGeom>
          <a:solidFill>
            <a:schemeClr val="accent6">
              <a:lumMod val="20000"/>
              <a:lumOff val="80000"/>
            </a:schemeClr>
          </a:solidFill>
          <a:ln w="63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nSpc>
                <a:spcPct val="140000"/>
              </a:lnSpc>
            </a:pPr>
            <a:r>
              <a:rPr lang="en-US" altLang="zh-CN" sz="1100" b="1">
                <a:solidFill>
                  <a:schemeClr val="tx1"/>
                </a:solidFill>
              </a:rPr>
              <a:t>CTP 3.0 - event-driven DBL </a:t>
            </a:r>
            <a:r>
              <a:rPr lang="en-US" altLang="zh-CN" sz="1100">
                <a:solidFill>
                  <a:schemeClr val="tx1"/>
                </a:solidFill>
              </a:rPr>
              <a:t>may delay the planned DBL(1).</a:t>
            </a:r>
          </a:p>
          <a:p>
            <a:pPr>
              <a:lnSpc>
                <a:spcPct val="140000"/>
              </a:lnSpc>
            </a:pPr>
            <a:r>
              <a:rPr lang="en-US" altLang="zh-CN" sz="1100">
                <a:solidFill>
                  <a:schemeClr val="tx1"/>
                </a:solidFill>
              </a:rPr>
              <a:t>(needs close monitoring and dynamic evaluation)</a:t>
            </a:r>
          </a:p>
        </p:txBody>
      </p:sp>
      <p:cxnSp>
        <p:nvCxnSpPr>
          <p:cNvPr id="22" name="Straight Arrow Connector 21">
            <a:extLst>
              <a:ext uri="{FF2B5EF4-FFF2-40B4-BE49-F238E27FC236}">
                <a16:creationId xmlns:a16="http://schemas.microsoft.com/office/drawing/2014/main" id="{101F9CC9-C091-61E9-F76E-247404CE729F}"/>
              </a:ext>
            </a:extLst>
          </p:cNvPr>
          <p:cNvCxnSpPr>
            <a:cxnSpLocks/>
            <a:endCxn id="20" idx="0"/>
          </p:cNvCxnSpPr>
          <p:nvPr/>
        </p:nvCxnSpPr>
        <p:spPr bwMode="gray">
          <a:xfrm flipH="1">
            <a:off x="2253901" y="3107137"/>
            <a:ext cx="1" cy="317329"/>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Rounded Corners 24">
            <a:extLst>
              <a:ext uri="{FF2B5EF4-FFF2-40B4-BE49-F238E27FC236}">
                <a16:creationId xmlns:a16="http://schemas.microsoft.com/office/drawing/2014/main" id="{C27C76E4-9451-ABC7-0474-3D46077C33FB}"/>
              </a:ext>
            </a:extLst>
          </p:cNvPr>
          <p:cNvSpPr/>
          <p:nvPr/>
        </p:nvSpPr>
        <p:spPr bwMode="gray">
          <a:xfrm>
            <a:off x="4014705" y="4378826"/>
            <a:ext cx="2132731" cy="231627"/>
          </a:xfrm>
          <a:prstGeom prst="roundRect">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140000"/>
              </a:lnSpc>
            </a:pPr>
            <a:r>
              <a:rPr lang="en-US" altLang="zh-CN" sz="1000" b="1">
                <a:solidFill>
                  <a:schemeClr val="bg1"/>
                </a:solidFill>
              </a:rPr>
              <a:t>China SGAR* (CN version only)</a:t>
            </a:r>
            <a:endParaRPr lang="zh-CN" altLang="en-US" sz="1000" b="1">
              <a:solidFill>
                <a:schemeClr val="bg1"/>
              </a:solidFill>
            </a:endParaRPr>
          </a:p>
        </p:txBody>
      </p:sp>
      <p:cxnSp>
        <p:nvCxnSpPr>
          <p:cNvPr id="26" name="Straight Arrow Connector 25">
            <a:extLst>
              <a:ext uri="{FF2B5EF4-FFF2-40B4-BE49-F238E27FC236}">
                <a16:creationId xmlns:a16="http://schemas.microsoft.com/office/drawing/2014/main" id="{EDF27F2A-6ECB-25A2-83DB-A8DCB1FE1A56}"/>
              </a:ext>
            </a:extLst>
          </p:cNvPr>
          <p:cNvCxnSpPr>
            <a:cxnSpLocks/>
          </p:cNvCxnSpPr>
          <p:nvPr/>
        </p:nvCxnSpPr>
        <p:spPr bwMode="gray">
          <a:xfrm>
            <a:off x="6838152" y="3052937"/>
            <a:ext cx="0" cy="3061695"/>
          </a:xfrm>
          <a:prstGeom prst="straightConnector1">
            <a:avLst/>
          </a:prstGeom>
          <a:ln w="63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9DF630D3-6A2F-6E2B-7434-43CFEFB1F357}"/>
              </a:ext>
            </a:extLst>
          </p:cNvPr>
          <p:cNvSpPr txBox="1"/>
          <p:nvPr/>
        </p:nvSpPr>
        <p:spPr bwMode="gray">
          <a:xfrm>
            <a:off x="6303851" y="6164281"/>
            <a:ext cx="1755442" cy="315920"/>
          </a:xfrm>
          <a:prstGeom prst="rect">
            <a:avLst/>
          </a:prstGeom>
          <a:noFill/>
        </p:spPr>
        <p:txBody>
          <a:bodyPr wrap="square" lIns="0" tIns="0" rIns="0" bIns="0" rtlCol="0">
            <a:spAutoFit/>
          </a:bodyPr>
          <a:lstStyle/>
          <a:p>
            <a:pPr algn="l">
              <a:lnSpc>
                <a:spcPct val="140000"/>
              </a:lnSpc>
            </a:pPr>
            <a:r>
              <a:rPr lang="en-US" altLang="zh-CN" sz="1600"/>
              <a:t>Oct 15, 2027</a:t>
            </a:r>
            <a:endParaRPr lang="zh-CN" altLang="en-US" sz="1600"/>
          </a:p>
        </p:txBody>
      </p:sp>
      <p:sp>
        <p:nvSpPr>
          <p:cNvPr id="8" name="Footer Placeholder 7">
            <a:extLst>
              <a:ext uri="{FF2B5EF4-FFF2-40B4-BE49-F238E27FC236}">
                <a16:creationId xmlns:a16="http://schemas.microsoft.com/office/drawing/2014/main" id="{770B26BE-E167-77C4-7BD9-A5522CCFD0EF}"/>
              </a:ext>
            </a:extLst>
          </p:cNvPr>
          <p:cNvSpPr>
            <a:spLocks noGrp="1"/>
          </p:cNvSpPr>
          <p:nvPr>
            <p:ph type="ftr" sz="quarter" idx="19"/>
          </p:nvPr>
        </p:nvSpPr>
        <p:spPr/>
        <p:txBody>
          <a:bodyPr/>
          <a:lstStyle/>
          <a:p>
            <a:r>
              <a:rPr lang="en-US"/>
              <a:t>Seperate topic for verducatib - 2026 Apr PEC</a:t>
            </a:r>
          </a:p>
        </p:txBody>
      </p:sp>
      <p:sp>
        <p:nvSpPr>
          <p:cNvPr id="2" name="箭头: 虚尾 1">
            <a:extLst>
              <a:ext uri="{FF2B5EF4-FFF2-40B4-BE49-F238E27FC236}">
                <a16:creationId xmlns:a16="http://schemas.microsoft.com/office/drawing/2014/main" id="{E8A5D080-5BF5-256A-D504-86BCD119DE7E}"/>
              </a:ext>
            </a:extLst>
          </p:cNvPr>
          <p:cNvSpPr/>
          <p:nvPr/>
        </p:nvSpPr>
        <p:spPr bwMode="gray">
          <a:xfrm>
            <a:off x="3664625" y="4338976"/>
            <a:ext cx="300042" cy="317365"/>
          </a:xfrm>
          <a:prstGeom prst="stripedRightArrow">
            <a:avLst/>
          </a:prstGeom>
          <a:solidFill>
            <a:schemeClr val="accent5">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 name="Rectangle: Rounded Corners 2">
            <a:extLst>
              <a:ext uri="{FF2B5EF4-FFF2-40B4-BE49-F238E27FC236}">
                <a16:creationId xmlns:a16="http://schemas.microsoft.com/office/drawing/2014/main" id="{EDFF3DE9-3638-153E-A3B9-3978D48E23C2}"/>
              </a:ext>
            </a:extLst>
          </p:cNvPr>
          <p:cNvSpPr/>
          <p:nvPr/>
        </p:nvSpPr>
        <p:spPr bwMode="gray">
          <a:xfrm>
            <a:off x="9568748" y="25809"/>
            <a:ext cx="2360016" cy="477033"/>
          </a:xfrm>
          <a:prstGeom prst="roundRect">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140000"/>
              </a:lnSpc>
            </a:pPr>
            <a:r>
              <a:rPr lang="en-US" altLang="zh-CN" sz="1600" b="1">
                <a:solidFill>
                  <a:schemeClr val="tx1"/>
                </a:solidFill>
              </a:rPr>
              <a:t>For pre-reads ONLY</a:t>
            </a:r>
          </a:p>
        </p:txBody>
      </p:sp>
    </p:spTree>
    <p:extLst>
      <p:ext uri="{BB962C8B-B14F-4D97-AF65-F5344CB8AC3E}">
        <p14:creationId xmlns:p14="http://schemas.microsoft.com/office/powerpoint/2010/main" val="3866778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2D9DC206-FF13-54F1-07E3-BD78911E8378}"/>
              </a:ext>
            </a:extLst>
          </p:cNvPr>
          <p:cNvSpPr>
            <a:spLocks noGrp="1"/>
          </p:cNvSpPr>
          <p:nvPr>
            <p:ph type="title"/>
          </p:nvPr>
        </p:nvSpPr>
        <p:spPr>
          <a:xfrm>
            <a:off x="479424" y="477000"/>
            <a:ext cx="11233151" cy="720000"/>
          </a:xfrm>
        </p:spPr>
        <p:txBody>
          <a:bodyPr/>
          <a:lstStyle/>
          <a:p>
            <a:r>
              <a:rPr lang="en-US" altLang="zh-CN"/>
              <a:t>Critical CMC document to support the accelerated NDA submission</a:t>
            </a:r>
            <a:endParaRPr lang="en-US"/>
          </a:p>
        </p:txBody>
      </p:sp>
      <p:sp>
        <p:nvSpPr>
          <p:cNvPr id="5" name="Footer Placeholder 4">
            <a:extLst>
              <a:ext uri="{FF2B5EF4-FFF2-40B4-BE49-F238E27FC236}">
                <a16:creationId xmlns:a16="http://schemas.microsoft.com/office/drawing/2014/main" id="{749C996F-FFA1-6E54-8CE4-8D68C15AE4ED}"/>
              </a:ext>
            </a:extLst>
          </p:cNvPr>
          <p:cNvSpPr>
            <a:spLocks noGrp="1"/>
          </p:cNvSpPr>
          <p:nvPr>
            <p:ph type="ftr" sz="quarter" idx="19"/>
          </p:nvPr>
        </p:nvSpPr>
        <p:spPr>
          <a:xfrm>
            <a:off x="6312024" y="6246836"/>
            <a:ext cx="5040560" cy="288000"/>
          </a:xfrm>
        </p:spPr>
        <p:txBody>
          <a:bodyPr anchor="b">
            <a:normAutofit/>
          </a:bodyPr>
          <a:lstStyle/>
          <a:p>
            <a:r>
              <a:rPr lang="en-US"/>
              <a:t>Seperate topic for verducatib - 2026 Apr PEC</a:t>
            </a:r>
          </a:p>
        </p:txBody>
      </p:sp>
      <p:grpSp>
        <p:nvGrpSpPr>
          <p:cNvPr id="13" name="Group 12">
            <a:extLst>
              <a:ext uri="{FF2B5EF4-FFF2-40B4-BE49-F238E27FC236}">
                <a16:creationId xmlns:a16="http://schemas.microsoft.com/office/drawing/2014/main" id="{4BFC7240-589B-279C-CD6D-04A92B295F13}"/>
              </a:ext>
            </a:extLst>
          </p:cNvPr>
          <p:cNvGrpSpPr/>
          <p:nvPr/>
        </p:nvGrpSpPr>
        <p:grpSpPr>
          <a:xfrm>
            <a:off x="766472" y="1005717"/>
            <a:ext cx="10946104" cy="5062573"/>
            <a:chOff x="766472" y="1005717"/>
            <a:chExt cx="10946104" cy="5062573"/>
          </a:xfrm>
        </p:grpSpPr>
        <p:pic>
          <p:nvPicPr>
            <p:cNvPr id="9" name="Picture 8">
              <a:extLst>
                <a:ext uri="{FF2B5EF4-FFF2-40B4-BE49-F238E27FC236}">
                  <a16:creationId xmlns:a16="http://schemas.microsoft.com/office/drawing/2014/main" id="{0949F022-11C4-5D90-CE74-D2A663F9AEB3}"/>
                </a:ext>
              </a:extLst>
            </p:cNvPr>
            <p:cNvPicPr>
              <a:picLocks noChangeAspect="1"/>
            </p:cNvPicPr>
            <p:nvPr/>
          </p:nvPicPr>
          <p:blipFill>
            <a:blip r:embed="rId3"/>
            <a:stretch>
              <a:fillRect/>
            </a:stretch>
          </p:blipFill>
          <p:spPr>
            <a:xfrm>
              <a:off x="766472" y="1005717"/>
              <a:ext cx="10946103" cy="5062573"/>
            </a:xfrm>
            <a:prstGeom prst="rect">
              <a:avLst/>
            </a:prstGeom>
            <a:noFill/>
          </p:spPr>
        </p:pic>
        <p:pic>
          <p:nvPicPr>
            <p:cNvPr id="11" name="Picture 10">
              <a:extLst>
                <a:ext uri="{FF2B5EF4-FFF2-40B4-BE49-F238E27FC236}">
                  <a16:creationId xmlns:a16="http://schemas.microsoft.com/office/drawing/2014/main" id="{0BC408C0-BDAF-70EA-C3EC-ADEFC71BB30F}"/>
                </a:ext>
              </a:extLst>
            </p:cNvPr>
            <p:cNvPicPr>
              <a:picLocks noChangeAspect="1"/>
            </p:cNvPicPr>
            <p:nvPr/>
          </p:nvPicPr>
          <p:blipFill>
            <a:blip r:embed="rId4"/>
            <a:stretch>
              <a:fillRect/>
            </a:stretch>
          </p:blipFill>
          <p:spPr>
            <a:xfrm>
              <a:off x="766473" y="5328791"/>
              <a:ext cx="1630364" cy="523492"/>
            </a:xfrm>
            <a:prstGeom prst="rect">
              <a:avLst/>
            </a:prstGeom>
          </p:spPr>
        </p:pic>
        <p:pic>
          <p:nvPicPr>
            <p:cNvPr id="12" name="Picture 11">
              <a:extLst>
                <a:ext uri="{FF2B5EF4-FFF2-40B4-BE49-F238E27FC236}">
                  <a16:creationId xmlns:a16="http://schemas.microsoft.com/office/drawing/2014/main" id="{72D6C9B1-3355-B957-37EB-40F354B37671}"/>
                </a:ext>
              </a:extLst>
            </p:cNvPr>
            <p:cNvPicPr>
              <a:picLocks noChangeAspect="1"/>
            </p:cNvPicPr>
            <p:nvPr/>
          </p:nvPicPr>
          <p:blipFill>
            <a:blip r:embed="rId4"/>
            <a:stretch>
              <a:fillRect/>
            </a:stretch>
          </p:blipFill>
          <p:spPr>
            <a:xfrm>
              <a:off x="10082212" y="5544798"/>
              <a:ext cx="1630364" cy="523492"/>
            </a:xfrm>
            <a:prstGeom prst="rect">
              <a:avLst/>
            </a:prstGeom>
          </p:spPr>
        </p:pic>
      </p:grpSp>
      <p:sp>
        <p:nvSpPr>
          <p:cNvPr id="15" name="Rectangle: Rounded Corners 14">
            <a:extLst>
              <a:ext uri="{FF2B5EF4-FFF2-40B4-BE49-F238E27FC236}">
                <a16:creationId xmlns:a16="http://schemas.microsoft.com/office/drawing/2014/main" id="{6FF6E553-276F-9CE4-8457-F259DA92854B}"/>
              </a:ext>
            </a:extLst>
          </p:cNvPr>
          <p:cNvSpPr/>
          <p:nvPr/>
        </p:nvSpPr>
        <p:spPr bwMode="gray">
          <a:xfrm>
            <a:off x="9568748" y="25809"/>
            <a:ext cx="2360016" cy="477033"/>
          </a:xfrm>
          <a:prstGeom prst="roundRect">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140000"/>
              </a:lnSpc>
            </a:pPr>
            <a:r>
              <a:rPr lang="en-US" altLang="zh-CN" sz="1600" b="1">
                <a:solidFill>
                  <a:schemeClr val="tx1"/>
                </a:solidFill>
              </a:rPr>
              <a:t>For pre-reads ONLY</a:t>
            </a:r>
            <a:endParaRPr lang="zh-CN" altLang="en-US" sz="1600" b="1">
              <a:solidFill>
                <a:schemeClr val="tx1"/>
              </a:solidFill>
            </a:endParaRPr>
          </a:p>
        </p:txBody>
      </p:sp>
      <p:sp>
        <p:nvSpPr>
          <p:cNvPr id="2" name="TextBox 1">
            <a:extLst>
              <a:ext uri="{FF2B5EF4-FFF2-40B4-BE49-F238E27FC236}">
                <a16:creationId xmlns:a16="http://schemas.microsoft.com/office/drawing/2014/main" id="{B3CDE1AF-CAC0-182B-C876-79A78E7EA459}"/>
              </a:ext>
            </a:extLst>
          </p:cNvPr>
          <p:cNvSpPr txBox="1"/>
          <p:nvPr/>
        </p:nvSpPr>
        <p:spPr bwMode="gray">
          <a:xfrm>
            <a:off x="317500" y="6512558"/>
            <a:ext cx="6578600" cy="217175"/>
          </a:xfrm>
          <a:prstGeom prst="rect">
            <a:avLst/>
          </a:prstGeom>
          <a:noFill/>
        </p:spPr>
        <p:txBody>
          <a:bodyPr wrap="square" lIns="0" tIns="0" rIns="0" bIns="0" rtlCol="0">
            <a:spAutoFit/>
          </a:bodyPr>
          <a:lstStyle/>
          <a:p>
            <a:pPr algn="l">
              <a:lnSpc>
                <a:spcPct val="140000"/>
              </a:lnSpc>
            </a:pPr>
            <a:r>
              <a:rPr lang="en-US" altLang="zh-CN" sz="1100" b="1"/>
              <a:t>DS PPQ</a:t>
            </a:r>
            <a:r>
              <a:rPr lang="en-US" altLang="zh-CN" sz="1100"/>
              <a:t>=drug substance process performance qualification; </a:t>
            </a:r>
            <a:r>
              <a:rPr lang="en-US" altLang="zh-CN" sz="1100" b="1"/>
              <a:t>SGAR</a:t>
            </a:r>
            <a:r>
              <a:rPr lang="en-US" altLang="zh-CN" sz="1100"/>
              <a:t>=subgroup analysis report</a:t>
            </a:r>
            <a:endParaRPr lang="zh-CN" altLang="en-US" sz="1100"/>
          </a:p>
        </p:txBody>
      </p:sp>
    </p:spTree>
    <p:extLst>
      <p:ext uri="{BB962C8B-B14F-4D97-AF65-F5344CB8AC3E}">
        <p14:creationId xmlns:p14="http://schemas.microsoft.com/office/powerpoint/2010/main" val="3026472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0A83E-F13B-4EF1-3FC4-A362DD721B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A60651-5D8C-8279-92C5-FC9197E5C101}"/>
              </a:ext>
            </a:extLst>
          </p:cNvPr>
          <p:cNvSpPr>
            <a:spLocks noGrp="1"/>
          </p:cNvSpPr>
          <p:nvPr>
            <p:ph type="title"/>
          </p:nvPr>
        </p:nvSpPr>
        <p:spPr/>
        <p:txBody>
          <a:bodyPr/>
          <a:lstStyle/>
          <a:p>
            <a:r>
              <a:rPr lang="en-US" altLang="zh-CN"/>
              <a:t>Critical Assumptions for NDA Approval in June 2028</a:t>
            </a:r>
            <a:endParaRPr lang="zh-CN" altLang="en-US"/>
          </a:p>
        </p:txBody>
      </p:sp>
      <p:sp>
        <p:nvSpPr>
          <p:cNvPr id="4" name="Text Placeholder 3">
            <a:extLst>
              <a:ext uri="{FF2B5EF4-FFF2-40B4-BE49-F238E27FC236}">
                <a16:creationId xmlns:a16="http://schemas.microsoft.com/office/drawing/2014/main" id="{945041A0-B1C0-260F-7BD8-D1E7E1D43908}"/>
              </a:ext>
            </a:extLst>
          </p:cNvPr>
          <p:cNvSpPr>
            <a:spLocks noGrp="1"/>
          </p:cNvSpPr>
          <p:nvPr>
            <p:ph type="body" sz="quarter" idx="13"/>
          </p:nvPr>
        </p:nvSpPr>
        <p:spPr/>
        <p:txBody>
          <a:bodyPr/>
          <a:lstStyle/>
          <a:p>
            <a:endParaRPr lang="zh-CN" altLang="en-US"/>
          </a:p>
        </p:txBody>
      </p:sp>
      <p:sp>
        <p:nvSpPr>
          <p:cNvPr id="5" name="Footer Placeholder 4">
            <a:extLst>
              <a:ext uri="{FF2B5EF4-FFF2-40B4-BE49-F238E27FC236}">
                <a16:creationId xmlns:a16="http://schemas.microsoft.com/office/drawing/2014/main" id="{728DB349-BEE6-55D3-2221-72AAFD4D973D}"/>
              </a:ext>
            </a:extLst>
          </p:cNvPr>
          <p:cNvSpPr>
            <a:spLocks noGrp="1"/>
          </p:cNvSpPr>
          <p:nvPr>
            <p:ph type="ftr" sz="quarter" idx="19"/>
          </p:nvPr>
        </p:nvSpPr>
        <p:spPr/>
        <p:txBody>
          <a:bodyPr/>
          <a:lstStyle/>
          <a:p>
            <a:r>
              <a:rPr lang="en-US"/>
              <a:t>Seperate topic for verducatib - 2026 Apr PEC</a:t>
            </a:r>
          </a:p>
        </p:txBody>
      </p:sp>
      <p:graphicFrame>
        <p:nvGraphicFramePr>
          <p:cNvPr id="6" name="Table 5">
            <a:extLst>
              <a:ext uri="{FF2B5EF4-FFF2-40B4-BE49-F238E27FC236}">
                <a16:creationId xmlns:a16="http://schemas.microsoft.com/office/drawing/2014/main" id="{562C631D-1214-08BF-ADBB-D873FEB2B146}"/>
              </a:ext>
            </a:extLst>
          </p:cNvPr>
          <p:cNvGraphicFramePr>
            <a:graphicFrameLocks noGrp="1"/>
          </p:cNvGraphicFramePr>
          <p:nvPr>
            <p:extLst>
              <p:ext uri="{D42A27DB-BD31-4B8C-83A1-F6EECF244321}">
                <p14:modId xmlns:p14="http://schemas.microsoft.com/office/powerpoint/2010/main" val="362729257"/>
              </p:ext>
            </p:extLst>
          </p:nvPr>
        </p:nvGraphicFramePr>
        <p:xfrm>
          <a:off x="479424" y="1494572"/>
          <a:ext cx="11089121" cy="3631612"/>
        </p:xfrm>
        <a:graphic>
          <a:graphicData uri="http://schemas.openxmlformats.org/drawingml/2006/table">
            <a:tbl>
              <a:tblPr firstRow="1" bandRow="1">
                <a:tableStyleId>{5C22544A-7EE6-4342-B048-85BDC9FD1C3A}</a:tableStyleId>
              </a:tblPr>
              <a:tblGrid>
                <a:gridCol w="2193943">
                  <a:extLst>
                    <a:ext uri="{9D8B030D-6E8A-4147-A177-3AD203B41FA5}">
                      <a16:colId xmlns:a16="http://schemas.microsoft.com/office/drawing/2014/main" val="1964014183"/>
                    </a:ext>
                  </a:extLst>
                </a:gridCol>
                <a:gridCol w="7024815">
                  <a:extLst>
                    <a:ext uri="{9D8B030D-6E8A-4147-A177-3AD203B41FA5}">
                      <a16:colId xmlns:a16="http://schemas.microsoft.com/office/drawing/2014/main" val="2898614255"/>
                    </a:ext>
                  </a:extLst>
                </a:gridCol>
                <a:gridCol w="1870363">
                  <a:extLst>
                    <a:ext uri="{9D8B030D-6E8A-4147-A177-3AD203B41FA5}">
                      <a16:colId xmlns:a16="http://schemas.microsoft.com/office/drawing/2014/main" val="3065191043"/>
                    </a:ext>
                  </a:extLst>
                </a:gridCol>
              </a:tblGrid>
              <a:tr h="631585">
                <a:tc>
                  <a:txBody>
                    <a:bodyPr/>
                    <a:lstStyle/>
                    <a:p>
                      <a:r>
                        <a:rPr lang="en-US" altLang="zh-CN" sz="2000"/>
                        <a:t>Number</a:t>
                      </a:r>
                      <a:endParaRPr lang="zh-CN" altLang="en-US" sz="2000"/>
                    </a:p>
                  </a:txBody>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altLang="zh-CN" sz="2000"/>
                        <a:t>Key assumptions</a:t>
                      </a:r>
                      <a:endParaRPr lang="zh-CN" altLang="en-US" sz="2000"/>
                    </a:p>
                  </a:txBody>
                  <a:tcPr/>
                </a:tc>
                <a:tc>
                  <a:txBody>
                    <a:bodyPr/>
                    <a:lstStyle/>
                    <a:p>
                      <a:r>
                        <a:rPr lang="en-US" altLang="zh-CN" sz="2000"/>
                        <a:t>Note</a:t>
                      </a:r>
                      <a:endParaRPr lang="zh-CN" altLang="en-US" sz="2000"/>
                    </a:p>
                  </a:txBody>
                  <a:tcPr/>
                </a:tc>
                <a:extLst>
                  <a:ext uri="{0D108BD9-81ED-4DB2-BD59-A6C34878D82A}">
                    <a16:rowId xmlns:a16="http://schemas.microsoft.com/office/drawing/2014/main" val="393308697"/>
                  </a:ext>
                </a:extLst>
              </a:tr>
              <a:tr h="631585">
                <a:tc>
                  <a:txBody>
                    <a:bodyPr/>
                    <a:lstStyle/>
                    <a:p>
                      <a:r>
                        <a:rPr lang="en-US" altLang="zh-CN" sz="2000" b="1"/>
                        <a:t>Assumption #1</a:t>
                      </a:r>
                      <a:endParaRPr lang="zh-CN" altLang="en-US" sz="2000" b="1"/>
                    </a:p>
                  </a:txBody>
                  <a:tcPr/>
                </a:tc>
                <a:tc>
                  <a:txBody>
                    <a:bodyPr/>
                    <a:lstStyle/>
                    <a:p>
                      <a:r>
                        <a:rPr lang="en-US" altLang="zh-CN" sz="2000"/>
                        <a:t>TLR available in Aug 2027.</a:t>
                      </a:r>
                    </a:p>
                  </a:txBody>
                  <a:tcPr/>
                </a:tc>
                <a:tc>
                  <a:txBody>
                    <a:bodyPr/>
                    <a:lstStyle/>
                    <a:p>
                      <a:endParaRPr lang="zh-CN" altLang="en-US" sz="2000"/>
                    </a:p>
                  </a:txBody>
                  <a:tcPr/>
                </a:tc>
                <a:extLst>
                  <a:ext uri="{0D108BD9-81ED-4DB2-BD59-A6C34878D82A}">
                    <a16:rowId xmlns:a16="http://schemas.microsoft.com/office/drawing/2014/main" val="2680598866"/>
                  </a:ext>
                </a:extLst>
              </a:tr>
              <a:tr h="11052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t>Assumption #2</a:t>
                      </a:r>
                      <a:endParaRPr lang="zh-CN" altLang="en-US" sz="2000" b="1"/>
                    </a:p>
                  </a:txBody>
                  <a:tcPr/>
                </a:tc>
                <a:tc>
                  <a:txBody>
                    <a:bodyPr/>
                    <a:lstStyle/>
                    <a:p>
                      <a:r>
                        <a:rPr lang="en-US" altLang="zh-CN" sz="2000"/>
                        <a:t>PR is granted based on data from ~40 adolescents (75 planned for the trial).</a:t>
                      </a:r>
                    </a:p>
                  </a:txBody>
                  <a:tcPr/>
                </a:tc>
                <a:tc>
                  <a:txBody>
                    <a:bodyPr/>
                    <a:lstStyle/>
                    <a:p>
                      <a:endParaRPr lang="zh-CN" altLang="en-US" sz="2000"/>
                    </a:p>
                  </a:txBody>
                  <a:tcPr/>
                </a:tc>
                <a:extLst>
                  <a:ext uri="{0D108BD9-81ED-4DB2-BD59-A6C34878D82A}">
                    <a16:rowId xmlns:a16="http://schemas.microsoft.com/office/drawing/2014/main" val="1921343338"/>
                  </a:ext>
                </a:extLst>
              </a:tr>
              <a:tr h="6315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t>Assumption #3</a:t>
                      </a:r>
                      <a:endParaRPr lang="zh-CN" altLang="en-US" sz="2000" b="1"/>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a:t>NDA dossier ready for submission by Oct 15, 2027.</a:t>
                      </a:r>
                    </a:p>
                  </a:txBody>
                  <a:tcPr/>
                </a:tc>
                <a:tc>
                  <a:txBody>
                    <a:bodyPr/>
                    <a:lstStyle/>
                    <a:p>
                      <a:endParaRPr lang="zh-CN" altLang="en-US" sz="2000"/>
                    </a:p>
                  </a:txBody>
                  <a:tcPr/>
                </a:tc>
                <a:extLst>
                  <a:ext uri="{0D108BD9-81ED-4DB2-BD59-A6C34878D82A}">
                    <a16:rowId xmlns:a16="http://schemas.microsoft.com/office/drawing/2014/main" val="3648765787"/>
                  </a:ext>
                </a:extLst>
              </a:tr>
              <a:tr h="6315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t>Assumption #4</a:t>
                      </a:r>
                      <a:endParaRPr lang="zh-CN" altLang="en-US" sz="2000" b="1"/>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a:t>NDA review under PR will be completed within 8 months.</a:t>
                      </a:r>
                    </a:p>
                  </a:txBody>
                  <a:tcPr/>
                </a:tc>
                <a:tc>
                  <a:txBody>
                    <a:bodyPr/>
                    <a:lstStyle/>
                    <a:p>
                      <a:endParaRPr lang="zh-CN" altLang="en-US" sz="2000"/>
                    </a:p>
                  </a:txBody>
                  <a:tcPr/>
                </a:tc>
                <a:extLst>
                  <a:ext uri="{0D108BD9-81ED-4DB2-BD59-A6C34878D82A}">
                    <a16:rowId xmlns:a16="http://schemas.microsoft.com/office/drawing/2014/main" val="2788742835"/>
                  </a:ext>
                </a:extLst>
              </a:tr>
            </a:tbl>
          </a:graphicData>
        </a:graphic>
      </p:graphicFrame>
    </p:spTree>
    <p:extLst>
      <p:ext uri="{BB962C8B-B14F-4D97-AF65-F5344CB8AC3E}">
        <p14:creationId xmlns:p14="http://schemas.microsoft.com/office/powerpoint/2010/main" val="3595943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B085B-0530-9F49-BEF3-9DE0E7511CC6}"/>
              </a:ext>
            </a:extLst>
          </p:cNvPr>
          <p:cNvSpPr>
            <a:spLocks noGrp="1"/>
          </p:cNvSpPr>
          <p:nvPr>
            <p:ph type="title"/>
          </p:nvPr>
        </p:nvSpPr>
        <p:spPr>
          <a:xfrm>
            <a:off x="479424" y="477000"/>
            <a:ext cx="11233151" cy="720000"/>
          </a:xfrm>
        </p:spPr>
        <p:txBody>
          <a:bodyPr anchor="t">
            <a:normAutofit/>
          </a:bodyPr>
          <a:lstStyle/>
          <a:p>
            <a:pPr>
              <a:lnSpc>
                <a:spcPct val="90000"/>
              </a:lnSpc>
            </a:pPr>
            <a:r>
              <a:rPr lang="en-US" altLang="zh-CN"/>
              <a:t>PR is granted based on data from ~40 adolescents (1/2)</a:t>
            </a:r>
            <a:endParaRPr lang="zh-CN" altLang="en-US"/>
          </a:p>
        </p:txBody>
      </p:sp>
      <p:sp>
        <p:nvSpPr>
          <p:cNvPr id="5" name="Footer Placeholder 4">
            <a:extLst>
              <a:ext uri="{FF2B5EF4-FFF2-40B4-BE49-F238E27FC236}">
                <a16:creationId xmlns:a16="http://schemas.microsoft.com/office/drawing/2014/main" id="{CDAAE751-F898-9FCD-3E7A-392ABF669B1C}"/>
              </a:ext>
            </a:extLst>
          </p:cNvPr>
          <p:cNvSpPr>
            <a:spLocks noGrp="1"/>
          </p:cNvSpPr>
          <p:nvPr>
            <p:ph type="ftr" sz="quarter" idx="19"/>
          </p:nvPr>
        </p:nvSpPr>
        <p:spPr>
          <a:xfrm>
            <a:off x="6312024" y="6246836"/>
            <a:ext cx="5040560" cy="288000"/>
          </a:xfrm>
        </p:spPr>
        <p:txBody>
          <a:bodyPr anchor="b">
            <a:normAutofit/>
          </a:bodyPr>
          <a:lstStyle/>
          <a:p>
            <a:r>
              <a:rPr lang="en-US"/>
              <a:t>Seperate topic for verducatib - 2026 Apr PEC</a:t>
            </a:r>
          </a:p>
        </p:txBody>
      </p:sp>
      <p:graphicFrame>
        <p:nvGraphicFramePr>
          <p:cNvPr id="6" name="表格 5">
            <a:extLst>
              <a:ext uri="{FF2B5EF4-FFF2-40B4-BE49-F238E27FC236}">
                <a16:creationId xmlns:a16="http://schemas.microsoft.com/office/drawing/2014/main" id="{2D094F52-16E6-28C5-AEF0-8EA9C03A12EF}"/>
              </a:ext>
            </a:extLst>
          </p:cNvPr>
          <p:cNvGraphicFramePr>
            <a:graphicFrameLocks noGrp="1"/>
          </p:cNvGraphicFramePr>
          <p:nvPr>
            <p:extLst>
              <p:ext uri="{D42A27DB-BD31-4B8C-83A1-F6EECF244321}">
                <p14:modId xmlns:p14="http://schemas.microsoft.com/office/powerpoint/2010/main" val="3612090980"/>
              </p:ext>
            </p:extLst>
          </p:nvPr>
        </p:nvGraphicFramePr>
        <p:xfrm>
          <a:off x="730008" y="1338534"/>
          <a:ext cx="10192750" cy="3413585"/>
        </p:xfrm>
        <a:graphic>
          <a:graphicData uri="http://schemas.openxmlformats.org/drawingml/2006/table">
            <a:tbl>
              <a:tblPr bandRow="1">
                <a:tableStyleId>{5C22544A-7EE6-4342-B048-85BDC9FD1C3A}</a:tableStyleId>
              </a:tblPr>
              <a:tblGrid>
                <a:gridCol w="2963258">
                  <a:extLst>
                    <a:ext uri="{9D8B030D-6E8A-4147-A177-3AD203B41FA5}">
                      <a16:colId xmlns:a16="http://schemas.microsoft.com/office/drawing/2014/main" val="1372274985"/>
                    </a:ext>
                  </a:extLst>
                </a:gridCol>
                <a:gridCol w="1727256">
                  <a:extLst>
                    <a:ext uri="{9D8B030D-6E8A-4147-A177-3AD203B41FA5}">
                      <a16:colId xmlns:a16="http://schemas.microsoft.com/office/drawing/2014/main" val="619146729"/>
                    </a:ext>
                  </a:extLst>
                </a:gridCol>
                <a:gridCol w="1736851">
                  <a:extLst>
                    <a:ext uri="{9D8B030D-6E8A-4147-A177-3AD203B41FA5}">
                      <a16:colId xmlns:a16="http://schemas.microsoft.com/office/drawing/2014/main" val="367964180"/>
                    </a:ext>
                  </a:extLst>
                </a:gridCol>
                <a:gridCol w="1932586">
                  <a:extLst>
                    <a:ext uri="{9D8B030D-6E8A-4147-A177-3AD203B41FA5}">
                      <a16:colId xmlns:a16="http://schemas.microsoft.com/office/drawing/2014/main" val="3946731080"/>
                    </a:ext>
                  </a:extLst>
                </a:gridCol>
                <a:gridCol w="1832799">
                  <a:extLst>
                    <a:ext uri="{9D8B030D-6E8A-4147-A177-3AD203B41FA5}">
                      <a16:colId xmlns:a16="http://schemas.microsoft.com/office/drawing/2014/main" val="884258669"/>
                    </a:ext>
                  </a:extLst>
                </a:gridCol>
              </a:tblGrid>
              <a:tr h="510556">
                <a:tc rowSpan="2">
                  <a:txBody>
                    <a:bodyPr/>
                    <a:lstStyle/>
                    <a:p>
                      <a:pPr fontAlgn="ctr">
                        <a:buNone/>
                      </a:pPr>
                      <a:r>
                        <a:rPr lang="en-US" altLang="zh-CN" sz="1800" b="1">
                          <a:effectLst/>
                          <a:latin typeface="Arial"/>
                          <a:cs typeface="Arial"/>
                        </a:rPr>
                        <a:t>Cutoff Date:</a:t>
                      </a:r>
                      <a:r>
                        <a:rPr lang="en-US" altLang="zh-CN" sz="1800">
                          <a:effectLst/>
                          <a:latin typeface="Arial"/>
                          <a:cs typeface="Arial"/>
                        </a:rPr>
                        <a:t> Apr 17, 2026</a:t>
                      </a:r>
                    </a:p>
                  </a:txBody>
                  <a:tcPr marL="11430" marR="11430" marT="11430" marB="11430" anchor="ctr">
                    <a:lnL w="11430" cap="flat" cmpd="sng" algn="ctr">
                      <a:solidFill>
                        <a:srgbClr val="000000"/>
                      </a:solidFill>
                      <a:prstDash val="dot"/>
                      <a:round/>
                      <a:headEnd type="none" w="med" len="med"/>
                      <a:tailEnd type="none" w="med" len="med"/>
                    </a:lnL>
                    <a:lnR w="11430" cap="flat" cmpd="sng" algn="ctr">
                      <a:solidFill>
                        <a:srgbClr val="000000"/>
                      </a:solidFill>
                      <a:prstDash val="dot"/>
                      <a:round/>
                      <a:headEnd type="none" w="med" len="med"/>
                      <a:tailEnd type="none" w="med" len="med"/>
                    </a:lnR>
                    <a:lnT w="11430" cap="flat" cmpd="sng" algn="ctr">
                      <a:solidFill>
                        <a:srgbClr val="000000"/>
                      </a:solidFill>
                      <a:prstDash val="dot"/>
                      <a:round/>
                      <a:headEnd type="none" w="med" len="med"/>
                      <a:tailEnd type="none" w="med" len="med"/>
                    </a:lnT>
                    <a:lnB w="11430" cap="flat" cmpd="sng" algn="ctr">
                      <a:solidFill>
                        <a:srgbClr val="000000"/>
                      </a:solidFill>
                      <a:prstDash val="dot"/>
                      <a:round/>
                      <a:headEnd type="none" w="med" len="med"/>
                      <a:tailEnd type="none" w="med" len="med"/>
                    </a:lnB>
                    <a:solidFill>
                      <a:srgbClr val="A3E5EE"/>
                    </a:solidFill>
                  </a:tcPr>
                </a:tc>
                <a:tc gridSpan="2">
                  <a:txBody>
                    <a:bodyPr/>
                    <a:lstStyle/>
                    <a:p>
                      <a:pPr algn="ctr" fontAlgn="base">
                        <a:lnSpc>
                          <a:spcPts val="2175"/>
                        </a:lnSpc>
                        <a:buNone/>
                      </a:pPr>
                      <a:r>
                        <a:rPr lang="en-US" sz="2200" b="1" i="0" u="none" strike="noStrike">
                          <a:solidFill>
                            <a:srgbClr val="000000"/>
                          </a:solidFill>
                          <a:effectLst/>
                          <a:latin typeface="DengXian" panose="02010600030101010101" pitchFamily="2" charset="-122"/>
                        </a:rPr>
                        <a:t>Global Recruitment Status</a:t>
                      </a:r>
                      <a:endParaRPr lang="zh-CN" sz="2200" b="0" i="0">
                        <a:solidFill>
                          <a:srgbClr val="000000"/>
                        </a:solidFill>
                        <a:effectLst/>
                      </a:endParaRPr>
                    </a:p>
                  </a:txBody>
                  <a:tcPr marL="11430" marR="11430" marT="11430" marB="11430" anchor="ctr">
                    <a:lnL w="11430" cap="flat" cmpd="sng" algn="ctr">
                      <a:solidFill>
                        <a:srgbClr val="000000"/>
                      </a:solidFill>
                      <a:prstDash val="dot"/>
                      <a:round/>
                      <a:headEnd type="none" w="med" len="med"/>
                      <a:tailEnd type="none" w="med" len="med"/>
                    </a:lnL>
                    <a:lnR w="11430" cap="flat" cmpd="sng" algn="ctr">
                      <a:solidFill>
                        <a:srgbClr val="000000"/>
                      </a:solidFill>
                      <a:prstDash val="dot"/>
                      <a:round/>
                      <a:headEnd type="none" w="med" len="med"/>
                      <a:tailEnd type="none" w="med" len="med"/>
                    </a:lnR>
                    <a:lnT w="11430" cap="flat" cmpd="sng" algn="ctr">
                      <a:solidFill>
                        <a:srgbClr val="000000"/>
                      </a:solidFill>
                      <a:prstDash val="dot"/>
                      <a:round/>
                      <a:headEnd type="none" w="med" len="med"/>
                      <a:tailEnd type="none" w="med" len="med"/>
                    </a:lnT>
                    <a:lnB w="11430" cap="flat" cmpd="sng" algn="ctr">
                      <a:solidFill>
                        <a:srgbClr val="000000"/>
                      </a:solidFill>
                      <a:prstDash val="dot"/>
                      <a:round/>
                      <a:headEnd type="none" w="med" len="med"/>
                      <a:tailEnd type="none" w="med" len="med"/>
                    </a:lnB>
                    <a:solidFill>
                      <a:srgbClr val="A3E5EE"/>
                    </a:solidFill>
                  </a:tcPr>
                </a:tc>
                <a:tc hMerge="1">
                  <a:txBody>
                    <a:bodyPr/>
                    <a:lstStyle/>
                    <a:p>
                      <a:endParaRPr lang="zh-CN" altLang="en-US"/>
                    </a:p>
                  </a:txBody>
                  <a:tcPr/>
                </a:tc>
                <a:tc gridSpan="2">
                  <a:txBody>
                    <a:bodyPr/>
                    <a:lstStyle/>
                    <a:p>
                      <a:pPr algn="ctr" fontAlgn="base">
                        <a:lnSpc>
                          <a:spcPts val="2175"/>
                        </a:lnSpc>
                        <a:buNone/>
                      </a:pPr>
                      <a:r>
                        <a:rPr lang="en-US" sz="2200" b="1" i="0" u="none" strike="noStrike">
                          <a:solidFill>
                            <a:srgbClr val="000000"/>
                          </a:solidFill>
                          <a:effectLst/>
                          <a:latin typeface="DengXian" panose="02010600030101010101" pitchFamily="2" charset="-122"/>
                        </a:rPr>
                        <a:t>Mainland China Recruitment Status</a:t>
                      </a:r>
                      <a:endParaRPr lang="zh-CN" sz="2200" b="0" i="0">
                        <a:solidFill>
                          <a:srgbClr val="000000"/>
                        </a:solidFill>
                        <a:effectLst/>
                      </a:endParaRPr>
                    </a:p>
                  </a:txBody>
                  <a:tcPr marL="11430" marR="11430" marT="11430" marB="11430" anchor="ctr">
                    <a:lnL w="11430" cap="flat" cmpd="sng" algn="ctr">
                      <a:solidFill>
                        <a:srgbClr val="000000"/>
                      </a:solidFill>
                      <a:prstDash val="dot"/>
                      <a:round/>
                      <a:headEnd type="none" w="med" len="med"/>
                      <a:tailEnd type="none" w="med" len="med"/>
                    </a:lnL>
                    <a:lnR w="11430" cap="flat" cmpd="sng" algn="ctr">
                      <a:solidFill>
                        <a:srgbClr val="000000"/>
                      </a:solidFill>
                      <a:prstDash val="dot"/>
                      <a:round/>
                      <a:headEnd type="none" w="med" len="med"/>
                      <a:tailEnd type="none" w="med" len="med"/>
                    </a:lnR>
                    <a:lnT w="11430" cap="flat" cmpd="sng" algn="ctr">
                      <a:solidFill>
                        <a:srgbClr val="000000"/>
                      </a:solidFill>
                      <a:prstDash val="dot"/>
                      <a:round/>
                      <a:headEnd type="none" w="med" len="med"/>
                      <a:tailEnd type="none" w="med" len="med"/>
                    </a:lnT>
                    <a:lnB w="11430" cap="flat" cmpd="sng" algn="ctr">
                      <a:solidFill>
                        <a:srgbClr val="000000"/>
                      </a:solidFill>
                      <a:prstDash val="dot"/>
                      <a:round/>
                      <a:headEnd type="none" w="med" len="med"/>
                      <a:tailEnd type="none" w="med" len="med"/>
                    </a:lnB>
                    <a:solidFill>
                      <a:srgbClr val="A3E5EE"/>
                    </a:solidFill>
                  </a:tcPr>
                </a:tc>
                <a:tc hMerge="1">
                  <a:txBody>
                    <a:bodyPr/>
                    <a:lstStyle/>
                    <a:p>
                      <a:endParaRPr lang="zh-CN" altLang="en-US"/>
                    </a:p>
                  </a:txBody>
                  <a:tcPr/>
                </a:tc>
                <a:extLst>
                  <a:ext uri="{0D108BD9-81ED-4DB2-BD59-A6C34878D82A}">
                    <a16:rowId xmlns:a16="http://schemas.microsoft.com/office/drawing/2014/main" val="1466636853"/>
                  </a:ext>
                </a:extLst>
              </a:tr>
              <a:tr h="264733">
                <a:tc vMerge="1">
                  <a:txBody>
                    <a:bodyPr/>
                    <a:lstStyle/>
                    <a:p>
                      <a:endParaRPr lang="zh-CN" altLang="en-US"/>
                    </a:p>
                  </a:txBody>
                  <a:tcPr/>
                </a:tc>
                <a:tc>
                  <a:txBody>
                    <a:bodyPr/>
                    <a:lstStyle/>
                    <a:p>
                      <a:pPr algn="ctr" fontAlgn="base">
                        <a:lnSpc>
                          <a:spcPts val="2175"/>
                        </a:lnSpc>
                        <a:buNone/>
                      </a:pPr>
                      <a:r>
                        <a:rPr lang="en-US" sz="1800" b="1" i="0" u="none" strike="noStrike">
                          <a:solidFill>
                            <a:srgbClr val="000000"/>
                          </a:solidFill>
                          <a:effectLst/>
                          <a:latin typeface="Arial"/>
                          <a:cs typeface="Arial"/>
                        </a:rPr>
                        <a:t>Planned</a:t>
                      </a:r>
                      <a:endParaRPr lang="zh-CN" sz="1800" b="0" i="0">
                        <a:solidFill>
                          <a:srgbClr val="000000"/>
                        </a:solidFill>
                        <a:effectLst/>
                        <a:latin typeface="Arial"/>
                        <a:cs typeface="Arial"/>
                      </a:endParaRPr>
                    </a:p>
                  </a:txBody>
                  <a:tcPr marL="11430" marR="11430" marT="11430" marB="11430" anchor="ctr">
                    <a:lnL w="11430" cap="flat" cmpd="sng" algn="ctr">
                      <a:solidFill>
                        <a:srgbClr val="000000"/>
                      </a:solidFill>
                      <a:prstDash val="dot"/>
                      <a:round/>
                      <a:headEnd type="none" w="med" len="med"/>
                      <a:tailEnd type="none" w="med" len="med"/>
                    </a:lnL>
                    <a:lnR w="11430" cap="flat" cmpd="sng" algn="ctr">
                      <a:solidFill>
                        <a:srgbClr val="000000"/>
                      </a:solidFill>
                      <a:prstDash val="dot"/>
                      <a:round/>
                      <a:headEnd type="none" w="med" len="med"/>
                      <a:tailEnd type="none" w="med" len="med"/>
                    </a:lnR>
                    <a:lnT w="11430" cap="flat" cmpd="sng" algn="ctr">
                      <a:solidFill>
                        <a:srgbClr val="000000"/>
                      </a:solidFill>
                      <a:prstDash val="dot"/>
                      <a:round/>
                      <a:headEnd type="none" w="med" len="med"/>
                      <a:tailEnd type="none" w="med" len="med"/>
                    </a:lnT>
                    <a:lnB w="11430" cap="flat" cmpd="sng" algn="ctr">
                      <a:solidFill>
                        <a:srgbClr val="000000"/>
                      </a:solidFill>
                      <a:prstDash val="dot"/>
                      <a:round/>
                      <a:headEnd type="none" w="med" len="med"/>
                      <a:tailEnd type="none" w="med" len="med"/>
                    </a:lnB>
                    <a:solidFill>
                      <a:srgbClr val="A3E5EE"/>
                    </a:solidFill>
                  </a:tcPr>
                </a:tc>
                <a:tc>
                  <a:txBody>
                    <a:bodyPr/>
                    <a:lstStyle/>
                    <a:p>
                      <a:pPr algn="ctr" fontAlgn="base">
                        <a:lnSpc>
                          <a:spcPts val="2175"/>
                        </a:lnSpc>
                        <a:buNone/>
                      </a:pPr>
                      <a:r>
                        <a:rPr lang="en-US" sz="1800" b="1" i="0" u="none" strike="noStrike">
                          <a:solidFill>
                            <a:srgbClr val="000000"/>
                          </a:solidFill>
                          <a:effectLst/>
                          <a:latin typeface="Arial"/>
                          <a:cs typeface="Arial"/>
                        </a:rPr>
                        <a:t>Actual</a:t>
                      </a:r>
                      <a:endParaRPr lang="zh-CN" sz="1800" b="0" i="0">
                        <a:solidFill>
                          <a:srgbClr val="000000"/>
                        </a:solidFill>
                        <a:effectLst/>
                        <a:latin typeface="Arial"/>
                        <a:cs typeface="Arial"/>
                      </a:endParaRPr>
                    </a:p>
                  </a:txBody>
                  <a:tcPr marL="11430" marR="11430" marT="11430" marB="11430" anchor="ctr">
                    <a:lnL w="11430" cap="flat" cmpd="sng" algn="ctr">
                      <a:solidFill>
                        <a:srgbClr val="000000"/>
                      </a:solidFill>
                      <a:prstDash val="dot"/>
                      <a:round/>
                      <a:headEnd type="none" w="med" len="med"/>
                      <a:tailEnd type="none" w="med" len="med"/>
                    </a:lnL>
                    <a:lnR w="11430" cap="flat" cmpd="sng" algn="ctr">
                      <a:solidFill>
                        <a:srgbClr val="000000"/>
                      </a:solidFill>
                      <a:prstDash val="dot"/>
                      <a:round/>
                      <a:headEnd type="none" w="med" len="med"/>
                      <a:tailEnd type="none" w="med" len="med"/>
                    </a:lnR>
                    <a:lnT w="11430" cap="flat" cmpd="sng" algn="ctr">
                      <a:solidFill>
                        <a:srgbClr val="000000"/>
                      </a:solidFill>
                      <a:prstDash val="dot"/>
                      <a:round/>
                      <a:headEnd type="none" w="med" len="med"/>
                      <a:tailEnd type="none" w="med" len="med"/>
                    </a:lnT>
                    <a:lnB w="11430" cap="flat" cmpd="sng" algn="ctr">
                      <a:solidFill>
                        <a:srgbClr val="000000"/>
                      </a:solidFill>
                      <a:prstDash val="dot"/>
                      <a:round/>
                      <a:headEnd type="none" w="med" len="med"/>
                      <a:tailEnd type="none" w="med" len="med"/>
                    </a:lnB>
                    <a:solidFill>
                      <a:srgbClr val="A3E5EE"/>
                    </a:solidFill>
                  </a:tcPr>
                </a:tc>
                <a:tc>
                  <a:txBody>
                    <a:bodyPr/>
                    <a:lstStyle/>
                    <a:p>
                      <a:pPr algn="ctr" fontAlgn="base">
                        <a:lnSpc>
                          <a:spcPts val="2175"/>
                        </a:lnSpc>
                        <a:buNone/>
                      </a:pPr>
                      <a:r>
                        <a:rPr lang="en-US" sz="1800" b="1" i="0" u="none" strike="noStrike">
                          <a:solidFill>
                            <a:srgbClr val="000000"/>
                          </a:solidFill>
                          <a:effectLst/>
                          <a:latin typeface="Arial"/>
                          <a:cs typeface="Arial"/>
                        </a:rPr>
                        <a:t>Planned</a:t>
                      </a:r>
                      <a:endParaRPr lang="zh-CN" sz="1800" b="0" i="0">
                        <a:solidFill>
                          <a:srgbClr val="000000"/>
                        </a:solidFill>
                        <a:effectLst/>
                        <a:latin typeface="Arial"/>
                        <a:cs typeface="Arial"/>
                      </a:endParaRPr>
                    </a:p>
                  </a:txBody>
                  <a:tcPr marL="11430" marR="11430" marT="11430" marB="11430" anchor="ctr">
                    <a:lnL w="11430" cap="flat" cmpd="sng" algn="ctr">
                      <a:solidFill>
                        <a:srgbClr val="000000"/>
                      </a:solidFill>
                      <a:prstDash val="dot"/>
                      <a:round/>
                      <a:headEnd type="none" w="med" len="med"/>
                      <a:tailEnd type="none" w="med" len="med"/>
                    </a:lnL>
                    <a:lnR w="11430" cap="flat" cmpd="sng" algn="ctr">
                      <a:solidFill>
                        <a:srgbClr val="000000"/>
                      </a:solidFill>
                      <a:prstDash val="dot"/>
                      <a:round/>
                      <a:headEnd type="none" w="med" len="med"/>
                      <a:tailEnd type="none" w="med" len="med"/>
                    </a:lnR>
                    <a:lnT w="11430" cap="flat" cmpd="sng" algn="ctr">
                      <a:solidFill>
                        <a:srgbClr val="000000"/>
                      </a:solidFill>
                      <a:prstDash val="dot"/>
                      <a:round/>
                      <a:headEnd type="none" w="med" len="med"/>
                      <a:tailEnd type="none" w="med" len="med"/>
                    </a:lnT>
                    <a:lnB w="11430" cap="flat" cmpd="sng" algn="ctr">
                      <a:solidFill>
                        <a:srgbClr val="000000"/>
                      </a:solidFill>
                      <a:prstDash val="dot"/>
                      <a:round/>
                      <a:headEnd type="none" w="med" len="med"/>
                      <a:tailEnd type="none" w="med" len="med"/>
                    </a:lnB>
                    <a:solidFill>
                      <a:srgbClr val="A3E5EE"/>
                    </a:solidFill>
                  </a:tcPr>
                </a:tc>
                <a:tc>
                  <a:txBody>
                    <a:bodyPr/>
                    <a:lstStyle/>
                    <a:p>
                      <a:pPr algn="ctr" fontAlgn="base">
                        <a:lnSpc>
                          <a:spcPts val="2175"/>
                        </a:lnSpc>
                        <a:buNone/>
                      </a:pPr>
                      <a:r>
                        <a:rPr lang="en-US" sz="1800" b="1" i="0" u="none" strike="noStrike">
                          <a:solidFill>
                            <a:srgbClr val="000000"/>
                          </a:solidFill>
                          <a:effectLst/>
                          <a:latin typeface="Arial"/>
                          <a:cs typeface="Arial"/>
                        </a:rPr>
                        <a:t>Actual</a:t>
                      </a:r>
                      <a:endParaRPr lang="zh-CN" sz="1800" b="0" i="0">
                        <a:solidFill>
                          <a:srgbClr val="000000"/>
                        </a:solidFill>
                        <a:effectLst/>
                        <a:latin typeface="Arial"/>
                        <a:cs typeface="Arial"/>
                      </a:endParaRPr>
                    </a:p>
                  </a:txBody>
                  <a:tcPr marL="11430" marR="11430" marT="11430" marB="11430" anchor="ctr">
                    <a:lnL w="11430" cap="flat" cmpd="sng" algn="ctr">
                      <a:solidFill>
                        <a:srgbClr val="000000"/>
                      </a:solidFill>
                      <a:prstDash val="dot"/>
                      <a:round/>
                      <a:headEnd type="none" w="med" len="med"/>
                      <a:tailEnd type="none" w="med" len="med"/>
                    </a:lnL>
                    <a:lnR w="11430" cap="flat" cmpd="sng" algn="ctr">
                      <a:solidFill>
                        <a:srgbClr val="000000"/>
                      </a:solidFill>
                      <a:prstDash val="dot"/>
                      <a:round/>
                      <a:headEnd type="none" w="med" len="med"/>
                      <a:tailEnd type="none" w="med" len="med"/>
                    </a:lnR>
                    <a:lnT w="11430" cap="flat" cmpd="sng" algn="ctr">
                      <a:solidFill>
                        <a:srgbClr val="000000"/>
                      </a:solidFill>
                      <a:prstDash val="dot"/>
                      <a:round/>
                      <a:headEnd type="none" w="med" len="med"/>
                      <a:tailEnd type="none" w="med" len="med"/>
                    </a:lnT>
                    <a:lnB w="11430" cap="flat" cmpd="sng" algn="ctr">
                      <a:solidFill>
                        <a:srgbClr val="000000"/>
                      </a:solidFill>
                      <a:prstDash val="dot"/>
                      <a:round/>
                      <a:headEnd type="none" w="med" len="med"/>
                      <a:tailEnd type="none" w="med" len="med"/>
                    </a:lnB>
                    <a:solidFill>
                      <a:srgbClr val="A3E5EE"/>
                    </a:solidFill>
                  </a:tcPr>
                </a:tc>
                <a:extLst>
                  <a:ext uri="{0D108BD9-81ED-4DB2-BD59-A6C34878D82A}">
                    <a16:rowId xmlns:a16="http://schemas.microsoft.com/office/drawing/2014/main" val="1130858642"/>
                  </a:ext>
                </a:extLst>
              </a:tr>
              <a:tr h="510556">
                <a:tc>
                  <a:txBody>
                    <a:bodyPr/>
                    <a:lstStyle/>
                    <a:p>
                      <a:pPr algn="ctr" fontAlgn="base">
                        <a:lnSpc>
                          <a:spcPts val="2175"/>
                        </a:lnSpc>
                        <a:buNone/>
                      </a:pPr>
                      <a:r>
                        <a:rPr lang="en-US" sz="1800" b="1" i="0" u="none" strike="noStrike">
                          <a:solidFill>
                            <a:srgbClr val="000000"/>
                          </a:solidFill>
                          <a:effectLst/>
                          <a:latin typeface="Arial"/>
                          <a:cs typeface="Arial"/>
                        </a:rPr>
                        <a:t>No. of screening</a:t>
                      </a:r>
                      <a:endParaRPr lang="en-US" sz="1800" b="0" i="0">
                        <a:solidFill>
                          <a:srgbClr val="000000"/>
                        </a:solidFill>
                        <a:effectLst/>
                        <a:latin typeface="Arial"/>
                        <a:cs typeface="Arial"/>
                      </a:endParaRPr>
                    </a:p>
                    <a:p>
                      <a:pPr algn="ctr" fontAlgn="base">
                        <a:lnSpc>
                          <a:spcPts val="2175"/>
                        </a:lnSpc>
                        <a:buNone/>
                      </a:pPr>
                      <a:r>
                        <a:rPr lang="en-US" sz="1800" b="1" i="0" u="none" strike="noStrike">
                          <a:solidFill>
                            <a:srgbClr val="000000"/>
                          </a:solidFill>
                          <a:effectLst/>
                          <a:latin typeface="Arial"/>
                          <a:cs typeface="Arial"/>
                        </a:rPr>
                        <a:t>-adults</a:t>
                      </a:r>
                      <a:endParaRPr lang="zh-CN" sz="1800" b="0" i="0">
                        <a:solidFill>
                          <a:srgbClr val="000000"/>
                        </a:solidFill>
                        <a:effectLst/>
                        <a:latin typeface="Arial"/>
                        <a:cs typeface="Arial"/>
                      </a:endParaRPr>
                    </a:p>
                  </a:txBody>
                  <a:tcPr marL="11430" marR="11430" marT="11430" marB="11430" anchor="ctr">
                    <a:lnL w="11430" cap="flat" cmpd="sng" algn="ctr">
                      <a:solidFill>
                        <a:srgbClr val="000000"/>
                      </a:solidFill>
                      <a:prstDash val="dot"/>
                      <a:round/>
                      <a:headEnd type="none" w="med" len="med"/>
                      <a:tailEnd type="none" w="med" len="med"/>
                    </a:lnL>
                    <a:lnR w="11430" cap="flat" cmpd="sng" algn="ctr">
                      <a:solidFill>
                        <a:srgbClr val="000000"/>
                      </a:solidFill>
                      <a:prstDash val="dot"/>
                      <a:round/>
                      <a:headEnd type="none" w="med" len="med"/>
                      <a:tailEnd type="none" w="med" len="med"/>
                    </a:lnR>
                    <a:lnT w="11430" cap="flat" cmpd="sng" algn="ctr">
                      <a:solidFill>
                        <a:srgbClr val="000000"/>
                      </a:solidFill>
                      <a:prstDash val="dot"/>
                      <a:round/>
                      <a:headEnd type="none" w="med" len="med"/>
                      <a:tailEnd type="none" w="med" len="med"/>
                    </a:lnT>
                    <a:lnB w="11430" cap="flat" cmpd="sng" algn="ctr">
                      <a:solidFill>
                        <a:srgbClr val="000000"/>
                      </a:solidFill>
                      <a:prstDash val="dot"/>
                      <a:round/>
                      <a:headEnd type="none" w="med" len="med"/>
                      <a:tailEnd type="none" w="med" len="med"/>
                    </a:lnB>
                    <a:solidFill>
                      <a:srgbClr val="F0FAFC"/>
                    </a:solidFill>
                  </a:tcPr>
                </a:tc>
                <a:tc>
                  <a:txBody>
                    <a:bodyPr/>
                    <a:lstStyle/>
                    <a:p>
                      <a:pPr algn="ctr" fontAlgn="base">
                        <a:lnSpc>
                          <a:spcPts val="1650"/>
                        </a:lnSpc>
                        <a:buNone/>
                      </a:pPr>
                      <a:r>
                        <a:rPr lang="en-US" sz="1400" b="0" i="0">
                          <a:solidFill>
                            <a:srgbClr val="000000"/>
                          </a:solidFill>
                          <a:effectLst/>
                          <a:latin typeface="Arial"/>
                          <a:cs typeface="Arial"/>
                        </a:rPr>
                        <a:t>2400</a:t>
                      </a:r>
                      <a:endParaRPr lang="zh-CN" sz="1400" b="0" i="0">
                        <a:solidFill>
                          <a:srgbClr val="000000"/>
                        </a:solidFill>
                        <a:effectLst/>
                        <a:latin typeface="Arial"/>
                        <a:cs typeface="Arial"/>
                      </a:endParaRPr>
                    </a:p>
                  </a:txBody>
                  <a:tcPr marL="11430" marR="11430" marT="11430" marB="11430" anchor="ctr">
                    <a:lnL w="11430" cap="flat" cmpd="sng" algn="ctr">
                      <a:solidFill>
                        <a:srgbClr val="000000"/>
                      </a:solidFill>
                      <a:prstDash val="dot"/>
                      <a:round/>
                      <a:headEnd type="none" w="med" len="med"/>
                      <a:tailEnd type="none" w="med" len="med"/>
                    </a:lnL>
                    <a:lnR w="11430" cap="flat" cmpd="sng" algn="ctr">
                      <a:solidFill>
                        <a:srgbClr val="000000"/>
                      </a:solidFill>
                      <a:prstDash val="dot"/>
                      <a:round/>
                      <a:headEnd type="none" w="med" len="med"/>
                      <a:tailEnd type="none" w="med" len="med"/>
                    </a:lnR>
                    <a:lnT w="11430" cap="flat" cmpd="sng" algn="ctr">
                      <a:solidFill>
                        <a:srgbClr val="000000"/>
                      </a:solidFill>
                      <a:prstDash val="dot"/>
                      <a:round/>
                      <a:headEnd type="none" w="med" len="med"/>
                      <a:tailEnd type="none" w="med" len="med"/>
                    </a:lnT>
                    <a:lnB w="11430" cap="flat" cmpd="sng" algn="ctr">
                      <a:solidFill>
                        <a:srgbClr val="000000"/>
                      </a:solidFill>
                      <a:prstDash val="dot"/>
                      <a:round/>
                      <a:headEnd type="none" w="med" len="med"/>
                      <a:tailEnd type="none" w="med" len="med"/>
                    </a:lnB>
                    <a:solidFill>
                      <a:srgbClr val="F0FAFC"/>
                    </a:solidFill>
                  </a:tcPr>
                </a:tc>
                <a:tc>
                  <a:txBody>
                    <a:bodyPr/>
                    <a:lstStyle/>
                    <a:p>
                      <a:pPr algn="ctr" fontAlgn="base">
                        <a:lnSpc>
                          <a:spcPts val="1650"/>
                        </a:lnSpc>
                        <a:buNone/>
                      </a:pPr>
                      <a:r>
                        <a:rPr lang="en-US" sz="1400" b="0" i="0">
                          <a:solidFill>
                            <a:srgbClr val="000000"/>
                          </a:solidFill>
                          <a:effectLst/>
                          <a:latin typeface="Arial"/>
                          <a:cs typeface="Arial"/>
                        </a:rPr>
                        <a:t>1112</a:t>
                      </a:r>
                      <a:endParaRPr lang="zh-CN" sz="1400" b="0" i="0">
                        <a:solidFill>
                          <a:srgbClr val="000000"/>
                        </a:solidFill>
                        <a:effectLst/>
                        <a:latin typeface="Arial"/>
                        <a:cs typeface="Arial"/>
                      </a:endParaRPr>
                    </a:p>
                  </a:txBody>
                  <a:tcPr marL="11430" marR="11430" marT="11430" marB="11430" anchor="ctr">
                    <a:lnL w="11430" cap="flat" cmpd="sng" algn="ctr">
                      <a:solidFill>
                        <a:srgbClr val="000000"/>
                      </a:solidFill>
                      <a:prstDash val="dot"/>
                      <a:round/>
                      <a:headEnd type="none" w="med" len="med"/>
                      <a:tailEnd type="none" w="med" len="med"/>
                    </a:lnL>
                    <a:lnR w="11430" cap="flat" cmpd="sng" algn="ctr">
                      <a:solidFill>
                        <a:srgbClr val="000000"/>
                      </a:solidFill>
                      <a:prstDash val="dot"/>
                      <a:round/>
                      <a:headEnd type="none" w="med" len="med"/>
                      <a:tailEnd type="none" w="med" len="med"/>
                    </a:lnR>
                    <a:lnT w="11430" cap="flat" cmpd="sng" algn="ctr">
                      <a:solidFill>
                        <a:srgbClr val="000000"/>
                      </a:solidFill>
                      <a:prstDash val="dot"/>
                      <a:round/>
                      <a:headEnd type="none" w="med" len="med"/>
                      <a:tailEnd type="none" w="med" len="med"/>
                    </a:lnT>
                    <a:lnB w="11430" cap="flat" cmpd="sng" algn="ctr">
                      <a:solidFill>
                        <a:srgbClr val="000000"/>
                      </a:solidFill>
                      <a:prstDash val="dot"/>
                      <a:round/>
                      <a:headEnd type="none" w="med" len="med"/>
                      <a:tailEnd type="none" w="med" len="med"/>
                    </a:lnB>
                    <a:solidFill>
                      <a:srgbClr val="F0FAFC"/>
                    </a:solidFill>
                  </a:tcPr>
                </a:tc>
                <a:tc>
                  <a:txBody>
                    <a:bodyPr/>
                    <a:lstStyle/>
                    <a:p>
                      <a:pPr algn="ctr" fontAlgn="base">
                        <a:lnSpc>
                          <a:spcPts val="1650"/>
                        </a:lnSpc>
                        <a:buNone/>
                      </a:pPr>
                      <a:r>
                        <a:rPr lang="en-US" sz="1400" b="0" i="0">
                          <a:solidFill>
                            <a:srgbClr val="000000"/>
                          </a:solidFill>
                          <a:effectLst/>
                          <a:latin typeface="Arial"/>
                          <a:cs typeface="Arial"/>
                        </a:rPr>
                        <a:t>268</a:t>
                      </a:r>
                      <a:endParaRPr lang="zh-CN" sz="1400" b="0" i="0">
                        <a:solidFill>
                          <a:srgbClr val="000000"/>
                        </a:solidFill>
                        <a:effectLst/>
                        <a:latin typeface="Arial"/>
                        <a:cs typeface="Arial"/>
                      </a:endParaRPr>
                    </a:p>
                  </a:txBody>
                  <a:tcPr marL="11430" marR="11430" marT="11430" marB="11430" anchor="ctr">
                    <a:lnL w="11430" cap="flat" cmpd="sng" algn="ctr">
                      <a:solidFill>
                        <a:srgbClr val="000000"/>
                      </a:solidFill>
                      <a:prstDash val="dot"/>
                      <a:round/>
                      <a:headEnd type="none" w="med" len="med"/>
                      <a:tailEnd type="none" w="med" len="med"/>
                    </a:lnL>
                    <a:lnR w="11430" cap="flat" cmpd="sng" algn="ctr">
                      <a:solidFill>
                        <a:srgbClr val="000000"/>
                      </a:solidFill>
                      <a:prstDash val="dot"/>
                      <a:round/>
                      <a:headEnd type="none" w="med" len="med"/>
                      <a:tailEnd type="none" w="med" len="med"/>
                    </a:lnR>
                    <a:lnT w="11430" cap="flat" cmpd="sng" algn="ctr">
                      <a:solidFill>
                        <a:srgbClr val="000000"/>
                      </a:solidFill>
                      <a:prstDash val="dot"/>
                      <a:round/>
                      <a:headEnd type="none" w="med" len="med"/>
                      <a:tailEnd type="none" w="med" len="med"/>
                    </a:lnT>
                    <a:lnB w="11430" cap="flat" cmpd="sng" algn="ctr">
                      <a:solidFill>
                        <a:srgbClr val="000000"/>
                      </a:solidFill>
                      <a:prstDash val="dot"/>
                      <a:round/>
                      <a:headEnd type="none" w="med" len="med"/>
                      <a:tailEnd type="none" w="med" len="med"/>
                    </a:lnB>
                    <a:solidFill>
                      <a:srgbClr val="F0FAFC"/>
                    </a:solidFill>
                  </a:tcPr>
                </a:tc>
                <a:tc>
                  <a:txBody>
                    <a:bodyPr/>
                    <a:lstStyle/>
                    <a:p>
                      <a:pPr algn="ctr" fontAlgn="base">
                        <a:lnSpc>
                          <a:spcPts val="1650"/>
                        </a:lnSpc>
                        <a:buNone/>
                      </a:pPr>
                      <a:r>
                        <a:rPr lang="en-US" sz="1400" b="0" i="0">
                          <a:solidFill>
                            <a:srgbClr val="000000"/>
                          </a:solidFill>
                          <a:effectLst/>
                          <a:latin typeface="Arial"/>
                          <a:cs typeface="Arial"/>
                        </a:rPr>
                        <a:t>214</a:t>
                      </a:r>
                      <a:endParaRPr lang="zh-CN" sz="1400" b="0" i="0">
                        <a:solidFill>
                          <a:srgbClr val="000000"/>
                        </a:solidFill>
                        <a:effectLst/>
                        <a:latin typeface="Arial"/>
                        <a:cs typeface="Arial"/>
                      </a:endParaRPr>
                    </a:p>
                  </a:txBody>
                  <a:tcPr marL="11430" marR="11430" marT="11430" marB="11430" anchor="ctr">
                    <a:lnL w="11430" cap="flat" cmpd="sng" algn="ctr">
                      <a:solidFill>
                        <a:srgbClr val="000000"/>
                      </a:solidFill>
                      <a:prstDash val="dot"/>
                      <a:round/>
                      <a:headEnd type="none" w="med" len="med"/>
                      <a:tailEnd type="none" w="med" len="med"/>
                    </a:lnL>
                    <a:lnR w="11430" cap="flat" cmpd="sng" algn="ctr">
                      <a:solidFill>
                        <a:srgbClr val="000000"/>
                      </a:solidFill>
                      <a:prstDash val="dot"/>
                      <a:round/>
                      <a:headEnd type="none" w="med" len="med"/>
                      <a:tailEnd type="none" w="med" len="med"/>
                    </a:lnR>
                    <a:lnT w="11430" cap="flat" cmpd="sng" algn="ctr">
                      <a:solidFill>
                        <a:srgbClr val="000000"/>
                      </a:solidFill>
                      <a:prstDash val="dot"/>
                      <a:round/>
                      <a:headEnd type="none" w="med" len="med"/>
                      <a:tailEnd type="none" w="med" len="med"/>
                    </a:lnT>
                    <a:lnB w="11430" cap="flat" cmpd="sng" algn="ctr">
                      <a:solidFill>
                        <a:srgbClr val="000000"/>
                      </a:solidFill>
                      <a:prstDash val="dot"/>
                      <a:round/>
                      <a:headEnd type="none" w="med" len="med"/>
                      <a:tailEnd type="none" w="med" len="med"/>
                    </a:lnB>
                    <a:solidFill>
                      <a:srgbClr val="F0FAFC"/>
                    </a:solidFill>
                  </a:tcPr>
                </a:tc>
                <a:extLst>
                  <a:ext uri="{0D108BD9-81ED-4DB2-BD59-A6C34878D82A}">
                    <a16:rowId xmlns:a16="http://schemas.microsoft.com/office/drawing/2014/main" val="3174365168"/>
                  </a:ext>
                </a:extLst>
              </a:tr>
              <a:tr h="510556">
                <a:tc>
                  <a:txBody>
                    <a:bodyPr/>
                    <a:lstStyle/>
                    <a:p>
                      <a:pPr algn="ctr" fontAlgn="base">
                        <a:lnSpc>
                          <a:spcPts val="2175"/>
                        </a:lnSpc>
                        <a:buNone/>
                      </a:pPr>
                      <a:r>
                        <a:rPr lang="en-US" sz="1800" b="1" i="0" u="none" strike="noStrike">
                          <a:solidFill>
                            <a:srgbClr val="000000"/>
                          </a:solidFill>
                          <a:effectLst/>
                          <a:latin typeface="Arial"/>
                          <a:cs typeface="Arial"/>
                        </a:rPr>
                        <a:t>No. of randomization-</a:t>
                      </a:r>
                      <a:r>
                        <a:rPr lang="zh-CN" sz="1800" b="1" i="0" u="none" strike="noStrike">
                          <a:solidFill>
                            <a:srgbClr val="000000"/>
                          </a:solidFill>
                          <a:effectLst/>
                          <a:latin typeface="Arial"/>
                          <a:ea typeface="DengXian"/>
                          <a:cs typeface="Arial"/>
                        </a:rPr>
                        <a:t>adults</a:t>
                      </a:r>
                      <a:endParaRPr lang="en-US" sz="1800" b="0" i="0">
                        <a:solidFill>
                          <a:srgbClr val="000000"/>
                        </a:solidFill>
                        <a:effectLst/>
                        <a:latin typeface="Arial"/>
                        <a:ea typeface="DengXian"/>
                        <a:cs typeface="Arial"/>
                      </a:endParaRPr>
                    </a:p>
                  </a:txBody>
                  <a:tcPr marL="11430" marR="11430" marT="11430" marB="11430" anchor="ctr">
                    <a:lnL w="11430" cap="flat" cmpd="sng" algn="ctr">
                      <a:solidFill>
                        <a:srgbClr val="000000"/>
                      </a:solidFill>
                      <a:prstDash val="dot"/>
                      <a:round/>
                      <a:headEnd type="none" w="med" len="med"/>
                      <a:tailEnd type="none" w="med" len="med"/>
                    </a:lnL>
                    <a:lnR w="11430" cap="flat" cmpd="sng" algn="ctr">
                      <a:solidFill>
                        <a:srgbClr val="000000"/>
                      </a:solidFill>
                      <a:prstDash val="dot"/>
                      <a:round/>
                      <a:headEnd type="none" w="med" len="med"/>
                      <a:tailEnd type="none" w="med" len="med"/>
                    </a:lnR>
                    <a:lnT w="11430" cap="flat" cmpd="sng" algn="ctr">
                      <a:solidFill>
                        <a:srgbClr val="000000"/>
                      </a:solidFill>
                      <a:prstDash val="dot"/>
                      <a:round/>
                      <a:headEnd type="none" w="med" len="med"/>
                      <a:tailEnd type="none" w="med" len="med"/>
                    </a:lnT>
                    <a:lnB w="11430" cap="flat" cmpd="sng" algn="ctr">
                      <a:solidFill>
                        <a:srgbClr val="000000"/>
                      </a:solidFill>
                      <a:prstDash val="dot"/>
                      <a:round/>
                      <a:headEnd type="none" w="med" len="med"/>
                      <a:tailEnd type="none" w="med" len="med"/>
                    </a:lnB>
                    <a:solidFill>
                      <a:srgbClr val="F1FAFC"/>
                    </a:solidFill>
                  </a:tcPr>
                </a:tc>
                <a:tc>
                  <a:txBody>
                    <a:bodyPr/>
                    <a:lstStyle/>
                    <a:p>
                      <a:pPr algn="ctr" fontAlgn="base">
                        <a:lnSpc>
                          <a:spcPts val="1650"/>
                        </a:lnSpc>
                        <a:buNone/>
                      </a:pPr>
                      <a:r>
                        <a:rPr lang="en-US" sz="1400" b="0" i="0">
                          <a:solidFill>
                            <a:srgbClr val="000000"/>
                          </a:solidFill>
                          <a:effectLst/>
                          <a:latin typeface="Arial"/>
                          <a:cs typeface="Arial"/>
                        </a:rPr>
                        <a:t>1680</a:t>
                      </a:r>
                      <a:endParaRPr lang="zh-CN" sz="1400" b="0" i="0">
                        <a:solidFill>
                          <a:srgbClr val="000000"/>
                        </a:solidFill>
                        <a:effectLst/>
                        <a:latin typeface="Arial"/>
                        <a:cs typeface="Arial"/>
                      </a:endParaRPr>
                    </a:p>
                  </a:txBody>
                  <a:tcPr marL="11430" marR="11430" marT="11430" marB="11430" anchor="ctr">
                    <a:lnL w="11430" cap="flat" cmpd="sng" algn="ctr">
                      <a:solidFill>
                        <a:srgbClr val="000000"/>
                      </a:solidFill>
                      <a:prstDash val="dot"/>
                      <a:round/>
                      <a:headEnd type="none" w="med" len="med"/>
                      <a:tailEnd type="none" w="med" len="med"/>
                    </a:lnL>
                    <a:lnR w="11430" cap="flat" cmpd="sng" algn="ctr">
                      <a:solidFill>
                        <a:srgbClr val="000000"/>
                      </a:solidFill>
                      <a:prstDash val="dot"/>
                      <a:round/>
                      <a:headEnd type="none" w="med" len="med"/>
                      <a:tailEnd type="none" w="med" len="med"/>
                    </a:lnR>
                    <a:lnT w="11430" cap="flat" cmpd="sng" algn="ctr">
                      <a:solidFill>
                        <a:srgbClr val="000000"/>
                      </a:solidFill>
                      <a:prstDash val="dot"/>
                      <a:round/>
                      <a:headEnd type="none" w="med" len="med"/>
                      <a:tailEnd type="none" w="med" len="med"/>
                    </a:lnT>
                    <a:lnB w="11430" cap="flat" cmpd="sng" algn="ctr">
                      <a:solidFill>
                        <a:srgbClr val="000000"/>
                      </a:solidFill>
                      <a:prstDash val="dot"/>
                      <a:round/>
                      <a:headEnd type="none" w="med" len="med"/>
                      <a:tailEnd type="none" w="med" len="med"/>
                    </a:lnB>
                    <a:solidFill>
                      <a:srgbClr val="F1FAFC"/>
                    </a:solidFill>
                  </a:tcPr>
                </a:tc>
                <a:tc>
                  <a:txBody>
                    <a:bodyPr/>
                    <a:lstStyle/>
                    <a:p>
                      <a:pPr algn="ctr" fontAlgn="base">
                        <a:lnSpc>
                          <a:spcPts val="1650"/>
                        </a:lnSpc>
                        <a:buNone/>
                      </a:pPr>
                      <a:r>
                        <a:rPr lang="en-US" sz="1400" b="1" i="0">
                          <a:solidFill>
                            <a:srgbClr val="000000"/>
                          </a:solidFill>
                          <a:effectLst/>
                          <a:latin typeface="Arial"/>
                          <a:cs typeface="Arial"/>
                        </a:rPr>
                        <a:t>1588</a:t>
                      </a:r>
                      <a:endParaRPr lang="en-US" sz="1400" b="0" i="0">
                        <a:solidFill>
                          <a:srgbClr val="000000"/>
                        </a:solidFill>
                        <a:effectLst/>
                        <a:latin typeface="Arial"/>
                        <a:cs typeface="Arial"/>
                      </a:endParaRPr>
                    </a:p>
                  </a:txBody>
                  <a:tcPr marL="11430" marR="11430" marT="11430" marB="11430" anchor="ctr">
                    <a:lnL w="11430" cap="flat" cmpd="sng" algn="ctr">
                      <a:solidFill>
                        <a:srgbClr val="000000"/>
                      </a:solidFill>
                      <a:prstDash val="dot"/>
                      <a:round/>
                      <a:headEnd type="none" w="med" len="med"/>
                      <a:tailEnd type="none" w="med" len="med"/>
                    </a:lnL>
                    <a:lnR w="11430" cap="flat" cmpd="sng" algn="ctr">
                      <a:solidFill>
                        <a:srgbClr val="000000"/>
                      </a:solidFill>
                      <a:prstDash val="dot"/>
                      <a:round/>
                      <a:headEnd type="none" w="med" len="med"/>
                      <a:tailEnd type="none" w="med" len="med"/>
                    </a:lnR>
                    <a:lnT w="11430" cap="flat" cmpd="sng" algn="ctr">
                      <a:solidFill>
                        <a:srgbClr val="000000"/>
                      </a:solidFill>
                      <a:prstDash val="dot"/>
                      <a:round/>
                      <a:headEnd type="none" w="med" len="med"/>
                      <a:tailEnd type="none" w="med" len="med"/>
                    </a:lnT>
                    <a:lnB w="11430" cap="flat" cmpd="sng" algn="ctr">
                      <a:solidFill>
                        <a:srgbClr val="000000"/>
                      </a:solidFill>
                      <a:prstDash val="dot"/>
                      <a:round/>
                      <a:headEnd type="none" w="med" len="med"/>
                      <a:tailEnd type="none" w="med" len="med"/>
                    </a:lnB>
                    <a:solidFill>
                      <a:srgbClr val="F1FAFC"/>
                    </a:solidFill>
                  </a:tcPr>
                </a:tc>
                <a:tc>
                  <a:txBody>
                    <a:bodyPr/>
                    <a:lstStyle/>
                    <a:p>
                      <a:pPr algn="ctr" fontAlgn="base">
                        <a:lnSpc>
                          <a:spcPts val="1650"/>
                        </a:lnSpc>
                        <a:buNone/>
                      </a:pPr>
                      <a:r>
                        <a:rPr lang="en-US" sz="1400" b="0" i="0">
                          <a:solidFill>
                            <a:srgbClr val="000000"/>
                          </a:solidFill>
                          <a:effectLst/>
                          <a:latin typeface="Arial"/>
                          <a:cs typeface="Arial"/>
                        </a:rPr>
                        <a:t>201</a:t>
                      </a:r>
                      <a:endParaRPr lang="zh-CN" sz="1400" b="0" i="0">
                        <a:solidFill>
                          <a:srgbClr val="000000"/>
                        </a:solidFill>
                        <a:effectLst/>
                        <a:latin typeface="Arial"/>
                        <a:cs typeface="Arial"/>
                      </a:endParaRPr>
                    </a:p>
                  </a:txBody>
                  <a:tcPr marL="11430" marR="11430" marT="11430" marB="11430" anchor="ctr">
                    <a:lnL w="11430" cap="flat" cmpd="sng" algn="ctr">
                      <a:solidFill>
                        <a:srgbClr val="000000"/>
                      </a:solidFill>
                      <a:prstDash val="dot"/>
                      <a:round/>
                      <a:headEnd type="none" w="med" len="med"/>
                      <a:tailEnd type="none" w="med" len="med"/>
                    </a:lnL>
                    <a:lnR w="11430" cap="flat" cmpd="sng" algn="ctr">
                      <a:solidFill>
                        <a:srgbClr val="000000"/>
                      </a:solidFill>
                      <a:prstDash val="dot"/>
                      <a:round/>
                      <a:headEnd type="none" w="med" len="med"/>
                      <a:tailEnd type="none" w="med" len="med"/>
                    </a:lnR>
                    <a:lnT w="11430" cap="flat" cmpd="sng" algn="ctr">
                      <a:solidFill>
                        <a:srgbClr val="000000"/>
                      </a:solidFill>
                      <a:prstDash val="dot"/>
                      <a:round/>
                      <a:headEnd type="none" w="med" len="med"/>
                      <a:tailEnd type="none" w="med" len="med"/>
                    </a:lnT>
                    <a:lnB w="11430" cap="flat" cmpd="sng" algn="ctr">
                      <a:solidFill>
                        <a:srgbClr val="000000"/>
                      </a:solidFill>
                      <a:prstDash val="dot"/>
                      <a:round/>
                      <a:headEnd type="none" w="med" len="med"/>
                      <a:tailEnd type="none" w="med" len="med"/>
                    </a:lnB>
                    <a:solidFill>
                      <a:srgbClr val="F1FAFC"/>
                    </a:solidFill>
                  </a:tcPr>
                </a:tc>
                <a:tc>
                  <a:txBody>
                    <a:bodyPr/>
                    <a:lstStyle/>
                    <a:p>
                      <a:pPr algn="ctr" fontAlgn="base">
                        <a:lnSpc>
                          <a:spcPts val="1650"/>
                        </a:lnSpc>
                        <a:buNone/>
                      </a:pPr>
                      <a:r>
                        <a:rPr lang="en-US" sz="1400" b="1" i="0">
                          <a:solidFill>
                            <a:srgbClr val="000000"/>
                          </a:solidFill>
                          <a:effectLst/>
                          <a:latin typeface="Arial"/>
                          <a:cs typeface="Arial"/>
                        </a:rPr>
                        <a:t>242</a:t>
                      </a:r>
                      <a:endParaRPr lang="zh-CN" sz="1400" b="0" i="0">
                        <a:solidFill>
                          <a:srgbClr val="000000"/>
                        </a:solidFill>
                        <a:effectLst/>
                        <a:latin typeface="Arial"/>
                        <a:cs typeface="Arial"/>
                      </a:endParaRPr>
                    </a:p>
                  </a:txBody>
                  <a:tcPr marL="11430" marR="11430" marT="11430" marB="11430" anchor="ctr">
                    <a:lnL w="11430" cap="flat" cmpd="sng" algn="ctr">
                      <a:solidFill>
                        <a:srgbClr val="000000"/>
                      </a:solidFill>
                      <a:prstDash val="dot"/>
                      <a:round/>
                      <a:headEnd type="none" w="med" len="med"/>
                      <a:tailEnd type="none" w="med" len="med"/>
                    </a:lnL>
                    <a:lnR w="11430" cap="flat" cmpd="sng" algn="ctr">
                      <a:solidFill>
                        <a:srgbClr val="000000"/>
                      </a:solidFill>
                      <a:prstDash val="dot"/>
                      <a:round/>
                      <a:headEnd type="none" w="med" len="med"/>
                      <a:tailEnd type="none" w="med" len="med"/>
                    </a:lnR>
                    <a:lnT w="11430" cap="flat" cmpd="sng" algn="ctr">
                      <a:solidFill>
                        <a:srgbClr val="000000"/>
                      </a:solidFill>
                      <a:prstDash val="dot"/>
                      <a:round/>
                      <a:headEnd type="none" w="med" len="med"/>
                      <a:tailEnd type="none" w="med" len="med"/>
                    </a:lnT>
                    <a:lnB w="11430" cap="flat" cmpd="sng" algn="ctr">
                      <a:solidFill>
                        <a:srgbClr val="000000"/>
                      </a:solidFill>
                      <a:prstDash val="dot"/>
                      <a:round/>
                      <a:headEnd type="none" w="med" len="med"/>
                      <a:tailEnd type="none" w="med" len="med"/>
                    </a:lnB>
                    <a:solidFill>
                      <a:srgbClr val="F1FAFC"/>
                    </a:solidFill>
                  </a:tcPr>
                </a:tc>
                <a:extLst>
                  <a:ext uri="{0D108BD9-81ED-4DB2-BD59-A6C34878D82A}">
                    <a16:rowId xmlns:a16="http://schemas.microsoft.com/office/drawing/2014/main" val="1346144494"/>
                  </a:ext>
                </a:extLst>
              </a:tr>
              <a:tr h="264733">
                <a:tc>
                  <a:txBody>
                    <a:bodyPr/>
                    <a:lstStyle/>
                    <a:p>
                      <a:pPr algn="ctr" fontAlgn="base">
                        <a:lnSpc>
                          <a:spcPts val="2175"/>
                        </a:lnSpc>
                        <a:buNone/>
                      </a:pPr>
                      <a:r>
                        <a:rPr lang="en-US" sz="1800" b="1" i="0" u="none" strike="noStrike">
                          <a:solidFill>
                            <a:srgbClr val="000000"/>
                          </a:solidFill>
                          <a:effectLst/>
                          <a:latin typeface="Arial"/>
                          <a:cs typeface="Arial"/>
                        </a:rPr>
                        <a:t>Screen failure-</a:t>
                      </a:r>
                      <a:r>
                        <a:rPr lang="zh-CN" sz="1800" b="1" i="0" u="none" strike="noStrike">
                          <a:solidFill>
                            <a:srgbClr val="000000"/>
                          </a:solidFill>
                          <a:effectLst/>
                          <a:latin typeface="Arial"/>
                          <a:ea typeface="DengXian"/>
                          <a:cs typeface="Arial"/>
                        </a:rPr>
                        <a:t>adults</a:t>
                      </a:r>
                      <a:endParaRPr lang="en-US" sz="1800" b="0" i="0">
                        <a:solidFill>
                          <a:srgbClr val="000000"/>
                        </a:solidFill>
                        <a:effectLst/>
                        <a:latin typeface="Arial"/>
                        <a:ea typeface="DengXian"/>
                        <a:cs typeface="Arial"/>
                      </a:endParaRPr>
                    </a:p>
                  </a:txBody>
                  <a:tcPr marL="11430" marR="11430" marT="11430" marB="11430" anchor="ctr">
                    <a:lnL w="11430" cap="flat" cmpd="sng" algn="ctr">
                      <a:solidFill>
                        <a:srgbClr val="000000"/>
                      </a:solidFill>
                      <a:prstDash val="dot"/>
                      <a:round/>
                      <a:headEnd type="none" w="med" len="med"/>
                      <a:tailEnd type="none" w="med" len="med"/>
                    </a:lnL>
                    <a:lnR w="11430" cap="flat" cmpd="sng" algn="ctr">
                      <a:solidFill>
                        <a:srgbClr val="000000"/>
                      </a:solidFill>
                      <a:prstDash val="dot"/>
                      <a:round/>
                      <a:headEnd type="none" w="med" len="med"/>
                      <a:tailEnd type="none" w="med" len="med"/>
                    </a:lnR>
                    <a:lnT w="11430" cap="flat" cmpd="sng" algn="ctr">
                      <a:solidFill>
                        <a:srgbClr val="000000"/>
                      </a:solidFill>
                      <a:prstDash val="dot"/>
                      <a:round/>
                      <a:headEnd type="none" w="med" len="med"/>
                      <a:tailEnd type="none" w="med" len="med"/>
                    </a:lnT>
                    <a:lnB w="11430" cap="flat" cmpd="sng" algn="ctr">
                      <a:solidFill>
                        <a:srgbClr val="000000"/>
                      </a:solidFill>
                      <a:prstDash val="solid"/>
                      <a:round/>
                      <a:headEnd type="none" w="med" len="med"/>
                      <a:tailEnd type="none" w="med" len="med"/>
                    </a:lnB>
                    <a:solidFill>
                      <a:srgbClr val="F0FAFC"/>
                    </a:solidFill>
                  </a:tcPr>
                </a:tc>
                <a:tc>
                  <a:txBody>
                    <a:bodyPr/>
                    <a:lstStyle/>
                    <a:p>
                      <a:pPr algn="ctr" fontAlgn="base">
                        <a:lnSpc>
                          <a:spcPts val="1650"/>
                        </a:lnSpc>
                        <a:buNone/>
                      </a:pPr>
                      <a:r>
                        <a:rPr lang="en-US" sz="1400" b="0" i="0">
                          <a:solidFill>
                            <a:srgbClr val="000000"/>
                          </a:solidFill>
                          <a:effectLst/>
                          <a:latin typeface="Arial"/>
                          <a:cs typeface="Arial"/>
                        </a:rPr>
                        <a:t>720</a:t>
                      </a:r>
                      <a:endParaRPr lang="zh-CN" sz="1400" b="0" i="0">
                        <a:solidFill>
                          <a:srgbClr val="000000"/>
                        </a:solidFill>
                        <a:effectLst/>
                        <a:latin typeface="Arial"/>
                        <a:cs typeface="Arial"/>
                      </a:endParaRPr>
                    </a:p>
                  </a:txBody>
                  <a:tcPr marL="11430" marR="11430" marT="11430" marB="11430" anchor="ctr">
                    <a:lnL w="11430" cap="flat" cmpd="sng" algn="ctr">
                      <a:solidFill>
                        <a:srgbClr val="000000"/>
                      </a:solidFill>
                      <a:prstDash val="dot"/>
                      <a:round/>
                      <a:headEnd type="none" w="med" len="med"/>
                      <a:tailEnd type="none" w="med" len="med"/>
                    </a:lnL>
                    <a:lnR w="11430" cap="flat" cmpd="sng" algn="ctr">
                      <a:solidFill>
                        <a:srgbClr val="000000"/>
                      </a:solidFill>
                      <a:prstDash val="dot"/>
                      <a:round/>
                      <a:headEnd type="none" w="med" len="med"/>
                      <a:tailEnd type="none" w="med" len="med"/>
                    </a:lnR>
                    <a:lnT w="11430" cap="flat" cmpd="sng" algn="ctr">
                      <a:solidFill>
                        <a:srgbClr val="000000"/>
                      </a:solidFill>
                      <a:prstDash val="dot"/>
                      <a:round/>
                      <a:headEnd type="none" w="med" len="med"/>
                      <a:tailEnd type="none" w="med" len="med"/>
                    </a:lnT>
                    <a:lnB w="11430" cap="flat" cmpd="sng" algn="ctr">
                      <a:solidFill>
                        <a:srgbClr val="000000"/>
                      </a:solidFill>
                      <a:prstDash val="solid"/>
                      <a:round/>
                      <a:headEnd type="none" w="med" len="med"/>
                      <a:tailEnd type="none" w="med" len="med"/>
                    </a:lnB>
                    <a:solidFill>
                      <a:srgbClr val="F0FAFC"/>
                    </a:solidFill>
                  </a:tcPr>
                </a:tc>
                <a:tc>
                  <a:txBody>
                    <a:bodyPr/>
                    <a:lstStyle/>
                    <a:p>
                      <a:pPr algn="ctr" fontAlgn="base">
                        <a:lnSpc>
                          <a:spcPts val="1650"/>
                        </a:lnSpc>
                        <a:buNone/>
                      </a:pPr>
                      <a:r>
                        <a:rPr lang="en-US" sz="1400" b="0" i="0">
                          <a:solidFill>
                            <a:srgbClr val="000000"/>
                          </a:solidFill>
                          <a:effectLst/>
                          <a:latin typeface="Arial"/>
                          <a:cs typeface="Arial"/>
                        </a:rPr>
                        <a:t>130 (12.6%)</a:t>
                      </a:r>
                    </a:p>
                  </a:txBody>
                  <a:tcPr marL="11430" marR="11430" marT="11430" marB="11430" anchor="ctr">
                    <a:lnL w="11430" cap="flat" cmpd="sng" algn="ctr">
                      <a:solidFill>
                        <a:srgbClr val="000000"/>
                      </a:solidFill>
                      <a:prstDash val="dot"/>
                      <a:round/>
                      <a:headEnd type="none" w="med" len="med"/>
                      <a:tailEnd type="none" w="med" len="med"/>
                    </a:lnL>
                    <a:lnR w="11430" cap="flat" cmpd="sng" algn="ctr">
                      <a:solidFill>
                        <a:srgbClr val="000000"/>
                      </a:solidFill>
                      <a:prstDash val="dot"/>
                      <a:round/>
                      <a:headEnd type="none" w="med" len="med"/>
                      <a:tailEnd type="none" w="med" len="med"/>
                    </a:lnR>
                    <a:lnT w="11430" cap="flat" cmpd="sng" algn="ctr">
                      <a:solidFill>
                        <a:srgbClr val="000000"/>
                      </a:solidFill>
                      <a:prstDash val="dot"/>
                      <a:round/>
                      <a:headEnd type="none" w="med" len="med"/>
                      <a:tailEnd type="none" w="med" len="med"/>
                    </a:lnT>
                    <a:lnB w="11430" cap="flat" cmpd="sng" algn="ctr">
                      <a:solidFill>
                        <a:srgbClr val="000000"/>
                      </a:solidFill>
                      <a:prstDash val="solid"/>
                      <a:round/>
                      <a:headEnd type="none" w="med" len="med"/>
                      <a:tailEnd type="none" w="med" len="med"/>
                    </a:lnB>
                    <a:solidFill>
                      <a:srgbClr val="F0FAFC"/>
                    </a:solidFill>
                  </a:tcPr>
                </a:tc>
                <a:tc>
                  <a:txBody>
                    <a:bodyPr/>
                    <a:lstStyle/>
                    <a:p>
                      <a:pPr algn="ctr" fontAlgn="base">
                        <a:lnSpc>
                          <a:spcPts val="1650"/>
                        </a:lnSpc>
                        <a:buNone/>
                      </a:pPr>
                      <a:r>
                        <a:rPr lang="en-US" sz="1400" b="0" i="0">
                          <a:solidFill>
                            <a:srgbClr val="000000"/>
                          </a:solidFill>
                          <a:effectLst/>
                          <a:latin typeface="Arial"/>
                          <a:cs typeface="Arial"/>
                        </a:rPr>
                        <a:t>67</a:t>
                      </a:r>
                      <a:endParaRPr lang="zh-CN" sz="1400" b="0" i="0">
                        <a:solidFill>
                          <a:srgbClr val="000000"/>
                        </a:solidFill>
                        <a:effectLst/>
                        <a:latin typeface="Arial"/>
                        <a:cs typeface="Arial"/>
                      </a:endParaRPr>
                    </a:p>
                  </a:txBody>
                  <a:tcPr marL="11430" marR="11430" marT="11430" marB="11430" anchor="ctr">
                    <a:lnL w="11430" cap="flat" cmpd="sng" algn="ctr">
                      <a:solidFill>
                        <a:srgbClr val="000000"/>
                      </a:solidFill>
                      <a:prstDash val="dot"/>
                      <a:round/>
                      <a:headEnd type="none" w="med" len="med"/>
                      <a:tailEnd type="none" w="med" len="med"/>
                    </a:lnL>
                    <a:lnR w="11430" cap="flat" cmpd="sng" algn="ctr">
                      <a:solidFill>
                        <a:srgbClr val="000000"/>
                      </a:solidFill>
                      <a:prstDash val="dot"/>
                      <a:round/>
                      <a:headEnd type="none" w="med" len="med"/>
                      <a:tailEnd type="none" w="med" len="med"/>
                    </a:lnR>
                    <a:lnT w="11430" cap="flat" cmpd="sng" algn="ctr">
                      <a:solidFill>
                        <a:srgbClr val="000000"/>
                      </a:solidFill>
                      <a:prstDash val="dot"/>
                      <a:round/>
                      <a:headEnd type="none" w="med" len="med"/>
                      <a:tailEnd type="none" w="med" len="med"/>
                    </a:lnT>
                    <a:lnB w="11430" cap="flat" cmpd="sng" algn="ctr">
                      <a:solidFill>
                        <a:srgbClr val="000000"/>
                      </a:solidFill>
                      <a:prstDash val="solid"/>
                      <a:round/>
                      <a:headEnd type="none" w="med" len="med"/>
                      <a:tailEnd type="none" w="med" len="med"/>
                    </a:lnB>
                    <a:solidFill>
                      <a:srgbClr val="F0FAFC"/>
                    </a:solidFill>
                  </a:tcPr>
                </a:tc>
                <a:tc>
                  <a:txBody>
                    <a:bodyPr/>
                    <a:lstStyle/>
                    <a:p>
                      <a:pPr algn="ctr" fontAlgn="base">
                        <a:lnSpc>
                          <a:spcPts val="1650"/>
                        </a:lnSpc>
                        <a:buNone/>
                      </a:pPr>
                      <a:r>
                        <a:rPr lang="en-US" sz="1400" b="0" i="0">
                          <a:solidFill>
                            <a:srgbClr val="000000"/>
                          </a:solidFill>
                          <a:effectLst/>
                          <a:latin typeface="Arial"/>
                          <a:cs typeface="Arial"/>
                        </a:rPr>
                        <a:t>35 (16.4%)</a:t>
                      </a:r>
                    </a:p>
                  </a:txBody>
                  <a:tcPr marL="11430" marR="11430" marT="11430" marB="11430" anchor="ctr">
                    <a:lnL w="11430" cap="flat" cmpd="sng" algn="ctr">
                      <a:solidFill>
                        <a:srgbClr val="000000"/>
                      </a:solidFill>
                      <a:prstDash val="dot"/>
                      <a:round/>
                      <a:headEnd type="none" w="med" len="med"/>
                      <a:tailEnd type="none" w="med" len="med"/>
                    </a:lnL>
                    <a:lnR w="11430" cap="flat" cmpd="sng" algn="ctr">
                      <a:solidFill>
                        <a:srgbClr val="000000"/>
                      </a:solidFill>
                      <a:prstDash val="dot"/>
                      <a:round/>
                      <a:headEnd type="none" w="med" len="med"/>
                      <a:tailEnd type="none" w="med" len="med"/>
                    </a:lnR>
                    <a:lnT w="11430" cap="flat" cmpd="sng" algn="ctr">
                      <a:solidFill>
                        <a:srgbClr val="000000"/>
                      </a:solidFill>
                      <a:prstDash val="dot"/>
                      <a:round/>
                      <a:headEnd type="none" w="med" len="med"/>
                      <a:tailEnd type="none" w="med" len="med"/>
                    </a:lnT>
                    <a:lnB w="11430" cap="flat" cmpd="sng" algn="ctr">
                      <a:solidFill>
                        <a:srgbClr val="000000"/>
                      </a:solidFill>
                      <a:prstDash val="solid"/>
                      <a:round/>
                      <a:headEnd type="none" w="med" len="med"/>
                      <a:tailEnd type="none" w="med" len="med"/>
                    </a:lnB>
                    <a:solidFill>
                      <a:srgbClr val="F0FAFC"/>
                    </a:solidFill>
                  </a:tcPr>
                </a:tc>
                <a:extLst>
                  <a:ext uri="{0D108BD9-81ED-4DB2-BD59-A6C34878D82A}">
                    <a16:rowId xmlns:a16="http://schemas.microsoft.com/office/drawing/2014/main" val="3009062597"/>
                  </a:ext>
                </a:extLst>
              </a:tr>
              <a:tr h="510556">
                <a:tc>
                  <a:txBody>
                    <a:bodyPr/>
                    <a:lstStyle/>
                    <a:p>
                      <a:pPr algn="ctr" fontAlgn="base">
                        <a:lnSpc>
                          <a:spcPts val="2175"/>
                        </a:lnSpc>
                        <a:buNone/>
                      </a:pPr>
                      <a:r>
                        <a:rPr lang="en-US" sz="1800" b="1" i="0" u="none" strike="noStrike">
                          <a:solidFill>
                            <a:srgbClr val="000000"/>
                          </a:solidFill>
                          <a:effectLst/>
                          <a:latin typeface="Arial"/>
                          <a:cs typeface="Arial"/>
                        </a:rPr>
                        <a:t>No. of screening</a:t>
                      </a:r>
                      <a:endParaRPr lang="en-US" sz="1800" b="0" i="0">
                        <a:solidFill>
                          <a:srgbClr val="000000"/>
                        </a:solidFill>
                        <a:effectLst/>
                        <a:latin typeface="Arial"/>
                        <a:cs typeface="Arial"/>
                      </a:endParaRPr>
                    </a:p>
                    <a:p>
                      <a:pPr algn="ctr" fontAlgn="base">
                        <a:lnSpc>
                          <a:spcPts val="2175"/>
                        </a:lnSpc>
                        <a:buNone/>
                      </a:pPr>
                      <a:r>
                        <a:rPr lang="en-US" sz="1800" b="1" i="0" u="none" strike="noStrike">
                          <a:solidFill>
                            <a:srgbClr val="000000"/>
                          </a:solidFill>
                          <a:effectLst/>
                          <a:latin typeface="Arial"/>
                          <a:cs typeface="Arial"/>
                        </a:rPr>
                        <a:t>-adols</a:t>
                      </a:r>
                      <a:endParaRPr lang="zh-CN" sz="1800" b="0" i="0">
                        <a:solidFill>
                          <a:srgbClr val="000000"/>
                        </a:solidFill>
                        <a:effectLst/>
                        <a:latin typeface="Arial"/>
                        <a:cs typeface="Arial"/>
                      </a:endParaRPr>
                    </a:p>
                  </a:txBody>
                  <a:tcPr marL="11418" marR="11418" marT="11418" marB="11418" anchor="ctr">
                    <a:lnL w="11430" cap="flat" cmpd="sng" algn="ctr">
                      <a:solidFill>
                        <a:srgbClr val="000000"/>
                      </a:solidFill>
                      <a:prstDash val="solid"/>
                      <a:round/>
                      <a:headEnd type="none" w="med" len="med"/>
                      <a:tailEnd type="none" w="med" len="med"/>
                    </a:lnL>
                    <a:lnR w="11430" cap="flat" cmpd="sng" algn="ctr">
                      <a:solidFill>
                        <a:srgbClr val="000000"/>
                      </a:solidFill>
                      <a:prstDash val="solid"/>
                      <a:round/>
                      <a:headEnd type="none" w="med" len="med"/>
                      <a:tailEnd type="none" w="med" len="med"/>
                    </a:lnR>
                    <a:lnT w="11430" cap="flat" cmpd="sng" algn="ctr">
                      <a:solidFill>
                        <a:srgbClr val="000000"/>
                      </a:solidFill>
                      <a:prstDash val="solid"/>
                      <a:round/>
                      <a:headEnd type="none" w="med" len="med"/>
                      <a:tailEnd type="none" w="med" len="med"/>
                    </a:lnT>
                    <a:lnB w="1143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base">
                        <a:lnSpc>
                          <a:spcPts val="1650"/>
                        </a:lnSpc>
                        <a:buNone/>
                      </a:pPr>
                      <a:r>
                        <a:rPr lang="en-US" sz="1400" b="0" i="0">
                          <a:solidFill>
                            <a:srgbClr val="000000"/>
                          </a:solidFill>
                          <a:effectLst/>
                          <a:latin typeface="Arial"/>
                          <a:cs typeface="Arial"/>
                        </a:rPr>
                        <a:t>100</a:t>
                      </a:r>
                    </a:p>
                  </a:txBody>
                  <a:tcPr marL="11418" marR="11418" marT="11418" marB="11418" anchor="ctr">
                    <a:lnL w="11430" cap="flat" cmpd="sng" algn="ctr">
                      <a:solidFill>
                        <a:srgbClr val="000000"/>
                      </a:solidFill>
                      <a:prstDash val="solid"/>
                      <a:round/>
                      <a:headEnd type="none" w="med" len="med"/>
                      <a:tailEnd type="none" w="med" len="med"/>
                    </a:lnL>
                    <a:lnR w="11430" cap="flat" cmpd="sng" algn="ctr">
                      <a:solidFill>
                        <a:srgbClr val="000000"/>
                      </a:solidFill>
                      <a:prstDash val="solid"/>
                      <a:round/>
                      <a:headEnd type="none" w="med" len="med"/>
                      <a:tailEnd type="none" w="med" len="med"/>
                    </a:lnR>
                    <a:lnT w="11430" cap="flat" cmpd="sng" algn="ctr">
                      <a:solidFill>
                        <a:srgbClr val="000000"/>
                      </a:solidFill>
                      <a:prstDash val="solid"/>
                      <a:round/>
                      <a:headEnd type="none" w="med" len="med"/>
                      <a:tailEnd type="none" w="med" len="med"/>
                    </a:lnT>
                    <a:lnB w="1143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base">
                        <a:lnSpc>
                          <a:spcPts val="1650"/>
                        </a:lnSpc>
                        <a:buNone/>
                      </a:pPr>
                      <a:r>
                        <a:rPr lang="en-US" sz="1400" b="1" i="0">
                          <a:solidFill>
                            <a:srgbClr val="7030A0"/>
                          </a:solidFill>
                          <a:effectLst/>
                          <a:latin typeface="Arial"/>
                          <a:cs typeface="Arial"/>
                        </a:rPr>
                        <a:t>11</a:t>
                      </a:r>
                    </a:p>
                  </a:txBody>
                  <a:tcPr marL="11418" marR="11418" marT="11418" marB="11418" anchor="ctr">
                    <a:lnL w="11430" cap="flat" cmpd="sng" algn="ctr">
                      <a:solidFill>
                        <a:srgbClr val="000000"/>
                      </a:solidFill>
                      <a:prstDash val="solid"/>
                      <a:round/>
                      <a:headEnd type="none" w="med" len="med"/>
                      <a:tailEnd type="none" w="med" len="med"/>
                    </a:lnL>
                    <a:lnR w="11430" cap="flat" cmpd="sng" algn="ctr">
                      <a:solidFill>
                        <a:srgbClr val="000000"/>
                      </a:solidFill>
                      <a:prstDash val="solid"/>
                      <a:round/>
                      <a:headEnd type="none" w="med" len="med"/>
                      <a:tailEnd type="none" w="med" len="med"/>
                    </a:lnR>
                    <a:lnT w="11430" cap="flat" cmpd="sng" algn="ctr">
                      <a:solidFill>
                        <a:srgbClr val="000000"/>
                      </a:solidFill>
                      <a:prstDash val="solid"/>
                      <a:round/>
                      <a:headEnd type="none" w="med" len="med"/>
                      <a:tailEnd type="none" w="med" len="med"/>
                    </a:lnT>
                    <a:lnB w="1143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base">
                        <a:lnSpc>
                          <a:spcPts val="1650"/>
                        </a:lnSpc>
                        <a:buNone/>
                      </a:pPr>
                      <a:r>
                        <a:rPr lang="en-US" sz="1400" b="0" i="0">
                          <a:solidFill>
                            <a:srgbClr val="000000"/>
                          </a:solidFill>
                          <a:effectLst/>
                          <a:latin typeface="Arial"/>
                          <a:cs typeface="Arial"/>
                        </a:rPr>
                        <a:t>5</a:t>
                      </a:r>
                    </a:p>
                  </a:txBody>
                  <a:tcPr marL="11418" marR="11418" marT="11418" marB="11418" anchor="ctr">
                    <a:lnL w="11430" cap="flat" cmpd="sng" algn="ctr">
                      <a:solidFill>
                        <a:srgbClr val="000000"/>
                      </a:solidFill>
                      <a:prstDash val="solid"/>
                      <a:round/>
                      <a:headEnd type="none" w="med" len="med"/>
                      <a:tailEnd type="none" w="med" len="med"/>
                    </a:lnL>
                    <a:lnR w="11430" cap="flat" cmpd="sng" algn="ctr">
                      <a:solidFill>
                        <a:srgbClr val="000000"/>
                      </a:solidFill>
                      <a:prstDash val="solid"/>
                      <a:round/>
                      <a:headEnd type="none" w="med" len="med"/>
                      <a:tailEnd type="none" w="med" len="med"/>
                    </a:lnR>
                    <a:lnT w="11430" cap="flat" cmpd="sng" algn="ctr">
                      <a:solidFill>
                        <a:srgbClr val="000000"/>
                      </a:solidFill>
                      <a:prstDash val="solid"/>
                      <a:round/>
                      <a:headEnd type="none" w="med" len="med"/>
                      <a:tailEnd type="none" w="med" len="med"/>
                    </a:lnT>
                    <a:lnB w="1143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base">
                        <a:lnSpc>
                          <a:spcPts val="1650"/>
                        </a:lnSpc>
                        <a:buNone/>
                      </a:pPr>
                      <a:r>
                        <a:rPr lang="en-US" sz="1400" b="0" i="0">
                          <a:solidFill>
                            <a:srgbClr val="000000"/>
                          </a:solidFill>
                          <a:effectLst/>
                          <a:latin typeface="Arial"/>
                          <a:cs typeface="Arial"/>
                        </a:rPr>
                        <a:t>0</a:t>
                      </a:r>
                    </a:p>
                  </a:txBody>
                  <a:tcPr marL="11418" marR="11418" marT="11418" marB="11418" anchor="ctr">
                    <a:lnL w="11430" cap="flat" cmpd="sng" algn="ctr">
                      <a:solidFill>
                        <a:srgbClr val="000000"/>
                      </a:solidFill>
                      <a:prstDash val="solid"/>
                      <a:round/>
                      <a:headEnd type="none" w="med" len="med"/>
                      <a:tailEnd type="none" w="med" len="med"/>
                    </a:lnL>
                    <a:lnR w="11430" cap="flat" cmpd="sng" algn="ctr">
                      <a:solidFill>
                        <a:srgbClr val="000000"/>
                      </a:solidFill>
                      <a:prstDash val="solid"/>
                      <a:round/>
                      <a:headEnd type="none" w="med" len="med"/>
                      <a:tailEnd type="none" w="med" len="med"/>
                    </a:lnR>
                    <a:lnT w="11430" cap="flat" cmpd="sng" algn="ctr">
                      <a:solidFill>
                        <a:srgbClr val="000000"/>
                      </a:solidFill>
                      <a:prstDash val="solid"/>
                      <a:round/>
                      <a:headEnd type="none" w="med" len="med"/>
                      <a:tailEnd type="none" w="med" len="med"/>
                    </a:lnT>
                    <a:lnB w="1143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602632750"/>
                  </a:ext>
                </a:extLst>
              </a:tr>
              <a:tr h="510556">
                <a:tc>
                  <a:txBody>
                    <a:bodyPr/>
                    <a:lstStyle/>
                    <a:p>
                      <a:pPr algn="ctr" fontAlgn="base">
                        <a:lnSpc>
                          <a:spcPts val="2175"/>
                        </a:lnSpc>
                        <a:buNone/>
                      </a:pPr>
                      <a:r>
                        <a:rPr lang="en-US" sz="1800" b="1" i="0" u="none" strike="noStrike">
                          <a:solidFill>
                            <a:srgbClr val="000000"/>
                          </a:solidFill>
                          <a:effectLst/>
                          <a:latin typeface="Arial"/>
                          <a:cs typeface="Arial"/>
                        </a:rPr>
                        <a:t>No. of randomization-</a:t>
                      </a:r>
                      <a:r>
                        <a:rPr lang="zh-CN" sz="1800" b="1" i="0" u="none" strike="noStrike">
                          <a:solidFill>
                            <a:srgbClr val="000000"/>
                          </a:solidFill>
                          <a:effectLst/>
                          <a:latin typeface="Arial"/>
                          <a:ea typeface="DengXian"/>
                          <a:cs typeface="Arial"/>
                        </a:rPr>
                        <a:t>ad</a:t>
                      </a:r>
                      <a:r>
                        <a:rPr lang="en-US" sz="1800" b="1" i="0" u="none" strike="noStrike" err="1">
                          <a:solidFill>
                            <a:srgbClr val="000000"/>
                          </a:solidFill>
                          <a:effectLst/>
                          <a:latin typeface="Arial"/>
                          <a:cs typeface="Arial"/>
                        </a:rPr>
                        <a:t>ols</a:t>
                      </a:r>
                      <a:endParaRPr lang="zh-CN" sz="1800" b="0" i="0">
                        <a:solidFill>
                          <a:srgbClr val="000000"/>
                        </a:solidFill>
                        <a:effectLst/>
                        <a:latin typeface="Arial"/>
                        <a:cs typeface="Arial"/>
                      </a:endParaRPr>
                    </a:p>
                  </a:txBody>
                  <a:tcPr marL="11418" marR="11418" marT="11418" marB="11418" anchor="ctr">
                    <a:lnL w="11430" cap="flat" cmpd="sng" algn="ctr">
                      <a:solidFill>
                        <a:srgbClr val="000000"/>
                      </a:solidFill>
                      <a:prstDash val="solid"/>
                      <a:round/>
                      <a:headEnd type="none" w="med" len="med"/>
                      <a:tailEnd type="none" w="med" len="med"/>
                    </a:lnL>
                    <a:lnR w="11430" cap="flat" cmpd="sng" algn="ctr">
                      <a:solidFill>
                        <a:srgbClr val="000000"/>
                      </a:solidFill>
                      <a:prstDash val="solid"/>
                      <a:round/>
                      <a:headEnd type="none" w="med" len="med"/>
                      <a:tailEnd type="none" w="med" len="med"/>
                    </a:lnR>
                    <a:lnT w="11430" cap="flat" cmpd="sng" algn="ctr">
                      <a:solidFill>
                        <a:srgbClr val="000000"/>
                      </a:solidFill>
                      <a:prstDash val="solid"/>
                      <a:round/>
                      <a:headEnd type="none" w="med" len="med"/>
                      <a:tailEnd type="none" w="med" len="med"/>
                    </a:lnT>
                    <a:lnB w="1143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base">
                        <a:lnSpc>
                          <a:spcPts val="1650"/>
                        </a:lnSpc>
                        <a:buNone/>
                      </a:pPr>
                      <a:r>
                        <a:rPr lang="en-US" sz="1400" b="0" i="0">
                          <a:solidFill>
                            <a:srgbClr val="000000"/>
                          </a:solidFill>
                          <a:effectLst/>
                          <a:latin typeface="Arial"/>
                          <a:cs typeface="Arial"/>
                        </a:rPr>
                        <a:t>75</a:t>
                      </a:r>
                    </a:p>
                  </a:txBody>
                  <a:tcPr marL="11418" marR="11418" marT="11418" marB="11418" anchor="ctr">
                    <a:lnL w="11430" cap="flat" cmpd="sng" algn="ctr">
                      <a:solidFill>
                        <a:srgbClr val="000000"/>
                      </a:solidFill>
                      <a:prstDash val="solid"/>
                      <a:round/>
                      <a:headEnd type="none" w="med" len="med"/>
                      <a:tailEnd type="none" w="med" len="med"/>
                    </a:lnL>
                    <a:lnR w="11430" cap="flat" cmpd="sng" algn="ctr">
                      <a:solidFill>
                        <a:srgbClr val="000000"/>
                      </a:solidFill>
                      <a:prstDash val="solid"/>
                      <a:round/>
                      <a:headEnd type="none" w="med" len="med"/>
                      <a:tailEnd type="none" w="med" len="med"/>
                    </a:lnR>
                    <a:lnT w="11430" cap="flat" cmpd="sng" algn="ctr">
                      <a:solidFill>
                        <a:srgbClr val="000000"/>
                      </a:solidFill>
                      <a:prstDash val="solid"/>
                      <a:round/>
                      <a:headEnd type="none" w="med" len="med"/>
                      <a:tailEnd type="none" w="med" len="med"/>
                    </a:lnT>
                    <a:lnB w="1143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base">
                        <a:lnSpc>
                          <a:spcPts val="1650"/>
                        </a:lnSpc>
                        <a:buNone/>
                      </a:pPr>
                      <a:r>
                        <a:rPr lang="en-US" sz="1400" b="1" i="0">
                          <a:solidFill>
                            <a:srgbClr val="7030A0"/>
                          </a:solidFill>
                          <a:effectLst/>
                          <a:latin typeface="Arial"/>
                          <a:cs typeface="Arial"/>
                        </a:rPr>
                        <a:t>2</a:t>
                      </a:r>
                    </a:p>
                  </a:txBody>
                  <a:tcPr marL="11418" marR="11418" marT="11418" marB="11418" anchor="ctr">
                    <a:lnL w="11430" cap="flat" cmpd="sng" algn="ctr">
                      <a:solidFill>
                        <a:srgbClr val="000000"/>
                      </a:solidFill>
                      <a:prstDash val="solid"/>
                      <a:round/>
                      <a:headEnd type="none" w="med" len="med"/>
                      <a:tailEnd type="none" w="med" len="med"/>
                    </a:lnL>
                    <a:lnR w="11430" cap="flat" cmpd="sng" algn="ctr">
                      <a:solidFill>
                        <a:srgbClr val="000000"/>
                      </a:solidFill>
                      <a:prstDash val="solid"/>
                      <a:round/>
                      <a:headEnd type="none" w="med" len="med"/>
                      <a:tailEnd type="none" w="med" len="med"/>
                    </a:lnR>
                    <a:lnT w="11430" cap="flat" cmpd="sng" algn="ctr">
                      <a:solidFill>
                        <a:srgbClr val="000000"/>
                      </a:solidFill>
                      <a:prstDash val="solid"/>
                      <a:round/>
                      <a:headEnd type="none" w="med" len="med"/>
                      <a:tailEnd type="none" w="med" len="med"/>
                    </a:lnT>
                    <a:lnB w="1143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base">
                        <a:lnSpc>
                          <a:spcPts val="1650"/>
                        </a:lnSpc>
                        <a:buNone/>
                      </a:pPr>
                      <a:r>
                        <a:rPr lang="en-US" sz="1400" b="0" i="0">
                          <a:solidFill>
                            <a:srgbClr val="000000"/>
                          </a:solidFill>
                          <a:effectLst/>
                          <a:latin typeface="Arial"/>
                          <a:cs typeface="Arial"/>
                        </a:rPr>
                        <a:t>2</a:t>
                      </a:r>
                    </a:p>
                  </a:txBody>
                  <a:tcPr marL="11418" marR="11418" marT="11418" marB="11418" anchor="ctr">
                    <a:lnL w="11430" cap="flat" cmpd="sng" algn="ctr">
                      <a:solidFill>
                        <a:srgbClr val="000000"/>
                      </a:solidFill>
                      <a:prstDash val="solid"/>
                      <a:round/>
                      <a:headEnd type="none" w="med" len="med"/>
                      <a:tailEnd type="none" w="med" len="med"/>
                    </a:lnL>
                    <a:lnR w="11430" cap="flat" cmpd="sng" algn="ctr">
                      <a:solidFill>
                        <a:srgbClr val="000000"/>
                      </a:solidFill>
                      <a:prstDash val="solid"/>
                      <a:round/>
                      <a:headEnd type="none" w="med" len="med"/>
                      <a:tailEnd type="none" w="med" len="med"/>
                    </a:lnR>
                    <a:lnT w="11430" cap="flat" cmpd="sng" algn="ctr">
                      <a:solidFill>
                        <a:srgbClr val="000000"/>
                      </a:solidFill>
                      <a:prstDash val="solid"/>
                      <a:round/>
                      <a:headEnd type="none" w="med" len="med"/>
                      <a:tailEnd type="none" w="med" len="med"/>
                    </a:lnT>
                    <a:lnB w="1143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base">
                        <a:lnSpc>
                          <a:spcPts val="1650"/>
                        </a:lnSpc>
                        <a:buNone/>
                      </a:pPr>
                      <a:r>
                        <a:rPr lang="en-US" sz="1400" b="0" i="0">
                          <a:solidFill>
                            <a:srgbClr val="000000"/>
                          </a:solidFill>
                          <a:effectLst/>
                          <a:latin typeface="Arial"/>
                          <a:cs typeface="Arial"/>
                        </a:rPr>
                        <a:t>0</a:t>
                      </a:r>
                    </a:p>
                  </a:txBody>
                  <a:tcPr marL="11418" marR="11418" marT="11418" marB="11418" anchor="ctr">
                    <a:lnL w="11430" cap="flat" cmpd="sng" algn="ctr">
                      <a:solidFill>
                        <a:srgbClr val="000000"/>
                      </a:solidFill>
                      <a:prstDash val="solid"/>
                      <a:round/>
                      <a:headEnd type="none" w="med" len="med"/>
                      <a:tailEnd type="none" w="med" len="med"/>
                    </a:lnL>
                    <a:lnR w="11430" cap="flat" cmpd="sng" algn="ctr">
                      <a:solidFill>
                        <a:srgbClr val="000000"/>
                      </a:solidFill>
                      <a:prstDash val="solid"/>
                      <a:round/>
                      <a:headEnd type="none" w="med" len="med"/>
                      <a:tailEnd type="none" w="med" len="med"/>
                    </a:lnR>
                    <a:lnT w="11430" cap="flat" cmpd="sng" algn="ctr">
                      <a:solidFill>
                        <a:srgbClr val="000000"/>
                      </a:solidFill>
                      <a:prstDash val="solid"/>
                      <a:round/>
                      <a:headEnd type="none" w="med" len="med"/>
                      <a:tailEnd type="none" w="med" len="med"/>
                    </a:lnT>
                    <a:lnB w="1143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754264570"/>
                  </a:ext>
                </a:extLst>
              </a:tr>
            </a:tbl>
          </a:graphicData>
        </a:graphic>
      </p:graphicFrame>
      <p:sp>
        <p:nvSpPr>
          <p:cNvPr id="3" name="文本框 2">
            <a:extLst>
              <a:ext uri="{FF2B5EF4-FFF2-40B4-BE49-F238E27FC236}">
                <a16:creationId xmlns:a16="http://schemas.microsoft.com/office/drawing/2014/main" id="{C81C65CF-A903-0FA7-B86E-F74A97D90F7B}"/>
              </a:ext>
            </a:extLst>
          </p:cNvPr>
          <p:cNvSpPr txBox="1"/>
          <p:nvPr/>
        </p:nvSpPr>
        <p:spPr bwMode="gray">
          <a:xfrm>
            <a:off x="730250" y="4984750"/>
            <a:ext cx="10456332" cy="95904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9705" indent="-179705">
              <a:lnSpc>
                <a:spcPct val="140000"/>
              </a:lnSpc>
              <a:buFont typeface="Arial" panose="020B0604020202020204" pitchFamily="34" charset="0"/>
              <a:buChar char="•"/>
            </a:pPr>
            <a:r>
              <a:rPr lang="zh-CN" altLang="en-US" sz="1600"/>
              <a:t>Prevalence of BE (</a:t>
            </a:r>
            <a:r>
              <a:rPr lang="zh-CN" altLang="en-US" sz="1600" b="1"/>
              <a:t>NCF</a:t>
            </a:r>
            <a:r>
              <a:rPr lang="zh-CN" altLang="en-US" sz="1600"/>
              <a:t>) in adolesscents could be as low as </a:t>
            </a:r>
            <a:r>
              <a:rPr lang="zh-CN" altLang="en-US" sz="1600" b="1"/>
              <a:t>0.2/100k</a:t>
            </a:r>
            <a:r>
              <a:rPr lang="zh-CN" altLang="en-US" sz="1600"/>
              <a:t> </a:t>
            </a:r>
            <a:endParaRPr lang="zh-CN" altLang="en-US" sz="1400"/>
          </a:p>
          <a:p>
            <a:pPr marL="742950" lvl="1" indent="-285750">
              <a:lnSpc>
                <a:spcPct val="140000"/>
              </a:lnSpc>
              <a:buFont typeface="Courier New"/>
              <a:buChar char="o"/>
            </a:pPr>
            <a:r>
              <a:rPr lang="en-US" altLang="zh-CN" sz="1400"/>
              <a:t>~</a:t>
            </a:r>
            <a:r>
              <a:rPr lang="en-US" altLang="zh-CN" sz="1400" b="1"/>
              <a:t>19/100k</a:t>
            </a:r>
            <a:r>
              <a:rPr lang="en-US" altLang="zh-CN" sz="1400"/>
              <a:t> (CF + NCF) in the US</a:t>
            </a:r>
          </a:p>
          <a:p>
            <a:pPr marL="742950" lvl="1" indent="-285750">
              <a:lnSpc>
                <a:spcPct val="140000"/>
              </a:lnSpc>
              <a:buFont typeface="Courier New"/>
              <a:buChar char="o"/>
            </a:pPr>
            <a:r>
              <a:rPr lang="en-US" altLang="zh-CN" sz="1600"/>
              <a:t>The</a:t>
            </a:r>
            <a:r>
              <a:rPr lang="zh-CN" altLang="en-US" sz="1600"/>
              <a:t> </a:t>
            </a:r>
            <a:r>
              <a:rPr lang="en-US" altLang="zh-CN" sz="1600"/>
              <a:t>data</a:t>
            </a:r>
            <a:r>
              <a:rPr lang="zh-CN" altLang="en-US" sz="1600"/>
              <a:t> </a:t>
            </a:r>
            <a:r>
              <a:rPr lang="en-US" altLang="zh-CN" sz="1600"/>
              <a:t>in</a:t>
            </a:r>
            <a:r>
              <a:rPr lang="zh-CN" altLang="en-US" sz="1600"/>
              <a:t> </a:t>
            </a:r>
            <a:r>
              <a:rPr lang="en-US" altLang="zh-CN" sz="1600"/>
              <a:t>China</a:t>
            </a:r>
            <a:r>
              <a:rPr lang="zh-CN" altLang="en-US" sz="1600"/>
              <a:t> </a:t>
            </a:r>
            <a:r>
              <a:rPr lang="en-US" altLang="zh-CN" sz="1600"/>
              <a:t>is</a:t>
            </a:r>
            <a:r>
              <a:rPr lang="zh-CN" altLang="en-US" sz="1600"/>
              <a:t> </a:t>
            </a:r>
            <a:r>
              <a:rPr lang="en-US" altLang="zh-CN" sz="1600"/>
              <a:t>unavailable</a:t>
            </a:r>
            <a:endParaRPr lang="en-US" sz="1600"/>
          </a:p>
        </p:txBody>
      </p:sp>
    </p:spTree>
    <p:extLst>
      <p:ext uri="{BB962C8B-B14F-4D97-AF65-F5344CB8AC3E}">
        <p14:creationId xmlns:p14="http://schemas.microsoft.com/office/powerpoint/2010/main" val="1730245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B17DB-E29F-7950-F5A8-61990B05AA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032928-1F6F-BDC6-5196-BECDA7255A39}"/>
              </a:ext>
            </a:extLst>
          </p:cNvPr>
          <p:cNvSpPr>
            <a:spLocks noGrp="1"/>
          </p:cNvSpPr>
          <p:nvPr>
            <p:ph type="title"/>
          </p:nvPr>
        </p:nvSpPr>
        <p:spPr>
          <a:xfrm>
            <a:off x="479424" y="477000"/>
            <a:ext cx="11233151" cy="720000"/>
          </a:xfrm>
        </p:spPr>
        <p:txBody>
          <a:bodyPr anchor="t">
            <a:normAutofit/>
          </a:bodyPr>
          <a:lstStyle/>
          <a:p>
            <a:pPr>
              <a:lnSpc>
                <a:spcPct val="90000"/>
              </a:lnSpc>
            </a:pPr>
            <a:r>
              <a:rPr lang="en-US" altLang="zh-CN"/>
              <a:t>PR is granted based on data from ~</a:t>
            </a:r>
            <a:r>
              <a:rPr lang="en-US" altLang="zh-CN">
                <a:solidFill>
                  <a:srgbClr val="FF0000"/>
                </a:solidFill>
              </a:rPr>
              <a:t>40 </a:t>
            </a:r>
            <a:r>
              <a:rPr lang="en-US" altLang="zh-CN"/>
              <a:t>adolescents (2/2)</a:t>
            </a:r>
            <a:endParaRPr lang="zh-CN" altLang="en-US"/>
          </a:p>
        </p:txBody>
      </p:sp>
      <p:sp>
        <p:nvSpPr>
          <p:cNvPr id="11" name="Text Placeholder 3">
            <a:extLst>
              <a:ext uri="{FF2B5EF4-FFF2-40B4-BE49-F238E27FC236}">
                <a16:creationId xmlns:a16="http://schemas.microsoft.com/office/drawing/2014/main" id="{2BB64965-79B6-AA8F-21E3-0200479BD039}"/>
              </a:ext>
            </a:extLst>
          </p:cNvPr>
          <p:cNvSpPr>
            <a:spLocks noGrp="1"/>
          </p:cNvSpPr>
          <p:nvPr>
            <p:ph type="body" sz="quarter" idx="13"/>
          </p:nvPr>
        </p:nvSpPr>
        <p:spPr>
          <a:xfrm>
            <a:off x="2043235" y="6294679"/>
            <a:ext cx="2154598" cy="194335"/>
          </a:xfrm>
        </p:spPr>
        <p:txBody>
          <a:bodyPr/>
          <a:lstStyle/>
          <a:p>
            <a:endParaRPr lang="en-US"/>
          </a:p>
        </p:txBody>
      </p:sp>
      <p:sp>
        <p:nvSpPr>
          <p:cNvPr id="5" name="Footer Placeholder 4">
            <a:extLst>
              <a:ext uri="{FF2B5EF4-FFF2-40B4-BE49-F238E27FC236}">
                <a16:creationId xmlns:a16="http://schemas.microsoft.com/office/drawing/2014/main" id="{CC6C551F-6C8E-BE6D-FA38-F2EBCD4ABA38}"/>
              </a:ext>
            </a:extLst>
          </p:cNvPr>
          <p:cNvSpPr>
            <a:spLocks noGrp="1"/>
          </p:cNvSpPr>
          <p:nvPr>
            <p:ph type="ftr" sz="quarter" idx="19"/>
          </p:nvPr>
        </p:nvSpPr>
        <p:spPr>
          <a:xfrm>
            <a:off x="6312024" y="6246836"/>
            <a:ext cx="5040560" cy="288000"/>
          </a:xfrm>
        </p:spPr>
        <p:txBody>
          <a:bodyPr anchor="b">
            <a:normAutofit/>
          </a:bodyPr>
          <a:lstStyle/>
          <a:p>
            <a:r>
              <a:rPr lang="en-US" err="1"/>
              <a:t>Seperate</a:t>
            </a:r>
            <a:r>
              <a:rPr lang="en-US"/>
              <a:t> topic for verducatib - 2026 Apr PEC</a:t>
            </a:r>
          </a:p>
        </p:txBody>
      </p:sp>
      <p:sp>
        <p:nvSpPr>
          <p:cNvPr id="3" name="文本框 2">
            <a:extLst>
              <a:ext uri="{FF2B5EF4-FFF2-40B4-BE49-F238E27FC236}">
                <a16:creationId xmlns:a16="http://schemas.microsoft.com/office/drawing/2014/main" id="{2D589475-F5F0-0CA7-6BAB-183E8C324BA3}"/>
              </a:ext>
            </a:extLst>
          </p:cNvPr>
          <p:cNvSpPr txBox="1"/>
          <p:nvPr/>
        </p:nvSpPr>
        <p:spPr bwMode="gray">
          <a:xfrm>
            <a:off x="6239777" y="3979333"/>
            <a:ext cx="5112807" cy="135005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9705" indent="-179705">
              <a:lnSpc>
                <a:spcPct val="140000"/>
              </a:lnSpc>
              <a:buFont typeface="Arial" panose="020B0604020202020204" pitchFamily="34" charset="0"/>
              <a:buChar char="•"/>
            </a:pPr>
            <a:r>
              <a:rPr lang="zh-CN" altLang="en-US" sz="1600" b="1"/>
              <a:t>~40 adols randomized by DBL in Jul 2027</a:t>
            </a:r>
            <a:endParaRPr lang="en-US" altLang="zh-CN" sz="1600" b="1"/>
          </a:p>
          <a:p>
            <a:pPr marL="636905" lvl="1" indent="-179705">
              <a:lnSpc>
                <a:spcPct val="140000"/>
              </a:lnSpc>
              <a:buFont typeface="Arial" panose="020B0604020202020204" pitchFamily="34" charset="0"/>
              <a:buChar char="•"/>
            </a:pPr>
            <a:r>
              <a:rPr lang="en-US" altLang="zh-CN" sz="1600"/>
              <a:t>External experience (</a:t>
            </a:r>
            <a:r>
              <a:rPr lang="en-US" altLang="zh-CN" sz="1600">
                <a:highlight>
                  <a:srgbClr val="FFFF00"/>
                </a:highlight>
              </a:rPr>
              <a:t>brensocatib</a:t>
            </a:r>
            <a:r>
              <a:rPr lang="en-US" altLang="zh-CN" sz="1600"/>
              <a:t> FDA approval)</a:t>
            </a:r>
          </a:p>
          <a:p>
            <a:pPr marL="636905" lvl="1" indent="-179705">
              <a:lnSpc>
                <a:spcPct val="140000"/>
              </a:lnSpc>
              <a:buFont typeface="Arial" panose="020B0604020202020204" pitchFamily="34" charset="0"/>
              <a:buChar char="•"/>
            </a:pPr>
            <a:r>
              <a:rPr lang="en-US" altLang="zh-CN" sz="1600"/>
              <a:t>Internal</a:t>
            </a:r>
            <a:r>
              <a:rPr lang="zh-CN" altLang="en-US" sz="1600"/>
              <a:t> assessment from statistical </a:t>
            </a:r>
            <a:r>
              <a:rPr lang="en-US" altLang="zh-CN" sz="1600"/>
              <a:t>&amp; operational</a:t>
            </a:r>
            <a:r>
              <a:rPr lang="zh-CN" altLang="en-US" sz="1600"/>
              <a:t> perspective</a:t>
            </a:r>
          </a:p>
        </p:txBody>
      </p:sp>
      <p:pic>
        <p:nvPicPr>
          <p:cNvPr id="4" name="图片 3" descr="表格&#10;&#10;AI 生成的内容可能不正确。">
            <a:extLst>
              <a:ext uri="{FF2B5EF4-FFF2-40B4-BE49-F238E27FC236}">
                <a16:creationId xmlns:a16="http://schemas.microsoft.com/office/drawing/2014/main" id="{B4A842D7-B00C-4CAB-AF96-88333BEAAD1E}"/>
              </a:ext>
            </a:extLst>
          </p:cNvPr>
          <p:cNvPicPr>
            <a:picLocks noChangeAspect="1"/>
          </p:cNvPicPr>
          <p:nvPr/>
        </p:nvPicPr>
        <p:blipFill>
          <a:blip r:embed="rId2"/>
          <a:stretch>
            <a:fillRect/>
          </a:stretch>
        </p:blipFill>
        <p:spPr>
          <a:xfrm>
            <a:off x="459212" y="1084610"/>
            <a:ext cx="5412472" cy="1657041"/>
          </a:xfrm>
          <a:prstGeom prst="rect">
            <a:avLst/>
          </a:prstGeom>
          <a:ln>
            <a:solidFill>
              <a:schemeClr val="tx1"/>
            </a:solidFill>
          </a:ln>
        </p:spPr>
      </p:pic>
      <p:pic>
        <p:nvPicPr>
          <p:cNvPr id="6" name="图片 5" descr="表格&#10;&#10;AI 生成的内容可能不正确。">
            <a:extLst>
              <a:ext uri="{FF2B5EF4-FFF2-40B4-BE49-F238E27FC236}">
                <a16:creationId xmlns:a16="http://schemas.microsoft.com/office/drawing/2014/main" id="{88BFC8DF-1798-26AA-65F6-8692155FE1B8}"/>
              </a:ext>
            </a:extLst>
          </p:cNvPr>
          <p:cNvPicPr>
            <a:picLocks noChangeAspect="1"/>
          </p:cNvPicPr>
          <p:nvPr/>
        </p:nvPicPr>
        <p:blipFill>
          <a:blip r:embed="rId3"/>
          <a:stretch>
            <a:fillRect/>
          </a:stretch>
        </p:blipFill>
        <p:spPr>
          <a:xfrm>
            <a:off x="457200" y="3143791"/>
            <a:ext cx="5414434" cy="2760134"/>
          </a:xfrm>
          <a:prstGeom prst="rect">
            <a:avLst/>
          </a:prstGeom>
          <a:ln>
            <a:solidFill>
              <a:schemeClr val="tx1"/>
            </a:solidFill>
          </a:ln>
        </p:spPr>
      </p:pic>
      <p:grpSp>
        <p:nvGrpSpPr>
          <p:cNvPr id="9" name="组合 8">
            <a:extLst>
              <a:ext uri="{FF2B5EF4-FFF2-40B4-BE49-F238E27FC236}">
                <a16:creationId xmlns:a16="http://schemas.microsoft.com/office/drawing/2014/main" id="{313F98F8-D1D4-F68B-E95A-5E3B3BCE94B2}"/>
              </a:ext>
            </a:extLst>
          </p:cNvPr>
          <p:cNvGrpSpPr/>
          <p:nvPr/>
        </p:nvGrpSpPr>
        <p:grpSpPr>
          <a:xfrm>
            <a:off x="6237818" y="1086445"/>
            <a:ext cx="5047747" cy="2458784"/>
            <a:chOff x="6184901" y="1196667"/>
            <a:chExt cx="5047747" cy="2458784"/>
          </a:xfrm>
        </p:grpSpPr>
        <p:pic>
          <p:nvPicPr>
            <p:cNvPr id="7" name="图片 6" descr="表格&#10;&#10;AI 生成的内容可能不正确。">
              <a:extLst>
                <a:ext uri="{FF2B5EF4-FFF2-40B4-BE49-F238E27FC236}">
                  <a16:creationId xmlns:a16="http://schemas.microsoft.com/office/drawing/2014/main" id="{DB20C971-222A-7025-FB7D-4D93776C8D98}"/>
                </a:ext>
              </a:extLst>
            </p:cNvPr>
            <p:cNvPicPr>
              <a:picLocks noChangeAspect="1"/>
            </p:cNvPicPr>
            <p:nvPr/>
          </p:nvPicPr>
          <p:blipFill>
            <a:blip r:embed="rId4"/>
            <a:srcRect l="1690" t="-728" r="1229" b="1581"/>
            <a:stretch>
              <a:fillRect/>
            </a:stretch>
          </p:blipFill>
          <p:spPr>
            <a:xfrm>
              <a:off x="6184901" y="1196667"/>
              <a:ext cx="5021052" cy="1632736"/>
            </a:xfrm>
            <a:prstGeom prst="rect">
              <a:avLst/>
            </a:prstGeom>
            <a:ln>
              <a:solidFill>
                <a:schemeClr val="tx1"/>
              </a:solidFill>
            </a:ln>
          </p:spPr>
        </p:pic>
        <p:pic>
          <p:nvPicPr>
            <p:cNvPr id="8" name="图片 7" descr="文本, 信件&#10;&#10;AI 生成的内容可能不正确。">
              <a:extLst>
                <a:ext uri="{FF2B5EF4-FFF2-40B4-BE49-F238E27FC236}">
                  <a16:creationId xmlns:a16="http://schemas.microsoft.com/office/drawing/2014/main" id="{456238EB-A03C-2178-BB9D-F40157D21F97}"/>
                </a:ext>
              </a:extLst>
            </p:cNvPr>
            <p:cNvPicPr>
              <a:picLocks noChangeAspect="1"/>
            </p:cNvPicPr>
            <p:nvPr/>
          </p:nvPicPr>
          <p:blipFill>
            <a:blip r:embed="rId5"/>
            <a:srcRect t="28448" r="-1208" b="862"/>
            <a:stretch>
              <a:fillRect/>
            </a:stretch>
          </p:blipFill>
          <p:spPr>
            <a:xfrm>
              <a:off x="6184901" y="2801938"/>
              <a:ext cx="5047747" cy="853513"/>
            </a:xfrm>
            <a:prstGeom prst="rect">
              <a:avLst/>
            </a:prstGeom>
            <a:ln>
              <a:solidFill>
                <a:schemeClr val="tx1"/>
              </a:solidFill>
            </a:ln>
          </p:spPr>
        </p:pic>
      </p:grpSp>
      <p:sp>
        <p:nvSpPr>
          <p:cNvPr id="10" name="矩形 9">
            <a:extLst>
              <a:ext uri="{FF2B5EF4-FFF2-40B4-BE49-F238E27FC236}">
                <a16:creationId xmlns:a16="http://schemas.microsoft.com/office/drawing/2014/main" id="{16AE8810-03D0-4F98-6F87-B59DE51C0672}"/>
              </a:ext>
            </a:extLst>
          </p:cNvPr>
          <p:cNvSpPr/>
          <p:nvPr/>
        </p:nvSpPr>
        <p:spPr bwMode="gray">
          <a:xfrm>
            <a:off x="2785946" y="1280531"/>
            <a:ext cx="3098180" cy="366132"/>
          </a:xfrm>
          <a:prstGeom prst="rect">
            <a:avLst/>
          </a:prstGeom>
          <a:no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2" name="矩形 11">
            <a:extLst>
              <a:ext uri="{FF2B5EF4-FFF2-40B4-BE49-F238E27FC236}">
                <a16:creationId xmlns:a16="http://schemas.microsoft.com/office/drawing/2014/main" id="{2EFA30F6-3C34-7EBD-44DF-400ED176A1DE}"/>
              </a:ext>
            </a:extLst>
          </p:cNvPr>
          <p:cNvSpPr/>
          <p:nvPr/>
        </p:nvSpPr>
        <p:spPr bwMode="gray">
          <a:xfrm>
            <a:off x="2469995" y="3315628"/>
            <a:ext cx="3404838" cy="366132"/>
          </a:xfrm>
          <a:prstGeom prst="rect">
            <a:avLst/>
          </a:prstGeom>
          <a:no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3" name="矩形 12">
            <a:extLst>
              <a:ext uri="{FF2B5EF4-FFF2-40B4-BE49-F238E27FC236}">
                <a16:creationId xmlns:a16="http://schemas.microsoft.com/office/drawing/2014/main" id="{FF687304-1562-64E5-7522-B259609E647C}"/>
              </a:ext>
            </a:extLst>
          </p:cNvPr>
          <p:cNvSpPr/>
          <p:nvPr/>
        </p:nvSpPr>
        <p:spPr bwMode="gray">
          <a:xfrm>
            <a:off x="8575288" y="1373458"/>
            <a:ext cx="2707887" cy="347547"/>
          </a:xfrm>
          <a:prstGeom prst="rect">
            <a:avLst/>
          </a:prstGeom>
          <a:no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Tree>
    <p:extLst>
      <p:ext uri="{BB962C8B-B14F-4D97-AF65-F5344CB8AC3E}">
        <p14:creationId xmlns:p14="http://schemas.microsoft.com/office/powerpoint/2010/main" val="328025199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ADJUSTMENTS" val="0"/>
</p:tagLst>
</file>

<file path=ppt/tags/tag3.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4.xml><?xml version="1.0" encoding="utf-8"?>
<p:tagLst xmlns:a="http://schemas.openxmlformats.org/drawingml/2006/main" xmlns:r="http://schemas.openxmlformats.org/officeDocument/2006/relationships" xmlns:p="http://schemas.openxmlformats.org/presentationml/2006/main">
  <p:tag name="ADJUSTMENTS" val="0"/>
</p:tagLst>
</file>

<file path=ppt/tags/tag5.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6.xml><?xml version="1.0" encoding="utf-8"?>
<p:tagLst xmlns:a="http://schemas.openxmlformats.org/drawingml/2006/main" xmlns:r="http://schemas.openxmlformats.org/officeDocument/2006/relationships" xmlns:p="http://schemas.openxmlformats.org/presentationml/2006/main">
  <p:tag name="ADJUSTMENTS" val="3.162912"/>
</p:tagLst>
</file>

<file path=ppt/tags/tag7.xml><?xml version="1.0" encoding="utf-8"?>
<p:tagLst xmlns:a="http://schemas.openxmlformats.org/drawingml/2006/main" xmlns:r="http://schemas.openxmlformats.org/officeDocument/2006/relationships" xmlns:p="http://schemas.openxmlformats.org/presentationml/2006/main">
  <p:tag name="ADJUSTMENTS" val="3.162912"/>
</p:tagLst>
</file>

<file path=ppt/tags/tag8.xml><?xml version="1.0" encoding="utf-8"?>
<p:tagLst xmlns:a="http://schemas.openxmlformats.org/drawingml/2006/main" xmlns:r="http://schemas.openxmlformats.org/officeDocument/2006/relationships" xmlns:p="http://schemas.openxmlformats.org/presentationml/2006/main">
  <p:tag name="OTLMARKERSHAPE" val="OTL"/>
</p:tagLst>
</file>

<file path=ppt/tags/tag9.xml><?xml version="1.0" encoding="utf-8"?>
<p:tagLst xmlns:a="http://schemas.openxmlformats.org/drawingml/2006/main" xmlns:r="http://schemas.openxmlformats.org/officeDocument/2006/relationships" xmlns:p="http://schemas.openxmlformats.org/presentationml/2006/main">
  <p:tag name="OTLMARKERSHAPE" val="OTL"/>
</p:tagLst>
</file>

<file path=ppt/tags/tag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xml><?xml version="1.0" encoding="utf-8"?>
<p:tagLst xmlns:a="http://schemas.openxmlformats.org/drawingml/2006/main" xmlns:r="http://schemas.openxmlformats.org/officeDocument/2006/relationships" xmlns:p="http://schemas.openxmlformats.org/presentationml/2006/main">
  <p:tag name="OTLMARKERSHAPE" val="OTL"/>
</p:tagLst>
</file>

<file path=ppt/tags/tag12.xml><?xml version="1.0" encoding="utf-8"?>
<p:tagLst xmlns:a="http://schemas.openxmlformats.org/drawingml/2006/main" xmlns:r="http://schemas.openxmlformats.org/officeDocument/2006/relationships" xmlns:p="http://schemas.openxmlformats.org/presentationml/2006/main">
  <p:tag name="OTLMARKERSHAPE" val="OTL"/>
</p:tagLst>
</file>

<file path=ppt/tags/tag13.xml><?xml version="1.0" encoding="utf-8"?>
<p:tagLst xmlns:a="http://schemas.openxmlformats.org/drawingml/2006/main" xmlns:r="http://schemas.openxmlformats.org/officeDocument/2006/relationships" xmlns:p="http://schemas.openxmlformats.org/presentationml/2006/main">
  <p:tag name="OTLMARKERSHAPE" val="OTL"/>
</p:tagLst>
</file>

<file path=ppt/tags/tag14.xml><?xml version="1.0" encoding="utf-8"?>
<p:tagLst xmlns:a="http://schemas.openxmlformats.org/drawingml/2006/main" xmlns:r="http://schemas.openxmlformats.org/officeDocument/2006/relationships" xmlns:p="http://schemas.openxmlformats.org/presentationml/2006/main">
  <p:tag name="OTLMARKERSHAPE" val="OTL"/>
</p:tagLst>
</file>

<file path=ppt/tags/tag15.xml><?xml version="1.0" encoding="utf-8"?>
<p:tagLst xmlns:a="http://schemas.openxmlformats.org/drawingml/2006/main" xmlns:r="http://schemas.openxmlformats.org/officeDocument/2006/relationships" xmlns:p="http://schemas.openxmlformats.org/presentationml/2006/main">
  <p:tag name="OTLMARKERSHAPE" val="OTL"/>
</p:tagLst>
</file>

<file path=ppt/tags/tag16.xml><?xml version="1.0" encoding="utf-8"?>
<p:tagLst xmlns:a="http://schemas.openxmlformats.org/drawingml/2006/main" xmlns:r="http://schemas.openxmlformats.org/officeDocument/2006/relationships" xmlns:p="http://schemas.openxmlformats.org/presentationml/2006/main">
  <p:tag name="OTLMARKERSHAPE" val="OTL"/>
</p:tagLst>
</file>

<file path=ppt/tags/tag17.xml><?xml version="1.0" encoding="utf-8"?>
<p:tagLst xmlns:a="http://schemas.openxmlformats.org/drawingml/2006/main" xmlns:r="http://schemas.openxmlformats.org/officeDocument/2006/relationships" xmlns:p="http://schemas.openxmlformats.org/presentationml/2006/main">
  <p:tag name="OTLMARKERSHAPE" val="OTL"/>
</p:tagLst>
</file>

<file path=ppt/tags/tag18.xml><?xml version="1.0" encoding="utf-8"?>
<p:tagLst xmlns:a="http://schemas.openxmlformats.org/drawingml/2006/main" xmlns:r="http://schemas.openxmlformats.org/officeDocument/2006/relationships" xmlns:p="http://schemas.openxmlformats.org/presentationml/2006/main">
  <p:tag name="OTLMARKERSHAPE" val="OTL"/>
</p:tagLst>
</file>

<file path=ppt/tags/tag19.xml><?xml version="1.0" encoding="utf-8"?>
<p:tagLst xmlns:a="http://schemas.openxmlformats.org/drawingml/2006/main" xmlns:r="http://schemas.openxmlformats.org/officeDocument/2006/relationships" xmlns:p="http://schemas.openxmlformats.org/presentationml/2006/main">
  <p:tag name="OTLMARKERSHAPE" val="OTL"/>
</p:tagLst>
</file>

<file path=ppt/tags/tag20.xml><?xml version="1.0" encoding="utf-8"?>
<p:tagLst xmlns:a="http://schemas.openxmlformats.org/drawingml/2006/main" xmlns:r="http://schemas.openxmlformats.org/officeDocument/2006/relationships" xmlns:p="http://schemas.openxmlformats.org/presentationml/2006/main">
  <p:tag name="OTLMARKERSHAPE" val="OTL"/>
</p:tagLst>
</file>

<file path=ppt/tags/tag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xml><?xml version="1.0" encoding="utf-8"?>
<p:tagLst xmlns:a="http://schemas.openxmlformats.org/drawingml/2006/main" xmlns:r="http://schemas.openxmlformats.org/officeDocument/2006/relationships" xmlns:p="http://schemas.openxmlformats.org/presentationml/2006/main">
  <p:tag name="OTLMARKERSHAPE" val="OTL"/>
</p:tagLst>
</file>

<file path=ppt/tags/tag23.xml><?xml version="1.0" encoding="utf-8"?>
<p:tagLst xmlns:a="http://schemas.openxmlformats.org/drawingml/2006/main" xmlns:r="http://schemas.openxmlformats.org/officeDocument/2006/relationships" xmlns:p="http://schemas.openxmlformats.org/presentationml/2006/main">
  <p:tag name="OTLMARKERSHAPE" val="OTL"/>
</p:tagLst>
</file>

<file path=ppt/tags/tag24.xml><?xml version="1.0" encoding="utf-8"?>
<p:tagLst xmlns:a="http://schemas.openxmlformats.org/drawingml/2006/main" xmlns:r="http://schemas.openxmlformats.org/officeDocument/2006/relationships" xmlns:p="http://schemas.openxmlformats.org/presentationml/2006/main">
  <p:tag name="OTLMARKERSHAPE" val="OTL"/>
</p:tagLst>
</file>

<file path=ppt/tags/tag25.xml><?xml version="1.0" encoding="utf-8"?>
<p:tagLst xmlns:a="http://schemas.openxmlformats.org/drawingml/2006/main" xmlns:r="http://schemas.openxmlformats.org/officeDocument/2006/relationships" xmlns:p="http://schemas.openxmlformats.org/presentationml/2006/main">
  <p:tag name="OTLMARKERSHAPE" val="OTL"/>
</p:tagLst>
</file>

<file path=ppt/tags/tag26.xml><?xml version="1.0" encoding="utf-8"?>
<p:tagLst xmlns:a="http://schemas.openxmlformats.org/drawingml/2006/main" xmlns:r="http://schemas.openxmlformats.org/officeDocument/2006/relationships" xmlns:p="http://schemas.openxmlformats.org/presentationml/2006/main">
  <p:tag name="OTLMARKERSHAPE" val="OTL"/>
</p:tagLst>
</file>

<file path=ppt/tags/tag27.xml><?xml version="1.0" encoding="utf-8"?>
<p:tagLst xmlns:a="http://schemas.openxmlformats.org/drawingml/2006/main" xmlns:r="http://schemas.openxmlformats.org/officeDocument/2006/relationships" xmlns:p="http://schemas.openxmlformats.org/presentationml/2006/main">
  <p:tag name="OTLMARKERSHAPE" val="OTL"/>
</p:tagLst>
</file>

<file path=ppt/tags/tag28.xml><?xml version="1.0" encoding="utf-8"?>
<p:tagLst xmlns:a="http://schemas.openxmlformats.org/drawingml/2006/main" xmlns:r="http://schemas.openxmlformats.org/officeDocument/2006/relationships" xmlns:p="http://schemas.openxmlformats.org/presentationml/2006/main">
  <p:tag name="OTLMARKERSHAPE" val="OTL"/>
</p:tagLst>
</file>

<file path=ppt/tags/tag29.xml><?xml version="1.0" encoding="utf-8"?>
<p:tagLst xmlns:a="http://schemas.openxmlformats.org/drawingml/2006/main" xmlns:r="http://schemas.openxmlformats.org/officeDocument/2006/relationships" xmlns:p="http://schemas.openxmlformats.org/presentationml/2006/main">
  <p:tag name="OTLMARKERSHAPE" val="OTL"/>
</p:tagLst>
</file>

<file path=ppt/tags/tag30.xml><?xml version="1.0" encoding="utf-8"?>
<p:tagLst xmlns:a="http://schemas.openxmlformats.org/drawingml/2006/main" xmlns:r="http://schemas.openxmlformats.org/officeDocument/2006/relationships" xmlns:p="http://schemas.openxmlformats.org/presentationml/2006/main">
  <p:tag name="OTLMARKERSHAPE" val="OTL"/>
</p:tagLst>
</file>

<file path=ppt/tags/tag31.xml><?xml version="1.0" encoding="utf-8"?>
<p:tagLst xmlns:a="http://schemas.openxmlformats.org/drawingml/2006/main" xmlns:r="http://schemas.openxmlformats.org/officeDocument/2006/relationships" xmlns:p="http://schemas.openxmlformats.org/presentationml/2006/main">
  <p:tag name="OTLMARKERSHAPE" val="OTL"/>
</p:tagLst>
</file>

<file path=ppt/tags/tag32.xml><?xml version="1.0" encoding="utf-8"?>
<p:tagLst xmlns:a="http://schemas.openxmlformats.org/drawingml/2006/main" xmlns:r="http://schemas.openxmlformats.org/officeDocument/2006/relationships" xmlns:p="http://schemas.openxmlformats.org/presentationml/2006/main">
  <p:tag name="OTLMARKERSHAPE" val="OTL"/>
  <p:tag name="OTLTIMEBANDSCALETYPE" val="Months"/>
  <p:tag name="OTLTIMEBANDSCALEFORMAT" val="MMM"/>
  <p:tag name="OTLTIMEBANDSHAPETYPE" val="RoundedCornerRectangleTimeband"/>
  <p:tag name="OTLTIMEBANDSHAPEHEIGHT" val="20"/>
  <p:tag name="OTLTIMEBANDSHAPEPADDINGLEFT" val="0"/>
  <p:tag name="OTLTIMEBANDCULTUREINFO" val="en-US"/>
  <p:tag name="OTLTIMEBANDTHREEDEFFECTS" val="None"/>
  <p:tag name="OTLTIMEBANDAUTODATERANGE" val="True"/>
  <p:tag name="OTLTIMEBANDSTARTDATE" val="2018-09-08T00:00:00.0000000Z"/>
  <p:tag name="OTLTIMEBANDWORKINGDAYS" val="All"/>
  <p:tag name="OTLTIMEBANDUSETIME" val="False"/>
  <p:tag name="OTLTIMEBANDTIMECONFIGWORKDAYSTART" val="00:00:00"/>
  <p:tag name="OTLTIMEBANDTIMECONFIGWORKDAYEND" val="23:59:00"/>
  <p:tag name="OTLTIMEBANDSCALEMARKING" val="None"/>
  <p:tag name="OTLRIGHTENDCAPSMARGINRIGHT" val="20"/>
  <p:tag name="OTLLEFTENDCAPSMARGINLEFT" val="20"/>
  <p:tag name="OTLTIMEBANDFYSTARTMONTH" val="January"/>
  <p:tag name="OTLTIMEBANDSHOWFYLABEL" val="True"/>
  <p:tag name="OTLTIMEBANDUSESTARTINGOFTHEYEARFORFYNUMBERING" val="True"/>
  <p:tag name="OTLTIMEBANDRESERVEDLEFTAREAWIDTH" val="0"/>
  <p:tag name="OTLTIMEBANDRESERVEDLEFTAREAISSET" val="False"/>
  <p:tag name="OTLTIMEBANDDEPENABLED" val="True"/>
  <p:tag name="OTLTIMEBANDDEPSCHEDULINGMODE" val="Flexible"/>
  <p:tag name="OTLTIMEBANDDEPPREVIOUSSCHEDULINGMODE" val="Flexible"/>
  <p:tag name="OTLTIMEBANDDEPONBREAKINGSTRICTSCHEDULINGMODE" val="AskEverytime"/>
  <p:tag name="OTLTIMEBANDDEPONBREAKINGFLEXIBLESCHEDULINGMODE" val="AskEverytime"/>
  <p:tag name="OTLTIMEBANDSPACINGABOVE" val="5"/>
  <p:tag name="OTLTIMEBANDSPACINGBELOW" val="5"/>
  <p:tag name="OTLTIMEBANDSPACINGABOVEFORSWLANDTASKS" val="5"/>
  <p:tag name="OTLTIMEBANDSPACINGBELOWFORSWLANDTASKS" val="5"/>
  <p:tag name="OTLTIMEBANDENDDATE" val="2027-12-21T23:59:00.0000000Z"/>
  <p:tag name="OTLTIMEBANDQUICKPOSITION" val="Custom"/>
</p:tagLst>
</file>

<file path=ppt/tags/tag33.xml><?xml version="1.0" encoding="utf-8"?>
<p:tagLst xmlns:a="http://schemas.openxmlformats.org/drawingml/2006/main" xmlns:r="http://schemas.openxmlformats.org/officeDocument/2006/relationships" xmlns:p="http://schemas.openxmlformats.org/presentationml/2006/main">
  <p:tag name="OTLMARKERSHAPE" val="OTL"/>
</p:tagLst>
</file>

<file path=ppt/tags/tag34.xml><?xml version="1.0" encoding="utf-8"?>
<p:tagLst xmlns:a="http://schemas.openxmlformats.org/drawingml/2006/main" xmlns:r="http://schemas.openxmlformats.org/officeDocument/2006/relationships" xmlns:p="http://schemas.openxmlformats.org/presentationml/2006/main">
  <p:tag name="OTLMARKERSHAPE" val="OTL"/>
</p:tagLst>
</file>

<file path=ppt/tags/tag35.xml><?xml version="1.0" encoding="utf-8"?>
<p:tagLst xmlns:a="http://schemas.openxmlformats.org/drawingml/2006/main" xmlns:r="http://schemas.openxmlformats.org/officeDocument/2006/relationships" xmlns:p="http://schemas.openxmlformats.org/presentationml/2006/main">
  <p:tag name="OTLMARKERSHAPE" val="OTL"/>
</p:tagLst>
</file>

<file path=ppt/tags/tag36.xml><?xml version="1.0" encoding="utf-8"?>
<p:tagLst xmlns:a="http://schemas.openxmlformats.org/drawingml/2006/main" xmlns:r="http://schemas.openxmlformats.org/officeDocument/2006/relationships" xmlns:p="http://schemas.openxmlformats.org/presentationml/2006/main">
  <p:tag name="OTLMARKERSHAPE" val="OTL"/>
</p:tagLst>
</file>

<file path=ppt/tags/tag37.xml><?xml version="1.0" encoding="utf-8"?>
<p:tagLst xmlns:a="http://schemas.openxmlformats.org/drawingml/2006/main" xmlns:r="http://schemas.openxmlformats.org/officeDocument/2006/relationships" xmlns:p="http://schemas.openxmlformats.org/presentationml/2006/main">
  <p:tag name="OTLMARKERSHAPE" val="OTL"/>
</p:tagLst>
</file>

<file path=ppt/tags/tag38.xml><?xml version="1.0" encoding="utf-8"?>
<p:tagLst xmlns:a="http://schemas.openxmlformats.org/drawingml/2006/main" xmlns:r="http://schemas.openxmlformats.org/officeDocument/2006/relationships" xmlns:p="http://schemas.openxmlformats.org/presentationml/2006/main">
  <p:tag name="OTLMARKERSHAPE" val="OTL"/>
</p:tagLst>
</file>

<file path=ppt/tags/tag39.xml><?xml version="1.0" encoding="utf-8"?>
<p:tagLst xmlns:a="http://schemas.openxmlformats.org/drawingml/2006/main" xmlns:r="http://schemas.openxmlformats.org/officeDocument/2006/relationships" xmlns:p="http://schemas.openxmlformats.org/presentationml/2006/main">
  <p:tag name="OTLMARKERSHAPE" val="OTL"/>
</p:tagLst>
</file>

<file path=ppt/tags/tag40.xml><?xml version="1.0" encoding="utf-8"?>
<p:tagLst xmlns:a="http://schemas.openxmlformats.org/drawingml/2006/main" xmlns:r="http://schemas.openxmlformats.org/officeDocument/2006/relationships" xmlns:p="http://schemas.openxmlformats.org/presentationml/2006/main">
  <p:tag name="OTLMARKERSHAPE" val="OTL"/>
</p:tagLst>
</file>

<file path=ppt/tags/tag41.xml><?xml version="1.0" encoding="utf-8"?>
<p:tagLst xmlns:a="http://schemas.openxmlformats.org/drawingml/2006/main" xmlns:r="http://schemas.openxmlformats.org/officeDocument/2006/relationships" xmlns:p="http://schemas.openxmlformats.org/presentationml/2006/main">
  <p:tag name="OTLMARKERSHAPE" val="OTL"/>
</p:tagLst>
</file>

<file path=ppt/tags/tag42.xml><?xml version="1.0" encoding="utf-8"?>
<p:tagLst xmlns:a="http://schemas.openxmlformats.org/drawingml/2006/main" xmlns:r="http://schemas.openxmlformats.org/officeDocument/2006/relationships" xmlns:p="http://schemas.openxmlformats.org/presentationml/2006/main">
  <p:tag name="OTLMARKERSHAPE" val="OTL"/>
</p:tagLst>
</file>

<file path=ppt/tags/tag43.xml><?xml version="1.0" encoding="utf-8"?>
<p:tagLst xmlns:a="http://schemas.openxmlformats.org/drawingml/2006/main" xmlns:r="http://schemas.openxmlformats.org/officeDocument/2006/relationships" xmlns:p="http://schemas.openxmlformats.org/presentationml/2006/main">
  <p:tag name="OTLMARKERSHAPE" val="OTL"/>
</p:tagLst>
</file>

<file path=ppt/tags/tag44.xml><?xml version="1.0" encoding="utf-8"?>
<p:tagLst xmlns:a="http://schemas.openxmlformats.org/drawingml/2006/main" xmlns:r="http://schemas.openxmlformats.org/officeDocument/2006/relationships" xmlns:p="http://schemas.openxmlformats.org/presentationml/2006/main">
  <p:tag name="OTLBASELINEENDDATE" val="2027-10-29T23:59:00.0000000"/>
  <p:tag name="OTLBASELINESTARTDATE" val="2027-10-18T23:59: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27-10-29T23:59:00.0000000Z"/>
  <p:tag name="OTLMARKERSHAPE" val="OTL"/>
  <p:tag name="OTLSHAPETHICKNESSTYPE" val="Regular"/>
  <p:tag name="OTLSPACING" val="5"/>
  <p:tag name="OTLSTARTDATE" val="2027-10-20T23:59:00.0000000Z"/>
  <p:tag name="OTLWEEKNUMBERINGFORMAT" val="WNFormat1"/>
  <p:tag name="OTLWEEKNUMBERINGISVISIBLE" val="False"/>
</p:tagLst>
</file>

<file path=ppt/tags/tag45.xml><?xml version="1.0" encoding="utf-8"?>
<p:tagLst xmlns:a="http://schemas.openxmlformats.org/drawingml/2006/main" xmlns:r="http://schemas.openxmlformats.org/officeDocument/2006/relationships" xmlns:p="http://schemas.openxmlformats.org/presentationml/2006/main">
  <p:tag name="OTLBASELINEENDDATE" val="2027-10-29T23:59:00.0000000"/>
  <p:tag name="OTLBASELINESTARTDATE" val="2027-10-18T23:59: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27-10-29T23:59:00.0000000Z"/>
  <p:tag name="OTLMARKERSHAPE" val="OTL"/>
  <p:tag name="OTLSHAPETHICKNESSTYPE" val="Regular"/>
  <p:tag name="OTLSPACING" val="5"/>
  <p:tag name="OTLSTARTDATE" val="2027-10-20T23:59:00.0000000Z"/>
  <p:tag name="OTLWEEKNUMBERINGFORMAT" val="WNFormat1"/>
  <p:tag name="OTLWEEKNUMBERINGISVISIBLE" val="False"/>
</p:tagLst>
</file>

<file path=ppt/tags/tag46.xml><?xml version="1.0" encoding="utf-8"?>
<p:tagLst xmlns:a="http://schemas.openxmlformats.org/drawingml/2006/main" xmlns:r="http://schemas.openxmlformats.org/officeDocument/2006/relationships" xmlns:p="http://schemas.openxmlformats.org/presentationml/2006/main">
  <p:tag name="OTLBASELINEENDDATE" val="2027-12-21T23:59:00.0000000"/>
  <p:tag name="OTLBASELINESTARTDATE" val="2027-12-01T23:59: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27-12-21T23:59:00.0000000Z"/>
  <p:tag name="OTLMARKERSHAPE" val="OTL"/>
  <p:tag name="OTLSHAPETHICKNESSTYPE" val="Regular"/>
  <p:tag name="OTLSPACING" val="5"/>
  <p:tag name="OTLSTARTDATE" val="2027-12-01T23:59:00.0000000Z"/>
  <p:tag name="OTLWEEKNUMBERINGFORMAT" val="WNFormat1"/>
  <p:tag name="OTLWEEKNUMBERINGISVISIBLE" val="False"/>
</p:tagLst>
</file>

<file path=ppt/tags/tag47.xml><?xml version="1.0" encoding="utf-8"?>
<p:tagLst xmlns:a="http://schemas.openxmlformats.org/drawingml/2006/main" xmlns:r="http://schemas.openxmlformats.org/officeDocument/2006/relationships" xmlns:p="http://schemas.openxmlformats.org/presentationml/2006/main">
  <p:tag name="OTLBASELINEENDDATE" val="2027-10-29T23:59:00.0000000"/>
  <p:tag name="OTLBASELINESTARTDATE" val="2027-10-18T23:59: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27-10-29T23:59:00.0000000Z"/>
  <p:tag name="OTLMARKERSHAPE" val="OTL"/>
  <p:tag name="OTLSHAPETHICKNESSTYPE" val="Regular"/>
  <p:tag name="OTLSPACING" val="5"/>
  <p:tag name="OTLSTARTDATE" val="2027-10-20T23:59:00.0000000Z"/>
  <p:tag name="OTLWEEKNUMBERINGFORMAT" val="WNFormat1"/>
  <p:tag name="OTLWEEKNUMBERINGISVISIBLE" val="False"/>
</p:tagLst>
</file>

<file path=ppt/tags/tag48.xml><?xml version="1.0" encoding="utf-8"?>
<p:tagLst xmlns:a="http://schemas.openxmlformats.org/drawingml/2006/main" xmlns:r="http://schemas.openxmlformats.org/officeDocument/2006/relationships" xmlns:p="http://schemas.openxmlformats.org/presentationml/2006/main">
  <p:tag name="OTLBASELINEENDDATE" val="2027-10-12T23:59:00.0000000"/>
  <p:tag name="OTLBASELINESTARTDATE" val="2027-09-17T23:59: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27-10-12T23:59:00.0000000Z"/>
  <p:tag name="OTLMARKERSHAPE" val="OTL"/>
  <p:tag name="OTLSHAPETHICKNESSTYPE" val="Regular"/>
  <p:tag name="OTLSPACING" val="5"/>
  <p:tag name="OTLSTARTDATE" val="2027-09-17T23:59:00.0000000Z"/>
  <p:tag name="OTLWEEKNUMBERINGFORMAT" val="WNFormat1"/>
  <p:tag name="OTLWEEKNUMBERINGISVISIBLE" val="False"/>
</p:tagLst>
</file>

<file path=ppt/tags/tag49.xml><?xml version="1.0" encoding="utf-8"?>
<p:tagLst xmlns:a="http://schemas.openxmlformats.org/drawingml/2006/main" xmlns:r="http://schemas.openxmlformats.org/officeDocument/2006/relationships" xmlns:p="http://schemas.openxmlformats.org/presentationml/2006/main">
  <p:tag name="OTLBASELINEENDDATE" val="2027-09-30T23:59:00.0000000"/>
  <p:tag name="OTLBASELINESTARTDATE" val="2027-08-24T23:59: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27-09-30T23:59:00.0000000Z"/>
  <p:tag name="OTLMARKERSHAPE" val="OTL"/>
  <p:tag name="OTLSHAPETHICKNESSTYPE" val="Regular"/>
  <p:tag name="OTLSPACING" val="5"/>
  <p:tag name="OTLSTARTDATE" val="2027-08-24T23:59:00.0000000Z"/>
  <p:tag name="OTLWEEKNUMBERINGFORMAT" val="WNFormat1"/>
  <p:tag name="OTLWEEKNUMBERINGISVISIBLE" val="False"/>
</p:tagLst>
</file>

<file path=ppt/tags/tag50.xml><?xml version="1.0" encoding="utf-8"?>
<p:tagLst xmlns:a="http://schemas.openxmlformats.org/drawingml/2006/main" xmlns:r="http://schemas.openxmlformats.org/officeDocument/2006/relationships" xmlns:p="http://schemas.openxmlformats.org/presentationml/2006/main">
  <p:tag name="OTLMARKERSHAPE" val="OTL"/>
</p:tagLst>
</file>

<file path=ppt/tags/tag51.xml><?xml version="1.0" encoding="utf-8"?>
<p:tagLst xmlns:a="http://schemas.openxmlformats.org/drawingml/2006/main" xmlns:r="http://schemas.openxmlformats.org/officeDocument/2006/relationships" xmlns:p="http://schemas.openxmlformats.org/presentationml/2006/main">
  <p:tag name="OTLMARKERSHAPE" val="OTL"/>
</p:tagLst>
</file>

<file path=ppt/tags/tag52.xml><?xml version="1.0" encoding="utf-8"?>
<p:tagLst xmlns:a="http://schemas.openxmlformats.org/drawingml/2006/main" xmlns:r="http://schemas.openxmlformats.org/officeDocument/2006/relationships" xmlns:p="http://schemas.openxmlformats.org/presentationml/2006/main">
  <p:tag name="OTLMARKERSHAPE" val="OTL"/>
</p:tagLst>
</file>

<file path=ppt/tags/tag53.xml><?xml version="1.0" encoding="utf-8"?>
<p:tagLst xmlns:a="http://schemas.openxmlformats.org/drawingml/2006/main" xmlns:r="http://schemas.openxmlformats.org/officeDocument/2006/relationships" xmlns:p="http://schemas.openxmlformats.org/presentationml/2006/main">
  <p:tag name="OTLMARKERSHAPE" val="OTL"/>
</p:tagLst>
</file>

<file path=ppt/tags/tag54.xml><?xml version="1.0" encoding="utf-8"?>
<p:tagLst xmlns:a="http://schemas.openxmlformats.org/drawingml/2006/main" xmlns:r="http://schemas.openxmlformats.org/officeDocument/2006/relationships" xmlns:p="http://schemas.openxmlformats.org/presentationml/2006/main">
  <p:tag name="OTLMARKERSHAPE" val="OTL"/>
</p:tagLst>
</file>

<file path=ppt/tags/tag55.xml><?xml version="1.0" encoding="utf-8"?>
<p:tagLst xmlns:a="http://schemas.openxmlformats.org/drawingml/2006/main" xmlns:r="http://schemas.openxmlformats.org/officeDocument/2006/relationships" xmlns:p="http://schemas.openxmlformats.org/presentationml/2006/main">
  <p:tag name="OTLMARKERSHAPE" val="OTL"/>
</p:tagLst>
</file>

<file path=ppt/tags/tag56.xml><?xml version="1.0" encoding="utf-8"?>
<p:tagLst xmlns:a="http://schemas.openxmlformats.org/drawingml/2006/main" xmlns:r="http://schemas.openxmlformats.org/officeDocument/2006/relationships" xmlns:p="http://schemas.openxmlformats.org/presentationml/2006/main">
  <p:tag name="OTLMARKERSHAPE" val="OTL"/>
</p:tagLst>
</file>

<file path=ppt/tags/tag57.xml><?xml version="1.0" encoding="utf-8"?>
<p:tagLst xmlns:a="http://schemas.openxmlformats.org/drawingml/2006/main" xmlns:r="http://schemas.openxmlformats.org/officeDocument/2006/relationships" xmlns:p="http://schemas.openxmlformats.org/presentationml/2006/main">
  <p:tag name="OTLMARKERSHAPE" val="OTL"/>
</p:tagLst>
</file>

<file path=ppt/tags/tag58.xml><?xml version="1.0" encoding="utf-8"?>
<p:tagLst xmlns:a="http://schemas.openxmlformats.org/drawingml/2006/main" xmlns:r="http://schemas.openxmlformats.org/officeDocument/2006/relationships" xmlns:p="http://schemas.openxmlformats.org/presentationml/2006/main">
  <p:tag name="OTLMARKERSHAPE" val="OTL"/>
</p:tagLst>
</file>

<file path=ppt/tags/tag59.xml><?xml version="1.0" encoding="utf-8"?>
<p:tagLst xmlns:a="http://schemas.openxmlformats.org/drawingml/2006/main" xmlns:r="http://schemas.openxmlformats.org/officeDocument/2006/relationships" xmlns:p="http://schemas.openxmlformats.org/presentationml/2006/main">
  <p:tag name="OTLMARKERSHAPE" val="OTL"/>
</p:tagLst>
</file>

<file path=ppt/tags/tag60.xml><?xml version="1.0" encoding="utf-8"?>
<p:tagLst xmlns:a="http://schemas.openxmlformats.org/drawingml/2006/main" xmlns:r="http://schemas.openxmlformats.org/officeDocument/2006/relationships" xmlns:p="http://schemas.openxmlformats.org/presentationml/2006/main">
  <p:tag name="OTLMARKERSHAPE" val="OTL"/>
</p:tagLst>
</file>

<file path=ppt/tags/tag61.xml><?xml version="1.0" encoding="utf-8"?>
<p:tagLst xmlns:a="http://schemas.openxmlformats.org/drawingml/2006/main" xmlns:r="http://schemas.openxmlformats.org/officeDocument/2006/relationships" xmlns:p="http://schemas.openxmlformats.org/presentationml/2006/main">
  <p:tag name="OTLMARKERSHAPE" val="OTL"/>
</p:tagLst>
</file>

<file path=ppt/tags/tag62.xml><?xml version="1.0" encoding="utf-8"?>
<p:tagLst xmlns:a="http://schemas.openxmlformats.org/drawingml/2006/main" xmlns:r="http://schemas.openxmlformats.org/officeDocument/2006/relationships" xmlns:p="http://schemas.openxmlformats.org/presentationml/2006/main">
  <p:tag name="OTLMARKERSHAPE" val="OTL"/>
</p:tagLst>
</file>

<file path=ppt/tags/tag63.xml><?xml version="1.0" encoding="utf-8"?>
<p:tagLst xmlns:a="http://schemas.openxmlformats.org/drawingml/2006/main" xmlns:r="http://schemas.openxmlformats.org/officeDocument/2006/relationships" xmlns:p="http://schemas.openxmlformats.org/presentationml/2006/main">
  <p:tag name="OTLMARKERSHAPE" val="OTL"/>
</p:tagLst>
</file>

<file path=ppt/tags/tag64.xml><?xml version="1.0" encoding="utf-8"?>
<p:tagLst xmlns:a="http://schemas.openxmlformats.org/drawingml/2006/main" xmlns:r="http://schemas.openxmlformats.org/officeDocument/2006/relationships" xmlns:p="http://schemas.openxmlformats.org/presentationml/2006/main">
  <p:tag name="OTLMARKERSHAPE" val="OTL"/>
</p:tagLst>
</file>

<file path=ppt/tags/tag65.xml><?xml version="1.0" encoding="utf-8"?>
<p:tagLst xmlns:a="http://schemas.openxmlformats.org/drawingml/2006/main" xmlns:r="http://schemas.openxmlformats.org/officeDocument/2006/relationships" xmlns:p="http://schemas.openxmlformats.org/presentationml/2006/main">
  <p:tag name="OTLMARKERSHAPE" val="OTL"/>
</p:tagLst>
</file>

<file path=ppt/tags/tag66.xml><?xml version="1.0" encoding="utf-8"?>
<p:tagLst xmlns:a="http://schemas.openxmlformats.org/drawingml/2006/main" xmlns:r="http://schemas.openxmlformats.org/officeDocument/2006/relationships" xmlns:p="http://schemas.openxmlformats.org/presentationml/2006/main">
  <p:tag name="OTLMARKERSHAPE" val="OTL"/>
</p:tagLst>
</file>

<file path=ppt/tags/tag67.xml><?xml version="1.0" encoding="utf-8"?>
<p:tagLst xmlns:a="http://schemas.openxmlformats.org/drawingml/2006/main" xmlns:r="http://schemas.openxmlformats.org/officeDocument/2006/relationships" xmlns:p="http://schemas.openxmlformats.org/presentationml/2006/main">
  <p:tag name="OTLMARKERSHAPE" val="OTL"/>
</p:tagLst>
</file>

<file path=ppt/tags/tag68.xml><?xml version="1.0" encoding="utf-8"?>
<p:tagLst xmlns:a="http://schemas.openxmlformats.org/drawingml/2006/main" xmlns:r="http://schemas.openxmlformats.org/officeDocument/2006/relationships" xmlns:p="http://schemas.openxmlformats.org/presentationml/2006/main">
  <p:tag name="OTLBASELINEDATE" val="2027-07-01T23:59:00.0000000"/>
  <p:tag name="OTLDATE" val="2027-07-01T23:59: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MARKERSHAPE" val="OTL"/>
  <p:tag name="OTLMTITLE" val="LPO"/>
  <p:tag name="OTLPOSITIONONTASK" val="None"/>
  <p:tag name="OTLRELATEDTASKID" val="00000000-0000-0000-0000-000000000000"/>
  <p:tag name="OTLWEEKNUMBERINGFORMAT" val="WNFormat1"/>
  <p:tag name="OTLWEEKNUMBERINGISVISIBLE" val="False"/>
</p:tagLst>
</file>

<file path=ppt/tags/tag69.xml><?xml version="1.0" encoding="utf-8"?>
<p:tagLst xmlns:a="http://schemas.openxmlformats.org/drawingml/2006/main" xmlns:r="http://schemas.openxmlformats.org/officeDocument/2006/relationships" xmlns:p="http://schemas.openxmlformats.org/presentationml/2006/main">
  <p:tag name="OTLBASELINEDATE" val="2027-07-26T23:59:00.0000000"/>
  <p:tag name="OTLDATE" val="2027-07-26T23:59: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MARKERSHAPE" val="OTL"/>
  <p:tag name="OTLMTITLE" val="DBL"/>
  <p:tag name="OTLPOSITIONONTASK" val="None"/>
  <p:tag name="OTLRELATEDTASKID" val="00000000-0000-0000-0000-000000000000"/>
  <p:tag name="OTLWEEKNUMBERINGFORMAT" val="WNFormat1"/>
  <p:tag name="OTLWEEKNUMBERINGISVISIBLE" val="False"/>
</p:tagLst>
</file>

<file path=ppt/tags/tag70.xml><?xml version="1.0" encoding="utf-8"?>
<p:tagLst xmlns:a="http://schemas.openxmlformats.org/drawingml/2006/main" xmlns:r="http://schemas.openxmlformats.org/officeDocument/2006/relationships" xmlns:p="http://schemas.openxmlformats.org/presentationml/2006/main">
  <p:tag name="OTLBASELINEDATE" val="2027-08-05T23:59:00.0000000"/>
  <p:tag name="OTLDATE" val="2027-08-05T23:59: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MARKERSHAPE" val="OTL"/>
  <p:tag name="OTLMTITLE" val="approx. TLR "/>
  <p:tag name="OTLPOSITIONONTASK" val="None"/>
  <p:tag name="OTLRELATEDTASKID" val="00000000-0000-0000-0000-000000000000"/>
  <p:tag name="OTLWEEKNUMBERINGFORMAT" val="WNFormat1"/>
  <p:tag name="OTLWEEKNUMBERINGISVISIBLE" val="False"/>
</p:tagLst>
</file>

<file path=ppt/tags/tag71.xml><?xml version="1.0" encoding="utf-8"?>
<p:tagLst xmlns:a="http://schemas.openxmlformats.org/drawingml/2006/main" xmlns:r="http://schemas.openxmlformats.org/officeDocument/2006/relationships" xmlns:p="http://schemas.openxmlformats.org/presentationml/2006/main">
  <p:tag name="OTLBASELINEDATE" val="2027-10-15T23:59:00.0000000"/>
  <p:tag name="OTLDATE" val="2027-10-15T23:59: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MARKERSHAPE" val="OTL"/>
  <p:tag name="OTLMTITLE" val="Start compilation"/>
  <p:tag name="OTLPOSITIONONTASK" val="None"/>
  <p:tag name="OTLRELATEDTASKID" val="00000000-0000-0000-0000-000000000000"/>
  <p:tag name="OTLWEEKNUMBERINGFORMAT" val="WNFormat1"/>
  <p:tag name="OTLWEEKNUMBERINGISVISIBLE" val="False"/>
</p:tagLst>
</file>

<file path=ppt/tags/tag72.xml><?xml version="1.0" encoding="utf-8"?>
<p:tagLst xmlns:a="http://schemas.openxmlformats.org/drawingml/2006/main" xmlns:r="http://schemas.openxmlformats.org/officeDocument/2006/relationships" xmlns:p="http://schemas.openxmlformats.org/presentationml/2006/main">
  <p:tag name="OTLBASELINEDATE" val="2027-09-08T23:59:00.0000000"/>
  <p:tag name="OTLDATE" val="2027-09-08T23:59: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MARKERSHAPE" val="OTL"/>
  <p:tag name="OTLMTITLE" val="CTR 1st draft out"/>
  <p:tag name="OTLPOSITIONONTASK" val="None"/>
  <p:tag name="OTLRELATEDTASKID" val="00000000-0000-0000-0000-000000000000"/>
  <p:tag name="OTLWEEKNUMBERINGFORMAT" val="WNFormat1"/>
  <p:tag name="OTLWEEKNUMBERINGISVISIBLE" val="False"/>
</p:tagLst>
</file>

<file path=ppt/tags/tag73.xml><?xml version="1.0" encoding="utf-8"?>
<p:tagLst xmlns:a="http://schemas.openxmlformats.org/drawingml/2006/main" xmlns:r="http://schemas.openxmlformats.org/officeDocument/2006/relationships" xmlns:p="http://schemas.openxmlformats.org/presentationml/2006/main">
  <p:tag name="OTLBASELINEDATE" val="2027-09-21T23:59:00.0000000"/>
  <p:tag name="OTLDATE" val="2027-09-21T23:59: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MARKERSHAPE" val="OTL"/>
  <p:tag name="OTLMTITLE" val="CTR 2nd draft out"/>
  <p:tag name="OTLPOSITIONONTASK" val="None"/>
  <p:tag name="OTLRELATEDTASKID" val="00000000-0000-0000-0000-000000000000"/>
  <p:tag name="OTLWEEKNUMBERINGFORMAT" val="WNFormat1"/>
  <p:tag name="OTLWEEKNUMBERINGISVISIBLE" val="False"/>
</p:tagLst>
</file>

<file path=ppt/tags/tag74.xml><?xml version="1.0" encoding="utf-8"?>
<p:tagLst xmlns:a="http://schemas.openxmlformats.org/drawingml/2006/main" xmlns:r="http://schemas.openxmlformats.org/officeDocument/2006/relationships" xmlns:p="http://schemas.openxmlformats.org/presentationml/2006/main">
  <p:tag name="OTLBASELINEDATE" val="2027-09-30T23:59:00.0000000"/>
  <p:tag name="OTLDATE" val="2027-09-30T23:59: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MARKERSHAPE" val="OTL"/>
  <p:tag name="OTLMTITLE" val="CTR content final"/>
  <p:tag name="OTLPOSITIONONTASK" val="None"/>
  <p:tag name="OTLRELATEDTASKID" val="00000000-0000-0000-0000-000000000000"/>
  <p:tag name="OTLWEEKNUMBERINGFORMAT" val="WNFormat1"/>
  <p:tag name="OTLWEEKNUMBERINGISVISIBLE" val="False"/>
</p:tagLst>
</file>

<file path=ppt/tags/tag75.xml><?xml version="1.0" encoding="utf-8"?>
<p:tagLst xmlns:a="http://schemas.openxmlformats.org/drawingml/2006/main" xmlns:r="http://schemas.openxmlformats.org/officeDocument/2006/relationships" xmlns:p="http://schemas.openxmlformats.org/presentationml/2006/main">
  <p:tag name="OTLBASELINEDATE" val="2027-09-17T23:59:00.0000000"/>
  <p:tag name="OTLDATE" val="2027-09-17T23:59: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MARKERSHAPE" val="OTL"/>
  <p:tag name="OTLMTITLE" val="CO 1st draft out "/>
  <p:tag name="OTLPOSITIONONTASK" val="None"/>
  <p:tag name="OTLRELATEDTASKID" val="00000000-0000-0000-0000-000000000000"/>
  <p:tag name="OTLWEEKNUMBERINGFORMAT" val="WNFormat1"/>
  <p:tag name="OTLWEEKNUMBERINGISVISIBLE" val="False"/>
</p:tagLst>
</file>

<file path=ppt/tags/tag76.xml><?xml version="1.0" encoding="utf-8"?>
<p:tagLst xmlns:a="http://schemas.openxmlformats.org/drawingml/2006/main" xmlns:r="http://schemas.openxmlformats.org/officeDocument/2006/relationships" xmlns:p="http://schemas.openxmlformats.org/presentationml/2006/main">
  <p:tag name="OTLBASELINEDATE" val="2027-10-01T23:59:00.0000000"/>
  <p:tag name="OTLDATE" val="2027-10-01T23:59: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MARKERSHAPE" val="OTL"/>
  <p:tag name="OTLMTITLE" val="CO 2nd draft out "/>
  <p:tag name="OTLPOSITIONONTASK" val="None"/>
  <p:tag name="OTLRELATEDTASKID" val="00000000-0000-0000-0000-000000000000"/>
  <p:tag name="OTLWEEKNUMBERINGFORMAT" val="WNFormat1"/>
  <p:tag name="OTLWEEKNUMBERINGISVISIBLE" val="False"/>
</p:tagLst>
</file>

<file path=ppt/tags/tag77.xml><?xml version="1.0" encoding="utf-8"?>
<p:tagLst xmlns:a="http://schemas.openxmlformats.org/drawingml/2006/main" xmlns:r="http://schemas.openxmlformats.org/officeDocument/2006/relationships" xmlns:p="http://schemas.openxmlformats.org/presentationml/2006/main">
  <p:tag name="OTLBASELINEDATE" val="2027-10-12T23:59:00.0000000"/>
  <p:tag name="OTLDATE" val="2027-10-12T23:59: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MARKERSHAPE" val="OTL"/>
  <p:tag name="OTLMTITLE" val="CO final version"/>
  <p:tag name="OTLPOSITIONONTASK" val="None"/>
  <p:tag name="OTLRELATEDTASKID" val="00000000-0000-0000-0000-000000000000"/>
  <p:tag name="OTLWEEKNUMBERINGFORMAT" val="WNFormat1"/>
  <p:tag name="OTLWEEKNUMBERINGISVISIBLE" val="False"/>
</p:tagLst>
</file>

<file path=ppt/tags/tag78.xml><?xml version="1.0" encoding="utf-8"?>
<p:tagLst xmlns:a="http://schemas.openxmlformats.org/drawingml/2006/main" xmlns:r="http://schemas.openxmlformats.org/officeDocument/2006/relationships" xmlns:p="http://schemas.openxmlformats.org/presentationml/2006/main">
  <p:tag name="OTLBASELINEDATE" val="2027-08-24T23:59:00.0000000"/>
  <p:tag name="OTLDATE" val="2027-08-24T23:59: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MARKERSHAPE" val="OTL"/>
  <p:tag name="OTLMTITLE" val="CTR STATANA"/>
  <p:tag name="OTLPOSITIONONTASK" val="None"/>
  <p:tag name="OTLRELATEDTASKID" val="00000000-0000-0000-0000-000000000000"/>
  <p:tag name="OTLWEEKNUMBERINGFORMAT" val="WNFormat1"/>
  <p:tag name="OTLWEEKNUMBERINGISVISIBLE" val="False"/>
</p:tagLst>
</file>

<file path=ppt/tags/tag79.xml><?xml version="1.0" encoding="utf-8"?>
<p:tagLst xmlns:a="http://schemas.openxmlformats.org/drawingml/2006/main" xmlns:r="http://schemas.openxmlformats.org/officeDocument/2006/relationships" xmlns:p="http://schemas.openxmlformats.org/presentationml/2006/main">
  <p:tag name="OTLBASELINEDATE" val="2027-10-05T23:59:00.0000000"/>
  <p:tag name="OTLDATE" val="2027-10-05T23:59: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MARKERSHAPE" val="OTL"/>
  <p:tag name="OTLMTITLE" val="SCE final"/>
  <p:tag name="OTLPOSITIONONTASK" val="None"/>
  <p:tag name="OTLRELATEDTASKID" val="00000000-0000-0000-0000-000000000000"/>
  <p:tag name="OTLWEEKNUMBERINGFORMAT" val="WNFormat1"/>
  <p:tag name="OTLWEEKNUMBERINGISVISIBLE" val="False"/>
</p:tagLst>
</file>

<file path=ppt/tags/tag80.xml><?xml version="1.0" encoding="utf-8"?>
<p:tagLst xmlns:a="http://schemas.openxmlformats.org/drawingml/2006/main" xmlns:r="http://schemas.openxmlformats.org/officeDocument/2006/relationships" xmlns:p="http://schemas.openxmlformats.org/presentationml/2006/main">
  <p:tag name="OTLBASELINEDATE" val="2027-10-05T23:59:00.0000000"/>
  <p:tag name="OTLDATE" val="2027-10-05T23:59: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MARKERSHAPE" val="OTL"/>
  <p:tag name="OTLMTITLE" val="SCF final"/>
  <p:tag name="OTLPOSITIONONTASK" val="None"/>
  <p:tag name="OTLRELATEDTASKID" val="00000000-0000-0000-0000-000000000000"/>
  <p:tag name="OTLWEEKNUMBERINGFORMAT" val="WNFormat1"/>
  <p:tag name="OTLWEEKNUMBERINGISVISIBLE" val="False"/>
</p:tagLst>
</file>

<file path=ppt/tags/tag81.xml><?xml version="1.0" encoding="utf-8"?>
<p:tagLst xmlns:a="http://schemas.openxmlformats.org/drawingml/2006/main" xmlns:r="http://schemas.openxmlformats.org/officeDocument/2006/relationships" xmlns:p="http://schemas.openxmlformats.org/presentationml/2006/main">
  <p:tag name="OTLMARKERSHAPE" val="OTL"/>
</p:tagLst>
</file>

<file path=ppt/tags/tag82.xml><?xml version="1.0" encoding="utf-8"?>
<p:tagLst xmlns:a="http://schemas.openxmlformats.org/drawingml/2006/main" xmlns:r="http://schemas.openxmlformats.org/officeDocument/2006/relationships" xmlns:p="http://schemas.openxmlformats.org/presentationml/2006/main">
  <p:tag name="OTLMARKERSHAPE" val="OTL"/>
</p:tagLst>
</file>

<file path=ppt/tags/tag83.xml><?xml version="1.0" encoding="utf-8"?>
<p:tagLst xmlns:a="http://schemas.openxmlformats.org/drawingml/2006/main" xmlns:r="http://schemas.openxmlformats.org/officeDocument/2006/relationships" xmlns:p="http://schemas.openxmlformats.org/presentationml/2006/main">
  <p:tag name="OTLMARKERSHAPE" val="OTL"/>
</p:tagLst>
</file>

<file path=ppt/tags/tag84.xml><?xml version="1.0" encoding="utf-8"?>
<p:tagLst xmlns:a="http://schemas.openxmlformats.org/drawingml/2006/main" xmlns:r="http://schemas.openxmlformats.org/officeDocument/2006/relationships" xmlns:p="http://schemas.openxmlformats.org/presentationml/2006/main">
  <p:tag name="OTLMARKERSHAPE" val="OTL"/>
</p:tagLst>
</file>

<file path=ppt/tags/tag85.xml><?xml version="1.0" encoding="utf-8"?>
<p:tagLst xmlns:a="http://schemas.openxmlformats.org/drawingml/2006/main" xmlns:r="http://schemas.openxmlformats.org/officeDocument/2006/relationships" xmlns:p="http://schemas.openxmlformats.org/presentationml/2006/main">
  <p:tag name="OTLMARKERSHAPE" val="OTL"/>
</p:tagLst>
</file>

<file path=ppt/tags/tag86.xml><?xml version="1.0" encoding="utf-8"?>
<p:tagLst xmlns:a="http://schemas.openxmlformats.org/drawingml/2006/main" xmlns:r="http://schemas.openxmlformats.org/officeDocument/2006/relationships" xmlns:p="http://schemas.openxmlformats.org/presentationml/2006/main">
  <p:tag name="OTLMARKERSHAPE" val="OTL"/>
</p:tagLst>
</file>

<file path=ppt/tags/tag87.xml><?xml version="1.0" encoding="utf-8"?>
<p:tagLst xmlns:a="http://schemas.openxmlformats.org/drawingml/2006/main" xmlns:r="http://schemas.openxmlformats.org/officeDocument/2006/relationships" xmlns:p="http://schemas.openxmlformats.org/presentationml/2006/main">
  <p:tag name="OTLMARKERSHAPE" val="OTL"/>
</p:tagLst>
</file>

<file path=ppt/tags/tag88.xml><?xml version="1.0" encoding="utf-8"?>
<p:tagLst xmlns:a="http://schemas.openxmlformats.org/drawingml/2006/main" xmlns:r="http://schemas.openxmlformats.org/officeDocument/2006/relationships" xmlns:p="http://schemas.openxmlformats.org/presentationml/2006/main">
  <p:tag name="OTLMARKERSHAPE" val="OTL"/>
</p:tagLst>
</file>

<file path=ppt/tags/tag89.xml><?xml version="1.0" encoding="utf-8"?>
<p:tagLst xmlns:a="http://schemas.openxmlformats.org/drawingml/2006/main" xmlns:r="http://schemas.openxmlformats.org/officeDocument/2006/relationships" xmlns:p="http://schemas.openxmlformats.org/presentationml/2006/main">
  <p:tag name="OTLMARKERSHAPE" val="OTL"/>
</p:tagLst>
</file>

<file path=ppt/tags/tag90.xml><?xml version="1.0" encoding="utf-8"?>
<p:tagLst xmlns:a="http://schemas.openxmlformats.org/drawingml/2006/main" xmlns:r="http://schemas.openxmlformats.org/officeDocument/2006/relationships" xmlns:p="http://schemas.openxmlformats.org/presentationml/2006/main">
  <p:tag name="OTLMARKERSHAPE" val="OTL"/>
</p:tagLst>
</file>

<file path=ppt/tags/tag91.xml><?xml version="1.0" encoding="utf-8"?>
<p:tagLst xmlns:a="http://schemas.openxmlformats.org/drawingml/2006/main" xmlns:r="http://schemas.openxmlformats.org/officeDocument/2006/relationships" xmlns:p="http://schemas.openxmlformats.org/presentationml/2006/main">
  <p:tag name="OTLMARKERSHAPE" val="OTL"/>
</p:tagLst>
</file>

<file path=ppt/tags/tag92.xml><?xml version="1.0" encoding="utf-8"?>
<p:tagLst xmlns:a="http://schemas.openxmlformats.org/drawingml/2006/main" xmlns:r="http://schemas.openxmlformats.org/officeDocument/2006/relationships" xmlns:p="http://schemas.openxmlformats.org/presentationml/2006/main">
  <p:tag name="OTLMARKERSHAPE" val="OTL"/>
</p:tagLst>
</file>

<file path=ppt/tags/tag93.xml><?xml version="1.0" encoding="utf-8"?>
<p:tagLst xmlns:a="http://schemas.openxmlformats.org/drawingml/2006/main" xmlns:r="http://schemas.openxmlformats.org/officeDocument/2006/relationships" xmlns:p="http://schemas.openxmlformats.org/presentationml/2006/main">
  <p:tag name="OTLMARKERSHAPE" val="OTL"/>
</p:tagLst>
</file>

<file path=ppt/tags/tag94.xml><?xml version="1.0" encoding="utf-8"?>
<p:tagLst xmlns:a="http://schemas.openxmlformats.org/drawingml/2006/main" xmlns:r="http://schemas.openxmlformats.org/officeDocument/2006/relationships" xmlns:p="http://schemas.openxmlformats.org/presentationml/2006/main">
  <p:tag name="OTLMARKERSHAPE" val="OTL"/>
</p:tagLst>
</file>

<file path=ppt/tags/tag95.xml><?xml version="1.0" encoding="utf-8"?>
<p:tagLst xmlns:a="http://schemas.openxmlformats.org/drawingml/2006/main" xmlns:r="http://schemas.openxmlformats.org/officeDocument/2006/relationships" xmlns:p="http://schemas.openxmlformats.org/presentationml/2006/main">
  <p:tag name="OTLMARKERSHAPE" val="OTL"/>
</p:tagLst>
</file>

<file path=ppt/tags/tag96.xml><?xml version="1.0" encoding="utf-8"?>
<p:tagLst xmlns:a="http://schemas.openxmlformats.org/drawingml/2006/main" xmlns:r="http://schemas.openxmlformats.org/officeDocument/2006/relationships" xmlns:p="http://schemas.openxmlformats.org/presentationml/2006/main">
  <p:tag name="OTLMARKERSHAPE" val="OTL"/>
</p:tagLst>
</file>

<file path=ppt/tags/tag97.xml><?xml version="1.0" encoding="utf-8"?>
<p:tagLst xmlns:a="http://schemas.openxmlformats.org/drawingml/2006/main" xmlns:r="http://schemas.openxmlformats.org/officeDocument/2006/relationships" xmlns:p="http://schemas.openxmlformats.org/presentationml/2006/main">
  <p:tag name="OTLMARKERSHAPE" val="OTL"/>
</p:tagLst>
</file>

<file path=ppt/tags/tag98.xml><?xml version="1.0" encoding="utf-8"?>
<p:tagLst xmlns:a="http://schemas.openxmlformats.org/drawingml/2006/main" xmlns:r="http://schemas.openxmlformats.org/officeDocument/2006/relationships" xmlns:p="http://schemas.openxmlformats.org/presentationml/2006/main">
  <p:tag name="OTLMARKERSHAPE" val="OTL"/>
</p:tagLst>
</file>

<file path=ppt/tags/tag99.xml><?xml version="1.0" encoding="utf-8"?>
<p:tagLst xmlns:a="http://schemas.openxmlformats.org/drawingml/2006/main" xmlns:r="http://schemas.openxmlformats.org/officeDocument/2006/relationships" xmlns:p="http://schemas.openxmlformats.org/presentationml/2006/main">
  <p:tag name="OTLMARKERSHAPE" val="OTL"/>
</p:tagLst>
</file>

<file path=ppt/tags/tag100.xml><?xml version="1.0" encoding="utf-8"?>
<p:tagLst xmlns:a="http://schemas.openxmlformats.org/drawingml/2006/main" xmlns:r="http://schemas.openxmlformats.org/officeDocument/2006/relationships" xmlns:p="http://schemas.openxmlformats.org/presentationml/2006/main">
  <p:tag name="OTLMARKERSHAPE" val="OTL"/>
</p:tagLst>
</file>

<file path=ppt/tags/tag101.xml><?xml version="1.0" encoding="utf-8"?>
<p:tagLst xmlns:a="http://schemas.openxmlformats.org/drawingml/2006/main" xmlns:r="http://schemas.openxmlformats.org/officeDocument/2006/relationships" xmlns:p="http://schemas.openxmlformats.org/presentationml/2006/main">
  <p:tag name="OTLMARKERSHAPE" val="OTL"/>
</p:tagLst>
</file>

<file path=ppt/tags/tag102.xml><?xml version="1.0" encoding="utf-8"?>
<p:tagLst xmlns:a="http://schemas.openxmlformats.org/drawingml/2006/main" xmlns:r="http://schemas.openxmlformats.org/officeDocument/2006/relationships" xmlns:p="http://schemas.openxmlformats.org/presentationml/2006/main">
  <p:tag name="OTLMARKERSHAPE" val="OTL"/>
</p:tagLst>
</file>

<file path=ppt/tags/tag103.xml><?xml version="1.0" encoding="utf-8"?>
<p:tagLst xmlns:a="http://schemas.openxmlformats.org/drawingml/2006/main" xmlns:r="http://schemas.openxmlformats.org/officeDocument/2006/relationships" xmlns:p="http://schemas.openxmlformats.org/presentationml/2006/main">
  <p:tag name="OTLMARKERSHAPE" val="OTL"/>
</p:tagLst>
</file>

<file path=ppt/tags/tag104.xml><?xml version="1.0" encoding="utf-8"?>
<p:tagLst xmlns:a="http://schemas.openxmlformats.org/drawingml/2006/main" xmlns:r="http://schemas.openxmlformats.org/officeDocument/2006/relationships" xmlns:p="http://schemas.openxmlformats.org/presentationml/2006/main">
  <p:tag name="OTLMARKERSHAPE" val="OTL"/>
</p:tagLst>
</file>

<file path=ppt/tags/tag105.xml><?xml version="1.0" encoding="utf-8"?>
<p:tagLst xmlns:a="http://schemas.openxmlformats.org/drawingml/2006/main" xmlns:r="http://schemas.openxmlformats.org/officeDocument/2006/relationships" xmlns:p="http://schemas.openxmlformats.org/presentationml/2006/main">
  <p:tag name="OTLMARKERSHAPE" val="OTL"/>
</p:tagLst>
</file>

<file path=ppt/tags/tag106.xml><?xml version="1.0" encoding="utf-8"?>
<p:tagLst xmlns:a="http://schemas.openxmlformats.org/drawingml/2006/main" xmlns:r="http://schemas.openxmlformats.org/officeDocument/2006/relationships" xmlns:p="http://schemas.openxmlformats.org/presentationml/2006/main">
  <p:tag name="OTLMARKERSHAPE" val="OTL"/>
</p:tagLst>
</file>

<file path=ppt/tags/tag107.xml><?xml version="1.0" encoding="utf-8"?>
<p:tagLst xmlns:a="http://schemas.openxmlformats.org/drawingml/2006/main" xmlns:r="http://schemas.openxmlformats.org/officeDocument/2006/relationships" xmlns:p="http://schemas.openxmlformats.org/presentationml/2006/main">
  <p:tag name="OTLDEPDESTINATIONID" val="9602e432-7ff6-4636-9f8d-50f690e4049f"/>
  <p:tag name="OTLDEPDESTINATIONKIND" val="Side"/>
  <p:tag name="OTLDEPENDENCYKIND" val="FS"/>
  <p:tag name="OTLDEPENDENCYLAGUNIT" val="Undefined"/>
  <p:tag name="OTLDEPENDENCYLAGVALUE" val="0"/>
  <p:tag name="OTLDEPSOURCEID" val="88e5000e-d0d0-42ef-9709-d511f45b9639"/>
  <p:tag name="OTLDEPSOURCEKIND" val="Side"/>
  <p:tag name="OTLMARKERSHAPE" val="OTL"/>
</p:tagLst>
</file>

<file path=ppt/tags/tag108.xml><?xml version="1.0" encoding="utf-8"?>
<p:tagLst xmlns:a="http://schemas.openxmlformats.org/drawingml/2006/main" xmlns:r="http://schemas.openxmlformats.org/officeDocument/2006/relationships" xmlns:p="http://schemas.openxmlformats.org/presentationml/2006/main">
  <p:tag name="OTLDEPDESTINATIONID" val="616aa08c-b883-45aa-a664-6a2366cb6a2c"/>
  <p:tag name="OTLDEPDESTINATIONKIND" val="Side"/>
  <p:tag name="OTLDEPENDENCYKIND" val="FS"/>
  <p:tag name="OTLDEPENDENCYLAGUNIT" val="Undefined"/>
  <p:tag name="OTLDEPENDENCYLAGVALUE" val="0"/>
  <p:tag name="OTLDEPSOURCEID" val="9602e432-7ff6-4636-9f8d-50f690e4049f"/>
  <p:tag name="OTLDEPSOURCEKIND" val="Side"/>
  <p:tag name="OTLMARKERSHAPE" val="OTL"/>
</p:tagLst>
</file>

<file path=ppt/tags/tag109.xml><?xml version="1.0" encoding="utf-8"?>
<p:tagLst xmlns:a="http://schemas.openxmlformats.org/drawingml/2006/main" xmlns:r="http://schemas.openxmlformats.org/officeDocument/2006/relationships" xmlns:p="http://schemas.openxmlformats.org/presentationml/2006/main">
  <p:tag name="OTLDEPDESTINATIONID" val="27d97be9-6eca-4b10-84f0-9393b565fd0d"/>
  <p:tag name="OTLDEPDESTINATIONKIND" val="Side"/>
  <p:tag name="OTLDEPENDENCYKIND" val="FS"/>
  <p:tag name="OTLDEPENDENCYLAGUNIT" val="Undefined"/>
  <p:tag name="OTLDEPENDENCYLAGVALUE" val="0"/>
  <p:tag name="OTLDEPSOURCEID" val="616aa08c-b883-45aa-a664-6a2366cb6a2c"/>
  <p:tag name="OTLDEPSOURCEKIND" val="Side"/>
  <p:tag name="OTLMARKERSHAPE" val="OTL"/>
</p:tagLst>
</file>

<file path=ppt/tags/tag110.xml><?xml version="1.0" encoding="utf-8"?>
<p:tagLst xmlns:a="http://schemas.openxmlformats.org/drawingml/2006/main" xmlns:r="http://schemas.openxmlformats.org/officeDocument/2006/relationships" xmlns:p="http://schemas.openxmlformats.org/presentationml/2006/main">
  <p:tag name="OTLDEPDESTINATIONID" val="4ffc564f-fce3-4975-8066-4479dbc2991e"/>
  <p:tag name="OTLDEPDESTINATIONKIND" val="Side"/>
  <p:tag name="OTLDEPENDENCYKIND" val="FS"/>
  <p:tag name="OTLDEPENDENCYLAGUNIT" val="Undefined"/>
  <p:tag name="OTLDEPENDENCYLAGVALUE" val="0"/>
  <p:tag name="OTLDEPSOURCEID" val="5c436ae5-1693-4604-8c6e-ba681fdda09e"/>
  <p:tag name="OTLDEPSOURCEKIND" val="Side"/>
  <p:tag name="OTLMARKERSHAPE" val="OTL"/>
</p:tagLst>
</file>

<file path=ppt/tags/tag111.xml><?xml version="1.0" encoding="utf-8"?>
<p:tagLst xmlns:a="http://schemas.openxmlformats.org/drawingml/2006/main" xmlns:r="http://schemas.openxmlformats.org/officeDocument/2006/relationships" xmlns:p="http://schemas.openxmlformats.org/presentationml/2006/main">
  <p:tag name="OTLDEPDESTINATIONID" val="959e9d3e-86ed-4e75-a03d-61df33919727"/>
  <p:tag name="OTLDEPDESTINATIONKIND" val="Side"/>
  <p:tag name="OTLDEPENDENCYKIND" val="FS"/>
  <p:tag name="OTLDEPENDENCYLAGUNIT" val="Undefined"/>
  <p:tag name="OTLDEPENDENCYLAGVALUE" val="0"/>
  <p:tag name="OTLDEPSOURCEID" val="4ffc564f-fce3-4975-8066-4479dbc2991e"/>
  <p:tag name="OTLDEPSOURCEKIND" val="Side"/>
  <p:tag name="OTLMARKERSHAPE" val="OTL"/>
</p:tagLst>
</file>

<file path=ppt/tags/tag112.xml><?xml version="1.0" encoding="utf-8"?>
<p:tagLst xmlns:a="http://schemas.openxmlformats.org/drawingml/2006/main" xmlns:r="http://schemas.openxmlformats.org/officeDocument/2006/relationships" xmlns:p="http://schemas.openxmlformats.org/presentationml/2006/main">
  <p:tag name="OTLDEPDESTINATIONID" val="05e88fd7-c06c-430d-82b8-304234123beb"/>
  <p:tag name="OTLDEPDESTINATIONKIND" val="Side"/>
  <p:tag name="OTLDEPENDENCYKIND" val="FS"/>
  <p:tag name="OTLDEPENDENCYLAGUNIT" val="Undefined"/>
  <p:tag name="OTLDEPENDENCYLAGVALUE" val="0"/>
  <p:tag name="OTLDEPSOURCEID" val="a66dd2c4-76ff-46d7-8720-f9aea7a1b7f1"/>
  <p:tag name="OTLDEPSOURCEKIND" val="Side"/>
  <p:tag name="OTLMARKERSHAPE" val="OTL"/>
</p:tagLst>
</file>

<file path=ppt/tags/tag113.xml><?xml version="1.0" encoding="utf-8"?>
<p:tagLst xmlns:a="http://schemas.openxmlformats.org/drawingml/2006/main" xmlns:r="http://schemas.openxmlformats.org/officeDocument/2006/relationships" xmlns:p="http://schemas.openxmlformats.org/presentationml/2006/main">
  <p:tag name="OTLDEPDESTINATIONID" val="71ebd99c-3b90-4726-82cc-99ad192fe685"/>
  <p:tag name="OTLDEPDESTINATIONKIND" val="Side"/>
  <p:tag name="OTLDEPENDENCYKIND" val="FS"/>
  <p:tag name="OTLDEPENDENCYLAGUNIT" val="Undefined"/>
  <p:tag name="OTLDEPENDENCYLAGVALUE" val="0"/>
  <p:tag name="OTLDEPSOURCEID" val="a66dd2c4-76ff-46d7-8720-f9aea7a1b7f1"/>
  <p:tag name="OTLDEPSOURCEKIND" val="Side"/>
  <p:tag name="OTLMARKERSHAPE" val="OTL"/>
</p:tagLst>
</file>

<file path=ppt/tags/tag114.xml><?xml version="1.0" encoding="utf-8"?>
<p:tagLst xmlns:a="http://schemas.openxmlformats.org/drawingml/2006/main" xmlns:r="http://schemas.openxmlformats.org/officeDocument/2006/relationships" xmlns:p="http://schemas.openxmlformats.org/presentationml/2006/main">
  <p:tag name="OTLDEPDESTINATIONID" val="ec4775a7-a9b5-4a3c-b308-b944bded2ee6"/>
  <p:tag name="OTLDEPDESTINATIONKIND" val="Side"/>
  <p:tag name="OTLDEPENDENCYKIND" val="FS"/>
  <p:tag name="OTLDEPENDENCYLAGUNIT" val="Undefined"/>
  <p:tag name="OTLDEPENDENCYLAGVALUE" val="0"/>
  <p:tag name="OTLDEPSOURCEID" val="a66dd2c4-76ff-46d7-8720-f9aea7a1b7f1"/>
  <p:tag name="OTLDEPSOURCEKIND" val="Side"/>
  <p:tag name="OTLMARKERSHAPE" val="OTL"/>
</p:tagLst>
</file>

<file path=ppt/tags/tag115.xml><?xml version="1.0" encoding="utf-8"?>
<p:tagLst xmlns:a="http://schemas.openxmlformats.org/drawingml/2006/main" xmlns:r="http://schemas.openxmlformats.org/officeDocument/2006/relationships" xmlns:p="http://schemas.openxmlformats.org/presentationml/2006/main">
  <p:tag name="OTLDEPDESTINATIONID" val="4c113f7c-f57c-4a33-841d-7ca129b0b95e"/>
  <p:tag name="OTLDEPDESTINATIONKIND" val="Side"/>
  <p:tag name="OTLDEPENDENCYKIND" val="FS"/>
  <p:tag name="OTLDEPENDENCYLAGUNIT" val="Undefined"/>
  <p:tag name="OTLDEPENDENCYLAGVALUE" val="0"/>
  <p:tag name="OTLDEPSOURCEID" val="a66dd2c4-76ff-46d7-8720-f9aea7a1b7f1"/>
  <p:tag name="OTLDEPSOURCEKIND" val="Side"/>
  <p:tag name="OTLMARKERSHAPE" val="OTL"/>
</p:tagLst>
</file>

<file path=ppt/theme/theme1.xml><?xml version="1.0" encoding="utf-8"?>
<a:theme xmlns:a="http://schemas.openxmlformats.org/drawingml/2006/main" name="9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9242DF3D1D04D43AAE539FB642C880D" ma:contentTypeVersion="19" ma:contentTypeDescription="Create a new document." ma:contentTypeScope="" ma:versionID="216cf6b9bc403f004b8b7e86d8e72cfc">
  <xsd:schema xmlns:xsd="http://www.w3.org/2001/XMLSchema" xmlns:xs="http://www.w3.org/2001/XMLSchema" xmlns:p="http://schemas.microsoft.com/office/2006/metadata/properties" xmlns:ns2="abec3d6c-dc49-43d8-9f5f-fe75434a2497" xmlns:ns3="38988128-37ab-443d-bda8-e0f28155c68c" xmlns:ns4="e47812bf-c8f0-415c-9dc6-756594725798" targetNamespace="http://schemas.microsoft.com/office/2006/metadata/properties" ma:root="true" ma:fieldsID="22e1a6cbe640582aedff401e2d7c7a09" ns2:_="" ns3:_="" ns4:_="">
    <xsd:import namespace="abec3d6c-dc49-43d8-9f5f-fe75434a2497"/>
    <xsd:import namespace="38988128-37ab-443d-bda8-e0f28155c68c"/>
    <xsd:import namespace="e47812bf-c8f0-415c-9dc6-75659472579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MediaServiceAutoKeyPoints" minOccurs="0"/>
                <xsd:element ref="ns2:MediaServiceKeyPoints" minOccurs="0"/>
                <xsd:element ref="ns2:lcf76f155ced4ddcb4097134ff3c332f" minOccurs="0"/>
                <xsd:element ref="ns4:TaxCatchAll"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ec3d6c-dc49-43d8-9f5f-fe75434a24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98f3110-b2b7-48bc-b5f0-a137367be0c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988128-37ab-443d-bda8-e0f28155c6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7812bf-c8f0-415c-9dc6-756594725798"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289bc802-be5d-4ad1-8fa5-936a0ef32c64}" ma:internalName="TaxCatchAll" ma:showField="CatchAllData" ma:web="38988128-37ab-443d-bda8-e0f28155c6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38988128-37ab-443d-bda8-e0f28155c68c">
      <UserInfo>
        <DisplayName/>
        <AccountId xsi:nil="true"/>
        <AccountType/>
      </UserInfo>
    </SharedWithUsers>
    <lcf76f155ced4ddcb4097134ff3c332f xmlns="abec3d6c-dc49-43d8-9f5f-fe75434a2497">
      <Terms xmlns="http://schemas.microsoft.com/office/infopath/2007/PartnerControls"/>
    </lcf76f155ced4ddcb4097134ff3c332f>
    <TaxCatchAll xmlns="e47812bf-c8f0-415c-9dc6-756594725798" xsi:nil="true"/>
  </documentManagement>
</p:properties>
</file>

<file path=customXml/itemProps1.xml><?xml version="1.0" encoding="utf-8"?>
<ds:datastoreItem xmlns:ds="http://schemas.openxmlformats.org/officeDocument/2006/customXml" ds:itemID="{BE51FF3A-84A4-472E-9194-543D894B5E72}"/>
</file>

<file path=customXml/itemProps2.xml><?xml version="1.0" encoding="utf-8"?>
<ds:datastoreItem xmlns:ds="http://schemas.openxmlformats.org/officeDocument/2006/customXml" ds:itemID="{60E89AE9-096C-4008-8F14-FF16F0553995}">
  <ds:schemaRefs>
    <ds:schemaRef ds:uri="http://schemas.microsoft.com/sharepoint/v3/contenttype/forms"/>
  </ds:schemaRefs>
</ds:datastoreItem>
</file>

<file path=customXml/itemProps3.xml><?xml version="1.0" encoding="utf-8"?>
<ds:datastoreItem xmlns:ds="http://schemas.openxmlformats.org/officeDocument/2006/customXml" ds:itemID="{5D0452D6-F2D9-4FC2-9863-71052AA7BDFA}">
  <ds:schemaRefs>
    <ds:schemaRef ds:uri="545a336c-45ba-4242-ba8b-2a24159e5b92"/>
    <ds:schemaRef ds:uri="6105e471-a007-4c69-b034-cfd36128fab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12</Slides>
  <Notes>5</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9_Boehringer Ingelheim 16:9</vt:lpstr>
      <vt:lpstr>PowerPoint Presentation</vt:lpstr>
      <vt:lpstr>The Under-Assessment Acceleration in the Best Case NDA Submission Timeline</vt:lpstr>
      <vt:lpstr>Critical assumptions for accelerated best case</vt:lpstr>
      <vt:lpstr>Acceleration of verducatib launch and NRDL entry assessment</vt:lpstr>
      <vt:lpstr>Next actions (next 2–4 weeks)</vt:lpstr>
      <vt:lpstr>Summary &amp; Discussion</vt:lpstr>
      <vt:lpstr>Back up</vt:lpstr>
      <vt:lpstr>PowerPoint Presentation</vt:lpstr>
      <vt:lpstr>Critical CMC document to support the accelerated NDA submission</vt:lpstr>
      <vt:lpstr>Critical Assumptions for NDA Approval in June 2028</vt:lpstr>
      <vt:lpstr>PR is granted based on data from ~40 adolescents (1/2)</vt:lpstr>
      <vt:lpstr>PR is granted based on data from ~40 adolescents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Zhu,Julia (HP Medicine) BII-CN-S</dc:creator>
  <cp:revision>1</cp:revision>
  <dcterms:created xsi:type="dcterms:W3CDTF">2023-11-09T09:11:57Z</dcterms:created>
  <dcterms:modified xsi:type="dcterms:W3CDTF">2026-04-23T05:42:38Z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0x010100B9242DF3D1D04D43AAE539FB642C880D</vt:lpwstr>
  </property>
  <property fmtid="{D5CDD505-2E9C-101B-9397-08002B2CF9AE}" pid="3" name="MediaServiceImageTags">
    <vt:lpwstr/>
  </property>
  <property fmtid="{D5CDD505-2E9C-101B-9397-08002B2CF9AE}" pid="4" name="Order">
    <vt:r8>210300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