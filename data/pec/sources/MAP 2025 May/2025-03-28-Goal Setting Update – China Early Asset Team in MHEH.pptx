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7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97" d="100"/>
          <a:sy n="97" d="100"/>
        </p:scale>
        <p:origin x="1110" y="3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686730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61685359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8785205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8359159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217097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35608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1390451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63000073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107055761"/>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151033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0401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713028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73598404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4622412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32542985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99663962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95645258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88212067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4158545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849113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7969804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4276963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618504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9629125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9352981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6949956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8914663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6773823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0649218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561283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098420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34307543"/>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318433389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13/05/2025</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59493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cSld name="Standard page_03">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2025/5/13</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692694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411410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9242-0376-025A-AFDB-B421B8B6A3DD}"/>
              </a:ext>
            </a:extLst>
          </p:cNvPr>
          <p:cNvSpPr>
            <a:spLocks noGrp="1"/>
          </p:cNvSpPr>
          <p:nvPr>
            <p:ph type="title"/>
          </p:nvPr>
        </p:nvSpPr>
        <p:spPr>
          <a:xfrm>
            <a:off x="489699" y="476250"/>
            <a:ext cx="11233151" cy="720000"/>
          </a:xfrm>
        </p:spPr>
        <p:txBody>
          <a:bodyPr/>
          <a:lstStyle/>
          <a:p>
            <a:r>
              <a:rPr lang="en-US" altLang="zh-CN" dirty="0"/>
              <a:t>Goal Setting – China Early Asset Team in TA Mental Health &amp; Eye Health (1)</a:t>
            </a:r>
            <a:endParaRPr lang="zh-CN" altLang="en-US" dirty="0"/>
          </a:p>
        </p:txBody>
      </p:sp>
      <p:graphicFrame>
        <p:nvGraphicFramePr>
          <p:cNvPr id="7" name="Content Placeholder 6">
            <a:extLst>
              <a:ext uri="{FF2B5EF4-FFF2-40B4-BE49-F238E27FC236}">
                <a16:creationId xmlns:a16="http://schemas.microsoft.com/office/drawing/2014/main" id="{D6493BAC-A576-68D6-3FA8-23D670038C6A}"/>
              </a:ext>
            </a:extLst>
          </p:cNvPr>
          <p:cNvGraphicFramePr>
            <a:graphicFrameLocks noGrp="1"/>
          </p:cNvGraphicFramePr>
          <p:nvPr>
            <p:ph idx="1"/>
            <p:extLst>
              <p:ext uri="{D42A27DB-BD31-4B8C-83A1-F6EECF244321}">
                <p14:modId xmlns:p14="http://schemas.microsoft.com/office/powerpoint/2010/main" val="3116556705"/>
              </p:ext>
            </p:extLst>
          </p:nvPr>
        </p:nvGraphicFramePr>
        <p:xfrm>
          <a:off x="469150" y="1191291"/>
          <a:ext cx="11243425" cy="5155904"/>
        </p:xfrm>
        <a:graphic>
          <a:graphicData uri="http://schemas.openxmlformats.org/drawingml/2006/table">
            <a:tbl>
              <a:tblPr firstRow="1" bandRow="1">
                <a:tableStyleId>{21E4AEA4-8DFA-4A89-87EB-49C32662AFE0}</a:tableStyleId>
              </a:tblPr>
              <a:tblGrid>
                <a:gridCol w="3425513">
                  <a:extLst>
                    <a:ext uri="{9D8B030D-6E8A-4147-A177-3AD203B41FA5}">
                      <a16:colId xmlns:a16="http://schemas.microsoft.com/office/drawing/2014/main" val="978828"/>
                    </a:ext>
                  </a:extLst>
                </a:gridCol>
                <a:gridCol w="3908956">
                  <a:extLst>
                    <a:ext uri="{9D8B030D-6E8A-4147-A177-3AD203B41FA5}">
                      <a16:colId xmlns:a16="http://schemas.microsoft.com/office/drawing/2014/main" val="1167897060"/>
                    </a:ext>
                  </a:extLst>
                </a:gridCol>
                <a:gridCol w="3908956">
                  <a:extLst>
                    <a:ext uri="{9D8B030D-6E8A-4147-A177-3AD203B41FA5}">
                      <a16:colId xmlns:a16="http://schemas.microsoft.com/office/drawing/2014/main" val="2977825319"/>
                    </a:ext>
                  </a:extLst>
                </a:gridCol>
              </a:tblGrid>
              <a:tr h="211459">
                <a:tc rowSpan="2">
                  <a:txBody>
                    <a:bodyPr/>
                    <a:lstStyle/>
                    <a:p>
                      <a:pPr algn="ctr"/>
                      <a:r>
                        <a:rPr lang="en-US" altLang="zh-CN" sz="1200" b="1">
                          <a:solidFill>
                            <a:schemeClr val="bg1"/>
                          </a:solidFill>
                          <a:latin typeface="+mn-lt"/>
                        </a:rPr>
                        <a:t>Category</a:t>
                      </a:r>
                      <a:endParaRPr lang="zh-CN" altLang="en-US" sz="1200" b="1" kern="1200">
                        <a:solidFill>
                          <a:schemeClr val="bg1"/>
                        </a:solidFill>
                        <a:latin typeface="+mn-lt"/>
                        <a:ea typeface="微软雅黑" panose="020B0503020204020204" pitchFamily="34" charset="-122"/>
                        <a:cs typeface="Arial" panose="020B0604020202020204" pitchFamily="34" charset="0"/>
                      </a:endParaRPr>
                    </a:p>
                  </a:txBody>
                  <a:tcPr anchor="ctr"/>
                </a:tc>
                <a:tc gridSpan="2">
                  <a:txBody>
                    <a:bodyPr/>
                    <a:lstStyle/>
                    <a:p>
                      <a:pPr algn="ctr"/>
                      <a:r>
                        <a:rPr lang="en-US" altLang="zh-CN" sz="1200" b="1" kern="1200" dirty="0">
                          <a:solidFill>
                            <a:schemeClr val="bg1"/>
                          </a:solidFill>
                          <a:latin typeface="+mn-lt"/>
                        </a:rPr>
                        <a:t>Target details</a:t>
                      </a:r>
                      <a:endParaRPr lang="zh-CN" altLang="en-US" sz="1200" b="1" kern="1200" dirty="0">
                        <a:solidFill>
                          <a:schemeClr val="bg1"/>
                        </a:solidFill>
                        <a:latin typeface="+mn-lt"/>
                        <a:ea typeface="微软雅黑" panose="020B0503020204020204" pitchFamily="34" charset="-122"/>
                        <a:cs typeface="Arial" panose="020B0604020202020204" pitchFamily="34" charset="0"/>
                      </a:endParaRPr>
                    </a:p>
                  </a:txBody>
                  <a:tcPr anchor="ctr"/>
                </a:tc>
                <a:tc hMerge="1">
                  <a:txBody>
                    <a:bodyPr/>
                    <a:lstStyle/>
                    <a:p>
                      <a:pPr algn="ctr"/>
                      <a:endParaRPr lang="zh-CN" altLang="en-US" sz="1200" b="1" kern="1200">
                        <a:solidFill>
                          <a:schemeClr val="bg1"/>
                        </a:solidFill>
                        <a:latin typeface="+mn-lt"/>
                        <a:ea typeface="微软雅黑" panose="020B0503020204020204" pitchFamily="34" charset="-122"/>
                        <a:cs typeface="Arial" panose="020B0604020202020204" pitchFamily="34" charset="0"/>
                      </a:endParaRPr>
                    </a:p>
                  </a:txBody>
                  <a:tcPr anchor="ctr"/>
                </a:tc>
                <a:extLst>
                  <a:ext uri="{0D108BD9-81ED-4DB2-BD59-A6C34878D82A}">
                    <a16:rowId xmlns:a16="http://schemas.microsoft.com/office/drawing/2014/main" val="1293473388"/>
                  </a:ext>
                </a:extLst>
              </a:tr>
              <a:tr h="279104">
                <a:tc vMerge="1">
                  <a:txBody>
                    <a:bodyPr/>
                    <a:lstStyle/>
                    <a:p>
                      <a:pPr algn="ctr"/>
                      <a:endParaRPr lang="zh-CN" altLang="en-US" sz="1200" b="1" kern="1200">
                        <a:solidFill>
                          <a:schemeClr val="bg1"/>
                        </a:solidFill>
                        <a:latin typeface="+mn-lt"/>
                        <a:ea typeface="微软雅黑" panose="020B0503020204020204" pitchFamily="34" charset="-122"/>
                        <a:cs typeface="Arial" panose="020B0604020202020204" pitchFamily="34" charset="0"/>
                      </a:endParaRPr>
                    </a:p>
                  </a:txBody>
                  <a:tcPr anchor="ctr"/>
                </a:tc>
                <a:tc>
                  <a:txBody>
                    <a:bodyPr/>
                    <a:lstStyle/>
                    <a:p>
                      <a:pPr algn="ctr"/>
                      <a:r>
                        <a:rPr lang="en-US" altLang="zh-CN" sz="1200" b="1" kern="1200">
                          <a:solidFill>
                            <a:schemeClr val="tx1"/>
                          </a:solidFill>
                          <a:latin typeface="+mn-lt"/>
                          <a:ea typeface="微软雅黑"/>
                          <a:cs typeface="Arial"/>
                        </a:rPr>
                        <a:t>Mental Health</a:t>
                      </a:r>
                      <a:endParaRPr lang="zh-CN" altLang="en-US" sz="1200" b="1" kern="1200">
                        <a:solidFill>
                          <a:schemeClr val="tx1"/>
                        </a:solidFill>
                        <a:latin typeface="+mn-lt"/>
                        <a:ea typeface="微软雅黑"/>
                        <a:cs typeface="Arial"/>
                      </a:endParaRPr>
                    </a:p>
                  </a:txBody>
                  <a:tcPr anchor="ctr"/>
                </a:tc>
                <a:tc>
                  <a:txBody>
                    <a:bodyPr/>
                    <a:lstStyle/>
                    <a:p>
                      <a:pPr algn="ctr"/>
                      <a:r>
                        <a:rPr lang="en-US" altLang="zh-CN" sz="1200" b="1" kern="1200">
                          <a:solidFill>
                            <a:schemeClr val="tx1"/>
                          </a:solidFill>
                          <a:latin typeface="+mn-lt"/>
                          <a:ea typeface="微软雅黑"/>
                          <a:cs typeface="Arial"/>
                        </a:rPr>
                        <a:t>Eye Health</a:t>
                      </a:r>
                      <a:endParaRPr lang="zh-CN" altLang="en-US" sz="1200" b="1" kern="1200">
                        <a:solidFill>
                          <a:schemeClr val="tx1"/>
                        </a:solidFill>
                        <a:latin typeface="+mn-lt"/>
                        <a:ea typeface="微软雅黑"/>
                        <a:cs typeface="Arial"/>
                      </a:endParaRPr>
                    </a:p>
                  </a:txBody>
                  <a:tcPr anchor="ctr"/>
                </a:tc>
                <a:extLst>
                  <a:ext uri="{0D108BD9-81ED-4DB2-BD59-A6C34878D82A}">
                    <a16:rowId xmlns:a16="http://schemas.microsoft.com/office/drawing/2014/main" val="4273461635"/>
                  </a:ext>
                </a:extLst>
              </a:tr>
              <a:tr h="41351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rPr>
                        <a:t>Co-create corporate early assets documents and activities: </a:t>
                      </a:r>
                    </a:p>
                    <a:p>
                      <a:r>
                        <a:rPr lang="en-US" altLang="zh-CN" sz="1000" i="1" kern="1200">
                          <a:solidFill>
                            <a:schemeClr val="tx1"/>
                          </a:solidFill>
                          <a:latin typeface="+mn-lt"/>
                        </a:rPr>
                        <a:t>Inputs are provided promptly to corporate asset teams to co-create the</a:t>
                      </a:r>
                      <a:r>
                        <a:rPr lang="zh-CN" altLang="en-US" sz="1000" i="1" kern="1200">
                          <a:solidFill>
                            <a:schemeClr val="tx1"/>
                          </a:solidFill>
                          <a:latin typeface="+mn-lt"/>
                        </a:rPr>
                        <a:t> </a:t>
                      </a:r>
                      <a:r>
                        <a:rPr lang="en-US" altLang="zh-CN" sz="1000" i="1" kern="1200">
                          <a:solidFill>
                            <a:schemeClr val="tx1"/>
                          </a:solidFill>
                          <a:latin typeface="+mn-lt"/>
                        </a:rPr>
                        <a:t>key documents and activities, to reflect China insights and to support corporate asset team decision-making. </a:t>
                      </a:r>
                      <a:endParaRPr lang="en-US" altLang="zh-CN" sz="1000" i="1" kern="1200">
                        <a:solidFill>
                          <a:schemeClr val="tx1"/>
                        </a:solidFill>
                        <a:latin typeface="+mn-lt"/>
                        <a:ea typeface="微软雅黑" panose="020B0503020204020204" pitchFamily="34" charset="-122"/>
                        <a:cs typeface="+mn-cs"/>
                      </a:endParaRPr>
                    </a:p>
                  </a:txBody>
                  <a:tcPr/>
                </a:tc>
                <a:tc>
                  <a:txBody>
                    <a:bodyPr/>
                    <a:lstStyle/>
                    <a:p>
                      <a:pPr marL="342900" indent="-342900">
                        <a:buAutoNum type="arabicPeriod"/>
                      </a:pPr>
                      <a:r>
                        <a:rPr lang="en-US" altLang="zh-CN" sz="1000" kern="1200" dirty="0">
                          <a:solidFill>
                            <a:schemeClr val="tx1"/>
                          </a:solidFill>
                          <a:latin typeface="+mn-lt"/>
                        </a:rPr>
                        <a:t>NR2B NAM light IAP co-creation</a:t>
                      </a:r>
                    </a:p>
                    <a:p>
                      <a:pPr marL="342900" indent="-342900">
                        <a:buAutoNum type="arabicPeriod"/>
                      </a:pPr>
                      <a:r>
                        <a:rPr lang="en-US" altLang="zh-CN" sz="1000" kern="1200" dirty="0">
                          <a:solidFill>
                            <a:schemeClr val="tx1"/>
                          </a:solidFill>
                          <a:latin typeface="+mn-lt"/>
                        </a:rPr>
                        <a:t>AEP evidence gap for China: NR2B NAM, </a:t>
                      </a:r>
                      <a:r>
                        <a:rPr lang="en-US" altLang="zh-CN" sz="1000" kern="1200" dirty="0" err="1">
                          <a:solidFill>
                            <a:schemeClr val="tx1"/>
                          </a:solidFill>
                          <a:latin typeface="+mn-lt"/>
                        </a:rPr>
                        <a:t>GOATi</a:t>
                      </a:r>
                      <a:r>
                        <a:rPr lang="en-US" altLang="zh-CN" sz="1000" kern="1200" dirty="0">
                          <a:solidFill>
                            <a:schemeClr val="tx1"/>
                          </a:solidFill>
                          <a:latin typeface="+mn-lt"/>
                        </a:rPr>
                        <a:t>, mGluR4 NAM, etc.</a:t>
                      </a:r>
                    </a:p>
                    <a:p>
                      <a:pPr marL="342900" indent="-342900">
                        <a:buAutoNum type="arabicPeriod"/>
                      </a:pPr>
                      <a:r>
                        <a:rPr lang="en-US" altLang="zh-CN" sz="1000" kern="1200" dirty="0">
                          <a:solidFill>
                            <a:schemeClr val="tx1"/>
                          </a:solidFill>
                          <a:latin typeface="+mn-lt"/>
                        </a:rPr>
                        <a:t>Support NR2B NAM Global AB meeting</a:t>
                      </a:r>
                    </a:p>
                    <a:p>
                      <a:pPr marL="342900" indent="-342900">
                        <a:buAutoNum type="arabicPeriod"/>
                      </a:pPr>
                      <a:r>
                        <a:rPr lang="en-US" altLang="zh-CN" sz="1000" kern="1200" dirty="0">
                          <a:solidFill>
                            <a:schemeClr val="tx1"/>
                          </a:solidFill>
                          <a:latin typeface="+mn-lt"/>
                        </a:rPr>
                        <a:t>Provide price assumptions for NR2B NAM in 25LTF (2030 launch)</a:t>
                      </a:r>
                    </a:p>
                  </a:txBody>
                  <a:tcPr/>
                </a:tc>
                <a:tc>
                  <a:txBody>
                    <a:bodyPr/>
                    <a:lstStyle/>
                    <a:p>
                      <a:pPr marL="342900" indent="-342900">
                        <a:buAutoNum type="arabicPeriod"/>
                      </a:pPr>
                      <a:r>
                        <a:rPr lang="en-US" altLang="zh-CN" sz="1000" kern="1200" dirty="0">
                          <a:solidFill>
                            <a:schemeClr val="tx1"/>
                          </a:solidFill>
                          <a:latin typeface="+mn-lt"/>
                        </a:rPr>
                        <a:t>Light IAP review and input for Anti-Sema3A and Anti-C3 </a:t>
                      </a:r>
                    </a:p>
                    <a:p>
                      <a:pPr marL="342900" indent="-342900">
                        <a:buAutoNum type="arabicPeriod"/>
                      </a:pPr>
                      <a:r>
                        <a:rPr lang="en-US" altLang="zh-CN" sz="1000" kern="1200" dirty="0">
                          <a:solidFill>
                            <a:schemeClr val="tx1"/>
                          </a:solidFill>
                          <a:latin typeface="+mn-lt"/>
                        </a:rPr>
                        <a:t>AEP evidence gap for China: </a:t>
                      </a:r>
                      <a:r>
                        <a:rPr lang="en-US" altLang="zh-CN" sz="1000" kern="1200" dirty="0" err="1">
                          <a:solidFill>
                            <a:schemeClr val="tx1"/>
                          </a:solidFill>
                          <a:latin typeface="+mn-lt"/>
                        </a:rPr>
                        <a:t>PKKi</a:t>
                      </a:r>
                      <a:r>
                        <a:rPr lang="en-US" altLang="zh-CN" sz="1000" kern="1200" dirty="0">
                          <a:solidFill>
                            <a:schemeClr val="tx1"/>
                          </a:solidFill>
                          <a:latin typeface="+mn-lt"/>
                        </a:rPr>
                        <a:t>, Anti-Sema3A, Anti-C3, PAFR </a:t>
                      </a:r>
                      <a:r>
                        <a:rPr lang="en-US" altLang="zh-CN" sz="1000" kern="1200" dirty="0" err="1">
                          <a:solidFill>
                            <a:schemeClr val="tx1"/>
                          </a:solidFill>
                          <a:latin typeface="+mn-lt"/>
                        </a:rPr>
                        <a:t>antago</a:t>
                      </a:r>
                      <a:r>
                        <a:rPr lang="en-US" altLang="zh-CN" sz="1000" kern="1200" dirty="0">
                          <a:solidFill>
                            <a:schemeClr val="tx1"/>
                          </a:solidFill>
                          <a:latin typeface="+mn-lt"/>
                        </a:rPr>
                        <a:t>., etc. </a:t>
                      </a:r>
                    </a:p>
                    <a:p>
                      <a:pPr marL="342900" indent="-342900">
                        <a:buAutoNum type="arabicPeriod"/>
                      </a:pPr>
                      <a:r>
                        <a:rPr lang="en-US" altLang="zh-CN" sz="1000" kern="1200" dirty="0">
                          <a:solidFill>
                            <a:schemeClr val="tx1"/>
                          </a:solidFill>
                          <a:latin typeface="+mn-lt"/>
                        </a:rPr>
                        <a:t>Provide price assumptions for Anti-Sema3A and Anti-C3  in 25LTF (2030 launch)</a:t>
                      </a:r>
                    </a:p>
                  </a:txBody>
                  <a:tcPr/>
                </a:tc>
                <a:extLst>
                  <a:ext uri="{0D108BD9-81ED-4DB2-BD59-A6C34878D82A}">
                    <a16:rowId xmlns:a16="http://schemas.microsoft.com/office/drawing/2014/main" val="2103614745"/>
                  </a:ext>
                </a:extLst>
              </a:tr>
              <a:tr h="41351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China integration:</a:t>
                      </a:r>
                    </a:p>
                    <a:p>
                      <a:r>
                        <a:rPr lang="en-US" altLang="zh-CN" sz="1000" i="1" kern="1200" dirty="0">
                          <a:solidFill>
                            <a:schemeClr val="tx1"/>
                          </a:solidFill>
                          <a:latin typeface="+mn-lt"/>
                          <a:ea typeface="+mn-ea"/>
                          <a:cs typeface="+mn-cs"/>
                        </a:rPr>
                        <a:t>Team to develop a well-defined China integration strategy and a clear plan for integration discussions with global teams, ensuring timely aligned decisions on China integration and the initiation of trials in China.</a:t>
                      </a:r>
                      <a:endParaRPr lang="zh-CN" altLang="en-US" sz="1000" i="1" kern="1200" dirty="0">
                        <a:solidFill>
                          <a:schemeClr val="tx1"/>
                        </a:solidFill>
                        <a:latin typeface="+mn-lt"/>
                        <a:ea typeface="+mn-ea"/>
                        <a:cs typeface="+mn-cs"/>
                      </a:endParaRPr>
                    </a:p>
                  </a:txBody>
                  <a:tcPr/>
                </a:tc>
                <a:tc>
                  <a:txBody>
                    <a:bodyPr/>
                    <a:lstStyle/>
                    <a:p>
                      <a:pPr marL="0" indent="0" algn="l" defTabSz="914377" rtl="0" eaLnBrk="1" latinLnBrk="0" hangingPunct="1">
                        <a:buNone/>
                      </a:pPr>
                      <a:r>
                        <a:rPr lang="en-US" altLang="zh-CN" sz="1000" kern="1200">
                          <a:solidFill>
                            <a:schemeClr val="tx1"/>
                          </a:solidFill>
                          <a:latin typeface="+mn-lt"/>
                        </a:rPr>
                        <a:t>China integration plan development and timeline for decision alignment:</a:t>
                      </a:r>
                    </a:p>
                    <a:p>
                      <a:pPr marL="342900" indent="-342900" algn="l" defTabSz="914377" rtl="0" eaLnBrk="1" latinLnBrk="0" hangingPunct="1">
                        <a:buFont typeface="Arial" panose="020B0604020202020204" pitchFamily="34" charset="0"/>
                        <a:buChar char="•"/>
                      </a:pPr>
                      <a:r>
                        <a:rPr lang="en-US" altLang="zh-CN" sz="1000" kern="1200">
                          <a:solidFill>
                            <a:schemeClr val="tx1"/>
                          </a:solidFill>
                          <a:latin typeface="+mn-lt"/>
                        </a:rPr>
                        <a:t>NR2B NAM Ph3 trials in MDD integration: Q2 2025</a:t>
                      </a:r>
                    </a:p>
                    <a:p>
                      <a:pPr marL="342900" indent="-342900" algn="l" defTabSz="914377" rtl="0" eaLnBrk="1" latinLnBrk="0" hangingPunct="1">
                        <a:buFont typeface="Arial" panose="020B0604020202020204" pitchFamily="34" charset="0"/>
                        <a:buChar char="•"/>
                      </a:pPr>
                      <a:r>
                        <a:rPr lang="en-US" altLang="zh-CN" sz="1000" kern="1200">
                          <a:solidFill>
                            <a:schemeClr val="tx1"/>
                          </a:solidFill>
                          <a:latin typeface="+mn-lt"/>
                        </a:rPr>
                        <a:t>China integration/launch strategy in CT-155/156: Q3 2025 (based on global Ph3 readout)</a:t>
                      </a:r>
                    </a:p>
                    <a:p>
                      <a:pPr marL="342900" indent="-342900" algn="l" defTabSz="914377" rtl="0" eaLnBrk="1" latinLnBrk="0" hangingPunct="1">
                        <a:buFont typeface="Arial" panose="020B0604020202020204" pitchFamily="34" charset="0"/>
                        <a:buChar char="•"/>
                      </a:pPr>
                      <a:r>
                        <a:rPr lang="en-US" altLang="zh-CN" sz="1000" kern="1200">
                          <a:solidFill>
                            <a:schemeClr val="tx1"/>
                          </a:solidFill>
                          <a:latin typeface="+mn-lt"/>
                        </a:rPr>
                        <a:t>SSTR4 ago. Ph2 </a:t>
                      </a:r>
                      <a:r>
                        <a:rPr lang="en-US" altLang="zh-CN" sz="1000" kern="1200" err="1">
                          <a:solidFill>
                            <a:schemeClr val="tx1"/>
                          </a:solidFill>
                          <a:latin typeface="+mn-lt"/>
                        </a:rPr>
                        <a:t>PoCP</a:t>
                      </a:r>
                      <a:r>
                        <a:rPr lang="en-US" altLang="zh-CN" sz="1000" kern="1200">
                          <a:solidFill>
                            <a:schemeClr val="tx1"/>
                          </a:solidFill>
                          <a:latin typeface="+mn-lt"/>
                        </a:rPr>
                        <a:t> trial integration: Q2-Q3 2025</a:t>
                      </a:r>
                    </a:p>
                    <a:p>
                      <a:pPr marL="342900" indent="-342900" algn="l" defTabSz="914377" rtl="0" eaLnBrk="1" latinLnBrk="0" hangingPunct="1">
                        <a:buFont typeface="Arial" panose="020B0604020202020204" pitchFamily="34" charset="0"/>
                        <a:buChar char="•"/>
                      </a:pPr>
                      <a:r>
                        <a:rPr lang="en-US" altLang="zh-CN" sz="1000" kern="1200">
                          <a:solidFill>
                            <a:schemeClr val="tx1"/>
                          </a:solidFill>
                          <a:latin typeface="+mn-lt"/>
                        </a:rPr>
                        <a:t>GOAT </a:t>
                      </a:r>
                      <a:r>
                        <a:rPr lang="en-US" altLang="zh-CN" sz="1000" kern="1200" err="1">
                          <a:solidFill>
                            <a:schemeClr val="tx1"/>
                          </a:solidFill>
                          <a:latin typeface="+mn-lt"/>
                        </a:rPr>
                        <a:t>inh</a:t>
                      </a:r>
                      <a:r>
                        <a:rPr lang="en-US" altLang="zh-CN" sz="1000" kern="1200">
                          <a:solidFill>
                            <a:schemeClr val="tx1"/>
                          </a:solidFill>
                          <a:latin typeface="+mn-lt"/>
                        </a:rPr>
                        <a:t>. Ph2 </a:t>
                      </a:r>
                      <a:r>
                        <a:rPr lang="en-US" altLang="zh-CN" sz="1000" kern="1200" err="1">
                          <a:solidFill>
                            <a:schemeClr val="tx1"/>
                          </a:solidFill>
                          <a:latin typeface="+mn-lt"/>
                        </a:rPr>
                        <a:t>PoCC</a:t>
                      </a:r>
                      <a:r>
                        <a:rPr lang="en-US" altLang="zh-CN" sz="1000" kern="1200">
                          <a:solidFill>
                            <a:schemeClr val="tx1"/>
                          </a:solidFill>
                          <a:latin typeface="+mn-lt"/>
                        </a:rPr>
                        <a:t> trial integration: Q4 2025</a:t>
                      </a:r>
                    </a:p>
                  </a:txBody>
                  <a:tcPr/>
                </a:tc>
                <a:tc>
                  <a:txBody>
                    <a:bodyPr/>
                    <a:lstStyle/>
                    <a:p>
                      <a:pPr marL="171450" lvl="0" indent="-171450" algn="l" defTabSz="914377" rtl="0" eaLnBrk="1" latinLnBrk="0" hangingPunct="1">
                        <a:buFont typeface="Arial" panose="020B0604020202020204" pitchFamily="34" charset="0"/>
                        <a:buChar char="•"/>
                      </a:pPr>
                      <a:r>
                        <a:rPr lang="en-US" altLang="zh-CN" sz="1000" kern="1200">
                          <a:solidFill>
                            <a:schemeClr val="tx1"/>
                          </a:solidFill>
                          <a:latin typeface="+mn-lt"/>
                          <a:ea typeface="+mn-ea"/>
                          <a:cs typeface="+mn-cs"/>
                        </a:rPr>
                        <a:t>GA ECR: Leverage RWE from GA ECR to address evidence gap and support Asian strategy in GA assets of Anti-C3 and PARF.</a:t>
                      </a:r>
                    </a:p>
                  </a:txBody>
                  <a:tcPr/>
                </a:tc>
                <a:extLst>
                  <a:ext uri="{0D108BD9-81ED-4DB2-BD59-A6C34878D82A}">
                    <a16:rowId xmlns:a16="http://schemas.microsoft.com/office/drawing/2014/main" val="1498238452"/>
                  </a:ext>
                </a:extLst>
              </a:tr>
              <a:tr h="41351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Execution excellence in clinical development of early Assets in China: </a:t>
                      </a:r>
                    </a:p>
                    <a:p>
                      <a:r>
                        <a:rPr lang="en-US" altLang="zh-CN" sz="1000" i="1" kern="1200" dirty="0">
                          <a:solidFill>
                            <a:schemeClr val="tx1"/>
                          </a:solidFill>
                          <a:latin typeface="+mn-lt"/>
                          <a:ea typeface="+mn-ea"/>
                          <a:cs typeface="+mn-cs"/>
                        </a:rPr>
                        <a:t>Ensure the timely and high-quality delivery of clinical trials milestones, and fulfill the committed patient contribution to global trials.</a:t>
                      </a:r>
                      <a:endParaRPr lang="zh-CN" altLang="en-US" sz="1000" i="1" kern="1200" dirty="0">
                        <a:solidFill>
                          <a:schemeClr val="tx1"/>
                        </a:solidFill>
                        <a:latin typeface="+mn-lt"/>
                        <a:ea typeface="+mn-ea"/>
                        <a:cs typeface="+mn-cs"/>
                      </a:endParaRPr>
                    </a:p>
                  </a:txBody>
                  <a:tcPr/>
                </a:tc>
                <a:tc>
                  <a:txBody>
                    <a:bodyPr/>
                    <a:lstStyle/>
                    <a:p>
                      <a:pPr marL="0" indent="0" algn="l" defTabSz="914377" rtl="0" eaLnBrk="1" latinLnBrk="0" hangingPunct="1">
                        <a:buNone/>
                      </a:pPr>
                      <a:r>
                        <a:rPr lang="en-US" altLang="zh-CN" sz="1000" kern="1200" dirty="0">
                          <a:solidFill>
                            <a:schemeClr val="tx1"/>
                          </a:solidFill>
                          <a:latin typeface="+mn-lt"/>
                        </a:rPr>
                        <a:t>NR2B NAM: </a:t>
                      </a:r>
                    </a:p>
                    <a:p>
                      <a:pPr marL="342900" lvl="0" indent="-342900" algn="l" defTabSz="914377" rtl="0" eaLnBrk="1" latinLnBrk="0" hangingPunct="1">
                        <a:buFont typeface="Arial" panose="020B0604020202020204" pitchFamily="34" charset="0"/>
                        <a:buChar char="•"/>
                      </a:pPr>
                      <a:r>
                        <a:rPr lang="en-US" altLang="zh-CN" sz="1000" kern="1200" dirty="0">
                          <a:solidFill>
                            <a:schemeClr val="tx1"/>
                          </a:solidFill>
                          <a:latin typeface="+mn-lt"/>
                        </a:rPr>
                        <a:t>Pre-IND for Ph2 trial in BD in Q3 2025 </a:t>
                      </a:r>
                    </a:p>
                    <a:p>
                      <a:pPr marL="342900" lvl="0" indent="-342900" algn="l" defTabSz="914377" rtl="0" eaLnBrk="1" latinLnBrk="0" hangingPunct="1">
                        <a:buFont typeface="Arial" panose="020B0604020202020204" pitchFamily="34" charset="0"/>
                        <a:buChar char="•"/>
                      </a:pPr>
                      <a:r>
                        <a:rPr lang="en-US" altLang="zh-CN" sz="1000" kern="1200" dirty="0" err="1">
                          <a:solidFill>
                            <a:schemeClr val="tx1"/>
                          </a:solidFill>
                          <a:latin typeface="+mn-lt"/>
                        </a:rPr>
                        <a:t>EoPII</a:t>
                      </a:r>
                      <a:r>
                        <a:rPr lang="en-US" altLang="zh-CN" sz="1000" kern="1200" dirty="0">
                          <a:solidFill>
                            <a:schemeClr val="tx1"/>
                          </a:solidFill>
                          <a:latin typeface="+mn-lt"/>
                        </a:rPr>
                        <a:t> meeting for MDD Ph2 trials in Q3 2025</a:t>
                      </a:r>
                    </a:p>
                    <a:p>
                      <a:pPr marL="342900" lvl="0" indent="-342900" algn="l" defTabSz="914377" rtl="0" eaLnBrk="1" latinLnBrk="0" hangingPunct="1">
                        <a:buFont typeface="Arial" panose="020B0604020202020204" pitchFamily="34" charset="0"/>
                        <a:buChar char="•"/>
                      </a:pPr>
                      <a:r>
                        <a:rPr lang="en-US" altLang="zh-CN" sz="1000" kern="1200" dirty="0">
                          <a:solidFill>
                            <a:schemeClr val="tx1"/>
                          </a:solidFill>
                          <a:latin typeface="+mn-lt"/>
                        </a:rPr>
                        <a:t>CTA for Ph3 trials in MDD in Q4 2025</a:t>
                      </a:r>
                    </a:p>
                  </a:txBody>
                  <a:tcPr/>
                </a:tc>
                <a:tc>
                  <a:txBody>
                    <a:bodyPr/>
                    <a:lstStyle/>
                    <a:p>
                      <a:pPr marL="0" indent="0" algn="l" defTabSz="914377" rtl="0" eaLnBrk="1" latinLnBrk="0" hangingPunct="1">
                        <a:buNone/>
                      </a:pPr>
                      <a:r>
                        <a:rPr lang="en-US" altLang="zh-CN" sz="1000" kern="1200" err="1">
                          <a:solidFill>
                            <a:schemeClr val="tx1"/>
                          </a:solidFill>
                          <a:latin typeface="+mn-lt"/>
                        </a:rPr>
                        <a:t>PKKi</a:t>
                      </a:r>
                      <a:r>
                        <a:rPr lang="en-US" altLang="zh-CN" sz="1000" kern="1200">
                          <a:solidFill>
                            <a:schemeClr val="tx1"/>
                          </a:solidFill>
                          <a:latin typeface="+mn-lt"/>
                        </a:rPr>
                        <a:t>:</a:t>
                      </a:r>
                    </a:p>
                    <a:p>
                      <a:pPr marL="342900" lvl="0" indent="-342900" algn="l" defTabSz="914377" rtl="0" eaLnBrk="1" latinLnBrk="0" hangingPunct="1">
                        <a:buFont typeface="Arial" panose="020B0604020202020204" pitchFamily="34" charset="0"/>
                        <a:buChar char="•"/>
                      </a:pPr>
                      <a:r>
                        <a:rPr lang="en-US" altLang="zh-CN" sz="1000" kern="1200">
                          <a:solidFill>
                            <a:schemeClr val="tx1"/>
                          </a:solidFill>
                          <a:latin typeface="+mn-lt"/>
                          <a:ea typeface="+mn-ea"/>
                          <a:cs typeface="+mn-cs"/>
                        </a:rPr>
                        <a:t>CTA for Ph2 in DME in Mar/Apr 2025</a:t>
                      </a:r>
                    </a:p>
                    <a:p>
                      <a:pPr marL="342900" lvl="0" indent="-342900" algn="l" defTabSz="914377" rtl="0" eaLnBrk="1" latinLnBrk="0" hangingPunct="1">
                        <a:buFont typeface="Arial" panose="020B0604020202020204" pitchFamily="34" charset="0"/>
                        <a:buChar char="•"/>
                      </a:pPr>
                      <a:r>
                        <a:rPr lang="en-US" altLang="zh-CN" sz="1000" kern="1200">
                          <a:solidFill>
                            <a:schemeClr val="tx1"/>
                          </a:solidFill>
                          <a:latin typeface="+mn-lt"/>
                          <a:ea typeface="+mn-ea"/>
                          <a:cs typeface="+mn-cs"/>
                        </a:rPr>
                        <a:t>1st SIV for Ph2 in DME in Q4 2025 to Q1 2025</a:t>
                      </a:r>
                    </a:p>
                  </a:txBody>
                  <a:tcPr/>
                </a:tc>
                <a:extLst>
                  <a:ext uri="{0D108BD9-81ED-4DB2-BD59-A6C34878D82A}">
                    <a16:rowId xmlns:a16="http://schemas.microsoft.com/office/drawing/2014/main" val="1328529121"/>
                  </a:ext>
                </a:extLst>
              </a:tr>
              <a:tr h="140982">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Early engagement of</a:t>
                      </a:r>
                      <a:r>
                        <a:rPr lang="zh-CN" altLang="en-US" sz="1200" b="1" kern="1200" dirty="0">
                          <a:solidFill>
                            <a:schemeClr val="tx1"/>
                          </a:solidFill>
                          <a:latin typeface="+mn-lt"/>
                          <a:ea typeface="+mn-ea"/>
                          <a:cs typeface="+mn-cs"/>
                        </a:rPr>
                        <a:t> </a:t>
                      </a:r>
                      <a:r>
                        <a:rPr lang="en-US" altLang="zh-CN" sz="1200" b="1" kern="1200" dirty="0">
                          <a:solidFill>
                            <a:schemeClr val="tx1"/>
                          </a:solidFill>
                          <a:latin typeface="+mn-lt"/>
                          <a:ea typeface="+mn-ea"/>
                          <a:cs typeface="+mn-cs"/>
                        </a:rPr>
                        <a:t>key stakeholders: </a:t>
                      </a:r>
                    </a:p>
                    <a:p>
                      <a:r>
                        <a:rPr lang="en-US" altLang="zh-CN" sz="1000" i="1" kern="1200" dirty="0">
                          <a:solidFill>
                            <a:schemeClr val="tx1"/>
                          </a:solidFill>
                          <a:latin typeface="+mn-lt"/>
                          <a:ea typeface="+mn-ea"/>
                          <a:cs typeface="+mn-cs"/>
                        </a:rPr>
                        <a:t>Develop and implement a clear plan for the early engagement of key external stakeholders, particularly for new indications in China portfolio, and  provide insights from China to corporate asset teams.</a:t>
                      </a:r>
                      <a:endParaRPr lang="zh-CN" altLang="en-US" sz="1000" i="1" kern="1200" dirty="0">
                        <a:solidFill>
                          <a:schemeClr val="tx1"/>
                        </a:solidFill>
                        <a:latin typeface="+mn-lt"/>
                        <a:ea typeface="+mn-ea"/>
                        <a:cs typeface="+mn-cs"/>
                      </a:endParaRPr>
                    </a:p>
                  </a:txBody>
                  <a:tcPr/>
                </a:tc>
                <a:tc>
                  <a:txBody>
                    <a:bodyPr/>
                    <a:lstStyle/>
                    <a:p>
                      <a:pPr marL="171450" indent="-171450">
                        <a:buFont typeface="Arial" panose="020B0604020202020204" pitchFamily="34" charset="0"/>
                        <a:buChar char="•"/>
                      </a:pPr>
                      <a:r>
                        <a:rPr lang="en-US" altLang="zh-CN" sz="1000" kern="1200" dirty="0">
                          <a:solidFill>
                            <a:schemeClr val="tx1"/>
                          </a:solidFill>
                          <a:latin typeface="+mn-lt"/>
                        </a:rPr>
                        <a:t>NR2B NAM:</a:t>
                      </a:r>
                    </a:p>
                    <a:p>
                      <a:pPr marL="628015" lvl="1" indent="-171450">
                        <a:buFont typeface="Arial" panose="020B0604020202020204" pitchFamily="34" charset="0"/>
                        <a:buChar char="•"/>
                      </a:pPr>
                      <a:r>
                        <a:rPr lang="en-US" altLang="zh-CN" sz="1000" kern="1200" dirty="0">
                          <a:solidFill>
                            <a:schemeClr val="tx1"/>
                          </a:solidFill>
                          <a:latin typeface="+mn-lt"/>
                        </a:rPr>
                        <a:t>MDD KEE mapping and KEE engagement</a:t>
                      </a:r>
                    </a:p>
                    <a:p>
                      <a:pPr marL="628015" lvl="1" indent="-171450">
                        <a:buFont typeface="Arial" panose="020B0604020202020204" pitchFamily="34" charset="0"/>
                        <a:buChar char="•"/>
                      </a:pPr>
                      <a:r>
                        <a:rPr lang="en-US" altLang="zh-CN" sz="1000" kern="1200" dirty="0">
                          <a:solidFill>
                            <a:schemeClr val="tx1"/>
                          </a:solidFill>
                          <a:latin typeface="+mn-lt"/>
                        </a:rPr>
                        <a:t>NAB meeting in Q3 to collect KEE insights</a:t>
                      </a:r>
                    </a:p>
                    <a:p>
                      <a:pPr marL="628015" lvl="1" indent="-171450">
                        <a:buFont typeface="Arial" panose="020B0604020202020204" pitchFamily="34" charset="0"/>
                        <a:buChar char="•"/>
                      </a:pPr>
                      <a:r>
                        <a:rPr lang="en-US" altLang="zh-CN" sz="1000" kern="1200" dirty="0">
                          <a:solidFill>
                            <a:schemeClr val="tx1"/>
                          </a:solidFill>
                          <a:latin typeface="+mn-lt"/>
                        </a:rPr>
                        <a:t>Ph2 Data dissemination and communication</a:t>
                      </a:r>
                    </a:p>
                    <a:p>
                      <a:pPr marL="171450" indent="-171450">
                        <a:buFont typeface="Arial" panose="020B0604020202020204" pitchFamily="34" charset="0"/>
                        <a:buChar char="•"/>
                      </a:pPr>
                      <a:r>
                        <a:rPr lang="en-US" altLang="zh-CN" sz="1000" kern="1200" dirty="0">
                          <a:solidFill>
                            <a:schemeClr val="tx1"/>
                          </a:solidFill>
                          <a:latin typeface="+mn-lt"/>
                        </a:rPr>
                        <a:t>Precision psychiatry clinical development: Engage with CDE and seek strategical advice on “precision psychiatry approach to clinical development” in Q2. </a:t>
                      </a:r>
                    </a:p>
                    <a:p>
                      <a:pPr marL="171450" indent="-171450">
                        <a:buFont typeface="Arial" panose="020B0604020202020204" pitchFamily="34" charset="0"/>
                        <a:buChar char="•"/>
                      </a:pPr>
                      <a:r>
                        <a:rPr lang="en-US" altLang="zh-CN" sz="1000" kern="1200" dirty="0">
                          <a:solidFill>
                            <a:schemeClr val="tx1"/>
                          </a:solidFill>
                          <a:latin typeface="+mn-lt"/>
                        </a:rPr>
                        <a:t>Complete and release &lt; MDD Clinical Trial Willingness &amp; Placebo Drivers &gt; at DIA CNS innovative forum in Aug.2025 </a:t>
                      </a:r>
                    </a:p>
                  </a:txBody>
                  <a:tcPr/>
                </a:tc>
                <a:tc>
                  <a:txBody>
                    <a:bodyPr/>
                    <a:lstStyle/>
                    <a:p>
                      <a:pPr marL="171450" indent="-171450">
                        <a:buFont typeface="Arial" panose="020B0604020202020204" pitchFamily="34" charset="0"/>
                        <a:buChar char="•"/>
                      </a:pPr>
                      <a:r>
                        <a:rPr lang="en-US" altLang="zh-CN" sz="1000" i="0" kern="1200" dirty="0">
                          <a:solidFill>
                            <a:schemeClr val="tx1"/>
                          </a:solidFill>
                          <a:latin typeface="+mn-lt"/>
                          <a:ea typeface="微软雅黑"/>
                          <a:cs typeface="+mn-cs"/>
                        </a:rPr>
                        <a:t>DR/DME: </a:t>
                      </a:r>
                      <a:r>
                        <a:rPr lang="en-US" altLang="zh-CN" sz="1000" kern="1200" dirty="0">
                          <a:solidFill>
                            <a:schemeClr val="tx1"/>
                          </a:solidFill>
                          <a:latin typeface="+mn-lt"/>
                          <a:ea typeface="+mn-ea"/>
                          <a:cs typeface="+mn-cs"/>
                        </a:rPr>
                        <a:t>1</a:t>
                      </a:r>
                      <a:r>
                        <a:rPr lang="en-US" altLang="zh-CN" sz="1000" kern="1200" baseline="30000" dirty="0">
                          <a:solidFill>
                            <a:schemeClr val="tx1"/>
                          </a:solidFill>
                          <a:latin typeface="+mn-lt"/>
                          <a:ea typeface="+mn-ea"/>
                          <a:cs typeface="+mn-cs"/>
                        </a:rPr>
                        <a:t>st</a:t>
                      </a:r>
                      <a:r>
                        <a:rPr lang="en-US" altLang="zh-CN" sz="1000" kern="1200" dirty="0">
                          <a:solidFill>
                            <a:schemeClr val="tx1"/>
                          </a:solidFill>
                          <a:latin typeface="+mn-lt"/>
                          <a:ea typeface="+mn-ea"/>
                          <a:cs typeface="+mn-cs"/>
                        </a:rPr>
                        <a:t> NAB meeting on DR/DME to collect KEE insights</a:t>
                      </a:r>
                    </a:p>
                  </a:txBody>
                  <a:tcPr/>
                </a:tc>
                <a:extLst>
                  <a:ext uri="{0D108BD9-81ED-4DB2-BD59-A6C34878D82A}">
                    <a16:rowId xmlns:a16="http://schemas.microsoft.com/office/drawing/2014/main" val="2455768122"/>
                  </a:ext>
                </a:extLst>
              </a:tr>
            </a:tbl>
          </a:graphicData>
        </a:graphic>
      </p:graphicFrame>
      <p:sp>
        <p:nvSpPr>
          <p:cNvPr id="5" name="Footer Placeholder 4">
            <a:extLst>
              <a:ext uri="{FF2B5EF4-FFF2-40B4-BE49-F238E27FC236}">
                <a16:creationId xmlns:a16="http://schemas.microsoft.com/office/drawing/2014/main" id="{55EFA689-4ADF-15F4-07E9-4BC283C7EBA5}"/>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Slide Number Placeholder 5">
            <a:extLst>
              <a:ext uri="{FF2B5EF4-FFF2-40B4-BE49-F238E27FC236}">
                <a16:creationId xmlns:a16="http://schemas.microsoft.com/office/drawing/2014/main" id="{852BD62D-BADA-50FB-933E-2FB0A8057052}"/>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3524166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3A53-8700-98C2-D132-BEAD9F972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278B1-0ED0-4417-1738-638ACC394B5E}"/>
              </a:ext>
            </a:extLst>
          </p:cNvPr>
          <p:cNvSpPr>
            <a:spLocks noGrp="1"/>
          </p:cNvSpPr>
          <p:nvPr>
            <p:ph type="title"/>
          </p:nvPr>
        </p:nvSpPr>
        <p:spPr>
          <a:xfrm>
            <a:off x="489699" y="476250"/>
            <a:ext cx="11233151" cy="720000"/>
          </a:xfrm>
        </p:spPr>
        <p:txBody>
          <a:bodyPr/>
          <a:lstStyle/>
          <a:p>
            <a:r>
              <a:rPr lang="en-US" altLang="zh-CN" dirty="0"/>
              <a:t>Goal Setting – China Early Asset Team in TA Mental Health &amp; Eye Health (2)</a:t>
            </a:r>
            <a:endParaRPr lang="zh-CN" altLang="en-US" dirty="0"/>
          </a:p>
        </p:txBody>
      </p:sp>
      <p:graphicFrame>
        <p:nvGraphicFramePr>
          <p:cNvPr id="7" name="Content Placeholder 6">
            <a:extLst>
              <a:ext uri="{FF2B5EF4-FFF2-40B4-BE49-F238E27FC236}">
                <a16:creationId xmlns:a16="http://schemas.microsoft.com/office/drawing/2014/main" id="{F0F19A6B-C06E-5B84-9C5D-A040C4986B76}"/>
              </a:ext>
            </a:extLst>
          </p:cNvPr>
          <p:cNvGraphicFramePr>
            <a:graphicFrameLocks noGrp="1"/>
          </p:cNvGraphicFramePr>
          <p:nvPr>
            <p:ph idx="1"/>
            <p:extLst>
              <p:ext uri="{D42A27DB-BD31-4B8C-83A1-F6EECF244321}">
                <p14:modId xmlns:p14="http://schemas.microsoft.com/office/powerpoint/2010/main" val="172903771"/>
              </p:ext>
            </p:extLst>
          </p:nvPr>
        </p:nvGraphicFramePr>
        <p:xfrm>
          <a:off x="469150" y="1191291"/>
          <a:ext cx="11243425" cy="2717504"/>
        </p:xfrm>
        <a:graphic>
          <a:graphicData uri="http://schemas.openxmlformats.org/drawingml/2006/table">
            <a:tbl>
              <a:tblPr firstRow="1" bandRow="1">
                <a:tableStyleId>{21E4AEA4-8DFA-4A89-87EB-49C32662AFE0}</a:tableStyleId>
              </a:tblPr>
              <a:tblGrid>
                <a:gridCol w="3425513">
                  <a:extLst>
                    <a:ext uri="{9D8B030D-6E8A-4147-A177-3AD203B41FA5}">
                      <a16:colId xmlns:a16="http://schemas.microsoft.com/office/drawing/2014/main" val="978828"/>
                    </a:ext>
                  </a:extLst>
                </a:gridCol>
                <a:gridCol w="3908956">
                  <a:extLst>
                    <a:ext uri="{9D8B030D-6E8A-4147-A177-3AD203B41FA5}">
                      <a16:colId xmlns:a16="http://schemas.microsoft.com/office/drawing/2014/main" val="1167897060"/>
                    </a:ext>
                  </a:extLst>
                </a:gridCol>
                <a:gridCol w="3908956">
                  <a:extLst>
                    <a:ext uri="{9D8B030D-6E8A-4147-A177-3AD203B41FA5}">
                      <a16:colId xmlns:a16="http://schemas.microsoft.com/office/drawing/2014/main" val="2977825319"/>
                    </a:ext>
                  </a:extLst>
                </a:gridCol>
              </a:tblGrid>
              <a:tr h="211459">
                <a:tc rowSpan="2">
                  <a:txBody>
                    <a:bodyPr/>
                    <a:lstStyle/>
                    <a:p>
                      <a:pPr algn="ctr"/>
                      <a:r>
                        <a:rPr lang="en-US" altLang="zh-CN" sz="1200" b="1">
                          <a:solidFill>
                            <a:schemeClr val="bg1"/>
                          </a:solidFill>
                          <a:latin typeface="+mn-lt"/>
                        </a:rPr>
                        <a:t>Category</a:t>
                      </a:r>
                      <a:endParaRPr lang="zh-CN" altLang="en-US" sz="1200" b="1" kern="1200">
                        <a:solidFill>
                          <a:schemeClr val="bg1"/>
                        </a:solidFill>
                        <a:latin typeface="+mn-lt"/>
                        <a:ea typeface="微软雅黑" panose="020B0503020204020204" pitchFamily="34" charset="-122"/>
                        <a:cs typeface="Arial" panose="020B0604020202020204" pitchFamily="34" charset="0"/>
                      </a:endParaRPr>
                    </a:p>
                  </a:txBody>
                  <a:tcPr anchor="ctr"/>
                </a:tc>
                <a:tc gridSpan="2">
                  <a:txBody>
                    <a:bodyPr/>
                    <a:lstStyle/>
                    <a:p>
                      <a:pPr algn="ctr"/>
                      <a:r>
                        <a:rPr lang="en-US" altLang="zh-CN" sz="1200" b="1" kern="1200" dirty="0">
                          <a:solidFill>
                            <a:schemeClr val="bg1"/>
                          </a:solidFill>
                          <a:latin typeface="+mn-lt"/>
                        </a:rPr>
                        <a:t>Target details</a:t>
                      </a:r>
                      <a:endParaRPr lang="zh-CN" altLang="en-US" sz="1200" b="1" kern="1200" dirty="0">
                        <a:solidFill>
                          <a:schemeClr val="bg1"/>
                        </a:solidFill>
                        <a:latin typeface="+mn-lt"/>
                        <a:ea typeface="微软雅黑" panose="020B0503020204020204" pitchFamily="34" charset="-122"/>
                        <a:cs typeface="Arial" panose="020B0604020202020204" pitchFamily="34" charset="0"/>
                      </a:endParaRPr>
                    </a:p>
                  </a:txBody>
                  <a:tcPr anchor="ctr"/>
                </a:tc>
                <a:tc hMerge="1">
                  <a:txBody>
                    <a:bodyPr/>
                    <a:lstStyle/>
                    <a:p>
                      <a:pPr algn="ctr"/>
                      <a:endParaRPr lang="zh-CN" altLang="en-US" sz="1200" b="1" kern="1200">
                        <a:solidFill>
                          <a:schemeClr val="bg1"/>
                        </a:solidFill>
                        <a:latin typeface="+mn-lt"/>
                        <a:ea typeface="微软雅黑" panose="020B0503020204020204" pitchFamily="34" charset="-122"/>
                        <a:cs typeface="Arial" panose="020B0604020202020204" pitchFamily="34" charset="0"/>
                      </a:endParaRPr>
                    </a:p>
                  </a:txBody>
                  <a:tcPr anchor="ctr"/>
                </a:tc>
                <a:extLst>
                  <a:ext uri="{0D108BD9-81ED-4DB2-BD59-A6C34878D82A}">
                    <a16:rowId xmlns:a16="http://schemas.microsoft.com/office/drawing/2014/main" val="1293473388"/>
                  </a:ext>
                </a:extLst>
              </a:tr>
              <a:tr h="279104">
                <a:tc vMerge="1">
                  <a:txBody>
                    <a:bodyPr/>
                    <a:lstStyle/>
                    <a:p>
                      <a:pPr algn="ctr"/>
                      <a:endParaRPr lang="zh-CN" altLang="en-US" sz="1200" b="1" kern="1200">
                        <a:solidFill>
                          <a:schemeClr val="bg1"/>
                        </a:solidFill>
                        <a:latin typeface="+mn-lt"/>
                        <a:ea typeface="微软雅黑" panose="020B0503020204020204" pitchFamily="34" charset="-122"/>
                        <a:cs typeface="Arial" panose="020B0604020202020204" pitchFamily="34" charset="0"/>
                      </a:endParaRPr>
                    </a:p>
                  </a:txBody>
                  <a:tcPr anchor="ctr"/>
                </a:tc>
                <a:tc>
                  <a:txBody>
                    <a:bodyPr/>
                    <a:lstStyle/>
                    <a:p>
                      <a:pPr algn="ctr"/>
                      <a:r>
                        <a:rPr lang="en-US" altLang="zh-CN" sz="1200" b="1" kern="1200">
                          <a:solidFill>
                            <a:schemeClr val="tx1"/>
                          </a:solidFill>
                          <a:latin typeface="+mn-lt"/>
                          <a:ea typeface="微软雅黑"/>
                          <a:cs typeface="Arial"/>
                        </a:rPr>
                        <a:t>Mental Health</a:t>
                      </a:r>
                      <a:endParaRPr lang="zh-CN" altLang="en-US" sz="1200" b="1" kern="1200">
                        <a:solidFill>
                          <a:schemeClr val="tx1"/>
                        </a:solidFill>
                        <a:latin typeface="+mn-lt"/>
                        <a:ea typeface="微软雅黑"/>
                        <a:cs typeface="Arial"/>
                      </a:endParaRPr>
                    </a:p>
                  </a:txBody>
                  <a:tcPr anchor="ctr"/>
                </a:tc>
                <a:tc>
                  <a:txBody>
                    <a:bodyPr/>
                    <a:lstStyle/>
                    <a:p>
                      <a:pPr algn="ctr"/>
                      <a:r>
                        <a:rPr lang="en-US" altLang="zh-CN" sz="1200" b="1" kern="1200">
                          <a:solidFill>
                            <a:schemeClr val="tx1"/>
                          </a:solidFill>
                          <a:latin typeface="+mn-lt"/>
                          <a:ea typeface="微软雅黑"/>
                          <a:cs typeface="Arial"/>
                        </a:rPr>
                        <a:t>Eye Health</a:t>
                      </a:r>
                      <a:endParaRPr lang="zh-CN" altLang="en-US" sz="1200" b="1" kern="1200">
                        <a:solidFill>
                          <a:schemeClr val="tx1"/>
                        </a:solidFill>
                        <a:latin typeface="+mn-lt"/>
                        <a:ea typeface="微软雅黑"/>
                        <a:cs typeface="Arial"/>
                      </a:endParaRPr>
                    </a:p>
                  </a:txBody>
                  <a:tcPr anchor="ctr"/>
                </a:tc>
                <a:extLst>
                  <a:ext uri="{0D108BD9-81ED-4DB2-BD59-A6C34878D82A}">
                    <a16:rowId xmlns:a16="http://schemas.microsoft.com/office/drawing/2014/main" val="4273461635"/>
                  </a:ext>
                </a:extLst>
              </a:tr>
              <a:tr h="15297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ea typeface="+mn-ea"/>
                          <a:cs typeface="+mn-cs"/>
                        </a:rPr>
                        <a:t>Support strategic planning of asset development</a:t>
                      </a:r>
                    </a:p>
                    <a:p>
                      <a:r>
                        <a:rPr lang="en-US" altLang="zh-CN" sz="1000" i="1" kern="1200">
                          <a:solidFill>
                            <a:schemeClr val="tx1"/>
                          </a:solidFill>
                          <a:latin typeface="+mn-lt"/>
                          <a:ea typeface="+mn-ea"/>
                          <a:cs typeface="+mn-cs"/>
                        </a:rPr>
                        <a:t>Asset strategy making need to align and fit the China dynamic market development. Value function closely monitors  status quo and analyzes trend to support the strategy making.</a:t>
                      </a:r>
                    </a:p>
                  </a:txBody>
                  <a:tcPr/>
                </a:tc>
                <a:tc gridSpan="2">
                  <a:txBody>
                    <a:bodyPr/>
                    <a:lstStyle/>
                    <a:p>
                      <a:pPr marL="171450" indent="-171450" algn="l" defTabSz="914377" rtl="0" eaLnBrk="1" latinLnBrk="0" hangingPunct="1">
                        <a:buFont typeface="Arial" panose="020B0604020202020204" pitchFamily="34" charset="0"/>
                        <a:buChar char="•"/>
                      </a:pPr>
                      <a:r>
                        <a:rPr lang="en-US" altLang="zh-CN" sz="1000" i="0" kern="1200" dirty="0">
                          <a:solidFill>
                            <a:schemeClr val="tx1"/>
                          </a:solidFill>
                          <a:latin typeface="+mn-lt"/>
                          <a:ea typeface="微软雅黑"/>
                          <a:cs typeface="+mn-cs"/>
                        </a:rPr>
                        <a:t>Solid market understanding composed of patient journey, competitive intelligence etc. to support team on making strategy of asset.</a:t>
                      </a:r>
                    </a:p>
                    <a:p>
                      <a:pPr marL="171450" indent="-171450" algn="l" defTabSz="914377" rtl="0" eaLnBrk="1" latinLnBrk="0" hangingPunct="1">
                        <a:buFont typeface="Arial" panose="020B0604020202020204" pitchFamily="34" charset="0"/>
                        <a:buChar char="•"/>
                      </a:pPr>
                      <a:r>
                        <a:rPr lang="en-US" altLang="zh-CN" sz="1000" i="0" kern="1200" dirty="0">
                          <a:solidFill>
                            <a:schemeClr val="tx1"/>
                          </a:solidFill>
                          <a:latin typeface="+mn-lt"/>
                          <a:ea typeface="微软雅黑"/>
                          <a:cs typeface="+mn-cs"/>
                        </a:rPr>
                        <a:t>Based on market understanding, conduct economic evaluation in terms of topline and promotion cost to support further business case analysis.</a:t>
                      </a:r>
                    </a:p>
                    <a:p>
                      <a:pPr marL="171450" indent="-171450" algn="l" rtl="0" eaLnBrk="1" latinLnBrk="0" hangingPunct="1">
                        <a:buFont typeface="Arial" panose="020B0604020202020204" pitchFamily="34" charset="0"/>
                        <a:buChar char="•"/>
                      </a:pPr>
                      <a:r>
                        <a:rPr lang="en-US" altLang="zh-CN" sz="1000" i="0" kern="1200" dirty="0">
                          <a:solidFill>
                            <a:schemeClr val="tx1"/>
                          </a:solidFill>
                          <a:latin typeface="+mn-lt"/>
                          <a:ea typeface="微软雅黑"/>
                          <a:cs typeface="+mn-cs"/>
                        </a:rPr>
                        <a:t>In early ICP, collaborate closely with team members and cross-functional to formulate strategies and develop actionable plans tailored to local customer engagement.</a:t>
                      </a:r>
                    </a:p>
                    <a:p>
                      <a:pPr marL="171450" indent="-171450" algn="l" rtl="0" eaLnBrk="1" latinLnBrk="0" hangingPunct="1">
                        <a:buFont typeface="Arial" panose="020B0604020202020204" pitchFamily="34" charset="0"/>
                        <a:buChar char="•"/>
                      </a:pPr>
                      <a:r>
                        <a:rPr lang="en-US" altLang="zh-CN" sz="1000" i="0" kern="1200" dirty="0">
                          <a:solidFill>
                            <a:schemeClr val="tx1"/>
                          </a:solidFill>
                          <a:latin typeface="+mn-lt"/>
                          <a:ea typeface="微软雅黑"/>
                          <a:cs typeface="+mn-cs"/>
                        </a:rPr>
                        <a:t>Comprehensive price &amp; market access landscape analysis and updated pricing assumptions to support China P&amp;MA strategy.</a:t>
                      </a:r>
                    </a:p>
                  </a:txBody>
                  <a:tcPr/>
                </a:tc>
                <a:tc hMerge="1">
                  <a:txBody>
                    <a:bodyPr/>
                    <a:lstStyle/>
                    <a:p>
                      <a:pPr marL="0" indent="0" algn="l" defTabSz="914377" rtl="0" eaLnBrk="1" latinLnBrk="0" hangingPunct="1">
                        <a:buNone/>
                      </a:pPr>
                      <a:endParaRPr lang="en-US" altLang="zh-CN" sz="1000" i="1" kern="1200">
                        <a:solidFill>
                          <a:schemeClr val="tx1">
                            <a:lumMod val="50000"/>
                            <a:lumOff val="50000"/>
                          </a:schemeClr>
                        </a:solidFill>
                        <a:latin typeface="+mn-lt"/>
                        <a:ea typeface="微软雅黑" panose="020B0503020204020204" pitchFamily="34" charset="-122"/>
                        <a:cs typeface="+mn-cs"/>
                      </a:endParaRPr>
                    </a:p>
                  </a:txBody>
                  <a:tcPr/>
                </a:tc>
                <a:extLst>
                  <a:ext uri="{0D108BD9-81ED-4DB2-BD59-A6C34878D82A}">
                    <a16:rowId xmlns:a16="http://schemas.microsoft.com/office/drawing/2014/main" val="3942983682"/>
                  </a:ext>
                </a:extLst>
              </a:tr>
              <a:tr h="152976">
                <a:tc>
                  <a:txBody>
                    <a:bodyPr/>
                    <a:lstStyle/>
                    <a:p>
                      <a:r>
                        <a:rPr lang="en-US" altLang="zh-CN" sz="1200" b="1" kern="1200">
                          <a:solidFill>
                            <a:schemeClr val="tx1"/>
                          </a:solidFill>
                          <a:latin typeface="+mn-lt"/>
                          <a:ea typeface="+mn-ea"/>
                          <a:cs typeface="+mn-cs"/>
                        </a:rPr>
                        <a:t>Smooth handover to local asset teams:</a:t>
                      </a:r>
                    </a:p>
                    <a:p>
                      <a:r>
                        <a:rPr lang="en-US" altLang="zh-CN" sz="1000" i="1" kern="1200">
                          <a:solidFill>
                            <a:schemeClr val="tx1"/>
                          </a:solidFill>
                          <a:latin typeface="+mn-lt"/>
                          <a:ea typeface="+mn-ea"/>
                          <a:cs typeface="+mn-cs"/>
                        </a:rPr>
                        <a:t>Ensure a seamless transfer of knowledge and related documents to local asset teams</a:t>
                      </a:r>
                      <a:endParaRPr lang="zh-CN" altLang="en-US" sz="1000" i="1" kern="1200">
                        <a:solidFill>
                          <a:schemeClr val="tx1"/>
                        </a:solidFill>
                        <a:latin typeface="+mn-lt"/>
                        <a:ea typeface="+mn-ea"/>
                        <a:cs typeface="+mn-cs"/>
                      </a:endParaRPr>
                    </a:p>
                  </a:txBody>
                  <a:tcPr/>
                </a:tc>
                <a:tc>
                  <a:txBody>
                    <a:bodyPr/>
                    <a:lstStyle/>
                    <a:p>
                      <a:pPr marL="0" indent="0" algn="l" defTabSz="914377" rtl="0" eaLnBrk="1" latinLnBrk="0" hangingPunct="1">
                        <a:buNone/>
                      </a:pPr>
                      <a:r>
                        <a:rPr lang="en-US" altLang="zh-CN" sz="1000" i="0" kern="1200">
                          <a:solidFill>
                            <a:schemeClr val="tx1"/>
                          </a:solidFill>
                          <a:latin typeface="+mn-lt"/>
                          <a:ea typeface="微软雅黑"/>
                          <a:cs typeface="+mn-cs"/>
                        </a:rPr>
                        <a:t>Ensure smooth handover of NR2B NAM to local asset team once local full execution mode is requested by RMM after Ph2 readout.</a:t>
                      </a:r>
                    </a:p>
                  </a:txBody>
                  <a:tcPr/>
                </a:tc>
                <a:tc>
                  <a:txBody>
                    <a:bodyPr/>
                    <a:lstStyle/>
                    <a:p>
                      <a:pPr marL="0" indent="0" algn="l" defTabSz="914377" rtl="0" eaLnBrk="1" latinLnBrk="0" hangingPunct="1">
                        <a:buNone/>
                      </a:pPr>
                      <a:r>
                        <a:rPr lang="en-US" altLang="zh-CN" sz="1000" i="1" kern="1200">
                          <a:solidFill>
                            <a:schemeClr val="tx1">
                              <a:lumMod val="50000"/>
                              <a:lumOff val="50000"/>
                            </a:schemeClr>
                          </a:solidFill>
                          <a:latin typeface="+mn-lt"/>
                          <a:ea typeface="微软雅黑"/>
                          <a:cs typeface="+mn-cs"/>
                        </a:rPr>
                        <a:t>NA</a:t>
                      </a:r>
                    </a:p>
                  </a:txBody>
                  <a:tcPr/>
                </a:tc>
                <a:extLst>
                  <a:ext uri="{0D108BD9-81ED-4DB2-BD59-A6C34878D82A}">
                    <a16:rowId xmlns:a16="http://schemas.microsoft.com/office/drawing/2014/main" val="948725546"/>
                  </a:ext>
                </a:extLst>
              </a:tr>
              <a:tr h="0">
                <a:tc>
                  <a:txBody>
                    <a:bodyPr/>
                    <a:lstStyle/>
                    <a:p>
                      <a:r>
                        <a:rPr lang="en-US" altLang="zh-CN" sz="1200" b="1" kern="1200">
                          <a:solidFill>
                            <a:schemeClr val="tx1"/>
                          </a:solidFill>
                          <a:latin typeface="+mn-lt"/>
                          <a:ea typeface="+mn-ea"/>
                          <a:cs typeface="+mn-cs"/>
                        </a:rPr>
                        <a:t>Other: </a:t>
                      </a:r>
                    </a:p>
                    <a:p>
                      <a:r>
                        <a:rPr lang="en-US" altLang="zh-CN" sz="1000" i="1" kern="1200">
                          <a:solidFill>
                            <a:schemeClr val="tx1"/>
                          </a:solidFill>
                          <a:latin typeface="+mn-lt"/>
                          <a:ea typeface="+mn-ea"/>
                          <a:cs typeface="+mn-cs"/>
                        </a:rPr>
                        <a:t>Other activities not covered by the above categories</a:t>
                      </a:r>
                      <a:endParaRPr lang="zh-CN" altLang="en-US" sz="1000" i="1" kern="1200">
                        <a:solidFill>
                          <a:schemeClr val="tx1"/>
                        </a:solidFill>
                        <a:latin typeface="+mn-lt"/>
                        <a:ea typeface="+mn-ea"/>
                        <a:cs typeface="+mn-cs"/>
                      </a:endParaRPr>
                    </a:p>
                  </a:txBody>
                  <a:tcPr/>
                </a:tc>
                <a:tc gridSpan="2">
                  <a:txBody>
                    <a:bodyPr/>
                    <a:lstStyle/>
                    <a:p>
                      <a:pPr algn="ctr"/>
                      <a:r>
                        <a:rPr lang="en-US" altLang="zh-CN" sz="1000" dirty="0">
                          <a:solidFill>
                            <a:schemeClr val="tx1">
                              <a:lumMod val="50000"/>
                              <a:lumOff val="50000"/>
                            </a:schemeClr>
                          </a:solidFill>
                          <a:latin typeface="+mn-lt"/>
                        </a:rPr>
                        <a:t>NA</a:t>
                      </a:r>
                      <a:endParaRPr lang="zh-CN" altLang="en-US" sz="1000" i="1" dirty="0">
                        <a:solidFill>
                          <a:schemeClr val="tx1">
                            <a:lumMod val="50000"/>
                            <a:lumOff val="50000"/>
                          </a:schemeClr>
                        </a:solidFill>
                        <a:latin typeface="+mn-lt"/>
                        <a:ea typeface="微软雅黑" panose="020B0503020204020204" pitchFamily="34" charset="-122"/>
                      </a:endParaRPr>
                    </a:p>
                  </a:txBody>
                  <a:tcPr/>
                </a:tc>
                <a:tc hMerge="1">
                  <a:txBody>
                    <a:bodyPr/>
                    <a:lstStyle/>
                    <a:p>
                      <a:endParaRPr/>
                    </a:p>
                  </a:txBody>
                  <a:tcPr/>
                </a:tc>
                <a:extLst>
                  <a:ext uri="{0D108BD9-81ED-4DB2-BD59-A6C34878D82A}">
                    <a16:rowId xmlns:a16="http://schemas.microsoft.com/office/drawing/2014/main" val="3717864466"/>
                  </a:ext>
                </a:extLst>
              </a:tr>
            </a:tbl>
          </a:graphicData>
        </a:graphic>
      </p:graphicFrame>
      <p:sp>
        <p:nvSpPr>
          <p:cNvPr id="5" name="Footer Placeholder 4">
            <a:extLst>
              <a:ext uri="{FF2B5EF4-FFF2-40B4-BE49-F238E27FC236}">
                <a16:creationId xmlns:a16="http://schemas.microsoft.com/office/drawing/2014/main" id="{559A62FA-357F-D193-053A-BEA445DBC528}"/>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Slide Number Placeholder 5">
            <a:extLst>
              <a:ext uri="{FF2B5EF4-FFF2-40B4-BE49-F238E27FC236}">
                <a16:creationId xmlns:a16="http://schemas.microsoft.com/office/drawing/2014/main" id="{3CFEAB2C-06D0-5ECB-39BC-30C61DE2425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2026033557"/>
      </p:ext>
    </p:extLst>
  </p:cSld>
  <p:clrMapOvr>
    <a:masterClrMapping/>
  </p:clrMapOvr>
</p:sld>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solidFill>
          <a:srgbClr val="F6F5F3"/>
        </a:solidFill>
      </a:spPr>
      <a:bodyPr wrap="square" lIns="0" tIns="0" rIns="0" bIns="0" rtlCol="0">
        <a:spAutoFit/>
      </a:bodyPr>
      <a:lstStyle>
        <a:defPPr marL="354330" indent="-171450" algn="l">
          <a:lnSpc>
            <a:spcPct val="200000"/>
          </a:lnSpc>
          <a:buFont typeface="Arial" panose="020B0604020202020204" pitchFamily="34" charset="0"/>
          <a:buChar char="•"/>
          <a:defRPr sz="1200" dirty="0">
            <a:solidFill>
              <a:srgbClr val="076D7E"/>
            </a:solidFill>
          </a:defRPr>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9CFB6353-DAD6-4284-9273-EB676DD3D8F5}"/>
</file>

<file path=customXml/itemProps2.xml><?xml version="1.0" encoding="utf-8"?>
<ds:datastoreItem xmlns:ds="http://schemas.openxmlformats.org/officeDocument/2006/customXml" ds:itemID="{1F570529-F5B1-4B0E-88B0-7710C180AA4D}"/>
</file>

<file path=customXml/itemProps3.xml><?xml version="1.0" encoding="utf-8"?>
<ds:datastoreItem xmlns:ds="http://schemas.openxmlformats.org/officeDocument/2006/customXml" ds:itemID="{3D821C22-603C-4C5F-A42C-50B6DE097981}"/>
</file>

<file path=docMetadata/LabelInfo.xml><?xml version="1.0" encoding="utf-8"?>
<clbl:labelList xmlns:clbl="http://schemas.microsoft.com/office/2020/mipLabelMetadata">
  <clbl:label id="{bfd0b529-4a04-4616-88d2-531082d94bb8}" enabled="1" method="Standard" siteId="{e1f8af86-ee95-4718-bd0d-375b37366c83}" contentBits="0" removed="0"/>
</clbl:labelList>
</file>

<file path=docProps/app.xml><?xml version="1.0" encoding="utf-8"?>
<Properties xmlns="http://schemas.openxmlformats.org/officeDocument/2006/extended-properties" xmlns:vt="http://schemas.openxmlformats.org/officeDocument/2006/docPropsVTypes">
  <TotalTime>5</TotalTime>
  <Words>679</Words>
  <Application>Microsoft Office PowerPoint</Application>
  <PresentationFormat>Widescreen</PresentationFormat>
  <Paragraphs>62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Boehringer Forward Text</vt:lpstr>
      <vt:lpstr>Boehringer Forward Head</vt:lpstr>
      <vt:lpstr>Boehringer Ingelheim 16:9</vt:lpstr>
      <vt:lpstr>Goal Setting – China Early Asset Team in TA Mental Health &amp; Eye Health (1)</vt:lpstr>
      <vt:lpstr>Goal Setting – China Early Asset Team in TA Mental Health &amp; Eye Health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Liu,Dr.,Meiruo (HP Medicine) BII-CN-S</dc:creator>
  <cp:lastModifiedBy>Liu,Dr.,Meiruo (HP Medicine) BII-CN-S</cp:lastModifiedBy>
  <cp:revision>1</cp:revision>
  <dcterms:created xsi:type="dcterms:W3CDTF">2025-05-13T01:26:35Z</dcterms:created>
  <dcterms:modified xsi:type="dcterms:W3CDTF">2025-05-13T01:31:51Z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