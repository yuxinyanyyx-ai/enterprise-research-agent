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ags/tag1.xml" ContentType="application/vnd.openxmlformats-officedocument.presentationml.tags+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webextensions/webextension1.xml" ContentType="application/vnd.ms-office.webextension+xml"/>
  <Override PartName="/ppt/webextensions/webextension2.xml" ContentType="application/vnd.ms-office.webextension+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95" r:id="rId5"/>
    <p:sldMasterId id="2147483929" r:id="rId6"/>
  </p:sldMasterIdLst>
  <p:notesMasterIdLst>
    <p:notesMasterId r:id="rId22"/>
  </p:notesMasterIdLst>
  <p:sldIdLst>
    <p:sldId id="9848" r:id="rId7"/>
    <p:sldId id="2147483478" r:id="rId8"/>
    <p:sldId id="2147483477" r:id="rId9"/>
    <p:sldId id="2147475077" r:id="rId10"/>
    <p:sldId id="259" r:id="rId11"/>
    <p:sldId id="2147475075" r:id="rId12"/>
    <p:sldId id="2147483476" r:id="rId13"/>
    <p:sldId id="2147475076" r:id="rId14"/>
    <p:sldId id="274" r:id="rId15"/>
    <p:sldId id="330" r:id="rId16"/>
    <p:sldId id="2147483479" r:id="rId17"/>
    <p:sldId id="279" r:id="rId18"/>
    <p:sldId id="2147483601" r:id="rId19"/>
    <p:sldId id="281" r:id="rId20"/>
    <p:sldId id="2145705928"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004D6E-B490-FE58-8AA7-65D94327FA22}" name="Cheng,Dr.,Jian (HP Medicine) BII-CN-S" initials="CB" userId="S::jian.cheng@boehringer-ingelheim.com::d9d9ab5e-0a2e-432c-8dff-aab51240f61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Yuting (HP Medicine) BII-CN-S" initials="L(MBCS" lastIdx="14" clrIdx="0">
    <p:extLst>
      <p:ext uri="{19B8F6BF-5375-455C-9EA6-DF929625EA0E}">
        <p15:presenceInfo xmlns:p15="http://schemas.microsoft.com/office/powerpoint/2012/main" userId="S::yuting.li@boehringer-ingelheim.com::ce8fbb54-122c-426d-b8da-fdcc5e1b5022" providerId="AD"/>
      </p:ext>
    </p:extLst>
  </p:cmAuthor>
  <p:cmAuthor id="2" name="Zhou,Yijun (HP Medicine) BII-CN-S" initials="Z(MBCS" lastIdx="1" clrIdx="1">
    <p:extLst>
      <p:ext uri="{19B8F6BF-5375-455C-9EA6-DF929625EA0E}">
        <p15:presenceInfo xmlns:p15="http://schemas.microsoft.com/office/powerpoint/2012/main" userId="S::yijun.zhou@boehringer-ingelheim.com::0f879695-5e99-4ee3-b98d-c94eb04a766e" providerId="AD"/>
      </p:ext>
    </p:extLst>
  </p:cmAuthor>
  <p:cmAuthor id="3" name="Wang,Dr.,Bo (HP Medicine) BII-CN-S" initials="WB" lastIdx="20" clrIdx="2">
    <p:extLst>
      <p:ext uri="{19B8F6BF-5375-455C-9EA6-DF929625EA0E}">
        <p15:presenceInfo xmlns:p15="http://schemas.microsoft.com/office/powerpoint/2012/main" userId="S::bo_7.wang@boehringer-ingelheim.com::950b8564-41e4-4a68-9f11-e3d2e116a359" providerId="AD"/>
      </p:ext>
    </p:extLst>
  </p:cmAuthor>
  <p:cmAuthor id="4" name="Sun,Dr.,Alex (HP Medicine) BII-CN-S" initials="S(MBCS" lastIdx="7" clrIdx="3">
    <p:extLst>
      <p:ext uri="{19B8F6BF-5375-455C-9EA6-DF929625EA0E}">
        <p15:presenceInfo xmlns:p15="http://schemas.microsoft.com/office/powerpoint/2012/main" userId="S::alex.sun@boehringer-ingelheim.com::4719f32c-0e69-47bd-a472-8593e5571da4" providerId="AD"/>
      </p:ext>
    </p:extLst>
  </p:cmAuthor>
  <p:cmAuthor id="5" name="Cheng,Dr.,Jian (HP Medicine) BII-CN-S" initials="C(MBCS" lastIdx="25" clrIdx="4">
    <p:extLst>
      <p:ext uri="{19B8F6BF-5375-455C-9EA6-DF929625EA0E}">
        <p15:presenceInfo xmlns:p15="http://schemas.microsoft.com/office/powerpoint/2012/main" userId="S::jian.cheng@boehringer-ingelheim.com::d9d9ab5e-0a2e-432c-8dff-aab51240f610" providerId="AD"/>
      </p:ext>
    </p:extLst>
  </p:cmAuthor>
  <p:cmAuthor id="6" name="Huang,Tina (HP Medicine) BII-CN-S" initials="H(MBCS" lastIdx="1" clrIdx="5">
    <p:extLst>
      <p:ext uri="{19B8F6BF-5375-455C-9EA6-DF929625EA0E}">
        <p15:presenceInfo xmlns:p15="http://schemas.microsoft.com/office/powerpoint/2012/main" userId="S::tina_2.huang@boehringer-ingelheim.com::b7491714-61cf-466b-8b86-d07548fc017f" providerId="AD"/>
      </p:ext>
    </p:extLst>
  </p:cmAuthor>
  <p:cmAuthor id="7" name="Chen,Dr.,Ying (HP Medicine) BII-CN-S" initials="C(MBCS" lastIdx="10" clrIdx="6">
    <p:extLst>
      <p:ext uri="{19B8F6BF-5375-455C-9EA6-DF929625EA0E}">
        <p15:presenceInfo xmlns:p15="http://schemas.microsoft.com/office/powerpoint/2012/main" userId="S::ying_4.chen@boehringer-ingelheim.com::7c019f49-0ee9-4787-9ac5-a11d3b82d6d2" providerId="AD"/>
      </p:ext>
    </p:extLst>
  </p:cmAuthor>
  <p:cmAuthor id="8" name="Si,Si (HP Medicine) BII-CN-S" initials="SB" lastIdx="2" clrIdx="7">
    <p:extLst>
      <p:ext uri="{19B8F6BF-5375-455C-9EA6-DF929625EA0E}">
        <p15:presenceInfo xmlns:p15="http://schemas.microsoft.com/office/powerpoint/2012/main" userId="S::si.si@boehringer-ingelheim.com::563f8d57-eae6-4d86-b145-e615bd952294" providerId="AD"/>
      </p:ext>
    </p:extLst>
  </p:cmAuthor>
  <p:cmAuthor id="9" name="Xu,Lindsay (HP Medicine) BII-CN-S" initials="XB" lastIdx="4" clrIdx="8">
    <p:extLst>
      <p:ext uri="{19B8F6BF-5375-455C-9EA6-DF929625EA0E}">
        <p15:presenceInfo xmlns:p15="http://schemas.microsoft.com/office/powerpoint/2012/main" userId="S::lindsay.xu@boehringer-ingelheim.com::80a8f60d-1654-4b86-b932-46a0c01eb59c" providerId="AD"/>
      </p:ext>
    </p:extLst>
  </p:cmAuthor>
  <p:cmAuthor id="10" name="Xu,Momoco (HP Medicine) BII-CN-S" initials="XB" lastIdx="1" clrIdx="9">
    <p:extLst>
      <p:ext uri="{19B8F6BF-5375-455C-9EA6-DF929625EA0E}">
        <p15:presenceInfo xmlns:p15="http://schemas.microsoft.com/office/powerpoint/2012/main" userId="S::momoco.xu@boehringer-ingelheim.com::2e9261b2-2962-4902-951a-3d081c7a496f" providerId="AD"/>
      </p:ext>
    </p:extLst>
  </p:cmAuthor>
  <p:cmAuthor id="11" name="Shi,Cherry (HP Medicine) BII-CN-S" initials="S(MBCS" lastIdx="3" clrIdx="10">
    <p:extLst>
      <p:ext uri="{19B8F6BF-5375-455C-9EA6-DF929625EA0E}">
        <p15:presenceInfo xmlns:p15="http://schemas.microsoft.com/office/powerpoint/2012/main" userId="S::cherry.shi@boehringer-ingelheim.com::d1fa847a-fc45-456f-9c70-a123cc9ed61e" providerId="AD"/>
      </p:ext>
    </p:extLst>
  </p:cmAuthor>
  <p:cmAuthor id="12" name="Kind,Saskia (HP Medicine) BII-CN-S" initials="SK" lastIdx="8" clrIdx="11">
    <p:extLst>
      <p:ext uri="{19B8F6BF-5375-455C-9EA6-DF929625EA0E}">
        <p15:presenceInfo xmlns:p15="http://schemas.microsoft.com/office/powerpoint/2012/main" userId="S::saskia.kind@boehringer-ingelheim.com::14424b57-ed60-4e43-9702-4cbb8465d621" providerId="AD"/>
      </p:ext>
    </p:extLst>
  </p:cmAuthor>
  <p:cmAuthor id="13" name="Shi,Henry (HP Medicine) BII-CN-S" initials="XS" lastIdx="3" clrIdx="12">
    <p:extLst>
      <p:ext uri="{19B8F6BF-5375-455C-9EA6-DF929625EA0E}">
        <p15:presenceInfo xmlns:p15="http://schemas.microsoft.com/office/powerpoint/2012/main" userId="S::henry.shi@boehringer-ingelheim.com::a829987e-fa81-4d5f-a3de-09e3e033d95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146565-6F9D-46F4-9586-E2A55F931F1E}" v="183" dt="2025-05-15T01:04:43.402"/>
    <p1510:client id="{2A0F943A-7CF2-4E0E-9FB6-D34D8A62CB83}" v="2" dt="2025-05-14T09:16:53.912"/>
    <p1510:client id="{E26E800B-BA39-45CE-A3DA-768642C806F8}" v="1" dt="2025-05-15T01:39:25.263"/>
    <p1510:client id="{F4596E42-EC99-4CD7-BC54-D27932432956}" v="448" dt="2025-05-15T00:37:03.8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Dr.,Bo (HP Medicine) BII-CN-S" userId="950b8564-41e4-4a68-9f11-e3d2e116a359" providerId="ADAL" clId="{7A05652E-FE38-4B6D-87D4-3A07019448D0}"/>
    <pc:docChg chg="custSel modSld">
      <pc:chgData name="Wang,Dr.,Bo (HP Medicine) BII-CN-S" userId="950b8564-41e4-4a68-9f11-e3d2e116a359" providerId="ADAL" clId="{7A05652E-FE38-4B6D-87D4-3A07019448D0}" dt="2025-05-13T01:31:59.567" v="1533" actId="113"/>
      <pc:docMkLst>
        <pc:docMk/>
      </pc:docMkLst>
      <pc:sldChg chg="modCm">
        <pc:chgData name="Wang,Dr.,Bo (HP Medicine) BII-CN-S" userId="950b8564-41e4-4a68-9f11-e3d2e116a359" providerId="ADAL" clId="{7A05652E-FE38-4B6D-87D4-3A07019448D0}" dt="2025-05-12T08:35:01.261" v="1218"/>
        <pc:sldMkLst>
          <pc:docMk/>
          <pc:sldMk cId="2034294607" sldId="259"/>
        </pc:sldMkLst>
      </pc:sldChg>
      <pc:sldChg chg="addSp delSp modSp mod">
        <pc:chgData name="Wang,Dr.,Bo (HP Medicine) BII-CN-S" userId="950b8564-41e4-4a68-9f11-e3d2e116a359" providerId="ADAL" clId="{7A05652E-FE38-4B6D-87D4-3A07019448D0}" dt="2025-05-12T08:50:29.545" v="1440"/>
        <pc:sldMkLst>
          <pc:docMk/>
          <pc:sldMk cId="3949348881" sldId="274"/>
        </pc:sldMkLst>
        <pc:spChg chg="mod">
          <ac:chgData name="Wang,Dr.,Bo (HP Medicine) BII-CN-S" userId="950b8564-41e4-4a68-9f11-e3d2e116a359" providerId="ADAL" clId="{7A05652E-FE38-4B6D-87D4-3A07019448D0}" dt="2025-05-12T08:50:29.545" v="1440"/>
          <ac:spMkLst>
            <pc:docMk/>
            <pc:sldMk cId="3949348881" sldId="274"/>
            <ac:spMk id="15" creationId="{FACA84C6-E25B-AD21-9C4E-60F0DDEB6FF4}"/>
          </ac:spMkLst>
        </pc:spChg>
        <pc:spChg chg="mod">
          <ac:chgData name="Wang,Dr.,Bo (HP Medicine) BII-CN-S" userId="950b8564-41e4-4a68-9f11-e3d2e116a359" providerId="ADAL" clId="{7A05652E-FE38-4B6D-87D4-3A07019448D0}" dt="2025-05-12T08:50:29.545" v="1440"/>
          <ac:spMkLst>
            <pc:docMk/>
            <pc:sldMk cId="3949348881" sldId="274"/>
            <ac:spMk id="16" creationId="{5DB759F3-90FB-D8B6-3812-6F7369AD6A7F}"/>
          </ac:spMkLst>
        </pc:spChg>
        <pc:spChg chg="mod">
          <ac:chgData name="Wang,Dr.,Bo (HP Medicine) BII-CN-S" userId="950b8564-41e4-4a68-9f11-e3d2e116a359" providerId="ADAL" clId="{7A05652E-FE38-4B6D-87D4-3A07019448D0}" dt="2025-05-12T08:50:29.545" v="1440"/>
          <ac:spMkLst>
            <pc:docMk/>
            <pc:sldMk cId="3949348881" sldId="274"/>
            <ac:spMk id="17" creationId="{89A4C96B-40E3-6652-788B-5669DD2E9C0C}"/>
          </ac:spMkLst>
        </pc:spChg>
        <pc:spChg chg="mod">
          <ac:chgData name="Wang,Dr.,Bo (HP Medicine) BII-CN-S" userId="950b8564-41e4-4a68-9f11-e3d2e116a359" providerId="ADAL" clId="{7A05652E-FE38-4B6D-87D4-3A07019448D0}" dt="2025-05-12T08:50:29.545" v="1440"/>
          <ac:spMkLst>
            <pc:docMk/>
            <pc:sldMk cId="3949348881" sldId="274"/>
            <ac:spMk id="18" creationId="{22C47A29-DB7F-9638-C15B-4ECBDB20FAA2}"/>
          </ac:spMkLst>
        </pc:spChg>
        <pc:spChg chg="mod">
          <ac:chgData name="Wang,Dr.,Bo (HP Medicine) BII-CN-S" userId="950b8564-41e4-4a68-9f11-e3d2e116a359" providerId="ADAL" clId="{7A05652E-FE38-4B6D-87D4-3A07019448D0}" dt="2025-05-12T08:50:29.545" v="1440"/>
          <ac:spMkLst>
            <pc:docMk/>
            <pc:sldMk cId="3949348881" sldId="274"/>
            <ac:spMk id="19" creationId="{4AB15D61-D3E7-A501-76EC-472C4B1A369F}"/>
          </ac:spMkLst>
        </pc:spChg>
        <pc:grpChg chg="add mod">
          <ac:chgData name="Wang,Dr.,Bo (HP Medicine) BII-CN-S" userId="950b8564-41e4-4a68-9f11-e3d2e116a359" providerId="ADAL" clId="{7A05652E-FE38-4B6D-87D4-3A07019448D0}" dt="2025-05-12T08:50:29.545" v="1440"/>
          <ac:grpSpMkLst>
            <pc:docMk/>
            <pc:sldMk cId="3949348881" sldId="274"/>
            <ac:grpSpMk id="6" creationId="{ACFBFFC2-B7B8-53D6-351F-CFDE1E04E28C}"/>
          </ac:grpSpMkLst>
        </pc:grpChg>
        <pc:graphicFrameChg chg="mod">
          <ac:chgData name="Wang,Dr.,Bo (HP Medicine) BII-CN-S" userId="950b8564-41e4-4a68-9f11-e3d2e116a359" providerId="ADAL" clId="{7A05652E-FE38-4B6D-87D4-3A07019448D0}" dt="2025-05-12T08:50:29.545" v="1440"/>
          <ac:graphicFrameMkLst>
            <pc:docMk/>
            <pc:sldMk cId="3949348881" sldId="274"/>
            <ac:graphicFrameMk id="14" creationId="{96D4B741-0773-0EF5-3D7E-C734320B5A7C}"/>
          </ac:graphicFrameMkLst>
        </pc:graphicFrameChg>
      </pc:sldChg>
      <pc:sldChg chg="modSp mod">
        <pc:chgData name="Wang,Dr.,Bo (HP Medicine) BII-CN-S" userId="950b8564-41e4-4a68-9f11-e3d2e116a359" providerId="ADAL" clId="{7A05652E-FE38-4B6D-87D4-3A07019448D0}" dt="2025-05-13T01:31:59.567" v="1533" actId="113"/>
        <pc:sldMkLst>
          <pc:docMk/>
          <pc:sldMk cId="884907692" sldId="2147475075"/>
        </pc:sldMkLst>
        <pc:graphicFrameChg chg="mod modGraphic">
          <ac:chgData name="Wang,Dr.,Bo (HP Medicine) BII-CN-S" userId="950b8564-41e4-4a68-9f11-e3d2e116a359" providerId="ADAL" clId="{7A05652E-FE38-4B6D-87D4-3A07019448D0}" dt="2025-05-13T01:31:59.567" v="1533" actId="113"/>
          <ac:graphicFrameMkLst>
            <pc:docMk/>
            <pc:sldMk cId="884907692" sldId="2147475075"/>
            <ac:graphicFrameMk id="6" creationId="{99E71C16-9E1E-F011-B398-2DD75D956D8F}"/>
          </ac:graphicFrameMkLst>
        </pc:graphicFrameChg>
      </pc:sldChg>
      <pc:sldChg chg="modSp mod modCm">
        <pc:chgData name="Wang,Dr.,Bo (HP Medicine) BII-CN-S" userId="950b8564-41e4-4a68-9f11-e3d2e116a359" providerId="ADAL" clId="{7A05652E-FE38-4B6D-87D4-3A07019448D0}" dt="2025-05-13T01:07:35.584" v="1471" actId="20577"/>
        <pc:sldMkLst>
          <pc:docMk/>
          <pc:sldMk cId="482933426" sldId="2147475077"/>
        </pc:sldMkLst>
        <pc:spChg chg="mod">
          <ac:chgData name="Wang,Dr.,Bo (HP Medicine) BII-CN-S" userId="950b8564-41e4-4a68-9f11-e3d2e116a359" providerId="ADAL" clId="{7A05652E-FE38-4B6D-87D4-3A07019448D0}" dt="2025-05-12T08:07:22.062" v="807" actId="13926"/>
          <ac:spMkLst>
            <pc:docMk/>
            <pc:sldMk cId="482933426" sldId="2147475077"/>
            <ac:spMk id="2" creationId="{A2A3D7C7-1B9F-EBBD-DF90-F016194D15A4}"/>
          </ac:spMkLst>
        </pc:spChg>
        <pc:graphicFrameChg chg="mod modGraphic">
          <ac:chgData name="Wang,Dr.,Bo (HP Medicine) BII-CN-S" userId="950b8564-41e4-4a68-9f11-e3d2e116a359" providerId="ADAL" clId="{7A05652E-FE38-4B6D-87D4-3A07019448D0}" dt="2025-05-13T01:07:35.584" v="1471" actId="20577"/>
          <ac:graphicFrameMkLst>
            <pc:docMk/>
            <pc:sldMk cId="482933426" sldId="2147475077"/>
            <ac:graphicFrameMk id="3" creationId="{E8D60687-F332-2DAC-8D47-261F670D5C3F}"/>
          </ac:graphicFrameMkLst>
        </pc:graphicFrameChg>
      </pc:sldChg>
      <pc:sldChg chg="modSp mod">
        <pc:chgData name="Wang,Dr.,Bo (HP Medicine) BII-CN-S" userId="950b8564-41e4-4a68-9f11-e3d2e116a359" providerId="ADAL" clId="{7A05652E-FE38-4B6D-87D4-3A07019448D0}" dt="2025-05-13T01:25:06.324" v="1519" actId="20577"/>
        <pc:sldMkLst>
          <pc:docMk/>
          <pc:sldMk cId="3617207298" sldId="2147483478"/>
        </pc:sldMkLst>
        <pc:spChg chg="mod">
          <ac:chgData name="Wang,Dr.,Bo (HP Medicine) BII-CN-S" userId="950b8564-41e4-4a68-9f11-e3d2e116a359" providerId="ADAL" clId="{7A05652E-FE38-4B6D-87D4-3A07019448D0}" dt="2025-05-13T01:25:06.324" v="1519" actId="20577"/>
          <ac:spMkLst>
            <pc:docMk/>
            <pc:sldMk cId="3617207298" sldId="2147483478"/>
            <ac:spMk id="58" creationId="{E1878333-EA67-627B-A864-243C76E0BC58}"/>
          </ac:spMkLst>
        </pc:spChg>
      </pc:sldChg>
    </pc:docChg>
  </pc:docChgLst>
  <pc:docChgLst>
    <pc:chgData name="Kind,Saskia (HP Medicine) BII-CN-S" userId="14424b57-ed60-4e43-9702-4cbb8465d621" providerId="ADAL" clId="{5950FFD0-315D-4E86-BE9D-639CCEDBE306}"/>
    <pc:docChg chg="undo custSel addSld delSld modSld sldOrd">
      <pc:chgData name="Kind,Saskia (HP Medicine) BII-CN-S" userId="14424b57-ed60-4e43-9702-4cbb8465d621" providerId="ADAL" clId="{5950FFD0-315D-4E86-BE9D-639CCEDBE306}" dt="2025-03-14T01:41:16.701" v="71" actId="20577"/>
      <pc:docMkLst>
        <pc:docMk/>
      </pc:docMkLst>
      <pc:sldChg chg="addSp modSp mod">
        <pc:chgData name="Kind,Saskia (HP Medicine) BII-CN-S" userId="14424b57-ed60-4e43-9702-4cbb8465d621" providerId="ADAL" clId="{5950FFD0-315D-4E86-BE9D-639CCEDBE306}" dt="2025-03-12T08:36:32.687" v="27"/>
        <pc:sldMkLst>
          <pc:docMk/>
          <pc:sldMk cId="1922158299" sldId="9848"/>
        </pc:sldMkLst>
        <pc:spChg chg="mod">
          <ac:chgData name="Kind,Saskia (HP Medicine) BII-CN-S" userId="14424b57-ed60-4e43-9702-4cbb8465d621" providerId="ADAL" clId="{5950FFD0-315D-4E86-BE9D-639CCEDBE306}" dt="2025-03-12T08:27:26.413" v="26" actId="5793"/>
          <ac:spMkLst>
            <pc:docMk/>
            <pc:sldMk cId="1922158299" sldId="9848"/>
            <ac:spMk id="3" creationId="{692796CB-E2C8-8508-DF5A-FC10693F0AFB}"/>
          </ac:spMkLst>
        </pc:spChg>
      </pc:sldChg>
      <pc:sldChg chg="modSp mod ord">
        <pc:chgData name="Kind,Saskia (HP Medicine) BII-CN-S" userId="14424b57-ed60-4e43-9702-4cbb8465d621" providerId="ADAL" clId="{5950FFD0-315D-4E86-BE9D-639CCEDBE306}" dt="2025-03-14T01:41:16.701" v="71" actId="20577"/>
        <pc:sldMkLst>
          <pc:docMk/>
          <pc:sldMk cId="884907692" sldId="2147475075"/>
        </pc:sldMkLst>
        <pc:spChg chg="mod">
          <ac:chgData name="Kind,Saskia (HP Medicine) BII-CN-S" userId="14424b57-ed60-4e43-9702-4cbb8465d621" providerId="ADAL" clId="{5950FFD0-315D-4E86-BE9D-639CCEDBE306}" dt="2025-03-14T01:41:16.701" v="71" actId="20577"/>
          <ac:spMkLst>
            <pc:docMk/>
            <pc:sldMk cId="884907692" sldId="2147475075"/>
            <ac:spMk id="2" creationId="{1981918F-D4B9-CB22-8347-C74577AED3F9}"/>
          </ac:spMkLst>
        </pc:spChg>
      </pc:sldChg>
      <pc:sldChg chg="ord">
        <pc:chgData name="Kind,Saskia (HP Medicine) BII-CN-S" userId="14424b57-ed60-4e43-9702-4cbb8465d621" providerId="ADAL" clId="{5950FFD0-315D-4E86-BE9D-639CCEDBE306}" dt="2025-03-14T01:41:03.390" v="63"/>
        <pc:sldMkLst>
          <pc:docMk/>
          <pc:sldMk cId="2832997277" sldId="2147475076"/>
        </pc:sldMkLst>
      </pc:sldChg>
      <pc:sldChg chg="addSp delSp modSp mod">
        <pc:chgData name="Kind,Saskia (HP Medicine) BII-CN-S" userId="14424b57-ed60-4e43-9702-4cbb8465d621" providerId="ADAL" clId="{5950FFD0-315D-4E86-BE9D-639CCEDBE306}" dt="2025-03-12T08:37:47.144" v="36" actId="1076"/>
        <pc:sldMkLst>
          <pc:docMk/>
          <pc:sldMk cId="1459989641" sldId="2147482809"/>
        </pc:sldMkLst>
      </pc:sldChg>
      <pc:sldChg chg="modSp new mod">
        <pc:chgData name="Kind,Saskia (HP Medicine) BII-CN-S" userId="14424b57-ed60-4e43-9702-4cbb8465d621" providerId="ADAL" clId="{5950FFD0-315D-4E86-BE9D-639CCEDBE306}" dt="2025-03-12T08:38:17.789" v="57" actId="20577"/>
        <pc:sldMkLst>
          <pc:docMk/>
          <pc:sldMk cId="138470671" sldId="2147483471"/>
        </pc:sldMkLst>
      </pc:sldChg>
      <pc:sldChg chg="add del">
        <pc:chgData name="Kind,Saskia (HP Medicine) BII-CN-S" userId="14424b57-ed60-4e43-9702-4cbb8465d621" providerId="ADAL" clId="{5950FFD0-315D-4E86-BE9D-639CCEDBE306}" dt="2025-03-12T08:37:55.726" v="37" actId="47"/>
        <pc:sldMkLst>
          <pc:docMk/>
          <pc:sldMk cId="2191612645" sldId="2147483471"/>
        </pc:sldMkLst>
      </pc:sldChg>
      <pc:sldChg chg="add">
        <pc:chgData name="Kind,Saskia (HP Medicine) BII-CN-S" userId="14424b57-ed60-4e43-9702-4cbb8465d621" providerId="ADAL" clId="{5950FFD0-315D-4E86-BE9D-639CCEDBE306}" dt="2025-03-14T01:40:48.488" v="58" actId="2890"/>
        <pc:sldMkLst>
          <pc:docMk/>
          <pc:sldMk cId="4218213838" sldId="2147483472"/>
        </pc:sldMkLst>
      </pc:sldChg>
      <pc:sldChg chg="add">
        <pc:chgData name="Kind,Saskia (HP Medicine) BII-CN-S" userId="14424b57-ed60-4e43-9702-4cbb8465d621" providerId="ADAL" clId="{5950FFD0-315D-4E86-BE9D-639CCEDBE306}" dt="2025-03-14T01:40:58.816" v="61" actId="2890"/>
        <pc:sldMkLst>
          <pc:docMk/>
          <pc:sldMk cId="2587453237" sldId="2147483473"/>
        </pc:sldMkLst>
      </pc:sldChg>
    </pc:docChg>
  </pc:docChgLst>
  <pc:docChgLst>
    <pc:chgData name="Cheng,Dr.,Jian (HP Medicine) BII-CN-S" userId="d9d9ab5e-0a2e-432c-8dff-aab51240f610" providerId="ADAL" clId="{0A3321E9-D715-4A2C-95AB-92AFEC3486B7}"/>
    <pc:docChg chg="undo custSel modSld">
      <pc:chgData name="Cheng,Dr.,Jian (HP Medicine) BII-CN-S" userId="d9d9ab5e-0a2e-432c-8dff-aab51240f610" providerId="ADAL" clId="{0A3321E9-D715-4A2C-95AB-92AFEC3486B7}" dt="2025-03-17T03:11:46.332" v="3415" actId="20577"/>
      <pc:docMkLst>
        <pc:docMk/>
      </pc:docMkLst>
      <pc:sldChg chg="addSp delSp modSp mod">
        <pc:chgData name="Cheng,Dr.,Jian (HP Medicine) BII-CN-S" userId="d9d9ab5e-0a2e-432c-8dff-aab51240f610" providerId="ADAL" clId="{0A3321E9-D715-4A2C-95AB-92AFEC3486B7}" dt="2025-03-17T03:04:17.641" v="3314"/>
        <pc:sldMkLst>
          <pc:docMk/>
          <pc:sldMk cId="884907692" sldId="2147475075"/>
        </pc:sldMkLst>
        <pc:spChg chg="mod">
          <ac:chgData name="Cheng,Dr.,Jian (HP Medicine) BII-CN-S" userId="d9d9ab5e-0a2e-432c-8dff-aab51240f610" providerId="ADAL" clId="{0A3321E9-D715-4A2C-95AB-92AFEC3486B7}" dt="2025-03-17T03:04:17.588" v="3277" actId="948"/>
          <ac:spMkLst>
            <pc:docMk/>
            <pc:sldMk cId="884907692" sldId="2147475075"/>
            <ac:spMk id="2" creationId="{1981918F-D4B9-CB22-8347-C74577AED3F9}"/>
          </ac:spMkLst>
        </pc:spChg>
        <pc:graphicFrameChg chg="add mod ord modVis replST">
          <ac:chgData name="Cheng,Dr.,Jian (HP Medicine) BII-CN-S" userId="d9d9ab5e-0a2e-432c-8dff-aab51240f610" providerId="ADAL" clId="{0A3321E9-D715-4A2C-95AB-92AFEC3486B7}" dt="2025-03-17T03:04:17.641" v="3314"/>
          <ac:graphicFrameMkLst>
            <pc:docMk/>
            <pc:sldMk cId="884907692" sldId="2147475075"/>
            <ac:graphicFrameMk id="8" creationId="{64119E7A-AC2C-5BCA-85CD-3F9DC16BA6C7}"/>
          </ac:graphicFrameMkLst>
        </pc:graphicFrameChg>
      </pc:sldChg>
      <pc:sldChg chg="delSp modSp mod addCm">
        <pc:chgData name="Cheng,Dr.,Jian (HP Medicine) BII-CN-S" userId="d9d9ab5e-0a2e-432c-8dff-aab51240f610" providerId="ADAL" clId="{0A3321E9-D715-4A2C-95AB-92AFEC3486B7}" dt="2025-03-17T03:11:46.332" v="3415" actId="20577"/>
        <pc:sldMkLst>
          <pc:docMk/>
          <pc:sldMk cId="2832997277" sldId="2147475076"/>
        </pc:sldMkLst>
        <pc:graphicFrameChg chg="mod modGraphic">
          <ac:chgData name="Cheng,Dr.,Jian (HP Medicine) BII-CN-S" userId="d9d9ab5e-0a2e-432c-8dff-aab51240f610" providerId="ADAL" clId="{0A3321E9-D715-4A2C-95AB-92AFEC3486B7}" dt="2025-03-17T03:11:46.332" v="3415" actId="20577"/>
          <ac:graphicFrameMkLst>
            <pc:docMk/>
            <pc:sldMk cId="2832997277" sldId="2147475076"/>
            <ac:graphicFrameMk id="15" creationId="{B16C4F7B-FFC9-8C91-F3C2-0272A3D6E47F}"/>
          </ac:graphicFrameMkLst>
        </pc:graphicFrameChg>
      </pc:sldChg>
      <pc:sldChg chg="modSp mod">
        <pc:chgData name="Cheng,Dr.,Jian (HP Medicine) BII-CN-S" userId="d9d9ab5e-0a2e-432c-8dff-aab51240f610" providerId="ADAL" clId="{0A3321E9-D715-4A2C-95AB-92AFEC3486B7}" dt="2025-03-17T03:10:14.165" v="3389" actId="20577"/>
        <pc:sldMkLst>
          <pc:docMk/>
          <pc:sldMk cId="482933426" sldId="2147475077"/>
        </pc:sldMkLst>
        <pc:graphicFrameChg chg="mod modGraphic">
          <ac:chgData name="Cheng,Dr.,Jian (HP Medicine) BII-CN-S" userId="d9d9ab5e-0a2e-432c-8dff-aab51240f610" providerId="ADAL" clId="{0A3321E9-D715-4A2C-95AB-92AFEC3486B7}" dt="2025-03-17T03:10:14.165" v="3389" actId="20577"/>
          <ac:graphicFrameMkLst>
            <pc:docMk/>
            <pc:sldMk cId="482933426" sldId="2147475077"/>
            <ac:graphicFrameMk id="3" creationId="{E8D60687-F332-2DAC-8D47-261F670D5C3F}"/>
          </ac:graphicFrameMkLst>
        </pc:graphicFrameChg>
      </pc:sldChg>
    </pc:docChg>
  </pc:docChgLst>
  <pc:docChgLst>
    <pc:chgData name="Shi,Henry (HP Medicine) BII-CN-S" userId="S::henry.shi@boehringer-ingelheim.com::a829987e-fa81-4d5f-a3de-09e3e033d955" providerId="AD" clId="Web-{0C84C461-7F84-DE2F-C6B3-845180AFBC73}"/>
    <pc:docChg chg="modSld">
      <pc:chgData name="Shi,Henry (HP Medicine) BII-CN-S" userId="S::henry.shi@boehringer-ingelheim.com::a829987e-fa81-4d5f-a3de-09e3e033d955" providerId="AD" clId="Web-{0C84C461-7F84-DE2F-C6B3-845180AFBC73}" dt="2025-05-12T07:27:10.416" v="47" actId="20577"/>
      <pc:docMkLst>
        <pc:docMk/>
      </pc:docMkLst>
      <pc:sldChg chg="modSp">
        <pc:chgData name="Shi,Henry (HP Medicine) BII-CN-S" userId="S::henry.shi@boehringer-ingelheim.com::a829987e-fa81-4d5f-a3de-09e3e033d955" providerId="AD" clId="Web-{0C84C461-7F84-DE2F-C6B3-845180AFBC73}" dt="2025-05-12T07:27:10.416" v="47" actId="20577"/>
        <pc:sldMkLst>
          <pc:docMk/>
          <pc:sldMk cId="2034294607" sldId="259"/>
        </pc:sldMkLst>
        <pc:spChg chg="mod">
          <ac:chgData name="Shi,Henry (HP Medicine) BII-CN-S" userId="S::henry.shi@boehringer-ingelheim.com::a829987e-fa81-4d5f-a3de-09e3e033d955" providerId="AD" clId="Web-{0C84C461-7F84-DE2F-C6B3-845180AFBC73}" dt="2025-05-12T07:27:10.416" v="47" actId="20577"/>
          <ac:spMkLst>
            <pc:docMk/>
            <pc:sldMk cId="2034294607" sldId="259"/>
            <ac:spMk id="8" creationId="{8DD530DC-D2B0-3D4D-B53D-1E713E3CD7A1}"/>
          </ac:spMkLst>
        </pc:spChg>
      </pc:sldChg>
      <pc:sldChg chg="modSp">
        <pc:chgData name="Shi,Henry (HP Medicine) BII-CN-S" userId="S::henry.shi@boehringer-ingelheim.com::a829987e-fa81-4d5f-a3de-09e3e033d955" providerId="AD" clId="Web-{0C84C461-7F84-DE2F-C6B3-845180AFBC73}" dt="2025-05-12T07:26:14.052" v="38"/>
        <pc:sldMkLst>
          <pc:docMk/>
          <pc:sldMk cId="884907692" sldId="2147475075"/>
        </pc:sldMkLst>
        <pc:graphicFrameChg chg="mod modGraphic">
          <ac:chgData name="Shi,Henry (HP Medicine) BII-CN-S" userId="S::henry.shi@boehringer-ingelheim.com::a829987e-fa81-4d5f-a3de-09e3e033d955" providerId="AD" clId="Web-{0C84C461-7F84-DE2F-C6B3-845180AFBC73}" dt="2025-05-12T07:26:14.052" v="38"/>
          <ac:graphicFrameMkLst>
            <pc:docMk/>
            <pc:sldMk cId="884907692" sldId="2147475075"/>
            <ac:graphicFrameMk id="6" creationId="{99E71C16-9E1E-F011-B398-2DD75D956D8F}"/>
          </ac:graphicFrameMkLst>
        </pc:graphicFrameChg>
      </pc:sldChg>
    </pc:docChg>
  </pc:docChgLst>
  <pc:docChgLst>
    <pc:chgData name="Wang,Dr.,Bo (HP Medicine) BII-CN-S" userId="950b8564-41e4-4a68-9f11-e3d2e116a359" providerId="ADAL" clId="{822B6086-7EED-4F71-A087-469E69C1B3B2}"/>
    <pc:docChg chg="undo custSel modSld">
      <pc:chgData name="Wang,Dr.,Bo (HP Medicine) BII-CN-S" userId="950b8564-41e4-4a68-9f11-e3d2e116a359" providerId="ADAL" clId="{822B6086-7EED-4F71-A087-469E69C1B3B2}" dt="2025-03-17T03:13:57.692" v="1068" actId="20577"/>
      <pc:docMkLst>
        <pc:docMk/>
      </pc:docMkLst>
      <pc:sldChg chg="modSp mod addCm delCm modCm">
        <pc:chgData name="Wang,Dr.,Bo (HP Medicine) BII-CN-S" userId="950b8564-41e4-4a68-9f11-e3d2e116a359" providerId="ADAL" clId="{822B6086-7EED-4F71-A087-469E69C1B3B2}" dt="2025-03-17T03:13:57.692" v="1068" actId="20577"/>
        <pc:sldMkLst>
          <pc:docMk/>
          <pc:sldMk cId="2034294607" sldId="259"/>
        </pc:sldMkLst>
        <pc:spChg chg="mod">
          <ac:chgData name="Wang,Dr.,Bo (HP Medicine) BII-CN-S" userId="950b8564-41e4-4a68-9f11-e3d2e116a359" providerId="ADAL" clId="{822B6086-7EED-4F71-A087-469E69C1B3B2}" dt="2025-03-17T03:13:57.692" v="1068" actId="20577"/>
          <ac:spMkLst>
            <pc:docMk/>
            <pc:sldMk cId="2034294607" sldId="259"/>
            <ac:spMk id="8" creationId="{8DD530DC-D2B0-3D4D-B53D-1E713E3CD7A1}"/>
          </ac:spMkLst>
        </pc:spChg>
      </pc:sldChg>
      <pc:sldChg chg="modSp mod addCm">
        <pc:chgData name="Wang,Dr.,Bo (HP Medicine) BII-CN-S" userId="950b8564-41e4-4a68-9f11-e3d2e116a359" providerId="ADAL" clId="{822B6086-7EED-4F71-A087-469E69C1B3B2}" dt="2025-03-15T12:49:27.396" v="928" actId="20577"/>
        <pc:sldMkLst>
          <pc:docMk/>
          <pc:sldMk cId="884907692" sldId="2147475075"/>
        </pc:sldMkLst>
        <pc:graphicFrameChg chg="mod modGraphic">
          <ac:chgData name="Wang,Dr.,Bo (HP Medicine) BII-CN-S" userId="950b8564-41e4-4a68-9f11-e3d2e116a359" providerId="ADAL" clId="{822B6086-7EED-4F71-A087-469E69C1B3B2}" dt="2025-03-15T12:49:27.396" v="928" actId="20577"/>
          <ac:graphicFrameMkLst>
            <pc:docMk/>
            <pc:sldMk cId="884907692" sldId="2147475075"/>
            <ac:graphicFrameMk id="6" creationId="{99E71C16-9E1E-F011-B398-2DD75D956D8F}"/>
          </ac:graphicFrameMkLst>
        </pc:graphicFrameChg>
      </pc:sldChg>
      <pc:sldChg chg="addSp modSp mod addCm modCm">
        <pc:chgData name="Wang,Dr.,Bo (HP Medicine) BII-CN-S" userId="950b8564-41e4-4a68-9f11-e3d2e116a359" providerId="ADAL" clId="{822B6086-7EED-4F71-A087-469E69C1B3B2}" dt="2025-03-14T08:11:47.015" v="4"/>
        <pc:sldMkLst>
          <pc:docMk/>
          <pc:sldMk cId="2160667392" sldId="2147482991"/>
        </pc:sldMkLst>
      </pc:sldChg>
    </pc:docChg>
  </pc:docChgLst>
  <pc:docChgLst>
    <pc:chgData name="Xu,Lindsay (HP Medicine) BII-CN-S" userId="80a8f60d-1654-4b86-b932-46a0c01eb59c" providerId="ADAL" clId="{1FCBB20E-E56F-4E92-A852-715A4DC799C1}"/>
    <pc:docChg chg="custSel modSld">
      <pc:chgData name="Xu,Lindsay (HP Medicine) BII-CN-S" userId="80a8f60d-1654-4b86-b932-46a0c01eb59c" providerId="ADAL" clId="{1FCBB20E-E56F-4E92-A852-715A4DC799C1}" dt="2025-03-14T13:38:02.995" v="43" actId="1589"/>
      <pc:docMkLst>
        <pc:docMk/>
      </pc:docMkLst>
      <pc:sldChg chg="modSp mod addCm delCm modCm">
        <pc:chgData name="Xu,Lindsay (HP Medicine) BII-CN-S" userId="80a8f60d-1654-4b86-b932-46a0c01eb59c" providerId="ADAL" clId="{1FCBB20E-E56F-4E92-A852-715A4DC799C1}" dt="2025-03-14T13:38:02.995" v="43" actId="1589"/>
        <pc:sldMkLst>
          <pc:docMk/>
          <pc:sldMk cId="2034294607" sldId="259"/>
        </pc:sldMkLst>
        <pc:spChg chg="mod">
          <ac:chgData name="Xu,Lindsay (HP Medicine) BII-CN-S" userId="80a8f60d-1654-4b86-b932-46a0c01eb59c" providerId="ADAL" clId="{1FCBB20E-E56F-4E92-A852-715A4DC799C1}" dt="2025-03-14T13:36:25.453" v="39" actId="20577"/>
          <ac:spMkLst>
            <pc:docMk/>
            <pc:sldMk cId="2034294607" sldId="259"/>
            <ac:spMk id="8" creationId="{8DD530DC-D2B0-3D4D-B53D-1E713E3CD7A1}"/>
          </ac:spMkLst>
        </pc:spChg>
      </pc:sldChg>
    </pc:docChg>
  </pc:docChgLst>
  <pc:docChgLst>
    <pc:chgData name="Shi,Henry (HP Medicine) BII-CN-S" userId="a829987e-fa81-4d5f-a3de-09e3e033d955" providerId="ADAL" clId="{62EF9992-B162-4B7C-931D-70C63A2014A0}"/>
    <pc:docChg chg="custSel modSld">
      <pc:chgData name="Shi,Henry (HP Medicine) BII-CN-S" userId="a829987e-fa81-4d5f-a3de-09e3e033d955" providerId="ADAL" clId="{62EF9992-B162-4B7C-931D-70C63A2014A0}" dt="2025-03-14T02:10:10.438" v="51" actId="14734"/>
      <pc:docMkLst>
        <pc:docMk/>
      </pc:docMkLst>
      <pc:sldChg chg="modSp mod addCm">
        <pc:chgData name="Shi,Henry (HP Medicine) BII-CN-S" userId="a829987e-fa81-4d5f-a3de-09e3e033d955" providerId="ADAL" clId="{62EF9992-B162-4B7C-931D-70C63A2014A0}" dt="2025-03-14T02:10:10.438" v="51" actId="14734"/>
        <pc:sldMkLst>
          <pc:docMk/>
          <pc:sldMk cId="884907692" sldId="2147475075"/>
        </pc:sldMkLst>
        <pc:graphicFrameChg chg="mod modGraphic">
          <ac:chgData name="Shi,Henry (HP Medicine) BII-CN-S" userId="a829987e-fa81-4d5f-a3de-09e3e033d955" providerId="ADAL" clId="{62EF9992-B162-4B7C-931D-70C63A2014A0}" dt="2025-03-14T02:10:10.438" v="51" actId="14734"/>
          <ac:graphicFrameMkLst>
            <pc:docMk/>
            <pc:sldMk cId="884907692" sldId="2147475075"/>
            <ac:graphicFrameMk id="6" creationId="{99E71C16-9E1E-F011-B398-2DD75D956D8F}"/>
          </ac:graphicFrameMkLst>
        </pc:graphicFrameChg>
      </pc:sldChg>
    </pc:docChg>
  </pc:docChgLst>
  <pc:docChgLst>
    <pc:chgData name="Chen,Dr.,Ying (HP Medicine) BII-CN-S" userId="7c019f49-0ee9-4787-9ac5-a11d3b82d6d2" providerId="ADAL" clId="{0797FA8B-38CD-4AF7-B791-2A0D46C6CA28}"/>
    <pc:docChg chg="custSel modSld">
      <pc:chgData name="Chen,Dr.,Ying (HP Medicine) BII-CN-S" userId="7c019f49-0ee9-4787-9ac5-a11d3b82d6d2" providerId="ADAL" clId="{0797FA8B-38CD-4AF7-B791-2A0D46C6CA28}" dt="2025-05-13T01:30:02.046" v="113" actId="6549"/>
      <pc:docMkLst>
        <pc:docMk/>
      </pc:docMkLst>
      <pc:sldChg chg="modSp mod">
        <pc:chgData name="Chen,Dr.,Ying (HP Medicine) BII-CN-S" userId="7c019f49-0ee9-4787-9ac5-a11d3b82d6d2" providerId="ADAL" clId="{0797FA8B-38CD-4AF7-B791-2A0D46C6CA28}" dt="2025-05-13T01:30:02.046" v="113" actId="6549"/>
        <pc:sldMkLst>
          <pc:docMk/>
          <pc:sldMk cId="884907692" sldId="2147475075"/>
        </pc:sldMkLst>
        <pc:graphicFrameChg chg="mod modGraphic">
          <ac:chgData name="Chen,Dr.,Ying (HP Medicine) BII-CN-S" userId="7c019f49-0ee9-4787-9ac5-a11d3b82d6d2" providerId="ADAL" clId="{0797FA8B-38CD-4AF7-B791-2A0D46C6CA28}" dt="2025-05-13T01:30:02.046" v="113" actId="6549"/>
          <ac:graphicFrameMkLst>
            <pc:docMk/>
            <pc:sldMk cId="884907692" sldId="2147475075"/>
            <ac:graphicFrameMk id="6" creationId="{99E71C16-9E1E-F011-B398-2DD75D956D8F}"/>
          </ac:graphicFrameMkLst>
        </pc:graphicFrameChg>
      </pc:sldChg>
      <pc:sldChg chg="modCm">
        <pc:chgData name="Chen,Dr.,Ying (HP Medicine) BII-CN-S" userId="7c019f49-0ee9-4787-9ac5-a11d3b82d6d2" providerId="ADAL" clId="{0797FA8B-38CD-4AF7-B791-2A0D46C6CA28}" dt="2025-05-13T01:26:30.264" v="0"/>
        <pc:sldMkLst>
          <pc:docMk/>
          <pc:sldMk cId="3617207298" sldId="2147483478"/>
        </pc:sldMkLst>
      </pc:sldChg>
    </pc:docChg>
  </pc:docChgLst>
  <pc:docChgLst>
    <pc:chgData name="Shi,Henry (HP Medicine) BII-CN-S" userId="S::henry.shi@boehringer-ingelheim.com::a829987e-fa81-4d5f-a3de-09e3e033d955" providerId="AD" clId="Web-{7C73179F-A165-8CFE-6D75-E67AAE9FAF46}"/>
    <pc:docChg chg="modSld">
      <pc:chgData name="Shi,Henry (HP Medicine) BII-CN-S" userId="S::henry.shi@boehringer-ingelheim.com::a829987e-fa81-4d5f-a3de-09e3e033d955" providerId="AD" clId="Web-{7C73179F-A165-8CFE-6D75-E67AAE9FAF46}" dt="2025-05-13T02:28:02.720" v="2" actId="20577"/>
      <pc:docMkLst>
        <pc:docMk/>
      </pc:docMkLst>
      <pc:sldChg chg="modSp">
        <pc:chgData name="Shi,Henry (HP Medicine) BII-CN-S" userId="S::henry.shi@boehringer-ingelheim.com::a829987e-fa81-4d5f-a3de-09e3e033d955" providerId="AD" clId="Web-{7C73179F-A165-8CFE-6D75-E67AAE9FAF46}" dt="2025-05-13T02:28:02.720" v="2" actId="20577"/>
        <pc:sldMkLst>
          <pc:docMk/>
          <pc:sldMk cId="2034294607" sldId="259"/>
        </pc:sldMkLst>
        <pc:spChg chg="mod">
          <ac:chgData name="Shi,Henry (HP Medicine) BII-CN-S" userId="S::henry.shi@boehringer-ingelheim.com::a829987e-fa81-4d5f-a3de-09e3e033d955" providerId="AD" clId="Web-{7C73179F-A165-8CFE-6D75-E67AAE9FAF46}" dt="2025-05-13T02:28:02.720" v="2" actId="20577"/>
          <ac:spMkLst>
            <pc:docMk/>
            <pc:sldMk cId="2034294607" sldId="259"/>
            <ac:spMk id="8" creationId="{8DD530DC-D2B0-3D4D-B53D-1E713E3CD7A1}"/>
          </ac:spMkLst>
        </pc:spChg>
      </pc:sldChg>
    </pc:docChg>
  </pc:docChgLst>
  <pc:docChgLst>
    <pc:chgData name="Sun,Dr.,Alex (HP Medicine) BII-CN-S" userId="4719f32c-0e69-47bd-a472-8593e5571da4" providerId="ADAL" clId="{84570684-AEF0-434F-8CFF-580C6D2A1CDD}"/>
    <pc:docChg chg="modSld">
      <pc:chgData name="Sun,Dr.,Alex (HP Medicine) BII-CN-S" userId="4719f32c-0e69-47bd-a472-8593e5571da4" providerId="ADAL" clId="{84570684-AEF0-434F-8CFF-580C6D2A1CDD}" dt="2025-05-12T08:22:11.440" v="239" actId="20577"/>
      <pc:docMkLst>
        <pc:docMk/>
      </pc:docMkLst>
      <pc:sldChg chg="modSp mod">
        <pc:chgData name="Sun,Dr.,Alex (HP Medicine) BII-CN-S" userId="4719f32c-0e69-47bd-a472-8593e5571da4" providerId="ADAL" clId="{84570684-AEF0-434F-8CFF-580C6D2A1CDD}" dt="2025-05-12T08:22:11.440" v="239" actId="20577"/>
        <pc:sldMkLst>
          <pc:docMk/>
          <pc:sldMk cId="3778496755" sldId="2147483476"/>
        </pc:sldMkLst>
        <pc:graphicFrameChg chg="mod modGraphic">
          <ac:chgData name="Sun,Dr.,Alex (HP Medicine) BII-CN-S" userId="4719f32c-0e69-47bd-a472-8593e5571da4" providerId="ADAL" clId="{84570684-AEF0-434F-8CFF-580C6D2A1CDD}" dt="2025-05-12T08:22:11.440" v="239" actId="20577"/>
          <ac:graphicFrameMkLst>
            <pc:docMk/>
            <pc:sldMk cId="3778496755" sldId="2147483476"/>
            <ac:graphicFrameMk id="6" creationId="{99E71C16-9E1E-F011-B398-2DD75D956D8F}"/>
          </ac:graphicFrameMkLst>
        </pc:graphicFrameChg>
      </pc:sldChg>
    </pc:docChg>
  </pc:docChgLst>
  <pc:docChgLst>
    <pc:chgData name="Tao,Helen (HP Medicine) BII-CN-S" userId="35187e18-a979-452a-a00a-a6d2f11c820c" providerId="ADAL" clId="{F4596E42-EC99-4CD7-BC54-D27932432956}"/>
    <pc:docChg chg="custSel addSld delSld modSld">
      <pc:chgData name="Tao,Helen (HP Medicine) BII-CN-S" userId="35187e18-a979-452a-a00a-a6d2f11c820c" providerId="ADAL" clId="{F4596E42-EC99-4CD7-BC54-D27932432956}" dt="2025-05-15T00:32:49.322" v="454" actId="20577"/>
      <pc:docMkLst>
        <pc:docMk/>
      </pc:docMkLst>
      <pc:sldChg chg="modSp mod">
        <pc:chgData name="Tao,Helen (HP Medicine) BII-CN-S" userId="35187e18-a979-452a-a00a-a6d2f11c820c" providerId="ADAL" clId="{F4596E42-EC99-4CD7-BC54-D27932432956}" dt="2025-05-15T00:32:49.322" v="454" actId="20577"/>
        <pc:sldMkLst>
          <pc:docMk/>
          <pc:sldMk cId="2034294607" sldId="259"/>
        </pc:sldMkLst>
        <pc:spChg chg="mod">
          <ac:chgData name="Tao,Helen (HP Medicine) BII-CN-S" userId="35187e18-a979-452a-a00a-a6d2f11c820c" providerId="ADAL" clId="{F4596E42-EC99-4CD7-BC54-D27932432956}" dt="2025-05-15T00:32:49.322" v="454" actId="20577"/>
          <ac:spMkLst>
            <pc:docMk/>
            <pc:sldMk cId="2034294607" sldId="259"/>
            <ac:spMk id="8" creationId="{8DD530DC-D2B0-3D4D-B53D-1E713E3CD7A1}"/>
          </ac:spMkLst>
        </pc:spChg>
      </pc:sldChg>
      <pc:sldChg chg="del">
        <pc:chgData name="Tao,Helen (HP Medicine) BII-CN-S" userId="35187e18-a979-452a-a00a-a6d2f11c820c" providerId="ADAL" clId="{F4596E42-EC99-4CD7-BC54-D27932432956}" dt="2025-05-14T15:16:40.911" v="12" actId="47"/>
        <pc:sldMkLst>
          <pc:docMk/>
          <pc:sldMk cId="2666302336" sldId="262"/>
        </pc:sldMkLst>
      </pc:sldChg>
      <pc:sldChg chg="add del">
        <pc:chgData name="Tao,Helen (HP Medicine) BII-CN-S" userId="35187e18-a979-452a-a00a-a6d2f11c820c" providerId="ADAL" clId="{F4596E42-EC99-4CD7-BC54-D27932432956}" dt="2025-05-14T15:16:25.884" v="11"/>
        <pc:sldMkLst>
          <pc:docMk/>
          <pc:sldMk cId="3949348881" sldId="274"/>
        </pc:sldMkLst>
      </pc:sldChg>
      <pc:sldChg chg="add">
        <pc:chgData name="Tao,Helen (HP Medicine) BII-CN-S" userId="35187e18-a979-452a-a00a-a6d2f11c820c" providerId="ADAL" clId="{F4596E42-EC99-4CD7-BC54-D27932432956}" dt="2025-05-14T13:37:28.080" v="7"/>
        <pc:sldMkLst>
          <pc:docMk/>
          <pc:sldMk cId="2279087609" sldId="279"/>
        </pc:sldMkLst>
      </pc:sldChg>
      <pc:sldChg chg="add mod modShow">
        <pc:chgData name="Tao,Helen (HP Medicine) BII-CN-S" userId="35187e18-a979-452a-a00a-a6d2f11c820c" providerId="ADAL" clId="{F4596E42-EC99-4CD7-BC54-D27932432956}" dt="2025-05-14T13:41:31.654" v="9" actId="729"/>
        <pc:sldMkLst>
          <pc:docMk/>
          <pc:sldMk cId="4149748735" sldId="281"/>
        </pc:sldMkLst>
      </pc:sldChg>
      <pc:sldChg chg="modSp add mod">
        <pc:chgData name="Tao,Helen (HP Medicine) BII-CN-S" userId="35187e18-a979-452a-a00a-a6d2f11c820c" providerId="ADAL" clId="{F4596E42-EC99-4CD7-BC54-D27932432956}" dt="2025-05-14T15:18:28.947" v="17" actId="20577"/>
        <pc:sldMkLst>
          <pc:docMk/>
          <pc:sldMk cId="1137648736" sldId="330"/>
        </pc:sldMkLst>
        <pc:graphicFrameChg chg="modGraphic">
          <ac:chgData name="Tao,Helen (HP Medicine) BII-CN-S" userId="35187e18-a979-452a-a00a-a6d2f11c820c" providerId="ADAL" clId="{F4596E42-EC99-4CD7-BC54-D27932432956}" dt="2025-05-14T15:18:28.947" v="17" actId="20577"/>
          <ac:graphicFrameMkLst>
            <pc:docMk/>
            <pc:sldMk cId="1137648736" sldId="330"/>
            <ac:graphicFrameMk id="7" creationId="{96EAB098-614E-649B-C99C-8111837B67D4}"/>
          </ac:graphicFrameMkLst>
        </pc:graphicFrameChg>
      </pc:sldChg>
      <pc:sldChg chg="add">
        <pc:chgData name="Tao,Helen (HP Medicine) BII-CN-S" userId="35187e18-a979-452a-a00a-a6d2f11c820c" providerId="ADAL" clId="{F4596E42-EC99-4CD7-BC54-D27932432956}" dt="2025-05-14T13:37:28.080" v="7"/>
        <pc:sldMkLst>
          <pc:docMk/>
          <pc:sldMk cId="780708650" sldId="2145705928"/>
        </pc:sldMkLst>
      </pc:sldChg>
      <pc:sldChg chg="modSp new mod">
        <pc:chgData name="Tao,Helen (HP Medicine) BII-CN-S" userId="35187e18-a979-452a-a00a-a6d2f11c820c" providerId="ADAL" clId="{F4596E42-EC99-4CD7-BC54-D27932432956}" dt="2025-05-14T13:36:53.414" v="6" actId="20577"/>
        <pc:sldMkLst>
          <pc:docMk/>
          <pc:sldMk cId="1193574238" sldId="2147483479"/>
        </pc:sldMkLst>
        <pc:spChg chg="mod">
          <ac:chgData name="Tao,Helen (HP Medicine) BII-CN-S" userId="35187e18-a979-452a-a00a-a6d2f11c820c" providerId="ADAL" clId="{F4596E42-EC99-4CD7-BC54-D27932432956}" dt="2025-05-14T13:36:53.414" v="6" actId="20577"/>
          <ac:spMkLst>
            <pc:docMk/>
            <pc:sldMk cId="1193574238" sldId="2147483479"/>
            <ac:spMk id="2" creationId="{5C1AF3A4-60F8-5EF3-FBAB-D3CA00DABC56}"/>
          </ac:spMkLst>
        </pc:spChg>
      </pc:sldChg>
      <pc:sldChg chg="add">
        <pc:chgData name="Tao,Helen (HP Medicine) BII-CN-S" userId="35187e18-a979-452a-a00a-a6d2f11c820c" providerId="ADAL" clId="{F4596E42-EC99-4CD7-BC54-D27932432956}" dt="2025-05-14T13:37:28.080" v="7"/>
        <pc:sldMkLst>
          <pc:docMk/>
          <pc:sldMk cId="1338069001" sldId="2147483601"/>
        </pc:sldMkLst>
      </pc:sldChg>
    </pc:docChg>
  </pc:docChgLst>
  <pc:docChgLst>
    <pc:chgData name="Kind,Saskia (HP Medicine) BII-CN-S" userId="14424b57-ed60-4e43-9702-4cbb8465d621" providerId="ADAL" clId="{2A0F943A-7CF2-4E0E-9FB6-D34D8A62CB83}"/>
    <pc:docChg chg="addSld delSld modSld">
      <pc:chgData name="Kind,Saskia (HP Medicine) BII-CN-S" userId="14424b57-ed60-4e43-9702-4cbb8465d621" providerId="ADAL" clId="{2A0F943A-7CF2-4E0E-9FB6-D34D8A62CB83}" dt="2025-05-14T09:17:02.451" v="5" actId="47"/>
      <pc:docMkLst>
        <pc:docMk/>
      </pc:docMkLst>
      <pc:sldChg chg="mod modShow">
        <pc:chgData name="Kind,Saskia (HP Medicine) BII-CN-S" userId="14424b57-ed60-4e43-9702-4cbb8465d621" providerId="ADAL" clId="{2A0F943A-7CF2-4E0E-9FB6-D34D8A62CB83}" dt="2025-05-14T09:15:32.597" v="3" actId="729"/>
        <pc:sldMkLst>
          <pc:docMk/>
          <pc:sldMk cId="2666302336" sldId="262"/>
        </pc:sldMkLst>
      </pc:sldChg>
      <pc:sldChg chg="mod modShow">
        <pc:chgData name="Kind,Saskia (HP Medicine) BII-CN-S" userId="14424b57-ed60-4e43-9702-4cbb8465d621" providerId="ADAL" clId="{2A0F943A-7CF2-4E0E-9FB6-D34D8A62CB83}" dt="2025-05-14T09:15:30.508" v="2" actId="729"/>
        <pc:sldMkLst>
          <pc:docMk/>
          <pc:sldMk cId="3949348881" sldId="274"/>
        </pc:sldMkLst>
      </pc:sldChg>
      <pc:sldChg chg="del">
        <pc:chgData name="Kind,Saskia (HP Medicine) BII-CN-S" userId="14424b57-ed60-4e43-9702-4cbb8465d621" providerId="ADAL" clId="{2A0F943A-7CF2-4E0E-9FB6-D34D8A62CB83}" dt="2025-05-14T09:17:02.451" v="5" actId="47"/>
        <pc:sldMkLst>
          <pc:docMk/>
          <pc:sldMk cId="263706901" sldId="324"/>
        </pc:sldMkLst>
      </pc:sldChg>
      <pc:sldChg chg="add">
        <pc:chgData name="Kind,Saskia (HP Medicine) BII-CN-S" userId="14424b57-ed60-4e43-9702-4cbb8465d621" providerId="ADAL" clId="{2A0F943A-7CF2-4E0E-9FB6-D34D8A62CB83}" dt="2025-05-14T09:14:36.483" v="0"/>
        <pc:sldMkLst>
          <pc:docMk/>
          <pc:sldMk cId="209256774" sldId="2147483477"/>
        </pc:sldMkLst>
      </pc:sldChg>
      <pc:sldChg chg="add">
        <pc:chgData name="Kind,Saskia (HP Medicine) BII-CN-S" userId="14424b57-ed60-4e43-9702-4cbb8465d621" providerId="ADAL" clId="{2A0F943A-7CF2-4E0E-9FB6-D34D8A62CB83}" dt="2025-05-14T09:16:53.912" v="4"/>
        <pc:sldMkLst>
          <pc:docMk/>
          <pc:sldMk cId="3519293111" sldId="2147483478"/>
        </pc:sldMkLst>
      </pc:sldChg>
      <pc:sldChg chg="del">
        <pc:chgData name="Kind,Saskia (HP Medicine) BII-CN-S" userId="14424b57-ed60-4e43-9702-4cbb8465d621" providerId="ADAL" clId="{2A0F943A-7CF2-4E0E-9FB6-D34D8A62CB83}" dt="2025-05-14T09:14:39.667" v="1" actId="47"/>
        <pc:sldMkLst>
          <pc:docMk/>
          <pc:sldMk cId="3617207298" sldId="2147483478"/>
        </pc:sldMkLst>
      </pc:sldChg>
    </pc:docChg>
  </pc:docChgLst>
  <pc:docChgLst>
    <pc:chgData name="Shi,Henry (HP Medicine) BII-CN-S" userId="S::henry.shi@boehringer-ingelheim.com::a829987e-fa81-4d5f-a3de-09e3e033d955" providerId="AD" clId="Web-{D35538D3-64AF-D300-3B67-DD6DBCC70A7A}"/>
    <pc:docChg chg="modSld">
      <pc:chgData name="Shi,Henry (HP Medicine) BII-CN-S" userId="S::henry.shi@boehringer-ingelheim.com::a829987e-fa81-4d5f-a3de-09e3e033d955" providerId="AD" clId="Web-{D35538D3-64AF-D300-3B67-DD6DBCC70A7A}" dt="2025-03-14T06:47:27.177" v="181" actId="14100"/>
      <pc:docMkLst>
        <pc:docMk/>
      </pc:docMkLst>
      <pc:sldChg chg="modSp">
        <pc:chgData name="Shi,Henry (HP Medicine) BII-CN-S" userId="S::henry.shi@boehringer-ingelheim.com::a829987e-fa81-4d5f-a3de-09e3e033d955" providerId="AD" clId="Web-{D35538D3-64AF-D300-3B67-DD6DBCC70A7A}" dt="2025-03-14T06:47:27.177" v="181" actId="14100"/>
        <pc:sldMkLst>
          <pc:docMk/>
          <pc:sldMk cId="2034294607" sldId="259"/>
        </pc:sldMkLst>
        <pc:spChg chg="mod">
          <ac:chgData name="Shi,Henry (HP Medicine) BII-CN-S" userId="S::henry.shi@boehringer-ingelheim.com::a829987e-fa81-4d5f-a3de-09e3e033d955" providerId="AD" clId="Web-{D35538D3-64AF-D300-3B67-DD6DBCC70A7A}" dt="2025-03-14T06:47:27.177" v="181" actId="14100"/>
          <ac:spMkLst>
            <pc:docMk/>
            <pc:sldMk cId="2034294607" sldId="259"/>
            <ac:spMk id="8" creationId="{8DD530DC-D2B0-3D4D-B53D-1E713E3CD7A1}"/>
          </ac:spMkLst>
        </pc:spChg>
      </pc:sldChg>
    </pc:docChg>
  </pc:docChgLst>
  <pc:docChgLst>
    <pc:chgData name="Kind,Saskia (HP Medicine) BII-CN-S" userId="14424b57-ed60-4e43-9702-4cbb8465d621" providerId="ADAL" clId="{1FD4F9AB-3E36-42E7-8567-69F296565F91}"/>
    <pc:docChg chg="undo redo custSel addSld delSld modSld sldOrd">
      <pc:chgData name="Kind,Saskia (HP Medicine) BII-CN-S" userId="14424b57-ed60-4e43-9702-4cbb8465d621" providerId="ADAL" clId="{1FD4F9AB-3E36-42E7-8567-69F296565F91}" dt="2025-03-17T04:36:03.096" v="967" actId="26606"/>
      <pc:docMkLst>
        <pc:docMk/>
      </pc:docMkLst>
      <pc:sldChg chg="addSp delSp modSp mod ord modShow addCm delCm modCm">
        <pc:chgData name="Kind,Saskia (HP Medicine) BII-CN-S" userId="14424b57-ed60-4e43-9702-4cbb8465d621" providerId="ADAL" clId="{1FD4F9AB-3E36-42E7-8567-69F296565F91}" dt="2025-03-17T04:20:33.102" v="731" actId="12"/>
        <pc:sldMkLst>
          <pc:docMk/>
          <pc:sldMk cId="2034294607" sldId="259"/>
        </pc:sldMkLst>
        <pc:spChg chg="mod">
          <ac:chgData name="Kind,Saskia (HP Medicine) BII-CN-S" userId="14424b57-ed60-4e43-9702-4cbb8465d621" providerId="ADAL" clId="{1FD4F9AB-3E36-42E7-8567-69F296565F91}" dt="2025-03-17T03:06:26.980" v="364" actId="13926"/>
          <ac:spMkLst>
            <pc:docMk/>
            <pc:sldMk cId="2034294607" sldId="259"/>
            <ac:spMk id="2" creationId="{B51B23D5-5751-EEED-5659-9E2A4F368BEE}"/>
          </ac:spMkLst>
        </pc:spChg>
        <pc:spChg chg="mod">
          <ac:chgData name="Kind,Saskia (HP Medicine) BII-CN-S" userId="14424b57-ed60-4e43-9702-4cbb8465d621" providerId="ADAL" clId="{1FD4F9AB-3E36-42E7-8567-69F296565F91}" dt="2025-03-17T04:20:33.102" v="731" actId="12"/>
          <ac:spMkLst>
            <pc:docMk/>
            <pc:sldMk cId="2034294607" sldId="259"/>
            <ac:spMk id="8" creationId="{8DD530DC-D2B0-3D4D-B53D-1E713E3CD7A1}"/>
          </ac:spMkLst>
        </pc:spChg>
      </pc:sldChg>
      <pc:sldChg chg="modSp mod">
        <pc:chgData name="Kind,Saskia (HP Medicine) BII-CN-S" userId="14424b57-ed60-4e43-9702-4cbb8465d621" providerId="ADAL" clId="{1FD4F9AB-3E36-42E7-8567-69F296565F91}" dt="2025-03-17T03:40:11.662" v="402" actId="20577"/>
        <pc:sldMkLst>
          <pc:docMk/>
          <pc:sldMk cId="1922158299" sldId="9848"/>
        </pc:sldMkLst>
        <pc:spChg chg="mod">
          <ac:chgData name="Kind,Saskia (HP Medicine) BII-CN-S" userId="14424b57-ed60-4e43-9702-4cbb8465d621" providerId="ADAL" clId="{1FD4F9AB-3E36-42E7-8567-69F296565F91}" dt="2025-03-17T03:40:11.662" v="402" actId="20577"/>
          <ac:spMkLst>
            <pc:docMk/>
            <pc:sldMk cId="1922158299" sldId="9848"/>
            <ac:spMk id="3" creationId="{692796CB-E2C8-8508-DF5A-FC10693F0AFB}"/>
          </ac:spMkLst>
        </pc:spChg>
      </pc:sldChg>
      <pc:sldChg chg="addSp delSp modSp mod addCm delCm modCm">
        <pc:chgData name="Kind,Saskia (HP Medicine) BII-CN-S" userId="14424b57-ed60-4e43-9702-4cbb8465d621" providerId="ADAL" clId="{1FD4F9AB-3E36-42E7-8567-69F296565F91}" dt="2025-03-17T04:21:48.899" v="740" actId="1076"/>
        <pc:sldMkLst>
          <pc:docMk/>
          <pc:sldMk cId="884907692" sldId="2147475075"/>
        </pc:sldMkLst>
        <pc:spChg chg="mod">
          <ac:chgData name="Kind,Saskia (HP Medicine) BII-CN-S" userId="14424b57-ed60-4e43-9702-4cbb8465d621" providerId="ADAL" clId="{1FD4F9AB-3E36-42E7-8567-69F296565F91}" dt="2025-03-17T02:50:44.983" v="341" actId="20577"/>
          <ac:spMkLst>
            <pc:docMk/>
            <pc:sldMk cId="884907692" sldId="2147475075"/>
            <ac:spMk id="2" creationId="{1981918F-D4B9-CB22-8347-C74577AED3F9}"/>
          </ac:spMkLst>
        </pc:spChg>
        <pc:spChg chg="mod">
          <ac:chgData name="Kind,Saskia (HP Medicine) BII-CN-S" userId="14424b57-ed60-4e43-9702-4cbb8465d621" providerId="ADAL" clId="{1FD4F9AB-3E36-42E7-8567-69F296565F91}" dt="2025-03-17T02:53:43.172" v="348" actId="1076"/>
          <ac:spMkLst>
            <pc:docMk/>
            <pc:sldMk cId="884907692" sldId="2147475075"/>
            <ac:spMk id="15" creationId="{AD24EA83-55FC-E172-215D-4DBBBE4A3869}"/>
          </ac:spMkLst>
        </pc:spChg>
        <pc:spChg chg="mod">
          <ac:chgData name="Kind,Saskia (HP Medicine) BII-CN-S" userId="14424b57-ed60-4e43-9702-4cbb8465d621" providerId="ADAL" clId="{1FD4F9AB-3E36-42E7-8567-69F296565F91}" dt="2025-03-17T04:21:48.899" v="740" actId="1076"/>
          <ac:spMkLst>
            <pc:docMk/>
            <pc:sldMk cId="884907692" sldId="2147475075"/>
            <ac:spMk id="16" creationId="{55FD0CB7-5422-1804-EA48-0EF5892C05A6}"/>
          </ac:spMkLst>
        </pc:spChg>
        <pc:graphicFrameChg chg="mod modGraphic">
          <ac:chgData name="Kind,Saskia (HP Medicine) BII-CN-S" userId="14424b57-ed60-4e43-9702-4cbb8465d621" providerId="ADAL" clId="{1FD4F9AB-3E36-42E7-8567-69F296565F91}" dt="2025-03-17T04:21:43.448" v="739" actId="1076"/>
          <ac:graphicFrameMkLst>
            <pc:docMk/>
            <pc:sldMk cId="884907692" sldId="2147475075"/>
            <ac:graphicFrameMk id="6" creationId="{99E71C16-9E1E-F011-B398-2DD75D956D8F}"/>
          </ac:graphicFrameMkLst>
        </pc:graphicFrameChg>
      </pc:sldChg>
      <pc:sldChg chg="addSp delSp modSp mod addCm delCm modCm">
        <pc:chgData name="Kind,Saskia (HP Medicine) BII-CN-S" userId="14424b57-ed60-4e43-9702-4cbb8465d621" providerId="ADAL" clId="{1FD4F9AB-3E36-42E7-8567-69F296565F91}" dt="2025-03-17T04:32:35.919" v="902" actId="14100"/>
        <pc:sldMkLst>
          <pc:docMk/>
          <pc:sldMk cId="2832997277" sldId="2147475076"/>
        </pc:sldMkLst>
        <pc:spChg chg="mod">
          <ac:chgData name="Kind,Saskia (HP Medicine) BII-CN-S" userId="14424b57-ed60-4e43-9702-4cbb8465d621" providerId="ADAL" clId="{1FD4F9AB-3E36-42E7-8567-69F296565F91}" dt="2025-03-17T02:52:42.739" v="347" actId="20577"/>
          <ac:spMkLst>
            <pc:docMk/>
            <pc:sldMk cId="2832997277" sldId="2147475076"/>
            <ac:spMk id="2" creationId="{1981918F-D4B9-CB22-8347-C74577AED3F9}"/>
          </ac:spMkLst>
        </pc:spChg>
        <pc:graphicFrameChg chg="mod modGraphic">
          <ac:chgData name="Kind,Saskia (HP Medicine) BII-CN-S" userId="14424b57-ed60-4e43-9702-4cbb8465d621" providerId="ADAL" clId="{1FD4F9AB-3E36-42E7-8567-69F296565F91}" dt="2025-03-17T04:32:35.919" v="902" actId="14100"/>
          <ac:graphicFrameMkLst>
            <pc:docMk/>
            <pc:sldMk cId="2832997277" sldId="2147475076"/>
            <ac:graphicFrameMk id="15" creationId="{B16C4F7B-FFC9-8C91-F3C2-0272A3D6E47F}"/>
          </ac:graphicFrameMkLst>
        </pc:graphicFrameChg>
      </pc:sldChg>
      <pc:sldChg chg="addSp delSp modSp mod ord modShow addCm delCm modCm">
        <pc:chgData name="Kind,Saskia (HP Medicine) BII-CN-S" userId="14424b57-ed60-4e43-9702-4cbb8465d621" providerId="ADAL" clId="{1FD4F9AB-3E36-42E7-8567-69F296565F91}" dt="2025-03-17T04:30:33.969" v="868" actId="20577"/>
        <pc:sldMkLst>
          <pc:docMk/>
          <pc:sldMk cId="482933426" sldId="2147475077"/>
        </pc:sldMkLst>
        <pc:spChg chg="mod">
          <ac:chgData name="Kind,Saskia (HP Medicine) BII-CN-S" userId="14424b57-ed60-4e43-9702-4cbb8465d621" providerId="ADAL" clId="{1FD4F9AB-3E36-42E7-8567-69F296565F91}" dt="2025-03-14T02:12:09.902" v="293" actId="20577"/>
          <ac:spMkLst>
            <pc:docMk/>
            <pc:sldMk cId="482933426" sldId="2147475077"/>
            <ac:spMk id="2" creationId="{A2A3D7C7-1B9F-EBBD-DF90-F016194D15A4}"/>
          </ac:spMkLst>
        </pc:spChg>
        <pc:graphicFrameChg chg="mod modGraphic">
          <ac:chgData name="Kind,Saskia (HP Medicine) BII-CN-S" userId="14424b57-ed60-4e43-9702-4cbb8465d621" providerId="ADAL" clId="{1FD4F9AB-3E36-42E7-8567-69F296565F91}" dt="2025-03-17T04:30:33.969" v="868" actId="20577"/>
          <ac:graphicFrameMkLst>
            <pc:docMk/>
            <pc:sldMk cId="482933426" sldId="2147475077"/>
            <ac:graphicFrameMk id="3" creationId="{E8D60687-F332-2DAC-8D47-261F670D5C3F}"/>
          </ac:graphicFrameMkLst>
        </pc:graphicFrameChg>
      </pc:sldChg>
      <pc:sldChg chg="add del mod modShow">
        <pc:chgData name="Kind,Saskia (HP Medicine) BII-CN-S" userId="14424b57-ed60-4e43-9702-4cbb8465d621" providerId="ADAL" clId="{1FD4F9AB-3E36-42E7-8567-69F296565F91}" dt="2025-03-17T04:32:45.663" v="906" actId="47"/>
        <pc:sldMkLst>
          <pc:docMk/>
          <pc:sldMk cId="378224267" sldId="2147475081"/>
        </pc:sldMkLst>
      </pc:sldChg>
      <pc:sldChg chg="del">
        <pc:chgData name="Kind,Saskia (HP Medicine) BII-CN-S" userId="14424b57-ed60-4e43-9702-4cbb8465d621" providerId="ADAL" clId="{1FD4F9AB-3E36-42E7-8567-69F296565F91}" dt="2025-03-17T04:32:49.189" v="908" actId="47"/>
        <pc:sldMkLst>
          <pc:docMk/>
          <pc:sldMk cId="1702874721" sldId="2147482797"/>
        </pc:sldMkLst>
      </pc:sldChg>
      <pc:sldChg chg="addSp delSp modSp add mod addCm delCm">
        <pc:chgData name="Kind,Saskia (HP Medicine) BII-CN-S" userId="14424b57-ed60-4e43-9702-4cbb8465d621" providerId="ADAL" clId="{1FD4F9AB-3E36-42E7-8567-69F296565F91}" dt="2025-03-17T03:48:43.297" v="404" actId="1076"/>
        <pc:sldMkLst>
          <pc:docMk/>
          <pc:sldMk cId="2160667392" sldId="2147482991"/>
        </pc:sldMkLst>
      </pc:sldChg>
      <pc:sldChg chg="del mod modShow">
        <pc:chgData name="Kind,Saskia (HP Medicine) BII-CN-S" userId="14424b57-ed60-4e43-9702-4cbb8465d621" providerId="ADAL" clId="{1FD4F9AB-3E36-42E7-8567-69F296565F91}" dt="2025-03-17T04:32:50.810" v="912" actId="47"/>
        <pc:sldMkLst>
          <pc:docMk/>
          <pc:sldMk cId="1528997391" sldId="2147483468"/>
        </pc:sldMkLst>
      </pc:sldChg>
      <pc:sldChg chg="del mod modShow">
        <pc:chgData name="Kind,Saskia (HP Medicine) BII-CN-S" userId="14424b57-ed60-4e43-9702-4cbb8465d621" providerId="ADAL" clId="{1FD4F9AB-3E36-42E7-8567-69F296565F91}" dt="2025-03-17T04:32:51.296" v="913" actId="47"/>
        <pc:sldMkLst>
          <pc:docMk/>
          <pc:sldMk cId="1871402723" sldId="2147483469"/>
        </pc:sldMkLst>
      </pc:sldChg>
      <pc:sldChg chg="del mod modShow">
        <pc:chgData name="Kind,Saskia (HP Medicine) BII-CN-S" userId="14424b57-ed60-4e43-9702-4cbb8465d621" providerId="ADAL" clId="{1FD4F9AB-3E36-42E7-8567-69F296565F91}" dt="2025-03-17T04:32:50.408" v="911" actId="47"/>
        <pc:sldMkLst>
          <pc:docMk/>
          <pc:sldMk cId="2479667626" sldId="2147483470"/>
        </pc:sldMkLst>
      </pc:sldChg>
      <pc:sldChg chg="del">
        <pc:chgData name="Kind,Saskia (HP Medicine) BII-CN-S" userId="14424b57-ed60-4e43-9702-4cbb8465d621" providerId="ADAL" clId="{1FD4F9AB-3E36-42E7-8567-69F296565F91}" dt="2025-03-17T04:32:39.125" v="903" actId="47"/>
        <pc:sldMkLst>
          <pc:docMk/>
          <pc:sldMk cId="138470671" sldId="2147483471"/>
        </pc:sldMkLst>
      </pc:sldChg>
      <pc:sldChg chg="del mod modShow">
        <pc:chgData name="Kind,Saskia (HP Medicine) BII-CN-S" userId="14424b57-ed60-4e43-9702-4cbb8465d621" providerId="ADAL" clId="{1FD4F9AB-3E36-42E7-8567-69F296565F91}" dt="2025-03-17T04:32:50.022" v="910" actId="47"/>
        <pc:sldMkLst>
          <pc:docMk/>
          <pc:sldMk cId="4218213838" sldId="2147483472"/>
        </pc:sldMkLst>
      </pc:sldChg>
      <pc:sldChg chg="del mod modShow">
        <pc:chgData name="Kind,Saskia (HP Medicine) BII-CN-S" userId="14424b57-ed60-4e43-9702-4cbb8465d621" providerId="ADAL" clId="{1FD4F9AB-3E36-42E7-8567-69F296565F91}" dt="2025-03-17T04:32:49.575" v="909" actId="47"/>
        <pc:sldMkLst>
          <pc:docMk/>
          <pc:sldMk cId="2587453237" sldId="2147483473"/>
        </pc:sldMkLst>
      </pc:sldChg>
      <pc:sldChg chg="add del">
        <pc:chgData name="Kind,Saskia (HP Medicine) BII-CN-S" userId="14424b57-ed60-4e43-9702-4cbb8465d621" providerId="ADAL" clId="{1FD4F9AB-3E36-42E7-8567-69F296565F91}" dt="2025-03-17T04:32:48.657" v="907" actId="47"/>
        <pc:sldMkLst>
          <pc:docMk/>
          <pc:sldMk cId="4020004799" sldId="2147483474"/>
        </pc:sldMkLst>
      </pc:sldChg>
      <pc:sldChg chg="add del">
        <pc:chgData name="Kind,Saskia (HP Medicine) BII-CN-S" userId="14424b57-ed60-4e43-9702-4cbb8465d621" providerId="ADAL" clId="{1FD4F9AB-3E36-42E7-8567-69F296565F91}" dt="2025-03-17T04:32:52.615" v="914" actId="47"/>
        <pc:sldMkLst>
          <pc:docMk/>
          <pc:sldMk cId="1131046049" sldId="2147483475"/>
        </pc:sldMkLst>
      </pc:sldChg>
      <pc:sldChg chg="delSp modSp add mod">
        <pc:chgData name="Kind,Saskia (HP Medicine) BII-CN-S" userId="14424b57-ed60-4e43-9702-4cbb8465d621" providerId="ADAL" clId="{1FD4F9AB-3E36-42E7-8567-69F296565F91}" dt="2025-03-17T04:23:37.686" v="756" actId="207"/>
        <pc:sldMkLst>
          <pc:docMk/>
          <pc:sldMk cId="3778496755" sldId="2147483476"/>
        </pc:sldMkLst>
        <pc:spChg chg="mod">
          <ac:chgData name="Kind,Saskia (HP Medicine) BII-CN-S" userId="14424b57-ed60-4e43-9702-4cbb8465d621" providerId="ADAL" clId="{1FD4F9AB-3E36-42E7-8567-69F296565F91}" dt="2025-03-17T02:50:50.849" v="345" actId="20577"/>
          <ac:spMkLst>
            <pc:docMk/>
            <pc:sldMk cId="3778496755" sldId="2147483476"/>
            <ac:spMk id="2" creationId="{1981918F-D4B9-CB22-8347-C74577AED3F9}"/>
          </ac:spMkLst>
        </pc:spChg>
        <pc:spChg chg="mod">
          <ac:chgData name="Kind,Saskia (HP Medicine) BII-CN-S" userId="14424b57-ed60-4e43-9702-4cbb8465d621" providerId="ADAL" clId="{1FD4F9AB-3E36-42E7-8567-69F296565F91}" dt="2025-03-17T03:27:28.599" v="367" actId="1076"/>
          <ac:spMkLst>
            <pc:docMk/>
            <pc:sldMk cId="3778496755" sldId="2147483476"/>
            <ac:spMk id="17" creationId="{27D568F1-8DCC-3A40-E2A4-F21D686664D4}"/>
          </ac:spMkLst>
        </pc:spChg>
        <pc:graphicFrameChg chg="mod modGraphic">
          <ac:chgData name="Kind,Saskia (HP Medicine) BII-CN-S" userId="14424b57-ed60-4e43-9702-4cbb8465d621" providerId="ADAL" clId="{1FD4F9AB-3E36-42E7-8567-69F296565F91}" dt="2025-03-17T04:23:37.686" v="756" actId="207"/>
          <ac:graphicFrameMkLst>
            <pc:docMk/>
            <pc:sldMk cId="3778496755" sldId="2147483476"/>
            <ac:graphicFrameMk id="6" creationId="{99E71C16-9E1E-F011-B398-2DD75D956D8F}"/>
          </ac:graphicFrameMkLst>
        </pc:graphicFrameChg>
      </pc:sldChg>
      <pc:sldChg chg="addSp delSp modSp new mod modTransition modClrScheme chgLayout">
        <pc:chgData name="Kind,Saskia (HP Medicine) BII-CN-S" userId="14424b57-ed60-4e43-9702-4cbb8465d621" providerId="ADAL" clId="{1FD4F9AB-3E36-42E7-8567-69F296565F91}" dt="2025-03-17T04:36:03.096" v="967" actId="26606"/>
        <pc:sldMkLst>
          <pc:docMk/>
          <pc:sldMk cId="1920564859" sldId="2147483477"/>
        </pc:sldMkLst>
      </pc:sldChg>
    </pc:docChg>
  </pc:docChgLst>
  <pc:docChgLst>
    <pc:chgData name="Chen,Dr.,Ying (HP Medicine) BII-CN-S" userId="7c019f49-0ee9-4787-9ac5-a11d3b82d6d2" providerId="ADAL" clId="{CE85CAE2-9B5D-479B-BF74-4F1A33EA2C7E}"/>
    <pc:docChg chg="undo custSel modSld">
      <pc:chgData name="Chen,Dr.,Ying (HP Medicine) BII-CN-S" userId="7c019f49-0ee9-4787-9ac5-a11d3b82d6d2" providerId="ADAL" clId="{CE85CAE2-9B5D-479B-BF74-4F1A33EA2C7E}" dt="2025-03-17T01:23:45.422" v="297"/>
      <pc:docMkLst>
        <pc:docMk/>
      </pc:docMkLst>
      <pc:sldChg chg="addCm">
        <pc:chgData name="Chen,Dr.,Ying (HP Medicine) BII-CN-S" userId="7c019f49-0ee9-4787-9ac5-a11d3b82d6d2" providerId="ADAL" clId="{CE85CAE2-9B5D-479B-BF74-4F1A33EA2C7E}" dt="2025-03-14T06:30:19.103" v="191" actId="1589"/>
        <pc:sldMkLst>
          <pc:docMk/>
          <pc:sldMk cId="2034294607" sldId="259"/>
        </pc:sldMkLst>
      </pc:sldChg>
      <pc:sldChg chg="modSp mod addCm modCm">
        <pc:chgData name="Chen,Dr.,Ying (HP Medicine) BII-CN-S" userId="7c019f49-0ee9-4787-9ac5-a11d3b82d6d2" providerId="ADAL" clId="{CE85CAE2-9B5D-479B-BF74-4F1A33EA2C7E}" dt="2025-03-14T06:31:35.269" v="211" actId="33524"/>
        <pc:sldMkLst>
          <pc:docMk/>
          <pc:sldMk cId="884907692" sldId="2147475075"/>
        </pc:sldMkLst>
        <pc:graphicFrameChg chg="mod modGraphic">
          <ac:chgData name="Chen,Dr.,Ying (HP Medicine) BII-CN-S" userId="7c019f49-0ee9-4787-9ac5-a11d3b82d6d2" providerId="ADAL" clId="{CE85CAE2-9B5D-479B-BF74-4F1A33EA2C7E}" dt="2025-03-14T06:31:35.269" v="211" actId="33524"/>
          <ac:graphicFrameMkLst>
            <pc:docMk/>
            <pc:sldMk cId="884907692" sldId="2147475075"/>
            <ac:graphicFrameMk id="6" creationId="{99E71C16-9E1E-F011-B398-2DD75D956D8F}"/>
          </ac:graphicFrameMkLst>
        </pc:graphicFrameChg>
      </pc:sldChg>
      <pc:sldChg chg="addSp delSp modSp mod addCm modCm">
        <pc:chgData name="Chen,Dr.,Ying (HP Medicine) BII-CN-S" userId="7c019f49-0ee9-4787-9ac5-a11d3b82d6d2" providerId="ADAL" clId="{CE85CAE2-9B5D-479B-BF74-4F1A33EA2C7E}" dt="2025-03-17T01:23:45.422" v="297"/>
        <pc:sldMkLst>
          <pc:docMk/>
          <pc:sldMk cId="2160667392" sldId="2147482991"/>
        </pc:sldMkLst>
      </pc:sldChg>
    </pc:docChg>
  </pc:docChgLst>
  <pc:docChgLst>
    <pc:chgData name="Kind,Saskia (HP Medicine) BII-CN-S" userId="14424b57-ed60-4e43-9702-4cbb8465d621" providerId="ADAL" clId="{1A146565-6F9D-46F4-9586-E2A55F931F1E}"/>
    <pc:docChg chg="custSel modSld">
      <pc:chgData name="Kind,Saskia (HP Medicine) BII-CN-S" userId="14424b57-ed60-4e43-9702-4cbb8465d621" providerId="ADAL" clId="{1A146565-6F9D-46F4-9586-E2A55F931F1E}" dt="2025-05-15T01:04:43.402" v="179" actId="207"/>
      <pc:docMkLst>
        <pc:docMk/>
      </pc:docMkLst>
      <pc:sldChg chg="modSp mod">
        <pc:chgData name="Kind,Saskia (HP Medicine) BII-CN-S" userId="14424b57-ed60-4e43-9702-4cbb8465d621" providerId="ADAL" clId="{1A146565-6F9D-46F4-9586-E2A55F931F1E}" dt="2025-05-14T16:06:16.077" v="177" actId="20577"/>
        <pc:sldMkLst>
          <pc:docMk/>
          <pc:sldMk cId="2832997277" sldId="2147475076"/>
        </pc:sldMkLst>
        <pc:graphicFrameChg chg="modGraphic">
          <ac:chgData name="Kind,Saskia (HP Medicine) BII-CN-S" userId="14424b57-ed60-4e43-9702-4cbb8465d621" providerId="ADAL" clId="{1A146565-6F9D-46F4-9586-E2A55F931F1E}" dt="2025-05-14T16:06:16.077" v="177" actId="20577"/>
          <ac:graphicFrameMkLst>
            <pc:docMk/>
            <pc:sldMk cId="2832997277" sldId="2147475076"/>
            <ac:graphicFrameMk id="15" creationId="{B16C4F7B-FFC9-8C91-F3C2-0272A3D6E47F}"/>
          </ac:graphicFrameMkLst>
        </pc:graphicFrameChg>
      </pc:sldChg>
      <pc:sldChg chg="modSp mod">
        <pc:chgData name="Kind,Saskia (HP Medicine) BII-CN-S" userId="14424b57-ed60-4e43-9702-4cbb8465d621" providerId="ADAL" clId="{1A146565-6F9D-46F4-9586-E2A55F931F1E}" dt="2025-05-14T16:03:45.014" v="176" actId="20577"/>
        <pc:sldMkLst>
          <pc:docMk/>
          <pc:sldMk cId="482933426" sldId="2147475077"/>
        </pc:sldMkLst>
        <pc:graphicFrameChg chg="modGraphic">
          <ac:chgData name="Kind,Saskia (HP Medicine) BII-CN-S" userId="14424b57-ed60-4e43-9702-4cbb8465d621" providerId="ADAL" clId="{1A146565-6F9D-46F4-9586-E2A55F931F1E}" dt="2025-05-14T16:03:45.014" v="176" actId="20577"/>
          <ac:graphicFrameMkLst>
            <pc:docMk/>
            <pc:sldMk cId="482933426" sldId="2147475077"/>
            <ac:graphicFrameMk id="3" creationId="{E8D60687-F332-2DAC-8D47-261F670D5C3F}"/>
          </ac:graphicFrameMkLst>
        </pc:graphicFrameChg>
      </pc:sldChg>
      <pc:sldChg chg="modSp mod">
        <pc:chgData name="Kind,Saskia (HP Medicine) BII-CN-S" userId="14424b57-ed60-4e43-9702-4cbb8465d621" providerId="ADAL" clId="{1A146565-6F9D-46F4-9586-E2A55F931F1E}" dt="2025-05-15T01:04:43.402" v="179" actId="207"/>
        <pc:sldMkLst>
          <pc:docMk/>
          <pc:sldMk cId="209256774" sldId="2147483477"/>
        </pc:sldMkLst>
        <pc:spChg chg="mod">
          <ac:chgData name="Kind,Saskia (HP Medicine) BII-CN-S" userId="14424b57-ed60-4e43-9702-4cbb8465d621" providerId="ADAL" clId="{1A146565-6F9D-46F4-9586-E2A55F931F1E}" dt="2025-05-15T01:04:43.402" v="179" actId="207"/>
          <ac:spMkLst>
            <pc:docMk/>
            <pc:sldMk cId="209256774" sldId="2147483477"/>
            <ac:spMk id="62" creationId="{7CE60E73-B6F3-F97A-6A6F-9DB17B8028DB}"/>
          </ac:spMkLst>
        </pc:spChg>
        <pc:spChg chg="mod">
          <ac:chgData name="Kind,Saskia (HP Medicine) BII-CN-S" userId="14424b57-ed60-4e43-9702-4cbb8465d621" providerId="ADAL" clId="{1A146565-6F9D-46F4-9586-E2A55F931F1E}" dt="2025-05-14T15:43:58.901" v="21" actId="1038"/>
          <ac:spMkLst>
            <pc:docMk/>
            <pc:sldMk cId="209256774" sldId="2147483477"/>
            <ac:spMk id="71" creationId="{CD7233DE-C520-BCCA-8C89-7DD9D2F7D465}"/>
          </ac:spMkLst>
        </pc:spChg>
        <pc:spChg chg="mod">
          <ac:chgData name="Kind,Saskia (HP Medicine) BII-CN-S" userId="14424b57-ed60-4e43-9702-4cbb8465d621" providerId="ADAL" clId="{1A146565-6F9D-46F4-9586-E2A55F931F1E}" dt="2025-05-14T15:45:11.340" v="130" actId="1036"/>
          <ac:spMkLst>
            <pc:docMk/>
            <pc:sldMk cId="209256774" sldId="2147483477"/>
            <ac:spMk id="112" creationId="{9FEDC13A-944F-4B1E-D2F5-C67775BCCEF3}"/>
          </ac:spMkLst>
        </pc:spChg>
        <pc:spChg chg="mod">
          <ac:chgData name="Kind,Saskia (HP Medicine) BII-CN-S" userId="14424b57-ed60-4e43-9702-4cbb8465d621" providerId="ADAL" clId="{1A146565-6F9D-46F4-9586-E2A55F931F1E}" dt="2025-05-14T15:44:56.321" v="75" actId="1036"/>
          <ac:spMkLst>
            <pc:docMk/>
            <pc:sldMk cId="209256774" sldId="2147483477"/>
            <ac:spMk id="113" creationId="{982AE7D0-AD16-F05E-3E02-D1EF389F628B}"/>
          </ac:spMkLst>
        </pc:spChg>
        <pc:spChg chg="mod">
          <ac:chgData name="Kind,Saskia (HP Medicine) BII-CN-S" userId="14424b57-ed60-4e43-9702-4cbb8465d621" providerId="ADAL" clId="{1A146565-6F9D-46F4-9586-E2A55F931F1E}" dt="2025-05-14T15:46:19.168" v="132" actId="20577"/>
          <ac:spMkLst>
            <pc:docMk/>
            <pc:sldMk cId="209256774" sldId="2147483477"/>
            <ac:spMk id="139" creationId="{DAD4DA76-51F4-CD4C-A0D9-6E83ADAD29B4}"/>
          </ac:spMkLst>
        </pc:spChg>
        <pc:spChg chg="mod">
          <ac:chgData name="Kind,Saskia (HP Medicine) BII-CN-S" userId="14424b57-ed60-4e43-9702-4cbb8465d621" providerId="ADAL" clId="{1A146565-6F9D-46F4-9586-E2A55F931F1E}" dt="2025-05-14T15:46:43.693" v="146" actId="20577"/>
          <ac:spMkLst>
            <pc:docMk/>
            <pc:sldMk cId="209256774" sldId="2147483477"/>
            <ac:spMk id="155" creationId="{6D062A37-DE90-E6E9-7CF2-39EC588253C7}"/>
          </ac:spMkLst>
        </pc:spChg>
        <pc:cxnChg chg="mod">
          <ac:chgData name="Kind,Saskia (HP Medicine) BII-CN-S" userId="14424b57-ed60-4e43-9702-4cbb8465d621" providerId="ADAL" clId="{1A146565-6F9D-46F4-9586-E2A55F931F1E}" dt="2025-05-14T15:45:18.768" v="131" actId="14100"/>
          <ac:cxnSpMkLst>
            <pc:docMk/>
            <pc:sldMk cId="209256774" sldId="2147483477"/>
            <ac:cxnSpMk id="178" creationId="{C51CCD02-EDC6-FDDC-C4B2-964D2998904B}"/>
          </ac:cxnSpMkLst>
        </pc:cxnChg>
      </pc:sldChg>
    </pc:docChg>
  </pc:docChgLst>
  <pc:docChgLst>
    <pc:chgData name="Kind,Saskia (HP Medicine) BII-CN-S" userId="14424b57-ed60-4e43-9702-4cbb8465d621" providerId="ADAL" clId="{BA676C39-5220-4633-93BE-A71C380F2542}"/>
    <pc:docChg chg="undo custSel addSld delSld modSld">
      <pc:chgData name="Kind,Saskia (HP Medicine) BII-CN-S" userId="14424b57-ed60-4e43-9702-4cbb8465d621" providerId="ADAL" clId="{BA676C39-5220-4633-93BE-A71C380F2542}" dt="2025-05-13T09:59:42.486" v="327" actId="108"/>
      <pc:docMkLst>
        <pc:docMk/>
      </pc:docMkLst>
      <pc:sldChg chg="add">
        <pc:chgData name="Kind,Saskia (HP Medicine) BII-CN-S" userId="14424b57-ed60-4e43-9702-4cbb8465d621" providerId="ADAL" clId="{BA676C39-5220-4633-93BE-A71C380F2542}" dt="2025-05-12T07:07:21.908" v="24"/>
        <pc:sldMkLst>
          <pc:docMk/>
          <pc:sldMk cId="263706901" sldId="324"/>
        </pc:sldMkLst>
      </pc:sldChg>
      <pc:sldChg chg="addSp modSp mod">
        <pc:chgData name="Kind,Saskia (HP Medicine) BII-CN-S" userId="14424b57-ed60-4e43-9702-4cbb8465d621" providerId="ADAL" clId="{BA676C39-5220-4633-93BE-A71C380F2542}" dt="2025-05-12T12:59:18.768" v="33" actId="20577"/>
        <pc:sldMkLst>
          <pc:docMk/>
          <pc:sldMk cId="1922158299" sldId="9848"/>
        </pc:sldMkLst>
        <pc:spChg chg="mod">
          <ac:chgData name="Kind,Saskia (HP Medicine) BII-CN-S" userId="14424b57-ed60-4e43-9702-4cbb8465d621" providerId="ADAL" clId="{BA676C39-5220-4633-93BE-A71C380F2542}" dt="2025-05-12T12:59:18.768" v="33" actId="20577"/>
          <ac:spMkLst>
            <pc:docMk/>
            <pc:sldMk cId="1922158299" sldId="9848"/>
            <ac:spMk id="3" creationId="{692796CB-E2C8-8508-DF5A-FC10693F0AFB}"/>
          </ac:spMkLst>
        </pc:spChg>
      </pc:sldChg>
      <pc:sldChg chg="modSp mod">
        <pc:chgData name="Kind,Saskia (HP Medicine) BII-CN-S" userId="14424b57-ed60-4e43-9702-4cbb8465d621" providerId="ADAL" clId="{BA676C39-5220-4633-93BE-A71C380F2542}" dt="2025-05-13T09:59:42.486" v="327" actId="108"/>
        <pc:sldMkLst>
          <pc:docMk/>
          <pc:sldMk cId="482933426" sldId="2147475077"/>
        </pc:sldMkLst>
        <pc:spChg chg="mod">
          <ac:chgData name="Kind,Saskia (HP Medicine) BII-CN-S" userId="14424b57-ed60-4e43-9702-4cbb8465d621" providerId="ADAL" clId="{BA676C39-5220-4633-93BE-A71C380F2542}" dt="2025-05-12T13:01:55.198" v="48" actId="20577"/>
          <ac:spMkLst>
            <pc:docMk/>
            <pc:sldMk cId="482933426" sldId="2147475077"/>
            <ac:spMk id="2" creationId="{A2A3D7C7-1B9F-EBBD-DF90-F016194D15A4}"/>
          </ac:spMkLst>
        </pc:spChg>
        <pc:graphicFrameChg chg="mod modGraphic">
          <ac:chgData name="Kind,Saskia (HP Medicine) BII-CN-S" userId="14424b57-ed60-4e43-9702-4cbb8465d621" providerId="ADAL" clId="{BA676C39-5220-4633-93BE-A71C380F2542}" dt="2025-05-13T09:59:42.486" v="327" actId="108"/>
          <ac:graphicFrameMkLst>
            <pc:docMk/>
            <pc:sldMk cId="482933426" sldId="2147475077"/>
            <ac:graphicFrameMk id="3" creationId="{E8D60687-F332-2DAC-8D47-261F670D5C3F}"/>
          </ac:graphicFrameMkLst>
        </pc:graphicFrameChg>
      </pc:sldChg>
      <pc:sldChg chg="del">
        <pc:chgData name="Kind,Saskia (HP Medicine) BII-CN-S" userId="14424b57-ed60-4e43-9702-4cbb8465d621" providerId="ADAL" clId="{BA676C39-5220-4633-93BE-A71C380F2542}" dt="2025-05-12T07:04:35.559" v="18" actId="47"/>
        <pc:sldMkLst>
          <pc:docMk/>
          <pc:sldMk cId="1459989641" sldId="2147482809"/>
        </pc:sldMkLst>
      </pc:sldChg>
      <pc:sldChg chg="del">
        <pc:chgData name="Kind,Saskia (HP Medicine) BII-CN-S" userId="14424b57-ed60-4e43-9702-4cbb8465d621" providerId="ADAL" clId="{BA676C39-5220-4633-93BE-A71C380F2542}" dt="2025-05-12T07:03:29.807" v="1" actId="47"/>
        <pc:sldMkLst>
          <pc:docMk/>
          <pc:sldMk cId="2160667392" sldId="2147482991"/>
        </pc:sldMkLst>
      </pc:sldChg>
      <pc:sldChg chg="del">
        <pc:chgData name="Kind,Saskia (HP Medicine) BII-CN-S" userId="14424b57-ed60-4e43-9702-4cbb8465d621" providerId="ADAL" clId="{BA676C39-5220-4633-93BE-A71C380F2542}" dt="2025-05-12T07:08:59.661" v="25" actId="47"/>
        <pc:sldMkLst>
          <pc:docMk/>
          <pc:sldMk cId="1920564859" sldId="2147483477"/>
        </pc:sldMkLst>
      </pc:sldChg>
      <pc:sldChg chg="addSp modSp add mod">
        <pc:chgData name="Kind,Saskia (HP Medicine) BII-CN-S" userId="14424b57-ed60-4e43-9702-4cbb8465d621" providerId="ADAL" clId="{BA676C39-5220-4633-93BE-A71C380F2542}" dt="2025-05-12T07:05:15.780" v="21" actId="20577"/>
        <pc:sldMkLst>
          <pc:docMk/>
          <pc:sldMk cId="3617207298" sldId="2147483478"/>
        </pc:sldMkLst>
      </pc:sldChg>
      <pc:sldMasterChg chg="delSldLayout">
        <pc:chgData name="Kind,Saskia (HP Medicine) BII-CN-S" userId="14424b57-ed60-4e43-9702-4cbb8465d621" providerId="ADAL" clId="{BA676C39-5220-4633-93BE-A71C380F2542}" dt="2025-05-12T07:08:59.661" v="25" actId="47"/>
        <pc:sldMasterMkLst>
          <pc:docMk/>
          <pc:sldMasterMk cId="3416164213" sldId="2147483695"/>
        </pc:sldMasterMkLst>
        <pc:sldLayoutChg chg="del">
          <pc:chgData name="Kind,Saskia (HP Medicine) BII-CN-S" userId="14424b57-ed60-4e43-9702-4cbb8465d621" providerId="ADAL" clId="{BA676C39-5220-4633-93BE-A71C380F2542}" dt="2025-05-12T07:08:59.661" v="25" actId="47"/>
          <pc:sldLayoutMkLst>
            <pc:docMk/>
            <pc:sldMasterMk cId="3416164213" sldId="2147483695"/>
            <pc:sldLayoutMk cId="3740127793" sldId="2147483728"/>
          </pc:sldLayoutMkLst>
        </pc:sldLayoutChg>
      </pc:sldMasterChg>
    </pc:docChg>
  </pc:docChgLst>
  <pc:docChgLst>
    <pc:chgData name="Cheng,Dr.,Jian (HP Medicine) BII-CN-S" userId="d9d9ab5e-0a2e-432c-8dff-aab51240f610" providerId="ADAL" clId="{FE715DA2-7773-49B2-BDE1-0E78350BEC6B}"/>
    <pc:docChg chg="undo custSel modSld">
      <pc:chgData name="Cheng,Dr.,Jian (HP Medicine) BII-CN-S" userId="d9d9ab5e-0a2e-432c-8dff-aab51240f610" providerId="ADAL" clId="{FE715DA2-7773-49B2-BDE1-0E78350BEC6B}" dt="2025-05-13T04:17:49.551" v="2288" actId="20577"/>
      <pc:docMkLst>
        <pc:docMk/>
      </pc:docMkLst>
      <pc:sldChg chg="addSp modSp mod modCm">
        <pc:chgData name="Cheng,Dr.,Jian (HP Medicine) BII-CN-S" userId="d9d9ab5e-0a2e-432c-8dff-aab51240f610" providerId="ADAL" clId="{FE715DA2-7773-49B2-BDE1-0E78350BEC6B}" dt="2025-05-13T04:17:49.551" v="2288" actId="20577"/>
        <pc:sldMkLst>
          <pc:docMk/>
          <pc:sldMk cId="2832997277" sldId="2147475076"/>
        </pc:sldMkLst>
        <pc:spChg chg="add mod">
          <ac:chgData name="Cheng,Dr.,Jian (HP Medicine) BII-CN-S" userId="d9d9ab5e-0a2e-432c-8dff-aab51240f610" providerId="ADAL" clId="{FE715DA2-7773-49B2-BDE1-0E78350BEC6B}" dt="2025-05-13T04:15:04.599" v="2253" actId="1076"/>
          <ac:spMkLst>
            <pc:docMk/>
            <pc:sldMk cId="2832997277" sldId="2147475076"/>
            <ac:spMk id="3" creationId="{B764329A-D321-98A3-C89A-44FEEA6BBAFE}"/>
          </ac:spMkLst>
        </pc:spChg>
        <pc:graphicFrameChg chg="mod modGraphic">
          <ac:chgData name="Cheng,Dr.,Jian (HP Medicine) BII-CN-S" userId="d9d9ab5e-0a2e-432c-8dff-aab51240f610" providerId="ADAL" clId="{FE715DA2-7773-49B2-BDE1-0E78350BEC6B}" dt="2025-05-13T04:17:49.551" v="2288" actId="20577"/>
          <ac:graphicFrameMkLst>
            <pc:docMk/>
            <pc:sldMk cId="2832997277" sldId="2147475076"/>
            <ac:graphicFrameMk id="15" creationId="{B16C4F7B-FFC9-8C91-F3C2-0272A3D6E47F}"/>
          </ac:graphicFrameMkLst>
        </pc:graphicFrameChg>
      </pc:sldChg>
      <pc:sldChg chg="modSp mod modCm">
        <pc:chgData name="Cheng,Dr.,Jian (HP Medicine) BII-CN-S" userId="d9d9ab5e-0a2e-432c-8dff-aab51240f610" providerId="ADAL" clId="{FE715DA2-7773-49B2-BDE1-0E78350BEC6B}" dt="2025-05-13T03:59:44.545" v="2055" actId="20577"/>
        <pc:sldMkLst>
          <pc:docMk/>
          <pc:sldMk cId="482933426" sldId="2147475077"/>
        </pc:sldMkLst>
        <pc:graphicFrameChg chg="mod modGraphic">
          <ac:chgData name="Cheng,Dr.,Jian (HP Medicine) BII-CN-S" userId="d9d9ab5e-0a2e-432c-8dff-aab51240f610" providerId="ADAL" clId="{FE715DA2-7773-49B2-BDE1-0E78350BEC6B}" dt="2025-05-13T03:59:44.545" v="2055" actId="20577"/>
          <ac:graphicFrameMkLst>
            <pc:docMk/>
            <pc:sldMk cId="482933426" sldId="2147475077"/>
            <ac:graphicFrameMk id="3" creationId="{E8D60687-F332-2DAC-8D47-261F670D5C3F}"/>
          </ac:graphicFrameMkLst>
        </pc:graphicFrameChg>
      </pc:sldChg>
    </pc:docChg>
  </pc:docChgLst>
  <pc:docChgLst>
    <pc:chgData name="Xu,Lindsay (HP Medicine) BII-CN-S" userId="80a8f60d-1654-4b86-b932-46a0c01eb59c" providerId="ADAL" clId="{E7BE9ED2-97C5-4125-80F0-AF7D9AB67A01}"/>
    <pc:docChg chg="custSel modSld">
      <pc:chgData name="Xu,Lindsay (HP Medicine) BII-CN-S" userId="80a8f60d-1654-4b86-b932-46a0c01eb59c" providerId="ADAL" clId="{E7BE9ED2-97C5-4125-80F0-AF7D9AB67A01}" dt="2025-05-13T02:55:55.910" v="950" actId="948"/>
      <pc:docMkLst>
        <pc:docMk/>
      </pc:docMkLst>
      <pc:sldChg chg="modSp mod">
        <pc:chgData name="Xu,Lindsay (HP Medicine) BII-CN-S" userId="80a8f60d-1654-4b86-b932-46a0c01eb59c" providerId="ADAL" clId="{E7BE9ED2-97C5-4125-80F0-AF7D9AB67A01}" dt="2025-05-13T02:55:55.910" v="950" actId="948"/>
        <pc:sldMkLst>
          <pc:docMk/>
          <pc:sldMk cId="2034294607" sldId="259"/>
        </pc:sldMkLst>
        <pc:spChg chg="mod">
          <ac:chgData name="Xu,Lindsay (HP Medicine) BII-CN-S" userId="80a8f60d-1654-4b86-b932-46a0c01eb59c" providerId="ADAL" clId="{E7BE9ED2-97C5-4125-80F0-AF7D9AB67A01}" dt="2025-05-13T02:55:55.910" v="950" actId="948"/>
          <ac:spMkLst>
            <pc:docMk/>
            <pc:sldMk cId="2034294607" sldId="259"/>
            <ac:spMk id="8" creationId="{8DD530DC-D2B0-3D4D-B53D-1E713E3CD7A1}"/>
          </ac:spMkLst>
        </pc:spChg>
      </pc:sldChg>
    </pc:docChg>
  </pc:docChgLst>
  <pc:docChgLst>
    <pc:chgData name="Tao,Helen (HP Medicine) BII-CN-S" userId="35187e18-a979-452a-a00a-a6d2f11c820c" providerId="ADAL" clId="{B11715D2-46F2-432D-AC13-1FA6C1043029}"/>
    <pc:docChg chg="undo custSel addSld delSld modSld">
      <pc:chgData name="Tao,Helen (HP Medicine) BII-CN-S" userId="35187e18-a979-452a-a00a-a6d2f11c820c" providerId="ADAL" clId="{B11715D2-46F2-432D-AC13-1FA6C1043029}" dt="2025-03-19T02:32:19.699" v="168" actId="47"/>
      <pc:docMkLst>
        <pc:docMk/>
      </pc:docMkLst>
      <pc:sldChg chg="modSp mod">
        <pc:chgData name="Tao,Helen (HP Medicine) BII-CN-S" userId="35187e18-a979-452a-a00a-a6d2f11c820c" providerId="ADAL" clId="{B11715D2-46F2-432D-AC13-1FA6C1043029}" dt="2025-03-18T14:35:22.677" v="139" actId="108"/>
        <pc:sldMkLst>
          <pc:docMk/>
          <pc:sldMk cId="2034294607" sldId="259"/>
        </pc:sldMkLst>
        <pc:spChg chg="mod">
          <ac:chgData name="Tao,Helen (HP Medicine) BII-CN-S" userId="35187e18-a979-452a-a00a-a6d2f11c820c" providerId="ADAL" clId="{B11715D2-46F2-432D-AC13-1FA6C1043029}" dt="2025-03-18T14:35:22.677" v="139" actId="108"/>
          <ac:spMkLst>
            <pc:docMk/>
            <pc:sldMk cId="2034294607" sldId="259"/>
            <ac:spMk id="8" creationId="{8DD530DC-D2B0-3D4D-B53D-1E713E3CD7A1}"/>
          </ac:spMkLst>
        </pc:spChg>
      </pc:sldChg>
      <pc:sldChg chg="add mod modShow">
        <pc:chgData name="Tao,Helen (HP Medicine) BII-CN-S" userId="35187e18-a979-452a-a00a-a6d2f11c820c" providerId="ADAL" clId="{B11715D2-46F2-432D-AC13-1FA6C1043029}" dt="2025-03-19T02:25:44.532" v="163" actId="729"/>
        <pc:sldMkLst>
          <pc:docMk/>
          <pc:sldMk cId="2666302336" sldId="262"/>
        </pc:sldMkLst>
      </pc:sldChg>
      <pc:sldChg chg="add mod modShow">
        <pc:chgData name="Tao,Helen (HP Medicine) BII-CN-S" userId="35187e18-a979-452a-a00a-a6d2f11c820c" providerId="ADAL" clId="{B11715D2-46F2-432D-AC13-1FA6C1043029}" dt="2025-03-19T02:25:39.746" v="162" actId="729"/>
        <pc:sldMkLst>
          <pc:docMk/>
          <pc:sldMk cId="3949348881" sldId="274"/>
        </pc:sldMkLst>
      </pc:sldChg>
      <pc:sldChg chg="modSp mod">
        <pc:chgData name="Tao,Helen (HP Medicine) BII-CN-S" userId="35187e18-a979-452a-a00a-a6d2f11c820c" providerId="ADAL" clId="{B11715D2-46F2-432D-AC13-1FA6C1043029}" dt="2025-03-18T15:00:12.413" v="159" actId="20577"/>
        <pc:sldMkLst>
          <pc:docMk/>
          <pc:sldMk cId="884907692" sldId="2147475075"/>
        </pc:sldMkLst>
        <pc:graphicFrameChg chg="modGraphic">
          <ac:chgData name="Tao,Helen (HP Medicine) BII-CN-S" userId="35187e18-a979-452a-a00a-a6d2f11c820c" providerId="ADAL" clId="{B11715D2-46F2-432D-AC13-1FA6C1043029}" dt="2025-03-18T15:00:12.413" v="159" actId="20577"/>
          <ac:graphicFrameMkLst>
            <pc:docMk/>
            <pc:sldMk cId="884907692" sldId="2147475075"/>
            <ac:graphicFrameMk id="6" creationId="{99E71C16-9E1E-F011-B398-2DD75D956D8F}"/>
          </ac:graphicFrameMkLst>
        </pc:graphicFrameChg>
      </pc:sldChg>
      <pc:sldChg chg="modSp mod">
        <pc:chgData name="Tao,Helen (HP Medicine) BII-CN-S" userId="35187e18-a979-452a-a00a-a6d2f11c820c" providerId="ADAL" clId="{B11715D2-46F2-432D-AC13-1FA6C1043029}" dt="2025-03-18T14:32:33.553" v="4" actId="20577"/>
        <pc:sldMkLst>
          <pc:docMk/>
          <pc:sldMk cId="482933426" sldId="2147475077"/>
        </pc:sldMkLst>
        <pc:spChg chg="mod">
          <ac:chgData name="Tao,Helen (HP Medicine) BII-CN-S" userId="35187e18-a979-452a-a00a-a6d2f11c820c" providerId="ADAL" clId="{B11715D2-46F2-432D-AC13-1FA6C1043029}" dt="2025-03-18T14:32:33.553" v="4" actId="20577"/>
          <ac:spMkLst>
            <pc:docMk/>
            <pc:sldMk cId="482933426" sldId="2147475077"/>
            <ac:spMk id="2" creationId="{A2A3D7C7-1B9F-EBBD-DF90-F016194D15A4}"/>
          </ac:spMkLst>
        </pc:spChg>
      </pc:sldChg>
      <pc:sldChg chg="add del">
        <pc:chgData name="Tao,Helen (HP Medicine) BII-CN-S" userId="35187e18-a979-452a-a00a-a6d2f11c820c" providerId="ADAL" clId="{B11715D2-46F2-432D-AC13-1FA6C1043029}" dt="2025-03-19T02:32:17.660" v="167" actId="47"/>
        <pc:sldMkLst>
          <pc:docMk/>
          <pc:sldMk cId="1480261477" sldId="2147483478"/>
        </pc:sldMkLst>
      </pc:sldChg>
      <pc:sldChg chg="add del replId">
        <pc:chgData name="Tao,Helen (HP Medicine) BII-CN-S" userId="35187e18-a979-452a-a00a-a6d2f11c820c" providerId="ADAL" clId="{B11715D2-46F2-432D-AC13-1FA6C1043029}" dt="2025-03-19T02:32:19.699" v="168" actId="47"/>
        <pc:sldMkLst>
          <pc:docMk/>
          <pc:sldMk cId="162743190" sldId="2147483479"/>
        </pc:sldMkLst>
      </pc:sldChg>
      <pc:sldChg chg="add del">
        <pc:chgData name="Tao,Helen (HP Medicine) BII-CN-S" userId="35187e18-a979-452a-a00a-a6d2f11c820c" providerId="ADAL" clId="{B11715D2-46F2-432D-AC13-1FA6C1043029}" dt="2025-03-19T02:31:12.991" v="166" actId="2890"/>
        <pc:sldMkLst>
          <pc:docMk/>
          <pc:sldMk cId="2375135447" sldId="21474834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2025/5/14</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a:t>
            </a:fld>
            <a:endParaRPr lang="en-US" sz="800">
              <a:solidFill>
                <a:schemeClr val="bg2"/>
              </a:solidFill>
            </a:endParaRPr>
          </a:p>
        </p:txBody>
      </p:sp>
    </p:spTree>
    <p:extLst>
      <p:ext uri="{BB962C8B-B14F-4D97-AF65-F5344CB8AC3E}">
        <p14:creationId xmlns:p14="http://schemas.microsoft.com/office/powerpoint/2010/main" val="3423096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4330" indent="-171450">
              <a:lnSpc>
                <a:spcPct val="140000"/>
              </a:lnSpc>
              <a:buFont typeface="Arial" panose="020B0604020202020204" pitchFamily="34" charset="0"/>
              <a:buChar char="•"/>
              <a:defRPr/>
            </a:pPr>
            <a:r>
              <a:rPr lang="en-US" altLang="zh-CN" sz="1200">
                <a:solidFill>
                  <a:prstClr val="black"/>
                </a:solidFill>
                <a:latin typeface="Boehringer Forward Text"/>
              </a:rPr>
              <a:t>Updated by </a:t>
            </a:r>
            <a:r>
              <a:rPr lang="en-US" altLang="zh-CN" sz="1200" err="1">
                <a:solidFill>
                  <a:prstClr val="black"/>
                </a:solidFill>
                <a:latin typeface="Boehringer Forward Text"/>
              </a:rPr>
              <a:t>eAL</a:t>
            </a:r>
            <a:endParaRPr lang="zh-CN" altLang="en-US" sz="1200">
              <a:solidFill>
                <a:prstClr val="black"/>
              </a:solidFill>
              <a:latin typeface="Boehringer Forward Text"/>
            </a:endParaRPr>
          </a:p>
          <a:p>
            <a:pPr marL="354330" indent="-171450">
              <a:lnSpc>
                <a:spcPct val="140000"/>
              </a:lnSpc>
              <a:buFont typeface="Arial" panose="020B0604020202020204" pitchFamily="34" charset="0"/>
              <a:buChar char="•"/>
              <a:defRPr/>
            </a:pPr>
            <a:r>
              <a:rPr lang="en-US" altLang="zh-CN" sz="1200">
                <a:solidFill>
                  <a:prstClr val="black"/>
                </a:solidFill>
                <a:latin typeface="Boehringer Forward Text"/>
              </a:rPr>
              <a:t>Global milestone: SoD, </a:t>
            </a:r>
            <a:r>
              <a:rPr lang="en-US" altLang="zh-CN" sz="1200" err="1">
                <a:solidFill>
                  <a:prstClr val="black"/>
                </a:solidFill>
                <a:latin typeface="Boehringer Forward Text"/>
              </a:rPr>
              <a:t>PoCP</a:t>
            </a:r>
            <a:r>
              <a:rPr lang="en-US" altLang="zh-CN" sz="1200">
                <a:solidFill>
                  <a:prstClr val="black"/>
                </a:solidFill>
                <a:latin typeface="Boehringer Forward Text"/>
              </a:rPr>
              <a:t>, PoCC, RoFD, RoS, program termination, TLR</a:t>
            </a:r>
          </a:p>
          <a:p>
            <a:pPr marL="354330" indent="-171450">
              <a:lnSpc>
                <a:spcPct val="140000"/>
              </a:lnSpc>
              <a:buFont typeface="Arial" panose="020B0604020202020204" pitchFamily="34" charset="0"/>
              <a:buChar char="•"/>
              <a:defRPr/>
            </a:pPr>
            <a:r>
              <a:rPr lang="en-US" altLang="zh-CN" sz="1200">
                <a:solidFill>
                  <a:prstClr val="black"/>
                </a:solidFill>
                <a:latin typeface="Boehringer Forward Text"/>
              </a:rPr>
              <a:t>China milestone: CTA submission, 1st SIV, last patient randomization, NDA submission, NDA approval</a:t>
            </a:r>
          </a:p>
          <a:p>
            <a:pPr marL="354330" indent="-171450">
              <a:lnSpc>
                <a:spcPct val="140000"/>
              </a:lnSpc>
              <a:buFont typeface="Arial" panose="020B0604020202020204" pitchFamily="34" charset="0"/>
              <a:buChar char="•"/>
              <a:defRPr/>
            </a:pPr>
            <a:r>
              <a:rPr lang="en-US" altLang="zh-CN" sz="1200">
                <a:solidFill>
                  <a:prstClr val="black"/>
                </a:solidFill>
                <a:latin typeface="Boehringer Forward Text"/>
              </a:rPr>
              <a:t>Color coded by disease area or other criteria applied  </a:t>
            </a:r>
          </a:p>
          <a:p>
            <a:endParaRPr lang="zh-CN" alt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3</a:t>
            </a:fld>
            <a:endParaRPr lang="zh-CN" altLang="en-US"/>
          </a:p>
        </p:txBody>
      </p:sp>
    </p:spTree>
    <p:extLst>
      <p:ext uri="{BB962C8B-B14F-4D97-AF65-F5344CB8AC3E}">
        <p14:creationId xmlns:p14="http://schemas.microsoft.com/office/powerpoint/2010/main" val="860862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4</a:t>
            </a:fld>
            <a:endParaRPr lang="zh-CN" altLang="en-US"/>
          </a:p>
        </p:txBody>
      </p:sp>
    </p:spTree>
    <p:extLst>
      <p:ext uri="{BB962C8B-B14F-4D97-AF65-F5344CB8AC3E}">
        <p14:creationId xmlns:p14="http://schemas.microsoft.com/office/powerpoint/2010/main" val="2346781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5</a:t>
            </a:fld>
            <a:endParaRPr lang="zh-CN" altLang="en-US"/>
          </a:p>
        </p:txBody>
      </p:sp>
    </p:spTree>
    <p:extLst>
      <p:ext uri="{BB962C8B-B14F-4D97-AF65-F5344CB8AC3E}">
        <p14:creationId xmlns:p14="http://schemas.microsoft.com/office/powerpoint/2010/main" val="12471853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6</a:t>
            </a:fld>
            <a:endParaRPr lang="zh-CN" altLang="en-US"/>
          </a:p>
        </p:txBody>
      </p:sp>
    </p:spTree>
    <p:extLst>
      <p:ext uri="{BB962C8B-B14F-4D97-AF65-F5344CB8AC3E}">
        <p14:creationId xmlns:p14="http://schemas.microsoft.com/office/powerpoint/2010/main" val="3676497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7</a:t>
            </a:fld>
            <a:endParaRPr lang="zh-CN" altLang="en-US"/>
          </a:p>
        </p:txBody>
      </p:sp>
    </p:spTree>
    <p:extLst>
      <p:ext uri="{BB962C8B-B14F-4D97-AF65-F5344CB8AC3E}">
        <p14:creationId xmlns:p14="http://schemas.microsoft.com/office/powerpoint/2010/main" val="3668038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just">
              <a:buFont typeface="Arial" panose="020B0604020202020204" pitchFamily="34" charset="0"/>
              <a:buNone/>
            </a:pPr>
            <a:endParaRPr lang="en-US" altLang="zh-CN"/>
          </a:p>
        </p:txBody>
      </p:sp>
      <p:sp>
        <p:nvSpPr>
          <p:cNvPr id="4" name="灯片编号占位符 3"/>
          <p:cNvSpPr>
            <a:spLocks noGrp="1"/>
          </p:cNvSpPr>
          <p:nvPr>
            <p:ph type="sldNum" sz="quarter" idx="5"/>
          </p:nvPr>
        </p:nvSpPr>
        <p:spPr/>
        <p:txBody>
          <a:bodyPr/>
          <a:lstStyle/>
          <a:p>
            <a:fld id="{F6CB4BB5-E309-45E5-BB7A-A4E8DEB85991}" type="slidenum">
              <a:rPr lang="zh-CN" altLang="en-US" smtClean="0"/>
              <a:t>8</a:t>
            </a:fld>
            <a:endParaRPr lang="zh-CN" altLang="en-US"/>
          </a:p>
        </p:txBody>
      </p:sp>
    </p:spTree>
    <p:extLst>
      <p:ext uri="{BB962C8B-B14F-4D97-AF65-F5344CB8AC3E}">
        <p14:creationId xmlns:p14="http://schemas.microsoft.com/office/powerpoint/2010/main" val="787487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CB4BB5-E309-45E5-BB7A-A4E8DEB8599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967899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20.svg"/><Relationship Id="rId4" Type="http://schemas.openxmlformats.org/officeDocument/2006/relationships/image" Target="../media/image1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23.svg"/><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23.sv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20.svg"/><Relationship Id="rId4"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4.png"/><Relationship Id="rId1" Type="http://schemas.openxmlformats.org/officeDocument/2006/relationships/slideMaster" Target="../slideMasters/slideMaster3.xml"/><Relationship Id="rId5" Type="http://schemas.openxmlformats.org/officeDocument/2006/relationships/image" Target="../media/image23.svg"/><Relationship Id="rId4"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16.png"/><Relationship Id="rId5" Type="http://schemas.openxmlformats.org/officeDocument/2006/relationships/image" Target="../media/image23.svg"/><Relationship Id="rId4" Type="http://schemas.openxmlformats.org/officeDocument/2006/relationships/image" Target="../media/image6.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3.xml"/><Relationship Id="rId6" Type="http://schemas.openxmlformats.org/officeDocument/2006/relationships/image" Target="../media/image16.png"/><Relationship Id="rId5" Type="http://schemas.openxmlformats.org/officeDocument/2006/relationships/image" Target="../media/image20.svg"/><Relationship Id="rId4" Type="http://schemas.openxmlformats.org/officeDocument/2006/relationships/image" Target="../media/image19.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7022956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15943342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6281037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9098181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82163031"/>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MAP</a:t>
            </a:r>
            <a:r>
              <a:rPr lang="en-US"/>
              <a:t>|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3573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44748852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25540777"/>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31206158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22032130"/>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ltLang="zh-CN"/>
              <a:t>MAP</a:t>
            </a:r>
            <a:r>
              <a:rPr lang="en-US"/>
              <a:t>|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762468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324573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74178353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17899186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6867471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8037640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ltLang="zh-CN"/>
              <a:t>MAP </a:t>
            </a:r>
            <a:r>
              <a:rPr lang="en-US"/>
              <a:t>|    ONLY FOR INTERNAL USE</a:t>
            </a:r>
          </a:p>
        </p:txBody>
      </p:sp>
    </p:spTree>
    <p:extLst>
      <p:ext uri="{BB962C8B-B14F-4D97-AF65-F5344CB8AC3E}">
        <p14:creationId xmlns:p14="http://schemas.microsoft.com/office/powerpoint/2010/main" val="703606034"/>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808366308"/>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48131237"/>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3317082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4024118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604792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7634716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5383837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841462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69071367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21007831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8825583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97824397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ltLang="zh-CN"/>
              <a:t>MAP </a:t>
            </a:r>
            <a:r>
              <a:rPr lang="en-US"/>
              <a:t>|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6670209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MAP </a:t>
            </a:r>
            <a:r>
              <a:rPr lang="en-US"/>
              <a:t>|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1049304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9068801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MAP </a:t>
            </a:r>
            <a:r>
              <a:rPr lang="en-US"/>
              <a:t>|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2348667501"/>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14/05/2025</a:t>
            </a:fld>
            <a:endParaRPr lang="en-GB" noProof="0"/>
          </a:p>
        </p:txBody>
      </p:sp>
      <p:sp>
        <p:nvSpPr>
          <p:cNvPr id="3" name="Fußzeilenplatzhalter 2"/>
          <p:cNvSpPr>
            <a:spLocks noGrp="1"/>
          </p:cNvSpPr>
          <p:nvPr>
            <p:ph type="ftr" sz="quarter" idx="11"/>
          </p:nvPr>
        </p:nvSpPr>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5711126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5/14/2025</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5151475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888370356"/>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90016314"/>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7739849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950430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MAP</a:t>
            </a:r>
            <a:r>
              <a:rPr lang="en-US"/>
              <a:t>|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9462490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05749907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211476339"/>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92039077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6432732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7814068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6064280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119384329"/>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90492790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449978483"/>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286460429"/>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602235986"/>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323701756"/>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9808174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053454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2851057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7016225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148236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7048168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4337463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4819327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3561068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49458263"/>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09712852"/>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3126787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775900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31006198"/>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MAP </a:t>
            </a:r>
            <a:r>
              <a:rPr lang="en-US"/>
              <a:t>|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4158041312"/>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8291171"/>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2375733535"/>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278794587"/>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29664681"/>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14958896"/>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71590104"/>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29270019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5473596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2592193534"/>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06784831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5034531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51646528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12984918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738165179"/>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68471688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625587635"/>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46864790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40120827"/>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4173880765"/>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08678743"/>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0213177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2671031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1031758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8504536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7012022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8234463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90656478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84314479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208347385"/>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212174879"/>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91286530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2457150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1007896"/>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2095415715"/>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DC3DD34-E439-B015-B0A6-E2B3C598E263}"/>
              </a:ext>
            </a:extLst>
          </p:cNvPr>
          <p:cNvSpPr>
            <a:spLocks noGrp="1"/>
          </p:cNvSpPr>
          <p:nvPr>
            <p:ph type="dt" sz="half" idx="10"/>
          </p:nvPr>
        </p:nvSpPr>
        <p:spPr/>
        <p:txBody>
          <a:bodyPr/>
          <a:lstStyle/>
          <a:p>
            <a:fld id="{2982E237-89D0-457B-AFCE-CEF413E3C420}" type="datetimeFigureOut">
              <a:rPr lang="zh-CN" altLang="en-US" smtClean="0"/>
              <a:t>2025/5/14</a:t>
            </a:fld>
            <a:endParaRPr lang="zh-CN" altLang="en-US"/>
          </a:p>
        </p:txBody>
      </p:sp>
      <p:sp>
        <p:nvSpPr>
          <p:cNvPr id="3" name="页脚占位符 2">
            <a:extLst>
              <a:ext uri="{FF2B5EF4-FFF2-40B4-BE49-F238E27FC236}">
                <a16:creationId xmlns:a16="http://schemas.microsoft.com/office/drawing/2014/main" id="{D7650A36-DD6A-C542-380C-CFBA7E32EC6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E31F7CA-FBF9-CD00-83A2-081ED93457E7}"/>
              </a:ext>
            </a:extLst>
          </p:cNvPr>
          <p:cNvSpPr>
            <a:spLocks noGrp="1"/>
          </p:cNvSpPr>
          <p:nvPr>
            <p:ph type="sldNum" sz="quarter" idx="12"/>
          </p:nvPr>
        </p:nvSpPr>
        <p:spPr/>
        <p:txBody>
          <a:bodyPr/>
          <a:lstStyle/>
          <a:p>
            <a:fld id="{FDFACB0B-4171-4A35-B21C-8D7E9343F69C}" type="slidenum">
              <a:rPr lang="zh-CN" altLang="en-US" smtClean="0"/>
              <a:t>‹#›</a:t>
            </a:fld>
            <a:endParaRPr lang="zh-CN" altLang="en-US"/>
          </a:p>
        </p:txBody>
      </p:sp>
    </p:spTree>
    <p:extLst>
      <p:ext uri="{BB962C8B-B14F-4D97-AF65-F5344CB8AC3E}">
        <p14:creationId xmlns:p14="http://schemas.microsoft.com/office/powerpoint/2010/main" val="104719515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69F66A-CCD2-92A7-B424-CEAAEE367CD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ACA0F65-7295-49A8-88A3-7309D3D185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117E2D8-D7B3-D7D6-C2F0-7F7C371DED5A}"/>
              </a:ext>
            </a:extLst>
          </p:cNvPr>
          <p:cNvSpPr>
            <a:spLocks noGrp="1"/>
          </p:cNvSpPr>
          <p:nvPr>
            <p:ph type="dt" sz="half" idx="10"/>
          </p:nvPr>
        </p:nvSpPr>
        <p:spPr/>
        <p:txBody>
          <a:bodyPr/>
          <a:lstStyle/>
          <a:p>
            <a:fld id="{2982E237-89D0-457B-AFCE-CEF413E3C420}" type="datetimeFigureOut">
              <a:rPr lang="zh-CN" altLang="en-US" smtClean="0"/>
              <a:t>2025/5/14</a:t>
            </a:fld>
            <a:endParaRPr lang="zh-CN" altLang="en-US"/>
          </a:p>
        </p:txBody>
      </p:sp>
      <p:sp>
        <p:nvSpPr>
          <p:cNvPr id="5" name="页脚占位符 4">
            <a:extLst>
              <a:ext uri="{FF2B5EF4-FFF2-40B4-BE49-F238E27FC236}">
                <a16:creationId xmlns:a16="http://schemas.microsoft.com/office/drawing/2014/main" id="{76CED919-63FE-E7BD-168B-70EFDEEA002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D2E3F04-E679-C2E8-5978-ABE7F394B729}"/>
              </a:ext>
            </a:extLst>
          </p:cNvPr>
          <p:cNvSpPr>
            <a:spLocks noGrp="1"/>
          </p:cNvSpPr>
          <p:nvPr>
            <p:ph type="sldNum" sz="quarter" idx="12"/>
          </p:nvPr>
        </p:nvSpPr>
        <p:spPr/>
        <p:txBody>
          <a:bodyPr/>
          <a:lstStyle/>
          <a:p>
            <a:fld id="{FDFACB0B-4171-4A35-B21C-8D7E9343F69C}" type="slidenum">
              <a:rPr lang="zh-CN" altLang="en-US" smtClean="0"/>
              <a:t>‹#›</a:t>
            </a:fld>
            <a:endParaRPr lang="zh-CN" altLang="en-US"/>
          </a:p>
        </p:txBody>
      </p:sp>
    </p:spTree>
    <p:extLst>
      <p:ext uri="{BB962C8B-B14F-4D97-AF65-F5344CB8AC3E}">
        <p14:creationId xmlns:p14="http://schemas.microsoft.com/office/powerpoint/2010/main" val="574379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emf"/><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3.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ags" Target="../tags/tag1.xml"/><Relationship Id="rId40"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8.xml"/><Relationship Id="rId18" Type="http://schemas.openxmlformats.org/officeDocument/2006/relationships/slideLayout" Target="../slideLayouts/slideLayout53.xml"/><Relationship Id="rId26" Type="http://schemas.openxmlformats.org/officeDocument/2006/relationships/slideLayout" Target="../slideLayouts/slideLayout61.xml"/><Relationship Id="rId39" Type="http://schemas.openxmlformats.org/officeDocument/2006/relationships/image" Target="../media/image3.svg"/><Relationship Id="rId21" Type="http://schemas.openxmlformats.org/officeDocument/2006/relationships/slideLayout" Target="../slideLayouts/slideLayout56.xml"/><Relationship Id="rId34" Type="http://schemas.openxmlformats.org/officeDocument/2006/relationships/theme" Target="../theme/theme2.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5" Type="http://schemas.openxmlformats.org/officeDocument/2006/relationships/slideLayout" Target="../slideLayouts/slideLayout60.xml"/><Relationship Id="rId33" Type="http://schemas.openxmlformats.org/officeDocument/2006/relationships/slideLayout" Target="../slideLayouts/slideLayout68.xml"/><Relationship Id="rId38" Type="http://schemas.openxmlformats.org/officeDocument/2006/relationships/image" Target="../media/image2.png"/><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29" Type="http://schemas.openxmlformats.org/officeDocument/2006/relationships/slideLayout" Target="../slideLayouts/slideLayout64.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24" Type="http://schemas.openxmlformats.org/officeDocument/2006/relationships/slideLayout" Target="../slideLayouts/slideLayout59.xml"/><Relationship Id="rId32" Type="http://schemas.openxmlformats.org/officeDocument/2006/relationships/slideLayout" Target="../slideLayouts/slideLayout67.xml"/><Relationship Id="rId37" Type="http://schemas.openxmlformats.org/officeDocument/2006/relationships/image" Target="../media/image1.emf"/><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28" Type="http://schemas.openxmlformats.org/officeDocument/2006/relationships/slideLayout" Target="../slideLayouts/slideLayout63.xml"/><Relationship Id="rId36" Type="http://schemas.openxmlformats.org/officeDocument/2006/relationships/oleObject" Target="../embeddings/oleObject2.bin"/><Relationship Id="rId10" Type="http://schemas.openxmlformats.org/officeDocument/2006/relationships/slideLayout" Target="../slideLayouts/slideLayout45.xml"/><Relationship Id="rId19" Type="http://schemas.openxmlformats.org/officeDocument/2006/relationships/slideLayout" Target="../slideLayouts/slideLayout54.xml"/><Relationship Id="rId31" Type="http://schemas.openxmlformats.org/officeDocument/2006/relationships/slideLayout" Target="../slideLayouts/slideLayout66.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slideLayout" Target="../slideLayouts/slideLayout57.xml"/><Relationship Id="rId27" Type="http://schemas.openxmlformats.org/officeDocument/2006/relationships/slideLayout" Target="../slideLayouts/slideLayout62.xml"/><Relationship Id="rId30" Type="http://schemas.openxmlformats.org/officeDocument/2006/relationships/slideLayout" Target="../slideLayouts/slideLayout65.xml"/><Relationship Id="rId35" Type="http://schemas.openxmlformats.org/officeDocument/2006/relationships/tags" Target="../tags/tag2.xml"/><Relationship Id="rId8" Type="http://schemas.openxmlformats.org/officeDocument/2006/relationships/slideLayout" Target="../slideLayouts/slideLayout43.xml"/><Relationship Id="rId3" Type="http://schemas.openxmlformats.org/officeDocument/2006/relationships/slideLayout" Target="../slideLayouts/slideLayout38.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1.xml"/><Relationship Id="rId18" Type="http://schemas.openxmlformats.org/officeDocument/2006/relationships/slideLayout" Target="../slideLayouts/slideLayout86.xml"/><Relationship Id="rId26" Type="http://schemas.openxmlformats.org/officeDocument/2006/relationships/slideLayout" Target="../slideLayouts/slideLayout94.xml"/><Relationship Id="rId39" Type="http://schemas.openxmlformats.org/officeDocument/2006/relationships/image" Target="../media/image1.emf"/><Relationship Id="rId21" Type="http://schemas.openxmlformats.org/officeDocument/2006/relationships/slideLayout" Target="../slideLayouts/slideLayout89.xml"/><Relationship Id="rId34" Type="http://schemas.openxmlformats.org/officeDocument/2006/relationships/slideLayout" Target="../slideLayouts/slideLayout102.xml"/><Relationship Id="rId7" Type="http://schemas.openxmlformats.org/officeDocument/2006/relationships/slideLayout" Target="../slideLayouts/slideLayout75.xml"/><Relationship Id="rId2" Type="http://schemas.openxmlformats.org/officeDocument/2006/relationships/slideLayout" Target="../slideLayouts/slideLayout70.xml"/><Relationship Id="rId16" Type="http://schemas.openxmlformats.org/officeDocument/2006/relationships/slideLayout" Target="../slideLayouts/slideLayout84.xml"/><Relationship Id="rId20" Type="http://schemas.openxmlformats.org/officeDocument/2006/relationships/slideLayout" Target="../slideLayouts/slideLayout88.xml"/><Relationship Id="rId29" Type="http://schemas.openxmlformats.org/officeDocument/2006/relationships/slideLayout" Target="../slideLayouts/slideLayout97.xml"/><Relationship Id="rId41" Type="http://schemas.openxmlformats.org/officeDocument/2006/relationships/image" Target="../media/image3.svg"/><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24" Type="http://schemas.openxmlformats.org/officeDocument/2006/relationships/slideLayout" Target="../slideLayouts/slideLayout92.xml"/><Relationship Id="rId32" Type="http://schemas.openxmlformats.org/officeDocument/2006/relationships/slideLayout" Target="../slideLayouts/slideLayout100.xml"/><Relationship Id="rId37" Type="http://schemas.openxmlformats.org/officeDocument/2006/relationships/tags" Target="../tags/tag3.xml"/><Relationship Id="rId40" Type="http://schemas.openxmlformats.org/officeDocument/2006/relationships/image" Target="../media/image2.png"/><Relationship Id="rId5" Type="http://schemas.openxmlformats.org/officeDocument/2006/relationships/slideLayout" Target="../slideLayouts/slideLayout73.xml"/><Relationship Id="rId15" Type="http://schemas.openxmlformats.org/officeDocument/2006/relationships/slideLayout" Target="../slideLayouts/slideLayout83.xml"/><Relationship Id="rId23" Type="http://schemas.openxmlformats.org/officeDocument/2006/relationships/slideLayout" Target="../slideLayouts/slideLayout91.xml"/><Relationship Id="rId28" Type="http://schemas.openxmlformats.org/officeDocument/2006/relationships/slideLayout" Target="../slideLayouts/slideLayout96.xml"/><Relationship Id="rId36" Type="http://schemas.openxmlformats.org/officeDocument/2006/relationships/theme" Target="../theme/theme3.xml"/><Relationship Id="rId10" Type="http://schemas.openxmlformats.org/officeDocument/2006/relationships/slideLayout" Target="../slideLayouts/slideLayout78.xml"/><Relationship Id="rId19" Type="http://schemas.openxmlformats.org/officeDocument/2006/relationships/slideLayout" Target="../slideLayouts/slideLayout87.xml"/><Relationship Id="rId31" Type="http://schemas.openxmlformats.org/officeDocument/2006/relationships/slideLayout" Target="../slideLayouts/slideLayout99.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slideLayout" Target="../slideLayouts/slideLayout82.xml"/><Relationship Id="rId22" Type="http://schemas.openxmlformats.org/officeDocument/2006/relationships/slideLayout" Target="../slideLayouts/slideLayout90.xml"/><Relationship Id="rId27" Type="http://schemas.openxmlformats.org/officeDocument/2006/relationships/slideLayout" Target="../slideLayouts/slideLayout95.xml"/><Relationship Id="rId30" Type="http://schemas.openxmlformats.org/officeDocument/2006/relationships/slideLayout" Target="../slideLayouts/slideLayout98.xml"/><Relationship Id="rId35" Type="http://schemas.openxmlformats.org/officeDocument/2006/relationships/slideLayout" Target="../slideLayouts/slideLayout103.xml"/><Relationship Id="rId8" Type="http://schemas.openxmlformats.org/officeDocument/2006/relationships/slideLayout" Target="../slideLayouts/slideLayout76.xml"/><Relationship Id="rId3" Type="http://schemas.openxmlformats.org/officeDocument/2006/relationships/slideLayout" Target="../slideLayouts/slideLayout71.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5" Type="http://schemas.openxmlformats.org/officeDocument/2006/relationships/slideLayout" Target="../slideLayouts/slideLayout93.xml"/><Relationship Id="rId33" Type="http://schemas.openxmlformats.org/officeDocument/2006/relationships/slideLayout" Target="../slideLayouts/slideLayout101.xml"/><Relationship Id="rId38" Type="http://schemas.openxmlformats.org/officeDocument/2006/relationships/oleObject" Target="../embeddings/oleObject3.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F18BFAC-970B-790D-9B17-3198A18126CB}"/>
              </a:ext>
            </a:extLst>
          </p:cNvPr>
          <p:cNvGraphicFramePr>
            <a:graphicFrameLocks noChangeAspect="1"/>
          </p:cNvGraphicFramePr>
          <p:nvPr userDrawn="1">
            <p:custDataLst>
              <p:tags r:id="rId37"/>
            </p:custDataLst>
            <p:extLst>
              <p:ext uri="{D42A27DB-BD31-4B8C-83A1-F6EECF244321}">
                <p14:modId xmlns:p14="http://schemas.microsoft.com/office/powerpoint/2010/main" val="29864570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8" imgW="404" imgH="405" progId="TCLayout.ActiveDocument.1">
                  <p:embed/>
                </p:oleObj>
              </mc:Choice>
              <mc:Fallback>
                <p:oleObj name="think-cell 幻灯片" r:id="rId38" imgW="404" imgH="405" progId="TCLayout.ActiveDocument.1">
                  <p:embed/>
                  <p:pic>
                    <p:nvPicPr>
                      <p:cNvPr id="7" name="think-cell data - do not delete" hidden="1">
                        <a:extLst>
                          <a:ext uri="{FF2B5EF4-FFF2-40B4-BE49-F238E27FC236}">
                            <a16:creationId xmlns:a16="http://schemas.microsoft.com/office/drawing/2014/main" id="{1F18BFAC-970B-790D-9B17-3198A18126CB}"/>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ltLang="zh-CN"/>
              <a:t>MAP </a:t>
            </a:r>
            <a:r>
              <a:rPr lang="en-US"/>
              <a:t>|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0376587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966" r:id="rId35"/>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5F0EB7E-2F1A-4A58-6D85-D6D12F2BC643}"/>
              </a:ext>
            </a:extLst>
          </p:cNvPr>
          <p:cNvGraphicFramePr>
            <a:graphicFrameLocks noChangeAspect="1"/>
          </p:cNvGraphicFramePr>
          <p:nvPr userDrawn="1">
            <p:custDataLst>
              <p:tags r:id="rId35"/>
            </p:custDataLst>
            <p:extLst>
              <p:ext uri="{D42A27DB-BD31-4B8C-83A1-F6EECF244321}">
                <p14:modId xmlns:p14="http://schemas.microsoft.com/office/powerpoint/2010/main" val="5510427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6" imgW="404" imgH="405" progId="TCLayout.ActiveDocument.1">
                  <p:embed/>
                </p:oleObj>
              </mc:Choice>
              <mc:Fallback>
                <p:oleObj name="think-cell 幻灯片" r:id="rId36" imgW="404" imgH="405" progId="TCLayout.ActiveDocument.1">
                  <p:embed/>
                  <p:pic>
                    <p:nvPicPr>
                      <p:cNvPr id="7" name="think-cell data - do not delete" hidden="1">
                        <a:extLst>
                          <a:ext uri="{FF2B5EF4-FFF2-40B4-BE49-F238E27FC236}">
                            <a16:creationId xmlns:a16="http://schemas.microsoft.com/office/drawing/2014/main" id="{95F0EB7E-2F1A-4A58-6D85-D6D12F2BC643}"/>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ltLang="zh-CN"/>
              <a:t>MAP</a:t>
            </a:r>
            <a:r>
              <a:rPr lang="en-US"/>
              <a:t>|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416164213"/>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967" r:id="rId33"/>
  </p:sldLayoutIdLst>
  <p:hf hdr="0" dt="0"/>
  <p:txStyles>
    <p:titleStyle>
      <a:lvl1pPr algn="l" defTabSz="914377" rtl="0" eaLnBrk="1" latinLnBrk="0" hangingPunct="1">
        <a:lnSpc>
          <a:spcPct val="100000"/>
        </a:lnSpc>
        <a:spcBef>
          <a:spcPct val="0"/>
        </a:spcBef>
        <a:buNone/>
        <a:defRPr kumimoji="1"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kumimoji="1"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kumimoji="1"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kumimoji="1"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kumimoji="1"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9pPr>
    </p:bodyStyle>
    <p:otherStyle>
      <a:defPPr>
        <a:defRPr lang="de-DE"/>
      </a:defPPr>
      <a:lvl1pPr marL="0" algn="l" defTabSz="914377" rtl="0" eaLnBrk="1" latinLnBrk="0" hangingPunct="1">
        <a:defRPr kumimoji="1" sz="1800" kern="1200">
          <a:solidFill>
            <a:schemeClr val="tx1"/>
          </a:solidFill>
          <a:latin typeface="+mn-lt"/>
          <a:ea typeface="+mn-ea"/>
          <a:cs typeface="+mn-cs"/>
        </a:defRPr>
      </a:lvl1pPr>
      <a:lvl2pPr marL="457189" algn="l" defTabSz="914377" rtl="0" eaLnBrk="1" latinLnBrk="0" hangingPunct="1">
        <a:defRPr kumimoji="1" sz="1800" kern="1200">
          <a:solidFill>
            <a:schemeClr val="tx1"/>
          </a:solidFill>
          <a:latin typeface="+mn-lt"/>
          <a:ea typeface="+mn-ea"/>
          <a:cs typeface="+mn-cs"/>
        </a:defRPr>
      </a:lvl2pPr>
      <a:lvl3pPr marL="914377" algn="l" defTabSz="914377" rtl="0" eaLnBrk="1" latinLnBrk="0" hangingPunct="1">
        <a:defRPr kumimoji="1" sz="1800" kern="1200">
          <a:solidFill>
            <a:schemeClr val="tx1"/>
          </a:solidFill>
          <a:latin typeface="+mn-lt"/>
          <a:ea typeface="+mn-ea"/>
          <a:cs typeface="+mn-cs"/>
        </a:defRPr>
      </a:lvl3pPr>
      <a:lvl4pPr marL="1371566" algn="l" defTabSz="914377" rtl="0" eaLnBrk="1" latinLnBrk="0" hangingPunct="1">
        <a:defRPr kumimoji="1" sz="1800" kern="1200">
          <a:solidFill>
            <a:schemeClr val="tx1"/>
          </a:solidFill>
          <a:latin typeface="+mn-lt"/>
          <a:ea typeface="+mn-ea"/>
          <a:cs typeface="+mn-cs"/>
        </a:defRPr>
      </a:lvl4pPr>
      <a:lvl5pPr marL="1828754" algn="l" defTabSz="914377" rtl="0" eaLnBrk="1" latinLnBrk="0" hangingPunct="1">
        <a:defRPr kumimoji="1" sz="1800" kern="1200">
          <a:solidFill>
            <a:schemeClr val="tx1"/>
          </a:solidFill>
          <a:latin typeface="+mn-lt"/>
          <a:ea typeface="+mn-ea"/>
          <a:cs typeface="+mn-cs"/>
        </a:defRPr>
      </a:lvl5pPr>
      <a:lvl6pPr marL="2285943" algn="l" defTabSz="914377" rtl="0" eaLnBrk="1" latinLnBrk="0" hangingPunct="1">
        <a:defRPr kumimoji="1" sz="1800" kern="1200">
          <a:solidFill>
            <a:schemeClr val="tx1"/>
          </a:solidFill>
          <a:latin typeface="+mn-lt"/>
          <a:ea typeface="+mn-ea"/>
          <a:cs typeface="+mn-cs"/>
        </a:defRPr>
      </a:lvl6pPr>
      <a:lvl7pPr marL="2743131" algn="l" defTabSz="914377" rtl="0" eaLnBrk="1" latinLnBrk="0" hangingPunct="1">
        <a:defRPr kumimoji="1" sz="1800" kern="1200">
          <a:solidFill>
            <a:schemeClr val="tx1"/>
          </a:solidFill>
          <a:latin typeface="+mn-lt"/>
          <a:ea typeface="+mn-ea"/>
          <a:cs typeface="+mn-cs"/>
        </a:defRPr>
      </a:lvl7pPr>
      <a:lvl8pPr marL="3200320" algn="l" defTabSz="914377" rtl="0" eaLnBrk="1" latinLnBrk="0" hangingPunct="1">
        <a:defRPr kumimoji="1" sz="1800" kern="1200">
          <a:solidFill>
            <a:schemeClr val="tx1"/>
          </a:solidFill>
          <a:latin typeface="+mn-lt"/>
          <a:ea typeface="+mn-ea"/>
          <a:cs typeface="+mn-cs"/>
        </a:defRPr>
      </a:lvl8pPr>
      <a:lvl9pPr marL="3657509" algn="l" defTabSz="914377"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307A372-4171-FECF-E98D-454C828C9167}"/>
              </a:ext>
            </a:extLst>
          </p:cNvPr>
          <p:cNvGraphicFramePr>
            <a:graphicFrameLocks noChangeAspect="1"/>
          </p:cNvGraphicFramePr>
          <p:nvPr userDrawn="1">
            <p:custDataLst>
              <p:tags r:id="rId37"/>
            </p:custDataLst>
            <p:extLst>
              <p:ext uri="{D42A27DB-BD31-4B8C-83A1-F6EECF244321}">
                <p14:modId xmlns:p14="http://schemas.microsoft.com/office/powerpoint/2010/main" val="42401566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8" imgW="404" imgH="405" progId="TCLayout.ActiveDocument.1">
                  <p:embed/>
                </p:oleObj>
              </mc:Choice>
              <mc:Fallback>
                <p:oleObj name="think-cell 幻灯片" r:id="rId38" imgW="404" imgH="405" progId="TCLayout.ActiveDocument.1">
                  <p:embed/>
                  <p:pic>
                    <p:nvPicPr>
                      <p:cNvPr id="7" name="think-cell data - do not delete" hidden="1">
                        <a:extLst>
                          <a:ext uri="{FF2B5EF4-FFF2-40B4-BE49-F238E27FC236}">
                            <a16:creationId xmlns:a16="http://schemas.microsoft.com/office/drawing/2014/main" id="{4307A372-4171-FECF-E98D-454C828C916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133179712"/>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32" r:id="rId3"/>
    <p:sldLayoutId id="2147483933" r:id="rId4"/>
    <p:sldLayoutId id="2147483934" r:id="rId5"/>
    <p:sldLayoutId id="2147483935" r:id="rId6"/>
    <p:sldLayoutId id="2147483936" r:id="rId7"/>
    <p:sldLayoutId id="2147483937" r:id="rId8"/>
    <p:sldLayoutId id="2147483938" r:id="rId9"/>
    <p:sldLayoutId id="2147483939" r:id="rId10"/>
    <p:sldLayoutId id="2147483940" r:id="rId11"/>
    <p:sldLayoutId id="2147483941" r:id="rId12"/>
    <p:sldLayoutId id="2147483942" r:id="rId13"/>
    <p:sldLayoutId id="2147483943" r:id="rId14"/>
    <p:sldLayoutId id="2147483944" r:id="rId15"/>
    <p:sldLayoutId id="2147483945" r:id="rId16"/>
    <p:sldLayoutId id="2147483946" r:id="rId17"/>
    <p:sldLayoutId id="2147483947" r:id="rId18"/>
    <p:sldLayoutId id="2147483948" r:id="rId19"/>
    <p:sldLayoutId id="2147483949" r:id="rId20"/>
    <p:sldLayoutId id="2147483950" r:id="rId21"/>
    <p:sldLayoutId id="2147483951" r:id="rId22"/>
    <p:sldLayoutId id="2147483952" r:id="rId23"/>
    <p:sldLayoutId id="2147483953" r:id="rId24"/>
    <p:sldLayoutId id="2147483954" r:id="rId25"/>
    <p:sldLayoutId id="2147483955" r:id="rId26"/>
    <p:sldLayoutId id="2147483956" r:id="rId27"/>
    <p:sldLayoutId id="2147483957" r:id="rId28"/>
    <p:sldLayoutId id="2147483958" r:id="rId29"/>
    <p:sldLayoutId id="2147483959" r:id="rId30"/>
    <p:sldLayoutId id="2147483960" r:id="rId31"/>
    <p:sldLayoutId id="2147483961" r:id="rId32"/>
    <p:sldLayoutId id="2147483962" r:id="rId33"/>
    <p:sldLayoutId id="2147483964" r:id="rId34"/>
    <p:sldLayoutId id="2147483965" r:id="rId35"/>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4.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microsoft.com/office/2011/relationships/webextension" Target="../webextensions/webextension1.xml"/><Relationship Id="rId1" Type="http://schemas.openxmlformats.org/officeDocument/2006/relationships/slideLayout" Target="../slideLayouts/slideLayout45.xml"/><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microsoft.com/office/2011/relationships/webextension" Target="../webextensions/webextension2.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479425" y="2637000"/>
            <a:ext cx="11587237" cy="1584000"/>
          </a:xfrm>
        </p:spPr>
        <p:txBody>
          <a:bodyPr anchor="t"/>
          <a:lstStyle/>
          <a:p>
            <a:r>
              <a:rPr lang="en-US" sz="3200"/>
              <a:t>Medical Advisory Panel (MAP) Meeting</a:t>
            </a:r>
            <a:br>
              <a:rPr lang="en-US" sz="3200"/>
            </a:br>
            <a:r>
              <a:rPr lang="en-US" sz="3200"/>
              <a:t>TA </a:t>
            </a:r>
            <a:r>
              <a:rPr lang="en-US" altLang="zh-CN" sz="3200"/>
              <a:t>INFL</a:t>
            </a:r>
            <a:r>
              <a:rPr lang="en-US" sz="3200"/>
              <a:t> Update</a:t>
            </a:r>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479425" y="4437120"/>
            <a:ext cx="8281375" cy="936000"/>
          </a:xfrm>
        </p:spPr>
        <p:txBody>
          <a:bodyPr/>
          <a:lstStyle/>
          <a:p>
            <a:pPr lvl="1"/>
            <a:r>
              <a:rPr lang="en-US" altLang="zh-CN"/>
              <a:t>Saskia Kind /Helen Tao </a:t>
            </a:r>
            <a:r>
              <a:rPr lang="en-US"/>
              <a:t>| May 15th,</a:t>
            </a:r>
            <a:r>
              <a:rPr lang="en-US" altLang="zh-CN"/>
              <a:t> </a:t>
            </a:r>
            <a:r>
              <a:rPr lang="en-US"/>
              <a:t>2025</a:t>
            </a:r>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a:xfrm>
            <a:off x="479936" y="6165328"/>
            <a:ext cx="5040000" cy="216000"/>
          </a:xfrm>
        </p:spPr>
        <p:txBody>
          <a:bodyPr/>
          <a:lstStyle/>
          <a:p>
            <a:r>
              <a:rPr lang="en-US"/>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80000" indent="-180000" algn="l">
              <a:buFont typeface="Arial" panose="020B0604020202020204" pitchFamily="34" charset="0"/>
              <a:buChar char="•"/>
            </a:pPr>
            <a:endParaRPr lang="en-US" sz="1600"/>
          </a:p>
        </p:txBody>
      </p:sp>
    </p:spTree>
    <p:extLst>
      <p:ext uri="{BB962C8B-B14F-4D97-AF65-F5344CB8AC3E}">
        <p14:creationId xmlns:p14="http://schemas.microsoft.com/office/powerpoint/2010/main" val="1922158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93FB3-3163-7B05-DEFF-69F22487C3AE}"/>
              </a:ext>
            </a:extLst>
          </p:cNvPr>
          <p:cNvSpPr>
            <a:spLocks noGrp="1"/>
          </p:cNvSpPr>
          <p:nvPr>
            <p:ph type="ctrTitle"/>
          </p:nvPr>
        </p:nvSpPr>
        <p:spPr/>
        <p:txBody>
          <a:bodyPr/>
          <a:lstStyle/>
          <a:p>
            <a:r>
              <a:rPr lang="en-US" altLang="zh-CN"/>
              <a:t>Title</a:t>
            </a:r>
            <a:endParaRPr lang="zh-CN" altLang="en-US"/>
          </a:p>
        </p:txBody>
      </p:sp>
      <p:sp>
        <p:nvSpPr>
          <p:cNvPr id="3" name="Subtitle 2">
            <a:extLst>
              <a:ext uri="{FF2B5EF4-FFF2-40B4-BE49-F238E27FC236}">
                <a16:creationId xmlns:a16="http://schemas.microsoft.com/office/drawing/2014/main" id="{41741613-E2FD-6E2B-7CB7-751BCF98F44A}"/>
              </a:ext>
            </a:extLst>
          </p:cNvPr>
          <p:cNvSpPr>
            <a:spLocks noGrp="1"/>
          </p:cNvSpPr>
          <p:nvPr>
            <p:ph type="subTitle" idx="1"/>
          </p:nvPr>
        </p:nvSpPr>
        <p:spPr/>
        <p:txBody>
          <a:bodyPr/>
          <a:lstStyle/>
          <a:p>
            <a:endParaRPr lang="zh-CN" altLang="en-US"/>
          </a:p>
        </p:txBody>
      </p:sp>
      <p:sp>
        <p:nvSpPr>
          <p:cNvPr id="5" name="Slide Number Placeholder 4">
            <a:extLst>
              <a:ext uri="{FF2B5EF4-FFF2-40B4-BE49-F238E27FC236}">
                <a16:creationId xmlns:a16="http://schemas.microsoft.com/office/drawing/2014/main" id="{A0068ADC-8E5D-BFB6-C0B8-B3935D3241C2}"/>
              </a:ext>
            </a:extLst>
          </p:cNvPr>
          <p:cNvSpPr>
            <a:spLocks noGrp="1"/>
          </p:cNvSpPr>
          <p:nvPr>
            <p:ph type="sldNum" sz="quarter" idx="12"/>
          </p:nvPr>
        </p:nvSpPr>
        <p:spPr/>
        <p:txBody>
          <a:bodyPr/>
          <a:lstStyle/>
          <a:p>
            <a:fld id="{8E05DC9C-C50D-D242-B083-59CEE07163F1}" type="slidenum">
              <a:rPr lang="en-US" smtClean="0"/>
              <a:t>2</a:t>
            </a:fld>
            <a:endParaRPr lang="en-US"/>
          </a:p>
        </p:txBody>
      </p:sp>
      <p:pic>
        <p:nvPicPr>
          <p:cNvPr id="8" name="Picture 7">
            <a:extLst>
              <a:ext uri="{FF2B5EF4-FFF2-40B4-BE49-F238E27FC236}">
                <a16:creationId xmlns:a16="http://schemas.microsoft.com/office/drawing/2014/main" id="{87B9A2E0-65BF-9844-3255-FFFEBAF2F985}"/>
              </a:ext>
            </a:extLst>
          </p:cNvPr>
          <p:cNvPicPr>
            <a:picLocks noChangeAspect="1"/>
          </p:cNvPicPr>
          <p:nvPr/>
        </p:nvPicPr>
        <p:blipFill>
          <a:blip r:embed="rId2"/>
          <a:stretch>
            <a:fillRect/>
          </a:stretch>
        </p:blipFill>
        <p:spPr>
          <a:xfrm>
            <a:off x="741960" y="323164"/>
            <a:ext cx="10682632" cy="5967420"/>
          </a:xfrm>
          <a:prstGeom prst="rect">
            <a:avLst/>
          </a:prstGeom>
        </p:spPr>
      </p:pic>
    </p:spTree>
    <p:extLst>
      <p:ext uri="{BB962C8B-B14F-4D97-AF65-F5344CB8AC3E}">
        <p14:creationId xmlns:p14="http://schemas.microsoft.com/office/powerpoint/2010/main" val="3519293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0" name="Straight Connector 152">
            <a:extLst>
              <a:ext uri="{FF2B5EF4-FFF2-40B4-BE49-F238E27FC236}">
                <a16:creationId xmlns:a16="http://schemas.microsoft.com/office/drawing/2014/main" id="{721B2A45-46B2-62C3-5C64-7F0206C0FC12}"/>
              </a:ext>
            </a:extLst>
          </p:cNvPr>
          <p:cNvCxnSpPr>
            <a:cxnSpLocks/>
          </p:cNvCxnSpPr>
          <p:nvPr/>
        </p:nvCxnSpPr>
        <p:spPr>
          <a:xfrm flipV="1">
            <a:off x="6356425" y="3253268"/>
            <a:ext cx="0" cy="1311145"/>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232">
            <a:extLst>
              <a:ext uri="{FF2B5EF4-FFF2-40B4-BE49-F238E27FC236}">
                <a16:creationId xmlns:a16="http://schemas.microsoft.com/office/drawing/2014/main" id="{A52D8FAD-4675-FBEE-F9B5-EB1119B902F7}"/>
              </a:ext>
            </a:extLst>
          </p:cNvPr>
          <p:cNvCxnSpPr>
            <a:cxnSpLocks/>
            <a:stCxn id="61" idx="3"/>
          </p:cNvCxnSpPr>
          <p:nvPr/>
        </p:nvCxnSpPr>
        <p:spPr>
          <a:xfrm flipH="1" flipV="1">
            <a:off x="3662000" y="3267153"/>
            <a:ext cx="11721" cy="288515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7D1BC876-6DAB-DD6E-80CE-5AD494904538}"/>
              </a:ext>
            </a:extLst>
          </p:cNvPr>
          <p:cNvCxnSpPr>
            <a:cxnSpLocks/>
          </p:cNvCxnSpPr>
          <p:nvPr/>
        </p:nvCxnSpPr>
        <p:spPr>
          <a:xfrm flipH="1" flipV="1">
            <a:off x="4416518" y="1363987"/>
            <a:ext cx="17518" cy="160615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34F9162-B2EE-6407-82E7-80116CDBF6A1}"/>
              </a:ext>
            </a:extLst>
          </p:cNvPr>
          <p:cNvSpPr>
            <a:spLocks noGrp="1"/>
          </p:cNvSpPr>
          <p:nvPr>
            <p:ph type="title"/>
          </p:nvPr>
        </p:nvSpPr>
        <p:spPr/>
        <p:txBody>
          <a:bodyPr/>
          <a:lstStyle/>
          <a:p>
            <a:r>
              <a:rPr lang="en-US" altLang="zh-CN"/>
              <a:t>2025 INFL TA Key Milestone Overview</a:t>
            </a:r>
            <a:endParaRPr lang="zh-CN" altLang="en-US"/>
          </a:p>
        </p:txBody>
      </p:sp>
      <p:sp>
        <p:nvSpPr>
          <p:cNvPr id="5" name="Footer Placeholder 4">
            <a:extLst>
              <a:ext uri="{FF2B5EF4-FFF2-40B4-BE49-F238E27FC236}">
                <a16:creationId xmlns:a16="http://schemas.microsoft.com/office/drawing/2014/main" id="{081B2420-C63E-EDA9-C251-A06018438DF5}"/>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lang="en-US" altLang="zh-CN"/>
              <a:t>TA CEC Portfolio Update </a:t>
            </a: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    ONLY FOR INTERNAL USE</a:t>
            </a:r>
          </a:p>
        </p:txBody>
      </p:sp>
      <p:sp>
        <p:nvSpPr>
          <p:cNvPr id="6" name="Slide Number Placeholder 5">
            <a:extLst>
              <a:ext uri="{FF2B5EF4-FFF2-40B4-BE49-F238E27FC236}">
                <a16:creationId xmlns:a16="http://schemas.microsoft.com/office/drawing/2014/main" id="{E055EEA7-99BA-F1C3-7B5F-810A639541CE}"/>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0" name="TextBox 398">
            <a:extLst>
              <a:ext uri="{FF2B5EF4-FFF2-40B4-BE49-F238E27FC236}">
                <a16:creationId xmlns:a16="http://schemas.microsoft.com/office/drawing/2014/main" id="{0A837455-95AD-2D8F-407A-E75131561529}"/>
              </a:ext>
            </a:extLst>
          </p:cNvPr>
          <p:cNvSpPr txBox="1"/>
          <p:nvPr/>
        </p:nvSpPr>
        <p:spPr>
          <a:xfrm>
            <a:off x="1652938" y="2602044"/>
            <a:ext cx="673599" cy="364467"/>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de-DE" sz="1100" i="0" u="none" strike="noStrike" kern="1200" cap="none" spc="0" normalizeH="0" baseline="0" noProof="0">
                <a:ln>
                  <a:noFill/>
                </a:ln>
                <a:solidFill>
                  <a:srgbClr val="076D7E"/>
                </a:solidFill>
                <a:effectLst/>
                <a:uLnTx/>
                <a:uFillTx/>
                <a:ea typeface="+mn-ea"/>
                <a:cs typeface="+mn-cs"/>
              </a:rPr>
              <a:t>Feb 2025</a:t>
            </a:r>
            <a:endParaRPr kumimoji="0" lang="en-US" sz="1100" i="0" u="none" strike="noStrike" kern="1200" cap="none" spc="0" normalizeH="0" baseline="0" noProof="0">
              <a:ln>
                <a:noFill/>
              </a:ln>
              <a:solidFill>
                <a:srgbClr val="076D7E"/>
              </a:solidFill>
              <a:effectLst/>
              <a:uLnTx/>
              <a:uFillTx/>
              <a:ea typeface="+mn-ea"/>
              <a:cs typeface="+mn-cs"/>
            </a:endParaRPr>
          </a:p>
        </p:txBody>
      </p:sp>
      <p:sp>
        <p:nvSpPr>
          <p:cNvPr id="11" name="AutoShape 2">
            <a:extLst>
              <a:ext uri="{FF2B5EF4-FFF2-40B4-BE49-F238E27FC236}">
                <a16:creationId xmlns:a16="http://schemas.microsoft.com/office/drawing/2014/main" id="{7535B82A-C4BC-DB15-467A-23227F0C0A1A}"/>
              </a:ext>
            </a:extLst>
          </p:cNvPr>
          <p:cNvSpPr>
            <a:spLocks noChangeArrowheads="1"/>
          </p:cNvSpPr>
          <p:nvPr/>
        </p:nvSpPr>
        <p:spPr bwMode="gray">
          <a:xfrm>
            <a:off x="1000168" y="3003860"/>
            <a:ext cx="10614251" cy="215687"/>
          </a:xfrm>
          <a:custGeom>
            <a:avLst/>
            <a:gdLst>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61211 w 10440925"/>
              <a:gd name="connsiteY5" fmla="*/ 99783 h 199566"/>
              <a:gd name="connsiteX6" fmla="*/ 0 w 10440925"/>
              <a:gd name="connsiteY6" fmla="*/ 0 h 199566"/>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0 w 10440925"/>
              <a:gd name="connsiteY5" fmla="*/ 0 h 19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40925" h="199566">
                <a:moveTo>
                  <a:pt x="0" y="0"/>
                </a:moveTo>
                <a:lnTo>
                  <a:pt x="10379714" y="0"/>
                </a:lnTo>
                <a:lnTo>
                  <a:pt x="10440925" y="99783"/>
                </a:lnTo>
                <a:lnTo>
                  <a:pt x="10379714" y="199566"/>
                </a:lnTo>
                <a:lnTo>
                  <a:pt x="0" y="199566"/>
                </a:lnTo>
                <a:lnTo>
                  <a:pt x="0" y="0"/>
                </a:lnTo>
                <a:close/>
              </a:path>
            </a:pathLst>
          </a:cu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ot="0" spcFirstLastPara="0" vertOverflow="overflow" horzOverflow="overflow" vert="horz" wrap="square" lIns="0" tIns="45720" rIns="91440" bIns="45720" numCol="1" spcCol="0" rtlCol="0" fromWordArt="0" anchor="ctr" anchorCtr="0" forceAA="0" compatLnSpc="1">
            <a:prstTxWarp prst="textNoShape">
              <a:avLst/>
            </a:prstTxWarp>
            <a:noAutofit/>
          </a:bodyPr>
          <a:lstStyle/>
          <a:p>
            <a:pPr marL="115564"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1" u="none" strike="noStrike" kern="1200" cap="none" spc="0" normalizeH="0" baseline="0" noProof="0">
              <a:ln>
                <a:noFill/>
              </a:ln>
              <a:solidFill>
                <a:srgbClr val="FFFFFF"/>
              </a:solidFill>
              <a:effectLst/>
              <a:uLnTx/>
              <a:uFillTx/>
              <a:ea typeface="+mn-ea"/>
              <a:cs typeface="Arial" panose="020B0604020202020204" pitchFamily="34" charset="0"/>
            </a:endParaRPr>
          </a:p>
        </p:txBody>
      </p:sp>
      <p:grpSp>
        <p:nvGrpSpPr>
          <p:cNvPr id="12" name="Graphic 90">
            <a:extLst>
              <a:ext uri="{FF2B5EF4-FFF2-40B4-BE49-F238E27FC236}">
                <a16:creationId xmlns:a16="http://schemas.microsoft.com/office/drawing/2014/main" id="{5D08F1AE-624E-C723-8FE4-67FC6816C3A2}"/>
              </a:ext>
            </a:extLst>
          </p:cNvPr>
          <p:cNvGrpSpPr/>
          <p:nvPr/>
        </p:nvGrpSpPr>
        <p:grpSpPr>
          <a:xfrm>
            <a:off x="5210996" y="5154363"/>
            <a:ext cx="360000" cy="324000"/>
            <a:chOff x="1537826" y="3895566"/>
            <a:chExt cx="457200" cy="457200"/>
          </a:xfrm>
          <a:solidFill>
            <a:schemeClr val="bg1"/>
          </a:solidFill>
        </p:grpSpPr>
        <p:sp>
          <p:nvSpPr>
            <p:cNvPr id="13" name="Freeform 210">
              <a:extLst>
                <a:ext uri="{FF2B5EF4-FFF2-40B4-BE49-F238E27FC236}">
                  <a16:creationId xmlns:a16="http://schemas.microsoft.com/office/drawing/2014/main" id="{30C1FFBE-385E-8FA6-0A4B-E4BA136745BC}"/>
                </a:ext>
              </a:extLst>
            </p:cNvPr>
            <p:cNvSpPr/>
            <p:nvPr/>
          </p:nvSpPr>
          <p:spPr>
            <a:xfrm>
              <a:off x="1537826" y="3895566"/>
              <a:ext cx="457200" cy="457200"/>
            </a:xfrm>
            <a:custGeom>
              <a:avLst/>
              <a:gdLst>
                <a:gd name="connsiteX0" fmla="*/ 0 w 457200"/>
                <a:gd name="connsiteY0" fmla="*/ 0 h 457200"/>
                <a:gd name="connsiteX1" fmla="*/ 0 w 457200"/>
                <a:gd name="connsiteY1" fmla="*/ 457200 h 457200"/>
                <a:gd name="connsiteX2" fmla="*/ 457200 w 457200"/>
                <a:gd name="connsiteY2" fmla="*/ 457200 h 457200"/>
                <a:gd name="connsiteX3" fmla="*/ 457200 w 457200"/>
                <a:gd name="connsiteY3" fmla="*/ 0 h 457200"/>
                <a:gd name="connsiteX4" fmla="*/ 294481 w 457200"/>
                <a:gd name="connsiteY4" fmla="*/ 250825 h 457200"/>
                <a:gd name="connsiteX5" fmla="*/ 280988 w 457200"/>
                <a:gd name="connsiteY5" fmla="*/ 236538 h 457200"/>
                <a:gd name="connsiteX6" fmla="*/ 269081 w 457200"/>
                <a:gd name="connsiteY6" fmla="*/ 238919 h 457200"/>
                <a:gd name="connsiteX7" fmla="*/ 258763 w 457200"/>
                <a:gd name="connsiteY7" fmla="*/ 236538 h 457200"/>
                <a:gd name="connsiteX8" fmla="*/ 244475 w 457200"/>
                <a:gd name="connsiteY8" fmla="*/ 223044 h 457200"/>
                <a:gd name="connsiteX9" fmla="*/ 243681 w 457200"/>
                <a:gd name="connsiteY9" fmla="*/ 220663 h 457200"/>
                <a:gd name="connsiteX10" fmla="*/ 242094 w 457200"/>
                <a:gd name="connsiteY10" fmla="*/ 211138 h 457200"/>
                <a:gd name="connsiteX11" fmla="*/ 269081 w 457200"/>
                <a:gd name="connsiteY11" fmla="*/ 183356 h 457200"/>
                <a:gd name="connsiteX12" fmla="*/ 280988 w 457200"/>
                <a:gd name="connsiteY12" fmla="*/ 186531 h 457200"/>
                <a:gd name="connsiteX13" fmla="*/ 292894 w 457200"/>
                <a:gd name="connsiteY13" fmla="*/ 196850 h 457200"/>
                <a:gd name="connsiteX14" fmla="*/ 294481 w 457200"/>
                <a:gd name="connsiteY14" fmla="*/ 200819 h 457200"/>
                <a:gd name="connsiteX15" fmla="*/ 296863 w 457200"/>
                <a:gd name="connsiteY15" fmla="*/ 211138 h 457200"/>
                <a:gd name="connsiteX16" fmla="*/ 294481 w 457200"/>
                <a:gd name="connsiteY16" fmla="*/ 223044 h 457200"/>
                <a:gd name="connsiteX17" fmla="*/ 308769 w 457200"/>
                <a:gd name="connsiteY17" fmla="*/ 237331 h 457200"/>
                <a:gd name="connsiteX18" fmla="*/ 350838 w 457200"/>
                <a:gd name="connsiteY18" fmla="*/ 385763 h 457200"/>
                <a:gd name="connsiteX19" fmla="*/ 330994 w 457200"/>
                <a:gd name="connsiteY19" fmla="*/ 385763 h 457200"/>
                <a:gd name="connsiteX20" fmla="*/ 294481 w 457200"/>
                <a:gd name="connsiteY20" fmla="*/ 250825 h 457200"/>
                <a:gd name="connsiteX21" fmla="*/ 230188 w 457200"/>
                <a:gd name="connsiteY21" fmla="*/ 237331 h 457200"/>
                <a:gd name="connsiteX22" fmla="*/ 184944 w 457200"/>
                <a:gd name="connsiteY22" fmla="*/ 282575 h 457200"/>
                <a:gd name="connsiteX23" fmla="*/ 184944 w 457200"/>
                <a:gd name="connsiteY23" fmla="*/ 282575 h 457200"/>
                <a:gd name="connsiteX24" fmla="*/ 142081 w 457200"/>
                <a:gd name="connsiteY24" fmla="*/ 239713 h 457200"/>
                <a:gd name="connsiteX25" fmla="*/ 142081 w 457200"/>
                <a:gd name="connsiteY25" fmla="*/ 239713 h 457200"/>
                <a:gd name="connsiteX26" fmla="*/ 292100 w 457200"/>
                <a:gd name="connsiteY26" fmla="*/ 89694 h 457200"/>
                <a:gd name="connsiteX27" fmla="*/ 334963 w 457200"/>
                <a:gd name="connsiteY27" fmla="*/ 132556 h 457200"/>
                <a:gd name="connsiteX28" fmla="*/ 295275 w 457200"/>
                <a:gd name="connsiteY28" fmla="*/ 172244 h 457200"/>
                <a:gd name="connsiteX29" fmla="*/ 269081 w 457200"/>
                <a:gd name="connsiteY29" fmla="*/ 164306 h 457200"/>
                <a:gd name="connsiteX30" fmla="*/ 222250 w 457200"/>
                <a:gd name="connsiteY30" fmla="*/ 211138 h 457200"/>
                <a:gd name="connsiteX31" fmla="*/ 230188 w 457200"/>
                <a:gd name="connsiteY31" fmla="*/ 237331 h 457200"/>
                <a:gd name="connsiteX32" fmla="*/ 157163 w 457200"/>
                <a:gd name="connsiteY32" fmla="*/ 282575 h 457200"/>
                <a:gd name="connsiteX33" fmla="*/ 151606 w 457200"/>
                <a:gd name="connsiteY33" fmla="*/ 288131 h 457200"/>
                <a:gd name="connsiteX34" fmla="*/ 136525 w 457200"/>
                <a:gd name="connsiteY34" fmla="*/ 273050 h 457200"/>
                <a:gd name="connsiteX35" fmla="*/ 142081 w 457200"/>
                <a:gd name="connsiteY35" fmla="*/ 267494 h 457200"/>
                <a:gd name="connsiteX36" fmla="*/ 157163 w 457200"/>
                <a:gd name="connsiteY36" fmla="*/ 282575 h 457200"/>
                <a:gd name="connsiteX37" fmla="*/ 384969 w 457200"/>
                <a:gd name="connsiteY37" fmla="*/ 404813 h 457200"/>
                <a:gd name="connsiteX38" fmla="*/ 384969 w 457200"/>
                <a:gd name="connsiteY38" fmla="*/ 436563 h 457200"/>
                <a:gd name="connsiteX39" fmla="*/ 72231 w 457200"/>
                <a:gd name="connsiteY39" fmla="*/ 436563 h 457200"/>
                <a:gd name="connsiteX40" fmla="*/ 72231 w 457200"/>
                <a:gd name="connsiteY40" fmla="*/ 404813 h 457200"/>
                <a:gd name="connsiteX41" fmla="*/ 437356 w 457200"/>
                <a:gd name="connsiteY41" fmla="*/ 437356 h 457200"/>
                <a:gd name="connsiteX42" fmla="*/ 404813 w 457200"/>
                <a:gd name="connsiteY42" fmla="*/ 437356 h 457200"/>
                <a:gd name="connsiteX43" fmla="*/ 404813 w 457200"/>
                <a:gd name="connsiteY43" fmla="*/ 385763 h 457200"/>
                <a:gd name="connsiteX44" fmla="*/ 370681 w 457200"/>
                <a:gd name="connsiteY44" fmla="*/ 385763 h 457200"/>
                <a:gd name="connsiteX45" fmla="*/ 315913 w 457200"/>
                <a:gd name="connsiteY45" fmla="*/ 216694 h 457200"/>
                <a:gd name="connsiteX46" fmla="*/ 316706 w 457200"/>
                <a:gd name="connsiteY46" fmla="*/ 211138 h 457200"/>
                <a:gd name="connsiteX47" fmla="*/ 308769 w 457200"/>
                <a:gd name="connsiteY47" fmla="*/ 185738 h 457200"/>
                <a:gd name="connsiteX48" fmla="*/ 362744 w 457200"/>
                <a:gd name="connsiteY48" fmla="*/ 132556 h 457200"/>
                <a:gd name="connsiteX49" fmla="*/ 292100 w 457200"/>
                <a:gd name="connsiteY49" fmla="*/ 61913 h 457200"/>
                <a:gd name="connsiteX50" fmla="*/ 114300 w 457200"/>
                <a:gd name="connsiteY50" fmla="*/ 239713 h 457200"/>
                <a:gd name="connsiteX51" fmla="*/ 128588 w 457200"/>
                <a:gd name="connsiteY51" fmla="*/ 254000 h 457200"/>
                <a:gd name="connsiteX52" fmla="*/ 108744 w 457200"/>
                <a:gd name="connsiteY52" fmla="*/ 273050 h 457200"/>
                <a:gd name="connsiteX53" fmla="*/ 151606 w 457200"/>
                <a:gd name="connsiteY53" fmla="*/ 315913 h 457200"/>
                <a:gd name="connsiteX54" fmla="*/ 170656 w 457200"/>
                <a:gd name="connsiteY54" fmla="*/ 296863 h 457200"/>
                <a:gd name="connsiteX55" fmla="*/ 184944 w 457200"/>
                <a:gd name="connsiteY55" fmla="*/ 310356 h 457200"/>
                <a:gd name="connsiteX56" fmla="*/ 244475 w 457200"/>
                <a:gd name="connsiteY56" fmla="*/ 250825 h 457200"/>
                <a:gd name="connsiteX57" fmla="*/ 269081 w 457200"/>
                <a:gd name="connsiteY57" fmla="*/ 257969 h 457200"/>
                <a:gd name="connsiteX58" fmla="*/ 274638 w 457200"/>
                <a:gd name="connsiteY58" fmla="*/ 257969 h 457200"/>
                <a:gd name="connsiteX59" fmla="*/ 311150 w 457200"/>
                <a:gd name="connsiteY59" fmla="*/ 385763 h 457200"/>
                <a:gd name="connsiteX60" fmla="*/ 134144 w 457200"/>
                <a:gd name="connsiteY60" fmla="*/ 385763 h 457200"/>
                <a:gd name="connsiteX61" fmla="*/ 134144 w 457200"/>
                <a:gd name="connsiteY61" fmla="*/ 370681 h 457200"/>
                <a:gd name="connsiteX62" fmla="*/ 196850 w 457200"/>
                <a:gd name="connsiteY62" fmla="*/ 370681 h 457200"/>
                <a:gd name="connsiteX63" fmla="*/ 196850 w 457200"/>
                <a:gd name="connsiteY63" fmla="*/ 351631 h 457200"/>
                <a:gd name="connsiteX64" fmla="*/ 51594 w 457200"/>
                <a:gd name="connsiteY64" fmla="*/ 351631 h 457200"/>
                <a:gd name="connsiteX65" fmla="*/ 51594 w 457200"/>
                <a:gd name="connsiteY65" fmla="*/ 370681 h 457200"/>
                <a:gd name="connsiteX66" fmla="*/ 114300 w 457200"/>
                <a:gd name="connsiteY66" fmla="*/ 370681 h 457200"/>
                <a:gd name="connsiteX67" fmla="*/ 114300 w 457200"/>
                <a:gd name="connsiteY67" fmla="*/ 385763 h 457200"/>
                <a:gd name="connsiteX68" fmla="*/ 52388 w 457200"/>
                <a:gd name="connsiteY68" fmla="*/ 385763 h 457200"/>
                <a:gd name="connsiteX69" fmla="*/ 52388 w 457200"/>
                <a:gd name="connsiteY69" fmla="*/ 437356 h 457200"/>
                <a:gd name="connsiteX70" fmla="*/ 19844 w 457200"/>
                <a:gd name="connsiteY70" fmla="*/ 437356 h 457200"/>
                <a:gd name="connsiteX71" fmla="*/ 19844 w 457200"/>
                <a:gd name="connsiteY71" fmla="*/ 19050 h 457200"/>
                <a:gd name="connsiteX72" fmla="*/ 437356 w 457200"/>
                <a:gd name="connsiteY72" fmla="*/ 19050 h 457200"/>
                <a:gd name="connsiteX73" fmla="*/ 437356 w 457200"/>
                <a:gd name="connsiteY73" fmla="*/ 437356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57200" h="457200">
                  <a:moveTo>
                    <a:pt x="0" y="0"/>
                  </a:moveTo>
                  <a:lnTo>
                    <a:pt x="0" y="457200"/>
                  </a:lnTo>
                  <a:lnTo>
                    <a:pt x="457200" y="457200"/>
                  </a:lnTo>
                  <a:lnTo>
                    <a:pt x="457200" y="0"/>
                  </a:lnTo>
                  <a:close/>
                  <a:moveTo>
                    <a:pt x="294481" y="250825"/>
                  </a:moveTo>
                  <a:cubicBezTo>
                    <a:pt x="290513" y="246063"/>
                    <a:pt x="285750" y="241300"/>
                    <a:pt x="280988" y="236538"/>
                  </a:cubicBezTo>
                  <a:cubicBezTo>
                    <a:pt x="277257" y="238242"/>
                    <a:pt x="273181" y="239057"/>
                    <a:pt x="269081" y="238919"/>
                  </a:cubicBezTo>
                  <a:cubicBezTo>
                    <a:pt x="265509" y="238889"/>
                    <a:pt x="261987" y="238076"/>
                    <a:pt x="258763" y="236538"/>
                  </a:cubicBezTo>
                  <a:cubicBezTo>
                    <a:pt x="252438" y="234050"/>
                    <a:pt x="247319" y="229216"/>
                    <a:pt x="244475" y="223044"/>
                  </a:cubicBezTo>
                  <a:cubicBezTo>
                    <a:pt x="244475" y="222250"/>
                    <a:pt x="243681" y="221456"/>
                    <a:pt x="243681" y="220663"/>
                  </a:cubicBezTo>
                  <a:cubicBezTo>
                    <a:pt x="242387" y="217663"/>
                    <a:pt x="241842" y="214394"/>
                    <a:pt x="242094" y="211138"/>
                  </a:cubicBezTo>
                  <a:cubicBezTo>
                    <a:pt x="241899" y="196024"/>
                    <a:pt x="253968" y="183600"/>
                    <a:pt x="269081" y="183356"/>
                  </a:cubicBezTo>
                  <a:cubicBezTo>
                    <a:pt x="273246" y="183456"/>
                    <a:pt x="277326" y="184545"/>
                    <a:pt x="280988" y="186531"/>
                  </a:cubicBezTo>
                  <a:cubicBezTo>
                    <a:pt x="285792" y="188868"/>
                    <a:pt x="289898" y="192426"/>
                    <a:pt x="292894" y="196850"/>
                  </a:cubicBezTo>
                  <a:cubicBezTo>
                    <a:pt x="293688" y="198438"/>
                    <a:pt x="294481" y="199231"/>
                    <a:pt x="294481" y="200819"/>
                  </a:cubicBezTo>
                  <a:cubicBezTo>
                    <a:pt x="296104" y="204013"/>
                    <a:pt x="296922" y="207555"/>
                    <a:pt x="296863" y="211138"/>
                  </a:cubicBezTo>
                  <a:cubicBezTo>
                    <a:pt x="296842" y="215222"/>
                    <a:pt x="296034" y="219265"/>
                    <a:pt x="294481" y="223044"/>
                  </a:cubicBezTo>
                  <a:lnTo>
                    <a:pt x="308769" y="237331"/>
                  </a:lnTo>
                  <a:cubicBezTo>
                    <a:pt x="357981" y="289719"/>
                    <a:pt x="354806" y="356394"/>
                    <a:pt x="350838" y="385763"/>
                  </a:cubicBezTo>
                  <a:lnTo>
                    <a:pt x="330994" y="385763"/>
                  </a:lnTo>
                  <a:cubicBezTo>
                    <a:pt x="332581" y="360363"/>
                    <a:pt x="332581" y="300831"/>
                    <a:pt x="294481" y="250825"/>
                  </a:cubicBezTo>
                  <a:close/>
                  <a:moveTo>
                    <a:pt x="230188" y="237331"/>
                  </a:moveTo>
                  <a:lnTo>
                    <a:pt x="184944" y="282575"/>
                  </a:lnTo>
                  <a:lnTo>
                    <a:pt x="184944" y="282575"/>
                  </a:lnTo>
                  <a:lnTo>
                    <a:pt x="142081" y="239713"/>
                  </a:lnTo>
                  <a:lnTo>
                    <a:pt x="142081" y="239713"/>
                  </a:lnTo>
                  <a:lnTo>
                    <a:pt x="292100" y="89694"/>
                  </a:lnTo>
                  <a:lnTo>
                    <a:pt x="334963" y="132556"/>
                  </a:lnTo>
                  <a:lnTo>
                    <a:pt x="295275" y="172244"/>
                  </a:lnTo>
                  <a:cubicBezTo>
                    <a:pt x="287701" y="166696"/>
                    <a:pt x="278461" y="163896"/>
                    <a:pt x="269081" y="164306"/>
                  </a:cubicBezTo>
                  <a:cubicBezTo>
                    <a:pt x="243239" y="164359"/>
                    <a:pt x="222302" y="185295"/>
                    <a:pt x="222250" y="211138"/>
                  </a:cubicBezTo>
                  <a:cubicBezTo>
                    <a:pt x="222329" y="220449"/>
                    <a:pt x="225084" y="229542"/>
                    <a:pt x="230188" y="237331"/>
                  </a:cubicBezTo>
                  <a:close/>
                  <a:moveTo>
                    <a:pt x="157163" y="282575"/>
                  </a:moveTo>
                  <a:lnTo>
                    <a:pt x="151606" y="288131"/>
                  </a:lnTo>
                  <a:lnTo>
                    <a:pt x="136525" y="273050"/>
                  </a:lnTo>
                  <a:lnTo>
                    <a:pt x="142081" y="267494"/>
                  </a:lnTo>
                  <a:lnTo>
                    <a:pt x="157163" y="282575"/>
                  </a:lnTo>
                  <a:close/>
                  <a:moveTo>
                    <a:pt x="384969" y="404813"/>
                  </a:moveTo>
                  <a:lnTo>
                    <a:pt x="384969" y="436563"/>
                  </a:lnTo>
                  <a:lnTo>
                    <a:pt x="72231" y="436563"/>
                  </a:lnTo>
                  <a:lnTo>
                    <a:pt x="72231" y="404813"/>
                  </a:lnTo>
                  <a:close/>
                  <a:moveTo>
                    <a:pt x="437356" y="437356"/>
                  </a:moveTo>
                  <a:lnTo>
                    <a:pt x="404813" y="437356"/>
                  </a:lnTo>
                  <a:lnTo>
                    <a:pt x="404813" y="385763"/>
                  </a:lnTo>
                  <a:lnTo>
                    <a:pt x="370681" y="385763"/>
                  </a:lnTo>
                  <a:cubicBezTo>
                    <a:pt x="374650" y="350838"/>
                    <a:pt x="375444" y="274638"/>
                    <a:pt x="315913" y="216694"/>
                  </a:cubicBezTo>
                  <a:cubicBezTo>
                    <a:pt x="316564" y="214918"/>
                    <a:pt x="316834" y="213025"/>
                    <a:pt x="316706" y="211138"/>
                  </a:cubicBezTo>
                  <a:cubicBezTo>
                    <a:pt x="316508" y="202092"/>
                    <a:pt x="313757" y="193286"/>
                    <a:pt x="308769" y="185738"/>
                  </a:cubicBezTo>
                  <a:lnTo>
                    <a:pt x="362744" y="132556"/>
                  </a:lnTo>
                  <a:lnTo>
                    <a:pt x="292100" y="61913"/>
                  </a:lnTo>
                  <a:lnTo>
                    <a:pt x="114300" y="239713"/>
                  </a:lnTo>
                  <a:lnTo>
                    <a:pt x="128588" y="254000"/>
                  </a:lnTo>
                  <a:lnTo>
                    <a:pt x="108744" y="273050"/>
                  </a:lnTo>
                  <a:lnTo>
                    <a:pt x="151606" y="315913"/>
                  </a:lnTo>
                  <a:lnTo>
                    <a:pt x="170656" y="296863"/>
                  </a:lnTo>
                  <a:lnTo>
                    <a:pt x="184944" y="310356"/>
                  </a:lnTo>
                  <a:lnTo>
                    <a:pt x="244475" y="250825"/>
                  </a:lnTo>
                  <a:cubicBezTo>
                    <a:pt x="251798" y="255570"/>
                    <a:pt x="260356" y="258054"/>
                    <a:pt x="269081" y="257969"/>
                  </a:cubicBezTo>
                  <a:lnTo>
                    <a:pt x="274638" y="257969"/>
                  </a:lnTo>
                  <a:cubicBezTo>
                    <a:pt x="315119" y="305594"/>
                    <a:pt x="313531" y="364331"/>
                    <a:pt x="311150" y="385763"/>
                  </a:cubicBezTo>
                  <a:lnTo>
                    <a:pt x="134144" y="385763"/>
                  </a:lnTo>
                  <a:lnTo>
                    <a:pt x="134144" y="370681"/>
                  </a:lnTo>
                  <a:lnTo>
                    <a:pt x="196850" y="370681"/>
                  </a:lnTo>
                  <a:lnTo>
                    <a:pt x="196850" y="351631"/>
                  </a:lnTo>
                  <a:lnTo>
                    <a:pt x="51594" y="351631"/>
                  </a:lnTo>
                  <a:lnTo>
                    <a:pt x="51594" y="370681"/>
                  </a:lnTo>
                  <a:lnTo>
                    <a:pt x="114300" y="370681"/>
                  </a:lnTo>
                  <a:lnTo>
                    <a:pt x="114300" y="385763"/>
                  </a:lnTo>
                  <a:lnTo>
                    <a:pt x="52388" y="385763"/>
                  </a:lnTo>
                  <a:lnTo>
                    <a:pt x="52388" y="437356"/>
                  </a:lnTo>
                  <a:lnTo>
                    <a:pt x="19844" y="437356"/>
                  </a:lnTo>
                  <a:lnTo>
                    <a:pt x="19844" y="19050"/>
                  </a:lnTo>
                  <a:lnTo>
                    <a:pt x="437356" y="19050"/>
                  </a:lnTo>
                  <a:lnTo>
                    <a:pt x="437356" y="437356"/>
                  </a:lnTo>
                  <a:close/>
                </a:path>
              </a:pathLst>
            </a:custGeom>
            <a:grpFill/>
            <a:ln w="31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a:ln>
                  <a:noFill/>
                </a:ln>
                <a:solidFill>
                  <a:srgbClr val="123563"/>
                </a:solidFill>
                <a:effectLst/>
                <a:uLnTx/>
                <a:uFillTx/>
                <a:latin typeface="BISans"/>
                <a:ea typeface="+mn-ea"/>
                <a:cs typeface="+mn-cs"/>
              </a:endParaRPr>
            </a:p>
          </p:txBody>
        </p:sp>
        <p:sp>
          <p:nvSpPr>
            <p:cNvPr id="14" name="Freeform 211">
              <a:extLst>
                <a:ext uri="{FF2B5EF4-FFF2-40B4-BE49-F238E27FC236}">
                  <a16:creationId xmlns:a16="http://schemas.microsoft.com/office/drawing/2014/main" id="{B0731858-CE7B-6B39-6ECF-E9984F2A5887}"/>
                </a:ext>
              </a:extLst>
            </p:cNvPr>
            <p:cNvSpPr/>
            <p:nvPr/>
          </p:nvSpPr>
          <p:spPr>
            <a:xfrm>
              <a:off x="1866374" y="3956526"/>
              <a:ext cx="53339" cy="53339"/>
            </a:xfrm>
            <a:custGeom>
              <a:avLst/>
              <a:gdLst>
                <a:gd name="connsiteX0" fmla="*/ 53340 w 53339"/>
                <a:gd name="connsiteY0" fmla="*/ 38767 h 53339"/>
                <a:gd name="connsiteX1" fmla="*/ 14542 w 53339"/>
                <a:gd name="connsiteY1" fmla="*/ 0 h 53339"/>
                <a:gd name="connsiteX2" fmla="*/ 0 w 53339"/>
                <a:gd name="connsiteY2" fmla="*/ 12922 h 53339"/>
                <a:gd name="connsiteX3" fmla="*/ 40418 w 53339"/>
                <a:gd name="connsiteY3" fmla="*/ 53340 h 53339"/>
                <a:gd name="connsiteX4" fmla="*/ 53340 w 53339"/>
                <a:gd name="connsiteY4" fmla="*/ 38767 h 53339"/>
                <a:gd name="connsiteX5" fmla="*/ 53340 w 53339"/>
                <a:gd name="connsiteY5" fmla="*/ 38767 h 53339"/>
                <a:gd name="connsiteX6" fmla="*/ 53340 w 53339"/>
                <a:gd name="connsiteY6" fmla="*/ 38767 h 53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339" h="53339">
                  <a:moveTo>
                    <a:pt x="53340" y="38767"/>
                  </a:moveTo>
                  <a:lnTo>
                    <a:pt x="14542" y="0"/>
                  </a:lnTo>
                  <a:lnTo>
                    <a:pt x="0" y="12922"/>
                  </a:lnTo>
                  <a:lnTo>
                    <a:pt x="40418" y="53340"/>
                  </a:lnTo>
                  <a:lnTo>
                    <a:pt x="53340" y="38767"/>
                  </a:lnTo>
                  <a:lnTo>
                    <a:pt x="53340" y="38767"/>
                  </a:lnTo>
                  <a:lnTo>
                    <a:pt x="53340" y="38767"/>
                  </a:lnTo>
                  <a:close/>
                </a:path>
              </a:pathLst>
            </a:custGeom>
            <a:grpFill/>
            <a:ln w="31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a:ln>
                  <a:noFill/>
                </a:ln>
                <a:solidFill>
                  <a:srgbClr val="123563"/>
                </a:solidFill>
                <a:effectLst/>
                <a:uLnTx/>
                <a:uFillTx/>
                <a:latin typeface="BISans"/>
                <a:ea typeface="+mn-ea"/>
                <a:cs typeface="+mn-cs"/>
              </a:endParaRPr>
            </a:p>
          </p:txBody>
        </p:sp>
        <p:sp>
          <p:nvSpPr>
            <p:cNvPr id="15" name="Freeform 212">
              <a:extLst>
                <a:ext uri="{FF2B5EF4-FFF2-40B4-BE49-F238E27FC236}">
                  <a16:creationId xmlns:a16="http://schemas.microsoft.com/office/drawing/2014/main" id="{0EC83AEC-34AC-8FE2-8BE4-7CB56D8405F5}"/>
                </a:ext>
              </a:extLst>
            </p:cNvPr>
            <p:cNvSpPr/>
            <p:nvPr/>
          </p:nvSpPr>
          <p:spPr>
            <a:xfrm>
              <a:off x="1810144" y="4093114"/>
              <a:ext cx="28638" cy="28638"/>
            </a:xfrm>
            <a:custGeom>
              <a:avLst/>
              <a:gdLst>
                <a:gd name="connsiteX0" fmla="*/ 0 w 28638"/>
                <a:gd name="connsiteY0" fmla="*/ 14319 h 28638"/>
                <a:gd name="connsiteX1" fmla="*/ 14319 w 28638"/>
                <a:gd name="connsiteY1" fmla="*/ 0 h 28638"/>
                <a:gd name="connsiteX2" fmla="*/ 28638 w 28638"/>
                <a:gd name="connsiteY2" fmla="*/ 14319 h 28638"/>
                <a:gd name="connsiteX3" fmla="*/ 14319 w 28638"/>
                <a:gd name="connsiteY3" fmla="*/ 28638 h 28638"/>
                <a:gd name="connsiteX4" fmla="*/ 0 w 28638"/>
                <a:gd name="connsiteY4" fmla="*/ 14319 h 28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38" h="28638">
                  <a:moveTo>
                    <a:pt x="0" y="14319"/>
                  </a:moveTo>
                  <a:cubicBezTo>
                    <a:pt x="0" y="6411"/>
                    <a:pt x="6411" y="0"/>
                    <a:pt x="14319" y="0"/>
                  </a:cubicBezTo>
                  <a:cubicBezTo>
                    <a:pt x="22228" y="0"/>
                    <a:pt x="28638" y="6411"/>
                    <a:pt x="28638" y="14319"/>
                  </a:cubicBezTo>
                  <a:cubicBezTo>
                    <a:pt x="28638" y="22228"/>
                    <a:pt x="22228" y="28638"/>
                    <a:pt x="14319" y="28638"/>
                  </a:cubicBezTo>
                  <a:cubicBezTo>
                    <a:pt x="6411" y="28638"/>
                    <a:pt x="0" y="22228"/>
                    <a:pt x="0" y="14319"/>
                  </a:cubicBezTo>
                  <a:close/>
                </a:path>
              </a:pathLst>
            </a:custGeom>
            <a:grpFill/>
            <a:ln w="31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a:ln>
                  <a:noFill/>
                </a:ln>
                <a:solidFill>
                  <a:srgbClr val="123563"/>
                </a:solidFill>
                <a:effectLst/>
                <a:uLnTx/>
                <a:uFillTx/>
                <a:latin typeface="BISans"/>
                <a:ea typeface="+mn-ea"/>
                <a:cs typeface="+mn-cs"/>
              </a:endParaRPr>
            </a:p>
          </p:txBody>
        </p:sp>
      </p:grpSp>
      <p:sp>
        <p:nvSpPr>
          <p:cNvPr id="17" name="Freeform 40">
            <a:extLst>
              <a:ext uri="{FF2B5EF4-FFF2-40B4-BE49-F238E27FC236}">
                <a16:creationId xmlns:a16="http://schemas.microsoft.com/office/drawing/2014/main" id="{6F8B733B-A76A-56F6-1419-E2AD8DB7137E}"/>
              </a:ext>
            </a:extLst>
          </p:cNvPr>
          <p:cNvSpPr>
            <a:spLocks noChangeAspect="1" noEditPoints="1"/>
          </p:cNvSpPr>
          <p:nvPr/>
        </p:nvSpPr>
        <p:spPr bwMode="auto">
          <a:xfrm>
            <a:off x="8637023" y="5154363"/>
            <a:ext cx="324000" cy="324000"/>
          </a:xfrm>
          <a:custGeom>
            <a:avLst/>
            <a:gdLst>
              <a:gd name="T0" fmla="*/ 0 w 704"/>
              <a:gd name="T1" fmla="*/ 0 h 706"/>
              <a:gd name="T2" fmla="*/ 0 w 704"/>
              <a:gd name="T3" fmla="*/ 706 h 706"/>
              <a:gd name="T4" fmla="*/ 98 w 704"/>
              <a:gd name="T5" fmla="*/ 706 h 706"/>
              <a:gd name="T6" fmla="*/ 98 w 704"/>
              <a:gd name="T7" fmla="*/ 608 h 706"/>
              <a:gd name="T8" fmla="*/ 208 w 704"/>
              <a:gd name="T9" fmla="*/ 608 h 706"/>
              <a:gd name="T10" fmla="*/ 208 w 704"/>
              <a:gd name="T11" fmla="*/ 706 h 706"/>
              <a:gd name="T12" fmla="*/ 297 w 704"/>
              <a:gd name="T13" fmla="*/ 706 h 706"/>
              <a:gd name="T14" fmla="*/ 297 w 704"/>
              <a:gd name="T15" fmla="*/ 482 h 706"/>
              <a:gd name="T16" fmla="*/ 407 w 704"/>
              <a:gd name="T17" fmla="*/ 482 h 706"/>
              <a:gd name="T18" fmla="*/ 407 w 704"/>
              <a:gd name="T19" fmla="*/ 706 h 706"/>
              <a:gd name="T20" fmla="*/ 496 w 704"/>
              <a:gd name="T21" fmla="*/ 706 h 706"/>
              <a:gd name="T22" fmla="*/ 496 w 704"/>
              <a:gd name="T23" fmla="*/ 313 h 706"/>
              <a:gd name="T24" fmla="*/ 606 w 704"/>
              <a:gd name="T25" fmla="*/ 313 h 706"/>
              <a:gd name="T26" fmla="*/ 606 w 704"/>
              <a:gd name="T27" fmla="*/ 706 h 706"/>
              <a:gd name="T28" fmla="*/ 704 w 704"/>
              <a:gd name="T29" fmla="*/ 706 h 706"/>
              <a:gd name="T30" fmla="*/ 704 w 704"/>
              <a:gd name="T31" fmla="*/ 0 h 706"/>
              <a:gd name="T32" fmla="*/ 0 w 704"/>
              <a:gd name="T33" fmla="*/ 0 h 706"/>
              <a:gd name="T34" fmla="*/ 673 w 704"/>
              <a:gd name="T35" fmla="*/ 675 h 706"/>
              <a:gd name="T36" fmla="*/ 636 w 704"/>
              <a:gd name="T37" fmla="*/ 675 h 706"/>
              <a:gd name="T38" fmla="*/ 636 w 704"/>
              <a:gd name="T39" fmla="*/ 282 h 706"/>
              <a:gd name="T40" fmla="*/ 467 w 704"/>
              <a:gd name="T41" fmla="*/ 282 h 706"/>
              <a:gd name="T42" fmla="*/ 467 w 704"/>
              <a:gd name="T43" fmla="*/ 675 h 706"/>
              <a:gd name="T44" fmla="*/ 436 w 704"/>
              <a:gd name="T45" fmla="*/ 675 h 706"/>
              <a:gd name="T46" fmla="*/ 436 w 704"/>
              <a:gd name="T47" fmla="*/ 451 h 706"/>
              <a:gd name="T48" fmla="*/ 268 w 704"/>
              <a:gd name="T49" fmla="*/ 451 h 706"/>
              <a:gd name="T50" fmla="*/ 268 w 704"/>
              <a:gd name="T51" fmla="*/ 675 h 706"/>
              <a:gd name="T52" fmla="*/ 237 w 704"/>
              <a:gd name="T53" fmla="*/ 675 h 706"/>
              <a:gd name="T54" fmla="*/ 237 w 704"/>
              <a:gd name="T55" fmla="*/ 577 h 706"/>
              <a:gd name="T56" fmla="*/ 68 w 704"/>
              <a:gd name="T57" fmla="*/ 577 h 706"/>
              <a:gd name="T58" fmla="*/ 68 w 704"/>
              <a:gd name="T59" fmla="*/ 675 h 706"/>
              <a:gd name="T60" fmla="*/ 31 w 704"/>
              <a:gd name="T61" fmla="*/ 675 h 706"/>
              <a:gd name="T62" fmla="*/ 31 w 704"/>
              <a:gd name="T63" fmla="*/ 569 h 706"/>
              <a:gd name="T64" fmla="*/ 259 w 704"/>
              <a:gd name="T65" fmla="*/ 342 h 706"/>
              <a:gd name="T66" fmla="*/ 299 w 704"/>
              <a:gd name="T67" fmla="*/ 381 h 706"/>
              <a:gd name="T68" fmla="*/ 538 w 704"/>
              <a:gd name="T69" fmla="*/ 143 h 706"/>
              <a:gd name="T70" fmla="*/ 538 w 704"/>
              <a:gd name="T71" fmla="*/ 213 h 706"/>
              <a:gd name="T72" fmla="*/ 567 w 704"/>
              <a:gd name="T73" fmla="*/ 213 h 706"/>
              <a:gd name="T74" fmla="*/ 567 w 704"/>
              <a:gd name="T75" fmla="*/ 92 h 706"/>
              <a:gd name="T76" fmla="*/ 446 w 704"/>
              <a:gd name="T77" fmla="*/ 92 h 706"/>
              <a:gd name="T78" fmla="*/ 446 w 704"/>
              <a:gd name="T79" fmla="*/ 123 h 706"/>
              <a:gd name="T80" fmla="*/ 516 w 704"/>
              <a:gd name="T81" fmla="*/ 123 h 706"/>
              <a:gd name="T82" fmla="*/ 299 w 704"/>
              <a:gd name="T83" fmla="*/ 340 h 706"/>
              <a:gd name="T84" fmla="*/ 258 w 704"/>
              <a:gd name="T85" fmla="*/ 299 h 706"/>
              <a:gd name="T86" fmla="*/ 31 w 704"/>
              <a:gd name="T87" fmla="*/ 527 h 706"/>
              <a:gd name="T88" fmla="*/ 31 w 704"/>
              <a:gd name="T89" fmla="*/ 31 h 706"/>
              <a:gd name="T90" fmla="*/ 673 w 704"/>
              <a:gd name="T91" fmla="*/ 31 h 706"/>
              <a:gd name="T92" fmla="*/ 673 w 704"/>
              <a:gd name="T93" fmla="*/ 675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04" h="706">
                <a:moveTo>
                  <a:pt x="0" y="0"/>
                </a:moveTo>
                <a:lnTo>
                  <a:pt x="0" y="706"/>
                </a:lnTo>
                <a:lnTo>
                  <a:pt x="98" y="706"/>
                </a:lnTo>
                <a:lnTo>
                  <a:pt x="98" y="608"/>
                </a:lnTo>
                <a:lnTo>
                  <a:pt x="208" y="608"/>
                </a:lnTo>
                <a:lnTo>
                  <a:pt x="208" y="706"/>
                </a:lnTo>
                <a:lnTo>
                  <a:pt x="297" y="706"/>
                </a:lnTo>
                <a:lnTo>
                  <a:pt x="297" y="482"/>
                </a:lnTo>
                <a:lnTo>
                  <a:pt x="407" y="482"/>
                </a:lnTo>
                <a:lnTo>
                  <a:pt x="407" y="706"/>
                </a:lnTo>
                <a:lnTo>
                  <a:pt x="496" y="706"/>
                </a:lnTo>
                <a:lnTo>
                  <a:pt x="496" y="313"/>
                </a:lnTo>
                <a:lnTo>
                  <a:pt x="606" y="313"/>
                </a:lnTo>
                <a:lnTo>
                  <a:pt x="606" y="706"/>
                </a:lnTo>
                <a:lnTo>
                  <a:pt x="704" y="706"/>
                </a:lnTo>
                <a:lnTo>
                  <a:pt x="704" y="0"/>
                </a:lnTo>
                <a:lnTo>
                  <a:pt x="0" y="0"/>
                </a:lnTo>
                <a:close/>
                <a:moveTo>
                  <a:pt x="673" y="675"/>
                </a:moveTo>
                <a:lnTo>
                  <a:pt x="636" y="675"/>
                </a:lnTo>
                <a:lnTo>
                  <a:pt x="636" y="282"/>
                </a:lnTo>
                <a:lnTo>
                  <a:pt x="467" y="282"/>
                </a:lnTo>
                <a:lnTo>
                  <a:pt x="467" y="675"/>
                </a:lnTo>
                <a:lnTo>
                  <a:pt x="436" y="675"/>
                </a:lnTo>
                <a:lnTo>
                  <a:pt x="436" y="451"/>
                </a:lnTo>
                <a:lnTo>
                  <a:pt x="268" y="451"/>
                </a:lnTo>
                <a:lnTo>
                  <a:pt x="268" y="675"/>
                </a:lnTo>
                <a:lnTo>
                  <a:pt x="237" y="675"/>
                </a:lnTo>
                <a:lnTo>
                  <a:pt x="237" y="577"/>
                </a:lnTo>
                <a:lnTo>
                  <a:pt x="68" y="577"/>
                </a:lnTo>
                <a:lnTo>
                  <a:pt x="68" y="675"/>
                </a:lnTo>
                <a:lnTo>
                  <a:pt x="31" y="675"/>
                </a:lnTo>
                <a:lnTo>
                  <a:pt x="31" y="569"/>
                </a:lnTo>
                <a:lnTo>
                  <a:pt x="259" y="342"/>
                </a:lnTo>
                <a:lnTo>
                  <a:pt x="299" y="381"/>
                </a:lnTo>
                <a:lnTo>
                  <a:pt x="538" y="143"/>
                </a:lnTo>
                <a:lnTo>
                  <a:pt x="538" y="213"/>
                </a:lnTo>
                <a:lnTo>
                  <a:pt x="567" y="213"/>
                </a:lnTo>
                <a:lnTo>
                  <a:pt x="567" y="92"/>
                </a:lnTo>
                <a:lnTo>
                  <a:pt x="446" y="92"/>
                </a:lnTo>
                <a:lnTo>
                  <a:pt x="446" y="123"/>
                </a:lnTo>
                <a:lnTo>
                  <a:pt x="516" y="123"/>
                </a:lnTo>
                <a:lnTo>
                  <a:pt x="299" y="340"/>
                </a:lnTo>
                <a:lnTo>
                  <a:pt x="258" y="299"/>
                </a:lnTo>
                <a:lnTo>
                  <a:pt x="31" y="527"/>
                </a:lnTo>
                <a:lnTo>
                  <a:pt x="31" y="31"/>
                </a:lnTo>
                <a:lnTo>
                  <a:pt x="673" y="31"/>
                </a:lnTo>
                <a:lnTo>
                  <a:pt x="673" y="67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700" b="0" i="0" u="none" strike="noStrike" kern="1200" cap="none" spc="0" normalizeH="0" baseline="0" noProof="0">
              <a:ln>
                <a:noFill/>
              </a:ln>
              <a:solidFill>
                <a:srgbClr val="123563"/>
              </a:solidFill>
              <a:effectLst/>
              <a:uLnTx/>
              <a:uFillTx/>
              <a:latin typeface="BISans"/>
              <a:ea typeface="+mn-ea"/>
              <a:cs typeface="+mn-cs"/>
            </a:endParaRPr>
          </a:p>
        </p:txBody>
      </p:sp>
      <p:sp>
        <p:nvSpPr>
          <p:cNvPr id="19" name="TextBox 18">
            <a:extLst>
              <a:ext uri="{FF2B5EF4-FFF2-40B4-BE49-F238E27FC236}">
                <a16:creationId xmlns:a16="http://schemas.microsoft.com/office/drawing/2014/main" id="{8D3F8796-63AA-D3F8-F3DD-EEB7C1AE05AE}"/>
              </a:ext>
            </a:extLst>
          </p:cNvPr>
          <p:cNvSpPr txBox="1"/>
          <p:nvPr/>
        </p:nvSpPr>
        <p:spPr>
          <a:xfrm>
            <a:off x="93531" y="1887692"/>
            <a:ext cx="986994" cy="577759"/>
          </a:xfrm>
          <a:prstGeom prst="rect">
            <a:avLst/>
          </a:prstGeom>
          <a:solidFill>
            <a:schemeClr val="bg1"/>
          </a:solidFill>
          <a:ln w="6350">
            <a:solidFill>
              <a:schemeClr val="accent1"/>
            </a:solid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1" u="none" strike="noStrike" kern="1200" cap="none" spc="0" normalizeH="0" baseline="0" noProof="0">
                <a:ln>
                  <a:noFill/>
                </a:ln>
                <a:solidFill>
                  <a:srgbClr val="000000"/>
                </a:solidFill>
                <a:effectLst/>
                <a:uLnTx/>
                <a:uFillTx/>
                <a:ea typeface="+mn-ea"/>
                <a:cs typeface="+mn-cs"/>
              </a:rPr>
              <a:t>Global milestones</a:t>
            </a:r>
          </a:p>
        </p:txBody>
      </p:sp>
      <p:sp>
        <p:nvSpPr>
          <p:cNvPr id="20" name="TextBox 19">
            <a:extLst>
              <a:ext uri="{FF2B5EF4-FFF2-40B4-BE49-F238E27FC236}">
                <a16:creationId xmlns:a16="http://schemas.microsoft.com/office/drawing/2014/main" id="{D614D453-D18A-3508-560B-4201C99D689D}"/>
              </a:ext>
            </a:extLst>
          </p:cNvPr>
          <p:cNvSpPr txBox="1"/>
          <p:nvPr/>
        </p:nvSpPr>
        <p:spPr>
          <a:xfrm>
            <a:off x="69168" y="3384986"/>
            <a:ext cx="986994" cy="488967"/>
          </a:xfrm>
          <a:prstGeom prst="rect">
            <a:avLst/>
          </a:prstGeom>
          <a:solidFill>
            <a:srgbClr val="F2F6FB"/>
          </a:solidFill>
          <a:ln w="6350">
            <a:solidFill>
              <a:schemeClr val="bg1">
                <a:lumMod val="75000"/>
              </a:schemeClr>
            </a:solid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altLang="zh-CN" sz="1400" b="1" i="1" u="none" strike="noStrike" kern="1200" cap="none" spc="0" normalizeH="0" baseline="0" noProof="0">
                <a:ln>
                  <a:noFill/>
                </a:ln>
                <a:solidFill>
                  <a:srgbClr val="000000"/>
                </a:solidFill>
                <a:effectLst/>
                <a:uLnTx/>
                <a:uFillTx/>
                <a:ea typeface="+mn-ea"/>
                <a:cs typeface="+mn-cs"/>
              </a:rPr>
              <a:t>China </a:t>
            </a:r>
            <a:r>
              <a:rPr kumimoji="0" lang="en-US" sz="1400" b="1" i="1" u="none" strike="noStrike" kern="1200" cap="none" spc="0" normalizeH="0" baseline="0" noProof="0">
                <a:ln>
                  <a:noFill/>
                </a:ln>
                <a:solidFill>
                  <a:srgbClr val="000000"/>
                </a:solidFill>
                <a:effectLst/>
                <a:uLnTx/>
                <a:uFillTx/>
                <a:ea typeface="+mn-ea"/>
                <a:cs typeface="+mn-cs"/>
              </a:rPr>
              <a:t> milestones</a:t>
            </a:r>
          </a:p>
        </p:txBody>
      </p:sp>
      <p:sp>
        <p:nvSpPr>
          <p:cNvPr id="21" name="Rectangle 20">
            <a:extLst>
              <a:ext uri="{FF2B5EF4-FFF2-40B4-BE49-F238E27FC236}">
                <a16:creationId xmlns:a16="http://schemas.microsoft.com/office/drawing/2014/main" id="{C924BCAE-62BF-074A-D47C-7F30FBA048A9}"/>
              </a:ext>
            </a:extLst>
          </p:cNvPr>
          <p:cNvSpPr/>
          <p:nvPr/>
        </p:nvSpPr>
        <p:spPr>
          <a:xfrm flipH="1">
            <a:off x="1436502" y="3680472"/>
            <a:ext cx="1226233" cy="328745"/>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8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123563"/>
              </a:solidFill>
              <a:effectLst/>
              <a:uLnTx/>
              <a:uFillTx/>
              <a:ea typeface="+mn-ea"/>
              <a:cs typeface="+mn-cs"/>
            </a:endParaRPr>
          </a:p>
        </p:txBody>
      </p:sp>
      <p:sp>
        <p:nvSpPr>
          <p:cNvPr id="42" name="TextBox 398">
            <a:extLst>
              <a:ext uri="{FF2B5EF4-FFF2-40B4-BE49-F238E27FC236}">
                <a16:creationId xmlns:a16="http://schemas.microsoft.com/office/drawing/2014/main" id="{F31079BF-8A90-8CF8-618B-F6A7656319D2}"/>
              </a:ext>
            </a:extLst>
          </p:cNvPr>
          <p:cNvSpPr txBox="1"/>
          <p:nvPr/>
        </p:nvSpPr>
        <p:spPr>
          <a:xfrm>
            <a:off x="9708037" y="2689363"/>
            <a:ext cx="673599" cy="222671"/>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de-DE" sz="1100" i="0" u="none" strike="noStrike" kern="1200" cap="none" spc="0" normalizeH="0" baseline="0" noProof="0">
                <a:ln>
                  <a:noFill/>
                </a:ln>
                <a:solidFill>
                  <a:srgbClr val="076D7E"/>
                </a:solidFill>
                <a:effectLst/>
                <a:uLnTx/>
                <a:uFillTx/>
                <a:ea typeface="+mn-ea"/>
                <a:cs typeface="+mn-cs"/>
              </a:rPr>
              <a:t> Nov 2025</a:t>
            </a:r>
            <a:endParaRPr kumimoji="0" lang="en-US" sz="1100" i="0" u="none" strike="noStrike" kern="1200" cap="none" spc="0" normalizeH="0" baseline="0" noProof="0">
              <a:ln>
                <a:noFill/>
              </a:ln>
              <a:solidFill>
                <a:srgbClr val="076D7E"/>
              </a:solidFill>
              <a:effectLst/>
              <a:uLnTx/>
              <a:uFillTx/>
              <a:ea typeface="+mn-ea"/>
              <a:cs typeface="+mn-cs"/>
            </a:endParaRPr>
          </a:p>
        </p:txBody>
      </p:sp>
      <p:sp>
        <p:nvSpPr>
          <p:cNvPr id="59" name="TextBox 398">
            <a:extLst>
              <a:ext uri="{FF2B5EF4-FFF2-40B4-BE49-F238E27FC236}">
                <a16:creationId xmlns:a16="http://schemas.microsoft.com/office/drawing/2014/main" id="{9643BD21-776D-01AB-8265-8F1EC14D3FB4}"/>
              </a:ext>
            </a:extLst>
          </p:cNvPr>
          <p:cNvSpPr txBox="1"/>
          <p:nvPr/>
        </p:nvSpPr>
        <p:spPr>
          <a:xfrm>
            <a:off x="2609595" y="2651553"/>
            <a:ext cx="673599" cy="258191"/>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de-DE" sz="1100" i="0" u="none" strike="noStrike" kern="1200" cap="none" spc="0" normalizeH="0" baseline="0" noProof="0">
                <a:ln>
                  <a:noFill/>
                </a:ln>
                <a:solidFill>
                  <a:srgbClr val="076D7E"/>
                </a:solidFill>
                <a:effectLst/>
                <a:uLnTx/>
                <a:uFillTx/>
                <a:ea typeface="+mn-ea"/>
                <a:cs typeface="+mn-cs"/>
              </a:rPr>
              <a:t>Mar 2025</a:t>
            </a:r>
            <a:endParaRPr kumimoji="0" lang="en-US" sz="1100" i="0" u="none" strike="noStrike" kern="1200" cap="none" spc="0" normalizeH="0" baseline="0" noProof="0">
              <a:ln>
                <a:noFill/>
              </a:ln>
              <a:solidFill>
                <a:srgbClr val="076D7E"/>
              </a:solidFill>
              <a:effectLst/>
              <a:uLnTx/>
              <a:uFillTx/>
              <a:ea typeface="+mn-ea"/>
              <a:cs typeface="+mn-cs"/>
            </a:endParaRPr>
          </a:p>
        </p:txBody>
      </p:sp>
      <p:sp>
        <p:nvSpPr>
          <p:cNvPr id="73" name="TextBox 398">
            <a:extLst>
              <a:ext uri="{FF2B5EF4-FFF2-40B4-BE49-F238E27FC236}">
                <a16:creationId xmlns:a16="http://schemas.microsoft.com/office/drawing/2014/main" id="{26F316CA-437F-2D01-04EC-B726A020FC5C}"/>
              </a:ext>
            </a:extLst>
          </p:cNvPr>
          <p:cNvSpPr txBox="1"/>
          <p:nvPr/>
        </p:nvSpPr>
        <p:spPr>
          <a:xfrm>
            <a:off x="6862088" y="2706303"/>
            <a:ext cx="673599" cy="192461"/>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de-DE" sz="1100" i="0" u="none" strike="noStrike" kern="1200" cap="none" spc="0" normalizeH="0" baseline="0" noProof="0">
                <a:ln>
                  <a:noFill/>
                </a:ln>
                <a:solidFill>
                  <a:srgbClr val="076D7E"/>
                </a:solidFill>
                <a:effectLst/>
                <a:uLnTx/>
                <a:uFillTx/>
                <a:ea typeface="+mn-ea"/>
                <a:cs typeface="+mn-cs"/>
              </a:rPr>
              <a:t>Aug 2025</a:t>
            </a:r>
            <a:endParaRPr kumimoji="0" lang="en-US" sz="1100" i="0" u="none" strike="noStrike" kern="1200" cap="none" spc="0" normalizeH="0" baseline="0" noProof="0">
              <a:ln>
                <a:noFill/>
              </a:ln>
              <a:solidFill>
                <a:srgbClr val="076D7E"/>
              </a:solidFill>
              <a:effectLst/>
              <a:uLnTx/>
              <a:uFillTx/>
              <a:ea typeface="+mn-ea"/>
              <a:cs typeface="+mn-cs"/>
            </a:endParaRPr>
          </a:p>
        </p:txBody>
      </p:sp>
      <p:sp>
        <p:nvSpPr>
          <p:cNvPr id="77" name="TextBox 398">
            <a:extLst>
              <a:ext uri="{FF2B5EF4-FFF2-40B4-BE49-F238E27FC236}">
                <a16:creationId xmlns:a16="http://schemas.microsoft.com/office/drawing/2014/main" id="{10482392-2F97-9B0C-4B62-061AD730BD19}"/>
              </a:ext>
            </a:extLst>
          </p:cNvPr>
          <p:cNvSpPr txBox="1"/>
          <p:nvPr/>
        </p:nvSpPr>
        <p:spPr>
          <a:xfrm>
            <a:off x="5215628" y="2683767"/>
            <a:ext cx="673599" cy="192461"/>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de-DE" sz="1100" i="0" u="none" strike="noStrike" kern="1200" cap="none" spc="0" normalizeH="0" baseline="0" noProof="0">
                <a:ln>
                  <a:noFill/>
                </a:ln>
                <a:solidFill>
                  <a:srgbClr val="076D7E"/>
                </a:solidFill>
                <a:effectLst/>
                <a:uLnTx/>
                <a:uFillTx/>
                <a:ea typeface="+mn-ea"/>
                <a:cs typeface="+mn-cs"/>
              </a:rPr>
              <a:t>Jun 2025</a:t>
            </a:r>
            <a:endParaRPr kumimoji="0" lang="en-US" sz="1100" i="0" u="none" strike="noStrike" kern="1200" cap="none" spc="0" normalizeH="0" baseline="0" noProof="0">
              <a:ln>
                <a:noFill/>
              </a:ln>
              <a:solidFill>
                <a:srgbClr val="076D7E"/>
              </a:solidFill>
              <a:effectLst/>
              <a:uLnTx/>
              <a:uFillTx/>
              <a:ea typeface="+mn-ea"/>
              <a:cs typeface="+mn-cs"/>
            </a:endParaRPr>
          </a:p>
        </p:txBody>
      </p:sp>
      <p:grpSp>
        <p:nvGrpSpPr>
          <p:cNvPr id="147" name="Group 146">
            <a:extLst>
              <a:ext uri="{FF2B5EF4-FFF2-40B4-BE49-F238E27FC236}">
                <a16:creationId xmlns:a16="http://schemas.microsoft.com/office/drawing/2014/main" id="{C267390C-2DA7-1499-FD52-DEFDA6D5A949}"/>
              </a:ext>
            </a:extLst>
          </p:cNvPr>
          <p:cNvGrpSpPr/>
          <p:nvPr/>
        </p:nvGrpSpPr>
        <p:grpSpPr>
          <a:xfrm>
            <a:off x="4910672" y="6301733"/>
            <a:ext cx="1140126" cy="180000"/>
            <a:chOff x="5301740" y="6564953"/>
            <a:chExt cx="1140126" cy="180000"/>
          </a:xfrm>
        </p:grpSpPr>
        <p:sp>
          <p:nvSpPr>
            <p:cNvPr id="148" name="TextBox 147">
              <a:extLst>
                <a:ext uri="{FF2B5EF4-FFF2-40B4-BE49-F238E27FC236}">
                  <a16:creationId xmlns:a16="http://schemas.microsoft.com/office/drawing/2014/main" id="{68CCDB74-14EA-0197-6B50-47E16707F61D}"/>
                </a:ext>
              </a:extLst>
            </p:cNvPr>
            <p:cNvSpPr txBox="1"/>
            <p:nvPr/>
          </p:nvSpPr>
          <p:spPr>
            <a:xfrm>
              <a:off x="5509249" y="6606240"/>
              <a:ext cx="932617" cy="91969"/>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Study start/ read-out</a:t>
              </a:r>
            </a:p>
          </p:txBody>
        </p:sp>
        <p:grpSp>
          <p:nvGrpSpPr>
            <p:cNvPr id="149" name="Group 148">
              <a:extLst>
                <a:ext uri="{FF2B5EF4-FFF2-40B4-BE49-F238E27FC236}">
                  <a16:creationId xmlns:a16="http://schemas.microsoft.com/office/drawing/2014/main" id="{68D19817-7769-D353-EB0C-7DFAAD338833}"/>
                </a:ext>
              </a:extLst>
            </p:cNvPr>
            <p:cNvGrpSpPr/>
            <p:nvPr/>
          </p:nvGrpSpPr>
          <p:grpSpPr>
            <a:xfrm>
              <a:off x="5301740" y="6564953"/>
              <a:ext cx="180000" cy="180000"/>
              <a:chOff x="5411047" y="3113464"/>
              <a:chExt cx="198000" cy="198000"/>
            </a:xfrm>
            <a:noFill/>
          </p:grpSpPr>
          <p:sp>
            <p:nvSpPr>
              <p:cNvPr id="150" name="Oval 149">
                <a:extLst>
                  <a:ext uri="{FF2B5EF4-FFF2-40B4-BE49-F238E27FC236}">
                    <a16:creationId xmlns:a16="http://schemas.microsoft.com/office/drawing/2014/main" id="{17F0CC5D-9B04-74D9-6F55-C08F88036F82}"/>
                  </a:ext>
                </a:extLst>
              </p:cNvPr>
              <p:cNvSpPr/>
              <p:nvPr/>
            </p:nvSpPr>
            <p:spPr>
              <a:xfrm>
                <a:off x="5411047" y="3113464"/>
                <a:ext cx="198000" cy="198000"/>
              </a:xfrm>
              <a:prstGeom prst="ellipse">
                <a:avLst/>
              </a:prstGeom>
              <a:grp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123563"/>
                  </a:solidFill>
                  <a:effectLst/>
                  <a:uLnTx/>
                  <a:uFillTx/>
                  <a:latin typeface="BISans"/>
                  <a:ea typeface="+mn-ea"/>
                  <a:cs typeface="+mn-cs"/>
                </a:endParaRPr>
              </a:p>
            </p:txBody>
          </p:sp>
          <p:pic>
            <p:nvPicPr>
              <p:cNvPr id="151" name="Graphic 150" descr="Play outline">
                <a:extLst>
                  <a:ext uri="{FF2B5EF4-FFF2-40B4-BE49-F238E27FC236}">
                    <a16:creationId xmlns:a16="http://schemas.microsoft.com/office/drawing/2014/main" id="{6663A807-CF30-23A5-D2CA-C25C28D8BB95}"/>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437974" y="3129735"/>
                <a:ext cx="169716" cy="169715"/>
              </a:xfrm>
              <a:prstGeom prst="rect">
                <a:avLst/>
              </a:prstGeom>
            </p:spPr>
          </p:pic>
        </p:grpSp>
      </p:grpSp>
      <p:sp>
        <p:nvSpPr>
          <p:cNvPr id="162" name="TextBox 161">
            <a:extLst>
              <a:ext uri="{FF2B5EF4-FFF2-40B4-BE49-F238E27FC236}">
                <a16:creationId xmlns:a16="http://schemas.microsoft.com/office/drawing/2014/main" id="{812AD16A-6EC4-9BA5-3CBF-6A7CBC132608}"/>
              </a:ext>
            </a:extLst>
          </p:cNvPr>
          <p:cNvSpPr txBox="1"/>
          <p:nvPr/>
        </p:nvSpPr>
        <p:spPr>
          <a:xfrm>
            <a:off x="7192341" y="6339347"/>
            <a:ext cx="540000" cy="104773"/>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Milestone</a:t>
            </a:r>
          </a:p>
        </p:txBody>
      </p:sp>
      <p:sp>
        <p:nvSpPr>
          <p:cNvPr id="163" name="Oval 162">
            <a:extLst>
              <a:ext uri="{FF2B5EF4-FFF2-40B4-BE49-F238E27FC236}">
                <a16:creationId xmlns:a16="http://schemas.microsoft.com/office/drawing/2014/main" id="{8C726B1D-1E93-5929-7F11-DAF3AB2C4495}"/>
              </a:ext>
            </a:extLst>
          </p:cNvPr>
          <p:cNvSpPr/>
          <p:nvPr/>
        </p:nvSpPr>
        <p:spPr>
          <a:xfrm>
            <a:off x="6984831" y="6315887"/>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ISans"/>
              <a:ea typeface="+mn-ea"/>
              <a:cs typeface="+mn-cs"/>
            </a:endParaRPr>
          </a:p>
        </p:txBody>
      </p:sp>
      <p:pic>
        <p:nvPicPr>
          <p:cNvPr id="164" name="Graphic 163" descr="Diamond with solid fill">
            <a:extLst>
              <a:ext uri="{FF2B5EF4-FFF2-40B4-BE49-F238E27FC236}">
                <a16:creationId xmlns:a16="http://schemas.microsoft.com/office/drawing/2014/main" id="{4909C1CE-FCF7-7002-F5D9-15BE4DCEE0AF}"/>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997688" y="6337980"/>
            <a:ext cx="154286" cy="154286"/>
          </a:xfrm>
          <a:prstGeom prst="rect">
            <a:avLst/>
          </a:prstGeom>
        </p:spPr>
      </p:pic>
      <p:grpSp>
        <p:nvGrpSpPr>
          <p:cNvPr id="165" name="Group 164">
            <a:extLst>
              <a:ext uri="{FF2B5EF4-FFF2-40B4-BE49-F238E27FC236}">
                <a16:creationId xmlns:a16="http://schemas.microsoft.com/office/drawing/2014/main" id="{A1EF6EC4-04BE-9727-50A2-3D45C35D5A70}"/>
              </a:ext>
            </a:extLst>
          </p:cNvPr>
          <p:cNvGrpSpPr/>
          <p:nvPr/>
        </p:nvGrpSpPr>
        <p:grpSpPr>
          <a:xfrm>
            <a:off x="6141015" y="6301733"/>
            <a:ext cx="747510" cy="180000"/>
            <a:chOff x="6141015" y="6387982"/>
            <a:chExt cx="747510" cy="180000"/>
          </a:xfrm>
        </p:grpSpPr>
        <p:sp>
          <p:nvSpPr>
            <p:cNvPr id="166" name="Oval 303">
              <a:extLst>
                <a:ext uri="{FF2B5EF4-FFF2-40B4-BE49-F238E27FC236}">
                  <a16:creationId xmlns:a16="http://schemas.microsoft.com/office/drawing/2014/main" id="{4028DF9B-975B-D5DB-5203-75DD7A033378}"/>
                </a:ext>
              </a:extLst>
            </p:cNvPr>
            <p:cNvSpPr/>
            <p:nvPr/>
          </p:nvSpPr>
          <p:spPr>
            <a:xfrm>
              <a:off x="6141015" y="6387982"/>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BISansCond"/>
                <a:ea typeface="+mn-ea"/>
                <a:cs typeface="+mn-cs"/>
              </a:endParaRPr>
            </a:p>
          </p:txBody>
        </p:sp>
        <p:grpSp>
          <p:nvGrpSpPr>
            <p:cNvPr id="167" name="Group 166">
              <a:extLst>
                <a:ext uri="{FF2B5EF4-FFF2-40B4-BE49-F238E27FC236}">
                  <a16:creationId xmlns:a16="http://schemas.microsoft.com/office/drawing/2014/main" id="{58C1582F-FEC3-A8EC-BF9C-33FD96E74F7B}"/>
                </a:ext>
              </a:extLst>
            </p:cNvPr>
            <p:cNvGrpSpPr/>
            <p:nvPr/>
          </p:nvGrpSpPr>
          <p:grpSpPr>
            <a:xfrm>
              <a:off x="6174848" y="6417201"/>
              <a:ext cx="713677" cy="117684"/>
              <a:chOff x="6896208" y="6416465"/>
              <a:chExt cx="713677" cy="117684"/>
            </a:xfrm>
          </p:grpSpPr>
          <p:sp>
            <p:nvSpPr>
              <p:cNvPr id="168" name="TextBox 167">
                <a:extLst>
                  <a:ext uri="{FF2B5EF4-FFF2-40B4-BE49-F238E27FC236}">
                    <a16:creationId xmlns:a16="http://schemas.microsoft.com/office/drawing/2014/main" id="{0AD9AECE-2BDC-93F9-C8D3-CC31D0E10E30}"/>
                  </a:ext>
                </a:extLst>
              </p:cNvPr>
              <p:cNvSpPr txBox="1"/>
              <p:nvPr/>
            </p:nvSpPr>
            <p:spPr>
              <a:xfrm>
                <a:off x="7069885" y="6416465"/>
                <a:ext cx="540000" cy="104773"/>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Termination</a:t>
                </a:r>
              </a:p>
            </p:txBody>
          </p:sp>
          <p:sp>
            <p:nvSpPr>
              <p:cNvPr id="169" name="Freeform 61">
                <a:extLst>
                  <a:ext uri="{FF2B5EF4-FFF2-40B4-BE49-F238E27FC236}">
                    <a16:creationId xmlns:a16="http://schemas.microsoft.com/office/drawing/2014/main" id="{D066BF29-C9CB-5F6B-DF12-AA9E96500A54}"/>
                  </a:ext>
                </a:extLst>
              </p:cNvPr>
              <p:cNvSpPr>
                <a:spLocks noChangeAspect="1" noEditPoints="1"/>
              </p:cNvSpPr>
              <p:nvPr/>
            </p:nvSpPr>
            <p:spPr bwMode="auto">
              <a:xfrm>
                <a:off x="6896208" y="6421815"/>
                <a:ext cx="112334" cy="112334"/>
              </a:xfrm>
              <a:custGeom>
                <a:avLst/>
                <a:gdLst>
                  <a:gd name="T0" fmla="*/ 100 w 200"/>
                  <a:gd name="T1" fmla="*/ 0 h 200"/>
                  <a:gd name="T2" fmla="*/ 0 w 200"/>
                  <a:gd name="T3" fmla="*/ 100 h 200"/>
                  <a:gd name="T4" fmla="*/ 100 w 200"/>
                  <a:gd name="T5" fmla="*/ 200 h 200"/>
                  <a:gd name="T6" fmla="*/ 200 w 200"/>
                  <a:gd name="T7" fmla="*/ 100 h 200"/>
                  <a:gd name="T8" fmla="*/ 100 w 200"/>
                  <a:gd name="T9" fmla="*/ 0 h 200"/>
                  <a:gd name="T10" fmla="*/ 100 w 200"/>
                  <a:gd name="T11" fmla="*/ 188 h 200"/>
                  <a:gd name="T12" fmla="*/ 12 w 200"/>
                  <a:gd name="T13" fmla="*/ 100 h 200"/>
                  <a:gd name="T14" fmla="*/ 100 w 200"/>
                  <a:gd name="T15" fmla="*/ 13 h 200"/>
                  <a:gd name="T16" fmla="*/ 187 w 200"/>
                  <a:gd name="T17" fmla="*/ 100 h 200"/>
                  <a:gd name="T18" fmla="*/ 100 w 200"/>
                  <a:gd name="T19" fmla="*/ 188 h 200"/>
                  <a:gd name="T20" fmla="*/ 131 w 200"/>
                  <a:gd name="T21" fmla="*/ 60 h 200"/>
                  <a:gd name="T22" fmla="*/ 100 w 200"/>
                  <a:gd name="T23" fmla="*/ 92 h 200"/>
                  <a:gd name="T24" fmla="*/ 69 w 200"/>
                  <a:gd name="T25" fmla="*/ 60 h 200"/>
                  <a:gd name="T26" fmla="*/ 60 w 200"/>
                  <a:gd name="T27" fmla="*/ 69 h 200"/>
                  <a:gd name="T28" fmla="*/ 91 w 200"/>
                  <a:gd name="T29" fmla="*/ 100 h 200"/>
                  <a:gd name="T30" fmla="*/ 60 w 200"/>
                  <a:gd name="T31" fmla="*/ 132 h 200"/>
                  <a:gd name="T32" fmla="*/ 69 w 200"/>
                  <a:gd name="T33" fmla="*/ 140 h 200"/>
                  <a:gd name="T34" fmla="*/ 100 w 200"/>
                  <a:gd name="T35" fmla="*/ 109 h 200"/>
                  <a:gd name="T36" fmla="*/ 131 w 200"/>
                  <a:gd name="T37" fmla="*/ 140 h 200"/>
                  <a:gd name="T38" fmla="*/ 140 w 200"/>
                  <a:gd name="T39" fmla="*/ 132 h 200"/>
                  <a:gd name="T40" fmla="*/ 109 w 200"/>
                  <a:gd name="T41" fmla="*/ 100 h 200"/>
                  <a:gd name="T42" fmla="*/ 140 w 200"/>
                  <a:gd name="T43" fmla="*/ 69 h 200"/>
                  <a:gd name="T44" fmla="*/ 131 w 200"/>
                  <a:gd name="T45" fmla="*/ 6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0" h="200">
                    <a:moveTo>
                      <a:pt x="100" y="0"/>
                    </a:moveTo>
                    <a:cubicBezTo>
                      <a:pt x="45" y="0"/>
                      <a:pt x="0" y="45"/>
                      <a:pt x="0" y="100"/>
                    </a:cubicBezTo>
                    <a:cubicBezTo>
                      <a:pt x="0" y="156"/>
                      <a:pt x="45" y="200"/>
                      <a:pt x="100" y="200"/>
                    </a:cubicBezTo>
                    <a:cubicBezTo>
                      <a:pt x="155" y="200"/>
                      <a:pt x="200" y="156"/>
                      <a:pt x="200" y="100"/>
                    </a:cubicBezTo>
                    <a:cubicBezTo>
                      <a:pt x="200" y="45"/>
                      <a:pt x="155" y="0"/>
                      <a:pt x="100" y="0"/>
                    </a:cubicBezTo>
                    <a:close/>
                    <a:moveTo>
                      <a:pt x="100" y="188"/>
                    </a:moveTo>
                    <a:cubicBezTo>
                      <a:pt x="52" y="188"/>
                      <a:pt x="12" y="149"/>
                      <a:pt x="12" y="100"/>
                    </a:cubicBezTo>
                    <a:cubicBezTo>
                      <a:pt x="12" y="52"/>
                      <a:pt x="52" y="13"/>
                      <a:pt x="100" y="13"/>
                    </a:cubicBezTo>
                    <a:cubicBezTo>
                      <a:pt x="148" y="13"/>
                      <a:pt x="187" y="52"/>
                      <a:pt x="187" y="100"/>
                    </a:cubicBezTo>
                    <a:cubicBezTo>
                      <a:pt x="187" y="149"/>
                      <a:pt x="148" y="188"/>
                      <a:pt x="100" y="188"/>
                    </a:cubicBezTo>
                    <a:close/>
                    <a:moveTo>
                      <a:pt x="131" y="60"/>
                    </a:moveTo>
                    <a:cubicBezTo>
                      <a:pt x="100" y="92"/>
                      <a:pt x="100" y="92"/>
                      <a:pt x="100" y="92"/>
                    </a:cubicBezTo>
                    <a:cubicBezTo>
                      <a:pt x="69" y="60"/>
                      <a:pt x="69" y="60"/>
                      <a:pt x="69" y="60"/>
                    </a:cubicBezTo>
                    <a:cubicBezTo>
                      <a:pt x="60" y="69"/>
                      <a:pt x="60" y="69"/>
                      <a:pt x="60" y="69"/>
                    </a:cubicBezTo>
                    <a:cubicBezTo>
                      <a:pt x="91" y="100"/>
                      <a:pt x="91" y="100"/>
                      <a:pt x="91" y="100"/>
                    </a:cubicBezTo>
                    <a:cubicBezTo>
                      <a:pt x="60" y="132"/>
                      <a:pt x="60" y="132"/>
                      <a:pt x="60" y="132"/>
                    </a:cubicBezTo>
                    <a:cubicBezTo>
                      <a:pt x="69" y="140"/>
                      <a:pt x="69" y="140"/>
                      <a:pt x="69" y="140"/>
                    </a:cubicBezTo>
                    <a:cubicBezTo>
                      <a:pt x="100" y="109"/>
                      <a:pt x="100" y="109"/>
                      <a:pt x="100" y="109"/>
                    </a:cubicBezTo>
                    <a:cubicBezTo>
                      <a:pt x="131" y="140"/>
                      <a:pt x="131" y="140"/>
                      <a:pt x="131" y="140"/>
                    </a:cubicBezTo>
                    <a:cubicBezTo>
                      <a:pt x="140" y="132"/>
                      <a:pt x="140" y="132"/>
                      <a:pt x="140" y="132"/>
                    </a:cubicBezTo>
                    <a:cubicBezTo>
                      <a:pt x="109" y="100"/>
                      <a:pt x="109" y="100"/>
                      <a:pt x="109" y="100"/>
                    </a:cubicBezTo>
                    <a:cubicBezTo>
                      <a:pt x="140" y="69"/>
                      <a:pt x="140" y="69"/>
                      <a:pt x="140" y="69"/>
                    </a:cubicBezTo>
                    <a:lnTo>
                      <a:pt x="131" y="60"/>
                    </a:lnTo>
                    <a:close/>
                  </a:path>
                </a:pathLst>
              </a:custGeom>
              <a:solidFill>
                <a:srgbClr val="000000"/>
              </a:solidFill>
              <a:ln>
                <a:solidFill>
                  <a:srgbClr val="123563"/>
                </a:solidFill>
              </a:ln>
            </p:spPr>
            <p:txBody>
              <a:bodyPr vert="horz" wrap="square" lIns="78191" tIns="39096" rIns="78191" bIns="3909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8595B"/>
                  </a:solidFill>
                  <a:effectLst/>
                  <a:uLnTx/>
                  <a:uFillTx/>
                  <a:latin typeface="BISansCond"/>
                  <a:ea typeface="+mn-ea"/>
                  <a:cs typeface="+mn-cs"/>
                </a:endParaRPr>
              </a:p>
            </p:txBody>
          </p:sp>
        </p:grpSp>
      </p:grpSp>
      <p:sp>
        <p:nvSpPr>
          <p:cNvPr id="177" name="Rectangle 373">
            <a:extLst>
              <a:ext uri="{FF2B5EF4-FFF2-40B4-BE49-F238E27FC236}">
                <a16:creationId xmlns:a16="http://schemas.microsoft.com/office/drawing/2014/main" id="{0D18FE6B-4D0A-6890-A49D-8B640F9AD84C}"/>
              </a:ext>
            </a:extLst>
          </p:cNvPr>
          <p:cNvSpPr/>
          <p:nvPr/>
        </p:nvSpPr>
        <p:spPr>
          <a:xfrm flipH="1">
            <a:off x="9818576" y="4010400"/>
            <a:ext cx="963242" cy="343688"/>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a:lnSpc>
                <a:spcPct val="80000"/>
              </a:lnSpc>
            </a:pPr>
            <a:r>
              <a:rPr lang="de-DE" sz="900">
                <a:solidFill>
                  <a:srgbClr val="123563"/>
                </a:solidFill>
              </a:rPr>
              <a:t>Nerandomilast</a:t>
            </a:r>
          </a:p>
          <a:p>
            <a:pPr>
              <a:lnSpc>
                <a:spcPct val="80000"/>
              </a:lnSpc>
            </a:pPr>
            <a:r>
              <a:rPr lang="de-DE" sz="900">
                <a:solidFill>
                  <a:srgbClr val="123563"/>
                </a:solidFill>
              </a:rPr>
              <a:t>chILD Ph3 1st SIV</a:t>
            </a:r>
            <a:endParaRPr lang="en-US" sz="900">
              <a:solidFill>
                <a:srgbClr val="123563"/>
              </a:solidFill>
            </a:endParaRPr>
          </a:p>
        </p:txBody>
      </p:sp>
      <p:cxnSp>
        <p:nvCxnSpPr>
          <p:cNvPr id="178" name="Straight Connector 379">
            <a:extLst>
              <a:ext uri="{FF2B5EF4-FFF2-40B4-BE49-F238E27FC236}">
                <a16:creationId xmlns:a16="http://schemas.microsoft.com/office/drawing/2014/main" id="{C51CCD02-EDC6-FDDC-C4B2-964D2998904B}"/>
              </a:ext>
            </a:extLst>
          </p:cNvPr>
          <p:cNvCxnSpPr>
            <a:cxnSpLocks/>
          </p:cNvCxnSpPr>
          <p:nvPr/>
        </p:nvCxnSpPr>
        <p:spPr>
          <a:xfrm flipV="1">
            <a:off x="5595828" y="3201309"/>
            <a:ext cx="0" cy="1871624"/>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9" name="Arrow: Right 53">
            <a:extLst>
              <a:ext uri="{FF2B5EF4-FFF2-40B4-BE49-F238E27FC236}">
                <a16:creationId xmlns:a16="http://schemas.microsoft.com/office/drawing/2014/main" id="{6D1F72B4-4188-1DFC-3602-FBD6A63982C5}"/>
              </a:ext>
            </a:extLst>
          </p:cNvPr>
          <p:cNvSpPr/>
          <p:nvPr/>
        </p:nvSpPr>
        <p:spPr>
          <a:xfrm flipH="1">
            <a:off x="1804238" y="6337733"/>
            <a:ext cx="108000" cy="108000"/>
          </a:xfrm>
          <a:prstGeom prst="rect">
            <a:avLst/>
          </a:prstGeom>
          <a:solidFill>
            <a:srgbClr val="C73635"/>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22" name="TextBox 21">
            <a:extLst>
              <a:ext uri="{FF2B5EF4-FFF2-40B4-BE49-F238E27FC236}">
                <a16:creationId xmlns:a16="http://schemas.microsoft.com/office/drawing/2014/main" id="{6D4CDF17-14A3-60B5-D80C-21CD2D85BADD}"/>
              </a:ext>
            </a:extLst>
          </p:cNvPr>
          <p:cNvSpPr txBox="1"/>
          <p:nvPr/>
        </p:nvSpPr>
        <p:spPr bwMode="gray">
          <a:xfrm>
            <a:off x="2002455" y="6283146"/>
            <a:ext cx="1171796" cy="217175"/>
          </a:xfrm>
          <a:prstGeom prst="rect">
            <a:avLst/>
          </a:prstGeom>
          <a:noFill/>
        </p:spPr>
        <p:txBody>
          <a:bodyPr wrap="none" lIns="0" tIns="0" rIns="0" bIns="0" rtlCol="0">
            <a:spAutoFit/>
          </a:bodyPr>
          <a:lstStyle/>
          <a:p>
            <a:pPr algn="l">
              <a:lnSpc>
                <a:spcPct val="140000"/>
              </a:lnSpc>
            </a:pPr>
            <a:r>
              <a:rPr lang="en-US" altLang="zh-CN" sz="1100" i="1">
                <a:solidFill>
                  <a:schemeClr val="bg1">
                    <a:lumMod val="75000"/>
                  </a:schemeClr>
                </a:solidFill>
              </a:rPr>
              <a:t>Gastroenterology</a:t>
            </a:r>
            <a:endParaRPr lang="zh-CN" altLang="en-US" sz="1100" i="1">
              <a:solidFill>
                <a:schemeClr val="bg1">
                  <a:lumMod val="75000"/>
                </a:schemeClr>
              </a:solidFill>
            </a:endParaRPr>
          </a:p>
        </p:txBody>
      </p:sp>
      <p:sp>
        <p:nvSpPr>
          <p:cNvPr id="23" name="Arrow: Right 53">
            <a:extLst>
              <a:ext uri="{FF2B5EF4-FFF2-40B4-BE49-F238E27FC236}">
                <a16:creationId xmlns:a16="http://schemas.microsoft.com/office/drawing/2014/main" id="{6B365D12-18AC-9F4E-0856-52BE7207A240}"/>
              </a:ext>
            </a:extLst>
          </p:cNvPr>
          <p:cNvSpPr/>
          <p:nvPr/>
        </p:nvSpPr>
        <p:spPr>
          <a:xfrm flipH="1">
            <a:off x="3384976" y="6362811"/>
            <a:ext cx="108000" cy="108000"/>
          </a:xfrm>
          <a:prstGeom prst="rect">
            <a:avLst/>
          </a:prstGeom>
          <a:solidFill>
            <a:srgbClr val="E1860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24" name="TextBox 23">
            <a:extLst>
              <a:ext uri="{FF2B5EF4-FFF2-40B4-BE49-F238E27FC236}">
                <a16:creationId xmlns:a16="http://schemas.microsoft.com/office/drawing/2014/main" id="{EBFB22F0-DB02-C51E-8808-584C1F1EF292}"/>
              </a:ext>
            </a:extLst>
          </p:cNvPr>
          <p:cNvSpPr txBox="1"/>
          <p:nvPr/>
        </p:nvSpPr>
        <p:spPr bwMode="gray">
          <a:xfrm>
            <a:off x="3548128" y="6289658"/>
            <a:ext cx="965008" cy="217175"/>
          </a:xfrm>
          <a:prstGeom prst="rect">
            <a:avLst/>
          </a:prstGeom>
          <a:noFill/>
        </p:spPr>
        <p:txBody>
          <a:bodyPr wrap="none" lIns="0" tIns="0" rIns="0" bIns="0" rtlCol="0">
            <a:spAutoFit/>
          </a:bodyPr>
          <a:lstStyle/>
          <a:p>
            <a:pPr algn="l">
              <a:lnSpc>
                <a:spcPct val="140000"/>
              </a:lnSpc>
            </a:pPr>
            <a:r>
              <a:rPr lang="en-US" altLang="zh-CN" sz="1100" i="1">
                <a:solidFill>
                  <a:schemeClr val="bg1">
                    <a:lumMod val="75000"/>
                  </a:schemeClr>
                </a:solidFill>
              </a:rPr>
              <a:t>Rheumatology</a:t>
            </a:r>
            <a:endParaRPr lang="zh-CN" altLang="en-US" sz="1100" i="1">
              <a:solidFill>
                <a:schemeClr val="bg1">
                  <a:lumMod val="75000"/>
                </a:schemeClr>
              </a:solidFill>
            </a:endParaRPr>
          </a:p>
        </p:txBody>
      </p:sp>
      <p:sp>
        <p:nvSpPr>
          <p:cNvPr id="18" name="Arrow: Right 53">
            <a:extLst>
              <a:ext uri="{FF2B5EF4-FFF2-40B4-BE49-F238E27FC236}">
                <a16:creationId xmlns:a16="http://schemas.microsoft.com/office/drawing/2014/main" id="{877DCB45-F93E-4043-D156-8B8E51D6D136}"/>
              </a:ext>
            </a:extLst>
          </p:cNvPr>
          <p:cNvSpPr/>
          <p:nvPr/>
        </p:nvSpPr>
        <p:spPr>
          <a:xfrm flipH="1">
            <a:off x="1798016" y="6555450"/>
            <a:ext cx="108000" cy="108000"/>
          </a:xfrm>
          <a:prstGeom prst="rect">
            <a:avLst/>
          </a:prstGeom>
          <a:solidFill>
            <a:schemeClr val="tx1">
              <a:lumMod val="75000"/>
              <a:lumOff val="2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25" name="TextBox 24">
            <a:extLst>
              <a:ext uri="{FF2B5EF4-FFF2-40B4-BE49-F238E27FC236}">
                <a16:creationId xmlns:a16="http://schemas.microsoft.com/office/drawing/2014/main" id="{90FA6B01-E510-6F4A-784D-16B425E68D57}"/>
              </a:ext>
            </a:extLst>
          </p:cNvPr>
          <p:cNvSpPr txBox="1"/>
          <p:nvPr/>
        </p:nvSpPr>
        <p:spPr bwMode="gray">
          <a:xfrm>
            <a:off x="1996233" y="6481733"/>
            <a:ext cx="862416" cy="217175"/>
          </a:xfrm>
          <a:prstGeom prst="rect">
            <a:avLst/>
          </a:prstGeom>
          <a:noFill/>
        </p:spPr>
        <p:txBody>
          <a:bodyPr wrap="none" lIns="0" tIns="0" rIns="0" bIns="0" rtlCol="0">
            <a:spAutoFit/>
          </a:bodyPr>
          <a:lstStyle/>
          <a:p>
            <a:pPr algn="l">
              <a:lnSpc>
                <a:spcPct val="140000"/>
              </a:lnSpc>
            </a:pPr>
            <a:r>
              <a:rPr lang="en-US" altLang="zh-CN" sz="1100" i="1">
                <a:solidFill>
                  <a:schemeClr val="bg1">
                    <a:lumMod val="75000"/>
                  </a:schemeClr>
                </a:solidFill>
              </a:rPr>
              <a:t>Dermatology</a:t>
            </a:r>
            <a:endParaRPr lang="zh-CN" altLang="en-US" sz="1100" i="1">
              <a:solidFill>
                <a:schemeClr val="bg1">
                  <a:lumMod val="75000"/>
                </a:schemeClr>
              </a:solidFill>
            </a:endParaRPr>
          </a:p>
        </p:txBody>
      </p:sp>
      <p:sp>
        <p:nvSpPr>
          <p:cNvPr id="26" name="Arrow: Right 53">
            <a:extLst>
              <a:ext uri="{FF2B5EF4-FFF2-40B4-BE49-F238E27FC236}">
                <a16:creationId xmlns:a16="http://schemas.microsoft.com/office/drawing/2014/main" id="{D37C187E-C49B-A6EE-164E-299279297ED3}"/>
              </a:ext>
            </a:extLst>
          </p:cNvPr>
          <p:cNvSpPr/>
          <p:nvPr/>
        </p:nvSpPr>
        <p:spPr>
          <a:xfrm flipH="1">
            <a:off x="3371724" y="6555450"/>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27" name="TextBox 26">
            <a:extLst>
              <a:ext uri="{FF2B5EF4-FFF2-40B4-BE49-F238E27FC236}">
                <a16:creationId xmlns:a16="http://schemas.microsoft.com/office/drawing/2014/main" id="{DF50470B-2C57-EF95-8419-4144F5BA6957}"/>
              </a:ext>
            </a:extLst>
          </p:cNvPr>
          <p:cNvSpPr txBox="1"/>
          <p:nvPr/>
        </p:nvSpPr>
        <p:spPr bwMode="gray">
          <a:xfrm>
            <a:off x="3560848" y="6506833"/>
            <a:ext cx="870431" cy="217175"/>
          </a:xfrm>
          <a:prstGeom prst="rect">
            <a:avLst/>
          </a:prstGeom>
          <a:noFill/>
        </p:spPr>
        <p:txBody>
          <a:bodyPr wrap="none" lIns="0" tIns="0" rIns="0" bIns="0" rtlCol="0">
            <a:spAutoFit/>
          </a:bodyPr>
          <a:lstStyle/>
          <a:p>
            <a:pPr algn="l">
              <a:lnSpc>
                <a:spcPct val="140000"/>
              </a:lnSpc>
            </a:pPr>
            <a:r>
              <a:rPr lang="en-US" altLang="zh-CN" sz="1100" i="1">
                <a:solidFill>
                  <a:schemeClr val="bg1">
                    <a:lumMod val="75000"/>
                  </a:schemeClr>
                </a:solidFill>
              </a:rPr>
              <a:t>Pulmonology</a:t>
            </a:r>
            <a:endParaRPr lang="zh-CN" altLang="en-US" sz="1100" i="1">
              <a:solidFill>
                <a:schemeClr val="bg1">
                  <a:lumMod val="75000"/>
                </a:schemeClr>
              </a:solidFill>
            </a:endParaRPr>
          </a:p>
        </p:txBody>
      </p:sp>
      <p:grpSp>
        <p:nvGrpSpPr>
          <p:cNvPr id="29" name="Group 28">
            <a:extLst>
              <a:ext uri="{FF2B5EF4-FFF2-40B4-BE49-F238E27FC236}">
                <a16:creationId xmlns:a16="http://schemas.microsoft.com/office/drawing/2014/main" id="{099BE224-6EE3-9EBD-F032-DFA07B41C33C}"/>
              </a:ext>
            </a:extLst>
          </p:cNvPr>
          <p:cNvGrpSpPr/>
          <p:nvPr/>
        </p:nvGrpSpPr>
        <p:grpSpPr>
          <a:xfrm>
            <a:off x="5440051" y="2949703"/>
            <a:ext cx="324000" cy="324000"/>
            <a:chOff x="2124108" y="2977434"/>
            <a:chExt cx="324000" cy="324000"/>
          </a:xfrm>
        </p:grpSpPr>
        <p:sp>
          <p:nvSpPr>
            <p:cNvPr id="30" name="Oval 29">
              <a:extLst>
                <a:ext uri="{FF2B5EF4-FFF2-40B4-BE49-F238E27FC236}">
                  <a16:creationId xmlns:a16="http://schemas.microsoft.com/office/drawing/2014/main" id="{86D4A68F-0B37-956F-9375-1077DD1040EA}"/>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sp>
          <p:nvSpPr>
            <p:cNvPr id="31" name="Oval 30">
              <a:extLst>
                <a:ext uri="{FF2B5EF4-FFF2-40B4-BE49-F238E27FC236}">
                  <a16:creationId xmlns:a16="http://schemas.microsoft.com/office/drawing/2014/main" id="{3576752E-813E-A4C9-E84E-9AF43DF27551}"/>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32" name="Graphic 31" descr="Diamond with solid fill">
              <a:extLst>
                <a:ext uri="{FF2B5EF4-FFF2-40B4-BE49-F238E27FC236}">
                  <a16:creationId xmlns:a16="http://schemas.microsoft.com/office/drawing/2014/main" id="{98A39323-F81E-71BC-6BAA-BBFC74D247DF}"/>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sp>
        <p:nvSpPr>
          <p:cNvPr id="39" name="Arrow: Right 53">
            <a:extLst>
              <a:ext uri="{FF2B5EF4-FFF2-40B4-BE49-F238E27FC236}">
                <a16:creationId xmlns:a16="http://schemas.microsoft.com/office/drawing/2014/main" id="{CB24F59A-0050-8160-0EC9-C208A37A39CC}"/>
              </a:ext>
            </a:extLst>
          </p:cNvPr>
          <p:cNvSpPr/>
          <p:nvPr/>
        </p:nvSpPr>
        <p:spPr>
          <a:xfrm flipH="1">
            <a:off x="3680348" y="2003450"/>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81" name="Rectangle 373">
            <a:extLst>
              <a:ext uri="{FF2B5EF4-FFF2-40B4-BE49-F238E27FC236}">
                <a16:creationId xmlns:a16="http://schemas.microsoft.com/office/drawing/2014/main" id="{31F0CA39-638C-CFB8-D269-289B658BFACD}"/>
              </a:ext>
            </a:extLst>
          </p:cNvPr>
          <p:cNvSpPr/>
          <p:nvPr/>
        </p:nvSpPr>
        <p:spPr>
          <a:xfrm flipH="1">
            <a:off x="1742929" y="3626384"/>
            <a:ext cx="744576" cy="370442"/>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a:lnSpc>
                <a:spcPct val="80000"/>
              </a:lnSpc>
              <a:defRPr/>
            </a:pPr>
            <a:r>
              <a:rPr lang="de-DE" sz="900">
                <a:solidFill>
                  <a:srgbClr val="123563"/>
                </a:solidFill>
              </a:rPr>
              <a:t>Nerandomilast I</a:t>
            </a:r>
            <a:r>
              <a:rPr lang="en-US" sz="900">
                <a:solidFill>
                  <a:srgbClr val="123563"/>
                </a:solidFill>
              </a:rPr>
              <a:t>PF NDA submission</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de-DE" sz="900" b="0" i="0" u="none" strike="noStrike" kern="1200" cap="none" spc="0" normalizeH="0" baseline="0" noProof="0">
                <a:ln>
                  <a:noFill/>
                </a:ln>
                <a:solidFill>
                  <a:srgbClr val="123563"/>
                </a:solidFill>
                <a:effectLst/>
                <a:uLnTx/>
                <a:uFillTx/>
                <a:ea typeface="+mn-ea"/>
                <a:cs typeface="+mn-cs"/>
              </a:rPr>
              <a:t> </a:t>
            </a:r>
            <a:endParaRPr kumimoji="0" lang="en-US" sz="900" b="0" i="0" u="none" strike="noStrike" kern="1200" cap="none" spc="0" normalizeH="0" baseline="0" noProof="0">
              <a:ln>
                <a:noFill/>
              </a:ln>
              <a:solidFill>
                <a:srgbClr val="123563"/>
              </a:solidFill>
              <a:effectLst/>
              <a:uLnTx/>
              <a:uFillTx/>
              <a:ea typeface="+mn-ea"/>
              <a:cs typeface="+mn-cs"/>
            </a:endParaRPr>
          </a:p>
        </p:txBody>
      </p:sp>
      <p:grpSp>
        <p:nvGrpSpPr>
          <p:cNvPr id="83" name="Group 82">
            <a:extLst>
              <a:ext uri="{FF2B5EF4-FFF2-40B4-BE49-F238E27FC236}">
                <a16:creationId xmlns:a16="http://schemas.microsoft.com/office/drawing/2014/main" id="{4F3BFDA4-167A-BFB4-B1A0-E102E2593DF7}"/>
              </a:ext>
            </a:extLst>
          </p:cNvPr>
          <p:cNvGrpSpPr/>
          <p:nvPr/>
        </p:nvGrpSpPr>
        <p:grpSpPr>
          <a:xfrm>
            <a:off x="2365638" y="2949703"/>
            <a:ext cx="324000" cy="324000"/>
            <a:chOff x="2124108" y="2977434"/>
            <a:chExt cx="324000" cy="324000"/>
          </a:xfrm>
        </p:grpSpPr>
        <p:sp>
          <p:nvSpPr>
            <p:cNvPr id="84" name="Oval 83">
              <a:extLst>
                <a:ext uri="{FF2B5EF4-FFF2-40B4-BE49-F238E27FC236}">
                  <a16:creationId xmlns:a16="http://schemas.microsoft.com/office/drawing/2014/main" id="{990483B5-22CC-747C-42AC-E1642A4ADC46}"/>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sp>
          <p:nvSpPr>
            <p:cNvPr id="85" name="Oval 84">
              <a:extLst>
                <a:ext uri="{FF2B5EF4-FFF2-40B4-BE49-F238E27FC236}">
                  <a16:creationId xmlns:a16="http://schemas.microsoft.com/office/drawing/2014/main" id="{9A68ADBE-2818-081E-E8BF-A91A01F91438}"/>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86" name="Graphic 85" descr="Diamond with solid fill">
              <a:extLst>
                <a:ext uri="{FF2B5EF4-FFF2-40B4-BE49-F238E27FC236}">
                  <a16:creationId xmlns:a16="http://schemas.microsoft.com/office/drawing/2014/main" id="{77B91191-E685-6FFA-5830-D64F7426A876}"/>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cxnSp>
        <p:nvCxnSpPr>
          <p:cNvPr id="152" name="Straight Connector 151">
            <a:extLst>
              <a:ext uri="{FF2B5EF4-FFF2-40B4-BE49-F238E27FC236}">
                <a16:creationId xmlns:a16="http://schemas.microsoft.com/office/drawing/2014/main" id="{9E79165F-FE05-E16D-0D62-BDAF86D6C4AE}"/>
              </a:ext>
            </a:extLst>
          </p:cNvPr>
          <p:cNvCxnSpPr>
            <a:cxnSpLocks/>
          </p:cNvCxnSpPr>
          <p:nvPr/>
        </p:nvCxnSpPr>
        <p:spPr>
          <a:xfrm flipV="1">
            <a:off x="2527638" y="3267153"/>
            <a:ext cx="0" cy="144207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74" name="TextBox 398">
            <a:extLst>
              <a:ext uri="{FF2B5EF4-FFF2-40B4-BE49-F238E27FC236}">
                <a16:creationId xmlns:a16="http://schemas.microsoft.com/office/drawing/2014/main" id="{9FE3A72A-200C-659B-7F14-9CAEFC85AE05}"/>
              </a:ext>
            </a:extLst>
          </p:cNvPr>
          <p:cNvSpPr txBox="1"/>
          <p:nvPr/>
        </p:nvSpPr>
        <p:spPr>
          <a:xfrm>
            <a:off x="7993748" y="2689598"/>
            <a:ext cx="673599" cy="192461"/>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altLang="zh-CN" sz="1100" i="0" u="none" strike="noStrike" kern="1200" cap="none" spc="0" normalizeH="0" baseline="0" noProof="0">
                <a:ln>
                  <a:noFill/>
                </a:ln>
                <a:solidFill>
                  <a:srgbClr val="076D7E"/>
                </a:solidFill>
                <a:effectLst/>
                <a:uLnTx/>
                <a:uFillTx/>
                <a:ea typeface="+mn-ea"/>
                <a:cs typeface="+mn-cs"/>
              </a:rPr>
              <a:t>Sep</a:t>
            </a:r>
            <a:r>
              <a:rPr kumimoji="0" lang="de-DE" sz="1100" i="0" u="none" strike="noStrike" kern="1200" cap="none" spc="0" normalizeH="0" baseline="0" noProof="0">
                <a:ln>
                  <a:noFill/>
                </a:ln>
                <a:solidFill>
                  <a:srgbClr val="076D7E"/>
                </a:solidFill>
                <a:effectLst/>
                <a:uLnTx/>
                <a:uFillTx/>
                <a:ea typeface="+mn-ea"/>
                <a:cs typeface="+mn-cs"/>
              </a:rPr>
              <a:t> 2025</a:t>
            </a:r>
            <a:endParaRPr kumimoji="0" lang="en-US" sz="1100" i="0" u="none" strike="noStrike" kern="1200" cap="none" spc="0" normalizeH="0" baseline="0" noProof="0">
              <a:ln>
                <a:noFill/>
              </a:ln>
              <a:solidFill>
                <a:srgbClr val="076D7E"/>
              </a:solidFill>
              <a:effectLst/>
              <a:uLnTx/>
              <a:uFillTx/>
              <a:ea typeface="+mn-ea"/>
              <a:cs typeface="+mn-cs"/>
            </a:endParaRPr>
          </a:p>
        </p:txBody>
      </p:sp>
      <p:grpSp>
        <p:nvGrpSpPr>
          <p:cNvPr id="176" name="Group 175">
            <a:extLst>
              <a:ext uri="{FF2B5EF4-FFF2-40B4-BE49-F238E27FC236}">
                <a16:creationId xmlns:a16="http://schemas.microsoft.com/office/drawing/2014/main" id="{4F6F532D-9029-339A-36D5-CFA111FFBC7C}"/>
              </a:ext>
            </a:extLst>
          </p:cNvPr>
          <p:cNvGrpSpPr/>
          <p:nvPr/>
        </p:nvGrpSpPr>
        <p:grpSpPr>
          <a:xfrm>
            <a:off x="9006206" y="2949703"/>
            <a:ext cx="324000" cy="324000"/>
            <a:chOff x="2124108" y="2977434"/>
            <a:chExt cx="324000" cy="324000"/>
          </a:xfrm>
        </p:grpSpPr>
        <p:sp>
          <p:nvSpPr>
            <p:cNvPr id="181" name="Oval 180">
              <a:extLst>
                <a:ext uri="{FF2B5EF4-FFF2-40B4-BE49-F238E27FC236}">
                  <a16:creationId xmlns:a16="http://schemas.microsoft.com/office/drawing/2014/main" id="{4C08545D-7C60-BFFD-07E8-260FD0049F45}"/>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sp>
          <p:nvSpPr>
            <p:cNvPr id="182" name="Oval 181">
              <a:extLst>
                <a:ext uri="{FF2B5EF4-FFF2-40B4-BE49-F238E27FC236}">
                  <a16:creationId xmlns:a16="http://schemas.microsoft.com/office/drawing/2014/main" id="{980160E0-DD71-A1F5-134D-CBABFA064EFD}"/>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183" name="Graphic 182" descr="Diamond with solid fill">
              <a:extLst>
                <a:ext uri="{FF2B5EF4-FFF2-40B4-BE49-F238E27FC236}">
                  <a16:creationId xmlns:a16="http://schemas.microsoft.com/office/drawing/2014/main" id="{56269301-7B32-10CE-F179-BA32E0EB186D}"/>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cxnSp>
        <p:nvCxnSpPr>
          <p:cNvPr id="37" name="Straight Connector 36">
            <a:extLst>
              <a:ext uri="{FF2B5EF4-FFF2-40B4-BE49-F238E27FC236}">
                <a16:creationId xmlns:a16="http://schemas.microsoft.com/office/drawing/2014/main" id="{6011D6C6-AB1A-3A82-9446-EC095BE18888}"/>
              </a:ext>
            </a:extLst>
          </p:cNvPr>
          <p:cNvCxnSpPr>
            <a:cxnSpLocks/>
          </p:cNvCxnSpPr>
          <p:nvPr/>
        </p:nvCxnSpPr>
        <p:spPr>
          <a:xfrm flipV="1">
            <a:off x="8242784" y="3243393"/>
            <a:ext cx="0" cy="71007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41" name="Arrow: Right 53">
            <a:extLst>
              <a:ext uri="{FF2B5EF4-FFF2-40B4-BE49-F238E27FC236}">
                <a16:creationId xmlns:a16="http://schemas.microsoft.com/office/drawing/2014/main" id="{38D2FD7F-7E3D-A642-B3B5-EA738D06EDAE}"/>
              </a:ext>
            </a:extLst>
          </p:cNvPr>
          <p:cNvSpPr/>
          <p:nvPr/>
        </p:nvSpPr>
        <p:spPr>
          <a:xfrm flipH="1">
            <a:off x="8261256" y="3444108"/>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43" name="Rectangle 373">
            <a:extLst>
              <a:ext uri="{FF2B5EF4-FFF2-40B4-BE49-F238E27FC236}">
                <a16:creationId xmlns:a16="http://schemas.microsoft.com/office/drawing/2014/main" id="{2F3F54AF-6293-54F4-ED98-A7E38046CF46}"/>
              </a:ext>
            </a:extLst>
          </p:cNvPr>
          <p:cNvSpPr/>
          <p:nvPr/>
        </p:nvSpPr>
        <p:spPr>
          <a:xfrm flipH="1">
            <a:off x="8261275" y="3578069"/>
            <a:ext cx="846520" cy="379269"/>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de-DE" altLang="zh-CN" sz="900" i="0" u="none" strike="noStrike" kern="1200" cap="none" spc="0" normalizeH="0" baseline="0" noProof="0">
                <a:ln>
                  <a:noFill/>
                </a:ln>
                <a:solidFill>
                  <a:srgbClr val="123563"/>
                </a:solidFill>
                <a:effectLst/>
                <a:uLnTx/>
                <a:uFillTx/>
                <a:ea typeface="+mn-ea"/>
                <a:cs typeface="+mn-cs"/>
              </a:rPr>
              <a:t>CatCi</a:t>
            </a:r>
          </a:p>
          <a:p>
            <a:pPr marL="0" marR="0" lvl="0" indent="0" algn="l" defTabSz="914400" rtl="0" eaLnBrk="1" fontAlgn="auto" latinLnBrk="0" hangingPunct="1">
              <a:lnSpc>
                <a:spcPct val="80000"/>
              </a:lnSpc>
              <a:spcBef>
                <a:spcPts val="0"/>
              </a:spcBef>
              <a:spcAft>
                <a:spcPts val="0"/>
              </a:spcAft>
              <a:buClrTx/>
              <a:buSzTx/>
              <a:buFontTx/>
              <a:buNone/>
              <a:tabLst/>
              <a:defRPr/>
            </a:pPr>
            <a:r>
              <a:rPr lang="de-DE" altLang="zh-CN" sz="900">
                <a:solidFill>
                  <a:srgbClr val="123563"/>
                </a:solidFill>
              </a:rPr>
              <a:t>FPFV &amp; FPI &amp; FPFT</a:t>
            </a:r>
            <a:endParaRPr kumimoji="0" lang="en-US" altLang="zh-CN" sz="900" i="0" u="none" strike="noStrike" kern="1200" cap="none" spc="0" normalizeH="0" baseline="0" noProof="0">
              <a:ln>
                <a:noFill/>
              </a:ln>
              <a:solidFill>
                <a:srgbClr val="123563"/>
              </a:solidFill>
              <a:effectLst/>
              <a:uLnTx/>
              <a:uFillTx/>
              <a:ea typeface="+mn-ea"/>
              <a:cs typeface="+mn-cs"/>
            </a:endParaRPr>
          </a:p>
        </p:txBody>
      </p:sp>
      <p:sp>
        <p:nvSpPr>
          <p:cNvPr id="61" name="Rectangle 373">
            <a:extLst>
              <a:ext uri="{FF2B5EF4-FFF2-40B4-BE49-F238E27FC236}">
                <a16:creationId xmlns:a16="http://schemas.microsoft.com/office/drawing/2014/main" id="{29D37658-82EB-5DF5-D1D8-F701309B9BFA}"/>
              </a:ext>
            </a:extLst>
          </p:cNvPr>
          <p:cNvSpPr/>
          <p:nvPr/>
        </p:nvSpPr>
        <p:spPr>
          <a:xfrm flipH="1">
            <a:off x="3673721" y="5998072"/>
            <a:ext cx="1171796" cy="308466"/>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lang="en-US" altLang="zh-CN" sz="900">
                <a:solidFill>
                  <a:srgbClr val="123563"/>
                </a:solidFill>
              </a:rPr>
              <a:t>Nerandomilast</a:t>
            </a:r>
          </a:p>
          <a:p>
            <a:pPr marL="0" marR="0" lvl="0" indent="0" algn="l" defTabSz="914400" rtl="0" eaLnBrk="1" fontAlgn="auto" latinLnBrk="0" hangingPunct="1">
              <a:lnSpc>
                <a:spcPct val="80000"/>
              </a:lnSpc>
              <a:spcBef>
                <a:spcPts val="0"/>
              </a:spcBef>
              <a:spcAft>
                <a:spcPts val="0"/>
              </a:spcAft>
              <a:buClrTx/>
              <a:buSzTx/>
              <a:buFontTx/>
              <a:buNone/>
              <a:tabLst/>
              <a:defRPr/>
            </a:pPr>
            <a:r>
              <a:rPr lang="en-US" altLang="zh-CN" sz="900">
                <a:solidFill>
                  <a:srgbClr val="123563"/>
                </a:solidFill>
              </a:rPr>
              <a:t>PPF NDA submission </a:t>
            </a:r>
          </a:p>
        </p:txBody>
      </p:sp>
      <p:sp>
        <p:nvSpPr>
          <p:cNvPr id="80" name="Rectangle 373">
            <a:extLst>
              <a:ext uri="{FF2B5EF4-FFF2-40B4-BE49-F238E27FC236}">
                <a16:creationId xmlns:a16="http://schemas.microsoft.com/office/drawing/2014/main" id="{63CDA732-AEE8-661C-14F5-E0FF822AC0C0}"/>
              </a:ext>
            </a:extLst>
          </p:cNvPr>
          <p:cNvSpPr/>
          <p:nvPr/>
        </p:nvSpPr>
        <p:spPr>
          <a:xfrm flipH="1">
            <a:off x="1521275" y="4359787"/>
            <a:ext cx="1002061" cy="379269"/>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lvl="0">
              <a:lnSpc>
                <a:spcPct val="80000"/>
              </a:lnSpc>
              <a:defRPr/>
            </a:pPr>
            <a:r>
              <a:rPr lang="en-US" altLang="zh-CN" sz="900">
                <a:solidFill>
                  <a:srgbClr val="123563"/>
                </a:solidFill>
              </a:rPr>
              <a:t>CatCi</a:t>
            </a:r>
          </a:p>
          <a:p>
            <a:pPr lvl="0">
              <a:lnSpc>
                <a:spcPct val="80000"/>
              </a:lnSpc>
              <a:defRPr/>
            </a:pPr>
            <a:r>
              <a:rPr kumimoji="0" lang="en-US" altLang="zh-CN" sz="900" i="0" u="none" strike="noStrike" kern="1200" cap="none" spc="0" normalizeH="0" baseline="0" noProof="0">
                <a:ln>
                  <a:noFill/>
                </a:ln>
                <a:solidFill>
                  <a:srgbClr val="123563"/>
                </a:solidFill>
                <a:effectLst/>
                <a:uLnTx/>
                <a:uFillTx/>
                <a:ea typeface="+mn-ea"/>
                <a:cs typeface="+mn-cs"/>
              </a:rPr>
              <a:t>CTA submission</a:t>
            </a:r>
          </a:p>
        </p:txBody>
      </p:sp>
      <p:grpSp>
        <p:nvGrpSpPr>
          <p:cNvPr id="184" name="Group 183">
            <a:extLst>
              <a:ext uri="{FF2B5EF4-FFF2-40B4-BE49-F238E27FC236}">
                <a16:creationId xmlns:a16="http://schemas.microsoft.com/office/drawing/2014/main" id="{504E69B5-9C3F-DCDE-CF3C-732ED0B9B863}"/>
              </a:ext>
            </a:extLst>
          </p:cNvPr>
          <p:cNvGrpSpPr/>
          <p:nvPr/>
        </p:nvGrpSpPr>
        <p:grpSpPr>
          <a:xfrm>
            <a:off x="10577981" y="2959171"/>
            <a:ext cx="324000" cy="324000"/>
            <a:chOff x="2124108" y="2977434"/>
            <a:chExt cx="324000" cy="324000"/>
          </a:xfrm>
        </p:grpSpPr>
        <p:sp>
          <p:nvSpPr>
            <p:cNvPr id="185" name="Oval 184">
              <a:extLst>
                <a:ext uri="{FF2B5EF4-FFF2-40B4-BE49-F238E27FC236}">
                  <a16:creationId xmlns:a16="http://schemas.microsoft.com/office/drawing/2014/main" id="{F1FF85AC-6EFF-CEE9-B30B-833933565071}"/>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sp>
          <p:nvSpPr>
            <p:cNvPr id="186" name="Oval 185">
              <a:extLst>
                <a:ext uri="{FF2B5EF4-FFF2-40B4-BE49-F238E27FC236}">
                  <a16:creationId xmlns:a16="http://schemas.microsoft.com/office/drawing/2014/main" id="{E4F0A049-72C8-3167-330B-D65DBE7B8954}"/>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187" name="Graphic 186" descr="Diamond with solid fill">
              <a:extLst>
                <a:ext uri="{FF2B5EF4-FFF2-40B4-BE49-F238E27FC236}">
                  <a16:creationId xmlns:a16="http://schemas.microsoft.com/office/drawing/2014/main" id="{02529984-00E1-06A4-261E-BD86A7F3E017}"/>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cxnSp>
        <p:nvCxnSpPr>
          <p:cNvPr id="188" name="Straight Connector 187">
            <a:extLst>
              <a:ext uri="{FF2B5EF4-FFF2-40B4-BE49-F238E27FC236}">
                <a16:creationId xmlns:a16="http://schemas.microsoft.com/office/drawing/2014/main" id="{B5AAE8A8-0259-F5C1-971A-5099543F55A4}"/>
              </a:ext>
            </a:extLst>
          </p:cNvPr>
          <p:cNvCxnSpPr>
            <a:cxnSpLocks/>
            <a:endCxn id="110" idx="4"/>
          </p:cNvCxnSpPr>
          <p:nvPr/>
        </p:nvCxnSpPr>
        <p:spPr>
          <a:xfrm flipV="1">
            <a:off x="4399728" y="3273703"/>
            <a:ext cx="0" cy="160810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8" name="TextBox 398">
            <a:extLst>
              <a:ext uri="{FF2B5EF4-FFF2-40B4-BE49-F238E27FC236}">
                <a16:creationId xmlns:a16="http://schemas.microsoft.com/office/drawing/2014/main" id="{6B08BF14-C5E3-2430-CC14-AE93A7FF560C}"/>
              </a:ext>
            </a:extLst>
          </p:cNvPr>
          <p:cNvSpPr txBox="1"/>
          <p:nvPr/>
        </p:nvSpPr>
        <p:spPr>
          <a:xfrm>
            <a:off x="10572019" y="2689598"/>
            <a:ext cx="673599" cy="222671"/>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de-DE" sz="1100" i="0" u="none" strike="noStrike" kern="1200" cap="none" spc="0" normalizeH="0" baseline="0" noProof="0">
                <a:ln>
                  <a:noFill/>
                </a:ln>
                <a:solidFill>
                  <a:srgbClr val="076D7E"/>
                </a:solidFill>
                <a:effectLst/>
                <a:uLnTx/>
                <a:uFillTx/>
                <a:ea typeface="+mn-ea"/>
                <a:cs typeface="+mn-cs"/>
              </a:rPr>
              <a:t> </a:t>
            </a:r>
            <a:r>
              <a:rPr lang="en-US" altLang="zh-CN" sz="1100">
                <a:solidFill>
                  <a:srgbClr val="076D7E"/>
                </a:solidFill>
              </a:rPr>
              <a:t>Dec</a:t>
            </a:r>
            <a:r>
              <a:rPr kumimoji="0" lang="de-DE" sz="1100" i="0" u="none" strike="noStrike" kern="1200" cap="none" spc="0" normalizeH="0" baseline="0" noProof="0">
                <a:ln>
                  <a:noFill/>
                </a:ln>
                <a:solidFill>
                  <a:srgbClr val="076D7E"/>
                </a:solidFill>
                <a:effectLst/>
                <a:uLnTx/>
                <a:uFillTx/>
                <a:ea typeface="+mn-ea"/>
                <a:cs typeface="+mn-cs"/>
              </a:rPr>
              <a:t> 2025</a:t>
            </a:r>
            <a:endParaRPr kumimoji="0" lang="en-US" sz="1100" i="0" u="none" strike="noStrike" kern="1200" cap="none" spc="0" normalizeH="0" baseline="0" noProof="0">
              <a:ln>
                <a:noFill/>
              </a:ln>
              <a:solidFill>
                <a:srgbClr val="076D7E"/>
              </a:solidFill>
              <a:effectLst/>
              <a:uLnTx/>
              <a:uFillTx/>
              <a:ea typeface="+mn-ea"/>
              <a:cs typeface="+mn-cs"/>
            </a:endParaRPr>
          </a:p>
        </p:txBody>
      </p:sp>
      <p:grpSp>
        <p:nvGrpSpPr>
          <p:cNvPr id="99" name="Group 98">
            <a:extLst>
              <a:ext uri="{FF2B5EF4-FFF2-40B4-BE49-F238E27FC236}">
                <a16:creationId xmlns:a16="http://schemas.microsoft.com/office/drawing/2014/main" id="{F869F303-E790-30C4-07D9-B2D61B6BB7CC}"/>
              </a:ext>
            </a:extLst>
          </p:cNvPr>
          <p:cNvGrpSpPr/>
          <p:nvPr/>
        </p:nvGrpSpPr>
        <p:grpSpPr>
          <a:xfrm>
            <a:off x="4237728" y="2949703"/>
            <a:ext cx="324000" cy="324000"/>
            <a:chOff x="2124108" y="2977434"/>
            <a:chExt cx="324000" cy="324000"/>
          </a:xfrm>
        </p:grpSpPr>
        <p:sp>
          <p:nvSpPr>
            <p:cNvPr id="110" name="Oval 109">
              <a:extLst>
                <a:ext uri="{FF2B5EF4-FFF2-40B4-BE49-F238E27FC236}">
                  <a16:creationId xmlns:a16="http://schemas.microsoft.com/office/drawing/2014/main" id="{AB5D0DA4-17BC-CFA6-3C1F-9D2998B9EB59}"/>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sp>
          <p:nvSpPr>
            <p:cNvPr id="117" name="Oval 116">
              <a:extLst>
                <a:ext uri="{FF2B5EF4-FFF2-40B4-BE49-F238E27FC236}">
                  <a16:creationId xmlns:a16="http://schemas.microsoft.com/office/drawing/2014/main" id="{1F3EFE7E-4D80-CDFC-5E6F-C1D3CA2AAFEB}"/>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119" name="Graphic 118" descr="Diamond with solid fill">
              <a:extLst>
                <a:ext uri="{FF2B5EF4-FFF2-40B4-BE49-F238E27FC236}">
                  <a16:creationId xmlns:a16="http://schemas.microsoft.com/office/drawing/2014/main" id="{4C1F1142-4024-0CF8-B184-F4B0B35547DA}"/>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cxnSp>
        <p:nvCxnSpPr>
          <p:cNvPr id="153" name="Straight Connector 152">
            <a:extLst>
              <a:ext uri="{FF2B5EF4-FFF2-40B4-BE49-F238E27FC236}">
                <a16:creationId xmlns:a16="http://schemas.microsoft.com/office/drawing/2014/main" id="{E722B0BB-70B5-F4DA-D515-C9741A3235B9}"/>
              </a:ext>
            </a:extLst>
          </p:cNvPr>
          <p:cNvCxnSpPr>
            <a:cxnSpLocks/>
          </p:cNvCxnSpPr>
          <p:nvPr/>
        </p:nvCxnSpPr>
        <p:spPr>
          <a:xfrm flipH="1" flipV="1">
            <a:off x="10261882" y="2989370"/>
            <a:ext cx="18749" cy="245389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71" name="Arrow: Right 53">
            <a:extLst>
              <a:ext uri="{FF2B5EF4-FFF2-40B4-BE49-F238E27FC236}">
                <a16:creationId xmlns:a16="http://schemas.microsoft.com/office/drawing/2014/main" id="{BC7C7F54-B180-D411-E8BF-C112D12D2C5E}"/>
              </a:ext>
            </a:extLst>
          </p:cNvPr>
          <p:cNvSpPr/>
          <p:nvPr/>
        </p:nvSpPr>
        <p:spPr>
          <a:xfrm flipH="1">
            <a:off x="7062461" y="3437010"/>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193" name="Rectangle 373">
            <a:extLst>
              <a:ext uri="{FF2B5EF4-FFF2-40B4-BE49-F238E27FC236}">
                <a16:creationId xmlns:a16="http://schemas.microsoft.com/office/drawing/2014/main" id="{D16DE4DB-164B-4677-DC4E-D1D714053574}"/>
              </a:ext>
            </a:extLst>
          </p:cNvPr>
          <p:cNvSpPr/>
          <p:nvPr/>
        </p:nvSpPr>
        <p:spPr>
          <a:xfrm flipH="1">
            <a:off x="7067610" y="3567103"/>
            <a:ext cx="971858" cy="410088"/>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123563"/>
                </a:solidFill>
                <a:effectLst/>
                <a:uLnTx/>
                <a:uFillTx/>
                <a:ea typeface="+mn-ea"/>
                <a:cs typeface="+mn-cs"/>
              </a:rPr>
              <a:t>CatCi</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900">
                <a:solidFill>
                  <a:srgbClr val="123563"/>
                </a:solidFill>
              </a:rPr>
              <a:t>1</a:t>
            </a:r>
            <a:r>
              <a:rPr lang="en-US" sz="900" baseline="30000">
                <a:solidFill>
                  <a:srgbClr val="123563"/>
                </a:solidFill>
              </a:rPr>
              <a:t>st</a:t>
            </a:r>
            <a:r>
              <a:rPr lang="en-US" sz="900">
                <a:solidFill>
                  <a:srgbClr val="123563"/>
                </a:solidFill>
              </a:rPr>
              <a:t> site activation</a:t>
            </a:r>
            <a:endParaRPr kumimoji="0" lang="en-US" sz="900" b="0" i="0" u="none" strike="noStrike" kern="1200" cap="none" spc="0" normalizeH="0" baseline="0" noProof="0">
              <a:ln>
                <a:noFill/>
              </a:ln>
              <a:solidFill>
                <a:srgbClr val="123563"/>
              </a:solidFill>
              <a:effectLst/>
              <a:uLnTx/>
              <a:uFillTx/>
              <a:ea typeface="+mn-ea"/>
              <a:cs typeface="+mn-cs"/>
            </a:endParaRPr>
          </a:p>
        </p:txBody>
      </p:sp>
      <p:grpSp>
        <p:nvGrpSpPr>
          <p:cNvPr id="194" name="Group 343">
            <a:extLst>
              <a:ext uri="{FF2B5EF4-FFF2-40B4-BE49-F238E27FC236}">
                <a16:creationId xmlns:a16="http://schemas.microsoft.com/office/drawing/2014/main" id="{DC84630A-503D-954C-96BF-4DC816BE7244}"/>
              </a:ext>
            </a:extLst>
          </p:cNvPr>
          <p:cNvGrpSpPr/>
          <p:nvPr/>
        </p:nvGrpSpPr>
        <p:grpSpPr>
          <a:xfrm>
            <a:off x="6900806" y="2949703"/>
            <a:ext cx="324000" cy="324000"/>
            <a:chOff x="5311199" y="2962865"/>
            <a:chExt cx="324000" cy="324000"/>
          </a:xfrm>
        </p:grpSpPr>
        <p:sp>
          <p:nvSpPr>
            <p:cNvPr id="195" name="Oval 344">
              <a:extLst>
                <a:ext uri="{FF2B5EF4-FFF2-40B4-BE49-F238E27FC236}">
                  <a16:creationId xmlns:a16="http://schemas.microsoft.com/office/drawing/2014/main" id="{146A8699-9C9F-EDAE-9D31-FE3219643321}"/>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grpSp>
          <p:nvGrpSpPr>
            <p:cNvPr id="196" name="Group 348">
              <a:extLst>
                <a:ext uri="{FF2B5EF4-FFF2-40B4-BE49-F238E27FC236}">
                  <a16:creationId xmlns:a16="http://schemas.microsoft.com/office/drawing/2014/main" id="{200738FD-6621-F896-BA61-EE1E21A70AE8}"/>
                </a:ext>
              </a:extLst>
            </p:cNvPr>
            <p:cNvGrpSpPr/>
            <p:nvPr/>
          </p:nvGrpSpPr>
          <p:grpSpPr>
            <a:xfrm>
              <a:off x="5373950" y="3024278"/>
              <a:ext cx="198000" cy="198000"/>
              <a:chOff x="5411047" y="3113464"/>
              <a:chExt cx="198000" cy="198000"/>
            </a:xfrm>
          </p:grpSpPr>
          <p:sp>
            <p:nvSpPr>
              <p:cNvPr id="197" name="Oval 349">
                <a:extLst>
                  <a:ext uri="{FF2B5EF4-FFF2-40B4-BE49-F238E27FC236}">
                    <a16:creationId xmlns:a16="http://schemas.microsoft.com/office/drawing/2014/main" id="{CAC30FC9-1476-514C-0B43-89BA43E7ABFB}"/>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198" name="Graphic 350" descr="Play outline">
                <a:extLst>
                  <a:ext uri="{FF2B5EF4-FFF2-40B4-BE49-F238E27FC236}">
                    <a16:creationId xmlns:a16="http://schemas.microsoft.com/office/drawing/2014/main" id="{84341592-D50B-A1FC-961B-7570A6096E5B}"/>
                  </a:ext>
                </a:extLst>
              </p:cNvPr>
              <p:cNvPicPr>
                <a:picLocks noChangeAspect="1"/>
              </p:cNvPicPr>
              <p:nvPr/>
            </p:nvPicPr>
            <p:blipFill>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445462" y="3137223"/>
                <a:ext cx="158314" cy="158314"/>
              </a:xfrm>
              <a:prstGeom prst="rect">
                <a:avLst/>
              </a:prstGeom>
            </p:spPr>
          </p:pic>
        </p:grpSp>
      </p:grpSp>
      <p:grpSp>
        <p:nvGrpSpPr>
          <p:cNvPr id="199" name="Group 198">
            <a:extLst>
              <a:ext uri="{FF2B5EF4-FFF2-40B4-BE49-F238E27FC236}">
                <a16:creationId xmlns:a16="http://schemas.microsoft.com/office/drawing/2014/main" id="{AA48B79A-E5D7-4207-4755-0A9D14F297F0}"/>
              </a:ext>
            </a:extLst>
          </p:cNvPr>
          <p:cNvGrpSpPr/>
          <p:nvPr/>
        </p:nvGrpSpPr>
        <p:grpSpPr>
          <a:xfrm>
            <a:off x="8080784" y="2949703"/>
            <a:ext cx="324000" cy="324000"/>
            <a:chOff x="2124108" y="2977434"/>
            <a:chExt cx="324000" cy="324000"/>
          </a:xfrm>
        </p:grpSpPr>
        <p:sp>
          <p:nvSpPr>
            <p:cNvPr id="200" name="Oval 199">
              <a:extLst>
                <a:ext uri="{FF2B5EF4-FFF2-40B4-BE49-F238E27FC236}">
                  <a16:creationId xmlns:a16="http://schemas.microsoft.com/office/drawing/2014/main" id="{986ADBED-F5F6-0789-98D3-8F528F6DEF2E}"/>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sp>
          <p:nvSpPr>
            <p:cNvPr id="201" name="Oval 200">
              <a:extLst>
                <a:ext uri="{FF2B5EF4-FFF2-40B4-BE49-F238E27FC236}">
                  <a16:creationId xmlns:a16="http://schemas.microsoft.com/office/drawing/2014/main" id="{2C394E4F-44C7-F9DC-BC5B-8BC456752477}"/>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202" name="Graphic 201" descr="Diamond with solid fill">
              <a:extLst>
                <a:ext uri="{FF2B5EF4-FFF2-40B4-BE49-F238E27FC236}">
                  <a16:creationId xmlns:a16="http://schemas.microsoft.com/office/drawing/2014/main" id="{5A7BA4E7-A136-EB1A-3020-E1B26719E213}"/>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grpSp>
        <p:nvGrpSpPr>
          <p:cNvPr id="143" name="Group 343">
            <a:extLst>
              <a:ext uri="{FF2B5EF4-FFF2-40B4-BE49-F238E27FC236}">
                <a16:creationId xmlns:a16="http://schemas.microsoft.com/office/drawing/2014/main" id="{68CB1F08-3442-9F68-3D2F-AFAA1F3BE343}"/>
              </a:ext>
            </a:extLst>
          </p:cNvPr>
          <p:cNvGrpSpPr/>
          <p:nvPr/>
        </p:nvGrpSpPr>
        <p:grpSpPr>
          <a:xfrm>
            <a:off x="9707966" y="2960103"/>
            <a:ext cx="324000" cy="324000"/>
            <a:chOff x="5311199" y="2962865"/>
            <a:chExt cx="324000" cy="324000"/>
          </a:xfrm>
        </p:grpSpPr>
        <p:sp>
          <p:nvSpPr>
            <p:cNvPr id="144" name="Oval 344">
              <a:extLst>
                <a:ext uri="{FF2B5EF4-FFF2-40B4-BE49-F238E27FC236}">
                  <a16:creationId xmlns:a16="http://schemas.microsoft.com/office/drawing/2014/main" id="{FB05EEB3-ECCE-3C87-9552-41A798AE684F}"/>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grpSp>
          <p:nvGrpSpPr>
            <p:cNvPr id="145" name="Group 348">
              <a:extLst>
                <a:ext uri="{FF2B5EF4-FFF2-40B4-BE49-F238E27FC236}">
                  <a16:creationId xmlns:a16="http://schemas.microsoft.com/office/drawing/2014/main" id="{D346BEED-837A-0346-80AA-DC4993AB6C12}"/>
                </a:ext>
              </a:extLst>
            </p:cNvPr>
            <p:cNvGrpSpPr/>
            <p:nvPr/>
          </p:nvGrpSpPr>
          <p:grpSpPr>
            <a:xfrm>
              <a:off x="5373950" y="3024278"/>
              <a:ext cx="198000" cy="198000"/>
              <a:chOff x="5411047" y="3113464"/>
              <a:chExt cx="198000" cy="198000"/>
            </a:xfrm>
          </p:grpSpPr>
          <p:sp>
            <p:nvSpPr>
              <p:cNvPr id="146" name="Oval 349">
                <a:extLst>
                  <a:ext uri="{FF2B5EF4-FFF2-40B4-BE49-F238E27FC236}">
                    <a16:creationId xmlns:a16="http://schemas.microsoft.com/office/drawing/2014/main" id="{D1DB91F6-6911-36D0-F557-B7D6EE414145}"/>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189" name="Graphic 350" descr="Play outline">
                <a:extLst>
                  <a:ext uri="{FF2B5EF4-FFF2-40B4-BE49-F238E27FC236}">
                    <a16:creationId xmlns:a16="http://schemas.microsoft.com/office/drawing/2014/main" id="{8772FC1C-8E93-AE71-0F5E-AC07186BCF85}"/>
                  </a:ext>
                </a:extLst>
              </p:cNvPr>
              <p:cNvPicPr>
                <a:picLocks noChangeAspect="1"/>
              </p:cNvPicPr>
              <p:nvPr/>
            </p:nvPicPr>
            <p:blipFill>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445462" y="3137223"/>
                <a:ext cx="158314" cy="158314"/>
              </a:xfrm>
              <a:prstGeom prst="rect">
                <a:avLst/>
              </a:prstGeom>
            </p:spPr>
          </p:pic>
        </p:grpSp>
      </p:grpSp>
      <p:cxnSp>
        <p:nvCxnSpPr>
          <p:cNvPr id="191" name="Straight Connector 190">
            <a:extLst>
              <a:ext uri="{FF2B5EF4-FFF2-40B4-BE49-F238E27FC236}">
                <a16:creationId xmlns:a16="http://schemas.microsoft.com/office/drawing/2014/main" id="{3C602F29-5E1B-A0BE-AE72-BAF1DE20B079}"/>
              </a:ext>
            </a:extLst>
          </p:cNvPr>
          <p:cNvCxnSpPr>
            <a:cxnSpLocks/>
          </p:cNvCxnSpPr>
          <p:nvPr/>
        </p:nvCxnSpPr>
        <p:spPr>
          <a:xfrm flipH="1" flipV="1">
            <a:off x="9158978" y="3267279"/>
            <a:ext cx="4160" cy="2453974"/>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05" name="Arrow: Right 53">
            <a:extLst>
              <a:ext uri="{FF2B5EF4-FFF2-40B4-BE49-F238E27FC236}">
                <a16:creationId xmlns:a16="http://schemas.microsoft.com/office/drawing/2014/main" id="{A00F1462-E4B1-D739-2736-8D1305B21757}"/>
              </a:ext>
            </a:extLst>
          </p:cNvPr>
          <p:cNvSpPr/>
          <p:nvPr/>
        </p:nvSpPr>
        <p:spPr>
          <a:xfrm flipH="1">
            <a:off x="9055138" y="4094820"/>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141" name="TextBox 398">
            <a:extLst>
              <a:ext uri="{FF2B5EF4-FFF2-40B4-BE49-F238E27FC236}">
                <a16:creationId xmlns:a16="http://schemas.microsoft.com/office/drawing/2014/main" id="{CBC29D70-AC35-2834-0EE9-E4E1FD6AB6FB}"/>
              </a:ext>
            </a:extLst>
          </p:cNvPr>
          <p:cNvSpPr txBox="1"/>
          <p:nvPr/>
        </p:nvSpPr>
        <p:spPr>
          <a:xfrm>
            <a:off x="8932406" y="2693072"/>
            <a:ext cx="673599" cy="222671"/>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de-DE" sz="1100" i="0" u="none" strike="noStrike" kern="1200" cap="none" spc="0" normalizeH="0" baseline="0" noProof="0">
                <a:ln>
                  <a:noFill/>
                </a:ln>
                <a:solidFill>
                  <a:srgbClr val="076D7E"/>
                </a:solidFill>
                <a:effectLst/>
                <a:uLnTx/>
                <a:uFillTx/>
                <a:ea typeface="+mn-ea"/>
                <a:cs typeface="+mn-cs"/>
              </a:rPr>
              <a:t> </a:t>
            </a:r>
            <a:r>
              <a:rPr lang="en-US" altLang="zh-CN" sz="1100">
                <a:solidFill>
                  <a:srgbClr val="076D7E"/>
                </a:solidFill>
              </a:rPr>
              <a:t>Oct</a:t>
            </a:r>
            <a:r>
              <a:rPr kumimoji="0" lang="de-DE" sz="1100" i="0" u="none" strike="noStrike" kern="1200" cap="none" spc="0" normalizeH="0" baseline="0" noProof="0">
                <a:ln>
                  <a:noFill/>
                </a:ln>
                <a:solidFill>
                  <a:srgbClr val="076D7E"/>
                </a:solidFill>
                <a:effectLst/>
                <a:uLnTx/>
                <a:uFillTx/>
                <a:ea typeface="+mn-ea"/>
                <a:cs typeface="+mn-cs"/>
              </a:rPr>
              <a:t> 2025</a:t>
            </a:r>
            <a:endParaRPr kumimoji="0" lang="en-US" sz="1100" i="0" u="none" strike="noStrike" kern="1200" cap="none" spc="0" normalizeH="0" baseline="0" noProof="0">
              <a:ln>
                <a:noFill/>
              </a:ln>
              <a:solidFill>
                <a:srgbClr val="076D7E"/>
              </a:solidFill>
              <a:effectLst/>
              <a:uLnTx/>
              <a:uFillTx/>
              <a:ea typeface="+mn-ea"/>
              <a:cs typeface="+mn-cs"/>
            </a:endParaRPr>
          </a:p>
        </p:txBody>
      </p:sp>
      <p:sp>
        <p:nvSpPr>
          <p:cNvPr id="207" name="TextBox 398">
            <a:extLst>
              <a:ext uri="{FF2B5EF4-FFF2-40B4-BE49-F238E27FC236}">
                <a16:creationId xmlns:a16="http://schemas.microsoft.com/office/drawing/2014/main" id="{D9C9A645-D95B-6C61-E27B-B307D0A7441C}"/>
              </a:ext>
            </a:extLst>
          </p:cNvPr>
          <p:cNvSpPr txBox="1"/>
          <p:nvPr/>
        </p:nvSpPr>
        <p:spPr>
          <a:xfrm>
            <a:off x="4191857" y="2702156"/>
            <a:ext cx="673599" cy="138960"/>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US" altLang="zh-CN" sz="1100">
                <a:solidFill>
                  <a:srgbClr val="076D7E"/>
                </a:solidFill>
              </a:rPr>
              <a:t>May</a:t>
            </a:r>
            <a:r>
              <a:rPr kumimoji="0" lang="de-DE" sz="1100" i="0" u="none" strike="noStrike" kern="1200" cap="none" spc="0" normalizeH="0" baseline="0" noProof="0">
                <a:ln>
                  <a:noFill/>
                </a:ln>
                <a:solidFill>
                  <a:srgbClr val="076D7E"/>
                </a:solidFill>
                <a:effectLst/>
                <a:uLnTx/>
                <a:uFillTx/>
                <a:ea typeface="+mn-ea"/>
                <a:cs typeface="+mn-cs"/>
              </a:rPr>
              <a:t> 2025</a:t>
            </a:r>
            <a:endParaRPr kumimoji="0" lang="en-US" sz="1100" i="0" u="none" strike="noStrike" kern="1200" cap="none" spc="0" normalizeH="0" baseline="0" noProof="0">
              <a:ln>
                <a:noFill/>
              </a:ln>
              <a:solidFill>
                <a:srgbClr val="076D7E"/>
              </a:solidFill>
              <a:effectLst/>
              <a:uLnTx/>
              <a:uFillTx/>
              <a:ea typeface="+mn-ea"/>
              <a:cs typeface="+mn-cs"/>
            </a:endParaRPr>
          </a:p>
        </p:txBody>
      </p:sp>
      <p:grpSp>
        <p:nvGrpSpPr>
          <p:cNvPr id="228" name="Group 198">
            <a:extLst>
              <a:ext uri="{FF2B5EF4-FFF2-40B4-BE49-F238E27FC236}">
                <a16:creationId xmlns:a16="http://schemas.microsoft.com/office/drawing/2014/main" id="{2FA29B0E-D2B8-A0C0-0710-993A22910EB6}"/>
              </a:ext>
            </a:extLst>
          </p:cNvPr>
          <p:cNvGrpSpPr/>
          <p:nvPr/>
        </p:nvGrpSpPr>
        <p:grpSpPr>
          <a:xfrm>
            <a:off x="10083528" y="2941028"/>
            <a:ext cx="324000" cy="324000"/>
            <a:chOff x="2124108" y="2977434"/>
            <a:chExt cx="324000" cy="324000"/>
          </a:xfrm>
        </p:grpSpPr>
        <p:sp>
          <p:nvSpPr>
            <p:cNvPr id="229" name="Oval 199">
              <a:extLst>
                <a:ext uri="{FF2B5EF4-FFF2-40B4-BE49-F238E27FC236}">
                  <a16:creationId xmlns:a16="http://schemas.microsoft.com/office/drawing/2014/main" id="{84A05A27-629D-1B41-9E96-7EA9DBA06DB2}"/>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sp>
          <p:nvSpPr>
            <p:cNvPr id="230" name="Oval 200">
              <a:extLst>
                <a:ext uri="{FF2B5EF4-FFF2-40B4-BE49-F238E27FC236}">
                  <a16:creationId xmlns:a16="http://schemas.microsoft.com/office/drawing/2014/main" id="{87F18BA6-C758-B99C-C403-0882035E85EF}"/>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231" name="Graphic 201" descr="Diamond with solid fill">
              <a:extLst>
                <a:ext uri="{FF2B5EF4-FFF2-40B4-BE49-F238E27FC236}">
                  <a16:creationId xmlns:a16="http://schemas.microsoft.com/office/drawing/2014/main" id="{44B3D78B-E2E2-E589-DF4A-766A33B7545F}"/>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cxnSp>
        <p:nvCxnSpPr>
          <p:cNvPr id="232" name="Straight Connector 152">
            <a:extLst>
              <a:ext uri="{FF2B5EF4-FFF2-40B4-BE49-F238E27FC236}">
                <a16:creationId xmlns:a16="http://schemas.microsoft.com/office/drawing/2014/main" id="{A9F56980-C78F-6461-6ACB-01E999327221}"/>
              </a:ext>
            </a:extLst>
          </p:cNvPr>
          <p:cNvCxnSpPr>
            <a:cxnSpLocks/>
          </p:cNvCxnSpPr>
          <p:nvPr/>
        </p:nvCxnSpPr>
        <p:spPr>
          <a:xfrm flipH="1" flipV="1">
            <a:off x="7037598" y="3301311"/>
            <a:ext cx="3468" cy="693857"/>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40" name="TextBox 398">
            <a:extLst>
              <a:ext uri="{FF2B5EF4-FFF2-40B4-BE49-F238E27FC236}">
                <a16:creationId xmlns:a16="http://schemas.microsoft.com/office/drawing/2014/main" id="{12571D88-9B2A-D7FB-FC7E-0E0FE768CD79}"/>
              </a:ext>
            </a:extLst>
          </p:cNvPr>
          <p:cNvSpPr txBox="1"/>
          <p:nvPr/>
        </p:nvSpPr>
        <p:spPr>
          <a:xfrm>
            <a:off x="809617" y="2613931"/>
            <a:ext cx="673599" cy="364467"/>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de-DE" sz="1100" i="0" u="none" strike="noStrike" kern="1200" cap="none" spc="0" normalizeH="0" baseline="0" noProof="0">
                <a:ln>
                  <a:noFill/>
                </a:ln>
                <a:solidFill>
                  <a:srgbClr val="076D7E"/>
                </a:solidFill>
                <a:effectLst/>
                <a:uLnTx/>
                <a:uFillTx/>
                <a:ea typeface="+mn-ea"/>
                <a:cs typeface="+mn-cs"/>
              </a:rPr>
              <a:t>Jan 2025</a:t>
            </a:r>
            <a:endParaRPr kumimoji="0" lang="en-US" sz="1100" i="0" u="none" strike="noStrike" kern="1200" cap="none" spc="0" normalizeH="0" baseline="0" noProof="0">
              <a:ln>
                <a:noFill/>
              </a:ln>
              <a:solidFill>
                <a:srgbClr val="076D7E"/>
              </a:solidFill>
              <a:effectLst/>
              <a:uLnTx/>
              <a:uFillTx/>
              <a:ea typeface="+mn-ea"/>
              <a:cs typeface="+mn-cs"/>
            </a:endParaRPr>
          </a:p>
        </p:txBody>
      </p:sp>
      <p:cxnSp>
        <p:nvCxnSpPr>
          <p:cNvPr id="241" name="Straight Connector 240">
            <a:extLst>
              <a:ext uri="{FF2B5EF4-FFF2-40B4-BE49-F238E27FC236}">
                <a16:creationId xmlns:a16="http://schemas.microsoft.com/office/drawing/2014/main" id="{19C1F3C7-4725-4492-94FE-F203D54DF457}"/>
              </a:ext>
            </a:extLst>
          </p:cNvPr>
          <p:cNvCxnSpPr>
            <a:cxnSpLocks/>
          </p:cNvCxnSpPr>
          <p:nvPr/>
        </p:nvCxnSpPr>
        <p:spPr>
          <a:xfrm flipV="1">
            <a:off x="1136789" y="3148973"/>
            <a:ext cx="19414" cy="268722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43" name="Arrow: Right 53">
            <a:extLst>
              <a:ext uri="{FF2B5EF4-FFF2-40B4-BE49-F238E27FC236}">
                <a16:creationId xmlns:a16="http://schemas.microsoft.com/office/drawing/2014/main" id="{446FE6F2-4E46-C296-D928-647FF687C98B}"/>
              </a:ext>
            </a:extLst>
          </p:cNvPr>
          <p:cNvSpPr/>
          <p:nvPr/>
        </p:nvSpPr>
        <p:spPr>
          <a:xfrm flipH="1">
            <a:off x="1743412" y="3513714"/>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244" name="Rectangle 373">
            <a:extLst>
              <a:ext uri="{FF2B5EF4-FFF2-40B4-BE49-F238E27FC236}">
                <a16:creationId xmlns:a16="http://schemas.microsoft.com/office/drawing/2014/main" id="{D4CDB543-E03C-E890-F561-8915EC24815C}"/>
              </a:ext>
            </a:extLst>
          </p:cNvPr>
          <p:cNvSpPr/>
          <p:nvPr/>
        </p:nvSpPr>
        <p:spPr>
          <a:xfrm flipH="1">
            <a:off x="103848" y="4942587"/>
            <a:ext cx="1025782" cy="370442"/>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a:lnSpc>
                <a:spcPct val="80000"/>
              </a:lnSpc>
              <a:defRPr/>
            </a:pPr>
            <a:r>
              <a:rPr lang="de-DE" sz="900">
                <a:solidFill>
                  <a:srgbClr val="123563"/>
                </a:solidFill>
              </a:rPr>
              <a:t>Autotaxin inh. </a:t>
            </a:r>
          </a:p>
          <a:p>
            <a:pPr>
              <a:lnSpc>
                <a:spcPct val="80000"/>
              </a:lnSpc>
              <a:defRPr/>
            </a:pPr>
            <a:r>
              <a:rPr lang="en-US" sz="900">
                <a:solidFill>
                  <a:srgbClr val="123563"/>
                </a:solidFill>
              </a:rPr>
              <a:t>Ph2 IPF LSR</a:t>
            </a:r>
            <a:r>
              <a:rPr lang="de-DE" sz="900">
                <a:solidFill>
                  <a:srgbClr val="123563"/>
                </a:solidFill>
              </a:rPr>
              <a:t> </a:t>
            </a:r>
            <a:endParaRPr lang="en-US" sz="900">
              <a:solidFill>
                <a:srgbClr val="123563"/>
              </a:solidFill>
            </a:endParaRPr>
          </a:p>
        </p:txBody>
      </p:sp>
      <p:sp>
        <p:nvSpPr>
          <p:cNvPr id="245" name="Arrow: Right 53">
            <a:extLst>
              <a:ext uri="{FF2B5EF4-FFF2-40B4-BE49-F238E27FC236}">
                <a16:creationId xmlns:a16="http://schemas.microsoft.com/office/drawing/2014/main" id="{268DF520-B9B3-E4F6-8E68-BEA0E227941E}"/>
              </a:ext>
            </a:extLst>
          </p:cNvPr>
          <p:cNvSpPr/>
          <p:nvPr/>
        </p:nvSpPr>
        <p:spPr>
          <a:xfrm flipH="1">
            <a:off x="1056162" y="4802790"/>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grpSp>
        <p:nvGrpSpPr>
          <p:cNvPr id="246" name="Group 245">
            <a:extLst>
              <a:ext uri="{FF2B5EF4-FFF2-40B4-BE49-F238E27FC236}">
                <a16:creationId xmlns:a16="http://schemas.microsoft.com/office/drawing/2014/main" id="{66F4E8AA-67FA-2CC8-E843-3A19BF9E1525}"/>
              </a:ext>
            </a:extLst>
          </p:cNvPr>
          <p:cNvGrpSpPr/>
          <p:nvPr/>
        </p:nvGrpSpPr>
        <p:grpSpPr>
          <a:xfrm>
            <a:off x="947140" y="2952037"/>
            <a:ext cx="324000" cy="324000"/>
            <a:chOff x="2124108" y="2977434"/>
            <a:chExt cx="324000" cy="324000"/>
          </a:xfrm>
        </p:grpSpPr>
        <p:sp>
          <p:nvSpPr>
            <p:cNvPr id="247" name="Oval 246">
              <a:extLst>
                <a:ext uri="{FF2B5EF4-FFF2-40B4-BE49-F238E27FC236}">
                  <a16:creationId xmlns:a16="http://schemas.microsoft.com/office/drawing/2014/main" id="{239FE370-41C9-55AF-486C-4C94A03C79DC}"/>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sp>
          <p:nvSpPr>
            <p:cNvPr id="248" name="Oval 247">
              <a:extLst>
                <a:ext uri="{FF2B5EF4-FFF2-40B4-BE49-F238E27FC236}">
                  <a16:creationId xmlns:a16="http://schemas.microsoft.com/office/drawing/2014/main" id="{CDF8C450-4F86-AD5D-1817-6CEBEFA1EFBD}"/>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249" name="Graphic 248" descr="Diamond with solid fill">
              <a:extLst>
                <a:ext uri="{FF2B5EF4-FFF2-40B4-BE49-F238E27FC236}">
                  <a16:creationId xmlns:a16="http://schemas.microsoft.com/office/drawing/2014/main" id="{E905A40D-44FD-5574-98A2-510105D0F17C}"/>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sp>
        <p:nvSpPr>
          <p:cNvPr id="254" name="TextBox 253">
            <a:extLst>
              <a:ext uri="{FF2B5EF4-FFF2-40B4-BE49-F238E27FC236}">
                <a16:creationId xmlns:a16="http://schemas.microsoft.com/office/drawing/2014/main" id="{FA092B01-8B5E-8B6F-F651-E774ADD94698}"/>
              </a:ext>
            </a:extLst>
          </p:cNvPr>
          <p:cNvSpPr txBox="1"/>
          <p:nvPr/>
        </p:nvSpPr>
        <p:spPr bwMode="gray">
          <a:xfrm>
            <a:off x="1012143" y="5026338"/>
            <a:ext cx="80150" cy="236924"/>
          </a:xfrm>
          <a:prstGeom prst="rect">
            <a:avLst/>
          </a:prstGeom>
          <a:noFill/>
        </p:spPr>
        <p:txBody>
          <a:bodyPr wrap="none" lIns="0" tIns="0" rIns="0" bIns="0" rtlCol="0">
            <a:spAutoFit/>
          </a:bodyPr>
          <a:lstStyle/>
          <a:p>
            <a:pPr algn="l">
              <a:lnSpc>
                <a:spcPct val="140000"/>
              </a:lnSpc>
            </a:pPr>
            <a:r>
              <a:rPr lang="zh-CN" altLang="en-US" sz="1200">
                <a:solidFill>
                  <a:schemeClr val="tx2"/>
                </a:solidFill>
              </a:rPr>
              <a:t>√</a:t>
            </a:r>
          </a:p>
        </p:txBody>
      </p:sp>
      <p:sp>
        <p:nvSpPr>
          <p:cNvPr id="255" name="Arrow: Right 53">
            <a:extLst>
              <a:ext uri="{FF2B5EF4-FFF2-40B4-BE49-F238E27FC236}">
                <a16:creationId xmlns:a16="http://schemas.microsoft.com/office/drawing/2014/main" id="{160819AB-E914-0579-7ADF-A0C165E01084}"/>
              </a:ext>
            </a:extLst>
          </p:cNvPr>
          <p:cNvSpPr/>
          <p:nvPr/>
        </p:nvSpPr>
        <p:spPr>
          <a:xfrm flipH="1">
            <a:off x="2423063" y="4248571"/>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cxnSp>
        <p:nvCxnSpPr>
          <p:cNvPr id="36" name="Straight Connector 35">
            <a:extLst>
              <a:ext uri="{FF2B5EF4-FFF2-40B4-BE49-F238E27FC236}">
                <a16:creationId xmlns:a16="http://schemas.microsoft.com/office/drawing/2014/main" id="{B0DA9528-72EC-EF23-79F9-CDB6F8986B7D}"/>
              </a:ext>
            </a:extLst>
          </p:cNvPr>
          <p:cNvCxnSpPr>
            <a:cxnSpLocks/>
          </p:cNvCxnSpPr>
          <p:nvPr/>
        </p:nvCxnSpPr>
        <p:spPr>
          <a:xfrm flipV="1">
            <a:off x="3004556" y="3204846"/>
            <a:ext cx="0" cy="2697164"/>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53" name="Rectangle 373">
            <a:extLst>
              <a:ext uri="{FF2B5EF4-FFF2-40B4-BE49-F238E27FC236}">
                <a16:creationId xmlns:a16="http://schemas.microsoft.com/office/drawing/2014/main" id="{0F52F7FD-1780-3A8E-8055-8F1A2BFEDCB0}"/>
              </a:ext>
            </a:extLst>
          </p:cNvPr>
          <p:cNvSpPr/>
          <p:nvPr/>
        </p:nvSpPr>
        <p:spPr>
          <a:xfrm flipH="1">
            <a:off x="3014123" y="3393079"/>
            <a:ext cx="990402" cy="461303"/>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lvl="0">
              <a:lnSpc>
                <a:spcPct val="80000"/>
              </a:lnSpc>
              <a:defRPr/>
            </a:pPr>
            <a:r>
              <a:rPr lang="en-US" altLang="zh-CN" sz="900">
                <a:solidFill>
                  <a:srgbClr val="123563"/>
                </a:solidFill>
              </a:rPr>
              <a:t>Nerandomilast </a:t>
            </a:r>
          </a:p>
          <a:p>
            <a:pPr lvl="0">
              <a:lnSpc>
                <a:spcPct val="80000"/>
              </a:lnSpc>
              <a:defRPr/>
            </a:pPr>
            <a:r>
              <a:rPr lang="en-US" sz="900">
                <a:solidFill>
                  <a:srgbClr val="123563"/>
                </a:solidFill>
              </a:rPr>
              <a:t>PPF pre-NDA meeting request submission</a:t>
            </a:r>
            <a:endParaRPr lang="en-US" altLang="zh-CN" sz="900">
              <a:solidFill>
                <a:srgbClr val="123563"/>
              </a:solidFill>
            </a:endParaRPr>
          </a:p>
        </p:txBody>
      </p:sp>
      <p:sp>
        <p:nvSpPr>
          <p:cNvPr id="54" name="Rectangle 373">
            <a:extLst>
              <a:ext uri="{FF2B5EF4-FFF2-40B4-BE49-F238E27FC236}">
                <a16:creationId xmlns:a16="http://schemas.microsoft.com/office/drawing/2014/main" id="{02BBCB87-AB46-EFFC-D9BF-825B0F7C3EAB}"/>
              </a:ext>
            </a:extLst>
          </p:cNvPr>
          <p:cNvSpPr/>
          <p:nvPr/>
        </p:nvSpPr>
        <p:spPr>
          <a:xfrm flipH="1">
            <a:off x="3006943" y="4027729"/>
            <a:ext cx="1000638" cy="522089"/>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lvl="0">
              <a:lnSpc>
                <a:spcPct val="80000"/>
              </a:lnSpc>
              <a:defRPr/>
            </a:pPr>
            <a:r>
              <a:rPr lang="en-US" altLang="zh-CN" sz="900">
                <a:solidFill>
                  <a:srgbClr val="123563"/>
                </a:solidFill>
              </a:rPr>
              <a:t>Nerandomilast</a:t>
            </a:r>
          </a:p>
          <a:p>
            <a:pPr lvl="0">
              <a:lnSpc>
                <a:spcPct val="80000"/>
              </a:lnSpc>
              <a:defRPr/>
            </a:pPr>
            <a:r>
              <a:rPr lang="en-US" sz="900">
                <a:solidFill>
                  <a:srgbClr val="123563"/>
                </a:solidFill>
              </a:rPr>
              <a:t>FIBRONEER-ON Ph3 last patient roll-over</a:t>
            </a:r>
            <a:endParaRPr lang="en-US" altLang="zh-CN" sz="900">
              <a:solidFill>
                <a:srgbClr val="123563"/>
              </a:solidFill>
            </a:endParaRPr>
          </a:p>
        </p:txBody>
      </p:sp>
      <p:sp>
        <p:nvSpPr>
          <p:cNvPr id="55" name="Rectangle 373">
            <a:extLst>
              <a:ext uri="{FF2B5EF4-FFF2-40B4-BE49-F238E27FC236}">
                <a16:creationId xmlns:a16="http://schemas.microsoft.com/office/drawing/2014/main" id="{39C39559-268D-E13A-BD20-9D6838351AF2}"/>
              </a:ext>
            </a:extLst>
          </p:cNvPr>
          <p:cNvSpPr/>
          <p:nvPr/>
        </p:nvSpPr>
        <p:spPr>
          <a:xfrm flipH="1">
            <a:off x="3006943" y="4758464"/>
            <a:ext cx="1000638" cy="586066"/>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lvl="0">
              <a:lnSpc>
                <a:spcPct val="80000"/>
              </a:lnSpc>
              <a:defRPr/>
            </a:pPr>
            <a:r>
              <a:rPr lang="en-US" altLang="zh-CN" sz="900">
                <a:solidFill>
                  <a:srgbClr val="123563"/>
                </a:solidFill>
              </a:rPr>
              <a:t>Nerandomilast</a:t>
            </a:r>
          </a:p>
          <a:p>
            <a:pPr lvl="0">
              <a:lnSpc>
                <a:spcPct val="80000"/>
              </a:lnSpc>
              <a:defRPr/>
            </a:pPr>
            <a:r>
              <a:rPr lang="en-US" sz="900">
                <a:solidFill>
                  <a:srgbClr val="123563"/>
                </a:solidFill>
              </a:rPr>
              <a:t>FIBRONEER-SARD Ph3b 1st SIV </a:t>
            </a:r>
            <a:r>
              <a:rPr lang="zh-CN" altLang="en-US" sz="900">
                <a:solidFill>
                  <a:schemeClr val="accent5"/>
                </a:solidFill>
              </a:rPr>
              <a:t>（</a:t>
            </a:r>
            <a:r>
              <a:rPr lang="en-US" altLang="zh-CN" sz="900">
                <a:solidFill>
                  <a:schemeClr val="accent5"/>
                </a:solidFill>
              </a:rPr>
              <a:t>on-hold, TBU)</a:t>
            </a:r>
          </a:p>
        </p:txBody>
      </p:sp>
      <p:sp>
        <p:nvSpPr>
          <p:cNvPr id="63" name="Arrow: Right 53">
            <a:extLst>
              <a:ext uri="{FF2B5EF4-FFF2-40B4-BE49-F238E27FC236}">
                <a16:creationId xmlns:a16="http://schemas.microsoft.com/office/drawing/2014/main" id="{CE2221A1-9441-928E-DF5A-8B084ADE6FD9}"/>
              </a:ext>
            </a:extLst>
          </p:cNvPr>
          <p:cNvSpPr/>
          <p:nvPr/>
        </p:nvSpPr>
        <p:spPr>
          <a:xfrm flipH="1">
            <a:off x="3018864" y="3273674"/>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64" name="Arrow: Right 53">
            <a:extLst>
              <a:ext uri="{FF2B5EF4-FFF2-40B4-BE49-F238E27FC236}">
                <a16:creationId xmlns:a16="http://schemas.microsoft.com/office/drawing/2014/main" id="{9C59D169-F61C-D9C0-379B-62DBEC450480}"/>
              </a:ext>
            </a:extLst>
          </p:cNvPr>
          <p:cNvSpPr/>
          <p:nvPr/>
        </p:nvSpPr>
        <p:spPr>
          <a:xfrm flipH="1">
            <a:off x="3013218" y="3911136"/>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66" name="Arrow: Right 53">
            <a:extLst>
              <a:ext uri="{FF2B5EF4-FFF2-40B4-BE49-F238E27FC236}">
                <a16:creationId xmlns:a16="http://schemas.microsoft.com/office/drawing/2014/main" id="{A8EA8453-5B25-04CE-7CA7-119A7F1B3D82}"/>
              </a:ext>
            </a:extLst>
          </p:cNvPr>
          <p:cNvSpPr/>
          <p:nvPr/>
        </p:nvSpPr>
        <p:spPr>
          <a:xfrm flipH="1">
            <a:off x="3005448" y="4641753"/>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67" name="Arrow: Right 53">
            <a:extLst>
              <a:ext uri="{FF2B5EF4-FFF2-40B4-BE49-F238E27FC236}">
                <a16:creationId xmlns:a16="http://schemas.microsoft.com/office/drawing/2014/main" id="{56AA9F85-33F6-8E0E-2636-C51AD39D81B8}"/>
              </a:ext>
            </a:extLst>
          </p:cNvPr>
          <p:cNvSpPr/>
          <p:nvPr/>
        </p:nvSpPr>
        <p:spPr>
          <a:xfrm flipH="1">
            <a:off x="3005448" y="5361805"/>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68" name="Rectangle 373">
            <a:extLst>
              <a:ext uri="{FF2B5EF4-FFF2-40B4-BE49-F238E27FC236}">
                <a16:creationId xmlns:a16="http://schemas.microsoft.com/office/drawing/2014/main" id="{E69F3D97-5252-8B36-9332-E9682AC55559}"/>
              </a:ext>
            </a:extLst>
          </p:cNvPr>
          <p:cNvSpPr/>
          <p:nvPr/>
        </p:nvSpPr>
        <p:spPr>
          <a:xfrm flipH="1">
            <a:off x="3031455" y="5466304"/>
            <a:ext cx="1002061" cy="379269"/>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lvl="0">
              <a:lnSpc>
                <a:spcPct val="80000"/>
              </a:lnSpc>
              <a:defRPr/>
            </a:pPr>
            <a:r>
              <a:rPr lang="en-US" altLang="zh-CN" sz="900">
                <a:solidFill>
                  <a:srgbClr val="123563"/>
                </a:solidFill>
              </a:rPr>
              <a:t>CatCi</a:t>
            </a:r>
          </a:p>
          <a:p>
            <a:pPr lvl="0">
              <a:lnSpc>
                <a:spcPct val="80000"/>
              </a:lnSpc>
              <a:defRPr/>
            </a:pPr>
            <a:r>
              <a:rPr kumimoji="0" lang="en-US" altLang="zh-CN" sz="900" i="0" u="none" strike="noStrike" kern="1200" cap="none" spc="0" normalizeH="0" baseline="0" noProof="0">
                <a:ln>
                  <a:noFill/>
                </a:ln>
                <a:solidFill>
                  <a:srgbClr val="123563"/>
                </a:solidFill>
                <a:effectLst/>
                <a:uLnTx/>
                <a:uFillTx/>
                <a:ea typeface="+mn-ea"/>
                <a:cs typeface="+mn-cs"/>
              </a:rPr>
              <a:t>EC submission</a:t>
            </a:r>
          </a:p>
        </p:txBody>
      </p:sp>
      <p:grpSp>
        <p:nvGrpSpPr>
          <p:cNvPr id="87" name="Group 86">
            <a:extLst>
              <a:ext uri="{FF2B5EF4-FFF2-40B4-BE49-F238E27FC236}">
                <a16:creationId xmlns:a16="http://schemas.microsoft.com/office/drawing/2014/main" id="{10948B97-6665-9DB0-BB8E-4CD17FDE6D40}"/>
              </a:ext>
            </a:extLst>
          </p:cNvPr>
          <p:cNvGrpSpPr/>
          <p:nvPr/>
        </p:nvGrpSpPr>
        <p:grpSpPr>
          <a:xfrm>
            <a:off x="2845345" y="2934146"/>
            <a:ext cx="324000" cy="324000"/>
            <a:chOff x="2124108" y="2977434"/>
            <a:chExt cx="324000" cy="324000"/>
          </a:xfrm>
        </p:grpSpPr>
        <p:sp>
          <p:nvSpPr>
            <p:cNvPr id="90" name="Oval 89">
              <a:extLst>
                <a:ext uri="{FF2B5EF4-FFF2-40B4-BE49-F238E27FC236}">
                  <a16:creationId xmlns:a16="http://schemas.microsoft.com/office/drawing/2014/main" id="{E6FBEA0F-27FC-ECF8-B29B-6B94F57AB8F7}"/>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sp>
          <p:nvSpPr>
            <p:cNvPr id="92" name="Oval 91">
              <a:extLst>
                <a:ext uri="{FF2B5EF4-FFF2-40B4-BE49-F238E27FC236}">
                  <a16:creationId xmlns:a16="http://schemas.microsoft.com/office/drawing/2014/main" id="{2C2C9DE3-37EE-1D6E-7E37-F01F6C61AC0C}"/>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93" name="Graphic 92" descr="Diamond with solid fill">
              <a:extLst>
                <a:ext uri="{FF2B5EF4-FFF2-40B4-BE49-F238E27FC236}">
                  <a16:creationId xmlns:a16="http://schemas.microsoft.com/office/drawing/2014/main" id="{BA56C9ED-631F-D0B8-84CD-DB11F868B331}"/>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sp>
        <p:nvSpPr>
          <p:cNvPr id="106" name="Rectangle 373">
            <a:extLst>
              <a:ext uri="{FF2B5EF4-FFF2-40B4-BE49-F238E27FC236}">
                <a16:creationId xmlns:a16="http://schemas.microsoft.com/office/drawing/2014/main" id="{37F37F3D-A320-8869-645C-FCD148E283EC}"/>
              </a:ext>
            </a:extLst>
          </p:cNvPr>
          <p:cNvSpPr/>
          <p:nvPr/>
        </p:nvSpPr>
        <p:spPr>
          <a:xfrm flipH="1">
            <a:off x="103847" y="5465757"/>
            <a:ext cx="1028315" cy="370442"/>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a:lnSpc>
                <a:spcPct val="80000"/>
              </a:lnSpc>
              <a:defRPr/>
            </a:pPr>
            <a:r>
              <a:rPr lang="en-US" sz="900">
                <a:solidFill>
                  <a:srgbClr val="123563"/>
                </a:solidFill>
              </a:rPr>
              <a:t>Spesolimab PG</a:t>
            </a:r>
          </a:p>
          <a:p>
            <a:pPr>
              <a:lnSpc>
                <a:spcPct val="80000"/>
              </a:lnSpc>
              <a:defRPr/>
            </a:pPr>
            <a:r>
              <a:rPr lang="en-US" sz="900">
                <a:solidFill>
                  <a:srgbClr val="123563"/>
                </a:solidFill>
              </a:rPr>
              <a:t>Ph3 SIV</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de-DE" sz="900" b="0" i="0" u="none" strike="noStrike" kern="1200" cap="none" spc="0" normalizeH="0" baseline="0" noProof="0">
                <a:ln>
                  <a:noFill/>
                </a:ln>
                <a:solidFill>
                  <a:srgbClr val="123563"/>
                </a:solidFill>
                <a:effectLst/>
                <a:uLnTx/>
                <a:uFillTx/>
                <a:ea typeface="+mn-ea"/>
                <a:cs typeface="+mn-cs"/>
              </a:rPr>
              <a:t> </a:t>
            </a:r>
            <a:endParaRPr kumimoji="0" lang="en-US" sz="900" b="0" i="0" u="none" strike="noStrike" kern="1200" cap="none" spc="0" normalizeH="0" baseline="0" noProof="0">
              <a:ln>
                <a:noFill/>
              </a:ln>
              <a:solidFill>
                <a:srgbClr val="123563"/>
              </a:solidFill>
              <a:effectLst/>
              <a:uLnTx/>
              <a:uFillTx/>
              <a:ea typeface="+mn-ea"/>
              <a:cs typeface="+mn-cs"/>
            </a:endParaRPr>
          </a:p>
        </p:txBody>
      </p:sp>
      <p:sp>
        <p:nvSpPr>
          <p:cNvPr id="107" name="Arrow: Right 53">
            <a:extLst>
              <a:ext uri="{FF2B5EF4-FFF2-40B4-BE49-F238E27FC236}">
                <a16:creationId xmlns:a16="http://schemas.microsoft.com/office/drawing/2014/main" id="{AFC8C256-8A18-80FC-96C3-952D8F4DA950}"/>
              </a:ext>
            </a:extLst>
          </p:cNvPr>
          <p:cNvSpPr/>
          <p:nvPr/>
        </p:nvSpPr>
        <p:spPr>
          <a:xfrm flipH="1">
            <a:off x="1027230" y="5361805"/>
            <a:ext cx="108000" cy="108000"/>
          </a:xfrm>
          <a:prstGeom prst="rect">
            <a:avLst/>
          </a:prstGeom>
          <a:solidFill>
            <a:srgbClr val="40404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109" name="Arrow: Right 53">
            <a:extLst>
              <a:ext uri="{FF2B5EF4-FFF2-40B4-BE49-F238E27FC236}">
                <a16:creationId xmlns:a16="http://schemas.microsoft.com/office/drawing/2014/main" id="{329DB3E0-45CB-4B72-777B-1638D2ED506F}"/>
              </a:ext>
            </a:extLst>
          </p:cNvPr>
          <p:cNvSpPr/>
          <p:nvPr/>
        </p:nvSpPr>
        <p:spPr>
          <a:xfrm flipH="1">
            <a:off x="3682502" y="5914875"/>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112" name="Arrow: Right 53">
            <a:extLst>
              <a:ext uri="{FF2B5EF4-FFF2-40B4-BE49-F238E27FC236}">
                <a16:creationId xmlns:a16="http://schemas.microsoft.com/office/drawing/2014/main" id="{9FEDC13A-944F-4B1E-D2F5-C67775BCCEF3}"/>
              </a:ext>
            </a:extLst>
          </p:cNvPr>
          <p:cNvSpPr/>
          <p:nvPr/>
        </p:nvSpPr>
        <p:spPr>
          <a:xfrm flipH="1">
            <a:off x="5610692" y="4556282"/>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113" name="Rectangle 373">
            <a:extLst>
              <a:ext uri="{FF2B5EF4-FFF2-40B4-BE49-F238E27FC236}">
                <a16:creationId xmlns:a16="http://schemas.microsoft.com/office/drawing/2014/main" id="{982AE7D0-AD16-F05E-3E02-D1EF389F628B}"/>
              </a:ext>
            </a:extLst>
          </p:cNvPr>
          <p:cNvSpPr/>
          <p:nvPr/>
        </p:nvSpPr>
        <p:spPr>
          <a:xfrm flipH="1">
            <a:off x="5622212" y="4694452"/>
            <a:ext cx="962215" cy="361830"/>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a:lnSpc>
                <a:spcPct val="80000"/>
              </a:lnSpc>
            </a:pPr>
            <a:r>
              <a:rPr lang="en-US" altLang="zh-CN" sz="900">
                <a:solidFill>
                  <a:srgbClr val="123563"/>
                </a:solidFill>
              </a:rPr>
              <a:t>CatCi </a:t>
            </a:r>
          </a:p>
          <a:p>
            <a:pPr>
              <a:lnSpc>
                <a:spcPct val="80000"/>
              </a:lnSpc>
            </a:pPr>
            <a:r>
              <a:rPr lang="en-US" sz="900">
                <a:solidFill>
                  <a:srgbClr val="123563"/>
                </a:solidFill>
              </a:rPr>
              <a:t>HGRAC submission</a:t>
            </a:r>
          </a:p>
        </p:txBody>
      </p:sp>
      <p:sp>
        <p:nvSpPr>
          <p:cNvPr id="114" name="Arrow: Right 53">
            <a:extLst>
              <a:ext uri="{FF2B5EF4-FFF2-40B4-BE49-F238E27FC236}">
                <a16:creationId xmlns:a16="http://schemas.microsoft.com/office/drawing/2014/main" id="{A83D90E9-4B64-BB21-0372-665C9C5AD202}"/>
              </a:ext>
            </a:extLst>
          </p:cNvPr>
          <p:cNvSpPr/>
          <p:nvPr/>
        </p:nvSpPr>
        <p:spPr>
          <a:xfrm flipH="1">
            <a:off x="6380226" y="4053877"/>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115" name="Rectangle 373">
            <a:extLst>
              <a:ext uri="{FF2B5EF4-FFF2-40B4-BE49-F238E27FC236}">
                <a16:creationId xmlns:a16="http://schemas.microsoft.com/office/drawing/2014/main" id="{061B758F-DD57-220F-EB5E-E782F7A23827}"/>
              </a:ext>
            </a:extLst>
          </p:cNvPr>
          <p:cNvSpPr/>
          <p:nvPr/>
        </p:nvSpPr>
        <p:spPr>
          <a:xfrm flipH="1">
            <a:off x="6380226" y="4202583"/>
            <a:ext cx="962215" cy="361830"/>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a:lnSpc>
                <a:spcPct val="80000"/>
              </a:lnSpc>
            </a:pPr>
            <a:r>
              <a:rPr lang="en-US" altLang="zh-CN" sz="900">
                <a:solidFill>
                  <a:srgbClr val="123563"/>
                </a:solidFill>
              </a:rPr>
              <a:t>CatCi </a:t>
            </a:r>
          </a:p>
          <a:p>
            <a:pPr>
              <a:lnSpc>
                <a:spcPct val="80000"/>
              </a:lnSpc>
            </a:pPr>
            <a:r>
              <a:rPr lang="en-US" sz="900">
                <a:solidFill>
                  <a:srgbClr val="123563"/>
                </a:solidFill>
              </a:rPr>
              <a:t>Investigator meeting</a:t>
            </a:r>
          </a:p>
        </p:txBody>
      </p:sp>
      <p:sp>
        <p:nvSpPr>
          <p:cNvPr id="128" name="Rectangle 373">
            <a:extLst>
              <a:ext uri="{FF2B5EF4-FFF2-40B4-BE49-F238E27FC236}">
                <a16:creationId xmlns:a16="http://schemas.microsoft.com/office/drawing/2014/main" id="{718CA7CA-0FF9-0C5B-2FD1-0456671A8EED}"/>
              </a:ext>
            </a:extLst>
          </p:cNvPr>
          <p:cNvSpPr/>
          <p:nvPr/>
        </p:nvSpPr>
        <p:spPr>
          <a:xfrm flipH="1">
            <a:off x="10300197" y="5103401"/>
            <a:ext cx="1436762" cy="331154"/>
          </a:xfrm>
          <a:prstGeom prst="rect">
            <a:avLst/>
          </a:prstGeom>
          <a:pattFill prst="wdDnDiag">
            <a:fgClr>
              <a:schemeClr val="bg1">
                <a:lumMod val="95000"/>
              </a:schemeClr>
            </a:fgClr>
            <a:bgClr>
              <a:schemeClr val="bg1"/>
            </a:bgClr>
          </a:patt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123563"/>
                </a:solidFill>
                <a:effectLst/>
                <a:uLnTx/>
                <a:uFillTx/>
                <a:ea typeface="+mn-ea"/>
                <a:cs typeface="+mn-cs"/>
              </a:rPr>
              <a:t>cGAS</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900">
                <a:solidFill>
                  <a:srgbClr val="123563"/>
                </a:solidFill>
              </a:rPr>
              <a:t>Ph2 INF CTA submission</a:t>
            </a:r>
            <a:endParaRPr kumimoji="0" lang="en-US" sz="900" b="0" i="0" u="none" strike="noStrike" kern="1200" cap="none" spc="0" normalizeH="0" baseline="0" noProof="0">
              <a:ln>
                <a:noFill/>
              </a:ln>
              <a:solidFill>
                <a:srgbClr val="123563"/>
              </a:solidFill>
              <a:effectLst/>
              <a:uLnTx/>
              <a:uFillTx/>
              <a:ea typeface="+mn-ea"/>
              <a:cs typeface="+mn-cs"/>
            </a:endParaRPr>
          </a:p>
        </p:txBody>
      </p:sp>
      <p:sp>
        <p:nvSpPr>
          <p:cNvPr id="129" name="Arrow: Right 53">
            <a:extLst>
              <a:ext uri="{FF2B5EF4-FFF2-40B4-BE49-F238E27FC236}">
                <a16:creationId xmlns:a16="http://schemas.microsoft.com/office/drawing/2014/main" id="{5D3F2DAF-886F-9920-B4A3-155673D92099}"/>
              </a:ext>
            </a:extLst>
          </p:cNvPr>
          <p:cNvSpPr/>
          <p:nvPr/>
        </p:nvSpPr>
        <p:spPr>
          <a:xfrm flipH="1">
            <a:off x="10302026" y="4964933"/>
            <a:ext cx="108000" cy="108000"/>
          </a:xfrm>
          <a:prstGeom prst="rect">
            <a:avLst/>
          </a:prstGeom>
          <a:solidFill>
            <a:srgbClr val="E1860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131" name="TextBox 130">
            <a:extLst>
              <a:ext uri="{FF2B5EF4-FFF2-40B4-BE49-F238E27FC236}">
                <a16:creationId xmlns:a16="http://schemas.microsoft.com/office/drawing/2014/main" id="{EBDE9388-F186-A517-7C62-AE1AE3DE65C1}"/>
              </a:ext>
            </a:extLst>
          </p:cNvPr>
          <p:cNvSpPr txBox="1"/>
          <p:nvPr/>
        </p:nvSpPr>
        <p:spPr bwMode="gray">
          <a:xfrm>
            <a:off x="5115159" y="6482569"/>
            <a:ext cx="2439770" cy="217175"/>
          </a:xfrm>
          <a:prstGeom prst="rect">
            <a:avLst/>
          </a:prstGeom>
          <a:noFill/>
        </p:spPr>
        <p:txBody>
          <a:bodyPr wrap="none" lIns="0" tIns="0" rIns="0" bIns="0" rtlCol="0">
            <a:spAutoFit/>
          </a:bodyPr>
          <a:lstStyle/>
          <a:p>
            <a:pPr algn="l">
              <a:lnSpc>
                <a:spcPct val="140000"/>
              </a:lnSpc>
            </a:pPr>
            <a:r>
              <a:rPr lang="de-DE" altLang="zh-CN" sz="1100" i="1">
                <a:solidFill>
                  <a:schemeClr val="bg1">
                    <a:lumMod val="75000"/>
                  </a:schemeClr>
                </a:solidFill>
              </a:rPr>
              <a:t>P</a:t>
            </a:r>
            <a:r>
              <a:rPr lang="en-US" altLang="zh-CN" sz="1100" i="1">
                <a:solidFill>
                  <a:schemeClr val="bg1">
                    <a:lumMod val="75000"/>
                  </a:schemeClr>
                </a:solidFill>
              </a:rPr>
              <a:t>laceholder, under further evaluation</a:t>
            </a:r>
            <a:endParaRPr lang="zh-CN" altLang="en-US" sz="1100" i="1">
              <a:solidFill>
                <a:schemeClr val="bg1">
                  <a:lumMod val="75000"/>
                </a:schemeClr>
              </a:solidFill>
            </a:endParaRPr>
          </a:p>
        </p:txBody>
      </p:sp>
      <p:sp>
        <p:nvSpPr>
          <p:cNvPr id="137" name="Rectangle 373">
            <a:extLst>
              <a:ext uri="{FF2B5EF4-FFF2-40B4-BE49-F238E27FC236}">
                <a16:creationId xmlns:a16="http://schemas.microsoft.com/office/drawing/2014/main" id="{56615873-384A-1327-F430-7B32B259C896}"/>
              </a:ext>
            </a:extLst>
          </p:cNvPr>
          <p:cNvSpPr/>
          <p:nvPr/>
        </p:nvSpPr>
        <p:spPr>
          <a:xfrm flipH="1">
            <a:off x="8113470" y="4220263"/>
            <a:ext cx="1040055" cy="379269"/>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de-DE" altLang="zh-CN" sz="900" i="0" u="none" strike="noStrike" kern="1200" cap="none" spc="0" normalizeH="0" baseline="0" noProof="0">
                <a:ln>
                  <a:noFill/>
                </a:ln>
                <a:solidFill>
                  <a:srgbClr val="123563"/>
                </a:solidFill>
                <a:effectLst/>
                <a:uLnTx/>
                <a:uFillTx/>
                <a:ea typeface="+mn-ea"/>
                <a:cs typeface="+mn-cs"/>
              </a:rPr>
              <a:t>Nerandomilast</a:t>
            </a:r>
          </a:p>
          <a:p>
            <a:pPr marL="0" marR="0" lvl="0" indent="0" algn="l" defTabSz="914400" rtl="0" eaLnBrk="1" fontAlgn="auto" latinLnBrk="0" hangingPunct="1">
              <a:lnSpc>
                <a:spcPct val="80000"/>
              </a:lnSpc>
              <a:spcBef>
                <a:spcPts val="0"/>
              </a:spcBef>
              <a:spcAft>
                <a:spcPts val="0"/>
              </a:spcAft>
              <a:buClrTx/>
              <a:buSzTx/>
              <a:buFontTx/>
              <a:buNone/>
              <a:tabLst/>
              <a:defRPr/>
            </a:pPr>
            <a:r>
              <a:rPr lang="de-DE" altLang="zh-CN" sz="900">
                <a:solidFill>
                  <a:srgbClr val="123563"/>
                </a:solidFill>
              </a:rPr>
              <a:t>chILD Ph3 CTA submission</a:t>
            </a:r>
            <a:endParaRPr kumimoji="0" lang="en-US" altLang="zh-CN" sz="900" i="0" u="none" strike="noStrike" kern="1200" cap="none" spc="0" normalizeH="0" baseline="0" noProof="0">
              <a:ln>
                <a:noFill/>
              </a:ln>
              <a:solidFill>
                <a:srgbClr val="123563"/>
              </a:solidFill>
              <a:effectLst/>
              <a:uLnTx/>
              <a:uFillTx/>
              <a:ea typeface="+mn-ea"/>
              <a:cs typeface="+mn-cs"/>
            </a:endParaRPr>
          </a:p>
        </p:txBody>
      </p:sp>
      <p:sp>
        <p:nvSpPr>
          <p:cNvPr id="139" name="Rectangle 373">
            <a:extLst>
              <a:ext uri="{FF2B5EF4-FFF2-40B4-BE49-F238E27FC236}">
                <a16:creationId xmlns:a16="http://schemas.microsoft.com/office/drawing/2014/main" id="{DAD4DA76-51F4-CD4C-A0D9-6E83ADAD29B4}"/>
              </a:ext>
            </a:extLst>
          </p:cNvPr>
          <p:cNvSpPr/>
          <p:nvPr/>
        </p:nvSpPr>
        <p:spPr>
          <a:xfrm flipH="1">
            <a:off x="8120326" y="4784595"/>
            <a:ext cx="1019575" cy="361830"/>
          </a:xfrm>
          <a:prstGeom prst="rect">
            <a:avLst/>
          </a:prstGeom>
          <a:pattFill prst="wdDnDiag">
            <a:fgClr>
              <a:schemeClr val="bg1">
                <a:lumMod val="95000"/>
              </a:schemeClr>
            </a:fgClr>
            <a:bgClr>
              <a:schemeClr val="bg1"/>
            </a:bgClr>
          </a:patt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a:lnSpc>
                <a:spcPct val="80000"/>
              </a:lnSpc>
            </a:pPr>
            <a:r>
              <a:rPr lang="en-US" altLang="zh-CN" sz="900">
                <a:solidFill>
                  <a:srgbClr val="123563"/>
                </a:solidFill>
              </a:rPr>
              <a:t>NOX-4 inh.</a:t>
            </a:r>
          </a:p>
          <a:p>
            <a:pPr>
              <a:lnSpc>
                <a:spcPct val="80000"/>
              </a:lnSpc>
            </a:pPr>
            <a:r>
              <a:rPr lang="en-US" altLang="zh-CN" sz="900">
                <a:solidFill>
                  <a:srgbClr val="123563"/>
                </a:solidFill>
              </a:rPr>
              <a:t>Ph2 early ILD CTA submission </a:t>
            </a:r>
            <a:r>
              <a:rPr lang="en-US" altLang="zh-CN" sz="900">
                <a:solidFill>
                  <a:schemeClr val="bg1">
                    <a:lumMod val="50000"/>
                  </a:schemeClr>
                </a:solidFill>
              </a:rPr>
              <a:t>(on-hold, TBU)</a:t>
            </a:r>
          </a:p>
          <a:p>
            <a:pPr>
              <a:lnSpc>
                <a:spcPct val="80000"/>
              </a:lnSpc>
            </a:pPr>
            <a:endParaRPr lang="en-US" sz="900">
              <a:solidFill>
                <a:srgbClr val="123563"/>
              </a:solidFill>
            </a:endParaRPr>
          </a:p>
        </p:txBody>
      </p:sp>
      <p:sp>
        <p:nvSpPr>
          <p:cNvPr id="142" name="Arrow: Right 53">
            <a:extLst>
              <a:ext uri="{FF2B5EF4-FFF2-40B4-BE49-F238E27FC236}">
                <a16:creationId xmlns:a16="http://schemas.microsoft.com/office/drawing/2014/main" id="{4B1BA5C6-3C09-D9AB-F453-3E5A4CBDF725}"/>
              </a:ext>
            </a:extLst>
          </p:cNvPr>
          <p:cNvSpPr/>
          <p:nvPr/>
        </p:nvSpPr>
        <p:spPr>
          <a:xfrm flipH="1">
            <a:off x="9041441" y="4652385"/>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155" name="Rectangle 373">
            <a:extLst>
              <a:ext uri="{FF2B5EF4-FFF2-40B4-BE49-F238E27FC236}">
                <a16:creationId xmlns:a16="http://schemas.microsoft.com/office/drawing/2014/main" id="{6D062A37-DE90-E6E9-7CF2-39EC588253C7}"/>
              </a:ext>
            </a:extLst>
          </p:cNvPr>
          <p:cNvSpPr/>
          <p:nvPr/>
        </p:nvSpPr>
        <p:spPr>
          <a:xfrm flipH="1">
            <a:off x="8122707" y="5353242"/>
            <a:ext cx="1019574" cy="361830"/>
          </a:xfrm>
          <a:prstGeom prst="rect">
            <a:avLst/>
          </a:prstGeom>
          <a:pattFill prst="wdDnDiag">
            <a:fgClr>
              <a:schemeClr val="bg1">
                <a:lumMod val="95000"/>
              </a:schemeClr>
            </a:fgClr>
            <a:bgClr>
              <a:schemeClr val="bg1"/>
            </a:bgClr>
          </a:patt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a:lnSpc>
                <a:spcPct val="80000"/>
              </a:lnSpc>
            </a:pPr>
            <a:r>
              <a:rPr lang="en-US" altLang="zh-CN" sz="900">
                <a:solidFill>
                  <a:schemeClr val="bg1">
                    <a:lumMod val="50000"/>
                  </a:schemeClr>
                </a:solidFill>
              </a:rPr>
              <a:t>Spesolimab NS</a:t>
            </a:r>
          </a:p>
          <a:p>
            <a:pPr>
              <a:lnSpc>
                <a:spcPct val="80000"/>
              </a:lnSpc>
            </a:pPr>
            <a:r>
              <a:rPr lang="en-US" altLang="zh-CN" sz="900" err="1">
                <a:solidFill>
                  <a:schemeClr val="bg1">
                    <a:lumMod val="50000"/>
                  </a:schemeClr>
                </a:solidFill>
              </a:rPr>
              <a:t>sNDA</a:t>
            </a:r>
            <a:r>
              <a:rPr lang="en-US" altLang="zh-CN" sz="900">
                <a:solidFill>
                  <a:schemeClr val="bg1">
                    <a:lumMod val="50000"/>
                  </a:schemeClr>
                </a:solidFill>
              </a:rPr>
              <a:t> submission</a:t>
            </a:r>
          </a:p>
          <a:p>
            <a:pPr>
              <a:lnSpc>
                <a:spcPct val="80000"/>
              </a:lnSpc>
            </a:pPr>
            <a:r>
              <a:rPr lang="en-US" sz="900" b="1">
                <a:solidFill>
                  <a:schemeClr val="bg1">
                    <a:lumMod val="50000"/>
                  </a:schemeClr>
                </a:solidFill>
              </a:rPr>
              <a:t>discontinued</a:t>
            </a:r>
            <a:endParaRPr lang="en-US" sz="900">
              <a:solidFill>
                <a:srgbClr val="123563"/>
              </a:solidFill>
            </a:endParaRPr>
          </a:p>
        </p:txBody>
      </p:sp>
      <p:sp>
        <p:nvSpPr>
          <p:cNvPr id="156" name="Arrow: Right 53">
            <a:extLst>
              <a:ext uri="{FF2B5EF4-FFF2-40B4-BE49-F238E27FC236}">
                <a16:creationId xmlns:a16="http://schemas.microsoft.com/office/drawing/2014/main" id="{4E81D919-559D-FA85-0037-90FA941E1FA7}"/>
              </a:ext>
            </a:extLst>
          </p:cNvPr>
          <p:cNvSpPr/>
          <p:nvPr/>
        </p:nvSpPr>
        <p:spPr>
          <a:xfrm flipH="1">
            <a:off x="9043820" y="5239504"/>
            <a:ext cx="108000" cy="108000"/>
          </a:xfrm>
          <a:prstGeom prst="rect">
            <a:avLst/>
          </a:prstGeom>
          <a:solidFill>
            <a:srgbClr val="40404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159" name="Arrow: Right 53">
            <a:extLst>
              <a:ext uri="{FF2B5EF4-FFF2-40B4-BE49-F238E27FC236}">
                <a16:creationId xmlns:a16="http://schemas.microsoft.com/office/drawing/2014/main" id="{369879BD-6C68-9D35-2E8E-AF96268C2C5B}"/>
              </a:ext>
            </a:extLst>
          </p:cNvPr>
          <p:cNvSpPr/>
          <p:nvPr/>
        </p:nvSpPr>
        <p:spPr>
          <a:xfrm flipH="1">
            <a:off x="9832091" y="3881340"/>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cxnSp>
        <p:nvCxnSpPr>
          <p:cNvPr id="160" name="Straight Connector 379">
            <a:extLst>
              <a:ext uri="{FF2B5EF4-FFF2-40B4-BE49-F238E27FC236}">
                <a16:creationId xmlns:a16="http://schemas.microsoft.com/office/drawing/2014/main" id="{FA6982BB-557E-E05D-30EB-C2B30EBBC726}"/>
              </a:ext>
            </a:extLst>
          </p:cNvPr>
          <p:cNvCxnSpPr>
            <a:cxnSpLocks/>
          </p:cNvCxnSpPr>
          <p:nvPr/>
        </p:nvCxnSpPr>
        <p:spPr>
          <a:xfrm flipV="1">
            <a:off x="10738126" y="3281047"/>
            <a:ext cx="0" cy="573335"/>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61" name="Arrow: Right 53">
            <a:extLst>
              <a:ext uri="{FF2B5EF4-FFF2-40B4-BE49-F238E27FC236}">
                <a16:creationId xmlns:a16="http://schemas.microsoft.com/office/drawing/2014/main" id="{CD37DB6E-D7FF-FE80-6F6E-96BF46D2343D}"/>
              </a:ext>
            </a:extLst>
          </p:cNvPr>
          <p:cNvSpPr/>
          <p:nvPr/>
        </p:nvSpPr>
        <p:spPr>
          <a:xfrm flipH="1">
            <a:off x="10752990" y="3410724"/>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170" name="Rectangle 373">
            <a:extLst>
              <a:ext uri="{FF2B5EF4-FFF2-40B4-BE49-F238E27FC236}">
                <a16:creationId xmlns:a16="http://schemas.microsoft.com/office/drawing/2014/main" id="{6B0B4788-5B95-AED8-A085-47C19AD8CA5E}"/>
              </a:ext>
            </a:extLst>
          </p:cNvPr>
          <p:cNvSpPr/>
          <p:nvPr/>
        </p:nvSpPr>
        <p:spPr>
          <a:xfrm flipH="1">
            <a:off x="10764510" y="3521462"/>
            <a:ext cx="962215" cy="361830"/>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a:lnSpc>
                <a:spcPct val="80000"/>
              </a:lnSpc>
            </a:pPr>
            <a:r>
              <a:rPr lang="en-US" altLang="zh-CN" sz="900">
                <a:solidFill>
                  <a:srgbClr val="123563"/>
                </a:solidFill>
              </a:rPr>
              <a:t>TRPA1 inh.</a:t>
            </a:r>
          </a:p>
          <a:p>
            <a:pPr>
              <a:lnSpc>
                <a:spcPct val="80000"/>
              </a:lnSpc>
            </a:pPr>
            <a:r>
              <a:rPr lang="en-US" sz="900">
                <a:solidFill>
                  <a:srgbClr val="123563"/>
                </a:solidFill>
              </a:rPr>
              <a:t>Ph2 IPF LSR</a:t>
            </a:r>
          </a:p>
        </p:txBody>
      </p:sp>
      <p:sp>
        <p:nvSpPr>
          <p:cNvPr id="213" name="Rectangle 373">
            <a:extLst>
              <a:ext uri="{FF2B5EF4-FFF2-40B4-BE49-F238E27FC236}">
                <a16:creationId xmlns:a16="http://schemas.microsoft.com/office/drawing/2014/main" id="{FFF40B5F-3771-0D33-D83E-7F9B33A7783F}"/>
              </a:ext>
            </a:extLst>
          </p:cNvPr>
          <p:cNvSpPr/>
          <p:nvPr/>
        </p:nvSpPr>
        <p:spPr>
          <a:xfrm flipH="1">
            <a:off x="4433794" y="3521937"/>
            <a:ext cx="977462" cy="418324"/>
          </a:xfrm>
          <a:prstGeom prst="rect">
            <a:avLst/>
          </a:prstGeom>
          <a:pattFill prst="wdDnDiag">
            <a:fgClr>
              <a:schemeClr val="bg1">
                <a:lumMod val="95000"/>
              </a:schemeClr>
            </a:fgClr>
            <a:bgClr>
              <a:schemeClr val="bg1"/>
            </a:bgClr>
          </a:patt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lang="en-US" altLang="zh-CN" sz="900">
                <a:solidFill>
                  <a:schemeClr val="bg1">
                    <a:lumMod val="50000"/>
                  </a:schemeClr>
                </a:solidFill>
              </a:rPr>
              <a:t>Spesolimab NS</a:t>
            </a:r>
          </a:p>
          <a:p>
            <a:pPr marL="0" marR="0" lvl="0" indent="0" algn="l" defTabSz="914400" rtl="0" eaLnBrk="1" fontAlgn="auto" latinLnBrk="0" hangingPunct="1">
              <a:lnSpc>
                <a:spcPct val="80000"/>
              </a:lnSpc>
              <a:spcBef>
                <a:spcPts val="0"/>
              </a:spcBef>
              <a:spcAft>
                <a:spcPts val="0"/>
              </a:spcAft>
              <a:buClrTx/>
              <a:buSzTx/>
              <a:buFontTx/>
              <a:buNone/>
              <a:tabLst/>
              <a:defRPr/>
            </a:pPr>
            <a:r>
              <a:rPr lang="en-US" altLang="zh-CN" sz="900">
                <a:solidFill>
                  <a:schemeClr val="bg1">
                    <a:lumMod val="50000"/>
                  </a:schemeClr>
                </a:solidFill>
              </a:rPr>
              <a:t>BTD &amp; pre-NDA </a:t>
            </a:r>
          </a:p>
          <a:p>
            <a:pPr marL="0" marR="0" lvl="0" indent="0" algn="l" defTabSz="914400" rtl="0" eaLnBrk="1" fontAlgn="auto" latinLnBrk="0" hangingPunct="1">
              <a:lnSpc>
                <a:spcPct val="80000"/>
              </a:lnSpc>
              <a:spcBef>
                <a:spcPts val="0"/>
              </a:spcBef>
              <a:spcAft>
                <a:spcPts val="0"/>
              </a:spcAft>
              <a:buClrTx/>
              <a:buSzTx/>
              <a:buFontTx/>
              <a:buNone/>
              <a:tabLst/>
              <a:defRPr/>
            </a:pPr>
            <a:r>
              <a:rPr lang="en-US" altLang="zh-CN" sz="900" b="1">
                <a:solidFill>
                  <a:schemeClr val="bg1">
                    <a:lumMod val="50000"/>
                  </a:schemeClr>
                </a:solidFill>
              </a:rPr>
              <a:t>discontinued</a:t>
            </a:r>
          </a:p>
          <a:p>
            <a:pPr marL="0" marR="0" lvl="0" indent="0" algn="l" defTabSz="914400" rtl="0" eaLnBrk="1" fontAlgn="auto" latinLnBrk="0" hangingPunct="1">
              <a:lnSpc>
                <a:spcPct val="80000"/>
              </a:lnSpc>
              <a:spcBef>
                <a:spcPts val="0"/>
              </a:spcBef>
              <a:spcAft>
                <a:spcPts val="0"/>
              </a:spcAft>
              <a:buClrTx/>
              <a:buSzTx/>
              <a:buFontTx/>
              <a:buNone/>
              <a:tabLst/>
              <a:defRPr/>
            </a:pPr>
            <a:endParaRPr lang="en-US" altLang="zh-CN" sz="900">
              <a:solidFill>
                <a:srgbClr val="123563"/>
              </a:solidFill>
            </a:endParaRPr>
          </a:p>
        </p:txBody>
      </p:sp>
      <p:sp>
        <p:nvSpPr>
          <p:cNvPr id="214" name="Arrow: Right 53">
            <a:extLst>
              <a:ext uri="{FF2B5EF4-FFF2-40B4-BE49-F238E27FC236}">
                <a16:creationId xmlns:a16="http://schemas.microsoft.com/office/drawing/2014/main" id="{092DD1B2-F0C1-BC59-D7F8-533573F3D67D}"/>
              </a:ext>
            </a:extLst>
          </p:cNvPr>
          <p:cNvSpPr/>
          <p:nvPr/>
        </p:nvSpPr>
        <p:spPr>
          <a:xfrm flipH="1">
            <a:off x="4449995" y="3403694"/>
            <a:ext cx="108000" cy="108000"/>
          </a:xfrm>
          <a:prstGeom prst="rect">
            <a:avLst/>
          </a:prstGeom>
          <a:solidFill>
            <a:srgbClr val="40404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215" name="TextBox 398">
            <a:extLst>
              <a:ext uri="{FF2B5EF4-FFF2-40B4-BE49-F238E27FC236}">
                <a16:creationId xmlns:a16="http://schemas.microsoft.com/office/drawing/2014/main" id="{6B2F49CD-1592-8879-EE32-C9A0D85E5DFB}"/>
              </a:ext>
            </a:extLst>
          </p:cNvPr>
          <p:cNvSpPr txBox="1"/>
          <p:nvPr/>
        </p:nvSpPr>
        <p:spPr>
          <a:xfrm>
            <a:off x="3398841" y="2645739"/>
            <a:ext cx="673599" cy="258191"/>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de-DE" sz="1100">
                <a:solidFill>
                  <a:srgbClr val="076D7E"/>
                </a:solidFill>
              </a:rPr>
              <a:t>Apr</a:t>
            </a:r>
            <a:r>
              <a:rPr kumimoji="0" lang="de-DE" sz="1100" i="0" u="none" strike="noStrike" kern="1200" cap="none" spc="0" normalizeH="0" baseline="0" noProof="0">
                <a:ln>
                  <a:noFill/>
                </a:ln>
                <a:solidFill>
                  <a:srgbClr val="076D7E"/>
                </a:solidFill>
                <a:effectLst/>
                <a:uLnTx/>
                <a:uFillTx/>
                <a:ea typeface="+mn-ea"/>
                <a:cs typeface="+mn-cs"/>
              </a:rPr>
              <a:t> 2025</a:t>
            </a:r>
            <a:endParaRPr kumimoji="0" lang="en-US" sz="1100" i="0" u="none" strike="noStrike" kern="1200" cap="none" spc="0" normalizeH="0" baseline="0" noProof="0">
              <a:ln>
                <a:noFill/>
              </a:ln>
              <a:solidFill>
                <a:srgbClr val="076D7E"/>
              </a:solidFill>
              <a:effectLst/>
              <a:uLnTx/>
              <a:uFillTx/>
              <a:ea typeface="+mn-ea"/>
              <a:cs typeface="+mn-cs"/>
            </a:endParaRPr>
          </a:p>
        </p:txBody>
      </p:sp>
      <p:grpSp>
        <p:nvGrpSpPr>
          <p:cNvPr id="216" name="Group 198">
            <a:extLst>
              <a:ext uri="{FF2B5EF4-FFF2-40B4-BE49-F238E27FC236}">
                <a16:creationId xmlns:a16="http://schemas.microsoft.com/office/drawing/2014/main" id="{71F41375-CA4D-B8EB-EA0E-224E68DF64B1}"/>
              </a:ext>
            </a:extLst>
          </p:cNvPr>
          <p:cNvGrpSpPr/>
          <p:nvPr/>
        </p:nvGrpSpPr>
        <p:grpSpPr>
          <a:xfrm>
            <a:off x="3451418" y="2927681"/>
            <a:ext cx="324000" cy="324000"/>
            <a:chOff x="2124108" y="2977434"/>
            <a:chExt cx="324000" cy="324000"/>
          </a:xfrm>
        </p:grpSpPr>
        <p:sp>
          <p:nvSpPr>
            <p:cNvPr id="217" name="Oval 199">
              <a:extLst>
                <a:ext uri="{FF2B5EF4-FFF2-40B4-BE49-F238E27FC236}">
                  <a16:creationId xmlns:a16="http://schemas.microsoft.com/office/drawing/2014/main" id="{F7F43DC4-C1CC-2E25-5F65-BE83C91D891F}"/>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sp>
          <p:nvSpPr>
            <p:cNvPr id="218" name="Oval 200">
              <a:extLst>
                <a:ext uri="{FF2B5EF4-FFF2-40B4-BE49-F238E27FC236}">
                  <a16:creationId xmlns:a16="http://schemas.microsoft.com/office/drawing/2014/main" id="{6FEEF052-819C-B5BE-E081-61C89547BFE7}"/>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219" name="Graphic 201" descr="Diamond with solid fill">
              <a:extLst>
                <a:ext uri="{FF2B5EF4-FFF2-40B4-BE49-F238E27FC236}">
                  <a16:creationId xmlns:a16="http://schemas.microsoft.com/office/drawing/2014/main" id="{20DBD331-58DD-C0DD-B3FD-4C0B1DBCBBEA}"/>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sp>
        <p:nvSpPr>
          <p:cNvPr id="221" name="Rectangle 373">
            <a:extLst>
              <a:ext uri="{FF2B5EF4-FFF2-40B4-BE49-F238E27FC236}">
                <a16:creationId xmlns:a16="http://schemas.microsoft.com/office/drawing/2014/main" id="{645A93E5-B927-18F7-C6DA-2142D8A73009}"/>
              </a:ext>
            </a:extLst>
          </p:cNvPr>
          <p:cNvSpPr/>
          <p:nvPr/>
        </p:nvSpPr>
        <p:spPr>
          <a:xfrm flipH="1">
            <a:off x="3687216" y="2123441"/>
            <a:ext cx="1002061" cy="379269"/>
          </a:xfrm>
          <a:prstGeom prst="rect">
            <a:avLst/>
          </a:prstGeom>
          <a:pattFill prst="pct5">
            <a:fgClr>
              <a:schemeClr val="bg1">
                <a:lumMod val="95000"/>
              </a:schemeClr>
            </a:fgClr>
            <a:bgClr>
              <a:schemeClr val="bg1"/>
            </a:bgClr>
          </a:pattFill>
          <a:ln w="12700">
            <a:solidFill>
              <a:schemeClr val="accent1"/>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lvl="0">
              <a:lnSpc>
                <a:spcPct val="80000"/>
              </a:lnSpc>
              <a:defRPr/>
            </a:pPr>
            <a:r>
              <a:rPr lang="en-US" altLang="zh-CN" sz="900">
                <a:solidFill>
                  <a:srgbClr val="123563"/>
                </a:solidFill>
              </a:rPr>
              <a:t>Nerandomilast </a:t>
            </a:r>
            <a:r>
              <a:rPr lang="en-US" altLang="zh-CN" sz="900" b="1">
                <a:solidFill>
                  <a:srgbClr val="123563"/>
                </a:solidFill>
              </a:rPr>
              <a:t>FIBRONEER PPF</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900" b="1" i="0" u="none" strike="noStrike" kern="1200" cap="none" spc="0" normalizeH="0" baseline="0" noProof="0">
                <a:ln>
                  <a:noFill/>
                </a:ln>
                <a:solidFill>
                  <a:srgbClr val="123563"/>
                </a:solidFill>
                <a:effectLst/>
                <a:uLnTx/>
                <a:uFillTx/>
                <a:ea typeface="+mn-ea"/>
                <a:cs typeface="+mn-cs"/>
              </a:rPr>
              <a:t>RoS</a:t>
            </a:r>
            <a:endParaRPr kumimoji="0" lang="en-US" altLang="zh-CN" sz="900" i="0" u="none" strike="noStrike" kern="1200" cap="none" spc="0" normalizeH="0" baseline="0" noProof="0">
              <a:ln>
                <a:noFill/>
              </a:ln>
              <a:solidFill>
                <a:srgbClr val="123563"/>
              </a:solidFill>
              <a:effectLst/>
              <a:uLnTx/>
              <a:uFillTx/>
              <a:ea typeface="+mn-ea"/>
              <a:cs typeface="+mn-cs"/>
            </a:endParaRPr>
          </a:p>
        </p:txBody>
      </p:sp>
      <p:sp>
        <p:nvSpPr>
          <p:cNvPr id="3" name="Arrow: Right 53">
            <a:extLst>
              <a:ext uri="{FF2B5EF4-FFF2-40B4-BE49-F238E27FC236}">
                <a16:creationId xmlns:a16="http://schemas.microsoft.com/office/drawing/2014/main" id="{0C857760-ADA6-3551-FA20-43A0DE5B1607}"/>
              </a:ext>
            </a:extLst>
          </p:cNvPr>
          <p:cNvSpPr/>
          <p:nvPr/>
        </p:nvSpPr>
        <p:spPr>
          <a:xfrm flipH="1">
            <a:off x="1682544" y="1350966"/>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cxnSp>
        <p:nvCxnSpPr>
          <p:cNvPr id="4" name="Straight Connector 3">
            <a:extLst>
              <a:ext uri="{FF2B5EF4-FFF2-40B4-BE49-F238E27FC236}">
                <a16:creationId xmlns:a16="http://schemas.microsoft.com/office/drawing/2014/main" id="{878A3D27-BA28-5D9A-4E82-741AFE16396B}"/>
              </a:ext>
            </a:extLst>
          </p:cNvPr>
          <p:cNvCxnSpPr>
            <a:cxnSpLocks/>
          </p:cNvCxnSpPr>
          <p:nvPr/>
        </p:nvCxnSpPr>
        <p:spPr>
          <a:xfrm flipH="1" flipV="1">
            <a:off x="1622521" y="1350966"/>
            <a:ext cx="17518" cy="160615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7" name="Rectangle 373">
            <a:extLst>
              <a:ext uri="{FF2B5EF4-FFF2-40B4-BE49-F238E27FC236}">
                <a16:creationId xmlns:a16="http://schemas.microsoft.com/office/drawing/2014/main" id="{9F2599EE-1FC0-6D22-29F0-59F7B80B45D5}"/>
              </a:ext>
            </a:extLst>
          </p:cNvPr>
          <p:cNvSpPr/>
          <p:nvPr/>
        </p:nvSpPr>
        <p:spPr>
          <a:xfrm flipH="1">
            <a:off x="1670940" y="1470957"/>
            <a:ext cx="1002061" cy="379269"/>
          </a:xfrm>
          <a:prstGeom prst="rect">
            <a:avLst/>
          </a:prstGeom>
          <a:pattFill prst="pct5">
            <a:fgClr>
              <a:schemeClr val="bg1">
                <a:lumMod val="95000"/>
              </a:schemeClr>
            </a:fgClr>
            <a:bgClr>
              <a:schemeClr val="bg1"/>
            </a:bgClr>
          </a:pattFill>
          <a:ln w="12700">
            <a:solidFill>
              <a:schemeClr val="accent1"/>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lvl="0">
              <a:lnSpc>
                <a:spcPct val="80000"/>
              </a:lnSpc>
              <a:defRPr/>
            </a:pPr>
            <a:r>
              <a:rPr lang="en-US" altLang="zh-CN" sz="900">
                <a:solidFill>
                  <a:srgbClr val="123563"/>
                </a:solidFill>
              </a:rPr>
              <a:t>Nerandomilast</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900" b="1" i="0" u="none" strike="noStrike" kern="1200" cap="none" spc="0" normalizeH="0" baseline="0" noProof="0">
                <a:ln>
                  <a:noFill/>
                </a:ln>
                <a:solidFill>
                  <a:srgbClr val="123563"/>
                </a:solidFill>
                <a:effectLst/>
                <a:uLnTx/>
                <a:uFillTx/>
                <a:ea typeface="+mn-ea"/>
                <a:cs typeface="+mn-cs"/>
              </a:rPr>
              <a:t>FIBRONEER PPF topline</a:t>
            </a:r>
          </a:p>
          <a:p>
            <a:pPr lvl="0">
              <a:lnSpc>
                <a:spcPct val="80000"/>
              </a:lnSpc>
              <a:defRPr/>
            </a:pPr>
            <a:endParaRPr kumimoji="0" lang="en-US" altLang="zh-CN" sz="900" i="0" u="none" strike="noStrike" kern="1200" cap="none" spc="0" normalizeH="0" baseline="0" noProof="0">
              <a:ln>
                <a:noFill/>
              </a:ln>
              <a:solidFill>
                <a:srgbClr val="123563"/>
              </a:solidFill>
              <a:effectLst/>
              <a:uLnTx/>
              <a:uFillTx/>
              <a:ea typeface="+mn-ea"/>
              <a:cs typeface="+mn-cs"/>
            </a:endParaRPr>
          </a:p>
        </p:txBody>
      </p:sp>
      <p:grpSp>
        <p:nvGrpSpPr>
          <p:cNvPr id="8" name="Group 343">
            <a:extLst>
              <a:ext uri="{FF2B5EF4-FFF2-40B4-BE49-F238E27FC236}">
                <a16:creationId xmlns:a16="http://schemas.microsoft.com/office/drawing/2014/main" id="{43E28077-E8E6-3FB7-1C1D-2FB119B2FE60}"/>
              </a:ext>
            </a:extLst>
          </p:cNvPr>
          <p:cNvGrpSpPr/>
          <p:nvPr/>
        </p:nvGrpSpPr>
        <p:grpSpPr>
          <a:xfrm>
            <a:off x="1468038" y="2960166"/>
            <a:ext cx="324000" cy="324000"/>
            <a:chOff x="5311199" y="2962865"/>
            <a:chExt cx="324000" cy="324000"/>
          </a:xfrm>
        </p:grpSpPr>
        <p:sp>
          <p:nvSpPr>
            <p:cNvPr id="16" name="Oval 344">
              <a:extLst>
                <a:ext uri="{FF2B5EF4-FFF2-40B4-BE49-F238E27FC236}">
                  <a16:creationId xmlns:a16="http://schemas.microsoft.com/office/drawing/2014/main" id="{2787B6BE-9B1E-2E6A-2EAF-8AC3A324BA8F}"/>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grpSp>
          <p:nvGrpSpPr>
            <p:cNvPr id="28" name="Group 348">
              <a:extLst>
                <a:ext uri="{FF2B5EF4-FFF2-40B4-BE49-F238E27FC236}">
                  <a16:creationId xmlns:a16="http://schemas.microsoft.com/office/drawing/2014/main" id="{2BE44182-7F35-51C0-45F6-44D64CBFC26F}"/>
                </a:ext>
              </a:extLst>
            </p:cNvPr>
            <p:cNvGrpSpPr/>
            <p:nvPr/>
          </p:nvGrpSpPr>
          <p:grpSpPr>
            <a:xfrm>
              <a:off x="5373950" y="3024278"/>
              <a:ext cx="198000" cy="198000"/>
              <a:chOff x="5411047" y="3113464"/>
              <a:chExt cx="198000" cy="198000"/>
            </a:xfrm>
          </p:grpSpPr>
          <p:sp>
            <p:nvSpPr>
              <p:cNvPr id="224" name="Oval 349">
                <a:extLst>
                  <a:ext uri="{FF2B5EF4-FFF2-40B4-BE49-F238E27FC236}">
                    <a16:creationId xmlns:a16="http://schemas.microsoft.com/office/drawing/2014/main" id="{1527EB38-B8E0-EB17-A259-0955E228176B}"/>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225" name="Graphic 350" descr="Play outline">
                <a:extLst>
                  <a:ext uri="{FF2B5EF4-FFF2-40B4-BE49-F238E27FC236}">
                    <a16:creationId xmlns:a16="http://schemas.microsoft.com/office/drawing/2014/main" id="{0208FAD6-FB8D-9391-0733-8D70BE54C2DA}"/>
                  </a:ext>
                </a:extLst>
              </p:cNvPr>
              <p:cNvPicPr>
                <a:picLocks noChangeAspect="1"/>
              </p:cNvPicPr>
              <p:nvPr/>
            </p:nvPicPr>
            <p:blipFill>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445462" y="3137223"/>
                <a:ext cx="158314" cy="158314"/>
              </a:xfrm>
              <a:prstGeom prst="rect">
                <a:avLst/>
              </a:prstGeom>
            </p:spPr>
          </p:pic>
        </p:grpSp>
      </p:grpSp>
      <p:sp>
        <p:nvSpPr>
          <p:cNvPr id="226" name="Arrow: Right 53">
            <a:extLst>
              <a:ext uri="{FF2B5EF4-FFF2-40B4-BE49-F238E27FC236}">
                <a16:creationId xmlns:a16="http://schemas.microsoft.com/office/drawing/2014/main" id="{F75D2FF6-BE06-7F1D-159B-ABB57C367962}"/>
              </a:ext>
            </a:extLst>
          </p:cNvPr>
          <p:cNvSpPr/>
          <p:nvPr/>
        </p:nvSpPr>
        <p:spPr>
          <a:xfrm flipH="1">
            <a:off x="1667514" y="2009015"/>
            <a:ext cx="108000" cy="108000"/>
          </a:xfrm>
          <a:prstGeom prst="rect">
            <a:avLst/>
          </a:prstGeom>
          <a:solidFill>
            <a:srgbClr val="40404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227" name="Rectangle 373">
            <a:extLst>
              <a:ext uri="{FF2B5EF4-FFF2-40B4-BE49-F238E27FC236}">
                <a16:creationId xmlns:a16="http://schemas.microsoft.com/office/drawing/2014/main" id="{2B8BF2CD-6F75-A8A5-9093-E6D0DDC84C0A}"/>
              </a:ext>
            </a:extLst>
          </p:cNvPr>
          <p:cNvSpPr/>
          <p:nvPr/>
        </p:nvSpPr>
        <p:spPr>
          <a:xfrm flipH="1">
            <a:off x="1655910" y="2129006"/>
            <a:ext cx="1002061" cy="379269"/>
          </a:xfrm>
          <a:prstGeom prst="rect">
            <a:avLst/>
          </a:prstGeom>
          <a:pattFill prst="pct5">
            <a:fgClr>
              <a:schemeClr val="bg1">
                <a:lumMod val="95000"/>
              </a:schemeClr>
            </a:fgClr>
            <a:bgClr>
              <a:schemeClr val="bg1"/>
            </a:bgClr>
          </a:pattFill>
          <a:ln w="12700">
            <a:solidFill>
              <a:schemeClr val="accent1"/>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lvl="0">
              <a:lnSpc>
                <a:spcPct val="80000"/>
              </a:lnSpc>
              <a:defRPr/>
            </a:pPr>
            <a:r>
              <a:rPr lang="en-US" altLang="zh-CN" sz="900">
                <a:solidFill>
                  <a:srgbClr val="123563"/>
                </a:solidFill>
              </a:rPr>
              <a:t>Spesolimab PG</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900" b="1" i="0" u="none" strike="noStrike" kern="1200" cap="none" spc="0" normalizeH="0" baseline="0" noProof="0">
                <a:ln>
                  <a:noFill/>
                </a:ln>
                <a:solidFill>
                  <a:srgbClr val="123563"/>
                </a:solidFill>
                <a:effectLst/>
                <a:uLnTx/>
                <a:uFillTx/>
                <a:ea typeface="+mn-ea"/>
                <a:cs typeface="+mn-cs"/>
              </a:rPr>
              <a:t>Ph3 CAPSAYIL initiation</a:t>
            </a:r>
          </a:p>
          <a:p>
            <a:pPr lvl="0">
              <a:lnSpc>
                <a:spcPct val="80000"/>
              </a:lnSpc>
              <a:defRPr/>
            </a:pPr>
            <a:endParaRPr kumimoji="0" lang="en-US" altLang="zh-CN" sz="900" i="0" u="none" strike="noStrike" kern="1200" cap="none" spc="0" normalizeH="0" baseline="0" noProof="0">
              <a:ln>
                <a:noFill/>
              </a:ln>
              <a:solidFill>
                <a:srgbClr val="123563"/>
              </a:solidFill>
              <a:effectLst/>
              <a:uLnTx/>
              <a:uFillTx/>
              <a:ea typeface="+mn-ea"/>
              <a:cs typeface="+mn-cs"/>
            </a:endParaRPr>
          </a:p>
        </p:txBody>
      </p:sp>
      <p:cxnSp>
        <p:nvCxnSpPr>
          <p:cNvPr id="233" name="Straight Connector 232">
            <a:extLst>
              <a:ext uri="{FF2B5EF4-FFF2-40B4-BE49-F238E27FC236}">
                <a16:creationId xmlns:a16="http://schemas.microsoft.com/office/drawing/2014/main" id="{54E989BA-530B-D1D5-849B-94F19016DD74}"/>
              </a:ext>
            </a:extLst>
          </p:cNvPr>
          <p:cNvCxnSpPr>
            <a:cxnSpLocks/>
          </p:cNvCxnSpPr>
          <p:nvPr/>
        </p:nvCxnSpPr>
        <p:spPr>
          <a:xfrm flipV="1">
            <a:off x="3001127" y="1046493"/>
            <a:ext cx="7960" cy="1919277"/>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35" name="Rectangle 373">
            <a:extLst>
              <a:ext uri="{FF2B5EF4-FFF2-40B4-BE49-F238E27FC236}">
                <a16:creationId xmlns:a16="http://schemas.microsoft.com/office/drawing/2014/main" id="{F05ADF44-C362-4C32-9EA4-A294B8165BB6}"/>
              </a:ext>
            </a:extLst>
          </p:cNvPr>
          <p:cNvSpPr/>
          <p:nvPr/>
        </p:nvSpPr>
        <p:spPr>
          <a:xfrm flipH="1">
            <a:off x="3033941" y="1164255"/>
            <a:ext cx="1002061" cy="379269"/>
          </a:xfrm>
          <a:prstGeom prst="rect">
            <a:avLst/>
          </a:prstGeom>
          <a:pattFill prst="pct5">
            <a:fgClr>
              <a:schemeClr val="bg1">
                <a:lumMod val="95000"/>
              </a:schemeClr>
            </a:fgClr>
            <a:bgClr>
              <a:schemeClr val="bg1"/>
            </a:bgClr>
          </a:pattFill>
          <a:ln w="12700">
            <a:solidFill>
              <a:schemeClr val="accent1"/>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lvl="0">
              <a:lnSpc>
                <a:spcPct val="80000"/>
              </a:lnSpc>
              <a:defRPr/>
            </a:pPr>
            <a:r>
              <a:rPr lang="en-US" altLang="zh-CN" sz="900">
                <a:solidFill>
                  <a:srgbClr val="123563"/>
                </a:solidFill>
              </a:rPr>
              <a:t>Spesolimab NS</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123563"/>
                </a:solidFill>
                <a:effectLst/>
                <a:uLnTx/>
                <a:uFillTx/>
                <a:latin typeface="BISans"/>
                <a:ea typeface="+mn-ea"/>
                <a:cs typeface="+mn-cs"/>
              </a:rPr>
              <a:t>Ph2b</a:t>
            </a:r>
            <a:r>
              <a:rPr lang="en-US" altLang="zh-CN" sz="900" b="1">
                <a:solidFill>
                  <a:srgbClr val="123563"/>
                </a:solidFill>
                <a:latin typeface="BISans"/>
              </a:rPr>
              <a:t>/3</a:t>
            </a:r>
            <a:r>
              <a:rPr kumimoji="0" lang="en-US" altLang="zh-CN" sz="900" b="1" i="0" u="none" strike="noStrike" kern="1200" cap="none" spc="0" normalizeH="0" baseline="0" noProof="0">
                <a:ln>
                  <a:noFill/>
                </a:ln>
                <a:solidFill>
                  <a:srgbClr val="123563"/>
                </a:solidFill>
                <a:effectLst/>
                <a:uLnTx/>
                <a:uFillTx/>
                <a:latin typeface="BISans"/>
                <a:ea typeface="+mn-ea"/>
                <a:cs typeface="+mn-cs"/>
              </a:rPr>
              <a:t> EVASAYIL topline results</a:t>
            </a:r>
            <a:endParaRPr kumimoji="0" lang="en-US" altLang="zh-CN" sz="900" i="0" u="none" strike="noStrike" kern="1200" cap="none" spc="0" normalizeH="0" baseline="0" noProof="0">
              <a:ln>
                <a:noFill/>
              </a:ln>
              <a:solidFill>
                <a:srgbClr val="123563"/>
              </a:solidFill>
              <a:effectLst/>
              <a:uLnTx/>
              <a:uFillTx/>
              <a:ea typeface="+mn-ea"/>
              <a:cs typeface="+mn-cs"/>
            </a:endParaRPr>
          </a:p>
        </p:txBody>
      </p:sp>
      <p:sp>
        <p:nvSpPr>
          <p:cNvPr id="236" name="Arrow: Right 53">
            <a:extLst>
              <a:ext uri="{FF2B5EF4-FFF2-40B4-BE49-F238E27FC236}">
                <a16:creationId xmlns:a16="http://schemas.microsoft.com/office/drawing/2014/main" id="{3EED6685-A2D6-D4E6-D30F-D783E8730220}"/>
              </a:ext>
            </a:extLst>
          </p:cNvPr>
          <p:cNvSpPr/>
          <p:nvPr/>
        </p:nvSpPr>
        <p:spPr>
          <a:xfrm flipH="1">
            <a:off x="3033483" y="1042955"/>
            <a:ext cx="108000" cy="108000"/>
          </a:xfrm>
          <a:prstGeom prst="rect">
            <a:avLst/>
          </a:prstGeom>
          <a:solidFill>
            <a:schemeClr val="tx1">
              <a:lumMod val="75000"/>
              <a:lumOff val="2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251" name="Arrow: Right 53">
            <a:extLst>
              <a:ext uri="{FF2B5EF4-FFF2-40B4-BE49-F238E27FC236}">
                <a16:creationId xmlns:a16="http://schemas.microsoft.com/office/drawing/2014/main" id="{16F54956-CEFE-907B-2E73-906FBA5BE20D}"/>
              </a:ext>
            </a:extLst>
          </p:cNvPr>
          <p:cNvSpPr/>
          <p:nvPr/>
        </p:nvSpPr>
        <p:spPr>
          <a:xfrm flipH="1">
            <a:off x="4476541" y="1363987"/>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253" name="Rectangle 373">
            <a:extLst>
              <a:ext uri="{FF2B5EF4-FFF2-40B4-BE49-F238E27FC236}">
                <a16:creationId xmlns:a16="http://schemas.microsoft.com/office/drawing/2014/main" id="{C802D22C-7552-63C1-D86B-AA9E036AAB21}"/>
              </a:ext>
            </a:extLst>
          </p:cNvPr>
          <p:cNvSpPr/>
          <p:nvPr/>
        </p:nvSpPr>
        <p:spPr>
          <a:xfrm flipH="1">
            <a:off x="4464937" y="1483978"/>
            <a:ext cx="1002061" cy="379269"/>
          </a:xfrm>
          <a:prstGeom prst="rect">
            <a:avLst/>
          </a:prstGeom>
          <a:pattFill prst="pct5">
            <a:fgClr>
              <a:schemeClr val="bg1">
                <a:lumMod val="95000"/>
              </a:schemeClr>
            </a:fgClr>
            <a:bgClr>
              <a:schemeClr val="bg1"/>
            </a:bgClr>
          </a:pattFill>
          <a:ln w="12700">
            <a:solidFill>
              <a:schemeClr val="accent1"/>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lvl="0">
              <a:lnSpc>
                <a:spcPct val="80000"/>
              </a:lnSpc>
              <a:defRPr/>
            </a:pPr>
            <a:r>
              <a:rPr lang="en-US" altLang="zh-CN" sz="900">
                <a:solidFill>
                  <a:srgbClr val="123563"/>
                </a:solidFill>
              </a:rPr>
              <a:t>Nerandomilast</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900" b="1" i="0" u="none" strike="noStrike" kern="1200" cap="none" spc="0" normalizeH="0" baseline="0" noProof="0">
                <a:ln>
                  <a:noFill/>
                </a:ln>
                <a:solidFill>
                  <a:srgbClr val="123563"/>
                </a:solidFill>
                <a:effectLst/>
                <a:uLnTx/>
                <a:uFillTx/>
                <a:ea typeface="+mn-ea"/>
                <a:cs typeface="+mn-cs"/>
              </a:rPr>
              <a:t>FIBRONEER PPF submission</a:t>
            </a:r>
          </a:p>
          <a:p>
            <a:pPr lvl="0">
              <a:lnSpc>
                <a:spcPct val="80000"/>
              </a:lnSpc>
              <a:defRPr/>
            </a:pPr>
            <a:endParaRPr kumimoji="0" lang="en-US" altLang="zh-CN" sz="900" i="0" u="none" strike="noStrike" kern="1200" cap="none" spc="0" normalizeH="0" baseline="0" noProof="0">
              <a:ln>
                <a:noFill/>
              </a:ln>
              <a:solidFill>
                <a:srgbClr val="123563"/>
              </a:solidFill>
              <a:effectLst/>
              <a:uLnTx/>
              <a:uFillTx/>
              <a:ea typeface="+mn-ea"/>
              <a:cs typeface="+mn-cs"/>
            </a:endParaRPr>
          </a:p>
        </p:txBody>
      </p:sp>
      <p:sp>
        <p:nvSpPr>
          <p:cNvPr id="33" name="TextBox 398">
            <a:extLst>
              <a:ext uri="{FF2B5EF4-FFF2-40B4-BE49-F238E27FC236}">
                <a16:creationId xmlns:a16="http://schemas.microsoft.com/office/drawing/2014/main" id="{02B2C5E9-F2C9-C502-308C-09C8C2B22490}"/>
              </a:ext>
            </a:extLst>
          </p:cNvPr>
          <p:cNvSpPr txBox="1"/>
          <p:nvPr/>
        </p:nvSpPr>
        <p:spPr>
          <a:xfrm>
            <a:off x="6042282" y="2688266"/>
            <a:ext cx="673599" cy="192461"/>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de-DE" sz="1100" i="0" u="none" strike="noStrike" kern="1200" cap="none" spc="0" normalizeH="0" baseline="0" noProof="0">
                <a:ln>
                  <a:noFill/>
                </a:ln>
                <a:solidFill>
                  <a:srgbClr val="076D7E"/>
                </a:solidFill>
                <a:effectLst/>
                <a:uLnTx/>
                <a:uFillTx/>
                <a:ea typeface="+mn-ea"/>
                <a:cs typeface="+mn-cs"/>
              </a:rPr>
              <a:t>Jul 2025</a:t>
            </a:r>
            <a:endParaRPr kumimoji="0" lang="en-US" sz="1100" i="0" u="none" strike="noStrike" kern="1200" cap="none" spc="0" normalizeH="0" baseline="0" noProof="0">
              <a:ln>
                <a:noFill/>
              </a:ln>
              <a:solidFill>
                <a:srgbClr val="076D7E"/>
              </a:solidFill>
              <a:effectLst/>
              <a:uLnTx/>
              <a:uFillTx/>
              <a:ea typeface="+mn-ea"/>
              <a:cs typeface="+mn-cs"/>
            </a:endParaRPr>
          </a:p>
        </p:txBody>
      </p:sp>
      <p:grpSp>
        <p:nvGrpSpPr>
          <p:cNvPr id="34" name="Group 33">
            <a:extLst>
              <a:ext uri="{FF2B5EF4-FFF2-40B4-BE49-F238E27FC236}">
                <a16:creationId xmlns:a16="http://schemas.microsoft.com/office/drawing/2014/main" id="{B8DDA4A6-C8A5-DD4D-B1B0-43AA4E2C4075}"/>
              </a:ext>
            </a:extLst>
          </p:cNvPr>
          <p:cNvGrpSpPr/>
          <p:nvPr/>
        </p:nvGrpSpPr>
        <p:grpSpPr>
          <a:xfrm>
            <a:off x="6182181" y="2947496"/>
            <a:ext cx="324000" cy="324000"/>
            <a:chOff x="2124108" y="2977434"/>
            <a:chExt cx="324000" cy="324000"/>
          </a:xfrm>
        </p:grpSpPr>
        <p:sp>
          <p:nvSpPr>
            <p:cNvPr id="35" name="Oval 34">
              <a:extLst>
                <a:ext uri="{FF2B5EF4-FFF2-40B4-BE49-F238E27FC236}">
                  <a16:creationId xmlns:a16="http://schemas.microsoft.com/office/drawing/2014/main" id="{5C398D74-D466-F0A3-D17E-DAA6358490DB}"/>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sp>
          <p:nvSpPr>
            <p:cNvPr id="44" name="Oval 43">
              <a:extLst>
                <a:ext uri="{FF2B5EF4-FFF2-40B4-BE49-F238E27FC236}">
                  <a16:creationId xmlns:a16="http://schemas.microsoft.com/office/drawing/2014/main" id="{84EEB6C4-78EA-1DA9-2FBE-A5A11BE8E9A4}"/>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ea typeface="+mn-ea"/>
                <a:cs typeface="+mn-cs"/>
              </a:endParaRPr>
            </a:p>
          </p:txBody>
        </p:sp>
        <p:pic>
          <p:nvPicPr>
            <p:cNvPr id="45" name="Graphic 44" descr="Diamond with solid fill">
              <a:extLst>
                <a:ext uri="{FF2B5EF4-FFF2-40B4-BE49-F238E27FC236}">
                  <a16:creationId xmlns:a16="http://schemas.microsoft.com/office/drawing/2014/main" id="{C7B5C10B-E8FA-5630-EC4E-57B52B55F82B}"/>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cxnSp>
        <p:nvCxnSpPr>
          <p:cNvPr id="46" name="Straight Connector 45">
            <a:extLst>
              <a:ext uri="{FF2B5EF4-FFF2-40B4-BE49-F238E27FC236}">
                <a16:creationId xmlns:a16="http://schemas.microsoft.com/office/drawing/2014/main" id="{59C95DC3-2ADB-9B75-30F8-9E490D44437E}"/>
              </a:ext>
            </a:extLst>
          </p:cNvPr>
          <p:cNvCxnSpPr>
            <a:cxnSpLocks/>
          </p:cNvCxnSpPr>
          <p:nvPr/>
        </p:nvCxnSpPr>
        <p:spPr>
          <a:xfrm flipH="1" flipV="1">
            <a:off x="6315065" y="1378489"/>
            <a:ext cx="17518" cy="160615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47" name="Arrow: Right 53">
            <a:extLst>
              <a:ext uri="{FF2B5EF4-FFF2-40B4-BE49-F238E27FC236}">
                <a16:creationId xmlns:a16="http://schemas.microsoft.com/office/drawing/2014/main" id="{85931091-DB73-BB09-D88B-A1D19ADFA9BA}"/>
              </a:ext>
            </a:extLst>
          </p:cNvPr>
          <p:cNvSpPr/>
          <p:nvPr/>
        </p:nvSpPr>
        <p:spPr>
          <a:xfrm flipH="1">
            <a:off x="6375088" y="1378489"/>
            <a:ext cx="108000" cy="108000"/>
          </a:xfrm>
          <a:prstGeom prst="rect">
            <a:avLst/>
          </a:prstGeom>
          <a:solidFill>
            <a:srgbClr val="40404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48" name="Rectangle 373">
            <a:extLst>
              <a:ext uri="{FF2B5EF4-FFF2-40B4-BE49-F238E27FC236}">
                <a16:creationId xmlns:a16="http://schemas.microsoft.com/office/drawing/2014/main" id="{B42DF6C4-C7DD-8D95-F398-C3A736573188}"/>
              </a:ext>
            </a:extLst>
          </p:cNvPr>
          <p:cNvSpPr/>
          <p:nvPr/>
        </p:nvSpPr>
        <p:spPr>
          <a:xfrm flipH="1">
            <a:off x="6363484" y="1498480"/>
            <a:ext cx="1002061" cy="379269"/>
          </a:xfrm>
          <a:prstGeom prst="rect">
            <a:avLst/>
          </a:prstGeom>
          <a:pattFill prst="pct5">
            <a:fgClr>
              <a:schemeClr val="bg1">
                <a:lumMod val="95000"/>
              </a:schemeClr>
            </a:fgClr>
            <a:bgClr>
              <a:schemeClr val="bg1"/>
            </a:bgClr>
          </a:pattFill>
          <a:ln w="12700">
            <a:solidFill>
              <a:schemeClr val="accent1"/>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lvl="0">
              <a:lnSpc>
                <a:spcPct val="80000"/>
              </a:lnSpc>
              <a:defRPr/>
            </a:pPr>
            <a:r>
              <a:rPr lang="en-US" altLang="zh-CN" sz="900">
                <a:solidFill>
                  <a:srgbClr val="123563"/>
                </a:solidFill>
              </a:rPr>
              <a:t>Spesolimab NS</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900" b="1" i="0" u="none" strike="noStrike" kern="1200" cap="none" spc="0" normalizeH="0" baseline="0" noProof="0">
                <a:ln>
                  <a:noFill/>
                </a:ln>
                <a:solidFill>
                  <a:srgbClr val="123563"/>
                </a:solidFill>
                <a:effectLst/>
                <a:uLnTx/>
                <a:uFillTx/>
                <a:ea typeface="+mn-ea"/>
                <a:cs typeface="+mn-cs"/>
              </a:rPr>
              <a:t>RoS</a:t>
            </a:r>
          </a:p>
          <a:p>
            <a:pPr lvl="0">
              <a:lnSpc>
                <a:spcPct val="80000"/>
              </a:lnSpc>
              <a:defRPr/>
            </a:pPr>
            <a:endParaRPr kumimoji="0" lang="en-US" altLang="zh-CN" sz="900" i="0" u="none" strike="noStrike" kern="1200" cap="none" spc="0" normalizeH="0" baseline="0" noProof="0">
              <a:ln>
                <a:noFill/>
              </a:ln>
              <a:solidFill>
                <a:srgbClr val="123563"/>
              </a:solidFill>
              <a:effectLst/>
              <a:uLnTx/>
              <a:uFillTx/>
              <a:ea typeface="+mn-ea"/>
              <a:cs typeface="+mn-cs"/>
            </a:endParaRPr>
          </a:p>
        </p:txBody>
      </p:sp>
      <p:cxnSp>
        <p:nvCxnSpPr>
          <p:cNvPr id="49" name="Straight Connector 48">
            <a:extLst>
              <a:ext uri="{FF2B5EF4-FFF2-40B4-BE49-F238E27FC236}">
                <a16:creationId xmlns:a16="http://schemas.microsoft.com/office/drawing/2014/main" id="{BF30E902-072E-EB55-1C21-2F63B74F0554}"/>
              </a:ext>
            </a:extLst>
          </p:cNvPr>
          <p:cNvCxnSpPr>
            <a:cxnSpLocks/>
          </p:cNvCxnSpPr>
          <p:nvPr/>
        </p:nvCxnSpPr>
        <p:spPr>
          <a:xfrm flipH="1" flipV="1">
            <a:off x="9168876" y="1414072"/>
            <a:ext cx="17518" cy="160615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50" name="Arrow: Right 53">
            <a:extLst>
              <a:ext uri="{FF2B5EF4-FFF2-40B4-BE49-F238E27FC236}">
                <a16:creationId xmlns:a16="http://schemas.microsoft.com/office/drawing/2014/main" id="{4B32409B-4B21-DD39-CABF-0A75EFDD95C4}"/>
              </a:ext>
            </a:extLst>
          </p:cNvPr>
          <p:cNvSpPr/>
          <p:nvPr/>
        </p:nvSpPr>
        <p:spPr>
          <a:xfrm flipH="1">
            <a:off x="9228899" y="1414072"/>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51" name="Rectangle 373">
            <a:extLst>
              <a:ext uri="{FF2B5EF4-FFF2-40B4-BE49-F238E27FC236}">
                <a16:creationId xmlns:a16="http://schemas.microsoft.com/office/drawing/2014/main" id="{F05985D7-7695-D8B3-2115-A6DF10F26156}"/>
              </a:ext>
            </a:extLst>
          </p:cNvPr>
          <p:cNvSpPr/>
          <p:nvPr/>
        </p:nvSpPr>
        <p:spPr>
          <a:xfrm flipH="1">
            <a:off x="9217294" y="1534063"/>
            <a:ext cx="1070690" cy="379269"/>
          </a:xfrm>
          <a:prstGeom prst="rect">
            <a:avLst/>
          </a:prstGeom>
          <a:pattFill prst="pct5">
            <a:fgClr>
              <a:schemeClr val="bg1">
                <a:lumMod val="95000"/>
              </a:schemeClr>
            </a:fgClr>
            <a:bgClr>
              <a:schemeClr val="bg1"/>
            </a:bgClr>
          </a:pattFill>
          <a:ln w="12700">
            <a:solidFill>
              <a:schemeClr val="accent1"/>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lvl="0">
              <a:lnSpc>
                <a:spcPct val="80000"/>
              </a:lnSpc>
              <a:defRPr/>
            </a:pPr>
            <a:r>
              <a:rPr lang="en-US" altLang="zh-CN" sz="900">
                <a:solidFill>
                  <a:srgbClr val="123563"/>
                </a:solidFill>
              </a:rPr>
              <a:t>Nerandomilast IPF</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900" b="1" i="0" u="none" strike="noStrike" kern="1200" cap="none" spc="0" normalizeH="0" baseline="0" noProof="0">
                <a:ln>
                  <a:noFill/>
                </a:ln>
                <a:solidFill>
                  <a:srgbClr val="123563"/>
                </a:solidFill>
                <a:effectLst/>
                <a:uLnTx/>
                <a:uFillTx/>
                <a:ea typeface="+mn-ea"/>
                <a:cs typeface="+mn-cs"/>
              </a:rPr>
              <a:t>RoL</a:t>
            </a:r>
          </a:p>
          <a:p>
            <a:pPr lvl="0">
              <a:lnSpc>
                <a:spcPct val="80000"/>
              </a:lnSpc>
              <a:defRPr/>
            </a:pPr>
            <a:endParaRPr kumimoji="0" lang="en-US" altLang="zh-CN" sz="900" i="0" u="none" strike="noStrike" kern="1200" cap="none" spc="0" normalizeH="0" baseline="0" noProof="0">
              <a:ln>
                <a:noFill/>
              </a:ln>
              <a:solidFill>
                <a:srgbClr val="123563"/>
              </a:solidFill>
              <a:effectLst/>
              <a:uLnTx/>
              <a:uFillTx/>
              <a:ea typeface="+mn-ea"/>
              <a:cs typeface="+mn-cs"/>
            </a:endParaRPr>
          </a:p>
        </p:txBody>
      </p:sp>
      <p:sp>
        <p:nvSpPr>
          <p:cNvPr id="65" name="Arrow: Right 53">
            <a:extLst>
              <a:ext uri="{FF2B5EF4-FFF2-40B4-BE49-F238E27FC236}">
                <a16:creationId xmlns:a16="http://schemas.microsoft.com/office/drawing/2014/main" id="{D0FE9A2E-772B-C69A-C421-CFC1401EF7BE}"/>
              </a:ext>
            </a:extLst>
          </p:cNvPr>
          <p:cNvSpPr/>
          <p:nvPr/>
        </p:nvSpPr>
        <p:spPr>
          <a:xfrm flipH="1">
            <a:off x="9235426" y="2027203"/>
            <a:ext cx="108000" cy="108000"/>
          </a:xfrm>
          <a:prstGeom prst="rect">
            <a:avLst/>
          </a:prstGeom>
          <a:solidFill>
            <a:srgbClr val="40404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69" name="Rectangle 373">
            <a:extLst>
              <a:ext uri="{FF2B5EF4-FFF2-40B4-BE49-F238E27FC236}">
                <a16:creationId xmlns:a16="http://schemas.microsoft.com/office/drawing/2014/main" id="{E17859E4-E6A1-87B5-9ED2-E102D1879372}"/>
              </a:ext>
            </a:extLst>
          </p:cNvPr>
          <p:cNvSpPr/>
          <p:nvPr/>
        </p:nvSpPr>
        <p:spPr>
          <a:xfrm flipH="1">
            <a:off x="9242294" y="2147194"/>
            <a:ext cx="1002061" cy="379269"/>
          </a:xfrm>
          <a:prstGeom prst="rect">
            <a:avLst/>
          </a:prstGeom>
          <a:pattFill prst="pct5">
            <a:fgClr>
              <a:schemeClr val="bg1">
                <a:lumMod val="95000"/>
              </a:schemeClr>
            </a:fgClr>
            <a:bgClr>
              <a:schemeClr val="bg1"/>
            </a:bgClr>
          </a:pattFill>
          <a:ln w="12700">
            <a:solidFill>
              <a:schemeClr val="accent1"/>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lvl="0">
              <a:lnSpc>
                <a:spcPct val="80000"/>
              </a:lnSpc>
              <a:defRPr/>
            </a:pPr>
            <a:r>
              <a:rPr lang="en-US" altLang="zh-CN" sz="900">
                <a:solidFill>
                  <a:srgbClr val="123563"/>
                </a:solidFill>
              </a:rPr>
              <a:t>Spesolimab NS </a:t>
            </a:r>
            <a:r>
              <a:rPr lang="en-US" altLang="zh-CN" sz="900" b="1">
                <a:solidFill>
                  <a:srgbClr val="123563"/>
                </a:solidFill>
              </a:rPr>
              <a:t>S</a:t>
            </a:r>
            <a:r>
              <a:rPr kumimoji="0" lang="en-US" sz="900" b="1" i="0" u="none" strike="noStrike" kern="1200" cap="none" spc="0" normalizeH="0" baseline="0">
                <a:ln>
                  <a:noFill/>
                </a:ln>
                <a:solidFill>
                  <a:srgbClr val="123563"/>
                </a:solidFill>
                <a:effectLst/>
                <a:uLnTx/>
                <a:uFillTx/>
                <a:ea typeface="+mn-ea"/>
                <a:cs typeface="+mn-cs"/>
              </a:rPr>
              <a:t>ubmission</a:t>
            </a:r>
          </a:p>
          <a:p>
            <a:pPr lvl="0">
              <a:lnSpc>
                <a:spcPct val="80000"/>
              </a:lnSpc>
              <a:defRPr/>
            </a:pPr>
            <a:endParaRPr kumimoji="0" lang="en-US" altLang="zh-CN" sz="900" i="0" u="none" strike="noStrike" kern="1200" cap="none" spc="0" normalizeH="0" baseline="0" noProof="0">
              <a:ln>
                <a:noFill/>
              </a:ln>
              <a:solidFill>
                <a:srgbClr val="123563"/>
              </a:solidFill>
              <a:effectLst/>
              <a:uLnTx/>
              <a:uFillTx/>
              <a:ea typeface="+mn-ea"/>
              <a:cs typeface="+mn-cs"/>
            </a:endParaRPr>
          </a:p>
        </p:txBody>
      </p:sp>
      <p:cxnSp>
        <p:nvCxnSpPr>
          <p:cNvPr id="76" name="Straight Connector 379">
            <a:extLst>
              <a:ext uri="{FF2B5EF4-FFF2-40B4-BE49-F238E27FC236}">
                <a16:creationId xmlns:a16="http://schemas.microsoft.com/office/drawing/2014/main" id="{261BDE9B-AA82-A318-263F-C203D28A0FBB}"/>
              </a:ext>
            </a:extLst>
          </p:cNvPr>
          <p:cNvCxnSpPr>
            <a:cxnSpLocks/>
          </p:cNvCxnSpPr>
          <p:nvPr/>
        </p:nvCxnSpPr>
        <p:spPr>
          <a:xfrm flipV="1">
            <a:off x="3652640" y="2034146"/>
            <a:ext cx="0" cy="90000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79">
            <a:extLst>
              <a:ext uri="{FF2B5EF4-FFF2-40B4-BE49-F238E27FC236}">
                <a16:creationId xmlns:a16="http://schemas.microsoft.com/office/drawing/2014/main" id="{F8634804-96E1-C785-B1B9-74B7B4BEF9DB}"/>
              </a:ext>
            </a:extLst>
          </p:cNvPr>
          <p:cNvCxnSpPr>
            <a:cxnSpLocks/>
          </p:cNvCxnSpPr>
          <p:nvPr/>
        </p:nvCxnSpPr>
        <p:spPr>
          <a:xfrm flipV="1">
            <a:off x="9823113" y="3110594"/>
            <a:ext cx="0" cy="122861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38" name="TextBox 237">
            <a:extLst>
              <a:ext uri="{FF2B5EF4-FFF2-40B4-BE49-F238E27FC236}">
                <a16:creationId xmlns:a16="http://schemas.microsoft.com/office/drawing/2014/main" id="{6E960371-E4CC-F3C0-A032-1723A1048E3F}"/>
              </a:ext>
            </a:extLst>
          </p:cNvPr>
          <p:cNvSpPr txBox="1"/>
          <p:nvPr/>
        </p:nvSpPr>
        <p:spPr bwMode="gray">
          <a:xfrm>
            <a:off x="1011241" y="5589214"/>
            <a:ext cx="80150" cy="236924"/>
          </a:xfrm>
          <a:prstGeom prst="rect">
            <a:avLst/>
          </a:prstGeom>
          <a:noFill/>
        </p:spPr>
        <p:txBody>
          <a:bodyPr wrap="none" lIns="0" tIns="0" rIns="0" bIns="0" rtlCol="0">
            <a:spAutoFit/>
          </a:bodyPr>
          <a:lstStyle/>
          <a:p>
            <a:pPr algn="l">
              <a:lnSpc>
                <a:spcPct val="140000"/>
              </a:lnSpc>
            </a:pPr>
            <a:r>
              <a:rPr lang="zh-CN" altLang="en-US" sz="1200">
                <a:solidFill>
                  <a:schemeClr val="tx2"/>
                </a:solidFill>
              </a:rPr>
              <a:t>√</a:t>
            </a:r>
          </a:p>
        </p:txBody>
      </p:sp>
      <p:sp>
        <p:nvSpPr>
          <p:cNvPr id="242" name="TextBox 241">
            <a:extLst>
              <a:ext uri="{FF2B5EF4-FFF2-40B4-BE49-F238E27FC236}">
                <a16:creationId xmlns:a16="http://schemas.microsoft.com/office/drawing/2014/main" id="{7BFE4444-51F6-9BBB-9439-1F738AFDCE8B}"/>
              </a:ext>
            </a:extLst>
          </p:cNvPr>
          <p:cNvSpPr txBox="1"/>
          <p:nvPr/>
        </p:nvSpPr>
        <p:spPr bwMode="gray">
          <a:xfrm>
            <a:off x="2518721" y="2278065"/>
            <a:ext cx="80150" cy="236924"/>
          </a:xfrm>
          <a:prstGeom prst="rect">
            <a:avLst/>
          </a:prstGeom>
          <a:noFill/>
        </p:spPr>
        <p:txBody>
          <a:bodyPr wrap="none" lIns="0" tIns="0" rIns="0" bIns="0" rtlCol="0">
            <a:spAutoFit/>
          </a:bodyPr>
          <a:lstStyle/>
          <a:p>
            <a:pPr algn="l">
              <a:lnSpc>
                <a:spcPct val="140000"/>
              </a:lnSpc>
            </a:pPr>
            <a:r>
              <a:rPr lang="zh-CN" altLang="en-US" sz="1200">
                <a:solidFill>
                  <a:schemeClr val="tx2"/>
                </a:solidFill>
              </a:rPr>
              <a:t>√</a:t>
            </a:r>
          </a:p>
        </p:txBody>
      </p:sp>
      <p:sp>
        <p:nvSpPr>
          <p:cNvPr id="250" name="TextBox 253">
            <a:extLst>
              <a:ext uri="{FF2B5EF4-FFF2-40B4-BE49-F238E27FC236}">
                <a16:creationId xmlns:a16="http://schemas.microsoft.com/office/drawing/2014/main" id="{E155EE11-2C4B-9D13-02A3-1A14933A209A}"/>
              </a:ext>
            </a:extLst>
          </p:cNvPr>
          <p:cNvSpPr txBox="1"/>
          <p:nvPr/>
        </p:nvSpPr>
        <p:spPr bwMode="gray">
          <a:xfrm>
            <a:off x="2535489" y="1617724"/>
            <a:ext cx="80150" cy="236924"/>
          </a:xfrm>
          <a:prstGeom prst="rect">
            <a:avLst/>
          </a:prstGeom>
          <a:noFill/>
        </p:spPr>
        <p:txBody>
          <a:bodyPr wrap="none" lIns="0" tIns="0" rIns="0" bIns="0" rtlCol="0">
            <a:spAutoFit/>
          </a:bodyPr>
          <a:lstStyle/>
          <a:p>
            <a:pPr algn="l">
              <a:lnSpc>
                <a:spcPct val="140000"/>
              </a:lnSpc>
            </a:pPr>
            <a:r>
              <a:rPr lang="zh-CN" altLang="en-US" sz="1200">
                <a:solidFill>
                  <a:schemeClr val="tx2"/>
                </a:solidFill>
              </a:rPr>
              <a:t>√</a:t>
            </a:r>
          </a:p>
        </p:txBody>
      </p:sp>
      <p:cxnSp>
        <p:nvCxnSpPr>
          <p:cNvPr id="52" name="Straight Connector 240">
            <a:extLst>
              <a:ext uri="{FF2B5EF4-FFF2-40B4-BE49-F238E27FC236}">
                <a16:creationId xmlns:a16="http://schemas.microsoft.com/office/drawing/2014/main" id="{8BB00D20-373D-11F1-2A6C-CA799EC62FE5}"/>
              </a:ext>
            </a:extLst>
          </p:cNvPr>
          <p:cNvCxnSpPr>
            <a:cxnSpLocks/>
          </p:cNvCxnSpPr>
          <p:nvPr/>
        </p:nvCxnSpPr>
        <p:spPr>
          <a:xfrm flipV="1">
            <a:off x="1741057" y="3243126"/>
            <a:ext cx="4711" cy="733325"/>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34" name="TextBox 233">
            <a:extLst>
              <a:ext uri="{FF2B5EF4-FFF2-40B4-BE49-F238E27FC236}">
                <a16:creationId xmlns:a16="http://schemas.microsoft.com/office/drawing/2014/main" id="{054452B6-118A-F347-E04A-0DF9295650EE}"/>
              </a:ext>
            </a:extLst>
          </p:cNvPr>
          <p:cNvSpPr txBox="1"/>
          <p:nvPr/>
        </p:nvSpPr>
        <p:spPr bwMode="gray">
          <a:xfrm>
            <a:off x="1940297" y="2518205"/>
            <a:ext cx="768942" cy="118494"/>
          </a:xfrm>
          <a:prstGeom prst="rect">
            <a:avLst/>
          </a:prstGeom>
          <a:noFill/>
        </p:spPr>
        <p:txBody>
          <a:bodyPr wrap="square" lIns="0" tIns="0" rIns="0" bIns="0" rtlCol="0">
            <a:spAutoFit/>
          </a:bodyPr>
          <a:lstStyle/>
          <a:p>
            <a:pPr algn="l">
              <a:lnSpc>
                <a:spcPct val="140000"/>
              </a:lnSpc>
            </a:pPr>
            <a:r>
              <a:rPr lang="de-DE" sz="600">
                <a:solidFill>
                  <a:schemeClr val="tx2"/>
                </a:solidFill>
              </a:rPr>
              <a:t>Achived in Jan 2025</a:t>
            </a:r>
            <a:endParaRPr lang="en-US" sz="600">
              <a:solidFill>
                <a:schemeClr val="tx2"/>
              </a:solidFill>
            </a:endParaRPr>
          </a:p>
        </p:txBody>
      </p:sp>
      <p:sp>
        <p:nvSpPr>
          <p:cNvPr id="237" name="TextBox 241">
            <a:extLst>
              <a:ext uri="{FF2B5EF4-FFF2-40B4-BE49-F238E27FC236}">
                <a16:creationId xmlns:a16="http://schemas.microsoft.com/office/drawing/2014/main" id="{2312F9CD-43B1-D5E9-7CDA-4BE5D17418C1}"/>
              </a:ext>
            </a:extLst>
          </p:cNvPr>
          <p:cNvSpPr txBox="1"/>
          <p:nvPr/>
        </p:nvSpPr>
        <p:spPr bwMode="gray">
          <a:xfrm>
            <a:off x="2397460" y="3777455"/>
            <a:ext cx="80150" cy="236924"/>
          </a:xfrm>
          <a:prstGeom prst="rect">
            <a:avLst/>
          </a:prstGeom>
          <a:noFill/>
        </p:spPr>
        <p:txBody>
          <a:bodyPr wrap="none" lIns="0" tIns="0" rIns="0" bIns="0" rtlCol="0">
            <a:spAutoFit/>
          </a:bodyPr>
          <a:lstStyle/>
          <a:p>
            <a:pPr algn="l">
              <a:lnSpc>
                <a:spcPct val="140000"/>
              </a:lnSpc>
            </a:pPr>
            <a:r>
              <a:rPr lang="zh-CN" altLang="en-US" sz="1200">
                <a:solidFill>
                  <a:schemeClr val="tx2"/>
                </a:solidFill>
              </a:rPr>
              <a:t>√</a:t>
            </a:r>
          </a:p>
        </p:txBody>
      </p:sp>
      <p:sp>
        <p:nvSpPr>
          <p:cNvPr id="57" name="TextBox 253">
            <a:extLst>
              <a:ext uri="{FF2B5EF4-FFF2-40B4-BE49-F238E27FC236}">
                <a16:creationId xmlns:a16="http://schemas.microsoft.com/office/drawing/2014/main" id="{DB926639-5048-3A91-23C2-475AE50D0049}"/>
              </a:ext>
            </a:extLst>
          </p:cNvPr>
          <p:cNvSpPr txBox="1"/>
          <p:nvPr/>
        </p:nvSpPr>
        <p:spPr bwMode="gray">
          <a:xfrm>
            <a:off x="2436448" y="4522872"/>
            <a:ext cx="80150" cy="236924"/>
          </a:xfrm>
          <a:prstGeom prst="rect">
            <a:avLst/>
          </a:prstGeom>
          <a:noFill/>
        </p:spPr>
        <p:txBody>
          <a:bodyPr wrap="none" lIns="0" tIns="0" rIns="0" bIns="0" rtlCol="0">
            <a:spAutoFit/>
          </a:bodyPr>
          <a:lstStyle/>
          <a:p>
            <a:pPr algn="l">
              <a:lnSpc>
                <a:spcPct val="140000"/>
              </a:lnSpc>
            </a:pPr>
            <a:r>
              <a:rPr lang="zh-CN" altLang="en-US" sz="1200">
                <a:solidFill>
                  <a:schemeClr val="tx2"/>
                </a:solidFill>
              </a:rPr>
              <a:t>√</a:t>
            </a:r>
          </a:p>
        </p:txBody>
      </p:sp>
      <p:sp>
        <p:nvSpPr>
          <p:cNvPr id="239" name="TextBox 253">
            <a:extLst>
              <a:ext uri="{FF2B5EF4-FFF2-40B4-BE49-F238E27FC236}">
                <a16:creationId xmlns:a16="http://schemas.microsoft.com/office/drawing/2014/main" id="{0E766D2C-7EFB-D823-A008-BC52DE4521DB}"/>
              </a:ext>
            </a:extLst>
          </p:cNvPr>
          <p:cNvSpPr txBox="1"/>
          <p:nvPr/>
        </p:nvSpPr>
        <p:spPr bwMode="gray">
          <a:xfrm>
            <a:off x="3920920" y="3634414"/>
            <a:ext cx="80150" cy="236924"/>
          </a:xfrm>
          <a:prstGeom prst="rect">
            <a:avLst/>
          </a:prstGeom>
          <a:noFill/>
        </p:spPr>
        <p:txBody>
          <a:bodyPr wrap="none" lIns="0" tIns="0" rIns="0" bIns="0" rtlCol="0">
            <a:spAutoFit/>
          </a:bodyPr>
          <a:lstStyle/>
          <a:p>
            <a:pPr algn="l">
              <a:lnSpc>
                <a:spcPct val="140000"/>
              </a:lnSpc>
            </a:pPr>
            <a:r>
              <a:rPr lang="zh-CN" altLang="en-US" sz="1200">
                <a:solidFill>
                  <a:schemeClr val="tx2"/>
                </a:solidFill>
              </a:rPr>
              <a:t>√</a:t>
            </a:r>
          </a:p>
        </p:txBody>
      </p:sp>
      <p:sp>
        <p:nvSpPr>
          <p:cNvPr id="56" name="TextBox 253">
            <a:extLst>
              <a:ext uri="{FF2B5EF4-FFF2-40B4-BE49-F238E27FC236}">
                <a16:creationId xmlns:a16="http://schemas.microsoft.com/office/drawing/2014/main" id="{029A381A-3112-DB69-0AEC-BE6DF68C2BF0}"/>
              </a:ext>
            </a:extLst>
          </p:cNvPr>
          <p:cNvSpPr txBox="1"/>
          <p:nvPr/>
        </p:nvSpPr>
        <p:spPr bwMode="gray">
          <a:xfrm>
            <a:off x="3939604" y="4334327"/>
            <a:ext cx="80150" cy="236924"/>
          </a:xfrm>
          <a:prstGeom prst="rect">
            <a:avLst/>
          </a:prstGeom>
          <a:noFill/>
        </p:spPr>
        <p:txBody>
          <a:bodyPr wrap="none" lIns="0" tIns="0" rIns="0" bIns="0" rtlCol="0">
            <a:spAutoFit/>
          </a:bodyPr>
          <a:lstStyle/>
          <a:p>
            <a:pPr algn="l">
              <a:lnSpc>
                <a:spcPct val="140000"/>
              </a:lnSpc>
            </a:pPr>
            <a:r>
              <a:rPr lang="zh-CN" altLang="en-US" sz="1200">
                <a:solidFill>
                  <a:schemeClr val="tx2"/>
                </a:solidFill>
              </a:rPr>
              <a:t>√</a:t>
            </a:r>
          </a:p>
        </p:txBody>
      </p:sp>
      <p:sp>
        <p:nvSpPr>
          <p:cNvPr id="58" name="Rectangle 373">
            <a:extLst>
              <a:ext uri="{FF2B5EF4-FFF2-40B4-BE49-F238E27FC236}">
                <a16:creationId xmlns:a16="http://schemas.microsoft.com/office/drawing/2014/main" id="{E1878333-EA67-627B-A864-243C76E0BC58}"/>
              </a:ext>
            </a:extLst>
          </p:cNvPr>
          <p:cNvSpPr/>
          <p:nvPr/>
        </p:nvSpPr>
        <p:spPr>
          <a:xfrm flipH="1">
            <a:off x="4445583" y="4121652"/>
            <a:ext cx="977462" cy="745275"/>
          </a:xfrm>
          <a:prstGeom prst="rect">
            <a:avLst/>
          </a:prstGeom>
          <a:solidFill>
            <a:schemeClr val="bg1">
              <a:lumMod val="95000"/>
            </a:schemeClr>
          </a:solidFill>
          <a:ln w="12700">
            <a:solidFill>
              <a:schemeClr val="bg1">
                <a:lumMod val="85000"/>
              </a:schemeClr>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lang="en-US" altLang="zh-CN" sz="900">
                <a:solidFill>
                  <a:srgbClr val="123563"/>
                </a:solidFill>
              </a:rPr>
              <a:t>Nerandomilast</a:t>
            </a:r>
          </a:p>
          <a:p>
            <a:pPr marL="0" marR="0" lvl="0" indent="0" algn="l" defTabSz="914400" rtl="0" eaLnBrk="1" fontAlgn="auto" latinLnBrk="0" hangingPunct="1">
              <a:lnSpc>
                <a:spcPct val="80000"/>
              </a:lnSpc>
              <a:spcBef>
                <a:spcPts val="0"/>
              </a:spcBef>
              <a:spcAft>
                <a:spcPts val="0"/>
              </a:spcAft>
              <a:buClrTx/>
              <a:buSzTx/>
              <a:buFontTx/>
              <a:buNone/>
              <a:tabLst/>
              <a:defRPr/>
            </a:pPr>
            <a:r>
              <a:rPr lang="en-US" altLang="zh-CN" sz="900" err="1">
                <a:solidFill>
                  <a:srgbClr val="123563"/>
                </a:solidFill>
              </a:rPr>
              <a:t>chILD</a:t>
            </a:r>
            <a:r>
              <a:rPr lang="en-US" altLang="zh-CN" sz="900">
                <a:solidFill>
                  <a:srgbClr val="123563"/>
                </a:solidFill>
              </a:rPr>
              <a:t> ph3 HAI meeting request submission </a:t>
            </a:r>
            <a:r>
              <a:rPr lang="en-US" altLang="zh-CN" sz="900">
                <a:solidFill>
                  <a:schemeClr val="accent5"/>
                </a:solidFill>
              </a:rPr>
              <a:t>(postponed TBU)</a:t>
            </a:r>
          </a:p>
        </p:txBody>
      </p:sp>
      <p:sp>
        <p:nvSpPr>
          <p:cNvPr id="60" name="Arrow: Right 53">
            <a:extLst>
              <a:ext uri="{FF2B5EF4-FFF2-40B4-BE49-F238E27FC236}">
                <a16:creationId xmlns:a16="http://schemas.microsoft.com/office/drawing/2014/main" id="{4BAA73EC-08CD-7880-A51E-558AF7C251AB}"/>
              </a:ext>
            </a:extLst>
          </p:cNvPr>
          <p:cNvSpPr/>
          <p:nvPr/>
        </p:nvSpPr>
        <p:spPr>
          <a:xfrm flipH="1">
            <a:off x="4461784" y="4012647"/>
            <a:ext cx="108000" cy="108000"/>
          </a:xfrm>
          <a:prstGeom prst="rect">
            <a:avLst/>
          </a:prstGeom>
          <a:solidFill>
            <a:schemeClr val="accent6">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ea typeface="+mn-ea"/>
              <a:cs typeface="+mn-cs"/>
            </a:endParaRPr>
          </a:p>
        </p:txBody>
      </p:sp>
      <p:sp>
        <p:nvSpPr>
          <p:cNvPr id="89" name="TextBox 253">
            <a:extLst>
              <a:ext uri="{FF2B5EF4-FFF2-40B4-BE49-F238E27FC236}">
                <a16:creationId xmlns:a16="http://schemas.microsoft.com/office/drawing/2014/main" id="{8EAA62CA-613B-4816-A006-E5D80356B42E}"/>
              </a:ext>
            </a:extLst>
          </p:cNvPr>
          <p:cNvSpPr txBox="1"/>
          <p:nvPr/>
        </p:nvSpPr>
        <p:spPr bwMode="gray">
          <a:xfrm>
            <a:off x="4777088" y="6080091"/>
            <a:ext cx="80150" cy="236924"/>
          </a:xfrm>
          <a:prstGeom prst="rect">
            <a:avLst/>
          </a:prstGeom>
          <a:noFill/>
        </p:spPr>
        <p:txBody>
          <a:bodyPr wrap="none" lIns="0" tIns="0" rIns="0" bIns="0" rtlCol="0">
            <a:spAutoFit/>
          </a:bodyPr>
          <a:lstStyle/>
          <a:p>
            <a:pPr algn="l">
              <a:lnSpc>
                <a:spcPct val="140000"/>
              </a:lnSpc>
            </a:pPr>
            <a:r>
              <a:rPr lang="zh-CN" altLang="en-US" sz="1200">
                <a:solidFill>
                  <a:schemeClr val="tx2"/>
                </a:solidFill>
              </a:rPr>
              <a:t>√</a:t>
            </a:r>
          </a:p>
        </p:txBody>
      </p:sp>
      <p:sp>
        <p:nvSpPr>
          <p:cNvPr id="91" name="TextBox 253">
            <a:extLst>
              <a:ext uri="{FF2B5EF4-FFF2-40B4-BE49-F238E27FC236}">
                <a16:creationId xmlns:a16="http://schemas.microsoft.com/office/drawing/2014/main" id="{3DCBE6B4-7820-84D2-6063-B528F1CE244B}"/>
              </a:ext>
            </a:extLst>
          </p:cNvPr>
          <p:cNvSpPr txBox="1"/>
          <p:nvPr/>
        </p:nvSpPr>
        <p:spPr bwMode="gray">
          <a:xfrm>
            <a:off x="4618622" y="2267681"/>
            <a:ext cx="80150" cy="236924"/>
          </a:xfrm>
          <a:prstGeom prst="rect">
            <a:avLst/>
          </a:prstGeom>
          <a:noFill/>
        </p:spPr>
        <p:txBody>
          <a:bodyPr wrap="none" lIns="0" tIns="0" rIns="0" bIns="0" rtlCol="0">
            <a:spAutoFit/>
          </a:bodyPr>
          <a:lstStyle/>
          <a:p>
            <a:pPr algn="l">
              <a:lnSpc>
                <a:spcPct val="140000"/>
              </a:lnSpc>
            </a:pPr>
            <a:r>
              <a:rPr lang="zh-CN" altLang="en-US" sz="1200">
                <a:solidFill>
                  <a:schemeClr val="tx2"/>
                </a:solidFill>
              </a:rPr>
              <a:t>√</a:t>
            </a:r>
          </a:p>
        </p:txBody>
      </p:sp>
      <p:sp>
        <p:nvSpPr>
          <p:cNvPr id="94" name="TextBox 253">
            <a:extLst>
              <a:ext uri="{FF2B5EF4-FFF2-40B4-BE49-F238E27FC236}">
                <a16:creationId xmlns:a16="http://schemas.microsoft.com/office/drawing/2014/main" id="{EAF0545C-9590-0991-51F0-6AC1E6767A2C}"/>
              </a:ext>
            </a:extLst>
          </p:cNvPr>
          <p:cNvSpPr txBox="1"/>
          <p:nvPr/>
        </p:nvSpPr>
        <p:spPr bwMode="gray">
          <a:xfrm>
            <a:off x="5365784" y="1659251"/>
            <a:ext cx="80150" cy="236924"/>
          </a:xfrm>
          <a:prstGeom prst="rect">
            <a:avLst/>
          </a:prstGeom>
          <a:noFill/>
        </p:spPr>
        <p:txBody>
          <a:bodyPr wrap="none" lIns="0" tIns="0" rIns="0" bIns="0" rtlCol="0">
            <a:spAutoFit/>
          </a:bodyPr>
          <a:lstStyle/>
          <a:p>
            <a:pPr algn="l">
              <a:lnSpc>
                <a:spcPct val="140000"/>
              </a:lnSpc>
            </a:pPr>
            <a:r>
              <a:rPr lang="zh-CN" altLang="en-US" sz="1200">
                <a:solidFill>
                  <a:schemeClr val="tx2"/>
                </a:solidFill>
              </a:rPr>
              <a:t>√</a:t>
            </a:r>
          </a:p>
        </p:txBody>
      </p:sp>
      <p:sp>
        <p:nvSpPr>
          <p:cNvPr id="88" name="TextBox 253">
            <a:extLst>
              <a:ext uri="{FF2B5EF4-FFF2-40B4-BE49-F238E27FC236}">
                <a16:creationId xmlns:a16="http://schemas.microsoft.com/office/drawing/2014/main" id="{81E9DF9A-91EC-6245-206C-7A3239014A63}"/>
              </a:ext>
            </a:extLst>
          </p:cNvPr>
          <p:cNvSpPr txBox="1"/>
          <p:nvPr/>
        </p:nvSpPr>
        <p:spPr bwMode="gray">
          <a:xfrm>
            <a:off x="3955988" y="1334353"/>
            <a:ext cx="80150" cy="236924"/>
          </a:xfrm>
          <a:prstGeom prst="rect">
            <a:avLst/>
          </a:prstGeom>
          <a:noFill/>
        </p:spPr>
        <p:txBody>
          <a:bodyPr wrap="none" lIns="0" tIns="0" rIns="0" bIns="0" rtlCol="0">
            <a:spAutoFit/>
          </a:bodyPr>
          <a:lstStyle/>
          <a:p>
            <a:pPr algn="l">
              <a:lnSpc>
                <a:spcPct val="140000"/>
              </a:lnSpc>
            </a:pPr>
            <a:r>
              <a:rPr lang="zh-CN" altLang="en-US" sz="1200">
                <a:solidFill>
                  <a:schemeClr val="tx2"/>
                </a:solidFill>
              </a:rPr>
              <a:t>√</a:t>
            </a:r>
          </a:p>
        </p:txBody>
      </p:sp>
      <p:sp>
        <p:nvSpPr>
          <p:cNvPr id="95" name="TextBox 253">
            <a:extLst>
              <a:ext uri="{FF2B5EF4-FFF2-40B4-BE49-F238E27FC236}">
                <a16:creationId xmlns:a16="http://schemas.microsoft.com/office/drawing/2014/main" id="{8EC9A63C-CFA3-CDED-95BA-EBD7F9E6616A}"/>
              </a:ext>
            </a:extLst>
          </p:cNvPr>
          <p:cNvSpPr txBox="1"/>
          <p:nvPr/>
        </p:nvSpPr>
        <p:spPr bwMode="gray">
          <a:xfrm>
            <a:off x="3959969" y="5632866"/>
            <a:ext cx="80150" cy="236924"/>
          </a:xfrm>
          <a:prstGeom prst="rect">
            <a:avLst/>
          </a:prstGeom>
          <a:noFill/>
        </p:spPr>
        <p:txBody>
          <a:bodyPr wrap="none" lIns="0" tIns="0" rIns="0" bIns="0" rtlCol="0">
            <a:spAutoFit/>
          </a:bodyPr>
          <a:lstStyle/>
          <a:p>
            <a:pPr algn="l">
              <a:lnSpc>
                <a:spcPct val="140000"/>
              </a:lnSpc>
            </a:pPr>
            <a:r>
              <a:rPr lang="zh-CN" altLang="en-US" sz="1200">
                <a:solidFill>
                  <a:schemeClr val="tx2"/>
                </a:solidFill>
              </a:rPr>
              <a:t>√</a:t>
            </a:r>
          </a:p>
        </p:txBody>
      </p:sp>
      <p:sp>
        <p:nvSpPr>
          <p:cNvPr id="62" name="TextBox 61">
            <a:extLst>
              <a:ext uri="{FF2B5EF4-FFF2-40B4-BE49-F238E27FC236}">
                <a16:creationId xmlns:a16="http://schemas.microsoft.com/office/drawing/2014/main" id="{7CE60E73-B6F3-F97A-6A6F-9DB17B8028DB}"/>
              </a:ext>
            </a:extLst>
          </p:cNvPr>
          <p:cNvSpPr txBox="1"/>
          <p:nvPr/>
        </p:nvSpPr>
        <p:spPr bwMode="gray">
          <a:xfrm>
            <a:off x="8799023" y="299214"/>
            <a:ext cx="2501419" cy="660630"/>
          </a:xfrm>
          <a:prstGeom prst="rect">
            <a:avLst/>
          </a:prstGeom>
          <a:noFill/>
          <a:ln>
            <a:solidFill>
              <a:schemeClr val="bg2"/>
            </a:solidFill>
          </a:ln>
        </p:spPr>
        <p:txBody>
          <a:bodyPr wrap="square" lIns="0" tIns="0" rIns="0" bIns="0" rtlCol="0">
            <a:spAutoFit/>
          </a:bodyPr>
          <a:lstStyle/>
          <a:p>
            <a:pPr algn="l">
              <a:lnSpc>
                <a:spcPct val="140000"/>
              </a:lnSpc>
            </a:pPr>
            <a:r>
              <a:rPr lang="de-DE" sz="1600">
                <a:solidFill>
                  <a:schemeClr val="bg2"/>
                </a:solidFill>
              </a:rPr>
              <a:t>Status May 14th, 2025: </a:t>
            </a:r>
          </a:p>
          <a:p>
            <a:pPr algn="l">
              <a:lnSpc>
                <a:spcPct val="140000"/>
              </a:lnSpc>
            </a:pPr>
            <a:r>
              <a:rPr lang="de-DE" sz="1600">
                <a:solidFill>
                  <a:schemeClr val="bg2"/>
                </a:solidFill>
              </a:rPr>
              <a:t>All activities on track  </a:t>
            </a:r>
            <a:endParaRPr lang="en-US" sz="1600">
              <a:solidFill>
                <a:schemeClr val="bg2"/>
              </a:solidFill>
            </a:endParaRPr>
          </a:p>
        </p:txBody>
      </p:sp>
      <p:sp>
        <p:nvSpPr>
          <p:cNvPr id="71" name="Oval 70">
            <a:extLst>
              <a:ext uri="{FF2B5EF4-FFF2-40B4-BE49-F238E27FC236}">
                <a16:creationId xmlns:a16="http://schemas.microsoft.com/office/drawing/2014/main" id="{CD7233DE-C520-BCCA-8C89-7DD9D2F7D465}"/>
              </a:ext>
            </a:extLst>
          </p:cNvPr>
          <p:cNvSpPr/>
          <p:nvPr/>
        </p:nvSpPr>
        <p:spPr bwMode="gray">
          <a:xfrm>
            <a:off x="10818394" y="620041"/>
            <a:ext cx="312367" cy="304575"/>
          </a:xfrm>
          <a:prstGeom prst="ellipse">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Tree>
    <p:extLst>
      <p:ext uri="{BB962C8B-B14F-4D97-AF65-F5344CB8AC3E}">
        <p14:creationId xmlns:p14="http://schemas.microsoft.com/office/powerpoint/2010/main" val="209256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3D7C7-1B9F-EBBD-DF90-F016194D15A4}"/>
              </a:ext>
            </a:extLst>
          </p:cNvPr>
          <p:cNvSpPr>
            <a:spLocks noGrp="1"/>
          </p:cNvSpPr>
          <p:nvPr>
            <p:ph type="title"/>
          </p:nvPr>
        </p:nvSpPr>
        <p:spPr>
          <a:xfrm>
            <a:off x="479424" y="323164"/>
            <a:ext cx="11233151" cy="720000"/>
          </a:xfrm>
        </p:spPr>
        <p:txBody>
          <a:bodyPr/>
          <a:lstStyle/>
          <a:p>
            <a:r>
              <a:rPr lang="en-US" altLang="zh-CN" sz="2400"/>
              <a:t>Decisions/Advice provided by TA-CEC </a:t>
            </a:r>
            <a:r>
              <a:rPr lang="en-US" altLang="zh-CN" sz="2400">
                <a:solidFill>
                  <a:schemeClr val="accent5"/>
                </a:solidFill>
              </a:rPr>
              <a:t>March - May 2025</a:t>
            </a:r>
            <a:endParaRPr lang="zh-CN" altLang="en-US" sz="2400">
              <a:solidFill>
                <a:schemeClr val="tx1"/>
              </a:solidFill>
            </a:endParaRPr>
          </a:p>
        </p:txBody>
      </p:sp>
      <p:sp>
        <p:nvSpPr>
          <p:cNvPr id="4" name="Footer Placeholder 3">
            <a:extLst>
              <a:ext uri="{FF2B5EF4-FFF2-40B4-BE49-F238E27FC236}">
                <a16:creationId xmlns:a16="http://schemas.microsoft.com/office/drawing/2014/main" id="{E843A777-B9BD-20F7-6A61-918E4B691D8A}"/>
              </a:ext>
            </a:extLst>
          </p:cNvPr>
          <p:cNvSpPr>
            <a:spLocks noGrp="1"/>
          </p:cNvSpPr>
          <p:nvPr>
            <p:ph type="ftr" sz="quarter" idx="16"/>
          </p:nvPr>
        </p:nvSpPr>
        <p:spPr/>
        <p:txBody>
          <a:bodyPr/>
          <a:lstStyle/>
          <a:p>
            <a:r>
              <a:rPr lang="en-US" altLang="zh-CN"/>
              <a:t>MAP </a:t>
            </a:r>
            <a:r>
              <a:rPr lang="en-US"/>
              <a:t>|    ONLY FOR INTERNAL USE</a:t>
            </a:r>
          </a:p>
        </p:txBody>
      </p:sp>
      <p:sp>
        <p:nvSpPr>
          <p:cNvPr id="5" name="Slide Number Placeholder 4">
            <a:extLst>
              <a:ext uri="{FF2B5EF4-FFF2-40B4-BE49-F238E27FC236}">
                <a16:creationId xmlns:a16="http://schemas.microsoft.com/office/drawing/2014/main" id="{EEB5AB4C-D9BD-1859-CBB6-4C7E0D86F96E}"/>
              </a:ext>
            </a:extLst>
          </p:cNvPr>
          <p:cNvSpPr>
            <a:spLocks noGrp="1"/>
          </p:cNvSpPr>
          <p:nvPr>
            <p:ph type="sldNum" sz="quarter" idx="17"/>
          </p:nvPr>
        </p:nvSpPr>
        <p:spPr/>
        <p:txBody>
          <a:bodyPr/>
          <a:lstStyle/>
          <a:p>
            <a:fld id="{8FF9B0DE-3FEB-4AA0-B465-B80EF7C1333D}" type="slidenum">
              <a:rPr lang="en-US" smtClean="0"/>
              <a:pPr/>
              <a:t>4</a:t>
            </a:fld>
            <a:endParaRPr lang="en-US"/>
          </a:p>
        </p:txBody>
      </p:sp>
      <p:graphicFrame>
        <p:nvGraphicFramePr>
          <p:cNvPr id="3" name="Inhaltsplatzhalter 11">
            <a:extLst>
              <a:ext uri="{FF2B5EF4-FFF2-40B4-BE49-F238E27FC236}">
                <a16:creationId xmlns:a16="http://schemas.microsoft.com/office/drawing/2014/main" id="{E8D60687-F332-2DAC-8D47-261F670D5C3F}"/>
              </a:ext>
            </a:extLst>
          </p:cNvPr>
          <p:cNvGraphicFramePr>
            <a:graphicFrameLocks/>
          </p:cNvGraphicFramePr>
          <p:nvPr>
            <p:extLst>
              <p:ext uri="{D42A27DB-BD31-4B8C-83A1-F6EECF244321}">
                <p14:modId xmlns:p14="http://schemas.microsoft.com/office/powerpoint/2010/main" val="403232653"/>
              </p:ext>
            </p:extLst>
          </p:nvPr>
        </p:nvGraphicFramePr>
        <p:xfrm>
          <a:off x="55416" y="724585"/>
          <a:ext cx="12072567" cy="6068160"/>
        </p:xfrm>
        <a:graphic>
          <a:graphicData uri="http://schemas.openxmlformats.org/drawingml/2006/table">
            <a:tbl>
              <a:tblPr firstRow="1" bandRow="1">
                <a:tableStyleId>{5C22544A-7EE6-4342-B048-85BDC9FD1C3A}</a:tableStyleId>
              </a:tblPr>
              <a:tblGrid>
                <a:gridCol w="1593594">
                  <a:extLst>
                    <a:ext uri="{9D8B030D-6E8A-4147-A177-3AD203B41FA5}">
                      <a16:colId xmlns:a16="http://schemas.microsoft.com/office/drawing/2014/main" val="2389719309"/>
                    </a:ext>
                  </a:extLst>
                </a:gridCol>
                <a:gridCol w="4733315">
                  <a:extLst>
                    <a:ext uri="{9D8B030D-6E8A-4147-A177-3AD203B41FA5}">
                      <a16:colId xmlns:a16="http://schemas.microsoft.com/office/drawing/2014/main" val="2275645487"/>
                    </a:ext>
                  </a:extLst>
                </a:gridCol>
                <a:gridCol w="3535548">
                  <a:extLst>
                    <a:ext uri="{9D8B030D-6E8A-4147-A177-3AD203B41FA5}">
                      <a16:colId xmlns:a16="http://schemas.microsoft.com/office/drawing/2014/main" val="418550560"/>
                    </a:ext>
                  </a:extLst>
                </a:gridCol>
                <a:gridCol w="2210110">
                  <a:extLst>
                    <a:ext uri="{9D8B030D-6E8A-4147-A177-3AD203B41FA5}">
                      <a16:colId xmlns:a16="http://schemas.microsoft.com/office/drawing/2014/main" val="3293208662"/>
                    </a:ext>
                  </a:extLst>
                </a:gridCol>
              </a:tblGrid>
              <a:tr h="564636">
                <a:tc>
                  <a:txBody>
                    <a:bodyPr/>
                    <a:lstStyle/>
                    <a:p>
                      <a:pPr algn="ctr"/>
                      <a:r>
                        <a:rPr lang="en-US" altLang="zh-CN" sz="1600">
                          <a:solidFill>
                            <a:schemeClr val="bg2"/>
                          </a:solidFill>
                        </a:rPr>
                        <a:t>Topic</a:t>
                      </a:r>
                      <a:endParaRPr lang="zh-CN" altLang="en-US" sz="1600">
                        <a:solidFill>
                          <a:schemeClr val="bg2"/>
                        </a:solidFill>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Background</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TA-CEC</a:t>
                      </a:r>
                      <a:r>
                        <a:rPr lang="en-US" sz="1600" b="1" i="0" u="none" strike="noStrike" kern="1200" cap="none" spc="0" normalizeH="0" baseline="0" noProof="0">
                          <a:ln>
                            <a:noFill/>
                          </a:ln>
                          <a:solidFill>
                            <a:schemeClr val="tx1"/>
                          </a:solidFill>
                          <a:effectLst/>
                          <a:uLnTx/>
                          <a:uFillTx/>
                          <a:latin typeface="+mn-lt"/>
                          <a:ea typeface="+mn-ea"/>
                          <a:cs typeface="+mn-cs"/>
                        </a:rPr>
                        <a:t> </a:t>
                      </a:r>
                      <a:endParaRPr kumimoji="0" lang="en-US" sz="1600" b="1" i="0" u="none" strike="noStrike" kern="1200" cap="none" spc="0" normalizeH="0" baseline="0" noProof="0">
                        <a:ln>
                          <a:noFill/>
                        </a:ln>
                        <a:solidFill>
                          <a:schemeClr val="tx1"/>
                        </a:solidFill>
                        <a:effectLst/>
                        <a:uLnTx/>
                        <a:uFillTx/>
                        <a:latin typeface="+mn-lt"/>
                        <a:ea typeface="+mn-ea"/>
                        <a:cs typeface="+mn-cs"/>
                      </a:endParaRPr>
                    </a:p>
                    <a:p>
                      <a:pPr algn="ctr"/>
                      <a:r>
                        <a:rPr kumimoji="0" lang="en-US" sz="1600" b="1" i="0" u="none" strike="noStrike" kern="1200" cap="none" spc="0" normalizeH="0" baseline="0" noProof="0">
                          <a:ln>
                            <a:noFill/>
                          </a:ln>
                          <a:solidFill>
                            <a:schemeClr val="tx1"/>
                          </a:solidFill>
                          <a:effectLst/>
                          <a:uLnTx/>
                          <a:uFillTx/>
                          <a:latin typeface="+mn-lt"/>
                          <a:ea typeface="+mn-ea"/>
                          <a:cs typeface="+mn-cs"/>
                        </a:rPr>
                        <a:t>Decisions/Advice</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Next steps/ Updates</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1487590">
                <a:tc>
                  <a:txBody>
                    <a:bodyPr/>
                    <a:lstStyle/>
                    <a:p>
                      <a:pPr algn="l" fontAlgn="base"/>
                      <a:r>
                        <a:rPr kumimoji="0" lang="en-US" sz="1100" b="0" i="0" u="none" strike="noStrike" kern="1200" cap="none" spc="0" normalizeH="0" baseline="0">
                          <a:ln>
                            <a:noFill/>
                          </a:ln>
                          <a:solidFill>
                            <a:schemeClr val="bg2"/>
                          </a:solidFill>
                          <a:effectLst/>
                          <a:uLnTx/>
                          <a:uFillTx/>
                          <a:latin typeface="+mn-lt"/>
                          <a:ea typeface="+mn-ea"/>
                          <a:cs typeface="+mn-cs"/>
                        </a:rPr>
                        <a:t>cGASi early integration plan for CEC endorsement</a:t>
                      </a:r>
                    </a:p>
                  </a:txBody>
                  <a:tcPr marL="19050" marR="1905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171450" indent="-171450" algn="l" defTabSz="914377" rtl="0" eaLnBrk="1" latinLnBrk="0" hangingPunct="1">
                        <a:buFont typeface="Arial" panose="020B0604020202020204" pitchFamily="34" charset="0"/>
                        <a:buChar char="•"/>
                      </a:pPr>
                      <a:r>
                        <a:rPr kumimoji="0" lang="en-US" altLang="zh-CN" sz="1100" b="0" i="0" u="none" strike="noStrike" kern="1200" cap="none" spc="0" normalizeH="0" baseline="0">
                          <a:ln>
                            <a:noFill/>
                          </a:ln>
                          <a:solidFill>
                            <a:schemeClr val="bg2"/>
                          </a:solidFill>
                          <a:effectLst/>
                          <a:uLnTx/>
                          <a:uFillTx/>
                          <a:latin typeface="+mn-lt"/>
                          <a:ea typeface="+mn-ea"/>
                          <a:cs typeface="+mn-cs"/>
                        </a:rPr>
                        <a:t>BI 3000202, a cGAS inhibitor, is currently in clinical development (Ph1c of </a:t>
                      </a:r>
                      <a:r>
                        <a:rPr kumimoji="0" lang="en-US" altLang="zh-CN" sz="1100" b="0" i="0" u="none" strike="noStrike" kern="1200" cap="none" spc="0" normalizeH="0" baseline="0" err="1">
                          <a:ln>
                            <a:noFill/>
                          </a:ln>
                          <a:solidFill>
                            <a:schemeClr val="bg2"/>
                          </a:solidFill>
                          <a:effectLst/>
                          <a:uLnTx/>
                          <a:uFillTx/>
                          <a:latin typeface="+mn-lt"/>
                          <a:ea typeface="+mn-ea"/>
                          <a:cs typeface="+mn-cs"/>
                        </a:rPr>
                        <a:t>IFNopathy</a:t>
                      </a:r>
                      <a:r>
                        <a:rPr kumimoji="0" lang="en-US" altLang="zh-CN" sz="1100" b="0" i="0" u="none" strike="noStrike" kern="1200" cap="none" spc="0" normalizeH="0" baseline="0">
                          <a:ln>
                            <a:noFill/>
                          </a:ln>
                          <a:solidFill>
                            <a:schemeClr val="bg2"/>
                          </a:solidFill>
                          <a:effectLst/>
                          <a:uLnTx/>
                          <a:uFillTx/>
                          <a:latin typeface="+mn-lt"/>
                          <a:ea typeface="+mn-ea"/>
                          <a:cs typeface="+mn-cs"/>
                        </a:rPr>
                        <a:t>) to be approved to treat </a:t>
                      </a:r>
                      <a:r>
                        <a:rPr kumimoji="0" lang="en-US" altLang="zh-CN" sz="1100" b="1" i="0" u="none" strike="noStrike" kern="1200" cap="none" spc="0" normalizeH="0" baseline="0" err="1">
                          <a:ln>
                            <a:noFill/>
                          </a:ln>
                          <a:solidFill>
                            <a:schemeClr val="bg2"/>
                          </a:solidFill>
                          <a:effectLst/>
                          <a:uLnTx/>
                          <a:uFillTx/>
                          <a:latin typeface="+mn-lt"/>
                          <a:ea typeface="+mn-ea"/>
                          <a:cs typeface="+mn-cs"/>
                        </a:rPr>
                        <a:t>IFNopathy</a:t>
                      </a:r>
                      <a:r>
                        <a:rPr kumimoji="0" lang="en-US" altLang="zh-CN" sz="1100" b="1" i="0" u="none" strike="noStrike" kern="1200" cap="none" spc="0" normalizeH="0" baseline="0">
                          <a:ln>
                            <a:noFill/>
                          </a:ln>
                          <a:solidFill>
                            <a:schemeClr val="bg2"/>
                          </a:solidFill>
                          <a:effectLst/>
                          <a:uLnTx/>
                          <a:uFillTx/>
                          <a:latin typeface="+mn-lt"/>
                          <a:ea typeface="+mn-ea"/>
                          <a:cs typeface="+mn-cs"/>
                        </a:rPr>
                        <a:t> </a:t>
                      </a:r>
                      <a:r>
                        <a:rPr kumimoji="0" lang="en-US" altLang="zh-CN" sz="1100" b="0" i="0" u="none" strike="noStrike" kern="1200" cap="none" spc="0" normalizeH="0" baseline="0">
                          <a:ln>
                            <a:noFill/>
                          </a:ln>
                          <a:solidFill>
                            <a:schemeClr val="bg2"/>
                          </a:solidFill>
                          <a:effectLst/>
                          <a:uLnTx/>
                          <a:uFillTx/>
                          <a:latin typeface="+mn-lt"/>
                          <a:ea typeface="+mn-ea"/>
                          <a:cs typeface="+mn-cs"/>
                        </a:rPr>
                        <a:t>(US launch: Jun2032) </a:t>
                      </a:r>
                      <a:r>
                        <a:rPr kumimoji="0" lang="en-US" altLang="zh-CN" sz="1100" b="1" i="0" u="none" strike="noStrike" kern="1200" cap="none" spc="0" normalizeH="0" baseline="0">
                          <a:ln>
                            <a:noFill/>
                          </a:ln>
                          <a:solidFill>
                            <a:schemeClr val="bg2"/>
                          </a:solidFill>
                          <a:effectLst/>
                          <a:uLnTx/>
                          <a:uFillTx/>
                          <a:latin typeface="+mn-lt"/>
                          <a:ea typeface="+mn-ea"/>
                          <a:cs typeface="+mn-cs"/>
                        </a:rPr>
                        <a:t>and SSc</a:t>
                      </a:r>
                      <a:r>
                        <a:rPr kumimoji="0" lang="en-US" altLang="zh-CN" sz="1100" b="0" i="0" u="none" strike="noStrike" kern="1200" cap="none" spc="0" normalizeH="0" baseline="0">
                          <a:ln>
                            <a:noFill/>
                          </a:ln>
                          <a:solidFill>
                            <a:schemeClr val="bg2"/>
                          </a:solidFill>
                          <a:effectLst/>
                          <a:uLnTx/>
                          <a:uFillTx/>
                          <a:latin typeface="+mn-lt"/>
                          <a:ea typeface="+mn-ea"/>
                          <a:cs typeface="+mn-cs"/>
                        </a:rPr>
                        <a:t> (US launch: Dec 2034) in future. </a:t>
                      </a:r>
                      <a:r>
                        <a:rPr kumimoji="0" lang="en-US" altLang="zh-CN" sz="1100" b="0" i="0" u="none" strike="noStrike" kern="1200" cap="none" spc="0" normalizeH="0" baseline="0" err="1">
                          <a:ln>
                            <a:noFill/>
                          </a:ln>
                          <a:solidFill>
                            <a:schemeClr val="bg2"/>
                          </a:solidFill>
                          <a:effectLst/>
                          <a:uLnTx/>
                          <a:uFillTx/>
                          <a:latin typeface="+mn-lt"/>
                          <a:ea typeface="+mn-ea"/>
                          <a:cs typeface="+mn-cs"/>
                        </a:rPr>
                        <a:t>PoCP</a:t>
                      </a:r>
                      <a:r>
                        <a:rPr kumimoji="0" lang="en-US" altLang="zh-CN" sz="1100" b="0" i="0" u="none" strike="noStrike" kern="1200" cap="none" spc="0" normalizeH="0" baseline="0">
                          <a:ln>
                            <a:noFill/>
                          </a:ln>
                          <a:solidFill>
                            <a:schemeClr val="bg2"/>
                          </a:solidFill>
                          <a:effectLst/>
                          <a:uLnTx/>
                          <a:uFillTx/>
                          <a:latin typeface="+mn-lt"/>
                          <a:ea typeface="+mn-ea"/>
                          <a:cs typeface="+mn-cs"/>
                        </a:rPr>
                        <a:t> will be achieved in Jul 2026 (after Ph1c).</a:t>
                      </a:r>
                    </a:p>
                    <a:p>
                      <a:pPr marL="171450" indent="-171450" algn="l" defTabSz="914377" rtl="0" eaLnBrk="1" latinLnBrk="0" hangingPunct="1">
                        <a:buFont typeface="Arial" panose="020B0604020202020204" pitchFamily="34" charset="0"/>
                        <a:buChar char="•"/>
                      </a:pPr>
                      <a:r>
                        <a:rPr kumimoji="0" lang="en-US" altLang="zh-CN" sz="1100" b="1" i="0" u="none" strike="noStrike" kern="1200" cap="none" spc="0" normalizeH="0" baseline="0">
                          <a:ln>
                            <a:noFill/>
                          </a:ln>
                          <a:solidFill>
                            <a:schemeClr val="bg2"/>
                          </a:solidFill>
                          <a:effectLst/>
                          <a:uLnTx/>
                          <a:uFillTx/>
                          <a:latin typeface="+mn-lt"/>
                          <a:ea typeface="+mn-ea"/>
                          <a:cs typeface="+mn-cs"/>
                        </a:rPr>
                        <a:t>Ph2 DRF study will be conducted in </a:t>
                      </a:r>
                      <a:r>
                        <a:rPr kumimoji="0" lang="en-US" altLang="zh-CN" sz="1100" b="1" i="0" u="none" strike="noStrike" kern="1200" cap="none" spc="0" normalizeH="0" baseline="0" err="1">
                          <a:ln>
                            <a:noFill/>
                          </a:ln>
                          <a:solidFill>
                            <a:schemeClr val="bg2"/>
                          </a:solidFill>
                          <a:effectLst/>
                          <a:uLnTx/>
                          <a:uFillTx/>
                          <a:latin typeface="+mn-lt"/>
                          <a:ea typeface="+mn-ea"/>
                          <a:cs typeface="+mn-cs"/>
                        </a:rPr>
                        <a:t>IFNopathy</a:t>
                      </a:r>
                      <a:r>
                        <a:rPr kumimoji="0" lang="en-US" altLang="zh-CN" sz="1100" b="1" i="0" u="none" strike="noStrike" kern="1200" cap="none" spc="0" normalizeH="0" baseline="0">
                          <a:ln>
                            <a:noFill/>
                          </a:ln>
                          <a:solidFill>
                            <a:schemeClr val="bg2"/>
                          </a:solidFill>
                          <a:effectLst/>
                          <a:uLnTx/>
                          <a:uFillTx/>
                          <a:latin typeface="+mn-lt"/>
                          <a:ea typeface="+mn-ea"/>
                          <a:cs typeface="+mn-cs"/>
                        </a:rPr>
                        <a:t> and SLE patients.  Ph3</a:t>
                      </a:r>
                      <a:r>
                        <a:rPr kumimoji="0" lang="zh-CN" altLang="en-US" sz="1100" b="1" i="0" u="none" strike="noStrike" kern="1200" cap="none" spc="0" normalizeH="0" baseline="0">
                          <a:ln>
                            <a:noFill/>
                          </a:ln>
                          <a:solidFill>
                            <a:schemeClr val="bg2"/>
                          </a:solidFill>
                          <a:effectLst/>
                          <a:uLnTx/>
                          <a:uFillTx/>
                          <a:latin typeface="+mn-lt"/>
                          <a:ea typeface="+mn-ea"/>
                          <a:cs typeface="+mn-cs"/>
                        </a:rPr>
                        <a:t> </a:t>
                      </a:r>
                      <a:r>
                        <a:rPr kumimoji="0" lang="en-US" altLang="zh-CN" sz="1100" b="1" i="0" u="none" strike="noStrike" kern="1200" cap="none" spc="0" normalizeH="0" baseline="0">
                          <a:ln>
                            <a:noFill/>
                          </a:ln>
                          <a:solidFill>
                            <a:schemeClr val="bg2"/>
                          </a:solidFill>
                          <a:effectLst/>
                          <a:uLnTx/>
                          <a:uFillTx/>
                          <a:latin typeface="+mn-lt"/>
                          <a:ea typeface="+mn-ea"/>
                          <a:cs typeface="+mn-cs"/>
                        </a:rPr>
                        <a:t>will</a:t>
                      </a:r>
                      <a:r>
                        <a:rPr kumimoji="0" lang="zh-CN" altLang="en-US" sz="1100" b="1" i="0" u="none" strike="noStrike" kern="1200" cap="none" spc="0" normalizeH="0" baseline="0">
                          <a:ln>
                            <a:noFill/>
                          </a:ln>
                          <a:solidFill>
                            <a:schemeClr val="bg2"/>
                          </a:solidFill>
                          <a:effectLst/>
                          <a:uLnTx/>
                          <a:uFillTx/>
                          <a:latin typeface="+mn-lt"/>
                          <a:ea typeface="+mn-ea"/>
                          <a:cs typeface="+mn-cs"/>
                        </a:rPr>
                        <a:t> </a:t>
                      </a:r>
                      <a:r>
                        <a:rPr kumimoji="0" lang="en-US" altLang="zh-CN" sz="1100" b="1" i="0" u="none" strike="noStrike" kern="1200" cap="none" spc="0" normalizeH="0" baseline="0">
                          <a:ln>
                            <a:noFill/>
                          </a:ln>
                          <a:solidFill>
                            <a:schemeClr val="bg2"/>
                          </a:solidFill>
                          <a:effectLst/>
                          <a:uLnTx/>
                          <a:uFillTx/>
                          <a:latin typeface="+mn-lt"/>
                          <a:ea typeface="+mn-ea"/>
                          <a:cs typeface="+mn-cs"/>
                        </a:rPr>
                        <a:t>be</a:t>
                      </a:r>
                      <a:r>
                        <a:rPr kumimoji="0" lang="zh-CN" altLang="en-US" sz="1100" b="1" i="0" u="none" strike="noStrike" kern="1200" cap="none" spc="0" normalizeH="0" baseline="0">
                          <a:ln>
                            <a:noFill/>
                          </a:ln>
                          <a:solidFill>
                            <a:schemeClr val="bg2"/>
                          </a:solidFill>
                          <a:effectLst/>
                          <a:uLnTx/>
                          <a:uFillTx/>
                          <a:latin typeface="+mn-lt"/>
                          <a:ea typeface="+mn-ea"/>
                          <a:cs typeface="+mn-cs"/>
                        </a:rPr>
                        <a:t> </a:t>
                      </a:r>
                      <a:r>
                        <a:rPr kumimoji="0" lang="en-US" altLang="zh-CN" sz="1100" b="1" i="0" u="none" strike="noStrike" kern="1200" cap="none" spc="0" normalizeH="0" baseline="0">
                          <a:ln>
                            <a:noFill/>
                          </a:ln>
                          <a:solidFill>
                            <a:schemeClr val="bg2"/>
                          </a:solidFill>
                          <a:effectLst/>
                          <a:uLnTx/>
                          <a:uFillTx/>
                          <a:latin typeface="+mn-lt"/>
                          <a:ea typeface="+mn-ea"/>
                          <a:cs typeface="+mn-cs"/>
                        </a:rPr>
                        <a:t>conducted</a:t>
                      </a:r>
                      <a:r>
                        <a:rPr kumimoji="0" lang="zh-CN" altLang="en-US" sz="1100" b="1" i="0" u="none" strike="noStrike" kern="1200" cap="none" spc="0" normalizeH="0" baseline="0">
                          <a:ln>
                            <a:noFill/>
                          </a:ln>
                          <a:solidFill>
                            <a:schemeClr val="bg2"/>
                          </a:solidFill>
                          <a:effectLst/>
                          <a:uLnTx/>
                          <a:uFillTx/>
                          <a:latin typeface="+mn-lt"/>
                          <a:ea typeface="+mn-ea"/>
                          <a:cs typeface="+mn-cs"/>
                        </a:rPr>
                        <a:t> </a:t>
                      </a:r>
                      <a:r>
                        <a:rPr kumimoji="0" lang="en-US" altLang="zh-CN" sz="1100" b="1" i="0" u="none" strike="noStrike" kern="1200" cap="none" spc="0" normalizeH="0" baseline="0">
                          <a:ln>
                            <a:noFill/>
                          </a:ln>
                          <a:solidFill>
                            <a:schemeClr val="bg2"/>
                          </a:solidFill>
                          <a:effectLst/>
                          <a:uLnTx/>
                          <a:uFillTx/>
                          <a:latin typeface="+mn-lt"/>
                          <a:ea typeface="+mn-ea"/>
                          <a:cs typeface="+mn-cs"/>
                        </a:rPr>
                        <a:t>in</a:t>
                      </a:r>
                      <a:r>
                        <a:rPr kumimoji="0" lang="zh-CN" altLang="en-US" sz="1100" b="1" i="0" u="none" strike="noStrike" kern="1200" cap="none" spc="0" normalizeH="0" baseline="0">
                          <a:ln>
                            <a:noFill/>
                          </a:ln>
                          <a:solidFill>
                            <a:schemeClr val="bg2"/>
                          </a:solidFill>
                          <a:effectLst/>
                          <a:uLnTx/>
                          <a:uFillTx/>
                          <a:latin typeface="+mn-lt"/>
                          <a:ea typeface="+mn-ea"/>
                          <a:cs typeface="+mn-cs"/>
                        </a:rPr>
                        <a:t> </a:t>
                      </a:r>
                      <a:r>
                        <a:rPr kumimoji="0" lang="en-US" altLang="zh-CN" sz="1100" b="1" i="0" u="none" strike="noStrike" kern="1200" cap="none" spc="0" normalizeH="0" baseline="0" err="1">
                          <a:ln>
                            <a:noFill/>
                          </a:ln>
                          <a:solidFill>
                            <a:schemeClr val="bg2"/>
                          </a:solidFill>
                          <a:effectLst/>
                          <a:uLnTx/>
                          <a:uFillTx/>
                          <a:latin typeface="+mn-lt"/>
                          <a:ea typeface="+mn-ea"/>
                          <a:cs typeface="+mn-cs"/>
                        </a:rPr>
                        <a:t>IFNopathy</a:t>
                      </a:r>
                      <a:r>
                        <a:rPr kumimoji="0" lang="zh-CN" altLang="en-US" sz="1100" b="1" i="0" u="none" strike="noStrike" kern="1200" cap="none" spc="0" normalizeH="0" baseline="0">
                          <a:ln>
                            <a:noFill/>
                          </a:ln>
                          <a:solidFill>
                            <a:schemeClr val="bg2"/>
                          </a:solidFill>
                          <a:effectLst/>
                          <a:uLnTx/>
                          <a:uFillTx/>
                          <a:latin typeface="+mn-lt"/>
                          <a:ea typeface="+mn-ea"/>
                          <a:cs typeface="+mn-cs"/>
                        </a:rPr>
                        <a:t> </a:t>
                      </a:r>
                      <a:r>
                        <a:rPr kumimoji="0" lang="en-US" altLang="zh-CN" sz="1100" b="1" i="0" u="none" strike="noStrike" kern="1200" cap="none" spc="0" normalizeH="0" baseline="0">
                          <a:ln>
                            <a:noFill/>
                          </a:ln>
                          <a:solidFill>
                            <a:schemeClr val="bg2"/>
                          </a:solidFill>
                          <a:effectLst/>
                          <a:uLnTx/>
                          <a:uFillTx/>
                          <a:latin typeface="+mn-lt"/>
                          <a:ea typeface="+mn-ea"/>
                          <a:cs typeface="+mn-cs"/>
                        </a:rPr>
                        <a:t>and SSc patients. </a:t>
                      </a:r>
                    </a:p>
                    <a:p>
                      <a:pPr marL="171450" indent="-171450">
                        <a:buFont typeface="Arial" panose="020B0604020202020204" pitchFamily="34" charset="0"/>
                        <a:buChar char="•"/>
                      </a:pPr>
                      <a:r>
                        <a:rPr kumimoji="0" lang="en-US" altLang="zh-CN" sz="1100" b="0" i="0" u="none" strike="noStrike" kern="1200" cap="none" spc="0" normalizeH="0" baseline="0">
                          <a:ln>
                            <a:noFill/>
                          </a:ln>
                          <a:solidFill>
                            <a:schemeClr val="bg2"/>
                          </a:solidFill>
                          <a:effectLst/>
                          <a:uLnTx/>
                          <a:uFillTx/>
                          <a:latin typeface="+mn-lt"/>
                          <a:ea typeface="+mn-ea"/>
                          <a:cs typeface="+mn-cs"/>
                        </a:rPr>
                        <a:t>April 8th: TALC endorsed to perform a Ph2 DRF in SLE subjects to support future ph3 study in SSc.</a:t>
                      </a:r>
                    </a:p>
                    <a:p>
                      <a:pPr marL="171450" indent="-171450">
                        <a:buFont typeface="Arial" panose="020B0604020202020204" pitchFamily="34" charset="0"/>
                        <a:buChar char="•"/>
                      </a:pPr>
                      <a:r>
                        <a:rPr kumimoji="0" lang="en-US" altLang="zh-CN" sz="1100" b="0" i="0" u="none" strike="noStrike" kern="1200" cap="none" spc="0" normalizeH="0" baseline="0">
                          <a:ln>
                            <a:noFill/>
                          </a:ln>
                          <a:solidFill>
                            <a:schemeClr val="bg2"/>
                          </a:solidFill>
                          <a:effectLst/>
                          <a:uLnTx/>
                          <a:uFillTx/>
                          <a:latin typeface="+mn-lt"/>
                          <a:ea typeface="+mn-ea"/>
                          <a:cs typeface="+mn-cs"/>
                        </a:rPr>
                        <a:t>As SLE is not a rare disease, and BI3000202 is a small molecule,  team made the evaluation that the feasibility for backload PK study is moderate to low. To save time, Japan team would like to perform the HAI in parallel with PK CTP generation (endorsed by JPN management on Apr 11th).</a:t>
                      </a:r>
                    </a:p>
                    <a:p>
                      <a:pPr marL="171450" indent="-171450">
                        <a:buFont typeface="Arial" panose="020B0604020202020204" pitchFamily="34" charset="0"/>
                        <a:buChar char="•"/>
                      </a:pPr>
                      <a:r>
                        <a:rPr kumimoji="0" lang="en-US" altLang="zh-CN" sz="1100" b="0" i="0" u="none" strike="noStrike" kern="1200" cap="none" spc="0" normalizeH="0" baseline="0">
                          <a:ln>
                            <a:noFill/>
                          </a:ln>
                          <a:solidFill>
                            <a:schemeClr val="bg2"/>
                          </a:solidFill>
                          <a:effectLst/>
                          <a:uLnTx/>
                          <a:uFillTx/>
                          <a:latin typeface="+mn-lt"/>
                          <a:ea typeface="+mn-ea"/>
                          <a:cs typeface="+mn-cs"/>
                        </a:rPr>
                        <a:t>China team presented the  early integration strategy and plan for the two ph2 studies (</a:t>
                      </a:r>
                      <a:r>
                        <a:rPr kumimoji="0" lang="en-US" altLang="zh-CN" sz="1100" b="0" i="0" u="none" strike="noStrike" kern="1200" cap="none" spc="0" normalizeH="0" baseline="0" err="1">
                          <a:ln>
                            <a:noFill/>
                          </a:ln>
                          <a:solidFill>
                            <a:schemeClr val="bg2"/>
                          </a:solidFill>
                          <a:effectLst/>
                          <a:uLnTx/>
                          <a:uFillTx/>
                          <a:latin typeface="+mn-lt"/>
                          <a:ea typeface="+mn-ea"/>
                          <a:cs typeface="+mn-cs"/>
                        </a:rPr>
                        <a:t>IFNopathy</a:t>
                      </a:r>
                      <a:r>
                        <a:rPr kumimoji="0" lang="en-US" altLang="zh-CN" sz="1100" b="0" i="0" u="none" strike="noStrike" kern="1200" cap="none" spc="0" normalizeH="0" baseline="0">
                          <a:ln>
                            <a:noFill/>
                          </a:ln>
                          <a:solidFill>
                            <a:schemeClr val="bg2"/>
                          </a:solidFill>
                          <a:effectLst/>
                          <a:uLnTx/>
                          <a:uFillTx/>
                          <a:latin typeface="+mn-lt"/>
                          <a:ea typeface="+mn-ea"/>
                          <a:cs typeface="+mn-cs"/>
                        </a:rPr>
                        <a:t> and SLE).</a:t>
                      </a:r>
                    </a:p>
                  </a:txBody>
                  <a:tcPr marL="144000" marR="144000" marT="54000" marB="54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a:ln>
                          <a:noFill/>
                        </a:ln>
                        <a:solidFill>
                          <a:schemeClr val="bg2"/>
                        </a:solidFill>
                        <a:effectLst/>
                        <a:uLnTx/>
                        <a:uFillTx/>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a:ln>
                            <a:noFill/>
                          </a:ln>
                          <a:solidFill>
                            <a:schemeClr val="bg2"/>
                          </a:solidFill>
                          <a:effectLst/>
                          <a:uLnTx/>
                          <a:uFillTx/>
                          <a:latin typeface="+mn-lt"/>
                          <a:ea typeface="+mn-ea"/>
                          <a:cs typeface="+mn-cs"/>
                        </a:rPr>
                        <a:t>CEC endorsed </a:t>
                      </a:r>
                      <a:r>
                        <a:rPr kumimoji="0" lang="en-US" sz="1100" b="1" i="0" u="none" strike="noStrike" kern="1200" cap="none" spc="0" normalizeH="0" baseline="0">
                          <a:ln>
                            <a:noFill/>
                          </a:ln>
                          <a:solidFill>
                            <a:schemeClr val="bg2"/>
                          </a:solidFill>
                          <a:effectLst/>
                          <a:uLnTx/>
                          <a:uFillTx/>
                          <a:latin typeface="+mn-lt"/>
                          <a:ea typeface="+mn-ea"/>
                          <a:cs typeface="+mn-cs"/>
                        </a:rPr>
                        <a:t>CDE interaction plan for the ph2 studies of </a:t>
                      </a:r>
                      <a:r>
                        <a:rPr kumimoji="0" lang="en-US" altLang="zh-CN" sz="1100" b="1" i="0" u="none" strike="noStrike" kern="1200" cap="none" spc="0" normalizeH="0" baseline="0">
                          <a:ln>
                            <a:noFill/>
                          </a:ln>
                          <a:solidFill>
                            <a:schemeClr val="bg2"/>
                          </a:solidFill>
                          <a:effectLst/>
                          <a:uLnTx/>
                          <a:uFillTx/>
                          <a:latin typeface="+mn-lt"/>
                          <a:ea typeface="+mn-ea"/>
                          <a:cs typeface="+mn-cs"/>
                        </a:rPr>
                        <a:t>IFNopathy and </a:t>
                      </a:r>
                      <a:r>
                        <a:rPr kumimoji="0" lang="en-US" sz="1100" b="1" i="0" u="none" strike="noStrike" kern="1200" cap="none" spc="0" normalizeH="0" baseline="0">
                          <a:ln>
                            <a:noFill/>
                          </a:ln>
                          <a:solidFill>
                            <a:schemeClr val="bg2"/>
                          </a:solidFill>
                          <a:effectLst/>
                          <a:uLnTx/>
                          <a:uFillTx/>
                          <a:latin typeface="+mn-lt"/>
                          <a:ea typeface="+mn-ea"/>
                          <a:cs typeface="+mn-cs"/>
                        </a:rPr>
                        <a:t> SLE</a:t>
                      </a:r>
                      <a:r>
                        <a:rPr kumimoji="0" lang="en-US" sz="1100" b="0" i="0" u="none" strike="noStrike" kern="1200" cap="none" spc="0" normalizeH="0" baseline="0">
                          <a:ln>
                            <a:noFill/>
                          </a:ln>
                          <a:solidFill>
                            <a:schemeClr val="bg2"/>
                          </a:solidFill>
                          <a:effectLst/>
                          <a:uLnTx/>
                          <a:uFillTx/>
                          <a:latin typeface="+mn-lt"/>
                          <a:ea typeface="+mn-ea"/>
                          <a:cs typeface="+mn-cs"/>
                        </a:rPr>
                        <a:t> in Apr’s CEC meeting.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a:ln>
                            <a:noFill/>
                          </a:ln>
                          <a:solidFill>
                            <a:schemeClr val="bg2"/>
                          </a:solidFill>
                          <a:effectLst/>
                          <a:uLnTx/>
                          <a:uFillTx/>
                          <a:latin typeface="+mn-lt"/>
                          <a:ea typeface="+mn-ea"/>
                          <a:cs typeface="+mn-cs"/>
                        </a:rPr>
                        <a:t>CEC endorsed the </a:t>
                      </a:r>
                      <a:r>
                        <a:rPr kumimoji="0" lang="en-US" sz="1100" b="1" i="0" u="none" strike="noStrike" kern="1200" cap="none" spc="0" normalizeH="0" baseline="0">
                          <a:ln>
                            <a:noFill/>
                          </a:ln>
                          <a:solidFill>
                            <a:schemeClr val="bg2"/>
                          </a:solidFill>
                          <a:effectLst/>
                          <a:uLnTx/>
                          <a:uFillTx/>
                          <a:latin typeface="+mn-lt"/>
                          <a:ea typeface="+mn-ea"/>
                          <a:cs typeface="+mn-cs"/>
                        </a:rPr>
                        <a:t>integration plan of IFNopathy </a:t>
                      </a:r>
                      <a:r>
                        <a:rPr kumimoji="0" lang="en-US" sz="1100" b="0" i="0" u="none" strike="noStrike" kern="1200" cap="none" spc="0" normalizeH="0" baseline="0">
                          <a:ln>
                            <a:noFill/>
                          </a:ln>
                          <a:solidFill>
                            <a:schemeClr val="bg2"/>
                          </a:solidFill>
                          <a:effectLst/>
                          <a:uLnTx/>
                          <a:uFillTx/>
                          <a:latin typeface="+mn-lt"/>
                          <a:ea typeface="+mn-ea"/>
                          <a:cs typeface="+mn-cs"/>
                        </a:rPr>
                        <a:t>in Apr’s CEC meeting.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a:ln>
                            <a:noFill/>
                          </a:ln>
                          <a:solidFill>
                            <a:schemeClr val="bg2"/>
                          </a:solidFill>
                          <a:effectLst/>
                          <a:uLnTx/>
                          <a:uFillTx/>
                          <a:latin typeface="+mn-lt"/>
                          <a:ea typeface="+mn-ea"/>
                          <a:cs typeface="+mn-cs"/>
                        </a:rPr>
                        <a:t>CEC endorsed the </a:t>
                      </a:r>
                      <a:r>
                        <a:rPr kumimoji="0" lang="en-US" sz="1100" b="1" i="0" u="none" strike="noStrike" kern="1200" cap="none" spc="0" normalizeH="0" baseline="0">
                          <a:ln>
                            <a:noFill/>
                          </a:ln>
                          <a:solidFill>
                            <a:schemeClr val="bg2"/>
                          </a:solidFill>
                          <a:effectLst/>
                          <a:uLnTx/>
                          <a:uFillTx/>
                          <a:latin typeface="+mn-lt"/>
                          <a:ea typeface="+mn-ea"/>
                          <a:cs typeface="+mn-cs"/>
                        </a:rPr>
                        <a:t>early PK strategy and integration plan for SLE ph2 study </a:t>
                      </a:r>
                      <a:r>
                        <a:rPr kumimoji="0" lang="en-US" sz="1100" b="0" i="0" u="none" strike="noStrike" kern="1200" cap="none" spc="0" normalizeH="0" baseline="0">
                          <a:ln>
                            <a:noFill/>
                          </a:ln>
                          <a:solidFill>
                            <a:schemeClr val="bg2"/>
                          </a:solidFill>
                          <a:effectLst/>
                          <a:uLnTx/>
                          <a:uFillTx/>
                          <a:latin typeface="+mn-lt"/>
                          <a:ea typeface="+mn-ea"/>
                          <a:cs typeface="+mn-cs"/>
                        </a:rPr>
                        <a:t>in May’s CEC meeting.</a:t>
                      </a:r>
                    </a:p>
                  </a:txBody>
                  <a:tcPr marL="114300" marR="11430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algn="l"/>
                      <a:endParaRPr kumimoji="0" lang="en-US" sz="1100" b="0" i="0" u="none" strike="noStrike" kern="1200" cap="none" spc="0" normalizeH="0" baseline="0">
                        <a:ln>
                          <a:noFill/>
                        </a:ln>
                        <a:solidFill>
                          <a:schemeClr val="bg2"/>
                        </a:solidFill>
                        <a:effectLst/>
                        <a:uLnTx/>
                        <a:uFillTx/>
                        <a:latin typeface="+mn-lt"/>
                        <a:ea typeface="+mn-ea"/>
                        <a:cs typeface="+mn-cs"/>
                      </a:endParaRPr>
                    </a:p>
                    <a:p>
                      <a:pPr algn="l"/>
                      <a:r>
                        <a:rPr kumimoji="0" lang="en-US" sz="1100" b="0" i="0" u="none" strike="noStrike" kern="1200" cap="none" spc="0" normalizeH="0" baseline="0">
                          <a:ln>
                            <a:noFill/>
                          </a:ln>
                          <a:solidFill>
                            <a:schemeClr val="bg2"/>
                          </a:solidFill>
                          <a:effectLst/>
                          <a:uLnTx/>
                          <a:uFillTx/>
                          <a:latin typeface="+mn-lt"/>
                          <a:ea typeface="+mn-ea"/>
                          <a:cs typeface="+mn-cs"/>
                        </a:rPr>
                        <a:t>Communicate with global team on the integration plan of the asset.</a:t>
                      </a:r>
                    </a:p>
                  </a:txBody>
                  <a:tcPr marL="114300" marR="11430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945372541"/>
                  </a:ext>
                </a:extLst>
              </a:tr>
              <a:tr h="1432869">
                <a:tc>
                  <a:txBody>
                    <a:bodyPr/>
                    <a:lstStyle/>
                    <a:p>
                      <a:pPr marL="0" algn="l" defTabSz="914377" rtl="0" eaLnBrk="1" latinLnBrk="0" hangingPunct="1"/>
                      <a:r>
                        <a:rPr kumimoji="0" lang="en-US" altLang="zh-CN" sz="1100" b="0" i="0" u="none" strike="noStrike" kern="1200" cap="none" spc="0" normalizeH="0" baseline="0">
                          <a:ln>
                            <a:noFill/>
                          </a:ln>
                          <a:solidFill>
                            <a:schemeClr val="bg2"/>
                          </a:solidFill>
                          <a:effectLst/>
                          <a:uLnTx/>
                          <a:uFillTx/>
                          <a:latin typeface="+mn-lt"/>
                          <a:ea typeface="+mn-ea"/>
                          <a:cs typeface="+mn-cs"/>
                        </a:rPr>
                        <a:t>China integration plan and HAI for Nerandomilast in </a:t>
                      </a:r>
                      <a:r>
                        <a:rPr kumimoji="0" lang="en-US" altLang="zh-CN" sz="1100" b="0" i="0" u="none" strike="noStrike" kern="1200" cap="none" spc="0" normalizeH="0" baseline="0" err="1">
                          <a:ln>
                            <a:noFill/>
                          </a:ln>
                          <a:solidFill>
                            <a:schemeClr val="bg2"/>
                          </a:solidFill>
                          <a:effectLst/>
                          <a:uLnTx/>
                          <a:uFillTx/>
                          <a:latin typeface="+mn-lt"/>
                          <a:ea typeface="+mn-ea"/>
                          <a:cs typeface="+mn-cs"/>
                        </a:rPr>
                        <a:t>chILD</a:t>
                      </a:r>
                      <a:r>
                        <a:rPr kumimoji="0" lang="en-US" altLang="zh-CN" sz="1100" b="0" i="0" u="none" strike="noStrike" kern="1200" cap="none" spc="0" normalizeH="0" baseline="0">
                          <a:ln>
                            <a:noFill/>
                          </a:ln>
                          <a:solidFill>
                            <a:schemeClr val="bg2"/>
                          </a:solidFill>
                          <a:effectLst/>
                          <a:uLnTx/>
                          <a:uFillTx/>
                          <a:latin typeface="+mn-lt"/>
                          <a:ea typeface="+mn-ea"/>
                          <a:cs typeface="+mn-cs"/>
                        </a:rPr>
                        <a:t> (1305-0022, ph3) - for endorsement</a:t>
                      </a:r>
                      <a:endParaRPr kumimoji="0" lang="en-US" sz="1100" b="0" i="0" u="none" strike="noStrike" kern="1200" cap="none" spc="0" normalizeH="0" baseline="0">
                        <a:ln>
                          <a:noFill/>
                        </a:ln>
                        <a:solidFill>
                          <a:schemeClr val="bg2"/>
                        </a:solidFill>
                        <a:effectLst/>
                        <a:uLnTx/>
                        <a:uFillTx/>
                        <a:latin typeface="+mn-lt"/>
                        <a:ea typeface="+mn-ea"/>
                        <a:cs typeface="+mn-cs"/>
                      </a:endParaRPr>
                    </a:p>
                  </a:txBody>
                  <a:tcPr marL="114300" marR="114300"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100" b="0" i="0" u="none" strike="noStrike" kern="1200" cap="none" spc="0" normalizeH="0" baseline="0">
                          <a:ln>
                            <a:noFill/>
                          </a:ln>
                          <a:solidFill>
                            <a:schemeClr val="bg2"/>
                          </a:solidFill>
                          <a:effectLst/>
                          <a:uLnTx/>
                          <a:uFillTx/>
                          <a:latin typeface="+mn-lt"/>
                          <a:ea typeface="+mn-ea"/>
                          <a:cs typeface="+mn-cs"/>
                        </a:rPr>
                        <a:t>Unmet Needs in </a:t>
                      </a:r>
                      <a:r>
                        <a:rPr kumimoji="0" lang="en-US" altLang="zh-CN" sz="1100" b="0" i="0" u="none" strike="noStrike" kern="1200" cap="none" spc="0" normalizeH="0" baseline="0" err="1">
                          <a:ln>
                            <a:noFill/>
                          </a:ln>
                          <a:solidFill>
                            <a:schemeClr val="bg2"/>
                          </a:solidFill>
                          <a:effectLst/>
                          <a:uLnTx/>
                          <a:uFillTx/>
                          <a:latin typeface="+mn-lt"/>
                          <a:ea typeface="+mn-ea"/>
                          <a:cs typeface="+mn-cs"/>
                        </a:rPr>
                        <a:t>chILD</a:t>
                      </a:r>
                      <a:r>
                        <a:rPr kumimoji="0" lang="en-US" altLang="zh-CN" sz="1100" b="0" i="0" u="none" strike="noStrike" kern="1200" cap="none" spc="0" normalizeH="0" baseline="0">
                          <a:ln>
                            <a:noFill/>
                          </a:ln>
                          <a:solidFill>
                            <a:schemeClr val="bg2"/>
                          </a:solidFill>
                          <a:effectLst/>
                          <a:uLnTx/>
                          <a:uFillTx/>
                          <a:latin typeface="+mn-lt"/>
                          <a:ea typeface="+mn-ea"/>
                          <a:cs typeface="+mn-cs"/>
                        </a:rPr>
                        <a:t>: Complex and heterogeneous spectrum of rare respiratory disorders. No approved therapies for fibrosing ILD in children in China.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100" b="0" i="0" u="none" strike="noStrike" kern="1200" cap="none" spc="0" normalizeH="0" baseline="0">
                          <a:ln>
                            <a:noFill/>
                          </a:ln>
                          <a:solidFill>
                            <a:schemeClr val="bg2"/>
                          </a:solidFill>
                          <a:effectLst/>
                          <a:uLnTx/>
                          <a:uFillTx/>
                          <a:latin typeface="+mn-lt"/>
                          <a:ea typeface="+mn-ea"/>
                          <a:cs typeface="+mn-cs"/>
                        </a:rPr>
                        <a:t>According to preliminary site feedback, significant challenges for China in recruiting patients due to limited patient pool, complex study procedures, and potential poor adherence to minitablets.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100" b="0" i="0" u="none" strike="noStrike" kern="1200" cap="none" spc="0" normalizeH="0" baseline="0">
                          <a:ln>
                            <a:noFill/>
                          </a:ln>
                          <a:solidFill>
                            <a:schemeClr val="bg2"/>
                          </a:solidFill>
                          <a:effectLst/>
                          <a:uLnTx/>
                          <a:uFillTx/>
                          <a:latin typeface="+mn-lt"/>
                          <a:ea typeface="+mn-ea"/>
                          <a:cs typeface="+mn-cs"/>
                        </a:rPr>
                        <a:t>The proposed China sample size is at least 1 CN patients from 5 sites in 21-month recruitment window.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100" b="0" i="0" u="none" strike="noStrike" kern="1200" cap="none" spc="0" normalizeH="0" baseline="0">
                          <a:ln>
                            <a:noFill/>
                          </a:ln>
                          <a:solidFill>
                            <a:schemeClr val="bg2"/>
                          </a:solidFill>
                          <a:effectLst/>
                          <a:uLnTx/>
                          <a:uFillTx/>
                          <a:latin typeface="+mn-lt"/>
                          <a:ea typeface="+mn-ea"/>
                          <a:cs typeface="+mn-cs"/>
                        </a:rPr>
                        <a:t>HAI prior CTA was recommended by CDE regarding CN integration plan and minimum sample size.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100" b="0" i="0" u="none" strike="noStrike" kern="1200" cap="none" spc="0" normalizeH="0" baseline="0">
                          <a:ln>
                            <a:noFill/>
                          </a:ln>
                          <a:solidFill>
                            <a:schemeClr val="bg2"/>
                          </a:solidFill>
                          <a:effectLst/>
                          <a:uLnTx/>
                          <a:uFillTx/>
                          <a:latin typeface="+mn-lt"/>
                          <a:ea typeface="+mn-ea"/>
                          <a:cs typeface="+mn-cs"/>
                        </a:rPr>
                        <a:t>Local AT has reached an agreement on the overall China integration strategy. Given the extremely small patient pool in China, the commercial launch of </a:t>
                      </a:r>
                      <a:r>
                        <a:rPr kumimoji="0" lang="en-US" altLang="zh-CN" sz="1100" b="0" i="0" u="none" strike="noStrike" kern="1200" cap="none" spc="0" normalizeH="0" baseline="0" err="1">
                          <a:ln>
                            <a:noFill/>
                          </a:ln>
                          <a:solidFill>
                            <a:schemeClr val="bg2"/>
                          </a:solidFill>
                          <a:effectLst/>
                          <a:uLnTx/>
                          <a:uFillTx/>
                          <a:latin typeface="+mn-lt"/>
                          <a:ea typeface="+mn-ea"/>
                          <a:cs typeface="+mn-cs"/>
                        </a:rPr>
                        <a:t>chILD</a:t>
                      </a:r>
                      <a:r>
                        <a:rPr kumimoji="0" lang="en-US" altLang="zh-CN" sz="1100" b="0" i="0" u="none" strike="noStrike" kern="1200" cap="none" spc="0" normalizeH="0" baseline="0">
                          <a:ln>
                            <a:noFill/>
                          </a:ln>
                          <a:solidFill>
                            <a:schemeClr val="bg2"/>
                          </a:solidFill>
                          <a:effectLst/>
                          <a:uLnTx/>
                          <a:uFillTx/>
                          <a:latin typeface="+mn-lt"/>
                          <a:ea typeface="+mn-ea"/>
                          <a:cs typeface="+mn-cs"/>
                        </a:rPr>
                        <a:t> indications will be further evaluated after gaining a better understanding of the market.</a:t>
                      </a:r>
                    </a:p>
                  </a:txBody>
                  <a:tcPr marL="144145" marR="144145" marT="53975" marB="5397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a:ln>
                            <a:noFill/>
                          </a:ln>
                          <a:solidFill>
                            <a:schemeClr val="bg2"/>
                          </a:solidFill>
                          <a:effectLst/>
                          <a:uLnTx/>
                          <a:uFillTx/>
                          <a:latin typeface="+mn-lt"/>
                          <a:ea typeface="+mn-ea"/>
                          <a:cs typeface="+mn-cs"/>
                        </a:rPr>
                        <a:t>CEC endorsed that China synchronously joins the clinical development of Nerandomilast in chILD.</a:t>
                      </a:r>
                      <a:endParaRPr kumimoji="0" lang="zh-CN" altLang="en-US" sz="1100" b="0" i="0" u="none" strike="noStrike" kern="1200" cap="none" spc="0" normalizeH="0" baseline="0">
                        <a:ln>
                          <a:noFill/>
                        </a:ln>
                        <a:solidFill>
                          <a:schemeClr val="bg2"/>
                        </a:solidFill>
                        <a:effectLst/>
                        <a:uLnTx/>
                        <a:uFillTx/>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a:ln>
                            <a:noFill/>
                          </a:ln>
                          <a:solidFill>
                            <a:schemeClr val="bg2"/>
                          </a:solidFill>
                          <a:effectLst/>
                          <a:uLnTx/>
                          <a:uFillTx/>
                          <a:latin typeface="+mn-lt"/>
                          <a:ea typeface="+mn-ea"/>
                          <a:cs typeface="+mn-cs"/>
                        </a:rPr>
                        <a:t>CEC endorsed China HAI timeline (meeting request submitted in May) and the question list:</a:t>
                      </a:r>
                      <a:endParaRPr kumimoji="0" lang="zh-CN" altLang="en-US" sz="1100" b="0" i="0" u="none" strike="noStrike" kern="1200" cap="none" spc="0" normalizeH="0" baseline="0">
                        <a:ln>
                          <a:noFill/>
                        </a:ln>
                        <a:solidFill>
                          <a:schemeClr val="bg2"/>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a:ln>
                            <a:noFill/>
                          </a:ln>
                          <a:solidFill>
                            <a:schemeClr val="bg2"/>
                          </a:solidFill>
                          <a:effectLst/>
                          <a:uLnTx/>
                          <a:uFillTx/>
                          <a:latin typeface="+mn-lt"/>
                          <a:ea typeface="+mn-ea"/>
                          <a:cs typeface="+mn-cs"/>
                        </a:rPr>
                        <a:t>    1) Does CDE agree that the current available non-clinical and clinical data supports China join the global pediatric trial 1305-0022?</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100" b="0" i="0" u="none" strike="noStrike" kern="1200" cap="none" spc="0" normalizeH="0" baseline="0">
                          <a:ln>
                            <a:noFill/>
                          </a:ln>
                          <a:solidFill>
                            <a:schemeClr val="bg2"/>
                          </a:solidFill>
                          <a:effectLst/>
                          <a:uLnTx/>
                          <a:uFillTx/>
                          <a:latin typeface="+mn-lt"/>
                          <a:ea typeface="+mn-ea"/>
                          <a:cs typeface="+mn-cs"/>
                        </a:rPr>
                        <a:t>    2) Does CDE agree with the minimum sample size for Chinese pediatric subjects?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100" b="0" i="0" u="none" strike="noStrike" kern="1200" cap="none" spc="0" normalizeH="0" baseline="0">
                          <a:ln>
                            <a:noFill/>
                          </a:ln>
                          <a:solidFill>
                            <a:schemeClr val="bg2"/>
                          </a:solidFill>
                          <a:effectLst/>
                          <a:uLnTx/>
                          <a:uFillTx/>
                          <a:latin typeface="+mn-lt"/>
                          <a:ea typeface="+mn-ea"/>
                          <a:cs typeface="+mn-cs"/>
                        </a:rPr>
                        <a:t>Information update after CEC meeting: US HAI meeting request with FDA was denied due to lack of resources in FDA, HAI will be delayed for at least 6 months. As the TDO is expected to be completed by the end of June, the China HAI has been postponed, and the meeting request will be submitted when global core content is ready.</a:t>
                      </a:r>
                      <a:endParaRPr kumimoji="0" lang="zh-CN" altLang="en-US" sz="1100" b="0" i="0" u="none" strike="noStrike" kern="1200" cap="none" spc="0" normalizeH="0" baseline="0">
                        <a:ln>
                          <a:noFill/>
                        </a:ln>
                        <a:solidFill>
                          <a:schemeClr val="bg2"/>
                        </a:solidFill>
                        <a:effectLst/>
                        <a:uLnTx/>
                        <a:uFillTx/>
                        <a:latin typeface="+mn-lt"/>
                        <a:ea typeface="+mn-ea"/>
                        <a:cs typeface="+mn-cs"/>
                      </a:endParaRPr>
                    </a:p>
                  </a:txBody>
                  <a:tcPr marL="114300" marR="11430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tc>
                  <a:txBody>
                    <a:bodyPr/>
                    <a:lstStyle/>
                    <a:p>
                      <a:pPr marL="0" lvl="0" indent="0">
                        <a:buFont typeface="Arial" panose="020B0604020202020204" pitchFamily="34" charset="0"/>
                        <a:buNone/>
                        <a:tabLst>
                          <a:tab pos="457200" algn="l"/>
                        </a:tabLst>
                      </a:pPr>
                      <a:r>
                        <a:rPr kumimoji="0" lang="en-US" sz="1100" b="0" i="0" u="none" strike="noStrike" kern="1200" cap="none" spc="0" normalizeH="0" baseline="0">
                          <a:ln>
                            <a:noFill/>
                          </a:ln>
                          <a:solidFill>
                            <a:schemeClr val="bg2"/>
                          </a:solidFill>
                          <a:effectLst/>
                          <a:uLnTx/>
                          <a:uFillTx/>
                          <a:latin typeface="+mn-lt"/>
                          <a:ea typeface="+mn-ea"/>
                          <a:cs typeface="+mn-cs"/>
                        </a:rPr>
                        <a:t>China HAI meeting request submission </a:t>
                      </a:r>
                      <a:r>
                        <a:rPr kumimoji="0" lang="en-US" altLang="zh-CN" sz="1100" b="0" i="0" u="none" strike="noStrike" kern="1200" cap="none" spc="0" normalizeH="0" baseline="0">
                          <a:ln>
                            <a:noFill/>
                          </a:ln>
                          <a:solidFill>
                            <a:schemeClr val="bg2"/>
                          </a:solidFill>
                          <a:effectLst/>
                          <a:uLnTx/>
                          <a:uFillTx/>
                          <a:latin typeface="+mn-lt"/>
                          <a:ea typeface="+mn-ea"/>
                          <a:cs typeface="+mn-cs"/>
                        </a:rPr>
                        <a:t>when global core content is ready.</a:t>
                      </a:r>
                      <a:endParaRPr kumimoji="0" lang="en-US" sz="1100" b="0" i="0" u="none" strike="noStrike" kern="1200" cap="none" spc="0" normalizeH="0" baseline="0">
                        <a:ln>
                          <a:noFill/>
                        </a:ln>
                        <a:solidFill>
                          <a:schemeClr val="bg2"/>
                        </a:solidFill>
                        <a:effectLst/>
                        <a:uLnTx/>
                        <a:uFillTx/>
                        <a:latin typeface="+mn-lt"/>
                        <a:ea typeface="+mn-ea"/>
                        <a:cs typeface="+mn-cs"/>
                      </a:endParaRPr>
                    </a:p>
                  </a:txBody>
                  <a:tcPr marL="144145" marR="144145" marT="53975" marB="53975">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5F3"/>
                    </a:solidFill>
                  </a:tcPr>
                </a:tc>
                <a:extLst>
                  <a:ext uri="{0D108BD9-81ED-4DB2-BD59-A6C34878D82A}">
                    <a16:rowId xmlns:a16="http://schemas.microsoft.com/office/drawing/2014/main" val="2380380151"/>
                  </a:ext>
                </a:extLst>
              </a:tr>
            </a:tbl>
          </a:graphicData>
        </a:graphic>
      </p:graphicFrame>
    </p:spTree>
    <p:extLst>
      <p:ext uri="{BB962C8B-B14F-4D97-AF65-F5344CB8AC3E}">
        <p14:creationId xmlns:p14="http://schemas.microsoft.com/office/powerpoint/2010/main" val="482933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B23D5-5751-EEED-5659-9E2A4F368BEE}"/>
              </a:ext>
            </a:extLst>
          </p:cNvPr>
          <p:cNvSpPr>
            <a:spLocks noGrp="1"/>
          </p:cNvSpPr>
          <p:nvPr>
            <p:ph type="title"/>
          </p:nvPr>
        </p:nvSpPr>
        <p:spPr>
          <a:xfrm>
            <a:off x="479423" y="213862"/>
            <a:ext cx="11233151" cy="720000"/>
          </a:xfrm>
        </p:spPr>
        <p:txBody>
          <a:bodyPr/>
          <a:lstStyle/>
          <a:p>
            <a:r>
              <a:rPr lang="en-US" altLang="zh-CN"/>
              <a:t>TA Key Update (</a:t>
            </a:r>
            <a:r>
              <a:rPr lang="en-US" altLang="zh-CN" b="0" i="1"/>
              <a:t>non-portfolio</a:t>
            </a:r>
            <a:r>
              <a:rPr lang="en-US" altLang="zh-CN"/>
              <a:t>)</a:t>
            </a:r>
            <a:endParaRPr lang="zh-CN" altLang="en-US" b="0"/>
          </a:p>
        </p:txBody>
      </p:sp>
      <p:sp>
        <p:nvSpPr>
          <p:cNvPr id="8" name="文本占位符 7">
            <a:extLst>
              <a:ext uri="{FF2B5EF4-FFF2-40B4-BE49-F238E27FC236}">
                <a16:creationId xmlns:a16="http://schemas.microsoft.com/office/drawing/2014/main" id="{8DD530DC-D2B0-3D4D-B53D-1E713E3CD7A1}"/>
              </a:ext>
            </a:extLst>
          </p:cNvPr>
          <p:cNvSpPr>
            <a:spLocks noGrp="1"/>
          </p:cNvSpPr>
          <p:nvPr>
            <p:ph type="body" sz="quarter" idx="15"/>
          </p:nvPr>
        </p:nvSpPr>
        <p:spPr>
          <a:xfrm>
            <a:off x="335441" y="933862"/>
            <a:ext cx="11233151" cy="5866115"/>
          </a:xfrm>
          <a:solidFill>
            <a:schemeClr val="bg1"/>
          </a:solidFill>
        </p:spPr>
        <p:txBody>
          <a:bodyPr vert="horz" lIns="0" tIns="0" rIns="0" bIns="0" rtlCol="0" anchor="t">
            <a:noAutofit/>
          </a:bodyPr>
          <a:lstStyle/>
          <a:p>
            <a:pPr marL="539406" lvl="1" indent="-359410">
              <a:lnSpc>
                <a:spcPct val="100000"/>
              </a:lnSpc>
              <a:spcBef>
                <a:spcPts val="600"/>
              </a:spcBef>
              <a:spcAft>
                <a:spcPts val="0"/>
              </a:spcAft>
              <a:buFont typeface="Wingdings" panose="05000000000000000000" pitchFamily="2" charset="2"/>
              <a:buChar char="Ø"/>
            </a:pPr>
            <a:r>
              <a:rPr lang="en-US" altLang="zh-CN" sz="1200"/>
              <a:t>PF</a:t>
            </a:r>
          </a:p>
          <a:p>
            <a:pPr marL="756000" lvl="5" indent="-359410">
              <a:lnSpc>
                <a:spcPct val="100000"/>
              </a:lnSpc>
              <a:spcBef>
                <a:spcPts val="600"/>
              </a:spcBef>
              <a:spcAft>
                <a:spcPts val="0"/>
              </a:spcAft>
            </a:pPr>
            <a:r>
              <a:rPr lang="en-US" altLang="zh-CN" sz="1200"/>
              <a:t>5 RAB meetings have been held successfully in April to collect KEE feedback on data of FIBRONEER IPF results and treatment strategy based on </a:t>
            </a:r>
            <a:r>
              <a:rPr lang="en-US" altLang="zh-CN" sz="1200" err="1"/>
              <a:t>PhIII</a:t>
            </a:r>
            <a:r>
              <a:rPr lang="en-US" altLang="zh-CN" sz="1200"/>
              <a:t> data. ~60 KEEs were consulted.</a:t>
            </a:r>
          </a:p>
          <a:p>
            <a:pPr marL="756000" lvl="5" indent="-359410">
              <a:lnSpc>
                <a:spcPct val="100000"/>
              </a:lnSpc>
              <a:spcBef>
                <a:spcPts val="600"/>
              </a:spcBef>
              <a:spcAft>
                <a:spcPts val="0"/>
              </a:spcAft>
            </a:pPr>
            <a:r>
              <a:rPr lang="en-US" altLang="zh-CN" sz="1200"/>
              <a:t>1 TTT and 1 Sponsorship were executed to emphasize the  value of early diagnosis and early treatment of IPF/PPF for patients,  258 HCPs were covered. </a:t>
            </a:r>
          </a:p>
          <a:p>
            <a:pPr marL="756000" lvl="5" indent="-359410">
              <a:lnSpc>
                <a:spcPct val="100000"/>
              </a:lnSpc>
              <a:spcBef>
                <a:spcPts val="600"/>
              </a:spcBef>
              <a:spcAft>
                <a:spcPts val="0"/>
              </a:spcAft>
            </a:pPr>
            <a:r>
              <a:rPr lang="en-US" altLang="zh-CN" sz="1200" err="1"/>
              <a:t>Fibroneer</a:t>
            </a:r>
            <a:r>
              <a:rPr lang="en-US" altLang="zh-CN" sz="1200"/>
              <a:t>-IPF DBL2 &amp; </a:t>
            </a:r>
            <a:r>
              <a:rPr lang="en-US" altLang="zh-CN" sz="1200" err="1"/>
              <a:t>Fibroneer</a:t>
            </a:r>
            <a:r>
              <a:rPr lang="en-US" altLang="zh-CN" sz="1200"/>
              <a:t>-ILD medical foundation training has been successfully held on 7th May, near 60 medical and cross-functional colleagues joined the training .</a:t>
            </a:r>
          </a:p>
          <a:p>
            <a:pPr marL="756000" lvl="5" indent="-359410">
              <a:lnSpc>
                <a:spcPct val="100000"/>
              </a:lnSpc>
              <a:spcBef>
                <a:spcPts val="600"/>
              </a:spcBef>
              <a:spcAft>
                <a:spcPts val="0"/>
              </a:spcAft>
            </a:pPr>
            <a:r>
              <a:rPr lang="en-US" altLang="zh-CN" sz="1200"/>
              <a:t>IPF-patient survey(ECR 1199.0562), phase 1 CTR was completed by investigator and under BI internal view.</a:t>
            </a:r>
          </a:p>
          <a:p>
            <a:pPr marL="756000" lvl="5" indent="-359410">
              <a:lnSpc>
                <a:spcPct val="100000"/>
              </a:lnSpc>
              <a:spcBef>
                <a:spcPts val="600"/>
              </a:spcBef>
              <a:spcAft>
                <a:spcPts val="0"/>
              </a:spcAft>
            </a:pPr>
            <a:r>
              <a:rPr lang="en-US" altLang="zh-CN" sz="1200"/>
              <a:t>ILD EPI study(ECR_ 1305-0111) protocol was finalized in Apr.</a:t>
            </a:r>
          </a:p>
          <a:p>
            <a:pPr marL="756000" lvl="5" indent="-359410">
              <a:lnSpc>
                <a:spcPct val="100000"/>
              </a:lnSpc>
              <a:spcBef>
                <a:spcPts val="600"/>
              </a:spcBef>
              <a:spcAft>
                <a:spcPts val="0"/>
              </a:spcAft>
            </a:pPr>
            <a:r>
              <a:rPr lang="en-US" altLang="zh-CN" sz="1200"/>
              <a:t>1 MTA of </a:t>
            </a:r>
            <a:r>
              <a:rPr lang="en-US" altLang="zh-CN" sz="1200" err="1"/>
              <a:t>nera</a:t>
            </a:r>
            <a:r>
              <a:rPr lang="en-US" altLang="zh-CN" sz="1200"/>
              <a:t> poster by Prof. Qiao Ye was accepted by ATS as oral. </a:t>
            </a:r>
          </a:p>
          <a:p>
            <a:pPr marL="756000" lvl="5" indent="-359410">
              <a:lnSpc>
                <a:spcPct val="100000"/>
              </a:lnSpc>
              <a:spcBef>
                <a:spcPts val="600"/>
              </a:spcBef>
              <a:spcAft>
                <a:spcPts val="0"/>
              </a:spcAft>
            </a:pPr>
            <a:r>
              <a:rPr lang="en-US" altLang="zh-CN" sz="1200"/>
              <a:t>1199-0434 study result was accepted by ATS as poster (Prof. </a:t>
            </a:r>
            <a:r>
              <a:rPr lang="en-US" altLang="zh-CN" sz="1200" err="1"/>
              <a:t>Huaping</a:t>
            </a:r>
            <a:r>
              <a:rPr lang="en-US" altLang="zh-CN" sz="1200"/>
              <a:t> Dai).</a:t>
            </a:r>
          </a:p>
          <a:p>
            <a:pPr marL="756000" lvl="5" indent="-359410">
              <a:lnSpc>
                <a:spcPct val="100000"/>
              </a:lnSpc>
              <a:spcBef>
                <a:spcPts val="600"/>
              </a:spcBef>
              <a:spcAft>
                <a:spcPts val="0"/>
              </a:spcAft>
            </a:pPr>
            <a:r>
              <a:rPr lang="en-US" altLang="zh-CN" sz="1200"/>
              <a:t>The publication kick-off meeting of </a:t>
            </a:r>
            <a:r>
              <a:rPr lang="en-US" altLang="zh-CN" sz="1200" err="1"/>
              <a:t>Fibroneer</a:t>
            </a:r>
            <a:r>
              <a:rPr lang="en-US" altLang="zh-CN" sz="1200"/>
              <a:t>-PPF East-Asian population was successfully held by Chinese team on 8th May and 10 international top experts from 6 countries joined the meeting and shared their valuable insights.</a:t>
            </a:r>
          </a:p>
          <a:p>
            <a:pPr marL="756000" lvl="5" indent="-359410">
              <a:lnSpc>
                <a:spcPct val="100000"/>
              </a:lnSpc>
              <a:spcBef>
                <a:spcPts val="600"/>
              </a:spcBef>
              <a:spcAft>
                <a:spcPts val="0"/>
              </a:spcAft>
            </a:pPr>
            <a:r>
              <a:rPr lang="en-US" altLang="zh-CN" sz="1200"/>
              <a:t>Both </a:t>
            </a:r>
            <a:r>
              <a:rPr lang="en-US" altLang="zh-CN" sz="1200" err="1"/>
              <a:t>Fibroneer</a:t>
            </a:r>
            <a:r>
              <a:rPr lang="en-US" altLang="zh-CN" sz="1200"/>
              <a:t>-IPF and PPF Chinese population abstracts first draft development were completed and are under internal and external review, target congress CTS 2025.</a:t>
            </a:r>
          </a:p>
          <a:p>
            <a:pPr marL="465455" indent="-285750">
              <a:lnSpc>
                <a:spcPct val="100000"/>
              </a:lnSpc>
              <a:spcBef>
                <a:spcPts val="1200"/>
              </a:spcBef>
              <a:buFont typeface="Wingdings" panose="05000000000000000000" pitchFamily="2" charset="2"/>
              <a:buChar char="Ø"/>
            </a:pPr>
            <a:r>
              <a:rPr lang="en-US" altLang="zh-CN" sz="1200"/>
              <a:t>Dermatology</a:t>
            </a:r>
          </a:p>
          <a:p>
            <a:pPr marL="684000" indent="-285750">
              <a:lnSpc>
                <a:spcPct val="100000"/>
              </a:lnSpc>
              <a:spcBef>
                <a:spcPts val="600"/>
              </a:spcBef>
              <a:spcAft>
                <a:spcPts val="0"/>
              </a:spcAft>
              <a:buFont typeface="Arial" panose="020B0604020202020204" pitchFamily="34" charset="0"/>
              <a:buChar char="•"/>
            </a:pPr>
            <a:r>
              <a:rPr lang="en-US" altLang="zh-CN" sz="1200"/>
              <a:t>China GPP pediatric consensus  was published in Apr which is the 1</a:t>
            </a:r>
            <a:r>
              <a:rPr lang="en-US" altLang="zh-CN" sz="1200" baseline="30000"/>
              <a:t>st</a:t>
            </a:r>
            <a:r>
              <a:rPr lang="en-US" altLang="zh-CN" sz="1200"/>
              <a:t> GPP pediatric consensus globally, guiding pediatric GPP diagnosis and treatment standardization. </a:t>
            </a:r>
            <a:r>
              <a:rPr lang="en-US" altLang="zh-CN" sz="1200" err="1"/>
              <a:t>Spesolimab</a:t>
            </a:r>
            <a:r>
              <a:rPr lang="en-US" altLang="zh-CN" sz="1200"/>
              <a:t> was recommended as 1</a:t>
            </a:r>
            <a:r>
              <a:rPr lang="en-US" altLang="zh-CN" sz="1200" baseline="30000"/>
              <a:t>st</a:t>
            </a:r>
            <a:r>
              <a:rPr lang="en-US" altLang="zh-CN" sz="1200"/>
              <a:t> line treatment in the GPP pediatric consensus.</a:t>
            </a:r>
          </a:p>
          <a:p>
            <a:pPr marL="684000" indent="-285750">
              <a:lnSpc>
                <a:spcPct val="100000"/>
              </a:lnSpc>
              <a:spcBef>
                <a:spcPts val="600"/>
              </a:spcBef>
              <a:spcAft>
                <a:spcPts val="0"/>
              </a:spcAft>
              <a:buFont typeface="Arial" panose="020B0604020202020204" pitchFamily="34" charset="0"/>
              <a:buChar char="•"/>
            </a:pPr>
            <a:r>
              <a:rPr lang="en-US" altLang="zh-CN" sz="1200"/>
              <a:t>3 </a:t>
            </a:r>
            <a:r>
              <a:rPr lang="en-US" altLang="zh-CN" sz="1200" err="1"/>
              <a:t>Speso</a:t>
            </a:r>
            <a:r>
              <a:rPr lang="en-US" altLang="zh-CN" sz="1200"/>
              <a:t> case reports were published in Apr covering PG, SAM syndrome and refractory GPP.</a:t>
            </a:r>
          </a:p>
          <a:p>
            <a:pPr marL="684000" indent="-285750">
              <a:lnSpc>
                <a:spcPct val="100000"/>
              </a:lnSpc>
              <a:spcBef>
                <a:spcPts val="600"/>
              </a:spcBef>
              <a:spcAft>
                <a:spcPts val="0"/>
              </a:spcAft>
              <a:buFont typeface="Arial" panose="020B0604020202020204" pitchFamily="34" charset="0"/>
              <a:buChar char="•"/>
            </a:pPr>
            <a:r>
              <a:rPr lang="en-US" altLang="zh-CN" sz="1200"/>
              <a:t>Providing scientific support to IL-36 treatment consensus development which will be published soon.</a:t>
            </a:r>
          </a:p>
          <a:p>
            <a:pPr marL="684000" indent="-285750">
              <a:lnSpc>
                <a:spcPct val="100000"/>
              </a:lnSpc>
              <a:spcBef>
                <a:spcPts val="600"/>
              </a:spcBef>
              <a:spcAft>
                <a:spcPts val="0"/>
              </a:spcAft>
              <a:buFont typeface="Arial" panose="020B0604020202020204" pitchFamily="34" charset="0"/>
              <a:buChar char="•"/>
            </a:pPr>
            <a:r>
              <a:rPr lang="en-US" altLang="zh-CN" sz="1200"/>
              <a:t>PG LRR 36 review was successfully completed.</a:t>
            </a:r>
          </a:p>
          <a:p>
            <a:pPr marL="684000" indent="-285750">
              <a:lnSpc>
                <a:spcPct val="100000"/>
              </a:lnSpc>
              <a:spcBef>
                <a:spcPts val="600"/>
              </a:spcBef>
              <a:spcAft>
                <a:spcPts val="0"/>
              </a:spcAft>
              <a:buFont typeface="Arial" panose="020B0604020202020204" pitchFamily="34" charset="0"/>
              <a:buChar char="•"/>
            </a:pPr>
            <a:r>
              <a:rPr lang="en-US" altLang="zh-CN" sz="1200"/>
              <a:t>MSL co-visit with CD&amp;O to accelerate PG </a:t>
            </a:r>
            <a:r>
              <a:rPr lang="en-US" altLang="zh-CN" sz="1200" err="1"/>
              <a:t>PhIII</a:t>
            </a:r>
            <a:r>
              <a:rPr lang="en-US" altLang="zh-CN" sz="1200"/>
              <a:t> study enrollment.</a:t>
            </a:r>
          </a:p>
          <a:p>
            <a:pPr marL="684000" indent="-285750">
              <a:lnSpc>
                <a:spcPct val="100000"/>
              </a:lnSpc>
              <a:spcBef>
                <a:spcPts val="600"/>
              </a:spcBef>
              <a:spcAft>
                <a:spcPts val="0"/>
              </a:spcAft>
              <a:buFont typeface="Arial" panose="020B0604020202020204" pitchFamily="34" charset="0"/>
              <a:buChar char="•"/>
            </a:pPr>
            <a:r>
              <a:rPr lang="en-US" altLang="zh-CN" sz="1200"/>
              <a:t>2 internal training  were provided to sales team.</a:t>
            </a:r>
          </a:p>
          <a:p>
            <a:pPr marL="465455" indent="-285750">
              <a:lnSpc>
                <a:spcPct val="100000"/>
              </a:lnSpc>
              <a:spcBef>
                <a:spcPts val="1200"/>
              </a:spcBef>
              <a:buFont typeface="Wingdings" panose="05000000000000000000" pitchFamily="2" charset="2"/>
              <a:buChar char="Ø"/>
            </a:pPr>
            <a:endParaRPr lang="en-US" altLang="zh-CN" sz="1200"/>
          </a:p>
          <a:p>
            <a:pPr>
              <a:buNone/>
            </a:pPr>
            <a:r>
              <a:rPr lang="en-US" altLang="zh-CN" sz="1100">
                <a:effectLst/>
                <a:latin typeface="-apple-system"/>
              </a:rPr>
              <a:t> </a:t>
            </a:r>
            <a:endParaRPr lang="en-US" sz="1200"/>
          </a:p>
        </p:txBody>
      </p:sp>
      <p:sp>
        <p:nvSpPr>
          <p:cNvPr id="6" name="Footer Placeholder 5">
            <a:extLst>
              <a:ext uri="{FF2B5EF4-FFF2-40B4-BE49-F238E27FC236}">
                <a16:creationId xmlns:a16="http://schemas.microsoft.com/office/drawing/2014/main" id="{921226A2-5A6E-0DBD-ED5D-845241E4FECF}"/>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MAP |    ONLY FOR INTERNAL USE</a:t>
            </a:r>
          </a:p>
        </p:txBody>
      </p:sp>
      <p:sp>
        <p:nvSpPr>
          <p:cNvPr id="7" name="Slide Number Placeholder 6">
            <a:extLst>
              <a:ext uri="{FF2B5EF4-FFF2-40B4-BE49-F238E27FC236}">
                <a16:creationId xmlns:a16="http://schemas.microsoft.com/office/drawing/2014/main" id="{8B8A934B-7073-A980-BC8F-C7DF9F3B874E}"/>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2034294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4119E7A-AC2C-5BCA-85CD-3F9DC16BA6C7}"/>
              </a:ext>
            </a:extLst>
          </p:cNvPr>
          <p:cNvGraphicFramePr>
            <a:graphicFrameLocks noChangeAspect="1"/>
          </p:cNvGraphicFramePr>
          <p:nvPr>
            <p:custDataLst>
              <p:tags r:id="rId1"/>
            </p:custDataLst>
            <p:extLst>
              <p:ext uri="{D42A27DB-BD31-4B8C-83A1-F6EECF244321}">
                <p14:modId xmlns:p14="http://schemas.microsoft.com/office/powerpoint/2010/main" val="5600201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 imgW="404" imgH="405" progId="TCLayout.ActiveDocument.1">
                  <p:embed/>
                </p:oleObj>
              </mc:Choice>
              <mc:Fallback>
                <p:oleObj name="think-cell 幻灯片" r:id="rId4" imgW="404" imgH="405" progId="TCLayout.ActiveDocument.1">
                  <p:embed/>
                  <p:pic>
                    <p:nvPicPr>
                      <p:cNvPr id="8" name="think-cell data - do not delete" hidden="1">
                        <a:extLst>
                          <a:ext uri="{FF2B5EF4-FFF2-40B4-BE49-F238E27FC236}">
                            <a16:creationId xmlns:a16="http://schemas.microsoft.com/office/drawing/2014/main" id="{64119E7A-AC2C-5BCA-85CD-3F9DC16BA6C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981918F-D4B9-CB22-8347-C74577AED3F9}"/>
              </a:ext>
            </a:extLst>
          </p:cNvPr>
          <p:cNvSpPr>
            <a:spLocks noGrp="1"/>
          </p:cNvSpPr>
          <p:nvPr>
            <p:ph type="title"/>
          </p:nvPr>
        </p:nvSpPr>
        <p:spPr>
          <a:xfrm>
            <a:off x="397497" y="277220"/>
            <a:ext cx="11233151" cy="720000"/>
          </a:xfrm>
        </p:spPr>
        <p:txBody>
          <a:bodyPr vert="horz"/>
          <a:lstStyle/>
          <a:p>
            <a:r>
              <a:rPr lang="en-US" altLang="zh-CN"/>
              <a:t>TA Portfolio Key Update Late-stage Assets</a:t>
            </a:r>
            <a:endParaRPr lang="zh-CN" altLang="en-US"/>
          </a:p>
        </p:txBody>
      </p:sp>
      <p:sp>
        <p:nvSpPr>
          <p:cNvPr id="4" name="Footer Placeholder 3">
            <a:extLst>
              <a:ext uri="{FF2B5EF4-FFF2-40B4-BE49-F238E27FC236}">
                <a16:creationId xmlns:a16="http://schemas.microsoft.com/office/drawing/2014/main" id="{DCC1BB9F-CAEF-31DF-2BBC-093AAE66D508}"/>
              </a:ext>
            </a:extLst>
          </p:cNvPr>
          <p:cNvSpPr>
            <a:spLocks noGrp="1"/>
          </p:cNvSpPr>
          <p:nvPr>
            <p:ph type="ftr" sz="quarter" idx="16"/>
          </p:nvPr>
        </p:nvSpPr>
        <p:spPr/>
        <p:txBody>
          <a:bodyPr/>
          <a:lstStyle/>
          <a:p>
            <a:r>
              <a:rPr lang="en-US" altLang="zh-CN"/>
              <a:t>MAP </a:t>
            </a:r>
            <a:r>
              <a:rPr lang="en-US"/>
              <a:t>|    ONLY FOR INTERNAL USE</a:t>
            </a:r>
          </a:p>
        </p:txBody>
      </p:sp>
      <p:sp>
        <p:nvSpPr>
          <p:cNvPr id="5" name="Slide Number Placeholder 4">
            <a:extLst>
              <a:ext uri="{FF2B5EF4-FFF2-40B4-BE49-F238E27FC236}">
                <a16:creationId xmlns:a16="http://schemas.microsoft.com/office/drawing/2014/main" id="{972F87C9-9F4C-7797-F365-BE8A4ED44AB6}"/>
              </a:ext>
            </a:extLst>
          </p:cNvPr>
          <p:cNvSpPr>
            <a:spLocks noGrp="1"/>
          </p:cNvSpPr>
          <p:nvPr>
            <p:ph type="sldNum" sz="quarter" idx="17"/>
          </p:nvPr>
        </p:nvSpPr>
        <p:spPr/>
        <p:txBody>
          <a:bodyPr/>
          <a:lstStyle/>
          <a:p>
            <a:fld id="{8FF9B0DE-3FEB-4AA0-B465-B80EF7C1333D}" type="slidenum">
              <a:rPr lang="en-US" smtClean="0"/>
              <a:pPr/>
              <a:t>6</a:t>
            </a:fld>
            <a:endParaRPr lang="en-US"/>
          </a:p>
        </p:txBody>
      </p:sp>
      <p:graphicFrame>
        <p:nvGraphicFramePr>
          <p:cNvPr id="6" name="Table 6">
            <a:extLst>
              <a:ext uri="{FF2B5EF4-FFF2-40B4-BE49-F238E27FC236}">
                <a16:creationId xmlns:a16="http://schemas.microsoft.com/office/drawing/2014/main" id="{99E71C16-9E1E-F011-B398-2DD75D956D8F}"/>
              </a:ext>
            </a:extLst>
          </p:cNvPr>
          <p:cNvGraphicFramePr>
            <a:graphicFrameLocks noGrp="1"/>
          </p:cNvGraphicFramePr>
          <p:nvPr>
            <p:extLst>
              <p:ext uri="{D42A27DB-BD31-4B8C-83A1-F6EECF244321}">
                <p14:modId xmlns:p14="http://schemas.microsoft.com/office/powerpoint/2010/main" val="1448570157"/>
              </p:ext>
            </p:extLst>
          </p:nvPr>
        </p:nvGraphicFramePr>
        <p:xfrm>
          <a:off x="107502" y="676497"/>
          <a:ext cx="11976996" cy="6287392"/>
        </p:xfrm>
        <a:graphic>
          <a:graphicData uri="http://schemas.openxmlformats.org/drawingml/2006/table">
            <a:tbl>
              <a:tblPr firstRow="1" bandRow="1">
                <a:tableStyleId>{7E9639D4-E3E2-4D34-9284-5A2195B3D0D7}</a:tableStyleId>
              </a:tblPr>
              <a:tblGrid>
                <a:gridCol w="1487212">
                  <a:extLst>
                    <a:ext uri="{9D8B030D-6E8A-4147-A177-3AD203B41FA5}">
                      <a16:colId xmlns:a16="http://schemas.microsoft.com/office/drawing/2014/main" val="3183558779"/>
                    </a:ext>
                  </a:extLst>
                </a:gridCol>
                <a:gridCol w="738848">
                  <a:extLst>
                    <a:ext uri="{9D8B030D-6E8A-4147-A177-3AD203B41FA5}">
                      <a16:colId xmlns:a16="http://schemas.microsoft.com/office/drawing/2014/main" val="4060529730"/>
                    </a:ext>
                  </a:extLst>
                </a:gridCol>
                <a:gridCol w="889000">
                  <a:extLst>
                    <a:ext uri="{9D8B030D-6E8A-4147-A177-3AD203B41FA5}">
                      <a16:colId xmlns:a16="http://schemas.microsoft.com/office/drawing/2014/main" val="1540706906"/>
                    </a:ext>
                  </a:extLst>
                </a:gridCol>
                <a:gridCol w="5200078">
                  <a:extLst>
                    <a:ext uri="{9D8B030D-6E8A-4147-A177-3AD203B41FA5}">
                      <a16:colId xmlns:a16="http://schemas.microsoft.com/office/drawing/2014/main" val="1815427223"/>
                    </a:ext>
                  </a:extLst>
                </a:gridCol>
                <a:gridCol w="3661858">
                  <a:extLst>
                    <a:ext uri="{9D8B030D-6E8A-4147-A177-3AD203B41FA5}">
                      <a16:colId xmlns:a16="http://schemas.microsoft.com/office/drawing/2014/main" val="3539556881"/>
                    </a:ext>
                  </a:extLst>
                </a:gridCol>
              </a:tblGrid>
              <a:tr h="414834">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900">
                          <a:latin typeface="+mn-ea"/>
                          <a:ea typeface="+mn-ea"/>
                        </a:rPr>
                        <a:t>Asset Name (</a:t>
                      </a:r>
                      <a:r>
                        <a:rPr lang="en-US" altLang="zh-CN" sz="900" err="1">
                          <a:latin typeface="+mn-ea"/>
                          <a:ea typeface="+mn-ea"/>
                        </a:rPr>
                        <a:t>MoA</a:t>
                      </a:r>
                      <a:r>
                        <a:rPr lang="en-US" altLang="zh-CN" sz="900">
                          <a:latin typeface="+mn-ea"/>
                          <a:ea typeface="+mn-ea"/>
                        </a:rPr>
                        <a:t>)</a:t>
                      </a:r>
                      <a:endParaRPr lang="zh-CN" altLang="en-US" sz="900">
                        <a:latin typeface="+mn-ea"/>
                        <a:ea typeface="+mn-ea"/>
                      </a:endParaRPr>
                    </a:p>
                  </a:txBody>
                  <a:tcPr>
                    <a:lnR w="6350" cap="flat" cmpd="sng" algn="ctr">
                      <a:solidFill>
                        <a:srgbClr val="076D7E"/>
                      </a:solidFill>
                      <a:prstDash val="solid"/>
                      <a:round/>
                      <a:headEnd type="none" w="med" len="med"/>
                      <a:tailEnd type="none" w="med" len="med"/>
                    </a:lnR>
                    <a:solidFill>
                      <a:srgbClr val="076D7E"/>
                    </a:solidFill>
                  </a:tcPr>
                </a:tc>
                <a:tc>
                  <a:txBody>
                    <a:bodyPr/>
                    <a:lstStyle/>
                    <a:p>
                      <a:pPr algn="l"/>
                      <a:r>
                        <a:rPr lang="en-US" altLang="zh-CN" sz="900">
                          <a:latin typeface="+mn-ea"/>
                          <a:ea typeface="+mn-ea"/>
                        </a:rPr>
                        <a:t>Indication</a:t>
                      </a:r>
                      <a:endParaRPr lang="zh-CN" altLang="en-US" sz="900">
                        <a:latin typeface="+mn-ea"/>
                        <a:ea typeface="+mn-ea"/>
                      </a:endParaRP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l"/>
                      <a:r>
                        <a:rPr lang="en-US" altLang="zh-CN" sz="900">
                          <a:latin typeface="+mn-ea"/>
                          <a:ea typeface="+mn-ea"/>
                        </a:rPr>
                        <a:t>CN Approval </a:t>
                      </a:r>
                    </a:p>
                    <a:p>
                      <a:pPr lvl="0" algn="l">
                        <a:buNone/>
                      </a:pPr>
                      <a:r>
                        <a:rPr lang="en-US" altLang="zh-CN" sz="900">
                          <a:latin typeface="+mn-ea"/>
                          <a:ea typeface="+mn-ea"/>
                        </a:rPr>
                        <a:t>base case）</a:t>
                      </a: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l"/>
                      <a:r>
                        <a:rPr lang="en-US" altLang="zh-CN" sz="900">
                          <a:latin typeface="+mn-ea"/>
                          <a:ea typeface="+mn-ea"/>
                        </a:rPr>
                        <a:t>Update </a:t>
                      </a:r>
                      <a:r>
                        <a:rPr lang="en-US" altLang="zh-CN" sz="900">
                          <a:solidFill>
                            <a:schemeClr val="bg1">
                              <a:lumMod val="75000"/>
                            </a:schemeClr>
                          </a:solidFill>
                          <a:latin typeface="+mn-ea"/>
                          <a:ea typeface="+mn-ea"/>
                        </a:rPr>
                        <a:t> </a:t>
                      </a:r>
                      <a:r>
                        <a:rPr lang="en-US" altLang="zh-CN" sz="900" b="0">
                          <a:solidFill>
                            <a:schemeClr val="bg1">
                              <a:lumMod val="75000"/>
                            </a:schemeClr>
                          </a:solidFill>
                          <a:latin typeface="+mn-ea"/>
                          <a:ea typeface="+mn-ea"/>
                        </a:rPr>
                        <a:t>(</a:t>
                      </a:r>
                      <a:r>
                        <a:rPr lang="en-US" altLang="zh-CN" sz="900" b="0" i="1">
                          <a:solidFill>
                            <a:schemeClr val="bg1">
                              <a:lumMod val="75000"/>
                            </a:schemeClr>
                          </a:solidFill>
                          <a:latin typeface="+mn-ea"/>
                          <a:ea typeface="+mn-ea"/>
                        </a:rPr>
                        <a:t>please include key achievements, issues/risks, and etc.)</a:t>
                      </a:r>
                      <a:endParaRPr lang="zh-CN" altLang="en-US" sz="900" b="0" i="1">
                        <a:solidFill>
                          <a:schemeClr val="bg1">
                            <a:lumMod val="75000"/>
                          </a:schemeClr>
                        </a:solidFill>
                        <a:latin typeface="+mn-ea"/>
                        <a:ea typeface="+mn-ea"/>
                      </a:endParaRP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l"/>
                      <a:r>
                        <a:rPr lang="en-US" altLang="zh-CN" sz="900">
                          <a:latin typeface="+mn-ea"/>
                          <a:ea typeface="+mn-ea"/>
                        </a:rPr>
                        <a:t>Next Step</a:t>
                      </a:r>
                      <a:endParaRPr lang="zh-CN" altLang="en-US" sz="900">
                        <a:latin typeface="+mn-ea"/>
                        <a:ea typeface="+mn-ea"/>
                      </a:endParaRPr>
                    </a:p>
                  </a:txBody>
                  <a:tcPr>
                    <a:lnL w="6350" cap="flat" cmpd="sng" algn="ctr">
                      <a:solidFill>
                        <a:srgbClr val="076D7E"/>
                      </a:solidFill>
                      <a:prstDash val="solid"/>
                      <a:round/>
                      <a:headEnd type="none" w="med" len="med"/>
                      <a:tailEnd type="none" w="med" len="med"/>
                    </a:lnL>
                    <a:solidFill>
                      <a:srgbClr val="076D7E"/>
                    </a:solidFill>
                  </a:tcPr>
                </a:tc>
                <a:extLst>
                  <a:ext uri="{0D108BD9-81ED-4DB2-BD59-A6C34878D82A}">
                    <a16:rowId xmlns:a16="http://schemas.microsoft.com/office/drawing/2014/main" val="4731445"/>
                  </a:ext>
                </a:extLst>
              </a:tr>
              <a:tr h="641108">
                <a:tc rowSpan="2">
                  <a:txBody>
                    <a:bodyPr/>
                    <a:lstStyle/>
                    <a:p>
                      <a:pPr algn="l"/>
                      <a:r>
                        <a:rPr kumimoji="1" lang="en-US" altLang="zh-CN" sz="1000" i="0" kern="1200">
                          <a:solidFill>
                            <a:schemeClr val="tx1"/>
                          </a:solidFill>
                          <a:latin typeface="+mn-ea"/>
                          <a:ea typeface="+mn-ea"/>
                        </a:rPr>
                        <a:t>Spesolimab (IL-36R)</a:t>
                      </a:r>
                      <a:endParaRPr kumimoji="1" lang="zh-CN" altLang="en-US" sz="1000" i="0" kern="1200">
                        <a:solidFill>
                          <a:schemeClr val="tx1"/>
                        </a:solidFill>
                        <a:latin typeface="+mn-ea"/>
                        <a:ea typeface="+mn-ea"/>
                        <a:cs typeface="+mn-cs"/>
                      </a:endParaRPr>
                    </a:p>
                  </a:txBody>
                  <a:tcPr>
                    <a:lnR w="12700" cap="flat" cmpd="sng" algn="ctr">
                      <a:solidFill>
                        <a:schemeClr val="bg1">
                          <a:lumMod val="85000"/>
                        </a:schemeClr>
                      </a:solidFill>
                      <a:prstDash val="dash"/>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00" i="0" kern="1200">
                          <a:solidFill>
                            <a:schemeClr val="tx1"/>
                          </a:solidFill>
                          <a:latin typeface="+mn-ea"/>
                          <a:ea typeface="+mn-ea"/>
                          <a:cs typeface="+mn-cs"/>
                        </a:rPr>
                        <a:t>NS</a:t>
                      </a:r>
                      <a:endParaRPr kumimoji="1" lang="zh-CN" altLang="en-US" sz="1000" i="0" kern="1200">
                        <a:solidFill>
                          <a:schemeClr val="tx1"/>
                        </a:solidFill>
                        <a:latin typeface="+mn-ea"/>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algn="l"/>
                      <a:r>
                        <a:rPr kumimoji="1" lang="en-US" altLang="zh-CN" sz="1000" i="0" kern="1200">
                          <a:solidFill>
                            <a:schemeClr val="tx1"/>
                          </a:solidFill>
                          <a:latin typeface="+mn-ea"/>
                          <a:ea typeface="+mn-ea"/>
                          <a:cs typeface="+mn-cs"/>
                        </a:rPr>
                        <a:t>TBD</a:t>
                      </a:r>
                      <a:endParaRPr kumimoji="1" lang="zh-CN" altLang="en-US" sz="1000" i="0" kern="1200">
                        <a:solidFill>
                          <a:schemeClr val="tx1"/>
                        </a:solidFill>
                        <a:latin typeface="+mn-ea"/>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171450" indent="-171450" algn="l">
                        <a:buFont typeface="Arial" panose="020B0604020202020204" pitchFamily="34" charset="0"/>
                        <a:buChar char="•"/>
                      </a:pPr>
                      <a:r>
                        <a:rPr lang="en-US" altLang="zh-CN" sz="1000" kern="1200">
                          <a:solidFill>
                            <a:schemeClr val="tx1"/>
                          </a:solidFill>
                          <a:latin typeface="+mn-ea"/>
                          <a:ea typeface="+mn-ea"/>
                          <a:cs typeface="+mn-cs"/>
                        </a:rPr>
                        <a:t>Study results</a:t>
                      </a:r>
                      <a:r>
                        <a:rPr kumimoji="1" lang="en-US" altLang="zh-CN" sz="1000" kern="1200">
                          <a:solidFill>
                            <a:schemeClr val="tx1"/>
                          </a:solidFill>
                          <a:latin typeface="+mn-ea"/>
                          <a:ea typeface="+mn-ea"/>
                          <a:cs typeface="+mn-cs"/>
                        </a:rPr>
                        <a:t>: </a:t>
                      </a:r>
                      <a:r>
                        <a:rPr lang="en-US" altLang="zh-CN" sz="1000" kern="1200">
                          <a:solidFill>
                            <a:schemeClr val="tx1"/>
                          </a:solidFill>
                          <a:latin typeface="+mn-ea"/>
                          <a:ea typeface="+mn-ea"/>
                          <a:cs typeface="+mn-cs"/>
                        </a:rPr>
                        <a:t>neither </a:t>
                      </a:r>
                      <a:r>
                        <a:rPr kumimoji="1" lang="en-US" altLang="zh-CN" sz="1000" kern="1200">
                          <a:solidFill>
                            <a:schemeClr val="tx1"/>
                          </a:solidFill>
                          <a:latin typeface="+mn-ea"/>
                          <a:ea typeface="+mn-ea"/>
                          <a:cs typeface="+mn-cs"/>
                        </a:rPr>
                        <a:t>the primary </a:t>
                      </a:r>
                      <a:r>
                        <a:rPr lang="en-US" altLang="zh-CN" sz="1000" kern="1200">
                          <a:solidFill>
                            <a:schemeClr val="tx1"/>
                          </a:solidFill>
                          <a:latin typeface="+mn-ea"/>
                          <a:ea typeface="+mn-ea"/>
                          <a:cs typeface="+mn-cs"/>
                        </a:rPr>
                        <a:t>nor key secondary endpoint were met</a:t>
                      </a:r>
                      <a:r>
                        <a:rPr kumimoji="1" lang="en-US" altLang="zh-CN" sz="1000" kern="1200">
                          <a:solidFill>
                            <a:schemeClr val="tx1"/>
                          </a:solidFill>
                          <a:latin typeface="+mn-ea"/>
                          <a:ea typeface="+mn-ea"/>
                          <a:cs typeface="+mn-cs"/>
                        </a:rPr>
                        <a:t>. </a:t>
                      </a:r>
                      <a:r>
                        <a:rPr lang="en-US" altLang="zh-CN" sz="1000" kern="1200">
                          <a:solidFill>
                            <a:schemeClr val="tx1"/>
                          </a:solidFill>
                          <a:latin typeface="+mn-ea"/>
                          <a:ea typeface="+mn-ea"/>
                          <a:cs typeface="+mn-cs"/>
                        </a:rPr>
                        <a:t>terminate development of </a:t>
                      </a:r>
                      <a:r>
                        <a:rPr lang="en-US" altLang="zh-CN" sz="1000" kern="1200" err="1">
                          <a:solidFill>
                            <a:schemeClr val="tx1"/>
                          </a:solidFill>
                          <a:latin typeface="+mn-ea"/>
                          <a:ea typeface="+mn-ea"/>
                          <a:cs typeface="+mn-cs"/>
                        </a:rPr>
                        <a:t>spesolimab</a:t>
                      </a:r>
                      <a:r>
                        <a:rPr lang="en-US" altLang="zh-CN" sz="1000" kern="1200">
                          <a:solidFill>
                            <a:schemeClr val="tx1"/>
                          </a:solidFill>
                          <a:latin typeface="+mn-ea"/>
                          <a:ea typeface="+mn-ea"/>
                          <a:cs typeface="+mn-cs"/>
                        </a:rPr>
                        <a:t> in Netherton Syndrome (NS).</a:t>
                      </a:r>
                      <a:endParaRPr kumimoji="1" lang="zh-CN" altLang="en-US"/>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altLang="zh-CN" sz="1000" kern="1200">
                          <a:solidFill>
                            <a:schemeClr val="tx1"/>
                          </a:solidFill>
                          <a:latin typeface="+mn-ea"/>
                          <a:ea typeface="+mn-ea"/>
                          <a:cs typeface="+mn-cs"/>
                        </a:rPr>
                        <a:t>DBL plan on 19Sep2025, CTR plan </a:t>
                      </a:r>
                      <a:r>
                        <a:rPr kumimoji="1" lang="en-US" altLang="zh-CN" sz="1000" kern="1200">
                          <a:solidFill>
                            <a:schemeClr val="tx1"/>
                          </a:solidFill>
                          <a:latin typeface="+mn-ea"/>
                          <a:ea typeface="+mn-ea"/>
                          <a:cs typeface="+mn-cs"/>
                        </a:rPr>
                        <a:t>on </a:t>
                      </a:r>
                      <a:r>
                        <a:rPr lang="en-US" altLang="zh-CN" sz="1000" kern="1200">
                          <a:solidFill>
                            <a:schemeClr val="tx1"/>
                          </a:solidFill>
                          <a:latin typeface="+mn-ea"/>
                          <a:ea typeface="+mn-ea"/>
                          <a:cs typeface="+mn-cs"/>
                        </a:rPr>
                        <a:t>19Dec2025. All site closed by 19Dec2025</a:t>
                      </a:r>
                      <a:r>
                        <a:rPr kumimoji="1" lang="en-US" altLang="zh-CN" sz="1000" kern="1200">
                          <a:solidFill>
                            <a:schemeClr val="tx1"/>
                          </a:solidFill>
                          <a:latin typeface="+mn-ea"/>
                          <a:ea typeface="+mn-ea"/>
                          <a:cs typeface="+mn-cs"/>
                        </a:rPr>
                        <a:t>.</a:t>
                      </a:r>
                      <a:endParaRPr kumimoji="1" lang="zh-CN" altLang="en-US" sz="1000" kern="1200">
                        <a:solidFill>
                          <a:schemeClr val="tx1"/>
                        </a:solidFill>
                        <a:latin typeface="+mn-ea"/>
                        <a:ea typeface="+mn-ea"/>
                        <a:cs typeface="+mn-cs"/>
                      </a:endParaRPr>
                    </a:p>
                  </a:txBody>
                  <a:tcPr anchor="ctr">
                    <a:lnL w="12700" cap="flat" cmpd="sng" algn="ctr">
                      <a:solidFill>
                        <a:schemeClr val="bg1">
                          <a:lumMod val="85000"/>
                        </a:schemeClr>
                      </a:solidFill>
                      <a:prstDash val="dash"/>
                      <a:round/>
                      <a:headEnd type="none" w="med" len="med"/>
                      <a:tailEnd type="none" w="med" len="med"/>
                    </a:lnL>
                    <a:solidFill>
                      <a:schemeClr val="bg1"/>
                    </a:solidFill>
                  </a:tcPr>
                </a:tc>
                <a:extLst>
                  <a:ext uri="{0D108BD9-81ED-4DB2-BD59-A6C34878D82A}">
                    <a16:rowId xmlns:a16="http://schemas.microsoft.com/office/drawing/2014/main" val="282381439"/>
                  </a:ext>
                </a:extLst>
              </a:tr>
              <a:tr h="498978">
                <a:tc vMerge="1">
                  <a:txBody>
                    <a:bodyPr/>
                    <a:lstStyle/>
                    <a:p>
                      <a:endParaRPr kumimoji="1" lang="zh-CN" altLang="en-US" sz="1200" i="1" kern="1200">
                        <a:solidFill>
                          <a:schemeClr val="bg1">
                            <a:lumMod val="65000"/>
                          </a:schemeClr>
                        </a:solidFill>
                        <a:latin typeface="+mn-lt"/>
                        <a:ea typeface="+mn-ea"/>
                        <a:cs typeface="+mn-cs"/>
                      </a:endParaRPr>
                    </a:p>
                  </a:txBody>
                  <a:tcPr>
                    <a:lnT w="6350" cap="flat" cmpd="sng" algn="ctr">
                      <a:solidFill>
                        <a:schemeClr val="tx1"/>
                      </a:solidFill>
                      <a:prstDash val="solid"/>
                      <a:round/>
                      <a:headEnd type="none" w="med" len="med"/>
                      <a:tailEnd type="none" w="med" len="med"/>
                    </a:lnT>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00" i="0" kern="1200">
                          <a:solidFill>
                            <a:schemeClr val="tx1"/>
                          </a:solidFill>
                          <a:latin typeface="+mn-ea"/>
                          <a:ea typeface="+mn-ea"/>
                          <a:cs typeface="+mn-cs"/>
                        </a:rPr>
                        <a:t>PG</a:t>
                      </a:r>
                      <a:endParaRPr kumimoji="1" lang="zh-CN" altLang="en-US" sz="1000" i="0" kern="1200">
                        <a:solidFill>
                          <a:schemeClr val="tx1"/>
                        </a:solidFill>
                        <a:latin typeface="+mn-ea"/>
                        <a:ea typeface="+mn-ea"/>
                        <a:cs typeface="+mn-cs"/>
                      </a:endParaRPr>
                    </a:p>
                  </a:txBody>
                  <a:tcPr anchor="ctr">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0" indent="0" algn="l" defTabSz="914400" rtl="0" eaLnBrk="1" latinLnBrk="0" hangingPunct="1">
                        <a:buFont typeface="Arial" panose="020B0604020202020204" pitchFamily="34" charset="0"/>
                        <a:buNone/>
                      </a:pPr>
                      <a:r>
                        <a:rPr kumimoji="1" lang="en-US" altLang="zh-CN" sz="1000" i="0" kern="1200">
                          <a:solidFill>
                            <a:schemeClr val="tx1"/>
                          </a:solidFill>
                          <a:latin typeface="+mn-ea"/>
                          <a:ea typeface="+mn-ea"/>
                          <a:cs typeface="+mn-cs"/>
                        </a:rPr>
                        <a:t>May 2028</a:t>
                      </a:r>
                      <a:endParaRPr kumimoji="1" lang="zh-CN" altLang="en-US" sz="1000" i="0" kern="1200">
                        <a:solidFill>
                          <a:schemeClr val="tx1"/>
                        </a:solidFill>
                        <a:latin typeface="+mn-ea"/>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171450" indent="-171450" algn="l" defTabSz="914400" rtl="0" eaLnBrk="1" latinLnBrk="0" hangingPunct="1">
                        <a:buFont typeface="Arial" panose="020B0604020202020204" pitchFamily="34" charset="0"/>
                        <a:buChar char="•"/>
                      </a:pPr>
                      <a:r>
                        <a:rPr kumimoji="1" lang="en-US" altLang="zh-CN" sz="1000" kern="1200">
                          <a:solidFill>
                            <a:schemeClr val="tx1"/>
                          </a:solidFill>
                          <a:latin typeface="+mn-ea"/>
                          <a:ea typeface="+mn-ea"/>
                          <a:cs typeface="+mn-cs"/>
                        </a:rPr>
                        <a:t>13 of the planned 15 sites selected. SSU (Site Start Up) ongoing. </a:t>
                      </a:r>
                    </a:p>
                    <a:p>
                      <a:pPr marL="171450" indent="-171450" algn="l" rtl="0" eaLnBrk="1" latinLnBrk="0" hangingPunct="1">
                        <a:buFont typeface="Arial" panose="020B0604020202020204" pitchFamily="34" charset="0"/>
                        <a:buChar char="•"/>
                      </a:pPr>
                      <a:r>
                        <a:rPr lang="en-US" altLang="zh-CN" sz="1000" kern="1200">
                          <a:solidFill>
                            <a:schemeClr val="tx1"/>
                          </a:solidFill>
                          <a:latin typeface="+mn-ea"/>
                          <a:ea typeface="+mn-ea"/>
                          <a:cs typeface="+mn-cs"/>
                        </a:rPr>
                        <a:t>12</a:t>
                      </a:r>
                      <a:r>
                        <a:rPr kumimoji="1" lang="en-US" altLang="zh-CN" sz="1000" kern="1200">
                          <a:solidFill>
                            <a:schemeClr val="tx1"/>
                          </a:solidFill>
                          <a:latin typeface="+mn-ea"/>
                          <a:ea typeface="+mn-ea"/>
                          <a:cs typeface="+mn-cs"/>
                        </a:rPr>
                        <a:t> sites initiated till </a:t>
                      </a:r>
                      <a:r>
                        <a:rPr lang="en-US" altLang="zh-CN" sz="1000" kern="1200">
                          <a:solidFill>
                            <a:schemeClr val="tx1"/>
                          </a:solidFill>
                          <a:latin typeface="+mn-ea"/>
                          <a:ea typeface="+mn-ea"/>
                          <a:cs typeface="+mn-cs"/>
                        </a:rPr>
                        <a:t>7th May2025</a:t>
                      </a:r>
                      <a:r>
                        <a:rPr kumimoji="1" lang="en-US" altLang="zh-CN" sz="1000" kern="1200">
                          <a:solidFill>
                            <a:schemeClr val="tx1"/>
                          </a:solidFill>
                          <a:latin typeface="+mn-ea"/>
                          <a:ea typeface="+mn-ea"/>
                          <a:cs typeface="+mn-cs"/>
                        </a:rPr>
                        <a:t>.</a:t>
                      </a:r>
                      <a:r>
                        <a:rPr lang="en-US" altLang="zh-CN" sz="1000" kern="1200">
                          <a:solidFill>
                            <a:schemeClr val="tx1"/>
                          </a:solidFill>
                          <a:latin typeface="+mn-ea"/>
                          <a:ea typeface="+mn-ea"/>
                          <a:cs typeface="+mn-cs"/>
                        </a:rPr>
                        <a:t> </a:t>
                      </a:r>
                    </a:p>
                    <a:p>
                      <a:pPr marL="171450" indent="-171450" algn="l" rtl="0" eaLnBrk="1" latinLnBrk="0" hangingPunct="1">
                        <a:buFont typeface="Arial" panose="020B0604020202020204" pitchFamily="34" charset="0"/>
                        <a:buChar char="•"/>
                      </a:pPr>
                      <a:r>
                        <a:rPr lang="en-US" altLang="zh-CN" sz="1000" kern="1200">
                          <a:solidFill>
                            <a:schemeClr val="tx1"/>
                          </a:solidFill>
                          <a:latin typeface="+mn-ea"/>
                          <a:ea typeface="+mn-ea"/>
                          <a:cs typeface="+mn-cs"/>
                        </a:rPr>
                        <a:t>As of 9 May, in China, 3 subjects were </a:t>
                      </a:r>
                      <a:r>
                        <a:rPr kumimoji="1" lang="en-US" altLang="zh-CN" sz="1000" kern="1200">
                          <a:solidFill>
                            <a:schemeClr val="tx1"/>
                          </a:solidFill>
                          <a:latin typeface="+mn-ea"/>
                          <a:ea typeface="+mn-ea"/>
                          <a:cs typeface="+mn-cs"/>
                        </a:rPr>
                        <a:t>screened</a:t>
                      </a:r>
                      <a:r>
                        <a:rPr lang="en-US" altLang="zh-CN" sz="1000" kern="1200">
                          <a:solidFill>
                            <a:schemeClr val="tx1"/>
                          </a:solidFill>
                          <a:latin typeface="+mn-ea"/>
                          <a:ea typeface="+mn-ea"/>
                          <a:cs typeface="+mn-cs"/>
                        </a:rPr>
                        <a:t>, one subject under screening, 0 randomized subjects, and 2 screen failed; globally,22 subjects were </a:t>
                      </a:r>
                      <a:r>
                        <a:rPr kumimoji="1" lang="en-US" altLang="zh-CN" sz="1000" kern="1200">
                          <a:solidFill>
                            <a:schemeClr val="tx1"/>
                          </a:solidFill>
                          <a:latin typeface="+mn-ea"/>
                          <a:ea typeface="+mn-ea"/>
                          <a:cs typeface="+mn-cs"/>
                        </a:rPr>
                        <a:t>screened</a:t>
                      </a:r>
                      <a:r>
                        <a:rPr lang="en-US" altLang="zh-CN" sz="1000" kern="1200">
                          <a:solidFill>
                            <a:schemeClr val="tx1"/>
                          </a:solidFill>
                          <a:latin typeface="+mn-ea"/>
                          <a:ea typeface="+mn-ea"/>
                          <a:cs typeface="+mn-cs"/>
                        </a:rPr>
                        <a:t>, 7 subject under screening, 5 randomized subjects, and 10 screen failed</a:t>
                      </a:r>
                      <a:endParaRPr kumimoji="1" lang="en-US" altLang="zh-CN" sz="1000" kern="1200">
                        <a:solidFill>
                          <a:schemeClr val="tx1"/>
                        </a:solidFill>
                        <a:latin typeface="+mn-ea"/>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171450" indent="-171450" algn="l">
                        <a:buFont typeface="Arial" panose="020B0604020202020204" pitchFamily="34" charset="0"/>
                        <a:buChar char="•"/>
                      </a:pPr>
                      <a:r>
                        <a:rPr kumimoji="1" lang="en-US" altLang="zh-CN" sz="1000" kern="1200">
                          <a:solidFill>
                            <a:schemeClr val="tx1"/>
                          </a:solidFill>
                          <a:latin typeface="+mn-ea"/>
                          <a:ea typeface="+mn-ea"/>
                          <a:cs typeface="+mn-cs"/>
                        </a:rPr>
                        <a:t>Continue trial conduction and accelerate enrollment</a:t>
                      </a:r>
                      <a:endParaRPr kumimoji="1" lang="zh-CN" altLang="en-US" sz="1000" kern="1200">
                        <a:solidFill>
                          <a:schemeClr val="tx1"/>
                        </a:solidFill>
                        <a:latin typeface="+mn-ea"/>
                        <a:ea typeface="+mn-ea"/>
                        <a:cs typeface="+mn-cs"/>
                      </a:endParaRPr>
                    </a:p>
                  </a:txBody>
                  <a:tcPr anchor="ctr">
                    <a:lnL w="12700" cap="flat" cmpd="sng" algn="ctr">
                      <a:solidFill>
                        <a:schemeClr val="bg1">
                          <a:lumMod val="85000"/>
                        </a:schemeClr>
                      </a:solidFill>
                      <a:prstDash val="dash"/>
                      <a:round/>
                      <a:headEnd type="none" w="med" len="med"/>
                      <a:tailEnd type="none" w="med" len="med"/>
                    </a:lnL>
                    <a:solidFill>
                      <a:schemeClr val="bg1"/>
                    </a:solidFill>
                  </a:tcPr>
                </a:tc>
                <a:extLst>
                  <a:ext uri="{0D108BD9-81ED-4DB2-BD59-A6C34878D82A}">
                    <a16:rowId xmlns:a16="http://schemas.microsoft.com/office/drawing/2014/main" val="418175574"/>
                  </a:ext>
                </a:extLst>
              </a:tr>
              <a:tr h="1093654">
                <a:tc rowSpan="3">
                  <a:txBody>
                    <a:bodyPr/>
                    <a:lstStyle/>
                    <a:p>
                      <a:pPr algn="l"/>
                      <a:r>
                        <a:rPr kumimoji="1" lang="en-US" altLang="zh-CN" sz="1000" i="0" kern="1200">
                          <a:solidFill>
                            <a:schemeClr val="tx1"/>
                          </a:solidFill>
                          <a:latin typeface="+mn-ea"/>
                          <a:ea typeface="+mn-ea"/>
                        </a:rPr>
                        <a:t>Nerandomilast (PDE4bi)</a:t>
                      </a:r>
                      <a:endParaRPr kumimoji="1" lang="zh-CN" altLang="en-US" sz="1000" i="0" kern="1200">
                        <a:solidFill>
                          <a:schemeClr val="tx1"/>
                        </a:solidFill>
                        <a:latin typeface="+mn-ea"/>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00" i="0" kern="1200">
                          <a:solidFill>
                            <a:schemeClr val="tx1"/>
                          </a:solidFill>
                          <a:latin typeface="+mn-ea"/>
                          <a:ea typeface="+mn-ea"/>
                        </a:rPr>
                        <a:t>IPF</a:t>
                      </a:r>
                      <a:endParaRPr kumimoji="1" lang="zh-CN" altLang="en-US" sz="1000" i="0" kern="1200">
                        <a:solidFill>
                          <a:schemeClr val="tx1"/>
                        </a:solidFill>
                        <a:latin typeface="+mn-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00" b="1" i="0" kern="1200">
                          <a:solidFill>
                            <a:schemeClr val="tx1"/>
                          </a:solidFill>
                          <a:latin typeface="+mn-ea"/>
                          <a:ea typeface="+mn-ea"/>
                          <a:cs typeface="+mn-cs"/>
                        </a:rPr>
                        <a:t>Feb 2026</a:t>
                      </a:r>
                    </a:p>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00" i="0" kern="1200">
                          <a:solidFill>
                            <a:schemeClr val="tx1"/>
                          </a:solidFill>
                          <a:latin typeface="+mn-ea"/>
                          <a:ea typeface="+mn-ea"/>
                          <a:cs typeface="+mn-cs"/>
                        </a:rPr>
                        <a:t>(</a:t>
                      </a:r>
                      <a:r>
                        <a:rPr lang="en-US" altLang="zh-CN" sz="1000" kern="1200">
                          <a:solidFill>
                            <a:schemeClr val="tx1"/>
                          </a:solidFill>
                          <a:effectLst/>
                          <a:latin typeface="+mn-lt"/>
                          <a:ea typeface="+mn-ea"/>
                          <a:cs typeface="+mn-cs"/>
                        </a:rPr>
                        <a:t>will be further evaluated in Q3 2025 with evolvement of QC testing and GCP inspection)</a:t>
                      </a:r>
                      <a:endParaRPr kumimoji="1" lang="zh-CN" altLang="en-US" sz="1000" i="0" kern="1200">
                        <a:solidFill>
                          <a:schemeClr val="tx1"/>
                        </a:solidFill>
                        <a:latin typeface="+mn-ea"/>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000" b="1" kern="1200">
                          <a:solidFill>
                            <a:schemeClr val="tx1"/>
                          </a:solidFill>
                          <a:latin typeface="+mn-ea"/>
                          <a:ea typeface="+mn-ea"/>
                          <a:cs typeface="+mn-cs"/>
                        </a:rPr>
                        <a:t>Regulatory update</a:t>
                      </a:r>
                      <a:r>
                        <a:rPr kumimoji="1" lang="en-US" altLang="zh-CN" sz="1000" b="0" kern="1200">
                          <a:solidFill>
                            <a:schemeClr val="tx1"/>
                          </a:solidFill>
                          <a:latin typeface="+mn-ea"/>
                          <a:ea typeface="+mn-ea"/>
                          <a:cs typeface="+mn-cs"/>
                        </a:rPr>
                        <a:t>: 1. </a:t>
                      </a:r>
                      <a:r>
                        <a:rPr lang="en-US" altLang="zh-CN" sz="1000" kern="1200">
                          <a:solidFill>
                            <a:schemeClr val="tx1"/>
                          </a:solidFill>
                          <a:effectLst/>
                          <a:latin typeface="+mn-lt"/>
                          <a:ea typeface="+mn-ea"/>
                          <a:cs typeface="+mn-cs"/>
                        </a:rPr>
                        <a:t>Preparation of the IPF Type III meeting dossier is underway and submission of the meeting request is targeted for the last week of May; 2. </a:t>
                      </a:r>
                      <a:r>
                        <a:rPr lang="en-US" altLang="zh-CN" sz="1000" b="0" i="0" kern="1200">
                          <a:solidFill>
                            <a:schemeClr val="tx1"/>
                          </a:solidFill>
                          <a:effectLst/>
                          <a:latin typeface="+mn-lt"/>
                          <a:ea typeface="+mn-ea"/>
                          <a:cs typeface="+mn-cs"/>
                        </a:rPr>
                        <a:t>The China integration plan for chILD was endorsed by CEC in April, and the </a:t>
                      </a:r>
                      <a:r>
                        <a:rPr lang="en-US" altLang="zh-CN" sz="1000"/>
                        <a:t>China HAI meeting request will be submitted when global core content is ready</a:t>
                      </a:r>
                      <a:r>
                        <a:rPr lang="en-US" altLang="zh-CN" sz="1000" kern="1200">
                          <a:solidFill>
                            <a:schemeClr val="tx1"/>
                          </a:solidFill>
                          <a:effectLst/>
                          <a:latin typeface="+mn-lt"/>
                          <a:ea typeface="+mn-ea"/>
                          <a:cs typeface="+mn-cs"/>
                        </a:rPr>
                        <a:t>.</a:t>
                      </a:r>
                      <a:endParaRPr kumimoji="1" lang="en-US" altLang="zh-CN" sz="1000" b="0" kern="1200">
                        <a:solidFill>
                          <a:schemeClr val="tx1"/>
                        </a:solidFill>
                        <a:latin typeface="+mn-ea"/>
                        <a:ea typeface="+mn-ea"/>
                        <a:cs typeface="+mn-cs"/>
                      </a:endParaRPr>
                    </a:p>
                    <a:p>
                      <a:pPr marL="171450" indent="-171450" algn="l" defTabSz="914377" rtl="0" eaLnBrk="1" latinLnBrk="0" hangingPunct="1">
                        <a:lnSpc>
                          <a:spcPct val="100000"/>
                        </a:lnSpc>
                        <a:buFont typeface="Arial" panose="020B0604020202020204" pitchFamily="34" charset="0"/>
                        <a:buChar char="•"/>
                        <a:defRPr/>
                      </a:pPr>
                      <a:r>
                        <a:rPr kumimoji="1" lang="en-US" altLang="zh-CN" sz="1000" b="1" kern="1200">
                          <a:solidFill>
                            <a:schemeClr val="tx1"/>
                          </a:solidFill>
                          <a:latin typeface="+mn-ea"/>
                          <a:ea typeface="+mn-ea"/>
                          <a:cs typeface="+mn-cs"/>
                        </a:rPr>
                        <a:t>Inspection update: </a:t>
                      </a:r>
                      <a:r>
                        <a:rPr lang="en-US" altLang="zh-CN" sz="1000" kern="1200">
                          <a:solidFill>
                            <a:schemeClr val="tx1"/>
                          </a:solidFill>
                          <a:effectLst/>
                          <a:latin typeface="+mn-lt"/>
                          <a:ea typeface="+mn-ea"/>
                          <a:cs typeface="+mn-cs"/>
                        </a:rPr>
                        <a:t>CFDI inspection notification for selected sites is expected to be received in May. Local preparation is ongoing.</a:t>
                      </a:r>
                      <a:endParaRPr kumimoji="1" lang="en-US" altLang="zh-CN" sz="1000" b="0" kern="1200">
                        <a:solidFill>
                          <a:schemeClr val="tx1"/>
                        </a:solidFill>
                        <a:latin typeface="+mn-ea"/>
                        <a:ea typeface="+mn-ea"/>
                        <a:cs typeface="+mn-cs"/>
                      </a:endParaRPr>
                    </a:p>
                    <a:p>
                      <a:pPr marL="171450" indent="-171450" algn="l" defTabSz="914377" rtl="0" eaLnBrk="1" latinLnBrk="0" hangingPunct="1">
                        <a:lnSpc>
                          <a:spcPct val="100000"/>
                        </a:lnSpc>
                        <a:buFont typeface="Arial" panose="020B0604020202020204" pitchFamily="34" charset="0"/>
                        <a:buChar char="•"/>
                        <a:defRPr/>
                      </a:pPr>
                      <a:r>
                        <a:rPr kumimoji="1" lang="en-US" altLang="zh-CN" sz="1000" b="1" kern="1200">
                          <a:solidFill>
                            <a:schemeClr val="tx1"/>
                          </a:solidFill>
                          <a:latin typeface="+mn-ea"/>
                          <a:ea typeface="+mn-ea"/>
                          <a:cs typeface="+mn-cs"/>
                        </a:rPr>
                        <a:t>TLR communication: </a:t>
                      </a:r>
                      <a:r>
                        <a:rPr lang="en-US" altLang="zh-CN" sz="1000" b="0" i="0" kern="1200">
                          <a:solidFill>
                            <a:schemeClr val="tx1"/>
                          </a:solidFill>
                          <a:effectLst/>
                          <a:latin typeface="+mn-lt"/>
                          <a:ea typeface="+mn-ea"/>
                          <a:cs typeface="+mn-cs"/>
                        </a:rPr>
                        <a:t>The primary publication will be released during ATS, and the data will be disseminated locally in sync.</a:t>
                      </a:r>
                    </a:p>
                    <a:p>
                      <a:pPr marL="171450" indent="-171450" algn="l" defTabSz="914377" rtl="0" eaLnBrk="1" latinLnBrk="0" hangingPunct="1">
                        <a:lnSpc>
                          <a:spcPct val="100000"/>
                        </a:lnSpc>
                        <a:buFont typeface="Arial" panose="020B0604020202020204" pitchFamily="34" charset="0"/>
                        <a:buChar char="•"/>
                        <a:defRPr/>
                      </a:pPr>
                      <a:r>
                        <a:rPr kumimoji="1" lang="en-US" altLang="zh-CN" sz="1000" b="1" kern="1200">
                          <a:solidFill>
                            <a:schemeClr val="tx1"/>
                          </a:solidFill>
                          <a:latin typeface="+mn-ea"/>
                          <a:ea typeface="+mn-ea"/>
                          <a:cs typeface="+mn-cs"/>
                        </a:rPr>
                        <a:t>Risk: </a:t>
                      </a:r>
                      <a:r>
                        <a:rPr kumimoji="1" lang="en-US" altLang="zh-CN" sz="1000" b="0" kern="1200">
                          <a:solidFill>
                            <a:schemeClr val="tx1"/>
                          </a:solidFill>
                          <a:latin typeface="+mn-ea"/>
                          <a:ea typeface="+mn-ea"/>
                          <a:cs typeface="+mn-cs"/>
                        </a:rPr>
                        <a:t>regarding CMC DS (B2 vs. B3), no structured bridge data was provided in NDA dossier and CDE will request bridge data—has aligned with global to add clarifications into proactive response list for better defending B3.</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171450" lvl="0" indent="-171450" algn="l">
                        <a:buFont typeface="Arial"/>
                        <a:buChar char="•"/>
                      </a:pPr>
                      <a:r>
                        <a:rPr lang="en-US" altLang="zh-CN" sz="1000" b="0" i="0" kern="1200">
                          <a:solidFill>
                            <a:schemeClr val="tx1"/>
                          </a:solidFill>
                          <a:effectLst/>
                          <a:latin typeface="+mn-ea"/>
                          <a:ea typeface="+mn-ea"/>
                          <a:cs typeface="+mn-cs"/>
                        </a:rPr>
                        <a:t>Type III meeting request submission for dose amendment is planned by the end of May.</a:t>
                      </a:r>
                    </a:p>
                    <a:p>
                      <a:pPr marL="171450" lvl="0" indent="-171450" algn="l">
                        <a:buFont typeface="Arial"/>
                        <a:buChar char="•"/>
                      </a:pPr>
                      <a:r>
                        <a:rPr lang="en-US" altLang="zh-CN" sz="1000" b="0" i="0" kern="1200">
                          <a:solidFill>
                            <a:schemeClr val="tx1"/>
                          </a:solidFill>
                          <a:effectLst/>
                          <a:latin typeface="+mn-ea"/>
                          <a:ea typeface="+mn-ea"/>
                          <a:cs typeface="+mn-cs"/>
                        </a:rPr>
                        <a:t>NMPA on-site inspection conduct and response in May and June.</a:t>
                      </a:r>
                    </a:p>
                  </a:txBody>
                  <a:tcPr>
                    <a:lnL w="12700" cap="flat" cmpd="sng" algn="ctr">
                      <a:solidFill>
                        <a:schemeClr val="bg1">
                          <a:lumMod val="85000"/>
                        </a:schemeClr>
                      </a:solidFill>
                      <a:prstDash val="dash"/>
                      <a:round/>
                      <a:headEnd type="none" w="med" len="med"/>
                      <a:tailEnd type="none" w="med" len="med"/>
                    </a:lnL>
                    <a:solidFill>
                      <a:schemeClr val="bg1"/>
                    </a:solidFill>
                  </a:tcPr>
                </a:tc>
                <a:extLst>
                  <a:ext uri="{0D108BD9-81ED-4DB2-BD59-A6C34878D82A}">
                    <a16:rowId xmlns:a16="http://schemas.microsoft.com/office/drawing/2014/main" val="2004128368"/>
                  </a:ext>
                </a:extLst>
              </a:tr>
              <a:tr h="754244">
                <a:tc vMerge="1">
                  <a:txBody>
                    <a:bodyPr/>
                    <a:lstStyle/>
                    <a:p>
                      <a:endParaRPr kumimoji="1" lang="zh-CN" altLang="en-US" sz="1200" i="1" kern="1200">
                        <a:solidFill>
                          <a:schemeClr val="bg1">
                            <a:lumMod val="65000"/>
                          </a:schemeClr>
                        </a:solidFill>
                        <a:latin typeface="+mn-lt"/>
                        <a:ea typeface="+mn-ea"/>
                        <a:cs typeface="+mn-cs"/>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00" i="0" kern="1200">
                          <a:solidFill>
                            <a:schemeClr val="tx1"/>
                          </a:solidFill>
                          <a:latin typeface="+mn-ea"/>
                          <a:ea typeface="+mn-ea"/>
                        </a:rPr>
                        <a:t>PPF</a:t>
                      </a:r>
                      <a:endParaRPr kumimoji="1" lang="zh-CN" altLang="en-US" sz="1000" i="0" kern="1200">
                        <a:solidFill>
                          <a:schemeClr val="tx1"/>
                        </a:solidFill>
                        <a:latin typeface="+mn-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00" b="1" i="0" kern="1200">
                          <a:solidFill>
                            <a:schemeClr val="tx1"/>
                          </a:solidFill>
                          <a:latin typeface="+mn-ea"/>
                          <a:ea typeface="+mn-ea"/>
                          <a:cs typeface="+mn-cs"/>
                        </a:rPr>
                        <a:t>Mar 2026</a:t>
                      </a:r>
                      <a:r>
                        <a:rPr kumimoji="1" lang="zh-CN" altLang="en-US" sz="1000" b="1" i="0" kern="1200">
                          <a:solidFill>
                            <a:schemeClr val="tx1"/>
                          </a:solidFill>
                          <a:latin typeface="+mn-ea"/>
                          <a:ea typeface="+mn-ea"/>
                          <a:cs typeface="+mn-cs"/>
                        </a:rPr>
                        <a:t> </a:t>
                      </a:r>
                      <a:r>
                        <a:rPr kumimoji="1" lang="en-US" altLang="zh-CN" sz="1000" i="0" kern="1200">
                          <a:solidFill>
                            <a:schemeClr val="tx1"/>
                          </a:solidFill>
                          <a:latin typeface="+mn-ea"/>
                          <a:ea typeface="+mn-ea"/>
                          <a:cs typeface="+mn-cs"/>
                        </a:rPr>
                        <a:t>(</a:t>
                      </a:r>
                      <a:r>
                        <a:rPr lang="en-US" altLang="zh-CN" sz="1000" kern="1200">
                          <a:solidFill>
                            <a:schemeClr val="tx1"/>
                          </a:solidFill>
                          <a:effectLst/>
                          <a:latin typeface="+mn-lt"/>
                          <a:ea typeface="+mn-ea"/>
                          <a:cs typeface="+mn-cs"/>
                        </a:rPr>
                        <a:t>will be further evaluated in Q3 2025 with evolvement of QC testing and GCP inspection)</a:t>
                      </a:r>
                      <a:endParaRPr kumimoji="1" lang="zh-CN" altLang="en-US" sz="1000" i="0" kern="1200">
                        <a:solidFill>
                          <a:schemeClr val="tx1"/>
                        </a:solidFill>
                        <a:latin typeface="+mn-ea"/>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171450" indent="-171450" algn="l">
                        <a:buFont typeface="Arial" panose="020B0604020202020204" pitchFamily="34" charset="0"/>
                        <a:buChar char="•"/>
                      </a:pPr>
                      <a:r>
                        <a:rPr lang="en-US" altLang="zh-CN" sz="1000" b="1">
                          <a:latin typeface="+mn-ea"/>
                          <a:ea typeface="+mn-ea"/>
                        </a:rPr>
                        <a:t>Regulatory update: </a:t>
                      </a:r>
                      <a:r>
                        <a:rPr lang="en-US" altLang="zh-CN" sz="1000" b="0">
                          <a:latin typeface="+mn-ea"/>
                          <a:ea typeface="+mn-ea"/>
                        </a:rPr>
                        <a:t>1. </a:t>
                      </a:r>
                      <a:r>
                        <a:rPr lang="en-US" altLang="zh-CN" sz="1000" b="0" i="0" kern="1200">
                          <a:solidFill>
                            <a:schemeClr val="tx2"/>
                          </a:solidFill>
                          <a:effectLst/>
                          <a:latin typeface="+mn-lt"/>
                          <a:ea typeface="+mn-ea"/>
                          <a:cs typeface="+mn-cs"/>
                        </a:rPr>
                        <a:t>The priority review application for the PPF indication received a positive opinion from the CDE on May 8, and PR will be officially granted on May 16, making it the first PR granted globally</a:t>
                      </a:r>
                      <a:r>
                        <a:rPr lang="en-US" altLang="zh-CN" sz="1000" b="0">
                          <a:latin typeface="+mn-ea"/>
                          <a:ea typeface="+mn-ea"/>
                        </a:rPr>
                        <a:t>; 2. </a:t>
                      </a:r>
                      <a:r>
                        <a:rPr lang="en-US" altLang="zh-CN" sz="1000" b="0" i="0" kern="1200">
                          <a:solidFill>
                            <a:schemeClr val="tx2"/>
                          </a:solidFill>
                          <a:effectLst/>
                          <a:latin typeface="+mn-lt"/>
                          <a:ea typeface="+mn-ea"/>
                          <a:cs typeface="+mn-cs"/>
                        </a:rPr>
                        <a:t>China NDA submission achieved on April 30</a:t>
                      </a:r>
                      <a:r>
                        <a:rPr lang="en-US" altLang="zh-CN" sz="1000" b="0" i="0" kern="1200">
                          <a:solidFill>
                            <a:schemeClr val="tx1"/>
                          </a:solidFill>
                          <a:effectLst/>
                          <a:latin typeface="+mn-lt"/>
                          <a:ea typeface="+mn-ea"/>
                          <a:cs typeface="+mn-cs"/>
                        </a:rPr>
                        <a:t> (EU combined submission on April 29, US PPF submission on May 5).</a:t>
                      </a:r>
                    </a:p>
                    <a:p>
                      <a:pPr marL="171450" indent="-171450" algn="l">
                        <a:buFont typeface="Arial" panose="020B0604020202020204" pitchFamily="34" charset="0"/>
                        <a:buChar char="•"/>
                      </a:pPr>
                      <a:r>
                        <a:rPr lang="en-US" altLang="zh-CN" sz="1000" b="1">
                          <a:latin typeface="+mn-ea"/>
                          <a:ea typeface="+mn-ea"/>
                        </a:rPr>
                        <a:t>Trial update</a:t>
                      </a:r>
                      <a:r>
                        <a:rPr lang="en-US" altLang="zh-CN" sz="1000" b="0">
                          <a:latin typeface="+mn-ea"/>
                          <a:ea typeface="+mn-ea"/>
                        </a:rPr>
                        <a:t>: </a:t>
                      </a:r>
                      <a:r>
                        <a:rPr lang="en-US" altLang="zh-CN" sz="1000" b="0">
                          <a:solidFill>
                            <a:schemeClr val="tx2"/>
                          </a:solidFill>
                          <a:latin typeface="+mn-ea"/>
                          <a:ea typeface="+mn-ea"/>
                        </a:rPr>
                        <a:t>1. FIBRONEER-ILD: DBL2 achieved on April 28</a:t>
                      </a:r>
                      <a:r>
                        <a:rPr lang="en-US" altLang="zh-CN" sz="1000" b="0">
                          <a:latin typeface="+mn-ea"/>
                          <a:ea typeface="+mn-ea"/>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00" b="1" i="0" kern="1200">
                          <a:solidFill>
                            <a:schemeClr val="tx1"/>
                          </a:solidFill>
                          <a:effectLst/>
                          <a:latin typeface="+mn-lt"/>
                          <a:ea typeface="+mn-ea"/>
                          <a:cs typeface="+mn-cs"/>
                        </a:rPr>
                        <a:t>TLR communication: </a:t>
                      </a:r>
                      <a:r>
                        <a:rPr lang="en-US" altLang="zh-CN" sz="1000" b="0" i="0" kern="1200">
                          <a:solidFill>
                            <a:schemeClr val="tx1"/>
                          </a:solidFill>
                          <a:effectLst/>
                          <a:latin typeface="+mn-lt"/>
                          <a:ea typeface="+mn-ea"/>
                          <a:cs typeface="+mn-cs"/>
                        </a:rPr>
                        <a:t>1. local TLR foundation training was completed on May 7; 2. The primary publication will be released during ATS, and the data will be disseminated locally in sync.</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171450" indent="-171450" algn="l">
                        <a:buFont typeface="Arial"/>
                        <a:buChar char="•"/>
                      </a:pPr>
                      <a:r>
                        <a:rPr kumimoji="1" lang="en-US" altLang="zh-CN" sz="1000" b="0" i="0" kern="1200">
                          <a:solidFill>
                            <a:schemeClr val="tx1"/>
                          </a:solidFill>
                          <a:effectLst/>
                          <a:latin typeface="+mn-ea"/>
                          <a:ea typeface="+mn-ea"/>
                          <a:cs typeface="+mn-cs"/>
                        </a:rPr>
                        <a:t>Re-evaluate FIBRONEER-SARD study timeline. </a:t>
                      </a:r>
                    </a:p>
                  </a:txBody>
                  <a:tcPr>
                    <a:lnL w="12700" cap="flat" cmpd="sng" algn="ctr">
                      <a:solidFill>
                        <a:schemeClr val="bg1">
                          <a:lumMod val="85000"/>
                        </a:schemeClr>
                      </a:solidFill>
                      <a:prstDash val="dash"/>
                      <a:round/>
                      <a:headEnd type="none" w="med" len="med"/>
                      <a:tailEnd type="none" w="med" len="med"/>
                    </a:lnL>
                    <a:solidFill>
                      <a:schemeClr val="bg1"/>
                    </a:solidFill>
                  </a:tcPr>
                </a:tc>
                <a:extLst>
                  <a:ext uri="{0D108BD9-81ED-4DB2-BD59-A6C34878D82A}">
                    <a16:rowId xmlns:a16="http://schemas.microsoft.com/office/drawing/2014/main" val="2302708110"/>
                  </a:ext>
                </a:extLst>
              </a:tr>
              <a:tr h="754244">
                <a:tc vMerge="1">
                  <a:txBody>
                    <a:bodyPr/>
                    <a:lstStyle/>
                    <a:p>
                      <a:pPr algn="l"/>
                      <a:endParaRPr kumimoji="1" lang="zh-CN" altLang="en-US" sz="1000" i="0" kern="1200">
                        <a:solidFill>
                          <a:schemeClr val="tx1"/>
                        </a:solidFill>
                        <a:latin typeface="+mn-ea"/>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00" i="0" kern="1200">
                          <a:solidFill>
                            <a:schemeClr val="tx1"/>
                          </a:solidFill>
                          <a:latin typeface="+mn-ea"/>
                          <a:ea typeface="+mn-ea"/>
                          <a:cs typeface="+mn-cs"/>
                        </a:rPr>
                        <a:t>SSc</a:t>
                      </a:r>
                      <a:endParaRPr kumimoji="1" lang="zh-CN" altLang="en-US" sz="1000" i="0" kern="1200">
                        <a:solidFill>
                          <a:schemeClr val="tx1"/>
                        </a:solidFill>
                        <a:latin typeface="+mn-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dash"/>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CN" sz="1000" kern="1200">
                          <a:solidFill>
                            <a:schemeClr val="tx1"/>
                          </a:solidFill>
                          <a:latin typeface="+mn-ea"/>
                          <a:ea typeface="+mn-ea"/>
                          <a:cs typeface="+mn-cs"/>
                        </a:rPr>
                        <a:t>2031 (To be updated)</a:t>
                      </a:r>
                      <a:endParaRPr kumimoji="1" lang="zh-CN" altLang="en-US" sz="1000" kern="1200">
                        <a:solidFill>
                          <a:schemeClr val="tx1"/>
                        </a:solidFill>
                        <a:latin typeface="+mn-ea"/>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171450" indent="-171450" algn="l" defTabSz="914400" rtl="0" eaLnBrk="1" latinLnBrk="0" hangingPunct="1">
                        <a:buFont typeface="Arial" panose="020B0604020202020204" pitchFamily="34" charset="0"/>
                        <a:buChar char="•"/>
                      </a:pPr>
                      <a:r>
                        <a:rPr kumimoji="1" lang="en-US" altLang="zh-CN" sz="1000" kern="1200">
                          <a:solidFill>
                            <a:schemeClr val="tx1"/>
                          </a:solidFill>
                          <a:latin typeface="+mn-ea"/>
                          <a:ea typeface="+mn-ea"/>
                          <a:cs typeface="+mn-cs"/>
                        </a:rPr>
                        <a:t>Based on the </a:t>
                      </a:r>
                      <a:r>
                        <a:rPr kumimoji="1" lang="en-US" altLang="zh-CN" sz="1000" kern="1200" err="1">
                          <a:solidFill>
                            <a:schemeClr val="tx1"/>
                          </a:solidFill>
                          <a:latin typeface="+mn-ea"/>
                          <a:ea typeface="+mn-ea"/>
                          <a:cs typeface="+mn-cs"/>
                        </a:rPr>
                        <a:t>SSc</a:t>
                      </a:r>
                      <a:r>
                        <a:rPr kumimoji="1" lang="en-US" altLang="zh-CN" sz="1000" kern="1200">
                          <a:solidFill>
                            <a:schemeClr val="tx1"/>
                          </a:solidFill>
                          <a:latin typeface="+mn-ea"/>
                          <a:ea typeface="+mn-ea"/>
                          <a:cs typeface="+mn-cs"/>
                        </a:rPr>
                        <a:t>-ILD subgroup analysis from FIBRONEER-ILD, the </a:t>
                      </a:r>
                      <a:r>
                        <a:rPr kumimoji="1" lang="en-US" altLang="zh-CN" sz="1000" kern="1200" err="1">
                          <a:solidFill>
                            <a:schemeClr val="tx1"/>
                          </a:solidFill>
                          <a:latin typeface="+mn-ea"/>
                          <a:ea typeface="+mn-ea"/>
                          <a:cs typeface="+mn-cs"/>
                        </a:rPr>
                        <a:t>SSc</a:t>
                      </a:r>
                      <a:r>
                        <a:rPr kumimoji="1" lang="en-US" altLang="zh-CN" sz="1000" kern="1200">
                          <a:solidFill>
                            <a:schemeClr val="tx1"/>
                          </a:solidFill>
                          <a:latin typeface="+mn-ea"/>
                          <a:ea typeface="+mn-ea"/>
                          <a:cs typeface="+mn-cs"/>
                        </a:rPr>
                        <a:t> phase 3 trial is under development without waiting for the </a:t>
                      </a:r>
                      <a:r>
                        <a:rPr kumimoji="1" lang="en-US" altLang="zh-CN" sz="1000" kern="1200" err="1">
                          <a:solidFill>
                            <a:schemeClr val="tx1"/>
                          </a:solidFill>
                          <a:latin typeface="+mn-ea"/>
                          <a:ea typeface="+mn-ea"/>
                          <a:cs typeface="+mn-cs"/>
                        </a:rPr>
                        <a:t>SSc</a:t>
                      </a:r>
                      <a:r>
                        <a:rPr kumimoji="1" lang="en-US" altLang="zh-CN" sz="1000" kern="1200">
                          <a:solidFill>
                            <a:schemeClr val="tx1"/>
                          </a:solidFill>
                          <a:latin typeface="+mn-ea"/>
                          <a:ea typeface="+mn-ea"/>
                          <a:cs typeface="+mn-cs"/>
                        </a:rPr>
                        <a:t>-ILD phase 2b results.</a:t>
                      </a:r>
                    </a:p>
                    <a:p>
                      <a:pPr marL="171450" indent="-171450" algn="l" defTabSz="914400" rtl="0" eaLnBrk="1" latinLnBrk="0" hangingPunct="1">
                        <a:buFont typeface="Arial" panose="020B0604020202020204" pitchFamily="34" charset="0"/>
                        <a:buChar char="•"/>
                      </a:pPr>
                      <a:r>
                        <a:rPr kumimoji="1" lang="en-US" altLang="zh-CN" sz="1000" kern="1200">
                          <a:solidFill>
                            <a:schemeClr val="tx1"/>
                          </a:solidFill>
                          <a:latin typeface="+mn-ea"/>
                          <a:ea typeface="+mn-ea"/>
                          <a:cs typeface="+mn-cs"/>
                        </a:rPr>
                        <a:t>HAI before TDO finalization was planned in Q3 2025 and global CTA submission is planned for Q1 2026.</a:t>
                      </a:r>
                      <a:endParaRPr kumimoji="1" lang="zh-CN" altLang="en-US" sz="1000" kern="1200">
                        <a:solidFill>
                          <a:schemeClr val="tx1"/>
                        </a:solidFill>
                        <a:latin typeface="+mn-ea"/>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171450" indent="-171450" algn="l">
                        <a:buFont typeface="Arial"/>
                        <a:buChar char="•"/>
                      </a:pPr>
                      <a:r>
                        <a:rPr kumimoji="1" lang="en-US" altLang="zh-CN" sz="1000" b="0" i="0" kern="1200">
                          <a:solidFill>
                            <a:schemeClr val="tx1"/>
                          </a:solidFill>
                          <a:effectLst/>
                          <a:latin typeface="+mn-ea"/>
                          <a:ea typeface="+mn-ea"/>
                          <a:cs typeface="+mn-cs"/>
                        </a:rPr>
                        <a:t>Preparation for HAI.</a:t>
                      </a:r>
                    </a:p>
                  </a:txBody>
                  <a:tcPr>
                    <a:lnL w="12700" cap="flat" cmpd="sng" algn="ctr">
                      <a:solidFill>
                        <a:schemeClr val="bg1">
                          <a:lumMod val="85000"/>
                        </a:schemeClr>
                      </a:solidFill>
                      <a:prstDash val="dash"/>
                      <a:round/>
                      <a:headEnd type="none" w="med" len="med"/>
                      <a:tailEnd type="none" w="med" len="med"/>
                    </a:lnL>
                    <a:solidFill>
                      <a:schemeClr val="bg1"/>
                    </a:solidFill>
                  </a:tcPr>
                </a:tc>
                <a:extLst>
                  <a:ext uri="{0D108BD9-81ED-4DB2-BD59-A6C34878D82A}">
                    <a16:rowId xmlns:a16="http://schemas.microsoft.com/office/drawing/2014/main" val="2330628474"/>
                  </a:ext>
                </a:extLst>
              </a:tr>
            </a:tbl>
          </a:graphicData>
        </a:graphic>
      </p:graphicFrame>
      <p:sp>
        <p:nvSpPr>
          <p:cNvPr id="11" name="Star: 5 Points 10">
            <a:extLst>
              <a:ext uri="{FF2B5EF4-FFF2-40B4-BE49-F238E27FC236}">
                <a16:creationId xmlns:a16="http://schemas.microsoft.com/office/drawing/2014/main" id="{7104E3B0-A385-491A-68DF-93F38CDB65E5}"/>
              </a:ext>
            </a:extLst>
          </p:cNvPr>
          <p:cNvSpPr/>
          <p:nvPr/>
        </p:nvSpPr>
        <p:spPr bwMode="gray">
          <a:xfrm>
            <a:off x="9883735" y="145937"/>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828FA8B4-1632-34E2-85CA-9771417FD3DB}"/>
              </a:ext>
            </a:extLst>
          </p:cNvPr>
          <p:cNvSpPr txBox="1"/>
          <p:nvPr/>
        </p:nvSpPr>
        <p:spPr bwMode="gray">
          <a:xfrm>
            <a:off x="10044387" y="122558"/>
            <a:ext cx="944169" cy="190758"/>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prstClr val="black"/>
                </a:solidFill>
                <a:effectLst/>
                <a:uLnTx/>
                <a:uFillTx/>
                <a:latin typeface="+mn-ea"/>
                <a:cs typeface="+mn-cs"/>
              </a:rPr>
              <a:t>One HP Priority</a:t>
            </a:r>
            <a:endParaRPr kumimoji="0" lang="zh-CN" altLang="en-US" sz="1000" b="1" i="0" u="none" strike="noStrike" kern="1200" cap="none" spc="0" normalizeH="0" baseline="0" noProof="0">
              <a:ln>
                <a:noFill/>
              </a:ln>
              <a:solidFill>
                <a:prstClr val="black"/>
              </a:solidFill>
              <a:effectLst/>
              <a:uLnTx/>
              <a:uFillTx/>
              <a:latin typeface="+mn-ea"/>
              <a:cs typeface="+mn-cs"/>
            </a:endParaRPr>
          </a:p>
        </p:txBody>
      </p:sp>
      <p:sp>
        <p:nvSpPr>
          <p:cNvPr id="13" name="TextBox 12">
            <a:extLst>
              <a:ext uri="{FF2B5EF4-FFF2-40B4-BE49-F238E27FC236}">
                <a16:creationId xmlns:a16="http://schemas.microsoft.com/office/drawing/2014/main" id="{ABAA68EE-A24B-6453-449D-0C81D4589AE6}"/>
              </a:ext>
            </a:extLst>
          </p:cNvPr>
          <p:cNvSpPr txBox="1"/>
          <p:nvPr/>
        </p:nvSpPr>
        <p:spPr bwMode="gray">
          <a:xfrm>
            <a:off x="11303636" y="122558"/>
            <a:ext cx="654025" cy="190758"/>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prstClr val="black"/>
                </a:solidFill>
                <a:effectLst/>
                <a:uLnTx/>
                <a:uFillTx/>
                <a:latin typeface="+mn-ea"/>
                <a:cs typeface="+mn-cs"/>
              </a:rPr>
              <a:t>TA Priority</a:t>
            </a:r>
            <a:endParaRPr kumimoji="0" lang="zh-CN" altLang="en-US" sz="1000" b="1" i="0" u="none" strike="noStrike" kern="1200" cap="none" spc="0" normalizeH="0" baseline="0" noProof="0">
              <a:ln>
                <a:noFill/>
              </a:ln>
              <a:solidFill>
                <a:prstClr val="black"/>
              </a:solidFill>
              <a:effectLst/>
              <a:uLnTx/>
              <a:uFillTx/>
              <a:latin typeface="+mn-ea"/>
              <a:cs typeface="+mn-cs"/>
            </a:endParaRPr>
          </a:p>
        </p:txBody>
      </p:sp>
      <p:sp>
        <p:nvSpPr>
          <p:cNvPr id="14" name="Star: 4 Points 13">
            <a:extLst>
              <a:ext uri="{FF2B5EF4-FFF2-40B4-BE49-F238E27FC236}">
                <a16:creationId xmlns:a16="http://schemas.microsoft.com/office/drawing/2014/main" id="{FC468952-BCBE-275F-8436-15F0E1D700BD}"/>
              </a:ext>
            </a:extLst>
          </p:cNvPr>
          <p:cNvSpPr/>
          <p:nvPr/>
        </p:nvSpPr>
        <p:spPr bwMode="gray">
          <a:xfrm>
            <a:off x="11109020" y="127937"/>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5" name="Star: 4 Points 14">
            <a:extLst>
              <a:ext uri="{FF2B5EF4-FFF2-40B4-BE49-F238E27FC236}">
                <a16:creationId xmlns:a16="http://schemas.microsoft.com/office/drawing/2014/main" id="{AD24EA83-55FC-E172-215D-4DBBBE4A3869}"/>
              </a:ext>
            </a:extLst>
          </p:cNvPr>
          <p:cNvSpPr/>
          <p:nvPr/>
        </p:nvSpPr>
        <p:spPr bwMode="gray">
          <a:xfrm>
            <a:off x="246131" y="1784697"/>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6" name="Star: 5 Points 15">
            <a:extLst>
              <a:ext uri="{FF2B5EF4-FFF2-40B4-BE49-F238E27FC236}">
                <a16:creationId xmlns:a16="http://schemas.microsoft.com/office/drawing/2014/main" id="{55FD0CB7-5422-1804-EA48-0EF5892C05A6}"/>
              </a:ext>
            </a:extLst>
          </p:cNvPr>
          <p:cNvSpPr/>
          <p:nvPr/>
        </p:nvSpPr>
        <p:spPr bwMode="gray">
          <a:xfrm>
            <a:off x="274213" y="3275246"/>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884907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918F-D4B9-CB22-8347-C74577AED3F9}"/>
              </a:ext>
            </a:extLst>
          </p:cNvPr>
          <p:cNvSpPr>
            <a:spLocks noGrp="1"/>
          </p:cNvSpPr>
          <p:nvPr>
            <p:ph type="title"/>
          </p:nvPr>
        </p:nvSpPr>
        <p:spPr>
          <a:xfrm>
            <a:off x="397497" y="297419"/>
            <a:ext cx="11233151" cy="720000"/>
          </a:xfrm>
        </p:spPr>
        <p:txBody>
          <a:bodyPr/>
          <a:lstStyle/>
          <a:p>
            <a:r>
              <a:rPr lang="en-US" altLang="zh-CN"/>
              <a:t>TA Portfolio Key Update Late-stage Assets</a:t>
            </a:r>
            <a:endParaRPr lang="zh-CN" altLang="en-US"/>
          </a:p>
        </p:txBody>
      </p:sp>
      <p:sp>
        <p:nvSpPr>
          <p:cNvPr id="4" name="Footer Placeholder 3">
            <a:extLst>
              <a:ext uri="{FF2B5EF4-FFF2-40B4-BE49-F238E27FC236}">
                <a16:creationId xmlns:a16="http://schemas.microsoft.com/office/drawing/2014/main" id="{DCC1BB9F-CAEF-31DF-2BBC-093AAE66D508}"/>
              </a:ext>
            </a:extLst>
          </p:cNvPr>
          <p:cNvSpPr>
            <a:spLocks noGrp="1"/>
          </p:cNvSpPr>
          <p:nvPr>
            <p:ph type="ftr" sz="quarter" idx="16"/>
          </p:nvPr>
        </p:nvSpPr>
        <p:spPr/>
        <p:txBody>
          <a:bodyPr/>
          <a:lstStyle/>
          <a:p>
            <a:r>
              <a:rPr lang="en-US" altLang="zh-CN"/>
              <a:t>MAP </a:t>
            </a:r>
            <a:r>
              <a:rPr lang="en-US"/>
              <a:t>|    ONLY FOR INTERNAL USE</a:t>
            </a:r>
          </a:p>
        </p:txBody>
      </p:sp>
      <p:sp>
        <p:nvSpPr>
          <p:cNvPr id="5" name="Slide Number Placeholder 4">
            <a:extLst>
              <a:ext uri="{FF2B5EF4-FFF2-40B4-BE49-F238E27FC236}">
                <a16:creationId xmlns:a16="http://schemas.microsoft.com/office/drawing/2014/main" id="{972F87C9-9F4C-7797-F365-BE8A4ED44AB6}"/>
              </a:ext>
            </a:extLst>
          </p:cNvPr>
          <p:cNvSpPr>
            <a:spLocks noGrp="1"/>
          </p:cNvSpPr>
          <p:nvPr>
            <p:ph type="sldNum" sz="quarter" idx="17"/>
          </p:nvPr>
        </p:nvSpPr>
        <p:spPr/>
        <p:txBody>
          <a:bodyPr/>
          <a:lstStyle/>
          <a:p>
            <a:fld id="{8FF9B0DE-3FEB-4AA0-B465-B80EF7C1333D}" type="slidenum">
              <a:rPr lang="en-US" smtClean="0"/>
              <a:pPr/>
              <a:t>7</a:t>
            </a:fld>
            <a:endParaRPr lang="en-US"/>
          </a:p>
        </p:txBody>
      </p:sp>
      <p:graphicFrame>
        <p:nvGraphicFramePr>
          <p:cNvPr id="6" name="Table 6">
            <a:extLst>
              <a:ext uri="{FF2B5EF4-FFF2-40B4-BE49-F238E27FC236}">
                <a16:creationId xmlns:a16="http://schemas.microsoft.com/office/drawing/2014/main" id="{99E71C16-9E1E-F011-B398-2DD75D956D8F}"/>
              </a:ext>
            </a:extLst>
          </p:cNvPr>
          <p:cNvGraphicFramePr>
            <a:graphicFrameLocks noGrp="1"/>
          </p:cNvGraphicFramePr>
          <p:nvPr>
            <p:extLst>
              <p:ext uri="{D42A27DB-BD31-4B8C-83A1-F6EECF244321}">
                <p14:modId xmlns:p14="http://schemas.microsoft.com/office/powerpoint/2010/main" val="2947588528"/>
              </p:ext>
            </p:extLst>
          </p:nvPr>
        </p:nvGraphicFramePr>
        <p:xfrm>
          <a:off x="107502" y="950746"/>
          <a:ext cx="11976996" cy="2697480"/>
        </p:xfrm>
        <a:graphic>
          <a:graphicData uri="http://schemas.openxmlformats.org/drawingml/2006/table">
            <a:tbl>
              <a:tblPr firstRow="1" bandRow="1">
                <a:tableStyleId>{7E9639D4-E3E2-4D34-9284-5A2195B3D0D7}</a:tableStyleId>
              </a:tblPr>
              <a:tblGrid>
                <a:gridCol w="1487212">
                  <a:extLst>
                    <a:ext uri="{9D8B030D-6E8A-4147-A177-3AD203B41FA5}">
                      <a16:colId xmlns:a16="http://schemas.microsoft.com/office/drawing/2014/main" val="3183558779"/>
                    </a:ext>
                  </a:extLst>
                </a:gridCol>
                <a:gridCol w="738848">
                  <a:extLst>
                    <a:ext uri="{9D8B030D-6E8A-4147-A177-3AD203B41FA5}">
                      <a16:colId xmlns:a16="http://schemas.microsoft.com/office/drawing/2014/main" val="4060529730"/>
                    </a:ext>
                  </a:extLst>
                </a:gridCol>
                <a:gridCol w="889000">
                  <a:extLst>
                    <a:ext uri="{9D8B030D-6E8A-4147-A177-3AD203B41FA5}">
                      <a16:colId xmlns:a16="http://schemas.microsoft.com/office/drawing/2014/main" val="1540706906"/>
                    </a:ext>
                  </a:extLst>
                </a:gridCol>
                <a:gridCol w="5200078">
                  <a:extLst>
                    <a:ext uri="{9D8B030D-6E8A-4147-A177-3AD203B41FA5}">
                      <a16:colId xmlns:a16="http://schemas.microsoft.com/office/drawing/2014/main" val="1815427223"/>
                    </a:ext>
                  </a:extLst>
                </a:gridCol>
                <a:gridCol w="3661858">
                  <a:extLst>
                    <a:ext uri="{9D8B030D-6E8A-4147-A177-3AD203B41FA5}">
                      <a16:colId xmlns:a16="http://schemas.microsoft.com/office/drawing/2014/main" val="3539556881"/>
                    </a:ext>
                  </a:extLst>
                </a:gridCol>
              </a:tblGrid>
              <a:tr h="134237">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900">
                          <a:latin typeface="+mn-ea"/>
                          <a:ea typeface="+mn-ea"/>
                        </a:rPr>
                        <a:t>Asset Name (MoA)</a:t>
                      </a:r>
                      <a:endParaRPr lang="zh-CN" altLang="en-US" sz="900">
                        <a:latin typeface="+mn-ea"/>
                        <a:ea typeface="+mn-ea"/>
                      </a:endParaRPr>
                    </a:p>
                  </a:txBody>
                  <a:tcPr>
                    <a:lnR w="6350" cap="flat" cmpd="sng" algn="ctr">
                      <a:solidFill>
                        <a:srgbClr val="076D7E"/>
                      </a:solidFill>
                      <a:prstDash val="solid"/>
                      <a:round/>
                      <a:headEnd type="none" w="med" len="med"/>
                      <a:tailEnd type="none" w="med" len="med"/>
                    </a:lnR>
                    <a:solidFill>
                      <a:srgbClr val="076D7E"/>
                    </a:solidFill>
                  </a:tcPr>
                </a:tc>
                <a:tc>
                  <a:txBody>
                    <a:bodyPr/>
                    <a:lstStyle/>
                    <a:p>
                      <a:pPr algn="l"/>
                      <a:r>
                        <a:rPr lang="en-US" altLang="zh-CN" sz="900">
                          <a:latin typeface="+mn-ea"/>
                          <a:ea typeface="+mn-ea"/>
                        </a:rPr>
                        <a:t>Indication</a:t>
                      </a:r>
                      <a:endParaRPr lang="zh-CN" altLang="en-US" sz="900">
                        <a:latin typeface="+mn-ea"/>
                        <a:ea typeface="+mn-ea"/>
                      </a:endParaRP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l"/>
                      <a:r>
                        <a:rPr lang="en-US" altLang="zh-CN" sz="900">
                          <a:latin typeface="+mn-ea"/>
                          <a:ea typeface="+mn-ea"/>
                        </a:rPr>
                        <a:t>CN Approval </a:t>
                      </a:r>
                    </a:p>
                    <a:p>
                      <a:pPr lvl="0" algn="l">
                        <a:buNone/>
                      </a:pPr>
                      <a:r>
                        <a:rPr lang="en-US" altLang="zh-CN" sz="900">
                          <a:latin typeface="+mn-ea"/>
                          <a:ea typeface="+mn-ea"/>
                        </a:rPr>
                        <a:t>（base case）</a:t>
                      </a: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l"/>
                      <a:r>
                        <a:rPr lang="en-US" altLang="zh-CN" sz="900">
                          <a:latin typeface="+mn-ea"/>
                          <a:ea typeface="+mn-ea"/>
                        </a:rPr>
                        <a:t>Update  </a:t>
                      </a:r>
                      <a:r>
                        <a:rPr lang="en-US" altLang="zh-CN" sz="900">
                          <a:solidFill>
                            <a:schemeClr val="bg1">
                              <a:lumMod val="85000"/>
                            </a:schemeClr>
                          </a:solidFill>
                          <a:latin typeface="+mn-ea"/>
                          <a:ea typeface="+mn-ea"/>
                        </a:rPr>
                        <a:t>(</a:t>
                      </a:r>
                      <a:r>
                        <a:rPr lang="en-US" altLang="zh-CN" sz="900" i="1">
                          <a:solidFill>
                            <a:schemeClr val="bg1">
                              <a:lumMod val="75000"/>
                            </a:schemeClr>
                          </a:solidFill>
                          <a:latin typeface="+mn-ea"/>
                          <a:ea typeface="+mn-ea"/>
                        </a:rPr>
                        <a:t>please include key achievements, issues/risks, and etc.)</a:t>
                      </a:r>
                      <a:endParaRPr lang="zh-CN" altLang="en-US" sz="900" i="1">
                        <a:solidFill>
                          <a:schemeClr val="bg1">
                            <a:lumMod val="75000"/>
                          </a:schemeClr>
                        </a:solidFill>
                        <a:latin typeface="+mn-ea"/>
                        <a:ea typeface="+mn-ea"/>
                      </a:endParaRP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l"/>
                      <a:r>
                        <a:rPr lang="en-US" altLang="zh-CN" sz="900">
                          <a:latin typeface="+mn-ea"/>
                          <a:ea typeface="+mn-ea"/>
                        </a:rPr>
                        <a:t>Next Step</a:t>
                      </a:r>
                      <a:endParaRPr lang="zh-CN" altLang="en-US" sz="900">
                        <a:latin typeface="+mn-ea"/>
                        <a:ea typeface="+mn-ea"/>
                      </a:endParaRPr>
                    </a:p>
                  </a:txBody>
                  <a:tcPr>
                    <a:lnL w="6350" cap="flat" cmpd="sng" algn="ctr">
                      <a:solidFill>
                        <a:srgbClr val="076D7E"/>
                      </a:solidFill>
                      <a:prstDash val="solid"/>
                      <a:round/>
                      <a:headEnd type="none" w="med" len="med"/>
                      <a:tailEnd type="none" w="med" len="med"/>
                    </a:lnL>
                    <a:solidFill>
                      <a:srgbClr val="076D7E"/>
                    </a:solidFill>
                  </a:tcPr>
                </a:tc>
                <a:extLst>
                  <a:ext uri="{0D108BD9-81ED-4DB2-BD59-A6C34878D82A}">
                    <a16:rowId xmlns:a16="http://schemas.microsoft.com/office/drawing/2014/main" val="4731445"/>
                  </a:ext>
                </a:extLst>
              </a:tr>
              <a:tr h="337627">
                <a:tc rowSpan="2">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100" i="0" kern="1200">
                          <a:solidFill>
                            <a:schemeClr val="tx1"/>
                          </a:solidFill>
                          <a:latin typeface="+mn-ea"/>
                          <a:ea typeface="+mn-ea"/>
                          <a:cs typeface="+mn-cs"/>
                        </a:rPr>
                        <a:t>BI 1291583 (</a:t>
                      </a:r>
                      <a:r>
                        <a:rPr kumimoji="1" lang="en-US" altLang="zh-CN" sz="1100" i="0" kern="1200" err="1">
                          <a:solidFill>
                            <a:schemeClr val="tx1"/>
                          </a:solidFill>
                          <a:latin typeface="+mn-ea"/>
                          <a:ea typeface="+mn-ea"/>
                          <a:cs typeface="+mn-cs"/>
                        </a:rPr>
                        <a:t>CatC</a:t>
                      </a:r>
                      <a:r>
                        <a:rPr kumimoji="1" lang="en-US" altLang="zh-CN" sz="1100" i="0" kern="1200">
                          <a:solidFill>
                            <a:schemeClr val="tx1"/>
                          </a:solidFill>
                          <a:latin typeface="+mn-ea"/>
                          <a:ea typeface="+mn-ea"/>
                          <a:cs typeface="+mn-cs"/>
                        </a:rPr>
                        <a:t> inhibitor)</a:t>
                      </a:r>
                      <a:endParaRPr kumimoji="1" lang="zh-CN" altLang="en-US" sz="1100" i="0" kern="1200">
                        <a:solidFill>
                          <a:schemeClr val="tx1"/>
                        </a:solidFill>
                        <a:latin typeface="+mn-ea"/>
                        <a:ea typeface="+mn-ea"/>
                        <a:cs typeface="+mn-cs"/>
                      </a:endParaRPr>
                    </a:p>
                  </a:txBody>
                  <a:tcPr>
                    <a:lnR w="12700" cap="flat" cmpd="sng" algn="ctr">
                      <a:solidFill>
                        <a:schemeClr val="bg1">
                          <a:lumMod val="85000"/>
                        </a:schemeClr>
                      </a:solidFill>
                      <a:prstDash val="dash"/>
                      <a:round/>
                      <a:headEnd type="none" w="med" len="med"/>
                      <a:tailEnd type="none" w="med" len="med"/>
                    </a:lnR>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100" i="0" kern="1200">
                          <a:solidFill>
                            <a:schemeClr val="tx1"/>
                          </a:solidFill>
                          <a:latin typeface="+mn-ea"/>
                          <a:ea typeface="+mn-ea"/>
                        </a:rPr>
                        <a:t>BE</a:t>
                      </a:r>
                      <a:endParaRPr kumimoji="1" lang="zh-CN" altLang="en-US" sz="1100" i="0" kern="1200">
                        <a:solidFill>
                          <a:schemeClr val="tx1"/>
                        </a:solidFill>
                        <a:latin typeface="+mn-ea"/>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lvl="0" algn="l">
                        <a:buNone/>
                      </a:pPr>
                      <a:r>
                        <a:rPr kumimoji="1" lang="en-US" altLang="zh-CN" sz="1100" i="0" kern="1200" noProof="0">
                          <a:solidFill>
                            <a:schemeClr val="tx1"/>
                          </a:solidFill>
                          <a:latin typeface="+mn-ea"/>
                          <a:ea typeface="+mn-ea"/>
                          <a:cs typeface="+mn-cs"/>
                        </a:rPr>
                        <a:t>Mar 2030</a:t>
                      </a:r>
                      <a:endParaRPr kumimoji="1" lang="zh-CN" altLang="en-US" sz="1100" i="0" kern="1200">
                        <a:solidFill>
                          <a:schemeClr val="tx1"/>
                        </a:solidFill>
                        <a:latin typeface="+mn-ea"/>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1" lang="en-US" altLang="zh-CN" sz="1100" kern="1200">
                          <a:solidFill>
                            <a:schemeClr val="tx1"/>
                          </a:solidFill>
                          <a:latin typeface="+mn-lt"/>
                          <a:ea typeface="+mn-ea"/>
                          <a:cs typeface="+mn-cs"/>
                        </a:rPr>
                        <a:t>CatCi Phase III (1397-0014) Global </a:t>
                      </a:r>
                      <a:r>
                        <a:rPr kumimoji="1" lang="en-US" altLang="zh-CN" sz="1100" b="1" kern="1200">
                          <a:solidFill>
                            <a:schemeClr val="tx1"/>
                          </a:solidFill>
                          <a:latin typeface="+mn-lt"/>
                          <a:ea typeface="+mn-ea"/>
                          <a:cs typeface="+mn-cs"/>
                        </a:rPr>
                        <a:t>1st EC approval</a:t>
                      </a:r>
                      <a:r>
                        <a:rPr kumimoji="1" lang="en-US" altLang="zh-CN" sz="1100" kern="1200">
                          <a:solidFill>
                            <a:schemeClr val="tx1"/>
                          </a:solidFill>
                          <a:latin typeface="+mn-lt"/>
                          <a:ea typeface="+mn-ea"/>
                          <a:cs typeface="+mn-cs"/>
                        </a:rPr>
                        <a:t> obtained from China leading site CHN001 (Huadong Hospital affiliated to Fudan University).</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altLang="zh-CN" sz="1100">
                          <a:latin typeface="+mn-lt"/>
                        </a:rPr>
                        <a:t>CatCi Phase III (1397-0014) final country allocation released, the global target sample size are 1642 patients. China commitment </a:t>
                      </a:r>
                      <a:r>
                        <a:rPr lang="en-US" altLang="zh-CN" sz="1100" b="1">
                          <a:latin typeface="+mn-lt"/>
                        </a:rPr>
                        <a:t>201 patients</a:t>
                      </a:r>
                      <a:r>
                        <a:rPr lang="en-US" altLang="zh-CN" sz="1100">
                          <a:latin typeface="+mn-lt"/>
                        </a:rPr>
                        <a:t> indicating as the </a:t>
                      </a:r>
                      <a:r>
                        <a:rPr lang="en-US" altLang="zh-CN" sz="1100" b="1">
                          <a:latin typeface="+mn-lt"/>
                        </a:rPr>
                        <a:t>TOP1 recruiter</a:t>
                      </a:r>
                      <a:r>
                        <a:rPr lang="en-US" altLang="zh-CN" sz="1100">
                          <a:latin typeface="+mn-lt"/>
                        </a:rPr>
                        <a:t> in the listing. A total of 523 sites has been allocated for this trial. China Commitment of </a:t>
                      </a:r>
                      <a:r>
                        <a:rPr lang="en-US" altLang="zh-CN" sz="1100" b="1">
                          <a:latin typeface="+mn-lt"/>
                        </a:rPr>
                        <a:t>54 sites</a:t>
                      </a:r>
                      <a:r>
                        <a:rPr lang="en-US" altLang="zh-CN" sz="1100">
                          <a:latin typeface="+mn-lt"/>
                        </a:rPr>
                        <a:t> has not been reduced.</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b="0">
                          <a:latin typeface="+mn-ea"/>
                          <a:ea typeface="+mn-ea"/>
                        </a:rPr>
                        <a:t>60 WD for technical review in CDE for CTA for BI 1291583 (CatCi) phase III trial 1397-0014 in BE, target approval by the end of May.</a:t>
                      </a:r>
                    </a:p>
                    <a:p>
                      <a:pPr marL="228600" marR="0" lvl="0"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b="0">
                          <a:latin typeface="+mn-ea"/>
                          <a:ea typeface="+mn-ea"/>
                        </a:rPr>
                        <a:t>CMC interaction planned in early Jun2025, to have the CDE feedback in Aug/Sep2025. </a:t>
                      </a:r>
                    </a:p>
                    <a:p>
                      <a:pPr marL="228600" marR="0" lvl="0" indent="-2286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00" b="0">
                          <a:latin typeface="+mn-ea"/>
                          <a:ea typeface="+mn-ea"/>
                        </a:rPr>
                        <a:t>To kick off the preparation of China PK study CTP in Sep2025.</a:t>
                      </a:r>
                    </a:p>
                  </a:txBody>
                  <a:tcPr>
                    <a:lnL w="12700" cap="flat" cmpd="sng" algn="ctr">
                      <a:solidFill>
                        <a:schemeClr val="bg1">
                          <a:lumMod val="85000"/>
                        </a:schemeClr>
                      </a:solidFill>
                      <a:prstDash val="dash"/>
                      <a:round/>
                      <a:headEnd type="none" w="med" len="med"/>
                      <a:tailEnd type="none" w="med" len="med"/>
                    </a:lnL>
                    <a:solidFill>
                      <a:schemeClr val="bg1"/>
                    </a:solidFill>
                  </a:tcPr>
                </a:tc>
                <a:extLst>
                  <a:ext uri="{0D108BD9-81ED-4DB2-BD59-A6C34878D82A}">
                    <a16:rowId xmlns:a16="http://schemas.microsoft.com/office/drawing/2014/main" val="496192143"/>
                  </a:ext>
                </a:extLst>
              </a:tr>
              <a:tr h="248136">
                <a:tc vMerge="1">
                  <a:txBody>
                    <a:bodyPr/>
                    <a:lstStyle/>
                    <a:p>
                      <a:endParaRPr lang="en-US"/>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100" i="0" kern="1200">
                          <a:solidFill>
                            <a:schemeClr val="tx1"/>
                          </a:solidFill>
                          <a:latin typeface="+mn-ea"/>
                          <a:ea typeface="+mn-ea"/>
                          <a:cs typeface="+mn-cs"/>
                        </a:rPr>
                        <a:t>Pediatric trials</a:t>
                      </a:r>
                      <a:endParaRPr kumimoji="1" lang="zh-CN" altLang="en-US" sz="1100" i="0" kern="1200">
                        <a:solidFill>
                          <a:schemeClr val="tx1"/>
                        </a:solidFill>
                        <a:latin typeface="+mn-ea"/>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100" i="0" kern="1200" noProof="0">
                          <a:solidFill>
                            <a:schemeClr val="tx1"/>
                          </a:solidFill>
                          <a:latin typeface="+mn-ea"/>
                          <a:ea typeface="+mn-ea"/>
                          <a:cs typeface="+mn-cs"/>
                        </a:rPr>
                        <a:t>Mar 2030</a:t>
                      </a:r>
                      <a:endParaRPr kumimoji="1" lang="zh-CN" altLang="en-US" sz="1100" i="0" kern="1200">
                        <a:solidFill>
                          <a:schemeClr val="tx1"/>
                        </a:solidFill>
                        <a:latin typeface="+mn-ea"/>
                        <a:ea typeface="+mn-ea"/>
                        <a:cs typeface="+mn-cs"/>
                      </a:endParaRPr>
                    </a:p>
                    <a:p>
                      <a:pPr lvl="0" algn="l">
                        <a:buNone/>
                      </a:pPr>
                      <a:r>
                        <a:rPr kumimoji="1" lang="en-US" altLang="zh-CN" sz="1100" i="0" kern="1200" noProof="0">
                          <a:solidFill>
                            <a:schemeClr val="tx1"/>
                          </a:solidFill>
                          <a:latin typeface="+mn-ea"/>
                          <a:ea typeface="+mn-ea"/>
                          <a:cs typeface="+mn-cs"/>
                        </a:rPr>
                        <a:t>(adults+adolescents)</a:t>
                      </a:r>
                      <a:endParaRPr kumimoji="1" lang="zh-CN" altLang="en-US" sz="1100" i="0" kern="1200">
                        <a:solidFill>
                          <a:schemeClr val="tx1"/>
                        </a:solidFill>
                        <a:latin typeface="+mn-ea"/>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100" b="1" kern="1200">
                          <a:solidFill>
                            <a:schemeClr val="tx1"/>
                          </a:solidFill>
                          <a:latin typeface="+mn-ea"/>
                          <a:ea typeface="+mn-ea"/>
                          <a:cs typeface="+mn-cs"/>
                        </a:rPr>
                        <a:t>POSITIVE</a:t>
                      </a:r>
                      <a:r>
                        <a:rPr kumimoji="1" lang="en-US" altLang="zh-CN" sz="1100" b="0" kern="1200">
                          <a:solidFill>
                            <a:schemeClr val="tx1"/>
                          </a:solidFill>
                          <a:latin typeface="+mn-ea"/>
                          <a:ea typeface="+mn-ea"/>
                          <a:cs typeface="+mn-cs"/>
                        </a:rPr>
                        <a:t> feedback from CDE regarding CatCi pediatric development plan (</a:t>
                      </a:r>
                      <a:r>
                        <a:rPr kumimoji="1" lang="en-US" altLang="zh-CN" sz="1100" b="1" kern="1200">
                          <a:solidFill>
                            <a:schemeClr val="tx1"/>
                          </a:solidFill>
                          <a:latin typeface="+mn-ea"/>
                          <a:ea typeface="+mn-ea"/>
                          <a:cs typeface="+mn-cs"/>
                        </a:rPr>
                        <a:t>12-</a:t>
                      </a:r>
                      <a:r>
                        <a:rPr kumimoji="1" lang="zh-CN" altLang="en-US" sz="1100" b="1" kern="1200">
                          <a:solidFill>
                            <a:schemeClr val="tx1"/>
                          </a:solidFill>
                          <a:latin typeface="+mn-ea"/>
                          <a:ea typeface="+mn-ea"/>
                          <a:cs typeface="+mn-cs"/>
                        </a:rPr>
                        <a:t>＜</a:t>
                      </a:r>
                      <a:r>
                        <a:rPr kumimoji="1" lang="en-US" altLang="zh-CN" sz="1100" b="1" kern="1200">
                          <a:solidFill>
                            <a:schemeClr val="tx1"/>
                          </a:solidFill>
                          <a:latin typeface="+mn-ea"/>
                          <a:ea typeface="+mn-ea"/>
                          <a:cs typeface="+mn-cs"/>
                        </a:rPr>
                        <a:t>18 years of age</a:t>
                      </a:r>
                      <a:r>
                        <a:rPr kumimoji="1" lang="en-US" altLang="zh-CN" sz="1100" b="0" kern="1200">
                          <a:solidFill>
                            <a:schemeClr val="tx1"/>
                          </a:solidFill>
                          <a:latin typeface="+mn-ea"/>
                          <a:ea typeface="+mn-ea"/>
                          <a:cs typeface="+mn-cs"/>
                        </a:rPr>
                        <a:t>) in phase III (1397-0014) trial and China will join global adolescent trial.</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solidFill>
                      <a:schemeClr val="bg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1" lang="en-US" altLang="zh-CN" sz="1100" kern="1200">
                          <a:solidFill>
                            <a:schemeClr val="tx1"/>
                          </a:solidFill>
                          <a:latin typeface="+mn-lt"/>
                          <a:ea typeface="+mn-ea"/>
                          <a:cs typeface="+mn-cs"/>
                        </a:rPr>
                        <a:t>Team will target to submit the CTA of adolescent trial in CatCi Phase III based on the content final protocol amendment (roughly in </a:t>
                      </a:r>
                      <a:r>
                        <a:rPr kumimoji="1" lang="en-US" altLang="zh-CN" sz="1100" b="1" kern="1200">
                          <a:solidFill>
                            <a:schemeClr val="tx1"/>
                          </a:solidFill>
                          <a:latin typeface="+mn-lt"/>
                          <a:ea typeface="+mn-ea"/>
                          <a:cs typeface="+mn-cs"/>
                        </a:rPr>
                        <a:t>early July </a:t>
                      </a:r>
                      <a:r>
                        <a:rPr kumimoji="1" lang="en-US" altLang="zh-CN" sz="1100" kern="1200">
                          <a:solidFill>
                            <a:schemeClr val="tx1"/>
                          </a:solidFill>
                          <a:latin typeface="+mn-lt"/>
                          <a:ea typeface="+mn-ea"/>
                          <a:cs typeface="+mn-cs"/>
                        </a:rPr>
                        <a:t>after translation), details will be shared after amendment timeline sticked.</a:t>
                      </a:r>
                    </a:p>
                  </a:txBody>
                  <a:tcPr>
                    <a:lnL w="12700" cap="flat" cmpd="sng" algn="ctr">
                      <a:solidFill>
                        <a:schemeClr val="bg1">
                          <a:lumMod val="85000"/>
                        </a:schemeClr>
                      </a:solidFill>
                      <a:prstDash val="dash"/>
                      <a:round/>
                      <a:headEnd type="none" w="med" len="med"/>
                      <a:tailEnd type="none" w="med" len="med"/>
                    </a:lnL>
                    <a:solidFill>
                      <a:schemeClr val="bg1"/>
                    </a:solidFill>
                  </a:tcPr>
                </a:tc>
                <a:extLst>
                  <a:ext uri="{0D108BD9-81ED-4DB2-BD59-A6C34878D82A}">
                    <a16:rowId xmlns:a16="http://schemas.microsoft.com/office/drawing/2014/main" val="250685425"/>
                  </a:ext>
                </a:extLst>
              </a:tr>
            </a:tbl>
          </a:graphicData>
        </a:graphic>
      </p:graphicFrame>
      <p:sp>
        <p:nvSpPr>
          <p:cNvPr id="11" name="Star: 5 Points 10">
            <a:extLst>
              <a:ext uri="{FF2B5EF4-FFF2-40B4-BE49-F238E27FC236}">
                <a16:creationId xmlns:a16="http://schemas.microsoft.com/office/drawing/2014/main" id="{7104E3B0-A385-491A-68DF-93F38CDB65E5}"/>
              </a:ext>
            </a:extLst>
          </p:cNvPr>
          <p:cNvSpPr/>
          <p:nvPr/>
        </p:nvSpPr>
        <p:spPr bwMode="gray">
          <a:xfrm>
            <a:off x="9883735" y="145937"/>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828FA8B4-1632-34E2-85CA-9771417FD3DB}"/>
              </a:ext>
            </a:extLst>
          </p:cNvPr>
          <p:cNvSpPr txBox="1"/>
          <p:nvPr/>
        </p:nvSpPr>
        <p:spPr bwMode="gray">
          <a:xfrm>
            <a:off x="10044387" y="122558"/>
            <a:ext cx="944169" cy="190758"/>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prstClr val="black"/>
                </a:solidFill>
                <a:effectLst/>
                <a:uLnTx/>
                <a:uFillTx/>
                <a:latin typeface="+mn-ea"/>
                <a:cs typeface="+mn-cs"/>
              </a:rPr>
              <a:t>One HP Priority</a:t>
            </a:r>
            <a:endParaRPr kumimoji="0" lang="zh-CN" altLang="en-US" sz="1000" b="1" i="0" u="none" strike="noStrike" kern="1200" cap="none" spc="0" normalizeH="0" baseline="0" noProof="0">
              <a:ln>
                <a:noFill/>
              </a:ln>
              <a:solidFill>
                <a:prstClr val="black"/>
              </a:solidFill>
              <a:effectLst/>
              <a:uLnTx/>
              <a:uFillTx/>
              <a:latin typeface="+mn-ea"/>
              <a:cs typeface="+mn-cs"/>
            </a:endParaRPr>
          </a:p>
        </p:txBody>
      </p:sp>
      <p:sp>
        <p:nvSpPr>
          <p:cNvPr id="13" name="TextBox 12">
            <a:extLst>
              <a:ext uri="{FF2B5EF4-FFF2-40B4-BE49-F238E27FC236}">
                <a16:creationId xmlns:a16="http://schemas.microsoft.com/office/drawing/2014/main" id="{ABAA68EE-A24B-6453-449D-0C81D4589AE6}"/>
              </a:ext>
            </a:extLst>
          </p:cNvPr>
          <p:cNvSpPr txBox="1"/>
          <p:nvPr/>
        </p:nvSpPr>
        <p:spPr bwMode="gray">
          <a:xfrm>
            <a:off x="11303636" y="122558"/>
            <a:ext cx="654025" cy="190758"/>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prstClr val="black"/>
                </a:solidFill>
                <a:effectLst/>
                <a:uLnTx/>
                <a:uFillTx/>
                <a:latin typeface="+mn-ea"/>
                <a:cs typeface="+mn-cs"/>
              </a:rPr>
              <a:t>TA Priority</a:t>
            </a:r>
            <a:endParaRPr kumimoji="0" lang="zh-CN" altLang="en-US" sz="1000" b="1" i="0" u="none" strike="noStrike" kern="1200" cap="none" spc="0" normalizeH="0" baseline="0" noProof="0">
              <a:ln>
                <a:noFill/>
              </a:ln>
              <a:solidFill>
                <a:prstClr val="black"/>
              </a:solidFill>
              <a:effectLst/>
              <a:uLnTx/>
              <a:uFillTx/>
              <a:latin typeface="+mn-ea"/>
              <a:cs typeface="+mn-cs"/>
            </a:endParaRPr>
          </a:p>
        </p:txBody>
      </p:sp>
      <p:sp>
        <p:nvSpPr>
          <p:cNvPr id="14" name="Star: 4 Points 13">
            <a:extLst>
              <a:ext uri="{FF2B5EF4-FFF2-40B4-BE49-F238E27FC236}">
                <a16:creationId xmlns:a16="http://schemas.microsoft.com/office/drawing/2014/main" id="{FC468952-BCBE-275F-8436-15F0E1D700BD}"/>
              </a:ext>
            </a:extLst>
          </p:cNvPr>
          <p:cNvSpPr/>
          <p:nvPr/>
        </p:nvSpPr>
        <p:spPr bwMode="gray">
          <a:xfrm>
            <a:off x="11109020" y="127937"/>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7" name="Star: 4 Points 16">
            <a:extLst>
              <a:ext uri="{FF2B5EF4-FFF2-40B4-BE49-F238E27FC236}">
                <a16:creationId xmlns:a16="http://schemas.microsoft.com/office/drawing/2014/main" id="{27D568F1-8DCC-3A40-E2A4-F21D686664D4}"/>
              </a:ext>
            </a:extLst>
          </p:cNvPr>
          <p:cNvSpPr/>
          <p:nvPr/>
        </p:nvSpPr>
        <p:spPr bwMode="gray">
          <a:xfrm>
            <a:off x="307497" y="1980418"/>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3778496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918F-D4B9-CB22-8347-C74577AED3F9}"/>
              </a:ext>
            </a:extLst>
          </p:cNvPr>
          <p:cNvSpPr>
            <a:spLocks noGrp="1"/>
          </p:cNvSpPr>
          <p:nvPr>
            <p:ph type="title"/>
          </p:nvPr>
        </p:nvSpPr>
        <p:spPr>
          <a:xfrm>
            <a:off x="479408" y="220071"/>
            <a:ext cx="11233151" cy="720000"/>
          </a:xfrm>
        </p:spPr>
        <p:txBody>
          <a:bodyPr/>
          <a:lstStyle/>
          <a:p>
            <a:r>
              <a:rPr lang="en-US" altLang="zh-CN"/>
              <a:t>TA Portfolio Key Update Early Assets</a:t>
            </a:r>
            <a:endParaRPr lang="zh-CN" altLang="en-US"/>
          </a:p>
        </p:txBody>
      </p:sp>
      <p:sp>
        <p:nvSpPr>
          <p:cNvPr id="4" name="Footer Placeholder 3">
            <a:extLst>
              <a:ext uri="{FF2B5EF4-FFF2-40B4-BE49-F238E27FC236}">
                <a16:creationId xmlns:a16="http://schemas.microsoft.com/office/drawing/2014/main" id="{DCC1BB9F-CAEF-31DF-2BBC-093AAE66D508}"/>
              </a:ext>
            </a:extLst>
          </p:cNvPr>
          <p:cNvSpPr>
            <a:spLocks noGrp="1"/>
          </p:cNvSpPr>
          <p:nvPr>
            <p:ph type="ftr" sz="quarter" idx="16"/>
          </p:nvPr>
        </p:nvSpPr>
        <p:spPr/>
        <p:txBody>
          <a:bodyPr/>
          <a:lstStyle/>
          <a:p>
            <a:r>
              <a:rPr lang="en-US" altLang="zh-CN"/>
              <a:t>MAP </a:t>
            </a:r>
            <a:r>
              <a:rPr lang="en-US"/>
              <a:t>|    ONLY FOR INTERNAL USE</a:t>
            </a:r>
          </a:p>
        </p:txBody>
      </p:sp>
      <p:sp>
        <p:nvSpPr>
          <p:cNvPr id="5" name="Slide Number Placeholder 4">
            <a:extLst>
              <a:ext uri="{FF2B5EF4-FFF2-40B4-BE49-F238E27FC236}">
                <a16:creationId xmlns:a16="http://schemas.microsoft.com/office/drawing/2014/main" id="{972F87C9-9F4C-7797-F365-BE8A4ED44AB6}"/>
              </a:ext>
            </a:extLst>
          </p:cNvPr>
          <p:cNvSpPr>
            <a:spLocks noGrp="1"/>
          </p:cNvSpPr>
          <p:nvPr>
            <p:ph type="sldNum" sz="quarter" idx="17"/>
          </p:nvPr>
        </p:nvSpPr>
        <p:spPr/>
        <p:txBody>
          <a:bodyPr/>
          <a:lstStyle/>
          <a:p>
            <a:fld id="{8FF9B0DE-3FEB-4AA0-B465-B80EF7C1333D}" type="slidenum">
              <a:rPr lang="en-US" smtClean="0"/>
              <a:pPr/>
              <a:t>8</a:t>
            </a:fld>
            <a:endParaRPr lang="en-US"/>
          </a:p>
        </p:txBody>
      </p:sp>
      <p:sp>
        <p:nvSpPr>
          <p:cNvPr id="11" name="Star: 5 Points 10">
            <a:extLst>
              <a:ext uri="{FF2B5EF4-FFF2-40B4-BE49-F238E27FC236}">
                <a16:creationId xmlns:a16="http://schemas.microsoft.com/office/drawing/2014/main" id="{16A7E44C-FAED-3FA6-1226-6251D6942196}"/>
              </a:ext>
            </a:extLst>
          </p:cNvPr>
          <p:cNvSpPr/>
          <p:nvPr/>
        </p:nvSpPr>
        <p:spPr bwMode="gray">
          <a:xfrm>
            <a:off x="9912096" y="103200"/>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B758AD1B-31DD-5C0B-088D-D132426302CD}"/>
              </a:ext>
            </a:extLst>
          </p:cNvPr>
          <p:cNvSpPr txBox="1"/>
          <p:nvPr/>
        </p:nvSpPr>
        <p:spPr bwMode="gray">
          <a:xfrm>
            <a:off x="10127201" y="70374"/>
            <a:ext cx="857607"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One HP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TextBox 12">
            <a:extLst>
              <a:ext uri="{FF2B5EF4-FFF2-40B4-BE49-F238E27FC236}">
                <a16:creationId xmlns:a16="http://schemas.microsoft.com/office/drawing/2014/main" id="{35840D5A-C2A9-A527-D937-4ACAFE7D9609}"/>
              </a:ext>
            </a:extLst>
          </p:cNvPr>
          <p:cNvSpPr txBox="1"/>
          <p:nvPr/>
        </p:nvSpPr>
        <p:spPr bwMode="gray">
          <a:xfrm>
            <a:off x="11352584" y="82493"/>
            <a:ext cx="597921"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TA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Star: 4 Points 13">
            <a:extLst>
              <a:ext uri="{FF2B5EF4-FFF2-40B4-BE49-F238E27FC236}">
                <a16:creationId xmlns:a16="http://schemas.microsoft.com/office/drawing/2014/main" id="{EA8E2C38-D438-9D58-DA0F-123F2912D951}"/>
              </a:ext>
            </a:extLst>
          </p:cNvPr>
          <p:cNvSpPr/>
          <p:nvPr/>
        </p:nvSpPr>
        <p:spPr bwMode="gray">
          <a:xfrm>
            <a:off x="11114638" y="72015"/>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graphicFrame>
        <p:nvGraphicFramePr>
          <p:cNvPr id="15" name="Table 6">
            <a:extLst>
              <a:ext uri="{FF2B5EF4-FFF2-40B4-BE49-F238E27FC236}">
                <a16:creationId xmlns:a16="http://schemas.microsoft.com/office/drawing/2014/main" id="{B16C4F7B-FFC9-8C91-F3C2-0272A3D6E47F}"/>
              </a:ext>
            </a:extLst>
          </p:cNvPr>
          <p:cNvGraphicFramePr>
            <a:graphicFrameLocks noGrp="1"/>
          </p:cNvGraphicFramePr>
          <p:nvPr>
            <p:extLst>
              <p:ext uri="{D42A27DB-BD31-4B8C-83A1-F6EECF244321}">
                <p14:modId xmlns:p14="http://schemas.microsoft.com/office/powerpoint/2010/main" val="2232183788"/>
              </p:ext>
            </p:extLst>
          </p:nvPr>
        </p:nvGraphicFramePr>
        <p:xfrm>
          <a:off x="329926" y="676413"/>
          <a:ext cx="11532113" cy="4944582"/>
        </p:xfrm>
        <a:graphic>
          <a:graphicData uri="http://schemas.openxmlformats.org/drawingml/2006/table">
            <a:tbl>
              <a:tblPr firstRow="1" bandRow="1">
                <a:tableStyleId>{7E9639D4-E3E2-4D34-9284-5A2195B3D0D7}</a:tableStyleId>
              </a:tblPr>
              <a:tblGrid>
                <a:gridCol w="1582001">
                  <a:extLst>
                    <a:ext uri="{9D8B030D-6E8A-4147-A177-3AD203B41FA5}">
                      <a16:colId xmlns:a16="http://schemas.microsoft.com/office/drawing/2014/main" val="3183558779"/>
                    </a:ext>
                  </a:extLst>
                </a:gridCol>
                <a:gridCol w="840509">
                  <a:extLst>
                    <a:ext uri="{9D8B030D-6E8A-4147-A177-3AD203B41FA5}">
                      <a16:colId xmlns:a16="http://schemas.microsoft.com/office/drawing/2014/main" val="4060529730"/>
                    </a:ext>
                  </a:extLst>
                </a:gridCol>
                <a:gridCol w="1163782">
                  <a:extLst>
                    <a:ext uri="{9D8B030D-6E8A-4147-A177-3AD203B41FA5}">
                      <a16:colId xmlns:a16="http://schemas.microsoft.com/office/drawing/2014/main" val="1540706906"/>
                    </a:ext>
                  </a:extLst>
                </a:gridCol>
                <a:gridCol w="4784437">
                  <a:extLst>
                    <a:ext uri="{9D8B030D-6E8A-4147-A177-3AD203B41FA5}">
                      <a16:colId xmlns:a16="http://schemas.microsoft.com/office/drawing/2014/main" val="1815427223"/>
                    </a:ext>
                  </a:extLst>
                </a:gridCol>
                <a:gridCol w="3161384">
                  <a:extLst>
                    <a:ext uri="{9D8B030D-6E8A-4147-A177-3AD203B41FA5}">
                      <a16:colId xmlns:a16="http://schemas.microsoft.com/office/drawing/2014/main" val="3539556881"/>
                    </a:ext>
                  </a:extLst>
                </a:gridCol>
              </a:tblGrid>
              <a:tr h="411784">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000"/>
                        <a:t>Asset Name-</a:t>
                      </a:r>
                      <a:r>
                        <a:rPr lang="en-US" altLang="zh-CN" sz="1000" err="1"/>
                        <a:t>MoA</a:t>
                      </a:r>
                      <a:endParaRPr lang="zh-CN" altLang="en-US" sz="1000"/>
                    </a:p>
                  </a:txBody>
                  <a:tcPr>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000"/>
                        <a:t>Indication</a:t>
                      </a:r>
                      <a:endParaRPr lang="zh-CN" altLang="en-US" sz="1000"/>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altLang="zh-CN" sz="1000"/>
                        <a:t>China Approval (base case） </a:t>
                      </a:r>
                      <a:endParaRPr lang="zh-CN" altLang="en-US" sz="1000"/>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000"/>
                        <a:t>Update  </a:t>
                      </a:r>
                    </a:p>
                    <a:p>
                      <a:pPr algn="ctr"/>
                      <a:r>
                        <a:rPr lang="en-US" altLang="zh-CN" sz="1000" b="0" i="1">
                          <a:solidFill>
                            <a:schemeClr val="bg1">
                              <a:lumMod val="75000"/>
                            </a:schemeClr>
                          </a:solidFill>
                        </a:rPr>
                        <a:t>(include key achievements, issues/risks, and etc.)</a:t>
                      </a:r>
                      <a:endParaRPr lang="zh-CN" altLang="en-US" sz="1000" b="0" i="1">
                        <a:solidFill>
                          <a:schemeClr val="bg1">
                            <a:lumMod val="75000"/>
                          </a:schemeClr>
                        </a:solidFill>
                      </a:endParaRP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000"/>
                        <a:t>Next Step</a:t>
                      </a:r>
                      <a:endParaRPr lang="zh-CN" altLang="en-US" sz="1000"/>
                    </a:p>
                  </a:txBody>
                  <a:tcPr>
                    <a:lnL w="6350" cap="flat" cmpd="sng" algn="ctr">
                      <a:solidFill>
                        <a:srgbClr val="076D7E"/>
                      </a:solidFill>
                      <a:prstDash val="solid"/>
                      <a:round/>
                      <a:headEnd type="none" w="med" len="med"/>
                      <a:tailEnd type="none" w="med" len="med"/>
                    </a:lnL>
                    <a:solidFill>
                      <a:srgbClr val="076D7E"/>
                    </a:solidFill>
                  </a:tcPr>
                </a:tc>
                <a:extLst>
                  <a:ext uri="{0D108BD9-81ED-4DB2-BD59-A6C34878D82A}">
                    <a16:rowId xmlns:a16="http://schemas.microsoft.com/office/drawing/2014/main" val="4731445"/>
                  </a:ext>
                </a:extLst>
              </a:tr>
              <a:tr h="524453">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000" i="0">
                          <a:solidFill>
                            <a:schemeClr val="tx1"/>
                          </a:solidFill>
                        </a:rPr>
                        <a:t>Avenciguat </a:t>
                      </a:r>
                    </a:p>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000" i="0">
                          <a:solidFill>
                            <a:schemeClr val="tx1"/>
                          </a:solidFill>
                        </a:rPr>
                        <a:t>(sGC activator)</a:t>
                      </a:r>
                      <a:endParaRPr lang="zh-CN" altLang="en-US" sz="1000" i="0">
                        <a:solidFill>
                          <a:schemeClr val="tx1"/>
                        </a:solidFill>
                      </a:endParaRPr>
                    </a:p>
                  </a:txBody>
                  <a:tcPr>
                    <a:lnR w="12700" cap="flat" cmpd="sng" algn="ctr">
                      <a:solidFill>
                        <a:schemeClr val="bg1">
                          <a:lumMod val="85000"/>
                        </a:schemeClr>
                      </a:solidFill>
                      <a:prstDash val="dash"/>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00" i="0" kern="1200">
                          <a:solidFill>
                            <a:schemeClr val="tx1"/>
                          </a:solidFill>
                          <a:latin typeface="+mn-lt"/>
                          <a:ea typeface="+mn-ea"/>
                          <a:cs typeface="+mn-cs"/>
                        </a:rPr>
                        <a:t>SSc</a:t>
                      </a:r>
                      <a:endParaRPr kumimoji="1" lang="zh-CN" altLang="en-US" sz="10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r>
                        <a:rPr kumimoji="1" lang="en-US" altLang="zh-CN" sz="1000" i="0" kern="1200">
                          <a:solidFill>
                            <a:schemeClr val="tx1"/>
                          </a:solidFill>
                          <a:latin typeface="+mn-lt"/>
                          <a:ea typeface="+mn-ea"/>
                          <a:cs typeface="+mn-cs"/>
                        </a:rPr>
                        <a:t>Jul 2031</a:t>
                      </a:r>
                      <a:endParaRPr kumimoji="1" lang="zh-CN" altLang="en-US" sz="10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lgn="l" defTabSz="914377" rtl="0" eaLnBrk="1" latinLnBrk="0" hangingPunct="1">
                        <a:buFont typeface="Arial" panose="020B0604020202020204" pitchFamily="34" charset="0"/>
                        <a:buChar char="•"/>
                      </a:pPr>
                      <a:r>
                        <a:rPr kumimoji="1" lang="en-US" altLang="zh-CN" sz="1000" b="0" i="0" kern="1200">
                          <a:solidFill>
                            <a:schemeClr val="tx2"/>
                          </a:solidFill>
                          <a:latin typeface="+mn-lt"/>
                          <a:ea typeface="+mn-ea"/>
                          <a:cs typeface="+mn-cs"/>
                        </a:rPr>
                        <a:t>CDE feedback on Ph2 (1366-0031) IA plan received on 28 Apr: no further comments on IA plan </a:t>
                      </a:r>
                    </a:p>
                    <a:p>
                      <a:pPr marL="171450" indent="-171450" algn="l" defTabSz="914377" rtl="0" eaLnBrk="1" latinLnBrk="0" hangingPunct="1">
                        <a:buFont typeface="Arial" panose="020B0604020202020204" pitchFamily="34" charset="0"/>
                        <a:buChar char="•"/>
                      </a:pPr>
                      <a:r>
                        <a:rPr kumimoji="1" lang="en-US" altLang="zh-CN" sz="1000" i="0" kern="1200">
                          <a:solidFill>
                            <a:schemeClr val="tx1"/>
                          </a:solidFill>
                          <a:latin typeface="+mn-lt"/>
                          <a:ea typeface="+mn-ea"/>
                          <a:cs typeface="+mn-cs"/>
                        </a:rPr>
                        <a:t>Corporate final decision on 22 Apr: OLE study (1366-0032) following the ph2 study (1366-0031) will not be conducted in future as company will put limited resources on some prioritized projects. </a:t>
                      </a:r>
                    </a:p>
                    <a:p>
                      <a:pPr marL="171450" indent="-171450" algn="l" defTabSz="914377" rtl="0" eaLnBrk="1" latinLnBrk="0" hangingPunct="1">
                        <a:buFont typeface="Arial" panose="020B0604020202020204" pitchFamily="34" charset="0"/>
                        <a:buChar char="•"/>
                      </a:pPr>
                      <a:r>
                        <a:rPr kumimoji="1" lang="en-US" altLang="zh-CN" sz="1000" i="0" kern="1200">
                          <a:solidFill>
                            <a:schemeClr val="tx1"/>
                          </a:solidFill>
                          <a:latin typeface="+mn-lt"/>
                          <a:ea typeface="+mn-ea"/>
                          <a:cs typeface="+mn-cs"/>
                        </a:rPr>
                        <a:t>Global team are recently discussing whether it is possible to submit NDA by leveraging single ph2 data.</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buFont typeface="Arial" panose="020B0604020202020204" pitchFamily="34" charset="0"/>
                        <a:buChar char="•"/>
                      </a:pPr>
                      <a:r>
                        <a:rPr kumimoji="1" lang="en-US" altLang="zh-CN" sz="1000" i="0" kern="1200">
                          <a:solidFill>
                            <a:schemeClr val="tx1"/>
                          </a:solidFill>
                          <a:latin typeface="+mn-lt"/>
                          <a:ea typeface="+mn-ea"/>
                          <a:cs typeface="+mn-cs"/>
                        </a:rPr>
                        <a:t>Local team will complete the global core meeting package (EoP2) by end of May</a:t>
                      </a:r>
                    </a:p>
                    <a:p>
                      <a:pPr marL="171450" indent="-171450">
                        <a:buFont typeface="Arial" panose="020B0604020202020204" pitchFamily="34" charset="0"/>
                        <a:buChar char="•"/>
                      </a:pPr>
                      <a:r>
                        <a:rPr kumimoji="1" lang="en-US" altLang="zh-CN" sz="1000" i="0" kern="1200">
                          <a:solidFill>
                            <a:schemeClr val="tx1"/>
                          </a:solidFill>
                          <a:latin typeface="+mn-lt"/>
                          <a:ea typeface="+mn-ea"/>
                          <a:cs typeface="+mn-cs"/>
                        </a:rPr>
                        <a:t>Local team work closely with global by providing local inputs and requirements from CDE.</a:t>
                      </a:r>
                      <a:endParaRPr kumimoji="1" lang="zh-CN" altLang="en-US" sz="10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282381439"/>
                  </a:ext>
                </a:extLst>
              </a:tr>
              <a:tr h="1455442">
                <a:tc>
                  <a:txBody>
                    <a:bodyPr/>
                    <a:lstStyle/>
                    <a:p>
                      <a:r>
                        <a:rPr kumimoji="1" lang="en-US" altLang="zh-CN" sz="1000" i="0" kern="1200">
                          <a:solidFill>
                            <a:schemeClr val="tx1"/>
                          </a:solidFill>
                          <a:latin typeface="+mn-lt"/>
                          <a:ea typeface="+mn-ea"/>
                          <a:cs typeface="+mn-cs"/>
                        </a:rPr>
                        <a:t>BI 1839100</a:t>
                      </a:r>
                      <a:r>
                        <a:rPr lang="en-US" altLang="zh-CN" sz="1000" i="0" kern="1200">
                          <a:solidFill>
                            <a:schemeClr val="tx1"/>
                          </a:solidFill>
                          <a:latin typeface="+mn-lt"/>
                          <a:ea typeface="+mn-ea"/>
                          <a:cs typeface="+mn-cs"/>
                        </a:rPr>
                        <a:t> </a:t>
                      </a:r>
                      <a:r>
                        <a:rPr kumimoji="1" lang="zh-CN" altLang="en-US" sz="1000" i="0" kern="1200">
                          <a:solidFill>
                            <a:schemeClr val="tx1"/>
                          </a:solidFill>
                          <a:latin typeface="+mn-lt"/>
                          <a:ea typeface="+mn-ea"/>
                          <a:cs typeface="+mn-cs"/>
                        </a:rPr>
                        <a:t> </a:t>
                      </a:r>
                      <a:endParaRPr kumimoji="1" lang="de-DE" altLang="zh-CN" sz="1000" i="0" kern="1200">
                        <a:solidFill>
                          <a:schemeClr val="tx1"/>
                        </a:solidFill>
                        <a:latin typeface="+mn-lt"/>
                        <a:ea typeface="+mn-ea"/>
                        <a:cs typeface="+mn-cs"/>
                      </a:endParaRPr>
                    </a:p>
                    <a:p>
                      <a:r>
                        <a:rPr kumimoji="1" lang="en-US" altLang="zh-CN" sz="1000" i="0" kern="1200">
                          <a:solidFill>
                            <a:schemeClr val="tx1"/>
                          </a:solidFill>
                          <a:latin typeface="+mn-lt"/>
                          <a:ea typeface="+mn-ea"/>
                          <a:cs typeface="+mn-cs"/>
                        </a:rPr>
                        <a:t>(TRPA1 </a:t>
                      </a:r>
                      <a:r>
                        <a:rPr lang="en-US" altLang="zh-CN" sz="1000" i="0">
                          <a:solidFill>
                            <a:schemeClr val="tx1"/>
                          </a:solidFill>
                        </a:rPr>
                        <a:t>antagonist)</a:t>
                      </a:r>
                      <a:endParaRPr lang="zh-CN" altLang="en-US" sz="1000" i="0">
                        <a:solidFill>
                          <a:schemeClr val="tx1"/>
                        </a:solidFill>
                      </a:endParaRPr>
                    </a:p>
                  </a:txBody>
                  <a:tcPr>
                    <a:lnR w="12700" cap="flat" cmpd="sng" algn="ctr">
                      <a:solidFill>
                        <a:schemeClr val="bg1">
                          <a:lumMod val="85000"/>
                        </a:schemeClr>
                      </a:solidFill>
                      <a:prstDash val="dash"/>
                      <a:round/>
                      <a:headEnd type="none" w="med" len="med"/>
                      <a:tailEnd type="none" w="med" len="med"/>
                    </a:lnR>
                    <a:lnT w="6350" cap="flat" cmpd="sng" algn="ctr">
                      <a:solidFill>
                        <a:schemeClr val="tx1"/>
                      </a:solidFill>
                      <a:prstDash val="solid"/>
                      <a:round/>
                      <a:headEnd type="none" w="med" len="med"/>
                      <a:tailEnd type="none" w="med" len="med"/>
                    </a:lnT>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00" i="0" kern="1200">
                          <a:solidFill>
                            <a:schemeClr val="tx1"/>
                          </a:solidFill>
                          <a:latin typeface="+mn-lt"/>
                          <a:ea typeface="+mn-ea"/>
                          <a:cs typeface="+mn-cs"/>
                        </a:rPr>
                        <a:t>IPF/PPF cough</a:t>
                      </a:r>
                      <a:endParaRPr kumimoji="1" lang="zh-CN" altLang="en-US" sz="10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r>
                        <a:rPr kumimoji="1" lang="en-US" altLang="zh-CN" sz="1000" i="0" kern="1200">
                          <a:solidFill>
                            <a:schemeClr val="tx1"/>
                          </a:solidFill>
                          <a:latin typeface="+mn-lt"/>
                          <a:ea typeface="+mn-ea"/>
                          <a:cs typeface="+mn-cs"/>
                        </a:rPr>
                        <a:t>Jan 2032</a:t>
                      </a:r>
                      <a:endParaRPr kumimoji="1" lang="zh-CN" altLang="en-US" sz="10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buFont typeface="Arial" panose="020B0604020202020204" pitchFamily="34" charset="0"/>
                        <a:buChar char="•"/>
                      </a:pPr>
                      <a:r>
                        <a:rPr kumimoji="1" lang="en-US" altLang="zh-CN" sz="1000" i="0" kern="1200">
                          <a:solidFill>
                            <a:schemeClr val="tx1"/>
                          </a:solidFill>
                          <a:latin typeface="+mn-lt"/>
                          <a:ea typeface="+mn-ea"/>
                          <a:cs typeface="+mn-cs"/>
                        </a:rPr>
                        <a:t>On 8Apr, </a:t>
                      </a:r>
                      <a:r>
                        <a:rPr kumimoji="1" lang="en-US" altLang="zh-CN" sz="1000" i="0" kern="1200">
                          <a:solidFill>
                            <a:schemeClr val="tx2"/>
                          </a:solidFill>
                          <a:latin typeface="+mn-lt"/>
                          <a:ea typeface="+mn-ea"/>
                          <a:cs typeface="+mn-cs"/>
                        </a:rPr>
                        <a:t>China team successfully completed the target enrollment  number (n=10)  in IPF cohort of ph2 ahead of 8 months. (global TOP1 recruiter).</a:t>
                      </a:r>
                    </a:p>
                    <a:p>
                      <a:pPr marL="171450" indent="-171450">
                        <a:buFont typeface="Arial" panose="020B0604020202020204" pitchFamily="34" charset="0"/>
                        <a:buChar char="•"/>
                      </a:pPr>
                      <a:r>
                        <a:rPr kumimoji="1" lang="en-US" altLang="zh-CN" sz="1000" i="0" kern="1200">
                          <a:solidFill>
                            <a:schemeClr val="tx1"/>
                          </a:solidFill>
                          <a:latin typeface="+mn-lt"/>
                          <a:ea typeface="+mn-ea"/>
                          <a:cs typeface="+mn-cs"/>
                        </a:rPr>
                        <a:t>China continue to contribute the subjects to global ph2, as of 13 May, China randomized 11 subjects (global TOP1 recruiter), 2 subjects in screening. </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buFont typeface="Arial" panose="020B0604020202020204" pitchFamily="34" charset="0"/>
                        <a:buChar char="•"/>
                      </a:pPr>
                      <a:r>
                        <a:rPr kumimoji="1" lang="en-US" altLang="zh-CN" sz="1000" i="0" kern="1200">
                          <a:solidFill>
                            <a:schemeClr val="tx1"/>
                          </a:solidFill>
                          <a:latin typeface="+mn-lt"/>
                          <a:ea typeface="+mn-ea"/>
                          <a:cs typeface="+mn-cs"/>
                        </a:rPr>
                        <a:t>Continue to enroll the 2 subjects</a:t>
                      </a: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1251782790"/>
                  </a:ext>
                </a:extLst>
              </a:tr>
              <a:tr h="959558">
                <a:tc>
                  <a:txBody>
                    <a:bodyPr/>
                    <a:lstStyle/>
                    <a:p>
                      <a:r>
                        <a:rPr lang="en-US" altLang="zh-CN" sz="1000" i="0">
                          <a:solidFill>
                            <a:schemeClr val="tx1"/>
                          </a:solidFill>
                        </a:rPr>
                        <a:t>BI 1819479 </a:t>
                      </a:r>
                    </a:p>
                    <a:p>
                      <a:r>
                        <a:rPr lang="en-US" altLang="zh-CN" sz="1000" i="0">
                          <a:solidFill>
                            <a:schemeClr val="tx1"/>
                          </a:solidFill>
                        </a:rPr>
                        <a:t>(</a:t>
                      </a:r>
                      <a:r>
                        <a:rPr lang="en-US" altLang="zh-CN" sz="1000" i="0" err="1">
                          <a:solidFill>
                            <a:schemeClr val="tx1"/>
                          </a:solidFill>
                        </a:rPr>
                        <a:t>Autotaxin</a:t>
                      </a:r>
                      <a:r>
                        <a:rPr lang="en-US" altLang="zh-CN" sz="1000" i="0">
                          <a:solidFill>
                            <a:schemeClr val="tx1"/>
                          </a:solidFill>
                        </a:rPr>
                        <a:t> inhibitor)</a:t>
                      </a:r>
                      <a:endParaRPr lang="zh-CN" altLang="en-US" sz="1000" i="0">
                        <a:solidFill>
                          <a:schemeClr val="tx1"/>
                        </a:solidFill>
                      </a:endParaRPr>
                    </a:p>
                  </a:txBody>
                  <a:tcPr>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00" i="0" kern="1200">
                          <a:solidFill>
                            <a:schemeClr val="tx1"/>
                          </a:solidFill>
                          <a:latin typeface="+mn-lt"/>
                          <a:ea typeface="+mn-ea"/>
                          <a:cs typeface="+mn-cs"/>
                        </a:rPr>
                        <a:t>IPF/PPF</a:t>
                      </a:r>
                      <a:endParaRPr kumimoji="1" lang="zh-CN" altLang="en-US" sz="10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algn="l" defTabSz="914377" rtl="0" eaLnBrk="1" latinLnBrk="0" hangingPunct="1"/>
                      <a:r>
                        <a:rPr kumimoji="1" lang="en-US" altLang="zh-CN" sz="1000" i="0" kern="1200">
                          <a:solidFill>
                            <a:schemeClr val="tx1"/>
                          </a:solidFill>
                          <a:latin typeface="+mn-lt"/>
                          <a:ea typeface="+mn-ea"/>
                          <a:cs typeface="+mn-cs"/>
                        </a:rPr>
                        <a:t>Feb 2032</a:t>
                      </a:r>
                      <a:endParaRPr kumimoji="1" lang="zh-CN" altLang="en-US" sz="10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lgn="l" defTabSz="914377" rtl="0" eaLnBrk="1" latinLnBrk="0" hangingPunct="1">
                        <a:buFont typeface="Arial" panose="020B0604020202020204" pitchFamily="34" charset="0"/>
                        <a:buChar char="•"/>
                      </a:pPr>
                      <a:r>
                        <a:rPr kumimoji="1" lang="en-US" altLang="zh-CN" sz="1000" i="0" kern="1200">
                          <a:solidFill>
                            <a:schemeClr val="tx2"/>
                          </a:solidFill>
                          <a:latin typeface="+mn-lt"/>
                          <a:ea typeface="+mn-ea"/>
                          <a:cs typeface="+mn-cs"/>
                        </a:rPr>
                        <a:t>China completed the enrollment of all subjects on Jan 21(N=24), 11 months ahead of the plan. </a:t>
                      </a:r>
                    </a:p>
                    <a:p>
                      <a:pPr marL="171450" indent="-171450" algn="l" defTabSz="914377" rtl="0" eaLnBrk="1" latinLnBrk="0" hangingPunct="1">
                        <a:buFont typeface="Arial" panose="020B0604020202020204" pitchFamily="34" charset="0"/>
                        <a:buChar char="•"/>
                      </a:pPr>
                      <a:r>
                        <a:rPr kumimoji="1" lang="en-US" altLang="zh-CN" sz="1000" i="0" kern="1200">
                          <a:solidFill>
                            <a:schemeClr val="tx1"/>
                          </a:solidFill>
                          <a:latin typeface="+mn-lt"/>
                          <a:ea typeface="+mn-ea"/>
                          <a:cs typeface="+mn-cs"/>
                        </a:rPr>
                        <a:t>Update in May: PK sample (from ph2 study) exportation CIQ was obtained, onsite inspection was passed, flight was booked on 11-12 May.</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000" i="0" kern="1200">
                          <a:solidFill>
                            <a:schemeClr val="tx1"/>
                          </a:solidFill>
                          <a:latin typeface="+mn-lt"/>
                          <a:ea typeface="+mn-ea"/>
                          <a:cs typeface="+mn-cs"/>
                        </a:rPr>
                        <a:t>Monitoring the PK sample exportation activities</a:t>
                      </a:r>
                      <a:endParaRPr kumimoji="1" lang="zh-CN" altLang="en-US" sz="10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418175574"/>
                  </a:ext>
                </a:extLst>
              </a:tr>
              <a:tr h="959558">
                <a:tc>
                  <a:txBody>
                    <a:bodyPr/>
                    <a:lstStyle/>
                    <a:p>
                      <a:r>
                        <a:rPr lang="en-US" altLang="zh-CN" sz="1000" i="0">
                          <a:solidFill>
                            <a:schemeClr val="tx1"/>
                          </a:solidFill>
                        </a:rPr>
                        <a:t>BI 3000202</a:t>
                      </a:r>
                    </a:p>
                    <a:p>
                      <a:r>
                        <a:rPr lang="zh-CN" altLang="en-US" sz="1000" i="0">
                          <a:solidFill>
                            <a:schemeClr val="tx1"/>
                          </a:solidFill>
                        </a:rPr>
                        <a:t>（</a:t>
                      </a:r>
                      <a:r>
                        <a:rPr lang="en-US" altLang="zh-CN" sz="1000" i="0" err="1">
                          <a:solidFill>
                            <a:schemeClr val="tx1"/>
                          </a:solidFill>
                        </a:rPr>
                        <a:t>cGASi</a:t>
                      </a:r>
                      <a:r>
                        <a:rPr lang="zh-CN" altLang="en-US" sz="1000" i="0">
                          <a:solidFill>
                            <a:schemeClr val="tx1"/>
                          </a:solidFill>
                        </a:rPr>
                        <a:t>）</a:t>
                      </a:r>
                      <a:r>
                        <a:rPr lang="en-US" altLang="zh-CN" sz="1000" i="0">
                          <a:solidFill>
                            <a:schemeClr val="tx1"/>
                          </a:solidFill>
                        </a:rPr>
                        <a:t> </a:t>
                      </a:r>
                      <a:endParaRPr lang="zh-CN" altLang="en-US" sz="1000" i="0">
                        <a:solidFill>
                          <a:schemeClr val="tx1"/>
                        </a:solidFill>
                      </a:endParaRPr>
                    </a:p>
                  </a:txBody>
                  <a:tcPr>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00" i="0" kern="1200" err="1">
                          <a:solidFill>
                            <a:schemeClr val="tx1"/>
                          </a:solidFill>
                          <a:latin typeface="+mn-lt"/>
                          <a:ea typeface="+mn-ea"/>
                          <a:cs typeface="+mn-cs"/>
                        </a:rPr>
                        <a:t>IFNopathy</a:t>
                      </a:r>
                      <a:endParaRPr kumimoji="1" lang="en-US" altLang="zh-CN" sz="1000" i="0" kern="1200">
                        <a:solidFill>
                          <a:schemeClr val="tx1"/>
                        </a:solidFill>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1" lang="en-US" altLang="zh-CN" sz="1000" i="0" kern="1200">
                        <a:solidFill>
                          <a:schemeClr val="tx1"/>
                        </a:solidFill>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000" i="0" kern="1200" err="1">
                          <a:solidFill>
                            <a:schemeClr val="tx1"/>
                          </a:solidFill>
                          <a:latin typeface="+mn-lt"/>
                          <a:ea typeface="+mn-ea"/>
                          <a:cs typeface="+mn-cs"/>
                        </a:rPr>
                        <a:t>SSc</a:t>
                      </a:r>
                      <a:endParaRPr kumimoji="1" lang="zh-CN" altLang="en-US" sz="10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algn="l" defTabSz="914377" rtl="0" eaLnBrk="1" latinLnBrk="0" hangingPunct="1"/>
                      <a:r>
                        <a:rPr kumimoji="1" lang="en-US" altLang="zh-CN" sz="1000" i="0" kern="1200">
                          <a:solidFill>
                            <a:schemeClr val="tx1"/>
                          </a:solidFill>
                          <a:latin typeface="+mn-lt"/>
                          <a:ea typeface="+mn-ea"/>
                          <a:cs typeface="+mn-cs"/>
                        </a:rPr>
                        <a:t>Jun 2033</a:t>
                      </a:r>
                    </a:p>
                    <a:p>
                      <a:pPr marL="0" algn="l" defTabSz="914377" rtl="0" eaLnBrk="1" latinLnBrk="0" hangingPunct="1"/>
                      <a:endParaRPr kumimoji="1" lang="en-US" altLang="zh-CN" sz="1000" i="0" kern="1200">
                        <a:solidFill>
                          <a:schemeClr val="tx1"/>
                        </a:solidFill>
                        <a:latin typeface="+mn-lt"/>
                        <a:ea typeface="+mn-ea"/>
                        <a:cs typeface="+mn-cs"/>
                      </a:endParaRPr>
                    </a:p>
                    <a:p>
                      <a:pPr marL="0" algn="l" defTabSz="914377" rtl="0" eaLnBrk="1" latinLnBrk="0" hangingPunct="1"/>
                      <a:r>
                        <a:rPr kumimoji="1" lang="en-US" altLang="zh-CN" sz="1000" i="0" kern="1200">
                          <a:solidFill>
                            <a:schemeClr val="tx1"/>
                          </a:solidFill>
                          <a:latin typeface="+mn-lt"/>
                          <a:ea typeface="+mn-ea"/>
                          <a:cs typeface="+mn-cs"/>
                        </a:rPr>
                        <a:t>Apr 2035</a:t>
                      </a:r>
                      <a:endParaRPr kumimoji="1" lang="zh-CN" altLang="en-US" sz="10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lgn="l" defTabSz="914377" rtl="0" eaLnBrk="1" latinLnBrk="0" hangingPunct="1">
                        <a:buFont typeface="Arial" panose="020B0604020202020204" pitchFamily="34" charset="0"/>
                        <a:buChar char="•"/>
                      </a:pPr>
                      <a:r>
                        <a:rPr kumimoji="1" lang="en-US" altLang="zh-CN" sz="1000" i="0" kern="1200">
                          <a:solidFill>
                            <a:schemeClr val="tx1"/>
                          </a:solidFill>
                          <a:latin typeface="+mn-lt"/>
                          <a:ea typeface="+mn-ea"/>
                          <a:cs typeface="+mn-cs"/>
                        </a:rPr>
                        <a:t>China team generated the CDE interaction plan for IFNopathy early integration plan for ph 2 of IFNopathy &amp; SLE, and team got endorsement from CEC</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000" i="0" kern="1200">
                          <a:solidFill>
                            <a:schemeClr val="tx1"/>
                          </a:solidFill>
                          <a:latin typeface="+mn-lt"/>
                          <a:ea typeface="+mn-ea"/>
                          <a:cs typeface="+mn-cs"/>
                        </a:rPr>
                        <a:t>Communicate with global team on integration plan</a:t>
                      </a:r>
                      <a:endParaRPr kumimoji="1" lang="zh-CN" altLang="en-US" sz="10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3861433053"/>
                  </a:ext>
                </a:extLst>
              </a:tr>
            </a:tbl>
          </a:graphicData>
        </a:graphic>
      </p:graphicFrame>
      <p:sp>
        <p:nvSpPr>
          <p:cNvPr id="3" name="Star: 4 Points 13">
            <a:extLst>
              <a:ext uri="{FF2B5EF4-FFF2-40B4-BE49-F238E27FC236}">
                <a16:creationId xmlns:a16="http://schemas.microsoft.com/office/drawing/2014/main" id="{B764329A-D321-98A3-C89A-44FEEA6BBAFE}"/>
              </a:ext>
            </a:extLst>
          </p:cNvPr>
          <p:cNvSpPr/>
          <p:nvPr/>
        </p:nvSpPr>
        <p:spPr bwMode="gray">
          <a:xfrm>
            <a:off x="535891" y="5069331"/>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2832997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C46B44C2-5913-F7BF-5B47-D563C7429804}"/>
              </a:ext>
            </a:extLst>
          </p:cNvPr>
          <p:cNvSpPr>
            <a:spLocks noGrp="1"/>
          </p:cNvSpPr>
          <p:nvPr>
            <p:ph type="ftr" sz="quarter" idx="16"/>
          </p:nvPr>
        </p:nvSpPr>
        <p:spPr/>
        <p:txBody>
          <a:bodyPr/>
          <a:lstStyle/>
          <a:p>
            <a:r>
              <a:rPr lang="en-US" altLang="zh-CN"/>
              <a:t>Nerandomilast China Evidence Team Meeting</a:t>
            </a:r>
            <a:r>
              <a:rPr lang="en-US"/>
              <a:t>    |    ONLY FOR INTERNAL USE</a:t>
            </a:r>
          </a:p>
        </p:txBody>
      </p:sp>
      <p:sp>
        <p:nvSpPr>
          <p:cNvPr id="5" name="灯片编号占位符 4">
            <a:extLst>
              <a:ext uri="{FF2B5EF4-FFF2-40B4-BE49-F238E27FC236}">
                <a16:creationId xmlns:a16="http://schemas.microsoft.com/office/drawing/2014/main" id="{546CDC7F-4238-09F4-DCD4-9E45C130519C}"/>
              </a:ext>
            </a:extLst>
          </p:cNvPr>
          <p:cNvSpPr>
            <a:spLocks noGrp="1"/>
          </p:cNvSpPr>
          <p:nvPr>
            <p:ph type="sldNum" sz="quarter" idx="17"/>
          </p:nvPr>
        </p:nvSpPr>
        <p:spPr/>
        <p:txBody>
          <a:bodyPr/>
          <a:lstStyle/>
          <a:p>
            <a:fld id="{8FF9B0DE-3FEB-4AA0-B465-B80EF7C1333D}" type="slidenum">
              <a:rPr lang="en-US" smtClean="0"/>
              <a:pPr/>
              <a:t>9</a:t>
            </a:fld>
            <a:endParaRPr lang="en-US"/>
          </a:p>
        </p:txBody>
      </p:sp>
      <p:sp>
        <p:nvSpPr>
          <p:cNvPr id="8" name="Title 1">
            <a:extLst>
              <a:ext uri="{FF2B5EF4-FFF2-40B4-BE49-F238E27FC236}">
                <a16:creationId xmlns:a16="http://schemas.microsoft.com/office/drawing/2014/main" id="{354CA011-D61B-4C7D-1290-9469287F8630}"/>
              </a:ext>
            </a:extLst>
          </p:cNvPr>
          <p:cNvSpPr txBox="1">
            <a:spLocks/>
          </p:cNvSpPr>
          <p:nvPr/>
        </p:nvSpPr>
        <p:spPr bwMode="gray">
          <a:xfrm>
            <a:off x="335441" y="252920"/>
            <a:ext cx="11233151" cy="720000"/>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a:t>INFL TA PMS Study Overview-ILD</a:t>
            </a:r>
            <a:endParaRPr lang="zh-CN" altLang="en-US"/>
          </a:p>
        </p:txBody>
      </p:sp>
      <p:grpSp>
        <p:nvGrpSpPr>
          <p:cNvPr id="2" name="组合 1">
            <a:extLst>
              <a:ext uri="{FF2B5EF4-FFF2-40B4-BE49-F238E27FC236}">
                <a16:creationId xmlns:a16="http://schemas.microsoft.com/office/drawing/2014/main" id="{20D89F16-561F-E2F6-8D8E-7EA3815F43F5}"/>
              </a:ext>
            </a:extLst>
          </p:cNvPr>
          <p:cNvGrpSpPr/>
          <p:nvPr/>
        </p:nvGrpSpPr>
        <p:grpSpPr>
          <a:xfrm>
            <a:off x="116568" y="713245"/>
            <a:ext cx="12027609" cy="5278482"/>
            <a:chOff x="99034" y="489334"/>
            <a:chExt cx="12027609" cy="5278482"/>
          </a:xfrm>
        </p:grpSpPr>
        <p:graphicFrame>
          <p:nvGraphicFramePr>
            <p:cNvPr id="6" name="Content Placeholder 3">
              <a:extLst>
                <a:ext uri="{FF2B5EF4-FFF2-40B4-BE49-F238E27FC236}">
                  <a16:creationId xmlns:a16="http://schemas.microsoft.com/office/drawing/2014/main" id="{5F928A9A-3B83-4761-2D18-7197E10BF791}"/>
                </a:ext>
              </a:extLst>
            </p:cNvPr>
            <p:cNvGraphicFramePr>
              <a:graphicFrameLocks/>
            </p:cNvGraphicFramePr>
            <p:nvPr/>
          </p:nvGraphicFramePr>
          <p:xfrm>
            <a:off x="99034" y="489334"/>
            <a:ext cx="12027609" cy="5278482"/>
          </p:xfrm>
          <a:graphic>
            <a:graphicData uri="http://schemas.openxmlformats.org/drawingml/2006/table">
              <a:tbl>
                <a:tblPr firstRow="1" bandRow="1">
                  <a:tableStyleId>{21E4AEA4-8DFA-4A89-87EB-49C32662AFE0}</a:tableStyleId>
                </a:tblPr>
                <a:tblGrid>
                  <a:gridCol w="1611564">
                    <a:extLst>
                      <a:ext uri="{9D8B030D-6E8A-4147-A177-3AD203B41FA5}">
                        <a16:colId xmlns:a16="http://schemas.microsoft.com/office/drawing/2014/main" val="20000"/>
                      </a:ext>
                    </a:extLst>
                  </a:gridCol>
                  <a:gridCol w="674975">
                    <a:extLst>
                      <a:ext uri="{9D8B030D-6E8A-4147-A177-3AD203B41FA5}">
                        <a16:colId xmlns:a16="http://schemas.microsoft.com/office/drawing/2014/main" val="20002"/>
                      </a:ext>
                    </a:extLst>
                  </a:gridCol>
                  <a:gridCol w="1637212">
                    <a:extLst>
                      <a:ext uri="{9D8B030D-6E8A-4147-A177-3AD203B41FA5}">
                        <a16:colId xmlns:a16="http://schemas.microsoft.com/office/drawing/2014/main" val="20003"/>
                      </a:ext>
                    </a:extLst>
                  </a:gridCol>
                  <a:gridCol w="997570">
                    <a:extLst>
                      <a:ext uri="{9D8B030D-6E8A-4147-A177-3AD203B41FA5}">
                        <a16:colId xmlns:a16="http://schemas.microsoft.com/office/drawing/2014/main" val="4167750559"/>
                      </a:ext>
                    </a:extLst>
                  </a:gridCol>
                  <a:gridCol w="1047964">
                    <a:extLst>
                      <a:ext uri="{9D8B030D-6E8A-4147-A177-3AD203B41FA5}">
                        <a16:colId xmlns:a16="http://schemas.microsoft.com/office/drawing/2014/main" val="513430225"/>
                      </a:ext>
                    </a:extLst>
                  </a:gridCol>
                  <a:gridCol w="998644">
                    <a:extLst>
                      <a:ext uri="{9D8B030D-6E8A-4147-A177-3AD203B41FA5}">
                        <a16:colId xmlns:a16="http://schemas.microsoft.com/office/drawing/2014/main" val="20004"/>
                      </a:ext>
                    </a:extLst>
                  </a:gridCol>
                  <a:gridCol w="4809669">
                    <a:extLst>
                      <a:ext uri="{9D8B030D-6E8A-4147-A177-3AD203B41FA5}">
                        <a16:colId xmlns:a16="http://schemas.microsoft.com/office/drawing/2014/main" val="20006"/>
                      </a:ext>
                    </a:extLst>
                  </a:gridCol>
                  <a:gridCol w="250011">
                    <a:extLst>
                      <a:ext uri="{9D8B030D-6E8A-4147-A177-3AD203B41FA5}">
                        <a16:colId xmlns:a16="http://schemas.microsoft.com/office/drawing/2014/main" val="2471513409"/>
                      </a:ext>
                    </a:extLst>
                  </a:gridCol>
                </a:tblGrid>
                <a:tr h="445867">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rPr>
                          <a:t>Substance/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rPr>
                          <a:t>MOA/Formulation</a:t>
                        </a:r>
                        <a:endParaRPr lang="en-US" altLang="zh-CN" sz="1050" b="1" kern="1200">
                          <a:solidFill>
                            <a:schemeClr val="bg1"/>
                          </a:solidFill>
                          <a:latin typeface="Calibri"/>
                          <a:ea typeface="+mn-ea"/>
                          <a:cs typeface="+mn-cs"/>
                        </a:endParaRPr>
                      </a:p>
                    </a:txBody>
                    <a:tcPr marL="69608" marR="69608" marT="28575" marB="28575"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a:solidFill>
                              <a:schemeClr val="bg1"/>
                            </a:solidFill>
                          </a:rPr>
                          <a:t>Indication</a:t>
                        </a:r>
                        <a:endParaRPr lang="en-US" sz="1050" b="1" kern="1200">
                          <a:solidFill>
                            <a:schemeClr val="bg1"/>
                          </a:solidFill>
                          <a:latin typeface="Calibri"/>
                          <a:ea typeface="+mn-ea"/>
                          <a:cs typeface="+mn-cs"/>
                        </a:endParaRPr>
                      </a:p>
                    </a:txBody>
                    <a:tcPr marL="69608" marR="69608" marT="28575" marB="28575"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kern="1200">
                            <a:solidFill>
                              <a:schemeClr val="bg1"/>
                            </a:solidFill>
                          </a:rPr>
                          <a:t>Study type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kern="1200">
                            <a:solidFill>
                              <a:schemeClr val="bg1"/>
                            </a:solidFill>
                          </a:rPr>
                          <a:t>(Study</a:t>
                        </a:r>
                        <a:r>
                          <a:rPr lang="en-US" altLang="zh-CN" sz="1050" kern="1200" baseline="0">
                            <a:solidFill>
                              <a:schemeClr val="bg1"/>
                            </a:solidFill>
                          </a:rPr>
                          <a:t> no.: FPI-LPO, CTR</a:t>
                        </a:r>
                        <a:r>
                          <a:rPr lang="en-US" altLang="zh-CN" sz="1050" kern="1200">
                            <a:solidFill>
                              <a:schemeClr val="bg1"/>
                            </a:solidFill>
                          </a:rPr>
                          <a:t>)</a:t>
                        </a:r>
                        <a:endParaRPr lang="zh-CN" altLang="en-US" sz="105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l" rtl="0" eaLnBrk="1" fontAlgn="auto" latinLnBrk="0" hangingPunct="1">
                          <a:lnSpc>
                            <a:spcPct val="100000"/>
                          </a:lnSpc>
                          <a:spcBef>
                            <a:spcPts val="0"/>
                          </a:spcBef>
                          <a:spcAft>
                            <a:spcPts val="0"/>
                          </a:spcAft>
                          <a:buFontTx/>
                          <a:buNone/>
                        </a:pPr>
                        <a:r>
                          <a:rPr lang="en-US" altLang="zh-CN" sz="1050" b="1" kern="1200">
                            <a:solidFill>
                              <a:schemeClr val="bg1"/>
                            </a:solidFill>
                          </a:rPr>
                          <a:t>China</a:t>
                        </a:r>
                        <a:r>
                          <a:rPr lang="en-US" altLang="zh-CN" sz="1050" b="1" kern="1200" baseline="0">
                            <a:solidFill>
                              <a:schemeClr val="bg1"/>
                            </a:solidFill>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b="1" kern="1200" baseline="0">
                            <a:solidFill>
                              <a:schemeClr val="bg1"/>
                            </a:solidFill>
                          </a:rPr>
                          <a:t>Dev. Strat.</a:t>
                        </a:r>
                        <a:endParaRPr lang="zh-CN" altLang="en-US" sz="105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rPr>
                          <a:t>Current Status</a:t>
                        </a:r>
                        <a:endParaRPr lang="zh-CN" altLang="en-US" sz="105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l" rtl="0" eaLnBrk="1" fontAlgn="auto" latinLnBrk="0" hangingPunct="1">
                          <a:lnSpc>
                            <a:spcPct val="100000"/>
                          </a:lnSpc>
                          <a:spcBef>
                            <a:spcPts val="0"/>
                          </a:spcBef>
                          <a:spcAft>
                            <a:spcPts val="0"/>
                          </a:spcAft>
                          <a:buFontTx/>
                          <a:buNone/>
                        </a:pPr>
                        <a:r>
                          <a:rPr lang="en-US" altLang="zh-CN" sz="1050" b="1" kern="1200">
                            <a:solidFill>
                              <a:schemeClr val="bg1"/>
                            </a:solidFill>
                          </a:rPr>
                          <a:t> Next Mile-stone</a:t>
                        </a:r>
                        <a:endParaRPr lang="zh-CN" altLang="en-US" sz="105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kern="1200">
                            <a:solidFill>
                              <a:schemeClr val="bg1"/>
                            </a:solidFill>
                          </a:rPr>
                          <a:t>Key Updates</a:t>
                        </a:r>
                        <a:endParaRPr lang="zh-CN" altLang="en-US" sz="105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endParaRPr lang="zh-CN" altLang="en-US"/>
                      </a:p>
                    </a:txBody>
                    <a:tcPr marL="69608" marR="69608" marT="34290" marB="34290" anchor="ctr">
                      <a:solidFill>
                        <a:schemeClr val="bg2">
                          <a:lumMod val="75000"/>
                          <a:lumOff val="25000"/>
                        </a:schemeClr>
                      </a:solidFill>
                    </a:tcPr>
                  </a:tc>
                  <a:extLst>
                    <a:ext uri="{0D108BD9-81ED-4DB2-BD59-A6C34878D82A}">
                      <a16:rowId xmlns:a16="http://schemas.microsoft.com/office/drawing/2014/main" val="10000"/>
                    </a:ext>
                  </a:extLst>
                </a:tr>
                <a:tr h="953481">
                  <a:tc>
                    <a:txBody>
                      <a:bodyPr/>
                      <a:lstStyle/>
                      <a:p>
                        <a:pPr marL="0" marR="0" lvl="0" indent="0" algn="ctr" rtl="0" eaLnBrk="1" fontAlgn="auto" latinLnBrk="0" hangingPunct="1">
                          <a:lnSpc>
                            <a:spcPct val="100000"/>
                          </a:lnSpc>
                          <a:spcBef>
                            <a:spcPts val="0"/>
                          </a:spcBef>
                          <a:spcAft>
                            <a:spcPts val="0"/>
                          </a:spcAft>
                          <a:buClrTx/>
                          <a:buSzTx/>
                          <a:buFontTx/>
                          <a:buNone/>
                        </a:pPr>
                        <a:r>
                          <a:rPr kumimoji="0" lang="en-US" altLang="zh-CN" sz="1000" b="0" u="none" strike="noStrike" kern="1200" cap="none" spc="0" normalizeH="0" baseline="0">
                            <a:ln>
                              <a:noFill/>
                            </a:ln>
                            <a:solidFill>
                              <a:srgbClr val="000000"/>
                            </a:solidFill>
                            <a:effectLst/>
                            <a:uLnTx/>
                            <a:uFillTx/>
                          </a:rPr>
                          <a:t>China IPF Registry Study (PORTRAY) </a:t>
                        </a:r>
                        <a:endParaRPr kumimoji="0" lang="en-US" altLang="zh-CN" sz="1000" b="0" i="0" u="none" strike="noStrike" kern="1200" cap="none" spc="0" normalizeH="0" baseline="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kumimoji="0" lang="en-US" altLang="zh-CN" sz="1000" b="0" u="none" strike="noStrike" kern="1200" cap="none" spc="0" normalizeH="0" baseline="0">
                            <a:ln>
                              <a:noFill/>
                            </a:ln>
                            <a:solidFill>
                              <a:srgbClr val="000000"/>
                            </a:solidFill>
                            <a:effectLst/>
                            <a:uLnTx/>
                            <a:uFillTx/>
                          </a:rPr>
                          <a:t>IPF</a:t>
                        </a:r>
                        <a:r>
                          <a:rPr lang="en-US" altLang="zh-CN" sz="1000" b="0" u="none" strike="noStrike" kern="1200" cap="none" spc="0" normalizeH="0" baseline="0">
                            <a:ln>
                              <a:noFill/>
                            </a:ln>
                            <a:solidFill>
                              <a:srgbClr val="000000"/>
                            </a:solidFill>
                            <a:effectLst/>
                            <a:uLnTx/>
                            <a:uFillTx/>
                          </a:rPr>
                          <a:t> </a:t>
                        </a:r>
                        <a:endParaRPr kumimoji="0" lang="en-US" altLang="zh-CN" sz="1000" b="0" i="0" u="none" strike="noStrike" kern="1200" cap="none" spc="0" normalizeH="0" baseline="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a:ln>
                              <a:noFill/>
                            </a:ln>
                            <a:solidFill>
                              <a:srgbClr val="000000"/>
                            </a:solidFill>
                            <a:effectLst/>
                            <a:uLnTx/>
                            <a:uFillTx/>
                          </a:rPr>
                          <a:t>IIS (1199-0302)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a:ln>
                              <a:noFill/>
                            </a:ln>
                            <a:solidFill>
                              <a:srgbClr val="000000"/>
                            </a:solidFill>
                            <a:effectLst/>
                            <a:uLnTx/>
                            <a:uFillTx/>
                          </a:rPr>
                          <a:t>(Jul2018-July2026,July2027)</a:t>
                        </a:r>
                        <a:endParaRPr kumimoji="0" lang="zh-CN" altLang="en-US" sz="1000" b="0" i="0" u="none" strike="noStrike" kern="1200" cap="none" spc="0" normalizeH="0" baseline="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noProof="0">
                            <a:ln>
                              <a:noFill/>
                            </a:ln>
                            <a:solidFill>
                              <a:srgbClr val="000000"/>
                            </a:solidFill>
                            <a:effectLst/>
                            <a:uLnTx/>
                            <a:uFillTx/>
                          </a:rPr>
                          <a:t>China alone</a:t>
                        </a:r>
                        <a:endParaRPr kumimoji="0" lang="en-US" altLang="zh-CN" sz="1000" b="0" i="0" u="none" strike="noStrike" kern="1200" cap="none" spc="0" normalizeH="0" baseline="0" noProof="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noProof="0">
                            <a:ln>
                              <a:noFill/>
                            </a:ln>
                            <a:solidFill>
                              <a:srgbClr val="000000"/>
                            </a:solidFill>
                            <a:effectLst/>
                            <a:uLnTx/>
                            <a:uFillTx/>
                          </a:rPr>
                          <a:t>Follow up</a:t>
                        </a:r>
                        <a:endParaRPr kumimoji="0" lang="en-US" altLang="zh-CN" sz="1000" b="0" i="0" u="none" strike="noStrike" kern="1200" cap="none" spc="0" normalizeH="0" baseline="0" noProof="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noProof="0">
                            <a:ln>
                              <a:noFill/>
                            </a:ln>
                            <a:solidFill>
                              <a:srgbClr val="000000"/>
                            </a:solidFill>
                            <a:effectLst/>
                            <a:uLnTx/>
                            <a:uFillTx/>
                          </a:rPr>
                          <a:t>LPO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noProof="0">
                            <a:ln>
                              <a:noFill/>
                            </a:ln>
                            <a:solidFill>
                              <a:srgbClr val="000000"/>
                            </a:solidFill>
                            <a:effectLst/>
                            <a:uLnTx/>
                            <a:uFillTx/>
                          </a:rPr>
                          <a:t>(July 2026)</a:t>
                        </a:r>
                        <a:endParaRPr kumimoji="0" lang="zh-CN" altLang="en-US" sz="1000" b="0" i="0" u="none" strike="noStrike" kern="1200" cap="none" spc="0" normalizeH="0" baseline="0" noProof="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altLang="zh-CN" sz="1000" b="0" u="none" strike="noStrike" kern="1200" cap="none" spc="0" normalizeH="0" baseline="0" noProof="0">
                            <a:ln>
                              <a:noFill/>
                            </a:ln>
                            <a:solidFill>
                              <a:schemeClr val="bg1">
                                <a:lumMod val="65000"/>
                              </a:schemeClr>
                            </a:solidFill>
                            <a:effectLst/>
                            <a:uLnTx/>
                            <a:uFillTx/>
                          </a:rPr>
                          <a:t>Follow up ongoing. Subject follow-up rate is low</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altLang="zh-CN" sz="1000" b="0" u="none" strike="noStrike" kern="1200" cap="none" spc="0" normalizeH="0" baseline="0" noProof="0">
                            <a:ln>
                              <a:noFill/>
                            </a:ln>
                            <a:solidFill>
                              <a:schemeClr val="bg1">
                                <a:lumMod val="65000"/>
                              </a:schemeClr>
                            </a:solidFill>
                            <a:effectLst/>
                            <a:uLnTx/>
                            <a:uFillTx/>
                          </a:rPr>
                          <a:t>LPT visited PI  and her team on 16 Dec 2024. Got the alignment: There will be 2 publications, and Sub-I will contact the sub-sites to collect more subjects’ follow-up data as far as possible.</a:t>
                        </a:r>
                      </a:p>
                      <a:p>
                        <a:pPr marL="171450" marR="0" lvl="0" indent="-171450" algn="l" rtl="0">
                          <a:lnSpc>
                            <a:spcPct val="100000"/>
                          </a:lnSpc>
                          <a:spcBef>
                            <a:spcPts val="0"/>
                          </a:spcBef>
                          <a:spcAft>
                            <a:spcPts val="0"/>
                          </a:spcAft>
                          <a:buClrTx/>
                          <a:buSzTx/>
                          <a:buFont typeface="Wingdings" panose="05000000000000000000" pitchFamily="2" charset="2"/>
                          <a:buChar char="ü"/>
                        </a:pPr>
                        <a:r>
                          <a:rPr lang="en-US" altLang="zh-CN" sz="1000" b="0" u="none" strike="noStrike" kern="1200" cap="none" spc="0" normalizeH="0" baseline="0" noProof="0">
                            <a:ln>
                              <a:noFill/>
                            </a:ln>
                            <a:solidFill>
                              <a:schemeClr val="tx1"/>
                            </a:solidFill>
                            <a:effectLst/>
                            <a:uLnTx/>
                            <a:uFillTx/>
                          </a:rPr>
                          <a:t>Sponsor collected some supplement subject data from sub-sites: 153(+65) visits</a:t>
                        </a:r>
                      </a:p>
                    </a:txBody>
                    <a:tcPr marL="92811" marR="92811" marT="38100" marB="38100" anchor="ctr">
                      <a:solidFill>
                        <a:schemeClr val="bg1">
                          <a:lumMod val="85000"/>
                        </a:schemeClr>
                      </a:solidFill>
                    </a:tcPr>
                  </a:tc>
                  <a:tc>
                    <a:txBody>
                      <a:bodyPr/>
                      <a:lstStyle/>
                      <a:p>
                        <a:endParaRPr lang="zh-CN" altLang="en-US"/>
                      </a:p>
                    </a:txBody>
                    <a:tcPr marL="69607" marR="69607" marT="28575" marB="28575">
                      <a:solidFill>
                        <a:schemeClr val="bg1">
                          <a:lumMod val="85000"/>
                        </a:schemeClr>
                      </a:solidFill>
                    </a:tcPr>
                  </a:tc>
                  <a:extLst>
                    <a:ext uri="{0D108BD9-81ED-4DB2-BD59-A6C34878D82A}">
                      <a16:rowId xmlns:a16="http://schemas.microsoft.com/office/drawing/2014/main" val="3928203674"/>
                    </a:ext>
                  </a:extLst>
                </a:tr>
                <a:tr h="660100">
                  <a:tc>
                    <a:txBody>
                      <a:bodyPr/>
                      <a:lstStyle/>
                      <a:p>
                        <a:pPr lvl="0" algn="ctr">
                          <a:buNone/>
                        </a:pPr>
                        <a:r>
                          <a:rPr lang="en-US" sz="1000" b="0" i="0" u="none" strike="noStrike" kern="1200" cap="none" spc="0" normalizeH="0" baseline="0" noProof="0">
                            <a:ln>
                              <a:noFill/>
                            </a:ln>
                            <a:solidFill>
                              <a:srgbClr val="000000"/>
                            </a:solidFill>
                            <a:effectLst/>
                            <a:uLnTx/>
                            <a:uFillTx/>
                            <a:latin typeface="Boehringer Forward Text"/>
                          </a:rPr>
                          <a:t>A Prospective, Multi-Center Registry Study of Progressive Pulmonary Fibrosis (PPF) in China (PROFINA)</a:t>
                        </a:r>
                      </a:p>
                    </a:txBody>
                    <a:tcPr anchor="ctr">
                      <a:solidFill>
                        <a:schemeClr val="bg1">
                          <a:lumMod val="85000"/>
                        </a:schemeClr>
                      </a:solidFill>
                    </a:tcPr>
                  </a:tc>
                  <a:tc>
                    <a:txBody>
                      <a:bodyPr/>
                      <a:lstStyle/>
                      <a:p>
                        <a:pPr lvl="0" algn="ctr" defTabSz="914378" rtl="0">
                          <a:buNone/>
                        </a:pPr>
                        <a:r>
                          <a:rPr lang="en-US" sz="1000" b="0" u="none" strike="noStrike" kern="1200" cap="none" spc="0" normalizeH="0" baseline="0">
                            <a:ln>
                              <a:noFill/>
                            </a:ln>
                            <a:solidFill>
                              <a:srgbClr val="000000"/>
                            </a:solidFill>
                            <a:effectLst/>
                            <a:uLnTx/>
                            <a:uFillTx/>
                            <a:latin typeface="+mn-lt"/>
                            <a:ea typeface="+mn-ea"/>
                            <a:cs typeface="+mn-cs"/>
                          </a:rPr>
                          <a:t>PPF</a:t>
                        </a:r>
                        <a:endParaRPr lang="en-US"/>
                      </a:p>
                    </a:txBody>
                    <a:tcPr anchor="ctr">
                      <a:solidFill>
                        <a:schemeClr val="bg1">
                          <a:lumMod val="85000"/>
                        </a:schemeClr>
                      </a:solidFill>
                    </a:tcPr>
                  </a:tc>
                  <a:tc>
                    <a:txBody>
                      <a:bodyPr/>
                      <a:lstStyle/>
                      <a:p>
                        <a:pPr lvl="0" algn="ctr" rtl="0">
                          <a:buNone/>
                        </a:pPr>
                        <a:r>
                          <a:rPr lang="en-US" altLang="zh-CN" sz="1000" b="0" u="none" strike="noStrike" kern="1200" cap="none" spc="0" normalizeH="0" baseline="0">
                            <a:ln>
                              <a:noFill/>
                            </a:ln>
                            <a:solidFill>
                              <a:srgbClr val="000000"/>
                            </a:solidFill>
                            <a:effectLst/>
                            <a:uLnTx/>
                            <a:uFillTx/>
                            <a:latin typeface="+mn-lt"/>
                            <a:ea typeface="+mn-ea"/>
                            <a:cs typeface="+mn-cs"/>
                          </a:rPr>
                          <a:t>ECR (1305-0105)</a:t>
                        </a:r>
                        <a:endParaRPr lang="en-US" altLang="zh-CN"/>
                      </a:p>
                      <a:p>
                        <a:pPr lvl="0" algn="ctr" rtl="0">
                          <a:buNone/>
                        </a:pPr>
                        <a:r>
                          <a:rPr lang="en-US" altLang="zh-CN" sz="1000" b="0" u="none" strike="noStrike" kern="1200" cap="none" spc="0" normalizeH="0" baseline="0">
                            <a:ln>
                              <a:noFill/>
                            </a:ln>
                            <a:solidFill>
                              <a:srgbClr val="000000"/>
                            </a:solidFill>
                            <a:effectLst/>
                            <a:uLnTx/>
                            <a:uFillTx/>
                            <a:latin typeface="+mn-lt"/>
                            <a:ea typeface="+mn-ea"/>
                            <a:cs typeface="+mn-cs"/>
                          </a:rPr>
                          <a:t>(Oct2025-Jul2028, </a:t>
                        </a:r>
                        <a:endParaRPr lang="zh-CN"/>
                      </a:p>
                      <a:p>
                        <a:pPr lvl="0" algn="ctr">
                          <a:buNone/>
                        </a:pPr>
                        <a:r>
                          <a:rPr lang="en-US" altLang="zh-CN" sz="1000" b="0" u="none" strike="noStrike" kern="1200" cap="none" spc="0" normalizeH="0" baseline="0">
                            <a:ln>
                              <a:noFill/>
                            </a:ln>
                            <a:solidFill>
                              <a:srgbClr val="000000"/>
                            </a:solidFill>
                            <a:effectLst/>
                            <a:uLnTx/>
                            <a:uFillTx/>
                            <a:latin typeface="+mn-lt"/>
                            <a:ea typeface="+mn-ea"/>
                            <a:cs typeface="+mn-cs"/>
                          </a:rPr>
                          <a:t>Dec2028)</a:t>
                        </a:r>
                        <a:endParaRPr lang="zh-CN"/>
                      </a:p>
                    </a:txBody>
                    <a:tcPr anchor="ctr">
                      <a:solidFill>
                        <a:schemeClr val="bg1">
                          <a:lumMod val="85000"/>
                        </a:schemeClr>
                      </a:solidFill>
                    </a:tcPr>
                  </a:tc>
                  <a:tc>
                    <a:txBody>
                      <a:bodyPr/>
                      <a:lstStyle/>
                      <a:p>
                        <a:pPr marL="0" marR="0" lvl="0" indent="0" algn="ctr" rtl="0">
                          <a:lnSpc>
                            <a:spcPct val="100000"/>
                          </a:lnSpc>
                          <a:spcBef>
                            <a:spcPts val="0"/>
                          </a:spcBef>
                          <a:spcAft>
                            <a:spcPts val="0"/>
                          </a:spcAft>
                          <a:buClrTx/>
                          <a:buSzTx/>
                          <a:buFontTx/>
                          <a:buNone/>
                        </a:pPr>
                        <a:r>
                          <a:rPr lang="en-US" altLang="zh-CN" sz="1000" b="0" u="none" strike="noStrike" kern="1200" cap="none" spc="0" normalizeH="0" baseline="0">
                            <a:ln>
                              <a:noFill/>
                            </a:ln>
                            <a:solidFill>
                              <a:srgbClr val="000000"/>
                            </a:solidFill>
                            <a:effectLst/>
                            <a:uLnTx/>
                            <a:uFillTx/>
                            <a:latin typeface="+mn-lt"/>
                            <a:ea typeface="+mn-ea"/>
                            <a:cs typeface="+mn-cs"/>
                          </a:rPr>
                          <a:t>China alone​</a:t>
                        </a:r>
                        <a:endParaRPr lang="en-US"/>
                      </a:p>
                    </a:txBody>
                    <a:tcPr anchor="ctr">
                      <a:solidFill>
                        <a:schemeClr val="bg1">
                          <a:lumMod val="85000"/>
                        </a:schemeClr>
                      </a:solidFill>
                    </a:tcPr>
                  </a:tc>
                  <a:tc>
                    <a:txBody>
                      <a:bodyPr/>
                      <a:lstStyle/>
                      <a:p>
                        <a:pPr lvl="0" algn="ctr" rtl="0">
                          <a:buNone/>
                        </a:pPr>
                        <a:r>
                          <a:rPr lang="en-US" altLang="zh-CN" sz="1000" b="0" u="none" strike="noStrike" kern="1200" cap="none" spc="0" normalizeH="0" baseline="0">
                            <a:ln>
                              <a:noFill/>
                            </a:ln>
                            <a:solidFill>
                              <a:srgbClr val="000000"/>
                            </a:solidFill>
                            <a:effectLst/>
                            <a:uLnTx/>
                            <a:uFillTx/>
                            <a:latin typeface="+mn-lt"/>
                            <a:ea typeface="+mn-ea"/>
                            <a:cs typeface="+mn-cs"/>
                          </a:rPr>
                          <a:t>Protocol approval</a:t>
                        </a:r>
                      </a:p>
                      <a:p>
                        <a:pPr lvl="0" algn="ctr">
                          <a:buNone/>
                        </a:pPr>
                        <a:r>
                          <a:rPr lang="en-US" altLang="zh-CN" sz="1000" b="0" u="none" strike="noStrike" kern="1200" cap="none" spc="0" normalizeH="0" baseline="0">
                            <a:ln>
                              <a:noFill/>
                            </a:ln>
                            <a:solidFill>
                              <a:srgbClr val="000000"/>
                            </a:solidFill>
                            <a:effectLst/>
                            <a:uLnTx/>
                            <a:uFillTx/>
                            <a:latin typeface="+mn-lt"/>
                            <a:ea typeface="+mn-ea"/>
                            <a:cs typeface="+mn-cs"/>
                          </a:rPr>
                          <a:t>(Apr2025)</a:t>
                        </a:r>
                      </a:p>
                    </a:txBody>
                    <a:tcPr anchor="ctr">
                      <a:solidFill>
                        <a:schemeClr val="bg1">
                          <a:lumMod val="85000"/>
                        </a:schemeClr>
                      </a:solidFill>
                    </a:tcPr>
                  </a:tc>
                  <a:tc>
                    <a:txBody>
                      <a:bodyPr/>
                      <a:lstStyle/>
                      <a:p>
                        <a:pPr lvl="0" algn="ctr" rtl="0">
                          <a:buNone/>
                        </a:pPr>
                        <a:r>
                          <a:rPr lang="en-US" altLang="zh-CN" sz="1000" b="0" u="none" strike="noStrike" kern="1200" cap="none" spc="0" normalizeH="0" baseline="0">
                            <a:ln>
                              <a:noFill/>
                            </a:ln>
                            <a:solidFill>
                              <a:srgbClr val="000000"/>
                            </a:solidFill>
                            <a:effectLst/>
                            <a:uLnTx/>
                            <a:uFillTx/>
                            <a:latin typeface="+mn-lt"/>
                            <a:ea typeface="+mn-ea"/>
                            <a:cs typeface="+mn-cs"/>
                          </a:rPr>
                          <a:t>Contract approval</a:t>
                        </a:r>
                      </a:p>
                      <a:p>
                        <a:pPr lvl="0" algn="ctr">
                          <a:buNone/>
                        </a:pPr>
                        <a:r>
                          <a:rPr lang="en-US" altLang="zh-CN" sz="1000" b="0" u="none" strike="noStrike" kern="1200" cap="none" spc="0" normalizeH="0" baseline="0">
                            <a:ln>
                              <a:noFill/>
                            </a:ln>
                            <a:solidFill>
                              <a:srgbClr val="000000"/>
                            </a:solidFill>
                            <a:effectLst/>
                            <a:uLnTx/>
                            <a:uFillTx/>
                            <a:latin typeface="+mn-lt"/>
                            <a:ea typeface="+mn-ea"/>
                            <a:cs typeface="+mn-cs"/>
                          </a:rPr>
                          <a:t>(Sep2025)</a:t>
                        </a:r>
                        <a:endParaRPr lang="en-US" sz="1000" b="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171450" lvl="0" indent="-171450" algn="l">
                          <a:lnSpc>
                            <a:spcPct val="100000"/>
                          </a:lnSpc>
                          <a:spcBef>
                            <a:spcPts val="0"/>
                          </a:spcBef>
                          <a:spcAft>
                            <a:spcPts val="0"/>
                          </a:spcAft>
                          <a:buFont typeface="Wingdings" panose="05000000000000000000" pitchFamily="2" charset="2"/>
                          <a:buChar char="ü"/>
                        </a:pPr>
                        <a:r>
                          <a:rPr lang="en-US" sz="1000" b="0" u="none" strike="noStrike" kern="1200" cap="none" spc="0" normalizeH="0" baseline="0" noProof="0">
                            <a:ln>
                              <a:noFill/>
                            </a:ln>
                            <a:solidFill>
                              <a:schemeClr val="bg1">
                                <a:lumMod val="50000"/>
                              </a:schemeClr>
                            </a:solidFill>
                            <a:effectLst/>
                            <a:uLnTx/>
                            <a:uFillTx/>
                            <a:latin typeface="+mn-lt"/>
                            <a:ea typeface="+mn-ea"/>
                            <a:cs typeface="+mn-cs"/>
                          </a:rPr>
                          <a:t>PEC approval obtained on 28Feb2024</a:t>
                        </a:r>
                      </a:p>
                      <a:p>
                        <a:pPr marL="171450" lvl="0" indent="-171450" algn="l">
                          <a:lnSpc>
                            <a:spcPct val="100000"/>
                          </a:lnSpc>
                          <a:spcBef>
                            <a:spcPts val="0"/>
                          </a:spcBef>
                          <a:spcAft>
                            <a:spcPts val="0"/>
                          </a:spcAft>
                          <a:buFont typeface="Wingdings" panose="05000000000000000000" pitchFamily="2" charset="2"/>
                          <a:buChar char="ü"/>
                        </a:pPr>
                        <a:r>
                          <a:rPr lang="en-US" sz="1000" b="0" u="none" strike="noStrike" kern="1200" cap="none" spc="0" normalizeH="0" baseline="0" noProof="0">
                            <a:ln>
                              <a:noFill/>
                            </a:ln>
                            <a:solidFill>
                              <a:schemeClr val="bg1">
                                <a:lumMod val="50000"/>
                              </a:schemeClr>
                            </a:solidFill>
                            <a:effectLst/>
                            <a:uLnTx/>
                            <a:uFillTx/>
                            <a:latin typeface="+mn-lt"/>
                            <a:ea typeface="+mn-ea"/>
                            <a:cs typeface="+mn-cs"/>
                          </a:rPr>
                          <a:t>Proposal global approval (4th round) obtained on 12Nov2024.  CRO "</a:t>
                        </a:r>
                        <a:r>
                          <a:rPr lang="en-US" sz="1000" b="0" u="none" strike="noStrike" kern="1200" cap="none" spc="0" normalizeH="0" baseline="0" noProof="0" err="1">
                            <a:ln>
                              <a:noFill/>
                            </a:ln>
                            <a:solidFill>
                              <a:schemeClr val="bg1">
                                <a:lumMod val="50000"/>
                              </a:schemeClr>
                            </a:solidFill>
                            <a:effectLst/>
                            <a:uLnTx/>
                            <a:uFillTx/>
                            <a:latin typeface="+mn-lt"/>
                            <a:ea typeface="+mn-ea"/>
                            <a:cs typeface="+mn-cs"/>
                          </a:rPr>
                          <a:t>Heyuan</a:t>
                        </a:r>
                        <a:r>
                          <a:rPr lang="en-US" sz="1000" b="0" u="none" strike="noStrike" kern="1200" cap="none" spc="0" normalizeH="0" baseline="0" noProof="0">
                            <a:ln>
                              <a:noFill/>
                            </a:ln>
                            <a:solidFill>
                              <a:schemeClr val="bg1">
                                <a:lumMod val="50000"/>
                              </a:schemeClr>
                            </a:solidFill>
                            <a:effectLst/>
                            <a:uLnTx/>
                            <a:uFillTx/>
                            <a:latin typeface="+mn-lt"/>
                            <a:ea typeface="+mn-ea"/>
                            <a:cs typeface="+mn-cs"/>
                          </a:rPr>
                          <a:t> </a:t>
                        </a:r>
                        <a:r>
                          <a:rPr lang="en-US" sz="1000" b="0" u="none" strike="noStrike" kern="1200" cap="none" spc="0" normalizeH="0" baseline="0" noProof="0" err="1">
                            <a:ln>
                              <a:noFill/>
                            </a:ln>
                            <a:solidFill>
                              <a:schemeClr val="bg1">
                                <a:lumMod val="50000"/>
                              </a:schemeClr>
                            </a:solidFill>
                            <a:effectLst/>
                            <a:uLnTx/>
                            <a:uFillTx/>
                            <a:latin typeface="+mn-lt"/>
                            <a:ea typeface="+mn-ea"/>
                            <a:cs typeface="+mn-cs"/>
                          </a:rPr>
                          <a:t>Huifeng</a:t>
                        </a:r>
                        <a:r>
                          <a:rPr lang="en-US" sz="1000" b="0" u="none" strike="noStrike" kern="1200" cap="none" spc="0" normalizeH="0" baseline="0" noProof="0">
                            <a:ln>
                              <a:noFill/>
                            </a:ln>
                            <a:solidFill>
                              <a:schemeClr val="bg1">
                                <a:lumMod val="50000"/>
                              </a:schemeClr>
                            </a:solidFill>
                            <a:effectLst/>
                            <a:uLnTx/>
                            <a:uFillTx/>
                            <a:latin typeface="+mn-lt"/>
                            <a:ea typeface="+mn-ea"/>
                            <a:cs typeface="+mn-cs"/>
                          </a:rPr>
                          <a:t>" was selected by PI on 31Oct. Onsite kick-off meeting conducted on 27Nov.</a:t>
                        </a:r>
                      </a:p>
                      <a:p>
                        <a:pPr marL="171450" lvl="0" indent="-171450" algn="l">
                          <a:lnSpc>
                            <a:spcPct val="100000"/>
                          </a:lnSpc>
                          <a:spcBef>
                            <a:spcPts val="0"/>
                          </a:spcBef>
                          <a:spcAft>
                            <a:spcPts val="0"/>
                          </a:spcAft>
                          <a:buFont typeface="Wingdings" panose="05000000000000000000" pitchFamily="2" charset="2"/>
                          <a:buChar char="ü"/>
                        </a:pPr>
                        <a:r>
                          <a:rPr lang="en-US" altLang="zh-CN" sz="1000" b="0" u="none" strike="noStrike" kern="1200" cap="none" spc="0" normalizeH="0" baseline="0" noProof="0">
                            <a:ln>
                              <a:noFill/>
                            </a:ln>
                            <a:solidFill>
                              <a:schemeClr val="tx1"/>
                            </a:solidFill>
                            <a:effectLst/>
                            <a:uLnTx/>
                            <a:uFillTx/>
                            <a:latin typeface="+mn-lt"/>
                            <a:ea typeface="+mn-ea"/>
                            <a:cs typeface="+mn-cs"/>
                          </a:rPr>
                          <a:t>Protocol finalized, signature obtained.</a:t>
                        </a:r>
                      </a:p>
                      <a:p>
                        <a:pPr marL="171450" lvl="0" indent="-171450" algn="l">
                          <a:lnSpc>
                            <a:spcPct val="100000"/>
                          </a:lnSpc>
                          <a:spcBef>
                            <a:spcPts val="0"/>
                          </a:spcBef>
                          <a:spcAft>
                            <a:spcPts val="0"/>
                          </a:spcAft>
                          <a:buFont typeface="Wingdings" panose="05000000000000000000" pitchFamily="2" charset="2"/>
                          <a:buChar char="ü"/>
                        </a:pPr>
                        <a:r>
                          <a:rPr lang="en-US" altLang="zh-CN" sz="1000" b="0" u="none" strike="noStrike" kern="1200" cap="none" spc="0" normalizeH="0" baseline="0" noProof="0">
                            <a:ln>
                              <a:noFill/>
                            </a:ln>
                            <a:solidFill>
                              <a:schemeClr val="tx1"/>
                            </a:solidFill>
                            <a:effectLst/>
                            <a:uLnTx/>
                            <a:uFillTx/>
                            <a:latin typeface="+mn-lt"/>
                            <a:ea typeface="+mn-ea"/>
                            <a:cs typeface="+mn-cs"/>
                          </a:rPr>
                          <a:t>EC approval obtained on 14Apr.</a:t>
                        </a:r>
                      </a:p>
                      <a:p>
                        <a:pPr marL="171450" lvl="0" indent="-171450" algn="l">
                          <a:lnSpc>
                            <a:spcPct val="100000"/>
                          </a:lnSpc>
                          <a:spcBef>
                            <a:spcPts val="0"/>
                          </a:spcBef>
                          <a:spcAft>
                            <a:spcPts val="0"/>
                          </a:spcAft>
                          <a:buFont typeface="Wingdings" panose="05000000000000000000" pitchFamily="2" charset="2"/>
                          <a:buChar char="ü"/>
                        </a:pPr>
                        <a:r>
                          <a:rPr lang="en-US" altLang="zh-CN" sz="1000" b="0" u="none" strike="noStrike" kern="1200" cap="none" spc="0" normalizeH="0" baseline="0" noProof="0">
                            <a:ln>
                              <a:noFill/>
                            </a:ln>
                            <a:solidFill>
                              <a:schemeClr val="tx1"/>
                            </a:solidFill>
                            <a:effectLst/>
                            <a:uLnTx/>
                            <a:uFillTx/>
                            <a:latin typeface="+mn-lt"/>
                            <a:ea typeface="+mn-ea"/>
                            <a:cs typeface="+mn-cs"/>
                          </a:rPr>
                          <a:t>Specific contract terms are under internal legal team discussion.</a:t>
                        </a:r>
                      </a:p>
                    </a:txBody>
                    <a:tcPr anchor="ctr">
                      <a:solidFill>
                        <a:schemeClr val="bg1">
                          <a:lumMod val="85000"/>
                        </a:schemeClr>
                      </a:solidFill>
                    </a:tcPr>
                  </a:tc>
                  <a:tc>
                    <a:txBody>
                      <a:bodyPr/>
                      <a:lstStyle/>
                      <a:p>
                        <a:endParaRPr lang="zh-CN" altLang="en-US"/>
                      </a:p>
                    </a:txBody>
                    <a:tcPr marL="69607" marR="69607" marT="28575" marB="28575">
                      <a:solidFill>
                        <a:schemeClr val="bg1">
                          <a:lumMod val="85000"/>
                        </a:schemeClr>
                      </a:solidFill>
                    </a:tcPr>
                  </a:tc>
                  <a:extLst>
                    <a:ext uri="{0D108BD9-81ED-4DB2-BD59-A6C34878D82A}">
                      <a16:rowId xmlns:a16="http://schemas.microsoft.com/office/drawing/2014/main" val="1950158527"/>
                    </a:ext>
                  </a:extLst>
                </a:tr>
                <a:tr h="675117">
                  <a:tc>
                    <a:txBody>
                      <a:bodyPr/>
                      <a:lstStyle/>
                      <a:p>
                        <a:pPr algn="ctr" rtl="0" fontAlgn="base"/>
                        <a:r>
                          <a:rPr kumimoji="0" lang="en-US" altLang="zh-CN" sz="1000" b="0" u="none" strike="noStrike" kern="1200" cap="none" spc="0" normalizeH="0" baseline="0">
                            <a:ln>
                              <a:noFill/>
                            </a:ln>
                            <a:solidFill>
                              <a:srgbClr val="000000"/>
                            </a:solidFill>
                            <a:effectLst/>
                            <a:uLnTx/>
                            <a:uFillTx/>
                          </a:rPr>
                          <a:t>IPF SURVEY</a:t>
                        </a:r>
                        <a:endParaRPr kumimoji="0" lang="en-US" altLang="zh-CN" sz="1000" b="0" i="0" u="none" strike="noStrike" kern="1200" cap="none" spc="0" normalizeH="0" baseline="0">
                          <a:ln>
                            <a:noFill/>
                          </a:ln>
                          <a:solidFill>
                            <a:srgbClr val="000000"/>
                          </a:solidFill>
                          <a:effectLst/>
                          <a:uLnTx/>
                          <a:uFillTx/>
                          <a:latin typeface="Calibri"/>
                          <a:ea typeface="+mn-ea"/>
                          <a:cs typeface="Calibri"/>
                        </a:endParaRPr>
                      </a:p>
                    </a:txBody>
                    <a:tcPr anchor="ctr">
                      <a:solidFill>
                        <a:schemeClr val="bg1">
                          <a:lumMod val="85000"/>
                        </a:schemeClr>
                      </a:solidFill>
                    </a:tcPr>
                  </a:tc>
                  <a:tc>
                    <a:txBody>
                      <a:bodyPr/>
                      <a:lstStyle/>
                      <a:p>
                        <a:pPr algn="ctr" rtl="0" fontAlgn="base"/>
                        <a:r>
                          <a:rPr kumimoji="0" lang="en-US" sz="1000" b="0" u="none" strike="noStrike" kern="1200" cap="none" spc="0" normalizeH="0" baseline="0">
                            <a:ln>
                              <a:noFill/>
                            </a:ln>
                            <a:solidFill>
                              <a:srgbClr val="000000"/>
                            </a:solidFill>
                            <a:effectLst/>
                            <a:uLnTx/>
                            <a:uFillTx/>
                          </a:rPr>
                          <a:t>IPF</a:t>
                        </a:r>
                        <a:endParaRPr kumimoji="0" lang="en-US" sz="1000" b="0" i="0" u="none" strike="noStrike" kern="1200" cap="none" spc="0" normalizeH="0" baseline="0">
                          <a:ln>
                            <a:noFill/>
                          </a:ln>
                          <a:solidFill>
                            <a:srgbClr val="000000"/>
                          </a:solidFill>
                          <a:effectLst/>
                          <a:uLnTx/>
                          <a:uFillTx/>
                          <a:latin typeface="Calibri"/>
                          <a:ea typeface="+mn-ea"/>
                          <a:cs typeface="Calibri"/>
                        </a:endParaRPr>
                      </a:p>
                    </a:txBody>
                    <a:tcPr anchor="ctr">
                      <a:solidFill>
                        <a:schemeClr val="bg1">
                          <a:lumMod val="85000"/>
                        </a:schemeClr>
                      </a:solidFill>
                    </a:tcPr>
                  </a:tc>
                  <a:tc>
                    <a:txBody>
                      <a:bodyPr/>
                      <a:lstStyle/>
                      <a:p>
                        <a:pPr algn="ctr" rtl="0" fontAlgn="base"/>
                        <a:r>
                          <a:rPr kumimoji="0" lang="en-US" sz="1000" b="0" u="none" strike="noStrike" kern="1200" cap="none" spc="0" normalizeH="0" baseline="0">
                            <a:ln>
                              <a:noFill/>
                            </a:ln>
                            <a:solidFill>
                              <a:srgbClr val="000000"/>
                            </a:solidFill>
                            <a:effectLst/>
                            <a:uLnTx/>
                            <a:uFillTx/>
                          </a:rPr>
                          <a:t>ECR(1199-0562)</a:t>
                        </a:r>
                      </a:p>
                      <a:p>
                        <a:pPr marL="0" marR="0" lvl="0" indent="0" algn="ctr" defTabSz="914400" rtl="0" eaLnBrk="1" fontAlgn="base" latinLnBrk="0" hangingPunct="1">
                          <a:lnSpc>
                            <a:spcPct val="100000"/>
                          </a:lnSpc>
                          <a:spcBef>
                            <a:spcPts val="0"/>
                          </a:spcBef>
                          <a:spcAft>
                            <a:spcPts val="0"/>
                          </a:spcAft>
                          <a:buClrTx/>
                          <a:buSzTx/>
                          <a:buFontTx/>
                          <a:buNone/>
                          <a:tabLst/>
                          <a:defRPr/>
                        </a:pPr>
                        <a:r>
                          <a:rPr lang="en-US" altLang="zh-CN" sz="1000" b="0" u="none" strike="noStrike" kern="1200" cap="none" spc="0" normalizeH="0" baseline="0">
                            <a:ln>
                              <a:noFill/>
                            </a:ln>
                            <a:solidFill>
                              <a:srgbClr val="000000"/>
                            </a:solidFill>
                            <a:effectLst/>
                            <a:uLnTx/>
                            <a:uFillTx/>
                          </a:rPr>
                          <a:t>(Sep2023-Jul2026)</a:t>
                        </a:r>
                        <a:endParaRPr lang="en-US" altLang="zh-CN" sz="1000" b="0" i="0" u="none" strike="noStrike" kern="1200" cap="none" spc="0" normalizeH="0" baseline="0">
                          <a:ln>
                            <a:noFill/>
                          </a:ln>
                          <a:solidFill>
                            <a:srgbClr val="000000"/>
                          </a:solidFill>
                          <a:effectLst/>
                          <a:uLnTx/>
                          <a:uFillTx/>
                          <a:latin typeface="Calibri"/>
                          <a:ea typeface="+mn-ea"/>
                          <a:cs typeface="+mn-cs"/>
                        </a:endParaRPr>
                      </a:p>
                    </a:txBody>
                    <a:tcPr anchor="ctr">
                      <a:solidFill>
                        <a:schemeClr val="bg1">
                          <a:lumMod val="85000"/>
                        </a:schemeClr>
                      </a:solidFill>
                    </a:tcPr>
                  </a:tc>
                  <a:tc>
                    <a:txBody>
                      <a:bodyPr/>
                      <a:lstStyle/>
                      <a:p>
                        <a:pPr algn="ctr" rtl="0" fontAlgn="base"/>
                        <a:r>
                          <a:rPr kumimoji="0" lang="en-US" altLang="zh-CN" sz="1000" b="0" u="none" strike="noStrike" kern="1200" cap="none" spc="0" normalizeH="0" baseline="0">
                            <a:ln>
                              <a:noFill/>
                            </a:ln>
                            <a:solidFill>
                              <a:srgbClr val="000000"/>
                            </a:solidFill>
                            <a:effectLst/>
                            <a:uLnTx/>
                            <a:uFillTx/>
                          </a:rPr>
                          <a:t>China alone</a:t>
                        </a:r>
                        <a:endParaRPr kumimoji="0" lang="en-US" altLang="zh-CN" sz="1000" b="0" i="0" u="none" strike="noStrike" kern="1200" cap="none" spc="0" normalizeH="0" baseline="0">
                          <a:ln>
                            <a:noFill/>
                          </a:ln>
                          <a:solidFill>
                            <a:srgbClr val="000000"/>
                          </a:solidFill>
                          <a:effectLst/>
                          <a:uLnTx/>
                          <a:uFillTx/>
                          <a:latin typeface="Calibri"/>
                          <a:ea typeface="+mn-ea"/>
                          <a:cs typeface="Calibri"/>
                        </a:endParaRPr>
                      </a:p>
                    </a:txBody>
                    <a:tcPr anchor="ctr">
                      <a:solidFill>
                        <a:schemeClr val="bg1">
                          <a:lumMod val="85000"/>
                        </a:schemeClr>
                      </a:solidFill>
                    </a:tcPr>
                  </a:tc>
                  <a:tc>
                    <a:txBody>
                      <a:bodyPr/>
                      <a:lstStyle/>
                      <a:p>
                        <a:pPr algn="ctr" rtl="0" fontAlgn="base"/>
                        <a:r>
                          <a:rPr kumimoji="0" lang="en-US" altLang="zh-CN" sz="1000" b="0" u="none" strike="noStrike" kern="1200" cap="none" spc="0" normalizeH="0" baseline="0">
                            <a:ln>
                              <a:noFill/>
                            </a:ln>
                            <a:solidFill>
                              <a:srgbClr val="000000"/>
                            </a:solidFill>
                            <a:effectLst/>
                            <a:uLnTx/>
                            <a:uFillTx/>
                          </a:rPr>
                          <a:t>Enrollment</a:t>
                        </a:r>
                      </a:p>
                    </a:txBody>
                    <a:tcPr anchor="ctr">
                      <a:solidFill>
                        <a:schemeClr val="bg1">
                          <a:lumMod val="85000"/>
                        </a:schemeClr>
                      </a:solidFill>
                    </a:tcPr>
                  </a:tc>
                  <a:tc>
                    <a:txBody>
                      <a:bodyPr/>
                      <a:lstStyle/>
                      <a:p>
                        <a:pPr algn="ctr" rtl="0" fontAlgn="base"/>
                        <a:r>
                          <a:rPr kumimoji="0" lang="en-US" sz="1000" b="0" u="none" strike="noStrike" kern="1200" cap="none" spc="0" normalizeH="0" baseline="0">
                            <a:ln>
                              <a:noFill/>
                            </a:ln>
                            <a:solidFill>
                              <a:srgbClr val="000000"/>
                            </a:solidFill>
                            <a:effectLst/>
                            <a:uLnTx/>
                            <a:uFillTx/>
                          </a:rPr>
                          <a:t>LPI(phase II)</a:t>
                        </a:r>
                      </a:p>
                      <a:p>
                        <a:pPr algn="ctr" rtl="0" fontAlgn="base"/>
                        <a:r>
                          <a:rPr kumimoji="0" lang="en-US" sz="1000" b="0" u="none" strike="noStrike" kern="1200" cap="none" spc="0" normalizeH="0" baseline="0">
                            <a:ln>
                              <a:noFill/>
                            </a:ln>
                            <a:solidFill>
                              <a:srgbClr val="000000"/>
                            </a:solidFill>
                            <a:effectLst/>
                            <a:uLnTx/>
                            <a:uFillTx/>
                          </a:rPr>
                          <a:t>(Dec2025)</a:t>
                        </a:r>
                        <a:endParaRPr kumimoji="0" lang="en-US" sz="1000" b="0" i="0" u="none" strike="noStrike" kern="1200" cap="none" spc="0" normalizeH="0" baseline="0">
                          <a:ln>
                            <a:noFill/>
                          </a:ln>
                          <a:solidFill>
                            <a:srgbClr val="000000"/>
                          </a:solidFill>
                          <a:effectLst/>
                          <a:uLnTx/>
                          <a:uFillTx/>
                          <a:latin typeface="Calibri"/>
                          <a:ea typeface="+mn-ea"/>
                          <a:cs typeface="Calibri"/>
                        </a:endParaRPr>
                      </a:p>
                    </a:txBody>
                    <a:tcPr anchor="ctr">
                      <a:solidFill>
                        <a:schemeClr val="bg1">
                          <a:lumMod val="85000"/>
                        </a:schemeClr>
                      </a:solidFill>
                    </a:tcPr>
                  </a:tc>
                  <a:tc>
                    <a:txBody>
                      <a:bodyPr/>
                      <a:lstStyle/>
                      <a:p>
                        <a:pPr marL="171450" lvl="0" indent="-171450" algn="l">
                          <a:lnSpc>
                            <a:spcPct val="100000"/>
                          </a:lnSpc>
                          <a:spcBef>
                            <a:spcPts val="0"/>
                          </a:spcBef>
                          <a:spcAft>
                            <a:spcPts val="0"/>
                          </a:spcAft>
                          <a:buFont typeface="Wingdings" panose="05000000000000000000" pitchFamily="2" charset="2"/>
                          <a:buChar char="ü"/>
                        </a:pPr>
                        <a:r>
                          <a:rPr lang="en-US" sz="1000" b="0" u="none" strike="noStrike" kern="1200" cap="none" spc="0" normalizeH="0" baseline="0">
                            <a:ln>
                              <a:noFill/>
                            </a:ln>
                            <a:solidFill>
                              <a:schemeClr val="bg1">
                                <a:lumMod val="50000"/>
                              </a:schemeClr>
                            </a:solidFill>
                            <a:effectLst/>
                            <a:uLnTx/>
                            <a:uFillTx/>
                            <a:latin typeface="+mn-lt"/>
                            <a:ea typeface="+mn-ea"/>
                            <a:cs typeface="+mn-cs"/>
                          </a:rPr>
                          <a:t>Protocol </a:t>
                        </a:r>
                        <a:r>
                          <a:rPr lang="en-US" altLang="zh-CN" sz="1000" b="0" u="none" strike="noStrike" kern="1200" cap="none" spc="0" normalizeH="0" baseline="0">
                            <a:ln>
                              <a:noFill/>
                            </a:ln>
                            <a:solidFill>
                              <a:schemeClr val="bg1">
                                <a:lumMod val="50000"/>
                              </a:schemeClr>
                            </a:solidFill>
                            <a:effectLst/>
                            <a:uLnTx/>
                            <a:uFillTx/>
                            <a:latin typeface="+mn-lt"/>
                            <a:ea typeface="+mn-ea"/>
                            <a:cs typeface="+mn-cs"/>
                          </a:rPr>
                          <a:t>approved 20Feb2024;EC approval 11Mar2024;Contract effective 5June2024;ALL (6)sites initiated. </a:t>
                        </a:r>
                      </a:p>
                      <a:p>
                        <a:pPr marL="171450" lvl="0" indent="-171450" algn="l">
                          <a:lnSpc>
                            <a:spcPct val="100000"/>
                          </a:lnSpc>
                          <a:spcBef>
                            <a:spcPts val="0"/>
                          </a:spcBef>
                          <a:spcAft>
                            <a:spcPts val="0"/>
                          </a:spcAft>
                          <a:buFont typeface="Wingdings" panose="05000000000000000000" pitchFamily="2" charset="2"/>
                          <a:buChar char="ü"/>
                        </a:pPr>
                        <a:r>
                          <a:rPr lang="en-US" altLang="zh-CN" sz="1000" b="0" u="none" strike="noStrike" kern="1200" cap="none" spc="0" normalizeH="0" baseline="0">
                            <a:ln>
                              <a:noFill/>
                            </a:ln>
                            <a:solidFill>
                              <a:schemeClr val="bg1">
                                <a:lumMod val="50000"/>
                              </a:schemeClr>
                            </a:solidFill>
                            <a:effectLst/>
                            <a:uLnTx/>
                            <a:uFillTx/>
                            <a:latin typeface="+mn-lt"/>
                            <a:ea typeface="+mn-ea"/>
                            <a:cs typeface="+mn-cs"/>
                          </a:rPr>
                          <a:t>Phase I Enrollment completed. (Physician 15/15; patient 53/50)</a:t>
                        </a:r>
                      </a:p>
                      <a:p>
                        <a:pPr marL="171450" lvl="0" indent="-171450" algn="l">
                          <a:lnSpc>
                            <a:spcPct val="100000"/>
                          </a:lnSpc>
                          <a:spcBef>
                            <a:spcPts val="0"/>
                          </a:spcBef>
                          <a:spcAft>
                            <a:spcPts val="0"/>
                          </a:spcAft>
                          <a:buFont typeface="Wingdings" panose="05000000000000000000" pitchFamily="2" charset="2"/>
                          <a:buChar char="ü"/>
                        </a:pPr>
                        <a:r>
                          <a:rPr lang="en-US" altLang="zh-CN" sz="1000"/>
                          <a:t>Ph1 report has been finalized on May 14.</a:t>
                        </a:r>
                      </a:p>
                      <a:p>
                        <a:pPr marL="171450" lvl="0" indent="-171450" algn="l">
                          <a:lnSpc>
                            <a:spcPct val="100000"/>
                          </a:lnSpc>
                          <a:spcBef>
                            <a:spcPts val="0"/>
                          </a:spcBef>
                          <a:spcAft>
                            <a:spcPts val="0"/>
                          </a:spcAft>
                          <a:buFont typeface="Wingdings" panose="05000000000000000000" pitchFamily="2" charset="2"/>
                          <a:buChar char="ü"/>
                        </a:pPr>
                        <a:r>
                          <a:rPr lang="en-US" altLang="zh-CN" sz="1000" b="0" u="none" strike="noStrike" kern="1200" cap="none" spc="0" normalizeH="0" baseline="0">
                            <a:ln>
                              <a:noFill/>
                            </a:ln>
                            <a:solidFill>
                              <a:srgbClr val="000000"/>
                            </a:solidFill>
                            <a:effectLst/>
                            <a:uLnTx/>
                            <a:uFillTx/>
                          </a:rPr>
                          <a:t>Phase II preparation</a:t>
                        </a:r>
                      </a:p>
                    </a:txBody>
                    <a:tcPr anchor="ctr">
                      <a:solidFill>
                        <a:schemeClr val="bg1">
                          <a:lumMod val="85000"/>
                        </a:schemeClr>
                      </a:solidFill>
                    </a:tcPr>
                  </a:tc>
                  <a:tc>
                    <a:txBody>
                      <a:bodyPr/>
                      <a:lstStyle/>
                      <a:p>
                        <a:endParaRPr lang="zh-CN" altLang="en-US"/>
                      </a:p>
                    </a:txBody>
                    <a:tcPr marL="69607" marR="69607" marT="28575" marB="28575">
                      <a:solidFill>
                        <a:schemeClr val="bg1">
                          <a:lumMod val="85000"/>
                        </a:schemeClr>
                      </a:solidFill>
                    </a:tcPr>
                  </a:tc>
                  <a:extLst>
                    <a:ext uri="{0D108BD9-81ED-4DB2-BD59-A6C34878D82A}">
                      <a16:rowId xmlns:a16="http://schemas.microsoft.com/office/drawing/2014/main" val="3489309238"/>
                    </a:ext>
                  </a:extLst>
                </a:tr>
                <a:tr h="824495">
                  <a:tc>
                    <a:txBody>
                      <a:bodyPr/>
                      <a:lstStyle/>
                      <a:p>
                        <a:pPr lvl="0" algn="ctr">
                          <a:buNone/>
                        </a:pPr>
                        <a:r>
                          <a:rPr lang="en-US" sz="1000" b="0" i="0" u="none" strike="noStrike" kern="1200" cap="none" spc="0" normalizeH="0" baseline="0" noProof="0">
                            <a:ln>
                              <a:noFill/>
                            </a:ln>
                            <a:solidFill>
                              <a:srgbClr val="000000"/>
                            </a:solidFill>
                            <a:effectLst/>
                            <a:uLnTx/>
                            <a:uFillTx/>
                            <a:latin typeface="+mn-lt"/>
                          </a:rPr>
                          <a:t>Serum Exosome Combined with Radiomics to Predict Early Progressive Pulmonary Fibrosis</a:t>
                        </a:r>
                        <a:endParaRPr lang="en-US" sz="1000" b="0" i="0" u="none" strike="noStrike" kern="1200" cap="none" spc="0" normalizeH="0" baseline="0" noProof="0">
                          <a:ln>
                            <a:noFill/>
                          </a:ln>
                          <a:solidFill>
                            <a:srgbClr val="000000"/>
                          </a:solidFill>
                          <a:effectLst/>
                          <a:uLnTx/>
                          <a:uFillTx/>
                          <a:latin typeface="Boehringer Forward Text"/>
                        </a:endParaRPr>
                      </a:p>
                    </a:txBody>
                    <a:tcPr anchor="ctr">
                      <a:solidFill>
                        <a:schemeClr val="bg1">
                          <a:lumMod val="85000"/>
                        </a:schemeClr>
                      </a:solidFill>
                    </a:tcPr>
                  </a:tc>
                  <a:tc>
                    <a:txBody>
                      <a:bodyPr/>
                      <a:lstStyle/>
                      <a:p>
                        <a:pPr lvl="0" algn="ctr" defTabSz="914378" rtl="0">
                          <a:buNone/>
                        </a:pPr>
                        <a:r>
                          <a:rPr lang="en-US" sz="1000" b="0" i="0" u="none" strike="noStrike" kern="1200" cap="none" spc="0" normalizeH="0" baseline="0">
                            <a:ln>
                              <a:noFill/>
                            </a:ln>
                            <a:solidFill>
                              <a:srgbClr val="000000"/>
                            </a:solidFill>
                            <a:effectLst/>
                            <a:uLnTx/>
                            <a:uFillTx/>
                            <a:latin typeface="+mn-lt"/>
                            <a:ea typeface="+mn-ea"/>
                            <a:cs typeface="+mn-cs"/>
                          </a:rPr>
                          <a:t>PPF</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i="0" u="none" strike="noStrike" kern="1200" cap="none" spc="0" normalizeH="0" baseline="0">
                            <a:ln>
                              <a:noFill/>
                            </a:ln>
                            <a:solidFill>
                              <a:srgbClr val="000000"/>
                            </a:solidFill>
                            <a:effectLst/>
                            <a:uLnTx/>
                            <a:uFillTx/>
                            <a:latin typeface="+mn-lt"/>
                            <a:ea typeface="+mn-ea"/>
                            <a:cs typeface="+mn-cs"/>
                          </a:rPr>
                          <a:t>ECR (1305-0123)</a:t>
                        </a:r>
                      </a:p>
                      <a:p>
                        <a:pPr lvl="0" algn="ctr" rtl="0">
                          <a:buNone/>
                        </a:pPr>
                        <a:r>
                          <a:rPr lang="en-US" altLang="zh-CN" sz="1000" b="0" i="0" u="none" strike="noStrike" kern="1200" cap="none" spc="0" normalizeH="0" baseline="0">
                            <a:ln>
                              <a:noFill/>
                            </a:ln>
                            <a:solidFill>
                              <a:srgbClr val="000000"/>
                            </a:solidFill>
                            <a:effectLst/>
                            <a:uLnTx/>
                            <a:uFillTx/>
                            <a:latin typeface="+mn-lt"/>
                            <a:ea typeface="+mn-ea"/>
                            <a:cs typeface="+mn-cs"/>
                          </a:rPr>
                          <a:t>(Dec2025-Dec2027, </a:t>
                        </a:r>
                        <a:endParaRPr lang="zh-CN" altLang="zh-CN" sz="1000" b="0" i="0" u="none" strike="noStrike" kern="1200" cap="none" spc="0" normalizeH="0" baseline="0">
                          <a:ln>
                            <a:noFill/>
                          </a:ln>
                          <a:solidFill>
                            <a:srgbClr val="000000"/>
                          </a:solidFill>
                          <a:effectLst/>
                          <a:uLnTx/>
                          <a:uFillTx/>
                          <a:latin typeface="+mn-lt"/>
                          <a:ea typeface="+mn-ea"/>
                          <a:cs typeface="+mn-cs"/>
                        </a:endParaRPr>
                      </a:p>
                      <a:p>
                        <a:pPr lvl="0" algn="ctr">
                          <a:buNone/>
                        </a:pPr>
                        <a:r>
                          <a:rPr lang="en-US" altLang="zh-CN" sz="1000" b="0" i="0" u="none" strike="noStrike" kern="1200" cap="none" spc="0" normalizeH="0" baseline="0">
                            <a:ln>
                              <a:noFill/>
                            </a:ln>
                            <a:solidFill>
                              <a:srgbClr val="000000"/>
                            </a:solidFill>
                            <a:effectLst/>
                            <a:uLnTx/>
                            <a:uFillTx/>
                            <a:latin typeface="+mn-lt"/>
                            <a:ea typeface="+mn-ea"/>
                            <a:cs typeface="+mn-cs"/>
                          </a:rPr>
                          <a:t>Jun2028)</a:t>
                        </a:r>
                        <a:endParaRPr lang="zh-CN" altLang="zh-CN" sz="10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marR="0" lvl="0" indent="0" algn="ctr" rtl="0">
                          <a:lnSpc>
                            <a:spcPct val="100000"/>
                          </a:lnSpc>
                          <a:spcBef>
                            <a:spcPts val="0"/>
                          </a:spcBef>
                          <a:spcAft>
                            <a:spcPts val="0"/>
                          </a:spcAft>
                          <a:buClrTx/>
                          <a:buSzTx/>
                          <a:buFontTx/>
                          <a:buNone/>
                        </a:pPr>
                        <a:r>
                          <a:rPr lang="en-US" altLang="zh-CN" sz="1000" b="0" i="0" u="none" strike="noStrike" kern="1200" cap="none" spc="0" normalizeH="0" baseline="0">
                            <a:ln>
                              <a:noFill/>
                            </a:ln>
                            <a:solidFill>
                              <a:srgbClr val="000000"/>
                            </a:solidFill>
                            <a:effectLst/>
                            <a:uLnTx/>
                            <a:uFillTx/>
                            <a:latin typeface="+mn-lt"/>
                            <a:ea typeface="+mn-ea"/>
                            <a:cs typeface="+mn-cs"/>
                          </a:rPr>
                          <a:t>China alone</a:t>
                        </a:r>
                        <a:endParaRPr lang="en-US" sz="10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i="0" u="none" strike="noStrike" kern="1200" cap="none" spc="0" normalizeH="0" baseline="0">
                            <a:ln>
                              <a:noFill/>
                            </a:ln>
                            <a:solidFill>
                              <a:srgbClr val="000000"/>
                            </a:solidFill>
                            <a:effectLst/>
                            <a:uLnTx/>
                            <a:uFillTx/>
                            <a:latin typeface="+mn-lt"/>
                            <a:ea typeface="+mn-ea"/>
                            <a:cs typeface="+mn-cs"/>
                          </a:rPr>
                          <a:t>Proposal approval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i="0" u="none" strike="noStrike" kern="1200" cap="none" spc="0" normalizeH="0" baseline="0">
                            <a:ln>
                              <a:noFill/>
                            </a:ln>
                            <a:solidFill>
                              <a:srgbClr val="000000"/>
                            </a:solidFill>
                            <a:effectLst/>
                            <a:uLnTx/>
                            <a:uFillTx/>
                            <a:latin typeface="+mn-lt"/>
                            <a:ea typeface="+mn-ea"/>
                            <a:cs typeface="+mn-cs"/>
                          </a:rPr>
                          <a:t>(Jan2025)</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i="0" u="none" strike="noStrike" kern="1200" cap="none" spc="0" normalizeH="0" baseline="0" err="1">
                            <a:ln>
                              <a:noFill/>
                            </a:ln>
                            <a:solidFill>
                              <a:srgbClr val="000000"/>
                            </a:solidFill>
                            <a:effectLst/>
                            <a:uLnTx/>
                            <a:uFillTx/>
                            <a:latin typeface="+mn-lt"/>
                            <a:ea typeface="+mn-ea"/>
                            <a:cs typeface="+mn-cs"/>
                          </a:rPr>
                          <a:t>Protocal</a:t>
                        </a:r>
                        <a:r>
                          <a:rPr lang="en-US" altLang="zh-CN" sz="1000" b="0" i="0" u="none" strike="noStrike" kern="1200" cap="none" spc="0" normalizeH="0" baseline="0">
                            <a:ln>
                              <a:noFill/>
                            </a:ln>
                            <a:solidFill>
                              <a:srgbClr val="000000"/>
                            </a:solidFill>
                            <a:effectLst/>
                            <a:uLnTx/>
                            <a:uFillTx/>
                            <a:latin typeface="+mn-lt"/>
                            <a:ea typeface="+mn-ea"/>
                            <a:cs typeface="+mn-cs"/>
                          </a:rPr>
                          <a:t> approval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i="0" u="none" strike="noStrike" kern="1200" cap="none" spc="0" normalizeH="0" baseline="0">
                            <a:ln>
                              <a:noFill/>
                            </a:ln>
                            <a:solidFill>
                              <a:srgbClr val="000000"/>
                            </a:solidFill>
                            <a:effectLst/>
                            <a:uLnTx/>
                            <a:uFillTx/>
                            <a:latin typeface="+mn-lt"/>
                            <a:ea typeface="+mn-ea"/>
                            <a:cs typeface="+mn-cs"/>
                          </a:rPr>
                          <a:t>(May2025)</a:t>
                        </a:r>
                      </a:p>
                    </a:txBody>
                    <a:tcPr anchor="ctr">
                      <a:solidFill>
                        <a:schemeClr val="bg1">
                          <a:lumMod val="85000"/>
                        </a:schemeClr>
                      </a:solidFill>
                    </a:tcPr>
                  </a:tc>
                  <a:tc>
                    <a:txBody>
                      <a:bodyPr/>
                      <a:lstStyle/>
                      <a:p>
                        <a:pPr marL="171450" lvl="0" indent="-171450" algn="l">
                          <a:lnSpc>
                            <a:spcPct val="100000"/>
                          </a:lnSpc>
                          <a:spcBef>
                            <a:spcPts val="0"/>
                          </a:spcBef>
                          <a:spcAft>
                            <a:spcPts val="0"/>
                          </a:spcAft>
                          <a:buFont typeface="Wingdings" panose="05000000000000000000" pitchFamily="2" charset="2"/>
                          <a:buChar char="ü"/>
                        </a:pPr>
                        <a:r>
                          <a:rPr lang="en-US" altLang="zh-CN" sz="1000" b="0" u="none" strike="noStrike" kern="1200" cap="none" spc="0" normalizeH="0" baseline="0" noProof="0">
                            <a:ln>
                              <a:noFill/>
                            </a:ln>
                            <a:solidFill>
                              <a:schemeClr val="bg1">
                                <a:lumMod val="50000"/>
                              </a:schemeClr>
                            </a:solidFill>
                            <a:effectLst/>
                            <a:uLnTx/>
                            <a:uFillTx/>
                            <a:latin typeface="+mn-lt"/>
                            <a:ea typeface="+mn-ea"/>
                            <a:cs typeface="+mn-cs"/>
                          </a:rPr>
                          <a:t>Updated timeline and budget were endorsed by CEC on 13Sep.Hybrid review completed on 21Jan</a:t>
                        </a:r>
                        <a:endParaRPr lang="en-US" altLang="zh-CN" sz="1000" b="0" u="none" strike="noStrike" kern="1200" cap="none" spc="0" normalizeH="0" baseline="0" noProof="0">
                          <a:ln>
                            <a:noFill/>
                          </a:ln>
                          <a:solidFill>
                            <a:schemeClr val="tx1"/>
                          </a:solidFill>
                          <a:effectLst/>
                          <a:uLnTx/>
                          <a:uFillTx/>
                          <a:latin typeface="+mn-lt"/>
                          <a:ea typeface="+mn-ea"/>
                          <a:cs typeface="+mn-cs"/>
                        </a:endParaRPr>
                      </a:p>
                      <a:p>
                        <a:pPr marL="171450" lvl="0" indent="-171450" algn="l">
                          <a:lnSpc>
                            <a:spcPct val="100000"/>
                          </a:lnSpc>
                          <a:spcBef>
                            <a:spcPts val="0"/>
                          </a:spcBef>
                          <a:spcAft>
                            <a:spcPts val="0"/>
                          </a:spcAft>
                          <a:buFont typeface="Wingdings" panose="05000000000000000000" pitchFamily="2" charset="2"/>
                          <a:buChar char="ü"/>
                        </a:pPr>
                        <a:r>
                          <a:rPr lang="en-US" altLang="zh-CN" sz="1000" b="0" u="none" strike="noStrike" kern="1200" cap="none" spc="0" normalizeH="0" baseline="0" noProof="0">
                            <a:ln>
                              <a:noFill/>
                            </a:ln>
                            <a:solidFill>
                              <a:schemeClr val="tx1"/>
                            </a:solidFill>
                            <a:effectLst/>
                            <a:uLnTx/>
                            <a:uFillTx/>
                            <a:latin typeface="+mn-lt"/>
                            <a:ea typeface="+mn-ea"/>
                            <a:cs typeface="+mn-cs"/>
                          </a:rPr>
                          <a:t>Proposal global release completed on 04Mar.</a:t>
                        </a:r>
                      </a:p>
                      <a:p>
                        <a:pPr marL="171450" lvl="0" indent="-171450" algn="l">
                          <a:lnSpc>
                            <a:spcPct val="100000"/>
                          </a:lnSpc>
                          <a:spcBef>
                            <a:spcPts val="0"/>
                          </a:spcBef>
                          <a:spcAft>
                            <a:spcPts val="0"/>
                          </a:spcAft>
                          <a:buFont typeface="Wingdings" panose="05000000000000000000" pitchFamily="2" charset="2"/>
                          <a:buChar char="ü"/>
                        </a:pPr>
                        <a:r>
                          <a:rPr lang="en-US" altLang="zh-CN" sz="1000" b="0" u="none" strike="noStrike" kern="1200" cap="none" spc="0" normalizeH="0" baseline="0" noProof="0">
                            <a:ln>
                              <a:noFill/>
                            </a:ln>
                            <a:solidFill>
                              <a:schemeClr val="tx1"/>
                            </a:solidFill>
                            <a:effectLst/>
                            <a:uLnTx/>
                            <a:uFillTx/>
                            <a:latin typeface="+mn-lt"/>
                            <a:ea typeface="+mn-ea"/>
                            <a:cs typeface="+mn-cs"/>
                          </a:rPr>
                          <a:t>Revised contract sent for site review, protocol under development by sponsor/investigator.</a:t>
                        </a:r>
                      </a:p>
                      <a:p>
                        <a:pPr marL="171450" lvl="0" indent="-171450" algn="l">
                          <a:lnSpc>
                            <a:spcPct val="100000"/>
                          </a:lnSpc>
                          <a:spcBef>
                            <a:spcPts val="0"/>
                          </a:spcBef>
                          <a:spcAft>
                            <a:spcPts val="0"/>
                          </a:spcAft>
                          <a:buFont typeface="Wingdings" panose="05000000000000000000" pitchFamily="2" charset="2"/>
                          <a:buChar char="ü"/>
                        </a:pPr>
                        <a:r>
                          <a:rPr lang="en-US" altLang="zh-CN" sz="1000" b="0" u="none" strike="noStrike" kern="1200" cap="none" spc="0" normalizeH="0" baseline="0" noProof="0">
                            <a:ln>
                              <a:noFill/>
                            </a:ln>
                            <a:solidFill>
                              <a:schemeClr val="tx1"/>
                            </a:solidFill>
                            <a:effectLst/>
                            <a:uLnTx/>
                            <a:uFillTx/>
                            <a:latin typeface="+mn-lt"/>
                            <a:ea typeface="+mn-ea"/>
                            <a:cs typeface="+mn-cs"/>
                          </a:rPr>
                          <a:t>Kick-off meeting time is under discussion with investigator.</a:t>
                        </a:r>
                        <a:endParaRPr lang="zh-CN" altLang="en-US" sz="1000" b="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85000"/>
                        </a:schemeClr>
                      </a:solidFill>
                    </a:tcPr>
                  </a:tc>
                  <a:tc>
                    <a:txBody>
                      <a:bodyPr/>
                      <a:lstStyle/>
                      <a:p>
                        <a:pPr lvl="0">
                          <a:buNone/>
                        </a:pPr>
                        <a:endParaRPr lang="zh-CN" altLang="en-US"/>
                      </a:p>
                    </a:txBody>
                    <a:tcPr marL="69607" marR="69607" marT="28575" marB="28575">
                      <a:solidFill>
                        <a:schemeClr val="bg1">
                          <a:lumMod val="85000"/>
                        </a:schemeClr>
                      </a:solidFill>
                    </a:tcPr>
                  </a:tc>
                  <a:extLst>
                    <a:ext uri="{0D108BD9-81ED-4DB2-BD59-A6C34878D82A}">
                      <a16:rowId xmlns:a16="http://schemas.microsoft.com/office/drawing/2014/main" val="3070122549"/>
                    </a:ext>
                  </a:extLst>
                </a:tr>
                <a:tr h="824495">
                  <a:tc>
                    <a:txBody>
                      <a:bodyPr/>
                      <a:lstStyle/>
                      <a:p>
                        <a:pPr lvl="0" algn="ctr">
                          <a:buNone/>
                        </a:pPr>
                        <a:r>
                          <a:rPr lang="en-US" altLang="zh-CN" sz="1000"/>
                          <a:t>ILD EPI study in China</a:t>
                        </a:r>
                        <a:endParaRPr lang="en-US" sz="1000" b="0" i="0" u="none" strike="noStrike" kern="1200" cap="none" spc="0" normalizeH="0" baseline="0" noProof="0">
                          <a:ln>
                            <a:noFill/>
                          </a:ln>
                          <a:solidFill>
                            <a:srgbClr val="000000"/>
                          </a:solidFill>
                          <a:effectLst/>
                          <a:uLnTx/>
                          <a:uFillTx/>
                          <a:latin typeface="Boehringer Forward Text"/>
                        </a:endParaRPr>
                      </a:p>
                    </a:txBody>
                    <a:tcPr anchor="ctr">
                      <a:solidFill>
                        <a:schemeClr val="bg1">
                          <a:lumMod val="85000"/>
                        </a:schemeClr>
                      </a:solidFill>
                    </a:tcPr>
                  </a:tc>
                  <a:tc>
                    <a:txBody>
                      <a:bodyPr/>
                      <a:lstStyle/>
                      <a:p>
                        <a:pPr lvl="0" algn="ctr" defTabSz="914378" rtl="0">
                          <a:buNone/>
                        </a:pPr>
                        <a:r>
                          <a:rPr lang="en-US" sz="1000" b="0" u="none" strike="noStrike" kern="1200" cap="none" spc="0" normalizeH="0" baseline="0">
                            <a:ln>
                              <a:noFill/>
                            </a:ln>
                            <a:solidFill>
                              <a:srgbClr val="000000"/>
                            </a:solidFill>
                            <a:effectLst/>
                            <a:uLnTx/>
                            <a:uFillTx/>
                            <a:latin typeface="+mn-lt"/>
                            <a:ea typeface="+mn-ea"/>
                            <a:cs typeface="+mn-cs"/>
                          </a:rPr>
                          <a:t>NA</a:t>
                        </a:r>
                      </a:p>
                    </a:txBody>
                    <a:tcPr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ClrTx/>
                          <a:buSzTx/>
                          <a:buFontTx/>
                          <a:buNone/>
                        </a:pPr>
                        <a:r>
                          <a:rPr lang="en-US" altLang="zh-CN" sz="1000" b="0" u="none" strike="noStrike" kern="1200" cap="none" spc="0" normalizeH="0" baseline="0">
                            <a:ln>
                              <a:noFill/>
                            </a:ln>
                            <a:solidFill>
                              <a:srgbClr val="000000"/>
                            </a:solidFill>
                            <a:effectLst/>
                            <a:uLnTx/>
                            <a:uFillTx/>
                            <a:latin typeface="+mn-lt"/>
                            <a:ea typeface="+mn-ea"/>
                            <a:cs typeface="+mn-cs"/>
                          </a:rPr>
                          <a:t>ECR(1305-0111)</a:t>
                        </a:r>
                      </a:p>
                      <a:p>
                        <a:pPr marL="0" marR="0" lvl="0" indent="0" algn="ctr" defTabSz="914400" rtl="0" eaLnBrk="1" latinLnBrk="0" hangingPunct="1">
                          <a:lnSpc>
                            <a:spcPct val="100000"/>
                          </a:lnSpc>
                          <a:spcBef>
                            <a:spcPts val="0"/>
                          </a:spcBef>
                          <a:spcAft>
                            <a:spcPts val="0"/>
                          </a:spcAft>
                          <a:buClrTx/>
                          <a:buSzTx/>
                          <a:buFontTx/>
                          <a:buNone/>
                        </a:pPr>
                        <a:r>
                          <a:rPr lang="en-US" altLang="zh-CN" sz="1000" b="0" u="none" strike="noStrike" kern="1200" cap="none" spc="0" normalizeH="0" baseline="0">
                            <a:ln>
                              <a:noFill/>
                            </a:ln>
                            <a:solidFill>
                              <a:srgbClr val="000000"/>
                            </a:solidFill>
                            <a:effectLst/>
                            <a:uLnTx/>
                            <a:uFillTx/>
                            <a:latin typeface="+mn-lt"/>
                            <a:ea typeface="+mn-ea"/>
                            <a:cs typeface="+mn-cs"/>
                          </a:rPr>
                          <a:t>(May 2025- Aug 2025, Sep 2026)</a:t>
                        </a:r>
                      </a:p>
                    </a:txBody>
                    <a:tcPr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ClrTx/>
                          <a:buSzTx/>
                          <a:buFontTx/>
                          <a:buNone/>
                        </a:pPr>
                        <a:r>
                          <a:rPr lang="en-US" sz="1000" b="0" u="none" strike="noStrike" kern="1200" cap="none" spc="0" normalizeH="0" baseline="0">
                            <a:ln>
                              <a:noFill/>
                            </a:ln>
                            <a:solidFill>
                              <a:srgbClr val="000000"/>
                            </a:solidFill>
                            <a:effectLst/>
                            <a:uLnTx/>
                            <a:uFillTx/>
                            <a:latin typeface="+mn-lt"/>
                            <a:ea typeface="+mn-ea"/>
                            <a:cs typeface="+mn-cs"/>
                          </a:rPr>
                          <a:t>C</a:t>
                        </a:r>
                        <a:r>
                          <a:rPr lang="en-US" altLang="zh-CN" sz="1000" b="0" u="none" strike="noStrike" kern="1200" cap="none" spc="0" normalizeH="0" baseline="0">
                            <a:ln>
                              <a:noFill/>
                            </a:ln>
                            <a:solidFill>
                              <a:srgbClr val="000000"/>
                            </a:solidFill>
                            <a:effectLst/>
                            <a:uLnTx/>
                            <a:uFillTx/>
                            <a:latin typeface="+mn-lt"/>
                            <a:ea typeface="+mn-ea"/>
                            <a:cs typeface="+mn-cs"/>
                          </a:rPr>
                          <a:t>hina alone</a:t>
                        </a:r>
                        <a:endParaRPr lang="en-US" sz="1000" b="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lvl="0" algn="ctr" defTabSz="914400" rtl="0" eaLnBrk="1" latinLnBrk="0" hangingPunct="1">
                          <a:buNone/>
                        </a:pPr>
                        <a:r>
                          <a:rPr lang="en-US" altLang="zh-CN" sz="1000" b="0" u="none" strike="noStrike" kern="1200" cap="none" spc="0" normalizeH="0" baseline="0">
                            <a:ln>
                              <a:noFill/>
                            </a:ln>
                            <a:solidFill>
                              <a:srgbClr val="000000"/>
                            </a:solidFill>
                            <a:effectLst/>
                            <a:uLnTx/>
                            <a:uFillTx/>
                            <a:latin typeface="+mn-lt"/>
                            <a:ea typeface="+mn-ea"/>
                            <a:cs typeface="+mn-cs"/>
                          </a:rPr>
                          <a:t>Protocol approval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i="0" u="none" strike="noStrike" kern="1200" cap="none" spc="0" normalizeH="0" baseline="0">
                            <a:ln>
                              <a:noFill/>
                            </a:ln>
                            <a:solidFill>
                              <a:srgbClr val="000000"/>
                            </a:solidFill>
                            <a:effectLst/>
                            <a:uLnTx/>
                            <a:uFillTx/>
                            <a:latin typeface="+mn-lt"/>
                            <a:ea typeface="+mn-ea"/>
                            <a:cs typeface="+mn-cs"/>
                          </a:rPr>
                          <a:t>(Apr 2025)</a:t>
                        </a:r>
                        <a:endParaRPr lang="en-US" altLang="zh-CN" sz="1000" b="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lvl="0" algn="ctr" defTabSz="914400" rtl="0" eaLnBrk="1" latinLnBrk="0" hangingPunct="1">
                          <a:buNone/>
                        </a:pPr>
                        <a:r>
                          <a:rPr lang="en-US" sz="1000" b="0" u="none" strike="noStrike" kern="1200" cap="none" spc="0" normalizeH="0" baseline="0">
                            <a:ln>
                              <a:noFill/>
                            </a:ln>
                            <a:solidFill>
                              <a:srgbClr val="000000"/>
                            </a:solidFill>
                            <a:effectLst/>
                            <a:uLnTx/>
                            <a:uFillTx/>
                            <a:latin typeface="+mn-lt"/>
                            <a:ea typeface="+mn-ea"/>
                            <a:cs typeface="+mn-cs"/>
                          </a:rPr>
                          <a:t>EC approval</a:t>
                        </a:r>
                      </a:p>
                      <a:p>
                        <a:pPr marL="0" lvl="0" algn="ctr" defTabSz="914400" rtl="0" eaLnBrk="1" latinLnBrk="0" hangingPunct="1">
                          <a:buNone/>
                        </a:pPr>
                        <a:r>
                          <a:rPr lang="en-US" sz="1000" b="0" u="none" strike="noStrike" kern="1200" cap="none" spc="0" normalizeH="0" baseline="0">
                            <a:ln>
                              <a:noFill/>
                            </a:ln>
                            <a:solidFill>
                              <a:srgbClr val="000000"/>
                            </a:solidFill>
                            <a:effectLst/>
                            <a:uLnTx/>
                            <a:uFillTx/>
                            <a:latin typeface="+mn-lt"/>
                            <a:ea typeface="+mn-ea"/>
                            <a:cs typeface="+mn-cs"/>
                          </a:rPr>
                          <a:t>(May 2025)</a:t>
                        </a:r>
                      </a:p>
                    </a:txBody>
                    <a:tcPr anchor="ctr">
                      <a:solidFill>
                        <a:schemeClr val="bg1">
                          <a:lumMod val="85000"/>
                        </a:schemeClr>
                      </a:solidFill>
                    </a:tcPr>
                  </a:tc>
                  <a:tc>
                    <a:txBody>
                      <a:bodyPr/>
                      <a:lstStyle/>
                      <a:p>
                        <a:pPr marL="171450" lvl="0" indent="-171450" algn="l" defTabSz="914400" rtl="0" eaLnBrk="1" latinLnBrk="0" hangingPunct="1">
                          <a:lnSpc>
                            <a:spcPct val="100000"/>
                          </a:lnSpc>
                          <a:spcBef>
                            <a:spcPts val="0"/>
                          </a:spcBef>
                          <a:spcAft>
                            <a:spcPts val="0"/>
                          </a:spcAft>
                          <a:buFont typeface="Wingdings" panose="05000000000000000000" pitchFamily="2" charset="2"/>
                          <a:buChar char="ü"/>
                        </a:pPr>
                        <a:r>
                          <a:rPr lang="en-US" altLang="zh-CN" sz="1000" b="0" u="none" strike="noStrike" kern="1200" cap="none" spc="0" normalizeH="0" baseline="0" noProof="0">
                            <a:ln>
                              <a:noFill/>
                            </a:ln>
                            <a:solidFill>
                              <a:schemeClr val="bg1">
                                <a:lumMod val="50000"/>
                              </a:schemeClr>
                            </a:solidFill>
                            <a:effectLst/>
                            <a:uLnTx/>
                            <a:uFillTx/>
                            <a:latin typeface="+mn-lt"/>
                            <a:ea typeface="+mn-ea"/>
                            <a:cs typeface="+mn-cs"/>
                          </a:rPr>
                          <a:t>CEC endorsed in Aug 2024. </a:t>
                        </a:r>
                        <a:r>
                          <a:rPr lang="en-US" altLang="zh-CN" sz="1000" b="0" u="none" strike="noStrike" kern="1200" cap="none" spc="0" normalizeH="0" baseline="0">
                            <a:ln>
                              <a:noFill/>
                            </a:ln>
                            <a:solidFill>
                              <a:schemeClr val="bg1">
                                <a:lumMod val="50000"/>
                              </a:schemeClr>
                            </a:solidFill>
                            <a:effectLst/>
                            <a:uLnTx/>
                            <a:uFillTx/>
                            <a:latin typeface="+mn-lt"/>
                            <a:ea typeface="+mn-ea"/>
                            <a:cs typeface="+mn-cs"/>
                          </a:rPr>
                          <a:t>Hybrid review  was completed on 15th Oct and global released with comments on 4th Dec. Kick off meeting was held on 24Dec 2024.  Contract was completed on 14Mar 2025.</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altLang="zh-CN" sz="1000" b="0" u="none" strike="noStrike" kern="1200" cap="none" spc="0" normalizeH="0" baseline="0">
                            <a:ln>
                              <a:noFill/>
                            </a:ln>
                            <a:solidFill>
                              <a:schemeClr val="tx1"/>
                            </a:solidFill>
                            <a:effectLst/>
                            <a:uLnTx/>
                            <a:uFillTx/>
                            <a:latin typeface="+mn-lt"/>
                            <a:ea typeface="+mn-ea"/>
                            <a:cs typeface="+mn-cs"/>
                          </a:rPr>
                          <a:t>Protocol was fully approved on 14Apr 2025.</a:t>
                        </a:r>
                      </a:p>
                    </a:txBody>
                    <a:tcPr anchor="ctr">
                      <a:solidFill>
                        <a:schemeClr val="bg1">
                          <a:lumMod val="85000"/>
                        </a:schemeClr>
                      </a:solidFill>
                    </a:tcPr>
                  </a:tc>
                  <a:tc>
                    <a:txBody>
                      <a:bodyPr/>
                      <a:lstStyle/>
                      <a:p>
                        <a:pPr lvl="0">
                          <a:buNone/>
                        </a:pPr>
                        <a:endParaRPr lang="zh-CN" altLang="en-US"/>
                      </a:p>
                    </a:txBody>
                    <a:tcPr marL="69607" marR="69607" marT="28575" marB="28575">
                      <a:solidFill>
                        <a:schemeClr val="bg1">
                          <a:lumMod val="85000"/>
                        </a:schemeClr>
                      </a:solidFill>
                    </a:tcPr>
                  </a:tc>
                  <a:extLst>
                    <a:ext uri="{0D108BD9-81ED-4DB2-BD59-A6C34878D82A}">
                      <a16:rowId xmlns:a16="http://schemas.microsoft.com/office/drawing/2014/main" val="1151076552"/>
                    </a:ext>
                  </a:extLst>
                </a:tr>
              </a:tbl>
            </a:graphicData>
          </a:graphic>
        </p:graphicFrame>
        <p:sp>
          <p:nvSpPr>
            <p:cNvPr id="13" name="Flowchart: Connector 24">
              <a:extLst>
                <a:ext uri="{FF2B5EF4-FFF2-40B4-BE49-F238E27FC236}">
                  <a16:creationId xmlns:a16="http://schemas.microsoft.com/office/drawing/2014/main" id="{02585345-B645-F239-F9C2-1D1FD9993AF0}"/>
                </a:ext>
              </a:extLst>
            </p:cNvPr>
            <p:cNvSpPr/>
            <p:nvPr/>
          </p:nvSpPr>
          <p:spPr bwMode="gray">
            <a:xfrm>
              <a:off x="11909982" y="1624743"/>
              <a:ext cx="182880" cy="182879"/>
            </a:xfrm>
            <a:prstGeom prst="flowChartConnector">
              <a:avLst/>
            </a:prstGeom>
            <a:solidFill>
              <a:srgbClr val="00B05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defRPr/>
              </a:pPr>
              <a:endParaRPr lang="zh-CN" altLang="en-US" sz="1200">
                <a:solidFill>
                  <a:prstClr val="black"/>
                </a:solidFill>
                <a:latin typeface="Boehringer Forward Text"/>
              </a:endParaRPr>
            </a:p>
          </p:txBody>
        </p:sp>
        <p:sp>
          <p:nvSpPr>
            <p:cNvPr id="14" name="Flowchart: Connector 24">
              <a:extLst>
                <a:ext uri="{FF2B5EF4-FFF2-40B4-BE49-F238E27FC236}">
                  <a16:creationId xmlns:a16="http://schemas.microsoft.com/office/drawing/2014/main" id="{43D1F314-D306-0254-CA77-5C90E43705E2}"/>
                </a:ext>
              </a:extLst>
            </p:cNvPr>
            <p:cNvSpPr/>
            <p:nvPr/>
          </p:nvSpPr>
          <p:spPr bwMode="gray">
            <a:xfrm>
              <a:off x="11909982" y="2620280"/>
              <a:ext cx="182880" cy="182879"/>
            </a:xfrm>
            <a:prstGeom prst="flowChartConnector">
              <a:avLst/>
            </a:prstGeom>
            <a:solidFill>
              <a:srgbClr val="00B05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defRPr/>
              </a:pPr>
              <a:endParaRPr lang="zh-CN" altLang="en-US" sz="1200">
                <a:solidFill>
                  <a:prstClr val="black"/>
                </a:solidFill>
                <a:latin typeface="Boehringer Forward Text"/>
              </a:endParaRPr>
            </a:p>
          </p:txBody>
        </p:sp>
        <p:sp>
          <p:nvSpPr>
            <p:cNvPr id="15" name="Flowchart: Connector 24">
              <a:extLst>
                <a:ext uri="{FF2B5EF4-FFF2-40B4-BE49-F238E27FC236}">
                  <a16:creationId xmlns:a16="http://schemas.microsoft.com/office/drawing/2014/main" id="{12F36518-EF17-BA5D-61F9-CA0B0F330D50}"/>
                </a:ext>
              </a:extLst>
            </p:cNvPr>
            <p:cNvSpPr/>
            <p:nvPr/>
          </p:nvSpPr>
          <p:spPr bwMode="gray">
            <a:xfrm>
              <a:off x="11909982" y="3402895"/>
              <a:ext cx="182880" cy="182879"/>
            </a:xfrm>
            <a:prstGeom prst="flowChartConnector">
              <a:avLst/>
            </a:prstGeom>
            <a:solidFill>
              <a:srgbClr val="00B05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defRPr/>
              </a:pPr>
              <a:endParaRPr lang="zh-CN" altLang="en-US" sz="1200">
                <a:solidFill>
                  <a:prstClr val="black"/>
                </a:solidFill>
                <a:latin typeface="Boehringer Forward Text"/>
              </a:endParaRPr>
            </a:p>
          </p:txBody>
        </p:sp>
        <p:sp>
          <p:nvSpPr>
            <p:cNvPr id="16" name="Flowchart: Connector 24">
              <a:extLst>
                <a:ext uri="{FF2B5EF4-FFF2-40B4-BE49-F238E27FC236}">
                  <a16:creationId xmlns:a16="http://schemas.microsoft.com/office/drawing/2014/main" id="{14A1EFFE-4B6C-7BF1-5C7E-28EDFA2B4CBE}"/>
                </a:ext>
              </a:extLst>
            </p:cNvPr>
            <p:cNvSpPr/>
            <p:nvPr/>
          </p:nvSpPr>
          <p:spPr bwMode="gray">
            <a:xfrm>
              <a:off x="11896651" y="5200773"/>
              <a:ext cx="182880" cy="182879"/>
            </a:xfrm>
            <a:prstGeom prst="flowChartConnector">
              <a:avLst/>
            </a:prstGeom>
            <a:solidFill>
              <a:srgbClr val="00B05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defRPr/>
              </a:pPr>
              <a:endParaRPr lang="zh-CN" altLang="en-US" sz="1200">
                <a:solidFill>
                  <a:prstClr val="black"/>
                </a:solidFill>
                <a:latin typeface="Boehringer Forward Text"/>
              </a:endParaRPr>
            </a:p>
          </p:txBody>
        </p:sp>
        <p:sp>
          <p:nvSpPr>
            <p:cNvPr id="17" name="Flowchart: Connector 24">
              <a:extLst>
                <a:ext uri="{FF2B5EF4-FFF2-40B4-BE49-F238E27FC236}">
                  <a16:creationId xmlns:a16="http://schemas.microsoft.com/office/drawing/2014/main" id="{7083AF26-9691-2FE3-840D-0898C2A50E0E}"/>
                </a:ext>
              </a:extLst>
            </p:cNvPr>
            <p:cNvSpPr/>
            <p:nvPr/>
          </p:nvSpPr>
          <p:spPr bwMode="gray">
            <a:xfrm>
              <a:off x="11909982" y="4113796"/>
              <a:ext cx="182880" cy="182879"/>
            </a:xfrm>
            <a:prstGeom prst="flowChartConnector">
              <a:avLst/>
            </a:prstGeom>
            <a:solidFill>
              <a:srgbClr val="00B05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defRPr/>
              </a:pPr>
              <a:endParaRPr lang="zh-CN" altLang="en-US" sz="1200">
                <a:solidFill>
                  <a:prstClr val="black"/>
                </a:solidFill>
                <a:latin typeface="Boehringer Forward Text"/>
              </a:endParaRPr>
            </a:p>
          </p:txBody>
        </p:sp>
      </p:grpSp>
    </p:spTree>
    <p:extLst>
      <p:ext uri="{BB962C8B-B14F-4D97-AF65-F5344CB8AC3E}">
        <p14:creationId xmlns:p14="http://schemas.microsoft.com/office/powerpoint/2010/main" val="3949348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13C22-965E-0424-8783-FDDE4380EAAE}"/>
              </a:ext>
            </a:extLst>
          </p:cNvPr>
          <p:cNvSpPr>
            <a:spLocks noGrp="1"/>
          </p:cNvSpPr>
          <p:nvPr>
            <p:ph type="title"/>
          </p:nvPr>
        </p:nvSpPr>
        <p:spPr>
          <a:xfrm>
            <a:off x="0" y="9655"/>
            <a:ext cx="11233151" cy="720000"/>
          </a:xfrm>
        </p:spPr>
        <p:txBody>
          <a:bodyPr/>
          <a:lstStyle/>
          <a:p>
            <a:r>
              <a:rPr lang="en-US" altLang="zh-CN"/>
              <a:t>PMS studies of </a:t>
            </a:r>
            <a:r>
              <a:rPr lang="en-US" altLang="zh-CN" err="1"/>
              <a:t>Spesolimab</a:t>
            </a:r>
            <a:endParaRPr lang="zh-CN" altLang="en-US"/>
          </a:p>
        </p:txBody>
      </p:sp>
      <p:sp>
        <p:nvSpPr>
          <p:cNvPr id="4" name="Text Placeholder 3">
            <a:extLst>
              <a:ext uri="{FF2B5EF4-FFF2-40B4-BE49-F238E27FC236}">
                <a16:creationId xmlns:a16="http://schemas.microsoft.com/office/drawing/2014/main" id="{903689D7-9859-EA6C-A32A-F8677FD5C412}"/>
              </a:ext>
            </a:extLst>
          </p:cNvPr>
          <p:cNvSpPr>
            <a:spLocks noGrp="1"/>
          </p:cNvSpPr>
          <p:nvPr>
            <p:ph type="body" sz="quarter" idx="13"/>
          </p:nvPr>
        </p:nvSpPr>
        <p:spPr/>
        <p:txBody>
          <a:bodyPr/>
          <a:lstStyle/>
          <a:p>
            <a:endParaRPr lang="zh-CN" altLang="en-US"/>
          </a:p>
        </p:txBody>
      </p:sp>
      <p:sp>
        <p:nvSpPr>
          <p:cNvPr id="5" name="Footer Placeholder 4">
            <a:extLst>
              <a:ext uri="{FF2B5EF4-FFF2-40B4-BE49-F238E27FC236}">
                <a16:creationId xmlns:a16="http://schemas.microsoft.com/office/drawing/2014/main" id="{C62793C2-9A57-0BD7-E153-52D27516A6DB}"/>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TA CEC Portfolio Update|    ONLY FOR INTERNAL USE</a:t>
            </a:r>
          </a:p>
        </p:txBody>
      </p:sp>
      <p:sp>
        <p:nvSpPr>
          <p:cNvPr id="6" name="Slide Number Placeholder 5">
            <a:extLst>
              <a:ext uri="{FF2B5EF4-FFF2-40B4-BE49-F238E27FC236}">
                <a16:creationId xmlns:a16="http://schemas.microsoft.com/office/drawing/2014/main" id="{2898E46C-F71A-2285-02D5-21D02296935F}"/>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pSp>
        <p:nvGrpSpPr>
          <p:cNvPr id="3" name="组合 2">
            <a:extLst>
              <a:ext uri="{FF2B5EF4-FFF2-40B4-BE49-F238E27FC236}">
                <a16:creationId xmlns:a16="http://schemas.microsoft.com/office/drawing/2014/main" id="{F4BB3EB3-7204-8122-7E75-7416C7B897C0}"/>
              </a:ext>
            </a:extLst>
          </p:cNvPr>
          <p:cNvGrpSpPr/>
          <p:nvPr/>
        </p:nvGrpSpPr>
        <p:grpSpPr>
          <a:xfrm>
            <a:off x="139965" y="1360731"/>
            <a:ext cx="11912069" cy="3421380"/>
            <a:chOff x="75116" y="323165"/>
            <a:chExt cx="11912069" cy="3628981"/>
          </a:xfrm>
        </p:grpSpPr>
        <p:graphicFrame>
          <p:nvGraphicFramePr>
            <p:cNvPr id="7" name="Content Placeholder 3">
              <a:extLst>
                <a:ext uri="{FF2B5EF4-FFF2-40B4-BE49-F238E27FC236}">
                  <a16:creationId xmlns:a16="http://schemas.microsoft.com/office/drawing/2014/main" id="{96EAB098-614E-649B-C99C-8111837B67D4}"/>
                </a:ext>
              </a:extLst>
            </p:cNvPr>
            <p:cNvGraphicFramePr>
              <a:graphicFrameLocks/>
            </p:cNvGraphicFramePr>
            <p:nvPr>
              <p:extLst>
                <p:ext uri="{D42A27DB-BD31-4B8C-83A1-F6EECF244321}">
                  <p14:modId xmlns:p14="http://schemas.microsoft.com/office/powerpoint/2010/main" val="230208439"/>
                </p:ext>
              </p:extLst>
            </p:nvPr>
          </p:nvGraphicFramePr>
          <p:xfrm>
            <a:off x="75116" y="323165"/>
            <a:ext cx="11912069" cy="3628981"/>
          </p:xfrm>
          <a:graphic>
            <a:graphicData uri="http://schemas.openxmlformats.org/drawingml/2006/table">
              <a:tbl>
                <a:tblPr firstRow="1" bandRow="1">
                  <a:tableStyleId>{21E4AEA4-8DFA-4A89-87EB-49C32662AFE0}</a:tableStyleId>
                </a:tblPr>
                <a:tblGrid>
                  <a:gridCol w="1654002">
                    <a:extLst>
                      <a:ext uri="{9D8B030D-6E8A-4147-A177-3AD203B41FA5}">
                        <a16:colId xmlns:a16="http://schemas.microsoft.com/office/drawing/2014/main" val="20000"/>
                      </a:ext>
                    </a:extLst>
                  </a:gridCol>
                  <a:gridCol w="663889">
                    <a:extLst>
                      <a:ext uri="{9D8B030D-6E8A-4147-A177-3AD203B41FA5}">
                        <a16:colId xmlns:a16="http://schemas.microsoft.com/office/drawing/2014/main" val="20002"/>
                      </a:ext>
                    </a:extLst>
                  </a:gridCol>
                  <a:gridCol w="1466873">
                    <a:extLst>
                      <a:ext uri="{9D8B030D-6E8A-4147-A177-3AD203B41FA5}">
                        <a16:colId xmlns:a16="http://schemas.microsoft.com/office/drawing/2014/main" val="20003"/>
                      </a:ext>
                    </a:extLst>
                  </a:gridCol>
                  <a:gridCol w="945223">
                    <a:extLst>
                      <a:ext uri="{9D8B030D-6E8A-4147-A177-3AD203B41FA5}">
                        <a16:colId xmlns:a16="http://schemas.microsoft.com/office/drawing/2014/main" val="4167750559"/>
                      </a:ext>
                    </a:extLst>
                  </a:gridCol>
                  <a:gridCol w="1078003">
                    <a:extLst>
                      <a:ext uri="{9D8B030D-6E8A-4147-A177-3AD203B41FA5}">
                        <a16:colId xmlns:a16="http://schemas.microsoft.com/office/drawing/2014/main" val="513430225"/>
                      </a:ext>
                    </a:extLst>
                  </a:gridCol>
                  <a:gridCol w="1113595">
                    <a:extLst>
                      <a:ext uri="{9D8B030D-6E8A-4147-A177-3AD203B41FA5}">
                        <a16:colId xmlns:a16="http://schemas.microsoft.com/office/drawing/2014/main" val="20004"/>
                      </a:ext>
                    </a:extLst>
                  </a:gridCol>
                  <a:gridCol w="4740473">
                    <a:extLst>
                      <a:ext uri="{9D8B030D-6E8A-4147-A177-3AD203B41FA5}">
                        <a16:colId xmlns:a16="http://schemas.microsoft.com/office/drawing/2014/main" val="20006"/>
                      </a:ext>
                    </a:extLst>
                  </a:gridCol>
                  <a:gridCol w="250011">
                    <a:extLst>
                      <a:ext uri="{9D8B030D-6E8A-4147-A177-3AD203B41FA5}">
                        <a16:colId xmlns:a16="http://schemas.microsoft.com/office/drawing/2014/main" val="2471513409"/>
                      </a:ext>
                    </a:extLst>
                  </a:gridCol>
                </a:tblGrid>
                <a:tr h="428354">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rPr>
                          <a:t>Substance/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rPr>
                          <a:t>MOA/Formulation</a:t>
                        </a:r>
                        <a:endParaRPr lang="en-US" altLang="zh-CN" sz="1050" b="1" kern="1200">
                          <a:solidFill>
                            <a:schemeClr val="bg1"/>
                          </a:solidFill>
                          <a:latin typeface="Calibri"/>
                          <a:ea typeface="+mn-ea"/>
                          <a:cs typeface="+mn-cs"/>
                        </a:endParaRPr>
                      </a:p>
                    </a:txBody>
                    <a:tcPr marL="69608" marR="69608" marT="28575" marB="28575"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a:solidFill>
                              <a:schemeClr val="bg1"/>
                            </a:solidFill>
                          </a:rPr>
                          <a:t>Indication</a:t>
                        </a:r>
                        <a:endParaRPr lang="en-US" sz="1050" b="1" kern="1200">
                          <a:solidFill>
                            <a:schemeClr val="bg1"/>
                          </a:solidFill>
                          <a:latin typeface="Calibri"/>
                          <a:ea typeface="+mn-ea"/>
                          <a:cs typeface="+mn-cs"/>
                        </a:endParaRPr>
                      </a:p>
                    </a:txBody>
                    <a:tcPr marL="69608" marR="69608" marT="28575" marB="28575"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kern="1200">
                            <a:solidFill>
                              <a:schemeClr val="bg1"/>
                            </a:solidFill>
                          </a:rPr>
                          <a:t>Study type/Global</a:t>
                        </a:r>
                        <a:r>
                          <a:rPr lang="en-US" altLang="zh-CN" sz="1050" kern="1200" baseline="0">
                            <a:solidFill>
                              <a:schemeClr val="bg1"/>
                            </a:solidFill>
                          </a:rPr>
                          <a:t> </a:t>
                        </a:r>
                        <a:r>
                          <a:rPr lang="en-US" altLang="zh-CN" sz="1050" kern="1200">
                            <a:solidFill>
                              <a:schemeClr val="bg1"/>
                            </a:solidFill>
                          </a:rPr>
                          <a:t>Status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kern="1200">
                            <a:solidFill>
                              <a:schemeClr val="bg1"/>
                            </a:solidFill>
                          </a:rPr>
                          <a:t>(Study</a:t>
                        </a:r>
                        <a:r>
                          <a:rPr lang="en-US" altLang="zh-CN" sz="1050" kern="1200" baseline="0">
                            <a:solidFill>
                              <a:schemeClr val="bg1"/>
                            </a:solidFill>
                          </a:rPr>
                          <a:t> no.: FPI-LPO, CTR</a:t>
                        </a:r>
                        <a:r>
                          <a:rPr lang="en-US" altLang="zh-CN" sz="1050" kern="1200">
                            <a:solidFill>
                              <a:schemeClr val="bg1"/>
                            </a:solidFill>
                          </a:rPr>
                          <a:t>)</a:t>
                        </a:r>
                        <a:endParaRPr lang="zh-CN" altLang="en-US" sz="105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l" rtl="0" eaLnBrk="1" fontAlgn="auto" latinLnBrk="0" hangingPunct="1">
                          <a:lnSpc>
                            <a:spcPct val="100000"/>
                          </a:lnSpc>
                          <a:spcBef>
                            <a:spcPts val="0"/>
                          </a:spcBef>
                          <a:spcAft>
                            <a:spcPts val="0"/>
                          </a:spcAft>
                          <a:buFontTx/>
                          <a:buNone/>
                        </a:pPr>
                        <a:r>
                          <a:rPr lang="en-US" altLang="zh-CN" sz="1050" b="1" kern="1200">
                            <a:solidFill>
                              <a:schemeClr val="bg1"/>
                            </a:solidFill>
                          </a:rPr>
                          <a:t>China</a:t>
                        </a:r>
                        <a:r>
                          <a:rPr lang="en-US" altLang="zh-CN" sz="1050" b="1" kern="1200" baseline="0">
                            <a:solidFill>
                              <a:schemeClr val="bg1"/>
                            </a:solidFill>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b="1" kern="1200" baseline="0">
                            <a:solidFill>
                              <a:schemeClr val="bg1"/>
                            </a:solidFill>
                          </a:rPr>
                          <a:t>Dev. Strat.</a:t>
                        </a:r>
                        <a:endParaRPr lang="zh-CN" altLang="en-US" sz="105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rPr>
                          <a:t>Current Status</a:t>
                        </a:r>
                        <a:endParaRPr lang="zh-CN" altLang="en-US" sz="105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l" rtl="0" eaLnBrk="1" fontAlgn="auto" latinLnBrk="0" hangingPunct="1">
                          <a:lnSpc>
                            <a:spcPct val="100000"/>
                          </a:lnSpc>
                          <a:spcBef>
                            <a:spcPts val="0"/>
                          </a:spcBef>
                          <a:spcAft>
                            <a:spcPts val="0"/>
                          </a:spcAft>
                          <a:buFontTx/>
                          <a:buNone/>
                        </a:pPr>
                        <a:r>
                          <a:rPr lang="en-US" altLang="zh-CN" sz="1050" b="1" kern="1200">
                            <a:solidFill>
                              <a:schemeClr val="bg1"/>
                            </a:solidFill>
                          </a:rPr>
                          <a:t> Next Mile-stone</a:t>
                        </a:r>
                        <a:endParaRPr lang="zh-CN" altLang="en-US" sz="105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kern="1200">
                            <a:solidFill>
                              <a:schemeClr val="bg1"/>
                            </a:solidFill>
                          </a:rPr>
                          <a:t>Key Updates</a:t>
                        </a:r>
                        <a:endParaRPr lang="zh-CN" altLang="en-US" sz="105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endParaRPr lang="zh-CN" altLang="en-US"/>
                      </a:p>
                    </a:txBody>
                    <a:tcPr marL="69608" marR="69608" marT="34290" marB="34290" anchor="ctr">
                      <a:solidFill>
                        <a:schemeClr val="bg2">
                          <a:lumMod val="75000"/>
                          <a:lumOff val="25000"/>
                        </a:schemeClr>
                      </a:solidFill>
                    </a:tcPr>
                  </a:tc>
                  <a:extLst>
                    <a:ext uri="{0D108BD9-81ED-4DB2-BD59-A6C34878D82A}">
                      <a16:rowId xmlns:a16="http://schemas.microsoft.com/office/drawing/2014/main" val="10000"/>
                    </a:ext>
                  </a:extLst>
                </a:tr>
                <a:tr h="637510">
                  <a:tc>
                    <a:txBody>
                      <a:bodyPr/>
                      <a:lstStyle/>
                      <a:p>
                        <a:pPr algn="ctr" rtl="0" fontAlgn="base"/>
                        <a:r>
                          <a:rPr kumimoji="0" lang="en-US" sz="1000" b="0" u="none" strike="noStrike" kern="1200" cap="none" spc="0" normalizeH="0" baseline="0">
                            <a:ln>
                              <a:noFill/>
                            </a:ln>
                            <a:solidFill>
                              <a:srgbClr val="000000"/>
                            </a:solidFill>
                            <a:effectLst/>
                            <a:uLnTx/>
                            <a:uFillTx/>
                          </a:rPr>
                          <a:t>Exploration of the pathogenesis of GPP and PV</a:t>
                        </a:r>
                        <a:r>
                          <a:rPr kumimoji="0" lang="en-US" altLang="zh-CN" sz="1000" b="0" u="none" strike="noStrike" kern="1200" cap="none" spc="0" normalizeH="0" baseline="0">
                            <a:ln>
                              <a:noFill/>
                            </a:ln>
                            <a:solidFill>
                              <a:srgbClr val="000000"/>
                            </a:solidFill>
                            <a:effectLst/>
                            <a:uLnTx/>
                            <a:uFillTx/>
                          </a:rPr>
                          <a:t>​</a:t>
                        </a:r>
                        <a:endParaRPr kumimoji="0" lang="en-US" altLang="zh-CN" sz="1000" b="0" i="0" u="none" strike="noStrike" kern="1200" cap="none" spc="0" normalizeH="0" baseline="0">
                          <a:ln>
                            <a:noFill/>
                          </a:ln>
                          <a:solidFill>
                            <a:srgbClr val="000000"/>
                          </a:solidFill>
                          <a:effectLst/>
                          <a:uLnTx/>
                          <a:uFillTx/>
                          <a:latin typeface="Calibri"/>
                          <a:ea typeface="+mn-ea"/>
                          <a:cs typeface="Calibri"/>
                        </a:endParaRPr>
                      </a:p>
                    </a:txBody>
                    <a:tcPr anchor="ctr">
                      <a:solidFill>
                        <a:schemeClr val="bg1">
                          <a:lumMod val="85000"/>
                        </a:schemeClr>
                      </a:solidFill>
                    </a:tcPr>
                  </a:tc>
                  <a:tc>
                    <a:txBody>
                      <a:bodyPr/>
                      <a:lstStyle/>
                      <a:p>
                        <a:pPr algn="ctr" rtl="0" fontAlgn="base"/>
                        <a:r>
                          <a:rPr kumimoji="0" lang="en-US" sz="1000" b="0" u="none" strike="noStrike" kern="1200" cap="none" spc="0" normalizeH="0" baseline="0">
                            <a:ln>
                              <a:noFill/>
                            </a:ln>
                            <a:solidFill>
                              <a:srgbClr val="000000"/>
                            </a:solidFill>
                            <a:effectLst/>
                            <a:uLnTx/>
                            <a:uFillTx/>
                          </a:rPr>
                          <a:t>GPP/PV​</a:t>
                        </a:r>
                        <a:endParaRPr kumimoji="0" lang="en-US" sz="1000" b="0" i="0" u="none" strike="noStrike" kern="1200" cap="none" spc="0" normalizeH="0" baseline="0">
                          <a:ln>
                            <a:noFill/>
                          </a:ln>
                          <a:solidFill>
                            <a:srgbClr val="000000"/>
                          </a:solidFill>
                          <a:effectLst/>
                          <a:uLnTx/>
                          <a:uFillTx/>
                          <a:latin typeface="Calibri"/>
                          <a:ea typeface="+mn-ea"/>
                          <a:cs typeface="Calibri"/>
                        </a:endParaRPr>
                      </a:p>
                    </a:txBody>
                    <a:tcPr anchor="ctr">
                      <a:solidFill>
                        <a:schemeClr val="bg1">
                          <a:lumMod val="85000"/>
                        </a:schemeClr>
                      </a:solidFill>
                    </a:tcPr>
                  </a:tc>
                  <a:tc>
                    <a:txBody>
                      <a:bodyPr/>
                      <a:lstStyle/>
                      <a:p>
                        <a:pPr algn="ctr" rtl="0" fontAlgn="base"/>
                        <a:r>
                          <a:rPr kumimoji="0" lang="en-US" sz="1000" b="0" u="none" strike="noStrike" kern="1200" cap="none" spc="0" normalizeH="0" baseline="0">
                            <a:ln>
                              <a:noFill/>
                            </a:ln>
                            <a:solidFill>
                              <a:srgbClr val="000000"/>
                            </a:solidFill>
                            <a:effectLst/>
                            <a:uLnTx/>
                            <a:uFillTx/>
                          </a:rPr>
                          <a:t>IIS(1368-0133)</a:t>
                        </a:r>
                      </a:p>
                      <a:p>
                        <a:pPr algn="ctr" rtl="0" fontAlgn="base"/>
                        <a:r>
                          <a:rPr kumimoji="0" lang="en-US" sz="1000" b="0" u="none" strike="noStrike" kern="1200" cap="none" spc="0" normalizeH="0" baseline="0">
                            <a:ln>
                              <a:noFill/>
                            </a:ln>
                            <a:solidFill>
                              <a:srgbClr val="000000"/>
                            </a:solidFill>
                            <a:effectLst/>
                            <a:uLnTx/>
                            <a:uFillTx/>
                          </a:rPr>
                          <a:t>(Nov2023-Apr2024, Dec2024)</a:t>
                        </a:r>
                        <a:endParaRPr kumimoji="0" lang="en-US" sz="1000" b="0" i="0" u="none" strike="noStrike" kern="1200" cap="none" spc="0" normalizeH="0" baseline="0">
                          <a:ln>
                            <a:noFill/>
                          </a:ln>
                          <a:solidFill>
                            <a:srgbClr val="000000"/>
                          </a:solidFill>
                          <a:effectLst/>
                          <a:uLnTx/>
                          <a:uFillTx/>
                          <a:latin typeface="Calibri"/>
                          <a:ea typeface="+mn-ea"/>
                          <a:cs typeface="Calibri"/>
                        </a:endParaRPr>
                      </a:p>
                    </a:txBody>
                    <a:tcPr anchor="ctr">
                      <a:solidFill>
                        <a:schemeClr val="bg1">
                          <a:lumMod val="85000"/>
                        </a:schemeClr>
                      </a:solidFill>
                    </a:tcPr>
                  </a:tc>
                  <a:tc>
                    <a:txBody>
                      <a:bodyPr/>
                      <a:lstStyle/>
                      <a:p>
                        <a:pPr algn="ctr" rtl="0" fontAlgn="base"/>
                        <a:r>
                          <a:rPr kumimoji="0" lang="en-US" sz="1000" b="0" u="none" strike="noStrike" kern="1200" cap="none" spc="0" normalizeH="0" baseline="0">
                            <a:ln>
                              <a:noFill/>
                            </a:ln>
                            <a:solidFill>
                              <a:srgbClr val="000000"/>
                            </a:solidFill>
                            <a:effectLst/>
                            <a:uLnTx/>
                            <a:uFillTx/>
                          </a:rPr>
                          <a:t>China alone</a:t>
                        </a:r>
                        <a:r>
                          <a:rPr kumimoji="0" lang="en-US" altLang="zh-CN" sz="1000" b="0" u="none" strike="noStrike" kern="1200" cap="none" spc="0" normalizeH="0" baseline="0">
                            <a:ln>
                              <a:noFill/>
                            </a:ln>
                            <a:solidFill>
                              <a:srgbClr val="000000"/>
                            </a:solidFill>
                            <a:effectLst/>
                            <a:uLnTx/>
                            <a:uFillTx/>
                          </a:rPr>
                          <a:t>​</a:t>
                        </a:r>
                        <a:endParaRPr kumimoji="0" lang="en-US" altLang="zh-CN" sz="1000" b="0" i="0" u="none" strike="noStrike" kern="1200" cap="none" spc="0" normalizeH="0" baseline="0">
                          <a:ln>
                            <a:noFill/>
                          </a:ln>
                          <a:solidFill>
                            <a:srgbClr val="000000"/>
                          </a:solidFill>
                          <a:effectLst/>
                          <a:uLnTx/>
                          <a:uFillTx/>
                          <a:latin typeface="Calibri"/>
                          <a:ea typeface="+mn-ea"/>
                          <a:cs typeface="Calibri"/>
                        </a:endParaRPr>
                      </a:p>
                    </a:txBody>
                    <a:tcPr anchor="ctr">
                      <a:solidFill>
                        <a:schemeClr val="bg1">
                          <a:lumMod val="85000"/>
                        </a:schemeClr>
                      </a:solidFill>
                    </a:tcPr>
                  </a:tc>
                  <a:tc>
                    <a:txBody>
                      <a:bodyPr/>
                      <a:lstStyle/>
                      <a:p>
                        <a:pPr algn="ctr" rtl="0" fontAlgn="base"/>
                        <a:r>
                          <a:rPr kumimoji="0" lang="en-US" altLang="zh-CN" sz="1000" b="0" u="none" strike="noStrike" kern="1200" cap="none" spc="0" normalizeH="0" baseline="0">
                            <a:ln>
                              <a:noFill/>
                            </a:ln>
                            <a:solidFill>
                              <a:srgbClr val="000000"/>
                            </a:solidFill>
                            <a:effectLst/>
                            <a:uLnTx/>
                            <a:uFillTx/>
                          </a:rPr>
                          <a:t>LSI</a:t>
                        </a:r>
                      </a:p>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a:ln>
                              <a:noFill/>
                            </a:ln>
                            <a:solidFill>
                              <a:srgbClr val="000000"/>
                            </a:solidFill>
                            <a:effectLst/>
                            <a:uLnTx/>
                            <a:uFillTx/>
                            <a:latin typeface="+mn-lt"/>
                            <a:ea typeface="+mn-ea"/>
                            <a:cs typeface="+mn-cs"/>
                          </a:rPr>
                          <a:t>(May 2025)</a:t>
                        </a:r>
                      </a:p>
                    </a:txBody>
                    <a:tcPr anchor="ctr">
                      <a:solidFill>
                        <a:schemeClr val="bg1">
                          <a:lumMod val="85000"/>
                        </a:schemeClr>
                      </a:solidFill>
                    </a:tcPr>
                  </a:tc>
                  <a:tc>
                    <a:txBody>
                      <a:bodyPr/>
                      <a:lstStyle/>
                      <a:p>
                        <a:pPr algn="ctr" rtl="0" fontAlgn="base"/>
                        <a:r>
                          <a:rPr kumimoji="0" lang="en-US" sz="1000" b="0" u="none" strike="noStrike" kern="1200" cap="none" spc="0" normalizeH="0" baseline="0">
                            <a:ln>
                              <a:noFill/>
                            </a:ln>
                            <a:solidFill>
                              <a:srgbClr val="000000"/>
                            </a:solidFill>
                            <a:effectLst/>
                            <a:uLnTx/>
                            <a:uFillTx/>
                          </a:rPr>
                          <a:t>CTR</a:t>
                        </a:r>
                      </a:p>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a:ln>
                              <a:noFill/>
                            </a:ln>
                            <a:solidFill>
                              <a:srgbClr val="000000"/>
                            </a:solidFill>
                            <a:effectLst/>
                            <a:uLnTx/>
                            <a:uFillTx/>
                            <a:latin typeface="+mn-lt"/>
                            <a:ea typeface="+mn-ea"/>
                            <a:cs typeface="+mn-cs"/>
                          </a:rPr>
                          <a:t>(Dec 2025)</a:t>
                        </a:r>
                      </a:p>
                    </a:txBody>
                    <a:tcPr anchor="ctr">
                      <a:solidFill>
                        <a:schemeClr val="bg1">
                          <a:lumMod val="85000"/>
                        </a:schemeClr>
                      </a:solidFill>
                    </a:tcPr>
                  </a:tc>
                  <a:tc>
                    <a:txBody>
                      <a:bodyPr/>
                      <a:lstStyle/>
                      <a:p>
                        <a:pPr marL="171450" lvl="0" indent="-171450" algn="l">
                          <a:lnSpc>
                            <a:spcPct val="100000"/>
                          </a:lnSpc>
                          <a:spcBef>
                            <a:spcPts val="0"/>
                          </a:spcBef>
                          <a:spcAft>
                            <a:spcPts val="0"/>
                          </a:spcAft>
                          <a:buFont typeface="Wingdings" panose="05000000000000000000" pitchFamily="2" charset="2"/>
                          <a:buChar char="ü"/>
                        </a:pPr>
                        <a:r>
                          <a:rPr lang="en-US" sz="1000" b="0" u="none" strike="noStrike" kern="1200" cap="none" spc="0" normalizeH="0" baseline="0" noProof="0">
                            <a:ln>
                              <a:noFill/>
                            </a:ln>
                            <a:solidFill>
                              <a:schemeClr val="bg1">
                                <a:lumMod val="50000"/>
                              </a:schemeClr>
                            </a:solidFill>
                            <a:effectLst/>
                            <a:uLnTx/>
                            <a:uFillTx/>
                          </a:rPr>
                          <a:t>Enrolment was completed on May 16th</a:t>
                        </a:r>
                      </a:p>
                      <a:p>
                        <a:pPr marL="171450" lvl="0" indent="-171450" algn="l">
                          <a:lnSpc>
                            <a:spcPct val="100000"/>
                          </a:lnSpc>
                          <a:spcBef>
                            <a:spcPts val="0"/>
                          </a:spcBef>
                          <a:spcAft>
                            <a:spcPts val="0"/>
                          </a:spcAft>
                          <a:buFont typeface="Wingdings" panose="05000000000000000000" pitchFamily="2" charset="2"/>
                          <a:buChar char="ü"/>
                        </a:pPr>
                        <a:r>
                          <a:rPr lang="en-US" sz="1000" b="0" u="none" strike="noStrike" kern="1200" cap="none" spc="0" normalizeH="0" baseline="0" noProof="0">
                            <a:ln>
                              <a:noFill/>
                            </a:ln>
                            <a:solidFill>
                              <a:schemeClr val="bg1">
                                <a:lumMod val="50000"/>
                              </a:schemeClr>
                            </a:solidFill>
                            <a:effectLst/>
                            <a:uLnTx/>
                            <a:uFillTx/>
                          </a:rPr>
                          <a:t>CTR delay due to 1) site internal payment checkout process 2) analyst’s schedule  3)</a:t>
                        </a:r>
                        <a:r>
                          <a:rPr lang="zh-CN" altLang="en-US" sz="1000" b="0" u="none" strike="noStrike" kern="1200" cap="none" spc="0" normalizeH="0" baseline="0" noProof="0">
                            <a:ln>
                              <a:noFill/>
                            </a:ln>
                            <a:solidFill>
                              <a:schemeClr val="bg1">
                                <a:lumMod val="50000"/>
                              </a:schemeClr>
                            </a:solidFill>
                            <a:effectLst/>
                            <a:uLnTx/>
                            <a:uFillTx/>
                          </a:rPr>
                          <a:t> </a:t>
                        </a:r>
                        <a:r>
                          <a:rPr lang="en-US" altLang="zh-CN" sz="1000" b="0" u="none" strike="noStrike" kern="1200" cap="none" spc="0" normalizeH="0" baseline="0" noProof="0">
                            <a:ln>
                              <a:noFill/>
                            </a:ln>
                            <a:solidFill>
                              <a:schemeClr val="bg1">
                                <a:lumMod val="50000"/>
                              </a:schemeClr>
                            </a:solidFill>
                            <a:effectLst/>
                            <a:uLnTx/>
                            <a:uFillTx/>
                          </a:rPr>
                          <a:t>sample testing and adjusting</a:t>
                        </a:r>
                      </a:p>
                      <a:p>
                        <a:pPr marL="171450" lvl="0" indent="-171450" algn="l">
                          <a:lnSpc>
                            <a:spcPct val="100000"/>
                          </a:lnSpc>
                          <a:spcBef>
                            <a:spcPts val="0"/>
                          </a:spcBef>
                          <a:spcAft>
                            <a:spcPts val="0"/>
                          </a:spcAft>
                          <a:buFont typeface="Wingdings" panose="05000000000000000000" pitchFamily="2" charset="2"/>
                          <a:buChar char="ü"/>
                        </a:pPr>
                        <a:r>
                          <a:rPr lang="en-US" sz="1000" b="0" u="none" strike="noStrike" kern="1200" cap="none" spc="0" normalizeH="0" baseline="0" noProof="0">
                            <a:ln>
                              <a:noFill/>
                            </a:ln>
                            <a:solidFill>
                              <a:srgbClr val="000000"/>
                            </a:solidFill>
                            <a:effectLst/>
                            <a:uLnTx/>
                            <a:uFillTx/>
                          </a:rPr>
                          <a:t>CTR can be submitted by May as the investigator is making final revisions. </a:t>
                        </a:r>
                      </a:p>
                    </a:txBody>
                    <a:tcPr anchor="ctr">
                      <a:solidFill>
                        <a:schemeClr val="bg1">
                          <a:lumMod val="85000"/>
                        </a:schemeClr>
                      </a:solidFill>
                    </a:tcPr>
                  </a:tc>
                  <a:tc>
                    <a:txBody>
                      <a:bodyPr/>
                      <a:lstStyle/>
                      <a:p>
                        <a:endParaRPr lang="zh-CN" altLang="en-US"/>
                      </a:p>
                    </a:txBody>
                    <a:tcPr marL="69607" marR="69607" marT="28575" marB="28575">
                      <a:solidFill>
                        <a:srgbClr val="D9D9D9"/>
                      </a:solidFill>
                    </a:tcPr>
                  </a:tc>
                  <a:extLst>
                    <a:ext uri="{0D108BD9-81ED-4DB2-BD59-A6C34878D82A}">
                      <a16:rowId xmlns:a16="http://schemas.microsoft.com/office/drawing/2014/main" val="3911100161"/>
                    </a:ext>
                  </a:extLst>
                </a:tr>
                <a:tr h="637510">
                  <a:tc>
                    <a:txBody>
                      <a:bodyPr/>
                      <a:lstStyle/>
                      <a:p>
                        <a:pPr algn="ctr" rtl="0" fontAlgn="base"/>
                        <a:r>
                          <a:rPr kumimoji="0" lang="en-US" sz="1000" b="0" u="none" strike="noStrike" kern="1200" cap="none" spc="0" normalizeH="0" baseline="0">
                            <a:ln>
                              <a:noFill/>
                            </a:ln>
                            <a:solidFill>
                              <a:srgbClr val="000000"/>
                            </a:solidFill>
                            <a:effectLst/>
                            <a:uLnTx/>
                            <a:uFillTx/>
                            <a:latin typeface="+mn-lt"/>
                            <a:ea typeface="+mn-ea"/>
                            <a:cs typeface="+mn-cs"/>
                          </a:rPr>
                          <a:t>EPI study in HS PG</a:t>
                        </a:r>
                      </a:p>
                    </a:txBody>
                    <a:tcPr anchor="ctr">
                      <a:solidFill>
                        <a:schemeClr val="bg1">
                          <a:lumMod val="85000"/>
                        </a:schemeClr>
                      </a:solidFill>
                    </a:tcPr>
                  </a:tc>
                  <a:tc>
                    <a:txBody>
                      <a:bodyPr/>
                      <a:lstStyle/>
                      <a:p>
                        <a:pPr algn="ctr" rtl="0" fontAlgn="base"/>
                        <a:r>
                          <a:rPr kumimoji="0" lang="en-US" sz="1000" b="0" u="none" strike="noStrike" kern="1200" cap="none" spc="0" normalizeH="0" baseline="0">
                            <a:ln>
                              <a:noFill/>
                            </a:ln>
                            <a:solidFill>
                              <a:srgbClr val="000000"/>
                            </a:solidFill>
                            <a:effectLst/>
                            <a:uLnTx/>
                            <a:uFillTx/>
                            <a:latin typeface="+mn-lt"/>
                            <a:ea typeface="+mn-ea"/>
                            <a:cs typeface="+mn-cs"/>
                          </a:rPr>
                          <a:t>PG&amp;HS​</a:t>
                        </a:r>
                      </a:p>
                    </a:txBody>
                    <a:tcPr anchor="ctr">
                      <a:solidFill>
                        <a:schemeClr val="bg1">
                          <a:lumMod val="85000"/>
                        </a:schemeClr>
                      </a:solidFill>
                    </a:tcPr>
                  </a:tc>
                  <a:tc>
                    <a:txBody>
                      <a:bodyPr/>
                      <a:lstStyle/>
                      <a:p>
                        <a:pPr algn="ctr" rtl="0" fontAlgn="base"/>
                        <a:r>
                          <a:rPr kumimoji="0" lang="en-US" sz="1000" b="0" u="none" strike="noStrike" kern="1200" cap="none" spc="0" normalizeH="0" baseline="0">
                            <a:ln>
                              <a:noFill/>
                            </a:ln>
                            <a:solidFill>
                              <a:srgbClr val="000000"/>
                            </a:solidFill>
                            <a:effectLst/>
                            <a:uLnTx/>
                            <a:uFillTx/>
                            <a:latin typeface="+mn-lt"/>
                            <a:ea typeface="+mn-ea"/>
                            <a:cs typeface="+mn-cs"/>
                          </a:rPr>
                          <a:t>ECR​</a:t>
                        </a:r>
                        <a:r>
                          <a:rPr lang="en-US" sz="1000" b="0" u="none" strike="noStrike" kern="1200" cap="none" spc="0" normalizeH="0" baseline="0">
                            <a:ln>
                              <a:noFill/>
                            </a:ln>
                            <a:solidFill>
                              <a:srgbClr val="000000"/>
                            </a:solidFill>
                            <a:effectLst/>
                            <a:uLnTx/>
                            <a:uFillTx/>
                            <a:latin typeface="+mn-lt"/>
                            <a:ea typeface="+mn-ea"/>
                            <a:cs typeface="+mn-cs"/>
                          </a:rPr>
                          <a:t>(1368-0167)</a:t>
                        </a:r>
                        <a:endParaRPr kumimoji="0" lang="en-US" sz="1000" b="0" u="none" strike="noStrike" kern="1200" cap="none" spc="0" normalizeH="0" baseline="0">
                          <a:ln>
                            <a:noFill/>
                          </a:ln>
                          <a:solidFill>
                            <a:srgbClr val="000000"/>
                          </a:solidFill>
                          <a:effectLst/>
                          <a:uLnTx/>
                          <a:uFillTx/>
                          <a:latin typeface="+mn-lt"/>
                          <a:ea typeface="+mn-ea"/>
                          <a:cs typeface="+mn-cs"/>
                        </a:endParaRPr>
                      </a:p>
                      <a:p>
                        <a:pPr algn="ctr" rtl="0" fontAlgn="base"/>
                        <a:r>
                          <a:rPr kumimoji="0" lang="en-US" sz="1000" b="0" u="none" strike="noStrike" kern="1200" cap="none" spc="0" normalizeH="0" baseline="0">
                            <a:ln>
                              <a:noFill/>
                            </a:ln>
                            <a:solidFill>
                              <a:srgbClr val="000000"/>
                            </a:solidFill>
                            <a:effectLst/>
                            <a:uLnTx/>
                            <a:uFillTx/>
                            <a:latin typeface="+mn-lt"/>
                            <a:ea typeface="+mn-ea"/>
                            <a:cs typeface="+mn-cs"/>
                          </a:rPr>
                          <a:t>(Nov 2026)​</a:t>
                        </a:r>
                      </a:p>
                    </a:txBody>
                    <a:tcPr anchor="ctr">
                      <a:solidFill>
                        <a:schemeClr val="bg1">
                          <a:lumMod val="85000"/>
                        </a:schemeClr>
                      </a:solidFill>
                    </a:tcPr>
                  </a:tc>
                  <a:tc>
                    <a:txBody>
                      <a:bodyPr/>
                      <a:lstStyle/>
                      <a:p>
                        <a:pPr algn="ctr" rtl="0" fontAlgn="base"/>
                        <a:r>
                          <a:rPr kumimoji="0" lang="en-US" sz="1000" b="0" u="none" strike="noStrike" kern="1200" cap="none" spc="0" normalizeH="0" baseline="0">
                            <a:ln>
                              <a:noFill/>
                            </a:ln>
                            <a:solidFill>
                              <a:srgbClr val="000000"/>
                            </a:solidFill>
                            <a:effectLst/>
                            <a:uLnTx/>
                            <a:uFillTx/>
                            <a:latin typeface="+mn-lt"/>
                            <a:ea typeface="+mn-ea"/>
                            <a:cs typeface="+mn-cs"/>
                          </a:rPr>
                          <a:t>China alone​</a:t>
                        </a:r>
                      </a:p>
                    </a:txBody>
                    <a:tcPr anchor="ctr">
                      <a:solidFill>
                        <a:schemeClr val="bg1">
                          <a:lumMod val="85000"/>
                        </a:schemeClr>
                      </a:solidFill>
                    </a:tcPr>
                  </a:tc>
                  <a:tc>
                    <a:txBody>
                      <a:bodyPr/>
                      <a:lstStyle/>
                      <a:p>
                        <a:pPr algn="ctr" rtl="0" fontAlgn="base"/>
                        <a:r>
                          <a:rPr lang="en-US" altLang="zh-CN" sz="1000" b="0" u="none" strike="noStrike" kern="1200" cap="none" spc="0" normalizeH="0" baseline="0">
                            <a:ln>
                              <a:noFill/>
                            </a:ln>
                            <a:solidFill>
                              <a:srgbClr val="000000"/>
                            </a:solidFill>
                            <a:effectLst/>
                            <a:uLnTx/>
                            <a:uFillTx/>
                            <a:latin typeface="+mn-lt"/>
                            <a:ea typeface="+mn-ea"/>
                            <a:cs typeface="+mn-cs"/>
                          </a:rPr>
                          <a:t>Contract sign-off</a:t>
                        </a:r>
                      </a:p>
                      <a:p>
                        <a:pPr lvl="0" algn="ctr">
                          <a:buNone/>
                        </a:pPr>
                        <a:r>
                          <a:rPr lang="en-US" altLang="zh-CN" sz="1000" b="0" u="none" strike="noStrike" kern="1200" cap="none" spc="0" normalizeH="0" baseline="0">
                            <a:ln>
                              <a:noFill/>
                            </a:ln>
                            <a:solidFill>
                              <a:srgbClr val="000000"/>
                            </a:solidFill>
                            <a:effectLst/>
                            <a:uLnTx/>
                            <a:uFillTx/>
                            <a:latin typeface="+mn-lt"/>
                            <a:ea typeface="+mn-ea"/>
                            <a:cs typeface="+mn-cs"/>
                          </a:rPr>
                          <a:t>(Dec 2024)</a:t>
                        </a:r>
                      </a:p>
                    </a:txBody>
                    <a:tcPr anchor="ctr">
                      <a:solidFill>
                        <a:schemeClr val="bg1">
                          <a:lumMod val="85000"/>
                        </a:schemeClr>
                      </a:solidFill>
                    </a:tcPr>
                  </a:tc>
                  <a:tc>
                    <a:txBody>
                      <a:bodyPr/>
                      <a:lstStyle/>
                      <a:p>
                        <a:pPr algn="ctr">
                          <a:lnSpc>
                            <a:spcPct val="150000"/>
                          </a:lnSpc>
                        </a:pPr>
                        <a:r>
                          <a:rPr lang="en-US" altLang="zh-CN" sz="1000"/>
                          <a:t>Data analysis  of PG</a:t>
                        </a:r>
                      </a:p>
                      <a:p>
                        <a:pPr lvl="0" algn="ctr">
                          <a:buNone/>
                        </a:pPr>
                        <a:r>
                          <a:rPr lang="en-US" sz="1000" b="0" u="none" strike="noStrike" kern="1200" cap="none" spc="0" normalizeH="0" baseline="0">
                            <a:ln>
                              <a:noFill/>
                            </a:ln>
                            <a:solidFill>
                              <a:srgbClr val="000000"/>
                            </a:solidFill>
                            <a:effectLst/>
                            <a:uLnTx/>
                            <a:uFillTx/>
                            <a:latin typeface="+mn-lt"/>
                            <a:ea typeface="+mn-ea"/>
                            <a:cs typeface="+mn-cs"/>
                          </a:rPr>
                          <a:t>(Apr 2026)</a:t>
                        </a:r>
                      </a:p>
                    </a:txBody>
                    <a:tcPr anchor="ctr">
                      <a:solidFill>
                        <a:schemeClr val="bg1">
                          <a:lumMod val="85000"/>
                        </a:schemeClr>
                      </a:solidFill>
                    </a:tcPr>
                  </a:tc>
                  <a:tc>
                    <a:txBody>
                      <a:bodyPr/>
                      <a:lstStyle/>
                      <a:p>
                        <a:pPr marL="171450" indent="-171450" algn="l" rtl="0" fontAlgn="base">
                          <a:buFont typeface="Wingdings"/>
                          <a:buChar char="ü"/>
                        </a:pPr>
                        <a:r>
                          <a:rPr lang="en-US" altLang="zh-CN" sz="1000" b="0" u="none" strike="noStrike" kern="1200" cap="none" spc="0" normalizeH="0" baseline="0">
                            <a:ln>
                              <a:noFill/>
                            </a:ln>
                            <a:solidFill>
                              <a:schemeClr val="bg1">
                                <a:lumMod val="50000"/>
                              </a:schemeClr>
                            </a:solidFill>
                            <a:effectLst/>
                            <a:uLnTx/>
                            <a:uFillTx/>
                            <a:latin typeface="+mn-lt"/>
                            <a:ea typeface="+mn-ea"/>
                            <a:cs typeface="+mn-cs"/>
                          </a:rPr>
                          <a:t>Proposal release on 23Aug; Protocol was approved with minor comments on  21 Oct 2024; EC approved in Nov 2024</a:t>
                        </a:r>
                      </a:p>
                      <a:p>
                        <a:pPr marL="171450" indent="-171450" algn="l" rtl="0" fontAlgn="base">
                          <a:buFont typeface="Wingdings"/>
                          <a:buChar char="ü"/>
                        </a:pPr>
                        <a:r>
                          <a:rPr lang="en-US" altLang="zh-CN" sz="1000" b="0" u="none" strike="noStrike" kern="1200" cap="none" spc="0" normalizeH="0" baseline="0">
                            <a:ln>
                              <a:noFill/>
                            </a:ln>
                            <a:solidFill>
                              <a:srgbClr val="000000"/>
                            </a:solidFill>
                            <a:effectLst/>
                            <a:uLnTx/>
                            <a:uFillTx/>
                            <a:latin typeface="+mn-lt"/>
                            <a:ea typeface="+mn-ea"/>
                            <a:cs typeface="+mn-cs"/>
                          </a:rPr>
                          <a:t>Contract was signed on 17 Dec 2024</a:t>
                        </a:r>
                      </a:p>
                      <a:p>
                        <a:pPr marL="171450" indent="-171450" algn="l" rtl="0" fontAlgn="base">
                          <a:buFont typeface="Wingdings"/>
                          <a:buChar char="ü"/>
                        </a:pPr>
                        <a:r>
                          <a:rPr lang="en-US" altLang="zh-CN" sz="1000" b="0" u="none" strike="noStrike" kern="1200" cap="none" spc="0" normalizeH="0" baseline="0">
                            <a:ln>
                              <a:noFill/>
                            </a:ln>
                            <a:solidFill>
                              <a:srgbClr val="000000"/>
                            </a:solidFill>
                            <a:effectLst/>
                            <a:uLnTx/>
                            <a:uFillTx/>
                            <a:latin typeface="+mn-lt"/>
                            <a:ea typeface="+mn-ea"/>
                            <a:cs typeface="+mn-cs"/>
                          </a:rPr>
                          <a:t>Sponsor-collaborator has completed work butting with Beijing Big data center in Jan 2025 and now is checking data regularly</a:t>
                        </a:r>
                      </a:p>
                    </a:txBody>
                    <a:tcPr anchor="ctr">
                      <a:solidFill>
                        <a:schemeClr val="bg1">
                          <a:lumMod val="85000"/>
                        </a:schemeClr>
                      </a:solidFill>
                    </a:tcPr>
                  </a:tc>
                  <a:tc>
                    <a:txBody>
                      <a:bodyPr/>
                      <a:lstStyle/>
                      <a:p>
                        <a:endParaRPr lang="zh-CN" altLang="en-US"/>
                      </a:p>
                    </a:txBody>
                    <a:tcPr marL="69607" marR="69607" marT="28575" marB="28575">
                      <a:solidFill>
                        <a:srgbClr val="D9D9D9"/>
                      </a:solidFill>
                    </a:tcPr>
                  </a:tc>
                  <a:extLst>
                    <a:ext uri="{0D108BD9-81ED-4DB2-BD59-A6C34878D82A}">
                      <a16:rowId xmlns:a16="http://schemas.microsoft.com/office/drawing/2014/main" val="1342358883"/>
                    </a:ext>
                  </a:extLst>
                </a:tr>
                <a:tr h="637510">
                  <a:tc>
                    <a:txBody>
                      <a:bodyPr/>
                      <a:lstStyle/>
                      <a:p>
                        <a:pPr algn="ctr" rtl="0" fontAlgn="base"/>
                        <a:r>
                          <a:rPr kumimoji="0" lang="en-US" sz="1000" b="0" u="none" strike="noStrike" kern="1200" cap="none" spc="0" normalizeH="0" baseline="0">
                            <a:ln>
                              <a:noFill/>
                            </a:ln>
                            <a:solidFill>
                              <a:srgbClr val="000000"/>
                            </a:solidFill>
                            <a:effectLst/>
                            <a:uLnTx/>
                            <a:uFillTx/>
                            <a:latin typeface="+mn-lt"/>
                            <a:ea typeface="+mn-ea"/>
                            <a:cs typeface="+mn-cs"/>
                          </a:rPr>
                          <a:t>Mixed-Methods study for GPP</a:t>
                        </a:r>
                      </a:p>
                    </a:txBody>
                    <a:tcPr anchor="ctr">
                      <a:solidFill>
                        <a:schemeClr val="bg1">
                          <a:lumMod val="85000"/>
                        </a:schemeClr>
                      </a:solidFill>
                    </a:tcPr>
                  </a:tc>
                  <a:tc>
                    <a:txBody>
                      <a:bodyPr/>
                      <a:lstStyle/>
                      <a:p>
                        <a:pPr algn="ctr" rtl="0" fontAlgn="base"/>
                        <a:r>
                          <a:rPr kumimoji="0" lang="en-US" sz="1000" b="0" u="none" strike="noStrike" kern="1200" cap="none" spc="0" normalizeH="0" baseline="0">
                            <a:ln>
                              <a:noFill/>
                            </a:ln>
                            <a:solidFill>
                              <a:srgbClr val="000000"/>
                            </a:solidFill>
                            <a:effectLst/>
                            <a:uLnTx/>
                            <a:uFillTx/>
                            <a:latin typeface="+mn-lt"/>
                            <a:ea typeface="+mn-ea"/>
                            <a:cs typeface="+mn-cs"/>
                          </a:rPr>
                          <a:t>GPP</a:t>
                        </a:r>
                      </a:p>
                    </a:txBody>
                    <a:tcPr anchor="ctr">
                      <a:solidFill>
                        <a:schemeClr val="bg1">
                          <a:lumMod val="85000"/>
                        </a:schemeClr>
                      </a:solidFill>
                    </a:tcPr>
                  </a:tc>
                  <a:tc>
                    <a:txBody>
                      <a:bodyPr/>
                      <a:lstStyle/>
                      <a:p>
                        <a:pPr algn="ctr" rtl="0" fontAlgn="base"/>
                        <a:r>
                          <a:rPr kumimoji="0" lang="en-US" sz="1000" b="0" u="none" strike="noStrike" kern="1200" cap="none" spc="0" normalizeH="0" baseline="0">
                            <a:ln>
                              <a:noFill/>
                            </a:ln>
                            <a:solidFill>
                              <a:srgbClr val="000000"/>
                            </a:solidFill>
                            <a:effectLst/>
                            <a:uLnTx/>
                            <a:uFillTx/>
                            <a:latin typeface="+mn-lt"/>
                            <a:ea typeface="+mn-ea"/>
                            <a:cs typeface="+mn-cs"/>
                          </a:rPr>
                          <a:t>ECR</a:t>
                        </a:r>
                      </a:p>
                      <a:p>
                        <a:pPr algn="ctr" rtl="0" fontAlgn="base"/>
                        <a:r>
                          <a:rPr kumimoji="0" lang="en-US" sz="1000" b="0" u="none" strike="noStrike" kern="1200" cap="none" spc="0" normalizeH="0" baseline="0">
                            <a:ln>
                              <a:noFill/>
                            </a:ln>
                            <a:solidFill>
                              <a:srgbClr val="000000"/>
                            </a:solidFill>
                            <a:effectLst/>
                            <a:uLnTx/>
                            <a:uFillTx/>
                            <a:latin typeface="+mn-lt"/>
                            <a:ea typeface="+mn-ea"/>
                            <a:cs typeface="+mn-cs"/>
                          </a:rPr>
                          <a:t>(May2025-Q32027,</a:t>
                        </a:r>
                        <a:r>
                          <a:rPr kumimoji="0" lang="zh-CN" altLang="en-US" sz="1000" b="0" u="none" strike="noStrike" kern="1200" cap="none" spc="0" normalizeH="0" baseline="0">
                            <a:ln>
                              <a:noFill/>
                            </a:ln>
                            <a:solidFill>
                              <a:srgbClr val="000000"/>
                            </a:solidFill>
                            <a:effectLst/>
                            <a:uLnTx/>
                            <a:uFillTx/>
                            <a:latin typeface="+mn-lt"/>
                            <a:ea typeface="+mn-ea"/>
                            <a:cs typeface="+mn-cs"/>
                          </a:rPr>
                          <a:t> </a:t>
                        </a:r>
                        <a:r>
                          <a:rPr kumimoji="0" lang="en-US" altLang="zh-CN" sz="1000" b="0" u="none" strike="noStrike" kern="1200" cap="none" spc="0" normalizeH="0" baseline="0">
                            <a:ln>
                              <a:noFill/>
                            </a:ln>
                            <a:solidFill>
                              <a:srgbClr val="000000"/>
                            </a:solidFill>
                            <a:effectLst/>
                            <a:uLnTx/>
                            <a:uFillTx/>
                            <a:latin typeface="+mn-lt"/>
                            <a:ea typeface="+mn-ea"/>
                            <a:cs typeface="+mn-cs"/>
                          </a:rPr>
                          <a:t>Q42027)</a:t>
                        </a:r>
                        <a:endParaRPr kumimoji="0" lang="en-US" sz="1000" b="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lvl="0" indent="0" algn="ctr" defTabSz="914378">
                          <a:lnSpc>
                            <a:spcPct val="100000"/>
                          </a:lnSpc>
                          <a:spcBef>
                            <a:spcPts val="0"/>
                          </a:spcBef>
                          <a:spcAft>
                            <a:spcPts val="0"/>
                          </a:spcAft>
                          <a:buNone/>
                        </a:pPr>
                        <a:r>
                          <a:rPr kumimoji="0" lang="en-US" sz="1000" b="0" u="none" strike="noStrike" kern="1200" cap="none" spc="0" normalizeH="0" baseline="0">
                            <a:ln>
                              <a:noFill/>
                            </a:ln>
                            <a:solidFill>
                              <a:srgbClr val="000000"/>
                            </a:solidFill>
                            <a:effectLst/>
                            <a:uLnTx/>
                            <a:uFillTx/>
                            <a:latin typeface="+mn-lt"/>
                            <a:ea typeface="+mn-ea"/>
                            <a:cs typeface="+mn-cs"/>
                          </a:rPr>
                          <a:t>China alone </a:t>
                        </a:r>
                      </a:p>
                    </a:txBody>
                    <a:tcPr anchor="ctr">
                      <a:solidFill>
                        <a:schemeClr val="bg1">
                          <a:lumMod val="85000"/>
                        </a:schemeClr>
                      </a:solidFill>
                    </a:tcPr>
                  </a:tc>
                  <a:tc>
                    <a:txBody>
                      <a:bodyPr/>
                      <a:lstStyle/>
                      <a:p>
                        <a:pPr marL="0" marR="0" lvl="0" indent="0" algn="ctr" defTabSz="914377" rtl="0" eaLnBrk="1" fontAlgn="base"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a:ln>
                              <a:noFill/>
                            </a:ln>
                            <a:solidFill>
                              <a:srgbClr val="000000"/>
                            </a:solidFill>
                            <a:effectLst/>
                            <a:uLnTx/>
                            <a:uFillTx/>
                            <a:latin typeface="+mn-lt"/>
                            <a:ea typeface="+mn-ea"/>
                            <a:cs typeface="+mn-cs"/>
                          </a:rPr>
                          <a:t>CEC approval </a:t>
                        </a:r>
                      </a:p>
                      <a:p>
                        <a:pPr marL="0" marR="0" lvl="0" indent="0" algn="ctr" defTabSz="914377" rtl="0" eaLnBrk="1" fontAlgn="base"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a:ln>
                              <a:noFill/>
                            </a:ln>
                            <a:solidFill>
                              <a:srgbClr val="000000"/>
                            </a:solidFill>
                            <a:effectLst/>
                            <a:uLnTx/>
                            <a:uFillTx/>
                            <a:latin typeface="+mn-lt"/>
                            <a:ea typeface="+mn-ea"/>
                            <a:cs typeface="+mn-cs"/>
                          </a:rPr>
                          <a:t>(Sep2024) </a:t>
                        </a:r>
                      </a:p>
                    </a:txBody>
                    <a:tcPr anchor="ctr">
                      <a:solidFill>
                        <a:schemeClr val="bg1">
                          <a:lumMod val="85000"/>
                        </a:schemeClr>
                      </a:solidFill>
                    </a:tcPr>
                  </a:tc>
                  <a:tc>
                    <a:txBody>
                      <a:bodyPr/>
                      <a:lstStyle/>
                      <a:p>
                        <a:pPr algn="ctr" rtl="0" fontAlgn="base"/>
                        <a:r>
                          <a:rPr kumimoji="0" lang="en-US" sz="1000" b="0" u="none" strike="noStrike" kern="1200" cap="none" spc="0" normalizeH="0" baseline="0">
                            <a:ln>
                              <a:noFill/>
                            </a:ln>
                            <a:solidFill>
                              <a:srgbClr val="000000"/>
                            </a:solidFill>
                            <a:effectLst/>
                            <a:uLnTx/>
                            <a:uFillTx/>
                            <a:latin typeface="+mn-lt"/>
                            <a:ea typeface="+mn-ea"/>
                            <a:cs typeface="+mn-cs"/>
                          </a:rPr>
                          <a:t>Proposal approval</a:t>
                        </a:r>
                      </a:p>
                      <a:p>
                        <a:pPr algn="ctr" rtl="0" fontAlgn="base"/>
                        <a:r>
                          <a:rPr kumimoji="0" lang="en-US" sz="1000" b="0" u="none" strike="noStrike" kern="1200" cap="none" spc="0" normalizeH="0" baseline="0">
                            <a:ln>
                              <a:noFill/>
                            </a:ln>
                            <a:solidFill>
                              <a:srgbClr val="000000"/>
                            </a:solidFill>
                            <a:effectLst/>
                            <a:uLnTx/>
                            <a:uFillTx/>
                            <a:latin typeface="+mn-lt"/>
                            <a:ea typeface="+mn-ea"/>
                            <a:cs typeface="+mn-cs"/>
                          </a:rPr>
                          <a:t>(Nov2024) </a:t>
                        </a:r>
                      </a:p>
                    </a:txBody>
                    <a:tcPr anchor="ctr">
                      <a:solidFill>
                        <a:schemeClr val="bg1">
                          <a:lumMod val="85000"/>
                        </a:schemeClr>
                      </a:solidFill>
                    </a:tcPr>
                  </a:tc>
                  <a:tc>
                    <a:txBody>
                      <a:bodyPr/>
                      <a:lstStyle/>
                      <a:p>
                        <a:pPr marL="171450" marR="0" lvl="0" indent="-171450" algn="l" defTabSz="91440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000" b="0" u="none" strike="noStrike" kern="1200" cap="none" spc="0" normalizeH="0" baseline="0">
                            <a:ln>
                              <a:noFill/>
                            </a:ln>
                            <a:solidFill>
                              <a:schemeClr val="bg1">
                                <a:lumMod val="50000"/>
                              </a:schemeClr>
                            </a:solidFill>
                            <a:effectLst/>
                            <a:uLnTx/>
                            <a:uFillTx/>
                            <a:latin typeface="+mn-lt"/>
                            <a:ea typeface="+mn-ea"/>
                            <a:cs typeface="+mn-cs"/>
                          </a:rPr>
                          <a:t>CEC endorsed in Sep 2024.</a:t>
                        </a:r>
                      </a:p>
                      <a:p>
                        <a:pPr marL="171450" marR="0" lvl="0" indent="-171450" algn="l" defTabSz="91440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000" b="0" u="none" strike="noStrike" kern="1200" cap="none" spc="0" normalizeH="0" baseline="0">
                            <a:ln>
                              <a:noFill/>
                            </a:ln>
                            <a:solidFill>
                              <a:srgbClr val="000000"/>
                            </a:solidFill>
                            <a:effectLst/>
                            <a:uLnTx/>
                            <a:uFillTx/>
                            <a:latin typeface="+mn-lt"/>
                            <a:ea typeface="+mn-ea"/>
                            <a:cs typeface="+mn-cs"/>
                          </a:rPr>
                          <a:t>Hybrid review was approved on 20</a:t>
                        </a:r>
                        <a:r>
                          <a:rPr kumimoji="0" lang="en-US" altLang="zh-CN" sz="1000" b="0" u="none" strike="noStrike" kern="1200" cap="none" spc="0" normalizeH="0" baseline="30000">
                            <a:ln>
                              <a:noFill/>
                            </a:ln>
                            <a:solidFill>
                              <a:srgbClr val="000000"/>
                            </a:solidFill>
                            <a:effectLst/>
                            <a:uLnTx/>
                            <a:uFillTx/>
                            <a:latin typeface="+mn-lt"/>
                            <a:ea typeface="+mn-ea"/>
                            <a:cs typeface="+mn-cs"/>
                          </a:rPr>
                          <a:t>th</a:t>
                        </a:r>
                        <a:r>
                          <a:rPr kumimoji="0" lang="en-US" altLang="zh-CN" sz="1000" b="0" u="none" strike="noStrike" kern="1200" cap="none" spc="0" normalizeH="0" baseline="0">
                            <a:ln>
                              <a:noFill/>
                            </a:ln>
                            <a:solidFill>
                              <a:srgbClr val="000000"/>
                            </a:solidFill>
                            <a:effectLst/>
                            <a:uLnTx/>
                            <a:uFillTx/>
                            <a:latin typeface="+mn-lt"/>
                            <a:ea typeface="+mn-ea"/>
                            <a:cs typeface="+mn-cs"/>
                          </a:rPr>
                          <a:t> Nov.</a:t>
                        </a:r>
                      </a:p>
                      <a:p>
                        <a:pPr marL="171450" marR="0" lvl="0" indent="-171450" algn="l" defTabSz="91440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000" b="0" u="none" strike="noStrike" kern="1200" cap="none" spc="0" normalizeH="0" baseline="0">
                            <a:ln>
                              <a:noFill/>
                            </a:ln>
                            <a:solidFill>
                              <a:srgbClr val="000000"/>
                            </a:solidFill>
                            <a:effectLst/>
                            <a:uLnTx/>
                            <a:uFillTx/>
                            <a:latin typeface="+mn-lt"/>
                            <a:ea typeface="+mn-ea"/>
                            <a:cs typeface="+mn-cs"/>
                          </a:rPr>
                          <a:t>Global release is on hold because</a:t>
                        </a:r>
                        <a:r>
                          <a:rPr kumimoji="0" lang="zh-CN" altLang="en-US" sz="1000" b="0" u="none" strike="noStrike" kern="1200" cap="none" spc="0" normalizeH="0" baseline="0">
                            <a:ln>
                              <a:noFill/>
                            </a:ln>
                            <a:solidFill>
                              <a:srgbClr val="000000"/>
                            </a:solidFill>
                            <a:effectLst/>
                            <a:uLnTx/>
                            <a:uFillTx/>
                            <a:latin typeface="+mn-lt"/>
                            <a:ea typeface="+mn-ea"/>
                            <a:cs typeface="+mn-cs"/>
                          </a:rPr>
                          <a:t> </a:t>
                        </a:r>
                        <a:r>
                          <a:rPr kumimoji="0" lang="en-US" altLang="zh-CN" sz="1000" b="0" u="none" strike="noStrike" kern="1200" cap="none" spc="0" normalizeH="0" baseline="0">
                            <a:ln>
                              <a:noFill/>
                            </a:ln>
                            <a:solidFill>
                              <a:srgbClr val="000000"/>
                            </a:solidFill>
                            <a:effectLst/>
                            <a:uLnTx/>
                            <a:uFillTx/>
                            <a:latin typeface="+mn-lt"/>
                            <a:ea typeface="+mn-ea"/>
                            <a:cs typeface="+mn-cs"/>
                          </a:rPr>
                          <a:t>the global Spesolimab asset team that they were asked to pause all ECR (including local budget)releases due to ongoing budget discussions.</a:t>
                        </a:r>
                      </a:p>
                      <a:p>
                        <a:pPr marL="171450" marR="0" lvl="0" indent="-171450" algn="l" defTabSz="91440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000" b="0" u="none" strike="noStrike" kern="1200" cap="none" spc="0" normalizeH="0" baseline="0">
                            <a:ln>
                              <a:noFill/>
                            </a:ln>
                            <a:solidFill>
                              <a:srgbClr val="000000"/>
                            </a:solidFill>
                            <a:effectLst/>
                            <a:uLnTx/>
                            <a:uFillTx/>
                            <a:latin typeface="+mn-lt"/>
                            <a:ea typeface="+mn-ea"/>
                            <a:cs typeface="+mn-cs"/>
                          </a:rPr>
                          <a:t>There is not any confirmation of this study.</a:t>
                        </a:r>
                      </a:p>
                      <a:p>
                        <a:pPr marL="171450" marR="0" lvl="0" indent="-171450" algn="l" defTabSz="91440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000" b="0" u="none" strike="noStrike" kern="1200" cap="none" spc="0" normalizeH="0" baseline="0">
                            <a:ln>
                              <a:noFill/>
                            </a:ln>
                            <a:solidFill>
                              <a:srgbClr val="000000"/>
                            </a:solidFill>
                            <a:effectLst/>
                            <a:uLnTx/>
                            <a:uFillTx/>
                            <a:latin typeface="+mn-lt"/>
                            <a:ea typeface="+mn-ea"/>
                            <a:cs typeface="+mn-cs"/>
                          </a:rPr>
                          <a:t>Study team plans to update the study timeline after release.</a:t>
                        </a:r>
                      </a:p>
                    </a:txBody>
                    <a:tcPr anchor="ctr">
                      <a:solidFill>
                        <a:schemeClr val="bg1">
                          <a:lumMod val="85000"/>
                        </a:schemeClr>
                      </a:solidFill>
                    </a:tcPr>
                  </a:tc>
                  <a:tc>
                    <a:txBody>
                      <a:bodyPr/>
                      <a:lstStyle/>
                      <a:p>
                        <a:endParaRPr lang="zh-CN" altLang="en-US"/>
                      </a:p>
                    </a:txBody>
                    <a:tcPr marL="69607" marR="69607" marT="28575" marB="28575">
                      <a:solidFill>
                        <a:srgbClr val="D9D9D9"/>
                      </a:solidFill>
                    </a:tcPr>
                  </a:tc>
                  <a:extLst>
                    <a:ext uri="{0D108BD9-81ED-4DB2-BD59-A6C34878D82A}">
                      <a16:rowId xmlns:a16="http://schemas.microsoft.com/office/drawing/2014/main" val="2218650814"/>
                    </a:ext>
                  </a:extLst>
                </a:tr>
              </a:tbl>
            </a:graphicData>
          </a:graphic>
        </p:graphicFrame>
        <p:sp>
          <p:nvSpPr>
            <p:cNvPr id="8" name="Flowchart: Connector 17">
              <a:extLst>
                <a:ext uri="{FF2B5EF4-FFF2-40B4-BE49-F238E27FC236}">
                  <a16:creationId xmlns:a16="http://schemas.microsoft.com/office/drawing/2014/main" id="{A9D3A451-8E88-F105-ED4D-A2F09602F38F}"/>
                </a:ext>
              </a:extLst>
            </p:cNvPr>
            <p:cNvSpPr/>
            <p:nvPr/>
          </p:nvSpPr>
          <p:spPr bwMode="gray">
            <a:xfrm>
              <a:off x="11768373" y="3327907"/>
              <a:ext cx="182880" cy="182880"/>
            </a:xfrm>
            <a:prstGeom prst="flowChartConnector">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Flowchart: Connector 24">
              <a:extLst>
                <a:ext uri="{FF2B5EF4-FFF2-40B4-BE49-F238E27FC236}">
                  <a16:creationId xmlns:a16="http://schemas.microsoft.com/office/drawing/2014/main" id="{5AC7552C-3377-C4B8-7794-2024CFC37E55}"/>
                </a:ext>
              </a:extLst>
            </p:cNvPr>
            <p:cNvSpPr/>
            <p:nvPr/>
          </p:nvSpPr>
          <p:spPr bwMode="gray">
            <a:xfrm>
              <a:off x="11769469" y="1548911"/>
              <a:ext cx="182880" cy="182879"/>
            </a:xfrm>
            <a:prstGeom prst="flowChartConnector">
              <a:avLst/>
            </a:prstGeom>
            <a:solidFill>
              <a:srgbClr val="FF0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 name="Flowchart: Connector 24">
              <a:extLst>
                <a:ext uri="{FF2B5EF4-FFF2-40B4-BE49-F238E27FC236}">
                  <a16:creationId xmlns:a16="http://schemas.microsoft.com/office/drawing/2014/main" id="{5A14B1F4-A7E3-104D-D0E9-A0E820164640}"/>
                </a:ext>
              </a:extLst>
            </p:cNvPr>
            <p:cNvSpPr/>
            <p:nvPr/>
          </p:nvSpPr>
          <p:spPr bwMode="gray">
            <a:xfrm>
              <a:off x="11768373" y="2464052"/>
              <a:ext cx="182880" cy="182879"/>
            </a:xfrm>
            <a:prstGeom prst="flowChartConnector">
              <a:avLst/>
            </a:prstGeom>
            <a:solidFill>
              <a:srgbClr val="00B05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grpSp>
    </p:spTree>
    <p:extLst>
      <p:ext uri="{BB962C8B-B14F-4D97-AF65-F5344CB8AC3E}">
        <p14:creationId xmlns:p14="http://schemas.microsoft.com/office/powerpoint/2010/main" val="1137648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1AF3A4-60F8-5EF3-FBAB-D3CA00DABC56}"/>
              </a:ext>
            </a:extLst>
          </p:cNvPr>
          <p:cNvSpPr>
            <a:spLocks noGrp="1"/>
          </p:cNvSpPr>
          <p:nvPr>
            <p:ph type="ctrTitle"/>
          </p:nvPr>
        </p:nvSpPr>
        <p:spPr/>
        <p:txBody>
          <a:bodyPr/>
          <a:lstStyle/>
          <a:p>
            <a:r>
              <a:rPr lang="en-US" altLang="zh-CN"/>
              <a:t>Backup</a:t>
            </a:r>
            <a:endParaRPr lang="zh-CN" altLang="en-US"/>
          </a:p>
        </p:txBody>
      </p:sp>
      <p:sp>
        <p:nvSpPr>
          <p:cNvPr id="3" name="副标题 2">
            <a:extLst>
              <a:ext uri="{FF2B5EF4-FFF2-40B4-BE49-F238E27FC236}">
                <a16:creationId xmlns:a16="http://schemas.microsoft.com/office/drawing/2014/main" id="{2414469C-D7B9-B161-CB0D-161A77084AD1}"/>
              </a:ext>
            </a:extLst>
          </p:cNvPr>
          <p:cNvSpPr>
            <a:spLocks noGrp="1"/>
          </p:cNvSpPr>
          <p:nvPr>
            <p:ph type="subTitle" idx="1"/>
          </p:nvPr>
        </p:nvSpPr>
        <p:spPr/>
        <p:txBody>
          <a:bodyPr/>
          <a:lstStyle/>
          <a:p>
            <a:endParaRPr lang="zh-CN" altLang="en-US"/>
          </a:p>
        </p:txBody>
      </p:sp>
      <p:sp>
        <p:nvSpPr>
          <p:cNvPr id="4" name="页脚占位符 3">
            <a:extLst>
              <a:ext uri="{FF2B5EF4-FFF2-40B4-BE49-F238E27FC236}">
                <a16:creationId xmlns:a16="http://schemas.microsoft.com/office/drawing/2014/main" id="{975EAC09-7488-7C4D-E309-C8DBC0373C3D}"/>
              </a:ext>
            </a:extLst>
          </p:cNvPr>
          <p:cNvSpPr>
            <a:spLocks noGrp="1"/>
          </p:cNvSpPr>
          <p:nvPr>
            <p:ph type="ftr" sz="quarter" idx="19"/>
          </p:nvPr>
        </p:nvSpPr>
        <p:spPr/>
        <p:txBody>
          <a:bodyPr/>
          <a:lstStyle/>
          <a:p>
            <a:r>
              <a:rPr lang="en-US"/>
              <a:t>ONLY FOR INTERNAL USE</a:t>
            </a:r>
          </a:p>
        </p:txBody>
      </p:sp>
    </p:spTree>
    <p:extLst>
      <p:ext uri="{BB962C8B-B14F-4D97-AF65-F5344CB8AC3E}">
        <p14:creationId xmlns:p14="http://schemas.microsoft.com/office/powerpoint/2010/main" val="1193574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C390A-A4F0-336B-F0F9-51EF446EEA74}"/>
              </a:ext>
            </a:extLst>
          </p:cNvPr>
          <p:cNvSpPr>
            <a:spLocks noGrp="1"/>
          </p:cNvSpPr>
          <p:nvPr>
            <p:ph type="title"/>
          </p:nvPr>
        </p:nvSpPr>
        <p:spPr/>
        <p:txBody>
          <a:bodyPr/>
          <a:lstStyle/>
          <a:p>
            <a:r>
              <a:rPr lang="en-US" altLang="zh-CN"/>
              <a:t>Project</a:t>
            </a:r>
            <a:endParaRPr lang="zh-CN" alt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Content Placeholder 6">
                <a:extLst>
                  <a:ext uri="{FF2B5EF4-FFF2-40B4-BE49-F238E27FC236}">
                    <a16:creationId xmlns:a16="http://schemas.microsoft.com/office/drawing/2014/main" id="{5B076767-E054-70B9-6DA0-180E6C213486}"/>
                  </a:ext>
                </a:extLst>
              </p:cNvPr>
              <p:cNvGraphicFramePr>
                <a:graphicFrameLocks noGrp="1"/>
              </p:cNvGraphicFramePr>
              <p:nvPr>
                <p:ph idx="1"/>
              </p:nvPr>
            </p:nvGraphicFramePr>
            <p:xfrm>
              <a:off x="479425" y="102742"/>
              <a:ext cx="11366678" cy="6432093"/>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7" name="Content Placeholder 6">
                <a:extLst>
                  <a:ext uri="{FF2B5EF4-FFF2-40B4-BE49-F238E27FC236}">
                    <a16:creationId xmlns:a16="http://schemas.microsoft.com/office/drawing/2014/main" id="{5B076767-E054-70B9-6DA0-180E6C213486}"/>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479425" y="102742"/>
                <a:ext cx="11366678" cy="6432093"/>
              </a:xfrm>
              <a:prstGeom prst="rect">
                <a:avLst/>
              </a:prstGeom>
            </p:spPr>
          </p:pic>
        </mc:Fallback>
      </mc:AlternateContent>
      <p:sp>
        <p:nvSpPr>
          <p:cNvPr id="4" name="Text Placeholder 3">
            <a:extLst>
              <a:ext uri="{FF2B5EF4-FFF2-40B4-BE49-F238E27FC236}">
                <a16:creationId xmlns:a16="http://schemas.microsoft.com/office/drawing/2014/main" id="{A750CC2E-ECAE-E708-EDDA-A7235120617D}"/>
              </a:ext>
            </a:extLst>
          </p:cNvPr>
          <p:cNvSpPr>
            <a:spLocks noGrp="1"/>
          </p:cNvSpPr>
          <p:nvPr>
            <p:ph type="body" sz="quarter" idx="13"/>
          </p:nvPr>
        </p:nvSpPr>
        <p:spPr>
          <a:xfrm>
            <a:off x="480575" y="6102835"/>
            <a:ext cx="11232000" cy="144000"/>
          </a:xfrm>
        </p:spPr>
        <p:txBody>
          <a:bodyPr/>
          <a:lstStyle/>
          <a:p>
            <a:endParaRPr lang="zh-CN" altLang="en-US"/>
          </a:p>
        </p:txBody>
      </p:sp>
      <p:sp>
        <p:nvSpPr>
          <p:cNvPr id="5" name="Footer Placeholder 4">
            <a:extLst>
              <a:ext uri="{FF2B5EF4-FFF2-40B4-BE49-F238E27FC236}">
                <a16:creationId xmlns:a16="http://schemas.microsoft.com/office/drawing/2014/main" id="{354DDF98-3076-3219-83AE-FAE753A58BAB}"/>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TA CEC Portfolio Update|    ONLY FOR INTERNAL USE</a:t>
            </a:r>
          </a:p>
        </p:txBody>
      </p:sp>
      <p:sp>
        <p:nvSpPr>
          <p:cNvPr id="6" name="Slide Number Placeholder 5">
            <a:extLst>
              <a:ext uri="{FF2B5EF4-FFF2-40B4-BE49-F238E27FC236}">
                <a16:creationId xmlns:a16="http://schemas.microsoft.com/office/drawing/2014/main" id="{8BDF9E68-92C0-5CBC-01BA-B91F97F1439E}"/>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3" name="文本框 2">
            <a:extLst>
              <a:ext uri="{FF2B5EF4-FFF2-40B4-BE49-F238E27FC236}">
                <a16:creationId xmlns:a16="http://schemas.microsoft.com/office/drawing/2014/main" id="{578A1508-9F6E-2954-FE1B-C9D25F567243}"/>
              </a:ext>
            </a:extLst>
          </p:cNvPr>
          <p:cNvSpPr txBox="1"/>
          <p:nvPr/>
        </p:nvSpPr>
        <p:spPr bwMode="gray">
          <a:xfrm>
            <a:off x="2743200" y="2055223"/>
            <a:ext cx="1686359"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0" i="0" u="none" strike="noStrike" kern="1200" cap="none" spc="0" normalizeH="0" baseline="0" noProof="0">
                <a:ln>
                  <a:noFill/>
                </a:ln>
                <a:solidFill>
                  <a:prstClr val="black"/>
                </a:solidFill>
                <a:effectLst/>
                <a:uLnTx/>
                <a:uFillTx/>
                <a:latin typeface="Boehringer Forward Text"/>
                <a:ea typeface="+mn-ea"/>
                <a:cs typeface="+mn-cs"/>
              </a:rPr>
              <a:t>Data captured from OMP portal</a:t>
            </a:r>
            <a:endParaRPr kumimoji="0" lang="zh-CN" altLang="en-US" sz="9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Rectangle 5">
            <a:extLst>
              <a:ext uri="{FF2B5EF4-FFF2-40B4-BE49-F238E27FC236}">
                <a16:creationId xmlns:a16="http://schemas.microsoft.com/office/drawing/2014/main" id="{A80F4247-DB00-F510-93BD-764C020043AA}"/>
              </a:ext>
            </a:extLst>
          </p:cNvPr>
          <p:cNvSpPr/>
          <p:nvPr/>
        </p:nvSpPr>
        <p:spPr>
          <a:xfrm>
            <a:off x="2679192" y="1091081"/>
            <a:ext cx="1750368" cy="964142"/>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Total Screened =  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In Screening = 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Total Randomized =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SF rate = 30%</a:t>
            </a:r>
            <a:r>
              <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rPr>
              <a:t>（</a:t>
            </a: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6</a:t>
            </a:r>
            <a:r>
              <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rPr>
              <a:t>）</a:t>
            </a:r>
            <a:endParaRPr kumimoji="0" 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10" name="图片 9">
            <a:extLst>
              <a:ext uri="{FF2B5EF4-FFF2-40B4-BE49-F238E27FC236}">
                <a16:creationId xmlns:a16="http://schemas.microsoft.com/office/drawing/2014/main" id="{A1819CE8-62A8-6F08-09C2-9AA211BEA74E}"/>
              </a:ext>
            </a:extLst>
          </p:cNvPr>
          <p:cNvPicPr>
            <a:picLocks noChangeAspect="1"/>
          </p:cNvPicPr>
          <p:nvPr/>
        </p:nvPicPr>
        <p:blipFill>
          <a:blip r:embed="rId4"/>
          <a:stretch>
            <a:fillRect/>
          </a:stretch>
        </p:blipFill>
        <p:spPr>
          <a:xfrm>
            <a:off x="12280226" y="0"/>
            <a:ext cx="12192000" cy="2899673"/>
          </a:xfrm>
          <a:prstGeom prst="rect">
            <a:avLst/>
          </a:prstGeom>
        </p:spPr>
      </p:pic>
    </p:spTree>
    <p:extLst>
      <p:ext uri="{BB962C8B-B14F-4D97-AF65-F5344CB8AC3E}">
        <p14:creationId xmlns:p14="http://schemas.microsoft.com/office/powerpoint/2010/main" val="2279087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C390A-A4F0-336B-F0F9-51EF446EEA74}"/>
              </a:ext>
            </a:extLst>
          </p:cNvPr>
          <p:cNvSpPr>
            <a:spLocks noGrp="1"/>
          </p:cNvSpPr>
          <p:nvPr>
            <p:ph type="title"/>
          </p:nvPr>
        </p:nvSpPr>
        <p:spPr/>
        <p:txBody>
          <a:bodyPr/>
          <a:lstStyle/>
          <a:p>
            <a:r>
              <a:rPr lang="en-US" altLang="zh-CN"/>
              <a:t>Project</a:t>
            </a:r>
            <a:endParaRPr lang="zh-CN" alt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Content Placeholder 6">
                <a:extLst>
                  <a:ext uri="{FF2B5EF4-FFF2-40B4-BE49-F238E27FC236}">
                    <a16:creationId xmlns:a16="http://schemas.microsoft.com/office/drawing/2014/main" id="{5B076767-E054-70B9-6DA0-180E6C213486}"/>
                  </a:ext>
                </a:extLst>
              </p:cNvPr>
              <p:cNvGraphicFramePr>
                <a:graphicFrameLocks noGrp="1"/>
              </p:cNvGraphicFramePr>
              <p:nvPr>
                <p:ph idx="1"/>
              </p:nvPr>
            </p:nvGraphicFramePr>
            <p:xfrm>
              <a:off x="479425" y="102742"/>
              <a:ext cx="11366678" cy="6432093"/>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7" name="Content Placeholder 6">
                <a:extLst>
                  <a:ext uri="{FF2B5EF4-FFF2-40B4-BE49-F238E27FC236}">
                    <a16:creationId xmlns:a16="http://schemas.microsoft.com/office/drawing/2014/main" id="{5B076767-E054-70B9-6DA0-180E6C213486}"/>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479425" y="102742"/>
                <a:ext cx="11366678" cy="6432093"/>
              </a:xfrm>
              <a:prstGeom prst="rect">
                <a:avLst/>
              </a:prstGeom>
            </p:spPr>
          </p:pic>
        </mc:Fallback>
      </mc:AlternateContent>
      <p:sp>
        <p:nvSpPr>
          <p:cNvPr id="4" name="Text Placeholder 3">
            <a:extLst>
              <a:ext uri="{FF2B5EF4-FFF2-40B4-BE49-F238E27FC236}">
                <a16:creationId xmlns:a16="http://schemas.microsoft.com/office/drawing/2014/main" id="{A750CC2E-ECAE-E708-EDDA-A7235120617D}"/>
              </a:ext>
            </a:extLst>
          </p:cNvPr>
          <p:cNvSpPr>
            <a:spLocks noGrp="1"/>
          </p:cNvSpPr>
          <p:nvPr>
            <p:ph type="body" sz="quarter" idx="13"/>
          </p:nvPr>
        </p:nvSpPr>
        <p:spPr>
          <a:xfrm>
            <a:off x="480575" y="6102835"/>
            <a:ext cx="11232000" cy="144000"/>
          </a:xfrm>
        </p:spPr>
        <p:txBody>
          <a:bodyPr/>
          <a:lstStyle/>
          <a:p>
            <a:endParaRPr lang="zh-CN" altLang="en-US"/>
          </a:p>
        </p:txBody>
      </p:sp>
      <p:sp>
        <p:nvSpPr>
          <p:cNvPr id="5" name="Footer Placeholder 4">
            <a:extLst>
              <a:ext uri="{FF2B5EF4-FFF2-40B4-BE49-F238E27FC236}">
                <a16:creationId xmlns:a16="http://schemas.microsoft.com/office/drawing/2014/main" id="{354DDF98-3076-3219-83AE-FAE753A58BAB}"/>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TA CEC Portfolio Update|    ONLY FOR INTERNAL USE</a:t>
            </a:r>
          </a:p>
        </p:txBody>
      </p:sp>
      <p:sp>
        <p:nvSpPr>
          <p:cNvPr id="6" name="Slide Number Placeholder 5">
            <a:extLst>
              <a:ext uri="{FF2B5EF4-FFF2-40B4-BE49-F238E27FC236}">
                <a16:creationId xmlns:a16="http://schemas.microsoft.com/office/drawing/2014/main" id="{8BDF9E68-92C0-5CBC-01BA-B91F97F1439E}"/>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3" name="Rectangle 5">
            <a:extLst>
              <a:ext uri="{FF2B5EF4-FFF2-40B4-BE49-F238E27FC236}">
                <a16:creationId xmlns:a16="http://schemas.microsoft.com/office/drawing/2014/main" id="{AC73E5D0-D1F9-18F0-AE39-550C21F2FFD7}"/>
              </a:ext>
            </a:extLst>
          </p:cNvPr>
          <p:cNvSpPr/>
          <p:nvPr/>
        </p:nvSpPr>
        <p:spPr>
          <a:xfrm>
            <a:off x="2642948" y="969264"/>
            <a:ext cx="1873690" cy="1133856"/>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Total Screened =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In Screening = 1</a:t>
            </a:r>
            <a:endParaRPr kumimoji="0" lang="en-US" sz="1800" b="0" i="0" u="none" strike="noStrike" kern="1200" cap="none" spc="0" normalizeH="0" baseline="0" noProof="0">
              <a:ln>
                <a:noFill/>
              </a:ln>
              <a:solidFill>
                <a:prstClr val="white"/>
              </a:solidFill>
              <a:effectLst/>
              <a:uLnTx/>
              <a:uFillTx/>
              <a:latin typeface="Boehringer Forward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Total Randomized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SF = 67% </a:t>
            </a:r>
            <a:r>
              <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rPr>
              <a:t>（</a:t>
            </a: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2</a:t>
            </a:r>
            <a:r>
              <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rPr>
              <a:t>）</a:t>
            </a:r>
            <a:endParaRPr kumimoji="0" lang="en-US" sz="1800" b="0" i="0" u="none" strike="noStrike" kern="1200" cap="none" spc="0" normalizeH="0" baseline="0" noProof="0">
              <a:ln>
                <a:noFill/>
              </a:ln>
              <a:solidFill>
                <a:prstClr val="white"/>
              </a:solidFill>
              <a:effectLst/>
              <a:uLnTx/>
              <a:uFillTx/>
              <a:latin typeface="Boehringer Forward Text"/>
              <a:ea typeface="+mn-ea"/>
              <a:cs typeface="+mn-cs"/>
            </a:endParaRPr>
          </a:p>
        </p:txBody>
      </p:sp>
    </p:spTree>
    <p:extLst>
      <p:ext uri="{BB962C8B-B14F-4D97-AF65-F5344CB8AC3E}">
        <p14:creationId xmlns:p14="http://schemas.microsoft.com/office/powerpoint/2010/main" val="1338069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CCA9EC-4DF9-9E56-C46A-EA0AADB2492D}"/>
              </a:ext>
            </a:extLst>
          </p:cNvPr>
          <p:cNvSpPr>
            <a:spLocks noGrp="1"/>
          </p:cNvSpPr>
          <p:nvPr>
            <p:ph type="title"/>
          </p:nvPr>
        </p:nvSpPr>
        <p:spPr/>
        <p:txBody>
          <a:bodyPr/>
          <a:lstStyle/>
          <a:p>
            <a:r>
              <a:rPr lang="en-US" altLang="zh-CN"/>
              <a:t>Accelerate PG Ph III study enrollment </a:t>
            </a:r>
            <a:endParaRPr lang="zh-CN" altLang="en-US"/>
          </a:p>
        </p:txBody>
      </p:sp>
      <p:sp>
        <p:nvSpPr>
          <p:cNvPr id="4" name="页脚占位符 3">
            <a:extLst>
              <a:ext uri="{FF2B5EF4-FFF2-40B4-BE49-F238E27FC236}">
                <a16:creationId xmlns:a16="http://schemas.microsoft.com/office/drawing/2014/main" id="{73E57D43-3CAD-02FF-D440-38B111D9D54F}"/>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PG L-36    |    ONLY FOR INTERNAL USE</a:t>
            </a:r>
          </a:p>
        </p:txBody>
      </p:sp>
      <p:sp>
        <p:nvSpPr>
          <p:cNvPr id="5" name="灯片编号占位符 4">
            <a:extLst>
              <a:ext uri="{FF2B5EF4-FFF2-40B4-BE49-F238E27FC236}">
                <a16:creationId xmlns:a16="http://schemas.microsoft.com/office/drawing/2014/main" id="{90DD7A3A-F7EF-59DD-2A7C-914C9CF45088}"/>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6" name="矩形 5">
            <a:extLst>
              <a:ext uri="{FF2B5EF4-FFF2-40B4-BE49-F238E27FC236}">
                <a16:creationId xmlns:a16="http://schemas.microsoft.com/office/drawing/2014/main" id="{AE42E5F1-082B-AE87-30D4-D5AC132EC0C9}"/>
              </a:ext>
            </a:extLst>
          </p:cNvPr>
          <p:cNvSpPr/>
          <p:nvPr/>
        </p:nvSpPr>
        <p:spPr bwMode="gray">
          <a:xfrm>
            <a:off x="386080" y="1075080"/>
            <a:ext cx="1703977" cy="635699"/>
          </a:xfrm>
          <a:prstGeom prst="rect">
            <a:avLst/>
          </a:prstGeom>
          <a:solidFill>
            <a:schemeClr val="accent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Site initiation</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7" name="矩形 6">
            <a:extLst>
              <a:ext uri="{FF2B5EF4-FFF2-40B4-BE49-F238E27FC236}">
                <a16:creationId xmlns:a16="http://schemas.microsoft.com/office/drawing/2014/main" id="{D0321908-0F56-8093-8D40-284331EBBCFF}"/>
              </a:ext>
            </a:extLst>
          </p:cNvPr>
          <p:cNvSpPr/>
          <p:nvPr/>
        </p:nvSpPr>
        <p:spPr bwMode="gray">
          <a:xfrm>
            <a:off x="386080" y="1802034"/>
            <a:ext cx="1703977" cy="1239076"/>
          </a:xfrm>
          <a:prstGeom prst="rect">
            <a:avLst/>
          </a:prstGeom>
          <a:solidFill>
            <a:schemeClr val="accent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Recruitment Challenge</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9" name="矩形 8">
            <a:extLst>
              <a:ext uri="{FF2B5EF4-FFF2-40B4-BE49-F238E27FC236}">
                <a16:creationId xmlns:a16="http://schemas.microsoft.com/office/drawing/2014/main" id="{833DAAD4-8835-109C-08D2-08305836D109}"/>
              </a:ext>
            </a:extLst>
          </p:cNvPr>
          <p:cNvSpPr/>
          <p:nvPr/>
        </p:nvSpPr>
        <p:spPr bwMode="gray">
          <a:xfrm>
            <a:off x="386080" y="3132366"/>
            <a:ext cx="1708099" cy="3253240"/>
          </a:xfrm>
          <a:prstGeom prst="rect">
            <a:avLst/>
          </a:prstGeom>
          <a:solidFill>
            <a:schemeClr val="accent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Action plan</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0" name="矩形 9">
            <a:extLst>
              <a:ext uri="{FF2B5EF4-FFF2-40B4-BE49-F238E27FC236}">
                <a16:creationId xmlns:a16="http://schemas.microsoft.com/office/drawing/2014/main" id="{A890BA43-38AB-41B9-ECB3-BB5368AF6247}"/>
              </a:ext>
            </a:extLst>
          </p:cNvPr>
          <p:cNvSpPr/>
          <p:nvPr/>
        </p:nvSpPr>
        <p:spPr bwMode="gray">
          <a:xfrm>
            <a:off x="2319048" y="3738636"/>
            <a:ext cx="1024597" cy="1106838"/>
          </a:xfrm>
          <a:prstGeom prst="rect">
            <a:avLst/>
          </a:pr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CD &amp; O</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 name="矩形 10">
            <a:extLst>
              <a:ext uri="{FF2B5EF4-FFF2-40B4-BE49-F238E27FC236}">
                <a16:creationId xmlns:a16="http://schemas.microsoft.com/office/drawing/2014/main" id="{2AE47546-59A9-1191-02FE-E3EFEB37DCB4}"/>
              </a:ext>
            </a:extLst>
          </p:cNvPr>
          <p:cNvSpPr/>
          <p:nvPr/>
        </p:nvSpPr>
        <p:spPr bwMode="gray">
          <a:xfrm>
            <a:off x="2319048" y="4891345"/>
            <a:ext cx="1024597" cy="1077380"/>
          </a:xfrm>
          <a:prstGeom prst="rect">
            <a:avLst/>
          </a:prstGeom>
          <a:solidFill>
            <a:schemeClr val="accent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MSLs</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graphicFrame>
        <p:nvGraphicFramePr>
          <p:cNvPr id="13" name="表格 12">
            <a:extLst>
              <a:ext uri="{FF2B5EF4-FFF2-40B4-BE49-F238E27FC236}">
                <a16:creationId xmlns:a16="http://schemas.microsoft.com/office/drawing/2014/main" id="{DFEDFB01-DAC0-2B58-08FB-B73D78BF7C44}"/>
              </a:ext>
            </a:extLst>
          </p:cNvPr>
          <p:cNvGraphicFramePr>
            <a:graphicFrameLocks noGrp="1"/>
          </p:cNvGraphicFramePr>
          <p:nvPr/>
        </p:nvGraphicFramePr>
        <p:xfrm>
          <a:off x="3408027" y="3131526"/>
          <a:ext cx="7058622" cy="518160"/>
        </p:xfrm>
        <a:graphic>
          <a:graphicData uri="http://schemas.openxmlformats.org/drawingml/2006/table">
            <a:tbl>
              <a:tblPr firstRow="1" bandRow="1"/>
              <a:tblGrid>
                <a:gridCol w="1176437">
                  <a:extLst>
                    <a:ext uri="{9D8B030D-6E8A-4147-A177-3AD203B41FA5}">
                      <a16:colId xmlns:a16="http://schemas.microsoft.com/office/drawing/2014/main" val="2615096010"/>
                    </a:ext>
                  </a:extLst>
                </a:gridCol>
                <a:gridCol w="1176437">
                  <a:extLst>
                    <a:ext uri="{9D8B030D-6E8A-4147-A177-3AD203B41FA5}">
                      <a16:colId xmlns:a16="http://schemas.microsoft.com/office/drawing/2014/main" val="1234757955"/>
                    </a:ext>
                  </a:extLst>
                </a:gridCol>
                <a:gridCol w="1176437">
                  <a:extLst>
                    <a:ext uri="{9D8B030D-6E8A-4147-A177-3AD203B41FA5}">
                      <a16:colId xmlns:a16="http://schemas.microsoft.com/office/drawing/2014/main" val="2450483387"/>
                    </a:ext>
                  </a:extLst>
                </a:gridCol>
                <a:gridCol w="1176437">
                  <a:extLst>
                    <a:ext uri="{9D8B030D-6E8A-4147-A177-3AD203B41FA5}">
                      <a16:colId xmlns:a16="http://schemas.microsoft.com/office/drawing/2014/main" val="3263481852"/>
                    </a:ext>
                  </a:extLst>
                </a:gridCol>
                <a:gridCol w="1176437">
                  <a:extLst>
                    <a:ext uri="{9D8B030D-6E8A-4147-A177-3AD203B41FA5}">
                      <a16:colId xmlns:a16="http://schemas.microsoft.com/office/drawing/2014/main" val="2504198361"/>
                    </a:ext>
                  </a:extLst>
                </a:gridCol>
                <a:gridCol w="1176437">
                  <a:extLst>
                    <a:ext uri="{9D8B030D-6E8A-4147-A177-3AD203B41FA5}">
                      <a16:colId xmlns:a16="http://schemas.microsoft.com/office/drawing/2014/main" val="22178602"/>
                    </a:ext>
                  </a:extLst>
                </a:gridCol>
              </a:tblGrid>
              <a:tr h="164872">
                <a:tc gridSpan="4">
                  <a:txBody>
                    <a:bodyPr/>
                    <a:lstStyle/>
                    <a:p>
                      <a:pPr algn="ctr"/>
                      <a:r>
                        <a:rPr lang="en-US" altLang="zh-CN" sz="1100" b="1">
                          <a:solidFill>
                            <a:schemeClr val="bg1"/>
                          </a:solidFill>
                          <a:latin typeface="Arial"/>
                          <a:cs typeface="Arial"/>
                        </a:rPr>
                        <a:t>2025</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1100" b="1">
                          <a:solidFill>
                            <a:schemeClr val="bg1"/>
                          </a:solidFill>
                          <a:latin typeface="Arial"/>
                          <a:cs typeface="Arial"/>
                        </a:rPr>
                        <a:t>2026</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1220473755"/>
                  </a:ext>
                </a:extLst>
              </a:tr>
              <a:tr h="2323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94957182"/>
                  </a:ext>
                </a:extLst>
              </a:tr>
            </a:tbl>
          </a:graphicData>
        </a:graphic>
      </p:graphicFrame>
      <p:sp>
        <p:nvSpPr>
          <p:cNvPr id="3" name="矩形 2">
            <a:extLst>
              <a:ext uri="{FF2B5EF4-FFF2-40B4-BE49-F238E27FC236}">
                <a16:creationId xmlns:a16="http://schemas.microsoft.com/office/drawing/2014/main" id="{85ED424C-AA87-7A4C-D49F-8007FC16D30F}"/>
              </a:ext>
            </a:extLst>
          </p:cNvPr>
          <p:cNvSpPr/>
          <p:nvPr/>
        </p:nvSpPr>
        <p:spPr bwMode="gray">
          <a:xfrm>
            <a:off x="2319301" y="1068129"/>
            <a:ext cx="8290436" cy="634750"/>
          </a:xfrm>
          <a:prstGeom prst="rect">
            <a:avLst/>
          </a:prstGeom>
          <a:solidFill>
            <a:schemeClr val="accent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28600" marR="0" lvl="0" indent="-228600" algn="l" defTabSz="914400" rtl="0" eaLnBrk="1" fontAlgn="auto" latinLnBrk="0" hangingPunct="1">
              <a:lnSpc>
                <a:spcPct val="140000"/>
              </a:lnSpc>
              <a:spcBef>
                <a:spcPts val="0"/>
              </a:spcBef>
              <a:spcAft>
                <a:spcPts val="0"/>
              </a:spcAft>
              <a:buClrTx/>
              <a:buSzTx/>
              <a:buFont typeface="Arial"/>
              <a:buChar char="•"/>
              <a:tabLst/>
              <a:defRPr/>
            </a:pPr>
            <a:r>
              <a:rPr kumimoji="0" lang="en-US" altLang="zh-CN" sz="900" b="0" i="0" u="none" strike="noStrike" kern="1200" cap="none" spc="0" normalizeH="0" baseline="0" noProof="0">
                <a:ln>
                  <a:noFill/>
                </a:ln>
                <a:solidFill>
                  <a:prstClr val="black"/>
                </a:solidFill>
                <a:effectLst/>
                <a:uLnTx/>
                <a:uFillTx/>
                <a:latin typeface="Boehringer Forward Text"/>
                <a:ea typeface="+mn-ea"/>
                <a:cs typeface="+mn-cs"/>
              </a:rPr>
              <a:t>1st SIV： 15Jan2025</a:t>
            </a:r>
            <a:endParaRPr kumimoji="0" lang="zh-CN" altLang="en-US" sz="900" b="0" i="0" u="none" strike="noStrike" kern="1200" cap="none" spc="0" normalizeH="0" baseline="0" noProof="0">
              <a:ln>
                <a:noFill/>
              </a:ln>
              <a:solidFill>
                <a:prstClr val="black"/>
              </a:solidFill>
              <a:effectLst/>
              <a:uLnTx/>
              <a:uFillTx/>
              <a:latin typeface="Boehringer Forward Text"/>
              <a:ea typeface="+mn-ea"/>
              <a:cs typeface="+mn-cs"/>
            </a:endParaRPr>
          </a:p>
          <a:p>
            <a:pPr marL="228600" marR="0" lvl="0" indent="-228600" algn="l" defTabSz="914400" rtl="0" eaLnBrk="1" fontAlgn="auto" latinLnBrk="0" hangingPunct="1">
              <a:lnSpc>
                <a:spcPct val="140000"/>
              </a:lnSpc>
              <a:spcBef>
                <a:spcPts val="0"/>
              </a:spcBef>
              <a:spcAft>
                <a:spcPts val="0"/>
              </a:spcAft>
              <a:buClrTx/>
              <a:buSzTx/>
              <a:buFont typeface="Arial"/>
              <a:buChar char="•"/>
              <a:tabLst/>
              <a:defRPr/>
            </a:pPr>
            <a:r>
              <a:rPr kumimoji="0" lang="en-US" altLang="zh-CN" sz="900" b="0" i="0" u="none" strike="noStrike" kern="1200" cap="none" spc="0" normalizeH="0" baseline="0" noProof="0">
                <a:ln>
                  <a:noFill/>
                </a:ln>
                <a:solidFill>
                  <a:prstClr val="black"/>
                </a:solidFill>
                <a:effectLst/>
                <a:uLnTx/>
                <a:uFillTx/>
                <a:latin typeface="Boehringer Forward Text"/>
                <a:ea typeface="+mn-ea"/>
                <a:cs typeface="+mn-cs"/>
              </a:rPr>
              <a:t>First Patient Screened：20Feb2025 ( Totally 1 patient screened, 1 in screening) </a:t>
            </a:r>
          </a:p>
          <a:p>
            <a:pPr marL="207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900" b="0" i="0" u="none" strike="noStrike" kern="1200" cap="none" spc="0" normalizeH="0" baseline="0" noProof="0">
                <a:ln>
                  <a:noFill/>
                </a:ln>
                <a:solidFill>
                  <a:prstClr val="black"/>
                </a:solidFill>
                <a:effectLst/>
                <a:uLnTx/>
                <a:uFillTx/>
                <a:latin typeface="Boehringer Forward Text"/>
                <a:ea typeface="+mn-ea"/>
                <a:cs typeface="+mn-cs"/>
              </a:rPr>
              <a:t>9 out of 13 sites initiated till 24March2025.  (75% Site Initiation by 15Apr2025;100% Site Initiation by end of Q2 2025)</a:t>
            </a:r>
          </a:p>
        </p:txBody>
      </p:sp>
      <p:sp>
        <p:nvSpPr>
          <p:cNvPr id="14" name="矩形 13">
            <a:extLst>
              <a:ext uri="{FF2B5EF4-FFF2-40B4-BE49-F238E27FC236}">
                <a16:creationId xmlns:a16="http://schemas.microsoft.com/office/drawing/2014/main" id="{07BC0969-BC79-BC84-4FE7-F4539B608FC2}"/>
              </a:ext>
            </a:extLst>
          </p:cNvPr>
          <p:cNvSpPr/>
          <p:nvPr/>
        </p:nvSpPr>
        <p:spPr bwMode="gray">
          <a:xfrm>
            <a:off x="2319301" y="1790080"/>
            <a:ext cx="8299095" cy="1240512"/>
          </a:xfrm>
          <a:prstGeom prst="rect">
            <a:avLst/>
          </a:prstGeom>
          <a:solidFill>
            <a:schemeClr val="accent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 </a:t>
            </a:r>
          </a:p>
        </p:txBody>
      </p:sp>
      <p:sp>
        <p:nvSpPr>
          <p:cNvPr id="18" name="TextBox 17">
            <a:extLst>
              <a:ext uri="{FF2B5EF4-FFF2-40B4-BE49-F238E27FC236}">
                <a16:creationId xmlns:a16="http://schemas.microsoft.com/office/drawing/2014/main" id="{0DE300DF-4AB1-56BB-221E-756D9F4E7E58}"/>
              </a:ext>
            </a:extLst>
          </p:cNvPr>
          <p:cNvSpPr txBox="1"/>
          <p:nvPr/>
        </p:nvSpPr>
        <p:spPr bwMode="gray">
          <a:xfrm>
            <a:off x="8841267" y="3574513"/>
            <a:ext cx="1506392" cy="338554"/>
          </a:xfrm>
          <a:prstGeom prst="rect">
            <a:avLst/>
          </a:prstGeom>
          <a:noFill/>
        </p:spPr>
        <p:txBody>
          <a:bodyPr wrap="square" lIns="91440" tIns="45720" rIns="91440" bIns="45720" anchor="t">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546A"/>
                </a:solidFill>
                <a:effectLst/>
                <a:uLnTx/>
                <a:uFillTx/>
                <a:latin typeface="Calibri"/>
                <a:ea typeface="+mn-ea"/>
                <a:cs typeface="Calibri"/>
              </a:rPr>
              <a:t>Last patient Randomized  Apr2026 </a:t>
            </a:r>
            <a:endParaRPr kumimoji="0" lang="zh-CN" altLang="en-US" sz="800" b="0" i="0" u="none" strike="noStrike" kern="1200" cap="none" spc="0" normalizeH="0" baseline="0" noProof="0">
              <a:ln>
                <a:noFill/>
              </a:ln>
              <a:solidFill>
                <a:srgbClr val="44546A"/>
              </a:solidFill>
              <a:effectLst/>
              <a:uLnTx/>
              <a:uFillTx/>
              <a:latin typeface="Calibri"/>
              <a:ea typeface="+mn-ea"/>
              <a:cs typeface="Calibri"/>
            </a:endParaRPr>
          </a:p>
        </p:txBody>
      </p:sp>
      <p:sp>
        <p:nvSpPr>
          <p:cNvPr id="20" name="矩形: 圆角 19">
            <a:extLst>
              <a:ext uri="{FF2B5EF4-FFF2-40B4-BE49-F238E27FC236}">
                <a16:creationId xmlns:a16="http://schemas.microsoft.com/office/drawing/2014/main" id="{A40F9D37-6755-EC3B-987E-0F33977FBADB}"/>
              </a:ext>
            </a:extLst>
          </p:cNvPr>
          <p:cNvSpPr/>
          <p:nvPr/>
        </p:nvSpPr>
        <p:spPr>
          <a:xfrm>
            <a:off x="3501039" y="3725595"/>
            <a:ext cx="2088000" cy="133200"/>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Co-visit for SIVs</a:t>
            </a:r>
          </a:p>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 (by CTM and Local Physician)</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3" name="矩形: 圆角 22">
            <a:extLst>
              <a:ext uri="{FF2B5EF4-FFF2-40B4-BE49-F238E27FC236}">
                <a16:creationId xmlns:a16="http://schemas.microsoft.com/office/drawing/2014/main" id="{CEAF92B3-E42E-208D-2D5F-BEEF7C66C28D}"/>
              </a:ext>
            </a:extLst>
          </p:cNvPr>
          <p:cNvSpPr/>
          <p:nvPr/>
        </p:nvSpPr>
        <p:spPr>
          <a:xfrm>
            <a:off x="5013313" y="5676467"/>
            <a:ext cx="5672891" cy="120361"/>
          </a:xfrm>
          <a:prstGeom prst="roundRect">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Co-visit for sites </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4" name="矩形: 圆角 23">
            <a:extLst>
              <a:ext uri="{FF2B5EF4-FFF2-40B4-BE49-F238E27FC236}">
                <a16:creationId xmlns:a16="http://schemas.microsoft.com/office/drawing/2014/main" id="{5838BABA-72A1-5431-7909-8C618A95496C}"/>
              </a:ext>
            </a:extLst>
          </p:cNvPr>
          <p:cNvSpPr/>
          <p:nvPr/>
        </p:nvSpPr>
        <p:spPr>
          <a:xfrm>
            <a:off x="4297663" y="4167288"/>
            <a:ext cx="6397200" cy="133200"/>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Weekly Newsletter delivery </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5" name="矩形: 圆角 24">
            <a:extLst>
              <a:ext uri="{FF2B5EF4-FFF2-40B4-BE49-F238E27FC236}">
                <a16:creationId xmlns:a16="http://schemas.microsoft.com/office/drawing/2014/main" id="{84CF46C3-4DB5-8D2A-3E74-12392009554B}"/>
              </a:ext>
            </a:extLst>
          </p:cNvPr>
          <p:cNvSpPr/>
          <p:nvPr/>
        </p:nvSpPr>
        <p:spPr>
          <a:xfrm>
            <a:off x="3507141" y="4995491"/>
            <a:ext cx="1163710" cy="217729"/>
          </a:xfrm>
          <a:prstGeom prst="roundRect">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MSL Training </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7" name="矩形: 圆角 26">
            <a:extLst>
              <a:ext uri="{FF2B5EF4-FFF2-40B4-BE49-F238E27FC236}">
                <a16:creationId xmlns:a16="http://schemas.microsoft.com/office/drawing/2014/main" id="{E861B7EC-68DB-A6AA-8EDF-C1C498478BF0}"/>
              </a:ext>
            </a:extLst>
          </p:cNvPr>
          <p:cNvSpPr/>
          <p:nvPr/>
        </p:nvSpPr>
        <p:spPr>
          <a:xfrm>
            <a:off x="4664748" y="4712273"/>
            <a:ext cx="1163710" cy="133200"/>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CRA Workshop</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8" name="矩形: 圆角 27">
            <a:extLst>
              <a:ext uri="{FF2B5EF4-FFF2-40B4-BE49-F238E27FC236}">
                <a16:creationId xmlns:a16="http://schemas.microsoft.com/office/drawing/2014/main" id="{E48EEC67-A6A8-020A-97BF-B7B8A677B353}"/>
              </a:ext>
            </a:extLst>
          </p:cNvPr>
          <p:cNvSpPr/>
          <p:nvPr/>
        </p:nvSpPr>
        <p:spPr>
          <a:xfrm>
            <a:off x="4634152" y="4561155"/>
            <a:ext cx="1162800" cy="134147"/>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Interim  IM</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8" name="文本框 7">
            <a:extLst>
              <a:ext uri="{FF2B5EF4-FFF2-40B4-BE49-F238E27FC236}">
                <a16:creationId xmlns:a16="http://schemas.microsoft.com/office/drawing/2014/main" id="{9D98285C-353D-CBA4-FB4F-D66042565AE3}"/>
              </a:ext>
            </a:extLst>
          </p:cNvPr>
          <p:cNvSpPr txBox="1"/>
          <p:nvPr/>
        </p:nvSpPr>
        <p:spPr bwMode="gray">
          <a:xfrm>
            <a:off x="6572759" y="1901912"/>
            <a:ext cx="3021704" cy="842475"/>
          </a:xfrm>
          <a:prstGeom prst="rect">
            <a:avLst/>
          </a:prstGeom>
          <a:noFill/>
        </p:spPr>
        <p:txBody>
          <a:bodyPr wrap="square" lIns="0" tIns="0" rIns="0" bIns="0" rtlCol="0">
            <a:spAutoFit/>
          </a:bodyPr>
          <a:lstStyle/>
          <a:p>
            <a:pPr marL="228600" marR="0" lvl="0" indent="-228600" algn="l" defTabSz="914400" rtl="0" eaLnBrk="1" fontAlgn="base" latinLnBrk="0" hangingPunct="1">
              <a:lnSpc>
                <a:spcPct val="14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Low awareness ​</a:t>
            </a:r>
          </a:p>
          <a:p>
            <a:pPr marL="228600" marR="0" lvl="0" indent="-228600" algn="l" defTabSz="914400" rtl="0" eaLnBrk="1" fontAlgn="base" latinLnBrk="0" hangingPunct="1">
              <a:lnSpc>
                <a:spcPct val="14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Placebo trial design ​</a:t>
            </a:r>
          </a:p>
          <a:p>
            <a:pPr marL="228600" marR="0" lvl="0" indent="-228600" algn="l" defTabSz="914400" rtl="0" eaLnBrk="1" fontAlgn="base" latinLnBrk="0" hangingPunct="1">
              <a:lnSpc>
                <a:spcPct val="14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Potential Patient status stable ​</a:t>
            </a:r>
          </a:p>
          <a:p>
            <a:pPr marL="228600" marR="0" lvl="0" indent="-228600" algn="l" defTabSz="914400" rtl="0" eaLnBrk="1" fontAlgn="base" latinLnBrk="0" hangingPunct="1">
              <a:lnSpc>
                <a:spcPct val="14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Potential Patient willingness low ​</a:t>
            </a:r>
          </a:p>
        </p:txBody>
      </p:sp>
      <p:sp>
        <p:nvSpPr>
          <p:cNvPr id="12" name="文本框 11">
            <a:extLst>
              <a:ext uri="{FF2B5EF4-FFF2-40B4-BE49-F238E27FC236}">
                <a16:creationId xmlns:a16="http://schemas.microsoft.com/office/drawing/2014/main" id="{0037FDD9-6013-9EE3-0BFB-0BBC9930BD24}"/>
              </a:ext>
            </a:extLst>
          </p:cNvPr>
          <p:cNvSpPr txBox="1"/>
          <p:nvPr/>
        </p:nvSpPr>
        <p:spPr bwMode="gray">
          <a:xfrm>
            <a:off x="2396207" y="1901912"/>
            <a:ext cx="3448711" cy="1057725"/>
          </a:xfrm>
          <a:prstGeom prst="rect">
            <a:avLst/>
          </a:prstGeom>
          <a:noFill/>
        </p:spPr>
        <p:txBody>
          <a:bodyPr wrap="square" lIns="0" tIns="0" rIns="0" bIns="0" rtlCol="0">
            <a:spAutoFit/>
          </a:bodyPr>
          <a:lstStyle/>
          <a:p>
            <a:pPr marL="228600" marR="0" lvl="0" indent="-228600" algn="l" defTabSz="914400" rtl="0" eaLnBrk="1" fontAlgn="auto" latinLnBrk="0" hangingPunct="1">
              <a:lnSpc>
                <a:spcPct val="14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Rare disease </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a:p>
            <a:pPr marL="228600" marR="0" lvl="0" indent="-228600" algn="l" defTabSz="914400" rtl="0" eaLnBrk="1" fontAlgn="auto" latinLnBrk="0" hangingPunct="1">
              <a:lnSpc>
                <a:spcPct val="14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Difficult for PG diagnosis</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a:p>
            <a:pPr marL="228600" marR="0" lvl="0" indent="-228600" algn="l" defTabSz="914400" rtl="0" eaLnBrk="1" fontAlgn="auto" latinLnBrk="0" hangingPunct="1">
              <a:lnSpc>
                <a:spcPct val="14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Complex treatment background for PG pts</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a:p>
            <a:pPr marL="228600" marR="0" lvl="0" indent="-228600" algn="l" defTabSz="914400" rtl="0" eaLnBrk="1" fontAlgn="auto" latinLnBrk="0" hangingPunct="1">
              <a:lnSpc>
                <a:spcPct val="14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Potential patients from different sites departments (patient source  uncertain)</a:t>
            </a: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9" name="矩形: 圆角 18">
            <a:extLst>
              <a:ext uri="{FF2B5EF4-FFF2-40B4-BE49-F238E27FC236}">
                <a16:creationId xmlns:a16="http://schemas.microsoft.com/office/drawing/2014/main" id="{67BA290B-ADBA-3298-46C2-A59C31CF68CE}"/>
              </a:ext>
            </a:extLst>
          </p:cNvPr>
          <p:cNvSpPr/>
          <p:nvPr/>
        </p:nvSpPr>
        <p:spPr>
          <a:xfrm>
            <a:off x="4082893" y="4364580"/>
            <a:ext cx="6398566" cy="132962"/>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1200" cap="none" spc="0" normalizeH="0" baseline="0" noProof="0">
                <a:ln>
                  <a:noFill/>
                </a:ln>
                <a:solidFill>
                  <a:prstClr val="black"/>
                </a:solidFill>
                <a:effectLst/>
                <a:uLnTx/>
                <a:uFillTx/>
                <a:latin typeface="Boehringer Forward Text"/>
                <a:ea typeface="+mn-ea"/>
                <a:cs typeface="+mn-cs"/>
              </a:rPr>
              <a:t>Pre-screening for potential patients (by sites)</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1" name="矩形: 圆角 20">
            <a:extLst>
              <a:ext uri="{FF2B5EF4-FFF2-40B4-BE49-F238E27FC236}">
                <a16:creationId xmlns:a16="http://schemas.microsoft.com/office/drawing/2014/main" id="{1FD2CD5F-FE28-C945-F30D-3D4566A7CE06}"/>
              </a:ext>
            </a:extLst>
          </p:cNvPr>
          <p:cNvSpPr/>
          <p:nvPr/>
        </p:nvSpPr>
        <p:spPr>
          <a:xfrm>
            <a:off x="3900909" y="3971725"/>
            <a:ext cx="6397200" cy="133200"/>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1200" cap="none" spc="0" normalizeH="0" baseline="0" noProof="0">
                <a:ln>
                  <a:noFill/>
                </a:ln>
                <a:solidFill>
                  <a:prstClr val="black"/>
                </a:solidFill>
                <a:effectLst/>
                <a:uLnTx/>
                <a:uFillTx/>
                <a:latin typeface="Boehringer Forward Text"/>
                <a:ea typeface="+mn-ea"/>
                <a:cs typeface="+mn-cs"/>
              </a:rPr>
              <a:t>Advertisements (by Sites &amp; subsidiary hospitals)</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15" name="Rectangle: Rounded Corners 24">
            <a:extLst>
              <a:ext uri="{FF2B5EF4-FFF2-40B4-BE49-F238E27FC236}">
                <a16:creationId xmlns:a16="http://schemas.microsoft.com/office/drawing/2014/main" id="{3F5741A9-DC0A-62CF-2C54-FEFC876A40E3}"/>
              </a:ext>
            </a:extLst>
          </p:cNvPr>
          <p:cNvSpPr/>
          <p:nvPr/>
        </p:nvSpPr>
        <p:spPr>
          <a:xfrm>
            <a:off x="4749576" y="5005985"/>
            <a:ext cx="5936628" cy="165261"/>
          </a:xfrm>
          <a:prstGeom prst="roundRect">
            <a:avLst>
              <a:gd name="adj" fmla="val 50000"/>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1000" b="1" i="0" u="none" strike="noStrike" kern="0" cap="none" spc="0" normalizeH="0" baseline="0" noProof="0">
                <a:ln>
                  <a:noFill/>
                </a:ln>
                <a:solidFill>
                  <a:prstClr val="black"/>
                </a:solidFill>
                <a:effectLst/>
                <a:uLnTx/>
                <a:uFillTx/>
                <a:latin typeface="Boehringer Forward Text"/>
                <a:ea typeface="黑体"/>
                <a:cs typeface="+mn-cs"/>
                <a:sym typeface="Helvetica"/>
              </a:rPr>
              <a:t>MSL Activities (site engagement and referral mapping)</a:t>
            </a:r>
          </a:p>
        </p:txBody>
      </p:sp>
      <p:sp>
        <p:nvSpPr>
          <p:cNvPr id="22" name="Rectangle: Rounded Corners 25">
            <a:extLst>
              <a:ext uri="{FF2B5EF4-FFF2-40B4-BE49-F238E27FC236}">
                <a16:creationId xmlns:a16="http://schemas.microsoft.com/office/drawing/2014/main" id="{106A9180-E80E-CB49-FC70-04361C942675}"/>
              </a:ext>
            </a:extLst>
          </p:cNvPr>
          <p:cNvSpPr/>
          <p:nvPr/>
        </p:nvSpPr>
        <p:spPr>
          <a:xfrm>
            <a:off x="4760161" y="5196150"/>
            <a:ext cx="5953647" cy="173423"/>
          </a:xfrm>
          <a:prstGeom prst="roundRect">
            <a:avLst>
              <a:gd name="adj" fmla="val 50000"/>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1000" b="1" i="0" u="none" strike="noStrike" kern="0" cap="none" spc="0" normalizeH="0" baseline="0" noProof="0">
                <a:ln>
                  <a:noFill/>
                </a:ln>
                <a:solidFill>
                  <a:prstClr val="black"/>
                </a:solidFill>
                <a:effectLst/>
                <a:uLnTx/>
                <a:uFillTx/>
                <a:latin typeface="Boehringer Forward Text"/>
                <a:ea typeface="黑体"/>
                <a:cs typeface="+mn-cs"/>
                <a:sym typeface="Helvetica"/>
              </a:rPr>
              <a:t>HCP and Patient Trial Materials</a:t>
            </a:r>
          </a:p>
        </p:txBody>
      </p:sp>
      <p:sp>
        <p:nvSpPr>
          <p:cNvPr id="26" name="Rectangle: Rounded Corners 2">
            <a:extLst>
              <a:ext uri="{FF2B5EF4-FFF2-40B4-BE49-F238E27FC236}">
                <a16:creationId xmlns:a16="http://schemas.microsoft.com/office/drawing/2014/main" id="{248A3C66-43BA-808C-90A3-A60AA568986B}"/>
              </a:ext>
            </a:extLst>
          </p:cNvPr>
          <p:cNvSpPr/>
          <p:nvPr/>
        </p:nvSpPr>
        <p:spPr>
          <a:xfrm>
            <a:off x="4834348" y="5437965"/>
            <a:ext cx="5308805" cy="193431"/>
          </a:xfrm>
          <a:prstGeom prst="roundRect">
            <a:avLst>
              <a:gd name="adj" fmla="val 50000"/>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1000" b="1" i="0" u="none" strike="noStrike" kern="0" cap="none" spc="0" normalizeH="0" baseline="0" noProof="0">
                <a:ln>
                  <a:noFill/>
                </a:ln>
                <a:solidFill>
                  <a:prstClr val="black"/>
                </a:solidFill>
                <a:effectLst/>
                <a:uLnTx/>
                <a:uFillTx/>
                <a:latin typeface="Boehringer Forward Text"/>
                <a:ea typeface="黑体"/>
                <a:cs typeface="+mn-cs"/>
                <a:sym typeface="Helvetica"/>
              </a:rPr>
              <a:t>Trial Awareness  @  congresses (Derm, GI, Rheum, Wound Care)</a:t>
            </a:r>
          </a:p>
        </p:txBody>
      </p:sp>
      <p:sp>
        <p:nvSpPr>
          <p:cNvPr id="29" name="Rectangle: Rounded Corners 25">
            <a:extLst>
              <a:ext uri="{FF2B5EF4-FFF2-40B4-BE49-F238E27FC236}">
                <a16:creationId xmlns:a16="http://schemas.microsoft.com/office/drawing/2014/main" id="{B3601573-1409-203F-CE29-45025CC1F2CF}"/>
              </a:ext>
            </a:extLst>
          </p:cNvPr>
          <p:cNvSpPr/>
          <p:nvPr/>
        </p:nvSpPr>
        <p:spPr>
          <a:xfrm>
            <a:off x="4749576" y="5821731"/>
            <a:ext cx="5953647" cy="173423"/>
          </a:xfrm>
          <a:prstGeom prst="roundRect">
            <a:avLst>
              <a:gd name="adj" fmla="val 50000"/>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1000" b="1" i="0" u="none" strike="noStrike" kern="0" cap="none" spc="0" normalizeH="0" baseline="0" noProof="0">
                <a:ln>
                  <a:noFill/>
                </a:ln>
                <a:solidFill>
                  <a:prstClr val="black"/>
                </a:solidFill>
                <a:effectLst/>
                <a:uLnTx/>
                <a:uFillTx/>
                <a:latin typeface="Boehringer Forward Text"/>
                <a:ea typeface="黑体"/>
                <a:cs typeface="+mn-cs"/>
                <a:sym typeface="Helvetica"/>
              </a:rPr>
              <a:t>Monthly meeting with CD&amp;O to share medical insights</a:t>
            </a:r>
          </a:p>
        </p:txBody>
      </p:sp>
      <p:sp>
        <p:nvSpPr>
          <p:cNvPr id="30" name="矩形 29">
            <a:extLst>
              <a:ext uri="{FF2B5EF4-FFF2-40B4-BE49-F238E27FC236}">
                <a16:creationId xmlns:a16="http://schemas.microsoft.com/office/drawing/2014/main" id="{6AED1CE9-2D72-D885-5156-CFEDDB2C0588}"/>
              </a:ext>
            </a:extLst>
          </p:cNvPr>
          <p:cNvSpPr/>
          <p:nvPr/>
        </p:nvSpPr>
        <p:spPr bwMode="gray">
          <a:xfrm>
            <a:off x="2319048" y="6025196"/>
            <a:ext cx="1024597" cy="355804"/>
          </a:xfrm>
          <a:prstGeom prst="rect">
            <a:avLst/>
          </a:prstGeom>
          <a:solidFill>
            <a:schemeClr val="accent6">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CFT</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 name="Rectangle: Rounded Corners 25">
            <a:extLst>
              <a:ext uri="{FF2B5EF4-FFF2-40B4-BE49-F238E27FC236}">
                <a16:creationId xmlns:a16="http://schemas.microsoft.com/office/drawing/2014/main" id="{C46AC7E6-462F-913F-E1A9-627D859EC478}"/>
              </a:ext>
            </a:extLst>
          </p:cNvPr>
          <p:cNvSpPr/>
          <p:nvPr/>
        </p:nvSpPr>
        <p:spPr>
          <a:xfrm>
            <a:off x="6238353" y="6034283"/>
            <a:ext cx="4475455" cy="173423"/>
          </a:xfrm>
          <a:prstGeom prst="roundRect">
            <a:avLst>
              <a:gd name="adj" fmla="val 50000"/>
            </a:avLst>
          </a:prstGeom>
          <a:solidFill>
            <a:schemeClr val="accent6">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1000" b="1" i="0" u="none" strike="noStrike" kern="0" cap="none" spc="0" normalizeH="0" baseline="0" noProof="0">
                <a:ln>
                  <a:noFill/>
                </a:ln>
                <a:solidFill>
                  <a:prstClr val="black"/>
                </a:solidFill>
                <a:effectLst/>
                <a:uLnTx/>
                <a:uFillTx/>
                <a:latin typeface="Boehringer Forward Text"/>
                <a:ea typeface="黑体"/>
                <a:cs typeface="+mn-cs"/>
                <a:sym typeface="Helvetica"/>
              </a:rPr>
              <a:t> leverage by PAG support</a:t>
            </a:r>
          </a:p>
        </p:txBody>
      </p:sp>
      <p:sp>
        <p:nvSpPr>
          <p:cNvPr id="32" name="Rectangle: Rounded Corners 25">
            <a:extLst>
              <a:ext uri="{FF2B5EF4-FFF2-40B4-BE49-F238E27FC236}">
                <a16:creationId xmlns:a16="http://schemas.microsoft.com/office/drawing/2014/main" id="{014FB17F-B973-960A-A579-81AF61AB1BEA}"/>
              </a:ext>
            </a:extLst>
          </p:cNvPr>
          <p:cNvSpPr/>
          <p:nvPr/>
        </p:nvSpPr>
        <p:spPr>
          <a:xfrm>
            <a:off x="6238353" y="6241899"/>
            <a:ext cx="4475455" cy="173423"/>
          </a:xfrm>
          <a:prstGeom prst="roundRect">
            <a:avLst>
              <a:gd name="adj" fmla="val 50000"/>
            </a:avLst>
          </a:prstGeom>
          <a:solidFill>
            <a:schemeClr val="accent6">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1000" b="1" i="0" u="none" strike="noStrike" kern="0" cap="none" spc="0" normalizeH="0" baseline="0" noProof="0">
                <a:ln>
                  <a:noFill/>
                </a:ln>
                <a:solidFill>
                  <a:prstClr val="black"/>
                </a:solidFill>
                <a:effectLst/>
                <a:uLnTx/>
                <a:uFillTx/>
                <a:latin typeface="Boehringer Forward Text"/>
                <a:ea typeface="黑体"/>
                <a:cs typeface="+mn-cs"/>
                <a:sym typeface="Helvetica"/>
              </a:rPr>
              <a:t>Media Outreach</a:t>
            </a:r>
          </a:p>
        </p:txBody>
      </p:sp>
      <p:sp>
        <p:nvSpPr>
          <p:cNvPr id="16" name="椭圆 15">
            <a:extLst>
              <a:ext uri="{FF2B5EF4-FFF2-40B4-BE49-F238E27FC236}">
                <a16:creationId xmlns:a16="http://schemas.microsoft.com/office/drawing/2014/main" id="{978C8CB7-06E8-5ACB-7C82-AD2A6B3FDFF7}"/>
              </a:ext>
            </a:extLst>
          </p:cNvPr>
          <p:cNvSpPr/>
          <p:nvPr/>
        </p:nvSpPr>
        <p:spPr bwMode="gray">
          <a:xfrm>
            <a:off x="3420695" y="5014355"/>
            <a:ext cx="180000" cy="180000"/>
          </a:xfrm>
          <a:prstGeom prst="ellipse">
            <a:avLst/>
          </a:prstGeom>
          <a:solidFill>
            <a:schemeClr val="accent4"/>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1050" b="0" i="0" u="none" strike="noStrike" kern="1200" cap="none" spc="0" normalizeH="0" baseline="0" noProof="0">
                <a:ln>
                  <a:noFill/>
                </a:ln>
                <a:solidFill>
                  <a:prstClr val="black"/>
                </a:solidFill>
                <a:effectLst/>
                <a:uLnTx/>
                <a:uFillTx/>
                <a:latin typeface="Boehringer Forward Text"/>
                <a:ea typeface="+mn-ea"/>
                <a:cs typeface="+mn-cs"/>
              </a:rPr>
              <a:t>√</a:t>
            </a:r>
          </a:p>
        </p:txBody>
      </p:sp>
      <p:cxnSp>
        <p:nvCxnSpPr>
          <p:cNvPr id="33" name="直接连接符 32">
            <a:extLst>
              <a:ext uri="{FF2B5EF4-FFF2-40B4-BE49-F238E27FC236}">
                <a16:creationId xmlns:a16="http://schemas.microsoft.com/office/drawing/2014/main" id="{08AD7313-FF80-6A6C-3DDB-416E97544338}"/>
              </a:ext>
            </a:extLst>
          </p:cNvPr>
          <p:cNvCxnSpPr/>
          <p:nvPr/>
        </p:nvCxnSpPr>
        <p:spPr bwMode="gray">
          <a:xfrm>
            <a:off x="4849784" y="3750620"/>
            <a:ext cx="19231" cy="2578455"/>
          </a:xfrm>
          <a:prstGeom prst="line">
            <a:avLst/>
          </a:prstGeom>
          <a:ln w="63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4A53107E-D5C1-5319-0065-3DEFAC2CF631}"/>
              </a:ext>
            </a:extLst>
          </p:cNvPr>
          <p:cNvSpPr txBox="1"/>
          <p:nvPr/>
        </p:nvSpPr>
        <p:spPr bwMode="gray">
          <a:xfrm>
            <a:off x="4460168" y="6334204"/>
            <a:ext cx="822752" cy="207289"/>
          </a:xfrm>
          <a:prstGeom prst="rect">
            <a:avLst/>
          </a:prstGeom>
          <a:solidFill>
            <a:schemeClr val="accent4"/>
          </a:solid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We are here</a:t>
            </a:r>
            <a:endParaRPr kumimoji="0" lang="zh-CN" altLang="en-US" sz="105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4149748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组合 74">
            <a:extLst>
              <a:ext uri="{FF2B5EF4-FFF2-40B4-BE49-F238E27FC236}">
                <a16:creationId xmlns:a16="http://schemas.microsoft.com/office/drawing/2014/main" id="{2277649D-4225-9021-5194-C3E1671526F3}"/>
              </a:ext>
            </a:extLst>
          </p:cNvPr>
          <p:cNvGrpSpPr/>
          <p:nvPr/>
        </p:nvGrpSpPr>
        <p:grpSpPr>
          <a:xfrm rot="10800000">
            <a:off x="912957" y="5224933"/>
            <a:ext cx="10873683" cy="864096"/>
            <a:chOff x="-636280" y="4577344"/>
            <a:chExt cx="10873683" cy="1072702"/>
          </a:xfrm>
        </p:grpSpPr>
        <p:sp>
          <p:nvSpPr>
            <p:cNvPr id="76" name="矩形 75">
              <a:extLst>
                <a:ext uri="{FF2B5EF4-FFF2-40B4-BE49-F238E27FC236}">
                  <a16:creationId xmlns:a16="http://schemas.microsoft.com/office/drawing/2014/main" id="{98D3B771-7D08-88D9-4729-B4569A8D65A8}"/>
                </a:ext>
              </a:extLst>
            </p:cNvPr>
            <p:cNvSpPr/>
            <p:nvPr/>
          </p:nvSpPr>
          <p:spPr>
            <a:xfrm>
              <a:off x="-636280" y="4577344"/>
              <a:ext cx="10652305" cy="1072702"/>
            </a:xfrm>
            <a:prstGeom prst="rect">
              <a:avLst/>
            </a:prstGeom>
            <a:solidFill>
              <a:srgbClr val="E0E1F6">
                <a:alpha val="4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77" name="组合 76">
              <a:extLst>
                <a:ext uri="{FF2B5EF4-FFF2-40B4-BE49-F238E27FC236}">
                  <a16:creationId xmlns:a16="http://schemas.microsoft.com/office/drawing/2014/main" id="{1C2AAAA7-11BE-4A04-BE77-9FA0C05838FD}"/>
                </a:ext>
              </a:extLst>
            </p:cNvPr>
            <p:cNvGrpSpPr/>
            <p:nvPr/>
          </p:nvGrpSpPr>
          <p:grpSpPr>
            <a:xfrm rot="16200000">
              <a:off x="9558144" y="4927187"/>
              <a:ext cx="988301" cy="370217"/>
              <a:chOff x="622211" y="1610917"/>
              <a:chExt cx="4967606" cy="311562"/>
            </a:xfrm>
          </p:grpSpPr>
          <p:sp>
            <p:nvSpPr>
              <p:cNvPr id="78" name="任意多边形: 形状 77">
                <a:extLst>
                  <a:ext uri="{FF2B5EF4-FFF2-40B4-BE49-F238E27FC236}">
                    <a16:creationId xmlns:a16="http://schemas.microsoft.com/office/drawing/2014/main" id="{EC047DD0-0257-4E18-6572-5CF55D14966A}"/>
                  </a:ext>
                </a:extLst>
              </p:cNvPr>
              <p:cNvSpPr/>
              <p:nvPr/>
            </p:nvSpPr>
            <p:spPr>
              <a:xfrm>
                <a:off x="622211" y="1610917"/>
                <a:ext cx="4967606" cy="254859"/>
              </a:xfrm>
              <a:custGeom>
                <a:avLst/>
                <a:gdLst>
                  <a:gd name="connsiteX0" fmla="*/ 4967607 w 4967606"/>
                  <a:gd name="connsiteY0" fmla="*/ 261884 h 546471"/>
                  <a:gd name="connsiteX1" fmla="*/ 4967607 w 4967606"/>
                  <a:gd name="connsiteY1" fmla="*/ 267428 h 546471"/>
                  <a:gd name="connsiteX2" fmla="*/ 4812378 w 4967606"/>
                  <a:gd name="connsiteY2" fmla="*/ 422657 h 546471"/>
                  <a:gd name="connsiteX3" fmla="*/ 2572110 w 4967606"/>
                  <a:gd name="connsiteY3" fmla="*/ 422657 h 546471"/>
                  <a:gd name="connsiteX4" fmla="*/ 2507959 w 4967606"/>
                  <a:gd name="connsiteY4" fmla="*/ 456713 h 546471"/>
                  <a:gd name="connsiteX5" fmla="*/ 2454368 w 4967606"/>
                  <a:gd name="connsiteY5" fmla="*/ 536175 h 546471"/>
                  <a:gd name="connsiteX6" fmla="*/ 2415825 w 4967606"/>
                  <a:gd name="connsiteY6" fmla="*/ 536175 h 546471"/>
                  <a:gd name="connsiteX7" fmla="*/ 2362234 w 4967606"/>
                  <a:gd name="connsiteY7" fmla="*/ 456713 h 546471"/>
                  <a:gd name="connsiteX8" fmla="*/ 2298083 w 4967606"/>
                  <a:gd name="connsiteY8" fmla="*/ 422657 h 546471"/>
                  <a:gd name="connsiteX9" fmla="*/ 155229 w 4967606"/>
                  <a:gd name="connsiteY9" fmla="*/ 422657 h 546471"/>
                  <a:gd name="connsiteX10" fmla="*/ 0 w 4967606"/>
                  <a:gd name="connsiteY10" fmla="*/ 267692 h 546471"/>
                  <a:gd name="connsiteX11" fmla="*/ 0 w 4967606"/>
                  <a:gd name="connsiteY11" fmla="*/ 261884 h 546471"/>
                  <a:gd name="connsiteX12" fmla="*/ 0 w 4967606"/>
                  <a:gd name="connsiteY12" fmla="*/ 0 h 546471"/>
                  <a:gd name="connsiteX13" fmla="*/ 4953615 w 4967606"/>
                  <a:gd name="connsiteY13" fmla="*/ 0 h 546471"/>
                  <a:gd name="connsiteX14" fmla="*/ 4967607 w 4967606"/>
                  <a:gd name="connsiteY14" fmla="*/ 261884 h 54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67606" h="546471">
                    <a:moveTo>
                      <a:pt x="4967607" y="261884"/>
                    </a:moveTo>
                    <a:lnTo>
                      <a:pt x="4967607" y="267428"/>
                    </a:lnTo>
                    <a:cubicBezTo>
                      <a:pt x="4967607" y="353226"/>
                      <a:pt x="4898176" y="422657"/>
                      <a:pt x="4812378" y="422657"/>
                    </a:cubicBezTo>
                    <a:lnTo>
                      <a:pt x="2572110" y="422657"/>
                    </a:lnTo>
                    <a:cubicBezTo>
                      <a:pt x="2546238" y="422657"/>
                      <a:pt x="2522215" y="435329"/>
                      <a:pt x="2507959" y="456713"/>
                    </a:cubicBezTo>
                    <a:lnTo>
                      <a:pt x="2454368" y="536175"/>
                    </a:lnTo>
                    <a:cubicBezTo>
                      <a:pt x="2445128" y="549903"/>
                      <a:pt x="2425065" y="549903"/>
                      <a:pt x="2415825" y="536175"/>
                    </a:cubicBezTo>
                    <a:lnTo>
                      <a:pt x="2362234" y="456713"/>
                    </a:lnTo>
                    <a:cubicBezTo>
                      <a:pt x="2347714" y="435329"/>
                      <a:pt x="2323690" y="422657"/>
                      <a:pt x="2298083" y="422657"/>
                    </a:cubicBezTo>
                    <a:lnTo>
                      <a:pt x="155229" y="422657"/>
                    </a:lnTo>
                    <a:cubicBezTo>
                      <a:pt x="69431" y="422657"/>
                      <a:pt x="0" y="353226"/>
                      <a:pt x="0" y="267692"/>
                    </a:cubicBezTo>
                    <a:lnTo>
                      <a:pt x="0" y="261884"/>
                    </a:lnTo>
                    <a:lnTo>
                      <a:pt x="0" y="0"/>
                    </a:lnTo>
                    <a:lnTo>
                      <a:pt x="4953615" y="0"/>
                    </a:lnTo>
                    <a:lnTo>
                      <a:pt x="4967607" y="261884"/>
                    </a:lnTo>
                    <a:close/>
                  </a:path>
                </a:pathLst>
              </a:custGeom>
              <a:gradFill>
                <a:gsLst>
                  <a:gs pos="0">
                    <a:sysClr val="window" lastClr="FFFFFF">
                      <a:alpha val="0"/>
                    </a:sysClr>
                  </a:gs>
                  <a:gs pos="93000">
                    <a:srgbClr val="F2F2F2"/>
                  </a:gs>
                </a:gsLst>
                <a:lin ang="5400000" scaled="0"/>
              </a:gradFill>
              <a:ln w="263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1965"/>
                  </a:solidFill>
                  <a:effectLst/>
                  <a:uLnTx/>
                  <a:uFillTx/>
                  <a:latin typeface="Apis For Office" panose="020B0504010101010104" pitchFamily="34" charset="0"/>
                  <a:ea typeface="微软雅黑" panose="020B0503020204020204" pitchFamily="34" charset="-122"/>
                  <a:cs typeface="+mn-cs"/>
                  <a:sym typeface="Apis For Office" panose="020B0504010101010104" pitchFamily="34" charset="0"/>
                </a:endParaRPr>
              </a:p>
            </p:txBody>
          </p:sp>
          <p:sp>
            <p:nvSpPr>
              <p:cNvPr id="79" name="任意多边形: 形状 78">
                <a:extLst>
                  <a:ext uri="{FF2B5EF4-FFF2-40B4-BE49-F238E27FC236}">
                    <a16:creationId xmlns:a16="http://schemas.microsoft.com/office/drawing/2014/main" id="{7C89AA87-E373-64F3-906B-71062CEC8A2E}"/>
                  </a:ext>
                </a:extLst>
              </p:cNvPr>
              <p:cNvSpPr/>
              <p:nvPr/>
            </p:nvSpPr>
            <p:spPr>
              <a:xfrm>
                <a:off x="874188" y="1798666"/>
                <a:ext cx="4637084" cy="123813"/>
              </a:xfrm>
              <a:custGeom>
                <a:avLst/>
                <a:gdLst>
                  <a:gd name="connsiteX0" fmla="*/ 4637085 w 4637084"/>
                  <a:gd name="connsiteY0" fmla="*/ 0 h 123813"/>
                  <a:gd name="connsiteX1" fmla="*/ 2416881 w 4637084"/>
                  <a:gd name="connsiteY1" fmla="*/ 0 h 123813"/>
                  <a:gd name="connsiteX2" fmla="*/ 2352730 w 4637084"/>
                  <a:gd name="connsiteY2" fmla="*/ 34055 h 123813"/>
                  <a:gd name="connsiteX3" fmla="*/ 2299139 w 4637084"/>
                  <a:gd name="connsiteY3" fmla="*/ 113518 h 123813"/>
                  <a:gd name="connsiteX4" fmla="*/ 2260595 w 4637084"/>
                  <a:gd name="connsiteY4" fmla="*/ 113518 h 123813"/>
                  <a:gd name="connsiteX5" fmla="*/ 2207004 w 4637084"/>
                  <a:gd name="connsiteY5" fmla="*/ 34055 h 123813"/>
                  <a:gd name="connsiteX6" fmla="*/ 2142853 w 4637084"/>
                  <a:gd name="connsiteY6" fmla="*/ 0 h 123813"/>
                  <a:gd name="connsiteX7" fmla="*/ 0 w 4637084"/>
                  <a:gd name="connsiteY7" fmla="*/ 0 h 12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7084" h="123813">
                    <a:moveTo>
                      <a:pt x="4637085" y="0"/>
                    </a:moveTo>
                    <a:lnTo>
                      <a:pt x="2416881" y="0"/>
                    </a:lnTo>
                    <a:cubicBezTo>
                      <a:pt x="2391009" y="0"/>
                      <a:pt x="2366986" y="12672"/>
                      <a:pt x="2352730" y="34055"/>
                    </a:cubicBezTo>
                    <a:lnTo>
                      <a:pt x="2299139" y="113518"/>
                    </a:lnTo>
                    <a:cubicBezTo>
                      <a:pt x="2289899" y="127246"/>
                      <a:pt x="2269835" y="127246"/>
                      <a:pt x="2260595" y="113518"/>
                    </a:cubicBezTo>
                    <a:lnTo>
                      <a:pt x="2207004" y="34055"/>
                    </a:lnTo>
                    <a:cubicBezTo>
                      <a:pt x="2192484" y="12672"/>
                      <a:pt x="2168461" y="0"/>
                      <a:pt x="2142853" y="0"/>
                    </a:cubicBezTo>
                    <a:lnTo>
                      <a:pt x="0" y="0"/>
                    </a:lnTo>
                  </a:path>
                </a:pathLst>
              </a:custGeom>
              <a:noFill/>
              <a:ln w="12700" cap="flat">
                <a:solidFill>
                  <a:srgbClr val="928BDE"/>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pis For Office" panose="020B0504010101010104" pitchFamily="34" charset="0"/>
                  <a:ea typeface="微软雅黑" panose="020B0503020204020204" pitchFamily="34" charset="-122"/>
                  <a:cs typeface="+mn-cs"/>
                  <a:sym typeface="Apis For Office" panose="020B0504010101010104" pitchFamily="34" charset="0"/>
                </a:endParaRPr>
              </a:p>
            </p:txBody>
          </p:sp>
        </p:grpSp>
      </p:grpSp>
      <p:grpSp>
        <p:nvGrpSpPr>
          <p:cNvPr id="50" name="组合 49">
            <a:extLst>
              <a:ext uri="{FF2B5EF4-FFF2-40B4-BE49-F238E27FC236}">
                <a16:creationId xmlns:a16="http://schemas.microsoft.com/office/drawing/2014/main" id="{7EF6C2AE-7A47-23F4-B23D-A4CCBAECCC92}"/>
              </a:ext>
            </a:extLst>
          </p:cNvPr>
          <p:cNvGrpSpPr/>
          <p:nvPr/>
        </p:nvGrpSpPr>
        <p:grpSpPr>
          <a:xfrm>
            <a:off x="425859" y="4411097"/>
            <a:ext cx="10980601" cy="716873"/>
            <a:chOff x="3078494" y="803915"/>
            <a:chExt cx="8722577" cy="1072702"/>
          </a:xfrm>
        </p:grpSpPr>
        <p:sp>
          <p:nvSpPr>
            <p:cNvPr id="51" name="矩形 50">
              <a:extLst>
                <a:ext uri="{FF2B5EF4-FFF2-40B4-BE49-F238E27FC236}">
                  <a16:creationId xmlns:a16="http://schemas.microsoft.com/office/drawing/2014/main" id="{DBABA888-4217-4DFF-AE3A-105ACB3FD9D0}"/>
                </a:ext>
              </a:extLst>
            </p:cNvPr>
            <p:cNvSpPr/>
            <p:nvPr/>
          </p:nvSpPr>
          <p:spPr>
            <a:xfrm>
              <a:off x="3078494" y="803915"/>
              <a:ext cx="8501198" cy="1072702"/>
            </a:xfrm>
            <a:prstGeom prst="rect">
              <a:avLst/>
            </a:prstGeom>
            <a:solidFill>
              <a:srgbClr val="D8F9F3">
                <a:alpha val="34902"/>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52" name="组合 51">
              <a:extLst>
                <a:ext uri="{FF2B5EF4-FFF2-40B4-BE49-F238E27FC236}">
                  <a16:creationId xmlns:a16="http://schemas.microsoft.com/office/drawing/2014/main" id="{79598C0D-F99E-39C1-55DF-98E44BDFF10C}"/>
                </a:ext>
              </a:extLst>
            </p:cNvPr>
            <p:cNvGrpSpPr/>
            <p:nvPr/>
          </p:nvGrpSpPr>
          <p:grpSpPr>
            <a:xfrm rot="16200000">
              <a:off x="11121812" y="1153759"/>
              <a:ext cx="988301" cy="370217"/>
              <a:chOff x="622211" y="1610917"/>
              <a:chExt cx="4967606" cy="311562"/>
            </a:xfrm>
          </p:grpSpPr>
          <p:sp>
            <p:nvSpPr>
              <p:cNvPr id="53" name="任意多边形: 形状 52">
                <a:extLst>
                  <a:ext uri="{FF2B5EF4-FFF2-40B4-BE49-F238E27FC236}">
                    <a16:creationId xmlns:a16="http://schemas.microsoft.com/office/drawing/2014/main" id="{289C22DB-65BA-B934-6939-CEA3F1C2D27C}"/>
                  </a:ext>
                </a:extLst>
              </p:cNvPr>
              <p:cNvSpPr/>
              <p:nvPr/>
            </p:nvSpPr>
            <p:spPr>
              <a:xfrm>
                <a:off x="622211" y="1610917"/>
                <a:ext cx="4967606" cy="254859"/>
              </a:xfrm>
              <a:custGeom>
                <a:avLst/>
                <a:gdLst>
                  <a:gd name="connsiteX0" fmla="*/ 4967607 w 4967606"/>
                  <a:gd name="connsiteY0" fmla="*/ 261884 h 546471"/>
                  <a:gd name="connsiteX1" fmla="*/ 4967607 w 4967606"/>
                  <a:gd name="connsiteY1" fmla="*/ 267428 h 546471"/>
                  <a:gd name="connsiteX2" fmla="*/ 4812378 w 4967606"/>
                  <a:gd name="connsiteY2" fmla="*/ 422657 h 546471"/>
                  <a:gd name="connsiteX3" fmla="*/ 2572110 w 4967606"/>
                  <a:gd name="connsiteY3" fmla="*/ 422657 h 546471"/>
                  <a:gd name="connsiteX4" fmla="*/ 2507959 w 4967606"/>
                  <a:gd name="connsiteY4" fmla="*/ 456713 h 546471"/>
                  <a:gd name="connsiteX5" fmla="*/ 2454368 w 4967606"/>
                  <a:gd name="connsiteY5" fmla="*/ 536175 h 546471"/>
                  <a:gd name="connsiteX6" fmla="*/ 2415825 w 4967606"/>
                  <a:gd name="connsiteY6" fmla="*/ 536175 h 546471"/>
                  <a:gd name="connsiteX7" fmla="*/ 2362234 w 4967606"/>
                  <a:gd name="connsiteY7" fmla="*/ 456713 h 546471"/>
                  <a:gd name="connsiteX8" fmla="*/ 2298083 w 4967606"/>
                  <a:gd name="connsiteY8" fmla="*/ 422657 h 546471"/>
                  <a:gd name="connsiteX9" fmla="*/ 155229 w 4967606"/>
                  <a:gd name="connsiteY9" fmla="*/ 422657 h 546471"/>
                  <a:gd name="connsiteX10" fmla="*/ 0 w 4967606"/>
                  <a:gd name="connsiteY10" fmla="*/ 267692 h 546471"/>
                  <a:gd name="connsiteX11" fmla="*/ 0 w 4967606"/>
                  <a:gd name="connsiteY11" fmla="*/ 261884 h 546471"/>
                  <a:gd name="connsiteX12" fmla="*/ 0 w 4967606"/>
                  <a:gd name="connsiteY12" fmla="*/ 0 h 546471"/>
                  <a:gd name="connsiteX13" fmla="*/ 4953615 w 4967606"/>
                  <a:gd name="connsiteY13" fmla="*/ 0 h 546471"/>
                  <a:gd name="connsiteX14" fmla="*/ 4967607 w 4967606"/>
                  <a:gd name="connsiteY14" fmla="*/ 261884 h 54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67606" h="546471">
                    <a:moveTo>
                      <a:pt x="4967607" y="261884"/>
                    </a:moveTo>
                    <a:lnTo>
                      <a:pt x="4967607" y="267428"/>
                    </a:lnTo>
                    <a:cubicBezTo>
                      <a:pt x="4967607" y="353226"/>
                      <a:pt x="4898176" y="422657"/>
                      <a:pt x="4812378" y="422657"/>
                    </a:cubicBezTo>
                    <a:lnTo>
                      <a:pt x="2572110" y="422657"/>
                    </a:lnTo>
                    <a:cubicBezTo>
                      <a:pt x="2546238" y="422657"/>
                      <a:pt x="2522215" y="435329"/>
                      <a:pt x="2507959" y="456713"/>
                    </a:cubicBezTo>
                    <a:lnTo>
                      <a:pt x="2454368" y="536175"/>
                    </a:lnTo>
                    <a:cubicBezTo>
                      <a:pt x="2445128" y="549903"/>
                      <a:pt x="2425065" y="549903"/>
                      <a:pt x="2415825" y="536175"/>
                    </a:cubicBezTo>
                    <a:lnTo>
                      <a:pt x="2362234" y="456713"/>
                    </a:lnTo>
                    <a:cubicBezTo>
                      <a:pt x="2347714" y="435329"/>
                      <a:pt x="2323690" y="422657"/>
                      <a:pt x="2298083" y="422657"/>
                    </a:cubicBezTo>
                    <a:lnTo>
                      <a:pt x="155229" y="422657"/>
                    </a:lnTo>
                    <a:cubicBezTo>
                      <a:pt x="69431" y="422657"/>
                      <a:pt x="0" y="353226"/>
                      <a:pt x="0" y="267692"/>
                    </a:cubicBezTo>
                    <a:lnTo>
                      <a:pt x="0" y="261884"/>
                    </a:lnTo>
                    <a:lnTo>
                      <a:pt x="0" y="0"/>
                    </a:lnTo>
                    <a:lnTo>
                      <a:pt x="4953615" y="0"/>
                    </a:lnTo>
                    <a:lnTo>
                      <a:pt x="4967607" y="261884"/>
                    </a:lnTo>
                    <a:close/>
                  </a:path>
                </a:pathLst>
              </a:custGeom>
              <a:gradFill>
                <a:gsLst>
                  <a:gs pos="0">
                    <a:sysClr val="window" lastClr="FFFFFF">
                      <a:alpha val="0"/>
                    </a:sysClr>
                  </a:gs>
                  <a:gs pos="93000">
                    <a:srgbClr val="F2F2F2"/>
                  </a:gs>
                </a:gsLst>
                <a:lin ang="5400000" scaled="0"/>
              </a:gradFill>
              <a:ln w="263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1965"/>
                  </a:solidFill>
                  <a:effectLst/>
                  <a:uLnTx/>
                  <a:uFillTx/>
                  <a:latin typeface="Apis For Office" panose="020B0504010101010104" pitchFamily="34" charset="0"/>
                  <a:ea typeface="微软雅黑" panose="020B0503020204020204" pitchFamily="34" charset="-122"/>
                  <a:cs typeface="+mn-cs"/>
                  <a:sym typeface="Apis For Office" panose="020B0504010101010104" pitchFamily="34" charset="0"/>
                </a:endParaRPr>
              </a:p>
            </p:txBody>
          </p:sp>
          <p:sp>
            <p:nvSpPr>
              <p:cNvPr id="54" name="任意多边形: 形状 53">
                <a:extLst>
                  <a:ext uri="{FF2B5EF4-FFF2-40B4-BE49-F238E27FC236}">
                    <a16:creationId xmlns:a16="http://schemas.microsoft.com/office/drawing/2014/main" id="{75C7944E-322D-1329-2F17-D329ECB109AB}"/>
                  </a:ext>
                </a:extLst>
              </p:cNvPr>
              <p:cNvSpPr/>
              <p:nvPr/>
            </p:nvSpPr>
            <p:spPr>
              <a:xfrm>
                <a:off x="874188" y="1798666"/>
                <a:ext cx="4637084" cy="123813"/>
              </a:xfrm>
              <a:custGeom>
                <a:avLst/>
                <a:gdLst>
                  <a:gd name="connsiteX0" fmla="*/ 4637085 w 4637084"/>
                  <a:gd name="connsiteY0" fmla="*/ 0 h 123813"/>
                  <a:gd name="connsiteX1" fmla="*/ 2416881 w 4637084"/>
                  <a:gd name="connsiteY1" fmla="*/ 0 h 123813"/>
                  <a:gd name="connsiteX2" fmla="*/ 2352730 w 4637084"/>
                  <a:gd name="connsiteY2" fmla="*/ 34055 h 123813"/>
                  <a:gd name="connsiteX3" fmla="*/ 2299139 w 4637084"/>
                  <a:gd name="connsiteY3" fmla="*/ 113518 h 123813"/>
                  <a:gd name="connsiteX4" fmla="*/ 2260595 w 4637084"/>
                  <a:gd name="connsiteY4" fmla="*/ 113518 h 123813"/>
                  <a:gd name="connsiteX5" fmla="*/ 2207004 w 4637084"/>
                  <a:gd name="connsiteY5" fmla="*/ 34055 h 123813"/>
                  <a:gd name="connsiteX6" fmla="*/ 2142853 w 4637084"/>
                  <a:gd name="connsiteY6" fmla="*/ 0 h 123813"/>
                  <a:gd name="connsiteX7" fmla="*/ 0 w 4637084"/>
                  <a:gd name="connsiteY7" fmla="*/ 0 h 12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7084" h="123813">
                    <a:moveTo>
                      <a:pt x="4637085" y="0"/>
                    </a:moveTo>
                    <a:lnTo>
                      <a:pt x="2416881" y="0"/>
                    </a:lnTo>
                    <a:cubicBezTo>
                      <a:pt x="2391009" y="0"/>
                      <a:pt x="2366986" y="12672"/>
                      <a:pt x="2352730" y="34055"/>
                    </a:cubicBezTo>
                    <a:lnTo>
                      <a:pt x="2299139" y="113518"/>
                    </a:lnTo>
                    <a:cubicBezTo>
                      <a:pt x="2289899" y="127246"/>
                      <a:pt x="2269835" y="127246"/>
                      <a:pt x="2260595" y="113518"/>
                    </a:cubicBezTo>
                    <a:lnTo>
                      <a:pt x="2207004" y="34055"/>
                    </a:lnTo>
                    <a:cubicBezTo>
                      <a:pt x="2192484" y="12672"/>
                      <a:pt x="2168461" y="0"/>
                      <a:pt x="2142853" y="0"/>
                    </a:cubicBezTo>
                    <a:lnTo>
                      <a:pt x="0" y="0"/>
                    </a:lnTo>
                  </a:path>
                </a:pathLst>
              </a:custGeom>
              <a:noFill/>
              <a:ln w="12700" cap="flat">
                <a:solidFill>
                  <a:srgbClr val="08312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pis For Office" panose="020B0504010101010104" pitchFamily="34" charset="0"/>
                  <a:ea typeface="微软雅黑" panose="020B0503020204020204" pitchFamily="34" charset="-122"/>
                  <a:cs typeface="+mn-cs"/>
                  <a:sym typeface="Apis For Office" panose="020B0504010101010104" pitchFamily="34" charset="0"/>
                </a:endParaRPr>
              </a:p>
            </p:txBody>
          </p:sp>
        </p:grpSp>
      </p:grpSp>
      <p:grpSp>
        <p:nvGrpSpPr>
          <p:cNvPr id="31" name="组合 30">
            <a:extLst>
              <a:ext uri="{FF2B5EF4-FFF2-40B4-BE49-F238E27FC236}">
                <a16:creationId xmlns:a16="http://schemas.microsoft.com/office/drawing/2014/main" id="{65CA527E-F160-B5E5-249E-B7D56F0667AB}"/>
              </a:ext>
            </a:extLst>
          </p:cNvPr>
          <p:cNvGrpSpPr/>
          <p:nvPr/>
        </p:nvGrpSpPr>
        <p:grpSpPr>
          <a:xfrm>
            <a:off x="406400" y="2841176"/>
            <a:ext cx="10980601" cy="716873"/>
            <a:chOff x="3078494" y="803915"/>
            <a:chExt cx="8722577" cy="1072702"/>
          </a:xfrm>
        </p:grpSpPr>
        <p:sp>
          <p:nvSpPr>
            <p:cNvPr id="32" name="矩形 31">
              <a:extLst>
                <a:ext uri="{FF2B5EF4-FFF2-40B4-BE49-F238E27FC236}">
                  <a16:creationId xmlns:a16="http://schemas.microsoft.com/office/drawing/2014/main" id="{C6301A2E-8BD8-2133-FD35-30771CF824E9}"/>
                </a:ext>
              </a:extLst>
            </p:cNvPr>
            <p:cNvSpPr/>
            <p:nvPr/>
          </p:nvSpPr>
          <p:spPr>
            <a:xfrm>
              <a:off x="3078494" y="803915"/>
              <a:ext cx="8501198" cy="1072702"/>
            </a:xfrm>
            <a:prstGeom prst="rect">
              <a:avLst/>
            </a:prstGeom>
            <a:solidFill>
              <a:srgbClr val="D8F9F3">
                <a:alpha val="34902"/>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33" name="组合 32">
              <a:extLst>
                <a:ext uri="{FF2B5EF4-FFF2-40B4-BE49-F238E27FC236}">
                  <a16:creationId xmlns:a16="http://schemas.microsoft.com/office/drawing/2014/main" id="{AF4D0AFF-D33A-20A8-6180-E6861546EA56}"/>
                </a:ext>
              </a:extLst>
            </p:cNvPr>
            <p:cNvGrpSpPr/>
            <p:nvPr/>
          </p:nvGrpSpPr>
          <p:grpSpPr>
            <a:xfrm rot="16200000">
              <a:off x="11121812" y="1153759"/>
              <a:ext cx="988301" cy="370217"/>
              <a:chOff x="622211" y="1610917"/>
              <a:chExt cx="4967606" cy="311562"/>
            </a:xfrm>
          </p:grpSpPr>
          <p:sp>
            <p:nvSpPr>
              <p:cNvPr id="34" name="任意多边形: 形状 33">
                <a:extLst>
                  <a:ext uri="{FF2B5EF4-FFF2-40B4-BE49-F238E27FC236}">
                    <a16:creationId xmlns:a16="http://schemas.microsoft.com/office/drawing/2014/main" id="{3F210143-FDF7-1B85-C798-5A5487EA68AC}"/>
                  </a:ext>
                </a:extLst>
              </p:cNvPr>
              <p:cNvSpPr/>
              <p:nvPr/>
            </p:nvSpPr>
            <p:spPr>
              <a:xfrm>
                <a:off x="622211" y="1610917"/>
                <a:ext cx="4967606" cy="254859"/>
              </a:xfrm>
              <a:custGeom>
                <a:avLst/>
                <a:gdLst>
                  <a:gd name="connsiteX0" fmla="*/ 4967607 w 4967606"/>
                  <a:gd name="connsiteY0" fmla="*/ 261884 h 546471"/>
                  <a:gd name="connsiteX1" fmla="*/ 4967607 w 4967606"/>
                  <a:gd name="connsiteY1" fmla="*/ 267428 h 546471"/>
                  <a:gd name="connsiteX2" fmla="*/ 4812378 w 4967606"/>
                  <a:gd name="connsiteY2" fmla="*/ 422657 h 546471"/>
                  <a:gd name="connsiteX3" fmla="*/ 2572110 w 4967606"/>
                  <a:gd name="connsiteY3" fmla="*/ 422657 h 546471"/>
                  <a:gd name="connsiteX4" fmla="*/ 2507959 w 4967606"/>
                  <a:gd name="connsiteY4" fmla="*/ 456713 h 546471"/>
                  <a:gd name="connsiteX5" fmla="*/ 2454368 w 4967606"/>
                  <a:gd name="connsiteY5" fmla="*/ 536175 h 546471"/>
                  <a:gd name="connsiteX6" fmla="*/ 2415825 w 4967606"/>
                  <a:gd name="connsiteY6" fmla="*/ 536175 h 546471"/>
                  <a:gd name="connsiteX7" fmla="*/ 2362234 w 4967606"/>
                  <a:gd name="connsiteY7" fmla="*/ 456713 h 546471"/>
                  <a:gd name="connsiteX8" fmla="*/ 2298083 w 4967606"/>
                  <a:gd name="connsiteY8" fmla="*/ 422657 h 546471"/>
                  <a:gd name="connsiteX9" fmla="*/ 155229 w 4967606"/>
                  <a:gd name="connsiteY9" fmla="*/ 422657 h 546471"/>
                  <a:gd name="connsiteX10" fmla="*/ 0 w 4967606"/>
                  <a:gd name="connsiteY10" fmla="*/ 267692 h 546471"/>
                  <a:gd name="connsiteX11" fmla="*/ 0 w 4967606"/>
                  <a:gd name="connsiteY11" fmla="*/ 261884 h 546471"/>
                  <a:gd name="connsiteX12" fmla="*/ 0 w 4967606"/>
                  <a:gd name="connsiteY12" fmla="*/ 0 h 546471"/>
                  <a:gd name="connsiteX13" fmla="*/ 4953615 w 4967606"/>
                  <a:gd name="connsiteY13" fmla="*/ 0 h 546471"/>
                  <a:gd name="connsiteX14" fmla="*/ 4967607 w 4967606"/>
                  <a:gd name="connsiteY14" fmla="*/ 261884 h 54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67606" h="546471">
                    <a:moveTo>
                      <a:pt x="4967607" y="261884"/>
                    </a:moveTo>
                    <a:lnTo>
                      <a:pt x="4967607" y="267428"/>
                    </a:lnTo>
                    <a:cubicBezTo>
                      <a:pt x="4967607" y="353226"/>
                      <a:pt x="4898176" y="422657"/>
                      <a:pt x="4812378" y="422657"/>
                    </a:cubicBezTo>
                    <a:lnTo>
                      <a:pt x="2572110" y="422657"/>
                    </a:lnTo>
                    <a:cubicBezTo>
                      <a:pt x="2546238" y="422657"/>
                      <a:pt x="2522215" y="435329"/>
                      <a:pt x="2507959" y="456713"/>
                    </a:cubicBezTo>
                    <a:lnTo>
                      <a:pt x="2454368" y="536175"/>
                    </a:lnTo>
                    <a:cubicBezTo>
                      <a:pt x="2445128" y="549903"/>
                      <a:pt x="2425065" y="549903"/>
                      <a:pt x="2415825" y="536175"/>
                    </a:cubicBezTo>
                    <a:lnTo>
                      <a:pt x="2362234" y="456713"/>
                    </a:lnTo>
                    <a:cubicBezTo>
                      <a:pt x="2347714" y="435329"/>
                      <a:pt x="2323690" y="422657"/>
                      <a:pt x="2298083" y="422657"/>
                    </a:cubicBezTo>
                    <a:lnTo>
                      <a:pt x="155229" y="422657"/>
                    </a:lnTo>
                    <a:cubicBezTo>
                      <a:pt x="69431" y="422657"/>
                      <a:pt x="0" y="353226"/>
                      <a:pt x="0" y="267692"/>
                    </a:cubicBezTo>
                    <a:lnTo>
                      <a:pt x="0" y="261884"/>
                    </a:lnTo>
                    <a:lnTo>
                      <a:pt x="0" y="0"/>
                    </a:lnTo>
                    <a:lnTo>
                      <a:pt x="4953615" y="0"/>
                    </a:lnTo>
                    <a:lnTo>
                      <a:pt x="4967607" y="261884"/>
                    </a:lnTo>
                    <a:close/>
                  </a:path>
                </a:pathLst>
              </a:custGeom>
              <a:gradFill>
                <a:gsLst>
                  <a:gs pos="0">
                    <a:sysClr val="window" lastClr="FFFFFF">
                      <a:alpha val="0"/>
                    </a:sysClr>
                  </a:gs>
                  <a:gs pos="93000">
                    <a:srgbClr val="F2F2F2"/>
                  </a:gs>
                </a:gsLst>
                <a:lin ang="5400000" scaled="0"/>
              </a:gradFill>
              <a:ln w="263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1965"/>
                  </a:solidFill>
                  <a:effectLst/>
                  <a:uLnTx/>
                  <a:uFillTx/>
                  <a:latin typeface="Apis For Office" panose="020B0504010101010104" pitchFamily="34" charset="0"/>
                  <a:ea typeface="微软雅黑" panose="020B0503020204020204" pitchFamily="34" charset="-122"/>
                  <a:cs typeface="+mn-cs"/>
                  <a:sym typeface="Apis For Office" panose="020B0504010101010104" pitchFamily="34" charset="0"/>
                </a:endParaRPr>
              </a:p>
            </p:txBody>
          </p:sp>
          <p:sp>
            <p:nvSpPr>
              <p:cNvPr id="35" name="任意多边形: 形状 34">
                <a:extLst>
                  <a:ext uri="{FF2B5EF4-FFF2-40B4-BE49-F238E27FC236}">
                    <a16:creationId xmlns:a16="http://schemas.microsoft.com/office/drawing/2014/main" id="{740972C4-4DB5-C2E0-3D74-A31B7F1C97E1}"/>
                  </a:ext>
                </a:extLst>
              </p:cNvPr>
              <p:cNvSpPr/>
              <p:nvPr/>
            </p:nvSpPr>
            <p:spPr>
              <a:xfrm>
                <a:off x="874188" y="1798666"/>
                <a:ext cx="4637084" cy="123813"/>
              </a:xfrm>
              <a:custGeom>
                <a:avLst/>
                <a:gdLst>
                  <a:gd name="connsiteX0" fmla="*/ 4637085 w 4637084"/>
                  <a:gd name="connsiteY0" fmla="*/ 0 h 123813"/>
                  <a:gd name="connsiteX1" fmla="*/ 2416881 w 4637084"/>
                  <a:gd name="connsiteY1" fmla="*/ 0 h 123813"/>
                  <a:gd name="connsiteX2" fmla="*/ 2352730 w 4637084"/>
                  <a:gd name="connsiteY2" fmla="*/ 34055 h 123813"/>
                  <a:gd name="connsiteX3" fmla="*/ 2299139 w 4637084"/>
                  <a:gd name="connsiteY3" fmla="*/ 113518 h 123813"/>
                  <a:gd name="connsiteX4" fmla="*/ 2260595 w 4637084"/>
                  <a:gd name="connsiteY4" fmla="*/ 113518 h 123813"/>
                  <a:gd name="connsiteX5" fmla="*/ 2207004 w 4637084"/>
                  <a:gd name="connsiteY5" fmla="*/ 34055 h 123813"/>
                  <a:gd name="connsiteX6" fmla="*/ 2142853 w 4637084"/>
                  <a:gd name="connsiteY6" fmla="*/ 0 h 123813"/>
                  <a:gd name="connsiteX7" fmla="*/ 0 w 4637084"/>
                  <a:gd name="connsiteY7" fmla="*/ 0 h 12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7084" h="123813">
                    <a:moveTo>
                      <a:pt x="4637085" y="0"/>
                    </a:moveTo>
                    <a:lnTo>
                      <a:pt x="2416881" y="0"/>
                    </a:lnTo>
                    <a:cubicBezTo>
                      <a:pt x="2391009" y="0"/>
                      <a:pt x="2366986" y="12672"/>
                      <a:pt x="2352730" y="34055"/>
                    </a:cubicBezTo>
                    <a:lnTo>
                      <a:pt x="2299139" y="113518"/>
                    </a:lnTo>
                    <a:cubicBezTo>
                      <a:pt x="2289899" y="127246"/>
                      <a:pt x="2269835" y="127246"/>
                      <a:pt x="2260595" y="113518"/>
                    </a:cubicBezTo>
                    <a:lnTo>
                      <a:pt x="2207004" y="34055"/>
                    </a:lnTo>
                    <a:cubicBezTo>
                      <a:pt x="2192484" y="12672"/>
                      <a:pt x="2168461" y="0"/>
                      <a:pt x="2142853" y="0"/>
                    </a:cubicBezTo>
                    <a:lnTo>
                      <a:pt x="0" y="0"/>
                    </a:lnTo>
                  </a:path>
                </a:pathLst>
              </a:custGeom>
              <a:noFill/>
              <a:ln w="12700" cap="flat">
                <a:solidFill>
                  <a:srgbClr val="08312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pis For Office" panose="020B0504010101010104" pitchFamily="34" charset="0"/>
                  <a:ea typeface="微软雅黑" panose="020B0503020204020204" pitchFamily="34" charset="-122"/>
                  <a:cs typeface="+mn-cs"/>
                  <a:sym typeface="Apis For Office" panose="020B0504010101010104" pitchFamily="34" charset="0"/>
                </a:endParaRPr>
              </a:p>
            </p:txBody>
          </p:sp>
        </p:grpSp>
      </p:grpSp>
      <p:grpSp>
        <p:nvGrpSpPr>
          <p:cNvPr id="6" name="组合 5">
            <a:extLst>
              <a:ext uri="{FF2B5EF4-FFF2-40B4-BE49-F238E27FC236}">
                <a16:creationId xmlns:a16="http://schemas.microsoft.com/office/drawing/2014/main" id="{5E322503-5493-2DCE-05DF-3059FA67173B}"/>
              </a:ext>
            </a:extLst>
          </p:cNvPr>
          <p:cNvGrpSpPr/>
          <p:nvPr/>
        </p:nvGrpSpPr>
        <p:grpSpPr>
          <a:xfrm>
            <a:off x="407987" y="803915"/>
            <a:ext cx="10980601" cy="716873"/>
            <a:chOff x="3078494" y="803915"/>
            <a:chExt cx="8722577" cy="1072702"/>
          </a:xfrm>
        </p:grpSpPr>
        <p:sp>
          <p:nvSpPr>
            <p:cNvPr id="2" name="矩形 1">
              <a:extLst>
                <a:ext uri="{FF2B5EF4-FFF2-40B4-BE49-F238E27FC236}">
                  <a16:creationId xmlns:a16="http://schemas.microsoft.com/office/drawing/2014/main" id="{8C3F9897-281A-2212-9A16-CC893DBE3E36}"/>
                </a:ext>
              </a:extLst>
            </p:cNvPr>
            <p:cNvSpPr/>
            <p:nvPr/>
          </p:nvSpPr>
          <p:spPr>
            <a:xfrm>
              <a:off x="3078494" y="803915"/>
              <a:ext cx="8501198" cy="1072702"/>
            </a:xfrm>
            <a:prstGeom prst="rect">
              <a:avLst/>
            </a:prstGeom>
            <a:solidFill>
              <a:srgbClr val="D8F9F3">
                <a:alpha val="34902"/>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3" name="组合 2">
              <a:extLst>
                <a:ext uri="{FF2B5EF4-FFF2-40B4-BE49-F238E27FC236}">
                  <a16:creationId xmlns:a16="http://schemas.microsoft.com/office/drawing/2014/main" id="{6D0AA5A3-E96E-EB46-170F-E0A14DC6701A}"/>
                </a:ext>
              </a:extLst>
            </p:cNvPr>
            <p:cNvGrpSpPr/>
            <p:nvPr/>
          </p:nvGrpSpPr>
          <p:grpSpPr>
            <a:xfrm rot="16200000">
              <a:off x="11121812" y="1153759"/>
              <a:ext cx="988301" cy="370217"/>
              <a:chOff x="622211" y="1610917"/>
              <a:chExt cx="4967606" cy="311562"/>
            </a:xfrm>
          </p:grpSpPr>
          <p:sp>
            <p:nvSpPr>
              <p:cNvPr id="4" name="任意多边形: 形状 3">
                <a:extLst>
                  <a:ext uri="{FF2B5EF4-FFF2-40B4-BE49-F238E27FC236}">
                    <a16:creationId xmlns:a16="http://schemas.microsoft.com/office/drawing/2014/main" id="{E1CC79A1-D635-C960-716B-4CECA5D40279}"/>
                  </a:ext>
                </a:extLst>
              </p:cNvPr>
              <p:cNvSpPr/>
              <p:nvPr/>
            </p:nvSpPr>
            <p:spPr>
              <a:xfrm>
                <a:off x="622211" y="1610917"/>
                <a:ext cx="4967606" cy="254859"/>
              </a:xfrm>
              <a:custGeom>
                <a:avLst/>
                <a:gdLst>
                  <a:gd name="connsiteX0" fmla="*/ 4967607 w 4967606"/>
                  <a:gd name="connsiteY0" fmla="*/ 261884 h 546471"/>
                  <a:gd name="connsiteX1" fmla="*/ 4967607 w 4967606"/>
                  <a:gd name="connsiteY1" fmla="*/ 267428 h 546471"/>
                  <a:gd name="connsiteX2" fmla="*/ 4812378 w 4967606"/>
                  <a:gd name="connsiteY2" fmla="*/ 422657 h 546471"/>
                  <a:gd name="connsiteX3" fmla="*/ 2572110 w 4967606"/>
                  <a:gd name="connsiteY3" fmla="*/ 422657 h 546471"/>
                  <a:gd name="connsiteX4" fmla="*/ 2507959 w 4967606"/>
                  <a:gd name="connsiteY4" fmla="*/ 456713 h 546471"/>
                  <a:gd name="connsiteX5" fmla="*/ 2454368 w 4967606"/>
                  <a:gd name="connsiteY5" fmla="*/ 536175 h 546471"/>
                  <a:gd name="connsiteX6" fmla="*/ 2415825 w 4967606"/>
                  <a:gd name="connsiteY6" fmla="*/ 536175 h 546471"/>
                  <a:gd name="connsiteX7" fmla="*/ 2362234 w 4967606"/>
                  <a:gd name="connsiteY7" fmla="*/ 456713 h 546471"/>
                  <a:gd name="connsiteX8" fmla="*/ 2298083 w 4967606"/>
                  <a:gd name="connsiteY8" fmla="*/ 422657 h 546471"/>
                  <a:gd name="connsiteX9" fmla="*/ 155229 w 4967606"/>
                  <a:gd name="connsiteY9" fmla="*/ 422657 h 546471"/>
                  <a:gd name="connsiteX10" fmla="*/ 0 w 4967606"/>
                  <a:gd name="connsiteY10" fmla="*/ 267692 h 546471"/>
                  <a:gd name="connsiteX11" fmla="*/ 0 w 4967606"/>
                  <a:gd name="connsiteY11" fmla="*/ 261884 h 546471"/>
                  <a:gd name="connsiteX12" fmla="*/ 0 w 4967606"/>
                  <a:gd name="connsiteY12" fmla="*/ 0 h 546471"/>
                  <a:gd name="connsiteX13" fmla="*/ 4953615 w 4967606"/>
                  <a:gd name="connsiteY13" fmla="*/ 0 h 546471"/>
                  <a:gd name="connsiteX14" fmla="*/ 4967607 w 4967606"/>
                  <a:gd name="connsiteY14" fmla="*/ 261884 h 54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67606" h="546471">
                    <a:moveTo>
                      <a:pt x="4967607" y="261884"/>
                    </a:moveTo>
                    <a:lnTo>
                      <a:pt x="4967607" y="267428"/>
                    </a:lnTo>
                    <a:cubicBezTo>
                      <a:pt x="4967607" y="353226"/>
                      <a:pt x="4898176" y="422657"/>
                      <a:pt x="4812378" y="422657"/>
                    </a:cubicBezTo>
                    <a:lnTo>
                      <a:pt x="2572110" y="422657"/>
                    </a:lnTo>
                    <a:cubicBezTo>
                      <a:pt x="2546238" y="422657"/>
                      <a:pt x="2522215" y="435329"/>
                      <a:pt x="2507959" y="456713"/>
                    </a:cubicBezTo>
                    <a:lnTo>
                      <a:pt x="2454368" y="536175"/>
                    </a:lnTo>
                    <a:cubicBezTo>
                      <a:pt x="2445128" y="549903"/>
                      <a:pt x="2425065" y="549903"/>
                      <a:pt x="2415825" y="536175"/>
                    </a:cubicBezTo>
                    <a:lnTo>
                      <a:pt x="2362234" y="456713"/>
                    </a:lnTo>
                    <a:cubicBezTo>
                      <a:pt x="2347714" y="435329"/>
                      <a:pt x="2323690" y="422657"/>
                      <a:pt x="2298083" y="422657"/>
                    </a:cubicBezTo>
                    <a:lnTo>
                      <a:pt x="155229" y="422657"/>
                    </a:lnTo>
                    <a:cubicBezTo>
                      <a:pt x="69431" y="422657"/>
                      <a:pt x="0" y="353226"/>
                      <a:pt x="0" y="267692"/>
                    </a:cubicBezTo>
                    <a:lnTo>
                      <a:pt x="0" y="261884"/>
                    </a:lnTo>
                    <a:lnTo>
                      <a:pt x="0" y="0"/>
                    </a:lnTo>
                    <a:lnTo>
                      <a:pt x="4953615" y="0"/>
                    </a:lnTo>
                    <a:lnTo>
                      <a:pt x="4967607" y="261884"/>
                    </a:lnTo>
                    <a:close/>
                  </a:path>
                </a:pathLst>
              </a:custGeom>
              <a:gradFill>
                <a:gsLst>
                  <a:gs pos="0">
                    <a:sysClr val="window" lastClr="FFFFFF">
                      <a:alpha val="0"/>
                    </a:sysClr>
                  </a:gs>
                  <a:gs pos="93000">
                    <a:srgbClr val="F2F2F2"/>
                  </a:gs>
                </a:gsLst>
                <a:lin ang="5400000" scaled="0"/>
              </a:gradFill>
              <a:ln w="263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1965"/>
                  </a:solidFill>
                  <a:effectLst/>
                  <a:uLnTx/>
                  <a:uFillTx/>
                  <a:latin typeface="Apis For Office" panose="020B0504010101010104" pitchFamily="34" charset="0"/>
                  <a:ea typeface="微软雅黑" panose="020B0503020204020204" pitchFamily="34" charset="-122"/>
                  <a:cs typeface="+mn-cs"/>
                  <a:sym typeface="Apis For Office" panose="020B0504010101010104" pitchFamily="34" charset="0"/>
                </a:endParaRPr>
              </a:p>
            </p:txBody>
          </p:sp>
          <p:sp>
            <p:nvSpPr>
              <p:cNvPr id="5" name="任意多边形: 形状 4">
                <a:extLst>
                  <a:ext uri="{FF2B5EF4-FFF2-40B4-BE49-F238E27FC236}">
                    <a16:creationId xmlns:a16="http://schemas.microsoft.com/office/drawing/2014/main" id="{49A6713A-BDC8-7E56-D439-032A2AF7661A}"/>
                  </a:ext>
                </a:extLst>
              </p:cNvPr>
              <p:cNvSpPr/>
              <p:nvPr/>
            </p:nvSpPr>
            <p:spPr>
              <a:xfrm>
                <a:off x="874188" y="1798666"/>
                <a:ext cx="4637084" cy="123813"/>
              </a:xfrm>
              <a:custGeom>
                <a:avLst/>
                <a:gdLst>
                  <a:gd name="connsiteX0" fmla="*/ 4637085 w 4637084"/>
                  <a:gd name="connsiteY0" fmla="*/ 0 h 123813"/>
                  <a:gd name="connsiteX1" fmla="*/ 2416881 w 4637084"/>
                  <a:gd name="connsiteY1" fmla="*/ 0 h 123813"/>
                  <a:gd name="connsiteX2" fmla="*/ 2352730 w 4637084"/>
                  <a:gd name="connsiteY2" fmla="*/ 34055 h 123813"/>
                  <a:gd name="connsiteX3" fmla="*/ 2299139 w 4637084"/>
                  <a:gd name="connsiteY3" fmla="*/ 113518 h 123813"/>
                  <a:gd name="connsiteX4" fmla="*/ 2260595 w 4637084"/>
                  <a:gd name="connsiteY4" fmla="*/ 113518 h 123813"/>
                  <a:gd name="connsiteX5" fmla="*/ 2207004 w 4637084"/>
                  <a:gd name="connsiteY5" fmla="*/ 34055 h 123813"/>
                  <a:gd name="connsiteX6" fmla="*/ 2142853 w 4637084"/>
                  <a:gd name="connsiteY6" fmla="*/ 0 h 123813"/>
                  <a:gd name="connsiteX7" fmla="*/ 0 w 4637084"/>
                  <a:gd name="connsiteY7" fmla="*/ 0 h 12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7084" h="123813">
                    <a:moveTo>
                      <a:pt x="4637085" y="0"/>
                    </a:moveTo>
                    <a:lnTo>
                      <a:pt x="2416881" y="0"/>
                    </a:lnTo>
                    <a:cubicBezTo>
                      <a:pt x="2391009" y="0"/>
                      <a:pt x="2366986" y="12672"/>
                      <a:pt x="2352730" y="34055"/>
                    </a:cubicBezTo>
                    <a:lnTo>
                      <a:pt x="2299139" y="113518"/>
                    </a:lnTo>
                    <a:cubicBezTo>
                      <a:pt x="2289899" y="127246"/>
                      <a:pt x="2269835" y="127246"/>
                      <a:pt x="2260595" y="113518"/>
                    </a:cubicBezTo>
                    <a:lnTo>
                      <a:pt x="2207004" y="34055"/>
                    </a:lnTo>
                    <a:cubicBezTo>
                      <a:pt x="2192484" y="12672"/>
                      <a:pt x="2168461" y="0"/>
                      <a:pt x="2142853" y="0"/>
                    </a:cubicBezTo>
                    <a:lnTo>
                      <a:pt x="0" y="0"/>
                    </a:lnTo>
                  </a:path>
                </a:pathLst>
              </a:custGeom>
              <a:noFill/>
              <a:ln w="12700" cap="flat">
                <a:solidFill>
                  <a:srgbClr val="08312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pis For Office" panose="020B0504010101010104" pitchFamily="34" charset="0"/>
                  <a:ea typeface="微软雅黑" panose="020B0503020204020204" pitchFamily="34" charset="-122"/>
                  <a:cs typeface="+mn-cs"/>
                  <a:sym typeface="Apis For Office" panose="020B0504010101010104" pitchFamily="34" charset="0"/>
                </a:endParaRPr>
              </a:p>
            </p:txBody>
          </p:sp>
        </p:grpSp>
      </p:grpSp>
      <p:sp>
        <p:nvSpPr>
          <p:cNvPr id="7" name="文本框 6">
            <a:extLst>
              <a:ext uri="{FF2B5EF4-FFF2-40B4-BE49-F238E27FC236}">
                <a16:creationId xmlns:a16="http://schemas.microsoft.com/office/drawing/2014/main" id="{0186BC5C-A8D9-E86B-1F3A-37998726FC92}"/>
              </a:ext>
            </a:extLst>
          </p:cNvPr>
          <p:cNvSpPr txBox="1"/>
          <p:nvPr/>
        </p:nvSpPr>
        <p:spPr bwMode="gray">
          <a:xfrm>
            <a:off x="406400" y="910856"/>
            <a:ext cx="10081120" cy="523157"/>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Placebo group allowed only </a:t>
            </a:r>
            <a:r>
              <a:rPr kumimoji="0" lang="en-US" altLang="zh-CN" sz="1200" b="1" i="0" u="none" strike="noStrike" kern="1200" cap="none" spc="0" normalizeH="0" baseline="0" noProof="0">
                <a:ln>
                  <a:noFill/>
                </a:ln>
                <a:solidFill>
                  <a:srgbClr val="08312A"/>
                </a:solidFill>
                <a:effectLst/>
                <a:uLnTx/>
                <a:uFillTx/>
                <a:latin typeface="Boehringer Forward Text"/>
                <a:ea typeface="+mn-ea"/>
                <a:cs typeface="+mn-cs"/>
              </a:rPr>
              <a:t>20 mg/d steroid treatment in first 26 weeks</a:t>
            </a: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 which is often insufficient to control PG progression. This may </a:t>
            </a:r>
            <a:r>
              <a:rPr kumimoji="0" lang="en-US" altLang="zh-CN" sz="1200" b="1" i="0" u="none" strike="noStrike" kern="1200" cap="none" spc="0" normalizeH="0" baseline="0" noProof="0">
                <a:ln>
                  <a:noFill/>
                </a:ln>
                <a:solidFill>
                  <a:srgbClr val="08312A"/>
                </a:solidFill>
                <a:effectLst/>
                <a:uLnTx/>
                <a:uFillTx/>
                <a:latin typeface="Boehringer Forward Text"/>
                <a:ea typeface="+mn-ea"/>
                <a:cs typeface="+mn-cs"/>
              </a:rPr>
              <a:t>reduce</a:t>
            </a: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 </a:t>
            </a:r>
            <a:r>
              <a:rPr kumimoji="0" lang="en-US" altLang="zh-CN" sz="1200" b="1" i="0" u="none" strike="noStrike" kern="1200" cap="none" spc="0" normalizeH="0" baseline="0" noProof="0">
                <a:ln>
                  <a:noFill/>
                </a:ln>
                <a:solidFill>
                  <a:srgbClr val="08312A"/>
                </a:solidFill>
                <a:effectLst/>
                <a:uLnTx/>
                <a:uFillTx/>
                <a:latin typeface="Boehringer Forward Text"/>
                <a:ea typeface="+mn-ea"/>
                <a:cs typeface="+mn-cs"/>
              </a:rPr>
              <a:t>patient enrollment intention.</a:t>
            </a:r>
            <a:endParaRPr kumimoji="0" lang="zh-CN" altLang="en-US" sz="1200" b="1" i="0" u="none" strike="noStrike" kern="1200" cap="none" spc="0" normalizeH="0" baseline="0" noProof="0">
              <a:ln>
                <a:noFill/>
              </a:ln>
              <a:solidFill>
                <a:srgbClr val="08312A"/>
              </a:solidFill>
              <a:effectLst/>
              <a:uLnTx/>
              <a:uFillTx/>
              <a:latin typeface="Boehringer Forward Text"/>
              <a:ea typeface="+mn-ea"/>
              <a:cs typeface="+mn-cs"/>
            </a:endParaRPr>
          </a:p>
        </p:txBody>
      </p:sp>
      <p:grpSp>
        <p:nvGrpSpPr>
          <p:cNvPr id="8" name="组合 7">
            <a:extLst>
              <a:ext uri="{FF2B5EF4-FFF2-40B4-BE49-F238E27FC236}">
                <a16:creationId xmlns:a16="http://schemas.microsoft.com/office/drawing/2014/main" id="{CC9963E3-E8A3-6EEA-558A-D73CF133E3BF}"/>
              </a:ext>
            </a:extLst>
          </p:cNvPr>
          <p:cNvGrpSpPr>
            <a:grpSpLocks/>
          </p:cNvGrpSpPr>
          <p:nvPr/>
        </p:nvGrpSpPr>
        <p:grpSpPr>
          <a:xfrm>
            <a:off x="11496600" y="963974"/>
            <a:ext cx="374559" cy="374559"/>
            <a:chOff x="659396" y="1124744"/>
            <a:chExt cx="679708" cy="679708"/>
          </a:xfrm>
          <a:effectLst>
            <a:outerShdw blurRad="50800" dist="63500" dir="5400000" sx="90000" sy="-19000" rotWithShape="0">
              <a:schemeClr val="bg1">
                <a:lumMod val="50000"/>
                <a:alpha val="15000"/>
              </a:schemeClr>
            </a:outerShdw>
          </a:effectLst>
        </p:grpSpPr>
        <p:sp>
          <p:nvSpPr>
            <p:cNvPr id="9" name="椭圆 8">
              <a:extLst>
                <a:ext uri="{FF2B5EF4-FFF2-40B4-BE49-F238E27FC236}">
                  <a16:creationId xmlns:a16="http://schemas.microsoft.com/office/drawing/2014/main" id="{FEDBE96D-1586-A697-2D50-2380F002CC6A}"/>
                </a:ext>
              </a:extLst>
            </p:cNvPr>
            <p:cNvSpPr/>
            <p:nvPr/>
          </p:nvSpPr>
          <p:spPr>
            <a:xfrm>
              <a:off x="659396" y="1124744"/>
              <a:ext cx="679708" cy="679708"/>
            </a:xfrm>
            <a:prstGeom prst="ellipse">
              <a:avLst/>
            </a:prstGeom>
            <a:solidFill>
              <a:schemeClr val="bg1"/>
            </a:solidFill>
            <a:ln w="19050">
              <a:gradFill>
                <a:gsLst>
                  <a:gs pos="67829">
                    <a:schemeClr val="bg2"/>
                  </a:gs>
                  <a:gs pos="0">
                    <a:schemeClr val="accent2"/>
                  </a:gs>
                  <a:gs pos="100000">
                    <a:schemeClr val="accent2"/>
                  </a:gs>
                  <a:gs pos="45000">
                    <a:schemeClr val="bg2"/>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is For Office" panose="020B0504010101010104"/>
                <a:ea typeface="微软雅黑" panose="020B0503020204020204" pitchFamily="34" charset="-122"/>
                <a:cs typeface="+mn-cs"/>
              </a:endParaRPr>
            </a:p>
          </p:txBody>
        </p:sp>
        <p:grpSp>
          <p:nvGrpSpPr>
            <p:cNvPr id="10" name="组合 9">
              <a:extLst>
                <a:ext uri="{FF2B5EF4-FFF2-40B4-BE49-F238E27FC236}">
                  <a16:creationId xmlns:a16="http://schemas.microsoft.com/office/drawing/2014/main" id="{1AA23242-1D81-4C8A-19B6-6A48A0C0010E}"/>
                </a:ext>
              </a:extLst>
            </p:cNvPr>
            <p:cNvGrpSpPr/>
            <p:nvPr/>
          </p:nvGrpSpPr>
          <p:grpSpPr>
            <a:xfrm>
              <a:off x="836547" y="1224524"/>
              <a:ext cx="325406" cy="480148"/>
              <a:chOff x="7246339" y="1888026"/>
              <a:chExt cx="353361" cy="521396"/>
            </a:xfrm>
            <a:solidFill>
              <a:schemeClr val="bg2"/>
            </a:solidFill>
          </p:grpSpPr>
          <p:sp>
            <p:nvSpPr>
              <p:cNvPr id="11" name="Freeform 34">
                <a:extLst>
                  <a:ext uri="{FF2B5EF4-FFF2-40B4-BE49-F238E27FC236}">
                    <a16:creationId xmlns:a16="http://schemas.microsoft.com/office/drawing/2014/main" id="{F80CB2C9-45F6-8670-F8B7-79389A66A5AF}"/>
                  </a:ext>
                </a:extLst>
              </p:cNvPr>
              <p:cNvSpPr/>
              <p:nvPr/>
            </p:nvSpPr>
            <p:spPr bwMode="auto">
              <a:xfrm>
                <a:off x="7449273" y="2159152"/>
                <a:ext cx="113529" cy="126526"/>
              </a:xfrm>
              <a:custGeom>
                <a:avLst/>
                <a:gdLst>
                  <a:gd name="T0" fmla="*/ 6 w 45"/>
                  <a:gd name="T1" fmla="*/ 32 h 51"/>
                  <a:gd name="T2" fmla="*/ 16 w 45"/>
                  <a:gd name="T3" fmla="*/ 32 h 51"/>
                  <a:gd name="T4" fmla="*/ 16 w 45"/>
                  <a:gd name="T5" fmla="*/ 45 h 51"/>
                  <a:gd name="T6" fmla="*/ 23 w 45"/>
                  <a:gd name="T7" fmla="*/ 51 h 51"/>
                  <a:gd name="T8" fmla="*/ 29 w 45"/>
                  <a:gd name="T9" fmla="*/ 45 h 51"/>
                  <a:gd name="T10" fmla="*/ 29 w 45"/>
                  <a:gd name="T11" fmla="*/ 32 h 51"/>
                  <a:gd name="T12" fmla="*/ 39 w 45"/>
                  <a:gd name="T13" fmla="*/ 32 h 51"/>
                  <a:gd name="T14" fmla="*/ 45 w 45"/>
                  <a:gd name="T15" fmla="*/ 26 h 51"/>
                  <a:gd name="T16" fmla="*/ 39 w 45"/>
                  <a:gd name="T17" fmla="*/ 19 h 51"/>
                  <a:gd name="T18" fmla="*/ 29 w 45"/>
                  <a:gd name="T19" fmla="*/ 19 h 51"/>
                  <a:gd name="T20" fmla="*/ 29 w 45"/>
                  <a:gd name="T21" fmla="*/ 6 h 51"/>
                  <a:gd name="T22" fmla="*/ 23 w 45"/>
                  <a:gd name="T23" fmla="*/ 0 h 51"/>
                  <a:gd name="T24" fmla="*/ 16 w 45"/>
                  <a:gd name="T25" fmla="*/ 6 h 51"/>
                  <a:gd name="T26" fmla="*/ 16 w 45"/>
                  <a:gd name="T27" fmla="*/ 19 h 51"/>
                  <a:gd name="T28" fmla="*/ 6 w 45"/>
                  <a:gd name="T29" fmla="*/ 19 h 51"/>
                  <a:gd name="T30" fmla="*/ 0 w 45"/>
                  <a:gd name="T31" fmla="*/ 26 h 51"/>
                  <a:gd name="T32" fmla="*/ 6 w 45"/>
                  <a:gd name="T33" fmla="*/ 3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5" h="51">
                    <a:moveTo>
                      <a:pt x="6" y="32"/>
                    </a:moveTo>
                    <a:cubicBezTo>
                      <a:pt x="16" y="32"/>
                      <a:pt x="16" y="32"/>
                      <a:pt x="16" y="32"/>
                    </a:cubicBezTo>
                    <a:cubicBezTo>
                      <a:pt x="16" y="45"/>
                      <a:pt x="16" y="45"/>
                      <a:pt x="16" y="45"/>
                    </a:cubicBezTo>
                    <a:cubicBezTo>
                      <a:pt x="16" y="49"/>
                      <a:pt x="19" y="51"/>
                      <a:pt x="23" y="51"/>
                    </a:cubicBezTo>
                    <a:cubicBezTo>
                      <a:pt x="26" y="51"/>
                      <a:pt x="29" y="49"/>
                      <a:pt x="29" y="45"/>
                    </a:cubicBezTo>
                    <a:cubicBezTo>
                      <a:pt x="29" y="32"/>
                      <a:pt x="29" y="32"/>
                      <a:pt x="29" y="32"/>
                    </a:cubicBezTo>
                    <a:cubicBezTo>
                      <a:pt x="39" y="32"/>
                      <a:pt x="39" y="32"/>
                      <a:pt x="39" y="32"/>
                    </a:cubicBezTo>
                    <a:cubicBezTo>
                      <a:pt x="43" y="32"/>
                      <a:pt x="45" y="29"/>
                      <a:pt x="45" y="26"/>
                    </a:cubicBezTo>
                    <a:cubicBezTo>
                      <a:pt x="45" y="22"/>
                      <a:pt x="43" y="19"/>
                      <a:pt x="39" y="19"/>
                    </a:cubicBezTo>
                    <a:cubicBezTo>
                      <a:pt x="29" y="19"/>
                      <a:pt x="29" y="19"/>
                      <a:pt x="29" y="19"/>
                    </a:cubicBezTo>
                    <a:cubicBezTo>
                      <a:pt x="29" y="6"/>
                      <a:pt x="29" y="6"/>
                      <a:pt x="29" y="6"/>
                    </a:cubicBezTo>
                    <a:cubicBezTo>
                      <a:pt x="29" y="3"/>
                      <a:pt x="26" y="0"/>
                      <a:pt x="23" y="0"/>
                    </a:cubicBezTo>
                    <a:cubicBezTo>
                      <a:pt x="19" y="0"/>
                      <a:pt x="16" y="3"/>
                      <a:pt x="16" y="6"/>
                    </a:cubicBezTo>
                    <a:cubicBezTo>
                      <a:pt x="16" y="19"/>
                      <a:pt x="16" y="19"/>
                      <a:pt x="16" y="19"/>
                    </a:cubicBezTo>
                    <a:cubicBezTo>
                      <a:pt x="6" y="19"/>
                      <a:pt x="6" y="19"/>
                      <a:pt x="6" y="19"/>
                    </a:cubicBezTo>
                    <a:cubicBezTo>
                      <a:pt x="3" y="19"/>
                      <a:pt x="0" y="22"/>
                      <a:pt x="0" y="26"/>
                    </a:cubicBezTo>
                    <a:cubicBezTo>
                      <a:pt x="0" y="29"/>
                      <a:pt x="3" y="32"/>
                      <a:pt x="6"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2" name="Freeform 35">
                <a:extLst>
                  <a:ext uri="{FF2B5EF4-FFF2-40B4-BE49-F238E27FC236}">
                    <a16:creationId xmlns:a16="http://schemas.microsoft.com/office/drawing/2014/main" id="{71ABC0CA-4C08-AE7F-7ECB-5630C7BD36B7}"/>
                  </a:ext>
                </a:extLst>
              </p:cNvPr>
              <p:cNvSpPr>
                <a:spLocks noEditPoints="1"/>
              </p:cNvSpPr>
              <p:nvPr/>
            </p:nvSpPr>
            <p:spPr bwMode="auto">
              <a:xfrm>
                <a:off x="7246339" y="1888026"/>
                <a:ext cx="353361" cy="521396"/>
              </a:xfrm>
              <a:custGeom>
                <a:avLst/>
                <a:gdLst>
                  <a:gd name="T0" fmla="*/ 106 w 140"/>
                  <a:gd name="T1" fmla="*/ 48 h 211"/>
                  <a:gd name="T2" fmla="*/ 118 w 140"/>
                  <a:gd name="T3" fmla="*/ 42 h 211"/>
                  <a:gd name="T4" fmla="*/ 111 w 140"/>
                  <a:gd name="T5" fmla="*/ 0 h 211"/>
                  <a:gd name="T6" fmla="*/ 22 w 140"/>
                  <a:gd name="T7" fmla="*/ 6 h 211"/>
                  <a:gd name="T8" fmla="*/ 28 w 140"/>
                  <a:gd name="T9" fmla="*/ 48 h 211"/>
                  <a:gd name="T10" fmla="*/ 34 w 140"/>
                  <a:gd name="T11" fmla="*/ 56 h 211"/>
                  <a:gd name="T12" fmla="*/ 0 w 140"/>
                  <a:gd name="T13" fmla="*/ 174 h 211"/>
                  <a:gd name="T14" fmla="*/ 103 w 140"/>
                  <a:gd name="T15" fmla="*/ 211 h 211"/>
                  <a:gd name="T16" fmla="*/ 140 w 140"/>
                  <a:gd name="T17" fmla="*/ 94 h 211"/>
                  <a:gd name="T18" fmla="*/ 127 w 140"/>
                  <a:gd name="T19" fmla="*/ 172 h 211"/>
                  <a:gd name="T20" fmla="*/ 64 w 140"/>
                  <a:gd name="T21" fmla="*/ 99 h 211"/>
                  <a:gd name="T22" fmla="*/ 127 w 140"/>
                  <a:gd name="T23" fmla="*/ 172 h 211"/>
                  <a:gd name="T24" fmla="*/ 48 w 140"/>
                  <a:gd name="T25" fmla="*/ 12 h 211"/>
                  <a:gd name="T26" fmla="*/ 54 w 140"/>
                  <a:gd name="T27" fmla="*/ 36 h 211"/>
                  <a:gd name="T28" fmla="*/ 60 w 140"/>
                  <a:gd name="T29" fmla="*/ 12 h 211"/>
                  <a:gd name="T30" fmla="*/ 67 w 140"/>
                  <a:gd name="T31" fmla="*/ 36 h 211"/>
                  <a:gd name="T32" fmla="*/ 60 w 140"/>
                  <a:gd name="T33" fmla="*/ 12 h 211"/>
                  <a:gd name="T34" fmla="*/ 79 w 140"/>
                  <a:gd name="T35" fmla="*/ 12 h 211"/>
                  <a:gd name="T36" fmla="*/ 73 w 140"/>
                  <a:gd name="T37" fmla="*/ 36 h 211"/>
                  <a:gd name="T38" fmla="*/ 86 w 140"/>
                  <a:gd name="T39" fmla="*/ 12 h 211"/>
                  <a:gd name="T40" fmla="*/ 92 w 140"/>
                  <a:gd name="T41" fmla="*/ 36 h 211"/>
                  <a:gd name="T42" fmla="*/ 86 w 140"/>
                  <a:gd name="T43" fmla="*/ 12 h 211"/>
                  <a:gd name="T44" fmla="*/ 100 w 140"/>
                  <a:gd name="T45" fmla="*/ 36 h 211"/>
                  <a:gd name="T46" fmla="*/ 98 w 140"/>
                  <a:gd name="T47" fmla="*/ 12 h 211"/>
                  <a:gd name="T48" fmla="*/ 105 w 140"/>
                  <a:gd name="T49" fmla="*/ 36 h 211"/>
                  <a:gd name="T50" fmla="*/ 42 w 140"/>
                  <a:gd name="T51" fmla="*/ 12 h 211"/>
                  <a:gd name="T52" fmla="*/ 40 w 140"/>
                  <a:gd name="T53" fmla="*/ 36 h 211"/>
                  <a:gd name="T54" fmla="*/ 35 w 140"/>
                  <a:gd name="T55" fmla="*/ 12 h 211"/>
                  <a:gd name="T56" fmla="*/ 37 w 140"/>
                  <a:gd name="T57" fmla="*/ 199 h 211"/>
                  <a:gd name="T58" fmla="*/ 12 w 140"/>
                  <a:gd name="T59" fmla="*/ 94 h 211"/>
                  <a:gd name="T60" fmla="*/ 40 w 140"/>
                  <a:gd name="T61" fmla="*/ 69 h 211"/>
                  <a:gd name="T62" fmla="*/ 46 w 140"/>
                  <a:gd name="T63" fmla="*/ 48 h 211"/>
                  <a:gd name="T64" fmla="*/ 93 w 140"/>
                  <a:gd name="T65" fmla="*/ 63 h 211"/>
                  <a:gd name="T66" fmla="*/ 103 w 140"/>
                  <a:gd name="T67" fmla="*/ 69 h 211"/>
                  <a:gd name="T68" fmla="*/ 61 w 140"/>
                  <a:gd name="T69" fmla="*/ 93 h 211"/>
                  <a:gd name="T70" fmla="*/ 58 w 140"/>
                  <a:gd name="T71" fmla="*/ 175 h 211"/>
                  <a:gd name="T72" fmla="*/ 127 w 140"/>
                  <a:gd name="T73" fmla="*/ 17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0" h="211">
                    <a:moveTo>
                      <a:pt x="106" y="56"/>
                    </a:moveTo>
                    <a:cubicBezTo>
                      <a:pt x="106" y="48"/>
                      <a:pt x="106" y="48"/>
                      <a:pt x="106" y="48"/>
                    </a:cubicBezTo>
                    <a:cubicBezTo>
                      <a:pt x="111" y="48"/>
                      <a:pt x="111" y="48"/>
                      <a:pt x="111" y="48"/>
                    </a:cubicBezTo>
                    <a:cubicBezTo>
                      <a:pt x="115" y="48"/>
                      <a:pt x="118" y="45"/>
                      <a:pt x="118" y="42"/>
                    </a:cubicBezTo>
                    <a:cubicBezTo>
                      <a:pt x="118" y="6"/>
                      <a:pt x="118" y="6"/>
                      <a:pt x="118" y="6"/>
                    </a:cubicBezTo>
                    <a:cubicBezTo>
                      <a:pt x="118" y="3"/>
                      <a:pt x="115" y="0"/>
                      <a:pt x="111" y="0"/>
                    </a:cubicBezTo>
                    <a:cubicBezTo>
                      <a:pt x="28" y="0"/>
                      <a:pt x="28" y="0"/>
                      <a:pt x="28" y="0"/>
                    </a:cubicBezTo>
                    <a:cubicBezTo>
                      <a:pt x="25" y="0"/>
                      <a:pt x="22" y="3"/>
                      <a:pt x="22" y="6"/>
                    </a:cubicBezTo>
                    <a:cubicBezTo>
                      <a:pt x="22" y="42"/>
                      <a:pt x="22" y="42"/>
                      <a:pt x="22" y="42"/>
                    </a:cubicBezTo>
                    <a:cubicBezTo>
                      <a:pt x="22" y="45"/>
                      <a:pt x="25" y="48"/>
                      <a:pt x="28" y="48"/>
                    </a:cubicBezTo>
                    <a:cubicBezTo>
                      <a:pt x="34" y="48"/>
                      <a:pt x="34" y="48"/>
                      <a:pt x="34" y="48"/>
                    </a:cubicBezTo>
                    <a:cubicBezTo>
                      <a:pt x="34" y="56"/>
                      <a:pt x="34" y="56"/>
                      <a:pt x="34" y="56"/>
                    </a:cubicBezTo>
                    <a:cubicBezTo>
                      <a:pt x="15" y="58"/>
                      <a:pt x="0" y="74"/>
                      <a:pt x="0" y="94"/>
                    </a:cubicBezTo>
                    <a:cubicBezTo>
                      <a:pt x="0" y="174"/>
                      <a:pt x="0" y="174"/>
                      <a:pt x="0" y="174"/>
                    </a:cubicBezTo>
                    <a:cubicBezTo>
                      <a:pt x="0" y="195"/>
                      <a:pt x="17" y="211"/>
                      <a:pt x="37" y="211"/>
                    </a:cubicBezTo>
                    <a:cubicBezTo>
                      <a:pt x="103" y="211"/>
                      <a:pt x="103" y="211"/>
                      <a:pt x="103" y="211"/>
                    </a:cubicBezTo>
                    <a:cubicBezTo>
                      <a:pt x="123" y="211"/>
                      <a:pt x="140" y="195"/>
                      <a:pt x="140" y="174"/>
                    </a:cubicBezTo>
                    <a:cubicBezTo>
                      <a:pt x="140" y="94"/>
                      <a:pt x="140" y="94"/>
                      <a:pt x="140" y="94"/>
                    </a:cubicBezTo>
                    <a:cubicBezTo>
                      <a:pt x="140" y="74"/>
                      <a:pt x="125" y="58"/>
                      <a:pt x="106" y="56"/>
                    </a:cubicBezTo>
                    <a:close/>
                    <a:moveTo>
                      <a:pt x="127" y="172"/>
                    </a:moveTo>
                    <a:cubicBezTo>
                      <a:pt x="64" y="172"/>
                      <a:pt x="64" y="172"/>
                      <a:pt x="64" y="172"/>
                    </a:cubicBezTo>
                    <a:cubicBezTo>
                      <a:pt x="64" y="99"/>
                      <a:pt x="64" y="99"/>
                      <a:pt x="64" y="99"/>
                    </a:cubicBezTo>
                    <a:cubicBezTo>
                      <a:pt x="127" y="99"/>
                      <a:pt x="127" y="99"/>
                      <a:pt x="127" y="99"/>
                    </a:cubicBezTo>
                    <a:lnTo>
                      <a:pt x="127" y="172"/>
                    </a:lnTo>
                    <a:close/>
                    <a:moveTo>
                      <a:pt x="48" y="36"/>
                    </a:moveTo>
                    <a:cubicBezTo>
                      <a:pt x="48" y="12"/>
                      <a:pt x="48" y="12"/>
                      <a:pt x="48" y="12"/>
                    </a:cubicBezTo>
                    <a:cubicBezTo>
                      <a:pt x="54" y="12"/>
                      <a:pt x="54" y="12"/>
                      <a:pt x="54" y="12"/>
                    </a:cubicBezTo>
                    <a:cubicBezTo>
                      <a:pt x="54" y="36"/>
                      <a:pt x="54" y="36"/>
                      <a:pt x="54" y="36"/>
                    </a:cubicBezTo>
                    <a:lnTo>
                      <a:pt x="48" y="36"/>
                    </a:lnTo>
                    <a:close/>
                    <a:moveTo>
                      <a:pt x="60" y="12"/>
                    </a:moveTo>
                    <a:cubicBezTo>
                      <a:pt x="67" y="12"/>
                      <a:pt x="67" y="12"/>
                      <a:pt x="67" y="12"/>
                    </a:cubicBezTo>
                    <a:cubicBezTo>
                      <a:pt x="67" y="36"/>
                      <a:pt x="67" y="36"/>
                      <a:pt x="67" y="36"/>
                    </a:cubicBezTo>
                    <a:cubicBezTo>
                      <a:pt x="60" y="36"/>
                      <a:pt x="60" y="36"/>
                      <a:pt x="60" y="36"/>
                    </a:cubicBezTo>
                    <a:lnTo>
                      <a:pt x="60" y="12"/>
                    </a:lnTo>
                    <a:close/>
                    <a:moveTo>
                      <a:pt x="73" y="12"/>
                    </a:moveTo>
                    <a:cubicBezTo>
                      <a:pt x="79" y="12"/>
                      <a:pt x="79" y="12"/>
                      <a:pt x="79" y="12"/>
                    </a:cubicBezTo>
                    <a:cubicBezTo>
                      <a:pt x="79" y="36"/>
                      <a:pt x="79" y="36"/>
                      <a:pt x="79" y="36"/>
                    </a:cubicBezTo>
                    <a:cubicBezTo>
                      <a:pt x="73" y="36"/>
                      <a:pt x="73" y="36"/>
                      <a:pt x="73" y="36"/>
                    </a:cubicBezTo>
                    <a:lnTo>
                      <a:pt x="73" y="12"/>
                    </a:lnTo>
                    <a:close/>
                    <a:moveTo>
                      <a:pt x="86" y="12"/>
                    </a:moveTo>
                    <a:cubicBezTo>
                      <a:pt x="92" y="12"/>
                      <a:pt x="92" y="12"/>
                      <a:pt x="92" y="12"/>
                    </a:cubicBezTo>
                    <a:cubicBezTo>
                      <a:pt x="92" y="36"/>
                      <a:pt x="92" y="36"/>
                      <a:pt x="92" y="36"/>
                    </a:cubicBezTo>
                    <a:cubicBezTo>
                      <a:pt x="86" y="36"/>
                      <a:pt x="86" y="36"/>
                      <a:pt x="86" y="36"/>
                    </a:cubicBezTo>
                    <a:lnTo>
                      <a:pt x="86" y="12"/>
                    </a:lnTo>
                    <a:close/>
                    <a:moveTo>
                      <a:pt x="105" y="36"/>
                    </a:moveTo>
                    <a:cubicBezTo>
                      <a:pt x="100" y="36"/>
                      <a:pt x="100" y="36"/>
                      <a:pt x="100" y="36"/>
                    </a:cubicBezTo>
                    <a:cubicBezTo>
                      <a:pt x="98" y="36"/>
                      <a:pt x="98" y="36"/>
                      <a:pt x="98" y="36"/>
                    </a:cubicBezTo>
                    <a:cubicBezTo>
                      <a:pt x="98" y="12"/>
                      <a:pt x="98" y="12"/>
                      <a:pt x="98" y="12"/>
                    </a:cubicBezTo>
                    <a:cubicBezTo>
                      <a:pt x="105" y="12"/>
                      <a:pt x="105" y="12"/>
                      <a:pt x="105" y="12"/>
                    </a:cubicBezTo>
                    <a:lnTo>
                      <a:pt x="105" y="36"/>
                    </a:lnTo>
                    <a:close/>
                    <a:moveTo>
                      <a:pt x="35" y="12"/>
                    </a:moveTo>
                    <a:cubicBezTo>
                      <a:pt x="42" y="12"/>
                      <a:pt x="42" y="12"/>
                      <a:pt x="42" y="12"/>
                    </a:cubicBezTo>
                    <a:cubicBezTo>
                      <a:pt x="42" y="36"/>
                      <a:pt x="42" y="36"/>
                      <a:pt x="42" y="36"/>
                    </a:cubicBezTo>
                    <a:cubicBezTo>
                      <a:pt x="40" y="36"/>
                      <a:pt x="40" y="36"/>
                      <a:pt x="40" y="36"/>
                    </a:cubicBezTo>
                    <a:cubicBezTo>
                      <a:pt x="35" y="36"/>
                      <a:pt x="35" y="36"/>
                      <a:pt x="35" y="36"/>
                    </a:cubicBezTo>
                    <a:lnTo>
                      <a:pt x="35" y="12"/>
                    </a:lnTo>
                    <a:close/>
                    <a:moveTo>
                      <a:pt x="103" y="199"/>
                    </a:moveTo>
                    <a:cubicBezTo>
                      <a:pt x="37" y="199"/>
                      <a:pt x="37" y="199"/>
                      <a:pt x="37" y="199"/>
                    </a:cubicBezTo>
                    <a:cubicBezTo>
                      <a:pt x="24" y="199"/>
                      <a:pt x="12" y="188"/>
                      <a:pt x="12" y="174"/>
                    </a:cubicBezTo>
                    <a:cubicBezTo>
                      <a:pt x="12" y="94"/>
                      <a:pt x="12" y="94"/>
                      <a:pt x="12" y="94"/>
                    </a:cubicBezTo>
                    <a:cubicBezTo>
                      <a:pt x="12" y="80"/>
                      <a:pt x="24" y="69"/>
                      <a:pt x="37" y="69"/>
                    </a:cubicBezTo>
                    <a:cubicBezTo>
                      <a:pt x="40" y="69"/>
                      <a:pt x="40" y="69"/>
                      <a:pt x="40" y="69"/>
                    </a:cubicBezTo>
                    <a:cubicBezTo>
                      <a:pt x="44" y="69"/>
                      <a:pt x="46" y="66"/>
                      <a:pt x="46" y="63"/>
                    </a:cubicBezTo>
                    <a:cubicBezTo>
                      <a:pt x="46" y="48"/>
                      <a:pt x="46" y="48"/>
                      <a:pt x="46" y="48"/>
                    </a:cubicBezTo>
                    <a:cubicBezTo>
                      <a:pt x="93" y="48"/>
                      <a:pt x="93" y="48"/>
                      <a:pt x="93" y="48"/>
                    </a:cubicBezTo>
                    <a:cubicBezTo>
                      <a:pt x="93" y="63"/>
                      <a:pt x="93" y="63"/>
                      <a:pt x="93" y="63"/>
                    </a:cubicBezTo>
                    <a:cubicBezTo>
                      <a:pt x="93" y="66"/>
                      <a:pt x="96" y="69"/>
                      <a:pt x="100" y="69"/>
                    </a:cubicBezTo>
                    <a:cubicBezTo>
                      <a:pt x="103" y="69"/>
                      <a:pt x="103" y="69"/>
                      <a:pt x="103" y="69"/>
                    </a:cubicBezTo>
                    <a:cubicBezTo>
                      <a:pt x="116" y="69"/>
                      <a:pt x="127" y="79"/>
                      <a:pt x="127" y="93"/>
                    </a:cubicBezTo>
                    <a:cubicBezTo>
                      <a:pt x="61" y="93"/>
                      <a:pt x="61" y="93"/>
                      <a:pt x="61" y="93"/>
                    </a:cubicBezTo>
                    <a:cubicBezTo>
                      <a:pt x="59" y="93"/>
                      <a:pt x="58" y="94"/>
                      <a:pt x="58" y="96"/>
                    </a:cubicBezTo>
                    <a:cubicBezTo>
                      <a:pt x="58" y="175"/>
                      <a:pt x="58" y="175"/>
                      <a:pt x="58" y="175"/>
                    </a:cubicBezTo>
                    <a:cubicBezTo>
                      <a:pt x="58" y="177"/>
                      <a:pt x="59" y="179"/>
                      <a:pt x="61" y="179"/>
                    </a:cubicBezTo>
                    <a:cubicBezTo>
                      <a:pt x="127" y="179"/>
                      <a:pt x="127" y="179"/>
                      <a:pt x="127" y="179"/>
                    </a:cubicBezTo>
                    <a:cubicBezTo>
                      <a:pt x="125" y="190"/>
                      <a:pt x="115" y="199"/>
                      <a:pt x="103" y="1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grpSp>
        <p:nvGrpSpPr>
          <p:cNvPr id="17" name="组合 16">
            <a:extLst>
              <a:ext uri="{FF2B5EF4-FFF2-40B4-BE49-F238E27FC236}">
                <a16:creationId xmlns:a16="http://schemas.microsoft.com/office/drawing/2014/main" id="{7300D15F-0043-D01A-6067-713AD85B885A}"/>
              </a:ext>
            </a:extLst>
          </p:cNvPr>
          <p:cNvGrpSpPr/>
          <p:nvPr/>
        </p:nvGrpSpPr>
        <p:grpSpPr>
          <a:xfrm rot="10800000">
            <a:off x="910328" y="1614543"/>
            <a:ext cx="10873683" cy="1116125"/>
            <a:chOff x="-636280" y="4577344"/>
            <a:chExt cx="10873683" cy="1072702"/>
          </a:xfrm>
        </p:grpSpPr>
        <p:sp>
          <p:nvSpPr>
            <p:cNvPr id="13" name="矩形 12">
              <a:extLst>
                <a:ext uri="{FF2B5EF4-FFF2-40B4-BE49-F238E27FC236}">
                  <a16:creationId xmlns:a16="http://schemas.microsoft.com/office/drawing/2014/main" id="{91D727EE-0D38-0A0A-6DC3-EC123A56D8D2}"/>
                </a:ext>
              </a:extLst>
            </p:cNvPr>
            <p:cNvSpPr/>
            <p:nvPr/>
          </p:nvSpPr>
          <p:spPr>
            <a:xfrm>
              <a:off x="-636280" y="4577344"/>
              <a:ext cx="10652305" cy="1072702"/>
            </a:xfrm>
            <a:prstGeom prst="rect">
              <a:avLst/>
            </a:prstGeom>
            <a:solidFill>
              <a:srgbClr val="E0E1F6">
                <a:alpha val="4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14" name="组合 13">
              <a:extLst>
                <a:ext uri="{FF2B5EF4-FFF2-40B4-BE49-F238E27FC236}">
                  <a16:creationId xmlns:a16="http://schemas.microsoft.com/office/drawing/2014/main" id="{9BEA93E1-EC7F-8D8F-5179-D0028A204F98}"/>
                </a:ext>
              </a:extLst>
            </p:cNvPr>
            <p:cNvGrpSpPr/>
            <p:nvPr/>
          </p:nvGrpSpPr>
          <p:grpSpPr>
            <a:xfrm rot="16200000">
              <a:off x="9558144" y="4927187"/>
              <a:ext cx="988301" cy="370217"/>
              <a:chOff x="622211" y="1610917"/>
              <a:chExt cx="4967606" cy="311562"/>
            </a:xfrm>
          </p:grpSpPr>
          <p:sp>
            <p:nvSpPr>
              <p:cNvPr id="15" name="任意多边形: 形状 14">
                <a:extLst>
                  <a:ext uri="{FF2B5EF4-FFF2-40B4-BE49-F238E27FC236}">
                    <a16:creationId xmlns:a16="http://schemas.microsoft.com/office/drawing/2014/main" id="{9D4EDF29-7C23-733B-7483-C6FCAC938EF9}"/>
                  </a:ext>
                </a:extLst>
              </p:cNvPr>
              <p:cNvSpPr/>
              <p:nvPr/>
            </p:nvSpPr>
            <p:spPr>
              <a:xfrm>
                <a:off x="622211" y="1610917"/>
                <a:ext cx="4967606" cy="254859"/>
              </a:xfrm>
              <a:custGeom>
                <a:avLst/>
                <a:gdLst>
                  <a:gd name="connsiteX0" fmla="*/ 4967607 w 4967606"/>
                  <a:gd name="connsiteY0" fmla="*/ 261884 h 546471"/>
                  <a:gd name="connsiteX1" fmla="*/ 4967607 w 4967606"/>
                  <a:gd name="connsiteY1" fmla="*/ 267428 h 546471"/>
                  <a:gd name="connsiteX2" fmla="*/ 4812378 w 4967606"/>
                  <a:gd name="connsiteY2" fmla="*/ 422657 h 546471"/>
                  <a:gd name="connsiteX3" fmla="*/ 2572110 w 4967606"/>
                  <a:gd name="connsiteY3" fmla="*/ 422657 h 546471"/>
                  <a:gd name="connsiteX4" fmla="*/ 2507959 w 4967606"/>
                  <a:gd name="connsiteY4" fmla="*/ 456713 h 546471"/>
                  <a:gd name="connsiteX5" fmla="*/ 2454368 w 4967606"/>
                  <a:gd name="connsiteY5" fmla="*/ 536175 h 546471"/>
                  <a:gd name="connsiteX6" fmla="*/ 2415825 w 4967606"/>
                  <a:gd name="connsiteY6" fmla="*/ 536175 h 546471"/>
                  <a:gd name="connsiteX7" fmla="*/ 2362234 w 4967606"/>
                  <a:gd name="connsiteY7" fmla="*/ 456713 h 546471"/>
                  <a:gd name="connsiteX8" fmla="*/ 2298083 w 4967606"/>
                  <a:gd name="connsiteY8" fmla="*/ 422657 h 546471"/>
                  <a:gd name="connsiteX9" fmla="*/ 155229 w 4967606"/>
                  <a:gd name="connsiteY9" fmla="*/ 422657 h 546471"/>
                  <a:gd name="connsiteX10" fmla="*/ 0 w 4967606"/>
                  <a:gd name="connsiteY10" fmla="*/ 267692 h 546471"/>
                  <a:gd name="connsiteX11" fmla="*/ 0 w 4967606"/>
                  <a:gd name="connsiteY11" fmla="*/ 261884 h 546471"/>
                  <a:gd name="connsiteX12" fmla="*/ 0 w 4967606"/>
                  <a:gd name="connsiteY12" fmla="*/ 0 h 546471"/>
                  <a:gd name="connsiteX13" fmla="*/ 4953615 w 4967606"/>
                  <a:gd name="connsiteY13" fmla="*/ 0 h 546471"/>
                  <a:gd name="connsiteX14" fmla="*/ 4967607 w 4967606"/>
                  <a:gd name="connsiteY14" fmla="*/ 261884 h 54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67606" h="546471">
                    <a:moveTo>
                      <a:pt x="4967607" y="261884"/>
                    </a:moveTo>
                    <a:lnTo>
                      <a:pt x="4967607" y="267428"/>
                    </a:lnTo>
                    <a:cubicBezTo>
                      <a:pt x="4967607" y="353226"/>
                      <a:pt x="4898176" y="422657"/>
                      <a:pt x="4812378" y="422657"/>
                    </a:cubicBezTo>
                    <a:lnTo>
                      <a:pt x="2572110" y="422657"/>
                    </a:lnTo>
                    <a:cubicBezTo>
                      <a:pt x="2546238" y="422657"/>
                      <a:pt x="2522215" y="435329"/>
                      <a:pt x="2507959" y="456713"/>
                    </a:cubicBezTo>
                    <a:lnTo>
                      <a:pt x="2454368" y="536175"/>
                    </a:lnTo>
                    <a:cubicBezTo>
                      <a:pt x="2445128" y="549903"/>
                      <a:pt x="2425065" y="549903"/>
                      <a:pt x="2415825" y="536175"/>
                    </a:cubicBezTo>
                    <a:lnTo>
                      <a:pt x="2362234" y="456713"/>
                    </a:lnTo>
                    <a:cubicBezTo>
                      <a:pt x="2347714" y="435329"/>
                      <a:pt x="2323690" y="422657"/>
                      <a:pt x="2298083" y="422657"/>
                    </a:cubicBezTo>
                    <a:lnTo>
                      <a:pt x="155229" y="422657"/>
                    </a:lnTo>
                    <a:cubicBezTo>
                      <a:pt x="69431" y="422657"/>
                      <a:pt x="0" y="353226"/>
                      <a:pt x="0" y="267692"/>
                    </a:cubicBezTo>
                    <a:lnTo>
                      <a:pt x="0" y="261884"/>
                    </a:lnTo>
                    <a:lnTo>
                      <a:pt x="0" y="0"/>
                    </a:lnTo>
                    <a:lnTo>
                      <a:pt x="4953615" y="0"/>
                    </a:lnTo>
                    <a:lnTo>
                      <a:pt x="4967607" y="261884"/>
                    </a:lnTo>
                    <a:close/>
                  </a:path>
                </a:pathLst>
              </a:custGeom>
              <a:gradFill>
                <a:gsLst>
                  <a:gs pos="0">
                    <a:sysClr val="window" lastClr="FFFFFF">
                      <a:alpha val="0"/>
                    </a:sysClr>
                  </a:gs>
                  <a:gs pos="93000">
                    <a:srgbClr val="F2F2F2"/>
                  </a:gs>
                </a:gsLst>
                <a:lin ang="5400000" scaled="0"/>
              </a:gradFill>
              <a:ln w="263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1965"/>
                  </a:solidFill>
                  <a:effectLst/>
                  <a:uLnTx/>
                  <a:uFillTx/>
                  <a:latin typeface="Apis For Office" panose="020B0504010101010104" pitchFamily="34" charset="0"/>
                  <a:ea typeface="微软雅黑" panose="020B0503020204020204" pitchFamily="34" charset="-122"/>
                  <a:cs typeface="+mn-cs"/>
                  <a:sym typeface="Apis For Office" panose="020B0504010101010104" pitchFamily="34" charset="0"/>
                </a:endParaRPr>
              </a:p>
            </p:txBody>
          </p:sp>
          <p:sp>
            <p:nvSpPr>
              <p:cNvPr id="16" name="任意多边形: 形状 15">
                <a:extLst>
                  <a:ext uri="{FF2B5EF4-FFF2-40B4-BE49-F238E27FC236}">
                    <a16:creationId xmlns:a16="http://schemas.microsoft.com/office/drawing/2014/main" id="{69FB4FAE-C1E4-6DDA-489C-D2339DF6361F}"/>
                  </a:ext>
                </a:extLst>
              </p:cNvPr>
              <p:cNvSpPr/>
              <p:nvPr/>
            </p:nvSpPr>
            <p:spPr>
              <a:xfrm>
                <a:off x="874188" y="1798666"/>
                <a:ext cx="4637084" cy="123813"/>
              </a:xfrm>
              <a:custGeom>
                <a:avLst/>
                <a:gdLst>
                  <a:gd name="connsiteX0" fmla="*/ 4637085 w 4637084"/>
                  <a:gd name="connsiteY0" fmla="*/ 0 h 123813"/>
                  <a:gd name="connsiteX1" fmla="*/ 2416881 w 4637084"/>
                  <a:gd name="connsiteY1" fmla="*/ 0 h 123813"/>
                  <a:gd name="connsiteX2" fmla="*/ 2352730 w 4637084"/>
                  <a:gd name="connsiteY2" fmla="*/ 34055 h 123813"/>
                  <a:gd name="connsiteX3" fmla="*/ 2299139 w 4637084"/>
                  <a:gd name="connsiteY3" fmla="*/ 113518 h 123813"/>
                  <a:gd name="connsiteX4" fmla="*/ 2260595 w 4637084"/>
                  <a:gd name="connsiteY4" fmla="*/ 113518 h 123813"/>
                  <a:gd name="connsiteX5" fmla="*/ 2207004 w 4637084"/>
                  <a:gd name="connsiteY5" fmla="*/ 34055 h 123813"/>
                  <a:gd name="connsiteX6" fmla="*/ 2142853 w 4637084"/>
                  <a:gd name="connsiteY6" fmla="*/ 0 h 123813"/>
                  <a:gd name="connsiteX7" fmla="*/ 0 w 4637084"/>
                  <a:gd name="connsiteY7" fmla="*/ 0 h 12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7084" h="123813">
                    <a:moveTo>
                      <a:pt x="4637085" y="0"/>
                    </a:moveTo>
                    <a:lnTo>
                      <a:pt x="2416881" y="0"/>
                    </a:lnTo>
                    <a:cubicBezTo>
                      <a:pt x="2391009" y="0"/>
                      <a:pt x="2366986" y="12672"/>
                      <a:pt x="2352730" y="34055"/>
                    </a:cubicBezTo>
                    <a:lnTo>
                      <a:pt x="2299139" y="113518"/>
                    </a:lnTo>
                    <a:cubicBezTo>
                      <a:pt x="2289899" y="127246"/>
                      <a:pt x="2269835" y="127246"/>
                      <a:pt x="2260595" y="113518"/>
                    </a:cubicBezTo>
                    <a:lnTo>
                      <a:pt x="2207004" y="34055"/>
                    </a:lnTo>
                    <a:cubicBezTo>
                      <a:pt x="2192484" y="12672"/>
                      <a:pt x="2168461" y="0"/>
                      <a:pt x="2142853" y="0"/>
                    </a:cubicBezTo>
                    <a:lnTo>
                      <a:pt x="0" y="0"/>
                    </a:lnTo>
                  </a:path>
                </a:pathLst>
              </a:custGeom>
              <a:noFill/>
              <a:ln w="12700" cap="flat">
                <a:solidFill>
                  <a:srgbClr val="928BDE"/>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pis For Office" panose="020B0504010101010104" pitchFamily="34" charset="0"/>
                  <a:ea typeface="微软雅黑" panose="020B0503020204020204" pitchFamily="34" charset="-122"/>
                  <a:cs typeface="+mn-cs"/>
                  <a:sym typeface="Apis For Office" panose="020B0504010101010104" pitchFamily="34" charset="0"/>
                </a:endParaRPr>
              </a:p>
            </p:txBody>
          </p:sp>
        </p:grpSp>
      </p:grpSp>
      <p:grpSp>
        <p:nvGrpSpPr>
          <p:cNvPr id="18" name="组合 17">
            <a:extLst>
              <a:ext uri="{FF2B5EF4-FFF2-40B4-BE49-F238E27FC236}">
                <a16:creationId xmlns:a16="http://schemas.microsoft.com/office/drawing/2014/main" id="{7384C8AD-6E5C-31A1-52CF-57826A4ED596}"/>
              </a:ext>
            </a:extLst>
          </p:cNvPr>
          <p:cNvGrpSpPr>
            <a:grpSpLocks/>
          </p:cNvGrpSpPr>
          <p:nvPr/>
        </p:nvGrpSpPr>
        <p:grpSpPr>
          <a:xfrm>
            <a:off x="479376" y="1987071"/>
            <a:ext cx="374559" cy="374559"/>
            <a:chOff x="659396" y="2060848"/>
            <a:chExt cx="679708" cy="679708"/>
          </a:xfrm>
          <a:effectLst>
            <a:outerShdw blurRad="50800" dist="63500" dir="5400000" sx="90000" sy="-19000" rotWithShape="0">
              <a:schemeClr val="bg1">
                <a:lumMod val="50000"/>
                <a:alpha val="15000"/>
              </a:schemeClr>
            </a:outerShdw>
          </a:effectLst>
        </p:grpSpPr>
        <p:sp>
          <p:nvSpPr>
            <p:cNvPr id="19" name="椭圆 18">
              <a:extLst>
                <a:ext uri="{FF2B5EF4-FFF2-40B4-BE49-F238E27FC236}">
                  <a16:creationId xmlns:a16="http://schemas.microsoft.com/office/drawing/2014/main" id="{3BC2BFC8-C2B3-89A2-4BEB-53640A05B7F6}"/>
                </a:ext>
              </a:extLst>
            </p:cNvPr>
            <p:cNvSpPr/>
            <p:nvPr/>
          </p:nvSpPr>
          <p:spPr>
            <a:xfrm>
              <a:off x="659396" y="2060848"/>
              <a:ext cx="679708" cy="679708"/>
            </a:xfrm>
            <a:prstGeom prst="ellipse">
              <a:avLst/>
            </a:prstGeom>
            <a:solidFill>
              <a:schemeClr val="bg1"/>
            </a:solidFill>
            <a:ln w="19050">
              <a:gradFill>
                <a:gsLst>
                  <a:gs pos="67829">
                    <a:schemeClr val="bg2"/>
                  </a:gs>
                  <a:gs pos="0">
                    <a:schemeClr val="accent2"/>
                  </a:gs>
                  <a:gs pos="100000">
                    <a:schemeClr val="accent2"/>
                  </a:gs>
                  <a:gs pos="45000">
                    <a:schemeClr val="bg2"/>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is For Office" panose="020B0504010101010104"/>
                <a:ea typeface="微软雅黑" panose="020B0503020204020204" pitchFamily="34" charset="-122"/>
                <a:cs typeface="+mn-cs"/>
              </a:endParaRPr>
            </a:p>
          </p:txBody>
        </p:sp>
        <p:grpSp>
          <p:nvGrpSpPr>
            <p:cNvPr id="20" name="组合 19">
              <a:extLst>
                <a:ext uri="{FF2B5EF4-FFF2-40B4-BE49-F238E27FC236}">
                  <a16:creationId xmlns:a16="http://schemas.microsoft.com/office/drawing/2014/main" id="{23E68F33-E276-90A9-B13C-B1B6B253CC5E}"/>
                </a:ext>
              </a:extLst>
            </p:cNvPr>
            <p:cNvGrpSpPr/>
            <p:nvPr/>
          </p:nvGrpSpPr>
          <p:grpSpPr bwMode="auto">
            <a:xfrm>
              <a:off x="815606" y="2144102"/>
              <a:ext cx="367288" cy="513201"/>
              <a:chOff x="5334000" y="2667000"/>
              <a:chExt cx="273050" cy="371475"/>
            </a:xfrm>
            <a:solidFill>
              <a:schemeClr val="bg2"/>
            </a:solidFill>
          </p:grpSpPr>
          <p:sp>
            <p:nvSpPr>
              <p:cNvPr id="21" name="Freeform 1355">
                <a:extLst>
                  <a:ext uri="{FF2B5EF4-FFF2-40B4-BE49-F238E27FC236}">
                    <a16:creationId xmlns:a16="http://schemas.microsoft.com/office/drawing/2014/main" id="{0B5986CF-2A6F-9F52-C4DA-2B3A83FEEE79}"/>
                  </a:ext>
                </a:extLst>
              </p:cNvPr>
              <p:cNvSpPr/>
              <p:nvPr/>
            </p:nvSpPr>
            <p:spPr bwMode="auto">
              <a:xfrm>
                <a:off x="5334000" y="2714625"/>
                <a:ext cx="273050" cy="323850"/>
              </a:xfrm>
              <a:custGeom>
                <a:avLst/>
                <a:gdLst>
                  <a:gd name="T0" fmla="*/ 156 w 172"/>
                  <a:gd name="T1" fmla="*/ 0 h 204"/>
                  <a:gd name="T2" fmla="*/ 136 w 172"/>
                  <a:gd name="T3" fmla="*/ 0 h 204"/>
                  <a:gd name="T4" fmla="*/ 136 w 172"/>
                  <a:gd name="T5" fmla="*/ 24 h 204"/>
                  <a:gd name="T6" fmla="*/ 150 w 172"/>
                  <a:gd name="T7" fmla="*/ 24 h 204"/>
                  <a:gd name="T8" fmla="*/ 150 w 172"/>
                  <a:gd name="T9" fmla="*/ 180 h 204"/>
                  <a:gd name="T10" fmla="*/ 24 w 172"/>
                  <a:gd name="T11" fmla="*/ 180 h 204"/>
                  <a:gd name="T12" fmla="*/ 24 w 172"/>
                  <a:gd name="T13" fmla="*/ 24 h 204"/>
                  <a:gd name="T14" fmla="*/ 36 w 172"/>
                  <a:gd name="T15" fmla="*/ 24 h 204"/>
                  <a:gd name="T16" fmla="*/ 36 w 172"/>
                  <a:gd name="T17" fmla="*/ 0 h 204"/>
                  <a:gd name="T18" fmla="*/ 18 w 172"/>
                  <a:gd name="T19" fmla="*/ 0 h 204"/>
                  <a:gd name="T20" fmla="*/ 18 w 172"/>
                  <a:gd name="T21" fmla="*/ 0 h 204"/>
                  <a:gd name="T22" fmla="*/ 12 w 172"/>
                  <a:gd name="T23" fmla="*/ 2 h 204"/>
                  <a:gd name="T24" fmla="*/ 6 w 172"/>
                  <a:gd name="T25" fmla="*/ 6 h 204"/>
                  <a:gd name="T26" fmla="*/ 2 w 172"/>
                  <a:gd name="T27" fmla="*/ 12 h 204"/>
                  <a:gd name="T28" fmla="*/ 0 w 172"/>
                  <a:gd name="T29" fmla="*/ 18 h 204"/>
                  <a:gd name="T30" fmla="*/ 0 w 172"/>
                  <a:gd name="T31" fmla="*/ 186 h 204"/>
                  <a:gd name="T32" fmla="*/ 0 w 172"/>
                  <a:gd name="T33" fmla="*/ 186 h 204"/>
                  <a:gd name="T34" fmla="*/ 2 w 172"/>
                  <a:gd name="T35" fmla="*/ 192 h 204"/>
                  <a:gd name="T36" fmla="*/ 6 w 172"/>
                  <a:gd name="T37" fmla="*/ 198 h 204"/>
                  <a:gd name="T38" fmla="*/ 12 w 172"/>
                  <a:gd name="T39" fmla="*/ 202 h 204"/>
                  <a:gd name="T40" fmla="*/ 18 w 172"/>
                  <a:gd name="T41" fmla="*/ 204 h 204"/>
                  <a:gd name="T42" fmla="*/ 156 w 172"/>
                  <a:gd name="T43" fmla="*/ 204 h 204"/>
                  <a:gd name="T44" fmla="*/ 156 w 172"/>
                  <a:gd name="T45" fmla="*/ 204 h 204"/>
                  <a:gd name="T46" fmla="*/ 162 w 172"/>
                  <a:gd name="T47" fmla="*/ 202 h 204"/>
                  <a:gd name="T48" fmla="*/ 168 w 172"/>
                  <a:gd name="T49" fmla="*/ 198 h 204"/>
                  <a:gd name="T50" fmla="*/ 170 w 172"/>
                  <a:gd name="T51" fmla="*/ 192 h 204"/>
                  <a:gd name="T52" fmla="*/ 172 w 172"/>
                  <a:gd name="T53" fmla="*/ 186 h 204"/>
                  <a:gd name="T54" fmla="*/ 172 w 172"/>
                  <a:gd name="T55" fmla="*/ 18 h 204"/>
                  <a:gd name="T56" fmla="*/ 172 w 172"/>
                  <a:gd name="T57" fmla="*/ 18 h 204"/>
                  <a:gd name="T58" fmla="*/ 170 w 172"/>
                  <a:gd name="T59" fmla="*/ 12 h 204"/>
                  <a:gd name="T60" fmla="*/ 168 w 172"/>
                  <a:gd name="T61" fmla="*/ 6 h 204"/>
                  <a:gd name="T62" fmla="*/ 162 w 172"/>
                  <a:gd name="T63" fmla="*/ 2 h 204"/>
                  <a:gd name="T64" fmla="*/ 156 w 172"/>
                  <a:gd name="T65" fmla="*/ 0 h 204"/>
                  <a:gd name="T66" fmla="*/ 156 w 172"/>
                  <a:gd name="T67"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2" h="204">
                    <a:moveTo>
                      <a:pt x="156" y="0"/>
                    </a:moveTo>
                    <a:lnTo>
                      <a:pt x="136" y="0"/>
                    </a:lnTo>
                    <a:lnTo>
                      <a:pt x="136" y="24"/>
                    </a:lnTo>
                    <a:lnTo>
                      <a:pt x="150" y="24"/>
                    </a:lnTo>
                    <a:lnTo>
                      <a:pt x="150" y="180"/>
                    </a:lnTo>
                    <a:lnTo>
                      <a:pt x="24" y="180"/>
                    </a:lnTo>
                    <a:lnTo>
                      <a:pt x="24" y="24"/>
                    </a:lnTo>
                    <a:lnTo>
                      <a:pt x="36" y="24"/>
                    </a:lnTo>
                    <a:lnTo>
                      <a:pt x="36" y="0"/>
                    </a:lnTo>
                    <a:lnTo>
                      <a:pt x="18" y="0"/>
                    </a:lnTo>
                    <a:lnTo>
                      <a:pt x="18" y="0"/>
                    </a:lnTo>
                    <a:lnTo>
                      <a:pt x="12" y="2"/>
                    </a:lnTo>
                    <a:lnTo>
                      <a:pt x="6" y="6"/>
                    </a:lnTo>
                    <a:lnTo>
                      <a:pt x="2" y="12"/>
                    </a:lnTo>
                    <a:lnTo>
                      <a:pt x="0" y="18"/>
                    </a:lnTo>
                    <a:lnTo>
                      <a:pt x="0" y="186"/>
                    </a:lnTo>
                    <a:lnTo>
                      <a:pt x="0" y="186"/>
                    </a:lnTo>
                    <a:lnTo>
                      <a:pt x="2" y="192"/>
                    </a:lnTo>
                    <a:lnTo>
                      <a:pt x="6" y="198"/>
                    </a:lnTo>
                    <a:lnTo>
                      <a:pt x="12" y="202"/>
                    </a:lnTo>
                    <a:lnTo>
                      <a:pt x="18" y="204"/>
                    </a:lnTo>
                    <a:lnTo>
                      <a:pt x="156" y="204"/>
                    </a:lnTo>
                    <a:lnTo>
                      <a:pt x="156" y="204"/>
                    </a:lnTo>
                    <a:lnTo>
                      <a:pt x="162" y="202"/>
                    </a:lnTo>
                    <a:lnTo>
                      <a:pt x="168" y="198"/>
                    </a:lnTo>
                    <a:lnTo>
                      <a:pt x="170" y="192"/>
                    </a:lnTo>
                    <a:lnTo>
                      <a:pt x="172" y="186"/>
                    </a:lnTo>
                    <a:lnTo>
                      <a:pt x="172" y="18"/>
                    </a:lnTo>
                    <a:lnTo>
                      <a:pt x="172" y="18"/>
                    </a:lnTo>
                    <a:lnTo>
                      <a:pt x="170" y="12"/>
                    </a:lnTo>
                    <a:lnTo>
                      <a:pt x="168" y="6"/>
                    </a:lnTo>
                    <a:lnTo>
                      <a:pt x="162" y="2"/>
                    </a:lnTo>
                    <a:lnTo>
                      <a:pt x="156" y="0"/>
                    </a:lnTo>
                    <a:lnTo>
                      <a:pt x="15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2" name="Freeform 1356">
                <a:extLst>
                  <a:ext uri="{FF2B5EF4-FFF2-40B4-BE49-F238E27FC236}">
                    <a16:creationId xmlns:a16="http://schemas.microsoft.com/office/drawing/2014/main" id="{B8A862FF-AD24-D097-F04C-7676706F23D3}"/>
                  </a:ext>
                </a:extLst>
              </p:cNvPr>
              <p:cNvSpPr>
                <a:spLocks noEditPoints="1"/>
              </p:cNvSpPr>
              <p:nvPr/>
            </p:nvSpPr>
            <p:spPr bwMode="auto">
              <a:xfrm>
                <a:off x="5403850" y="2667000"/>
                <a:ext cx="133350" cy="111125"/>
              </a:xfrm>
              <a:custGeom>
                <a:avLst/>
                <a:gdLst>
                  <a:gd name="T0" fmla="*/ 70 w 84"/>
                  <a:gd name="T1" fmla="*/ 30 h 70"/>
                  <a:gd name="T2" fmla="*/ 70 w 84"/>
                  <a:gd name="T3" fmla="*/ 30 h 70"/>
                  <a:gd name="T4" fmla="*/ 70 w 84"/>
                  <a:gd name="T5" fmla="*/ 28 h 70"/>
                  <a:gd name="T6" fmla="*/ 70 w 84"/>
                  <a:gd name="T7" fmla="*/ 28 h 70"/>
                  <a:gd name="T8" fmla="*/ 68 w 84"/>
                  <a:gd name="T9" fmla="*/ 16 h 70"/>
                  <a:gd name="T10" fmla="*/ 62 w 84"/>
                  <a:gd name="T11" fmla="*/ 8 h 70"/>
                  <a:gd name="T12" fmla="*/ 54 w 84"/>
                  <a:gd name="T13" fmla="*/ 2 h 70"/>
                  <a:gd name="T14" fmla="*/ 42 w 84"/>
                  <a:gd name="T15" fmla="*/ 0 h 70"/>
                  <a:gd name="T16" fmla="*/ 42 w 84"/>
                  <a:gd name="T17" fmla="*/ 0 h 70"/>
                  <a:gd name="T18" fmla="*/ 32 w 84"/>
                  <a:gd name="T19" fmla="*/ 2 h 70"/>
                  <a:gd name="T20" fmla="*/ 24 w 84"/>
                  <a:gd name="T21" fmla="*/ 8 h 70"/>
                  <a:gd name="T22" fmla="*/ 18 w 84"/>
                  <a:gd name="T23" fmla="*/ 16 h 70"/>
                  <a:gd name="T24" fmla="*/ 16 w 84"/>
                  <a:gd name="T25" fmla="*/ 28 h 70"/>
                  <a:gd name="T26" fmla="*/ 16 w 84"/>
                  <a:gd name="T27" fmla="*/ 28 h 70"/>
                  <a:gd name="T28" fmla="*/ 16 w 84"/>
                  <a:gd name="T29" fmla="*/ 30 h 70"/>
                  <a:gd name="T30" fmla="*/ 0 w 84"/>
                  <a:gd name="T31" fmla="*/ 30 h 70"/>
                  <a:gd name="T32" fmla="*/ 0 w 84"/>
                  <a:gd name="T33" fmla="*/ 70 h 70"/>
                  <a:gd name="T34" fmla="*/ 84 w 84"/>
                  <a:gd name="T35" fmla="*/ 70 h 70"/>
                  <a:gd name="T36" fmla="*/ 84 w 84"/>
                  <a:gd name="T37" fmla="*/ 30 h 70"/>
                  <a:gd name="T38" fmla="*/ 70 w 84"/>
                  <a:gd name="T39" fmla="*/ 30 h 70"/>
                  <a:gd name="T40" fmla="*/ 42 w 84"/>
                  <a:gd name="T41" fmla="*/ 42 h 70"/>
                  <a:gd name="T42" fmla="*/ 42 w 84"/>
                  <a:gd name="T43" fmla="*/ 42 h 70"/>
                  <a:gd name="T44" fmla="*/ 36 w 84"/>
                  <a:gd name="T45" fmla="*/ 40 h 70"/>
                  <a:gd name="T46" fmla="*/ 32 w 84"/>
                  <a:gd name="T47" fmla="*/ 38 h 70"/>
                  <a:gd name="T48" fmla="*/ 30 w 84"/>
                  <a:gd name="T49" fmla="*/ 32 h 70"/>
                  <a:gd name="T50" fmla="*/ 28 w 84"/>
                  <a:gd name="T51" fmla="*/ 28 h 70"/>
                  <a:gd name="T52" fmla="*/ 28 w 84"/>
                  <a:gd name="T53" fmla="*/ 28 h 70"/>
                  <a:gd name="T54" fmla="*/ 30 w 84"/>
                  <a:gd name="T55" fmla="*/ 22 h 70"/>
                  <a:gd name="T56" fmla="*/ 32 w 84"/>
                  <a:gd name="T57" fmla="*/ 18 h 70"/>
                  <a:gd name="T58" fmla="*/ 36 w 84"/>
                  <a:gd name="T59" fmla="*/ 14 h 70"/>
                  <a:gd name="T60" fmla="*/ 42 w 84"/>
                  <a:gd name="T61" fmla="*/ 12 h 70"/>
                  <a:gd name="T62" fmla="*/ 42 w 84"/>
                  <a:gd name="T63" fmla="*/ 12 h 70"/>
                  <a:gd name="T64" fmla="*/ 48 w 84"/>
                  <a:gd name="T65" fmla="*/ 14 h 70"/>
                  <a:gd name="T66" fmla="*/ 52 w 84"/>
                  <a:gd name="T67" fmla="*/ 18 h 70"/>
                  <a:gd name="T68" fmla="*/ 56 w 84"/>
                  <a:gd name="T69" fmla="*/ 22 h 70"/>
                  <a:gd name="T70" fmla="*/ 58 w 84"/>
                  <a:gd name="T71" fmla="*/ 28 h 70"/>
                  <a:gd name="T72" fmla="*/ 58 w 84"/>
                  <a:gd name="T73" fmla="*/ 28 h 70"/>
                  <a:gd name="T74" fmla="*/ 56 w 84"/>
                  <a:gd name="T75" fmla="*/ 32 h 70"/>
                  <a:gd name="T76" fmla="*/ 52 w 84"/>
                  <a:gd name="T77" fmla="*/ 38 h 70"/>
                  <a:gd name="T78" fmla="*/ 48 w 84"/>
                  <a:gd name="T79" fmla="*/ 40 h 70"/>
                  <a:gd name="T80" fmla="*/ 42 w 84"/>
                  <a:gd name="T81" fmla="*/ 42 h 70"/>
                  <a:gd name="T82" fmla="*/ 42 w 84"/>
                  <a:gd name="T83" fmla="*/ 4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4" h="70">
                    <a:moveTo>
                      <a:pt x="70" y="30"/>
                    </a:moveTo>
                    <a:lnTo>
                      <a:pt x="70" y="30"/>
                    </a:lnTo>
                    <a:lnTo>
                      <a:pt x="70" y="28"/>
                    </a:lnTo>
                    <a:lnTo>
                      <a:pt x="70" y="28"/>
                    </a:lnTo>
                    <a:lnTo>
                      <a:pt x="68" y="16"/>
                    </a:lnTo>
                    <a:lnTo>
                      <a:pt x="62" y="8"/>
                    </a:lnTo>
                    <a:lnTo>
                      <a:pt x="54" y="2"/>
                    </a:lnTo>
                    <a:lnTo>
                      <a:pt x="42" y="0"/>
                    </a:lnTo>
                    <a:lnTo>
                      <a:pt x="42" y="0"/>
                    </a:lnTo>
                    <a:lnTo>
                      <a:pt x="32" y="2"/>
                    </a:lnTo>
                    <a:lnTo>
                      <a:pt x="24" y="8"/>
                    </a:lnTo>
                    <a:lnTo>
                      <a:pt x="18" y="16"/>
                    </a:lnTo>
                    <a:lnTo>
                      <a:pt x="16" y="28"/>
                    </a:lnTo>
                    <a:lnTo>
                      <a:pt x="16" y="28"/>
                    </a:lnTo>
                    <a:lnTo>
                      <a:pt x="16" y="30"/>
                    </a:lnTo>
                    <a:lnTo>
                      <a:pt x="0" y="30"/>
                    </a:lnTo>
                    <a:lnTo>
                      <a:pt x="0" y="70"/>
                    </a:lnTo>
                    <a:lnTo>
                      <a:pt x="84" y="70"/>
                    </a:lnTo>
                    <a:lnTo>
                      <a:pt x="84" y="30"/>
                    </a:lnTo>
                    <a:lnTo>
                      <a:pt x="70" y="30"/>
                    </a:lnTo>
                    <a:close/>
                    <a:moveTo>
                      <a:pt x="42" y="42"/>
                    </a:moveTo>
                    <a:lnTo>
                      <a:pt x="42" y="42"/>
                    </a:lnTo>
                    <a:lnTo>
                      <a:pt x="36" y="40"/>
                    </a:lnTo>
                    <a:lnTo>
                      <a:pt x="32" y="38"/>
                    </a:lnTo>
                    <a:lnTo>
                      <a:pt x="30" y="32"/>
                    </a:lnTo>
                    <a:lnTo>
                      <a:pt x="28" y="28"/>
                    </a:lnTo>
                    <a:lnTo>
                      <a:pt x="28" y="28"/>
                    </a:lnTo>
                    <a:lnTo>
                      <a:pt x="30" y="22"/>
                    </a:lnTo>
                    <a:lnTo>
                      <a:pt x="32" y="18"/>
                    </a:lnTo>
                    <a:lnTo>
                      <a:pt x="36" y="14"/>
                    </a:lnTo>
                    <a:lnTo>
                      <a:pt x="42" y="12"/>
                    </a:lnTo>
                    <a:lnTo>
                      <a:pt x="42" y="12"/>
                    </a:lnTo>
                    <a:lnTo>
                      <a:pt x="48" y="14"/>
                    </a:lnTo>
                    <a:lnTo>
                      <a:pt x="52" y="18"/>
                    </a:lnTo>
                    <a:lnTo>
                      <a:pt x="56" y="22"/>
                    </a:lnTo>
                    <a:lnTo>
                      <a:pt x="58" y="28"/>
                    </a:lnTo>
                    <a:lnTo>
                      <a:pt x="58" y="28"/>
                    </a:lnTo>
                    <a:lnTo>
                      <a:pt x="56" y="32"/>
                    </a:lnTo>
                    <a:lnTo>
                      <a:pt x="52" y="38"/>
                    </a:lnTo>
                    <a:lnTo>
                      <a:pt x="48" y="40"/>
                    </a:lnTo>
                    <a:lnTo>
                      <a:pt x="42" y="42"/>
                    </a:lnTo>
                    <a:lnTo>
                      <a:pt x="42" y="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3" name="Freeform 1357">
                <a:extLst>
                  <a:ext uri="{FF2B5EF4-FFF2-40B4-BE49-F238E27FC236}">
                    <a16:creationId xmlns:a16="http://schemas.microsoft.com/office/drawing/2014/main" id="{30BD0125-09D8-9641-1932-ADCE90417641}"/>
                  </a:ext>
                </a:extLst>
              </p:cNvPr>
              <p:cNvSpPr/>
              <p:nvPr/>
            </p:nvSpPr>
            <p:spPr bwMode="auto">
              <a:xfrm>
                <a:off x="5381625" y="2924175"/>
                <a:ext cx="57150" cy="41275"/>
              </a:xfrm>
              <a:custGeom>
                <a:avLst/>
                <a:gdLst>
                  <a:gd name="T0" fmla="*/ 14 w 36"/>
                  <a:gd name="T1" fmla="*/ 26 h 26"/>
                  <a:gd name="T2" fmla="*/ 14 w 36"/>
                  <a:gd name="T3" fmla="*/ 26 h 26"/>
                  <a:gd name="T4" fmla="*/ 12 w 36"/>
                  <a:gd name="T5" fmla="*/ 26 h 26"/>
                  <a:gd name="T6" fmla="*/ 0 w 36"/>
                  <a:gd name="T7" fmla="*/ 14 h 26"/>
                  <a:gd name="T8" fmla="*/ 4 w 36"/>
                  <a:gd name="T9" fmla="*/ 10 h 26"/>
                  <a:gd name="T10" fmla="*/ 14 w 36"/>
                  <a:gd name="T11" fmla="*/ 20 h 26"/>
                  <a:gd name="T12" fmla="*/ 32 w 36"/>
                  <a:gd name="T13" fmla="*/ 0 h 26"/>
                  <a:gd name="T14" fmla="*/ 36 w 36"/>
                  <a:gd name="T15" fmla="*/ 4 h 26"/>
                  <a:gd name="T16" fmla="*/ 16 w 36"/>
                  <a:gd name="T17" fmla="*/ 26 h 26"/>
                  <a:gd name="T18" fmla="*/ 16 w 36"/>
                  <a:gd name="T19" fmla="*/ 26 h 26"/>
                  <a:gd name="T20" fmla="*/ 14 w 36"/>
                  <a:gd name="T21" fmla="*/ 26 h 26"/>
                  <a:gd name="T22" fmla="*/ 14 w 36"/>
                  <a:gd name="T23" fmla="*/ 26 h 26"/>
                  <a:gd name="T24" fmla="*/ 14 w 36"/>
                  <a:gd name="T25" fmla="*/ 26 h 26"/>
                  <a:gd name="T26" fmla="*/ 14 w 36"/>
                  <a:gd name="T2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26">
                    <a:moveTo>
                      <a:pt x="14" y="26"/>
                    </a:moveTo>
                    <a:lnTo>
                      <a:pt x="14" y="26"/>
                    </a:lnTo>
                    <a:lnTo>
                      <a:pt x="12" y="26"/>
                    </a:lnTo>
                    <a:lnTo>
                      <a:pt x="0" y="14"/>
                    </a:lnTo>
                    <a:lnTo>
                      <a:pt x="4" y="10"/>
                    </a:lnTo>
                    <a:lnTo>
                      <a:pt x="14" y="20"/>
                    </a:lnTo>
                    <a:lnTo>
                      <a:pt x="32" y="0"/>
                    </a:lnTo>
                    <a:lnTo>
                      <a:pt x="36" y="4"/>
                    </a:lnTo>
                    <a:lnTo>
                      <a:pt x="16" y="26"/>
                    </a:lnTo>
                    <a:lnTo>
                      <a:pt x="16" y="26"/>
                    </a:lnTo>
                    <a:lnTo>
                      <a:pt x="14" y="26"/>
                    </a:lnTo>
                    <a:lnTo>
                      <a:pt x="14" y="26"/>
                    </a:lnTo>
                    <a:lnTo>
                      <a:pt x="14" y="26"/>
                    </a:lnTo>
                    <a:lnTo>
                      <a:pt x="14"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4" name="Freeform 1358">
                <a:extLst>
                  <a:ext uri="{FF2B5EF4-FFF2-40B4-BE49-F238E27FC236}">
                    <a16:creationId xmlns:a16="http://schemas.microsoft.com/office/drawing/2014/main" id="{5ADCD8D5-27E9-C207-9E1F-A4F5D3FB7530}"/>
                  </a:ext>
                </a:extLst>
              </p:cNvPr>
              <p:cNvSpPr/>
              <p:nvPr/>
            </p:nvSpPr>
            <p:spPr bwMode="auto">
              <a:xfrm>
                <a:off x="5381625" y="2857500"/>
                <a:ext cx="57150" cy="41275"/>
              </a:xfrm>
              <a:custGeom>
                <a:avLst/>
                <a:gdLst>
                  <a:gd name="T0" fmla="*/ 14 w 36"/>
                  <a:gd name="T1" fmla="*/ 26 h 26"/>
                  <a:gd name="T2" fmla="*/ 14 w 36"/>
                  <a:gd name="T3" fmla="*/ 26 h 26"/>
                  <a:gd name="T4" fmla="*/ 12 w 36"/>
                  <a:gd name="T5" fmla="*/ 26 h 26"/>
                  <a:gd name="T6" fmla="*/ 0 w 36"/>
                  <a:gd name="T7" fmla="*/ 14 h 26"/>
                  <a:gd name="T8" fmla="*/ 4 w 36"/>
                  <a:gd name="T9" fmla="*/ 10 h 26"/>
                  <a:gd name="T10" fmla="*/ 14 w 36"/>
                  <a:gd name="T11" fmla="*/ 20 h 26"/>
                  <a:gd name="T12" fmla="*/ 32 w 36"/>
                  <a:gd name="T13" fmla="*/ 0 h 26"/>
                  <a:gd name="T14" fmla="*/ 36 w 36"/>
                  <a:gd name="T15" fmla="*/ 4 h 26"/>
                  <a:gd name="T16" fmla="*/ 16 w 36"/>
                  <a:gd name="T17" fmla="*/ 26 h 26"/>
                  <a:gd name="T18" fmla="*/ 16 w 36"/>
                  <a:gd name="T19" fmla="*/ 26 h 26"/>
                  <a:gd name="T20" fmla="*/ 14 w 36"/>
                  <a:gd name="T21" fmla="*/ 26 h 26"/>
                  <a:gd name="T22" fmla="*/ 14 w 36"/>
                  <a:gd name="T23" fmla="*/ 26 h 26"/>
                  <a:gd name="T24" fmla="*/ 14 w 36"/>
                  <a:gd name="T25" fmla="*/ 26 h 26"/>
                  <a:gd name="T26" fmla="*/ 14 w 36"/>
                  <a:gd name="T2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26">
                    <a:moveTo>
                      <a:pt x="14" y="26"/>
                    </a:moveTo>
                    <a:lnTo>
                      <a:pt x="14" y="26"/>
                    </a:lnTo>
                    <a:lnTo>
                      <a:pt x="12" y="26"/>
                    </a:lnTo>
                    <a:lnTo>
                      <a:pt x="0" y="14"/>
                    </a:lnTo>
                    <a:lnTo>
                      <a:pt x="4" y="10"/>
                    </a:lnTo>
                    <a:lnTo>
                      <a:pt x="14" y="20"/>
                    </a:lnTo>
                    <a:lnTo>
                      <a:pt x="32" y="0"/>
                    </a:lnTo>
                    <a:lnTo>
                      <a:pt x="36" y="4"/>
                    </a:lnTo>
                    <a:lnTo>
                      <a:pt x="16" y="26"/>
                    </a:lnTo>
                    <a:lnTo>
                      <a:pt x="16" y="26"/>
                    </a:lnTo>
                    <a:lnTo>
                      <a:pt x="14" y="26"/>
                    </a:lnTo>
                    <a:lnTo>
                      <a:pt x="14" y="26"/>
                    </a:lnTo>
                    <a:lnTo>
                      <a:pt x="14" y="26"/>
                    </a:lnTo>
                    <a:lnTo>
                      <a:pt x="14"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5" name="Freeform 1359">
                <a:extLst>
                  <a:ext uri="{FF2B5EF4-FFF2-40B4-BE49-F238E27FC236}">
                    <a16:creationId xmlns:a16="http://schemas.microsoft.com/office/drawing/2014/main" id="{C6307A35-BA53-C021-5BA3-2144C4AA3A39}"/>
                  </a:ext>
                </a:extLst>
              </p:cNvPr>
              <p:cNvSpPr/>
              <p:nvPr/>
            </p:nvSpPr>
            <p:spPr bwMode="auto">
              <a:xfrm>
                <a:off x="5381625" y="2790825"/>
                <a:ext cx="57150" cy="41275"/>
              </a:xfrm>
              <a:custGeom>
                <a:avLst/>
                <a:gdLst>
                  <a:gd name="T0" fmla="*/ 14 w 36"/>
                  <a:gd name="T1" fmla="*/ 26 h 26"/>
                  <a:gd name="T2" fmla="*/ 14 w 36"/>
                  <a:gd name="T3" fmla="*/ 26 h 26"/>
                  <a:gd name="T4" fmla="*/ 12 w 36"/>
                  <a:gd name="T5" fmla="*/ 26 h 26"/>
                  <a:gd name="T6" fmla="*/ 0 w 36"/>
                  <a:gd name="T7" fmla="*/ 14 h 26"/>
                  <a:gd name="T8" fmla="*/ 4 w 36"/>
                  <a:gd name="T9" fmla="*/ 10 h 26"/>
                  <a:gd name="T10" fmla="*/ 14 w 36"/>
                  <a:gd name="T11" fmla="*/ 18 h 26"/>
                  <a:gd name="T12" fmla="*/ 32 w 36"/>
                  <a:gd name="T13" fmla="*/ 0 h 26"/>
                  <a:gd name="T14" fmla="*/ 36 w 36"/>
                  <a:gd name="T15" fmla="*/ 4 h 26"/>
                  <a:gd name="T16" fmla="*/ 16 w 36"/>
                  <a:gd name="T17" fmla="*/ 24 h 26"/>
                  <a:gd name="T18" fmla="*/ 16 w 36"/>
                  <a:gd name="T19" fmla="*/ 24 h 26"/>
                  <a:gd name="T20" fmla="*/ 14 w 36"/>
                  <a:gd name="T21" fmla="*/ 26 h 26"/>
                  <a:gd name="T22" fmla="*/ 14 w 36"/>
                  <a:gd name="T23" fmla="*/ 26 h 26"/>
                  <a:gd name="T24" fmla="*/ 14 w 36"/>
                  <a:gd name="T25" fmla="*/ 26 h 26"/>
                  <a:gd name="T26" fmla="*/ 14 w 36"/>
                  <a:gd name="T2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26">
                    <a:moveTo>
                      <a:pt x="14" y="26"/>
                    </a:moveTo>
                    <a:lnTo>
                      <a:pt x="14" y="26"/>
                    </a:lnTo>
                    <a:lnTo>
                      <a:pt x="12" y="26"/>
                    </a:lnTo>
                    <a:lnTo>
                      <a:pt x="0" y="14"/>
                    </a:lnTo>
                    <a:lnTo>
                      <a:pt x="4" y="10"/>
                    </a:lnTo>
                    <a:lnTo>
                      <a:pt x="14" y="18"/>
                    </a:lnTo>
                    <a:lnTo>
                      <a:pt x="32" y="0"/>
                    </a:lnTo>
                    <a:lnTo>
                      <a:pt x="36" y="4"/>
                    </a:lnTo>
                    <a:lnTo>
                      <a:pt x="16" y="24"/>
                    </a:lnTo>
                    <a:lnTo>
                      <a:pt x="16" y="24"/>
                    </a:lnTo>
                    <a:lnTo>
                      <a:pt x="14" y="26"/>
                    </a:lnTo>
                    <a:lnTo>
                      <a:pt x="14" y="26"/>
                    </a:lnTo>
                    <a:lnTo>
                      <a:pt x="14" y="26"/>
                    </a:lnTo>
                    <a:lnTo>
                      <a:pt x="14"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6" name="Rectangle 1360">
                <a:extLst>
                  <a:ext uri="{FF2B5EF4-FFF2-40B4-BE49-F238E27FC236}">
                    <a16:creationId xmlns:a16="http://schemas.microsoft.com/office/drawing/2014/main" id="{3888E506-BDBD-0EF9-C1E7-08BC979D424E}"/>
                  </a:ext>
                </a:extLst>
              </p:cNvPr>
              <p:cNvSpPr>
                <a:spLocks noChangeArrowheads="1"/>
              </p:cNvSpPr>
              <p:nvPr/>
            </p:nvSpPr>
            <p:spPr bwMode="auto">
              <a:xfrm>
                <a:off x="5384800" y="2971800"/>
                <a:ext cx="171450"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7" name="Rectangle 1361">
                <a:extLst>
                  <a:ext uri="{FF2B5EF4-FFF2-40B4-BE49-F238E27FC236}">
                    <a16:creationId xmlns:a16="http://schemas.microsoft.com/office/drawing/2014/main" id="{676CF1A5-52F5-1295-7715-F8431480AA6E}"/>
                  </a:ext>
                </a:extLst>
              </p:cNvPr>
              <p:cNvSpPr>
                <a:spLocks noChangeArrowheads="1"/>
              </p:cNvSpPr>
              <p:nvPr/>
            </p:nvSpPr>
            <p:spPr bwMode="auto">
              <a:xfrm>
                <a:off x="5384800" y="2905125"/>
                <a:ext cx="171450"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28" name="Rectangle 1362">
                <a:extLst>
                  <a:ext uri="{FF2B5EF4-FFF2-40B4-BE49-F238E27FC236}">
                    <a16:creationId xmlns:a16="http://schemas.microsoft.com/office/drawing/2014/main" id="{4FBFC235-CAD8-A752-9276-FEC2B8E720B9}"/>
                  </a:ext>
                </a:extLst>
              </p:cNvPr>
              <p:cNvSpPr>
                <a:spLocks noChangeArrowheads="1"/>
              </p:cNvSpPr>
              <p:nvPr/>
            </p:nvSpPr>
            <p:spPr bwMode="auto">
              <a:xfrm>
                <a:off x="5384800" y="2838450"/>
                <a:ext cx="171450"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sp>
        <p:nvSpPr>
          <p:cNvPr id="29" name="文本框 28">
            <a:extLst>
              <a:ext uri="{FF2B5EF4-FFF2-40B4-BE49-F238E27FC236}">
                <a16:creationId xmlns:a16="http://schemas.microsoft.com/office/drawing/2014/main" id="{63810F3E-77A6-85CA-D810-A55CDBE59EF7}"/>
              </a:ext>
            </a:extLst>
          </p:cNvPr>
          <p:cNvSpPr txBox="1"/>
          <p:nvPr/>
        </p:nvSpPr>
        <p:spPr bwMode="gray">
          <a:xfrm>
            <a:off x="1104235" y="1689050"/>
            <a:ext cx="10439723" cy="966355"/>
          </a:xfrm>
          <a:prstGeom prst="rect">
            <a:avLst/>
          </a:prstGeom>
          <a:noFill/>
        </p:spPr>
        <p:txBody>
          <a:bodyPr wrap="square" anchor="ctr">
            <a:spAutoFit/>
          </a:bodyPr>
          <a:lstStyle/>
          <a:p>
            <a:pPr marL="285750" marR="0" lvl="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Mild PG cases treated with topical or low-dose oral JAK inhibitors may achieve complete remission and thus might not require enrollment in this clinical trial. The patients enrolled are typically more complex cases, making it important to: 1) evaluate the therapeutic efficacy of Spesolimab in this population, and 2) consider that placebo allocation could pose significant challenges for these patients who often require active treatment.</a:t>
            </a:r>
            <a:endParaRPr kumimoji="0" lang="zh-CN" altLang="en-US" sz="1200" b="1"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30" name="文本框 29">
            <a:extLst>
              <a:ext uri="{FF2B5EF4-FFF2-40B4-BE49-F238E27FC236}">
                <a16:creationId xmlns:a16="http://schemas.microsoft.com/office/drawing/2014/main" id="{EA4346D5-C889-5F39-EE09-559E50489E11}"/>
              </a:ext>
            </a:extLst>
          </p:cNvPr>
          <p:cNvSpPr txBox="1"/>
          <p:nvPr/>
        </p:nvSpPr>
        <p:spPr bwMode="gray">
          <a:xfrm>
            <a:off x="406400" y="2932069"/>
            <a:ext cx="10800579" cy="523157"/>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Peking University Third Hospital’s treatment goal for PG is “</a:t>
            </a:r>
            <a:r>
              <a:rPr kumimoji="0" lang="en-US" altLang="zh-CN" sz="1200" b="1" i="0" u="none" strike="noStrike" kern="1200" cap="none" spc="0" normalizeH="0" baseline="0" noProof="0">
                <a:ln>
                  <a:noFill/>
                </a:ln>
                <a:solidFill>
                  <a:srgbClr val="08312A"/>
                </a:solidFill>
                <a:effectLst/>
                <a:uLnTx/>
                <a:uFillTx/>
                <a:latin typeface="Boehringer Forward Text"/>
                <a:ea typeface="+mn-ea"/>
                <a:cs typeface="+mn-cs"/>
              </a:rPr>
              <a:t>onset of effect in 1 week and healing in 8 weeks</a:t>
            </a: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 The </a:t>
            </a:r>
            <a:r>
              <a:rPr kumimoji="0" lang="en-US" altLang="zh-CN" sz="1200" b="1" i="0" u="none" strike="noStrike" kern="1200" cap="none" spc="0" normalizeH="0" baseline="0" noProof="0">
                <a:ln>
                  <a:noFill/>
                </a:ln>
                <a:solidFill>
                  <a:srgbClr val="08312A"/>
                </a:solidFill>
                <a:effectLst/>
                <a:uLnTx/>
                <a:uFillTx/>
                <a:latin typeface="Boehringer Forward Text"/>
                <a:ea typeface="+mn-ea"/>
                <a:cs typeface="+mn-cs"/>
              </a:rPr>
              <a:t>primary endpoint </a:t>
            </a: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of this clinical trial is assessed at </a:t>
            </a:r>
            <a:r>
              <a:rPr kumimoji="0" lang="en-US" altLang="zh-CN" sz="1200" b="1" i="0" u="none" strike="noStrike" kern="1200" cap="none" spc="0" normalizeH="0" baseline="0" noProof="0">
                <a:ln>
                  <a:noFill/>
                </a:ln>
                <a:solidFill>
                  <a:srgbClr val="08312A"/>
                </a:solidFill>
                <a:effectLst/>
                <a:uLnTx/>
                <a:uFillTx/>
                <a:latin typeface="Boehringer Forward Text"/>
                <a:ea typeface="+mn-ea"/>
                <a:cs typeface="+mn-cs"/>
              </a:rPr>
              <a:t>week 26</a:t>
            </a: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 which is later than the hospital’s treatment goal and may lead to a decreased confidence in S</a:t>
            </a:r>
            <a:r>
              <a:rPr kumimoji="0" lang="en-US" altLang="zh-CN" sz="1200" b="0" i="0" u="none" strike="noStrike" kern="1200" cap="none" spc="0" normalizeH="0" baseline="0" noProof="0" err="1">
                <a:ln>
                  <a:noFill/>
                </a:ln>
                <a:solidFill>
                  <a:srgbClr val="08312A"/>
                </a:solidFill>
                <a:effectLst/>
                <a:uLnTx/>
                <a:uFillTx/>
                <a:latin typeface="Boehringer Forward Text"/>
                <a:ea typeface="+mn-ea"/>
                <a:cs typeface="+mn-cs"/>
              </a:rPr>
              <a:t>pesolimab</a:t>
            </a: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 efficacy.</a:t>
            </a:r>
            <a:endParaRPr kumimoji="0" lang="zh-CN" altLang="en-US" sz="1200" b="0" i="0" u="none" strike="noStrike" kern="1200" cap="none" spc="0" normalizeH="0" baseline="0" noProof="0">
              <a:ln>
                <a:noFill/>
              </a:ln>
              <a:solidFill>
                <a:srgbClr val="08312A"/>
              </a:solidFill>
              <a:effectLst/>
              <a:uLnTx/>
              <a:uFillTx/>
              <a:latin typeface="Boehringer Forward Text"/>
              <a:ea typeface="+mn-ea"/>
              <a:cs typeface="+mn-cs"/>
            </a:endParaRPr>
          </a:p>
        </p:txBody>
      </p:sp>
      <p:grpSp>
        <p:nvGrpSpPr>
          <p:cNvPr id="36" name="组合 35">
            <a:extLst>
              <a:ext uri="{FF2B5EF4-FFF2-40B4-BE49-F238E27FC236}">
                <a16:creationId xmlns:a16="http://schemas.microsoft.com/office/drawing/2014/main" id="{18D3C38C-D070-AAE6-DF7C-625B3369FD57}"/>
              </a:ext>
            </a:extLst>
          </p:cNvPr>
          <p:cNvGrpSpPr>
            <a:grpSpLocks/>
          </p:cNvGrpSpPr>
          <p:nvPr/>
        </p:nvGrpSpPr>
        <p:grpSpPr>
          <a:xfrm>
            <a:off x="11496600" y="2992321"/>
            <a:ext cx="374559" cy="374559"/>
            <a:chOff x="659396" y="2924944"/>
            <a:chExt cx="679708" cy="679708"/>
          </a:xfrm>
          <a:effectLst>
            <a:outerShdw blurRad="50800" dist="63500" dir="5400000" sx="90000" sy="-19000" rotWithShape="0">
              <a:schemeClr val="bg1">
                <a:lumMod val="50000"/>
                <a:alpha val="15000"/>
              </a:schemeClr>
            </a:outerShdw>
          </a:effectLst>
        </p:grpSpPr>
        <p:sp>
          <p:nvSpPr>
            <p:cNvPr id="37" name="椭圆 36">
              <a:extLst>
                <a:ext uri="{FF2B5EF4-FFF2-40B4-BE49-F238E27FC236}">
                  <a16:creationId xmlns:a16="http://schemas.microsoft.com/office/drawing/2014/main" id="{956AD5E6-AB0D-C1D2-3AFF-195009490C8D}"/>
                </a:ext>
              </a:extLst>
            </p:cNvPr>
            <p:cNvSpPr/>
            <p:nvPr/>
          </p:nvSpPr>
          <p:spPr>
            <a:xfrm>
              <a:off x="659396" y="2924944"/>
              <a:ext cx="679708" cy="679708"/>
            </a:xfrm>
            <a:prstGeom prst="ellipse">
              <a:avLst/>
            </a:prstGeom>
            <a:solidFill>
              <a:schemeClr val="bg1"/>
            </a:solidFill>
            <a:ln w="19050">
              <a:gradFill>
                <a:gsLst>
                  <a:gs pos="67829">
                    <a:schemeClr val="bg2"/>
                  </a:gs>
                  <a:gs pos="0">
                    <a:schemeClr val="accent2"/>
                  </a:gs>
                  <a:gs pos="100000">
                    <a:schemeClr val="accent2"/>
                  </a:gs>
                  <a:gs pos="45000">
                    <a:schemeClr val="bg2"/>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is For Office" panose="020B0504010101010104"/>
                <a:ea typeface="微软雅黑" panose="020B0503020204020204" pitchFamily="34" charset="-122"/>
                <a:cs typeface="+mn-cs"/>
              </a:endParaRPr>
            </a:p>
          </p:txBody>
        </p:sp>
        <p:sp>
          <p:nvSpPr>
            <p:cNvPr id="38" name="flag_149263">
              <a:extLst>
                <a:ext uri="{FF2B5EF4-FFF2-40B4-BE49-F238E27FC236}">
                  <a16:creationId xmlns:a16="http://schemas.microsoft.com/office/drawing/2014/main" id="{CE418F5B-D816-4953-E42C-EC19CBB13FE5}"/>
                </a:ext>
              </a:extLst>
            </p:cNvPr>
            <p:cNvSpPr/>
            <p:nvPr/>
          </p:nvSpPr>
          <p:spPr>
            <a:xfrm>
              <a:off x="791608" y="3038775"/>
              <a:ext cx="415284" cy="452047"/>
            </a:xfrm>
            <a:custGeom>
              <a:avLst/>
              <a:gdLst>
                <a:gd name="T0" fmla="*/ 590 w 734"/>
                <a:gd name="T1" fmla="*/ 333 h 800"/>
                <a:gd name="T2" fmla="*/ 731 w 734"/>
                <a:gd name="T3" fmla="*/ 128 h 800"/>
                <a:gd name="T4" fmla="*/ 732 w 734"/>
                <a:gd name="T5" fmla="*/ 114 h 800"/>
                <a:gd name="T6" fmla="*/ 720 w 734"/>
                <a:gd name="T7" fmla="*/ 107 h 800"/>
                <a:gd name="T8" fmla="*/ 320 w 734"/>
                <a:gd name="T9" fmla="*/ 107 h 800"/>
                <a:gd name="T10" fmla="*/ 320 w 734"/>
                <a:gd name="T11" fmla="*/ 53 h 800"/>
                <a:gd name="T12" fmla="*/ 307 w 734"/>
                <a:gd name="T13" fmla="*/ 40 h 800"/>
                <a:gd name="T14" fmla="*/ 27 w 734"/>
                <a:gd name="T15" fmla="*/ 40 h 800"/>
                <a:gd name="T16" fmla="*/ 27 w 734"/>
                <a:gd name="T17" fmla="*/ 13 h 800"/>
                <a:gd name="T18" fmla="*/ 14 w 734"/>
                <a:gd name="T19" fmla="*/ 0 h 800"/>
                <a:gd name="T20" fmla="*/ 0 w 734"/>
                <a:gd name="T21" fmla="*/ 13 h 800"/>
                <a:gd name="T22" fmla="*/ 0 w 734"/>
                <a:gd name="T23" fmla="*/ 53 h 800"/>
                <a:gd name="T24" fmla="*/ 0 w 734"/>
                <a:gd name="T25" fmla="*/ 440 h 800"/>
                <a:gd name="T26" fmla="*/ 0 w 734"/>
                <a:gd name="T27" fmla="*/ 787 h 800"/>
                <a:gd name="T28" fmla="*/ 14 w 734"/>
                <a:gd name="T29" fmla="*/ 800 h 800"/>
                <a:gd name="T30" fmla="*/ 27 w 734"/>
                <a:gd name="T31" fmla="*/ 787 h 800"/>
                <a:gd name="T32" fmla="*/ 27 w 734"/>
                <a:gd name="T33" fmla="*/ 453 h 800"/>
                <a:gd name="T34" fmla="*/ 174 w 734"/>
                <a:gd name="T35" fmla="*/ 453 h 800"/>
                <a:gd name="T36" fmla="*/ 160 w 734"/>
                <a:gd name="T37" fmla="*/ 493 h 800"/>
                <a:gd name="T38" fmla="*/ 227 w 734"/>
                <a:gd name="T39" fmla="*/ 560 h 800"/>
                <a:gd name="T40" fmla="*/ 720 w 734"/>
                <a:gd name="T41" fmla="*/ 560 h 800"/>
                <a:gd name="T42" fmla="*/ 732 w 734"/>
                <a:gd name="T43" fmla="*/ 553 h 800"/>
                <a:gd name="T44" fmla="*/ 731 w 734"/>
                <a:gd name="T45" fmla="*/ 539 h 800"/>
                <a:gd name="T46" fmla="*/ 590 w 734"/>
                <a:gd name="T47" fmla="*/ 333 h 800"/>
                <a:gd name="T48" fmla="*/ 27 w 734"/>
                <a:gd name="T49" fmla="*/ 67 h 800"/>
                <a:gd name="T50" fmla="*/ 294 w 734"/>
                <a:gd name="T51" fmla="*/ 67 h 800"/>
                <a:gd name="T52" fmla="*/ 294 w 734"/>
                <a:gd name="T53" fmla="*/ 120 h 800"/>
                <a:gd name="T54" fmla="*/ 294 w 734"/>
                <a:gd name="T55" fmla="*/ 427 h 800"/>
                <a:gd name="T56" fmla="*/ 227 w 734"/>
                <a:gd name="T57" fmla="*/ 427 h 800"/>
                <a:gd name="T58" fmla="*/ 27 w 734"/>
                <a:gd name="T59" fmla="*/ 427 h 800"/>
                <a:gd name="T60" fmla="*/ 27 w 734"/>
                <a:gd name="T61" fmla="*/ 67 h 800"/>
                <a:gd name="T62" fmla="*/ 227 w 734"/>
                <a:gd name="T63" fmla="*/ 533 h 800"/>
                <a:gd name="T64" fmla="*/ 187 w 734"/>
                <a:gd name="T65" fmla="*/ 493 h 800"/>
                <a:gd name="T66" fmla="*/ 227 w 734"/>
                <a:gd name="T67" fmla="*/ 453 h 800"/>
                <a:gd name="T68" fmla="*/ 307 w 734"/>
                <a:gd name="T69" fmla="*/ 453 h 800"/>
                <a:gd name="T70" fmla="*/ 320 w 734"/>
                <a:gd name="T71" fmla="*/ 440 h 800"/>
                <a:gd name="T72" fmla="*/ 320 w 734"/>
                <a:gd name="T73" fmla="*/ 133 h 800"/>
                <a:gd name="T74" fmla="*/ 695 w 734"/>
                <a:gd name="T75" fmla="*/ 133 h 800"/>
                <a:gd name="T76" fmla="*/ 563 w 734"/>
                <a:gd name="T77" fmla="*/ 326 h 800"/>
                <a:gd name="T78" fmla="*/ 563 w 734"/>
                <a:gd name="T79" fmla="*/ 341 h 800"/>
                <a:gd name="T80" fmla="*/ 695 w 734"/>
                <a:gd name="T81" fmla="*/ 533 h 800"/>
                <a:gd name="T82" fmla="*/ 227 w 734"/>
                <a:gd name="T83" fmla="*/ 533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34" h="800">
                  <a:moveTo>
                    <a:pt x="590" y="333"/>
                  </a:moveTo>
                  <a:lnTo>
                    <a:pt x="731" y="128"/>
                  </a:lnTo>
                  <a:cubicBezTo>
                    <a:pt x="734" y="123"/>
                    <a:pt x="734" y="118"/>
                    <a:pt x="732" y="114"/>
                  </a:cubicBezTo>
                  <a:cubicBezTo>
                    <a:pt x="730" y="109"/>
                    <a:pt x="725" y="107"/>
                    <a:pt x="720" y="107"/>
                  </a:cubicBezTo>
                  <a:lnTo>
                    <a:pt x="320" y="107"/>
                  </a:lnTo>
                  <a:lnTo>
                    <a:pt x="320" y="53"/>
                  </a:lnTo>
                  <a:cubicBezTo>
                    <a:pt x="320" y="46"/>
                    <a:pt x="314" y="40"/>
                    <a:pt x="307" y="40"/>
                  </a:cubicBezTo>
                  <a:lnTo>
                    <a:pt x="27" y="40"/>
                  </a:lnTo>
                  <a:lnTo>
                    <a:pt x="27" y="13"/>
                  </a:lnTo>
                  <a:cubicBezTo>
                    <a:pt x="27" y="6"/>
                    <a:pt x="21" y="0"/>
                    <a:pt x="14" y="0"/>
                  </a:cubicBezTo>
                  <a:cubicBezTo>
                    <a:pt x="6" y="0"/>
                    <a:pt x="0" y="6"/>
                    <a:pt x="0" y="13"/>
                  </a:cubicBezTo>
                  <a:lnTo>
                    <a:pt x="0" y="53"/>
                  </a:lnTo>
                  <a:lnTo>
                    <a:pt x="0" y="440"/>
                  </a:lnTo>
                  <a:lnTo>
                    <a:pt x="0" y="787"/>
                  </a:lnTo>
                  <a:cubicBezTo>
                    <a:pt x="0" y="794"/>
                    <a:pt x="6" y="800"/>
                    <a:pt x="14" y="800"/>
                  </a:cubicBezTo>
                  <a:cubicBezTo>
                    <a:pt x="21" y="800"/>
                    <a:pt x="27" y="794"/>
                    <a:pt x="27" y="787"/>
                  </a:cubicBezTo>
                  <a:lnTo>
                    <a:pt x="27" y="453"/>
                  </a:lnTo>
                  <a:lnTo>
                    <a:pt x="174" y="453"/>
                  </a:lnTo>
                  <a:cubicBezTo>
                    <a:pt x="166" y="465"/>
                    <a:pt x="160" y="478"/>
                    <a:pt x="160" y="493"/>
                  </a:cubicBezTo>
                  <a:cubicBezTo>
                    <a:pt x="160" y="530"/>
                    <a:pt x="190" y="560"/>
                    <a:pt x="227" y="560"/>
                  </a:cubicBezTo>
                  <a:lnTo>
                    <a:pt x="720" y="560"/>
                  </a:lnTo>
                  <a:cubicBezTo>
                    <a:pt x="725" y="560"/>
                    <a:pt x="730" y="557"/>
                    <a:pt x="732" y="553"/>
                  </a:cubicBezTo>
                  <a:cubicBezTo>
                    <a:pt x="734" y="548"/>
                    <a:pt x="734" y="543"/>
                    <a:pt x="731" y="539"/>
                  </a:cubicBezTo>
                  <a:lnTo>
                    <a:pt x="590" y="333"/>
                  </a:lnTo>
                  <a:close/>
                  <a:moveTo>
                    <a:pt x="27" y="67"/>
                  </a:moveTo>
                  <a:lnTo>
                    <a:pt x="294" y="67"/>
                  </a:lnTo>
                  <a:lnTo>
                    <a:pt x="294" y="120"/>
                  </a:lnTo>
                  <a:lnTo>
                    <a:pt x="294" y="427"/>
                  </a:lnTo>
                  <a:lnTo>
                    <a:pt x="227" y="427"/>
                  </a:lnTo>
                  <a:lnTo>
                    <a:pt x="27" y="427"/>
                  </a:lnTo>
                  <a:lnTo>
                    <a:pt x="27" y="67"/>
                  </a:lnTo>
                  <a:close/>
                  <a:moveTo>
                    <a:pt x="227" y="533"/>
                  </a:moveTo>
                  <a:cubicBezTo>
                    <a:pt x="205" y="533"/>
                    <a:pt x="187" y="515"/>
                    <a:pt x="187" y="493"/>
                  </a:cubicBezTo>
                  <a:cubicBezTo>
                    <a:pt x="187" y="471"/>
                    <a:pt x="205" y="453"/>
                    <a:pt x="227" y="453"/>
                  </a:cubicBezTo>
                  <a:lnTo>
                    <a:pt x="307" y="453"/>
                  </a:lnTo>
                  <a:cubicBezTo>
                    <a:pt x="314" y="453"/>
                    <a:pt x="320" y="447"/>
                    <a:pt x="320" y="440"/>
                  </a:cubicBezTo>
                  <a:lnTo>
                    <a:pt x="320" y="133"/>
                  </a:lnTo>
                  <a:lnTo>
                    <a:pt x="695" y="133"/>
                  </a:lnTo>
                  <a:lnTo>
                    <a:pt x="563" y="326"/>
                  </a:lnTo>
                  <a:cubicBezTo>
                    <a:pt x="560" y="330"/>
                    <a:pt x="560" y="336"/>
                    <a:pt x="563" y="341"/>
                  </a:cubicBezTo>
                  <a:lnTo>
                    <a:pt x="695" y="533"/>
                  </a:lnTo>
                  <a:lnTo>
                    <a:pt x="227" y="533"/>
                  </a:lnTo>
                  <a:close/>
                </a:path>
              </a:pathLst>
            </a:custGeom>
            <a:solidFill>
              <a:schemeClr val="accent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oehringer Forward Text"/>
                <a:ea typeface="+mn-ea"/>
                <a:cs typeface="+mn-cs"/>
              </a:endParaRPr>
            </a:p>
          </p:txBody>
        </p:sp>
      </p:grpSp>
      <p:grpSp>
        <p:nvGrpSpPr>
          <p:cNvPr id="39" name="组合 38">
            <a:extLst>
              <a:ext uri="{FF2B5EF4-FFF2-40B4-BE49-F238E27FC236}">
                <a16:creationId xmlns:a16="http://schemas.microsoft.com/office/drawing/2014/main" id="{57FB6DED-4442-CDDD-FECB-BC1B49AE5559}"/>
              </a:ext>
            </a:extLst>
          </p:cNvPr>
          <p:cNvGrpSpPr/>
          <p:nvPr/>
        </p:nvGrpSpPr>
        <p:grpSpPr>
          <a:xfrm rot="10800000">
            <a:off x="911504" y="3626137"/>
            <a:ext cx="10873683" cy="684076"/>
            <a:chOff x="-636280" y="4577344"/>
            <a:chExt cx="10873683" cy="1072702"/>
          </a:xfrm>
        </p:grpSpPr>
        <p:sp>
          <p:nvSpPr>
            <p:cNvPr id="40" name="矩形 39">
              <a:extLst>
                <a:ext uri="{FF2B5EF4-FFF2-40B4-BE49-F238E27FC236}">
                  <a16:creationId xmlns:a16="http://schemas.microsoft.com/office/drawing/2014/main" id="{6424E771-362C-1D8A-2B0E-F1F90C1A86A0}"/>
                </a:ext>
              </a:extLst>
            </p:cNvPr>
            <p:cNvSpPr/>
            <p:nvPr/>
          </p:nvSpPr>
          <p:spPr>
            <a:xfrm>
              <a:off x="-636280" y="4577344"/>
              <a:ext cx="10652305" cy="1072702"/>
            </a:xfrm>
            <a:prstGeom prst="rect">
              <a:avLst/>
            </a:prstGeom>
            <a:solidFill>
              <a:srgbClr val="E0E1F6">
                <a:alpha val="40000"/>
              </a:srgb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41" name="组合 40">
              <a:extLst>
                <a:ext uri="{FF2B5EF4-FFF2-40B4-BE49-F238E27FC236}">
                  <a16:creationId xmlns:a16="http://schemas.microsoft.com/office/drawing/2014/main" id="{1797E04F-0752-D218-F2B2-B880E877A441}"/>
                </a:ext>
              </a:extLst>
            </p:cNvPr>
            <p:cNvGrpSpPr/>
            <p:nvPr/>
          </p:nvGrpSpPr>
          <p:grpSpPr>
            <a:xfrm rot="16200000">
              <a:off x="9558144" y="4927187"/>
              <a:ext cx="988301" cy="370217"/>
              <a:chOff x="622211" y="1610917"/>
              <a:chExt cx="4967606" cy="311562"/>
            </a:xfrm>
          </p:grpSpPr>
          <p:sp>
            <p:nvSpPr>
              <p:cNvPr id="42" name="任意多边形: 形状 41">
                <a:extLst>
                  <a:ext uri="{FF2B5EF4-FFF2-40B4-BE49-F238E27FC236}">
                    <a16:creationId xmlns:a16="http://schemas.microsoft.com/office/drawing/2014/main" id="{A29C35FD-FA2D-D399-D1A1-152609299B08}"/>
                  </a:ext>
                </a:extLst>
              </p:cNvPr>
              <p:cNvSpPr/>
              <p:nvPr/>
            </p:nvSpPr>
            <p:spPr>
              <a:xfrm>
                <a:off x="622211" y="1610917"/>
                <a:ext cx="4967606" cy="254859"/>
              </a:xfrm>
              <a:custGeom>
                <a:avLst/>
                <a:gdLst>
                  <a:gd name="connsiteX0" fmla="*/ 4967607 w 4967606"/>
                  <a:gd name="connsiteY0" fmla="*/ 261884 h 546471"/>
                  <a:gd name="connsiteX1" fmla="*/ 4967607 w 4967606"/>
                  <a:gd name="connsiteY1" fmla="*/ 267428 h 546471"/>
                  <a:gd name="connsiteX2" fmla="*/ 4812378 w 4967606"/>
                  <a:gd name="connsiteY2" fmla="*/ 422657 h 546471"/>
                  <a:gd name="connsiteX3" fmla="*/ 2572110 w 4967606"/>
                  <a:gd name="connsiteY3" fmla="*/ 422657 h 546471"/>
                  <a:gd name="connsiteX4" fmla="*/ 2507959 w 4967606"/>
                  <a:gd name="connsiteY4" fmla="*/ 456713 h 546471"/>
                  <a:gd name="connsiteX5" fmla="*/ 2454368 w 4967606"/>
                  <a:gd name="connsiteY5" fmla="*/ 536175 h 546471"/>
                  <a:gd name="connsiteX6" fmla="*/ 2415825 w 4967606"/>
                  <a:gd name="connsiteY6" fmla="*/ 536175 h 546471"/>
                  <a:gd name="connsiteX7" fmla="*/ 2362234 w 4967606"/>
                  <a:gd name="connsiteY7" fmla="*/ 456713 h 546471"/>
                  <a:gd name="connsiteX8" fmla="*/ 2298083 w 4967606"/>
                  <a:gd name="connsiteY8" fmla="*/ 422657 h 546471"/>
                  <a:gd name="connsiteX9" fmla="*/ 155229 w 4967606"/>
                  <a:gd name="connsiteY9" fmla="*/ 422657 h 546471"/>
                  <a:gd name="connsiteX10" fmla="*/ 0 w 4967606"/>
                  <a:gd name="connsiteY10" fmla="*/ 267692 h 546471"/>
                  <a:gd name="connsiteX11" fmla="*/ 0 w 4967606"/>
                  <a:gd name="connsiteY11" fmla="*/ 261884 h 546471"/>
                  <a:gd name="connsiteX12" fmla="*/ 0 w 4967606"/>
                  <a:gd name="connsiteY12" fmla="*/ 0 h 546471"/>
                  <a:gd name="connsiteX13" fmla="*/ 4953615 w 4967606"/>
                  <a:gd name="connsiteY13" fmla="*/ 0 h 546471"/>
                  <a:gd name="connsiteX14" fmla="*/ 4967607 w 4967606"/>
                  <a:gd name="connsiteY14" fmla="*/ 261884 h 54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67606" h="546471">
                    <a:moveTo>
                      <a:pt x="4967607" y="261884"/>
                    </a:moveTo>
                    <a:lnTo>
                      <a:pt x="4967607" y="267428"/>
                    </a:lnTo>
                    <a:cubicBezTo>
                      <a:pt x="4967607" y="353226"/>
                      <a:pt x="4898176" y="422657"/>
                      <a:pt x="4812378" y="422657"/>
                    </a:cubicBezTo>
                    <a:lnTo>
                      <a:pt x="2572110" y="422657"/>
                    </a:lnTo>
                    <a:cubicBezTo>
                      <a:pt x="2546238" y="422657"/>
                      <a:pt x="2522215" y="435329"/>
                      <a:pt x="2507959" y="456713"/>
                    </a:cubicBezTo>
                    <a:lnTo>
                      <a:pt x="2454368" y="536175"/>
                    </a:lnTo>
                    <a:cubicBezTo>
                      <a:pt x="2445128" y="549903"/>
                      <a:pt x="2425065" y="549903"/>
                      <a:pt x="2415825" y="536175"/>
                    </a:cubicBezTo>
                    <a:lnTo>
                      <a:pt x="2362234" y="456713"/>
                    </a:lnTo>
                    <a:cubicBezTo>
                      <a:pt x="2347714" y="435329"/>
                      <a:pt x="2323690" y="422657"/>
                      <a:pt x="2298083" y="422657"/>
                    </a:cubicBezTo>
                    <a:lnTo>
                      <a:pt x="155229" y="422657"/>
                    </a:lnTo>
                    <a:cubicBezTo>
                      <a:pt x="69431" y="422657"/>
                      <a:pt x="0" y="353226"/>
                      <a:pt x="0" y="267692"/>
                    </a:cubicBezTo>
                    <a:lnTo>
                      <a:pt x="0" y="261884"/>
                    </a:lnTo>
                    <a:lnTo>
                      <a:pt x="0" y="0"/>
                    </a:lnTo>
                    <a:lnTo>
                      <a:pt x="4953615" y="0"/>
                    </a:lnTo>
                    <a:lnTo>
                      <a:pt x="4967607" y="261884"/>
                    </a:lnTo>
                    <a:close/>
                  </a:path>
                </a:pathLst>
              </a:custGeom>
              <a:gradFill>
                <a:gsLst>
                  <a:gs pos="0">
                    <a:sysClr val="window" lastClr="FFFFFF">
                      <a:alpha val="0"/>
                    </a:sysClr>
                  </a:gs>
                  <a:gs pos="93000">
                    <a:srgbClr val="F2F2F2"/>
                  </a:gs>
                </a:gsLst>
                <a:lin ang="5400000" scaled="0"/>
              </a:gradFill>
              <a:ln w="263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1965"/>
                  </a:solidFill>
                  <a:effectLst/>
                  <a:uLnTx/>
                  <a:uFillTx/>
                  <a:latin typeface="Apis For Office" panose="020B0504010101010104" pitchFamily="34" charset="0"/>
                  <a:ea typeface="微软雅黑" panose="020B0503020204020204" pitchFamily="34" charset="-122"/>
                  <a:cs typeface="+mn-cs"/>
                  <a:sym typeface="Apis For Office" panose="020B0504010101010104" pitchFamily="34" charset="0"/>
                </a:endParaRPr>
              </a:p>
            </p:txBody>
          </p:sp>
          <p:sp>
            <p:nvSpPr>
              <p:cNvPr id="43" name="任意多边形: 形状 42">
                <a:extLst>
                  <a:ext uri="{FF2B5EF4-FFF2-40B4-BE49-F238E27FC236}">
                    <a16:creationId xmlns:a16="http://schemas.microsoft.com/office/drawing/2014/main" id="{5D6E0FD3-F7DD-FF26-B888-7F3AE6F7440A}"/>
                  </a:ext>
                </a:extLst>
              </p:cNvPr>
              <p:cNvSpPr/>
              <p:nvPr/>
            </p:nvSpPr>
            <p:spPr>
              <a:xfrm>
                <a:off x="874188" y="1798666"/>
                <a:ext cx="4637084" cy="123813"/>
              </a:xfrm>
              <a:custGeom>
                <a:avLst/>
                <a:gdLst>
                  <a:gd name="connsiteX0" fmla="*/ 4637085 w 4637084"/>
                  <a:gd name="connsiteY0" fmla="*/ 0 h 123813"/>
                  <a:gd name="connsiteX1" fmla="*/ 2416881 w 4637084"/>
                  <a:gd name="connsiteY1" fmla="*/ 0 h 123813"/>
                  <a:gd name="connsiteX2" fmla="*/ 2352730 w 4637084"/>
                  <a:gd name="connsiteY2" fmla="*/ 34055 h 123813"/>
                  <a:gd name="connsiteX3" fmla="*/ 2299139 w 4637084"/>
                  <a:gd name="connsiteY3" fmla="*/ 113518 h 123813"/>
                  <a:gd name="connsiteX4" fmla="*/ 2260595 w 4637084"/>
                  <a:gd name="connsiteY4" fmla="*/ 113518 h 123813"/>
                  <a:gd name="connsiteX5" fmla="*/ 2207004 w 4637084"/>
                  <a:gd name="connsiteY5" fmla="*/ 34055 h 123813"/>
                  <a:gd name="connsiteX6" fmla="*/ 2142853 w 4637084"/>
                  <a:gd name="connsiteY6" fmla="*/ 0 h 123813"/>
                  <a:gd name="connsiteX7" fmla="*/ 0 w 4637084"/>
                  <a:gd name="connsiteY7" fmla="*/ 0 h 12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7084" h="123813">
                    <a:moveTo>
                      <a:pt x="4637085" y="0"/>
                    </a:moveTo>
                    <a:lnTo>
                      <a:pt x="2416881" y="0"/>
                    </a:lnTo>
                    <a:cubicBezTo>
                      <a:pt x="2391009" y="0"/>
                      <a:pt x="2366986" y="12672"/>
                      <a:pt x="2352730" y="34055"/>
                    </a:cubicBezTo>
                    <a:lnTo>
                      <a:pt x="2299139" y="113518"/>
                    </a:lnTo>
                    <a:cubicBezTo>
                      <a:pt x="2289899" y="127246"/>
                      <a:pt x="2269835" y="127246"/>
                      <a:pt x="2260595" y="113518"/>
                    </a:cubicBezTo>
                    <a:lnTo>
                      <a:pt x="2207004" y="34055"/>
                    </a:lnTo>
                    <a:cubicBezTo>
                      <a:pt x="2192484" y="12672"/>
                      <a:pt x="2168461" y="0"/>
                      <a:pt x="2142853" y="0"/>
                    </a:cubicBezTo>
                    <a:lnTo>
                      <a:pt x="0" y="0"/>
                    </a:lnTo>
                  </a:path>
                </a:pathLst>
              </a:custGeom>
              <a:noFill/>
              <a:ln w="12700" cap="flat">
                <a:solidFill>
                  <a:srgbClr val="928BDE"/>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pis For Office" panose="020B0504010101010104" pitchFamily="34" charset="0"/>
                  <a:ea typeface="微软雅黑" panose="020B0503020204020204" pitchFamily="34" charset="-122"/>
                  <a:cs typeface="+mn-cs"/>
                  <a:sym typeface="Apis For Office" panose="020B0504010101010104" pitchFamily="34" charset="0"/>
                </a:endParaRPr>
              </a:p>
            </p:txBody>
          </p:sp>
        </p:grpSp>
      </p:grpSp>
      <p:sp>
        <p:nvSpPr>
          <p:cNvPr id="44" name="文本框 43">
            <a:extLst>
              <a:ext uri="{FF2B5EF4-FFF2-40B4-BE49-F238E27FC236}">
                <a16:creationId xmlns:a16="http://schemas.microsoft.com/office/drawing/2014/main" id="{5F6DDE0C-E66B-670A-D397-25A190E8384A}"/>
              </a:ext>
            </a:extLst>
          </p:cNvPr>
          <p:cNvSpPr txBox="1"/>
          <p:nvPr/>
        </p:nvSpPr>
        <p:spPr bwMode="gray">
          <a:xfrm>
            <a:off x="1104234" y="3707532"/>
            <a:ext cx="10572385" cy="523157"/>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In the inclusion and exclusion criteria, the requirement for the target ulcer area of PG to be 5-80 cm² has a relatively narrow range, which may exclude some patients.</a:t>
            </a:r>
            <a:endParaRPr kumimoji="0" lang="zh-CN" altLang="en-US" sz="1200" b="1"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45" name="文本框 44">
            <a:extLst>
              <a:ext uri="{FF2B5EF4-FFF2-40B4-BE49-F238E27FC236}">
                <a16:creationId xmlns:a16="http://schemas.microsoft.com/office/drawing/2014/main" id="{9373A7DB-725A-5926-11A7-0BDBED4BD291}"/>
              </a:ext>
            </a:extLst>
          </p:cNvPr>
          <p:cNvSpPr txBox="1"/>
          <p:nvPr/>
        </p:nvSpPr>
        <p:spPr bwMode="gray">
          <a:xfrm>
            <a:off x="406400" y="4502355"/>
            <a:ext cx="10692569" cy="744756"/>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Peking University Third Hospital adopts a “ 0 Corticosteroid ” treatment regimen for PG, generally using </a:t>
            </a:r>
            <a:r>
              <a:rPr kumimoji="0" lang="en-US" altLang="zh-CN" sz="1200" b="1" i="0" u="none" strike="noStrike" kern="1200" cap="none" spc="0" normalizeH="0" baseline="0" noProof="0">
                <a:ln>
                  <a:noFill/>
                </a:ln>
                <a:solidFill>
                  <a:srgbClr val="08312A"/>
                </a:solidFill>
                <a:effectLst/>
                <a:uLnTx/>
                <a:uFillTx/>
                <a:latin typeface="Boehringer Forward Text"/>
                <a:ea typeface="+mn-ea"/>
                <a:cs typeface="+mn-cs"/>
              </a:rPr>
              <a:t>JAK inhibitors, which show efficacy within one week, with improvement of skin lesions and pain</a:t>
            </a: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 If the effect is not satisfactory, adalimumab is used, which can achieve favorable outcomes.</a:t>
            </a:r>
            <a:endParaRPr kumimoji="0" lang="zh-CN" altLang="en-US" sz="12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46" name="文本框 45">
            <a:extLst>
              <a:ext uri="{FF2B5EF4-FFF2-40B4-BE49-F238E27FC236}">
                <a16:creationId xmlns:a16="http://schemas.microsoft.com/office/drawing/2014/main" id="{19F0C185-1251-FE0F-3A63-1AFDC6441E1B}"/>
              </a:ext>
            </a:extLst>
          </p:cNvPr>
          <p:cNvSpPr txBox="1"/>
          <p:nvPr/>
        </p:nvSpPr>
        <p:spPr bwMode="gray">
          <a:xfrm>
            <a:off x="1104235" y="5294445"/>
            <a:ext cx="10499608" cy="744756"/>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Wound care is essential for all PG patients, and the timing of </a:t>
            </a:r>
            <a:r>
              <a:rPr kumimoji="0" lang="en-US" altLang="zh-CN" sz="1200" b="1" i="0" u="none" strike="noStrike" kern="1200" cap="none" spc="0" normalizeH="0" baseline="0" noProof="0">
                <a:ln>
                  <a:noFill/>
                </a:ln>
                <a:solidFill>
                  <a:srgbClr val="08312A"/>
                </a:solidFill>
                <a:effectLst/>
                <a:uLnTx/>
                <a:uFillTx/>
                <a:latin typeface="Boehringer Forward Text"/>
                <a:ea typeface="+mn-ea"/>
                <a:cs typeface="+mn-cs"/>
              </a:rPr>
              <a:t>debridement and skin grafting is crucial</a:t>
            </a: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 Debridement and skin grafting are usually performed during the </a:t>
            </a:r>
            <a:r>
              <a:rPr kumimoji="0" lang="en-US" altLang="zh-CN" sz="1200" b="1" i="0" u="none" strike="noStrike" kern="1200" cap="none" spc="0" normalizeH="0" baseline="0" noProof="0">
                <a:ln>
                  <a:noFill/>
                </a:ln>
                <a:solidFill>
                  <a:srgbClr val="08312A"/>
                </a:solidFill>
                <a:effectLst/>
                <a:uLnTx/>
                <a:uFillTx/>
                <a:latin typeface="Boehringer Forward Text"/>
                <a:ea typeface="+mn-ea"/>
                <a:cs typeface="+mn-cs"/>
              </a:rPr>
              <a:t>non-active phase </a:t>
            </a: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to promote ulcer healing; if in the </a:t>
            </a:r>
            <a:r>
              <a:rPr kumimoji="0" lang="en-US" altLang="zh-CN" sz="1200" b="1" i="0" u="none" strike="noStrike" kern="1200" cap="none" spc="0" normalizeH="0" baseline="0" noProof="0">
                <a:ln>
                  <a:noFill/>
                </a:ln>
                <a:solidFill>
                  <a:srgbClr val="08312A"/>
                </a:solidFill>
                <a:effectLst/>
                <a:uLnTx/>
                <a:uFillTx/>
                <a:latin typeface="Boehringer Forward Text"/>
                <a:ea typeface="+mn-ea"/>
                <a:cs typeface="+mn-cs"/>
              </a:rPr>
              <a:t>active phase and the ulcer site has poor growth of new tissue</a:t>
            </a: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 </a:t>
            </a:r>
            <a:r>
              <a:rPr kumimoji="0" lang="en-US" altLang="zh-CN" sz="1200" b="1" i="0" u="none" strike="noStrike" kern="1200" cap="none" spc="0" normalizeH="0" baseline="0" noProof="0">
                <a:ln>
                  <a:noFill/>
                </a:ln>
                <a:solidFill>
                  <a:srgbClr val="08312A"/>
                </a:solidFill>
                <a:effectLst/>
                <a:uLnTx/>
                <a:uFillTx/>
                <a:latin typeface="Boehringer Forward Text"/>
                <a:ea typeface="+mn-ea"/>
                <a:cs typeface="+mn-cs"/>
              </a:rPr>
              <a:t>debridement </a:t>
            </a: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can also be </a:t>
            </a:r>
            <a:r>
              <a:rPr kumimoji="0" lang="en-US" altLang="zh-CN" sz="1200" b="1" i="0" u="none" strike="noStrike" kern="1200" cap="none" spc="0" normalizeH="0" baseline="0" noProof="0">
                <a:ln>
                  <a:noFill/>
                </a:ln>
                <a:solidFill>
                  <a:srgbClr val="08312A"/>
                </a:solidFill>
                <a:effectLst/>
                <a:uLnTx/>
                <a:uFillTx/>
                <a:latin typeface="Boehringer Forward Text"/>
                <a:ea typeface="+mn-ea"/>
                <a:cs typeface="+mn-cs"/>
              </a:rPr>
              <a:t>cautiously implemented</a:t>
            </a:r>
            <a:r>
              <a:rPr kumimoji="0" lang="en-US" altLang="zh-CN" sz="1200" b="0" i="0" u="none" strike="noStrike" kern="1200" cap="none" spc="0" normalizeH="0" baseline="0" noProof="0">
                <a:ln>
                  <a:noFill/>
                </a:ln>
                <a:solidFill>
                  <a:srgbClr val="08312A"/>
                </a:solidFill>
                <a:effectLst/>
                <a:uLnTx/>
                <a:uFillTx/>
                <a:latin typeface="Boehringer Forward Text"/>
                <a:ea typeface="+mn-ea"/>
                <a:cs typeface="+mn-cs"/>
              </a:rPr>
              <a:t>, which can also help ulcer recovery.</a:t>
            </a:r>
            <a:endParaRPr kumimoji="0" lang="zh-CN" altLang="en-US" sz="1200" b="0" i="0" u="none" strike="noStrike" kern="1200" cap="none" spc="0" normalizeH="0" baseline="0" noProof="0">
              <a:ln>
                <a:noFill/>
              </a:ln>
              <a:solidFill>
                <a:srgbClr val="08312A"/>
              </a:solidFill>
              <a:effectLst/>
              <a:uLnTx/>
              <a:uFillTx/>
              <a:latin typeface="Boehringer Forward Text"/>
              <a:ea typeface="+mn-ea"/>
              <a:cs typeface="+mn-cs"/>
            </a:endParaRPr>
          </a:p>
        </p:txBody>
      </p:sp>
      <p:grpSp>
        <p:nvGrpSpPr>
          <p:cNvPr id="47" name="组合 46">
            <a:extLst>
              <a:ext uri="{FF2B5EF4-FFF2-40B4-BE49-F238E27FC236}">
                <a16:creationId xmlns:a16="http://schemas.microsoft.com/office/drawing/2014/main" id="{C2DA3320-64D1-5A1B-5612-558A6F25C9F1}"/>
              </a:ext>
            </a:extLst>
          </p:cNvPr>
          <p:cNvGrpSpPr>
            <a:grpSpLocks/>
          </p:cNvGrpSpPr>
          <p:nvPr/>
        </p:nvGrpSpPr>
        <p:grpSpPr>
          <a:xfrm>
            <a:off x="485780" y="3799657"/>
            <a:ext cx="374559" cy="374559"/>
            <a:chOff x="659396" y="3753036"/>
            <a:chExt cx="679708" cy="679708"/>
          </a:xfrm>
          <a:effectLst>
            <a:outerShdw blurRad="50800" dist="63500" dir="5400000" sx="90000" sy="-19000" rotWithShape="0">
              <a:schemeClr val="bg1">
                <a:lumMod val="50000"/>
                <a:alpha val="15000"/>
              </a:schemeClr>
            </a:outerShdw>
          </a:effectLst>
        </p:grpSpPr>
        <p:sp>
          <p:nvSpPr>
            <p:cNvPr id="48" name="椭圆 47">
              <a:extLst>
                <a:ext uri="{FF2B5EF4-FFF2-40B4-BE49-F238E27FC236}">
                  <a16:creationId xmlns:a16="http://schemas.microsoft.com/office/drawing/2014/main" id="{262C78C2-5A8A-15C0-3FB2-CE66C9E01564}"/>
                </a:ext>
              </a:extLst>
            </p:cNvPr>
            <p:cNvSpPr/>
            <p:nvPr/>
          </p:nvSpPr>
          <p:spPr>
            <a:xfrm>
              <a:off x="659396" y="3753036"/>
              <a:ext cx="679708" cy="679708"/>
            </a:xfrm>
            <a:prstGeom prst="ellipse">
              <a:avLst/>
            </a:prstGeom>
            <a:solidFill>
              <a:schemeClr val="bg1"/>
            </a:solidFill>
            <a:ln w="19050">
              <a:gradFill>
                <a:gsLst>
                  <a:gs pos="67829">
                    <a:schemeClr val="bg2"/>
                  </a:gs>
                  <a:gs pos="0">
                    <a:schemeClr val="accent2"/>
                  </a:gs>
                  <a:gs pos="100000">
                    <a:schemeClr val="accent2"/>
                  </a:gs>
                  <a:gs pos="45000">
                    <a:schemeClr val="bg2"/>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is For Office" panose="020B0504010101010104"/>
                <a:ea typeface="微软雅黑" panose="020B0503020204020204" pitchFamily="34" charset="-122"/>
                <a:cs typeface="+mn-cs"/>
              </a:endParaRPr>
            </a:p>
          </p:txBody>
        </p:sp>
        <p:sp>
          <p:nvSpPr>
            <p:cNvPr id="49" name="leather_144663">
              <a:extLst>
                <a:ext uri="{FF2B5EF4-FFF2-40B4-BE49-F238E27FC236}">
                  <a16:creationId xmlns:a16="http://schemas.microsoft.com/office/drawing/2014/main" id="{F46F52F5-7F8E-3C6B-A357-6FC7CE0CE682}"/>
                </a:ext>
              </a:extLst>
            </p:cNvPr>
            <p:cNvSpPr/>
            <p:nvPr/>
          </p:nvSpPr>
          <p:spPr>
            <a:xfrm>
              <a:off x="834663" y="3904465"/>
              <a:ext cx="329174" cy="376851"/>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88862 h 440259"/>
                <a:gd name="T55" fmla="*/ 88862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278945 h 440259"/>
                <a:gd name="T89" fmla="*/ 278945 h 440259"/>
                <a:gd name="T90" fmla="*/ 278945 h 440259"/>
                <a:gd name="T91" fmla="*/ 278945 h 440259"/>
                <a:gd name="T92" fmla="*/ 278945 h 440259"/>
                <a:gd name="T93" fmla="*/ 278945 h 440259"/>
                <a:gd name="T94" fmla="*/ 278945 h 440259"/>
                <a:gd name="T95" fmla="*/ 278945 h 440259"/>
                <a:gd name="T96" fmla="*/ 278945 h 440259"/>
                <a:gd name="T97" fmla="*/ 278945 h 440259"/>
                <a:gd name="T98" fmla="*/ 278945 h 440259"/>
                <a:gd name="T99" fmla="*/ 278945 h 440259"/>
                <a:gd name="T100" fmla="*/ 278945 h 440259"/>
                <a:gd name="T101" fmla="*/ 278945 h 440259"/>
                <a:gd name="T102" fmla="*/ 278945 h 440259"/>
                <a:gd name="T103" fmla="*/ 278945 h 440259"/>
                <a:gd name="T104" fmla="*/ 278945 h 440259"/>
                <a:gd name="T105" fmla="*/ 278945 h 440259"/>
                <a:gd name="T106" fmla="*/ 278945 h 440259"/>
                <a:gd name="T10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186" h="4800">
                  <a:moveTo>
                    <a:pt x="3040" y="540"/>
                  </a:moveTo>
                  <a:lnTo>
                    <a:pt x="3040" y="0"/>
                  </a:lnTo>
                  <a:lnTo>
                    <a:pt x="1173" y="0"/>
                  </a:lnTo>
                  <a:lnTo>
                    <a:pt x="1173" y="540"/>
                  </a:lnTo>
                  <a:cubicBezTo>
                    <a:pt x="1173" y="742"/>
                    <a:pt x="1009" y="907"/>
                    <a:pt x="806" y="907"/>
                  </a:cubicBezTo>
                  <a:lnTo>
                    <a:pt x="0" y="907"/>
                  </a:lnTo>
                  <a:lnTo>
                    <a:pt x="0" y="1647"/>
                  </a:lnTo>
                  <a:lnTo>
                    <a:pt x="134" y="1772"/>
                  </a:lnTo>
                  <a:cubicBezTo>
                    <a:pt x="311" y="1936"/>
                    <a:pt x="408" y="2159"/>
                    <a:pt x="408" y="2400"/>
                  </a:cubicBezTo>
                  <a:cubicBezTo>
                    <a:pt x="408" y="2641"/>
                    <a:pt x="311" y="2864"/>
                    <a:pt x="134" y="3028"/>
                  </a:cubicBezTo>
                  <a:lnTo>
                    <a:pt x="0" y="3153"/>
                  </a:lnTo>
                  <a:lnTo>
                    <a:pt x="0" y="3893"/>
                  </a:lnTo>
                  <a:lnTo>
                    <a:pt x="806" y="3893"/>
                  </a:lnTo>
                  <a:cubicBezTo>
                    <a:pt x="1009" y="3893"/>
                    <a:pt x="1173" y="4058"/>
                    <a:pt x="1173" y="4260"/>
                  </a:cubicBezTo>
                  <a:lnTo>
                    <a:pt x="1173" y="4800"/>
                  </a:lnTo>
                  <a:lnTo>
                    <a:pt x="3040" y="4800"/>
                  </a:lnTo>
                  <a:lnTo>
                    <a:pt x="3040" y="4260"/>
                  </a:lnTo>
                  <a:cubicBezTo>
                    <a:pt x="3040" y="4058"/>
                    <a:pt x="3204" y="3893"/>
                    <a:pt x="3406" y="3893"/>
                  </a:cubicBezTo>
                  <a:lnTo>
                    <a:pt x="4186" y="3893"/>
                  </a:lnTo>
                  <a:lnTo>
                    <a:pt x="4186" y="3153"/>
                  </a:lnTo>
                  <a:lnTo>
                    <a:pt x="4052" y="3028"/>
                  </a:lnTo>
                  <a:cubicBezTo>
                    <a:pt x="3875" y="2864"/>
                    <a:pt x="3778" y="2641"/>
                    <a:pt x="3778" y="2400"/>
                  </a:cubicBezTo>
                  <a:cubicBezTo>
                    <a:pt x="3778" y="2159"/>
                    <a:pt x="3875" y="1936"/>
                    <a:pt x="4052" y="1772"/>
                  </a:cubicBezTo>
                  <a:lnTo>
                    <a:pt x="4186" y="1647"/>
                  </a:lnTo>
                  <a:lnTo>
                    <a:pt x="4186" y="907"/>
                  </a:lnTo>
                  <a:lnTo>
                    <a:pt x="3406" y="907"/>
                  </a:lnTo>
                  <a:cubicBezTo>
                    <a:pt x="3204" y="907"/>
                    <a:pt x="3040" y="742"/>
                    <a:pt x="3040" y="540"/>
                  </a:cubicBezTo>
                  <a:close/>
                  <a:moveTo>
                    <a:pt x="3786" y="1473"/>
                  </a:moveTo>
                  <a:lnTo>
                    <a:pt x="3780" y="1478"/>
                  </a:lnTo>
                  <a:cubicBezTo>
                    <a:pt x="3524" y="1715"/>
                    <a:pt x="3378" y="2051"/>
                    <a:pt x="3378" y="2400"/>
                  </a:cubicBezTo>
                  <a:cubicBezTo>
                    <a:pt x="3378" y="2749"/>
                    <a:pt x="3524" y="3085"/>
                    <a:pt x="3780" y="3322"/>
                  </a:cubicBezTo>
                  <a:lnTo>
                    <a:pt x="3786" y="3327"/>
                  </a:lnTo>
                  <a:lnTo>
                    <a:pt x="3786" y="3493"/>
                  </a:lnTo>
                  <a:lnTo>
                    <a:pt x="3406" y="3493"/>
                  </a:lnTo>
                  <a:cubicBezTo>
                    <a:pt x="2984" y="3493"/>
                    <a:pt x="2640" y="3837"/>
                    <a:pt x="2640" y="4260"/>
                  </a:cubicBezTo>
                  <a:lnTo>
                    <a:pt x="2640" y="4400"/>
                  </a:lnTo>
                  <a:lnTo>
                    <a:pt x="1573" y="4400"/>
                  </a:lnTo>
                  <a:lnTo>
                    <a:pt x="1573" y="4260"/>
                  </a:lnTo>
                  <a:cubicBezTo>
                    <a:pt x="1573" y="3837"/>
                    <a:pt x="1229" y="3493"/>
                    <a:pt x="806" y="3493"/>
                  </a:cubicBezTo>
                  <a:lnTo>
                    <a:pt x="400" y="3493"/>
                  </a:lnTo>
                  <a:lnTo>
                    <a:pt x="400" y="3327"/>
                  </a:lnTo>
                  <a:lnTo>
                    <a:pt x="406" y="3322"/>
                  </a:lnTo>
                  <a:cubicBezTo>
                    <a:pt x="662" y="3085"/>
                    <a:pt x="808" y="2749"/>
                    <a:pt x="808" y="2400"/>
                  </a:cubicBezTo>
                  <a:cubicBezTo>
                    <a:pt x="808" y="2051"/>
                    <a:pt x="662" y="1715"/>
                    <a:pt x="406" y="1478"/>
                  </a:cubicBezTo>
                  <a:lnTo>
                    <a:pt x="400" y="1473"/>
                  </a:lnTo>
                  <a:lnTo>
                    <a:pt x="400" y="1307"/>
                  </a:lnTo>
                  <a:lnTo>
                    <a:pt x="806" y="1307"/>
                  </a:lnTo>
                  <a:cubicBezTo>
                    <a:pt x="1229" y="1307"/>
                    <a:pt x="1573" y="963"/>
                    <a:pt x="1573" y="540"/>
                  </a:cubicBezTo>
                  <a:lnTo>
                    <a:pt x="1573" y="400"/>
                  </a:lnTo>
                  <a:lnTo>
                    <a:pt x="2640" y="400"/>
                  </a:lnTo>
                  <a:lnTo>
                    <a:pt x="2640" y="540"/>
                  </a:lnTo>
                  <a:cubicBezTo>
                    <a:pt x="2640" y="963"/>
                    <a:pt x="2984" y="1307"/>
                    <a:pt x="3406" y="1307"/>
                  </a:cubicBezTo>
                  <a:lnTo>
                    <a:pt x="3786" y="1307"/>
                  </a:lnTo>
                  <a:lnTo>
                    <a:pt x="3786" y="1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oehringer Forward Text"/>
                <a:ea typeface="+mn-ea"/>
                <a:cs typeface="+mn-cs"/>
              </a:endParaRPr>
            </a:p>
          </p:txBody>
        </p:sp>
      </p:grpSp>
      <p:grpSp>
        <p:nvGrpSpPr>
          <p:cNvPr id="55" name="组合 54">
            <a:extLst>
              <a:ext uri="{FF2B5EF4-FFF2-40B4-BE49-F238E27FC236}">
                <a16:creationId xmlns:a16="http://schemas.microsoft.com/office/drawing/2014/main" id="{766F49E6-F61D-F963-9998-C69118D85E24}"/>
              </a:ext>
            </a:extLst>
          </p:cNvPr>
          <p:cNvGrpSpPr>
            <a:grpSpLocks/>
          </p:cNvGrpSpPr>
          <p:nvPr/>
        </p:nvGrpSpPr>
        <p:grpSpPr>
          <a:xfrm>
            <a:off x="11496600" y="4547985"/>
            <a:ext cx="374559" cy="374559"/>
            <a:chOff x="695400" y="4545124"/>
            <a:chExt cx="679708" cy="679708"/>
          </a:xfrm>
          <a:effectLst>
            <a:outerShdw blurRad="50800" dist="63500" dir="5400000" sx="90000" sy="-19000" rotWithShape="0">
              <a:schemeClr val="bg1">
                <a:lumMod val="50000"/>
                <a:alpha val="15000"/>
              </a:schemeClr>
            </a:outerShdw>
          </a:effectLst>
        </p:grpSpPr>
        <p:sp>
          <p:nvSpPr>
            <p:cNvPr id="56" name="椭圆 55">
              <a:extLst>
                <a:ext uri="{FF2B5EF4-FFF2-40B4-BE49-F238E27FC236}">
                  <a16:creationId xmlns:a16="http://schemas.microsoft.com/office/drawing/2014/main" id="{95413F55-93FC-7D2E-628E-262CD076F455}"/>
                </a:ext>
              </a:extLst>
            </p:cNvPr>
            <p:cNvSpPr/>
            <p:nvPr/>
          </p:nvSpPr>
          <p:spPr>
            <a:xfrm>
              <a:off x="695400" y="4545124"/>
              <a:ext cx="679708" cy="679708"/>
            </a:xfrm>
            <a:prstGeom prst="ellipse">
              <a:avLst/>
            </a:prstGeom>
            <a:solidFill>
              <a:schemeClr val="bg1"/>
            </a:solidFill>
            <a:ln w="19050">
              <a:gradFill>
                <a:gsLst>
                  <a:gs pos="67829">
                    <a:schemeClr val="bg2"/>
                  </a:gs>
                  <a:gs pos="0">
                    <a:schemeClr val="accent2"/>
                  </a:gs>
                  <a:gs pos="100000">
                    <a:schemeClr val="accent2"/>
                  </a:gs>
                  <a:gs pos="45000">
                    <a:schemeClr val="bg2"/>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is For Office" panose="020B0504010101010104"/>
                <a:ea typeface="微软雅黑" panose="020B0503020204020204" pitchFamily="34" charset="-122"/>
                <a:cs typeface="+mn-cs"/>
              </a:endParaRPr>
            </a:p>
          </p:txBody>
        </p:sp>
        <p:grpSp>
          <p:nvGrpSpPr>
            <p:cNvPr id="57" name="组合 56">
              <a:extLst>
                <a:ext uri="{FF2B5EF4-FFF2-40B4-BE49-F238E27FC236}">
                  <a16:creationId xmlns:a16="http://schemas.microsoft.com/office/drawing/2014/main" id="{9533C562-972A-46D4-FF56-53AF2D11C57B}"/>
                </a:ext>
              </a:extLst>
            </p:cNvPr>
            <p:cNvGrpSpPr/>
            <p:nvPr/>
          </p:nvGrpSpPr>
          <p:grpSpPr>
            <a:xfrm>
              <a:off x="749112" y="4681406"/>
              <a:ext cx="572284" cy="407144"/>
              <a:chOff x="1343472" y="4155219"/>
              <a:chExt cx="680296" cy="483988"/>
            </a:xfrm>
          </p:grpSpPr>
          <p:grpSp>
            <p:nvGrpSpPr>
              <p:cNvPr id="58" name="组合 57">
                <a:extLst>
                  <a:ext uri="{FF2B5EF4-FFF2-40B4-BE49-F238E27FC236}">
                    <a16:creationId xmlns:a16="http://schemas.microsoft.com/office/drawing/2014/main" id="{5B732A7B-155D-8CA0-18EC-6096B6397E34}"/>
                  </a:ext>
                </a:extLst>
              </p:cNvPr>
              <p:cNvGrpSpPr/>
              <p:nvPr/>
            </p:nvGrpSpPr>
            <p:grpSpPr>
              <a:xfrm>
                <a:off x="1343472" y="4257092"/>
                <a:ext cx="246753" cy="198384"/>
                <a:chOff x="4334311" y="1954765"/>
                <a:chExt cx="482500" cy="387918"/>
              </a:xfrm>
              <a:solidFill>
                <a:schemeClr val="bg2"/>
              </a:solidFill>
            </p:grpSpPr>
            <p:sp>
              <p:nvSpPr>
                <p:cNvPr id="68" name="Freeform 32">
                  <a:extLst>
                    <a:ext uri="{FF2B5EF4-FFF2-40B4-BE49-F238E27FC236}">
                      <a16:creationId xmlns:a16="http://schemas.microsoft.com/office/drawing/2014/main" id="{7B2253A6-1AD3-4F24-6B3A-A4EDCC4D2A9F}"/>
                    </a:ext>
                  </a:extLst>
                </p:cNvPr>
                <p:cNvSpPr>
                  <a:spLocks noEditPoints="1"/>
                </p:cNvSpPr>
                <p:nvPr/>
              </p:nvSpPr>
              <p:spPr bwMode="auto">
                <a:xfrm>
                  <a:off x="4334311" y="1954765"/>
                  <a:ext cx="482500" cy="387918"/>
                </a:xfrm>
                <a:custGeom>
                  <a:avLst/>
                  <a:gdLst>
                    <a:gd name="T0" fmla="*/ 96 w 191"/>
                    <a:gd name="T1" fmla="*/ 0 h 157"/>
                    <a:gd name="T2" fmla="*/ 0 w 191"/>
                    <a:gd name="T3" fmla="*/ 55 h 157"/>
                    <a:gd name="T4" fmla="*/ 0 w 191"/>
                    <a:gd name="T5" fmla="*/ 102 h 157"/>
                    <a:gd name="T6" fmla="*/ 96 w 191"/>
                    <a:gd name="T7" fmla="*/ 157 h 157"/>
                    <a:gd name="T8" fmla="*/ 191 w 191"/>
                    <a:gd name="T9" fmla="*/ 102 h 157"/>
                    <a:gd name="T10" fmla="*/ 191 w 191"/>
                    <a:gd name="T11" fmla="*/ 55 h 157"/>
                    <a:gd name="T12" fmla="*/ 96 w 191"/>
                    <a:gd name="T13" fmla="*/ 0 h 157"/>
                    <a:gd name="T14" fmla="*/ 96 w 191"/>
                    <a:gd name="T15" fmla="*/ 13 h 157"/>
                    <a:gd name="T16" fmla="*/ 179 w 191"/>
                    <a:gd name="T17" fmla="*/ 55 h 157"/>
                    <a:gd name="T18" fmla="*/ 178 w 191"/>
                    <a:gd name="T19" fmla="*/ 60 h 157"/>
                    <a:gd name="T20" fmla="*/ 178 w 191"/>
                    <a:gd name="T21" fmla="*/ 60 h 157"/>
                    <a:gd name="T22" fmla="*/ 177 w 191"/>
                    <a:gd name="T23" fmla="*/ 64 h 157"/>
                    <a:gd name="T24" fmla="*/ 177 w 191"/>
                    <a:gd name="T25" fmla="*/ 64 h 157"/>
                    <a:gd name="T26" fmla="*/ 171 w 191"/>
                    <a:gd name="T27" fmla="*/ 73 h 157"/>
                    <a:gd name="T28" fmla="*/ 165 w 191"/>
                    <a:gd name="T29" fmla="*/ 78 h 157"/>
                    <a:gd name="T30" fmla="*/ 159 w 191"/>
                    <a:gd name="T31" fmla="*/ 83 h 157"/>
                    <a:gd name="T32" fmla="*/ 159 w 191"/>
                    <a:gd name="T33" fmla="*/ 83 h 157"/>
                    <a:gd name="T34" fmla="*/ 158 w 191"/>
                    <a:gd name="T35" fmla="*/ 83 h 157"/>
                    <a:gd name="T36" fmla="*/ 158 w 191"/>
                    <a:gd name="T37" fmla="*/ 83 h 157"/>
                    <a:gd name="T38" fmla="*/ 152 w 191"/>
                    <a:gd name="T39" fmla="*/ 87 h 157"/>
                    <a:gd name="T40" fmla="*/ 150 w 191"/>
                    <a:gd name="T41" fmla="*/ 87 h 157"/>
                    <a:gd name="T42" fmla="*/ 150 w 191"/>
                    <a:gd name="T43" fmla="*/ 88 h 157"/>
                    <a:gd name="T44" fmla="*/ 142 w 191"/>
                    <a:gd name="T45" fmla="*/ 90 h 157"/>
                    <a:gd name="T46" fmla="*/ 140 w 191"/>
                    <a:gd name="T47" fmla="*/ 91 h 157"/>
                    <a:gd name="T48" fmla="*/ 140 w 191"/>
                    <a:gd name="T49" fmla="*/ 91 h 157"/>
                    <a:gd name="T50" fmla="*/ 130 w 191"/>
                    <a:gd name="T51" fmla="*/ 94 h 157"/>
                    <a:gd name="T52" fmla="*/ 129 w 191"/>
                    <a:gd name="T53" fmla="*/ 94 h 157"/>
                    <a:gd name="T54" fmla="*/ 62 w 191"/>
                    <a:gd name="T55" fmla="*/ 94 h 157"/>
                    <a:gd name="T56" fmla="*/ 62 w 191"/>
                    <a:gd name="T57" fmla="*/ 94 h 157"/>
                    <a:gd name="T58" fmla="*/ 52 w 191"/>
                    <a:gd name="T59" fmla="*/ 91 h 157"/>
                    <a:gd name="T60" fmla="*/ 51 w 191"/>
                    <a:gd name="T61" fmla="*/ 91 h 157"/>
                    <a:gd name="T62" fmla="*/ 49 w 191"/>
                    <a:gd name="T63" fmla="*/ 90 h 157"/>
                    <a:gd name="T64" fmla="*/ 42 w 191"/>
                    <a:gd name="T65" fmla="*/ 88 h 157"/>
                    <a:gd name="T66" fmla="*/ 41 w 191"/>
                    <a:gd name="T67" fmla="*/ 87 h 157"/>
                    <a:gd name="T68" fmla="*/ 40 w 191"/>
                    <a:gd name="T69" fmla="*/ 87 h 157"/>
                    <a:gd name="T70" fmla="*/ 34 w 191"/>
                    <a:gd name="T71" fmla="*/ 83 h 157"/>
                    <a:gd name="T72" fmla="*/ 33 w 191"/>
                    <a:gd name="T73" fmla="*/ 83 h 157"/>
                    <a:gd name="T74" fmla="*/ 26 w 191"/>
                    <a:gd name="T75" fmla="*/ 78 h 157"/>
                    <a:gd name="T76" fmla="*/ 21 w 191"/>
                    <a:gd name="T77" fmla="*/ 73 h 157"/>
                    <a:gd name="T78" fmla="*/ 13 w 191"/>
                    <a:gd name="T79" fmla="*/ 60 h 157"/>
                    <a:gd name="T80" fmla="*/ 13 w 191"/>
                    <a:gd name="T81" fmla="*/ 60 h 157"/>
                    <a:gd name="T82" fmla="*/ 13 w 191"/>
                    <a:gd name="T83" fmla="*/ 55 h 157"/>
                    <a:gd name="T84" fmla="*/ 96 w 191"/>
                    <a:gd name="T85" fmla="*/ 13 h 157"/>
                    <a:gd name="T86" fmla="*/ 96 w 191"/>
                    <a:gd name="T87" fmla="*/ 144 h 157"/>
                    <a:gd name="T88" fmla="*/ 13 w 191"/>
                    <a:gd name="T89" fmla="*/ 102 h 157"/>
                    <a:gd name="T90" fmla="*/ 13 w 191"/>
                    <a:gd name="T91" fmla="*/ 83 h 157"/>
                    <a:gd name="T92" fmla="*/ 96 w 191"/>
                    <a:gd name="T93" fmla="*/ 110 h 157"/>
                    <a:gd name="T94" fmla="*/ 179 w 191"/>
                    <a:gd name="T95" fmla="*/ 83 h 157"/>
                    <a:gd name="T96" fmla="*/ 179 w 191"/>
                    <a:gd name="T97" fmla="*/ 102 h 157"/>
                    <a:gd name="T98" fmla="*/ 96 w 191"/>
                    <a:gd name="T99" fmla="*/ 14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1" h="157">
                      <a:moveTo>
                        <a:pt x="96" y="0"/>
                      </a:moveTo>
                      <a:cubicBezTo>
                        <a:pt x="42" y="0"/>
                        <a:pt x="0" y="25"/>
                        <a:pt x="0" y="55"/>
                      </a:cubicBezTo>
                      <a:cubicBezTo>
                        <a:pt x="0" y="102"/>
                        <a:pt x="0" y="102"/>
                        <a:pt x="0" y="102"/>
                      </a:cubicBezTo>
                      <a:cubicBezTo>
                        <a:pt x="0" y="133"/>
                        <a:pt x="42" y="157"/>
                        <a:pt x="96" y="157"/>
                      </a:cubicBezTo>
                      <a:cubicBezTo>
                        <a:pt x="149" y="157"/>
                        <a:pt x="191" y="133"/>
                        <a:pt x="191" y="102"/>
                      </a:cubicBezTo>
                      <a:cubicBezTo>
                        <a:pt x="191" y="55"/>
                        <a:pt x="191" y="55"/>
                        <a:pt x="191" y="55"/>
                      </a:cubicBezTo>
                      <a:cubicBezTo>
                        <a:pt x="191" y="25"/>
                        <a:pt x="149" y="0"/>
                        <a:pt x="96" y="0"/>
                      </a:cubicBezTo>
                      <a:close/>
                      <a:moveTo>
                        <a:pt x="96" y="13"/>
                      </a:moveTo>
                      <a:cubicBezTo>
                        <a:pt x="141" y="13"/>
                        <a:pt x="179" y="32"/>
                        <a:pt x="179" y="55"/>
                      </a:cubicBezTo>
                      <a:cubicBezTo>
                        <a:pt x="179" y="57"/>
                        <a:pt x="179" y="58"/>
                        <a:pt x="178" y="60"/>
                      </a:cubicBezTo>
                      <a:cubicBezTo>
                        <a:pt x="178" y="60"/>
                        <a:pt x="178" y="60"/>
                        <a:pt x="178" y="60"/>
                      </a:cubicBezTo>
                      <a:cubicBezTo>
                        <a:pt x="178" y="62"/>
                        <a:pt x="177" y="63"/>
                        <a:pt x="177" y="64"/>
                      </a:cubicBezTo>
                      <a:cubicBezTo>
                        <a:pt x="177" y="64"/>
                        <a:pt x="177" y="64"/>
                        <a:pt x="177" y="64"/>
                      </a:cubicBezTo>
                      <a:cubicBezTo>
                        <a:pt x="175" y="67"/>
                        <a:pt x="174" y="70"/>
                        <a:pt x="171" y="73"/>
                      </a:cubicBezTo>
                      <a:cubicBezTo>
                        <a:pt x="169" y="75"/>
                        <a:pt x="168" y="76"/>
                        <a:pt x="165" y="78"/>
                      </a:cubicBezTo>
                      <a:cubicBezTo>
                        <a:pt x="163" y="80"/>
                        <a:pt x="161" y="81"/>
                        <a:pt x="159" y="83"/>
                      </a:cubicBezTo>
                      <a:cubicBezTo>
                        <a:pt x="159" y="83"/>
                        <a:pt x="159" y="83"/>
                        <a:pt x="159" y="83"/>
                      </a:cubicBezTo>
                      <a:cubicBezTo>
                        <a:pt x="159" y="83"/>
                        <a:pt x="158" y="83"/>
                        <a:pt x="158" y="83"/>
                      </a:cubicBezTo>
                      <a:cubicBezTo>
                        <a:pt x="158" y="83"/>
                        <a:pt x="158" y="83"/>
                        <a:pt x="158" y="83"/>
                      </a:cubicBezTo>
                      <a:cubicBezTo>
                        <a:pt x="156" y="84"/>
                        <a:pt x="154" y="86"/>
                        <a:pt x="152" y="87"/>
                      </a:cubicBezTo>
                      <a:cubicBezTo>
                        <a:pt x="151" y="87"/>
                        <a:pt x="151" y="87"/>
                        <a:pt x="150" y="87"/>
                      </a:cubicBezTo>
                      <a:cubicBezTo>
                        <a:pt x="150" y="88"/>
                        <a:pt x="150" y="88"/>
                        <a:pt x="150" y="88"/>
                      </a:cubicBezTo>
                      <a:cubicBezTo>
                        <a:pt x="147" y="89"/>
                        <a:pt x="145" y="90"/>
                        <a:pt x="142" y="90"/>
                      </a:cubicBezTo>
                      <a:cubicBezTo>
                        <a:pt x="142" y="91"/>
                        <a:pt x="141" y="91"/>
                        <a:pt x="140" y="91"/>
                      </a:cubicBezTo>
                      <a:cubicBezTo>
                        <a:pt x="140" y="91"/>
                        <a:pt x="140" y="91"/>
                        <a:pt x="140" y="91"/>
                      </a:cubicBezTo>
                      <a:cubicBezTo>
                        <a:pt x="136" y="92"/>
                        <a:pt x="133" y="93"/>
                        <a:pt x="130" y="94"/>
                      </a:cubicBezTo>
                      <a:cubicBezTo>
                        <a:pt x="130" y="94"/>
                        <a:pt x="130" y="94"/>
                        <a:pt x="129" y="94"/>
                      </a:cubicBezTo>
                      <a:cubicBezTo>
                        <a:pt x="108" y="99"/>
                        <a:pt x="83" y="99"/>
                        <a:pt x="62" y="94"/>
                      </a:cubicBezTo>
                      <a:cubicBezTo>
                        <a:pt x="62" y="94"/>
                        <a:pt x="62" y="94"/>
                        <a:pt x="62" y="94"/>
                      </a:cubicBezTo>
                      <a:cubicBezTo>
                        <a:pt x="59" y="93"/>
                        <a:pt x="55" y="92"/>
                        <a:pt x="52" y="91"/>
                      </a:cubicBezTo>
                      <a:cubicBezTo>
                        <a:pt x="52" y="91"/>
                        <a:pt x="52" y="91"/>
                        <a:pt x="51" y="91"/>
                      </a:cubicBezTo>
                      <a:cubicBezTo>
                        <a:pt x="51" y="91"/>
                        <a:pt x="50" y="91"/>
                        <a:pt x="49" y="90"/>
                      </a:cubicBezTo>
                      <a:cubicBezTo>
                        <a:pt x="47" y="90"/>
                        <a:pt x="44" y="89"/>
                        <a:pt x="42" y="88"/>
                      </a:cubicBezTo>
                      <a:cubicBezTo>
                        <a:pt x="41" y="87"/>
                        <a:pt x="41" y="87"/>
                        <a:pt x="41" y="87"/>
                      </a:cubicBezTo>
                      <a:cubicBezTo>
                        <a:pt x="41" y="87"/>
                        <a:pt x="41" y="87"/>
                        <a:pt x="40" y="87"/>
                      </a:cubicBezTo>
                      <a:cubicBezTo>
                        <a:pt x="38" y="86"/>
                        <a:pt x="36" y="84"/>
                        <a:pt x="34" y="83"/>
                      </a:cubicBezTo>
                      <a:cubicBezTo>
                        <a:pt x="33" y="83"/>
                        <a:pt x="33" y="83"/>
                        <a:pt x="33" y="83"/>
                      </a:cubicBezTo>
                      <a:cubicBezTo>
                        <a:pt x="30" y="81"/>
                        <a:pt x="28" y="80"/>
                        <a:pt x="26" y="78"/>
                      </a:cubicBezTo>
                      <a:cubicBezTo>
                        <a:pt x="24" y="76"/>
                        <a:pt x="22" y="75"/>
                        <a:pt x="21" y="73"/>
                      </a:cubicBezTo>
                      <a:cubicBezTo>
                        <a:pt x="17" y="69"/>
                        <a:pt x="15" y="65"/>
                        <a:pt x="13" y="60"/>
                      </a:cubicBezTo>
                      <a:cubicBezTo>
                        <a:pt x="13" y="60"/>
                        <a:pt x="13" y="60"/>
                        <a:pt x="13" y="60"/>
                      </a:cubicBezTo>
                      <a:cubicBezTo>
                        <a:pt x="13" y="58"/>
                        <a:pt x="13" y="57"/>
                        <a:pt x="13" y="55"/>
                      </a:cubicBezTo>
                      <a:cubicBezTo>
                        <a:pt x="13" y="32"/>
                        <a:pt x="51" y="13"/>
                        <a:pt x="96" y="13"/>
                      </a:cubicBezTo>
                      <a:close/>
                      <a:moveTo>
                        <a:pt x="96" y="144"/>
                      </a:moveTo>
                      <a:cubicBezTo>
                        <a:pt x="51" y="144"/>
                        <a:pt x="13" y="125"/>
                        <a:pt x="13" y="102"/>
                      </a:cubicBezTo>
                      <a:cubicBezTo>
                        <a:pt x="13" y="83"/>
                        <a:pt x="13" y="83"/>
                        <a:pt x="13" y="83"/>
                      </a:cubicBezTo>
                      <a:cubicBezTo>
                        <a:pt x="29" y="100"/>
                        <a:pt x="60" y="110"/>
                        <a:pt x="96" y="110"/>
                      </a:cubicBezTo>
                      <a:cubicBezTo>
                        <a:pt x="132" y="110"/>
                        <a:pt x="163" y="100"/>
                        <a:pt x="179" y="83"/>
                      </a:cubicBezTo>
                      <a:cubicBezTo>
                        <a:pt x="179" y="102"/>
                        <a:pt x="179" y="102"/>
                        <a:pt x="179" y="102"/>
                      </a:cubicBezTo>
                      <a:cubicBezTo>
                        <a:pt x="179" y="125"/>
                        <a:pt x="141" y="144"/>
                        <a:pt x="96" y="1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9" name="Freeform 33">
                  <a:extLst>
                    <a:ext uri="{FF2B5EF4-FFF2-40B4-BE49-F238E27FC236}">
                      <a16:creationId xmlns:a16="http://schemas.microsoft.com/office/drawing/2014/main" id="{4B6D718E-DB5A-C284-538B-CC0C2826A578}"/>
                    </a:ext>
                  </a:extLst>
                </p:cNvPr>
                <p:cNvSpPr/>
                <p:nvPr/>
              </p:nvSpPr>
              <p:spPr bwMode="auto">
                <a:xfrm>
                  <a:off x="4467708" y="2040969"/>
                  <a:ext cx="217125" cy="98718"/>
                </a:xfrm>
                <a:custGeom>
                  <a:avLst/>
                  <a:gdLst>
                    <a:gd name="T0" fmla="*/ 2 w 86"/>
                    <a:gd name="T1" fmla="*/ 8 h 40"/>
                    <a:gd name="T2" fmla="*/ 35 w 86"/>
                    <a:gd name="T3" fmla="*/ 21 h 40"/>
                    <a:gd name="T4" fmla="*/ 3 w 86"/>
                    <a:gd name="T5" fmla="*/ 34 h 40"/>
                    <a:gd name="T6" fmla="*/ 1 w 86"/>
                    <a:gd name="T7" fmla="*/ 38 h 40"/>
                    <a:gd name="T8" fmla="*/ 4 w 86"/>
                    <a:gd name="T9" fmla="*/ 40 h 40"/>
                    <a:gd name="T10" fmla="*/ 5 w 86"/>
                    <a:gd name="T11" fmla="*/ 40 h 40"/>
                    <a:gd name="T12" fmla="*/ 43 w 86"/>
                    <a:gd name="T13" fmla="*/ 24 h 40"/>
                    <a:gd name="T14" fmla="*/ 81 w 86"/>
                    <a:gd name="T15" fmla="*/ 39 h 40"/>
                    <a:gd name="T16" fmla="*/ 82 w 86"/>
                    <a:gd name="T17" fmla="*/ 39 h 40"/>
                    <a:gd name="T18" fmla="*/ 85 w 86"/>
                    <a:gd name="T19" fmla="*/ 37 h 40"/>
                    <a:gd name="T20" fmla="*/ 83 w 86"/>
                    <a:gd name="T21" fmla="*/ 33 h 40"/>
                    <a:gd name="T22" fmla="*/ 51 w 86"/>
                    <a:gd name="T23" fmla="*/ 20 h 40"/>
                    <a:gd name="T24" fmla="*/ 83 w 86"/>
                    <a:gd name="T25" fmla="*/ 7 h 40"/>
                    <a:gd name="T26" fmla="*/ 85 w 86"/>
                    <a:gd name="T27" fmla="*/ 3 h 40"/>
                    <a:gd name="T28" fmla="*/ 81 w 86"/>
                    <a:gd name="T29" fmla="*/ 1 h 40"/>
                    <a:gd name="T30" fmla="*/ 43 w 86"/>
                    <a:gd name="T31" fmla="*/ 17 h 40"/>
                    <a:gd name="T32" fmla="*/ 5 w 86"/>
                    <a:gd name="T33" fmla="*/ 2 h 40"/>
                    <a:gd name="T34" fmla="*/ 1 w 86"/>
                    <a:gd name="T35" fmla="*/ 3 h 40"/>
                    <a:gd name="T36" fmla="*/ 2 w 86"/>
                    <a:gd name="T37" fmla="*/ 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6" h="40">
                      <a:moveTo>
                        <a:pt x="2" y="8"/>
                      </a:moveTo>
                      <a:cubicBezTo>
                        <a:pt x="35" y="21"/>
                        <a:pt x="35" y="21"/>
                        <a:pt x="35" y="21"/>
                      </a:cubicBezTo>
                      <a:cubicBezTo>
                        <a:pt x="3" y="34"/>
                        <a:pt x="3" y="34"/>
                        <a:pt x="3" y="34"/>
                      </a:cubicBezTo>
                      <a:cubicBezTo>
                        <a:pt x="1" y="35"/>
                        <a:pt x="0" y="37"/>
                        <a:pt x="1" y="38"/>
                      </a:cubicBezTo>
                      <a:cubicBezTo>
                        <a:pt x="1" y="40"/>
                        <a:pt x="3" y="40"/>
                        <a:pt x="4" y="40"/>
                      </a:cubicBezTo>
                      <a:cubicBezTo>
                        <a:pt x="4" y="40"/>
                        <a:pt x="5" y="40"/>
                        <a:pt x="5" y="40"/>
                      </a:cubicBezTo>
                      <a:cubicBezTo>
                        <a:pt x="43" y="24"/>
                        <a:pt x="43" y="24"/>
                        <a:pt x="43" y="24"/>
                      </a:cubicBezTo>
                      <a:cubicBezTo>
                        <a:pt x="81" y="39"/>
                        <a:pt x="81" y="39"/>
                        <a:pt x="81" y="39"/>
                      </a:cubicBezTo>
                      <a:cubicBezTo>
                        <a:pt x="81" y="39"/>
                        <a:pt x="82" y="39"/>
                        <a:pt x="82" y="39"/>
                      </a:cubicBezTo>
                      <a:cubicBezTo>
                        <a:pt x="83" y="39"/>
                        <a:pt x="85" y="39"/>
                        <a:pt x="85" y="37"/>
                      </a:cubicBezTo>
                      <a:cubicBezTo>
                        <a:pt x="86" y="36"/>
                        <a:pt x="85" y="34"/>
                        <a:pt x="83" y="33"/>
                      </a:cubicBezTo>
                      <a:cubicBezTo>
                        <a:pt x="51" y="20"/>
                        <a:pt x="51" y="20"/>
                        <a:pt x="51" y="20"/>
                      </a:cubicBezTo>
                      <a:cubicBezTo>
                        <a:pt x="83" y="7"/>
                        <a:pt x="83" y="7"/>
                        <a:pt x="83" y="7"/>
                      </a:cubicBezTo>
                      <a:cubicBezTo>
                        <a:pt x="85" y="6"/>
                        <a:pt x="85" y="4"/>
                        <a:pt x="85" y="3"/>
                      </a:cubicBezTo>
                      <a:cubicBezTo>
                        <a:pt x="84" y="1"/>
                        <a:pt x="82" y="0"/>
                        <a:pt x="81" y="1"/>
                      </a:cubicBezTo>
                      <a:cubicBezTo>
                        <a:pt x="43" y="17"/>
                        <a:pt x="43" y="17"/>
                        <a:pt x="43" y="17"/>
                      </a:cubicBezTo>
                      <a:cubicBezTo>
                        <a:pt x="5" y="2"/>
                        <a:pt x="5" y="2"/>
                        <a:pt x="5" y="2"/>
                      </a:cubicBezTo>
                      <a:cubicBezTo>
                        <a:pt x="3" y="1"/>
                        <a:pt x="1" y="2"/>
                        <a:pt x="1" y="3"/>
                      </a:cubicBezTo>
                      <a:cubicBezTo>
                        <a:pt x="0" y="5"/>
                        <a:pt x="1" y="7"/>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nvGrpSpPr>
              <p:cNvPr id="59" name="组合 58">
                <a:extLst>
                  <a:ext uri="{FF2B5EF4-FFF2-40B4-BE49-F238E27FC236}">
                    <a16:creationId xmlns:a16="http://schemas.microsoft.com/office/drawing/2014/main" id="{CE7A017D-4132-B838-8F7C-2E0E4B3870CB}"/>
                  </a:ext>
                </a:extLst>
              </p:cNvPr>
              <p:cNvGrpSpPr/>
              <p:nvPr/>
            </p:nvGrpSpPr>
            <p:grpSpPr>
              <a:xfrm rot="20951562" flipH="1" flipV="1">
                <a:off x="1528471" y="4155219"/>
                <a:ext cx="495297" cy="483988"/>
                <a:chOff x="2408569" y="2815415"/>
                <a:chExt cx="537846" cy="525566"/>
              </a:xfrm>
              <a:solidFill>
                <a:schemeClr val="bg2"/>
              </a:solidFill>
            </p:grpSpPr>
            <p:sp>
              <p:nvSpPr>
                <p:cNvPr id="60" name="Freeform 38">
                  <a:extLst>
                    <a:ext uri="{FF2B5EF4-FFF2-40B4-BE49-F238E27FC236}">
                      <a16:creationId xmlns:a16="http://schemas.microsoft.com/office/drawing/2014/main" id="{B9FE6E4B-EF62-26CA-B092-B4B6598C0F10}"/>
                    </a:ext>
                  </a:extLst>
                </p:cNvPr>
                <p:cNvSpPr>
                  <a:spLocks noEditPoints="1"/>
                </p:cNvSpPr>
                <p:nvPr/>
              </p:nvSpPr>
              <p:spPr bwMode="auto">
                <a:xfrm>
                  <a:off x="2408569" y="2815415"/>
                  <a:ext cx="537846" cy="525566"/>
                </a:xfrm>
                <a:custGeom>
                  <a:avLst/>
                  <a:gdLst>
                    <a:gd name="T0" fmla="*/ 211 w 213"/>
                    <a:gd name="T1" fmla="*/ 1 h 212"/>
                    <a:gd name="T2" fmla="*/ 207 w 213"/>
                    <a:gd name="T3" fmla="*/ 1 h 212"/>
                    <a:gd name="T4" fmla="*/ 174 w 213"/>
                    <a:gd name="T5" fmla="*/ 34 h 212"/>
                    <a:gd name="T6" fmla="*/ 169 w 213"/>
                    <a:gd name="T7" fmla="*/ 30 h 212"/>
                    <a:gd name="T8" fmla="*/ 164 w 213"/>
                    <a:gd name="T9" fmla="*/ 28 h 212"/>
                    <a:gd name="T10" fmla="*/ 159 w 213"/>
                    <a:gd name="T11" fmla="*/ 30 h 212"/>
                    <a:gd name="T12" fmla="*/ 148 w 213"/>
                    <a:gd name="T13" fmla="*/ 41 h 212"/>
                    <a:gd name="T14" fmla="*/ 138 w 213"/>
                    <a:gd name="T15" fmla="*/ 31 h 212"/>
                    <a:gd name="T16" fmla="*/ 128 w 213"/>
                    <a:gd name="T17" fmla="*/ 31 h 212"/>
                    <a:gd name="T18" fmla="*/ 45 w 213"/>
                    <a:gd name="T19" fmla="*/ 115 h 212"/>
                    <a:gd name="T20" fmla="*/ 43 w 213"/>
                    <a:gd name="T21" fmla="*/ 120 h 212"/>
                    <a:gd name="T22" fmla="*/ 45 w 213"/>
                    <a:gd name="T23" fmla="*/ 124 h 212"/>
                    <a:gd name="T24" fmla="*/ 53 w 213"/>
                    <a:gd name="T25" fmla="*/ 133 h 212"/>
                    <a:gd name="T26" fmla="*/ 20 w 213"/>
                    <a:gd name="T27" fmla="*/ 166 h 212"/>
                    <a:gd name="T28" fmla="*/ 12 w 213"/>
                    <a:gd name="T29" fmla="*/ 157 h 212"/>
                    <a:gd name="T30" fmla="*/ 2 w 213"/>
                    <a:gd name="T31" fmla="*/ 157 h 212"/>
                    <a:gd name="T32" fmla="*/ 2 w 213"/>
                    <a:gd name="T33" fmla="*/ 167 h 212"/>
                    <a:gd name="T34" fmla="*/ 46 w 213"/>
                    <a:gd name="T35" fmla="*/ 210 h 212"/>
                    <a:gd name="T36" fmla="*/ 51 w 213"/>
                    <a:gd name="T37" fmla="*/ 212 h 212"/>
                    <a:gd name="T38" fmla="*/ 55 w 213"/>
                    <a:gd name="T39" fmla="*/ 210 h 212"/>
                    <a:gd name="T40" fmla="*/ 55 w 213"/>
                    <a:gd name="T41" fmla="*/ 201 h 212"/>
                    <a:gd name="T42" fmla="*/ 47 w 213"/>
                    <a:gd name="T43" fmla="*/ 192 h 212"/>
                    <a:gd name="T44" fmla="*/ 80 w 213"/>
                    <a:gd name="T45" fmla="*/ 159 h 212"/>
                    <a:gd name="T46" fmla="*/ 89 w 213"/>
                    <a:gd name="T47" fmla="*/ 168 h 212"/>
                    <a:gd name="T48" fmla="*/ 93 w 213"/>
                    <a:gd name="T49" fmla="*/ 170 h 212"/>
                    <a:gd name="T50" fmla="*/ 98 w 213"/>
                    <a:gd name="T51" fmla="*/ 168 h 212"/>
                    <a:gd name="T52" fmla="*/ 182 w 213"/>
                    <a:gd name="T53" fmla="*/ 84 h 212"/>
                    <a:gd name="T54" fmla="*/ 182 w 213"/>
                    <a:gd name="T55" fmla="*/ 75 h 212"/>
                    <a:gd name="T56" fmla="*/ 172 w 213"/>
                    <a:gd name="T57" fmla="*/ 65 h 212"/>
                    <a:gd name="T58" fmla="*/ 183 w 213"/>
                    <a:gd name="T59" fmla="*/ 53 h 212"/>
                    <a:gd name="T60" fmla="*/ 183 w 213"/>
                    <a:gd name="T61" fmla="*/ 44 h 212"/>
                    <a:gd name="T62" fmla="*/ 178 w 213"/>
                    <a:gd name="T63" fmla="*/ 39 h 212"/>
                    <a:gd name="T64" fmla="*/ 211 w 213"/>
                    <a:gd name="T65" fmla="*/ 6 h 212"/>
                    <a:gd name="T66" fmla="*/ 211 w 213"/>
                    <a:gd name="T67" fmla="*/ 1 h 212"/>
                    <a:gd name="T68" fmla="*/ 37 w 213"/>
                    <a:gd name="T69" fmla="*/ 183 h 212"/>
                    <a:gd name="T70" fmla="*/ 30 w 213"/>
                    <a:gd name="T71" fmla="*/ 175 h 212"/>
                    <a:gd name="T72" fmla="*/ 63 w 213"/>
                    <a:gd name="T73" fmla="*/ 142 h 212"/>
                    <a:gd name="T74" fmla="*/ 71 w 213"/>
                    <a:gd name="T75" fmla="*/ 150 h 212"/>
                    <a:gd name="T76" fmla="*/ 37 w 213"/>
                    <a:gd name="T77" fmla="*/ 183 h 212"/>
                    <a:gd name="T78" fmla="*/ 93 w 213"/>
                    <a:gd name="T79" fmla="*/ 154 h 212"/>
                    <a:gd name="T80" fmla="*/ 59 w 213"/>
                    <a:gd name="T81" fmla="*/ 120 h 212"/>
                    <a:gd name="T82" fmla="*/ 133 w 213"/>
                    <a:gd name="T83" fmla="*/ 45 h 212"/>
                    <a:gd name="T84" fmla="*/ 168 w 213"/>
                    <a:gd name="T85" fmla="*/ 80 h 212"/>
                    <a:gd name="T86" fmla="*/ 93 w 213"/>
                    <a:gd name="T87" fmla="*/ 154 h 212"/>
                    <a:gd name="T88" fmla="*/ 164 w 213"/>
                    <a:gd name="T89" fmla="*/ 44 h 212"/>
                    <a:gd name="T90" fmla="*/ 169 w 213"/>
                    <a:gd name="T91" fmla="*/ 49 h 212"/>
                    <a:gd name="T92" fmla="*/ 162 w 213"/>
                    <a:gd name="T93" fmla="*/ 55 h 212"/>
                    <a:gd name="T94" fmla="*/ 157 w 213"/>
                    <a:gd name="T95" fmla="*/ 51 h 212"/>
                    <a:gd name="T96" fmla="*/ 164 w 213"/>
                    <a:gd name="T97" fmla="*/ 44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3" h="212">
                      <a:moveTo>
                        <a:pt x="211" y="1"/>
                      </a:moveTo>
                      <a:cubicBezTo>
                        <a:pt x="210" y="0"/>
                        <a:pt x="208" y="0"/>
                        <a:pt x="207" y="1"/>
                      </a:cubicBezTo>
                      <a:cubicBezTo>
                        <a:pt x="174" y="34"/>
                        <a:pt x="174" y="34"/>
                        <a:pt x="174" y="34"/>
                      </a:cubicBezTo>
                      <a:cubicBezTo>
                        <a:pt x="169" y="30"/>
                        <a:pt x="169" y="30"/>
                        <a:pt x="169" y="30"/>
                      </a:cubicBezTo>
                      <a:cubicBezTo>
                        <a:pt x="168" y="28"/>
                        <a:pt x="166" y="28"/>
                        <a:pt x="164" y="28"/>
                      </a:cubicBezTo>
                      <a:cubicBezTo>
                        <a:pt x="162" y="28"/>
                        <a:pt x="161" y="28"/>
                        <a:pt x="159" y="30"/>
                      </a:cubicBezTo>
                      <a:cubicBezTo>
                        <a:pt x="148" y="41"/>
                        <a:pt x="148" y="41"/>
                        <a:pt x="148" y="41"/>
                      </a:cubicBezTo>
                      <a:cubicBezTo>
                        <a:pt x="138" y="31"/>
                        <a:pt x="138" y="31"/>
                        <a:pt x="138" y="31"/>
                      </a:cubicBezTo>
                      <a:cubicBezTo>
                        <a:pt x="135" y="29"/>
                        <a:pt x="131" y="29"/>
                        <a:pt x="128" y="31"/>
                      </a:cubicBezTo>
                      <a:cubicBezTo>
                        <a:pt x="45" y="115"/>
                        <a:pt x="45" y="115"/>
                        <a:pt x="45" y="115"/>
                      </a:cubicBezTo>
                      <a:cubicBezTo>
                        <a:pt x="43" y="116"/>
                        <a:pt x="43" y="118"/>
                        <a:pt x="43" y="120"/>
                      </a:cubicBezTo>
                      <a:cubicBezTo>
                        <a:pt x="43" y="121"/>
                        <a:pt x="43" y="123"/>
                        <a:pt x="45" y="124"/>
                      </a:cubicBezTo>
                      <a:cubicBezTo>
                        <a:pt x="53" y="133"/>
                        <a:pt x="53" y="133"/>
                        <a:pt x="53" y="133"/>
                      </a:cubicBezTo>
                      <a:cubicBezTo>
                        <a:pt x="20" y="166"/>
                        <a:pt x="20" y="166"/>
                        <a:pt x="20" y="166"/>
                      </a:cubicBezTo>
                      <a:cubicBezTo>
                        <a:pt x="12" y="157"/>
                        <a:pt x="12" y="157"/>
                        <a:pt x="12" y="157"/>
                      </a:cubicBezTo>
                      <a:cubicBezTo>
                        <a:pt x="9" y="155"/>
                        <a:pt x="5" y="155"/>
                        <a:pt x="2" y="157"/>
                      </a:cubicBezTo>
                      <a:cubicBezTo>
                        <a:pt x="0" y="160"/>
                        <a:pt x="0" y="164"/>
                        <a:pt x="2" y="167"/>
                      </a:cubicBezTo>
                      <a:cubicBezTo>
                        <a:pt x="46" y="210"/>
                        <a:pt x="46" y="210"/>
                        <a:pt x="46" y="210"/>
                      </a:cubicBezTo>
                      <a:cubicBezTo>
                        <a:pt x="47" y="212"/>
                        <a:pt x="49" y="212"/>
                        <a:pt x="51" y="212"/>
                      </a:cubicBezTo>
                      <a:cubicBezTo>
                        <a:pt x="53" y="212"/>
                        <a:pt x="54" y="212"/>
                        <a:pt x="55" y="210"/>
                      </a:cubicBezTo>
                      <a:cubicBezTo>
                        <a:pt x="58" y="208"/>
                        <a:pt x="58" y="204"/>
                        <a:pt x="55" y="201"/>
                      </a:cubicBezTo>
                      <a:cubicBezTo>
                        <a:pt x="47" y="192"/>
                        <a:pt x="47" y="192"/>
                        <a:pt x="47" y="192"/>
                      </a:cubicBezTo>
                      <a:cubicBezTo>
                        <a:pt x="80" y="159"/>
                        <a:pt x="80" y="159"/>
                        <a:pt x="80" y="159"/>
                      </a:cubicBezTo>
                      <a:cubicBezTo>
                        <a:pt x="89" y="168"/>
                        <a:pt x="89" y="168"/>
                        <a:pt x="89" y="168"/>
                      </a:cubicBezTo>
                      <a:cubicBezTo>
                        <a:pt x="90" y="169"/>
                        <a:pt x="91" y="170"/>
                        <a:pt x="93" y="170"/>
                      </a:cubicBezTo>
                      <a:cubicBezTo>
                        <a:pt x="95" y="170"/>
                        <a:pt x="97" y="169"/>
                        <a:pt x="98" y="168"/>
                      </a:cubicBezTo>
                      <a:cubicBezTo>
                        <a:pt x="182" y="84"/>
                        <a:pt x="182" y="84"/>
                        <a:pt x="182" y="84"/>
                      </a:cubicBezTo>
                      <a:cubicBezTo>
                        <a:pt x="184" y="82"/>
                        <a:pt x="184" y="77"/>
                        <a:pt x="182" y="75"/>
                      </a:cubicBezTo>
                      <a:cubicBezTo>
                        <a:pt x="172" y="65"/>
                        <a:pt x="172" y="65"/>
                        <a:pt x="172" y="65"/>
                      </a:cubicBezTo>
                      <a:cubicBezTo>
                        <a:pt x="183" y="53"/>
                        <a:pt x="183" y="53"/>
                        <a:pt x="183" y="53"/>
                      </a:cubicBezTo>
                      <a:cubicBezTo>
                        <a:pt x="186" y="51"/>
                        <a:pt x="186" y="46"/>
                        <a:pt x="183" y="44"/>
                      </a:cubicBezTo>
                      <a:cubicBezTo>
                        <a:pt x="178" y="39"/>
                        <a:pt x="178" y="39"/>
                        <a:pt x="178" y="39"/>
                      </a:cubicBezTo>
                      <a:cubicBezTo>
                        <a:pt x="211" y="6"/>
                        <a:pt x="211" y="6"/>
                        <a:pt x="211" y="6"/>
                      </a:cubicBezTo>
                      <a:cubicBezTo>
                        <a:pt x="213" y="5"/>
                        <a:pt x="213" y="3"/>
                        <a:pt x="211" y="1"/>
                      </a:cubicBezTo>
                      <a:close/>
                      <a:moveTo>
                        <a:pt x="37" y="183"/>
                      </a:moveTo>
                      <a:cubicBezTo>
                        <a:pt x="30" y="175"/>
                        <a:pt x="30" y="175"/>
                        <a:pt x="30" y="175"/>
                      </a:cubicBezTo>
                      <a:cubicBezTo>
                        <a:pt x="63" y="142"/>
                        <a:pt x="63" y="142"/>
                        <a:pt x="63" y="142"/>
                      </a:cubicBezTo>
                      <a:cubicBezTo>
                        <a:pt x="71" y="150"/>
                        <a:pt x="71" y="150"/>
                        <a:pt x="71" y="150"/>
                      </a:cubicBezTo>
                      <a:lnTo>
                        <a:pt x="37" y="183"/>
                      </a:lnTo>
                      <a:close/>
                      <a:moveTo>
                        <a:pt x="93" y="154"/>
                      </a:moveTo>
                      <a:cubicBezTo>
                        <a:pt x="59" y="120"/>
                        <a:pt x="59" y="120"/>
                        <a:pt x="59" y="120"/>
                      </a:cubicBezTo>
                      <a:cubicBezTo>
                        <a:pt x="133" y="45"/>
                        <a:pt x="133" y="45"/>
                        <a:pt x="133" y="45"/>
                      </a:cubicBezTo>
                      <a:cubicBezTo>
                        <a:pt x="168" y="80"/>
                        <a:pt x="168" y="80"/>
                        <a:pt x="168" y="80"/>
                      </a:cubicBezTo>
                      <a:lnTo>
                        <a:pt x="93" y="154"/>
                      </a:lnTo>
                      <a:close/>
                      <a:moveTo>
                        <a:pt x="164" y="44"/>
                      </a:moveTo>
                      <a:cubicBezTo>
                        <a:pt x="169" y="49"/>
                        <a:pt x="169" y="49"/>
                        <a:pt x="169" y="49"/>
                      </a:cubicBezTo>
                      <a:cubicBezTo>
                        <a:pt x="162" y="55"/>
                        <a:pt x="162" y="55"/>
                        <a:pt x="162" y="55"/>
                      </a:cubicBezTo>
                      <a:cubicBezTo>
                        <a:pt x="157" y="51"/>
                        <a:pt x="157" y="51"/>
                        <a:pt x="157" y="51"/>
                      </a:cubicBezTo>
                      <a:lnTo>
                        <a:pt x="164"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1" name="Freeform 39">
                  <a:extLst>
                    <a:ext uri="{FF2B5EF4-FFF2-40B4-BE49-F238E27FC236}">
                      <a16:creationId xmlns:a16="http://schemas.microsoft.com/office/drawing/2014/main" id="{8A2A985B-D403-11D7-F4E4-4FD1AE3DE845}"/>
                    </a:ext>
                  </a:extLst>
                </p:cNvPr>
                <p:cNvSpPr/>
                <p:nvPr/>
              </p:nvSpPr>
              <p:spPr bwMode="auto">
                <a:xfrm>
                  <a:off x="2742062" y="2982261"/>
                  <a:ext cx="52508" cy="51445"/>
                </a:xfrm>
                <a:custGeom>
                  <a:avLst/>
                  <a:gdLst>
                    <a:gd name="T0" fmla="*/ 2 w 21"/>
                    <a:gd name="T1" fmla="*/ 6 h 21"/>
                    <a:gd name="T2" fmla="*/ 15 w 21"/>
                    <a:gd name="T3" fmla="*/ 20 h 21"/>
                    <a:gd name="T4" fmla="*/ 17 w 21"/>
                    <a:gd name="T5" fmla="*/ 21 h 21"/>
                    <a:gd name="T6" fmla="*/ 20 w 21"/>
                    <a:gd name="T7" fmla="*/ 20 h 21"/>
                    <a:gd name="T8" fmla="*/ 20 w 21"/>
                    <a:gd name="T9" fmla="*/ 15 h 21"/>
                    <a:gd name="T10" fmla="*/ 6 w 21"/>
                    <a:gd name="T11" fmla="*/ 1 h 21"/>
                    <a:gd name="T12" fmla="*/ 2 w 21"/>
                    <a:gd name="T13" fmla="*/ 1 h 21"/>
                    <a:gd name="T14" fmla="*/ 2 w 21"/>
                    <a:gd name="T15" fmla="*/ 6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1">
                      <a:moveTo>
                        <a:pt x="2" y="6"/>
                      </a:moveTo>
                      <a:cubicBezTo>
                        <a:pt x="15" y="20"/>
                        <a:pt x="15" y="20"/>
                        <a:pt x="15" y="20"/>
                      </a:cubicBezTo>
                      <a:cubicBezTo>
                        <a:pt x="16" y="20"/>
                        <a:pt x="17" y="21"/>
                        <a:pt x="17" y="21"/>
                      </a:cubicBezTo>
                      <a:cubicBezTo>
                        <a:pt x="18" y="21"/>
                        <a:pt x="19" y="20"/>
                        <a:pt x="20" y="20"/>
                      </a:cubicBezTo>
                      <a:cubicBezTo>
                        <a:pt x="21" y="18"/>
                        <a:pt x="21" y="16"/>
                        <a:pt x="20" y="15"/>
                      </a:cubicBezTo>
                      <a:cubicBezTo>
                        <a:pt x="6" y="1"/>
                        <a:pt x="6" y="1"/>
                        <a:pt x="6" y="1"/>
                      </a:cubicBezTo>
                      <a:cubicBezTo>
                        <a:pt x="5" y="0"/>
                        <a:pt x="3" y="0"/>
                        <a:pt x="2" y="1"/>
                      </a:cubicBezTo>
                      <a:cubicBezTo>
                        <a:pt x="0" y="3"/>
                        <a:pt x="0" y="5"/>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2" name="Freeform 40">
                  <a:extLst>
                    <a:ext uri="{FF2B5EF4-FFF2-40B4-BE49-F238E27FC236}">
                      <a16:creationId xmlns:a16="http://schemas.microsoft.com/office/drawing/2014/main" id="{B3EB146B-CFBD-BE42-36E6-C622B10F11BD}"/>
                    </a:ext>
                  </a:extLst>
                </p:cNvPr>
                <p:cNvSpPr/>
                <p:nvPr/>
              </p:nvSpPr>
              <p:spPr bwMode="auto">
                <a:xfrm>
                  <a:off x="2729290" y="3011459"/>
                  <a:ext cx="42574" cy="41712"/>
                </a:xfrm>
                <a:custGeom>
                  <a:avLst/>
                  <a:gdLst>
                    <a:gd name="T0" fmla="*/ 6 w 17"/>
                    <a:gd name="T1" fmla="*/ 2 h 17"/>
                    <a:gd name="T2" fmla="*/ 2 w 17"/>
                    <a:gd name="T3" fmla="*/ 2 h 17"/>
                    <a:gd name="T4" fmla="*/ 2 w 17"/>
                    <a:gd name="T5" fmla="*/ 6 h 17"/>
                    <a:gd name="T6" fmla="*/ 11 w 17"/>
                    <a:gd name="T7" fmla="*/ 16 h 17"/>
                    <a:gd name="T8" fmla="*/ 14 w 17"/>
                    <a:gd name="T9" fmla="*/ 17 h 17"/>
                    <a:gd name="T10" fmla="*/ 16 w 17"/>
                    <a:gd name="T11" fmla="*/ 16 h 17"/>
                    <a:gd name="T12" fmla="*/ 16 w 17"/>
                    <a:gd name="T13" fmla="*/ 11 h 17"/>
                    <a:gd name="T14" fmla="*/ 6 w 17"/>
                    <a:gd name="T15" fmla="*/ 2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7">
                      <a:moveTo>
                        <a:pt x="6" y="2"/>
                      </a:moveTo>
                      <a:cubicBezTo>
                        <a:pt x="5" y="0"/>
                        <a:pt x="3" y="0"/>
                        <a:pt x="2" y="2"/>
                      </a:cubicBezTo>
                      <a:cubicBezTo>
                        <a:pt x="0" y="3"/>
                        <a:pt x="0" y="5"/>
                        <a:pt x="2" y="6"/>
                      </a:cubicBezTo>
                      <a:cubicBezTo>
                        <a:pt x="11" y="16"/>
                        <a:pt x="11" y="16"/>
                        <a:pt x="11" y="16"/>
                      </a:cubicBezTo>
                      <a:cubicBezTo>
                        <a:pt x="12" y="17"/>
                        <a:pt x="13" y="17"/>
                        <a:pt x="14" y="17"/>
                      </a:cubicBezTo>
                      <a:cubicBezTo>
                        <a:pt x="15" y="17"/>
                        <a:pt x="16" y="17"/>
                        <a:pt x="16" y="16"/>
                      </a:cubicBezTo>
                      <a:cubicBezTo>
                        <a:pt x="17" y="15"/>
                        <a:pt x="17" y="13"/>
                        <a:pt x="16" y="11"/>
                      </a:cubicBezTo>
                      <a:lnTo>
                        <a:pt x="6"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3" name="Freeform 41">
                  <a:extLst>
                    <a:ext uri="{FF2B5EF4-FFF2-40B4-BE49-F238E27FC236}">
                      <a16:creationId xmlns:a16="http://schemas.microsoft.com/office/drawing/2014/main" id="{244E9A18-DE3D-DAC3-1380-2179A281B659}"/>
                    </a:ext>
                  </a:extLst>
                </p:cNvPr>
                <p:cNvSpPr/>
                <p:nvPr/>
              </p:nvSpPr>
              <p:spPr bwMode="auto">
                <a:xfrm>
                  <a:off x="2709422" y="3033705"/>
                  <a:ext cx="42574" cy="41712"/>
                </a:xfrm>
                <a:custGeom>
                  <a:avLst/>
                  <a:gdLst>
                    <a:gd name="T0" fmla="*/ 6 w 17"/>
                    <a:gd name="T1" fmla="*/ 1 h 17"/>
                    <a:gd name="T2" fmla="*/ 1 w 17"/>
                    <a:gd name="T3" fmla="*/ 1 h 17"/>
                    <a:gd name="T4" fmla="*/ 1 w 17"/>
                    <a:gd name="T5" fmla="*/ 6 h 17"/>
                    <a:gd name="T6" fmla="*/ 11 w 17"/>
                    <a:gd name="T7" fmla="*/ 16 h 17"/>
                    <a:gd name="T8" fmla="*/ 13 w 17"/>
                    <a:gd name="T9" fmla="*/ 17 h 17"/>
                    <a:gd name="T10" fmla="*/ 16 w 17"/>
                    <a:gd name="T11" fmla="*/ 16 h 17"/>
                    <a:gd name="T12" fmla="*/ 16 w 17"/>
                    <a:gd name="T13" fmla="*/ 11 h 17"/>
                    <a:gd name="T14" fmla="*/ 6 w 17"/>
                    <a:gd name="T15" fmla="*/ 1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7">
                      <a:moveTo>
                        <a:pt x="6" y="1"/>
                      </a:moveTo>
                      <a:cubicBezTo>
                        <a:pt x="4" y="0"/>
                        <a:pt x="2" y="0"/>
                        <a:pt x="1" y="1"/>
                      </a:cubicBezTo>
                      <a:cubicBezTo>
                        <a:pt x="0" y="3"/>
                        <a:pt x="0" y="5"/>
                        <a:pt x="1" y="6"/>
                      </a:cubicBezTo>
                      <a:cubicBezTo>
                        <a:pt x="11" y="16"/>
                        <a:pt x="11" y="16"/>
                        <a:pt x="11" y="16"/>
                      </a:cubicBezTo>
                      <a:cubicBezTo>
                        <a:pt x="12" y="16"/>
                        <a:pt x="12" y="17"/>
                        <a:pt x="13" y="17"/>
                      </a:cubicBezTo>
                      <a:cubicBezTo>
                        <a:pt x="14" y="17"/>
                        <a:pt x="15" y="16"/>
                        <a:pt x="16" y="16"/>
                      </a:cubicBezTo>
                      <a:cubicBezTo>
                        <a:pt x="17" y="14"/>
                        <a:pt x="17" y="12"/>
                        <a:pt x="16" y="11"/>
                      </a:cubicBezTo>
                      <a:lnTo>
                        <a:pt x="6"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4" name="Freeform 42">
                  <a:extLst>
                    <a:ext uri="{FF2B5EF4-FFF2-40B4-BE49-F238E27FC236}">
                      <a16:creationId xmlns:a16="http://schemas.microsoft.com/office/drawing/2014/main" id="{D52923BF-DBD2-4F56-0FF9-DC98B5FD5E44}"/>
                    </a:ext>
                  </a:extLst>
                </p:cNvPr>
                <p:cNvSpPr/>
                <p:nvPr/>
              </p:nvSpPr>
              <p:spPr bwMode="auto">
                <a:xfrm>
                  <a:off x="2676783" y="3046219"/>
                  <a:ext cx="52508" cy="48664"/>
                </a:xfrm>
                <a:custGeom>
                  <a:avLst/>
                  <a:gdLst>
                    <a:gd name="T0" fmla="*/ 6 w 21"/>
                    <a:gd name="T1" fmla="*/ 1 h 20"/>
                    <a:gd name="T2" fmla="*/ 2 w 21"/>
                    <a:gd name="T3" fmla="*/ 1 h 20"/>
                    <a:gd name="T4" fmla="*/ 2 w 21"/>
                    <a:gd name="T5" fmla="*/ 6 h 20"/>
                    <a:gd name="T6" fmla="*/ 15 w 21"/>
                    <a:gd name="T7" fmla="*/ 19 h 20"/>
                    <a:gd name="T8" fmla="*/ 18 w 21"/>
                    <a:gd name="T9" fmla="*/ 20 h 20"/>
                    <a:gd name="T10" fmla="*/ 20 w 21"/>
                    <a:gd name="T11" fmla="*/ 19 h 20"/>
                    <a:gd name="T12" fmla="*/ 20 w 21"/>
                    <a:gd name="T13" fmla="*/ 15 h 20"/>
                    <a:gd name="T14" fmla="*/ 6 w 21"/>
                    <a:gd name="T15" fmla="*/ 1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0">
                      <a:moveTo>
                        <a:pt x="6" y="1"/>
                      </a:moveTo>
                      <a:cubicBezTo>
                        <a:pt x="5" y="0"/>
                        <a:pt x="3" y="0"/>
                        <a:pt x="2" y="1"/>
                      </a:cubicBezTo>
                      <a:cubicBezTo>
                        <a:pt x="0" y="2"/>
                        <a:pt x="0" y="4"/>
                        <a:pt x="2" y="6"/>
                      </a:cubicBezTo>
                      <a:cubicBezTo>
                        <a:pt x="15" y="19"/>
                        <a:pt x="15" y="19"/>
                        <a:pt x="15" y="19"/>
                      </a:cubicBezTo>
                      <a:cubicBezTo>
                        <a:pt x="16" y="20"/>
                        <a:pt x="17" y="20"/>
                        <a:pt x="18" y="20"/>
                      </a:cubicBezTo>
                      <a:cubicBezTo>
                        <a:pt x="19" y="20"/>
                        <a:pt x="19" y="20"/>
                        <a:pt x="20" y="19"/>
                      </a:cubicBezTo>
                      <a:cubicBezTo>
                        <a:pt x="21" y="18"/>
                        <a:pt x="21" y="16"/>
                        <a:pt x="20" y="15"/>
                      </a:cubicBezTo>
                      <a:lnTo>
                        <a:pt x="6"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5" name="Freeform 43">
                  <a:extLst>
                    <a:ext uri="{FF2B5EF4-FFF2-40B4-BE49-F238E27FC236}">
                      <a16:creationId xmlns:a16="http://schemas.microsoft.com/office/drawing/2014/main" id="{11F386D8-63D8-BB8C-7078-E2F94DA5F67E}"/>
                    </a:ext>
                  </a:extLst>
                </p:cNvPr>
                <p:cNvSpPr/>
                <p:nvPr/>
              </p:nvSpPr>
              <p:spPr bwMode="auto">
                <a:xfrm>
                  <a:off x="2666849" y="3075417"/>
                  <a:ext cx="42574" cy="41712"/>
                </a:xfrm>
                <a:custGeom>
                  <a:avLst/>
                  <a:gdLst>
                    <a:gd name="T0" fmla="*/ 6 w 17"/>
                    <a:gd name="T1" fmla="*/ 1 h 17"/>
                    <a:gd name="T2" fmla="*/ 1 w 17"/>
                    <a:gd name="T3" fmla="*/ 1 h 17"/>
                    <a:gd name="T4" fmla="*/ 1 w 17"/>
                    <a:gd name="T5" fmla="*/ 6 h 17"/>
                    <a:gd name="T6" fmla="*/ 11 w 17"/>
                    <a:gd name="T7" fmla="*/ 16 h 17"/>
                    <a:gd name="T8" fmla="*/ 13 w 17"/>
                    <a:gd name="T9" fmla="*/ 17 h 17"/>
                    <a:gd name="T10" fmla="*/ 15 w 17"/>
                    <a:gd name="T11" fmla="*/ 16 h 17"/>
                    <a:gd name="T12" fmla="*/ 15 w 17"/>
                    <a:gd name="T13" fmla="*/ 11 h 17"/>
                    <a:gd name="T14" fmla="*/ 6 w 17"/>
                    <a:gd name="T15" fmla="*/ 1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7">
                      <a:moveTo>
                        <a:pt x="6" y="1"/>
                      </a:moveTo>
                      <a:cubicBezTo>
                        <a:pt x="4" y="0"/>
                        <a:pt x="2" y="0"/>
                        <a:pt x="1" y="1"/>
                      </a:cubicBezTo>
                      <a:cubicBezTo>
                        <a:pt x="0" y="3"/>
                        <a:pt x="0" y="5"/>
                        <a:pt x="1" y="6"/>
                      </a:cubicBezTo>
                      <a:cubicBezTo>
                        <a:pt x="11" y="16"/>
                        <a:pt x="11" y="16"/>
                        <a:pt x="11" y="16"/>
                      </a:cubicBezTo>
                      <a:cubicBezTo>
                        <a:pt x="11" y="17"/>
                        <a:pt x="12" y="17"/>
                        <a:pt x="13" y="17"/>
                      </a:cubicBezTo>
                      <a:cubicBezTo>
                        <a:pt x="14" y="17"/>
                        <a:pt x="15" y="17"/>
                        <a:pt x="15" y="16"/>
                      </a:cubicBezTo>
                      <a:cubicBezTo>
                        <a:pt x="17" y="15"/>
                        <a:pt x="17" y="13"/>
                        <a:pt x="15" y="11"/>
                      </a:cubicBezTo>
                      <a:lnTo>
                        <a:pt x="6"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6" name="Freeform 44">
                  <a:extLst>
                    <a:ext uri="{FF2B5EF4-FFF2-40B4-BE49-F238E27FC236}">
                      <a16:creationId xmlns:a16="http://schemas.microsoft.com/office/drawing/2014/main" id="{15B58354-2217-266A-8CD4-0CFFB45AEA0A}"/>
                    </a:ext>
                  </a:extLst>
                </p:cNvPr>
                <p:cNvSpPr/>
                <p:nvPr/>
              </p:nvSpPr>
              <p:spPr bwMode="auto">
                <a:xfrm>
                  <a:off x="2644143" y="3097663"/>
                  <a:ext cx="42574" cy="40322"/>
                </a:xfrm>
                <a:custGeom>
                  <a:avLst/>
                  <a:gdLst>
                    <a:gd name="T0" fmla="*/ 6 w 17"/>
                    <a:gd name="T1" fmla="*/ 1 h 16"/>
                    <a:gd name="T2" fmla="*/ 1 w 17"/>
                    <a:gd name="T3" fmla="*/ 1 h 16"/>
                    <a:gd name="T4" fmla="*/ 1 w 17"/>
                    <a:gd name="T5" fmla="*/ 6 h 16"/>
                    <a:gd name="T6" fmla="*/ 11 w 17"/>
                    <a:gd name="T7" fmla="*/ 15 h 16"/>
                    <a:gd name="T8" fmla="*/ 13 w 17"/>
                    <a:gd name="T9" fmla="*/ 16 h 16"/>
                    <a:gd name="T10" fmla="*/ 16 w 17"/>
                    <a:gd name="T11" fmla="*/ 15 h 16"/>
                    <a:gd name="T12" fmla="*/ 16 w 17"/>
                    <a:gd name="T13" fmla="*/ 11 h 16"/>
                    <a:gd name="T14" fmla="*/ 6 w 17"/>
                    <a:gd name="T15" fmla="*/ 1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6">
                      <a:moveTo>
                        <a:pt x="6" y="1"/>
                      </a:moveTo>
                      <a:cubicBezTo>
                        <a:pt x="5" y="0"/>
                        <a:pt x="3" y="0"/>
                        <a:pt x="1" y="1"/>
                      </a:cubicBezTo>
                      <a:cubicBezTo>
                        <a:pt x="0" y="2"/>
                        <a:pt x="0" y="4"/>
                        <a:pt x="1" y="6"/>
                      </a:cubicBezTo>
                      <a:cubicBezTo>
                        <a:pt x="11" y="15"/>
                        <a:pt x="11" y="15"/>
                        <a:pt x="11" y="15"/>
                      </a:cubicBezTo>
                      <a:cubicBezTo>
                        <a:pt x="12" y="16"/>
                        <a:pt x="13" y="16"/>
                        <a:pt x="13" y="16"/>
                      </a:cubicBezTo>
                      <a:cubicBezTo>
                        <a:pt x="14" y="16"/>
                        <a:pt x="15" y="16"/>
                        <a:pt x="16" y="15"/>
                      </a:cubicBezTo>
                      <a:cubicBezTo>
                        <a:pt x="17" y="14"/>
                        <a:pt x="17" y="12"/>
                        <a:pt x="16" y="11"/>
                      </a:cubicBezTo>
                      <a:lnTo>
                        <a:pt x="6"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67" name="Freeform 45">
                  <a:extLst>
                    <a:ext uri="{FF2B5EF4-FFF2-40B4-BE49-F238E27FC236}">
                      <a16:creationId xmlns:a16="http://schemas.microsoft.com/office/drawing/2014/main" id="{8DD69B10-A208-57E5-BF6F-F81C70C47FB9}"/>
                    </a:ext>
                  </a:extLst>
                </p:cNvPr>
                <p:cNvSpPr/>
                <p:nvPr/>
              </p:nvSpPr>
              <p:spPr bwMode="auto">
                <a:xfrm>
                  <a:off x="2612922" y="3110177"/>
                  <a:ext cx="53926" cy="50054"/>
                </a:xfrm>
                <a:custGeom>
                  <a:avLst/>
                  <a:gdLst>
                    <a:gd name="T0" fmla="*/ 6 w 21"/>
                    <a:gd name="T1" fmla="*/ 1 h 20"/>
                    <a:gd name="T2" fmla="*/ 1 w 21"/>
                    <a:gd name="T3" fmla="*/ 1 h 20"/>
                    <a:gd name="T4" fmla="*/ 1 w 21"/>
                    <a:gd name="T5" fmla="*/ 6 h 20"/>
                    <a:gd name="T6" fmla="*/ 15 w 21"/>
                    <a:gd name="T7" fmla="*/ 19 h 20"/>
                    <a:gd name="T8" fmla="*/ 17 w 21"/>
                    <a:gd name="T9" fmla="*/ 20 h 20"/>
                    <a:gd name="T10" fmla="*/ 19 w 21"/>
                    <a:gd name="T11" fmla="*/ 19 h 20"/>
                    <a:gd name="T12" fmla="*/ 19 w 21"/>
                    <a:gd name="T13" fmla="*/ 14 h 20"/>
                    <a:gd name="T14" fmla="*/ 6 w 21"/>
                    <a:gd name="T15" fmla="*/ 1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0">
                      <a:moveTo>
                        <a:pt x="6" y="1"/>
                      </a:moveTo>
                      <a:cubicBezTo>
                        <a:pt x="4" y="0"/>
                        <a:pt x="2" y="0"/>
                        <a:pt x="1" y="1"/>
                      </a:cubicBezTo>
                      <a:cubicBezTo>
                        <a:pt x="0" y="2"/>
                        <a:pt x="0" y="4"/>
                        <a:pt x="1" y="6"/>
                      </a:cubicBezTo>
                      <a:cubicBezTo>
                        <a:pt x="15" y="19"/>
                        <a:pt x="15" y="19"/>
                        <a:pt x="15" y="19"/>
                      </a:cubicBezTo>
                      <a:cubicBezTo>
                        <a:pt x="15" y="20"/>
                        <a:pt x="16" y="20"/>
                        <a:pt x="17" y="20"/>
                      </a:cubicBezTo>
                      <a:cubicBezTo>
                        <a:pt x="18" y="20"/>
                        <a:pt x="19" y="20"/>
                        <a:pt x="19" y="19"/>
                      </a:cubicBezTo>
                      <a:cubicBezTo>
                        <a:pt x="21" y="18"/>
                        <a:pt x="21" y="16"/>
                        <a:pt x="19" y="14"/>
                      </a:cubicBezTo>
                      <a:lnTo>
                        <a:pt x="6"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grpSp>
      </p:grpSp>
      <p:grpSp>
        <p:nvGrpSpPr>
          <p:cNvPr id="70" name="组合 69">
            <a:extLst>
              <a:ext uri="{FF2B5EF4-FFF2-40B4-BE49-F238E27FC236}">
                <a16:creationId xmlns:a16="http://schemas.microsoft.com/office/drawing/2014/main" id="{A4198173-7653-C352-3F24-3F842CC338E7}"/>
              </a:ext>
            </a:extLst>
          </p:cNvPr>
          <p:cNvGrpSpPr>
            <a:grpSpLocks/>
          </p:cNvGrpSpPr>
          <p:nvPr/>
        </p:nvGrpSpPr>
        <p:grpSpPr>
          <a:xfrm>
            <a:off x="485780" y="5471703"/>
            <a:ext cx="374559" cy="374559"/>
            <a:chOff x="47328" y="5769259"/>
            <a:chExt cx="463684" cy="463684"/>
          </a:xfrm>
          <a:effectLst>
            <a:outerShdw blurRad="50800" dist="63500" dir="5400000" sx="90000" sy="-19000" rotWithShape="0">
              <a:schemeClr val="bg1">
                <a:lumMod val="50000"/>
                <a:alpha val="15000"/>
              </a:schemeClr>
            </a:outerShdw>
          </a:effectLst>
        </p:grpSpPr>
        <p:sp>
          <p:nvSpPr>
            <p:cNvPr id="71" name="椭圆 70">
              <a:extLst>
                <a:ext uri="{FF2B5EF4-FFF2-40B4-BE49-F238E27FC236}">
                  <a16:creationId xmlns:a16="http://schemas.microsoft.com/office/drawing/2014/main" id="{198D9817-EC51-5BE9-43B8-5AE8F02CA1F0}"/>
                </a:ext>
              </a:extLst>
            </p:cNvPr>
            <p:cNvSpPr/>
            <p:nvPr/>
          </p:nvSpPr>
          <p:spPr>
            <a:xfrm>
              <a:off x="47328" y="5769259"/>
              <a:ext cx="463684" cy="463684"/>
            </a:xfrm>
            <a:prstGeom prst="ellipse">
              <a:avLst/>
            </a:prstGeom>
            <a:solidFill>
              <a:schemeClr val="bg1"/>
            </a:solidFill>
            <a:ln w="19050">
              <a:gradFill>
                <a:gsLst>
                  <a:gs pos="67829">
                    <a:schemeClr val="bg2"/>
                  </a:gs>
                  <a:gs pos="0">
                    <a:schemeClr val="accent2"/>
                  </a:gs>
                  <a:gs pos="100000">
                    <a:schemeClr val="accent2"/>
                  </a:gs>
                  <a:gs pos="45000">
                    <a:schemeClr val="bg2"/>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pis For Office" panose="020B0504010101010104"/>
                <a:ea typeface="微软雅黑" panose="020B0503020204020204" pitchFamily="34" charset="-122"/>
                <a:cs typeface="+mn-cs"/>
              </a:endParaRPr>
            </a:p>
          </p:txBody>
        </p:sp>
        <p:sp>
          <p:nvSpPr>
            <p:cNvPr id="72" name="Freeform 10">
              <a:extLst>
                <a:ext uri="{FF2B5EF4-FFF2-40B4-BE49-F238E27FC236}">
                  <a16:creationId xmlns:a16="http://schemas.microsoft.com/office/drawing/2014/main" id="{345BB4E4-8E14-517C-57F1-C9D3BF39BE2E}"/>
                </a:ext>
              </a:extLst>
            </p:cNvPr>
            <p:cNvSpPr/>
            <p:nvPr/>
          </p:nvSpPr>
          <p:spPr bwMode="auto">
            <a:xfrm flipH="1">
              <a:off x="291929" y="6046552"/>
              <a:ext cx="127050" cy="81866"/>
            </a:xfrm>
            <a:custGeom>
              <a:avLst/>
              <a:gdLst>
                <a:gd name="T0" fmla="*/ 466 w 466"/>
                <a:gd name="T1" fmla="*/ 45 h 301"/>
                <a:gd name="T2" fmla="*/ 338 w 466"/>
                <a:gd name="T3" fmla="*/ 174 h 301"/>
                <a:gd name="T4" fmla="*/ 88 w 466"/>
                <a:gd name="T5" fmla="*/ 300 h 301"/>
                <a:gd name="T6" fmla="*/ 0 w 466"/>
                <a:gd name="T7" fmla="*/ 301 h 301"/>
                <a:gd name="T8" fmla="*/ 297 w 466"/>
                <a:gd name="T9" fmla="*/ 0 h 301"/>
                <a:gd name="T10" fmla="*/ 355 w 466"/>
                <a:gd name="T11" fmla="*/ 15 h 301"/>
                <a:gd name="T12" fmla="*/ 185 w 466"/>
                <a:gd name="T13" fmla="*/ 185 h 301"/>
                <a:gd name="T14" fmla="*/ 185 w 466"/>
                <a:gd name="T15" fmla="*/ 208 h 301"/>
                <a:gd name="T16" fmla="*/ 207 w 466"/>
                <a:gd name="T17" fmla="*/ 208 h 301"/>
                <a:gd name="T18" fmla="*/ 390 w 466"/>
                <a:gd name="T19" fmla="*/ 25 h 301"/>
                <a:gd name="T20" fmla="*/ 466 w 466"/>
                <a:gd name="T21" fmla="*/ 45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6" h="301">
                  <a:moveTo>
                    <a:pt x="466" y="45"/>
                  </a:moveTo>
                  <a:cubicBezTo>
                    <a:pt x="338" y="174"/>
                    <a:pt x="338" y="174"/>
                    <a:pt x="338" y="174"/>
                  </a:cubicBezTo>
                  <a:cubicBezTo>
                    <a:pt x="248" y="264"/>
                    <a:pt x="229" y="300"/>
                    <a:pt x="88" y="300"/>
                  </a:cubicBezTo>
                  <a:cubicBezTo>
                    <a:pt x="0" y="301"/>
                    <a:pt x="0" y="301"/>
                    <a:pt x="0" y="301"/>
                  </a:cubicBezTo>
                  <a:cubicBezTo>
                    <a:pt x="297" y="0"/>
                    <a:pt x="297" y="0"/>
                    <a:pt x="297" y="0"/>
                  </a:cubicBezTo>
                  <a:cubicBezTo>
                    <a:pt x="355" y="15"/>
                    <a:pt x="355" y="15"/>
                    <a:pt x="355" y="15"/>
                  </a:cubicBezTo>
                  <a:cubicBezTo>
                    <a:pt x="185" y="185"/>
                    <a:pt x="185" y="185"/>
                    <a:pt x="185" y="185"/>
                  </a:cubicBezTo>
                  <a:cubicBezTo>
                    <a:pt x="179" y="191"/>
                    <a:pt x="179" y="202"/>
                    <a:pt x="185" y="208"/>
                  </a:cubicBezTo>
                  <a:cubicBezTo>
                    <a:pt x="191" y="214"/>
                    <a:pt x="201" y="214"/>
                    <a:pt x="207" y="208"/>
                  </a:cubicBezTo>
                  <a:cubicBezTo>
                    <a:pt x="390" y="25"/>
                    <a:pt x="390" y="25"/>
                    <a:pt x="390" y="25"/>
                  </a:cubicBezTo>
                  <a:cubicBezTo>
                    <a:pt x="466" y="45"/>
                    <a:pt x="466" y="45"/>
                    <a:pt x="466" y="45"/>
                  </a:cubicBez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73" name="Freeform 11">
              <a:extLst>
                <a:ext uri="{FF2B5EF4-FFF2-40B4-BE49-F238E27FC236}">
                  <a16:creationId xmlns:a16="http://schemas.microsoft.com/office/drawing/2014/main" id="{D44B7D41-4D7B-5176-A9CB-212DC17BC4D5}"/>
                </a:ext>
              </a:extLst>
            </p:cNvPr>
            <p:cNvSpPr/>
            <p:nvPr/>
          </p:nvSpPr>
          <p:spPr bwMode="auto">
            <a:xfrm flipH="1">
              <a:off x="170194" y="6119381"/>
              <a:ext cx="170641" cy="9037"/>
            </a:xfrm>
            <a:custGeom>
              <a:avLst/>
              <a:gdLst>
                <a:gd name="T0" fmla="*/ 321 w 321"/>
                <a:gd name="T1" fmla="*/ 17 h 17"/>
                <a:gd name="T2" fmla="*/ 0 w 321"/>
                <a:gd name="T3" fmla="*/ 17 h 17"/>
                <a:gd name="T4" fmla="*/ 17 w 321"/>
                <a:gd name="T5" fmla="*/ 0 h 17"/>
                <a:gd name="T6" fmla="*/ 321 w 321"/>
                <a:gd name="T7" fmla="*/ 0 h 17"/>
                <a:gd name="T8" fmla="*/ 321 w 321"/>
                <a:gd name="T9" fmla="*/ 17 h 17"/>
                <a:gd name="T10" fmla="*/ 321 w 321"/>
                <a:gd name="T11" fmla="*/ 17 h 17"/>
              </a:gdLst>
              <a:ahLst/>
              <a:cxnLst>
                <a:cxn ang="0">
                  <a:pos x="T0" y="T1"/>
                </a:cxn>
                <a:cxn ang="0">
                  <a:pos x="T2" y="T3"/>
                </a:cxn>
                <a:cxn ang="0">
                  <a:pos x="T4" y="T5"/>
                </a:cxn>
                <a:cxn ang="0">
                  <a:pos x="T6" y="T7"/>
                </a:cxn>
                <a:cxn ang="0">
                  <a:pos x="T8" y="T9"/>
                </a:cxn>
                <a:cxn ang="0">
                  <a:pos x="T10" y="T11"/>
                </a:cxn>
              </a:cxnLst>
              <a:rect l="0" t="0" r="r" b="b"/>
              <a:pathLst>
                <a:path w="321" h="17">
                  <a:moveTo>
                    <a:pt x="321" y="17"/>
                  </a:moveTo>
                  <a:lnTo>
                    <a:pt x="0" y="17"/>
                  </a:lnTo>
                  <a:lnTo>
                    <a:pt x="17" y="0"/>
                  </a:lnTo>
                  <a:lnTo>
                    <a:pt x="321" y="0"/>
                  </a:lnTo>
                  <a:lnTo>
                    <a:pt x="321" y="17"/>
                  </a:lnTo>
                  <a:lnTo>
                    <a:pt x="321" y="17"/>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74" name="Freeform 12">
              <a:extLst>
                <a:ext uri="{FF2B5EF4-FFF2-40B4-BE49-F238E27FC236}">
                  <a16:creationId xmlns:a16="http://schemas.microsoft.com/office/drawing/2014/main" id="{ABD2636D-2B1D-8E3A-C590-DD984BB73546}"/>
                </a:ext>
              </a:extLst>
            </p:cNvPr>
            <p:cNvSpPr>
              <a:spLocks noEditPoints="1"/>
            </p:cNvSpPr>
            <p:nvPr/>
          </p:nvSpPr>
          <p:spPr bwMode="auto">
            <a:xfrm flipH="1">
              <a:off x="139362" y="5873784"/>
              <a:ext cx="196689" cy="178084"/>
            </a:xfrm>
            <a:custGeom>
              <a:avLst/>
              <a:gdLst>
                <a:gd name="T0" fmla="*/ 10 w 721"/>
                <a:gd name="T1" fmla="*/ 559 h 652"/>
                <a:gd name="T2" fmla="*/ 535 w 721"/>
                <a:gd name="T3" fmla="*/ 34 h 652"/>
                <a:gd name="T4" fmla="*/ 585 w 721"/>
                <a:gd name="T5" fmla="*/ 5 h 652"/>
                <a:gd name="T6" fmla="*/ 641 w 721"/>
                <a:gd name="T7" fmla="*/ 6 h 652"/>
                <a:gd name="T8" fmla="*/ 688 w 721"/>
                <a:gd name="T9" fmla="*/ 34 h 652"/>
                <a:gd name="T10" fmla="*/ 716 w 721"/>
                <a:gd name="T11" fmla="*/ 84 h 652"/>
                <a:gd name="T12" fmla="*/ 716 w 721"/>
                <a:gd name="T13" fmla="*/ 141 h 652"/>
                <a:gd name="T14" fmla="*/ 688 w 721"/>
                <a:gd name="T15" fmla="*/ 187 h 652"/>
                <a:gd name="T16" fmla="*/ 231 w 721"/>
                <a:gd name="T17" fmla="*/ 643 h 652"/>
                <a:gd name="T18" fmla="*/ 207 w 721"/>
                <a:gd name="T19" fmla="*/ 649 h 652"/>
                <a:gd name="T20" fmla="*/ 21 w 721"/>
                <a:gd name="T21" fmla="*/ 599 h 652"/>
                <a:gd name="T22" fmla="*/ 4 w 721"/>
                <a:gd name="T23" fmla="*/ 570 h 652"/>
                <a:gd name="T24" fmla="*/ 10 w 721"/>
                <a:gd name="T25" fmla="*/ 559 h 652"/>
                <a:gd name="T26" fmla="*/ 10 w 721"/>
                <a:gd name="T27" fmla="*/ 559 h 652"/>
                <a:gd name="T28" fmla="*/ 569 w 721"/>
                <a:gd name="T29" fmla="*/ 68 h 652"/>
                <a:gd name="T30" fmla="*/ 73 w 721"/>
                <a:gd name="T31" fmla="*/ 564 h 652"/>
                <a:gd name="T32" fmla="*/ 207 w 721"/>
                <a:gd name="T33" fmla="*/ 600 h 652"/>
                <a:gd name="T34" fmla="*/ 654 w 721"/>
                <a:gd name="T35" fmla="*/ 153 h 652"/>
                <a:gd name="T36" fmla="*/ 670 w 721"/>
                <a:gd name="T37" fmla="*/ 127 h 652"/>
                <a:gd name="T38" fmla="*/ 670 w 721"/>
                <a:gd name="T39" fmla="*/ 96 h 652"/>
                <a:gd name="T40" fmla="*/ 654 w 721"/>
                <a:gd name="T41" fmla="*/ 68 h 652"/>
                <a:gd name="T42" fmla="*/ 627 w 721"/>
                <a:gd name="T43" fmla="*/ 52 h 652"/>
                <a:gd name="T44" fmla="*/ 597 w 721"/>
                <a:gd name="T45" fmla="*/ 51 h 652"/>
                <a:gd name="T46" fmla="*/ 569 w 721"/>
                <a:gd name="T47" fmla="*/ 68 h 652"/>
                <a:gd name="T48" fmla="*/ 337 w 721"/>
                <a:gd name="T49" fmla="*/ 352 h 652"/>
                <a:gd name="T50" fmla="*/ 325 w 721"/>
                <a:gd name="T51" fmla="*/ 332 h 652"/>
                <a:gd name="T52" fmla="*/ 345 w 721"/>
                <a:gd name="T53" fmla="*/ 321 h 652"/>
                <a:gd name="T54" fmla="*/ 416 w 721"/>
                <a:gd name="T55" fmla="*/ 340 h 652"/>
                <a:gd name="T56" fmla="*/ 427 w 721"/>
                <a:gd name="T57" fmla="*/ 359 h 652"/>
                <a:gd name="T58" fmla="*/ 408 w 721"/>
                <a:gd name="T59" fmla="*/ 371 h 652"/>
                <a:gd name="T60" fmla="*/ 337 w 721"/>
                <a:gd name="T61" fmla="*/ 352 h 652"/>
                <a:gd name="T62" fmla="*/ 294 w 721"/>
                <a:gd name="T63" fmla="*/ 394 h 652"/>
                <a:gd name="T64" fmla="*/ 283 w 721"/>
                <a:gd name="T65" fmla="*/ 375 h 652"/>
                <a:gd name="T66" fmla="*/ 302 w 721"/>
                <a:gd name="T67" fmla="*/ 363 h 652"/>
                <a:gd name="T68" fmla="*/ 373 w 721"/>
                <a:gd name="T69" fmla="*/ 382 h 652"/>
                <a:gd name="T70" fmla="*/ 385 w 721"/>
                <a:gd name="T71" fmla="*/ 402 h 652"/>
                <a:gd name="T72" fmla="*/ 365 w 721"/>
                <a:gd name="T73" fmla="*/ 413 h 652"/>
                <a:gd name="T74" fmla="*/ 294 w 721"/>
                <a:gd name="T75" fmla="*/ 394 h 652"/>
                <a:gd name="T76" fmla="*/ 167 w 721"/>
                <a:gd name="T77" fmla="*/ 522 h 652"/>
                <a:gd name="T78" fmla="*/ 155 w 721"/>
                <a:gd name="T79" fmla="*/ 502 h 652"/>
                <a:gd name="T80" fmla="*/ 175 w 721"/>
                <a:gd name="T81" fmla="*/ 491 h 652"/>
                <a:gd name="T82" fmla="*/ 246 w 721"/>
                <a:gd name="T83" fmla="*/ 510 h 652"/>
                <a:gd name="T84" fmla="*/ 257 w 721"/>
                <a:gd name="T85" fmla="*/ 529 h 652"/>
                <a:gd name="T86" fmla="*/ 238 w 721"/>
                <a:gd name="T87" fmla="*/ 541 h 652"/>
                <a:gd name="T88" fmla="*/ 167 w 721"/>
                <a:gd name="T89" fmla="*/ 522 h 652"/>
                <a:gd name="T90" fmla="*/ 252 w 721"/>
                <a:gd name="T91" fmla="*/ 437 h 652"/>
                <a:gd name="T92" fmla="*/ 240 w 721"/>
                <a:gd name="T93" fmla="*/ 417 h 652"/>
                <a:gd name="T94" fmla="*/ 260 w 721"/>
                <a:gd name="T95" fmla="*/ 406 h 652"/>
                <a:gd name="T96" fmla="*/ 331 w 721"/>
                <a:gd name="T97" fmla="*/ 425 h 652"/>
                <a:gd name="T98" fmla="*/ 342 w 721"/>
                <a:gd name="T99" fmla="*/ 444 h 652"/>
                <a:gd name="T100" fmla="*/ 323 w 721"/>
                <a:gd name="T101" fmla="*/ 456 h 652"/>
                <a:gd name="T102" fmla="*/ 252 w 721"/>
                <a:gd name="T103" fmla="*/ 437 h 652"/>
                <a:gd name="T104" fmla="*/ 209 w 721"/>
                <a:gd name="T105" fmla="*/ 479 h 652"/>
                <a:gd name="T106" fmla="*/ 198 w 721"/>
                <a:gd name="T107" fmla="*/ 460 h 652"/>
                <a:gd name="T108" fmla="*/ 217 w 721"/>
                <a:gd name="T109" fmla="*/ 448 h 652"/>
                <a:gd name="T110" fmla="*/ 288 w 721"/>
                <a:gd name="T111" fmla="*/ 467 h 652"/>
                <a:gd name="T112" fmla="*/ 300 w 721"/>
                <a:gd name="T113" fmla="*/ 487 h 652"/>
                <a:gd name="T114" fmla="*/ 280 w 721"/>
                <a:gd name="T115" fmla="*/ 498 h 652"/>
                <a:gd name="T116" fmla="*/ 209 w 721"/>
                <a:gd name="T117" fmla="*/ 479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1" h="652">
                  <a:moveTo>
                    <a:pt x="10" y="559"/>
                  </a:moveTo>
                  <a:cubicBezTo>
                    <a:pt x="535" y="34"/>
                    <a:pt x="535" y="34"/>
                    <a:pt x="535" y="34"/>
                  </a:cubicBezTo>
                  <a:cubicBezTo>
                    <a:pt x="549" y="20"/>
                    <a:pt x="566" y="10"/>
                    <a:pt x="585" y="5"/>
                  </a:cubicBezTo>
                  <a:cubicBezTo>
                    <a:pt x="603" y="0"/>
                    <a:pt x="622" y="0"/>
                    <a:pt x="641" y="6"/>
                  </a:cubicBezTo>
                  <a:cubicBezTo>
                    <a:pt x="660" y="12"/>
                    <a:pt x="676" y="22"/>
                    <a:pt x="688" y="34"/>
                  </a:cubicBezTo>
                  <a:cubicBezTo>
                    <a:pt x="702" y="48"/>
                    <a:pt x="712" y="65"/>
                    <a:pt x="716" y="84"/>
                  </a:cubicBezTo>
                  <a:cubicBezTo>
                    <a:pt x="721" y="102"/>
                    <a:pt x="721" y="122"/>
                    <a:pt x="716" y="141"/>
                  </a:cubicBezTo>
                  <a:cubicBezTo>
                    <a:pt x="711" y="157"/>
                    <a:pt x="702" y="173"/>
                    <a:pt x="688" y="187"/>
                  </a:cubicBezTo>
                  <a:cubicBezTo>
                    <a:pt x="231" y="643"/>
                    <a:pt x="231" y="643"/>
                    <a:pt x="231" y="643"/>
                  </a:cubicBezTo>
                  <a:cubicBezTo>
                    <a:pt x="225" y="650"/>
                    <a:pt x="215" y="652"/>
                    <a:pt x="207" y="649"/>
                  </a:cubicBezTo>
                  <a:cubicBezTo>
                    <a:pt x="21" y="599"/>
                    <a:pt x="21" y="599"/>
                    <a:pt x="21" y="599"/>
                  </a:cubicBezTo>
                  <a:cubicBezTo>
                    <a:pt x="8" y="596"/>
                    <a:pt x="0" y="583"/>
                    <a:pt x="4" y="570"/>
                  </a:cubicBezTo>
                  <a:cubicBezTo>
                    <a:pt x="5" y="566"/>
                    <a:pt x="7" y="562"/>
                    <a:pt x="10" y="559"/>
                  </a:cubicBezTo>
                  <a:cubicBezTo>
                    <a:pt x="10" y="559"/>
                    <a:pt x="10" y="559"/>
                    <a:pt x="10" y="559"/>
                  </a:cubicBezTo>
                  <a:close/>
                  <a:moveTo>
                    <a:pt x="569" y="68"/>
                  </a:moveTo>
                  <a:cubicBezTo>
                    <a:pt x="73" y="564"/>
                    <a:pt x="73" y="564"/>
                    <a:pt x="73" y="564"/>
                  </a:cubicBezTo>
                  <a:cubicBezTo>
                    <a:pt x="207" y="600"/>
                    <a:pt x="207" y="600"/>
                    <a:pt x="207" y="600"/>
                  </a:cubicBezTo>
                  <a:cubicBezTo>
                    <a:pt x="654" y="153"/>
                    <a:pt x="654" y="153"/>
                    <a:pt x="654" y="153"/>
                  </a:cubicBezTo>
                  <a:cubicBezTo>
                    <a:pt x="662" y="145"/>
                    <a:pt x="667" y="136"/>
                    <a:pt x="670" y="127"/>
                  </a:cubicBezTo>
                  <a:cubicBezTo>
                    <a:pt x="673" y="117"/>
                    <a:pt x="673" y="106"/>
                    <a:pt x="670" y="96"/>
                  </a:cubicBezTo>
                  <a:cubicBezTo>
                    <a:pt x="667" y="85"/>
                    <a:pt x="662" y="76"/>
                    <a:pt x="654" y="68"/>
                  </a:cubicBezTo>
                  <a:cubicBezTo>
                    <a:pt x="647" y="61"/>
                    <a:pt x="638" y="55"/>
                    <a:pt x="627" y="52"/>
                  </a:cubicBezTo>
                  <a:cubicBezTo>
                    <a:pt x="617" y="49"/>
                    <a:pt x="607" y="49"/>
                    <a:pt x="597" y="51"/>
                  </a:cubicBezTo>
                  <a:cubicBezTo>
                    <a:pt x="587" y="54"/>
                    <a:pt x="577" y="60"/>
                    <a:pt x="569" y="68"/>
                  </a:cubicBezTo>
                  <a:close/>
                  <a:moveTo>
                    <a:pt x="337" y="352"/>
                  </a:moveTo>
                  <a:cubicBezTo>
                    <a:pt x="328" y="349"/>
                    <a:pt x="323" y="341"/>
                    <a:pt x="325" y="332"/>
                  </a:cubicBezTo>
                  <a:cubicBezTo>
                    <a:pt x="328" y="323"/>
                    <a:pt x="336" y="318"/>
                    <a:pt x="345" y="321"/>
                  </a:cubicBezTo>
                  <a:cubicBezTo>
                    <a:pt x="416" y="340"/>
                    <a:pt x="416" y="340"/>
                    <a:pt x="416" y="340"/>
                  </a:cubicBezTo>
                  <a:cubicBezTo>
                    <a:pt x="425" y="342"/>
                    <a:pt x="430" y="351"/>
                    <a:pt x="427" y="359"/>
                  </a:cubicBezTo>
                  <a:cubicBezTo>
                    <a:pt x="425" y="368"/>
                    <a:pt x="416" y="373"/>
                    <a:pt x="408" y="371"/>
                  </a:cubicBezTo>
                  <a:cubicBezTo>
                    <a:pt x="337" y="352"/>
                    <a:pt x="337" y="352"/>
                    <a:pt x="337" y="352"/>
                  </a:cubicBezTo>
                  <a:close/>
                  <a:moveTo>
                    <a:pt x="294" y="394"/>
                  </a:moveTo>
                  <a:cubicBezTo>
                    <a:pt x="286" y="392"/>
                    <a:pt x="281" y="383"/>
                    <a:pt x="283" y="375"/>
                  </a:cubicBezTo>
                  <a:cubicBezTo>
                    <a:pt x="285" y="366"/>
                    <a:pt x="294" y="361"/>
                    <a:pt x="302" y="363"/>
                  </a:cubicBezTo>
                  <a:cubicBezTo>
                    <a:pt x="373" y="382"/>
                    <a:pt x="373" y="382"/>
                    <a:pt x="373" y="382"/>
                  </a:cubicBezTo>
                  <a:cubicBezTo>
                    <a:pt x="382" y="385"/>
                    <a:pt x="387" y="393"/>
                    <a:pt x="385" y="402"/>
                  </a:cubicBezTo>
                  <a:cubicBezTo>
                    <a:pt x="383" y="410"/>
                    <a:pt x="374" y="415"/>
                    <a:pt x="365" y="413"/>
                  </a:cubicBezTo>
                  <a:cubicBezTo>
                    <a:pt x="294" y="394"/>
                    <a:pt x="294" y="394"/>
                    <a:pt x="294" y="394"/>
                  </a:cubicBezTo>
                  <a:close/>
                  <a:moveTo>
                    <a:pt x="167" y="522"/>
                  </a:moveTo>
                  <a:cubicBezTo>
                    <a:pt x="158" y="519"/>
                    <a:pt x="153" y="511"/>
                    <a:pt x="155" y="502"/>
                  </a:cubicBezTo>
                  <a:cubicBezTo>
                    <a:pt x="157" y="494"/>
                    <a:pt x="166" y="489"/>
                    <a:pt x="175" y="491"/>
                  </a:cubicBezTo>
                  <a:cubicBezTo>
                    <a:pt x="246" y="510"/>
                    <a:pt x="246" y="510"/>
                    <a:pt x="246" y="510"/>
                  </a:cubicBezTo>
                  <a:cubicBezTo>
                    <a:pt x="254" y="512"/>
                    <a:pt x="259" y="521"/>
                    <a:pt x="257" y="529"/>
                  </a:cubicBezTo>
                  <a:cubicBezTo>
                    <a:pt x="255" y="538"/>
                    <a:pt x="246" y="543"/>
                    <a:pt x="238" y="541"/>
                  </a:cubicBezTo>
                  <a:cubicBezTo>
                    <a:pt x="167" y="522"/>
                    <a:pt x="167" y="522"/>
                    <a:pt x="167" y="522"/>
                  </a:cubicBezTo>
                  <a:close/>
                  <a:moveTo>
                    <a:pt x="252" y="437"/>
                  </a:moveTo>
                  <a:cubicBezTo>
                    <a:pt x="243" y="434"/>
                    <a:pt x="238" y="426"/>
                    <a:pt x="240" y="417"/>
                  </a:cubicBezTo>
                  <a:cubicBezTo>
                    <a:pt x="243" y="409"/>
                    <a:pt x="251" y="403"/>
                    <a:pt x="260" y="406"/>
                  </a:cubicBezTo>
                  <a:cubicBezTo>
                    <a:pt x="331" y="425"/>
                    <a:pt x="331" y="425"/>
                    <a:pt x="331" y="425"/>
                  </a:cubicBezTo>
                  <a:cubicBezTo>
                    <a:pt x="339" y="427"/>
                    <a:pt x="345" y="436"/>
                    <a:pt x="342" y="444"/>
                  </a:cubicBezTo>
                  <a:cubicBezTo>
                    <a:pt x="340" y="453"/>
                    <a:pt x="331" y="458"/>
                    <a:pt x="323" y="456"/>
                  </a:cubicBezTo>
                  <a:cubicBezTo>
                    <a:pt x="252" y="437"/>
                    <a:pt x="252" y="437"/>
                    <a:pt x="252" y="437"/>
                  </a:cubicBezTo>
                  <a:close/>
                  <a:moveTo>
                    <a:pt x="209" y="479"/>
                  </a:moveTo>
                  <a:cubicBezTo>
                    <a:pt x="201" y="477"/>
                    <a:pt x="195" y="468"/>
                    <a:pt x="198" y="460"/>
                  </a:cubicBezTo>
                  <a:cubicBezTo>
                    <a:pt x="200" y="451"/>
                    <a:pt x="209" y="446"/>
                    <a:pt x="217" y="448"/>
                  </a:cubicBezTo>
                  <a:cubicBezTo>
                    <a:pt x="288" y="467"/>
                    <a:pt x="288" y="467"/>
                    <a:pt x="288" y="467"/>
                  </a:cubicBezTo>
                  <a:cubicBezTo>
                    <a:pt x="297" y="470"/>
                    <a:pt x="302" y="478"/>
                    <a:pt x="300" y="487"/>
                  </a:cubicBezTo>
                  <a:cubicBezTo>
                    <a:pt x="297" y="495"/>
                    <a:pt x="289" y="500"/>
                    <a:pt x="280" y="498"/>
                  </a:cubicBezTo>
                  <a:cubicBezTo>
                    <a:pt x="209" y="479"/>
                    <a:pt x="209" y="479"/>
                    <a:pt x="209" y="479"/>
                  </a:cubicBez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sp>
        <p:nvSpPr>
          <p:cNvPr id="80" name="文本框 79">
            <a:extLst>
              <a:ext uri="{FF2B5EF4-FFF2-40B4-BE49-F238E27FC236}">
                <a16:creationId xmlns:a16="http://schemas.microsoft.com/office/drawing/2014/main" id="{6AFF30D0-FE6F-E7DA-6BAA-95C66208E5E0}"/>
              </a:ext>
            </a:extLst>
          </p:cNvPr>
          <p:cNvSpPr txBox="1">
            <a:spLocks/>
          </p:cNvSpPr>
          <p:nvPr/>
        </p:nvSpPr>
        <p:spPr bwMode="gray">
          <a:xfrm>
            <a:off x="406400" y="279856"/>
            <a:ext cx="11379200" cy="43088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a:ln>
                  <a:noFill/>
                </a:ln>
                <a:solidFill>
                  <a:prstClr val="black"/>
                </a:solidFill>
                <a:effectLst/>
                <a:uLnTx/>
                <a:uFillTx/>
                <a:latin typeface="Boehringer Forward Text"/>
                <a:ea typeface="+mn-ea"/>
                <a:cs typeface="+mn-cs"/>
              </a:rPr>
              <a:t>PG clinical trial related insights from Chinese PI </a:t>
            </a:r>
            <a:r>
              <a:rPr kumimoji="0" lang="en-US" altLang="zh-CN" sz="1800" b="1" i="0" u="none" strike="noStrike" kern="1200" cap="none" spc="0" normalizeH="0" baseline="0" noProof="0">
                <a:ln>
                  <a:noFill/>
                </a:ln>
                <a:solidFill>
                  <a:prstClr val="black"/>
                </a:solidFill>
                <a:effectLst/>
                <a:uLnTx/>
                <a:uFillTx/>
                <a:latin typeface="Boehringer Forward Text"/>
                <a:ea typeface="+mn-ea"/>
                <a:cs typeface="+mn-cs"/>
              </a:rPr>
              <a:t>(Prof.</a:t>
            </a:r>
            <a:r>
              <a:rPr kumimoji="0" lang="zh-CN" altLang="en-US" sz="1800" b="1" i="0" u="none" strike="noStrike" kern="1200" cap="none" spc="0" normalizeH="0" baseline="0" noProof="0">
                <a:ln>
                  <a:noFill/>
                </a:ln>
                <a:solidFill>
                  <a:prstClr val="black"/>
                </a:solidFill>
                <a:effectLst/>
                <a:uLnTx/>
                <a:uFillTx/>
                <a:latin typeface="Boehringer Forward Text"/>
                <a:ea typeface="+mn-ea"/>
                <a:cs typeface="+mn-cs"/>
              </a:rPr>
              <a:t> </a:t>
            </a:r>
            <a:r>
              <a:rPr kumimoji="0" lang="en-US" altLang="zh-CN" sz="1800" b="1" i="0" u="none" strike="noStrike" kern="1200" cap="none" spc="0" normalizeH="0" baseline="0" noProof="0">
                <a:ln>
                  <a:noFill/>
                </a:ln>
                <a:solidFill>
                  <a:prstClr val="black"/>
                </a:solidFill>
                <a:effectLst/>
                <a:uLnTx/>
                <a:uFillTx/>
                <a:latin typeface="Boehringer Forward Text"/>
                <a:ea typeface="+mn-ea"/>
                <a:cs typeface="+mn-cs"/>
              </a:rPr>
              <a:t>Wenhui</a:t>
            </a:r>
            <a:r>
              <a:rPr kumimoji="0" lang="zh-CN" altLang="en-US" sz="1800" b="1" i="0" u="none" strike="noStrike" kern="1200" cap="none" spc="0" normalizeH="0" baseline="0" noProof="0">
                <a:ln>
                  <a:noFill/>
                </a:ln>
                <a:solidFill>
                  <a:prstClr val="black"/>
                </a:solidFill>
                <a:effectLst/>
                <a:uLnTx/>
                <a:uFillTx/>
                <a:latin typeface="Boehringer Forward Text"/>
                <a:ea typeface="+mn-ea"/>
                <a:cs typeface="+mn-cs"/>
              </a:rPr>
              <a:t> </a:t>
            </a:r>
            <a:r>
              <a:rPr kumimoji="0" lang="en-US" altLang="zh-CN" sz="1800" b="1" i="0" u="none" strike="noStrike" kern="1200" cap="none" spc="0" normalizeH="0" baseline="0" noProof="0">
                <a:ln>
                  <a:noFill/>
                </a:ln>
                <a:solidFill>
                  <a:prstClr val="black"/>
                </a:solidFill>
                <a:effectLst/>
                <a:uLnTx/>
                <a:uFillTx/>
                <a:latin typeface="Boehringer Forward Text"/>
                <a:ea typeface="+mn-ea"/>
                <a:cs typeface="+mn-cs"/>
              </a:rPr>
              <a:t>WANG)</a:t>
            </a:r>
            <a:endParaRPr kumimoji="0" lang="zh-CN" altLang="en-US" sz="11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1" name="矩形: 圆角 80">
            <a:extLst>
              <a:ext uri="{FF2B5EF4-FFF2-40B4-BE49-F238E27FC236}">
                <a16:creationId xmlns:a16="http://schemas.microsoft.com/office/drawing/2014/main" id="{673219DF-CB8E-81FE-F667-305972F9EEB9}"/>
              </a:ext>
            </a:extLst>
          </p:cNvPr>
          <p:cNvSpPr/>
          <p:nvPr/>
        </p:nvSpPr>
        <p:spPr bwMode="gray">
          <a:xfrm>
            <a:off x="1852894" y="6198893"/>
            <a:ext cx="9898382" cy="520406"/>
          </a:xfrm>
          <a:prstGeom prst="roundRect">
            <a:avLst/>
          </a:prstGeom>
          <a:solidFill>
            <a:schemeClr val="accent4">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nSpc>
                <a:spcPct val="140000"/>
              </a:lnSpc>
              <a:buFont typeface="Wingdings" panose="05000000000000000000" pitchFamily="2" charset="2"/>
              <a:buChar char="Ø"/>
            </a:pPr>
            <a:r>
              <a:rPr lang="en-US" altLang="zh-CN" sz="1100">
                <a:solidFill>
                  <a:schemeClr val="bg1">
                    <a:lumMod val="50000"/>
                  </a:schemeClr>
                </a:solidFill>
              </a:rPr>
              <a:t>These insights have already be shared with the global evidence lead of Spesolimab(Thoma,Dr.,Christian), the clinical project lead for PG ( </a:t>
            </a:r>
            <a:r>
              <a:rPr lang="en-US" altLang="zh-CN" sz="1100" err="1">
                <a:solidFill>
                  <a:schemeClr val="bg1">
                    <a:lumMod val="50000"/>
                  </a:schemeClr>
                </a:solidFill>
              </a:rPr>
              <a:t>Elgadi</a:t>
            </a:r>
            <a:r>
              <a:rPr lang="en-US" altLang="zh-CN" sz="1100">
                <a:solidFill>
                  <a:schemeClr val="bg1">
                    <a:lumMod val="50000"/>
                  </a:schemeClr>
                </a:solidFill>
              </a:rPr>
              <a:t>, Dr. Mabrouk), Medical</a:t>
            </a:r>
            <a:r>
              <a:rPr lang="zh-CN" altLang="en-US" sz="1100">
                <a:solidFill>
                  <a:schemeClr val="bg1">
                    <a:lumMod val="50000"/>
                  </a:schemeClr>
                </a:solidFill>
              </a:rPr>
              <a:t> </a:t>
            </a:r>
            <a:r>
              <a:rPr lang="en-US" altLang="zh-CN" sz="1100">
                <a:solidFill>
                  <a:schemeClr val="bg1">
                    <a:lumMod val="50000"/>
                  </a:schemeClr>
                </a:solidFill>
              </a:rPr>
              <a:t>advisor of TA Med Affairs (Semeco,Dr.,Juan)</a:t>
            </a:r>
            <a:endParaRPr lang="zh-CN" altLang="en-US" sz="1100">
              <a:solidFill>
                <a:schemeClr val="bg1">
                  <a:lumMod val="50000"/>
                </a:schemeClr>
              </a:solidFill>
            </a:endParaRPr>
          </a:p>
        </p:txBody>
      </p:sp>
    </p:spTree>
    <p:extLst>
      <p:ext uri="{BB962C8B-B14F-4D97-AF65-F5344CB8AC3E}">
        <p14:creationId xmlns:p14="http://schemas.microsoft.com/office/powerpoint/2010/main" val="7807086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16.potx" id="{69C72FE0-88EE-4B76-BE66-8EEB0D909CD6}" vid="{8DD212FA-B497-4EF6-ADA5-99AC8AB58070}"/>
    </a:ext>
  </a:extLst>
</a:theme>
</file>

<file path=ppt/theme/theme3.xml><?xml version="1.0" encoding="utf-8"?>
<a:theme xmlns:a="http://schemas.openxmlformats.org/drawingml/2006/main" name="3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webextension1.xml><?xml version="1.0" encoding="utf-8"?>
<we:webextension xmlns:we="http://schemas.microsoft.com/office/webextensions/webextension/2010/11" id="{EA4234D2-21A1-402E-987F-2F4AA8D2A654}">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FFFFFF&quot;"/>
    <we:property name="bookmark" value="&quot;H4sIAAAAAAAAA+1a3W7bOBZ+FcM3vfEMRFKkyN5Nk7ZbbNsJ4k73YjFYHJJHiaayZegn00wQYB9sX2ffYw8pp3UTx/bGjp3BNEASSaQOv/N/DsWroS+aWQmX72GCw+fDF1X1aQL1pwFXw9Fw2j/0DjxDk0iDLGOKo9EpjVaztqimzfD51bCF+gzbj0XTQRko0cN//joaQlmewFm4y6FscDScYd1UUyiLP7CfTENt3eH1aIifZ2VVQyA5bqHFQPaCptM9QWA/CloRXFtc4Bhd2z/NPQDTArhQqZKCi5Rxmtb0EyKypVPC86JsiXq4tJcvP89qQnx1w/CrOCjzTDGeYcoZMS6UVSZQby9nYc4RYTyr6sJBSQ97coHaxxvMfDR8VVeTSHcuXaCZL6dt0V7SzU9Ng+3gGC+wrGYTnLY0+CHSTq5Jdv84xxrjy0fV1Bc9x1fDN/FvAIxN0zMZp5Td5NZIuBtXXe3wFPOvNxHGNQn8pK5IHRHKuO385eB9N7FYD8bn1e80gSB8hLKLqqQV3hbEH7EaOAyP6a1nJBP9Q8LS5FmY/+s1/ekVuYBgI2QrZLIB0tGQ/h/VSArxw+cygriI1kWSa6GYzvVsUJjEcaaMRYWZStJkvSmgCNavFbpUGWmR+xS2MwK/aATHwdI30fv7qr0rxF0Yg78t4tc4jZrexASmXVne6H577Udh3IvmWzWz69HVci3sGsGXZ4vLJ5HZppielfNIFuNVvOqVOWzKwpE1UJy0v1FAivY1QYqT4eJszlbQ16xfq8DmqzV+e7V7c3oUy5lLaoPIcdTVNXn34B056PlC9LiOb3toYYlkJpWPssPoossJH9Mbvvp9Gmj2xBosb/LFHYpNS0bTjqMWx3HeGvohV80pB96r2mP94jJSPi7qm3VISy8fxwgDQ30SpLHfFtLcF4HvcLGgjtFQJDIzucmcBcddkjphdZTdKtuHiOxF17a09qIHRJLcASZUUCAIi7nwxudqS5IJz6URhufIBXgFKhHJliQNQ5kpazmRtcplPrXborQcrPUuScBKqRGkSNX9GWge3X7yFzB16O+EtncITVfj/5Vbb6v6Q9VCORi7Gikg+SVhbrRPHKcw9dWEisMDIjnq2h+qPB/4B4b9SVe2xSm9A7VfYqe5TsmeyJZSI5BLbiWutYDd5bdTdHVXtMsqq59PfnnCWa5ezHKLXOwr2dXL5bVBrntdVhbKP2+S222+WWuB86xjcwOGUo2UzkvulWbr43kxoWZzSdQ1GeSZ1GBRG6sFU4lcS6s5h9kSWhqASyc0IyImzXnuhFvbQ6SKKS15IowziXciS7XarofYyh0erZW44yOhkPjXZl7ybHdtxAoTuwH0+LllAQS7jSIyvRrGXkL+cQhBhxYG5fxPD0k8JfX1R+dQt9866b1FObtdlO+eh3ur87k2L3cbL794V4xMKucyVZnmFrwXqeCI5rC15eJezeHquRAxB1U++Dp4EBjvKK9HGL05HgzHyTk0y+raPS3f20R04QNigLZrDqiC4iJ0Ow8Jeo6aivnQ3dYCPfMyY0A1Bk+1d5avDwC7yzNzzRYTDJH5Ns///fd/9iLw1SiOzosp7Cf/rwbS9wRPAUkvEvYEkMxl8oSgvBqPw+8TANRr6X48D6+Wdl2vbBIG+oKFCw0JZFwo7rxnzEpY8TlmL5tQdUFaf1ucnS8rFNbKeBbi+gew5bIeVCvJhc0SZo1LUmVFkj64n7XSc2e8prZWgfTopXtoP+sZsiwFFKBlHr6Qooc9Jo0o8UEvs9s19a3C97EdcAWUkxL2U7GtwEB1Y/ewmqEN5F5+fmib9EgK7feW0AvDnJFJanKdSJVJzdea8ppte5WD1FImLpXkIk7nZv3O0T3eYcnJtFa549ZlyLXXbtuvCuC0UKnPQSSZtga08uJ7m/a9Tfvepv1F2rTMWces14bzTGLiDVi59zbt73g5+GX25RPXAtdfRwYfqlnh9rRLuQ7WMbZQ7C79BToShc/QeGm95OB1yrN074p40zQdDk6L5tPgbXV2l+vG1cVsbSjaL6rBm8mMktzAP0l0c3BlOEP2hGC9K9riLJ5uHKwtJ/eLLLr56q57v4BOqPm2RUkvhExcOUeRnKL8Tp0fTCJSJRhLDbU/JrE+W9/3PH7zOeh3Hg54DiOiiNsNu058GlPqLxNjhBeZYCkq47csphl1Dmi4ktQ2JClHydi2R3TAolTMisxRu55Sxy4Sti1Kn+eBWS6ZpJ/MqGw9yqW9//Wdg62v66qbRXPNck0LYOoRbeo9B8ejKRTN3wrvcTo/gx26GpY7gY574RNhCVGu2bcz45HsuNyyUx1V1zYUY/EEprjkvAEZJUw9+vn1facMIprhDU9FaBg3fGF+huJ/KDjWZbsuAAA=&quot;"/>
    <we:property name="creatorSessionId" value="&quot;55687f9c-eaff-48cc-b6bc-e31ed8924296&quot;"/>
    <we:property name="creatorTenantId" value="&quot;e1f8af86-ee95-4718-bd0d-375b37366c83&quot;"/>
    <we:property name="creatorUserId" value="&quot;100320010C023B0E&quot;"/>
    <we:property name="datasetId" value="&quot;4da17ecd-fc79-414c-8b7f-f5e6c23d19b1&quot;"/>
    <we:property name="embedUrl" value="&quot;/reportEmbed?reportId=f4df1750-8eee-4ba9-8f01-3c1578b0c9cd&amp;groupId=8e74695f-93d7-42bd-b22e-52a2c08e5a99&amp;w=2&amp;config=eyJjbHVzdGVyVXJsIjoiaHR0cHM6Ly9XQUJJLU5PUlRILUVVUk9QRS1LLVBSSU1BUlktcmVkaXJlY3QuYW5hbHlzaXMud2luZG93cy5uZXQiLCJlbWJlZEZlYXR1cmVzIjp7InVzYWdlTWV0cmljc1ZOZXh0Ijp0cnVlfX0%3D&amp;disableSensitivityBanner=true&amp;storytellingChangeViewModeShortcutKeys=true&quot;"/>
    <we:property name="initialStateBookmark" value="&quot;H4sIAAAAAAAAA+1b627byhF+FUJ/zjmAcbr3S/4Ujp2LEdsx4jRF0R4Us7uzMk8oUSApJ27gt+jvPlyfpEtKiR1bsnQsWRZSQ4BA7i5nv52ZnZ0ZDr/0Ql6PCrg4hgH2nvWel+XHAVQfM6Z6O73htPHt2zdHu+/e/PN49+hFai5HTV4O696zL70Gqj42H/J6DEVLIjX+/bedHhTFCfTbuwhFjTu9EVZ1OYQi/xdOBqeuphrj5U4PP4+KsoKW5GkDDbZkz9PwdJ/mpr/yNCP4Jj/HU/TNpNUK1Iojd8QQTzQPhLXD6smADtnMIak95kWTqLeX7uLF51GVEH/5utKXXacQNDBFpWCGESsIJSQk6s3FqB2zlzD2yyr3UKTGCbmW2oevmNlO72VVDjq6U7b208gXwyZvLtLNKxxiBUV2MIxlNegWnrrfd9TJZeLeX8+wwu7xvXIY8smav/QOuv8WMtb1ZJndkGI8uNHT3p2W48rjO4xXNx2Qy8Tyk6pMAunAJJb3MTWmaT9AMe4EmKge5k2LsVtX25xG/vT8INNKUm2zn18fn+7t/bKTZXv7lOs/vdw9yaBf/prtPv/H8L//+fe78uX+Ty3R3y7T30TG16AtBflOds1ZxE7vrPy0V2GSUOg9k5c7NwQbnAdOjRXRSRMBKVNxnmBXgXxQ12PM3uX1x+ywnMHycbjIjscDlxTnJmja8eu82yNJ+g3kw6m2BgwkSnTWgnIotfSRLVRo5MFDMAq9UFY6ZEHAaqocrqvyfrtfl9Hd47K5zbx1KHS4yd2puiyl0sNxUXxV09UVtWPGXDQ3xZx0c+16NwvBt7br05NusXU+7BdTe9xZ3e5qIsxeXeQ+aUOy9u73ZFY7/RpgsvbtRX+6rFZeo8lcOdZX2vj91frV6UE0Z8qpJSzh3riqcNhkR2mDnl0zdJfd0wEamMGZQRk63mG3RWcT3k9PhPLTsKU5IVZj8fXUu0WxbpLSNKedFE+7cQvotyfulHK79rIKWD2/6Cjv59XXeZKUXjyMErYLmhzlqe/3a4f1N4avcbJWHDs9oSi61ghyiNEJKqUhT1bzyWo+Wc0nq/lkNedZTSVBG8WJMoF554lSKnS8u0v3oUP2fNw0XUBztQM6kjwKxiWTliCAkzrRliuStJ5QIb3ggSsMLCii/Xzbvna7cby/mx3lRZ2w3eJm2wejpHjnKXL52UGNmU9/v8ywKQ9h0u6CdpAsgr8Kox4XzN5ZPoSsHXE6doN8QukedrcBV+CLzzPUjnumhFdMMMtBoxAcVlU7w5gPWrEYDIJJMXHUK5J0ziUF1spJ6iixlmttF5LMB23Ue4tWBMpQAEcmCPeUEKXFQlr1GYxm0NKJmCOCighWRaGI47jiUmlQVDMmXUwwuYXA/ap2IEmYO6t8iEQmL48TFGRFktoxrqJKRgsMZVLEYGGDpmW3rrHJ9vEci3I0SIfmnBxC6w1sZhMvi6jLamSnCdDWABu77LDtXqtdEdFHxphwKjDuUqzA+GKdm7PLnOPKCsOppZwYGjSyOzI7Uw7uhnMYegy32HeEUI8r/EP8u8mzw7x/1tyHX6P8vGzet0yb5QEwK9LB75BAiq44JyI87jJflW5GlHFdTx90+u7wuw+XPVRh2nWLy8RJ543R2iU3C4XTRJr5XP4uPSpRYBJM5N4x40jQlonVwt78epxyIyu6qYglv+XpTt54ZPkwG00c6qzCUVk1f14ujvkb1mtLbt+dKb4T6SZC4wXwsPZVPtqgK3k3nuxgMErHeha2DNcUVjHnENo8oKO0wfpdCJCdFLAdTDpJttjlRRqalTErvU/WNVnercD2vhzlnq7Nf5ibQ6Cr5RD+qNAn+YwgGQsiGiKYN4Jy7azeoKs7zWlkb/Ai+8sozMhMXPVknSA2pBKLge1jA/n63MqHUot7cXiiGzZFy8oFDtRqhj4QBfZxXbbWsWgNxFXno7huR2WYwPALT5kHxlGgHxdJbu1kjwZj9gv4jU2/OxoV05xWFlsX9NGQ3JlcW8mvd5YQ0GknBkUl5cAFWTVvopViEBV4wVJIRrRmbtVEFmVUUQLGu4ARmUih7KqJ4xTFWOq80sEjMuqlk3RFkqhRaKttsCwKTRAlbjJx/INmd+6fTLFRIAVrEBCtRSSem4UinpNMiVoE9Ir5KJkXChyT7L60jImUM5U8Iqe4o0RGtnL6U1lLIGBaqPCWWq5gk97WosokaMb1VrjcWxczbVuwu83x0rYG4tsY9+6Pt0Nmbz8NZ5Qj/gDRdkuHSY4GNVfWK+QmUIh3JEU3bXV9OdN3X63YZHvrKbqS8GsFFeutbViO15MyB6QaQsQQkqfqpUWpA1/xfHecaMpjNOB1DIwKF+7tfnBmVEzOgqHOATEUkyf8FH0/Rd9P0ffGo28TUrhoYltSEQlhVmjmF27rBj83rpxxHGkqNfEhGkqsI55aHRdv7PUdR4fYx2GgN7n3Ou+fbcgBmIPgCEM+vlt/HhzD4ZpjW+qsRGCGewtOBs0sXfzZxuR9rGU2GCCK8/QkSu89qB/wfey3qHOJd697RVlj2NDr1znh8GO8am3b16qWjkRUxkalKEkOEGdxklVbQi0h+UnolHCWgTJERW3s/7lavh3h8EkpV1ZKoh2VQTgFsS0R1ALCqsWaRrPIKAiPPoAnIhC7crkhlYZxozmRGpySHJYojp5X+kVdjNGjRKuJ0F5Iu9ivmFP4CQadkclDscwhjzYuU0b25FU8olexQQBv2wRhhWG9xdVGsfanSUDtDad8iVczc7ziy1tfvb6qyvFo8i13CAyAAXLvI6UKBXTFlnn9Ok/B+/DbZ+b+LC9ChR17ZETNLVLnIfJ01JnpBwc3HppUc3KaTA9qLdoUERqPwn0/dvqxOiegUIFDFVVALgijZMbAjuisrEw5buoReDyBIc7IpSTBwzBgmF4vzKB0PMvbasslH5h+b/M/diaLi/c/AAA=&quot;"/>
    <we:property name="isFiltersActionButtonVisible" value="false"/>
    <we:property name="isVisualContainerHeaderHidden" value="false"/>
    <we:property name="pageDisplayName" value="&quot;Trial&quot;"/>
    <we:property name="pageName" value="&quot;fdaa183a236465323412&quot;"/>
    <we:property name="pptInsertionSessionID" value="&quot;413AFF51-08FB-4F3D-BF81-93BA4C92F8C5&quot;"/>
    <we:property name="reportEmbeddedTime" value="&quot;2025-01-07T13:35:04.518Z&quot;"/>
    <we:property name="reportName" value="&quot;Pipeline Portfolio &amp; Asset Dashboard&quot;"/>
    <we:property name="reportState" value="&quot;CONNECTED&quot;"/>
    <we:property name="reportUrl" value="&quot;/groups/8e74695f-93d7-42bd-b22e-52a2c08e5a99/reports/f4df1750-8eee-4ba9-8f01-3c1578b0c9cd/fdaa183a236465323412?experience=power-bi&amp;bookmarkGuid=22f93951bf47bf8c1add&amp;pbi_source=storytelling_addin&quot;"/>
  </we:properties>
  <we:bindings/>
  <we:snapshot xmlns:r="http://schemas.openxmlformats.org/officeDocument/2006/relationships"/>
</we:webextension>
</file>

<file path=ppt/webextensions/webextension2.xml><?xml version="1.0" encoding="utf-8"?>
<we:webextension xmlns:we="http://schemas.microsoft.com/office/webextensions/webextension/2010/11" id="{EA4234D2-21A1-402E-987F-2F4AA8D2A654}">
  <we:reference id="wa200003233" version="2.0.0.3" store="en-US" storeType="OMEX"/>
  <we:alternateReferences>
    <we:reference id="WA200003233" version="2.0.0.3" store="WA200003233" storeType="OMEX"/>
  </we:alternateReferences>
  <we:properties>
    <we:property name="artifactViewState" value="&quot;live&quot;"/>
    <we:property name="backgroundColor" value="&quot;#FFFFFF&quot;"/>
    <we:property name="bookmark" value="&quot;H4sIAAAAAAAAA+1a224jxxH9lcG8+IUO+jLd071vtrS7WWS1EcT15iEwjL7USGMPOcRc5JUFAfmavOUDAgT5Ghv5jVT3UFquRJG0SFEKsgIkzaWn+tSlq+rM9GXqy3ZWmYt3ZgLpi/TXf/79P//4d8JkOkqnwyUPnjjHDDXEEGdzRYnBu/WsK+tpm764TDvTnEL3oWx7UwU5ePGvqWXGWu8IMVYIBUbwTKbfj1JTVcfmNIwpTNXCKJ1B09ZTU5W/wCACb3VND1ejFD7OqroxYaJxZzoIk53jcDxHYPQPHHEY15XnMAbXDVcLbwxV3DAuMyk44xllOKwdBkS8S4eE62XVofRwaC9efpw1qMfltRlexZuiyCVlOWSMaqBcWqmD9O5iFsYcIMbTuimdqfDiIC5I+3CNmY3SV009iXLnFg+2fDntyu4CT75pW+iSQziHqp5NYNrhzfdRNrlC2/3lDBqIDx/UU18OGl+mb+LfABjadlAyDqn6ya074Wxc942DEyg+nUQYV2jw46ZGd0Qo4673F8m7fmKhScZn9c84ACF8MFUfHYwzvC1RP1Q1aBgu41NfoU3U14Rm5Ksw/vsr/DM4cgHBRshW2GQDpKMU/x80gA7x6QsRQZzH6ELLdaaczv2sgWviGJXagoRckoysDwXg3hmvJLhMamGB+cxsFwR+MQgOQ6Rv4vd3dXfXiLsIBn/bxK9hGj29SQhM+6q69v323o/GuBfN526mV6PL5V7YNYKba4vTk6hsW05Pq3kmi/kqHg3OTNuqdBgNmD3tj5iQYnxNALNnODidqxX8NRvmKqH9FI2fH+0+nB4lcuaW2iBzHPRNg6s7OcIFeraQPa7i0950ZollJrWPtoO4RJcLPsQnfP3zNMgchLVQXdeLOxLbDoOmG0cvjuO4NfJDrZpLDrrXjYfm24so+bBsrudBL718nCAMCg1FEO/9uFDmbgy+w8mCO0YpJyLXhc6dNY45kjluVbTdqtg3Edm3fdfh3IsrIIpkzgChoMFwCwX32hdyS5GEFUJzzQpg3HhpJOFkS5GagsiltQzFWulyn9ltUS7tk+6tQPPs9o0/N1MH/k5qOwLT9g38rtp629Xv685Uydg1gAnJL0lzo33iODFTX0+wOXxCJAd993VdFIl/YNqf9FVXnuAzpvGfR8Dm+eKRLDokLVKoDEMawznTHJhgVsDaINxdiT0B1/Rlt6y5+/Pxd8+40DaLhXZRi33V22a5vTYpt2fl1CRH2ApXGA//u/V2t6VvbSTOC6AttNFY9YRwXjAvkRSvrQPlBHnvkgKgc1PkQhkLSlvFqSRiraz2zMyWyFLGMOG4oihEZwUrHHdr6UwmqVSCEa6dJt7xPFNyOzqz1bJ4NFZzZ62EnuaHzVbLzfrYntGsCLFrQI9f5hZA0NsootKrYewl9R+GFPTUxsBi+dNDClBVTuHgzDTdhvWeblnvN9DhXqIw9+bFbvPlzeqKmUkWTGQyV8wa73nGGYB+2jZ38bXR07WWIWMmdZF8uvkkMI6wrkcYQzg+GY7jM9Mua7H3NP0QE3EJPyEG0/XtE7qgPA804SFJzyG/md+6y8bBUy9yarDHYJnyzrL1CWB3dWbu2XICITPf1vm3v/1rLwZfjSK25Pup/6uBvK5qa6rngGQwCX0GSOY2eUZQXo3H4fcZABq8dD+eh3dLu+5XNkkDQ8PCuDLE5IxL5ryn1Aqz4svQXt6HNSV6/W15erasUVhr41nI6++NrZZxUCUF4zYn1GpHMmk5yR7MZ63wzGmvkNZKIzx44R7KZz0FmmcGuFGiCB9rwZs9Fo1o8WSw2e2e+lbj+9gLcAWU48rsp2NbgQH7xv5hPUMXxL38+FCa9EgOHd4tgeeaOi1IpgtFhMyFYmtDec0XBFkYoYQgLhO4RJwq9Po3R/esDouLTClZOGZdDkx55bb9wGGc4jLzheEkV1YbJT3/QtO+0LQvNO3/hKblzjpqvdKM5QKI18aKvdO0P8FF8t3s5mvbgtaf7iTv61np9vSWch2sQ+hMubvyF+QI4D4H7YX1ghmvMpZne3fEm7btITkp25+St/XpXa1b15Sztalov6iSN5MZFrnEP0t0c3BV2M72jGAdlV15GjdaJmvbyf0ii8t8NeveL6BjJN+2rPCBUIlr5zCTY5bf6eI3mvBMckozjfRHE+vz9bzn8clnMrx5eMItIRFFfN2w68KnIEN+SbTmnuecZiC137KZpsgcQDMpkDaQjIGgdNvdQsaCkNTy3CFdz5Cxc0K3RemLIijLBBX4k2uZr0e5lPtf3dlj+7qp+1kM17xQOAFkHsBm3jPjWAyFsv1j6T1M59vBA6uhhePgmOeecIuICkU/Hxl3h8fplu3uqPuuxRwLx2YKS/YbYFCaqQc/P75vl0FEk17rVAbCuOED8z0U/wWQI0RcWi8AAA==&quot;"/>
    <we:property name="creatorSessionId" value="&quot;55687f9c-eaff-48cc-b6bc-e31ed8924296&quot;"/>
    <we:property name="creatorTenantId" value="&quot;e1f8af86-ee95-4718-bd0d-375b37366c83&quot;"/>
    <we:property name="creatorUserId" value="&quot;100320010C023B0E&quot;"/>
    <we:property name="datasetId" value="&quot;4da17ecd-fc79-414c-8b7f-f5e6c23d19b1&quot;"/>
    <we:property name="embedUrl" value="&quot;/reportEmbed?reportId=f4df1750-8eee-4ba9-8f01-3c1578b0c9cd&amp;groupId=8e74695f-93d7-42bd-b22e-52a2c08e5a99&amp;w=2&amp;config=eyJjbHVzdGVyVXJsIjoiaHR0cHM6Ly9XQUJJLU5PUlRILUVVUk9QRS1LLVBSSU1BUlktcmVkaXJlY3QuYW5hbHlzaXMud2luZG93cy5uZXQiLCJlbWJlZEZlYXR1cmVzIjp7InVzYWdlTWV0cmljc1ZOZXh0Ijp0cnVlfX0%3D&amp;disableSensitivityBanner=true&amp;storytellingChangeViewModeShortcutKeys=true&quot;"/>
    <we:property name="initialStateBookmark" value="&quot;H4sIAAAAAAAAA+1b627byhF+FUJ/zjmAcbr3S/4Ujp2LEdsx4jRF0R4Us7uzMk8oUSApJ27gt+jvPlyfpEtKiR1bsnQsWRZSQ4BA7i5nv52ZnZ0ZDr/0Ql6PCrg4hgH2nvWel+XHAVQfM6Z6O73htPHt2zdHu+/e/PN49+hFai5HTV4O696zL70Gqj42H/J6DEVLIjX+/bedHhTFCfTbuwhFjTu9EVZ1OYQi/xdOBqeuphrj5U4PP4+KsoKW5GkDDbZkz9PwdJ/mpr/yNCP4Jj/HU/TNpNUK1Iojd8QQTzQPhLXD6smADtnMIak95kWTqLeX7uLF51GVEH/5utKXXacQNDBFpWCGESsIJSQk6s3FqB2zlzD2yyr3UKTGCbmW2oevmNlO72VVDjq6U7b208gXwyZvLtLNKxxiBUV2MIxlNegWnrrfd9TJZeLeX8+wwu7xvXIY8smav/QOuv8WMtb1ZJndkGI8uNHT3p2W48rjO4xXNx2Qy8Tyk6pMAunAJJb3MTWmaT9AMe4EmKge5k2LsVtX25xG/vT8INNKUm2zn18fn+7t/bKTZXv7lOs/vdw9yaBf/prtPv/H8L//+fe78uX+Ty3R3y7T30TG16AtBflOds1ZxE7vrPy0V2GSUOg9k5c7NwQbnAdOjRXRSRMBKVNxnmBXgXxQ12PM3uX1x+ywnMHycbjIjscDlxTnJmja8eu82yNJ+g3kw6m2BgwkSnTWgnIotfSRLVRo5MFDMAq9UFY6ZEHAaqocrqvyfrtfl9Hd47K5zbx1KHS4yd2puiyl0sNxUXxV09UVtWPGXDQ3xZx0c+16NwvBt7br05NusXU+7BdTe9xZ3e5qIsxeXeQ+aUOy9u73ZFY7/RpgsvbtRX+6rFZeo8lcOdZX2vj91frV6UE0Z8qpJSzh3riqcNhkR2mDnl0zdJfd0wEamMGZQRk63mG3RWcT3k9PhPLTsKU5IVZj8fXUu0WxbpLSNKedFE+7cQvotyfulHK79rIKWD2/6Cjv59XXeZKUXjyMErYLmhzlqe/3a4f1N4avcbJWHDs9oSi61ghyiNEJKqUhT1bzyWo+Wc0nq/lkNedZTSVBG8WJMoF554lSKnS8u0v3oUP2fNw0XUBztQM6kjwKxiWTliCAkzrRliuStJ5QIb3ggSsMLCii/Xzbvna7cby/mx3lRZ2w3eJm2wejpHjnKXL52UGNmU9/v8ywKQ9h0u6CdpAsgr8Kox4XzN5ZPoSsHXE6doN8QukedrcBV+CLzzPUjnumhFdMMMtBoxAcVlU7w5gPWrEYDIJJMXHUK5J0ziUF1spJ6iixlmttF5LMB23Ue4tWBMpQAEcmCPeUEKXFQlr1GYxm0NKJmCOCighWRaGI47jiUmlQVDMmXUwwuYXA/ap2IEmYO6t8iEQmL48TFGRFktoxrqJKRgsMZVLEYGGDpmW3rrHJ9vEci3I0SIfmnBxC6w1sZhMvi6jLamSnCdDWABu77LDtXqtdEdFHxphwKjDuUqzA+GKdm7PLnOPKCsOppZwYGjSyOzI7Uw7uhnMYegy32HeEUI8r/EP8u8mzw7x/1tyHX6P8vGzet0yb5QEwK9LB75BAiq44JyI87jJflW5GlHFdTx90+u7wuw+XPVRh2nWLy8RJ543R2iU3C4XTRJr5XP4uPSpRYBJM5N4x40jQlonVwt78epxyIyu6qYglv+XpTt54ZPkwG00c6qzCUVk1f14ujvkb1mtLbt+dKb4T6SZC4wXwsPZVPtqgK3k3nuxgMErHeha2DNcUVjHnENo8oKO0wfpdCJCdFLAdTDpJttjlRRqalTErvU/WNVnercD2vhzlnq7Nf5ibQ6Cr5RD+qNAn+YwgGQsiGiKYN4Jy7azeoKs7zWlkb/Ai+8sozMhMXPVknSA2pBKLge1jA/n63MqHUot7cXiiGzZFy8oFDtRqhj4QBfZxXbbWsWgNxFXno7huR2WYwPALT5kHxlGgHxdJbu1kjwZj9gv4jU2/OxoV05xWFlsX9NGQ3JlcW8mvd5YQ0GknBkUl5cAFWTVvopViEBV4wVJIRrRmbtVEFmVUUQLGu4ARmUih7KqJ4xTFWOq80sEjMuqlk3RFkqhRaKttsCwKTRAlbjJx/INmd+6fTLFRIAVrEBCtRSSem4UinpNMiVoE9Ir5KJkXChyT7L60jImUM5U8Iqe4o0RGtnL6U1lLIGBaqPCWWq5gk97WosokaMb1VrjcWxczbVuwu83x0rYG4tsY9+6Pt0Nmbz8NZ5Qj/gDRdkuHSY4GNVfWK+QmUIh3JEU3bXV9OdN3X63YZHvrKbqS8GsFFeutbViO15MyB6QaQsQQkqfqpUWpA1/xfHecaMpjNOB1DIwKF+7tfnBmVEzOgqHOATEUkyf8FH0/Rd9P0ffGo28TUrhoYltSEQlhVmjmF27rBj83rpxxHGkqNfEhGkqsI55aHRdv7PUdR4fYx2GgN7n3Ou+fbcgBmIPgCEM+vlt/HhzD4ZpjW+qsRGCGewtOBs0sXfzZxuR9rGU2GCCK8/QkSu89qB/wfey3qHOJd697RVlj2NDr1znh8GO8am3b16qWjkRUxkalKEkOEGdxklVbQi0h+UnolHCWgTJERW3s/7lavh3h8EkpV1ZKoh2VQTgFsS0R1ALCqsWaRrPIKAiPPoAnIhC7crkhlYZxozmRGpySHJYojp5X+kVdjNGjRKuJ0F5Iu9ivmFP4CQadkclDscwhjzYuU0b25FU8olexQQBv2wRhhWG9xdVGsfanSUDtDad8iVczc7ziy1tfvb6qyvFo8i13CAyAAXLvI6UKBXTFlnn9Ok/B+/DbZ+b+LC9ChR17ZETNLVLnIfJ01JnpBwc3HppUc3KaTA9qLdoUERqPwn0/dvqxOiegUIFDFVVALgijZMbAjuisrEw5buoReDyBIc7IpSTBwzBgmF4vzKB0PMvbasslH5h+b/M/diaLi/c/AAA=&quot;"/>
    <we:property name="isFiltersActionButtonVisible" value="false"/>
    <we:property name="isVisualContainerHeaderHidden" value="false"/>
    <we:property name="pageDisplayName" value="&quot;Trial&quot;"/>
    <we:property name="pageName" value="&quot;fdaa183a236465323412&quot;"/>
    <we:property name="pptInsertionSessionID" value="&quot;413AFF51-08FB-4F3D-BF81-93BA4C92F8C5&quot;"/>
    <we:property name="reportEmbeddedTime" value="&quot;2025-01-07T13:35:04.518Z&quot;"/>
    <we:property name="reportName" value="&quot;Pipeline Portfolio &amp; Asset Dashboard&quot;"/>
    <we:property name="reportState" value="&quot;CONNECTED&quot;"/>
    <we:property name="reportUrl" value="&quot;/groups/8e74695f-93d7-42bd-b22e-52a2c08e5a99/reports/f4df1750-8eee-4ba9-8f01-3c1578b0c9cd/fdaa183a236465323412?experience=power-bi&amp;bookmarkGuid=22f93951bf47bf8c1add&amp;pbi_source=storytelling_addin&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38988128-37ab-443d-bda8-e0f28155c68c">
      <UserInfo>
        <DisplayName/>
        <AccountId xsi:nil="true"/>
        <AccountType/>
      </UserInfo>
    </SharedWithUsers>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Props1.xml><?xml version="1.0" encoding="utf-8"?>
<ds:datastoreItem xmlns:ds="http://schemas.openxmlformats.org/officeDocument/2006/customXml" ds:itemID="{2D6885DC-0AC1-41CC-BF2E-CE25858CFBC8}">
  <ds:schemaRefs>
    <ds:schemaRef ds:uri="http://schemas.microsoft.com/sharepoint/v3/contenttype/forms"/>
  </ds:schemaRefs>
</ds:datastoreItem>
</file>

<file path=customXml/itemProps2.xml><?xml version="1.0" encoding="utf-8"?>
<ds:datastoreItem xmlns:ds="http://schemas.openxmlformats.org/officeDocument/2006/customXml" ds:itemID="{98D5FBB1-91FF-4D20-B6E3-533090757B8F}"/>
</file>

<file path=customXml/itemProps3.xml><?xml version="1.0" encoding="utf-8"?>
<ds:datastoreItem xmlns:ds="http://schemas.openxmlformats.org/officeDocument/2006/customXml" ds:itemID="{43DC9507-4245-45F6-8E52-4AC67BABE327}">
  <ds:schemaRefs>
    <ds:schemaRef ds:uri="545a336c-45ba-4242-ba8b-2a24159e5b92"/>
    <ds:schemaRef ds:uri="6105e471-a007-4c69-b034-cfd36128fa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8</Notes>
  <HiddenSlides>0</HiddenSlides>
  <ScaleCrop>false</ScaleCrop>
  <HeadingPairs>
    <vt:vector size="4" baseType="variant">
      <vt:variant>
        <vt:lpstr>Theme</vt:lpstr>
      </vt:variant>
      <vt:variant>
        <vt:i4>3</vt:i4>
      </vt:variant>
      <vt:variant>
        <vt:lpstr>Slide Titles</vt:lpstr>
      </vt:variant>
      <vt:variant>
        <vt:i4>15</vt:i4>
      </vt:variant>
    </vt:vector>
  </HeadingPairs>
  <TitlesOfParts>
    <vt:vector size="18" baseType="lpstr">
      <vt:lpstr>Boehringer Ingelheim 16:9</vt:lpstr>
      <vt:lpstr>1_Boehringer Ingelheim 16:9</vt:lpstr>
      <vt:lpstr>3_Boehringer Ingelheim 16:9</vt:lpstr>
      <vt:lpstr>Medical Advisory Panel (MAP) Meeting TA INFL Update</vt:lpstr>
      <vt:lpstr>Title</vt:lpstr>
      <vt:lpstr>2025 INFL TA Key Milestone Overview</vt:lpstr>
      <vt:lpstr>Decisions/Advice provided by TA-CEC March - May 2025</vt:lpstr>
      <vt:lpstr>TA Key Update (non-portfolio)</vt:lpstr>
      <vt:lpstr>TA Portfolio Key Update Late-stage Assets</vt:lpstr>
      <vt:lpstr>TA Portfolio Key Update Late-stage Assets</vt:lpstr>
      <vt:lpstr>TA Portfolio Key Update Early Assets</vt:lpstr>
      <vt:lpstr>PowerPoint Presentation</vt:lpstr>
      <vt:lpstr>PMS studies of Spesolimab</vt:lpstr>
      <vt:lpstr>Backup</vt:lpstr>
      <vt:lpstr>Project</vt:lpstr>
      <vt:lpstr>Project</vt:lpstr>
      <vt:lpstr>Accelerate PG Ph III study enrollment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jian.cheng@boehringer-ingelheim.com</dc:creator>
  <cp:revision>1</cp:revision>
  <dcterms:created xsi:type="dcterms:W3CDTF">2023-11-09T09:11:57Z</dcterms:created>
  <dcterms:modified xsi:type="dcterms:W3CDTF">2025-05-15T01:39:31Z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y fmtid="{D5CDD505-2E9C-101B-9397-08002B2CF9AE}" pid="10" name="Order">
    <vt:r8>495600</vt:r8>
  </property>
</Properties>
</file>