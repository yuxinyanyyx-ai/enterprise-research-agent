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3"/>
  </p:notesMasterIdLst>
  <p:sldIdLst>
    <p:sldId id="2147480083" r:id="rId5"/>
    <p:sldId id="2147480151" r:id="rId6"/>
    <p:sldId id="2147480152" r:id="rId7"/>
    <p:sldId id="2147480153" r:id="rId8"/>
    <p:sldId id="2147480154" r:id="rId9"/>
    <p:sldId id="2147480155" r:id="rId10"/>
    <p:sldId id="2147480156" r:id="rId11"/>
    <p:sldId id="2147480157"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4726C14-DDA9-4973-AF58-0EA342814534}">
          <p14:sldIdLst>
            <p14:sldId id="2147480083"/>
            <p14:sldId id="2147480151"/>
          </p14:sldIdLst>
        </p14:section>
        <p14:section name="Backup slides" id="{AF88851E-B9BF-4335-9C3F-1C75F9AF525C}">
          <p14:sldIdLst>
            <p14:sldId id="2147480152"/>
            <p14:sldId id="2147480153"/>
            <p14:sldId id="2147480154"/>
            <p14:sldId id="2147480155"/>
            <p14:sldId id="2147480156"/>
            <p14:sldId id="2147480157"/>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Yan,Dr.,Shijia (MED BDS) BII-CN-S" initials="YB" lastIdx="2" clrIdx="0">
    <p:extLst>
      <p:ext uri="{19B8F6BF-5375-455C-9EA6-DF929625EA0E}">
        <p15:presenceInfo xmlns:p15="http://schemas.microsoft.com/office/powerpoint/2012/main" userId="S::shijia.yan@boehringer-ingelheim.com::430f0cc2-85a8-4ae7-b8a1-52d7eaf2fba3" providerId="AD"/>
      </p:ext>
    </p:extLst>
  </p:cmAuthor>
  <p:cmAuthor id="2" name="Wang,Vicky (HP Medicine) BII-CN-S" initials="XW" lastIdx="1" clrIdx="1">
    <p:extLst>
      <p:ext uri="{19B8F6BF-5375-455C-9EA6-DF929625EA0E}">
        <p15:presenceInfo xmlns:p15="http://schemas.microsoft.com/office/powerpoint/2012/main" userId="S::vicky_2.wang@boehringer-ingelheim.com::e0d03f24-feb7-4adf-9b97-3ff8a6f38e3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112" y="-1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739568-876F-411F-9F5B-1BFC65E9A35F}" type="datetimeFigureOut">
              <a:rPr lang="zh-CN" altLang="en-US" smtClean="0"/>
              <a:t>2025/5/13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942722-D80A-40C9-93DD-3B8035B34DD6}" type="slidenum">
              <a:rPr lang="zh-CN" altLang="en-US" smtClean="0"/>
              <a:t>‹#›</a:t>
            </a:fld>
            <a:endParaRPr lang="zh-CN" altLang="en-US"/>
          </a:p>
        </p:txBody>
      </p:sp>
    </p:spTree>
    <p:extLst>
      <p:ext uri="{BB962C8B-B14F-4D97-AF65-F5344CB8AC3E}">
        <p14:creationId xmlns:p14="http://schemas.microsoft.com/office/powerpoint/2010/main" val="2298782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1B207D-4A9B-4F15-A995-C392D23E6B5B}"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4249198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61B207D-4A9B-4F15-A995-C392D23E6B5B}"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26416061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341153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5.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Times New Roman" panose="02020603050405020304" pitchFamily="18" charset="0"/>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31334053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Times New Roman" panose="02020603050405020304" pitchFamily="18" charset="0"/>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38391479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174422169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Times New Roman" panose="02020603050405020304" pitchFamily="18" charset="0"/>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66160336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Times New Roman" panose="02020603050405020304" pitchFamily="18" charset="0"/>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Times New Roman" panose="02020603050405020304" pitchFamily="18" charset="0"/>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2458565263"/>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TA-CEC Presentation Template </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33108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TA-CEC Presentation Template </a:t>
            </a:r>
            <a:r>
              <a:rPr lang="en-US"/>
              <a:t>|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Times New Roman" panose="02020603050405020304" pitchFamily="18" charset="0"/>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67503147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TA-CEC Presentation Template </a:t>
            </a:r>
            <a:r>
              <a:rPr lang="en-US"/>
              <a:t> |    ONLY FOR INTERNAL USE</a:t>
            </a:r>
          </a:p>
        </p:txBody>
      </p:sp>
    </p:spTree>
    <p:extLst>
      <p:ext uri="{BB962C8B-B14F-4D97-AF65-F5344CB8AC3E}">
        <p14:creationId xmlns:p14="http://schemas.microsoft.com/office/powerpoint/2010/main" val="88181665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TA-CEC Presentation Template</a:t>
            </a:r>
            <a:r>
              <a:rPr lang="en-US"/>
              <a:t>    |    ONLY FOR INTERNAL USE</a:t>
            </a:r>
          </a:p>
        </p:txBody>
      </p:sp>
    </p:spTree>
    <p:extLst>
      <p:ext uri="{BB962C8B-B14F-4D97-AF65-F5344CB8AC3E}">
        <p14:creationId xmlns:p14="http://schemas.microsoft.com/office/powerpoint/2010/main" val="242633099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Times New Roman" panose="02020603050405020304" pitchFamily="18" charset="0"/>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TA-CEC Presentation Template </a:t>
            </a:r>
            <a:r>
              <a:rPr lang="en-US"/>
              <a:t>|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40030323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7"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TA-CEC Presentation Template</a:t>
            </a:r>
            <a:r>
              <a:rPr lang="en-US"/>
              <a:t>|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cxnSp>
        <p:nvCxnSpPr>
          <p:cNvPr id="2" name="Gerade Verbindung 10">
            <a:extLst>
              <a:ext uri="{FF2B5EF4-FFF2-40B4-BE49-F238E27FC236}">
                <a16:creationId xmlns:a16="http://schemas.microsoft.com/office/drawing/2014/main" id="{89579B38-D266-0A05-0EEE-D25534AF738D}"/>
              </a:ext>
            </a:extLst>
          </p:cNvPr>
          <p:cNvCxnSpPr>
            <a:cxnSpLocks/>
          </p:cNvCxnSpPr>
          <p:nvPr userDrawn="1"/>
        </p:nvCxnSpPr>
        <p:spPr>
          <a:xfrm>
            <a:off x="495300" y="971453"/>
            <a:ext cx="11201400" cy="0"/>
          </a:xfrm>
          <a:prstGeom prst="line">
            <a:avLst/>
          </a:prstGeom>
          <a:ln w="25400">
            <a:solidFill>
              <a:schemeClr val="bg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75980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5">
            <a:extLst>
              <a:ext uri="{FF2B5EF4-FFF2-40B4-BE49-F238E27FC236}">
                <a16:creationId xmlns:a16="http://schemas.microsoft.com/office/drawing/2014/main" id="{B552526D-6691-56E1-0563-788677EB2275}"/>
              </a:ext>
            </a:extLst>
          </p:cNvPr>
          <p:cNvSpPr>
            <a:spLocks noGrp="1"/>
          </p:cNvSpPr>
          <p:nvPr>
            <p:ph type="ftr" sz="quarter" idx="16"/>
          </p:nvPr>
        </p:nvSpPr>
        <p:spPr bwMode="gray">
          <a:xfrm>
            <a:off x="6312024" y="6246836"/>
            <a:ext cx="5040560" cy="288000"/>
          </a:xfrm>
        </p:spPr>
        <p:txBody>
          <a:bodyPr/>
          <a:lstStyle>
            <a:lvl1pPr>
              <a:defRPr>
                <a:solidFill>
                  <a:schemeClr val="bg1"/>
                </a:solidFill>
              </a:defRPr>
            </a:lvl1pPr>
          </a:lstStyle>
          <a:p>
            <a:r>
              <a:rPr lang="en-US" altLang="zh-CN"/>
              <a:t>TA-CEC Presentation Template </a:t>
            </a:r>
            <a:r>
              <a:rPr lang="en-US"/>
              <a:t>|    ONLY FOR INTERNAL USE</a:t>
            </a:r>
          </a:p>
        </p:txBody>
      </p:sp>
    </p:spTree>
    <p:extLst>
      <p:ext uri="{BB962C8B-B14F-4D97-AF65-F5344CB8AC3E}">
        <p14:creationId xmlns:p14="http://schemas.microsoft.com/office/powerpoint/2010/main" val="2194375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Times New Roman" panose="02020603050405020304" pitchFamily="18" charset="0"/>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TA-CEC Presentation Template</a:t>
            </a:r>
            <a:r>
              <a:rPr lang="en-US"/>
              <a:t>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67086990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Times New Roman" panose="02020603050405020304" pitchFamily="18" charset="0"/>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TA-CEC Presentation Template </a:t>
            </a:r>
            <a:r>
              <a:rPr lang="en-US"/>
              <a:t>|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Times New Roman" panose="02020603050405020304" pitchFamily="18" charset="0"/>
              </a:rPr>
              <a:t>This layout: title first line, classification second line</a:t>
            </a:r>
            <a:endParaRPr lang="en-US" sz="8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143071231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Times New Roman" panose="02020603050405020304" pitchFamily="18" charset="0"/>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TA-CEC Presentation Template </a:t>
            </a:r>
            <a:r>
              <a:rPr lang="en-US"/>
              <a:t>|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52720251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latin typeface="Times New Roman" panose="02020603050405020304" pitchFamily="18" charset="0"/>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TA-CEC Presentation Template </a:t>
            </a:r>
            <a:r>
              <a:rPr lang="en-US"/>
              <a:t>|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Times New Roman" panose="02020603050405020304" pitchFamily="18" charset="0"/>
              </a:rPr>
              <a:t>This layout: title first line, classification second line</a:t>
            </a:r>
            <a:endParaRPr lang="en-US" sz="8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695679580"/>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TA-CEC Presentation Template </a:t>
            </a:r>
            <a:r>
              <a:rPr lang="en-US"/>
              <a:t>|    ONLY FOR INTERNAL USE</a:t>
            </a:r>
          </a:p>
        </p:txBody>
      </p:sp>
    </p:spTree>
    <p:extLst>
      <p:ext uri="{BB962C8B-B14F-4D97-AF65-F5344CB8AC3E}">
        <p14:creationId xmlns:p14="http://schemas.microsoft.com/office/powerpoint/2010/main" val="339793726"/>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90"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1"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35357615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4502024"/>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23458234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636548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7674717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3397128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12100873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94183887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Times New Roman" panose="02020603050405020304" pitchFamily="18" charset="0"/>
              </a:defRPr>
            </a:lvl1pPr>
            <a:lvl2pPr marL="0" indent="0">
              <a:lnSpc>
                <a:spcPct val="120000"/>
              </a:lnSpc>
              <a:spcAft>
                <a:spcPts val="0"/>
              </a:spcAft>
              <a:buNone/>
              <a:defRPr sz="4000" b="1">
                <a:solidFill>
                  <a:schemeClr val="tx2"/>
                </a:solidFill>
                <a:latin typeface="Times New Roman" panose="02020603050405020304" pitchFamily="18" charset="0"/>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Times New Roman" panose="02020603050405020304" pitchFamily="18" charset="0"/>
              </a:rPr>
              <a:t>This layout requires a picture in the background</a:t>
            </a:r>
            <a:endParaRPr lang="en-US" sz="8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232996731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Times New Roman" panose="02020603050405020304" pitchFamily="18" charset="0"/>
              </a:defRPr>
            </a:lvl1pPr>
            <a:lvl2pPr marL="0" indent="0">
              <a:lnSpc>
                <a:spcPct val="120000"/>
              </a:lnSpc>
              <a:spcAft>
                <a:spcPts val="0"/>
              </a:spcAft>
              <a:buNone/>
              <a:defRPr sz="3200" b="1">
                <a:solidFill>
                  <a:schemeClr val="tx2"/>
                </a:solidFill>
                <a:latin typeface="Times New Roman" panose="02020603050405020304" pitchFamily="18" charset="0"/>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Times New Roman" panose="02020603050405020304" pitchFamily="18" charset="0"/>
              </a:rPr>
              <a:t>This layout requires two pictures in the background</a:t>
            </a:r>
            <a:endParaRPr lang="en-US" sz="8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38588366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Times New Roman" panose="02020603050405020304" pitchFamily="18" charset="0"/>
              </a:defRPr>
            </a:lvl1pPr>
            <a:lvl2pPr marL="0" indent="0">
              <a:lnSpc>
                <a:spcPct val="120000"/>
              </a:lnSpc>
              <a:spcAft>
                <a:spcPts val="0"/>
              </a:spcAft>
              <a:buNone/>
              <a:defRPr sz="3200" b="1">
                <a:solidFill>
                  <a:schemeClr val="tx2"/>
                </a:solidFill>
                <a:latin typeface="Times New Roman" panose="02020603050405020304" pitchFamily="18" charset="0"/>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Times New Roman" panose="02020603050405020304" pitchFamily="18" charset="0"/>
              </a:rPr>
              <a:t>This layout requires two pictures in the background</a:t>
            </a:r>
            <a:endParaRPr lang="en-US" sz="8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97233086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Times New Roman" panose="02020603050405020304" pitchFamily="18" charset="0"/>
              </a:defRPr>
            </a:lvl1pPr>
            <a:lvl2pPr marL="0" indent="0">
              <a:lnSpc>
                <a:spcPct val="120000"/>
              </a:lnSpc>
              <a:spcAft>
                <a:spcPts val="0"/>
              </a:spcAft>
              <a:buNone/>
              <a:defRPr sz="3200" b="1">
                <a:solidFill>
                  <a:schemeClr val="tx2"/>
                </a:solidFill>
                <a:latin typeface="Times New Roman" panose="02020603050405020304" pitchFamily="18" charset="0"/>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Times New Roman" panose="02020603050405020304" pitchFamily="18" charset="0"/>
              </a:rPr>
              <a:t>This layout requires two pictures in the background</a:t>
            </a:r>
            <a:endParaRPr lang="en-US" sz="800" b="1">
              <a:solidFill>
                <a:srgbClr val="076D7E"/>
              </a:solidFill>
              <a:latin typeface="Times New Roman" panose="02020603050405020304" pitchFamily="18" charset="0"/>
            </a:endParaRPr>
          </a:p>
        </p:txBody>
      </p:sp>
    </p:spTree>
    <p:extLst>
      <p:ext uri="{BB962C8B-B14F-4D97-AF65-F5344CB8AC3E}">
        <p14:creationId xmlns:p14="http://schemas.microsoft.com/office/powerpoint/2010/main" val="30148671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258423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2899222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Times New Roman" panose="02020603050405020304" pitchFamily="18" charset="0"/>
                </a:rPr>
                <a:t>To insert a picture:</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Open the menu “Insert”</a:t>
              </a:r>
            </a:p>
            <a:p>
              <a:pPr marL="143992" indent="-143992">
                <a:lnSpc>
                  <a:spcPct val="120000"/>
                </a:lnSpc>
                <a:spcAft>
                  <a:spcPts val="600"/>
                </a:spcAft>
                <a:buFont typeface="+mj-lt"/>
                <a:buAutoNum type="arabicPeriod"/>
              </a:pPr>
              <a:r>
                <a:rPr lang="en-US" sz="900">
                  <a:solidFill>
                    <a:schemeClr val="tx1"/>
                  </a:solidFill>
                  <a:effectLst/>
                  <a:latin typeface="Times New Roman" panose="02020603050405020304" pitchFamily="18" charset="0"/>
                </a:rPr>
                <a:t>Choose “Pictures” and then the corresponding source where the image is located</a:t>
              </a:r>
              <a:endParaRPr lang="en-US" sz="900">
                <a:solidFill>
                  <a:schemeClr val="tx1"/>
                </a:solidFill>
                <a:latin typeface="Times New Roman" panose="02020603050405020304" pitchFamily="18" charset="0"/>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Times New Roman" panose="02020603050405020304" pitchFamily="18" charset="0"/>
                </a:rPr>
                <a:t>Now the image has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been loaded into the </a:t>
              </a:r>
              <a:br>
                <a:rPr lang="en-US" sz="900">
                  <a:solidFill>
                    <a:schemeClr val="tx1"/>
                  </a:solidFill>
                  <a:effectLst/>
                  <a:latin typeface="Times New Roman" panose="02020603050405020304" pitchFamily="18" charset="0"/>
                </a:rPr>
              </a:br>
              <a:r>
                <a:rPr lang="en-US" sz="900">
                  <a:solidFill>
                    <a:schemeClr val="tx1"/>
                  </a:solidFill>
                  <a:effectLst/>
                  <a:latin typeface="Times New Roman" panose="02020603050405020304" pitchFamily="18" charset="0"/>
                </a:rPr>
                <a:t>placeholder.</a:t>
              </a:r>
              <a:endParaRPr lang="en-US" sz="900">
                <a:solidFill>
                  <a:schemeClr val="tx1"/>
                </a:solidFill>
                <a:latin typeface="Times New Roman" panose="02020603050405020304" pitchFamily="18" charset="0"/>
              </a:endParaRPr>
            </a:p>
          </p:txBody>
        </p:sp>
      </p:grpSp>
    </p:spTree>
    <p:extLst>
      <p:ext uri="{BB962C8B-B14F-4D97-AF65-F5344CB8AC3E}">
        <p14:creationId xmlns:p14="http://schemas.microsoft.com/office/powerpoint/2010/main" val="316917333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7"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Times New Roman" panose="02020603050405020304" pitchFamily="18" charset="0"/>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7"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latin typeface="Times New Roman" panose="02020603050405020304" pitchFamily="18" charset="0"/>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3"/>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latin typeface="Times New Roman" panose="02020603050405020304" pitchFamily="18" charset="0"/>
              </a:rPr>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5"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latin typeface="Times New Roman" panose="02020603050405020304" pitchFamily="18" charset="0"/>
              </a:rPr>
              <a:t>© </a:t>
            </a:r>
            <a:fld id="{2F99CDBD-C73A-474F-91D2-EC8081FF32A1}" type="datetimeyyyy">
              <a:rPr lang="en-US" sz="900" smtClean="0">
                <a:latin typeface="Times New Roman" panose="02020603050405020304" pitchFamily="18" charset="0"/>
              </a:rPr>
              <a:pPr marL="0" indent="0" algn="l">
                <a:buFont typeface="Arial" panose="020B0604020202020204" pitchFamily="34" charset="0"/>
                <a:buNone/>
              </a:pPr>
              <a:t>2025</a:t>
            </a:fld>
            <a:r>
              <a:rPr lang="en-US" sz="900">
                <a:latin typeface="Times New Roman" panose="02020603050405020304" pitchFamily="18" charset="0"/>
              </a:rPr>
              <a:t> Boehringer Ingelheim International GmbH. All rights reserved.</a:t>
            </a:r>
          </a:p>
        </p:txBody>
      </p:sp>
    </p:spTree>
    <p:extLst>
      <p:ext uri="{BB962C8B-B14F-4D97-AF65-F5344CB8AC3E}">
        <p14:creationId xmlns:p14="http://schemas.microsoft.com/office/powerpoint/2010/main" val="1043503447"/>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9"/>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1"/>
            <a:ext cx="2743200" cy="365125"/>
          </a:xfrm>
          <a:prstGeom prst="rect">
            <a:avLst/>
          </a:prstGeom>
        </p:spPr>
        <p:txBody>
          <a:bodyPr/>
          <a:lstStyle/>
          <a:p>
            <a:fld id="{28717FB2-4331-4D7F-9B7E-1776DD3D3A56}" type="datetimeFigureOut">
              <a:rPr lang="zh-CN" altLang="en-US" smtClean="0"/>
              <a:t>2025/5/13</a:t>
            </a:fld>
            <a:endParaRPr lang="zh-CN" altLang="en-US"/>
          </a:p>
        </p:txBody>
      </p:sp>
      <p:sp>
        <p:nvSpPr>
          <p:cNvPr id="5" name="页脚占位符 4"/>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1"/>
            <a:ext cx="2743200" cy="365125"/>
          </a:xfrm>
          <a:prstGeom prst="rect">
            <a:avLst/>
          </a:prstGeom>
        </p:spPr>
        <p:txBody>
          <a:bodyPr/>
          <a:lstStyle/>
          <a:p>
            <a:fld id="{93EEF339-747D-4CF6-9EEB-008214CD8292}" type="slidenum">
              <a:rPr lang="zh-CN" altLang="en-US" smtClean="0"/>
              <a:t>‹#›</a:t>
            </a:fld>
            <a:endParaRPr lang="zh-CN" altLang="en-US"/>
          </a:p>
        </p:txBody>
      </p:sp>
    </p:spTree>
    <p:extLst>
      <p:ext uri="{BB962C8B-B14F-4D97-AF65-F5344CB8AC3E}">
        <p14:creationId xmlns:p14="http://schemas.microsoft.com/office/powerpoint/2010/main" val="22194856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CN" altLang="en-US"/>
          </a:p>
        </p:txBody>
      </p:sp>
      <p:sp>
        <p:nvSpPr>
          <p:cNvPr id="4" name="文本占位符 3"/>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a:xfrm>
            <a:off x="838200" y="6356351"/>
            <a:ext cx="2743200" cy="365125"/>
          </a:xfrm>
          <a:prstGeom prst="rect">
            <a:avLst/>
          </a:prstGeom>
        </p:spPr>
        <p:txBody>
          <a:bodyPr/>
          <a:lstStyle/>
          <a:p>
            <a:fld id="{28717FB2-4331-4D7F-9B7E-1776DD3D3A56}" type="datetimeFigureOut">
              <a:rPr lang="zh-CN" altLang="en-US" smtClean="0"/>
              <a:t>2025/5/13</a:t>
            </a:fld>
            <a:endParaRPr lang="zh-CN" altLang="en-US"/>
          </a:p>
        </p:txBody>
      </p:sp>
      <p:sp>
        <p:nvSpPr>
          <p:cNvPr id="6" name="页脚占位符 5"/>
          <p:cNvSpPr>
            <a:spLocks noGrp="1"/>
          </p:cNvSpPr>
          <p:nvPr>
            <p:ph type="ftr" sz="quarter" idx="11"/>
          </p:nvPr>
        </p:nvSpPr>
        <p:spPr>
          <a:xfrm>
            <a:off x="4038600" y="6356351"/>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1"/>
            <a:ext cx="2743200" cy="365125"/>
          </a:xfrm>
          <a:prstGeom prst="rect">
            <a:avLst/>
          </a:prstGeom>
        </p:spPr>
        <p:txBody>
          <a:bodyPr/>
          <a:lstStyle/>
          <a:p>
            <a:fld id="{93EEF339-747D-4CF6-9EEB-008214CD8292}" type="slidenum">
              <a:rPr lang="zh-CN" altLang="en-US" smtClean="0"/>
              <a:t>‹#›</a:t>
            </a:fld>
            <a:endParaRPr lang="zh-CN" altLang="en-US"/>
          </a:p>
        </p:txBody>
      </p:sp>
    </p:spTree>
    <p:extLst>
      <p:ext uri="{BB962C8B-B14F-4D97-AF65-F5344CB8AC3E}">
        <p14:creationId xmlns:p14="http://schemas.microsoft.com/office/powerpoint/2010/main" val="34453168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lvl1pPr>
              <a:defRPr>
                <a:latin typeface="Times New Roman" panose="02020603050405020304" pitchFamily="18" charset="0"/>
              </a:defRPr>
            </a:lvl1pPr>
          </a:lstStyle>
          <a:p>
            <a:fld id="{0AD1C50B-E8A2-4BF1-8E49-B64B7009FA23}" type="datetime1">
              <a:rPr lang="en-GB" smtClean="0"/>
              <a:pPr/>
              <a:t>13/05/2025</a:t>
            </a:fld>
            <a:endParaRPr lang="en-GB"/>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697437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9" name="Gerade Verbindung 10">
            <a:extLst>
              <a:ext uri="{FF2B5EF4-FFF2-40B4-BE49-F238E27FC236}">
                <a16:creationId xmlns:a16="http://schemas.microsoft.com/office/drawing/2014/main" id="{FCAC3853-FC79-454C-911E-BD597A83AFB5}"/>
              </a:ext>
            </a:extLst>
          </p:cNvPr>
          <p:cNvCxnSpPr>
            <a:cxnSpLocks/>
          </p:cNvCxnSpPr>
          <p:nvPr userDrawn="1"/>
        </p:nvCxnSpPr>
        <p:spPr>
          <a:xfrm>
            <a:off x="495300" y="971453"/>
            <a:ext cx="11201400" cy="0"/>
          </a:xfrm>
          <a:prstGeom prst="line">
            <a:avLst/>
          </a:prstGeom>
          <a:ln w="25400">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5" name="标题 4">
            <a:extLst>
              <a:ext uri="{FF2B5EF4-FFF2-40B4-BE49-F238E27FC236}">
                <a16:creationId xmlns:a16="http://schemas.microsoft.com/office/drawing/2014/main" id="{94B9BCB1-A0D7-6C38-C39E-E7ECCB278517}"/>
              </a:ext>
            </a:extLst>
          </p:cNvPr>
          <p:cNvSpPr>
            <a:spLocks noGrp="1"/>
          </p:cNvSpPr>
          <p:nvPr>
            <p:ph type="title"/>
          </p:nvPr>
        </p:nvSpPr>
        <p:spPr>
          <a:xfrm>
            <a:off x="495300" y="298511"/>
            <a:ext cx="11201400" cy="438055"/>
          </a:xfrm>
          <a:prstGeom prst="rect">
            <a:avLst/>
          </a:prstGeom>
        </p:spPr>
        <p:txBody>
          <a:bodyPr anchor="b"/>
          <a:lstStyle>
            <a:lvl1pPr>
              <a:defRPr sz="2800"/>
            </a:lvl1pPr>
          </a:lstStyle>
          <a:p>
            <a:r>
              <a:rPr lang="zh-CN" altLang="en-US"/>
              <a:t>单击此处编辑母版标题样式</a:t>
            </a:r>
          </a:p>
        </p:txBody>
      </p:sp>
    </p:spTree>
    <p:extLst>
      <p:ext uri="{BB962C8B-B14F-4D97-AF65-F5344CB8AC3E}">
        <p14:creationId xmlns:p14="http://schemas.microsoft.com/office/powerpoint/2010/main" val="748825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709">
          <p15:clr>
            <a:srgbClr val="FBAE40"/>
          </p15:clr>
        </p15:guide>
        <p15:guide id="2" pos="257">
          <p15:clr>
            <a:srgbClr val="FBAE40"/>
          </p15:clr>
        </p15:guide>
        <p15:guide id="3" orient="horz" pos="3997">
          <p15:clr>
            <a:srgbClr val="FBAE40"/>
          </p15:clr>
        </p15:guide>
        <p15:guide id="4" pos="7423">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7"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5"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latin typeface="Times New Roman" panose="02020603050405020304" pitchFamily="18" charset="0"/>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TA-CEC Presentation Template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latin typeface="Times New Roman" panose="02020603050405020304" pitchFamily="18" charset="0"/>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2303279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5" r:id="rId34"/>
    <p:sldLayoutId id="2147483696" r:id="rId35"/>
    <p:sldLayoutId id="2147483697" r:id="rId36"/>
    <p:sldLayoutId id="2147483698" r:id="rId37"/>
  </p:sldLayoutIdLst>
  <p:hf hdr="0" dt="0"/>
  <p:txStyles>
    <p:titleStyle>
      <a:lvl1pPr algn="l" defTabSz="914354" rtl="0" eaLnBrk="1" latinLnBrk="0" hangingPunct="1">
        <a:lnSpc>
          <a:spcPct val="100000"/>
        </a:lnSpc>
        <a:spcBef>
          <a:spcPct val="0"/>
        </a:spcBef>
        <a:buNone/>
        <a:defRPr sz="2500" b="1" kern="1200">
          <a:solidFill>
            <a:schemeClr val="bg2"/>
          </a:solidFill>
          <a:latin typeface="Times New Roman" panose="02020603050405020304" pitchFamily="18" charset="0"/>
          <a:ea typeface="+mj-ea"/>
          <a:cs typeface="+mj-cs"/>
        </a:defRPr>
      </a:lvl1pPr>
    </p:titleStyle>
    <p:bodyStyle>
      <a:lvl1pPr marL="215989" indent="-215989" algn="l" defTabSz="914354"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Times New Roman" panose="02020603050405020304" pitchFamily="18" charset="0"/>
          <a:ea typeface="+mn-ea"/>
          <a:cs typeface="+mn-cs"/>
        </a:defRPr>
      </a:lvl1pPr>
      <a:lvl2pPr marL="431979"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Times New Roman" panose="02020603050405020304" pitchFamily="18" charset="0"/>
          <a:ea typeface="+mn-ea"/>
          <a:cs typeface="+mn-cs"/>
        </a:defRPr>
      </a:lvl2pPr>
      <a:lvl3pPr marL="575972"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Times New Roman" panose="02020603050405020304" pitchFamily="18" charset="0"/>
          <a:ea typeface="+mn-ea"/>
          <a:cs typeface="+mn-cs"/>
        </a:defRPr>
      </a:lvl3pPr>
      <a:lvl4pPr marL="791960"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Times New Roman" panose="02020603050405020304" pitchFamily="18" charset="0"/>
          <a:ea typeface="+mn-ea"/>
          <a:cs typeface="+mn-cs"/>
        </a:defRPr>
      </a:lvl4pPr>
      <a:lvl5pPr marL="14399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5pPr>
      <a:lvl6pPr marL="287986" indent="-142867"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6pPr>
      <a:lvl7pPr marL="431979"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7pPr>
      <a:lvl8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8pPr>
      <a:lvl9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Times New Roman" panose="02020603050405020304" pitchFamily="18" charset="0"/>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9E9D82-93BA-694D-3B81-E7B298A9335F}"/>
              </a:ext>
            </a:extLst>
          </p:cNvPr>
          <p:cNvSpPr>
            <a:spLocks noGrp="1"/>
          </p:cNvSpPr>
          <p:nvPr>
            <p:ph type="ctrTitle"/>
          </p:nvPr>
        </p:nvSpPr>
        <p:spPr>
          <a:xfrm>
            <a:off x="479427" y="1484880"/>
            <a:ext cx="8280755" cy="1584000"/>
          </a:xfrm>
        </p:spPr>
        <p:txBody>
          <a:bodyPr/>
          <a:lstStyle/>
          <a:p>
            <a:r>
              <a:rPr lang="en-US" altLang="zh-CN" dirty="0"/>
              <a:t>Follow-up for MAP comment</a:t>
            </a:r>
            <a:endParaRPr lang="zh-CN" altLang="en-US" dirty="0"/>
          </a:p>
        </p:txBody>
      </p:sp>
      <p:sp>
        <p:nvSpPr>
          <p:cNvPr id="3" name="副标题 2">
            <a:extLst>
              <a:ext uri="{FF2B5EF4-FFF2-40B4-BE49-F238E27FC236}">
                <a16:creationId xmlns:a16="http://schemas.microsoft.com/office/drawing/2014/main" id="{C4868BF7-525B-3863-04D7-AF3EC8DCCB7D}"/>
              </a:ext>
            </a:extLst>
          </p:cNvPr>
          <p:cNvSpPr>
            <a:spLocks noGrp="1"/>
          </p:cNvSpPr>
          <p:nvPr>
            <p:ph type="subTitle" idx="1"/>
          </p:nvPr>
        </p:nvSpPr>
        <p:spPr>
          <a:xfrm>
            <a:off x="479427" y="3789121"/>
            <a:ext cx="8281375" cy="936000"/>
          </a:xfrm>
        </p:spPr>
        <p:txBody>
          <a:bodyPr/>
          <a:lstStyle/>
          <a:p>
            <a:endParaRPr lang="zh-CN" altLang="en-US"/>
          </a:p>
        </p:txBody>
      </p:sp>
      <p:sp>
        <p:nvSpPr>
          <p:cNvPr id="4" name="页脚占位符 3">
            <a:extLst>
              <a:ext uri="{FF2B5EF4-FFF2-40B4-BE49-F238E27FC236}">
                <a16:creationId xmlns:a16="http://schemas.microsoft.com/office/drawing/2014/main" id="{16541A8F-756F-F5C4-4EB1-C42CC0979B19}"/>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1114004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736AD8DA-9882-A862-0C01-9BF3A17CF74B}"/>
              </a:ext>
            </a:extLst>
          </p:cNvPr>
          <p:cNvSpPr>
            <a:spLocks noGrp="1"/>
          </p:cNvSpPr>
          <p:nvPr>
            <p:ph type="sldNum" sz="quarter" idx="12"/>
          </p:nvPr>
        </p:nvSpPr>
        <p:spPr/>
        <p:txBody>
          <a:bodyPr/>
          <a:lstStyle/>
          <a:p>
            <a:fld id="{143B55C4-4F5A-416B-997D-6CE47EB0A945}" type="slidenum">
              <a:rPr lang="en-GB" noProof="0" smtClean="0"/>
              <a:t>2</a:t>
            </a:fld>
            <a:endParaRPr lang="en-GB" noProof="0"/>
          </a:p>
        </p:txBody>
      </p:sp>
      <p:graphicFrame>
        <p:nvGraphicFramePr>
          <p:cNvPr id="5" name="表格 4">
            <a:extLst>
              <a:ext uri="{FF2B5EF4-FFF2-40B4-BE49-F238E27FC236}">
                <a16:creationId xmlns:a16="http://schemas.microsoft.com/office/drawing/2014/main" id="{B11669D4-54F5-6925-B215-074AC5FD9264}"/>
              </a:ext>
            </a:extLst>
          </p:cNvPr>
          <p:cNvGraphicFramePr>
            <a:graphicFrameLocks noGrp="1"/>
          </p:cNvGraphicFramePr>
          <p:nvPr>
            <p:extLst>
              <p:ext uri="{D42A27DB-BD31-4B8C-83A1-F6EECF244321}">
                <p14:modId xmlns:p14="http://schemas.microsoft.com/office/powerpoint/2010/main" val="2754355449"/>
              </p:ext>
            </p:extLst>
          </p:nvPr>
        </p:nvGraphicFramePr>
        <p:xfrm>
          <a:off x="402053" y="420350"/>
          <a:ext cx="11536518" cy="5647143"/>
        </p:xfrm>
        <a:graphic>
          <a:graphicData uri="http://schemas.openxmlformats.org/drawingml/2006/table">
            <a:tbl>
              <a:tblPr bandRow="1">
                <a:tableStyleId>{5C22544A-7EE6-4342-B048-85BDC9FD1C3A}</a:tableStyleId>
              </a:tblPr>
              <a:tblGrid>
                <a:gridCol w="1713227">
                  <a:extLst>
                    <a:ext uri="{9D8B030D-6E8A-4147-A177-3AD203B41FA5}">
                      <a16:colId xmlns:a16="http://schemas.microsoft.com/office/drawing/2014/main" val="2911210743"/>
                    </a:ext>
                  </a:extLst>
                </a:gridCol>
                <a:gridCol w="4963016">
                  <a:extLst>
                    <a:ext uri="{9D8B030D-6E8A-4147-A177-3AD203B41FA5}">
                      <a16:colId xmlns:a16="http://schemas.microsoft.com/office/drawing/2014/main" val="2211448938"/>
                    </a:ext>
                  </a:extLst>
                </a:gridCol>
                <a:gridCol w="4860275">
                  <a:extLst>
                    <a:ext uri="{9D8B030D-6E8A-4147-A177-3AD203B41FA5}">
                      <a16:colId xmlns:a16="http://schemas.microsoft.com/office/drawing/2014/main" val="3893564915"/>
                    </a:ext>
                  </a:extLst>
                </a:gridCol>
              </a:tblGrid>
              <a:tr h="523427">
                <a:tc>
                  <a:txBody>
                    <a:bodyPr/>
                    <a:lstStyle/>
                    <a:p>
                      <a:pPr algn="ctr">
                        <a:buNone/>
                      </a:pPr>
                      <a:r>
                        <a:rPr lang="en-US" sz="1800" b="1" dirty="0">
                          <a:solidFill>
                            <a:srgbClr val="000000"/>
                          </a:solidFill>
                          <a:effectLst/>
                          <a:latin typeface="Calibri"/>
                        </a:rPr>
                        <a:t>Topic</a:t>
                      </a:r>
                      <a:endParaRPr lang="en-US" sz="4000" dirty="0">
                        <a:effectLst/>
                        <a:latin typeface="Calibri"/>
                      </a:endParaRPr>
                    </a:p>
                  </a:txBody>
                  <a:tcPr marL="19050" marR="19050" marT="0" marB="0" anchor="ctr">
                    <a:lnL>
                      <a:noFill/>
                    </a:lnL>
                    <a:lnR>
                      <a:noFill/>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algn="ctr">
                        <a:buNone/>
                      </a:pPr>
                      <a:r>
                        <a:rPr lang="en-US" sz="1800" b="1" dirty="0">
                          <a:solidFill>
                            <a:srgbClr val="000000"/>
                          </a:solidFill>
                          <a:effectLst/>
                          <a:latin typeface="Calibri"/>
                        </a:rPr>
                        <a:t>Follow up actions/MAP suggestion</a:t>
                      </a:r>
                      <a:endParaRPr lang="en-US" sz="4000" dirty="0">
                        <a:effectLst/>
                        <a:latin typeface="Calibri"/>
                      </a:endParaRPr>
                    </a:p>
                  </a:txBody>
                  <a:tcPr marL="19050" marR="19050" marT="0" marB="0" anchor="ctr">
                    <a:lnL>
                      <a:noFill/>
                    </a:lnL>
                    <a:lnR>
                      <a:noFill/>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tc>
                  <a:txBody>
                    <a:bodyPr/>
                    <a:lstStyle/>
                    <a:p>
                      <a:pPr algn="ctr">
                        <a:buNone/>
                      </a:pPr>
                      <a:r>
                        <a:rPr lang="en-US" sz="1800" b="1" kern="1200" dirty="0">
                          <a:solidFill>
                            <a:srgbClr val="000000"/>
                          </a:solidFill>
                          <a:effectLst/>
                          <a:latin typeface="Calibri"/>
                          <a:ea typeface="+mn-ea"/>
                          <a:cs typeface="+mn-cs"/>
                        </a:rPr>
                        <a:t>Feedback </a:t>
                      </a:r>
                    </a:p>
                  </a:txBody>
                  <a:tcPr marL="19050" marR="19050" marT="0" marB="0" anchor="ctr">
                    <a:lnL>
                      <a:noFill/>
                    </a:lnL>
                    <a:lnR>
                      <a:noFill/>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4BC96"/>
                    </a:solidFill>
                  </a:tcPr>
                </a:tc>
                <a:extLst>
                  <a:ext uri="{0D108BD9-81ED-4DB2-BD59-A6C34878D82A}">
                    <a16:rowId xmlns:a16="http://schemas.microsoft.com/office/drawing/2014/main" val="699375381"/>
                  </a:ext>
                </a:extLst>
              </a:tr>
              <a:tr h="2015180">
                <a:tc>
                  <a:txBody>
                    <a:bodyPr/>
                    <a:lstStyle/>
                    <a:p>
                      <a:pPr algn="l">
                        <a:buNone/>
                      </a:pPr>
                      <a:r>
                        <a:rPr lang="en-US" sz="1000" b="1" dirty="0">
                          <a:solidFill>
                            <a:srgbClr val="000000"/>
                          </a:solidFill>
                          <a:effectLst/>
                          <a:latin typeface="Calibri"/>
                        </a:rPr>
                        <a:t>Tenecteplase before interhospital transfer for thrombectomy in patients with acute anterior circulation large vessel occlusion at 4.5 to 24 hours- TREASURE</a:t>
                      </a:r>
                      <a:endParaRPr lang="en-US" dirty="0">
                        <a:effectLst/>
                        <a:latin typeface="Calibri"/>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dirty="0">
                          <a:solidFill>
                            <a:srgbClr val="000000"/>
                          </a:solidFill>
                          <a:effectLst/>
                          <a:latin typeface="Calibri"/>
                          <a:cs typeface="Cordia New"/>
                        </a:rPr>
                        <a:t>MAP agrees with the study proposal, with the following suggestions.</a:t>
                      </a:r>
                      <a:endParaRPr lang="en-US" sz="1000" dirty="0">
                        <a:effectLst/>
                        <a:latin typeface="Calibri"/>
                        <a:cs typeface="Cordia New"/>
                      </a:endParaRPr>
                    </a:p>
                    <a:p>
                      <a:pPr marL="342900" lvl="0" indent="-342900" algn="l">
                        <a:buNone/>
                      </a:pPr>
                      <a:r>
                        <a:rPr lang="en-US" sz="1000" dirty="0">
                          <a:solidFill>
                            <a:srgbClr val="000000"/>
                          </a:solidFill>
                          <a:effectLst/>
                          <a:latin typeface="Calibri"/>
                          <a:cs typeface="Cordia New"/>
                        </a:rPr>
                        <a:t>Study design</a:t>
                      </a:r>
                      <a:endParaRPr lang="en-US" sz="1000" dirty="0">
                        <a:solidFill>
                          <a:schemeClr val="dk1"/>
                        </a:solidFill>
                        <a:effectLst/>
                        <a:latin typeface="Calibri"/>
                        <a:cs typeface="Cordia New"/>
                      </a:endParaRPr>
                    </a:p>
                    <a:p>
                      <a:pPr marL="0" lvl="0" indent="0" algn="l">
                        <a:buFont typeface="Wingdings" panose="05000000000000000000" pitchFamily="2" charset="2"/>
                        <a:buNone/>
                      </a:pPr>
                      <a:r>
                        <a:rPr lang="en-US" sz="1000" dirty="0">
                          <a:solidFill>
                            <a:srgbClr val="000000"/>
                          </a:solidFill>
                          <a:effectLst/>
                          <a:latin typeface="Calibri"/>
                          <a:cs typeface="Cordia New"/>
                        </a:rPr>
                        <a:t>1.Include distribution of transferring time in the results analysis.</a:t>
                      </a:r>
                    </a:p>
                    <a:p>
                      <a:pPr marL="0" lvl="0" indent="0" algn="l">
                        <a:buFont typeface="Wingdings" panose="05000000000000000000" pitchFamily="2" charset="2"/>
                        <a:buNone/>
                      </a:pPr>
                      <a:r>
                        <a:rPr lang="en-US" sz="1000" dirty="0">
                          <a:solidFill>
                            <a:srgbClr val="000000"/>
                          </a:solidFill>
                          <a:effectLst/>
                          <a:latin typeface="Calibri"/>
                          <a:cs typeface="Cordia New"/>
                        </a:rPr>
                        <a:t>2.Work with statisticians to assess the study power reduction and the scenarios of interim analysis</a:t>
                      </a:r>
                    </a:p>
                    <a:p>
                      <a:pPr marL="0" lvl="0" indent="0" algn="l">
                        <a:buFont typeface="Wingdings" panose="05000000000000000000" pitchFamily="2" charset="2"/>
                        <a:buNone/>
                      </a:pPr>
                      <a:r>
                        <a:rPr lang="en-US" sz="1000" dirty="0">
                          <a:solidFill>
                            <a:srgbClr val="000000"/>
                          </a:solidFill>
                          <a:effectLst/>
                          <a:latin typeface="Calibri"/>
                          <a:cs typeface="Cordia New"/>
                        </a:rPr>
                        <a:t>3.Re-evaluate the drop-out rate, leveraging ORIGINAL study results</a:t>
                      </a:r>
                      <a:endParaRPr lang="en-US" sz="1000" dirty="0">
                        <a:effectLst/>
                        <a:latin typeface="Calibri"/>
                        <a:cs typeface="Cordia New"/>
                      </a:endParaRPr>
                    </a:p>
                    <a:p>
                      <a:pPr marL="0" lvl="0" indent="0" algn="l">
                        <a:buFont typeface="Wingdings" panose="05000000000000000000" pitchFamily="2" charset="2"/>
                        <a:buNone/>
                      </a:pPr>
                      <a:r>
                        <a:rPr lang="en-US" sz="1000" dirty="0">
                          <a:solidFill>
                            <a:srgbClr val="000000"/>
                          </a:solidFill>
                          <a:effectLst/>
                          <a:latin typeface="Calibri"/>
                          <a:cs typeface="Cordia New"/>
                        </a:rPr>
                        <a:t>4.Confirm the feasibility of current total budget proposal with PI</a:t>
                      </a:r>
                    </a:p>
                    <a:p>
                      <a:pPr marL="0" lvl="0" indent="0" algn="l">
                        <a:buFont typeface="Wingdings" panose="05000000000000000000" pitchFamily="2" charset="2"/>
                        <a:buNone/>
                      </a:pPr>
                      <a:r>
                        <a:rPr lang="en-US" sz="1000" dirty="0">
                          <a:solidFill>
                            <a:srgbClr val="000000"/>
                          </a:solidFill>
                          <a:effectLst/>
                          <a:latin typeface="Calibri"/>
                          <a:cs typeface="Cordia New"/>
                        </a:rPr>
                        <a:t>5.Confirm with RA regarding the current regulation on leveraging IIS study results for registration.</a:t>
                      </a:r>
                      <a:endParaRPr lang="en-US" sz="1000" dirty="0">
                        <a:effectLst/>
                        <a:latin typeface="Calibri"/>
                        <a:cs typeface="Cordia New"/>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kern="1200" dirty="0">
                          <a:solidFill>
                            <a:srgbClr val="000000"/>
                          </a:solidFill>
                          <a:effectLst/>
                          <a:latin typeface="Calibri"/>
                          <a:ea typeface="+mn-ea"/>
                          <a:cs typeface="Cordia New"/>
                        </a:rPr>
                        <a:t>(1) In the existing survey, distribution of transferring time could not be analyzed due to lack of patient level data. (2) in this TREASURE study, it has been included. </a:t>
                      </a:r>
                    </a:p>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dirty="0">
                          <a:solidFill>
                            <a:srgbClr val="000000"/>
                          </a:solidFill>
                          <a:effectLst/>
                          <a:latin typeface="Calibri"/>
                          <a:cs typeface="Cordia New"/>
                        </a:rPr>
                        <a:t>Study power has been updated from 0.9 to </a:t>
                      </a:r>
                      <a:r>
                        <a:rPr lang="en-US" altLang="zh-CN" sz="1000" dirty="0">
                          <a:solidFill>
                            <a:schemeClr val="tx1"/>
                          </a:solidFill>
                          <a:effectLst/>
                          <a:latin typeface="Calibri"/>
                          <a:cs typeface="Cordia New"/>
                        </a:rPr>
                        <a:t>0.85. Interim analysis </a:t>
                      </a:r>
                      <a:r>
                        <a:rPr lang="en-US" altLang="zh-CN" sz="1000" dirty="0">
                          <a:solidFill>
                            <a:srgbClr val="000000"/>
                          </a:solidFill>
                          <a:effectLst/>
                          <a:latin typeface="Calibri"/>
                          <a:cs typeface="Cordia New"/>
                        </a:rPr>
                        <a:t>is not recommended from neither PI or BDS.</a:t>
                      </a:r>
                      <a:endParaRPr lang="en-US" altLang="zh-CN" sz="1000" dirty="0">
                        <a:solidFill>
                          <a:schemeClr val="dk1"/>
                        </a:solidFill>
                        <a:effectLst/>
                        <a:latin typeface="Calibri"/>
                        <a:cs typeface="Cordia New"/>
                      </a:endParaRPr>
                    </a:p>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kern="1200" dirty="0">
                          <a:solidFill>
                            <a:srgbClr val="000000"/>
                          </a:solidFill>
                          <a:effectLst/>
                          <a:latin typeface="Calibri"/>
                          <a:ea typeface="+mn-ea"/>
                          <a:cs typeface="Cordia New"/>
                        </a:rPr>
                        <a:t>Drop out rate has been updated from 10% to 5%. (early discontinuation rate of 4.4% in the ORIGINAL).</a:t>
                      </a:r>
                    </a:p>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dirty="0">
                          <a:solidFill>
                            <a:srgbClr val="000000"/>
                          </a:solidFill>
                          <a:effectLst/>
                          <a:latin typeface="Calibri"/>
                          <a:cs typeface="Cordia New"/>
                        </a:rPr>
                        <a:t>Sample size has been reduced from 706 to 572. The study team has confirmed at least a 1:1 matching of funds from the hospital, and the current budget is feasible.</a:t>
                      </a:r>
                    </a:p>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kern="1200" dirty="0">
                          <a:solidFill>
                            <a:srgbClr val="000000"/>
                          </a:solidFill>
                          <a:effectLst/>
                          <a:latin typeface="Calibri"/>
                          <a:ea typeface="+mn-ea"/>
                          <a:cs typeface="Cordia New"/>
                        </a:rPr>
                        <a:t>Confirmed with RA, these IIS cannot directly support the registration.</a:t>
                      </a: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83244368"/>
                  </a:ext>
                </a:extLst>
              </a:tr>
              <a:tr h="1561672">
                <a:tc>
                  <a:txBody>
                    <a:bodyPr/>
                    <a:lstStyle/>
                    <a:p>
                      <a:pPr algn="l">
                        <a:buNone/>
                      </a:pPr>
                      <a:r>
                        <a:rPr lang="en-US" sz="1000" b="1" dirty="0">
                          <a:solidFill>
                            <a:srgbClr val="000000"/>
                          </a:solidFill>
                          <a:effectLst/>
                          <a:latin typeface="Calibri"/>
                        </a:rPr>
                        <a:t>Intra-arterial </a:t>
                      </a:r>
                      <a:r>
                        <a:rPr lang="en-US" sz="1000" b="1" dirty="0" err="1">
                          <a:solidFill>
                            <a:srgbClr val="000000"/>
                          </a:solidFill>
                          <a:effectLst/>
                          <a:latin typeface="Calibri"/>
                        </a:rPr>
                        <a:t>tenecteplase</a:t>
                      </a:r>
                      <a:r>
                        <a:rPr lang="en-US" sz="1000" b="1" dirty="0">
                          <a:solidFill>
                            <a:srgbClr val="000000"/>
                          </a:solidFill>
                          <a:effectLst/>
                          <a:latin typeface="Calibri"/>
                        </a:rPr>
                        <a:t> for acute primary medium vessel occlusion stroke (ANGEL-</a:t>
                      </a:r>
                      <a:r>
                        <a:rPr lang="en-US" sz="1000" b="1" dirty="0" err="1">
                          <a:solidFill>
                            <a:srgbClr val="000000"/>
                          </a:solidFill>
                          <a:effectLst/>
                          <a:latin typeface="Calibri"/>
                        </a:rPr>
                        <a:t>MeVO</a:t>
                      </a:r>
                      <a:r>
                        <a:rPr lang="en-US" sz="1000" b="1" dirty="0">
                          <a:solidFill>
                            <a:srgbClr val="000000"/>
                          </a:solidFill>
                          <a:effectLst/>
                          <a:latin typeface="Calibri"/>
                        </a:rPr>
                        <a:t>-TNK)</a:t>
                      </a:r>
                      <a:endParaRPr lang="en-US" dirty="0">
                        <a:effectLst/>
                        <a:latin typeface="Calibri"/>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dirty="0">
                          <a:solidFill>
                            <a:srgbClr val="000000"/>
                          </a:solidFill>
                          <a:effectLst/>
                          <a:latin typeface="Calibri"/>
                          <a:cs typeface="Cordia New"/>
                        </a:rPr>
                        <a:t>MAP agrees with the study proposal, with the following suggestions.</a:t>
                      </a:r>
                      <a:endParaRPr lang="en-US" sz="1000" dirty="0">
                        <a:effectLst/>
                        <a:latin typeface="Calibri"/>
                        <a:cs typeface="Cordia New"/>
                      </a:endParaRPr>
                    </a:p>
                    <a:p>
                      <a:pPr marL="342900" lvl="0" indent="-342900" algn="l">
                        <a:buNone/>
                      </a:pPr>
                      <a:r>
                        <a:rPr lang="en-US" sz="1000" dirty="0">
                          <a:solidFill>
                            <a:srgbClr val="000000"/>
                          </a:solidFill>
                          <a:effectLst/>
                          <a:latin typeface="Calibri"/>
                          <a:cs typeface="Cordia New"/>
                        </a:rPr>
                        <a:t>Study design</a:t>
                      </a:r>
                      <a:endParaRPr lang="en-US" sz="1000" dirty="0">
                        <a:effectLst/>
                        <a:latin typeface="Calibri"/>
                        <a:cs typeface="Cordia New"/>
                      </a:endParaRPr>
                    </a:p>
                    <a:p>
                      <a:pPr marL="0" lvl="0" indent="0" algn="l">
                        <a:buFont typeface="Wingdings" panose="05000000000000000000" pitchFamily="2" charset="2"/>
                        <a:buNone/>
                      </a:pPr>
                      <a:r>
                        <a:rPr lang="en-US" sz="1000" dirty="0">
                          <a:solidFill>
                            <a:srgbClr val="000000"/>
                          </a:solidFill>
                          <a:effectLst/>
                          <a:latin typeface="Calibri"/>
                          <a:cs typeface="Cordia New"/>
                        </a:rPr>
                        <a:t>1.Re-evaluate the drop-out rate, leveraging ORIGINAL study results</a:t>
                      </a:r>
                      <a:endParaRPr lang="en-US" sz="1000" dirty="0">
                        <a:effectLst/>
                        <a:latin typeface="Calibri"/>
                        <a:cs typeface="Cordia New"/>
                      </a:endParaRPr>
                    </a:p>
                    <a:p>
                      <a:pPr marL="0" lvl="0" indent="0" algn="l">
                        <a:buFont typeface="Wingdings" panose="05000000000000000000" pitchFamily="2" charset="2"/>
                        <a:buNone/>
                      </a:pPr>
                      <a:r>
                        <a:rPr lang="en-US" sz="1000" dirty="0">
                          <a:solidFill>
                            <a:srgbClr val="000000"/>
                          </a:solidFill>
                          <a:effectLst/>
                          <a:latin typeface="Calibri"/>
                          <a:cs typeface="Cordia New"/>
                        </a:rPr>
                        <a:t>2.Assess the timing of interim analysis, ensuring a balance between the data amount for IA and the remaining study duration</a:t>
                      </a:r>
                      <a:endParaRPr lang="en-US" sz="1000" dirty="0">
                        <a:effectLst/>
                        <a:latin typeface="Calibri"/>
                        <a:cs typeface="Cordia New"/>
                      </a:endParaRPr>
                    </a:p>
                    <a:p>
                      <a:pPr marL="0" lvl="0" indent="0" algn="l">
                        <a:buFont typeface="Wingdings" panose="05000000000000000000" pitchFamily="2" charset="2"/>
                        <a:buNone/>
                      </a:pPr>
                      <a:r>
                        <a:rPr lang="en-US" sz="1000" dirty="0">
                          <a:solidFill>
                            <a:srgbClr val="000000"/>
                          </a:solidFill>
                          <a:effectLst/>
                          <a:latin typeface="Calibri"/>
                          <a:cs typeface="Cordia New"/>
                        </a:rPr>
                        <a:t>3.Check the registry study database from </a:t>
                      </a:r>
                      <a:r>
                        <a:rPr lang="en-US" sz="1000" dirty="0" err="1">
                          <a:solidFill>
                            <a:srgbClr val="000000"/>
                          </a:solidFill>
                          <a:effectLst/>
                          <a:latin typeface="Calibri"/>
                          <a:cs typeface="Cordia New"/>
                        </a:rPr>
                        <a:t>Tiantan</a:t>
                      </a:r>
                      <a:r>
                        <a:rPr lang="en-US" sz="1000" dirty="0">
                          <a:solidFill>
                            <a:srgbClr val="000000"/>
                          </a:solidFill>
                          <a:effectLst/>
                          <a:latin typeface="Calibri"/>
                          <a:cs typeface="Cordia New"/>
                        </a:rPr>
                        <a:t> Hospital regarding the condition of patients with </a:t>
                      </a:r>
                      <a:r>
                        <a:rPr lang="en-US" sz="1000" dirty="0" err="1">
                          <a:solidFill>
                            <a:srgbClr val="000000"/>
                          </a:solidFill>
                          <a:effectLst/>
                          <a:latin typeface="Calibri"/>
                          <a:cs typeface="Cordia New"/>
                        </a:rPr>
                        <a:t>MevO</a:t>
                      </a:r>
                      <a:r>
                        <a:rPr lang="en-US" sz="1000" dirty="0">
                          <a:solidFill>
                            <a:srgbClr val="000000"/>
                          </a:solidFill>
                          <a:effectLst/>
                          <a:latin typeface="Calibri"/>
                          <a:cs typeface="Cordia New"/>
                        </a:rPr>
                        <a:t> treated with IAT, for a more accurate treatment effect proposal</a:t>
                      </a:r>
                      <a:endParaRPr lang="en-US" sz="1000" dirty="0">
                        <a:effectLst/>
                        <a:latin typeface="Calibri"/>
                        <a:cs typeface="Cordia New"/>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kern="1200" dirty="0">
                          <a:solidFill>
                            <a:srgbClr val="000000"/>
                          </a:solidFill>
                          <a:effectLst/>
                          <a:latin typeface="Calibri"/>
                          <a:ea typeface="+mn-ea"/>
                          <a:cs typeface="Cordia New"/>
                        </a:rPr>
                        <a:t>Drop-out rate maintain 5% (early discontinuation rate of 4.4% in ORIGINAL study).</a:t>
                      </a:r>
                    </a:p>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dirty="0">
                          <a:solidFill>
                            <a:schemeClr val="tx1"/>
                          </a:solidFill>
                          <a:effectLst/>
                          <a:latin typeface="Calibri"/>
                          <a:cs typeface="Cordia New"/>
                        </a:rPr>
                        <a:t>Interim analysis </a:t>
                      </a:r>
                      <a:r>
                        <a:rPr lang="en-US" altLang="zh-CN" sz="1000" dirty="0">
                          <a:solidFill>
                            <a:srgbClr val="000000"/>
                          </a:solidFill>
                          <a:effectLst/>
                          <a:latin typeface="Calibri"/>
                          <a:cs typeface="Cordia New"/>
                        </a:rPr>
                        <a:t>is not recommended from neither PI or BDS.</a:t>
                      </a:r>
                      <a:r>
                        <a:rPr lang="en-US" altLang="zh-CN" sz="1000" kern="1200" dirty="0">
                          <a:solidFill>
                            <a:srgbClr val="000000"/>
                          </a:solidFill>
                          <a:effectLst/>
                          <a:latin typeface="Calibri"/>
                          <a:ea typeface="+mn-ea"/>
                          <a:cs typeface="Cordia New"/>
                        </a:rPr>
                        <a:t>.</a:t>
                      </a:r>
                    </a:p>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kern="1200" dirty="0">
                          <a:solidFill>
                            <a:srgbClr val="000000"/>
                          </a:solidFill>
                          <a:effectLst/>
                          <a:latin typeface="Calibri"/>
                          <a:ea typeface="+mn-ea"/>
                          <a:cs typeface="Cordia New"/>
                        </a:rPr>
                        <a:t>Treatment effect keep as 13% based on PI’s clinical assumption (No available database from </a:t>
                      </a:r>
                      <a:r>
                        <a:rPr lang="en-US" altLang="zh-CN" sz="1000" kern="1200" dirty="0" err="1">
                          <a:solidFill>
                            <a:srgbClr val="000000"/>
                          </a:solidFill>
                          <a:effectLst/>
                          <a:latin typeface="Calibri"/>
                          <a:ea typeface="+mn-ea"/>
                          <a:cs typeface="Cordia New"/>
                        </a:rPr>
                        <a:t>Tiantan</a:t>
                      </a:r>
                      <a:r>
                        <a:rPr lang="en-US" altLang="zh-CN" sz="1000" kern="1200" dirty="0">
                          <a:solidFill>
                            <a:srgbClr val="000000"/>
                          </a:solidFill>
                          <a:effectLst/>
                          <a:latin typeface="Calibri"/>
                          <a:ea typeface="+mn-ea"/>
                          <a:cs typeface="Cordia New"/>
                        </a:rPr>
                        <a:t> Hospital to evaluate the efficacy of IA in </a:t>
                      </a:r>
                      <a:r>
                        <a:rPr lang="en-US" altLang="zh-CN" sz="1000" kern="1200" dirty="0" err="1">
                          <a:solidFill>
                            <a:srgbClr val="000000"/>
                          </a:solidFill>
                          <a:effectLst/>
                          <a:latin typeface="Calibri"/>
                          <a:ea typeface="+mn-ea"/>
                          <a:cs typeface="Cordia New"/>
                        </a:rPr>
                        <a:t>Mevo</a:t>
                      </a:r>
                      <a:r>
                        <a:rPr lang="en-US" altLang="zh-CN" sz="1000" kern="1200" dirty="0">
                          <a:solidFill>
                            <a:srgbClr val="000000"/>
                          </a:solidFill>
                          <a:effectLst/>
                          <a:latin typeface="Calibri"/>
                          <a:ea typeface="+mn-ea"/>
                          <a:cs typeface="Cordia New"/>
                        </a:rPr>
                        <a:t>. While the efficacy of IA with </a:t>
                      </a:r>
                      <a:r>
                        <a:rPr lang="en-US" altLang="zh-CN" sz="1000" kern="1200" dirty="0" err="1">
                          <a:solidFill>
                            <a:srgbClr val="000000"/>
                          </a:solidFill>
                          <a:effectLst/>
                          <a:latin typeface="Calibri"/>
                          <a:ea typeface="+mn-ea"/>
                          <a:cs typeface="Cordia New"/>
                        </a:rPr>
                        <a:t>rtPA</a:t>
                      </a:r>
                      <a:r>
                        <a:rPr lang="en-US" altLang="zh-CN" sz="1000" kern="1200" dirty="0">
                          <a:solidFill>
                            <a:srgbClr val="000000"/>
                          </a:solidFill>
                          <a:effectLst/>
                          <a:latin typeface="Calibri"/>
                          <a:ea typeface="+mn-ea"/>
                          <a:cs typeface="Cordia New"/>
                        </a:rPr>
                        <a:t>/TNK in anti-bridging in LVO and IA with Urokinase in M1/M2 occlusions could be referred.) </a:t>
                      </a: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91363048"/>
                  </a:ext>
                </a:extLst>
              </a:tr>
              <a:tr h="757648">
                <a:tc>
                  <a:txBody>
                    <a:bodyPr/>
                    <a:lstStyle/>
                    <a:p>
                      <a:pPr algn="l">
                        <a:buNone/>
                      </a:pPr>
                      <a:r>
                        <a:rPr lang="en-US" sz="1000" b="1" dirty="0">
                          <a:solidFill>
                            <a:srgbClr val="000000"/>
                          </a:solidFill>
                          <a:effectLst/>
                          <a:latin typeface="Calibri"/>
                        </a:rPr>
                        <a:t>Tenecteplase vs. Medical Management in 4.5-24h LVO-AIS with no access to EVT</a:t>
                      </a:r>
                      <a:endParaRPr lang="en-US" dirty="0">
                        <a:effectLst/>
                        <a:latin typeface="Calibri"/>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dirty="0">
                          <a:solidFill>
                            <a:srgbClr val="000000"/>
                          </a:solidFill>
                          <a:effectLst/>
                          <a:latin typeface="Calibri"/>
                          <a:cs typeface="Cordia New"/>
                        </a:rPr>
                        <a:t>MAP agrees with the study proposal,  and recommended team to work with statisticians to </a:t>
                      </a:r>
                      <a:endParaRPr lang="en-US" sz="1000" dirty="0">
                        <a:solidFill>
                          <a:srgbClr val="000000"/>
                        </a:solidFill>
                        <a:effectLst/>
                      </a:endParaRPr>
                    </a:p>
                    <a:p>
                      <a:pPr marL="0" lvl="0" indent="0" algn="l">
                        <a:buFont typeface="Wingdings" panose="05000000000000000000" pitchFamily="2" charset="2"/>
                        <a:buNone/>
                      </a:pPr>
                      <a:r>
                        <a:rPr lang="en-US" sz="1000" dirty="0">
                          <a:solidFill>
                            <a:schemeClr val="tx1"/>
                          </a:solidFill>
                          <a:effectLst/>
                          <a:latin typeface="Calibri"/>
                          <a:cs typeface="Cordia New"/>
                        </a:rPr>
                        <a:t>1.Re-evaluate the power of the study</a:t>
                      </a:r>
                    </a:p>
                    <a:p>
                      <a:pPr marL="0" lvl="0" indent="0" algn="l">
                        <a:buFont typeface="Wingdings" panose="05000000000000000000" pitchFamily="2" charset="2"/>
                        <a:buNone/>
                      </a:pPr>
                      <a:r>
                        <a:rPr lang="en-US" sz="1000" dirty="0">
                          <a:solidFill>
                            <a:srgbClr val="000000"/>
                          </a:solidFill>
                          <a:effectLst/>
                          <a:latin typeface="Calibri"/>
                          <a:cs typeface="Cordia New"/>
                        </a:rPr>
                        <a:t>2.Assess the scenarios and timing of interim analysis</a:t>
                      </a:r>
                      <a:endParaRPr lang="en-US" sz="1000" dirty="0">
                        <a:effectLst/>
                        <a:latin typeface="Calibri"/>
                        <a:cs typeface="Cordia New"/>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kern="1200" dirty="0">
                          <a:solidFill>
                            <a:srgbClr val="000000"/>
                          </a:solidFill>
                          <a:effectLst/>
                          <a:latin typeface="Calibri"/>
                          <a:ea typeface="+mn-ea"/>
                          <a:cs typeface="Cordia New"/>
                        </a:rPr>
                        <a:t>Confirmed 80% is reasonable and common; </a:t>
                      </a:r>
                    </a:p>
                    <a:p>
                      <a:pPr marL="228600" marR="0" lvl="0" indent="-228600" algn="l" defTabSz="914354" rtl="0" eaLnBrk="1" fontAlgn="auto" latinLnBrk="0" hangingPunct="1">
                        <a:lnSpc>
                          <a:spcPct val="100000"/>
                        </a:lnSpc>
                        <a:spcBef>
                          <a:spcPts val="0"/>
                        </a:spcBef>
                        <a:spcAft>
                          <a:spcPts val="0"/>
                        </a:spcAft>
                        <a:buClrTx/>
                        <a:buSzTx/>
                        <a:buFontTx/>
                        <a:buAutoNum type="arabicPeriod"/>
                        <a:tabLst/>
                        <a:defRPr/>
                      </a:pPr>
                      <a:r>
                        <a:rPr lang="en-US" altLang="zh-CN" sz="1000" kern="1200" dirty="0">
                          <a:solidFill>
                            <a:srgbClr val="000000"/>
                          </a:solidFill>
                          <a:effectLst/>
                          <a:latin typeface="Calibri"/>
                          <a:ea typeface="+mn-ea"/>
                          <a:cs typeface="Cordia New"/>
                        </a:rPr>
                        <a:t>Not recommend for futility interim, details on subsequent slides.</a:t>
                      </a: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1964803"/>
                  </a:ext>
                </a:extLst>
              </a:tr>
              <a:tr h="789216">
                <a:tc>
                  <a:txBody>
                    <a:bodyPr/>
                    <a:lstStyle/>
                    <a:p>
                      <a:pPr algn="l">
                        <a:buNone/>
                      </a:pPr>
                      <a:r>
                        <a:rPr lang="en-US" sz="1000" b="1">
                          <a:solidFill>
                            <a:srgbClr val="000000"/>
                          </a:solidFill>
                          <a:effectLst/>
                          <a:latin typeface="Calibri"/>
                        </a:rPr>
                        <a:t>General topic</a:t>
                      </a:r>
                      <a:endParaRPr lang="en-US">
                        <a:effectLst/>
                        <a:latin typeface="Calibri"/>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a:buNone/>
                      </a:pPr>
                      <a:r>
                        <a:rPr lang="en-US" sz="1000" b="1" dirty="0">
                          <a:solidFill>
                            <a:srgbClr val="000000"/>
                          </a:solidFill>
                          <a:effectLst/>
                          <a:latin typeface="Calibri"/>
                        </a:rPr>
                        <a:t> ECR vs. IIS</a:t>
                      </a:r>
                      <a:r>
                        <a:rPr lang="en-US" sz="1000" dirty="0">
                          <a:solidFill>
                            <a:srgbClr val="000000"/>
                          </a:solidFill>
                          <a:effectLst/>
                          <a:latin typeface="Calibri"/>
                          <a:cs typeface="Cordia New"/>
                        </a:rPr>
                        <a:t> </a:t>
                      </a:r>
                      <a:endParaRPr lang="en-US" sz="1000" dirty="0">
                        <a:effectLst/>
                        <a:latin typeface="Calibri"/>
                        <a:cs typeface="Cordia New"/>
                      </a:endParaRPr>
                    </a:p>
                    <a:p>
                      <a:pPr marL="342900" lvl="0" indent="-342900" algn="l">
                        <a:buNone/>
                      </a:pPr>
                      <a:r>
                        <a:rPr lang="en-US" sz="1000" dirty="0">
                          <a:solidFill>
                            <a:srgbClr val="000000"/>
                          </a:solidFill>
                          <a:effectLst/>
                          <a:latin typeface="Calibri"/>
                          <a:cs typeface="Cordia New"/>
                        </a:rPr>
                        <a:t>MAP suggested team to consult with Legal on the wording of “BI study invention” in the ECR contract.</a:t>
                      </a:r>
                      <a:endParaRPr lang="en-US" sz="1000" dirty="0">
                        <a:effectLst/>
                        <a:latin typeface="Calibri"/>
                        <a:cs typeface="Cordia New"/>
                      </a:endParaRPr>
                    </a:p>
                    <a:p>
                      <a:pPr marL="42545" algn="l">
                        <a:buNone/>
                      </a:pPr>
                      <a:r>
                        <a:rPr lang="en-US" sz="1000" b="1" dirty="0">
                          <a:solidFill>
                            <a:srgbClr val="000000"/>
                          </a:solidFill>
                          <a:effectLst/>
                          <a:latin typeface="Calibri"/>
                          <a:cs typeface="Cordia New"/>
                        </a:rPr>
                        <a:t>IMP </a:t>
                      </a:r>
                      <a:endParaRPr lang="en-US" sz="1000" dirty="0">
                        <a:effectLst/>
                        <a:latin typeface="Calibri"/>
                        <a:cs typeface="Cordia New"/>
                      </a:endParaRPr>
                    </a:p>
                    <a:p>
                      <a:pPr marL="342900" lvl="0" indent="-342900" algn="l">
                        <a:buNone/>
                      </a:pPr>
                      <a:r>
                        <a:rPr lang="en-US" sz="1000" dirty="0">
                          <a:solidFill>
                            <a:srgbClr val="000000"/>
                          </a:solidFill>
                          <a:effectLst/>
                          <a:latin typeface="Calibri"/>
                          <a:cs typeface="Cordia New"/>
                        </a:rPr>
                        <a:t>MAP agrees to the team’s  IMP supply strategy for Metalyse ECR/IIS studies.</a:t>
                      </a:r>
                      <a:endParaRPr lang="en-US" sz="1000" dirty="0">
                        <a:effectLst/>
                        <a:latin typeface="Calibri"/>
                        <a:cs typeface="Cordia New"/>
                      </a:endParaRP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342900" lvl="0" indent="-342900" algn="l">
                        <a:buNone/>
                      </a:pPr>
                      <a:r>
                        <a:rPr lang="en-US" sz="1000" kern="1200" dirty="0">
                          <a:solidFill>
                            <a:srgbClr val="000000"/>
                          </a:solidFill>
                          <a:effectLst/>
                          <a:latin typeface="Calibri"/>
                          <a:ea typeface="+mn-ea"/>
                          <a:cs typeface="Cordia New"/>
                        </a:rPr>
                        <a:t>Already provided feedback to the legal department, and they will discuss the modification of the Chinese translation internally with the intellectual property attorney.</a:t>
                      </a:r>
                    </a:p>
                  </a:txBody>
                  <a:tcPr marL="19050" marR="1905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045596"/>
                  </a:ext>
                </a:extLst>
              </a:tr>
            </a:tbl>
          </a:graphicData>
        </a:graphic>
      </p:graphicFrame>
    </p:spTree>
    <p:extLst>
      <p:ext uri="{BB962C8B-B14F-4D97-AF65-F5344CB8AC3E}">
        <p14:creationId xmlns:p14="http://schemas.microsoft.com/office/powerpoint/2010/main" val="2948291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231775" y="982133"/>
            <a:ext cx="1172845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303694" y="354554"/>
            <a:ext cx="11326652" cy="506389"/>
          </a:xfrm>
          <a:prstGeom prst="rect">
            <a:avLst/>
          </a:prstGeom>
          <a:noFill/>
          <a:ln w="19050">
            <a:noFill/>
          </a:ln>
        </p:spPr>
        <p:txBody>
          <a:bodyPr wrap="square" lIns="180000" tIns="0" rIns="90000" bIns="0" rtlCol="0" anchor="t" anchorCtr="0">
            <a:no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altLang="zh-CN" sz="3200" b="1" dirty="0">
                <a:latin typeface="Times New Roman" panose="02020603050405020304" pitchFamily="18" charset="0"/>
                <a:cs typeface="Times New Roman" panose="02020603050405020304" pitchFamily="18" charset="0"/>
              </a:rPr>
              <a:t>Xuanwu hospital -TREASURE: </a:t>
            </a:r>
            <a:r>
              <a:rPr lang="en-US" altLang="zh-CN" sz="3200" b="1" dirty="0">
                <a:latin typeface="Times New Roman" panose="02020603050405020304" pitchFamily="18" charset="0"/>
                <a:cs typeface="Times New Roman" panose="02020603050405020304" pitchFamily="18" charset="0"/>
                <a:sym typeface="+mn-ea"/>
              </a:rPr>
              <a:t>Power re-evaluation</a:t>
            </a:r>
            <a:endParaRPr lang="zh-CN" altLang="en-US" sz="3200" b="1" dirty="0">
              <a:latin typeface="Times New Roman" panose="02020603050405020304" pitchFamily="18" charset="0"/>
              <a:cs typeface="Times New Roman" panose="02020603050405020304" pitchFamily="18" charset="0"/>
              <a:sym typeface="+mn-ea"/>
            </a:endParaRPr>
          </a:p>
        </p:txBody>
      </p:sp>
      <p:sp>
        <p:nvSpPr>
          <p:cNvPr id="4" name="文本框 3"/>
          <p:cNvSpPr txBox="1"/>
          <p:nvPr/>
        </p:nvSpPr>
        <p:spPr>
          <a:xfrm>
            <a:off x="231775" y="1046816"/>
            <a:ext cx="6333617" cy="5353984"/>
          </a:xfrm>
          <a:prstGeom prst="rect">
            <a:avLst/>
          </a:prstGeom>
          <a:noFill/>
          <a:ln w="19050">
            <a:noFill/>
          </a:ln>
        </p:spPr>
        <p:txBody>
          <a:bodyPr wrap="square" lIns="180000" tIns="0" rIns="90000" bIns="0" rtlCol="0" anchor="t" anchorCtr="0">
            <a:no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600" b="0" i="0" u="none" strike="noStrike" kern="0" cap="none" spc="0" normalizeH="0" baseline="0" noProof="0" dirty="0">
                <a:ln>
                  <a:noFill/>
                </a:ln>
                <a:solidFill>
                  <a:prstClr val="black"/>
                </a:solidFill>
                <a:effectLst/>
                <a:uLnTx/>
                <a:uFillTx/>
                <a:latin typeface="微软雅黑"/>
                <a:ea typeface="微软雅黑"/>
                <a:cs typeface="+mn-cs"/>
              </a:rPr>
              <a:t>The sample size estimation is </a:t>
            </a:r>
            <a:r>
              <a:rPr kumimoji="0" lang="en-US" altLang="zh-CN" sz="1600" b="1" i="0" u="none" strike="noStrike" kern="0" cap="none" spc="0" normalizeH="0" baseline="0" noProof="0" dirty="0">
                <a:ln>
                  <a:noFill/>
                </a:ln>
                <a:solidFill>
                  <a:srgbClr val="133D9D"/>
                </a:solidFill>
                <a:effectLst/>
                <a:uLnTx/>
                <a:uFillTx/>
                <a:latin typeface="微软雅黑"/>
                <a:ea typeface="微软雅黑"/>
                <a:cs typeface="+mn-cs"/>
              </a:rPr>
              <a:t>572</a:t>
            </a:r>
            <a:r>
              <a:rPr kumimoji="0" lang="en-US" altLang="zh-CN" sz="1600" b="0" i="0" u="none" strike="noStrike" kern="0" cap="none" spc="0" normalizeH="0" baseline="0" noProof="0" dirty="0">
                <a:ln>
                  <a:noFill/>
                </a:ln>
                <a:solidFill>
                  <a:prstClr val="black"/>
                </a:solidFill>
                <a:effectLst/>
                <a:uLnTx/>
                <a:uFillTx/>
                <a:latin typeface="微软雅黑"/>
                <a:ea typeface="微软雅黑"/>
                <a:cs typeface="+mn-cs"/>
              </a:rPr>
              <a:t> (286 patients per arm)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 parameters were set as follows: </a:t>
            </a:r>
          </a:p>
          <a:p>
            <a:pPr marL="342900" marR="0" lvl="0" indent="-342900" algn="l" defTabSz="914400" rtl="0" eaLnBrk="1" fontAlgn="auto" latinLnBrk="0" hangingPunct="1">
              <a:lnSpc>
                <a:spcPct val="150000"/>
              </a:lnSpc>
              <a:spcBef>
                <a:spcPts val="0"/>
              </a:spcBef>
              <a:spcAft>
                <a:spcPts val="0"/>
              </a:spcAft>
              <a:buClrTx/>
              <a:buSzTx/>
              <a:buFontTx/>
              <a:buAutoNum type="arabicParenBoth"/>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 proportion of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mRS</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score 0-6 in control group will be </a:t>
            </a:r>
            <a:r>
              <a:rPr kumimoji="0" lang="en-US" altLang="zh-CN" sz="1600" b="1" i="0" u="none" strike="noStrike" kern="0" cap="none" spc="0" normalizeH="0" baseline="0" noProof="0" dirty="0">
                <a:ln>
                  <a:noFill/>
                </a:ln>
                <a:solidFill>
                  <a:srgbClr val="133D9D"/>
                </a:solidFill>
                <a:effectLst/>
                <a:uLnTx/>
                <a:uFillTx/>
                <a:latin typeface="微软雅黑" panose="020B0503020204020204" pitchFamily="34" charset="-122"/>
                <a:ea typeface="微软雅黑" panose="020B0503020204020204" pitchFamily="34" charset="-122"/>
                <a:cs typeface="+mn-cs"/>
              </a:rPr>
              <a:t>27.6%, 13.6%, 4.9%, 10.9%, 15.9%, 12.6%, and 14.5%</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respectively (</a:t>
            </a:r>
            <a:r>
              <a:rPr kumimoji="0" lang="en-US" altLang="zh-CN" sz="1600" b="0" i="1" u="none" strike="noStrike" kern="0" cap="none" spc="0" normalizeH="0" baseline="0" noProof="0" dirty="0">
                <a:ln>
                  <a:noFill/>
                </a:ln>
                <a:solidFill>
                  <a:prstClr val="black"/>
                </a:solidFill>
                <a:effectLst/>
                <a:uLnTx/>
                <a:uFillTx/>
                <a:latin typeface="微软雅黑"/>
                <a:ea typeface="微软雅黑"/>
                <a:cs typeface="+mn-cs"/>
              </a:rPr>
              <a:t>Stroke. 2021;52(4):1203-1212</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342900" marR="0" lvl="0" indent="-342900" algn="l" defTabSz="914400" rtl="0" eaLnBrk="1" fontAlgn="auto" latinLnBrk="0" hangingPunct="1">
              <a:lnSpc>
                <a:spcPct val="150000"/>
              </a:lnSpc>
              <a:spcBef>
                <a:spcPts val="0"/>
              </a:spcBef>
              <a:spcAft>
                <a:spcPts val="0"/>
              </a:spcAft>
              <a:buClrTx/>
              <a:buSzTx/>
              <a:buFontTx/>
              <a:buAutoNum type="arabicParenBoth"/>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The average treatment effect of Tenecteplase before interhospital transfer for thrombectomy improved the efficacy outcome with the </a:t>
            </a:r>
            <a:r>
              <a:rPr kumimoji="0" lang="en-US" altLang="zh-CN" sz="1600" b="1" i="0" u="none" strike="noStrike" kern="0" cap="none" spc="0" normalizeH="0" baseline="0" noProof="0" dirty="0">
                <a:ln>
                  <a:noFill/>
                </a:ln>
                <a:solidFill>
                  <a:srgbClr val="133D9D"/>
                </a:solidFill>
                <a:effectLst/>
                <a:uLnTx/>
                <a:uFillTx/>
                <a:latin typeface="微软雅黑" panose="020B0503020204020204" pitchFamily="34" charset="-122"/>
                <a:ea typeface="微软雅黑" panose="020B0503020204020204" pitchFamily="34" charset="-122"/>
                <a:cs typeface="+mn-cs"/>
              </a:rPr>
              <a:t>common OR</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for improvement of </a:t>
            </a:r>
            <a:r>
              <a:rPr kumimoji="0" lang="en-US" altLang="zh-CN" sz="1600" b="0" i="0" u="none" strike="noStrike" kern="0" cap="none" spc="0" normalizeH="0" baseline="0" noProof="0" dirty="0" err="1">
                <a:ln>
                  <a:noFill/>
                </a:ln>
                <a:solidFill>
                  <a:prstClr val="black"/>
                </a:solidFill>
                <a:effectLst/>
                <a:uLnTx/>
                <a:uFillTx/>
                <a:latin typeface="微软雅黑" panose="020B0503020204020204" pitchFamily="34" charset="-122"/>
                <a:ea typeface="微软雅黑" panose="020B0503020204020204" pitchFamily="34" charset="-122"/>
                <a:cs typeface="+mn-cs"/>
              </a:rPr>
              <a:t>mRS</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reached </a:t>
            </a:r>
            <a:r>
              <a:rPr kumimoji="0" lang="en-US" altLang="zh-CN" sz="1600" b="1" i="0" u="none" strike="noStrike" kern="0" cap="none" spc="0" normalizeH="0" baseline="0" noProof="0" dirty="0">
                <a:ln>
                  <a:noFill/>
                </a:ln>
                <a:solidFill>
                  <a:srgbClr val="133D9D"/>
                </a:solidFill>
                <a:effectLst/>
                <a:uLnTx/>
                <a:uFillTx/>
                <a:latin typeface="微软雅黑" panose="020B0503020204020204" pitchFamily="34" charset="-122"/>
                <a:ea typeface="微软雅黑" panose="020B0503020204020204" pitchFamily="34" charset="-122"/>
                <a:cs typeface="+mn-cs"/>
              </a:rPr>
              <a:t>1.58 </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en-US" altLang="zh-CN" sz="1600" b="0" i="1" u="none" strike="noStrike" kern="0" cap="none" spc="0" normalizeH="0" baseline="0" noProof="0" dirty="0">
                <a:ln>
                  <a:noFill/>
                </a:ln>
                <a:solidFill>
                  <a:prstClr val="black"/>
                </a:solidFill>
                <a:effectLst/>
                <a:uLnTx/>
                <a:uFillTx/>
                <a:latin typeface="微软雅黑"/>
                <a:ea typeface="微软雅黑"/>
                <a:cs typeface="+mn-cs"/>
              </a:rPr>
              <a:t>Neurology. 2023 Apr 4;100(14):e1436-e1443</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342900" marR="0" lvl="0" indent="-342900" algn="l" defTabSz="914400" rtl="0" eaLnBrk="1" fontAlgn="auto" latinLnBrk="0" hangingPunct="1">
              <a:lnSpc>
                <a:spcPct val="150000"/>
              </a:lnSpc>
              <a:spcBef>
                <a:spcPts val="0"/>
              </a:spcBef>
              <a:spcAft>
                <a:spcPts val="0"/>
              </a:spcAft>
              <a:buClrTx/>
              <a:buSzTx/>
              <a:buFontTx/>
              <a:buAutoNum type="arabicParenBoth"/>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Two-sided alpha level was </a:t>
            </a:r>
            <a:r>
              <a:rPr kumimoji="0" lang="en-US" altLang="zh-CN" sz="1600" b="1" i="0" u="none" strike="noStrike" kern="0" cap="none" spc="0" normalizeH="0" baseline="0" noProof="0" dirty="0">
                <a:ln>
                  <a:noFill/>
                </a:ln>
                <a:solidFill>
                  <a:srgbClr val="133D9D"/>
                </a:solidFill>
                <a:effectLst/>
                <a:uLnTx/>
                <a:uFillTx/>
                <a:latin typeface="微软雅黑" panose="020B0503020204020204" pitchFamily="34" charset="-122"/>
                <a:ea typeface="微软雅黑" panose="020B0503020204020204" pitchFamily="34" charset="-122"/>
                <a:cs typeface="+mn-cs"/>
              </a:rPr>
              <a:t>0.05</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p>
          <a:p>
            <a:pPr marL="342900" marR="0" lvl="0" indent="-342900" algn="l" defTabSz="914400" rtl="0" eaLnBrk="1" fontAlgn="auto" latinLnBrk="0" hangingPunct="1">
              <a:lnSpc>
                <a:spcPct val="150000"/>
              </a:lnSpc>
              <a:spcBef>
                <a:spcPts val="0"/>
              </a:spcBef>
              <a:spcAft>
                <a:spcPts val="0"/>
              </a:spcAft>
              <a:buClrTx/>
              <a:buSzTx/>
              <a:buFontTx/>
              <a:buAutoNum type="arabicParenBoth"/>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Power (1-β) was </a:t>
            </a:r>
            <a:r>
              <a:rPr kumimoji="0" lang="en-US" altLang="zh-CN" sz="1600" b="1" i="0" u="none" strike="noStrike" kern="0" cap="none" spc="0" normalizeH="0" baseline="0" noProof="0" dirty="0">
                <a:ln>
                  <a:noFill/>
                </a:ln>
                <a:solidFill>
                  <a:srgbClr val="133D9D"/>
                </a:solidFill>
                <a:effectLst/>
                <a:uLnTx/>
                <a:uFillTx/>
                <a:latin typeface="微软雅黑" panose="020B0503020204020204" pitchFamily="34" charset="-122"/>
                <a:ea typeface="微软雅黑" panose="020B0503020204020204" pitchFamily="34" charset="-122"/>
                <a:cs typeface="+mn-cs"/>
              </a:rPr>
              <a:t>0.85</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endParaRPr kumimoji="0" lang="en-US" altLang="zh-CN" sz="1600" b="0" i="0" u="none" strike="noStrike" kern="0" cap="none" spc="0" normalizeH="0" baseline="0" noProof="0" dirty="0">
              <a:ln>
                <a:noFill/>
              </a:ln>
              <a:solidFill>
                <a:prstClr val="black"/>
              </a:solidFill>
              <a:effectLst/>
              <a:highlight>
                <a:srgbClr val="FF0000"/>
              </a:highlight>
              <a:uLnTx/>
              <a:uFillTx/>
              <a:latin typeface="微软雅黑" panose="020B0503020204020204" pitchFamily="34" charset="-122"/>
              <a:ea typeface="微软雅黑" panose="020B0503020204020204" pitchFamily="34" charset="-122"/>
              <a:cs typeface="+mn-cs"/>
            </a:endParaRPr>
          </a:p>
          <a:p>
            <a:pPr marL="342900" marR="0" lvl="0" indent="-342900" algn="l" defTabSz="914400" rtl="0" eaLnBrk="1" fontAlgn="auto" latinLnBrk="0" hangingPunct="1">
              <a:lnSpc>
                <a:spcPct val="150000"/>
              </a:lnSpc>
              <a:spcBef>
                <a:spcPts val="0"/>
              </a:spcBef>
              <a:spcAft>
                <a:spcPts val="0"/>
              </a:spcAft>
              <a:buClrTx/>
              <a:buSzTx/>
              <a:buFontTx/>
              <a:buAutoNum type="arabicParenBoth"/>
              <a:tabLst/>
              <a:defRPr/>
            </a:pP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Considering </a:t>
            </a:r>
            <a:r>
              <a:rPr kumimoji="0" lang="en-US" altLang="zh-CN" sz="1600" b="1" i="0" u="none" strike="noStrike" kern="0" cap="none" spc="0" normalizeH="0" baseline="0" noProof="0" dirty="0">
                <a:ln>
                  <a:noFill/>
                </a:ln>
                <a:solidFill>
                  <a:srgbClr val="133D9D"/>
                </a:solidFill>
                <a:effectLst/>
                <a:uLnTx/>
                <a:uFillTx/>
                <a:latin typeface="微软雅黑" panose="020B0503020204020204" pitchFamily="34" charset="-122"/>
                <a:ea typeface="微软雅黑" panose="020B0503020204020204" pitchFamily="34" charset="-122"/>
                <a:cs typeface="+mn-cs"/>
              </a:rPr>
              <a:t>5%</a:t>
            </a:r>
            <a:r>
              <a:rPr kumimoji="0" lang="en-US" altLang="zh-CN" sz="16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attrition rate.</a:t>
            </a:r>
            <a:endParaRPr kumimoji="0" lang="en-US" altLang="zh-CN" sz="1600" b="1"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7" name="表格 5">
            <a:extLst>
              <a:ext uri="{FF2B5EF4-FFF2-40B4-BE49-F238E27FC236}">
                <a16:creationId xmlns:a16="http://schemas.microsoft.com/office/drawing/2014/main" id="{7E3B8ED4-CAE1-64DE-D1A0-1DC2C9A0AC9F}"/>
              </a:ext>
            </a:extLst>
          </p:cNvPr>
          <p:cNvGraphicFramePr>
            <a:graphicFrameLocks noGrp="1"/>
          </p:cNvGraphicFramePr>
          <p:nvPr/>
        </p:nvGraphicFramePr>
        <p:xfrm>
          <a:off x="6565392" y="2101798"/>
          <a:ext cx="5257672" cy="2080058"/>
        </p:xfrm>
        <a:graphic>
          <a:graphicData uri="http://schemas.openxmlformats.org/drawingml/2006/table">
            <a:tbl>
              <a:tblPr firstRow="1" bandRow="1">
                <a:tableStyleId>{5C22544A-7EE6-4342-B048-85BDC9FD1C3A}</a:tableStyleId>
              </a:tblPr>
              <a:tblGrid>
                <a:gridCol w="1472184">
                  <a:extLst>
                    <a:ext uri="{9D8B030D-6E8A-4147-A177-3AD203B41FA5}">
                      <a16:colId xmlns:a16="http://schemas.microsoft.com/office/drawing/2014/main" val="786518429"/>
                    </a:ext>
                  </a:extLst>
                </a:gridCol>
                <a:gridCol w="987552">
                  <a:extLst>
                    <a:ext uri="{9D8B030D-6E8A-4147-A177-3AD203B41FA5}">
                      <a16:colId xmlns:a16="http://schemas.microsoft.com/office/drawing/2014/main" val="2038498940"/>
                    </a:ext>
                  </a:extLst>
                </a:gridCol>
                <a:gridCol w="1027173">
                  <a:extLst>
                    <a:ext uri="{9D8B030D-6E8A-4147-A177-3AD203B41FA5}">
                      <a16:colId xmlns:a16="http://schemas.microsoft.com/office/drawing/2014/main" val="1020086221"/>
                    </a:ext>
                  </a:extLst>
                </a:gridCol>
                <a:gridCol w="1770763">
                  <a:extLst>
                    <a:ext uri="{9D8B030D-6E8A-4147-A177-3AD203B41FA5}">
                      <a16:colId xmlns:a16="http://schemas.microsoft.com/office/drawing/2014/main" val="999665636"/>
                    </a:ext>
                  </a:extLst>
                </a:gridCol>
              </a:tblGrid>
              <a:tr h="6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t>Scenario</a:t>
                      </a:r>
                      <a:endParaRPr lang="zh-CN" altLang="en-US" sz="16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t>N</a:t>
                      </a:r>
                      <a:endParaRPr lang="zh-CN" altLang="en-US" sz="1600" b="1" dirty="0"/>
                    </a:p>
                  </a:txBody>
                  <a:tcPr anchor="ctr"/>
                </a:tc>
                <a:tc>
                  <a:txBody>
                    <a:bodyPr/>
                    <a:lstStyle/>
                    <a:p>
                      <a:pPr algn="ctr"/>
                      <a:r>
                        <a:rPr lang="en-US" altLang="zh-CN" sz="1600"/>
                        <a:t>Power </a:t>
                      </a:r>
                      <a:endParaRPr lang="zh-CN" altLang="en-US" sz="1600"/>
                    </a:p>
                  </a:txBody>
                  <a:tcPr anchor="ctr"/>
                </a:tc>
                <a:tc>
                  <a:txBody>
                    <a:bodyPr/>
                    <a:lstStyle/>
                    <a:p>
                      <a:pPr algn="ctr"/>
                      <a:r>
                        <a:rPr lang="en-US" altLang="zh-CN" sz="1600"/>
                        <a:t>Min. detectable </a:t>
                      </a:r>
                      <a:r>
                        <a:rPr lang="en-US" altLang="zh-CN" sz="1600" err="1"/>
                        <a:t>cOR</a:t>
                      </a:r>
                      <a:endParaRPr lang="zh-CN" altLang="en-US" sz="1600"/>
                    </a:p>
                  </a:txBody>
                  <a:tcPr anchor="ctr"/>
                </a:tc>
                <a:extLst>
                  <a:ext uri="{0D108BD9-81ED-4DB2-BD59-A6C34878D82A}">
                    <a16:rowId xmlns:a16="http://schemas.microsoft.com/office/drawing/2014/main" val="3279651759"/>
                  </a:ext>
                </a:extLst>
              </a:tr>
              <a:tr h="499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Observed case</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544</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algn="ct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85.5%</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1.345</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extLst>
                  <a:ext uri="{0D108BD9-81ED-4DB2-BD59-A6C34878D82A}">
                    <a16:rowId xmlns:a16="http://schemas.microsoft.com/office/drawing/2014/main" val="3191766280"/>
                  </a:ext>
                </a:extLst>
              </a:tr>
              <a:tr h="499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Imputed case</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572</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algn="ct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86.8%</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1.340</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extLst>
                  <a:ext uri="{0D108BD9-81ED-4DB2-BD59-A6C34878D82A}">
                    <a16:rowId xmlns:a16="http://schemas.microsoft.com/office/drawing/2014/main" val="594815543"/>
                  </a:ext>
                </a:extLst>
              </a:tr>
            </a:tbl>
          </a:graphicData>
        </a:graphic>
      </p:graphicFrame>
    </p:spTree>
    <p:extLst>
      <p:ext uri="{BB962C8B-B14F-4D97-AF65-F5344CB8AC3E}">
        <p14:creationId xmlns:p14="http://schemas.microsoft.com/office/powerpoint/2010/main" val="341312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87F7694-BB84-9528-1159-C8FBF0A8EFD7}"/>
              </a:ext>
            </a:extLst>
          </p:cNvPr>
          <p:cNvSpPr txBox="1"/>
          <p:nvPr/>
        </p:nvSpPr>
        <p:spPr>
          <a:xfrm>
            <a:off x="188259" y="56490"/>
            <a:ext cx="2953053" cy="646331"/>
          </a:xfrm>
          <a:prstGeom prst="rect">
            <a:avLst/>
          </a:prstGeom>
          <a:noFill/>
        </p:spPr>
        <p:txBody>
          <a:bodyPr wrap="non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CN" sz="36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Sample Size</a:t>
            </a:r>
          </a:p>
        </p:txBody>
      </p:sp>
      <p:sp>
        <p:nvSpPr>
          <p:cNvPr id="3" name="标题 2">
            <a:extLst>
              <a:ext uri="{FF2B5EF4-FFF2-40B4-BE49-F238E27FC236}">
                <a16:creationId xmlns:a16="http://schemas.microsoft.com/office/drawing/2014/main" id="{D807257B-9351-7071-4464-82536C75480C}"/>
              </a:ext>
            </a:extLst>
          </p:cNvPr>
          <p:cNvSpPr>
            <a:spLocks noGrp="1"/>
          </p:cNvSpPr>
          <p:nvPr>
            <p:ph type="title"/>
          </p:nvPr>
        </p:nvSpPr>
        <p:spPr/>
        <p:txBody>
          <a:bodyPr/>
          <a:lstStyle/>
          <a:p>
            <a:r>
              <a:rPr lang="en-US" altLang="zh-CN" sz="3200" dirty="0">
                <a:cs typeface="Times New Roman" panose="02020603050405020304" pitchFamily="18" charset="0"/>
              </a:rPr>
              <a:t>Xuanwu hospital -</a:t>
            </a:r>
            <a:r>
              <a:rPr lang="en-US" altLang="zh-CN" sz="3200" b="1" dirty="0">
                <a:latin typeface="Times New Roman" panose="02020603050405020304" pitchFamily="18" charset="0"/>
                <a:cs typeface="Times New Roman" panose="02020603050405020304" pitchFamily="18" charset="0"/>
              </a:rPr>
              <a:t>TREASURE: </a:t>
            </a:r>
            <a:r>
              <a:rPr lang="en-US" altLang="zh-CN" sz="3200" dirty="0"/>
              <a:t>Interim Analysis</a:t>
            </a:r>
            <a:endParaRPr lang="zh-CN" altLang="en-US" sz="3200" dirty="0"/>
          </a:p>
        </p:txBody>
      </p:sp>
      <p:graphicFrame>
        <p:nvGraphicFramePr>
          <p:cNvPr id="2" name="表格 1">
            <a:extLst>
              <a:ext uri="{FF2B5EF4-FFF2-40B4-BE49-F238E27FC236}">
                <a16:creationId xmlns:a16="http://schemas.microsoft.com/office/drawing/2014/main" id="{21D4B0E9-910C-AD56-6D9D-2600E8F64D00}"/>
              </a:ext>
            </a:extLst>
          </p:cNvPr>
          <p:cNvGraphicFramePr>
            <a:graphicFrameLocks noGrp="1"/>
          </p:cNvGraphicFramePr>
          <p:nvPr/>
        </p:nvGraphicFramePr>
        <p:xfrm>
          <a:off x="495300" y="1015544"/>
          <a:ext cx="3720085" cy="5232049"/>
        </p:xfrm>
        <a:graphic>
          <a:graphicData uri="http://schemas.openxmlformats.org/drawingml/2006/table">
            <a:tbl>
              <a:tblPr>
                <a:tableStyleId>{9DCAF9ED-07DC-4A11-8D7F-57B35C25682E}</a:tableStyleId>
              </a:tblPr>
              <a:tblGrid>
                <a:gridCol w="581612">
                  <a:extLst>
                    <a:ext uri="{9D8B030D-6E8A-4147-A177-3AD203B41FA5}">
                      <a16:colId xmlns:a16="http://schemas.microsoft.com/office/drawing/2014/main" val="1174198495"/>
                    </a:ext>
                  </a:extLst>
                </a:gridCol>
                <a:gridCol w="662346">
                  <a:extLst>
                    <a:ext uri="{9D8B030D-6E8A-4147-A177-3AD203B41FA5}">
                      <a16:colId xmlns:a16="http://schemas.microsoft.com/office/drawing/2014/main" val="2156958150"/>
                    </a:ext>
                  </a:extLst>
                </a:gridCol>
                <a:gridCol w="800167">
                  <a:extLst>
                    <a:ext uri="{9D8B030D-6E8A-4147-A177-3AD203B41FA5}">
                      <a16:colId xmlns:a16="http://schemas.microsoft.com/office/drawing/2014/main" val="1153680277"/>
                    </a:ext>
                  </a:extLst>
                </a:gridCol>
                <a:gridCol w="837980">
                  <a:extLst>
                    <a:ext uri="{9D8B030D-6E8A-4147-A177-3AD203B41FA5}">
                      <a16:colId xmlns:a16="http://schemas.microsoft.com/office/drawing/2014/main" val="948427083"/>
                    </a:ext>
                  </a:extLst>
                </a:gridCol>
                <a:gridCol w="837980">
                  <a:extLst>
                    <a:ext uri="{9D8B030D-6E8A-4147-A177-3AD203B41FA5}">
                      <a16:colId xmlns:a16="http://schemas.microsoft.com/office/drawing/2014/main" val="657266820"/>
                    </a:ext>
                  </a:extLst>
                </a:gridCol>
              </a:tblGrid>
              <a:tr h="420064">
                <a:tc>
                  <a:txBody>
                    <a:bodyPr/>
                    <a:lstStyle/>
                    <a:p>
                      <a:pPr algn="ctr" fontAlgn="b"/>
                      <a:r>
                        <a:rPr lang="zh-CN" altLang="en-US" sz="1050" b="1" i="0" u="none" strike="noStrike" dirty="0">
                          <a:solidFill>
                            <a:schemeClr val="bg1"/>
                          </a:solidFill>
                          <a:effectLst/>
                          <a:latin typeface="等线" panose="02010600030101010101" pitchFamily="2" charset="-122"/>
                          <a:ea typeface="等线" panose="02010600030101010101" pitchFamily="2" charset="-122"/>
                        </a:rPr>
                        <a:t>月数</a:t>
                      </a:r>
                    </a:p>
                  </a:txBody>
                  <a:tcPr marL="4763" marR="4763" marT="4763" marB="0" anchor="ctr">
                    <a:solidFill>
                      <a:schemeClr val="bg2">
                        <a:lumMod val="90000"/>
                        <a:lumOff val="10000"/>
                      </a:schemeClr>
                    </a:solidFill>
                  </a:tcPr>
                </a:tc>
                <a:tc>
                  <a:txBody>
                    <a:bodyPr/>
                    <a:lstStyle/>
                    <a:p>
                      <a:pPr algn="ctr" fontAlgn="b"/>
                      <a:r>
                        <a:rPr lang="zh-CN" altLang="en-US" sz="1050" b="1" i="0" u="none" strike="noStrike">
                          <a:solidFill>
                            <a:schemeClr val="bg1"/>
                          </a:solidFill>
                          <a:effectLst/>
                          <a:latin typeface="等线" panose="02010600030101010101" pitchFamily="2" charset="-122"/>
                          <a:ea typeface="等线" panose="02010600030101010101" pitchFamily="2" charset="-122"/>
                        </a:rPr>
                        <a:t>每月入组例数</a:t>
                      </a:r>
                    </a:p>
                  </a:txBody>
                  <a:tcPr marL="4763" marR="4763" marT="4763" marB="0" anchor="ctr">
                    <a:solidFill>
                      <a:schemeClr val="bg2">
                        <a:lumMod val="90000"/>
                        <a:lumOff val="10000"/>
                      </a:schemeClr>
                    </a:solidFill>
                  </a:tcPr>
                </a:tc>
                <a:tc>
                  <a:txBody>
                    <a:bodyPr/>
                    <a:lstStyle/>
                    <a:p>
                      <a:pPr algn="ctr" fontAlgn="b"/>
                      <a:r>
                        <a:rPr lang="zh-CN" altLang="en-US" sz="1050" b="1" i="0" u="none" strike="noStrike">
                          <a:solidFill>
                            <a:schemeClr val="bg1"/>
                          </a:solidFill>
                          <a:effectLst/>
                          <a:latin typeface="等线" panose="02010600030101010101" pitchFamily="2" charset="-122"/>
                          <a:ea typeface="等线" panose="02010600030101010101" pitchFamily="2" charset="-122"/>
                        </a:rPr>
                        <a:t>累计入组</a:t>
                      </a:r>
                    </a:p>
                  </a:txBody>
                  <a:tcPr marL="4763" marR="4763" marT="4763" marB="0" anchor="ctr">
                    <a:solidFill>
                      <a:schemeClr val="bg2">
                        <a:lumMod val="90000"/>
                        <a:lumOff val="10000"/>
                      </a:schemeClr>
                    </a:solidFill>
                  </a:tcPr>
                </a:tc>
                <a:tc>
                  <a:txBody>
                    <a:bodyPr/>
                    <a:lstStyle/>
                    <a:p>
                      <a:pPr algn="ctr" fontAlgn="b"/>
                      <a:r>
                        <a:rPr lang="zh-CN" altLang="en-US" sz="1050" b="1" i="0" u="none" strike="noStrike">
                          <a:solidFill>
                            <a:schemeClr val="bg1"/>
                          </a:solidFill>
                          <a:effectLst/>
                          <a:latin typeface="等线" panose="02010600030101010101" pitchFamily="2" charset="-122"/>
                          <a:ea typeface="等线" panose="02010600030101010101" pitchFamily="2" charset="-122"/>
                        </a:rPr>
                        <a:t>累计入组</a:t>
                      </a:r>
                      <a:r>
                        <a:rPr lang="en-US" altLang="zh-CN" sz="1050" b="1" i="0" u="none" strike="noStrike">
                          <a:solidFill>
                            <a:schemeClr val="bg1"/>
                          </a:solidFill>
                          <a:effectLst/>
                          <a:latin typeface="等线" panose="02010600030101010101" pitchFamily="2" charset="-122"/>
                          <a:ea typeface="等线" panose="02010600030101010101" pitchFamily="2" charset="-122"/>
                        </a:rPr>
                        <a:t>%</a:t>
                      </a:r>
                    </a:p>
                  </a:txBody>
                  <a:tcPr marL="4763" marR="4763" marT="4763" marB="0" anchor="ctr">
                    <a:solidFill>
                      <a:schemeClr val="bg2">
                        <a:lumMod val="90000"/>
                        <a:lumOff val="10000"/>
                      </a:schemeClr>
                    </a:solidFill>
                  </a:tcPr>
                </a:tc>
                <a:tc>
                  <a:txBody>
                    <a:bodyPr/>
                    <a:lstStyle/>
                    <a:p>
                      <a:pPr algn="ctr" fontAlgn="b"/>
                      <a:r>
                        <a:rPr lang="en-US" sz="1050" b="1" i="0" u="none" strike="noStrike">
                          <a:solidFill>
                            <a:schemeClr val="bg1"/>
                          </a:solidFill>
                          <a:effectLst/>
                          <a:latin typeface="等线" panose="02010600030101010101" pitchFamily="2" charset="-122"/>
                          <a:ea typeface="等线" panose="02010600030101010101" pitchFamily="2" charset="-122"/>
                        </a:rPr>
                        <a:t>Note</a:t>
                      </a:r>
                    </a:p>
                  </a:txBody>
                  <a:tcPr marL="4763" marR="4763" marT="4763" marB="0" anchor="ctr">
                    <a:solidFill>
                      <a:schemeClr val="bg2">
                        <a:lumMod val="90000"/>
                        <a:lumOff val="10000"/>
                      </a:schemeClr>
                    </a:solidFill>
                  </a:tcPr>
                </a:tc>
                <a:extLst>
                  <a:ext uri="{0D108BD9-81ED-4DB2-BD59-A6C34878D82A}">
                    <a16:rowId xmlns:a16="http://schemas.microsoft.com/office/drawing/2014/main" val="3653663763"/>
                  </a:ext>
                </a:extLst>
              </a:tr>
              <a:tr h="368475">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1</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10</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10</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2%</a:t>
                      </a:r>
                    </a:p>
                  </a:txBody>
                  <a:tcPr marL="6350" marR="6350" marT="63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i="0" u="none" strike="noStrike">
                          <a:solidFill>
                            <a:srgbClr val="000000"/>
                          </a:solidFill>
                          <a:effectLst/>
                          <a:latin typeface="等线" panose="02010600030101010101" pitchFamily="2" charset="-122"/>
                          <a:ea typeface="等线" panose="02010600030101010101" pitchFamily="2" charset="-122"/>
                        </a:rPr>
                        <a:t>First patient in</a:t>
                      </a:r>
                    </a:p>
                  </a:txBody>
                  <a:tcPr marL="6350" marR="6350" marT="6350" marB="0" anchor="ctr"/>
                </a:tc>
                <a:extLst>
                  <a:ext uri="{0D108BD9-81ED-4DB2-BD59-A6C34878D82A}">
                    <a16:rowId xmlns:a16="http://schemas.microsoft.com/office/drawing/2014/main" val="1716873302"/>
                  </a:ext>
                </a:extLst>
              </a:tr>
              <a:tr h="368475">
                <a:tc>
                  <a:txBody>
                    <a:bodyPr/>
                    <a:lstStyle/>
                    <a:p>
                      <a:pPr algn="ctr" fontAlgn="b"/>
                      <a:r>
                        <a:rPr lang="en-US" altLang="zh-CN" sz="1400" b="1" i="0" u="none" strike="noStrike">
                          <a:solidFill>
                            <a:schemeClr val="tx1"/>
                          </a:solidFill>
                          <a:effectLst/>
                          <a:latin typeface="等线" panose="02010600030101010101" pitchFamily="2" charset="-122"/>
                          <a:ea typeface="等线" panose="02010600030101010101" pitchFamily="2" charset="-122"/>
                        </a:rPr>
                        <a:t>7</a:t>
                      </a:r>
                    </a:p>
                  </a:txBody>
                  <a:tcPr marL="6350" marR="6350" marT="6350" marB="0" anchor="ctr"/>
                </a:tc>
                <a:tc>
                  <a:txBody>
                    <a:bodyPr/>
                    <a:lstStyle/>
                    <a:p>
                      <a:pPr algn="ctr" fontAlgn="b"/>
                      <a:r>
                        <a:rPr lang="en-US" altLang="zh-CN" sz="1400" b="1" i="0" u="none" strike="noStrike">
                          <a:solidFill>
                            <a:schemeClr val="tx1"/>
                          </a:solidFill>
                          <a:effectLst/>
                          <a:latin typeface="等线" panose="02010600030101010101" pitchFamily="2" charset="-122"/>
                          <a:ea typeface="等线" panose="02010600030101010101" pitchFamily="2" charset="-122"/>
                        </a:rPr>
                        <a:t>30</a:t>
                      </a:r>
                    </a:p>
                  </a:txBody>
                  <a:tcPr marL="6350" marR="6350" marT="6350" marB="0" anchor="ctr"/>
                </a:tc>
                <a:tc>
                  <a:txBody>
                    <a:bodyPr/>
                    <a:lstStyle/>
                    <a:p>
                      <a:pPr algn="ctr" fontAlgn="b"/>
                      <a:r>
                        <a:rPr lang="en-US" altLang="zh-CN" sz="1400" b="1" i="0" u="none" strike="noStrike">
                          <a:solidFill>
                            <a:srgbClr val="FF0000"/>
                          </a:solidFill>
                          <a:effectLst/>
                          <a:latin typeface="等线" panose="02010600030101010101" pitchFamily="2" charset="-122"/>
                          <a:ea typeface="等线" panose="02010600030101010101" pitchFamily="2" charset="-122"/>
                        </a:rPr>
                        <a:t>150</a:t>
                      </a:r>
                    </a:p>
                  </a:txBody>
                  <a:tcPr marL="6350" marR="6350" marT="6350" marB="0" anchor="ctr"/>
                </a:tc>
                <a:tc>
                  <a:txBody>
                    <a:bodyPr/>
                    <a:lstStyle/>
                    <a:p>
                      <a:pPr algn="ctr" fontAlgn="b"/>
                      <a:r>
                        <a:rPr lang="en-US" altLang="zh-CN" sz="1400" b="1" i="0" u="none" strike="noStrike">
                          <a:solidFill>
                            <a:schemeClr val="tx1"/>
                          </a:solidFill>
                          <a:effectLst/>
                          <a:latin typeface="等线" panose="02010600030101010101" pitchFamily="2" charset="-122"/>
                          <a:ea typeface="等线" panose="02010600030101010101" pitchFamily="2" charset="-122"/>
                        </a:rPr>
                        <a:t>26%</a:t>
                      </a:r>
                    </a:p>
                  </a:txBody>
                  <a:tcPr marL="6350" marR="6350" marT="6350" marB="0" anchor="ctr"/>
                </a:tc>
                <a:tc>
                  <a:txBody>
                    <a:bodyPr/>
                    <a:lstStyle/>
                    <a:p>
                      <a:pPr algn="ctr" fontAlgn="b"/>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591613570"/>
                  </a:ext>
                </a:extLst>
              </a:tr>
              <a:tr h="368475">
                <a:tc>
                  <a:txBody>
                    <a:bodyPr/>
                    <a:lstStyle/>
                    <a:p>
                      <a:pPr algn="ctr" fontAlgn="b"/>
                      <a:r>
                        <a:rPr lang="en-US" altLang="zh-CN" sz="1400" b="1" i="0" u="none" strike="noStrike">
                          <a:solidFill>
                            <a:schemeClr val="tx1"/>
                          </a:solidFill>
                          <a:effectLst/>
                          <a:latin typeface="等线" panose="02010600030101010101" pitchFamily="2" charset="-122"/>
                          <a:ea typeface="等线" panose="02010600030101010101" pitchFamily="2" charset="-122"/>
                        </a:rPr>
                        <a:t>8</a:t>
                      </a:r>
                    </a:p>
                  </a:txBody>
                  <a:tcPr marL="6350" marR="6350" marT="6350" marB="0" anchor="ctr"/>
                </a:tc>
                <a:tc>
                  <a:txBody>
                    <a:bodyPr/>
                    <a:lstStyle/>
                    <a:p>
                      <a:pPr algn="ctr" fontAlgn="b"/>
                      <a:r>
                        <a:rPr lang="en-US" altLang="zh-CN" sz="1400" b="1" i="0" u="none" strike="noStrike">
                          <a:solidFill>
                            <a:schemeClr val="tx1"/>
                          </a:solidFill>
                          <a:effectLst/>
                          <a:latin typeface="等线" panose="02010600030101010101" pitchFamily="2" charset="-122"/>
                          <a:ea typeface="等线" panose="02010600030101010101" pitchFamily="2" charset="-122"/>
                        </a:rPr>
                        <a:t>32</a:t>
                      </a:r>
                    </a:p>
                  </a:txBody>
                  <a:tcPr marL="6350" marR="6350" marT="6350" marB="0" anchor="ctr"/>
                </a:tc>
                <a:tc>
                  <a:txBody>
                    <a:bodyPr/>
                    <a:lstStyle/>
                    <a:p>
                      <a:pPr algn="ctr" fontAlgn="b"/>
                      <a:r>
                        <a:rPr lang="en-US" altLang="zh-CN" sz="1400" b="1" i="0" u="none" strike="noStrike">
                          <a:solidFill>
                            <a:srgbClr val="FF0000"/>
                          </a:solidFill>
                          <a:effectLst/>
                          <a:latin typeface="等线" panose="02010600030101010101" pitchFamily="2" charset="-122"/>
                          <a:ea typeface="等线" panose="02010600030101010101" pitchFamily="2" charset="-122"/>
                        </a:rPr>
                        <a:t>182</a:t>
                      </a:r>
                    </a:p>
                  </a:txBody>
                  <a:tcPr marL="6350" marR="6350" marT="6350" marB="0" anchor="ctr"/>
                </a:tc>
                <a:tc>
                  <a:txBody>
                    <a:bodyPr/>
                    <a:lstStyle/>
                    <a:p>
                      <a:pPr algn="ctr" fontAlgn="b"/>
                      <a:r>
                        <a:rPr lang="en-US" altLang="zh-CN" sz="1400" b="1" i="0" u="none" strike="noStrike">
                          <a:solidFill>
                            <a:schemeClr val="tx1"/>
                          </a:solidFill>
                          <a:effectLst/>
                          <a:latin typeface="等线" panose="02010600030101010101" pitchFamily="2" charset="-122"/>
                          <a:ea typeface="等线" panose="02010600030101010101" pitchFamily="2" charset="-122"/>
                        </a:rPr>
                        <a:t>32%</a:t>
                      </a:r>
                    </a:p>
                  </a:txBody>
                  <a:tcPr marL="6350" marR="6350" marT="6350" marB="0" anchor="ctr"/>
                </a:tc>
                <a:tc>
                  <a:txBody>
                    <a:bodyPr/>
                    <a:lstStyle/>
                    <a:p>
                      <a:pPr algn="ctr" fontAlgn="b"/>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996650694"/>
                  </a:ext>
                </a:extLst>
              </a:tr>
              <a:tr h="368475">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9</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34</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216</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38%</a:t>
                      </a:r>
                    </a:p>
                  </a:txBody>
                  <a:tcPr marL="6350" marR="6350" marT="6350" marB="0" anchor="ctr"/>
                </a:tc>
                <a:tc>
                  <a:txBody>
                    <a:bodyPr/>
                    <a:lstStyle/>
                    <a:p>
                      <a:pPr algn="ctr" fontAlgn="b"/>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865732552"/>
                  </a:ext>
                </a:extLst>
              </a:tr>
              <a:tr h="368475">
                <a:tc>
                  <a:txBody>
                    <a:bodyPr/>
                    <a:lstStyle/>
                    <a:p>
                      <a:pPr algn="ctr" fontAlgn="b"/>
                      <a:r>
                        <a:rPr lang="en-US" altLang="zh-CN" sz="1400" b="0" i="0" u="none" strike="noStrike">
                          <a:solidFill>
                            <a:schemeClr val="tx1"/>
                          </a:solidFill>
                          <a:effectLst/>
                          <a:latin typeface="等线" panose="02010600030101010101" pitchFamily="2" charset="-122"/>
                          <a:ea typeface="等线" panose="02010600030101010101" pitchFamily="2" charset="-122"/>
                        </a:rPr>
                        <a:t>10</a:t>
                      </a:r>
                    </a:p>
                  </a:txBody>
                  <a:tcPr marL="6350" marR="6350" marT="6350" marB="0" anchor="ctr"/>
                </a:tc>
                <a:tc>
                  <a:txBody>
                    <a:bodyPr/>
                    <a:lstStyle/>
                    <a:p>
                      <a:pPr algn="ctr" fontAlgn="b"/>
                      <a:r>
                        <a:rPr lang="en-US" altLang="zh-CN" sz="1400" b="0" i="0" u="none" strike="noStrike">
                          <a:solidFill>
                            <a:schemeClr val="tx1"/>
                          </a:solidFill>
                          <a:effectLst/>
                          <a:latin typeface="等线" panose="02010600030101010101" pitchFamily="2" charset="-122"/>
                          <a:ea typeface="等线" panose="02010600030101010101" pitchFamily="2" charset="-122"/>
                        </a:rPr>
                        <a:t>38</a:t>
                      </a:r>
                    </a:p>
                  </a:txBody>
                  <a:tcPr marL="6350" marR="6350" marT="6350" marB="0" anchor="ctr"/>
                </a:tc>
                <a:tc>
                  <a:txBody>
                    <a:bodyPr/>
                    <a:lstStyle/>
                    <a:p>
                      <a:pPr algn="ctr" fontAlgn="b"/>
                      <a:r>
                        <a:rPr lang="en-US" altLang="zh-CN" sz="1400" b="0" i="0" u="none" strike="noStrike">
                          <a:solidFill>
                            <a:schemeClr val="tx1"/>
                          </a:solidFill>
                          <a:effectLst/>
                          <a:latin typeface="等线" panose="02010600030101010101" pitchFamily="2" charset="-122"/>
                          <a:ea typeface="等线" panose="02010600030101010101" pitchFamily="2" charset="-122"/>
                        </a:rPr>
                        <a:t>254</a:t>
                      </a:r>
                    </a:p>
                  </a:txBody>
                  <a:tcPr marL="6350" marR="6350" marT="6350" marB="0" anchor="ctr"/>
                </a:tc>
                <a:tc>
                  <a:txBody>
                    <a:bodyPr/>
                    <a:lstStyle/>
                    <a:p>
                      <a:pPr algn="ctr" fontAlgn="b"/>
                      <a:r>
                        <a:rPr lang="en-US" altLang="zh-CN" sz="1400" b="0" i="0" u="none" strike="noStrike">
                          <a:solidFill>
                            <a:schemeClr val="tx1"/>
                          </a:solidFill>
                          <a:effectLst/>
                          <a:latin typeface="等线" panose="02010600030101010101" pitchFamily="2" charset="-122"/>
                          <a:ea typeface="等线" panose="02010600030101010101" pitchFamily="2" charset="-122"/>
                        </a:rPr>
                        <a:t>44%</a:t>
                      </a:r>
                    </a:p>
                  </a:txBody>
                  <a:tcPr marL="6350" marR="6350" marT="6350" marB="0" anchor="ctr"/>
                </a:tc>
                <a:tc>
                  <a:txBody>
                    <a:bodyPr/>
                    <a:lstStyle/>
                    <a:p>
                      <a:pPr algn="ctr" fontAlgn="b"/>
                      <a:endParaRPr lang="en-US" altLang="zh-CN" sz="120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681078212"/>
                  </a:ext>
                </a:extLst>
              </a:tr>
              <a:tr h="368475">
                <a:tc>
                  <a:txBody>
                    <a:bodyPr/>
                    <a:lstStyle/>
                    <a:p>
                      <a:pPr algn="ctr" fontAlgn="b"/>
                      <a:r>
                        <a:rPr lang="en-US" altLang="zh-CN" sz="1400" b="1" i="0" u="none" strike="noStrike" dirty="0">
                          <a:solidFill>
                            <a:schemeClr val="tx1"/>
                          </a:solidFill>
                          <a:effectLst/>
                          <a:latin typeface="等线" panose="02010600030101010101" pitchFamily="2" charset="-122"/>
                          <a:ea typeface="等线" panose="02010600030101010101" pitchFamily="2" charset="-122"/>
                        </a:rPr>
                        <a:t>11</a:t>
                      </a:r>
                    </a:p>
                  </a:txBody>
                  <a:tcPr marL="6350" marR="6350" marT="6350" marB="0" anchor="ctr"/>
                </a:tc>
                <a:tc>
                  <a:txBody>
                    <a:bodyPr/>
                    <a:lstStyle/>
                    <a:p>
                      <a:pPr algn="ctr" fontAlgn="b"/>
                      <a:r>
                        <a:rPr lang="en-US" altLang="zh-CN" sz="1400" b="1" i="0" u="none" strike="noStrike" dirty="0">
                          <a:solidFill>
                            <a:schemeClr val="tx1"/>
                          </a:solidFill>
                          <a:effectLst/>
                          <a:latin typeface="等线" panose="02010600030101010101" pitchFamily="2" charset="-122"/>
                          <a:ea typeface="等线" panose="02010600030101010101" pitchFamily="2" charset="-122"/>
                        </a:rPr>
                        <a:t>38</a:t>
                      </a:r>
                    </a:p>
                  </a:txBody>
                  <a:tcPr marL="6350" marR="6350" marT="6350" marB="0" anchor="ctr"/>
                </a:tc>
                <a:tc>
                  <a:txBody>
                    <a:bodyPr/>
                    <a:lstStyle/>
                    <a:p>
                      <a:pPr algn="ctr" fontAlgn="b"/>
                      <a:r>
                        <a:rPr lang="en-US" altLang="zh-CN" sz="1400" b="1" i="0" u="none" strike="noStrike" dirty="0">
                          <a:solidFill>
                            <a:srgbClr val="FF0000"/>
                          </a:solidFill>
                          <a:effectLst/>
                          <a:latin typeface="等线" panose="02010600030101010101" pitchFamily="2" charset="-122"/>
                          <a:ea typeface="等线" panose="02010600030101010101" pitchFamily="2" charset="-122"/>
                        </a:rPr>
                        <a:t>292</a:t>
                      </a:r>
                    </a:p>
                  </a:txBody>
                  <a:tcPr marL="6350" marR="6350" marT="6350" marB="0" anchor="ctr"/>
                </a:tc>
                <a:tc>
                  <a:txBody>
                    <a:bodyPr/>
                    <a:lstStyle/>
                    <a:p>
                      <a:pPr algn="ctr" fontAlgn="b"/>
                      <a:r>
                        <a:rPr lang="en-US" altLang="zh-CN" sz="1400" b="1" i="0" u="none" strike="noStrike">
                          <a:solidFill>
                            <a:schemeClr val="tx1"/>
                          </a:solidFill>
                          <a:effectLst/>
                          <a:latin typeface="等线" panose="02010600030101010101" pitchFamily="2" charset="-122"/>
                          <a:ea typeface="等线" panose="02010600030101010101" pitchFamily="2" charset="-122"/>
                        </a:rPr>
                        <a:t>51%</a:t>
                      </a:r>
                    </a:p>
                  </a:txBody>
                  <a:tcPr marL="6350" marR="6350" marT="6350" marB="0" anchor="ctr"/>
                </a:tc>
                <a:tc>
                  <a:txBody>
                    <a:bodyPr/>
                    <a:lstStyle/>
                    <a:p>
                      <a:pPr algn="ctr" fontAlgn="b"/>
                      <a:r>
                        <a:rPr lang="en-US" altLang="zh-CN" sz="1200" b="1" i="0" u="none" strike="noStrike" dirty="0">
                          <a:solidFill>
                            <a:srgbClr val="000000"/>
                          </a:solidFill>
                          <a:effectLst/>
                          <a:latin typeface="等线" panose="02010600030101010101" pitchFamily="2" charset="-122"/>
                          <a:ea typeface="等线" panose="02010600030101010101" pitchFamily="2" charset="-122"/>
                        </a:rPr>
                        <a:t>Futility Interim </a:t>
                      </a:r>
                    </a:p>
                  </a:txBody>
                  <a:tcPr marL="6350" marR="6350" marT="6350" marB="0" anchor="ctr"/>
                </a:tc>
                <a:extLst>
                  <a:ext uri="{0D108BD9-81ED-4DB2-BD59-A6C34878D82A}">
                    <a16:rowId xmlns:a16="http://schemas.microsoft.com/office/drawing/2014/main" val="2247409799"/>
                  </a:ext>
                </a:extLst>
              </a:tr>
              <a:tr h="368475">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12</a:t>
                      </a:r>
                    </a:p>
                  </a:txBody>
                  <a:tcPr marL="6350" marR="6350" marT="6350" marB="0" anchor="ctr"/>
                </a:tc>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40</a:t>
                      </a:r>
                    </a:p>
                  </a:txBody>
                  <a:tcPr marL="6350" marR="6350" marT="6350" marB="0" anchor="ctr"/>
                </a:tc>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332</a:t>
                      </a:r>
                    </a:p>
                  </a:txBody>
                  <a:tcPr marL="6350" marR="6350" marT="6350" marB="0" anchor="ctr"/>
                </a:tc>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58%</a:t>
                      </a:r>
                    </a:p>
                  </a:txBody>
                  <a:tcPr marL="6350" marR="6350" marT="63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i="0" u="none" strike="noStrike">
                          <a:solidFill>
                            <a:srgbClr val="000000"/>
                          </a:solidFill>
                          <a:effectLst/>
                          <a:latin typeface="等线" panose="02010600030101010101" pitchFamily="2" charset="-122"/>
                          <a:ea typeface="等线" panose="02010600030101010101" pitchFamily="2" charset="-122"/>
                        </a:rPr>
                        <a:t>Futility Interim </a:t>
                      </a:r>
                    </a:p>
                  </a:txBody>
                  <a:tcPr marL="6350" marR="6350" marT="6350" marB="0" anchor="ctr"/>
                </a:tc>
                <a:extLst>
                  <a:ext uri="{0D108BD9-81ED-4DB2-BD59-A6C34878D82A}">
                    <a16:rowId xmlns:a16="http://schemas.microsoft.com/office/drawing/2014/main" val="231395081"/>
                  </a:ext>
                </a:extLst>
              </a:tr>
              <a:tr h="368475">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13</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40</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372</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65%</a:t>
                      </a:r>
                    </a:p>
                  </a:txBody>
                  <a:tcPr marL="6350" marR="6350" marT="6350" marB="0" anchor="ctr"/>
                </a:tc>
                <a:tc>
                  <a:txBody>
                    <a:bodyPr/>
                    <a:lstStyle/>
                    <a:p>
                      <a:pPr algn="ctr" fontAlgn="b"/>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837022125"/>
                  </a:ext>
                </a:extLst>
              </a:tr>
              <a:tr h="368475">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14</a:t>
                      </a:r>
                    </a:p>
                  </a:txBody>
                  <a:tcPr marL="6350" marR="6350" marT="6350"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40</a:t>
                      </a:r>
                    </a:p>
                  </a:txBody>
                  <a:tcPr marL="6350" marR="6350" marT="6350" marB="0" anchor="ctr"/>
                </a:tc>
                <a:tc>
                  <a:txBody>
                    <a:bodyPr/>
                    <a:lstStyle/>
                    <a:p>
                      <a:pPr algn="ctr" fontAlgn="b"/>
                      <a:r>
                        <a:rPr lang="en-US" altLang="zh-CN" sz="1400" b="1" i="0" u="none" strike="noStrike" dirty="0">
                          <a:solidFill>
                            <a:srgbClr val="FF0000"/>
                          </a:solidFill>
                          <a:effectLst/>
                          <a:latin typeface="等线" panose="02010600030101010101" pitchFamily="2" charset="-122"/>
                          <a:ea typeface="等线" panose="02010600030101010101" pitchFamily="2" charset="-122"/>
                        </a:rPr>
                        <a:t>412</a:t>
                      </a:r>
                    </a:p>
                  </a:txBody>
                  <a:tcPr marL="6350" marR="6350" marT="6350"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72%</a:t>
                      </a:r>
                    </a:p>
                  </a:txBody>
                  <a:tcPr marL="6350" marR="6350" marT="6350" marB="0" anchor="ctr"/>
                </a:tc>
                <a:tc>
                  <a:txBody>
                    <a:bodyPr/>
                    <a:lstStyle/>
                    <a:p>
                      <a:pPr algn="ctr" fontAlgn="b"/>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455291360"/>
                  </a:ext>
                </a:extLst>
              </a:tr>
              <a:tr h="368475">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15</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40</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452</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79%</a:t>
                      </a:r>
                    </a:p>
                  </a:txBody>
                  <a:tcPr marL="6350" marR="6350" marT="6350" marB="0" anchor="ctr"/>
                </a:tc>
                <a:tc>
                  <a:txBody>
                    <a:bodyPr/>
                    <a:lstStyle/>
                    <a:p>
                      <a:pPr marL="0" marR="0" lvl="0" indent="0" algn="ctr" defTabSz="914354" rtl="0" eaLnBrk="1" fontAlgn="b" latinLnBrk="0" hangingPunct="1">
                        <a:lnSpc>
                          <a:spcPct val="100000"/>
                        </a:lnSpc>
                        <a:spcBef>
                          <a:spcPts val="0"/>
                        </a:spcBef>
                        <a:spcAft>
                          <a:spcPts val="0"/>
                        </a:spcAft>
                        <a:buClrTx/>
                        <a:buSzTx/>
                        <a:buFontTx/>
                        <a:buNone/>
                        <a:tabLst/>
                        <a:defRPr/>
                      </a:pPr>
                      <a:r>
                        <a:rPr lang="en-US" altLang="zh-CN" sz="1200" b="1" i="0" u="none" strike="noStrike" dirty="0">
                          <a:solidFill>
                            <a:srgbClr val="000000"/>
                          </a:solidFill>
                          <a:effectLst/>
                          <a:latin typeface="等线" panose="02010600030101010101" pitchFamily="2" charset="-122"/>
                          <a:ea typeface="等线" panose="02010600030101010101" pitchFamily="2" charset="-122"/>
                        </a:rPr>
                        <a:t>Efficacy Interim </a:t>
                      </a:r>
                    </a:p>
                  </a:txBody>
                  <a:tcPr marL="6350" marR="6350" marT="6350" marB="0" anchor="ctr"/>
                </a:tc>
                <a:extLst>
                  <a:ext uri="{0D108BD9-81ED-4DB2-BD59-A6C34878D82A}">
                    <a16:rowId xmlns:a16="http://schemas.microsoft.com/office/drawing/2014/main" val="1776854130"/>
                  </a:ext>
                </a:extLst>
              </a:tr>
              <a:tr h="368475">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16</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40</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492</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86%</a:t>
                      </a:r>
                    </a:p>
                  </a:txBody>
                  <a:tcPr marL="6350" marR="6350" marT="6350" marB="0" anchor="ctr"/>
                </a:tc>
                <a:tc>
                  <a:txBody>
                    <a:bodyPr/>
                    <a:lstStyle/>
                    <a:p>
                      <a:pPr algn="ctr" fontAlgn="b"/>
                      <a:endParaRPr lang="en-US" altLang="zh-CN" sz="120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615352581"/>
                  </a:ext>
                </a:extLst>
              </a:tr>
              <a:tr h="368475">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17</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40</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532</a:t>
                      </a:r>
                    </a:p>
                  </a:txBody>
                  <a:tcPr marL="6350" marR="6350" marT="6350"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93%</a:t>
                      </a:r>
                    </a:p>
                  </a:txBody>
                  <a:tcPr marL="6350" marR="6350" marT="6350" marB="0" anchor="ctr"/>
                </a:tc>
                <a:tc>
                  <a:txBody>
                    <a:bodyPr/>
                    <a:lstStyle/>
                    <a:p>
                      <a:pPr marL="0" marR="0" lvl="0" indent="0" algn="ctr" defTabSz="914354" rtl="0" eaLnBrk="1" fontAlgn="b" latinLnBrk="0" hangingPunct="1">
                        <a:lnSpc>
                          <a:spcPct val="100000"/>
                        </a:lnSpc>
                        <a:spcBef>
                          <a:spcPts val="0"/>
                        </a:spcBef>
                        <a:spcAft>
                          <a:spcPts val="0"/>
                        </a:spcAft>
                        <a:buClrTx/>
                        <a:buSzTx/>
                        <a:buFontTx/>
                        <a:buNone/>
                        <a:tabLst/>
                        <a:defRPr/>
                      </a:pPr>
                      <a:r>
                        <a:rPr lang="en-US" altLang="zh-CN" sz="1200" b="1" i="0" u="none" strike="noStrike" dirty="0">
                          <a:solidFill>
                            <a:srgbClr val="000000"/>
                          </a:solidFill>
                          <a:effectLst/>
                          <a:latin typeface="等线" panose="02010600030101010101" pitchFamily="2" charset="-122"/>
                          <a:ea typeface="等线" panose="02010600030101010101" pitchFamily="2" charset="-122"/>
                        </a:rPr>
                        <a:t>Efficacy Interim </a:t>
                      </a:r>
                    </a:p>
                  </a:txBody>
                  <a:tcPr marL="6350" marR="6350" marT="6350" marB="0" anchor="ctr"/>
                </a:tc>
                <a:extLst>
                  <a:ext uri="{0D108BD9-81ED-4DB2-BD59-A6C34878D82A}">
                    <a16:rowId xmlns:a16="http://schemas.microsoft.com/office/drawing/2014/main" val="1407157991"/>
                  </a:ext>
                </a:extLst>
              </a:tr>
              <a:tr h="368475">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18</a:t>
                      </a:r>
                    </a:p>
                  </a:txBody>
                  <a:tcPr marL="6350" marR="6350" marT="6350"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40</a:t>
                      </a:r>
                    </a:p>
                  </a:txBody>
                  <a:tcPr marL="6350" marR="6350" marT="6350"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572</a:t>
                      </a:r>
                    </a:p>
                  </a:txBody>
                  <a:tcPr marL="6350" marR="6350" marT="6350"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100%</a:t>
                      </a:r>
                    </a:p>
                  </a:txBody>
                  <a:tcPr marL="6350" marR="6350" marT="6350" marB="0"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altLang="zh-CN" sz="1200" b="1" i="0" u="none" strike="noStrike" dirty="0">
                          <a:solidFill>
                            <a:srgbClr val="000000"/>
                          </a:solidFill>
                          <a:effectLst/>
                          <a:latin typeface="等线" panose="02010600030101010101" pitchFamily="2" charset="-122"/>
                          <a:ea typeface="等线" panose="02010600030101010101" pitchFamily="2" charset="-122"/>
                        </a:rPr>
                        <a:t>Last patient in</a:t>
                      </a:r>
                    </a:p>
                  </a:txBody>
                  <a:tcPr marL="6350" marR="6350" marT="6350" marB="0" anchor="ctr"/>
                </a:tc>
                <a:extLst>
                  <a:ext uri="{0D108BD9-81ED-4DB2-BD59-A6C34878D82A}">
                    <a16:rowId xmlns:a16="http://schemas.microsoft.com/office/drawing/2014/main" val="2464894755"/>
                  </a:ext>
                </a:extLst>
              </a:tr>
            </a:tbl>
          </a:graphicData>
        </a:graphic>
      </p:graphicFrame>
      <p:sp>
        <p:nvSpPr>
          <p:cNvPr id="4" name="箭头: 右弧形 3">
            <a:extLst>
              <a:ext uri="{FF2B5EF4-FFF2-40B4-BE49-F238E27FC236}">
                <a16:creationId xmlns:a16="http://schemas.microsoft.com/office/drawing/2014/main" id="{6621D6AF-92A4-0B9F-638E-650F330C6FEC}"/>
              </a:ext>
            </a:extLst>
          </p:cNvPr>
          <p:cNvSpPr/>
          <p:nvPr/>
        </p:nvSpPr>
        <p:spPr bwMode="gray">
          <a:xfrm>
            <a:off x="3141312" y="2052381"/>
            <a:ext cx="245061" cy="1550452"/>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微软雅黑"/>
              <a:cs typeface="+mn-cs"/>
            </a:endParaRPr>
          </a:p>
        </p:txBody>
      </p:sp>
      <p:sp>
        <p:nvSpPr>
          <p:cNvPr id="5" name="箭头: 右弧形 4">
            <a:extLst>
              <a:ext uri="{FF2B5EF4-FFF2-40B4-BE49-F238E27FC236}">
                <a16:creationId xmlns:a16="http://schemas.microsoft.com/office/drawing/2014/main" id="{F7A13B65-A551-7863-EF6D-4C767AD3FE84}"/>
              </a:ext>
            </a:extLst>
          </p:cNvPr>
          <p:cNvSpPr/>
          <p:nvPr/>
        </p:nvSpPr>
        <p:spPr bwMode="gray">
          <a:xfrm>
            <a:off x="3141312" y="2454200"/>
            <a:ext cx="245061" cy="1550452"/>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微软雅黑"/>
              <a:cs typeface="+mn-cs"/>
            </a:endParaRPr>
          </a:p>
        </p:txBody>
      </p:sp>
      <p:sp>
        <p:nvSpPr>
          <p:cNvPr id="11" name="文本框 10">
            <a:extLst>
              <a:ext uri="{FF2B5EF4-FFF2-40B4-BE49-F238E27FC236}">
                <a16:creationId xmlns:a16="http://schemas.microsoft.com/office/drawing/2014/main" id="{07BC9892-2090-7FDD-9C80-37C353A101BA}"/>
              </a:ext>
            </a:extLst>
          </p:cNvPr>
          <p:cNvSpPr txBox="1"/>
          <p:nvPr/>
        </p:nvSpPr>
        <p:spPr bwMode="gray">
          <a:xfrm>
            <a:off x="4864608" y="1074678"/>
            <a:ext cx="6675120" cy="2768387"/>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Futility interim is not recommended </a:t>
            </a:r>
          </a:p>
          <a:p>
            <a:pPr marL="742950" lvl="1" indent="-285750">
              <a:lnSpc>
                <a:spcPct val="140000"/>
              </a:lnSpc>
              <a:buFont typeface="Wingdings" panose="05000000000000000000" pitchFamily="2" charset="2"/>
              <a:buChar char="Ø"/>
            </a:pPr>
            <a:r>
              <a:rPr lang="en-US" altLang="zh-CN" sz="1600" dirty="0">
                <a:solidFill>
                  <a:prstClr val="black"/>
                </a:solidFill>
                <a:latin typeface="Boehringer Forward Text"/>
              </a:rPr>
              <a:t>There is</a:t>
            </a: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 less uncertainty on the treatment effect.</a:t>
            </a:r>
          </a:p>
          <a:p>
            <a:pPr marL="742950" lvl="1" indent="-285750">
              <a:lnSpc>
                <a:spcPct val="140000"/>
              </a:lnSpc>
              <a:buFont typeface="Wingdings" panose="05000000000000000000" pitchFamily="2" charset="2"/>
              <a:buChar char="Ø"/>
            </a:pP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Small sample size result in low reliability.</a:t>
            </a: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lang="en-US" altLang="zh-CN" sz="1600" dirty="0">
                <a:solidFill>
                  <a:prstClr val="black"/>
                </a:solidFill>
                <a:latin typeface="Boehringer Forward Text"/>
              </a:rPr>
              <a:t>Efficacy Interim benefits less</a:t>
            </a:r>
          </a:p>
          <a:p>
            <a:pPr marL="742950" lvl="1" indent="-285750">
              <a:lnSpc>
                <a:spcPct val="140000"/>
              </a:lnSpc>
              <a:buFont typeface="Wingdings" panose="05000000000000000000" pitchFamily="2" charset="2"/>
              <a:buChar char="Ø"/>
            </a:pPr>
            <a:r>
              <a:rPr lang="en-US" altLang="zh-CN" sz="1600" dirty="0">
                <a:solidFill>
                  <a:prstClr val="black"/>
                </a:solidFill>
                <a:latin typeface="Boehringer Forward Text"/>
              </a:rPr>
              <a:t>The investigator doesn’t accept early</a:t>
            </a:r>
            <a:r>
              <a:rPr lang="zh-CN" altLang="en-US" sz="1600" dirty="0">
                <a:solidFill>
                  <a:prstClr val="black"/>
                </a:solidFill>
                <a:latin typeface="Boehringer Forward Text"/>
              </a:rPr>
              <a:t> </a:t>
            </a:r>
            <a:r>
              <a:rPr lang="en-US" altLang="zh-CN" sz="1600" dirty="0">
                <a:solidFill>
                  <a:prstClr val="black"/>
                </a:solidFill>
                <a:latin typeface="Boehringer Forward Text"/>
              </a:rPr>
              <a:t>stop</a:t>
            </a:r>
            <a:r>
              <a:rPr lang="zh-CN" altLang="en-US" sz="1600" dirty="0">
                <a:solidFill>
                  <a:prstClr val="black"/>
                </a:solidFill>
                <a:latin typeface="Boehringer Forward Text"/>
              </a:rPr>
              <a:t> </a:t>
            </a:r>
            <a:r>
              <a:rPr lang="en-US" altLang="zh-CN" sz="1600" dirty="0">
                <a:solidFill>
                  <a:prstClr val="black"/>
                </a:solidFill>
                <a:latin typeface="Boehringer Forward Text"/>
              </a:rPr>
              <a:t>at interim considering low reliability result and potential challenge from reviewer.</a:t>
            </a:r>
          </a:p>
          <a:p>
            <a:pPr marL="285750" indent="-285750">
              <a:lnSpc>
                <a:spcPct val="140000"/>
              </a:lnSpc>
              <a:buFont typeface="Wingdings" panose="05000000000000000000" pitchFamily="2" charset="2"/>
              <a:buChar char="p"/>
            </a:pPr>
            <a:r>
              <a:rPr lang="en-US" altLang="zh-CN" sz="1600" dirty="0">
                <a:solidFill>
                  <a:prstClr val="black"/>
                </a:solidFill>
                <a:latin typeface="Boehringer Forward Text"/>
              </a:rPr>
              <a:t>DMC is recommended for safety and efficacy evaluation</a:t>
            </a:r>
            <a:endParaRPr lang="en-US" altLang="zh-CN" dirty="0">
              <a:solidFill>
                <a:prstClr val="black"/>
              </a:solidFill>
              <a:latin typeface="Boehringer Forward Text"/>
            </a:endParaRPr>
          </a:p>
        </p:txBody>
      </p:sp>
      <p:sp>
        <p:nvSpPr>
          <p:cNvPr id="7" name="箭头: 右弧形 2">
            <a:extLst>
              <a:ext uri="{FF2B5EF4-FFF2-40B4-BE49-F238E27FC236}">
                <a16:creationId xmlns:a16="http://schemas.microsoft.com/office/drawing/2014/main" id="{066ED0EB-6CE1-013C-862D-FBE75B428AA4}"/>
              </a:ext>
            </a:extLst>
          </p:cNvPr>
          <p:cNvSpPr/>
          <p:nvPr/>
        </p:nvSpPr>
        <p:spPr bwMode="gray">
          <a:xfrm>
            <a:off x="3141312" y="3602833"/>
            <a:ext cx="170373" cy="1472087"/>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微软雅黑"/>
              <a:cs typeface="+mn-cs"/>
            </a:endParaRPr>
          </a:p>
        </p:txBody>
      </p:sp>
      <p:sp>
        <p:nvSpPr>
          <p:cNvPr id="8" name="箭头: 右弧形 2">
            <a:extLst>
              <a:ext uri="{FF2B5EF4-FFF2-40B4-BE49-F238E27FC236}">
                <a16:creationId xmlns:a16="http://schemas.microsoft.com/office/drawing/2014/main" id="{85FD880F-1126-4D11-9FC7-879BEAB6AA74}"/>
              </a:ext>
            </a:extLst>
          </p:cNvPr>
          <p:cNvSpPr/>
          <p:nvPr/>
        </p:nvSpPr>
        <p:spPr bwMode="gray">
          <a:xfrm>
            <a:off x="3141312" y="4578672"/>
            <a:ext cx="245061" cy="1550452"/>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Calibri"/>
              <a:ea typeface="微软雅黑"/>
              <a:cs typeface="+mn-cs"/>
            </a:endParaRPr>
          </a:p>
        </p:txBody>
      </p:sp>
      <p:graphicFrame>
        <p:nvGraphicFramePr>
          <p:cNvPr id="9" name="表格 4">
            <a:extLst>
              <a:ext uri="{FF2B5EF4-FFF2-40B4-BE49-F238E27FC236}">
                <a16:creationId xmlns:a16="http://schemas.microsoft.com/office/drawing/2014/main" id="{D422DB3B-8F3A-D3C7-F4FB-4724B5D38160}"/>
              </a:ext>
            </a:extLst>
          </p:cNvPr>
          <p:cNvGraphicFramePr>
            <a:graphicFrameLocks noGrp="1"/>
          </p:cNvGraphicFramePr>
          <p:nvPr/>
        </p:nvGraphicFramePr>
        <p:xfrm>
          <a:off x="4864608" y="4185205"/>
          <a:ext cx="6571258" cy="1664027"/>
        </p:xfrm>
        <a:graphic>
          <a:graphicData uri="http://schemas.openxmlformats.org/drawingml/2006/table">
            <a:tbl>
              <a:tblPr firstRow="1" bandRow="1">
                <a:tableStyleId>{5C22544A-7EE6-4342-B048-85BDC9FD1C3A}</a:tableStyleId>
              </a:tblPr>
              <a:tblGrid>
                <a:gridCol w="1194586">
                  <a:extLst>
                    <a:ext uri="{9D8B030D-6E8A-4147-A177-3AD203B41FA5}">
                      <a16:colId xmlns:a16="http://schemas.microsoft.com/office/drawing/2014/main" val="3514675261"/>
                    </a:ext>
                  </a:extLst>
                </a:gridCol>
                <a:gridCol w="1124712">
                  <a:extLst>
                    <a:ext uri="{9D8B030D-6E8A-4147-A177-3AD203B41FA5}">
                      <a16:colId xmlns:a16="http://schemas.microsoft.com/office/drawing/2014/main" val="2361801452"/>
                    </a:ext>
                  </a:extLst>
                </a:gridCol>
                <a:gridCol w="1727474">
                  <a:extLst>
                    <a:ext uri="{9D8B030D-6E8A-4147-A177-3AD203B41FA5}">
                      <a16:colId xmlns:a16="http://schemas.microsoft.com/office/drawing/2014/main" val="3221772147"/>
                    </a:ext>
                  </a:extLst>
                </a:gridCol>
                <a:gridCol w="1107166">
                  <a:extLst>
                    <a:ext uri="{9D8B030D-6E8A-4147-A177-3AD203B41FA5}">
                      <a16:colId xmlns:a16="http://schemas.microsoft.com/office/drawing/2014/main" val="2317488966"/>
                    </a:ext>
                  </a:extLst>
                </a:gridCol>
                <a:gridCol w="1417320">
                  <a:extLst>
                    <a:ext uri="{9D8B030D-6E8A-4147-A177-3AD203B41FA5}">
                      <a16:colId xmlns:a16="http://schemas.microsoft.com/office/drawing/2014/main" val="1349826555"/>
                    </a:ext>
                  </a:extLst>
                </a:gridCol>
              </a:tblGrid>
              <a:tr h="617968">
                <a:tc>
                  <a:txBody>
                    <a:bodyPr/>
                    <a:lstStyle/>
                    <a:p>
                      <a:pPr algn="ctr" fontAlgn="ct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Infor. fraction</a:t>
                      </a:r>
                    </a:p>
                  </a:txBody>
                  <a:tcPr marL="68580" marR="68580" marT="34290" marB="34290" anchor="ctr"/>
                </a:tc>
                <a:tc>
                  <a:txBody>
                    <a:bodyPr/>
                    <a:lstStyle/>
                    <a:p>
                      <a:pPr algn="ctr" fontAlgn="ct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Power for interim </a:t>
                      </a:r>
                    </a:p>
                  </a:txBody>
                  <a:tcPr marL="4763" marR="4763" marT="4763" marB="0" anchor="ctr"/>
                </a:tc>
                <a:tc>
                  <a:txBody>
                    <a:bodyPr/>
                    <a:lstStyle/>
                    <a:p>
                      <a:pPr algn="ct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Min. Detectable </a:t>
                      </a:r>
                      <a:r>
                        <a:rPr lang="en-US" altLang="zh-CN" sz="1600" b="1" i="0" u="none" strike="noStrike" kern="1200" dirty="0" err="1">
                          <a:solidFill>
                            <a:schemeClr val="bg1"/>
                          </a:solidFill>
                          <a:effectLst/>
                          <a:latin typeface="等线" panose="02010600030101010101" pitchFamily="2" charset="-122"/>
                          <a:ea typeface="等线" panose="02010600030101010101" pitchFamily="2" charset="-122"/>
                          <a:cs typeface="+mn-cs"/>
                        </a:rPr>
                        <a:t>cOR</a:t>
                      </a: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 - interim</a:t>
                      </a:r>
                      <a:endParaRPr lang="zh-CN" altLang="en-US" sz="1600" b="1" i="0" u="none" strike="noStrike" kern="1200" dirty="0">
                        <a:solidFill>
                          <a:schemeClr val="bg1"/>
                        </a:solidFill>
                        <a:effectLst/>
                        <a:latin typeface="等线" panose="02010600030101010101" pitchFamily="2" charset="-122"/>
                        <a:ea typeface="等线" panose="02010600030101010101" pitchFamily="2" charset="-122"/>
                        <a:cs typeface="+mn-cs"/>
                      </a:endParaRPr>
                    </a:p>
                  </a:txBody>
                  <a:tcPr marL="4763" marR="4763" marT="4763" marB="0" anchor="ctr"/>
                </a:tc>
                <a:tc>
                  <a:txBody>
                    <a:bodyPr/>
                    <a:lstStyle/>
                    <a:p>
                      <a:pPr algn="ctr" fontAlgn="ctr"/>
                      <a:r>
                        <a:rPr lang="en-US" sz="1600" b="1" i="0" u="none" strike="noStrike" kern="1200" dirty="0">
                          <a:solidFill>
                            <a:schemeClr val="bg1"/>
                          </a:solidFill>
                          <a:effectLst/>
                          <a:latin typeface="等线" panose="02010600030101010101" pitchFamily="2" charset="-122"/>
                          <a:ea typeface="等线" panose="02010600030101010101" pitchFamily="2" charset="-122"/>
                          <a:cs typeface="+mn-cs"/>
                        </a:rPr>
                        <a:t>Overall power</a:t>
                      </a:r>
                    </a:p>
                  </a:txBody>
                  <a:tcPr marL="4763" marR="4763" marT="476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Min. Detectable </a:t>
                      </a:r>
                      <a:r>
                        <a:rPr lang="en-US" altLang="zh-CN" sz="1600" b="1" i="0" u="none" strike="noStrike" kern="1200" dirty="0" err="1">
                          <a:solidFill>
                            <a:schemeClr val="bg1"/>
                          </a:solidFill>
                          <a:effectLst/>
                          <a:latin typeface="等线" panose="02010600030101010101" pitchFamily="2" charset="-122"/>
                          <a:ea typeface="等线" panose="02010600030101010101" pitchFamily="2" charset="-122"/>
                          <a:cs typeface="+mn-cs"/>
                        </a:rPr>
                        <a:t>cOR</a:t>
                      </a: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 - final</a:t>
                      </a:r>
                      <a:endParaRPr lang="zh-CN" altLang="en-US" sz="1600" b="1" i="0" u="none" strike="noStrike" kern="1200" dirty="0">
                        <a:solidFill>
                          <a:schemeClr val="bg1"/>
                        </a:solidFill>
                        <a:effectLst/>
                        <a:latin typeface="等线" panose="02010600030101010101" pitchFamily="2" charset="-122"/>
                        <a:ea typeface="等线" panose="02010600030101010101" pitchFamily="2" charset="-122"/>
                        <a:cs typeface="+mn-cs"/>
                      </a:endParaRPr>
                    </a:p>
                  </a:txBody>
                  <a:tcPr marL="4763" marR="4763" marT="4763" marB="0" anchor="ctr"/>
                </a:tc>
                <a:extLst>
                  <a:ext uri="{0D108BD9-81ED-4DB2-BD59-A6C34878D82A}">
                    <a16:rowId xmlns:a16="http://schemas.microsoft.com/office/drawing/2014/main" val="2383484277"/>
                  </a:ext>
                </a:extLst>
              </a:tr>
              <a:tr h="463872">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50</a:t>
                      </a:r>
                      <a:r>
                        <a:rPr lang="zh-CN"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a:t>
                      </a:r>
                      <a:endParaRPr lang="zh-CN" altLang="en-US" sz="2000" b="1" i="0" u="none" strike="noStrike" kern="1200" dirty="0">
                        <a:solidFill>
                          <a:srgbClr val="000000"/>
                        </a:solidFill>
                        <a:effectLst/>
                        <a:latin typeface="等线" panose="02010600030101010101" pitchFamily="2" charset="-122"/>
                        <a:ea typeface="等线" panose="02010600030101010101" pitchFamily="2" charset="-122"/>
                        <a:cs typeface="+mn-cs"/>
                      </a:endParaRPr>
                    </a:p>
                  </a:txBody>
                  <a:tcPr marL="68580" marR="68580" marT="34290" marB="34290" anchor="ctr"/>
                </a:tc>
                <a:tc>
                  <a:txBody>
                    <a:bodyPr/>
                    <a:lstStyle/>
                    <a:p>
                      <a:pPr algn="ctr" fontAlgn="ctr"/>
                      <a:r>
                        <a:rPr lang="en-US" altLang="zh-CN" sz="2000" b="1" i="0" u="none" strike="noStrike" kern="1200" dirty="0">
                          <a:solidFill>
                            <a:srgbClr val="FF0000"/>
                          </a:solidFill>
                          <a:effectLst/>
                          <a:latin typeface="等线" panose="02010600030101010101" pitchFamily="2" charset="-122"/>
                          <a:ea typeface="等线" panose="02010600030101010101" pitchFamily="2" charset="-122"/>
                          <a:cs typeface="+mn-cs"/>
                        </a:rPr>
                        <a:t>22%</a:t>
                      </a:r>
                    </a:p>
                  </a:txBody>
                  <a:tcPr marL="4763" marR="4763" marT="4763"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chemeClr val="tx1"/>
                          </a:solidFill>
                          <a:effectLst/>
                          <a:latin typeface="等线" panose="02010600030101010101" pitchFamily="2" charset="-122"/>
                          <a:ea typeface="等线" panose="02010600030101010101" pitchFamily="2" charset="-122"/>
                        </a:rPr>
                        <a:t>1.87</a:t>
                      </a:r>
                    </a:p>
                  </a:txBody>
                  <a:tcPr marL="4763" marR="4763" marT="4763"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rgbClr val="000000"/>
                          </a:solidFill>
                          <a:effectLst/>
                          <a:latin typeface="等线" panose="02010600030101010101" pitchFamily="2" charset="-122"/>
                          <a:ea typeface="等线" panose="02010600030101010101" pitchFamily="2" charset="-122"/>
                        </a:rPr>
                        <a:t>85.5%</a:t>
                      </a:r>
                    </a:p>
                  </a:txBody>
                  <a:tcPr marL="4763" marR="4763" marT="4763" marB="0" anchor="ctr"/>
                </a:tc>
                <a:tc rowSpan="2">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rgbClr val="000000"/>
                          </a:solidFill>
                          <a:effectLst/>
                          <a:latin typeface="等线" panose="02010600030101010101" pitchFamily="2" charset="-122"/>
                          <a:ea typeface="等线" panose="02010600030101010101" pitchFamily="2" charset="-122"/>
                        </a:rPr>
                        <a:t>1.34</a:t>
                      </a:r>
                    </a:p>
                  </a:txBody>
                  <a:tcPr marL="4763" marR="4763" marT="4763" marB="0" anchor="ctr"/>
                </a:tc>
                <a:extLst>
                  <a:ext uri="{0D108BD9-81ED-4DB2-BD59-A6C34878D82A}">
                    <a16:rowId xmlns:a16="http://schemas.microsoft.com/office/drawing/2014/main" val="1155730614"/>
                  </a:ext>
                </a:extLst>
              </a:tr>
              <a:tr h="463872">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66.7%</a:t>
                      </a:r>
                      <a:endParaRPr lang="zh-CN" altLang="en-US" sz="2000" b="1" i="0" u="none" strike="noStrike" kern="1200" dirty="0">
                        <a:solidFill>
                          <a:srgbClr val="000000"/>
                        </a:solidFill>
                        <a:effectLst/>
                        <a:latin typeface="等线" panose="02010600030101010101" pitchFamily="2" charset="-122"/>
                        <a:ea typeface="等线" panose="02010600030101010101" pitchFamily="2" charset="-122"/>
                        <a:cs typeface="+mn-cs"/>
                      </a:endParaRPr>
                    </a:p>
                  </a:txBody>
                  <a:tcPr marL="68580" marR="68580" marT="34290" marB="34290" anchor="ctr"/>
                </a:tc>
                <a:tc>
                  <a:txBody>
                    <a:bodyPr/>
                    <a:lstStyle/>
                    <a:p>
                      <a:pPr algn="ctr" fontAlgn="ctr"/>
                      <a:r>
                        <a:rPr lang="en-US" altLang="zh-CN" sz="2000" b="1" i="0" u="none" strike="noStrike" kern="1200" dirty="0">
                          <a:solidFill>
                            <a:schemeClr val="tx1"/>
                          </a:solidFill>
                          <a:effectLst/>
                          <a:latin typeface="等线" panose="02010600030101010101" pitchFamily="2" charset="-122"/>
                          <a:ea typeface="等线" panose="02010600030101010101" pitchFamily="2" charset="-122"/>
                          <a:cs typeface="+mn-cs"/>
                        </a:rPr>
                        <a:t>48.9%</a:t>
                      </a:r>
                    </a:p>
                  </a:txBody>
                  <a:tcPr marL="4763" marR="4763" marT="4763"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chemeClr val="tx1"/>
                          </a:solidFill>
                          <a:effectLst/>
                          <a:latin typeface="等线" panose="02010600030101010101" pitchFamily="2" charset="-122"/>
                          <a:ea typeface="等线" panose="02010600030101010101" pitchFamily="2" charset="-122"/>
                        </a:rPr>
                        <a:t>1.58</a:t>
                      </a:r>
                    </a:p>
                  </a:txBody>
                  <a:tcPr marL="4763" marR="4763" marT="4763"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rgbClr val="000000"/>
                          </a:solidFill>
                          <a:effectLst/>
                          <a:latin typeface="等线" panose="02010600030101010101" pitchFamily="2" charset="-122"/>
                          <a:ea typeface="等线" panose="02010600030101010101" pitchFamily="2" charset="-122"/>
                        </a:rPr>
                        <a:t>86%</a:t>
                      </a:r>
                    </a:p>
                  </a:txBody>
                  <a:tcPr marL="4763" marR="4763" marT="4763" marB="0" anchor="ctr"/>
                </a:tc>
                <a:tc vMerge="1">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endParaRPr lang="en-US" altLang="zh-CN" sz="2000" b="1" i="0" u="none" strike="noStrike" dirty="0">
                        <a:solidFill>
                          <a:srgbClr val="000000"/>
                        </a:solidFill>
                        <a:effectLst/>
                        <a:latin typeface="等线" panose="02010600030101010101" pitchFamily="2" charset="-122"/>
                        <a:ea typeface="等线" panose="02010600030101010101" pitchFamily="2" charset="-122"/>
                      </a:endParaRPr>
                    </a:p>
                  </a:txBody>
                  <a:tcPr marL="4763" marR="4763" marT="4763" marB="0" anchor="ctr"/>
                </a:tc>
                <a:extLst>
                  <a:ext uri="{0D108BD9-81ED-4DB2-BD59-A6C34878D82A}">
                    <a16:rowId xmlns:a16="http://schemas.microsoft.com/office/drawing/2014/main" val="979899350"/>
                  </a:ext>
                </a:extLst>
              </a:tr>
            </a:tbl>
          </a:graphicData>
        </a:graphic>
      </p:graphicFrame>
    </p:spTree>
    <p:extLst>
      <p:ext uri="{BB962C8B-B14F-4D97-AF65-F5344CB8AC3E}">
        <p14:creationId xmlns:p14="http://schemas.microsoft.com/office/powerpoint/2010/main" val="2243258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5BED7C3C-3DF2-DCCD-075C-9C30D8BBC2C6}"/>
              </a:ext>
            </a:extLst>
          </p:cNvPr>
          <p:cNvSpPr txBox="1"/>
          <p:nvPr/>
        </p:nvSpPr>
        <p:spPr bwMode="gray">
          <a:xfrm>
            <a:off x="495300" y="1214403"/>
            <a:ext cx="5131309" cy="4616648"/>
          </a:xfrm>
          <a:prstGeom prst="rect">
            <a:avLst/>
          </a:prstGeom>
          <a:noFill/>
        </p:spPr>
        <p:txBody>
          <a:bodyPr wrap="square" lIns="0" tIns="0" rIns="0" bIns="0" numCol="1"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Control group benchmark</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Historical trial data for </a:t>
            </a: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mRS</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 outcomes:</a:t>
            </a:r>
          </a:p>
          <a:p>
            <a:pPr marL="742932" marR="0" lvl="1"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43.1% in ESCAPE-</a:t>
            </a: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MeVO</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Trial and 37.5% in DISTAL Trial</a:t>
            </a:r>
          </a:p>
          <a:p>
            <a:pPr marL="742932" marR="0" lvl="1"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Pooled Average: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40.3%</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Treatment effect assumption</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285744" marR="0" lvl="0" indent="-285744"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Assume treatment difference of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13%</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the proportion </a:t>
            </a:r>
            <a:r>
              <a:rPr kumimoji="0" lang="en-US" altLang="zh-CN" sz="20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mRS</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0–1 is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53.3% </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 the treatment group.</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Sample size calculation</a:t>
            </a:r>
            <a:endPar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891" marR="0" lvl="0" indent="-342891"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2000" dirty="0">
                <a:solidFill>
                  <a:prstClr val="black"/>
                </a:solidFill>
                <a:latin typeface="Times New Roman" panose="02020603050405020304" pitchFamily="18" charset="0"/>
                <a:cs typeface="Times New Roman" panose="02020603050405020304" pitchFamily="18" charset="0"/>
              </a:rPr>
              <a:t>With a two-sided α=0.05 , power 1-β=0.80, 1:1 treatment allocation ratio, without interim analysis, sample size=462</a:t>
            </a:r>
          </a:p>
          <a:p>
            <a:pPr marL="342891" marR="0" lvl="0" indent="-342891"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Attrition adjustment</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5% dropout rate → </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Total sample size = 488</a:t>
            </a:r>
            <a:r>
              <a:rPr kumimoji="0" lang="en-US"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(244 per group)</a:t>
            </a:r>
            <a:endParaRPr kumimoji="0" lang="en-US" altLang="zh-CN" sz="2000" b="0"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2" name="表格 5">
            <a:extLst>
              <a:ext uri="{FF2B5EF4-FFF2-40B4-BE49-F238E27FC236}">
                <a16:creationId xmlns:a16="http://schemas.microsoft.com/office/drawing/2014/main" id="{D9D9FD70-CA74-2A87-E396-0CEE942DD26A}"/>
              </a:ext>
            </a:extLst>
          </p:cNvPr>
          <p:cNvGraphicFramePr>
            <a:graphicFrameLocks noGrp="1"/>
          </p:cNvGraphicFramePr>
          <p:nvPr/>
        </p:nvGraphicFramePr>
        <p:xfrm>
          <a:off x="6096000" y="2092654"/>
          <a:ext cx="5257672" cy="2080058"/>
        </p:xfrm>
        <a:graphic>
          <a:graphicData uri="http://schemas.openxmlformats.org/drawingml/2006/table">
            <a:tbl>
              <a:tblPr firstRow="1" bandRow="1">
                <a:tableStyleId>{5C22544A-7EE6-4342-B048-85BDC9FD1C3A}</a:tableStyleId>
              </a:tblPr>
              <a:tblGrid>
                <a:gridCol w="1472184">
                  <a:extLst>
                    <a:ext uri="{9D8B030D-6E8A-4147-A177-3AD203B41FA5}">
                      <a16:colId xmlns:a16="http://schemas.microsoft.com/office/drawing/2014/main" val="786518429"/>
                    </a:ext>
                  </a:extLst>
                </a:gridCol>
                <a:gridCol w="987552">
                  <a:extLst>
                    <a:ext uri="{9D8B030D-6E8A-4147-A177-3AD203B41FA5}">
                      <a16:colId xmlns:a16="http://schemas.microsoft.com/office/drawing/2014/main" val="2038498940"/>
                    </a:ext>
                  </a:extLst>
                </a:gridCol>
                <a:gridCol w="1027173">
                  <a:extLst>
                    <a:ext uri="{9D8B030D-6E8A-4147-A177-3AD203B41FA5}">
                      <a16:colId xmlns:a16="http://schemas.microsoft.com/office/drawing/2014/main" val="1020086221"/>
                    </a:ext>
                  </a:extLst>
                </a:gridCol>
                <a:gridCol w="1770763">
                  <a:extLst>
                    <a:ext uri="{9D8B030D-6E8A-4147-A177-3AD203B41FA5}">
                      <a16:colId xmlns:a16="http://schemas.microsoft.com/office/drawing/2014/main" val="999665636"/>
                    </a:ext>
                  </a:extLst>
                </a:gridCol>
              </a:tblGrid>
              <a:tr h="6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t>Scenario</a:t>
                      </a:r>
                      <a:endParaRPr lang="zh-CN" altLang="en-US" sz="16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t>N</a:t>
                      </a:r>
                      <a:endParaRPr lang="zh-CN" altLang="en-US" sz="1600" b="1" dirty="0"/>
                    </a:p>
                  </a:txBody>
                  <a:tcPr anchor="ctr"/>
                </a:tc>
                <a:tc>
                  <a:txBody>
                    <a:bodyPr/>
                    <a:lstStyle/>
                    <a:p>
                      <a:pPr algn="ctr"/>
                      <a:r>
                        <a:rPr lang="en-US" altLang="zh-CN" sz="1600" dirty="0"/>
                        <a:t>Power </a:t>
                      </a:r>
                      <a:endParaRPr lang="zh-CN" altLang="en-US" sz="1600" dirty="0"/>
                    </a:p>
                  </a:txBody>
                  <a:tcPr anchor="ctr"/>
                </a:tc>
                <a:tc>
                  <a:txBody>
                    <a:bodyPr/>
                    <a:lstStyle/>
                    <a:p>
                      <a:pPr algn="ctr"/>
                      <a:r>
                        <a:rPr lang="en-US" altLang="zh-CN" sz="1600" dirty="0"/>
                        <a:t>Min. detectable diff.</a:t>
                      </a:r>
                      <a:endParaRPr lang="zh-CN" altLang="en-US" sz="1600" dirty="0"/>
                    </a:p>
                  </a:txBody>
                  <a:tcPr anchor="ctr"/>
                </a:tc>
                <a:extLst>
                  <a:ext uri="{0D108BD9-81ED-4DB2-BD59-A6C34878D82A}">
                    <a16:rowId xmlns:a16="http://schemas.microsoft.com/office/drawing/2014/main" val="3279651759"/>
                  </a:ext>
                </a:extLst>
              </a:tr>
              <a:tr h="499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Observed case</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462</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algn="ct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80.2%</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9.1%</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extLst>
                  <a:ext uri="{0D108BD9-81ED-4DB2-BD59-A6C34878D82A}">
                    <a16:rowId xmlns:a16="http://schemas.microsoft.com/office/drawing/2014/main" val="3191766280"/>
                  </a:ext>
                </a:extLst>
              </a:tr>
              <a:tr h="499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Imputed case</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488</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algn="ct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82.2%</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9.0%</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extLst>
                  <a:ext uri="{0D108BD9-81ED-4DB2-BD59-A6C34878D82A}">
                    <a16:rowId xmlns:a16="http://schemas.microsoft.com/office/drawing/2014/main" val="594815543"/>
                  </a:ext>
                </a:extLst>
              </a:tr>
            </a:tbl>
          </a:graphicData>
        </a:graphic>
      </p:graphicFrame>
      <p:sp>
        <p:nvSpPr>
          <p:cNvPr id="8" name="文本框 2">
            <a:extLst>
              <a:ext uri="{FF2B5EF4-FFF2-40B4-BE49-F238E27FC236}">
                <a16:creationId xmlns:a16="http://schemas.microsoft.com/office/drawing/2014/main" id="{F3429795-8511-AC1F-06C2-0CA4320BA456}"/>
              </a:ext>
            </a:extLst>
          </p:cNvPr>
          <p:cNvSpPr txBox="1">
            <a:spLocks noGrp="1"/>
          </p:cNvSpPr>
          <p:nvPr>
            <p:ph type="title"/>
          </p:nvPr>
        </p:nvSpPr>
        <p:spPr>
          <a:xfrm>
            <a:off x="303276" y="362458"/>
            <a:ext cx="11201400" cy="438150"/>
          </a:xfrm>
          <a:prstGeom prst="rect">
            <a:avLst/>
          </a:prstGeom>
          <a:noFill/>
          <a:ln w="19050">
            <a:noFill/>
          </a:ln>
        </p:spPr>
        <p:txBody>
          <a:bodyPr wrap="square" lIns="180000" tIns="0" rIns="90000" bIns="0" rtlCol="0" anchor="t" anchorCtr="0">
            <a:no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altLang="zh-CN" sz="3200" dirty="0" err="1">
                <a:cs typeface="Times New Roman" panose="02020603050405020304" pitchFamily="18" charset="0"/>
              </a:rPr>
              <a:t>Tiantan</a:t>
            </a:r>
            <a:r>
              <a:rPr lang="en-US" altLang="zh-CN" sz="3200" dirty="0">
                <a:cs typeface="Times New Roman" panose="02020603050405020304" pitchFamily="18" charset="0"/>
              </a:rPr>
              <a:t> hospital - </a:t>
            </a:r>
            <a:r>
              <a:rPr lang="en-US" altLang="zh-CN" sz="3200" dirty="0" err="1">
                <a:cs typeface="Times New Roman" panose="02020603050405020304" pitchFamily="18" charset="0"/>
              </a:rPr>
              <a:t>MeVO</a:t>
            </a:r>
            <a:r>
              <a:rPr lang="en-US" altLang="zh-CN" sz="3200" b="1" dirty="0">
                <a:latin typeface="Times New Roman" panose="02020603050405020304" pitchFamily="18" charset="0"/>
                <a:cs typeface="Times New Roman" panose="02020603050405020304" pitchFamily="18" charset="0"/>
              </a:rPr>
              <a:t>: </a:t>
            </a:r>
            <a:r>
              <a:rPr lang="en-US" altLang="zh-CN" sz="3200" b="1" dirty="0">
                <a:latin typeface="Times New Roman" panose="02020603050405020304" pitchFamily="18" charset="0"/>
                <a:cs typeface="Times New Roman" panose="02020603050405020304" pitchFamily="18" charset="0"/>
                <a:sym typeface="+mn-ea"/>
              </a:rPr>
              <a:t>Power re-evaluation</a:t>
            </a:r>
            <a:endParaRPr lang="zh-CN" altLang="en-US" sz="3200" b="1" dirty="0">
              <a:latin typeface="Times New Roman" panose="02020603050405020304" pitchFamily="18" charset="0"/>
              <a:cs typeface="Times New Roman" panose="02020603050405020304" pitchFamily="18" charset="0"/>
              <a:sym typeface="+mn-ea"/>
            </a:endParaRPr>
          </a:p>
        </p:txBody>
      </p:sp>
    </p:spTree>
    <p:extLst>
      <p:ext uri="{BB962C8B-B14F-4D97-AF65-F5344CB8AC3E}">
        <p14:creationId xmlns:p14="http://schemas.microsoft.com/office/powerpoint/2010/main" val="3513234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438E23DF-777B-9EDE-9638-ED6EC0F31F7C}"/>
              </a:ext>
            </a:extLst>
          </p:cNvPr>
          <p:cNvSpPr>
            <a:spLocks noGrp="1"/>
          </p:cNvSpPr>
          <p:nvPr>
            <p:ph type="title"/>
          </p:nvPr>
        </p:nvSpPr>
        <p:spPr>
          <a:xfrm>
            <a:off x="495301" y="385621"/>
            <a:ext cx="11201400" cy="438055"/>
          </a:xfrm>
        </p:spPr>
        <p:txBody>
          <a:bodyPr/>
          <a:lstStyle/>
          <a:p>
            <a:r>
              <a:rPr lang="en-US" altLang="zh-CN" sz="3200" dirty="0" err="1">
                <a:cs typeface="Times New Roman" panose="02020603050405020304" pitchFamily="18" charset="0"/>
              </a:rPr>
              <a:t>Tiantan</a:t>
            </a:r>
            <a:r>
              <a:rPr lang="en-US" altLang="zh-CN" sz="3200" dirty="0">
                <a:cs typeface="Times New Roman" panose="02020603050405020304" pitchFamily="18" charset="0"/>
              </a:rPr>
              <a:t> hospital - </a:t>
            </a:r>
            <a:r>
              <a:rPr lang="en-US" altLang="zh-CN" sz="3200" dirty="0" err="1"/>
              <a:t>MeVO</a:t>
            </a:r>
            <a:r>
              <a:rPr lang="en-US" altLang="zh-CN" sz="3200" dirty="0"/>
              <a:t>: Interim Analysis</a:t>
            </a:r>
            <a:endParaRPr lang="zh-CN" altLang="en-US" sz="3200" dirty="0"/>
          </a:p>
        </p:txBody>
      </p:sp>
      <p:sp>
        <p:nvSpPr>
          <p:cNvPr id="6" name="灯片编号占位符 5">
            <a:extLst>
              <a:ext uri="{FF2B5EF4-FFF2-40B4-BE49-F238E27FC236}">
                <a16:creationId xmlns:a16="http://schemas.microsoft.com/office/drawing/2014/main" id="{894D58BC-2E7D-297D-EC6C-A32FEDE9FA48}"/>
              </a:ext>
            </a:extLst>
          </p:cNvPr>
          <p:cNvSpPr>
            <a:spLocks noGrp="1"/>
          </p:cNvSpPr>
          <p:nvPr>
            <p:ph type="sldNum" sz="quarter" idx="4294967295"/>
          </p:nvPr>
        </p:nvSpPr>
        <p:spPr>
          <a:xfrm>
            <a:off x="11902019" y="6246285"/>
            <a:ext cx="289983" cy="287867"/>
          </a:xfrm>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a:ln>
                  <a:noFill/>
                </a:ln>
                <a:solidFill>
                  <a:srgbClr val="08312A"/>
                </a:solidFill>
                <a:effectLst/>
                <a:uLnTx/>
                <a:uFillTx/>
                <a:latin typeface="Times New Roman" panose="02020603050405020304" pitchFamily="18" charset="0"/>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8312A"/>
              </a:solidFill>
              <a:effectLst/>
              <a:uLnTx/>
              <a:uFillTx/>
              <a:latin typeface="Times New Roman" panose="02020603050405020304" pitchFamily="18" charset="0"/>
              <a:ea typeface="+mn-ea"/>
              <a:cs typeface="+mn-cs"/>
            </a:endParaRPr>
          </a:p>
        </p:txBody>
      </p:sp>
      <p:graphicFrame>
        <p:nvGraphicFramePr>
          <p:cNvPr id="2" name="表格 1">
            <a:extLst>
              <a:ext uri="{FF2B5EF4-FFF2-40B4-BE49-F238E27FC236}">
                <a16:creationId xmlns:a16="http://schemas.microsoft.com/office/drawing/2014/main" id="{DBC1D699-E0D1-0E77-2B8E-42DDE73B05F8}"/>
              </a:ext>
            </a:extLst>
          </p:cNvPr>
          <p:cNvGraphicFramePr>
            <a:graphicFrameLocks noGrp="1"/>
          </p:cNvGraphicFramePr>
          <p:nvPr/>
        </p:nvGraphicFramePr>
        <p:xfrm>
          <a:off x="495301" y="1085840"/>
          <a:ext cx="3774947" cy="5624849"/>
        </p:xfrm>
        <a:graphic>
          <a:graphicData uri="http://schemas.openxmlformats.org/drawingml/2006/table">
            <a:tbl>
              <a:tblPr>
                <a:tableStyleId>{9DCAF9ED-07DC-4A11-8D7F-57B35C25682E}</a:tableStyleId>
              </a:tblPr>
              <a:tblGrid>
                <a:gridCol w="503700">
                  <a:extLst>
                    <a:ext uri="{9D8B030D-6E8A-4147-A177-3AD203B41FA5}">
                      <a16:colId xmlns:a16="http://schemas.microsoft.com/office/drawing/2014/main" val="4294608358"/>
                    </a:ext>
                  </a:extLst>
                </a:gridCol>
                <a:gridCol w="592055">
                  <a:extLst>
                    <a:ext uri="{9D8B030D-6E8A-4147-A177-3AD203B41FA5}">
                      <a16:colId xmlns:a16="http://schemas.microsoft.com/office/drawing/2014/main" val="1193540884"/>
                    </a:ext>
                  </a:extLst>
                </a:gridCol>
                <a:gridCol w="809860">
                  <a:extLst>
                    <a:ext uri="{9D8B030D-6E8A-4147-A177-3AD203B41FA5}">
                      <a16:colId xmlns:a16="http://schemas.microsoft.com/office/drawing/2014/main" val="1938389889"/>
                    </a:ext>
                  </a:extLst>
                </a:gridCol>
                <a:gridCol w="845204">
                  <a:extLst>
                    <a:ext uri="{9D8B030D-6E8A-4147-A177-3AD203B41FA5}">
                      <a16:colId xmlns:a16="http://schemas.microsoft.com/office/drawing/2014/main" val="756658949"/>
                    </a:ext>
                  </a:extLst>
                </a:gridCol>
                <a:gridCol w="1024128">
                  <a:extLst>
                    <a:ext uri="{9D8B030D-6E8A-4147-A177-3AD203B41FA5}">
                      <a16:colId xmlns:a16="http://schemas.microsoft.com/office/drawing/2014/main" val="2983610490"/>
                    </a:ext>
                  </a:extLst>
                </a:gridCol>
              </a:tblGrid>
              <a:tr h="331789">
                <a:tc>
                  <a:txBody>
                    <a:bodyPr/>
                    <a:lstStyle/>
                    <a:p>
                      <a:pPr algn="ctr" fontAlgn="b"/>
                      <a:r>
                        <a:rPr lang="zh-CN" altLang="en-US" sz="1050" b="1" i="0" u="none" strike="noStrike" dirty="0">
                          <a:solidFill>
                            <a:schemeClr val="bg1"/>
                          </a:solidFill>
                          <a:effectLst/>
                          <a:latin typeface="等线" panose="02010600030101010101" pitchFamily="2" charset="-122"/>
                          <a:ea typeface="等线" panose="02010600030101010101" pitchFamily="2" charset="-122"/>
                        </a:rPr>
                        <a:t>月数</a:t>
                      </a:r>
                    </a:p>
                  </a:txBody>
                  <a:tcPr marL="6351" marR="6351" marT="6351" marB="0" anchor="ctr">
                    <a:lnL w="12700" cap="flat" cmpd="sng" algn="ctr">
                      <a:solidFill>
                        <a:schemeClr val="bg2">
                          <a:lumMod val="90000"/>
                          <a:lumOff val="10000"/>
                        </a:schemeClr>
                      </a:solidFill>
                      <a:prstDash val="solid"/>
                      <a:round/>
                      <a:headEnd type="none" w="med" len="med"/>
                      <a:tailEnd type="none" w="med" len="med"/>
                    </a:lnL>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zh-CN" altLang="en-US" sz="1050" b="1" i="0" u="none" strike="noStrike" dirty="0">
                          <a:solidFill>
                            <a:schemeClr val="bg1"/>
                          </a:solidFill>
                          <a:effectLst/>
                          <a:latin typeface="等线" panose="02010600030101010101" pitchFamily="2" charset="-122"/>
                          <a:ea typeface="等线" panose="02010600030101010101" pitchFamily="2" charset="-122"/>
                        </a:rPr>
                        <a:t>每月入组例数</a:t>
                      </a:r>
                    </a:p>
                  </a:txBody>
                  <a:tcPr marL="6351" marR="6351" marT="6351" marB="0" anchor="ct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zh-CN" altLang="en-US" sz="1050" b="1" i="0" u="none" strike="noStrike" dirty="0">
                          <a:solidFill>
                            <a:schemeClr val="bg1"/>
                          </a:solidFill>
                          <a:effectLst/>
                          <a:latin typeface="等线" panose="02010600030101010101" pitchFamily="2" charset="-122"/>
                          <a:ea typeface="等线" panose="02010600030101010101" pitchFamily="2" charset="-122"/>
                        </a:rPr>
                        <a:t>累计入组</a:t>
                      </a:r>
                    </a:p>
                  </a:txBody>
                  <a:tcPr marL="6351" marR="6351" marT="6351" marB="0" anchor="ct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zh-CN" altLang="en-US" sz="1050" b="1" i="0" u="none" strike="noStrike" dirty="0">
                          <a:solidFill>
                            <a:schemeClr val="bg1"/>
                          </a:solidFill>
                          <a:effectLst/>
                          <a:latin typeface="等线" panose="02010600030101010101" pitchFamily="2" charset="-122"/>
                          <a:ea typeface="等线" panose="02010600030101010101" pitchFamily="2" charset="-122"/>
                        </a:rPr>
                        <a:t>累计入组</a:t>
                      </a:r>
                      <a:r>
                        <a:rPr lang="en-US" altLang="zh-CN" sz="1050" b="1" i="0" u="none" strike="noStrike" dirty="0">
                          <a:solidFill>
                            <a:schemeClr val="bg1"/>
                          </a:solidFill>
                          <a:effectLst/>
                          <a:latin typeface="等线" panose="02010600030101010101" pitchFamily="2" charset="-122"/>
                          <a:ea typeface="等线" panose="02010600030101010101" pitchFamily="2" charset="-122"/>
                        </a:rPr>
                        <a:t>%</a:t>
                      </a:r>
                    </a:p>
                  </a:txBody>
                  <a:tcPr marL="6351" marR="6351" marT="6351" marB="0" anchor="ct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en-US" sz="1050" b="1" i="0" u="none" strike="noStrike" dirty="0">
                          <a:solidFill>
                            <a:schemeClr val="bg1"/>
                          </a:solidFill>
                          <a:effectLst/>
                          <a:latin typeface="等线" panose="02010600030101010101" pitchFamily="2" charset="-122"/>
                          <a:ea typeface="等线" panose="02010600030101010101" pitchFamily="2" charset="-122"/>
                        </a:rPr>
                        <a:t>Note</a:t>
                      </a:r>
                    </a:p>
                  </a:txBody>
                  <a:tcPr marL="6351" marR="6351" marT="6351" marB="0" anchor="ctr">
                    <a:lnR w="12700" cap="flat" cmpd="sng" algn="ctr">
                      <a:solidFill>
                        <a:schemeClr val="bg2">
                          <a:lumMod val="90000"/>
                          <a:lumOff val="10000"/>
                        </a:schemeClr>
                      </a:solidFill>
                      <a:prstDash val="solid"/>
                      <a:round/>
                      <a:headEnd type="none" w="med" len="med"/>
                      <a:tailEnd type="none" w="med" len="med"/>
                    </a:ln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extLst>
                  <a:ext uri="{0D108BD9-81ED-4DB2-BD59-A6C34878D82A}">
                    <a16:rowId xmlns:a16="http://schemas.microsoft.com/office/drawing/2014/main" val="309369944"/>
                  </a:ext>
                </a:extLst>
              </a:tr>
              <a:tr h="331789">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1</a:t>
                      </a:r>
                    </a:p>
                  </a:txBody>
                  <a:tcPr marL="8467" marR="8467" marT="8467"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10</a:t>
                      </a:r>
                    </a:p>
                  </a:txBody>
                  <a:tcPr marL="8467" marR="8467" marT="8467"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10</a:t>
                      </a:r>
                    </a:p>
                  </a:txBody>
                  <a:tcPr marL="8467" marR="8467" marT="8467"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2%</a:t>
                      </a:r>
                    </a:p>
                  </a:txBody>
                  <a:tcPr marL="8467" marR="8467" marT="8467"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sz="1400" b="1" i="0" u="none" strike="noStrike">
                          <a:solidFill>
                            <a:srgbClr val="000000"/>
                          </a:solidFill>
                          <a:effectLst/>
                          <a:latin typeface="等线" panose="02010600030101010101" pitchFamily="2" charset="-122"/>
                          <a:ea typeface="等线" panose="02010600030101010101" pitchFamily="2" charset="-122"/>
                        </a:rPr>
                        <a:t>First patient in</a:t>
                      </a:r>
                    </a:p>
                  </a:txBody>
                  <a:tcPr marL="6351" marR="6351" marT="6351" marB="0" anchor="ctr">
                    <a:lnT w="12700" cap="flat" cmpd="sng" algn="ctr">
                      <a:solidFill>
                        <a:schemeClr val="bg2">
                          <a:lumMod val="90000"/>
                          <a:lumOff val="10000"/>
                        </a:schemeClr>
                      </a:solidFill>
                      <a:prstDash val="solid"/>
                      <a:round/>
                      <a:headEnd type="none" w="med" len="med"/>
                      <a:tailEnd type="none" w="med" len="med"/>
                    </a:lnT>
                  </a:tcPr>
                </a:tc>
                <a:extLst>
                  <a:ext uri="{0D108BD9-81ED-4DB2-BD59-A6C34878D82A}">
                    <a16:rowId xmlns:a16="http://schemas.microsoft.com/office/drawing/2014/main" val="3908533852"/>
                  </a:ext>
                </a:extLst>
              </a:tr>
              <a:tr h="331789">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6</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28</a:t>
                      </a:r>
                    </a:p>
                  </a:txBody>
                  <a:tcPr marL="8467" marR="8467" marT="8467" marB="0" anchor="ctr"/>
                </a:tc>
                <a:tc>
                  <a:txBody>
                    <a:bodyPr/>
                    <a:lstStyle/>
                    <a:p>
                      <a:pPr algn="ctr" fontAlgn="b"/>
                      <a:r>
                        <a:rPr lang="en-US" altLang="zh-CN" sz="1400" b="1" i="0" u="none" strike="noStrike" dirty="0">
                          <a:solidFill>
                            <a:srgbClr val="FF0000"/>
                          </a:solidFill>
                          <a:effectLst/>
                          <a:latin typeface="等线" panose="02010600030101010101" pitchFamily="2" charset="-122"/>
                          <a:ea typeface="等线" panose="02010600030101010101" pitchFamily="2" charset="-122"/>
                        </a:rPr>
                        <a:t>126</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25%</a:t>
                      </a:r>
                    </a:p>
                  </a:txBody>
                  <a:tcPr marL="8467" marR="8467" marT="8467" marB="0" anchor="ctr"/>
                </a:tc>
                <a:tc>
                  <a:txBody>
                    <a:bodyPr/>
                    <a:lstStyle/>
                    <a:p>
                      <a:pPr algn="ctr" fontAlgn="b"/>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2909629740"/>
                  </a:ext>
                </a:extLst>
              </a:tr>
              <a:tr h="331789">
                <a:tc>
                  <a:txBody>
                    <a:bodyPr/>
                    <a:lstStyle/>
                    <a:p>
                      <a:pPr algn="ctr" fontAlgn="b"/>
                      <a:r>
                        <a:rPr lang="en-US" altLang="zh-CN" sz="1400" b="1" i="0" u="none" strike="noStrike" dirty="0">
                          <a:solidFill>
                            <a:schemeClr val="tx1"/>
                          </a:solidFill>
                          <a:effectLst/>
                          <a:latin typeface="等线" panose="02010600030101010101" pitchFamily="2" charset="-122"/>
                          <a:ea typeface="等线" panose="02010600030101010101" pitchFamily="2" charset="-122"/>
                        </a:rPr>
                        <a:t>7</a:t>
                      </a:r>
                    </a:p>
                  </a:txBody>
                  <a:tcPr marL="8467" marR="8467" marT="8467" marB="0" anchor="ctr"/>
                </a:tc>
                <a:tc>
                  <a:txBody>
                    <a:bodyPr/>
                    <a:lstStyle/>
                    <a:p>
                      <a:pPr algn="ctr" fontAlgn="b"/>
                      <a:r>
                        <a:rPr lang="en-US" altLang="zh-CN" sz="1400" b="1" i="0" u="none" strike="noStrike" dirty="0">
                          <a:solidFill>
                            <a:schemeClr val="tx1"/>
                          </a:solidFill>
                          <a:effectLst/>
                          <a:latin typeface="等线" panose="02010600030101010101" pitchFamily="2" charset="-122"/>
                          <a:ea typeface="等线" panose="02010600030101010101" pitchFamily="2" charset="-122"/>
                        </a:rPr>
                        <a:t>30</a:t>
                      </a:r>
                    </a:p>
                  </a:txBody>
                  <a:tcPr marL="8467" marR="8467" marT="8467" marB="0" anchor="ctr"/>
                </a:tc>
                <a:tc>
                  <a:txBody>
                    <a:bodyPr/>
                    <a:lstStyle/>
                    <a:p>
                      <a:pPr algn="ctr" fontAlgn="b"/>
                      <a:r>
                        <a:rPr lang="en-US" altLang="zh-CN" sz="1400" b="1" i="0" u="none" strike="noStrike" dirty="0">
                          <a:solidFill>
                            <a:srgbClr val="FF0000"/>
                          </a:solidFill>
                          <a:effectLst/>
                          <a:latin typeface="等线" panose="02010600030101010101" pitchFamily="2" charset="-122"/>
                          <a:ea typeface="等线" panose="02010600030101010101" pitchFamily="2" charset="-122"/>
                        </a:rPr>
                        <a:t>156</a:t>
                      </a:r>
                    </a:p>
                  </a:txBody>
                  <a:tcPr marL="8467" marR="8467" marT="8467" marB="0" anchor="ctr"/>
                </a:tc>
                <a:tc>
                  <a:txBody>
                    <a:bodyPr/>
                    <a:lstStyle/>
                    <a:p>
                      <a:pPr algn="ctr" fontAlgn="b"/>
                      <a:r>
                        <a:rPr lang="en-US" altLang="zh-CN" sz="1400" b="1" i="0" u="none" strike="noStrike" dirty="0">
                          <a:solidFill>
                            <a:schemeClr val="tx1"/>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endParaRPr lang="en-US" altLang="zh-CN" sz="1400" b="1" i="0" u="none" strike="noStrike">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2247865445"/>
                  </a:ext>
                </a:extLst>
              </a:tr>
              <a:tr h="331789">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8</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30</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186</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38%</a:t>
                      </a:r>
                    </a:p>
                  </a:txBody>
                  <a:tcPr marL="8467" marR="8467" marT="8467" marB="0" anchor="ctr"/>
                </a:tc>
                <a:tc>
                  <a:txBody>
                    <a:bodyPr/>
                    <a:lstStyle/>
                    <a:p>
                      <a:pPr algn="ctr" fontAlgn="b"/>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364028682"/>
                  </a:ext>
                </a:extLst>
              </a:tr>
              <a:tr h="331789">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9</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217</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44%</a:t>
                      </a:r>
                    </a:p>
                  </a:txBody>
                  <a:tcPr marL="8467" marR="8467" marT="8467" marB="0" anchor="ctr"/>
                </a:tc>
                <a:tc>
                  <a:txBody>
                    <a:bodyPr/>
                    <a:lstStyle/>
                    <a:p>
                      <a:pPr marL="0" marR="0" lvl="0" indent="0" algn="ctr" defTabSz="685783" rtl="0" eaLnBrk="1" fontAlgn="b" latinLnBrk="0" hangingPunct="1">
                        <a:lnSpc>
                          <a:spcPct val="100000"/>
                        </a:lnSpc>
                        <a:spcBef>
                          <a:spcPts val="0"/>
                        </a:spcBef>
                        <a:spcAft>
                          <a:spcPts val="0"/>
                        </a:spcAft>
                        <a:buClrTx/>
                        <a:buSzTx/>
                        <a:buFontTx/>
                        <a:buNone/>
                        <a:tabLst/>
                        <a:defRPr/>
                      </a:pPr>
                      <a:r>
                        <a:rPr lang="en-US" altLang="zh-CN" sz="1400" b="1" i="0" u="none" strike="noStrike" dirty="0">
                          <a:solidFill>
                            <a:srgbClr val="000000"/>
                          </a:solidFill>
                          <a:effectLst/>
                          <a:latin typeface="等线" panose="02010600030101010101" pitchFamily="2" charset="-122"/>
                          <a:ea typeface="等线" panose="02010600030101010101" pitchFamily="2" charset="-122"/>
                        </a:rPr>
                        <a:t>Futility Interim </a:t>
                      </a:r>
                    </a:p>
                  </a:txBody>
                  <a:tcPr marL="6351" marR="6351" marT="6351" marB="0" anchor="ctr"/>
                </a:tc>
                <a:extLst>
                  <a:ext uri="{0D108BD9-81ED-4DB2-BD59-A6C34878D82A}">
                    <a16:rowId xmlns:a16="http://schemas.microsoft.com/office/drawing/2014/main" val="617378094"/>
                  </a:ext>
                </a:extLst>
              </a:tr>
              <a:tr h="331789">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10</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1" i="0" u="none" strike="noStrike" dirty="0">
                          <a:solidFill>
                            <a:srgbClr val="FF0000"/>
                          </a:solidFill>
                          <a:effectLst/>
                          <a:latin typeface="等线" panose="02010600030101010101" pitchFamily="2" charset="-122"/>
                          <a:ea typeface="等线" panose="02010600030101010101" pitchFamily="2" charset="-122"/>
                        </a:rPr>
                        <a:t>248</a:t>
                      </a:r>
                    </a:p>
                  </a:txBody>
                  <a:tcPr marL="8467" marR="8467" marT="8467" marB="0" anchor="ctr"/>
                </a:tc>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50%</a:t>
                      </a:r>
                    </a:p>
                  </a:txBody>
                  <a:tcPr marL="8467" marR="8467" marT="8467" marB="0" anchor="ctr"/>
                </a:tc>
                <a:tc>
                  <a:txBody>
                    <a:bodyPr/>
                    <a:lstStyle/>
                    <a:p>
                      <a:pPr marL="0" marR="0" lvl="0" indent="0" algn="ctr" defTabSz="685783" rtl="0" eaLnBrk="1" fontAlgn="b" latinLnBrk="0" hangingPunct="1">
                        <a:lnSpc>
                          <a:spcPct val="100000"/>
                        </a:lnSpc>
                        <a:spcBef>
                          <a:spcPts val="0"/>
                        </a:spcBef>
                        <a:spcAft>
                          <a:spcPts val="0"/>
                        </a:spcAft>
                        <a:buClrTx/>
                        <a:buSzTx/>
                        <a:buFontTx/>
                        <a:buNone/>
                        <a:tabLst/>
                        <a:defRPr/>
                      </a:pPr>
                      <a:r>
                        <a:rPr lang="en-US" altLang="zh-CN" sz="1400" b="1" i="0" u="none" strike="noStrike" dirty="0">
                          <a:solidFill>
                            <a:srgbClr val="000000"/>
                          </a:solidFill>
                          <a:effectLst/>
                          <a:latin typeface="等线" panose="02010600030101010101" pitchFamily="2" charset="-122"/>
                          <a:ea typeface="等线" panose="02010600030101010101" pitchFamily="2" charset="-122"/>
                        </a:rPr>
                        <a:t>Futility Interim </a:t>
                      </a:r>
                    </a:p>
                  </a:txBody>
                  <a:tcPr marL="6351" marR="6351" marT="6351" marB="0" anchor="ctr"/>
                </a:tc>
                <a:extLst>
                  <a:ext uri="{0D108BD9-81ED-4DB2-BD59-A6C34878D82A}">
                    <a16:rowId xmlns:a16="http://schemas.microsoft.com/office/drawing/2014/main" val="2878705989"/>
                  </a:ext>
                </a:extLst>
              </a:tr>
              <a:tr h="331789">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11</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279</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56%</a:t>
                      </a:r>
                    </a:p>
                  </a:txBody>
                  <a:tcPr marL="8467" marR="8467" marT="8467" marB="0" anchor="ctr"/>
                </a:tc>
                <a:tc>
                  <a:txBody>
                    <a:bodyPr/>
                    <a:lstStyle/>
                    <a:p>
                      <a:pPr algn="ctr" fontAlgn="b"/>
                      <a:endParaRPr lang="en-US" sz="1400" b="1" i="0" u="none" strike="noStrike" dirty="0">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2310947965"/>
                  </a:ext>
                </a:extLst>
              </a:tr>
              <a:tr h="331789">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12</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310</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63%</a:t>
                      </a:r>
                    </a:p>
                  </a:txBody>
                  <a:tcPr marL="8467" marR="8467" marT="8467" marB="0" anchor="ctr"/>
                </a:tc>
                <a:tc>
                  <a:txBody>
                    <a:bodyPr/>
                    <a:lstStyle/>
                    <a:p>
                      <a:pPr algn="ctr" fontAlgn="b"/>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2614278171"/>
                  </a:ext>
                </a:extLst>
              </a:tr>
              <a:tr h="331789">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13</a:t>
                      </a:r>
                    </a:p>
                  </a:txBody>
                  <a:tcPr marL="8467" marR="8467" marT="8467" marB="0" anchor="ctr"/>
                </a:tc>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1" i="0" u="none" strike="noStrike" dirty="0">
                          <a:solidFill>
                            <a:srgbClr val="FF0000"/>
                          </a:solidFill>
                          <a:effectLst/>
                          <a:latin typeface="等线" panose="02010600030101010101" pitchFamily="2" charset="-122"/>
                          <a:ea typeface="等线" panose="02010600030101010101" pitchFamily="2" charset="-122"/>
                        </a:rPr>
                        <a:t>341</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69%</a:t>
                      </a:r>
                    </a:p>
                  </a:txBody>
                  <a:tcPr marL="8467" marR="8467" marT="8467"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lang="en-US" altLang="zh-CN" sz="1400" b="1" i="0" u="none" strike="noStrike" dirty="0">
                          <a:solidFill>
                            <a:srgbClr val="000000"/>
                          </a:solidFill>
                          <a:effectLst/>
                          <a:latin typeface="等线" panose="02010600030101010101" pitchFamily="2" charset="-122"/>
                          <a:ea typeface="等线" panose="02010600030101010101" pitchFamily="2" charset="-122"/>
                        </a:rPr>
                        <a:t>Efficacy Interim </a:t>
                      </a:r>
                    </a:p>
                  </a:txBody>
                  <a:tcPr marL="6351" marR="6351" marT="6351" marB="0" anchor="ctr"/>
                </a:tc>
                <a:extLst>
                  <a:ext uri="{0D108BD9-81ED-4DB2-BD59-A6C34878D82A}">
                    <a16:rowId xmlns:a16="http://schemas.microsoft.com/office/drawing/2014/main" val="1480665620"/>
                  </a:ext>
                </a:extLst>
              </a:tr>
              <a:tr h="372111">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14</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372</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75%</a:t>
                      </a:r>
                    </a:p>
                  </a:txBody>
                  <a:tcPr marL="8467" marR="8467" marT="8467"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endParaRPr lang="en-US" altLang="zh-CN" sz="1400" b="1" i="0" u="none" strike="noStrike" kern="1200" dirty="0">
                        <a:solidFill>
                          <a:schemeClr val="bg2">
                            <a:lumMod val="90000"/>
                            <a:lumOff val="10000"/>
                          </a:schemeClr>
                        </a:solidFill>
                        <a:effectLst/>
                        <a:latin typeface="等线" panose="02010600030101010101" pitchFamily="2" charset="-122"/>
                        <a:ea typeface="等线" panose="02010600030101010101" pitchFamily="2" charset="-122"/>
                        <a:cs typeface="+mn-cs"/>
                      </a:endParaRPr>
                    </a:p>
                  </a:txBody>
                  <a:tcPr marL="6351" marR="6351" marT="6351" marB="0" anchor="ctr"/>
                </a:tc>
                <a:extLst>
                  <a:ext uri="{0D108BD9-81ED-4DB2-BD59-A6C34878D82A}">
                    <a16:rowId xmlns:a16="http://schemas.microsoft.com/office/drawing/2014/main" val="3015884958"/>
                  </a:ext>
                </a:extLst>
              </a:tr>
              <a:tr h="331789">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15</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403</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81%</a:t>
                      </a:r>
                    </a:p>
                  </a:txBody>
                  <a:tcPr marL="8467" marR="8467" marT="8467" marB="0" anchor="ctr"/>
                </a:tc>
                <a:tc>
                  <a:txBody>
                    <a:bodyPr/>
                    <a:lstStyle/>
                    <a:p>
                      <a:pPr algn="ctr" fontAlgn="b"/>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4244729663"/>
                  </a:ext>
                </a:extLst>
              </a:tr>
              <a:tr h="331789">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16</a:t>
                      </a:r>
                    </a:p>
                  </a:txBody>
                  <a:tcPr marL="8467" marR="8467" marT="8467" marB="0" anchor="ctr"/>
                </a:tc>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1" i="0" u="none" strike="noStrike">
                          <a:solidFill>
                            <a:srgbClr val="000000"/>
                          </a:solidFill>
                          <a:effectLst/>
                          <a:latin typeface="等线" panose="02010600030101010101" pitchFamily="2" charset="-122"/>
                          <a:ea typeface="等线" panose="02010600030101010101" pitchFamily="2" charset="-122"/>
                        </a:rPr>
                        <a:t>434</a:t>
                      </a:r>
                    </a:p>
                  </a:txBody>
                  <a:tcPr marL="8467" marR="8467" marT="8467" marB="0" anchor="ctr"/>
                </a:tc>
                <a:tc>
                  <a:txBody>
                    <a:bodyPr/>
                    <a:lstStyle/>
                    <a:p>
                      <a:pPr algn="ctr" fontAlgn="b"/>
                      <a:r>
                        <a:rPr lang="en-US" altLang="zh-CN" sz="1400" b="1" i="0" u="none" strike="noStrike" dirty="0">
                          <a:solidFill>
                            <a:srgbClr val="000000"/>
                          </a:solidFill>
                          <a:effectLst/>
                          <a:latin typeface="等线" panose="02010600030101010101" pitchFamily="2" charset="-122"/>
                          <a:ea typeface="等线" panose="02010600030101010101" pitchFamily="2" charset="-122"/>
                        </a:rPr>
                        <a:t>88%</a:t>
                      </a:r>
                    </a:p>
                  </a:txBody>
                  <a:tcPr marL="8467" marR="8467" marT="8467"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lang="en-US" altLang="zh-CN" sz="1400" b="1" i="0" u="none" strike="noStrike">
                          <a:solidFill>
                            <a:srgbClr val="000000"/>
                          </a:solidFill>
                          <a:effectLst/>
                          <a:latin typeface="等线" panose="02010600030101010101" pitchFamily="2" charset="-122"/>
                          <a:ea typeface="等线" panose="02010600030101010101" pitchFamily="2" charset="-122"/>
                        </a:rPr>
                        <a:t>Efficacy Interim </a:t>
                      </a:r>
                    </a:p>
                  </a:txBody>
                  <a:tcPr marL="6351" marR="6351" marT="6351" marB="0" anchor="ctr"/>
                </a:tc>
                <a:extLst>
                  <a:ext uri="{0D108BD9-81ED-4DB2-BD59-A6C34878D82A}">
                    <a16:rowId xmlns:a16="http://schemas.microsoft.com/office/drawing/2014/main" val="2237747281"/>
                  </a:ext>
                </a:extLst>
              </a:tr>
              <a:tr h="331789">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17</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465</a:t>
                      </a:r>
                    </a:p>
                  </a:txBody>
                  <a:tcPr marL="8467" marR="8467" marT="8467" marB="0" anchor="ctr"/>
                </a:tc>
                <a:tc>
                  <a:txBody>
                    <a:bodyPr/>
                    <a:lstStyle/>
                    <a:p>
                      <a:pPr algn="ctr" fontAlgn="b"/>
                      <a:r>
                        <a:rPr lang="en-US" altLang="zh-CN" sz="1400" b="0" i="0" u="none" strike="noStrike" dirty="0">
                          <a:solidFill>
                            <a:srgbClr val="000000"/>
                          </a:solidFill>
                          <a:effectLst/>
                          <a:latin typeface="等线" panose="02010600030101010101" pitchFamily="2" charset="-122"/>
                          <a:ea typeface="等线" panose="02010600030101010101" pitchFamily="2" charset="-122"/>
                        </a:rPr>
                        <a:t>94%</a:t>
                      </a:r>
                    </a:p>
                  </a:txBody>
                  <a:tcPr marL="8467" marR="8467" marT="8467"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endParaRPr lang="en-US" altLang="zh-CN" sz="1400" b="1" i="0" u="none" strike="noStrike" kern="1200" dirty="0">
                        <a:solidFill>
                          <a:schemeClr val="bg2">
                            <a:lumMod val="90000"/>
                            <a:lumOff val="10000"/>
                          </a:schemeClr>
                        </a:solidFill>
                        <a:effectLst/>
                        <a:latin typeface="等线" panose="02010600030101010101" pitchFamily="2" charset="-122"/>
                        <a:ea typeface="等线" panose="02010600030101010101" pitchFamily="2" charset="-122"/>
                        <a:cs typeface="+mn-cs"/>
                      </a:endParaRPr>
                    </a:p>
                  </a:txBody>
                  <a:tcPr marL="6351" marR="6351" marT="6351" marB="0" anchor="ctr"/>
                </a:tc>
                <a:extLst>
                  <a:ext uri="{0D108BD9-81ED-4DB2-BD59-A6C34878D82A}">
                    <a16:rowId xmlns:a16="http://schemas.microsoft.com/office/drawing/2014/main" val="3092408133"/>
                  </a:ext>
                </a:extLst>
              </a:tr>
              <a:tr h="331789">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18</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31</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496</a:t>
                      </a:r>
                    </a:p>
                  </a:txBody>
                  <a:tcPr marL="8467" marR="8467" marT="8467" marB="0" anchor="ctr"/>
                </a:tc>
                <a:tc>
                  <a:txBody>
                    <a:bodyPr/>
                    <a:lstStyle/>
                    <a:p>
                      <a:pPr algn="ctr" fontAlgn="b"/>
                      <a:r>
                        <a:rPr lang="en-US" altLang="zh-CN" sz="1400" b="0" i="0" u="none" strike="noStrike">
                          <a:solidFill>
                            <a:srgbClr val="000000"/>
                          </a:solidFill>
                          <a:effectLst/>
                          <a:latin typeface="等线" panose="02010600030101010101" pitchFamily="2" charset="-122"/>
                          <a:ea typeface="等线" panose="02010600030101010101" pitchFamily="2" charset="-122"/>
                        </a:rPr>
                        <a:t>100%</a:t>
                      </a:r>
                    </a:p>
                  </a:txBody>
                  <a:tcPr marL="8467" marR="8467" marT="8467" marB="0" anchor="ctr"/>
                </a:tc>
                <a:tc>
                  <a:txBody>
                    <a:bodyPr/>
                    <a:lstStyle/>
                    <a:p>
                      <a:pPr marL="0" marR="0" lvl="0" indent="0" algn="ctr" defTabSz="685783" rtl="0" eaLnBrk="1" fontAlgn="b" latinLnBrk="0" hangingPunct="1">
                        <a:lnSpc>
                          <a:spcPct val="100000"/>
                        </a:lnSpc>
                        <a:spcBef>
                          <a:spcPts val="0"/>
                        </a:spcBef>
                        <a:spcAft>
                          <a:spcPts val="0"/>
                        </a:spcAft>
                        <a:buClrTx/>
                        <a:buSzTx/>
                        <a:buFontTx/>
                        <a:buNone/>
                        <a:tabLst/>
                        <a:defRPr/>
                      </a:pPr>
                      <a:r>
                        <a:rPr lang="en-US" altLang="zh-CN" sz="1400" b="1" i="0" u="none" strike="noStrike" dirty="0">
                          <a:solidFill>
                            <a:srgbClr val="000000"/>
                          </a:solidFill>
                          <a:effectLst/>
                          <a:latin typeface="等线" panose="02010600030101010101" pitchFamily="2" charset="-122"/>
                          <a:ea typeface="等线" panose="02010600030101010101" pitchFamily="2" charset="-122"/>
                        </a:rPr>
                        <a:t>Last patient in</a:t>
                      </a:r>
                      <a:endParaRPr lang="zh-CN" altLang="en-US" sz="1400" b="0" i="0" u="none" strike="noStrike" dirty="0">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2583618742"/>
                  </a:ext>
                </a:extLst>
              </a:tr>
            </a:tbl>
          </a:graphicData>
        </a:graphic>
      </p:graphicFrame>
      <p:graphicFrame>
        <p:nvGraphicFramePr>
          <p:cNvPr id="10" name="表格 9">
            <a:extLst>
              <a:ext uri="{FF2B5EF4-FFF2-40B4-BE49-F238E27FC236}">
                <a16:creationId xmlns:a16="http://schemas.microsoft.com/office/drawing/2014/main" id="{085C48C3-D42D-0EA4-90A3-2946219A6BE1}"/>
              </a:ext>
            </a:extLst>
          </p:cNvPr>
          <p:cNvGraphicFramePr>
            <a:graphicFrameLocks noGrp="1"/>
          </p:cNvGraphicFramePr>
          <p:nvPr/>
        </p:nvGraphicFramePr>
        <p:xfrm>
          <a:off x="4877561" y="3973785"/>
          <a:ext cx="6649212" cy="1885331"/>
        </p:xfrm>
        <a:graphic>
          <a:graphicData uri="http://schemas.openxmlformats.org/drawingml/2006/table">
            <a:tbl>
              <a:tblPr firstRow="1" bandRow="1">
                <a:tableStyleId>{5C22544A-7EE6-4342-B048-85BDC9FD1C3A}</a:tableStyleId>
              </a:tblPr>
              <a:tblGrid>
                <a:gridCol w="1441114">
                  <a:extLst>
                    <a:ext uri="{9D8B030D-6E8A-4147-A177-3AD203B41FA5}">
                      <a16:colId xmlns:a16="http://schemas.microsoft.com/office/drawing/2014/main" val="3514675261"/>
                    </a:ext>
                  </a:extLst>
                </a:gridCol>
                <a:gridCol w="1223182">
                  <a:extLst>
                    <a:ext uri="{9D8B030D-6E8A-4147-A177-3AD203B41FA5}">
                      <a16:colId xmlns:a16="http://schemas.microsoft.com/office/drawing/2014/main" val="2361801452"/>
                    </a:ext>
                  </a:extLst>
                </a:gridCol>
                <a:gridCol w="1430484">
                  <a:extLst>
                    <a:ext uri="{9D8B030D-6E8A-4147-A177-3AD203B41FA5}">
                      <a16:colId xmlns:a16="http://schemas.microsoft.com/office/drawing/2014/main" val="3221772147"/>
                    </a:ext>
                  </a:extLst>
                </a:gridCol>
                <a:gridCol w="1277216">
                  <a:extLst>
                    <a:ext uri="{9D8B030D-6E8A-4147-A177-3AD203B41FA5}">
                      <a16:colId xmlns:a16="http://schemas.microsoft.com/office/drawing/2014/main" val="2317488966"/>
                    </a:ext>
                  </a:extLst>
                </a:gridCol>
                <a:gridCol w="1277216">
                  <a:extLst>
                    <a:ext uri="{9D8B030D-6E8A-4147-A177-3AD203B41FA5}">
                      <a16:colId xmlns:a16="http://schemas.microsoft.com/office/drawing/2014/main" val="1349826555"/>
                    </a:ext>
                  </a:extLst>
                </a:gridCol>
              </a:tblGrid>
              <a:tr h="858747">
                <a:tc>
                  <a:txBody>
                    <a:bodyPr/>
                    <a:lstStyle/>
                    <a:p>
                      <a:pPr algn="ctr" fontAlgn="ct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Infor. fraction</a:t>
                      </a:r>
                    </a:p>
                  </a:txBody>
                  <a:tcPr anchor="ctr"/>
                </a:tc>
                <a:tc>
                  <a:txBody>
                    <a:bodyPr/>
                    <a:lstStyle/>
                    <a:p>
                      <a:pPr algn="ctr" fontAlgn="ctr"/>
                      <a:r>
                        <a:rPr lang="en-US" altLang="zh-CN" sz="1600" b="1" i="0" u="none" strike="noStrike" dirty="0">
                          <a:solidFill>
                            <a:schemeClr val="bg1"/>
                          </a:solidFill>
                          <a:effectLst/>
                          <a:latin typeface="等线" panose="02010600030101010101" pitchFamily="2" charset="-122"/>
                          <a:ea typeface="等线" panose="02010600030101010101" pitchFamily="2" charset="-122"/>
                        </a:rPr>
                        <a:t>Power for interim </a:t>
                      </a:r>
                    </a:p>
                  </a:txBody>
                  <a:tcPr marL="6351" marR="6351" marT="6351" marB="0" anchor="ctr"/>
                </a:tc>
                <a:tc>
                  <a:txBody>
                    <a:bodyPr/>
                    <a:lstStyle/>
                    <a:p>
                      <a:pPr algn="ctr"/>
                      <a:r>
                        <a:rPr lang="en-US" altLang="zh-CN" sz="1600" b="1" dirty="0"/>
                        <a:t>Min. Detectable diff. - interim</a:t>
                      </a:r>
                      <a:endParaRPr lang="zh-CN" altLang="en-US" sz="1600" b="1" dirty="0"/>
                    </a:p>
                  </a:txBody>
                  <a:tcPr marL="6351" marR="6351" marT="6351" marB="0" anchor="ctr"/>
                </a:tc>
                <a:tc>
                  <a:txBody>
                    <a:bodyPr/>
                    <a:lstStyle/>
                    <a:p>
                      <a:pPr algn="ctr" fontAlgn="ctr"/>
                      <a:r>
                        <a:rPr lang="en-US" sz="1600" b="1" i="0" u="none" strike="noStrike" dirty="0">
                          <a:solidFill>
                            <a:schemeClr val="bg1"/>
                          </a:solidFill>
                          <a:effectLst/>
                          <a:latin typeface="等线" panose="02010600030101010101" pitchFamily="2" charset="-122"/>
                          <a:ea typeface="等线" panose="02010600030101010101" pitchFamily="2" charset="-122"/>
                        </a:rPr>
                        <a:t>Overall power</a:t>
                      </a:r>
                    </a:p>
                  </a:txBody>
                  <a:tcPr marL="6351" marR="6351" marT="6351"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b="1"/>
                        <a:t>Min. Detectable diff. - final</a:t>
                      </a:r>
                      <a:endParaRPr lang="zh-CN" altLang="en-US" sz="1600" b="1"/>
                    </a:p>
                  </a:txBody>
                  <a:tcPr marL="6351" marR="6351" marT="6351" marB="0" anchor="ctr"/>
                </a:tc>
                <a:extLst>
                  <a:ext uri="{0D108BD9-81ED-4DB2-BD59-A6C34878D82A}">
                    <a16:rowId xmlns:a16="http://schemas.microsoft.com/office/drawing/2014/main" val="2383484277"/>
                  </a:ext>
                </a:extLst>
              </a:tr>
              <a:tr h="513292">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50</a:t>
                      </a:r>
                      <a:r>
                        <a:rPr lang="zh-CN"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a:t>
                      </a:r>
                      <a:endParaRPr lang="zh-CN" altLang="en-US" sz="2000" b="1" i="0" u="none" strike="noStrike" kern="1200" dirty="0">
                        <a:solidFill>
                          <a:srgbClr val="000000"/>
                        </a:solidFill>
                        <a:effectLst/>
                        <a:latin typeface="等线" panose="02010600030101010101" pitchFamily="2" charset="-122"/>
                        <a:ea typeface="等线" panose="02010600030101010101" pitchFamily="2" charset="-122"/>
                        <a:cs typeface="+mn-cs"/>
                      </a:endParaRPr>
                    </a:p>
                  </a:txBody>
                  <a:tcPr anchor="ctr"/>
                </a:tc>
                <a:tc>
                  <a:txBody>
                    <a:bodyPr/>
                    <a:lstStyle/>
                    <a:p>
                      <a:pPr algn="ctr" fontAlgn="ctr"/>
                      <a:r>
                        <a:rPr lang="en-US" altLang="zh-CN" sz="2000" b="1" i="0" u="none" strike="noStrike" dirty="0">
                          <a:solidFill>
                            <a:srgbClr val="FF0000"/>
                          </a:solidFill>
                          <a:effectLst/>
                          <a:latin typeface="等线" panose="02010600030101010101" pitchFamily="2" charset="-122"/>
                          <a:ea typeface="等线" panose="02010600030101010101" pitchFamily="2" charset="-122"/>
                        </a:rPr>
                        <a:t>16.8%</a:t>
                      </a:r>
                    </a:p>
                  </a:txBody>
                  <a:tcPr marL="8467" marR="8467" marT="8467"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chemeClr val="tx1"/>
                          </a:solidFill>
                          <a:effectLst/>
                          <a:latin typeface="等线" panose="02010600030101010101" pitchFamily="2" charset="-122"/>
                          <a:ea typeface="等线" panose="02010600030101010101" pitchFamily="2" charset="-122"/>
                        </a:rPr>
                        <a:t>18.5%</a:t>
                      </a:r>
                    </a:p>
                  </a:txBody>
                  <a:tcPr marL="6351" marR="6351" marT="6351"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0" i="0" u="none" strike="noStrike" dirty="0">
                          <a:solidFill>
                            <a:srgbClr val="000000"/>
                          </a:solidFill>
                          <a:effectLst/>
                          <a:latin typeface="等线" panose="02010600030101010101" pitchFamily="2" charset="-122"/>
                          <a:ea typeface="等线" panose="02010600030101010101" pitchFamily="2" charset="-122"/>
                        </a:rPr>
                        <a:t>84.3%</a:t>
                      </a:r>
                    </a:p>
                  </a:txBody>
                  <a:tcPr marL="8467" marR="8467" marT="8467" marB="0" anchor="ctr"/>
                </a:tc>
                <a:tc rowSpan="2">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rgbClr val="000000"/>
                          </a:solidFill>
                          <a:effectLst/>
                          <a:latin typeface="等线" panose="02010600030101010101" pitchFamily="2" charset="-122"/>
                          <a:ea typeface="等线" panose="02010600030101010101" pitchFamily="2" charset="-122"/>
                        </a:rPr>
                        <a:t>9.0%</a:t>
                      </a:r>
                    </a:p>
                  </a:txBody>
                  <a:tcPr marL="8467" marR="8467" marT="8467" marB="0" anchor="ctr"/>
                </a:tc>
                <a:extLst>
                  <a:ext uri="{0D108BD9-81ED-4DB2-BD59-A6C34878D82A}">
                    <a16:rowId xmlns:a16="http://schemas.microsoft.com/office/drawing/2014/main" val="1996788266"/>
                  </a:ext>
                </a:extLst>
              </a:tr>
              <a:tr h="513292">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66.7%</a:t>
                      </a:r>
                    </a:p>
                  </a:txBody>
                  <a:tcPr anchor="ctr"/>
                </a:tc>
                <a:tc>
                  <a:txBody>
                    <a:bodyPr/>
                    <a:lstStyle/>
                    <a:p>
                      <a:pPr algn="ctr" fontAlgn="ctr"/>
                      <a:r>
                        <a:rPr lang="en-US" altLang="zh-CN" sz="2000" b="0" i="0" u="none" strike="noStrike" dirty="0">
                          <a:solidFill>
                            <a:srgbClr val="000000"/>
                          </a:solidFill>
                          <a:effectLst/>
                          <a:latin typeface="等线" panose="02010600030101010101" pitchFamily="2" charset="-122"/>
                          <a:ea typeface="等线" panose="02010600030101010101" pitchFamily="2" charset="-122"/>
                        </a:rPr>
                        <a:t>46.4%</a:t>
                      </a:r>
                    </a:p>
                  </a:txBody>
                  <a:tcPr marL="8467" marR="8467" marT="8467"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dirty="0">
                          <a:solidFill>
                            <a:schemeClr val="tx1"/>
                          </a:solidFill>
                          <a:effectLst/>
                          <a:latin typeface="等线" panose="02010600030101010101" pitchFamily="2" charset="-122"/>
                          <a:ea typeface="等线" panose="02010600030101010101" pitchFamily="2" charset="-122"/>
                        </a:rPr>
                        <a:t>13.9%</a:t>
                      </a:r>
                    </a:p>
                  </a:txBody>
                  <a:tcPr marL="6351" marR="6351" marT="6351"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0" i="0" u="none" strike="noStrike" dirty="0">
                          <a:solidFill>
                            <a:srgbClr val="000000"/>
                          </a:solidFill>
                          <a:effectLst/>
                          <a:latin typeface="等线" panose="02010600030101010101" pitchFamily="2" charset="-122"/>
                          <a:ea typeface="等线" panose="02010600030101010101" pitchFamily="2" charset="-122"/>
                        </a:rPr>
                        <a:t>82.6%</a:t>
                      </a:r>
                    </a:p>
                  </a:txBody>
                  <a:tcPr marL="8467" marR="8467" marT="8467" marB="0" anchor="ctr"/>
                </a:tc>
                <a:tc vMerge="1">
                  <a:txBody>
                    <a:bodyPr/>
                    <a:lstStyle/>
                    <a:p>
                      <a:pPr marL="0" marR="0" lvl="0" indent="0" algn="ctr" defTabSz="685783" rtl="0" eaLnBrk="1" fontAlgn="ctr" latinLnBrk="0" hangingPunct="1">
                        <a:lnSpc>
                          <a:spcPct val="100000"/>
                        </a:lnSpc>
                        <a:spcBef>
                          <a:spcPts val="0"/>
                        </a:spcBef>
                        <a:spcAft>
                          <a:spcPts val="0"/>
                        </a:spcAft>
                        <a:buClrTx/>
                        <a:buSzTx/>
                        <a:buFontTx/>
                        <a:buNone/>
                        <a:tabLst/>
                        <a:defRPr/>
                      </a:pPr>
                      <a:endParaRPr lang="en-US" altLang="zh-CN" sz="2000" b="1" i="0" u="none" strike="noStrike" dirty="0">
                        <a:solidFill>
                          <a:srgbClr val="000000"/>
                        </a:solidFill>
                        <a:effectLst/>
                        <a:latin typeface="等线" panose="02010600030101010101" pitchFamily="2" charset="-122"/>
                        <a:ea typeface="等线" panose="02010600030101010101" pitchFamily="2" charset="-122"/>
                      </a:endParaRPr>
                    </a:p>
                  </a:txBody>
                  <a:tcPr marL="6351" marR="6351" marT="6351" marB="0" anchor="ctr"/>
                </a:tc>
                <a:extLst>
                  <a:ext uri="{0D108BD9-81ED-4DB2-BD59-A6C34878D82A}">
                    <a16:rowId xmlns:a16="http://schemas.microsoft.com/office/drawing/2014/main" val="1944922452"/>
                  </a:ext>
                </a:extLst>
              </a:tr>
            </a:tbl>
          </a:graphicData>
        </a:graphic>
      </p:graphicFrame>
      <p:sp>
        <p:nvSpPr>
          <p:cNvPr id="3" name="箭头: 右弧形 3">
            <a:extLst>
              <a:ext uri="{FF2B5EF4-FFF2-40B4-BE49-F238E27FC236}">
                <a16:creationId xmlns:a16="http://schemas.microsoft.com/office/drawing/2014/main" id="{E70E7983-8483-9FD4-4F8B-CD32E1DAB372}"/>
              </a:ext>
            </a:extLst>
          </p:cNvPr>
          <p:cNvSpPr/>
          <p:nvPr/>
        </p:nvSpPr>
        <p:spPr bwMode="gray">
          <a:xfrm>
            <a:off x="2990654" y="2025899"/>
            <a:ext cx="264610" cy="1169395"/>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5" name="箭头: 右弧形 3">
            <a:extLst>
              <a:ext uri="{FF2B5EF4-FFF2-40B4-BE49-F238E27FC236}">
                <a16:creationId xmlns:a16="http://schemas.microsoft.com/office/drawing/2014/main" id="{3DC90912-3F6F-160E-6D33-ECC7FF32394A}"/>
              </a:ext>
            </a:extLst>
          </p:cNvPr>
          <p:cNvSpPr/>
          <p:nvPr/>
        </p:nvSpPr>
        <p:spPr bwMode="gray">
          <a:xfrm>
            <a:off x="2990654" y="2375173"/>
            <a:ext cx="264610" cy="1169395"/>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箭头: 右弧形 3">
            <a:extLst>
              <a:ext uri="{FF2B5EF4-FFF2-40B4-BE49-F238E27FC236}">
                <a16:creationId xmlns:a16="http://schemas.microsoft.com/office/drawing/2014/main" id="{148FA0F4-DB18-5A65-5DB3-41F1D12371B8}"/>
              </a:ext>
            </a:extLst>
          </p:cNvPr>
          <p:cNvSpPr/>
          <p:nvPr/>
        </p:nvSpPr>
        <p:spPr bwMode="gray">
          <a:xfrm>
            <a:off x="2990654" y="3557632"/>
            <a:ext cx="264610" cy="1053827"/>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3" name="箭头: 右弧形 3">
            <a:extLst>
              <a:ext uri="{FF2B5EF4-FFF2-40B4-BE49-F238E27FC236}">
                <a16:creationId xmlns:a16="http://schemas.microsoft.com/office/drawing/2014/main" id="{E400DC4A-DE45-7BD4-2396-A44FBCF160F4}"/>
              </a:ext>
            </a:extLst>
          </p:cNvPr>
          <p:cNvSpPr/>
          <p:nvPr/>
        </p:nvSpPr>
        <p:spPr bwMode="gray">
          <a:xfrm>
            <a:off x="2990654" y="4624523"/>
            <a:ext cx="264610" cy="1147637"/>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文本框 10">
            <a:extLst>
              <a:ext uri="{FF2B5EF4-FFF2-40B4-BE49-F238E27FC236}">
                <a16:creationId xmlns:a16="http://schemas.microsoft.com/office/drawing/2014/main" id="{12753969-0336-5319-4EF0-7B78397A7777}"/>
              </a:ext>
            </a:extLst>
          </p:cNvPr>
          <p:cNvSpPr txBox="1"/>
          <p:nvPr/>
        </p:nvSpPr>
        <p:spPr bwMode="gray">
          <a:xfrm>
            <a:off x="4786122" y="1014537"/>
            <a:ext cx="6832091" cy="2768387"/>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Futility interim is not recommended </a:t>
            </a:r>
          </a:p>
          <a:p>
            <a:pPr marL="742950" lvl="1" indent="-285750">
              <a:lnSpc>
                <a:spcPct val="140000"/>
              </a:lnSpc>
              <a:buFont typeface="Wingdings" panose="05000000000000000000" pitchFamily="2" charset="2"/>
              <a:buChar char="Ø"/>
            </a:pPr>
            <a:r>
              <a:rPr lang="en-US" altLang="zh-CN" sz="1600" dirty="0">
                <a:solidFill>
                  <a:prstClr val="black"/>
                </a:solidFill>
                <a:latin typeface="Boehringer Forward Text"/>
              </a:rPr>
              <a:t>For superiority trial, there is</a:t>
            </a: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 less uncertainty on the treatment effect.</a:t>
            </a:r>
            <a:endParaRPr lang="en-US" altLang="zh-CN" sz="1600" dirty="0">
              <a:solidFill>
                <a:prstClr val="black"/>
              </a:solidFill>
              <a:latin typeface="Boehringer Forward Text"/>
            </a:endParaRPr>
          </a:p>
          <a:p>
            <a:pPr marL="742950" lvl="1" indent="-285750">
              <a:lnSpc>
                <a:spcPct val="140000"/>
              </a:lnSpc>
              <a:buFont typeface="Wingdings" panose="05000000000000000000" pitchFamily="2" charset="2"/>
              <a:buChar char="Ø"/>
            </a:pP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Small sample size result in low reliability.</a:t>
            </a: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lang="en-US" altLang="zh-CN" sz="1600" dirty="0">
                <a:solidFill>
                  <a:prstClr val="black"/>
                </a:solidFill>
                <a:latin typeface="Boehringer Forward Text"/>
              </a:rPr>
              <a:t>Efficacy Interim benefits less</a:t>
            </a:r>
          </a:p>
          <a:p>
            <a:pPr marL="742950" lvl="1" indent="-285750">
              <a:lnSpc>
                <a:spcPct val="140000"/>
              </a:lnSpc>
              <a:buFont typeface="Wingdings" panose="05000000000000000000" pitchFamily="2" charset="2"/>
              <a:buChar char="Ø"/>
            </a:pPr>
            <a:r>
              <a:rPr lang="en-US" altLang="zh-CN" sz="1600" dirty="0">
                <a:solidFill>
                  <a:prstClr val="black"/>
                </a:solidFill>
                <a:latin typeface="Boehringer Forward Text"/>
              </a:rPr>
              <a:t>The investigator doesn’t accept early stop at interim considering low reliability result and potential challenge from reviewer.</a:t>
            </a:r>
          </a:p>
          <a:p>
            <a:pPr marL="285750" indent="-285750">
              <a:lnSpc>
                <a:spcPct val="140000"/>
              </a:lnSpc>
              <a:buFont typeface="Wingdings" panose="05000000000000000000" pitchFamily="2" charset="2"/>
              <a:buChar char="p"/>
            </a:pPr>
            <a:r>
              <a:rPr lang="en-US" altLang="zh-CN" sz="1600" dirty="0">
                <a:solidFill>
                  <a:prstClr val="black"/>
                </a:solidFill>
                <a:latin typeface="Boehringer Forward Text"/>
              </a:rPr>
              <a:t>DMC is recommended for safety and efficacy evaluation.</a:t>
            </a:r>
          </a:p>
        </p:txBody>
      </p:sp>
    </p:spTree>
    <p:extLst>
      <p:ext uri="{BB962C8B-B14F-4D97-AF65-F5344CB8AC3E}">
        <p14:creationId xmlns:p14="http://schemas.microsoft.com/office/powerpoint/2010/main" val="1861820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8F9125D6-C384-D04B-E790-D0CB126A7BFD}"/>
              </a:ext>
            </a:extLst>
          </p:cNvPr>
          <p:cNvSpPr>
            <a:spLocks noGrp="1"/>
          </p:cNvSpPr>
          <p:nvPr>
            <p:ph type="sldNum" sz="quarter" idx="20"/>
          </p:nvPr>
        </p:nvSpPr>
        <p:spPr/>
        <p:txBody>
          <a:bodyPr/>
          <a:lstStyle/>
          <a:p>
            <a:pPr defTabSz="1219170"/>
            <a:fld id="{143B55C4-4F5A-416B-997D-6CE47EB0A945}" type="slidenum">
              <a:rPr lang="en-GB">
                <a:solidFill>
                  <a:srgbClr val="08312A"/>
                </a:solidFill>
              </a:rPr>
              <a:pPr defTabSz="1219170"/>
              <a:t>7</a:t>
            </a:fld>
            <a:endParaRPr lang="en-GB">
              <a:solidFill>
                <a:srgbClr val="08312A"/>
              </a:solidFill>
            </a:endParaRPr>
          </a:p>
        </p:txBody>
      </p:sp>
      <p:sp>
        <p:nvSpPr>
          <p:cNvPr id="7" name="文本框 6">
            <a:extLst>
              <a:ext uri="{FF2B5EF4-FFF2-40B4-BE49-F238E27FC236}">
                <a16:creationId xmlns:a16="http://schemas.microsoft.com/office/drawing/2014/main" id="{33727555-6EAF-BD7E-2538-DA65D6212D55}"/>
              </a:ext>
            </a:extLst>
          </p:cNvPr>
          <p:cNvSpPr txBox="1"/>
          <p:nvPr/>
        </p:nvSpPr>
        <p:spPr bwMode="gray">
          <a:xfrm>
            <a:off x="231775" y="1398059"/>
            <a:ext cx="5272913" cy="4718343"/>
          </a:xfrm>
          <a:prstGeom prst="rect">
            <a:avLst/>
          </a:prstGeom>
          <a:noFill/>
        </p:spPr>
        <p:txBody>
          <a:bodyPr wrap="square" lIns="121920" tIns="60960" rIns="121920" bIns="60960" anchor="t">
            <a:spAutoFit/>
          </a:bodyPr>
          <a:lstStyle/>
          <a:p>
            <a:pPr marL="380990" indent="-380990" algn="just" defTabSz="1219170">
              <a:buFont typeface="Wingdings" panose="05000000000000000000" pitchFamily="2" charset="2"/>
              <a:buChar char="n"/>
            </a:pPr>
            <a:r>
              <a:rPr lang="zh-CN" altLang="zh-CN" sz="2133" dirty="0">
                <a:solidFill>
                  <a:prstClr val="black"/>
                </a:solidFill>
                <a:latin typeface="Times New Roman" panose="02020603050405020304" pitchFamily="18" charset="0"/>
                <a:cs typeface="Times New Roman" panose="02020603050405020304" pitchFamily="18" charset="0"/>
              </a:rPr>
              <a:t>Based on the TRACE3 randomized trial, the 90-day mRS 0 to 2 in patients treated with tenecteplase was </a:t>
            </a:r>
            <a:r>
              <a:rPr lang="zh-CN" altLang="zh-CN" sz="2133" b="1" dirty="0">
                <a:solidFill>
                  <a:prstClr val="black"/>
                </a:solidFill>
                <a:latin typeface="Times New Roman" panose="02020603050405020304" pitchFamily="18" charset="0"/>
                <a:cs typeface="Times New Roman" panose="02020603050405020304" pitchFamily="18" charset="0"/>
              </a:rPr>
              <a:t>43.6% </a:t>
            </a:r>
            <a:r>
              <a:rPr lang="zh-CN" altLang="zh-CN" sz="2133" dirty="0">
                <a:solidFill>
                  <a:prstClr val="black"/>
                </a:solidFill>
                <a:latin typeface="Times New Roman" panose="02020603050405020304" pitchFamily="18" charset="0"/>
                <a:cs typeface="Times New Roman" panose="02020603050405020304" pitchFamily="18" charset="0"/>
              </a:rPr>
              <a:t>compared to </a:t>
            </a:r>
            <a:r>
              <a:rPr lang="zh-CN" altLang="zh-CN" sz="2133" b="1" dirty="0">
                <a:solidFill>
                  <a:prstClr val="black"/>
                </a:solidFill>
                <a:latin typeface="Times New Roman" panose="02020603050405020304" pitchFamily="18" charset="0"/>
                <a:cs typeface="Times New Roman" panose="02020603050405020304" pitchFamily="18" charset="0"/>
              </a:rPr>
              <a:t>33.4% </a:t>
            </a:r>
            <a:r>
              <a:rPr lang="zh-CN" altLang="zh-CN" sz="2133" dirty="0">
                <a:solidFill>
                  <a:prstClr val="black"/>
                </a:solidFill>
                <a:latin typeface="Times New Roman" panose="02020603050405020304" pitchFamily="18" charset="0"/>
                <a:cs typeface="Times New Roman" panose="02020603050405020304" pitchFamily="18" charset="0"/>
              </a:rPr>
              <a:t>in the standard medical care group</a:t>
            </a:r>
            <a:r>
              <a:rPr lang="en-US" altLang="zh-CN" sz="2133" dirty="0">
                <a:solidFill>
                  <a:prstClr val="black"/>
                </a:solidFill>
                <a:latin typeface="Times New Roman" panose="02020603050405020304" pitchFamily="18" charset="0"/>
                <a:cs typeface="Times New Roman" panose="02020603050405020304" pitchFamily="18" charset="0"/>
              </a:rPr>
              <a:t> (difference=</a:t>
            </a:r>
            <a:r>
              <a:rPr lang="en-US" altLang="zh-CN" sz="2133" b="1" dirty="0">
                <a:solidFill>
                  <a:prstClr val="black"/>
                </a:solidFill>
                <a:latin typeface="Times New Roman" panose="02020603050405020304" pitchFamily="18" charset="0"/>
                <a:cs typeface="Times New Roman" panose="02020603050405020304" pitchFamily="18" charset="0"/>
              </a:rPr>
              <a:t>10.2%</a:t>
            </a:r>
            <a:r>
              <a:rPr lang="en-US" altLang="zh-CN" sz="2133" dirty="0">
                <a:solidFill>
                  <a:prstClr val="black"/>
                </a:solidFill>
                <a:latin typeface="Times New Roman" panose="02020603050405020304" pitchFamily="18" charset="0"/>
                <a:cs typeface="Times New Roman" panose="02020603050405020304" pitchFamily="18" charset="0"/>
              </a:rPr>
              <a:t>). </a:t>
            </a:r>
          </a:p>
          <a:p>
            <a:pPr algn="just" defTabSz="1219170"/>
            <a:endParaRPr lang="en-US" altLang="zh-CN" sz="2133" dirty="0">
              <a:solidFill>
                <a:prstClr val="black"/>
              </a:solidFill>
              <a:latin typeface="Times New Roman" panose="02020603050405020304" pitchFamily="18" charset="0"/>
              <a:cs typeface="Times New Roman" panose="02020603050405020304" pitchFamily="18" charset="0"/>
            </a:endParaRPr>
          </a:p>
          <a:p>
            <a:pPr marL="380990" indent="-380990" algn="just" defTabSz="1219170">
              <a:buFont typeface="Wingdings" panose="05000000000000000000" pitchFamily="2" charset="2"/>
              <a:buChar char="n"/>
            </a:pPr>
            <a:r>
              <a:rPr lang="en-US" altLang="zh-CN" sz="2133" dirty="0">
                <a:solidFill>
                  <a:prstClr val="black"/>
                </a:solidFill>
                <a:latin typeface="Times New Roman" panose="02020603050405020304" pitchFamily="18" charset="0"/>
                <a:cs typeface="Times New Roman" panose="02020603050405020304" pitchFamily="18" charset="0"/>
              </a:rPr>
              <a:t>With two-sided </a:t>
            </a:r>
            <a:r>
              <a:rPr lang="zh-CN" altLang="zh-CN" sz="2133" dirty="0">
                <a:solidFill>
                  <a:prstClr val="black"/>
                </a:solidFill>
                <a:latin typeface="Times New Roman" panose="02020603050405020304" pitchFamily="18" charset="0"/>
                <a:cs typeface="Times New Roman" panose="02020603050405020304" pitchFamily="18" charset="0"/>
              </a:rPr>
              <a:t>alpha of 0.05</a:t>
            </a:r>
            <a:r>
              <a:rPr lang="en-US" altLang="zh-CN" sz="2133" dirty="0">
                <a:solidFill>
                  <a:prstClr val="black"/>
                </a:solidFill>
                <a:latin typeface="Times New Roman" panose="02020603050405020304" pitchFamily="18" charset="0"/>
                <a:cs typeface="Times New Roman" panose="02020603050405020304" pitchFamily="18" charset="0"/>
              </a:rPr>
              <a:t>,</a:t>
            </a:r>
            <a:r>
              <a:rPr lang="zh-CN" altLang="zh-CN" sz="2133" dirty="0">
                <a:solidFill>
                  <a:prstClr val="black"/>
                </a:solidFill>
                <a:latin typeface="Times New Roman" panose="02020603050405020304" pitchFamily="18" charset="0"/>
                <a:cs typeface="Times New Roman" panose="02020603050405020304" pitchFamily="18" charset="0"/>
              </a:rPr>
              <a:t> power </a:t>
            </a:r>
            <a:r>
              <a:rPr lang="en-US" altLang="zh-CN" sz="2133" dirty="0">
                <a:solidFill>
                  <a:prstClr val="black"/>
                </a:solidFill>
                <a:latin typeface="Times New Roman" panose="02020603050405020304" pitchFamily="18" charset="0"/>
                <a:cs typeface="Times New Roman" panose="02020603050405020304" pitchFamily="18" charset="0"/>
              </a:rPr>
              <a:t>of</a:t>
            </a:r>
            <a:r>
              <a:rPr lang="zh-CN" altLang="zh-CN" sz="2133" dirty="0">
                <a:solidFill>
                  <a:prstClr val="black"/>
                </a:solidFill>
                <a:latin typeface="Times New Roman" panose="02020603050405020304" pitchFamily="18" charset="0"/>
                <a:cs typeface="Times New Roman" panose="02020603050405020304" pitchFamily="18" charset="0"/>
              </a:rPr>
              <a:t> </a:t>
            </a:r>
            <a:r>
              <a:rPr lang="zh-CN" altLang="zh-CN" sz="2133" b="1" dirty="0">
                <a:solidFill>
                  <a:prstClr val="black"/>
                </a:solidFill>
                <a:latin typeface="Times New Roman" panose="02020603050405020304" pitchFamily="18" charset="0"/>
                <a:cs typeface="Times New Roman" panose="02020603050405020304" pitchFamily="18" charset="0"/>
              </a:rPr>
              <a:t>80%</a:t>
            </a:r>
            <a:r>
              <a:rPr lang="zh-CN" altLang="zh-CN" sz="2133" dirty="0">
                <a:solidFill>
                  <a:prstClr val="black"/>
                </a:solidFill>
                <a:latin typeface="Times New Roman" panose="02020603050405020304" pitchFamily="18" charset="0"/>
                <a:cs typeface="Times New Roman" panose="02020603050405020304" pitchFamily="18" charset="0"/>
              </a:rPr>
              <a:t>, and</a:t>
            </a:r>
            <a:r>
              <a:rPr lang="en-US" altLang="zh-CN" sz="2133" dirty="0">
                <a:solidFill>
                  <a:prstClr val="black"/>
                </a:solidFill>
                <a:latin typeface="Times New Roman" panose="02020603050405020304" pitchFamily="18" charset="0"/>
                <a:cs typeface="Times New Roman" panose="02020603050405020304" pitchFamily="18" charset="0"/>
              </a:rPr>
              <a:t> 1:1 allocation, </a:t>
            </a:r>
            <a:r>
              <a:rPr lang="zh-CN" altLang="zh-CN" sz="2133" dirty="0">
                <a:solidFill>
                  <a:prstClr val="black"/>
                </a:solidFill>
                <a:latin typeface="Times New Roman" panose="02020603050405020304" pitchFamily="18" charset="0"/>
                <a:cs typeface="Times New Roman" panose="02020603050405020304" pitchFamily="18" charset="0"/>
              </a:rPr>
              <a:t>the sample size is estimated to be </a:t>
            </a:r>
            <a:r>
              <a:rPr lang="zh-CN" altLang="zh-CN" sz="2133" b="1" dirty="0">
                <a:solidFill>
                  <a:prstClr val="black"/>
                </a:solidFill>
                <a:latin typeface="Times New Roman" panose="02020603050405020304" pitchFamily="18" charset="0"/>
                <a:cs typeface="Times New Roman" panose="02020603050405020304" pitchFamily="18" charset="0"/>
              </a:rPr>
              <a:t>357 </a:t>
            </a:r>
            <a:r>
              <a:rPr lang="zh-CN" altLang="zh-CN" sz="2133" dirty="0">
                <a:solidFill>
                  <a:prstClr val="black"/>
                </a:solidFill>
                <a:latin typeface="Times New Roman" panose="02020603050405020304" pitchFamily="18" charset="0"/>
                <a:cs typeface="Times New Roman" panose="02020603050405020304" pitchFamily="18" charset="0"/>
              </a:rPr>
              <a:t>patients per arm. After accounting for </a:t>
            </a:r>
            <a:r>
              <a:rPr lang="zh-CN" altLang="zh-CN" sz="2133" b="1" dirty="0">
                <a:solidFill>
                  <a:prstClr val="black"/>
                </a:solidFill>
                <a:latin typeface="Times New Roman" panose="02020603050405020304" pitchFamily="18" charset="0"/>
                <a:cs typeface="Times New Roman" panose="02020603050405020304" pitchFamily="18" charset="0"/>
              </a:rPr>
              <a:t>1</a:t>
            </a:r>
            <a:r>
              <a:rPr lang="en-US" altLang="zh-CN" sz="2133" b="1" dirty="0">
                <a:solidFill>
                  <a:prstClr val="black"/>
                </a:solidFill>
                <a:latin typeface="Times New Roman" panose="02020603050405020304" pitchFamily="18" charset="0"/>
                <a:cs typeface="Times New Roman" panose="02020603050405020304" pitchFamily="18" charset="0"/>
              </a:rPr>
              <a:t>0</a:t>
            </a:r>
            <a:r>
              <a:rPr lang="zh-CN" altLang="zh-CN" sz="2133" b="1" dirty="0">
                <a:solidFill>
                  <a:prstClr val="black"/>
                </a:solidFill>
                <a:latin typeface="Times New Roman" panose="02020603050405020304" pitchFamily="18" charset="0"/>
                <a:cs typeface="Times New Roman" panose="02020603050405020304" pitchFamily="18" charset="0"/>
              </a:rPr>
              <a:t>%</a:t>
            </a:r>
            <a:r>
              <a:rPr lang="zh-CN" altLang="zh-CN" sz="2133" dirty="0">
                <a:solidFill>
                  <a:prstClr val="black"/>
                </a:solidFill>
                <a:latin typeface="Times New Roman" panose="02020603050405020304" pitchFamily="18" charset="0"/>
                <a:cs typeface="Times New Roman" panose="02020603050405020304" pitchFamily="18" charset="0"/>
              </a:rPr>
              <a:t> attrition or loss to follow-up, there would be</a:t>
            </a:r>
            <a:r>
              <a:rPr lang="zh-CN" altLang="zh-CN" sz="2133" b="1" dirty="0">
                <a:solidFill>
                  <a:prstClr val="black"/>
                </a:solidFill>
                <a:latin typeface="Times New Roman" panose="02020603050405020304" pitchFamily="18" charset="0"/>
                <a:cs typeface="Times New Roman" panose="02020603050405020304" pitchFamily="18" charset="0"/>
              </a:rPr>
              <a:t> </a:t>
            </a:r>
            <a:r>
              <a:rPr lang="en-US" altLang="zh-CN" sz="2133" b="1" dirty="0">
                <a:solidFill>
                  <a:prstClr val="black"/>
                </a:solidFill>
                <a:latin typeface="Times New Roman" panose="02020603050405020304" pitchFamily="18" charset="0"/>
                <a:cs typeface="Times New Roman" panose="02020603050405020304" pitchFamily="18" charset="0"/>
              </a:rPr>
              <a:t>397</a:t>
            </a:r>
            <a:r>
              <a:rPr lang="zh-CN" altLang="zh-CN" sz="2133" b="1" dirty="0">
                <a:solidFill>
                  <a:prstClr val="black"/>
                </a:solidFill>
                <a:latin typeface="Times New Roman" panose="02020603050405020304" pitchFamily="18" charset="0"/>
                <a:cs typeface="Times New Roman" panose="02020603050405020304" pitchFamily="18" charset="0"/>
              </a:rPr>
              <a:t> </a:t>
            </a:r>
            <a:r>
              <a:rPr lang="zh-CN" altLang="zh-CN" sz="2133" dirty="0">
                <a:solidFill>
                  <a:prstClr val="black"/>
                </a:solidFill>
                <a:latin typeface="Times New Roman" panose="02020603050405020304" pitchFamily="18" charset="0"/>
                <a:cs typeface="Times New Roman" panose="02020603050405020304" pitchFamily="18" charset="0"/>
              </a:rPr>
              <a:t>patients per arm.</a:t>
            </a:r>
            <a:r>
              <a:rPr lang="en-US" altLang="zh-CN" sz="2133" dirty="0">
                <a:solidFill>
                  <a:prstClr val="black"/>
                </a:solidFill>
                <a:latin typeface="Times New Roman" panose="02020603050405020304" pitchFamily="18" charset="0"/>
                <a:cs typeface="Times New Roman" panose="02020603050405020304" pitchFamily="18" charset="0"/>
              </a:rPr>
              <a:t> The final total sample size was </a:t>
            </a:r>
            <a:r>
              <a:rPr lang="en-US" altLang="zh-CN" sz="2133" b="1" dirty="0">
                <a:solidFill>
                  <a:prstClr val="black"/>
                </a:solidFill>
                <a:latin typeface="Times New Roman" panose="02020603050405020304" pitchFamily="18" charset="0"/>
                <a:cs typeface="Times New Roman" panose="02020603050405020304" pitchFamily="18" charset="0"/>
              </a:rPr>
              <a:t>794</a:t>
            </a:r>
            <a:r>
              <a:rPr lang="en-US" altLang="zh-CN" sz="2133" dirty="0">
                <a:solidFill>
                  <a:prstClr val="black"/>
                </a:solidFill>
                <a:latin typeface="Times New Roman" panose="02020603050405020304" pitchFamily="18" charset="0"/>
                <a:cs typeface="Times New Roman" panose="02020603050405020304" pitchFamily="18" charset="0"/>
              </a:rPr>
              <a:t> patients.</a:t>
            </a:r>
          </a:p>
          <a:p>
            <a:pPr algn="just" defTabSz="1219170"/>
            <a:endParaRPr lang="en-US" altLang="zh-CN" sz="2133" dirty="0">
              <a:solidFill>
                <a:prstClr val="black"/>
              </a:solidFill>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20C4179F-5F3C-6677-3387-DC270C2EA136}"/>
              </a:ext>
            </a:extLst>
          </p:cNvPr>
          <p:cNvSpPr txBox="1"/>
          <p:nvPr/>
        </p:nvSpPr>
        <p:spPr bwMode="gray">
          <a:xfrm>
            <a:off x="8014582" y="6464091"/>
            <a:ext cx="3808817" cy="338554"/>
          </a:xfrm>
          <a:prstGeom prst="rect">
            <a:avLst/>
          </a:prstGeom>
          <a:noFill/>
        </p:spPr>
        <p:txBody>
          <a:bodyPr wrap="square">
            <a:spAutoFit/>
          </a:bodyPr>
          <a:lstStyle/>
          <a:p>
            <a:pPr algn="r" defTabSz="1219170"/>
            <a:r>
              <a:rPr lang="en-US" altLang="zh-CN" sz="1600">
                <a:solidFill>
                  <a:prstClr val="black"/>
                </a:solidFill>
                <a:latin typeface="Times New Roman" panose="02020603050405020304" pitchFamily="18" charset="0"/>
                <a:cs typeface="Times New Roman" panose="02020603050405020304" pitchFamily="18" charset="0"/>
              </a:rPr>
              <a:t>.</a:t>
            </a:r>
          </a:p>
        </p:txBody>
      </p:sp>
      <p:sp>
        <p:nvSpPr>
          <p:cNvPr id="5" name="文本框 4">
            <a:extLst>
              <a:ext uri="{FF2B5EF4-FFF2-40B4-BE49-F238E27FC236}">
                <a16:creationId xmlns:a16="http://schemas.microsoft.com/office/drawing/2014/main" id="{4ADC49EA-8A97-B43B-F27F-1447AFA7B6AE}"/>
              </a:ext>
            </a:extLst>
          </p:cNvPr>
          <p:cNvSpPr txBox="1"/>
          <p:nvPr/>
        </p:nvSpPr>
        <p:spPr bwMode="gray">
          <a:xfrm>
            <a:off x="9138003" y="6330724"/>
            <a:ext cx="2286589" cy="256545"/>
          </a:xfrm>
          <a:prstGeom prst="rect">
            <a:avLst/>
          </a:prstGeom>
          <a:noFill/>
        </p:spPr>
        <p:txBody>
          <a:bodyPr wrap="square">
            <a:spAutoFit/>
          </a:bodyPr>
          <a:lstStyle/>
          <a:p>
            <a:pPr defTabSz="1219170"/>
            <a:r>
              <a:rPr lang="en-US" altLang="zh-CN" sz="1067">
                <a:solidFill>
                  <a:prstClr val="black"/>
                </a:solidFill>
                <a:latin typeface="Times New Roman" panose="02020603050405020304" pitchFamily="18" charset="0"/>
                <a:cs typeface="Times New Roman" panose="02020603050405020304" pitchFamily="18" charset="0"/>
              </a:rPr>
              <a:t>N Engl J Med. 2024; 391(3):203-212</a:t>
            </a:r>
            <a:endParaRPr lang="zh-CN" altLang="en-US" sz="1067">
              <a:solidFill>
                <a:prstClr val="black"/>
              </a:solidFill>
              <a:latin typeface="Times New Roman" panose="02020603050405020304" pitchFamily="18" charset="0"/>
              <a:cs typeface="Times New Roman" panose="02020603050405020304" pitchFamily="18" charset="0"/>
            </a:endParaRPr>
          </a:p>
        </p:txBody>
      </p:sp>
      <p:sp>
        <p:nvSpPr>
          <p:cNvPr id="11" name="文本框 2">
            <a:extLst>
              <a:ext uri="{FF2B5EF4-FFF2-40B4-BE49-F238E27FC236}">
                <a16:creationId xmlns:a16="http://schemas.microsoft.com/office/drawing/2014/main" id="{7D34F3FD-A5B3-0B74-BF0D-17E77C7D672B}"/>
              </a:ext>
            </a:extLst>
          </p:cNvPr>
          <p:cNvSpPr txBox="1"/>
          <p:nvPr/>
        </p:nvSpPr>
        <p:spPr>
          <a:xfrm>
            <a:off x="231774" y="325344"/>
            <a:ext cx="9231403" cy="506389"/>
          </a:xfrm>
          <a:prstGeom prst="rect">
            <a:avLst/>
          </a:prstGeom>
          <a:noFill/>
          <a:ln w="19050">
            <a:noFill/>
          </a:ln>
        </p:spPr>
        <p:txBody>
          <a:bodyPr wrap="square" lIns="180000" tIns="0" rIns="90000" bIns="0" rtlCol="0" anchor="t" anchorCtr="0">
            <a:noAutofit/>
          </a:body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US" altLang="zh-CN" sz="3200" b="1" dirty="0">
                <a:latin typeface="Times New Roman" panose="02020603050405020304" pitchFamily="18" charset="0"/>
                <a:cs typeface="Times New Roman" panose="02020603050405020304" pitchFamily="18" charset="0"/>
              </a:rPr>
              <a:t>USTC: </a:t>
            </a:r>
            <a:r>
              <a:rPr lang="en-US" altLang="zh-CN" sz="3200" b="1" dirty="0">
                <a:latin typeface="Times New Roman" panose="02020603050405020304" pitchFamily="18" charset="0"/>
                <a:cs typeface="Times New Roman" panose="02020603050405020304" pitchFamily="18" charset="0"/>
                <a:sym typeface="+mn-ea"/>
              </a:rPr>
              <a:t>Power re-evaluation</a:t>
            </a:r>
            <a:endParaRPr lang="zh-CN" altLang="en-US" sz="3200" b="1" dirty="0">
              <a:latin typeface="Times New Roman" panose="02020603050405020304" pitchFamily="18" charset="0"/>
              <a:cs typeface="Times New Roman" panose="02020603050405020304" pitchFamily="18" charset="0"/>
              <a:sym typeface="+mn-ea"/>
            </a:endParaRPr>
          </a:p>
        </p:txBody>
      </p:sp>
      <p:graphicFrame>
        <p:nvGraphicFramePr>
          <p:cNvPr id="12" name="表格 5">
            <a:extLst>
              <a:ext uri="{FF2B5EF4-FFF2-40B4-BE49-F238E27FC236}">
                <a16:creationId xmlns:a16="http://schemas.microsoft.com/office/drawing/2014/main" id="{3A07B01F-06B6-44A0-8F10-4BC1A0631788}"/>
              </a:ext>
            </a:extLst>
          </p:cNvPr>
          <p:cNvGraphicFramePr>
            <a:graphicFrameLocks noGrp="1"/>
          </p:cNvGraphicFramePr>
          <p:nvPr/>
        </p:nvGraphicFramePr>
        <p:xfrm>
          <a:off x="6096000" y="1973782"/>
          <a:ext cx="5257672" cy="2080058"/>
        </p:xfrm>
        <a:graphic>
          <a:graphicData uri="http://schemas.openxmlformats.org/drawingml/2006/table">
            <a:tbl>
              <a:tblPr firstRow="1" bandRow="1">
                <a:tableStyleId>{5C22544A-7EE6-4342-B048-85BDC9FD1C3A}</a:tableStyleId>
              </a:tblPr>
              <a:tblGrid>
                <a:gridCol w="1472184">
                  <a:extLst>
                    <a:ext uri="{9D8B030D-6E8A-4147-A177-3AD203B41FA5}">
                      <a16:colId xmlns:a16="http://schemas.microsoft.com/office/drawing/2014/main" val="786518429"/>
                    </a:ext>
                  </a:extLst>
                </a:gridCol>
                <a:gridCol w="987552">
                  <a:extLst>
                    <a:ext uri="{9D8B030D-6E8A-4147-A177-3AD203B41FA5}">
                      <a16:colId xmlns:a16="http://schemas.microsoft.com/office/drawing/2014/main" val="2038498940"/>
                    </a:ext>
                  </a:extLst>
                </a:gridCol>
                <a:gridCol w="1027173">
                  <a:extLst>
                    <a:ext uri="{9D8B030D-6E8A-4147-A177-3AD203B41FA5}">
                      <a16:colId xmlns:a16="http://schemas.microsoft.com/office/drawing/2014/main" val="1020086221"/>
                    </a:ext>
                  </a:extLst>
                </a:gridCol>
                <a:gridCol w="1770763">
                  <a:extLst>
                    <a:ext uri="{9D8B030D-6E8A-4147-A177-3AD203B41FA5}">
                      <a16:colId xmlns:a16="http://schemas.microsoft.com/office/drawing/2014/main" val="999665636"/>
                    </a:ext>
                  </a:extLst>
                </a:gridCol>
              </a:tblGrid>
              <a:tr h="67797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t>Scenario</a:t>
                      </a:r>
                      <a:endParaRPr lang="zh-CN" altLang="en-US" sz="16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dirty="0"/>
                        <a:t>N</a:t>
                      </a:r>
                      <a:endParaRPr lang="zh-CN" altLang="en-US" sz="1600" b="1" dirty="0"/>
                    </a:p>
                  </a:txBody>
                  <a:tcPr anchor="ctr"/>
                </a:tc>
                <a:tc>
                  <a:txBody>
                    <a:bodyPr/>
                    <a:lstStyle/>
                    <a:p>
                      <a:pPr algn="ctr"/>
                      <a:r>
                        <a:rPr lang="en-US" altLang="zh-CN" sz="1600"/>
                        <a:t>Power </a:t>
                      </a:r>
                      <a:endParaRPr lang="zh-CN" altLang="en-US" sz="1600"/>
                    </a:p>
                  </a:txBody>
                  <a:tcPr anchor="ctr"/>
                </a:tc>
                <a:tc>
                  <a:txBody>
                    <a:bodyPr/>
                    <a:lstStyle/>
                    <a:p>
                      <a:pPr algn="ctr"/>
                      <a:r>
                        <a:rPr lang="en-US" altLang="zh-CN" sz="1600"/>
                        <a:t>Min. detectable </a:t>
                      </a:r>
                      <a:r>
                        <a:rPr lang="en-US" altLang="zh-CN" sz="1600" err="1"/>
                        <a:t>cOR</a:t>
                      </a:r>
                      <a:endParaRPr lang="zh-CN" altLang="en-US" sz="1600"/>
                    </a:p>
                  </a:txBody>
                  <a:tcPr anchor="ctr"/>
                </a:tc>
                <a:extLst>
                  <a:ext uri="{0D108BD9-81ED-4DB2-BD59-A6C34878D82A}">
                    <a16:rowId xmlns:a16="http://schemas.microsoft.com/office/drawing/2014/main" val="3279651759"/>
                  </a:ext>
                </a:extLst>
              </a:tr>
              <a:tr h="499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Observed case</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714</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algn="ct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80.0%</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7%</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extLst>
                  <a:ext uri="{0D108BD9-81ED-4DB2-BD59-A6C34878D82A}">
                    <a16:rowId xmlns:a16="http://schemas.microsoft.com/office/drawing/2014/main" val="3191766280"/>
                  </a:ext>
                </a:extLst>
              </a:tr>
              <a:tr h="49941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Imputed case</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prstClr val="black"/>
                          </a:solidFill>
                          <a:effectLst/>
                          <a:uLnTx/>
                          <a:uFillTx/>
                          <a:latin typeface="Calibri"/>
                          <a:ea typeface="微软雅黑"/>
                          <a:cs typeface="+mn-cs"/>
                        </a:rPr>
                        <a:t>794</a:t>
                      </a:r>
                      <a:endParaRPr kumimoji="0" lang="zh-CN" altLang="en-US" sz="2000" b="1" i="0" u="none" strike="noStrike" kern="1200" cap="none" spc="0" normalizeH="0" baseline="0" noProof="0" dirty="0">
                        <a:ln>
                          <a:noFill/>
                        </a:ln>
                        <a:solidFill>
                          <a:prstClr val="black"/>
                        </a:solidFill>
                        <a:effectLst/>
                        <a:uLnTx/>
                        <a:uFillTx/>
                        <a:latin typeface="Calibri"/>
                        <a:ea typeface="微软雅黑"/>
                        <a:cs typeface="+mn-cs"/>
                      </a:endParaRPr>
                    </a:p>
                  </a:txBody>
                  <a:tcPr anchor="ctr"/>
                </a:tc>
                <a:tc>
                  <a:txBody>
                    <a:bodyPr/>
                    <a:lstStyle/>
                    <a:p>
                      <a:pPr algn="ct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84.4%</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none" spc="0" normalizeH="0" baseline="0" dirty="0">
                          <a:ln>
                            <a:noFill/>
                          </a:ln>
                          <a:solidFill>
                            <a:prstClr val="black"/>
                          </a:solidFill>
                          <a:effectLst/>
                          <a:uLnTx/>
                          <a:uFillTx/>
                          <a:latin typeface="Calibri"/>
                          <a:ea typeface="微软雅黑"/>
                          <a:cs typeface="+mn-cs"/>
                        </a:rPr>
                        <a:t>6.8%</a:t>
                      </a:r>
                      <a:endParaRPr kumimoji="0" lang="zh-CN" altLang="en-US" sz="2000" b="1" i="0" u="none" strike="noStrike" kern="1200" cap="none" spc="0" normalizeH="0" baseline="0" dirty="0">
                        <a:ln>
                          <a:noFill/>
                        </a:ln>
                        <a:solidFill>
                          <a:prstClr val="black"/>
                        </a:solidFill>
                        <a:effectLst/>
                        <a:uLnTx/>
                        <a:uFillTx/>
                        <a:latin typeface="Calibri"/>
                        <a:ea typeface="微软雅黑"/>
                        <a:cs typeface="+mn-cs"/>
                      </a:endParaRPr>
                    </a:p>
                  </a:txBody>
                  <a:tcPr anchor="ctr"/>
                </a:tc>
                <a:extLst>
                  <a:ext uri="{0D108BD9-81ED-4DB2-BD59-A6C34878D82A}">
                    <a16:rowId xmlns:a16="http://schemas.microsoft.com/office/drawing/2014/main" val="594815543"/>
                  </a:ext>
                </a:extLst>
              </a:tr>
            </a:tbl>
          </a:graphicData>
        </a:graphic>
      </p:graphicFrame>
    </p:spTree>
    <p:extLst>
      <p:ext uri="{BB962C8B-B14F-4D97-AF65-F5344CB8AC3E}">
        <p14:creationId xmlns:p14="http://schemas.microsoft.com/office/powerpoint/2010/main" val="351047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a:extLst>
              <a:ext uri="{FF2B5EF4-FFF2-40B4-BE49-F238E27FC236}">
                <a16:creationId xmlns:a16="http://schemas.microsoft.com/office/drawing/2014/main" id="{438E23DF-777B-9EDE-9638-ED6EC0F31F7C}"/>
              </a:ext>
            </a:extLst>
          </p:cNvPr>
          <p:cNvSpPr>
            <a:spLocks noGrp="1"/>
          </p:cNvSpPr>
          <p:nvPr>
            <p:ph type="title"/>
          </p:nvPr>
        </p:nvSpPr>
        <p:spPr/>
        <p:txBody>
          <a:bodyPr/>
          <a:lstStyle/>
          <a:p>
            <a:r>
              <a:rPr lang="en-US" altLang="zh-CN" sz="3200" dirty="0"/>
              <a:t>USTC: Interim interim</a:t>
            </a:r>
            <a:endParaRPr lang="zh-CN" altLang="en-US" sz="3200" dirty="0"/>
          </a:p>
        </p:txBody>
      </p:sp>
      <p:sp>
        <p:nvSpPr>
          <p:cNvPr id="6" name="灯片编号占位符 5">
            <a:extLst>
              <a:ext uri="{FF2B5EF4-FFF2-40B4-BE49-F238E27FC236}">
                <a16:creationId xmlns:a16="http://schemas.microsoft.com/office/drawing/2014/main" id="{894D58BC-2E7D-297D-EC6C-A32FEDE9FA48}"/>
              </a:ext>
            </a:extLst>
          </p:cNvPr>
          <p:cNvSpPr>
            <a:spLocks noGrp="1"/>
          </p:cNvSpPr>
          <p:nvPr>
            <p:ph type="sldNum" sz="quarter" idx="4294967295"/>
          </p:nvPr>
        </p:nvSpPr>
        <p:spPr>
          <a:xfrm>
            <a:off x="11902018" y="6246284"/>
            <a:ext cx="289983" cy="287867"/>
          </a:xfrm>
        </p:spPr>
        <p:txBody>
          <a:bodyPr/>
          <a:lstStyle/>
          <a:p>
            <a:pPr defTabSz="1219170"/>
            <a:fld id="{143B55C4-4F5A-416B-997D-6CE47EB0A945}" type="slidenum">
              <a:rPr lang="en-GB">
                <a:solidFill>
                  <a:srgbClr val="08312A"/>
                </a:solidFill>
              </a:rPr>
              <a:pPr defTabSz="1219170"/>
              <a:t>8</a:t>
            </a:fld>
            <a:endParaRPr lang="en-GB">
              <a:solidFill>
                <a:srgbClr val="08312A"/>
              </a:solidFill>
            </a:endParaRPr>
          </a:p>
        </p:txBody>
      </p:sp>
      <p:graphicFrame>
        <p:nvGraphicFramePr>
          <p:cNvPr id="3" name="表格 2">
            <a:extLst>
              <a:ext uri="{FF2B5EF4-FFF2-40B4-BE49-F238E27FC236}">
                <a16:creationId xmlns:a16="http://schemas.microsoft.com/office/drawing/2014/main" id="{8FFDD0E9-576A-DEC0-CC2A-1E7DF2192B94}"/>
              </a:ext>
            </a:extLst>
          </p:cNvPr>
          <p:cNvGraphicFramePr>
            <a:graphicFrameLocks noGrp="1"/>
          </p:cNvGraphicFramePr>
          <p:nvPr/>
        </p:nvGraphicFramePr>
        <p:xfrm>
          <a:off x="495301" y="1057137"/>
          <a:ext cx="4039630" cy="5019605"/>
        </p:xfrm>
        <a:graphic>
          <a:graphicData uri="http://schemas.openxmlformats.org/drawingml/2006/table">
            <a:tbl>
              <a:tblPr>
                <a:tableStyleId>{9DCAF9ED-07DC-4A11-8D7F-57B35C25682E}</a:tableStyleId>
              </a:tblPr>
              <a:tblGrid>
                <a:gridCol w="539017">
                  <a:extLst>
                    <a:ext uri="{9D8B030D-6E8A-4147-A177-3AD203B41FA5}">
                      <a16:colId xmlns:a16="http://schemas.microsoft.com/office/drawing/2014/main" val="4294608358"/>
                    </a:ext>
                  </a:extLst>
                </a:gridCol>
                <a:gridCol w="905716">
                  <a:extLst>
                    <a:ext uri="{9D8B030D-6E8A-4147-A177-3AD203B41FA5}">
                      <a16:colId xmlns:a16="http://schemas.microsoft.com/office/drawing/2014/main" val="1193540884"/>
                    </a:ext>
                  </a:extLst>
                </a:gridCol>
                <a:gridCol w="594496">
                  <a:extLst>
                    <a:ext uri="{9D8B030D-6E8A-4147-A177-3AD203B41FA5}">
                      <a16:colId xmlns:a16="http://schemas.microsoft.com/office/drawing/2014/main" val="1938389889"/>
                    </a:ext>
                  </a:extLst>
                </a:gridCol>
                <a:gridCol w="839948">
                  <a:extLst>
                    <a:ext uri="{9D8B030D-6E8A-4147-A177-3AD203B41FA5}">
                      <a16:colId xmlns:a16="http://schemas.microsoft.com/office/drawing/2014/main" val="756658949"/>
                    </a:ext>
                  </a:extLst>
                </a:gridCol>
                <a:gridCol w="1160453">
                  <a:extLst>
                    <a:ext uri="{9D8B030D-6E8A-4147-A177-3AD203B41FA5}">
                      <a16:colId xmlns:a16="http://schemas.microsoft.com/office/drawing/2014/main" val="2983610490"/>
                    </a:ext>
                  </a:extLst>
                </a:gridCol>
              </a:tblGrid>
              <a:tr h="262972">
                <a:tc>
                  <a:txBody>
                    <a:bodyPr/>
                    <a:lstStyle/>
                    <a:p>
                      <a:pPr algn="ctr" fontAlgn="b"/>
                      <a:r>
                        <a:rPr lang="zh-CN" altLang="en-US" sz="1050" b="1" i="0" u="none" strike="noStrike">
                          <a:solidFill>
                            <a:schemeClr val="bg1"/>
                          </a:solidFill>
                          <a:effectLst/>
                          <a:latin typeface="等线" panose="02010600030101010101" pitchFamily="2" charset="-122"/>
                          <a:ea typeface="等线" panose="02010600030101010101" pitchFamily="2" charset="-122"/>
                        </a:rPr>
                        <a:t>月数</a:t>
                      </a:r>
                    </a:p>
                  </a:txBody>
                  <a:tcPr marL="6350" marR="6350" marT="6350" marB="0" anchor="ctr">
                    <a:lnL w="12700" cap="flat" cmpd="sng" algn="ctr">
                      <a:solidFill>
                        <a:schemeClr val="bg2">
                          <a:lumMod val="90000"/>
                          <a:lumOff val="10000"/>
                        </a:schemeClr>
                      </a:solidFill>
                      <a:prstDash val="solid"/>
                      <a:round/>
                      <a:headEnd type="none" w="med" len="med"/>
                      <a:tailEnd type="none" w="med" len="med"/>
                    </a:lnL>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zh-CN" altLang="en-US" sz="1050" b="1" i="0" u="none" strike="noStrike">
                          <a:solidFill>
                            <a:schemeClr val="bg1"/>
                          </a:solidFill>
                          <a:effectLst/>
                          <a:latin typeface="等线" panose="02010600030101010101" pitchFamily="2" charset="-122"/>
                          <a:ea typeface="等线" panose="02010600030101010101" pitchFamily="2" charset="-122"/>
                        </a:rPr>
                        <a:t>每月入组例数</a:t>
                      </a:r>
                    </a:p>
                  </a:txBody>
                  <a:tcPr marL="6350" marR="6350" marT="6350" marB="0" anchor="ct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zh-CN" altLang="en-US" sz="1050" b="1" i="0" u="none" strike="noStrike">
                          <a:solidFill>
                            <a:schemeClr val="bg1"/>
                          </a:solidFill>
                          <a:effectLst/>
                          <a:latin typeface="等线" panose="02010600030101010101" pitchFamily="2" charset="-122"/>
                          <a:ea typeface="等线" panose="02010600030101010101" pitchFamily="2" charset="-122"/>
                        </a:rPr>
                        <a:t>累计入组</a:t>
                      </a:r>
                    </a:p>
                  </a:txBody>
                  <a:tcPr marL="6350" marR="6350" marT="6350" marB="0" anchor="ct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zh-CN" altLang="en-US" sz="1050" b="1" i="0" u="none" strike="noStrike">
                          <a:solidFill>
                            <a:schemeClr val="bg1"/>
                          </a:solidFill>
                          <a:effectLst/>
                          <a:latin typeface="等线" panose="02010600030101010101" pitchFamily="2" charset="-122"/>
                          <a:ea typeface="等线" panose="02010600030101010101" pitchFamily="2" charset="-122"/>
                        </a:rPr>
                        <a:t>累计入组</a:t>
                      </a:r>
                      <a:r>
                        <a:rPr lang="en-US" altLang="zh-CN" sz="1050" b="1" i="0" u="none" strike="noStrike">
                          <a:solidFill>
                            <a:schemeClr val="bg1"/>
                          </a:solidFill>
                          <a:effectLst/>
                          <a:latin typeface="等线" panose="02010600030101010101" pitchFamily="2" charset="-122"/>
                          <a:ea typeface="等线" panose="02010600030101010101" pitchFamily="2" charset="-122"/>
                        </a:rPr>
                        <a:t>%</a:t>
                      </a:r>
                    </a:p>
                  </a:txBody>
                  <a:tcPr marL="6350" marR="6350" marT="6350" marB="0" anchor="ct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tc>
                  <a:txBody>
                    <a:bodyPr/>
                    <a:lstStyle/>
                    <a:p>
                      <a:pPr algn="ctr" fontAlgn="b"/>
                      <a:r>
                        <a:rPr lang="en-US" sz="1050" b="1" i="0" u="none" strike="noStrike">
                          <a:solidFill>
                            <a:schemeClr val="bg1"/>
                          </a:solidFill>
                          <a:effectLst/>
                          <a:latin typeface="等线" panose="02010600030101010101" pitchFamily="2" charset="-122"/>
                          <a:ea typeface="等线" panose="02010600030101010101" pitchFamily="2" charset="-122"/>
                        </a:rPr>
                        <a:t>Note</a:t>
                      </a:r>
                    </a:p>
                  </a:txBody>
                  <a:tcPr marL="6350" marR="6350" marT="6350" marB="0" anchor="ctr">
                    <a:lnR w="12700" cap="flat" cmpd="sng" algn="ctr">
                      <a:solidFill>
                        <a:schemeClr val="bg2">
                          <a:lumMod val="90000"/>
                          <a:lumOff val="10000"/>
                        </a:schemeClr>
                      </a:solidFill>
                      <a:prstDash val="solid"/>
                      <a:round/>
                      <a:headEnd type="none" w="med" len="med"/>
                      <a:tailEnd type="none" w="med" len="med"/>
                    </a:lnR>
                    <a:lnT w="12700" cap="flat" cmpd="sng" algn="ctr">
                      <a:solidFill>
                        <a:schemeClr val="bg2">
                          <a:lumMod val="90000"/>
                          <a:lumOff val="10000"/>
                        </a:schemeClr>
                      </a:solidFill>
                      <a:prstDash val="solid"/>
                      <a:round/>
                      <a:headEnd type="none" w="med" len="med"/>
                      <a:tailEnd type="none" w="med" len="med"/>
                    </a:lnT>
                    <a:lnB w="12700" cap="flat" cmpd="sng" algn="ctr">
                      <a:solidFill>
                        <a:schemeClr val="bg2">
                          <a:lumMod val="90000"/>
                          <a:lumOff val="10000"/>
                        </a:schemeClr>
                      </a:solidFill>
                      <a:prstDash val="solid"/>
                      <a:round/>
                      <a:headEnd type="none" w="med" len="med"/>
                      <a:tailEnd type="none" w="med" len="med"/>
                    </a:lnB>
                    <a:solidFill>
                      <a:schemeClr val="accent1">
                        <a:lumMod val="90000"/>
                        <a:lumOff val="10000"/>
                      </a:schemeClr>
                    </a:solidFill>
                  </a:tcPr>
                </a:tc>
                <a:extLst>
                  <a:ext uri="{0D108BD9-81ED-4DB2-BD59-A6C34878D82A}">
                    <a16:rowId xmlns:a16="http://schemas.microsoft.com/office/drawing/2014/main" val="309369944"/>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a:t>
                      </a:r>
                    </a:p>
                  </a:txBody>
                  <a:tcPr marL="6350" marR="6350" marT="6350"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10</a:t>
                      </a:r>
                    </a:p>
                  </a:txBody>
                  <a:tcPr marL="6350" marR="6350" marT="6350"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10</a:t>
                      </a:r>
                    </a:p>
                  </a:txBody>
                  <a:tcPr marL="6350" marR="6350" marT="6350"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a:t>
                      </a:r>
                    </a:p>
                  </a:txBody>
                  <a:tcPr marL="6350" marR="6350" marT="6350" marB="0" anchor="ctr">
                    <a:lnT w="12700" cap="flat" cmpd="sng" algn="ctr">
                      <a:solidFill>
                        <a:schemeClr val="bg2">
                          <a:lumMod val="90000"/>
                          <a:lumOff val="10000"/>
                        </a:schemeClr>
                      </a:solidFill>
                      <a:prstDash val="solid"/>
                      <a:round/>
                      <a:headEnd type="none" w="med" len="med"/>
                      <a:tailEnd type="none" w="med" len="med"/>
                    </a:lnT>
                  </a:tcPr>
                </a:tc>
                <a:tc>
                  <a:txBody>
                    <a:bodyPr/>
                    <a:lstStyle/>
                    <a:p>
                      <a:pPr algn="ctr" fontAlgn="b"/>
                      <a:r>
                        <a:rPr lang="en-US" sz="1050" b="1" i="0" u="none" strike="noStrike">
                          <a:solidFill>
                            <a:srgbClr val="000000"/>
                          </a:solidFill>
                          <a:effectLst/>
                          <a:latin typeface="等线" panose="02010600030101010101" pitchFamily="2" charset="-122"/>
                          <a:ea typeface="等线" panose="02010600030101010101" pitchFamily="2" charset="-122"/>
                        </a:rPr>
                        <a:t>First patient in</a:t>
                      </a:r>
                    </a:p>
                  </a:txBody>
                  <a:tcPr marL="6350" marR="6350" marT="6350" marB="0" anchor="ctr">
                    <a:lnT w="12700" cap="flat" cmpd="sng" algn="ctr">
                      <a:solidFill>
                        <a:schemeClr val="bg2">
                          <a:lumMod val="90000"/>
                          <a:lumOff val="10000"/>
                        </a:schemeClr>
                      </a:solidFill>
                      <a:prstDash val="solid"/>
                      <a:round/>
                      <a:headEnd type="none" w="med" len="med"/>
                      <a:tailEnd type="none" w="med" len="med"/>
                    </a:lnT>
                  </a:tcPr>
                </a:tc>
                <a:extLst>
                  <a:ext uri="{0D108BD9-81ED-4DB2-BD59-A6C34878D82A}">
                    <a16:rowId xmlns:a16="http://schemas.microsoft.com/office/drawing/2014/main" val="3908533852"/>
                  </a:ext>
                </a:extLst>
              </a:tr>
              <a:tr h="262972">
                <a:tc>
                  <a:txBody>
                    <a:bodyPr/>
                    <a:lstStyle/>
                    <a:p>
                      <a:pPr algn="ctr" fontAlgn="b"/>
                      <a:r>
                        <a:rPr lang="en-US" altLang="zh-CN" sz="1100" b="1" i="0" u="none" strike="noStrike" dirty="0">
                          <a:solidFill>
                            <a:srgbClr val="000000"/>
                          </a:solidFill>
                          <a:effectLst/>
                          <a:latin typeface="等线" panose="02010600030101010101" pitchFamily="2" charset="-122"/>
                          <a:ea typeface="等线" panose="02010600030101010101" pitchFamily="2" charset="-122"/>
                        </a:rPr>
                        <a:t>8</a:t>
                      </a:r>
                    </a:p>
                  </a:txBody>
                  <a:tcPr marL="6350" marR="6350" marT="6350" marB="0" anchor="ctr"/>
                </a:tc>
                <a:tc>
                  <a:txBody>
                    <a:bodyPr/>
                    <a:lstStyle/>
                    <a:p>
                      <a:pPr algn="ctr" fontAlgn="b"/>
                      <a:r>
                        <a:rPr lang="en-US" altLang="zh-CN" sz="1100" b="1" i="0" u="none" strike="noStrike" dirty="0">
                          <a:solidFill>
                            <a:srgbClr val="000000"/>
                          </a:solidFill>
                          <a:effectLst/>
                          <a:latin typeface="等线" panose="02010600030101010101" pitchFamily="2" charset="-122"/>
                          <a:ea typeface="等线" panose="02010600030101010101" pitchFamily="2" charset="-122"/>
                        </a:rPr>
                        <a:t>35</a:t>
                      </a:r>
                    </a:p>
                  </a:txBody>
                  <a:tcPr marL="6350" marR="6350" marT="6350" marB="0" anchor="ctr"/>
                </a:tc>
                <a:tc>
                  <a:txBody>
                    <a:bodyPr/>
                    <a:lstStyle/>
                    <a:p>
                      <a:pPr algn="ctr" fontAlgn="b"/>
                      <a:r>
                        <a:rPr lang="en-US" altLang="zh-CN" sz="1100" b="1" i="0" u="none" strike="noStrike" dirty="0">
                          <a:solidFill>
                            <a:srgbClr val="FF0000"/>
                          </a:solidFill>
                          <a:effectLst/>
                          <a:latin typeface="等线" panose="02010600030101010101" pitchFamily="2" charset="-122"/>
                          <a:ea typeface="等线" panose="02010600030101010101" pitchFamily="2" charset="-122"/>
                        </a:rPr>
                        <a:t>202</a:t>
                      </a:r>
                    </a:p>
                  </a:txBody>
                  <a:tcPr marL="6350" marR="6350" marT="6350" marB="0" anchor="ctr"/>
                </a:tc>
                <a:tc>
                  <a:txBody>
                    <a:bodyPr/>
                    <a:lstStyle/>
                    <a:p>
                      <a:pPr algn="ctr" fontAlgn="b"/>
                      <a:r>
                        <a:rPr lang="en-US" altLang="zh-CN" sz="1100" b="1" i="0" u="none" strike="noStrike" dirty="0">
                          <a:solidFill>
                            <a:srgbClr val="000000"/>
                          </a:solidFill>
                          <a:effectLst/>
                          <a:latin typeface="等线" panose="02010600030101010101" pitchFamily="2" charset="-122"/>
                          <a:ea typeface="等线" panose="02010600030101010101" pitchFamily="2" charset="-122"/>
                        </a:rPr>
                        <a:t>25%</a:t>
                      </a:r>
                    </a:p>
                  </a:txBody>
                  <a:tcPr marL="6350" marR="6350" marT="6350" marB="0" anchor="ctr"/>
                </a:tc>
                <a:tc>
                  <a:txBody>
                    <a:bodyPr/>
                    <a:lstStyle/>
                    <a:p>
                      <a:pPr algn="ctr" fontAlgn="b"/>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258427500"/>
                  </a:ext>
                </a:extLst>
              </a:tr>
              <a:tr h="262972">
                <a:tc>
                  <a:txBody>
                    <a:bodyPr/>
                    <a:lstStyle/>
                    <a:p>
                      <a:pPr algn="ctr" fontAlgn="b"/>
                      <a:r>
                        <a:rPr lang="en-US" altLang="zh-CN" sz="1100" b="1" i="0" u="none" strike="noStrike" dirty="0">
                          <a:solidFill>
                            <a:srgbClr val="000000"/>
                          </a:solidFill>
                          <a:effectLst/>
                          <a:latin typeface="等线" panose="02010600030101010101" pitchFamily="2" charset="-122"/>
                          <a:ea typeface="等线" panose="02010600030101010101" pitchFamily="2" charset="-122"/>
                        </a:rPr>
                        <a:t>9</a:t>
                      </a:r>
                    </a:p>
                  </a:txBody>
                  <a:tcPr marL="6350" marR="6350" marT="6350" marB="0" anchor="ctr"/>
                </a:tc>
                <a:tc>
                  <a:txBody>
                    <a:bodyPr/>
                    <a:lstStyle/>
                    <a:p>
                      <a:pPr algn="ctr" fontAlgn="b"/>
                      <a:r>
                        <a:rPr lang="en-US" altLang="zh-CN" sz="1100" b="1" i="0" u="none" strike="noStrike" dirty="0">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1" i="0" u="none" strike="noStrike" dirty="0">
                          <a:solidFill>
                            <a:srgbClr val="FF0000"/>
                          </a:solidFill>
                          <a:effectLst/>
                          <a:latin typeface="等线" panose="02010600030101010101" pitchFamily="2" charset="-122"/>
                          <a:ea typeface="等线" panose="02010600030101010101" pitchFamily="2" charset="-122"/>
                        </a:rPr>
                        <a:t>239</a:t>
                      </a:r>
                    </a:p>
                  </a:txBody>
                  <a:tcPr marL="6350" marR="6350" marT="6350" marB="0" anchor="ctr"/>
                </a:tc>
                <a:tc>
                  <a:txBody>
                    <a:bodyPr/>
                    <a:lstStyle/>
                    <a:p>
                      <a:pPr algn="ctr" fontAlgn="b"/>
                      <a:r>
                        <a:rPr lang="en-US" altLang="zh-CN" sz="1100" b="1" i="0" u="none" strike="noStrike" dirty="0">
                          <a:solidFill>
                            <a:srgbClr val="000000"/>
                          </a:solidFill>
                          <a:effectLst/>
                          <a:latin typeface="等线" panose="02010600030101010101" pitchFamily="2" charset="-122"/>
                          <a:ea typeface="等线" panose="02010600030101010101" pitchFamily="2" charset="-122"/>
                        </a:rPr>
                        <a:t>30%</a:t>
                      </a:r>
                    </a:p>
                  </a:txBody>
                  <a:tcPr marL="6350" marR="6350" marT="6350" marB="0" anchor="ctr"/>
                </a:tc>
                <a:tc>
                  <a:txBody>
                    <a:bodyPr/>
                    <a:lstStyle/>
                    <a:p>
                      <a:pPr algn="ctr" fontAlgn="b"/>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1765573203"/>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10</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276</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35%</a:t>
                      </a:r>
                    </a:p>
                  </a:txBody>
                  <a:tcPr marL="6350" marR="6350" marT="6350" marB="0" anchor="ctr"/>
                </a:tc>
                <a:tc>
                  <a:txBody>
                    <a:bodyPr/>
                    <a:lstStyle/>
                    <a:p>
                      <a:pPr algn="ctr" fontAlgn="b"/>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818301759"/>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11</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313</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39%</a:t>
                      </a:r>
                    </a:p>
                  </a:txBody>
                  <a:tcPr marL="6350" marR="6350" marT="6350" marB="0" anchor="ctr"/>
                </a:tc>
                <a:tc>
                  <a:txBody>
                    <a:bodyPr/>
                    <a:lstStyle/>
                    <a:p>
                      <a:pPr algn="ctr" fontAlgn="b"/>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952402950"/>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12</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350</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44%</a:t>
                      </a:r>
                    </a:p>
                  </a:txBody>
                  <a:tcPr marL="6350" marR="6350" marT="6350" marB="0" anchor="ctr"/>
                </a:tc>
                <a:tc>
                  <a:txBody>
                    <a:bodyPr/>
                    <a:lstStyle/>
                    <a:p>
                      <a:pPr marL="0" marR="0" lvl="0" indent="0" algn="ctr" defTabSz="914354" rtl="0" eaLnBrk="1" fontAlgn="b" latinLnBrk="0" hangingPunct="1">
                        <a:lnSpc>
                          <a:spcPct val="100000"/>
                        </a:lnSpc>
                        <a:spcBef>
                          <a:spcPts val="0"/>
                        </a:spcBef>
                        <a:spcAft>
                          <a:spcPts val="0"/>
                        </a:spcAft>
                        <a:buClrTx/>
                        <a:buSzTx/>
                        <a:buFontTx/>
                        <a:buNone/>
                        <a:tabLst/>
                        <a:defRPr/>
                      </a:pPr>
                      <a:r>
                        <a:rPr lang="en-US" altLang="zh-CN" sz="1050" b="1" i="0" u="none" strike="noStrike" dirty="0">
                          <a:solidFill>
                            <a:srgbClr val="000000"/>
                          </a:solidFill>
                          <a:effectLst/>
                          <a:latin typeface="等线" panose="02010600030101010101" pitchFamily="2" charset="-122"/>
                          <a:ea typeface="等线" panose="02010600030101010101" pitchFamily="2" charset="-122"/>
                        </a:rPr>
                        <a:t>Futility Interim </a:t>
                      </a:r>
                    </a:p>
                  </a:txBody>
                  <a:tcPr marL="6350" marR="6350" marT="6350" marB="0" anchor="ctr"/>
                </a:tc>
                <a:extLst>
                  <a:ext uri="{0D108BD9-81ED-4DB2-BD59-A6C34878D82A}">
                    <a16:rowId xmlns:a16="http://schemas.microsoft.com/office/drawing/2014/main" val="617378094"/>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13</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387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49%</a:t>
                      </a:r>
                    </a:p>
                  </a:txBody>
                  <a:tcPr marL="6350" marR="6350" marT="6350" marB="0" anchor="ctr"/>
                </a:tc>
                <a:tc>
                  <a:txBody>
                    <a:bodyPr/>
                    <a:lstStyle/>
                    <a:p>
                      <a:pPr marL="0" marR="0" lvl="0" indent="0" algn="ctr" defTabSz="914354" rtl="0" eaLnBrk="1" fontAlgn="b" latinLnBrk="0" hangingPunct="1">
                        <a:lnSpc>
                          <a:spcPct val="100000"/>
                        </a:lnSpc>
                        <a:spcBef>
                          <a:spcPts val="0"/>
                        </a:spcBef>
                        <a:spcAft>
                          <a:spcPts val="0"/>
                        </a:spcAft>
                        <a:buClrTx/>
                        <a:buSzTx/>
                        <a:buFontTx/>
                        <a:buNone/>
                        <a:tabLst/>
                        <a:defRPr/>
                      </a:pPr>
                      <a:r>
                        <a:rPr lang="en-US" altLang="zh-CN" sz="1050" b="1" i="0" u="none" strike="noStrike" dirty="0">
                          <a:solidFill>
                            <a:srgbClr val="000000"/>
                          </a:solidFill>
                          <a:effectLst/>
                          <a:latin typeface="等线" panose="02010600030101010101" pitchFamily="2" charset="-122"/>
                          <a:ea typeface="等线" panose="02010600030101010101" pitchFamily="2" charset="-122"/>
                        </a:rPr>
                        <a:t>Futility Interim </a:t>
                      </a:r>
                    </a:p>
                  </a:txBody>
                  <a:tcPr marL="6350" marR="6350" marT="6350" marB="0" anchor="ctr"/>
                </a:tc>
                <a:extLst>
                  <a:ext uri="{0D108BD9-81ED-4DB2-BD59-A6C34878D82A}">
                    <a16:rowId xmlns:a16="http://schemas.microsoft.com/office/drawing/2014/main" val="2878705989"/>
                  </a:ext>
                </a:extLst>
              </a:tr>
              <a:tr h="262972">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14</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1" i="0" u="none" strike="noStrike" dirty="0">
                          <a:solidFill>
                            <a:srgbClr val="FF0000"/>
                          </a:solidFill>
                          <a:effectLst/>
                          <a:latin typeface="等线" panose="02010600030101010101" pitchFamily="2" charset="-122"/>
                          <a:ea typeface="等线" panose="02010600030101010101" pitchFamily="2" charset="-122"/>
                        </a:rPr>
                        <a:t>424</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53%</a:t>
                      </a:r>
                    </a:p>
                  </a:txBody>
                  <a:tcPr marL="6350" marR="6350" marT="6350" marB="0" anchor="ctr"/>
                </a:tc>
                <a:tc>
                  <a:txBody>
                    <a:bodyPr/>
                    <a:lstStyle/>
                    <a:p>
                      <a:pPr algn="ctr" fontAlgn="b"/>
                      <a:endParaRPr lang="en-US" sz="1050" b="1" i="0" u="none" strike="noStrike" dirty="0">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310947965"/>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15</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461</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58%</a:t>
                      </a:r>
                    </a:p>
                  </a:txBody>
                  <a:tcPr marL="6350" marR="6350" marT="6350" marB="0" anchor="ctr"/>
                </a:tc>
                <a:tc>
                  <a:txBody>
                    <a:bodyPr/>
                    <a:lstStyle/>
                    <a:p>
                      <a:pPr algn="ctr" fontAlgn="b"/>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2614278171"/>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16</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498</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63%</a:t>
                      </a:r>
                    </a:p>
                  </a:txBody>
                  <a:tcPr marL="6350" marR="6350" marT="6350"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endParaRPr lang="en-US" altLang="zh-CN" sz="1050" b="1"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1480665620"/>
                  </a:ext>
                </a:extLst>
              </a:tr>
              <a:tr h="286109">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17</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1" i="0" u="none" strike="noStrike" dirty="0">
                          <a:solidFill>
                            <a:srgbClr val="FF0000"/>
                          </a:solidFill>
                          <a:effectLst/>
                          <a:latin typeface="等线" panose="02010600030101010101" pitchFamily="2" charset="-122"/>
                          <a:ea typeface="等线" panose="02010600030101010101" pitchFamily="2" charset="-122"/>
                        </a:rPr>
                        <a:t>535</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67%</a:t>
                      </a:r>
                    </a:p>
                  </a:txBody>
                  <a:tcPr marL="6350" marR="6350" marT="6350"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endParaRPr lang="en-US" altLang="zh-CN" sz="1050" b="1" i="0" u="none" strike="noStrike" kern="1200">
                        <a:solidFill>
                          <a:schemeClr val="bg2">
                            <a:lumMod val="90000"/>
                            <a:lumOff val="10000"/>
                          </a:schemeClr>
                        </a:solidFill>
                        <a:effectLst/>
                        <a:latin typeface="等线" panose="02010600030101010101" pitchFamily="2" charset="-122"/>
                        <a:ea typeface="等线" panose="02010600030101010101" pitchFamily="2" charset="-122"/>
                        <a:cs typeface="+mn-cs"/>
                      </a:endParaRPr>
                    </a:p>
                  </a:txBody>
                  <a:tcPr marL="6350" marR="6350" marT="6350" marB="0" anchor="ctr"/>
                </a:tc>
                <a:extLst>
                  <a:ext uri="{0D108BD9-81ED-4DB2-BD59-A6C34878D82A}">
                    <a16:rowId xmlns:a16="http://schemas.microsoft.com/office/drawing/2014/main" val="3015884958"/>
                  </a:ext>
                </a:extLst>
              </a:tr>
              <a:tr h="262972">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18</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572</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72%</a:t>
                      </a:r>
                    </a:p>
                  </a:txBody>
                  <a:tcPr marL="6350" marR="6350" marT="6350"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lang="en-US" altLang="zh-CN" sz="1050" b="1" i="0" u="none" strike="noStrike" kern="1200" dirty="0">
                          <a:solidFill>
                            <a:schemeClr val="tx1"/>
                          </a:solidFill>
                          <a:effectLst/>
                          <a:latin typeface="等线" panose="02010600030101010101" pitchFamily="2" charset="-122"/>
                          <a:ea typeface="等线" panose="02010600030101010101" pitchFamily="2" charset="-122"/>
                          <a:cs typeface="+mn-cs"/>
                        </a:rPr>
                        <a:t>Efficacy Interim</a:t>
                      </a:r>
                    </a:p>
                  </a:txBody>
                  <a:tcPr marL="6350" marR="6350" marT="6350" marB="0" anchor="ctr"/>
                </a:tc>
                <a:extLst>
                  <a:ext uri="{0D108BD9-81ED-4DB2-BD59-A6C34878D82A}">
                    <a16:rowId xmlns:a16="http://schemas.microsoft.com/office/drawing/2014/main" val="4244729663"/>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19</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609</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77%</a:t>
                      </a:r>
                    </a:p>
                  </a:txBody>
                  <a:tcPr marL="6350" marR="6350" marT="6350"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endParaRPr lang="en-US" altLang="zh-CN" sz="1050" b="1" i="0" u="none" strike="noStrike" kern="1200">
                        <a:solidFill>
                          <a:schemeClr val="bg2">
                            <a:lumMod val="90000"/>
                            <a:lumOff val="10000"/>
                          </a:schemeClr>
                        </a:solidFill>
                        <a:effectLst/>
                        <a:latin typeface="等线" panose="02010600030101010101" pitchFamily="2" charset="-122"/>
                        <a:ea typeface="等线" panose="02010600030101010101" pitchFamily="2" charset="-122"/>
                        <a:cs typeface="+mn-cs"/>
                      </a:endParaRPr>
                    </a:p>
                  </a:txBody>
                  <a:tcPr marL="6350" marR="6350" marT="6350" marB="0" anchor="ctr"/>
                </a:tc>
                <a:extLst>
                  <a:ext uri="{0D108BD9-81ED-4DB2-BD59-A6C34878D82A}">
                    <a16:rowId xmlns:a16="http://schemas.microsoft.com/office/drawing/2014/main" val="2237747281"/>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20</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646</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81%</a:t>
                      </a:r>
                    </a:p>
                  </a:txBody>
                  <a:tcPr marL="6350" marR="6350" marT="6350"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endParaRPr lang="en-US" altLang="zh-CN" sz="1050" b="1" i="0" u="none" strike="noStrike" kern="1200">
                        <a:solidFill>
                          <a:schemeClr val="bg2">
                            <a:lumMod val="90000"/>
                            <a:lumOff val="10000"/>
                          </a:schemeClr>
                        </a:solidFill>
                        <a:effectLst/>
                        <a:latin typeface="等线" panose="02010600030101010101" pitchFamily="2" charset="-122"/>
                        <a:ea typeface="等线" panose="02010600030101010101" pitchFamily="2" charset="-122"/>
                        <a:cs typeface="+mn-cs"/>
                      </a:endParaRPr>
                    </a:p>
                  </a:txBody>
                  <a:tcPr marL="6350" marR="6350" marT="6350" marB="0" anchor="ctr"/>
                </a:tc>
                <a:extLst>
                  <a:ext uri="{0D108BD9-81ED-4DB2-BD59-A6C34878D82A}">
                    <a16:rowId xmlns:a16="http://schemas.microsoft.com/office/drawing/2014/main" val="3092408133"/>
                  </a:ext>
                </a:extLst>
              </a:tr>
              <a:tr h="262972">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21</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683</a:t>
                      </a:r>
                    </a:p>
                  </a:txBody>
                  <a:tcPr marL="6350" marR="6350" marT="6350" marB="0" anchor="ctr"/>
                </a:tc>
                <a:tc>
                  <a:txBody>
                    <a:bodyPr/>
                    <a:lstStyle/>
                    <a:p>
                      <a:pPr algn="ctr" fontAlgn="b"/>
                      <a:r>
                        <a:rPr lang="en-US" altLang="zh-CN" sz="1100" b="1" i="0" u="none" strike="noStrike">
                          <a:solidFill>
                            <a:srgbClr val="000000"/>
                          </a:solidFill>
                          <a:effectLst/>
                          <a:latin typeface="等线" panose="02010600030101010101" pitchFamily="2" charset="-122"/>
                          <a:ea typeface="等线" panose="02010600030101010101" pitchFamily="2" charset="-122"/>
                        </a:rPr>
                        <a:t>86%</a:t>
                      </a:r>
                    </a:p>
                  </a:txBody>
                  <a:tcPr marL="6350" marR="6350" marT="6350" marB="0" anchor="ctr"/>
                </a:tc>
                <a:tc>
                  <a:txBody>
                    <a:bodyPr/>
                    <a:lstStyle/>
                    <a:p>
                      <a:pPr marL="0" marR="0" lvl="0" indent="0" algn="ctr" defTabSz="914377" rtl="0" eaLnBrk="1" fontAlgn="b" latinLnBrk="0" hangingPunct="1">
                        <a:lnSpc>
                          <a:spcPct val="100000"/>
                        </a:lnSpc>
                        <a:spcBef>
                          <a:spcPts val="0"/>
                        </a:spcBef>
                        <a:spcAft>
                          <a:spcPts val="0"/>
                        </a:spcAft>
                        <a:buClrTx/>
                        <a:buSzTx/>
                        <a:buFontTx/>
                        <a:buNone/>
                        <a:tabLst/>
                        <a:defRPr/>
                      </a:pPr>
                      <a:r>
                        <a:rPr lang="en-US" altLang="zh-CN" sz="1050" b="1" i="0" u="none" strike="noStrike" kern="1200" dirty="0">
                          <a:solidFill>
                            <a:schemeClr val="tx1"/>
                          </a:solidFill>
                          <a:effectLst/>
                          <a:latin typeface="等线" panose="02010600030101010101" pitchFamily="2" charset="-122"/>
                          <a:ea typeface="等线" panose="02010600030101010101" pitchFamily="2" charset="-122"/>
                          <a:cs typeface="+mn-cs"/>
                        </a:rPr>
                        <a:t>Efficacy Interim</a:t>
                      </a:r>
                    </a:p>
                  </a:txBody>
                  <a:tcPr marL="6350" marR="6350" marT="6350" marB="0" anchor="ctr"/>
                </a:tc>
                <a:extLst>
                  <a:ext uri="{0D108BD9-81ED-4DB2-BD59-A6C34878D82A}">
                    <a16:rowId xmlns:a16="http://schemas.microsoft.com/office/drawing/2014/main" val="2583618742"/>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22</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720</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91%</a:t>
                      </a:r>
                    </a:p>
                  </a:txBody>
                  <a:tcPr marL="6350" marR="6350" marT="6350" marB="0" anchor="ctr"/>
                </a:tc>
                <a:tc>
                  <a:txBody>
                    <a:bodyPr/>
                    <a:lstStyle/>
                    <a:p>
                      <a:pPr algn="ctr" fontAlgn="b"/>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4167820253"/>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23</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757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95%</a:t>
                      </a:r>
                    </a:p>
                  </a:txBody>
                  <a:tcPr marL="6350" marR="6350" marT="6350" marB="0" anchor="ctr"/>
                </a:tc>
                <a:tc>
                  <a:txBody>
                    <a:bodyPr/>
                    <a:lstStyle/>
                    <a:p>
                      <a:pPr algn="ctr" fontAlgn="b"/>
                      <a:endParaRPr lang="zh-CN" altLang="en-US" sz="1050" b="0" i="0" u="none" strike="noStrike">
                        <a:solidFill>
                          <a:srgbClr val="000000"/>
                        </a:solidFill>
                        <a:effectLst/>
                        <a:latin typeface="等线" panose="02010600030101010101" pitchFamily="2" charset="-122"/>
                        <a:ea typeface="等线" panose="02010600030101010101" pitchFamily="2" charset="-122"/>
                      </a:endParaRPr>
                    </a:p>
                  </a:txBody>
                  <a:tcPr marL="6350" marR="6350" marT="6350" marB="0" anchor="ctr"/>
                </a:tc>
                <a:extLst>
                  <a:ext uri="{0D108BD9-81ED-4DB2-BD59-A6C34878D82A}">
                    <a16:rowId xmlns:a16="http://schemas.microsoft.com/office/drawing/2014/main" val="3095593948"/>
                  </a:ext>
                </a:extLst>
              </a:tr>
              <a:tr h="262972">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24</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37</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794</a:t>
                      </a:r>
                    </a:p>
                  </a:txBody>
                  <a:tcPr marL="6350" marR="6350" marT="6350" marB="0" anchor="ctr"/>
                </a:tc>
                <a:tc>
                  <a:txBody>
                    <a:bodyPr/>
                    <a:lstStyle/>
                    <a:p>
                      <a:pPr algn="ctr" fontAlgn="b"/>
                      <a:r>
                        <a:rPr lang="en-US" altLang="zh-CN" sz="1100" b="0" i="0" u="none" strike="noStrike">
                          <a:solidFill>
                            <a:srgbClr val="000000"/>
                          </a:solidFill>
                          <a:effectLst/>
                          <a:latin typeface="等线" panose="02010600030101010101" pitchFamily="2" charset="-122"/>
                          <a:ea typeface="等线" panose="02010600030101010101" pitchFamily="2" charset="-122"/>
                        </a:rPr>
                        <a:t>100%</a:t>
                      </a:r>
                    </a:p>
                  </a:txBody>
                  <a:tcPr marL="6350" marR="6350" marT="6350" marB="0" anchor="ctr"/>
                </a:tc>
                <a:tc>
                  <a:txBody>
                    <a:bodyPr/>
                    <a:lstStyle/>
                    <a:p>
                      <a:pPr algn="ctr" fontAlgn="b"/>
                      <a:r>
                        <a:rPr lang="en-US" sz="1050" b="1" i="0" u="none" strike="noStrike" dirty="0">
                          <a:solidFill>
                            <a:srgbClr val="000000"/>
                          </a:solidFill>
                          <a:effectLst/>
                          <a:latin typeface="等线" panose="02010600030101010101" pitchFamily="2" charset="-122"/>
                          <a:ea typeface="等线" panose="02010600030101010101" pitchFamily="2" charset="-122"/>
                        </a:rPr>
                        <a:t>Last patient in</a:t>
                      </a:r>
                    </a:p>
                  </a:txBody>
                  <a:tcPr marL="6350" marR="6350" marT="6350" marB="0" anchor="ctr"/>
                </a:tc>
                <a:extLst>
                  <a:ext uri="{0D108BD9-81ED-4DB2-BD59-A6C34878D82A}">
                    <a16:rowId xmlns:a16="http://schemas.microsoft.com/office/drawing/2014/main" val="2961883466"/>
                  </a:ext>
                </a:extLst>
              </a:tr>
            </a:tbl>
          </a:graphicData>
        </a:graphic>
      </p:graphicFrame>
      <p:sp>
        <p:nvSpPr>
          <p:cNvPr id="20" name="箭头: 右弧形 19">
            <a:extLst>
              <a:ext uri="{FF2B5EF4-FFF2-40B4-BE49-F238E27FC236}">
                <a16:creationId xmlns:a16="http://schemas.microsoft.com/office/drawing/2014/main" id="{40D03D28-3DE0-919F-3360-93638AB6C81B}"/>
              </a:ext>
            </a:extLst>
          </p:cNvPr>
          <p:cNvSpPr/>
          <p:nvPr/>
        </p:nvSpPr>
        <p:spPr bwMode="gray">
          <a:xfrm>
            <a:off x="3097201" y="3266928"/>
            <a:ext cx="327660" cy="1154854"/>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 name="箭头: 右弧形 1">
            <a:extLst>
              <a:ext uri="{FF2B5EF4-FFF2-40B4-BE49-F238E27FC236}">
                <a16:creationId xmlns:a16="http://schemas.microsoft.com/office/drawing/2014/main" id="{B020194A-4C6A-29A7-7EFC-BD809F180879}"/>
              </a:ext>
            </a:extLst>
          </p:cNvPr>
          <p:cNvSpPr/>
          <p:nvPr/>
        </p:nvSpPr>
        <p:spPr bwMode="gray">
          <a:xfrm>
            <a:off x="3097201" y="4094408"/>
            <a:ext cx="327660" cy="1154854"/>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aphicFrame>
        <p:nvGraphicFramePr>
          <p:cNvPr id="10" name="表格 9">
            <a:extLst>
              <a:ext uri="{FF2B5EF4-FFF2-40B4-BE49-F238E27FC236}">
                <a16:creationId xmlns:a16="http://schemas.microsoft.com/office/drawing/2014/main" id="{A8D07580-FA09-93C2-19F1-C4E8695BBABC}"/>
              </a:ext>
            </a:extLst>
          </p:cNvPr>
          <p:cNvGraphicFramePr>
            <a:graphicFrameLocks noGrp="1"/>
          </p:cNvGraphicFramePr>
          <p:nvPr/>
        </p:nvGraphicFramePr>
        <p:xfrm>
          <a:off x="4915361" y="4167560"/>
          <a:ext cx="6624367" cy="1483043"/>
        </p:xfrm>
        <a:graphic>
          <a:graphicData uri="http://schemas.openxmlformats.org/drawingml/2006/table">
            <a:tbl>
              <a:tblPr firstRow="1" bandRow="1">
                <a:tableStyleId>{5C22544A-7EE6-4342-B048-85BDC9FD1C3A}</a:tableStyleId>
              </a:tblPr>
              <a:tblGrid>
                <a:gridCol w="1435730">
                  <a:extLst>
                    <a:ext uri="{9D8B030D-6E8A-4147-A177-3AD203B41FA5}">
                      <a16:colId xmlns:a16="http://schemas.microsoft.com/office/drawing/2014/main" val="3514675261"/>
                    </a:ext>
                  </a:extLst>
                </a:gridCol>
                <a:gridCol w="1218612">
                  <a:extLst>
                    <a:ext uri="{9D8B030D-6E8A-4147-A177-3AD203B41FA5}">
                      <a16:colId xmlns:a16="http://schemas.microsoft.com/office/drawing/2014/main" val="2361801452"/>
                    </a:ext>
                  </a:extLst>
                </a:gridCol>
                <a:gridCol w="1425139">
                  <a:extLst>
                    <a:ext uri="{9D8B030D-6E8A-4147-A177-3AD203B41FA5}">
                      <a16:colId xmlns:a16="http://schemas.microsoft.com/office/drawing/2014/main" val="3221772147"/>
                    </a:ext>
                  </a:extLst>
                </a:gridCol>
                <a:gridCol w="1272443">
                  <a:extLst>
                    <a:ext uri="{9D8B030D-6E8A-4147-A177-3AD203B41FA5}">
                      <a16:colId xmlns:a16="http://schemas.microsoft.com/office/drawing/2014/main" val="2317488966"/>
                    </a:ext>
                  </a:extLst>
                </a:gridCol>
                <a:gridCol w="1272443">
                  <a:extLst>
                    <a:ext uri="{9D8B030D-6E8A-4147-A177-3AD203B41FA5}">
                      <a16:colId xmlns:a16="http://schemas.microsoft.com/office/drawing/2014/main" val="1349826555"/>
                    </a:ext>
                  </a:extLst>
                </a:gridCol>
              </a:tblGrid>
              <a:tr h="651504">
                <a:tc>
                  <a:txBody>
                    <a:bodyPr/>
                    <a:lstStyle/>
                    <a:p>
                      <a:pPr algn="ctr" fontAlgn="ctr"/>
                      <a:r>
                        <a:rPr lang="en-US" altLang="zh-CN" sz="1600" b="1" i="0" u="none" strike="noStrike" kern="1200" dirty="0">
                          <a:solidFill>
                            <a:schemeClr val="bg1"/>
                          </a:solidFill>
                          <a:effectLst/>
                          <a:latin typeface="等线" panose="02010600030101010101" pitchFamily="2" charset="-122"/>
                          <a:ea typeface="等线" panose="02010600030101010101" pitchFamily="2" charset="-122"/>
                          <a:cs typeface="+mn-cs"/>
                        </a:rPr>
                        <a:t>Infor. fraction</a:t>
                      </a:r>
                    </a:p>
                  </a:txBody>
                  <a:tcPr marL="68580" marR="68580" marT="34290" marB="34290" anchor="ctr"/>
                </a:tc>
                <a:tc>
                  <a:txBody>
                    <a:bodyPr/>
                    <a:lstStyle/>
                    <a:p>
                      <a:pPr algn="ctr" fontAlgn="ctr"/>
                      <a:r>
                        <a:rPr lang="en-US" altLang="zh-CN" sz="1600" b="1" i="0" u="none" strike="noStrike" dirty="0">
                          <a:solidFill>
                            <a:schemeClr val="bg1"/>
                          </a:solidFill>
                          <a:effectLst/>
                          <a:latin typeface="等线" panose="02010600030101010101" pitchFamily="2" charset="-122"/>
                          <a:ea typeface="等线" panose="02010600030101010101" pitchFamily="2" charset="-122"/>
                        </a:rPr>
                        <a:t>Power for interim </a:t>
                      </a:r>
                    </a:p>
                  </a:txBody>
                  <a:tcPr marL="4763" marR="4763" marT="4763" marB="0" anchor="ctr"/>
                </a:tc>
                <a:tc>
                  <a:txBody>
                    <a:bodyPr/>
                    <a:lstStyle/>
                    <a:p>
                      <a:pPr algn="ctr"/>
                      <a:r>
                        <a:rPr lang="en-US" altLang="zh-CN" sz="1600" b="1"/>
                        <a:t>Min. Detectable diff. - interim</a:t>
                      </a:r>
                      <a:endParaRPr lang="zh-CN" altLang="en-US" sz="1600" b="1"/>
                    </a:p>
                  </a:txBody>
                  <a:tcPr marL="4763" marR="4763" marT="4763" marB="0" anchor="ctr"/>
                </a:tc>
                <a:tc>
                  <a:txBody>
                    <a:bodyPr/>
                    <a:lstStyle/>
                    <a:p>
                      <a:pPr algn="ctr" fontAlgn="ctr"/>
                      <a:r>
                        <a:rPr lang="en-US" sz="1600" b="1" i="0" u="none" strike="noStrike" dirty="0">
                          <a:solidFill>
                            <a:schemeClr val="bg1"/>
                          </a:solidFill>
                          <a:effectLst/>
                          <a:latin typeface="等线" panose="02010600030101010101" pitchFamily="2" charset="-122"/>
                          <a:ea typeface="等线" panose="02010600030101010101" pitchFamily="2" charset="-122"/>
                        </a:rPr>
                        <a:t>Overall power</a:t>
                      </a:r>
                    </a:p>
                  </a:txBody>
                  <a:tcPr marL="4763" marR="4763" marT="4763"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600" b="1"/>
                        <a:t>Min. Detectable diff. - final</a:t>
                      </a:r>
                      <a:endParaRPr lang="zh-CN" altLang="en-US" sz="1600" b="1"/>
                    </a:p>
                  </a:txBody>
                  <a:tcPr marL="4763" marR="4763" marT="4763" marB="0" anchor="ctr"/>
                </a:tc>
                <a:extLst>
                  <a:ext uri="{0D108BD9-81ED-4DB2-BD59-A6C34878D82A}">
                    <a16:rowId xmlns:a16="http://schemas.microsoft.com/office/drawing/2014/main" val="2383484277"/>
                  </a:ext>
                </a:extLst>
              </a:tr>
              <a:tr h="253461">
                <a:tc>
                  <a:txBody>
                    <a:bodyPr/>
                    <a:lstStyle/>
                    <a:p>
                      <a:pPr marL="0" marR="0" lvl="0" indent="0" algn="ctr" defTabSz="914354" rtl="0" eaLnBrk="1" fontAlgn="auto"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50</a:t>
                      </a:r>
                      <a:r>
                        <a:rPr lang="zh-CN"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a:t>
                      </a:r>
                      <a:endParaRPr lang="zh-CN" altLang="en-US" sz="2000" b="1" i="0" u="none" strike="noStrike" kern="1200" dirty="0">
                        <a:solidFill>
                          <a:srgbClr val="000000"/>
                        </a:solidFill>
                        <a:effectLst/>
                        <a:latin typeface="等线" panose="02010600030101010101" pitchFamily="2" charset="-122"/>
                        <a:ea typeface="等线" panose="02010600030101010101" pitchFamily="2" charset="-122"/>
                        <a:cs typeface="+mn-cs"/>
                      </a:endParaRPr>
                    </a:p>
                  </a:txBody>
                  <a:tcPr marL="68580" marR="68580" marT="34290" marB="34290" anchor="ctr"/>
                </a:tc>
                <a:tc>
                  <a:txBody>
                    <a:bodyPr/>
                    <a:lstStyle/>
                    <a:p>
                      <a:pPr algn="ctr" fontAlgn="ctr"/>
                      <a:r>
                        <a:rPr lang="en-US" altLang="zh-CN" sz="2000" b="1" i="0" u="none" strike="noStrike" kern="1200" dirty="0">
                          <a:solidFill>
                            <a:srgbClr val="FF0000"/>
                          </a:solidFill>
                          <a:effectLst/>
                          <a:latin typeface="等线" panose="02010600030101010101" pitchFamily="2" charset="-122"/>
                          <a:ea typeface="等线" panose="02010600030101010101" pitchFamily="2" charset="-122"/>
                          <a:cs typeface="+mn-cs"/>
                        </a:rPr>
                        <a:t>19.3%</a:t>
                      </a:r>
                    </a:p>
                  </a:txBody>
                  <a:tcPr marL="6350" marR="6350" marT="6350"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14.1%</a:t>
                      </a:r>
                    </a:p>
                  </a:txBody>
                  <a:tcPr marL="4763" marR="4763" marT="4763"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84.7%</a:t>
                      </a:r>
                    </a:p>
                  </a:txBody>
                  <a:tcPr marL="6350" marR="6350" marT="6350" marB="0" anchor="ctr"/>
                </a:tc>
                <a:tc rowSpan="2">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6.8%</a:t>
                      </a:r>
                    </a:p>
                  </a:txBody>
                  <a:tcPr marL="6350" marR="6350" marT="6350" marB="0" anchor="ctr"/>
                </a:tc>
                <a:extLst>
                  <a:ext uri="{0D108BD9-81ED-4DB2-BD59-A6C34878D82A}">
                    <a16:rowId xmlns:a16="http://schemas.microsoft.com/office/drawing/2014/main" val="3951971517"/>
                  </a:ext>
                </a:extLst>
              </a:tr>
              <a:tr h="253461">
                <a:tc>
                  <a:txBody>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66.7%</a:t>
                      </a:r>
                    </a:p>
                  </a:txBody>
                  <a:tcPr marL="68580" marR="68580" marT="34290" marB="34290" anchor="ctr"/>
                </a:tc>
                <a:tc>
                  <a:txBody>
                    <a:bodyPr/>
                    <a:lstStyle/>
                    <a:p>
                      <a:pPr algn="ctr" fontAlgn="ct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46.1%</a:t>
                      </a:r>
                    </a:p>
                  </a:txBody>
                  <a:tcPr marL="6350" marR="6350" marT="6350"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10.6%</a:t>
                      </a:r>
                    </a:p>
                  </a:txBody>
                  <a:tcPr marL="4763" marR="4763" marT="4763" marB="0" anchor="ctr"/>
                </a:tc>
                <a:tc>
                  <a:txBody>
                    <a:bodyPr/>
                    <a:lstStyle/>
                    <a:p>
                      <a:pPr marL="0" marR="0" lvl="0" indent="0" algn="ctr" defTabSz="914354" rtl="0" eaLnBrk="1" fontAlgn="ctr" latinLnBrk="0" hangingPunct="1">
                        <a:lnSpc>
                          <a:spcPct val="100000"/>
                        </a:lnSpc>
                        <a:spcBef>
                          <a:spcPts val="0"/>
                        </a:spcBef>
                        <a:spcAft>
                          <a:spcPts val="0"/>
                        </a:spcAft>
                        <a:buClrTx/>
                        <a:buSzTx/>
                        <a:buFontTx/>
                        <a:buNone/>
                        <a:tabLst/>
                        <a:defRPr/>
                      </a:pPr>
                      <a:r>
                        <a:rPr lang="en-US" altLang="zh-CN" sz="2000" b="1" i="0" u="none" strike="noStrike" kern="1200" dirty="0">
                          <a:solidFill>
                            <a:srgbClr val="000000"/>
                          </a:solidFill>
                          <a:effectLst/>
                          <a:latin typeface="等线" panose="02010600030101010101" pitchFamily="2" charset="-122"/>
                          <a:ea typeface="等线" panose="02010600030101010101" pitchFamily="2" charset="-122"/>
                          <a:cs typeface="+mn-cs"/>
                        </a:rPr>
                        <a:t>84.3%</a:t>
                      </a:r>
                    </a:p>
                  </a:txBody>
                  <a:tcPr marL="6350" marR="6350" marT="6350" marB="0" anchor="ctr"/>
                </a:tc>
                <a:tc vMerge="1">
                  <a:txBody>
                    <a:bodyPr/>
                    <a:lstStyle/>
                    <a:p>
                      <a:endParaRPr dirty="0"/>
                    </a:p>
                  </a:txBody>
                  <a:tcPr marL="4763" marR="4763" marT="4763" marB="0" anchor="ctr"/>
                </a:tc>
                <a:extLst>
                  <a:ext uri="{0D108BD9-81ED-4DB2-BD59-A6C34878D82A}">
                    <a16:rowId xmlns:a16="http://schemas.microsoft.com/office/drawing/2014/main" val="333486981"/>
                  </a:ext>
                </a:extLst>
              </a:tr>
            </a:tbl>
          </a:graphicData>
        </a:graphic>
      </p:graphicFrame>
      <p:sp>
        <p:nvSpPr>
          <p:cNvPr id="5" name="箭头: 右弧形 19">
            <a:extLst>
              <a:ext uri="{FF2B5EF4-FFF2-40B4-BE49-F238E27FC236}">
                <a16:creationId xmlns:a16="http://schemas.microsoft.com/office/drawing/2014/main" id="{7301FDDA-5880-36A5-B544-3030A3DC33B0}"/>
              </a:ext>
            </a:extLst>
          </p:cNvPr>
          <p:cNvSpPr/>
          <p:nvPr/>
        </p:nvSpPr>
        <p:spPr bwMode="gray">
          <a:xfrm>
            <a:off x="3097201" y="1698334"/>
            <a:ext cx="327660" cy="1154854"/>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1" name="箭头: 右弧形 19">
            <a:extLst>
              <a:ext uri="{FF2B5EF4-FFF2-40B4-BE49-F238E27FC236}">
                <a16:creationId xmlns:a16="http://schemas.microsoft.com/office/drawing/2014/main" id="{78DC0447-0F28-FE11-211E-C04091CF7E65}"/>
              </a:ext>
            </a:extLst>
          </p:cNvPr>
          <p:cNvSpPr/>
          <p:nvPr/>
        </p:nvSpPr>
        <p:spPr bwMode="gray">
          <a:xfrm>
            <a:off x="3097201" y="1948387"/>
            <a:ext cx="327660" cy="1154854"/>
          </a:xfrm>
          <a:prstGeom prst="curvedLef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 name="文本框 10">
            <a:extLst>
              <a:ext uri="{FF2B5EF4-FFF2-40B4-BE49-F238E27FC236}">
                <a16:creationId xmlns:a16="http://schemas.microsoft.com/office/drawing/2014/main" id="{1E3A8CB2-3499-9223-2B2F-9FF95045A18C}"/>
              </a:ext>
            </a:extLst>
          </p:cNvPr>
          <p:cNvSpPr txBox="1"/>
          <p:nvPr/>
        </p:nvSpPr>
        <p:spPr bwMode="gray">
          <a:xfrm>
            <a:off x="4864608" y="1074678"/>
            <a:ext cx="6675120" cy="2768387"/>
          </a:xfrm>
          <a:prstGeom prst="rect">
            <a:avLst/>
          </a:prstGeom>
          <a:noFill/>
        </p:spPr>
        <p:txBody>
          <a:bodyPr wrap="square" lIns="0" tIns="0" rIns="0" bIns="0" rtlCol="0">
            <a:spAutoFit/>
          </a:bodyPr>
          <a:lstStyle/>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Futility interim is not recommended </a:t>
            </a:r>
          </a:p>
          <a:p>
            <a:pPr marL="742950" lvl="1" indent="-285750">
              <a:lnSpc>
                <a:spcPct val="140000"/>
              </a:lnSpc>
              <a:buFont typeface="Wingdings" panose="05000000000000000000" pitchFamily="2" charset="2"/>
              <a:buChar char="Ø"/>
            </a:pPr>
            <a:r>
              <a:rPr lang="en-US" altLang="zh-CN" sz="1600" dirty="0">
                <a:solidFill>
                  <a:prstClr val="black"/>
                </a:solidFill>
                <a:latin typeface="Boehringer Forward Text"/>
              </a:rPr>
              <a:t>There is</a:t>
            </a: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 less uncertainty on the treatment effect.</a:t>
            </a:r>
          </a:p>
          <a:p>
            <a:pPr marL="742950" lvl="1" indent="-285750">
              <a:lnSpc>
                <a:spcPct val="140000"/>
              </a:lnSpc>
              <a:buFont typeface="Wingdings" panose="05000000000000000000" pitchFamily="2" charset="2"/>
              <a:buChar char="Ø"/>
            </a:pPr>
            <a:r>
              <a:rPr kumimoji="0" lang="en-US" altLang="zh-CN" sz="1600" b="0" i="0" u="none" strike="noStrike" kern="1200" cap="none" spc="0" normalizeH="0" baseline="0" noProof="0" dirty="0">
                <a:ln>
                  <a:noFill/>
                </a:ln>
                <a:solidFill>
                  <a:prstClr val="black"/>
                </a:solidFill>
                <a:effectLst/>
                <a:uLnTx/>
                <a:uFillTx/>
                <a:latin typeface="Boehringer Forward Text"/>
                <a:ea typeface="+mn-ea"/>
                <a:cs typeface="+mn-cs"/>
              </a:rPr>
              <a:t>Small sample size result in low reliability.</a:t>
            </a:r>
          </a:p>
          <a:p>
            <a:pPr marL="285750" marR="0" lvl="0" indent="-285750" algn="l" defTabSz="914400" rtl="0" eaLnBrk="1" fontAlgn="auto" latinLnBrk="0" hangingPunct="1">
              <a:lnSpc>
                <a:spcPct val="140000"/>
              </a:lnSpc>
              <a:spcBef>
                <a:spcPts val="0"/>
              </a:spcBef>
              <a:spcAft>
                <a:spcPts val="0"/>
              </a:spcAft>
              <a:buClrTx/>
              <a:buSzTx/>
              <a:buFont typeface="Wingdings" panose="05000000000000000000" pitchFamily="2" charset="2"/>
              <a:buChar char="p"/>
              <a:tabLst/>
              <a:defRPr/>
            </a:pPr>
            <a:r>
              <a:rPr lang="en-US" altLang="zh-CN" sz="1600" dirty="0">
                <a:solidFill>
                  <a:prstClr val="black"/>
                </a:solidFill>
                <a:latin typeface="Boehringer Forward Text"/>
              </a:rPr>
              <a:t>Efficacy Interim benefits less</a:t>
            </a:r>
          </a:p>
          <a:p>
            <a:pPr marL="742950" lvl="1" indent="-285750">
              <a:lnSpc>
                <a:spcPct val="140000"/>
              </a:lnSpc>
              <a:buFont typeface="Wingdings" panose="05000000000000000000" pitchFamily="2" charset="2"/>
              <a:buChar char="Ø"/>
            </a:pPr>
            <a:r>
              <a:rPr lang="en-US" altLang="zh-CN" sz="1600" dirty="0">
                <a:solidFill>
                  <a:prstClr val="black"/>
                </a:solidFill>
                <a:latin typeface="Boehringer Forward Text"/>
              </a:rPr>
              <a:t>The investigator doesn’t accept early</a:t>
            </a:r>
            <a:r>
              <a:rPr lang="zh-CN" altLang="en-US" sz="1600" dirty="0">
                <a:solidFill>
                  <a:prstClr val="black"/>
                </a:solidFill>
                <a:latin typeface="Boehringer Forward Text"/>
              </a:rPr>
              <a:t> </a:t>
            </a:r>
            <a:r>
              <a:rPr lang="en-US" altLang="zh-CN" sz="1600" dirty="0">
                <a:solidFill>
                  <a:prstClr val="black"/>
                </a:solidFill>
                <a:latin typeface="Boehringer Forward Text"/>
              </a:rPr>
              <a:t>stop</a:t>
            </a:r>
            <a:r>
              <a:rPr lang="zh-CN" altLang="en-US" sz="1600" dirty="0">
                <a:solidFill>
                  <a:prstClr val="black"/>
                </a:solidFill>
                <a:latin typeface="Boehringer Forward Text"/>
              </a:rPr>
              <a:t> </a:t>
            </a:r>
            <a:r>
              <a:rPr lang="en-US" altLang="zh-CN" sz="1600" dirty="0">
                <a:solidFill>
                  <a:prstClr val="black"/>
                </a:solidFill>
                <a:latin typeface="Boehringer Forward Text"/>
              </a:rPr>
              <a:t>at interim considering low reliability result and potential challenge from reviewer.</a:t>
            </a:r>
          </a:p>
          <a:p>
            <a:pPr marL="285750" indent="-285750">
              <a:lnSpc>
                <a:spcPct val="140000"/>
              </a:lnSpc>
              <a:buFont typeface="Wingdings" panose="05000000000000000000" pitchFamily="2" charset="2"/>
              <a:buChar char="p"/>
            </a:pPr>
            <a:r>
              <a:rPr lang="en-US" altLang="zh-CN" sz="1600" dirty="0">
                <a:solidFill>
                  <a:prstClr val="black"/>
                </a:solidFill>
                <a:latin typeface="Boehringer Forward Text"/>
              </a:rPr>
              <a:t>DMC is recommended for safety and efficacy evaluation.</a:t>
            </a:r>
            <a:endParaRPr lang="en-US" altLang="zh-CN" dirty="0">
              <a:solidFill>
                <a:prstClr val="black"/>
              </a:solidFill>
              <a:latin typeface="Boehringer Forward Text"/>
            </a:endParaRPr>
          </a:p>
        </p:txBody>
      </p:sp>
    </p:spTree>
    <p:extLst>
      <p:ext uri="{BB962C8B-B14F-4D97-AF65-F5344CB8AC3E}">
        <p14:creationId xmlns:p14="http://schemas.microsoft.com/office/powerpoint/2010/main" val="4184892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Props1.xml><?xml version="1.0" encoding="utf-8"?>
<ds:datastoreItem xmlns:ds="http://schemas.openxmlformats.org/officeDocument/2006/customXml" ds:itemID="{3463E64E-E9E1-45A4-880E-EB9570B1257B}"/>
</file>

<file path=customXml/itemProps2.xml><?xml version="1.0" encoding="utf-8"?>
<ds:datastoreItem xmlns:ds="http://schemas.openxmlformats.org/officeDocument/2006/customXml" ds:itemID="{599CD1DC-DBC7-49FA-A933-0B783067192C}">
  <ds:schemaRefs>
    <ds:schemaRef ds:uri="http://schemas.microsoft.com/sharepoint/v3/contenttype/forms"/>
  </ds:schemaRefs>
</ds:datastoreItem>
</file>

<file path=customXml/itemProps3.xml><?xml version="1.0" encoding="utf-8"?>
<ds:datastoreItem xmlns:ds="http://schemas.openxmlformats.org/officeDocument/2006/customXml" ds:itemID="{148D749E-0875-4BCD-9F18-78E41D20A010}">
  <ds:schemaRefs>
    <ds:schemaRef ds:uri="http://schemas.microsoft.com/office/2006/documentManagement/types"/>
    <ds:schemaRef ds:uri="http://schemas.microsoft.com/office/2006/metadata/properties"/>
    <ds:schemaRef ds:uri="http://www.w3.org/XML/1998/namespace"/>
    <ds:schemaRef ds:uri="http://purl.org/dc/elements/1.1/"/>
    <ds:schemaRef ds:uri="e5f3f5a2-f1a4-4934-8aca-aca19bffaa86"/>
    <ds:schemaRef ds:uri="http://purl.org/dc/terms/"/>
    <ds:schemaRef ds:uri="http://schemas.openxmlformats.org/package/2006/metadata/core-properties"/>
    <ds:schemaRef ds:uri="http://schemas.microsoft.com/office/infopath/2007/PartnerControls"/>
    <ds:schemaRef ds:uri="a4b920fe-42bf-4f54-958c-fb5ed630f422"/>
    <ds:schemaRef ds:uri="http://schemas.microsoft.com/sharepoint/v3"/>
    <ds:schemaRef ds:uri="http://purl.org/dc/dcmitype/"/>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1038</TotalTime>
  <Words>1556</Words>
  <Application>Microsoft Office PowerPoint</Application>
  <PresentationFormat>宽屏</PresentationFormat>
  <Paragraphs>383</Paragraphs>
  <Slides>8</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vt:i4>
      </vt:variant>
    </vt:vector>
  </HeadingPairs>
  <TitlesOfParts>
    <vt:vector size="17" baseType="lpstr">
      <vt:lpstr>等线</vt:lpstr>
      <vt:lpstr>微软雅黑</vt:lpstr>
      <vt:lpstr>Arial</vt:lpstr>
      <vt:lpstr>BISansOpti</vt:lpstr>
      <vt:lpstr>Boehringer Forward Text</vt:lpstr>
      <vt:lpstr>Calibri</vt:lpstr>
      <vt:lpstr>Times New Roman</vt:lpstr>
      <vt:lpstr>Wingdings</vt:lpstr>
      <vt:lpstr>2_Boehringer Ingelheim 16:9</vt:lpstr>
      <vt:lpstr>Follow-up for MAP comment</vt:lpstr>
      <vt:lpstr>PowerPoint 演示文稿</vt:lpstr>
      <vt:lpstr>PowerPoint 演示文稿</vt:lpstr>
      <vt:lpstr>Xuanwu hospital -TREASURE: Interim Analysis</vt:lpstr>
      <vt:lpstr>Tiantan hospital - MeVO: Power re-evaluation</vt:lpstr>
      <vt:lpstr>Tiantan hospital - MeVO: Interim Analysis</vt:lpstr>
      <vt:lpstr>PowerPoint 演示文稿</vt:lpstr>
      <vt:lpstr>USTC: Interim interim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 CEC follow-up actions</dc:title>
  <dc:creator>Yan,Dr.,Shijia (MED BDS) BII-CN-S</dc:creator>
  <cp:lastModifiedBy>Xie,Dr.,Emma (HP Medicine) BII-CN-S</cp:lastModifiedBy>
  <cp:revision>6</cp:revision>
  <dcterms:created xsi:type="dcterms:W3CDTF">2025-04-15T11:23:20Z</dcterms:created>
  <dcterms:modified xsi:type="dcterms:W3CDTF">2025-05-13T05:44:50Z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