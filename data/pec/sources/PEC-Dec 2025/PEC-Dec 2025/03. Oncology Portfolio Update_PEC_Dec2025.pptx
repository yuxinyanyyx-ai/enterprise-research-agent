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3.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6.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7.xml" ContentType="application/vnd.openxmlformats-officedocument.presentationml.notesSlide+xml"/>
  <Override PartName="/ppt/tags/tag244.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5.xml" ContentType="application/vnd.openxmlformats-officedocument.themeOverrid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4003" r:id="rId5"/>
    <p:sldMasterId id="2147483881" r:id="rId6"/>
    <p:sldMasterId id="2147484039" r:id="rId7"/>
  </p:sldMasterIdLst>
  <p:notesMasterIdLst>
    <p:notesMasterId r:id="rId55"/>
  </p:notesMasterIdLst>
  <p:sldIdLst>
    <p:sldId id="9849" r:id="rId8"/>
    <p:sldId id="9852" r:id="rId9"/>
    <p:sldId id="2147483638" r:id="rId10"/>
    <p:sldId id="2147483644" r:id="rId11"/>
    <p:sldId id="2147479597" r:id="rId12"/>
    <p:sldId id="2147483645" r:id="rId13"/>
    <p:sldId id="271" r:id="rId14"/>
    <p:sldId id="2147482022" r:id="rId15"/>
    <p:sldId id="295" r:id="rId16"/>
    <p:sldId id="9861" r:id="rId17"/>
    <p:sldId id="282" r:id="rId18"/>
    <p:sldId id="256" r:id="rId19"/>
    <p:sldId id="2147483627" r:id="rId20"/>
    <p:sldId id="2147483647" r:id="rId21"/>
    <p:sldId id="9862" r:id="rId22"/>
    <p:sldId id="259" r:id="rId23"/>
    <p:sldId id="2147483355" r:id="rId24"/>
    <p:sldId id="12023" r:id="rId25"/>
    <p:sldId id="260" r:id="rId26"/>
    <p:sldId id="264" r:id="rId27"/>
    <p:sldId id="9863" r:id="rId28"/>
    <p:sldId id="263" r:id="rId29"/>
    <p:sldId id="2147479595" r:id="rId30"/>
    <p:sldId id="257" r:id="rId31"/>
    <p:sldId id="262" r:id="rId32"/>
    <p:sldId id="286" r:id="rId33"/>
    <p:sldId id="268" r:id="rId34"/>
    <p:sldId id="269" r:id="rId35"/>
    <p:sldId id="270" r:id="rId36"/>
    <p:sldId id="2147479594" r:id="rId37"/>
    <p:sldId id="9867" r:id="rId38"/>
    <p:sldId id="2147480602" r:id="rId39"/>
    <p:sldId id="314" r:id="rId40"/>
    <p:sldId id="272" r:id="rId41"/>
    <p:sldId id="296" r:id="rId42"/>
    <p:sldId id="300" r:id="rId43"/>
    <p:sldId id="273" r:id="rId44"/>
    <p:sldId id="274" r:id="rId45"/>
    <p:sldId id="2147483514" r:id="rId46"/>
    <p:sldId id="275" r:id="rId47"/>
    <p:sldId id="292" r:id="rId48"/>
    <p:sldId id="266" r:id="rId49"/>
    <p:sldId id="261" r:id="rId50"/>
    <p:sldId id="265" r:id="rId51"/>
    <p:sldId id="258" r:id="rId52"/>
    <p:sldId id="276" r:id="rId53"/>
    <p:sldId id="2145705934"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Zhang,Jenny (MED CDO) BII-CN-S" initials="ZZ" lastIdx="2" clrIdx="6">
    <p:extLst>
      <p:ext uri="{19B8F6BF-5375-455C-9EA6-DF929625EA0E}">
        <p15:presenceInfo xmlns:p15="http://schemas.microsoft.com/office/powerpoint/2012/main" userId="S::jenny.zhang@boehringer-ingelheim.com::062fda16-ce5a-435f-a662-47e4078fd2ee" providerId="AD"/>
      </p:ext>
    </p:extLst>
  </p:cmAuthor>
  <p:cmAuthor id="1" name="Liu,Dr.,Meiruo (HP Medicine) BII-CN-S" initials="ML" lastIdx="4" clrIdx="0">
    <p:extLst>
      <p:ext uri="{19B8F6BF-5375-455C-9EA6-DF929625EA0E}">
        <p15:presenceInfo xmlns:p15="http://schemas.microsoft.com/office/powerpoint/2012/main" userId="S::meiruo.liu@boehringer-ingelheim.com::ece9aa16-5bba-4d2f-b200-019c8e2ba0a0" providerId="AD"/>
      </p:ext>
    </p:extLst>
  </p:cmAuthor>
  <p:cmAuthor id="8" name="zxSHA Zhang,Anqi (MED CDO) EXTERNAL" initials="zE" lastIdx="1" clrIdx="7">
    <p:extLst>
      <p:ext uri="{19B8F6BF-5375-455C-9EA6-DF929625EA0E}">
        <p15:presenceInfo xmlns:p15="http://schemas.microsoft.com/office/powerpoint/2012/main" userId="S::anqi.zhang.ext@boehringer-ingelheim.com::a91d8460-c093-4bc6-820b-e5ea8732553e" providerId="AD"/>
      </p:ext>
    </p:extLst>
  </p:cmAuthor>
  <p:cmAuthor id="2" name="Herrmann,Dr.,Rolf (TMCP TAs) BIP-DE-B" initials="RH" lastIdx="1" clrIdx="1">
    <p:extLst>
      <p:ext uri="{19B8F6BF-5375-455C-9EA6-DF929625EA0E}">
        <p15:presenceInfo xmlns:p15="http://schemas.microsoft.com/office/powerpoint/2012/main" userId="S::rolf_1.herrmann@boehringer-ingelheim.com::0c623976-502e-4ef6-85a2-6caeddf1a16e" providerId="AD"/>
      </p:ext>
    </p:extLst>
  </p:cmAuthor>
  <p:cmAuthor id="9" name="Xue,Nick (HP Medicine) BII-CN-S" initials="X(MBCS" lastIdx="8" clrIdx="8">
    <p:extLst>
      <p:ext uri="{19B8F6BF-5375-455C-9EA6-DF929625EA0E}">
        <p15:presenceInfo xmlns:p15="http://schemas.microsoft.com/office/powerpoint/2012/main" userId="S::nick.xue@boehringer-ingelheim.com::ffcf8106-b8a5-4477-9fcd-3abbfcb5a5a5" providerId="AD"/>
      </p:ext>
    </p:extLst>
  </p:cmAuthor>
  <p:cmAuthor id="3" name="Sahaboglu,Dr.,Ayse (TMCP TAs) BIP-DE-B" initials="SB" lastIdx="2" clrIdx="2">
    <p:extLst>
      <p:ext uri="{19B8F6BF-5375-455C-9EA6-DF929625EA0E}">
        <p15:presenceInfo xmlns:p15="http://schemas.microsoft.com/office/powerpoint/2012/main" userId="S::ayse.sahaboglu@boehringer-ingelheim.com::745bff41-f132-4c42-a5d8-e58c0781cdae" providerId="AD"/>
      </p:ext>
    </p:extLst>
  </p:cmAuthor>
  <p:cmAuthor id="10" name="Shi,Dan (HP Medicine) BII-CN-B" initials="SB" lastIdx="2" clrIdx="9">
    <p:extLst>
      <p:ext uri="{19B8F6BF-5375-455C-9EA6-DF929625EA0E}">
        <p15:presenceInfo xmlns:p15="http://schemas.microsoft.com/office/powerpoint/2012/main" userId="S::dan.shi@boehringer-ingelheim.com::7030b508-2d4f-4c08-bc6e-89f7bc2141fd" providerId="AD"/>
      </p:ext>
    </p:extLst>
  </p:cmAuthor>
  <p:cmAuthor id="4" name="Liang,Sarah (HP Medicine) BII-CN-S" initials="SL" lastIdx="1" clrIdx="3">
    <p:extLst>
      <p:ext uri="{19B8F6BF-5375-455C-9EA6-DF929625EA0E}">
        <p15:presenceInfo xmlns:p15="http://schemas.microsoft.com/office/powerpoint/2012/main" userId="S::sarah.liang@boehringer-ingelheim.com::b5b94567-963a-4c9d-af99-146fb15290a2" providerId="AD"/>
      </p:ext>
    </p:extLst>
  </p:cmAuthor>
  <p:cmAuthor id="11" name="Yue,Richard (MED CD&amp;O) BII-CN-S" initials="Y(CBCS" lastIdx="1" clrIdx="10">
    <p:extLst>
      <p:ext uri="{19B8F6BF-5375-455C-9EA6-DF929625EA0E}">
        <p15:presenceInfo xmlns:p15="http://schemas.microsoft.com/office/powerpoint/2012/main" userId="S::richard.yue@boehringer-ingelheim.com::d9ae0606-9489-4968-b335-bef61c8bcc99" providerId="AD"/>
      </p:ext>
    </p:extLst>
  </p:cmAuthor>
  <p:cmAuthor id="5" name="Lu,Dr.,Jiaqi (HP Medicine) BII-CN-S" initials="JL" lastIdx="2" clrIdx="4">
    <p:extLst>
      <p:ext uri="{19B8F6BF-5375-455C-9EA6-DF929625EA0E}">
        <p15:presenceInfo xmlns:p15="http://schemas.microsoft.com/office/powerpoint/2012/main" userId="S::jiaqi.lu@boehringer-ingelheim.com::8b183601-9cff-443d-8730-90ebdb48edb2" providerId="AD"/>
      </p:ext>
    </p:extLst>
  </p:cmAuthor>
  <p:cmAuthor id="6" name="Hu,Dr.,Juno (HP Medicine) BII-CN-S" initials="WH" lastIdx="5" clrIdx="5">
    <p:extLst>
      <p:ext uri="{19B8F6BF-5375-455C-9EA6-DF929625EA0E}">
        <p15:presenceInfo xmlns:p15="http://schemas.microsoft.com/office/powerpoint/2012/main" userId="S::juno.hu@boehringer-ingelheim.com::57526551-c803-4e03-85b5-ab25fa8a0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23563"/>
    <a:srgbClr val="00E47C"/>
    <a:srgbClr val="002060"/>
    <a:srgbClr val="D6EAEC"/>
    <a:srgbClr val="F0F0F0"/>
    <a:srgbClr val="F9F9F9"/>
    <a:srgbClr val="D5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snapToGrid="0">
      <p:cViewPr varScale="1">
        <p:scale>
          <a:sx n="48" d="100"/>
          <a:sy n="48" d="100"/>
        </p:scale>
        <p:origin x="127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1.bin"/></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embeddings/oleObject2.bin"/></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embeddings/oleObject3.bin"/></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embeddings/oleObject4.bin"/></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embeddings/oleObject5.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'[工作表 在 1479-0001 BL-1 Cohort 9 emrollment status dated 5Dec2025.pptx  -  只读]template'!$A$5</c:f>
              <c:strCache>
                <c:ptCount val="1"/>
                <c:pt idx="0">
                  <c:v>Patients Enrolled/Randomized (Actual)</c:v>
                </c:pt>
              </c:strCache>
              <c:extLst xmlns:c15="http://schemas.microsoft.com/office/drawing/2012/chart"/>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1479-0001 BL-1 Cohort 9 emrollment status dated 5Dec2025.pptx  -  只读]template'!$B$4:$S$4</c:f>
              <c:numCache>
                <c:formatCode>[$-409]mmm\-yy;@</c:formatCode>
                <c:ptCount val="16"/>
                <c:pt idx="0">
                  <c:v>45901</c:v>
                </c:pt>
                <c:pt idx="1">
                  <c:v>45931</c:v>
                </c:pt>
                <c:pt idx="2">
                  <c:v>45962</c:v>
                </c:pt>
                <c:pt idx="3">
                  <c:v>45992</c:v>
                </c:pt>
                <c:pt idx="4">
                  <c:v>46023</c:v>
                </c:pt>
                <c:pt idx="5">
                  <c:v>46054</c:v>
                </c:pt>
                <c:pt idx="6">
                  <c:v>46082</c:v>
                </c:pt>
                <c:pt idx="7">
                  <c:v>46113</c:v>
                </c:pt>
              </c:numCache>
              <c:extLst/>
            </c:numRef>
          </c:cat>
          <c:val>
            <c:numRef>
              <c:f>'[工作表 在 1479-0001 BL-1 Cohort 9 emrollment status dated 5Dec2025.pptx  -  只读]template'!$B$5:$S$5</c:f>
              <c:numCache>
                <c:formatCode>General</c:formatCode>
                <c:ptCount val="16"/>
                <c:pt idx="0">
                  <c:v>7</c:v>
                </c:pt>
                <c:pt idx="1">
                  <c:v>11</c:v>
                </c:pt>
                <c:pt idx="2">
                  <c:v>22</c:v>
                </c:pt>
                <c:pt idx="3">
                  <c:v>27</c:v>
                </c:pt>
              </c:numCache>
              <c:extLst/>
            </c:numRef>
          </c:val>
          <c:smooth val="0"/>
          <c:extLst xmlns:c15="http://schemas.microsoft.com/office/drawing/2012/chart">
            <c:ext xmlns:c16="http://schemas.microsoft.com/office/drawing/2014/chart" uri="{C3380CC4-5D6E-409C-BE32-E72D297353CC}">
              <c16:uniqueId val="{00000000-1B92-4D07-842E-5B21020B2425}"/>
            </c:ext>
          </c:extLst>
        </c:ser>
        <c:ser>
          <c:idx val="1"/>
          <c:order val="1"/>
          <c:tx>
            <c:strRef>
              <c:f>'[工作表 在 1479-0001 BL-1 Cohort 9 emrollment status dated 5Dec2025.pptx  -  只读]template'!$A$6</c:f>
              <c:strCache>
                <c:ptCount val="1"/>
                <c:pt idx="0">
                  <c:v>Patients Enrolled/Randomized (orginial plan)</c:v>
                </c:pt>
              </c:strCache>
              <c:extLst xmlns:c15="http://schemas.microsoft.com/office/drawing/2012/chart"/>
            </c:strRef>
          </c:tx>
          <c:spPr>
            <a:ln w="25400" cap="rnd">
              <a:solidFill>
                <a:srgbClr val="FF0000">
                  <a:alpha val="5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1479-0001 BL-1 Cohort 9 emrollment status dated 5Dec2025.pptx  -  只读]template'!$B$4:$S$4</c:f>
              <c:numCache>
                <c:formatCode>[$-409]mmm\-yy;@</c:formatCode>
                <c:ptCount val="16"/>
                <c:pt idx="0">
                  <c:v>45901</c:v>
                </c:pt>
                <c:pt idx="1">
                  <c:v>45931</c:v>
                </c:pt>
                <c:pt idx="2">
                  <c:v>45962</c:v>
                </c:pt>
                <c:pt idx="3">
                  <c:v>45992</c:v>
                </c:pt>
                <c:pt idx="4">
                  <c:v>46023</c:v>
                </c:pt>
                <c:pt idx="5">
                  <c:v>46054</c:v>
                </c:pt>
                <c:pt idx="6">
                  <c:v>46082</c:v>
                </c:pt>
                <c:pt idx="7">
                  <c:v>46113</c:v>
                </c:pt>
              </c:numCache>
              <c:extLst/>
            </c:numRef>
          </c:cat>
          <c:val>
            <c:numRef>
              <c:f>'[工作表 在 1479-0001 BL-1 Cohort 9 emrollment status dated 5Dec2025.pptx  -  只读]template'!$B$6:$S$6</c:f>
              <c:numCache>
                <c:formatCode>General</c:formatCode>
                <c:ptCount val="16"/>
                <c:pt idx="0">
                  <c:v>1</c:v>
                </c:pt>
                <c:pt idx="1">
                  <c:v>5</c:v>
                </c:pt>
                <c:pt idx="2">
                  <c:v>8</c:v>
                </c:pt>
                <c:pt idx="3">
                  <c:v>14</c:v>
                </c:pt>
                <c:pt idx="4">
                  <c:v>19</c:v>
                </c:pt>
                <c:pt idx="5">
                  <c:v>20</c:v>
                </c:pt>
                <c:pt idx="6">
                  <c:v>23</c:v>
                </c:pt>
                <c:pt idx="7">
                  <c:v>25</c:v>
                </c:pt>
              </c:numCache>
              <c:extLst/>
            </c:numRef>
          </c:val>
          <c:smooth val="0"/>
          <c:extLst xmlns:c15="http://schemas.microsoft.com/office/drawing/2012/chart">
            <c:ext xmlns:c16="http://schemas.microsoft.com/office/drawing/2014/chart" uri="{C3380CC4-5D6E-409C-BE32-E72D297353CC}">
              <c16:uniqueId val="{00000001-1B92-4D07-842E-5B21020B2425}"/>
            </c:ext>
          </c:extLst>
        </c:ser>
        <c:ser>
          <c:idx val="2"/>
          <c:order val="2"/>
          <c:tx>
            <c:strRef>
              <c:f>'[工作表 在 1479-0001 BL-1 Cohort 9 emrollment status dated 5Dec2025.pptx  -  只读]template'!$A$10</c:f>
              <c:strCache>
                <c:ptCount val="1"/>
                <c:pt idx="0">
                  <c:v>Patient Screened(Actual)</c:v>
                </c:pt>
              </c:strCache>
              <c:extLst xmlns:c15="http://schemas.microsoft.com/office/drawing/2012/chart"/>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1479-0001 BL-1 Cohort 9 emrollment status dated 5Dec2025.pptx  -  只读]template'!$B$4:$S$4</c:f>
              <c:numCache>
                <c:formatCode>[$-409]mmm\-yy;@</c:formatCode>
                <c:ptCount val="16"/>
                <c:pt idx="0">
                  <c:v>45901</c:v>
                </c:pt>
                <c:pt idx="1">
                  <c:v>45931</c:v>
                </c:pt>
                <c:pt idx="2">
                  <c:v>45962</c:v>
                </c:pt>
                <c:pt idx="3">
                  <c:v>45992</c:v>
                </c:pt>
                <c:pt idx="4">
                  <c:v>46023</c:v>
                </c:pt>
                <c:pt idx="5">
                  <c:v>46054</c:v>
                </c:pt>
                <c:pt idx="6">
                  <c:v>46082</c:v>
                </c:pt>
                <c:pt idx="7">
                  <c:v>46113</c:v>
                </c:pt>
              </c:numCache>
              <c:extLst/>
            </c:numRef>
          </c:cat>
          <c:val>
            <c:numRef>
              <c:f>'[工作表 在 1479-0001 BL-1 Cohort 9 emrollment status dated 5Dec2025.pptx  -  只读]template'!$B$10:$S$10</c:f>
              <c:numCache>
                <c:formatCode>General</c:formatCode>
                <c:ptCount val="16"/>
                <c:pt idx="0">
                  <c:v>9</c:v>
                </c:pt>
                <c:pt idx="1">
                  <c:v>17</c:v>
                </c:pt>
                <c:pt idx="2">
                  <c:v>25</c:v>
                </c:pt>
                <c:pt idx="3">
                  <c:v>28</c:v>
                </c:pt>
              </c:numCache>
              <c:extLst/>
            </c:numRef>
          </c:val>
          <c:smooth val="0"/>
          <c:extLst xmlns:c15="http://schemas.microsoft.com/office/drawing/2012/chart">
            <c:ext xmlns:c16="http://schemas.microsoft.com/office/drawing/2014/chart" uri="{C3380CC4-5D6E-409C-BE32-E72D297353CC}">
              <c16:uniqueId val="{00000002-1B92-4D07-842E-5B21020B2425}"/>
            </c:ext>
          </c:extLst>
        </c:ser>
        <c:ser>
          <c:idx val="3"/>
          <c:order val="3"/>
          <c:tx>
            <c:strRef>
              <c:f>'[工作表 在 1479-0001 BL-1 Cohort 9 emrollment status dated 5Dec2025.pptx  -  只读]template'!$A$11</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1479-0001 BL-1 Cohort 9 emrollment status dated 5Dec2025.pptx  -  只读]template'!$B$4:$S$4</c:f>
              <c:numCache>
                <c:formatCode>[$-409]mmm\-yy;@</c:formatCode>
                <c:ptCount val="16"/>
                <c:pt idx="0">
                  <c:v>45901</c:v>
                </c:pt>
                <c:pt idx="1">
                  <c:v>45931</c:v>
                </c:pt>
                <c:pt idx="2">
                  <c:v>45962</c:v>
                </c:pt>
                <c:pt idx="3">
                  <c:v>45992</c:v>
                </c:pt>
                <c:pt idx="4">
                  <c:v>46023</c:v>
                </c:pt>
                <c:pt idx="5">
                  <c:v>46054</c:v>
                </c:pt>
                <c:pt idx="6">
                  <c:v>46082</c:v>
                </c:pt>
                <c:pt idx="7">
                  <c:v>46113</c:v>
                </c:pt>
              </c:numCache>
              <c:extLst/>
            </c:numRef>
          </c:cat>
          <c:val>
            <c:numRef>
              <c:f>'[工作表 在 1479-0001 BL-1 Cohort 9 emrollment status dated 5Dec2025.pptx  -  只读]template'!$B$11:$K$11</c:f>
              <c:numCache>
                <c:formatCode>General</c:formatCode>
                <c:ptCount val="8"/>
                <c:pt idx="0">
                  <c:v>1</c:v>
                </c:pt>
                <c:pt idx="1">
                  <c:v>6</c:v>
                </c:pt>
                <c:pt idx="2">
                  <c:v>9</c:v>
                </c:pt>
                <c:pt idx="3">
                  <c:v>16</c:v>
                </c:pt>
                <c:pt idx="4">
                  <c:v>20</c:v>
                </c:pt>
                <c:pt idx="5">
                  <c:v>25</c:v>
                </c:pt>
                <c:pt idx="6">
                  <c:v>27</c:v>
                </c:pt>
                <c:pt idx="7">
                  <c:v>30</c:v>
                </c:pt>
              </c:numCache>
              <c:extLst/>
            </c:numRef>
          </c:val>
          <c:smooth val="0"/>
          <c:extLst>
            <c:ext xmlns:c16="http://schemas.microsoft.com/office/drawing/2014/chart" uri="{C3380CC4-5D6E-409C-BE32-E72D297353CC}">
              <c16:uniqueId val="{00000003-1B92-4D07-842E-5B21020B2425}"/>
            </c:ext>
          </c:extLst>
        </c:ser>
        <c:ser>
          <c:idx val="4"/>
          <c:order val="4"/>
          <c:tx>
            <c:strRef>
              <c:f>'[工作表 在 1479-0001 BL-1 Cohort 9 emrollment status dated 5Dec2025.pptx  -  只读]template'!$A$7</c:f>
              <c:strCache>
                <c:ptCount val="1"/>
                <c:pt idx="0">
                  <c:v>Patients Enrolled/Randomized (updated plan)</c:v>
                </c:pt>
              </c:strCache>
              <c:extLst xmlns:c15="http://schemas.microsoft.com/office/drawing/2012/chart"/>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16"/>
              <c:pt idx="0">
                <c:v>Sep-25</c:v>
              </c:pt>
              <c:pt idx="1">
                <c:v>Oct-25</c:v>
              </c:pt>
              <c:pt idx="2">
                <c:v>Nov-25</c:v>
              </c:pt>
              <c:pt idx="3">
                <c:v>Dec-25</c:v>
              </c:pt>
              <c:pt idx="4">
                <c:v>Jan-26</c:v>
              </c:pt>
              <c:pt idx="5">
                <c:v>Feb-26</c:v>
              </c:pt>
              <c:pt idx="6">
                <c:v>Mar-26</c:v>
              </c:pt>
              <c:pt idx="7">
                <c:v>Apr-26</c:v>
              </c:pt>
              <c:extLst>
                <c:ext xmlns:c15="http://schemas.microsoft.com/office/drawing/2012/chart" uri="{02D57815-91ED-43cb-92C2-25804820EDAC}">
                  <c15:autoCat val="1"/>
                </c:ext>
              </c:extLst>
            </c:strLit>
          </c:cat>
          <c:val>
            <c:numRef>
              <c:f>'[工作表 在 1479-0001 BL-1 Cohort 9 emrollment status dated 5Dec2025.pptx  -  只读]template'!$B$7:$S$7</c:f>
              <c:numCache>
                <c:formatCode>General</c:formatCode>
                <c:ptCount val="16"/>
                <c:pt idx="0">
                  <c:v>7</c:v>
                </c:pt>
                <c:pt idx="1">
                  <c:v>11</c:v>
                </c:pt>
                <c:pt idx="2">
                  <c:v>23</c:v>
                </c:pt>
                <c:pt idx="3">
                  <c:v>27</c:v>
                </c:pt>
              </c:numCache>
              <c:extLst/>
            </c:numRef>
          </c:val>
          <c:smooth val="0"/>
          <c:extLst xmlns:c15="http://schemas.microsoft.com/office/drawing/2012/chart">
            <c:ext xmlns:c16="http://schemas.microsoft.com/office/drawing/2014/chart" uri="{C3380CC4-5D6E-409C-BE32-E72D297353CC}">
              <c16:uniqueId val="{00000004-1B92-4D07-842E-5B21020B2425}"/>
            </c:ext>
          </c:extLst>
        </c:ser>
        <c:dLbls>
          <c:showLegendKey val="0"/>
          <c:showVal val="0"/>
          <c:showCatName val="0"/>
          <c:showSerName val="0"/>
          <c:showPercent val="0"/>
          <c:showBubbleSize val="0"/>
        </c:dLbls>
        <c:smooth val="0"/>
        <c:axId val="523006048"/>
        <c:axId val="523012280"/>
        <c:extLst/>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1479-0009 Global Recruitment Plan</a:t>
            </a:r>
            <a:endParaRPr lang="zh-CN"/>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Plan Screened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Sheet1!$B$2:$B$21</c:f>
              <c:numCache>
                <c:formatCode>General</c:formatCode>
                <c:ptCount val="20"/>
                <c:pt idx="0">
                  <c:v>4</c:v>
                </c:pt>
                <c:pt idx="1">
                  <c:v>17</c:v>
                </c:pt>
                <c:pt idx="2">
                  <c:v>33</c:v>
                </c:pt>
                <c:pt idx="3">
                  <c:v>47</c:v>
                </c:pt>
                <c:pt idx="4">
                  <c:v>60</c:v>
                </c:pt>
                <c:pt idx="5">
                  <c:v>74</c:v>
                </c:pt>
                <c:pt idx="6">
                  <c:v>89</c:v>
                </c:pt>
                <c:pt idx="7">
                  <c:v>104</c:v>
                </c:pt>
                <c:pt idx="8">
                  <c:v>119</c:v>
                </c:pt>
                <c:pt idx="9">
                  <c:v>131</c:v>
                </c:pt>
                <c:pt idx="10">
                  <c:v>141</c:v>
                </c:pt>
                <c:pt idx="11">
                  <c:v>153</c:v>
                </c:pt>
                <c:pt idx="12">
                  <c:v>163</c:v>
                </c:pt>
                <c:pt idx="13">
                  <c:v>176</c:v>
                </c:pt>
                <c:pt idx="14">
                  <c:v>185</c:v>
                </c:pt>
                <c:pt idx="15">
                  <c:v>195</c:v>
                </c:pt>
                <c:pt idx="16">
                  <c:v>207</c:v>
                </c:pt>
                <c:pt idx="17">
                  <c:v>225</c:v>
                </c:pt>
                <c:pt idx="18">
                  <c:v>242</c:v>
                </c:pt>
                <c:pt idx="19">
                  <c:v>260</c:v>
                </c:pt>
              </c:numCache>
            </c:numRef>
          </c:val>
          <c:smooth val="0"/>
          <c:extLst>
            <c:ext xmlns:c16="http://schemas.microsoft.com/office/drawing/2014/chart" uri="{C3380CC4-5D6E-409C-BE32-E72D297353CC}">
              <c16:uniqueId val="{00000000-6AB8-46C1-A68D-2A1B121D3E31}"/>
            </c:ext>
          </c:extLst>
        </c:ser>
        <c:ser>
          <c:idx val="1"/>
          <c:order val="1"/>
          <c:tx>
            <c:strRef>
              <c:f>Sheet1!$C$1</c:f>
              <c:strCache>
                <c:ptCount val="1"/>
                <c:pt idx="0">
                  <c:v>Actual Screened</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Sheet1!$C$2:$C$21</c:f>
              <c:numCache>
                <c:formatCode>General</c:formatCode>
                <c:ptCount val="20"/>
                <c:pt idx="0">
                  <c:v>4</c:v>
                </c:pt>
                <c:pt idx="1">
                  <c:v>31</c:v>
                </c:pt>
                <c:pt idx="2">
                  <c:v>57</c:v>
                </c:pt>
                <c:pt idx="3">
                  <c:v>89</c:v>
                </c:pt>
                <c:pt idx="4">
                  <c:v>108</c:v>
                </c:pt>
                <c:pt idx="5">
                  <c:v>115</c:v>
                </c:pt>
                <c:pt idx="6">
                  <c:v>127</c:v>
                </c:pt>
                <c:pt idx="7">
                  <c:v>137</c:v>
                </c:pt>
                <c:pt idx="8">
                  <c:v>152</c:v>
                </c:pt>
                <c:pt idx="9">
                  <c:v>170</c:v>
                </c:pt>
                <c:pt idx="10">
                  <c:v>181</c:v>
                </c:pt>
                <c:pt idx="11">
                  <c:v>192</c:v>
                </c:pt>
                <c:pt idx="12">
                  <c:v>198</c:v>
                </c:pt>
                <c:pt idx="13">
                  <c:v>222</c:v>
                </c:pt>
                <c:pt idx="14">
                  <c:v>226</c:v>
                </c:pt>
              </c:numCache>
            </c:numRef>
          </c:val>
          <c:smooth val="0"/>
          <c:extLst>
            <c:ext xmlns:c16="http://schemas.microsoft.com/office/drawing/2014/chart" uri="{C3380CC4-5D6E-409C-BE32-E72D297353CC}">
              <c16:uniqueId val="{00000001-6AB8-46C1-A68D-2A1B121D3E31}"/>
            </c:ext>
          </c:extLst>
        </c:ser>
        <c:ser>
          <c:idx val="2"/>
          <c:order val="2"/>
          <c:tx>
            <c:strRef>
              <c:f>Sheet1!$D$1</c:f>
              <c:strCache>
                <c:ptCount val="1"/>
                <c:pt idx="0">
                  <c:v>Planned Randomized</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Sheet1!$D$2:$D$21</c:f>
              <c:numCache>
                <c:formatCode>General</c:formatCode>
                <c:ptCount val="20"/>
                <c:pt idx="0">
                  <c:v>0</c:v>
                </c:pt>
                <c:pt idx="1">
                  <c:v>5</c:v>
                </c:pt>
                <c:pt idx="2">
                  <c:v>15</c:v>
                </c:pt>
                <c:pt idx="3">
                  <c:v>26</c:v>
                </c:pt>
                <c:pt idx="4">
                  <c:v>36</c:v>
                </c:pt>
                <c:pt idx="5">
                  <c:v>48</c:v>
                </c:pt>
                <c:pt idx="6">
                  <c:v>60</c:v>
                </c:pt>
                <c:pt idx="7">
                  <c:v>71</c:v>
                </c:pt>
                <c:pt idx="8">
                  <c:v>85</c:v>
                </c:pt>
                <c:pt idx="9">
                  <c:v>97</c:v>
                </c:pt>
                <c:pt idx="10">
                  <c:v>107</c:v>
                </c:pt>
                <c:pt idx="11">
                  <c:v>116</c:v>
                </c:pt>
                <c:pt idx="12">
                  <c:v>126</c:v>
                </c:pt>
                <c:pt idx="13">
                  <c:v>136</c:v>
                </c:pt>
                <c:pt idx="14">
                  <c:v>146</c:v>
                </c:pt>
                <c:pt idx="15">
                  <c:v>153</c:v>
                </c:pt>
                <c:pt idx="16">
                  <c:v>163</c:v>
                </c:pt>
                <c:pt idx="17">
                  <c:v>174</c:v>
                </c:pt>
                <c:pt idx="18">
                  <c:v>187</c:v>
                </c:pt>
                <c:pt idx="19">
                  <c:v>200</c:v>
                </c:pt>
              </c:numCache>
            </c:numRef>
          </c:val>
          <c:smooth val="0"/>
          <c:extLst>
            <c:ext xmlns:c16="http://schemas.microsoft.com/office/drawing/2014/chart" uri="{C3380CC4-5D6E-409C-BE32-E72D297353CC}">
              <c16:uniqueId val="{00000002-6AB8-46C1-A68D-2A1B121D3E31}"/>
            </c:ext>
          </c:extLst>
        </c:ser>
        <c:ser>
          <c:idx val="3"/>
          <c:order val="3"/>
          <c:tx>
            <c:strRef>
              <c:f>Sheet1!$E$1</c:f>
              <c:strCache>
                <c:ptCount val="1"/>
                <c:pt idx="0">
                  <c:v>Actual Randomized</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Sheet1!$E$2:$E$21</c:f>
              <c:numCache>
                <c:formatCode>General</c:formatCode>
                <c:ptCount val="20"/>
                <c:pt idx="0">
                  <c:v>2</c:v>
                </c:pt>
                <c:pt idx="1">
                  <c:v>15</c:v>
                </c:pt>
                <c:pt idx="2">
                  <c:v>35</c:v>
                </c:pt>
                <c:pt idx="3">
                  <c:v>54</c:v>
                </c:pt>
                <c:pt idx="4">
                  <c:v>75</c:v>
                </c:pt>
                <c:pt idx="5">
                  <c:v>87</c:v>
                </c:pt>
                <c:pt idx="6">
                  <c:v>91</c:v>
                </c:pt>
                <c:pt idx="7">
                  <c:v>98</c:v>
                </c:pt>
                <c:pt idx="8">
                  <c:v>108</c:v>
                </c:pt>
                <c:pt idx="9">
                  <c:v>120</c:v>
                </c:pt>
                <c:pt idx="10">
                  <c:v>131</c:v>
                </c:pt>
                <c:pt idx="11">
                  <c:v>139</c:v>
                </c:pt>
                <c:pt idx="12">
                  <c:v>144</c:v>
                </c:pt>
                <c:pt idx="13">
                  <c:v>157</c:v>
                </c:pt>
                <c:pt idx="14">
                  <c:v>163</c:v>
                </c:pt>
              </c:numCache>
            </c:numRef>
          </c:val>
          <c:smooth val="0"/>
          <c:extLst>
            <c:ext xmlns:c16="http://schemas.microsoft.com/office/drawing/2014/chart" uri="{C3380CC4-5D6E-409C-BE32-E72D297353CC}">
              <c16:uniqueId val="{00000003-6AB8-46C1-A68D-2A1B121D3E31}"/>
            </c:ext>
          </c:extLst>
        </c:ser>
        <c:dLbls>
          <c:dLblPos val="t"/>
          <c:showLegendKey val="0"/>
          <c:showVal val="1"/>
          <c:showCatName val="0"/>
          <c:showSerName val="0"/>
          <c:showPercent val="0"/>
          <c:showBubbleSize val="0"/>
        </c:dLbls>
        <c:smooth val="0"/>
        <c:axId val="979251896"/>
        <c:axId val="979249736"/>
      </c:lineChart>
      <c:dateAx>
        <c:axId val="97925189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baseline="0">
                    <a:solidFill>
                      <a:srgbClr val="F62B2B"/>
                    </a:solidFill>
                  </a:rPr>
                  <a:t>Note: </a:t>
                </a:r>
                <a:r>
                  <a:rPr lang="en-US" altLang="zh-CN" baseline="0">
                    <a:solidFill>
                      <a:schemeClr val="tx1"/>
                    </a:solidFill>
                  </a:rPr>
                  <a:t>This is initial plan for 200pts, will be updated 520pts in maximum </a:t>
                </a:r>
                <a:r>
                  <a:rPr lang="en-US" altLang="zh-CN" sz="1330" b="0" i="0" u="none" strike="noStrike" baseline="0">
                    <a:solidFill>
                      <a:schemeClr val="tx1"/>
                    </a:solidFill>
                  </a:rPr>
                  <a:t>under CTP V3.0 when Global plan is ready</a:t>
                </a:r>
                <a:r>
                  <a:rPr lang="en-US" altLang="zh-CN" baseline="0">
                    <a:solidFill>
                      <a:schemeClr val="tx1"/>
                    </a:solidFill>
                  </a:rPr>
                  <a:t>. </a:t>
                </a:r>
                <a:endParaRPr lang="zh-CN" altLang="en-US" baseline="0">
                  <a:solidFill>
                    <a:schemeClr val="tx1"/>
                  </a:solidFill>
                </a:endParaRPr>
              </a:p>
            </c:rich>
          </c:tx>
          <c:layout>
            <c:manualLayout>
              <c:xMode val="edge"/>
              <c:yMode val="edge"/>
              <c:x val="0.12637319955758763"/>
              <c:y val="0.87719094161438993"/>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lt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49736"/>
        <c:crosses val="autoZero"/>
        <c:auto val="1"/>
        <c:lblOffset val="100"/>
        <c:baseTimeUnit val="months"/>
      </c:dateAx>
      <c:valAx>
        <c:axId val="979249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a:t>Pt Number</a:t>
                </a:r>
                <a:endParaRPr lang="zh-CN" altLang="en-US"/>
              </a:p>
            </c:rich>
          </c:tx>
          <c:layout>
            <c:manualLayout>
              <c:xMode val="edge"/>
              <c:yMode val="edge"/>
              <c:x val="3.8946362885036161E-2"/>
              <c:y val="0.1680282588342778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518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1479-0009 China Recruitment Status</a:t>
            </a:r>
            <a:endParaRPr lang="zh-CN"/>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Plan Screened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Sheet1!$A$2:$A$23</c:f>
              <c:numCache>
                <c:formatCode>mmm\-yy</c:formatCode>
                <c:ptCount val="2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numCache>
            </c:numRef>
          </c:cat>
          <c:val>
            <c:numRef>
              <c:f>Sheet1!$B$2:$B$23</c:f>
              <c:numCache>
                <c:formatCode>General</c:formatCode>
                <c:ptCount val="22"/>
                <c:pt idx="0">
                  <c:v>0</c:v>
                </c:pt>
                <c:pt idx="1">
                  <c:v>1</c:v>
                </c:pt>
                <c:pt idx="2">
                  <c:v>2</c:v>
                </c:pt>
                <c:pt idx="3">
                  <c:v>2</c:v>
                </c:pt>
                <c:pt idx="4">
                  <c:v>3</c:v>
                </c:pt>
                <c:pt idx="5">
                  <c:v>4</c:v>
                </c:pt>
                <c:pt idx="6">
                  <c:v>5</c:v>
                </c:pt>
                <c:pt idx="7">
                  <c:v>5</c:v>
                </c:pt>
                <c:pt idx="8">
                  <c:v>6</c:v>
                </c:pt>
                <c:pt idx="9">
                  <c:v>7</c:v>
                </c:pt>
                <c:pt idx="10">
                  <c:v>8</c:v>
                </c:pt>
                <c:pt idx="11">
                  <c:v>9</c:v>
                </c:pt>
                <c:pt idx="12">
                  <c:v>9</c:v>
                </c:pt>
                <c:pt idx="13">
                  <c:v>10</c:v>
                </c:pt>
                <c:pt idx="14">
                  <c:v>11</c:v>
                </c:pt>
                <c:pt idx="15">
                  <c:v>12</c:v>
                </c:pt>
                <c:pt idx="16">
                  <c:v>13</c:v>
                </c:pt>
                <c:pt idx="17">
                  <c:v>14</c:v>
                </c:pt>
                <c:pt idx="18">
                  <c:v>15</c:v>
                </c:pt>
                <c:pt idx="19">
                  <c:v>16</c:v>
                </c:pt>
              </c:numCache>
            </c:numRef>
          </c:val>
          <c:smooth val="0"/>
          <c:extLst>
            <c:ext xmlns:c16="http://schemas.microsoft.com/office/drawing/2014/chart" uri="{C3380CC4-5D6E-409C-BE32-E72D297353CC}">
              <c16:uniqueId val="{00000000-6AB8-46C1-A68D-2A1B121D3E31}"/>
            </c:ext>
          </c:extLst>
        </c:ser>
        <c:ser>
          <c:idx val="1"/>
          <c:order val="1"/>
          <c:tx>
            <c:strRef>
              <c:f>Sheet1!$C$1</c:f>
              <c:strCache>
                <c:ptCount val="1"/>
                <c:pt idx="0">
                  <c:v>Actual Screened</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Sheet1!$A$2:$A$23</c:f>
              <c:numCache>
                <c:formatCode>mmm\-yy</c:formatCode>
                <c:ptCount val="2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numCache>
            </c:numRef>
          </c:cat>
          <c:val>
            <c:numRef>
              <c:f>Sheet1!$C$2:$C$23</c:f>
              <c:numCache>
                <c:formatCode>General</c:formatCode>
                <c:ptCount val="22"/>
                <c:pt idx="0">
                  <c:v>3</c:v>
                </c:pt>
                <c:pt idx="1">
                  <c:v>4</c:v>
                </c:pt>
                <c:pt idx="2">
                  <c:v>4</c:v>
                </c:pt>
                <c:pt idx="3">
                  <c:v>4</c:v>
                </c:pt>
                <c:pt idx="4">
                  <c:v>5</c:v>
                </c:pt>
                <c:pt idx="5">
                  <c:v>5</c:v>
                </c:pt>
                <c:pt idx="6">
                  <c:v>5</c:v>
                </c:pt>
                <c:pt idx="7">
                  <c:v>7</c:v>
                </c:pt>
                <c:pt idx="8">
                  <c:v>8</c:v>
                </c:pt>
                <c:pt idx="9">
                  <c:v>8</c:v>
                </c:pt>
                <c:pt idx="10">
                  <c:v>10</c:v>
                </c:pt>
                <c:pt idx="11">
                  <c:v>11</c:v>
                </c:pt>
                <c:pt idx="12">
                  <c:v>11</c:v>
                </c:pt>
                <c:pt idx="13">
                  <c:v>19</c:v>
                </c:pt>
                <c:pt idx="14">
                  <c:v>19</c:v>
                </c:pt>
              </c:numCache>
            </c:numRef>
          </c:val>
          <c:smooth val="0"/>
          <c:extLst>
            <c:ext xmlns:c16="http://schemas.microsoft.com/office/drawing/2014/chart" uri="{C3380CC4-5D6E-409C-BE32-E72D297353CC}">
              <c16:uniqueId val="{00000001-6AB8-46C1-A68D-2A1B121D3E31}"/>
            </c:ext>
          </c:extLst>
        </c:ser>
        <c:ser>
          <c:idx val="2"/>
          <c:order val="2"/>
          <c:tx>
            <c:strRef>
              <c:f>Sheet1!$D$1</c:f>
              <c:strCache>
                <c:ptCount val="1"/>
                <c:pt idx="0">
                  <c:v>Planned Randomized</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Sheet1!$A$2:$A$23</c:f>
              <c:numCache>
                <c:formatCode>mmm\-yy</c:formatCode>
                <c:ptCount val="2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numCache>
            </c:numRef>
          </c:cat>
          <c:val>
            <c:numRef>
              <c:f>Sheet1!$D$2:$D$23</c:f>
              <c:numCache>
                <c:formatCode>General</c:formatCode>
                <c:ptCount val="22"/>
                <c:pt idx="0">
                  <c:v>0</c:v>
                </c:pt>
                <c:pt idx="1">
                  <c:v>0</c:v>
                </c:pt>
                <c:pt idx="2">
                  <c:v>1</c:v>
                </c:pt>
                <c:pt idx="3">
                  <c:v>1</c:v>
                </c:pt>
                <c:pt idx="4">
                  <c:v>2</c:v>
                </c:pt>
                <c:pt idx="5">
                  <c:v>2</c:v>
                </c:pt>
                <c:pt idx="6">
                  <c:v>3</c:v>
                </c:pt>
                <c:pt idx="7">
                  <c:v>3</c:v>
                </c:pt>
                <c:pt idx="8">
                  <c:v>4</c:v>
                </c:pt>
                <c:pt idx="9">
                  <c:v>4</c:v>
                </c:pt>
                <c:pt idx="10">
                  <c:v>5</c:v>
                </c:pt>
                <c:pt idx="11">
                  <c:v>5</c:v>
                </c:pt>
                <c:pt idx="12">
                  <c:v>6</c:v>
                </c:pt>
                <c:pt idx="13">
                  <c:v>6</c:v>
                </c:pt>
                <c:pt idx="14">
                  <c:v>7</c:v>
                </c:pt>
                <c:pt idx="15">
                  <c:v>7</c:v>
                </c:pt>
                <c:pt idx="16">
                  <c:v>8</c:v>
                </c:pt>
                <c:pt idx="17">
                  <c:v>8</c:v>
                </c:pt>
                <c:pt idx="18">
                  <c:v>9</c:v>
                </c:pt>
                <c:pt idx="19">
                  <c:v>10</c:v>
                </c:pt>
              </c:numCache>
            </c:numRef>
          </c:val>
          <c:smooth val="0"/>
          <c:extLst>
            <c:ext xmlns:c16="http://schemas.microsoft.com/office/drawing/2014/chart" uri="{C3380CC4-5D6E-409C-BE32-E72D297353CC}">
              <c16:uniqueId val="{00000002-6AB8-46C1-A68D-2A1B121D3E31}"/>
            </c:ext>
          </c:extLst>
        </c:ser>
        <c:ser>
          <c:idx val="3"/>
          <c:order val="3"/>
          <c:tx>
            <c:strRef>
              <c:f>Sheet1!$E$1</c:f>
              <c:strCache>
                <c:ptCount val="1"/>
                <c:pt idx="0">
                  <c:v>Actual Randomized</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Sheet1!$A$2:$A$23</c:f>
              <c:numCache>
                <c:formatCode>mmm\-yy</c:formatCode>
                <c:ptCount val="2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numCache>
            </c:numRef>
          </c:cat>
          <c:val>
            <c:numRef>
              <c:f>Sheet1!$E$2:$E$23</c:f>
              <c:numCache>
                <c:formatCode>General</c:formatCode>
                <c:ptCount val="22"/>
                <c:pt idx="0">
                  <c:v>1</c:v>
                </c:pt>
                <c:pt idx="1">
                  <c:v>3</c:v>
                </c:pt>
                <c:pt idx="2">
                  <c:v>3</c:v>
                </c:pt>
                <c:pt idx="3">
                  <c:v>3</c:v>
                </c:pt>
                <c:pt idx="4">
                  <c:v>3</c:v>
                </c:pt>
                <c:pt idx="5">
                  <c:v>4</c:v>
                </c:pt>
                <c:pt idx="6">
                  <c:v>4</c:v>
                </c:pt>
                <c:pt idx="7">
                  <c:v>5</c:v>
                </c:pt>
                <c:pt idx="8">
                  <c:v>6</c:v>
                </c:pt>
                <c:pt idx="9">
                  <c:v>6</c:v>
                </c:pt>
                <c:pt idx="10">
                  <c:v>8</c:v>
                </c:pt>
                <c:pt idx="11">
                  <c:v>9</c:v>
                </c:pt>
                <c:pt idx="12">
                  <c:v>9</c:v>
                </c:pt>
                <c:pt idx="13">
                  <c:v>12</c:v>
                </c:pt>
                <c:pt idx="14">
                  <c:v>14</c:v>
                </c:pt>
              </c:numCache>
            </c:numRef>
          </c:val>
          <c:smooth val="0"/>
          <c:extLst>
            <c:ext xmlns:c16="http://schemas.microsoft.com/office/drawing/2014/chart" uri="{C3380CC4-5D6E-409C-BE32-E72D297353CC}">
              <c16:uniqueId val="{00000003-6AB8-46C1-A68D-2A1B121D3E31}"/>
            </c:ext>
          </c:extLst>
        </c:ser>
        <c:dLbls>
          <c:dLblPos val="ctr"/>
          <c:showLegendKey val="0"/>
          <c:showVal val="1"/>
          <c:showCatName val="0"/>
          <c:showSerName val="0"/>
          <c:showPercent val="0"/>
          <c:showBubbleSize val="0"/>
        </c:dLbls>
        <c:smooth val="0"/>
        <c:axId val="979251896"/>
        <c:axId val="979249736"/>
      </c:lineChart>
      <c:dateAx>
        <c:axId val="97925189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49736"/>
        <c:crosses val="autoZero"/>
        <c:auto val="1"/>
        <c:lblOffset val="100"/>
        <c:baseTimeUnit val="months"/>
      </c:dateAx>
      <c:valAx>
        <c:axId val="9792497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518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'[工作表 在 Dareon 5 -Part2_recruitment status-9Oct - 副本.pptx]template'!$A$5</c:f>
              <c:strCache>
                <c:ptCount val="1"/>
                <c:pt idx="0">
                  <c:v>Patients Enrolled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Dareon 5 -Part2_recruitment status-9Oct - 副本.pptx]template'!$B$5:$Q$5</c:f>
              <c:numCache>
                <c:formatCode>General</c:formatCode>
                <c:ptCount val="16"/>
                <c:pt idx="0">
                  <c:v>0</c:v>
                </c:pt>
                <c:pt idx="1">
                  <c:v>0</c:v>
                </c:pt>
                <c:pt idx="2">
                  <c:v>0</c:v>
                </c:pt>
                <c:pt idx="3">
                  <c:v>0</c:v>
                </c:pt>
                <c:pt idx="4">
                  <c:v>1</c:v>
                </c:pt>
                <c:pt idx="5">
                  <c:v>1</c:v>
                </c:pt>
                <c:pt idx="6">
                  <c:v>5</c:v>
                </c:pt>
                <c:pt idx="7">
                  <c:v>11</c:v>
                </c:pt>
                <c:pt idx="8">
                  <c:v>13</c:v>
                </c:pt>
                <c:pt idx="9">
                  <c:v>14</c:v>
                </c:pt>
              </c:numCache>
            </c:numRef>
          </c:val>
          <c:smooth val="0"/>
          <c:extLst>
            <c:ext xmlns:c16="http://schemas.microsoft.com/office/drawing/2014/chart" uri="{C3380CC4-5D6E-409C-BE32-E72D297353CC}">
              <c16:uniqueId val="{00000000-E3F1-41E2-AD99-8C29F328FF9F}"/>
            </c:ext>
          </c:extLst>
        </c:ser>
        <c:ser>
          <c:idx val="1"/>
          <c:order val="1"/>
          <c:tx>
            <c:strRef>
              <c:f>'[工作表 在 Dareon 5 -Part2_recruitment status-9Oct - 副本.pptx]template'!$A$6</c:f>
              <c:strCache>
                <c:ptCount val="1"/>
                <c:pt idx="0">
                  <c:v>Patients Enrolled (Planned)</c:v>
                </c:pt>
              </c:strCache>
            </c:strRef>
          </c:tx>
          <c:spPr>
            <a:ln w="25400" cap="rnd">
              <a:solidFill>
                <a:srgbClr val="5F2987">
                  <a:alpha val="8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Dareon 5 -Part2_recruitment status-9Oct - 副本.pptx]template'!$B$6:$S$6</c:f>
              <c:numCache>
                <c:formatCode>General</c:formatCode>
                <c:ptCount val="18"/>
                <c:pt idx="0">
                  <c:v>0</c:v>
                </c:pt>
                <c:pt idx="1">
                  <c:v>2</c:v>
                </c:pt>
                <c:pt idx="2">
                  <c:v>3</c:v>
                </c:pt>
                <c:pt idx="3">
                  <c:v>5</c:v>
                </c:pt>
                <c:pt idx="4">
                  <c:v>7</c:v>
                </c:pt>
                <c:pt idx="5">
                  <c:v>9</c:v>
                </c:pt>
                <c:pt idx="6">
                  <c:v>11</c:v>
                </c:pt>
                <c:pt idx="7">
                  <c:v>15</c:v>
                </c:pt>
                <c:pt idx="8">
                  <c:v>18</c:v>
                </c:pt>
                <c:pt idx="9">
                  <c:v>22</c:v>
                </c:pt>
                <c:pt idx="10">
                  <c:v>25</c:v>
                </c:pt>
                <c:pt idx="11">
                  <c:v>29</c:v>
                </c:pt>
                <c:pt idx="12">
                  <c:v>33</c:v>
                </c:pt>
                <c:pt idx="13">
                  <c:v>37</c:v>
                </c:pt>
                <c:pt idx="14">
                  <c:v>41</c:v>
                </c:pt>
                <c:pt idx="15">
                  <c:v>44</c:v>
                </c:pt>
                <c:pt idx="16">
                  <c:v>48</c:v>
                </c:pt>
                <c:pt idx="17">
                  <c:v>50</c:v>
                </c:pt>
              </c:numCache>
            </c:numRef>
          </c:val>
          <c:smooth val="0"/>
          <c:extLst>
            <c:ext xmlns:c16="http://schemas.microsoft.com/office/drawing/2014/chart" uri="{C3380CC4-5D6E-409C-BE32-E72D297353CC}">
              <c16:uniqueId val="{00000001-E3F1-41E2-AD99-8C29F328FF9F}"/>
            </c:ext>
          </c:extLst>
        </c:ser>
        <c:ser>
          <c:idx val="2"/>
          <c:order val="2"/>
          <c:tx>
            <c:strRef>
              <c:f>'[工作表 在 Dareon 5 -Part2_recruitment status-9Oct - 副本.pptx]template'!$A$8</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Dareon 5 -Part2_recruitment status-9Oct - 副本.pptx]template'!$B$8:$Q$8</c:f>
              <c:numCache>
                <c:formatCode>General</c:formatCode>
                <c:ptCount val="16"/>
                <c:pt idx="0">
                  <c:v>0</c:v>
                </c:pt>
                <c:pt idx="1">
                  <c:v>0</c:v>
                </c:pt>
                <c:pt idx="2">
                  <c:v>1</c:v>
                </c:pt>
                <c:pt idx="3">
                  <c:v>2</c:v>
                </c:pt>
                <c:pt idx="4">
                  <c:v>12</c:v>
                </c:pt>
                <c:pt idx="5">
                  <c:v>22</c:v>
                </c:pt>
                <c:pt idx="6">
                  <c:v>50</c:v>
                </c:pt>
                <c:pt idx="7">
                  <c:v>77</c:v>
                </c:pt>
                <c:pt idx="8">
                  <c:v>108</c:v>
                </c:pt>
                <c:pt idx="9">
                  <c:v>118</c:v>
                </c:pt>
              </c:numCache>
            </c:numRef>
          </c:val>
          <c:smooth val="0"/>
          <c:extLst>
            <c:ext xmlns:c16="http://schemas.microsoft.com/office/drawing/2014/chart" uri="{C3380CC4-5D6E-409C-BE32-E72D297353CC}">
              <c16:uniqueId val="{00000002-E3F1-41E2-AD99-8C29F328FF9F}"/>
            </c:ext>
          </c:extLst>
        </c:ser>
        <c:ser>
          <c:idx val="3"/>
          <c:order val="3"/>
          <c:tx>
            <c:strRef>
              <c:f>'[工作表 在 Dareon 5 -Part2_recruitment status-9Oct - 副本.pptx]template'!$A$9</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Dareon 5 -Part2_recruitment status-9Oct - 副本.pptx]template'!$B$9:$S$9</c:f>
              <c:numCache>
                <c:formatCode>General</c:formatCode>
                <c:ptCount val="18"/>
                <c:pt idx="0">
                  <c:v>1</c:v>
                </c:pt>
                <c:pt idx="1">
                  <c:v>4</c:v>
                </c:pt>
                <c:pt idx="2">
                  <c:v>8</c:v>
                </c:pt>
                <c:pt idx="3">
                  <c:v>12</c:v>
                </c:pt>
                <c:pt idx="4">
                  <c:v>16</c:v>
                </c:pt>
                <c:pt idx="5">
                  <c:v>22</c:v>
                </c:pt>
                <c:pt idx="6">
                  <c:v>28</c:v>
                </c:pt>
                <c:pt idx="7">
                  <c:v>36</c:v>
                </c:pt>
                <c:pt idx="8">
                  <c:v>44</c:v>
                </c:pt>
                <c:pt idx="9">
                  <c:v>53</c:v>
                </c:pt>
                <c:pt idx="10">
                  <c:v>62</c:v>
                </c:pt>
                <c:pt idx="11">
                  <c:v>71</c:v>
                </c:pt>
                <c:pt idx="12">
                  <c:v>81</c:v>
                </c:pt>
                <c:pt idx="13">
                  <c:v>90</c:v>
                </c:pt>
                <c:pt idx="14">
                  <c:v>99</c:v>
                </c:pt>
                <c:pt idx="15">
                  <c:v>108</c:v>
                </c:pt>
                <c:pt idx="16">
                  <c:v>118</c:v>
                </c:pt>
                <c:pt idx="17">
                  <c:v>125</c:v>
                </c:pt>
              </c:numCache>
            </c:numRef>
          </c:val>
          <c:smooth val="0"/>
          <c:extLst>
            <c:ext xmlns:c16="http://schemas.microsoft.com/office/drawing/2014/chart" uri="{C3380CC4-5D6E-409C-BE32-E72D297353CC}">
              <c16:uniqueId val="{00000003-E3F1-41E2-AD99-8C29F328FF9F}"/>
            </c:ext>
          </c:extLst>
        </c:ser>
        <c:ser>
          <c:idx val="4"/>
          <c:order val="4"/>
          <c:tx>
            <c:strRef>
              <c:f>'[工作表 在 Dareon 5 -Part2_recruitment status-9Oct - 副本.pptx]template'!$A$7</c:f>
              <c:strCache>
                <c:ptCount val="1"/>
                <c:pt idx="0">
                  <c:v>Patients Enrolled/Randomized (updated plan)</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Dareon 5 -Part2_recruitment status-9Oct - 副本.pptx]template'!$B$7:$L$7</c:f>
              <c:numCache>
                <c:formatCode>General</c:formatCode>
                <c:ptCount val="11"/>
              </c:numCache>
            </c:numRef>
          </c:val>
          <c:smooth val="0"/>
          <c:extLst>
            <c:ext xmlns:c16="http://schemas.microsoft.com/office/drawing/2014/chart" uri="{C3380CC4-5D6E-409C-BE32-E72D297353CC}">
              <c16:uniqueId val="{00000004-E3F1-41E2-AD99-8C29F328FF9F}"/>
            </c:ext>
          </c:extLst>
        </c:ser>
        <c:dLbls>
          <c:showLegendKey val="0"/>
          <c:showVal val="0"/>
          <c:showCatName val="0"/>
          <c:showSerName val="0"/>
          <c:showPercent val="0"/>
          <c:showBubbleSize val="0"/>
        </c:dLbls>
        <c:smooth val="0"/>
        <c:axId val="523006048"/>
        <c:axId val="523012280"/>
      </c:lineChart>
      <c:cat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0"/>
        <c:lblAlgn val="ctr"/>
        <c:lblOffset val="100"/>
        <c:noMultiLvlLbl val="1"/>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spPr>
        <a:noFill/>
        <a:ln>
          <a:noFill/>
        </a:ln>
        <a:effectLst/>
      </c:spPr>
    </c:plotArea>
    <c:legend>
      <c:legendPos val="b"/>
      <c:legendEntry>
        <c:idx val="4"/>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'[工作表 在 Dareon 5 -Part2_recruitment status-9Oct - 副本.pptx]template'!$A$5</c:f>
              <c:strCache>
                <c:ptCount val="1"/>
                <c:pt idx="0">
                  <c:v>Patients Enrolled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副本.pptx]template'!$B$4:$O$4</c:f>
              <c:numCache>
                <c:formatCode>[$-409]mmm\-yy;@</c:formatCode>
                <c:ptCount val="14"/>
                <c:pt idx="0">
                  <c:v>45863</c:v>
                </c:pt>
                <c:pt idx="1">
                  <c:v>45894</c:v>
                </c:pt>
                <c:pt idx="2">
                  <c:v>45925</c:v>
                </c:pt>
                <c:pt idx="3">
                  <c:v>45955</c:v>
                </c:pt>
                <c:pt idx="4">
                  <c:v>45986</c:v>
                </c:pt>
                <c:pt idx="5">
                  <c:v>46016</c:v>
                </c:pt>
                <c:pt idx="6">
                  <c:v>46048</c:v>
                </c:pt>
                <c:pt idx="7">
                  <c:v>46079</c:v>
                </c:pt>
                <c:pt idx="8">
                  <c:v>46107</c:v>
                </c:pt>
                <c:pt idx="9">
                  <c:v>46138</c:v>
                </c:pt>
                <c:pt idx="10">
                  <c:v>46168</c:v>
                </c:pt>
                <c:pt idx="11">
                  <c:v>46199</c:v>
                </c:pt>
                <c:pt idx="12">
                  <c:v>46229</c:v>
                </c:pt>
                <c:pt idx="13">
                  <c:v>46260</c:v>
                </c:pt>
              </c:numCache>
            </c:numRef>
          </c:cat>
          <c:val>
            <c:numRef>
              <c:f>'[工作表 在 Dareon 5 -Part2_recruitment status-9Oct - 副本.pptx]template'!$B$5:$I$5</c:f>
              <c:numCache>
                <c:formatCode>General</c:formatCode>
                <c:ptCount val="8"/>
                <c:pt idx="0">
                  <c:v>1</c:v>
                </c:pt>
                <c:pt idx="1">
                  <c:v>1</c:v>
                </c:pt>
                <c:pt idx="2">
                  <c:v>2</c:v>
                </c:pt>
                <c:pt idx="3">
                  <c:v>4</c:v>
                </c:pt>
                <c:pt idx="4">
                  <c:v>4</c:v>
                </c:pt>
                <c:pt idx="5">
                  <c:v>4</c:v>
                </c:pt>
              </c:numCache>
            </c:numRef>
          </c:val>
          <c:smooth val="0"/>
          <c:extLst>
            <c:ext xmlns:c16="http://schemas.microsoft.com/office/drawing/2014/chart" uri="{C3380CC4-5D6E-409C-BE32-E72D297353CC}">
              <c16:uniqueId val="{00000000-E657-400F-92D0-42F2795A48C5}"/>
            </c:ext>
          </c:extLst>
        </c:ser>
        <c:ser>
          <c:idx val="1"/>
          <c:order val="1"/>
          <c:tx>
            <c:strRef>
              <c:f>'[工作表 在 Dareon 5 -Part2_recruitment status-9Oct - 副本.pptx]template'!$A$6</c:f>
              <c:strCache>
                <c:ptCount val="1"/>
                <c:pt idx="0">
                  <c:v>Patients Enrolled (Planned)</c:v>
                </c:pt>
              </c:strCache>
            </c:strRef>
          </c:tx>
          <c:spPr>
            <a:ln w="25400" cap="rnd">
              <a:solidFill>
                <a:srgbClr val="7030A0">
                  <a:alpha val="8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副本.pptx]template'!$B$4:$O$4</c:f>
              <c:numCache>
                <c:formatCode>[$-409]mmm\-yy;@</c:formatCode>
                <c:ptCount val="14"/>
                <c:pt idx="0">
                  <c:v>45863</c:v>
                </c:pt>
                <c:pt idx="1">
                  <c:v>45894</c:v>
                </c:pt>
                <c:pt idx="2">
                  <c:v>45925</c:v>
                </c:pt>
                <c:pt idx="3">
                  <c:v>45955</c:v>
                </c:pt>
                <c:pt idx="4">
                  <c:v>45986</c:v>
                </c:pt>
                <c:pt idx="5">
                  <c:v>46016</c:v>
                </c:pt>
                <c:pt idx="6">
                  <c:v>46048</c:v>
                </c:pt>
                <c:pt idx="7">
                  <c:v>46079</c:v>
                </c:pt>
                <c:pt idx="8">
                  <c:v>46107</c:v>
                </c:pt>
                <c:pt idx="9">
                  <c:v>46138</c:v>
                </c:pt>
                <c:pt idx="10">
                  <c:v>46168</c:v>
                </c:pt>
                <c:pt idx="11">
                  <c:v>46199</c:v>
                </c:pt>
                <c:pt idx="12">
                  <c:v>46229</c:v>
                </c:pt>
                <c:pt idx="13">
                  <c:v>46260</c:v>
                </c:pt>
              </c:numCache>
            </c:numRef>
          </c:cat>
          <c:val>
            <c:numRef>
              <c:f>'[工作表 在 Dareon 5 -Part2_recruitment status-9Oct - 副本.pptx]template'!$B$6:$O$6</c:f>
              <c:numCache>
                <c:formatCode>General</c:formatCode>
                <c:ptCount val="14"/>
                <c:pt idx="0">
                  <c:v>0</c:v>
                </c:pt>
                <c:pt idx="1">
                  <c:v>0</c:v>
                </c:pt>
                <c:pt idx="2">
                  <c:v>1</c:v>
                </c:pt>
                <c:pt idx="3">
                  <c:v>1</c:v>
                </c:pt>
                <c:pt idx="4">
                  <c:v>2</c:v>
                </c:pt>
                <c:pt idx="5">
                  <c:v>2</c:v>
                </c:pt>
                <c:pt idx="6">
                  <c:v>3</c:v>
                </c:pt>
                <c:pt idx="7">
                  <c:v>3</c:v>
                </c:pt>
                <c:pt idx="8">
                  <c:v>4</c:v>
                </c:pt>
                <c:pt idx="9">
                  <c:v>4</c:v>
                </c:pt>
                <c:pt idx="10">
                  <c:v>5</c:v>
                </c:pt>
                <c:pt idx="11">
                  <c:v>5</c:v>
                </c:pt>
                <c:pt idx="12">
                  <c:v>5</c:v>
                </c:pt>
                <c:pt idx="13">
                  <c:v>5</c:v>
                </c:pt>
              </c:numCache>
            </c:numRef>
          </c:val>
          <c:smooth val="0"/>
          <c:extLst>
            <c:ext xmlns:c16="http://schemas.microsoft.com/office/drawing/2014/chart" uri="{C3380CC4-5D6E-409C-BE32-E72D297353CC}">
              <c16:uniqueId val="{00000001-E657-400F-92D0-42F2795A48C5}"/>
            </c:ext>
          </c:extLst>
        </c:ser>
        <c:ser>
          <c:idx val="2"/>
          <c:order val="2"/>
          <c:tx>
            <c:strRef>
              <c:f>'[工作表 在 Dareon 5 -Part2_recruitment status-9Oct - 副本.pptx]template'!$A$8</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副本.pptx]template'!$B$4:$O$4</c:f>
              <c:numCache>
                <c:formatCode>[$-409]mmm\-yy;@</c:formatCode>
                <c:ptCount val="14"/>
                <c:pt idx="0">
                  <c:v>45863</c:v>
                </c:pt>
                <c:pt idx="1">
                  <c:v>45894</c:v>
                </c:pt>
                <c:pt idx="2">
                  <c:v>45925</c:v>
                </c:pt>
                <c:pt idx="3">
                  <c:v>45955</c:v>
                </c:pt>
                <c:pt idx="4">
                  <c:v>45986</c:v>
                </c:pt>
                <c:pt idx="5">
                  <c:v>46016</c:v>
                </c:pt>
                <c:pt idx="6">
                  <c:v>46048</c:v>
                </c:pt>
                <c:pt idx="7">
                  <c:v>46079</c:v>
                </c:pt>
                <c:pt idx="8">
                  <c:v>46107</c:v>
                </c:pt>
                <c:pt idx="9">
                  <c:v>46138</c:v>
                </c:pt>
                <c:pt idx="10">
                  <c:v>46168</c:v>
                </c:pt>
                <c:pt idx="11">
                  <c:v>46199</c:v>
                </c:pt>
                <c:pt idx="12">
                  <c:v>46229</c:v>
                </c:pt>
                <c:pt idx="13">
                  <c:v>46260</c:v>
                </c:pt>
              </c:numCache>
            </c:numRef>
          </c:cat>
          <c:val>
            <c:numRef>
              <c:f>'[工作表 在 Dareon 5 -Part2_recruitment status-9Oct - 副本.pptx]template'!$B$8:$I$8</c:f>
              <c:numCache>
                <c:formatCode>General</c:formatCode>
                <c:ptCount val="8"/>
                <c:pt idx="0">
                  <c:v>3</c:v>
                </c:pt>
                <c:pt idx="1">
                  <c:v>4</c:v>
                </c:pt>
                <c:pt idx="2">
                  <c:v>9</c:v>
                </c:pt>
                <c:pt idx="3">
                  <c:v>11</c:v>
                </c:pt>
                <c:pt idx="4">
                  <c:v>13</c:v>
                </c:pt>
                <c:pt idx="5">
                  <c:v>13</c:v>
                </c:pt>
              </c:numCache>
            </c:numRef>
          </c:val>
          <c:smooth val="0"/>
          <c:extLst>
            <c:ext xmlns:c16="http://schemas.microsoft.com/office/drawing/2014/chart" uri="{C3380CC4-5D6E-409C-BE32-E72D297353CC}">
              <c16:uniqueId val="{00000002-E657-400F-92D0-42F2795A48C5}"/>
            </c:ext>
          </c:extLst>
        </c:ser>
        <c:ser>
          <c:idx val="3"/>
          <c:order val="3"/>
          <c:tx>
            <c:strRef>
              <c:f>'[工作表 在 Dareon 5 -Part2_recruitment status-9Oct - 副本.pptx]template'!$A$9</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副本.pptx]template'!$B$4:$O$4</c:f>
              <c:numCache>
                <c:formatCode>[$-409]mmm\-yy;@</c:formatCode>
                <c:ptCount val="14"/>
                <c:pt idx="0">
                  <c:v>45863</c:v>
                </c:pt>
                <c:pt idx="1">
                  <c:v>45894</c:v>
                </c:pt>
                <c:pt idx="2">
                  <c:v>45925</c:v>
                </c:pt>
                <c:pt idx="3">
                  <c:v>45955</c:v>
                </c:pt>
                <c:pt idx="4">
                  <c:v>45986</c:v>
                </c:pt>
                <c:pt idx="5">
                  <c:v>46016</c:v>
                </c:pt>
                <c:pt idx="6">
                  <c:v>46048</c:v>
                </c:pt>
                <c:pt idx="7">
                  <c:v>46079</c:v>
                </c:pt>
                <c:pt idx="8">
                  <c:v>46107</c:v>
                </c:pt>
                <c:pt idx="9">
                  <c:v>46138</c:v>
                </c:pt>
                <c:pt idx="10">
                  <c:v>46168</c:v>
                </c:pt>
                <c:pt idx="11">
                  <c:v>46199</c:v>
                </c:pt>
                <c:pt idx="12">
                  <c:v>46229</c:v>
                </c:pt>
                <c:pt idx="13">
                  <c:v>46260</c:v>
                </c:pt>
              </c:numCache>
            </c:numRef>
          </c:cat>
          <c:val>
            <c:numRef>
              <c:f>'[工作表 在 Dareon 5 -Part2_recruitment status-9Oct - 副本.pptx]template'!$B$9:$O$9</c:f>
              <c:numCache>
                <c:formatCode>General</c:formatCode>
                <c:ptCount val="14"/>
                <c:pt idx="0">
                  <c:v>1</c:v>
                </c:pt>
                <c:pt idx="1">
                  <c:v>2</c:v>
                </c:pt>
                <c:pt idx="2">
                  <c:v>4</c:v>
                </c:pt>
                <c:pt idx="3">
                  <c:v>5</c:v>
                </c:pt>
                <c:pt idx="4">
                  <c:v>6</c:v>
                </c:pt>
                <c:pt idx="5">
                  <c:v>7</c:v>
                </c:pt>
                <c:pt idx="6">
                  <c:v>9</c:v>
                </c:pt>
                <c:pt idx="7">
                  <c:v>10</c:v>
                </c:pt>
                <c:pt idx="8">
                  <c:v>11</c:v>
                </c:pt>
                <c:pt idx="9">
                  <c:v>12</c:v>
                </c:pt>
                <c:pt idx="10">
                  <c:v>13</c:v>
                </c:pt>
                <c:pt idx="11">
                  <c:v>13</c:v>
                </c:pt>
                <c:pt idx="12">
                  <c:v>13</c:v>
                </c:pt>
                <c:pt idx="13">
                  <c:v>13</c:v>
                </c:pt>
              </c:numCache>
            </c:numRef>
          </c:val>
          <c:smooth val="0"/>
          <c:extLst>
            <c:ext xmlns:c16="http://schemas.microsoft.com/office/drawing/2014/chart" uri="{C3380CC4-5D6E-409C-BE32-E72D297353CC}">
              <c16:uniqueId val="{00000003-E657-400F-92D0-42F2795A48C5}"/>
            </c:ext>
          </c:extLst>
        </c:ser>
        <c:ser>
          <c:idx val="4"/>
          <c:order val="4"/>
          <c:tx>
            <c:strRef>
              <c:f>'[工作表 在 Dareon 5 -Part2_recruitment status-9Oct - 副本.pptx]template'!$A$7</c:f>
              <c:strCache>
                <c:ptCount val="1"/>
                <c:pt idx="0">
                  <c:v>Patients Enrolled/Randomized (updated plan)</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Dareon 5 -Part2_recruitment status-9Oct - 副本.pptx]template'!$B$4:$O$4</c:f>
              <c:numCache>
                <c:formatCode>[$-409]mmm\-yy;@</c:formatCode>
                <c:ptCount val="14"/>
                <c:pt idx="0">
                  <c:v>45863</c:v>
                </c:pt>
                <c:pt idx="1">
                  <c:v>45894</c:v>
                </c:pt>
                <c:pt idx="2">
                  <c:v>45925</c:v>
                </c:pt>
                <c:pt idx="3">
                  <c:v>45955</c:v>
                </c:pt>
                <c:pt idx="4">
                  <c:v>45986</c:v>
                </c:pt>
                <c:pt idx="5">
                  <c:v>46016</c:v>
                </c:pt>
                <c:pt idx="6">
                  <c:v>46048</c:v>
                </c:pt>
                <c:pt idx="7">
                  <c:v>46079</c:v>
                </c:pt>
                <c:pt idx="8">
                  <c:v>46107</c:v>
                </c:pt>
                <c:pt idx="9">
                  <c:v>46138</c:v>
                </c:pt>
                <c:pt idx="10">
                  <c:v>46168</c:v>
                </c:pt>
                <c:pt idx="11">
                  <c:v>46199</c:v>
                </c:pt>
                <c:pt idx="12">
                  <c:v>46229</c:v>
                </c:pt>
                <c:pt idx="13">
                  <c:v>46260</c:v>
                </c:pt>
              </c:numCache>
            </c:numRef>
          </c:cat>
          <c:val>
            <c:numRef>
              <c:f>'[工作表 在 Dareon 5 -Part2_recruitment status-9Oct - 副本.pptx]template'!$B$7:$I$7</c:f>
              <c:numCache>
                <c:formatCode>General</c:formatCode>
                <c:ptCount val="8"/>
              </c:numCache>
            </c:numRef>
          </c:val>
          <c:smooth val="0"/>
          <c:extLst>
            <c:ext xmlns:c16="http://schemas.microsoft.com/office/drawing/2014/chart" uri="{C3380CC4-5D6E-409C-BE32-E72D297353CC}">
              <c16:uniqueId val="{00000004-E657-400F-92D0-42F2795A48C5}"/>
            </c:ext>
          </c:extLst>
        </c:ser>
        <c:dLbls>
          <c:showLegendKey val="0"/>
          <c:showVal val="0"/>
          <c:showCatName val="0"/>
          <c:showSerName val="0"/>
          <c:showPercent val="0"/>
          <c:showBubbleSize val="0"/>
        </c:dLbls>
        <c:smooth val="0"/>
        <c:axId val="523006048"/>
        <c:axId val="523012280"/>
      </c:lineChart>
      <c:catAx>
        <c:axId val="523006048"/>
        <c:scaling>
          <c:orientation val="minMax"/>
          <c:min val="1"/>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0"/>
        <c:lblAlgn val="ctr"/>
        <c:lblOffset val="100"/>
        <c:tickLblSkip val="1"/>
        <c:tickMarkSkip val="1"/>
        <c:noMultiLvlLbl val="1"/>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spPr>
        <a:noFill/>
        <a:ln>
          <a:noFill/>
        </a:ln>
        <a:effectLst/>
      </c:spPr>
    </c:plotArea>
    <c:legend>
      <c:legendPos val="b"/>
      <c:legendEntry>
        <c:idx val="4"/>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2025-Dec CD137 FAP local evidence team meeting.pptx]template'!$A$5</c:f>
              <c:strCache>
                <c:ptCount val="1"/>
                <c:pt idx="0">
                  <c:v>Patients Enrolled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meeting.pptx]template'!$B$4:$U$4</c:f>
              <c:numCache>
                <c:formatCode>[$-409]mmm\-yy;@</c:formatCode>
                <c:ptCount val="20"/>
                <c:pt idx="0">
                  <c:v>45747</c:v>
                </c:pt>
                <c:pt idx="1">
                  <c:v>45777</c:v>
                </c:pt>
                <c:pt idx="2">
                  <c:v>45808</c:v>
                </c:pt>
                <c:pt idx="3">
                  <c:v>45838</c:v>
                </c:pt>
                <c:pt idx="4">
                  <c:v>45869</c:v>
                </c:pt>
                <c:pt idx="5">
                  <c:v>45900</c:v>
                </c:pt>
                <c:pt idx="6">
                  <c:v>45930</c:v>
                </c:pt>
                <c:pt idx="7">
                  <c:v>45961</c:v>
                </c:pt>
                <c:pt idx="8">
                  <c:v>45991</c:v>
                </c:pt>
                <c:pt idx="9">
                  <c:v>46022</c:v>
                </c:pt>
                <c:pt idx="10">
                  <c:v>46053</c:v>
                </c:pt>
                <c:pt idx="11">
                  <c:v>46081</c:v>
                </c:pt>
                <c:pt idx="12">
                  <c:v>46112</c:v>
                </c:pt>
                <c:pt idx="13">
                  <c:v>46142</c:v>
                </c:pt>
                <c:pt idx="14">
                  <c:v>46173</c:v>
                </c:pt>
                <c:pt idx="15">
                  <c:v>46203</c:v>
                </c:pt>
                <c:pt idx="16">
                  <c:v>46234</c:v>
                </c:pt>
                <c:pt idx="17">
                  <c:v>46265</c:v>
                </c:pt>
                <c:pt idx="18">
                  <c:v>46295</c:v>
                </c:pt>
                <c:pt idx="19">
                  <c:v>46326</c:v>
                </c:pt>
              </c:numCache>
            </c:numRef>
          </c:cat>
          <c:val>
            <c:numRef>
              <c:f>'[工作表 在 2025-Dec CD137 FAP local evidence team meeting.pptx]template'!$B$5:$U$5</c:f>
              <c:numCache>
                <c:formatCode>General</c:formatCode>
                <c:ptCount val="20"/>
                <c:pt idx="0">
                  <c:v>1</c:v>
                </c:pt>
                <c:pt idx="1">
                  <c:v>3</c:v>
                </c:pt>
                <c:pt idx="2">
                  <c:v>9</c:v>
                </c:pt>
                <c:pt idx="3">
                  <c:v>11</c:v>
                </c:pt>
                <c:pt idx="4">
                  <c:v>14</c:v>
                </c:pt>
                <c:pt idx="5">
                  <c:v>19</c:v>
                </c:pt>
                <c:pt idx="6">
                  <c:v>28</c:v>
                </c:pt>
                <c:pt idx="7">
                  <c:v>34</c:v>
                </c:pt>
                <c:pt idx="8">
                  <c:v>43</c:v>
                </c:pt>
              </c:numCache>
            </c:numRef>
          </c:val>
          <c:smooth val="0"/>
          <c:extLst>
            <c:ext xmlns:c16="http://schemas.microsoft.com/office/drawing/2014/chart" uri="{C3380CC4-5D6E-409C-BE32-E72D297353CC}">
              <c16:uniqueId val="{00000000-D1B4-4AC6-A9AC-FB1D06CA68F6}"/>
            </c:ext>
          </c:extLst>
        </c:ser>
        <c:ser>
          <c:idx val="1"/>
          <c:order val="1"/>
          <c:tx>
            <c:strRef>
              <c:f>'[工作表 在 2025-Dec CD137 FAP local evidence team meeting.pptx]template'!$A$6</c:f>
              <c:strCache>
                <c:ptCount val="1"/>
                <c:pt idx="0">
                  <c:v>Patients Enrolled (orginial plan)</c:v>
                </c:pt>
              </c:strCache>
            </c:strRef>
          </c:tx>
          <c:spPr>
            <a:ln w="25400" cap="rnd">
              <a:solidFill>
                <a:srgbClr val="FF0000">
                  <a:alpha val="5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meeting.pptx]template'!$B$4:$U$4</c:f>
              <c:numCache>
                <c:formatCode>[$-409]mmm\-yy;@</c:formatCode>
                <c:ptCount val="20"/>
                <c:pt idx="0">
                  <c:v>45747</c:v>
                </c:pt>
                <c:pt idx="1">
                  <c:v>45777</c:v>
                </c:pt>
                <c:pt idx="2">
                  <c:v>45808</c:v>
                </c:pt>
                <c:pt idx="3">
                  <c:v>45838</c:v>
                </c:pt>
                <c:pt idx="4">
                  <c:v>45869</c:v>
                </c:pt>
                <c:pt idx="5">
                  <c:v>45900</c:v>
                </c:pt>
                <c:pt idx="6">
                  <c:v>45930</c:v>
                </c:pt>
                <c:pt idx="7">
                  <c:v>45961</c:v>
                </c:pt>
                <c:pt idx="8">
                  <c:v>45991</c:v>
                </c:pt>
                <c:pt idx="9">
                  <c:v>46022</c:v>
                </c:pt>
                <c:pt idx="10">
                  <c:v>46053</c:v>
                </c:pt>
                <c:pt idx="11">
                  <c:v>46081</c:v>
                </c:pt>
                <c:pt idx="12">
                  <c:v>46112</c:v>
                </c:pt>
                <c:pt idx="13">
                  <c:v>46142</c:v>
                </c:pt>
                <c:pt idx="14">
                  <c:v>46173</c:v>
                </c:pt>
                <c:pt idx="15">
                  <c:v>46203</c:v>
                </c:pt>
                <c:pt idx="16">
                  <c:v>46234</c:v>
                </c:pt>
                <c:pt idx="17">
                  <c:v>46265</c:v>
                </c:pt>
                <c:pt idx="18">
                  <c:v>46295</c:v>
                </c:pt>
                <c:pt idx="19">
                  <c:v>46326</c:v>
                </c:pt>
              </c:numCache>
            </c:numRef>
          </c:cat>
          <c:val>
            <c:numRef>
              <c:f>'[工作表 在 2025-Dec CD137 FAP local evidence team meeting.pptx]template'!$B$6:$U$6</c:f>
              <c:numCache>
                <c:formatCode>General</c:formatCode>
                <c:ptCount val="20"/>
              </c:numCache>
            </c:numRef>
          </c:val>
          <c:smooth val="0"/>
          <c:extLst>
            <c:ext xmlns:c16="http://schemas.microsoft.com/office/drawing/2014/chart" uri="{C3380CC4-5D6E-409C-BE32-E72D297353CC}">
              <c16:uniqueId val="{00000001-D1B4-4AC6-A9AC-FB1D06CA68F6}"/>
            </c:ext>
          </c:extLst>
        </c:ser>
        <c:ser>
          <c:idx val="2"/>
          <c:order val="2"/>
          <c:tx>
            <c:strRef>
              <c:f>'[工作表 在 2025-Dec CD137 FAP local evidence team meeting.pptx]template'!$A$10</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meeting.pptx]template'!$B$4:$U$4</c:f>
              <c:numCache>
                <c:formatCode>[$-409]mmm\-yy;@</c:formatCode>
                <c:ptCount val="20"/>
                <c:pt idx="0">
                  <c:v>45747</c:v>
                </c:pt>
                <c:pt idx="1">
                  <c:v>45777</c:v>
                </c:pt>
                <c:pt idx="2">
                  <c:v>45808</c:v>
                </c:pt>
                <c:pt idx="3">
                  <c:v>45838</c:v>
                </c:pt>
                <c:pt idx="4">
                  <c:v>45869</c:v>
                </c:pt>
                <c:pt idx="5">
                  <c:v>45900</c:v>
                </c:pt>
                <c:pt idx="6">
                  <c:v>45930</c:v>
                </c:pt>
                <c:pt idx="7">
                  <c:v>45961</c:v>
                </c:pt>
                <c:pt idx="8">
                  <c:v>45991</c:v>
                </c:pt>
                <c:pt idx="9">
                  <c:v>46022</c:v>
                </c:pt>
                <c:pt idx="10">
                  <c:v>46053</c:v>
                </c:pt>
                <c:pt idx="11">
                  <c:v>46081</c:v>
                </c:pt>
                <c:pt idx="12">
                  <c:v>46112</c:v>
                </c:pt>
                <c:pt idx="13">
                  <c:v>46142</c:v>
                </c:pt>
                <c:pt idx="14">
                  <c:v>46173</c:v>
                </c:pt>
                <c:pt idx="15">
                  <c:v>46203</c:v>
                </c:pt>
                <c:pt idx="16">
                  <c:v>46234</c:v>
                </c:pt>
                <c:pt idx="17">
                  <c:v>46265</c:v>
                </c:pt>
                <c:pt idx="18">
                  <c:v>46295</c:v>
                </c:pt>
                <c:pt idx="19">
                  <c:v>46326</c:v>
                </c:pt>
              </c:numCache>
            </c:numRef>
          </c:cat>
          <c:val>
            <c:numRef>
              <c:f>'[工作表 在 2025-Dec CD137 FAP local evidence team meeting.pptx]template'!$B$10:$U$10</c:f>
              <c:numCache>
                <c:formatCode>General</c:formatCode>
                <c:ptCount val="20"/>
                <c:pt idx="0">
                  <c:v>4</c:v>
                </c:pt>
                <c:pt idx="1">
                  <c:v>6</c:v>
                </c:pt>
                <c:pt idx="2">
                  <c:v>12</c:v>
                </c:pt>
                <c:pt idx="3">
                  <c:v>15</c:v>
                </c:pt>
                <c:pt idx="4">
                  <c:v>20</c:v>
                </c:pt>
                <c:pt idx="5">
                  <c:v>31</c:v>
                </c:pt>
                <c:pt idx="6">
                  <c:v>44</c:v>
                </c:pt>
                <c:pt idx="7">
                  <c:v>53</c:v>
                </c:pt>
                <c:pt idx="8">
                  <c:v>60</c:v>
                </c:pt>
              </c:numCache>
            </c:numRef>
          </c:val>
          <c:smooth val="0"/>
          <c:extLst>
            <c:ext xmlns:c16="http://schemas.microsoft.com/office/drawing/2014/chart" uri="{C3380CC4-5D6E-409C-BE32-E72D297353CC}">
              <c16:uniqueId val="{00000002-D1B4-4AC6-A9AC-FB1D06CA68F6}"/>
            </c:ext>
          </c:extLst>
        </c:ser>
        <c:ser>
          <c:idx val="3"/>
          <c:order val="3"/>
          <c:tx>
            <c:strRef>
              <c:f>'[工作表 在 2025-Dec CD137 FAP local evidence team meeting.pptx]template'!$A$11</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meeting.pptx]template'!$B$4:$U$4</c:f>
              <c:numCache>
                <c:formatCode>[$-409]mmm\-yy;@</c:formatCode>
                <c:ptCount val="20"/>
                <c:pt idx="0">
                  <c:v>45747</c:v>
                </c:pt>
                <c:pt idx="1">
                  <c:v>45777</c:v>
                </c:pt>
                <c:pt idx="2">
                  <c:v>45808</c:v>
                </c:pt>
                <c:pt idx="3">
                  <c:v>45838</c:v>
                </c:pt>
                <c:pt idx="4">
                  <c:v>45869</c:v>
                </c:pt>
                <c:pt idx="5">
                  <c:v>45900</c:v>
                </c:pt>
                <c:pt idx="6">
                  <c:v>45930</c:v>
                </c:pt>
                <c:pt idx="7">
                  <c:v>45961</c:v>
                </c:pt>
                <c:pt idx="8">
                  <c:v>45991</c:v>
                </c:pt>
                <c:pt idx="9">
                  <c:v>46022</c:v>
                </c:pt>
                <c:pt idx="10">
                  <c:v>46053</c:v>
                </c:pt>
                <c:pt idx="11">
                  <c:v>46081</c:v>
                </c:pt>
                <c:pt idx="12">
                  <c:v>46112</c:v>
                </c:pt>
                <c:pt idx="13">
                  <c:v>46142</c:v>
                </c:pt>
                <c:pt idx="14">
                  <c:v>46173</c:v>
                </c:pt>
                <c:pt idx="15">
                  <c:v>46203</c:v>
                </c:pt>
                <c:pt idx="16">
                  <c:v>46234</c:v>
                </c:pt>
                <c:pt idx="17">
                  <c:v>46265</c:v>
                </c:pt>
                <c:pt idx="18">
                  <c:v>46295</c:v>
                </c:pt>
                <c:pt idx="19">
                  <c:v>46326</c:v>
                </c:pt>
              </c:numCache>
            </c:numRef>
          </c:cat>
          <c:val>
            <c:numRef>
              <c:f>'[工作表 在 2025-Dec CD137 FAP local evidence team meeting.pptx]template'!$B$11:$U$11</c:f>
              <c:numCache>
                <c:formatCode>General</c:formatCode>
                <c:ptCount val="20"/>
                <c:pt idx="0">
                  <c:v>5</c:v>
                </c:pt>
                <c:pt idx="1">
                  <c:v>12</c:v>
                </c:pt>
                <c:pt idx="2">
                  <c:v>22</c:v>
                </c:pt>
                <c:pt idx="3">
                  <c:v>30</c:v>
                </c:pt>
                <c:pt idx="4">
                  <c:v>38</c:v>
                </c:pt>
                <c:pt idx="5">
                  <c:v>45</c:v>
                </c:pt>
                <c:pt idx="6">
                  <c:v>53</c:v>
                </c:pt>
                <c:pt idx="7">
                  <c:v>60</c:v>
                </c:pt>
                <c:pt idx="8">
                  <c:v>66</c:v>
                </c:pt>
                <c:pt idx="9">
                  <c:v>70</c:v>
                </c:pt>
                <c:pt idx="10">
                  <c:v>73</c:v>
                </c:pt>
                <c:pt idx="11">
                  <c:v>76</c:v>
                </c:pt>
                <c:pt idx="12">
                  <c:v>78</c:v>
                </c:pt>
                <c:pt idx="13">
                  <c:v>80</c:v>
                </c:pt>
                <c:pt idx="14">
                  <c:v>81</c:v>
                </c:pt>
                <c:pt idx="15">
                  <c:v>82</c:v>
                </c:pt>
                <c:pt idx="16">
                  <c:v>83</c:v>
                </c:pt>
                <c:pt idx="17">
                  <c:v>84</c:v>
                </c:pt>
                <c:pt idx="18">
                  <c:v>85</c:v>
                </c:pt>
                <c:pt idx="19">
                  <c:v>85</c:v>
                </c:pt>
              </c:numCache>
            </c:numRef>
          </c:val>
          <c:smooth val="0"/>
          <c:extLst>
            <c:ext xmlns:c16="http://schemas.microsoft.com/office/drawing/2014/chart" uri="{C3380CC4-5D6E-409C-BE32-E72D297353CC}">
              <c16:uniqueId val="{00000003-D1B4-4AC6-A9AC-FB1D06CA68F6}"/>
            </c:ext>
          </c:extLst>
        </c:ser>
        <c:ser>
          <c:idx val="4"/>
          <c:order val="4"/>
          <c:tx>
            <c:strRef>
              <c:f>'[工作表 在 2025-Dec CD137 FAP local evidence team meeting.pptx]template'!$A$7</c:f>
              <c:strCache>
                <c:ptCount val="1"/>
                <c:pt idx="0">
                  <c:v>Patients Enrolled (Planed)</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meeting.pptx]template'!$B$4:$U$4</c:f>
              <c:numCache>
                <c:formatCode>[$-409]mmm\-yy;@</c:formatCode>
                <c:ptCount val="20"/>
                <c:pt idx="0">
                  <c:v>45747</c:v>
                </c:pt>
                <c:pt idx="1">
                  <c:v>45777</c:v>
                </c:pt>
                <c:pt idx="2">
                  <c:v>45808</c:v>
                </c:pt>
                <c:pt idx="3">
                  <c:v>45838</c:v>
                </c:pt>
                <c:pt idx="4">
                  <c:v>45869</c:v>
                </c:pt>
                <c:pt idx="5">
                  <c:v>45900</c:v>
                </c:pt>
                <c:pt idx="6">
                  <c:v>45930</c:v>
                </c:pt>
                <c:pt idx="7">
                  <c:v>45961</c:v>
                </c:pt>
                <c:pt idx="8">
                  <c:v>45991</c:v>
                </c:pt>
                <c:pt idx="9">
                  <c:v>46022</c:v>
                </c:pt>
                <c:pt idx="10">
                  <c:v>46053</c:v>
                </c:pt>
                <c:pt idx="11">
                  <c:v>46081</c:v>
                </c:pt>
                <c:pt idx="12">
                  <c:v>46112</c:v>
                </c:pt>
                <c:pt idx="13">
                  <c:v>46142</c:v>
                </c:pt>
                <c:pt idx="14">
                  <c:v>46173</c:v>
                </c:pt>
                <c:pt idx="15">
                  <c:v>46203</c:v>
                </c:pt>
                <c:pt idx="16">
                  <c:v>46234</c:v>
                </c:pt>
                <c:pt idx="17">
                  <c:v>46265</c:v>
                </c:pt>
                <c:pt idx="18">
                  <c:v>46295</c:v>
                </c:pt>
                <c:pt idx="19">
                  <c:v>46326</c:v>
                </c:pt>
              </c:numCache>
            </c:numRef>
          </c:cat>
          <c:val>
            <c:numRef>
              <c:f>'[工作表 在 2025-Dec CD137 FAP local evidence team meeting.pptx]template'!$B$7:$U$7</c:f>
              <c:numCache>
                <c:formatCode>General</c:formatCode>
                <c:ptCount val="20"/>
                <c:pt idx="0">
                  <c:v>1</c:v>
                </c:pt>
                <c:pt idx="1">
                  <c:v>3</c:v>
                </c:pt>
                <c:pt idx="2">
                  <c:v>6</c:v>
                </c:pt>
                <c:pt idx="3">
                  <c:v>9</c:v>
                </c:pt>
                <c:pt idx="4">
                  <c:v>10</c:v>
                </c:pt>
                <c:pt idx="5">
                  <c:v>11</c:v>
                </c:pt>
                <c:pt idx="6">
                  <c:v>15</c:v>
                </c:pt>
                <c:pt idx="7">
                  <c:v>19</c:v>
                </c:pt>
                <c:pt idx="8">
                  <c:v>23</c:v>
                </c:pt>
                <c:pt idx="9">
                  <c:v>25</c:v>
                </c:pt>
                <c:pt idx="10">
                  <c:v>29</c:v>
                </c:pt>
                <c:pt idx="11">
                  <c:v>33</c:v>
                </c:pt>
                <c:pt idx="12">
                  <c:v>37</c:v>
                </c:pt>
                <c:pt idx="13">
                  <c:v>41</c:v>
                </c:pt>
                <c:pt idx="14">
                  <c:v>45</c:v>
                </c:pt>
                <c:pt idx="15">
                  <c:v>49</c:v>
                </c:pt>
                <c:pt idx="16">
                  <c:v>50</c:v>
                </c:pt>
                <c:pt idx="17">
                  <c:v>51</c:v>
                </c:pt>
                <c:pt idx="18">
                  <c:v>55</c:v>
                </c:pt>
                <c:pt idx="19">
                  <c:v>60</c:v>
                </c:pt>
              </c:numCache>
            </c:numRef>
          </c:val>
          <c:smooth val="0"/>
          <c:extLst>
            <c:ext xmlns:c16="http://schemas.microsoft.com/office/drawing/2014/chart" uri="{C3380CC4-5D6E-409C-BE32-E72D297353CC}">
              <c16:uniqueId val="{00000004-D1B4-4AC6-A9AC-FB1D06CA68F6}"/>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2025-Dec CD137 FAP local evidence team meeting.pptx]template'!$A$5</c:f>
              <c:strCache>
                <c:ptCount val="1"/>
                <c:pt idx="0">
                  <c:v>Patients Enrolled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meeting.pptx]template'!$C$4:$T$4</c:f>
              <c:numCache>
                <c:formatCode>[$-409]mmm\-yy;@</c:formatCode>
                <c:ptCount val="18"/>
                <c:pt idx="0">
                  <c:v>45808</c:v>
                </c:pt>
                <c:pt idx="1">
                  <c:v>45838</c:v>
                </c:pt>
                <c:pt idx="2">
                  <c:v>45869</c:v>
                </c:pt>
                <c:pt idx="3">
                  <c:v>45900</c:v>
                </c:pt>
                <c:pt idx="4">
                  <c:v>45930</c:v>
                </c:pt>
                <c:pt idx="5">
                  <c:v>45961</c:v>
                </c:pt>
                <c:pt idx="6">
                  <c:v>45991</c:v>
                </c:pt>
                <c:pt idx="7">
                  <c:v>46022</c:v>
                </c:pt>
                <c:pt idx="8">
                  <c:v>46053</c:v>
                </c:pt>
                <c:pt idx="9">
                  <c:v>46081</c:v>
                </c:pt>
                <c:pt idx="10">
                  <c:v>46112</c:v>
                </c:pt>
                <c:pt idx="11">
                  <c:v>46142</c:v>
                </c:pt>
                <c:pt idx="12">
                  <c:v>46173</c:v>
                </c:pt>
                <c:pt idx="13">
                  <c:v>46203</c:v>
                </c:pt>
                <c:pt idx="14">
                  <c:v>46234</c:v>
                </c:pt>
                <c:pt idx="15">
                  <c:v>46265</c:v>
                </c:pt>
                <c:pt idx="16">
                  <c:v>46295</c:v>
                </c:pt>
                <c:pt idx="17">
                  <c:v>46326</c:v>
                </c:pt>
              </c:numCache>
            </c:numRef>
          </c:cat>
          <c:val>
            <c:numRef>
              <c:f>'[工作表 在 2025-Dec CD137 FAP local evidence team meeting.pptx]template'!$C$5:$T$5</c:f>
              <c:numCache>
                <c:formatCode>General</c:formatCode>
                <c:ptCount val="18"/>
                <c:pt idx="0">
                  <c:v>2</c:v>
                </c:pt>
                <c:pt idx="1">
                  <c:v>3</c:v>
                </c:pt>
                <c:pt idx="2">
                  <c:v>3</c:v>
                </c:pt>
                <c:pt idx="3">
                  <c:v>3</c:v>
                </c:pt>
                <c:pt idx="4">
                  <c:v>5</c:v>
                </c:pt>
                <c:pt idx="5">
                  <c:v>5</c:v>
                </c:pt>
                <c:pt idx="6">
                  <c:v>7</c:v>
                </c:pt>
              </c:numCache>
            </c:numRef>
          </c:val>
          <c:smooth val="0"/>
          <c:extLst>
            <c:ext xmlns:c16="http://schemas.microsoft.com/office/drawing/2014/chart" uri="{C3380CC4-5D6E-409C-BE32-E72D297353CC}">
              <c16:uniqueId val="{00000000-E5DE-425D-BA26-78C7BC368A7B}"/>
            </c:ext>
          </c:extLst>
        </c:ser>
        <c:ser>
          <c:idx val="1"/>
          <c:order val="1"/>
          <c:tx>
            <c:strRef>
              <c:f>'[工作表 在 2025-Dec CD137 FAP local evidence team meeting.pptx]template'!$A$6</c:f>
              <c:strCache>
                <c:ptCount val="1"/>
                <c:pt idx="0">
                  <c:v>Patients Enrolled (orginial plan)</c:v>
                </c:pt>
              </c:strCache>
            </c:strRef>
          </c:tx>
          <c:spPr>
            <a:ln w="25400" cap="rnd">
              <a:solidFill>
                <a:srgbClr val="FF0000">
                  <a:alpha val="5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meeting.pptx]template'!$C$4:$T$4</c:f>
              <c:numCache>
                <c:formatCode>[$-409]mmm\-yy;@</c:formatCode>
                <c:ptCount val="18"/>
                <c:pt idx="0">
                  <c:v>45808</c:v>
                </c:pt>
                <c:pt idx="1">
                  <c:v>45838</c:v>
                </c:pt>
                <c:pt idx="2">
                  <c:v>45869</c:v>
                </c:pt>
                <c:pt idx="3">
                  <c:v>45900</c:v>
                </c:pt>
                <c:pt idx="4">
                  <c:v>45930</c:v>
                </c:pt>
                <c:pt idx="5">
                  <c:v>45961</c:v>
                </c:pt>
                <c:pt idx="6">
                  <c:v>45991</c:v>
                </c:pt>
                <c:pt idx="7">
                  <c:v>46022</c:v>
                </c:pt>
                <c:pt idx="8">
                  <c:v>46053</c:v>
                </c:pt>
                <c:pt idx="9">
                  <c:v>46081</c:v>
                </c:pt>
                <c:pt idx="10">
                  <c:v>46112</c:v>
                </c:pt>
                <c:pt idx="11">
                  <c:v>46142</c:v>
                </c:pt>
                <c:pt idx="12">
                  <c:v>46173</c:v>
                </c:pt>
                <c:pt idx="13">
                  <c:v>46203</c:v>
                </c:pt>
                <c:pt idx="14">
                  <c:v>46234</c:v>
                </c:pt>
                <c:pt idx="15">
                  <c:v>46265</c:v>
                </c:pt>
                <c:pt idx="16">
                  <c:v>46295</c:v>
                </c:pt>
                <c:pt idx="17">
                  <c:v>46326</c:v>
                </c:pt>
              </c:numCache>
            </c:numRef>
          </c:cat>
          <c:val>
            <c:numRef>
              <c:f>'[工作表 在 2025-Dec CD137 FAP local evidence team meeting.pptx]template'!$C$6:$T$6</c:f>
              <c:numCache>
                <c:formatCode>General</c:formatCode>
                <c:ptCount val="18"/>
              </c:numCache>
            </c:numRef>
          </c:val>
          <c:smooth val="0"/>
          <c:extLst>
            <c:ext xmlns:c16="http://schemas.microsoft.com/office/drawing/2014/chart" uri="{C3380CC4-5D6E-409C-BE32-E72D297353CC}">
              <c16:uniqueId val="{00000001-E5DE-425D-BA26-78C7BC368A7B}"/>
            </c:ext>
          </c:extLst>
        </c:ser>
        <c:ser>
          <c:idx val="2"/>
          <c:order val="2"/>
          <c:tx>
            <c:strRef>
              <c:f>'[工作表 在 2025-Dec CD137 FAP local evidence team meeting.pptx]template'!$A$10</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meeting.pptx]template'!$C$4:$T$4</c:f>
              <c:numCache>
                <c:formatCode>[$-409]mmm\-yy;@</c:formatCode>
                <c:ptCount val="18"/>
                <c:pt idx="0">
                  <c:v>45808</c:v>
                </c:pt>
                <c:pt idx="1">
                  <c:v>45838</c:v>
                </c:pt>
                <c:pt idx="2">
                  <c:v>45869</c:v>
                </c:pt>
                <c:pt idx="3">
                  <c:v>45900</c:v>
                </c:pt>
                <c:pt idx="4">
                  <c:v>45930</c:v>
                </c:pt>
                <c:pt idx="5">
                  <c:v>45961</c:v>
                </c:pt>
                <c:pt idx="6">
                  <c:v>45991</c:v>
                </c:pt>
                <c:pt idx="7">
                  <c:v>46022</c:v>
                </c:pt>
                <c:pt idx="8">
                  <c:v>46053</c:v>
                </c:pt>
                <c:pt idx="9">
                  <c:v>46081</c:v>
                </c:pt>
                <c:pt idx="10">
                  <c:v>46112</c:v>
                </c:pt>
                <c:pt idx="11">
                  <c:v>46142</c:v>
                </c:pt>
                <c:pt idx="12">
                  <c:v>46173</c:v>
                </c:pt>
                <c:pt idx="13">
                  <c:v>46203</c:v>
                </c:pt>
                <c:pt idx="14">
                  <c:v>46234</c:v>
                </c:pt>
                <c:pt idx="15">
                  <c:v>46265</c:v>
                </c:pt>
                <c:pt idx="16">
                  <c:v>46295</c:v>
                </c:pt>
                <c:pt idx="17">
                  <c:v>46326</c:v>
                </c:pt>
              </c:numCache>
            </c:numRef>
          </c:cat>
          <c:val>
            <c:numRef>
              <c:f>'[工作表 在 2025-Dec CD137 FAP local evidence team meeting.pptx]template'!$C$10:$T$10</c:f>
              <c:numCache>
                <c:formatCode>General</c:formatCode>
                <c:ptCount val="18"/>
                <c:pt idx="0">
                  <c:v>4</c:v>
                </c:pt>
                <c:pt idx="1">
                  <c:v>5</c:v>
                </c:pt>
                <c:pt idx="2">
                  <c:v>5</c:v>
                </c:pt>
                <c:pt idx="3">
                  <c:v>8</c:v>
                </c:pt>
                <c:pt idx="4">
                  <c:v>9</c:v>
                </c:pt>
                <c:pt idx="5">
                  <c:v>10</c:v>
                </c:pt>
                <c:pt idx="6">
                  <c:v>11</c:v>
                </c:pt>
              </c:numCache>
            </c:numRef>
          </c:val>
          <c:smooth val="0"/>
          <c:extLst>
            <c:ext xmlns:c16="http://schemas.microsoft.com/office/drawing/2014/chart" uri="{C3380CC4-5D6E-409C-BE32-E72D297353CC}">
              <c16:uniqueId val="{00000002-E5DE-425D-BA26-78C7BC368A7B}"/>
            </c:ext>
          </c:extLst>
        </c:ser>
        <c:ser>
          <c:idx val="3"/>
          <c:order val="3"/>
          <c:tx>
            <c:strRef>
              <c:f>'[工作表 在 2025-Dec CD137 FAP local evidence team meeting.pptx]template'!$A$11</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meeting.pptx]template'!$C$4:$T$4</c:f>
              <c:numCache>
                <c:formatCode>[$-409]mmm\-yy;@</c:formatCode>
                <c:ptCount val="18"/>
                <c:pt idx="0">
                  <c:v>45808</c:v>
                </c:pt>
                <c:pt idx="1">
                  <c:v>45838</c:v>
                </c:pt>
                <c:pt idx="2">
                  <c:v>45869</c:v>
                </c:pt>
                <c:pt idx="3">
                  <c:v>45900</c:v>
                </c:pt>
                <c:pt idx="4">
                  <c:v>45930</c:v>
                </c:pt>
                <c:pt idx="5">
                  <c:v>45961</c:v>
                </c:pt>
                <c:pt idx="6">
                  <c:v>45991</c:v>
                </c:pt>
                <c:pt idx="7">
                  <c:v>46022</c:v>
                </c:pt>
                <c:pt idx="8">
                  <c:v>46053</c:v>
                </c:pt>
                <c:pt idx="9">
                  <c:v>46081</c:v>
                </c:pt>
                <c:pt idx="10">
                  <c:v>46112</c:v>
                </c:pt>
                <c:pt idx="11">
                  <c:v>46142</c:v>
                </c:pt>
                <c:pt idx="12">
                  <c:v>46173</c:v>
                </c:pt>
                <c:pt idx="13">
                  <c:v>46203</c:v>
                </c:pt>
                <c:pt idx="14">
                  <c:v>46234</c:v>
                </c:pt>
                <c:pt idx="15">
                  <c:v>46265</c:v>
                </c:pt>
                <c:pt idx="16">
                  <c:v>46295</c:v>
                </c:pt>
                <c:pt idx="17">
                  <c:v>46326</c:v>
                </c:pt>
              </c:numCache>
            </c:numRef>
          </c:cat>
          <c:val>
            <c:numRef>
              <c:f>'[工作表 在 2025-Dec CD137 FAP local evidence team meeting.pptx]template'!$C$11:$T$11</c:f>
              <c:numCache>
                <c:formatCode>General</c:formatCode>
                <c:ptCount val="18"/>
                <c:pt idx="0">
                  <c:v>1</c:v>
                </c:pt>
                <c:pt idx="1">
                  <c:v>2</c:v>
                </c:pt>
                <c:pt idx="2">
                  <c:v>3</c:v>
                </c:pt>
                <c:pt idx="3">
                  <c:v>3</c:v>
                </c:pt>
                <c:pt idx="4">
                  <c:v>4</c:v>
                </c:pt>
                <c:pt idx="5">
                  <c:v>4</c:v>
                </c:pt>
                <c:pt idx="6">
                  <c:v>5</c:v>
                </c:pt>
                <c:pt idx="7">
                  <c:v>5</c:v>
                </c:pt>
                <c:pt idx="8">
                  <c:v>6</c:v>
                </c:pt>
                <c:pt idx="9">
                  <c:v>6</c:v>
                </c:pt>
                <c:pt idx="10">
                  <c:v>7</c:v>
                </c:pt>
                <c:pt idx="11">
                  <c:v>7</c:v>
                </c:pt>
                <c:pt idx="12">
                  <c:v>8</c:v>
                </c:pt>
                <c:pt idx="13">
                  <c:v>8</c:v>
                </c:pt>
                <c:pt idx="14">
                  <c:v>9</c:v>
                </c:pt>
                <c:pt idx="15">
                  <c:v>10</c:v>
                </c:pt>
                <c:pt idx="16">
                  <c:v>10</c:v>
                </c:pt>
                <c:pt idx="17">
                  <c:v>10</c:v>
                </c:pt>
              </c:numCache>
            </c:numRef>
          </c:val>
          <c:smooth val="0"/>
          <c:extLst>
            <c:ext xmlns:c16="http://schemas.microsoft.com/office/drawing/2014/chart" uri="{C3380CC4-5D6E-409C-BE32-E72D297353CC}">
              <c16:uniqueId val="{00000003-E5DE-425D-BA26-78C7BC368A7B}"/>
            </c:ext>
          </c:extLst>
        </c:ser>
        <c:ser>
          <c:idx val="4"/>
          <c:order val="4"/>
          <c:tx>
            <c:strRef>
              <c:f>'[工作表 在 2025-Dec CD137 FAP local evidence team meeting.pptx]template'!$A$7</c:f>
              <c:strCache>
                <c:ptCount val="1"/>
                <c:pt idx="0">
                  <c:v>Patients Enrolled (Planed)</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2025-Dec CD137 FAP local evidence team meeting.pptx]template'!$C$4:$T$4</c:f>
              <c:numCache>
                <c:formatCode>[$-409]mmm\-yy;@</c:formatCode>
                <c:ptCount val="18"/>
                <c:pt idx="0">
                  <c:v>45808</c:v>
                </c:pt>
                <c:pt idx="1">
                  <c:v>45838</c:v>
                </c:pt>
                <c:pt idx="2">
                  <c:v>45869</c:v>
                </c:pt>
                <c:pt idx="3">
                  <c:v>45900</c:v>
                </c:pt>
                <c:pt idx="4">
                  <c:v>45930</c:v>
                </c:pt>
                <c:pt idx="5">
                  <c:v>45961</c:v>
                </c:pt>
                <c:pt idx="6">
                  <c:v>45991</c:v>
                </c:pt>
                <c:pt idx="7">
                  <c:v>46022</c:v>
                </c:pt>
                <c:pt idx="8">
                  <c:v>46053</c:v>
                </c:pt>
                <c:pt idx="9">
                  <c:v>46081</c:v>
                </c:pt>
                <c:pt idx="10">
                  <c:v>46112</c:v>
                </c:pt>
                <c:pt idx="11">
                  <c:v>46142</c:v>
                </c:pt>
                <c:pt idx="12">
                  <c:v>46173</c:v>
                </c:pt>
                <c:pt idx="13">
                  <c:v>46203</c:v>
                </c:pt>
                <c:pt idx="14">
                  <c:v>46234</c:v>
                </c:pt>
                <c:pt idx="15">
                  <c:v>46265</c:v>
                </c:pt>
                <c:pt idx="16">
                  <c:v>46295</c:v>
                </c:pt>
                <c:pt idx="17">
                  <c:v>46326</c:v>
                </c:pt>
              </c:numCache>
            </c:numRef>
          </c:cat>
          <c:val>
            <c:numRef>
              <c:f>'[工作表 在 2025-Dec CD137 FAP local evidence team meeting.pptx]template'!$C$7:$T$7</c:f>
              <c:numCache>
                <c:formatCode>General</c:formatCode>
                <c:ptCount val="18"/>
                <c:pt idx="0">
                  <c:v>1</c:v>
                </c:pt>
                <c:pt idx="1">
                  <c:v>1</c:v>
                </c:pt>
                <c:pt idx="2">
                  <c:v>1</c:v>
                </c:pt>
                <c:pt idx="3">
                  <c:v>2</c:v>
                </c:pt>
                <c:pt idx="4">
                  <c:v>2</c:v>
                </c:pt>
                <c:pt idx="5">
                  <c:v>2</c:v>
                </c:pt>
                <c:pt idx="6">
                  <c:v>3</c:v>
                </c:pt>
                <c:pt idx="7">
                  <c:v>3</c:v>
                </c:pt>
                <c:pt idx="8">
                  <c:v>3</c:v>
                </c:pt>
                <c:pt idx="9">
                  <c:v>4</c:v>
                </c:pt>
                <c:pt idx="10">
                  <c:v>4</c:v>
                </c:pt>
                <c:pt idx="11">
                  <c:v>4</c:v>
                </c:pt>
                <c:pt idx="12">
                  <c:v>5</c:v>
                </c:pt>
                <c:pt idx="13">
                  <c:v>5</c:v>
                </c:pt>
                <c:pt idx="14">
                  <c:v>5</c:v>
                </c:pt>
                <c:pt idx="15">
                  <c:v>6</c:v>
                </c:pt>
                <c:pt idx="16">
                  <c:v>6</c:v>
                </c:pt>
                <c:pt idx="17">
                  <c:v>6</c:v>
                </c:pt>
              </c:numCache>
            </c:numRef>
          </c:val>
          <c:smooth val="0"/>
          <c:extLst>
            <c:ext xmlns:c16="http://schemas.microsoft.com/office/drawing/2014/chart" uri="{C3380CC4-5D6E-409C-BE32-E72D297353CC}">
              <c16:uniqueId val="{00000004-E5DE-425D-BA26-78C7BC368A7B}"/>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0.00354</cdr:x>
      <cdr:y>0.00805</cdr:y>
    </cdr:from>
    <cdr:to>
      <cdr:x>0.2045</cdr:x>
      <cdr:y>0.40512</cdr:y>
    </cdr:to>
    <cdr:sp macro="" textlink="">
      <cdr:nvSpPr>
        <cdr:cNvPr id="2" name="Rectangle 3">
          <a:extLst xmlns:a="http://schemas.openxmlformats.org/drawingml/2006/main">
            <a:ext uri="{FF2B5EF4-FFF2-40B4-BE49-F238E27FC236}">
              <a16:creationId xmlns:a16="http://schemas.microsoft.com/office/drawing/2014/main" id="{C8372D3D-F981-D448-4D5F-CABB21656912}"/>
            </a:ext>
          </a:extLst>
        </cdr:cNvPr>
        <cdr:cNvSpPr/>
      </cdr:nvSpPr>
      <cdr:spPr bwMode="gray">
        <a:xfrm xmlns:a="http://schemas.openxmlformats.org/drawingml/2006/main">
          <a:off x="37477" y="43837"/>
          <a:ext cx="2127507" cy="2162325"/>
        </a:xfrm>
        <a:prstGeom xmlns:a="http://schemas.openxmlformats.org/drawingml/2006/main" prst="rect">
          <a:avLst/>
        </a:prstGeom>
        <a:solidFill xmlns:a="http://schemas.openxmlformats.org/drawingml/2006/main">
          <a:schemeClr val="bg2">
            <a:lumMod val="90000"/>
            <a:lumOff val="10000"/>
          </a:schemeClr>
        </a:solidFill>
        <a:ln xmlns:a="http://schemas.openxmlformats.org/drawingml/2006/main" w="63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lnSpc>
              <a:spcPct val="140000"/>
            </a:lnSpc>
          </a:pPr>
          <a:r>
            <a:rPr lang="en-GB" sz="1200" b="1" dirty="0">
              <a:solidFill>
                <a:schemeClr val="tx2">
                  <a:lumMod val="60000"/>
                  <a:lumOff val="40000"/>
                </a:schemeClr>
              </a:solidFill>
            </a:rPr>
            <a:t>Screened: 19 (</a:t>
          </a:r>
          <a:r>
            <a:rPr lang="en-GB" sz="1200" b="1" dirty="0">
              <a:solidFill>
                <a:srgbClr val="FF0000"/>
              </a:solidFill>
            </a:rPr>
            <a:t>+8</a:t>
          </a:r>
          <a:r>
            <a:rPr lang="en-GB" sz="1200" b="1" dirty="0">
              <a:solidFill>
                <a:schemeClr val="tx2">
                  <a:lumMod val="60000"/>
                  <a:lumOff val="40000"/>
                </a:schemeClr>
              </a:solidFill>
            </a:rPr>
            <a:t>)</a:t>
          </a:r>
          <a:endParaRPr lang="en-GB" sz="1200" b="1" dirty="0">
            <a:solidFill>
              <a:srgbClr val="FF0000"/>
            </a:solidFill>
          </a:endParaRPr>
        </a:p>
        <a:p xmlns:a="http://schemas.openxmlformats.org/drawingml/2006/main">
          <a:pPr algn="ctr">
            <a:lnSpc>
              <a:spcPct val="140000"/>
            </a:lnSpc>
          </a:pPr>
          <a:r>
            <a:rPr lang="en-GB" sz="1200" b="1" dirty="0">
              <a:solidFill>
                <a:schemeClr val="tx2">
                  <a:lumMod val="60000"/>
                  <a:lumOff val="40000"/>
                </a:schemeClr>
              </a:solidFill>
            </a:rPr>
            <a:t>Treated: 14 (</a:t>
          </a:r>
          <a:r>
            <a:rPr lang="en-GB" sz="1200" b="1" dirty="0">
              <a:solidFill>
                <a:srgbClr val="FF0000"/>
              </a:solidFill>
            </a:rPr>
            <a:t>+5</a:t>
          </a:r>
          <a:r>
            <a:rPr lang="en-GB" sz="1200" b="1" dirty="0">
              <a:solidFill>
                <a:schemeClr val="tx2">
                  <a:lumMod val="60000"/>
                  <a:lumOff val="40000"/>
                </a:schemeClr>
              </a:solidFill>
            </a:rPr>
            <a:t>) </a:t>
          </a:r>
          <a:endParaRPr lang="en-GB" sz="1200" b="1" dirty="0">
            <a:solidFill>
              <a:srgbClr val="FF0000"/>
            </a:solidFill>
          </a:endParaRPr>
        </a:p>
        <a:p xmlns:a="http://schemas.openxmlformats.org/drawingml/2006/main">
          <a:pPr algn="ctr">
            <a:lnSpc>
              <a:spcPct val="140000"/>
            </a:lnSpc>
          </a:pPr>
          <a:r>
            <a:rPr lang="en-GB" sz="1200" b="1" dirty="0">
              <a:solidFill>
                <a:schemeClr val="tx2">
                  <a:lumMod val="60000"/>
                  <a:lumOff val="40000"/>
                </a:schemeClr>
              </a:solidFill>
            </a:rPr>
            <a:t>Screen Failed: 2 </a:t>
          </a:r>
        </a:p>
        <a:p xmlns:a="http://schemas.openxmlformats.org/drawingml/2006/main">
          <a:pPr algn="ctr">
            <a:lnSpc>
              <a:spcPct val="140000"/>
            </a:lnSpc>
          </a:pPr>
          <a:r>
            <a:rPr lang="en-GB" sz="1200" b="1" dirty="0">
              <a:solidFill>
                <a:schemeClr val="tx2">
                  <a:lumMod val="60000"/>
                  <a:lumOff val="40000"/>
                </a:schemeClr>
              </a:solidFill>
            </a:rPr>
            <a:t>EOT: 3</a:t>
          </a:r>
          <a:r>
            <a:rPr lang="en-GB" altLang="zh-CN" sz="1200" b="1" dirty="0">
              <a:solidFill>
                <a:srgbClr val="FF0000"/>
              </a:solidFill>
            </a:rPr>
            <a:t> </a:t>
          </a:r>
        </a:p>
        <a:p xmlns:a="http://schemas.openxmlformats.org/drawingml/2006/main">
          <a:pPr algn="ctr">
            <a:lnSpc>
              <a:spcPct val="140000"/>
            </a:lnSpc>
          </a:pPr>
          <a:r>
            <a:rPr lang="en-GB" altLang="zh-CN" sz="1200" b="1" dirty="0">
              <a:solidFill>
                <a:schemeClr val="bg1"/>
              </a:solidFill>
            </a:rPr>
            <a:t>Recruitment plan for 40pts will be updated once all 8 sites confirmed</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2026/1/7</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03540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85F90-E20D-B180-6AD3-86593960E8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8FFA18-CA08-B272-603C-29C287E9F3F2}"/>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DBB4368B-EB9B-66AD-28B9-C95BDD53D0EB}"/>
              </a:ext>
            </a:extLst>
          </p:cNvPr>
          <p:cNvSpPr>
            <a:spLocks noGrp="1"/>
          </p:cNvSpPr>
          <p:nvPr>
            <p:ph type="body" idx="1"/>
          </p:nvPr>
        </p:nvSpPr>
        <p:spPr/>
        <p:txBody>
          <a:bodyPr/>
          <a:lstStyle/>
          <a:p>
            <a:endParaRPr lang="zh-CN" altLang="en-US"/>
          </a:p>
        </p:txBody>
      </p:sp>
      <p:sp>
        <p:nvSpPr>
          <p:cNvPr id="4" name="页脚占位符 3">
            <a:extLst>
              <a:ext uri="{FF2B5EF4-FFF2-40B4-BE49-F238E27FC236}">
                <a16:creationId xmlns:a16="http://schemas.microsoft.com/office/drawing/2014/main" id="{8DCA2D41-D2DE-1AF5-541D-DCE5B398A49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灯片编号占位符 4">
            <a:extLst>
              <a:ext uri="{FF2B5EF4-FFF2-40B4-BE49-F238E27FC236}">
                <a16:creationId xmlns:a16="http://schemas.microsoft.com/office/drawing/2014/main" id="{01E69A2F-84EE-AD88-99A6-538C0D8F72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264746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E8287C5-6CD0-4BF4-859B-409A599B0178}" type="slidenum">
              <a:rPr lang="zh-CN" altLang="en-US" smtClean="0"/>
              <a:t>7</a:t>
            </a:fld>
            <a:endParaRPr lang="zh-CN" altLang="en-US"/>
          </a:p>
        </p:txBody>
      </p:sp>
    </p:spTree>
    <p:extLst>
      <p:ext uri="{BB962C8B-B14F-4D97-AF65-F5344CB8AC3E}">
        <p14:creationId xmlns:p14="http://schemas.microsoft.com/office/powerpoint/2010/main" val="3947345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76987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2913" y="617538"/>
            <a:ext cx="5967412" cy="335597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98AD7A9-20B2-440E-B5B7-E5BBD464AEFB}" type="slidenum">
              <a:rPr lang="en-US" smtClean="0"/>
              <a:t>13</a:t>
            </a:fld>
            <a:endParaRPr lang="en-US"/>
          </a:p>
        </p:txBody>
      </p:sp>
    </p:spTree>
    <p:extLst>
      <p:ext uri="{BB962C8B-B14F-4D97-AF65-F5344CB8AC3E}">
        <p14:creationId xmlns:p14="http://schemas.microsoft.com/office/powerpoint/2010/main" val="1829951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017802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726821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FAE7-31AB-5793-4156-A1C4F77D3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B0816-213B-9095-4296-92F27E791353}"/>
              </a:ext>
            </a:extLst>
          </p:cNvPr>
          <p:cNvSpPr>
            <a:spLocks noGrp="1" noRot="1" noChangeAspect="1"/>
          </p:cNvSpPr>
          <p:nvPr>
            <p:ph type="sldImg"/>
          </p:nvPr>
        </p:nvSpPr>
        <p:spPr>
          <a:xfrm>
            <a:off x="-1957388" y="904875"/>
            <a:ext cx="8726488" cy="4908550"/>
          </a:xfrm>
        </p:spPr>
      </p:sp>
      <p:sp>
        <p:nvSpPr>
          <p:cNvPr id="3" name="Notes Placeholder 2">
            <a:extLst>
              <a:ext uri="{FF2B5EF4-FFF2-40B4-BE49-F238E27FC236}">
                <a16:creationId xmlns:a16="http://schemas.microsoft.com/office/drawing/2014/main" id="{777BB58E-EB7D-BAAA-8DAE-D4ABA171F7F8}"/>
              </a:ext>
            </a:extLst>
          </p:cNvPr>
          <p:cNvSpPr>
            <a:spLocks noGrp="1"/>
          </p:cNvSpPr>
          <p:nvPr>
            <p:ph type="body" idx="1"/>
          </p:nvPr>
        </p:nvSpPr>
        <p:spPr/>
        <p:txBody>
          <a:bodyPr/>
          <a:lstStyle/>
          <a:p>
            <a:r>
              <a:rPr lang="de-AT"/>
              <a:t>RevMed FIH 5/22 &gt; FA 2L PDAC 5/27 =&gt; 5y </a:t>
            </a:r>
            <a:r>
              <a:rPr lang="de-AT" err="1"/>
              <a:t>later</a:t>
            </a:r>
            <a:r>
              <a:rPr lang="de-AT"/>
              <a:t> </a:t>
            </a:r>
            <a:r>
              <a:rPr lang="de-AT" err="1"/>
              <a:t>with</a:t>
            </a:r>
            <a:r>
              <a:rPr lang="de-AT"/>
              <a:t> ph3 </a:t>
            </a:r>
            <a:r>
              <a:rPr lang="de-AT" err="1"/>
              <a:t>starting</a:t>
            </a:r>
            <a:r>
              <a:rPr lang="de-AT"/>
              <a:t> Oct24 = 2.5y after ph1 </a:t>
            </a:r>
            <a:r>
              <a:rPr lang="de-AT" err="1"/>
              <a:t>start</a:t>
            </a:r>
            <a:endParaRPr lang="de-AT"/>
          </a:p>
          <a:p>
            <a:pPr marL="575539" lvl="8" indent="0">
              <a:buNone/>
            </a:pPr>
            <a:r>
              <a:rPr lang="de-AT"/>
              <a:t>	            FA 1L PDAC 2029 =&gt; 7y </a:t>
            </a:r>
            <a:r>
              <a:rPr lang="de-AT" err="1"/>
              <a:t>later</a:t>
            </a:r>
            <a:endParaRPr lang="de-AT"/>
          </a:p>
          <a:p>
            <a:pPr marL="575539" lvl="8" indent="0">
              <a:buNone/>
            </a:pPr>
            <a:endParaRPr lang="de-AT"/>
          </a:p>
          <a:p>
            <a:pPr marL="575539" lvl="8" indent="0">
              <a:buNone/>
            </a:pPr>
            <a:r>
              <a:rPr lang="de-AT" err="1"/>
              <a:t>start</a:t>
            </a:r>
            <a:r>
              <a:rPr lang="de-AT"/>
              <a:t> NSCLC and GI </a:t>
            </a:r>
            <a:r>
              <a:rPr lang="de-AT" err="1"/>
              <a:t>combo</a:t>
            </a:r>
            <a:r>
              <a:rPr lang="de-AT"/>
              <a:t> w G12Di – </a:t>
            </a:r>
            <a:r>
              <a:rPr lang="de-AT" err="1"/>
              <a:t>assuming</a:t>
            </a:r>
            <a:r>
              <a:rPr lang="de-AT"/>
              <a:t> </a:t>
            </a:r>
            <a:r>
              <a:rPr lang="de-AT" err="1"/>
              <a:t>standard</a:t>
            </a:r>
            <a:r>
              <a:rPr lang="de-AT"/>
              <a:t> </a:t>
            </a:r>
            <a:r>
              <a:rPr lang="de-AT" err="1"/>
              <a:t>timelines</a:t>
            </a:r>
            <a:r>
              <a:rPr lang="de-AT"/>
              <a:t> </a:t>
            </a:r>
            <a:r>
              <a:rPr lang="de-AT" err="1"/>
              <a:t>with</a:t>
            </a:r>
            <a:r>
              <a:rPr lang="de-AT"/>
              <a:t> ph3 </a:t>
            </a:r>
            <a:r>
              <a:rPr lang="de-AT" err="1"/>
              <a:t>starting</a:t>
            </a:r>
            <a:r>
              <a:rPr lang="de-AT"/>
              <a:t> after PCD </a:t>
            </a:r>
            <a:r>
              <a:rPr lang="de-AT" err="1"/>
              <a:t>of</a:t>
            </a:r>
            <a:r>
              <a:rPr lang="de-AT"/>
              <a:t> </a:t>
            </a:r>
            <a:r>
              <a:rPr lang="de-AT" err="1"/>
              <a:t>prior</a:t>
            </a:r>
            <a:r>
              <a:rPr lang="de-AT"/>
              <a:t> trial</a:t>
            </a:r>
          </a:p>
          <a:p>
            <a:pPr marL="575539" lvl="8" indent="0">
              <a:buNone/>
            </a:pPr>
            <a:r>
              <a:rPr lang="de-AT"/>
              <a:t>	           1H2024 -&gt; FA 2032 =&gt; 8y </a:t>
            </a:r>
            <a:r>
              <a:rPr lang="de-AT" err="1"/>
              <a:t>later</a:t>
            </a:r>
            <a:endParaRPr lang="de-AT"/>
          </a:p>
          <a:p>
            <a:pPr marL="575539" lvl="8" indent="0">
              <a:buNone/>
            </a:pPr>
            <a:r>
              <a:rPr lang="de-AT" err="1"/>
              <a:t>if</a:t>
            </a:r>
            <a:r>
              <a:rPr lang="de-AT"/>
              <a:t> </a:t>
            </a:r>
            <a:r>
              <a:rPr lang="de-AT" err="1"/>
              <a:t>assumed</a:t>
            </a:r>
            <a:r>
              <a:rPr lang="de-AT"/>
              <a:t> ph3 </a:t>
            </a:r>
            <a:r>
              <a:rPr lang="de-AT" err="1"/>
              <a:t>starting</a:t>
            </a:r>
            <a:r>
              <a:rPr lang="de-AT"/>
              <a:t> 2,5y after ph1/2 </a:t>
            </a:r>
            <a:r>
              <a:rPr lang="de-AT" err="1"/>
              <a:t>start</a:t>
            </a:r>
            <a:r>
              <a:rPr lang="de-AT"/>
              <a:t> -&gt; ph3 </a:t>
            </a:r>
            <a:r>
              <a:rPr lang="de-AT" err="1"/>
              <a:t>start</a:t>
            </a:r>
            <a:r>
              <a:rPr lang="de-AT"/>
              <a:t> 2H26, 4,5y </a:t>
            </a:r>
            <a:r>
              <a:rPr lang="de-AT" err="1"/>
              <a:t>later</a:t>
            </a:r>
            <a:r>
              <a:rPr lang="de-AT"/>
              <a:t> FA =&gt; 1H2031</a:t>
            </a:r>
          </a:p>
          <a:p>
            <a:pPr marL="575539" lvl="8" indent="0">
              <a:buNone/>
            </a:pPr>
            <a:endParaRPr lang="de-AT"/>
          </a:p>
          <a:p>
            <a:pPr marL="575539" lvl="8" indent="0">
              <a:buNone/>
            </a:pPr>
            <a:r>
              <a:rPr lang="de-AT"/>
              <a:t>BI FIH 2027 =&gt; FA 1L 6y </a:t>
            </a:r>
            <a:r>
              <a:rPr lang="de-AT" err="1"/>
              <a:t>later</a:t>
            </a:r>
            <a:endParaRPr lang="en-US"/>
          </a:p>
        </p:txBody>
      </p:sp>
      <p:sp>
        <p:nvSpPr>
          <p:cNvPr id="4" name="Slide Number Placeholder 3">
            <a:extLst>
              <a:ext uri="{FF2B5EF4-FFF2-40B4-BE49-F238E27FC236}">
                <a16:creationId xmlns:a16="http://schemas.microsoft.com/office/drawing/2014/main" id="{9762CDC9-03FE-CA35-7A8E-D10EFB5AF034}"/>
              </a:ext>
            </a:extLst>
          </p:cNvPr>
          <p:cNvSpPr>
            <a:spLocks noGrp="1"/>
          </p:cNvSpPr>
          <p:nvPr>
            <p:ph type="sldNum" sz="quarter" idx="5"/>
          </p:nvPr>
        </p:nvSpPr>
        <p:spPr/>
        <p:txBody>
          <a:bodyPr/>
          <a:lstStyle/>
          <a:p>
            <a:pPr marL="0" marR="0" lvl="0" indent="0" algn="r" defTabSz="913668"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a:ln>
                  <a:noFill/>
                </a:ln>
                <a:solidFill>
                  <a:prstClr val="black"/>
                </a:solidFill>
                <a:effectLst/>
                <a:uLnTx/>
                <a:uFillTx/>
                <a:latin typeface="BISansOpti"/>
                <a:ea typeface="+mn-ea"/>
                <a:cs typeface="+mn-cs"/>
              </a:rPr>
              <a:pPr marL="0" marR="0" lvl="0" indent="0" algn="r" defTabSz="913668" rtl="0" eaLnBrk="1" fontAlgn="auto" latinLnBrk="0" hangingPunct="1">
                <a:lnSpc>
                  <a:spcPct val="100000"/>
                </a:lnSpc>
                <a:spcBef>
                  <a:spcPts val="0"/>
                </a:spcBef>
                <a:spcAft>
                  <a:spcPts val="0"/>
                </a:spcAft>
                <a:buClrTx/>
                <a:buSzTx/>
                <a:buFontTx/>
                <a:buNone/>
                <a:tabLst/>
                <a:defRPr/>
              </a:pPr>
              <a:t>41</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693447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7232-E8F5-47F5-93FB-A3523A08FE3D}" type="slidenum">
              <a:rPr lang="zh-CN" altLang="en-US" smtClean="0"/>
              <a:t>45</a:t>
            </a:fld>
            <a:endParaRPr lang="zh-CN" altLang="en-US"/>
          </a:p>
        </p:txBody>
      </p:sp>
    </p:spTree>
    <p:extLst>
      <p:ext uri="{BB962C8B-B14F-4D97-AF65-F5344CB8AC3E}">
        <p14:creationId xmlns:p14="http://schemas.microsoft.com/office/powerpoint/2010/main" val="40646673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20.svg"/><Relationship Id="rId4"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20.svg"/><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20.svg"/><Relationship Id="rId4" Type="http://schemas.openxmlformats.org/officeDocument/2006/relationships/image" Target="../media/image4.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20.svg"/><Relationship Id="rId4" Type="http://schemas.openxmlformats.org/officeDocument/2006/relationships/image" Target="../media/image4.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20.svg"/><Relationship Id="rId4" Type="http://schemas.openxmlformats.org/officeDocument/2006/relationships/image" Target="../media/image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4.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07/01/2026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2026/1/7</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8388884" cy="720000"/>
          </a:xfrm>
        </p:spPr>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Beamion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pic>
        <p:nvPicPr>
          <p:cNvPr id="2" name="Picture 6" descr="A blue square on a black background&#10;&#10;Description automatically generated">
            <a:extLst>
              <a:ext uri="{FF2B5EF4-FFF2-40B4-BE49-F238E27FC236}">
                <a16:creationId xmlns:a16="http://schemas.microsoft.com/office/drawing/2014/main" id="{41A95EB3-4C4F-3D0F-8128-3F025C2FA426}"/>
              </a:ext>
            </a:extLst>
          </p:cNvPr>
          <p:cNvPicPr>
            <a:picLocks noChangeAspect="1"/>
          </p:cNvPicPr>
          <p:nvPr userDrawn="1"/>
        </p:nvPicPr>
        <p:blipFill>
          <a:blip r:embed="rId2"/>
          <a:stretch>
            <a:fillRect/>
          </a:stretch>
        </p:blipFill>
        <p:spPr>
          <a:xfrm>
            <a:off x="8688288" y="260648"/>
            <a:ext cx="3395424" cy="836967"/>
          </a:xfrm>
          <a:prstGeom prst="rect">
            <a:avLst/>
          </a:prstGeom>
        </p:spPr>
      </p:pic>
    </p:spTree>
    <p:extLst>
      <p:ext uri="{BB962C8B-B14F-4D97-AF65-F5344CB8AC3E}">
        <p14:creationId xmlns:p14="http://schemas.microsoft.com/office/powerpoint/2010/main" val="31592092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2" name="Group 1">
            <a:extLst>
              <a:ext uri="{FF2B5EF4-FFF2-40B4-BE49-F238E27FC236}">
                <a16:creationId xmlns:a16="http://schemas.microsoft.com/office/drawing/2014/main" id="{74B84046-99A6-D78A-1847-74A75F6DF8A4}"/>
              </a:ext>
            </a:extLst>
          </p:cNvPr>
          <p:cNvGrpSpPr/>
          <p:nvPr userDrawn="1"/>
        </p:nvGrpSpPr>
        <p:grpSpPr>
          <a:xfrm>
            <a:off x="0" y="-1259"/>
            <a:ext cx="12194475" cy="286323"/>
            <a:chOff x="0" y="-734511"/>
            <a:chExt cx="12194475" cy="286323"/>
          </a:xfrm>
        </p:grpSpPr>
        <p:sp>
          <p:nvSpPr>
            <p:cNvPr id="6" name="Freeform: Shape 5">
              <a:extLst>
                <a:ext uri="{FF2B5EF4-FFF2-40B4-BE49-F238E27FC236}">
                  <a16:creationId xmlns:a16="http://schemas.microsoft.com/office/drawing/2014/main" id="{BE9116ED-E33F-87B9-E90B-C1F40CA854AB}"/>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7" name="Freeform: Shape 6">
              <a:extLst>
                <a:ext uri="{FF2B5EF4-FFF2-40B4-BE49-F238E27FC236}">
                  <a16:creationId xmlns:a16="http://schemas.microsoft.com/office/drawing/2014/main" id="{2F5C5872-EC2D-7EBA-A316-FB729D414CE2}"/>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8">
              <a:extLst>
                <a:ext uri="{FF2B5EF4-FFF2-40B4-BE49-F238E27FC236}">
                  <a16:creationId xmlns:a16="http://schemas.microsoft.com/office/drawing/2014/main" id="{B491C194-6B79-2C22-D8EC-2971242893E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0" name="Freeform: Shape 9">
              <a:extLst>
                <a:ext uri="{FF2B5EF4-FFF2-40B4-BE49-F238E27FC236}">
                  <a16:creationId xmlns:a16="http://schemas.microsoft.com/office/drawing/2014/main" id="{9838B120-46B8-500E-BDFB-713B6D377F69}"/>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10">
              <a:extLst>
                <a:ext uri="{FF2B5EF4-FFF2-40B4-BE49-F238E27FC236}">
                  <a16:creationId xmlns:a16="http://schemas.microsoft.com/office/drawing/2014/main" id="{BA8A080D-A9D5-8C60-C00A-2DA52706648F}"/>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12">
              <a:extLst>
                <a:ext uri="{FF2B5EF4-FFF2-40B4-BE49-F238E27FC236}">
                  <a16:creationId xmlns:a16="http://schemas.microsoft.com/office/drawing/2014/main" id="{7A0B497E-5744-E790-467F-690B30999B0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4" name="Freeform: Shape 13">
              <a:extLst>
                <a:ext uri="{FF2B5EF4-FFF2-40B4-BE49-F238E27FC236}">
                  <a16:creationId xmlns:a16="http://schemas.microsoft.com/office/drawing/2014/main" id="{C940A4C7-6A38-BA04-360B-6588FCD08DB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5" name="Fußzeilenplatzhalter 4">
            <a:extLst>
              <a:ext uri="{FF2B5EF4-FFF2-40B4-BE49-F238E27FC236}">
                <a16:creationId xmlns:a16="http://schemas.microsoft.com/office/drawing/2014/main" id="{2A400CA0-E31C-E508-2FAC-75E3ECB3D8F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HERNEXEOS    |    pre-read, Sep 2025 TA PC     |    ONLY FOR INTERNAL USE</a:t>
            </a:r>
          </a:p>
        </p:txBody>
      </p:sp>
      <p:sp>
        <p:nvSpPr>
          <p:cNvPr id="16" name="Foliennummernplatzhalter 5">
            <a:extLst>
              <a:ext uri="{FF2B5EF4-FFF2-40B4-BE49-F238E27FC236}">
                <a16:creationId xmlns:a16="http://schemas.microsoft.com/office/drawing/2014/main" id="{0136CA4E-22B5-BD63-CD1B-E9C164F26B4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17" name="Titelplatzhalter 1">
            <a:extLst>
              <a:ext uri="{FF2B5EF4-FFF2-40B4-BE49-F238E27FC236}">
                <a16:creationId xmlns:a16="http://schemas.microsoft.com/office/drawing/2014/main" id="{F114D3E4-39BA-97CC-B276-19F167F46634}"/>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
        <p:nvSpPr>
          <p:cNvPr id="19" name="Inhaltsplatzhalter 2">
            <a:extLst>
              <a:ext uri="{FF2B5EF4-FFF2-40B4-BE49-F238E27FC236}">
                <a16:creationId xmlns:a16="http://schemas.microsoft.com/office/drawing/2014/main" id="{E7899919-72C8-9D81-F7BD-8AD34FB8DCC3}"/>
              </a:ext>
            </a:extLst>
          </p:cNvPr>
          <p:cNvSpPr>
            <a:spLocks noGrp="1"/>
          </p:cNvSpPr>
          <p:nvPr>
            <p:ph idx="1" hasCustomPrompt="1"/>
          </p:nvPr>
        </p:nvSpPr>
        <p:spPr bwMode="gray">
          <a:xfrm>
            <a:off x="482599" y="1416052"/>
            <a:ext cx="11226755"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8886342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8492027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2543506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888327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807295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779702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631939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88661948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79052800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5245904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5449675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724379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2452468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6482579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39695682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6150495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85484782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9625996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920440803"/>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0481677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7085912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829083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320139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25230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634445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3488712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48131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1977327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5840957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8285408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973323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6730447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719239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7881348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2" name="Group 1">
            <a:extLst>
              <a:ext uri="{FF2B5EF4-FFF2-40B4-BE49-F238E27FC236}">
                <a16:creationId xmlns:a16="http://schemas.microsoft.com/office/drawing/2014/main" id="{74B84046-99A6-D78A-1847-74A75F6DF8A4}"/>
              </a:ext>
            </a:extLst>
          </p:cNvPr>
          <p:cNvGrpSpPr/>
          <p:nvPr userDrawn="1"/>
        </p:nvGrpSpPr>
        <p:grpSpPr>
          <a:xfrm>
            <a:off x="0" y="-1259"/>
            <a:ext cx="12194475" cy="286323"/>
            <a:chOff x="0" y="-734511"/>
            <a:chExt cx="12194475" cy="286323"/>
          </a:xfrm>
        </p:grpSpPr>
        <p:sp>
          <p:nvSpPr>
            <p:cNvPr id="6" name="Freeform: Shape 5">
              <a:extLst>
                <a:ext uri="{FF2B5EF4-FFF2-40B4-BE49-F238E27FC236}">
                  <a16:creationId xmlns:a16="http://schemas.microsoft.com/office/drawing/2014/main" id="{BE9116ED-E33F-87B9-E90B-C1F40CA854AB}"/>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7" name="Freeform: Shape 6">
              <a:extLst>
                <a:ext uri="{FF2B5EF4-FFF2-40B4-BE49-F238E27FC236}">
                  <a16:creationId xmlns:a16="http://schemas.microsoft.com/office/drawing/2014/main" id="{2F5C5872-EC2D-7EBA-A316-FB729D414CE2}"/>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8">
              <a:extLst>
                <a:ext uri="{FF2B5EF4-FFF2-40B4-BE49-F238E27FC236}">
                  <a16:creationId xmlns:a16="http://schemas.microsoft.com/office/drawing/2014/main" id="{B491C194-6B79-2C22-D8EC-2971242893E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0" name="Freeform: Shape 9">
              <a:extLst>
                <a:ext uri="{FF2B5EF4-FFF2-40B4-BE49-F238E27FC236}">
                  <a16:creationId xmlns:a16="http://schemas.microsoft.com/office/drawing/2014/main" id="{9838B120-46B8-500E-BDFB-713B6D377F69}"/>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10">
              <a:extLst>
                <a:ext uri="{FF2B5EF4-FFF2-40B4-BE49-F238E27FC236}">
                  <a16:creationId xmlns:a16="http://schemas.microsoft.com/office/drawing/2014/main" id="{BA8A080D-A9D5-8C60-C00A-2DA52706648F}"/>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12">
              <a:extLst>
                <a:ext uri="{FF2B5EF4-FFF2-40B4-BE49-F238E27FC236}">
                  <a16:creationId xmlns:a16="http://schemas.microsoft.com/office/drawing/2014/main" id="{7A0B497E-5744-E790-467F-690B30999B0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4" name="Freeform: Shape 13">
              <a:extLst>
                <a:ext uri="{FF2B5EF4-FFF2-40B4-BE49-F238E27FC236}">
                  <a16:creationId xmlns:a16="http://schemas.microsoft.com/office/drawing/2014/main" id="{C940A4C7-6A38-BA04-360B-6588FCD08DB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5" name="Fußzeilenplatzhalter 4">
            <a:extLst>
              <a:ext uri="{FF2B5EF4-FFF2-40B4-BE49-F238E27FC236}">
                <a16:creationId xmlns:a16="http://schemas.microsoft.com/office/drawing/2014/main" id="{2A400CA0-E31C-E508-2FAC-75E3ECB3D8F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HERNEXEOS    |    pre-read, Sep 2025 TA PC     |    ONLY FOR INTERNAL USE</a:t>
            </a:r>
          </a:p>
        </p:txBody>
      </p:sp>
      <p:sp>
        <p:nvSpPr>
          <p:cNvPr id="16" name="Foliennummernplatzhalter 5">
            <a:extLst>
              <a:ext uri="{FF2B5EF4-FFF2-40B4-BE49-F238E27FC236}">
                <a16:creationId xmlns:a16="http://schemas.microsoft.com/office/drawing/2014/main" id="{0136CA4E-22B5-BD63-CD1B-E9C164F26B4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17" name="Titelplatzhalter 1">
            <a:extLst>
              <a:ext uri="{FF2B5EF4-FFF2-40B4-BE49-F238E27FC236}">
                <a16:creationId xmlns:a16="http://schemas.microsoft.com/office/drawing/2014/main" id="{F114D3E4-39BA-97CC-B276-19F167F46634}"/>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
        <p:nvSpPr>
          <p:cNvPr id="19" name="Inhaltsplatzhalter 2">
            <a:extLst>
              <a:ext uri="{FF2B5EF4-FFF2-40B4-BE49-F238E27FC236}">
                <a16:creationId xmlns:a16="http://schemas.microsoft.com/office/drawing/2014/main" id="{E7899919-72C8-9D81-F7BD-8AD34FB8DCC3}"/>
              </a:ext>
            </a:extLst>
          </p:cNvPr>
          <p:cNvSpPr>
            <a:spLocks noGrp="1"/>
          </p:cNvSpPr>
          <p:nvPr>
            <p:ph idx="1" hasCustomPrompt="1"/>
          </p:nvPr>
        </p:nvSpPr>
        <p:spPr bwMode="gray">
          <a:xfrm>
            <a:off x="482599" y="1416052"/>
            <a:ext cx="11226755"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86504284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8388884" cy="720000"/>
          </a:xfrm>
        </p:spPr>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Beamion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pic>
        <p:nvPicPr>
          <p:cNvPr id="2" name="Picture 6" descr="A blue square on a black background&#10;&#10;Description automatically generated">
            <a:extLst>
              <a:ext uri="{FF2B5EF4-FFF2-40B4-BE49-F238E27FC236}">
                <a16:creationId xmlns:a16="http://schemas.microsoft.com/office/drawing/2014/main" id="{41A95EB3-4C4F-3D0F-8128-3F025C2FA426}"/>
              </a:ext>
            </a:extLst>
          </p:cNvPr>
          <p:cNvPicPr>
            <a:picLocks noChangeAspect="1"/>
          </p:cNvPicPr>
          <p:nvPr userDrawn="1"/>
        </p:nvPicPr>
        <p:blipFill>
          <a:blip r:embed="rId2"/>
          <a:stretch>
            <a:fillRect/>
          </a:stretch>
        </p:blipFill>
        <p:spPr>
          <a:xfrm>
            <a:off x="8688288" y="260648"/>
            <a:ext cx="3395424" cy="836967"/>
          </a:xfrm>
          <a:prstGeom prst="rect">
            <a:avLst/>
          </a:prstGeom>
        </p:spPr>
      </p:pic>
    </p:spTree>
    <p:extLst>
      <p:ext uri="{BB962C8B-B14F-4D97-AF65-F5344CB8AC3E}">
        <p14:creationId xmlns:p14="http://schemas.microsoft.com/office/powerpoint/2010/main" val="16485536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B99DC0-0F08-A324-F457-68C45F910563}"/>
              </a:ext>
            </a:extLst>
          </p:cNvPr>
          <p:cNvSpPr>
            <a:spLocks noGrp="1"/>
          </p:cNvSpPr>
          <p:nvPr>
            <p:ph type="title"/>
          </p:nvPr>
        </p:nvSpPr>
        <p:spPr/>
        <p:txBody>
          <a:bodyPr/>
          <a:lstStyle/>
          <a:p>
            <a:r>
              <a:rPr lang="de-DE"/>
              <a:t>Mastertitelformat bearbeiten</a:t>
            </a:r>
            <a:endParaRPr lang="de-AT"/>
          </a:p>
        </p:txBody>
      </p:sp>
      <p:sp>
        <p:nvSpPr>
          <p:cNvPr id="3" name="Fußzeilenplatzhalter 2">
            <a:extLst>
              <a:ext uri="{FF2B5EF4-FFF2-40B4-BE49-F238E27FC236}">
                <a16:creationId xmlns:a16="http://schemas.microsoft.com/office/drawing/2014/main" id="{15F3730A-C2FA-E9BB-61BC-B65AF4CF3BFD}"/>
              </a:ext>
            </a:extLst>
          </p:cNvPr>
          <p:cNvSpPr>
            <a:spLocks noGrp="1"/>
          </p:cNvSpPr>
          <p:nvPr>
            <p:ph type="ftr" sz="quarter" idx="10"/>
          </p:nvPr>
        </p:nvSpPr>
        <p:spPr/>
        <p:txBody>
          <a:bodyPr/>
          <a:lstStyle/>
          <a:p>
            <a:pPr defTabSz="914377">
              <a:defRPr/>
            </a:pPr>
            <a:r>
              <a:rPr lang="en-US">
                <a:solidFill>
                  <a:srgbClr val="08312A"/>
                </a:solidFill>
              </a:rPr>
              <a:t>KRAS G12D (BI 4015092) | IUEC October 2nd, 2025 | CONFIDENTIAL</a:t>
            </a:r>
          </a:p>
        </p:txBody>
      </p:sp>
    </p:spTree>
    <p:extLst>
      <p:ext uri="{BB962C8B-B14F-4D97-AF65-F5344CB8AC3E}">
        <p14:creationId xmlns:p14="http://schemas.microsoft.com/office/powerpoint/2010/main" val="288058030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3657908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390619238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74562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2540769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404983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753519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9483926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389195839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21767795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381049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vl6pPr>
              <a:lnSpc>
                <a:spcPct val="100000"/>
              </a:lnSpc>
              <a:defRPr/>
            </a:lvl6pPr>
            <a:lvl7pPr>
              <a:lnSpc>
                <a:spcPct val="100000"/>
              </a:lnSpc>
              <a:defRPr/>
            </a:lvl7pPr>
            <a:lvl8pPr>
              <a:lnSpc>
                <a:spcPct val="100000"/>
              </a:lnSpc>
              <a:defRPr/>
            </a:lvl8pPr>
            <a:lvl9pPr>
              <a:lnSpc>
                <a:spcPct val="100000"/>
              </a:lnSpc>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BI 3907074/BI 3907075/BI 3720590 September 2025 IUPC  |  CONFIDENTIAL – External Innovation</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6873001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3101890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396188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BI 3907074/BI 3907075/BI 3720590 September 2025 IUPC  |  CONFIDENTIAL – External Innovation</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2204102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6371775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8620521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376047457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294033957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84054281"/>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5030249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68965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3907074/BI 3907075/BI 3720590 September 2025 IUPC  |  CONFIDENTIAL – External Innovation</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2693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978383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9500680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6191037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5036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a:t>
            </a:r>
            <a:r>
              <a:rPr lang="en-US" err="1"/>
              <a:t>hinzufügen</a:t>
            </a:r>
            <a:r>
              <a:rPr lang="en-US"/>
              <a:t>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755700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722112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2616011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a:xfrm>
            <a:off x="6165176" y="6246836"/>
            <a:ext cx="5187409" cy="288000"/>
          </a:xfrm>
        </p:spPr>
        <p:txBody>
          <a:body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4144376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173821" y="6246836"/>
            <a:ext cx="5178763" cy="288000"/>
          </a:xfrm>
        </p:spPr>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7275535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a:xfrm>
            <a:off x="6096000" y="6246836"/>
            <a:ext cx="5256584"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2353674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096000" y="6246836"/>
            <a:ext cx="5256584" cy="288000"/>
          </a:xfrm>
        </p:spPr>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9310684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6A2F28-0815-0B36-C3B7-EAEBD47384AD}"/>
              </a:ext>
            </a:extLst>
          </p:cNvPr>
          <p:cNvSpPr>
            <a:spLocks noGrp="1"/>
          </p:cNvSpPr>
          <p:nvPr>
            <p:ph type="ftr" sz="quarter" idx="10"/>
          </p:nvPr>
        </p:nvSpPr>
        <p:spPr/>
        <p:txBody>
          <a:bodyPr/>
          <a:lstStyle/>
          <a:p>
            <a:r>
              <a:rPr lang="en-US"/>
              <a:t>BI 3907074/BI 3907075/BI 3720590 September 2025 IUPC  |  CONFIDENTIAL – External Innovation</a:t>
            </a:r>
          </a:p>
        </p:txBody>
      </p:sp>
      <p:sp>
        <p:nvSpPr>
          <p:cNvPr id="3" name="Slide Number Placeholder 2">
            <a:extLst>
              <a:ext uri="{FF2B5EF4-FFF2-40B4-BE49-F238E27FC236}">
                <a16:creationId xmlns:a16="http://schemas.microsoft.com/office/drawing/2014/main" id="{D1EB5F4C-326A-1753-69E3-70DA453474F7}"/>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0739352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616064" cy="216000"/>
          </a:xfrm>
        </p:spPr>
        <p:txBody>
          <a:bodyPr/>
          <a:lstStyle>
            <a:lvl1pPr algn="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7178260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5" y="6165328"/>
            <a:ext cx="5339367"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645093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313425"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272087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391756"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068042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5949715" y="6246836"/>
            <a:ext cx="5402869"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80391680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BI 3907074/BI 3907075/BI 3720590 September 2025 IUPC  |  CONFIDENTIAL – External Innovation</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47490375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3907074/BI 3907075/BI 3720590 September 2025 IUPC  |  CONFIDENTIAL – External Innovation</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7704325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5628251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5957651" y="6246836"/>
            <a:ext cx="5394933" cy="288000"/>
          </a:xfrm>
        </p:spPr>
        <p:txBody>
          <a:body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3264678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8202344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67772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942463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254277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4981331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487926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744180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004852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75982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12449574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205108255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92699822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7262860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904504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4690126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531590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23201084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15667806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421891981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5796616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4209603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409340272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8899894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86458896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401689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0307305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822028629"/>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00343334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2221420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3368271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84532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3732931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84038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770664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12398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51596224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139552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6750377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2359336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87144895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9257742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79946895"/>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3062939431"/>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8942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image" Target="../media/image2.svg"/><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image" Target="../media/image1.png"/><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theme" Target="../theme/theme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9" Type="http://schemas.openxmlformats.org/officeDocument/2006/relationships/slideLayout" Target="../slideLayouts/slideLayout116.xml"/><Relationship Id="rId21" Type="http://schemas.openxmlformats.org/officeDocument/2006/relationships/slideLayout" Target="../slideLayouts/slideLayout98.xml"/><Relationship Id="rId34" Type="http://schemas.openxmlformats.org/officeDocument/2006/relationships/slideLayout" Target="../slideLayouts/slideLayout111.xml"/><Relationship Id="rId42" Type="http://schemas.openxmlformats.org/officeDocument/2006/relationships/slideLayout" Target="../slideLayouts/slideLayout119.xml"/><Relationship Id="rId47" Type="http://schemas.openxmlformats.org/officeDocument/2006/relationships/slideLayout" Target="../slideLayouts/slideLayout124.xml"/><Relationship Id="rId50" Type="http://schemas.openxmlformats.org/officeDocument/2006/relationships/slideLayout" Target="../slideLayouts/slideLayout127.xml"/><Relationship Id="rId55" Type="http://schemas.openxmlformats.org/officeDocument/2006/relationships/image" Target="../media/image1.png"/><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slideLayout" Target="../slideLayouts/slideLayout115.xml"/><Relationship Id="rId46" Type="http://schemas.openxmlformats.org/officeDocument/2006/relationships/slideLayout" Target="../slideLayouts/slideLayout123.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29" Type="http://schemas.openxmlformats.org/officeDocument/2006/relationships/slideLayout" Target="../slideLayouts/slideLayout106.xml"/><Relationship Id="rId41" Type="http://schemas.openxmlformats.org/officeDocument/2006/relationships/slideLayout" Target="../slideLayouts/slideLayout118.xml"/><Relationship Id="rId54" Type="http://schemas.openxmlformats.org/officeDocument/2006/relationships/theme" Target="../theme/theme3.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slideLayout" Target="../slideLayouts/slideLayout114.xml"/><Relationship Id="rId40" Type="http://schemas.openxmlformats.org/officeDocument/2006/relationships/slideLayout" Target="../slideLayouts/slideLayout117.xml"/><Relationship Id="rId45" Type="http://schemas.openxmlformats.org/officeDocument/2006/relationships/slideLayout" Target="../slideLayouts/slideLayout122.xml"/><Relationship Id="rId53" Type="http://schemas.openxmlformats.org/officeDocument/2006/relationships/slideLayout" Target="../slideLayouts/slideLayout130.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slideLayout" Target="../slideLayouts/slideLayout113.xml"/><Relationship Id="rId49" Type="http://schemas.openxmlformats.org/officeDocument/2006/relationships/slideLayout" Target="../slideLayouts/slideLayout126.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31" Type="http://schemas.openxmlformats.org/officeDocument/2006/relationships/slideLayout" Target="../slideLayouts/slideLayout108.xml"/><Relationship Id="rId44" Type="http://schemas.openxmlformats.org/officeDocument/2006/relationships/slideLayout" Target="../slideLayouts/slideLayout121.xml"/><Relationship Id="rId52" Type="http://schemas.openxmlformats.org/officeDocument/2006/relationships/slideLayout" Target="../slideLayouts/slideLayout129.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43" Type="http://schemas.openxmlformats.org/officeDocument/2006/relationships/slideLayout" Target="../slideLayouts/slideLayout120.xml"/><Relationship Id="rId48" Type="http://schemas.openxmlformats.org/officeDocument/2006/relationships/slideLayout" Target="../slideLayouts/slideLayout125.xml"/><Relationship Id="rId56" Type="http://schemas.openxmlformats.org/officeDocument/2006/relationships/image" Target="../media/image2.svg"/><Relationship Id="rId8" Type="http://schemas.openxmlformats.org/officeDocument/2006/relationships/slideLayout" Target="../slideLayouts/slideLayout85.xml"/><Relationship Id="rId51" Type="http://schemas.openxmlformats.org/officeDocument/2006/relationships/slideLayout" Target="../slideLayouts/slideLayout128.xml"/><Relationship Id="rId3"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8.xml"/><Relationship Id="rId13" Type="http://schemas.openxmlformats.org/officeDocument/2006/relationships/slideLayout" Target="../slideLayouts/slideLayout143.xml"/><Relationship Id="rId18" Type="http://schemas.openxmlformats.org/officeDocument/2006/relationships/slideLayout" Target="../slideLayouts/slideLayout148.xml"/><Relationship Id="rId26" Type="http://schemas.openxmlformats.org/officeDocument/2006/relationships/slideLayout" Target="../slideLayouts/slideLayout156.xml"/><Relationship Id="rId3" Type="http://schemas.openxmlformats.org/officeDocument/2006/relationships/slideLayout" Target="../slideLayouts/slideLayout133.xml"/><Relationship Id="rId21" Type="http://schemas.openxmlformats.org/officeDocument/2006/relationships/slideLayout" Target="../slideLayouts/slideLayout151.xml"/><Relationship Id="rId34" Type="http://schemas.openxmlformats.org/officeDocument/2006/relationships/slideLayout" Target="../slideLayouts/slideLayout164.xml"/><Relationship Id="rId7" Type="http://schemas.openxmlformats.org/officeDocument/2006/relationships/slideLayout" Target="../slideLayouts/slideLayout137.xml"/><Relationship Id="rId12" Type="http://schemas.openxmlformats.org/officeDocument/2006/relationships/slideLayout" Target="../slideLayouts/slideLayout142.xml"/><Relationship Id="rId17" Type="http://schemas.openxmlformats.org/officeDocument/2006/relationships/slideLayout" Target="../slideLayouts/slideLayout147.xml"/><Relationship Id="rId25" Type="http://schemas.openxmlformats.org/officeDocument/2006/relationships/slideLayout" Target="../slideLayouts/slideLayout155.xml"/><Relationship Id="rId33" Type="http://schemas.openxmlformats.org/officeDocument/2006/relationships/slideLayout" Target="../slideLayouts/slideLayout163.xml"/><Relationship Id="rId2" Type="http://schemas.openxmlformats.org/officeDocument/2006/relationships/slideLayout" Target="../slideLayouts/slideLayout132.xml"/><Relationship Id="rId16" Type="http://schemas.openxmlformats.org/officeDocument/2006/relationships/slideLayout" Target="../slideLayouts/slideLayout146.xml"/><Relationship Id="rId20" Type="http://schemas.openxmlformats.org/officeDocument/2006/relationships/slideLayout" Target="../slideLayouts/slideLayout150.xml"/><Relationship Id="rId29" Type="http://schemas.openxmlformats.org/officeDocument/2006/relationships/slideLayout" Target="../slideLayouts/slideLayout159.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slideLayout" Target="../slideLayouts/slideLayout141.xml"/><Relationship Id="rId24" Type="http://schemas.openxmlformats.org/officeDocument/2006/relationships/slideLayout" Target="../slideLayouts/slideLayout154.xml"/><Relationship Id="rId32" Type="http://schemas.openxmlformats.org/officeDocument/2006/relationships/slideLayout" Target="../slideLayouts/slideLayout162.xml"/><Relationship Id="rId37" Type="http://schemas.openxmlformats.org/officeDocument/2006/relationships/image" Target="../media/image2.svg"/><Relationship Id="rId5" Type="http://schemas.openxmlformats.org/officeDocument/2006/relationships/slideLayout" Target="../slideLayouts/slideLayout135.xml"/><Relationship Id="rId15" Type="http://schemas.openxmlformats.org/officeDocument/2006/relationships/slideLayout" Target="../slideLayouts/slideLayout145.xml"/><Relationship Id="rId23" Type="http://schemas.openxmlformats.org/officeDocument/2006/relationships/slideLayout" Target="../slideLayouts/slideLayout153.xml"/><Relationship Id="rId28" Type="http://schemas.openxmlformats.org/officeDocument/2006/relationships/slideLayout" Target="../slideLayouts/slideLayout158.xml"/><Relationship Id="rId36" Type="http://schemas.openxmlformats.org/officeDocument/2006/relationships/image" Target="../media/image1.png"/><Relationship Id="rId10" Type="http://schemas.openxmlformats.org/officeDocument/2006/relationships/slideLayout" Target="../slideLayouts/slideLayout140.xml"/><Relationship Id="rId19" Type="http://schemas.openxmlformats.org/officeDocument/2006/relationships/slideLayout" Target="../slideLayouts/slideLayout149.xml"/><Relationship Id="rId31" Type="http://schemas.openxmlformats.org/officeDocument/2006/relationships/slideLayout" Target="../slideLayouts/slideLayout161.xml"/><Relationship Id="rId4" Type="http://schemas.openxmlformats.org/officeDocument/2006/relationships/slideLayout" Target="../slideLayouts/slideLayout134.xml"/><Relationship Id="rId9" Type="http://schemas.openxmlformats.org/officeDocument/2006/relationships/slideLayout" Target="../slideLayouts/slideLayout139.xml"/><Relationship Id="rId14" Type="http://schemas.openxmlformats.org/officeDocument/2006/relationships/slideLayout" Target="../slideLayouts/slideLayout144.xml"/><Relationship Id="rId22" Type="http://schemas.openxmlformats.org/officeDocument/2006/relationships/slideLayout" Target="../slideLayouts/slideLayout152.xml"/><Relationship Id="rId27" Type="http://schemas.openxmlformats.org/officeDocument/2006/relationships/slideLayout" Target="../slideLayouts/slideLayout157.xml"/><Relationship Id="rId30" Type="http://schemas.openxmlformats.org/officeDocument/2006/relationships/slideLayout" Target="../slideLayouts/slideLayout160.xml"/><Relationship Id="rId3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991" r:id="rId37"/>
    <p:sldLayoutId id="2147483773" r:id="rId38"/>
    <p:sldLayoutId id="2147483774" r:id="rId39"/>
    <p:sldLayoutId id="2147484037" r:id="rId40"/>
    <p:sldLayoutId id="2147484038" r:id="rId41"/>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112941606"/>
      </p:ext>
    </p:extLst>
  </p:cSld>
  <p:clrMap bg1="lt1" tx1="dk1" bg2="lt2" tx2="dk2" accent1="accent1" accent2="accent2" accent3="accent3" accent4="accent4" accent5="accent5" accent6="accent6" hlink="hlink" folHlink="folHlink"/>
  <p:sldLayoutIdLst>
    <p:sldLayoutId id="2147483992" r:id="rId1"/>
    <p:sldLayoutId id="2147483813" r:id="rId2"/>
    <p:sldLayoutId id="2147483814" r:id="rId3"/>
    <p:sldLayoutId id="2147483815" r:id="rId4"/>
    <p:sldLayoutId id="2147483816" r:id="rId5"/>
    <p:sldLayoutId id="2147484004" r:id="rId6"/>
    <p:sldLayoutId id="2147483990"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 id="2147483833" r:id="rId22"/>
    <p:sldLayoutId id="2147483834" r:id="rId23"/>
    <p:sldLayoutId id="2147483835" r:id="rId24"/>
    <p:sldLayoutId id="2147483836" r:id="rId25"/>
    <p:sldLayoutId id="2147483837" r:id="rId26"/>
    <p:sldLayoutId id="2147483838" r:id="rId27"/>
    <p:sldLayoutId id="2147483839" r:id="rId28"/>
    <p:sldLayoutId id="2147483840" r:id="rId29"/>
    <p:sldLayoutId id="2147483841" r:id="rId30"/>
    <p:sldLayoutId id="2147483842" r:id="rId31"/>
    <p:sldLayoutId id="2147483843" r:id="rId32"/>
    <p:sldLayoutId id="2147483844" r:id="rId33"/>
    <p:sldLayoutId id="2147483845" r:id="rId34"/>
    <p:sldLayoutId id="2147483846" r:id="rId35"/>
    <p:sldLayoutId id="2147484074" r:id="rId36"/>
  </p:sldLayoutIdLst>
  <p:hf hdr="0" ft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BI 3907074/BI 3907075/BI 3720590 September 2025 IUPC  |  CONFIDENTIAL – External Innovation</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41359043"/>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5" r:id="rId14"/>
    <p:sldLayoutId id="2147483896" r:id="rId15"/>
    <p:sldLayoutId id="2147483897" r:id="rId16"/>
    <p:sldLayoutId id="2147483898" r:id="rId17"/>
    <p:sldLayoutId id="2147483899" r:id="rId18"/>
    <p:sldLayoutId id="2147483900" r:id="rId19"/>
    <p:sldLayoutId id="2147483901" r:id="rId20"/>
    <p:sldLayoutId id="2147483902" r:id="rId21"/>
    <p:sldLayoutId id="2147483903" r:id="rId22"/>
    <p:sldLayoutId id="2147483904" r:id="rId23"/>
    <p:sldLayoutId id="2147483905" r:id="rId24"/>
    <p:sldLayoutId id="2147483906" r:id="rId25"/>
    <p:sldLayoutId id="2147483907" r:id="rId26"/>
    <p:sldLayoutId id="2147483908" r:id="rId27"/>
    <p:sldLayoutId id="2147483909" r:id="rId28"/>
    <p:sldLayoutId id="2147483910" r:id="rId29"/>
    <p:sldLayoutId id="2147483911" r:id="rId30"/>
    <p:sldLayoutId id="2147483912" r:id="rId31"/>
    <p:sldLayoutId id="2147483913" r:id="rId32"/>
    <p:sldLayoutId id="2147483914" r:id="rId33"/>
    <p:sldLayoutId id="2147483915" r:id="rId34"/>
    <p:sldLayoutId id="2147483916" r:id="rId35"/>
    <p:sldLayoutId id="2147483917" r:id="rId36"/>
    <p:sldLayoutId id="2147483918" r:id="rId37"/>
    <p:sldLayoutId id="2147483919" r:id="rId38"/>
    <p:sldLayoutId id="2147483920" r:id="rId39"/>
    <p:sldLayoutId id="2147483921" r:id="rId40"/>
    <p:sldLayoutId id="2147483922" r:id="rId41"/>
    <p:sldLayoutId id="2147483923" r:id="rId42"/>
    <p:sldLayoutId id="2147483924" r:id="rId43"/>
    <p:sldLayoutId id="2147483925" r:id="rId44"/>
    <p:sldLayoutId id="2147483933" r:id="rId45"/>
    <p:sldLayoutId id="2147483934" r:id="rId46"/>
    <p:sldLayoutId id="2147483935" r:id="rId47"/>
    <p:sldLayoutId id="2147483936" r:id="rId48"/>
    <p:sldLayoutId id="2147483937" r:id="rId49"/>
    <p:sldLayoutId id="2147483938" r:id="rId50"/>
    <p:sldLayoutId id="2147483939" r:id="rId51"/>
    <p:sldLayoutId id="2147483940" r:id="rId52"/>
    <p:sldLayoutId id="2147483941" r:id="rId53"/>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8270865"/>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 id="2147484052" r:id="rId13"/>
    <p:sldLayoutId id="2147484053" r:id="rId14"/>
    <p:sldLayoutId id="2147484054" r:id="rId15"/>
    <p:sldLayoutId id="2147484055" r:id="rId16"/>
    <p:sldLayoutId id="2147484056" r:id="rId17"/>
    <p:sldLayoutId id="2147484057" r:id="rId18"/>
    <p:sldLayoutId id="2147484058" r:id="rId19"/>
    <p:sldLayoutId id="2147484059" r:id="rId20"/>
    <p:sldLayoutId id="2147484060" r:id="rId21"/>
    <p:sldLayoutId id="2147484061" r:id="rId22"/>
    <p:sldLayoutId id="2147484062" r:id="rId23"/>
    <p:sldLayoutId id="2147484063" r:id="rId24"/>
    <p:sldLayoutId id="2147484064" r:id="rId25"/>
    <p:sldLayoutId id="2147484065" r:id="rId26"/>
    <p:sldLayoutId id="2147484066" r:id="rId27"/>
    <p:sldLayoutId id="2147484067" r:id="rId28"/>
    <p:sldLayoutId id="2147484068" r:id="rId29"/>
    <p:sldLayoutId id="2147484069" r:id="rId30"/>
    <p:sldLayoutId id="2147484070" r:id="rId31"/>
    <p:sldLayoutId id="2147484071" r:id="rId32"/>
    <p:sldLayoutId id="2147484072" r:id="rId33"/>
    <p:sldLayoutId id="2147484073" r:id="rId34"/>
  </p:sldLayoutIdLst>
  <p:hf hdr="0" ft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openxmlformats.org/officeDocument/2006/relationships/notesSlide" Target="../notesSlides/notesSlide2.xml"/><Relationship Id="rId7" Type="http://schemas.openxmlformats.org/officeDocument/2006/relationships/image" Target="../media/image26.svg"/><Relationship Id="rId12" Type="http://schemas.openxmlformats.org/officeDocument/2006/relationships/image" Target="../media/image31.png"/><Relationship Id="rId17" Type="http://schemas.openxmlformats.org/officeDocument/2006/relationships/image" Target="../media/image36.svg"/><Relationship Id="rId2" Type="http://schemas.openxmlformats.org/officeDocument/2006/relationships/slideLayout" Target="../slideLayouts/slideLayout141.xml"/><Relationship Id="rId16" Type="http://schemas.openxmlformats.org/officeDocument/2006/relationships/image" Target="../media/image35.png"/><Relationship Id="rId1" Type="http://schemas.openxmlformats.org/officeDocument/2006/relationships/tags" Target="../tags/tag1.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0.xml"/><Relationship Id="rId5" Type="http://schemas.openxmlformats.org/officeDocument/2006/relationships/image" Target="../media/image38.svg"/><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41.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image" Target="../media/image40.png"/><Relationship Id="rId2" Type="http://schemas.openxmlformats.org/officeDocument/2006/relationships/tags" Target="../tags/tag3.xml"/><Relationship Id="rId16" Type="http://schemas.openxmlformats.org/officeDocument/2006/relationships/image" Target="../media/image39.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notesSlide" Target="../notesSlides/notesSlide4.xml"/><Relationship Id="rId10" Type="http://schemas.openxmlformats.org/officeDocument/2006/relationships/tags" Target="../tags/tag11.xml"/><Relationship Id="rId19" Type="http://schemas.openxmlformats.org/officeDocument/2006/relationships/image" Target="../media/image42.sv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39.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slideLayout" Target="../slideLayouts/slideLayout11.xml"/><Relationship Id="rId2" Type="http://schemas.openxmlformats.org/officeDocument/2006/relationships/tags" Target="../tags/tag16.xml"/><Relationship Id="rId16" Type="http://schemas.openxmlformats.org/officeDocument/2006/relationships/image" Target="../media/image42.sv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5" Type="http://schemas.openxmlformats.org/officeDocument/2006/relationships/image" Target="../media/image41.png"/><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image" Target="../media/image40.pn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image" Target="../media/image39.png"/><Relationship Id="rId2" Type="http://schemas.openxmlformats.org/officeDocument/2006/relationships/tags" Target="../tags/tag27.xml"/><Relationship Id="rId16" Type="http://schemas.openxmlformats.org/officeDocument/2006/relationships/slideLayout" Target="../slideLayouts/slideLayout11.xml"/><Relationship Id="rId20" Type="http://schemas.openxmlformats.org/officeDocument/2006/relationships/image" Target="../media/image42.sv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image" Target="../media/image41.png"/><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11.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image" Target="../media/image40.png"/><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image" Target="../media/image39.png"/><Relationship Id="rId2" Type="http://schemas.openxmlformats.org/officeDocument/2006/relationships/tags" Target="../tags/tag42.xml"/><Relationship Id="rId16" Type="http://schemas.openxmlformats.org/officeDocument/2006/relationships/slideLayout" Target="../slideLayouts/slideLayout11.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slideLayout" Target="../slideLayouts/slideLayout11.xml"/><Relationship Id="rId3" Type="http://schemas.openxmlformats.org/officeDocument/2006/relationships/tags" Target="../tags/tag58.xml"/><Relationship Id="rId21" Type="http://schemas.openxmlformats.org/officeDocument/2006/relationships/image" Target="../media/image41.png"/><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tags" Target="../tags/tag72.xml"/><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image" Target="../media/image40.png"/><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tags" Target="../tags/tag70.xml"/><Relationship Id="rId10" Type="http://schemas.openxmlformats.org/officeDocument/2006/relationships/tags" Target="../tags/tag65.xml"/><Relationship Id="rId19" Type="http://schemas.openxmlformats.org/officeDocument/2006/relationships/image" Target="../media/image39.png"/><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image" Target="../media/image42.svg"/></Relationships>
</file>

<file path=ppt/slides/_rels/slide16.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image" Target="../media/image40.png"/><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image" Target="../media/image39.png"/><Relationship Id="rId2" Type="http://schemas.openxmlformats.org/officeDocument/2006/relationships/tags" Target="../tags/tag74.xml"/><Relationship Id="rId16" Type="http://schemas.openxmlformats.org/officeDocument/2006/relationships/slideLayout" Target="../slideLayouts/slideLayout11.xml"/><Relationship Id="rId20" Type="http://schemas.openxmlformats.org/officeDocument/2006/relationships/image" Target="../media/image42.sv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tags" Target="../tags/tag87.xml"/><Relationship Id="rId10" Type="http://schemas.openxmlformats.org/officeDocument/2006/relationships/tags" Target="../tags/tag82.xml"/><Relationship Id="rId19" Type="http://schemas.openxmlformats.org/officeDocument/2006/relationships/image" Target="../media/image41.png"/><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s>
</file>

<file path=ppt/slides/_rels/slide17.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11.xml"/><Relationship Id="rId6" Type="http://schemas.openxmlformats.org/officeDocument/2006/relationships/chart" Target="../charts/chart2.xml"/><Relationship Id="rId5" Type="http://schemas.openxmlformats.org/officeDocument/2006/relationships/image" Target="../media/image50.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11.xml"/><Relationship Id="rId6" Type="http://schemas.openxmlformats.org/officeDocument/2006/relationships/chart" Target="../charts/chart3.xml"/><Relationship Id="rId5" Type="http://schemas.openxmlformats.org/officeDocument/2006/relationships/image" Target="../media/image50.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image" Target="../media/image40.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image" Target="../media/image39.png"/><Relationship Id="rId2" Type="http://schemas.openxmlformats.org/officeDocument/2006/relationships/tags" Target="../tags/tag89.xml"/><Relationship Id="rId16" Type="http://schemas.openxmlformats.org/officeDocument/2006/relationships/slideLayout" Target="../slideLayouts/slideLayout11.xml"/><Relationship Id="rId20" Type="http://schemas.openxmlformats.org/officeDocument/2006/relationships/image" Target="../media/image42.svg"/><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image" Target="../media/image41.png"/><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s>
</file>

<file path=ppt/slides/_rels/slide20.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image" Target="../media/image41.pn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image" Target="../media/image40.png"/><Relationship Id="rId2" Type="http://schemas.openxmlformats.org/officeDocument/2006/relationships/tags" Target="../tags/tag104.xml"/><Relationship Id="rId16" Type="http://schemas.openxmlformats.org/officeDocument/2006/relationships/image" Target="../media/image39.png"/><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slideLayout" Target="../slideLayouts/slideLayout11.xml"/><Relationship Id="rId10" Type="http://schemas.openxmlformats.org/officeDocument/2006/relationships/tags" Target="../tags/tag112.xml"/><Relationship Id="rId19" Type="http://schemas.openxmlformats.org/officeDocument/2006/relationships/image" Target="../media/image42.svg"/><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21.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image" Target="../media/image41.png"/><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image" Target="../media/image40.png"/><Relationship Id="rId2" Type="http://schemas.openxmlformats.org/officeDocument/2006/relationships/tags" Target="../tags/tag118.xml"/><Relationship Id="rId16" Type="http://schemas.openxmlformats.org/officeDocument/2006/relationships/image" Target="../media/image39.png"/><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slideLayout" Target="../slideLayouts/slideLayout11.xml"/><Relationship Id="rId10" Type="http://schemas.openxmlformats.org/officeDocument/2006/relationships/tags" Target="../tags/tag126.xml"/><Relationship Id="rId19" Type="http://schemas.openxmlformats.org/officeDocument/2006/relationships/image" Target="../media/image42.svg"/><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s>
</file>

<file path=ppt/slides/_rels/slide22.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18" Type="http://schemas.openxmlformats.org/officeDocument/2006/relationships/image" Target="../media/image41.png"/><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image" Target="../media/image40.png"/><Relationship Id="rId2" Type="http://schemas.openxmlformats.org/officeDocument/2006/relationships/tags" Target="../tags/tag132.xml"/><Relationship Id="rId16" Type="http://schemas.openxmlformats.org/officeDocument/2006/relationships/image" Target="../media/image39.png"/><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slideLayout" Target="../slideLayouts/slideLayout11.xml"/><Relationship Id="rId10" Type="http://schemas.openxmlformats.org/officeDocument/2006/relationships/tags" Target="../tags/tag140.xml"/><Relationship Id="rId19" Type="http://schemas.openxmlformats.org/officeDocument/2006/relationships/image" Target="../media/image42.svg"/><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18" Type="http://schemas.openxmlformats.org/officeDocument/2006/relationships/slideLayout" Target="../slideLayouts/slideLayout11.xml"/><Relationship Id="rId3" Type="http://schemas.openxmlformats.org/officeDocument/2006/relationships/tags" Target="../tags/tag147.xml"/><Relationship Id="rId21" Type="http://schemas.openxmlformats.org/officeDocument/2006/relationships/image" Target="../media/image41.png"/><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tags" Target="../tags/tag161.xml"/><Relationship Id="rId2" Type="http://schemas.openxmlformats.org/officeDocument/2006/relationships/tags" Target="../tags/tag146.xml"/><Relationship Id="rId16" Type="http://schemas.openxmlformats.org/officeDocument/2006/relationships/tags" Target="../tags/tag160.xml"/><Relationship Id="rId20" Type="http://schemas.openxmlformats.org/officeDocument/2006/relationships/image" Target="../media/image40.png"/><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tags" Target="../tags/tag159.xml"/><Relationship Id="rId10" Type="http://schemas.openxmlformats.org/officeDocument/2006/relationships/tags" Target="../tags/tag154.xml"/><Relationship Id="rId19" Type="http://schemas.openxmlformats.org/officeDocument/2006/relationships/image" Target="../media/image39.png"/><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 Id="rId22" Type="http://schemas.openxmlformats.org/officeDocument/2006/relationships/image" Target="../media/image42.svg"/></Relationships>
</file>

<file path=ppt/slides/_rels/slide25.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48.png"/><Relationship Id="rId7" Type="http://schemas.openxmlformats.org/officeDocument/2006/relationships/package" Target="../embeddings/Microsoft_Excel_Worksheet2.xlsx"/><Relationship Id="rId2" Type="http://schemas.openxmlformats.org/officeDocument/2006/relationships/chart" Target="../charts/chart4.xml"/><Relationship Id="rId1" Type="http://schemas.openxmlformats.org/officeDocument/2006/relationships/slideLayout" Target="../slideLayouts/slideLayout11.xml"/><Relationship Id="rId6" Type="http://schemas.openxmlformats.org/officeDocument/2006/relationships/image" Target="../media/image50.svg"/><Relationship Id="rId5" Type="http://schemas.openxmlformats.org/officeDocument/2006/relationships/image" Target="../media/image1.png"/><Relationship Id="rId4" Type="http://schemas.openxmlformats.org/officeDocument/2006/relationships/image" Target="../media/image49.svg"/></Relationships>
</file>

<file path=ppt/slides/_rels/slide26.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48.png"/><Relationship Id="rId7" Type="http://schemas.openxmlformats.org/officeDocument/2006/relationships/package" Target="../embeddings/Microsoft_Excel_Worksheet3.xlsx"/><Relationship Id="rId2" Type="http://schemas.openxmlformats.org/officeDocument/2006/relationships/chart" Target="../charts/chart5.xml"/><Relationship Id="rId1" Type="http://schemas.openxmlformats.org/officeDocument/2006/relationships/slideLayout" Target="../slideLayouts/slideLayout11.xml"/><Relationship Id="rId6" Type="http://schemas.openxmlformats.org/officeDocument/2006/relationships/image" Target="../media/image50.svg"/><Relationship Id="rId5" Type="http://schemas.openxmlformats.org/officeDocument/2006/relationships/image" Target="../media/image1.png"/><Relationship Id="rId4" Type="http://schemas.openxmlformats.org/officeDocument/2006/relationships/image" Target="../media/image49.svg"/></Relationships>
</file>

<file path=ppt/slides/_rels/slide27.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18" Type="http://schemas.openxmlformats.org/officeDocument/2006/relationships/image" Target="../media/image40.png"/><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slideLayout" Target="../slideLayouts/slideLayout11.xml"/><Relationship Id="rId2" Type="http://schemas.openxmlformats.org/officeDocument/2006/relationships/tags" Target="../tags/tag163.xml"/><Relationship Id="rId16" Type="http://schemas.openxmlformats.org/officeDocument/2006/relationships/tags" Target="../tags/tag177.xml"/><Relationship Id="rId20" Type="http://schemas.openxmlformats.org/officeDocument/2006/relationships/image" Target="../media/image42.svg"/><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tags" Target="../tags/tag176.xml"/><Relationship Id="rId10" Type="http://schemas.openxmlformats.org/officeDocument/2006/relationships/tags" Target="../tags/tag171.xml"/><Relationship Id="rId19" Type="http://schemas.openxmlformats.org/officeDocument/2006/relationships/image" Target="../media/image41.png"/><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s>
</file>

<file path=ppt/slides/_rels/slide28.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tags" Target="../tags/tag195.xml"/><Relationship Id="rId3" Type="http://schemas.openxmlformats.org/officeDocument/2006/relationships/tags" Target="../tags/tag180.xml"/><Relationship Id="rId21" Type="http://schemas.openxmlformats.org/officeDocument/2006/relationships/image" Target="../media/image39.png"/><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slideLayout" Target="../slideLayouts/slideLayout11.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42.svg"/><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image" Target="../media/image41.png"/><Relationship Id="rId10" Type="http://schemas.openxmlformats.org/officeDocument/2006/relationships/tags" Target="../tags/tag187.xml"/><Relationship Id="rId19" Type="http://schemas.openxmlformats.org/officeDocument/2006/relationships/tags" Target="../tags/tag196.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image" Target="../media/image40.png"/></Relationships>
</file>

<file path=ppt/slides/_rels/slide29.xml.rels><?xml version="1.0" encoding="UTF-8" standalone="yes"?>
<Relationships xmlns="http://schemas.openxmlformats.org/package/2006/relationships"><Relationship Id="rId8" Type="http://schemas.openxmlformats.org/officeDocument/2006/relationships/tags" Target="../tags/tag204.xml"/><Relationship Id="rId13" Type="http://schemas.openxmlformats.org/officeDocument/2006/relationships/tags" Target="../tags/tag209.xml"/><Relationship Id="rId18" Type="http://schemas.openxmlformats.org/officeDocument/2006/relationships/tags" Target="../tags/tag214.xml"/><Relationship Id="rId3" Type="http://schemas.openxmlformats.org/officeDocument/2006/relationships/tags" Target="../tags/tag199.xml"/><Relationship Id="rId21" Type="http://schemas.openxmlformats.org/officeDocument/2006/relationships/image" Target="../media/image39.png"/><Relationship Id="rId7" Type="http://schemas.openxmlformats.org/officeDocument/2006/relationships/tags" Target="../tags/tag203.xml"/><Relationship Id="rId12" Type="http://schemas.openxmlformats.org/officeDocument/2006/relationships/tags" Target="../tags/tag208.xml"/><Relationship Id="rId17" Type="http://schemas.openxmlformats.org/officeDocument/2006/relationships/tags" Target="../tags/tag213.xml"/><Relationship Id="rId2" Type="http://schemas.openxmlformats.org/officeDocument/2006/relationships/tags" Target="../tags/tag198.xml"/><Relationship Id="rId16" Type="http://schemas.openxmlformats.org/officeDocument/2006/relationships/tags" Target="../tags/tag212.xml"/><Relationship Id="rId20" Type="http://schemas.openxmlformats.org/officeDocument/2006/relationships/slideLayout" Target="../slideLayouts/slideLayout11.xml"/><Relationship Id="rId1" Type="http://schemas.openxmlformats.org/officeDocument/2006/relationships/tags" Target="../tags/tag197.xml"/><Relationship Id="rId6" Type="http://schemas.openxmlformats.org/officeDocument/2006/relationships/tags" Target="../tags/tag202.xml"/><Relationship Id="rId11" Type="http://schemas.openxmlformats.org/officeDocument/2006/relationships/tags" Target="../tags/tag207.xml"/><Relationship Id="rId24" Type="http://schemas.openxmlformats.org/officeDocument/2006/relationships/image" Target="../media/image42.svg"/><Relationship Id="rId5" Type="http://schemas.openxmlformats.org/officeDocument/2006/relationships/tags" Target="../tags/tag201.xml"/><Relationship Id="rId15" Type="http://schemas.openxmlformats.org/officeDocument/2006/relationships/tags" Target="../tags/tag211.xml"/><Relationship Id="rId23" Type="http://schemas.openxmlformats.org/officeDocument/2006/relationships/image" Target="../media/image41.png"/><Relationship Id="rId10" Type="http://schemas.openxmlformats.org/officeDocument/2006/relationships/tags" Target="../tags/tag206.xml"/><Relationship Id="rId19" Type="http://schemas.openxmlformats.org/officeDocument/2006/relationships/tags" Target="../tags/tag215.xml"/><Relationship Id="rId4" Type="http://schemas.openxmlformats.org/officeDocument/2006/relationships/tags" Target="../tags/tag200.xml"/><Relationship Id="rId9" Type="http://schemas.openxmlformats.org/officeDocument/2006/relationships/tags" Target="../tags/tag205.xml"/><Relationship Id="rId14" Type="http://schemas.openxmlformats.org/officeDocument/2006/relationships/tags" Target="../tags/tag210.xml"/><Relationship Id="rId22"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8" Type="http://schemas.openxmlformats.org/officeDocument/2006/relationships/tags" Target="../tags/tag223.xml"/><Relationship Id="rId13" Type="http://schemas.openxmlformats.org/officeDocument/2006/relationships/image" Target="../media/image40.png"/><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image" Target="../media/image39.png"/><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slideLayout" Target="../slideLayouts/slideLayout11.xml"/><Relationship Id="rId5" Type="http://schemas.openxmlformats.org/officeDocument/2006/relationships/tags" Target="../tags/tag220.xml"/><Relationship Id="rId10" Type="http://schemas.openxmlformats.org/officeDocument/2006/relationships/tags" Target="../tags/tag225.xml"/><Relationship Id="rId4" Type="http://schemas.openxmlformats.org/officeDocument/2006/relationships/tags" Target="../tags/tag219.xml"/><Relationship Id="rId9" Type="http://schemas.openxmlformats.org/officeDocument/2006/relationships/tags" Target="../tags/tag2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3" Type="http://schemas.openxmlformats.org/officeDocument/2006/relationships/tags" Target="../tags/tag228.xml"/><Relationship Id="rId21" Type="http://schemas.openxmlformats.org/officeDocument/2006/relationships/image" Target="../media/image52.png"/><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 Type="http://schemas.openxmlformats.org/officeDocument/2006/relationships/tags" Target="../tags/tag227.xml"/><Relationship Id="rId16" Type="http://schemas.openxmlformats.org/officeDocument/2006/relationships/tags" Target="../tags/tag241.xml"/><Relationship Id="rId20" Type="http://schemas.openxmlformats.org/officeDocument/2006/relationships/notesSlide" Target="../notesSlides/notesSlide7.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5" Type="http://schemas.openxmlformats.org/officeDocument/2006/relationships/tags" Target="../tags/tag230.xml"/><Relationship Id="rId15" Type="http://schemas.openxmlformats.org/officeDocument/2006/relationships/tags" Target="../tags/tag240.xml"/><Relationship Id="rId10" Type="http://schemas.openxmlformats.org/officeDocument/2006/relationships/tags" Target="../tags/tag235.xml"/><Relationship Id="rId19" Type="http://schemas.openxmlformats.org/officeDocument/2006/relationships/slideLayout" Target="../slideLayouts/slideLayout52.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 Id="rId22" Type="http://schemas.openxmlformats.org/officeDocument/2006/relationships/image" Target="../media/image53.png"/></Relationships>
</file>

<file path=ppt/slides/_rels/slide35.xml.rels><?xml version="1.0" encoding="UTF-8" standalone="yes"?>
<Relationships xmlns="http://schemas.openxmlformats.org/package/2006/relationships"><Relationship Id="rId8" Type="http://schemas.openxmlformats.org/officeDocument/2006/relationships/package" Target="../embeddings/Microsoft_Excel_Worksheet4.xlsx"/><Relationship Id="rId3" Type="http://schemas.openxmlformats.org/officeDocument/2006/relationships/chart" Target="../charts/chart6.xml"/><Relationship Id="rId7" Type="http://schemas.openxmlformats.org/officeDocument/2006/relationships/image" Target="../media/image50.svg"/><Relationship Id="rId2" Type="http://schemas.openxmlformats.org/officeDocument/2006/relationships/slideLayout" Target="../slideLayouts/slideLayout52.xml"/><Relationship Id="rId1" Type="http://schemas.openxmlformats.org/officeDocument/2006/relationships/tags" Target="../tags/tag244.xml"/><Relationship Id="rId6" Type="http://schemas.openxmlformats.org/officeDocument/2006/relationships/image" Target="../media/image1.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1.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chart" Target="../charts/chart7.xml"/><Relationship Id="rId1" Type="http://schemas.openxmlformats.org/officeDocument/2006/relationships/slideLayout" Target="../slideLayouts/slideLayout5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51.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8" Type="http://schemas.openxmlformats.org/officeDocument/2006/relationships/tags" Target="../tags/tag252.xml"/><Relationship Id="rId13" Type="http://schemas.openxmlformats.org/officeDocument/2006/relationships/image" Target="../media/image39.png"/><Relationship Id="rId3" Type="http://schemas.openxmlformats.org/officeDocument/2006/relationships/tags" Target="../tags/tag247.xml"/><Relationship Id="rId7" Type="http://schemas.openxmlformats.org/officeDocument/2006/relationships/tags" Target="../tags/tag251.xml"/><Relationship Id="rId12" Type="http://schemas.openxmlformats.org/officeDocument/2006/relationships/slideLayout" Target="../slideLayouts/slideLayout52.xm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tags" Target="../tags/tag255.xml"/><Relationship Id="rId5" Type="http://schemas.openxmlformats.org/officeDocument/2006/relationships/tags" Target="../tags/tag249.xml"/><Relationship Id="rId10" Type="http://schemas.openxmlformats.org/officeDocument/2006/relationships/tags" Target="../tags/tag254.xml"/><Relationship Id="rId4" Type="http://schemas.openxmlformats.org/officeDocument/2006/relationships/tags" Target="../tags/tag248.xml"/><Relationship Id="rId9" Type="http://schemas.openxmlformats.org/officeDocument/2006/relationships/tags" Target="../tags/tag253.xml"/><Relationship Id="rId1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3" Type="http://schemas.openxmlformats.org/officeDocument/2006/relationships/hyperlink" Target="https://boehringer.sharepoint.com/sites/z365congresscoverage/Shared%20Documents/Forms/AllItems.aspx?viewid=31bda2f7%2Da022%2D489f%2Dbeb3%2D57e54b65c819&amp;id=%2Fsites%2Fz365congresscoverage%2FShared%20Documents%2FASCO%202025%2FKRAS%20G12D%2F3083%5FASCO25%5FFu%5FThe%20first%2Din%2Dhuman%20phase%201%202%20study%20of%20TSN1611%2C%20a%20highly%20selective%20KRAS%20G12D%20inhibitor%2Epdf&amp;parent=%2Fsites%2Fz365congresscoverage%2FShared%20Documents%2FASCO%202025%2FKRAS%20G12D" TargetMode="External"/><Relationship Id="rId2" Type="http://schemas.openxmlformats.org/officeDocument/2006/relationships/notesSlide" Target="../notesSlides/notesSlide9.xml"/><Relationship Id="rId1" Type="http://schemas.openxmlformats.org/officeDocument/2006/relationships/slideLayout" Target="../slideLayouts/slideLayout71.xml"/><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3.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slideLayout" Target="../slideLayouts/slideLayout71.xml"/><Relationship Id="rId3" Type="http://schemas.openxmlformats.org/officeDocument/2006/relationships/tags" Target="../tags/tag258.xml"/><Relationship Id="rId7" Type="http://schemas.openxmlformats.org/officeDocument/2006/relationships/tags" Target="../tags/tag262.xml"/><Relationship Id="rId12" Type="http://schemas.openxmlformats.org/officeDocument/2006/relationships/tags" Target="../tags/tag267.xml"/><Relationship Id="rId2" Type="http://schemas.openxmlformats.org/officeDocument/2006/relationships/tags" Target="../tags/tag257.xml"/><Relationship Id="rId16" Type="http://schemas.openxmlformats.org/officeDocument/2006/relationships/image" Target="../media/image40.png"/><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tags" Target="../tags/tag266.xml"/><Relationship Id="rId5" Type="http://schemas.openxmlformats.org/officeDocument/2006/relationships/tags" Target="../tags/tag260.xml"/><Relationship Id="rId15" Type="http://schemas.openxmlformats.org/officeDocument/2006/relationships/image" Target="../media/image39.png"/><Relationship Id="rId10" Type="http://schemas.openxmlformats.org/officeDocument/2006/relationships/tags" Target="../tags/tag265.xml"/><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10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a:t>
            </a:r>
            <a:r>
              <a:rPr lang="en-US" sz="2800" i="1">
                <a:solidFill>
                  <a:schemeClr val="bg1">
                    <a:lumMod val="75000"/>
                  </a:schemeClr>
                </a:solidFill>
              </a:rPr>
              <a:t>ONCOLOGY</a:t>
            </a:r>
            <a:endParaRPr lang="en-US" sz="320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vert="horz" lIns="0" tIns="0" rIns="0" bIns="0" rtlCol="0" anchor="t">
            <a:noAutofit/>
          </a:bodyPr>
          <a:lstStyle/>
          <a:p>
            <a:pPr lvl="1"/>
            <a:r>
              <a:rPr lang="en-US"/>
              <a:t>Jiaqi Lu, Juno Hu, </a:t>
            </a:r>
            <a:r>
              <a:rPr lang="en-US" err="1"/>
              <a:t>Donglei</a:t>
            </a:r>
            <a:r>
              <a:rPr lang="en-US"/>
              <a:t> Zhu, Nick Xue | 20251215 </a:t>
            </a:r>
            <a:r>
              <a:rPr lang="en-US" altLang="zh-CN"/>
              <a:t>| 20 mins</a:t>
            </a:r>
            <a:r>
              <a:rPr lang="en-US"/>
              <a:t> </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 Portfolio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230873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373">
            <a:extLst>
              <a:ext uri="{FF2B5EF4-FFF2-40B4-BE49-F238E27FC236}">
                <a16:creationId xmlns:a16="http://schemas.microsoft.com/office/drawing/2014/main" id="{65EC4E6D-05C4-ED0E-C33B-0F80AE500443}"/>
              </a:ext>
            </a:extLst>
          </p:cNvPr>
          <p:cNvSpPr/>
          <p:nvPr/>
        </p:nvSpPr>
        <p:spPr>
          <a:xfrm flipH="1">
            <a:off x="2895915" y="2486418"/>
            <a:ext cx="1096590" cy="309210"/>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PoPP</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VSV-GP OV (it, iv, all comers)</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 name="Title 1">
            <a:extLst>
              <a:ext uri="{FF2B5EF4-FFF2-40B4-BE49-F238E27FC236}">
                <a16:creationId xmlns:a16="http://schemas.microsoft.com/office/drawing/2014/main" id="{98114A56-9EC2-88D7-2296-459725E092E6}"/>
              </a:ext>
            </a:extLst>
          </p:cNvPr>
          <p:cNvSpPr>
            <a:spLocks noGrp="1"/>
          </p:cNvSpPr>
          <p:nvPr>
            <p:ph type="title"/>
          </p:nvPr>
        </p:nvSpPr>
        <p:spPr/>
        <p:txBody>
          <a:bodyPr/>
          <a:lstStyle/>
          <a:p>
            <a:r>
              <a:rPr lang="en-US" altLang="zh-CN"/>
              <a:t>2025 ONC Key Milestone Overview</a:t>
            </a:r>
            <a:endParaRPr lang="zh-CN" altLang="en-US"/>
          </a:p>
        </p:txBody>
      </p:sp>
      <p:sp>
        <p:nvSpPr>
          <p:cNvPr id="6" name="AutoShape 2">
            <a:extLst>
              <a:ext uri="{FF2B5EF4-FFF2-40B4-BE49-F238E27FC236}">
                <a16:creationId xmlns:a16="http://schemas.microsoft.com/office/drawing/2014/main" id="{89AD5275-B674-612C-DE89-E0F90FFB39EC}"/>
              </a:ext>
            </a:extLst>
          </p:cNvPr>
          <p:cNvSpPr>
            <a:spLocks noChangeArrowheads="1"/>
          </p:cNvSpPr>
          <p:nvPr/>
        </p:nvSpPr>
        <p:spPr bwMode="gray">
          <a:xfrm>
            <a:off x="479424" y="3337560"/>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marR="0" lvl="0" indent="0" algn="l" defTabSz="914400" rtl="0" eaLnBrk="0" fontAlgn="base" latinLnBrk="0" hangingPunct="0">
              <a:lnSpc>
                <a:spcPct val="100000"/>
              </a:lnSpc>
              <a:spcBef>
                <a:spcPct val="0"/>
              </a:spcBef>
              <a:spcAft>
                <a:spcPct val="0"/>
              </a:spcAft>
              <a:buClrTx/>
              <a:buSzTx/>
              <a:buFontTx/>
              <a:buNone/>
              <a:tabLst/>
              <a:defRPr/>
            </a:pPr>
            <a:endParaRPr kumimoji="0" lang="en-US" sz="975" b="1" i="1" u="none" strike="noStrike" kern="1200" cap="none" spc="0" normalizeH="0" baseline="0" noProof="0">
              <a:ln>
                <a:noFill/>
              </a:ln>
              <a:solidFill>
                <a:srgbClr val="FFFFFF"/>
              </a:solidFill>
              <a:effectLst/>
              <a:uLnTx/>
              <a:uFillTx/>
              <a:latin typeface="Boehringer Forward Text"/>
              <a:ea typeface="+mn-ea"/>
              <a:cs typeface="Arial" panose="020B0604020202020204" pitchFamily="34" charset="0"/>
            </a:endParaRPr>
          </a:p>
        </p:txBody>
      </p:sp>
      <p:graphicFrame>
        <p:nvGraphicFramePr>
          <p:cNvPr id="7" name="Table 6">
            <a:extLst>
              <a:ext uri="{FF2B5EF4-FFF2-40B4-BE49-F238E27FC236}">
                <a16:creationId xmlns:a16="http://schemas.microsoft.com/office/drawing/2014/main" id="{650E13CB-63CA-14D6-60B5-150FCB066E70}"/>
              </a:ext>
            </a:extLst>
          </p:cNvPr>
          <p:cNvGraphicFramePr>
            <a:graphicFrameLocks noGrp="1"/>
          </p:cNvGraphicFramePr>
          <p:nvPr/>
        </p:nvGraphicFramePr>
        <p:xfrm>
          <a:off x="479424" y="3556000"/>
          <a:ext cx="11232000" cy="370840"/>
        </p:xfrm>
        <a:graphic>
          <a:graphicData uri="http://schemas.openxmlformats.org/drawingml/2006/table">
            <a:tbl>
              <a:tblPr firstRow="1" bandRow="1">
                <a:tableStyleId>{2D5ABB26-0587-4C30-8999-92F81FD0307C}</a:tableStyleId>
              </a:tblPr>
              <a:tblGrid>
                <a:gridCol w="936000">
                  <a:extLst>
                    <a:ext uri="{9D8B030D-6E8A-4147-A177-3AD203B41FA5}">
                      <a16:colId xmlns:a16="http://schemas.microsoft.com/office/drawing/2014/main" val="3259948014"/>
                    </a:ext>
                  </a:extLst>
                </a:gridCol>
                <a:gridCol w="936000">
                  <a:extLst>
                    <a:ext uri="{9D8B030D-6E8A-4147-A177-3AD203B41FA5}">
                      <a16:colId xmlns:a16="http://schemas.microsoft.com/office/drawing/2014/main" val="1754446377"/>
                    </a:ext>
                  </a:extLst>
                </a:gridCol>
                <a:gridCol w="936000">
                  <a:extLst>
                    <a:ext uri="{9D8B030D-6E8A-4147-A177-3AD203B41FA5}">
                      <a16:colId xmlns:a16="http://schemas.microsoft.com/office/drawing/2014/main" val="1217927104"/>
                    </a:ext>
                  </a:extLst>
                </a:gridCol>
                <a:gridCol w="936000">
                  <a:extLst>
                    <a:ext uri="{9D8B030D-6E8A-4147-A177-3AD203B41FA5}">
                      <a16:colId xmlns:a16="http://schemas.microsoft.com/office/drawing/2014/main" val="1536033202"/>
                    </a:ext>
                  </a:extLst>
                </a:gridCol>
                <a:gridCol w="936000">
                  <a:extLst>
                    <a:ext uri="{9D8B030D-6E8A-4147-A177-3AD203B41FA5}">
                      <a16:colId xmlns:a16="http://schemas.microsoft.com/office/drawing/2014/main" val="4043156477"/>
                    </a:ext>
                  </a:extLst>
                </a:gridCol>
                <a:gridCol w="936000">
                  <a:extLst>
                    <a:ext uri="{9D8B030D-6E8A-4147-A177-3AD203B41FA5}">
                      <a16:colId xmlns:a16="http://schemas.microsoft.com/office/drawing/2014/main" val="2059884406"/>
                    </a:ext>
                  </a:extLst>
                </a:gridCol>
                <a:gridCol w="936000">
                  <a:extLst>
                    <a:ext uri="{9D8B030D-6E8A-4147-A177-3AD203B41FA5}">
                      <a16:colId xmlns:a16="http://schemas.microsoft.com/office/drawing/2014/main" val="1431727528"/>
                    </a:ext>
                  </a:extLst>
                </a:gridCol>
                <a:gridCol w="936000">
                  <a:extLst>
                    <a:ext uri="{9D8B030D-6E8A-4147-A177-3AD203B41FA5}">
                      <a16:colId xmlns:a16="http://schemas.microsoft.com/office/drawing/2014/main" val="2665324006"/>
                    </a:ext>
                  </a:extLst>
                </a:gridCol>
                <a:gridCol w="936000">
                  <a:extLst>
                    <a:ext uri="{9D8B030D-6E8A-4147-A177-3AD203B41FA5}">
                      <a16:colId xmlns:a16="http://schemas.microsoft.com/office/drawing/2014/main" val="788781497"/>
                    </a:ext>
                  </a:extLst>
                </a:gridCol>
                <a:gridCol w="936000">
                  <a:extLst>
                    <a:ext uri="{9D8B030D-6E8A-4147-A177-3AD203B41FA5}">
                      <a16:colId xmlns:a16="http://schemas.microsoft.com/office/drawing/2014/main" val="3205292133"/>
                    </a:ext>
                  </a:extLst>
                </a:gridCol>
                <a:gridCol w="936000">
                  <a:extLst>
                    <a:ext uri="{9D8B030D-6E8A-4147-A177-3AD203B41FA5}">
                      <a16:colId xmlns:a16="http://schemas.microsoft.com/office/drawing/2014/main" val="3860680305"/>
                    </a:ext>
                  </a:extLst>
                </a:gridCol>
                <a:gridCol w="936000">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OCT</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547686"/>
                  </a:ext>
                </a:extLst>
              </a:tr>
            </a:tbl>
          </a:graphicData>
        </a:graphic>
      </p:graphicFrame>
      <p:cxnSp>
        <p:nvCxnSpPr>
          <p:cNvPr id="11" name="Straight Connector 93">
            <a:extLst>
              <a:ext uri="{FF2B5EF4-FFF2-40B4-BE49-F238E27FC236}">
                <a16:creationId xmlns:a16="http://schemas.microsoft.com/office/drawing/2014/main" id="{817C5B6E-5655-951A-F50A-7AB55DCD868B}"/>
              </a:ext>
            </a:extLst>
          </p:cNvPr>
          <p:cNvCxnSpPr>
            <a:cxnSpLocks/>
            <a:stCxn id="14" idx="0"/>
            <a:endCxn id="13" idx="1"/>
          </p:cNvCxnSpPr>
          <p:nvPr/>
        </p:nvCxnSpPr>
        <p:spPr>
          <a:xfrm flipV="1">
            <a:off x="2144815" y="2951108"/>
            <a:ext cx="5865" cy="3640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2" name="Group 94">
            <a:extLst>
              <a:ext uri="{FF2B5EF4-FFF2-40B4-BE49-F238E27FC236}">
                <a16:creationId xmlns:a16="http://schemas.microsoft.com/office/drawing/2014/main" id="{920F280D-B07B-A4D4-EAA0-F2CCC4A8CE01}"/>
              </a:ext>
            </a:extLst>
          </p:cNvPr>
          <p:cNvGrpSpPr/>
          <p:nvPr/>
        </p:nvGrpSpPr>
        <p:grpSpPr>
          <a:xfrm>
            <a:off x="2013190" y="3315154"/>
            <a:ext cx="263250" cy="263252"/>
            <a:chOff x="2124108" y="2977434"/>
            <a:chExt cx="324000" cy="324000"/>
          </a:xfrm>
        </p:grpSpPr>
        <p:sp>
          <p:nvSpPr>
            <p:cNvPr id="14" name="Oval 95">
              <a:extLst>
                <a:ext uri="{FF2B5EF4-FFF2-40B4-BE49-F238E27FC236}">
                  <a16:creationId xmlns:a16="http://schemas.microsoft.com/office/drawing/2014/main" id="{4D31325A-0C4D-5661-FEE1-F28D7336E6E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5" name="Oval 96">
              <a:extLst>
                <a:ext uri="{FF2B5EF4-FFF2-40B4-BE49-F238E27FC236}">
                  <a16:creationId xmlns:a16="http://schemas.microsoft.com/office/drawing/2014/main" id="{9D03B971-61F2-35F4-9D03-697438A7410A}"/>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6" name="Graphic 97" descr="Diamond with solid fill">
              <a:extLst>
                <a:ext uri="{FF2B5EF4-FFF2-40B4-BE49-F238E27FC236}">
                  <a16:creationId xmlns:a16="http://schemas.microsoft.com/office/drawing/2014/main" id="{6350F1DA-7213-F3C1-31D1-713DA3E569E3}"/>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3" name="Arrow: Right 53">
            <a:extLst>
              <a:ext uri="{FF2B5EF4-FFF2-40B4-BE49-F238E27FC236}">
                <a16:creationId xmlns:a16="http://schemas.microsoft.com/office/drawing/2014/main" id="{78DCAAA1-AB07-9767-33CD-D16CA4BAF46F}"/>
              </a:ext>
            </a:extLst>
          </p:cNvPr>
          <p:cNvSpPr/>
          <p:nvPr/>
        </p:nvSpPr>
        <p:spPr>
          <a:xfrm flipH="1">
            <a:off x="2062930" y="2907232"/>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0" name="Rectangle 373">
            <a:extLst>
              <a:ext uri="{FF2B5EF4-FFF2-40B4-BE49-F238E27FC236}">
                <a16:creationId xmlns:a16="http://schemas.microsoft.com/office/drawing/2014/main" id="{F0C89B68-5446-898D-B539-D30AAF7EA94F}"/>
              </a:ext>
            </a:extLst>
          </p:cNvPr>
          <p:cNvSpPr/>
          <p:nvPr/>
        </p:nvSpPr>
        <p:spPr>
          <a:xfrm flipH="1">
            <a:off x="791509" y="2809626"/>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Zongertinib in Adjuvant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191" name="Group 164">
            <a:extLst>
              <a:ext uri="{FF2B5EF4-FFF2-40B4-BE49-F238E27FC236}">
                <a16:creationId xmlns:a16="http://schemas.microsoft.com/office/drawing/2014/main" id="{07F04166-F3A2-917B-7B80-5EEFE4B79B8C}"/>
              </a:ext>
            </a:extLst>
          </p:cNvPr>
          <p:cNvGrpSpPr/>
          <p:nvPr/>
        </p:nvGrpSpPr>
        <p:grpSpPr>
          <a:xfrm>
            <a:off x="5564711" y="6414969"/>
            <a:ext cx="1114559" cy="146250"/>
            <a:chOff x="6141015" y="6387982"/>
            <a:chExt cx="1371765" cy="180000"/>
          </a:xfrm>
        </p:grpSpPr>
        <p:sp>
          <p:nvSpPr>
            <p:cNvPr id="192" name="Oval 303">
              <a:extLst>
                <a:ext uri="{FF2B5EF4-FFF2-40B4-BE49-F238E27FC236}">
                  <a16:creationId xmlns:a16="http://schemas.microsoft.com/office/drawing/2014/main" id="{1292D7B1-5C81-6918-8365-BB6158C53E70}"/>
                </a:ext>
              </a:extLst>
            </p:cNvPr>
            <p:cNvSpPr/>
            <p:nvPr/>
          </p:nvSpPr>
          <p:spPr>
            <a:xfrm>
              <a:off x="6141015" y="6387982"/>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300" b="0" i="0" u="none" strike="noStrike" kern="1200" cap="none" spc="0" normalizeH="0" baseline="0" noProof="0">
                <a:ln>
                  <a:noFill/>
                </a:ln>
                <a:solidFill>
                  <a:srgbClr val="FFFFFF"/>
                </a:solidFill>
                <a:effectLst/>
                <a:uLnTx/>
                <a:uFillTx/>
                <a:latin typeface="BISansCond"/>
                <a:ea typeface="+mn-ea"/>
                <a:cs typeface="+mn-cs"/>
              </a:endParaRPr>
            </a:p>
          </p:txBody>
        </p:sp>
        <p:grpSp>
          <p:nvGrpSpPr>
            <p:cNvPr id="193" name="Group 166">
              <a:extLst>
                <a:ext uri="{FF2B5EF4-FFF2-40B4-BE49-F238E27FC236}">
                  <a16:creationId xmlns:a16="http://schemas.microsoft.com/office/drawing/2014/main" id="{F4FC6E86-F99A-2F56-D742-0D90F3CF9402}"/>
                </a:ext>
              </a:extLst>
            </p:cNvPr>
            <p:cNvGrpSpPr/>
            <p:nvPr/>
          </p:nvGrpSpPr>
          <p:grpSpPr>
            <a:xfrm>
              <a:off x="6174848" y="6403684"/>
              <a:ext cx="1337932" cy="160991"/>
              <a:chOff x="6896208" y="6402948"/>
              <a:chExt cx="1337932" cy="160991"/>
            </a:xfrm>
          </p:grpSpPr>
          <p:sp>
            <p:nvSpPr>
              <p:cNvPr id="194" name="TextBox 167">
                <a:extLst>
                  <a:ext uri="{FF2B5EF4-FFF2-40B4-BE49-F238E27FC236}">
                    <a16:creationId xmlns:a16="http://schemas.microsoft.com/office/drawing/2014/main" id="{F87398A4-4B6D-13C5-46F3-CE0B4CAF3645}"/>
                  </a:ext>
                </a:extLst>
              </p:cNvPr>
              <p:cNvSpPr txBox="1"/>
              <p:nvPr/>
            </p:nvSpPr>
            <p:spPr>
              <a:xfrm>
                <a:off x="7083161" y="6402948"/>
                <a:ext cx="1150979" cy="160991"/>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Termination</a:t>
                </a:r>
              </a:p>
            </p:txBody>
          </p:sp>
          <p:sp>
            <p:nvSpPr>
              <p:cNvPr id="195" name="Freeform 61">
                <a:extLst>
                  <a:ext uri="{FF2B5EF4-FFF2-40B4-BE49-F238E27FC236}">
                    <a16:creationId xmlns:a16="http://schemas.microsoft.com/office/drawing/2014/main" id="{3CD0DB7A-62D1-BE10-0400-7D3C6F93BDE4}"/>
                  </a:ext>
                </a:extLst>
              </p:cNvPr>
              <p:cNvSpPr>
                <a:spLocks noChangeAspect="1" noEditPoints="1"/>
              </p:cNvSpPr>
              <p:nvPr/>
            </p:nvSpPr>
            <p:spPr bwMode="auto">
              <a:xfrm>
                <a:off x="6896208" y="6421815"/>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63530" tIns="31766" rIns="63530" bIns="3176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srgbClr val="58595B"/>
                  </a:solidFill>
                  <a:effectLst/>
                  <a:uLnTx/>
                  <a:uFillTx/>
                  <a:latin typeface="BISansCond"/>
                  <a:ea typeface="+mn-ea"/>
                  <a:cs typeface="+mn-cs"/>
                </a:endParaRPr>
              </a:p>
            </p:txBody>
          </p:sp>
        </p:grpSp>
      </p:grpSp>
      <p:grpSp>
        <p:nvGrpSpPr>
          <p:cNvPr id="196" name="Group 146">
            <a:extLst>
              <a:ext uri="{FF2B5EF4-FFF2-40B4-BE49-F238E27FC236}">
                <a16:creationId xmlns:a16="http://schemas.microsoft.com/office/drawing/2014/main" id="{01CCAB13-A9C7-06DC-0509-7C161213D1AB}"/>
              </a:ext>
            </a:extLst>
          </p:cNvPr>
          <p:cNvGrpSpPr/>
          <p:nvPr/>
        </p:nvGrpSpPr>
        <p:grpSpPr>
          <a:xfrm>
            <a:off x="5559802" y="6182684"/>
            <a:ext cx="1559532" cy="148147"/>
            <a:chOff x="5301740" y="6562619"/>
            <a:chExt cx="1919425" cy="182334"/>
          </a:xfrm>
        </p:grpSpPr>
        <p:sp>
          <p:nvSpPr>
            <p:cNvPr id="197" name="TextBox 147">
              <a:extLst>
                <a:ext uri="{FF2B5EF4-FFF2-40B4-BE49-F238E27FC236}">
                  <a16:creationId xmlns:a16="http://schemas.microsoft.com/office/drawing/2014/main" id="{3B9D8A18-1AB3-3725-4616-F80AF019C86F}"/>
                </a:ext>
              </a:extLst>
            </p:cNvPr>
            <p:cNvSpPr txBox="1"/>
            <p:nvPr/>
          </p:nvSpPr>
          <p:spPr>
            <a:xfrm>
              <a:off x="5520591" y="6562619"/>
              <a:ext cx="1700574" cy="180000"/>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Study start/ read-out</a:t>
              </a:r>
            </a:p>
          </p:txBody>
        </p:sp>
        <p:grpSp>
          <p:nvGrpSpPr>
            <p:cNvPr id="198" name="Group 148">
              <a:extLst>
                <a:ext uri="{FF2B5EF4-FFF2-40B4-BE49-F238E27FC236}">
                  <a16:creationId xmlns:a16="http://schemas.microsoft.com/office/drawing/2014/main" id="{43F021B5-8F8C-591A-2D3B-706016037DC1}"/>
                </a:ext>
              </a:extLst>
            </p:cNvPr>
            <p:cNvGrpSpPr/>
            <p:nvPr/>
          </p:nvGrpSpPr>
          <p:grpSpPr>
            <a:xfrm>
              <a:off x="5301740" y="6564953"/>
              <a:ext cx="180000" cy="180000"/>
              <a:chOff x="5411047" y="3113464"/>
              <a:chExt cx="198000" cy="198000"/>
            </a:xfrm>
            <a:noFill/>
          </p:grpSpPr>
          <p:sp>
            <p:nvSpPr>
              <p:cNvPr id="199" name="Oval 149">
                <a:extLst>
                  <a:ext uri="{FF2B5EF4-FFF2-40B4-BE49-F238E27FC236}">
                    <a16:creationId xmlns:a16="http://schemas.microsoft.com/office/drawing/2014/main" id="{C5B2CDA0-0D71-78E9-1AF5-F36A92E4F326}"/>
                  </a:ext>
                </a:extLst>
              </p:cNvPr>
              <p:cNvSpPr/>
              <p:nvPr/>
            </p:nvSpPr>
            <p:spPr>
              <a:xfrm>
                <a:off x="5411047" y="3113464"/>
                <a:ext cx="198000"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650" b="0" i="0" u="none" strike="noStrike" kern="1200" cap="none" spc="0" normalizeH="0" baseline="0" noProof="0">
                  <a:ln>
                    <a:noFill/>
                  </a:ln>
                  <a:solidFill>
                    <a:srgbClr val="123563"/>
                  </a:solidFill>
                  <a:effectLst/>
                  <a:uLnTx/>
                  <a:uFillTx/>
                  <a:latin typeface="BISans"/>
                  <a:ea typeface="+mn-ea"/>
                  <a:cs typeface="+mn-cs"/>
                </a:endParaRPr>
              </a:p>
            </p:txBody>
          </p:sp>
          <p:pic>
            <p:nvPicPr>
              <p:cNvPr id="200" name="Graphic 150" descr="Play outline">
                <a:extLst>
                  <a:ext uri="{FF2B5EF4-FFF2-40B4-BE49-F238E27FC236}">
                    <a16:creationId xmlns:a16="http://schemas.microsoft.com/office/drawing/2014/main" id="{CAD2D33D-B69B-D5B2-39C6-66A1956F84D2}"/>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37974" y="3129735"/>
                <a:ext cx="169716" cy="169715"/>
              </a:xfrm>
              <a:prstGeom prst="rect">
                <a:avLst/>
              </a:prstGeom>
            </p:spPr>
          </p:pic>
        </p:grpSp>
      </p:grpSp>
      <p:sp>
        <p:nvSpPr>
          <p:cNvPr id="201" name="TextBox 161">
            <a:extLst>
              <a:ext uri="{FF2B5EF4-FFF2-40B4-BE49-F238E27FC236}">
                <a16:creationId xmlns:a16="http://schemas.microsoft.com/office/drawing/2014/main" id="{575A2256-3667-B9B5-FE8D-8AA1EFF4D27F}"/>
              </a:ext>
            </a:extLst>
          </p:cNvPr>
          <p:cNvSpPr txBox="1"/>
          <p:nvPr/>
        </p:nvSpPr>
        <p:spPr>
          <a:xfrm>
            <a:off x="5744099" y="6663569"/>
            <a:ext cx="1072530" cy="125665"/>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94" b="0" i="1" u="none" strike="noStrike" kern="1200" cap="none" spc="0" normalizeH="0" baseline="0" noProof="0">
                <a:ln>
                  <a:noFill/>
                </a:ln>
                <a:solidFill>
                  <a:srgbClr val="4A6588"/>
                </a:solidFill>
                <a:effectLst/>
                <a:uLnTx/>
                <a:uFillTx/>
                <a:latin typeface="Boehringer Forward Text"/>
                <a:ea typeface="+mn-ea"/>
                <a:cs typeface="+mn-cs"/>
              </a:rPr>
              <a:t>Milestone</a:t>
            </a:r>
          </a:p>
        </p:txBody>
      </p:sp>
      <p:grpSp>
        <p:nvGrpSpPr>
          <p:cNvPr id="202" name="Group 32">
            <a:extLst>
              <a:ext uri="{FF2B5EF4-FFF2-40B4-BE49-F238E27FC236}">
                <a16:creationId xmlns:a16="http://schemas.microsoft.com/office/drawing/2014/main" id="{14C8D578-4452-3616-20F6-A099058685C4}"/>
              </a:ext>
            </a:extLst>
          </p:cNvPr>
          <p:cNvGrpSpPr/>
          <p:nvPr/>
        </p:nvGrpSpPr>
        <p:grpSpPr>
          <a:xfrm>
            <a:off x="5565229" y="6645618"/>
            <a:ext cx="146250" cy="146250"/>
            <a:chOff x="6984831" y="6315887"/>
            <a:chExt cx="180000" cy="180000"/>
          </a:xfrm>
        </p:grpSpPr>
        <p:sp>
          <p:nvSpPr>
            <p:cNvPr id="203" name="Oval 162">
              <a:extLst>
                <a:ext uri="{FF2B5EF4-FFF2-40B4-BE49-F238E27FC236}">
                  <a16:creationId xmlns:a16="http://schemas.microsoft.com/office/drawing/2014/main" id="{3FE840A0-FFAA-2342-7AD3-3173F8FF083C}"/>
                </a:ext>
              </a:extLst>
            </p:cNvPr>
            <p:cNvSpPr/>
            <p:nvPr/>
          </p:nvSpPr>
          <p:spPr>
            <a:xfrm>
              <a:off x="6984831" y="6315887"/>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ISans"/>
                <a:ea typeface="+mn-ea"/>
                <a:cs typeface="+mn-cs"/>
              </a:endParaRPr>
            </a:p>
          </p:txBody>
        </p:sp>
        <p:pic>
          <p:nvPicPr>
            <p:cNvPr id="204" name="Graphic 163" descr="Diamond with solid fill">
              <a:extLst>
                <a:ext uri="{FF2B5EF4-FFF2-40B4-BE49-F238E27FC236}">
                  <a16:creationId xmlns:a16="http://schemas.microsoft.com/office/drawing/2014/main" id="{AA0B845D-53A7-181A-7133-4EF5E2DF9F05}"/>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997688" y="6337980"/>
              <a:ext cx="154286" cy="154286"/>
            </a:xfrm>
            <a:prstGeom prst="rect">
              <a:avLst/>
            </a:prstGeom>
          </p:spPr>
        </p:pic>
      </p:grpSp>
      <p:sp>
        <p:nvSpPr>
          <p:cNvPr id="205" name="Arrow: Right 53">
            <a:extLst>
              <a:ext uri="{FF2B5EF4-FFF2-40B4-BE49-F238E27FC236}">
                <a16:creationId xmlns:a16="http://schemas.microsoft.com/office/drawing/2014/main" id="{899BC268-AF45-0D9E-3F11-F9CE0B6ADFF6}"/>
              </a:ext>
            </a:extLst>
          </p:cNvPr>
          <p:cNvSpPr/>
          <p:nvPr/>
        </p:nvSpPr>
        <p:spPr>
          <a:xfrm flipH="1">
            <a:off x="3558248" y="6217514"/>
            <a:ext cx="87750" cy="87750"/>
          </a:xfrm>
          <a:prstGeom prst="rect">
            <a:avLst/>
          </a:prstGeom>
          <a:solidFill>
            <a:srgbClr val="C73635"/>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6" name="TextBox 21">
            <a:extLst>
              <a:ext uri="{FF2B5EF4-FFF2-40B4-BE49-F238E27FC236}">
                <a16:creationId xmlns:a16="http://schemas.microsoft.com/office/drawing/2014/main" id="{5E459839-C7E9-8981-59BD-15AC025222CE}"/>
              </a:ext>
            </a:extLst>
          </p:cNvPr>
          <p:cNvSpPr txBox="1"/>
          <p:nvPr/>
        </p:nvSpPr>
        <p:spPr bwMode="gray">
          <a:xfrm>
            <a:off x="3727936" y="6197094"/>
            <a:ext cx="642805"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Termination</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7" name="Arrow: Right 53">
            <a:extLst>
              <a:ext uri="{FF2B5EF4-FFF2-40B4-BE49-F238E27FC236}">
                <a16:creationId xmlns:a16="http://schemas.microsoft.com/office/drawing/2014/main" id="{F0EC5B18-9507-36EF-C8B4-8744FC4E5229}"/>
              </a:ext>
            </a:extLst>
          </p:cNvPr>
          <p:cNvSpPr/>
          <p:nvPr/>
        </p:nvSpPr>
        <p:spPr>
          <a:xfrm flipH="1">
            <a:off x="2094839" y="6217514"/>
            <a:ext cx="87750" cy="87750"/>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8" name="TextBox 23">
            <a:extLst>
              <a:ext uri="{FF2B5EF4-FFF2-40B4-BE49-F238E27FC236}">
                <a16:creationId xmlns:a16="http://schemas.microsoft.com/office/drawing/2014/main" id="{1DA3E2A7-D123-F9EF-7D24-ED4E4EDC14C2}"/>
              </a:ext>
            </a:extLst>
          </p:cNvPr>
          <p:cNvSpPr txBox="1"/>
          <p:nvPr/>
        </p:nvSpPr>
        <p:spPr bwMode="gray">
          <a:xfrm>
            <a:off x="2269525" y="6206416"/>
            <a:ext cx="1288723"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SoD</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PoPP</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PoCP</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RoFD</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9" name="Arrow: Right 53">
            <a:extLst>
              <a:ext uri="{FF2B5EF4-FFF2-40B4-BE49-F238E27FC236}">
                <a16:creationId xmlns:a16="http://schemas.microsoft.com/office/drawing/2014/main" id="{DC9DB2E8-18ED-33BE-5587-218758BC17BF}"/>
              </a:ext>
            </a:extLst>
          </p:cNvPr>
          <p:cNvSpPr/>
          <p:nvPr/>
        </p:nvSpPr>
        <p:spPr>
          <a:xfrm flipH="1">
            <a:off x="4492736" y="6217514"/>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0" name="TextBox 201">
            <a:extLst>
              <a:ext uri="{FF2B5EF4-FFF2-40B4-BE49-F238E27FC236}">
                <a16:creationId xmlns:a16="http://schemas.microsoft.com/office/drawing/2014/main" id="{CABE4427-F6F1-C3A7-7C4F-D05F71DB003E}"/>
              </a:ext>
            </a:extLst>
          </p:cNvPr>
          <p:cNvSpPr txBox="1"/>
          <p:nvPr/>
        </p:nvSpPr>
        <p:spPr bwMode="gray">
          <a:xfrm>
            <a:off x="4650678" y="6192588"/>
            <a:ext cx="205785"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TLR</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1" name="Arrow: Right 53">
            <a:extLst>
              <a:ext uri="{FF2B5EF4-FFF2-40B4-BE49-F238E27FC236}">
                <a16:creationId xmlns:a16="http://schemas.microsoft.com/office/drawing/2014/main" id="{8E489DB1-A23C-3AA0-4DA5-86C446B3F52B}"/>
              </a:ext>
            </a:extLst>
          </p:cNvPr>
          <p:cNvSpPr/>
          <p:nvPr/>
        </p:nvSpPr>
        <p:spPr>
          <a:xfrm flipH="1">
            <a:off x="2094839" y="648809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2" name="TextBox 203">
            <a:extLst>
              <a:ext uri="{FF2B5EF4-FFF2-40B4-BE49-F238E27FC236}">
                <a16:creationId xmlns:a16="http://schemas.microsoft.com/office/drawing/2014/main" id="{97D91A05-A819-E65E-E3D5-6ED3F6A12CBD}"/>
              </a:ext>
            </a:extLst>
          </p:cNvPr>
          <p:cNvSpPr txBox="1"/>
          <p:nvPr/>
        </p:nvSpPr>
        <p:spPr bwMode="gray">
          <a:xfrm>
            <a:off x="2269871" y="6463168"/>
            <a:ext cx="940963" cy="13760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Pre-IND/CTA/SIV</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3" name="Arrow: Right 53">
            <a:extLst>
              <a:ext uri="{FF2B5EF4-FFF2-40B4-BE49-F238E27FC236}">
                <a16:creationId xmlns:a16="http://schemas.microsoft.com/office/drawing/2014/main" id="{20680D06-2EB8-45FD-75B9-04DB97B5B61A}"/>
              </a:ext>
            </a:extLst>
          </p:cNvPr>
          <p:cNvSpPr/>
          <p:nvPr/>
        </p:nvSpPr>
        <p:spPr>
          <a:xfrm flipH="1">
            <a:off x="3559865" y="6488094"/>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4" name="TextBox 304">
            <a:extLst>
              <a:ext uri="{FF2B5EF4-FFF2-40B4-BE49-F238E27FC236}">
                <a16:creationId xmlns:a16="http://schemas.microsoft.com/office/drawing/2014/main" id="{6AA178D1-2977-6400-E934-6F420402E244}"/>
              </a:ext>
            </a:extLst>
          </p:cNvPr>
          <p:cNvSpPr txBox="1"/>
          <p:nvPr/>
        </p:nvSpPr>
        <p:spPr bwMode="gray">
          <a:xfrm>
            <a:off x="3719460" y="6463168"/>
            <a:ext cx="527388"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BTD/NDA</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3" name="TextBox 2">
            <a:extLst>
              <a:ext uri="{FF2B5EF4-FFF2-40B4-BE49-F238E27FC236}">
                <a16:creationId xmlns:a16="http://schemas.microsoft.com/office/drawing/2014/main" id="{2D96626F-7772-C5C0-1022-6E8A0FC64504}"/>
              </a:ext>
            </a:extLst>
          </p:cNvPr>
          <p:cNvSpPr txBox="1"/>
          <p:nvPr/>
        </p:nvSpPr>
        <p:spPr>
          <a:xfrm>
            <a:off x="236699" y="2028882"/>
            <a:ext cx="986994" cy="577759"/>
          </a:xfrm>
          <a:prstGeom prst="rect">
            <a:avLst/>
          </a:prstGeom>
          <a:solidFill>
            <a:schemeClr val="bg1"/>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4" name="TextBox 3">
            <a:extLst>
              <a:ext uri="{FF2B5EF4-FFF2-40B4-BE49-F238E27FC236}">
                <a16:creationId xmlns:a16="http://schemas.microsoft.com/office/drawing/2014/main" id="{72784B0A-9119-8D90-24D1-DD58E2CD8B79}"/>
              </a:ext>
            </a:extLst>
          </p:cNvPr>
          <p:cNvSpPr txBox="1"/>
          <p:nvPr/>
        </p:nvSpPr>
        <p:spPr>
          <a:xfrm>
            <a:off x="275544" y="4556502"/>
            <a:ext cx="986994" cy="488967"/>
          </a:xfrm>
          <a:prstGeom prst="rect">
            <a:avLst/>
          </a:prstGeom>
          <a:no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grpSp>
        <p:nvGrpSpPr>
          <p:cNvPr id="287" name="Group 295">
            <a:extLst>
              <a:ext uri="{FF2B5EF4-FFF2-40B4-BE49-F238E27FC236}">
                <a16:creationId xmlns:a16="http://schemas.microsoft.com/office/drawing/2014/main" id="{489E6C73-994D-126E-2007-71DC2D99AB85}"/>
              </a:ext>
            </a:extLst>
          </p:cNvPr>
          <p:cNvGrpSpPr/>
          <p:nvPr/>
        </p:nvGrpSpPr>
        <p:grpSpPr>
          <a:xfrm>
            <a:off x="2683852" y="3319482"/>
            <a:ext cx="263250" cy="263250"/>
            <a:chOff x="2124108" y="2977434"/>
            <a:chExt cx="324000" cy="324000"/>
          </a:xfrm>
        </p:grpSpPr>
        <p:sp>
          <p:nvSpPr>
            <p:cNvPr id="66" name="Oval 296">
              <a:extLst>
                <a:ext uri="{FF2B5EF4-FFF2-40B4-BE49-F238E27FC236}">
                  <a16:creationId xmlns:a16="http://schemas.microsoft.com/office/drawing/2014/main" id="{C1EDDED4-4702-19DF-2E55-6ED85EF7AA9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67" name="Oval 297">
              <a:extLst>
                <a:ext uri="{FF2B5EF4-FFF2-40B4-BE49-F238E27FC236}">
                  <a16:creationId xmlns:a16="http://schemas.microsoft.com/office/drawing/2014/main" id="{E0E60FFB-4BBC-18B8-A829-1B691B21BCB9}"/>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0" name="Graphic 298" descr="Diamond with solid fill">
              <a:extLst>
                <a:ext uri="{FF2B5EF4-FFF2-40B4-BE49-F238E27FC236}">
                  <a16:creationId xmlns:a16="http://schemas.microsoft.com/office/drawing/2014/main" id="{56431A27-4DE7-FBD2-F66D-7CBBA42E03F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79" name="Arrow: Right 53">
            <a:extLst>
              <a:ext uri="{FF2B5EF4-FFF2-40B4-BE49-F238E27FC236}">
                <a16:creationId xmlns:a16="http://schemas.microsoft.com/office/drawing/2014/main" id="{2E5ACF20-5918-A020-2765-5B41F05CC5EF}"/>
              </a:ext>
            </a:extLst>
          </p:cNvPr>
          <p:cNvSpPr/>
          <p:nvPr/>
        </p:nvSpPr>
        <p:spPr>
          <a:xfrm flipH="1">
            <a:off x="2814761" y="2607713"/>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81" name="Straight Connector 379">
            <a:extLst>
              <a:ext uri="{FF2B5EF4-FFF2-40B4-BE49-F238E27FC236}">
                <a16:creationId xmlns:a16="http://schemas.microsoft.com/office/drawing/2014/main" id="{A8017F1C-1527-193C-2ACB-1B6E6659FB49}"/>
              </a:ext>
            </a:extLst>
          </p:cNvPr>
          <p:cNvCxnSpPr>
            <a:cxnSpLocks/>
            <a:stCxn id="66" idx="0"/>
            <a:endCxn id="79" idx="3"/>
          </p:cNvCxnSpPr>
          <p:nvPr/>
        </p:nvCxnSpPr>
        <p:spPr>
          <a:xfrm flipH="1" flipV="1">
            <a:off x="2814761" y="2651589"/>
            <a:ext cx="716" cy="6678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11385317-3E70-D699-FDCA-30AF26A314A9}"/>
              </a:ext>
            </a:extLst>
          </p:cNvPr>
          <p:cNvGrpSpPr/>
          <p:nvPr/>
        </p:nvGrpSpPr>
        <p:grpSpPr>
          <a:xfrm>
            <a:off x="9354437" y="2688551"/>
            <a:ext cx="1840740" cy="890951"/>
            <a:chOff x="4967411" y="2697882"/>
            <a:chExt cx="1840740" cy="890951"/>
          </a:xfrm>
        </p:grpSpPr>
        <p:grpSp>
          <p:nvGrpSpPr>
            <p:cNvPr id="129" name="Group 332">
              <a:extLst>
                <a:ext uri="{FF2B5EF4-FFF2-40B4-BE49-F238E27FC236}">
                  <a16:creationId xmlns:a16="http://schemas.microsoft.com/office/drawing/2014/main" id="{FCEB0193-2789-B032-D5C0-B22DC4AB14B5}"/>
                </a:ext>
              </a:extLst>
            </p:cNvPr>
            <p:cNvGrpSpPr/>
            <p:nvPr/>
          </p:nvGrpSpPr>
          <p:grpSpPr>
            <a:xfrm>
              <a:off x="4967411" y="3325583"/>
              <a:ext cx="263250" cy="263250"/>
              <a:chOff x="5311199" y="2962865"/>
              <a:chExt cx="324000" cy="324000"/>
            </a:xfrm>
          </p:grpSpPr>
          <p:sp>
            <p:nvSpPr>
              <p:cNvPr id="130" name="Oval 336">
                <a:extLst>
                  <a:ext uri="{FF2B5EF4-FFF2-40B4-BE49-F238E27FC236}">
                    <a16:creationId xmlns:a16="http://schemas.microsoft.com/office/drawing/2014/main" id="{92B0C16F-452D-7E43-CFDD-A131DD69BF48}"/>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31" name="Group 337">
                <a:extLst>
                  <a:ext uri="{FF2B5EF4-FFF2-40B4-BE49-F238E27FC236}">
                    <a16:creationId xmlns:a16="http://schemas.microsoft.com/office/drawing/2014/main" id="{67569ECE-2EB3-7A9F-84B0-1E08E6CF2F00}"/>
                  </a:ext>
                </a:extLst>
              </p:cNvPr>
              <p:cNvGrpSpPr/>
              <p:nvPr/>
            </p:nvGrpSpPr>
            <p:grpSpPr>
              <a:xfrm>
                <a:off x="5373950" y="3024278"/>
                <a:ext cx="198000" cy="198000"/>
                <a:chOff x="5411047" y="3113464"/>
                <a:chExt cx="198000" cy="198000"/>
              </a:xfrm>
            </p:grpSpPr>
            <p:sp>
              <p:nvSpPr>
                <p:cNvPr id="133" name="Oval 338">
                  <a:extLst>
                    <a:ext uri="{FF2B5EF4-FFF2-40B4-BE49-F238E27FC236}">
                      <a16:creationId xmlns:a16="http://schemas.microsoft.com/office/drawing/2014/main" id="{9E541914-3F63-F966-CAD8-469F617CE9F2}"/>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34" name="Graphic 339" descr="Play outline">
                  <a:extLst>
                    <a:ext uri="{FF2B5EF4-FFF2-40B4-BE49-F238E27FC236}">
                      <a16:creationId xmlns:a16="http://schemas.microsoft.com/office/drawing/2014/main" id="{E9387503-F99C-916B-07EB-9CCB8B57306E}"/>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cxnSp>
          <p:nvCxnSpPr>
            <p:cNvPr id="135" name="Straight Connector 93">
              <a:extLst>
                <a:ext uri="{FF2B5EF4-FFF2-40B4-BE49-F238E27FC236}">
                  <a16:creationId xmlns:a16="http://schemas.microsoft.com/office/drawing/2014/main" id="{C748839A-2BA7-B82C-0A81-061547B849F1}"/>
                </a:ext>
              </a:extLst>
            </p:cNvPr>
            <p:cNvCxnSpPr>
              <a:cxnSpLocks/>
              <a:stCxn id="130" idx="0"/>
              <a:endCxn id="136" idx="3"/>
            </p:cNvCxnSpPr>
            <p:nvPr/>
          </p:nvCxnSpPr>
          <p:spPr>
            <a:xfrm flipH="1" flipV="1">
              <a:off x="5098715" y="2909027"/>
              <a:ext cx="321" cy="41655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36" name="Arrow: Right 53">
              <a:extLst>
                <a:ext uri="{FF2B5EF4-FFF2-40B4-BE49-F238E27FC236}">
                  <a16:creationId xmlns:a16="http://schemas.microsoft.com/office/drawing/2014/main" id="{90BCFD2E-1573-44D4-B1F3-655732601C99}"/>
                </a:ext>
              </a:extLst>
            </p:cNvPr>
            <p:cNvSpPr/>
            <p:nvPr/>
          </p:nvSpPr>
          <p:spPr>
            <a:xfrm flipH="1">
              <a:off x="5098715" y="2865152"/>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37" name="Rectangle 373">
              <a:extLst>
                <a:ext uri="{FF2B5EF4-FFF2-40B4-BE49-F238E27FC236}">
                  <a16:creationId xmlns:a16="http://schemas.microsoft.com/office/drawing/2014/main" id="{ECAC613F-65A1-90D7-607F-8AA728A61674}"/>
                </a:ext>
              </a:extLst>
            </p:cNvPr>
            <p:cNvSpPr/>
            <p:nvPr/>
          </p:nvSpPr>
          <p:spPr>
            <a:xfrm flipH="1">
              <a:off x="5179381" y="2697882"/>
              <a:ext cx="1628770" cy="426103"/>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altLang="zh-CN" sz="813" b="0" i="0" u="none" strike="noStrike" kern="1200" cap="none" spc="0" normalizeH="0" baseline="0" noProof="0">
                  <a:ln>
                    <a:noFill/>
                  </a:ln>
                  <a:solidFill>
                    <a:srgbClr val="123563"/>
                  </a:solidFill>
                  <a:effectLst/>
                  <a:uLnTx/>
                  <a:uFillTx/>
                  <a:latin typeface="Boehringer Forward Text"/>
                  <a:ea typeface="+mn-ea"/>
                  <a:cs typeface="+mn-cs"/>
                </a:rPr>
                <a:t>Beamion Lung-1 Cohort 2 TLR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altLang="zh-CN" sz="813" b="0" i="0" u="none" strike="noStrike" kern="1200" cap="none" spc="0" normalizeH="0" baseline="0" noProof="0">
                  <a:ln>
                    <a:noFill/>
                  </a:ln>
                  <a:solidFill>
                    <a:srgbClr val="123563"/>
                  </a:solidFill>
                  <a:effectLst/>
                  <a:uLnTx/>
                  <a:uFillTx/>
                  <a:latin typeface="Boehringer Forward Text"/>
                  <a:ea typeface="+mn-ea"/>
                  <a:cs typeface="+mn-cs"/>
                </a:rPr>
                <a:t>Zongertinib – 1L NSCLC </a:t>
              </a:r>
            </a:p>
          </p:txBody>
        </p:sp>
      </p:grpSp>
      <p:grpSp>
        <p:nvGrpSpPr>
          <p:cNvPr id="65" name="Group 64">
            <a:extLst>
              <a:ext uri="{FF2B5EF4-FFF2-40B4-BE49-F238E27FC236}">
                <a16:creationId xmlns:a16="http://schemas.microsoft.com/office/drawing/2014/main" id="{8F6A9A03-842F-1F98-61ED-DAE1B840FA03}"/>
              </a:ext>
            </a:extLst>
          </p:cNvPr>
          <p:cNvGrpSpPr/>
          <p:nvPr/>
        </p:nvGrpSpPr>
        <p:grpSpPr>
          <a:xfrm>
            <a:off x="885135" y="3310635"/>
            <a:ext cx="1459851" cy="1105185"/>
            <a:chOff x="885135" y="3310635"/>
            <a:chExt cx="1459851" cy="1105185"/>
          </a:xfrm>
        </p:grpSpPr>
        <p:sp>
          <p:nvSpPr>
            <p:cNvPr id="257" name="Arrow: Right 53">
              <a:extLst>
                <a:ext uri="{FF2B5EF4-FFF2-40B4-BE49-F238E27FC236}">
                  <a16:creationId xmlns:a16="http://schemas.microsoft.com/office/drawing/2014/main" id="{C1F963E9-9E7B-8652-3035-4961C9BBA96E}"/>
                </a:ext>
              </a:extLst>
            </p:cNvPr>
            <p:cNvSpPr/>
            <p:nvPr/>
          </p:nvSpPr>
          <p:spPr>
            <a:xfrm flipH="1">
              <a:off x="1020010" y="4267805"/>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2" name="Rectangle 373">
              <a:extLst>
                <a:ext uri="{FF2B5EF4-FFF2-40B4-BE49-F238E27FC236}">
                  <a16:creationId xmlns:a16="http://schemas.microsoft.com/office/drawing/2014/main" id="{6BBB7D09-F517-8382-F88D-6A0DAD5835F1}"/>
                </a:ext>
              </a:extLst>
            </p:cNvPr>
            <p:cNvSpPr/>
            <p:nvPr/>
          </p:nvSpPr>
          <p:spPr>
            <a:xfrm flipH="1">
              <a:off x="1097198" y="4193791"/>
              <a:ext cx="1247788" cy="222029"/>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NDA Sub. for Zongertinib in 2L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183" name="Group 94">
              <a:extLst>
                <a:ext uri="{FF2B5EF4-FFF2-40B4-BE49-F238E27FC236}">
                  <a16:creationId xmlns:a16="http://schemas.microsoft.com/office/drawing/2014/main" id="{9A7F63FB-FAB5-A9BF-CF21-D8F18A2EF8B1}"/>
                </a:ext>
              </a:extLst>
            </p:cNvPr>
            <p:cNvGrpSpPr/>
            <p:nvPr/>
          </p:nvGrpSpPr>
          <p:grpSpPr>
            <a:xfrm>
              <a:off x="885135" y="3310635"/>
              <a:ext cx="263250" cy="263252"/>
              <a:chOff x="2124108" y="2977434"/>
              <a:chExt cx="324000" cy="324000"/>
            </a:xfrm>
          </p:grpSpPr>
          <p:sp>
            <p:nvSpPr>
              <p:cNvPr id="184" name="Oval 95">
                <a:extLst>
                  <a:ext uri="{FF2B5EF4-FFF2-40B4-BE49-F238E27FC236}">
                    <a16:creationId xmlns:a16="http://schemas.microsoft.com/office/drawing/2014/main" id="{64DAB595-AE7B-C6BA-4162-2B06B897E27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85" name="Oval 96">
                <a:extLst>
                  <a:ext uri="{FF2B5EF4-FFF2-40B4-BE49-F238E27FC236}">
                    <a16:creationId xmlns:a16="http://schemas.microsoft.com/office/drawing/2014/main" id="{6DFA8C9E-940C-4C90-2F6D-1C897D91527E}"/>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86" name="Graphic 97" descr="Diamond with solid fill">
                <a:extLst>
                  <a:ext uri="{FF2B5EF4-FFF2-40B4-BE49-F238E27FC236}">
                    <a16:creationId xmlns:a16="http://schemas.microsoft.com/office/drawing/2014/main" id="{7C4E20C1-CBBE-E08C-B8BC-095465A966D8}"/>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187" name="Straight Connector 379">
              <a:extLst>
                <a:ext uri="{FF2B5EF4-FFF2-40B4-BE49-F238E27FC236}">
                  <a16:creationId xmlns:a16="http://schemas.microsoft.com/office/drawing/2014/main" id="{BCBB5E36-BDCC-1EA3-4EF9-1CC9996921AD}"/>
                </a:ext>
              </a:extLst>
            </p:cNvPr>
            <p:cNvCxnSpPr>
              <a:cxnSpLocks/>
              <a:stCxn id="257" idx="3"/>
              <a:endCxn id="184" idx="4"/>
            </p:cNvCxnSpPr>
            <p:nvPr/>
          </p:nvCxnSpPr>
          <p:spPr>
            <a:xfrm flipH="1" flipV="1">
              <a:off x="1016760" y="3573887"/>
              <a:ext cx="3250" cy="7377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8" name="Rectangle 373">
            <a:extLst>
              <a:ext uri="{FF2B5EF4-FFF2-40B4-BE49-F238E27FC236}">
                <a16:creationId xmlns:a16="http://schemas.microsoft.com/office/drawing/2014/main" id="{4464DCED-C954-869E-7C8A-EED8233E0574}"/>
              </a:ext>
            </a:extLst>
          </p:cNvPr>
          <p:cNvSpPr/>
          <p:nvPr/>
        </p:nvSpPr>
        <p:spPr>
          <a:xfrm flipH="1">
            <a:off x="2385950" y="4718405"/>
            <a:ext cx="1546457"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Dareon-5 Type II Meeting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NEC</a:t>
            </a:r>
          </a:p>
        </p:txBody>
      </p:sp>
      <p:sp>
        <p:nvSpPr>
          <p:cNvPr id="9" name="Arrow: Right 53">
            <a:extLst>
              <a:ext uri="{FF2B5EF4-FFF2-40B4-BE49-F238E27FC236}">
                <a16:creationId xmlns:a16="http://schemas.microsoft.com/office/drawing/2014/main" id="{3EEE5F11-5561-A68E-8F1F-9CF03BE6E30C}"/>
              </a:ext>
            </a:extLst>
          </p:cNvPr>
          <p:cNvSpPr/>
          <p:nvPr/>
        </p:nvSpPr>
        <p:spPr>
          <a:xfrm flipH="1">
            <a:off x="2281951" y="481502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7" name="Group 332">
            <a:extLst>
              <a:ext uri="{FF2B5EF4-FFF2-40B4-BE49-F238E27FC236}">
                <a16:creationId xmlns:a16="http://schemas.microsoft.com/office/drawing/2014/main" id="{7A6754F0-7B2A-9021-4DCB-85EE7030457C}"/>
              </a:ext>
            </a:extLst>
          </p:cNvPr>
          <p:cNvGrpSpPr/>
          <p:nvPr/>
        </p:nvGrpSpPr>
        <p:grpSpPr>
          <a:xfrm>
            <a:off x="2151383" y="3331923"/>
            <a:ext cx="263250" cy="263250"/>
            <a:chOff x="5311199" y="2962865"/>
            <a:chExt cx="324000" cy="324000"/>
          </a:xfrm>
        </p:grpSpPr>
        <p:sp>
          <p:nvSpPr>
            <p:cNvPr id="18" name="Oval 336">
              <a:extLst>
                <a:ext uri="{FF2B5EF4-FFF2-40B4-BE49-F238E27FC236}">
                  <a16:creationId xmlns:a16="http://schemas.microsoft.com/office/drawing/2014/main" id="{B5903C37-F955-3131-4C41-E9E1E5BEFFDD}"/>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4" name="Group 337">
              <a:extLst>
                <a:ext uri="{FF2B5EF4-FFF2-40B4-BE49-F238E27FC236}">
                  <a16:creationId xmlns:a16="http://schemas.microsoft.com/office/drawing/2014/main" id="{F82151B2-1835-2E72-98FD-B905632DED9D}"/>
                </a:ext>
              </a:extLst>
            </p:cNvPr>
            <p:cNvGrpSpPr/>
            <p:nvPr/>
          </p:nvGrpSpPr>
          <p:grpSpPr>
            <a:xfrm>
              <a:off x="5373950" y="3024278"/>
              <a:ext cx="198000" cy="198000"/>
              <a:chOff x="5411047" y="3113464"/>
              <a:chExt cx="198000" cy="198000"/>
            </a:xfrm>
          </p:grpSpPr>
          <p:sp>
            <p:nvSpPr>
              <p:cNvPr id="25" name="Oval 338">
                <a:extLst>
                  <a:ext uri="{FF2B5EF4-FFF2-40B4-BE49-F238E27FC236}">
                    <a16:creationId xmlns:a16="http://schemas.microsoft.com/office/drawing/2014/main" id="{D03A0A85-3861-15E9-AF09-E486CB148E14}"/>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 name="Graphic 339" descr="Play outline">
                <a:extLst>
                  <a:ext uri="{FF2B5EF4-FFF2-40B4-BE49-F238E27FC236}">
                    <a16:creationId xmlns:a16="http://schemas.microsoft.com/office/drawing/2014/main" id="{5702E2BF-3F32-E8E1-5A6E-6751C4825C7B}"/>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cxnSp>
        <p:nvCxnSpPr>
          <p:cNvPr id="27" name="Straight Connector 379">
            <a:extLst>
              <a:ext uri="{FF2B5EF4-FFF2-40B4-BE49-F238E27FC236}">
                <a16:creationId xmlns:a16="http://schemas.microsoft.com/office/drawing/2014/main" id="{6C7E6768-C1FB-FE5F-D85A-DAEA88C534CE}"/>
              </a:ext>
            </a:extLst>
          </p:cNvPr>
          <p:cNvCxnSpPr>
            <a:cxnSpLocks/>
            <a:stCxn id="9" idx="3"/>
            <a:endCxn id="18" idx="4"/>
          </p:cNvCxnSpPr>
          <p:nvPr/>
        </p:nvCxnSpPr>
        <p:spPr>
          <a:xfrm flipV="1">
            <a:off x="2281951" y="3595173"/>
            <a:ext cx="1057" cy="12637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0" name="Rectangle 373">
            <a:extLst>
              <a:ext uri="{FF2B5EF4-FFF2-40B4-BE49-F238E27FC236}">
                <a16:creationId xmlns:a16="http://schemas.microsoft.com/office/drawing/2014/main" id="{10376DA0-9817-8DCA-D9D9-DFBB14F297F5}"/>
              </a:ext>
            </a:extLst>
          </p:cNvPr>
          <p:cNvSpPr/>
          <p:nvPr/>
        </p:nvSpPr>
        <p:spPr>
          <a:xfrm flipH="1">
            <a:off x="2033935" y="5244396"/>
            <a:ext cx="1441098"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Ph1b 1</a:t>
            </a:r>
            <a:r>
              <a:rPr kumimoji="0" lang="en-US" altLang="zh-CN" sz="813" b="0" i="0" u="none" strike="noStrike" kern="1200" cap="none" spc="0" normalizeH="0" baseline="30000" noProof="0">
                <a:ln>
                  <a:noFill/>
                </a:ln>
                <a:solidFill>
                  <a:srgbClr val="123563"/>
                </a:solidFill>
                <a:effectLst/>
                <a:uLnTx/>
                <a:uFillTx/>
                <a:latin typeface="Boehringer Forward Text"/>
                <a:ea typeface="+mn-ea"/>
                <a:cs typeface="+mn-cs"/>
              </a:rPr>
              <a:t>st</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SIV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CD137/FAP – 1L HNSCC</a:t>
            </a:r>
          </a:p>
        </p:txBody>
      </p:sp>
      <p:sp>
        <p:nvSpPr>
          <p:cNvPr id="41" name="Arrow: Right 53">
            <a:extLst>
              <a:ext uri="{FF2B5EF4-FFF2-40B4-BE49-F238E27FC236}">
                <a16:creationId xmlns:a16="http://schemas.microsoft.com/office/drawing/2014/main" id="{282AF8CF-4ADC-F45A-BBD4-786CF662B900}"/>
              </a:ext>
            </a:extLst>
          </p:cNvPr>
          <p:cNvSpPr/>
          <p:nvPr/>
        </p:nvSpPr>
        <p:spPr>
          <a:xfrm flipH="1">
            <a:off x="1929938" y="5341015"/>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2" name="Group 332">
            <a:extLst>
              <a:ext uri="{FF2B5EF4-FFF2-40B4-BE49-F238E27FC236}">
                <a16:creationId xmlns:a16="http://schemas.microsoft.com/office/drawing/2014/main" id="{A14D25A2-4D43-529A-F9AC-1841B2C2E3E9}"/>
              </a:ext>
            </a:extLst>
          </p:cNvPr>
          <p:cNvGrpSpPr/>
          <p:nvPr/>
        </p:nvGrpSpPr>
        <p:grpSpPr>
          <a:xfrm>
            <a:off x="1796805" y="3321802"/>
            <a:ext cx="263250" cy="263250"/>
            <a:chOff x="5311199" y="2962865"/>
            <a:chExt cx="324000" cy="324000"/>
          </a:xfrm>
        </p:grpSpPr>
        <p:sp>
          <p:nvSpPr>
            <p:cNvPr id="43" name="Oval 336">
              <a:extLst>
                <a:ext uri="{FF2B5EF4-FFF2-40B4-BE49-F238E27FC236}">
                  <a16:creationId xmlns:a16="http://schemas.microsoft.com/office/drawing/2014/main" id="{F80EC0AE-6C19-C436-AF95-BD8C010EC6E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4" name="Group 337">
              <a:extLst>
                <a:ext uri="{FF2B5EF4-FFF2-40B4-BE49-F238E27FC236}">
                  <a16:creationId xmlns:a16="http://schemas.microsoft.com/office/drawing/2014/main" id="{3F5D70D2-E4D0-B708-1184-0B52C20AEFC4}"/>
                </a:ext>
              </a:extLst>
            </p:cNvPr>
            <p:cNvGrpSpPr/>
            <p:nvPr/>
          </p:nvGrpSpPr>
          <p:grpSpPr>
            <a:xfrm>
              <a:off x="5373950" y="3024278"/>
              <a:ext cx="198000" cy="198000"/>
              <a:chOff x="5411047" y="3113464"/>
              <a:chExt cx="198000" cy="198000"/>
            </a:xfrm>
          </p:grpSpPr>
          <p:sp>
            <p:nvSpPr>
              <p:cNvPr id="45" name="Oval 338">
                <a:extLst>
                  <a:ext uri="{FF2B5EF4-FFF2-40B4-BE49-F238E27FC236}">
                    <a16:creationId xmlns:a16="http://schemas.microsoft.com/office/drawing/2014/main" id="{34E785F7-120D-4452-48DF-EECD91F39768}"/>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46" name="Graphic 339" descr="Play outline">
                <a:extLst>
                  <a:ext uri="{FF2B5EF4-FFF2-40B4-BE49-F238E27FC236}">
                    <a16:creationId xmlns:a16="http://schemas.microsoft.com/office/drawing/2014/main" id="{6E38EFC4-BE58-BB9A-0363-8E3812D86D84}"/>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cxnSp>
        <p:nvCxnSpPr>
          <p:cNvPr id="47" name="Straight Connector 379">
            <a:extLst>
              <a:ext uri="{FF2B5EF4-FFF2-40B4-BE49-F238E27FC236}">
                <a16:creationId xmlns:a16="http://schemas.microsoft.com/office/drawing/2014/main" id="{9C23E554-DDBA-1FC2-2B54-EED4C97E5B44}"/>
              </a:ext>
            </a:extLst>
          </p:cNvPr>
          <p:cNvCxnSpPr>
            <a:cxnSpLocks/>
            <a:stCxn id="41" idx="3"/>
            <a:endCxn id="43" idx="4"/>
          </p:cNvCxnSpPr>
          <p:nvPr/>
        </p:nvCxnSpPr>
        <p:spPr>
          <a:xfrm flipH="1" flipV="1">
            <a:off x="1928430" y="3585052"/>
            <a:ext cx="1508" cy="179983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30" name="Graphic 29" descr="Badge Tick with solid fill">
            <a:extLst>
              <a:ext uri="{FF2B5EF4-FFF2-40B4-BE49-F238E27FC236}">
                <a16:creationId xmlns:a16="http://schemas.microsoft.com/office/drawing/2014/main" id="{6989C0B8-1176-C7D5-8BD8-F395DFA29249}"/>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801705" y="3957933"/>
            <a:ext cx="389214" cy="389214"/>
          </a:xfrm>
          <a:prstGeom prst="rect">
            <a:avLst/>
          </a:prstGeom>
        </p:spPr>
      </p:pic>
      <p:pic>
        <p:nvPicPr>
          <p:cNvPr id="32" name="Graphic 31" descr="Badge Tick with solid fill">
            <a:extLst>
              <a:ext uri="{FF2B5EF4-FFF2-40B4-BE49-F238E27FC236}">
                <a16:creationId xmlns:a16="http://schemas.microsoft.com/office/drawing/2014/main" id="{39D70C33-6AF9-B267-13E6-CD2F57456CA4}"/>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482583" y="4398162"/>
            <a:ext cx="389214" cy="389214"/>
          </a:xfrm>
          <a:prstGeom prst="rect">
            <a:avLst/>
          </a:prstGeom>
        </p:spPr>
      </p:pic>
      <p:pic>
        <p:nvPicPr>
          <p:cNvPr id="39" name="Graphic 38" descr="Badge Tick with solid fill">
            <a:extLst>
              <a:ext uri="{FF2B5EF4-FFF2-40B4-BE49-F238E27FC236}">
                <a16:creationId xmlns:a16="http://schemas.microsoft.com/office/drawing/2014/main" id="{0351D321-9E67-457A-0569-BB04E296E821}"/>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908757" y="5038638"/>
            <a:ext cx="389214" cy="389214"/>
          </a:xfrm>
          <a:prstGeom prst="rect">
            <a:avLst/>
          </a:prstGeom>
        </p:spPr>
      </p:pic>
      <p:pic>
        <p:nvPicPr>
          <p:cNvPr id="56" name="Graphic 55" descr="Badge Tick with solid fill">
            <a:extLst>
              <a:ext uri="{FF2B5EF4-FFF2-40B4-BE49-F238E27FC236}">
                <a16:creationId xmlns:a16="http://schemas.microsoft.com/office/drawing/2014/main" id="{895AC4CD-7939-23A9-E20F-B4B171B0D221}"/>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74434" y="2711004"/>
            <a:ext cx="389214" cy="389214"/>
          </a:xfrm>
          <a:prstGeom prst="rect">
            <a:avLst/>
          </a:prstGeom>
        </p:spPr>
      </p:pic>
      <p:pic>
        <p:nvPicPr>
          <p:cNvPr id="69" name="Graphic 68" descr="Badge Tick with solid fill">
            <a:extLst>
              <a:ext uri="{FF2B5EF4-FFF2-40B4-BE49-F238E27FC236}">
                <a16:creationId xmlns:a16="http://schemas.microsoft.com/office/drawing/2014/main" id="{A9B0B461-B800-04EB-59F2-36D20D6E9351}"/>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857634" y="2480597"/>
            <a:ext cx="389214" cy="389214"/>
          </a:xfrm>
          <a:prstGeom prst="rect">
            <a:avLst/>
          </a:prstGeom>
        </p:spPr>
      </p:pic>
      <p:grpSp>
        <p:nvGrpSpPr>
          <p:cNvPr id="170" name="Group 169">
            <a:extLst>
              <a:ext uri="{FF2B5EF4-FFF2-40B4-BE49-F238E27FC236}">
                <a16:creationId xmlns:a16="http://schemas.microsoft.com/office/drawing/2014/main" id="{0132B2E5-07A1-419A-DE21-E82E61C826FB}"/>
              </a:ext>
            </a:extLst>
          </p:cNvPr>
          <p:cNvGrpSpPr/>
          <p:nvPr/>
        </p:nvGrpSpPr>
        <p:grpSpPr>
          <a:xfrm>
            <a:off x="4954224" y="2235462"/>
            <a:ext cx="1772117" cy="1363182"/>
            <a:chOff x="4954224" y="2235462"/>
            <a:chExt cx="1772117" cy="1363182"/>
          </a:xfrm>
        </p:grpSpPr>
        <p:cxnSp>
          <p:nvCxnSpPr>
            <p:cNvPr id="258" name="Straight Connector 93">
              <a:extLst>
                <a:ext uri="{FF2B5EF4-FFF2-40B4-BE49-F238E27FC236}">
                  <a16:creationId xmlns:a16="http://schemas.microsoft.com/office/drawing/2014/main" id="{7DCFDEB2-784A-90A3-BBCA-CF536CE72470}"/>
                </a:ext>
              </a:extLst>
            </p:cNvPr>
            <p:cNvCxnSpPr>
              <a:cxnSpLocks/>
              <a:stCxn id="260" idx="0"/>
              <a:endCxn id="264" idx="1"/>
            </p:cNvCxnSpPr>
            <p:nvPr/>
          </p:nvCxnSpPr>
          <p:spPr>
            <a:xfrm flipV="1">
              <a:off x="6594716" y="2498312"/>
              <a:ext cx="13460" cy="83708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259" name="Group 94">
              <a:extLst>
                <a:ext uri="{FF2B5EF4-FFF2-40B4-BE49-F238E27FC236}">
                  <a16:creationId xmlns:a16="http://schemas.microsoft.com/office/drawing/2014/main" id="{0F2D2AD8-C2BE-3487-F54A-AFFCFEB382BE}"/>
                </a:ext>
              </a:extLst>
            </p:cNvPr>
            <p:cNvGrpSpPr/>
            <p:nvPr/>
          </p:nvGrpSpPr>
          <p:grpSpPr>
            <a:xfrm>
              <a:off x="6463091" y="3335392"/>
              <a:ext cx="263250" cy="263252"/>
              <a:chOff x="2124108" y="2977434"/>
              <a:chExt cx="324000" cy="324000"/>
            </a:xfrm>
          </p:grpSpPr>
          <p:sp>
            <p:nvSpPr>
              <p:cNvPr id="260" name="Oval 95">
                <a:extLst>
                  <a:ext uri="{FF2B5EF4-FFF2-40B4-BE49-F238E27FC236}">
                    <a16:creationId xmlns:a16="http://schemas.microsoft.com/office/drawing/2014/main" id="{3BC71492-5B96-EB58-5309-1D3B48FD3010}"/>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1" name="Oval 96">
                <a:extLst>
                  <a:ext uri="{FF2B5EF4-FFF2-40B4-BE49-F238E27FC236}">
                    <a16:creationId xmlns:a16="http://schemas.microsoft.com/office/drawing/2014/main" id="{570EFCEA-0E58-8895-DFD0-80EC203F0724}"/>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3" name="Graphic 97" descr="Diamond with solid fill">
                <a:extLst>
                  <a:ext uri="{FF2B5EF4-FFF2-40B4-BE49-F238E27FC236}">
                    <a16:creationId xmlns:a16="http://schemas.microsoft.com/office/drawing/2014/main" id="{D54D7FB6-9609-2692-7D28-1853A504916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64" name="Arrow: Right 53">
              <a:extLst>
                <a:ext uri="{FF2B5EF4-FFF2-40B4-BE49-F238E27FC236}">
                  <a16:creationId xmlns:a16="http://schemas.microsoft.com/office/drawing/2014/main" id="{BCAD9CB0-45AE-03C4-A4F8-992A848C21E5}"/>
                </a:ext>
              </a:extLst>
            </p:cNvPr>
            <p:cNvSpPr/>
            <p:nvPr/>
          </p:nvSpPr>
          <p:spPr>
            <a:xfrm flipH="1">
              <a:off x="6520426" y="2454436"/>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5" name="Rectangle 373">
              <a:extLst>
                <a:ext uri="{FF2B5EF4-FFF2-40B4-BE49-F238E27FC236}">
                  <a16:creationId xmlns:a16="http://schemas.microsoft.com/office/drawing/2014/main" id="{95458B5A-FBF2-967F-B13F-2CF58374DA25}"/>
                </a:ext>
              </a:extLst>
            </p:cNvPr>
            <p:cNvSpPr/>
            <p:nvPr/>
          </p:nvSpPr>
          <p:spPr>
            <a:xfrm flipH="1">
              <a:off x="5252066" y="2352334"/>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1L 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pic>
          <p:nvPicPr>
            <p:cNvPr id="74" name="Graphic 73" descr="Badge Tick with solid fill">
              <a:extLst>
                <a:ext uri="{FF2B5EF4-FFF2-40B4-BE49-F238E27FC236}">
                  <a16:creationId xmlns:a16="http://schemas.microsoft.com/office/drawing/2014/main" id="{CCDC91A0-A605-A6E3-C0DD-5DB87BA883C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4954224" y="2235462"/>
              <a:ext cx="389214" cy="389214"/>
            </a:xfrm>
            <a:prstGeom prst="rect">
              <a:avLst/>
            </a:prstGeom>
          </p:spPr>
        </p:pic>
      </p:grpSp>
      <p:grpSp>
        <p:nvGrpSpPr>
          <p:cNvPr id="94" name="Group 93">
            <a:extLst>
              <a:ext uri="{FF2B5EF4-FFF2-40B4-BE49-F238E27FC236}">
                <a16:creationId xmlns:a16="http://schemas.microsoft.com/office/drawing/2014/main" id="{E31DBF45-1DC7-4EF9-C1B7-BA6D2CBCF40A}"/>
              </a:ext>
            </a:extLst>
          </p:cNvPr>
          <p:cNvGrpSpPr/>
          <p:nvPr/>
        </p:nvGrpSpPr>
        <p:grpSpPr>
          <a:xfrm>
            <a:off x="7755763" y="3319482"/>
            <a:ext cx="1522811" cy="1084713"/>
            <a:chOff x="10188613" y="3321744"/>
            <a:chExt cx="1522811" cy="1084713"/>
          </a:xfrm>
        </p:grpSpPr>
        <p:grpSp>
          <p:nvGrpSpPr>
            <p:cNvPr id="281" name="Group 280">
              <a:extLst>
                <a:ext uri="{FF2B5EF4-FFF2-40B4-BE49-F238E27FC236}">
                  <a16:creationId xmlns:a16="http://schemas.microsoft.com/office/drawing/2014/main" id="{99D579E6-D3F5-6B91-C148-0DF82B17C180}"/>
                </a:ext>
              </a:extLst>
            </p:cNvPr>
            <p:cNvGrpSpPr/>
            <p:nvPr/>
          </p:nvGrpSpPr>
          <p:grpSpPr>
            <a:xfrm>
              <a:off x="10188613" y="3321744"/>
              <a:ext cx="1522811" cy="1084713"/>
              <a:chOff x="885135" y="3310635"/>
              <a:chExt cx="1522811" cy="1084713"/>
            </a:xfrm>
          </p:grpSpPr>
          <p:sp>
            <p:nvSpPr>
              <p:cNvPr id="282" name="Arrow: Right 53">
                <a:extLst>
                  <a:ext uri="{FF2B5EF4-FFF2-40B4-BE49-F238E27FC236}">
                    <a16:creationId xmlns:a16="http://schemas.microsoft.com/office/drawing/2014/main" id="{712E3774-B41E-5A70-B11C-87E799E22378}"/>
                  </a:ext>
                </a:extLst>
              </p:cNvPr>
              <p:cNvSpPr/>
              <p:nvPr/>
            </p:nvSpPr>
            <p:spPr>
              <a:xfrm flipH="1">
                <a:off x="1020010" y="4234464"/>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83" name="Rectangle 373">
                <a:extLst>
                  <a:ext uri="{FF2B5EF4-FFF2-40B4-BE49-F238E27FC236}">
                    <a16:creationId xmlns:a16="http://schemas.microsoft.com/office/drawing/2014/main" id="{35DB0D0A-5362-2DE0-C744-FA60E64E1F8E}"/>
                  </a:ext>
                </a:extLst>
              </p:cNvPr>
              <p:cNvSpPr/>
              <p:nvPr/>
            </p:nvSpPr>
            <p:spPr>
              <a:xfrm flipH="1">
                <a:off x="1097198" y="4173319"/>
                <a:ext cx="1310748" cy="222029"/>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NDA Approval for Zongertinib in 2L NSCLC (26th Aug)</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75" name="Group 94">
                <a:extLst>
                  <a:ext uri="{FF2B5EF4-FFF2-40B4-BE49-F238E27FC236}">
                    <a16:creationId xmlns:a16="http://schemas.microsoft.com/office/drawing/2014/main" id="{7DCE4735-11DC-368C-6F01-0DEB57109679}"/>
                  </a:ext>
                </a:extLst>
              </p:cNvPr>
              <p:cNvGrpSpPr/>
              <p:nvPr/>
            </p:nvGrpSpPr>
            <p:grpSpPr>
              <a:xfrm>
                <a:off x="885135" y="3310635"/>
                <a:ext cx="263250" cy="263252"/>
                <a:chOff x="2124108" y="2977434"/>
                <a:chExt cx="324000" cy="324000"/>
              </a:xfrm>
            </p:grpSpPr>
            <p:sp>
              <p:nvSpPr>
                <p:cNvPr id="77" name="Oval 95">
                  <a:extLst>
                    <a:ext uri="{FF2B5EF4-FFF2-40B4-BE49-F238E27FC236}">
                      <a16:creationId xmlns:a16="http://schemas.microsoft.com/office/drawing/2014/main" id="{B449E687-F1C8-4E89-9535-E2887664E4C7}"/>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78" name="Oval 96">
                  <a:extLst>
                    <a:ext uri="{FF2B5EF4-FFF2-40B4-BE49-F238E27FC236}">
                      <a16:creationId xmlns:a16="http://schemas.microsoft.com/office/drawing/2014/main" id="{CA257A94-A52B-B698-9A09-1CB7E620F276}"/>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82" name="Graphic 97" descr="Diamond with solid fill">
                  <a:extLst>
                    <a:ext uri="{FF2B5EF4-FFF2-40B4-BE49-F238E27FC236}">
                      <a16:creationId xmlns:a16="http://schemas.microsoft.com/office/drawing/2014/main" id="{2D2B4500-F053-463A-DC19-5B582E3B3F5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76" name="Straight Connector 379">
                <a:extLst>
                  <a:ext uri="{FF2B5EF4-FFF2-40B4-BE49-F238E27FC236}">
                    <a16:creationId xmlns:a16="http://schemas.microsoft.com/office/drawing/2014/main" id="{5D4252B3-8C6D-D357-44E8-D99A46939A15}"/>
                  </a:ext>
                </a:extLst>
              </p:cNvPr>
              <p:cNvCxnSpPr>
                <a:cxnSpLocks/>
                <a:stCxn id="282" idx="3"/>
                <a:endCxn id="77" idx="4"/>
              </p:cNvCxnSpPr>
              <p:nvPr/>
            </p:nvCxnSpPr>
            <p:spPr>
              <a:xfrm flipH="1" flipV="1">
                <a:off x="1016760" y="3573887"/>
                <a:ext cx="3250" cy="73152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pic>
          <p:nvPicPr>
            <p:cNvPr id="93" name="Graphic 92" descr="Airplane outline">
              <a:extLst>
                <a:ext uri="{FF2B5EF4-FFF2-40B4-BE49-F238E27FC236}">
                  <a16:creationId xmlns:a16="http://schemas.microsoft.com/office/drawing/2014/main" id="{29D34A19-A061-4585-5443-1E50BBBC615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333873" y="3921041"/>
              <a:ext cx="329046" cy="329046"/>
            </a:xfrm>
            <a:prstGeom prst="rect">
              <a:avLst/>
            </a:prstGeom>
          </p:spPr>
        </p:pic>
      </p:grpSp>
      <p:grpSp>
        <p:nvGrpSpPr>
          <p:cNvPr id="92" name="Group 91">
            <a:extLst>
              <a:ext uri="{FF2B5EF4-FFF2-40B4-BE49-F238E27FC236}">
                <a16:creationId xmlns:a16="http://schemas.microsoft.com/office/drawing/2014/main" id="{D7F89892-FB63-2829-B069-F82DA5450D41}"/>
              </a:ext>
            </a:extLst>
          </p:cNvPr>
          <p:cNvGrpSpPr/>
          <p:nvPr/>
        </p:nvGrpSpPr>
        <p:grpSpPr>
          <a:xfrm>
            <a:off x="6095424" y="3337560"/>
            <a:ext cx="1459851" cy="1105185"/>
            <a:chOff x="885135" y="3310635"/>
            <a:chExt cx="1459851" cy="1105185"/>
          </a:xfrm>
        </p:grpSpPr>
        <p:sp>
          <p:nvSpPr>
            <p:cNvPr id="95" name="Arrow: Right 53">
              <a:extLst>
                <a:ext uri="{FF2B5EF4-FFF2-40B4-BE49-F238E27FC236}">
                  <a16:creationId xmlns:a16="http://schemas.microsoft.com/office/drawing/2014/main" id="{5F8480B3-A389-78ED-AF12-1AD717655E03}"/>
                </a:ext>
              </a:extLst>
            </p:cNvPr>
            <p:cNvSpPr/>
            <p:nvPr/>
          </p:nvSpPr>
          <p:spPr>
            <a:xfrm flipH="1">
              <a:off x="1020010" y="4267805"/>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96" name="Rectangle 373">
              <a:extLst>
                <a:ext uri="{FF2B5EF4-FFF2-40B4-BE49-F238E27FC236}">
                  <a16:creationId xmlns:a16="http://schemas.microsoft.com/office/drawing/2014/main" id="{6985D80B-B066-0E81-6ED0-59A875C7435D}"/>
                </a:ext>
              </a:extLst>
            </p:cNvPr>
            <p:cNvSpPr/>
            <p:nvPr/>
          </p:nvSpPr>
          <p:spPr>
            <a:xfrm flipH="1">
              <a:off x="1097198" y="4193791"/>
              <a:ext cx="1247788" cy="222029"/>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BTD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Zongertinib – 1L NSCLC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97" name="Group 94">
              <a:extLst>
                <a:ext uri="{FF2B5EF4-FFF2-40B4-BE49-F238E27FC236}">
                  <a16:creationId xmlns:a16="http://schemas.microsoft.com/office/drawing/2014/main" id="{F2DDFA62-2D65-ADA5-5686-361E5C3E17A2}"/>
                </a:ext>
              </a:extLst>
            </p:cNvPr>
            <p:cNvGrpSpPr/>
            <p:nvPr/>
          </p:nvGrpSpPr>
          <p:grpSpPr>
            <a:xfrm>
              <a:off x="885135" y="3310635"/>
              <a:ext cx="263250" cy="263252"/>
              <a:chOff x="2124108" y="2977434"/>
              <a:chExt cx="324000" cy="324000"/>
            </a:xfrm>
          </p:grpSpPr>
          <p:sp>
            <p:nvSpPr>
              <p:cNvPr id="99" name="Oval 95">
                <a:extLst>
                  <a:ext uri="{FF2B5EF4-FFF2-40B4-BE49-F238E27FC236}">
                    <a16:creationId xmlns:a16="http://schemas.microsoft.com/office/drawing/2014/main" id="{82E50A8B-640F-5BAF-2980-1C0D44BD6CC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00" name="Oval 96">
                <a:extLst>
                  <a:ext uri="{FF2B5EF4-FFF2-40B4-BE49-F238E27FC236}">
                    <a16:creationId xmlns:a16="http://schemas.microsoft.com/office/drawing/2014/main" id="{EFAA20CD-29C5-B52F-ED8B-76A871FA1C98}"/>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01" name="Graphic 97" descr="Diamond with solid fill">
                <a:extLst>
                  <a:ext uri="{FF2B5EF4-FFF2-40B4-BE49-F238E27FC236}">
                    <a16:creationId xmlns:a16="http://schemas.microsoft.com/office/drawing/2014/main" id="{E3EA827E-FEC6-6785-38A1-700858F44759}"/>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98" name="Straight Connector 379">
              <a:extLst>
                <a:ext uri="{FF2B5EF4-FFF2-40B4-BE49-F238E27FC236}">
                  <a16:creationId xmlns:a16="http://schemas.microsoft.com/office/drawing/2014/main" id="{18A1E4F1-5058-B36C-1F4F-95E6FCE16D78}"/>
                </a:ext>
              </a:extLst>
            </p:cNvPr>
            <p:cNvCxnSpPr>
              <a:cxnSpLocks/>
              <a:stCxn id="95" idx="3"/>
              <a:endCxn id="99" idx="4"/>
            </p:cNvCxnSpPr>
            <p:nvPr/>
          </p:nvCxnSpPr>
          <p:spPr>
            <a:xfrm flipH="1" flipV="1">
              <a:off x="1016760" y="3573887"/>
              <a:ext cx="3250" cy="7377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72F8CC40-1491-6262-B43E-B7EC0715A2C3}"/>
              </a:ext>
            </a:extLst>
          </p:cNvPr>
          <p:cNvGrpSpPr/>
          <p:nvPr/>
        </p:nvGrpSpPr>
        <p:grpSpPr>
          <a:xfrm>
            <a:off x="7331116" y="3315766"/>
            <a:ext cx="1713007" cy="1521221"/>
            <a:chOff x="7331116" y="3315766"/>
            <a:chExt cx="1713007" cy="1521221"/>
          </a:xfrm>
        </p:grpSpPr>
        <p:grpSp>
          <p:nvGrpSpPr>
            <p:cNvPr id="35" name="Group 34">
              <a:extLst>
                <a:ext uri="{FF2B5EF4-FFF2-40B4-BE49-F238E27FC236}">
                  <a16:creationId xmlns:a16="http://schemas.microsoft.com/office/drawing/2014/main" id="{8C39C85E-277B-34B7-5856-B732BA0EB77D}"/>
                </a:ext>
              </a:extLst>
            </p:cNvPr>
            <p:cNvGrpSpPr/>
            <p:nvPr/>
          </p:nvGrpSpPr>
          <p:grpSpPr>
            <a:xfrm>
              <a:off x="7331116" y="3315766"/>
              <a:ext cx="1713007" cy="1521221"/>
              <a:chOff x="6938333" y="3322359"/>
              <a:chExt cx="1713007" cy="1521221"/>
            </a:xfrm>
          </p:grpSpPr>
          <p:grpSp>
            <p:nvGrpSpPr>
              <p:cNvPr id="36" name="Group 35">
                <a:extLst>
                  <a:ext uri="{FF2B5EF4-FFF2-40B4-BE49-F238E27FC236}">
                    <a16:creationId xmlns:a16="http://schemas.microsoft.com/office/drawing/2014/main" id="{EF2A9508-ECA7-2215-826A-B2860E5D1228}"/>
                  </a:ext>
                </a:extLst>
              </p:cNvPr>
              <p:cNvGrpSpPr/>
              <p:nvPr/>
            </p:nvGrpSpPr>
            <p:grpSpPr>
              <a:xfrm>
                <a:off x="6938333" y="3322359"/>
                <a:ext cx="1713007" cy="1521221"/>
                <a:chOff x="6938333" y="3322359"/>
                <a:chExt cx="1713007" cy="1521221"/>
              </a:xfrm>
            </p:grpSpPr>
            <p:grpSp>
              <p:nvGrpSpPr>
                <p:cNvPr id="83" name="Group 332">
                  <a:extLst>
                    <a:ext uri="{FF2B5EF4-FFF2-40B4-BE49-F238E27FC236}">
                      <a16:creationId xmlns:a16="http://schemas.microsoft.com/office/drawing/2014/main" id="{DF80C220-E9CD-DD11-4C44-9B41D9D6CEBF}"/>
                    </a:ext>
                  </a:extLst>
                </p:cNvPr>
                <p:cNvGrpSpPr/>
                <p:nvPr/>
              </p:nvGrpSpPr>
              <p:grpSpPr>
                <a:xfrm>
                  <a:off x="6938333" y="3322359"/>
                  <a:ext cx="263250" cy="263249"/>
                  <a:chOff x="5311199" y="2962865"/>
                  <a:chExt cx="324000" cy="324000"/>
                </a:xfrm>
              </p:grpSpPr>
              <p:sp>
                <p:nvSpPr>
                  <p:cNvPr id="85" name="Oval 336">
                    <a:extLst>
                      <a:ext uri="{FF2B5EF4-FFF2-40B4-BE49-F238E27FC236}">
                        <a16:creationId xmlns:a16="http://schemas.microsoft.com/office/drawing/2014/main" id="{84DD4D6A-DB8C-B6EC-5DA9-6FDA73F70E29}"/>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86" name="Group 337">
                    <a:extLst>
                      <a:ext uri="{FF2B5EF4-FFF2-40B4-BE49-F238E27FC236}">
                        <a16:creationId xmlns:a16="http://schemas.microsoft.com/office/drawing/2014/main" id="{0E7BB660-0EBA-E396-88A0-E55EDDA49753}"/>
                      </a:ext>
                    </a:extLst>
                  </p:cNvPr>
                  <p:cNvGrpSpPr/>
                  <p:nvPr/>
                </p:nvGrpSpPr>
                <p:grpSpPr>
                  <a:xfrm>
                    <a:off x="5373950" y="3024278"/>
                    <a:ext cx="198000" cy="198000"/>
                    <a:chOff x="5411047" y="3113464"/>
                    <a:chExt cx="198000" cy="198000"/>
                  </a:xfrm>
                </p:grpSpPr>
                <p:sp>
                  <p:nvSpPr>
                    <p:cNvPr id="87" name="Oval 338">
                      <a:extLst>
                        <a:ext uri="{FF2B5EF4-FFF2-40B4-BE49-F238E27FC236}">
                          <a16:creationId xmlns:a16="http://schemas.microsoft.com/office/drawing/2014/main" id="{8A167C5F-2848-8D9F-DC6B-EA4E3FCEE73B}"/>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88" name="Graphic 339" descr="Play outline">
                      <a:extLst>
                        <a:ext uri="{FF2B5EF4-FFF2-40B4-BE49-F238E27FC236}">
                          <a16:creationId xmlns:a16="http://schemas.microsoft.com/office/drawing/2014/main" id="{A19C1CE9-496C-155D-4007-822897697C3B}"/>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sp>
              <p:nvSpPr>
                <p:cNvPr id="84" name="Rectangle 373">
                  <a:extLst>
                    <a:ext uri="{FF2B5EF4-FFF2-40B4-BE49-F238E27FC236}">
                      <a16:creationId xmlns:a16="http://schemas.microsoft.com/office/drawing/2014/main" id="{86CEDCE7-03B5-9C2F-18F9-B46EC32F96E0}"/>
                    </a:ext>
                  </a:extLst>
                </p:cNvPr>
                <p:cNvSpPr/>
                <p:nvPr/>
              </p:nvSpPr>
              <p:spPr>
                <a:xfrm flipH="1">
                  <a:off x="7155371" y="4559193"/>
                  <a:ext cx="1495969"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Dareon-Lung-1 pre-IND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1L SCLC </a:t>
                  </a:r>
                </a:p>
              </p:txBody>
            </p:sp>
          </p:grpSp>
          <p:sp>
            <p:nvSpPr>
              <p:cNvPr id="37" name="Arrow: Right 53">
                <a:extLst>
                  <a:ext uri="{FF2B5EF4-FFF2-40B4-BE49-F238E27FC236}">
                    <a16:creationId xmlns:a16="http://schemas.microsoft.com/office/drawing/2014/main" id="{698E43C3-B863-585C-D618-FB0B02EAB49B}"/>
                  </a:ext>
                </a:extLst>
              </p:cNvPr>
              <p:cNvSpPr/>
              <p:nvPr/>
            </p:nvSpPr>
            <p:spPr>
              <a:xfrm flipH="1">
                <a:off x="7069958" y="4656506"/>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cxnSp>
          <p:nvCxnSpPr>
            <p:cNvPr id="90" name="Straight Connector 379">
              <a:extLst>
                <a:ext uri="{FF2B5EF4-FFF2-40B4-BE49-F238E27FC236}">
                  <a16:creationId xmlns:a16="http://schemas.microsoft.com/office/drawing/2014/main" id="{FF1A5EFC-A5D2-B409-F9C0-F2D5385DFC66}"/>
                </a:ext>
              </a:extLst>
            </p:cNvPr>
            <p:cNvCxnSpPr>
              <a:cxnSpLocks/>
            </p:cNvCxnSpPr>
            <p:nvPr/>
          </p:nvCxnSpPr>
          <p:spPr>
            <a:xfrm flipV="1">
              <a:off x="7466097" y="3574007"/>
              <a:ext cx="0" cy="111477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pic>
        <p:nvPicPr>
          <p:cNvPr id="118" name="Graphic 117" descr="Badge Tick with solid fill">
            <a:extLst>
              <a:ext uri="{FF2B5EF4-FFF2-40B4-BE49-F238E27FC236}">
                <a16:creationId xmlns:a16="http://schemas.microsoft.com/office/drawing/2014/main" id="{BE8091B7-F5C0-DBAD-B857-DA29E1BD940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6897917" y="3994858"/>
            <a:ext cx="389214" cy="389214"/>
          </a:xfrm>
          <a:prstGeom prst="rect">
            <a:avLst/>
          </a:prstGeom>
        </p:spPr>
      </p:pic>
      <p:pic>
        <p:nvPicPr>
          <p:cNvPr id="120" name="Graphic 119" descr="Badge Tick with solid fill">
            <a:extLst>
              <a:ext uri="{FF2B5EF4-FFF2-40B4-BE49-F238E27FC236}">
                <a16:creationId xmlns:a16="http://schemas.microsoft.com/office/drawing/2014/main" id="{E9F12F1B-5338-826C-E618-82CDF438F4E2}"/>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526921" y="4234535"/>
            <a:ext cx="389214" cy="389214"/>
          </a:xfrm>
          <a:prstGeom prst="rect">
            <a:avLst/>
          </a:prstGeom>
        </p:spPr>
      </p:pic>
      <p:grpSp>
        <p:nvGrpSpPr>
          <p:cNvPr id="141" name="Group 140">
            <a:extLst>
              <a:ext uri="{FF2B5EF4-FFF2-40B4-BE49-F238E27FC236}">
                <a16:creationId xmlns:a16="http://schemas.microsoft.com/office/drawing/2014/main" id="{F45F24EA-6056-39FF-911A-1A62F0FEA783}"/>
              </a:ext>
            </a:extLst>
          </p:cNvPr>
          <p:cNvGrpSpPr/>
          <p:nvPr/>
        </p:nvGrpSpPr>
        <p:grpSpPr>
          <a:xfrm>
            <a:off x="7035062" y="1747248"/>
            <a:ext cx="2465887" cy="1826759"/>
            <a:chOff x="7035062" y="1747248"/>
            <a:chExt cx="2465887" cy="1826759"/>
          </a:xfrm>
        </p:grpSpPr>
        <p:grpSp>
          <p:nvGrpSpPr>
            <p:cNvPr id="102" name="Group 101">
              <a:extLst>
                <a:ext uri="{FF2B5EF4-FFF2-40B4-BE49-F238E27FC236}">
                  <a16:creationId xmlns:a16="http://schemas.microsoft.com/office/drawing/2014/main" id="{BBF0DD36-2E35-9054-5C4E-2866B115862D}"/>
                </a:ext>
              </a:extLst>
            </p:cNvPr>
            <p:cNvGrpSpPr/>
            <p:nvPr/>
          </p:nvGrpSpPr>
          <p:grpSpPr>
            <a:xfrm>
              <a:off x="7035062" y="2203124"/>
              <a:ext cx="2465887" cy="1370883"/>
              <a:chOff x="7035062" y="2203124"/>
              <a:chExt cx="2465887" cy="1370883"/>
            </a:xfrm>
          </p:grpSpPr>
          <p:grpSp>
            <p:nvGrpSpPr>
              <p:cNvPr id="279" name="Group 94">
                <a:extLst>
                  <a:ext uri="{FF2B5EF4-FFF2-40B4-BE49-F238E27FC236}">
                    <a16:creationId xmlns:a16="http://schemas.microsoft.com/office/drawing/2014/main" id="{811B9512-EA86-508D-4645-B5B4F272AE06}"/>
                  </a:ext>
                </a:extLst>
              </p:cNvPr>
              <p:cNvGrpSpPr/>
              <p:nvPr/>
            </p:nvGrpSpPr>
            <p:grpSpPr>
              <a:xfrm>
                <a:off x="7035062" y="3310755"/>
                <a:ext cx="263250" cy="263252"/>
                <a:chOff x="2124108" y="2977434"/>
                <a:chExt cx="324000" cy="324000"/>
              </a:xfrm>
            </p:grpSpPr>
            <p:sp>
              <p:nvSpPr>
                <p:cNvPr id="33" name="Oval 95">
                  <a:extLst>
                    <a:ext uri="{FF2B5EF4-FFF2-40B4-BE49-F238E27FC236}">
                      <a16:creationId xmlns:a16="http://schemas.microsoft.com/office/drawing/2014/main" id="{02C36ABF-2AFE-E97C-5F15-6C8D10423104}"/>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48" name="Oval 96">
                  <a:extLst>
                    <a:ext uri="{FF2B5EF4-FFF2-40B4-BE49-F238E27FC236}">
                      <a16:creationId xmlns:a16="http://schemas.microsoft.com/office/drawing/2014/main" id="{39A3A789-2713-B785-47CD-DE019DBD1B48}"/>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49" name="Graphic 97" descr="Diamond with solid fill">
                  <a:extLst>
                    <a:ext uri="{FF2B5EF4-FFF2-40B4-BE49-F238E27FC236}">
                      <a16:creationId xmlns:a16="http://schemas.microsoft.com/office/drawing/2014/main" id="{54C977D2-F864-A248-5BE7-AE4CE9273309}"/>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51" name="Arrow: Right 53">
                <a:extLst>
                  <a:ext uri="{FF2B5EF4-FFF2-40B4-BE49-F238E27FC236}">
                    <a16:creationId xmlns:a16="http://schemas.microsoft.com/office/drawing/2014/main" id="{27726D56-22E5-AC7F-4792-89D040230A9A}"/>
                  </a:ext>
                </a:extLst>
              </p:cNvPr>
              <p:cNvSpPr/>
              <p:nvPr/>
            </p:nvSpPr>
            <p:spPr>
              <a:xfrm flipH="1">
                <a:off x="7166687" y="2298462"/>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2" name="Rectangle 373">
                <a:extLst>
                  <a:ext uri="{FF2B5EF4-FFF2-40B4-BE49-F238E27FC236}">
                    <a16:creationId xmlns:a16="http://schemas.microsoft.com/office/drawing/2014/main" id="{4025E8A1-5268-2AC7-A0B9-23661B9B0E74}"/>
                  </a:ext>
                </a:extLst>
              </p:cNvPr>
              <p:cNvSpPr/>
              <p:nvPr/>
            </p:nvSpPr>
            <p:spPr>
              <a:xfrm flipH="1">
                <a:off x="7250375" y="2203124"/>
                <a:ext cx="2250574" cy="293987"/>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US launch for </a:t>
                </a:r>
                <a:r>
                  <a:rPr kumimoji="0" lang="en-US"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sz="813" b="0" i="0" u="none" strike="noStrike" kern="1200" cap="none" spc="0" normalizeH="0" baseline="0" noProof="0">
                    <a:ln>
                      <a:noFill/>
                    </a:ln>
                    <a:solidFill>
                      <a:srgbClr val="123563"/>
                    </a:solidFill>
                    <a:effectLst/>
                    <a:uLnTx/>
                    <a:uFillTx/>
                    <a:latin typeface="Boehringer Forward Text"/>
                    <a:ea typeface="+mn-ea"/>
                    <a:cs typeface="+mn-cs"/>
                  </a:rPr>
                  <a:t> in 2L NSCLC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(8th Aug)</a:t>
                </a:r>
              </a:p>
            </p:txBody>
          </p:sp>
          <p:cxnSp>
            <p:nvCxnSpPr>
              <p:cNvPr id="57" name="Straight Connector 379">
                <a:extLst>
                  <a:ext uri="{FF2B5EF4-FFF2-40B4-BE49-F238E27FC236}">
                    <a16:creationId xmlns:a16="http://schemas.microsoft.com/office/drawing/2014/main" id="{1FCBFF04-E794-4063-3974-B4550C77E8B8}"/>
                  </a:ext>
                </a:extLst>
              </p:cNvPr>
              <p:cNvCxnSpPr>
                <a:cxnSpLocks/>
              </p:cNvCxnSpPr>
              <p:nvPr/>
            </p:nvCxnSpPr>
            <p:spPr>
              <a:xfrm rot="10800000" flipH="1" flipV="1">
                <a:off x="7166687" y="2303388"/>
                <a:ext cx="3250" cy="100584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pic>
          <p:nvPicPr>
            <p:cNvPr id="140" name="Graphic 139" descr="Fireworks with solid fill">
              <a:extLst>
                <a:ext uri="{FF2B5EF4-FFF2-40B4-BE49-F238E27FC236}">
                  <a16:creationId xmlns:a16="http://schemas.microsoft.com/office/drawing/2014/main" id="{DAB953D6-BFE2-B2EF-F770-8B783C5FBB8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250565" y="1747248"/>
              <a:ext cx="488214" cy="488214"/>
            </a:xfrm>
            <a:prstGeom prst="rect">
              <a:avLst/>
            </a:prstGeom>
          </p:spPr>
        </p:pic>
      </p:grpSp>
      <p:sp>
        <p:nvSpPr>
          <p:cNvPr id="106" name="Rectangle 373">
            <a:extLst>
              <a:ext uri="{FF2B5EF4-FFF2-40B4-BE49-F238E27FC236}">
                <a16:creationId xmlns:a16="http://schemas.microsoft.com/office/drawing/2014/main" id="{A0598209-337A-B999-C5AD-3D31F0F00CEF}"/>
              </a:ext>
            </a:extLst>
          </p:cNvPr>
          <p:cNvSpPr/>
          <p:nvPr/>
        </p:nvSpPr>
        <p:spPr>
          <a:xfrm flipH="1">
            <a:off x="7526921" y="5524669"/>
            <a:ext cx="1750405"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err="1">
                <a:ln>
                  <a:noFill/>
                </a:ln>
                <a:solidFill>
                  <a:srgbClr val="123563"/>
                </a:solidFill>
                <a:effectLst/>
                <a:uLnTx/>
                <a:uFillTx/>
                <a:latin typeface="Boehringer Forward Text"/>
                <a:ea typeface="+mn-ea"/>
                <a:cs typeface="+mn-cs"/>
              </a:rPr>
              <a:t>PhIII</a:t>
            </a:r>
            <a:r>
              <a:rPr kumimoji="0" lang="en-US" sz="813" b="0" i="0" u="none" strike="noStrike" kern="1200" cap="none" spc="0" normalizeH="0" baseline="0" noProof="0">
                <a:ln>
                  <a:noFill/>
                </a:ln>
                <a:solidFill>
                  <a:srgbClr val="123563"/>
                </a:solidFill>
                <a:effectLst/>
                <a:uLnTx/>
                <a:uFillTx/>
                <a:latin typeface="Boehringer Forward Text"/>
                <a:ea typeface="+mn-ea"/>
                <a:cs typeface="+mn-cs"/>
              </a:rPr>
              <a:t> CTA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Zongertinib – Adjuvant NSCLC</a:t>
            </a:r>
          </a:p>
        </p:txBody>
      </p:sp>
      <p:sp>
        <p:nvSpPr>
          <p:cNvPr id="107" name="Arrow: Right 53">
            <a:extLst>
              <a:ext uri="{FF2B5EF4-FFF2-40B4-BE49-F238E27FC236}">
                <a16:creationId xmlns:a16="http://schemas.microsoft.com/office/drawing/2014/main" id="{35D25E48-4DB7-5F62-6BBB-17CAAEF2D8A8}"/>
              </a:ext>
            </a:extLst>
          </p:cNvPr>
          <p:cNvSpPr/>
          <p:nvPr/>
        </p:nvSpPr>
        <p:spPr>
          <a:xfrm flipH="1">
            <a:off x="7439171" y="557637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09" name="Group 332">
            <a:extLst>
              <a:ext uri="{FF2B5EF4-FFF2-40B4-BE49-F238E27FC236}">
                <a16:creationId xmlns:a16="http://schemas.microsoft.com/office/drawing/2014/main" id="{46B3DD32-7048-D15C-057F-873B27AFF7A8}"/>
              </a:ext>
            </a:extLst>
          </p:cNvPr>
          <p:cNvGrpSpPr/>
          <p:nvPr/>
        </p:nvGrpSpPr>
        <p:grpSpPr>
          <a:xfrm>
            <a:off x="7296698" y="3300495"/>
            <a:ext cx="263250" cy="263249"/>
            <a:chOff x="5311199" y="2962865"/>
            <a:chExt cx="324000" cy="324000"/>
          </a:xfrm>
        </p:grpSpPr>
        <p:sp>
          <p:nvSpPr>
            <p:cNvPr id="121" name="Oval 336">
              <a:extLst>
                <a:ext uri="{FF2B5EF4-FFF2-40B4-BE49-F238E27FC236}">
                  <a16:creationId xmlns:a16="http://schemas.microsoft.com/office/drawing/2014/main" id="{6BEFAD4E-FEA4-AD4C-2596-2AE1AD43D1A5}"/>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38" name="Group 337">
              <a:extLst>
                <a:ext uri="{FF2B5EF4-FFF2-40B4-BE49-F238E27FC236}">
                  <a16:creationId xmlns:a16="http://schemas.microsoft.com/office/drawing/2014/main" id="{BED22F9C-CD30-A0B1-9C60-CF8CC3B0D41C}"/>
                </a:ext>
              </a:extLst>
            </p:cNvPr>
            <p:cNvGrpSpPr/>
            <p:nvPr/>
          </p:nvGrpSpPr>
          <p:grpSpPr>
            <a:xfrm>
              <a:off x="5373950" y="3024278"/>
              <a:ext cx="198000" cy="198000"/>
              <a:chOff x="5411047" y="3113464"/>
              <a:chExt cx="198000" cy="198000"/>
            </a:xfrm>
          </p:grpSpPr>
          <p:sp>
            <p:nvSpPr>
              <p:cNvPr id="139" name="Oval 338">
                <a:extLst>
                  <a:ext uri="{FF2B5EF4-FFF2-40B4-BE49-F238E27FC236}">
                    <a16:creationId xmlns:a16="http://schemas.microsoft.com/office/drawing/2014/main" id="{B7376AEC-ED41-F7F1-230E-5FE4D08EED1F}"/>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42" name="Graphic 339" descr="Play outline">
                <a:extLst>
                  <a:ext uri="{FF2B5EF4-FFF2-40B4-BE49-F238E27FC236}">
                    <a16:creationId xmlns:a16="http://schemas.microsoft.com/office/drawing/2014/main" id="{913036AB-411F-3022-FDB6-5B893B761A96}"/>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cxnSp>
        <p:nvCxnSpPr>
          <p:cNvPr id="119" name="Straight Connector 379">
            <a:extLst>
              <a:ext uri="{FF2B5EF4-FFF2-40B4-BE49-F238E27FC236}">
                <a16:creationId xmlns:a16="http://schemas.microsoft.com/office/drawing/2014/main" id="{C968234E-298B-DF37-4507-EAC21877E614}"/>
              </a:ext>
            </a:extLst>
          </p:cNvPr>
          <p:cNvCxnSpPr>
            <a:cxnSpLocks/>
            <a:endCxn id="121" idx="4"/>
          </p:cNvCxnSpPr>
          <p:nvPr/>
        </p:nvCxnSpPr>
        <p:spPr>
          <a:xfrm flipH="1" flipV="1">
            <a:off x="7428323" y="3563743"/>
            <a:ext cx="2858" cy="210312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143" name="Graphic 142" descr="Badge Tick with solid fill">
            <a:extLst>
              <a:ext uri="{FF2B5EF4-FFF2-40B4-BE49-F238E27FC236}">
                <a16:creationId xmlns:a16="http://schemas.microsoft.com/office/drawing/2014/main" id="{EEB5B096-A0FF-E931-EA53-39160F37C497}"/>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003963" y="5448262"/>
            <a:ext cx="389214" cy="389214"/>
          </a:xfrm>
          <a:prstGeom prst="rect">
            <a:avLst/>
          </a:prstGeom>
        </p:spPr>
      </p:pic>
      <p:grpSp>
        <p:nvGrpSpPr>
          <p:cNvPr id="53" name="Group 52">
            <a:extLst>
              <a:ext uri="{FF2B5EF4-FFF2-40B4-BE49-F238E27FC236}">
                <a16:creationId xmlns:a16="http://schemas.microsoft.com/office/drawing/2014/main" id="{4D848CEA-112C-3451-7BF2-F1E0A1C6FFFB}"/>
              </a:ext>
            </a:extLst>
          </p:cNvPr>
          <p:cNvGrpSpPr/>
          <p:nvPr/>
        </p:nvGrpSpPr>
        <p:grpSpPr>
          <a:xfrm>
            <a:off x="7346547" y="2532228"/>
            <a:ext cx="1553229" cy="1037018"/>
            <a:chOff x="7346547" y="2532228"/>
            <a:chExt cx="1553229" cy="1037018"/>
          </a:xfrm>
        </p:grpSpPr>
        <p:grpSp>
          <p:nvGrpSpPr>
            <p:cNvPr id="132" name="Group 131">
              <a:extLst>
                <a:ext uri="{FF2B5EF4-FFF2-40B4-BE49-F238E27FC236}">
                  <a16:creationId xmlns:a16="http://schemas.microsoft.com/office/drawing/2014/main" id="{B6D552EB-C017-3611-FFB6-9BB3734055BC}"/>
                </a:ext>
              </a:extLst>
            </p:cNvPr>
            <p:cNvGrpSpPr/>
            <p:nvPr/>
          </p:nvGrpSpPr>
          <p:grpSpPr>
            <a:xfrm>
              <a:off x="7346547" y="2532228"/>
              <a:ext cx="1553229" cy="1037018"/>
              <a:chOff x="7346547" y="2555088"/>
              <a:chExt cx="1553229" cy="1037018"/>
            </a:xfrm>
          </p:grpSpPr>
          <p:grpSp>
            <p:nvGrpSpPr>
              <p:cNvPr id="122" name="Group 94">
                <a:extLst>
                  <a:ext uri="{FF2B5EF4-FFF2-40B4-BE49-F238E27FC236}">
                    <a16:creationId xmlns:a16="http://schemas.microsoft.com/office/drawing/2014/main" id="{AD8BA2C6-0EE5-08FA-781B-D0B8FDD1CE08}"/>
                  </a:ext>
                </a:extLst>
              </p:cNvPr>
              <p:cNvGrpSpPr/>
              <p:nvPr/>
            </p:nvGrpSpPr>
            <p:grpSpPr>
              <a:xfrm>
                <a:off x="8636525" y="3328854"/>
                <a:ext cx="263251" cy="263252"/>
                <a:chOff x="2124103" y="2977439"/>
                <a:chExt cx="324000" cy="324000"/>
              </a:xfrm>
            </p:grpSpPr>
            <p:sp>
              <p:nvSpPr>
                <p:cNvPr id="126" name="Oval 95">
                  <a:extLst>
                    <a:ext uri="{FF2B5EF4-FFF2-40B4-BE49-F238E27FC236}">
                      <a16:creationId xmlns:a16="http://schemas.microsoft.com/office/drawing/2014/main" id="{04096F03-77ED-FDE7-E2DF-552964498F7C}"/>
                    </a:ext>
                  </a:extLst>
                </p:cNvPr>
                <p:cNvSpPr/>
                <p:nvPr/>
              </p:nvSpPr>
              <p:spPr>
                <a:xfrm>
                  <a:off x="2124103" y="2977439"/>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27" name="Oval 96">
                  <a:extLst>
                    <a:ext uri="{FF2B5EF4-FFF2-40B4-BE49-F238E27FC236}">
                      <a16:creationId xmlns:a16="http://schemas.microsoft.com/office/drawing/2014/main" id="{CE748470-E635-852C-23F2-400859B23E4F}"/>
                    </a:ext>
                  </a:extLst>
                </p:cNvPr>
                <p:cNvSpPr/>
                <p:nvPr/>
              </p:nvSpPr>
              <p:spPr>
                <a:xfrm>
                  <a:off x="2187107" y="3040437"/>
                  <a:ext cx="197999"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28" name="Graphic 97" descr="Diamond with solid fill">
                  <a:extLst>
                    <a:ext uri="{FF2B5EF4-FFF2-40B4-BE49-F238E27FC236}">
                      <a16:creationId xmlns:a16="http://schemas.microsoft.com/office/drawing/2014/main" id="{A2BCC59C-0D55-11A4-8B6A-794C56BCA174}"/>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23" name="Arrow: Right 53">
                <a:extLst>
                  <a:ext uri="{FF2B5EF4-FFF2-40B4-BE49-F238E27FC236}">
                    <a16:creationId xmlns:a16="http://schemas.microsoft.com/office/drawing/2014/main" id="{950C2D04-F139-2141-32DF-D66B7CD72994}"/>
                  </a:ext>
                </a:extLst>
              </p:cNvPr>
              <p:cNvSpPr/>
              <p:nvPr/>
            </p:nvSpPr>
            <p:spPr>
              <a:xfrm flipH="1">
                <a:off x="8706553" y="2579666"/>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24" name="Straight Connector 379">
                <a:extLst>
                  <a:ext uri="{FF2B5EF4-FFF2-40B4-BE49-F238E27FC236}">
                    <a16:creationId xmlns:a16="http://schemas.microsoft.com/office/drawing/2014/main" id="{CC278E7C-BBDB-8FEC-BA33-53F624B007D9}"/>
                  </a:ext>
                </a:extLst>
              </p:cNvPr>
              <p:cNvCxnSpPr>
                <a:cxnSpLocks/>
              </p:cNvCxnSpPr>
              <p:nvPr/>
            </p:nvCxnSpPr>
            <p:spPr>
              <a:xfrm flipV="1">
                <a:off x="8794303" y="2555088"/>
                <a:ext cx="0" cy="87979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25" name="Rectangle 373">
                <a:extLst>
                  <a:ext uri="{FF2B5EF4-FFF2-40B4-BE49-F238E27FC236}">
                    <a16:creationId xmlns:a16="http://schemas.microsoft.com/office/drawing/2014/main" id="{47F970CB-EB1D-0427-8D56-70ABBB548651}"/>
                  </a:ext>
                </a:extLst>
              </p:cNvPr>
              <p:cNvSpPr/>
              <p:nvPr/>
            </p:nvSpPr>
            <p:spPr>
              <a:xfrm flipH="1">
                <a:off x="7346547" y="2588095"/>
                <a:ext cx="1340412" cy="35896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US NDA Sub.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1L NSCLC</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30th Sep</a:t>
                </a:r>
              </a:p>
            </p:txBody>
          </p:sp>
        </p:grpSp>
        <p:pic>
          <p:nvPicPr>
            <p:cNvPr id="38" name="Graphic 37" descr="Badge Tick with solid fill">
              <a:extLst>
                <a:ext uri="{FF2B5EF4-FFF2-40B4-BE49-F238E27FC236}">
                  <a16:creationId xmlns:a16="http://schemas.microsoft.com/office/drawing/2014/main" id="{0AF140F3-15CF-A065-2E1C-64422D70C2E8}"/>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265972" y="2954795"/>
              <a:ext cx="389214" cy="389214"/>
            </a:xfrm>
            <a:prstGeom prst="rect">
              <a:avLst/>
            </a:prstGeom>
          </p:spPr>
        </p:pic>
      </p:grpSp>
      <p:grpSp>
        <p:nvGrpSpPr>
          <p:cNvPr id="63" name="Group 62">
            <a:extLst>
              <a:ext uri="{FF2B5EF4-FFF2-40B4-BE49-F238E27FC236}">
                <a16:creationId xmlns:a16="http://schemas.microsoft.com/office/drawing/2014/main" id="{D2C486B9-089D-0550-496C-CCB8057A6951}"/>
              </a:ext>
            </a:extLst>
          </p:cNvPr>
          <p:cNvGrpSpPr/>
          <p:nvPr/>
        </p:nvGrpSpPr>
        <p:grpSpPr>
          <a:xfrm>
            <a:off x="8953957" y="1478683"/>
            <a:ext cx="1484392" cy="2092261"/>
            <a:chOff x="8007886" y="1497303"/>
            <a:chExt cx="1484392" cy="2092261"/>
          </a:xfrm>
        </p:grpSpPr>
        <p:cxnSp>
          <p:nvCxnSpPr>
            <p:cNvPr id="103" name="Straight Connector 93">
              <a:extLst>
                <a:ext uri="{FF2B5EF4-FFF2-40B4-BE49-F238E27FC236}">
                  <a16:creationId xmlns:a16="http://schemas.microsoft.com/office/drawing/2014/main" id="{ED50880D-1818-E45B-9EE3-B6A6D317EFAB}"/>
                </a:ext>
              </a:extLst>
            </p:cNvPr>
            <p:cNvCxnSpPr>
              <a:cxnSpLocks/>
              <a:stCxn id="147" idx="0"/>
              <a:endCxn id="145" idx="1"/>
            </p:cNvCxnSpPr>
            <p:nvPr/>
          </p:nvCxnSpPr>
          <p:spPr>
            <a:xfrm flipV="1">
              <a:off x="9360653" y="1583425"/>
              <a:ext cx="13460" cy="174288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67B0A00E-131C-C299-2576-9F2DEA799F84}"/>
                </a:ext>
              </a:extLst>
            </p:cNvPr>
            <p:cNvGrpSpPr/>
            <p:nvPr/>
          </p:nvGrpSpPr>
          <p:grpSpPr>
            <a:xfrm>
              <a:off x="8007886" y="1497303"/>
              <a:ext cx="1484392" cy="2092261"/>
              <a:chOff x="2398000" y="1499919"/>
              <a:chExt cx="1484392" cy="2092261"/>
            </a:xfrm>
          </p:grpSpPr>
          <p:grpSp>
            <p:nvGrpSpPr>
              <p:cNvPr id="144" name="Group 94">
                <a:extLst>
                  <a:ext uri="{FF2B5EF4-FFF2-40B4-BE49-F238E27FC236}">
                    <a16:creationId xmlns:a16="http://schemas.microsoft.com/office/drawing/2014/main" id="{A238178F-59EA-7701-24B8-97E5DF776887}"/>
                  </a:ext>
                </a:extLst>
              </p:cNvPr>
              <p:cNvGrpSpPr/>
              <p:nvPr/>
            </p:nvGrpSpPr>
            <p:grpSpPr>
              <a:xfrm>
                <a:off x="3619142" y="3328928"/>
                <a:ext cx="263250" cy="263252"/>
                <a:chOff x="2124108" y="2977434"/>
                <a:chExt cx="324000" cy="324000"/>
              </a:xfrm>
            </p:grpSpPr>
            <p:sp>
              <p:nvSpPr>
                <p:cNvPr id="147" name="Oval 95">
                  <a:extLst>
                    <a:ext uri="{FF2B5EF4-FFF2-40B4-BE49-F238E27FC236}">
                      <a16:creationId xmlns:a16="http://schemas.microsoft.com/office/drawing/2014/main" id="{65711E28-2333-A248-3956-6FF700073E8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48" name="Oval 96">
                  <a:extLst>
                    <a:ext uri="{FF2B5EF4-FFF2-40B4-BE49-F238E27FC236}">
                      <a16:creationId xmlns:a16="http://schemas.microsoft.com/office/drawing/2014/main" id="{CBBB1280-4EF0-39CB-D9C6-289DAEC83445}"/>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49" name="Graphic 97" descr="Diamond with solid fill">
                  <a:extLst>
                    <a:ext uri="{FF2B5EF4-FFF2-40B4-BE49-F238E27FC236}">
                      <a16:creationId xmlns:a16="http://schemas.microsoft.com/office/drawing/2014/main" id="{30F90198-B2AE-AB27-A1DD-75EBA1821A3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45" name="Arrow: Right 53">
                <a:extLst>
                  <a:ext uri="{FF2B5EF4-FFF2-40B4-BE49-F238E27FC236}">
                    <a16:creationId xmlns:a16="http://schemas.microsoft.com/office/drawing/2014/main" id="{9206F3E1-1E03-853B-0169-DD05E7BE553B}"/>
                  </a:ext>
                </a:extLst>
              </p:cNvPr>
              <p:cNvSpPr/>
              <p:nvPr/>
            </p:nvSpPr>
            <p:spPr>
              <a:xfrm flipH="1">
                <a:off x="3676477" y="1542165"/>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46" name="Rectangle 373">
                <a:extLst>
                  <a:ext uri="{FF2B5EF4-FFF2-40B4-BE49-F238E27FC236}">
                    <a16:creationId xmlns:a16="http://schemas.microsoft.com/office/drawing/2014/main" id="{4C2FEF2A-1D23-5DD6-4D8C-79C3F10C2ACD}"/>
                  </a:ext>
                </a:extLst>
              </p:cNvPr>
              <p:cNvSpPr/>
              <p:nvPr/>
            </p:nvSpPr>
            <p:spPr>
              <a:xfrm flipH="1">
                <a:off x="2398000" y="1499919"/>
                <a:ext cx="1270243"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in 1L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epNEC</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grpSp>
      <p:grpSp>
        <p:nvGrpSpPr>
          <p:cNvPr id="55" name="Group 54">
            <a:extLst>
              <a:ext uri="{FF2B5EF4-FFF2-40B4-BE49-F238E27FC236}">
                <a16:creationId xmlns:a16="http://schemas.microsoft.com/office/drawing/2014/main" id="{262BCB6D-4A2B-0908-30D3-730E01B1D30B}"/>
              </a:ext>
            </a:extLst>
          </p:cNvPr>
          <p:cNvGrpSpPr/>
          <p:nvPr/>
        </p:nvGrpSpPr>
        <p:grpSpPr>
          <a:xfrm>
            <a:off x="9665155" y="3310755"/>
            <a:ext cx="1896378" cy="1267924"/>
            <a:chOff x="9665155" y="3310755"/>
            <a:chExt cx="1896378" cy="1267924"/>
          </a:xfrm>
        </p:grpSpPr>
        <p:grpSp>
          <p:nvGrpSpPr>
            <p:cNvPr id="117" name="Group 116">
              <a:extLst>
                <a:ext uri="{FF2B5EF4-FFF2-40B4-BE49-F238E27FC236}">
                  <a16:creationId xmlns:a16="http://schemas.microsoft.com/office/drawing/2014/main" id="{4CAE833B-B376-75E7-F9F0-CC07A4C7BD82}"/>
                </a:ext>
              </a:extLst>
            </p:cNvPr>
            <p:cNvGrpSpPr/>
            <p:nvPr/>
          </p:nvGrpSpPr>
          <p:grpSpPr>
            <a:xfrm>
              <a:off x="9665155" y="3310755"/>
              <a:ext cx="1573718" cy="1242741"/>
              <a:chOff x="9665155" y="3310755"/>
              <a:chExt cx="1573718" cy="1242741"/>
            </a:xfrm>
          </p:grpSpPr>
          <p:grpSp>
            <p:nvGrpSpPr>
              <p:cNvPr id="110" name="Group 94">
                <a:extLst>
                  <a:ext uri="{FF2B5EF4-FFF2-40B4-BE49-F238E27FC236}">
                    <a16:creationId xmlns:a16="http://schemas.microsoft.com/office/drawing/2014/main" id="{4398D6EE-3E5F-C70E-61A6-4D7658849F53}"/>
                  </a:ext>
                </a:extLst>
              </p:cNvPr>
              <p:cNvGrpSpPr/>
              <p:nvPr/>
            </p:nvGrpSpPr>
            <p:grpSpPr>
              <a:xfrm>
                <a:off x="9665155" y="3310755"/>
                <a:ext cx="263250" cy="263252"/>
                <a:chOff x="2124108" y="2977434"/>
                <a:chExt cx="324000" cy="324000"/>
              </a:xfrm>
            </p:grpSpPr>
            <p:sp>
              <p:nvSpPr>
                <p:cNvPr id="111" name="Oval 95">
                  <a:extLst>
                    <a:ext uri="{FF2B5EF4-FFF2-40B4-BE49-F238E27FC236}">
                      <a16:creationId xmlns:a16="http://schemas.microsoft.com/office/drawing/2014/main" id="{D4019786-5BC3-85C8-C3FD-7876A803657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12" name="Oval 96">
                  <a:extLst>
                    <a:ext uri="{FF2B5EF4-FFF2-40B4-BE49-F238E27FC236}">
                      <a16:creationId xmlns:a16="http://schemas.microsoft.com/office/drawing/2014/main" id="{D38FB0BD-4405-625D-2A48-2B37008A3BF1}"/>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13" name="Graphic 97" descr="Diamond with solid fill">
                  <a:extLst>
                    <a:ext uri="{FF2B5EF4-FFF2-40B4-BE49-F238E27FC236}">
                      <a16:creationId xmlns:a16="http://schemas.microsoft.com/office/drawing/2014/main" id="{424BC792-8DA6-9004-0194-6CF5E5560AC1}"/>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14" name="Arrow: Right 53">
                <a:extLst>
                  <a:ext uri="{FF2B5EF4-FFF2-40B4-BE49-F238E27FC236}">
                    <a16:creationId xmlns:a16="http://schemas.microsoft.com/office/drawing/2014/main" id="{0AA48B43-F585-EF7C-61F9-593C87A043B2}"/>
                  </a:ext>
                </a:extLst>
              </p:cNvPr>
              <p:cNvSpPr/>
              <p:nvPr/>
            </p:nvSpPr>
            <p:spPr>
              <a:xfrm flipH="1">
                <a:off x="9796780" y="4409922"/>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15" name="Straight Connector 379">
                <a:extLst>
                  <a:ext uri="{FF2B5EF4-FFF2-40B4-BE49-F238E27FC236}">
                    <a16:creationId xmlns:a16="http://schemas.microsoft.com/office/drawing/2014/main" id="{E36B5A48-998E-E6F8-6558-F5DDD95D06A2}"/>
                  </a:ext>
                </a:extLst>
              </p:cNvPr>
              <p:cNvCxnSpPr>
                <a:cxnSpLocks/>
                <a:stCxn id="114" idx="3"/>
                <a:endCxn id="111" idx="4"/>
              </p:cNvCxnSpPr>
              <p:nvPr/>
            </p:nvCxnSpPr>
            <p:spPr>
              <a:xfrm flipV="1">
                <a:off x="9796780" y="3574007"/>
                <a:ext cx="0" cy="87979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16" name="Rectangle 373">
                <a:extLst>
                  <a:ext uri="{FF2B5EF4-FFF2-40B4-BE49-F238E27FC236}">
                    <a16:creationId xmlns:a16="http://schemas.microsoft.com/office/drawing/2014/main" id="{D03F3F49-F147-8C47-60A0-7AEE8D39E8AF}"/>
                  </a:ext>
                </a:extLst>
              </p:cNvPr>
              <p:cNvSpPr/>
              <p:nvPr/>
            </p:nvSpPr>
            <p:spPr>
              <a:xfrm flipH="1">
                <a:off x="9910049" y="4347147"/>
                <a:ext cx="1328824" cy="206349"/>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latin typeface="Boehringer Forward Text"/>
                  </a:rPr>
                  <a:t>NDA Sub. for </a:t>
                </a:r>
                <a:r>
                  <a:rPr lang="en-US" altLang="zh-CN" sz="813" err="1">
                    <a:solidFill>
                      <a:srgbClr val="123563"/>
                    </a:solidFill>
                    <a:latin typeface="Boehringer Forward Text"/>
                  </a:rPr>
                  <a:t>Zongertinib</a:t>
                </a:r>
                <a:r>
                  <a:rPr lang="en-US" altLang="zh-CN" sz="813">
                    <a:solidFill>
                      <a:srgbClr val="123563"/>
                    </a:solidFill>
                    <a:latin typeface="Boehringer Forward Text"/>
                  </a:rPr>
                  <a:t> in 1L NSCLC</a:t>
                </a:r>
              </a:p>
              <a:p>
                <a:pPr>
                  <a:defRPr/>
                </a:pPr>
                <a:r>
                  <a:rPr lang="en-US" sz="813">
                    <a:solidFill>
                      <a:srgbClr val="123563"/>
                    </a:solidFill>
                    <a:latin typeface="Boehringer Forward Text"/>
                  </a:rPr>
                  <a:t>(29th Oct)</a:t>
                </a:r>
              </a:p>
            </p:txBody>
          </p:sp>
        </p:grpSp>
        <p:pic>
          <p:nvPicPr>
            <p:cNvPr id="268" name="Graphic 267" descr="Badge Tick with solid fill">
              <a:extLst>
                <a:ext uri="{FF2B5EF4-FFF2-40B4-BE49-F238E27FC236}">
                  <a16:creationId xmlns:a16="http://schemas.microsoft.com/office/drawing/2014/main" id="{80541D1D-73E8-FEC2-ABC8-5713E74FBF43}"/>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1172319" y="4189465"/>
              <a:ext cx="389214" cy="389214"/>
            </a:xfrm>
            <a:prstGeom prst="rect">
              <a:avLst/>
            </a:prstGeom>
          </p:spPr>
        </p:pic>
      </p:grpSp>
      <p:grpSp>
        <p:nvGrpSpPr>
          <p:cNvPr id="160" name="Group 159">
            <a:extLst>
              <a:ext uri="{FF2B5EF4-FFF2-40B4-BE49-F238E27FC236}">
                <a16:creationId xmlns:a16="http://schemas.microsoft.com/office/drawing/2014/main" id="{675EB8E6-D3A9-CF1B-2B65-D7F69FE14F93}"/>
              </a:ext>
            </a:extLst>
          </p:cNvPr>
          <p:cNvGrpSpPr/>
          <p:nvPr/>
        </p:nvGrpSpPr>
        <p:grpSpPr>
          <a:xfrm>
            <a:off x="8909152" y="423793"/>
            <a:ext cx="263250" cy="3153355"/>
            <a:chOff x="9229028" y="436209"/>
            <a:chExt cx="263250" cy="3153355"/>
          </a:xfrm>
        </p:grpSpPr>
        <p:cxnSp>
          <p:nvCxnSpPr>
            <p:cNvPr id="163" name="Straight Connector 93">
              <a:extLst>
                <a:ext uri="{FF2B5EF4-FFF2-40B4-BE49-F238E27FC236}">
                  <a16:creationId xmlns:a16="http://schemas.microsoft.com/office/drawing/2014/main" id="{E3C2988E-C91F-C1C1-052E-145ED038872E}"/>
                </a:ext>
              </a:extLst>
            </p:cNvPr>
            <p:cNvCxnSpPr>
              <a:cxnSpLocks/>
            </p:cNvCxnSpPr>
            <p:nvPr/>
          </p:nvCxnSpPr>
          <p:spPr>
            <a:xfrm flipV="1">
              <a:off x="9353866" y="436209"/>
              <a:ext cx="13460" cy="292608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64" name="Group 94">
              <a:extLst>
                <a:ext uri="{FF2B5EF4-FFF2-40B4-BE49-F238E27FC236}">
                  <a16:creationId xmlns:a16="http://schemas.microsoft.com/office/drawing/2014/main" id="{180C38C9-10B1-8FA0-1589-FE07BDFAB735}"/>
                </a:ext>
              </a:extLst>
            </p:cNvPr>
            <p:cNvGrpSpPr/>
            <p:nvPr/>
          </p:nvGrpSpPr>
          <p:grpSpPr>
            <a:xfrm>
              <a:off x="9229028" y="3326312"/>
              <a:ext cx="263250" cy="263252"/>
              <a:chOff x="2124108" y="2977434"/>
              <a:chExt cx="324000" cy="324000"/>
            </a:xfrm>
          </p:grpSpPr>
          <p:sp>
            <p:nvSpPr>
              <p:cNvPr id="165" name="Oval 95">
                <a:extLst>
                  <a:ext uri="{FF2B5EF4-FFF2-40B4-BE49-F238E27FC236}">
                    <a16:creationId xmlns:a16="http://schemas.microsoft.com/office/drawing/2014/main" id="{B5E137F4-A802-761D-BA65-A7F444C8B9E4}"/>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66" name="Oval 96">
                <a:extLst>
                  <a:ext uri="{FF2B5EF4-FFF2-40B4-BE49-F238E27FC236}">
                    <a16:creationId xmlns:a16="http://schemas.microsoft.com/office/drawing/2014/main" id="{337AEF58-A56F-AFA3-FA78-7BDE134A1D67}"/>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67" name="Graphic 97" descr="Diamond with solid fill">
                <a:extLst>
                  <a:ext uri="{FF2B5EF4-FFF2-40B4-BE49-F238E27FC236}">
                    <a16:creationId xmlns:a16="http://schemas.microsoft.com/office/drawing/2014/main" id="{B38746D7-9797-27F7-4905-527D330D67C4}"/>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sp>
        <p:nvSpPr>
          <p:cNvPr id="161" name="Arrow: Right 53">
            <a:extLst>
              <a:ext uri="{FF2B5EF4-FFF2-40B4-BE49-F238E27FC236}">
                <a16:creationId xmlns:a16="http://schemas.microsoft.com/office/drawing/2014/main" id="{9BD78CD8-47CE-824C-9AE2-93AD58EB4745}"/>
              </a:ext>
            </a:extLst>
          </p:cNvPr>
          <p:cNvSpPr/>
          <p:nvPr/>
        </p:nvSpPr>
        <p:spPr>
          <a:xfrm flipH="1">
            <a:off x="8960088" y="1294668"/>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71" name="Group 170">
            <a:extLst>
              <a:ext uri="{FF2B5EF4-FFF2-40B4-BE49-F238E27FC236}">
                <a16:creationId xmlns:a16="http://schemas.microsoft.com/office/drawing/2014/main" id="{4698AAD4-A6B7-25E2-4876-DDB3C960ECE2}"/>
              </a:ext>
            </a:extLst>
          </p:cNvPr>
          <p:cNvGrpSpPr/>
          <p:nvPr/>
        </p:nvGrpSpPr>
        <p:grpSpPr>
          <a:xfrm>
            <a:off x="5160145" y="1605180"/>
            <a:ext cx="1785684" cy="1978179"/>
            <a:chOff x="4940657" y="1620465"/>
            <a:chExt cx="1785684" cy="1978179"/>
          </a:xfrm>
        </p:grpSpPr>
        <p:cxnSp>
          <p:nvCxnSpPr>
            <p:cNvPr id="172" name="Straight Connector 93">
              <a:extLst>
                <a:ext uri="{FF2B5EF4-FFF2-40B4-BE49-F238E27FC236}">
                  <a16:creationId xmlns:a16="http://schemas.microsoft.com/office/drawing/2014/main" id="{DD3F69A7-3F94-9A57-537D-10BAA6A3F009}"/>
                </a:ext>
              </a:extLst>
            </p:cNvPr>
            <p:cNvCxnSpPr>
              <a:cxnSpLocks/>
            </p:cNvCxnSpPr>
            <p:nvPr/>
          </p:nvCxnSpPr>
          <p:spPr>
            <a:xfrm flipV="1">
              <a:off x="6594716" y="1620465"/>
              <a:ext cx="13460" cy="182880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173" name="Group 94">
              <a:extLst>
                <a:ext uri="{FF2B5EF4-FFF2-40B4-BE49-F238E27FC236}">
                  <a16:creationId xmlns:a16="http://schemas.microsoft.com/office/drawing/2014/main" id="{7FEB1755-E4A7-08FB-DD19-9AFCECE73603}"/>
                </a:ext>
              </a:extLst>
            </p:cNvPr>
            <p:cNvGrpSpPr/>
            <p:nvPr/>
          </p:nvGrpSpPr>
          <p:grpSpPr>
            <a:xfrm>
              <a:off x="6463091" y="3335392"/>
              <a:ext cx="263250" cy="263252"/>
              <a:chOff x="2124108" y="2977434"/>
              <a:chExt cx="324000" cy="324000"/>
            </a:xfrm>
          </p:grpSpPr>
          <p:sp>
            <p:nvSpPr>
              <p:cNvPr id="177" name="Oval 95">
                <a:extLst>
                  <a:ext uri="{FF2B5EF4-FFF2-40B4-BE49-F238E27FC236}">
                    <a16:creationId xmlns:a16="http://schemas.microsoft.com/office/drawing/2014/main" id="{204D0529-D0D1-257F-87E8-F5C3C817942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78" name="Oval 96">
                <a:extLst>
                  <a:ext uri="{FF2B5EF4-FFF2-40B4-BE49-F238E27FC236}">
                    <a16:creationId xmlns:a16="http://schemas.microsoft.com/office/drawing/2014/main" id="{D355C04E-9CA7-5F0F-6D71-8F7F76CED439}"/>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79" name="Graphic 97" descr="Diamond with solid fill">
                <a:extLst>
                  <a:ext uri="{FF2B5EF4-FFF2-40B4-BE49-F238E27FC236}">
                    <a16:creationId xmlns:a16="http://schemas.microsoft.com/office/drawing/2014/main" id="{1D1A579D-CF65-2C74-F6B5-4895BE10704D}"/>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174" name="Arrow: Right 53">
              <a:extLst>
                <a:ext uri="{FF2B5EF4-FFF2-40B4-BE49-F238E27FC236}">
                  <a16:creationId xmlns:a16="http://schemas.microsoft.com/office/drawing/2014/main" id="{4D03FF87-93D9-5DA6-813E-B99260171077}"/>
                </a:ext>
              </a:extLst>
            </p:cNvPr>
            <p:cNvSpPr/>
            <p:nvPr/>
          </p:nvSpPr>
          <p:spPr>
            <a:xfrm flipH="1">
              <a:off x="6520426" y="2038313"/>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75" name="Rectangle 373">
              <a:extLst>
                <a:ext uri="{FF2B5EF4-FFF2-40B4-BE49-F238E27FC236}">
                  <a16:creationId xmlns:a16="http://schemas.microsoft.com/office/drawing/2014/main" id="{1F20E1D5-77F6-CC18-2F95-F3259D59BB9E}"/>
                </a:ext>
              </a:extLst>
            </p:cNvPr>
            <p:cNvSpPr/>
            <p:nvPr/>
          </p:nvSpPr>
          <p:spPr>
            <a:xfrm flipH="1">
              <a:off x="5051322" y="1973456"/>
              <a:ext cx="1459734"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HPK1 Degrader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RCC, NSCLC, HNSCC</a:t>
              </a:r>
            </a:p>
          </p:txBody>
        </p:sp>
        <p:pic>
          <p:nvPicPr>
            <p:cNvPr id="176" name="Graphic 175" descr="Badge Tick with solid fill">
              <a:extLst>
                <a:ext uri="{FF2B5EF4-FFF2-40B4-BE49-F238E27FC236}">
                  <a16:creationId xmlns:a16="http://schemas.microsoft.com/office/drawing/2014/main" id="{CF8326E6-E99F-7743-A0A9-A26C53D9394D}"/>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4940657" y="1921751"/>
              <a:ext cx="389214" cy="389214"/>
            </a:xfrm>
            <a:prstGeom prst="rect">
              <a:avLst/>
            </a:prstGeom>
          </p:spPr>
        </p:pic>
      </p:grpSp>
      <p:sp>
        <p:nvSpPr>
          <p:cNvPr id="222" name="Arrow: Right 53">
            <a:extLst>
              <a:ext uri="{FF2B5EF4-FFF2-40B4-BE49-F238E27FC236}">
                <a16:creationId xmlns:a16="http://schemas.microsoft.com/office/drawing/2014/main" id="{826FEBBB-4212-B3D6-E166-43C1A6D3E818}"/>
              </a:ext>
            </a:extLst>
          </p:cNvPr>
          <p:cNvSpPr/>
          <p:nvPr/>
        </p:nvSpPr>
        <p:spPr>
          <a:xfrm flipH="1">
            <a:off x="8960088" y="996324"/>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23" name="Rectangle 373">
            <a:extLst>
              <a:ext uri="{FF2B5EF4-FFF2-40B4-BE49-F238E27FC236}">
                <a16:creationId xmlns:a16="http://schemas.microsoft.com/office/drawing/2014/main" id="{143D7CF7-472B-0D60-8344-D9F80DE47909}"/>
              </a:ext>
            </a:extLst>
          </p:cNvPr>
          <p:cNvSpPr/>
          <p:nvPr/>
        </p:nvSpPr>
        <p:spPr>
          <a:xfrm flipH="1">
            <a:off x="7500354" y="940257"/>
            <a:ext cx="1459734" cy="309210"/>
          </a:xfrm>
          <a:prstGeom prst="rect">
            <a:avLst/>
          </a:prstGeom>
          <a:ln>
            <a:noFill/>
          </a:ln>
        </p:spPr>
        <p:style>
          <a:lnRef idx="2">
            <a:schemeClr val="accent2"/>
          </a:lnRef>
          <a:fillRef idx="1">
            <a:schemeClr val="lt1"/>
          </a:fillRef>
          <a:effectRef idx="0">
            <a:schemeClr val="accent2"/>
          </a:effectRef>
          <a:fontRef idx="minor">
            <a:schemeClr val="dk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KRAS G12D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inh</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(BU)</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CRC</a:t>
            </a:r>
          </a:p>
        </p:txBody>
      </p:sp>
      <p:pic>
        <p:nvPicPr>
          <p:cNvPr id="288" name="Graphic 287" descr="Badge Tick with solid fill">
            <a:extLst>
              <a:ext uri="{FF2B5EF4-FFF2-40B4-BE49-F238E27FC236}">
                <a16:creationId xmlns:a16="http://schemas.microsoft.com/office/drawing/2014/main" id="{4E2EC6DB-935E-54D4-4F18-72A9BBBB9312}"/>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013837" y="918744"/>
            <a:ext cx="389214" cy="389214"/>
          </a:xfrm>
          <a:prstGeom prst="rect">
            <a:avLst/>
          </a:prstGeom>
        </p:spPr>
      </p:pic>
      <p:sp>
        <p:nvSpPr>
          <p:cNvPr id="289" name="Arrow: Right 53">
            <a:extLst>
              <a:ext uri="{FF2B5EF4-FFF2-40B4-BE49-F238E27FC236}">
                <a16:creationId xmlns:a16="http://schemas.microsoft.com/office/drawing/2014/main" id="{12D06DD7-6AD1-701B-E35F-9E4BD29DFD71}"/>
              </a:ext>
            </a:extLst>
          </p:cNvPr>
          <p:cNvSpPr/>
          <p:nvPr/>
        </p:nvSpPr>
        <p:spPr>
          <a:xfrm flipH="1">
            <a:off x="8960088" y="426687"/>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90" name="Rectangle 373">
            <a:extLst>
              <a:ext uri="{FF2B5EF4-FFF2-40B4-BE49-F238E27FC236}">
                <a16:creationId xmlns:a16="http://schemas.microsoft.com/office/drawing/2014/main" id="{F71EA428-7157-918B-8400-A9529365131F}"/>
              </a:ext>
            </a:extLst>
          </p:cNvPr>
          <p:cNvSpPr/>
          <p:nvPr/>
        </p:nvSpPr>
        <p:spPr>
          <a:xfrm flipH="1">
            <a:off x="7500354" y="1278048"/>
            <a:ext cx="1459734" cy="309210"/>
          </a:xfrm>
          <a:prstGeom prst="rect">
            <a:avLst/>
          </a:prstGeom>
          <a:ln>
            <a:noFill/>
          </a:ln>
        </p:spPr>
        <p:style>
          <a:lnRef idx="2">
            <a:schemeClr val="accent2"/>
          </a:lnRef>
          <a:fillRef idx="1">
            <a:schemeClr val="lt1"/>
          </a:fillRef>
          <a:effectRef idx="0">
            <a:schemeClr val="accent2"/>
          </a:effectRef>
          <a:fontRef idx="minor">
            <a:schemeClr val="dk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TAG72 ADC</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GC; NSCLC; OC</a:t>
            </a:r>
          </a:p>
        </p:txBody>
      </p:sp>
      <p:pic>
        <p:nvPicPr>
          <p:cNvPr id="291" name="Graphic 290" descr="Badge Tick with solid fill">
            <a:extLst>
              <a:ext uri="{FF2B5EF4-FFF2-40B4-BE49-F238E27FC236}">
                <a16:creationId xmlns:a16="http://schemas.microsoft.com/office/drawing/2014/main" id="{914D06C8-12B3-F461-68C0-53B4B7AD829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19160" y="1256774"/>
            <a:ext cx="389214" cy="389214"/>
          </a:xfrm>
          <a:prstGeom prst="rect">
            <a:avLst/>
          </a:prstGeom>
        </p:spPr>
      </p:pic>
      <p:sp>
        <p:nvSpPr>
          <p:cNvPr id="292" name="Arrow: Right 53">
            <a:extLst>
              <a:ext uri="{FF2B5EF4-FFF2-40B4-BE49-F238E27FC236}">
                <a16:creationId xmlns:a16="http://schemas.microsoft.com/office/drawing/2014/main" id="{A0243A22-71E0-FE75-D1BD-93A0BA722D2E}"/>
              </a:ext>
            </a:extLst>
          </p:cNvPr>
          <p:cNvSpPr/>
          <p:nvPr/>
        </p:nvSpPr>
        <p:spPr>
          <a:xfrm flipH="1">
            <a:off x="6739039" y="1608076"/>
            <a:ext cx="87750" cy="87751"/>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93" name="Rectangle 373">
            <a:extLst>
              <a:ext uri="{FF2B5EF4-FFF2-40B4-BE49-F238E27FC236}">
                <a16:creationId xmlns:a16="http://schemas.microsoft.com/office/drawing/2014/main" id="{DD5DEFE3-F5A5-0666-44CC-150FC3E44C41}"/>
              </a:ext>
            </a:extLst>
          </p:cNvPr>
          <p:cNvSpPr/>
          <p:nvPr/>
        </p:nvSpPr>
        <p:spPr>
          <a:xfrm flipH="1">
            <a:off x="5264855" y="1548299"/>
            <a:ext cx="1459734" cy="30921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LY6K-HLA/CD3</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rgbClr val="123563"/>
                </a:solidFill>
                <a:effectLst/>
                <a:uLnTx/>
                <a:uFillTx/>
                <a:latin typeface="Boehringer Forward Text"/>
                <a:ea typeface="+mn-ea"/>
                <a:cs typeface="+mn-cs"/>
              </a:rPr>
              <a:t>NSCLC, HNSCC</a:t>
            </a:r>
          </a:p>
        </p:txBody>
      </p:sp>
      <p:pic>
        <p:nvPicPr>
          <p:cNvPr id="294" name="Graphic 293" descr="Badge Tick with solid fill">
            <a:extLst>
              <a:ext uri="{FF2B5EF4-FFF2-40B4-BE49-F238E27FC236}">
                <a16:creationId xmlns:a16="http://schemas.microsoft.com/office/drawing/2014/main" id="{F4D52F4A-B973-C756-3FFF-C101DBB195F6}"/>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154190" y="1496594"/>
            <a:ext cx="389214" cy="389214"/>
          </a:xfrm>
          <a:prstGeom prst="rect">
            <a:avLst/>
          </a:prstGeom>
        </p:spPr>
      </p:pic>
      <p:sp>
        <p:nvSpPr>
          <p:cNvPr id="299" name="Rectangle 373">
            <a:extLst>
              <a:ext uri="{FF2B5EF4-FFF2-40B4-BE49-F238E27FC236}">
                <a16:creationId xmlns:a16="http://schemas.microsoft.com/office/drawing/2014/main" id="{4150B357-1556-B073-65D5-BEE12C4027A1}"/>
              </a:ext>
            </a:extLst>
          </p:cNvPr>
          <p:cNvSpPr/>
          <p:nvPr/>
        </p:nvSpPr>
        <p:spPr>
          <a:xfrm flipH="1">
            <a:off x="7500352" y="405724"/>
            <a:ext cx="1459735" cy="508553"/>
          </a:xfrm>
          <a:prstGeom prst="rect">
            <a:avLst/>
          </a:prstGeom>
          <a:ln>
            <a:noFill/>
          </a:ln>
        </p:spPr>
        <p:style>
          <a:lnRef idx="2">
            <a:schemeClr val="accent2"/>
          </a:lnRef>
          <a:fillRef idx="1">
            <a:schemeClr val="lt1"/>
          </a:fillRef>
          <a:effectRef idx="0">
            <a:schemeClr val="accent2"/>
          </a:effectRef>
          <a:fontRef idx="minor">
            <a:schemeClr val="dk1"/>
          </a:fontRef>
        </p:style>
        <p:txBody>
          <a:bodyPr lIns="29250" rIns="2925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nSOD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endPar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Pan-tumor HER2+</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Pan-tumor HER2m</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nSOD</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CRC</a:t>
            </a:r>
          </a:p>
        </p:txBody>
      </p:sp>
      <p:pic>
        <p:nvPicPr>
          <p:cNvPr id="300" name="Graphic 299" descr="Badge Tick with solid fill">
            <a:extLst>
              <a:ext uri="{FF2B5EF4-FFF2-40B4-BE49-F238E27FC236}">
                <a16:creationId xmlns:a16="http://schemas.microsoft.com/office/drawing/2014/main" id="{C88C8297-BE3D-8ECB-A75B-CFCCEB097F9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092524" y="278522"/>
            <a:ext cx="389214" cy="389214"/>
          </a:xfrm>
          <a:prstGeom prst="rect">
            <a:avLst/>
          </a:prstGeom>
        </p:spPr>
      </p:pic>
      <p:pic>
        <p:nvPicPr>
          <p:cNvPr id="302" name="Graphic 301" descr="Badge Tick with solid fill">
            <a:extLst>
              <a:ext uri="{FF2B5EF4-FFF2-40B4-BE49-F238E27FC236}">
                <a16:creationId xmlns:a16="http://schemas.microsoft.com/office/drawing/2014/main" id="{87E44D99-516B-80FC-C6FF-A44A20E35183}"/>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1011277" y="2742536"/>
            <a:ext cx="389214" cy="389214"/>
          </a:xfrm>
          <a:prstGeom prst="rect">
            <a:avLst/>
          </a:prstGeom>
        </p:spPr>
      </p:pic>
      <p:grpSp>
        <p:nvGrpSpPr>
          <p:cNvPr id="256" name="Group 62">
            <a:extLst>
              <a:ext uri="{FF2B5EF4-FFF2-40B4-BE49-F238E27FC236}">
                <a16:creationId xmlns:a16="http://schemas.microsoft.com/office/drawing/2014/main" id="{68A22C1F-C762-0AE3-0430-8CC6E33EAA3A}"/>
              </a:ext>
            </a:extLst>
          </p:cNvPr>
          <p:cNvGrpSpPr/>
          <p:nvPr/>
        </p:nvGrpSpPr>
        <p:grpSpPr>
          <a:xfrm>
            <a:off x="10870219" y="0"/>
            <a:ext cx="546747" cy="6862302"/>
            <a:chOff x="1155349" y="1057179"/>
            <a:chExt cx="546747" cy="4601037"/>
          </a:xfrm>
        </p:grpSpPr>
        <p:cxnSp>
          <p:nvCxnSpPr>
            <p:cNvPr id="266" name="Straight Connector 63">
              <a:extLst>
                <a:ext uri="{FF2B5EF4-FFF2-40B4-BE49-F238E27FC236}">
                  <a16:creationId xmlns:a16="http://schemas.microsoft.com/office/drawing/2014/main" id="{B7B4F8EF-674F-FE25-0861-EF8F9CAAF7AC}"/>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67" name="OTLSHAPE_T_e17f3958430f4cff8650518c93c7635e_StartDate">
              <a:extLst>
                <a:ext uri="{FF2B5EF4-FFF2-40B4-BE49-F238E27FC236}">
                  <a16:creationId xmlns:a16="http://schemas.microsoft.com/office/drawing/2014/main" id="{88EA552D-8DF6-9DC6-1F36-C3F226FDEA37}"/>
                </a:ext>
              </a:extLst>
            </p:cNvPr>
            <p:cNvSpPr txBox="1"/>
            <p:nvPr>
              <p:custDataLst>
                <p:tags r:id="rId1"/>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grpSp>
        <p:nvGrpSpPr>
          <p:cNvPr id="28" name="Group 27">
            <a:extLst>
              <a:ext uri="{FF2B5EF4-FFF2-40B4-BE49-F238E27FC236}">
                <a16:creationId xmlns:a16="http://schemas.microsoft.com/office/drawing/2014/main" id="{A3CE3B9A-9F57-0F0C-8A13-ABBD5C42A909}"/>
              </a:ext>
            </a:extLst>
          </p:cNvPr>
          <p:cNvGrpSpPr/>
          <p:nvPr/>
        </p:nvGrpSpPr>
        <p:grpSpPr>
          <a:xfrm>
            <a:off x="10621676" y="3313860"/>
            <a:ext cx="1692715" cy="1712376"/>
            <a:chOff x="10547936" y="3313860"/>
            <a:chExt cx="1692715" cy="1712376"/>
          </a:xfrm>
        </p:grpSpPr>
        <p:grpSp>
          <p:nvGrpSpPr>
            <p:cNvPr id="89" name="Group 88">
              <a:extLst>
                <a:ext uri="{FF2B5EF4-FFF2-40B4-BE49-F238E27FC236}">
                  <a16:creationId xmlns:a16="http://schemas.microsoft.com/office/drawing/2014/main" id="{E3076941-EDAC-02C5-2DCB-87D7E3A018D3}"/>
                </a:ext>
              </a:extLst>
            </p:cNvPr>
            <p:cNvGrpSpPr/>
            <p:nvPr/>
          </p:nvGrpSpPr>
          <p:grpSpPr>
            <a:xfrm>
              <a:off x="10547936" y="3313860"/>
              <a:ext cx="1473099" cy="1521221"/>
              <a:chOff x="9878867" y="3313860"/>
              <a:chExt cx="1473099" cy="1521221"/>
            </a:xfrm>
          </p:grpSpPr>
          <p:grpSp>
            <p:nvGrpSpPr>
              <p:cNvPr id="275" name="Group 274">
                <a:extLst>
                  <a:ext uri="{FF2B5EF4-FFF2-40B4-BE49-F238E27FC236}">
                    <a16:creationId xmlns:a16="http://schemas.microsoft.com/office/drawing/2014/main" id="{4EDFE0CF-47F8-C53D-A4D6-CC05C99D2191}"/>
                  </a:ext>
                </a:extLst>
              </p:cNvPr>
              <p:cNvGrpSpPr/>
              <p:nvPr/>
            </p:nvGrpSpPr>
            <p:grpSpPr>
              <a:xfrm>
                <a:off x="9878867" y="3313860"/>
                <a:ext cx="1473099" cy="1521221"/>
                <a:chOff x="6938333" y="3322359"/>
                <a:chExt cx="1473099" cy="1521221"/>
              </a:xfrm>
            </p:grpSpPr>
            <p:grpSp>
              <p:nvGrpSpPr>
                <p:cNvPr id="269" name="Group 268">
                  <a:extLst>
                    <a:ext uri="{FF2B5EF4-FFF2-40B4-BE49-F238E27FC236}">
                      <a16:creationId xmlns:a16="http://schemas.microsoft.com/office/drawing/2014/main" id="{73E283DF-0DAF-B8ED-D293-7E92EC487AA5}"/>
                    </a:ext>
                  </a:extLst>
                </p:cNvPr>
                <p:cNvGrpSpPr/>
                <p:nvPr/>
              </p:nvGrpSpPr>
              <p:grpSpPr>
                <a:xfrm>
                  <a:off x="6938333" y="3322359"/>
                  <a:ext cx="1473099" cy="1521221"/>
                  <a:chOff x="6938333" y="3322359"/>
                  <a:chExt cx="1473099" cy="1521221"/>
                </a:xfrm>
              </p:grpSpPr>
              <p:grpSp>
                <p:nvGrpSpPr>
                  <p:cNvPr id="153" name="Group 332">
                    <a:extLst>
                      <a:ext uri="{FF2B5EF4-FFF2-40B4-BE49-F238E27FC236}">
                        <a16:creationId xmlns:a16="http://schemas.microsoft.com/office/drawing/2014/main" id="{DF119738-176A-258C-BAA0-64F94BF279A6}"/>
                      </a:ext>
                    </a:extLst>
                  </p:cNvPr>
                  <p:cNvGrpSpPr/>
                  <p:nvPr/>
                </p:nvGrpSpPr>
                <p:grpSpPr>
                  <a:xfrm>
                    <a:off x="6938333" y="3322359"/>
                    <a:ext cx="263250" cy="263249"/>
                    <a:chOff x="5311199" y="2962865"/>
                    <a:chExt cx="324000" cy="324000"/>
                  </a:xfrm>
                </p:grpSpPr>
                <p:sp>
                  <p:nvSpPr>
                    <p:cNvPr id="156" name="Oval 336">
                      <a:extLst>
                        <a:ext uri="{FF2B5EF4-FFF2-40B4-BE49-F238E27FC236}">
                          <a16:creationId xmlns:a16="http://schemas.microsoft.com/office/drawing/2014/main" id="{7E9F9E2D-A549-13E9-9039-86380887439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57" name="Group 337">
                      <a:extLst>
                        <a:ext uri="{FF2B5EF4-FFF2-40B4-BE49-F238E27FC236}">
                          <a16:creationId xmlns:a16="http://schemas.microsoft.com/office/drawing/2014/main" id="{92EB6824-EB9C-2084-B319-5CE8CAEA5EC9}"/>
                        </a:ext>
                      </a:extLst>
                    </p:cNvPr>
                    <p:cNvGrpSpPr/>
                    <p:nvPr/>
                  </p:nvGrpSpPr>
                  <p:grpSpPr>
                    <a:xfrm>
                      <a:off x="5373950" y="3024278"/>
                      <a:ext cx="198000" cy="198000"/>
                      <a:chOff x="5411047" y="3113464"/>
                      <a:chExt cx="198000" cy="198000"/>
                    </a:xfrm>
                  </p:grpSpPr>
                  <p:sp>
                    <p:nvSpPr>
                      <p:cNvPr id="158" name="Oval 338">
                        <a:extLst>
                          <a:ext uri="{FF2B5EF4-FFF2-40B4-BE49-F238E27FC236}">
                            <a16:creationId xmlns:a16="http://schemas.microsoft.com/office/drawing/2014/main" id="{9C6FF90A-CA92-0CC7-3369-E3CDEE53E09D}"/>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59" name="Graphic 339" descr="Play outline">
                        <a:extLst>
                          <a:ext uri="{FF2B5EF4-FFF2-40B4-BE49-F238E27FC236}">
                            <a16:creationId xmlns:a16="http://schemas.microsoft.com/office/drawing/2014/main" id="{F0DD6CC1-C3AA-8970-705A-99E637D2ADAF}"/>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445462" y="3137223"/>
                        <a:ext cx="158314" cy="158314"/>
                      </a:xfrm>
                      <a:prstGeom prst="rect">
                        <a:avLst/>
                      </a:prstGeom>
                    </p:spPr>
                  </p:pic>
                </p:grpSp>
              </p:grpSp>
              <p:sp>
                <p:nvSpPr>
                  <p:cNvPr id="19" name="Rectangle 373">
                    <a:extLst>
                      <a:ext uri="{FF2B5EF4-FFF2-40B4-BE49-F238E27FC236}">
                        <a16:creationId xmlns:a16="http://schemas.microsoft.com/office/drawing/2014/main" id="{CA3C31C5-A2F2-6988-DB15-A1C17EF6D5A6}"/>
                      </a:ext>
                    </a:extLst>
                  </p:cNvPr>
                  <p:cNvSpPr/>
                  <p:nvPr/>
                </p:nvSpPr>
                <p:spPr>
                  <a:xfrm flipH="1">
                    <a:off x="7155373" y="4559193"/>
                    <a:ext cx="1256059" cy="284387"/>
                  </a:xfrm>
                  <a:prstGeom prst="rect">
                    <a:avLst/>
                  </a:prstGeom>
                  <a:no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13" b="0" i="0" u="none" strike="noStrike" kern="1200" cap="none" spc="0" normalizeH="0" baseline="0" noProof="0">
                        <a:ln>
                          <a:noFill/>
                        </a:ln>
                        <a:solidFill>
                          <a:schemeClr val="tx2"/>
                        </a:solidFill>
                        <a:effectLst/>
                        <a:uLnTx/>
                        <a:uFillTx/>
                        <a:latin typeface="Boehringer Forward Text"/>
                        <a:ea typeface="+mn-ea"/>
                        <a:cs typeface="+mn-cs"/>
                      </a:rPr>
                      <a:t>Dareon-Lung-1 CTA Sub.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chemeClr val="tx2"/>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chemeClr val="tx2"/>
                        </a:solidFill>
                        <a:effectLst/>
                        <a:uLnTx/>
                        <a:uFillTx/>
                        <a:latin typeface="Boehringer Forward Text"/>
                        <a:ea typeface="+mn-ea"/>
                        <a:cs typeface="+mn-cs"/>
                      </a:rPr>
                      <a:t> – 1L SCLC </a:t>
                    </a:r>
                  </a:p>
                </p:txBody>
              </p:sp>
            </p:grpSp>
            <p:sp>
              <p:nvSpPr>
                <p:cNvPr id="22" name="Arrow: Right 53">
                  <a:extLst>
                    <a:ext uri="{FF2B5EF4-FFF2-40B4-BE49-F238E27FC236}">
                      <a16:creationId xmlns:a16="http://schemas.microsoft.com/office/drawing/2014/main" id="{DB3CF25B-AFD5-D795-12AE-4FC0748D4E74}"/>
                    </a:ext>
                  </a:extLst>
                </p:cNvPr>
                <p:cNvSpPr/>
                <p:nvPr/>
              </p:nvSpPr>
              <p:spPr>
                <a:xfrm flipH="1">
                  <a:off x="7069958" y="4656506"/>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cxnSp>
            <p:nvCxnSpPr>
              <p:cNvPr id="23" name="Straight Connector 379">
                <a:extLst>
                  <a:ext uri="{FF2B5EF4-FFF2-40B4-BE49-F238E27FC236}">
                    <a16:creationId xmlns:a16="http://schemas.microsoft.com/office/drawing/2014/main" id="{C1AD98F7-63CB-EE52-7434-6BB84BEB4FF0}"/>
                  </a:ext>
                </a:extLst>
              </p:cNvPr>
              <p:cNvCxnSpPr>
                <a:cxnSpLocks/>
                <a:stCxn id="22" idx="3"/>
                <a:endCxn id="156" idx="4"/>
              </p:cNvCxnSpPr>
              <p:nvPr/>
            </p:nvCxnSpPr>
            <p:spPr>
              <a:xfrm flipV="1">
                <a:off x="10010492" y="3577109"/>
                <a:ext cx="0" cy="111477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pic>
          <p:nvPicPr>
            <p:cNvPr id="5" name="Graphic 4" descr="Badge Tick with solid fill">
              <a:extLst>
                <a:ext uri="{FF2B5EF4-FFF2-40B4-BE49-F238E27FC236}">
                  <a16:creationId xmlns:a16="http://schemas.microsoft.com/office/drawing/2014/main" id="{B079994D-F3CE-229A-3835-569FA9166CE2}"/>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1851437" y="4637022"/>
              <a:ext cx="389214" cy="389214"/>
            </a:xfrm>
            <a:prstGeom prst="rect">
              <a:avLst/>
            </a:prstGeom>
          </p:spPr>
        </p:pic>
      </p:grpSp>
    </p:spTree>
    <p:extLst>
      <p:ext uri="{BB962C8B-B14F-4D97-AF65-F5344CB8AC3E}">
        <p14:creationId xmlns:p14="http://schemas.microsoft.com/office/powerpoint/2010/main" val="232789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 Project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4</a:t>
            </a:fld>
            <a:endParaRPr lang="en-US"/>
          </a:p>
        </p:txBody>
      </p:sp>
    </p:spTree>
    <p:extLst>
      <p:ext uri="{BB962C8B-B14F-4D97-AF65-F5344CB8AC3E}">
        <p14:creationId xmlns:p14="http://schemas.microsoft.com/office/powerpoint/2010/main" val="6650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0B5201D-B3D6-EB54-09E0-5140F95F9576}"/>
              </a:ext>
            </a:extLst>
          </p:cNvPr>
          <p:cNvSpPr>
            <a:spLocks noGrp="1"/>
          </p:cNvSpPr>
          <p:nvPr>
            <p:ph type="title"/>
          </p:nvPr>
        </p:nvSpPr>
        <p:spPr>
          <a:xfrm>
            <a:off x="479422" y="1412876"/>
            <a:ext cx="9045577" cy="1799861"/>
          </a:xfrm>
        </p:spPr>
        <p:txBody>
          <a:bodyPr/>
          <a:lstStyle/>
          <a:p>
            <a:r>
              <a:rPr lang="en-US" altLang="zh-CN"/>
              <a:t>Zongertinib (BI 1810631, HER2 TKI)</a:t>
            </a:r>
            <a:endParaRPr lang="zh-CN" altLang="en-US"/>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r>
              <a:rPr lang="en-US" altLang="zh-CN" sz="2400" b="1" u="sng"/>
              <a:t>P1-Lung</a:t>
            </a:r>
            <a:endParaRPr lang="zh-CN" altLang="en-US" sz="2400" b="1" u="sng"/>
          </a:p>
        </p:txBody>
      </p:sp>
      <p:sp>
        <p:nvSpPr>
          <p:cNvPr id="4" name="Slide Number Placeholder 3">
            <a:extLst>
              <a:ext uri="{FF2B5EF4-FFF2-40B4-BE49-F238E27FC236}">
                <a16:creationId xmlns:a16="http://schemas.microsoft.com/office/drawing/2014/main" id="{89E89E5C-4F9B-D5DD-4BB7-D3CE469EBEF4}"/>
              </a:ext>
            </a:extLst>
          </p:cNvPr>
          <p:cNvSpPr>
            <a:spLocks noGrp="1"/>
          </p:cNvSpPr>
          <p:nvPr>
            <p:ph type="sldNum" sz="quarter" idx="16"/>
          </p:nvPr>
        </p:nvSpPr>
        <p:spPr/>
        <p:txBody>
          <a:bodyPr/>
          <a:lstStyle/>
          <a:p>
            <a:fld id="{8FF9B0DE-3FEB-4AA0-B465-B80EF7C1333D}" type="slidenum">
              <a:rPr lang="en-US" smtClean="0"/>
              <a:pPr/>
              <a:t>5</a:t>
            </a:fld>
            <a:endParaRPr lang="en-US"/>
          </a:p>
        </p:txBody>
      </p:sp>
    </p:spTree>
    <p:extLst>
      <p:ext uri="{BB962C8B-B14F-4D97-AF65-F5344CB8AC3E}">
        <p14:creationId xmlns:p14="http://schemas.microsoft.com/office/powerpoint/2010/main" val="2163837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7323-BECE-BAF1-1D1D-63AD72910C8D}"/>
            </a:ext>
          </a:extLst>
        </p:cNvPr>
        <p:cNvGrpSpPr/>
        <p:nvPr/>
      </p:nvGrpSpPr>
      <p:grpSpPr>
        <a:xfrm>
          <a:off x="0" y="0"/>
          <a:ext cx="0" cy="0"/>
          <a:chOff x="0" y="0"/>
          <a:chExt cx="0" cy="0"/>
        </a:xfrm>
      </p:grpSpPr>
      <p:sp>
        <p:nvSpPr>
          <p:cNvPr id="9" name="标题 1">
            <a:extLst>
              <a:ext uri="{FF2B5EF4-FFF2-40B4-BE49-F238E27FC236}">
                <a16:creationId xmlns:a16="http://schemas.microsoft.com/office/drawing/2014/main" id="{CBC83081-4E6D-88E3-42DF-5255642F1997}"/>
              </a:ext>
            </a:extLst>
          </p:cNvPr>
          <p:cNvSpPr>
            <a:spLocks noGrp="1"/>
          </p:cNvSpPr>
          <p:nvPr>
            <p:ph type="title"/>
          </p:nvPr>
        </p:nvSpPr>
        <p:spPr>
          <a:xfrm>
            <a:off x="173188" y="271174"/>
            <a:ext cx="11233151" cy="720000"/>
          </a:xfrm>
        </p:spPr>
        <p:txBody>
          <a:bodyPr/>
          <a:lstStyle/>
          <a:p>
            <a:r>
              <a:rPr lang="en-US" altLang="zh-CN"/>
              <a:t>Patients Enrollment for </a:t>
            </a:r>
            <a:r>
              <a:rPr lang="en-US" altLang="zh-CN" err="1"/>
              <a:t>Beamion</a:t>
            </a:r>
            <a:r>
              <a:rPr lang="en-US" altLang="zh-CN"/>
              <a:t> LUNG-1 Cohort 9</a:t>
            </a:r>
            <a:br>
              <a:rPr lang="en-US" altLang="zh-CN"/>
            </a:br>
            <a:r>
              <a:rPr lang="en-US" altLang="zh-CN" sz="2400">
                <a:solidFill>
                  <a:schemeClr val="tx2"/>
                </a:solidFill>
              </a:rPr>
              <a:t>27</a:t>
            </a:r>
            <a:r>
              <a:rPr lang="en-US" altLang="zh-CN" sz="2400"/>
              <a:t> </a:t>
            </a:r>
            <a:r>
              <a:rPr lang="en-US" altLang="zh-CN" sz="1800" b="0"/>
              <a:t>pts were enrolled by Dec 12</a:t>
            </a:r>
            <a:r>
              <a:rPr lang="en-US" altLang="zh-CN" sz="1800" b="0" baseline="30000"/>
              <a:t>th</a:t>
            </a:r>
            <a:r>
              <a:rPr lang="en-US" altLang="zh-CN" sz="1800" b="0"/>
              <a:t>, 2025,  </a:t>
            </a:r>
            <a:r>
              <a:rPr lang="en-US" altLang="zh-CN" sz="1800">
                <a:solidFill>
                  <a:schemeClr val="tx2"/>
                </a:solidFill>
              </a:rPr>
              <a:t>4.5</a:t>
            </a:r>
            <a:r>
              <a:rPr lang="en-US" altLang="zh-CN" sz="1800" b="0"/>
              <a:t> months ahead of plan</a:t>
            </a:r>
            <a:endParaRPr lang="en-US" sz="2000"/>
          </a:p>
        </p:txBody>
      </p:sp>
      <p:sp>
        <p:nvSpPr>
          <p:cNvPr id="11" name="文本框 10">
            <a:extLst>
              <a:ext uri="{FF2B5EF4-FFF2-40B4-BE49-F238E27FC236}">
                <a16:creationId xmlns:a16="http://schemas.microsoft.com/office/drawing/2014/main" id="{823F0EF5-1E41-A2D3-CA9A-F331E5F104D9}"/>
              </a:ext>
            </a:extLst>
          </p:cNvPr>
          <p:cNvSpPr txBox="1"/>
          <p:nvPr/>
        </p:nvSpPr>
        <p:spPr bwMode="gray">
          <a:xfrm>
            <a:off x="4703420" y="1161622"/>
            <a:ext cx="3148781" cy="315920"/>
          </a:xfrm>
          <a:prstGeom prst="rect">
            <a:avLst/>
          </a:prstGeom>
          <a:noFill/>
        </p:spPr>
        <p:txBody>
          <a:bodyPr wrap="square" lIns="0" tIns="0" rIns="0" bIns="0" rtlCol="0">
            <a:spAutoFit/>
          </a:bodyPr>
          <a:lstStyle/>
          <a:p>
            <a:pPr algn="l">
              <a:lnSpc>
                <a:spcPct val="140000"/>
              </a:lnSpc>
            </a:pPr>
            <a:r>
              <a:rPr lang="en-US" altLang="zh-CN" sz="1600" b="1"/>
              <a:t>Accelerated Plan- Updated</a:t>
            </a:r>
            <a:endParaRPr lang="zh-CN" altLang="en-US" sz="1600" b="1"/>
          </a:p>
        </p:txBody>
      </p:sp>
      <p:graphicFrame>
        <p:nvGraphicFramePr>
          <p:cNvPr id="13" name="Chart 6">
            <a:extLst>
              <a:ext uri="{FF2B5EF4-FFF2-40B4-BE49-F238E27FC236}">
                <a16:creationId xmlns:a16="http://schemas.microsoft.com/office/drawing/2014/main" id="{73207099-613B-4188-B37D-91BA5B30A0AB}"/>
              </a:ext>
            </a:extLst>
          </p:cNvPr>
          <p:cNvGraphicFramePr>
            <a:graphicFrameLocks/>
          </p:cNvGraphicFramePr>
          <p:nvPr>
            <p:extLst>
              <p:ext uri="{D42A27DB-BD31-4B8C-83A1-F6EECF244321}">
                <p14:modId xmlns:p14="http://schemas.microsoft.com/office/powerpoint/2010/main" val="674867192"/>
              </p:ext>
            </p:extLst>
          </p:nvPr>
        </p:nvGraphicFramePr>
        <p:xfrm>
          <a:off x="1785561" y="1647990"/>
          <a:ext cx="8408499" cy="4377106"/>
        </p:xfrm>
        <a:graphic>
          <a:graphicData uri="http://schemas.openxmlformats.org/drawingml/2006/chart">
            <c:chart xmlns:c="http://schemas.openxmlformats.org/drawingml/2006/chart" xmlns:r="http://schemas.openxmlformats.org/officeDocument/2006/relationships" r:id="rId3"/>
          </a:graphicData>
        </a:graphic>
      </p:graphicFrame>
      <p:pic>
        <p:nvPicPr>
          <p:cNvPr id="3" name="图形 11" descr="标志 纯色填充">
            <a:extLst>
              <a:ext uri="{FF2B5EF4-FFF2-40B4-BE49-F238E27FC236}">
                <a16:creationId xmlns:a16="http://schemas.microsoft.com/office/drawing/2014/main" id="{12F65B59-134B-1B9E-3BF7-75EA9A48CC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3214" y="2247138"/>
            <a:ext cx="418542" cy="418542"/>
          </a:xfrm>
          <a:prstGeom prst="rect">
            <a:avLst/>
          </a:prstGeom>
        </p:spPr>
      </p:pic>
    </p:spTree>
    <p:extLst>
      <p:ext uri="{BB962C8B-B14F-4D97-AF65-F5344CB8AC3E}">
        <p14:creationId xmlns:p14="http://schemas.microsoft.com/office/powerpoint/2010/main" val="2746012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Development </a:t>
            </a:r>
            <a:r>
              <a:rPr lang="en-US" altLang="zh-CN" sz="2400" i="1" err="1">
                <a:solidFill>
                  <a:schemeClr val="tx1"/>
                </a:solidFill>
                <a:latin typeface="+mn-lt"/>
              </a:rPr>
              <a:t>Plan_AA</a:t>
            </a:r>
            <a:r>
              <a:rPr lang="en-US" altLang="zh-CN" sz="2400" i="1">
                <a:solidFill>
                  <a:schemeClr val="tx1"/>
                </a:solidFill>
                <a:latin typeface="+mn-lt"/>
              </a:rPr>
              <a:t> </a:t>
            </a:r>
            <a:br>
              <a:rPr lang="en-US" altLang="zh-CN" sz="2400" i="1">
                <a:solidFill>
                  <a:schemeClr val="tx1"/>
                </a:solidFill>
                <a:latin typeface="+mn-lt"/>
              </a:rPr>
            </a:br>
            <a:endParaRPr lang="zh-CN" altLang="en-US" sz="2400" i="1">
              <a:solidFill>
                <a:schemeClr val="tx1"/>
              </a:solidFill>
              <a:latin typeface="+mn-lt"/>
            </a:endParaRP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a:xfrm>
            <a:off x="2400244" y="6280430"/>
            <a:ext cx="11232000" cy="144000"/>
          </a:xfrm>
        </p:spPr>
        <p:txBody>
          <a:bodyPr/>
          <a:lstStyle/>
          <a:p>
            <a:r>
              <a:rPr lang="en-US" altLang="zh-CN"/>
              <a:t>AA: Accelerated approval; CNPV: Commissioner’s National Priority Voucher</a:t>
            </a:r>
            <a:endParaRPr lang="zh-CN" altLang="en-US"/>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2023</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64555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55485" y="1724266"/>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Ia</a:t>
            </a:r>
            <a:r>
              <a:rPr lang="en-US" sz="1067" b="1">
                <a:solidFill>
                  <a:srgbClr val="08312A"/>
                </a:solidFill>
                <a:cs typeface="Calibri" panose="020F0502020204030204" pitchFamily="34" charset="0"/>
              </a:rPr>
              <a:t>/b</a:t>
            </a:r>
          </a:p>
          <a:p>
            <a:pPr algn="ctr" defTabSz="914377">
              <a:defRPr/>
            </a:pPr>
            <a:r>
              <a:rPr lang="en-US" altLang="zh-CN" sz="1067" b="1">
                <a:solidFill>
                  <a:srgbClr val="08312A"/>
                </a:solidFill>
                <a:cs typeface="Calibri" panose="020F0502020204030204" pitchFamily="34" charset="0"/>
              </a:rPr>
              <a:t>1479-0001</a:t>
            </a:r>
          </a:p>
          <a:p>
            <a:pPr algn="ctr" defTabSz="914377">
              <a:defRPr/>
            </a:pPr>
            <a:r>
              <a:rPr lang="en-US" sz="1067" b="1" err="1">
                <a:solidFill>
                  <a:srgbClr val="08312A"/>
                </a:solidFill>
                <a:cs typeface="Calibri" panose="020F0502020204030204" pitchFamily="34" charset="0"/>
              </a:rPr>
              <a:t>Beamion</a:t>
            </a:r>
            <a:r>
              <a:rPr lang="en-US" sz="1067" b="1">
                <a:solidFill>
                  <a:srgbClr val="08312A"/>
                </a:solidFill>
                <a:cs typeface="Calibri" panose="020F0502020204030204" pitchFamily="34" charset="0"/>
              </a:rPr>
              <a:t> LUNG-1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1754" y="1112595"/>
            <a:ext cx="1086461" cy="535469"/>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822790"/>
            <a:ext cx="1138019" cy="560880"/>
          </a:xfrm>
          <a:prstGeom prst="rect">
            <a:avLst/>
          </a:prstGeom>
        </p:spPr>
      </p:pic>
      <p:sp>
        <p:nvSpPr>
          <p:cNvPr id="7" name="TextBox 64">
            <a:extLst>
              <a:ext uri="{FF2B5EF4-FFF2-40B4-BE49-F238E27FC236}">
                <a16:creationId xmlns:a16="http://schemas.microsoft.com/office/drawing/2014/main" id="{474C438E-0069-DE21-0B5D-54DD442E1674}"/>
              </a:ext>
            </a:extLst>
          </p:cNvPr>
          <p:cNvSpPr txBox="1"/>
          <p:nvPr/>
        </p:nvSpPr>
        <p:spPr>
          <a:xfrm>
            <a:off x="55440" y="435533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Ia</a:t>
            </a:r>
            <a:r>
              <a:rPr lang="en-US" sz="1067" b="1">
                <a:solidFill>
                  <a:srgbClr val="08312A"/>
                </a:solidFill>
                <a:cs typeface="Calibri" panose="020F0502020204030204" pitchFamily="34" charset="0"/>
              </a:rPr>
              <a:t>/b</a:t>
            </a:r>
          </a:p>
          <a:p>
            <a:pPr algn="ctr" defTabSz="914377">
              <a:defRPr/>
            </a:pPr>
            <a:r>
              <a:rPr lang="en-US" altLang="zh-CN" sz="1067" b="1">
                <a:solidFill>
                  <a:srgbClr val="08312A"/>
                </a:solidFill>
                <a:cs typeface="Calibri" panose="020F0502020204030204" pitchFamily="34" charset="0"/>
              </a:rPr>
              <a:t>1479-0001</a:t>
            </a:r>
          </a:p>
          <a:p>
            <a:pPr algn="ctr" defTabSz="914377">
              <a:defRPr/>
            </a:pPr>
            <a:r>
              <a:rPr lang="en-US" sz="1067" b="1" err="1">
                <a:solidFill>
                  <a:srgbClr val="08312A"/>
                </a:solidFill>
                <a:cs typeface="Calibri" panose="020F0502020204030204" pitchFamily="34" charset="0"/>
              </a:rPr>
              <a:t>Beamion</a:t>
            </a:r>
            <a:r>
              <a:rPr lang="en-US" sz="1067" b="1">
                <a:solidFill>
                  <a:srgbClr val="08312A"/>
                </a:solidFill>
                <a:cs typeface="Calibri" panose="020F0502020204030204" pitchFamily="34" charset="0"/>
              </a:rPr>
              <a:t> LUNG-1</a:t>
            </a:r>
          </a:p>
        </p:txBody>
      </p:sp>
      <p:sp>
        <p:nvSpPr>
          <p:cNvPr id="16" name="OTLSHAPE_T_e17f3958430f4cff8650518c93c7635e_StartDate">
            <a:extLst>
              <a:ext uri="{FF2B5EF4-FFF2-40B4-BE49-F238E27FC236}">
                <a16:creationId xmlns:a16="http://schemas.microsoft.com/office/drawing/2014/main" id="{0DBAD4A2-A98D-A510-674E-58CFF9F5F454}"/>
              </a:ext>
            </a:extLst>
          </p:cNvPr>
          <p:cNvSpPr txBox="1"/>
          <p:nvPr>
            <p:custDataLst>
              <p:tags r:id="rId1"/>
            </p:custDataLst>
          </p:nvPr>
        </p:nvSpPr>
        <p:spPr>
          <a:xfrm>
            <a:off x="8442651" y="3979188"/>
            <a:ext cx="1212289" cy="184666"/>
          </a:xfrm>
          <a:prstGeom prst="rect">
            <a:avLst/>
          </a:prstGeom>
          <a:noFill/>
        </p:spPr>
        <p:txBody>
          <a:bodyPr vert="horz" wrap="square" lIns="0" tIns="0" rIns="0" bIns="0" rtlCol="0" anchor="ctr" anchorCtr="0">
            <a:spAutoFit/>
          </a:bodyPr>
          <a:lstStyle/>
          <a:p>
            <a:pPr algn="ctr" defTabSz="1219108">
              <a:defRPr/>
            </a:pPr>
            <a:r>
              <a:rPr lang="en-US" altLang="zh-CN" sz="1200" b="1" i="1">
                <a:solidFill>
                  <a:schemeClr val="tx2">
                    <a:lumMod val="50000"/>
                  </a:schemeClr>
                </a:solidFill>
                <a:ea typeface="等线" panose="02010600030101010101" pitchFamily="2" charset="-122"/>
                <a:cs typeface="Calibri" panose="020F0502020204030204" pitchFamily="34" charset="0"/>
              </a:rPr>
              <a:t>May/Aug 2026</a:t>
            </a:r>
            <a:endParaRPr lang="zh-CN" altLang="en-US" sz="1200" b="1" i="1">
              <a:solidFill>
                <a:schemeClr val="tx2">
                  <a:lumMod val="50000"/>
                </a:schemeClr>
              </a:solidFill>
              <a:ea typeface="等线" panose="02010600030101010101" pitchFamily="2" charset="-122"/>
              <a:cs typeface="Calibri" panose="020F0502020204030204" pitchFamily="34" charset="0"/>
            </a:endParaRPr>
          </a:p>
        </p:txBody>
      </p:sp>
      <p:sp>
        <p:nvSpPr>
          <p:cNvPr id="24" name="Rectangle 55">
            <a:extLst>
              <a:ext uri="{FF2B5EF4-FFF2-40B4-BE49-F238E27FC236}">
                <a16:creationId xmlns:a16="http://schemas.microsoft.com/office/drawing/2014/main" id="{68AD8418-B060-1DD9-D2AA-60CE573F3F18}"/>
              </a:ext>
            </a:extLst>
          </p:cNvPr>
          <p:cNvSpPr/>
          <p:nvPr/>
        </p:nvSpPr>
        <p:spPr>
          <a:xfrm>
            <a:off x="8607226" y="4479219"/>
            <a:ext cx="86914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25" name="Graphic 318" descr="Flag with solid fill">
            <a:extLst>
              <a:ext uri="{FF2B5EF4-FFF2-40B4-BE49-F238E27FC236}">
                <a16:creationId xmlns:a16="http://schemas.microsoft.com/office/drawing/2014/main" id="{8FA05A40-FCA7-D053-B0C0-24F1B1D8BFB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838484" y="4309236"/>
            <a:ext cx="210312" cy="210312"/>
          </a:xfrm>
          <a:prstGeom prst="rect">
            <a:avLst/>
          </a:prstGeom>
        </p:spPr>
      </p:pic>
      <p:grpSp>
        <p:nvGrpSpPr>
          <p:cNvPr id="26" name="组合 129">
            <a:extLst>
              <a:ext uri="{FF2B5EF4-FFF2-40B4-BE49-F238E27FC236}">
                <a16:creationId xmlns:a16="http://schemas.microsoft.com/office/drawing/2014/main" id="{77AAE30C-F489-28F2-CB2A-3888AA8486C5}"/>
              </a:ext>
            </a:extLst>
          </p:cNvPr>
          <p:cNvGrpSpPr/>
          <p:nvPr/>
        </p:nvGrpSpPr>
        <p:grpSpPr>
          <a:xfrm>
            <a:off x="6358060" y="5351375"/>
            <a:ext cx="1056700" cy="584968"/>
            <a:chOff x="9305702" y="3136172"/>
            <a:chExt cx="1056700" cy="584967"/>
          </a:xfrm>
        </p:grpSpPr>
        <p:sp>
          <p:nvSpPr>
            <p:cNvPr id="27" name="Rectangle 100">
              <a:extLst>
                <a:ext uri="{FF2B5EF4-FFF2-40B4-BE49-F238E27FC236}">
                  <a16:creationId xmlns:a16="http://schemas.microsoft.com/office/drawing/2014/main" id="{4249D090-EC63-A532-362C-73C8158CFC41}"/>
                </a:ext>
              </a:extLst>
            </p:cNvPr>
            <p:cNvSpPr/>
            <p:nvPr/>
          </p:nvSpPr>
          <p:spPr>
            <a:xfrm>
              <a:off x="9305702" y="3136172"/>
              <a:ext cx="1056700"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granted</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 name="Star: 4 Points 143">
              <a:extLst>
                <a:ext uri="{FF2B5EF4-FFF2-40B4-BE49-F238E27FC236}">
                  <a16:creationId xmlns:a16="http://schemas.microsoft.com/office/drawing/2014/main" id="{CA10DC8C-CBB6-28AC-38B4-26944E40A397}"/>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grpSp>
        <p:nvGrpSpPr>
          <p:cNvPr id="229" name="组合 228">
            <a:extLst>
              <a:ext uri="{FF2B5EF4-FFF2-40B4-BE49-F238E27FC236}">
                <a16:creationId xmlns:a16="http://schemas.microsoft.com/office/drawing/2014/main" id="{E7325C1B-AC21-F483-BF89-46BDF38ABF52}"/>
              </a:ext>
            </a:extLst>
          </p:cNvPr>
          <p:cNvGrpSpPr/>
          <p:nvPr/>
        </p:nvGrpSpPr>
        <p:grpSpPr>
          <a:xfrm>
            <a:off x="2362456" y="1881708"/>
            <a:ext cx="6026813" cy="1602036"/>
            <a:chOff x="2362456" y="1881708"/>
            <a:chExt cx="6026813" cy="1602036"/>
          </a:xfrm>
        </p:grpSpPr>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8"/>
              </p:custDataLst>
            </p:nvPr>
          </p:nvSpPr>
          <p:spPr bwMode="auto">
            <a:xfrm>
              <a:off x="4489704" y="2187412"/>
              <a:ext cx="2707155" cy="27762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9"/>
              </p:custDataLst>
            </p:nvPr>
          </p:nvSpPr>
          <p:spPr bwMode="auto">
            <a:xfrm>
              <a:off x="2725781" y="2216901"/>
              <a:ext cx="1753685" cy="264594"/>
            </a:xfrm>
            <a:prstGeom prst="roundRect">
              <a:avLst>
                <a:gd name="adj" fmla="val 50000"/>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 cohort 2</a:t>
              </a:r>
            </a:p>
            <a:p>
              <a:pPr algn="ctr" defTabSz="1219108">
                <a:defRPr/>
              </a:pPr>
              <a:r>
                <a:rPr lang="en-US" altLang="zh-CN" sz="1067" b="1">
                  <a:solidFill>
                    <a:prstClr val="black"/>
                  </a:solidFill>
                  <a:ea typeface="等线" panose="02010600030101010101" pitchFamily="2" charset="-122"/>
                  <a:cs typeface="Calibri" panose="020F0502020204030204" pitchFamily="34" charset="0"/>
                </a:rPr>
                <a:t> N=74</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0"/>
              </p:custDataLst>
            </p:nvPr>
          </p:nvSpPr>
          <p:spPr>
            <a:xfrm>
              <a:off x="5734514" y="196848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75A0DA48-F1F2-A864-01F6-DFDFDEBA525F}"/>
                </a:ext>
              </a:extLst>
            </p:cNvPr>
            <p:cNvSpPr/>
            <p:nvPr/>
          </p:nvSpPr>
          <p:spPr>
            <a:xfrm>
              <a:off x="6192186" y="2490050"/>
              <a:ext cx="44114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11"/>
              </p:custDataLst>
            </p:nvPr>
          </p:nvSpPr>
          <p:spPr>
            <a:xfrm>
              <a:off x="7478118" y="1881708"/>
              <a:ext cx="911151" cy="307777"/>
            </a:xfrm>
            <a:prstGeom prst="rect">
              <a:avLst/>
            </a:prstGeom>
            <a:noFill/>
          </p:spPr>
          <p:txBody>
            <a:bodyPr vert="horz" wrap="square" lIns="0" tIns="0" rIns="0" bIns="0" rtlCol="0" anchor="ctr" anchorCtr="0">
              <a:spAutoFit/>
            </a:bodyPr>
            <a:lstStyle/>
            <a:p>
              <a:pPr algn="ctr" defTabSz="1219108">
                <a:defRPr/>
              </a:pPr>
              <a:r>
                <a:rPr lang="en-US" altLang="zh-CN" sz="1000" b="1" i="1">
                  <a:solidFill>
                    <a:schemeClr val="tx2">
                      <a:lumMod val="50000"/>
                    </a:schemeClr>
                  </a:solidFill>
                  <a:ea typeface="等线" panose="02010600030101010101" pitchFamily="2" charset="-122"/>
                  <a:cs typeface="Calibri" panose="020F0502020204030204" pitchFamily="34" charset="0"/>
                </a:rPr>
                <a:t>Dec 2025</a:t>
              </a:r>
            </a:p>
            <a:p>
              <a:pPr algn="ctr" defTabSz="1219108">
                <a:defRPr/>
              </a:pPr>
              <a:r>
                <a:rPr lang="en-US" altLang="zh-CN" sz="1000" b="1" i="1">
                  <a:solidFill>
                    <a:schemeClr val="tx2">
                      <a:lumMod val="50000"/>
                    </a:schemeClr>
                  </a:solidFill>
                  <a:ea typeface="等线" panose="02010600030101010101" pitchFamily="2" charset="-122"/>
                  <a:cs typeface="Calibri" panose="020F0502020204030204" pitchFamily="34" charset="0"/>
                </a:rPr>
                <a:t>/Jan 2026</a:t>
              </a:r>
              <a:endParaRPr lang="zh-CN" altLang="en-US" sz="1000" b="1" i="1">
                <a:solidFill>
                  <a:schemeClr val="tx2">
                    <a:lumMod val="50000"/>
                  </a:schemeClr>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7104737" y="23904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9" name="组合 129">
              <a:extLst>
                <a:ext uri="{FF2B5EF4-FFF2-40B4-BE49-F238E27FC236}">
                  <a16:creationId xmlns:a16="http://schemas.microsoft.com/office/drawing/2014/main" id="{8ED41E0C-0C0B-0E19-B7CE-F1F56BBF78E9}"/>
                </a:ext>
              </a:extLst>
            </p:cNvPr>
            <p:cNvGrpSpPr/>
            <p:nvPr/>
          </p:nvGrpSpPr>
          <p:grpSpPr>
            <a:xfrm>
              <a:off x="6471221" y="2898776"/>
              <a:ext cx="798617" cy="584968"/>
              <a:chOff x="9434742" y="3109009"/>
              <a:chExt cx="798617" cy="584967"/>
            </a:xfrm>
          </p:grpSpPr>
          <p:sp>
            <p:nvSpPr>
              <p:cNvPr id="280" name="Rectangle 100">
                <a:extLst>
                  <a:ext uri="{FF2B5EF4-FFF2-40B4-BE49-F238E27FC236}">
                    <a16:creationId xmlns:a16="http://schemas.microsoft.com/office/drawing/2014/main" id="{CA49D509-18F1-15EE-46C3-3759AB3D9B58}"/>
                  </a:ext>
                </a:extLst>
              </p:cNvPr>
              <p:cNvSpPr/>
              <p:nvPr/>
            </p:nvSpPr>
            <p:spPr>
              <a:xfrm>
                <a:off x="9434742" y="3109009"/>
                <a:ext cx="798617"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Jul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1" name="Star: 4 Points 143">
                <a:extLst>
                  <a:ext uri="{FF2B5EF4-FFF2-40B4-BE49-F238E27FC236}">
                    <a16:creationId xmlns:a16="http://schemas.microsoft.com/office/drawing/2014/main" id="{52F81869-8E17-027E-4559-743FCDB08FED}"/>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6616747" y="1898285"/>
              <a:ext cx="612667" cy="400110"/>
            </a:xfrm>
            <a:prstGeom prst="rect">
              <a:avLst/>
            </a:prstGeom>
          </p:spPr>
          <p:txBody>
            <a:bodyPr wrap="none">
              <a:spAutoFit/>
            </a:bodyPr>
            <a:lstStyle/>
            <a:p>
              <a:pPr algn="ctr" defTabSz="914377">
                <a:defRPr/>
              </a:pPr>
              <a:r>
                <a:rPr lang="en-US" altLang="zh-CN" sz="1000" b="1" i="1">
                  <a:solidFill>
                    <a:schemeClr val="tx2">
                      <a:lumMod val="50000"/>
                    </a:schemeClr>
                  </a:solidFill>
                  <a:ea typeface="等线" panose="02010600030101010101" pitchFamily="2" charset="-122"/>
                  <a:cs typeface="Calibri" panose="020F0502020204030204" pitchFamily="34" charset="0"/>
                </a:rPr>
                <a:t>30 Sep</a:t>
              </a:r>
            </a:p>
            <a:p>
              <a:pPr algn="ctr" defTabSz="914377">
                <a:defRPr/>
              </a:pPr>
              <a:r>
                <a:rPr lang="en-US" altLang="zh-CN" sz="1000" b="1" i="1">
                  <a:solidFill>
                    <a:schemeClr val="tx2">
                      <a:lumMod val="50000"/>
                    </a:schemeClr>
                  </a:solidFill>
                  <a:ea typeface="等线" panose="02010600030101010101" pitchFamily="2" charset="-122"/>
                  <a:cs typeface="Calibri" panose="020F0502020204030204" pitchFamily="34" charset="0"/>
                </a:rPr>
                <a:t>2025</a:t>
              </a:r>
              <a:endParaRPr lang="en-US" altLang="zh-CN" sz="1000" b="1">
                <a:solidFill>
                  <a:schemeClr val="tx2">
                    <a:lumMod val="50000"/>
                  </a:schemeClr>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6645661" y="2495328"/>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6343538" y="2399545"/>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7376028" y="2467870"/>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662584" y="2323505"/>
              <a:ext cx="210312" cy="210312"/>
            </a:xfrm>
            <a:prstGeom prst="rect">
              <a:avLst/>
            </a:prstGeom>
          </p:spPr>
        </p:pic>
        <p:sp>
          <p:nvSpPr>
            <p:cNvPr id="30" name="Rectangle 73">
              <a:extLst>
                <a:ext uri="{FF2B5EF4-FFF2-40B4-BE49-F238E27FC236}">
                  <a16:creationId xmlns:a16="http://schemas.microsoft.com/office/drawing/2014/main" id="{7356B4D6-6C58-0C38-1AE7-FC13A43D92B1}"/>
                </a:ext>
              </a:extLst>
            </p:cNvPr>
            <p:cNvSpPr/>
            <p:nvPr/>
          </p:nvSpPr>
          <p:spPr>
            <a:xfrm>
              <a:off x="4272446" y="2482743"/>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 name="OTLSHAPE_T_e17f3958430f4cff8650518c93c7635e_StartDate">
              <a:extLst>
                <a:ext uri="{FF2B5EF4-FFF2-40B4-BE49-F238E27FC236}">
                  <a16:creationId xmlns:a16="http://schemas.microsoft.com/office/drawing/2014/main" id="{234ECEC3-7D0F-C510-CB7E-52049F2312F0}"/>
                </a:ext>
              </a:extLst>
            </p:cNvPr>
            <p:cNvSpPr txBox="1"/>
            <p:nvPr>
              <p:custDataLst>
                <p:tags r:id="rId12"/>
              </p:custDataLst>
            </p:nvPr>
          </p:nvSpPr>
          <p:spPr>
            <a:xfrm>
              <a:off x="4031539" y="1968488"/>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Star: 4 Points 143">
              <a:extLst>
                <a:ext uri="{FF2B5EF4-FFF2-40B4-BE49-F238E27FC236}">
                  <a16:creationId xmlns:a16="http://schemas.microsoft.com/office/drawing/2014/main" id="{BDBDBC58-AA4F-E72D-A843-E4373146DE88}"/>
                </a:ext>
              </a:extLst>
            </p:cNvPr>
            <p:cNvSpPr/>
            <p:nvPr/>
          </p:nvSpPr>
          <p:spPr bwMode="auto">
            <a:xfrm>
              <a:off x="4394991" y="23904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25" name="组合 224">
              <a:extLst>
                <a:ext uri="{FF2B5EF4-FFF2-40B4-BE49-F238E27FC236}">
                  <a16:creationId xmlns:a16="http://schemas.microsoft.com/office/drawing/2014/main" id="{FCB53A4F-1D1E-39FC-0660-586E10EF684B}"/>
                </a:ext>
              </a:extLst>
            </p:cNvPr>
            <p:cNvGrpSpPr/>
            <p:nvPr/>
          </p:nvGrpSpPr>
          <p:grpSpPr>
            <a:xfrm>
              <a:off x="2362456" y="1953304"/>
              <a:ext cx="1060915" cy="802793"/>
              <a:chOff x="1648306" y="2017726"/>
              <a:chExt cx="1060915" cy="802793"/>
            </a:xfrm>
          </p:grpSpPr>
          <p:sp>
            <p:nvSpPr>
              <p:cNvPr id="226" name="Rectangle 52">
                <a:extLst>
                  <a:ext uri="{FF2B5EF4-FFF2-40B4-BE49-F238E27FC236}">
                    <a16:creationId xmlns:a16="http://schemas.microsoft.com/office/drawing/2014/main" id="{776B6FE0-E6A7-734B-624B-5B616900C87E}"/>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27" name="OTLSHAPE_T_e17f3958430f4cff8650518c93c7635e_StartDate">
                <a:extLst>
                  <a:ext uri="{FF2B5EF4-FFF2-40B4-BE49-F238E27FC236}">
                    <a16:creationId xmlns:a16="http://schemas.microsoft.com/office/drawing/2014/main" id="{8468CE9B-A25D-E14F-3C32-AF95A2DDD46D}"/>
                  </a:ext>
                </a:extLst>
              </p:cNvPr>
              <p:cNvSpPr txBox="1"/>
              <p:nvPr>
                <p:custDataLst>
                  <p:tags r:id="rId13"/>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2025</a:t>
                </a:r>
                <a:endParaRPr lang="zh-CN" altLang="en-US" sz="1067" b="1" i="1">
                  <a:solidFill>
                    <a:schemeClr val="bg1">
                      <a:lumMod val="65000"/>
                    </a:schemeClr>
                  </a:solidFill>
                  <a:ea typeface="等线" panose="02010600030101010101" pitchFamily="2" charset="-122"/>
                </a:endParaRPr>
              </a:p>
            </p:txBody>
          </p:sp>
          <p:sp>
            <p:nvSpPr>
              <p:cNvPr id="228" name="Star: 4 Points 143">
                <a:extLst>
                  <a:ext uri="{FF2B5EF4-FFF2-40B4-BE49-F238E27FC236}">
                    <a16:creationId xmlns:a16="http://schemas.microsoft.com/office/drawing/2014/main" id="{E8E31034-AB25-3A4F-6486-EE7B0FB1B45F}"/>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sp>
        <p:nvSpPr>
          <p:cNvPr id="231" name="OTLSHAPE_T_5a934a26f311425e8ebaa0f45e6533ad_Shape">
            <a:extLst>
              <a:ext uri="{FF2B5EF4-FFF2-40B4-BE49-F238E27FC236}">
                <a16:creationId xmlns:a16="http://schemas.microsoft.com/office/drawing/2014/main" id="{22E760B3-A9E6-A987-766D-FEB4398371BD}"/>
              </a:ext>
            </a:extLst>
          </p:cNvPr>
          <p:cNvSpPr/>
          <p:nvPr>
            <p:custDataLst>
              <p:tags r:id="rId2"/>
            </p:custDataLst>
          </p:nvPr>
        </p:nvSpPr>
        <p:spPr bwMode="auto">
          <a:xfrm>
            <a:off x="4527492" y="4251359"/>
            <a:ext cx="2898526" cy="2814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32" name="OTLSHAPE_T_e17f3958430f4cff8650518c93c7635e_Shape">
            <a:extLst>
              <a:ext uri="{FF2B5EF4-FFF2-40B4-BE49-F238E27FC236}">
                <a16:creationId xmlns:a16="http://schemas.microsoft.com/office/drawing/2014/main" id="{FA5D6EB2-B055-BB98-F866-9985E39287EA}"/>
              </a:ext>
            </a:extLst>
          </p:cNvPr>
          <p:cNvSpPr/>
          <p:nvPr>
            <p:custDataLst>
              <p:tags r:id="rId3"/>
            </p:custDataLst>
          </p:nvPr>
        </p:nvSpPr>
        <p:spPr bwMode="auto">
          <a:xfrm>
            <a:off x="2763569" y="4280848"/>
            <a:ext cx="1753685" cy="264594"/>
          </a:xfrm>
          <a:prstGeom prst="roundRect">
            <a:avLst>
              <a:gd name="adj" fmla="val 50000"/>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 cohort 2</a:t>
            </a:r>
          </a:p>
          <a:p>
            <a:pPr algn="ctr" defTabSz="1219108">
              <a:defRPr/>
            </a:pPr>
            <a:r>
              <a:rPr lang="en-US" altLang="zh-CN" sz="1067" b="1">
                <a:solidFill>
                  <a:prstClr val="black"/>
                </a:solidFill>
                <a:ea typeface="等线" panose="02010600030101010101" pitchFamily="2" charset="-122"/>
                <a:cs typeface="Calibri" panose="020F0502020204030204" pitchFamily="34" charset="0"/>
              </a:rPr>
              <a:t>N=18</a:t>
            </a:r>
            <a:endParaRPr lang="en-US" altLang="zh-CN" sz="1067" b="1">
              <a:solidFill>
                <a:srgbClr val="000000"/>
              </a:solidFill>
              <a:ea typeface="等线" panose="02010600030101010101" pitchFamily="2" charset="-122"/>
              <a:cs typeface="Calibri" panose="020F0502020204030204" pitchFamily="34" charset="0"/>
            </a:endParaRPr>
          </a:p>
        </p:txBody>
      </p:sp>
      <p:sp>
        <p:nvSpPr>
          <p:cNvPr id="233" name="OTLSHAPE_T_e17f3958430f4cff8650518c93c7635e_StartDate">
            <a:extLst>
              <a:ext uri="{FF2B5EF4-FFF2-40B4-BE49-F238E27FC236}">
                <a16:creationId xmlns:a16="http://schemas.microsoft.com/office/drawing/2014/main" id="{82C769F4-CBBA-B005-634F-622FB487F266}"/>
              </a:ext>
            </a:extLst>
          </p:cNvPr>
          <p:cNvSpPr txBox="1"/>
          <p:nvPr>
            <p:custDataLst>
              <p:tags r:id="rId4"/>
            </p:custDataLst>
          </p:nvPr>
        </p:nvSpPr>
        <p:spPr>
          <a:xfrm>
            <a:off x="6151871" y="40185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4" name="Rectangle 55">
            <a:extLst>
              <a:ext uri="{FF2B5EF4-FFF2-40B4-BE49-F238E27FC236}">
                <a16:creationId xmlns:a16="http://schemas.microsoft.com/office/drawing/2014/main" id="{4AC0C226-0264-C2F3-B1DC-568A26E67B0F}"/>
              </a:ext>
            </a:extLst>
          </p:cNvPr>
          <p:cNvSpPr/>
          <p:nvPr/>
        </p:nvSpPr>
        <p:spPr>
          <a:xfrm>
            <a:off x="6229974" y="4553997"/>
            <a:ext cx="44114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6" name="Star: 4 Points 143">
            <a:extLst>
              <a:ext uri="{FF2B5EF4-FFF2-40B4-BE49-F238E27FC236}">
                <a16:creationId xmlns:a16="http://schemas.microsoft.com/office/drawing/2014/main" id="{B923C280-722C-A743-00C8-D3D7DD80A9DE}"/>
              </a:ext>
            </a:extLst>
          </p:cNvPr>
          <p:cNvSpPr/>
          <p:nvPr/>
        </p:nvSpPr>
        <p:spPr bwMode="auto">
          <a:xfrm>
            <a:off x="7307597" y="44529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8" name="Rectangle 100">
            <a:extLst>
              <a:ext uri="{FF2B5EF4-FFF2-40B4-BE49-F238E27FC236}">
                <a16:creationId xmlns:a16="http://schemas.microsoft.com/office/drawing/2014/main" id="{C17C54EC-1952-1DFA-61C3-D3E0DDD034CB}"/>
              </a:ext>
            </a:extLst>
          </p:cNvPr>
          <p:cNvSpPr/>
          <p:nvPr/>
        </p:nvSpPr>
        <p:spPr>
          <a:xfrm>
            <a:off x="6904258" y="3962232"/>
            <a:ext cx="1010213" cy="256545"/>
          </a:xfrm>
          <a:prstGeom prst="rect">
            <a:avLst/>
          </a:prstGeom>
        </p:spPr>
        <p:txBody>
          <a:bodyPr wrap="none">
            <a:spAutoFit/>
          </a:bodyPr>
          <a:lstStyle/>
          <a:p>
            <a:pPr algn="ctr" defTabSz="914377">
              <a:defRPr/>
            </a:pPr>
            <a:r>
              <a:rPr lang="en-US" altLang="zh-CN" sz="1067" b="1" i="1">
                <a:solidFill>
                  <a:schemeClr val="tx2">
                    <a:lumMod val="50000"/>
                  </a:schemeClr>
                </a:solidFill>
                <a:ea typeface="等线" panose="02010600030101010101" pitchFamily="2" charset="-122"/>
                <a:cs typeface="Calibri" panose="020F0502020204030204" pitchFamily="34" charset="0"/>
              </a:rPr>
              <a:t>29 Oct 2025</a:t>
            </a:r>
            <a:endParaRPr lang="en-US" altLang="zh-CN" sz="1067" b="1">
              <a:solidFill>
                <a:schemeClr val="tx2">
                  <a:lumMod val="50000"/>
                </a:schemeClr>
              </a:solidFill>
              <a:ea typeface="等线" panose="02010600030101010101" pitchFamily="2" charset="-122"/>
              <a:cs typeface="Calibri" panose="020F0502020204030204" pitchFamily="34" charset="0"/>
            </a:endParaRPr>
          </a:p>
        </p:txBody>
      </p:sp>
      <p:sp>
        <p:nvSpPr>
          <p:cNvPr id="257" name="Rectangle 55">
            <a:extLst>
              <a:ext uri="{FF2B5EF4-FFF2-40B4-BE49-F238E27FC236}">
                <a16:creationId xmlns:a16="http://schemas.microsoft.com/office/drawing/2014/main" id="{701DEA19-7779-5444-36B1-0CDA27E6E92F}"/>
              </a:ext>
            </a:extLst>
          </p:cNvPr>
          <p:cNvSpPr/>
          <p:nvPr/>
        </p:nvSpPr>
        <p:spPr>
          <a:xfrm>
            <a:off x="7026338" y="4578823"/>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0" name="五角星 55">
            <a:extLst>
              <a:ext uri="{FF2B5EF4-FFF2-40B4-BE49-F238E27FC236}">
                <a16:creationId xmlns:a16="http://schemas.microsoft.com/office/drawing/2014/main" id="{ADDA69B8-05A1-8756-5523-7320689E0FE9}"/>
              </a:ext>
            </a:extLst>
          </p:cNvPr>
          <p:cNvSpPr>
            <a:spLocks/>
          </p:cNvSpPr>
          <p:nvPr/>
        </p:nvSpPr>
        <p:spPr bwMode="auto">
          <a:xfrm>
            <a:off x="6381326" y="446349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70" name="Rectangle 73">
            <a:extLst>
              <a:ext uri="{FF2B5EF4-FFF2-40B4-BE49-F238E27FC236}">
                <a16:creationId xmlns:a16="http://schemas.microsoft.com/office/drawing/2014/main" id="{A2C6E864-A294-016E-A8BF-232CDAC71471}"/>
              </a:ext>
            </a:extLst>
          </p:cNvPr>
          <p:cNvSpPr/>
          <p:nvPr/>
        </p:nvSpPr>
        <p:spPr>
          <a:xfrm>
            <a:off x="4310234" y="4546690"/>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5" name="OTLSHAPE_T_e17f3958430f4cff8650518c93c7635e_StartDate">
            <a:extLst>
              <a:ext uri="{FF2B5EF4-FFF2-40B4-BE49-F238E27FC236}">
                <a16:creationId xmlns:a16="http://schemas.microsoft.com/office/drawing/2014/main" id="{C9ABF680-C4A8-EF41-F31D-5806E9ED12EA}"/>
              </a:ext>
            </a:extLst>
          </p:cNvPr>
          <p:cNvSpPr txBox="1"/>
          <p:nvPr>
            <p:custDataLst>
              <p:tags r:id="rId5"/>
            </p:custDataLst>
          </p:nvPr>
        </p:nvSpPr>
        <p:spPr>
          <a:xfrm>
            <a:off x="4069327" y="4032435"/>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86" name="Star: 4 Points 143">
            <a:extLst>
              <a:ext uri="{FF2B5EF4-FFF2-40B4-BE49-F238E27FC236}">
                <a16:creationId xmlns:a16="http://schemas.microsoft.com/office/drawing/2014/main" id="{8B708D70-A97F-EBA7-B34F-7E8E37BC693B}"/>
              </a:ext>
            </a:extLst>
          </p:cNvPr>
          <p:cNvSpPr/>
          <p:nvPr/>
        </p:nvSpPr>
        <p:spPr bwMode="auto">
          <a:xfrm>
            <a:off x="4432779" y="44543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87" name="组合 286">
            <a:extLst>
              <a:ext uri="{FF2B5EF4-FFF2-40B4-BE49-F238E27FC236}">
                <a16:creationId xmlns:a16="http://schemas.microsoft.com/office/drawing/2014/main" id="{D5C9C58E-974B-AFDB-5F24-17CC75530073}"/>
              </a:ext>
            </a:extLst>
          </p:cNvPr>
          <p:cNvGrpSpPr/>
          <p:nvPr/>
        </p:nvGrpSpPr>
        <p:grpSpPr>
          <a:xfrm>
            <a:off x="2400244" y="4017251"/>
            <a:ext cx="1060915" cy="802793"/>
            <a:chOff x="1648306" y="2017726"/>
            <a:chExt cx="1060915" cy="802793"/>
          </a:xfrm>
        </p:grpSpPr>
        <p:sp>
          <p:nvSpPr>
            <p:cNvPr id="64" name="Rectangle 52">
              <a:extLst>
                <a:ext uri="{FF2B5EF4-FFF2-40B4-BE49-F238E27FC236}">
                  <a16:creationId xmlns:a16="http://schemas.microsoft.com/office/drawing/2014/main" id="{224BA379-9C9A-5C44-21F5-E8E295DC7CC1}"/>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65" name="OTLSHAPE_T_e17f3958430f4cff8650518c93c7635e_StartDate">
              <a:extLst>
                <a:ext uri="{FF2B5EF4-FFF2-40B4-BE49-F238E27FC236}">
                  <a16:creationId xmlns:a16="http://schemas.microsoft.com/office/drawing/2014/main" id="{48CC04C0-D36F-C81C-51F9-BA0DF3F02D9E}"/>
                </a:ext>
              </a:extLst>
            </p:cNvPr>
            <p:cNvSpPr txBox="1"/>
            <p:nvPr>
              <p:custDataLst>
                <p:tags r:id="rId7"/>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2025</a:t>
              </a:r>
              <a:endParaRPr lang="zh-CN" altLang="en-US" sz="1067" b="1" i="1">
                <a:solidFill>
                  <a:schemeClr val="bg1">
                    <a:lumMod val="65000"/>
                  </a:schemeClr>
                </a:solidFill>
                <a:ea typeface="等线" panose="02010600030101010101" pitchFamily="2" charset="-122"/>
              </a:endParaRPr>
            </a:p>
          </p:txBody>
        </p:sp>
        <p:sp>
          <p:nvSpPr>
            <p:cNvPr id="66" name="Star: 4 Points 143">
              <a:extLst>
                <a:ext uri="{FF2B5EF4-FFF2-40B4-BE49-F238E27FC236}">
                  <a16:creationId xmlns:a16="http://schemas.microsoft.com/office/drawing/2014/main" id="{B6CDB45E-B895-0C72-9BBE-545B0E25EA6C}"/>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69" name="文本框 68">
            <a:extLst>
              <a:ext uri="{FF2B5EF4-FFF2-40B4-BE49-F238E27FC236}">
                <a16:creationId xmlns:a16="http://schemas.microsoft.com/office/drawing/2014/main" id="{99287BFE-A099-EF96-30EC-18715748AC9C}"/>
              </a:ext>
            </a:extLst>
          </p:cNvPr>
          <p:cNvSpPr txBox="1"/>
          <p:nvPr/>
        </p:nvSpPr>
        <p:spPr bwMode="gray">
          <a:xfrm>
            <a:off x="2270433" y="6453993"/>
            <a:ext cx="5926733" cy="369332"/>
          </a:xfrm>
          <a:prstGeom prst="rect">
            <a:avLst/>
          </a:prstGeom>
          <a:noFill/>
        </p:spPr>
        <p:txBody>
          <a:bodyPr wrap="square">
            <a:spAutoFit/>
          </a:bodyPr>
          <a:lstStyle/>
          <a:p>
            <a:r>
              <a:rPr lang="en-US" altLang="zh-CN" sz="900"/>
              <a:t>*</a:t>
            </a:r>
            <a:r>
              <a:rPr lang="en-US" altLang="zh-CN" sz="900">
                <a:solidFill>
                  <a:schemeClr val="accent1"/>
                </a:solidFill>
              </a:rPr>
              <a:t>CN: With PR granted as assumption, the best case approval date based on </a:t>
            </a:r>
            <a:r>
              <a:rPr lang="en-US" altLang="zh-CN" sz="900" b="1">
                <a:solidFill>
                  <a:schemeClr val="accent1"/>
                </a:solidFill>
              </a:rPr>
              <a:t>7-month</a:t>
            </a:r>
            <a:r>
              <a:rPr lang="en-US" altLang="zh-CN" sz="900">
                <a:solidFill>
                  <a:schemeClr val="accent1"/>
                </a:solidFill>
              </a:rPr>
              <a:t> review period without deficiency letter,  the base case approval date based on </a:t>
            </a:r>
            <a:r>
              <a:rPr lang="en-US" altLang="zh-CN" sz="900" b="1">
                <a:solidFill>
                  <a:schemeClr val="accent1"/>
                </a:solidFill>
              </a:rPr>
              <a:t>10-month</a:t>
            </a:r>
            <a:r>
              <a:rPr lang="en-US" altLang="zh-CN" sz="900">
                <a:solidFill>
                  <a:schemeClr val="accent1"/>
                </a:solidFill>
              </a:rPr>
              <a:t> review period with deficiency letter.</a:t>
            </a:r>
          </a:p>
        </p:txBody>
      </p:sp>
      <p:sp>
        <p:nvSpPr>
          <p:cNvPr id="74" name="文本框 160">
            <a:extLst>
              <a:ext uri="{FF2B5EF4-FFF2-40B4-BE49-F238E27FC236}">
                <a16:creationId xmlns:a16="http://schemas.microsoft.com/office/drawing/2014/main" id="{25BB1580-3041-2839-7997-547633FEB08B}"/>
              </a:ext>
            </a:extLst>
          </p:cNvPr>
          <p:cNvSpPr txBox="1"/>
          <p:nvPr/>
        </p:nvSpPr>
        <p:spPr>
          <a:xfrm>
            <a:off x="8261986" y="4836444"/>
            <a:ext cx="3912405" cy="1813262"/>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400" i="1">
                <a:solidFill>
                  <a:prstClr val="black">
                    <a:lumMod val="75000"/>
                    <a:lumOff val="25000"/>
                  </a:prstClr>
                </a:solidFill>
                <a:latin typeface="Arial"/>
                <a:ea typeface="OPPOSans R"/>
              </a:rPr>
              <a:t>12-month updated data with </a:t>
            </a:r>
            <a:r>
              <a:rPr lang="en-US" altLang="zh-CN" sz="1400" b="1" i="1">
                <a:solidFill>
                  <a:schemeClr val="tx2">
                    <a:lumMod val="50000"/>
                  </a:schemeClr>
                </a:solidFill>
                <a:latin typeface="Arial"/>
                <a:ea typeface="OPPOSans R"/>
              </a:rPr>
              <a:t>DCO Aug </a:t>
            </a:r>
            <a:r>
              <a:rPr lang="en-US" altLang="zh-CN" sz="1400" i="1">
                <a:solidFill>
                  <a:prstClr val="black">
                    <a:lumMod val="75000"/>
                    <a:lumOff val="25000"/>
                  </a:prstClr>
                </a:solidFill>
                <a:latin typeface="Arial"/>
                <a:ea typeface="OPPOSans R"/>
              </a:rPr>
              <a:t>will submit to CDE around Jan 2026 as rolling submission. </a:t>
            </a:r>
          </a:p>
          <a:p>
            <a:pPr marL="95998" indent="-95998" defTabSz="1219170">
              <a:spcAft>
                <a:spcPts val="267"/>
              </a:spcAft>
              <a:buFont typeface="Arial" panose="020B0604020202020204" pitchFamily="34" charset="0"/>
              <a:buChar char="•"/>
              <a:defRPr/>
            </a:pPr>
            <a:r>
              <a:rPr lang="en-US" altLang="zh-CN" sz="1400" i="1">
                <a:solidFill>
                  <a:prstClr val="black">
                    <a:lumMod val="75000"/>
                    <a:lumOff val="25000"/>
                  </a:prstClr>
                </a:solidFill>
                <a:latin typeface="Arial"/>
                <a:ea typeface="OPPOSans R"/>
              </a:rPr>
              <a:t>Inspection notification received on </a:t>
            </a:r>
            <a:r>
              <a:rPr lang="en-US" altLang="zh-CN" sz="1400" b="1" i="1">
                <a:solidFill>
                  <a:schemeClr val="tx2">
                    <a:lumMod val="50000"/>
                  </a:schemeClr>
                </a:solidFill>
                <a:latin typeface="Arial"/>
              </a:rPr>
              <a:t>Dec 5.</a:t>
            </a:r>
            <a:r>
              <a:rPr lang="en-US" altLang="zh-CN" sz="1400" i="1">
                <a:solidFill>
                  <a:prstClr val="black">
                    <a:lumMod val="75000"/>
                    <a:lumOff val="25000"/>
                  </a:prstClr>
                </a:solidFill>
                <a:latin typeface="Arial"/>
                <a:ea typeface="OPPOSans R"/>
              </a:rPr>
              <a:t> CFDI inspection is expected during </a:t>
            </a:r>
            <a:r>
              <a:rPr lang="en-US" altLang="zh-CN" sz="1400" b="1" i="1">
                <a:solidFill>
                  <a:schemeClr val="tx2">
                    <a:lumMod val="50000"/>
                  </a:schemeClr>
                </a:solidFill>
                <a:latin typeface="Arial"/>
              </a:rPr>
              <a:t>end of Jan to early Feb, </a:t>
            </a:r>
            <a:r>
              <a:rPr lang="en-US" altLang="zh-CN" sz="1400" i="1">
                <a:solidFill>
                  <a:prstClr val="black">
                    <a:lumMod val="75000"/>
                    <a:lumOff val="25000"/>
                  </a:prstClr>
                </a:solidFill>
                <a:latin typeface="Arial"/>
                <a:ea typeface="OPPOSans R"/>
              </a:rPr>
              <a:t>2025. Inspection preparation is ongoing.</a:t>
            </a:r>
          </a:p>
        </p:txBody>
      </p:sp>
      <p:grpSp>
        <p:nvGrpSpPr>
          <p:cNvPr id="77" name="组合 129">
            <a:extLst>
              <a:ext uri="{FF2B5EF4-FFF2-40B4-BE49-F238E27FC236}">
                <a16:creationId xmlns:a16="http://schemas.microsoft.com/office/drawing/2014/main" id="{01A0EB27-3172-F78A-9FCF-24504E4770FD}"/>
              </a:ext>
            </a:extLst>
          </p:cNvPr>
          <p:cNvGrpSpPr/>
          <p:nvPr/>
        </p:nvGrpSpPr>
        <p:grpSpPr>
          <a:xfrm>
            <a:off x="6607444" y="4817999"/>
            <a:ext cx="1074333" cy="584968"/>
            <a:chOff x="9296887" y="3136172"/>
            <a:chExt cx="1074333" cy="584967"/>
          </a:xfrm>
        </p:grpSpPr>
        <p:sp>
          <p:nvSpPr>
            <p:cNvPr id="78" name="Rectangle 100">
              <a:extLst>
                <a:ext uri="{FF2B5EF4-FFF2-40B4-BE49-F238E27FC236}">
                  <a16:creationId xmlns:a16="http://schemas.microsoft.com/office/drawing/2014/main" id="{B5353B85-777D-9A8A-152D-F4A334FC70D7}"/>
                </a:ext>
              </a:extLst>
            </p:cNvPr>
            <p:cNvSpPr/>
            <p:nvPr/>
          </p:nvSpPr>
          <p:spPr>
            <a:xfrm>
              <a:off x="9296887" y="3136172"/>
              <a:ext cx="1074333"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Pre-NDA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92E69F24-AAC7-A724-9D1D-B150AF2D07DB}"/>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3" name="文本框 160">
            <a:extLst>
              <a:ext uri="{FF2B5EF4-FFF2-40B4-BE49-F238E27FC236}">
                <a16:creationId xmlns:a16="http://schemas.microsoft.com/office/drawing/2014/main" id="{BE3710C4-B9BB-3FFB-04C4-48939AA1E756}"/>
              </a:ext>
            </a:extLst>
          </p:cNvPr>
          <p:cNvSpPr txBox="1"/>
          <p:nvPr/>
        </p:nvSpPr>
        <p:spPr>
          <a:xfrm>
            <a:off x="8311093" y="2052181"/>
            <a:ext cx="3852887" cy="1055608"/>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400" i="1">
                <a:solidFill>
                  <a:prstClr val="black">
                    <a:lumMod val="75000"/>
                    <a:lumOff val="25000"/>
                  </a:prstClr>
                </a:solidFill>
                <a:latin typeface="Arial"/>
              </a:rPr>
              <a:t>Selected for FDA CNPV Pilot Program on Nov 6 2025, approval expected in mid of Dec 2025(best case) or mid of Jan 2026 (base case)</a:t>
            </a:r>
          </a:p>
        </p:txBody>
      </p:sp>
      <p:sp>
        <p:nvSpPr>
          <p:cNvPr id="5" name="Arrow: Right 53">
            <a:extLst>
              <a:ext uri="{FF2B5EF4-FFF2-40B4-BE49-F238E27FC236}">
                <a16:creationId xmlns:a16="http://schemas.microsoft.com/office/drawing/2014/main" id="{FF8C6C1E-6915-032B-3970-D4E720CFDEF8}"/>
              </a:ext>
            </a:extLst>
          </p:cNvPr>
          <p:cNvSpPr/>
          <p:nvPr/>
        </p:nvSpPr>
        <p:spPr>
          <a:xfrm flipH="1">
            <a:off x="7496390" y="4500942"/>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4" name="文本框 13">
            <a:extLst>
              <a:ext uri="{FF2B5EF4-FFF2-40B4-BE49-F238E27FC236}">
                <a16:creationId xmlns:a16="http://schemas.microsoft.com/office/drawing/2014/main" id="{C415B1AA-3972-65CC-CB56-B76C1C95726E}"/>
              </a:ext>
            </a:extLst>
          </p:cNvPr>
          <p:cNvSpPr txBox="1"/>
          <p:nvPr/>
        </p:nvSpPr>
        <p:spPr bwMode="gray">
          <a:xfrm>
            <a:off x="205641" y="6592904"/>
            <a:ext cx="6899096" cy="21544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STRICTLY CONFIDENTIAL</a:t>
            </a:r>
          </a:p>
        </p:txBody>
      </p:sp>
      <p:grpSp>
        <p:nvGrpSpPr>
          <p:cNvPr id="6" name="Group 62">
            <a:extLst>
              <a:ext uri="{FF2B5EF4-FFF2-40B4-BE49-F238E27FC236}">
                <a16:creationId xmlns:a16="http://schemas.microsoft.com/office/drawing/2014/main" id="{6F717FDF-629A-9CE3-6399-2CB1E8840768}"/>
              </a:ext>
            </a:extLst>
          </p:cNvPr>
          <p:cNvGrpSpPr/>
          <p:nvPr/>
        </p:nvGrpSpPr>
        <p:grpSpPr>
          <a:xfrm>
            <a:off x="7344163" y="686370"/>
            <a:ext cx="546747" cy="6134718"/>
            <a:chOff x="1155349" y="1057179"/>
            <a:chExt cx="546747" cy="4601037"/>
          </a:xfrm>
        </p:grpSpPr>
        <p:cxnSp>
          <p:nvCxnSpPr>
            <p:cNvPr id="10" name="Straight Connector 63">
              <a:extLst>
                <a:ext uri="{FF2B5EF4-FFF2-40B4-BE49-F238E27FC236}">
                  <a16:creationId xmlns:a16="http://schemas.microsoft.com/office/drawing/2014/main" id="{3D4567B6-DEDA-7822-FBC0-A7CD831F109D}"/>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1" name="OTLSHAPE_T_e17f3958430f4cff8650518c93c7635e_StartDate">
              <a:extLst>
                <a:ext uri="{FF2B5EF4-FFF2-40B4-BE49-F238E27FC236}">
                  <a16:creationId xmlns:a16="http://schemas.microsoft.com/office/drawing/2014/main" id="{37819659-9870-C981-8162-D5ECFCE82A75}"/>
                </a:ext>
              </a:extLst>
            </p:cNvPr>
            <p:cNvSpPr txBox="1"/>
            <p:nvPr>
              <p:custDataLst>
                <p:tags r:id="rId6"/>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4208819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Development Plan_ Full Approval</a:t>
            </a:r>
            <a:endParaRPr lang="zh-CN" altLang="en-US" sz="2400" i="1">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8</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AD216F8E-FF95-87CF-1284-50B601371CE6}"/>
              </a:ext>
            </a:extLst>
          </p:cNvPr>
          <p:cNvSpPr/>
          <p:nvPr>
            <p:custDataLst>
              <p:tags r:id="rId1"/>
            </p:custDataLst>
          </p:nvPr>
        </p:nvSpPr>
        <p:spPr bwMode="auto">
          <a:xfrm>
            <a:off x="6338445" y="4351499"/>
            <a:ext cx="1384060" cy="30433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2"/>
            </p:custDataLst>
          </p:nvPr>
        </p:nvSpPr>
        <p:spPr bwMode="auto">
          <a:xfrm>
            <a:off x="6269301" y="2277931"/>
            <a:ext cx="139200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3048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41631" y="2065219"/>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1479-0008</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LUNG-2</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1307187" y="2273316"/>
            <a:ext cx="4957667"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N=416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4"/>
            </p:custDataLst>
          </p:nvPr>
        </p:nvSpPr>
        <p:spPr bwMode="auto">
          <a:xfrm>
            <a:off x="1769722" y="4344717"/>
            <a:ext cx="4568723" cy="28522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N=88</a:t>
            </a:r>
          </a:p>
        </p:txBody>
      </p:sp>
      <p:sp>
        <p:nvSpPr>
          <p:cNvPr id="268" name="Rectangle 55">
            <a:extLst>
              <a:ext uri="{FF2B5EF4-FFF2-40B4-BE49-F238E27FC236}">
                <a16:creationId xmlns:a16="http://schemas.microsoft.com/office/drawing/2014/main" id="{75A0DA48-F1F2-A864-01F6-DFDFDEBA525F}"/>
              </a:ext>
            </a:extLst>
          </p:cNvPr>
          <p:cNvSpPr/>
          <p:nvPr/>
        </p:nvSpPr>
        <p:spPr>
          <a:xfrm>
            <a:off x="7457422" y="2563974"/>
            <a:ext cx="470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 </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5"/>
            </p:custDataLst>
          </p:nvPr>
        </p:nvSpPr>
        <p:spPr>
          <a:xfrm>
            <a:off x="71028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grpSp>
        <p:nvGrpSpPr>
          <p:cNvPr id="5" name="组合 4">
            <a:extLst>
              <a:ext uri="{FF2B5EF4-FFF2-40B4-BE49-F238E27FC236}">
                <a16:creationId xmlns:a16="http://schemas.microsoft.com/office/drawing/2014/main" id="{5A56FFC5-24C8-489D-7007-E980007A682E}"/>
              </a:ext>
            </a:extLst>
          </p:cNvPr>
          <p:cNvGrpSpPr/>
          <p:nvPr/>
        </p:nvGrpSpPr>
        <p:grpSpPr>
          <a:xfrm>
            <a:off x="908568" y="2038274"/>
            <a:ext cx="1060915" cy="802793"/>
            <a:chOff x="1648306" y="2017726"/>
            <a:chExt cx="1060915" cy="802793"/>
          </a:xfrm>
        </p:grpSpPr>
        <p:sp>
          <p:nvSpPr>
            <p:cNvPr id="249" name="Rectangle 52">
              <a:extLst>
                <a:ext uri="{FF2B5EF4-FFF2-40B4-BE49-F238E27FC236}">
                  <a16:creationId xmlns:a16="http://schemas.microsoft.com/office/drawing/2014/main" id="{12DFDD77-3A58-72FD-B7F7-3AD9C2D417AC}"/>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1"/>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2024</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9" name="组合 8">
            <a:extLst>
              <a:ext uri="{FF2B5EF4-FFF2-40B4-BE49-F238E27FC236}">
                <a16:creationId xmlns:a16="http://schemas.microsoft.com/office/drawing/2014/main" id="{3F6E6A80-BF13-9FBC-3114-303CF15A03D3}"/>
              </a:ext>
            </a:extLst>
          </p:cNvPr>
          <p:cNvGrpSpPr/>
          <p:nvPr/>
        </p:nvGrpSpPr>
        <p:grpSpPr>
          <a:xfrm>
            <a:off x="5758620" y="2087836"/>
            <a:ext cx="911147" cy="730961"/>
            <a:chOff x="4263715" y="2099832"/>
            <a:chExt cx="911147" cy="730961"/>
          </a:xfrm>
        </p:grpSpPr>
        <p:sp>
          <p:nvSpPr>
            <p:cNvPr id="264" name="Rectangle 55">
              <a:extLst>
                <a:ext uri="{FF2B5EF4-FFF2-40B4-BE49-F238E27FC236}">
                  <a16:creationId xmlns:a16="http://schemas.microsoft.com/office/drawing/2014/main" id="{AA8BE26C-62F1-CD5B-D05C-AB261F53C0FC}"/>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0"/>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5" name="Star: 4 Points 143">
            <a:extLst>
              <a:ext uri="{FF2B5EF4-FFF2-40B4-BE49-F238E27FC236}">
                <a16:creationId xmlns:a16="http://schemas.microsoft.com/office/drawing/2014/main" id="{4976117C-AB79-0329-8477-BA267FEC5A0D}"/>
              </a:ext>
            </a:extLst>
          </p:cNvPr>
          <p:cNvSpPr/>
          <p:nvPr/>
        </p:nvSpPr>
        <p:spPr bwMode="auto">
          <a:xfrm>
            <a:off x="759014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10" name="组合 9">
            <a:extLst>
              <a:ext uri="{FF2B5EF4-FFF2-40B4-BE49-F238E27FC236}">
                <a16:creationId xmlns:a16="http://schemas.microsoft.com/office/drawing/2014/main" id="{FD0A1137-469F-BD38-0013-2AC76D7EB7B4}"/>
              </a:ext>
            </a:extLst>
          </p:cNvPr>
          <p:cNvGrpSpPr/>
          <p:nvPr/>
        </p:nvGrpSpPr>
        <p:grpSpPr>
          <a:xfrm>
            <a:off x="1300864" y="4163529"/>
            <a:ext cx="910164" cy="722963"/>
            <a:chOff x="2690175" y="4172897"/>
            <a:chExt cx="910164" cy="722963"/>
          </a:xfrm>
        </p:grpSpPr>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9"/>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7929370" y="2053666"/>
            <a:ext cx="79861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Apr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7974317" y="2563974"/>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8681763" y="2053666"/>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2027</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181811" y="238069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8701454" y="2563974"/>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7" name="Rectangle 100">
            <a:extLst>
              <a:ext uri="{FF2B5EF4-FFF2-40B4-BE49-F238E27FC236}">
                <a16:creationId xmlns:a16="http://schemas.microsoft.com/office/drawing/2014/main" id="{0438AC28-0BEB-F709-E6E5-9A6B7058A5EE}"/>
              </a:ext>
            </a:extLst>
          </p:cNvPr>
          <p:cNvSpPr/>
          <p:nvPr/>
        </p:nvSpPr>
        <p:spPr>
          <a:xfrm>
            <a:off x="10188547" y="4088172"/>
            <a:ext cx="91082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  May 2028</a:t>
            </a:r>
          </a:p>
        </p:txBody>
      </p:sp>
      <p:sp>
        <p:nvSpPr>
          <p:cNvPr id="306" name="Rectangle 55">
            <a:extLst>
              <a:ext uri="{FF2B5EF4-FFF2-40B4-BE49-F238E27FC236}">
                <a16:creationId xmlns:a16="http://schemas.microsoft.com/office/drawing/2014/main" id="{6CDD8DCF-8938-FB98-99E0-A72D2275BA89}"/>
              </a:ext>
            </a:extLst>
          </p:cNvPr>
          <p:cNvSpPr/>
          <p:nvPr/>
        </p:nvSpPr>
        <p:spPr>
          <a:xfrm>
            <a:off x="10251503" y="4600756"/>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8260272" y="2985790"/>
            <a:ext cx="3546790" cy="283837"/>
          </a:xfrm>
          <a:prstGeom prst="roundRect">
            <a:avLst/>
          </a:prstGeom>
          <a:noFill/>
          <a:ln>
            <a:solidFill>
              <a:srgbClr val="076D7E"/>
            </a:solidFill>
            <a:prstDash val="lgDash"/>
          </a:ln>
        </p:spPr>
        <p:txBody>
          <a:bodyPr wrap="square" rtlCol="0">
            <a:spAutoFit/>
          </a:bodyPr>
          <a:lstStyle/>
          <a:p>
            <a:pPr marL="171450" indent="-171450"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94% of recruitment target achieved in Nov 2025</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7700166" y="5089646"/>
            <a:ext cx="4259983" cy="604634"/>
          </a:xfrm>
          <a:prstGeom prst="roundRect">
            <a:avLst/>
          </a:prstGeom>
          <a:noFill/>
          <a:ln>
            <a:solidFill>
              <a:srgbClr val="076D7E"/>
            </a:solidFill>
            <a:prstDash val="lgDash"/>
          </a:ln>
        </p:spPr>
        <p:txBody>
          <a:bodyPr wrap="square" rtlCol="0">
            <a:spAutoFit/>
          </a:bodyPr>
          <a:lstStyle/>
          <a:p>
            <a:pPr marL="180000" indent="-180000">
              <a:lnSpc>
                <a:spcPct val="140000"/>
              </a:lnSpc>
              <a:buFont typeface="Arial" panose="020B0604020202020204" pitchFamily="34" charset="0"/>
              <a:buChar char="•"/>
            </a:pPr>
            <a:r>
              <a:rPr lang="en-US" altLang="zh-CN" sz="1100"/>
              <a:t>Final enrolled number is 88, around 21% of total sample size. </a:t>
            </a: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72741" y="4381296"/>
            <a:ext cx="210312" cy="210312"/>
          </a:xfrm>
          <a:prstGeom prst="rect">
            <a:avLst/>
          </a:prstGeom>
        </p:spPr>
      </p:pic>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47757" y="2347542"/>
            <a:ext cx="210312" cy="210312"/>
          </a:xfrm>
          <a:prstGeom prst="rect">
            <a:avLst/>
          </a:prstGeom>
        </p:spPr>
      </p:pic>
      <p:sp>
        <p:nvSpPr>
          <p:cNvPr id="7" name="文本框 6">
            <a:extLst>
              <a:ext uri="{FF2B5EF4-FFF2-40B4-BE49-F238E27FC236}">
                <a16:creationId xmlns:a16="http://schemas.microsoft.com/office/drawing/2014/main" id="{FFF6BA79-3C79-88B2-5FCE-4412B2515951}"/>
              </a:ext>
            </a:extLst>
          </p:cNvPr>
          <p:cNvSpPr txBox="1"/>
          <p:nvPr/>
        </p:nvSpPr>
        <p:spPr bwMode="gray">
          <a:xfrm>
            <a:off x="2214488" y="6374900"/>
            <a:ext cx="7799189" cy="253916"/>
          </a:xfrm>
          <a:prstGeom prst="rect">
            <a:avLst/>
          </a:prstGeom>
          <a:noFill/>
        </p:spPr>
        <p:txBody>
          <a:bodyPr wrap="square">
            <a:spAutoFit/>
          </a:bodyPr>
          <a:lstStyle/>
          <a:p>
            <a:r>
              <a:rPr lang="en-US" altLang="zh-CN" sz="900"/>
              <a:t> </a:t>
            </a:r>
            <a:r>
              <a:rPr lang="en-US" altLang="zh-CN" sz="1050">
                <a:solidFill>
                  <a:schemeClr val="accent1"/>
                </a:solidFill>
              </a:rPr>
              <a:t>* </a:t>
            </a:r>
            <a:r>
              <a:rPr lang="en-US" altLang="zh-CN" sz="900">
                <a:solidFill>
                  <a:schemeClr val="accent1"/>
                </a:solidFill>
              </a:rPr>
              <a:t>1L NDA based on 12-month review period</a:t>
            </a:r>
            <a:endParaRPr lang="zh-CN" altLang="en-US" sz="900"/>
          </a:p>
        </p:txBody>
      </p:sp>
      <p:sp>
        <p:nvSpPr>
          <p:cNvPr id="8" name="TextBox 64">
            <a:extLst>
              <a:ext uri="{FF2B5EF4-FFF2-40B4-BE49-F238E27FC236}">
                <a16:creationId xmlns:a16="http://schemas.microsoft.com/office/drawing/2014/main" id="{122ED886-F0F4-241E-FCFD-09FA730D8FCD}"/>
              </a:ext>
            </a:extLst>
          </p:cNvPr>
          <p:cNvSpPr txBox="1"/>
          <p:nvPr/>
        </p:nvSpPr>
        <p:spPr>
          <a:xfrm>
            <a:off x="3363" y="459701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1479-0008</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LUNG-2</a:t>
            </a:r>
          </a:p>
        </p:txBody>
      </p:sp>
      <p:grpSp>
        <p:nvGrpSpPr>
          <p:cNvPr id="11" name="组合 10">
            <a:extLst>
              <a:ext uri="{FF2B5EF4-FFF2-40B4-BE49-F238E27FC236}">
                <a16:creationId xmlns:a16="http://schemas.microsoft.com/office/drawing/2014/main" id="{ADF7695E-7698-DBB2-A675-2BE9A1AB0354}"/>
              </a:ext>
            </a:extLst>
          </p:cNvPr>
          <p:cNvGrpSpPr/>
          <p:nvPr/>
        </p:nvGrpSpPr>
        <p:grpSpPr>
          <a:xfrm>
            <a:off x="5831916" y="4137483"/>
            <a:ext cx="911147" cy="730961"/>
            <a:chOff x="4263715" y="2099832"/>
            <a:chExt cx="911147" cy="730961"/>
          </a:xfrm>
        </p:grpSpPr>
        <p:sp>
          <p:nvSpPr>
            <p:cNvPr id="12" name="Rectangle 55">
              <a:extLst>
                <a:ext uri="{FF2B5EF4-FFF2-40B4-BE49-F238E27FC236}">
                  <a16:creationId xmlns:a16="http://schemas.microsoft.com/office/drawing/2014/main" id="{28550195-7FAF-7228-FF1A-B6DBFC5C27A2}"/>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AF5506FC-CCC8-5B7D-E05B-5BCBBBF9BF24}"/>
                </a:ext>
              </a:extLst>
            </p:cNvPr>
            <p:cNvSpPr txBox="1"/>
            <p:nvPr>
              <p:custDataLst>
                <p:tags r:id="rId8"/>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4" name="Star: 4 Points 143">
              <a:extLst>
                <a:ext uri="{FF2B5EF4-FFF2-40B4-BE49-F238E27FC236}">
                  <a16:creationId xmlns:a16="http://schemas.microsoft.com/office/drawing/2014/main" id="{05DD4129-5F6C-612E-3BF1-26ECB7032906}"/>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15" name="Rectangle 55">
            <a:extLst>
              <a:ext uri="{FF2B5EF4-FFF2-40B4-BE49-F238E27FC236}">
                <a16:creationId xmlns:a16="http://schemas.microsoft.com/office/drawing/2014/main" id="{FCBFF1A6-4609-9AD8-9D9D-20F41E232008}"/>
              </a:ext>
            </a:extLst>
          </p:cNvPr>
          <p:cNvSpPr/>
          <p:nvPr/>
        </p:nvSpPr>
        <p:spPr>
          <a:xfrm>
            <a:off x="7507075" y="4597011"/>
            <a:ext cx="470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 </a:t>
            </a:r>
            <a:endParaRPr lang="zh-CN" altLang="en-US" sz="1067" b="1">
              <a:solidFill>
                <a:srgbClr val="44546A"/>
              </a:solidFill>
              <a:ea typeface="等线" panose="02010600030101010101" pitchFamily="2" charset="-122"/>
              <a:cs typeface="Calibri" panose="020F0502020204030204" pitchFamily="34" charset="0"/>
            </a:endParaRPr>
          </a:p>
        </p:txBody>
      </p:sp>
      <p:sp>
        <p:nvSpPr>
          <p:cNvPr id="16" name="OTLSHAPE_T_e17f3958430f4cff8650518c93c7635e_StartDate">
            <a:extLst>
              <a:ext uri="{FF2B5EF4-FFF2-40B4-BE49-F238E27FC236}">
                <a16:creationId xmlns:a16="http://schemas.microsoft.com/office/drawing/2014/main" id="{DF00675B-B96C-FA4A-8A8B-8A1566CBDC9F}"/>
              </a:ext>
            </a:extLst>
          </p:cNvPr>
          <p:cNvSpPr txBox="1"/>
          <p:nvPr>
            <p:custDataLst>
              <p:tags r:id="rId6"/>
            </p:custDataLst>
          </p:nvPr>
        </p:nvSpPr>
        <p:spPr>
          <a:xfrm>
            <a:off x="7152502" y="413287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B20CAA54-B8C3-7DB5-43D1-64A64581C40A}"/>
              </a:ext>
            </a:extLst>
          </p:cNvPr>
          <p:cNvSpPr/>
          <p:nvPr/>
        </p:nvSpPr>
        <p:spPr bwMode="auto">
          <a:xfrm>
            <a:off x="7639794" y="44990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8" name="Rectangle 100">
            <a:extLst>
              <a:ext uri="{FF2B5EF4-FFF2-40B4-BE49-F238E27FC236}">
                <a16:creationId xmlns:a16="http://schemas.microsoft.com/office/drawing/2014/main" id="{59858826-2EDD-C7FA-3FF2-92A90CB69BC5}"/>
              </a:ext>
            </a:extLst>
          </p:cNvPr>
          <p:cNvSpPr/>
          <p:nvPr/>
        </p:nvSpPr>
        <p:spPr>
          <a:xfrm>
            <a:off x="8188074" y="4107251"/>
            <a:ext cx="85311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19" name="Rectangle 55">
            <a:extLst>
              <a:ext uri="{FF2B5EF4-FFF2-40B4-BE49-F238E27FC236}">
                <a16:creationId xmlns:a16="http://schemas.microsoft.com/office/drawing/2014/main" id="{FC1C71C8-E5F5-AE7A-02ED-6FD511D5876D}"/>
              </a:ext>
            </a:extLst>
          </p:cNvPr>
          <p:cNvSpPr/>
          <p:nvPr/>
        </p:nvSpPr>
        <p:spPr>
          <a:xfrm>
            <a:off x="8260272" y="4617559"/>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0" name="五角星 55">
            <a:extLst>
              <a:ext uri="{FF2B5EF4-FFF2-40B4-BE49-F238E27FC236}">
                <a16:creationId xmlns:a16="http://schemas.microsoft.com/office/drawing/2014/main" id="{472F5D94-08B5-1911-DFE0-1E23E5D424D1}"/>
              </a:ext>
            </a:extLst>
          </p:cNvPr>
          <p:cNvSpPr>
            <a:spLocks/>
          </p:cNvSpPr>
          <p:nvPr/>
        </p:nvSpPr>
        <p:spPr bwMode="auto">
          <a:xfrm>
            <a:off x="8467766" y="443428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nvGrpSpPr>
          <p:cNvPr id="3" name="Group 62">
            <a:extLst>
              <a:ext uri="{FF2B5EF4-FFF2-40B4-BE49-F238E27FC236}">
                <a16:creationId xmlns:a16="http://schemas.microsoft.com/office/drawing/2014/main" id="{24B4F33B-4A81-77B0-534E-7C8A968BEDCC}"/>
              </a:ext>
            </a:extLst>
          </p:cNvPr>
          <p:cNvGrpSpPr/>
          <p:nvPr/>
        </p:nvGrpSpPr>
        <p:grpSpPr>
          <a:xfrm>
            <a:off x="5195168" y="626505"/>
            <a:ext cx="546747" cy="6134718"/>
            <a:chOff x="1155349" y="1057179"/>
            <a:chExt cx="546747" cy="4601037"/>
          </a:xfrm>
        </p:grpSpPr>
        <p:cxnSp>
          <p:nvCxnSpPr>
            <p:cNvPr id="4" name="Straight Connector 63">
              <a:extLst>
                <a:ext uri="{FF2B5EF4-FFF2-40B4-BE49-F238E27FC236}">
                  <a16:creationId xmlns:a16="http://schemas.microsoft.com/office/drawing/2014/main" id="{8C326948-1F9A-7646-BD57-F0F4A1AACC03}"/>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1" name="OTLSHAPE_T_e17f3958430f4cff8650518c93c7635e_StartDate">
              <a:extLst>
                <a:ext uri="{FF2B5EF4-FFF2-40B4-BE49-F238E27FC236}">
                  <a16:creationId xmlns:a16="http://schemas.microsoft.com/office/drawing/2014/main" id="{8504375B-229C-8A6B-BC3D-C73291B6FA4E}"/>
                </a:ext>
              </a:extLst>
            </p:cNvPr>
            <p:cNvSpPr txBox="1"/>
            <p:nvPr>
              <p:custDataLst>
                <p:tags r:id="rId7"/>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2858481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CE36-C6E9-8C72-C9ED-E5B8BEC31E1E}"/>
              </a:ext>
            </a:extLst>
          </p:cNvPr>
          <p:cNvSpPr>
            <a:spLocks noGrp="1"/>
          </p:cNvSpPr>
          <p:nvPr>
            <p:ph type="title"/>
          </p:nvPr>
        </p:nvSpPr>
        <p:spPr>
          <a:xfrm>
            <a:off x="335441" y="183458"/>
            <a:ext cx="11233151" cy="1146387"/>
          </a:xfrm>
        </p:spPr>
        <p:txBody>
          <a:bodyPr/>
          <a:lstStyle/>
          <a:p>
            <a:r>
              <a:rPr lang="en-US" altLang="zh-CN" err="1"/>
              <a:t>Beamion</a:t>
            </a:r>
            <a:r>
              <a:rPr lang="en-US" altLang="zh-CN"/>
              <a:t> LUNG-2 </a:t>
            </a:r>
            <a:r>
              <a:rPr lang="en-US" altLang="zh-CN" err="1"/>
              <a:t>zongertinib</a:t>
            </a:r>
            <a:r>
              <a:rPr lang="en-US" altLang="zh-CN"/>
              <a:t> 1L NSCLC Recruitment </a:t>
            </a:r>
            <a:br>
              <a:rPr lang="en-US" altLang="zh-CN"/>
            </a:br>
            <a:r>
              <a:rPr lang="en-US" altLang="zh-CN" sz="2000">
                <a:solidFill>
                  <a:srgbClr val="00B050"/>
                </a:solidFill>
              </a:rPr>
              <a:t>23</a:t>
            </a:r>
            <a:r>
              <a:rPr lang="en-US" altLang="zh-CN" sz="2000"/>
              <a:t> pts </a:t>
            </a:r>
            <a:r>
              <a:rPr lang="en-US" altLang="zh-CN" sz="2000" b="0"/>
              <a:t>were enrolled as of 5</a:t>
            </a:r>
            <a:r>
              <a:rPr lang="en-US" altLang="zh-CN" sz="2000" b="0" baseline="30000"/>
              <a:t>th</a:t>
            </a:r>
            <a:r>
              <a:rPr lang="en-US" altLang="zh-CN" sz="2000" b="0"/>
              <a:t> Dec 2025</a:t>
            </a:r>
            <a:endParaRPr lang="zh-CN" altLang="en-US" b="0"/>
          </a:p>
        </p:txBody>
      </p:sp>
      <p:sp>
        <p:nvSpPr>
          <p:cNvPr id="6" name="Slide Number Placeholder 5">
            <a:extLst>
              <a:ext uri="{FF2B5EF4-FFF2-40B4-BE49-F238E27FC236}">
                <a16:creationId xmlns:a16="http://schemas.microsoft.com/office/drawing/2014/main" id="{3035C5EC-BE5E-38EE-8516-04FE2E53385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5" name="Picture 4" descr="A blue square on a black background&#10;&#10;Description automatically generated">
            <a:extLst>
              <a:ext uri="{FF2B5EF4-FFF2-40B4-BE49-F238E27FC236}">
                <a16:creationId xmlns:a16="http://schemas.microsoft.com/office/drawing/2014/main" id="{691F4F22-75E1-6FC4-2AB7-E11576060940}"/>
              </a:ext>
            </a:extLst>
          </p:cNvPr>
          <p:cNvPicPr>
            <a:picLocks noChangeAspect="1"/>
          </p:cNvPicPr>
          <p:nvPr/>
        </p:nvPicPr>
        <p:blipFill>
          <a:blip r:embed="rId3"/>
          <a:stretch>
            <a:fillRect/>
          </a:stretch>
        </p:blipFill>
        <p:spPr>
          <a:xfrm>
            <a:off x="8891853" y="117793"/>
            <a:ext cx="3312368" cy="816493"/>
          </a:xfrm>
          <a:prstGeom prst="rect">
            <a:avLst/>
          </a:prstGeom>
        </p:spPr>
      </p:pic>
      <p:sp>
        <p:nvSpPr>
          <p:cNvPr id="8" name="TextBox 7">
            <a:extLst>
              <a:ext uri="{FF2B5EF4-FFF2-40B4-BE49-F238E27FC236}">
                <a16:creationId xmlns:a16="http://schemas.microsoft.com/office/drawing/2014/main" id="{562F82A9-9BAE-5FC8-D15F-D0115E7C52CE}"/>
              </a:ext>
            </a:extLst>
          </p:cNvPr>
          <p:cNvSpPr txBox="1"/>
          <p:nvPr/>
        </p:nvSpPr>
        <p:spPr bwMode="gray">
          <a:xfrm>
            <a:off x="4581466" y="970390"/>
            <a:ext cx="3873503" cy="315920"/>
          </a:xfrm>
          <a:prstGeom prst="rect">
            <a:avLst/>
          </a:prstGeom>
          <a:noFill/>
        </p:spPr>
        <p:txBody>
          <a:bodyPr wrap="square" lIns="0" tIns="0" rIns="0" bIns="0" rtlCol="0">
            <a:spAutoFit/>
          </a:bodyPr>
          <a:lstStyle/>
          <a:p>
            <a:pPr marR="0" lvl="0" algn="l" defTabSz="914400" rtl="0" eaLnBrk="1" fontAlgn="auto" latinLnBrk="0" hangingPunct="1">
              <a:lnSpc>
                <a:spcPct val="140000"/>
              </a:lnSpc>
              <a:spcBef>
                <a:spcPts val="0"/>
              </a:spcBef>
              <a:spcAft>
                <a:spcPts val="0"/>
              </a:spcAft>
              <a:buClrTx/>
              <a:buSzTx/>
              <a:tabLst/>
              <a:defRPr/>
            </a:pPr>
            <a:r>
              <a:rPr kumimoji="0" lang="en-US" sz="1600" b="1" i="0" u="none" strike="noStrike" kern="1200" cap="none" spc="0" normalizeH="0" baseline="0" noProof="0">
                <a:ln>
                  <a:noFill/>
                </a:ln>
                <a:solidFill>
                  <a:prstClr val="black"/>
                </a:solidFill>
                <a:effectLst/>
                <a:uLnTx/>
                <a:uFillTx/>
                <a:latin typeface="Boehringer Forward Text"/>
                <a:ea typeface="+mn-ea"/>
                <a:cs typeface="+mn-cs"/>
              </a:rPr>
              <a:t>New Enrolment </a:t>
            </a: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Curve</a:t>
            </a: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0" name="Table 7">
            <a:extLst>
              <a:ext uri="{FF2B5EF4-FFF2-40B4-BE49-F238E27FC236}">
                <a16:creationId xmlns:a16="http://schemas.microsoft.com/office/drawing/2014/main" id="{B5CD8399-50F0-AD26-2879-E94BB01C0CDE}"/>
              </a:ext>
            </a:extLst>
          </p:cNvPr>
          <p:cNvGraphicFramePr>
            <a:graphicFrameLocks noGrp="1"/>
          </p:cNvGraphicFramePr>
          <p:nvPr>
            <p:extLst>
              <p:ext uri="{D42A27DB-BD31-4B8C-83A1-F6EECF244321}">
                <p14:modId xmlns:p14="http://schemas.microsoft.com/office/powerpoint/2010/main" val="4131671890"/>
              </p:ext>
            </p:extLst>
          </p:nvPr>
        </p:nvGraphicFramePr>
        <p:xfrm>
          <a:off x="6889373" y="5368422"/>
          <a:ext cx="4279871" cy="1188720"/>
        </p:xfrm>
        <a:graphic>
          <a:graphicData uri="http://schemas.openxmlformats.org/drawingml/2006/table">
            <a:tbl>
              <a:tblPr firstRow="1" bandRow="1">
                <a:tableStyleId>{9D7B26C5-4107-4FEC-AEDC-1716B250A1EF}</a:tableStyleId>
              </a:tblPr>
              <a:tblGrid>
                <a:gridCol w="1662617">
                  <a:extLst>
                    <a:ext uri="{9D8B030D-6E8A-4147-A177-3AD203B41FA5}">
                      <a16:colId xmlns:a16="http://schemas.microsoft.com/office/drawing/2014/main" val="3283837476"/>
                    </a:ext>
                  </a:extLst>
                </a:gridCol>
                <a:gridCol w="1249198">
                  <a:extLst>
                    <a:ext uri="{9D8B030D-6E8A-4147-A177-3AD203B41FA5}">
                      <a16:colId xmlns:a16="http://schemas.microsoft.com/office/drawing/2014/main" val="746606699"/>
                    </a:ext>
                  </a:extLst>
                </a:gridCol>
                <a:gridCol w="1368056">
                  <a:extLst>
                    <a:ext uri="{9D8B030D-6E8A-4147-A177-3AD203B41FA5}">
                      <a16:colId xmlns:a16="http://schemas.microsoft.com/office/drawing/2014/main" val="2453850400"/>
                    </a:ext>
                  </a:extLst>
                </a:gridCol>
              </a:tblGrid>
              <a:tr h="378272">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400"/>
                        <a:t>China Mainland</a:t>
                      </a:r>
                    </a:p>
                  </a:txBody>
                  <a:tcPr/>
                </a:tc>
                <a:tc>
                  <a:txBody>
                    <a:bodyPr/>
                    <a:lstStyle/>
                    <a:p>
                      <a:r>
                        <a:rPr lang="en-US" altLang="zh-CN" sz="1400"/>
                        <a:t>New</a:t>
                      </a:r>
                    </a:p>
                    <a:p>
                      <a:r>
                        <a:rPr lang="en-US" altLang="zh-CN" sz="1400"/>
                        <a:t>Allocation</a:t>
                      </a:r>
                    </a:p>
                  </a:txBody>
                  <a:tcPr/>
                </a:tc>
                <a:tc>
                  <a:txBody>
                    <a:bodyPr/>
                    <a:lstStyle/>
                    <a:p>
                      <a:r>
                        <a:rPr lang="en-US" altLang="zh-CN" sz="1400"/>
                        <a:t>Total</a:t>
                      </a:r>
                    </a:p>
                    <a:p>
                      <a:r>
                        <a:rPr lang="en-US" sz="1400"/>
                        <a:t>Allocation</a:t>
                      </a:r>
                    </a:p>
                  </a:txBody>
                  <a:tcPr/>
                </a:tc>
                <a:extLst>
                  <a:ext uri="{0D108BD9-81ED-4DB2-BD59-A6C34878D82A}">
                    <a16:rowId xmlns:a16="http://schemas.microsoft.com/office/drawing/2014/main" val="2672230016"/>
                  </a:ext>
                </a:extLst>
              </a:tr>
              <a:tr h="270724">
                <a:tc>
                  <a:txBody>
                    <a:bodyPr/>
                    <a:lstStyle/>
                    <a:p>
                      <a:r>
                        <a:rPr lang="en-US" sz="1600"/>
                        <a:t>Target</a:t>
                      </a:r>
                    </a:p>
                  </a:txBody>
                  <a:tcPr/>
                </a:tc>
                <a:tc>
                  <a:txBody>
                    <a:bodyPr/>
                    <a:lstStyle/>
                    <a:p>
                      <a:pPr algn="ctr"/>
                      <a:r>
                        <a:rPr lang="en-US" sz="1600"/>
                        <a:t>25</a:t>
                      </a:r>
                    </a:p>
                  </a:txBody>
                  <a:tcPr/>
                </a:tc>
                <a:tc>
                  <a:txBody>
                    <a:bodyPr/>
                    <a:lstStyle/>
                    <a:p>
                      <a:pPr algn="ctr"/>
                      <a:r>
                        <a:rPr lang="en-US" sz="1600"/>
                        <a:t>90</a:t>
                      </a:r>
                    </a:p>
                  </a:txBody>
                  <a:tcPr/>
                </a:tc>
                <a:extLst>
                  <a:ext uri="{0D108BD9-81ED-4DB2-BD59-A6C34878D82A}">
                    <a16:rowId xmlns:a16="http://schemas.microsoft.com/office/drawing/2014/main" val="2655706071"/>
                  </a:ext>
                </a:extLst>
              </a:tr>
              <a:tr h="270724">
                <a:tc>
                  <a:txBody>
                    <a:bodyPr/>
                    <a:lstStyle/>
                    <a:p>
                      <a:r>
                        <a:rPr lang="en-US" sz="1600"/>
                        <a:t>Actual</a:t>
                      </a:r>
                    </a:p>
                  </a:txBody>
                  <a:tcPr/>
                </a:tc>
                <a:tc>
                  <a:txBody>
                    <a:bodyPr/>
                    <a:lstStyle/>
                    <a:p>
                      <a:pPr algn="ctr"/>
                      <a:r>
                        <a:rPr lang="en-US" sz="1600"/>
                        <a:t>23</a:t>
                      </a:r>
                    </a:p>
                  </a:txBody>
                  <a:tcPr/>
                </a:tc>
                <a:tc>
                  <a:txBody>
                    <a:bodyPr/>
                    <a:lstStyle/>
                    <a:p>
                      <a:pPr algn="ctr"/>
                      <a:r>
                        <a:rPr lang="en-US" sz="1600"/>
                        <a:t>88</a:t>
                      </a:r>
                    </a:p>
                  </a:txBody>
                  <a:tcPr/>
                </a:tc>
                <a:extLst>
                  <a:ext uri="{0D108BD9-81ED-4DB2-BD59-A6C34878D82A}">
                    <a16:rowId xmlns:a16="http://schemas.microsoft.com/office/drawing/2014/main" val="771706574"/>
                  </a:ext>
                </a:extLst>
              </a:tr>
            </a:tbl>
          </a:graphicData>
        </a:graphic>
      </p:graphicFrame>
      <p:sp>
        <p:nvSpPr>
          <p:cNvPr id="9" name="TextBox 8">
            <a:extLst>
              <a:ext uri="{FF2B5EF4-FFF2-40B4-BE49-F238E27FC236}">
                <a16:creationId xmlns:a16="http://schemas.microsoft.com/office/drawing/2014/main" id="{6FE2767D-32B1-A939-971E-81669A755E56}"/>
              </a:ext>
            </a:extLst>
          </p:cNvPr>
          <p:cNvSpPr txBox="1"/>
          <p:nvPr/>
        </p:nvSpPr>
        <p:spPr bwMode="gray">
          <a:xfrm>
            <a:off x="363631" y="5607364"/>
            <a:ext cx="6154586" cy="355418"/>
          </a:xfrm>
          <a:prstGeom prst="rect">
            <a:avLst/>
          </a:prstGeom>
          <a:noFill/>
        </p:spPr>
        <p:txBody>
          <a:bodyPr wrap="square" lIns="0" tIns="0" rIns="0" bIns="0" rtlCol="0">
            <a:spAutoFit/>
          </a:bodyPr>
          <a:lstStyle/>
          <a:p>
            <a:pPr algn="l">
              <a:lnSpc>
                <a:spcPct val="140000"/>
              </a:lnSpc>
            </a:pPr>
            <a:r>
              <a:rPr lang="en-US" b="1">
                <a:solidFill>
                  <a:srgbClr val="00B050"/>
                </a:solidFill>
              </a:rPr>
              <a:t>China is still ranking as global 1st enrolling country.</a:t>
            </a:r>
          </a:p>
        </p:txBody>
      </p:sp>
      <p:pic>
        <p:nvPicPr>
          <p:cNvPr id="12" name="图形 11" descr="王冠 纯色填充">
            <a:extLst>
              <a:ext uri="{FF2B5EF4-FFF2-40B4-BE49-F238E27FC236}">
                <a16:creationId xmlns:a16="http://schemas.microsoft.com/office/drawing/2014/main" id="{A636928E-F805-AA3B-B892-D1DC127581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722338">
            <a:off x="3697543" y="5181038"/>
            <a:ext cx="534956" cy="534956"/>
          </a:xfrm>
          <a:prstGeom prst="rect">
            <a:avLst/>
          </a:prstGeom>
        </p:spPr>
      </p:pic>
      <p:pic>
        <p:nvPicPr>
          <p:cNvPr id="1026" name="Picture 2">
            <a:extLst>
              <a:ext uri="{FF2B5EF4-FFF2-40B4-BE49-F238E27FC236}">
                <a16:creationId xmlns:a16="http://schemas.microsoft.com/office/drawing/2014/main" id="{7DE4D2BD-F35C-BB27-DC3F-7BD61576C4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766" y="1329845"/>
            <a:ext cx="5450090" cy="3287404"/>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8">
            <a:extLst>
              <a:ext uri="{FF2B5EF4-FFF2-40B4-BE49-F238E27FC236}">
                <a16:creationId xmlns:a16="http://schemas.microsoft.com/office/drawing/2014/main" id="{EBA7CA1D-8CE7-15BC-157A-1EB70ECE1E06}"/>
              </a:ext>
            </a:extLst>
          </p:cNvPr>
          <p:cNvPicPr>
            <a:picLocks noChangeAspect="1"/>
          </p:cNvPicPr>
          <p:nvPr/>
        </p:nvPicPr>
        <p:blipFill>
          <a:blip r:embed="rId7"/>
          <a:srcRect l="5977" r="1518" b="5172"/>
          <a:stretch/>
        </p:blipFill>
        <p:spPr>
          <a:xfrm>
            <a:off x="129027" y="1852614"/>
            <a:ext cx="6263739" cy="2808170"/>
          </a:xfrm>
          <a:prstGeom prst="rect">
            <a:avLst/>
          </a:prstGeom>
        </p:spPr>
      </p:pic>
    </p:spTree>
    <p:extLst>
      <p:ext uri="{BB962C8B-B14F-4D97-AF65-F5344CB8AC3E}">
        <p14:creationId xmlns:p14="http://schemas.microsoft.com/office/powerpoint/2010/main" val="1676298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Adjunctive NSCLC Development Plan </a:t>
            </a:r>
            <a:endParaRPr lang="zh-CN" altLang="en-US" sz="2400" i="1">
              <a:solidFill>
                <a:schemeClr val="tx1"/>
              </a:solidFill>
              <a:latin typeface="+mn-lt"/>
            </a:endParaRP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a:xfrm>
            <a:off x="3951713" y="6534836"/>
            <a:ext cx="7391307" cy="164212"/>
          </a:xfrm>
        </p:spPr>
        <p:txBody>
          <a:bodyPr/>
          <a:lstStyle/>
          <a:p>
            <a:r>
              <a:rPr lang="en-US" altLang="zh-CN"/>
              <a:t>MRD: m</a:t>
            </a:r>
            <a:r>
              <a:rPr lang="nl-NL" altLang="zh-CN"/>
              <a:t>inimal residual disease</a:t>
            </a:r>
            <a:r>
              <a:rPr lang="en-US" altLang="zh-CN"/>
              <a:t> </a:t>
            </a:r>
            <a:endParaRPr lang="zh-CN" altLang="en-US"/>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10</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7551358" y="2287692"/>
            <a:ext cx="211797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97280"/>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9183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31353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12419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3063581"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2783579"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Nov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3251503" y="2273316"/>
            <a:ext cx="429922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N=400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7356624" y="253929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4"/>
            </p:custDataLst>
          </p:nvPr>
        </p:nvSpPr>
        <p:spPr>
          <a:xfrm>
            <a:off x="6935281" y="2106457"/>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75A0DA48-F1F2-A864-01F6-DFDFDEBA525F}"/>
              </a:ext>
            </a:extLst>
          </p:cNvPr>
          <p:cNvSpPr/>
          <p:nvPr/>
        </p:nvSpPr>
        <p:spPr>
          <a:xfrm>
            <a:off x="8800411" y="2538745"/>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5"/>
            </p:custDataLst>
          </p:nvPr>
        </p:nvSpPr>
        <p:spPr>
          <a:xfrm>
            <a:off x="9009798" y="2080894"/>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3170182"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7463124" y="244132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9585376" y="24746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2" name="Rectangle 100">
            <a:extLst>
              <a:ext uri="{FF2B5EF4-FFF2-40B4-BE49-F238E27FC236}">
                <a16:creationId xmlns:a16="http://schemas.microsoft.com/office/drawing/2014/main" id="{A8545B9F-DCAA-91A5-DA84-03B59F216C07}"/>
              </a:ext>
            </a:extLst>
          </p:cNvPr>
          <p:cNvSpPr/>
          <p:nvPr/>
        </p:nvSpPr>
        <p:spPr>
          <a:xfrm>
            <a:off x="9710210" y="1968861"/>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9722510" y="2533884"/>
            <a:ext cx="49725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10166382" y="1968861"/>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9921955" y="236005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10186574" y="2541795"/>
            <a:ext cx="497251"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6"/>
            </p:custDataLst>
          </p:nvPr>
        </p:nvSpPr>
        <p:spPr bwMode="auto">
          <a:xfrm>
            <a:off x="3807134" y="4305012"/>
            <a:ext cx="374358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N=70</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7"/>
            </p:custDataLst>
          </p:nvPr>
        </p:nvSpPr>
        <p:spPr>
          <a:xfrm>
            <a:off x="3374092" y="4104010"/>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13 Feb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8"/>
            </p:custDataLst>
          </p:nvPr>
        </p:nvSpPr>
        <p:spPr bwMode="auto">
          <a:xfrm>
            <a:off x="2629606" y="431131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9"/>
            </p:custDataLst>
          </p:nvPr>
        </p:nvSpPr>
        <p:spPr>
          <a:xfrm>
            <a:off x="2410217" y="4133192"/>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3585106" y="459961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0"/>
            </p:custDataLst>
          </p:nvPr>
        </p:nvSpPr>
        <p:spPr bwMode="auto">
          <a:xfrm rot="16200000">
            <a:off x="2618829" y="454426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1"/>
            </p:custDataLst>
          </p:nvPr>
        </p:nvSpPr>
        <p:spPr>
          <a:xfrm>
            <a:off x="2400151" y="464577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3715015" y="45134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6475368" y="5062002"/>
            <a:ext cx="4949224" cy="925218"/>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IM is planned  on Jan 24 2026</a:t>
            </a:r>
          </a:p>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CTA approved on Nov13 2025</a:t>
            </a:r>
          </a:p>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HGRAC with MRD tissue exportation was submitted on 19Nov and meeting result is expected this week. .</a:t>
            </a:r>
          </a:p>
        </p:txBody>
      </p:sp>
      <p:sp>
        <p:nvSpPr>
          <p:cNvPr id="302" name="Rectangle 100">
            <a:extLst>
              <a:ext uri="{FF2B5EF4-FFF2-40B4-BE49-F238E27FC236}">
                <a16:creationId xmlns:a16="http://schemas.microsoft.com/office/drawing/2014/main" id="{C3B9E7B5-CD20-2827-BE11-17673C41D13A}"/>
              </a:ext>
            </a:extLst>
          </p:cNvPr>
          <p:cNvSpPr/>
          <p:nvPr/>
        </p:nvSpPr>
        <p:spPr>
          <a:xfrm>
            <a:off x="9975034" y="4015086"/>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Mar</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9867395" y="4630303"/>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7" name="Rectangle 100">
            <a:extLst>
              <a:ext uri="{FF2B5EF4-FFF2-40B4-BE49-F238E27FC236}">
                <a16:creationId xmlns:a16="http://schemas.microsoft.com/office/drawing/2014/main" id="{0438AC28-0BEB-F709-E6E5-9A6B7058A5EE}"/>
              </a:ext>
            </a:extLst>
          </p:cNvPr>
          <p:cNvSpPr/>
          <p:nvPr/>
        </p:nvSpPr>
        <p:spPr>
          <a:xfrm>
            <a:off x="10787201" y="4028914"/>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Jan </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2032</a:t>
            </a:r>
          </a:p>
        </p:txBody>
      </p:sp>
      <p:sp>
        <p:nvSpPr>
          <p:cNvPr id="306" name="Rectangle 55">
            <a:extLst>
              <a:ext uri="{FF2B5EF4-FFF2-40B4-BE49-F238E27FC236}">
                <a16:creationId xmlns:a16="http://schemas.microsoft.com/office/drawing/2014/main" id="{6CDD8DCF-8938-FB98-99E0-A72D2275BA89}"/>
              </a:ext>
            </a:extLst>
          </p:cNvPr>
          <p:cNvSpPr/>
          <p:nvPr/>
        </p:nvSpPr>
        <p:spPr>
          <a:xfrm>
            <a:off x="10716028" y="4609169"/>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937266" y="4389709"/>
            <a:ext cx="210312" cy="210312"/>
          </a:xfrm>
          <a:prstGeom prst="rect">
            <a:avLst/>
          </a:prstGeom>
        </p:spPr>
      </p:pic>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338127" y="2373665"/>
            <a:ext cx="210312" cy="210312"/>
          </a:xfrm>
          <a:prstGeom prst="rect">
            <a:avLst/>
          </a:prstGeom>
        </p:spPr>
      </p:pic>
      <p:sp>
        <p:nvSpPr>
          <p:cNvPr id="5" name="TextBox 64">
            <a:extLst>
              <a:ext uri="{FF2B5EF4-FFF2-40B4-BE49-F238E27FC236}">
                <a16:creationId xmlns:a16="http://schemas.microsoft.com/office/drawing/2014/main" id="{837B2558-10B3-F39E-CE5A-656A16777AA3}"/>
              </a:ext>
            </a:extLst>
          </p:cNvPr>
          <p:cNvSpPr txBox="1"/>
          <p:nvPr/>
        </p:nvSpPr>
        <p:spPr>
          <a:xfrm>
            <a:off x="41127" y="220733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1479-0032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LUNG-3</a:t>
            </a:r>
          </a:p>
        </p:txBody>
      </p:sp>
      <p:sp>
        <p:nvSpPr>
          <p:cNvPr id="7" name="TextBox 64">
            <a:extLst>
              <a:ext uri="{FF2B5EF4-FFF2-40B4-BE49-F238E27FC236}">
                <a16:creationId xmlns:a16="http://schemas.microsoft.com/office/drawing/2014/main" id="{5444DE8A-1D3E-60EB-D0A4-3F780E884E6B}"/>
              </a:ext>
            </a:extLst>
          </p:cNvPr>
          <p:cNvSpPr txBox="1"/>
          <p:nvPr/>
        </p:nvSpPr>
        <p:spPr>
          <a:xfrm>
            <a:off x="48551" y="4501115"/>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1479-0032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LUNG-3</a:t>
            </a:r>
          </a:p>
        </p:txBody>
      </p:sp>
      <p:sp>
        <p:nvSpPr>
          <p:cNvPr id="9" name="Rectangle 55">
            <a:extLst>
              <a:ext uri="{FF2B5EF4-FFF2-40B4-BE49-F238E27FC236}">
                <a16:creationId xmlns:a16="http://schemas.microsoft.com/office/drawing/2014/main" id="{49A48CCB-4AC1-9F1A-BAB6-7DB7DD0ADE77}"/>
              </a:ext>
            </a:extLst>
          </p:cNvPr>
          <p:cNvSpPr/>
          <p:nvPr/>
        </p:nvSpPr>
        <p:spPr>
          <a:xfrm>
            <a:off x="7362181" y="458981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9CF673A7-28A3-CC3A-7434-0EB9EAFA4531}"/>
              </a:ext>
            </a:extLst>
          </p:cNvPr>
          <p:cNvSpPr txBox="1"/>
          <p:nvPr>
            <p:custDataLst>
              <p:tags r:id="rId12"/>
            </p:custDataLst>
          </p:nvPr>
        </p:nvSpPr>
        <p:spPr>
          <a:xfrm>
            <a:off x="6935280" y="4147107"/>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1" name="Star: 4 Points 143">
            <a:extLst>
              <a:ext uri="{FF2B5EF4-FFF2-40B4-BE49-F238E27FC236}">
                <a16:creationId xmlns:a16="http://schemas.microsoft.com/office/drawing/2014/main" id="{20467742-18F5-94EF-1EB8-7B9E18D3C2C6}"/>
              </a:ext>
            </a:extLst>
          </p:cNvPr>
          <p:cNvSpPr/>
          <p:nvPr/>
        </p:nvSpPr>
        <p:spPr bwMode="auto">
          <a:xfrm>
            <a:off x="7468681" y="44918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2" name="OTLSHAPE_T_5a934a26f311425e8ebaa0f45e6533ad_Shape">
            <a:extLst>
              <a:ext uri="{FF2B5EF4-FFF2-40B4-BE49-F238E27FC236}">
                <a16:creationId xmlns:a16="http://schemas.microsoft.com/office/drawing/2014/main" id="{EAC285C7-7EEE-6DBF-15D4-0F01DBFF68A0}"/>
              </a:ext>
            </a:extLst>
          </p:cNvPr>
          <p:cNvSpPr/>
          <p:nvPr>
            <p:custDataLst>
              <p:tags r:id="rId13"/>
            </p:custDataLst>
          </p:nvPr>
        </p:nvSpPr>
        <p:spPr bwMode="auto">
          <a:xfrm>
            <a:off x="7556322" y="4341079"/>
            <a:ext cx="211797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4" name="Rectangle 55">
            <a:extLst>
              <a:ext uri="{FF2B5EF4-FFF2-40B4-BE49-F238E27FC236}">
                <a16:creationId xmlns:a16="http://schemas.microsoft.com/office/drawing/2014/main" id="{8788663C-B2D2-E4A6-C75A-58C909EAA150}"/>
              </a:ext>
            </a:extLst>
          </p:cNvPr>
          <p:cNvSpPr/>
          <p:nvPr/>
        </p:nvSpPr>
        <p:spPr>
          <a:xfrm>
            <a:off x="8805375" y="4592132"/>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1BA2FFCE-B514-4962-62D4-0A82982801E8}"/>
              </a:ext>
            </a:extLst>
          </p:cNvPr>
          <p:cNvSpPr txBox="1"/>
          <p:nvPr>
            <p:custDataLst>
              <p:tags r:id="rId14"/>
            </p:custDataLst>
          </p:nvPr>
        </p:nvSpPr>
        <p:spPr>
          <a:xfrm>
            <a:off x="9014762" y="4134281"/>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83A8FF0D-6914-2ECA-66A2-29E2B5181E20}"/>
              </a:ext>
            </a:extLst>
          </p:cNvPr>
          <p:cNvSpPr/>
          <p:nvPr/>
        </p:nvSpPr>
        <p:spPr bwMode="auto">
          <a:xfrm>
            <a:off x="9590340" y="45280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8" name="五角星 55">
            <a:extLst>
              <a:ext uri="{FF2B5EF4-FFF2-40B4-BE49-F238E27FC236}">
                <a16:creationId xmlns:a16="http://schemas.microsoft.com/office/drawing/2014/main" id="{88DC5824-E15A-C7E2-B3D4-65146101B06F}"/>
              </a:ext>
            </a:extLst>
          </p:cNvPr>
          <p:cNvSpPr>
            <a:spLocks/>
          </p:cNvSpPr>
          <p:nvPr/>
        </p:nvSpPr>
        <p:spPr bwMode="auto">
          <a:xfrm>
            <a:off x="10157081" y="441173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nvGrpSpPr>
          <p:cNvPr id="3" name="Group 62">
            <a:extLst>
              <a:ext uri="{FF2B5EF4-FFF2-40B4-BE49-F238E27FC236}">
                <a16:creationId xmlns:a16="http://schemas.microsoft.com/office/drawing/2014/main" id="{D2C59F92-E48E-2F5B-3193-01887CC060AD}"/>
              </a:ext>
            </a:extLst>
          </p:cNvPr>
          <p:cNvGrpSpPr/>
          <p:nvPr/>
        </p:nvGrpSpPr>
        <p:grpSpPr>
          <a:xfrm>
            <a:off x="3105212" y="666130"/>
            <a:ext cx="546747" cy="6134718"/>
            <a:chOff x="1155349" y="1057179"/>
            <a:chExt cx="546747" cy="4601037"/>
          </a:xfrm>
        </p:grpSpPr>
        <p:cxnSp>
          <p:nvCxnSpPr>
            <p:cNvPr id="8" name="Straight Connector 63">
              <a:extLst>
                <a:ext uri="{FF2B5EF4-FFF2-40B4-BE49-F238E27FC236}">
                  <a16:creationId xmlns:a16="http://schemas.microsoft.com/office/drawing/2014/main" id="{D66F2428-404A-E290-1E3E-3668CFCD17F5}"/>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3" name="OTLSHAPE_T_e17f3958430f4cff8650518c93c7635e_StartDate">
              <a:extLst>
                <a:ext uri="{FF2B5EF4-FFF2-40B4-BE49-F238E27FC236}">
                  <a16:creationId xmlns:a16="http://schemas.microsoft.com/office/drawing/2014/main" id="{ADC24F89-EE6C-D96C-85DC-2F52E63CC86C}"/>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3572315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A112-0065-0729-0260-A382AA50A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8D9E0-E2F1-9B71-EB11-C3C863DD1BFC}"/>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Combo  </a:t>
            </a:r>
            <a:endParaRPr lang="zh-CN" altLang="en-US" sz="2400" i="1">
              <a:solidFill>
                <a:schemeClr val="tx1"/>
              </a:solidFill>
              <a:latin typeface="+mn-lt"/>
            </a:endParaRPr>
          </a:p>
        </p:txBody>
      </p:sp>
      <p:sp>
        <p:nvSpPr>
          <p:cNvPr id="4" name="Text Placeholder 3">
            <a:extLst>
              <a:ext uri="{FF2B5EF4-FFF2-40B4-BE49-F238E27FC236}">
                <a16:creationId xmlns:a16="http://schemas.microsoft.com/office/drawing/2014/main" id="{DF41FFFC-DA1B-08A6-AE11-CD898B402B77}"/>
              </a:ext>
            </a:extLst>
          </p:cNvPr>
          <p:cNvSpPr>
            <a:spLocks noGrp="1"/>
          </p:cNvSpPr>
          <p:nvPr>
            <p:ph type="body" sz="quarter" idx="13"/>
          </p:nvPr>
        </p:nvSpPr>
        <p:spPr>
          <a:xfrm>
            <a:off x="2031367" y="6315434"/>
            <a:ext cx="7391307" cy="164212"/>
          </a:xfrm>
        </p:spPr>
        <p:txBody>
          <a:bodyPr/>
          <a:lstStyle/>
          <a:p>
            <a:endParaRPr lang="zh-CN" altLang="en-US"/>
          </a:p>
        </p:txBody>
      </p:sp>
      <p:sp>
        <p:nvSpPr>
          <p:cNvPr id="6" name="Slide Number Placeholder 5">
            <a:extLst>
              <a:ext uri="{FF2B5EF4-FFF2-40B4-BE49-F238E27FC236}">
                <a16:creationId xmlns:a16="http://schemas.microsoft.com/office/drawing/2014/main" id="{C7C2D09E-1E1D-F791-1E38-17879DB2DA8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8" name="灯片编号占位符 4">
            <a:extLst>
              <a:ext uri="{FF2B5EF4-FFF2-40B4-BE49-F238E27FC236}">
                <a16:creationId xmlns:a16="http://schemas.microsoft.com/office/drawing/2014/main" id="{D15D4560-91AB-38B7-0F3B-BB38EA48E2BA}"/>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1219140" rtl="0" eaLnBrk="1" fontAlgn="auto" latinLnBrk="0" hangingPunct="1">
              <a:lnSpc>
                <a:spcPct val="100000"/>
              </a:lnSpc>
              <a:spcBef>
                <a:spcPts val="0"/>
              </a:spcBef>
              <a:spcAft>
                <a:spcPts val="0"/>
              </a:spcAft>
              <a:buClr>
                <a:srgbClr val="000000"/>
              </a:buClr>
              <a:buSzTx/>
              <a:buFontTx/>
              <a:buNone/>
              <a:tabLst/>
              <a:defRPr/>
            </a:pPr>
            <a:fld id="{8FF9B0DE-3FEB-4AA0-B465-B80EF7C1333D}" type="slidenum">
              <a:rPr kumimoji="0" lang="en-US" sz="800" b="0" i="0" u="none" strike="noStrike" kern="0" cap="none" spc="0" normalizeH="0" baseline="0" noProof="0" smtClean="0">
                <a:ln>
                  <a:noFill/>
                </a:ln>
                <a:solidFill>
                  <a:srgbClr val="08312A"/>
                </a:solidFill>
                <a:effectLst/>
                <a:uLnTx/>
                <a:uFillTx/>
                <a:latin typeface="Boehringer Forward Text"/>
                <a:ea typeface="+mn-ea"/>
                <a:cs typeface="Arial"/>
                <a:sym typeface="Arial"/>
              </a:rPr>
              <a:pPr marL="0" marR="0" lvl="0" indent="0" algn="r" defTabSz="1219140" rtl="0" eaLnBrk="1" fontAlgn="auto" latinLnBrk="0" hangingPunct="1">
                <a:lnSpc>
                  <a:spcPct val="100000"/>
                </a:lnSpc>
                <a:spcBef>
                  <a:spcPts val="0"/>
                </a:spcBef>
                <a:spcAft>
                  <a:spcPts val="0"/>
                </a:spcAft>
                <a:buClr>
                  <a:srgbClr val="000000"/>
                </a:buClr>
                <a:buSzTx/>
                <a:buFontTx/>
                <a:buNone/>
                <a:tabLst/>
                <a:defRPr/>
              </a:pPr>
              <a:t>11</a:t>
            </a:fld>
            <a:endParaRPr kumimoji="0" lang="en-US" sz="800" b="0" i="0" u="none" strike="noStrike" kern="0" cap="none" spc="0" normalizeH="0" baseline="0" noProof="0">
              <a:ln>
                <a:noFill/>
              </a:ln>
              <a:solidFill>
                <a:srgbClr val="08312A"/>
              </a:solidFill>
              <a:effectLst/>
              <a:uLnTx/>
              <a:uFillTx/>
              <a:latin typeface="Boehringer Forward Text"/>
              <a:ea typeface="+mn-ea"/>
              <a:cs typeface="Arial"/>
              <a:sym typeface="Arial"/>
            </a:endParaRPr>
          </a:p>
        </p:txBody>
      </p:sp>
      <p:sp>
        <p:nvSpPr>
          <p:cNvPr id="240" name="OTLSHAPE_T_5a934a26f311425e8ebaa0f45e6533ad_Shape">
            <a:extLst>
              <a:ext uri="{FF2B5EF4-FFF2-40B4-BE49-F238E27FC236}">
                <a16:creationId xmlns:a16="http://schemas.microsoft.com/office/drawing/2014/main" id="{21D1E4E5-4537-27B3-191C-DC9BE1F753B8}"/>
              </a:ext>
            </a:extLst>
          </p:cNvPr>
          <p:cNvSpPr/>
          <p:nvPr>
            <p:custDataLst>
              <p:tags r:id="rId1"/>
            </p:custDataLst>
          </p:nvPr>
        </p:nvSpPr>
        <p:spPr bwMode="auto">
          <a:xfrm>
            <a:off x="6305113" y="2280323"/>
            <a:ext cx="1336606"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graphicFrame>
        <p:nvGraphicFramePr>
          <p:cNvPr id="241" name="Table 3">
            <a:extLst>
              <a:ext uri="{FF2B5EF4-FFF2-40B4-BE49-F238E27FC236}">
                <a16:creationId xmlns:a16="http://schemas.microsoft.com/office/drawing/2014/main" id="{2A80CCDD-F252-7AF8-28D6-6D198C9A4C18}"/>
              </a:ext>
            </a:extLst>
          </p:cNvPr>
          <p:cNvGraphicFramePr>
            <a:graphicFrameLocks noGrp="1"/>
          </p:cNvGraphicFramePr>
          <p:nvPr/>
        </p:nvGraphicFramePr>
        <p:xfrm>
          <a:off x="1285344" y="1097280"/>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5AD7A37-2BDA-8070-F910-68AF445B01DC}"/>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FF4A47C0-B573-2D36-3EBA-3581DD58A0F5}"/>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244" name="Isosceles Triangle 128">
            <a:extLst>
              <a:ext uri="{FF2B5EF4-FFF2-40B4-BE49-F238E27FC236}">
                <a16:creationId xmlns:a16="http://schemas.microsoft.com/office/drawing/2014/main" id="{071C9683-14D3-B462-7F3F-6BD66587560D}"/>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246" name="Picture 4">
            <a:extLst>
              <a:ext uri="{FF2B5EF4-FFF2-40B4-BE49-F238E27FC236}">
                <a16:creationId xmlns:a16="http://schemas.microsoft.com/office/drawing/2014/main" id="{5445369C-2056-5D52-0C1C-0209528BB08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712F598A-A946-75DB-0D0A-41D258CD622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3A9752C2-ADA8-5619-FABF-1F7148151C84}"/>
              </a:ext>
            </a:extLst>
          </p:cNvPr>
          <p:cNvSpPr/>
          <p:nvPr/>
        </p:nvSpPr>
        <p:spPr>
          <a:xfrm>
            <a:off x="4026674" y="2550481"/>
            <a:ext cx="388248"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rPr>
              <a:t>FPI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endParaRPr>
          </a:p>
        </p:txBody>
      </p:sp>
      <p:sp>
        <p:nvSpPr>
          <p:cNvPr id="250" name="OTLSHAPE_T_e17f3958430f4cff8650518c93c7635e_StartDate">
            <a:extLst>
              <a:ext uri="{FF2B5EF4-FFF2-40B4-BE49-F238E27FC236}">
                <a16:creationId xmlns:a16="http://schemas.microsoft.com/office/drawing/2014/main" id="{DA5B839B-FFDC-301A-B71B-671BED323000}"/>
              </a:ext>
            </a:extLst>
          </p:cNvPr>
          <p:cNvSpPr txBox="1"/>
          <p:nvPr>
            <p:custDataLst>
              <p:tags r:id="rId2"/>
            </p:custDataLst>
          </p:nvPr>
        </p:nvSpPr>
        <p:spPr>
          <a:xfrm>
            <a:off x="3728758" y="2090400"/>
            <a:ext cx="1060915"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May 2026</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51" name="OTLSHAPE_T_e17f3958430f4cff8650518c93c7635e_Shape">
            <a:extLst>
              <a:ext uri="{FF2B5EF4-FFF2-40B4-BE49-F238E27FC236}">
                <a16:creationId xmlns:a16="http://schemas.microsoft.com/office/drawing/2014/main" id="{78668AD3-CBDA-B41B-F03E-D30C2466AD71}"/>
              </a:ext>
            </a:extLst>
          </p:cNvPr>
          <p:cNvSpPr/>
          <p:nvPr>
            <p:custDataLst>
              <p:tags r:id="rId3"/>
            </p:custDataLst>
          </p:nvPr>
        </p:nvSpPr>
        <p:spPr bwMode="auto">
          <a:xfrm>
            <a:off x="4211766" y="2273316"/>
            <a:ext cx="209092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Ph2, N=60 </a:t>
            </a:r>
            <a:endParaRPr kumimoji="0" lang="en-US" altLang="zh-CN" sz="1067"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B758ABAE-C02A-0F57-33B5-E8E2DEBA0E6D}"/>
              </a:ext>
            </a:extLst>
          </p:cNvPr>
          <p:cNvSpPr/>
          <p:nvPr/>
        </p:nvSpPr>
        <p:spPr>
          <a:xfrm>
            <a:off x="6101273" y="2545858"/>
            <a:ext cx="389850" cy="256546"/>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190CE3AA-B511-0124-C3CE-D85787F77B38}"/>
              </a:ext>
            </a:extLst>
          </p:cNvPr>
          <p:cNvSpPr txBox="1"/>
          <p:nvPr>
            <p:custDataLst>
              <p:tags r:id="rId4"/>
            </p:custDataLst>
          </p:nvPr>
        </p:nvSpPr>
        <p:spPr>
          <a:xfrm>
            <a:off x="7139659" y="2045896"/>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2028</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68" name="Rectangle 55">
            <a:extLst>
              <a:ext uri="{FF2B5EF4-FFF2-40B4-BE49-F238E27FC236}">
                <a16:creationId xmlns:a16="http://schemas.microsoft.com/office/drawing/2014/main" id="{7564B725-E5AB-6ACF-7CAA-B124CD9A6DAD}"/>
              </a:ext>
            </a:extLst>
          </p:cNvPr>
          <p:cNvSpPr/>
          <p:nvPr/>
        </p:nvSpPr>
        <p:spPr>
          <a:xfrm>
            <a:off x="7155160" y="2561316"/>
            <a:ext cx="92685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AD076632-EAC6-093B-3B4A-9A00C6D7A9DF}"/>
              </a:ext>
            </a:extLst>
          </p:cNvPr>
          <p:cNvSpPr/>
          <p:nvPr/>
        </p:nvSpPr>
        <p:spPr bwMode="auto">
          <a:xfrm>
            <a:off x="4119010" y="24320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24B2901A-A339-7828-D4EA-93B975838A83}"/>
              </a:ext>
            </a:extLst>
          </p:cNvPr>
          <p:cNvSpPr/>
          <p:nvPr/>
        </p:nvSpPr>
        <p:spPr bwMode="auto">
          <a:xfrm>
            <a:off x="6207773" y="24478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8131ADE1-F855-FEC2-9B29-D1F32AFB9080}"/>
              </a:ext>
            </a:extLst>
          </p:cNvPr>
          <p:cNvSpPr/>
          <p:nvPr/>
        </p:nvSpPr>
        <p:spPr bwMode="auto">
          <a:xfrm>
            <a:off x="7538867" y="24892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83445FE-3A54-EF08-31F3-34628E910E51}"/>
              </a:ext>
            </a:extLst>
          </p:cNvPr>
          <p:cNvSpPr/>
          <p:nvPr>
            <p:custDataLst>
              <p:tags r:id="rId5"/>
            </p:custDataLst>
          </p:nvPr>
        </p:nvSpPr>
        <p:spPr bwMode="auto">
          <a:xfrm>
            <a:off x="4638864" y="4322636"/>
            <a:ext cx="177545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Ph2, N=8</a:t>
            </a:r>
          </a:p>
        </p:txBody>
      </p:sp>
      <p:sp>
        <p:nvSpPr>
          <p:cNvPr id="253" name="OTLSHAPE_T_e17f3958430f4cff8650518c93c7635e_StartDate">
            <a:extLst>
              <a:ext uri="{FF2B5EF4-FFF2-40B4-BE49-F238E27FC236}">
                <a16:creationId xmlns:a16="http://schemas.microsoft.com/office/drawing/2014/main" id="{A0CBDAB5-58B6-78EA-FCF8-7D1214BB5B86}"/>
              </a:ext>
            </a:extLst>
          </p:cNvPr>
          <p:cNvSpPr txBox="1"/>
          <p:nvPr>
            <p:custDataLst>
              <p:tags r:id="rId6"/>
            </p:custDataLst>
          </p:nvPr>
        </p:nvSpPr>
        <p:spPr>
          <a:xfrm>
            <a:off x="4400455" y="4102332"/>
            <a:ext cx="910164"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Jul 2026</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54" name="OTLSHAPE_T_e17f3958430f4cff8650518c93c7635e_Shape">
            <a:extLst>
              <a:ext uri="{FF2B5EF4-FFF2-40B4-BE49-F238E27FC236}">
                <a16:creationId xmlns:a16="http://schemas.microsoft.com/office/drawing/2014/main" id="{4E0C29DF-89B7-9D26-6AE7-5EE711E585D0}"/>
              </a:ext>
            </a:extLst>
          </p:cNvPr>
          <p:cNvSpPr/>
          <p:nvPr>
            <p:custDataLst>
              <p:tags r:id="rId7"/>
            </p:custDataLst>
          </p:nvPr>
        </p:nvSpPr>
        <p:spPr bwMode="auto">
          <a:xfrm>
            <a:off x="3513057" y="431131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EC + HGRAC + 1</a:t>
            </a:r>
            <a:r>
              <a:rPr kumimoji="0" lang="en-US" altLang="zh-CN" sz="8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19EDB331-C558-10C0-B52C-06138BE1F15D}"/>
              </a:ext>
            </a:extLst>
          </p:cNvPr>
          <p:cNvSpPr txBox="1"/>
          <p:nvPr>
            <p:custDataLst>
              <p:tags r:id="rId8"/>
            </p:custDataLst>
          </p:nvPr>
        </p:nvSpPr>
        <p:spPr>
          <a:xfrm>
            <a:off x="3021550" y="4114306"/>
            <a:ext cx="1061473"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a:t>
            </a:r>
            <a:r>
              <a:rPr kumimoji="0" lang="en-US" altLang="zh-CN" sz="1067" b="1" i="1"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Calibri" panose="020F0502020204030204" pitchFamily="34" charset="0"/>
              </a:rPr>
              <a:t> </a:t>
            </a: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2026</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034EE032-13CE-FDB6-DDAE-00935F08037C}"/>
              </a:ext>
            </a:extLst>
          </p:cNvPr>
          <p:cNvSpPr/>
          <p:nvPr/>
        </p:nvSpPr>
        <p:spPr>
          <a:xfrm>
            <a:off x="4478500" y="4599610"/>
            <a:ext cx="626660" cy="25654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1067"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47E41CE8-5D1E-D8C6-6F58-206611264952}"/>
              </a:ext>
            </a:extLst>
          </p:cNvPr>
          <p:cNvSpPr/>
          <p:nvPr>
            <p:custDataLst>
              <p:tags r:id="rId9"/>
            </p:custDataLst>
          </p:nvPr>
        </p:nvSpPr>
        <p:spPr bwMode="auto">
          <a:xfrm rot="16200000">
            <a:off x="3502280" y="454426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77D6BAF7-D679-BB96-BDD8-F1441044FADA}"/>
              </a:ext>
            </a:extLst>
          </p:cNvPr>
          <p:cNvSpPr txBox="1"/>
          <p:nvPr>
            <p:custDataLst>
              <p:tags r:id="rId10"/>
            </p:custDataLst>
          </p:nvPr>
        </p:nvSpPr>
        <p:spPr>
          <a:xfrm>
            <a:off x="3283602" y="4645776"/>
            <a:ext cx="928201" cy="164212"/>
          </a:xfrm>
          <a:prstGeom prst="rect">
            <a:avLst/>
          </a:prstGeom>
          <a:noFill/>
        </p:spPr>
        <p:txBody>
          <a:bodyPr vert="horz" wrap="square" lIns="0" tIns="0" rIns="0" bIns="0" rtlCol="0" anchor="ctr" anchorCtr="0">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 Sub</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D2F023E9-33AF-2E5A-E836-140983AA32A8}"/>
              </a:ext>
            </a:extLst>
          </p:cNvPr>
          <p:cNvSpPr/>
          <p:nvPr/>
        </p:nvSpPr>
        <p:spPr bwMode="auto">
          <a:xfrm>
            <a:off x="4608409" y="45134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CF4BA1F3-4A76-914A-7F0C-989855B21FA5}"/>
              </a:ext>
            </a:extLst>
          </p:cNvPr>
          <p:cNvSpPr txBox="1"/>
          <p:nvPr/>
        </p:nvSpPr>
        <p:spPr>
          <a:xfrm>
            <a:off x="9904264" y="2537947"/>
            <a:ext cx="1808327" cy="465518"/>
          </a:xfrm>
          <a:prstGeom prst="roundRect">
            <a:avLst/>
          </a:prstGeom>
          <a:noFill/>
          <a:ln>
            <a:solidFill>
              <a:srgbClr val="076D7E"/>
            </a:solidFill>
            <a:prstDash val="lgDash"/>
          </a:ln>
        </p:spPr>
        <p:txBody>
          <a:bodyPr wrap="square" rtlCol="0">
            <a:spAutoFit/>
          </a:bodyPr>
          <a:lstStyle/>
          <a:p>
            <a:pPr marL="95998" marR="0" lvl="0" indent="-95998"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n-US" altLang="zh-CN" sz="1067" b="0" i="1"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CTA finalized in Nov  6,  2025 </a:t>
            </a:r>
          </a:p>
        </p:txBody>
      </p:sp>
      <p:sp>
        <p:nvSpPr>
          <p:cNvPr id="5" name="TextBox 64">
            <a:extLst>
              <a:ext uri="{FF2B5EF4-FFF2-40B4-BE49-F238E27FC236}">
                <a16:creationId xmlns:a16="http://schemas.microsoft.com/office/drawing/2014/main" id="{766545FE-23B9-A29E-0A4C-3C796A8F92CE}"/>
              </a:ext>
            </a:extLst>
          </p:cNvPr>
          <p:cNvSpPr txBox="1"/>
          <p:nvPr/>
        </p:nvSpPr>
        <p:spPr>
          <a:xfrm>
            <a:off x="41127" y="2207331"/>
            <a:ext cx="1337645" cy="328423"/>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1479-0044</a:t>
            </a:r>
          </a:p>
        </p:txBody>
      </p:sp>
      <p:sp>
        <p:nvSpPr>
          <p:cNvPr id="7" name="TextBox 64">
            <a:extLst>
              <a:ext uri="{FF2B5EF4-FFF2-40B4-BE49-F238E27FC236}">
                <a16:creationId xmlns:a16="http://schemas.microsoft.com/office/drawing/2014/main" id="{3F7B91DB-C98B-C91C-38E1-0DA1ACF383EB}"/>
              </a:ext>
            </a:extLst>
          </p:cNvPr>
          <p:cNvSpPr txBox="1"/>
          <p:nvPr/>
        </p:nvSpPr>
        <p:spPr>
          <a:xfrm>
            <a:off x="48551" y="4501115"/>
            <a:ext cx="1337645" cy="328423"/>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1479-0044</a:t>
            </a:r>
          </a:p>
        </p:txBody>
      </p:sp>
      <p:sp>
        <p:nvSpPr>
          <p:cNvPr id="9" name="Rectangle 55">
            <a:extLst>
              <a:ext uri="{FF2B5EF4-FFF2-40B4-BE49-F238E27FC236}">
                <a16:creationId xmlns:a16="http://schemas.microsoft.com/office/drawing/2014/main" id="{03666C50-FA72-4CF6-DC23-AB13D997A41A}"/>
              </a:ext>
            </a:extLst>
          </p:cNvPr>
          <p:cNvSpPr/>
          <p:nvPr/>
        </p:nvSpPr>
        <p:spPr>
          <a:xfrm>
            <a:off x="6213871" y="4595872"/>
            <a:ext cx="389850" cy="256546"/>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C9DEEB30-2AC3-64C5-75C2-E0B48C9BAE25}"/>
              </a:ext>
            </a:extLst>
          </p:cNvPr>
          <p:cNvSpPr txBox="1"/>
          <p:nvPr>
            <p:custDataLst>
              <p:tags r:id="rId11"/>
            </p:custDataLst>
          </p:nvPr>
        </p:nvSpPr>
        <p:spPr>
          <a:xfrm>
            <a:off x="6383180" y="4094981"/>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Aug 2027</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1" name="Star: 4 Points 143">
            <a:extLst>
              <a:ext uri="{FF2B5EF4-FFF2-40B4-BE49-F238E27FC236}">
                <a16:creationId xmlns:a16="http://schemas.microsoft.com/office/drawing/2014/main" id="{869E27B8-C137-5AA4-AB81-549A540A5B1F}"/>
              </a:ext>
            </a:extLst>
          </p:cNvPr>
          <p:cNvSpPr/>
          <p:nvPr/>
        </p:nvSpPr>
        <p:spPr bwMode="auto">
          <a:xfrm>
            <a:off x="6292141" y="451592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2" name="OTLSHAPE_T_5a934a26f311425e8ebaa0f45e6533ad_Shape">
            <a:extLst>
              <a:ext uri="{FF2B5EF4-FFF2-40B4-BE49-F238E27FC236}">
                <a16:creationId xmlns:a16="http://schemas.microsoft.com/office/drawing/2014/main" id="{8F73D32B-BD0A-0A7D-22E6-EE06B627471B}"/>
              </a:ext>
            </a:extLst>
          </p:cNvPr>
          <p:cNvSpPr/>
          <p:nvPr>
            <p:custDataLst>
              <p:tags r:id="rId12"/>
            </p:custDataLst>
          </p:nvPr>
        </p:nvSpPr>
        <p:spPr bwMode="auto">
          <a:xfrm>
            <a:off x="6414314" y="4326232"/>
            <a:ext cx="142828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cxnSp>
        <p:nvCxnSpPr>
          <p:cNvPr id="8" name="连接符: 肘形 7">
            <a:extLst>
              <a:ext uri="{FF2B5EF4-FFF2-40B4-BE49-F238E27FC236}">
                <a16:creationId xmlns:a16="http://schemas.microsoft.com/office/drawing/2014/main" id="{9DE107B2-F771-5F96-ADA3-A5C19AEFCA3B}"/>
              </a:ext>
            </a:extLst>
          </p:cNvPr>
          <p:cNvCxnSpPr>
            <a:cxnSpLocks/>
            <a:stCxn id="268" idx="2"/>
          </p:cNvCxnSpPr>
          <p:nvPr/>
        </p:nvCxnSpPr>
        <p:spPr bwMode="gray">
          <a:xfrm rot="16200000" flipH="1">
            <a:off x="7929435" y="2507014"/>
            <a:ext cx="462244" cy="1083938"/>
          </a:xfrm>
          <a:prstGeom prst="bentConnector2">
            <a:avLst/>
          </a:prstGeom>
          <a:ln w="38100">
            <a:solidFill>
              <a:schemeClr val="tx2">
                <a:lumMod val="50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19" name="文本框 18">
            <a:extLst>
              <a:ext uri="{FF2B5EF4-FFF2-40B4-BE49-F238E27FC236}">
                <a16:creationId xmlns:a16="http://schemas.microsoft.com/office/drawing/2014/main" id="{1D5ABB02-D223-3C35-25D9-9182E7AC8BF1}"/>
              </a:ext>
            </a:extLst>
          </p:cNvPr>
          <p:cNvSpPr txBox="1"/>
          <p:nvPr/>
        </p:nvSpPr>
        <p:spPr bwMode="gray">
          <a:xfrm>
            <a:off x="8819368" y="3018621"/>
            <a:ext cx="1726185" cy="495457"/>
          </a:xfrm>
          <a:prstGeom prst="rect">
            <a:avLst/>
          </a:prstGeom>
          <a:solidFill>
            <a:schemeClr val="accent6">
              <a:lumMod val="75000"/>
            </a:schemeClr>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Further development plan</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T_e17f3958430f4cff8650518c93c7635e_StartDate">
            <a:extLst>
              <a:ext uri="{FF2B5EF4-FFF2-40B4-BE49-F238E27FC236}">
                <a16:creationId xmlns:a16="http://schemas.microsoft.com/office/drawing/2014/main" id="{DB8A03AC-F0B0-5754-9779-A6C81CAE9645}"/>
              </a:ext>
            </a:extLst>
          </p:cNvPr>
          <p:cNvSpPr txBox="1"/>
          <p:nvPr>
            <p:custDataLst>
              <p:tags r:id="rId13"/>
            </p:custDataLst>
          </p:nvPr>
        </p:nvSpPr>
        <p:spPr>
          <a:xfrm>
            <a:off x="5844320" y="2014771"/>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Aug 2027</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3" name="OTLSHAPE_T_e17f3958430f4cff8650518c93c7635e_StartDate">
            <a:extLst>
              <a:ext uri="{FF2B5EF4-FFF2-40B4-BE49-F238E27FC236}">
                <a16:creationId xmlns:a16="http://schemas.microsoft.com/office/drawing/2014/main" id="{DB39868E-DA88-F905-DA2E-0E5A7BCBC35D}"/>
              </a:ext>
            </a:extLst>
          </p:cNvPr>
          <p:cNvSpPr txBox="1"/>
          <p:nvPr>
            <p:custDataLst>
              <p:tags r:id="rId14"/>
            </p:custDataLst>
          </p:nvPr>
        </p:nvSpPr>
        <p:spPr>
          <a:xfrm>
            <a:off x="7327345" y="4089710"/>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2028</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4" name="Rectangle 55">
            <a:extLst>
              <a:ext uri="{FF2B5EF4-FFF2-40B4-BE49-F238E27FC236}">
                <a16:creationId xmlns:a16="http://schemas.microsoft.com/office/drawing/2014/main" id="{86D3510F-286E-05CF-05E5-D54AFA707A61}"/>
              </a:ext>
            </a:extLst>
          </p:cNvPr>
          <p:cNvSpPr/>
          <p:nvPr/>
        </p:nvSpPr>
        <p:spPr>
          <a:xfrm>
            <a:off x="7372105" y="4606325"/>
            <a:ext cx="92685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5" name="Star: 4 Points 143">
            <a:extLst>
              <a:ext uri="{FF2B5EF4-FFF2-40B4-BE49-F238E27FC236}">
                <a16:creationId xmlns:a16="http://schemas.microsoft.com/office/drawing/2014/main" id="{CDBBB9E9-36A6-DDD1-A1A6-6672394AA3DA}"/>
              </a:ext>
            </a:extLst>
          </p:cNvPr>
          <p:cNvSpPr/>
          <p:nvPr/>
        </p:nvSpPr>
        <p:spPr bwMode="auto">
          <a:xfrm>
            <a:off x="7755812" y="45342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6" name="文本框 160">
            <a:extLst>
              <a:ext uri="{FF2B5EF4-FFF2-40B4-BE49-F238E27FC236}">
                <a16:creationId xmlns:a16="http://schemas.microsoft.com/office/drawing/2014/main" id="{A53515F0-5B35-11E1-DBF4-B2CB40A47B68}"/>
              </a:ext>
            </a:extLst>
          </p:cNvPr>
          <p:cNvSpPr txBox="1"/>
          <p:nvPr/>
        </p:nvSpPr>
        <p:spPr>
          <a:xfrm>
            <a:off x="9986406" y="5237271"/>
            <a:ext cx="1726185" cy="283837"/>
          </a:xfrm>
          <a:prstGeom prst="roundRect">
            <a:avLst/>
          </a:prstGeom>
          <a:noFill/>
          <a:ln>
            <a:solidFill>
              <a:srgbClr val="076D7E"/>
            </a:solidFill>
            <a:prstDash val="lgDash"/>
          </a:ln>
        </p:spPr>
        <p:txBody>
          <a:bodyPr wrap="square" rtlCol="0">
            <a:spAutoFit/>
          </a:bodyPr>
          <a:lstStyle/>
          <a:p>
            <a:pPr marL="95998" marR="0" lvl="0" indent="-95998"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n-US" altLang="zh-CN" sz="1067" b="0" i="1"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Prepare for CTA sub.</a:t>
            </a:r>
          </a:p>
        </p:txBody>
      </p:sp>
      <p:grpSp>
        <p:nvGrpSpPr>
          <p:cNvPr id="17" name="Group 62">
            <a:extLst>
              <a:ext uri="{FF2B5EF4-FFF2-40B4-BE49-F238E27FC236}">
                <a16:creationId xmlns:a16="http://schemas.microsoft.com/office/drawing/2014/main" id="{127FA753-EB2B-FFC8-A682-4A7E56A1A31B}"/>
              </a:ext>
            </a:extLst>
          </p:cNvPr>
          <p:cNvGrpSpPr/>
          <p:nvPr/>
        </p:nvGrpSpPr>
        <p:grpSpPr>
          <a:xfrm>
            <a:off x="3072021" y="642289"/>
            <a:ext cx="546747" cy="6134718"/>
            <a:chOff x="1155349" y="1057179"/>
            <a:chExt cx="546747" cy="4601037"/>
          </a:xfrm>
        </p:grpSpPr>
        <p:cxnSp>
          <p:nvCxnSpPr>
            <p:cNvPr id="18" name="Straight Connector 63">
              <a:extLst>
                <a:ext uri="{FF2B5EF4-FFF2-40B4-BE49-F238E27FC236}">
                  <a16:creationId xmlns:a16="http://schemas.microsoft.com/office/drawing/2014/main" id="{A44D3ECD-CB69-A50B-D1C6-D54A689C4D44}"/>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0" name="OTLSHAPE_T_e17f3958430f4cff8650518c93c7635e_StartDate">
              <a:extLst>
                <a:ext uri="{FF2B5EF4-FFF2-40B4-BE49-F238E27FC236}">
                  <a16:creationId xmlns:a16="http://schemas.microsoft.com/office/drawing/2014/main" id="{9E89A955-2404-CE95-CC9B-4D1F66D83790}"/>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3440274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1BF7-21A2-4D08-896C-972F8FB60B5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41EB6C-E70E-85DC-D8BF-681EB9FF808D}"/>
              </a:ext>
            </a:extLst>
          </p:cNvPr>
          <p:cNvSpPr>
            <a:spLocks noGrp="1"/>
          </p:cNvSpPr>
          <p:nvPr>
            <p:ph type="title"/>
          </p:nvPr>
        </p:nvSpPr>
        <p:spPr>
          <a:xfrm>
            <a:off x="479422" y="1412876"/>
            <a:ext cx="9045577" cy="1799861"/>
          </a:xfrm>
        </p:spPr>
        <p:txBody>
          <a:bodyPr/>
          <a:lstStyle/>
          <a:p>
            <a:r>
              <a:rPr lang="en-US" altLang="zh-CN"/>
              <a:t>Zongertinib (BI 1810631, HER2 TKI)</a:t>
            </a:r>
            <a:endParaRPr lang="zh-CN" altLang="en-US"/>
          </a:p>
        </p:txBody>
      </p:sp>
      <p:sp>
        <p:nvSpPr>
          <p:cNvPr id="2" name="文本占位符 1">
            <a:extLst>
              <a:ext uri="{FF2B5EF4-FFF2-40B4-BE49-F238E27FC236}">
                <a16:creationId xmlns:a16="http://schemas.microsoft.com/office/drawing/2014/main" id="{56338CE4-EEC2-9E59-FF0A-391EB60ED4E1}"/>
              </a:ext>
            </a:extLst>
          </p:cNvPr>
          <p:cNvSpPr>
            <a:spLocks noGrp="1"/>
          </p:cNvSpPr>
          <p:nvPr>
            <p:ph type="subTitle" idx="14"/>
          </p:nvPr>
        </p:nvSpPr>
        <p:spPr/>
        <p:txBody>
          <a:bodyPr/>
          <a:lstStyle/>
          <a:p>
            <a:r>
              <a:rPr lang="en-US" altLang="zh-CN" sz="2400" b="1" u="sng"/>
              <a:t>P2- Non-Lung</a:t>
            </a:r>
            <a:endParaRPr lang="zh-CN" altLang="en-US" sz="2400" b="1" u="sng"/>
          </a:p>
        </p:txBody>
      </p:sp>
      <p:sp>
        <p:nvSpPr>
          <p:cNvPr id="4" name="Slide Number Placeholder 3">
            <a:extLst>
              <a:ext uri="{FF2B5EF4-FFF2-40B4-BE49-F238E27FC236}">
                <a16:creationId xmlns:a16="http://schemas.microsoft.com/office/drawing/2014/main" id="{FA9506E7-161A-B5E3-7C6E-84FD85AE962F}"/>
              </a:ext>
            </a:extLst>
          </p:cNvPr>
          <p:cNvSpPr>
            <a:spLocks noGrp="1"/>
          </p:cNvSpPr>
          <p:nvPr>
            <p:ph type="sldNum" sz="quarter" idx="16"/>
          </p:nvPr>
        </p:nvSpPr>
        <p:spPr/>
        <p:txBody>
          <a:bodyPr/>
          <a:lstStyle/>
          <a:p>
            <a:fld id="{8FF9B0DE-3FEB-4AA0-B465-B80EF7C1333D}" type="slidenum">
              <a:rPr lang="en-US" smtClean="0"/>
              <a:pPr/>
              <a:t>12</a:t>
            </a:fld>
            <a:endParaRPr lang="en-US"/>
          </a:p>
        </p:txBody>
      </p:sp>
    </p:spTree>
    <p:extLst>
      <p:ext uri="{BB962C8B-B14F-4D97-AF65-F5344CB8AC3E}">
        <p14:creationId xmlns:p14="http://schemas.microsoft.com/office/powerpoint/2010/main" val="2148723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0543C3D-5195-CE0F-A1AA-C3EDC449A0F8}"/>
              </a:ext>
            </a:extLst>
          </p:cNvPr>
          <p:cNvSpPr>
            <a:spLocks/>
          </p:cNvSpPr>
          <p:nvPr/>
        </p:nvSpPr>
        <p:spPr bwMode="gray">
          <a:xfrm>
            <a:off x="2203738" y="3731052"/>
            <a:ext cx="1639939"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Ph1</a:t>
            </a:r>
          </a:p>
          <a:p>
            <a:pPr defTabSz="958827">
              <a:lnSpc>
                <a:spcPct val="110000"/>
              </a:lnSpc>
              <a:spcAft>
                <a:spcPts val="600"/>
              </a:spcAft>
              <a:tabLst>
                <a:tab pos="596885" algn="l"/>
                <a:tab pos="952476" algn="l"/>
              </a:tabLst>
              <a:defRPr/>
            </a:pPr>
            <a:r>
              <a:rPr lang="en-GB" sz="1100" b="1" i="1">
                <a:solidFill>
                  <a:schemeClr val="tx1"/>
                </a:solidFill>
              </a:rPr>
              <a:t>Combination: T-DM1 or cape/T </a:t>
            </a:r>
            <a:r>
              <a:rPr lang="en-GB" sz="1100" i="1">
                <a:solidFill>
                  <a:schemeClr val="tx1"/>
                </a:solidFill>
              </a:rPr>
              <a:t>or </a:t>
            </a:r>
            <a:r>
              <a:rPr lang="en-GB" sz="1100" i="1" err="1">
                <a:solidFill>
                  <a:schemeClr val="tx1"/>
                </a:solidFill>
              </a:rPr>
              <a:t>zani</a:t>
            </a:r>
            <a:r>
              <a:rPr lang="en-GB" sz="1100" i="1">
                <a:solidFill>
                  <a:schemeClr val="tx1"/>
                </a:solidFill>
              </a:rPr>
              <a:t>/cape</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a:t>
            </a:r>
            <a:r>
              <a:rPr lang="en-GB" sz="1100" b="1" i="1">
                <a:solidFill>
                  <a:schemeClr val="tx1"/>
                </a:solidFill>
              </a:rPr>
              <a:t> Launch: </a:t>
            </a:r>
            <a:r>
              <a:rPr lang="en-GB" sz="1100" i="1">
                <a:solidFill>
                  <a:schemeClr val="tx1"/>
                </a:solidFill>
              </a:rPr>
              <a:t>2032</a:t>
            </a:r>
          </a:p>
        </p:txBody>
      </p:sp>
      <p:sp>
        <p:nvSpPr>
          <p:cNvPr id="64" name="Rectangle 63">
            <a:extLst>
              <a:ext uri="{FF2B5EF4-FFF2-40B4-BE49-F238E27FC236}">
                <a16:creationId xmlns:a16="http://schemas.microsoft.com/office/drawing/2014/main" id="{8DB360F4-E32D-953C-0DDE-64B40015896F}"/>
              </a:ext>
            </a:extLst>
          </p:cNvPr>
          <p:cNvSpPr>
            <a:spLocks/>
          </p:cNvSpPr>
          <p:nvPr/>
        </p:nvSpPr>
        <p:spPr bwMode="gray">
          <a:xfrm>
            <a:off x="3952677" y="3731052"/>
            <a:ext cx="1302398"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i="1">
                <a:solidFill>
                  <a:schemeClr val="tx1"/>
                </a:solidFill>
              </a:rPr>
              <a:t>Mono or Combi Trastuzumab</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a:t>
            </a:r>
            <a:r>
              <a:rPr lang="en-GB" sz="1100" b="1" i="1">
                <a:solidFill>
                  <a:schemeClr val="tx1"/>
                </a:solidFill>
              </a:rPr>
              <a:t> Launch: </a:t>
            </a:r>
            <a:r>
              <a:rPr lang="en-GB" sz="1100" i="1">
                <a:solidFill>
                  <a:schemeClr val="tx1"/>
                </a:solidFill>
              </a:rPr>
              <a:t>2029</a:t>
            </a:r>
          </a:p>
        </p:txBody>
      </p:sp>
      <p:sp>
        <p:nvSpPr>
          <p:cNvPr id="65" name="Rectangle 64">
            <a:extLst>
              <a:ext uri="{FF2B5EF4-FFF2-40B4-BE49-F238E27FC236}">
                <a16:creationId xmlns:a16="http://schemas.microsoft.com/office/drawing/2014/main" id="{1CE2BDF6-0A67-47F4-1A5E-9E8BFF37E08C}"/>
              </a:ext>
            </a:extLst>
          </p:cNvPr>
          <p:cNvSpPr>
            <a:spLocks/>
          </p:cNvSpPr>
          <p:nvPr/>
        </p:nvSpPr>
        <p:spPr bwMode="gray">
          <a:xfrm>
            <a:off x="8295163" y="3740621"/>
            <a:ext cx="1433304"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Ph1</a:t>
            </a:r>
          </a:p>
          <a:p>
            <a:pPr defTabSz="958827">
              <a:lnSpc>
                <a:spcPct val="110000"/>
              </a:lnSpc>
              <a:spcAft>
                <a:spcPts val="600"/>
              </a:spcAft>
              <a:tabLst>
                <a:tab pos="596885" algn="l"/>
                <a:tab pos="952476" algn="l"/>
              </a:tabLst>
              <a:defRPr/>
            </a:pPr>
            <a:r>
              <a:rPr lang="en-GB" sz="1100" b="1" i="1">
                <a:solidFill>
                  <a:schemeClr val="tx1"/>
                </a:solidFill>
              </a:rPr>
              <a:t>Combination: </a:t>
            </a:r>
            <a:br>
              <a:rPr lang="en-GB" sz="1100" b="1" i="1">
                <a:solidFill>
                  <a:schemeClr val="tx1"/>
                </a:solidFill>
              </a:rPr>
            </a:br>
            <a:r>
              <a:rPr lang="en-GB" sz="1100" i="1" err="1">
                <a:solidFill>
                  <a:schemeClr val="tx1"/>
                </a:solidFill>
              </a:rPr>
              <a:t>wT-DXd</a:t>
            </a:r>
            <a:endParaRPr lang="en-GB" sz="1100" i="1">
              <a:solidFill>
                <a:schemeClr val="tx1"/>
              </a:solidFill>
            </a:endParaRP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 </a:t>
            </a:r>
            <a:r>
              <a:rPr lang="en-GB" sz="1100" b="1" i="1">
                <a:solidFill>
                  <a:schemeClr val="tx1"/>
                </a:solidFill>
              </a:rPr>
              <a:t>Launch: </a:t>
            </a:r>
            <a:r>
              <a:rPr lang="en-GB" sz="1100" i="1">
                <a:solidFill>
                  <a:schemeClr val="tx1"/>
                </a:solidFill>
              </a:rPr>
              <a:t>2031</a:t>
            </a:r>
          </a:p>
        </p:txBody>
      </p:sp>
      <p:sp>
        <p:nvSpPr>
          <p:cNvPr id="74" name="Rectangle 73">
            <a:extLst>
              <a:ext uri="{FF2B5EF4-FFF2-40B4-BE49-F238E27FC236}">
                <a16:creationId xmlns:a16="http://schemas.microsoft.com/office/drawing/2014/main" id="{0F37026E-6143-1CBD-8F92-11B33478E529}"/>
              </a:ext>
            </a:extLst>
          </p:cNvPr>
          <p:cNvSpPr>
            <a:spLocks/>
          </p:cNvSpPr>
          <p:nvPr/>
        </p:nvSpPr>
        <p:spPr bwMode="gray">
          <a:xfrm>
            <a:off x="8295163" y="1519302"/>
            <a:ext cx="1433304"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Ph1b</a:t>
            </a:r>
          </a:p>
          <a:p>
            <a:pPr defTabSz="958827">
              <a:lnSpc>
                <a:spcPct val="110000"/>
              </a:lnSpc>
              <a:spcAft>
                <a:spcPts val="600"/>
              </a:spcAft>
              <a:tabLst>
                <a:tab pos="596885" algn="l"/>
                <a:tab pos="952476" algn="l"/>
              </a:tabLst>
              <a:defRPr/>
            </a:pPr>
            <a:r>
              <a:rPr lang="en-GB" sz="1100" b="1" i="1">
                <a:solidFill>
                  <a:schemeClr val="tx1"/>
                </a:solidFill>
              </a:rPr>
              <a:t>Combination: </a:t>
            </a:r>
            <a:br>
              <a:rPr lang="en-GB" sz="1100" b="1" i="1">
                <a:solidFill>
                  <a:schemeClr val="tx1"/>
                </a:solidFill>
              </a:rPr>
            </a:br>
            <a:r>
              <a:rPr lang="en-GB" sz="1100" i="1" err="1">
                <a:solidFill>
                  <a:schemeClr val="tx1"/>
                </a:solidFill>
              </a:rPr>
              <a:t>wT-DXd</a:t>
            </a:r>
            <a:endParaRPr lang="en-GB" sz="1100" i="1">
              <a:solidFill>
                <a:schemeClr val="tx1"/>
              </a:solidFill>
            </a:endParaRP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a:t>
            </a:r>
            <a:r>
              <a:rPr lang="en-GB" sz="1100" b="1" i="1">
                <a:solidFill>
                  <a:schemeClr val="tx1"/>
                </a:solidFill>
              </a:rPr>
              <a:t> Launch: </a:t>
            </a:r>
            <a:r>
              <a:rPr lang="en-GB" sz="1100" i="1">
                <a:solidFill>
                  <a:schemeClr val="tx1"/>
                </a:solidFill>
              </a:rPr>
              <a:t>2031</a:t>
            </a:r>
          </a:p>
        </p:txBody>
      </p:sp>
      <p:sp>
        <p:nvSpPr>
          <p:cNvPr id="38" name="Title 37">
            <a:extLst>
              <a:ext uri="{FF2B5EF4-FFF2-40B4-BE49-F238E27FC236}">
                <a16:creationId xmlns:a16="http://schemas.microsoft.com/office/drawing/2014/main" id="{60F6B64E-284D-73C8-8E08-BE1FED447D0E}"/>
              </a:ext>
            </a:extLst>
          </p:cNvPr>
          <p:cNvSpPr>
            <a:spLocks noGrp="1"/>
          </p:cNvSpPr>
          <p:nvPr>
            <p:ph type="title"/>
          </p:nvPr>
        </p:nvSpPr>
        <p:spPr/>
        <p:txBody>
          <a:bodyPr/>
          <a:lstStyle/>
          <a:p>
            <a:r>
              <a:rPr lang="en-US" altLang="zh-CN" sz="2000" i="1" err="1">
                <a:solidFill>
                  <a:schemeClr val="tx1"/>
                </a:solidFill>
                <a:latin typeface="+mn-lt"/>
              </a:rPr>
              <a:t>Zongertinib</a:t>
            </a:r>
            <a:r>
              <a:rPr lang="en-US" altLang="zh-CN" sz="2000" i="1">
                <a:solidFill>
                  <a:schemeClr val="tx1"/>
                </a:solidFill>
                <a:latin typeface="+mn-lt"/>
              </a:rPr>
              <a:t> P</a:t>
            </a:r>
            <a:r>
              <a:rPr lang="en-GB" sz="2000" i="1">
                <a:solidFill>
                  <a:schemeClr val="tx1"/>
                </a:solidFill>
                <a:latin typeface="+mn-lt"/>
              </a:rPr>
              <a:t>2 </a:t>
            </a:r>
            <a:r>
              <a:rPr lang="en-US" altLang="zh-CN" sz="2000" i="1">
                <a:solidFill>
                  <a:schemeClr val="tx1"/>
                </a:solidFill>
                <a:latin typeface="+mn-lt"/>
              </a:rPr>
              <a:t>indications expansion:</a:t>
            </a:r>
            <a:r>
              <a:rPr lang="en-GB" sz="2000" i="1">
                <a:solidFill>
                  <a:schemeClr val="tx1"/>
                </a:solidFill>
                <a:latin typeface="+mn-lt"/>
              </a:rPr>
              <a:t>  </a:t>
            </a:r>
            <a:r>
              <a:rPr lang="en-GB" sz="2000" i="1" err="1">
                <a:solidFill>
                  <a:schemeClr val="tx1"/>
                </a:solidFill>
                <a:latin typeface="+mn-lt"/>
              </a:rPr>
              <a:t>Zanidatamab</a:t>
            </a:r>
            <a:r>
              <a:rPr lang="en-GB" sz="2000" i="1">
                <a:solidFill>
                  <a:schemeClr val="tx1"/>
                </a:solidFill>
                <a:latin typeface="+mn-lt"/>
              </a:rPr>
              <a:t> combination in 2L BC, capture newly identified opportunities in pan-</a:t>
            </a:r>
            <a:r>
              <a:rPr lang="en-GB" sz="2000" i="1" err="1">
                <a:solidFill>
                  <a:schemeClr val="tx1"/>
                </a:solidFill>
                <a:latin typeface="+mn-lt"/>
              </a:rPr>
              <a:t>tumor</a:t>
            </a:r>
            <a:r>
              <a:rPr lang="en-GB" sz="2000" i="1">
                <a:solidFill>
                  <a:schemeClr val="tx1"/>
                </a:solidFill>
                <a:latin typeface="+mn-lt"/>
              </a:rPr>
              <a:t>, and CRC space new development </a:t>
            </a:r>
          </a:p>
        </p:txBody>
      </p:sp>
      <p:sp>
        <p:nvSpPr>
          <p:cNvPr id="7" name="Rechteck 6">
            <a:extLst>
              <a:ext uri="{FF2B5EF4-FFF2-40B4-BE49-F238E27FC236}">
                <a16:creationId xmlns:a16="http://schemas.microsoft.com/office/drawing/2014/main" id="{5601B5EA-1F24-4105-9B3D-8A64934C6821}"/>
              </a:ext>
            </a:extLst>
          </p:cNvPr>
          <p:cNvSpPr>
            <a:spLocks/>
          </p:cNvSpPr>
          <p:nvPr/>
        </p:nvSpPr>
        <p:spPr bwMode="gray">
          <a:xfrm>
            <a:off x="836931" y="1503105"/>
            <a:ext cx="1213195" cy="1800017"/>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defTabSz="1625478">
              <a:lnSpc>
                <a:spcPct val="110000"/>
              </a:lnSpc>
              <a:spcBef>
                <a:spcPct val="0"/>
              </a:spcBef>
              <a:spcAft>
                <a:spcPts val="300"/>
              </a:spcAft>
              <a:defRPr/>
            </a:pPr>
            <a:r>
              <a:rPr lang="en-GB" sz="1400" b="1">
                <a:solidFill>
                  <a:schemeClr val="tx2"/>
                </a:solidFill>
                <a:sym typeface="Calibri"/>
              </a:rPr>
              <a:t>Indications:</a:t>
            </a:r>
          </a:p>
          <a:p>
            <a:pPr defTabSz="1625478">
              <a:lnSpc>
                <a:spcPct val="110000"/>
              </a:lnSpc>
              <a:spcBef>
                <a:spcPct val="0"/>
              </a:spcBef>
              <a:spcAft>
                <a:spcPts val="600"/>
              </a:spcAft>
              <a:defRPr/>
            </a:pPr>
            <a:r>
              <a:rPr lang="en-GB" sz="1400" b="1">
                <a:solidFill>
                  <a:srgbClr val="FFFFFF"/>
                </a:solidFill>
                <a:sym typeface="Calibri"/>
              </a:rPr>
              <a:t>HPSC approved</a:t>
            </a:r>
          </a:p>
          <a:p>
            <a:pPr defTabSz="1625478">
              <a:lnSpc>
                <a:spcPct val="110000"/>
              </a:lnSpc>
              <a:spcBef>
                <a:spcPct val="0"/>
              </a:spcBef>
              <a:spcAft>
                <a:spcPts val="600"/>
              </a:spcAft>
              <a:defRPr/>
            </a:pPr>
            <a:r>
              <a:rPr lang="en-GB" sz="1400" b="1" i="1">
                <a:solidFill>
                  <a:srgbClr val="FFFFFF"/>
                </a:solidFill>
                <a:sym typeface="Calibri"/>
              </a:rPr>
              <a:t>Dec 2024</a:t>
            </a:r>
          </a:p>
        </p:txBody>
      </p:sp>
      <p:sp>
        <p:nvSpPr>
          <p:cNvPr id="50" name="Textfeld 49">
            <a:extLst>
              <a:ext uri="{FF2B5EF4-FFF2-40B4-BE49-F238E27FC236}">
                <a16:creationId xmlns:a16="http://schemas.microsoft.com/office/drawing/2014/main" id="{7878A2A7-60E0-423F-AB37-07723D821564}"/>
              </a:ext>
            </a:extLst>
          </p:cNvPr>
          <p:cNvSpPr txBox="1"/>
          <p:nvPr/>
        </p:nvSpPr>
        <p:spPr>
          <a:xfrm>
            <a:off x="8345375" y="1521176"/>
            <a:ext cx="1339455" cy="276999"/>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200">
                <a:solidFill>
                  <a:schemeClr val="tx1"/>
                </a:solidFill>
                <a:latin typeface="+mn-lt"/>
              </a:rPr>
              <a:t>2L HER2+ </a:t>
            </a:r>
            <a:r>
              <a:rPr lang="en-GB" sz="1200" err="1">
                <a:solidFill>
                  <a:schemeClr val="tx1"/>
                </a:solidFill>
                <a:latin typeface="+mn-lt"/>
              </a:rPr>
              <a:t>mGC</a:t>
            </a:r>
            <a:endParaRPr lang="en-GB" sz="1200">
              <a:solidFill>
                <a:schemeClr val="tx1"/>
              </a:solidFill>
              <a:latin typeface="+mn-lt"/>
            </a:endParaRPr>
          </a:p>
        </p:txBody>
      </p:sp>
      <p:sp>
        <p:nvSpPr>
          <p:cNvPr id="9" name="Rechteck 8">
            <a:extLst>
              <a:ext uri="{FF2B5EF4-FFF2-40B4-BE49-F238E27FC236}">
                <a16:creationId xmlns:a16="http://schemas.microsoft.com/office/drawing/2014/main" id="{39449EA2-6D7A-6BAE-3AFE-6D4C7A5ADF9E}"/>
              </a:ext>
            </a:extLst>
          </p:cNvPr>
          <p:cNvSpPr>
            <a:spLocks/>
          </p:cNvSpPr>
          <p:nvPr/>
        </p:nvSpPr>
        <p:spPr bwMode="gray">
          <a:xfrm>
            <a:off x="836931" y="3710569"/>
            <a:ext cx="1213196" cy="1800017"/>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defTabSz="1625478">
              <a:lnSpc>
                <a:spcPct val="110000"/>
              </a:lnSpc>
              <a:spcBef>
                <a:spcPct val="0"/>
              </a:spcBef>
              <a:spcAft>
                <a:spcPts val="300"/>
              </a:spcAft>
              <a:defRPr/>
            </a:pPr>
            <a:r>
              <a:rPr lang="en-GB" sz="1400" b="1">
                <a:solidFill>
                  <a:schemeClr val="tx2"/>
                </a:solidFill>
                <a:sym typeface="Calibri"/>
              </a:rPr>
              <a:t>Indications:</a:t>
            </a:r>
          </a:p>
          <a:p>
            <a:pPr defTabSz="1625478">
              <a:lnSpc>
                <a:spcPct val="110000"/>
              </a:lnSpc>
              <a:spcBef>
                <a:spcPct val="0"/>
              </a:spcBef>
              <a:spcAft>
                <a:spcPts val="600"/>
              </a:spcAft>
              <a:defRPr/>
            </a:pPr>
            <a:r>
              <a:rPr lang="en-GB" sz="1400" b="1">
                <a:solidFill>
                  <a:srgbClr val="FFFFFF"/>
                </a:solidFill>
                <a:sym typeface="Calibri"/>
              </a:rPr>
              <a:t>New recommendation</a:t>
            </a:r>
          </a:p>
          <a:p>
            <a:pPr defTabSz="1625478">
              <a:lnSpc>
                <a:spcPct val="110000"/>
              </a:lnSpc>
              <a:spcBef>
                <a:spcPct val="0"/>
              </a:spcBef>
              <a:spcAft>
                <a:spcPts val="600"/>
              </a:spcAft>
              <a:defRPr/>
            </a:pPr>
            <a:r>
              <a:rPr lang="en-US" altLang="zh-CN" sz="1400" b="1" i="1">
                <a:solidFill>
                  <a:srgbClr val="FFFFFF"/>
                </a:solidFill>
                <a:sym typeface="Calibri"/>
              </a:rPr>
              <a:t>Oct</a:t>
            </a:r>
          </a:p>
          <a:p>
            <a:pPr defTabSz="1625478">
              <a:lnSpc>
                <a:spcPct val="110000"/>
              </a:lnSpc>
              <a:spcBef>
                <a:spcPct val="0"/>
              </a:spcBef>
              <a:spcAft>
                <a:spcPts val="600"/>
              </a:spcAft>
              <a:defRPr/>
            </a:pPr>
            <a:r>
              <a:rPr lang="en-GB" sz="1400" b="1" i="1">
                <a:solidFill>
                  <a:srgbClr val="FFFFFF"/>
                </a:solidFill>
                <a:sym typeface="Calibri"/>
              </a:rPr>
              <a:t> 2025</a:t>
            </a:r>
          </a:p>
        </p:txBody>
      </p:sp>
      <p:sp>
        <p:nvSpPr>
          <p:cNvPr id="15" name="Textfeld 14">
            <a:extLst>
              <a:ext uri="{FF2B5EF4-FFF2-40B4-BE49-F238E27FC236}">
                <a16:creationId xmlns:a16="http://schemas.microsoft.com/office/drawing/2014/main" id="{15F30F03-CA3B-4920-9951-75DD1A936130}"/>
              </a:ext>
            </a:extLst>
          </p:cNvPr>
          <p:cNvSpPr txBox="1"/>
          <p:nvPr/>
        </p:nvSpPr>
        <p:spPr>
          <a:xfrm>
            <a:off x="2356690" y="3719071"/>
            <a:ext cx="1376412" cy="276999"/>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200">
                <a:solidFill>
                  <a:schemeClr val="tx1"/>
                </a:solidFill>
                <a:latin typeface="+mn-lt"/>
              </a:rPr>
              <a:t>2L HER2+ </a:t>
            </a:r>
            <a:r>
              <a:rPr lang="en-GB" sz="1200" err="1">
                <a:solidFill>
                  <a:schemeClr val="tx1"/>
                </a:solidFill>
                <a:latin typeface="+mn-lt"/>
              </a:rPr>
              <a:t>mBC</a:t>
            </a:r>
            <a:endParaRPr lang="en-GB" sz="1200">
              <a:solidFill>
                <a:schemeClr val="tx1"/>
              </a:solidFill>
              <a:latin typeface="+mn-lt"/>
            </a:endParaRPr>
          </a:p>
        </p:txBody>
      </p:sp>
      <p:sp>
        <p:nvSpPr>
          <p:cNvPr id="17" name="Textfeld 16">
            <a:extLst>
              <a:ext uri="{FF2B5EF4-FFF2-40B4-BE49-F238E27FC236}">
                <a16:creationId xmlns:a16="http://schemas.microsoft.com/office/drawing/2014/main" id="{85385389-6DEB-76D5-E793-326211D1F723}"/>
              </a:ext>
            </a:extLst>
          </p:cNvPr>
          <p:cNvSpPr txBox="1"/>
          <p:nvPr/>
        </p:nvSpPr>
        <p:spPr>
          <a:xfrm>
            <a:off x="8319058" y="3736609"/>
            <a:ext cx="1339455" cy="276999"/>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200">
                <a:solidFill>
                  <a:schemeClr val="tx1"/>
                </a:solidFill>
                <a:latin typeface="+mn-lt"/>
              </a:rPr>
              <a:t>2L HER2+ </a:t>
            </a:r>
            <a:r>
              <a:rPr lang="en-GB" sz="1200" err="1">
                <a:solidFill>
                  <a:schemeClr val="tx1"/>
                </a:solidFill>
                <a:latin typeface="+mn-lt"/>
              </a:rPr>
              <a:t>mGC</a:t>
            </a:r>
            <a:endParaRPr lang="en-GB" sz="1200">
              <a:solidFill>
                <a:schemeClr val="tx1"/>
              </a:solidFill>
              <a:latin typeface="+mn-lt"/>
            </a:endParaRPr>
          </a:p>
        </p:txBody>
      </p:sp>
      <p:sp>
        <p:nvSpPr>
          <p:cNvPr id="32" name="Textfeld 31">
            <a:extLst>
              <a:ext uri="{FF2B5EF4-FFF2-40B4-BE49-F238E27FC236}">
                <a16:creationId xmlns:a16="http://schemas.microsoft.com/office/drawing/2014/main" id="{9AD33483-D7B8-D402-E868-792A0AEBE5A7}"/>
              </a:ext>
            </a:extLst>
          </p:cNvPr>
          <p:cNvSpPr txBox="1"/>
          <p:nvPr/>
        </p:nvSpPr>
        <p:spPr>
          <a:xfrm>
            <a:off x="3952210" y="3726766"/>
            <a:ext cx="1293286" cy="261610"/>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100">
                <a:solidFill>
                  <a:schemeClr val="tx1"/>
                </a:solidFill>
                <a:latin typeface="+mn-lt"/>
              </a:rPr>
              <a:t>3L+ HER2+ </a:t>
            </a:r>
            <a:r>
              <a:rPr lang="en-GB" sz="1100" err="1">
                <a:solidFill>
                  <a:schemeClr val="tx1"/>
                </a:solidFill>
                <a:latin typeface="+mn-lt"/>
              </a:rPr>
              <a:t>mBC</a:t>
            </a:r>
            <a:endParaRPr lang="en-GB" sz="1100">
              <a:solidFill>
                <a:schemeClr val="tx1"/>
              </a:solidFill>
              <a:latin typeface="+mn-lt"/>
            </a:endParaRPr>
          </a:p>
        </p:txBody>
      </p:sp>
      <p:sp>
        <p:nvSpPr>
          <p:cNvPr id="24" name="Textfeld 23">
            <a:extLst>
              <a:ext uri="{FF2B5EF4-FFF2-40B4-BE49-F238E27FC236}">
                <a16:creationId xmlns:a16="http://schemas.microsoft.com/office/drawing/2014/main" id="{3799E755-63CD-B455-03B3-9D2F1CB30B0A}"/>
              </a:ext>
            </a:extLst>
          </p:cNvPr>
          <p:cNvSpPr txBox="1"/>
          <p:nvPr/>
        </p:nvSpPr>
        <p:spPr bwMode="gray">
          <a:xfrm>
            <a:off x="2240553" y="5226684"/>
            <a:ext cx="1561265" cy="1308152"/>
          </a:xfrm>
          <a:prstGeom prst="rect">
            <a:avLst/>
          </a:prstGeom>
          <a:solidFill>
            <a:schemeClr val="accent2"/>
          </a:solidFill>
        </p:spPr>
        <p:txBody>
          <a:bodyPr wrap="square" lIns="36000" tIns="0" rIns="0" bIns="0" rtlCol="0" anchor="ctr">
            <a:noAutofit/>
          </a:bodyPr>
          <a:lstStyle/>
          <a:p>
            <a:pPr marL="171450" indent="-171450">
              <a:buFont typeface="Arial" panose="020B0604020202020204" pitchFamily="34" charset="0"/>
              <a:buChar char="•"/>
            </a:pPr>
            <a:r>
              <a:rPr lang="en-GB" sz="1100"/>
              <a:t>Opportunity to add </a:t>
            </a:r>
            <a:r>
              <a:rPr lang="en-GB" sz="1100" err="1"/>
              <a:t>zani</a:t>
            </a:r>
            <a:r>
              <a:rPr lang="en-GB" sz="1100"/>
              <a:t> combination</a:t>
            </a:r>
          </a:p>
        </p:txBody>
      </p:sp>
      <p:sp>
        <p:nvSpPr>
          <p:cNvPr id="33" name="Textfeld 32">
            <a:extLst>
              <a:ext uri="{FF2B5EF4-FFF2-40B4-BE49-F238E27FC236}">
                <a16:creationId xmlns:a16="http://schemas.microsoft.com/office/drawing/2014/main" id="{AC73456F-DFB2-780E-6AE3-8523D3EA960B}"/>
              </a:ext>
            </a:extLst>
          </p:cNvPr>
          <p:cNvSpPr txBox="1"/>
          <p:nvPr/>
        </p:nvSpPr>
        <p:spPr bwMode="gray">
          <a:xfrm>
            <a:off x="3925893" y="5226684"/>
            <a:ext cx="1340778" cy="1308152"/>
          </a:xfrm>
          <a:prstGeom prst="rect">
            <a:avLst/>
          </a:prstGeom>
          <a:solidFill>
            <a:schemeClr val="bg1">
              <a:lumMod val="85000"/>
            </a:schemeClr>
          </a:solidFill>
        </p:spPr>
        <p:txBody>
          <a:bodyPr wrap="square" lIns="0" tIns="0" rIns="0" bIns="0" rtlCol="0" anchor="ctr">
            <a:noAutofit/>
          </a:bodyPr>
          <a:lstStyle/>
          <a:p>
            <a:pPr marL="171450" indent="-171450">
              <a:lnSpc>
                <a:spcPct val="110000"/>
              </a:lnSpc>
              <a:buFont typeface="Arial" panose="020B0604020202020204" pitchFamily="34" charset="0"/>
              <a:buChar char="•"/>
            </a:pPr>
            <a:r>
              <a:rPr lang="en-GB" sz="1100"/>
              <a:t>Timeline after FDA feedback on track</a:t>
            </a:r>
          </a:p>
          <a:p>
            <a:pPr marL="171450" indent="-171450">
              <a:lnSpc>
                <a:spcPct val="110000"/>
              </a:lnSpc>
              <a:buFont typeface="Arial" panose="020B0604020202020204" pitchFamily="34" charset="0"/>
              <a:buChar char="•"/>
            </a:pPr>
            <a:r>
              <a:rPr lang="en-GB" sz="1100"/>
              <a:t>DDI study for all indications with higher dose needed</a:t>
            </a:r>
          </a:p>
        </p:txBody>
      </p:sp>
      <p:sp>
        <p:nvSpPr>
          <p:cNvPr id="4" name="Rectangle 62">
            <a:extLst>
              <a:ext uri="{FF2B5EF4-FFF2-40B4-BE49-F238E27FC236}">
                <a16:creationId xmlns:a16="http://schemas.microsoft.com/office/drawing/2014/main" id="{996D4F53-0894-7707-23B1-448E617887C0}"/>
              </a:ext>
            </a:extLst>
          </p:cNvPr>
          <p:cNvSpPr>
            <a:spLocks/>
          </p:cNvSpPr>
          <p:nvPr/>
        </p:nvSpPr>
        <p:spPr bwMode="gray">
          <a:xfrm>
            <a:off x="2316663" y="1523588"/>
            <a:ext cx="1472850"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Ph1b</a:t>
            </a:r>
          </a:p>
          <a:p>
            <a:pPr defTabSz="958827">
              <a:lnSpc>
                <a:spcPct val="110000"/>
              </a:lnSpc>
              <a:spcAft>
                <a:spcPts val="600"/>
              </a:spcAft>
              <a:tabLst>
                <a:tab pos="596885" algn="l"/>
                <a:tab pos="952476" algn="l"/>
              </a:tabLst>
              <a:defRPr/>
            </a:pPr>
            <a:r>
              <a:rPr lang="en-GB" sz="1100" b="1" i="1">
                <a:solidFill>
                  <a:schemeClr val="tx1"/>
                </a:solidFill>
              </a:rPr>
              <a:t>Combination: </a:t>
            </a:r>
            <a:br>
              <a:rPr lang="en-GB" sz="1100" b="1" i="1">
                <a:solidFill>
                  <a:schemeClr val="tx1"/>
                </a:solidFill>
              </a:rPr>
            </a:br>
            <a:r>
              <a:rPr lang="en-GB" sz="1100" i="1">
                <a:solidFill>
                  <a:schemeClr val="tx1"/>
                </a:solidFill>
              </a:rPr>
              <a:t>wTDM-1 or Cape/T</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a:t>
            </a:r>
            <a:r>
              <a:rPr lang="en-GB" sz="1100" b="1" i="1">
                <a:solidFill>
                  <a:schemeClr val="tx1"/>
                </a:solidFill>
              </a:rPr>
              <a:t> Launch: </a:t>
            </a:r>
            <a:r>
              <a:rPr lang="en-GB" sz="1100" i="1">
                <a:solidFill>
                  <a:schemeClr val="tx1"/>
                </a:solidFill>
              </a:rPr>
              <a:t>2032</a:t>
            </a:r>
          </a:p>
        </p:txBody>
      </p:sp>
      <p:sp>
        <p:nvSpPr>
          <p:cNvPr id="8" name="Textfeld 7">
            <a:extLst>
              <a:ext uri="{FF2B5EF4-FFF2-40B4-BE49-F238E27FC236}">
                <a16:creationId xmlns:a16="http://schemas.microsoft.com/office/drawing/2014/main" id="{F08FCE01-37CA-3CC4-4E10-81DB2A9CBDC5}"/>
              </a:ext>
            </a:extLst>
          </p:cNvPr>
          <p:cNvSpPr txBox="1"/>
          <p:nvPr/>
        </p:nvSpPr>
        <p:spPr>
          <a:xfrm>
            <a:off x="2366875" y="1518482"/>
            <a:ext cx="1376412" cy="276999"/>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200">
                <a:solidFill>
                  <a:schemeClr val="tx1"/>
                </a:solidFill>
                <a:latin typeface="+mn-lt"/>
              </a:rPr>
              <a:t>2L HER2+ </a:t>
            </a:r>
            <a:r>
              <a:rPr lang="en-GB" sz="1200" err="1">
                <a:solidFill>
                  <a:schemeClr val="tx1"/>
                </a:solidFill>
                <a:latin typeface="+mn-lt"/>
              </a:rPr>
              <a:t>mBC</a:t>
            </a:r>
            <a:endParaRPr lang="en-GB" sz="1200">
              <a:solidFill>
                <a:schemeClr val="tx1"/>
              </a:solidFill>
              <a:latin typeface="+mn-lt"/>
            </a:endParaRPr>
          </a:p>
        </p:txBody>
      </p:sp>
      <p:sp>
        <p:nvSpPr>
          <p:cNvPr id="12" name="Rectangle 63">
            <a:extLst>
              <a:ext uri="{FF2B5EF4-FFF2-40B4-BE49-F238E27FC236}">
                <a16:creationId xmlns:a16="http://schemas.microsoft.com/office/drawing/2014/main" id="{99E87B99-24FD-1BF5-72EE-B26C50B628E6}"/>
              </a:ext>
            </a:extLst>
          </p:cNvPr>
          <p:cNvSpPr>
            <a:spLocks/>
          </p:cNvSpPr>
          <p:nvPr/>
        </p:nvSpPr>
        <p:spPr bwMode="gray">
          <a:xfrm>
            <a:off x="3860987" y="1523588"/>
            <a:ext cx="1383900"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i="1">
                <a:solidFill>
                  <a:schemeClr val="tx1"/>
                </a:solidFill>
              </a:rPr>
              <a:t>Mono or Combi Trastuzumab</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a:t>
            </a:r>
            <a:r>
              <a:rPr lang="en-GB" sz="1100" b="1" i="1">
                <a:solidFill>
                  <a:schemeClr val="tx1"/>
                </a:solidFill>
              </a:rPr>
              <a:t> Launch: </a:t>
            </a:r>
            <a:r>
              <a:rPr lang="en-GB" sz="1100" i="1">
                <a:solidFill>
                  <a:schemeClr val="tx1"/>
                </a:solidFill>
              </a:rPr>
              <a:t>2028</a:t>
            </a:r>
          </a:p>
        </p:txBody>
      </p:sp>
      <p:sp>
        <p:nvSpPr>
          <p:cNvPr id="14" name="Textfeld 13">
            <a:extLst>
              <a:ext uri="{FF2B5EF4-FFF2-40B4-BE49-F238E27FC236}">
                <a16:creationId xmlns:a16="http://schemas.microsoft.com/office/drawing/2014/main" id="{D599DAB4-A338-9B7D-2095-B22D8ADCF857}"/>
              </a:ext>
            </a:extLst>
          </p:cNvPr>
          <p:cNvSpPr txBox="1"/>
          <p:nvPr/>
        </p:nvSpPr>
        <p:spPr>
          <a:xfrm>
            <a:off x="3911200" y="1519302"/>
            <a:ext cx="1293286" cy="261610"/>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100">
                <a:solidFill>
                  <a:schemeClr val="tx1"/>
                </a:solidFill>
                <a:latin typeface="+mn-lt"/>
              </a:rPr>
              <a:t>3L+ HER2+ </a:t>
            </a:r>
            <a:r>
              <a:rPr lang="en-GB" sz="1100" err="1">
                <a:solidFill>
                  <a:schemeClr val="tx1"/>
                </a:solidFill>
                <a:latin typeface="+mn-lt"/>
              </a:rPr>
              <a:t>mBC</a:t>
            </a:r>
            <a:endParaRPr lang="en-GB" sz="1100">
              <a:solidFill>
                <a:schemeClr val="tx1"/>
              </a:solidFill>
              <a:latin typeface="+mn-lt"/>
            </a:endParaRPr>
          </a:p>
        </p:txBody>
      </p:sp>
      <p:sp>
        <p:nvSpPr>
          <p:cNvPr id="22" name="Rectangle 64">
            <a:extLst>
              <a:ext uri="{FF2B5EF4-FFF2-40B4-BE49-F238E27FC236}">
                <a16:creationId xmlns:a16="http://schemas.microsoft.com/office/drawing/2014/main" id="{497038BE-2D15-057E-FDF4-4787F43A0A91}"/>
              </a:ext>
            </a:extLst>
          </p:cNvPr>
          <p:cNvSpPr>
            <a:spLocks/>
          </p:cNvSpPr>
          <p:nvPr/>
        </p:nvSpPr>
        <p:spPr bwMode="gray">
          <a:xfrm>
            <a:off x="5329102" y="3743000"/>
            <a:ext cx="1388643"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Ph2</a:t>
            </a:r>
          </a:p>
          <a:p>
            <a:pPr defTabSz="958827">
              <a:lnSpc>
                <a:spcPct val="110000"/>
              </a:lnSpc>
              <a:spcAft>
                <a:spcPts val="600"/>
              </a:spcAft>
              <a:tabLst>
                <a:tab pos="596885" algn="l"/>
                <a:tab pos="952476" algn="l"/>
              </a:tabLst>
              <a:defRPr/>
            </a:pPr>
            <a:r>
              <a:rPr lang="en-GB" sz="1100" b="1" i="1">
                <a:solidFill>
                  <a:schemeClr val="tx1"/>
                </a:solidFill>
              </a:rPr>
              <a:t>Combination: </a:t>
            </a:r>
            <a:br>
              <a:rPr lang="en-GB" sz="1100" b="1" i="1">
                <a:solidFill>
                  <a:schemeClr val="tx1"/>
                </a:solidFill>
              </a:rPr>
            </a:br>
            <a:r>
              <a:rPr lang="en-GB" sz="1100" i="1">
                <a:solidFill>
                  <a:schemeClr val="tx1"/>
                </a:solidFill>
              </a:rPr>
              <a:t>mono</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 </a:t>
            </a:r>
            <a:r>
              <a:rPr lang="en-GB" sz="1100" b="1" i="1">
                <a:solidFill>
                  <a:schemeClr val="tx1"/>
                </a:solidFill>
              </a:rPr>
              <a:t>Launch: </a:t>
            </a:r>
            <a:r>
              <a:rPr lang="en-GB" sz="1100" i="1">
                <a:solidFill>
                  <a:schemeClr val="tx1"/>
                </a:solidFill>
              </a:rPr>
              <a:t>2028</a:t>
            </a:r>
          </a:p>
        </p:txBody>
      </p:sp>
      <p:sp>
        <p:nvSpPr>
          <p:cNvPr id="25" name="Textfeld 24">
            <a:extLst>
              <a:ext uri="{FF2B5EF4-FFF2-40B4-BE49-F238E27FC236}">
                <a16:creationId xmlns:a16="http://schemas.microsoft.com/office/drawing/2014/main" id="{D8675B45-108F-6A68-07EE-118B7EA0AE20}"/>
              </a:ext>
            </a:extLst>
          </p:cNvPr>
          <p:cNvSpPr txBox="1"/>
          <p:nvPr/>
        </p:nvSpPr>
        <p:spPr>
          <a:xfrm>
            <a:off x="5379314" y="3738714"/>
            <a:ext cx="1297719" cy="261610"/>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100">
                <a:solidFill>
                  <a:schemeClr val="tx1"/>
                </a:solidFill>
                <a:latin typeface="+mn-lt"/>
              </a:rPr>
              <a:t>HER2+ pan-tum.</a:t>
            </a:r>
          </a:p>
        </p:txBody>
      </p:sp>
      <p:sp>
        <p:nvSpPr>
          <p:cNvPr id="27" name="Textfeld 26">
            <a:extLst>
              <a:ext uri="{FF2B5EF4-FFF2-40B4-BE49-F238E27FC236}">
                <a16:creationId xmlns:a16="http://schemas.microsoft.com/office/drawing/2014/main" id="{DCA02B9E-531E-8D40-F138-C3D4C51288C0}"/>
              </a:ext>
            </a:extLst>
          </p:cNvPr>
          <p:cNvSpPr txBox="1"/>
          <p:nvPr/>
        </p:nvSpPr>
        <p:spPr bwMode="gray">
          <a:xfrm>
            <a:off x="5352998" y="5236252"/>
            <a:ext cx="1345374" cy="1298583"/>
          </a:xfrm>
          <a:prstGeom prst="rect">
            <a:avLst/>
          </a:prstGeom>
          <a:solidFill>
            <a:schemeClr val="accent2"/>
          </a:solidFill>
        </p:spPr>
        <p:txBody>
          <a:bodyPr wrap="square" lIns="0" tIns="0" rIns="0" bIns="0" rtlCol="0" anchor="ctr">
            <a:noAutofit/>
          </a:bodyPr>
          <a:lstStyle/>
          <a:p>
            <a:pPr algn="ctr">
              <a:lnSpc>
                <a:spcPct val="110000"/>
              </a:lnSpc>
            </a:pPr>
            <a:r>
              <a:rPr lang="en-GB" sz="1100"/>
              <a:t>New </a:t>
            </a:r>
            <a:r>
              <a:rPr lang="en-GB" sz="1100" err="1"/>
              <a:t>opportunit</a:t>
            </a:r>
            <a:r>
              <a:rPr lang="en-US" altLang="zh-CN" sz="1100"/>
              <a:t>y</a:t>
            </a:r>
          </a:p>
          <a:p>
            <a:pPr algn="ctr">
              <a:lnSpc>
                <a:spcPct val="110000"/>
              </a:lnSpc>
            </a:pPr>
            <a:r>
              <a:rPr lang="en-US" altLang="zh-CN" sz="1100"/>
              <a:t>(ROFD)</a:t>
            </a:r>
            <a:r>
              <a:rPr lang="en-GB" sz="1100"/>
              <a:t> </a:t>
            </a:r>
          </a:p>
        </p:txBody>
      </p:sp>
      <p:sp>
        <p:nvSpPr>
          <p:cNvPr id="28" name="Rectangle 64">
            <a:extLst>
              <a:ext uri="{FF2B5EF4-FFF2-40B4-BE49-F238E27FC236}">
                <a16:creationId xmlns:a16="http://schemas.microsoft.com/office/drawing/2014/main" id="{65914541-755F-CC3E-FD74-0FC7B08D65CC}"/>
              </a:ext>
            </a:extLst>
          </p:cNvPr>
          <p:cNvSpPr>
            <a:spLocks/>
          </p:cNvSpPr>
          <p:nvPr/>
        </p:nvSpPr>
        <p:spPr bwMode="gray">
          <a:xfrm>
            <a:off x="6801236" y="3743000"/>
            <a:ext cx="1428231"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Ph2</a:t>
            </a:r>
          </a:p>
          <a:p>
            <a:pPr defTabSz="958827">
              <a:lnSpc>
                <a:spcPct val="110000"/>
              </a:lnSpc>
              <a:spcAft>
                <a:spcPts val="600"/>
              </a:spcAft>
              <a:tabLst>
                <a:tab pos="596885" algn="l"/>
                <a:tab pos="952476" algn="l"/>
              </a:tabLst>
              <a:defRPr/>
            </a:pPr>
            <a:r>
              <a:rPr lang="en-GB" sz="1100" b="1" i="1">
                <a:solidFill>
                  <a:schemeClr val="tx1"/>
                </a:solidFill>
              </a:rPr>
              <a:t>Combination: </a:t>
            </a:r>
            <a:br>
              <a:rPr lang="en-GB" sz="1100" b="1" i="1">
                <a:solidFill>
                  <a:schemeClr val="tx1"/>
                </a:solidFill>
              </a:rPr>
            </a:br>
            <a:r>
              <a:rPr lang="en-GB" sz="1100" i="1">
                <a:solidFill>
                  <a:schemeClr val="tx1"/>
                </a:solidFill>
              </a:rPr>
              <a:t>mono</a:t>
            </a: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 </a:t>
            </a:r>
            <a:r>
              <a:rPr lang="en-GB" sz="1100" b="1" i="1">
                <a:solidFill>
                  <a:schemeClr val="tx1"/>
                </a:solidFill>
              </a:rPr>
              <a:t>Launch: </a:t>
            </a:r>
            <a:r>
              <a:rPr lang="en-GB" sz="1100" i="1">
                <a:solidFill>
                  <a:schemeClr val="tx1"/>
                </a:solidFill>
              </a:rPr>
              <a:t>2029</a:t>
            </a:r>
          </a:p>
        </p:txBody>
      </p:sp>
      <p:sp>
        <p:nvSpPr>
          <p:cNvPr id="30" name="Textfeld 29">
            <a:extLst>
              <a:ext uri="{FF2B5EF4-FFF2-40B4-BE49-F238E27FC236}">
                <a16:creationId xmlns:a16="http://schemas.microsoft.com/office/drawing/2014/main" id="{FC12C7CA-BF0A-2DCF-359B-C48E5F8EAB84}"/>
              </a:ext>
            </a:extLst>
          </p:cNvPr>
          <p:cNvSpPr txBox="1"/>
          <p:nvPr/>
        </p:nvSpPr>
        <p:spPr>
          <a:xfrm>
            <a:off x="6851448" y="3738714"/>
            <a:ext cx="1334715" cy="261610"/>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100">
                <a:solidFill>
                  <a:schemeClr val="tx1"/>
                </a:solidFill>
                <a:latin typeface="+mn-lt"/>
              </a:rPr>
              <a:t>HER2m pan-tum.</a:t>
            </a:r>
          </a:p>
        </p:txBody>
      </p:sp>
      <p:sp>
        <p:nvSpPr>
          <p:cNvPr id="31" name="Textfeld 30">
            <a:extLst>
              <a:ext uri="{FF2B5EF4-FFF2-40B4-BE49-F238E27FC236}">
                <a16:creationId xmlns:a16="http://schemas.microsoft.com/office/drawing/2014/main" id="{3177D587-810E-F8E5-3CD3-DBB18CA1F348}"/>
              </a:ext>
            </a:extLst>
          </p:cNvPr>
          <p:cNvSpPr txBox="1"/>
          <p:nvPr/>
        </p:nvSpPr>
        <p:spPr bwMode="gray">
          <a:xfrm>
            <a:off x="6825131" y="5236252"/>
            <a:ext cx="1383728" cy="1298583"/>
          </a:xfrm>
          <a:prstGeom prst="rect">
            <a:avLst/>
          </a:prstGeom>
          <a:solidFill>
            <a:schemeClr val="accent2"/>
          </a:solidFill>
        </p:spPr>
        <p:txBody>
          <a:bodyPr wrap="square" lIns="0" tIns="0" rIns="0" bIns="0" rtlCol="0" anchor="ctr">
            <a:noAutofit/>
          </a:bodyPr>
          <a:lstStyle/>
          <a:p>
            <a:pPr algn="ctr">
              <a:lnSpc>
                <a:spcPct val="110000"/>
              </a:lnSpc>
            </a:pPr>
            <a:r>
              <a:rPr lang="en-GB" sz="1100"/>
              <a:t>New opportunity</a:t>
            </a:r>
          </a:p>
          <a:p>
            <a:pPr algn="ctr">
              <a:lnSpc>
                <a:spcPct val="110000"/>
              </a:lnSpc>
            </a:pPr>
            <a:r>
              <a:rPr lang="en-GB" sz="1100"/>
              <a:t>(ROFD) </a:t>
            </a:r>
          </a:p>
        </p:txBody>
      </p:sp>
      <p:sp>
        <p:nvSpPr>
          <p:cNvPr id="34" name="Rectangle 64">
            <a:extLst>
              <a:ext uri="{FF2B5EF4-FFF2-40B4-BE49-F238E27FC236}">
                <a16:creationId xmlns:a16="http://schemas.microsoft.com/office/drawing/2014/main" id="{598D8336-30BC-64B5-C8A5-18F7CEC8A482}"/>
              </a:ext>
            </a:extLst>
          </p:cNvPr>
          <p:cNvSpPr>
            <a:spLocks/>
          </p:cNvSpPr>
          <p:nvPr/>
        </p:nvSpPr>
        <p:spPr bwMode="gray">
          <a:xfrm>
            <a:off x="9786277" y="3743000"/>
            <a:ext cx="1568792" cy="1800017"/>
          </a:xfrm>
          <a:prstGeom prst="rect">
            <a:avLst/>
          </a:prstGeom>
          <a:solidFill>
            <a:schemeClr val="bg1"/>
          </a:solidFill>
          <a:ln w="3175">
            <a:solidFill>
              <a:srgbClr val="B7B6B2"/>
            </a:solid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defTabSz="958827">
              <a:lnSpc>
                <a:spcPct val="110000"/>
              </a:lnSpc>
              <a:spcAft>
                <a:spcPts val="600"/>
              </a:spcAft>
              <a:tabLst>
                <a:tab pos="596885" algn="l"/>
                <a:tab pos="952476" algn="l"/>
              </a:tabLst>
              <a:defRPr/>
            </a:pPr>
            <a:r>
              <a:rPr lang="en-GB" sz="1100" b="1" i="1">
                <a:solidFill>
                  <a:schemeClr val="tx1"/>
                </a:solidFill>
              </a:rPr>
              <a:t>Status: </a:t>
            </a:r>
            <a:r>
              <a:rPr lang="en-GB" sz="1100" i="1">
                <a:solidFill>
                  <a:schemeClr val="tx1"/>
                </a:solidFill>
              </a:rPr>
              <a:t>2L part pf pan-</a:t>
            </a:r>
            <a:r>
              <a:rPr lang="en-GB" sz="1100" i="1" err="1">
                <a:solidFill>
                  <a:schemeClr val="tx1"/>
                </a:solidFill>
              </a:rPr>
              <a:t>tumor</a:t>
            </a:r>
            <a:r>
              <a:rPr lang="en-GB" sz="1100" i="1">
                <a:solidFill>
                  <a:schemeClr val="tx1"/>
                </a:solidFill>
              </a:rPr>
              <a:t> strategy</a:t>
            </a:r>
          </a:p>
          <a:p>
            <a:pPr defTabSz="958827">
              <a:lnSpc>
                <a:spcPct val="110000"/>
              </a:lnSpc>
              <a:spcAft>
                <a:spcPts val="600"/>
              </a:spcAft>
              <a:tabLst>
                <a:tab pos="596885" algn="l"/>
                <a:tab pos="952476" algn="l"/>
              </a:tabLst>
              <a:defRPr/>
            </a:pPr>
            <a:r>
              <a:rPr lang="en-GB" sz="1100" b="1" i="1">
                <a:solidFill>
                  <a:schemeClr val="tx1"/>
                </a:solidFill>
              </a:rPr>
              <a:t>Combination FOLFOX </a:t>
            </a:r>
            <a:endParaRPr lang="en-GB" sz="1100" i="1">
              <a:solidFill>
                <a:schemeClr val="tx1"/>
              </a:solidFill>
            </a:endParaRPr>
          </a:p>
          <a:p>
            <a:pPr defTabSz="958827">
              <a:lnSpc>
                <a:spcPct val="110000"/>
              </a:lnSpc>
              <a:spcAft>
                <a:spcPts val="600"/>
              </a:spcAft>
              <a:tabLst>
                <a:tab pos="596885" algn="l"/>
                <a:tab pos="952476" algn="l"/>
              </a:tabLst>
              <a:defRPr/>
            </a:pPr>
            <a:r>
              <a:rPr lang="en-GB" sz="1100" b="1" i="1">
                <a:solidFill>
                  <a:schemeClr val="tx1"/>
                </a:solidFill>
              </a:rPr>
              <a:t>1</a:t>
            </a:r>
            <a:r>
              <a:rPr lang="en-GB" sz="1100" b="1" i="1" baseline="30000">
                <a:solidFill>
                  <a:schemeClr val="tx1"/>
                </a:solidFill>
              </a:rPr>
              <a:t>st </a:t>
            </a:r>
            <a:r>
              <a:rPr lang="en-GB" sz="1100" b="1" i="1">
                <a:solidFill>
                  <a:schemeClr val="tx1"/>
                </a:solidFill>
              </a:rPr>
              <a:t>Launch: </a:t>
            </a:r>
            <a:r>
              <a:rPr lang="en-GB" sz="1100" i="1">
                <a:solidFill>
                  <a:schemeClr val="tx1"/>
                </a:solidFill>
              </a:rPr>
              <a:t>2032 </a:t>
            </a:r>
          </a:p>
        </p:txBody>
      </p:sp>
      <p:sp>
        <p:nvSpPr>
          <p:cNvPr id="35" name="Textfeld 34">
            <a:extLst>
              <a:ext uri="{FF2B5EF4-FFF2-40B4-BE49-F238E27FC236}">
                <a16:creationId xmlns:a16="http://schemas.microsoft.com/office/drawing/2014/main" id="{34C0B151-ECB3-3B55-0EE2-543E9E07AAD8}"/>
              </a:ext>
            </a:extLst>
          </p:cNvPr>
          <p:cNvSpPr txBox="1"/>
          <p:nvPr/>
        </p:nvSpPr>
        <p:spPr>
          <a:xfrm>
            <a:off x="9836489" y="3738714"/>
            <a:ext cx="1334715" cy="261610"/>
          </a:xfrm>
          <a:prstGeom prst="rect">
            <a:avLst/>
          </a:prstGeom>
          <a:solidFill>
            <a:srgbClr val="E5E3DE"/>
          </a:solidFill>
          <a:effectLst/>
        </p:spPr>
        <p:txBody>
          <a:bodyPr wrap="square" anchor="ctr">
            <a:spAutoFit/>
          </a:bodyPr>
          <a:lstStyle>
            <a:defPPr>
              <a:defRPr lang="en-US"/>
            </a:defPPr>
            <a:lvl1pPr algn="ctr" defTabSz="1219170">
              <a:defRPr sz="1467" b="1">
                <a:solidFill>
                  <a:srgbClr val="FFFFFF"/>
                </a:solidFill>
                <a:latin typeface="BISansOpti"/>
              </a:defRPr>
            </a:lvl1pPr>
          </a:lstStyle>
          <a:p>
            <a:r>
              <a:rPr lang="en-GB" sz="1100">
                <a:solidFill>
                  <a:schemeClr val="tx1"/>
                </a:solidFill>
                <a:latin typeface="+mn-lt"/>
              </a:rPr>
              <a:t>1L HER2+ mCRC</a:t>
            </a:r>
          </a:p>
        </p:txBody>
      </p:sp>
      <p:sp>
        <p:nvSpPr>
          <p:cNvPr id="37" name="Textfeld 36">
            <a:extLst>
              <a:ext uri="{FF2B5EF4-FFF2-40B4-BE49-F238E27FC236}">
                <a16:creationId xmlns:a16="http://schemas.microsoft.com/office/drawing/2014/main" id="{C2A3EC3A-E537-E1CE-363E-970302F920D2}"/>
              </a:ext>
            </a:extLst>
          </p:cNvPr>
          <p:cNvSpPr txBox="1"/>
          <p:nvPr/>
        </p:nvSpPr>
        <p:spPr bwMode="gray">
          <a:xfrm>
            <a:off x="9853795" y="5208466"/>
            <a:ext cx="1383728" cy="1298583"/>
          </a:xfrm>
          <a:prstGeom prst="rect">
            <a:avLst/>
          </a:prstGeom>
          <a:solidFill>
            <a:schemeClr val="accent2"/>
          </a:solidFill>
        </p:spPr>
        <p:txBody>
          <a:bodyPr wrap="square" lIns="0" tIns="0" rIns="0" bIns="0" rtlCol="0" anchor="ctr">
            <a:noAutofit/>
          </a:bodyPr>
          <a:lstStyle/>
          <a:p>
            <a:pPr algn="ctr">
              <a:lnSpc>
                <a:spcPct val="110000"/>
              </a:lnSpc>
            </a:pPr>
            <a:r>
              <a:rPr lang="en-GB" sz="1100"/>
              <a:t>New opportunity</a:t>
            </a:r>
          </a:p>
          <a:p>
            <a:pPr algn="ctr">
              <a:lnSpc>
                <a:spcPct val="110000"/>
              </a:lnSpc>
            </a:pPr>
            <a:r>
              <a:rPr lang="en-GB" sz="1100"/>
              <a:t>(</a:t>
            </a:r>
            <a:r>
              <a:rPr lang="en-GB" sz="1100" err="1"/>
              <a:t>niSOD</a:t>
            </a:r>
            <a:r>
              <a:rPr lang="en-GB" sz="1100"/>
              <a:t>) </a:t>
            </a:r>
          </a:p>
        </p:txBody>
      </p:sp>
      <p:sp>
        <p:nvSpPr>
          <p:cNvPr id="40" name="Textfeld 39">
            <a:extLst>
              <a:ext uri="{FF2B5EF4-FFF2-40B4-BE49-F238E27FC236}">
                <a16:creationId xmlns:a16="http://schemas.microsoft.com/office/drawing/2014/main" id="{9A0B0D0F-F0B3-F9A4-0EDA-B91B0C517575}"/>
              </a:ext>
            </a:extLst>
          </p:cNvPr>
          <p:cNvSpPr txBox="1"/>
          <p:nvPr/>
        </p:nvSpPr>
        <p:spPr bwMode="gray">
          <a:xfrm>
            <a:off x="8341425" y="5207936"/>
            <a:ext cx="1340778" cy="1298583"/>
          </a:xfrm>
          <a:prstGeom prst="rect">
            <a:avLst/>
          </a:prstGeom>
          <a:solidFill>
            <a:schemeClr val="bg1">
              <a:lumMod val="85000"/>
            </a:schemeClr>
          </a:solidFill>
        </p:spPr>
        <p:txBody>
          <a:bodyPr wrap="square" lIns="0" tIns="0" rIns="0" bIns="0" rtlCol="0" anchor="ctr">
            <a:noAutofit/>
          </a:bodyPr>
          <a:lstStyle/>
          <a:p>
            <a:pPr algn="ctr">
              <a:lnSpc>
                <a:spcPct val="110000"/>
              </a:lnSpc>
            </a:pPr>
            <a:r>
              <a:rPr lang="en-GB" sz="1100"/>
              <a:t>On track</a:t>
            </a:r>
          </a:p>
        </p:txBody>
      </p:sp>
    </p:spTree>
    <p:extLst>
      <p:ext uri="{BB962C8B-B14F-4D97-AF65-F5344CB8AC3E}">
        <p14:creationId xmlns:p14="http://schemas.microsoft.com/office/powerpoint/2010/main" val="1764697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FD70C-0968-0617-048C-148D8AF87546}"/>
              </a:ext>
            </a:extLst>
          </p:cNvPr>
          <p:cNvSpPr>
            <a:spLocks noGrp="1"/>
          </p:cNvSpPr>
          <p:nvPr>
            <p:ph type="title"/>
          </p:nvPr>
        </p:nvSpPr>
        <p:spPr/>
        <p:txBody>
          <a:bodyPr/>
          <a:lstStyle/>
          <a:p>
            <a:r>
              <a:rPr lang="en-US" altLang="zh-CN" err="1"/>
              <a:t>Zongertinib</a:t>
            </a:r>
            <a:r>
              <a:rPr lang="en-US" altLang="zh-CN"/>
              <a:t> P2 project global update </a:t>
            </a:r>
            <a:endParaRPr lang="zh-CN" altLang="en-US"/>
          </a:p>
        </p:txBody>
      </p:sp>
      <p:sp>
        <p:nvSpPr>
          <p:cNvPr id="3" name="文本占位符 2">
            <a:extLst>
              <a:ext uri="{FF2B5EF4-FFF2-40B4-BE49-F238E27FC236}">
                <a16:creationId xmlns:a16="http://schemas.microsoft.com/office/drawing/2014/main" id="{AA4312A6-4394-E856-6805-7237E89E3395}"/>
              </a:ext>
            </a:extLst>
          </p:cNvPr>
          <p:cNvSpPr>
            <a:spLocks noGrp="1"/>
          </p:cNvSpPr>
          <p:nvPr>
            <p:ph type="body" sz="quarter" idx="15"/>
          </p:nvPr>
        </p:nvSpPr>
        <p:spPr/>
        <p:txBody>
          <a:bodyPr/>
          <a:lstStyle/>
          <a:p>
            <a:pPr marL="342900" indent="-342900">
              <a:buFont typeface="Arial" panose="020B0604020202020204" pitchFamily="34" charset="0"/>
              <a:buChar char="•"/>
            </a:pPr>
            <a:r>
              <a:rPr lang="de-DE" altLang="zh-CN"/>
              <a:t>HP BUEC endorsed the accelerated plans for CRC development and HER2m Pantumor with the assumptions/risks</a:t>
            </a:r>
          </a:p>
          <a:p>
            <a:pPr marL="342900" indent="-342900">
              <a:buFont typeface="Arial" panose="020B0604020202020204" pitchFamily="34" charset="0"/>
              <a:buChar char="•"/>
            </a:pPr>
            <a:r>
              <a:rPr lang="de-DE" altLang="zh-CN"/>
              <a:t>Early Breast Cancer high level development plans were presented to Clinical Advisory Meeting with no objections</a:t>
            </a:r>
          </a:p>
          <a:p>
            <a:pPr marL="342900" indent="-342900">
              <a:buFont typeface="Arial" panose="020B0604020202020204" pitchFamily="34" charset="0"/>
              <a:buChar char="•"/>
            </a:pPr>
            <a:r>
              <a:rPr lang="en-US" altLang="zh-CN" err="1"/>
              <a:t>Zongertinib</a:t>
            </a:r>
            <a:r>
              <a:rPr lang="en-US" altLang="zh-CN"/>
              <a:t> P2 indication team will be spilt to two indication team --  Breast Cancer indication team , </a:t>
            </a:r>
            <a:r>
              <a:rPr lang="en-US" altLang="zh-CN" err="1"/>
              <a:t>Pantumor</a:t>
            </a:r>
            <a:r>
              <a:rPr lang="en-US" altLang="zh-CN"/>
              <a:t> &amp; Beyond indication team to strengthen indications focus.  </a:t>
            </a:r>
            <a:endParaRPr lang="de-DE" altLang="zh-CN"/>
          </a:p>
        </p:txBody>
      </p:sp>
      <p:sp>
        <p:nvSpPr>
          <p:cNvPr id="4" name="灯片编号占位符 3">
            <a:extLst>
              <a:ext uri="{FF2B5EF4-FFF2-40B4-BE49-F238E27FC236}">
                <a16:creationId xmlns:a16="http://schemas.microsoft.com/office/drawing/2014/main" id="{5AFD508B-90C6-CC69-CB8C-D5477C51D236}"/>
              </a:ext>
            </a:extLst>
          </p:cNvPr>
          <p:cNvSpPr>
            <a:spLocks noGrp="1"/>
          </p:cNvSpPr>
          <p:nvPr>
            <p:ph type="sldNum" sz="quarter" idx="17"/>
          </p:nvPr>
        </p:nvSpPr>
        <p:spPr/>
        <p:txBody>
          <a:bodyPr/>
          <a:lstStyle/>
          <a:p>
            <a:fld id="{8FF9B0DE-3FEB-4AA0-B465-B80EF7C1333D}" type="slidenum">
              <a:rPr lang="en-US" smtClean="0"/>
              <a:pPr/>
              <a:t>14</a:t>
            </a:fld>
            <a:endParaRPr lang="en-US"/>
          </a:p>
        </p:txBody>
      </p:sp>
    </p:spTree>
    <p:extLst>
      <p:ext uri="{BB962C8B-B14F-4D97-AF65-F5344CB8AC3E}">
        <p14:creationId xmlns:p14="http://schemas.microsoft.com/office/powerpoint/2010/main" val="340819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000" i="1" err="1">
                <a:solidFill>
                  <a:schemeClr val="tx1"/>
                </a:solidFill>
                <a:latin typeface="+mn-lt"/>
              </a:rPr>
              <a:t>Zongertinib</a:t>
            </a:r>
            <a:r>
              <a:rPr lang="en-US" altLang="zh-CN" sz="2000" i="1">
                <a:solidFill>
                  <a:schemeClr val="tx1"/>
                </a:solidFill>
                <a:latin typeface="+mn-lt"/>
              </a:rPr>
              <a:t> (HERNEXEOS®) – </a:t>
            </a:r>
            <a:r>
              <a:rPr lang="en-US" altLang="zh-CN" sz="2000" i="0" kern="1200">
                <a:solidFill>
                  <a:schemeClr val="tx1"/>
                </a:solidFill>
                <a:latin typeface="+mn-lt"/>
                <a:ea typeface="+mn-ea"/>
                <a:cs typeface="+mn-cs"/>
              </a:rPr>
              <a:t>Pan-tumor Development Plan (Accelerate Approval) </a:t>
            </a:r>
            <a:endParaRPr lang="zh-CN" altLang="en-US" sz="2400">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15</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7689274" y="2300382"/>
            <a:ext cx="600517"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426662" cy="675640"/>
        </p:xfrm>
        <a:graphic>
          <a:graphicData uri="http://schemas.openxmlformats.org/drawingml/2006/table">
            <a:tbl>
              <a:tblPr firstRow="1" bandRow="1"/>
              <a:tblGrid>
                <a:gridCol w="579259">
                  <a:extLst>
                    <a:ext uri="{9D8B030D-6E8A-4147-A177-3AD203B41FA5}">
                      <a16:colId xmlns:a16="http://schemas.microsoft.com/office/drawing/2014/main" val="3091663135"/>
                    </a:ext>
                  </a:extLst>
                </a:gridCol>
                <a:gridCol w="579259">
                  <a:extLst>
                    <a:ext uri="{9D8B030D-6E8A-4147-A177-3AD203B41FA5}">
                      <a16:colId xmlns:a16="http://schemas.microsoft.com/office/drawing/2014/main" val="2003423086"/>
                    </a:ext>
                  </a:extLst>
                </a:gridCol>
                <a:gridCol w="579259">
                  <a:extLst>
                    <a:ext uri="{9D8B030D-6E8A-4147-A177-3AD203B41FA5}">
                      <a16:colId xmlns:a16="http://schemas.microsoft.com/office/drawing/2014/main" val="2466911814"/>
                    </a:ext>
                  </a:extLst>
                </a:gridCol>
                <a:gridCol w="579259">
                  <a:extLst>
                    <a:ext uri="{9D8B030D-6E8A-4147-A177-3AD203B41FA5}">
                      <a16:colId xmlns:a16="http://schemas.microsoft.com/office/drawing/2014/main" val="3023231563"/>
                    </a:ext>
                  </a:extLst>
                </a:gridCol>
                <a:gridCol w="579259">
                  <a:extLst>
                    <a:ext uri="{9D8B030D-6E8A-4147-A177-3AD203B41FA5}">
                      <a16:colId xmlns:a16="http://schemas.microsoft.com/office/drawing/2014/main" val="3411862845"/>
                    </a:ext>
                  </a:extLst>
                </a:gridCol>
                <a:gridCol w="579259">
                  <a:extLst>
                    <a:ext uri="{9D8B030D-6E8A-4147-A177-3AD203B41FA5}">
                      <a16:colId xmlns:a16="http://schemas.microsoft.com/office/drawing/2014/main" val="2851474774"/>
                    </a:ext>
                  </a:extLst>
                </a:gridCol>
                <a:gridCol w="579259">
                  <a:extLst>
                    <a:ext uri="{9D8B030D-6E8A-4147-A177-3AD203B41FA5}">
                      <a16:colId xmlns:a16="http://schemas.microsoft.com/office/drawing/2014/main" val="107595344"/>
                    </a:ext>
                  </a:extLst>
                </a:gridCol>
                <a:gridCol w="579259">
                  <a:extLst>
                    <a:ext uri="{9D8B030D-6E8A-4147-A177-3AD203B41FA5}">
                      <a16:colId xmlns:a16="http://schemas.microsoft.com/office/drawing/2014/main" val="1666999431"/>
                    </a:ext>
                  </a:extLst>
                </a:gridCol>
                <a:gridCol w="579259">
                  <a:extLst>
                    <a:ext uri="{9D8B030D-6E8A-4147-A177-3AD203B41FA5}">
                      <a16:colId xmlns:a16="http://schemas.microsoft.com/office/drawing/2014/main" val="3696607442"/>
                    </a:ext>
                  </a:extLst>
                </a:gridCol>
                <a:gridCol w="579259">
                  <a:extLst>
                    <a:ext uri="{9D8B030D-6E8A-4147-A177-3AD203B41FA5}">
                      <a16:colId xmlns:a16="http://schemas.microsoft.com/office/drawing/2014/main" val="223989776"/>
                    </a:ext>
                  </a:extLst>
                </a:gridCol>
                <a:gridCol w="579259">
                  <a:extLst>
                    <a:ext uri="{9D8B030D-6E8A-4147-A177-3AD203B41FA5}">
                      <a16:colId xmlns:a16="http://schemas.microsoft.com/office/drawing/2014/main" val="124731204"/>
                    </a:ext>
                  </a:extLst>
                </a:gridCol>
                <a:gridCol w="579259">
                  <a:extLst>
                    <a:ext uri="{9D8B030D-6E8A-4147-A177-3AD203B41FA5}">
                      <a16:colId xmlns:a16="http://schemas.microsoft.com/office/drawing/2014/main" val="3066978585"/>
                    </a:ext>
                  </a:extLst>
                </a:gridCol>
                <a:gridCol w="579259">
                  <a:extLst>
                    <a:ext uri="{9D8B030D-6E8A-4147-A177-3AD203B41FA5}">
                      <a16:colId xmlns:a16="http://schemas.microsoft.com/office/drawing/2014/main" val="1064917641"/>
                    </a:ext>
                  </a:extLst>
                </a:gridCol>
                <a:gridCol w="579259">
                  <a:extLst>
                    <a:ext uri="{9D8B030D-6E8A-4147-A177-3AD203B41FA5}">
                      <a16:colId xmlns:a16="http://schemas.microsoft.com/office/drawing/2014/main" val="4221117315"/>
                    </a:ext>
                  </a:extLst>
                </a:gridCol>
                <a:gridCol w="579259">
                  <a:extLst>
                    <a:ext uri="{9D8B030D-6E8A-4147-A177-3AD203B41FA5}">
                      <a16:colId xmlns:a16="http://schemas.microsoft.com/office/drawing/2014/main" val="3266065341"/>
                    </a:ext>
                  </a:extLst>
                </a:gridCol>
                <a:gridCol w="579259">
                  <a:extLst>
                    <a:ext uri="{9D8B030D-6E8A-4147-A177-3AD203B41FA5}">
                      <a16:colId xmlns:a16="http://schemas.microsoft.com/office/drawing/2014/main" val="2374051224"/>
                    </a:ext>
                  </a:extLst>
                </a:gridCol>
                <a:gridCol w="579259">
                  <a:extLst>
                    <a:ext uri="{9D8B030D-6E8A-4147-A177-3AD203B41FA5}">
                      <a16:colId xmlns:a16="http://schemas.microsoft.com/office/drawing/2014/main" val="622606946"/>
                    </a:ext>
                  </a:extLst>
                </a:gridCol>
                <a:gridCol w="579259">
                  <a:extLst>
                    <a:ext uri="{9D8B030D-6E8A-4147-A177-3AD203B41FA5}">
                      <a16:colId xmlns:a16="http://schemas.microsoft.com/office/drawing/2014/main" val="4084845614"/>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962403"/>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632416"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68098" y="4954300"/>
            <a:ext cx="171076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1479-0009</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Pan tumor-1</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2793176"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2445084" y="2108653"/>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Oct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3000089" y="2321523"/>
            <a:ext cx="4689185"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N=430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7472554" y="2664231"/>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4"/>
            </p:custDataLst>
          </p:nvPr>
        </p:nvSpPr>
        <p:spPr>
          <a:xfrm>
            <a:off x="7147388" y="2155927"/>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2027</a:t>
            </a:r>
            <a:endParaRPr lang="zh-CN" altLang="en-US" sz="1067" b="1" i="1">
              <a:solidFill>
                <a:schemeClr val="bg1">
                  <a:lumMod val="65000"/>
                </a:schemeClr>
              </a:solidFill>
              <a:ea typeface="等线" panose="02010600030101010101" pitchFamily="2" charset="-122"/>
            </a:endParaRPr>
          </a:p>
        </p:txBody>
      </p:sp>
      <p:sp>
        <p:nvSpPr>
          <p:cNvPr id="268" name="Rectangle 55">
            <a:extLst>
              <a:ext uri="{FF2B5EF4-FFF2-40B4-BE49-F238E27FC236}">
                <a16:creationId xmlns:a16="http://schemas.microsoft.com/office/drawing/2014/main" id="{75A0DA48-F1F2-A864-01F6-DFDFDEBA525F}"/>
              </a:ext>
            </a:extLst>
          </p:cNvPr>
          <p:cNvSpPr/>
          <p:nvPr/>
        </p:nvSpPr>
        <p:spPr>
          <a:xfrm>
            <a:off x="7724351" y="2600550"/>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1</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289977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7539657" y="25482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8077861" y="250257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7457719" y="2775233"/>
            <a:ext cx="174599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1</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amplified cohorts</a:t>
            </a:r>
          </a:p>
        </p:txBody>
      </p:sp>
      <p:sp>
        <p:nvSpPr>
          <p:cNvPr id="297" name="Rectangle 100">
            <a:extLst>
              <a:ext uri="{FF2B5EF4-FFF2-40B4-BE49-F238E27FC236}">
                <a16:creationId xmlns:a16="http://schemas.microsoft.com/office/drawing/2014/main" id="{B95ACA1E-10C2-F783-D1D8-EBE68B344864}"/>
              </a:ext>
            </a:extLst>
          </p:cNvPr>
          <p:cNvSpPr/>
          <p:nvPr/>
        </p:nvSpPr>
        <p:spPr>
          <a:xfrm>
            <a:off x="9193095" y="2154250"/>
            <a:ext cx="758542" cy="256545"/>
          </a:xfrm>
          <a:prstGeom prst="rect">
            <a:avLst/>
          </a:prstGeom>
        </p:spPr>
        <p:txBody>
          <a:bodyPr wrap="none">
            <a:spAutoFit/>
          </a:bodyPr>
          <a:lstStyle/>
          <a:p>
            <a:pPr algn="ctr" defTabSz="1219108">
              <a:defRPr/>
            </a:pPr>
            <a:r>
              <a:rPr lang="en-US" altLang="zh-CN" sz="1067" b="1" i="1">
                <a:solidFill>
                  <a:schemeClr val="bg1">
                    <a:lumMod val="65000"/>
                  </a:schemeClr>
                </a:solidFill>
                <a:ea typeface="等线" panose="02010600030101010101" pitchFamily="2" charset="-122"/>
              </a:rPr>
              <a:t>Q3 2028</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221614" y="2498436"/>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9120134" y="2592683"/>
            <a:ext cx="1460656"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Amplified Cohorts)</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507941" y="2420694"/>
            <a:ext cx="210312" cy="210312"/>
          </a:xfrm>
          <a:prstGeom prst="rect">
            <a:avLst/>
          </a:prstGeom>
        </p:spPr>
      </p:pic>
      <p:sp>
        <p:nvSpPr>
          <p:cNvPr id="5" name="OTLSHAPE_T_e17f3958430f4cff8650518c93c7635e_StartDate">
            <a:extLst>
              <a:ext uri="{FF2B5EF4-FFF2-40B4-BE49-F238E27FC236}">
                <a16:creationId xmlns:a16="http://schemas.microsoft.com/office/drawing/2014/main" id="{4A8F68EF-1519-FDA9-3F86-6C0A7DADEDD6}"/>
              </a:ext>
            </a:extLst>
          </p:cNvPr>
          <p:cNvSpPr txBox="1"/>
          <p:nvPr>
            <p:custDataLst>
              <p:tags r:id="rId5"/>
            </p:custDataLst>
          </p:nvPr>
        </p:nvSpPr>
        <p:spPr>
          <a:xfrm>
            <a:off x="7830296" y="2200506"/>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Q4 2027</a:t>
            </a:r>
            <a:endParaRPr lang="zh-CN" altLang="en-US" sz="1067" b="1" i="1">
              <a:solidFill>
                <a:schemeClr val="bg1">
                  <a:lumMod val="65000"/>
                </a:schemeClr>
              </a:solidFill>
              <a:ea typeface="等线" panose="02010600030101010101" pitchFamily="2" charset="-122"/>
            </a:endParaRPr>
          </a:p>
        </p:txBody>
      </p:sp>
      <p:sp>
        <p:nvSpPr>
          <p:cNvPr id="67" name="OTLSHAPE_T_5a934a26f311425e8ebaa0f45e6533ad_Shape">
            <a:extLst>
              <a:ext uri="{FF2B5EF4-FFF2-40B4-BE49-F238E27FC236}">
                <a16:creationId xmlns:a16="http://schemas.microsoft.com/office/drawing/2014/main" id="{43D4551E-D5D8-A7EE-D15E-7110B8F973B0}"/>
              </a:ext>
            </a:extLst>
          </p:cNvPr>
          <p:cNvSpPr/>
          <p:nvPr>
            <p:custDataLst>
              <p:tags r:id="rId6"/>
            </p:custDataLst>
          </p:nvPr>
        </p:nvSpPr>
        <p:spPr bwMode="auto">
          <a:xfrm>
            <a:off x="7656399" y="4465805"/>
            <a:ext cx="892888"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68" name="Rectangle 52">
            <a:extLst>
              <a:ext uri="{FF2B5EF4-FFF2-40B4-BE49-F238E27FC236}">
                <a16:creationId xmlns:a16="http://schemas.microsoft.com/office/drawing/2014/main" id="{169AF148-9AC0-D1E0-0DCF-1ACFBDC8D331}"/>
              </a:ext>
            </a:extLst>
          </p:cNvPr>
          <p:cNvSpPr/>
          <p:nvPr/>
        </p:nvSpPr>
        <p:spPr>
          <a:xfrm>
            <a:off x="2735718" y="4817185"/>
            <a:ext cx="41389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p>
        </p:txBody>
      </p:sp>
      <p:sp>
        <p:nvSpPr>
          <p:cNvPr id="69" name="OTLSHAPE_T_e17f3958430f4cff8650518c93c7635e_StartDate">
            <a:extLst>
              <a:ext uri="{FF2B5EF4-FFF2-40B4-BE49-F238E27FC236}">
                <a16:creationId xmlns:a16="http://schemas.microsoft.com/office/drawing/2014/main" id="{ECFC642E-D1D6-5869-052F-678A2734DA73}"/>
              </a:ext>
            </a:extLst>
          </p:cNvPr>
          <p:cNvSpPr txBox="1"/>
          <p:nvPr>
            <p:custDataLst>
              <p:tags r:id="rId7"/>
            </p:custDataLst>
          </p:nvPr>
        </p:nvSpPr>
        <p:spPr>
          <a:xfrm>
            <a:off x="2412209" y="427407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Oct 2024</a:t>
            </a:r>
            <a:endParaRPr lang="zh-CN" altLang="en-US" sz="1067" b="1" i="1">
              <a:solidFill>
                <a:schemeClr val="bg1">
                  <a:lumMod val="65000"/>
                </a:schemeClr>
              </a:solidFill>
              <a:ea typeface="等线" panose="02010600030101010101" pitchFamily="2" charset="-122"/>
            </a:endParaRPr>
          </a:p>
        </p:txBody>
      </p:sp>
      <p:sp>
        <p:nvSpPr>
          <p:cNvPr id="70" name="OTLSHAPE_T_e17f3958430f4cff8650518c93c7635e_Shape">
            <a:extLst>
              <a:ext uri="{FF2B5EF4-FFF2-40B4-BE49-F238E27FC236}">
                <a16:creationId xmlns:a16="http://schemas.microsoft.com/office/drawing/2014/main" id="{AACAC104-D593-3923-CD3D-44ED894DA35A}"/>
              </a:ext>
            </a:extLst>
          </p:cNvPr>
          <p:cNvSpPr/>
          <p:nvPr>
            <p:custDataLst>
              <p:tags r:id="rId8"/>
            </p:custDataLst>
          </p:nvPr>
        </p:nvSpPr>
        <p:spPr bwMode="auto">
          <a:xfrm>
            <a:off x="2967214" y="4486946"/>
            <a:ext cx="4689185"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N=40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71" name="Rectangle 55">
            <a:extLst>
              <a:ext uri="{FF2B5EF4-FFF2-40B4-BE49-F238E27FC236}">
                <a16:creationId xmlns:a16="http://schemas.microsoft.com/office/drawing/2014/main" id="{3A3928DA-AEBF-6114-9B46-D7E9D7C639DA}"/>
              </a:ext>
            </a:extLst>
          </p:cNvPr>
          <p:cNvSpPr/>
          <p:nvPr/>
        </p:nvSpPr>
        <p:spPr>
          <a:xfrm>
            <a:off x="7439679" y="482965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72" name="OTLSHAPE_T_e17f3958430f4cff8650518c93c7635e_StartDate">
            <a:extLst>
              <a:ext uri="{FF2B5EF4-FFF2-40B4-BE49-F238E27FC236}">
                <a16:creationId xmlns:a16="http://schemas.microsoft.com/office/drawing/2014/main" id="{6FEE392C-9DA2-142A-ED6A-BF61F8B2189F}"/>
              </a:ext>
            </a:extLst>
          </p:cNvPr>
          <p:cNvSpPr txBox="1"/>
          <p:nvPr>
            <p:custDataLst>
              <p:tags r:id="rId9"/>
            </p:custDataLst>
          </p:nvPr>
        </p:nvSpPr>
        <p:spPr>
          <a:xfrm>
            <a:off x="7114513" y="4321350"/>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2027</a:t>
            </a:r>
            <a:endParaRPr lang="zh-CN" altLang="en-US" sz="1067" b="1" i="1">
              <a:solidFill>
                <a:schemeClr val="bg1">
                  <a:lumMod val="65000"/>
                </a:schemeClr>
              </a:solidFill>
              <a:ea typeface="等线" panose="02010600030101010101" pitchFamily="2" charset="-122"/>
            </a:endParaRPr>
          </a:p>
        </p:txBody>
      </p:sp>
      <p:sp>
        <p:nvSpPr>
          <p:cNvPr id="73" name="Rectangle 55">
            <a:extLst>
              <a:ext uri="{FF2B5EF4-FFF2-40B4-BE49-F238E27FC236}">
                <a16:creationId xmlns:a16="http://schemas.microsoft.com/office/drawing/2014/main" id="{28D27600-7926-C9E8-B5C0-9D1CA36964EE}"/>
              </a:ext>
            </a:extLst>
          </p:cNvPr>
          <p:cNvSpPr/>
          <p:nvPr/>
        </p:nvSpPr>
        <p:spPr>
          <a:xfrm>
            <a:off x="7691476" y="4765973"/>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1</a:t>
            </a:r>
            <a:endParaRPr lang="zh-CN" altLang="en-US" sz="1067" b="1">
              <a:solidFill>
                <a:srgbClr val="44546A"/>
              </a:solidFill>
              <a:ea typeface="等线" panose="02010600030101010101" pitchFamily="2" charset="-122"/>
              <a:cs typeface="Calibri" panose="020F0502020204030204" pitchFamily="34" charset="0"/>
            </a:endParaRPr>
          </a:p>
        </p:txBody>
      </p:sp>
      <p:sp>
        <p:nvSpPr>
          <p:cNvPr id="74" name="Star: 4 Points 143">
            <a:extLst>
              <a:ext uri="{FF2B5EF4-FFF2-40B4-BE49-F238E27FC236}">
                <a16:creationId xmlns:a16="http://schemas.microsoft.com/office/drawing/2014/main" id="{1A031F67-2D24-E263-D46B-695C288E0C28}"/>
              </a:ext>
            </a:extLst>
          </p:cNvPr>
          <p:cNvSpPr/>
          <p:nvPr/>
        </p:nvSpPr>
        <p:spPr bwMode="auto">
          <a:xfrm>
            <a:off x="2866902" y="46314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5" name="Star: 4 Points 143">
            <a:extLst>
              <a:ext uri="{FF2B5EF4-FFF2-40B4-BE49-F238E27FC236}">
                <a16:creationId xmlns:a16="http://schemas.microsoft.com/office/drawing/2014/main" id="{5750EE0E-6622-6419-A901-2660277C6DF0}"/>
              </a:ext>
            </a:extLst>
          </p:cNvPr>
          <p:cNvSpPr/>
          <p:nvPr/>
        </p:nvSpPr>
        <p:spPr bwMode="auto">
          <a:xfrm>
            <a:off x="7506782" y="471372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6" name="Star: 4 Points 143">
            <a:extLst>
              <a:ext uri="{FF2B5EF4-FFF2-40B4-BE49-F238E27FC236}">
                <a16:creationId xmlns:a16="http://schemas.microsoft.com/office/drawing/2014/main" id="{E5B1C771-4871-1B83-45A4-97A02AAEBC29}"/>
              </a:ext>
            </a:extLst>
          </p:cNvPr>
          <p:cNvSpPr/>
          <p:nvPr/>
        </p:nvSpPr>
        <p:spPr bwMode="auto">
          <a:xfrm>
            <a:off x="8147977" y="4655920"/>
            <a:ext cx="258704" cy="21033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7" name="Rectangle 55">
            <a:extLst>
              <a:ext uri="{FF2B5EF4-FFF2-40B4-BE49-F238E27FC236}">
                <a16:creationId xmlns:a16="http://schemas.microsoft.com/office/drawing/2014/main" id="{9AF3310D-76C4-628B-F380-9CD553A8748A}"/>
              </a:ext>
            </a:extLst>
          </p:cNvPr>
          <p:cNvSpPr/>
          <p:nvPr/>
        </p:nvSpPr>
        <p:spPr>
          <a:xfrm>
            <a:off x="7773495" y="4940656"/>
            <a:ext cx="104868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1</a:t>
            </a:r>
          </a:p>
        </p:txBody>
      </p:sp>
      <p:sp>
        <p:nvSpPr>
          <p:cNvPr id="78" name="Rectangle 100">
            <a:extLst>
              <a:ext uri="{FF2B5EF4-FFF2-40B4-BE49-F238E27FC236}">
                <a16:creationId xmlns:a16="http://schemas.microsoft.com/office/drawing/2014/main" id="{CFC43949-B674-92DD-D220-825C407C5204}"/>
              </a:ext>
            </a:extLst>
          </p:cNvPr>
          <p:cNvSpPr/>
          <p:nvPr/>
        </p:nvSpPr>
        <p:spPr>
          <a:xfrm>
            <a:off x="10485647" y="4148609"/>
            <a:ext cx="651140" cy="253916"/>
          </a:xfrm>
          <a:prstGeom prst="rect">
            <a:avLst/>
          </a:prstGeom>
        </p:spPr>
        <p:txBody>
          <a:bodyPr wrap="none" lIns="91440" tIns="45720" rIns="91440" bIns="45720" anchor="t">
            <a:spAutoFit/>
          </a:bodyPr>
          <a:lstStyle/>
          <a:p>
            <a:pPr algn="ctr" defTabSz="1219108">
              <a:defRPr/>
            </a:pPr>
            <a:r>
              <a:rPr lang="en-US" altLang="zh-CN" sz="1050" b="1" i="1">
                <a:solidFill>
                  <a:schemeClr val="bg1">
                    <a:lumMod val="65000"/>
                  </a:schemeClr>
                </a:solidFill>
                <a:ea typeface="等线"/>
              </a:rPr>
              <a:t>Q1 2029</a:t>
            </a:r>
          </a:p>
        </p:txBody>
      </p:sp>
      <p:sp>
        <p:nvSpPr>
          <p:cNvPr id="79" name="五角星 55">
            <a:extLst>
              <a:ext uri="{FF2B5EF4-FFF2-40B4-BE49-F238E27FC236}">
                <a16:creationId xmlns:a16="http://schemas.microsoft.com/office/drawing/2014/main" id="{5F2AF8A9-387A-75F2-EB56-5D5046690F3D}"/>
              </a:ext>
            </a:extLst>
          </p:cNvPr>
          <p:cNvSpPr>
            <a:spLocks/>
          </p:cNvSpPr>
          <p:nvPr/>
        </p:nvSpPr>
        <p:spPr bwMode="auto">
          <a:xfrm>
            <a:off x="8405287" y="466963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80" name="Rectangle 55">
            <a:extLst>
              <a:ext uri="{FF2B5EF4-FFF2-40B4-BE49-F238E27FC236}">
                <a16:creationId xmlns:a16="http://schemas.microsoft.com/office/drawing/2014/main" id="{6D036B2D-F2FD-AD01-1CE7-0D821D5F553B}"/>
              </a:ext>
            </a:extLst>
          </p:cNvPr>
          <p:cNvSpPr/>
          <p:nvPr/>
        </p:nvSpPr>
        <p:spPr>
          <a:xfrm>
            <a:off x="9921953" y="4570465"/>
            <a:ext cx="170912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Amplification Cohorts)</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82" name="Graphic 318" descr="Flag with solid fill">
            <a:extLst>
              <a:ext uri="{FF2B5EF4-FFF2-40B4-BE49-F238E27FC236}">
                <a16:creationId xmlns:a16="http://schemas.microsoft.com/office/drawing/2014/main" id="{3AF4CF7C-7653-B217-6A8D-D540028A147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736353" y="4435930"/>
            <a:ext cx="210312" cy="210312"/>
          </a:xfrm>
          <a:prstGeom prst="rect">
            <a:avLst/>
          </a:prstGeom>
        </p:spPr>
      </p:pic>
      <p:sp>
        <p:nvSpPr>
          <p:cNvPr id="83" name="OTLSHAPE_T_e17f3958430f4cff8650518c93c7635e_StartDate">
            <a:extLst>
              <a:ext uri="{FF2B5EF4-FFF2-40B4-BE49-F238E27FC236}">
                <a16:creationId xmlns:a16="http://schemas.microsoft.com/office/drawing/2014/main" id="{C68B8F40-6741-C0F9-E012-E2B410709465}"/>
              </a:ext>
            </a:extLst>
          </p:cNvPr>
          <p:cNvSpPr txBox="1"/>
          <p:nvPr>
            <p:custDataLst>
              <p:tags r:id="rId10"/>
            </p:custDataLst>
          </p:nvPr>
        </p:nvSpPr>
        <p:spPr>
          <a:xfrm>
            <a:off x="7919464" y="428382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Q1 2028</a:t>
            </a:r>
            <a:endParaRPr lang="zh-CN" altLang="en-US" sz="1067" b="1" i="1">
              <a:solidFill>
                <a:schemeClr val="bg1">
                  <a:lumMod val="65000"/>
                </a:schemeClr>
              </a:solidFill>
              <a:ea typeface="等线" panose="02010600030101010101" pitchFamily="2" charset="-122"/>
            </a:endParaRPr>
          </a:p>
        </p:txBody>
      </p:sp>
      <p:sp>
        <p:nvSpPr>
          <p:cNvPr id="84" name="Rectangle 100">
            <a:extLst>
              <a:ext uri="{FF2B5EF4-FFF2-40B4-BE49-F238E27FC236}">
                <a16:creationId xmlns:a16="http://schemas.microsoft.com/office/drawing/2014/main" id="{C28DC64F-97B5-3CD1-A455-E4818CC9D905}"/>
              </a:ext>
            </a:extLst>
          </p:cNvPr>
          <p:cNvSpPr/>
          <p:nvPr/>
        </p:nvSpPr>
        <p:spPr>
          <a:xfrm>
            <a:off x="11072602" y="3018914"/>
            <a:ext cx="758542" cy="256545"/>
          </a:xfrm>
          <a:prstGeom prst="rect">
            <a:avLst/>
          </a:prstGeom>
        </p:spPr>
        <p:txBody>
          <a:bodyPr wrap="none">
            <a:spAutoFit/>
          </a:bodyPr>
          <a:lstStyle/>
          <a:p>
            <a:pPr algn="ctr" defTabSz="1219108">
              <a:defRPr/>
            </a:pPr>
            <a:r>
              <a:rPr lang="en-US" altLang="zh-CN" sz="1067" b="1" i="1">
                <a:solidFill>
                  <a:schemeClr val="bg1">
                    <a:lumMod val="65000"/>
                  </a:schemeClr>
                </a:solidFill>
                <a:ea typeface="等线" panose="02010600030101010101" pitchFamily="2" charset="-122"/>
              </a:rPr>
              <a:t>Q3 2029</a:t>
            </a:r>
          </a:p>
        </p:txBody>
      </p:sp>
      <p:pic>
        <p:nvPicPr>
          <p:cNvPr id="85" name="Graphic 318" descr="Flag with solid fill">
            <a:extLst>
              <a:ext uri="{FF2B5EF4-FFF2-40B4-BE49-F238E27FC236}">
                <a16:creationId xmlns:a16="http://schemas.microsoft.com/office/drawing/2014/main" id="{3CE51100-441C-1AF4-2517-ECE81DC8A05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478888" y="3312790"/>
            <a:ext cx="210312" cy="210312"/>
          </a:xfrm>
          <a:prstGeom prst="rect">
            <a:avLst/>
          </a:prstGeom>
        </p:spPr>
      </p:pic>
      <p:sp>
        <p:nvSpPr>
          <p:cNvPr id="87" name="Rectangle 55">
            <a:extLst>
              <a:ext uri="{FF2B5EF4-FFF2-40B4-BE49-F238E27FC236}">
                <a16:creationId xmlns:a16="http://schemas.microsoft.com/office/drawing/2014/main" id="{8106E43B-1D6C-D2A7-FDC6-F8514387505D}"/>
              </a:ext>
            </a:extLst>
          </p:cNvPr>
          <p:cNvSpPr/>
          <p:nvPr/>
        </p:nvSpPr>
        <p:spPr>
          <a:xfrm>
            <a:off x="11002966" y="3410801"/>
            <a:ext cx="1290739"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mutant Cohorts)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92" name="Rectangle 55">
            <a:extLst>
              <a:ext uri="{FF2B5EF4-FFF2-40B4-BE49-F238E27FC236}">
                <a16:creationId xmlns:a16="http://schemas.microsoft.com/office/drawing/2014/main" id="{BEBB9508-91AA-DCA9-D916-BBA64323232D}"/>
              </a:ext>
            </a:extLst>
          </p:cNvPr>
          <p:cNvSpPr/>
          <p:nvPr/>
        </p:nvSpPr>
        <p:spPr>
          <a:xfrm>
            <a:off x="9732983" y="3411318"/>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2</a:t>
            </a:r>
            <a:endParaRPr lang="zh-CN" altLang="en-US" sz="1067" b="1">
              <a:solidFill>
                <a:srgbClr val="44546A"/>
              </a:solidFill>
              <a:ea typeface="等线" panose="02010600030101010101" pitchFamily="2" charset="-122"/>
              <a:cs typeface="Calibri" panose="020F0502020204030204" pitchFamily="34" charset="0"/>
            </a:endParaRPr>
          </a:p>
        </p:txBody>
      </p:sp>
      <p:sp>
        <p:nvSpPr>
          <p:cNvPr id="93" name="Star: 4 Points 143">
            <a:extLst>
              <a:ext uri="{FF2B5EF4-FFF2-40B4-BE49-F238E27FC236}">
                <a16:creationId xmlns:a16="http://schemas.microsoft.com/office/drawing/2014/main" id="{D5B4ACCE-A51E-CD96-537E-4E559CD86532}"/>
              </a:ext>
            </a:extLst>
          </p:cNvPr>
          <p:cNvSpPr/>
          <p:nvPr/>
        </p:nvSpPr>
        <p:spPr bwMode="auto">
          <a:xfrm>
            <a:off x="10086493" y="33133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4" name="Rectangle 55">
            <a:extLst>
              <a:ext uri="{FF2B5EF4-FFF2-40B4-BE49-F238E27FC236}">
                <a16:creationId xmlns:a16="http://schemas.microsoft.com/office/drawing/2014/main" id="{59D025D2-BC7F-5AD9-913E-53D482B02FDB}"/>
              </a:ext>
            </a:extLst>
          </p:cNvPr>
          <p:cNvSpPr/>
          <p:nvPr/>
        </p:nvSpPr>
        <p:spPr>
          <a:xfrm>
            <a:off x="9540891" y="3586001"/>
            <a:ext cx="159691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2</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mutant cohorts</a:t>
            </a:r>
          </a:p>
        </p:txBody>
      </p:sp>
      <p:sp>
        <p:nvSpPr>
          <p:cNvPr id="95" name="五角星 55">
            <a:extLst>
              <a:ext uri="{FF2B5EF4-FFF2-40B4-BE49-F238E27FC236}">
                <a16:creationId xmlns:a16="http://schemas.microsoft.com/office/drawing/2014/main" id="{C4BF8372-E27C-6AF2-C471-3B65926D4E39}"/>
              </a:ext>
            </a:extLst>
          </p:cNvPr>
          <p:cNvSpPr>
            <a:spLocks/>
          </p:cNvSpPr>
          <p:nvPr/>
        </p:nvSpPr>
        <p:spPr bwMode="auto">
          <a:xfrm>
            <a:off x="10230246" y="330920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88" name="OTLSHAPE_T_e17f3958430f4cff8650518c93c7635e_StartDate">
            <a:extLst>
              <a:ext uri="{FF2B5EF4-FFF2-40B4-BE49-F238E27FC236}">
                <a16:creationId xmlns:a16="http://schemas.microsoft.com/office/drawing/2014/main" id="{A14B10AF-9CB5-AC7C-E66A-DE69C6993708}"/>
              </a:ext>
            </a:extLst>
          </p:cNvPr>
          <p:cNvSpPr txBox="1"/>
          <p:nvPr>
            <p:custDataLst>
              <p:tags r:id="rId11"/>
            </p:custDataLst>
          </p:nvPr>
        </p:nvSpPr>
        <p:spPr>
          <a:xfrm>
            <a:off x="9815162" y="3093285"/>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Q4 2028</a:t>
            </a:r>
            <a:endParaRPr lang="zh-CN" altLang="en-US" sz="1067" b="1" i="1">
              <a:solidFill>
                <a:schemeClr val="bg1">
                  <a:lumMod val="65000"/>
                </a:schemeClr>
              </a:solidFill>
              <a:ea typeface="等线" panose="02010600030101010101" pitchFamily="2" charset="-122"/>
            </a:endParaRPr>
          </a:p>
        </p:txBody>
      </p:sp>
      <p:sp>
        <p:nvSpPr>
          <p:cNvPr id="289" name="Rectangle 100">
            <a:extLst>
              <a:ext uri="{FF2B5EF4-FFF2-40B4-BE49-F238E27FC236}">
                <a16:creationId xmlns:a16="http://schemas.microsoft.com/office/drawing/2014/main" id="{95E95D4B-9927-8F19-995E-FC260ECF5E7C}"/>
              </a:ext>
            </a:extLst>
          </p:cNvPr>
          <p:cNvSpPr/>
          <p:nvPr/>
        </p:nvSpPr>
        <p:spPr>
          <a:xfrm>
            <a:off x="11054926" y="5173232"/>
            <a:ext cx="758542" cy="256545"/>
          </a:xfrm>
          <a:prstGeom prst="rect">
            <a:avLst/>
          </a:prstGeom>
        </p:spPr>
        <p:txBody>
          <a:bodyPr wrap="none">
            <a:spAutoFit/>
          </a:bodyPr>
          <a:lstStyle/>
          <a:p>
            <a:pPr algn="ctr" defTabSz="1219108">
              <a:defRPr/>
            </a:pPr>
            <a:r>
              <a:rPr lang="en-US" altLang="zh-CN" sz="1067" b="1" i="1">
                <a:solidFill>
                  <a:schemeClr val="bg1">
                    <a:lumMod val="65000"/>
                  </a:schemeClr>
                </a:solidFill>
                <a:ea typeface="等线" panose="02010600030101010101" pitchFamily="2" charset="-122"/>
              </a:rPr>
              <a:t>Q4 2029</a:t>
            </a:r>
          </a:p>
        </p:txBody>
      </p:sp>
      <p:pic>
        <p:nvPicPr>
          <p:cNvPr id="290" name="Graphic 318" descr="Flag with solid fill">
            <a:extLst>
              <a:ext uri="{FF2B5EF4-FFF2-40B4-BE49-F238E27FC236}">
                <a16:creationId xmlns:a16="http://schemas.microsoft.com/office/drawing/2014/main" id="{091904BF-AAC8-38BE-6173-5240EDBE372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488644" y="5467108"/>
            <a:ext cx="210312" cy="210312"/>
          </a:xfrm>
          <a:prstGeom prst="rect">
            <a:avLst/>
          </a:prstGeom>
        </p:spPr>
      </p:pic>
      <p:sp>
        <p:nvSpPr>
          <p:cNvPr id="293" name="Rectangle 55">
            <a:extLst>
              <a:ext uri="{FF2B5EF4-FFF2-40B4-BE49-F238E27FC236}">
                <a16:creationId xmlns:a16="http://schemas.microsoft.com/office/drawing/2014/main" id="{AE212675-7298-1136-DC0E-776F8576BFC6}"/>
              </a:ext>
            </a:extLst>
          </p:cNvPr>
          <p:cNvSpPr/>
          <p:nvPr/>
        </p:nvSpPr>
        <p:spPr>
          <a:xfrm>
            <a:off x="11006310" y="5565119"/>
            <a:ext cx="1303563"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Mutant Cohorts)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4" name="Rectangle 55">
            <a:extLst>
              <a:ext uri="{FF2B5EF4-FFF2-40B4-BE49-F238E27FC236}">
                <a16:creationId xmlns:a16="http://schemas.microsoft.com/office/drawing/2014/main" id="{68F5EF5B-C5F3-5C5F-409E-6720BAB8391E}"/>
              </a:ext>
            </a:extLst>
          </p:cNvPr>
          <p:cNvSpPr/>
          <p:nvPr/>
        </p:nvSpPr>
        <p:spPr>
          <a:xfrm>
            <a:off x="9715307" y="5565636"/>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2</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5" name="Star: 4 Points 143">
            <a:extLst>
              <a:ext uri="{FF2B5EF4-FFF2-40B4-BE49-F238E27FC236}">
                <a16:creationId xmlns:a16="http://schemas.microsoft.com/office/drawing/2014/main" id="{8A0DFDBB-397F-1B65-D129-20D6854FE687}"/>
              </a:ext>
            </a:extLst>
          </p:cNvPr>
          <p:cNvSpPr/>
          <p:nvPr/>
        </p:nvSpPr>
        <p:spPr bwMode="auto">
          <a:xfrm>
            <a:off x="10068817" y="546766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9" name="Rectangle 55">
            <a:extLst>
              <a:ext uri="{FF2B5EF4-FFF2-40B4-BE49-F238E27FC236}">
                <a16:creationId xmlns:a16="http://schemas.microsoft.com/office/drawing/2014/main" id="{B4128922-E1C3-70FA-CD0A-3AAFBE5828B7}"/>
              </a:ext>
            </a:extLst>
          </p:cNvPr>
          <p:cNvSpPr/>
          <p:nvPr/>
        </p:nvSpPr>
        <p:spPr>
          <a:xfrm>
            <a:off x="9523215" y="5740319"/>
            <a:ext cx="159691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2</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mutant cohorts</a:t>
            </a:r>
          </a:p>
        </p:txBody>
      </p:sp>
      <p:sp>
        <p:nvSpPr>
          <p:cNvPr id="300" name="五角星 55">
            <a:extLst>
              <a:ext uri="{FF2B5EF4-FFF2-40B4-BE49-F238E27FC236}">
                <a16:creationId xmlns:a16="http://schemas.microsoft.com/office/drawing/2014/main" id="{60D74A86-5D6D-A938-75F2-15F64B8D2407}"/>
              </a:ext>
            </a:extLst>
          </p:cNvPr>
          <p:cNvSpPr>
            <a:spLocks/>
          </p:cNvSpPr>
          <p:nvPr/>
        </p:nvSpPr>
        <p:spPr bwMode="auto">
          <a:xfrm>
            <a:off x="10212570" y="546352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303" name="OTLSHAPE_T_e17f3958430f4cff8650518c93c7635e_StartDate">
            <a:extLst>
              <a:ext uri="{FF2B5EF4-FFF2-40B4-BE49-F238E27FC236}">
                <a16:creationId xmlns:a16="http://schemas.microsoft.com/office/drawing/2014/main" id="{E2572CEA-521E-B6FE-B1CB-37FF4ED73486}"/>
              </a:ext>
            </a:extLst>
          </p:cNvPr>
          <p:cNvSpPr txBox="1"/>
          <p:nvPr>
            <p:custDataLst>
              <p:tags r:id="rId12"/>
            </p:custDataLst>
          </p:nvPr>
        </p:nvSpPr>
        <p:spPr>
          <a:xfrm>
            <a:off x="9797486" y="524760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Q4 2028</a:t>
            </a:r>
            <a:endParaRPr lang="zh-CN" altLang="en-US" sz="1067" b="1" i="1">
              <a:solidFill>
                <a:schemeClr val="bg1">
                  <a:lumMod val="65000"/>
                </a:schemeClr>
              </a:solidFill>
              <a:ea typeface="等线" panose="02010600030101010101" pitchFamily="2" charset="-122"/>
            </a:endParaRPr>
          </a:p>
        </p:txBody>
      </p:sp>
      <p:sp>
        <p:nvSpPr>
          <p:cNvPr id="304" name="OTLSHAPE_T_e17f3958430f4cff8650518c93c7635e_Shape">
            <a:extLst>
              <a:ext uri="{FF2B5EF4-FFF2-40B4-BE49-F238E27FC236}">
                <a16:creationId xmlns:a16="http://schemas.microsoft.com/office/drawing/2014/main" id="{D16539EE-F52E-5EB7-5C76-8C65A4C2E7BD}"/>
              </a:ext>
            </a:extLst>
          </p:cNvPr>
          <p:cNvSpPr/>
          <p:nvPr>
            <p:custDataLst>
              <p:tags r:id="rId13"/>
            </p:custDataLst>
          </p:nvPr>
        </p:nvSpPr>
        <p:spPr bwMode="auto">
          <a:xfrm>
            <a:off x="1815981" y="4532145"/>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305" name="OTLSHAPE_T_e17f3958430f4cff8650518c93c7635e_StartDate">
            <a:extLst>
              <a:ext uri="{FF2B5EF4-FFF2-40B4-BE49-F238E27FC236}">
                <a16:creationId xmlns:a16="http://schemas.microsoft.com/office/drawing/2014/main" id="{DCF41DDF-BDC9-F75A-7F2D-629F649E1DA3}"/>
              </a:ext>
            </a:extLst>
          </p:cNvPr>
          <p:cNvSpPr txBox="1"/>
          <p:nvPr>
            <p:custDataLst>
              <p:tags r:id="rId14"/>
            </p:custDataLst>
          </p:nvPr>
        </p:nvSpPr>
        <p:spPr>
          <a:xfrm>
            <a:off x="1366032" y="4381089"/>
            <a:ext cx="106147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a:t>
            </a:r>
            <a:r>
              <a:rPr lang="en-US" altLang="zh-CN" sz="1067" b="1" i="1">
                <a:solidFill>
                  <a:srgbClr val="FF0000"/>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09" name="OTLSHAPE_M_39ea6ebc19a94c9fab6ef5006c31df58_Shape">
            <a:extLst>
              <a:ext uri="{FF2B5EF4-FFF2-40B4-BE49-F238E27FC236}">
                <a16:creationId xmlns:a16="http://schemas.microsoft.com/office/drawing/2014/main" id="{AE21A0D9-A67E-787D-F9D9-A57586D032CF}"/>
              </a:ext>
            </a:extLst>
          </p:cNvPr>
          <p:cNvSpPr/>
          <p:nvPr>
            <p:custDataLst>
              <p:tags r:id="rId15"/>
            </p:custDataLst>
          </p:nvPr>
        </p:nvSpPr>
        <p:spPr bwMode="auto">
          <a:xfrm rot="16200000">
            <a:off x="1768437" y="478200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313" name="OTLSHAPE_M_39ea6ebc19a94c9fab6ef5006c31df58_Title">
            <a:extLst>
              <a:ext uri="{FF2B5EF4-FFF2-40B4-BE49-F238E27FC236}">
                <a16:creationId xmlns:a16="http://schemas.microsoft.com/office/drawing/2014/main" id="{0B272859-8CAF-B338-DFB2-2B9FBEB18A22}"/>
              </a:ext>
            </a:extLst>
          </p:cNvPr>
          <p:cNvSpPr txBox="1"/>
          <p:nvPr>
            <p:custDataLst>
              <p:tags r:id="rId16"/>
            </p:custDataLst>
          </p:nvPr>
        </p:nvSpPr>
        <p:spPr>
          <a:xfrm>
            <a:off x="1504352" y="4884689"/>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4" name="TextBox 64">
            <a:extLst>
              <a:ext uri="{FF2B5EF4-FFF2-40B4-BE49-F238E27FC236}">
                <a16:creationId xmlns:a16="http://schemas.microsoft.com/office/drawing/2014/main" id="{F15F3CC0-8BE6-B543-4BDC-8958CDD70ED9}"/>
              </a:ext>
            </a:extLst>
          </p:cNvPr>
          <p:cNvSpPr txBox="1"/>
          <p:nvPr/>
        </p:nvSpPr>
        <p:spPr>
          <a:xfrm>
            <a:off x="158905" y="2434998"/>
            <a:ext cx="171076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1479-0009</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Pan tumor-1</a:t>
            </a:r>
            <a:endParaRPr lang="en-US" sz="1067" b="1">
              <a:solidFill>
                <a:srgbClr val="08312A"/>
              </a:solidFill>
              <a:cs typeface="Calibri" panose="020F0502020204030204" pitchFamily="34" charset="0"/>
            </a:endParaRPr>
          </a:p>
        </p:txBody>
      </p:sp>
      <p:grpSp>
        <p:nvGrpSpPr>
          <p:cNvPr id="3" name="Group 62">
            <a:extLst>
              <a:ext uri="{FF2B5EF4-FFF2-40B4-BE49-F238E27FC236}">
                <a16:creationId xmlns:a16="http://schemas.microsoft.com/office/drawing/2014/main" id="{F58545BD-3C3E-B302-0C97-2364AED4C999}"/>
              </a:ext>
            </a:extLst>
          </p:cNvPr>
          <p:cNvGrpSpPr/>
          <p:nvPr/>
        </p:nvGrpSpPr>
        <p:grpSpPr>
          <a:xfrm>
            <a:off x="4392739" y="729020"/>
            <a:ext cx="546747" cy="6134718"/>
            <a:chOff x="1155349" y="1057179"/>
            <a:chExt cx="546747" cy="4601037"/>
          </a:xfrm>
        </p:grpSpPr>
        <p:cxnSp>
          <p:nvCxnSpPr>
            <p:cNvPr id="4" name="Straight Connector 63">
              <a:extLst>
                <a:ext uri="{FF2B5EF4-FFF2-40B4-BE49-F238E27FC236}">
                  <a16:creationId xmlns:a16="http://schemas.microsoft.com/office/drawing/2014/main" id="{4726B9D3-42EC-8A1C-63D4-2878504A1EB9}"/>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OTLSHAPE_T_e17f3958430f4cff8650518c93c7635e_StartDate">
              <a:extLst>
                <a:ext uri="{FF2B5EF4-FFF2-40B4-BE49-F238E27FC236}">
                  <a16:creationId xmlns:a16="http://schemas.microsoft.com/office/drawing/2014/main" id="{A4919FB5-883F-99B9-958C-E967E5F325E4}"/>
                </a:ext>
              </a:extLst>
            </p:cNvPr>
            <p:cNvSpPr txBox="1"/>
            <p:nvPr>
              <p:custDataLst>
                <p:tags r:id="rId17"/>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8" name="文本框 160">
            <a:extLst>
              <a:ext uri="{FF2B5EF4-FFF2-40B4-BE49-F238E27FC236}">
                <a16:creationId xmlns:a16="http://schemas.microsoft.com/office/drawing/2014/main" id="{6DC6DF00-54B9-B013-8710-7936FC7ED17C}"/>
              </a:ext>
            </a:extLst>
          </p:cNvPr>
          <p:cNvSpPr txBox="1"/>
          <p:nvPr/>
        </p:nvSpPr>
        <p:spPr>
          <a:xfrm>
            <a:off x="1605159" y="2903648"/>
            <a:ext cx="5896991" cy="882653"/>
          </a:xfrm>
          <a:prstGeom prst="roundRect">
            <a:avLst/>
          </a:prstGeom>
          <a:noFill/>
          <a:ln>
            <a:solidFill>
              <a:srgbClr val="076D7E"/>
            </a:solidFill>
            <a:prstDash val="lgDash"/>
          </a:ln>
        </p:spPr>
        <p:txBody>
          <a:bodyPr wrap="square" rtlCol="0">
            <a:spAutoFit/>
          </a:bodyPr>
          <a:lstStyle/>
          <a:p>
            <a:pPr marL="171450" indent="-171450" defTabSz="1219170">
              <a:spcAft>
                <a:spcPts val="267"/>
              </a:spcAft>
              <a:buFont typeface="Arial" panose="020B0604020202020204" pitchFamily="34" charset="0"/>
              <a:buChar char="•"/>
              <a:defRPr/>
            </a:pPr>
            <a:r>
              <a:rPr lang="en-US" altLang="zh-CN" sz="1067" err="1">
                <a:solidFill>
                  <a:schemeClr val="bg2"/>
                </a:solidFill>
                <a:cs typeface="Calibri" panose="020F0502020204030204" pitchFamily="34" charset="0"/>
              </a:rPr>
              <a:t>Beamion</a:t>
            </a:r>
            <a:r>
              <a:rPr lang="en-US" altLang="zh-CN" sz="1067">
                <a:solidFill>
                  <a:schemeClr val="bg2"/>
                </a:solidFill>
                <a:cs typeface="Calibri" panose="020F0502020204030204" pitchFamily="34" charset="0"/>
              </a:rPr>
              <a:t> Pantumor-1 was endorsed as a </a:t>
            </a:r>
            <a:r>
              <a:rPr lang="it-IT" altLang="zh-CN" sz="1067">
                <a:solidFill>
                  <a:schemeClr val="bg2"/>
                </a:solidFill>
                <a:cs typeface="Calibri" panose="020F0502020204030204" pitchFamily="34" charset="0"/>
              </a:rPr>
              <a:t>‘registration-capable’ </a:t>
            </a:r>
            <a:r>
              <a:rPr lang="en-US" altLang="zh-CN" sz="1067">
                <a:solidFill>
                  <a:schemeClr val="bg2"/>
                </a:solidFill>
                <a:cs typeface="Calibri" panose="020F0502020204030204" pitchFamily="34" charset="0"/>
              </a:rPr>
              <a:t>trial to support tumor agnostic approval in HER2 amplified</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and</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mutant</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population.</a:t>
            </a:r>
            <a:r>
              <a:rPr lang="zh-CN" altLang="en-US" sz="1067">
                <a:solidFill>
                  <a:schemeClr val="bg2"/>
                </a:solidFill>
                <a:cs typeface="Calibri" panose="020F0502020204030204" pitchFamily="34" charset="0"/>
              </a:rPr>
              <a:t> </a:t>
            </a:r>
            <a:endParaRPr lang="en-US" altLang="zh-CN" sz="1067">
              <a:solidFill>
                <a:schemeClr val="bg2"/>
              </a:solidFill>
              <a:cs typeface="Calibri" panose="020F0502020204030204" pitchFamily="34" charset="0"/>
            </a:endParaRPr>
          </a:p>
          <a:p>
            <a:pPr marL="171450" indent="-171450" defTabSz="1219170">
              <a:spcAft>
                <a:spcPts val="267"/>
              </a:spcAft>
              <a:buFont typeface="Arial" panose="020B0604020202020204" pitchFamily="34" charset="0"/>
              <a:buChar char="•"/>
              <a:defRPr/>
            </a:pPr>
            <a:r>
              <a:rPr lang="en-GB" altLang="zh-CN" sz="1067">
                <a:solidFill>
                  <a:schemeClr val="bg2"/>
                </a:solidFill>
                <a:cs typeface="Calibri" panose="020F0502020204030204" pitchFamily="34" charset="0"/>
              </a:rPr>
              <a:t>Preparations for the Type C package regarding </a:t>
            </a:r>
            <a:r>
              <a:rPr lang="en-GB" altLang="zh-CN" sz="1067" err="1">
                <a:solidFill>
                  <a:schemeClr val="bg2"/>
                </a:solidFill>
                <a:cs typeface="Calibri" panose="020F0502020204030204" pitchFamily="34" charset="0"/>
              </a:rPr>
              <a:t>pantumor</a:t>
            </a:r>
            <a:r>
              <a:rPr lang="en-GB" altLang="zh-CN" sz="1067">
                <a:solidFill>
                  <a:schemeClr val="bg2"/>
                </a:solidFill>
                <a:cs typeface="Calibri" panose="020F0502020204030204" pitchFamily="34" charset="0"/>
              </a:rPr>
              <a:t> development and dose strategy are in progress, FDA meeting is expected in Feb 2026.</a:t>
            </a:r>
            <a:endParaRPr lang="de-DE" altLang="zh-CN" sz="1067">
              <a:solidFill>
                <a:schemeClr val="bg2"/>
              </a:solidFill>
              <a:cs typeface="Calibri" panose="020F0502020204030204" pitchFamily="34" charset="0"/>
            </a:endParaRPr>
          </a:p>
        </p:txBody>
      </p:sp>
      <p:sp>
        <p:nvSpPr>
          <p:cNvPr id="9" name="文本框 160">
            <a:extLst>
              <a:ext uri="{FF2B5EF4-FFF2-40B4-BE49-F238E27FC236}">
                <a16:creationId xmlns:a16="http://schemas.microsoft.com/office/drawing/2014/main" id="{73BC8DE5-0A1B-7DC7-9E22-1B515EEBDE26}"/>
              </a:ext>
            </a:extLst>
          </p:cNvPr>
          <p:cNvSpPr txBox="1"/>
          <p:nvPr/>
        </p:nvSpPr>
        <p:spPr>
          <a:xfrm>
            <a:off x="1576145" y="5400612"/>
            <a:ext cx="5881573" cy="859810"/>
          </a:xfrm>
          <a:prstGeom prst="roundRect">
            <a:avLst/>
          </a:prstGeom>
          <a:noFill/>
          <a:ln>
            <a:solidFill>
              <a:srgbClr val="076D7E"/>
            </a:solidFill>
            <a:prstDash val="lgDash"/>
          </a:ln>
        </p:spPr>
        <p:txBody>
          <a:bodyPr wrap="square" lIns="91440" tIns="45720" rIns="91440" bIns="45720" rtlCol="0" anchor="t">
            <a:spAutoFit/>
          </a:bodyPr>
          <a:lstStyle/>
          <a:p>
            <a:pPr marL="171450" indent="-171450" defTabSz="1219170">
              <a:spcAft>
                <a:spcPts val="267"/>
              </a:spcAft>
              <a:buFont typeface="Arial" panose="020B0604020202020204" pitchFamily="34" charset="0"/>
              <a:buChar char="•"/>
              <a:defRPr/>
            </a:pPr>
            <a:r>
              <a:rPr lang="en-US" altLang="zh-CN" sz="1050">
                <a:solidFill>
                  <a:schemeClr val="bg2"/>
                </a:solidFill>
                <a:cs typeface="Calibri"/>
              </a:rPr>
              <a:t>CDO Update:</a:t>
            </a:r>
            <a:r>
              <a:rPr lang="zh-CN" altLang="en-US" sz="1050">
                <a:solidFill>
                  <a:schemeClr val="bg2"/>
                </a:solidFill>
                <a:cs typeface="Calibri"/>
              </a:rPr>
              <a:t> </a:t>
            </a:r>
            <a:r>
              <a:rPr lang="en-US" altLang="zh-CN" sz="1050">
                <a:solidFill>
                  <a:schemeClr val="bg2"/>
                </a:solidFill>
                <a:cs typeface="Calibri"/>
              </a:rPr>
              <a:t>14 subjects were randomized and the additional 5 sites will be finalized by the end of Dec 2026.</a:t>
            </a:r>
          </a:p>
          <a:p>
            <a:pPr marL="171450" indent="-171450" defTabSz="1219170">
              <a:spcAft>
                <a:spcPts val="267"/>
              </a:spcAft>
              <a:buFont typeface="Arial" panose="020B0604020202020204" pitchFamily="34" charset="0"/>
              <a:buChar char="•"/>
              <a:defRPr/>
            </a:pPr>
            <a:r>
              <a:rPr lang="it-IT" altLang="zh-CN" sz="1050">
                <a:solidFill>
                  <a:schemeClr val="bg2"/>
                </a:solidFill>
                <a:cs typeface="Calibri"/>
              </a:rPr>
              <a:t>China Health Authority Interaction to discuss pantumor development will be planned in parallel with the FDA type C meeting in Q1 2026.</a:t>
            </a:r>
            <a:endParaRPr lang="it-IT" altLang="zh-CN" sz="1050">
              <a:solidFill>
                <a:schemeClr val="bg2"/>
              </a:solidFill>
              <a:cs typeface="Calibri" panose="020F0502020204030204" pitchFamily="34" charset="0"/>
            </a:endParaRPr>
          </a:p>
        </p:txBody>
      </p:sp>
    </p:spTree>
    <p:extLst>
      <p:ext uri="{BB962C8B-B14F-4D97-AF65-F5344CB8AC3E}">
        <p14:creationId xmlns:p14="http://schemas.microsoft.com/office/powerpoint/2010/main" val="2608306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EA203-8481-4FA9-A0F9-1CB080FF2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BAD62-53AE-3101-A506-F87277D2D3C1}"/>
              </a:ext>
            </a:extLst>
          </p:cNvPr>
          <p:cNvSpPr>
            <a:spLocks noGrp="1"/>
          </p:cNvSpPr>
          <p:nvPr>
            <p:ph type="title"/>
          </p:nvPr>
        </p:nvSpPr>
        <p:spPr>
          <a:xfrm>
            <a:off x="444189" y="282289"/>
            <a:ext cx="11233151" cy="720000"/>
          </a:xfrm>
        </p:spPr>
        <p:txBody>
          <a:bodyPr/>
          <a:lstStyle/>
          <a:p>
            <a:r>
              <a:rPr lang="en-US" altLang="zh-CN" sz="2000" i="1" err="1">
                <a:solidFill>
                  <a:schemeClr val="tx1"/>
                </a:solidFill>
                <a:latin typeface="+mn-lt"/>
              </a:rPr>
              <a:t>Zongertinib</a:t>
            </a:r>
            <a:r>
              <a:rPr lang="en-US" altLang="zh-CN" sz="2000" i="1">
                <a:solidFill>
                  <a:schemeClr val="tx1"/>
                </a:solidFill>
                <a:latin typeface="+mn-lt"/>
              </a:rPr>
              <a:t> (HERNEXEOS®) – </a:t>
            </a:r>
            <a:r>
              <a:rPr lang="en-US" altLang="zh-CN" sz="2000" i="0" kern="1200">
                <a:solidFill>
                  <a:schemeClr val="tx1"/>
                </a:solidFill>
                <a:latin typeface="+mn-lt"/>
                <a:ea typeface="+mn-ea"/>
                <a:cs typeface="+mn-cs"/>
              </a:rPr>
              <a:t>Pan-tumor Development Plan (Accelerate Approval) – New </a:t>
            </a:r>
            <a:r>
              <a:rPr lang="en-US" altLang="zh-CN" sz="2000">
                <a:solidFill>
                  <a:schemeClr val="tx1"/>
                </a:solidFill>
                <a:latin typeface="+mn-lt"/>
                <a:ea typeface="+mn-ea"/>
                <a:cs typeface="+mn-cs"/>
              </a:rPr>
              <a:t>T</a:t>
            </a:r>
            <a:r>
              <a:rPr lang="en-US" altLang="zh-CN" sz="2000" i="0" kern="1200">
                <a:solidFill>
                  <a:schemeClr val="tx1"/>
                </a:solidFill>
                <a:latin typeface="+mn-lt"/>
                <a:ea typeface="+mn-ea"/>
                <a:cs typeface="+mn-cs"/>
              </a:rPr>
              <a:t>imeline   </a:t>
            </a:r>
            <a:endParaRPr lang="zh-CN" altLang="en-US" sz="2400">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68F6A341-6A0C-A3FA-0F97-999A14280E8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D60EC2C6-DFCB-22D2-9726-32163415EB2B}"/>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16</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72C081ED-9FC0-48B6-F91F-ECDDF85B4D0B}"/>
              </a:ext>
            </a:extLst>
          </p:cNvPr>
          <p:cNvSpPr/>
          <p:nvPr>
            <p:custDataLst>
              <p:tags r:id="rId1"/>
            </p:custDataLst>
          </p:nvPr>
        </p:nvSpPr>
        <p:spPr bwMode="auto">
          <a:xfrm>
            <a:off x="7689274" y="2300382"/>
            <a:ext cx="600517"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EB375408-E600-A6FC-51DF-EDA63448E3A9}"/>
              </a:ext>
            </a:extLst>
          </p:cNvPr>
          <p:cNvGraphicFramePr>
            <a:graphicFrameLocks noGrp="1"/>
          </p:cNvGraphicFramePr>
          <p:nvPr/>
        </p:nvGraphicFramePr>
        <p:xfrm>
          <a:off x="1285344" y="1027483"/>
          <a:ext cx="10426662" cy="675640"/>
        </p:xfrm>
        <a:graphic>
          <a:graphicData uri="http://schemas.openxmlformats.org/drawingml/2006/table">
            <a:tbl>
              <a:tblPr firstRow="1" bandRow="1"/>
              <a:tblGrid>
                <a:gridCol w="579259">
                  <a:extLst>
                    <a:ext uri="{9D8B030D-6E8A-4147-A177-3AD203B41FA5}">
                      <a16:colId xmlns:a16="http://schemas.microsoft.com/office/drawing/2014/main" val="3091663135"/>
                    </a:ext>
                  </a:extLst>
                </a:gridCol>
                <a:gridCol w="579259">
                  <a:extLst>
                    <a:ext uri="{9D8B030D-6E8A-4147-A177-3AD203B41FA5}">
                      <a16:colId xmlns:a16="http://schemas.microsoft.com/office/drawing/2014/main" val="2003423086"/>
                    </a:ext>
                  </a:extLst>
                </a:gridCol>
                <a:gridCol w="579259">
                  <a:extLst>
                    <a:ext uri="{9D8B030D-6E8A-4147-A177-3AD203B41FA5}">
                      <a16:colId xmlns:a16="http://schemas.microsoft.com/office/drawing/2014/main" val="2466911814"/>
                    </a:ext>
                  </a:extLst>
                </a:gridCol>
                <a:gridCol w="579259">
                  <a:extLst>
                    <a:ext uri="{9D8B030D-6E8A-4147-A177-3AD203B41FA5}">
                      <a16:colId xmlns:a16="http://schemas.microsoft.com/office/drawing/2014/main" val="3023231563"/>
                    </a:ext>
                  </a:extLst>
                </a:gridCol>
                <a:gridCol w="579259">
                  <a:extLst>
                    <a:ext uri="{9D8B030D-6E8A-4147-A177-3AD203B41FA5}">
                      <a16:colId xmlns:a16="http://schemas.microsoft.com/office/drawing/2014/main" val="3411862845"/>
                    </a:ext>
                  </a:extLst>
                </a:gridCol>
                <a:gridCol w="579259">
                  <a:extLst>
                    <a:ext uri="{9D8B030D-6E8A-4147-A177-3AD203B41FA5}">
                      <a16:colId xmlns:a16="http://schemas.microsoft.com/office/drawing/2014/main" val="2851474774"/>
                    </a:ext>
                  </a:extLst>
                </a:gridCol>
                <a:gridCol w="579259">
                  <a:extLst>
                    <a:ext uri="{9D8B030D-6E8A-4147-A177-3AD203B41FA5}">
                      <a16:colId xmlns:a16="http://schemas.microsoft.com/office/drawing/2014/main" val="107595344"/>
                    </a:ext>
                  </a:extLst>
                </a:gridCol>
                <a:gridCol w="579259">
                  <a:extLst>
                    <a:ext uri="{9D8B030D-6E8A-4147-A177-3AD203B41FA5}">
                      <a16:colId xmlns:a16="http://schemas.microsoft.com/office/drawing/2014/main" val="1666999431"/>
                    </a:ext>
                  </a:extLst>
                </a:gridCol>
                <a:gridCol w="579259">
                  <a:extLst>
                    <a:ext uri="{9D8B030D-6E8A-4147-A177-3AD203B41FA5}">
                      <a16:colId xmlns:a16="http://schemas.microsoft.com/office/drawing/2014/main" val="3696607442"/>
                    </a:ext>
                  </a:extLst>
                </a:gridCol>
                <a:gridCol w="579259">
                  <a:extLst>
                    <a:ext uri="{9D8B030D-6E8A-4147-A177-3AD203B41FA5}">
                      <a16:colId xmlns:a16="http://schemas.microsoft.com/office/drawing/2014/main" val="223989776"/>
                    </a:ext>
                  </a:extLst>
                </a:gridCol>
                <a:gridCol w="579259">
                  <a:extLst>
                    <a:ext uri="{9D8B030D-6E8A-4147-A177-3AD203B41FA5}">
                      <a16:colId xmlns:a16="http://schemas.microsoft.com/office/drawing/2014/main" val="124731204"/>
                    </a:ext>
                  </a:extLst>
                </a:gridCol>
                <a:gridCol w="579259">
                  <a:extLst>
                    <a:ext uri="{9D8B030D-6E8A-4147-A177-3AD203B41FA5}">
                      <a16:colId xmlns:a16="http://schemas.microsoft.com/office/drawing/2014/main" val="3066978585"/>
                    </a:ext>
                  </a:extLst>
                </a:gridCol>
                <a:gridCol w="579259">
                  <a:extLst>
                    <a:ext uri="{9D8B030D-6E8A-4147-A177-3AD203B41FA5}">
                      <a16:colId xmlns:a16="http://schemas.microsoft.com/office/drawing/2014/main" val="1064917641"/>
                    </a:ext>
                  </a:extLst>
                </a:gridCol>
                <a:gridCol w="579259">
                  <a:extLst>
                    <a:ext uri="{9D8B030D-6E8A-4147-A177-3AD203B41FA5}">
                      <a16:colId xmlns:a16="http://schemas.microsoft.com/office/drawing/2014/main" val="4221117315"/>
                    </a:ext>
                  </a:extLst>
                </a:gridCol>
                <a:gridCol w="579259">
                  <a:extLst>
                    <a:ext uri="{9D8B030D-6E8A-4147-A177-3AD203B41FA5}">
                      <a16:colId xmlns:a16="http://schemas.microsoft.com/office/drawing/2014/main" val="3266065341"/>
                    </a:ext>
                  </a:extLst>
                </a:gridCol>
                <a:gridCol w="579259">
                  <a:extLst>
                    <a:ext uri="{9D8B030D-6E8A-4147-A177-3AD203B41FA5}">
                      <a16:colId xmlns:a16="http://schemas.microsoft.com/office/drawing/2014/main" val="2374051224"/>
                    </a:ext>
                  </a:extLst>
                </a:gridCol>
                <a:gridCol w="579259">
                  <a:extLst>
                    <a:ext uri="{9D8B030D-6E8A-4147-A177-3AD203B41FA5}">
                      <a16:colId xmlns:a16="http://schemas.microsoft.com/office/drawing/2014/main" val="622606946"/>
                    </a:ext>
                  </a:extLst>
                </a:gridCol>
                <a:gridCol w="579259">
                  <a:extLst>
                    <a:ext uri="{9D8B030D-6E8A-4147-A177-3AD203B41FA5}">
                      <a16:colId xmlns:a16="http://schemas.microsoft.com/office/drawing/2014/main" val="4084845614"/>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57931946-CA3D-0100-BCFA-7368849F50B2}"/>
              </a:ext>
            </a:extLst>
          </p:cNvPr>
          <p:cNvCxnSpPr>
            <a:cxnSpLocks/>
          </p:cNvCxnSpPr>
          <p:nvPr/>
        </p:nvCxnSpPr>
        <p:spPr bwMode="auto">
          <a:xfrm flipH="1">
            <a:off x="0" y="3962403"/>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6B9D1852-E9F1-3D9F-DCA5-0CA9F17DFB1B}"/>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28170A92-4DB1-48DA-0085-33A36DA3605E}"/>
              </a:ext>
            </a:extLst>
          </p:cNvPr>
          <p:cNvSpPr/>
          <p:nvPr/>
        </p:nvSpPr>
        <p:spPr>
          <a:xfrm rot="5400000">
            <a:off x="11632416"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51925B6B-A359-A32C-D3C6-F7E9BE69209D}"/>
              </a:ext>
            </a:extLst>
          </p:cNvPr>
          <p:cNvSpPr txBox="1"/>
          <p:nvPr/>
        </p:nvSpPr>
        <p:spPr>
          <a:xfrm>
            <a:off x="-68098" y="4954300"/>
            <a:ext cx="171076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1479-0009</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Pan tumor-1</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96E4CCC3-2919-C5EC-DF05-39B29D54542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A71DE681-CE84-C43F-67F5-41D0188AF77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AA1F92BB-00AB-6EBF-70DE-AFEAFB74F222}"/>
              </a:ext>
            </a:extLst>
          </p:cNvPr>
          <p:cNvSpPr/>
          <p:nvPr/>
        </p:nvSpPr>
        <p:spPr>
          <a:xfrm>
            <a:off x="2793176"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71576870-6159-9186-84D1-2A891F2D4016}"/>
              </a:ext>
            </a:extLst>
          </p:cNvPr>
          <p:cNvSpPr txBox="1"/>
          <p:nvPr>
            <p:custDataLst>
              <p:tags r:id="rId2"/>
            </p:custDataLst>
          </p:nvPr>
        </p:nvSpPr>
        <p:spPr>
          <a:xfrm>
            <a:off x="2445084" y="2108653"/>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Oct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38FAD547-AB1F-22AC-54DC-A2CE4A4DE801}"/>
              </a:ext>
            </a:extLst>
          </p:cNvPr>
          <p:cNvSpPr/>
          <p:nvPr>
            <p:custDataLst>
              <p:tags r:id="rId3"/>
            </p:custDataLst>
          </p:nvPr>
        </p:nvSpPr>
        <p:spPr bwMode="auto">
          <a:xfrm>
            <a:off x="3000089" y="2321523"/>
            <a:ext cx="4689185"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N=430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D0542F6B-EC34-205B-2806-B40F7B1112DD}"/>
              </a:ext>
            </a:extLst>
          </p:cNvPr>
          <p:cNvSpPr/>
          <p:nvPr/>
        </p:nvSpPr>
        <p:spPr>
          <a:xfrm>
            <a:off x="7472554" y="2664231"/>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4B625AB7-1B50-3EC4-B24F-DBF0441C4E99}"/>
              </a:ext>
            </a:extLst>
          </p:cNvPr>
          <p:cNvSpPr txBox="1"/>
          <p:nvPr>
            <p:custDataLst>
              <p:tags r:id="rId4"/>
            </p:custDataLst>
          </p:nvPr>
        </p:nvSpPr>
        <p:spPr>
          <a:xfrm>
            <a:off x="7147388" y="2155927"/>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2027</a:t>
            </a:r>
            <a:endParaRPr lang="zh-CN" altLang="en-US" sz="1067" b="1" i="1">
              <a:solidFill>
                <a:schemeClr val="bg1">
                  <a:lumMod val="65000"/>
                </a:schemeClr>
              </a:solidFill>
              <a:ea typeface="等线" panose="02010600030101010101" pitchFamily="2" charset="-122"/>
            </a:endParaRPr>
          </a:p>
        </p:txBody>
      </p:sp>
      <p:sp>
        <p:nvSpPr>
          <p:cNvPr id="268" name="Rectangle 55">
            <a:extLst>
              <a:ext uri="{FF2B5EF4-FFF2-40B4-BE49-F238E27FC236}">
                <a16:creationId xmlns:a16="http://schemas.microsoft.com/office/drawing/2014/main" id="{40F13698-52C2-D9ED-8B36-20F7A039B097}"/>
              </a:ext>
            </a:extLst>
          </p:cNvPr>
          <p:cNvSpPr/>
          <p:nvPr/>
        </p:nvSpPr>
        <p:spPr>
          <a:xfrm>
            <a:off x="7724351" y="2600550"/>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1</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8BD9BFCB-B039-0C11-7851-B32BF5F737B9}"/>
              </a:ext>
            </a:extLst>
          </p:cNvPr>
          <p:cNvSpPr/>
          <p:nvPr/>
        </p:nvSpPr>
        <p:spPr bwMode="auto">
          <a:xfrm>
            <a:off x="289977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D4298266-4F1F-D2DC-F99D-5794CDAA747C}"/>
              </a:ext>
            </a:extLst>
          </p:cNvPr>
          <p:cNvSpPr/>
          <p:nvPr/>
        </p:nvSpPr>
        <p:spPr bwMode="auto">
          <a:xfrm>
            <a:off x="7539657" y="25482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8F368D64-D83C-FA43-E1B7-0D461C3BC01C}"/>
              </a:ext>
            </a:extLst>
          </p:cNvPr>
          <p:cNvSpPr/>
          <p:nvPr/>
        </p:nvSpPr>
        <p:spPr bwMode="auto">
          <a:xfrm>
            <a:off x="8077861" y="250257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9EA3A5D4-E5AD-B676-EC4B-FAAFDDDAD5BD}"/>
              </a:ext>
            </a:extLst>
          </p:cNvPr>
          <p:cNvSpPr/>
          <p:nvPr/>
        </p:nvSpPr>
        <p:spPr>
          <a:xfrm>
            <a:off x="7457719" y="2775233"/>
            <a:ext cx="174599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1</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amplified cohorts</a:t>
            </a:r>
          </a:p>
        </p:txBody>
      </p:sp>
      <p:sp>
        <p:nvSpPr>
          <p:cNvPr id="297" name="Rectangle 100">
            <a:extLst>
              <a:ext uri="{FF2B5EF4-FFF2-40B4-BE49-F238E27FC236}">
                <a16:creationId xmlns:a16="http://schemas.microsoft.com/office/drawing/2014/main" id="{6B94D163-C6F4-4EB1-9FA3-3779F1EDEA38}"/>
              </a:ext>
            </a:extLst>
          </p:cNvPr>
          <p:cNvSpPr/>
          <p:nvPr/>
        </p:nvSpPr>
        <p:spPr>
          <a:xfrm>
            <a:off x="9193095" y="2154250"/>
            <a:ext cx="758542" cy="256545"/>
          </a:xfrm>
          <a:prstGeom prst="rect">
            <a:avLst/>
          </a:prstGeom>
        </p:spPr>
        <p:txBody>
          <a:bodyPr wrap="none">
            <a:spAutoFit/>
          </a:bodyPr>
          <a:lstStyle/>
          <a:p>
            <a:pPr algn="ctr" defTabSz="1219108">
              <a:defRPr/>
            </a:pPr>
            <a:r>
              <a:rPr lang="en-US" altLang="zh-CN" sz="1067" b="1" i="1">
                <a:solidFill>
                  <a:schemeClr val="bg1">
                    <a:lumMod val="65000"/>
                  </a:schemeClr>
                </a:solidFill>
                <a:ea typeface="等线" panose="02010600030101010101" pitchFamily="2" charset="-122"/>
              </a:rPr>
              <a:t>Q3 2028</a:t>
            </a:r>
          </a:p>
        </p:txBody>
      </p:sp>
      <p:sp>
        <p:nvSpPr>
          <p:cNvPr id="298" name="五角星 55">
            <a:extLst>
              <a:ext uri="{FF2B5EF4-FFF2-40B4-BE49-F238E27FC236}">
                <a16:creationId xmlns:a16="http://schemas.microsoft.com/office/drawing/2014/main" id="{2219E7EA-F40F-13BB-2F8E-C77625F6C60A}"/>
              </a:ext>
            </a:extLst>
          </p:cNvPr>
          <p:cNvSpPr>
            <a:spLocks/>
          </p:cNvSpPr>
          <p:nvPr/>
        </p:nvSpPr>
        <p:spPr bwMode="auto">
          <a:xfrm>
            <a:off x="8221614" y="2498436"/>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BFECD315-B3F0-AD09-91A7-EB2DD5D5CA51}"/>
              </a:ext>
            </a:extLst>
          </p:cNvPr>
          <p:cNvSpPr/>
          <p:nvPr/>
        </p:nvSpPr>
        <p:spPr>
          <a:xfrm>
            <a:off x="9120134" y="2592683"/>
            <a:ext cx="1460656"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Amplified Cohorts)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D95E6B5C-2B71-CF73-17B0-9C27E5338E59}"/>
              </a:ext>
            </a:extLst>
          </p:cNvPr>
          <p:cNvSpPr txBox="1"/>
          <p:nvPr/>
        </p:nvSpPr>
        <p:spPr>
          <a:xfrm>
            <a:off x="1193512" y="2914376"/>
            <a:ext cx="5896991" cy="882653"/>
          </a:xfrm>
          <a:prstGeom prst="roundRect">
            <a:avLst/>
          </a:prstGeom>
          <a:noFill/>
          <a:ln>
            <a:solidFill>
              <a:srgbClr val="076D7E"/>
            </a:solidFill>
            <a:prstDash val="lgDash"/>
          </a:ln>
        </p:spPr>
        <p:txBody>
          <a:bodyPr wrap="square" rtlCol="0">
            <a:spAutoFit/>
          </a:bodyPr>
          <a:lstStyle/>
          <a:p>
            <a:pPr marL="171450" indent="-171450" defTabSz="1219170">
              <a:spcAft>
                <a:spcPts val="267"/>
              </a:spcAft>
              <a:buFont typeface="Arial" panose="020B0604020202020204" pitchFamily="34" charset="0"/>
              <a:buChar char="•"/>
              <a:defRPr/>
            </a:pPr>
            <a:r>
              <a:rPr lang="en-US" altLang="zh-CN" sz="1067" err="1">
                <a:solidFill>
                  <a:schemeClr val="bg2"/>
                </a:solidFill>
                <a:cs typeface="Calibri" panose="020F0502020204030204" pitchFamily="34" charset="0"/>
              </a:rPr>
              <a:t>Beamion</a:t>
            </a:r>
            <a:r>
              <a:rPr lang="en-US" altLang="zh-CN" sz="1067">
                <a:solidFill>
                  <a:schemeClr val="bg2"/>
                </a:solidFill>
                <a:cs typeface="Calibri" panose="020F0502020204030204" pitchFamily="34" charset="0"/>
              </a:rPr>
              <a:t> Pantumor-1 was endorsed as a </a:t>
            </a:r>
            <a:r>
              <a:rPr lang="it-IT" altLang="zh-CN" sz="1067">
                <a:solidFill>
                  <a:schemeClr val="bg2"/>
                </a:solidFill>
                <a:cs typeface="Calibri" panose="020F0502020204030204" pitchFamily="34" charset="0"/>
              </a:rPr>
              <a:t>‘registration-capable’ </a:t>
            </a:r>
            <a:r>
              <a:rPr lang="en-US" altLang="zh-CN" sz="1067">
                <a:solidFill>
                  <a:schemeClr val="bg2"/>
                </a:solidFill>
                <a:cs typeface="Calibri" panose="020F0502020204030204" pitchFamily="34" charset="0"/>
              </a:rPr>
              <a:t>trial to support tumor agnostic approval in HER2 amplified</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and</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mutant</a:t>
            </a:r>
            <a:r>
              <a:rPr lang="zh-CN" altLang="en-US" sz="1067">
                <a:solidFill>
                  <a:schemeClr val="bg2"/>
                </a:solidFill>
                <a:cs typeface="Calibri" panose="020F0502020204030204" pitchFamily="34" charset="0"/>
              </a:rPr>
              <a:t> </a:t>
            </a:r>
            <a:r>
              <a:rPr lang="en-US" altLang="zh-CN" sz="1067">
                <a:solidFill>
                  <a:schemeClr val="bg2"/>
                </a:solidFill>
                <a:cs typeface="Calibri" panose="020F0502020204030204" pitchFamily="34" charset="0"/>
              </a:rPr>
              <a:t>population.</a:t>
            </a:r>
            <a:r>
              <a:rPr lang="zh-CN" altLang="en-US" sz="1067">
                <a:solidFill>
                  <a:schemeClr val="bg2"/>
                </a:solidFill>
                <a:cs typeface="Calibri" panose="020F0502020204030204" pitchFamily="34" charset="0"/>
              </a:rPr>
              <a:t> </a:t>
            </a:r>
            <a:endParaRPr lang="en-US" altLang="zh-CN" sz="1067">
              <a:solidFill>
                <a:schemeClr val="bg2"/>
              </a:solidFill>
              <a:cs typeface="Calibri" panose="020F0502020204030204" pitchFamily="34" charset="0"/>
            </a:endParaRPr>
          </a:p>
          <a:p>
            <a:pPr marL="171450" indent="-171450" defTabSz="1219170">
              <a:spcAft>
                <a:spcPts val="267"/>
              </a:spcAft>
              <a:buFont typeface="Arial" panose="020B0604020202020204" pitchFamily="34" charset="0"/>
              <a:buChar char="•"/>
              <a:defRPr/>
            </a:pPr>
            <a:r>
              <a:rPr lang="en-GB" altLang="zh-CN" sz="1067">
                <a:solidFill>
                  <a:schemeClr val="bg2"/>
                </a:solidFill>
                <a:cs typeface="Calibri" panose="020F0502020204030204" pitchFamily="34" charset="0"/>
              </a:rPr>
              <a:t>Preparations for the Type C package regarding </a:t>
            </a:r>
            <a:r>
              <a:rPr lang="en-GB" altLang="zh-CN" sz="1067" err="1">
                <a:solidFill>
                  <a:schemeClr val="bg2"/>
                </a:solidFill>
                <a:cs typeface="Calibri" panose="020F0502020204030204" pitchFamily="34" charset="0"/>
              </a:rPr>
              <a:t>pantumor</a:t>
            </a:r>
            <a:r>
              <a:rPr lang="en-GB" altLang="zh-CN" sz="1067">
                <a:solidFill>
                  <a:schemeClr val="bg2"/>
                </a:solidFill>
                <a:cs typeface="Calibri" panose="020F0502020204030204" pitchFamily="34" charset="0"/>
              </a:rPr>
              <a:t> development and dose strategy are in progress, FDA meeting is expected in Feb 2026.</a:t>
            </a:r>
            <a:endParaRPr lang="de-DE" altLang="zh-CN" sz="1067">
              <a:solidFill>
                <a:schemeClr val="bg2"/>
              </a:solidFill>
              <a:cs typeface="Calibri" panose="020F0502020204030204" pitchFamily="34" charset="0"/>
            </a:endParaRPr>
          </a:p>
        </p:txBody>
      </p:sp>
      <p:sp>
        <p:nvSpPr>
          <p:cNvPr id="312" name="文本框 160">
            <a:extLst>
              <a:ext uri="{FF2B5EF4-FFF2-40B4-BE49-F238E27FC236}">
                <a16:creationId xmlns:a16="http://schemas.microsoft.com/office/drawing/2014/main" id="{01C1697E-1061-35BC-C35D-6229091AAE3E}"/>
              </a:ext>
            </a:extLst>
          </p:cNvPr>
          <p:cNvSpPr txBox="1"/>
          <p:nvPr/>
        </p:nvSpPr>
        <p:spPr>
          <a:xfrm>
            <a:off x="1493665" y="5410556"/>
            <a:ext cx="5897465" cy="859810"/>
          </a:xfrm>
          <a:prstGeom prst="roundRect">
            <a:avLst/>
          </a:prstGeom>
          <a:noFill/>
          <a:ln>
            <a:solidFill>
              <a:srgbClr val="076D7E"/>
            </a:solidFill>
            <a:prstDash val="lgDash"/>
          </a:ln>
        </p:spPr>
        <p:txBody>
          <a:bodyPr wrap="square" lIns="91440" tIns="45720" rIns="91440" bIns="45720" rtlCol="0" anchor="t">
            <a:spAutoFit/>
          </a:bodyPr>
          <a:lstStyle/>
          <a:p>
            <a:pPr marL="171450" indent="-171450" defTabSz="1219170">
              <a:spcAft>
                <a:spcPts val="267"/>
              </a:spcAft>
              <a:buFont typeface="Arial" panose="020B0604020202020204" pitchFamily="34" charset="0"/>
              <a:buChar char="•"/>
              <a:defRPr/>
            </a:pPr>
            <a:r>
              <a:rPr lang="en-US" altLang="zh-CN" sz="1050">
                <a:solidFill>
                  <a:schemeClr val="bg2"/>
                </a:solidFill>
                <a:cs typeface="Calibri"/>
              </a:rPr>
              <a:t>CDO Update:</a:t>
            </a:r>
            <a:r>
              <a:rPr lang="zh-CN" altLang="en-US" sz="1050">
                <a:solidFill>
                  <a:schemeClr val="bg2"/>
                </a:solidFill>
                <a:cs typeface="Calibri"/>
              </a:rPr>
              <a:t> </a:t>
            </a:r>
            <a:r>
              <a:rPr lang="en-US" altLang="zh-CN" sz="1050">
                <a:solidFill>
                  <a:schemeClr val="bg2"/>
                </a:solidFill>
                <a:cs typeface="Calibri"/>
              </a:rPr>
              <a:t>14 subjects were randomized and the additional 5 sites will be finalized by the end of Dec 2026.</a:t>
            </a:r>
          </a:p>
          <a:p>
            <a:pPr marL="171450" indent="-171450" defTabSz="1219170">
              <a:spcAft>
                <a:spcPts val="267"/>
              </a:spcAft>
              <a:buFont typeface="Arial" panose="020B0604020202020204" pitchFamily="34" charset="0"/>
              <a:buChar char="•"/>
              <a:defRPr/>
            </a:pPr>
            <a:r>
              <a:rPr lang="it-IT" altLang="zh-CN" sz="1050">
                <a:solidFill>
                  <a:schemeClr val="bg2"/>
                </a:solidFill>
                <a:cs typeface="Calibri"/>
              </a:rPr>
              <a:t>China Health Authority Interaction to discuss pantumor development will be planned in parallel with the FDA type C meeting in Q1 2026.</a:t>
            </a:r>
            <a:endParaRPr lang="it-IT" altLang="zh-CN" sz="1050">
              <a:solidFill>
                <a:schemeClr val="bg2"/>
              </a:solidFill>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6DDE1B9-3030-B9E4-40AF-2A7A331D288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507941" y="2420694"/>
            <a:ext cx="210312" cy="210312"/>
          </a:xfrm>
          <a:prstGeom prst="rect">
            <a:avLst/>
          </a:prstGeom>
        </p:spPr>
      </p:pic>
      <p:sp>
        <p:nvSpPr>
          <p:cNvPr id="5" name="OTLSHAPE_T_e17f3958430f4cff8650518c93c7635e_StartDate">
            <a:extLst>
              <a:ext uri="{FF2B5EF4-FFF2-40B4-BE49-F238E27FC236}">
                <a16:creationId xmlns:a16="http://schemas.microsoft.com/office/drawing/2014/main" id="{0CB4A51D-9081-501F-E585-5577143C7D62}"/>
              </a:ext>
            </a:extLst>
          </p:cNvPr>
          <p:cNvSpPr txBox="1"/>
          <p:nvPr>
            <p:custDataLst>
              <p:tags r:id="rId5"/>
            </p:custDataLst>
          </p:nvPr>
        </p:nvSpPr>
        <p:spPr>
          <a:xfrm>
            <a:off x="7830296" y="2200506"/>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Q4 2027</a:t>
            </a:r>
            <a:endParaRPr lang="zh-CN" altLang="en-US" sz="1067" b="1" i="1">
              <a:solidFill>
                <a:schemeClr val="bg1">
                  <a:lumMod val="65000"/>
                </a:schemeClr>
              </a:solidFill>
              <a:ea typeface="等线" panose="02010600030101010101" pitchFamily="2" charset="-122"/>
            </a:endParaRPr>
          </a:p>
        </p:txBody>
      </p:sp>
      <p:sp>
        <p:nvSpPr>
          <p:cNvPr id="67" name="OTLSHAPE_T_5a934a26f311425e8ebaa0f45e6533ad_Shape">
            <a:extLst>
              <a:ext uri="{FF2B5EF4-FFF2-40B4-BE49-F238E27FC236}">
                <a16:creationId xmlns:a16="http://schemas.microsoft.com/office/drawing/2014/main" id="{81E71443-F9A8-5EA5-100D-7CC6DB916066}"/>
              </a:ext>
            </a:extLst>
          </p:cNvPr>
          <p:cNvSpPr/>
          <p:nvPr>
            <p:custDataLst>
              <p:tags r:id="rId6"/>
            </p:custDataLst>
          </p:nvPr>
        </p:nvSpPr>
        <p:spPr bwMode="auto">
          <a:xfrm>
            <a:off x="7656399" y="4465805"/>
            <a:ext cx="892888"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68" name="Rectangle 52">
            <a:extLst>
              <a:ext uri="{FF2B5EF4-FFF2-40B4-BE49-F238E27FC236}">
                <a16:creationId xmlns:a16="http://schemas.microsoft.com/office/drawing/2014/main" id="{87A78A2E-28DD-37C5-62F1-41A3A22937A4}"/>
              </a:ext>
            </a:extLst>
          </p:cNvPr>
          <p:cNvSpPr/>
          <p:nvPr/>
        </p:nvSpPr>
        <p:spPr>
          <a:xfrm>
            <a:off x="2735718" y="4817185"/>
            <a:ext cx="41389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p>
        </p:txBody>
      </p:sp>
      <p:sp>
        <p:nvSpPr>
          <p:cNvPr id="69" name="OTLSHAPE_T_e17f3958430f4cff8650518c93c7635e_StartDate">
            <a:extLst>
              <a:ext uri="{FF2B5EF4-FFF2-40B4-BE49-F238E27FC236}">
                <a16:creationId xmlns:a16="http://schemas.microsoft.com/office/drawing/2014/main" id="{2036A984-2087-B530-0CE5-6842FE9F18C2}"/>
              </a:ext>
            </a:extLst>
          </p:cNvPr>
          <p:cNvSpPr txBox="1"/>
          <p:nvPr>
            <p:custDataLst>
              <p:tags r:id="rId7"/>
            </p:custDataLst>
          </p:nvPr>
        </p:nvSpPr>
        <p:spPr>
          <a:xfrm>
            <a:off x="2412209" y="427407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Oct 2024</a:t>
            </a:r>
            <a:endParaRPr lang="zh-CN" altLang="en-US" sz="1067" b="1" i="1">
              <a:solidFill>
                <a:schemeClr val="bg1">
                  <a:lumMod val="65000"/>
                </a:schemeClr>
              </a:solidFill>
              <a:ea typeface="等线" panose="02010600030101010101" pitchFamily="2" charset="-122"/>
            </a:endParaRPr>
          </a:p>
        </p:txBody>
      </p:sp>
      <p:sp>
        <p:nvSpPr>
          <p:cNvPr id="70" name="OTLSHAPE_T_e17f3958430f4cff8650518c93c7635e_Shape">
            <a:extLst>
              <a:ext uri="{FF2B5EF4-FFF2-40B4-BE49-F238E27FC236}">
                <a16:creationId xmlns:a16="http://schemas.microsoft.com/office/drawing/2014/main" id="{4D8158D3-503C-0CA2-5DCA-7317B6DE0B4D}"/>
              </a:ext>
            </a:extLst>
          </p:cNvPr>
          <p:cNvSpPr/>
          <p:nvPr>
            <p:custDataLst>
              <p:tags r:id="rId8"/>
            </p:custDataLst>
          </p:nvPr>
        </p:nvSpPr>
        <p:spPr bwMode="auto">
          <a:xfrm>
            <a:off x="2967214" y="4486946"/>
            <a:ext cx="4689185"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N=40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71" name="Rectangle 55">
            <a:extLst>
              <a:ext uri="{FF2B5EF4-FFF2-40B4-BE49-F238E27FC236}">
                <a16:creationId xmlns:a16="http://schemas.microsoft.com/office/drawing/2014/main" id="{A6DB3585-C396-E138-DFAF-02C87058DA3F}"/>
              </a:ext>
            </a:extLst>
          </p:cNvPr>
          <p:cNvSpPr/>
          <p:nvPr/>
        </p:nvSpPr>
        <p:spPr>
          <a:xfrm>
            <a:off x="7439679" y="482965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72" name="OTLSHAPE_T_e17f3958430f4cff8650518c93c7635e_StartDate">
            <a:extLst>
              <a:ext uri="{FF2B5EF4-FFF2-40B4-BE49-F238E27FC236}">
                <a16:creationId xmlns:a16="http://schemas.microsoft.com/office/drawing/2014/main" id="{311026AE-0714-5AC4-625F-C6E0D539E506}"/>
              </a:ext>
            </a:extLst>
          </p:cNvPr>
          <p:cNvSpPr txBox="1"/>
          <p:nvPr>
            <p:custDataLst>
              <p:tags r:id="rId9"/>
            </p:custDataLst>
          </p:nvPr>
        </p:nvSpPr>
        <p:spPr>
          <a:xfrm>
            <a:off x="7114513" y="4321350"/>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2027</a:t>
            </a:r>
            <a:endParaRPr lang="zh-CN" altLang="en-US" sz="1067" b="1" i="1">
              <a:solidFill>
                <a:schemeClr val="bg1">
                  <a:lumMod val="65000"/>
                </a:schemeClr>
              </a:solidFill>
              <a:ea typeface="等线" panose="02010600030101010101" pitchFamily="2" charset="-122"/>
            </a:endParaRPr>
          </a:p>
        </p:txBody>
      </p:sp>
      <p:sp>
        <p:nvSpPr>
          <p:cNvPr id="73" name="Rectangle 55">
            <a:extLst>
              <a:ext uri="{FF2B5EF4-FFF2-40B4-BE49-F238E27FC236}">
                <a16:creationId xmlns:a16="http://schemas.microsoft.com/office/drawing/2014/main" id="{0F2B7D4F-3F19-4FC5-9110-A1EE125B6D7A}"/>
              </a:ext>
            </a:extLst>
          </p:cNvPr>
          <p:cNvSpPr/>
          <p:nvPr/>
        </p:nvSpPr>
        <p:spPr>
          <a:xfrm>
            <a:off x="7691476" y="4765973"/>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1</a:t>
            </a:r>
            <a:endParaRPr lang="zh-CN" altLang="en-US" sz="1067" b="1">
              <a:solidFill>
                <a:srgbClr val="44546A"/>
              </a:solidFill>
              <a:ea typeface="等线" panose="02010600030101010101" pitchFamily="2" charset="-122"/>
              <a:cs typeface="Calibri" panose="020F0502020204030204" pitchFamily="34" charset="0"/>
            </a:endParaRPr>
          </a:p>
        </p:txBody>
      </p:sp>
      <p:sp>
        <p:nvSpPr>
          <p:cNvPr id="74" name="Star: 4 Points 143">
            <a:extLst>
              <a:ext uri="{FF2B5EF4-FFF2-40B4-BE49-F238E27FC236}">
                <a16:creationId xmlns:a16="http://schemas.microsoft.com/office/drawing/2014/main" id="{71622C33-6753-2814-0EC6-8F241860C86D}"/>
              </a:ext>
            </a:extLst>
          </p:cNvPr>
          <p:cNvSpPr/>
          <p:nvPr/>
        </p:nvSpPr>
        <p:spPr bwMode="auto">
          <a:xfrm>
            <a:off x="2866902" y="46314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5" name="Star: 4 Points 143">
            <a:extLst>
              <a:ext uri="{FF2B5EF4-FFF2-40B4-BE49-F238E27FC236}">
                <a16:creationId xmlns:a16="http://schemas.microsoft.com/office/drawing/2014/main" id="{A3ECBD04-6C43-A7EF-18E0-EAE22C1CB89B}"/>
              </a:ext>
            </a:extLst>
          </p:cNvPr>
          <p:cNvSpPr/>
          <p:nvPr/>
        </p:nvSpPr>
        <p:spPr bwMode="auto">
          <a:xfrm>
            <a:off x="7506782" y="471372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6" name="Star: 4 Points 143">
            <a:extLst>
              <a:ext uri="{FF2B5EF4-FFF2-40B4-BE49-F238E27FC236}">
                <a16:creationId xmlns:a16="http://schemas.microsoft.com/office/drawing/2014/main" id="{6E2577A2-C261-7EE6-81E1-B4861C84A54E}"/>
              </a:ext>
            </a:extLst>
          </p:cNvPr>
          <p:cNvSpPr/>
          <p:nvPr/>
        </p:nvSpPr>
        <p:spPr bwMode="auto">
          <a:xfrm>
            <a:off x="8147977" y="4655920"/>
            <a:ext cx="258704" cy="21033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77" name="Rectangle 55">
            <a:extLst>
              <a:ext uri="{FF2B5EF4-FFF2-40B4-BE49-F238E27FC236}">
                <a16:creationId xmlns:a16="http://schemas.microsoft.com/office/drawing/2014/main" id="{8463F6C9-455F-D091-6052-728E1413D1EC}"/>
              </a:ext>
            </a:extLst>
          </p:cNvPr>
          <p:cNvSpPr/>
          <p:nvPr/>
        </p:nvSpPr>
        <p:spPr>
          <a:xfrm>
            <a:off x="7773495" y="4940656"/>
            <a:ext cx="104868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1</a:t>
            </a:r>
          </a:p>
        </p:txBody>
      </p:sp>
      <p:sp>
        <p:nvSpPr>
          <p:cNvPr id="78" name="Rectangle 100">
            <a:extLst>
              <a:ext uri="{FF2B5EF4-FFF2-40B4-BE49-F238E27FC236}">
                <a16:creationId xmlns:a16="http://schemas.microsoft.com/office/drawing/2014/main" id="{D594B346-FA8D-52EC-056B-24A912C46E1F}"/>
              </a:ext>
            </a:extLst>
          </p:cNvPr>
          <p:cNvSpPr/>
          <p:nvPr/>
        </p:nvSpPr>
        <p:spPr>
          <a:xfrm>
            <a:off x="10485647" y="4148609"/>
            <a:ext cx="651140" cy="253916"/>
          </a:xfrm>
          <a:prstGeom prst="rect">
            <a:avLst/>
          </a:prstGeom>
        </p:spPr>
        <p:txBody>
          <a:bodyPr wrap="none" lIns="91440" tIns="45720" rIns="91440" bIns="45720" anchor="t">
            <a:spAutoFit/>
          </a:bodyPr>
          <a:lstStyle/>
          <a:p>
            <a:pPr algn="ctr" defTabSz="1219108">
              <a:defRPr/>
            </a:pPr>
            <a:r>
              <a:rPr lang="en-US" altLang="zh-CN" sz="1050" b="1" i="1">
                <a:solidFill>
                  <a:schemeClr val="bg1">
                    <a:lumMod val="65000"/>
                  </a:schemeClr>
                </a:solidFill>
                <a:ea typeface="等线"/>
              </a:rPr>
              <a:t>Q1 2029</a:t>
            </a:r>
          </a:p>
        </p:txBody>
      </p:sp>
      <p:sp>
        <p:nvSpPr>
          <p:cNvPr id="79" name="五角星 55">
            <a:extLst>
              <a:ext uri="{FF2B5EF4-FFF2-40B4-BE49-F238E27FC236}">
                <a16:creationId xmlns:a16="http://schemas.microsoft.com/office/drawing/2014/main" id="{DF392950-3848-78E7-4EF5-6F637F193201}"/>
              </a:ext>
            </a:extLst>
          </p:cNvPr>
          <p:cNvSpPr>
            <a:spLocks/>
          </p:cNvSpPr>
          <p:nvPr/>
        </p:nvSpPr>
        <p:spPr bwMode="auto">
          <a:xfrm>
            <a:off x="8405287" y="466963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80" name="Rectangle 55">
            <a:extLst>
              <a:ext uri="{FF2B5EF4-FFF2-40B4-BE49-F238E27FC236}">
                <a16:creationId xmlns:a16="http://schemas.microsoft.com/office/drawing/2014/main" id="{4594324C-F5DF-7E2E-BD01-FFD924A196E6}"/>
              </a:ext>
            </a:extLst>
          </p:cNvPr>
          <p:cNvSpPr/>
          <p:nvPr/>
        </p:nvSpPr>
        <p:spPr>
          <a:xfrm>
            <a:off x="9921953" y="4570465"/>
            <a:ext cx="170912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Amplification Cohorts)</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82" name="Graphic 318" descr="Flag with solid fill">
            <a:extLst>
              <a:ext uri="{FF2B5EF4-FFF2-40B4-BE49-F238E27FC236}">
                <a16:creationId xmlns:a16="http://schemas.microsoft.com/office/drawing/2014/main" id="{5644EC69-B4ED-F32C-A51B-67E4B2A39E8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736353" y="4435930"/>
            <a:ext cx="210312" cy="210312"/>
          </a:xfrm>
          <a:prstGeom prst="rect">
            <a:avLst/>
          </a:prstGeom>
        </p:spPr>
      </p:pic>
      <p:sp>
        <p:nvSpPr>
          <p:cNvPr id="83" name="OTLSHAPE_T_e17f3958430f4cff8650518c93c7635e_StartDate">
            <a:extLst>
              <a:ext uri="{FF2B5EF4-FFF2-40B4-BE49-F238E27FC236}">
                <a16:creationId xmlns:a16="http://schemas.microsoft.com/office/drawing/2014/main" id="{8380E967-61CB-496B-FDE6-8A6266659082}"/>
              </a:ext>
            </a:extLst>
          </p:cNvPr>
          <p:cNvSpPr txBox="1"/>
          <p:nvPr>
            <p:custDataLst>
              <p:tags r:id="rId10"/>
            </p:custDataLst>
          </p:nvPr>
        </p:nvSpPr>
        <p:spPr>
          <a:xfrm>
            <a:off x="7919464" y="428382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Q1 2028</a:t>
            </a:r>
            <a:endParaRPr lang="zh-CN" altLang="en-US" sz="1067" b="1" i="1">
              <a:solidFill>
                <a:schemeClr val="bg1">
                  <a:lumMod val="65000"/>
                </a:schemeClr>
              </a:solidFill>
              <a:ea typeface="等线" panose="02010600030101010101" pitchFamily="2" charset="-122"/>
            </a:endParaRPr>
          </a:p>
        </p:txBody>
      </p:sp>
      <p:pic>
        <p:nvPicPr>
          <p:cNvPr id="85" name="Graphic 318" descr="Flag with solid fill">
            <a:extLst>
              <a:ext uri="{FF2B5EF4-FFF2-40B4-BE49-F238E27FC236}">
                <a16:creationId xmlns:a16="http://schemas.microsoft.com/office/drawing/2014/main" id="{E5D449A1-085C-9F2B-6141-06A73F2D9B4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540360" y="3312790"/>
            <a:ext cx="210312" cy="210312"/>
          </a:xfrm>
          <a:prstGeom prst="rect">
            <a:avLst/>
          </a:prstGeom>
        </p:spPr>
      </p:pic>
      <p:sp>
        <p:nvSpPr>
          <p:cNvPr id="87" name="Rectangle 55">
            <a:extLst>
              <a:ext uri="{FF2B5EF4-FFF2-40B4-BE49-F238E27FC236}">
                <a16:creationId xmlns:a16="http://schemas.microsoft.com/office/drawing/2014/main" id="{8E8ED2F9-B6CD-677F-7AFF-2A160B392535}"/>
              </a:ext>
            </a:extLst>
          </p:cNvPr>
          <p:cNvSpPr/>
          <p:nvPr/>
        </p:nvSpPr>
        <p:spPr>
          <a:xfrm>
            <a:off x="9064438" y="3410801"/>
            <a:ext cx="1290739"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mutant Cohorts)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92" name="Rectangle 55">
            <a:extLst>
              <a:ext uri="{FF2B5EF4-FFF2-40B4-BE49-F238E27FC236}">
                <a16:creationId xmlns:a16="http://schemas.microsoft.com/office/drawing/2014/main" id="{64DB4486-C6E4-F332-0032-AFA722AE8089}"/>
              </a:ext>
            </a:extLst>
          </p:cNvPr>
          <p:cNvSpPr/>
          <p:nvPr/>
        </p:nvSpPr>
        <p:spPr>
          <a:xfrm>
            <a:off x="7794455" y="3411318"/>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2</a:t>
            </a:r>
            <a:endParaRPr lang="zh-CN" altLang="en-US" sz="1067" b="1">
              <a:solidFill>
                <a:srgbClr val="44546A"/>
              </a:solidFill>
              <a:ea typeface="等线" panose="02010600030101010101" pitchFamily="2" charset="-122"/>
              <a:cs typeface="Calibri" panose="020F0502020204030204" pitchFamily="34" charset="0"/>
            </a:endParaRPr>
          </a:p>
        </p:txBody>
      </p:sp>
      <p:sp>
        <p:nvSpPr>
          <p:cNvPr id="93" name="Star: 4 Points 143">
            <a:extLst>
              <a:ext uri="{FF2B5EF4-FFF2-40B4-BE49-F238E27FC236}">
                <a16:creationId xmlns:a16="http://schemas.microsoft.com/office/drawing/2014/main" id="{4F1BEE36-FCB5-1847-7AF4-E008B5CA68F5}"/>
              </a:ext>
            </a:extLst>
          </p:cNvPr>
          <p:cNvSpPr/>
          <p:nvPr/>
        </p:nvSpPr>
        <p:spPr bwMode="auto">
          <a:xfrm>
            <a:off x="8147965" y="33133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4" name="Rectangle 55">
            <a:extLst>
              <a:ext uri="{FF2B5EF4-FFF2-40B4-BE49-F238E27FC236}">
                <a16:creationId xmlns:a16="http://schemas.microsoft.com/office/drawing/2014/main" id="{ACC73002-8C20-2AB1-2B75-876F554F204E}"/>
              </a:ext>
            </a:extLst>
          </p:cNvPr>
          <p:cNvSpPr/>
          <p:nvPr/>
        </p:nvSpPr>
        <p:spPr>
          <a:xfrm>
            <a:off x="7529211" y="3586001"/>
            <a:ext cx="159691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2</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mutant cohorts</a:t>
            </a:r>
          </a:p>
        </p:txBody>
      </p:sp>
      <p:sp>
        <p:nvSpPr>
          <p:cNvPr id="95" name="五角星 55">
            <a:extLst>
              <a:ext uri="{FF2B5EF4-FFF2-40B4-BE49-F238E27FC236}">
                <a16:creationId xmlns:a16="http://schemas.microsoft.com/office/drawing/2014/main" id="{691E8AE3-26DD-130F-8669-74F23C4BFF55}"/>
              </a:ext>
            </a:extLst>
          </p:cNvPr>
          <p:cNvSpPr>
            <a:spLocks/>
          </p:cNvSpPr>
          <p:nvPr/>
        </p:nvSpPr>
        <p:spPr bwMode="auto">
          <a:xfrm>
            <a:off x="8291718" y="330920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pic>
        <p:nvPicPr>
          <p:cNvPr id="290" name="Graphic 318" descr="Flag with solid fill">
            <a:extLst>
              <a:ext uri="{FF2B5EF4-FFF2-40B4-BE49-F238E27FC236}">
                <a16:creationId xmlns:a16="http://schemas.microsoft.com/office/drawing/2014/main" id="{EC4F0077-14F2-AB8B-09A6-682C154E2CF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47396" y="5467108"/>
            <a:ext cx="210312" cy="210312"/>
          </a:xfrm>
          <a:prstGeom prst="rect">
            <a:avLst/>
          </a:prstGeom>
        </p:spPr>
      </p:pic>
      <p:sp>
        <p:nvSpPr>
          <p:cNvPr id="293" name="Rectangle 55">
            <a:extLst>
              <a:ext uri="{FF2B5EF4-FFF2-40B4-BE49-F238E27FC236}">
                <a16:creationId xmlns:a16="http://schemas.microsoft.com/office/drawing/2014/main" id="{E4B18201-F374-909A-4CCC-806672A04D54}"/>
              </a:ext>
            </a:extLst>
          </p:cNvPr>
          <p:cNvSpPr/>
          <p:nvPr/>
        </p:nvSpPr>
        <p:spPr>
          <a:xfrm>
            <a:off x="10165062" y="5565119"/>
            <a:ext cx="1303563" cy="584968"/>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(AA – HER2 </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Mutant Cohorts)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4" name="Rectangle 55">
            <a:extLst>
              <a:ext uri="{FF2B5EF4-FFF2-40B4-BE49-F238E27FC236}">
                <a16:creationId xmlns:a16="http://schemas.microsoft.com/office/drawing/2014/main" id="{0DCD0F9F-27F0-1B50-4260-48361FF9534B}"/>
              </a:ext>
            </a:extLst>
          </p:cNvPr>
          <p:cNvSpPr/>
          <p:nvPr/>
        </p:nvSpPr>
        <p:spPr>
          <a:xfrm>
            <a:off x="7895651" y="5565636"/>
            <a:ext cx="104227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2</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5" name="Star: 4 Points 143">
            <a:extLst>
              <a:ext uri="{FF2B5EF4-FFF2-40B4-BE49-F238E27FC236}">
                <a16:creationId xmlns:a16="http://schemas.microsoft.com/office/drawing/2014/main" id="{E7AF47F5-A769-7B1A-E529-B3B7EFBDDB66}"/>
              </a:ext>
            </a:extLst>
          </p:cNvPr>
          <p:cNvSpPr/>
          <p:nvPr/>
        </p:nvSpPr>
        <p:spPr bwMode="auto">
          <a:xfrm>
            <a:off x="8249161" y="546766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9" name="Rectangle 55">
            <a:extLst>
              <a:ext uri="{FF2B5EF4-FFF2-40B4-BE49-F238E27FC236}">
                <a16:creationId xmlns:a16="http://schemas.microsoft.com/office/drawing/2014/main" id="{4812ED53-1DA2-71BD-608B-31753D257816}"/>
              </a:ext>
            </a:extLst>
          </p:cNvPr>
          <p:cNvSpPr/>
          <p:nvPr/>
        </p:nvSpPr>
        <p:spPr>
          <a:xfrm>
            <a:off x="7703559" y="5740319"/>
            <a:ext cx="159691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&amp; NDA sub. 2</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HER2 mutant cohorts</a:t>
            </a:r>
          </a:p>
        </p:txBody>
      </p:sp>
      <p:sp>
        <p:nvSpPr>
          <p:cNvPr id="300" name="五角星 55">
            <a:extLst>
              <a:ext uri="{FF2B5EF4-FFF2-40B4-BE49-F238E27FC236}">
                <a16:creationId xmlns:a16="http://schemas.microsoft.com/office/drawing/2014/main" id="{1E23136A-6CB6-CCF7-2616-C8FE1FAFC05A}"/>
              </a:ext>
            </a:extLst>
          </p:cNvPr>
          <p:cNvSpPr>
            <a:spLocks/>
          </p:cNvSpPr>
          <p:nvPr/>
        </p:nvSpPr>
        <p:spPr bwMode="auto">
          <a:xfrm>
            <a:off x="8392914" y="546352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304" name="OTLSHAPE_T_e17f3958430f4cff8650518c93c7635e_Shape">
            <a:extLst>
              <a:ext uri="{FF2B5EF4-FFF2-40B4-BE49-F238E27FC236}">
                <a16:creationId xmlns:a16="http://schemas.microsoft.com/office/drawing/2014/main" id="{A9C55302-530E-36A7-0090-6FC494F405CD}"/>
              </a:ext>
            </a:extLst>
          </p:cNvPr>
          <p:cNvSpPr/>
          <p:nvPr>
            <p:custDataLst>
              <p:tags r:id="rId11"/>
            </p:custDataLst>
          </p:nvPr>
        </p:nvSpPr>
        <p:spPr bwMode="auto">
          <a:xfrm>
            <a:off x="1815981" y="4532145"/>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305" name="OTLSHAPE_T_e17f3958430f4cff8650518c93c7635e_StartDate">
            <a:extLst>
              <a:ext uri="{FF2B5EF4-FFF2-40B4-BE49-F238E27FC236}">
                <a16:creationId xmlns:a16="http://schemas.microsoft.com/office/drawing/2014/main" id="{E24A271C-DA6D-D2D7-A82A-FC932AAC25C0}"/>
              </a:ext>
            </a:extLst>
          </p:cNvPr>
          <p:cNvSpPr txBox="1"/>
          <p:nvPr>
            <p:custDataLst>
              <p:tags r:id="rId12"/>
            </p:custDataLst>
          </p:nvPr>
        </p:nvSpPr>
        <p:spPr>
          <a:xfrm>
            <a:off x="1366032" y="4381089"/>
            <a:ext cx="106147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a:t>
            </a:r>
            <a:r>
              <a:rPr lang="en-US" altLang="zh-CN" sz="1067" b="1" i="1">
                <a:solidFill>
                  <a:srgbClr val="FF0000"/>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09" name="OTLSHAPE_M_39ea6ebc19a94c9fab6ef5006c31df58_Shape">
            <a:extLst>
              <a:ext uri="{FF2B5EF4-FFF2-40B4-BE49-F238E27FC236}">
                <a16:creationId xmlns:a16="http://schemas.microsoft.com/office/drawing/2014/main" id="{E51A3F8D-A120-3E1D-FC75-A2F20485D9C0}"/>
              </a:ext>
            </a:extLst>
          </p:cNvPr>
          <p:cNvSpPr/>
          <p:nvPr>
            <p:custDataLst>
              <p:tags r:id="rId13"/>
            </p:custDataLst>
          </p:nvPr>
        </p:nvSpPr>
        <p:spPr bwMode="auto">
          <a:xfrm rot="16200000">
            <a:off x="1768437" y="478200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313" name="OTLSHAPE_M_39ea6ebc19a94c9fab6ef5006c31df58_Title">
            <a:extLst>
              <a:ext uri="{FF2B5EF4-FFF2-40B4-BE49-F238E27FC236}">
                <a16:creationId xmlns:a16="http://schemas.microsoft.com/office/drawing/2014/main" id="{0EE13D67-9D65-66F7-5953-19B51FB525AB}"/>
              </a:ext>
            </a:extLst>
          </p:cNvPr>
          <p:cNvSpPr txBox="1"/>
          <p:nvPr>
            <p:custDataLst>
              <p:tags r:id="rId14"/>
            </p:custDataLst>
          </p:nvPr>
        </p:nvSpPr>
        <p:spPr>
          <a:xfrm>
            <a:off x="1504352" y="4884689"/>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4" name="TextBox 64">
            <a:extLst>
              <a:ext uri="{FF2B5EF4-FFF2-40B4-BE49-F238E27FC236}">
                <a16:creationId xmlns:a16="http://schemas.microsoft.com/office/drawing/2014/main" id="{6C0DFA5A-112D-EE25-72FE-5FC33DC45E3D}"/>
              </a:ext>
            </a:extLst>
          </p:cNvPr>
          <p:cNvSpPr txBox="1"/>
          <p:nvPr/>
        </p:nvSpPr>
        <p:spPr>
          <a:xfrm>
            <a:off x="158905" y="2434998"/>
            <a:ext cx="171076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1479-0009</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Pan tumor-1</a:t>
            </a:r>
            <a:endParaRPr lang="en-US" sz="1067" b="1">
              <a:solidFill>
                <a:srgbClr val="08312A"/>
              </a:solidFill>
              <a:cs typeface="Calibri" panose="020F0502020204030204" pitchFamily="34" charset="0"/>
            </a:endParaRPr>
          </a:p>
        </p:txBody>
      </p:sp>
      <p:grpSp>
        <p:nvGrpSpPr>
          <p:cNvPr id="3" name="Group 62">
            <a:extLst>
              <a:ext uri="{FF2B5EF4-FFF2-40B4-BE49-F238E27FC236}">
                <a16:creationId xmlns:a16="http://schemas.microsoft.com/office/drawing/2014/main" id="{F21C33F3-1979-17FC-4285-8E23616D065A}"/>
              </a:ext>
            </a:extLst>
          </p:cNvPr>
          <p:cNvGrpSpPr/>
          <p:nvPr/>
        </p:nvGrpSpPr>
        <p:grpSpPr>
          <a:xfrm>
            <a:off x="4392739" y="729020"/>
            <a:ext cx="546747" cy="6134718"/>
            <a:chOff x="1155349" y="1057179"/>
            <a:chExt cx="546747" cy="4601037"/>
          </a:xfrm>
        </p:grpSpPr>
        <p:cxnSp>
          <p:nvCxnSpPr>
            <p:cNvPr id="4" name="Straight Connector 63">
              <a:extLst>
                <a:ext uri="{FF2B5EF4-FFF2-40B4-BE49-F238E27FC236}">
                  <a16:creationId xmlns:a16="http://schemas.microsoft.com/office/drawing/2014/main" id="{FBEB192F-F629-B8AF-D4ED-E288CC231CF0}"/>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OTLSHAPE_T_e17f3958430f4cff8650518c93c7635e_StartDate">
              <a:extLst>
                <a:ext uri="{FF2B5EF4-FFF2-40B4-BE49-F238E27FC236}">
                  <a16:creationId xmlns:a16="http://schemas.microsoft.com/office/drawing/2014/main" id="{C8CD5162-2369-1157-0D6F-EC745EDC04E1}"/>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9" name="文本框 8">
            <a:extLst>
              <a:ext uri="{FF2B5EF4-FFF2-40B4-BE49-F238E27FC236}">
                <a16:creationId xmlns:a16="http://schemas.microsoft.com/office/drawing/2014/main" id="{FA626E54-BA98-9510-38A5-FAB1B01A6A6D}"/>
              </a:ext>
            </a:extLst>
          </p:cNvPr>
          <p:cNvSpPr txBox="1"/>
          <p:nvPr/>
        </p:nvSpPr>
        <p:spPr bwMode="gray">
          <a:xfrm>
            <a:off x="8692009" y="3966775"/>
            <a:ext cx="1673829" cy="400110"/>
          </a:xfrm>
          <a:prstGeom prst="rect">
            <a:avLst/>
          </a:prstGeom>
          <a:solidFill>
            <a:srgbClr val="FFE667"/>
          </a:solidFill>
        </p:spPr>
        <p:txBody>
          <a:bodyPr wrap="square">
            <a:spAutoFit/>
          </a:bodyPr>
          <a:lstStyle/>
          <a:p>
            <a:r>
              <a:rPr lang="de-DE" altLang="zh-CN" sz="1000"/>
              <a:t>Accelerated</a:t>
            </a:r>
            <a:r>
              <a:rPr lang="en-US" altLang="zh-CN" sz="1000" i="0" kern="1200">
                <a:solidFill>
                  <a:schemeClr val="tx1"/>
                </a:solidFill>
                <a:latin typeface="+mn-lt"/>
                <a:ea typeface="+mn-ea"/>
                <a:cs typeface="+mn-cs"/>
              </a:rPr>
              <a:t> </a:t>
            </a:r>
            <a:r>
              <a:rPr lang="en-US" altLang="zh-CN" sz="1000">
                <a:solidFill>
                  <a:schemeClr val="tx1"/>
                </a:solidFill>
                <a:latin typeface="+mn-lt"/>
                <a:ea typeface="+mn-ea"/>
                <a:cs typeface="+mn-cs"/>
              </a:rPr>
              <a:t>T</a:t>
            </a:r>
            <a:r>
              <a:rPr lang="en-US" altLang="zh-CN" sz="1000" i="0" kern="1200">
                <a:solidFill>
                  <a:schemeClr val="tx1"/>
                </a:solidFill>
                <a:latin typeface="+mn-lt"/>
                <a:ea typeface="+mn-ea"/>
                <a:cs typeface="+mn-cs"/>
              </a:rPr>
              <a:t>imeline </a:t>
            </a:r>
            <a:r>
              <a:rPr lang="en-US" altLang="zh-CN" sz="1000"/>
              <a:t>for</a:t>
            </a:r>
            <a:r>
              <a:rPr lang="zh-CN" altLang="en-US" sz="1000"/>
              <a:t> </a:t>
            </a:r>
            <a:r>
              <a:rPr lang="en-US" altLang="zh-CN" sz="1000"/>
              <a:t>HER2</a:t>
            </a:r>
            <a:r>
              <a:rPr lang="zh-CN" altLang="en-US" sz="1000"/>
              <a:t> </a:t>
            </a:r>
            <a:r>
              <a:rPr lang="en-US" altLang="zh-CN" sz="1000"/>
              <a:t>mutant</a:t>
            </a:r>
            <a:r>
              <a:rPr lang="zh-CN" altLang="en-US" sz="1000"/>
              <a:t> </a:t>
            </a:r>
            <a:r>
              <a:rPr lang="en-US" altLang="zh-CN" sz="1000"/>
              <a:t>indication</a:t>
            </a:r>
            <a:r>
              <a:rPr lang="en-US" altLang="zh-CN" sz="1000" i="0" kern="1200">
                <a:solidFill>
                  <a:schemeClr val="tx1"/>
                </a:solidFill>
                <a:latin typeface="+mn-lt"/>
                <a:ea typeface="+mn-ea"/>
                <a:cs typeface="+mn-cs"/>
              </a:rPr>
              <a:t> </a:t>
            </a:r>
            <a:endParaRPr lang="zh-CN" altLang="en-US" sz="1000"/>
          </a:p>
        </p:txBody>
      </p:sp>
      <p:sp>
        <p:nvSpPr>
          <p:cNvPr id="10" name="文本框 9">
            <a:extLst>
              <a:ext uri="{FF2B5EF4-FFF2-40B4-BE49-F238E27FC236}">
                <a16:creationId xmlns:a16="http://schemas.microsoft.com/office/drawing/2014/main" id="{68694C5A-5381-8913-96CE-E0CCCE3E5EFF}"/>
              </a:ext>
            </a:extLst>
          </p:cNvPr>
          <p:cNvSpPr txBox="1"/>
          <p:nvPr/>
        </p:nvSpPr>
        <p:spPr bwMode="gray">
          <a:xfrm>
            <a:off x="8817904" y="6188729"/>
            <a:ext cx="1762885" cy="400110"/>
          </a:xfrm>
          <a:prstGeom prst="rect">
            <a:avLst/>
          </a:prstGeom>
          <a:solidFill>
            <a:srgbClr val="FFE667"/>
          </a:solidFill>
        </p:spPr>
        <p:txBody>
          <a:bodyPr wrap="square">
            <a:spAutoFit/>
          </a:bodyPr>
          <a:lstStyle/>
          <a:p>
            <a:r>
              <a:rPr lang="de-DE" altLang="zh-CN" sz="1000"/>
              <a:t>Accelerated</a:t>
            </a:r>
            <a:r>
              <a:rPr lang="en-US" altLang="zh-CN" sz="1000"/>
              <a:t> Timeline for HER2 mutant indication </a:t>
            </a:r>
            <a:endParaRPr lang="zh-CN" altLang="en-US" sz="1000"/>
          </a:p>
        </p:txBody>
      </p:sp>
    </p:spTree>
    <p:extLst>
      <p:ext uri="{BB962C8B-B14F-4D97-AF65-F5344CB8AC3E}">
        <p14:creationId xmlns:p14="http://schemas.microsoft.com/office/powerpoint/2010/main" val="902218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603ED8-C48D-A537-BC4F-64E69756DA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B698C93-6325-692C-4402-DE378BBD8DE4}"/>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Boehringer Forward Head"/>
                <a:ea typeface="+mn-ea"/>
                <a:cs typeface="+mn-cs"/>
              </a:rPr>
            </a:b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and Operations</a:t>
            </a:r>
            <a:endParaRPr kumimoji="0" lang="en-IN" sz="1200" b="0" i="0" u="none" strike="noStrike" kern="1200" cap="none" spc="0" normalizeH="0" baseline="0" noProof="0">
              <a:ln>
                <a:noFill/>
              </a:ln>
              <a:solidFill>
                <a:srgbClr val="08312A"/>
              </a:solidFill>
              <a:effectLst/>
              <a:uLnTx/>
              <a:uFillTx/>
              <a:latin typeface="Boehringer Forward Head"/>
              <a:ea typeface="+mn-ea"/>
              <a:cs typeface="+mn-cs"/>
            </a:endParaRPr>
          </a:p>
        </p:txBody>
      </p:sp>
      <p:pic>
        <p:nvPicPr>
          <p:cNvPr id="7" name="Grafik 18">
            <a:extLst>
              <a:ext uri="{FF2B5EF4-FFF2-40B4-BE49-F238E27FC236}">
                <a16:creationId xmlns:a16="http://schemas.microsoft.com/office/drawing/2014/main" id="{E924716A-504B-1B53-D9E5-8D1C98DCE3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431FA0AE-EDA7-2B09-5394-8EABD3D98E4E}"/>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B3AECCB8-250E-B98E-06C5-CC8349869D41}"/>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6" name="Footer Placeholder 8">
            <a:extLst>
              <a:ext uri="{FF2B5EF4-FFF2-40B4-BE49-F238E27FC236}">
                <a16:creationId xmlns:a16="http://schemas.microsoft.com/office/drawing/2014/main" id="{9B9FC5D5-D832-49D0-EE2C-29C27CA2E669}"/>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CD&amp;O Template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7" name="Slide Number Placeholder 9">
            <a:extLst>
              <a:ext uri="{FF2B5EF4-FFF2-40B4-BE49-F238E27FC236}">
                <a16:creationId xmlns:a16="http://schemas.microsoft.com/office/drawing/2014/main" id="{C1CE2D59-1A60-7764-707D-40530E99D57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 name="标题 2">
            <a:extLst>
              <a:ext uri="{FF2B5EF4-FFF2-40B4-BE49-F238E27FC236}">
                <a16:creationId xmlns:a16="http://schemas.microsoft.com/office/drawing/2014/main" id="{8F276B16-E72F-998C-D001-20790D14EA78}"/>
              </a:ext>
            </a:extLst>
          </p:cNvPr>
          <p:cNvSpPr>
            <a:spLocks noGrp="1"/>
          </p:cNvSpPr>
          <p:nvPr>
            <p:ph type="title"/>
          </p:nvPr>
        </p:nvSpPr>
        <p:spPr>
          <a:xfrm>
            <a:off x="216745" y="165363"/>
            <a:ext cx="12079706" cy="553999"/>
          </a:xfrm>
        </p:spPr>
        <p:txBody>
          <a:bodyPr wrap="square" anchor="t">
            <a:normAutofit/>
          </a:bodyPr>
          <a:lstStyle/>
          <a:p>
            <a:r>
              <a:rPr lang="en-US" altLang="zh-CN" sz="2400"/>
              <a:t>Global Recruitment Status </a:t>
            </a:r>
            <a:r>
              <a:rPr lang="en-US" altLang="zh-CN" sz="2400" i="1">
                <a:solidFill>
                  <a:srgbClr val="FF0000"/>
                </a:solidFill>
              </a:rPr>
              <a:t>(</a:t>
            </a:r>
            <a:r>
              <a:rPr lang="en-US" altLang="zh-CN" sz="2400">
                <a:solidFill>
                  <a:srgbClr val="FF0000"/>
                </a:solidFill>
              </a:rPr>
              <a:t>as of 12-Dec-2025</a:t>
            </a:r>
            <a:r>
              <a:rPr lang="en-US" altLang="zh-CN" sz="2400" i="1">
                <a:solidFill>
                  <a:srgbClr val="FF0000"/>
                </a:solidFill>
              </a:rPr>
              <a:t>)</a:t>
            </a:r>
            <a:r>
              <a:rPr lang="en-US" altLang="zh-CN" sz="2400">
                <a:solidFill>
                  <a:srgbClr val="FF0000"/>
                </a:solidFill>
              </a:rPr>
              <a:t> </a:t>
            </a:r>
            <a:endParaRPr lang="en-US" altLang="zh-CN" sz="2400" i="1">
              <a:solidFill>
                <a:srgbClr val="FF0000"/>
              </a:solidFill>
              <a:highlight>
                <a:srgbClr val="FFFF00"/>
              </a:highlight>
            </a:endParaRPr>
          </a:p>
        </p:txBody>
      </p:sp>
      <p:graphicFrame>
        <p:nvGraphicFramePr>
          <p:cNvPr id="20" name="图表 19">
            <a:extLst>
              <a:ext uri="{FF2B5EF4-FFF2-40B4-BE49-F238E27FC236}">
                <a16:creationId xmlns:a16="http://schemas.microsoft.com/office/drawing/2014/main" id="{701CDE0C-45F0-F5C2-CC0E-1EFE3E50A18A}"/>
              </a:ext>
            </a:extLst>
          </p:cNvPr>
          <p:cNvGraphicFramePr/>
          <p:nvPr>
            <p:extLst>
              <p:ext uri="{D42A27DB-BD31-4B8C-83A1-F6EECF244321}">
                <p14:modId xmlns:p14="http://schemas.microsoft.com/office/powerpoint/2010/main" val="588606278"/>
              </p:ext>
            </p:extLst>
          </p:nvPr>
        </p:nvGraphicFramePr>
        <p:xfrm>
          <a:off x="337549" y="719362"/>
          <a:ext cx="11457184" cy="552747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468015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Boehringer Forward Head"/>
                <a:ea typeface="+mn-ea"/>
                <a:cs typeface="+mn-cs"/>
              </a:rPr>
            </a:b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and Operations</a:t>
            </a:r>
            <a:endParaRPr kumimoji="0" lang="en-IN" sz="1200" b="0" i="0" u="none" strike="noStrike" kern="1200" cap="none" spc="0" normalizeH="0" baseline="0" noProof="0">
              <a:ln>
                <a:noFill/>
              </a:ln>
              <a:solidFill>
                <a:srgbClr val="08312A"/>
              </a:solidFill>
              <a:effectLst/>
              <a:uLnTx/>
              <a:uFillTx/>
              <a:latin typeface="Boehringer Forward Head"/>
              <a:ea typeface="+mn-ea"/>
              <a:cs typeface="+mn-cs"/>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Presentation title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216745" y="165363"/>
            <a:ext cx="12079706" cy="553999"/>
          </a:xfrm>
        </p:spPr>
        <p:txBody>
          <a:bodyPr wrap="square" anchor="t">
            <a:normAutofit/>
          </a:bodyPr>
          <a:lstStyle/>
          <a:p>
            <a:r>
              <a:rPr lang="en-US" altLang="zh-CN" sz="2400"/>
              <a:t>China Recruitment Status </a:t>
            </a:r>
            <a:r>
              <a:rPr lang="en-US" altLang="zh-CN" sz="2400" i="1">
                <a:solidFill>
                  <a:srgbClr val="FF0000"/>
                </a:solidFill>
              </a:rPr>
              <a:t>(</a:t>
            </a:r>
            <a:r>
              <a:rPr lang="en-US" altLang="zh-CN" sz="2400">
                <a:solidFill>
                  <a:srgbClr val="FF0000"/>
                </a:solidFill>
              </a:rPr>
              <a:t>as of 03-DEC-2025</a:t>
            </a:r>
            <a:r>
              <a:rPr lang="en-US" altLang="zh-CN" sz="2400" i="1">
                <a:solidFill>
                  <a:srgbClr val="FF0000"/>
                </a:solidFill>
              </a:rPr>
              <a:t>)</a:t>
            </a:r>
            <a:r>
              <a:rPr lang="en-US" altLang="zh-CN" sz="2400">
                <a:solidFill>
                  <a:srgbClr val="FF0000"/>
                </a:solidFill>
              </a:rPr>
              <a:t> </a:t>
            </a:r>
            <a:endParaRPr lang="en-US" altLang="zh-CN" sz="2400" i="1">
              <a:solidFill>
                <a:srgbClr val="FF0000"/>
              </a:solidFill>
              <a:highlight>
                <a:srgbClr val="FFFF00"/>
              </a:highlight>
            </a:endParaRPr>
          </a:p>
        </p:txBody>
      </p:sp>
      <p:graphicFrame>
        <p:nvGraphicFramePr>
          <p:cNvPr id="20" name="图表 19">
            <a:extLst>
              <a:ext uri="{FF2B5EF4-FFF2-40B4-BE49-F238E27FC236}">
                <a16:creationId xmlns:a16="http://schemas.microsoft.com/office/drawing/2014/main" id="{01F757D9-3C19-D08E-7BE0-BAC940F02F58}"/>
              </a:ext>
            </a:extLst>
          </p:cNvPr>
          <p:cNvGraphicFramePr/>
          <p:nvPr>
            <p:extLst>
              <p:ext uri="{D42A27DB-BD31-4B8C-83A1-F6EECF244321}">
                <p14:modId xmlns:p14="http://schemas.microsoft.com/office/powerpoint/2010/main" val="2755304961"/>
              </p:ext>
            </p:extLst>
          </p:nvPr>
        </p:nvGraphicFramePr>
        <p:xfrm>
          <a:off x="337549" y="801198"/>
          <a:ext cx="10586721" cy="544563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442798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a:solidFill>
                  <a:schemeClr val="tx1"/>
                </a:solidFill>
                <a:latin typeface="+mn-lt"/>
              </a:rPr>
              <a:t>Zongertinib (HERNEXEOS®) – Breast Cancer &amp; Gastric Cancer (</a:t>
            </a:r>
            <a:r>
              <a:rPr lang="en-US" altLang="zh-CN" sz="2400">
                <a:solidFill>
                  <a:schemeClr val="tx1"/>
                </a:solidFill>
                <a:latin typeface="+mn-lt"/>
                <a:ea typeface="+mn-ea"/>
                <a:cs typeface="+mn-cs"/>
              </a:rPr>
              <a:t>BC&amp;GC)</a:t>
            </a:r>
            <a:endParaRPr lang="zh-CN" altLang="en-US">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19</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5177113" y="2082131"/>
            <a:ext cx="491666" cy="25654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124712"/>
          <a:ext cx="9593046"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tblGrid>
              <a:tr h="25908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Y </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Y</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787965" y="1297850"/>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77315" y="2028784"/>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Ib</a:t>
            </a:r>
            <a:r>
              <a:rPr lang="en-US" sz="1067" b="1">
                <a:solidFill>
                  <a:srgbClr val="08312A"/>
                </a:solidFill>
                <a:cs typeface="Calibri" panose="020F0502020204030204" pitchFamily="34" charset="0"/>
              </a:rPr>
              <a:t>/2-</a:t>
            </a:r>
          </a:p>
          <a:p>
            <a:pPr algn="ctr" defTabSz="914377">
              <a:defRPr/>
            </a:pPr>
            <a:r>
              <a:rPr lang="en-US" altLang="zh-CN" sz="1067" b="1">
                <a:solidFill>
                  <a:srgbClr val="08312A"/>
                </a:solidFill>
                <a:cs typeface="Calibri" panose="020F0502020204030204" pitchFamily="34" charset="0"/>
              </a:rPr>
              <a:t>1479-0012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BCGC-1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1887920" y="2344518"/>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1564373" y="188037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July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2094831" y="2091045"/>
            <a:ext cx="3069687" cy="25081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Ph1b/2, N=594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1438925" y="4351024"/>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5"/>
            </p:custDataLst>
          </p:nvPr>
        </p:nvSpPr>
        <p:spPr>
          <a:xfrm>
            <a:off x="1219536"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Jan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6"/>
            </p:custDataLst>
          </p:nvPr>
        </p:nvSpPr>
        <p:spPr bwMode="auto">
          <a:xfrm rot="16200000">
            <a:off x="1428148"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7"/>
            </p:custDataLst>
          </p:nvPr>
        </p:nvSpPr>
        <p:spPr>
          <a:xfrm>
            <a:off x="1209470" y="468548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5066517" y="2372038"/>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8"/>
            </p:custDataLst>
          </p:nvPr>
        </p:nvSpPr>
        <p:spPr>
          <a:xfrm>
            <a:off x="4633134" y="1927370"/>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51411" y="4526394"/>
            <a:ext cx="1374843" cy="492635"/>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Ph1b/2-</a:t>
            </a:r>
          </a:p>
          <a:p>
            <a:pPr algn="ctr" defTabSz="914377">
              <a:defRPr/>
            </a:pPr>
            <a:r>
              <a:rPr lang="en-US" altLang="zh-CN" sz="1067" b="1">
                <a:solidFill>
                  <a:srgbClr val="08312A"/>
                </a:solidFill>
                <a:cs typeface="Calibri" panose="020F0502020204030204" pitchFamily="34" charset="0"/>
              </a:rPr>
              <a:t>1479-0012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BCGC-1</a:t>
            </a:r>
          </a:p>
        </p:txBody>
      </p:sp>
      <p:sp>
        <p:nvSpPr>
          <p:cNvPr id="268" name="Rectangle 55">
            <a:extLst>
              <a:ext uri="{FF2B5EF4-FFF2-40B4-BE49-F238E27FC236}">
                <a16:creationId xmlns:a16="http://schemas.microsoft.com/office/drawing/2014/main" id="{75A0DA48-F1F2-A864-01F6-DFDFDEBA525F}"/>
              </a:ext>
            </a:extLst>
          </p:cNvPr>
          <p:cNvSpPr/>
          <p:nvPr/>
        </p:nvSpPr>
        <p:spPr>
          <a:xfrm>
            <a:off x="5375651" y="2394869"/>
            <a:ext cx="1061509"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&amp;</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2465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5172472" y="22243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5592413" y="227082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2524334"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6808466" y="1849222"/>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2029</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5754770" y="227977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6760496" y="2263890"/>
            <a:ext cx="886781"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BC 3L+ AA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2902455" y="3020658"/>
            <a:ext cx="7812022" cy="272415"/>
          </a:xfrm>
          <a:prstGeom prst="roundRect">
            <a:avLst/>
          </a:prstGeom>
          <a:noFill/>
          <a:ln>
            <a:solidFill>
              <a:srgbClr val="076D7E"/>
            </a:solidFill>
            <a:prstDash val="lgDash"/>
          </a:ln>
        </p:spPr>
        <p:txBody>
          <a:bodyPr wrap="square" rtlCol="0">
            <a:spAutoFit/>
          </a:bodyPr>
          <a:lstStyle/>
          <a:p>
            <a:pPr marL="171450" indent="-171450">
              <a:buFont typeface="Arial" panose="020B0604020202020204" pitchFamily="34" charset="0"/>
              <a:buChar char="•"/>
            </a:pPr>
            <a:r>
              <a:rPr lang="en-GB" altLang="zh-CN" sz="1000">
                <a:solidFill>
                  <a:schemeClr val="dk1"/>
                </a:solidFill>
              </a:rPr>
              <a:t>New Protocol version 5.0 (</a:t>
            </a:r>
            <a:r>
              <a:rPr lang="it-IT" altLang="zh-CN" sz="1000">
                <a:solidFill>
                  <a:schemeClr val="bg2"/>
                </a:solidFill>
                <a:cs typeface="Calibri"/>
              </a:rPr>
              <a:t>new cohorts of CRC and BC were added) </a:t>
            </a:r>
            <a:r>
              <a:rPr lang="en-GB" altLang="zh-CN" sz="1000">
                <a:solidFill>
                  <a:schemeClr val="dk1"/>
                </a:solidFill>
              </a:rPr>
              <a:t>first submission (FDA) is planned in second week of Dec. </a:t>
            </a: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66165" y="2069880"/>
            <a:ext cx="210312" cy="210312"/>
          </a:xfrm>
          <a:prstGeom prst="rect">
            <a:avLst/>
          </a:prstGeom>
        </p:spPr>
      </p:pic>
      <p:sp>
        <p:nvSpPr>
          <p:cNvPr id="5" name="OTLSHAPE_T_e17f3958430f4cff8650518c93c7635e_StartDate">
            <a:extLst>
              <a:ext uri="{FF2B5EF4-FFF2-40B4-BE49-F238E27FC236}">
                <a16:creationId xmlns:a16="http://schemas.microsoft.com/office/drawing/2014/main" id="{98F50B56-ACE8-D5EE-D1D8-10B3B3FFC05F}"/>
              </a:ext>
            </a:extLst>
          </p:cNvPr>
          <p:cNvSpPr txBox="1"/>
          <p:nvPr>
            <p:custDataLst>
              <p:tags r:id="rId9"/>
            </p:custDataLst>
          </p:nvPr>
        </p:nvSpPr>
        <p:spPr>
          <a:xfrm>
            <a:off x="5371623" y="19122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Q3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7" name="OTLSHAPE_T_5a934a26f311425e8ebaa0f45e6533ad_Shape">
            <a:extLst>
              <a:ext uri="{FF2B5EF4-FFF2-40B4-BE49-F238E27FC236}">
                <a16:creationId xmlns:a16="http://schemas.microsoft.com/office/drawing/2014/main" id="{D5F14E13-1D9D-1313-A7EE-B3FB47A1CA6A}"/>
              </a:ext>
            </a:extLst>
          </p:cNvPr>
          <p:cNvSpPr/>
          <p:nvPr>
            <p:custDataLst>
              <p:tags r:id="rId10"/>
            </p:custDataLst>
          </p:nvPr>
        </p:nvSpPr>
        <p:spPr bwMode="auto">
          <a:xfrm>
            <a:off x="5305280" y="4347031"/>
            <a:ext cx="491666" cy="25654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8" name="Rectangle 52">
            <a:extLst>
              <a:ext uri="{FF2B5EF4-FFF2-40B4-BE49-F238E27FC236}">
                <a16:creationId xmlns:a16="http://schemas.microsoft.com/office/drawing/2014/main" id="{742F0F81-2B11-75A3-A15F-059D99F85A98}"/>
              </a:ext>
            </a:extLst>
          </p:cNvPr>
          <p:cNvSpPr/>
          <p:nvPr/>
        </p:nvSpPr>
        <p:spPr>
          <a:xfrm>
            <a:off x="2438768" y="4652939"/>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9" name="OTLSHAPE_T_e17f3958430f4cff8650518c93c7635e_StartDate">
            <a:extLst>
              <a:ext uri="{FF2B5EF4-FFF2-40B4-BE49-F238E27FC236}">
                <a16:creationId xmlns:a16="http://schemas.microsoft.com/office/drawing/2014/main" id="{D459C4C4-8F1C-3978-AF0A-3BCFC4D7B993}"/>
              </a:ext>
            </a:extLst>
          </p:cNvPr>
          <p:cNvSpPr txBox="1"/>
          <p:nvPr>
            <p:custDataLst>
              <p:tags r:id="rId11"/>
            </p:custDataLst>
          </p:nvPr>
        </p:nvSpPr>
        <p:spPr>
          <a:xfrm>
            <a:off x="2083863" y="415442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July 2024</a:t>
            </a:r>
            <a:endParaRPr lang="zh-CN" altLang="en-US" sz="1067" b="1" i="1">
              <a:solidFill>
                <a:schemeClr val="bg1">
                  <a:lumMod val="65000"/>
                </a:schemeClr>
              </a:solidFill>
              <a:ea typeface="等线" panose="02010600030101010101" pitchFamily="2" charset="-122"/>
            </a:endParaRPr>
          </a:p>
        </p:txBody>
      </p:sp>
      <p:sp>
        <p:nvSpPr>
          <p:cNvPr id="10" name="OTLSHAPE_T_e17f3958430f4cff8650518c93c7635e_Shape">
            <a:extLst>
              <a:ext uri="{FF2B5EF4-FFF2-40B4-BE49-F238E27FC236}">
                <a16:creationId xmlns:a16="http://schemas.microsoft.com/office/drawing/2014/main" id="{B5AF9C4F-F9BB-5964-DB13-BC8B030215DF}"/>
              </a:ext>
            </a:extLst>
          </p:cNvPr>
          <p:cNvSpPr/>
          <p:nvPr>
            <p:custDataLst>
              <p:tags r:id="rId12"/>
            </p:custDataLst>
          </p:nvPr>
        </p:nvSpPr>
        <p:spPr bwMode="auto">
          <a:xfrm>
            <a:off x="2614321" y="4350553"/>
            <a:ext cx="2679093" cy="26535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Ph1b/2, N=TBD </a:t>
            </a:r>
            <a:endParaRPr lang="en-US" altLang="zh-CN" sz="1067" b="1">
              <a:solidFill>
                <a:srgbClr val="000000"/>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7348F99A-89F0-6E03-EFAB-FE8370F58B23}"/>
              </a:ext>
            </a:extLst>
          </p:cNvPr>
          <p:cNvSpPr/>
          <p:nvPr/>
        </p:nvSpPr>
        <p:spPr>
          <a:xfrm>
            <a:off x="5092231" y="466437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2" name="OTLSHAPE_T_e17f3958430f4cff8650518c93c7635e_StartDate">
            <a:extLst>
              <a:ext uri="{FF2B5EF4-FFF2-40B4-BE49-F238E27FC236}">
                <a16:creationId xmlns:a16="http://schemas.microsoft.com/office/drawing/2014/main" id="{4A0E80B8-317F-F938-191C-B69E13777D5A}"/>
              </a:ext>
            </a:extLst>
          </p:cNvPr>
          <p:cNvSpPr txBox="1"/>
          <p:nvPr>
            <p:custDataLst>
              <p:tags r:id="rId13"/>
            </p:custDataLst>
          </p:nvPr>
        </p:nvSpPr>
        <p:spPr>
          <a:xfrm>
            <a:off x="4695235" y="4154424"/>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3" name="Rectangle 55">
            <a:extLst>
              <a:ext uri="{FF2B5EF4-FFF2-40B4-BE49-F238E27FC236}">
                <a16:creationId xmlns:a16="http://schemas.microsoft.com/office/drawing/2014/main" id="{0383165B-E968-D965-D266-09BDBCEF96CD}"/>
              </a:ext>
            </a:extLst>
          </p:cNvPr>
          <p:cNvSpPr/>
          <p:nvPr/>
        </p:nvSpPr>
        <p:spPr>
          <a:xfrm>
            <a:off x="5452902" y="4680494"/>
            <a:ext cx="1061509"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&amp;</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Star: 4 Points 143">
            <a:extLst>
              <a:ext uri="{FF2B5EF4-FFF2-40B4-BE49-F238E27FC236}">
                <a16:creationId xmlns:a16="http://schemas.microsoft.com/office/drawing/2014/main" id="{7C95AEDA-D758-F883-B0F9-2ED88C19EF3F}"/>
              </a:ext>
            </a:extLst>
          </p:cNvPr>
          <p:cNvSpPr/>
          <p:nvPr/>
        </p:nvSpPr>
        <p:spPr bwMode="auto">
          <a:xfrm>
            <a:off x="5198186" y="448929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D56AC2F8-A789-9431-3B54-6B66E9661AD0}"/>
              </a:ext>
            </a:extLst>
          </p:cNvPr>
          <p:cNvSpPr/>
          <p:nvPr/>
        </p:nvSpPr>
        <p:spPr bwMode="auto">
          <a:xfrm>
            <a:off x="5718711" y="45174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Rectangle 100">
            <a:extLst>
              <a:ext uri="{FF2B5EF4-FFF2-40B4-BE49-F238E27FC236}">
                <a16:creationId xmlns:a16="http://schemas.microsoft.com/office/drawing/2014/main" id="{2BDE3662-74BC-4B8B-6732-0EF19889F246}"/>
              </a:ext>
            </a:extLst>
          </p:cNvPr>
          <p:cNvSpPr/>
          <p:nvPr/>
        </p:nvSpPr>
        <p:spPr>
          <a:xfrm>
            <a:off x="7145076" y="4178134"/>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2029</a:t>
            </a:r>
          </a:p>
        </p:txBody>
      </p:sp>
      <p:sp>
        <p:nvSpPr>
          <p:cNvPr id="18" name="五角星 55">
            <a:extLst>
              <a:ext uri="{FF2B5EF4-FFF2-40B4-BE49-F238E27FC236}">
                <a16:creationId xmlns:a16="http://schemas.microsoft.com/office/drawing/2014/main" id="{55B7133A-9B11-B3C5-FD16-0FFF355B32E1}"/>
              </a:ext>
            </a:extLst>
          </p:cNvPr>
          <p:cNvSpPr>
            <a:spLocks/>
          </p:cNvSpPr>
          <p:nvPr/>
        </p:nvSpPr>
        <p:spPr bwMode="auto">
          <a:xfrm>
            <a:off x="5881068" y="452639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19" name="Rectangle 55">
            <a:extLst>
              <a:ext uri="{FF2B5EF4-FFF2-40B4-BE49-F238E27FC236}">
                <a16:creationId xmlns:a16="http://schemas.microsoft.com/office/drawing/2014/main" id="{51EB0374-31B4-4F42-6A57-1C4F25C98CFC}"/>
              </a:ext>
            </a:extLst>
          </p:cNvPr>
          <p:cNvSpPr/>
          <p:nvPr/>
        </p:nvSpPr>
        <p:spPr>
          <a:xfrm>
            <a:off x="7097106" y="4592802"/>
            <a:ext cx="886781"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BC 3L+ AA</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20" name="Graphic 318" descr="Flag with solid fill">
            <a:extLst>
              <a:ext uri="{FF2B5EF4-FFF2-40B4-BE49-F238E27FC236}">
                <a16:creationId xmlns:a16="http://schemas.microsoft.com/office/drawing/2014/main" id="{B107BD25-8988-1CEC-C062-0E9D667F6B9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02775" y="4398792"/>
            <a:ext cx="210312" cy="210312"/>
          </a:xfrm>
          <a:prstGeom prst="rect">
            <a:avLst/>
          </a:prstGeom>
        </p:spPr>
      </p:pic>
      <p:sp>
        <p:nvSpPr>
          <p:cNvPr id="21" name="OTLSHAPE_T_e17f3958430f4cff8650518c93c7635e_StartDate">
            <a:extLst>
              <a:ext uri="{FF2B5EF4-FFF2-40B4-BE49-F238E27FC236}">
                <a16:creationId xmlns:a16="http://schemas.microsoft.com/office/drawing/2014/main" id="{2870BDB2-45BB-2109-F832-A53D2C24F87D}"/>
              </a:ext>
            </a:extLst>
          </p:cNvPr>
          <p:cNvSpPr txBox="1"/>
          <p:nvPr>
            <p:custDataLst>
              <p:tags r:id="rId14"/>
            </p:custDataLst>
          </p:nvPr>
        </p:nvSpPr>
        <p:spPr>
          <a:xfrm>
            <a:off x="5502594" y="415890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Q3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 name="文本框 160">
            <a:extLst>
              <a:ext uri="{FF2B5EF4-FFF2-40B4-BE49-F238E27FC236}">
                <a16:creationId xmlns:a16="http://schemas.microsoft.com/office/drawing/2014/main" id="{0BFC238E-36C4-8E41-3B84-FDE5C6712C6F}"/>
              </a:ext>
            </a:extLst>
          </p:cNvPr>
          <p:cNvSpPr txBox="1"/>
          <p:nvPr/>
        </p:nvSpPr>
        <p:spPr>
          <a:xfrm>
            <a:off x="2935895" y="5404517"/>
            <a:ext cx="8776696" cy="502265"/>
          </a:xfrm>
          <a:prstGeom prst="roundRect">
            <a:avLst/>
          </a:prstGeom>
          <a:noFill/>
          <a:ln>
            <a:solidFill>
              <a:srgbClr val="076D7E"/>
            </a:solidFill>
            <a:prstDash val="lgDash"/>
          </a:ln>
        </p:spPr>
        <p:txBody>
          <a:bodyPr wrap="square" lIns="91440" tIns="45720" rIns="91440" bIns="45720" rtlCol="0" anchor="t">
            <a:spAutoFit/>
          </a:bodyPr>
          <a:lstStyle/>
          <a:p>
            <a:pPr marL="171450" indent="-171450" defTabSz="1219170">
              <a:spcAft>
                <a:spcPts val="267"/>
              </a:spcAft>
              <a:buFont typeface="Arial" panose="020B0604020202020204" pitchFamily="34" charset="0"/>
              <a:buChar char="•"/>
              <a:defRPr/>
            </a:pPr>
            <a:r>
              <a:rPr lang="it-IT" altLang="zh-CN" sz="1050">
                <a:solidFill>
                  <a:schemeClr val="bg2"/>
                </a:solidFill>
                <a:cs typeface="Calibri"/>
              </a:rPr>
              <a:t>Totally 13 subjects were enrolled.</a:t>
            </a:r>
          </a:p>
          <a:p>
            <a:pPr marL="171450" indent="-171450" defTabSz="1219170">
              <a:spcAft>
                <a:spcPts val="267"/>
              </a:spcAft>
              <a:buFont typeface="Arial" panose="020B0604020202020204" pitchFamily="34" charset="0"/>
              <a:buChar char="•"/>
              <a:defRPr/>
            </a:pPr>
            <a:r>
              <a:rPr lang="en-US" altLang="zh-CN" sz="1050">
                <a:solidFill>
                  <a:schemeClr val="bg2"/>
                </a:solidFill>
                <a:cs typeface="Calibri"/>
              </a:rPr>
              <a:t>1479-0012  CTP v5 (new cohorts of CRC and BC were added) CTA  submission will target Jan 20th per CTP&amp;ICF finalization timeline.</a:t>
            </a:r>
            <a:endParaRPr lang="it-IT" altLang="zh-CN" sz="1050">
              <a:solidFill>
                <a:schemeClr val="bg2"/>
              </a:solidFill>
              <a:cs typeface="Calibri"/>
            </a:endParaRPr>
          </a:p>
        </p:txBody>
      </p:sp>
      <p:grpSp>
        <p:nvGrpSpPr>
          <p:cNvPr id="4" name="Group 62">
            <a:extLst>
              <a:ext uri="{FF2B5EF4-FFF2-40B4-BE49-F238E27FC236}">
                <a16:creationId xmlns:a16="http://schemas.microsoft.com/office/drawing/2014/main" id="{BB766852-7EF2-6324-E242-C5D10A068957}"/>
              </a:ext>
            </a:extLst>
          </p:cNvPr>
          <p:cNvGrpSpPr/>
          <p:nvPr/>
        </p:nvGrpSpPr>
        <p:grpSpPr>
          <a:xfrm>
            <a:off x="2519621" y="723282"/>
            <a:ext cx="546747" cy="6134718"/>
            <a:chOff x="1155349" y="1057179"/>
            <a:chExt cx="546747" cy="4601037"/>
          </a:xfrm>
        </p:grpSpPr>
        <p:cxnSp>
          <p:nvCxnSpPr>
            <p:cNvPr id="14" name="Straight Connector 63">
              <a:extLst>
                <a:ext uri="{FF2B5EF4-FFF2-40B4-BE49-F238E27FC236}">
                  <a16:creationId xmlns:a16="http://schemas.microsoft.com/office/drawing/2014/main" id="{D6B47C37-DEAA-CCCA-9674-A0B34E2AA583}"/>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 name="OTLSHAPE_T_e17f3958430f4cff8650518c93c7635e_StartDate">
              <a:extLst>
                <a:ext uri="{FF2B5EF4-FFF2-40B4-BE49-F238E27FC236}">
                  <a16:creationId xmlns:a16="http://schemas.microsoft.com/office/drawing/2014/main" id="{EB228E29-ECBC-019A-B024-F3231891F2A2}"/>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394665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Gastric Cancer 2L</a:t>
            </a:r>
            <a:endParaRPr lang="zh-CN" altLang="en-US">
              <a:solidFill>
                <a:schemeClr val="bg1">
                  <a:lumMod val="75000"/>
                </a:schemeClr>
              </a:solidFill>
              <a:latin typeface="+mn-lt"/>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7822269" y="2260823"/>
            <a:ext cx="368894"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3" y="1124712"/>
          <a:ext cx="9012870" cy="675640"/>
        </p:xfrm>
        <a:graphic>
          <a:graphicData uri="http://schemas.openxmlformats.org/drawingml/2006/table">
            <a:tbl>
              <a:tblPr firstRow="1" bandRow="1"/>
              <a:tblGrid>
                <a:gridCol w="500715">
                  <a:extLst>
                    <a:ext uri="{9D8B030D-6E8A-4147-A177-3AD203B41FA5}">
                      <a16:colId xmlns:a16="http://schemas.microsoft.com/office/drawing/2014/main" val="2466911814"/>
                    </a:ext>
                  </a:extLst>
                </a:gridCol>
                <a:gridCol w="500715">
                  <a:extLst>
                    <a:ext uri="{9D8B030D-6E8A-4147-A177-3AD203B41FA5}">
                      <a16:colId xmlns:a16="http://schemas.microsoft.com/office/drawing/2014/main" val="3023231563"/>
                    </a:ext>
                  </a:extLst>
                </a:gridCol>
                <a:gridCol w="500715">
                  <a:extLst>
                    <a:ext uri="{9D8B030D-6E8A-4147-A177-3AD203B41FA5}">
                      <a16:colId xmlns:a16="http://schemas.microsoft.com/office/drawing/2014/main" val="3411862845"/>
                    </a:ext>
                  </a:extLst>
                </a:gridCol>
                <a:gridCol w="500715">
                  <a:extLst>
                    <a:ext uri="{9D8B030D-6E8A-4147-A177-3AD203B41FA5}">
                      <a16:colId xmlns:a16="http://schemas.microsoft.com/office/drawing/2014/main" val="2851474774"/>
                    </a:ext>
                  </a:extLst>
                </a:gridCol>
                <a:gridCol w="500715">
                  <a:extLst>
                    <a:ext uri="{9D8B030D-6E8A-4147-A177-3AD203B41FA5}">
                      <a16:colId xmlns:a16="http://schemas.microsoft.com/office/drawing/2014/main" val="107595344"/>
                    </a:ext>
                  </a:extLst>
                </a:gridCol>
                <a:gridCol w="500715">
                  <a:extLst>
                    <a:ext uri="{9D8B030D-6E8A-4147-A177-3AD203B41FA5}">
                      <a16:colId xmlns:a16="http://schemas.microsoft.com/office/drawing/2014/main" val="1666999431"/>
                    </a:ext>
                  </a:extLst>
                </a:gridCol>
                <a:gridCol w="500715">
                  <a:extLst>
                    <a:ext uri="{9D8B030D-6E8A-4147-A177-3AD203B41FA5}">
                      <a16:colId xmlns:a16="http://schemas.microsoft.com/office/drawing/2014/main" val="3696607442"/>
                    </a:ext>
                  </a:extLst>
                </a:gridCol>
                <a:gridCol w="500715">
                  <a:extLst>
                    <a:ext uri="{9D8B030D-6E8A-4147-A177-3AD203B41FA5}">
                      <a16:colId xmlns:a16="http://schemas.microsoft.com/office/drawing/2014/main" val="223989776"/>
                    </a:ext>
                  </a:extLst>
                </a:gridCol>
                <a:gridCol w="500715">
                  <a:extLst>
                    <a:ext uri="{9D8B030D-6E8A-4147-A177-3AD203B41FA5}">
                      <a16:colId xmlns:a16="http://schemas.microsoft.com/office/drawing/2014/main" val="124731204"/>
                    </a:ext>
                  </a:extLst>
                </a:gridCol>
                <a:gridCol w="500715">
                  <a:extLst>
                    <a:ext uri="{9D8B030D-6E8A-4147-A177-3AD203B41FA5}">
                      <a16:colId xmlns:a16="http://schemas.microsoft.com/office/drawing/2014/main" val="3066978585"/>
                    </a:ext>
                  </a:extLst>
                </a:gridCol>
                <a:gridCol w="500715">
                  <a:extLst>
                    <a:ext uri="{9D8B030D-6E8A-4147-A177-3AD203B41FA5}">
                      <a16:colId xmlns:a16="http://schemas.microsoft.com/office/drawing/2014/main" val="1064917641"/>
                    </a:ext>
                  </a:extLst>
                </a:gridCol>
                <a:gridCol w="500715">
                  <a:extLst>
                    <a:ext uri="{9D8B030D-6E8A-4147-A177-3AD203B41FA5}">
                      <a16:colId xmlns:a16="http://schemas.microsoft.com/office/drawing/2014/main" val="4221117315"/>
                    </a:ext>
                  </a:extLst>
                </a:gridCol>
                <a:gridCol w="500715">
                  <a:extLst>
                    <a:ext uri="{9D8B030D-6E8A-4147-A177-3AD203B41FA5}">
                      <a16:colId xmlns:a16="http://schemas.microsoft.com/office/drawing/2014/main" val="3266065341"/>
                    </a:ext>
                  </a:extLst>
                </a:gridCol>
                <a:gridCol w="500715">
                  <a:extLst>
                    <a:ext uri="{9D8B030D-6E8A-4147-A177-3AD203B41FA5}">
                      <a16:colId xmlns:a16="http://schemas.microsoft.com/office/drawing/2014/main" val="2374051224"/>
                    </a:ext>
                  </a:extLst>
                </a:gridCol>
                <a:gridCol w="500715">
                  <a:extLst>
                    <a:ext uri="{9D8B030D-6E8A-4147-A177-3AD203B41FA5}">
                      <a16:colId xmlns:a16="http://schemas.microsoft.com/office/drawing/2014/main" val="1840388365"/>
                    </a:ext>
                  </a:extLst>
                </a:gridCol>
                <a:gridCol w="500715">
                  <a:extLst>
                    <a:ext uri="{9D8B030D-6E8A-4147-A177-3AD203B41FA5}">
                      <a16:colId xmlns:a16="http://schemas.microsoft.com/office/drawing/2014/main" val="267750830"/>
                    </a:ext>
                  </a:extLst>
                </a:gridCol>
                <a:gridCol w="500715">
                  <a:extLst>
                    <a:ext uri="{9D8B030D-6E8A-4147-A177-3AD203B41FA5}">
                      <a16:colId xmlns:a16="http://schemas.microsoft.com/office/drawing/2014/main" val="907388156"/>
                    </a:ext>
                  </a:extLst>
                </a:gridCol>
                <a:gridCol w="500715">
                  <a:extLst>
                    <a:ext uri="{9D8B030D-6E8A-4147-A177-3AD203B41FA5}">
                      <a16:colId xmlns:a16="http://schemas.microsoft.com/office/drawing/2014/main" val="1829146312"/>
                    </a:ext>
                  </a:extLst>
                </a:gridCol>
              </a:tblGrid>
              <a:tr h="259080">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230795" y="1296176"/>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9226" y="2288550"/>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1479-0013</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Gastric-1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3100300" y="2596460"/>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2785597" y="2149287"/>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Q1 2027</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3316056" y="2259189"/>
            <a:ext cx="4480799"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Gastric Cancer 2L</a:t>
            </a: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2464670" y="4641065"/>
            <a:ext cx="955141" cy="37815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 </a:t>
            </a:r>
            <a:r>
              <a:rPr lang="en-US" altLang="zh-CN" sz="800" b="1">
                <a:solidFill>
                  <a:srgbClr val="000000"/>
                </a:solidFill>
                <a:ea typeface="等线" panose="02010600030101010101" pitchFamily="2" charset="-122"/>
                <a:cs typeface="Calibri" panose="020F0502020204030204" pitchFamily="34" charset="0"/>
              </a:rPr>
              <a:t>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5"/>
            </p:custDataLst>
          </p:nvPr>
        </p:nvSpPr>
        <p:spPr bwMode="auto">
          <a:xfrm rot="16200000">
            <a:off x="2474165" y="497321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6"/>
            </p:custDataLst>
          </p:nvPr>
        </p:nvSpPr>
        <p:spPr>
          <a:xfrm>
            <a:off x="2295286" y="5065121"/>
            <a:ext cx="928201" cy="164212"/>
          </a:xfrm>
          <a:prstGeom prst="rect">
            <a:avLst/>
          </a:prstGeom>
          <a:noFill/>
        </p:spPr>
        <p:txBody>
          <a:bodyPr vert="horz" wrap="square" lIns="0" tIns="0" rIns="0" bIns="0" rtlCol="0" anchor="ctr" anchorCtr="0">
            <a:spAutoFit/>
          </a:bodyPr>
          <a:lstStyle/>
          <a:p>
            <a:pPr defTabSz="1219108">
              <a:defRPr/>
            </a:pPr>
            <a:r>
              <a:rPr lang="en-US" altLang="zh-CN" sz="1050" b="1">
                <a:solidFill>
                  <a:srgbClr val="44546A"/>
                </a:solidFill>
                <a:ea typeface="等线" panose="02010600030101010101" pitchFamily="2" charset="-122"/>
                <a:cs typeface="Calibri" panose="020F0502020204030204" pitchFamily="34" charset="0"/>
              </a:rPr>
              <a:t>CTA Sub</a:t>
            </a:r>
            <a:endParaRPr lang="zh-CN" altLang="en-US" sz="1050"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3206901" y="24984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7258050" y="2047558"/>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2030</a:t>
            </a:r>
          </a:p>
        </p:txBody>
      </p:sp>
      <p:pic>
        <p:nvPicPr>
          <p:cNvPr id="27" name="Graphic 318" descr="Flag with solid fill">
            <a:extLst>
              <a:ext uri="{FF2B5EF4-FFF2-40B4-BE49-F238E27FC236}">
                <a16:creationId xmlns:a16="http://schemas.microsoft.com/office/drawing/2014/main" id="{326B3AA7-1994-0A70-FA4B-7BAAF662448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704734" y="2353835"/>
            <a:ext cx="210312" cy="210312"/>
          </a:xfrm>
          <a:prstGeom prst="rect">
            <a:avLst/>
          </a:prstGeom>
        </p:spPr>
      </p:pic>
      <p:sp>
        <p:nvSpPr>
          <p:cNvPr id="28" name="Rectangle 55">
            <a:extLst>
              <a:ext uri="{FF2B5EF4-FFF2-40B4-BE49-F238E27FC236}">
                <a16:creationId xmlns:a16="http://schemas.microsoft.com/office/drawing/2014/main" id="{AC1C3F53-0FEF-4BC6-5139-431393883203}"/>
              </a:ext>
            </a:extLst>
          </p:cNvPr>
          <p:cNvSpPr/>
          <p:nvPr/>
        </p:nvSpPr>
        <p:spPr>
          <a:xfrm>
            <a:off x="8568776" y="2548180"/>
            <a:ext cx="152841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2L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5" name="Rectangle 55">
            <a:extLst>
              <a:ext uri="{FF2B5EF4-FFF2-40B4-BE49-F238E27FC236}">
                <a16:creationId xmlns:a16="http://schemas.microsoft.com/office/drawing/2014/main" id="{7FAFB2CD-5EA8-4DEA-86F3-9C8A87920107}"/>
              </a:ext>
            </a:extLst>
          </p:cNvPr>
          <p:cNvSpPr/>
          <p:nvPr/>
        </p:nvSpPr>
        <p:spPr>
          <a:xfrm>
            <a:off x="7676779" y="2654582"/>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6" name="Star: 4 Points 143">
            <a:extLst>
              <a:ext uri="{FF2B5EF4-FFF2-40B4-BE49-F238E27FC236}">
                <a16:creationId xmlns:a16="http://schemas.microsoft.com/office/drawing/2014/main" id="{AA977709-00AC-A258-EBD2-FA5A55E1AAC7}"/>
              </a:ext>
            </a:extLst>
          </p:cNvPr>
          <p:cNvSpPr/>
          <p:nvPr/>
        </p:nvSpPr>
        <p:spPr bwMode="auto">
          <a:xfrm>
            <a:off x="7735795" y="25083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337" name="Group 11">
            <a:extLst>
              <a:ext uri="{FF2B5EF4-FFF2-40B4-BE49-F238E27FC236}">
                <a16:creationId xmlns:a16="http://schemas.microsoft.com/office/drawing/2014/main" id="{9AB2DDC9-6218-5691-F2F8-00D92F59950F}"/>
              </a:ext>
            </a:extLst>
          </p:cNvPr>
          <p:cNvGrpSpPr/>
          <p:nvPr/>
        </p:nvGrpSpPr>
        <p:grpSpPr>
          <a:xfrm>
            <a:off x="7910554" y="2059539"/>
            <a:ext cx="823524" cy="769129"/>
            <a:chOff x="6617813" y="4126731"/>
            <a:chExt cx="823524" cy="769129"/>
          </a:xfrm>
        </p:grpSpPr>
        <p:sp>
          <p:nvSpPr>
            <p:cNvPr id="338" name="Rectangle 100">
              <a:extLst>
                <a:ext uri="{FF2B5EF4-FFF2-40B4-BE49-F238E27FC236}">
                  <a16:creationId xmlns:a16="http://schemas.microsoft.com/office/drawing/2014/main" id="{CF7C1C79-3761-E24C-9199-8C7D45FED26B}"/>
                </a:ext>
              </a:extLst>
            </p:cNvPr>
            <p:cNvSpPr/>
            <p:nvPr/>
          </p:nvSpPr>
          <p:spPr>
            <a:xfrm>
              <a:off x="6617813" y="412673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2030</a:t>
              </a:r>
              <a:endParaRPr lang="en-US" altLang="zh-CN" sz="1067" b="1">
                <a:solidFill>
                  <a:srgbClr val="44546A"/>
                </a:solidFill>
                <a:ea typeface="等线" panose="02010600030101010101" pitchFamily="2" charset="-122"/>
                <a:cs typeface="Calibri" panose="020F0502020204030204" pitchFamily="34" charset="0"/>
              </a:endParaRPr>
            </a:p>
          </p:txBody>
        </p:sp>
        <p:sp>
          <p:nvSpPr>
            <p:cNvPr id="339" name="Rectangle 55">
              <a:extLst>
                <a:ext uri="{FF2B5EF4-FFF2-40B4-BE49-F238E27FC236}">
                  <a16:creationId xmlns:a16="http://schemas.microsoft.com/office/drawing/2014/main" id="{29F01DE3-80DF-0B3F-89B8-02D399F713E8}"/>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40" name="五角星 55">
              <a:extLst>
                <a:ext uri="{FF2B5EF4-FFF2-40B4-BE49-F238E27FC236}">
                  <a16:creationId xmlns:a16="http://schemas.microsoft.com/office/drawing/2014/main" id="{22D7A13C-1357-29AB-7AC3-4D7453CDC67B}"/>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41" name="Rectangle 100">
            <a:extLst>
              <a:ext uri="{FF2B5EF4-FFF2-40B4-BE49-F238E27FC236}">
                <a16:creationId xmlns:a16="http://schemas.microsoft.com/office/drawing/2014/main" id="{EC3967A0-9659-CF4D-E773-DC0020942233}"/>
              </a:ext>
            </a:extLst>
          </p:cNvPr>
          <p:cNvSpPr/>
          <p:nvPr/>
        </p:nvSpPr>
        <p:spPr>
          <a:xfrm>
            <a:off x="8535775" y="2093733"/>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42" name="TextBox 64">
            <a:extLst>
              <a:ext uri="{FF2B5EF4-FFF2-40B4-BE49-F238E27FC236}">
                <a16:creationId xmlns:a16="http://schemas.microsoft.com/office/drawing/2014/main" id="{1F76A720-79C8-5456-39D1-6121F779C54C}"/>
              </a:ext>
            </a:extLst>
          </p:cNvPr>
          <p:cNvSpPr txBox="1"/>
          <p:nvPr/>
        </p:nvSpPr>
        <p:spPr>
          <a:xfrm>
            <a:off x="61070" y="5212922"/>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1479-0013</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Gastric-1 </a:t>
            </a:r>
          </a:p>
        </p:txBody>
      </p:sp>
      <p:sp>
        <p:nvSpPr>
          <p:cNvPr id="345" name="Rectangle 52">
            <a:extLst>
              <a:ext uri="{FF2B5EF4-FFF2-40B4-BE49-F238E27FC236}">
                <a16:creationId xmlns:a16="http://schemas.microsoft.com/office/drawing/2014/main" id="{CA8BAE5A-A411-5F1C-814B-7AC8D6DDD232}"/>
              </a:ext>
            </a:extLst>
          </p:cNvPr>
          <p:cNvSpPr/>
          <p:nvPr/>
        </p:nvSpPr>
        <p:spPr>
          <a:xfrm>
            <a:off x="3210447" y="4956254"/>
            <a:ext cx="413896" cy="256545"/>
          </a:xfrm>
          <a:prstGeom prst="rect">
            <a:avLst/>
          </a:prstGeom>
        </p:spPr>
        <p:txBody>
          <a:bodyPr wrap="none">
            <a:spAutoFit/>
          </a:bodyPr>
          <a:lstStyle/>
          <a:p>
            <a:pPr algn="ctr" defTabSz="1219108">
              <a:defRPr/>
            </a:pPr>
            <a:r>
              <a:rPr lang="en-US" altLang="zh-CN" sz="1050" b="1">
                <a:solidFill>
                  <a:srgbClr val="44546A"/>
                </a:solidFill>
                <a:ea typeface="等线" panose="02010600030101010101" pitchFamily="2" charset="-122"/>
              </a:rPr>
              <a:t>SIV</a:t>
            </a:r>
            <a:endParaRPr lang="zh-CN" altLang="en-US" sz="1050" b="1">
              <a:solidFill>
                <a:srgbClr val="44546A"/>
              </a:solidFill>
              <a:ea typeface="等线" panose="02010600030101010101" pitchFamily="2" charset="-122"/>
            </a:endParaRPr>
          </a:p>
        </p:txBody>
      </p:sp>
      <p:sp>
        <p:nvSpPr>
          <p:cNvPr id="348" name="Star: 4 Points 143">
            <a:extLst>
              <a:ext uri="{FF2B5EF4-FFF2-40B4-BE49-F238E27FC236}">
                <a16:creationId xmlns:a16="http://schemas.microsoft.com/office/drawing/2014/main" id="{3CE49C9F-3F5D-16B9-5487-3408FEB0EA41}"/>
              </a:ext>
            </a:extLst>
          </p:cNvPr>
          <p:cNvSpPr/>
          <p:nvPr/>
        </p:nvSpPr>
        <p:spPr bwMode="auto">
          <a:xfrm>
            <a:off x="3329872" y="48582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59" name="OTLSHAPE_T_e17f3958430f4cff8650518c93c7635e_StartDate">
            <a:extLst>
              <a:ext uri="{FF2B5EF4-FFF2-40B4-BE49-F238E27FC236}">
                <a16:creationId xmlns:a16="http://schemas.microsoft.com/office/drawing/2014/main" id="{C55FD99D-3295-C64D-E781-1F87D7835FB0}"/>
              </a:ext>
            </a:extLst>
          </p:cNvPr>
          <p:cNvSpPr txBox="1"/>
          <p:nvPr>
            <p:custDataLst>
              <p:tags r:id="rId7"/>
            </p:custDataLst>
          </p:nvPr>
        </p:nvSpPr>
        <p:spPr>
          <a:xfrm>
            <a:off x="2104676" y="445574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Aug 2026</a:t>
            </a:r>
            <a:endParaRPr lang="zh-CN" altLang="en-US" sz="1067" b="1" i="1">
              <a:solidFill>
                <a:schemeClr val="bg1">
                  <a:lumMod val="65000"/>
                </a:schemeClr>
              </a:solidFill>
              <a:ea typeface="等线" panose="02010600030101010101" pitchFamily="2" charset="-122"/>
            </a:endParaRPr>
          </a:p>
        </p:txBody>
      </p:sp>
      <p:sp>
        <p:nvSpPr>
          <p:cNvPr id="360" name="OTLSHAPE_T_e17f3958430f4cff8650518c93c7635e_Shape">
            <a:extLst>
              <a:ext uri="{FF2B5EF4-FFF2-40B4-BE49-F238E27FC236}">
                <a16:creationId xmlns:a16="http://schemas.microsoft.com/office/drawing/2014/main" id="{CC1B2CCF-BD93-BAA9-0962-A885F2D80878}"/>
              </a:ext>
            </a:extLst>
          </p:cNvPr>
          <p:cNvSpPr/>
          <p:nvPr>
            <p:custDataLst>
              <p:tags r:id="rId8"/>
            </p:custDataLst>
          </p:nvPr>
        </p:nvSpPr>
        <p:spPr bwMode="auto">
          <a:xfrm>
            <a:off x="1846790" y="4634953"/>
            <a:ext cx="590880" cy="378151"/>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1067" b="1">
              <a:solidFill>
                <a:prstClr val="black"/>
              </a:solidFill>
              <a:ea typeface="等线" panose="02010600030101010101" pitchFamily="2" charset="-122"/>
              <a:cs typeface="Calibri" panose="020F0502020204030204" pitchFamily="34" charset="0"/>
            </a:endParaRPr>
          </a:p>
        </p:txBody>
      </p:sp>
      <p:sp>
        <p:nvSpPr>
          <p:cNvPr id="361" name="OTLSHAPE_M_39ea6ebc19a94c9fab6ef5006c31df58_Shape">
            <a:extLst>
              <a:ext uri="{FF2B5EF4-FFF2-40B4-BE49-F238E27FC236}">
                <a16:creationId xmlns:a16="http://schemas.microsoft.com/office/drawing/2014/main" id="{5D1B8188-53DE-B90D-2F2D-C01CE079AECA}"/>
              </a:ext>
            </a:extLst>
          </p:cNvPr>
          <p:cNvSpPr/>
          <p:nvPr>
            <p:custDataLst>
              <p:tags r:id="rId9"/>
            </p:custDataLst>
          </p:nvPr>
        </p:nvSpPr>
        <p:spPr bwMode="auto">
          <a:xfrm rot="16200000">
            <a:off x="1807097" y="4977785"/>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362" name="OTLSHAPE_M_39ea6ebc19a94c9fab6ef5006c31df58_Title">
            <a:extLst>
              <a:ext uri="{FF2B5EF4-FFF2-40B4-BE49-F238E27FC236}">
                <a16:creationId xmlns:a16="http://schemas.microsoft.com/office/drawing/2014/main" id="{DF7CAACB-510B-D134-7428-D174D4CE3DBB}"/>
              </a:ext>
            </a:extLst>
          </p:cNvPr>
          <p:cNvSpPr txBox="1"/>
          <p:nvPr>
            <p:custDataLst>
              <p:tags r:id="rId10"/>
            </p:custDataLst>
          </p:nvPr>
        </p:nvSpPr>
        <p:spPr>
          <a:xfrm>
            <a:off x="1279488" y="5055507"/>
            <a:ext cx="928201" cy="323165"/>
          </a:xfrm>
          <a:prstGeom prst="rect">
            <a:avLst/>
          </a:prstGeom>
          <a:noFill/>
        </p:spPr>
        <p:txBody>
          <a:bodyPr vert="horz" wrap="square" lIns="0" tIns="0" rIns="0" bIns="0" rtlCol="0" anchor="ctr" anchorCtr="0">
            <a:spAutoFit/>
          </a:bodyPr>
          <a:lstStyle/>
          <a:p>
            <a:pPr algn="ctr" defTabSz="1219108">
              <a:defRPr/>
            </a:pPr>
            <a:r>
              <a:rPr lang="en-US" altLang="zh-CN" sz="1050" b="1">
                <a:solidFill>
                  <a:srgbClr val="44546A"/>
                </a:solidFill>
                <a:ea typeface="等线" panose="02010600030101010101" pitchFamily="2" charset="-122"/>
                <a:cs typeface="Calibri" panose="020F0502020204030204" pitchFamily="34" charset="0"/>
              </a:rPr>
              <a:t>Pre-IND Submission </a:t>
            </a:r>
            <a:endParaRPr lang="zh-CN" altLang="en-US" sz="1050" b="1">
              <a:solidFill>
                <a:srgbClr val="44546A"/>
              </a:solidFill>
              <a:ea typeface="等线" panose="02010600030101010101" pitchFamily="2" charset="-122"/>
              <a:cs typeface="Calibri" panose="020F0502020204030204" pitchFamily="34" charset="0"/>
            </a:endParaRPr>
          </a:p>
        </p:txBody>
      </p:sp>
      <p:sp>
        <p:nvSpPr>
          <p:cNvPr id="363" name="OTLSHAPE_T_e17f3958430f4cff8650518c93c7635e_StartDate">
            <a:extLst>
              <a:ext uri="{FF2B5EF4-FFF2-40B4-BE49-F238E27FC236}">
                <a16:creationId xmlns:a16="http://schemas.microsoft.com/office/drawing/2014/main" id="{9EB33E0A-A37B-D7D9-64C6-7285A0DC6DF1}"/>
              </a:ext>
            </a:extLst>
          </p:cNvPr>
          <p:cNvSpPr txBox="1"/>
          <p:nvPr>
            <p:custDataLst>
              <p:tags r:id="rId11"/>
            </p:custDataLst>
          </p:nvPr>
        </p:nvSpPr>
        <p:spPr>
          <a:xfrm>
            <a:off x="1355186" y="4457969"/>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Apr 2026</a:t>
            </a:r>
            <a:endParaRPr lang="zh-CN" altLang="en-US" sz="1067" b="1" i="1">
              <a:solidFill>
                <a:schemeClr val="bg1">
                  <a:lumMod val="65000"/>
                </a:schemeClr>
              </a:solidFill>
              <a:ea typeface="等线" panose="02010600030101010101" pitchFamily="2" charset="-122"/>
            </a:endParaRPr>
          </a:p>
        </p:txBody>
      </p:sp>
      <p:sp>
        <p:nvSpPr>
          <p:cNvPr id="3" name="OTLSHAPE_T_5a934a26f311425e8ebaa0f45e6533ad_Shape">
            <a:extLst>
              <a:ext uri="{FF2B5EF4-FFF2-40B4-BE49-F238E27FC236}">
                <a16:creationId xmlns:a16="http://schemas.microsoft.com/office/drawing/2014/main" id="{C208FB2B-7893-0DEE-2B02-FB1AEA785DBC}"/>
              </a:ext>
            </a:extLst>
          </p:cNvPr>
          <p:cNvSpPr/>
          <p:nvPr>
            <p:custDataLst>
              <p:tags r:id="rId12"/>
            </p:custDataLst>
          </p:nvPr>
        </p:nvSpPr>
        <p:spPr bwMode="auto">
          <a:xfrm>
            <a:off x="7935968" y="4657044"/>
            <a:ext cx="368894"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5" name="OTLSHAPE_T_e17f3958430f4cff8650518c93c7635e_StartDate">
            <a:extLst>
              <a:ext uri="{FF2B5EF4-FFF2-40B4-BE49-F238E27FC236}">
                <a16:creationId xmlns:a16="http://schemas.microsoft.com/office/drawing/2014/main" id="{8586BCB0-666A-AF49-040E-7A552F18EDD1}"/>
              </a:ext>
            </a:extLst>
          </p:cNvPr>
          <p:cNvSpPr txBox="1"/>
          <p:nvPr>
            <p:custDataLst>
              <p:tags r:id="rId13"/>
            </p:custDataLst>
          </p:nvPr>
        </p:nvSpPr>
        <p:spPr>
          <a:xfrm>
            <a:off x="2916184" y="4471868"/>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2027</a:t>
            </a:r>
            <a:endParaRPr lang="zh-CN" altLang="en-US" sz="1067" b="1" i="1">
              <a:solidFill>
                <a:schemeClr val="bg1">
                  <a:lumMod val="65000"/>
                </a:schemeClr>
              </a:solidFill>
              <a:ea typeface="等线" panose="02010600030101010101" pitchFamily="2" charset="-122"/>
            </a:endParaRPr>
          </a:p>
        </p:txBody>
      </p:sp>
      <p:sp>
        <p:nvSpPr>
          <p:cNvPr id="6" name="OTLSHAPE_T_e17f3958430f4cff8650518c93c7635e_Shape">
            <a:extLst>
              <a:ext uri="{FF2B5EF4-FFF2-40B4-BE49-F238E27FC236}">
                <a16:creationId xmlns:a16="http://schemas.microsoft.com/office/drawing/2014/main" id="{23ACC79F-E4E2-0FF3-377D-905A0C6E03BE}"/>
              </a:ext>
            </a:extLst>
          </p:cNvPr>
          <p:cNvSpPr/>
          <p:nvPr>
            <p:custDataLst>
              <p:tags r:id="rId14"/>
            </p:custDataLst>
          </p:nvPr>
        </p:nvSpPr>
        <p:spPr bwMode="auto">
          <a:xfrm>
            <a:off x="3429755" y="4655410"/>
            <a:ext cx="4480799"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Gastric Cancer 2L</a:t>
            </a:r>
          </a:p>
        </p:txBody>
      </p:sp>
      <p:sp>
        <p:nvSpPr>
          <p:cNvPr id="8" name="Rectangle 100">
            <a:extLst>
              <a:ext uri="{FF2B5EF4-FFF2-40B4-BE49-F238E27FC236}">
                <a16:creationId xmlns:a16="http://schemas.microsoft.com/office/drawing/2014/main" id="{06ACE7E7-9F61-8326-CC97-C5E34C508BDE}"/>
              </a:ext>
            </a:extLst>
          </p:cNvPr>
          <p:cNvSpPr/>
          <p:nvPr/>
        </p:nvSpPr>
        <p:spPr>
          <a:xfrm>
            <a:off x="7371749" y="4443779"/>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2030</a:t>
            </a:r>
          </a:p>
        </p:txBody>
      </p:sp>
      <p:pic>
        <p:nvPicPr>
          <p:cNvPr id="9" name="Graphic 318" descr="Flag with solid fill">
            <a:extLst>
              <a:ext uri="{FF2B5EF4-FFF2-40B4-BE49-F238E27FC236}">
                <a16:creationId xmlns:a16="http://schemas.microsoft.com/office/drawing/2014/main" id="{E247C3BA-4FE4-7ABE-9902-83407FAE7E9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818433" y="4750056"/>
            <a:ext cx="210312" cy="210312"/>
          </a:xfrm>
          <a:prstGeom prst="rect">
            <a:avLst/>
          </a:prstGeom>
        </p:spPr>
      </p:pic>
      <p:sp>
        <p:nvSpPr>
          <p:cNvPr id="10" name="Rectangle 55">
            <a:extLst>
              <a:ext uri="{FF2B5EF4-FFF2-40B4-BE49-F238E27FC236}">
                <a16:creationId xmlns:a16="http://schemas.microsoft.com/office/drawing/2014/main" id="{91C9736B-2EAD-5BC1-A094-451DD63A25F9}"/>
              </a:ext>
            </a:extLst>
          </p:cNvPr>
          <p:cNvSpPr/>
          <p:nvPr/>
        </p:nvSpPr>
        <p:spPr>
          <a:xfrm>
            <a:off x="8682475" y="4944401"/>
            <a:ext cx="152841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2L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077FC01F-A196-7A5B-4B02-40519F19E7BF}"/>
              </a:ext>
            </a:extLst>
          </p:cNvPr>
          <p:cNvSpPr/>
          <p:nvPr/>
        </p:nvSpPr>
        <p:spPr>
          <a:xfrm>
            <a:off x="7790478" y="5050803"/>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2" name="Star: 4 Points 143">
            <a:extLst>
              <a:ext uri="{FF2B5EF4-FFF2-40B4-BE49-F238E27FC236}">
                <a16:creationId xmlns:a16="http://schemas.microsoft.com/office/drawing/2014/main" id="{9CBEF1A2-8A7A-AE8F-32DC-923FCBB41159}"/>
              </a:ext>
            </a:extLst>
          </p:cNvPr>
          <p:cNvSpPr/>
          <p:nvPr/>
        </p:nvSpPr>
        <p:spPr bwMode="auto">
          <a:xfrm>
            <a:off x="7849494" y="490461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13" name="Group 11">
            <a:extLst>
              <a:ext uri="{FF2B5EF4-FFF2-40B4-BE49-F238E27FC236}">
                <a16:creationId xmlns:a16="http://schemas.microsoft.com/office/drawing/2014/main" id="{CD998D22-5A00-3598-08B0-C472E7648792}"/>
              </a:ext>
            </a:extLst>
          </p:cNvPr>
          <p:cNvGrpSpPr/>
          <p:nvPr/>
        </p:nvGrpSpPr>
        <p:grpSpPr>
          <a:xfrm>
            <a:off x="8024253" y="4455760"/>
            <a:ext cx="823524" cy="769129"/>
            <a:chOff x="6617813" y="4126731"/>
            <a:chExt cx="823524" cy="769129"/>
          </a:xfrm>
        </p:grpSpPr>
        <p:sp>
          <p:nvSpPr>
            <p:cNvPr id="14" name="Rectangle 100">
              <a:extLst>
                <a:ext uri="{FF2B5EF4-FFF2-40B4-BE49-F238E27FC236}">
                  <a16:creationId xmlns:a16="http://schemas.microsoft.com/office/drawing/2014/main" id="{1928802E-98BC-E311-0B8B-E929F2BA3C04}"/>
                </a:ext>
              </a:extLst>
            </p:cNvPr>
            <p:cNvSpPr/>
            <p:nvPr/>
          </p:nvSpPr>
          <p:spPr>
            <a:xfrm>
              <a:off x="6617813" y="412673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Q4 2030</a:t>
              </a:r>
              <a:endParaRPr lang="en-US" altLang="zh-CN" sz="1067" b="1">
                <a:solidFill>
                  <a:srgbClr val="44546A"/>
                </a:solidFill>
                <a:ea typeface="等线" panose="02010600030101010101" pitchFamily="2" charset="-122"/>
                <a:cs typeface="Calibri" panose="020F0502020204030204" pitchFamily="34" charset="0"/>
              </a:endParaRPr>
            </a:p>
          </p:txBody>
        </p:sp>
        <p:sp>
          <p:nvSpPr>
            <p:cNvPr id="15" name="Rectangle 55">
              <a:extLst>
                <a:ext uri="{FF2B5EF4-FFF2-40B4-BE49-F238E27FC236}">
                  <a16:creationId xmlns:a16="http://schemas.microsoft.com/office/drawing/2014/main" id="{C23D9ABE-D281-89AA-F006-F640EC8184AC}"/>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6" name="五角星 55">
              <a:extLst>
                <a:ext uri="{FF2B5EF4-FFF2-40B4-BE49-F238E27FC236}">
                  <a16:creationId xmlns:a16="http://schemas.microsoft.com/office/drawing/2014/main" id="{3015E304-C66C-5290-5868-27D9831A80F6}"/>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17" name="Rectangle 100">
            <a:extLst>
              <a:ext uri="{FF2B5EF4-FFF2-40B4-BE49-F238E27FC236}">
                <a16:creationId xmlns:a16="http://schemas.microsoft.com/office/drawing/2014/main" id="{2CF5B1E0-CFDC-543C-4346-68716005AF1D}"/>
              </a:ext>
            </a:extLst>
          </p:cNvPr>
          <p:cNvSpPr/>
          <p:nvPr/>
        </p:nvSpPr>
        <p:spPr>
          <a:xfrm>
            <a:off x="8649474" y="4489954"/>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2031</a:t>
            </a:r>
            <a:endParaRPr lang="en-US" altLang="zh-CN" sz="1067" b="1">
              <a:solidFill>
                <a:srgbClr val="44546A"/>
              </a:solidFill>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238654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Breast Cancer 3L+  </a:t>
            </a:r>
            <a:endParaRPr lang="zh-CN" altLang="en-US">
              <a:solidFill>
                <a:schemeClr val="bg1">
                  <a:lumMod val="75000"/>
                </a:schemeClr>
              </a:solidFill>
              <a:latin typeface="+mn-lt"/>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7528833" y="2405079"/>
            <a:ext cx="491666"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3" y="1124712"/>
          <a:ext cx="9012870" cy="675640"/>
        </p:xfrm>
        <a:graphic>
          <a:graphicData uri="http://schemas.openxmlformats.org/drawingml/2006/table">
            <a:tbl>
              <a:tblPr firstRow="1" bandRow="1"/>
              <a:tblGrid>
                <a:gridCol w="500715">
                  <a:extLst>
                    <a:ext uri="{9D8B030D-6E8A-4147-A177-3AD203B41FA5}">
                      <a16:colId xmlns:a16="http://schemas.microsoft.com/office/drawing/2014/main" val="2466911814"/>
                    </a:ext>
                  </a:extLst>
                </a:gridCol>
                <a:gridCol w="500715">
                  <a:extLst>
                    <a:ext uri="{9D8B030D-6E8A-4147-A177-3AD203B41FA5}">
                      <a16:colId xmlns:a16="http://schemas.microsoft.com/office/drawing/2014/main" val="3023231563"/>
                    </a:ext>
                  </a:extLst>
                </a:gridCol>
                <a:gridCol w="500715">
                  <a:extLst>
                    <a:ext uri="{9D8B030D-6E8A-4147-A177-3AD203B41FA5}">
                      <a16:colId xmlns:a16="http://schemas.microsoft.com/office/drawing/2014/main" val="3411862845"/>
                    </a:ext>
                  </a:extLst>
                </a:gridCol>
                <a:gridCol w="500715">
                  <a:extLst>
                    <a:ext uri="{9D8B030D-6E8A-4147-A177-3AD203B41FA5}">
                      <a16:colId xmlns:a16="http://schemas.microsoft.com/office/drawing/2014/main" val="2851474774"/>
                    </a:ext>
                  </a:extLst>
                </a:gridCol>
                <a:gridCol w="500715">
                  <a:extLst>
                    <a:ext uri="{9D8B030D-6E8A-4147-A177-3AD203B41FA5}">
                      <a16:colId xmlns:a16="http://schemas.microsoft.com/office/drawing/2014/main" val="107595344"/>
                    </a:ext>
                  </a:extLst>
                </a:gridCol>
                <a:gridCol w="500715">
                  <a:extLst>
                    <a:ext uri="{9D8B030D-6E8A-4147-A177-3AD203B41FA5}">
                      <a16:colId xmlns:a16="http://schemas.microsoft.com/office/drawing/2014/main" val="1666999431"/>
                    </a:ext>
                  </a:extLst>
                </a:gridCol>
                <a:gridCol w="500715">
                  <a:extLst>
                    <a:ext uri="{9D8B030D-6E8A-4147-A177-3AD203B41FA5}">
                      <a16:colId xmlns:a16="http://schemas.microsoft.com/office/drawing/2014/main" val="3696607442"/>
                    </a:ext>
                  </a:extLst>
                </a:gridCol>
                <a:gridCol w="500715">
                  <a:extLst>
                    <a:ext uri="{9D8B030D-6E8A-4147-A177-3AD203B41FA5}">
                      <a16:colId xmlns:a16="http://schemas.microsoft.com/office/drawing/2014/main" val="223989776"/>
                    </a:ext>
                  </a:extLst>
                </a:gridCol>
                <a:gridCol w="500715">
                  <a:extLst>
                    <a:ext uri="{9D8B030D-6E8A-4147-A177-3AD203B41FA5}">
                      <a16:colId xmlns:a16="http://schemas.microsoft.com/office/drawing/2014/main" val="124731204"/>
                    </a:ext>
                  </a:extLst>
                </a:gridCol>
                <a:gridCol w="500715">
                  <a:extLst>
                    <a:ext uri="{9D8B030D-6E8A-4147-A177-3AD203B41FA5}">
                      <a16:colId xmlns:a16="http://schemas.microsoft.com/office/drawing/2014/main" val="3066978585"/>
                    </a:ext>
                  </a:extLst>
                </a:gridCol>
                <a:gridCol w="500715">
                  <a:extLst>
                    <a:ext uri="{9D8B030D-6E8A-4147-A177-3AD203B41FA5}">
                      <a16:colId xmlns:a16="http://schemas.microsoft.com/office/drawing/2014/main" val="1064917641"/>
                    </a:ext>
                  </a:extLst>
                </a:gridCol>
                <a:gridCol w="500715">
                  <a:extLst>
                    <a:ext uri="{9D8B030D-6E8A-4147-A177-3AD203B41FA5}">
                      <a16:colId xmlns:a16="http://schemas.microsoft.com/office/drawing/2014/main" val="4221117315"/>
                    </a:ext>
                  </a:extLst>
                </a:gridCol>
                <a:gridCol w="500715">
                  <a:extLst>
                    <a:ext uri="{9D8B030D-6E8A-4147-A177-3AD203B41FA5}">
                      <a16:colId xmlns:a16="http://schemas.microsoft.com/office/drawing/2014/main" val="3266065341"/>
                    </a:ext>
                  </a:extLst>
                </a:gridCol>
                <a:gridCol w="500715">
                  <a:extLst>
                    <a:ext uri="{9D8B030D-6E8A-4147-A177-3AD203B41FA5}">
                      <a16:colId xmlns:a16="http://schemas.microsoft.com/office/drawing/2014/main" val="2374051224"/>
                    </a:ext>
                  </a:extLst>
                </a:gridCol>
                <a:gridCol w="500715">
                  <a:extLst>
                    <a:ext uri="{9D8B030D-6E8A-4147-A177-3AD203B41FA5}">
                      <a16:colId xmlns:a16="http://schemas.microsoft.com/office/drawing/2014/main" val="1840388365"/>
                    </a:ext>
                  </a:extLst>
                </a:gridCol>
                <a:gridCol w="500715">
                  <a:extLst>
                    <a:ext uri="{9D8B030D-6E8A-4147-A177-3AD203B41FA5}">
                      <a16:colId xmlns:a16="http://schemas.microsoft.com/office/drawing/2014/main" val="267750830"/>
                    </a:ext>
                  </a:extLst>
                </a:gridCol>
                <a:gridCol w="500715">
                  <a:extLst>
                    <a:ext uri="{9D8B030D-6E8A-4147-A177-3AD203B41FA5}">
                      <a16:colId xmlns:a16="http://schemas.microsoft.com/office/drawing/2014/main" val="907388156"/>
                    </a:ext>
                  </a:extLst>
                </a:gridCol>
                <a:gridCol w="500715">
                  <a:extLst>
                    <a:ext uri="{9D8B030D-6E8A-4147-A177-3AD203B41FA5}">
                      <a16:colId xmlns:a16="http://schemas.microsoft.com/office/drawing/2014/main" val="1829146312"/>
                    </a:ext>
                  </a:extLst>
                </a:gridCol>
              </a:tblGrid>
              <a:tr h="259080">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293196" y="1335234"/>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9226" y="2436330"/>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1479-0016</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Breast-1 </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4005262" y="2742350"/>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3690559" y="2295177"/>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Jul 2027</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4221018" y="2405079"/>
            <a:ext cx="3318888"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Breast Cancar 3L+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3462199" y="5019755"/>
            <a:ext cx="955141" cy="37815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 </a:t>
            </a:r>
            <a:r>
              <a:rPr lang="en-US" altLang="zh-CN" sz="800" b="1">
                <a:solidFill>
                  <a:srgbClr val="000000"/>
                </a:solidFill>
                <a:ea typeface="等线" panose="02010600030101010101" pitchFamily="2" charset="-122"/>
                <a:cs typeface="Calibri" panose="020F0502020204030204" pitchFamily="34" charset="0"/>
              </a:rPr>
              <a:t>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5"/>
            </p:custDataLst>
          </p:nvPr>
        </p:nvSpPr>
        <p:spPr bwMode="auto">
          <a:xfrm rot="16200000">
            <a:off x="3471694" y="535190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6"/>
            </p:custDataLst>
          </p:nvPr>
        </p:nvSpPr>
        <p:spPr>
          <a:xfrm>
            <a:off x="3292815" y="5443811"/>
            <a:ext cx="928201" cy="164212"/>
          </a:xfrm>
          <a:prstGeom prst="rect">
            <a:avLst/>
          </a:prstGeom>
          <a:noFill/>
        </p:spPr>
        <p:txBody>
          <a:bodyPr vert="horz" wrap="square" lIns="0" tIns="0" rIns="0" bIns="0" rtlCol="0" anchor="ctr" anchorCtr="0">
            <a:spAutoFit/>
          </a:bodyPr>
          <a:lstStyle/>
          <a:p>
            <a:pPr defTabSz="1219108">
              <a:defRPr/>
            </a:pPr>
            <a:r>
              <a:rPr lang="en-US" altLang="zh-CN" sz="1050" b="1">
                <a:solidFill>
                  <a:srgbClr val="44546A"/>
                </a:solidFill>
                <a:ea typeface="等线" panose="02010600030101010101" pitchFamily="2" charset="-122"/>
                <a:cs typeface="Calibri" panose="020F0502020204030204" pitchFamily="34" charset="0"/>
              </a:rPr>
              <a:t>CTA Sub</a:t>
            </a:r>
            <a:endParaRPr lang="zh-CN" altLang="en-US" sz="1050"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4111863" y="264437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6978172" y="2179785"/>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Q1 2030</a:t>
            </a:r>
          </a:p>
        </p:txBody>
      </p:sp>
      <p:pic>
        <p:nvPicPr>
          <p:cNvPr id="27" name="Graphic 318" descr="Flag with solid fill">
            <a:extLst>
              <a:ext uri="{FF2B5EF4-FFF2-40B4-BE49-F238E27FC236}">
                <a16:creationId xmlns:a16="http://schemas.microsoft.com/office/drawing/2014/main" id="{326B3AA7-1994-0A70-FA4B-7BAAF662448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759945" y="2490489"/>
            <a:ext cx="210312" cy="210312"/>
          </a:xfrm>
          <a:prstGeom prst="rect">
            <a:avLst/>
          </a:prstGeom>
        </p:spPr>
      </p:pic>
      <p:sp>
        <p:nvSpPr>
          <p:cNvPr id="28" name="Rectangle 55">
            <a:extLst>
              <a:ext uri="{FF2B5EF4-FFF2-40B4-BE49-F238E27FC236}">
                <a16:creationId xmlns:a16="http://schemas.microsoft.com/office/drawing/2014/main" id="{AC1C3F53-0FEF-4BC6-5139-431393883203}"/>
              </a:ext>
            </a:extLst>
          </p:cNvPr>
          <p:cNvSpPr/>
          <p:nvPr/>
        </p:nvSpPr>
        <p:spPr>
          <a:xfrm>
            <a:off x="8294633" y="2705209"/>
            <a:ext cx="1931146"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3L+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5" name="Rectangle 55">
            <a:extLst>
              <a:ext uri="{FF2B5EF4-FFF2-40B4-BE49-F238E27FC236}">
                <a16:creationId xmlns:a16="http://schemas.microsoft.com/office/drawing/2014/main" id="{7FAFB2CD-5EA8-4DEA-86F3-9C8A87920107}"/>
              </a:ext>
            </a:extLst>
          </p:cNvPr>
          <p:cNvSpPr/>
          <p:nvPr/>
        </p:nvSpPr>
        <p:spPr>
          <a:xfrm>
            <a:off x="7352523" y="2773814"/>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6" name="Star: 4 Points 143">
            <a:extLst>
              <a:ext uri="{FF2B5EF4-FFF2-40B4-BE49-F238E27FC236}">
                <a16:creationId xmlns:a16="http://schemas.microsoft.com/office/drawing/2014/main" id="{AA977709-00AC-A258-EBD2-FA5A55E1AAC7}"/>
              </a:ext>
            </a:extLst>
          </p:cNvPr>
          <p:cNvSpPr/>
          <p:nvPr/>
        </p:nvSpPr>
        <p:spPr bwMode="auto">
          <a:xfrm>
            <a:off x="7458478" y="262616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337" name="Group 11">
            <a:extLst>
              <a:ext uri="{FF2B5EF4-FFF2-40B4-BE49-F238E27FC236}">
                <a16:creationId xmlns:a16="http://schemas.microsoft.com/office/drawing/2014/main" id="{9AB2DDC9-6218-5691-F2F8-00D92F59950F}"/>
              </a:ext>
            </a:extLst>
          </p:cNvPr>
          <p:cNvGrpSpPr/>
          <p:nvPr/>
        </p:nvGrpSpPr>
        <p:grpSpPr>
          <a:xfrm>
            <a:off x="7845209" y="2197705"/>
            <a:ext cx="823524" cy="769129"/>
            <a:chOff x="6617813" y="4126731"/>
            <a:chExt cx="823524" cy="769129"/>
          </a:xfrm>
        </p:grpSpPr>
        <p:sp>
          <p:nvSpPr>
            <p:cNvPr id="338" name="Rectangle 100">
              <a:extLst>
                <a:ext uri="{FF2B5EF4-FFF2-40B4-BE49-F238E27FC236}">
                  <a16:creationId xmlns:a16="http://schemas.microsoft.com/office/drawing/2014/main" id="{CF7C1C79-3761-E24C-9199-8C7D45FED26B}"/>
                </a:ext>
              </a:extLst>
            </p:cNvPr>
            <p:cNvSpPr/>
            <p:nvPr/>
          </p:nvSpPr>
          <p:spPr>
            <a:xfrm>
              <a:off x="6617813" y="412673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2030</a:t>
              </a:r>
              <a:endParaRPr lang="en-US" altLang="zh-CN" sz="1067" b="1">
                <a:solidFill>
                  <a:srgbClr val="44546A"/>
                </a:solidFill>
                <a:ea typeface="等线" panose="02010600030101010101" pitchFamily="2" charset="-122"/>
                <a:cs typeface="Calibri" panose="020F0502020204030204" pitchFamily="34" charset="0"/>
              </a:endParaRPr>
            </a:p>
          </p:txBody>
        </p:sp>
        <p:sp>
          <p:nvSpPr>
            <p:cNvPr id="339" name="Rectangle 55">
              <a:extLst>
                <a:ext uri="{FF2B5EF4-FFF2-40B4-BE49-F238E27FC236}">
                  <a16:creationId xmlns:a16="http://schemas.microsoft.com/office/drawing/2014/main" id="{29F01DE3-80DF-0B3F-89B8-02D399F713E8}"/>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40" name="五角星 55">
              <a:extLst>
                <a:ext uri="{FF2B5EF4-FFF2-40B4-BE49-F238E27FC236}">
                  <a16:creationId xmlns:a16="http://schemas.microsoft.com/office/drawing/2014/main" id="{22D7A13C-1357-29AB-7AC3-4D7453CDC67B}"/>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41" name="Rectangle 100">
            <a:extLst>
              <a:ext uri="{FF2B5EF4-FFF2-40B4-BE49-F238E27FC236}">
                <a16:creationId xmlns:a16="http://schemas.microsoft.com/office/drawing/2014/main" id="{EC3967A0-9659-CF4D-E773-DC0020942233}"/>
              </a:ext>
            </a:extLst>
          </p:cNvPr>
          <p:cNvSpPr/>
          <p:nvPr/>
        </p:nvSpPr>
        <p:spPr>
          <a:xfrm>
            <a:off x="8590986" y="2230387"/>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Q1 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42" name="TextBox 64">
            <a:extLst>
              <a:ext uri="{FF2B5EF4-FFF2-40B4-BE49-F238E27FC236}">
                <a16:creationId xmlns:a16="http://schemas.microsoft.com/office/drawing/2014/main" id="{1F76A720-79C8-5456-39D1-6121F779C54C}"/>
              </a:ext>
            </a:extLst>
          </p:cNvPr>
          <p:cNvSpPr txBox="1"/>
          <p:nvPr/>
        </p:nvSpPr>
        <p:spPr>
          <a:xfrm>
            <a:off x="61070" y="5212922"/>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1479-0016</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Breast-1  </a:t>
            </a:r>
          </a:p>
        </p:txBody>
      </p:sp>
      <p:sp>
        <p:nvSpPr>
          <p:cNvPr id="344" name="OTLSHAPE_T_5a934a26f311425e8ebaa0f45e6533ad_Shape">
            <a:extLst>
              <a:ext uri="{FF2B5EF4-FFF2-40B4-BE49-F238E27FC236}">
                <a16:creationId xmlns:a16="http://schemas.microsoft.com/office/drawing/2014/main" id="{41E0D9F5-DB93-500F-367D-884D55DBFE9A}"/>
              </a:ext>
            </a:extLst>
          </p:cNvPr>
          <p:cNvSpPr/>
          <p:nvPr>
            <p:custDataLst>
              <p:tags r:id="rId7"/>
            </p:custDataLst>
          </p:nvPr>
        </p:nvSpPr>
        <p:spPr bwMode="auto">
          <a:xfrm>
            <a:off x="7744371" y="4997673"/>
            <a:ext cx="491666"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45" name="Rectangle 52">
            <a:extLst>
              <a:ext uri="{FF2B5EF4-FFF2-40B4-BE49-F238E27FC236}">
                <a16:creationId xmlns:a16="http://schemas.microsoft.com/office/drawing/2014/main" id="{CA8BAE5A-A411-5F1C-814B-7AC8D6DDD232}"/>
              </a:ext>
            </a:extLst>
          </p:cNvPr>
          <p:cNvSpPr/>
          <p:nvPr/>
        </p:nvSpPr>
        <p:spPr>
          <a:xfrm>
            <a:off x="4207976" y="5334944"/>
            <a:ext cx="413896" cy="256545"/>
          </a:xfrm>
          <a:prstGeom prst="rect">
            <a:avLst/>
          </a:prstGeom>
        </p:spPr>
        <p:txBody>
          <a:bodyPr wrap="none">
            <a:spAutoFit/>
          </a:bodyPr>
          <a:lstStyle/>
          <a:p>
            <a:pPr algn="ctr" defTabSz="1219108">
              <a:defRPr/>
            </a:pPr>
            <a:r>
              <a:rPr lang="en-US" altLang="zh-CN" sz="1050" b="1">
                <a:solidFill>
                  <a:srgbClr val="44546A"/>
                </a:solidFill>
                <a:ea typeface="等线" panose="02010600030101010101" pitchFamily="2" charset="-122"/>
              </a:rPr>
              <a:t>SIV</a:t>
            </a:r>
            <a:endParaRPr lang="zh-CN" altLang="en-US" sz="1050" b="1">
              <a:solidFill>
                <a:srgbClr val="44546A"/>
              </a:solidFill>
              <a:ea typeface="等线" panose="02010600030101010101" pitchFamily="2" charset="-122"/>
            </a:endParaRPr>
          </a:p>
        </p:txBody>
      </p:sp>
      <p:sp>
        <p:nvSpPr>
          <p:cNvPr id="346" name="OTLSHAPE_T_e17f3958430f4cff8650518c93c7635e_StartDate">
            <a:extLst>
              <a:ext uri="{FF2B5EF4-FFF2-40B4-BE49-F238E27FC236}">
                <a16:creationId xmlns:a16="http://schemas.microsoft.com/office/drawing/2014/main" id="{0EF760A5-DFE3-9631-FBE1-3356F9AE1CC8}"/>
              </a:ext>
            </a:extLst>
          </p:cNvPr>
          <p:cNvSpPr txBox="1"/>
          <p:nvPr>
            <p:custDataLst>
              <p:tags r:id="rId8"/>
            </p:custDataLst>
          </p:nvPr>
        </p:nvSpPr>
        <p:spPr>
          <a:xfrm>
            <a:off x="3995377" y="482298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Jul 2027</a:t>
            </a:r>
            <a:endParaRPr lang="zh-CN" altLang="en-US" sz="1067" b="1" i="1">
              <a:solidFill>
                <a:schemeClr val="bg1">
                  <a:lumMod val="65000"/>
                </a:schemeClr>
              </a:solidFill>
              <a:ea typeface="等线" panose="02010600030101010101" pitchFamily="2" charset="-122"/>
            </a:endParaRPr>
          </a:p>
        </p:txBody>
      </p:sp>
      <p:sp>
        <p:nvSpPr>
          <p:cNvPr id="347" name="OTLSHAPE_T_e17f3958430f4cff8650518c93c7635e_Shape">
            <a:extLst>
              <a:ext uri="{FF2B5EF4-FFF2-40B4-BE49-F238E27FC236}">
                <a16:creationId xmlns:a16="http://schemas.microsoft.com/office/drawing/2014/main" id="{90B37DD0-6254-31DF-B251-5B573009D447}"/>
              </a:ext>
            </a:extLst>
          </p:cNvPr>
          <p:cNvSpPr/>
          <p:nvPr>
            <p:custDataLst>
              <p:tags r:id="rId9"/>
            </p:custDataLst>
          </p:nvPr>
        </p:nvSpPr>
        <p:spPr bwMode="auto">
          <a:xfrm>
            <a:off x="4436556" y="4997673"/>
            <a:ext cx="3318888"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Breast Cancar 3L+ </a:t>
            </a:r>
            <a:endParaRPr lang="en-US" altLang="zh-CN" sz="1067" b="1">
              <a:solidFill>
                <a:srgbClr val="000000"/>
              </a:solidFill>
              <a:ea typeface="等线" panose="02010600030101010101" pitchFamily="2" charset="-122"/>
              <a:cs typeface="Calibri" panose="020F0502020204030204" pitchFamily="34" charset="0"/>
            </a:endParaRPr>
          </a:p>
        </p:txBody>
      </p:sp>
      <p:sp>
        <p:nvSpPr>
          <p:cNvPr id="348" name="Star: 4 Points 143">
            <a:extLst>
              <a:ext uri="{FF2B5EF4-FFF2-40B4-BE49-F238E27FC236}">
                <a16:creationId xmlns:a16="http://schemas.microsoft.com/office/drawing/2014/main" id="{3CE49C9F-3F5D-16B9-5487-3408FEB0EA41}"/>
              </a:ext>
            </a:extLst>
          </p:cNvPr>
          <p:cNvSpPr/>
          <p:nvPr/>
        </p:nvSpPr>
        <p:spPr bwMode="auto">
          <a:xfrm>
            <a:off x="4327401" y="523697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49" name="Rectangle 100">
            <a:extLst>
              <a:ext uri="{FF2B5EF4-FFF2-40B4-BE49-F238E27FC236}">
                <a16:creationId xmlns:a16="http://schemas.microsoft.com/office/drawing/2014/main" id="{86EBDEA4-D726-B311-65DB-0FACE64BDBAD}"/>
              </a:ext>
            </a:extLst>
          </p:cNvPr>
          <p:cNvSpPr/>
          <p:nvPr/>
        </p:nvSpPr>
        <p:spPr>
          <a:xfrm>
            <a:off x="7193710" y="4772379"/>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2030</a:t>
            </a:r>
          </a:p>
        </p:txBody>
      </p:sp>
      <p:pic>
        <p:nvPicPr>
          <p:cNvPr id="350" name="Graphic 318" descr="Flag with solid fill">
            <a:extLst>
              <a:ext uri="{FF2B5EF4-FFF2-40B4-BE49-F238E27FC236}">
                <a16:creationId xmlns:a16="http://schemas.microsoft.com/office/drawing/2014/main" id="{31A39D78-762B-4DCB-D03E-312577438F0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975483" y="5083083"/>
            <a:ext cx="210312" cy="210312"/>
          </a:xfrm>
          <a:prstGeom prst="rect">
            <a:avLst/>
          </a:prstGeom>
        </p:spPr>
      </p:pic>
      <p:sp>
        <p:nvSpPr>
          <p:cNvPr id="351" name="Rectangle 55">
            <a:extLst>
              <a:ext uri="{FF2B5EF4-FFF2-40B4-BE49-F238E27FC236}">
                <a16:creationId xmlns:a16="http://schemas.microsoft.com/office/drawing/2014/main" id="{43C4CED4-442B-9BEC-EA57-1777FF06D778}"/>
              </a:ext>
            </a:extLst>
          </p:cNvPr>
          <p:cNvSpPr/>
          <p:nvPr/>
        </p:nvSpPr>
        <p:spPr>
          <a:xfrm>
            <a:off x="8510171" y="5297803"/>
            <a:ext cx="1931146"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3L+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2" name="Rectangle 55">
            <a:extLst>
              <a:ext uri="{FF2B5EF4-FFF2-40B4-BE49-F238E27FC236}">
                <a16:creationId xmlns:a16="http://schemas.microsoft.com/office/drawing/2014/main" id="{6593ABD5-EE96-3161-1BFB-2B16F822678B}"/>
              </a:ext>
            </a:extLst>
          </p:cNvPr>
          <p:cNvSpPr/>
          <p:nvPr/>
        </p:nvSpPr>
        <p:spPr>
          <a:xfrm>
            <a:off x="7568061" y="5366408"/>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3" name="Star: 4 Points 143">
            <a:extLst>
              <a:ext uri="{FF2B5EF4-FFF2-40B4-BE49-F238E27FC236}">
                <a16:creationId xmlns:a16="http://schemas.microsoft.com/office/drawing/2014/main" id="{C505C985-89B5-A223-0E5C-900826CD9CC6}"/>
              </a:ext>
            </a:extLst>
          </p:cNvPr>
          <p:cNvSpPr/>
          <p:nvPr/>
        </p:nvSpPr>
        <p:spPr bwMode="auto">
          <a:xfrm>
            <a:off x="7674016" y="521875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354" name="Group 11">
            <a:extLst>
              <a:ext uri="{FF2B5EF4-FFF2-40B4-BE49-F238E27FC236}">
                <a16:creationId xmlns:a16="http://schemas.microsoft.com/office/drawing/2014/main" id="{8DCEABE3-869B-8464-6648-9D4AAE23AFE0}"/>
              </a:ext>
            </a:extLst>
          </p:cNvPr>
          <p:cNvGrpSpPr/>
          <p:nvPr/>
        </p:nvGrpSpPr>
        <p:grpSpPr>
          <a:xfrm>
            <a:off x="8060747" y="4790299"/>
            <a:ext cx="823524" cy="769129"/>
            <a:chOff x="6617813" y="4126731"/>
            <a:chExt cx="823524" cy="769129"/>
          </a:xfrm>
        </p:grpSpPr>
        <p:sp>
          <p:nvSpPr>
            <p:cNvPr id="355" name="Rectangle 100">
              <a:extLst>
                <a:ext uri="{FF2B5EF4-FFF2-40B4-BE49-F238E27FC236}">
                  <a16:creationId xmlns:a16="http://schemas.microsoft.com/office/drawing/2014/main" id="{2ADF4F60-AD61-8F89-E00F-C16ECCD4FD62}"/>
                </a:ext>
              </a:extLst>
            </p:cNvPr>
            <p:cNvSpPr/>
            <p:nvPr/>
          </p:nvSpPr>
          <p:spPr>
            <a:xfrm>
              <a:off x="6617813" y="412673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2030</a:t>
              </a:r>
              <a:endParaRPr lang="en-US" altLang="zh-CN" sz="1067" b="1">
                <a:solidFill>
                  <a:srgbClr val="44546A"/>
                </a:solidFill>
                <a:ea typeface="等线" panose="02010600030101010101" pitchFamily="2" charset="-122"/>
                <a:cs typeface="Calibri" panose="020F0502020204030204" pitchFamily="34" charset="0"/>
              </a:endParaRPr>
            </a:p>
          </p:txBody>
        </p:sp>
        <p:sp>
          <p:nvSpPr>
            <p:cNvPr id="356" name="Rectangle 55">
              <a:extLst>
                <a:ext uri="{FF2B5EF4-FFF2-40B4-BE49-F238E27FC236}">
                  <a16:creationId xmlns:a16="http://schemas.microsoft.com/office/drawing/2014/main" id="{AF47D246-4420-A7FE-C288-E5C6E344439B}"/>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7" name="五角星 55">
              <a:extLst>
                <a:ext uri="{FF2B5EF4-FFF2-40B4-BE49-F238E27FC236}">
                  <a16:creationId xmlns:a16="http://schemas.microsoft.com/office/drawing/2014/main" id="{D2EC8F02-5C3D-2750-F248-018DBA584254}"/>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58" name="Rectangle 100">
            <a:extLst>
              <a:ext uri="{FF2B5EF4-FFF2-40B4-BE49-F238E27FC236}">
                <a16:creationId xmlns:a16="http://schemas.microsoft.com/office/drawing/2014/main" id="{3D84A520-E8E2-02E5-09A6-7EA0DD5B0EB7}"/>
              </a:ext>
            </a:extLst>
          </p:cNvPr>
          <p:cNvSpPr/>
          <p:nvPr/>
        </p:nvSpPr>
        <p:spPr>
          <a:xfrm>
            <a:off x="8806524" y="482298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59" name="OTLSHAPE_T_e17f3958430f4cff8650518c93c7635e_StartDate">
            <a:extLst>
              <a:ext uri="{FF2B5EF4-FFF2-40B4-BE49-F238E27FC236}">
                <a16:creationId xmlns:a16="http://schemas.microsoft.com/office/drawing/2014/main" id="{C55FD99D-3295-C64D-E781-1F87D7835FB0}"/>
              </a:ext>
            </a:extLst>
          </p:cNvPr>
          <p:cNvSpPr txBox="1"/>
          <p:nvPr>
            <p:custDataLst>
              <p:tags r:id="rId10"/>
            </p:custDataLst>
          </p:nvPr>
        </p:nvSpPr>
        <p:spPr>
          <a:xfrm>
            <a:off x="3050948" y="484305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2027</a:t>
            </a:r>
            <a:endParaRPr lang="zh-CN" altLang="en-US" sz="1067" b="1" i="1">
              <a:solidFill>
                <a:schemeClr val="bg1">
                  <a:lumMod val="65000"/>
                </a:schemeClr>
              </a:solidFill>
              <a:ea typeface="等线" panose="02010600030101010101" pitchFamily="2" charset="-122"/>
            </a:endParaRPr>
          </a:p>
        </p:txBody>
      </p:sp>
      <p:sp>
        <p:nvSpPr>
          <p:cNvPr id="360" name="OTLSHAPE_T_e17f3958430f4cff8650518c93c7635e_Shape">
            <a:extLst>
              <a:ext uri="{FF2B5EF4-FFF2-40B4-BE49-F238E27FC236}">
                <a16:creationId xmlns:a16="http://schemas.microsoft.com/office/drawing/2014/main" id="{CC1B2CCF-BD93-BAA9-0962-A885F2D80878}"/>
              </a:ext>
            </a:extLst>
          </p:cNvPr>
          <p:cNvSpPr/>
          <p:nvPr>
            <p:custDataLst>
              <p:tags r:id="rId11"/>
            </p:custDataLst>
          </p:nvPr>
        </p:nvSpPr>
        <p:spPr bwMode="auto">
          <a:xfrm>
            <a:off x="2844319" y="5013643"/>
            <a:ext cx="590880" cy="378151"/>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1067" b="1">
              <a:solidFill>
                <a:prstClr val="black"/>
              </a:solidFill>
              <a:ea typeface="等线" panose="02010600030101010101" pitchFamily="2" charset="-122"/>
              <a:cs typeface="Calibri" panose="020F0502020204030204" pitchFamily="34" charset="0"/>
            </a:endParaRPr>
          </a:p>
        </p:txBody>
      </p:sp>
      <p:sp>
        <p:nvSpPr>
          <p:cNvPr id="361" name="OTLSHAPE_M_39ea6ebc19a94c9fab6ef5006c31df58_Shape">
            <a:extLst>
              <a:ext uri="{FF2B5EF4-FFF2-40B4-BE49-F238E27FC236}">
                <a16:creationId xmlns:a16="http://schemas.microsoft.com/office/drawing/2014/main" id="{5D1B8188-53DE-B90D-2F2D-C01CE079AECA}"/>
              </a:ext>
            </a:extLst>
          </p:cNvPr>
          <p:cNvSpPr/>
          <p:nvPr>
            <p:custDataLst>
              <p:tags r:id="rId12"/>
            </p:custDataLst>
          </p:nvPr>
        </p:nvSpPr>
        <p:spPr bwMode="auto">
          <a:xfrm rot="16200000">
            <a:off x="2804626" y="5356475"/>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362" name="OTLSHAPE_M_39ea6ebc19a94c9fab6ef5006c31df58_Title">
            <a:extLst>
              <a:ext uri="{FF2B5EF4-FFF2-40B4-BE49-F238E27FC236}">
                <a16:creationId xmlns:a16="http://schemas.microsoft.com/office/drawing/2014/main" id="{DF7CAACB-510B-D134-7428-D174D4CE3DBB}"/>
              </a:ext>
            </a:extLst>
          </p:cNvPr>
          <p:cNvSpPr txBox="1"/>
          <p:nvPr>
            <p:custDataLst>
              <p:tags r:id="rId13"/>
            </p:custDataLst>
          </p:nvPr>
        </p:nvSpPr>
        <p:spPr>
          <a:xfrm>
            <a:off x="2277017" y="5434197"/>
            <a:ext cx="928201" cy="323165"/>
          </a:xfrm>
          <a:prstGeom prst="rect">
            <a:avLst/>
          </a:prstGeom>
          <a:noFill/>
        </p:spPr>
        <p:txBody>
          <a:bodyPr vert="horz" wrap="square" lIns="0" tIns="0" rIns="0" bIns="0" rtlCol="0" anchor="ctr" anchorCtr="0">
            <a:spAutoFit/>
          </a:bodyPr>
          <a:lstStyle/>
          <a:p>
            <a:pPr algn="ctr" defTabSz="1219108">
              <a:defRPr/>
            </a:pPr>
            <a:r>
              <a:rPr lang="en-US" altLang="zh-CN" sz="1050" b="1">
                <a:solidFill>
                  <a:srgbClr val="44546A"/>
                </a:solidFill>
                <a:ea typeface="等线" panose="02010600030101010101" pitchFamily="2" charset="-122"/>
                <a:cs typeface="Calibri" panose="020F0502020204030204" pitchFamily="34" charset="0"/>
              </a:rPr>
              <a:t>Pre-IND Submission </a:t>
            </a:r>
            <a:endParaRPr lang="zh-CN" altLang="en-US" sz="1050" b="1">
              <a:solidFill>
                <a:srgbClr val="44546A"/>
              </a:solidFill>
              <a:ea typeface="等线" panose="02010600030101010101" pitchFamily="2" charset="-122"/>
              <a:cs typeface="Calibri" panose="020F0502020204030204" pitchFamily="34" charset="0"/>
            </a:endParaRPr>
          </a:p>
        </p:txBody>
      </p:sp>
      <p:sp>
        <p:nvSpPr>
          <p:cNvPr id="363" name="OTLSHAPE_T_e17f3958430f4cff8650518c93c7635e_StartDate">
            <a:extLst>
              <a:ext uri="{FF2B5EF4-FFF2-40B4-BE49-F238E27FC236}">
                <a16:creationId xmlns:a16="http://schemas.microsoft.com/office/drawing/2014/main" id="{9EB33E0A-A37B-D7D9-64C6-7285A0DC6DF1}"/>
              </a:ext>
            </a:extLst>
          </p:cNvPr>
          <p:cNvSpPr txBox="1"/>
          <p:nvPr>
            <p:custDataLst>
              <p:tags r:id="rId14"/>
            </p:custDataLst>
          </p:nvPr>
        </p:nvSpPr>
        <p:spPr>
          <a:xfrm>
            <a:off x="2347036" y="4876729"/>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Aug 2026</a:t>
            </a:r>
            <a:endParaRPr lang="zh-CN" altLang="en-US" sz="1067" b="1" i="1">
              <a:solidFill>
                <a:schemeClr val="bg1">
                  <a:lumMod val="65000"/>
                </a:schemeClr>
              </a:solidFill>
              <a:ea typeface="等线" panose="02010600030101010101" pitchFamily="2" charset="-122"/>
            </a:endParaRPr>
          </a:p>
        </p:txBody>
      </p:sp>
    </p:spTree>
    <p:extLst>
      <p:ext uri="{BB962C8B-B14F-4D97-AF65-F5344CB8AC3E}">
        <p14:creationId xmlns:p14="http://schemas.microsoft.com/office/powerpoint/2010/main" val="4037517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Breast Cancer 2L</a:t>
            </a:r>
            <a:endParaRPr lang="zh-CN" altLang="en-US">
              <a:solidFill>
                <a:schemeClr val="bg1">
                  <a:lumMod val="75000"/>
                </a:schemeClr>
              </a:solidFill>
              <a:latin typeface="+mn-lt"/>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8246120" y="2249919"/>
            <a:ext cx="491666"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3" y="1124712"/>
          <a:ext cx="9012870" cy="675640"/>
        </p:xfrm>
        <a:graphic>
          <a:graphicData uri="http://schemas.openxmlformats.org/drawingml/2006/table">
            <a:tbl>
              <a:tblPr firstRow="1" bandRow="1"/>
              <a:tblGrid>
                <a:gridCol w="500715">
                  <a:extLst>
                    <a:ext uri="{9D8B030D-6E8A-4147-A177-3AD203B41FA5}">
                      <a16:colId xmlns:a16="http://schemas.microsoft.com/office/drawing/2014/main" val="2466911814"/>
                    </a:ext>
                  </a:extLst>
                </a:gridCol>
                <a:gridCol w="500715">
                  <a:extLst>
                    <a:ext uri="{9D8B030D-6E8A-4147-A177-3AD203B41FA5}">
                      <a16:colId xmlns:a16="http://schemas.microsoft.com/office/drawing/2014/main" val="3023231563"/>
                    </a:ext>
                  </a:extLst>
                </a:gridCol>
                <a:gridCol w="500715">
                  <a:extLst>
                    <a:ext uri="{9D8B030D-6E8A-4147-A177-3AD203B41FA5}">
                      <a16:colId xmlns:a16="http://schemas.microsoft.com/office/drawing/2014/main" val="3411862845"/>
                    </a:ext>
                  </a:extLst>
                </a:gridCol>
                <a:gridCol w="500715">
                  <a:extLst>
                    <a:ext uri="{9D8B030D-6E8A-4147-A177-3AD203B41FA5}">
                      <a16:colId xmlns:a16="http://schemas.microsoft.com/office/drawing/2014/main" val="2851474774"/>
                    </a:ext>
                  </a:extLst>
                </a:gridCol>
                <a:gridCol w="500715">
                  <a:extLst>
                    <a:ext uri="{9D8B030D-6E8A-4147-A177-3AD203B41FA5}">
                      <a16:colId xmlns:a16="http://schemas.microsoft.com/office/drawing/2014/main" val="107595344"/>
                    </a:ext>
                  </a:extLst>
                </a:gridCol>
                <a:gridCol w="500715">
                  <a:extLst>
                    <a:ext uri="{9D8B030D-6E8A-4147-A177-3AD203B41FA5}">
                      <a16:colId xmlns:a16="http://schemas.microsoft.com/office/drawing/2014/main" val="1666999431"/>
                    </a:ext>
                  </a:extLst>
                </a:gridCol>
                <a:gridCol w="500715">
                  <a:extLst>
                    <a:ext uri="{9D8B030D-6E8A-4147-A177-3AD203B41FA5}">
                      <a16:colId xmlns:a16="http://schemas.microsoft.com/office/drawing/2014/main" val="3696607442"/>
                    </a:ext>
                  </a:extLst>
                </a:gridCol>
                <a:gridCol w="500715">
                  <a:extLst>
                    <a:ext uri="{9D8B030D-6E8A-4147-A177-3AD203B41FA5}">
                      <a16:colId xmlns:a16="http://schemas.microsoft.com/office/drawing/2014/main" val="223989776"/>
                    </a:ext>
                  </a:extLst>
                </a:gridCol>
                <a:gridCol w="500715">
                  <a:extLst>
                    <a:ext uri="{9D8B030D-6E8A-4147-A177-3AD203B41FA5}">
                      <a16:colId xmlns:a16="http://schemas.microsoft.com/office/drawing/2014/main" val="124731204"/>
                    </a:ext>
                  </a:extLst>
                </a:gridCol>
                <a:gridCol w="500715">
                  <a:extLst>
                    <a:ext uri="{9D8B030D-6E8A-4147-A177-3AD203B41FA5}">
                      <a16:colId xmlns:a16="http://schemas.microsoft.com/office/drawing/2014/main" val="3066978585"/>
                    </a:ext>
                  </a:extLst>
                </a:gridCol>
                <a:gridCol w="500715">
                  <a:extLst>
                    <a:ext uri="{9D8B030D-6E8A-4147-A177-3AD203B41FA5}">
                      <a16:colId xmlns:a16="http://schemas.microsoft.com/office/drawing/2014/main" val="1064917641"/>
                    </a:ext>
                  </a:extLst>
                </a:gridCol>
                <a:gridCol w="500715">
                  <a:extLst>
                    <a:ext uri="{9D8B030D-6E8A-4147-A177-3AD203B41FA5}">
                      <a16:colId xmlns:a16="http://schemas.microsoft.com/office/drawing/2014/main" val="4221117315"/>
                    </a:ext>
                  </a:extLst>
                </a:gridCol>
                <a:gridCol w="500715">
                  <a:extLst>
                    <a:ext uri="{9D8B030D-6E8A-4147-A177-3AD203B41FA5}">
                      <a16:colId xmlns:a16="http://schemas.microsoft.com/office/drawing/2014/main" val="3266065341"/>
                    </a:ext>
                  </a:extLst>
                </a:gridCol>
                <a:gridCol w="500715">
                  <a:extLst>
                    <a:ext uri="{9D8B030D-6E8A-4147-A177-3AD203B41FA5}">
                      <a16:colId xmlns:a16="http://schemas.microsoft.com/office/drawing/2014/main" val="2374051224"/>
                    </a:ext>
                  </a:extLst>
                </a:gridCol>
                <a:gridCol w="500715">
                  <a:extLst>
                    <a:ext uri="{9D8B030D-6E8A-4147-A177-3AD203B41FA5}">
                      <a16:colId xmlns:a16="http://schemas.microsoft.com/office/drawing/2014/main" val="1840388365"/>
                    </a:ext>
                  </a:extLst>
                </a:gridCol>
                <a:gridCol w="500715">
                  <a:extLst>
                    <a:ext uri="{9D8B030D-6E8A-4147-A177-3AD203B41FA5}">
                      <a16:colId xmlns:a16="http://schemas.microsoft.com/office/drawing/2014/main" val="267750830"/>
                    </a:ext>
                  </a:extLst>
                </a:gridCol>
                <a:gridCol w="500715">
                  <a:extLst>
                    <a:ext uri="{9D8B030D-6E8A-4147-A177-3AD203B41FA5}">
                      <a16:colId xmlns:a16="http://schemas.microsoft.com/office/drawing/2014/main" val="907388156"/>
                    </a:ext>
                  </a:extLst>
                </a:gridCol>
                <a:gridCol w="500715">
                  <a:extLst>
                    <a:ext uri="{9D8B030D-6E8A-4147-A177-3AD203B41FA5}">
                      <a16:colId xmlns:a16="http://schemas.microsoft.com/office/drawing/2014/main" val="1829146312"/>
                    </a:ext>
                  </a:extLst>
                </a:gridCol>
              </a:tblGrid>
              <a:tr h="259080">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230795" y="1296176"/>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9226" y="2288550"/>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1479-0017</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Breast-2</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4226928" y="2594570"/>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3912225" y="2147397"/>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Q3 2027</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4442683" y="2257299"/>
            <a:ext cx="3793353"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Breast Cancar 2L</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3573036" y="4982811"/>
            <a:ext cx="955141" cy="37815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 </a:t>
            </a:r>
            <a:r>
              <a:rPr lang="en-US" altLang="zh-CN" sz="800" b="1">
                <a:solidFill>
                  <a:srgbClr val="000000"/>
                </a:solidFill>
                <a:ea typeface="等线" panose="02010600030101010101" pitchFamily="2" charset="-122"/>
                <a:cs typeface="Calibri" panose="020F0502020204030204" pitchFamily="34" charset="0"/>
              </a:rPr>
              <a:t>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5"/>
            </p:custDataLst>
          </p:nvPr>
        </p:nvSpPr>
        <p:spPr bwMode="auto">
          <a:xfrm rot="16200000">
            <a:off x="3582531" y="5314965"/>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6"/>
            </p:custDataLst>
          </p:nvPr>
        </p:nvSpPr>
        <p:spPr>
          <a:xfrm>
            <a:off x="3403652" y="5406867"/>
            <a:ext cx="928201" cy="164212"/>
          </a:xfrm>
          <a:prstGeom prst="rect">
            <a:avLst/>
          </a:prstGeom>
          <a:noFill/>
        </p:spPr>
        <p:txBody>
          <a:bodyPr vert="horz" wrap="square" lIns="0" tIns="0" rIns="0" bIns="0" rtlCol="0" anchor="ctr" anchorCtr="0">
            <a:spAutoFit/>
          </a:bodyPr>
          <a:lstStyle/>
          <a:p>
            <a:pPr defTabSz="1219108">
              <a:defRPr/>
            </a:pPr>
            <a:r>
              <a:rPr lang="en-US" altLang="zh-CN" sz="1050" b="1">
                <a:solidFill>
                  <a:srgbClr val="44546A"/>
                </a:solidFill>
                <a:ea typeface="等线" panose="02010600030101010101" pitchFamily="2" charset="-122"/>
                <a:cs typeface="Calibri" panose="020F0502020204030204" pitchFamily="34" charset="0"/>
              </a:rPr>
              <a:t>CTA Sub</a:t>
            </a:r>
            <a:endParaRPr lang="zh-CN" altLang="en-US" sz="1050" b="1">
              <a:solidFill>
                <a:srgbClr val="44546A"/>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4333529" y="24965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7762986" y="2052353"/>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Q4 2030</a:t>
            </a:r>
          </a:p>
        </p:txBody>
      </p:sp>
      <p:pic>
        <p:nvPicPr>
          <p:cNvPr id="27" name="Graphic 318" descr="Flag with solid fill">
            <a:extLst>
              <a:ext uri="{FF2B5EF4-FFF2-40B4-BE49-F238E27FC236}">
                <a16:creationId xmlns:a16="http://schemas.microsoft.com/office/drawing/2014/main" id="{326B3AA7-1994-0A70-FA4B-7BAAF662448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692812" y="2287293"/>
            <a:ext cx="210312" cy="210312"/>
          </a:xfrm>
          <a:prstGeom prst="rect">
            <a:avLst/>
          </a:prstGeom>
        </p:spPr>
      </p:pic>
      <p:sp>
        <p:nvSpPr>
          <p:cNvPr id="28" name="Rectangle 55">
            <a:extLst>
              <a:ext uri="{FF2B5EF4-FFF2-40B4-BE49-F238E27FC236}">
                <a16:creationId xmlns:a16="http://schemas.microsoft.com/office/drawing/2014/main" id="{AC1C3F53-0FEF-4BC6-5139-431393883203}"/>
              </a:ext>
            </a:extLst>
          </p:cNvPr>
          <p:cNvSpPr/>
          <p:nvPr/>
        </p:nvSpPr>
        <p:spPr>
          <a:xfrm>
            <a:off x="9352026" y="2489566"/>
            <a:ext cx="152841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2L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5" name="Rectangle 55">
            <a:extLst>
              <a:ext uri="{FF2B5EF4-FFF2-40B4-BE49-F238E27FC236}">
                <a16:creationId xmlns:a16="http://schemas.microsoft.com/office/drawing/2014/main" id="{7FAFB2CD-5EA8-4DEA-86F3-9C8A87920107}"/>
              </a:ext>
            </a:extLst>
          </p:cNvPr>
          <p:cNvSpPr/>
          <p:nvPr/>
        </p:nvSpPr>
        <p:spPr>
          <a:xfrm>
            <a:off x="8026768" y="2626034"/>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36" name="Star: 4 Points 143">
            <a:extLst>
              <a:ext uri="{FF2B5EF4-FFF2-40B4-BE49-F238E27FC236}">
                <a16:creationId xmlns:a16="http://schemas.microsoft.com/office/drawing/2014/main" id="{AA977709-00AC-A258-EBD2-FA5A55E1AAC7}"/>
              </a:ext>
            </a:extLst>
          </p:cNvPr>
          <p:cNvSpPr/>
          <p:nvPr/>
        </p:nvSpPr>
        <p:spPr bwMode="auto">
          <a:xfrm>
            <a:off x="8132723" y="247838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337" name="Group 11">
            <a:extLst>
              <a:ext uri="{FF2B5EF4-FFF2-40B4-BE49-F238E27FC236}">
                <a16:creationId xmlns:a16="http://schemas.microsoft.com/office/drawing/2014/main" id="{9AB2DDC9-6218-5691-F2F8-00D92F59950F}"/>
              </a:ext>
            </a:extLst>
          </p:cNvPr>
          <p:cNvGrpSpPr/>
          <p:nvPr/>
        </p:nvGrpSpPr>
        <p:grpSpPr>
          <a:xfrm>
            <a:off x="8612077" y="2058562"/>
            <a:ext cx="823524" cy="769129"/>
            <a:chOff x="6617813" y="4126731"/>
            <a:chExt cx="823524" cy="769129"/>
          </a:xfrm>
        </p:grpSpPr>
        <p:sp>
          <p:nvSpPr>
            <p:cNvPr id="338" name="Rectangle 100">
              <a:extLst>
                <a:ext uri="{FF2B5EF4-FFF2-40B4-BE49-F238E27FC236}">
                  <a16:creationId xmlns:a16="http://schemas.microsoft.com/office/drawing/2014/main" id="{CF7C1C79-3761-E24C-9199-8C7D45FED26B}"/>
                </a:ext>
              </a:extLst>
            </p:cNvPr>
            <p:cNvSpPr/>
            <p:nvPr/>
          </p:nvSpPr>
          <p:spPr>
            <a:xfrm>
              <a:off x="6617813" y="412673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39" name="Rectangle 55">
              <a:extLst>
                <a:ext uri="{FF2B5EF4-FFF2-40B4-BE49-F238E27FC236}">
                  <a16:creationId xmlns:a16="http://schemas.microsoft.com/office/drawing/2014/main" id="{29F01DE3-80DF-0B3F-89B8-02D399F713E8}"/>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40" name="五角星 55">
              <a:extLst>
                <a:ext uri="{FF2B5EF4-FFF2-40B4-BE49-F238E27FC236}">
                  <a16:creationId xmlns:a16="http://schemas.microsoft.com/office/drawing/2014/main" id="{22D7A13C-1357-29AB-7AC3-4D7453CDC67B}"/>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41" name="Rectangle 100">
            <a:extLst>
              <a:ext uri="{FF2B5EF4-FFF2-40B4-BE49-F238E27FC236}">
                <a16:creationId xmlns:a16="http://schemas.microsoft.com/office/drawing/2014/main" id="{EC3967A0-9659-CF4D-E773-DC0020942233}"/>
              </a:ext>
            </a:extLst>
          </p:cNvPr>
          <p:cNvSpPr/>
          <p:nvPr/>
        </p:nvSpPr>
        <p:spPr>
          <a:xfrm>
            <a:off x="9523853" y="202719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Q2 2032</a:t>
            </a:r>
            <a:endParaRPr lang="en-US" altLang="zh-CN" sz="1067" b="1">
              <a:solidFill>
                <a:srgbClr val="44546A"/>
              </a:solidFill>
              <a:ea typeface="等线" panose="02010600030101010101" pitchFamily="2" charset="-122"/>
              <a:cs typeface="Calibri" panose="020F0502020204030204" pitchFamily="34" charset="0"/>
            </a:endParaRPr>
          </a:p>
        </p:txBody>
      </p:sp>
      <p:sp>
        <p:nvSpPr>
          <p:cNvPr id="342" name="TextBox 64">
            <a:extLst>
              <a:ext uri="{FF2B5EF4-FFF2-40B4-BE49-F238E27FC236}">
                <a16:creationId xmlns:a16="http://schemas.microsoft.com/office/drawing/2014/main" id="{1F76A720-79C8-5456-39D1-6121F779C54C}"/>
              </a:ext>
            </a:extLst>
          </p:cNvPr>
          <p:cNvSpPr txBox="1"/>
          <p:nvPr/>
        </p:nvSpPr>
        <p:spPr>
          <a:xfrm>
            <a:off x="60398" y="5019903"/>
            <a:ext cx="1246117"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Phase 3 </a:t>
            </a:r>
          </a:p>
          <a:p>
            <a:pPr algn="ctr" defTabSz="914377">
              <a:defRPr/>
            </a:pPr>
            <a:r>
              <a:rPr lang="en-US" altLang="zh-CN" sz="1067" b="1">
                <a:solidFill>
                  <a:srgbClr val="08312A"/>
                </a:solidFill>
                <a:cs typeface="Calibri" panose="020F0502020204030204" pitchFamily="34" charset="0"/>
              </a:rPr>
              <a:t>1479-0017</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Breast-2 </a:t>
            </a:r>
          </a:p>
        </p:txBody>
      </p:sp>
      <p:sp>
        <p:nvSpPr>
          <p:cNvPr id="344" name="OTLSHAPE_T_5a934a26f311425e8ebaa0f45e6533ad_Shape">
            <a:extLst>
              <a:ext uri="{FF2B5EF4-FFF2-40B4-BE49-F238E27FC236}">
                <a16:creationId xmlns:a16="http://schemas.microsoft.com/office/drawing/2014/main" id="{41E0D9F5-DB93-500F-367D-884D55DBFE9A}"/>
              </a:ext>
            </a:extLst>
          </p:cNvPr>
          <p:cNvSpPr/>
          <p:nvPr>
            <p:custDataLst>
              <p:tags r:id="rId7"/>
            </p:custDataLst>
          </p:nvPr>
        </p:nvSpPr>
        <p:spPr bwMode="auto">
          <a:xfrm>
            <a:off x="8270844" y="4960729"/>
            <a:ext cx="491666" cy="34124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45" name="Rectangle 52">
            <a:extLst>
              <a:ext uri="{FF2B5EF4-FFF2-40B4-BE49-F238E27FC236}">
                <a16:creationId xmlns:a16="http://schemas.microsoft.com/office/drawing/2014/main" id="{CA8BAE5A-A411-5F1C-814B-7AC8D6DDD232}"/>
              </a:ext>
            </a:extLst>
          </p:cNvPr>
          <p:cNvSpPr/>
          <p:nvPr/>
        </p:nvSpPr>
        <p:spPr>
          <a:xfrm>
            <a:off x="4318813" y="5298000"/>
            <a:ext cx="413896" cy="256545"/>
          </a:xfrm>
          <a:prstGeom prst="rect">
            <a:avLst/>
          </a:prstGeom>
        </p:spPr>
        <p:txBody>
          <a:bodyPr wrap="none">
            <a:spAutoFit/>
          </a:bodyPr>
          <a:lstStyle/>
          <a:p>
            <a:pPr algn="ctr" defTabSz="1219108">
              <a:defRPr/>
            </a:pPr>
            <a:r>
              <a:rPr lang="en-US" altLang="zh-CN" sz="1050" b="1">
                <a:solidFill>
                  <a:srgbClr val="44546A"/>
                </a:solidFill>
                <a:ea typeface="等线" panose="02010600030101010101" pitchFamily="2" charset="-122"/>
              </a:rPr>
              <a:t>SIV</a:t>
            </a:r>
            <a:endParaRPr lang="zh-CN" altLang="en-US" sz="1050" b="1">
              <a:solidFill>
                <a:srgbClr val="44546A"/>
              </a:solidFill>
              <a:ea typeface="等线" panose="02010600030101010101" pitchFamily="2" charset="-122"/>
            </a:endParaRPr>
          </a:p>
        </p:txBody>
      </p:sp>
      <p:sp>
        <p:nvSpPr>
          <p:cNvPr id="346" name="OTLSHAPE_T_e17f3958430f4cff8650518c93c7635e_StartDate">
            <a:extLst>
              <a:ext uri="{FF2B5EF4-FFF2-40B4-BE49-F238E27FC236}">
                <a16:creationId xmlns:a16="http://schemas.microsoft.com/office/drawing/2014/main" id="{0EF760A5-DFE3-9631-FBE1-3356F9AE1CC8}"/>
              </a:ext>
            </a:extLst>
          </p:cNvPr>
          <p:cNvSpPr txBox="1"/>
          <p:nvPr>
            <p:custDataLst>
              <p:tags r:id="rId8"/>
            </p:custDataLst>
          </p:nvPr>
        </p:nvSpPr>
        <p:spPr>
          <a:xfrm>
            <a:off x="4106214" y="4786037"/>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Q3 2027</a:t>
            </a:r>
            <a:endParaRPr lang="zh-CN" altLang="en-US" sz="1067" b="1" i="1">
              <a:solidFill>
                <a:schemeClr val="bg1">
                  <a:lumMod val="65000"/>
                </a:schemeClr>
              </a:solidFill>
              <a:ea typeface="等线" panose="02010600030101010101" pitchFamily="2" charset="-122"/>
            </a:endParaRPr>
          </a:p>
        </p:txBody>
      </p:sp>
      <p:sp>
        <p:nvSpPr>
          <p:cNvPr id="347" name="OTLSHAPE_T_e17f3958430f4cff8650518c93c7635e_Shape">
            <a:extLst>
              <a:ext uri="{FF2B5EF4-FFF2-40B4-BE49-F238E27FC236}">
                <a16:creationId xmlns:a16="http://schemas.microsoft.com/office/drawing/2014/main" id="{90B37DD0-6254-31DF-B251-5B573009D447}"/>
              </a:ext>
            </a:extLst>
          </p:cNvPr>
          <p:cNvSpPr/>
          <p:nvPr>
            <p:custDataLst>
              <p:tags r:id="rId9"/>
            </p:custDataLst>
          </p:nvPr>
        </p:nvSpPr>
        <p:spPr bwMode="auto">
          <a:xfrm>
            <a:off x="4547392" y="4960729"/>
            <a:ext cx="3698727" cy="34124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Breast Cancar 2L</a:t>
            </a:r>
            <a:endParaRPr lang="en-US" altLang="zh-CN" sz="1067" b="1">
              <a:solidFill>
                <a:srgbClr val="000000"/>
              </a:solidFill>
              <a:ea typeface="等线" panose="02010600030101010101" pitchFamily="2" charset="-122"/>
              <a:cs typeface="Calibri" panose="020F0502020204030204" pitchFamily="34" charset="0"/>
            </a:endParaRPr>
          </a:p>
        </p:txBody>
      </p:sp>
      <p:sp>
        <p:nvSpPr>
          <p:cNvPr id="348" name="Star: 4 Points 143">
            <a:extLst>
              <a:ext uri="{FF2B5EF4-FFF2-40B4-BE49-F238E27FC236}">
                <a16:creationId xmlns:a16="http://schemas.microsoft.com/office/drawing/2014/main" id="{3CE49C9F-3F5D-16B9-5487-3408FEB0EA41}"/>
              </a:ext>
            </a:extLst>
          </p:cNvPr>
          <p:cNvSpPr/>
          <p:nvPr/>
        </p:nvSpPr>
        <p:spPr bwMode="auto">
          <a:xfrm>
            <a:off x="4438238" y="52000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49" name="Rectangle 100">
            <a:extLst>
              <a:ext uri="{FF2B5EF4-FFF2-40B4-BE49-F238E27FC236}">
                <a16:creationId xmlns:a16="http://schemas.microsoft.com/office/drawing/2014/main" id="{86EBDEA4-D726-B311-65DB-0FACE64BDBAD}"/>
              </a:ext>
            </a:extLst>
          </p:cNvPr>
          <p:cNvSpPr/>
          <p:nvPr/>
        </p:nvSpPr>
        <p:spPr>
          <a:xfrm>
            <a:off x="7803260" y="4736011"/>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Q4 2030</a:t>
            </a:r>
          </a:p>
        </p:txBody>
      </p:sp>
      <p:pic>
        <p:nvPicPr>
          <p:cNvPr id="350" name="Graphic 318" descr="Flag with solid fill">
            <a:extLst>
              <a:ext uri="{FF2B5EF4-FFF2-40B4-BE49-F238E27FC236}">
                <a16:creationId xmlns:a16="http://schemas.microsoft.com/office/drawing/2014/main" id="{31A39D78-762B-4DCB-D03E-312577438F0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501956" y="5046139"/>
            <a:ext cx="210312" cy="210312"/>
          </a:xfrm>
          <a:prstGeom prst="rect">
            <a:avLst/>
          </a:prstGeom>
        </p:spPr>
      </p:pic>
      <p:sp>
        <p:nvSpPr>
          <p:cNvPr id="351" name="Rectangle 55">
            <a:extLst>
              <a:ext uri="{FF2B5EF4-FFF2-40B4-BE49-F238E27FC236}">
                <a16:creationId xmlns:a16="http://schemas.microsoft.com/office/drawing/2014/main" id="{43C4CED4-442B-9BEC-EA57-1777FF06D778}"/>
              </a:ext>
            </a:extLst>
          </p:cNvPr>
          <p:cNvSpPr/>
          <p:nvPr/>
        </p:nvSpPr>
        <p:spPr>
          <a:xfrm>
            <a:off x="9236844" y="5226577"/>
            <a:ext cx="1931146"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 BC 32 FA</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2" name="Rectangle 55">
            <a:extLst>
              <a:ext uri="{FF2B5EF4-FFF2-40B4-BE49-F238E27FC236}">
                <a16:creationId xmlns:a16="http://schemas.microsoft.com/office/drawing/2014/main" id="{6593ABD5-EE96-3161-1BFB-2B16F822678B}"/>
              </a:ext>
            </a:extLst>
          </p:cNvPr>
          <p:cNvSpPr/>
          <p:nvPr/>
        </p:nvSpPr>
        <p:spPr>
          <a:xfrm>
            <a:off x="8094534" y="5329464"/>
            <a:ext cx="389850" cy="256546"/>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3" name="Star: 4 Points 143">
            <a:extLst>
              <a:ext uri="{FF2B5EF4-FFF2-40B4-BE49-F238E27FC236}">
                <a16:creationId xmlns:a16="http://schemas.microsoft.com/office/drawing/2014/main" id="{C505C985-89B5-A223-0E5C-900826CD9CC6}"/>
              </a:ext>
            </a:extLst>
          </p:cNvPr>
          <p:cNvSpPr/>
          <p:nvPr/>
        </p:nvSpPr>
        <p:spPr bwMode="auto">
          <a:xfrm>
            <a:off x="8200489" y="51818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354" name="Group 11">
            <a:extLst>
              <a:ext uri="{FF2B5EF4-FFF2-40B4-BE49-F238E27FC236}">
                <a16:creationId xmlns:a16="http://schemas.microsoft.com/office/drawing/2014/main" id="{8DCEABE3-869B-8464-6648-9D4AAE23AFE0}"/>
              </a:ext>
            </a:extLst>
          </p:cNvPr>
          <p:cNvGrpSpPr/>
          <p:nvPr/>
        </p:nvGrpSpPr>
        <p:grpSpPr>
          <a:xfrm>
            <a:off x="8724479" y="4733866"/>
            <a:ext cx="814898" cy="778672"/>
            <a:chOff x="6642720" y="4117188"/>
            <a:chExt cx="814898" cy="778672"/>
          </a:xfrm>
        </p:grpSpPr>
        <p:sp>
          <p:nvSpPr>
            <p:cNvPr id="355" name="Rectangle 100">
              <a:extLst>
                <a:ext uri="{FF2B5EF4-FFF2-40B4-BE49-F238E27FC236}">
                  <a16:creationId xmlns:a16="http://schemas.microsoft.com/office/drawing/2014/main" id="{2ADF4F60-AD61-8F89-E00F-C16ECCD4FD62}"/>
                </a:ext>
              </a:extLst>
            </p:cNvPr>
            <p:cNvSpPr/>
            <p:nvPr/>
          </p:nvSpPr>
          <p:spPr>
            <a:xfrm>
              <a:off x="6699076" y="4117188"/>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Q4 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56" name="Rectangle 55">
              <a:extLst>
                <a:ext uri="{FF2B5EF4-FFF2-40B4-BE49-F238E27FC236}">
                  <a16:creationId xmlns:a16="http://schemas.microsoft.com/office/drawing/2014/main" id="{AF47D246-4420-A7FE-C288-E5C6E344439B}"/>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57" name="五角星 55">
              <a:extLst>
                <a:ext uri="{FF2B5EF4-FFF2-40B4-BE49-F238E27FC236}">
                  <a16:creationId xmlns:a16="http://schemas.microsoft.com/office/drawing/2014/main" id="{D2EC8F02-5C3D-2750-F248-018DBA584254}"/>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58" name="Rectangle 100">
            <a:extLst>
              <a:ext uri="{FF2B5EF4-FFF2-40B4-BE49-F238E27FC236}">
                <a16:creationId xmlns:a16="http://schemas.microsoft.com/office/drawing/2014/main" id="{3D84A520-E8E2-02E5-09A6-7EA0DD5B0EB7}"/>
              </a:ext>
            </a:extLst>
          </p:cNvPr>
          <p:cNvSpPr/>
          <p:nvPr/>
        </p:nvSpPr>
        <p:spPr>
          <a:xfrm>
            <a:off x="9443875" y="4759483"/>
            <a:ext cx="758542"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Q3 2032</a:t>
            </a:r>
            <a:endParaRPr lang="en-US" altLang="zh-CN" sz="1067" b="1">
              <a:solidFill>
                <a:srgbClr val="44546A"/>
              </a:solidFill>
              <a:ea typeface="等线" panose="02010600030101010101" pitchFamily="2" charset="-122"/>
              <a:cs typeface="Calibri" panose="020F0502020204030204" pitchFamily="34" charset="0"/>
            </a:endParaRPr>
          </a:p>
        </p:txBody>
      </p:sp>
      <p:sp>
        <p:nvSpPr>
          <p:cNvPr id="359" name="OTLSHAPE_T_e17f3958430f4cff8650518c93c7635e_StartDate">
            <a:extLst>
              <a:ext uri="{FF2B5EF4-FFF2-40B4-BE49-F238E27FC236}">
                <a16:creationId xmlns:a16="http://schemas.microsoft.com/office/drawing/2014/main" id="{C55FD99D-3295-C64D-E781-1F87D7835FB0}"/>
              </a:ext>
            </a:extLst>
          </p:cNvPr>
          <p:cNvSpPr txBox="1"/>
          <p:nvPr>
            <p:custDataLst>
              <p:tags r:id="rId10"/>
            </p:custDataLst>
          </p:nvPr>
        </p:nvSpPr>
        <p:spPr>
          <a:xfrm>
            <a:off x="3213042" y="4797488"/>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Mar 2027</a:t>
            </a:r>
            <a:endParaRPr lang="zh-CN" altLang="en-US" sz="1067" b="1" i="1">
              <a:solidFill>
                <a:schemeClr val="bg1">
                  <a:lumMod val="65000"/>
                </a:schemeClr>
              </a:solidFill>
              <a:ea typeface="等线" panose="02010600030101010101" pitchFamily="2" charset="-122"/>
            </a:endParaRPr>
          </a:p>
        </p:txBody>
      </p:sp>
      <p:sp>
        <p:nvSpPr>
          <p:cNvPr id="360" name="OTLSHAPE_T_e17f3958430f4cff8650518c93c7635e_Shape">
            <a:extLst>
              <a:ext uri="{FF2B5EF4-FFF2-40B4-BE49-F238E27FC236}">
                <a16:creationId xmlns:a16="http://schemas.microsoft.com/office/drawing/2014/main" id="{CC1B2CCF-BD93-BAA9-0962-A885F2D80878}"/>
              </a:ext>
            </a:extLst>
          </p:cNvPr>
          <p:cNvSpPr/>
          <p:nvPr>
            <p:custDataLst>
              <p:tags r:id="rId11"/>
            </p:custDataLst>
          </p:nvPr>
        </p:nvSpPr>
        <p:spPr bwMode="auto">
          <a:xfrm>
            <a:off x="2955156" y="4976699"/>
            <a:ext cx="590880" cy="378151"/>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1067" b="1">
              <a:solidFill>
                <a:prstClr val="black"/>
              </a:solidFill>
              <a:ea typeface="等线" panose="02010600030101010101" pitchFamily="2" charset="-122"/>
              <a:cs typeface="Calibri" panose="020F0502020204030204" pitchFamily="34" charset="0"/>
            </a:endParaRPr>
          </a:p>
        </p:txBody>
      </p:sp>
      <p:sp>
        <p:nvSpPr>
          <p:cNvPr id="361" name="OTLSHAPE_M_39ea6ebc19a94c9fab6ef5006c31df58_Shape">
            <a:extLst>
              <a:ext uri="{FF2B5EF4-FFF2-40B4-BE49-F238E27FC236}">
                <a16:creationId xmlns:a16="http://schemas.microsoft.com/office/drawing/2014/main" id="{5D1B8188-53DE-B90D-2F2D-C01CE079AECA}"/>
              </a:ext>
            </a:extLst>
          </p:cNvPr>
          <p:cNvSpPr/>
          <p:nvPr>
            <p:custDataLst>
              <p:tags r:id="rId12"/>
            </p:custDataLst>
          </p:nvPr>
        </p:nvSpPr>
        <p:spPr bwMode="auto">
          <a:xfrm rot="16200000">
            <a:off x="2915463" y="5319531"/>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362" name="OTLSHAPE_M_39ea6ebc19a94c9fab6ef5006c31df58_Title">
            <a:extLst>
              <a:ext uri="{FF2B5EF4-FFF2-40B4-BE49-F238E27FC236}">
                <a16:creationId xmlns:a16="http://schemas.microsoft.com/office/drawing/2014/main" id="{DF7CAACB-510B-D134-7428-D174D4CE3DBB}"/>
              </a:ext>
            </a:extLst>
          </p:cNvPr>
          <p:cNvSpPr txBox="1"/>
          <p:nvPr>
            <p:custDataLst>
              <p:tags r:id="rId13"/>
            </p:custDataLst>
          </p:nvPr>
        </p:nvSpPr>
        <p:spPr>
          <a:xfrm>
            <a:off x="2387854" y="5397253"/>
            <a:ext cx="928201" cy="323165"/>
          </a:xfrm>
          <a:prstGeom prst="rect">
            <a:avLst/>
          </a:prstGeom>
          <a:noFill/>
        </p:spPr>
        <p:txBody>
          <a:bodyPr vert="horz" wrap="square" lIns="0" tIns="0" rIns="0" bIns="0" rtlCol="0" anchor="ctr" anchorCtr="0">
            <a:spAutoFit/>
          </a:bodyPr>
          <a:lstStyle/>
          <a:p>
            <a:pPr algn="ctr" defTabSz="1219108">
              <a:defRPr/>
            </a:pPr>
            <a:r>
              <a:rPr lang="en-US" altLang="zh-CN" sz="1050" b="1">
                <a:solidFill>
                  <a:srgbClr val="44546A"/>
                </a:solidFill>
                <a:ea typeface="等线" panose="02010600030101010101" pitchFamily="2" charset="-122"/>
                <a:cs typeface="Calibri" panose="020F0502020204030204" pitchFamily="34" charset="0"/>
              </a:rPr>
              <a:t>Pre-IND Submission </a:t>
            </a:r>
            <a:endParaRPr lang="zh-CN" altLang="en-US" sz="1050" b="1">
              <a:solidFill>
                <a:srgbClr val="44546A"/>
              </a:solidFill>
              <a:ea typeface="等线" panose="02010600030101010101" pitchFamily="2" charset="-122"/>
              <a:cs typeface="Calibri" panose="020F0502020204030204" pitchFamily="34" charset="0"/>
            </a:endParaRPr>
          </a:p>
        </p:txBody>
      </p:sp>
      <p:sp>
        <p:nvSpPr>
          <p:cNvPr id="363" name="OTLSHAPE_T_e17f3958430f4cff8650518c93c7635e_StartDate">
            <a:extLst>
              <a:ext uri="{FF2B5EF4-FFF2-40B4-BE49-F238E27FC236}">
                <a16:creationId xmlns:a16="http://schemas.microsoft.com/office/drawing/2014/main" id="{9EB33E0A-A37B-D7D9-64C6-7285A0DC6DF1}"/>
              </a:ext>
            </a:extLst>
          </p:cNvPr>
          <p:cNvSpPr txBox="1"/>
          <p:nvPr>
            <p:custDataLst>
              <p:tags r:id="rId14"/>
            </p:custDataLst>
          </p:nvPr>
        </p:nvSpPr>
        <p:spPr>
          <a:xfrm>
            <a:off x="2463552" y="479971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Nov 2026</a:t>
            </a:r>
            <a:endParaRPr lang="zh-CN" altLang="en-US" sz="1067" b="1" i="1">
              <a:solidFill>
                <a:schemeClr val="bg1">
                  <a:lumMod val="65000"/>
                </a:schemeClr>
              </a:solidFill>
              <a:ea typeface="等线" panose="02010600030101010101" pitchFamily="2" charset="-122"/>
            </a:endParaRPr>
          </a:p>
        </p:txBody>
      </p:sp>
    </p:spTree>
    <p:extLst>
      <p:ext uri="{BB962C8B-B14F-4D97-AF65-F5344CB8AC3E}">
        <p14:creationId xmlns:p14="http://schemas.microsoft.com/office/powerpoint/2010/main" val="4024323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A0605C-DE8C-7595-C531-9A6A63957C02}"/>
              </a:ext>
            </a:extLst>
          </p:cNvPr>
          <p:cNvSpPr>
            <a:spLocks noGrp="1"/>
          </p:cNvSpPr>
          <p:nvPr>
            <p:ph type="title"/>
          </p:nvPr>
        </p:nvSpPr>
        <p:spPr/>
        <p:txBody>
          <a:bodyPr/>
          <a:lstStyle/>
          <a:p>
            <a:r>
              <a:rPr lang="en-US" altLang="zh-CN" err="1"/>
              <a:t>Obrixtamig</a:t>
            </a:r>
            <a:r>
              <a:rPr lang="en-US" altLang="zh-CN"/>
              <a:t> </a:t>
            </a:r>
            <a:br>
              <a:rPr lang="en-US" altLang="zh-CN"/>
            </a:br>
            <a:r>
              <a:rPr lang="en-US" altLang="zh-CN"/>
              <a:t>(BI 764532, DLL3/CD3 </a:t>
            </a:r>
            <a:r>
              <a:rPr lang="en-US" altLang="zh-CN" err="1"/>
              <a:t>TcE</a:t>
            </a:r>
            <a:r>
              <a:rPr lang="en-US" altLang="zh-CN"/>
              <a:t>)</a:t>
            </a:r>
            <a:endParaRPr lang="zh-CN" altLang="en-US"/>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endParaRPr lang="zh-CN" altLang="en-US"/>
          </a:p>
        </p:txBody>
      </p:sp>
      <p:sp>
        <p:nvSpPr>
          <p:cNvPr id="3" name="Slide Number Placeholder 2">
            <a:extLst>
              <a:ext uri="{FF2B5EF4-FFF2-40B4-BE49-F238E27FC236}">
                <a16:creationId xmlns:a16="http://schemas.microsoft.com/office/drawing/2014/main" id="{34D505FA-FA49-1A69-3E15-E4A2D30186B1}"/>
              </a:ext>
            </a:extLst>
          </p:cNvPr>
          <p:cNvSpPr>
            <a:spLocks noGrp="1"/>
          </p:cNvSpPr>
          <p:nvPr>
            <p:ph type="sldNum" sz="quarter" idx="16"/>
          </p:nvPr>
        </p:nvSpPr>
        <p:spPr/>
        <p:txBody>
          <a:bodyPr/>
          <a:lstStyle/>
          <a:p>
            <a:fld id="{8FF9B0DE-3FEB-4AA0-B465-B80EF7C1333D}" type="slidenum">
              <a:rPr lang="en-US" smtClean="0"/>
              <a:pPr/>
              <a:t>23</a:t>
            </a:fld>
            <a:endParaRPr lang="en-US"/>
          </a:p>
        </p:txBody>
      </p:sp>
    </p:spTree>
    <p:extLst>
      <p:ext uri="{BB962C8B-B14F-4D97-AF65-F5344CB8AC3E}">
        <p14:creationId xmlns:p14="http://schemas.microsoft.com/office/powerpoint/2010/main" val="1657489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2L </a:t>
            </a:r>
            <a:r>
              <a:rPr lang="en-US" altLang="zh-CN" sz="2400" i="1" err="1">
                <a:solidFill>
                  <a:schemeClr val="tx1"/>
                </a:solidFill>
                <a:latin typeface="+mn-lt"/>
              </a:rPr>
              <a:t>epNEC</a:t>
            </a:r>
            <a:r>
              <a:rPr lang="en-US" altLang="zh-CN" sz="2400" i="1">
                <a:solidFill>
                  <a:schemeClr val="tx1"/>
                </a:solidFill>
                <a:latin typeface="+mn-lt"/>
              </a:rPr>
              <a:t> (single arm study)</a:t>
            </a:r>
            <a:endParaRPr lang="zh-CN" altLang="en-US">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24</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AD216F8E-FF95-87CF-1284-50B601371CE6}"/>
              </a:ext>
            </a:extLst>
          </p:cNvPr>
          <p:cNvSpPr/>
          <p:nvPr>
            <p:custDataLst>
              <p:tags r:id="rId1"/>
            </p:custDataLst>
          </p:nvPr>
        </p:nvSpPr>
        <p:spPr bwMode="auto">
          <a:xfrm>
            <a:off x="4658521" y="4344713"/>
            <a:ext cx="1052453"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2"/>
            </p:custDataLst>
          </p:nvPr>
        </p:nvSpPr>
        <p:spPr bwMode="auto">
          <a:xfrm>
            <a:off x="4658522" y="2278100"/>
            <a:ext cx="1052452"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9593046"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646025" y="12549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1878295" y="2273316"/>
            <a:ext cx="277190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N=50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4"/>
            </p:custDataLst>
          </p:nvPr>
        </p:nvSpPr>
        <p:spPr bwMode="auto">
          <a:xfrm>
            <a:off x="2678322" y="4344717"/>
            <a:ext cx="196899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N=5</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5"/>
            </p:custDataLst>
          </p:nvPr>
        </p:nvSpPr>
        <p:spPr>
          <a:xfrm>
            <a:off x="2341748" y="4161586"/>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6"/>
            </p:custDataLst>
          </p:nvPr>
        </p:nvSpPr>
        <p:spPr bwMode="auto">
          <a:xfrm>
            <a:off x="1533761" y="4339515"/>
            <a:ext cx="1133354"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7"/>
            </p:custDataLst>
          </p:nvPr>
        </p:nvSpPr>
        <p:spPr>
          <a:xfrm>
            <a:off x="1414034" y="4161586"/>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500257" y="4627199"/>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8"/>
            </p:custDataLst>
          </p:nvPr>
        </p:nvSpPr>
        <p:spPr bwMode="auto">
          <a:xfrm rot="16200000">
            <a:off x="1622646" y="457265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9"/>
            </p:custDataLst>
          </p:nvPr>
        </p:nvSpPr>
        <p:spPr>
          <a:xfrm>
            <a:off x="1403968" y="4674170"/>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492635"/>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grpSp>
        <p:nvGrpSpPr>
          <p:cNvPr id="5" name="Group 4">
            <a:extLst>
              <a:ext uri="{FF2B5EF4-FFF2-40B4-BE49-F238E27FC236}">
                <a16:creationId xmlns:a16="http://schemas.microsoft.com/office/drawing/2014/main" id="{6525B549-C348-FDCD-45DE-D427A6F9A8BE}"/>
              </a:ext>
            </a:extLst>
          </p:cNvPr>
          <p:cNvGrpSpPr/>
          <p:nvPr/>
        </p:nvGrpSpPr>
        <p:grpSpPr>
          <a:xfrm>
            <a:off x="1375464" y="2100974"/>
            <a:ext cx="1060915" cy="720687"/>
            <a:chOff x="1564373" y="2099832"/>
            <a:chExt cx="1060915" cy="720687"/>
          </a:xfrm>
        </p:grpSpPr>
        <p:sp>
          <p:nvSpPr>
            <p:cNvPr id="249" name="Rectangle 52">
              <a:extLst>
                <a:ext uri="{FF2B5EF4-FFF2-40B4-BE49-F238E27FC236}">
                  <a16:creationId xmlns:a16="http://schemas.microsoft.com/office/drawing/2014/main" id="{12DFDD77-3A58-72FD-B7F7-3AD9C2D417AC}"/>
                </a:ext>
              </a:extLst>
            </p:cNvPr>
            <p:cNvSpPr/>
            <p:nvPr/>
          </p:nvSpPr>
          <p:spPr>
            <a:xfrm>
              <a:off x="1875097" y="2563974"/>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7"/>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Apr 2025</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7" name="Group 6">
            <a:extLst>
              <a:ext uri="{FF2B5EF4-FFF2-40B4-BE49-F238E27FC236}">
                <a16:creationId xmlns:a16="http://schemas.microsoft.com/office/drawing/2014/main" id="{692C277D-1E16-52A3-2791-D4CEB9401B16}"/>
              </a:ext>
            </a:extLst>
          </p:cNvPr>
          <p:cNvGrpSpPr/>
          <p:nvPr/>
        </p:nvGrpSpPr>
        <p:grpSpPr>
          <a:xfrm>
            <a:off x="4167926" y="2111175"/>
            <a:ext cx="911147" cy="720687"/>
            <a:chOff x="4263715" y="2099832"/>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4552797"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6"/>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9" name="Group 8">
            <a:extLst>
              <a:ext uri="{FF2B5EF4-FFF2-40B4-BE49-F238E27FC236}">
                <a16:creationId xmlns:a16="http://schemas.microsoft.com/office/drawing/2014/main" id="{038B6CC3-2DD6-3B91-765B-9DEA2B7B792A}"/>
              </a:ext>
            </a:extLst>
          </p:cNvPr>
          <p:cNvGrpSpPr/>
          <p:nvPr/>
        </p:nvGrpSpPr>
        <p:grpSpPr>
          <a:xfrm>
            <a:off x="5109778" y="2092355"/>
            <a:ext cx="1021309" cy="720686"/>
            <a:chOff x="5523491" y="2099833"/>
            <a:chExt cx="1021309" cy="720686"/>
          </a:xfrm>
        </p:grpSpPr>
        <p:sp>
          <p:nvSpPr>
            <p:cNvPr id="268" name="Rectangle 55">
              <a:extLst>
                <a:ext uri="{FF2B5EF4-FFF2-40B4-BE49-F238E27FC236}">
                  <a16:creationId xmlns:a16="http://schemas.microsoft.com/office/drawing/2014/main" id="{75A0DA48-F1F2-A864-01F6-DFDFDEBA525F}"/>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15"/>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2630166" y="454101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8" name="Group 7">
            <a:extLst>
              <a:ext uri="{FF2B5EF4-FFF2-40B4-BE49-F238E27FC236}">
                <a16:creationId xmlns:a16="http://schemas.microsoft.com/office/drawing/2014/main" id="{F126F601-0A3C-7C0D-2316-F545F7071D6B}"/>
              </a:ext>
            </a:extLst>
          </p:cNvPr>
          <p:cNvGrpSpPr/>
          <p:nvPr/>
        </p:nvGrpSpPr>
        <p:grpSpPr>
          <a:xfrm>
            <a:off x="4194288" y="4172897"/>
            <a:ext cx="911145" cy="722963"/>
            <a:chOff x="4295073" y="417289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4"/>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0" name="Group 9">
            <a:extLst>
              <a:ext uri="{FF2B5EF4-FFF2-40B4-BE49-F238E27FC236}">
                <a16:creationId xmlns:a16="http://schemas.microsoft.com/office/drawing/2014/main" id="{700ABAF7-9A1D-FF18-92C8-FCC4B661D4C4}"/>
              </a:ext>
            </a:extLst>
          </p:cNvPr>
          <p:cNvGrpSpPr/>
          <p:nvPr/>
        </p:nvGrpSpPr>
        <p:grpSpPr>
          <a:xfrm>
            <a:off x="5118266" y="4163530"/>
            <a:ext cx="1013539" cy="722962"/>
            <a:chOff x="5523223" y="4172897"/>
            <a:chExt cx="1013539" cy="722962"/>
          </a:xfrm>
        </p:grpSpPr>
        <p:sp>
          <p:nvSpPr>
            <p:cNvPr id="271" name="Rectangle 55">
              <a:extLst>
                <a:ext uri="{FF2B5EF4-FFF2-40B4-BE49-F238E27FC236}">
                  <a16:creationId xmlns:a16="http://schemas.microsoft.com/office/drawing/2014/main" id="{86CB3DBA-177A-2343-F7BB-5C9798AA3186}"/>
                </a:ext>
              </a:extLst>
            </p:cNvPr>
            <p:cNvSpPr/>
            <p:nvPr/>
          </p:nvSpPr>
          <p:spPr>
            <a:xfrm>
              <a:off x="5523223" y="4639315"/>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8E8BF84D-5A92-EC6F-0038-5502EDC41A5D}"/>
                </a:ext>
              </a:extLst>
            </p:cNvPr>
            <p:cNvSpPr txBox="1"/>
            <p:nvPr>
              <p:custDataLst>
                <p:tags r:id="rId13"/>
              </p:custDataLst>
            </p:nvPr>
          </p:nvSpPr>
          <p:spPr>
            <a:xfrm>
              <a:off x="5625614" y="417289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ECED2AA1-F320-CC41-B643-41C09545B401}"/>
                </a:ext>
              </a:extLst>
            </p:cNvPr>
            <p:cNvSpPr/>
            <p:nvPr/>
          </p:nvSpPr>
          <p:spPr bwMode="auto">
            <a:xfrm>
              <a:off x="6038400"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1" name="Group 10">
            <a:extLst>
              <a:ext uri="{FF2B5EF4-FFF2-40B4-BE49-F238E27FC236}">
                <a16:creationId xmlns:a16="http://schemas.microsoft.com/office/drawing/2014/main" id="{1D004353-1EFC-1802-0252-A5EFDF8F3DF9}"/>
              </a:ext>
            </a:extLst>
          </p:cNvPr>
          <p:cNvGrpSpPr/>
          <p:nvPr/>
        </p:nvGrpSpPr>
        <p:grpSpPr>
          <a:xfrm>
            <a:off x="5961174" y="2053665"/>
            <a:ext cx="853119" cy="766853"/>
            <a:chOff x="6324958" y="2053665"/>
            <a:chExt cx="853119" cy="766853"/>
          </a:xfrm>
        </p:grpSpPr>
        <p:sp>
          <p:nvSpPr>
            <p:cNvPr id="292" name="Rectangle 100">
              <a:extLst>
                <a:ext uri="{FF2B5EF4-FFF2-40B4-BE49-F238E27FC236}">
                  <a16:creationId xmlns:a16="http://schemas.microsoft.com/office/drawing/2014/main" id="{A8545B9F-DCAA-91A5-DA84-03B59F216C07}"/>
                </a:ext>
              </a:extLst>
            </p:cNvPr>
            <p:cNvSpPr/>
            <p:nvPr/>
          </p:nvSpPr>
          <p:spPr>
            <a:xfrm>
              <a:off x="6324958" y="2053665"/>
              <a:ext cx="85311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6367537" y="2563973"/>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6712611" y="238069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12" name="Group 11">
            <a:extLst>
              <a:ext uri="{FF2B5EF4-FFF2-40B4-BE49-F238E27FC236}">
                <a16:creationId xmlns:a16="http://schemas.microsoft.com/office/drawing/2014/main" id="{97CB6443-E9D1-DBD8-576A-77F27F9B9848}"/>
              </a:ext>
            </a:extLst>
          </p:cNvPr>
          <p:cNvGrpSpPr/>
          <p:nvPr/>
        </p:nvGrpSpPr>
        <p:grpSpPr>
          <a:xfrm>
            <a:off x="6202080" y="4126731"/>
            <a:ext cx="845966" cy="769129"/>
            <a:chOff x="6595371" y="4126731"/>
            <a:chExt cx="845966" cy="769129"/>
          </a:xfrm>
        </p:grpSpPr>
        <p:sp>
          <p:nvSpPr>
            <p:cNvPr id="302" name="Rectangle 100">
              <a:extLst>
                <a:ext uri="{FF2B5EF4-FFF2-40B4-BE49-F238E27FC236}">
                  <a16:creationId xmlns:a16="http://schemas.microsoft.com/office/drawing/2014/main" id="{C3B9E7B5-CD20-2827-BE11-17673C41D13A}"/>
                </a:ext>
              </a:extLst>
            </p:cNvPr>
            <p:cNvSpPr/>
            <p:nvPr/>
          </p:nvSpPr>
          <p:spPr>
            <a:xfrm>
              <a:off x="6595371" y="412673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8307549" y="2111175"/>
            <a:ext cx="3405043" cy="1095691"/>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i="1">
                <a:solidFill>
                  <a:schemeClr val="bg1">
                    <a:lumMod val="49000"/>
                  </a:schemeClr>
                </a:solidFill>
                <a:cs typeface="Calibri"/>
              </a:rPr>
              <a:t>Total sample size will increase from 50 to 80.</a:t>
            </a:r>
            <a:r>
              <a:rPr lang="en-US" altLang="zh-CN" sz="1050" i="1">
                <a:cs typeface="Calibri"/>
              </a:rPr>
              <a:t> New protocol was released in end of Nov 2025.</a:t>
            </a:r>
            <a:endParaRPr lang="zh-CN" altLang="en-US" sz="1050">
              <a:cs typeface="Calibri"/>
            </a:endParaRPr>
          </a:p>
          <a:p>
            <a:pPr marL="95885" indent="-95885" defTabSz="1219170">
              <a:spcAft>
                <a:spcPts val="267"/>
              </a:spcAft>
              <a:buFont typeface="Arial" panose="020B0604020202020204" pitchFamily="34" charset="0"/>
              <a:buChar char="•"/>
              <a:defRPr/>
            </a:pPr>
            <a:r>
              <a:rPr lang="en-US" altLang="zh-CN" sz="1050" i="1">
                <a:solidFill>
                  <a:schemeClr val="bg1">
                    <a:lumMod val="49000"/>
                  </a:schemeClr>
                </a:solidFill>
                <a:cs typeface="Calibri"/>
              </a:rPr>
              <a:t>The primary analysis is based on 50 pts. </a:t>
            </a:r>
          </a:p>
          <a:p>
            <a:pPr marL="95885" indent="-95885" defTabSz="1219170">
              <a:spcAft>
                <a:spcPts val="267"/>
              </a:spcAft>
              <a:buFont typeface="Arial" panose="020B0604020202020204" pitchFamily="34" charset="0"/>
              <a:buChar char="•"/>
              <a:defRPr/>
            </a:pPr>
            <a:r>
              <a:rPr lang="en-US" altLang="zh-CN" sz="1050" i="1">
                <a:solidFill>
                  <a:schemeClr val="bg1">
                    <a:lumMod val="49000"/>
                  </a:schemeClr>
                </a:solidFill>
                <a:cs typeface="Calibri"/>
              </a:rPr>
              <a:t>Among the 50 pts, EA proportion is 30% which is  JP12%, CN10%, KR8%.</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5041297" y="5225747"/>
            <a:ext cx="4594316" cy="723602"/>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i="1">
                <a:cs typeface="Calibri"/>
              </a:rPr>
              <a:t>China has recruited 4 patients. One responder was observed. </a:t>
            </a:r>
          </a:p>
          <a:p>
            <a:pPr marL="95885" indent="-95885" defTabSz="1219170">
              <a:spcAft>
                <a:spcPts val="267"/>
              </a:spcAft>
              <a:buFont typeface="Arial" panose="020B0604020202020204" pitchFamily="34" charset="0"/>
              <a:buChar char="•"/>
              <a:defRPr/>
            </a:pPr>
            <a:r>
              <a:rPr lang="en-US" altLang="zh-CN" sz="1050" i="1">
                <a:solidFill>
                  <a:schemeClr val="bg1">
                    <a:lumMod val="49000"/>
                  </a:schemeClr>
                </a:solidFill>
                <a:cs typeface="Calibri"/>
              </a:rPr>
              <a:t>CMC HA interaction planned in Dec 2025.</a:t>
            </a:r>
          </a:p>
          <a:p>
            <a:pPr marL="95885" indent="-95885" defTabSz="1219170">
              <a:spcAft>
                <a:spcPts val="267"/>
              </a:spcAft>
              <a:buFont typeface="Arial" panose="020B0604020202020204" pitchFamily="34" charset="0"/>
              <a:buChar char="•"/>
              <a:defRPr/>
            </a:pPr>
            <a:r>
              <a:rPr lang="en-US" altLang="zh-CN" sz="1050" i="1">
                <a:solidFill>
                  <a:schemeClr val="bg1">
                    <a:lumMod val="49000"/>
                  </a:schemeClr>
                </a:solidFill>
                <a:cs typeface="Calibri"/>
              </a:rPr>
              <a:t>HA interaction planned in early 2026 after interim futility analysis.</a:t>
            </a:r>
          </a:p>
        </p:txBody>
      </p:sp>
      <p:grpSp>
        <p:nvGrpSpPr>
          <p:cNvPr id="13" name="Group 12">
            <a:extLst>
              <a:ext uri="{FF2B5EF4-FFF2-40B4-BE49-F238E27FC236}">
                <a16:creationId xmlns:a16="http://schemas.microsoft.com/office/drawing/2014/main" id="{A2487DD6-65E7-5E59-8381-4FCFC6929727}"/>
              </a:ext>
            </a:extLst>
          </p:cNvPr>
          <p:cNvGrpSpPr/>
          <p:nvPr/>
        </p:nvGrpSpPr>
        <p:grpSpPr>
          <a:xfrm>
            <a:off x="8345004" y="4126731"/>
            <a:ext cx="817491" cy="769129"/>
            <a:chOff x="8797283" y="4126731"/>
            <a:chExt cx="817491" cy="769129"/>
          </a:xfrm>
        </p:grpSpPr>
        <p:sp>
          <p:nvSpPr>
            <p:cNvPr id="307" name="Rectangle 100">
              <a:extLst>
                <a:ext uri="{FF2B5EF4-FFF2-40B4-BE49-F238E27FC236}">
                  <a16:creationId xmlns:a16="http://schemas.microsoft.com/office/drawing/2014/main" id="{0438AC28-0BEB-F709-E6E5-9A6B7058A5EE}"/>
                </a:ext>
              </a:extLst>
            </p:cNvPr>
            <p:cNvSpPr/>
            <p:nvPr/>
          </p:nvSpPr>
          <p:spPr>
            <a:xfrm>
              <a:off x="8797283" y="412673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2028</a:t>
              </a: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027776" y="4419855"/>
              <a:ext cx="210312" cy="210312"/>
            </a:xfrm>
            <a:prstGeom prst="rect">
              <a:avLst/>
            </a:prstGeom>
          </p:spPr>
        </p:pic>
      </p:grpSp>
      <p:grpSp>
        <p:nvGrpSpPr>
          <p:cNvPr id="14" name="Group 13">
            <a:extLst>
              <a:ext uri="{FF2B5EF4-FFF2-40B4-BE49-F238E27FC236}">
                <a16:creationId xmlns:a16="http://schemas.microsoft.com/office/drawing/2014/main" id="{6B014C8C-EF9C-3846-CB63-9B1468FFF8B1}"/>
              </a:ext>
            </a:extLst>
          </p:cNvPr>
          <p:cNvGrpSpPr/>
          <p:nvPr/>
        </p:nvGrpSpPr>
        <p:grpSpPr>
          <a:xfrm>
            <a:off x="6743819" y="2053666"/>
            <a:ext cx="824721" cy="766853"/>
            <a:chOff x="7215767" y="2053666"/>
            <a:chExt cx="824721" cy="766853"/>
          </a:xfrm>
        </p:grpSpPr>
        <p:sp>
          <p:nvSpPr>
            <p:cNvPr id="297" name="Rectangle 100">
              <a:extLst>
                <a:ext uri="{FF2B5EF4-FFF2-40B4-BE49-F238E27FC236}">
                  <a16:creationId xmlns:a16="http://schemas.microsoft.com/office/drawing/2014/main" id="{B95ACA1E-10C2-F783-D1D8-EBE68B344864}"/>
                </a:ext>
              </a:extLst>
            </p:cNvPr>
            <p:cNvSpPr/>
            <p:nvPr/>
          </p:nvSpPr>
          <p:spPr>
            <a:xfrm>
              <a:off x="7215767" y="2053666"/>
              <a:ext cx="81785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p>
          </p:txBody>
        </p:sp>
        <p:sp>
          <p:nvSpPr>
            <p:cNvPr id="296" name="Rectangle 55">
              <a:extLst>
                <a:ext uri="{FF2B5EF4-FFF2-40B4-BE49-F238E27FC236}">
                  <a16:creationId xmlns:a16="http://schemas.microsoft.com/office/drawing/2014/main" id="{E4AE6314-E81A-72ED-C6B9-98CBCB72AF96}"/>
                </a:ext>
              </a:extLst>
            </p:cNvPr>
            <p:cNvSpPr/>
            <p:nvPr/>
          </p:nvSpPr>
          <p:spPr>
            <a:xfrm>
              <a:off x="7232253" y="2563974"/>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50741" y="2347542"/>
              <a:ext cx="210312" cy="210312"/>
            </a:xfrm>
            <a:prstGeom prst="rect">
              <a:avLst/>
            </a:prstGeom>
          </p:spPr>
        </p:pic>
      </p:grpSp>
      <p:grpSp>
        <p:nvGrpSpPr>
          <p:cNvPr id="3" name="Group 2">
            <a:extLst>
              <a:ext uri="{FF2B5EF4-FFF2-40B4-BE49-F238E27FC236}">
                <a16:creationId xmlns:a16="http://schemas.microsoft.com/office/drawing/2014/main" id="{B985AC26-A455-4D1A-7D99-7E76F02CAA6B}"/>
              </a:ext>
            </a:extLst>
          </p:cNvPr>
          <p:cNvGrpSpPr/>
          <p:nvPr/>
        </p:nvGrpSpPr>
        <p:grpSpPr>
          <a:xfrm>
            <a:off x="3144997" y="2082585"/>
            <a:ext cx="1212191" cy="878145"/>
            <a:chOff x="5598686" y="2050722"/>
            <a:chExt cx="1212191" cy="878145"/>
          </a:xfrm>
        </p:grpSpPr>
        <p:sp>
          <p:nvSpPr>
            <p:cNvPr id="18" name="Rectangle 55">
              <a:extLst>
                <a:ext uri="{FF2B5EF4-FFF2-40B4-BE49-F238E27FC236}">
                  <a16:creationId xmlns:a16="http://schemas.microsoft.com/office/drawing/2014/main" id="{EAE2ED4C-0C35-E12B-C39A-F6941A760F8B}"/>
                </a:ext>
              </a:extLst>
            </p:cNvPr>
            <p:cNvSpPr/>
            <p:nvPr/>
          </p:nvSpPr>
          <p:spPr>
            <a:xfrm>
              <a:off x="5598686" y="2672322"/>
              <a:ext cx="121219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1CC9B290-CBAB-81E4-4AA1-8446F2B9D5D8}"/>
                </a:ext>
              </a:extLst>
            </p:cNvPr>
            <p:cNvSpPr txBox="1"/>
            <p:nvPr>
              <p:custDataLst>
                <p:tags r:id="rId12"/>
              </p:custDataLst>
            </p:nvPr>
          </p:nvSpPr>
          <p:spPr>
            <a:xfrm>
              <a:off x="5887815" y="205072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ea typeface="等线" panose="02010600030101010101" pitchFamily="2" charset="-122"/>
                  <a:cs typeface="Calibri" panose="020F0502020204030204" pitchFamily="34" charset="0"/>
                </a:rPr>
                <a:t>Q1 2025</a:t>
              </a:r>
              <a:endParaRPr lang="zh-CN" altLang="en-US" sz="1067" b="1" i="1">
                <a:ea typeface="等线" panose="02010600030101010101" pitchFamily="2" charset="-122"/>
                <a:cs typeface="Calibri" panose="020F0502020204030204" pitchFamily="34" charset="0"/>
              </a:endParaRPr>
            </a:p>
          </p:txBody>
        </p:sp>
        <p:sp>
          <p:nvSpPr>
            <p:cNvPr id="20" name="Star: 4 Points 143">
              <a:extLst>
                <a:ext uri="{FF2B5EF4-FFF2-40B4-BE49-F238E27FC236}">
                  <a16:creationId xmlns:a16="http://schemas.microsoft.com/office/drawing/2014/main" id="{2E64BD88-F018-EED9-F613-4821E7A0ED75}"/>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1" name="Group 20">
            <a:extLst>
              <a:ext uri="{FF2B5EF4-FFF2-40B4-BE49-F238E27FC236}">
                <a16:creationId xmlns:a16="http://schemas.microsoft.com/office/drawing/2014/main" id="{99C0FFC8-D184-4ED7-9A6F-3EF5D98CC989}"/>
              </a:ext>
            </a:extLst>
          </p:cNvPr>
          <p:cNvGrpSpPr/>
          <p:nvPr/>
        </p:nvGrpSpPr>
        <p:grpSpPr>
          <a:xfrm>
            <a:off x="3136368" y="4123007"/>
            <a:ext cx="1212191" cy="948008"/>
            <a:chOff x="5671820" y="2030582"/>
            <a:chExt cx="1212191" cy="948008"/>
          </a:xfrm>
        </p:grpSpPr>
        <p:sp>
          <p:nvSpPr>
            <p:cNvPr id="22" name="Rectangle 55">
              <a:extLst>
                <a:ext uri="{FF2B5EF4-FFF2-40B4-BE49-F238E27FC236}">
                  <a16:creationId xmlns:a16="http://schemas.microsoft.com/office/drawing/2014/main" id="{A13CA4E8-5F10-A1A3-A9A0-1C339AEC1C18}"/>
                </a:ext>
              </a:extLst>
            </p:cNvPr>
            <p:cNvSpPr/>
            <p:nvPr/>
          </p:nvSpPr>
          <p:spPr>
            <a:xfrm>
              <a:off x="5671820" y="2722045"/>
              <a:ext cx="121219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 name="OTLSHAPE_T_e17f3958430f4cff8650518c93c7635e_StartDate">
              <a:extLst>
                <a:ext uri="{FF2B5EF4-FFF2-40B4-BE49-F238E27FC236}">
                  <a16:creationId xmlns:a16="http://schemas.microsoft.com/office/drawing/2014/main" id="{9AFE466D-97C8-5DB5-55AB-6DD1C264816D}"/>
                </a:ext>
              </a:extLst>
            </p:cNvPr>
            <p:cNvSpPr txBox="1"/>
            <p:nvPr>
              <p:custDataLst>
                <p:tags r:id="rId11"/>
              </p:custDataLst>
            </p:nvPr>
          </p:nvSpPr>
          <p:spPr>
            <a:xfrm>
              <a:off x="5948371" y="203058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ea typeface="等线" panose="02010600030101010101" pitchFamily="2" charset="-122"/>
                  <a:cs typeface="Calibri" panose="020F0502020204030204" pitchFamily="34" charset="0"/>
                </a:rPr>
                <a:t>Q1 2025</a:t>
              </a:r>
              <a:endParaRPr lang="zh-CN" altLang="en-US" sz="1067" b="1" i="1">
                <a:ea typeface="等线" panose="02010600030101010101" pitchFamily="2" charset="-122"/>
                <a:cs typeface="Calibri" panose="020F0502020204030204" pitchFamily="34" charset="0"/>
              </a:endParaRPr>
            </a:p>
          </p:txBody>
        </p:sp>
        <p:sp>
          <p:nvSpPr>
            <p:cNvPr id="24" name="Star: 4 Points 143">
              <a:extLst>
                <a:ext uri="{FF2B5EF4-FFF2-40B4-BE49-F238E27FC236}">
                  <a16:creationId xmlns:a16="http://schemas.microsoft.com/office/drawing/2014/main" id="{1E3A2E0B-C595-95A9-9430-B77F417AF8CC}"/>
                </a:ext>
              </a:extLst>
            </p:cNvPr>
            <p:cNvSpPr/>
            <p:nvPr/>
          </p:nvSpPr>
          <p:spPr bwMode="auto">
            <a:xfrm>
              <a:off x="6108628" y="24677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cxnSp>
        <p:nvCxnSpPr>
          <p:cNvPr id="27" name="Connector: Elbow 26">
            <a:extLst>
              <a:ext uri="{FF2B5EF4-FFF2-40B4-BE49-F238E27FC236}">
                <a16:creationId xmlns:a16="http://schemas.microsoft.com/office/drawing/2014/main" id="{077D6031-19FA-C818-1186-054B0F8E44D8}"/>
              </a:ext>
            </a:extLst>
          </p:cNvPr>
          <p:cNvCxnSpPr>
            <a:cxnSpLocks/>
            <a:stCxn id="22" idx="1"/>
          </p:cNvCxnSpPr>
          <p:nvPr/>
        </p:nvCxnSpPr>
        <p:spPr bwMode="gray">
          <a:xfrm rot="10800000" flipH="1" flipV="1">
            <a:off x="3136367" y="4942742"/>
            <a:ext cx="355993" cy="1014375"/>
          </a:xfrm>
          <a:prstGeom prst="bentConnector3">
            <a:avLst>
              <a:gd name="adj1" fmla="val -64215"/>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1CA8A3A5-A2E7-A235-4CDE-0D287E45D463}"/>
              </a:ext>
            </a:extLst>
          </p:cNvPr>
          <p:cNvGrpSpPr/>
          <p:nvPr/>
        </p:nvGrpSpPr>
        <p:grpSpPr>
          <a:xfrm>
            <a:off x="3492361" y="5318537"/>
            <a:ext cx="1173719" cy="766853"/>
            <a:chOff x="7049514" y="2053666"/>
            <a:chExt cx="1173719" cy="766853"/>
          </a:xfrm>
        </p:grpSpPr>
        <p:sp>
          <p:nvSpPr>
            <p:cNvPr id="29" name="Rectangle 100">
              <a:extLst>
                <a:ext uri="{FF2B5EF4-FFF2-40B4-BE49-F238E27FC236}">
                  <a16:creationId xmlns:a16="http://schemas.microsoft.com/office/drawing/2014/main" id="{0692F56B-CF2B-C8DD-9E02-732DDC835293}"/>
                </a:ext>
              </a:extLst>
            </p:cNvPr>
            <p:cNvSpPr/>
            <p:nvPr/>
          </p:nvSpPr>
          <p:spPr>
            <a:xfrm>
              <a:off x="7121993" y="2053666"/>
              <a:ext cx="100540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Q1-Q2 2026</a:t>
              </a:r>
            </a:p>
          </p:txBody>
        </p:sp>
        <p:sp>
          <p:nvSpPr>
            <p:cNvPr id="30" name="Rectangle 55">
              <a:extLst>
                <a:ext uri="{FF2B5EF4-FFF2-40B4-BE49-F238E27FC236}">
                  <a16:creationId xmlns:a16="http://schemas.microsoft.com/office/drawing/2014/main" id="{A4AC8D3C-3742-584B-BB49-D9DA7BFAF2C6}"/>
                </a:ext>
              </a:extLst>
            </p:cNvPr>
            <p:cNvSpPr/>
            <p:nvPr/>
          </p:nvSpPr>
          <p:spPr>
            <a:xfrm>
              <a:off x="7049514" y="2563974"/>
              <a:ext cx="117371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HA interaction</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 name="Graphic 30" descr="Flag with solid fill">
              <a:extLst>
                <a:ext uri="{FF2B5EF4-FFF2-40B4-BE49-F238E27FC236}">
                  <a16:creationId xmlns:a16="http://schemas.microsoft.com/office/drawing/2014/main" id="{720525ED-0E89-9627-954C-16782FE7A92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50741" y="2347542"/>
              <a:ext cx="210312" cy="210312"/>
            </a:xfrm>
            <a:prstGeom prst="rect">
              <a:avLst/>
            </a:prstGeom>
          </p:spPr>
        </p:pic>
      </p:grpSp>
      <p:grpSp>
        <p:nvGrpSpPr>
          <p:cNvPr id="4" name="Group 62">
            <a:extLst>
              <a:ext uri="{FF2B5EF4-FFF2-40B4-BE49-F238E27FC236}">
                <a16:creationId xmlns:a16="http://schemas.microsoft.com/office/drawing/2014/main" id="{8D018DEB-EBAB-8D7D-BE2D-D85526E0B860}"/>
              </a:ext>
            </a:extLst>
          </p:cNvPr>
          <p:cNvGrpSpPr/>
          <p:nvPr/>
        </p:nvGrpSpPr>
        <p:grpSpPr>
          <a:xfrm>
            <a:off x="3075458" y="723282"/>
            <a:ext cx="546747" cy="6134718"/>
            <a:chOff x="1155349" y="1057179"/>
            <a:chExt cx="546747" cy="4601037"/>
          </a:xfrm>
        </p:grpSpPr>
        <p:cxnSp>
          <p:nvCxnSpPr>
            <p:cNvPr id="25" name="Straight Connector 63">
              <a:extLst>
                <a:ext uri="{FF2B5EF4-FFF2-40B4-BE49-F238E27FC236}">
                  <a16:creationId xmlns:a16="http://schemas.microsoft.com/office/drawing/2014/main" id="{138B7920-E26E-3C78-9606-8294ED221DBF}"/>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6" name="OTLSHAPE_T_e17f3958430f4cff8650518c93c7635e_StartDate">
              <a:extLst>
                <a:ext uri="{FF2B5EF4-FFF2-40B4-BE49-F238E27FC236}">
                  <a16:creationId xmlns:a16="http://schemas.microsoft.com/office/drawing/2014/main" id="{98512023-65F8-35C1-4A57-FDF86F3C7C9F}"/>
                </a:ext>
              </a:extLst>
            </p:cNvPr>
            <p:cNvSpPr txBox="1"/>
            <p:nvPr>
              <p:custDataLst>
                <p:tags r:id="rId10"/>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3577490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6">
            <a:extLst>
              <a:ext uri="{FF2B5EF4-FFF2-40B4-BE49-F238E27FC236}">
                <a16:creationId xmlns:a16="http://schemas.microsoft.com/office/drawing/2014/main" id="{73207099-613B-4188-B37D-91BA5B30A0AB}"/>
              </a:ext>
            </a:extLst>
          </p:cNvPr>
          <p:cNvGraphicFramePr>
            <a:graphicFrameLocks/>
          </p:cNvGraphicFramePr>
          <p:nvPr/>
        </p:nvGraphicFramePr>
        <p:xfrm>
          <a:off x="17463" y="567915"/>
          <a:ext cx="12131100" cy="433791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D60BBF4-9344-8D2B-7794-4B1491A1A113}"/>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25</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1438-0005 DLL3/CD3</a:t>
            </a:r>
            <a:r>
              <a:rPr lang="zh-CN" altLang="en-US" sz="2400"/>
              <a:t> </a:t>
            </a:r>
            <a:r>
              <a:rPr lang="en-US" altLang="zh-CN" sz="2400" err="1"/>
              <a:t>epNEC</a:t>
            </a:r>
            <a:r>
              <a:rPr lang="en-US" altLang="zh-CN" sz="2400"/>
              <a:t> dated on 12Dec 2025 </a:t>
            </a:r>
            <a:r>
              <a:rPr lang="en-US" altLang="zh-CN" sz="2400" i="1">
                <a:solidFill>
                  <a:srgbClr val="EE6541"/>
                </a:solidFill>
              </a:rPr>
              <a:t>(Global recruitment status)</a:t>
            </a:r>
            <a:endParaRPr lang="en-US" altLang="zh-CN" sz="2400" i="1">
              <a:solidFill>
                <a:srgbClr val="EE6541"/>
              </a:solidFill>
              <a:highlight>
                <a:srgbClr val="FFFF00"/>
              </a:highlight>
            </a:endParaRPr>
          </a:p>
        </p:txBody>
      </p:sp>
      <p:sp>
        <p:nvSpPr>
          <p:cNvPr id="11" name="矩形 10">
            <a:extLst>
              <a:ext uri="{FF2B5EF4-FFF2-40B4-BE49-F238E27FC236}">
                <a16:creationId xmlns:a16="http://schemas.microsoft.com/office/drawing/2014/main" id="{8D95861C-D519-13ED-6F99-0508AAC10C3F}"/>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2" name="对象 11">
            <a:extLst>
              <a:ext uri="{FF2B5EF4-FFF2-40B4-BE49-F238E27FC236}">
                <a16:creationId xmlns:a16="http://schemas.microsoft.com/office/drawing/2014/main" id="{1FA75A17-FDC8-1A85-038F-C48A46AB8430}"/>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7" imgW="834480" imgH="714960" progId="Excel.Sheet.12">
                  <p:embed/>
                </p:oleObj>
              </mc:Choice>
              <mc:Fallback>
                <p:oleObj name="Worksheet" showAsIcon="1" r:id="rId7" imgW="834480" imgH="714960" progId="Excel.Sheet.12">
                  <p:embed/>
                  <p:pic>
                    <p:nvPicPr>
                      <p:cNvPr id="12" name="对象 11">
                        <a:extLst>
                          <a:ext uri="{FF2B5EF4-FFF2-40B4-BE49-F238E27FC236}">
                            <a16:creationId xmlns:a16="http://schemas.microsoft.com/office/drawing/2014/main" id="{1FA75A17-FDC8-1A85-038F-C48A46AB8430}"/>
                          </a:ext>
                        </a:extLst>
                      </p:cNvPr>
                      <p:cNvPicPr/>
                      <p:nvPr/>
                    </p:nvPicPr>
                    <p:blipFill>
                      <a:blip r:embed="rId8"/>
                      <a:stretch>
                        <a:fillRect/>
                      </a:stretch>
                    </p:blipFill>
                    <p:spPr>
                      <a:xfrm>
                        <a:off x="962025" y="912813"/>
                        <a:ext cx="1125538" cy="963612"/>
                      </a:xfrm>
                      <a:prstGeom prst="rect">
                        <a:avLst/>
                      </a:prstGeom>
                    </p:spPr>
                  </p:pic>
                </p:oleObj>
              </mc:Fallback>
            </mc:AlternateContent>
          </a:graphicData>
        </a:graphic>
      </p:graphicFrame>
      <p:graphicFrame>
        <p:nvGraphicFramePr>
          <p:cNvPr id="13" name="表格 12">
            <a:extLst>
              <a:ext uri="{FF2B5EF4-FFF2-40B4-BE49-F238E27FC236}">
                <a16:creationId xmlns:a16="http://schemas.microsoft.com/office/drawing/2014/main" id="{63844AC4-CA50-BAA3-5476-2EE73CF42433}"/>
              </a:ext>
            </a:extLst>
          </p:cNvPr>
          <p:cNvGraphicFramePr>
            <a:graphicFrameLocks noGrp="1"/>
          </p:cNvGraphicFramePr>
          <p:nvPr/>
        </p:nvGraphicFramePr>
        <p:xfrm>
          <a:off x="17462" y="4931673"/>
          <a:ext cx="12158293" cy="1683140"/>
        </p:xfrm>
        <a:graphic>
          <a:graphicData uri="http://schemas.openxmlformats.org/drawingml/2006/table">
            <a:tbl>
              <a:tblPr/>
              <a:tblGrid>
                <a:gridCol w="1916313">
                  <a:extLst>
                    <a:ext uri="{9D8B030D-6E8A-4147-A177-3AD203B41FA5}">
                      <a16:colId xmlns:a16="http://schemas.microsoft.com/office/drawing/2014/main" val="2461738343"/>
                    </a:ext>
                  </a:extLst>
                </a:gridCol>
                <a:gridCol w="617118">
                  <a:extLst>
                    <a:ext uri="{9D8B030D-6E8A-4147-A177-3AD203B41FA5}">
                      <a16:colId xmlns:a16="http://schemas.microsoft.com/office/drawing/2014/main" val="1909887239"/>
                    </a:ext>
                  </a:extLst>
                </a:gridCol>
                <a:gridCol w="617118">
                  <a:extLst>
                    <a:ext uri="{9D8B030D-6E8A-4147-A177-3AD203B41FA5}">
                      <a16:colId xmlns:a16="http://schemas.microsoft.com/office/drawing/2014/main" val="3788389884"/>
                    </a:ext>
                  </a:extLst>
                </a:gridCol>
                <a:gridCol w="562984">
                  <a:extLst>
                    <a:ext uri="{9D8B030D-6E8A-4147-A177-3AD203B41FA5}">
                      <a16:colId xmlns:a16="http://schemas.microsoft.com/office/drawing/2014/main" val="2668252262"/>
                    </a:ext>
                  </a:extLst>
                </a:gridCol>
                <a:gridCol w="562984">
                  <a:extLst>
                    <a:ext uri="{9D8B030D-6E8A-4147-A177-3AD203B41FA5}">
                      <a16:colId xmlns:a16="http://schemas.microsoft.com/office/drawing/2014/main" val="1435629071"/>
                    </a:ext>
                  </a:extLst>
                </a:gridCol>
                <a:gridCol w="562984">
                  <a:extLst>
                    <a:ext uri="{9D8B030D-6E8A-4147-A177-3AD203B41FA5}">
                      <a16:colId xmlns:a16="http://schemas.microsoft.com/office/drawing/2014/main" val="1350491114"/>
                    </a:ext>
                  </a:extLst>
                </a:gridCol>
                <a:gridCol w="562984">
                  <a:extLst>
                    <a:ext uri="{9D8B030D-6E8A-4147-A177-3AD203B41FA5}">
                      <a16:colId xmlns:a16="http://schemas.microsoft.com/office/drawing/2014/main" val="3442856676"/>
                    </a:ext>
                  </a:extLst>
                </a:gridCol>
                <a:gridCol w="562984">
                  <a:extLst>
                    <a:ext uri="{9D8B030D-6E8A-4147-A177-3AD203B41FA5}">
                      <a16:colId xmlns:a16="http://schemas.microsoft.com/office/drawing/2014/main" val="1505004015"/>
                    </a:ext>
                  </a:extLst>
                </a:gridCol>
                <a:gridCol w="562984">
                  <a:extLst>
                    <a:ext uri="{9D8B030D-6E8A-4147-A177-3AD203B41FA5}">
                      <a16:colId xmlns:a16="http://schemas.microsoft.com/office/drawing/2014/main" val="178064901"/>
                    </a:ext>
                  </a:extLst>
                </a:gridCol>
                <a:gridCol w="562984">
                  <a:extLst>
                    <a:ext uri="{9D8B030D-6E8A-4147-A177-3AD203B41FA5}">
                      <a16:colId xmlns:a16="http://schemas.microsoft.com/office/drawing/2014/main" val="2032660874"/>
                    </a:ext>
                  </a:extLst>
                </a:gridCol>
                <a:gridCol w="562984">
                  <a:extLst>
                    <a:ext uri="{9D8B030D-6E8A-4147-A177-3AD203B41FA5}">
                      <a16:colId xmlns:a16="http://schemas.microsoft.com/office/drawing/2014/main" val="2204536533"/>
                    </a:ext>
                  </a:extLst>
                </a:gridCol>
                <a:gridCol w="562984">
                  <a:extLst>
                    <a:ext uri="{9D8B030D-6E8A-4147-A177-3AD203B41FA5}">
                      <a16:colId xmlns:a16="http://schemas.microsoft.com/office/drawing/2014/main" val="352467562"/>
                    </a:ext>
                  </a:extLst>
                </a:gridCol>
                <a:gridCol w="562984">
                  <a:extLst>
                    <a:ext uri="{9D8B030D-6E8A-4147-A177-3AD203B41FA5}">
                      <a16:colId xmlns:a16="http://schemas.microsoft.com/office/drawing/2014/main" val="2049833739"/>
                    </a:ext>
                  </a:extLst>
                </a:gridCol>
                <a:gridCol w="562984">
                  <a:extLst>
                    <a:ext uri="{9D8B030D-6E8A-4147-A177-3AD203B41FA5}">
                      <a16:colId xmlns:a16="http://schemas.microsoft.com/office/drawing/2014/main" val="4144814796"/>
                    </a:ext>
                  </a:extLst>
                </a:gridCol>
                <a:gridCol w="562984">
                  <a:extLst>
                    <a:ext uri="{9D8B030D-6E8A-4147-A177-3AD203B41FA5}">
                      <a16:colId xmlns:a16="http://schemas.microsoft.com/office/drawing/2014/main" val="2604700820"/>
                    </a:ext>
                  </a:extLst>
                </a:gridCol>
                <a:gridCol w="562984">
                  <a:extLst>
                    <a:ext uri="{9D8B030D-6E8A-4147-A177-3AD203B41FA5}">
                      <a16:colId xmlns:a16="http://schemas.microsoft.com/office/drawing/2014/main" val="1614427976"/>
                    </a:ext>
                  </a:extLst>
                </a:gridCol>
                <a:gridCol w="562984">
                  <a:extLst>
                    <a:ext uri="{9D8B030D-6E8A-4147-A177-3AD203B41FA5}">
                      <a16:colId xmlns:a16="http://schemas.microsoft.com/office/drawing/2014/main" val="1412948961"/>
                    </a:ext>
                  </a:extLst>
                </a:gridCol>
                <a:gridCol w="562984">
                  <a:extLst>
                    <a:ext uri="{9D8B030D-6E8A-4147-A177-3AD203B41FA5}">
                      <a16:colId xmlns:a16="http://schemas.microsoft.com/office/drawing/2014/main" val="2503721862"/>
                    </a:ext>
                  </a:extLst>
                </a:gridCol>
                <a:gridCol w="562984">
                  <a:extLst>
                    <a:ext uri="{9D8B030D-6E8A-4147-A177-3AD203B41FA5}">
                      <a16:colId xmlns:a16="http://schemas.microsoft.com/office/drawing/2014/main" val="3687083355"/>
                    </a:ext>
                  </a:extLst>
                </a:gridCol>
              </a:tblGrid>
              <a:tr h="336628">
                <a:tc>
                  <a:txBody>
                    <a:bodyPr/>
                    <a:lstStyle/>
                    <a:p>
                      <a:pPr marL="0" algn="l" defTabSz="914400" rtl="0" eaLnBrk="1" fontAlgn="b" latinLnBrk="0" hangingPunct="1"/>
                      <a:r>
                        <a:rPr lang="sv-SE" sz="1000" b="0" i="0" u="none" strike="noStrike" kern="1200">
                          <a:solidFill>
                            <a:srgbClr val="000000"/>
                          </a:solidFill>
                          <a:effectLst/>
                          <a:latin typeface="Boehringer Forward Head" panose="02000500000000020000" pitchFamily="2" charset="0"/>
                          <a:ea typeface="等线" panose="02010600030101010101" pitchFamily="2" charset="-122"/>
                          <a:cs typeface="+mn-cs"/>
                        </a:rPr>
                        <a:t> Months</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sz="950" b="0" i="0" u="none" strike="noStrike" kern="1200">
                          <a:solidFill>
                            <a:srgbClr val="000000"/>
                          </a:solidFill>
                          <a:effectLst/>
                          <a:latin typeface="+mn-ea"/>
                          <a:ea typeface="+mn-ea"/>
                          <a:cs typeface="+mn-cs"/>
                        </a:rPr>
                        <a:t>M</a:t>
                      </a:r>
                      <a:r>
                        <a:rPr lang="en-US" altLang="zh-CN" sz="950" b="0" i="0" u="none" strike="noStrike" kern="1200">
                          <a:solidFill>
                            <a:srgbClr val="000000"/>
                          </a:solidFill>
                          <a:effectLst/>
                          <a:latin typeface="+mn-ea"/>
                          <a:ea typeface="+mn-ea"/>
                          <a:cs typeface="+mn-cs"/>
                        </a:rPr>
                        <a:t>ar-25</a:t>
                      </a:r>
                      <a:endParaRPr lang="sv-SE" sz="95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sz="950" b="0" i="0" u="none" strike="noStrike" kern="1200">
                          <a:solidFill>
                            <a:srgbClr val="000000"/>
                          </a:solidFill>
                          <a:effectLst/>
                          <a:latin typeface="+mn-ea"/>
                          <a:ea typeface="+mn-ea"/>
                          <a:cs typeface="+mn-cs"/>
                        </a:rPr>
                        <a:t>A</a:t>
                      </a:r>
                      <a:r>
                        <a:rPr lang="en-US" altLang="zh-CN" sz="950" b="0" i="0" u="none" strike="noStrike" kern="1200">
                          <a:solidFill>
                            <a:srgbClr val="000000"/>
                          </a:solidFill>
                          <a:effectLst/>
                          <a:latin typeface="+mn-ea"/>
                          <a:ea typeface="+mn-ea"/>
                          <a:cs typeface="+mn-cs"/>
                        </a:rPr>
                        <a:t>pr</a:t>
                      </a:r>
                      <a:r>
                        <a:rPr lang="sv-SE" sz="950" b="0" i="0" u="none" strike="noStrike" kern="1200">
                          <a:solidFill>
                            <a:srgbClr val="000000"/>
                          </a:solidFill>
                          <a:effectLst/>
                          <a:latin typeface="+mn-ea"/>
                          <a:ea typeface="+mn-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n-ea"/>
                          <a:ea typeface="+mn-ea"/>
                          <a:cs typeface="+mn-cs"/>
                        </a:rPr>
                        <a:t>M</a:t>
                      </a:r>
                      <a:r>
                        <a:rPr lang="en-US" altLang="zh-CN" sz="950" b="0" i="0" u="none" strike="noStrike" kern="1200">
                          <a:solidFill>
                            <a:srgbClr val="000000"/>
                          </a:solidFill>
                          <a:effectLst/>
                          <a:latin typeface="+mn-ea"/>
                          <a:ea typeface="+mn-ea"/>
                          <a:cs typeface="+mn-cs"/>
                        </a:rPr>
                        <a:t>ay</a:t>
                      </a:r>
                      <a:r>
                        <a:rPr lang="sv-SE" altLang="zh-CN" sz="950" b="0" i="0" u="none" strike="noStrike" kern="1200">
                          <a:solidFill>
                            <a:srgbClr val="000000"/>
                          </a:solidFill>
                          <a:effectLst/>
                          <a:latin typeface="+mn-ea"/>
                          <a:ea typeface="+mn-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n-ea"/>
                          <a:ea typeface="+mn-ea"/>
                          <a:cs typeface="+mn-cs"/>
                        </a:rPr>
                        <a:t>J</a:t>
                      </a:r>
                      <a:r>
                        <a:rPr lang="en-US" altLang="zh-CN" sz="950" b="0" i="0" u="none" strike="noStrike" kern="1200">
                          <a:solidFill>
                            <a:srgbClr val="000000"/>
                          </a:solidFill>
                          <a:effectLst/>
                          <a:latin typeface="+mn-ea"/>
                          <a:ea typeface="+mn-ea"/>
                          <a:cs typeface="+mn-cs"/>
                        </a:rPr>
                        <a:t>un</a:t>
                      </a:r>
                      <a:r>
                        <a:rPr lang="sv-SE" altLang="zh-CN" sz="950" b="0" i="0" u="none" strike="noStrike" kern="1200">
                          <a:solidFill>
                            <a:srgbClr val="000000"/>
                          </a:solidFill>
                          <a:effectLst/>
                          <a:latin typeface="+mn-ea"/>
                          <a:ea typeface="+mn-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n-ea"/>
                          <a:ea typeface="+mn-ea"/>
                          <a:cs typeface="+mn-cs"/>
                        </a:rPr>
                        <a:t>J</a:t>
                      </a:r>
                      <a:r>
                        <a:rPr lang="en-US" altLang="zh-CN" sz="950" b="0" i="0" u="none" strike="noStrike" kern="1200" err="1">
                          <a:solidFill>
                            <a:srgbClr val="000000"/>
                          </a:solidFill>
                          <a:effectLst/>
                          <a:latin typeface="+mn-ea"/>
                          <a:ea typeface="+mn-ea"/>
                          <a:cs typeface="+mn-cs"/>
                        </a:rPr>
                        <a:t>ul</a:t>
                      </a:r>
                      <a:r>
                        <a:rPr lang="sv-SE" altLang="zh-CN" sz="950" b="0" i="0" u="none" strike="noStrike" kern="1200">
                          <a:solidFill>
                            <a:srgbClr val="000000"/>
                          </a:solidFill>
                          <a:effectLst/>
                          <a:latin typeface="+mn-ea"/>
                          <a:ea typeface="+mn-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n-ea"/>
                          <a:ea typeface="+mn-ea"/>
                          <a:cs typeface="+mn-cs"/>
                        </a:rPr>
                        <a:t>A</a:t>
                      </a:r>
                      <a:r>
                        <a:rPr lang="en-US" altLang="zh-CN" sz="950" b="0" i="0" u="none" strike="noStrike" kern="1200">
                          <a:solidFill>
                            <a:srgbClr val="000000"/>
                          </a:solidFill>
                          <a:effectLst/>
                          <a:latin typeface="+mn-ea"/>
                          <a:ea typeface="+mn-ea"/>
                          <a:cs typeface="+mn-cs"/>
                        </a:rPr>
                        <a:t>ug</a:t>
                      </a:r>
                      <a:r>
                        <a:rPr lang="sv-SE" altLang="zh-CN" sz="950" b="0" i="0" u="none" strike="noStrike" kern="1200">
                          <a:solidFill>
                            <a:srgbClr val="000000"/>
                          </a:solidFill>
                          <a:effectLst/>
                          <a:latin typeface="+mn-ea"/>
                          <a:ea typeface="+mn-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n-ea"/>
                          <a:ea typeface="+mn-ea"/>
                        </a:rPr>
                        <a:t>S</a:t>
                      </a:r>
                      <a:r>
                        <a:rPr lang="en-US" altLang="zh-CN" sz="950" b="0" i="0" u="none" strike="noStrike">
                          <a:solidFill>
                            <a:srgbClr val="000000"/>
                          </a:solidFill>
                          <a:effectLst/>
                          <a:latin typeface="+mn-ea"/>
                          <a:ea typeface="+mn-ea"/>
                        </a:rPr>
                        <a:t>ep</a:t>
                      </a:r>
                      <a:r>
                        <a:rPr lang="sv-SE" sz="950" b="0" i="0" u="none" strike="noStrike">
                          <a:solidFill>
                            <a:srgbClr val="000000"/>
                          </a:solidFill>
                          <a:effectLst/>
                          <a:latin typeface="+mn-ea"/>
                          <a:ea typeface="+mn-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n-ea"/>
                          <a:ea typeface="+mn-ea"/>
                        </a:rPr>
                        <a:t>O</a:t>
                      </a:r>
                      <a:r>
                        <a:rPr lang="en-US" altLang="zh-CN" sz="950" b="0" i="0" u="none" strike="noStrike" err="1">
                          <a:solidFill>
                            <a:srgbClr val="000000"/>
                          </a:solidFill>
                          <a:effectLst/>
                          <a:latin typeface="+mn-ea"/>
                          <a:ea typeface="+mn-ea"/>
                        </a:rPr>
                        <a:t>ct</a:t>
                      </a:r>
                      <a:r>
                        <a:rPr lang="sv-SE" sz="950" b="0" i="0" u="none" strike="noStrike">
                          <a:solidFill>
                            <a:srgbClr val="000000"/>
                          </a:solidFill>
                          <a:effectLst/>
                          <a:latin typeface="+mn-ea"/>
                          <a:ea typeface="+mn-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n-ea"/>
                          <a:ea typeface="+mn-ea"/>
                        </a:rPr>
                        <a:t>N</a:t>
                      </a:r>
                      <a:r>
                        <a:rPr lang="en-US" altLang="zh-CN" sz="950" b="0" i="0" u="none" strike="noStrike" err="1">
                          <a:solidFill>
                            <a:srgbClr val="000000"/>
                          </a:solidFill>
                          <a:effectLst/>
                          <a:latin typeface="+mn-ea"/>
                          <a:ea typeface="+mn-ea"/>
                        </a:rPr>
                        <a:t>ov</a:t>
                      </a:r>
                      <a:r>
                        <a:rPr lang="sv-SE" sz="950" b="0" i="0" u="none" strike="noStrike">
                          <a:solidFill>
                            <a:srgbClr val="000000"/>
                          </a:solidFill>
                          <a:effectLst/>
                          <a:latin typeface="+mn-ea"/>
                          <a:ea typeface="+mn-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n-ea"/>
                          <a:ea typeface="+mn-ea"/>
                        </a:rPr>
                        <a:t>D</a:t>
                      </a:r>
                      <a:r>
                        <a:rPr lang="en-US" altLang="zh-CN" sz="950" b="0" i="0" u="none" strike="noStrike" err="1">
                          <a:solidFill>
                            <a:srgbClr val="000000"/>
                          </a:solidFill>
                          <a:effectLst/>
                          <a:latin typeface="+mn-ea"/>
                          <a:ea typeface="+mn-ea"/>
                        </a:rPr>
                        <a:t>ec</a:t>
                      </a:r>
                      <a:r>
                        <a:rPr lang="sv-SE" sz="950" b="0" i="0" u="none" strike="noStrike">
                          <a:solidFill>
                            <a:srgbClr val="000000"/>
                          </a:solidFill>
                          <a:effectLst/>
                          <a:latin typeface="+mn-ea"/>
                          <a:ea typeface="+mn-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n-ea"/>
                          <a:ea typeface="+mn-ea"/>
                        </a:rPr>
                        <a:t>J</a:t>
                      </a:r>
                      <a:r>
                        <a:rPr lang="en-US" altLang="zh-CN" sz="950" b="0" i="0" u="none" strike="noStrike">
                          <a:solidFill>
                            <a:srgbClr val="000000"/>
                          </a:solidFill>
                          <a:effectLst/>
                          <a:latin typeface="+mn-ea"/>
                          <a:ea typeface="+mn-ea"/>
                        </a:rPr>
                        <a:t>an</a:t>
                      </a:r>
                      <a:r>
                        <a:rPr lang="sv-SE" sz="950" b="0" i="0" u="none" strike="noStrike">
                          <a:solidFill>
                            <a:srgbClr val="000000"/>
                          </a:solidFill>
                          <a:effectLst/>
                          <a:latin typeface="+mn-ea"/>
                          <a:ea typeface="+mn-ea"/>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F</a:t>
                      </a:r>
                      <a:r>
                        <a:rPr lang="en-US" altLang="zh-CN" sz="950" b="0" i="0" u="none" strike="noStrike" kern="1200" err="1">
                          <a:solidFill>
                            <a:srgbClr val="000000"/>
                          </a:solidFill>
                          <a:effectLst/>
                          <a:latin typeface="+mn-ea"/>
                          <a:ea typeface="+mn-ea"/>
                          <a:cs typeface="+mn-cs"/>
                        </a:rPr>
                        <a:t>eb</a:t>
                      </a:r>
                      <a:r>
                        <a:rPr lang="sv-SE" sz="950" b="0" i="0" u="none" strike="noStrike" kern="1200">
                          <a:solidFill>
                            <a:srgbClr val="000000"/>
                          </a:solidFill>
                          <a:effectLst/>
                          <a:latin typeface="+mn-ea"/>
                          <a:ea typeface="+mn-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M</a:t>
                      </a:r>
                      <a:r>
                        <a:rPr lang="en-US" altLang="zh-CN" sz="950" b="0" i="0" u="none" strike="noStrike" kern="1200" err="1">
                          <a:solidFill>
                            <a:srgbClr val="000000"/>
                          </a:solidFill>
                          <a:effectLst/>
                          <a:latin typeface="+mn-ea"/>
                          <a:ea typeface="+mn-ea"/>
                          <a:cs typeface="+mn-cs"/>
                        </a:rPr>
                        <a:t>ar</a:t>
                      </a:r>
                      <a:r>
                        <a:rPr lang="sv-SE" sz="950" b="0" i="0" u="none" strike="noStrike" kern="1200">
                          <a:solidFill>
                            <a:srgbClr val="000000"/>
                          </a:solidFill>
                          <a:effectLst/>
                          <a:latin typeface="+mn-ea"/>
                          <a:ea typeface="+mn-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A</a:t>
                      </a:r>
                      <a:r>
                        <a:rPr lang="en-US" altLang="zh-CN" sz="950" b="0" i="0" u="none" strike="noStrike" kern="1200">
                          <a:solidFill>
                            <a:srgbClr val="000000"/>
                          </a:solidFill>
                          <a:effectLst/>
                          <a:latin typeface="+mn-ea"/>
                          <a:ea typeface="+mn-ea"/>
                          <a:cs typeface="+mn-cs"/>
                        </a:rPr>
                        <a:t>pr-26</a:t>
                      </a:r>
                      <a:endParaRPr lang="sv-SE" sz="950" b="0" i="0" u="none" strike="noStrike" kern="1200">
                        <a:solidFill>
                          <a:srgbClr val="000000"/>
                        </a:solidFill>
                        <a:effectLst/>
                        <a:latin typeface="+mn-ea"/>
                        <a:ea typeface="+mn-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n-ea"/>
                          <a:ea typeface="+mn-ea"/>
                          <a:cs typeface="+mn-cs"/>
                        </a:rPr>
                        <a:t>M</a:t>
                      </a:r>
                      <a:r>
                        <a:rPr lang="en-US" altLang="zh-CN" sz="950" b="0" i="0" u="none" strike="noStrike" kern="1200">
                          <a:solidFill>
                            <a:srgbClr val="000000"/>
                          </a:solidFill>
                          <a:effectLst/>
                          <a:latin typeface="+mn-ea"/>
                          <a:ea typeface="+mn-ea"/>
                          <a:cs typeface="+mn-cs"/>
                        </a:rPr>
                        <a:t>ay</a:t>
                      </a:r>
                      <a:r>
                        <a:rPr lang="sv-SE" altLang="zh-CN" sz="950" b="0" i="0" u="none" strike="noStrike" kern="1200">
                          <a:solidFill>
                            <a:srgbClr val="000000"/>
                          </a:solidFill>
                          <a:effectLst/>
                          <a:latin typeface="+mn-ea"/>
                          <a:ea typeface="+mn-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J</a:t>
                      </a:r>
                      <a:r>
                        <a:rPr lang="en-US" altLang="zh-CN" sz="950" b="0" i="0" u="none" strike="noStrike" kern="1200">
                          <a:solidFill>
                            <a:srgbClr val="000000"/>
                          </a:solidFill>
                          <a:effectLst/>
                          <a:latin typeface="+mn-ea"/>
                          <a:ea typeface="+mn-ea"/>
                          <a:cs typeface="+mn-cs"/>
                        </a:rPr>
                        <a:t>un-26</a:t>
                      </a:r>
                      <a:endParaRPr lang="sv-SE" sz="950" b="0" i="0" u="none" strike="noStrike" kern="1200">
                        <a:solidFill>
                          <a:srgbClr val="000000"/>
                        </a:solidFill>
                        <a:effectLst/>
                        <a:latin typeface="+mn-ea"/>
                        <a:ea typeface="+mn-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J</a:t>
                      </a:r>
                      <a:r>
                        <a:rPr lang="en-US" altLang="zh-CN" sz="950" b="0" i="0" u="none" strike="noStrike" kern="1200">
                          <a:solidFill>
                            <a:srgbClr val="000000"/>
                          </a:solidFill>
                          <a:effectLst/>
                          <a:latin typeface="+mn-ea"/>
                          <a:ea typeface="+mn-ea"/>
                          <a:cs typeface="+mn-cs"/>
                        </a:rPr>
                        <a:t>ul-26</a:t>
                      </a:r>
                      <a:endParaRPr lang="sv-SE" sz="950" b="0" i="0" u="none" strike="noStrike" kern="1200">
                        <a:solidFill>
                          <a:srgbClr val="000000"/>
                        </a:solidFill>
                        <a:effectLst/>
                        <a:latin typeface="+mn-ea"/>
                        <a:ea typeface="+mn-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n-ea"/>
                          <a:ea typeface="+mn-ea"/>
                          <a:cs typeface="+mn-cs"/>
                        </a:rPr>
                        <a:t>A</a:t>
                      </a:r>
                      <a:r>
                        <a:rPr lang="en-US" altLang="zh-CN" sz="950" b="0" i="0" u="none" strike="noStrike" kern="1200">
                          <a:solidFill>
                            <a:srgbClr val="000000"/>
                          </a:solidFill>
                          <a:effectLst/>
                          <a:latin typeface="+mn-ea"/>
                          <a:ea typeface="+mn-ea"/>
                          <a:cs typeface="+mn-cs"/>
                        </a:rPr>
                        <a:t>ug-26</a:t>
                      </a:r>
                      <a:endParaRPr lang="sv-SE" sz="950" b="0" i="0" u="none" strike="noStrike" kern="1200">
                        <a:solidFill>
                          <a:srgbClr val="000000"/>
                        </a:solidFill>
                        <a:effectLst/>
                        <a:latin typeface="+mn-ea"/>
                        <a:ea typeface="+mn-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721286164"/>
                  </a:ext>
                </a:extLst>
              </a:tr>
              <a:tr h="336628">
                <a:tc>
                  <a:txBody>
                    <a:bodyPr/>
                    <a:lstStyle/>
                    <a:p>
                      <a:pPr marL="0" algn="l" defTabSz="914400" rtl="0" eaLnBrk="1" fontAlgn="b" latinLnBrk="0" hangingPunct="1"/>
                      <a:r>
                        <a:rPr lang="en-US" sz="10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Patients Enrolled (Plan</a:t>
                      </a:r>
                      <a:r>
                        <a:rPr lang="en-US" altLang="zh-CN" sz="1000" b="0" i="0" u="none" strike="noStrike" kern="1200">
                          <a:solidFill>
                            <a:srgbClr val="000000"/>
                          </a:solidFill>
                          <a:effectLst/>
                          <a:latin typeface="Boehringer Forward Head" panose="02000500000000020000" pitchFamily="2" charset="0"/>
                          <a:ea typeface="等线" panose="02010600030101010101" pitchFamily="2" charset="-122"/>
                          <a:cs typeface="+mn-cs"/>
                        </a:rPr>
                        <a:t>ned</a:t>
                      </a:r>
                      <a:r>
                        <a:rPr lang="en-US" sz="1000" b="0" i="0" u="none" strike="noStrike" kern="1200">
                          <a:solidFill>
                            <a:srgbClr val="000000"/>
                          </a:solidFill>
                          <a:effectLst/>
                          <a:latin typeface="Boehringer Forward Head" panose="02000500000000020000" pitchFamily="2" charset="0"/>
                          <a:ea typeface="等线" panose="02010600030101010101" pitchFamily="2" charset="-122"/>
                          <a:cs typeface="+mn-cs"/>
                        </a:rPr>
                        <a:t>)</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t"/>
                      <a:r>
                        <a:rPr lang="en-US" altLang="zh-CN" sz="1000" b="0" i="0" u="none" strike="noStrike">
                          <a:solidFill>
                            <a:srgbClr val="000000"/>
                          </a:solidFill>
                          <a:effectLst/>
                          <a:latin typeface="+mn-ea"/>
                          <a:ea typeface="+mn-ea"/>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n-ea"/>
                          <a:ea typeface="+mn-ea"/>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6801046"/>
                  </a:ext>
                </a:extLst>
              </a:tr>
              <a:tr h="336628">
                <a:tc>
                  <a:txBody>
                    <a:bodyPr/>
                    <a:lstStyle/>
                    <a:p>
                      <a:pPr marL="0" algn="l" defTabSz="914400" rtl="0" eaLnBrk="1" fontAlgn="b" latinLnBrk="0" hangingPunct="1"/>
                      <a:r>
                        <a:rPr lang="sv-SE" sz="10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Patients Enrolled (Actual)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13</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1" i="0" u="none" strike="noStrike" kern="1200">
                          <a:solidFill>
                            <a:srgbClr val="000000"/>
                          </a:solidFill>
                          <a:effectLst/>
                          <a:latin typeface="+mn-ea"/>
                          <a:ea typeface="+mn-ea"/>
                          <a:cs typeface="+mn-cs"/>
                        </a:rPr>
                        <a:t>14</a:t>
                      </a:r>
                      <a:r>
                        <a:rPr lang="zh-CN" altLang="en-US" sz="1000" b="1"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zh-CN" altLang="en-US" sz="1000" b="0"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zh-CN" altLang="en-US" sz="1000" b="0"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2221026"/>
                  </a:ext>
                </a:extLst>
              </a:tr>
              <a:tr h="336628">
                <a:tc>
                  <a:txBody>
                    <a:bodyPr/>
                    <a:lstStyle/>
                    <a:p>
                      <a:pPr marL="0" algn="l" defTabSz="914400" rtl="0" eaLnBrk="1" fontAlgn="b" latinLnBrk="0" hangingPunct="1"/>
                      <a:r>
                        <a:rPr lang="sv-SE" sz="10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 Screened(Planned)</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en-US" altLang="zh-CN" sz="1000" b="0" i="0" u="none" strike="noStrike">
                          <a:solidFill>
                            <a:srgbClr val="000000"/>
                          </a:solidFill>
                          <a:effectLst/>
                          <a:latin typeface="+mn-ea"/>
                          <a:ea typeface="+mn-ea"/>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108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118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n-ea"/>
                          <a:ea typeface="+mn-ea"/>
                        </a:rPr>
                        <a:t>125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212825"/>
                  </a:ext>
                </a:extLst>
              </a:tr>
              <a:tr h="336628">
                <a:tc>
                  <a:txBody>
                    <a:bodyPr/>
                    <a:lstStyle/>
                    <a:p>
                      <a:pPr marL="0" algn="l" defTabSz="914400" rtl="0" eaLnBrk="1" fontAlgn="b" latinLnBrk="0" hangingPunct="1"/>
                      <a:r>
                        <a:rPr lang="sv-SE" sz="10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 Screened(Actual)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22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50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77</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n-ea"/>
                          <a:ea typeface="+mn-ea"/>
                          <a:cs typeface="+mn-cs"/>
                        </a:rPr>
                        <a:t>108</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1" i="0" u="none" strike="noStrike" kern="1200">
                          <a:solidFill>
                            <a:srgbClr val="000000"/>
                          </a:solidFill>
                          <a:effectLst/>
                          <a:latin typeface="+mn-ea"/>
                          <a:ea typeface="+mn-ea"/>
                          <a:cs typeface="+mn-cs"/>
                        </a:rPr>
                        <a:t>118</a:t>
                      </a:r>
                      <a:r>
                        <a:rPr lang="zh-CN" altLang="en-US" sz="1000" b="0"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zh-CN" altLang="en-US" sz="1000" b="0"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zh-CN" altLang="en-US" sz="1000" b="0" i="0" u="none" strike="noStrike" kern="1200">
                          <a:solidFill>
                            <a:srgbClr val="000000"/>
                          </a:solidFill>
                          <a:effectLst/>
                          <a:latin typeface="+mn-ea"/>
                          <a:ea typeface="+mn-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n-ea"/>
                        <a:ea typeface="+mn-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34953194"/>
                  </a:ext>
                </a:extLst>
              </a:tr>
            </a:tbl>
          </a:graphicData>
        </a:graphic>
      </p:graphicFrame>
      <p:sp>
        <p:nvSpPr>
          <p:cNvPr id="4" name="矩形: 圆角 3">
            <a:extLst>
              <a:ext uri="{FF2B5EF4-FFF2-40B4-BE49-F238E27FC236}">
                <a16:creationId xmlns:a16="http://schemas.microsoft.com/office/drawing/2014/main" id="{70C2F8BC-84A8-ECE6-66D7-DADE06E52F3C}"/>
              </a:ext>
            </a:extLst>
          </p:cNvPr>
          <p:cNvSpPr/>
          <p:nvPr/>
        </p:nvSpPr>
        <p:spPr bwMode="gray">
          <a:xfrm>
            <a:off x="497757" y="622534"/>
            <a:ext cx="2204617" cy="1795918"/>
          </a:xfrm>
          <a:prstGeom prst="roundRect">
            <a:avLst/>
          </a:prstGeom>
          <a:solidFill>
            <a:schemeClr val="accent4">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100">
                <a:solidFill>
                  <a:schemeClr val="tx1"/>
                </a:solidFill>
              </a:rPr>
              <a:t>Cut-off date</a:t>
            </a:r>
            <a:r>
              <a:rPr lang="zh-CN" altLang="en-US" sz="1100">
                <a:solidFill>
                  <a:schemeClr val="tx1"/>
                </a:solidFill>
              </a:rPr>
              <a:t>：</a:t>
            </a:r>
            <a:r>
              <a:rPr lang="en-US" altLang="zh-CN" sz="1100">
                <a:solidFill>
                  <a:schemeClr val="tx1"/>
                </a:solidFill>
              </a:rPr>
              <a:t>12Dec2025</a:t>
            </a:r>
            <a:br>
              <a:rPr lang="en-US" altLang="zh-CN" sz="1100"/>
            </a:br>
            <a:r>
              <a:rPr lang="en-US" altLang="zh-CN" sz="1100">
                <a:solidFill>
                  <a:schemeClr val="tx1"/>
                </a:solidFill>
              </a:rPr>
              <a:t>Total Screened</a:t>
            </a:r>
            <a:r>
              <a:rPr lang="zh-CN" altLang="en-US" sz="1100">
                <a:solidFill>
                  <a:schemeClr val="tx1"/>
                </a:solidFill>
              </a:rPr>
              <a:t>：</a:t>
            </a:r>
            <a:r>
              <a:rPr lang="en-US" altLang="zh-CN" sz="1100">
                <a:solidFill>
                  <a:schemeClr val="tx1"/>
                </a:solidFill>
              </a:rPr>
              <a:t>118</a:t>
            </a:r>
          </a:p>
          <a:p>
            <a:pPr>
              <a:lnSpc>
                <a:spcPct val="140000"/>
              </a:lnSpc>
            </a:pPr>
            <a:r>
              <a:rPr lang="en-US" altLang="zh-CN" sz="1100">
                <a:solidFill>
                  <a:schemeClr val="tx1"/>
                </a:solidFill>
              </a:rPr>
              <a:t>Total Enrolled</a:t>
            </a:r>
            <a:r>
              <a:rPr lang="zh-CN" altLang="en-US" sz="1100">
                <a:solidFill>
                  <a:schemeClr val="tx1"/>
                </a:solidFill>
              </a:rPr>
              <a:t>：</a:t>
            </a:r>
            <a:r>
              <a:rPr lang="en-US" altLang="zh-CN" sz="1100">
                <a:solidFill>
                  <a:schemeClr val="tx1"/>
                </a:solidFill>
              </a:rPr>
              <a:t>14</a:t>
            </a:r>
          </a:p>
          <a:p>
            <a:pPr>
              <a:lnSpc>
                <a:spcPct val="140000"/>
              </a:lnSpc>
            </a:pPr>
            <a:r>
              <a:rPr lang="en-US" altLang="zh-CN" sz="1100">
                <a:solidFill>
                  <a:schemeClr val="tx1"/>
                </a:solidFill>
              </a:rPr>
              <a:t>Total Screen Failure</a:t>
            </a:r>
            <a:r>
              <a:rPr lang="zh-CN" altLang="en-US" sz="1100">
                <a:solidFill>
                  <a:schemeClr val="tx1"/>
                </a:solidFill>
              </a:rPr>
              <a:t>：</a:t>
            </a:r>
            <a:r>
              <a:rPr lang="en-US" altLang="zh-CN" sz="1100">
                <a:solidFill>
                  <a:schemeClr val="tx1"/>
                </a:solidFill>
              </a:rPr>
              <a:t>53</a:t>
            </a:r>
          </a:p>
          <a:p>
            <a:pPr>
              <a:lnSpc>
                <a:spcPct val="140000"/>
              </a:lnSpc>
            </a:pPr>
            <a:r>
              <a:rPr lang="en-US" altLang="zh-CN" sz="1100">
                <a:solidFill>
                  <a:schemeClr val="tx1"/>
                </a:solidFill>
              </a:rPr>
              <a:t>In Screening 01</a:t>
            </a:r>
            <a:r>
              <a:rPr lang="zh-CN" altLang="en-US" sz="1100">
                <a:solidFill>
                  <a:schemeClr val="tx1"/>
                </a:solidFill>
              </a:rPr>
              <a:t>：</a:t>
            </a:r>
            <a:r>
              <a:rPr lang="en-US" altLang="zh-CN" sz="1100">
                <a:solidFill>
                  <a:schemeClr val="tx1"/>
                </a:solidFill>
              </a:rPr>
              <a:t>49</a:t>
            </a:r>
          </a:p>
          <a:p>
            <a:pPr>
              <a:lnSpc>
                <a:spcPct val="140000"/>
              </a:lnSpc>
            </a:pPr>
            <a:r>
              <a:rPr lang="en-US" altLang="zh-CN" sz="1100">
                <a:solidFill>
                  <a:schemeClr val="tx1"/>
                </a:solidFill>
              </a:rPr>
              <a:t>In Screening 02</a:t>
            </a:r>
            <a:r>
              <a:rPr lang="zh-CN" altLang="en-US" sz="1100">
                <a:solidFill>
                  <a:schemeClr val="tx1"/>
                </a:solidFill>
              </a:rPr>
              <a:t>： </a:t>
            </a:r>
            <a:r>
              <a:rPr lang="en-US" altLang="zh-CN" sz="1100">
                <a:solidFill>
                  <a:schemeClr val="tx1"/>
                </a:solidFill>
              </a:rPr>
              <a:t>2</a:t>
            </a:r>
          </a:p>
          <a:p>
            <a:pPr>
              <a:lnSpc>
                <a:spcPct val="140000"/>
              </a:lnSpc>
            </a:pPr>
            <a:r>
              <a:rPr lang="en-US" altLang="zh-CN" sz="1100">
                <a:solidFill>
                  <a:schemeClr val="tx1"/>
                </a:solidFill>
              </a:rPr>
              <a:t>Screen failure rate</a:t>
            </a:r>
            <a:r>
              <a:rPr lang="zh-CN" altLang="en-US" sz="1100">
                <a:solidFill>
                  <a:schemeClr val="tx1"/>
                </a:solidFill>
              </a:rPr>
              <a:t>：</a:t>
            </a:r>
            <a:r>
              <a:rPr lang="en-US" altLang="zh-CN" sz="1100">
                <a:solidFill>
                  <a:schemeClr val="tx1"/>
                </a:solidFill>
              </a:rPr>
              <a:t>79%</a:t>
            </a:r>
          </a:p>
        </p:txBody>
      </p:sp>
      <p:sp>
        <p:nvSpPr>
          <p:cNvPr id="9" name="Rectangle 5">
            <a:extLst>
              <a:ext uri="{FF2B5EF4-FFF2-40B4-BE49-F238E27FC236}">
                <a16:creationId xmlns:a16="http://schemas.microsoft.com/office/drawing/2014/main" id="{A0BA665E-EED8-8E9A-08F8-F8D57B6AD356}"/>
              </a:ext>
            </a:extLst>
          </p:cNvPr>
          <p:cNvSpPr/>
          <p:nvPr/>
        </p:nvSpPr>
        <p:spPr>
          <a:xfrm>
            <a:off x="9518904" y="567915"/>
            <a:ext cx="2629659" cy="55399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P</a:t>
            </a:r>
            <a:r>
              <a:rPr lang="en-US" altLang="zh-CN" sz="1200">
                <a:solidFill>
                  <a:schemeClr val="tx1"/>
                </a:solidFill>
              </a:rPr>
              <a:t>lanned </a:t>
            </a:r>
            <a:r>
              <a:rPr lang="en-US" sz="1200">
                <a:solidFill>
                  <a:schemeClr val="tx1"/>
                </a:solidFill>
              </a:rPr>
              <a:t> = 125</a:t>
            </a:r>
          </a:p>
          <a:p>
            <a:pPr lvl="0"/>
            <a:r>
              <a:rPr lang="en-US" sz="1200">
                <a:solidFill>
                  <a:schemeClr val="tx1"/>
                </a:solidFill>
              </a:rPr>
              <a:t>Total Randomized P</a:t>
            </a:r>
            <a:r>
              <a:rPr lang="en-US" altLang="zh-CN" sz="1200">
                <a:solidFill>
                  <a:schemeClr val="tx1"/>
                </a:solidFill>
              </a:rPr>
              <a:t>lanned </a:t>
            </a:r>
            <a:r>
              <a:rPr lang="en-US" sz="1200">
                <a:solidFill>
                  <a:schemeClr val="tx1"/>
                </a:solidFill>
              </a:rPr>
              <a:t>= 50</a:t>
            </a:r>
            <a:endParaRPr lang="en-US" sz="1200" b="1">
              <a:solidFill>
                <a:schemeClr val="tx1"/>
              </a:solidFill>
            </a:endParaRPr>
          </a:p>
        </p:txBody>
      </p:sp>
    </p:spTree>
    <p:extLst>
      <p:ext uri="{BB962C8B-B14F-4D97-AF65-F5344CB8AC3E}">
        <p14:creationId xmlns:p14="http://schemas.microsoft.com/office/powerpoint/2010/main" val="47230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6">
            <a:extLst>
              <a:ext uri="{FF2B5EF4-FFF2-40B4-BE49-F238E27FC236}">
                <a16:creationId xmlns:a16="http://schemas.microsoft.com/office/drawing/2014/main" id="{73207099-613B-4188-B37D-91BA5B30A0AB}"/>
              </a:ext>
            </a:extLst>
          </p:cNvPr>
          <p:cNvGraphicFramePr>
            <a:graphicFrameLocks/>
          </p:cNvGraphicFramePr>
          <p:nvPr/>
        </p:nvGraphicFramePr>
        <p:xfrm>
          <a:off x="17464" y="591832"/>
          <a:ext cx="12157072" cy="431399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D60BBF4-9344-8D2B-7794-4B1491A1A113}"/>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479424" y="6165000"/>
            <a:ext cx="1234800" cy="372727"/>
          </a:xfrm>
          <a:prstGeom prst="rect">
            <a:avLst/>
          </a:prstGeom>
        </p:spPr>
      </p:pic>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26</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1438-0005 DLL3/CD3</a:t>
            </a:r>
            <a:r>
              <a:rPr lang="zh-CN" altLang="en-US" sz="2400"/>
              <a:t> </a:t>
            </a:r>
            <a:r>
              <a:rPr lang="en-US" altLang="zh-CN" sz="2400" err="1"/>
              <a:t>epNEC</a:t>
            </a:r>
            <a:r>
              <a:rPr lang="en-US" altLang="zh-CN" sz="2400"/>
              <a:t> dated on 12Dec 2025 </a:t>
            </a:r>
            <a:r>
              <a:rPr lang="en-US" altLang="zh-CN" sz="2400" i="1">
                <a:solidFill>
                  <a:srgbClr val="EE6541"/>
                </a:solidFill>
              </a:rPr>
              <a:t>(China recruitment status)</a:t>
            </a:r>
            <a:endParaRPr lang="en-US" altLang="zh-CN" sz="2400" i="1">
              <a:solidFill>
                <a:srgbClr val="EE6541"/>
              </a:solidFill>
              <a:highlight>
                <a:srgbClr val="FFFF00"/>
              </a:highlight>
            </a:endParaRPr>
          </a:p>
        </p:txBody>
      </p:sp>
      <p:sp>
        <p:nvSpPr>
          <p:cNvPr id="4" name="Title 1">
            <a:extLst>
              <a:ext uri="{FF2B5EF4-FFF2-40B4-BE49-F238E27FC236}">
                <a16:creationId xmlns:a16="http://schemas.microsoft.com/office/drawing/2014/main" id="{4F58AE57-1A3C-F231-928F-AD6E7E5EC697}"/>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2" name="矩形 11">
            <a:extLst>
              <a:ext uri="{FF2B5EF4-FFF2-40B4-BE49-F238E27FC236}">
                <a16:creationId xmlns:a16="http://schemas.microsoft.com/office/drawing/2014/main" id="{CF2C7021-6A88-F45E-C895-DE32D9E2E6E3}"/>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3" name="对象 12">
            <a:extLst>
              <a:ext uri="{FF2B5EF4-FFF2-40B4-BE49-F238E27FC236}">
                <a16:creationId xmlns:a16="http://schemas.microsoft.com/office/drawing/2014/main" id="{F57964D2-0A27-E20F-D8C6-CF649D124289}"/>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7" imgW="834480" imgH="714960" progId="Excel.Sheet.12">
                  <p:embed/>
                </p:oleObj>
              </mc:Choice>
              <mc:Fallback>
                <p:oleObj name="Worksheet" showAsIcon="1" r:id="rId7" imgW="834480" imgH="714960" progId="Excel.Sheet.12">
                  <p:embed/>
                  <p:pic>
                    <p:nvPicPr>
                      <p:cNvPr id="13" name="对象 12">
                        <a:extLst>
                          <a:ext uri="{FF2B5EF4-FFF2-40B4-BE49-F238E27FC236}">
                            <a16:creationId xmlns:a16="http://schemas.microsoft.com/office/drawing/2014/main" id="{F57964D2-0A27-E20F-D8C6-CF649D124289}"/>
                          </a:ext>
                        </a:extLst>
                      </p:cNvPr>
                      <p:cNvPicPr/>
                      <p:nvPr/>
                    </p:nvPicPr>
                    <p:blipFill>
                      <a:blip r:embed="rId8"/>
                      <a:stretch>
                        <a:fillRect/>
                      </a:stretch>
                    </p:blipFill>
                    <p:spPr>
                      <a:xfrm>
                        <a:off x="962025" y="912813"/>
                        <a:ext cx="1125538" cy="963612"/>
                      </a:xfrm>
                      <a:prstGeom prst="rect">
                        <a:avLst/>
                      </a:prstGeom>
                    </p:spPr>
                  </p:pic>
                </p:oleObj>
              </mc:Fallback>
            </mc:AlternateContent>
          </a:graphicData>
        </a:graphic>
      </p:graphicFrame>
      <p:graphicFrame>
        <p:nvGraphicFramePr>
          <p:cNvPr id="14" name="表格 13">
            <a:extLst>
              <a:ext uri="{FF2B5EF4-FFF2-40B4-BE49-F238E27FC236}">
                <a16:creationId xmlns:a16="http://schemas.microsoft.com/office/drawing/2014/main" id="{E14B8AF7-AF36-5D81-E550-BDD237444EBD}"/>
              </a:ext>
            </a:extLst>
          </p:cNvPr>
          <p:cNvGraphicFramePr>
            <a:graphicFrameLocks noGrp="1"/>
          </p:cNvGraphicFramePr>
          <p:nvPr/>
        </p:nvGraphicFramePr>
        <p:xfrm>
          <a:off x="17464" y="4931673"/>
          <a:ext cx="12191998" cy="1688142"/>
        </p:xfrm>
        <a:graphic>
          <a:graphicData uri="http://schemas.openxmlformats.org/drawingml/2006/table">
            <a:tbl>
              <a:tblPr/>
              <a:tblGrid>
                <a:gridCol w="2358456">
                  <a:extLst>
                    <a:ext uri="{9D8B030D-6E8A-4147-A177-3AD203B41FA5}">
                      <a16:colId xmlns:a16="http://schemas.microsoft.com/office/drawing/2014/main" val="2461738343"/>
                    </a:ext>
                  </a:extLst>
                </a:gridCol>
                <a:gridCol w="759503">
                  <a:extLst>
                    <a:ext uri="{9D8B030D-6E8A-4147-A177-3AD203B41FA5}">
                      <a16:colId xmlns:a16="http://schemas.microsoft.com/office/drawing/2014/main" val="14421985"/>
                    </a:ext>
                  </a:extLst>
                </a:gridCol>
                <a:gridCol w="759503">
                  <a:extLst>
                    <a:ext uri="{9D8B030D-6E8A-4147-A177-3AD203B41FA5}">
                      <a16:colId xmlns:a16="http://schemas.microsoft.com/office/drawing/2014/main" val="3788389884"/>
                    </a:ext>
                  </a:extLst>
                </a:gridCol>
                <a:gridCol w="692878">
                  <a:extLst>
                    <a:ext uri="{9D8B030D-6E8A-4147-A177-3AD203B41FA5}">
                      <a16:colId xmlns:a16="http://schemas.microsoft.com/office/drawing/2014/main" val="2668252262"/>
                    </a:ext>
                  </a:extLst>
                </a:gridCol>
                <a:gridCol w="692878">
                  <a:extLst>
                    <a:ext uri="{9D8B030D-6E8A-4147-A177-3AD203B41FA5}">
                      <a16:colId xmlns:a16="http://schemas.microsoft.com/office/drawing/2014/main" val="1435629071"/>
                    </a:ext>
                  </a:extLst>
                </a:gridCol>
                <a:gridCol w="692878">
                  <a:extLst>
                    <a:ext uri="{9D8B030D-6E8A-4147-A177-3AD203B41FA5}">
                      <a16:colId xmlns:a16="http://schemas.microsoft.com/office/drawing/2014/main" val="1350491114"/>
                    </a:ext>
                  </a:extLst>
                </a:gridCol>
                <a:gridCol w="692878">
                  <a:extLst>
                    <a:ext uri="{9D8B030D-6E8A-4147-A177-3AD203B41FA5}">
                      <a16:colId xmlns:a16="http://schemas.microsoft.com/office/drawing/2014/main" val="3442856676"/>
                    </a:ext>
                  </a:extLst>
                </a:gridCol>
                <a:gridCol w="692878">
                  <a:extLst>
                    <a:ext uri="{9D8B030D-6E8A-4147-A177-3AD203B41FA5}">
                      <a16:colId xmlns:a16="http://schemas.microsoft.com/office/drawing/2014/main" val="1505004015"/>
                    </a:ext>
                  </a:extLst>
                </a:gridCol>
                <a:gridCol w="692878">
                  <a:extLst>
                    <a:ext uri="{9D8B030D-6E8A-4147-A177-3AD203B41FA5}">
                      <a16:colId xmlns:a16="http://schemas.microsoft.com/office/drawing/2014/main" val="178064901"/>
                    </a:ext>
                  </a:extLst>
                </a:gridCol>
                <a:gridCol w="692878">
                  <a:extLst>
                    <a:ext uri="{9D8B030D-6E8A-4147-A177-3AD203B41FA5}">
                      <a16:colId xmlns:a16="http://schemas.microsoft.com/office/drawing/2014/main" val="2032660874"/>
                    </a:ext>
                  </a:extLst>
                </a:gridCol>
                <a:gridCol w="692878">
                  <a:extLst>
                    <a:ext uri="{9D8B030D-6E8A-4147-A177-3AD203B41FA5}">
                      <a16:colId xmlns:a16="http://schemas.microsoft.com/office/drawing/2014/main" val="100306815"/>
                    </a:ext>
                  </a:extLst>
                </a:gridCol>
                <a:gridCol w="692878">
                  <a:extLst>
                    <a:ext uri="{9D8B030D-6E8A-4147-A177-3AD203B41FA5}">
                      <a16:colId xmlns:a16="http://schemas.microsoft.com/office/drawing/2014/main" val="3627039001"/>
                    </a:ext>
                  </a:extLst>
                </a:gridCol>
                <a:gridCol w="692878">
                  <a:extLst>
                    <a:ext uri="{9D8B030D-6E8A-4147-A177-3AD203B41FA5}">
                      <a16:colId xmlns:a16="http://schemas.microsoft.com/office/drawing/2014/main" val="2399176096"/>
                    </a:ext>
                  </a:extLst>
                </a:gridCol>
                <a:gridCol w="692878">
                  <a:extLst>
                    <a:ext uri="{9D8B030D-6E8A-4147-A177-3AD203B41FA5}">
                      <a16:colId xmlns:a16="http://schemas.microsoft.com/office/drawing/2014/main" val="2861858486"/>
                    </a:ext>
                  </a:extLst>
                </a:gridCol>
                <a:gridCol w="692878">
                  <a:extLst>
                    <a:ext uri="{9D8B030D-6E8A-4147-A177-3AD203B41FA5}">
                      <a16:colId xmlns:a16="http://schemas.microsoft.com/office/drawing/2014/main" val="2478718967"/>
                    </a:ext>
                  </a:extLst>
                </a:gridCol>
              </a:tblGrid>
              <a:tr h="336628">
                <a:tc>
                  <a:txBody>
                    <a:bodyPr/>
                    <a:lstStyle/>
                    <a:p>
                      <a:pPr algn="l" fontAlgn="t"/>
                      <a:r>
                        <a:rPr lang="sv-SE" sz="1100" b="0" i="0" u="none" strike="noStrike" kern="1200">
                          <a:solidFill>
                            <a:srgbClr val="000000"/>
                          </a:solidFill>
                          <a:effectLst/>
                          <a:latin typeface="Boehringer Forward Head" panose="02000500000000020000" pitchFamily="2" charset="0"/>
                          <a:ea typeface="等线" panose="02010600030101010101" pitchFamily="2" charset="-122"/>
                          <a:cs typeface="+mn-cs"/>
                        </a:rPr>
                        <a:t> Months</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J</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ul-25</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A</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ug</a:t>
                      </a:r>
                      <a:r>
                        <a:rPr lang="sv-SE" sz="1100" b="0" i="0" u="none" strike="noStrike">
                          <a:solidFill>
                            <a:srgbClr val="000000"/>
                          </a:solidFill>
                          <a:effectLst/>
                          <a:latin typeface="Boehringer Forward Head" panose="02000500000000020000" pitchFamily="2" charset="0"/>
                          <a:ea typeface="等线" panose="02010600030101010101" pitchFamily="2" charset="-122"/>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S</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ep</a:t>
                      </a:r>
                      <a:r>
                        <a:rPr lang="sv-SE" sz="1100" b="0" i="0" u="none" strike="noStrike">
                          <a:solidFill>
                            <a:srgbClr val="000000"/>
                          </a:solidFill>
                          <a:effectLst/>
                          <a:latin typeface="Boehringer Forward Head" panose="02000500000000020000" pitchFamily="2" charset="0"/>
                          <a:ea typeface="等线" panose="02010600030101010101" pitchFamily="2" charset="-122"/>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O</a:t>
                      </a:r>
                      <a:r>
                        <a:rPr lang="en-US" altLang="zh-CN" sz="1100" b="0" i="0" u="none" strike="noStrike" err="1">
                          <a:solidFill>
                            <a:srgbClr val="000000"/>
                          </a:solidFill>
                          <a:effectLst/>
                          <a:latin typeface="Boehringer Forward Head" panose="02000500000000020000" pitchFamily="2" charset="0"/>
                          <a:ea typeface="等线" panose="02010600030101010101" pitchFamily="2" charset="-122"/>
                        </a:rPr>
                        <a:t>ct</a:t>
                      </a:r>
                      <a:r>
                        <a:rPr lang="sv-SE" sz="1100" b="0" i="0" u="none" strike="noStrike">
                          <a:solidFill>
                            <a:srgbClr val="000000"/>
                          </a:solidFill>
                          <a:effectLst/>
                          <a:latin typeface="Boehringer Forward Head" panose="02000500000000020000" pitchFamily="2" charset="0"/>
                          <a:ea typeface="等线" panose="02010600030101010101" pitchFamily="2" charset="-122"/>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N</a:t>
                      </a:r>
                      <a:r>
                        <a:rPr lang="en-US" altLang="zh-CN" sz="1100" b="0" i="0" u="none" strike="noStrike" err="1">
                          <a:solidFill>
                            <a:srgbClr val="000000"/>
                          </a:solidFill>
                          <a:effectLst/>
                          <a:latin typeface="Boehringer Forward Head" panose="02000500000000020000" pitchFamily="2" charset="0"/>
                          <a:ea typeface="等线" panose="02010600030101010101" pitchFamily="2" charset="-122"/>
                        </a:rPr>
                        <a:t>ov</a:t>
                      </a:r>
                      <a:r>
                        <a:rPr lang="sv-SE" sz="1100" b="0" i="0" u="none" strike="noStrike">
                          <a:solidFill>
                            <a:srgbClr val="000000"/>
                          </a:solidFill>
                          <a:effectLst/>
                          <a:latin typeface="Boehringer Forward Head" panose="02000500000000020000" pitchFamily="2" charset="0"/>
                          <a:ea typeface="等线" panose="02010600030101010101" pitchFamily="2" charset="-122"/>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D</a:t>
                      </a:r>
                      <a:r>
                        <a:rPr lang="en-US" altLang="zh-CN" sz="1100" b="0" i="0" u="none" strike="noStrike" err="1">
                          <a:solidFill>
                            <a:srgbClr val="000000"/>
                          </a:solidFill>
                          <a:effectLst/>
                          <a:latin typeface="Boehringer Forward Head" panose="02000500000000020000" pitchFamily="2" charset="0"/>
                          <a:ea typeface="等线" panose="02010600030101010101" pitchFamily="2" charset="-122"/>
                        </a:rPr>
                        <a:t>ec</a:t>
                      </a:r>
                      <a:r>
                        <a:rPr lang="sv-SE" sz="1100" b="0" i="0" u="none" strike="noStrike">
                          <a:solidFill>
                            <a:srgbClr val="000000"/>
                          </a:solidFill>
                          <a:effectLst/>
                          <a:latin typeface="Boehringer Forward Head" panose="02000500000000020000" pitchFamily="2" charset="0"/>
                          <a:ea typeface="等线" panose="02010600030101010101" pitchFamily="2" charset="-122"/>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J</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an</a:t>
                      </a:r>
                      <a:r>
                        <a:rPr lang="sv-SE" sz="1100" b="0" i="0" u="none" strike="noStrike">
                          <a:solidFill>
                            <a:srgbClr val="000000"/>
                          </a:solidFill>
                          <a:effectLst/>
                          <a:latin typeface="Boehringer Forward Head" panose="02000500000000020000" pitchFamily="2" charset="0"/>
                          <a:ea typeface="等线" panose="02010600030101010101" pitchFamily="2" charset="-122"/>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F</a:t>
                      </a:r>
                      <a:r>
                        <a:rPr lang="en-US" altLang="zh-CN" sz="1100" b="0" i="0" u="none" strike="noStrike" err="1">
                          <a:solidFill>
                            <a:srgbClr val="000000"/>
                          </a:solidFill>
                          <a:effectLst/>
                          <a:latin typeface="Boehringer Forward Head" panose="02000500000000020000" pitchFamily="2" charset="0"/>
                          <a:ea typeface="等线" panose="02010600030101010101" pitchFamily="2" charset="-122"/>
                        </a:rPr>
                        <a:t>eb</a:t>
                      </a:r>
                      <a:r>
                        <a:rPr lang="sv-SE" sz="1100" b="0" i="0" u="none" strike="noStrike">
                          <a:solidFill>
                            <a:srgbClr val="000000"/>
                          </a:solidFill>
                          <a:effectLst/>
                          <a:latin typeface="Boehringer Forward Head" panose="02000500000000020000" pitchFamily="2" charset="0"/>
                          <a:ea typeface="等线" panose="02010600030101010101" pitchFamily="2" charset="-122"/>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M</a:t>
                      </a:r>
                      <a:r>
                        <a:rPr lang="en-US" altLang="zh-CN" sz="1100" b="0" i="0" u="none" strike="noStrike" err="1">
                          <a:solidFill>
                            <a:srgbClr val="000000"/>
                          </a:solidFill>
                          <a:effectLst/>
                          <a:latin typeface="Boehringer Forward Head" panose="02000500000000020000" pitchFamily="2" charset="0"/>
                          <a:ea typeface="等线" panose="02010600030101010101" pitchFamily="2" charset="-122"/>
                        </a:rPr>
                        <a:t>ar</a:t>
                      </a:r>
                      <a:r>
                        <a:rPr lang="sv-SE" sz="1100" b="0" i="0" u="none" strike="noStrike">
                          <a:solidFill>
                            <a:srgbClr val="000000"/>
                          </a:solidFill>
                          <a:effectLst/>
                          <a:latin typeface="Boehringer Forward Head" panose="02000500000000020000" pitchFamily="2" charset="0"/>
                          <a:ea typeface="等线" panose="02010600030101010101" pitchFamily="2" charset="-122"/>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A</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pr-26</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M</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ay-26</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J</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un-26</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J</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ul-26</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1100" b="0" i="0" u="none" strike="noStrike">
                          <a:solidFill>
                            <a:srgbClr val="000000"/>
                          </a:solidFill>
                          <a:effectLst/>
                          <a:latin typeface="Boehringer Forward Head" panose="02000500000000020000" pitchFamily="2" charset="0"/>
                          <a:ea typeface="等线" panose="02010600030101010101" pitchFamily="2" charset="-122"/>
                        </a:rPr>
                        <a:t>A</a:t>
                      </a:r>
                      <a:r>
                        <a:rPr lang="en-US" altLang="zh-CN" sz="1100" b="0" i="0" u="none" strike="noStrike">
                          <a:solidFill>
                            <a:srgbClr val="000000"/>
                          </a:solidFill>
                          <a:effectLst/>
                          <a:latin typeface="Boehringer Forward Head" panose="02000500000000020000" pitchFamily="2" charset="0"/>
                          <a:ea typeface="等线" panose="02010600030101010101" pitchFamily="2" charset="-122"/>
                        </a:rPr>
                        <a:t>ug-26</a:t>
                      </a:r>
                      <a:endParaRPr lang="sv-SE" sz="1100" b="0" i="0" u="none" strike="noStrike">
                        <a:solidFill>
                          <a:srgbClr val="000000"/>
                        </a:solidFill>
                        <a:effectLst/>
                        <a:latin typeface="Boehringer Forward Head" panose="02000500000000020000" pitchFamily="2" charset="0"/>
                        <a:ea typeface="等线" panose="02010600030101010101" pitchFamily="2" charset="-122"/>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721286164"/>
                  </a:ext>
                </a:extLst>
              </a:tr>
              <a:tr h="336628">
                <a:tc>
                  <a:txBody>
                    <a:bodyPr/>
                    <a:lstStyle/>
                    <a:p>
                      <a:pPr algn="l" fontAlgn="t"/>
                      <a:r>
                        <a:rPr lang="en-US" sz="11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Patients Enrolled (Plan</a:t>
                      </a:r>
                      <a:r>
                        <a:rPr lang="en-US" altLang="zh-CN" sz="1100" b="0" i="0" u="none" strike="noStrike" kern="1200">
                          <a:solidFill>
                            <a:srgbClr val="000000"/>
                          </a:solidFill>
                          <a:effectLst/>
                          <a:latin typeface="Boehringer Forward Head" panose="02000500000000020000" pitchFamily="2" charset="0"/>
                          <a:ea typeface="等线" panose="02010600030101010101" pitchFamily="2" charset="-122"/>
                          <a:cs typeface="+mn-cs"/>
                        </a:rPr>
                        <a:t>ned</a:t>
                      </a:r>
                      <a:r>
                        <a:rPr lang="en-US" sz="1100" b="0" i="0" u="none" strike="noStrike" kern="1200">
                          <a:solidFill>
                            <a:srgbClr val="000000"/>
                          </a:solidFill>
                          <a:effectLst/>
                          <a:latin typeface="Boehringer Forward Head" panose="02000500000000020000" pitchFamily="2" charset="0"/>
                          <a:ea typeface="等线" panose="02010600030101010101" pitchFamily="2" charset="-122"/>
                          <a:cs typeface="+mn-cs"/>
                        </a:rPr>
                        <a:t>)</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t" latinLnBrk="0" hangingPunct="1"/>
                      <a:r>
                        <a:rPr lang="en-US" altLang="zh-CN" sz="1100" b="0" i="0" u="none" strike="noStrike" kern="1200">
                          <a:solidFill>
                            <a:srgbClr val="000000"/>
                          </a:solidFill>
                          <a:effectLst/>
                          <a:latin typeface="+mn-ea"/>
                          <a:ea typeface="+mn-ea"/>
                          <a:cs typeface="+mn-cs"/>
                        </a:rPr>
                        <a:t>0</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0</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1</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1</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2</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2</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4</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4</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6801046"/>
                  </a:ext>
                </a:extLst>
              </a:tr>
              <a:tr h="336628">
                <a:tc>
                  <a:txBody>
                    <a:bodyPr/>
                    <a:lstStyle/>
                    <a:p>
                      <a:pPr algn="l" fontAlgn="t"/>
                      <a:r>
                        <a:rPr lang="sv-SE" sz="11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Patients Enrolled/Randomized (Actual)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t"/>
                      <a:r>
                        <a:rPr lang="en-US" altLang="zh-CN" sz="1100" b="0" i="0" u="none" strike="noStrike">
                          <a:solidFill>
                            <a:srgbClr val="000000"/>
                          </a:solidFill>
                          <a:effectLst/>
                          <a:latin typeface="+mn-ea"/>
                          <a:ea typeface="+mn-ea"/>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1" i="0" u="none" strike="noStrike">
                          <a:solidFill>
                            <a:srgbClr val="000000"/>
                          </a:solidFill>
                          <a:effectLst/>
                          <a:latin typeface="+mn-ea"/>
                          <a:ea typeface="+mn-ea"/>
                        </a:rPr>
                        <a:t>4</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2221026"/>
                  </a:ext>
                </a:extLst>
              </a:tr>
              <a:tr h="336628">
                <a:tc>
                  <a:txBody>
                    <a:bodyPr/>
                    <a:lstStyle/>
                    <a:p>
                      <a:pPr algn="l" fontAlgn="t"/>
                      <a:r>
                        <a:rPr lang="sv-SE" sz="11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 Screened(Planned)</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t" latinLnBrk="0" hangingPunct="1"/>
                      <a:r>
                        <a:rPr lang="en-US" altLang="zh-CN" sz="1100" b="0" i="0" u="none" strike="noStrike" kern="1200">
                          <a:solidFill>
                            <a:srgbClr val="000000"/>
                          </a:solidFill>
                          <a:effectLst/>
                          <a:latin typeface="+mn-ea"/>
                          <a:ea typeface="+mn-ea"/>
                          <a:cs typeface="+mn-cs"/>
                        </a:rPr>
                        <a:t>1</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2</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4</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7</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9</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10</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11</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12</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212825"/>
                  </a:ext>
                </a:extLst>
              </a:tr>
              <a:tr h="336628">
                <a:tc>
                  <a:txBody>
                    <a:bodyPr/>
                    <a:lstStyle/>
                    <a:p>
                      <a:pPr algn="l" fontAlgn="t"/>
                      <a:r>
                        <a:rPr lang="sv-SE" sz="1100" b="0" i="0" u="none" strike="noStrike" kern="1200">
                          <a:solidFill>
                            <a:srgbClr val="000000"/>
                          </a:solidFill>
                          <a:effectLst/>
                          <a:latin typeface="Boehringer Forward Head" panose="02000500000000020000" pitchFamily="2" charset="0"/>
                          <a:ea typeface="等线" panose="02010600030101010101" pitchFamily="2" charset="-122"/>
                          <a:cs typeface="+mn-cs"/>
                        </a:rPr>
                        <a:t>Patient Screened(Actual)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en-US" altLang="zh-CN" sz="1100" b="0" i="0" u="none" strike="noStrike">
                          <a:solidFill>
                            <a:srgbClr val="000000"/>
                          </a:solidFill>
                          <a:effectLst/>
                          <a:latin typeface="+mn-ea"/>
                          <a:ea typeface="+mn-ea"/>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100" b="1" i="0" u="none" strike="noStrike">
                          <a:solidFill>
                            <a:srgbClr val="000000"/>
                          </a:solidFill>
                          <a:effectLst/>
                          <a:latin typeface="+mn-ea"/>
                          <a:ea typeface="+mn-ea"/>
                        </a:rPr>
                        <a:t>13</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en-US" altLang="zh-CN" sz="1100" b="0" i="0" u="none" strike="noStrike">
                        <a:solidFill>
                          <a:srgbClr val="000000"/>
                        </a:solidFill>
                        <a:effectLst/>
                        <a:latin typeface="+mn-ea"/>
                        <a:ea typeface="+mn-ea"/>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34953194"/>
                  </a:ext>
                </a:extLst>
              </a:tr>
            </a:tbl>
          </a:graphicData>
        </a:graphic>
      </p:graphicFrame>
      <p:sp>
        <p:nvSpPr>
          <p:cNvPr id="9" name="矩形: 圆角 8">
            <a:extLst>
              <a:ext uri="{FF2B5EF4-FFF2-40B4-BE49-F238E27FC236}">
                <a16:creationId xmlns:a16="http://schemas.microsoft.com/office/drawing/2014/main" id="{17FDBDE5-0EB1-9C72-961E-A29F33BED87D}"/>
              </a:ext>
            </a:extLst>
          </p:cNvPr>
          <p:cNvSpPr/>
          <p:nvPr/>
        </p:nvSpPr>
        <p:spPr bwMode="gray">
          <a:xfrm>
            <a:off x="287760" y="625634"/>
            <a:ext cx="2148294" cy="1605574"/>
          </a:xfrm>
          <a:prstGeom prst="roundRect">
            <a:avLst/>
          </a:prstGeom>
          <a:solidFill>
            <a:schemeClr val="accent4">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100">
                <a:solidFill>
                  <a:schemeClr val="tx1"/>
                </a:solidFill>
              </a:rPr>
              <a:t>Cut-off date</a:t>
            </a:r>
            <a:r>
              <a:rPr lang="zh-CN" altLang="en-US" sz="1100">
                <a:solidFill>
                  <a:schemeClr val="tx1"/>
                </a:solidFill>
              </a:rPr>
              <a:t>：</a:t>
            </a:r>
            <a:r>
              <a:rPr lang="en-US" altLang="zh-CN" sz="1100">
                <a:solidFill>
                  <a:schemeClr val="tx1"/>
                </a:solidFill>
              </a:rPr>
              <a:t>12Dec 2025</a:t>
            </a:r>
            <a:br>
              <a:rPr lang="en-US" altLang="zh-CN" sz="1100">
                <a:solidFill>
                  <a:schemeClr val="tx1"/>
                </a:solidFill>
              </a:rPr>
            </a:br>
            <a:r>
              <a:rPr lang="en-US" altLang="zh-CN" sz="1100">
                <a:solidFill>
                  <a:schemeClr val="tx1"/>
                </a:solidFill>
              </a:rPr>
              <a:t>Total Screened</a:t>
            </a:r>
            <a:r>
              <a:rPr lang="zh-CN" altLang="en-US" sz="1100">
                <a:solidFill>
                  <a:schemeClr val="tx1"/>
                </a:solidFill>
              </a:rPr>
              <a:t>：</a:t>
            </a:r>
            <a:r>
              <a:rPr lang="en-US" altLang="zh-CN" sz="1100">
                <a:solidFill>
                  <a:schemeClr val="tx1"/>
                </a:solidFill>
              </a:rPr>
              <a:t>13</a:t>
            </a:r>
          </a:p>
          <a:p>
            <a:pPr>
              <a:lnSpc>
                <a:spcPct val="140000"/>
              </a:lnSpc>
            </a:pPr>
            <a:r>
              <a:rPr lang="en-US" altLang="zh-CN" sz="1100">
                <a:solidFill>
                  <a:schemeClr val="tx1"/>
                </a:solidFill>
              </a:rPr>
              <a:t>Total Enrolled</a:t>
            </a:r>
            <a:r>
              <a:rPr lang="zh-CN" altLang="en-US" sz="1100">
                <a:solidFill>
                  <a:schemeClr val="tx1"/>
                </a:solidFill>
              </a:rPr>
              <a:t>：</a:t>
            </a:r>
            <a:r>
              <a:rPr lang="en-US" altLang="zh-CN" sz="1100">
                <a:solidFill>
                  <a:schemeClr val="tx1"/>
                </a:solidFill>
              </a:rPr>
              <a:t>4</a:t>
            </a:r>
          </a:p>
          <a:p>
            <a:pPr>
              <a:lnSpc>
                <a:spcPct val="140000"/>
              </a:lnSpc>
            </a:pPr>
            <a:r>
              <a:rPr lang="en-US" altLang="zh-CN" sz="1100">
                <a:solidFill>
                  <a:schemeClr val="tx1"/>
                </a:solidFill>
              </a:rPr>
              <a:t>Total Screen Failure</a:t>
            </a:r>
            <a:r>
              <a:rPr lang="zh-CN" altLang="en-US" sz="1100">
                <a:solidFill>
                  <a:schemeClr val="tx1"/>
                </a:solidFill>
              </a:rPr>
              <a:t>：</a:t>
            </a:r>
            <a:r>
              <a:rPr lang="en-US" altLang="zh-CN" sz="1100">
                <a:solidFill>
                  <a:schemeClr val="tx1"/>
                </a:solidFill>
              </a:rPr>
              <a:t>8</a:t>
            </a:r>
          </a:p>
          <a:p>
            <a:pPr>
              <a:lnSpc>
                <a:spcPct val="140000"/>
              </a:lnSpc>
            </a:pPr>
            <a:r>
              <a:rPr lang="en-US" altLang="zh-CN" sz="1100">
                <a:solidFill>
                  <a:schemeClr val="tx1"/>
                </a:solidFill>
              </a:rPr>
              <a:t>In Screening 01</a:t>
            </a:r>
            <a:r>
              <a:rPr lang="zh-CN" altLang="en-US" sz="1100">
                <a:solidFill>
                  <a:schemeClr val="tx1"/>
                </a:solidFill>
              </a:rPr>
              <a:t>：</a:t>
            </a:r>
            <a:r>
              <a:rPr lang="en-US" altLang="zh-CN" sz="1100">
                <a:solidFill>
                  <a:schemeClr val="tx1"/>
                </a:solidFill>
              </a:rPr>
              <a:t>1</a:t>
            </a:r>
          </a:p>
          <a:p>
            <a:pPr>
              <a:lnSpc>
                <a:spcPct val="140000"/>
              </a:lnSpc>
            </a:pPr>
            <a:r>
              <a:rPr lang="en-US" altLang="zh-CN" sz="1100">
                <a:solidFill>
                  <a:schemeClr val="tx1"/>
                </a:solidFill>
              </a:rPr>
              <a:t>In Screening 02:    0</a:t>
            </a:r>
          </a:p>
          <a:p>
            <a:pPr>
              <a:lnSpc>
                <a:spcPct val="140000"/>
              </a:lnSpc>
            </a:pPr>
            <a:r>
              <a:rPr lang="en-US" altLang="zh-CN" sz="1100">
                <a:solidFill>
                  <a:schemeClr val="tx1"/>
                </a:solidFill>
              </a:rPr>
              <a:t>Screen failure rate</a:t>
            </a:r>
            <a:r>
              <a:rPr lang="zh-CN" altLang="en-US" sz="1100">
                <a:solidFill>
                  <a:schemeClr val="tx1"/>
                </a:solidFill>
              </a:rPr>
              <a:t>：6</a:t>
            </a:r>
            <a:r>
              <a:rPr lang="en-US" altLang="zh-CN" sz="1100">
                <a:solidFill>
                  <a:schemeClr val="tx1"/>
                </a:solidFill>
              </a:rPr>
              <a:t>6.7%</a:t>
            </a:r>
          </a:p>
        </p:txBody>
      </p:sp>
      <p:sp>
        <p:nvSpPr>
          <p:cNvPr id="10" name="Rectangle 5">
            <a:extLst>
              <a:ext uri="{FF2B5EF4-FFF2-40B4-BE49-F238E27FC236}">
                <a16:creationId xmlns:a16="http://schemas.microsoft.com/office/drawing/2014/main" id="{65586652-165E-F881-C80D-819FD8CB2BD0}"/>
              </a:ext>
            </a:extLst>
          </p:cNvPr>
          <p:cNvSpPr/>
          <p:nvPr/>
        </p:nvSpPr>
        <p:spPr>
          <a:xfrm>
            <a:off x="9820656" y="570463"/>
            <a:ext cx="2353880" cy="55399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P</a:t>
            </a:r>
            <a:r>
              <a:rPr lang="en-US" altLang="zh-CN" sz="1200">
                <a:solidFill>
                  <a:schemeClr val="tx1"/>
                </a:solidFill>
              </a:rPr>
              <a:t>lanned </a:t>
            </a:r>
            <a:r>
              <a:rPr lang="en-US" sz="1200">
                <a:solidFill>
                  <a:schemeClr val="tx1"/>
                </a:solidFill>
              </a:rPr>
              <a:t>= 13</a:t>
            </a:r>
          </a:p>
          <a:p>
            <a:pPr lvl="0"/>
            <a:r>
              <a:rPr lang="en-US" sz="1200">
                <a:solidFill>
                  <a:schemeClr val="tx1"/>
                </a:solidFill>
              </a:rPr>
              <a:t>Total Randomized P</a:t>
            </a:r>
            <a:r>
              <a:rPr lang="en-US" altLang="zh-CN" sz="1200">
                <a:solidFill>
                  <a:schemeClr val="tx1"/>
                </a:solidFill>
              </a:rPr>
              <a:t>lanned </a:t>
            </a:r>
            <a:r>
              <a:rPr lang="en-US" sz="1200">
                <a:solidFill>
                  <a:schemeClr val="tx1"/>
                </a:solidFill>
              </a:rPr>
              <a:t>= 5</a:t>
            </a:r>
            <a:endParaRPr lang="en-US" sz="1200" b="1">
              <a:solidFill>
                <a:schemeClr val="tx1"/>
              </a:solidFill>
            </a:endParaRPr>
          </a:p>
        </p:txBody>
      </p:sp>
    </p:spTree>
    <p:extLst>
      <p:ext uri="{BB962C8B-B14F-4D97-AF65-F5344CB8AC3E}">
        <p14:creationId xmlns:p14="http://schemas.microsoft.com/office/powerpoint/2010/main" val="3084100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A831343-F2C0-1209-2FEE-BB7CEEBEC1DA}"/>
              </a:ext>
            </a:extLst>
          </p:cNvPr>
          <p:cNvSpPr txBox="1">
            <a:spLocks/>
          </p:cNvSpPr>
          <p:nvPr/>
        </p:nvSpPr>
        <p:spPr bwMode="gray">
          <a:xfrm>
            <a:off x="461650" y="308055"/>
            <a:ext cx="11233151" cy="720000"/>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2L </a:t>
            </a:r>
            <a:r>
              <a:rPr lang="en-US" altLang="zh-CN" sz="2400" i="1" err="1">
                <a:solidFill>
                  <a:schemeClr val="tx1"/>
                </a:solidFill>
                <a:latin typeface="+mn-lt"/>
              </a:rPr>
              <a:t>epNEC</a:t>
            </a:r>
            <a:r>
              <a:rPr lang="en-US" altLang="zh-CN" sz="2400" i="1">
                <a:solidFill>
                  <a:schemeClr val="tx1"/>
                </a:solidFill>
                <a:latin typeface="+mn-lt"/>
              </a:rPr>
              <a:t> (Epi study)</a:t>
            </a:r>
            <a:endParaRPr lang="zh-CN" altLang="en-US">
              <a:solidFill>
                <a:schemeClr val="tx1"/>
              </a:solidFill>
              <a:latin typeface="+mn-lt"/>
            </a:endParaRPr>
          </a:p>
        </p:txBody>
      </p:sp>
      <p:graphicFrame>
        <p:nvGraphicFramePr>
          <p:cNvPr id="9" name="Table 3">
            <a:extLst>
              <a:ext uri="{FF2B5EF4-FFF2-40B4-BE49-F238E27FC236}">
                <a16:creationId xmlns:a16="http://schemas.microsoft.com/office/drawing/2014/main" id="{C270FA34-831D-999A-D050-6E598D1F3A1D}"/>
              </a:ext>
            </a:extLst>
          </p:cNvPr>
          <p:cNvGraphicFramePr>
            <a:graphicFrameLocks noGrp="1"/>
          </p:cNvGraphicFramePr>
          <p:nvPr/>
        </p:nvGraphicFramePr>
        <p:xfrm>
          <a:off x="1285344" y="1027483"/>
          <a:ext cx="9593046"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11" name="Isosceles Triangle 1">
            <a:extLst>
              <a:ext uri="{FF2B5EF4-FFF2-40B4-BE49-F238E27FC236}">
                <a16:creationId xmlns:a16="http://schemas.microsoft.com/office/drawing/2014/main" id="{47250361-7C7C-2336-CEFC-8A29C92E897B}"/>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13" name="Isosceles Triangle 128">
            <a:extLst>
              <a:ext uri="{FF2B5EF4-FFF2-40B4-BE49-F238E27FC236}">
                <a16:creationId xmlns:a16="http://schemas.microsoft.com/office/drawing/2014/main" id="{8B3A9DA6-DBE1-7426-EE1E-29530608AA5A}"/>
              </a:ext>
            </a:extLst>
          </p:cNvPr>
          <p:cNvSpPr/>
          <p:nvPr/>
        </p:nvSpPr>
        <p:spPr>
          <a:xfrm rot="5400000">
            <a:off x="10646025" y="12549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5" name="灯片编号占位符 4">
            <a:extLst>
              <a:ext uri="{FF2B5EF4-FFF2-40B4-BE49-F238E27FC236}">
                <a16:creationId xmlns:a16="http://schemas.microsoft.com/office/drawing/2014/main" id="{467B621A-8071-43E4-2420-9203C27947BF}"/>
              </a:ext>
            </a:extLst>
          </p:cNvPr>
          <p:cNvSpPr txBox="1">
            <a:spLocks/>
          </p:cNvSpPr>
          <p:nvPr/>
        </p:nvSpPr>
        <p:spPr bwMode="gray">
          <a:xfrm>
            <a:off x="11692322" y="6296263"/>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27</a:t>
            </a:fld>
            <a:endParaRPr lang="en-US" kern="0">
              <a:solidFill>
                <a:srgbClr val="08312A"/>
              </a:solidFill>
              <a:cs typeface="Arial"/>
              <a:sym typeface="Arial"/>
            </a:endParaRPr>
          </a:p>
        </p:txBody>
      </p:sp>
      <p:sp>
        <p:nvSpPr>
          <p:cNvPr id="27" name="OTLSHAPE_T_5a934a26f311425e8ebaa0f45e6533ad_Shape">
            <a:extLst>
              <a:ext uri="{FF2B5EF4-FFF2-40B4-BE49-F238E27FC236}">
                <a16:creationId xmlns:a16="http://schemas.microsoft.com/office/drawing/2014/main" id="{ABB1504D-0FF9-84C6-4213-6035210B60B6}"/>
              </a:ext>
            </a:extLst>
          </p:cNvPr>
          <p:cNvSpPr/>
          <p:nvPr>
            <p:custDataLst>
              <p:tags r:id="rId1"/>
            </p:custDataLst>
          </p:nvPr>
        </p:nvSpPr>
        <p:spPr bwMode="auto">
          <a:xfrm>
            <a:off x="4658521" y="2342918"/>
            <a:ext cx="1052453"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cxnSp>
        <p:nvCxnSpPr>
          <p:cNvPr id="29" name="Straight Connector 147">
            <a:extLst>
              <a:ext uri="{FF2B5EF4-FFF2-40B4-BE49-F238E27FC236}">
                <a16:creationId xmlns:a16="http://schemas.microsoft.com/office/drawing/2014/main" id="{106F74FD-FB4C-ED97-0632-80757DA42FD8}"/>
              </a:ext>
            </a:extLst>
          </p:cNvPr>
          <p:cNvCxnSpPr>
            <a:cxnSpLocks/>
          </p:cNvCxnSpPr>
          <p:nvPr/>
        </p:nvCxnSpPr>
        <p:spPr bwMode="auto">
          <a:xfrm flipH="1">
            <a:off x="-28832" y="396897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pic>
        <p:nvPicPr>
          <p:cNvPr id="31" name="Picture 6" descr="图形用户界面&#10;&#10;AI 生成的内容可能不正确。">
            <a:extLst>
              <a:ext uri="{FF2B5EF4-FFF2-40B4-BE49-F238E27FC236}">
                <a16:creationId xmlns:a16="http://schemas.microsoft.com/office/drawing/2014/main" id="{595AFDBF-8301-873B-8F5A-A3CD4CD498ED}"/>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1920840"/>
            <a:ext cx="1138019" cy="560880"/>
          </a:xfrm>
          <a:prstGeom prst="rect">
            <a:avLst/>
          </a:prstGeom>
        </p:spPr>
      </p:pic>
      <p:sp>
        <p:nvSpPr>
          <p:cNvPr id="33" name="OTLSHAPE_T_e17f3958430f4cff8650518c93c7635e_Shape">
            <a:extLst>
              <a:ext uri="{FF2B5EF4-FFF2-40B4-BE49-F238E27FC236}">
                <a16:creationId xmlns:a16="http://schemas.microsoft.com/office/drawing/2014/main" id="{BC41B13E-6072-569C-1A90-52D11A86043C}"/>
              </a:ext>
            </a:extLst>
          </p:cNvPr>
          <p:cNvSpPr/>
          <p:nvPr>
            <p:custDataLst>
              <p:tags r:id="rId2"/>
            </p:custDataLst>
          </p:nvPr>
        </p:nvSpPr>
        <p:spPr bwMode="auto">
          <a:xfrm>
            <a:off x="2678322" y="2342922"/>
            <a:ext cx="196899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N=5</a:t>
            </a:r>
          </a:p>
        </p:txBody>
      </p:sp>
      <p:sp>
        <p:nvSpPr>
          <p:cNvPr id="35" name="OTLSHAPE_T_e17f3958430f4cff8650518c93c7635e_StartDate">
            <a:extLst>
              <a:ext uri="{FF2B5EF4-FFF2-40B4-BE49-F238E27FC236}">
                <a16:creationId xmlns:a16="http://schemas.microsoft.com/office/drawing/2014/main" id="{094EB447-76D3-B0F9-1E84-8D037A207110}"/>
              </a:ext>
            </a:extLst>
          </p:cNvPr>
          <p:cNvSpPr txBox="1"/>
          <p:nvPr>
            <p:custDataLst>
              <p:tags r:id="rId3"/>
            </p:custDataLst>
          </p:nvPr>
        </p:nvSpPr>
        <p:spPr>
          <a:xfrm>
            <a:off x="2341748" y="2159791"/>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7" name="OTLSHAPE_T_e17f3958430f4cff8650518c93c7635e_Shape">
            <a:extLst>
              <a:ext uri="{FF2B5EF4-FFF2-40B4-BE49-F238E27FC236}">
                <a16:creationId xmlns:a16="http://schemas.microsoft.com/office/drawing/2014/main" id="{534C69C6-065B-86F8-00CF-DDEFE7199280}"/>
              </a:ext>
            </a:extLst>
          </p:cNvPr>
          <p:cNvSpPr/>
          <p:nvPr>
            <p:custDataLst>
              <p:tags r:id="rId4"/>
            </p:custDataLst>
          </p:nvPr>
        </p:nvSpPr>
        <p:spPr bwMode="auto">
          <a:xfrm>
            <a:off x="1533761" y="2337720"/>
            <a:ext cx="1133354"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733528CB-70D1-C2B4-05E0-00910C3D2253}"/>
              </a:ext>
            </a:extLst>
          </p:cNvPr>
          <p:cNvSpPr txBox="1"/>
          <p:nvPr>
            <p:custDataLst>
              <p:tags r:id="rId5"/>
            </p:custDataLst>
          </p:nvPr>
        </p:nvSpPr>
        <p:spPr>
          <a:xfrm>
            <a:off x="1414034" y="2159791"/>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41" name="Rectangle 77">
            <a:extLst>
              <a:ext uri="{FF2B5EF4-FFF2-40B4-BE49-F238E27FC236}">
                <a16:creationId xmlns:a16="http://schemas.microsoft.com/office/drawing/2014/main" id="{658759F7-5AEF-FF4F-1B14-659EC0EE01B4}"/>
              </a:ext>
            </a:extLst>
          </p:cNvPr>
          <p:cNvSpPr/>
          <p:nvPr/>
        </p:nvSpPr>
        <p:spPr>
          <a:xfrm>
            <a:off x="2500257" y="2625404"/>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43" name="OTLSHAPE_M_39ea6ebc19a94c9fab6ef5006c31df58_Shape">
            <a:extLst>
              <a:ext uri="{FF2B5EF4-FFF2-40B4-BE49-F238E27FC236}">
                <a16:creationId xmlns:a16="http://schemas.microsoft.com/office/drawing/2014/main" id="{37BFFBEA-E878-7C88-7253-7C1F1578660A}"/>
              </a:ext>
            </a:extLst>
          </p:cNvPr>
          <p:cNvSpPr/>
          <p:nvPr>
            <p:custDataLst>
              <p:tags r:id="rId6"/>
            </p:custDataLst>
          </p:nvPr>
        </p:nvSpPr>
        <p:spPr bwMode="auto">
          <a:xfrm rot="16200000">
            <a:off x="1622646" y="2570861"/>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45" name="OTLSHAPE_M_39ea6ebc19a94c9fab6ef5006c31df58_Title">
            <a:extLst>
              <a:ext uri="{FF2B5EF4-FFF2-40B4-BE49-F238E27FC236}">
                <a16:creationId xmlns:a16="http://schemas.microsoft.com/office/drawing/2014/main" id="{C863BA99-D0C1-FD13-DFFF-B015E6D2561F}"/>
              </a:ext>
            </a:extLst>
          </p:cNvPr>
          <p:cNvSpPr txBox="1"/>
          <p:nvPr>
            <p:custDataLst>
              <p:tags r:id="rId7"/>
            </p:custDataLst>
          </p:nvPr>
        </p:nvSpPr>
        <p:spPr>
          <a:xfrm>
            <a:off x="1403968" y="2672375"/>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47" name="TextBox 82">
            <a:extLst>
              <a:ext uri="{FF2B5EF4-FFF2-40B4-BE49-F238E27FC236}">
                <a16:creationId xmlns:a16="http://schemas.microsoft.com/office/drawing/2014/main" id="{D22DF95E-FCEB-2497-B74A-F0C65AA06D24}"/>
              </a:ext>
            </a:extLst>
          </p:cNvPr>
          <p:cNvSpPr txBox="1"/>
          <p:nvPr/>
        </p:nvSpPr>
        <p:spPr>
          <a:xfrm>
            <a:off x="31595" y="2588464"/>
            <a:ext cx="825189" cy="492635"/>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sp>
        <p:nvSpPr>
          <p:cNvPr id="49" name="Star: 4 Points 143">
            <a:extLst>
              <a:ext uri="{FF2B5EF4-FFF2-40B4-BE49-F238E27FC236}">
                <a16:creationId xmlns:a16="http://schemas.microsoft.com/office/drawing/2014/main" id="{822214D7-6077-E623-FE5A-735D38A14893}"/>
              </a:ext>
            </a:extLst>
          </p:cNvPr>
          <p:cNvSpPr/>
          <p:nvPr/>
        </p:nvSpPr>
        <p:spPr bwMode="auto">
          <a:xfrm>
            <a:off x="2630166" y="253922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54" name="Group 7">
            <a:extLst>
              <a:ext uri="{FF2B5EF4-FFF2-40B4-BE49-F238E27FC236}">
                <a16:creationId xmlns:a16="http://schemas.microsoft.com/office/drawing/2014/main" id="{D298A6E1-4575-21DA-79EC-FDFB7A86910E}"/>
              </a:ext>
            </a:extLst>
          </p:cNvPr>
          <p:cNvGrpSpPr/>
          <p:nvPr/>
        </p:nvGrpSpPr>
        <p:grpSpPr>
          <a:xfrm>
            <a:off x="4194288" y="2171102"/>
            <a:ext cx="911145" cy="722963"/>
            <a:chOff x="4295073" y="4172897"/>
            <a:chExt cx="911145" cy="722963"/>
          </a:xfrm>
        </p:grpSpPr>
        <p:sp>
          <p:nvSpPr>
            <p:cNvPr id="51" name="Rectangle 73">
              <a:extLst>
                <a:ext uri="{FF2B5EF4-FFF2-40B4-BE49-F238E27FC236}">
                  <a16:creationId xmlns:a16="http://schemas.microsoft.com/office/drawing/2014/main" id="{863AE58B-FAA9-6F0E-DD3B-8AEDEF278790}"/>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52" name="OTLSHAPE_T_e17f3958430f4cff8650518c93c7635e_StartDate">
              <a:extLst>
                <a:ext uri="{FF2B5EF4-FFF2-40B4-BE49-F238E27FC236}">
                  <a16:creationId xmlns:a16="http://schemas.microsoft.com/office/drawing/2014/main" id="{24557DC8-8120-83BE-5F80-BE30BB05F908}"/>
                </a:ext>
              </a:extLst>
            </p:cNvPr>
            <p:cNvSpPr txBox="1"/>
            <p:nvPr>
              <p:custDataLst>
                <p:tags r:id="rId16"/>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53" name="Star: 4 Points 143">
              <a:extLst>
                <a:ext uri="{FF2B5EF4-FFF2-40B4-BE49-F238E27FC236}">
                  <a16:creationId xmlns:a16="http://schemas.microsoft.com/office/drawing/2014/main" id="{A5CA6809-740F-BF2C-4DF5-A9D7EFEC9043}"/>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59" name="Group 9">
            <a:extLst>
              <a:ext uri="{FF2B5EF4-FFF2-40B4-BE49-F238E27FC236}">
                <a16:creationId xmlns:a16="http://schemas.microsoft.com/office/drawing/2014/main" id="{8024F1C5-9A73-985C-7413-6236E1C5C5F8}"/>
              </a:ext>
            </a:extLst>
          </p:cNvPr>
          <p:cNvGrpSpPr/>
          <p:nvPr/>
        </p:nvGrpSpPr>
        <p:grpSpPr>
          <a:xfrm>
            <a:off x="5118266" y="2161735"/>
            <a:ext cx="1013539" cy="722962"/>
            <a:chOff x="5523223" y="4172897"/>
            <a:chExt cx="1013539" cy="722962"/>
          </a:xfrm>
        </p:grpSpPr>
        <p:sp>
          <p:nvSpPr>
            <p:cNvPr id="56" name="Rectangle 55">
              <a:extLst>
                <a:ext uri="{FF2B5EF4-FFF2-40B4-BE49-F238E27FC236}">
                  <a16:creationId xmlns:a16="http://schemas.microsoft.com/office/drawing/2014/main" id="{D8231464-7B7E-9DC2-4681-14AFB7010653}"/>
                </a:ext>
              </a:extLst>
            </p:cNvPr>
            <p:cNvSpPr/>
            <p:nvPr/>
          </p:nvSpPr>
          <p:spPr>
            <a:xfrm>
              <a:off x="5523223" y="4639315"/>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57" name="OTLSHAPE_T_e17f3958430f4cff8650518c93c7635e_StartDate">
              <a:extLst>
                <a:ext uri="{FF2B5EF4-FFF2-40B4-BE49-F238E27FC236}">
                  <a16:creationId xmlns:a16="http://schemas.microsoft.com/office/drawing/2014/main" id="{77699F45-9858-3FC0-154B-8938057709DE}"/>
                </a:ext>
              </a:extLst>
            </p:cNvPr>
            <p:cNvSpPr txBox="1"/>
            <p:nvPr>
              <p:custDataLst>
                <p:tags r:id="rId15"/>
              </p:custDataLst>
            </p:nvPr>
          </p:nvSpPr>
          <p:spPr>
            <a:xfrm>
              <a:off x="5625614" y="417289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58" name="Star: 4 Points 143">
              <a:extLst>
                <a:ext uri="{FF2B5EF4-FFF2-40B4-BE49-F238E27FC236}">
                  <a16:creationId xmlns:a16="http://schemas.microsoft.com/office/drawing/2014/main" id="{A77DDE2E-28E6-7CF1-E615-FC78523F3CB6}"/>
                </a:ext>
              </a:extLst>
            </p:cNvPr>
            <p:cNvSpPr/>
            <p:nvPr/>
          </p:nvSpPr>
          <p:spPr bwMode="auto">
            <a:xfrm>
              <a:off x="6038400"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64" name="Group 11">
            <a:extLst>
              <a:ext uri="{FF2B5EF4-FFF2-40B4-BE49-F238E27FC236}">
                <a16:creationId xmlns:a16="http://schemas.microsoft.com/office/drawing/2014/main" id="{DFBEDEC0-6C2B-A6E2-6BBC-D042E0EF431D}"/>
              </a:ext>
            </a:extLst>
          </p:cNvPr>
          <p:cNvGrpSpPr/>
          <p:nvPr/>
        </p:nvGrpSpPr>
        <p:grpSpPr>
          <a:xfrm>
            <a:off x="6202080" y="2124936"/>
            <a:ext cx="845966" cy="769129"/>
            <a:chOff x="6595371" y="4126731"/>
            <a:chExt cx="845966" cy="769129"/>
          </a:xfrm>
        </p:grpSpPr>
        <p:sp>
          <p:nvSpPr>
            <p:cNvPr id="61" name="Rectangle 100">
              <a:extLst>
                <a:ext uri="{FF2B5EF4-FFF2-40B4-BE49-F238E27FC236}">
                  <a16:creationId xmlns:a16="http://schemas.microsoft.com/office/drawing/2014/main" id="{3741056C-EB25-C2FE-2C35-D59B502748E4}"/>
                </a:ext>
              </a:extLst>
            </p:cNvPr>
            <p:cNvSpPr/>
            <p:nvPr/>
          </p:nvSpPr>
          <p:spPr>
            <a:xfrm>
              <a:off x="6595371" y="412673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62" name="Rectangle 55">
              <a:extLst>
                <a:ext uri="{FF2B5EF4-FFF2-40B4-BE49-F238E27FC236}">
                  <a16:creationId xmlns:a16="http://schemas.microsoft.com/office/drawing/2014/main" id="{BBF9F872-5261-8D84-9615-2E25EFF69D65}"/>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63" name="五角星 55">
              <a:extLst>
                <a:ext uri="{FF2B5EF4-FFF2-40B4-BE49-F238E27FC236}">
                  <a16:creationId xmlns:a16="http://schemas.microsoft.com/office/drawing/2014/main" id="{4B2D0745-69DA-A6E5-A226-30086CB0680B}"/>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71" name="Group 12">
            <a:extLst>
              <a:ext uri="{FF2B5EF4-FFF2-40B4-BE49-F238E27FC236}">
                <a16:creationId xmlns:a16="http://schemas.microsoft.com/office/drawing/2014/main" id="{6178ABD1-576D-6BE9-44E6-D822A076347F}"/>
              </a:ext>
            </a:extLst>
          </p:cNvPr>
          <p:cNvGrpSpPr/>
          <p:nvPr/>
        </p:nvGrpSpPr>
        <p:grpSpPr>
          <a:xfrm>
            <a:off x="8345004" y="2124936"/>
            <a:ext cx="817491" cy="769129"/>
            <a:chOff x="8797283" y="4126731"/>
            <a:chExt cx="817491" cy="769129"/>
          </a:xfrm>
        </p:grpSpPr>
        <p:sp>
          <p:nvSpPr>
            <p:cNvPr id="68" name="Rectangle 100">
              <a:extLst>
                <a:ext uri="{FF2B5EF4-FFF2-40B4-BE49-F238E27FC236}">
                  <a16:creationId xmlns:a16="http://schemas.microsoft.com/office/drawing/2014/main" id="{1AA48701-65C0-E1D8-DBAC-3B34A6E425B0}"/>
                </a:ext>
              </a:extLst>
            </p:cNvPr>
            <p:cNvSpPr/>
            <p:nvPr/>
          </p:nvSpPr>
          <p:spPr>
            <a:xfrm>
              <a:off x="8797283" y="412673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2028</a:t>
              </a:r>
            </a:p>
          </p:txBody>
        </p:sp>
        <p:sp>
          <p:nvSpPr>
            <p:cNvPr id="69" name="Rectangle 55">
              <a:extLst>
                <a:ext uri="{FF2B5EF4-FFF2-40B4-BE49-F238E27FC236}">
                  <a16:creationId xmlns:a16="http://schemas.microsoft.com/office/drawing/2014/main" id="{034352E4-33E2-BA1D-826C-5B0C0D0FD07A}"/>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70" name="Graphic 317" descr="Flag with solid fill">
              <a:extLst>
                <a:ext uri="{FF2B5EF4-FFF2-40B4-BE49-F238E27FC236}">
                  <a16:creationId xmlns:a16="http://schemas.microsoft.com/office/drawing/2014/main" id="{78DB415E-599C-934B-A662-3A40A524A8C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027776" y="4419855"/>
              <a:ext cx="210312" cy="210312"/>
            </a:xfrm>
            <a:prstGeom prst="rect">
              <a:avLst/>
            </a:prstGeom>
          </p:spPr>
        </p:pic>
      </p:grpSp>
      <p:grpSp>
        <p:nvGrpSpPr>
          <p:cNvPr id="80" name="Group 20">
            <a:extLst>
              <a:ext uri="{FF2B5EF4-FFF2-40B4-BE49-F238E27FC236}">
                <a16:creationId xmlns:a16="http://schemas.microsoft.com/office/drawing/2014/main" id="{76AD7C78-6E55-8DF1-0B7F-75F81ED7AA7D}"/>
              </a:ext>
            </a:extLst>
          </p:cNvPr>
          <p:cNvGrpSpPr/>
          <p:nvPr/>
        </p:nvGrpSpPr>
        <p:grpSpPr>
          <a:xfrm>
            <a:off x="3136368" y="2121212"/>
            <a:ext cx="1212191" cy="948008"/>
            <a:chOff x="5671820" y="2030582"/>
            <a:chExt cx="1212191" cy="948008"/>
          </a:xfrm>
        </p:grpSpPr>
        <p:sp>
          <p:nvSpPr>
            <p:cNvPr id="77" name="Rectangle 55">
              <a:extLst>
                <a:ext uri="{FF2B5EF4-FFF2-40B4-BE49-F238E27FC236}">
                  <a16:creationId xmlns:a16="http://schemas.microsoft.com/office/drawing/2014/main" id="{EEB0253F-2B1C-76D4-BDED-97FFE9D24D25}"/>
                </a:ext>
              </a:extLst>
            </p:cNvPr>
            <p:cNvSpPr/>
            <p:nvPr/>
          </p:nvSpPr>
          <p:spPr>
            <a:xfrm>
              <a:off x="5671820" y="2722045"/>
              <a:ext cx="121219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8" name="OTLSHAPE_T_e17f3958430f4cff8650518c93c7635e_StartDate">
              <a:extLst>
                <a:ext uri="{FF2B5EF4-FFF2-40B4-BE49-F238E27FC236}">
                  <a16:creationId xmlns:a16="http://schemas.microsoft.com/office/drawing/2014/main" id="{3779433C-ED01-1667-45DE-E59F1CF620C0}"/>
                </a:ext>
              </a:extLst>
            </p:cNvPr>
            <p:cNvSpPr txBox="1"/>
            <p:nvPr>
              <p:custDataLst>
                <p:tags r:id="rId14"/>
              </p:custDataLst>
            </p:nvPr>
          </p:nvSpPr>
          <p:spPr>
            <a:xfrm>
              <a:off x="5948371" y="203058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ea typeface="等线" panose="02010600030101010101" pitchFamily="2" charset="-122"/>
                  <a:cs typeface="Calibri" panose="020F0502020204030204" pitchFamily="34" charset="0"/>
                </a:rPr>
                <a:t>Q1 2025</a:t>
              </a:r>
              <a:endParaRPr lang="zh-CN" altLang="en-US" sz="1067" b="1" i="1">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43BF7287-02A5-2321-E744-2F48DD46998F}"/>
                </a:ext>
              </a:extLst>
            </p:cNvPr>
            <p:cNvSpPr/>
            <p:nvPr/>
          </p:nvSpPr>
          <p:spPr bwMode="auto">
            <a:xfrm>
              <a:off x="6108628" y="24677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cxnSp>
        <p:nvCxnSpPr>
          <p:cNvPr id="82" name="Connector: Elbow 26">
            <a:extLst>
              <a:ext uri="{FF2B5EF4-FFF2-40B4-BE49-F238E27FC236}">
                <a16:creationId xmlns:a16="http://schemas.microsoft.com/office/drawing/2014/main" id="{3B1BBA66-94D8-1322-40AD-8E85182442E8}"/>
              </a:ext>
            </a:extLst>
          </p:cNvPr>
          <p:cNvCxnSpPr>
            <a:cxnSpLocks/>
          </p:cNvCxnSpPr>
          <p:nvPr/>
        </p:nvCxnSpPr>
        <p:spPr bwMode="gray">
          <a:xfrm>
            <a:off x="3132248" y="2916234"/>
            <a:ext cx="467202" cy="709575"/>
          </a:xfrm>
          <a:prstGeom prst="bentConnector3">
            <a:avLst>
              <a:gd name="adj1" fmla="val -64215"/>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7" name="Group 27">
            <a:extLst>
              <a:ext uri="{FF2B5EF4-FFF2-40B4-BE49-F238E27FC236}">
                <a16:creationId xmlns:a16="http://schemas.microsoft.com/office/drawing/2014/main" id="{E52B60C9-07E6-133F-1927-DB65E4FEE533}"/>
              </a:ext>
            </a:extLst>
          </p:cNvPr>
          <p:cNvGrpSpPr/>
          <p:nvPr/>
        </p:nvGrpSpPr>
        <p:grpSpPr>
          <a:xfrm>
            <a:off x="3492361" y="3011942"/>
            <a:ext cx="1173719" cy="766853"/>
            <a:chOff x="7049514" y="2053666"/>
            <a:chExt cx="1173719" cy="766853"/>
          </a:xfrm>
        </p:grpSpPr>
        <p:sp>
          <p:nvSpPr>
            <p:cNvPr id="84" name="Rectangle 100">
              <a:extLst>
                <a:ext uri="{FF2B5EF4-FFF2-40B4-BE49-F238E27FC236}">
                  <a16:creationId xmlns:a16="http://schemas.microsoft.com/office/drawing/2014/main" id="{F181F13B-E059-C785-2156-4EFFE9840210}"/>
                </a:ext>
              </a:extLst>
            </p:cNvPr>
            <p:cNvSpPr/>
            <p:nvPr/>
          </p:nvSpPr>
          <p:spPr>
            <a:xfrm>
              <a:off x="7121993" y="2053666"/>
              <a:ext cx="100540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Q1-Q2 2026</a:t>
              </a:r>
            </a:p>
          </p:txBody>
        </p:sp>
        <p:sp>
          <p:nvSpPr>
            <p:cNvPr id="85" name="Rectangle 55">
              <a:extLst>
                <a:ext uri="{FF2B5EF4-FFF2-40B4-BE49-F238E27FC236}">
                  <a16:creationId xmlns:a16="http://schemas.microsoft.com/office/drawing/2014/main" id="{1A7E7224-6525-5E0F-CA45-3DC8F821FE4B}"/>
                </a:ext>
              </a:extLst>
            </p:cNvPr>
            <p:cNvSpPr/>
            <p:nvPr/>
          </p:nvSpPr>
          <p:spPr>
            <a:xfrm>
              <a:off x="7049514" y="2563974"/>
              <a:ext cx="117371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HA interaction</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86" name="Graphic 30" descr="Flag with solid fill">
              <a:extLst>
                <a:ext uri="{FF2B5EF4-FFF2-40B4-BE49-F238E27FC236}">
                  <a16:creationId xmlns:a16="http://schemas.microsoft.com/office/drawing/2014/main" id="{977A546C-ABEF-63B3-36E4-E0D04F7A6AD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50741" y="2347542"/>
              <a:ext cx="210312" cy="210312"/>
            </a:xfrm>
            <a:prstGeom prst="rect">
              <a:avLst/>
            </a:prstGeom>
          </p:spPr>
        </p:pic>
      </p:grpSp>
      <p:sp>
        <p:nvSpPr>
          <p:cNvPr id="135" name="OTLSHAPE_T_5a934a26f311425e8ebaa0f45e6533ad_Shape">
            <a:extLst>
              <a:ext uri="{FF2B5EF4-FFF2-40B4-BE49-F238E27FC236}">
                <a16:creationId xmlns:a16="http://schemas.microsoft.com/office/drawing/2014/main" id="{69C6AD95-8AE5-29B7-E81F-8BA05D1C1EEB}"/>
              </a:ext>
            </a:extLst>
          </p:cNvPr>
          <p:cNvSpPr/>
          <p:nvPr>
            <p:custDataLst>
              <p:tags r:id="rId8"/>
            </p:custDataLst>
          </p:nvPr>
        </p:nvSpPr>
        <p:spPr bwMode="auto">
          <a:xfrm>
            <a:off x="5564684" y="4394139"/>
            <a:ext cx="516993"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r>
              <a:rPr lang="en-US" altLang="zh-CN" sz="600" b="1" spc="-7">
                <a:solidFill>
                  <a:srgbClr val="000000"/>
                </a:solidFill>
                <a:ea typeface="等线"/>
              </a:rPr>
              <a:t>Analysis</a:t>
            </a:r>
            <a:endParaRPr lang="en-US" altLang="zh-CN" sz="700" b="1" spc="-7">
              <a:solidFill>
                <a:srgbClr val="000000"/>
              </a:solidFill>
              <a:ea typeface="等线" panose="02010600030101010101" pitchFamily="2" charset="-122"/>
            </a:endParaRPr>
          </a:p>
        </p:txBody>
      </p:sp>
      <p:sp>
        <p:nvSpPr>
          <p:cNvPr id="137" name="OTLSHAPE_T_e17f3958430f4cff8650518c93c7635e_Shape">
            <a:extLst>
              <a:ext uri="{FF2B5EF4-FFF2-40B4-BE49-F238E27FC236}">
                <a16:creationId xmlns:a16="http://schemas.microsoft.com/office/drawing/2014/main" id="{6F790A61-6C46-B229-71DA-C47D12FB1908}"/>
              </a:ext>
            </a:extLst>
          </p:cNvPr>
          <p:cNvSpPr/>
          <p:nvPr>
            <p:custDataLst>
              <p:tags r:id="rId9"/>
            </p:custDataLst>
          </p:nvPr>
        </p:nvSpPr>
        <p:spPr bwMode="auto">
          <a:xfrm>
            <a:off x="3345587" y="4394143"/>
            <a:ext cx="221200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50" b="1">
                <a:solidFill>
                  <a:prstClr val="black"/>
                </a:solidFill>
                <a:ea typeface="等线"/>
                <a:cs typeface="Calibri"/>
              </a:rPr>
              <a:t>Data collection</a:t>
            </a:r>
            <a:endParaRPr lang="en-US" altLang="zh-CN" sz="1050" b="1">
              <a:solidFill>
                <a:prstClr val="black"/>
              </a:solidFill>
              <a:ea typeface="等线" panose="02010600030101010101" pitchFamily="2" charset="-122"/>
              <a:cs typeface="Calibri" panose="020F0502020204030204" pitchFamily="34" charset="0"/>
            </a:endParaRPr>
          </a:p>
        </p:txBody>
      </p:sp>
      <p:sp>
        <p:nvSpPr>
          <p:cNvPr id="138" name="OTLSHAPE_T_e17f3958430f4cff8650518c93c7635e_StartDate">
            <a:extLst>
              <a:ext uri="{FF2B5EF4-FFF2-40B4-BE49-F238E27FC236}">
                <a16:creationId xmlns:a16="http://schemas.microsoft.com/office/drawing/2014/main" id="{A0843D15-156E-E713-E88A-6A11339B3330}"/>
              </a:ext>
            </a:extLst>
          </p:cNvPr>
          <p:cNvSpPr txBox="1"/>
          <p:nvPr>
            <p:custDataLst>
              <p:tags r:id="rId10"/>
            </p:custDataLst>
          </p:nvPr>
        </p:nvSpPr>
        <p:spPr>
          <a:xfrm>
            <a:off x="2881326" y="4206894"/>
            <a:ext cx="910164" cy="164212"/>
          </a:xfrm>
          <a:prstGeom prst="rect">
            <a:avLst/>
          </a:prstGeom>
          <a:noFill/>
        </p:spPr>
        <p:txBody>
          <a:bodyPr vert="horz" wrap="square" lIns="0" tIns="0" rIns="0" bIns="0" rtlCol="0" anchor="ctr" anchorCtr="0">
            <a:spAutoFit/>
          </a:bodyPr>
          <a:lstStyle/>
          <a:p>
            <a:pPr algn="ctr" defTabSz="1219108">
              <a:defRPr/>
            </a:pPr>
            <a:r>
              <a:rPr lang="en-US" altLang="zh-CN" sz="1050" b="1" i="1">
                <a:solidFill>
                  <a:schemeClr val="bg1">
                    <a:lumMod val="65000"/>
                  </a:schemeClr>
                </a:solidFill>
                <a:ea typeface="等线"/>
                <a:cs typeface="Calibri"/>
              </a:rPr>
              <a:t>Dec 2025</a:t>
            </a:r>
            <a:endParaRPr lang="zh-CN" altLang="en-US" sz="1050" b="1" i="1">
              <a:solidFill>
                <a:schemeClr val="bg1">
                  <a:lumMod val="65000"/>
                </a:schemeClr>
              </a:solidFill>
              <a:ea typeface="等线"/>
              <a:cs typeface="Calibri"/>
            </a:endParaRPr>
          </a:p>
        </p:txBody>
      </p:sp>
      <p:sp>
        <p:nvSpPr>
          <p:cNvPr id="139" name="OTLSHAPE_T_e17f3958430f4cff8650518c93c7635e_Shape">
            <a:extLst>
              <a:ext uri="{FF2B5EF4-FFF2-40B4-BE49-F238E27FC236}">
                <a16:creationId xmlns:a16="http://schemas.microsoft.com/office/drawing/2014/main" id="{800D346E-47E8-B89F-A71C-6931C7989241}"/>
              </a:ext>
            </a:extLst>
          </p:cNvPr>
          <p:cNvSpPr/>
          <p:nvPr>
            <p:custDataLst>
              <p:tags r:id="rId11"/>
            </p:custDataLst>
          </p:nvPr>
        </p:nvSpPr>
        <p:spPr bwMode="auto">
          <a:xfrm>
            <a:off x="1620257" y="4388941"/>
            <a:ext cx="1714122" cy="283882"/>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a:spcBef>
                <a:spcPct val="0"/>
              </a:spcBef>
              <a:spcAft>
                <a:spcPct val="0"/>
              </a:spcAft>
              <a:defRPr/>
            </a:pPr>
            <a:r>
              <a:rPr lang="en-US" altLang="zh-CN" sz="800" b="1">
                <a:solidFill>
                  <a:srgbClr val="000000"/>
                </a:solidFill>
                <a:ea typeface="等线"/>
                <a:cs typeface="Calibri"/>
              </a:rPr>
              <a:t>Protocol + EC  approval + Contract</a:t>
            </a:r>
            <a:endParaRPr lang="en-US" altLang="zh-CN" sz="800" b="1">
              <a:solidFill>
                <a:srgbClr val="000000"/>
              </a:solidFill>
              <a:ea typeface="等线" panose="02010600030101010101" pitchFamily="2" charset="-122"/>
              <a:cs typeface="Calibri" panose="020F0502020204030204" pitchFamily="34" charset="0"/>
            </a:endParaRPr>
          </a:p>
        </p:txBody>
      </p:sp>
      <p:sp>
        <p:nvSpPr>
          <p:cNvPr id="144" name="TextBox 82">
            <a:extLst>
              <a:ext uri="{FF2B5EF4-FFF2-40B4-BE49-F238E27FC236}">
                <a16:creationId xmlns:a16="http://schemas.microsoft.com/office/drawing/2014/main" id="{53EAC1E2-878B-9636-40FC-3F459FB1262F}"/>
              </a:ext>
            </a:extLst>
          </p:cNvPr>
          <p:cNvSpPr txBox="1"/>
          <p:nvPr/>
        </p:nvSpPr>
        <p:spPr>
          <a:xfrm>
            <a:off x="130449" y="4487285"/>
            <a:ext cx="825189" cy="323165"/>
          </a:xfrm>
          <a:prstGeom prst="rect">
            <a:avLst/>
          </a:prstGeom>
          <a:noFill/>
          <a:ln>
            <a:noFill/>
          </a:ln>
        </p:spPr>
        <p:txBody>
          <a:bodyPr wrap="square" lIns="0" tIns="0" rIns="0" bIns="0" rtlCol="0" anchor="t">
            <a:spAutoFit/>
          </a:bodyPr>
          <a:lstStyle/>
          <a:p>
            <a:pPr algn="ctr" defTabSz="914377">
              <a:defRPr/>
            </a:pPr>
            <a:r>
              <a:rPr lang="en-US" altLang="zh-CN" sz="1050" b="1">
                <a:solidFill>
                  <a:srgbClr val="08312A"/>
                </a:solidFill>
                <a:cs typeface="Calibri"/>
              </a:rPr>
              <a:t>Epi-Study</a:t>
            </a:r>
          </a:p>
          <a:p>
            <a:pPr algn="ctr" defTabSz="914377">
              <a:defRPr/>
            </a:pPr>
            <a:r>
              <a:rPr lang="en-US" altLang="zh-CN" sz="1050" b="1">
                <a:solidFill>
                  <a:srgbClr val="08312A"/>
                </a:solidFill>
                <a:cs typeface="Calibri"/>
              </a:rPr>
              <a:t>1438-0032</a:t>
            </a:r>
            <a:endParaRPr lang="zh-CN" altLang="en-US"/>
          </a:p>
        </p:txBody>
      </p:sp>
      <p:grpSp>
        <p:nvGrpSpPr>
          <p:cNvPr id="150" name="Group 9">
            <a:extLst>
              <a:ext uri="{FF2B5EF4-FFF2-40B4-BE49-F238E27FC236}">
                <a16:creationId xmlns:a16="http://schemas.microsoft.com/office/drawing/2014/main" id="{8EED542C-C0D7-17EC-45F6-B97827BC5585}"/>
              </a:ext>
            </a:extLst>
          </p:cNvPr>
          <p:cNvGrpSpPr/>
          <p:nvPr/>
        </p:nvGrpSpPr>
        <p:grpSpPr>
          <a:xfrm>
            <a:off x="5484849" y="4208838"/>
            <a:ext cx="1013539" cy="722962"/>
            <a:chOff x="5523223" y="4172897"/>
            <a:chExt cx="1013539" cy="722962"/>
          </a:xfrm>
        </p:grpSpPr>
        <p:sp>
          <p:nvSpPr>
            <p:cNvPr id="151" name="Rectangle 55">
              <a:extLst>
                <a:ext uri="{FF2B5EF4-FFF2-40B4-BE49-F238E27FC236}">
                  <a16:creationId xmlns:a16="http://schemas.microsoft.com/office/drawing/2014/main" id="{B17D0F06-4EE4-ADC8-BF72-345A7A7537AB}"/>
                </a:ext>
              </a:extLst>
            </p:cNvPr>
            <p:cNvSpPr/>
            <p:nvPr/>
          </p:nvSpPr>
          <p:spPr>
            <a:xfrm>
              <a:off x="5523223" y="4639315"/>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2" name="OTLSHAPE_T_e17f3958430f4cff8650518c93c7635e_StartDate">
              <a:extLst>
                <a:ext uri="{FF2B5EF4-FFF2-40B4-BE49-F238E27FC236}">
                  <a16:creationId xmlns:a16="http://schemas.microsoft.com/office/drawing/2014/main" id="{8BE6BCCE-5D25-E4E0-D2DD-ED4B95880A57}"/>
                </a:ext>
              </a:extLst>
            </p:cNvPr>
            <p:cNvSpPr txBox="1"/>
            <p:nvPr>
              <p:custDataLst>
                <p:tags r:id="rId13"/>
              </p:custDataLst>
            </p:nvPr>
          </p:nvSpPr>
          <p:spPr>
            <a:xfrm>
              <a:off x="5625614" y="417289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53" name="Star: 4 Points 143">
              <a:extLst>
                <a:ext uri="{FF2B5EF4-FFF2-40B4-BE49-F238E27FC236}">
                  <a16:creationId xmlns:a16="http://schemas.microsoft.com/office/drawing/2014/main" id="{18D1E98C-5CD2-03D2-BF54-432523CA46C2}"/>
                </a:ext>
              </a:extLst>
            </p:cNvPr>
            <p:cNvSpPr/>
            <p:nvPr/>
          </p:nvSpPr>
          <p:spPr bwMode="auto">
            <a:xfrm>
              <a:off x="6038400"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54" name="Group 11">
            <a:extLst>
              <a:ext uri="{FF2B5EF4-FFF2-40B4-BE49-F238E27FC236}">
                <a16:creationId xmlns:a16="http://schemas.microsoft.com/office/drawing/2014/main" id="{C15695B1-FDB1-8022-82F4-25B88CDCDDE1}"/>
              </a:ext>
            </a:extLst>
          </p:cNvPr>
          <p:cNvGrpSpPr/>
          <p:nvPr/>
        </p:nvGrpSpPr>
        <p:grpSpPr>
          <a:xfrm>
            <a:off x="6283136" y="4172039"/>
            <a:ext cx="804748" cy="742329"/>
            <a:chOff x="6594049" y="4126731"/>
            <a:chExt cx="804748" cy="742329"/>
          </a:xfrm>
        </p:grpSpPr>
        <p:sp>
          <p:nvSpPr>
            <p:cNvPr id="155" name="Rectangle 100">
              <a:extLst>
                <a:ext uri="{FF2B5EF4-FFF2-40B4-BE49-F238E27FC236}">
                  <a16:creationId xmlns:a16="http://schemas.microsoft.com/office/drawing/2014/main" id="{6BE1586C-6A30-2171-3168-2BE931DF675C}"/>
                </a:ext>
              </a:extLst>
            </p:cNvPr>
            <p:cNvSpPr/>
            <p:nvPr/>
          </p:nvSpPr>
          <p:spPr>
            <a:xfrm>
              <a:off x="6595371" y="412673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156" name="Rectangle 55">
              <a:extLst>
                <a:ext uri="{FF2B5EF4-FFF2-40B4-BE49-F238E27FC236}">
                  <a16:creationId xmlns:a16="http://schemas.microsoft.com/office/drawing/2014/main" id="{73674197-7D39-DFB8-739F-E238F9F79810}"/>
                </a:ext>
              </a:extLst>
            </p:cNvPr>
            <p:cNvSpPr/>
            <p:nvPr/>
          </p:nvSpPr>
          <p:spPr>
            <a:xfrm>
              <a:off x="6594049" y="4622839"/>
              <a:ext cx="615874" cy="246221"/>
            </a:xfrm>
            <a:prstGeom prst="rect">
              <a:avLst/>
            </a:prstGeom>
          </p:spPr>
          <p:txBody>
            <a:bodyPr wrap="none" lIns="91440" tIns="45720" rIns="91440" bIns="45720" anchor="t">
              <a:spAutoFit/>
            </a:bodyPr>
            <a:lstStyle/>
            <a:p>
              <a:pPr algn="ctr" defTabSz="1219108">
                <a:defRPr/>
              </a:pPr>
              <a:r>
                <a:rPr lang="en-US" altLang="zh-CN" sz="1000" b="1">
                  <a:solidFill>
                    <a:srgbClr val="44546A"/>
                  </a:solidFill>
                  <a:ea typeface="等线"/>
                  <a:cs typeface="Calibri"/>
                </a:rPr>
                <a:t>Report</a:t>
              </a:r>
            </a:p>
          </p:txBody>
        </p:sp>
        <p:sp>
          <p:nvSpPr>
            <p:cNvPr id="157" name="五角星 55">
              <a:extLst>
                <a:ext uri="{FF2B5EF4-FFF2-40B4-BE49-F238E27FC236}">
                  <a16:creationId xmlns:a16="http://schemas.microsoft.com/office/drawing/2014/main" id="{4724417B-903D-1ADA-2341-36335D54E85F}"/>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170" name="OTLSHAPE_T_5a934a26f311425e8ebaa0f45e6533ad_Shape">
            <a:extLst>
              <a:ext uri="{FF2B5EF4-FFF2-40B4-BE49-F238E27FC236}">
                <a16:creationId xmlns:a16="http://schemas.microsoft.com/office/drawing/2014/main" id="{ABB1504D-0FF9-84C6-4213-6035210B60B6}"/>
              </a:ext>
            </a:extLst>
          </p:cNvPr>
          <p:cNvSpPr/>
          <p:nvPr/>
        </p:nvSpPr>
        <p:spPr bwMode="auto">
          <a:xfrm>
            <a:off x="4658521" y="2342918"/>
            <a:ext cx="1052453"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endParaRPr lang="en-US" altLang="zh-CN" sz="933" b="1" spc="-7">
              <a:solidFill>
                <a:srgbClr val="000000"/>
              </a:solidFill>
              <a:ea typeface="等线" panose="02010600030101010101" pitchFamily="2" charset="-122"/>
            </a:endParaRPr>
          </a:p>
        </p:txBody>
      </p:sp>
      <p:pic>
        <p:nvPicPr>
          <p:cNvPr id="171" name="Picture 6" descr="图形用户界面&#10;&#10;AI 生成的内容可能不正确。">
            <a:extLst>
              <a:ext uri="{FF2B5EF4-FFF2-40B4-BE49-F238E27FC236}">
                <a16:creationId xmlns:a16="http://schemas.microsoft.com/office/drawing/2014/main" id="{595AFDBF-8301-873B-8F5A-A3CD4CD498ED}"/>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1920840"/>
            <a:ext cx="1138019" cy="560880"/>
          </a:xfrm>
          <a:prstGeom prst="rect">
            <a:avLst/>
          </a:prstGeom>
        </p:spPr>
      </p:pic>
      <p:sp>
        <p:nvSpPr>
          <p:cNvPr id="172" name="OTLSHAPE_T_e17f3958430f4cff8650518c93c7635e_Shape">
            <a:extLst>
              <a:ext uri="{FF2B5EF4-FFF2-40B4-BE49-F238E27FC236}">
                <a16:creationId xmlns:a16="http://schemas.microsoft.com/office/drawing/2014/main" id="{BC41B13E-6072-569C-1A90-52D11A86043C}"/>
              </a:ext>
            </a:extLst>
          </p:cNvPr>
          <p:cNvSpPr/>
          <p:nvPr/>
        </p:nvSpPr>
        <p:spPr bwMode="auto">
          <a:xfrm>
            <a:off x="2678322" y="2342922"/>
            <a:ext cx="196899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r>
              <a:rPr lang="en-US" altLang="zh-CN" sz="1067" b="1">
                <a:solidFill>
                  <a:prstClr val="black"/>
                </a:solidFill>
                <a:ea typeface="等线" panose="02010600030101010101" pitchFamily="2" charset="-122"/>
                <a:cs typeface="Calibri" panose="020F0502020204030204" pitchFamily="34" charset="0"/>
              </a:rPr>
              <a:t>Ph2, N=5</a:t>
            </a:r>
          </a:p>
        </p:txBody>
      </p:sp>
      <p:sp>
        <p:nvSpPr>
          <p:cNvPr id="173" name="OTLSHAPE_T_e17f3958430f4cff8650518c93c7635e_StartDate">
            <a:extLst>
              <a:ext uri="{FF2B5EF4-FFF2-40B4-BE49-F238E27FC236}">
                <a16:creationId xmlns:a16="http://schemas.microsoft.com/office/drawing/2014/main" id="{094EB447-76D3-B0F9-1E84-8D037A207110}"/>
              </a:ext>
            </a:extLst>
          </p:cNvPr>
          <p:cNvSpPr txBox="1"/>
          <p:nvPr/>
        </p:nvSpPr>
        <p:spPr>
          <a:xfrm>
            <a:off x="2341748" y="2159791"/>
            <a:ext cx="910164" cy="164212"/>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4" name="OTLSHAPE_T_e17f3958430f4cff8650518c93c7635e_Shape">
            <a:extLst>
              <a:ext uri="{FF2B5EF4-FFF2-40B4-BE49-F238E27FC236}">
                <a16:creationId xmlns:a16="http://schemas.microsoft.com/office/drawing/2014/main" id="{534C69C6-065B-86F8-00CF-DDEFE7199280}"/>
              </a:ext>
            </a:extLst>
          </p:cNvPr>
          <p:cNvSpPr/>
          <p:nvPr/>
        </p:nvSpPr>
        <p:spPr bwMode="auto">
          <a:xfrm>
            <a:off x="1533761" y="2337720"/>
            <a:ext cx="1133354"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175" name="OTLSHAPE_T_e17f3958430f4cff8650518c93c7635e_StartDate">
            <a:extLst>
              <a:ext uri="{FF2B5EF4-FFF2-40B4-BE49-F238E27FC236}">
                <a16:creationId xmlns:a16="http://schemas.microsoft.com/office/drawing/2014/main" id="{733528CB-70D1-C2B4-05E0-00910C3D2253}"/>
              </a:ext>
            </a:extLst>
          </p:cNvPr>
          <p:cNvSpPr txBox="1"/>
          <p:nvPr/>
        </p:nvSpPr>
        <p:spPr>
          <a:xfrm>
            <a:off x="1414034" y="2159791"/>
            <a:ext cx="682623" cy="164212"/>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6" name="Rectangle 77">
            <a:extLst>
              <a:ext uri="{FF2B5EF4-FFF2-40B4-BE49-F238E27FC236}">
                <a16:creationId xmlns:a16="http://schemas.microsoft.com/office/drawing/2014/main" id="{658759F7-5AEF-FF4F-1B14-659EC0EE01B4}"/>
              </a:ext>
            </a:extLst>
          </p:cNvPr>
          <p:cNvSpPr/>
          <p:nvPr/>
        </p:nvSpPr>
        <p:spPr>
          <a:xfrm>
            <a:off x="2500257" y="2625404"/>
            <a:ext cx="626660" cy="25654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177" name="OTLSHAPE_M_39ea6ebc19a94c9fab6ef5006c31df58_Shape">
            <a:extLst>
              <a:ext uri="{FF2B5EF4-FFF2-40B4-BE49-F238E27FC236}">
                <a16:creationId xmlns:a16="http://schemas.microsoft.com/office/drawing/2014/main" id="{37BFFBEA-E878-7C88-7253-7C1F1578660A}"/>
              </a:ext>
            </a:extLst>
          </p:cNvPr>
          <p:cNvSpPr/>
          <p:nvPr/>
        </p:nvSpPr>
        <p:spPr bwMode="auto">
          <a:xfrm rot="16200000">
            <a:off x="1622646" y="2570861"/>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178" name="OTLSHAPE_M_39ea6ebc19a94c9fab6ef5006c31df58_Title">
            <a:extLst>
              <a:ext uri="{FF2B5EF4-FFF2-40B4-BE49-F238E27FC236}">
                <a16:creationId xmlns:a16="http://schemas.microsoft.com/office/drawing/2014/main" id="{C863BA99-D0C1-FD13-DFFF-B015E6D2561F}"/>
              </a:ext>
            </a:extLst>
          </p:cNvPr>
          <p:cNvSpPr txBox="1"/>
          <p:nvPr/>
        </p:nvSpPr>
        <p:spPr>
          <a:xfrm>
            <a:off x="1403968" y="2672375"/>
            <a:ext cx="928201" cy="164212"/>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79" name="TextBox 82">
            <a:extLst>
              <a:ext uri="{FF2B5EF4-FFF2-40B4-BE49-F238E27FC236}">
                <a16:creationId xmlns:a16="http://schemas.microsoft.com/office/drawing/2014/main" id="{D22DF95E-FCEB-2497-B74A-F0C65AA06D24}"/>
              </a:ext>
            </a:extLst>
          </p:cNvPr>
          <p:cNvSpPr txBox="1"/>
          <p:nvPr/>
        </p:nvSpPr>
        <p:spPr>
          <a:xfrm>
            <a:off x="31595" y="2588464"/>
            <a:ext cx="825189" cy="492635"/>
          </a:xfrm>
          <a:prstGeom prst="rect">
            <a:avLst/>
          </a:prstGeom>
          <a:noFill/>
          <a:ln>
            <a:noFill/>
          </a:ln>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sp>
        <p:nvSpPr>
          <p:cNvPr id="180" name="Star: 4 Points 143">
            <a:extLst>
              <a:ext uri="{FF2B5EF4-FFF2-40B4-BE49-F238E27FC236}">
                <a16:creationId xmlns:a16="http://schemas.microsoft.com/office/drawing/2014/main" id="{822214D7-6077-E623-FE5A-735D38A14893}"/>
              </a:ext>
            </a:extLst>
          </p:cNvPr>
          <p:cNvSpPr/>
          <p:nvPr/>
        </p:nvSpPr>
        <p:spPr bwMode="auto">
          <a:xfrm>
            <a:off x="2630166" y="253922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181" name="Group 7">
            <a:extLst>
              <a:ext uri="{FF2B5EF4-FFF2-40B4-BE49-F238E27FC236}">
                <a16:creationId xmlns:a16="http://schemas.microsoft.com/office/drawing/2014/main" id="{D298A6E1-4575-21DA-79EC-FDFB7A86910E}"/>
              </a:ext>
            </a:extLst>
          </p:cNvPr>
          <p:cNvGrpSpPr/>
          <p:nvPr/>
        </p:nvGrpSpPr>
        <p:grpSpPr>
          <a:xfrm>
            <a:off x="4194288" y="2171102"/>
            <a:ext cx="911145" cy="722963"/>
            <a:chOff x="4194288" y="2171102"/>
            <a:chExt cx="911145" cy="722963"/>
          </a:xfrm>
        </p:grpSpPr>
        <p:sp>
          <p:nvSpPr>
            <p:cNvPr id="201" name="Rectangle 73">
              <a:extLst>
                <a:ext uri="{FF2B5EF4-FFF2-40B4-BE49-F238E27FC236}">
                  <a16:creationId xmlns:a16="http://schemas.microsoft.com/office/drawing/2014/main" id="{863AE58B-FAA9-6F0E-DD3B-8AEDEF278790}"/>
                </a:ext>
              </a:extLst>
            </p:cNvPr>
            <p:cNvSpPr/>
            <p:nvPr/>
          </p:nvSpPr>
          <p:spPr>
            <a:xfrm>
              <a:off x="4510926" y="2637520"/>
              <a:ext cx="389851"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02" name="OTLSHAPE_T_e17f3958430f4cff8650518c93c7635e_StartDate">
              <a:extLst>
                <a:ext uri="{FF2B5EF4-FFF2-40B4-BE49-F238E27FC236}">
                  <a16:creationId xmlns:a16="http://schemas.microsoft.com/office/drawing/2014/main" id="{24557DC8-8120-83BE-5F80-BE30BB05F908}"/>
                </a:ext>
              </a:extLst>
            </p:cNvPr>
            <p:cNvSpPr txBox="1"/>
            <p:nvPr/>
          </p:nvSpPr>
          <p:spPr>
            <a:xfrm>
              <a:off x="4194288" y="2171102"/>
              <a:ext cx="911145" cy="164212"/>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03" name="Star: 4 Points 143">
              <a:extLst>
                <a:ext uri="{FF2B5EF4-FFF2-40B4-BE49-F238E27FC236}">
                  <a16:creationId xmlns:a16="http://schemas.microsoft.com/office/drawing/2014/main" id="{A5CA6809-740F-BF2C-4DF5-A9D7EFEC9043}"/>
                </a:ext>
              </a:extLst>
            </p:cNvPr>
            <p:cNvSpPr/>
            <p:nvPr/>
          </p:nvSpPr>
          <p:spPr bwMode="auto">
            <a:xfrm>
              <a:off x="4557736" y="255133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82" name="Group 9">
            <a:extLst>
              <a:ext uri="{FF2B5EF4-FFF2-40B4-BE49-F238E27FC236}">
                <a16:creationId xmlns:a16="http://schemas.microsoft.com/office/drawing/2014/main" id="{8024F1C5-9A73-985C-7413-6236E1C5C5F8}"/>
              </a:ext>
            </a:extLst>
          </p:cNvPr>
          <p:cNvGrpSpPr/>
          <p:nvPr/>
        </p:nvGrpSpPr>
        <p:grpSpPr>
          <a:xfrm>
            <a:off x="5118266" y="2161735"/>
            <a:ext cx="1013539" cy="722962"/>
            <a:chOff x="5118266" y="2161735"/>
            <a:chExt cx="1013539" cy="722962"/>
          </a:xfrm>
        </p:grpSpPr>
        <p:sp>
          <p:nvSpPr>
            <p:cNvPr id="198" name="Rectangle 55">
              <a:extLst>
                <a:ext uri="{FF2B5EF4-FFF2-40B4-BE49-F238E27FC236}">
                  <a16:creationId xmlns:a16="http://schemas.microsoft.com/office/drawing/2014/main" id="{D8231464-7B7E-9DC2-4681-14AFB7010653}"/>
                </a:ext>
              </a:extLst>
            </p:cNvPr>
            <p:cNvSpPr/>
            <p:nvPr/>
          </p:nvSpPr>
          <p:spPr>
            <a:xfrm>
              <a:off x="5118266" y="2628153"/>
              <a:ext cx="926857" cy="256544"/>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9" name="OTLSHAPE_T_e17f3958430f4cff8650518c93c7635e_StartDate">
              <a:extLst>
                <a:ext uri="{FF2B5EF4-FFF2-40B4-BE49-F238E27FC236}">
                  <a16:creationId xmlns:a16="http://schemas.microsoft.com/office/drawing/2014/main" id="{77699F45-9858-3FC0-154B-8938057709DE}"/>
                </a:ext>
              </a:extLst>
            </p:cNvPr>
            <p:cNvSpPr txBox="1"/>
            <p:nvPr/>
          </p:nvSpPr>
          <p:spPr>
            <a:xfrm>
              <a:off x="5220657" y="2161735"/>
              <a:ext cx="911148" cy="164213"/>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00" name="Star: 4 Points 143">
              <a:extLst>
                <a:ext uri="{FF2B5EF4-FFF2-40B4-BE49-F238E27FC236}">
                  <a16:creationId xmlns:a16="http://schemas.microsoft.com/office/drawing/2014/main" id="{A77DDE2E-28E6-7CF1-E615-FC78523F3CB6}"/>
                </a:ext>
              </a:extLst>
            </p:cNvPr>
            <p:cNvSpPr/>
            <p:nvPr/>
          </p:nvSpPr>
          <p:spPr bwMode="auto">
            <a:xfrm>
              <a:off x="5633443" y="254197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83" name="Group 11">
            <a:extLst>
              <a:ext uri="{FF2B5EF4-FFF2-40B4-BE49-F238E27FC236}">
                <a16:creationId xmlns:a16="http://schemas.microsoft.com/office/drawing/2014/main" id="{DFBEDEC0-6C2B-A6E2-6BBC-D042E0EF431D}"/>
              </a:ext>
            </a:extLst>
          </p:cNvPr>
          <p:cNvGrpSpPr/>
          <p:nvPr/>
        </p:nvGrpSpPr>
        <p:grpSpPr>
          <a:xfrm>
            <a:off x="6202080" y="2124936"/>
            <a:ext cx="845966" cy="769129"/>
            <a:chOff x="6202080" y="2124936"/>
            <a:chExt cx="845966" cy="769129"/>
          </a:xfrm>
        </p:grpSpPr>
        <p:sp>
          <p:nvSpPr>
            <p:cNvPr id="195" name="Rectangle 100">
              <a:extLst>
                <a:ext uri="{FF2B5EF4-FFF2-40B4-BE49-F238E27FC236}">
                  <a16:creationId xmlns:a16="http://schemas.microsoft.com/office/drawing/2014/main" id="{3741056C-EB25-C2FE-2C35-D59B502748E4}"/>
                </a:ext>
              </a:extLst>
            </p:cNvPr>
            <p:cNvSpPr/>
            <p:nvPr/>
          </p:nvSpPr>
          <p:spPr>
            <a:xfrm>
              <a:off x="6202080" y="2124936"/>
              <a:ext cx="803426"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196" name="Rectangle 55">
              <a:extLst>
                <a:ext uri="{FF2B5EF4-FFF2-40B4-BE49-F238E27FC236}">
                  <a16:creationId xmlns:a16="http://schemas.microsoft.com/office/drawing/2014/main" id="{BBF9F872-5261-8D84-9615-2E25EFF69D65}"/>
                </a:ext>
              </a:extLst>
            </p:cNvPr>
            <p:cNvSpPr/>
            <p:nvPr/>
          </p:nvSpPr>
          <p:spPr>
            <a:xfrm>
              <a:off x="6249429" y="2637520"/>
              <a:ext cx="798617"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7" name="五角星 55">
              <a:extLst>
                <a:ext uri="{FF2B5EF4-FFF2-40B4-BE49-F238E27FC236}">
                  <a16:creationId xmlns:a16="http://schemas.microsoft.com/office/drawing/2014/main" id="{4B2D0745-69DA-A6E5-A226-30086CB0680B}"/>
                </a:ext>
              </a:extLst>
            </p:cNvPr>
            <p:cNvSpPr>
              <a:spLocks/>
            </p:cNvSpPr>
            <p:nvPr/>
          </p:nvSpPr>
          <p:spPr bwMode="auto">
            <a:xfrm>
              <a:off x="6510284" y="2451216"/>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184" name="Group 12">
            <a:extLst>
              <a:ext uri="{FF2B5EF4-FFF2-40B4-BE49-F238E27FC236}">
                <a16:creationId xmlns:a16="http://schemas.microsoft.com/office/drawing/2014/main" id="{6178ABD1-576D-6BE9-44E6-D822A076347F}"/>
              </a:ext>
            </a:extLst>
          </p:cNvPr>
          <p:cNvGrpSpPr/>
          <p:nvPr/>
        </p:nvGrpSpPr>
        <p:grpSpPr>
          <a:xfrm>
            <a:off x="8345004" y="2124936"/>
            <a:ext cx="817491" cy="769129"/>
            <a:chOff x="8345004" y="2124936"/>
            <a:chExt cx="817491" cy="769129"/>
          </a:xfrm>
        </p:grpSpPr>
        <p:sp>
          <p:nvSpPr>
            <p:cNvPr id="192" name="Rectangle 100">
              <a:extLst>
                <a:ext uri="{FF2B5EF4-FFF2-40B4-BE49-F238E27FC236}">
                  <a16:creationId xmlns:a16="http://schemas.microsoft.com/office/drawing/2014/main" id="{1AA48701-65C0-E1D8-DBAC-3B34A6E425B0}"/>
                </a:ext>
              </a:extLst>
            </p:cNvPr>
            <p:cNvSpPr/>
            <p:nvPr/>
          </p:nvSpPr>
          <p:spPr>
            <a:xfrm>
              <a:off x="8345004" y="2124936"/>
              <a:ext cx="803426"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2028</a:t>
              </a:r>
            </a:p>
          </p:txBody>
        </p:sp>
        <p:sp>
          <p:nvSpPr>
            <p:cNvPr id="193" name="Rectangle 55">
              <a:extLst>
                <a:ext uri="{FF2B5EF4-FFF2-40B4-BE49-F238E27FC236}">
                  <a16:creationId xmlns:a16="http://schemas.microsoft.com/office/drawing/2014/main" id="{034352E4-33E2-BA1D-826C-5B0C0D0FD07A}"/>
                </a:ext>
              </a:extLst>
            </p:cNvPr>
            <p:cNvSpPr/>
            <p:nvPr/>
          </p:nvSpPr>
          <p:spPr>
            <a:xfrm>
              <a:off x="8354259" y="2637520"/>
              <a:ext cx="808236"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194" name="Graphic 317" descr="Flag with solid fill">
              <a:extLst>
                <a:ext uri="{FF2B5EF4-FFF2-40B4-BE49-F238E27FC236}">
                  <a16:creationId xmlns:a16="http://schemas.microsoft.com/office/drawing/2014/main" id="{78DB415E-599C-934B-A662-3A40A524A8C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75497" y="2418060"/>
              <a:ext cx="210312" cy="210312"/>
            </a:xfrm>
            <a:prstGeom prst="rect">
              <a:avLst/>
            </a:prstGeom>
          </p:spPr>
        </p:pic>
      </p:grpSp>
      <p:grpSp>
        <p:nvGrpSpPr>
          <p:cNvPr id="186" name="Group 20">
            <a:extLst>
              <a:ext uri="{FF2B5EF4-FFF2-40B4-BE49-F238E27FC236}">
                <a16:creationId xmlns:a16="http://schemas.microsoft.com/office/drawing/2014/main" id="{76AD7C78-6E55-8DF1-0B7F-75F81ED7AA7D}"/>
              </a:ext>
            </a:extLst>
          </p:cNvPr>
          <p:cNvGrpSpPr/>
          <p:nvPr/>
        </p:nvGrpSpPr>
        <p:grpSpPr>
          <a:xfrm>
            <a:off x="3136368" y="2121212"/>
            <a:ext cx="1212191" cy="948008"/>
            <a:chOff x="3136368" y="2121212"/>
            <a:chExt cx="1212191" cy="948008"/>
          </a:xfrm>
        </p:grpSpPr>
        <p:sp>
          <p:nvSpPr>
            <p:cNvPr id="187" name="Rectangle 55">
              <a:extLst>
                <a:ext uri="{FF2B5EF4-FFF2-40B4-BE49-F238E27FC236}">
                  <a16:creationId xmlns:a16="http://schemas.microsoft.com/office/drawing/2014/main" id="{EEB0253F-2B1C-76D4-BDED-97FFE9D24D25}"/>
                </a:ext>
              </a:extLst>
            </p:cNvPr>
            <p:cNvSpPr/>
            <p:nvPr/>
          </p:nvSpPr>
          <p:spPr>
            <a:xfrm>
              <a:off x="3136368" y="2812675"/>
              <a:ext cx="1212191" cy="25654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88" name="OTLSHAPE_T_e17f3958430f4cff8650518c93c7635e_StartDate">
              <a:extLst>
                <a:ext uri="{FF2B5EF4-FFF2-40B4-BE49-F238E27FC236}">
                  <a16:creationId xmlns:a16="http://schemas.microsoft.com/office/drawing/2014/main" id="{3779433C-ED01-1667-45DE-E59F1CF620C0}"/>
                </a:ext>
              </a:extLst>
            </p:cNvPr>
            <p:cNvSpPr txBox="1"/>
            <p:nvPr/>
          </p:nvSpPr>
          <p:spPr>
            <a:xfrm>
              <a:off x="3412919" y="2121212"/>
              <a:ext cx="911151" cy="164211"/>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8">
                <a:defRPr/>
              </a:pPr>
              <a:r>
                <a:rPr lang="en-US" altLang="zh-CN" sz="1067" b="1" i="1">
                  <a:ea typeface="等线" panose="02010600030101010101" pitchFamily="2" charset="-122"/>
                  <a:cs typeface="Calibri" panose="020F0502020204030204" pitchFamily="34" charset="0"/>
                </a:rPr>
                <a:t>Q1 2026</a:t>
              </a:r>
              <a:endParaRPr lang="zh-CN" altLang="en-US" sz="1067" b="1" i="1">
                <a:ea typeface="等线" panose="02010600030101010101" pitchFamily="2" charset="-122"/>
                <a:cs typeface="Calibri" panose="020F0502020204030204" pitchFamily="34" charset="0"/>
              </a:endParaRPr>
            </a:p>
          </p:txBody>
        </p:sp>
        <p:sp>
          <p:nvSpPr>
            <p:cNvPr id="189" name="Star: 4 Points 143">
              <a:extLst>
                <a:ext uri="{FF2B5EF4-FFF2-40B4-BE49-F238E27FC236}">
                  <a16:creationId xmlns:a16="http://schemas.microsoft.com/office/drawing/2014/main" id="{43BF7287-02A5-2321-E744-2F48DD46998F}"/>
                </a:ext>
              </a:extLst>
            </p:cNvPr>
            <p:cNvSpPr/>
            <p:nvPr/>
          </p:nvSpPr>
          <p:spPr bwMode="auto">
            <a:xfrm>
              <a:off x="3573176" y="255837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06" name="Group 11">
            <a:extLst>
              <a:ext uri="{FF2B5EF4-FFF2-40B4-BE49-F238E27FC236}">
                <a16:creationId xmlns:a16="http://schemas.microsoft.com/office/drawing/2014/main" id="{D03AE247-0AE1-5951-EBF6-CFB8A7CA6EDF}"/>
              </a:ext>
            </a:extLst>
          </p:cNvPr>
          <p:cNvGrpSpPr/>
          <p:nvPr/>
        </p:nvGrpSpPr>
        <p:grpSpPr>
          <a:xfrm>
            <a:off x="6847048" y="4172039"/>
            <a:ext cx="917303" cy="742329"/>
            <a:chOff x="6593669" y="4126731"/>
            <a:chExt cx="917303" cy="742329"/>
          </a:xfrm>
        </p:grpSpPr>
        <p:sp>
          <p:nvSpPr>
            <p:cNvPr id="207" name="Rectangle 100">
              <a:extLst>
                <a:ext uri="{FF2B5EF4-FFF2-40B4-BE49-F238E27FC236}">
                  <a16:creationId xmlns:a16="http://schemas.microsoft.com/office/drawing/2014/main" id="{A0C7AABC-13E6-3FE1-39E1-34F3B5E7199D}"/>
                </a:ext>
              </a:extLst>
            </p:cNvPr>
            <p:cNvSpPr/>
            <p:nvPr/>
          </p:nvSpPr>
          <p:spPr>
            <a:xfrm>
              <a:off x="6733195" y="4126731"/>
              <a:ext cx="777777" cy="253916"/>
            </a:xfrm>
            <a:prstGeom prst="rect">
              <a:avLst/>
            </a:prstGeom>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Oct 2027</a:t>
              </a:r>
              <a:endParaRPr lang="en-US" altLang="zh-CN" sz="1050" b="1">
                <a:solidFill>
                  <a:schemeClr val="bg1">
                    <a:lumMod val="65000"/>
                  </a:schemeClr>
                </a:solidFill>
                <a:ea typeface="等线"/>
                <a:cs typeface="Calibri"/>
              </a:endParaRPr>
            </a:p>
          </p:txBody>
        </p:sp>
        <p:sp>
          <p:nvSpPr>
            <p:cNvPr id="208" name="Rectangle 55">
              <a:extLst>
                <a:ext uri="{FF2B5EF4-FFF2-40B4-BE49-F238E27FC236}">
                  <a16:creationId xmlns:a16="http://schemas.microsoft.com/office/drawing/2014/main" id="{B2C8C455-E2D7-5CED-BC04-98AB51D8341F}"/>
                </a:ext>
              </a:extLst>
            </p:cNvPr>
            <p:cNvSpPr/>
            <p:nvPr/>
          </p:nvSpPr>
          <p:spPr>
            <a:xfrm>
              <a:off x="6593669" y="4622839"/>
              <a:ext cx="889988" cy="246221"/>
            </a:xfrm>
            <a:prstGeom prst="rect">
              <a:avLst/>
            </a:prstGeom>
          </p:spPr>
          <p:txBody>
            <a:bodyPr wrap="none" lIns="91440" tIns="45720" rIns="91440" bIns="45720" anchor="t">
              <a:spAutoFit/>
            </a:bodyPr>
            <a:lstStyle/>
            <a:p>
              <a:pPr algn="ctr" defTabSz="1219108">
                <a:defRPr/>
              </a:pPr>
              <a:r>
                <a:rPr lang="en-US" altLang="zh-CN" sz="1000" b="1">
                  <a:solidFill>
                    <a:srgbClr val="44546A"/>
                  </a:solidFill>
                  <a:ea typeface="等线"/>
                  <a:cs typeface="Calibri"/>
                </a:rPr>
                <a:t>Publication</a:t>
              </a:r>
              <a:endParaRPr lang="zh-CN" altLang="en-US" sz="1600"/>
            </a:p>
          </p:txBody>
        </p:sp>
        <p:sp>
          <p:nvSpPr>
            <p:cNvPr id="209" name="五角星 55">
              <a:extLst>
                <a:ext uri="{FF2B5EF4-FFF2-40B4-BE49-F238E27FC236}">
                  <a16:creationId xmlns:a16="http://schemas.microsoft.com/office/drawing/2014/main" id="{90502111-BC1D-D8EF-6696-D8DE4D42A26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2" name="文本框 160">
            <a:extLst>
              <a:ext uri="{FF2B5EF4-FFF2-40B4-BE49-F238E27FC236}">
                <a16:creationId xmlns:a16="http://schemas.microsoft.com/office/drawing/2014/main" id="{0FBAE685-7676-C048-83EA-6959AAC81595}"/>
              </a:ext>
            </a:extLst>
          </p:cNvPr>
          <p:cNvSpPr txBox="1"/>
          <p:nvPr/>
        </p:nvSpPr>
        <p:spPr>
          <a:xfrm>
            <a:off x="5412773" y="5101364"/>
            <a:ext cx="4594316" cy="519291"/>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100"/>
              <a:t>The contract was signed on 21Sep 2025.</a:t>
            </a:r>
            <a:endParaRPr lang="en-US" altLang="zh-CN" sz="1100">
              <a:solidFill>
                <a:schemeClr val="accent2">
                  <a:lumMod val="75000"/>
                </a:schemeClr>
              </a:solidFill>
            </a:endParaRPr>
          </a:p>
          <a:p>
            <a:pPr marL="95998" indent="-95998" defTabSz="1219170">
              <a:spcAft>
                <a:spcPts val="267"/>
              </a:spcAft>
              <a:buFont typeface="Arial" panose="020B0604020202020204" pitchFamily="34" charset="0"/>
              <a:buChar char="•"/>
              <a:defRPr/>
            </a:pPr>
            <a:r>
              <a:rPr lang="en-US" altLang="zh-CN" sz="1100"/>
              <a:t>The protocol was approved on 6Nov 2025.</a:t>
            </a:r>
          </a:p>
        </p:txBody>
      </p:sp>
      <p:grpSp>
        <p:nvGrpSpPr>
          <p:cNvPr id="3" name="Group 62">
            <a:extLst>
              <a:ext uri="{FF2B5EF4-FFF2-40B4-BE49-F238E27FC236}">
                <a16:creationId xmlns:a16="http://schemas.microsoft.com/office/drawing/2014/main" id="{63B66E94-7B27-ACB9-C7F8-ED2601C8BC18}"/>
              </a:ext>
            </a:extLst>
          </p:cNvPr>
          <p:cNvGrpSpPr/>
          <p:nvPr/>
        </p:nvGrpSpPr>
        <p:grpSpPr>
          <a:xfrm>
            <a:off x="2899644" y="723282"/>
            <a:ext cx="546747" cy="6134718"/>
            <a:chOff x="1155349" y="1057179"/>
            <a:chExt cx="546747" cy="4601037"/>
          </a:xfrm>
        </p:grpSpPr>
        <p:cxnSp>
          <p:nvCxnSpPr>
            <p:cNvPr id="4" name="Straight Connector 63">
              <a:extLst>
                <a:ext uri="{FF2B5EF4-FFF2-40B4-BE49-F238E27FC236}">
                  <a16:creationId xmlns:a16="http://schemas.microsoft.com/office/drawing/2014/main" id="{416C1563-8BEA-0071-1541-6F0D9B21EE98}"/>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5" name="OTLSHAPE_T_e17f3958430f4cff8650518c93c7635e_StartDate">
              <a:extLst>
                <a:ext uri="{FF2B5EF4-FFF2-40B4-BE49-F238E27FC236}">
                  <a16:creationId xmlns:a16="http://schemas.microsoft.com/office/drawing/2014/main" id="{AECA4611-F151-5C70-0372-80A994E98D24}"/>
                </a:ext>
              </a:extLst>
            </p:cNvPr>
            <p:cNvSpPr txBox="1"/>
            <p:nvPr>
              <p:custDataLst>
                <p:tags r:id="rId12"/>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814203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TLSHAPE_T_5a934a26f311425e8ebaa0f45e6533ad_Shape">
            <a:extLst>
              <a:ext uri="{FF2B5EF4-FFF2-40B4-BE49-F238E27FC236}">
                <a16:creationId xmlns:a16="http://schemas.microsoft.com/office/drawing/2014/main" id="{8127666E-BC3F-3870-FC18-075BC732E7E6}"/>
              </a:ext>
            </a:extLst>
          </p:cNvPr>
          <p:cNvSpPr/>
          <p:nvPr>
            <p:custDataLst>
              <p:tags r:id="rId1"/>
            </p:custDataLst>
          </p:nvPr>
        </p:nvSpPr>
        <p:spPr bwMode="auto">
          <a:xfrm>
            <a:off x="5462431" y="4338538"/>
            <a:ext cx="2816785"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 name="OTLSHAPE_T_5a934a26f311425e8ebaa0f45e6533ad_Shape">
            <a:extLst>
              <a:ext uri="{FF2B5EF4-FFF2-40B4-BE49-F238E27FC236}">
                <a16:creationId xmlns:a16="http://schemas.microsoft.com/office/drawing/2014/main" id="{4EC2DD08-22FB-71E5-4CAC-6DABA2DFA131}"/>
              </a:ext>
            </a:extLst>
          </p:cNvPr>
          <p:cNvSpPr/>
          <p:nvPr>
            <p:custDataLst>
              <p:tags r:id="rId2"/>
            </p:custDataLst>
          </p:nvPr>
        </p:nvSpPr>
        <p:spPr bwMode="auto">
          <a:xfrm>
            <a:off x="5478711" y="2287943"/>
            <a:ext cx="2800505"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1L SCLC (</a:t>
            </a:r>
            <a:r>
              <a:rPr lang="en-US" altLang="zh-CN" sz="2400" i="1" err="1">
                <a:solidFill>
                  <a:schemeClr val="tx1"/>
                </a:solidFill>
                <a:latin typeface="+mn-lt"/>
              </a:rPr>
              <a:t>obrix+atezo+EP</a:t>
            </a:r>
            <a:r>
              <a:rPr lang="en-US" altLang="zh-CN" sz="2400" i="1">
                <a:solidFill>
                  <a:schemeClr val="tx1"/>
                </a:solidFill>
                <a:latin typeface="+mn-lt"/>
              </a:rPr>
              <a:t> vs. </a:t>
            </a:r>
            <a:r>
              <a:rPr lang="en-US" altLang="zh-CN" sz="2400" i="1" err="1">
                <a:solidFill>
                  <a:schemeClr val="tx1"/>
                </a:solidFill>
                <a:latin typeface="+mn-lt"/>
              </a:rPr>
              <a:t>atezo+EP</a:t>
            </a:r>
            <a:r>
              <a:rPr lang="en-US" altLang="zh-CN" sz="2400" i="1">
                <a:solidFill>
                  <a:schemeClr val="tx1"/>
                </a:solidFill>
                <a:latin typeface="+mn-lt"/>
              </a:rPr>
              <a:t>)</a:t>
            </a:r>
            <a:r>
              <a:rPr lang="en-US" altLang="zh-CN">
                <a:solidFill>
                  <a:schemeClr val="tx1"/>
                </a:solidFill>
                <a:latin typeface="+mn-lt"/>
              </a:rPr>
              <a:t> </a:t>
            </a:r>
            <a:endParaRPr lang="zh-CN" altLang="en-US">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28</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104656" cy="675640"/>
        </p:xfrm>
        <a:graphic>
          <a:graphicData uri="http://schemas.openxmlformats.org/drawingml/2006/table">
            <a:tbl>
              <a:tblPr firstRow="1" bandRow="1"/>
              <a:tblGrid>
                <a:gridCol w="531824">
                  <a:extLst>
                    <a:ext uri="{9D8B030D-6E8A-4147-A177-3AD203B41FA5}">
                      <a16:colId xmlns:a16="http://schemas.microsoft.com/office/drawing/2014/main" val="2466911814"/>
                    </a:ext>
                  </a:extLst>
                </a:gridCol>
                <a:gridCol w="531824">
                  <a:extLst>
                    <a:ext uri="{9D8B030D-6E8A-4147-A177-3AD203B41FA5}">
                      <a16:colId xmlns:a16="http://schemas.microsoft.com/office/drawing/2014/main" val="3023231563"/>
                    </a:ext>
                  </a:extLst>
                </a:gridCol>
                <a:gridCol w="531824">
                  <a:extLst>
                    <a:ext uri="{9D8B030D-6E8A-4147-A177-3AD203B41FA5}">
                      <a16:colId xmlns:a16="http://schemas.microsoft.com/office/drawing/2014/main" val="3411862845"/>
                    </a:ext>
                  </a:extLst>
                </a:gridCol>
                <a:gridCol w="531824">
                  <a:extLst>
                    <a:ext uri="{9D8B030D-6E8A-4147-A177-3AD203B41FA5}">
                      <a16:colId xmlns:a16="http://schemas.microsoft.com/office/drawing/2014/main" val="2851474774"/>
                    </a:ext>
                  </a:extLst>
                </a:gridCol>
                <a:gridCol w="531824">
                  <a:extLst>
                    <a:ext uri="{9D8B030D-6E8A-4147-A177-3AD203B41FA5}">
                      <a16:colId xmlns:a16="http://schemas.microsoft.com/office/drawing/2014/main" val="107595344"/>
                    </a:ext>
                  </a:extLst>
                </a:gridCol>
                <a:gridCol w="531824">
                  <a:extLst>
                    <a:ext uri="{9D8B030D-6E8A-4147-A177-3AD203B41FA5}">
                      <a16:colId xmlns:a16="http://schemas.microsoft.com/office/drawing/2014/main" val="1666999431"/>
                    </a:ext>
                  </a:extLst>
                </a:gridCol>
                <a:gridCol w="531824">
                  <a:extLst>
                    <a:ext uri="{9D8B030D-6E8A-4147-A177-3AD203B41FA5}">
                      <a16:colId xmlns:a16="http://schemas.microsoft.com/office/drawing/2014/main" val="3696607442"/>
                    </a:ext>
                  </a:extLst>
                </a:gridCol>
                <a:gridCol w="531824">
                  <a:extLst>
                    <a:ext uri="{9D8B030D-6E8A-4147-A177-3AD203B41FA5}">
                      <a16:colId xmlns:a16="http://schemas.microsoft.com/office/drawing/2014/main" val="223989776"/>
                    </a:ext>
                  </a:extLst>
                </a:gridCol>
                <a:gridCol w="531824">
                  <a:extLst>
                    <a:ext uri="{9D8B030D-6E8A-4147-A177-3AD203B41FA5}">
                      <a16:colId xmlns:a16="http://schemas.microsoft.com/office/drawing/2014/main" val="124731204"/>
                    </a:ext>
                  </a:extLst>
                </a:gridCol>
                <a:gridCol w="531824">
                  <a:extLst>
                    <a:ext uri="{9D8B030D-6E8A-4147-A177-3AD203B41FA5}">
                      <a16:colId xmlns:a16="http://schemas.microsoft.com/office/drawing/2014/main" val="3066978585"/>
                    </a:ext>
                  </a:extLst>
                </a:gridCol>
                <a:gridCol w="531824">
                  <a:extLst>
                    <a:ext uri="{9D8B030D-6E8A-4147-A177-3AD203B41FA5}">
                      <a16:colId xmlns:a16="http://schemas.microsoft.com/office/drawing/2014/main" val="1064917641"/>
                    </a:ext>
                  </a:extLst>
                </a:gridCol>
                <a:gridCol w="531824">
                  <a:extLst>
                    <a:ext uri="{9D8B030D-6E8A-4147-A177-3AD203B41FA5}">
                      <a16:colId xmlns:a16="http://schemas.microsoft.com/office/drawing/2014/main" val="4221117315"/>
                    </a:ext>
                  </a:extLst>
                </a:gridCol>
                <a:gridCol w="531824">
                  <a:extLst>
                    <a:ext uri="{9D8B030D-6E8A-4147-A177-3AD203B41FA5}">
                      <a16:colId xmlns:a16="http://schemas.microsoft.com/office/drawing/2014/main" val="3266065341"/>
                    </a:ext>
                  </a:extLst>
                </a:gridCol>
                <a:gridCol w="531824">
                  <a:extLst>
                    <a:ext uri="{9D8B030D-6E8A-4147-A177-3AD203B41FA5}">
                      <a16:colId xmlns:a16="http://schemas.microsoft.com/office/drawing/2014/main" val="2374051224"/>
                    </a:ext>
                  </a:extLst>
                </a:gridCol>
                <a:gridCol w="531824">
                  <a:extLst>
                    <a:ext uri="{9D8B030D-6E8A-4147-A177-3AD203B41FA5}">
                      <a16:colId xmlns:a16="http://schemas.microsoft.com/office/drawing/2014/main" val="1840388365"/>
                    </a:ext>
                  </a:extLst>
                </a:gridCol>
                <a:gridCol w="531824">
                  <a:extLst>
                    <a:ext uri="{9D8B030D-6E8A-4147-A177-3AD203B41FA5}">
                      <a16:colId xmlns:a16="http://schemas.microsoft.com/office/drawing/2014/main" val="267750830"/>
                    </a:ext>
                  </a:extLst>
                </a:gridCol>
                <a:gridCol w="531824">
                  <a:extLst>
                    <a:ext uri="{9D8B030D-6E8A-4147-A177-3AD203B41FA5}">
                      <a16:colId xmlns:a16="http://schemas.microsoft.com/office/drawing/2014/main" val="3966469970"/>
                    </a:ext>
                  </a:extLst>
                </a:gridCol>
                <a:gridCol w="531824">
                  <a:extLst>
                    <a:ext uri="{9D8B030D-6E8A-4147-A177-3AD203B41FA5}">
                      <a16:colId xmlns:a16="http://schemas.microsoft.com/office/drawing/2014/main" val="2522973146"/>
                    </a:ext>
                  </a:extLst>
                </a:gridCol>
                <a:gridCol w="531824">
                  <a:extLst>
                    <a:ext uri="{9D8B030D-6E8A-4147-A177-3AD203B41FA5}">
                      <a16:colId xmlns:a16="http://schemas.microsoft.com/office/drawing/2014/main" val="1073721136"/>
                    </a:ext>
                  </a:extLst>
                </a:gridCol>
              </a:tblGrid>
              <a:tr h="25908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solidFill>
                      <a:srgbClr val="06251F"/>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173406" y="12549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110658" y="2181367"/>
            <a:ext cx="1073991"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1438-0012</a:t>
            </a:r>
          </a:p>
          <a:p>
            <a:pPr algn="ctr" defTabSz="914377">
              <a:defRPr/>
            </a:pPr>
            <a:r>
              <a:rPr lang="en-US" sz="1067" b="1">
                <a:solidFill>
                  <a:srgbClr val="08312A"/>
                </a:solidFill>
                <a:cs typeface="Calibri" panose="020F0502020204030204" pitchFamily="34" charset="0"/>
              </a:rPr>
              <a:t>Dareon-Lung-1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2593322" y="2549022"/>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3"/>
            </p:custDataLst>
          </p:nvPr>
        </p:nvSpPr>
        <p:spPr>
          <a:xfrm>
            <a:off x="2269813" y="209998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Feb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4"/>
            </p:custDataLst>
          </p:nvPr>
        </p:nvSpPr>
        <p:spPr bwMode="auto">
          <a:xfrm>
            <a:off x="2803976" y="2283671"/>
            <a:ext cx="2675414" cy="272694"/>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N=670</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5"/>
            </p:custDataLst>
          </p:nvPr>
        </p:nvSpPr>
        <p:spPr bwMode="auto">
          <a:xfrm>
            <a:off x="3159379" y="4344717"/>
            <a:ext cx="229421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N=116 (Inc.TW20+HK2)</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6"/>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7"/>
            </p:custDataLst>
          </p:nvPr>
        </p:nvSpPr>
        <p:spPr bwMode="auto">
          <a:xfrm>
            <a:off x="2071705" y="4339515"/>
            <a:ext cx="1087673"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2" name="Group 11">
            <a:extLst>
              <a:ext uri="{FF2B5EF4-FFF2-40B4-BE49-F238E27FC236}">
                <a16:creationId xmlns:a16="http://schemas.microsoft.com/office/drawing/2014/main" id="{06FE123B-63EE-675A-38C9-CE452318FD74}"/>
              </a:ext>
            </a:extLst>
          </p:cNvPr>
          <p:cNvGrpSpPr/>
          <p:nvPr/>
        </p:nvGrpSpPr>
        <p:grpSpPr>
          <a:xfrm>
            <a:off x="1860751" y="4172897"/>
            <a:ext cx="1014392" cy="686545"/>
            <a:chOff x="1762461" y="4172897"/>
            <a:chExt cx="1014392" cy="686545"/>
          </a:xfrm>
        </p:grpSpPr>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17"/>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Nov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8"/>
              </p:custDataLst>
            </p:nvPr>
          </p:nvSpPr>
          <p:spPr bwMode="auto">
            <a:xfrm rot="16200000">
              <a:off x="1971073"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9"/>
              </p:custDataLst>
            </p:nvPr>
          </p:nvSpPr>
          <p:spPr>
            <a:xfrm>
              <a:off x="1848652" y="4695230"/>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066D8B96-5284-7829-3E0F-9F3FF60595C2}"/>
              </a:ext>
            </a:extLst>
          </p:cNvPr>
          <p:cNvSpPr/>
          <p:nvPr/>
        </p:nvSpPr>
        <p:spPr bwMode="auto">
          <a:xfrm>
            <a:off x="2699463" y="24388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7" name="Group 6">
            <a:extLst>
              <a:ext uri="{FF2B5EF4-FFF2-40B4-BE49-F238E27FC236}">
                <a16:creationId xmlns:a16="http://schemas.microsoft.com/office/drawing/2014/main" id="{6AE24C75-BD89-5B82-359D-D3BCCC45523C}"/>
              </a:ext>
            </a:extLst>
          </p:cNvPr>
          <p:cNvGrpSpPr/>
          <p:nvPr/>
        </p:nvGrpSpPr>
        <p:grpSpPr>
          <a:xfrm>
            <a:off x="4991832" y="2099832"/>
            <a:ext cx="911147" cy="720687"/>
            <a:chOff x="4616908" y="2110188"/>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4905990" y="2574329"/>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6"/>
              </p:custDataLst>
            </p:nvPr>
          </p:nvSpPr>
          <p:spPr>
            <a:xfrm>
              <a:off x="4616908" y="211018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5012490" y="247635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8" name="Group 7">
            <a:extLst>
              <a:ext uri="{FF2B5EF4-FFF2-40B4-BE49-F238E27FC236}">
                <a16:creationId xmlns:a16="http://schemas.microsoft.com/office/drawing/2014/main" id="{1EFB7D6F-31CB-2069-FF11-DD2769DED9F7}"/>
              </a:ext>
            </a:extLst>
          </p:cNvPr>
          <p:cNvGrpSpPr/>
          <p:nvPr/>
        </p:nvGrpSpPr>
        <p:grpSpPr>
          <a:xfrm>
            <a:off x="5013986" y="4122033"/>
            <a:ext cx="911145" cy="722963"/>
            <a:chOff x="4295073" y="417289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5"/>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8727344" y="2052707"/>
            <a:ext cx="79861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Jan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8772291" y="25630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9465309" y="2052707"/>
            <a:ext cx="85311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979785" y="2379739"/>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9499428" y="2563015"/>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3" name="Group 12">
            <a:extLst>
              <a:ext uri="{FF2B5EF4-FFF2-40B4-BE49-F238E27FC236}">
                <a16:creationId xmlns:a16="http://schemas.microsoft.com/office/drawing/2014/main" id="{5E0AE7B3-BD29-CCCE-1378-2B9E2847F476}"/>
              </a:ext>
            </a:extLst>
          </p:cNvPr>
          <p:cNvGrpSpPr/>
          <p:nvPr/>
        </p:nvGrpSpPr>
        <p:grpSpPr>
          <a:xfrm>
            <a:off x="8797839" y="4090313"/>
            <a:ext cx="845164" cy="769129"/>
            <a:chOff x="6596173" y="4126731"/>
            <a:chExt cx="845164" cy="769129"/>
          </a:xfrm>
        </p:grpSpPr>
        <p:sp>
          <p:nvSpPr>
            <p:cNvPr id="302" name="Rectangle 100">
              <a:extLst>
                <a:ext uri="{FF2B5EF4-FFF2-40B4-BE49-F238E27FC236}">
                  <a16:creationId xmlns:a16="http://schemas.microsoft.com/office/drawing/2014/main" id="{C3B9E7B5-CD20-2827-BE11-17673C41D13A}"/>
                </a:ext>
              </a:extLst>
            </p:cNvPr>
            <p:cNvSpPr/>
            <p:nvPr/>
          </p:nvSpPr>
          <p:spPr>
            <a:xfrm>
              <a:off x="6596173" y="4126731"/>
              <a:ext cx="80182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Feb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2794993" y="3043813"/>
            <a:ext cx="6328792" cy="553343"/>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200" i="1">
                <a:solidFill>
                  <a:schemeClr val="bg1">
                    <a:lumMod val="49000"/>
                  </a:schemeClr>
                </a:solidFill>
                <a:cs typeface="Calibri"/>
              </a:rPr>
              <a:t>CTP was released on 7 Nov 2025 which was 2 weeks delayed than schedule .</a:t>
            </a:r>
            <a:endParaRPr lang="zh-CN" altLang="en-US">
              <a:solidFill>
                <a:schemeClr val="bg1">
                  <a:lumMod val="49000"/>
                </a:schemeClr>
              </a:solidFill>
              <a:cs typeface="Calibri"/>
            </a:endParaRPr>
          </a:p>
          <a:p>
            <a:pPr marL="95885" indent="-95885" defTabSz="1219170">
              <a:spcAft>
                <a:spcPts val="267"/>
              </a:spcAft>
              <a:buFont typeface="Arial" panose="020B0604020202020204" pitchFamily="34" charset="0"/>
              <a:buChar char="•"/>
              <a:defRPr/>
            </a:pPr>
            <a:r>
              <a:rPr lang="en-US" altLang="zh-CN" sz="1200" i="1">
                <a:cs typeface="Calibri"/>
              </a:rPr>
              <a:t>Target to initiate SIV on 27 Feb 2026.</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2803976" y="5164731"/>
            <a:ext cx="6553568" cy="1208842"/>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200" i="1">
                <a:cs typeface="Calibri"/>
              </a:rPr>
              <a:t>CTA was submitted on 28 Nov 2025. CTA approval is expected in early Mar 2026.</a:t>
            </a:r>
          </a:p>
          <a:p>
            <a:pPr marL="95885" indent="-95885" defTabSz="1219170">
              <a:spcAft>
                <a:spcPts val="267"/>
              </a:spcAft>
              <a:buFont typeface="Arial" panose="020B0604020202020204" pitchFamily="34" charset="0"/>
              <a:buChar char="•"/>
              <a:defRPr/>
            </a:pPr>
            <a:r>
              <a:rPr lang="en-US" altLang="zh-CN" sz="1200" i="1">
                <a:cs typeface="Calibri"/>
              </a:rPr>
              <a:t>GCP submission to leading site completed on 3Dec2025.</a:t>
            </a:r>
            <a:endParaRPr lang="zh-CN" altLang="en-US" sz="1200" i="1">
              <a:cs typeface="Calibri"/>
            </a:endParaRPr>
          </a:p>
          <a:p>
            <a:pPr marL="95885" indent="-95885" defTabSz="1219170">
              <a:spcAft>
                <a:spcPts val="267"/>
              </a:spcAft>
              <a:buFont typeface="Arial" panose="020B0604020202020204" pitchFamily="34" charset="0"/>
              <a:buChar char="•"/>
              <a:defRPr/>
            </a:pPr>
            <a:r>
              <a:rPr lang="en-US" sz="1200">
                <a:solidFill>
                  <a:schemeClr val="bg1">
                    <a:lumMod val="75000"/>
                  </a:schemeClr>
                </a:solidFill>
              </a:rPr>
              <a:t>This project does prospective testing and use the DLL3 as a stratification factor. FPI needs to wait clinical performance study(CPS) approval. Local Roche handles CPS submission. </a:t>
            </a:r>
          </a:p>
        </p:txBody>
      </p:sp>
      <p:grpSp>
        <p:nvGrpSpPr>
          <p:cNvPr id="14" name="Group 13">
            <a:extLst>
              <a:ext uri="{FF2B5EF4-FFF2-40B4-BE49-F238E27FC236}">
                <a16:creationId xmlns:a16="http://schemas.microsoft.com/office/drawing/2014/main" id="{B8C7A0EC-AC75-AFA9-F775-94DA0B7448EE}"/>
              </a:ext>
            </a:extLst>
          </p:cNvPr>
          <p:cNvGrpSpPr/>
          <p:nvPr/>
        </p:nvGrpSpPr>
        <p:grpSpPr>
          <a:xfrm>
            <a:off x="10571111" y="4060635"/>
            <a:ext cx="827907" cy="769129"/>
            <a:chOff x="8786867" y="4126731"/>
            <a:chExt cx="827907" cy="769129"/>
          </a:xfrm>
        </p:grpSpPr>
        <p:sp>
          <p:nvSpPr>
            <p:cNvPr id="307" name="Rectangle 100">
              <a:extLst>
                <a:ext uri="{FF2B5EF4-FFF2-40B4-BE49-F238E27FC236}">
                  <a16:creationId xmlns:a16="http://schemas.microsoft.com/office/drawing/2014/main" id="{0438AC28-0BEB-F709-E6E5-9A6B7058A5EE}"/>
                </a:ext>
              </a:extLst>
            </p:cNvPr>
            <p:cNvSpPr/>
            <p:nvPr/>
          </p:nvSpPr>
          <p:spPr>
            <a:xfrm>
              <a:off x="8786867" y="4126731"/>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Dec 2029</a:t>
              </a: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027776" y="4419855"/>
              <a:ext cx="210312" cy="210312"/>
            </a:xfrm>
            <a:prstGeom prst="rect">
              <a:avLst/>
            </a:prstGeom>
          </p:spPr>
        </p:pic>
      </p:gr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633974" y="2334992"/>
            <a:ext cx="210312" cy="210312"/>
          </a:xfrm>
          <a:prstGeom prst="rect">
            <a:avLst/>
          </a:prstGeom>
        </p:spPr>
      </p:pic>
      <p:sp>
        <p:nvSpPr>
          <p:cNvPr id="5" name="TextBox 64">
            <a:extLst>
              <a:ext uri="{FF2B5EF4-FFF2-40B4-BE49-F238E27FC236}">
                <a16:creationId xmlns:a16="http://schemas.microsoft.com/office/drawing/2014/main" id="{0217CF6B-474C-C9E8-00BC-9B74AD4BCB97}"/>
              </a:ext>
            </a:extLst>
          </p:cNvPr>
          <p:cNvSpPr txBox="1"/>
          <p:nvPr/>
        </p:nvSpPr>
        <p:spPr>
          <a:xfrm>
            <a:off x="95349" y="4583447"/>
            <a:ext cx="1073991"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1438-0012</a:t>
            </a:r>
          </a:p>
          <a:p>
            <a:pPr algn="ctr" defTabSz="914377">
              <a:defRPr/>
            </a:pPr>
            <a:r>
              <a:rPr lang="en-US" sz="1067" b="1">
                <a:solidFill>
                  <a:srgbClr val="08312A"/>
                </a:solidFill>
                <a:cs typeface="Calibri" panose="020F0502020204030204" pitchFamily="34" charset="0"/>
              </a:rPr>
              <a:t>Dareon-Lung-1</a:t>
            </a:r>
          </a:p>
        </p:txBody>
      </p:sp>
      <p:sp>
        <p:nvSpPr>
          <p:cNvPr id="15" name="OTLSHAPE_T_e17f3958430f4cff8650518c93c7635e_Shape">
            <a:extLst>
              <a:ext uri="{FF2B5EF4-FFF2-40B4-BE49-F238E27FC236}">
                <a16:creationId xmlns:a16="http://schemas.microsoft.com/office/drawing/2014/main" id="{F7386A40-CC8B-9ABD-3400-0DB1D863BB13}"/>
              </a:ext>
            </a:extLst>
          </p:cNvPr>
          <p:cNvSpPr/>
          <p:nvPr>
            <p:custDataLst>
              <p:tags r:id="rId8"/>
            </p:custDataLst>
          </p:nvPr>
        </p:nvSpPr>
        <p:spPr bwMode="auto">
          <a:xfrm>
            <a:off x="1530970" y="4346024"/>
            <a:ext cx="529050"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1067" b="1">
              <a:solidFill>
                <a:prstClr val="black"/>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567DE8AF-7425-3A32-38BC-0E79B0FF7C0C}"/>
              </a:ext>
            </a:extLst>
          </p:cNvPr>
          <p:cNvGrpSpPr/>
          <p:nvPr/>
        </p:nvGrpSpPr>
        <p:grpSpPr>
          <a:xfrm>
            <a:off x="1121812" y="4182646"/>
            <a:ext cx="928201" cy="676796"/>
            <a:chOff x="1752395" y="4172897"/>
            <a:chExt cx="928201" cy="676796"/>
          </a:xfrm>
        </p:grpSpPr>
        <p:sp>
          <p:nvSpPr>
            <p:cNvPr id="17" name="OTLSHAPE_T_e17f3958430f4cff8650518c93c7635e_StartDate">
              <a:extLst>
                <a:ext uri="{FF2B5EF4-FFF2-40B4-BE49-F238E27FC236}">
                  <a16:creationId xmlns:a16="http://schemas.microsoft.com/office/drawing/2014/main" id="{D5E40451-B020-9573-A1FE-F56A05019D06}"/>
                </a:ext>
              </a:extLst>
            </p:cNvPr>
            <p:cNvSpPr txBox="1"/>
            <p:nvPr>
              <p:custDataLst>
                <p:tags r:id="rId12"/>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OTLSHAPE_M_39ea6ebc19a94c9fab6ef5006c31df58_Shape">
              <a:extLst>
                <a:ext uri="{FF2B5EF4-FFF2-40B4-BE49-F238E27FC236}">
                  <a16:creationId xmlns:a16="http://schemas.microsoft.com/office/drawing/2014/main" id="{725C2F09-A748-268C-AD67-0666D11AE752}"/>
                </a:ext>
              </a:extLst>
            </p:cNvPr>
            <p:cNvSpPr/>
            <p:nvPr>
              <p:custDataLst>
                <p:tags r:id="rId13"/>
              </p:custDataLst>
            </p:nvPr>
          </p:nvSpPr>
          <p:spPr bwMode="auto">
            <a:xfrm rot="16200000">
              <a:off x="2139151" y="456354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19" name="OTLSHAPE_M_39ea6ebc19a94c9fab6ef5006c31df58_Title">
              <a:extLst>
                <a:ext uri="{FF2B5EF4-FFF2-40B4-BE49-F238E27FC236}">
                  <a16:creationId xmlns:a16="http://schemas.microsoft.com/office/drawing/2014/main" id="{6CCB5101-F3A3-EFCE-78A4-F1EC95304D43}"/>
                </a:ext>
              </a:extLst>
            </p:cNvPr>
            <p:cNvSpPr txBox="1"/>
            <p:nvPr>
              <p:custDataLst>
                <p:tags r:id="rId14"/>
              </p:custDataLst>
            </p:nvPr>
          </p:nvSpPr>
          <p:spPr>
            <a:xfrm>
              <a:off x="1752395" y="4685481"/>
              <a:ext cx="928201" cy="164212"/>
            </a:xfrm>
            <a:prstGeom prst="rect">
              <a:avLst/>
            </a:prstGeom>
            <a:noFill/>
          </p:spPr>
          <p:txBody>
            <a:bodyPr vert="horz" wrap="square" lIns="0" tIns="0" rIns="0" bIns="0" rtlCol="0" anchor="ctr" anchorCtr="0">
              <a:spAutoFit/>
            </a:bodyPr>
            <a:lstStyle/>
            <a:p>
              <a:pPr defTabSz="1219108">
                <a:defRPr/>
              </a:pPr>
              <a:r>
                <a:rPr lang="en-US" altLang="zh-CN" sz="1067" b="1" err="1">
                  <a:solidFill>
                    <a:srgbClr val="44546A"/>
                  </a:solidFill>
                  <a:ea typeface="等线" panose="02010600030101010101" pitchFamily="2" charset="-122"/>
                  <a:cs typeface="Calibri" panose="020F0502020204030204" pitchFamily="34" charset="0"/>
                </a:rPr>
                <a:t>PreIND</a:t>
              </a:r>
              <a:r>
                <a:rPr lang="en-US" altLang="zh-CN" sz="1067" b="1">
                  <a:solidFill>
                    <a:srgbClr val="44546A"/>
                  </a:solidFill>
                  <a:ea typeface="等线" panose="02010600030101010101" pitchFamily="2" charset="-122"/>
                  <a:cs typeface="Calibri" panose="020F0502020204030204" pitchFamily="34" charset="0"/>
                </a:rPr>
                <a:t> Sub</a:t>
              </a:r>
              <a:endParaRPr lang="zh-CN" altLang="en-US" sz="1067" b="1">
                <a:solidFill>
                  <a:srgbClr val="44546A"/>
                </a:solidFill>
                <a:ea typeface="等线" panose="02010600030101010101" pitchFamily="2" charset="-122"/>
                <a:cs typeface="Calibri" panose="020F0502020204030204" pitchFamily="34" charset="0"/>
              </a:endParaRPr>
            </a:p>
          </p:txBody>
        </p:sp>
      </p:grpSp>
      <p:grpSp>
        <p:nvGrpSpPr>
          <p:cNvPr id="20" name="Group 19">
            <a:extLst>
              <a:ext uri="{FF2B5EF4-FFF2-40B4-BE49-F238E27FC236}">
                <a16:creationId xmlns:a16="http://schemas.microsoft.com/office/drawing/2014/main" id="{B15D91E3-77A4-90FC-DFEF-9AB9ED6DE9BD}"/>
              </a:ext>
            </a:extLst>
          </p:cNvPr>
          <p:cNvGrpSpPr/>
          <p:nvPr/>
        </p:nvGrpSpPr>
        <p:grpSpPr>
          <a:xfrm>
            <a:off x="7686395" y="2099832"/>
            <a:ext cx="1021309" cy="720686"/>
            <a:chOff x="5523491" y="2099833"/>
            <a:chExt cx="1021309" cy="720686"/>
          </a:xfrm>
        </p:grpSpPr>
        <p:sp>
          <p:nvSpPr>
            <p:cNvPr id="21" name="Rectangle 55">
              <a:extLst>
                <a:ext uri="{FF2B5EF4-FFF2-40B4-BE49-F238E27FC236}">
                  <a16:creationId xmlns:a16="http://schemas.microsoft.com/office/drawing/2014/main" id="{1CB33E48-DBEF-765F-6E03-5B0AD9CEF0ED}"/>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CF939C66-D5EC-297C-8558-B16AF844AEA7}"/>
                </a:ext>
              </a:extLst>
            </p:cNvPr>
            <p:cNvSpPr txBox="1"/>
            <p:nvPr>
              <p:custDataLst>
                <p:tags r:id="rId11"/>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Q4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 name="Star: 4 Points 143">
              <a:extLst>
                <a:ext uri="{FF2B5EF4-FFF2-40B4-BE49-F238E27FC236}">
                  <a16:creationId xmlns:a16="http://schemas.microsoft.com/office/drawing/2014/main" id="{033D2FFD-D330-13D6-181B-F76911130DAE}"/>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4" name="Group 23">
            <a:extLst>
              <a:ext uri="{FF2B5EF4-FFF2-40B4-BE49-F238E27FC236}">
                <a16:creationId xmlns:a16="http://schemas.microsoft.com/office/drawing/2014/main" id="{16150932-86E9-71BC-72E7-0B17A40A7382}"/>
              </a:ext>
            </a:extLst>
          </p:cNvPr>
          <p:cNvGrpSpPr/>
          <p:nvPr/>
        </p:nvGrpSpPr>
        <p:grpSpPr>
          <a:xfrm>
            <a:off x="7719096" y="4159221"/>
            <a:ext cx="1021309" cy="720686"/>
            <a:chOff x="5523491" y="2099833"/>
            <a:chExt cx="1021309" cy="720686"/>
          </a:xfrm>
        </p:grpSpPr>
        <p:sp>
          <p:nvSpPr>
            <p:cNvPr id="25" name="Rectangle 55">
              <a:extLst>
                <a:ext uri="{FF2B5EF4-FFF2-40B4-BE49-F238E27FC236}">
                  <a16:creationId xmlns:a16="http://schemas.microsoft.com/office/drawing/2014/main" id="{07440DF8-BFA4-59D4-E529-C7B879F3C51E}"/>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 name="OTLSHAPE_T_e17f3958430f4cff8650518c93c7635e_StartDate">
              <a:extLst>
                <a:ext uri="{FF2B5EF4-FFF2-40B4-BE49-F238E27FC236}">
                  <a16:creationId xmlns:a16="http://schemas.microsoft.com/office/drawing/2014/main" id="{2276414B-B71F-EEB7-1EFE-4FDC48935584}"/>
                </a:ext>
              </a:extLst>
            </p:cNvPr>
            <p:cNvSpPr txBox="1"/>
            <p:nvPr>
              <p:custDataLst>
                <p:tags r:id="rId10"/>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Q4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 name="Star: 4 Points 143">
              <a:extLst>
                <a:ext uri="{FF2B5EF4-FFF2-40B4-BE49-F238E27FC236}">
                  <a16:creationId xmlns:a16="http://schemas.microsoft.com/office/drawing/2014/main" id="{FC63DFE6-E725-F2CA-5796-66D17AA480DC}"/>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cxnSp>
        <p:nvCxnSpPr>
          <p:cNvPr id="30" name="Connector: Elbow 29">
            <a:extLst>
              <a:ext uri="{FF2B5EF4-FFF2-40B4-BE49-F238E27FC236}">
                <a16:creationId xmlns:a16="http://schemas.microsoft.com/office/drawing/2014/main" id="{09CA584B-0478-00F3-4018-545BB6CE1B50}"/>
              </a:ext>
            </a:extLst>
          </p:cNvPr>
          <p:cNvCxnSpPr>
            <a:cxnSpLocks/>
            <a:endCxn id="312" idx="1"/>
          </p:cNvCxnSpPr>
          <p:nvPr/>
        </p:nvCxnSpPr>
        <p:spPr bwMode="gray">
          <a:xfrm rot="16200000" flipH="1">
            <a:off x="1731515" y="4696691"/>
            <a:ext cx="1136440" cy="1008482"/>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FF504732-3AF0-3554-B61D-7843BC0787FF}"/>
              </a:ext>
            </a:extLst>
          </p:cNvPr>
          <p:cNvGrpSpPr/>
          <p:nvPr/>
        </p:nvGrpSpPr>
        <p:grpSpPr>
          <a:xfrm>
            <a:off x="1138757" y="2067174"/>
            <a:ext cx="1217000" cy="769129"/>
            <a:chOff x="6433532" y="4126731"/>
            <a:chExt cx="1217000" cy="769129"/>
          </a:xfrm>
        </p:grpSpPr>
        <p:sp>
          <p:nvSpPr>
            <p:cNvPr id="224" name="Rectangle 100">
              <a:extLst>
                <a:ext uri="{FF2B5EF4-FFF2-40B4-BE49-F238E27FC236}">
                  <a16:creationId xmlns:a16="http://schemas.microsoft.com/office/drawing/2014/main" id="{B96CA3FC-E134-C6C7-E8E2-FDBA9323DCCB}"/>
                </a:ext>
              </a:extLst>
            </p:cNvPr>
            <p:cNvSpPr/>
            <p:nvPr/>
          </p:nvSpPr>
          <p:spPr>
            <a:xfrm>
              <a:off x="6487169" y="4126731"/>
              <a:ext cx="1019830"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15 Sep 2025</a:t>
              </a:r>
              <a:endParaRPr lang="en-US" altLang="zh-CN" sz="1067" b="1">
                <a:solidFill>
                  <a:srgbClr val="44546A"/>
                </a:solidFill>
                <a:ea typeface="等线" panose="02010600030101010101" pitchFamily="2" charset="-122"/>
                <a:cs typeface="Calibri" panose="020F0502020204030204" pitchFamily="34" charset="0"/>
              </a:endParaRPr>
            </a:p>
          </p:txBody>
        </p:sp>
        <p:sp>
          <p:nvSpPr>
            <p:cNvPr id="225" name="Rectangle 55">
              <a:extLst>
                <a:ext uri="{FF2B5EF4-FFF2-40B4-BE49-F238E27FC236}">
                  <a16:creationId xmlns:a16="http://schemas.microsoft.com/office/drawing/2014/main" id="{8C8FF166-3326-19F8-BFFD-EC0239BA2D29}"/>
                </a:ext>
              </a:extLst>
            </p:cNvPr>
            <p:cNvSpPr/>
            <p:nvPr/>
          </p:nvSpPr>
          <p:spPr>
            <a:xfrm>
              <a:off x="6433532" y="4639315"/>
              <a:ext cx="1217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FDA interaction</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五角星 55">
              <a:extLst>
                <a:ext uri="{FF2B5EF4-FFF2-40B4-BE49-F238E27FC236}">
                  <a16:creationId xmlns:a16="http://schemas.microsoft.com/office/drawing/2014/main" id="{A73F7087-88BA-5967-28A2-A2F09498DA0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4" name="Group 62">
            <a:extLst>
              <a:ext uri="{FF2B5EF4-FFF2-40B4-BE49-F238E27FC236}">
                <a16:creationId xmlns:a16="http://schemas.microsoft.com/office/drawing/2014/main" id="{DA8A2C85-F93A-765B-A1DE-AA144F2F953B}"/>
              </a:ext>
            </a:extLst>
          </p:cNvPr>
          <p:cNvGrpSpPr/>
          <p:nvPr/>
        </p:nvGrpSpPr>
        <p:grpSpPr>
          <a:xfrm>
            <a:off x="1952629" y="723282"/>
            <a:ext cx="546747" cy="6134718"/>
            <a:chOff x="1155349" y="1057179"/>
            <a:chExt cx="546747" cy="4601037"/>
          </a:xfrm>
        </p:grpSpPr>
        <p:cxnSp>
          <p:nvCxnSpPr>
            <p:cNvPr id="29" name="Straight Connector 63">
              <a:extLst>
                <a:ext uri="{FF2B5EF4-FFF2-40B4-BE49-F238E27FC236}">
                  <a16:creationId xmlns:a16="http://schemas.microsoft.com/office/drawing/2014/main" id="{519A5D27-FBB8-67B3-D59C-8F8A15BFB599}"/>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7" name="OTLSHAPE_T_e17f3958430f4cff8650518c93c7635e_StartDate">
              <a:extLst>
                <a:ext uri="{FF2B5EF4-FFF2-40B4-BE49-F238E27FC236}">
                  <a16:creationId xmlns:a16="http://schemas.microsoft.com/office/drawing/2014/main" id="{DCF31F49-6DD4-DA99-E6A1-CADD020413EC}"/>
                </a:ext>
              </a:extLst>
            </p:cNvPr>
            <p:cNvSpPr txBox="1"/>
            <p:nvPr>
              <p:custDataLst>
                <p:tags r:id="rId9"/>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801339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TLSHAPE_T_5a934a26f311425e8ebaa0f45e6533ad_Shape">
            <a:extLst>
              <a:ext uri="{FF2B5EF4-FFF2-40B4-BE49-F238E27FC236}">
                <a16:creationId xmlns:a16="http://schemas.microsoft.com/office/drawing/2014/main" id="{10FC5663-A4E2-B162-27C8-355EFFA1356C}"/>
              </a:ext>
            </a:extLst>
          </p:cNvPr>
          <p:cNvSpPr/>
          <p:nvPr>
            <p:custDataLst>
              <p:tags r:id="rId1"/>
            </p:custDataLst>
          </p:nvPr>
        </p:nvSpPr>
        <p:spPr bwMode="auto">
          <a:xfrm>
            <a:off x="7799041" y="2249002"/>
            <a:ext cx="85312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OTLSHAPE_T_5a934a26f311425e8ebaa0f45e6533ad_Shape">
            <a:extLst>
              <a:ext uri="{FF2B5EF4-FFF2-40B4-BE49-F238E27FC236}">
                <a16:creationId xmlns:a16="http://schemas.microsoft.com/office/drawing/2014/main" id="{074708EB-14DE-FB72-B446-4F08CE4EEA35}"/>
              </a:ext>
            </a:extLst>
          </p:cNvPr>
          <p:cNvSpPr/>
          <p:nvPr>
            <p:custDataLst>
              <p:tags r:id="rId2"/>
            </p:custDataLst>
          </p:nvPr>
        </p:nvSpPr>
        <p:spPr bwMode="auto">
          <a:xfrm>
            <a:off x="7804742" y="4262404"/>
            <a:ext cx="85312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1L </a:t>
            </a:r>
            <a:r>
              <a:rPr lang="en-US" altLang="zh-CN" sz="2400" i="1" err="1">
                <a:solidFill>
                  <a:schemeClr val="tx1"/>
                </a:solidFill>
                <a:latin typeface="+mn-lt"/>
              </a:rPr>
              <a:t>epNEC</a:t>
            </a:r>
            <a:r>
              <a:rPr lang="en-US" altLang="zh-CN" sz="2400" i="1">
                <a:solidFill>
                  <a:schemeClr val="tx1"/>
                </a:solidFill>
                <a:latin typeface="+mn-lt"/>
              </a:rPr>
              <a:t> </a:t>
            </a:r>
            <a:r>
              <a:rPr lang="en-US" altLang="zh-CN">
                <a:solidFill>
                  <a:schemeClr val="tx1"/>
                </a:solidFill>
                <a:latin typeface="+mn-lt"/>
              </a:rPr>
              <a:t>(</a:t>
            </a:r>
            <a:r>
              <a:rPr lang="en-US" altLang="zh-CN" err="1">
                <a:solidFill>
                  <a:schemeClr val="tx1"/>
                </a:solidFill>
                <a:latin typeface="+mn-lt"/>
              </a:rPr>
              <a:t>obrix+EP</a:t>
            </a:r>
            <a:r>
              <a:rPr lang="en-US" altLang="zh-CN">
                <a:solidFill>
                  <a:schemeClr val="tx1"/>
                </a:solidFill>
                <a:latin typeface="+mn-lt"/>
              </a:rPr>
              <a:t> vs. EP)</a:t>
            </a:r>
            <a:endParaRPr lang="zh-CN" altLang="en-US">
              <a:solidFill>
                <a:schemeClr val="tx1"/>
              </a:solidFill>
              <a:latin typeface="+mn-lt"/>
            </a:endParaRP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29</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426660" cy="675640"/>
        </p:xfrm>
        <a:graphic>
          <a:graphicData uri="http://schemas.openxmlformats.org/drawingml/2006/table">
            <a:tbl>
              <a:tblPr firstRow="1" bandRow="1"/>
              <a:tblGrid>
                <a:gridCol w="521333">
                  <a:extLst>
                    <a:ext uri="{9D8B030D-6E8A-4147-A177-3AD203B41FA5}">
                      <a16:colId xmlns:a16="http://schemas.microsoft.com/office/drawing/2014/main" val="2466911814"/>
                    </a:ext>
                  </a:extLst>
                </a:gridCol>
                <a:gridCol w="521333">
                  <a:extLst>
                    <a:ext uri="{9D8B030D-6E8A-4147-A177-3AD203B41FA5}">
                      <a16:colId xmlns:a16="http://schemas.microsoft.com/office/drawing/2014/main" val="3023231563"/>
                    </a:ext>
                  </a:extLst>
                </a:gridCol>
                <a:gridCol w="521333">
                  <a:extLst>
                    <a:ext uri="{9D8B030D-6E8A-4147-A177-3AD203B41FA5}">
                      <a16:colId xmlns:a16="http://schemas.microsoft.com/office/drawing/2014/main" val="3411862845"/>
                    </a:ext>
                  </a:extLst>
                </a:gridCol>
                <a:gridCol w="521333">
                  <a:extLst>
                    <a:ext uri="{9D8B030D-6E8A-4147-A177-3AD203B41FA5}">
                      <a16:colId xmlns:a16="http://schemas.microsoft.com/office/drawing/2014/main" val="2851474774"/>
                    </a:ext>
                  </a:extLst>
                </a:gridCol>
                <a:gridCol w="521333">
                  <a:extLst>
                    <a:ext uri="{9D8B030D-6E8A-4147-A177-3AD203B41FA5}">
                      <a16:colId xmlns:a16="http://schemas.microsoft.com/office/drawing/2014/main" val="107595344"/>
                    </a:ext>
                  </a:extLst>
                </a:gridCol>
                <a:gridCol w="521333">
                  <a:extLst>
                    <a:ext uri="{9D8B030D-6E8A-4147-A177-3AD203B41FA5}">
                      <a16:colId xmlns:a16="http://schemas.microsoft.com/office/drawing/2014/main" val="1666999431"/>
                    </a:ext>
                  </a:extLst>
                </a:gridCol>
                <a:gridCol w="521333">
                  <a:extLst>
                    <a:ext uri="{9D8B030D-6E8A-4147-A177-3AD203B41FA5}">
                      <a16:colId xmlns:a16="http://schemas.microsoft.com/office/drawing/2014/main" val="3696607442"/>
                    </a:ext>
                  </a:extLst>
                </a:gridCol>
                <a:gridCol w="521333">
                  <a:extLst>
                    <a:ext uri="{9D8B030D-6E8A-4147-A177-3AD203B41FA5}">
                      <a16:colId xmlns:a16="http://schemas.microsoft.com/office/drawing/2014/main" val="223989776"/>
                    </a:ext>
                  </a:extLst>
                </a:gridCol>
                <a:gridCol w="521333">
                  <a:extLst>
                    <a:ext uri="{9D8B030D-6E8A-4147-A177-3AD203B41FA5}">
                      <a16:colId xmlns:a16="http://schemas.microsoft.com/office/drawing/2014/main" val="124731204"/>
                    </a:ext>
                  </a:extLst>
                </a:gridCol>
                <a:gridCol w="521333">
                  <a:extLst>
                    <a:ext uri="{9D8B030D-6E8A-4147-A177-3AD203B41FA5}">
                      <a16:colId xmlns:a16="http://schemas.microsoft.com/office/drawing/2014/main" val="3066978585"/>
                    </a:ext>
                  </a:extLst>
                </a:gridCol>
                <a:gridCol w="521333">
                  <a:extLst>
                    <a:ext uri="{9D8B030D-6E8A-4147-A177-3AD203B41FA5}">
                      <a16:colId xmlns:a16="http://schemas.microsoft.com/office/drawing/2014/main" val="1064917641"/>
                    </a:ext>
                  </a:extLst>
                </a:gridCol>
                <a:gridCol w="521333">
                  <a:extLst>
                    <a:ext uri="{9D8B030D-6E8A-4147-A177-3AD203B41FA5}">
                      <a16:colId xmlns:a16="http://schemas.microsoft.com/office/drawing/2014/main" val="4221117315"/>
                    </a:ext>
                  </a:extLst>
                </a:gridCol>
                <a:gridCol w="521333">
                  <a:extLst>
                    <a:ext uri="{9D8B030D-6E8A-4147-A177-3AD203B41FA5}">
                      <a16:colId xmlns:a16="http://schemas.microsoft.com/office/drawing/2014/main" val="3266065341"/>
                    </a:ext>
                  </a:extLst>
                </a:gridCol>
                <a:gridCol w="521333">
                  <a:extLst>
                    <a:ext uri="{9D8B030D-6E8A-4147-A177-3AD203B41FA5}">
                      <a16:colId xmlns:a16="http://schemas.microsoft.com/office/drawing/2014/main" val="2374051224"/>
                    </a:ext>
                  </a:extLst>
                </a:gridCol>
                <a:gridCol w="521333">
                  <a:extLst>
                    <a:ext uri="{9D8B030D-6E8A-4147-A177-3AD203B41FA5}">
                      <a16:colId xmlns:a16="http://schemas.microsoft.com/office/drawing/2014/main" val="1840388365"/>
                    </a:ext>
                  </a:extLst>
                </a:gridCol>
                <a:gridCol w="521333">
                  <a:extLst>
                    <a:ext uri="{9D8B030D-6E8A-4147-A177-3AD203B41FA5}">
                      <a16:colId xmlns:a16="http://schemas.microsoft.com/office/drawing/2014/main" val="267750830"/>
                    </a:ext>
                  </a:extLst>
                </a:gridCol>
                <a:gridCol w="521333">
                  <a:extLst>
                    <a:ext uri="{9D8B030D-6E8A-4147-A177-3AD203B41FA5}">
                      <a16:colId xmlns:a16="http://schemas.microsoft.com/office/drawing/2014/main" val="3966469970"/>
                    </a:ext>
                  </a:extLst>
                </a:gridCol>
                <a:gridCol w="521333">
                  <a:extLst>
                    <a:ext uri="{9D8B030D-6E8A-4147-A177-3AD203B41FA5}">
                      <a16:colId xmlns:a16="http://schemas.microsoft.com/office/drawing/2014/main" val="2522973146"/>
                    </a:ext>
                  </a:extLst>
                </a:gridCol>
                <a:gridCol w="521333">
                  <a:extLst>
                    <a:ext uri="{9D8B030D-6E8A-4147-A177-3AD203B41FA5}">
                      <a16:colId xmlns:a16="http://schemas.microsoft.com/office/drawing/2014/main" val="1291482796"/>
                    </a:ext>
                  </a:extLst>
                </a:gridCol>
                <a:gridCol w="521333">
                  <a:extLst>
                    <a:ext uri="{9D8B030D-6E8A-4147-A177-3AD203B41FA5}">
                      <a16:colId xmlns:a16="http://schemas.microsoft.com/office/drawing/2014/main" val="3671383238"/>
                    </a:ext>
                  </a:extLst>
                </a:gridCol>
              </a:tblGrid>
              <a:tr h="259080">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501478"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1438-0011</a:t>
            </a:r>
          </a:p>
          <a:p>
            <a:pPr algn="ctr" defTabSz="914377">
              <a:defRPr/>
            </a:pPr>
            <a:r>
              <a:rPr lang="en-US" sz="1067" b="1">
                <a:solidFill>
                  <a:srgbClr val="08312A"/>
                </a:solidFill>
                <a:cs typeface="Calibri" panose="020F0502020204030204" pitchFamily="34" charset="0"/>
              </a:rPr>
              <a:t>Dareon-Nec-1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3092941" y="2537113"/>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3"/>
            </p:custDataLst>
          </p:nvPr>
        </p:nvSpPr>
        <p:spPr>
          <a:xfrm>
            <a:off x="2782217" y="207297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Jun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4"/>
            </p:custDataLst>
          </p:nvPr>
        </p:nvSpPr>
        <p:spPr bwMode="auto">
          <a:xfrm>
            <a:off x="3312675" y="2246455"/>
            <a:ext cx="448512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N=390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5"/>
            </p:custDataLst>
          </p:nvPr>
        </p:nvSpPr>
        <p:spPr bwMode="auto">
          <a:xfrm>
            <a:off x="3543273" y="4259857"/>
            <a:ext cx="425452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N=~60</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6"/>
            </p:custDataLst>
          </p:nvPr>
        </p:nvSpPr>
        <p:spPr>
          <a:xfrm>
            <a:off x="3232867" y="408803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7"/>
            </p:custDataLst>
          </p:nvPr>
        </p:nvSpPr>
        <p:spPr bwMode="auto">
          <a:xfrm>
            <a:off x="2524542" y="4266164"/>
            <a:ext cx="1018731"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3342708" y="4554164"/>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9A8D6268-A124-DA40-BFCD-61EFF73D3DCD}"/>
              </a:ext>
            </a:extLst>
          </p:cNvPr>
          <p:cNvGrpSpPr/>
          <p:nvPr/>
        </p:nvGrpSpPr>
        <p:grpSpPr>
          <a:xfrm>
            <a:off x="2295087" y="4088037"/>
            <a:ext cx="928201" cy="676796"/>
            <a:chOff x="2295087" y="4088037"/>
            <a:chExt cx="928201" cy="676796"/>
          </a:xfrm>
        </p:grpSpPr>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17"/>
              </p:custDataLst>
            </p:nvPr>
          </p:nvSpPr>
          <p:spPr>
            <a:xfrm>
              <a:off x="2305153" y="408803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8"/>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9"/>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066D8B96-5284-7829-3E0F-9F3FF60595C2}"/>
              </a:ext>
            </a:extLst>
          </p:cNvPr>
          <p:cNvSpPr/>
          <p:nvPr/>
        </p:nvSpPr>
        <p:spPr bwMode="auto">
          <a:xfrm>
            <a:off x="3212365" y="24391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5" name="Group 4">
            <a:extLst>
              <a:ext uri="{FF2B5EF4-FFF2-40B4-BE49-F238E27FC236}">
                <a16:creationId xmlns:a16="http://schemas.microsoft.com/office/drawing/2014/main" id="{8EE58B25-0D45-D3BF-4F0B-2CD9C09138EB}"/>
              </a:ext>
            </a:extLst>
          </p:cNvPr>
          <p:cNvGrpSpPr/>
          <p:nvPr/>
        </p:nvGrpSpPr>
        <p:grpSpPr>
          <a:xfrm>
            <a:off x="7304815" y="2061868"/>
            <a:ext cx="911147" cy="720687"/>
            <a:chOff x="6549792" y="2082343"/>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6838874" y="25464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6"/>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472617" y="44679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9" name="Group 8">
            <a:extLst>
              <a:ext uri="{FF2B5EF4-FFF2-40B4-BE49-F238E27FC236}">
                <a16:creationId xmlns:a16="http://schemas.microsoft.com/office/drawing/2014/main" id="{4CF0E922-BD8F-0172-A52F-FA20116ED591}"/>
              </a:ext>
            </a:extLst>
          </p:cNvPr>
          <p:cNvGrpSpPr/>
          <p:nvPr/>
        </p:nvGrpSpPr>
        <p:grpSpPr>
          <a:xfrm>
            <a:off x="7333249" y="4057186"/>
            <a:ext cx="911145" cy="722963"/>
            <a:chOff x="4837765" y="408803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5154403" y="455445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5"/>
              </p:custDataLst>
            </p:nvPr>
          </p:nvSpPr>
          <p:spPr>
            <a:xfrm>
              <a:off x="4837765" y="408803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5201213" y="44682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0" name="Group 9">
            <a:extLst>
              <a:ext uri="{FF2B5EF4-FFF2-40B4-BE49-F238E27FC236}">
                <a16:creationId xmlns:a16="http://schemas.microsoft.com/office/drawing/2014/main" id="{8955363D-E4F9-8665-9CB6-0EE3F2D2D0AE}"/>
              </a:ext>
            </a:extLst>
          </p:cNvPr>
          <p:cNvGrpSpPr/>
          <p:nvPr/>
        </p:nvGrpSpPr>
        <p:grpSpPr>
          <a:xfrm>
            <a:off x="8981110" y="1994477"/>
            <a:ext cx="828273" cy="769716"/>
            <a:chOff x="9452335" y="2022211"/>
            <a:chExt cx="828273" cy="769716"/>
          </a:xfrm>
        </p:grpSpPr>
        <p:sp>
          <p:nvSpPr>
            <p:cNvPr id="292" name="Rectangle 100">
              <a:extLst>
                <a:ext uri="{FF2B5EF4-FFF2-40B4-BE49-F238E27FC236}">
                  <a16:creationId xmlns:a16="http://schemas.microsoft.com/office/drawing/2014/main" id="{A8545B9F-DCAA-91A5-DA84-03B59F216C07}"/>
                </a:ext>
              </a:extLst>
            </p:cNvPr>
            <p:cNvSpPr/>
            <p:nvPr/>
          </p:nvSpPr>
          <p:spPr>
            <a:xfrm>
              <a:off x="9477182" y="2022211"/>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9452335" y="2535382"/>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9779643" y="235257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8" name="Group 7">
            <a:extLst>
              <a:ext uri="{FF2B5EF4-FFF2-40B4-BE49-F238E27FC236}">
                <a16:creationId xmlns:a16="http://schemas.microsoft.com/office/drawing/2014/main" id="{95201BF8-2434-B185-DEF1-03C3D49FF0DF}"/>
              </a:ext>
            </a:extLst>
          </p:cNvPr>
          <p:cNvGrpSpPr/>
          <p:nvPr/>
        </p:nvGrpSpPr>
        <p:grpSpPr>
          <a:xfrm>
            <a:off x="9177853" y="4008466"/>
            <a:ext cx="826730" cy="769129"/>
            <a:chOff x="6614607" y="4126731"/>
            <a:chExt cx="826730" cy="769129"/>
          </a:xfrm>
        </p:grpSpPr>
        <p:sp>
          <p:nvSpPr>
            <p:cNvPr id="302" name="Rectangle 100">
              <a:extLst>
                <a:ext uri="{FF2B5EF4-FFF2-40B4-BE49-F238E27FC236}">
                  <a16:creationId xmlns:a16="http://schemas.microsoft.com/office/drawing/2014/main" id="{C3B9E7B5-CD20-2827-BE11-17673C41D13A}"/>
                </a:ext>
              </a:extLst>
            </p:cNvPr>
            <p:cNvSpPr/>
            <p:nvPr/>
          </p:nvSpPr>
          <p:spPr>
            <a:xfrm>
              <a:off x="6614607" y="4126731"/>
              <a:ext cx="764954"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Jul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8307548" y="3073980"/>
            <a:ext cx="2875771" cy="681038"/>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i="1">
                <a:cs typeface="Calibri"/>
              </a:rPr>
              <a:t>Global team had a FDA meeting on 21 Nov 2025.  No major concern was raised.</a:t>
            </a:r>
          </a:p>
          <a:p>
            <a:pPr marL="95885" indent="-95885" defTabSz="1219170">
              <a:spcAft>
                <a:spcPts val="267"/>
              </a:spcAft>
              <a:buFont typeface="Arial" panose="020B0604020202020204" pitchFamily="34" charset="0"/>
              <a:buChar char="•"/>
              <a:defRPr/>
            </a:pPr>
            <a:r>
              <a:rPr lang="en-US" altLang="zh-CN" sz="1050" i="1">
                <a:cs typeface="Calibri"/>
              </a:rPr>
              <a:t>CTP was finalized on 11 Dec 2025.</a:t>
            </a:r>
            <a:endParaRPr lang="zh-CN" altLang="en-US" sz="1050">
              <a:cs typeface="Calibri"/>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8244048" y="4938447"/>
            <a:ext cx="2939271" cy="681038"/>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i="1">
                <a:cs typeface="Calibri"/>
              </a:rPr>
              <a:t>CTA is under preparation. Global review was completed last week.</a:t>
            </a:r>
          </a:p>
          <a:p>
            <a:pPr marL="95885" indent="-95885" defTabSz="1219170">
              <a:spcAft>
                <a:spcPts val="267"/>
              </a:spcAft>
              <a:buFont typeface="Arial" panose="020B0604020202020204" pitchFamily="34" charset="0"/>
              <a:buChar char="•"/>
              <a:defRPr/>
            </a:pPr>
            <a:r>
              <a:rPr lang="en-US" altLang="zh-CN" sz="1050" i="1">
                <a:cs typeface="Calibri"/>
              </a:rPr>
              <a:t>Team planned to submit CTA in mid of Jan 2026.</a:t>
            </a:r>
            <a:endParaRPr lang="en-US" altLang="zh-CN" sz="1050" i="1">
              <a:cs typeface="Calibri" panose="020F0502020204030204" pitchFamily="34" charset="0"/>
            </a:endParaRPr>
          </a:p>
        </p:txBody>
      </p:sp>
      <p:grpSp>
        <p:nvGrpSpPr>
          <p:cNvPr id="7" name="Group 6">
            <a:extLst>
              <a:ext uri="{FF2B5EF4-FFF2-40B4-BE49-F238E27FC236}">
                <a16:creationId xmlns:a16="http://schemas.microsoft.com/office/drawing/2014/main" id="{4F1BF2E7-54AA-12E5-94EA-2E3EDC461F0E}"/>
              </a:ext>
            </a:extLst>
          </p:cNvPr>
          <p:cNvGrpSpPr/>
          <p:nvPr/>
        </p:nvGrpSpPr>
        <p:grpSpPr>
          <a:xfrm>
            <a:off x="10581764" y="3997159"/>
            <a:ext cx="853119" cy="769129"/>
            <a:chOff x="8772438" y="4126731"/>
            <a:chExt cx="853119" cy="769129"/>
          </a:xfrm>
        </p:grpSpPr>
        <p:sp>
          <p:nvSpPr>
            <p:cNvPr id="307" name="Rectangle 100">
              <a:extLst>
                <a:ext uri="{FF2B5EF4-FFF2-40B4-BE49-F238E27FC236}">
                  <a16:creationId xmlns:a16="http://schemas.microsoft.com/office/drawing/2014/main" id="{0438AC28-0BEB-F709-E6E5-9A6B7058A5EE}"/>
                </a:ext>
              </a:extLst>
            </p:cNvPr>
            <p:cNvSpPr/>
            <p:nvPr/>
          </p:nvSpPr>
          <p:spPr>
            <a:xfrm>
              <a:off x="8772438" y="4126731"/>
              <a:ext cx="85311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May 2030</a:t>
              </a: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027776" y="4419855"/>
              <a:ext cx="210312" cy="210312"/>
            </a:xfrm>
            <a:prstGeom prst="rect">
              <a:avLst/>
            </a:prstGeom>
          </p:spPr>
        </p:pic>
      </p:grpSp>
      <p:grpSp>
        <p:nvGrpSpPr>
          <p:cNvPr id="11" name="Group 10">
            <a:extLst>
              <a:ext uri="{FF2B5EF4-FFF2-40B4-BE49-F238E27FC236}">
                <a16:creationId xmlns:a16="http://schemas.microsoft.com/office/drawing/2014/main" id="{E1FB86A4-A469-5600-3AB7-DD2C5871154F}"/>
              </a:ext>
            </a:extLst>
          </p:cNvPr>
          <p:cNvGrpSpPr/>
          <p:nvPr/>
        </p:nvGrpSpPr>
        <p:grpSpPr>
          <a:xfrm>
            <a:off x="10092884" y="2014002"/>
            <a:ext cx="827927" cy="766853"/>
            <a:chOff x="10341416" y="2024147"/>
            <a:chExt cx="827927" cy="766853"/>
          </a:xfrm>
        </p:grpSpPr>
        <p:sp>
          <p:nvSpPr>
            <p:cNvPr id="297" name="Rectangle 100">
              <a:extLst>
                <a:ext uri="{FF2B5EF4-FFF2-40B4-BE49-F238E27FC236}">
                  <a16:creationId xmlns:a16="http://schemas.microsoft.com/office/drawing/2014/main" id="{B95ACA1E-10C2-F783-D1D8-EBE68B344864}"/>
                </a:ext>
              </a:extLst>
            </p:cNvPr>
            <p:cNvSpPr/>
            <p:nvPr/>
          </p:nvSpPr>
          <p:spPr>
            <a:xfrm>
              <a:off x="10341416" y="2024147"/>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Dec 2029</a:t>
              </a:r>
            </a:p>
          </p:txBody>
        </p:sp>
        <p:sp>
          <p:nvSpPr>
            <p:cNvPr id="296" name="Rectangle 55">
              <a:extLst>
                <a:ext uri="{FF2B5EF4-FFF2-40B4-BE49-F238E27FC236}">
                  <a16:creationId xmlns:a16="http://schemas.microsoft.com/office/drawing/2014/main" id="{E4AE6314-E81A-72ED-C6B9-98CBCB72AF96}"/>
                </a:ext>
              </a:extLst>
            </p:cNvPr>
            <p:cNvSpPr/>
            <p:nvPr/>
          </p:nvSpPr>
          <p:spPr>
            <a:xfrm>
              <a:off x="10361108" y="2534455"/>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623256" y="2346837"/>
              <a:ext cx="210312" cy="210312"/>
            </a:xfrm>
            <a:prstGeom prst="rect">
              <a:avLst/>
            </a:prstGeom>
          </p:spPr>
        </p:pic>
      </p:grpSp>
      <p:sp>
        <p:nvSpPr>
          <p:cNvPr id="12" name="TextBox 64">
            <a:extLst>
              <a:ext uri="{FF2B5EF4-FFF2-40B4-BE49-F238E27FC236}">
                <a16:creationId xmlns:a16="http://schemas.microsoft.com/office/drawing/2014/main" id="{04AE02D2-AD3D-4651-2ADA-87FC8BE31C75}"/>
              </a:ext>
            </a:extLst>
          </p:cNvPr>
          <p:cNvSpPr txBox="1"/>
          <p:nvPr/>
        </p:nvSpPr>
        <p:spPr>
          <a:xfrm>
            <a:off x="84439" y="4546096"/>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1438-0011</a:t>
            </a:r>
          </a:p>
          <a:p>
            <a:pPr algn="ctr" defTabSz="914377">
              <a:defRPr/>
            </a:pPr>
            <a:r>
              <a:rPr lang="en-US" sz="1067" b="1">
                <a:solidFill>
                  <a:srgbClr val="08312A"/>
                </a:solidFill>
                <a:cs typeface="Calibri" panose="020F0502020204030204" pitchFamily="34" charset="0"/>
              </a:rPr>
              <a:t>Dareon-Nec-1</a:t>
            </a:r>
          </a:p>
        </p:txBody>
      </p:sp>
      <p:sp>
        <p:nvSpPr>
          <p:cNvPr id="3" name="OTLSHAPE_T_e17f3958430f4cff8650518c93c7635e_Shape">
            <a:extLst>
              <a:ext uri="{FF2B5EF4-FFF2-40B4-BE49-F238E27FC236}">
                <a16:creationId xmlns:a16="http://schemas.microsoft.com/office/drawing/2014/main" id="{CF7C1F60-B6EE-459C-8880-45D78B775E04}"/>
              </a:ext>
            </a:extLst>
          </p:cNvPr>
          <p:cNvSpPr/>
          <p:nvPr>
            <p:custDataLst>
              <p:tags r:id="rId8"/>
            </p:custDataLst>
          </p:nvPr>
        </p:nvSpPr>
        <p:spPr bwMode="auto">
          <a:xfrm>
            <a:off x="1199516" y="4266164"/>
            <a:ext cx="1308344"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800" b="1">
                <a:solidFill>
                  <a:prstClr val="black"/>
                </a:solidFill>
                <a:ea typeface="等线" panose="02010600030101010101" pitchFamily="2" charset="-122"/>
                <a:cs typeface="Calibri" panose="020F0502020204030204" pitchFamily="34" charset="0"/>
              </a:rPr>
              <a:t>CTA preparation </a:t>
            </a:r>
          </a:p>
        </p:txBody>
      </p:sp>
      <p:grpSp>
        <p:nvGrpSpPr>
          <p:cNvPr id="17" name="Group 16">
            <a:extLst>
              <a:ext uri="{FF2B5EF4-FFF2-40B4-BE49-F238E27FC236}">
                <a16:creationId xmlns:a16="http://schemas.microsoft.com/office/drawing/2014/main" id="{5D3D5B62-6E50-5BD1-2667-CA90D9370121}"/>
              </a:ext>
            </a:extLst>
          </p:cNvPr>
          <p:cNvGrpSpPr/>
          <p:nvPr/>
        </p:nvGrpSpPr>
        <p:grpSpPr>
          <a:xfrm>
            <a:off x="983201" y="4082276"/>
            <a:ext cx="928201" cy="677987"/>
            <a:chOff x="2295087" y="4086846"/>
            <a:chExt cx="928201" cy="677987"/>
          </a:xfrm>
        </p:grpSpPr>
        <p:sp>
          <p:nvSpPr>
            <p:cNvPr id="18" name="OTLSHAPE_T_e17f3958430f4cff8650518c93c7635e_StartDate">
              <a:extLst>
                <a:ext uri="{FF2B5EF4-FFF2-40B4-BE49-F238E27FC236}">
                  <a16:creationId xmlns:a16="http://schemas.microsoft.com/office/drawing/2014/main" id="{18631DB0-32DE-FEDC-A067-1F6CB5FBECA7}"/>
                </a:ext>
              </a:extLst>
            </p:cNvPr>
            <p:cNvSpPr txBox="1"/>
            <p:nvPr>
              <p:custDataLst>
                <p:tags r:id="rId12"/>
              </p:custDataLst>
            </p:nvPr>
          </p:nvSpPr>
          <p:spPr>
            <a:xfrm>
              <a:off x="2404297" y="4086846"/>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9" name="OTLSHAPE_M_39ea6ebc19a94c9fab6ef5006c31df58_Shape">
              <a:extLst>
                <a:ext uri="{FF2B5EF4-FFF2-40B4-BE49-F238E27FC236}">
                  <a16:creationId xmlns:a16="http://schemas.microsoft.com/office/drawing/2014/main" id="{1B621B5A-01F6-F394-1110-588AA758155C}"/>
                </a:ext>
              </a:extLst>
            </p:cNvPr>
            <p:cNvSpPr/>
            <p:nvPr>
              <p:custDataLst>
                <p:tags r:id="rId13"/>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0" name="OTLSHAPE_M_39ea6ebc19a94c9fab6ef5006c31df58_Title">
              <a:extLst>
                <a:ext uri="{FF2B5EF4-FFF2-40B4-BE49-F238E27FC236}">
                  <a16:creationId xmlns:a16="http://schemas.microsoft.com/office/drawing/2014/main" id="{F1EE344C-E471-DE63-437B-1CADE73FA310}"/>
                </a:ext>
              </a:extLst>
            </p:cNvPr>
            <p:cNvSpPr txBox="1"/>
            <p:nvPr>
              <p:custDataLst>
                <p:tags r:id="rId14"/>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Kick-off</a:t>
              </a:r>
              <a:endParaRPr lang="zh-CN" altLang="en-US" sz="1067" b="1">
                <a:solidFill>
                  <a:srgbClr val="44546A"/>
                </a:solidFill>
                <a:ea typeface="等线" panose="02010600030101010101" pitchFamily="2" charset="-122"/>
                <a:cs typeface="Calibri" panose="020F0502020204030204" pitchFamily="34" charset="0"/>
              </a:endParaRPr>
            </a:p>
          </p:txBody>
        </p:sp>
      </p:grpSp>
      <p:grpSp>
        <p:nvGrpSpPr>
          <p:cNvPr id="22" name="Group 21">
            <a:extLst>
              <a:ext uri="{FF2B5EF4-FFF2-40B4-BE49-F238E27FC236}">
                <a16:creationId xmlns:a16="http://schemas.microsoft.com/office/drawing/2014/main" id="{102ADA78-58EA-8361-0EB8-B1183E33EC2A}"/>
              </a:ext>
            </a:extLst>
          </p:cNvPr>
          <p:cNvGrpSpPr/>
          <p:nvPr/>
        </p:nvGrpSpPr>
        <p:grpSpPr>
          <a:xfrm>
            <a:off x="1588722" y="2054575"/>
            <a:ext cx="1217000" cy="769129"/>
            <a:chOff x="6433532" y="4126731"/>
            <a:chExt cx="1217000" cy="769129"/>
          </a:xfrm>
        </p:grpSpPr>
        <p:sp>
          <p:nvSpPr>
            <p:cNvPr id="23" name="Rectangle 100">
              <a:extLst>
                <a:ext uri="{FF2B5EF4-FFF2-40B4-BE49-F238E27FC236}">
                  <a16:creationId xmlns:a16="http://schemas.microsoft.com/office/drawing/2014/main" id="{C361D471-0683-62D5-B07D-D59CEC6C2EC2}"/>
                </a:ext>
              </a:extLst>
            </p:cNvPr>
            <p:cNvSpPr/>
            <p:nvPr/>
          </p:nvSpPr>
          <p:spPr>
            <a:xfrm>
              <a:off x="6477551" y="4126731"/>
              <a:ext cx="103906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21 Nov 2025</a:t>
              </a:r>
              <a:endParaRPr lang="en-US" altLang="zh-CN" sz="1067" b="1">
                <a:solidFill>
                  <a:srgbClr val="44546A"/>
                </a:solidFill>
                <a:ea typeface="等线" panose="02010600030101010101" pitchFamily="2" charset="-122"/>
                <a:cs typeface="Calibri" panose="020F0502020204030204" pitchFamily="34" charset="0"/>
              </a:endParaRPr>
            </a:p>
          </p:txBody>
        </p:sp>
        <p:sp>
          <p:nvSpPr>
            <p:cNvPr id="24" name="Rectangle 55">
              <a:extLst>
                <a:ext uri="{FF2B5EF4-FFF2-40B4-BE49-F238E27FC236}">
                  <a16:creationId xmlns:a16="http://schemas.microsoft.com/office/drawing/2014/main" id="{A74D64BE-2D4E-E77F-8992-81EB4DF5E66C}"/>
                </a:ext>
              </a:extLst>
            </p:cNvPr>
            <p:cNvSpPr/>
            <p:nvPr/>
          </p:nvSpPr>
          <p:spPr>
            <a:xfrm>
              <a:off x="6433532" y="4639315"/>
              <a:ext cx="1217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FDA interaction</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 name="五角星 55">
              <a:extLst>
                <a:ext uri="{FF2B5EF4-FFF2-40B4-BE49-F238E27FC236}">
                  <a16:creationId xmlns:a16="http://schemas.microsoft.com/office/drawing/2014/main" id="{BC210FA7-65F3-D472-EB02-3A690A22C202}"/>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27" name="Group 26">
            <a:extLst>
              <a:ext uri="{FF2B5EF4-FFF2-40B4-BE49-F238E27FC236}">
                <a16:creationId xmlns:a16="http://schemas.microsoft.com/office/drawing/2014/main" id="{6A4F1F98-1BB1-F2A5-A65F-8EC42EB7EF29}"/>
              </a:ext>
            </a:extLst>
          </p:cNvPr>
          <p:cNvGrpSpPr/>
          <p:nvPr/>
        </p:nvGrpSpPr>
        <p:grpSpPr>
          <a:xfrm>
            <a:off x="8080608" y="2072971"/>
            <a:ext cx="1021309" cy="720686"/>
            <a:chOff x="5523491" y="2099833"/>
            <a:chExt cx="1021309" cy="720686"/>
          </a:xfrm>
        </p:grpSpPr>
        <p:sp>
          <p:nvSpPr>
            <p:cNvPr id="28" name="Rectangle 55">
              <a:extLst>
                <a:ext uri="{FF2B5EF4-FFF2-40B4-BE49-F238E27FC236}">
                  <a16:creationId xmlns:a16="http://schemas.microsoft.com/office/drawing/2014/main" id="{567D77FF-2D35-52A7-0CB7-CAA31F6310A0}"/>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24D57B85-70C4-0979-D01E-677C2E8F6220}"/>
                </a:ext>
              </a:extLst>
            </p:cNvPr>
            <p:cNvSpPr txBox="1"/>
            <p:nvPr>
              <p:custDataLst>
                <p:tags r:id="rId11"/>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Q1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0" name="Star: 4 Points 143">
              <a:extLst>
                <a:ext uri="{FF2B5EF4-FFF2-40B4-BE49-F238E27FC236}">
                  <a16:creationId xmlns:a16="http://schemas.microsoft.com/office/drawing/2014/main" id="{95B47CD0-B54A-0D37-8507-0D7E1B427901}"/>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24" name="Group 223">
            <a:extLst>
              <a:ext uri="{FF2B5EF4-FFF2-40B4-BE49-F238E27FC236}">
                <a16:creationId xmlns:a16="http://schemas.microsoft.com/office/drawing/2014/main" id="{936E01A6-F115-C272-4CB1-AD4DB494F6DB}"/>
              </a:ext>
            </a:extLst>
          </p:cNvPr>
          <p:cNvGrpSpPr/>
          <p:nvPr/>
        </p:nvGrpSpPr>
        <p:grpSpPr>
          <a:xfrm>
            <a:off x="8086309" y="4086373"/>
            <a:ext cx="1021309" cy="720686"/>
            <a:chOff x="5523491" y="2099833"/>
            <a:chExt cx="1021309" cy="720686"/>
          </a:xfrm>
        </p:grpSpPr>
        <p:sp>
          <p:nvSpPr>
            <p:cNvPr id="225" name="Rectangle 55">
              <a:extLst>
                <a:ext uri="{FF2B5EF4-FFF2-40B4-BE49-F238E27FC236}">
                  <a16:creationId xmlns:a16="http://schemas.microsoft.com/office/drawing/2014/main" id="{35E983D3-FB8B-1058-94D3-488246A627EB}"/>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1A206E75-DEFF-EB4F-8164-6E0A2B0CE1DD}"/>
                </a:ext>
              </a:extLst>
            </p:cNvPr>
            <p:cNvSpPr txBox="1"/>
            <p:nvPr>
              <p:custDataLst>
                <p:tags r:id="rId10"/>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Q1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Star: 4 Points 143">
              <a:extLst>
                <a:ext uri="{FF2B5EF4-FFF2-40B4-BE49-F238E27FC236}">
                  <a16:creationId xmlns:a16="http://schemas.microsoft.com/office/drawing/2014/main" id="{52C71744-10D3-2432-BAEB-CF229A65D506}"/>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1" name="Group 62">
            <a:extLst>
              <a:ext uri="{FF2B5EF4-FFF2-40B4-BE49-F238E27FC236}">
                <a16:creationId xmlns:a16="http://schemas.microsoft.com/office/drawing/2014/main" id="{FE891A36-91BF-70E8-848B-951AC5E3FE8E}"/>
              </a:ext>
            </a:extLst>
          </p:cNvPr>
          <p:cNvGrpSpPr/>
          <p:nvPr/>
        </p:nvGrpSpPr>
        <p:grpSpPr>
          <a:xfrm>
            <a:off x="1999968" y="688302"/>
            <a:ext cx="546747" cy="6134718"/>
            <a:chOff x="1155349" y="1057179"/>
            <a:chExt cx="546747" cy="4601037"/>
          </a:xfrm>
        </p:grpSpPr>
        <p:cxnSp>
          <p:nvCxnSpPr>
            <p:cNvPr id="228" name="Straight Connector 63">
              <a:extLst>
                <a:ext uri="{FF2B5EF4-FFF2-40B4-BE49-F238E27FC236}">
                  <a16:creationId xmlns:a16="http://schemas.microsoft.com/office/drawing/2014/main" id="{6262AD93-D2B4-EEC7-81BD-1A0178ED2348}"/>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9" name="OTLSHAPE_T_e17f3958430f4cff8650518c93c7635e_StartDate">
              <a:extLst>
                <a:ext uri="{FF2B5EF4-FFF2-40B4-BE49-F238E27FC236}">
                  <a16:creationId xmlns:a16="http://schemas.microsoft.com/office/drawing/2014/main" id="{6E54E48A-016B-5888-F755-C35760EB2430}"/>
                </a:ext>
              </a:extLst>
            </p:cNvPr>
            <p:cNvSpPr txBox="1"/>
            <p:nvPr>
              <p:custDataLst>
                <p:tags r:id="rId9"/>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943271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F7C54BC-645B-C0DA-DC8B-ECD8DBDF82F6}"/>
              </a:ext>
            </a:extLst>
          </p:cNvPr>
          <p:cNvSpPr>
            <a:spLocks noGrp="1"/>
          </p:cNvSpPr>
          <p:nvPr>
            <p:ph type="title"/>
          </p:nvPr>
        </p:nvSpPr>
        <p:spPr>
          <a:xfrm>
            <a:off x="479423" y="1412876"/>
            <a:ext cx="8572212" cy="1799861"/>
          </a:xfrm>
        </p:spPr>
        <p:txBody>
          <a:bodyPr/>
          <a:lstStyle/>
          <a:p>
            <a:r>
              <a:rPr lang="en-US" altLang="zh-CN" err="1"/>
              <a:t>Brigimadlin</a:t>
            </a:r>
            <a:r>
              <a:rPr lang="en-US" altLang="zh-CN"/>
              <a:t> (BI 907828, MDM2/p53)</a:t>
            </a:r>
            <a:endParaRPr lang="zh-CN" altLang="en-US"/>
          </a:p>
        </p:txBody>
      </p:sp>
      <p:sp>
        <p:nvSpPr>
          <p:cNvPr id="5" name="副标题 4">
            <a:extLst>
              <a:ext uri="{FF2B5EF4-FFF2-40B4-BE49-F238E27FC236}">
                <a16:creationId xmlns:a16="http://schemas.microsoft.com/office/drawing/2014/main" id="{62672A29-1CC6-C512-7AC6-058646FA8CA3}"/>
              </a:ext>
            </a:extLst>
          </p:cNvPr>
          <p:cNvSpPr>
            <a:spLocks noGrp="1"/>
          </p:cNvSpPr>
          <p:nvPr>
            <p:ph type="subTitle" idx="14"/>
          </p:nvPr>
        </p:nvSpPr>
        <p:spPr/>
        <p:txBody>
          <a:bodyPr/>
          <a:lstStyle/>
          <a:p>
            <a:endParaRPr lang="zh-CN" altLang="en-US"/>
          </a:p>
        </p:txBody>
      </p:sp>
      <p:sp>
        <p:nvSpPr>
          <p:cNvPr id="2" name="Slide Number Placeholder 1">
            <a:extLst>
              <a:ext uri="{FF2B5EF4-FFF2-40B4-BE49-F238E27FC236}">
                <a16:creationId xmlns:a16="http://schemas.microsoft.com/office/drawing/2014/main" id="{DC476C65-F01D-993B-7CA0-1DC1B18A740F}"/>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60394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Brigimadlin</a:t>
            </a:r>
            <a:r>
              <a:rPr lang="en-US" altLang="zh-CN" sz="2400" i="1">
                <a:solidFill>
                  <a:schemeClr val="tx1"/>
                </a:solidFill>
                <a:latin typeface="+mn-lt"/>
              </a:rPr>
              <a:t> (MDM2/p53 </a:t>
            </a:r>
            <a:r>
              <a:rPr lang="en-US" altLang="zh-CN" sz="2400" i="1" err="1">
                <a:solidFill>
                  <a:schemeClr val="tx1"/>
                </a:solidFill>
                <a:latin typeface="+mn-lt"/>
              </a:rPr>
              <a:t>antago</a:t>
            </a:r>
            <a:r>
              <a:rPr lang="en-US" altLang="zh-CN" sz="2400" i="1">
                <a:solidFill>
                  <a:schemeClr val="tx1"/>
                </a:solidFill>
                <a:latin typeface="+mn-lt"/>
              </a:rPr>
              <a:t>.) – </a:t>
            </a:r>
            <a:r>
              <a:rPr lang="en-US" altLang="zh-CN" sz="2400" i="1" kern="1200">
                <a:solidFill>
                  <a:schemeClr val="tx1"/>
                </a:solidFill>
                <a:latin typeface="+mn-lt"/>
                <a:ea typeface="+mn-ea"/>
                <a:cs typeface="+mn-cs"/>
              </a:rPr>
              <a:t>Rollover study </a:t>
            </a:r>
            <a:r>
              <a:rPr lang="en-US" altLang="zh-CN">
                <a:solidFill>
                  <a:schemeClr val="bg1">
                    <a:lumMod val="75000"/>
                  </a:schemeClr>
                </a:solidFill>
                <a:latin typeface="+mn-lt"/>
              </a:rPr>
              <a:t>Development Plan </a:t>
            </a:r>
            <a:endParaRPr lang="zh-CN" altLang="en-US">
              <a:solidFill>
                <a:schemeClr val="bg1">
                  <a:lumMod val="75000"/>
                </a:schemeClr>
              </a:solidFill>
              <a:latin typeface="+mn-lt"/>
            </a:endParaRP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31</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9" cy="675640"/>
        </p:xfrm>
        <a:graphic>
          <a:graphicData uri="http://schemas.openxmlformats.org/drawingml/2006/table">
            <a:tbl>
              <a:tblPr firstRow="1" bandRow="1"/>
              <a:tblGrid>
                <a:gridCol w="507569">
                  <a:extLst>
                    <a:ext uri="{9D8B030D-6E8A-4147-A177-3AD203B41FA5}">
                      <a16:colId xmlns:a16="http://schemas.microsoft.com/office/drawing/2014/main" val="2176909278"/>
                    </a:ext>
                  </a:extLst>
                </a:gridCol>
                <a:gridCol w="507569">
                  <a:extLst>
                    <a:ext uri="{9D8B030D-6E8A-4147-A177-3AD203B41FA5}">
                      <a16:colId xmlns:a16="http://schemas.microsoft.com/office/drawing/2014/main" val="3091663135"/>
                    </a:ext>
                  </a:extLst>
                </a:gridCol>
                <a:gridCol w="507569">
                  <a:extLst>
                    <a:ext uri="{9D8B030D-6E8A-4147-A177-3AD203B41FA5}">
                      <a16:colId xmlns:a16="http://schemas.microsoft.com/office/drawing/2014/main" val="2003423086"/>
                    </a:ext>
                  </a:extLst>
                </a:gridCol>
                <a:gridCol w="507569">
                  <a:extLst>
                    <a:ext uri="{9D8B030D-6E8A-4147-A177-3AD203B41FA5}">
                      <a16:colId xmlns:a16="http://schemas.microsoft.com/office/drawing/2014/main" val="2466911814"/>
                    </a:ext>
                  </a:extLst>
                </a:gridCol>
                <a:gridCol w="507569">
                  <a:extLst>
                    <a:ext uri="{9D8B030D-6E8A-4147-A177-3AD203B41FA5}">
                      <a16:colId xmlns:a16="http://schemas.microsoft.com/office/drawing/2014/main" val="3023231563"/>
                    </a:ext>
                  </a:extLst>
                </a:gridCol>
                <a:gridCol w="507569">
                  <a:extLst>
                    <a:ext uri="{9D8B030D-6E8A-4147-A177-3AD203B41FA5}">
                      <a16:colId xmlns:a16="http://schemas.microsoft.com/office/drawing/2014/main" val="3411862845"/>
                    </a:ext>
                  </a:extLst>
                </a:gridCol>
                <a:gridCol w="507569">
                  <a:extLst>
                    <a:ext uri="{9D8B030D-6E8A-4147-A177-3AD203B41FA5}">
                      <a16:colId xmlns:a16="http://schemas.microsoft.com/office/drawing/2014/main" val="2851474774"/>
                    </a:ext>
                  </a:extLst>
                </a:gridCol>
                <a:gridCol w="507569">
                  <a:extLst>
                    <a:ext uri="{9D8B030D-6E8A-4147-A177-3AD203B41FA5}">
                      <a16:colId xmlns:a16="http://schemas.microsoft.com/office/drawing/2014/main" val="107595344"/>
                    </a:ext>
                  </a:extLst>
                </a:gridCol>
                <a:gridCol w="507569">
                  <a:extLst>
                    <a:ext uri="{9D8B030D-6E8A-4147-A177-3AD203B41FA5}">
                      <a16:colId xmlns:a16="http://schemas.microsoft.com/office/drawing/2014/main" val="1666999431"/>
                    </a:ext>
                  </a:extLst>
                </a:gridCol>
                <a:gridCol w="507569">
                  <a:extLst>
                    <a:ext uri="{9D8B030D-6E8A-4147-A177-3AD203B41FA5}">
                      <a16:colId xmlns:a16="http://schemas.microsoft.com/office/drawing/2014/main" val="3696607442"/>
                    </a:ext>
                  </a:extLst>
                </a:gridCol>
                <a:gridCol w="507569">
                  <a:extLst>
                    <a:ext uri="{9D8B030D-6E8A-4147-A177-3AD203B41FA5}">
                      <a16:colId xmlns:a16="http://schemas.microsoft.com/office/drawing/2014/main" val="223989776"/>
                    </a:ext>
                  </a:extLst>
                </a:gridCol>
                <a:gridCol w="507569">
                  <a:extLst>
                    <a:ext uri="{9D8B030D-6E8A-4147-A177-3AD203B41FA5}">
                      <a16:colId xmlns:a16="http://schemas.microsoft.com/office/drawing/2014/main" val="124731204"/>
                    </a:ext>
                  </a:extLst>
                </a:gridCol>
                <a:gridCol w="507569">
                  <a:extLst>
                    <a:ext uri="{9D8B030D-6E8A-4147-A177-3AD203B41FA5}">
                      <a16:colId xmlns:a16="http://schemas.microsoft.com/office/drawing/2014/main" val="3066978585"/>
                    </a:ext>
                  </a:extLst>
                </a:gridCol>
                <a:gridCol w="507569">
                  <a:extLst>
                    <a:ext uri="{9D8B030D-6E8A-4147-A177-3AD203B41FA5}">
                      <a16:colId xmlns:a16="http://schemas.microsoft.com/office/drawing/2014/main" val="1064917641"/>
                    </a:ext>
                  </a:extLst>
                </a:gridCol>
                <a:gridCol w="507569">
                  <a:extLst>
                    <a:ext uri="{9D8B030D-6E8A-4147-A177-3AD203B41FA5}">
                      <a16:colId xmlns:a16="http://schemas.microsoft.com/office/drawing/2014/main" val="4221117315"/>
                    </a:ext>
                  </a:extLst>
                </a:gridCol>
                <a:gridCol w="507569">
                  <a:extLst>
                    <a:ext uri="{9D8B030D-6E8A-4147-A177-3AD203B41FA5}">
                      <a16:colId xmlns:a16="http://schemas.microsoft.com/office/drawing/2014/main" val="3266065341"/>
                    </a:ext>
                  </a:extLst>
                </a:gridCol>
                <a:gridCol w="507569">
                  <a:extLst>
                    <a:ext uri="{9D8B030D-6E8A-4147-A177-3AD203B41FA5}">
                      <a16:colId xmlns:a16="http://schemas.microsoft.com/office/drawing/2014/main" val="2374051224"/>
                    </a:ext>
                  </a:extLst>
                </a:gridCol>
                <a:gridCol w="507569">
                  <a:extLst>
                    <a:ext uri="{9D8B030D-6E8A-4147-A177-3AD203B41FA5}">
                      <a16:colId xmlns:a16="http://schemas.microsoft.com/office/drawing/2014/main" val="1840388365"/>
                    </a:ext>
                  </a:extLst>
                </a:gridCol>
                <a:gridCol w="507569">
                  <a:extLst>
                    <a:ext uri="{9D8B030D-6E8A-4147-A177-3AD203B41FA5}">
                      <a16:colId xmlns:a16="http://schemas.microsoft.com/office/drawing/2014/main" val="267750830"/>
                    </a:ext>
                  </a:extLst>
                </a:gridCol>
                <a:gridCol w="507569">
                  <a:extLst>
                    <a:ext uri="{9D8B030D-6E8A-4147-A177-3AD203B41FA5}">
                      <a16:colId xmlns:a16="http://schemas.microsoft.com/office/drawing/2014/main" val="3966469970"/>
                    </a:ext>
                  </a:extLst>
                </a:gridCol>
                <a:gridCol w="507569">
                  <a:extLst>
                    <a:ext uri="{9D8B030D-6E8A-4147-A177-3AD203B41FA5}">
                      <a16:colId xmlns:a16="http://schemas.microsoft.com/office/drawing/2014/main" val="2522973146"/>
                    </a:ext>
                  </a:extLst>
                </a:gridCol>
              </a:tblGrid>
              <a:tr h="259080">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1403-0032</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1"/>
            </p:custDataLst>
          </p:nvPr>
        </p:nvSpPr>
        <p:spPr bwMode="auto">
          <a:xfrm>
            <a:off x="1661652" y="2273316"/>
            <a:ext cx="10131267"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2"/>
            </p:custDataLst>
          </p:nvPr>
        </p:nvSpPr>
        <p:spPr bwMode="auto">
          <a:xfrm>
            <a:off x="3159379" y="4344717"/>
            <a:ext cx="863354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N=2</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3"/>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1981850" y="4351024"/>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5"/>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Apr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6"/>
            </p:custDataLst>
          </p:nvPr>
        </p:nvSpPr>
        <p:spPr bwMode="auto">
          <a:xfrm rot="16200000">
            <a:off x="1971073"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7"/>
            </p:custDataLst>
          </p:nvPr>
        </p:nvSpPr>
        <p:spPr>
          <a:xfrm>
            <a:off x="1752395" y="468548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328423"/>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Ph2/3-</a:t>
            </a:r>
          </a:p>
          <a:p>
            <a:pPr algn="ctr" defTabSz="914377">
              <a:defRPr/>
            </a:pPr>
            <a:r>
              <a:rPr lang="en-US" altLang="zh-CN" sz="1067" b="1">
                <a:solidFill>
                  <a:srgbClr val="08312A"/>
                </a:solidFill>
                <a:cs typeface="Calibri" panose="020F0502020204030204" pitchFamily="34" charset="0"/>
              </a:rPr>
              <a:t>1403-0032</a:t>
            </a:r>
          </a:p>
        </p:txBody>
      </p:sp>
      <p:grpSp>
        <p:nvGrpSpPr>
          <p:cNvPr id="7" name="Group 6">
            <a:extLst>
              <a:ext uri="{FF2B5EF4-FFF2-40B4-BE49-F238E27FC236}">
                <a16:creationId xmlns:a16="http://schemas.microsoft.com/office/drawing/2014/main" id="{36A85B01-3B2C-C91E-771D-44E906A97881}"/>
              </a:ext>
            </a:extLst>
          </p:cNvPr>
          <p:cNvGrpSpPr/>
          <p:nvPr/>
        </p:nvGrpSpPr>
        <p:grpSpPr>
          <a:xfrm>
            <a:off x="1163095" y="2069355"/>
            <a:ext cx="1060915" cy="720687"/>
            <a:chOff x="1564373" y="2099832"/>
            <a:chExt cx="1060915" cy="720687"/>
          </a:xfrm>
        </p:grpSpPr>
        <p:sp>
          <p:nvSpPr>
            <p:cNvPr id="249" name="Rectangle 52">
              <a:extLst>
                <a:ext uri="{FF2B5EF4-FFF2-40B4-BE49-F238E27FC236}">
                  <a16:creationId xmlns:a16="http://schemas.microsoft.com/office/drawing/2014/main" id="{12DFDD77-3A58-72FD-B7F7-3AD9C2D417AC}"/>
                </a:ext>
              </a:extLst>
            </p:cNvPr>
            <p:cNvSpPr/>
            <p:nvPr/>
          </p:nvSpPr>
          <p:spPr>
            <a:xfrm>
              <a:off x="1875097" y="2563974"/>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0"/>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Dec 2024</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5" name="Group 4">
            <a:extLst>
              <a:ext uri="{FF2B5EF4-FFF2-40B4-BE49-F238E27FC236}">
                <a16:creationId xmlns:a16="http://schemas.microsoft.com/office/drawing/2014/main" id="{E6E07493-B3EA-336B-3E8B-B467AF21CD84}"/>
              </a:ext>
            </a:extLst>
          </p:cNvPr>
          <p:cNvGrpSpPr/>
          <p:nvPr/>
        </p:nvGrpSpPr>
        <p:grpSpPr>
          <a:xfrm>
            <a:off x="11280853" y="2075181"/>
            <a:ext cx="911147" cy="720686"/>
            <a:chOff x="4263715" y="2099832"/>
            <a:chExt cx="911147" cy="720686"/>
          </a:xfrm>
        </p:grpSpPr>
        <p:sp>
          <p:nvSpPr>
            <p:cNvPr id="264" name="Rectangle 55">
              <a:extLst>
                <a:ext uri="{FF2B5EF4-FFF2-40B4-BE49-F238E27FC236}">
                  <a16:creationId xmlns:a16="http://schemas.microsoft.com/office/drawing/2014/main" id="{AA8BE26C-62F1-CD5B-D05C-AB261F53C0FC}"/>
                </a:ext>
              </a:extLst>
            </p:cNvPr>
            <p:cNvSpPr/>
            <p:nvPr/>
          </p:nvSpPr>
          <p:spPr>
            <a:xfrm>
              <a:off x="4520737" y="2563973"/>
              <a:ext cx="45397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LPC</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9"/>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2034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8307548" y="4938447"/>
            <a:ext cx="2875771"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CTA was approved on 27 Aug 2025. </a:t>
            </a:r>
          </a:p>
        </p:txBody>
      </p:sp>
      <p:grpSp>
        <p:nvGrpSpPr>
          <p:cNvPr id="3" name="Group 62">
            <a:extLst>
              <a:ext uri="{FF2B5EF4-FFF2-40B4-BE49-F238E27FC236}">
                <a16:creationId xmlns:a16="http://schemas.microsoft.com/office/drawing/2014/main" id="{0331FEA6-4AAD-ABCE-2931-C06356946F4B}"/>
              </a:ext>
            </a:extLst>
          </p:cNvPr>
          <p:cNvGrpSpPr/>
          <p:nvPr/>
        </p:nvGrpSpPr>
        <p:grpSpPr>
          <a:xfrm>
            <a:off x="3258915" y="723282"/>
            <a:ext cx="546747" cy="6134718"/>
            <a:chOff x="1155349" y="1057179"/>
            <a:chExt cx="546747" cy="4601037"/>
          </a:xfrm>
        </p:grpSpPr>
        <p:cxnSp>
          <p:nvCxnSpPr>
            <p:cNvPr id="11" name="Straight Connector 63">
              <a:extLst>
                <a:ext uri="{FF2B5EF4-FFF2-40B4-BE49-F238E27FC236}">
                  <a16:creationId xmlns:a16="http://schemas.microsoft.com/office/drawing/2014/main" id="{2D5CF299-051F-7B06-76B5-FD628DB6EF75}"/>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2" name="OTLSHAPE_T_e17f3958430f4cff8650518c93c7635e_StartDate">
              <a:extLst>
                <a:ext uri="{FF2B5EF4-FFF2-40B4-BE49-F238E27FC236}">
                  <a16:creationId xmlns:a16="http://schemas.microsoft.com/office/drawing/2014/main" id="{8A35038B-BAEC-E138-564D-EA373BB654FF}"/>
                </a:ext>
              </a:extLst>
            </p:cNvPr>
            <p:cNvSpPr txBox="1"/>
            <p:nvPr>
              <p:custDataLst>
                <p:tags r:id="rId8"/>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623263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altLang="zh-CN"/>
              <a:t>Early Assets</a:t>
            </a:r>
            <a:endParaRPr lang="zh-CN" altLang="en-US"/>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a:xfrm>
            <a:off x="479424" y="3429000"/>
            <a:ext cx="7632701" cy="1476062"/>
          </a:xfrm>
        </p:spPr>
        <p:txBody>
          <a:bodyPr/>
          <a:lstStyle/>
          <a:p>
            <a:pPr marL="342900" indent="-342900">
              <a:buFont typeface="Arial" panose="020B0604020202020204" pitchFamily="34" charset="0"/>
              <a:buChar char="•"/>
            </a:pPr>
            <a:r>
              <a:rPr lang="en-US" altLang="zh-CN" sz="2000" b="1" u="sng"/>
              <a:t>CD137/FAP (BI 765179)</a:t>
            </a:r>
          </a:p>
          <a:p>
            <a:pPr marL="342900" indent="-342900">
              <a:buFont typeface="Arial" panose="020B0604020202020204" pitchFamily="34" charset="0"/>
              <a:buChar char="•"/>
            </a:pPr>
            <a:r>
              <a:rPr lang="sv-SE" altLang="zh-CN" sz="2000" b="1" u="sng"/>
              <a:t>KRAS G12D inhibitor (BI 4015092) </a:t>
            </a:r>
            <a:endParaRPr lang="en-US" altLang="zh-CN" sz="2000" b="1" u="sng"/>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smtClean="0"/>
              <a:pPr/>
              <a:t>32</a:t>
            </a:fld>
            <a:endParaRPr lang="en-US"/>
          </a:p>
        </p:txBody>
      </p:sp>
    </p:spTree>
    <p:extLst>
      <p:ext uri="{BB962C8B-B14F-4D97-AF65-F5344CB8AC3E}">
        <p14:creationId xmlns:p14="http://schemas.microsoft.com/office/powerpoint/2010/main" val="3270620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altLang="zh-CN"/>
              <a:t>CD137/FAP (BI 765179) </a:t>
            </a:r>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p:txBody>
          <a:bodyPr/>
          <a:lstStyle/>
          <a:p>
            <a:endParaRPr lang="en-US" altLang="zh-CN"/>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smtClean="0"/>
              <a:pPr/>
              <a:t>33</a:t>
            </a:fld>
            <a:endParaRPr lang="en-US"/>
          </a:p>
        </p:txBody>
      </p:sp>
    </p:spTree>
    <p:extLst>
      <p:ext uri="{BB962C8B-B14F-4D97-AF65-F5344CB8AC3E}">
        <p14:creationId xmlns:p14="http://schemas.microsoft.com/office/powerpoint/2010/main" val="2542449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86ECF73-932A-C3EF-83FD-852147BC214C}"/>
              </a:ext>
            </a:extLst>
          </p:cNvPr>
          <p:cNvGraphicFramePr>
            <a:graphicFrameLocks noGrp="1"/>
          </p:cNvGraphicFramePr>
          <p:nvPr/>
        </p:nvGraphicFramePr>
        <p:xfrm>
          <a:off x="1314373" y="982328"/>
          <a:ext cx="10631424" cy="685800"/>
        </p:xfrm>
        <a:graphic>
          <a:graphicData uri="http://schemas.openxmlformats.org/drawingml/2006/table">
            <a:tbl>
              <a:tblPr firstRow="1" bandRow="1"/>
              <a:tblGrid>
                <a:gridCol w="633984">
                  <a:extLst>
                    <a:ext uri="{9D8B030D-6E8A-4147-A177-3AD203B41FA5}">
                      <a16:colId xmlns:a16="http://schemas.microsoft.com/office/drawing/2014/main" val="3411862845"/>
                    </a:ext>
                  </a:extLst>
                </a:gridCol>
                <a:gridCol w="633984">
                  <a:extLst>
                    <a:ext uri="{9D8B030D-6E8A-4147-A177-3AD203B41FA5}">
                      <a16:colId xmlns:a16="http://schemas.microsoft.com/office/drawing/2014/main" val="2851474774"/>
                    </a:ext>
                  </a:extLst>
                </a:gridCol>
                <a:gridCol w="633984">
                  <a:extLst>
                    <a:ext uri="{9D8B030D-6E8A-4147-A177-3AD203B41FA5}">
                      <a16:colId xmlns:a16="http://schemas.microsoft.com/office/drawing/2014/main" val="107595344"/>
                    </a:ext>
                  </a:extLst>
                </a:gridCol>
                <a:gridCol w="633984">
                  <a:extLst>
                    <a:ext uri="{9D8B030D-6E8A-4147-A177-3AD203B41FA5}">
                      <a16:colId xmlns:a16="http://schemas.microsoft.com/office/drawing/2014/main" val="1666999431"/>
                    </a:ext>
                  </a:extLst>
                </a:gridCol>
                <a:gridCol w="633984">
                  <a:extLst>
                    <a:ext uri="{9D8B030D-6E8A-4147-A177-3AD203B41FA5}">
                      <a16:colId xmlns:a16="http://schemas.microsoft.com/office/drawing/2014/main" val="3696607442"/>
                    </a:ext>
                  </a:extLst>
                </a:gridCol>
                <a:gridCol w="633984">
                  <a:extLst>
                    <a:ext uri="{9D8B030D-6E8A-4147-A177-3AD203B41FA5}">
                      <a16:colId xmlns:a16="http://schemas.microsoft.com/office/drawing/2014/main" val="223989776"/>
                    </a:ext>
                  </a:extLst>
                </a:gridCol>
                <a:gridCol w="633984">
                  <a:extLst>
                    <a:ext uri="{9D8B030D-6E8A-4147-A177-3AD203B41FA5}">
                      <a16:colId xmlns:a16="http://schemas.microsoft.com/office/drawing/2014/main" val="124731204"/>
                    </a:ext>
                  </a:extLst>
                </a:gridCol>
                <a:gridCol w="633984">
                  <a:extLst>
                    <a:ext uri="{9D8B030D-6E8A-4147-A177-3AD203B41FA5}">
                      <a16:colId xmlns:a16="http://schemas.microsoft.com/office/drawing/2014/main" val="3066978585"/>
                    </a:ext>
                  </a:extLst>
                </a:gridCol>
                <a:gridCol w="633984">
                  <a:extLst>
                    <a:ext uri="{9D8B030D-6E8A-4147-A177-3AD203B41FA5}">
                      <a16:colId xmlns:a16="http://schemas.microsoft.com/office/drawing/2014/main" val="1064917641"/>
                    </a:ext>
                  </a:extLst>
                </a:gridCol>
                <a:gridCol w="633984">
                  <a:extLst>
                    <a:ext uri="{9D8B030D-6E8A-4147-A177-3AD203B41FA5}">
                      <a16:colId xmlns:a16="http://schemas.microsoft.com/office/drawing/2014/main" val="4221117315"/>
                    </a:ext>
                  </a:extLst>
                </a:gridCol>
                <a:gridCol w="633984">
                  <a:extLst>
                    <a:ext uri="{9D8B030D-6E8A-4147-A177-3AD203B41FA5}">
                      <a16:colId xmlns:a16="http://schemas.microsoft.com/office/drawing/2014/main" val="3266065341"/>
                    </a:ext>
                  </a:extLst>
                </a:gridCol>
                <a:gridCol w="633984">
                  <a:extLst>
                    <a:ext uri="{9D8B030D-6E8A-4147-A177-3AD203B41FA5}">
                      <a16:colId xmlns:a16="http://schemas.microsoft.com/office/drawing/2014/main" val="2374051224"/>
                    </a:ext>
                  </a:extLst>
                </a:gridCol>
                <a:gridCol w="633984">
                  <a:extLst>
                    <a:ext uri="{9D8B030D-6E8A-4147-A177-3AD203B41FA5}">
                      <a16:colId xmlns:a16="http://schemas.microsoft.com/office/drawing/2014/main" val="1840388365"/>
                    </a:ext>
                  </a:extLst>
                </a:gridCol>
                <a:gridCol w="633984">
                  <a:extLst>
                    <a:ext uri="{9D8B030D-6E8A-4147-A177-3AD203B41FA5}">
                      <a16:colId xmlns:a16="http://schemas.microsoft.com/office/drawing/2014/main" val="267750830"/>
                    </a:ext>
                  </a:extLst>
                </a:gridCol>
                <a:gridCol w="633984">
                  <a:extLst>
                    <a:ext uri="{9D8B030D-6E8A-4147-A177-3AD203B41FA5}">
                      <a16:colId xmlns:a16="http://schemas.microsoft.com/office/drawing/2014/main" val="3966469970"/>
                    </a:ext>
                  </a:extLst>
                </a:gridCol>
                <a:gridCol w="633984">
                  <a:extLst>
                    <a:ext uri="{9D8B030D-6E8A-4147-A177-3AD203B41FA5}">
                      <a16:colId xmlns:a16="http://schemas.microsoft.com/office/drawing/2014/main" val="2522973146"/>
                    </a:ext>
                  </a:extLst>
                </a:gridCol>
                <a:gridCol w="487680">
                  <a:extLst>
                    <a:ext uri="{9D8B030D-6E8A-4147-A177-3AD203B41FA5}">
                      <a16:colId xmlns:a16="http://schemas.microsoft.com/office/drawing/2014/main" val="2254751904"/>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lt"/>
                          <a:cs typeface="Arial" panose="020B0604020202020204" pitchFamily="34" charset="0"/>
                        </a:rPr>
                        <a:t>2024</a:t>
                      </a:r>
                      <a:endParaRPr lang="zh-CN" altLang="en-US" sz="1100" b="1">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lt"/>
                          <a:cs typeface="Arial" panose="020B0604020202020204" pitchFamily="34" charset="0"/>
                        </a:rPr>
                        <a:t>2025</a:t>
                      </a:r>
                      <a:endParaRPr lang="zh-CN" altLang="en-US" sz="1100" b="1">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lt"/>
                          <a:cs typeface="Arial" panose="020B0604020202020204" pitchFamily="34" charset="0"/>
                        </a:rPr>
                        <a:t>2026</a:t>
                      </a:r>
                      <a:endParaRPr lang="zh-CN" altLang="en-US" sz="1100" b="1">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2027</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2028</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2029</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Q1</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mn-lt"/>
                          <a:cs typeface="Arial" panose="020B0604020202020204" pitchFamily="34" charset="0"/>
                        </a:rPr>
                        <a:t>Q2</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Q3</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Q4</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Q1</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mn-lt"/>
                          <a:cs typeface="Arial" panose="020B0604020202020204" pitchFamily="34" charset="0"/>
                        </a:rPr>
                        <a:t>Q2</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Q3</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Q4</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Q1</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mn-lt"/>
                          <a:cs typeface="Arial" panose="020B0604020202020204" pitchFamily="34" charset="0"/>
                        </a:rPr>
                        <a:t>Q2</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Q3</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mn-lt"/>
                          <a:cs typeface="Arial" panose="020B0604020202020204" pitchFamily="34" charset="0"/>
                        </a:rPr>
                        <a:t>Q4</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H1</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H2</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H1</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mn-lt"/>
                          <a:cs typeface="Arial" panose="020B0604020202020204" pitchFamily="34" charset="0"/>
                        </a:rPr>
                        <a:t>H2</a:t>
                      </a:r>
                      <a:endParaRPr lang="zh-CN" altLang="en-US" sz="11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vMerge="1">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CC578037-E112-12E4-BF22-ED17B58C9C6B}"/>
              </a:ext>
            </a:extLst>
          </p:cNvPr>
          <p:cNvCxnSpPr>
            <a:cxnSpLocks/>
          </p:cNvCxnSpPr>
          <p:nvPr/>
        </p:nvCxnSpPr>
        <p:spPr bwMode="auto">
          <a:xfrm flipH="1">
            <a:off x="27109" y="438410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FD35A972-500C-21A9-58D5-58731C71008C}"/>
              </a:ext>
            </a:extLst>
          </p:cNvPr>
          <p:cNvSpPr/>
          <p:nvPr/>
        </p:nvSpPr>
        <p:spPr>
          <a:xfrm rot="16200000" flipH="1">
            <a:off x="869325" y="1209808"/>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218"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7" name="Isosceles Triangle 6">
            <a:extLst>
              <a:ext uri="{FF2B5EF4-FFF2-40B4-BE49-F238E27FC236}">
                <a16:creationId xmlns:a16="http://schemas.microsoft.com/office/drawing/2014/main" id="{56C18D71-BAA3-C286-891A-7FE0987794D0}"/>
              </a:ext>
            </a:extLst>
          </p:cNvPr>
          <p:cNvSpPr/>
          <p:nvPr/>
        </p:nvSpPr>
        <p:spPr>
          <a:xfrm rot="5400000">
            <a:off x="11741793" y="120938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218"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89C72B67-DABB-F4AB-A173-244E0428F280}"/>
              </a:ext>
            </a:extLst>
          </p:cNvPr>
          <p:cNvSpPr txBox="1"/>
          <p:nvPr/>
        </p:nvSpPr>
        <p:spPr>
          <a:xfrm>
            <a:off x="261114" y="2109233"/>
            <a:ext cx="938034"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Ph1-1463</a:t>
            </a:r>
            <a:r>
              <a:rPr kumimoji="0" lang="en-US" altLang="zh-CN"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HNSCC</a:t>
            </a:r>
          </a:p>
        </p:txBody>
      </p:sp>
      <p:sp>
        <p:nvSpPr>
          <p:cNvPr id="32" name="标题 1">
            <a:extLst>
              <a:ext uri="{FF2B5EF4-FFF2-40B4-BE49-F238E27FC236}">
                <a16:creationId xmlns:a16="http://schemas.microsoft.com/office/drawing/2014/main" id="{E7E49A9E-C654-DFAE-99E3-58FBAA4FFD7F}"/>
              </a:ext>
            </a:extLst>
          </p:cNvPr>
          <p:cNvSpPr txBox="1">
            <a:spLocks/>
          </p:cNvSpPr>
          <p:nvPr/>
        </p:nvSpPr>
        <p:spPr>
          <a:xfrm>
            <a:off x="88591" y="333424"/>
            <a:ext cx="11211800" cy="369332"/>
          </a:xfrm>
          <a:prstGeom prst="rect">
            <a:avLst/>
          </a:prstGeom>
        </p:spPr>
        <p:txBody>
          <a:bodyPr vert="horz" wrap="square" lIns="0" tIns="0" rIns="0" bIns="0" rtlCol="0" anchor="t" anchorCtr="0">
            <a:spAutoFit/>
          </a:bodyPr>
          <a:lst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a:lstStyle>
          <a:p>
            <a:pPr marL="0" marR="0" lvl="0" indent="0" algn="l" defTabSz="1219020" rtl="0" eaLnBrk="1" fontAlgn="auto" latinLnBrk="0" hangingPunct="1">
              <a:lnSpc>
                <a:spcPct val="100000"/>
              </a:lnSpc>
              <a:spcBef>
                <a:spcPct val="0"/>
              </a:spcBef>
              <a:spcAft>
                <a:spcPts val="0"/>
              </a:spcAft>
              <a:buClrTx/>
              <a:buSzTx/>
              <a:buFontTx/>
              <a:buNone/>
              <a:tabLst/>
              <a:defRPr/>
            </a:pPr>
            <a:r>
              <a:rPr kumimoji="0" lang="en-US" altLang="zh-CN" sz="2400" b="1" i="1" u="none" strike="noStrike" kern="1200" cap="none" spc="0" normalizeH="0" baseline="0" noProof="0">
                <a:ln>
                  <a:noFill/>
                </a:ln>
                <a:solidFill>
                  <a:prstClr val="black"/>
                </a:solidFill>
                <a:effectLst/>
                <a:uLnTx/>
                <a:uFillTx/>
                <a:latin typeface="Boehringer Forward Text"/>
                <a:ea typeface="+mj-ea"/>
                <a:cs typeface="+mn-cs"/>
              </a:rPr>
              <a:t>CD137/FAP – HNSCC/NSCLC Development Plan </a:t>
            </a:r>
          </a:p>
        </p:txBody>
      </p:sp>
      <p:grpSp>
        <p:nvGrpSpPr>
          <p:cNvPr id="50" name="Group 49">
            <a:extLst>
              <a:ext uri="{FF2B5EF4-FFF2-40B4-BE49-F238E27FC236}">
                <a16:creationId xmlns:a16="http://schemas.microsoft.com/office/drawing/2014/main" id="{F0489B83-EBB6-CDC5-5B87-2584DD730307}"/>
              </a:ext>
            </a:extLst>
          </p:cNvPr>
          <p:cNvGrpSpPr/>
          <p:nvPr/>
        </p:nvGrpSpPr>
        <p:grpSpPr>
          <a:xfrm>
            <a:off x="13049" y="1370863"/>
            <a:ext cx="1097280" cy="538167"/>
            <a:chOff x="14295" y="1821272"/>
            <a:chExt cx="956521" cy="403625"/>
          </a:xfrm>
        </p:grpSpPr>
        <p:sp>
          <p:nvSpPr>
            <p:cNvPr id="51" name="Freeform: Shape 147">
              <a:extLst>
                <a:ext uri="{FF2B5EF4-FFF2-40B4-BE49-F238E27FC236}">
                  <a16:creationId xmlns:a16="http://schemas.microsoft.com/office/drawing/2014/main" id="{84D735CD-FEBD-CC49-984A-EE03A2B49A19}"/>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63296" tIns="60960" rIns="73152" bIns="6096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11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52" name="Oval 4">
              <a:extLst>
                <a:ext uri="{FF2B5EF4-FFF2-40B4-BE49-F238E27FC236}">
                  <a16:creationId xmlns:a16="http://schemas.microsoft.com/office/drawing/2014/main" id="{7FA3610B-4C89-958A-4BC2-95973D965952}"/>
                </a:ext>
              </a:extLst>
            </p:cNvPr>
            <p:cNvSpPr>
              <a:spLocks/>
            </p:cNvSpPr>
            <p:nvPr/>
          </p:nvSpPr>
          <p:spPr>
            <a:xfrm>
              <a:off x="14295" y="1821272"/>
              <a:ext cx="447228" cy="403625"/>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62560" tIns="81280" rIns="162560" bIns="8128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53" name="Rectangle: Rounded Corners 116">
              <a:extLst>
                <a:ext uri="{FF2B5EF4-FFF2-40B4-BE49-F238E27FC236}">
                  <a16:creationId xmlns:a16="http://schemas.microsoft.com/office/drawing/2014/main" id="{E9A48A82-4B52-A9DE-2473-F05A8C2E800E}"/>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zh-CN" altLang="en-US" sz="1467"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54" name="Picture 6" descr="Image result for world circle png">
              <a:extLst>
                <a:ext uri="{FF2B5EF4-FFF2-40B4-BE49-F238E27FC236}">
                  <a16:creationId xmlns:a16="http://schemas.microsoft.com/office/drawing/2014/main" id="{B4031CE8-2397-0A76-531C-C0885A17C580}"/>
                </a:ext>
              </a:extLst>
            </p:cNvPr>
            <p:cNvPicPr>
              <a:picLocks noChangeArrowheads="1"/>
            </p:cNvPicPr>
            <p:nvPr/>
          </p:nvPicPr>
          <p:blipFill rotWithShape="1">
            <a:blip r:embed="rId21" cstate="print">
              <a:extLst>
                <a:ext uri="{28A0092B-C50C-407E-A947-70E740481C1C}">
                  <a14:useLocalDpi xmlns:a14="http://schemas.microsoft.com/office/drawing/2010/main" val="0"/>
                </a:ext>
              </a:extLst>
            </a:blip>
            <a:srcRect l="4094" t="4010" r="4094" b="4010"/>
            <a:stretch/>
          </p:blipFill>
          <p:spPr bwMode="auto">
            <a:xfrm>
              <a:off x="51027" y="1857487"/>
              <a:ext cx="373767" cy="3382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a:extLst>
              <a:ext uri="{FF2B5EF4-FFF2-40B4-BE49-F238E27FC236}">
                <a16:creationId xmlns:a16="http://schemas.microsoft.com/office/drawing/2014/main" id="{71CE5C9C-0DCC-9A86-B3D8-CC1149385549}"/>
              </a:ext>
            </a:extLst>
          </p:cNvPr>
          <p:cNvGrpSpPr>
            <a:grpSpLocks noChangeAspect="1"/>
          </p:cNvGrpSpPr>
          <p:nvPr/>
        </p:nvGrpSpPr>
        <p:grpSpPr>
          <a:xfrm>
            <a:off x="27108" y="4455064"/>
            <a:ext cx="1097279" cy="520866"/>
            <a:chOff x="87758" y="4551370"/>
            <a:chExt cx="942154" cy="447229"/>
          </a:xfrm>
        </p:grpSpPr>
        <p:grpSp>
          <p:nvGrpSpPr>
            <p:cNvPr id="56" name="Group 55">
              <a:extLst>
                <a:ext uri="{FF2B5EF4-FFF2-40B4-BE49-F238E27FC236}">
                  <a16:creationId xmlns:a16="http://schemas.microsoft.com/office/drawing/2014/main" id="{0EBB1CF7-E9BA-1338-F951-45429ADE82B2}"/>
                </a:ext>
              </a:extLst>
            </p:cNvPr>
            <p:cNvGrpSpPr/>
            <p:nvPr/>
          </p:nvGrpSpPr>
          <p:grpSpPr>
            <a:xfrm>
              <a:off x="87758" y="4551370"/>
              <a:ext cx="942154" cy="447229"/>
              <a:chOff x="87758" y="4551370"/>
              <a:chExt cx="942154" cy="447229"/>
            </a:xfrm>
          </p:grpSpPr>
          <p:sp>
            <p:nvSpPr>
              <p:cNvPr id="58" name="Freeform: Shape 152">
                <a:extLst>
                  <a:ext uri="{FF2B5EF4-FFF2-40B4-BE49-F238E27FC236}">
                    <a16:creationId xmlns:a16="http://schemas.microsoft.com/office/drawing/2014/main" id="{8C8AC3DB-8139-8C3B-B05C-05DCD2EB0605}"/>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60960" rIns="73152" bIns="6096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China</a:t>
                </a:r>
                <a:endParaRPr kumimoji="0" lang="zh-CN" altLang="en-US" sz="1200" b="1"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endParaRPr>
              </a:p>
            </p:txBody>
          </p:sp>
          <p:grpSp>
            <p:nvGrpSpPr>
              <p:cNvPr id="59" name="Group 58">
                <a:extLst>
                  <a:ext uri="{FF2B5EF4-FFF2-40B4-BE49-F238E27FC236}">
                    <a16:creationId xmlns:a16="http://schemas.microsoft.com/office/drawing/2014/main" id="{A4A5DE4C-86C4-78F4-AD04-958A5490FC71}"/>
                  </a:ext>
                </a:extLst>
              </p:cNvPr>
              <p:cNvGrpSpPr/>
              <p:nvPr/>
            </p:nvGrpSpPr>
            <p:grpSpPr>
              <a:xfrm>
                <a:off x="87758" y="4551370"/>
                <a:ext cx="447229" cy="447229"/>
                <a:chOff x="87758" y="4551370"/>
                <a:chExt cx="447229" cy="447229"/>
              </a:xfrm>
            </p:grpSpPr>
            <p:sp>
              <p:nvSpPr>
                <p:cNvPr id="60" name="Oval 134">
                  <a:extLst>
                    <a:ext uri="{FF2B5EF4-FFF2-40B4-BE49-F238E27FC236}">
                      <a16:creationId xmlns:a16="http://schemas.microsoft.com/office/drawing/2014/main" id="{6B9030E3-3C49-CC13-ECD3-3C026AFFBCC3}"/>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62560" tIns="81280" rIns="162560" bIns="8128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8312A">
                        <a:lumMod val="90000"/>
                        <a:lumOff val="10000"/>
                      </a:srgbClr>
                    </a:solidFill>
                    <a:effectLst/>
                    <a:uLnTx/>
                    <a:uFillTx/>
                    <a:latin typeface="Boehringer Forward Text"/>
                    <a:ea typeface="+mn-ea"/>
                    <a:cs typeface="+mn-cs"/>
                  </a:endParaRPr>
                </a:p>
              </p:txBody>
            </p:sp>
            <p:pic>
              <p:nvPicPr>
                <p:cNvPr id="61" name="Picture 2" descr="Image result for China flag circle png">
                  <a:extLst>
                    <a:ext uri="{FF2B5EF4-FFF2-40B4-BE49-F238E27FC236}">
                      <a16:creationId xmlns:a16="http://schemas.microsoft.com/office/drawing/2014/main" id="{843F4C1E-1B7D-1CDE-EAAC-4A089E5B3293}"/>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57" name="Rectangle: Rounded Corners 116">
              <a:extLst>
                <a:ext uri="{FF2B5EF4-FFF2-40B4-BE49-F238E27FC236}">
                  <a16:creationId xmlns:a16="http://schemas.microsoft.com/office/drawing/2014/main" id="{2E48C996-5284-4EC4-6276-1F52597FECF6}"/>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zh-CN" altLang="en-US" sz="1467" b="1" i="0" u="none" strike="noStrike" kern="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endParaRPr>
            </a:p>
          </p:txBody>
        </p:sp>
      </p:grpSp>
      <p:grpSp>
        <p:nvGrpSpPr>
          <p:cNvPr id="29" name="Group 28">
            <a:extLst>
              <a:ext uri="{FF2B5EF4-FFF2-40B4-BE49-F238E27FC236}">
                <a16:creationId xmlns:a16="http://schemas.microsoft.com/office/drawing/2014/main" id="{2890A0D2-055F-0A08-2102-55AE486CDE69}"/>
              </a:ext>
            </a:extLst>
          </p:cNvPr>
          <p:cNvGrpSpPr/>
          <p:nvPr/>
        </p:nvGrpSpPr>
        <p:grpSpPr>
          <a:xfrm>
            <a:off x="1808325" y="1858601"/>
            <a:ext cx="1171317" cy="534931"/>
            <a:chOff x="712611" y="2091054"/>
            <a:chExt cx="1171317" cy="534933"/>
          </a:xfrm>
        </p:grpSpPr>
        <p:sp>
          <p:nvSpPr>
            <p:cNvPr id="30" name="Rectangle 52">
              <a:extLst>
                <a:ext uri="{FF2B5EF4-FFF2-40B4-BE49-F238E27FC236}">
                  <a16:creationId xmlns:a16="http://schemas.microsoft.com/office/drawing/2014/main" id="{16C3D0CB-3E78-8154-996C-C01F1A07FE9E}"/>
                </a:ext>
              </a:extLst>
            </p:cNvPr>
            <p:cNvSpPr/>
            <p:nvPr/>
          </p:nvSpPr>
          <p:spPr>
            <a:xfrm>
              <a:off x="712611" y="2091054"/>
              <a:ext cx="1171317" cy="338555"/>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Lean </a:t>
              </a:r>
              <a:r>
                <a:rPr kumimoji="0" lang="en-US" altLang="zh-CN" sz="800" b="1" i="1" u="none" strike="noStrike" kern="1200" cap="none" spc="0" normalizeH="0" baseline="0" noProof="0" err="1">
                  <a:ln>
                    <a:noFill/>
                  </a:ln>
                  <a:solidFill>
                    <a:srgbClr val="002060"/>
                  </a:solidFill>
                  <a:effectLst/>
                  <a:uLnTx/>
                  <a:uFillTx/>
                  <a:latin typeface="Boehringer Forward Text"/>
                  <a:ea typeface="等线" panose="02010600030101010101" pitchFamily="2" charset="-122"/>
                  <a:cs typeface="+mn-cs"/>
                </a:rPr>
                <a:t>PoCP</a:t>
              </a:r>
              <a:endPar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endParaRPr>
            </a:p>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(Jun 2024)</a:t>
              </a:r>
              <a:endParaRPr kumimoji="0" lang="zh-CN" alt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endParaRPr>
            </a:p>
          </p:txBody>
        </p:sp>
        <p:sp>
          <p:nvSpPr>
            <p:cNvPr id="31" name="Diamond 30">
              <a:extLst>
                <a:ext uri="{FF2B5EF4-FFF2-40B4-BE49-F238E27FC236}">
                  <a16:creationId xmlns:a16="http://schemas.microsoft.com/office/drawing/2014/main" id="{DB06C604-6284-0FFC-1D91-EDC094B8BE74}"/>
                </a:ext>
              </a:extLst>
            </p:cNvPr>
            <p:cNvSpPr/>
            <p:nvPr/>
          </p:nvSpPr>
          <p:spPr bwMode="gray">
            <a:xfrm>
              <a:off x="1204578" y="2443107"/>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65" name="OTLSHAPE_T_5a934a26f311425e8ebaa0f45e6533ad_Shape">
            <a:extLst>
              <a:ext uri="{FF2B5EF4-FFF2-40B4-BE49-F238E27FC236}">
                <a16:creationId xmlns:a16="http://schemas.microsoft.com/office/drawing/2014/main" id="{47B65194-CBA0-802E-B241-12F5C2B55F4F}"/>
              </a:ext>
            </a:extLst>
          </p:cNvPr>
          <p:cNvSpPr/>
          <p:nvPr>
            <p:custDataLst>
              <p:tags r:id="rId1"/>
            </p:custDataLst>
          </p:nvPr>
        </p:nvSpPr>
        <p:spPr bwMode="auto">
          <a:xfrm>
            <a:off x="7869434" y="2110609"/>
            <a:ext cx="258247" cy="32918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altLang="zh-CN" sz="800" b="1" i="1" u="none" strike="noStrike" kern="1200" cap="none" spc="-7" normalizeH="0" baseline="0" noProof="0">
              <a:ln>
                <a:noFill/>
              </a:ln>
              <a:solidFill>
                <a:srgbClr val="002060"/>
              </a:solidFill>
              <a:effectLst/>
              <a:uLnTx/>
              <a:uFillTx/>
              <a:latin typeface="Boehringer Forward Text"/>
              <a:ea typeface="+mn-ea"/>
              <a:cs typeface="+mn-cs"/>
            </a:endParaRPr>
          </a:p>
        </p:txBody>
      </p:sp>
      <p:sp>
        <p:nvSpPr>
          <p:cNvPr id="69" name="Rectangle 52">
            <a:extLst>
              <a:ext uri="{FF2B5EF4-FFF2-40B4-BE49-F238E27FC236}">
                <a16:creationId xmlns:a16="http://schemas.microsoft.com/office/drawing/2014/main" id="{76202A5A-DC90-F2A2-E4AC-35664B96CEC3}"/>
              </a:ext>
            </a:extLst>
          </p:cNvPr>
          <p:cNvSpPr/>
          <p:nvPr/>
        </p:nvSpPr>
        <p:spPr>
          <a:xfrm flipH="1">
            <a:off x="4025476" y="2468805"/>
            <a:ext cx="342573" cy="21544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mn-cs"/>
              </a:rPr>
              <a:t>FPI</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70" name="OTLSHAPE_T_e17f3958430f4cff8650518c93c7635e_StartDate">
            <a:extLst>
              <a:ext uri="{FF2B5EF4-FFF2-40B4-BE49-F238E27FC236}">
                <a16:creationId xmlns:a16="http://schemas.microsoft.com/office/drawing/2014/main" id="{2299DFB0-2B5E-9C7D-089F-592C3A04F7A8}"/>
              </a:ext>
            </a:extLst>
          </p:cNvPr>
          <p:cNvSpPr txBox="1"/>
          <p:nvPr>
            <p:custDataLst>
              <p:tags r:id="rId2"/>
            </p:custDataLst>
          </p:nvPr>
        </p:nvSpPr>
        <p:spPr>
          <a:xfrm>
            <a:off x="3929538" y="1983333"/>
            <a:ext cx="674787"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mn-cs"/>
              </a:rPr>
              <a:t>Mar 2025</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mn-cs"/>
            </a:endParaRPr>
          </a:p>
        </p:txBody>
      </p:sp>
      <p:sp>
        <p:nvSpPr>
          <p:cNvPr id="72" name="OTLSHAPE_T_e17f3958430f4cff8650518c93c7635e_Shape">
            <a:extLst>
              <a:ext uri="{FF2B5EF4-FFF2-40B4-BE49-F238E27FC236}">
                <a16:creationId xmlns:a16="http://schemas.microsoft.com/office/drawing/2014/main" id="{F16BA442-29D3-BA41-6AFF-E49A199B1EAF}"/>
              </a:ext>
            </a:extLst>
          </p:cNvPr>
          <p:cNvSpPr/>
          <p:nvPr>
            <p:custDataLst>
              <p:tags r:id="rId3"/>
            </p:custDataLst>
          </p:nvPr>
        </p:nvSpPr>
        <p:spPr bwMode="auto">
          <a:xfrm>
            <a:off x="4199533" y="2106444"/>
            <a:ext cx="3665162"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Phase 1b N=60</a:t>
            </a: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74" name="OTLSHAPE_T_e17f3958430f4cff8650518c93c7635e_Shape">
            <a:extLst>
              <a:ext uri="{FF2B5EF4-FFF2-40B4-BE49-F238E27FC236}">
                <a16:creationId xmlns:a16="http://schemas.microsoft.com/office/drawing/2014/main" id="{21500191-4F10-0FE8-BF3B-83D92AF36B7D}"/>
              </a:ext>
            </a:extLst>
          </p:cNvPr>
          <p:cNvSpPr/>
          <p:nvPr>
            <p:custDataLst>
              <p:tags r:id="rId4"/>
            </p:custDataLst>
          </p:nvPr>
        </p:nvSpPr>
        <p:spPr bwMode="auto">
          <a:xfrm>
            <a:off x="4368049" y="5043123"/>
            <a:ext cx="3496646"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Phase 1b N=6</a:t>
            </a:r>
          </a:p>
        </p:txBody>
      </p:sp>
      <p:sp>
        <p:nvSpPr>
          <p:cNvPr id="75" name="OTLSHAPE_T_e17f3958430f4cff8650518c93c7635e_StartDate">
            <a:extLst>
              <a:ext uri="{FF2B5EF4-FFF2-40B4-BE49-F238E27FC236}">
                <a16:creationId xmlns:a16="http://schemas.microsoft.com/office/drawing/2014/main" id="{559734B3-C5E4-3FFA-0092-EFFC4B577808}"/>
              </a:ext>
            </a:extLst>
          </p:cNvPr>
          <p:cNvSpPr txBox="1"/>
          <p:nvPr>
            <p:custDataLst>
              <p:tags r:id="rId5"/>
            </p:custDataLst>
          </p:nvPr>
        </p:nvSpPr>
        <p:spPr>
          <a:xfrm>
            <a:off x="3929538" y="4859644"/>
            <a:ext cx="910164"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Feb 2025</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83" name="OTLSHAPE_T_e17f3958430f4cff8650518c93c7635e_Shape">
            <a:extLst>
              <a:ext uri="{FF2B5EF4-FFF2-40B4-BE49-F238E27FC236}">
                <a16:creationId xmlns:a16="http://schemas.microsoft.com/office/drawing/2014/main" id="{4D9B6ECA-36EF-07E6-5A56-F1023E5231B9}"/>
              </a:ext>
            </a:extLst>
          </p:cNvPr>
          <p:cNvSpPr/>
          <p:nvPr>
            <p:custDataLst>
              <p:tags r:id="rId6"/>
            </p:custDataLst>
          </p:nvPr>
        </p:nvSpPr>
        <p:spPr bwMode="auto">
          <a:xfrm>
            <a:off x="3035392" y="5040725"/>
            <a:ext cx="1324210" cy="32918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04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Review + EC + HGRAC + 1</a:t>
            </a:r>
            <a:r>
              <a:rPr kumimoji="0" lang="en-US" altLang="zh-CN" sz="800" b="1" i="0" u="none" strike="noStrike" kern="1200" cap="none" spc="0" normalizeH="0" baseline="30000" noProof="0">
                <a:ln>
                  <a:noFill/>
                </a:ln>
                <a:solidFill>
                  <a:srgbClr val="000000"/>
                </a:solidFill>
                <a:effectLst/>
                <a:uLnTx/>
                <a:uFillTx/>
                <a:latin typeface="Boehringer Forward Text"/>
                <a:ea typeface="+mn-ea"/>
                <a:cs typeface="Calibri" panose="020F0502020204030204" pitchFamily="34" charset="0"/>
              </a:rPr>
              <a:t>st</a:t>
            </a: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SIV</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56A135D5-DF78-803F-961D-5A6A8BDABFC3}"/>
              </a:ext>
            </a:extLst>
          </p:cNvPr>
          <p:cNvSpPr txBox="1"/>
          <p:nvPr>
            <p:custDataLst>
              <p:tags r:id="rId7"/>
            </p:custDataLst>
          </p:nvPr>
        </p:nvSpPr>
        <p:spPr>
          <a:xfrm>
            <a:off x="2694080" y="4859644"/>
            <a:ext cx="682623"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Aug 2024</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85" name="Rectangle 77">
            <a:extLst>
              <a:ext uri="{FF2B5EF4-FFF2-40B4-BE49-F238E27FC236}">
                <a16:creationId xmlns:a16="http://schemas.microsoft.com/office/drawing/2014/main" id="{C1928367-E80D-4CD5-D683-1F1F10470812}"/>
              </a:ext>
            </a:extLst>
          </p:cNvPr>
          <p:cNvSpPr/>
          <p:nvPr/>
        </p:nvSpPr>
        <p:spPr>
          <a:xfrm>
            <a:off x="4166547" y="5430277"/>
            <a:ext cx="626660" cy="21544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1</a:t>
            </a:r>
            <a:r>
              <a:rPr kumimoji="0" lang="en-US" altLang="zh-CN" sz="800" b="1" i="1" u="none" strike="noStrike" kern="1200" cap="none" spc="0" normalizeH="0" baseline="30000" noProof="0">
                <a:ln>
                  <a:noFill/>
                </a:ln>
                <a:solidFill>
                  <a:srgbClr val="002060"/>
                </a:solidFill>
                <a:effectLst/>
                <a:uLnTx/>
                <a:uFillTx/>
                <a:latin typeface="Boehringer Forward Text"/>
                <a:ea typeface="+mn-ea"/>
                <a:cs typeface="Calibri" panose="020F0502020204030204" pitchFamily="34" charset="0"/>
              </a:rPr>
              <a:t>st</a:t>
            </a: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 SIV</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88" name="OTLSHAPE_M_39ea6ebc19a94c9fab6ef5006c31df58_Shape">
            <a:extLst>
              <a:ext uri="{FF2B5EF4-FFF2-40B4-BE49-F238E27FC236}">
                <a16:creationId xmlns:a16="http://schemas.microsoft.com/office/drawing/2014/main" id="{C74FCB26-AE57-2537-E450-537D0498FC83}"/>
              </a:ext>
            </a:extLst>
          </p:cNvPr>
          <p:cNvSpPr/>
          <p:nvPr>
            <p:custDataLst>
              <p:tags r:id="rId8"/>
            </p:custDataLst>
          </p:nvPr>
        </p:nvSpPr>
        <p:spPr bwMode="auto">
          <a:xfrm rot="16200000">
            <a:off x="3015920" y="532590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89" name="OTLSHAPE_M_39ea6ebc19a94c9fab6ef5006c31df58_Title">
            <a:extLst>
              <a:ext uri="{FF2B5EF4-FFF2-40B4-BE49-F238E27FC236}">
                <a16:creationId xmlns:a16="http://schemas.microsoft.com/office/drawing/2014/main" id="{7FBED814-6FBC-517B-4021-713240DE8A43}"/>
              </a:ext>
            </a:extLst>
          </p:cNvPr>
          <p:cNvSpPr txBox="1"/>
          <p:nvPr>
            <p:custDataLst>
              <p:tags r:id="rId9"/>
            </p:custDataLst>
          </p:nvPr>
        </p:nvSpPr>
        <p:spPr>
          <a:xfrm>
            <a:off x="2748099" y="5415299"/>
            <a:ext cx="928204" cy="123111"/>
          </a:xfrm>
          <a:prstGeom prst="rect">
            <a:avLst/>
          </a:prstGeom>
          <a:noFill/>
        </p:spPr>
        <p:txBody>
          <a:bodyPr vert="horz" wrap="square" lIns="0" tIns="0" rIns="0" bIns="0" rtlCol="0" anchor="ctr" anchorCtr="0">
            <a:spAutoFit/>
          </a:bodyPr>
          <a:lstStyle/>
          <a:p>
            <a:pPr marL="0" marR="0" lvl="0" indent="0" algn="l"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CTA Sub</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1" name="Rectangle 55">
            <a:extLst>
              <a:ext uri="{FF2B5EF4-FFF2-40B4-BE49-F238E27FC236}">
                <a16:creationId xmlns:a16="http://schemas.microsoft.com/office/drawing/2014/main" id="{34F5A320-A993-35C5-D2DE-34E376B7C7AC}"/>
              </a:ext>
            </a:extLst>
          </p:cNvPr>
          <p:cNvSpPr/>
          <p:nvPr/>
        </p:nvSpPr>
        <p:spPr>
          <a:xfrm>
            <a:off x="7659219" y="2531571"/>
            <a:ext cx="336952" cy="215444"/>
          </a:xfrm>
          <a:prstGeom prst="rect">
            <a:avLst/>
          </a:prstGeom>
        </p:spPr>
        <p:txBody>
          <a:bodyPr wrap="non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LPI</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2" name="OTLSHAPE_T_e17f3958430f4cff8650518c93c7635e_StartDate">
            <a:extLst>
              <a:ext uri="{FF2B5EF4-FFF2-40B4-BE49-F238E27FC236}">
                <a16:creationId xmlns:a16="http://schemas.microsoft.com/office/drawing/2014/main" id="{7287F0A7-2243-B5EA-9BDC-6FC2F7AE7DB5}"/>
              </a:ext>
            </a:extLst>
          </p:cNvPr>
          <p:cNvSpPr txBox="1"/>
          <p:nvPr>
            <p:custDataLst>
              <p:tags r:id="rId10"/>
            </p:custDataLst>
          </p:nvPr>
        </p:nvSpPr>
        <p:spPr>
          <a:xfrm>
            <a:off x="6353900" y="1972571"/>
            <a:ext cx="549612"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Jan 2026</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50E4525B-B4B0-7816-750F-02D9270E575D}"/>
              </a:ext>
            </a:extLst>
          </p:cNvPr>
          <p:cNvSpPr txBox="1"/>
          <p:nvPr>
            <p:custDataLst>
              <p:tags r:id="rId11"/>
            </p:custDataLst>
          </p:nvPr>
        </p:nvSpPr>
        <p:spPr>
          <a:xfrm>
            <a:off x="7372119" y="1908980"/>
            <a:ext cx="911151"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May  2026</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6" name="Star: 4 Points 143">
            <a:extLst>
              <a:ext uri="{FF2B5EF4-FFF2-40B4-BE49-F238E27FC236}">
                <a16:creationId xmlns:a16="http://schemas.microsoft.com/office/drawing/2014/main" id="{47F8E560-CC17-4628-41E8-0CD9D4579FE3}"/>
              </a:ext>
            </a:extLst>
          </p:cNvPr>
          <p:cNvSpPr/>
          <p:nvPr/>
        </p:nvSpPr>
        <p:spPr bwMode="auto">
          <a:xfrm>
            <a:off x="4143064" y="233424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7" name="Star: 4 Points 143">
            <a:extLst>
              <a:ext uri="{FF2B5EF4-FFF2-40B4-BE49-F238E27FC236}">
                <a16:creationId xmlns:a16="http://schemas.microsoft.com/office/drawing/2014/main" id="{27DF2C2F-67AB-5162-49A3-3D9A80683EE2}"/>
              </a:ext>
            </a:extLst>
          </p:cNvPr>
          <p:cNvSpPr/>
          <p:nvPr/>
        </p:nvSpPr>
        <p:spPr bwMode="auto">
          <a:xfrm>
            <a:off x="7752272" y="235936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11" name="Star: 4 Points 143">
            <a:extLst>
              <a:ext uri="{FF2B5EF4-FFF2-40B4-BE49-F238E27FC236}">
                <a16:creationId xmlns:a16="http://schemas.microsoft.com/office/drawing/2014/main" id="{F7030001-B397-31FE-EC05-98B084B38759}"/>
              </a:ext>
            </a:extLst>
          </p:cNvPr>
          <p:cNvSpPr/>
          <p:nvPr/>
        </p:nvSpPr>
        <p:spPr bwMode="auto">
          <a:xfrm>
            <a:off x="4275927" y="528545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grpSp>
        <p:nvGrpSpPr>
          <p:cNvPr id="159" name="Group 158">
            <a:extLst>
              <a:ext uri="{FF2B5EF4-FFF2-40B4-BE49-F238E27FC236}">
                <a16:creationId xmlns:a16="http://schemas.microsoft.com/office/drawing/2014/main" id="{C99D744C-4225-8B61-4022-A0450A8DFE65}"/>
              </a:ext>
            </a:extLst>
          </p:cNvPr>
          <p:cNvGrpSpPr/>
          <p:nvPr/>
        </p:nvGrpSpPr>
        <p:grpSpPr>
          <a:xfrm>
            <a:off x="8144551" y="1809006"/>
            <a:ext cx="821401" cy="490622"/>
            <a:chOff x="1061949" y="2109237"/>
            <a:chExt cx="821401" cy="490623"/>
          </a:xfrm>
        </p:grpSpPr>
        <p:sp>
          <p:nvSpPr>
            <p:cNvPr id="160" name="Rectangle 52">
              <a:extLst>
                <a:ext uri="{FF2B5EF4-FFF2-40B4-BE49-F238E27FC236}">
                  <a16:creationId xmlns:a16="http://schemas.microsoft.com/office/drawing/2014/main" id="{8CACE833-0644-5A2D-1F30-0C912672C768}"/>
                </a:ext>
              </a:extLst>
            </p:cNvPr>
            <p:cNvSpPr/>
            <p:nvPr/>
          </p:nvSpPr>
          <p:spPr>
            <a:xfrm>
              <a:off x="1061949" y="2109237"/>
              <a:ext cx="821401" cy="338555"/>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PoC </a:t>
              </a:r>
            </a:p>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a:t>
              </a: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Nov 2026</a:t>
              </a:r>
              <a:r>
                <a:rPr kumimoji="0" lang="en-US" altLang="zh-CN"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a:t>
              </a:r>
              <a:endParaRPr kumimoji="0" lang="zh-CN" alt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endParaRPr>
            </a:p>
          </p:txBody>
        </p:sp>
        <p:sp>
          <p:nvSpPr>
            <p:cNvPr id="161" name="Diamond 160">
              <a:extLst>
                <a:ext uri="{FF2B5EF4-FFF2-40B4-BE49-F238E27FC236}">
                  <a16:creationId xmlns:a16="http://schemas.microsoft.com/office/drawing/2014/main" id="{AE666D37-56B9-BCF8-AF31-2655340E3987}"/>
                </a:ext>
              </a:extLst>
            </p:cNvPr>
            <p:cNvSpPr/>
            <p:nvPr/>
          </p:nvSpPr>
          <p:spPr bwMode="gray">
            <a:xfrm>
              <a:off x="1376028" y="2416980"/>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164" name="TextBox 163">
            <a:extLst>
              <a:ext uri="{FF2B5EF4-FFF2-40B4-BE49-F238E27FC236}">
                <a16:creationId xmlns:a16="http://schemas.microsoft.com/office/drawing/2014/main" id="{88E7C60F-CBA9-8AAF-C1B5-4E3F70073CF7}"/>
              </a:ext>
            </a:extLst>
          </p:cNvPr>
          <p:cNvSpPr txBox="1"/>
          <p:nvPr/>
        </p:nvSpPr>
        <p:spPr>
          <a:xfrm>
            <a:off x="120612" y="2776812"/>
            <a:ext cx="1230890"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Ph2/3</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1L R/M HNSCC</a:t>
            </a:r>
          </a:p>
        </p:txBody>
      </p:sp>
      <p:sp>
        <p:nvSpPr>
          <p:cNvPr id="4" name="Rectangle 55">
            <a:extLst>
              <a:ext uri="{FF2B5EF4-FFF2-40B4-BE49-F238E27FC236}">
                <a16:creationId xmlns:a16="http://schemas.microsoft.com/office/drawing/2014/main" id="{455E2CCA-2E67-6C28-B5BE-D64FA74E21B3}"/>
              </a:ext>
            </a:extLst>
          </p:cNvPr>
          <p:cNvSpPr/>
          <p:nvPr/>
        </p:nvSpPr>
        <p:spPr>
          <a:xfrm>
            <a:off x="6303007" y="2527793"/>
            <a:ext cx="662339" cy="33855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Futility analysis</a:t>
            </a:r>
            <a:endParaRPr kumimoji="0" lang="zh-CN" altLang="en-US" sz="800" b="1" i="1"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endParaRPr>
          </a:p>
        </p:txBody>
      </p:sp>
      <p:sp>
        <p:nvSpPr>
          <p:cNvPr id="9" name="OTLSHAPE_T_e17f3958430f4cff8650518c93c7635e_StartDate">
            <a:extLst>
              <a:ext uri="{FF2B5EF4-FFF2-40B4-BE49-F238E27FC236}">
                <a16:creationId xmlns:a16="http://schemas.microsoft.com/office/drawing/2014/main" id="{D7B550AF-30C2-C911-D028-0B685F0124F3}"/>
              </a:ext>
            </a:extLst>
          </p:cNvPr>
          <p:cNvSpPr txBox="1"/>
          <p:nvPr>
            <p:custDataLst>
              <p:tags r:id="rId12"/>
            </p:custDataLst>
          </p:nvPr>
        </p:nvSpPr>
        <p:spPr>
          <a:xfrm>
            <a:off x="5296351" y="1973213"/>
            <a:ext cx="549612"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Aug 2025</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4" name="Star: 4 Points 143">
            <a:extLst>
              <a:ext uri="{FF2B5EF4-FFF2-40B4-BE49-F238E27FC236}">
                <a16:creationId xmlns:a16="http://schemas.microsoft.com/office/drawing/2014/main" id="{B963508F-DE59-8355-A152-7509744C07B2}"/>
              </a:ext>
            </a:extLst>
          </p:cNvPr>
          <p:cNvSpPr/>
          <p:nvPr/>
        </p:nvSpPr>
        <p:spPr bwMode="auto">
          <a:xfrm>
            <a:off x="6503587" y="237237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7" name="Rectangle 55">
            <a:extLst>
              <a:ext uri="{FF2B5EF4-FFF2-40B4-BE49-F238E27FC236}">
                <a16:creationId xmlns:a16="http://schemas.microsoft.com/office/drawing/2014/main" id="{EF13F39D-5247-3465-B28E-C93F1915BAAF}"/>
              </a:ext>
            </a:extLst>
          </p:cNvPr>
          <p:cNvSpPr/>
          <p:nvPr/>
        </p:nvSpPr>
        <p:spPr>
          <a:xfrm>
            <a:off x="8289264" y="2530926"/>
            <a:ext cx="662339" cy="33855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Primary analysis</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8" name="Star: 4 Points 143">
            <a:extLst>
              <a:ext uri="{FF2B5EF4-FFF2-40B4-BE49-F238E27FC236}">
                <a16:creationId xmlns:a16="http://schemas.microsoft.com/office/drawing/2014/main" id="{59DFE72D-26FA-DD8C-77CC-79579992C751}"/>
              </a:ext>
            </a:extLst>
          </p:cNvPr>
          <p:cNvSpPr/>
          <p:nvPr/>
        </p:nvSpPr>
        <p:spPr bwMode="auto">
          <a:xfrm>
            <a:off x="8469739" y="236842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23" name="TextBox 22">
            <a:extLst>
              <a:ext uri="{FF2B5EF4-FFF2-40B4-BE49-F238E27FC236}">
                <a16:creationId xmlns:a16="http://schemas.microsoft.com/office/drawing/2014/main" id="{7E6D87EA-B0E4-457A-8422-31DC738386E1}"/>
              </a:ext>
            </a:extLst>
          </p:cNvPr>
          <p:cNvSpPr txBox="1"/>
          <p:nvPr/>
        </p:nvSpPr>
        <p:spPr>
          <a:xfrm>
            <a:off x="202811" y="3742175"/>
            <a:ext cx="938034"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Ph1-1463</a:t>
            </a:r>
            <a:r>
              <a:rPr kumimoji="0" lang="en-US" altLang="zh-CN"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NSCLC</a:t>
            </a:r>
          </a:p>
        </p:txBody>
      </p:sp>
      <p:sp>
        <p:nvSpPr>
          <p:cNvPr id="24" name="OTLSHAPE_T_e17f3958430f4cff8650518c93c7635e_Shape">
            <a:extLst>
              <a:ext uri="{FF2B5EF4-FFF2-40B4-BE49-F238E27FC236}">
                <a16:creationId xmlns:a16="http://schemas.microsoft.com/office/drawing/2014/main" id="{1813AC7D-5391-6DA9-38EE-3BA6E0B77A5A}"/>
              </a:ext>
            </a:extLst>
          </p:cNvPr>
          <p:cNvSpPr/>
          <p:nvPr>
            <p:custDataLst>
              <p:tags r:id="rId13"/>
            </p:custDataLst>
          </p:nvPr>
        </p:nvSpPr>
        <p:spPr bwMode="auto">
          <a:xfrm>
            <a:off x="8916866" y="2849400"/>
            <a:ext cx="1241506"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Ph1b Expansion Cohort in 1L NSCLC</a:t>
            </a:r>
            <a:endParaRPr kumimoji="0" lang="en-US" altLang="zh-CN" sz="7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68" name="Group 67">
            <a:extLst>
              <a:ext uri="{FF2B5EF4-FFF2-40B4-BE49-F238E27FC236}">
                <a16:creationId xmlns:a16="http://schemas.microsoft.com/office/drawing/2014/main" id="{E63B3C5D-1C65-7D06-35CF-EF9CDC650AEA}"/>
              </a:ext>
            </a:extLst>
          </p:cNvPr>
          <p:cNvGrpSpPr/>
          <p:nvPr/>
        </p:nvGrpSpPr>
        <p:grpSpPr>
          <a:xfrm>
            <a:off x="11479673" y="2339790"/>
            <a:ext cx="874355" cy="542864"/>
            <a:chOff x="9562760" y="2887548"/>
            <a:chExt cx="874355" cy="542864"/>
          </a:xfrm>
        </p:grpSpPr>
        <p:grpSp>
          <p:nvGrpSpPr>
            <p:cNvPr id="71" name="组合 41">
              <a:extLst>
                <a:ext uri="{FF2B5EF4-FFF2-40B4-BE49-F238E27FC236}">
                  <a16:creationId xmlns:a16="http://schemas.microsoft.com/office/drawing/2014/main" id="{C79D7E09-8141-1376-6C76-3918B9B8195F}"/>
                </a:ext>
              </a:extLst>
            </p:cNvPr>
            <p:cNvGrpSpPr/>
            <p:nvPr/>
          </p:nvGrpSpPr>
          <p:grpSpPr>
            <a:xfrm>
              <a:off x="9562760" y="2887548"/>
              <a:ext cx="874355" cy="542864"/>
              <a:chOff x="6323048" y="1947780"/>
              <a:chExt cx="874354" cy="542864"/>
            </a:xfrm>
          </p:grpSpPr>
          <p:sp>
            <p:nvSpPr>
              <p:cNvPr id="76" name="OTLSHAPE_T_e17f3958430f4cff8650518c93c7635e_StartDate">
                <a:extLst>
                  <a:ext uri="{FF2B5EF4-FFF2-40B4-BE49-F238E27FC236}">
                    <a16:creationId xmlns:a16="http://schemas.microsoft.com/office/drawing/2014/main" id="{1AC2683C-7B7F-696C-4838-8246691C52B4}"/>
                  </a:ext>
                </a:extLst>
              </p:cNvPr>
              <p:cNvSpPr txBox="1"/>
              <p:nvPr>
                <p:custDataLst>
                  <p:tags r:id="rId18"/>
                </p:custDataLst>
              </p:nvPr>
            </p:nvSpPr>
            <p:spPr>
              <a:xfrm>
                <a:off x="6323048" y="1947780"/>
                <a:ext cx="874354" cy="138499"/>
              </a:xfrm>
              <a:prstGeom prst="rect">
                <a:avLst/>
              </a:prstGeom>
              <a:noFill/>
            </p:spPr>
            <p:txBody>
              <a:bodyPr vert="horz" wrap="square" lIns="0" tIns="0" rIns="0" bIns="0" rtlCol="0" anchor="ctr" anchorCtr="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Sep 2030</a:t>
                </a:r>
                <a:endParaRPr kumimoji="0" lang="zh-CN" altLang="en-US"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77" name="Rectangle 100">
                <a:extLst>
                  <a:ext uri="{FF2B5EF4-FFF2-40B4-BE49-F238E27FC236}">
                    <a16:creationId xmlns:a16="http://schemas.microsoft.com/office/drawing/2014/main" id="{C3568AAB-EFDD-C6F7-0B49-6FD58B7AB909}"/>
                  </a:ext>
                </a:extLst>
              </p:cNvPr>
              <p:cNvSpPr/>
              <p:nvPr/>
            </p:nvSpPr>
            <p:spPr>
              <a:xfrm>
                <a:off x="6466192" y="2259812"/>
                <a:ext cx="619079" cy="230832"/>
              </a:xfrm>
              <a:prstGeom prst="rect">
                <a:avLst/>
              </a:prstGeom>
            </p:spPr>
            <p:txBody>
              <a:bodyPr wrap="none">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NDA FA</a:t>
                </a:r>
                <a:endParaRPr kumimoji="0" lang="zh-CN" altLang="en-US"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grpSp>
        <p:sp>
          <p:nvSpPr>
            <p:cNvPr id="73" name="五角星 55">
              <a:extLst>
                <a:ext uri="{FF2B5EF4-FFF2-40B4-BE49-F238E27FC236}">
                  <a16:creationId xmlns:a16="http://schemas.microsoft.com/office/drawing/2014/main" id="{8419D518-E999-96F0-2ED1-7028DF7509DF}"/>
                </a:ext>
              </a:extLst>
            </p:cNvPr>
            <p:cNvSpPr>
              <a:spLocks/>
            </p:cNvSpPr>
            <p:nvPr/>
          </p:nvSpPr>
          <p:spPr bwMode="auto">
            <a:xfrm>
              <a:off x="9927938" y="3043999"/>
              <a:ext cx="144000" cy="144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54" rtl="0" eaLnBrk="0" fontAlgn="auto" latinLnBrk="0" hangingPunct="0">
                <a:lnSpc>
                  <a:spcPct val="100000"/>
                </a:lnSpc>
                <a:spcBef>
                  <a:spcPts val="0"/>
                </a:spcBef>
                <a:spcAft>
                  <a:spcPts val="0"/>
                </a:spcAft>
                <a:buClrTx/>
                <a:buSzTx/>
                <a:buFontTx/>
                <a:buNone/>
                <a:tabLst/>
                <a:defRPr/>
              </a:pPr>
              <a:endParaRPr kumimoji="0" lang="zh-CN" altLang="en-US" sz="24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95" name="TextBox 94">
            <a:extLst>
              <a:ext uri="{FF2B5EF4-FFF2-40B4-BE49-F238E27FC236}">
                <a16:creationId xmlns:a16="http://schemas.microsoft.com/office/drawing/2014/main" id="{E6EADB73-BBBC-297F-B9CC-1F611CC4BB19}"/>
              </a:ext>
            </a:extLst>
          </p:cNvPr>
          <p:cNvSpPr txBox="1"/>
          <p:nvPr/>
        </p:nvSpPr>
        <p:spPr>
          <a:xfrm>
            <a:off x="255487" y="5051428"/>
            <a:ext cx="938034" cy="307777"/>
          </a:xfrm>
          <a:prstGeom prst="rect">
            <a:avLst/>
          </a:prstGeom>
          <a:noFill/>
          <a:ln>
            <a:noFill/>
          </a:ln>
        </p:spPr>
        <p:txBody>
          <a:bodyPr wrap="square" lIns="0" tIns="0" rIns="0" bIns="0" rtlCol="0">
            <a:spAutoFit/>
          </a:bodyPr>
          <a:lstStyle/>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Ph1-1463</a:t>
            </a:r>
            <a:r>
              <a:rPr kumimoji="0" lang="en-US" altLang="zh-CN"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HNSCC</a:t>
            </a:r>
          </a:p>
        </p:txBody>
      </p:sp>
      <p:sp>
        <p:nvSpPr>
          <p:cNvPr id="10" name="Slide Number Placeholder 9">
            <a:extLst>
              <a:ext uri="{FF2B5EF4-FFF2-40B4-BE49-F238E27FC236}">
                <a16:creationId xmlns:a16="http://schemas.microsoft.com/office/drawing/2014/main" id="{15987BFC-7B35-BA41-75E3-2A05A70FC701}"/>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27" name="直接连接符 26">
            <a:extLst>
              <a:ext uri="{FF2B5EF4-FFF2-40B4-BE49-F238E27FC236}">
                <a16:creationId xmlns:a16="http://schemas.microsoft.com/office/drawing/2014/main" id="{B604D8E8-F70B-5878-34C9-712C2F6A0AED}"/>
              </a:ext>
            </a:extLst>
          </p:cNvPr>
          <p:cNvCxnSpPr>
            <a:cxnSpLocks/>
          </p:cNvCxnSpPr>
          <p:nvPr/>
        </p:nvCxnSpPr>
        <p:spPr bwMode="gray">
          <a:xfrm flipH="1">
            <a:off x="8561859" y="2832857"/>
            <a:ext cx="1" cy="100584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6B149BE-0815-82D8-D4F0-80A69111A9F0}"/>
              </a:ext>
            </a:extLst>
          </p:cNvPr>
          <p:cNvCxnSpPr>
            <a:cxnSpLocks/>
          </p:cNvCxnSpPr>
          <p:nvPr/>
        </p:nvCxnSpPr>
        <p:spPr bwMode="gray">
          <a:xfrm>
            <a:off x="8561859" y="3001816"/>
            <a:ext cx="321984"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文本框 160">
            <a:extLst>
              <a:ext uri="{FF2B5EF4-FFF2-40B4-BE49-F238E27FC236}">
                <a16:creationId xmlns:a16="http://schemas.microsoft.com/office/drawing/2014/main" id="{F6156595-C1DB-93D0-D1B6-778B76273E16}"/>
              </a:ext>
            </a:extLst>
          </p:cNvPr>
          <p:cNvSpPr txBox="1"/>
          <p:nvPr/>
        </p:nvSpPr>
        <p:spPr>
          <a:xfrm>
            <a:off x="1851634" y="3418739"/>
            <a:ext cx="6618105" cy="646986"/>
          </a:xfrm>
          <a:prstGeom prst="roundRect">
            <a:avLst/>
          </a:prstGeom>
          <a:noFill/>
          <a:ln>
            <a:solidFill>
              <a:srgbClr val="076D7E"/>
            </a:solidFill>
            <a:prstDash val="lgDash"/>
          </a:ln>
        </p:spPr>
        <p:txBody>
          <a:bodyPr wrap="square" rtlCol="0">
            <a:spAutoFit/>
          </a:bodyPr>
          <a:lstStyle/>
          <a:p>
            <a:pPr marL="171450" marR="0" lvl="0" indent="-171450"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There</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a:t>
            </a: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will</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be a 5-6 </a:t>
            </a: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months</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a:t>
            </a: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ahead</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per </a:t>
            </a: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current</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a:t>
            </a:r>
            <a:r>
              <a:rPr kumimoji="0" lang="es-ES" altLang="zh-CN" sz="900" b="0"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re-baseline</a:t>
            </a:r>
            <a:r>
              <a:rPr kumimoji="0" lang="es-ES" altLang="zh-CN" sz="900" b="0"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plan. </a:t>
            </a:r>
          </a:p>
          <a:p>
            <a:pPr marL="171450" marR="0" lvl="0" indent="-171450"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Futility</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Analysis</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is</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in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preparation</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which</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will</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be </a:t>
            </a:r>
            <a:r>
              <a:rPr kumimoji="0" lang="es-ES" altLang="zh-CN" sz="900" b="1" i="0" u="none" strike="noStrike" kern="1200" cap="none" spc="0" normalizeH="0" baseline="0" noProof="0" err="1">
                <a:ln>
                  <a:noFill/>
                </a:ln>
                <a:solidFill>
                  <a:schemeClr val="tx2"/>
                </a:solidFill>
                <a:effectLst/>
                <a:uLnTx/>
                <a:uFillTx/>
                <a:latin typeface="Boehringer Forward Text"/>
                <a:ea typeface="+mn-ea"/>
                <a:cs typeface="Calibri" panose="020F0502020204030204" pitchFamily="34" charset="0"/>
              </a:rPr>
              <a:t>completed</a:t>
            </a:r>
            <a:r>
              <a:rPr kumimoji="0" lang="es-E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in Jan 2026.</a:t>
            </a:r>
          </a:p>
          <a:p>
            <a:pPr marL="171450" indent="-171450" defTabSz="1219170">
              <a:spcAft>
                <a:spcPts val="267"/>
              </a:spcAft>
              <a:buFont typeface="Arial" panose="020B0604020202020204" pitchFamily="34" charset="0"/>
              <a:buChar char="•"/>
              <a:defRPr/>
            </a:pPr>
            <a:r>
              <a:rPr lang="en-US" altLang="zh-CN" sz="900">
                <a:solidFill>
                  <a:srgbClr val="08312A"/>
                </a:solidFill>
                <a:cs typeface="Calibri" panose="020F0502020204030204" pitchFamily="34" charset="0"/>
              </a:rPr>
              <a:t>NSCLC will be selected as the lead indication, and</a:t>
            </a:r>
            <a:r>
              <a:rPr lang="zh-CN" altLang="en-US" sz="900">
                <a:solidFill>
                  <a:srgbClr val="08312A"/>
                </a:solidFill>
                <a:cs typeface="Calibri" panose="020F0502020204030204" pitchFamily="34" charset="0"/>
              </a:rPr>
              <a:t> </a:t>
            </a:r>
            <a:r>
              <a:rPr lang="en-US" altLang="zh-CN" sz="900">
                <a:solidFill>
                  <a:srgbClr val="08312A"/>
                </a:solidFill>
                <a:cs typeface="Calibri" panose="020F0502020204030204" pitchFamily="34" charset="0"/>
              </a:rPr>
              <a:t>NSCLC development plan is in preparation .</a:t>
            </a:r>
          </a:p>
        </p:txBody>
      </p:sp>
      <p:sp>
        <p:nvSpPr>
          <p:cNvPr id="5" name="Rectangle 55">
            <a:extLst>
              <a:ext uri="{FF2B5EF4-FFF2-40B4-BE49-F238E27FC236}">
                <a16:creationId xmlns:a16="http://schemas.microsoft.com/office/drawing/2014/main" id="{EC172794-C593-2595-28A4-A3FF9BBAC553}"/>
              </a:ext>
            </a:extLst>
          </p:cNvPr>
          <p:cNvSpPr/>
          <p:nvPr/>
        </p:nvSpPr>
        <p:spPr>
          <a:xfrm>
            <a:off x="7656694" y="5447881"/>
            <a:ext cx="336952" cy="215444"/>
          </a:xfrm>
          <a:prstGeom prst="rect">
            <a:avLst/>
          </a:prstGeom>
        </p:spPr>
        <p:txBody>
          <a:bodyPr wrap="non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LPI</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1" name="OTLSHAPE_T_e17f3958430f4cff8650518c93c7635e_StartDate">
            <a:extLst>
              <a:ext uri="{FF2B5EF4-FFF2-40B4-BE49-F238E27FC236}">
                <a16:creationId xmlns:a16="http://schemas.microsoft.com/office/drawing/2014/main" id="{329CD67D-7319-3298-D06C-3D3B6322F38C}"/>
              </a:ext>
            </a:extLst>
          </p:cNvPr>
          <p:cNvSpPr txBox="1"/>
          <p:nvPr>
            <p:custDataLst>
              <p:tags r:id="rId14"/>
            </p:custDataLst>
          </p:nvPr>
        </p:nvSpPr>
        <p:spPr>
          <a:xfrm>
            <a:off x="7369594" y="4865927"/>
            <a:ext cx="911151"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May  2026</a:t>
            </a:r>
            <a:endParaRPr kumimoji="0" lang="zh-CN" alt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2" name="Star: 4 Points 143">
            <a:extLst>
              <a:ext uri="{FF2B5EF4-FFF2-40B4-BE49-F238E27FC236}">
                <a16:creationId xmlns:a16="http://schemas.microsoft.com/office/drawing/2014/main" id="{D494B070-1CFB-18A9-F3C9-9B2C237492ED}"/>
              </a:ext>
            </a:extLst>
          </p:cNvPr>
          <p:cNvSpPr/>
          <p:nvPr/>
        </p:nvSpPr>
        <p:spPr bwMode="auto">
          <a:xfrm>
            <a:off x="7749747" y="527567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6" name="OTLSHAPE_T_e17f3958430f4cff8650518c93c7635e_Shape">
            <a:extLst>
              <a:ext uri="{FF2B5EF4-FFF2-40B4-BE49-F238E27FC236}">
                <a16:creationId xmlns:a16="http://schemas.microsoft.com/office/drawing/2014/main" id="{A1CD91F6-B4AF-DAEA-5647-7AD3262BAFF4}"/>
              </a:ext>
            </a:extLst>
          </p:cNvPr>
          <p:cNvSpPr/>
          <p:nvPr>
            <p:custDataLst>
              <p:tags r:id="rId15"/>
            </p:custDataLst>
          </p:nvPr>
        </p:nvSpPr>
        <p:spPr bwMode="auto">
          <a:xfrm>
            <a:off x="10486244" y="3656468"/>
            <a:ext cx="1652324"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pt-BR" altLang="zh-CN"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 3 pivotal (combi pembro) 1L R/M HNSCC</a:t>
            </a:r>
          </a:p>
        </p:txBody>
      </p:sp>
      <p:cxnSp>
        <p:nvCxnSpPr>
          <p:cNvPr id="19" name="直接箭头连接符 34">
            <a:extLst>
              <a:ext uri="{FF2B5EF4-FFF2-40B4-BE49-F238E27FC236}">
                <a16:creationId xmlns:a16="http://schemas.microsoft.com/office/drawing/2014/main" id="{A7223BA1-3A04-86D9-E7A7-5703A182D189}"/>
              </a:ext>
            </a:extLst>
          </p:cNvPr>
          <p:cNvCxnSpPr>
            <a:cxnSpLocks/>
          </p:cNvCxnSpPr>
          <p:nvPr/>
        </p:nvCxnSpPr>
        <p:spPr bwMode="gray">
          <a:xfrm>
            <a:off x="8550068" y="3827686"/>
            <a:ext cx="1920240"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35">
            <a:extLst>
              <a:ext uri="{FF2B5EF4-FFF2-40B4-BE49-F238E27FC236}">
                <a16:creationId xmlns:a16="http://schemas.microsoft.com/office/drawing/2014/main" id="{15439EDF-4CE0-D13B-22AB-0DE9EE9CF383}"/>
              </a:ext>
            </a:extLst>
          </p:cNvPr>
          <p:cNvCxnSpPr>
            <a:cxnSpLocks/>
          </p:cNvCxnSpPr>
          <p:nvPr/>
        </p:nvCxnSpPr>
        <p:spPr bwMode="gray">
          <a:xfrm>
            <a:off x="10164260" y="3001816"/>
            <a:ext cx="182880"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OTLSHAPE_T_e17f3958430f4cff8650518c93c7635e_Shape">
            <a:extLst>
              <a:ext uri="{FF2B5EF4-FFF2-40B4-BE49-F238E27FC236}">
                <a16:creationId xmlns:a16="http://schemas.microsoft.com/office/drawing/2014/main" id="{0A5DC728-D238-5E99-CC74-6C74CA041A71}"/>
              </a:ext>
            </a:extLst>
          </p:cNvPr>
          <p:cNvSpPr/>
          <p:nvPr>
            <p:custDataLst>
              <p:tags r:id="rId16"/>
            </p:custDataLst>
          </p:nvPr>
        </p:nvSpPr>
        <p:spPr bwMode="auto">
          <a:xfrm>
            <a:off x="10354366" y="2840828"/>
            <a:ext cx="1652324"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 3 pivotal (combi </a:t>
            </a:r>
            <a:r>
              <a:rPr kumimoji="0" lang="en-US" altLang="zh-CN" sz="700" b="1" i="0" u="none" strike="noStrike" kern="1200" cap="none" spc="0" normalizeH="0" baseline="0" noProof="0" err="1">
                <a:ln>
                  <a:noFill/>
                </a:ln>
                <a:solidFill>
                  <a:prstClr val="black"/>
                </a:solidFill>
                <a:effectLst/>
                <a:uLnTx/>
                <a:uFillTx/>
                <a:latin typeface="Boehringer Forward Text"/>
                <a:ea typeface="+mn-ea"/>
                <a:cs typeface="Calibri" panose="020F0502020204030204" pitchFamily="34" charset="0"/>
              </a:rPr>
              <a:t>pembro</a:t>
            </a:r>
            <a:r>
              <a:rPr kumimoji="0" lang="en-US" altLang="zh-CN"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for 1L NSCLC</a:t>
            </a:r>
          </a:p>
        </p:txBody>
      </p:sp>
      <p:sp>
        <p:nvSpPr>
          <p:cNvPr id="15" name="文本框 160">
            <a:extLst>
              <a:ext uri="{FF2B5EF4-FFF2-40B4-BE49-F238E27FC236}">
                <a16:creationId xmlns:a16="http://schemas.microsoft.com/office/drawing/2014/main" id="{5C12B3F7-843F-F957-15E0-8E2B3723EAE3}"/>
              </a:ext>
            </a:extLst>
          </p:cNvPr>
          <p:cNvSpPr txBox="1"/>
          <p:nvPr/>
        </p:nvSpPr>
        <p:spPr>
          <a:xfrm>
            <a:off x="1965447" y="5664923"/>
            <a:ext cx="7572172" cy="255389"/>
          </a:xfrm>
          <a:prstGeom prst="roundRect">
            <a:avLst/>
          </a:prstGeom>
          <a:noFill/>
          <a:ln>
            <a:solidFill>
              <a:srgbClr val="076D7E"/>
            </a:solidFill>
            <a:prstDash val="lgDash"/>
          </a:ln>
        </p:spPr>
        <p:txBody>
          <a:bodyPr wrap="square" rtlCol="0">
            <a:spAutoFit/>
          </a:bodyPr>
          <a:lstStyle/>
          <a:p>
            <a:pPr marL="171450" marR="0" lvl="0" indent="-171450"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n-U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As of 8</a:t>
            </a:r>
            <a:r>
              <a:rPr kumimoji="0" lang="en-US" altLang="zh-CN" sz="900" b="1" i="0" u="none" strike="noStrike" kern="1200" cap="none" spc="0" normalizeH="0" baseline="30000" noProof="0">
                <a:ln>
                  <a:noFill/>
                </a:ln>
                <a:solidFill>
                  <a:schemeClr val="tx2"/>
                </a:solidFill>
                <a:effectLst/>
                <a:uLnTx/>
                <a:uFillTx/>
                <a:latin typeface="Boehringer Forward Text"/>
                <a:ea typeface="+mn-ea"/>
                <a:cs typeface="Calibri" panose="020F0502020204030204" pitchFamily="34" charset="0"/>
              </a:rPr>
              <a:t>th</a:t>
            </a:r>
            <a:r>
              <a:rPr kumimoji="0" lang="en-US" altLang="zh-CN" sz="9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 Dec, total 7 allocated CN patients were all enrolled.</a:t>
            </a:r>
          </a:p>
        </p:txBody>
      </p:sp>
      <p:grpSp>
        <p:nvGrpSpPr>
          <p:cNvPr id="20" name="Group 62">
            <a:extLst>
              <a:ext uri="{FF2B5EF4-FFF2-40B4-BE49-F238E27FC236}">
                <a16:creationId xmlns:a16="http://schemas.microsoft.com/office/drawing/2014/main" id="{FED50B97-72B3-A55A-6C3E-39B4B2258A4A}"/>
              </a:ext>
            </a:extLst>
          </p:cNvPr>
          <p:cNvGrpSpPr/>
          <p:nvPr/>
        </p:nvGrpSpPr>
        <p:grpSpPr>
          <a:xfrm>
            <a:off x="5950357" y="674816"/>
            <a:ext cx="546747" cy="6134718"/>
            <a:chOff x="1155349" y="1057179"/>
            <a:chExt cx="546747" cy="4601037"/>
          </a:xfrm>
        </p:grpSpPr>
        <p:cxnSp>
          <p:nvCxnSpPr>
            <p:cNvPr id="25" name="Straight Connector 63">
              <a:extLst>
                <a:ext uri="{FF2B5EF4-FFF2-40B4-BE49-F238E27FC236}">
                  <a16:creationId xmlns:a16="http://schemas.microsoft.com/office/drawing/2014/main" id="{3121846E-226F-73D3-A101-C7F3E848B66D}"/>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6" name="OTLSHAPE_T_e17f3958430f4cff8650518c93c7635e_StartDate">
              <a:extLst>
                <a:ext uri="{FF2B5EF4-FFF2-40B4-BE49-F238E27FC236}">
                  <a16:creationId xmlns:a16="http://schemas.microsoft.com/office/drawing/2014/main" id="{98F532EA-3DC4-3B68-03C5-AC81E9B04248}"/>
                </a:ext>
              </a:extLst>
            </p:cNvPr>
            <p:cNvSpPr txBox="1"/>
            <p:nvPr>
              <p:custDataLst>
                <p:tags r:id="rId17"/>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E47C"/>
                  </a:solidFill>
                  <a:effectLst/>
                  <a:uLnTx/>
                  <a:uFillTx/>
                  <a:latin typeface="Boehringer Forward Text"/>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00E47C"/>
                </a:solidFill>
                <a:effectLst/>
                <a:uLnTx/>
                <a:uFillTx/>
                <a:latin typeface="Boehringer Forward Text"/>
                <a:ea typeface="+mn-ea"/>
                <a:cs typeface="Calibri" panose="020F0502020204030204" pitchFamily="34" charset="0"/>
              </a:endParaRPr>
            </a:p>
          </p:txBody>
        </p:sp>
      </p:grpSp>
    </p:spTree>
    <p:extLst>
      <p:ext uri="{BB962C8B-B14F-4D97-AF65-F5344CB8AC3E}">
        <p14:creationId xmlns:p14="http://schemas.microsoft.com/office/powerpoint/2010/main" val="2761560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6">
            <a:extLst>
              <a:ext uri="{FF2B5EF4-FFF2-40B4-BE49-F238E27FC236}">
                <a16:creationId xmlns:a16="http://schemas.microsoft.com/office/drawing/2014/main" id="{73207099-613B-4188-B37D-91BA5B30A0AB}"/>
              </a:ext>
            </a:extLst>
          </p:cNvPr>
          <p:cNvGraphicFramePr>
            <a:graphicFrameLocks/>
          </p:cNvGraphicFramePr>
          <p:nvPr/>
        </p:nvGraphicFramePr>
        <p:xfrm>
          <a:off x="25556" y="683532"/>
          <a:ext cx="12079704" cy="4222297"/>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2D60BBF4-9344-8D2B-7794-4B1491A1A113}"/>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p:txBody>
          <a:bodyPr/>
          <a:lstStyle/>
          <a:p>
            <a:r>
              <a:rPr lang="en-US"/>
              <a:t>CD&amp;O Template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35</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1463-0001 CD137/FAP 1L HNSCC dated on 2Dec 2025 </a:t>
            </a:r>
            <a:r>
              <a:rPr lang="en-US" altLang="zh-CN" sz="2400" i="1">
                <a:solidFill>
                  <a:srgbClr val="EE6541"/>
                </a:solidFill>
              </a:rPr>
              <a:t>(Global recruitment status)</a:t>
            </a:r>
          </a:p>
        </p:txBody>
      </p:sp>
      <p:graphicFrame>
        <p:nvGraphicFramePr>
          <p:cNvPr id="24" name="表格 23">
            <a:extLst>
              <a:ext uri="{FF2B5EF4-FFF2-40B4-BE49-F238E27FC236}">
                <a16:creationId xmlns:a16="http://schemas.microsoft.com/office/drawing/2014/main" id="{4937587B-A3AC-98B5-C075-426DC76B4B35}"/>
              </a:ext>
            </a:extLst>
          </p:cNvPr>
          <p:cNvGraphicFramePr>
            <a:graphicFrameLocks noGrp="1"/>
          </p:cNvGraphicFramePr>
          <p:nvPr/>
        </p:nvGraphicFramePr>
        <p:xfrm>
          <a:off x="25555" y="4936596"/>
          <a:ext cx="12123008" cy="1831762"/>
        </p:xfrm>
        <a:graphic>
          <a:graphicData uri="http://schemas.openxmlformats.org/drawingml/2006/table">
            <a:tbl>
              <a:tblPr>
                <a:tableStyleId>{9D7B26C5-4107-4FEC-AEDC-1716B250A1EF}</a:tableStyleId>
              </a:tblPr>
              <a:tblGrid>
                <a:gridCol w="839728">
                  <a:extLst>
                    <a:ext uri="{9D8B030D-6E8A-4147-A177-3AD203B41FA5}">
                      <a16:colId xmlns:a16="http://schemas.microsoft.com/office/drawing/2014/main" val="3473625976"/>
                    </a:ext>
                  </a:extLst>
                </a:gridCol>
                <a:gridCol w="564164">
                  <a:extLst>
                    <a:ext uri="{9D8B030D-6E8A-4147-A177-3AD203B41FA5}">
                      <a16:colId xmlns:a16="http://schemas.microsoft.com/office/drawing/2014/main" val="2511394184"/>
                    </a:ext>
                  </a:extLst>
                </a:gridCol>
                <a:gridCol w="564164">
                  <a:extLst>
                    <a:ext uri="{9D8B030D-6E8A-4147-A177-3AD203B41FA5}">
                      <a16:colId xmlns:a16="http://schemas.microsoft.com/office/drawing/2014/main" val="1006931387"/>
                    </a:ext>
                  </a:extLst>
                </a:gridCol>
                <a:gridCol w="564164">
                  <a:extLst>
                    <a:ext uri="{9D8B030D-6E8A-4147-A177-3AD203B41FA5}">
                      <a16:colId xmlns:a16="http://schemas.microsoft.com/office/drawing/2014/main" val="1580186530"/>
                    </a:ext>
                  </a:extLst>
                </a:gridCol>
                <a:gridCol w="564164">
                  <a:extLst>
                    <a:ext uri="{9D8B030D-6E8A-4147-A177-3AD203B41FA5}">
                      <a16:colId xmlns:a16="http://schemas.microsoft.com/office/drawing/2014/main" val="2077854728"/>
                    </a:ext>
                  </a:extLst>
                </a:gridCol>
                <a:gridCol w="564164">
                  <a:extLst>
                    <a:ext uri="{9D8B030D-6E8A-4147-A177-3AD203B41FA5}">
                      <a16:colId xmlns:a16="http://schemas.microsoft.com/office/drawing/2014/main" val="1923209731"/>
                    </a:ext>
                  </a:extLst>
                </a:gridCol>
                <a:gridCol w="564164">
                  <a:extLst>
                    <a:ext uri="{9D8B030D-6E8A-4147-A177-3AD203B41FA5}">
                      <a16:colId xmlns:a16="http://schemas.microsoft.com/office/drawing/2014/main" val="1904945596"/>
                    </a:ext>
                  </a:extLst>
                </a:gridCol>
                <a:gridCol w="564164">
                  <a:extLst>
                    <a:ext uri="{9D8B030D-6E8A-4147-A177-3AD203B41FA5}">
                      <a16:colId xmlns:a16="http://schemas.microsoft.com/office/drawing/2014/main" val="3832727492"/>
                    </a:ext>
                  </a:extLst>
                </a:gridCol>
                <a:gridCol w="564164">
                  <a:extLst>
                    <a:ext uri="{9D8B030D-6E8A-4147-A177-3AD203B41FA5}">
                      <a16:colId xmlns:a16="http://schemas.microsoft.com/office/drawing/2014/main" val="3120066975"/>
                    </a:ext>
                  </a:extLst>
                </a:gridCol>
                <a:gridCol w="564164">
                  <a:extLst>
                    <a:ext uri="{9D8B030D-6E8A-4147-A177-3AD203B41FA5}">
                      <a16:colId xmlns:a16="http://schemas.microsoft.com/office/drawing/2014/main" val="3924652231"/>
                    </a:ext>
                  </a:extLst>
                </a:gridCol>
                <a:gridCol w="564164">
                  <a:extLst>
                    <a:ext uri="{9D8B030D-6E8A-4147-A177-3AD203B41FA5}">
                      <a16:colId xmlns:a16="http://schemas.microsoft.com/office/drawing/2014/main" val="139508724"/>
                    </a:ext>
                  </a:extLst>
                </a:gridCol>
                <a:gridCol w="564164">
                  <a:extLst>
                    <a:ext uri="{9D8B030D-6E8A-4147-A177-3AD203B41FA5}">
                      <a16:colId xmlns:a16="http://schemas.microsoft.com/office/drawing/2014/main" val="1582784343"/>
                    </a:ext>
                  </a:extLst>
                </a:gridCol>
                <a:gridCol w="564164">
                  <a:extLst>
                    <a:ext uri="{9D8B030D-6E8A-4147-A177-3AD203B41FA5}">
                      <a16:colId xmlns:a16="http://schemas.microsoft.com/office/drawing/2014/main" val="4187133416"/>
                    </a:ext>
                  </a:extLst>
                </a:gridCol>
                <a:gridCol w="564164">
                  <a:extLst>
                    <a:ext uri="{9D8B030D-6E8A-4147-A177-3AD203B41FA5}">
                      <a16:colId xmlns:a16="http://schemas.microsoft.com/office/drawing/2014/main" val="3581936348"/>
                    </a:ext>
                  </a:extLst>
                </a:gridCol>
                <a:gridCol w="564164">
                  <a:extLst>
                    <a:ext uri="{9D8B030D-6E8A-4147-A177-3AD203B41FA5}">
                      <a16:colId xmlns:a16="http://schemas.microsoft.com/office/drawing/2014/main" val="2530529000"/>
                    </a:ext>
                  </a:extLst>
                </a:gridCol>
                <a:gridCol w="564164">
                  <a:extLst>
                    <a:ext uri="{9D8B030D-6E8A-4147-A177-3AD203B41FA5}">
                      <a16:colId xmlns:a16="http://schemas.microsoft.com/office/drawing/2014/main" val="3846253994"/>
                    </a:ext>
                  </a:extLst>
                </a:gridCol>
                <a:gridCol w="564164">
                  <a:extLst>
                    <a:ext uri="{9D8B030D-6E8A-4147-A177-3AD203B41FA5}">
                      <a16:colId xmlns:a16="http://schemas.microsoft.com/office/drawing/2014/main" val="420172467"/>
                    </a:ext>
                  </a:extLst>
                </a:gridCol>
                <a:gridCol w="564164">
                  <a:extLst>
                    <a:ext uri="{9D8B030D-6E8A-4147-A177-3AD203B41FA5}">
                      <a16:colId xmlns:a16="http://schemas.microsoft.com/office/drawing/2014/main" val="2349683200"/>
                    </a:ext>
                  </a:extLst>
                </a:gridCol>
                <a:gridCol w="564164">
                  <a:extLst>
                    <a:ext uri="{9D8B030D-6E8A-4147-A177-3AD203B41FA5}">
                      <a16:colId xmlns:a16="http://schemas.microsoft.com/office/drawing/2014/main" val="232587003"/>
                    </a:ext>
                  </a:extLst>
                </a:gridCol>
                <a:gridCol w="564164">
                  <a:extLst>
                    <a:ext uri="{9D8B030D-6E8A-4147-A177-3AD203B41FA5}">
                      <a16:colId xmlns:a16="http://schemas.microsoft.com/office/drawing/2014/main" val="3893228783"/>
                    </a:ext>
                  </a:extLst>
                </a:gridCol>
                <a:gridCol w="564164">
                  <a:extLst>
                    <a:ext uri="{9D8B030D-6E8A-4147-A177-3AD203B41FA5}">
                      <a16:colId xmlns:a16="http://schemas.microsoft.com/office/drawing/2014/main" val="1810682300"/>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Apr-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May-</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Jul-</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Aug-</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Sep-</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Oct-</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Nov-</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Dec-</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Jan-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Feb-</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Apr-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May-</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Jul-</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Aug-</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Sep-</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Oct-</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30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38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66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80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81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82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83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84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85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85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altLang="zh-CN" sz="1100" b="0" i="0" u="none" strike="noStrike" kern="1200">
                          <a:solidFill>
                            <a:srgbClr val="000000"/>
                          </a:solidFill>
                          <a:effectLst/>
                          <a:latin typeface="+mn-ea"/>
                          <a:ea typeface="+mn-ea"/>
                          <a:cs typeface="+mn-cs"/>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kern="1200">
                          <a:solidFill>
                            <a:srgbClr val="000000"/>
                          </a:solidFill>
                          <a:effectLst/>
                          <a:latin typeface="+mn-ea"/>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kern="1200">
                          <a:solidFill>
                            <a:srgbClr val="000000"/>
                          </a:solidFill>
                          <a:effectLst/>
                          <a:latin typeface="+mn-ea"/>
                          <a:ea typeface="+mn-ea"/>
                          <a:cs typeface="+mn-cs"/>
                        </a:rPr>
                        <a:t>12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kern="1200">
                          <a:solidFill>
                            <a:srgbClr val="000000"/>
                          </a:solidFill>
                          <a:effectLst/>
                          <a:latin typeface="+mn-ea"/>
                          <a:ea typeface="+mn-ea"/>
                          <a:cs typeface="+mn-cs"/>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kern="1200">
                          <a:solidFill>
                            <a:srgbClr val="000000"/>
                          </a:solidFill>
                          <a:effectLst/>
                          <a:latin typeface="+mn-ea"/>
                          <a:ea typeface="+mn-ea"/>
                          <a:cs typeface="+mn-cs"/>
                        </a:rPr>
                        <a:t>20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kern="1200">
                          <a:solidFill>
                            <a:srgbClr val="000000"/>
                          </a:solidFill>
                          <a:effectLst/>
                          <a:latin typeface="+mn-ea"/>
                          <a:ea typeface="+mn-ea"/>
                          <a:cs typeface="+mn-cs"/>
                        </a:rPr>
                        <a:t>31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kern="1200">
                          <a:solidFill>
                            <a:srgbClr val="000000"/>
                          </a:solidFill>
                          <a:effectLst/>
                          <a:latin typeface="+mn-ea"/>
                          <a:ea typeface="+mn-ea"/>
                          <a:cs typeface="+mn-cs"/>
                        </a:rPr>
                        <a:t>44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kern="1200">
                          <a:solidFill>
                            <a:srgbClr val="000000"/>
                          </a:solidFill>
                          <a:effectLst/>
                          <a:latin typeface="+mn-ea"/>
                          <a:ea typeface="+mn-ea"/>
                          <a:cs typeface="+mn-cs"/>
                        </a:rPr>
                        <a:t>53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1" i="0" u="none" strike="noStrike" kern="1200">
                          <a:solidFill>
                            <a:srgbClr val="000000"/>
                          </a:solidFill>
                          <a:effectLst/>
                          <a:latin typeface="+mn-ea"/>
                          <a:ea typeface="+mn-ea"/>
                          <a:cs typeface="+mn-cs"/>
                        </a:rPr>
                        <a:t>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25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29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33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37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41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45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49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50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51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55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60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19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0" i="0" u="none" strike="noStrike" kern="1200">
                          <a:solidFill>
                            <a:srgbClr val="000000"/>
                          </a:solidFill>
                          <a:effectLst/>
                          <a:latin typeface="+mn-ea"/>
                          <a:ea typeface="+mn-ea"/>
                          <a:cs typeface="+mn-cs"/>
                        </a:rPr>
                        <a:t>34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b" latinLnBrk="0" hangingPunct="1"/>
                      <a:r>
                        <a:rPr lang="en-US" altLang="zh-CN" sz="1100" b="1" i="0" u="none" strike="noStrike" kern="1200">
                          <a:solidFill>
                            <a:srgbClr val="000000"/>
                          </a:solidFill>
                          <a:effectLst/>
                          <a:latin typeface="+mn-ea"/>
                          <a:ea typeface="+mn-ea"/>
                          <a:cs typeface="+mn-cs"/>
                        </a:rPr>
                        <a:t>43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endParaRPr lang="en-US" altLang="zh-CN"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u="none" strike="noStrike" kern="1200">
                        <a:solidFill>
                          <a:schemeClr val="dk1"/>
                        </a:solidFill>
                        <a:effectLst/>
                        <a:latin typeface="Calibri" panose="020F0502020204030204" pitchFamily="34" charset="0"/>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u="none" strike="noStrike" kern="1200">
                        <a:solidFill>
                          <a:schemeClr val="dk1"/>
                        </a:solidFill>
                        <a:effectLst/>
                        <a:latin typeface="Calibri" panose="020F0502020204030204" pitchFamily="34" charset="0"/>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u="none" strike="noStrike" kern="1200">
                        <a:solidFill>
                          <a:schemeClr val="dk1"/>
                        </a:solidFill>
                        <a:effectLst/>
                        <a:latin typeface="Calibri" panose="020F0502020204030204" pitchFamily="34" charset="0"/>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endParaRPr lang="zh-CN" altLang="en-US" sz="2000"/>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27" name="矩形 26">
            <a:extLst>
              <a:ext uri="{FF2B5EF4-FFF2-40B4-BE49-F238E27FC236}">
                <a16:creationId xmlns:a16="http://schemas.microsoft.com/office/drawing/2014/main" id="{42CA7AB2-D25F-3E85-46A8-42BE24CB5CDB}"/>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21262804-C18E-C434-6CD6-324A3E480A82}"/>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8" imgW="834480" imgH="714960" progId="Excel.Sheet.12">
                  <p:embed/>
                </p:oleObj>
              </mc:Choice>
              <mc:Fallback>
                <p:oleObj name="Worksheet" showAsIcon="1" r:id="rId8" imgW="834480" imgH="714960" progId="Excel.Sheet.12">
                  <p:embed/>
                  <p:pic>
                    <p:nvPicPr>
                      <p:cNvPr id="28" name="对象 27">
                        <a:extLst>
                          <a:ext uri="{FF2B5EF4-FFF2-40B4-BE49-F238E27FC236}">
                            <a16:creationId xmlns:a16="http://schemas.microsoft.com/office/drawing/2014/main" id="{21262804-C18E-C434-6CD6-324A3E480A82}"/>
                          </a:ext>
                        </a:extLst>
                      </p:cNvPr>
                      <p:cNvPicPr/>
                      <p:nvPr/>
                    </p:nvPicPr>
                    <p:blipFill>
                      <a:blip r:embed="rId9"/>
                      <a:stretch>
                        <a:fillRect/>
                      </a:stretch>
                    </p:blipFill>
                    <p:spPr>
                      <a:xfrm>
                        <a:off x="962025" y="912813"/>
                        <a:ext cx="1125538" cy="963612"/>
                      </a:xfrm>
                      <a:prstGeom prst="rect">
                        <a:avLst/>
                      </a:prstGeom>
                    </p:spPr>
                  </p:pic>
                </p:oleObj>
              </mc:Fallback>
            </mc:AlternateContent>
          </a:graphicData>
        </a:graphic>
      </p:graphicFrame>
      <p:sp>
        <p:nvSpPr>
          <p:cNvPr id="2" name="Rectangle 5">
            <a:extLst>
              <a:ext uri="{FF2B5EF4-FFF2-40B4-BE49-F238E27FC236}">
                <a16:creationId xmlns:a16="http://schemas.microsoft.com/office/drawing/2014/main" id="{5A452447-5F97-757B-6A1C-EB9630107744}"/>
              </a:ext>
            </a:extLst>
          </p:cNvPr>
          <p:cNvSpPr/>
          <p:nvPr/>
        </p:nvSpPr>
        <p:spPr>
          <a:xfrm>
            <a:off x="9687508" y="629444"/>
            <a:ext cx="2417752" cy="430074"/>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100">
                <a:solidFill>
                  <a:schemeClr val="tx1"/>
                </a:solidFill>
              </a:rPr>
              <a:t>Total Screened P</a:t>
            </a:r>
            <a:r>
              <a:rPr lang="en-US" altLang="zh-CN" sz="1100">
                <a:solidFill>
                  <a:schemeClr val="tx1"/>
                </a:solidFill>
              </a:rPr>
              <a:t>lanned </a:t>
            </a:r>
            <a:r>
              <a:rPr lang="en-US" sz="1100">
                <a:solidFill>
                  <a:schemeClr val="tx1"/>
                </a:solidFill>
              </a:rPr>
              <a:t> = 85</a:t>
            </a:r>
          </a:p>
          <a:p>
            <a:pPr lvl="0"/>
            <a:r>
              <a:rPr lang="en-US" sz="1100">
                <a:solidFill>
                  <a:schemeClr val="tx1"/>
                </a:solidFill>
              </a:rPr>
              <a:t>Total Randomized P</a:t>
            </a:r>
            <a:r>
              <a:rPr lang="en-US" altLang="zh-CN" sz="1100">
                <a:solidFill>
                  <a:schemeClr val="tx1"/>
                </a:solidFill>
              </a:rPr>
              <a:t>lanned </a:t>
            </a:r>
            <a:r>
              <a:rPr lang="en-US" sz="1100">
                <a:solidFill>
                  <a:schemeClr val="tx1"/>
                </a:solidFill>
              </a:rPr>
              <a:t>= 60</a:t>
            </a:r>
            <a:endParaRPr lang="en-US" sz="1100" b="1">
              <a:solidFill>
                <a:schemeClr val="tx1"/>
              </a:solidFill>
            </a:endParaRPr>
          </a:p>
        </p:txBody>
      </p:sp>
      <p:sp>
        <p:nvSpPr>
          <p:cNvPr id="4" name="矩形: 圆角 3">
            <a:extLst>
              <a:ext uri="{FF2B5EF4-FFF2-40B4-BE49-F238E27FC236}">
                <a16:creationId xmlns:a16="http://schemas.microsoft.com/office/drawing/2014/main" id="{10B4390C-1984-C6C5-CABE-E3054F4F5A98}"/>
              </a:ext>
            </a:extLst>
          </p:cNvPr>
          <p:cNvSpPr/>
          <p:nvPr/>
        </p:nvSpPr>
        <p:spPr bwMode="gray">
          <a:xfrm>
            <a:off x="453870" y="559791"/>
            <a:ext cx="2716681" cy="1504999"/>
          </a:xfrm>
          <a:prstGeom prst="round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altLang="zh-CN" sz="1400">
                <a:solidFill>
                  <a:schemeClr val="tx1"/>
                </a:solidFill>
                <a:latin typeface="+mn-ea"/>
              </a:rPr>
              <a:t>Cut-off date</a:t>
            </a:r>
            <a:r>
              <a:rPr lang="zh-CN" altLang="zh-CN" sz="1400">
                <a:solidFill>
                  <a:schemeClr val="tx1"/>
                </a:solidFill>
                <a:latin typeface="+mn-ea"/>
              </a:rPr>
              <a:t>：</a:t>
            </a:r>
            <a:r>
              <a:rPr lang="en-US" altLang="zh-CN" sz="1400">
                <a:solidFill>
                  <a:schemeClr val="tx1"/>
                </a:solidFill>
                <a:latin typeface="+mn-ea"/>
              </a:rPr>
              <a:t>2Dec 2025</a:t>
            </a:r>
            <a:endParaRPr lang="zh-CN" altLang="zh-CN" sz="1400">
              <a:solidFill>
                <a:schemeClr val="tx1"/>
              </a:solidFill>
              <a:latin typeface="+mn-ea"/>
            </a:endParaRPr>
          </a:p>
          <a:p>
            <a:r>
              <a:rPr lang="en-US" altLang="zh-CN" sz="1400">
                <a:solidFill>
                  <a:schemeClr val="tx1"/>
                </a:solidFill>
                <a:latin typeface="+mn-ea"/>
              </a:rPr>
              <a:t>Total Screened</a:t>
            </a:r>
            <a:r>
              <a:rPr lang="zh-CN" altLang="zh-CN" sz="1400">
                <a:solidFill>
                  <a:schemeClr val="tx1"/>
                </a:solidFill>
                <a:latin typeface="+mn-ea"/>
              </a:rPr>
              <a:t>：</a:t>
            </a:r>
            <a:r>
              <a:rPr lang="en-US" altLang="zh-CN" sz="1400">
                <a:solidFill>
                  <a:schemeClr val="tx1"/>
                </a:solidFill>
                <a:latin typeface="+mn-ea"/>
              </a:rPr>
              <a:t>60</a:t>
            </a:r>
            <a:endParaRPr lang="zh-CN" altLang="zh-CN" sz="1400">
              <a:solidFill>
                <a:schemeClr val="tx1"/>
              </a:solidFill>
              <a:latin typeface="+mn-ea"/>
            </a:endParaRPr>
          </a:p>
          <a:p>
            <a:r>
              <a:rPr lang="en-US" altLang="zh-CN" sz="1400">
                <a:solidFill>
                  <a:schemeClr val="tx1"/>
                </a:solidFill>
                <a:latin typeface="+mn-ea"/>
              </a:rPr>
              <a:t>Total Enrolled</a:t>
            </a:r>
            <a:r>
              <a:rPr lang="zh-CN" altLang="zh-CN" sz="1400">
                <a:solidFill>
                  <a:schemeClr val="tx1"/>
                </a:solidFill>
                <a:latin typeface="+mn-ea"/>
              </a:rPr>
              <a:t>：</a:t>
            </a:r>
            <a:r>
              <a:rPr lang="en-US" altLang="zh-CN" sz="1400">
                <a:solidFill>
                  <a:schemeClr val="tx1"/>
                </a:solidFill>
                <a:latin typeface="+mn-ea"/>
              </a:rPr>
              <a:t>43</a:t>
            </a:r>
            <a:endParaRPr lang="zh-CN" altLang="zh-CN" sz="1400">
              <a:solidFill>
                <a:schemeClr val="tx1"/>
              </a:solidFill>
              <a:latin typeface="+mn-ea"/>
            </a:endParaRPr>
          </a:p>
          <a:p>
            <a:r>
              <a:rPr lang="en-US" altLang="zh-CN" sz="1400">
                <a:solidFill>
                  <a:schemeClr val="tx1"/>
                </a:solidFill>
                <a:latin typeface="+mn-ea"/>
              </a:rPr>
              <a:t>Total Screen Failed</a:t>
            </a:r>
            <a:r>
              <a:rPr lang="zh-CN" altLang="zh-CN" sz="1400">
                <a:solidFill>
                  <a:schemeClr val="tx1"/>
                </a:solidFill>
                <a:latin typeface="+mn-ea"/>
              </a:rPr>
              <a:t>：</a:t>
            </a:r>
            <a:r>
              <a:rPr lang="en-US" altLang="zh-CN" sz="1400">
                <a:solidFill>
                  <a:schemeClr val="tx1"/>
                </a:solidFill>
                <a:latin typeface="+mn-ea"/>
              </a:rPr>
              <a:t>14</a:t>
            </a:r>
            <a:endParaRPr lang="zh-CN" altLang="zh-CN" sz="1400">
              <a:solidFill>
                <a:schemeClr val="tx1"/>
              </a:solidFill>
              <a:latin typeface="+mn-ea"/>
            </a:endParaRPr>
          </a:p>
          <a:p>
            <a:r>
              <a:rPr lang="en-US" altLang="zh-CN" sz="1400">
                <a:solidFill>
                  <a:schemeClr val="tx1"/>
                </a:solidFill>
                <a:latin typeface="+mn-ea"/>
              </a:rPr>
              <a:t>In screening</a:t>
            </a:r>
            <a:r>
              <a:rPr lang="zh-CN" altLang="zh-CN" sz="1400">
                <a:solidFill>
                  <a:schemeClr val="tx1"/>
                </a:solidFill>
                <a:latin typeface="+mn-ea"/>
              </a:rPr>
              <a:t>：</a:t>
            </a:r>
            <a:r>
              <a:rPr lang="en-US" altLang="zh-CN" sz="1400">
                <a:solidFill>
                  <a:schemeClr val="tx1"/>
                </a:solidFill>
                <a:latin typeface="+mn-ea"/>
              </a:rPr>
              <a:t>3</a:t>
            </a:r>
            <a:endParaRPr lang="zh-CN" altLang="zh-CN" sz="1400">
              <a:solidFill>
                <a:schemeClr val="tx1"/>
              </a:solidFill>
              <a:latin typeface="+mn-ea"/>
            </a:endParaRPr>
          </a:p>
          <a:p>
            <a:r>
              <a:rPr lang="en-US" altLang="zh-CN" sz="1400">
                <a:solidFill>
                  <a:schemeClr val="tx1"/>
                </a:solidFill>
                <a:latin typeface="+mn-ea"/>
              </a:rPr>
              <a:t>Screen failure rate</a:t>
            </a:r>
            <a:r>
              <a:rPr lang="zh-CN" altLang="zh-CN" sz="1400">
                <a:solidFill>
                  <a:schemeClr val="tx1"/>
                </a:solidFill>
                <a:latin typeface="+mn-ea"/>
              </a:rPr>
              <a:t>：</a:t>
            </a:r>
            <a:r>
              <a:rPr lang="en-US" altLang="zh-CN" sz="1400">
                <a:solidFill>
                  <a:schemeClr val="tx1"/>
                </a:solidFill>
                <a:latin typeface="+mn-ea"/>
              </a:rPr>
              <a:t>24.6%</a:t>
            </a:r>
            <a:endParaRPr lang="zh-CN" altLang="zh-CN" sz="1400">
              <a:solidFill>
                <a:schemeClr val="tx1"/>
              </a:solidFill>
              <a:latin typeface="+mn-ea"/>
            </a:endParaRPr>
          </a:p>
        </p:txBody>
      </p:sp>
      <p:grpSp>
        <p:nvGrpSpPr>
          <p:cNvPr id="9" name="Group 62">
            <a:extLst>
              <a:ext uri="{FF2B5EF4-FFF2-40B4-BE49-F238E27FC236}">
                <a16:creationId xmlns:a16="http://schemas.microsoft.com/office/drawing/2014/main" id="{BC0F123E-936E-AE9A-A278-8272BBCFFF47}"/>
              </a:ext>
            </a:extLst>
          </p:cNvPr>
          <p:cNvGrpSpPr/>
          <p:nvPr/>
        </p:nvGrpSpPr>
        <p:grpSpPr>
          <a:xfrm>
            <a:off x="8815777" y="828042"/>
            <a:ext cx="546747" cy="5940316"/>
            <a:chOff x="1139742" y="1202981"/>
            <a:chExt cx="546747" cy="4455235"/>
          </a:xfrm>
        </p:grpSpPr>
        <p:cxnSp>
          <p:nvCxnSpPr>
            <p:cNvPr id="10" name="Straight Connector 63">
              <a:extLst>
                <a:ext uri="{FF2B5EF4-FFF2-40B4-BE49-F238E27FC236}">
                  <a16:creationId xmlns:a16="http://schemas.microsoft.com/office/drawing/2014/main" id="{6DEDE3AB-5CB8-05E5-053C-C0B4FA935D72}"/>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1" name="OTLSHAPE_T_e17f3958430f4cff8650518c93c7635e_StartDate">
              <a:extLst>
                <a:ext uri="{FF2B5EF4-FFF2-40B4-BE49-F238E27FC236}">
                  <a16:creationId xmlns:a16="http://schemas.microsoft.com/office/drawing/2014/main" id="{691D6384-0F23-1632-E550-71CDCA3B9A4E}"/>
                </a:ext>
              </a:extLst>
            </p:cNvPr>
            <p:cNvSpPr txBox="1"/>
            <p:nvPr>
              <p:custDataLst>
                <p:tags r:id="rId1"/>
              </p:custDataLst>
            </p:nvPr>
          </p:nvSpPr>
          <p:spPr>
            <a:xfrm>
              <a:off x="1139742" y="1202981"/>
              <a:ext cx="546747" cy="123159"/>
            </a:xfrm>
            <a:prstGeom prst="rect">
              <a:avLst/>
            </a:prstGeom>
            <a:solidFill>
              <a:schemeClr val="accent2"/>
            </a:solidFill>
            <a:ln w="12700">
              <a:noFill/>
            </a:ln>
          </p:spPr>
          <p:txBody>
            <a:bodyPr vert="horz" wrap="square" lIns="0" tIns="0" rIns="0" bIns="0" rtlCol="0" anchor="ctr" anchorCtr="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effectLst/>
                  <a:uLnTx/>
                  <a:uFillTx/>
                  <a:latin typeface="Boehringer Forward Text"/>
                  <a:ea typeface="+mn-ea"/>
                  <a:cs typeface="Calibri" panose="020F0502020204030204" pitchFamily="34" charset="0"/>
                </a:rPr>
                <a:t>Acc. LPI</a:t>
              </a:r>
              <a:endParaRPr kumimoji="0" lang="zh-CN" altLang="en-US" sz="1067" b="1" i="0" u="none" strike="noStrike" kern="1200" cap="none" spc="0" normalizeH="0" baseline="0" noProof="0">
                <a:ln>
                  <a:noFill/>
                </a:ln>
                <a:effectLst/>
                <a:uLnTx/>
                <a:uFillTx/>
                <a:latin typeface="Boehringer Forward Text"/>
                <a:ea typeface="+mn-ea"/>
                <a:cs typeface="Calibri" panose="020F0502020204030204" pitchFamily="34" charset="0"/>
              </a:endParaRPr>
            </a:p>
          </p:txBody>
        </p:sp>
      </p:grpSp>
    </p:spTree>
    <p:extLst>
      <p:ext uri="{BB962C8B-B14F-4D97-AF65-F5344CB8AC3E}">
        <p14:creationId xmlns:p14="http://schemas.microsoft.com/office/powerpoint/2010/main" val="884556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4B074-CA88-671D-1F31-F9BF581EEED4}"/>
            </a:ext>
          </a:extLst>
        </p:cNvPr>
        <p:cNvGrpSpPr/>
        <p:nvPr/>
      </p:nvGrpSpPr>
      <p:grpSpPr>
        <a:xfrm>
          <a:off x="0" y="0"/>
          <a:ext cx="0" cy="0"/>
          <a:chOff x="0" y="0"/>
          <a:chExt cx="0" cy="0"/>
        </a:xfrm>
      </p:grpSpPr>
      <p:graphicFrame>
        <p:nvGraphicFramePr>
          <p:cNvPr id="6" name="Chart 6">
            <a:extLst>
              <a:ext uri="{FF2B5EF4-FFF2-40B4-BE49-F238E27FC236}">
                <a16:creationId xmlns:a16="http://schemas.microsoft.com/office/drawing/2014/main" id="{73207099-613B-4188-B37D-91BA5B30A0AB}"/>
              </a:ext>
            </a:extLst>
          </p:cNvPr>
          <p:cNvGraphicFramePr>
            <a:graphicFrameLocks/>
          </p:cNvGraphicFramePr>
          <p:nvPr/>
        </p:nvGraphicFramePr>
        <p:xfrm>
          <a:off x="-4" y="641400"/>
          <a:ext cx="12192000" cy="4295196"/>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F47B5480-FCEE-313F-4CFD-5F8FE85EE5AC}"/>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18" name="Title 1">
            <a:extLst>
              <a:ext uri="{FF2B5EF4-FFF2-40B4-BE49-F238E27FC236}">
                <a16:creationId xmlns:a16="http://schemas.microsoft.com/office/drawing/2014/main" id="{F0170D64-4F20-6A99-63BB-62505917FE99}"/>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23" name="标题 2">
            <a:extLst>
              <a:ext uri="{FF2B5EF4-FFF2-40B4-BE49-F238E27FC236}">
                <a16:creationId xmlns:a16="http://schemas.microsoft.com/office/drawing/2014/main" id="{4C3AD7AF-77A6-E5E2-A063-7B4EAB3230DB}"/>
              </a:ext>
            </a:extLst>
          </p:cNvPr>
          <p:cNvSpPr>
            <a:spLocks noGrp="1"/>
          </p:cNvSpPr>
          <p:nvPr>
            <p:ph type="title"/>
          </p:nvPr>
        </p:nvSpPr>
        <p:spPr>
          <a:xfrm>
            <a:off x="-1" y="257617"/>
            <a:ext cx="12079706" cy="553999"/>
          </a:xfrm>
        </p:spPr>
        <p:txBody>
          <a:bodyPr wrap="square" anchor="t">
            <a:normAutofit/>
          </a:bodyPr>
          <a:lstStyle/>
          <a:p>
            <a:r>
              <a:rPr lang="en-US" altLang="zh-CN" sz="2400"/>
              <a:t>1463-0001 CD137/FAP 1L HNSCC dated on 2Dec 2025 </a:t>
            </a:r>
            <a:r>
              <a:rPr lang="en-US" altLang="zh-CN" sz="2400" i="1">
                <a:solidFill>
                  <a:srgbClr val="EE6541"/>
                </a:solidFill>
              </a:rPr>
              <a:t>(China recruitment status)</a:t>
            </a:r>
          </a:p>
        </p:txBody>
      </p:sp>
      <p:graphicFrame>
        <p:nvGraphicFramePr>
          <p:cNvPr id="24" name="表格 23">
            <a:extLst>
              <a:ext uri="{FF2B5EF4-FFF2-40B4-BE49-F238E27FC236}">
                <a16:creationId xmlns:a16="http://schemas.microsoft.com/office/drawing/2014/main" id="{AD973CDA-EAA9-EC47-B53F-2C52C08738F0}"/>
              </a:ext>
            </a:extLst>
          </p:cNvPr>
          <p:cNvGraphicFramePr>
            <a:graphicFrameLocks noGrp="1"/>
          </p:cNvGraphicFramePr>
          <p:nvPr/>
        </p:nvGraphicFramePr>
        <p:xfrm>
          <a:off x="25555" y="4936596"/>
          <a:ext cx="12166449" cy="1831762"/>
        </p:xfrm>
        <a:graphic>
          <a:graphicData uri="http://schemas.openxmlformats.org/drawingml/2006/table">
            <a:tbl>
              <a:tblPr>
                <a:tableStyleId>{9D7B26C5-4107-4FEC-AEDC-1716B250A1EF}</a:tableStyleId>
              </a:tblPr>
              <a:tblGrid>
                <a:gridCol w="883869">
                  <a:extLst>
                    <a:ext uri="{9D8B030D-6E8A-4147-A177-3AD203B41FA5}">
                      <a16:colId xmlns:a16="http://schemas.microsoft.com/office/drawing/2014/main" val="3473625976"/>
                    </a:ext>
                  </a:extLst>
                </a:gridCol>
                <a:gridCol w="593820">
                  <a:extLst>
                    <a:ext uri="{9D8B030D-6E8A-4147-A177-3AD203B41FA5}">
                      <a16:colId xmlns:a16="http://schemas.microsoft.com/office/drawing/2014/main" val="1006931387"/>
                    </a:ext>
                  </a:extLst>
                </a:gridCol>
                <a:gridCol w="593820">
                  <a:extLst>
                    <a:ext uri="{9D8B030D-6E8A-4147-A177-3AD203B41FA5}">
                      <a16:colId xmlns:a16="http://schemas.microsoft.com/office/drawing/2014/main" val="1580186530"/>
                    </a:ext>
                  </a:extLst>
                </a:gridCol>
                <a:gridCol w="593820">
                  <a:extLst>
                    <a:ext uri="{9D8B030D-6E8A-4147-A177-3AD203B41FA5}">
                      <a16:colId xmlns:a16="http://schemas.microsoft.com/office/drawing/2014/main" val="2077854728"/>
                    </a:ext>
                  </a:extLst>
                </a:gridCol>
                <a:gridCol w="593820">
                  <a:extLst>
                    <a:ext uri="{9D8B030D-6E8A-4147-A177-3AD203B41FA5}">
                      <a16:colId xmlns:a16="http://schemas.microsoft.com/office/drawing/2014/main" val="1923209731"/>
                    </a:ext>
                  </a:extLst>
                </a:gridCol>
                <a:gridCol w="593820">
                  <a:extLst>
                    <a:ext uri="{9D8B030D-6E8A-4147-A177-3AD203B41FA5}">
                      <a16:colId xmlns:a16="http://schemas.microsoft.com/office/drawing/2014/main" val="1904945596"/>
                    </a:ext>
                  </a:extLst>
                </a:gridCol>
                <a:gridCol w="593820">
                  <a:extLst>
                    <a:ext uri="{9D8B030D-6E8A-4147-A177-3AD203B41FA5}">
                      <a16:colId xmlns:a16="http://schemas.microsoft.com/office/drawing/2014/main" val="3832727492"/>
                    </a:ext>
                  </a:extLst>
                </a:gridCol>
                <a:gridCol w="593820">
                  <a:extLst>
                    <a:ext uri="{9D8B030D-6E8A-4147-A177-3AD203B41FA5}">
                      <a16:colId xmlns:a16="http://schemas.microsoft.com/office/drawing/2014/main" val="3120066975"/>
                    </a:ext>
                  </a:extLst>
                </a:gridCol>
                <a:gridCol w="593820">
                  <a:extLst>
                    <a:ext uri="{9D8B030D-6E8A-4147-A177-3AD203B41FA5}">
                      <a16:colId xmlns:a16="http://schemas.microsoft.com/office/drawing/2014/main" val="3924652231"/>
                    </a:ext>
                  </a:extLst>
                </a:gridCol>
                <a:gridCol w="593820">
                  <a:extLst>
                    <a:ext uri="{9D8B030D-6E8A-4147-A177-3AD203B41FA5}">
                      <a16:colId xmlns:a16="http://schemas.microsoft.com/office/drawing/2014/main" val="139508724"/>
                    </a:ext>
                  </a:extLst>
                </a:gridCol>
                <a:gridCol w="593820">
                  <a:extLst>
                    <a:ext uri="{9D8B030D-6E8A-4147-A177-3AD203B41FA5}">
                      <a16:colId xmlns:a16="http://schemas.microsoft.com/office/drawing/2014/main" val="1582784343"/>
                    </a:ext>
                  </a:extLst>
                </a:gridCol>
                <a:gridCol w="593820">
                  <a:extLst>
                    <a:ext uri="{9D8B030D-6E8A-4147-A177-3AD203B41FA5}">
                      <a16:colId xmlns:a16="http://schemas.microsoft.com/office/drawing/2014/main" val="4187133416"/>
                    </a:ext>
                  </a:extLst>
                </a:gridCol>
                <a:gridCol w="593820">
                  <a:extLst>
                    <a:ext uri="{9D8B030D-6E8A-4147-A177-3AD203B41FA5}">
                      <a16:colId xmlns:a16="http://schemas.microsoft.com/office/drawing/2014/main" val="3581936348"/>
                    </a:ext>
                  </a:extLst>
                </a:gridCol>
                <a:gridCol w="593820">
                  <a:extLst>
                    <a:ext uri="{9D8B030D-6E8A-4147-A177-3AD203B41FA5}">
                      <a16:colId xmlns:a16="http://schemas.microsoft.com/office/drawing/2014/main" val="2530529000"/>
                    </a:ext>
                  </a:extLst>
                </a:gridCol>
                <a:gridCol w="593820">
                  <a:extLst>
                    <a:ext uri="{9D8B030D-6E8A-4147-A177-3AD203B41FA5}">
                      <a16:colId xmlns:a16="http://schemas.microsoft.com/office/drawing/2014/main" val="3846253994"/>
                    </a:ext>
                  </a:extLst>
                </a:gridCol>
                <a:gridCol w="593820">
                  <a:extLst>
                    <a:ext uri="{9D8B030D-6E8A-4147-A177-3AD203B41FA5}">
                      <a16:colId xmlns:a16="http://schemas.microsoft.com/office/drawing/2014/main" val="420172467"/>
                    </a:ext>
                  </a:extLst>
                </a:gridCol>
                <a:gridCol w="593820">
                  <a:extLst>
                    <a:ext uri="{9D8B030D-6E8A-4147-A177-3AD203B41FA5}">
                      <a16:colId xmlns:a16="http://schemas.microsoft.com/office/drawing/2014/main" val="2349683200"/>
                    </a:ext>
                  </a:extLst>
                </a:gridCol>
                <a:gridCol w="593820">
                  <a:extLst>
                    <a:ext uri="{9D8B030D-6E8A-4147-A177-3AD203B41FA5}">
                      <a16:colId xmlns:a16="http://schemas.microsoft.com/office/drawing/2014/main" val="232587003"/>
                    </a:ext>
                  </a:extLst>
                </a:gridCol>
                <a:gridCol w="593820">
                  <a:extLst>
                    <a:ext uri="{9D8B030D-6E8A-4147-A177-3AD203B41FA5}">
                      <a16:colId xmlns:a16="http://schemas.microsoft.com/office/drawing/2014/main" val="3893228783"/>
                    </a:ext>
                  </a:extLst>
                </a:gridCol>
                <a:gridCol w="593820">
                  <a:extLst>
                    <a:ext uri="{9D8B030D-6E8A-4147-A177-3AD203B41FA5}">
                      <a16:colId xmlns:a16="http://schemas.microsoft.com/office/drawing/2014/main" val="1810682300"/>
                    </a:ext>
                  </a:extLst>
                </a:gridCol>
              </a:tblGrid>
              <a:tr h="329353">
                <a:tc>
                  <a:txBody>
                    <a:bodyPr/>
                    <a:lstStyle/>
                    <a:p>
                      <a:pPr algn="l" fontAlgn="t"/>
                      <a:r>
                        <a:rPr lang="en-US" sz="1050" b="1" u="none" strike="noStrike">
                          <a:effectLst/>
                        </a:rPr>
                        <a:t> Months</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Apr-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May-</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Jul-</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Aug-</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Sep-</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Oct-</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Nov-</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Dec-</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Jan-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Feb-</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Apr-</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May-</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Jun-</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Jul-</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Aug-</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Sep-</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Oct-</a:t>
                      </a:r>
                    </a:p>
                    <a:p>
                      <a:pPr algn="ctr" rtl="0" fontAlgn="b"/>
                      <a:r>
                        <a:rPr lang="sv-SE" sz="1400" b="0" i="0" u="none" strike="noStrike">
                          <a:solidFill>
                            <a:srgbClr val="000000"/>
                          </a:solidFill>
                          <a:effectLst/>
                          <a:latin typeface="Calibri" panose="020F0502020204030204" pitchFamily="34" charset="0"/>
                          <a:ea typeface="等线" panose="02010600030101010101" pitchFamily="2" charset="-122"/>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91805895"/>
                  </a:ext>
                </a:extLst>
              </a:tr>
              <a:tr h="329353">
                <a:tc>
                  <a:txBody>
                    <a:bodyPr/>
                    <a:lstStyle/>
                    <a:p>
                      <a:pPr marL="0" algn="l" defTabSz="914400" rtl="0" eaLnBrk="1" fontAlgn="t" latinLnBrk="0" hangingPunct="1"/>
                      <a:r>
                        <a:rPr lang="en-US" altLang="zh-CN" sz="1050" u="none" strike="noStrike" kern="1200">
                          <a:solidFill>
                            <a:schemeClr val="dk1"/>
                          </a:solidFill>
                          <a:effectLst/>
                        </a:rPr>
                        <a:t>Screening</a:t>
                      </a:r>
                    </a:p>
                    <a:p>
                      <a:pPr marL="0" algn="l" defTabSz="914400" rtl="0" eaLnBrk="1" fontAlgn="t" latinLnBrk="0" hangingPunct="1"/>
                      <a:r>
                        <a:rPr lang="en-US" altLang="zh-CN" sz="1050" u="none" strike="noStrike" kern="1200">
                          <a:solidFill>
                            <a:schemeClr val="dk1"/>
                          </a:solidFill>
                          <a:effectLst/>
                        </a:rPr>
                        <a:t>(planned)</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altLang="zh-CN" sz="1100" b="0" i="0" u="none" strike="noStrike">
                          <a:solidFill>
                            <a:srgbClr val="000000"/>
                          </a:solidFill>
                          <a:effectLst/>
                          <a:latin typeface="+mn-ea"/>
                          <a:ea typeface="+mn-ea"/>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b"/>
                      <a:r>
                        <a:rPr lang="en-US" altLang="zh-CN" sz="1100" b="0" i="0" u="none" strike="noStrike">
                          <a:solidFill>
                            <a:srgbClr val="000000"/>
                          </a:solidFill>
                          <a:effectLst/>
                          <a:latin typeface="+mn-ea"/>
                          <a:ea typeface="+mn-ea"/>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0073539"/>
                  </a:ext>
                </a:extLst>
              </a:tr>
              <a:tr h="369993">
                <a:tc>
                  <a:txBody>
                    <a:bodyPr/>
                    <a:lstStyle/>
                    <a:p>
                      <a:r>
                        <a:rPr lang="en-US" altLang="zh-CN" sz="1050" u="none" strike="noStrike" kern="1200">
                          <a:solidFill>
                            <a:schemeClr val="dk1"/>
                          </a:solidFill>
                          <a:effectLst/>
                        </a:rPr>
                        <a:t>Screening</a:t>
                      </a:r>
                    </a:p>
                    <a:p>
                      <a:r>
                        <a:rPr lang="en-US" altLang="zh-CN" sz="1050" u="none" strike="noStrike" kern="1200">
                          <a:solidFill>
                            <a:schemeClr val="dk1"/>
                          </a:solidFill>
                          <a:effectLst/>
                        </a:rPr>
                        <a:t>(Actual)</a:t>
                      </a:r>
                      <a:endParaRPr lang="zh-CN" altLang="en-US" sz="1050" u="none" strike="noStrike" kern="1200">
                        <a:solidFill>
                          <a:schemeClr val="dk1"/>
                        </a:solidFill>
                        <a:effectLst/>
                        <a:latin typeface="+mn-lt"/>
                        <a:ea typeface="+mn-ea"/>
                        <a:cs typeface="+mn-cs"/>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b"/>
                      <a:r>
                        <a:rPr lang="en-US" altLang="zh-CN" sz="1100" b="0" i="0" u="none" strike="noStrike">
                          <a:solidFill>
                            <a:srgbClr val="000000"/>
                          </a:solidFill>
                          <a:effectLst/>
                          <a:latin typeface="+mn-ea"/>
                          <a:ea typeface="+mn-ea"/>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9</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0" i="0" u="none" strike="noStrike">
                          <a:solidFill>
                            <a:srgbClr val="000000"/>
                          </a:solidFill>
                          <a:effectLst/>
                          <a:latin typeface="+mn-ea"/>
                          <a:ea typeface="+mn-ea"/>
                        </a:rPr>
                        <a:t>10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r>
                        <a:rPr lang="en-US" altLang="zh-CN" sz="1100" b="1" i="0" u="none" strike="noStrike">
                          <a:solidFill>
                            <a:srgbClr val="000000"/>
                          </a:solidFill>
                          <a:effectLst/>
                          <a:latin typeface="+mn-ea"/>
                          <a:ea typeface="+mn-ea"/>
                        </a:rPr>
                        <a:t>11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t"/>
                      <a:endParaRPr lang="en-US" altLang="zh-CN" sz="1100" b="0" i="0" u="none" strike="noStrike">
                        <a:solidFill>
                          <a:srgbClr val="000000"/>
                        </a:solidFill>
                        <a:effectLst/>
                        <a:latin typeface="+mn-ea"/>
                        <a:ea typeface="+mn-ea"/>
                      </a:endParaRPr>
                    </a:p>
                  </a:txBody>
                  <a:tcPr marL="12700" marR="12700" marT="127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3102915"/>
                  </a:ext>
                </a:extLst>
              </a:tr>
              <a:tr h="329353">
                <a:tc>
                  <a:txBody>
                    <a:bodyPr/>
                    <a:lstStyle/>
                    <a:p>
                      <a:pPr algn="l" fontAlgn="t"/>
                      <a:r>
                        <a:rPr lang="en-US" sz="1050" u="none" strike="noStrike">
                          <a:effectLst/>
                        </a:rPr>
                        <a:t>Randomized</a:t>
                      </a:r>
                    </a:p>
                    <a:p>
                      <a:pPr algn="l" fontAlgn="t"/>
                      <a:r>
                        <a:rPr lang="en-US" sz="1050" u="none" strike="noStrike">
                          <a:effectLst/>
                        </a:rPr>
                        <a:t> (Planned)</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rtl="0" fontAlgn="ctr"/>
                      <a:r>
                        <a:rPr lang="en-US" altLang="zh-CN" sz="1100" b="0" i="0" u="none" strike="noStrike">
                          <a:solidFill>
                            <a:srgbClr val="000000"/>
                          </a:solidFill>
                          <a:effectLst/>
                          <a:latin typeface="+mn-ea"/>
                          <a:ea typeface="+mn-ea"/>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altLang="zh-CN" sz="1100" b="0" i="0" u="none" strike="noStrike">
                          <a:solidFill>
                            <a:srgbClr val="000000"/>
                          </a:solidFill>
                          <a:effectLst/>
                          <a:latin typeface="+mn-ea"/>
                          <a:ea typeface="+mn-ea"/>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altLang="zh-CN" sz="1100" b="0" i="0" u="none" strike="noStrike">
                          <a:solidFill>
                            <a:srgbClr val="000000"/>
                          </a:solidFill>
                          <a:effectLst/>
                          <a:latin typeface="+mn-ea"/>
                          <a:ea typeface="+mn-ea"/>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altLang="zh-CN" sz="1100" b="0" i="0" u="none" strike="noStrike">
                          <a:solidFill>
                            <a:srgbClr val="000000"/>
                          </a:solidFill>
                          <a:effectLst/>
                          <a:latin typeface="+mn-ea"/>
                          <a:ea typeface="+mn-ea"/>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altLang="zh-CN" sz="1100" b="0" i="0" u="none" strike="noStrike">
                          <a:solidFill>
                            <a:srgbClr val="000000"/>
                          </a:solidFill>
                          <a:effectLst/>
                          <a:latin typeface="+mn-ea"/>
                          <a:ea typeface="+mn-ea"/>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ctr"/>
                      <a:r>
                        <a:rPr lang="en-US" altLang="zh-CN" sz="1100" b="0" i="0" u="none" strike="noStrike">
                          <a:solidFill>
                            <a:srgbClr val="000000"/>
                          </a:solidFill>
                          <a:effectLst/>
                          <a:latin typeface="+mn-ea"/>
                          <a:ea typeface="+mn-ea"/>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1100" b="0" i="0" u="none" strike="noStrike">
                          <a:solidFill>
                            <a:srgbClr val="000000"/>
                          </a:solidFill>
                          <a:effectLst/>
                          <a:latin typeface="+mn-ea"/>
                          <a:ea typeface="+mn-ea"/>
                        </a:rPr>
                        <a:t>6</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8496749"/>
                  </a:ext>
                </a:extLst>
              </a:tr>
              <a:tr h="369993">
                <a:tc>
                  <a:txBody>
                    <a:bodyPr/>
                    <a:lstStyle/>
                    <a:p>
                      <a:pPr algn="l" fontAlgn="t"/>
                      <a:r>
                        <a:rPr lang="en-US" sz="1050" u="none" strike="noStrike">
                          <a:effectLst/>
                        </a:rPr>
                        <a:t>Randomized (Actual)</a:t>
                      </a:r>
                      <a:endParaRPr lang="en-US" sz="1050" b="1" i="0" u="none" strike="noStrike">
                        <a:solidFill>
                          <a:srgbClr val="000000"/>
                        </a:solidFill>
                        <a:effectLst/>
                        <a:latin typeface="+mn-lt"/>
                        <a:ea typeface="等线" panose="02010600030101010101" pitchFamily="2" charset="-122"/>
                      </a:endParaRPr>
                    </a:p>
                  </a:txBody>
                  <a:tcPr marL="4233" marR="4233" marT="4233" marB="0" anchor="ctr">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accent2"/>
                    </a:solidFill>
                  </a:tcPr>
                </a:tc>
                <a:tc>
                  <a:txBody>
                    <a:bodyPr/>
                    <a:lstStyle/>
                    <a:p>
                      <a:pPr algn="ctr" rtl="0" fontAlgn="b"/>
                      <a:r>
                        <a:rPr lang="en-US" altLang="zh-CN" sz="1100" b="0" i="0" u="none" strike="noStrike">
                          <a:solidFill>
                            <a:srgbClr val="000000"/>
                          </a:solidFill>
                          <a:effectLst/>
                          <a:latin typeface="+mn-ea"/>
                          <a:ea typeface="+mn-ea"/>
                        </a:rPr>
                        <a:t>0</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altLang="zh-CN" sz="1100" b="0" i="0" u="none" strike="noStrike">
                          <a:solidFill>
                            <a:srgbClr val="000000"/>
                          </a:solidFill>
                          <a:effectLst/>
                          <a:latin typeface="+mn-ea"/>
                          <a:ea typeface="+mn-ea"/>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rtl="0" fontAlgn="b"/>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altLang="zh-CN" sz="1100" b="0" i="0" u="none" strike="noStrike">
                          <a:solidFill>
                            <a:srgbClr val="000000"/>
                          </a:solidFill>
                          <a:effectLst/>
                          <a:latin typeface="+mn-ea"/>
                          <a:ea typeface="+mn-ea"/>
                        </a:rPr>
                        <a:t>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altLang="zh-CN" sz="1100" b="0" i="0" u="none" strike="noStrike">
                          <a:solidFill>
                            <a:srgbClr val="000000"/>
                          </a:solidFill>
                          <a:effectLst/>
                          <a:latin typeface="+mn-ea"/>
                          <a:ea typeface="+mn-ea"/>
                        </a:rPr>
                        <a:t>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r>
                        <a:rPr lang="en-US" altLang="zh-CN" sz="1100" b="1" i="0" u="none" strike="noStrike">
                          <a:solidFill>
                            <a:srgbClr val="000000"/>
                          </a:solidFill>
                          <a:effectLst/>
                          <a:latin typeface="+mn-ea"/>
                          <a:ea typeface="+mn-ea"/>
                        </a:rPr>
                        <a:t>7</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fontAlgn="t"/>
                      <a:endParaRPr lang="en-US" altLang="zh-CN" sz="1100" b="0" i="0" u="none" strike="noStrike">
                        <a:solidFill>
                          <a:srgbClr val="000000"/>
                        </a:solidFill>
                        <a:effectLst/>
                        <a:latin typeface="+mn-ea"/>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b="0" u="none" strike="noStrike" kern="1200">
                        <a:solidFill>
                          <a:schemeClr val="dk1"/>
                        </a:solidFill>
                        <a:effectLst/>
                        <a:latin typeface="+mn-ea"/>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b="0" u="none" strike="noStrike" kern="1200">
                        <a:solidFill>
                          <a:schemeClr val="dk1"/>
                        </a:solidFill>
                        <a:effectLst/>
                        <a:latin typeface="+mn-ea"/>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marL="0" algn="ctr" defTabSz="914400" rtl="0" eaLnBrk="1" fontAlgn="t" latinLnBrk="0" hangingPunct="1"/>
                      <a:endParaRPr lang="zh-CN" altLang="en-US" sz="1100" b="0" u="none" strike="noStrike" kern="1200">
                        <a:solidFill>
                          <a:schemeClr val="dk1"/>
                        </a:solidFill>
                        <a:effectLst/>
                        <a:latin typeface="+mn-ea"/>
                        <a:ea typeface="+mn-ea"/>
                        <a:cs typeface="Calibri" panose="020F0502020204030204" pitchFamily="34" charset="0"/>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tc>
                  <a:txBody>
                    <a:bodyPr/>
                    <a:lstStyle/>
                    <a:p>
                      <a:pPr algn="ctr"/>
                      <a:endParaRPr lang="zh-CN" altLang="en-US" sz="1100" b="0">
                        <a:latin typeface="+mn-ea"/>
                        <a:ea typeface="+mn-ea"/>
                      </a:endParaRPr>
                    </a:p>
                  </a:txBody>
                  <a:tcPr marL="4233" marR="4233" marT="4233"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468033553"/>
                  </a:ext>
                </a:extLst>
              </a:tr>
            </a:tbl>
          </a:graphicData>
        </a:graphic>
      </p:graphicFrame>
      <p:sp>
        <p:nvSpPr>
          <p:cNvPr id="27" name="矩形 26">
            <a:extLst>
              <a:ext uri="{FF2B5EF4-FFF2-40B4-BE49-F238E27FC236}">
                <a16:creationId xmlns:a16="http://schemas.microsoft.com/office/drawing/2014/main" id="{C9FDF74D-67F6-2562-D34A-AEAA12A0F8C2}"/>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28" name="对象 27">
            <a:extLst>
              <a:ext uri="{FF2B5EF4-FFF2-40B4-BE49-F238E27FC236}">
                <a16:creationId xmlns:a16="http://schemas.microsoft.com/office/drawing/2014/main" id="{84514BAA-EE93-EA0D-443E-3744417F3276}"/>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3" imgW="834480" imgH="714960" progId="Excel.Sheet.12">
                  <p:embed/>
                </p:oleObj>
              </mc:Choice>
              <mc:Fallback>
                <p:oleObj name="Worksheet" showAsIcon="1" r:id="rId3" imgW="834480" imgH="714960" progId="Excel.Sheet.12">
                  <p:embed/>
                  <p:pic>
                    <p:nvPicPr>
                      <p:cNvPr id="28" name="对象 27">
                        <a:extLst>
                          <a:ext uri="{FF2B5EF4-FFF2-40B4-BE49-F238E27FC236}">
                            <a16:creationId xmlns:a16="http://schemas.microsoft.com/office/drawing/2014/main" id="{84514BAA-EE93-EA0D-443E-3744417F3276}"/>
                          </a:ext>
                        </a:extLst>
                      </p:cNvPr>
                      <p:cNvPicPr/>
                      <p:nvPr/>
                    </p:nvPicPr>
                    <p:blipFill>
                      <a:blip r:embed="rId4"/>
                      <a:stretch>
                        <a:fillRect/>
                      </a:stretch>
                    </p:blipFill>
                    <p:spPr>
                      <a:xfrm>
                        <a:off x="962025" y="912813"/>
                        <a:ext cx="1125538" cy="963612"/>
                      </a:xfrm>
                      <a:prstGeom prst="rect">
                        <a:avLst/>
                      </a:prstGeom>
                    </p:spPr>
                  </p:pic>
                </p:oleObj>
              </mc:Fallback>
            </mc:AlternateContent>
          </a:graphicData>
        </a:graphic>
      </p:graphicFrame>
      <p:sp>
        <p:nvSpPr>
          <p:cNvPr id="2" name="Rectangle 5">
            <a:extLst>
              <a:ext uri="{FF2B5EF4-FFF2-40B4-BE49-F238E27FC236}">
                <a16:creationId xmlns:a16="http://schemas.microsoft.com/office/drawing/2014/main" id="{2857A58C-AFEC-71A8-E3E1-6849486F6884}"/>
              </a:ext>
            </a:extLst>
          </p:cNvPr>
          <p:cNvSpPr/>
          <p:nvPr/>
        </p:nvSpPr>
        <p:spPr>
          <a:xfrm>
            <a:off x="7875360" y="641400"/>
            <a:ext cx="2417752" cy="430074"/>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100">
                <a:solidFill>
                  <a:schemeClr val="tx1"/>
                </a:solidFill>
              </a:rPr>
              <a:t>Total Screened P</a:t>
            </a:r>
            <a:r>
              <a:rPr lang="en-US" altLang="zh-CN" sz="1100">
                <a:solidFill>
                  <a:schemeClr val="tx1"/>
                </a:solidFill>
              </a:rPr>
              <a:t>lanned </a:t>
            </a:r>
            <a:r>
              <a:rPr lang="en-US" sz="1100">
                <a:solidFill>
                  <a:schemeClr val="tx1"/>
                </a:solidFill>
              </a:rPr>
              <a:t> = 13</a:t>
            </a:r>
          </a:p>
          <a:p>
            <a:pPr lvl="0"/>
            <a:r>
              <a:rPr lang="en-US" sz="1100">
                <a:solidFill>
                  <a:schemeClr val="tx1"/>
                </a:solidFill>
              </a:rPr>
              <a:t>Total Randomized P</a:t>
            </a:r>
            <a:r>
              <a:rPr lang="en-US" altLang="zh-CN" sz="1100">
                <a:solidFill>
                  <a:schemeClr val="tx1"/>
                </a:solidFill>
              </a:rPr>
              <a:t>lanned </a:t>
            </a:r>
            <a:r>
              <a:rPr lang="en-US" sz="1100">
                <a:solidFill>
                  <a:schemeClr val="tx1"/>
                </a:solidFill>
              </a:rPr>
              <a:t>= 6</a:t>
            </a:r>
            <a:endParaRPr lang="en-US" sz="1100" b="1">
              <a:solidFill>
                <a:schemeClr val="tx1"/>
              </a:solidFill>
            </a:endParaRPr>
          </a:p>
        </p:txBody>
      </p:sp>
      <p:sp>
        <p:nvSpPr>
          <p:cNvPr id="4" name="矩形: 圆角 3">
            <a:extLst>
              <a:ext uri="{FF2B5EF4-FFF2-40B4-BE49-F238E27FC236}">
                <a16:creationId xmlns:a16="http://schemas.microsoft.com/office/drawing/2014/main" id="{B9CC63B3-E3F8-CA9B-1235-1A543A85CBEB}"/>
              </a:ext>
            </a:extLst>
          </p:cNvPr>
          <p:cNvSpPr/>
          <p:nvPr/>
        </p:nvSpPr>
        <p:spPr bwMode="gray">
          <a:xfrm>
            <a:off x="370594" y="634038"/>
            <a:ext cx="2148128" cy="1335551"/>
          </a:xfrm>
          <a:prstGeom prst="round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altLang="zh-CN" sz="1200">
                <a:solidFill>
                  <a:schemeClr val="tx1"/>
                </a:solidFill>
                <a:latin typeface="+mn-ea"/>
              </a:rPr>
              <a:t>Cut-off date</a:t>
            </a:r>
            <a:r>
              <a:rPr lang="zh-CN" altLang="zh-CN" sz="1200">
                <a:solidFill>
                  <a:schemeClr val="tx1"/>
                </a:solidFill>
                <a:latin typeface="+mn-ea"/>
              </a:rPr>
              <a:t>：</a:t>
            </a:r>
            <a:r>
              <a:rPr lang="en-US" altLang="zh-CN" sz="1200">
                <a:solidFill>
                  <a:schemeClr val="tx1"/>
                </a:solidFill>
                <a:latin typeface="+mn-ea"/>
              </a:rPr>
              <a:t>2Dec 2025</a:t>
            </a:r>
            <a:endParaRPr lang="zh-CN" altLang="zh-CN" sz="1200">
              <a:solidFill>
                <a:schemeClr val="tx1"/>
              </a:solidFill>
              <a:latin typeface="+mn-ea"/>
            </a:endParaRPr>
          </a:p>
          <a:p>
            <a:r>
              <a:rPr lang="en-US" altLang="zh-CN" sz="1200">
                <a:solidFill>
                  <a:schemeClr val="tx1"/>
                </a:solidFill>
                <a:latin typeface="+mn-ea"/>
              </a:rPr>
              <a:t>Total Screened</a:t>
            </a:r>
            <a:r>
              <a:rPr lang="zh-CN" altLang="zh-CN" sz="1200">
                <a:solidFill>
                  <a:schemeClr val="tx1"/>
                </a:solidFill>
                <a:latin typeface="+mn-ea"/>
              </a:rPr>
              <a:t>：</a:t>
            </a:r>
            <a:r>
              <a:rPr lang="en-US" altLang="zh-CN" sz="1200">
                <a:solidFill>
                  <a:schemeClr val="tx1"/>
                </a:solidFill>
                <a:latin typeface="+mn-ea"/>
              </a:rPr>
              <a:t>11</a:t>
            </a:r>
            <a:endParaRPr lang="zh-CN" altLang="zh-CN" sz="1200">
              <a:solidFill>
                <a:schemeClr val="tx1"/>
              </a:solidFill>
              <a:latin typeface="+mn-ea"/>
            </a:endParaRPr>
          </a:p>
          <a:p>
            <a:r>
              <a:rPr lang="en-US" altLang="zh-CN" sz="1200">
                <a:solidFill>
                  <a:schemeClr val="tx1"/>
                </a:solidFill>
                <a:latin typeface="+mn-ea"/>
              </a:rPr>
              <a:t>Total Enrolled</a:t>
            </a:r>
            <a:r>
              <a:rPr lang="zh-CN" altLang="zh-CN" sz="1200">
                <a:solidFill>
                  <a:schemeClr val="tx1"/>
                </a:solidFill>
                <a:latin typeface="+mn-ea"/>
              </a:rPr>
              <a:t>：</a:t>
            </a:r>
            <a:r>
              <a:rPr lang="en-US" altLang="zh-CN" sz="1200">
                <a:solidFill>
                  <a:schemeClr val="tx1"/>
                </a:solidFill>
                <a:latin typeface="+mn-ea"/>
              </a:rPr>
              <a:t>7</a:t>
            </a:r>
            <a:endParaRPr lang="zh-CN" altLang="zh-CN" sz="1200">
              <a:solidFill>
                <a:schemeClr val="tx1"/>
              </a:solidFill>
              <a:latin typeface="+mn-ea"/>
            </a:endParaRPr>
          </a:p>
          <a:p>
            <a:r>
              <a:rPr lang="en-US" altLang="zh-CN" sz="1200">
                <a:solidFill>
                  <a:schemeClr val="tx1"/>
                </a:solidFill>
                <a:latin typeface="+mn-ea"/>
              </a:rPr>
              <a:t>Total Screen Failed</a:t>
            </a:r>
            <a:r>
              <a:rPr lang="zh-CN" altLang="zh-CN" sz="1200">
                <a:solidFill>
                  <a:schemeClr val="tx1"/>
                </a:solidFill>
                <a:latin typeface="+mn-ea"/>
              </a:rPr>
              <a:t>：</a:t>
            </a:r>
            <a:r>
              <a:rPr lang="en-US" altLang="zh-CN" sz="1200">
                <a:solidFill>
                  <a:schemeClr val="tx1"/>
                </a:solidFill>
                <a:latin typeface="+mn-ea"/>
              </a:rPr>
              <a:t>4</a:t>
            </a:r>
            <a:endParaRPr lang="zh-CN" altLang="zh-CN" sz="1200">
              <a:solidFill>
                <a:schemeClr val="tx1"/>
              </a:solidFill>
              <a:latin typeface="+mn-ea"/>
            </a:endParaRPr>
          </a:p>
          <a:p>
            <a:r>
              <a:rPr lang="en-US" altLang="zh-CN" sz="1200">
                <a:solidFill>
                  <a:schemeClr val="tx1"/>
                </a:solidFill>
                <a:latin typeface="+mn-ea"/>
              </a:rPr>
              <a:t>In screening</a:t>
            </a:r>
            <a:r>
              <a:rPr lang="zh-CN" altLang="zh-CN" sz="1200">
                <a:solidFill>
                  <a:schemeClr val="tx1"/>
                </a:solidFill>
                <a:latin typeface="+mn-ea"/>
              </a:rPr>
              <a:t>：</a:t>
            </a:r>
            <a:r>
              <a:rPr lang="en-US" altLang="zh-CN" sz="1200">
                <a:solidFill>
                  <a:schemeClr val="tx1"/>
                </a:solidFill>
                <a:latin typeface="+mn-ea"/>
              </a:rPr>
              <a:t>0</a:t>
            </a:r>
            <a:endParaRPr lang="zh-CN" altLang="zh-CN" sz="1200">
              <a:solidFill>
                <a:schemeClr val="tx1"/>
              </a:solidFill>
              <a:latin typeface="+mn-ea"/>
            </a:endParaRPr>
          </a:p>
          <a:p>
            <a:r>
              <a:rPr lang="en-US" altLang="zh-CN" sz="1200">
                <a:solidFill>
                  <a:schemeClr val="tx1"/>
                </a:solidFill>
                <a:latin typeface="+mn-ea"/>
              </a:rPr>
              <a:t>Screen failure rate</a:t>
            </a:r>
            <a:r>
              <a:rPr lang="zh-CN" altLang="zh-CN" sz="1200">
                <a:solidFill>
                  <a:schemeClr val="tx1"/>
                </a:solidFill>
                <a:latin typeface="+mn-ea"/>
              </a:rPr>
              <a:t>：</a:t>
            </a:r>
            <a:r>
              <a:rPr lang="en-US" altLang="zh-CN" sz="1200">
                <a:solidFill>
                  <a:schemeClr val="tx1"/>
                </a:solidFill>
                <a:latin typeface="+mn-ea"/>
              </a:rPr>
              <a:t>36.4%</a:t>
            </a:r>
            <a:endParaRPr lang="zh-CN" altLang="zh-CN" sz="1200">
              <a:solidFill>
                <a:schemeClr val="tx1"/>
              </a:solidFill>
              <a:latin typeface="+mn-ea"/>
            </a:endParaRPr>
          </a:p>
        </p:txBody>
      </p:sp>
      <p:sp>
        <p:nvSpPr>
          <p:cNvPr id="10" name="文本框 9">
            <a:extLst>
              <a:ext uri="{FF2B5EF4-FFF2-40B4-BE49-F238E27FC236}">
                <a16:creationId xmlns:a16="http://schemas.microsoft.com/office/drawing/2014/main" id="{4062266F-B6CD-39E1-8951-F17E3B2A6A7F}"/>
              </a:ext>
            </a:extLst>
          </p:cNvPr>
          <p:cNvSpPr txBox="1"/>
          <p:nvPr/>
        </p:nvSpPr>
        <p:spPr bwMode="gray">
          <a:xfrm>
            <a:off x="5053476" y="1298328"/>
            <a:ext cx="4117955" cy="769441"/>
          </a:xfrm>
          <a:prstGeom prst="rect">
            <a:avLst/>
          </a:prstGeom>
          <a:solidFill>
            <a:schemeClr val="tx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212121"/>
                </a:solidFill>
                <a:effectLst/>
                <a:uLnTx/>
                <a:uFillTx/>
                <a:latin typeface="Boehringer Forward Head"/>
                <a:ea typeface="Roboto"/>
                <a:cs typeface="Roboto"/>
              </a:rPr>
              <a:t>Announcement:</a:t>
            </a:r>
            <a:r>
              <a:rPr kumimoji="0" lang="en-US" altLang="zh-CN" sz="1100" b="0" i="0" u="none" strike="noStrike" kern="1200" cap="none" spc="0" normalizeH="0" baseline="0" noProof="0">
                <a:ln>
                  <a:noFill/>
                </a:ln>
                <a:solidFill>
                  <a:srgbClr val="212121"/>
                </a:solidFill>
                <a:effectLst/>
                <a:uLnTx/>
                <a:uFillTx/>
                <a:latin typeface="Boehringer Forward Head"/>
                <a:ea typeface="Roboto"/>
                <a:cs typeface="Times New Roman"/>
              </a:rPr>
              <a:t> we have </a:t>
            </a:r>
            <a:r>
              <a:rPr kumimoji="0" lang="en-US" altLang="zh-CN" sz="1100" b="1" i="0" u="none" strike="noStrike" kern="1200" cap="none" spc="0" normalizeH="0" baseline="0" noProof="0">
                <a:ln>
                  <a:noFill/>
                </a:ln>
                <a:solidFill>
                  <a:srgbClr val="212121"/>
                </a:solidFill>
                <a:effectLst/>
                <a:uLnTx/>
                <a:uFillTx/>
                <a:latin typeface="Boehringer Forward Head"/>
                <a:ea typeface="Roboto"/>
                <a:cs typeface="Times New Roman"/>
              </a:rPr>
              <a:t>successfully reached the planned recruitment target allocation for the 1463-0001 trial in China</a:t>
            </a:r>
            <a:r>
              <a:rPr kumimoji="0" lang="en-US" altLang="zh-CN" sz="1100" b="0" i="0" u="none" strike="noStrike" kern="1200" cap="none" spc="0" normalizeH="0" baseline="0" noProof="0">
                <a:ln>
                  <a:noFill/>
                </a:ln>
                <a:solidFill>
                  <a:srgbClr val="212121"/>
                </a:solidFill>
                <a:effectLst/>
                <a:uLnTx/>
                <a:uFillTx/>
                <a:latin typeface="Boehringer Forward Head"/>
                <a:ea typeface="Roboto"/>
                <a:cs typeface="Times New Roman"/>
              </a:rPr>
              <a:t> (Total planned enrollment: </a:t>
            </a:r>
            <a:r>
              <a:rPr kumimoji="0" lang="en-US" altLang="zh-CN" sz="1100" b="1" i="0" u="none" strike="noStrike" kern="1200" cap="none" spc="0" normalizeH="0" baseline="0" noProof="0">
                <a:ln>
                  <a:noFill/>
                </a:ln>
                <a:solidFill>
                  <a:srgbClr val="212121"/>
                </a:solidFill>
                <a:effectLst/>
                <a:uLnTx/>
                <a:uFillTx/>
                <a:latin typeface="Boehringer Forward Head"/>
                <a:ea typeface="Roboto"/>
                <a:cs typeface="Times New Roman"/>
              </a:rPr>
              <a:t>6 subjects</a:t>
            </a:r>
            <a:r>
              <a:rPr kumimoji="0" lang="en-US" altLang="zh-CN" sz="1100" b="0" i="0" u="none" strike="noStrike" kern="1200" cap="none" spc="0" normalizeH="0" baseline="0" noProof="0">
                <a:ln>
                  <a:noFill/>
                </a:ln>
                <a:solidFill>
                  <a:srgbClr val="212121"/>
                </a:solidFill>
                <a:effectLst/>
                <a:uLnTx/>
                <a:uFillTx/>
                <a:latin typeface="Boehringer Forward Head"/>
                <a:ea typeface="Roboto"/>
                <a:cs typeface="Times New Roman"/>
              </a:rPr>
              <a:t>) by 4Nov 2025. And we strive to enroll more patients in China. </a:t>
            </a:r>
            <a:endParaRPr kumimoji="0" lang="en-US" altLang="zh-CN" sz="1100" b="1" i="0" u="none" strike="noStrike" kern="1200" cap="none" spc="0" normalizeH="0" baseline="0" noProof="0">
              <a:ln>
                <a:noFill/>
              </a:ln>
              <a:solidFill>
                <a:srgbClr val="212121"/>
              </a:solidFill>
              <a:effectLst/>
              <a:uLnTx/>
              <a:uFillTx/>
              <a:latin typeface="Boehringer Forward Head"/>
              <a:ea typeface="Roboto"/>
              <a:cs typeface="Roboto"/>
            </a:endParaRPr>
          </a:p>
        </p:txBody>
      </p:sp>
      <p:pic>
        <p:nvPicPr>
          <p:cNvPr id="12" name="图形 11" descr="标志 纯色填充">
            <a:extLst>
              <a:ext uri="{FF2B5EF4-FFF2-40B4-BE49-F238E27FC236}">
                <a16:creationId xmlns:a16="http://schemas.microsoft.com/office/drawing/2014/main" id="{7DC57E5D-5884-CB93-93BB-404877771A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9606" y="1876425"/>
            <a:ext cx="720726" cy="720726"/>
          </a:xfrm>
          <a:prstGeom prst="rect">
            <a:avLst/>
          </a:prstGeom>
        </p:spPr>
      </p:pic>
    </p:spTree>
    <p:extLst>
      <p:ext uri="{BB962C8B-B14F-4D97-AF65-F5344CB8AC3E}">
        <p14:creationId xmlns:p14="http://schemas.microsoft.com/office/powerpoint/2010/main" val="1016057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altLang="zh-CN"/>
              <a:t>STING Agonist (BI 1703880)</a:t>
            </a:r>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p:txBody>
          <a:bodyPr/>
          <a:lstStyle/>
          <a:p>
            <a:endParaRPr lang="en-US" altLang="zh-CN"/>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smtClean="0"/>
              <a:pPr/>
              <a:t>37</a:t>
            </a:fld>
            <a:endParaRPr lang="en-US"/>
          </a:p>
        </p:txBody>
      </p:sp>
    </p:spTree>
    <p:extLst>
      <p:ext uri="{BB962C8B-B14F-4D97-AF65-F5344CB8AC3E}">
        <p14:creationId xmlns:p14="http://schemas.microsoft.com/office/powerpoint/2010/main" val="35672831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220692" y="280519"/>
            <a:ext cx="11233151" cy="720000"/>
          </a:xfrm>
        </p:spPr>
        <p:txBody>
          <a:bodyPr>
            <a:normAutofit/>
          </a:bodyPr>
          <a:lstStyle/>
          <a:p>
            <a:r>
              <a:rPr lang="en-US" altLang="zh-CN" sz="2400" i="1">
                <a:solidFill>
                  <a:schemeClr val="tx1"/>
                </a:solidFill>
                <a:latin typeface="+mn-lt"/>
              </a:rPr>
              <a:t>Systemic STING ago. FR  – </a:t>
            </a:r>
            <a:r>
              <a:rPr lang="en-US" altLang="zh-CN" sz="2400" i="1" kern="1200">
                <a:solidFill>
                  <a:schemeClr val="tx1"/>
                </a:solidFill>
                <a:latin typeface="+mn-lt"/>
                <a:ea typeface="+mn-ea"/>
                <a:cs typeface="+mn-cs"/>
              </a:rPr>
              <a:t>NSCLC </a:t>
            </a:r>
            <a:r>
              <a:rPr lang="en-US" altLang="zh-CN">
                <a:solidFill>
                  <a:schemeClr val="bg1">
                    <a:lumMod val="75000"/>
                  </a:schemeClr>
                </a:solidFill>
                <a:latin typeface="+mn-lt"/>
              </a:rPr>
              <a:t>Development Plan </a:t>
            </a:r>
            <a:endParaRPr lang="zh-CN" altLang="en-US">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38</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1480-0002</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4233114" y="2625912"/>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
            </p:custDataLst>
          </p:nvPr>
        </p:nvSpPr>
        <p:spPr>
          <a:xfrm>
            <a:off x="3922390" y="2161770"/>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Q2/3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2"/>
            </p:custDataLst>
          </p:nvPr>
        </p:nvSpPr>
        <p:spPr bwMode="auto">
          <a:xfrm>
            <a:off x="4444660" y="2335254"/>
            <a:ext cx="3788874"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N=80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3"/>
            </p:custDataLst>
          </p:nvPr>
        </p:nvSpPr>
        <p:spPr bwMode="auto">
          <a:xfrm>
            <a:off x="4801856" y="4417394"/>
            <a:ext cx="3411144"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N=12, TBD</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4"/>
            </p:custDataLst>
          </p:nvPr>
        </p:nvSpPr>
        <p:spPr>
          <a:xfrm>
            <a:off x="4322875" y="4245574"/>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5"/>
            </p:custDataLst>
          </p:nvPr>
        </p:nvSpPr>
        <p:spPr bwMode="auto">
          <a:xfrm>
            <a:off x="3614550" y="4423701"/>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6"/>
            </p:custDataLst>
          </p:nvPr>
        </p:nvSpPr>
        <p:spPr>
          <a:xfrm>
            <a:off x="3395161" y="4245574"/>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4570050" y="4711992"/>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7"/>
            </p:custDataLst>
          </p:nvPr>
        </p:nvSpPr>
        <p:spPr bwMode="auto">
          <a:xfrm rot="16200000">
            <a:off x="3603773" y="465664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8"/>
            </p:custDataLst>
          </p:nvPr>
        </p:nvSpPr>
        <p:spPr>
          <a:xfrm>
            <a:off x="3385095" y="4758158"/>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96E5E0B1-4C22-09C0-F6AC-5682E15DDEF5}"/>
              </a:ext>
            </a:extLst>
          </p:cNvPr>
          <p:cNvSpPr/>
          <p:nvPr/>
        </p:nvSpPr>
        <p:spPr>
          <a:xfrm>
            <a:off x="8076495" y="4669839"/>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9"/>
            </p:custDataLst>
          </p:nvPr>
        </p:nvSpPr>
        <p:spPr>
          <a:xfrm>
            <a:off x="7759857" y="4203421"/>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H1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8016805" y="2625911"/>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0"/>
            </p:custDataLst>
          </p:nvPr>
        </p:nvSpPr>
        <p:spPr>
          <a:xfrm>
            <a:off x="7727723" y="2161770"/>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H1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328423"/>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1480-0002</a:t>
            </a: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4352538" y="25279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8123305" y="25279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4699959" y="462581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8123305" y="45836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8307548" y="3043716"/>
            <a:ext cx="2875771"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Final CTP: 26</a:t>
            </a:r>
            <a:r>
              <a:rPr lang="en-US" altLang="zh-CN" sz="1067" i="1" baseline="30000">
                <a:cs typeface="Calibri" panose="020F0502020204030204" pitchFamily="34" charset="0"/>
              </a:rPr>
              <a:t>th</a:t>
            </a:r>
            <a:r>
              <a:rPr lang="en-US" altLang="zh-CN" sz="1067" i="1">
                <a:cs typeface="Calibri" panose="020F0502020204030204" pitchFamily="34" charset="0"/>
              </a:rPr>
              <a:t> Jan 2026</a:t>
            </a:r>
          </a:p>
        </p:txBody>
      </p:sp>
      <p:sp>
        <p:nvSpPr>
          <p:cNvPr id="5" name="文本框 160">
            <a:extLst>
              <a:ext uri="{FF2B5EF4-FFF2-40B4-BE49-F238E27FC236}">
                <a16:creationId xmlns:a16="http://schemas.microsoft.com/office/drawing/2014/main" id="{4F32E09D-728A-6F3D-8381-E4D7FC1F25CD}"/>
              </a:ext>
            </a:extLst>
          </p:cNvPr>
          <p:cNvSpPr txBox="1"/>
          <p:nvPr/>
        </p:nvSpPr>
        <p:spPr>
          <a:xfrm>
            <a:off x="8307548" y="5204360"/>
            <a:ext cx="2875771" cy="465518"/>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CTA submission: Feb 2026, to try the “CTA 30 days” pathway. </a:t>
            </a:r>
          </a:p>
        </p:txBody>
      </p:sp>
      <p:grpSp>
        <p:nvGrpSpPr>
          <p:cNvPr id="3" name="Group 2">
            <a:extLst>
              <a:ext uri="{FF2B5EF4-FFF2-40B4-BE49-F238E27FC236}">
                <a16:creationId xmlns:a16="http://schemas.microsoft.com/office/drawing/2014/main" id="{D4F553CE-8C2A-6DEC-ED9B-C500D83FB7B0}"/>
              </a:ext>
            </a:extLst>
          </p:cNvPr>
          <p:cNvGrpSpPr/>
          <p:nvPr/>
        </p:nvGrpSpPr>
        <p:grpSpPr>
          <a:xfrm>
            <a:off x="2981188" y="739393"/>
            <a:ext cx="546747" cy="6104935"/>
            <a:chOff x="2212484" y="1356882"/>
            <a:chExt cx="546747" cy="4126554"/>
          </a:xfrm>
        </p:grpSpPr>
        <p:sp>
          <p:nvSpPr>
            <p:cNvPr id="4" name="OTLSHAPE_T_e17f3958430f4cff8650518c93c7635e_StartDate">
              <a:extLst>
                <a:ext uri="{FF2B5EF4-FFF2-40B4-BE49-F238E27FC236}">
                  <a16:creationId xmlns:a16="http://schemas.microsoft.com/office/drawing/2014/main" id="{11C52898-39E9-3202-1C05-59CDD6C0B9C9}"/>
                </a:ext>
              </a:extLst>
            </p:cNvPr>
            <p:cNvSpPr txBox="1"/>
            <p:nvPr>
              <p:custDataLst>
                <p:tags r:id="rId11"/>
              </p:custDataLst>
            </p:nvPr>
          </p:nvSpPr>
          <p:spPr>
            <a:xfrm>
              <a:off x="2212484" y="1356882"/>
              <a:ext cx="546747" cy="208038"/>
            </a:xfrm>
            <a:prstGeom prst="rect">
              <a:avLst/>
            </a:prstGeom>
            <a:noFill/>
            <a:ln w="12700">
              <a:noFill/>
            </a:ln>
          </p:spPr>
          <p:txBody>
            <a:bodyPr vert="horz" wrap="square" lIns="0" tIns="0" rIns="0" bIns="0" rtlCol="0" anchor="ctr" anchorCtr="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We are here</a:t>
              </a:r>
              <a:endParaRPr kumimoji="0" lang="zh-CN" altLang="en-US"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endParaRPr>
            </a:p>
          </p:txBody>
        </p:sp>
        <p:cxnSp>
          <p:nvCxnSpPr>
            <p:cNvPr id="7" name="Straight Connector 47">
              <a:extLst>
                <a:ext uri="{FF2B5EF4-FFF2-40B4-BE49-F238E27FC236}">
                  <a16:creationId xmlns:a16="http://schemas.microsoft.com/office/drawing/2014/main" id="{BB4C4528-DA79-7984-AF7C-37F75E553C39}"/>
                </a:ext>
              </a:extLst>
            </p:cNvPr>
            <p:cNvCxnSpPr>
              <a:cxnSpLocks/>
              <a:endCxn id="4" idx="2"/>
            </p:cNvCxnSpPr>
            <p:nvPr/>
          </p:nvCxnSpPr>
          <p:spPr bwMode="auto">
            <a:xfrm flipH="1" flipV="1">
              <a:off x="2485858" y="1564920"/>
              <a:ext cx="41506" cy="3918516"/>
            </a:xfrm>
            <a:prstGeom prst="line">
              <a:avLst/>
            </a:prstGeom>
            <a:solidFill>
              <a:schemeClr val="accent1"/>
            </a:solidFill>
            <a:ln w="6350" cap="flat" cmpd="sng" algn="ctr">
              <a:solidFill>
                <a:schemeClr val="tx2"/>
              </a:solidFill>
              <a:prstDash val="dash"/>
              <a:round/>
              <a:headEnd type="none" w="med" len="med"/>
              <a:tailEnd type="none" w="med" len="med"/>
            </a:ln>
            <a:effectLst/>
          </p:spPr>
        </p:cxnSp>
      </p:grpSp>
    </p:spTree>
    <p:extLst>
      <p:ext uri="{BB962C8B-B14F-4D97-AF65-F5344CB8AC3E}">
        <p14:creationId xmlns:p14="http://schemas.microsoft.com/office/powerpoint/2010/main" val="755211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E75D-218E-6BD7-D131-36469DB94CDA}"/>
              </a:ext>
            </a:extLst>
          </p:cNvPr>
          <p:cNvSpPr>
            <a:spLocks noGrp="1"/>
          </p:cNvSpPr>
          <p:nvPr>
            <p:ph type="title"/>
          </p:nvPr>
        </p:nvSpPr>
        <p:spPr>
          <a:xfrm>
            <a:off x="479424" y="2420647"/>
            <a:ext cx="9934576" cy="792088"/>
          </a:xfrm>
        </p:spPr>
        <p:txBody>
          <a:bodyPr/>
          <a:lstStyle/>
          <a:p>
            <a:r>
              <a:rPr lang="sv-SE" altLang="zh-CN"/>
              <a:t>KRAS G12D inhibitor (BI 4015092) </a:t>
            </a:r>
          </a:p>
        </p:txBody>
      </p:sp>
      <p:sp>
        <p:nvSpPr>
          <p:cNvPr id="4" name="Slide Number Placeholder 3">
            <a:extLst>
              <a:ext uri="{FF2B5EF4-FFF2-40B4-BE49-F238E27FC236}">
                <a16:creationId xmlns:a16="http://schemas.microsoft.com/office/drawing/2014/main" id="{BA405A4B-E555-E8BB-096F-8D95034820C9}"/>
              </a:ext>
            </a:extLst>
          </p:cNvPr>
          <p:cNvSpPr>
            <a:spLocks noGrp="1"/>
          </p:cNvSpPr>
          <p:nvPr>
            <p:ph type="sldNum" sz="quarter" idx="16"/>
          </p:nvPr>
        </p:nvSpPr>
        <p:spPr/>
        <p:txBody>
          <a:bodyPr/>
          <a:lstStyle/>
          <a:p>
            <a:fld id="{8FF9B0DE-3FEB-4AA0-B465-B80EF7C1333D}" type="slidenum">
              <a:rPr lang="en-US" smtClean="0"/>
              <a:pPr/>
              <a:t>39</a:t>
            </a:fld>
            <a:endParaRPr lang="en-US"/>
          </a:p>
        </p:txBody>
      </p:sp>
      <p:sp>
        <p:nvSpPr>
          <p:cNvPr id="6" name="Subtitle 5">
            <a:extLst>
              <a:ext uri="{FF2B5EF4-FFF2-40B4-BE49-F238E27FC236}">
                <a16:creationId xmlns:a16="http://schemas.microsoft.com/office/drawing/2014/main" id="{A32E108B-2113-FA2C-72CD-55D5C9684350}"/>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33122977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6" name="Straight Connector 82">
            <a:extLst>
              <a:ext uri="{FF2B5EF4-FFF2-40B4-BE49-F238E27FC236}">
                <a16:creationId xmlns:a16="http://schemas.microsoft.com/office/drawing/2014/main" id="{DF790722-431B-5FC9-C53B-5C406C8CB1DA}"/>
              </a:ext>
            </a:extLst>
          </p:cNvPr>
          <p:cNvCxnSpPr>
            <a:cxnSpLocks/>
          </p:cNvCxnSpPr>
          <p:nvPr/>
        </p:nvCxnSpPr>
        <p:spPr>
          <a:xfrm>
            <a:off x="294500" y="4327687"/>
            <a:ext cx="1742253" cy="0"/>
          </a:xfrm>
          <a:prstGeom prst="line">
            <a:avLst/>
          </a:prstGeom>
          <a:noFill/>
          <a:ln w="9525" cap="rnd">
            <a:solidFill>
              <a:sysClr val="window" lastClr="FFFFFF">
                <a:alpha val="50000"/>
              </a:sysClr>
            </a:solidFill>
            <a:prstDash val="solid"/>
            <a:miter/>
          </a:ln>
        </p:spPr>
      </p:cxnSp>
      <p:grpSp>
        <p:nvGrpSpPr>
          <p:cNvPr id="4" name="Group 3">
            <a:extLst>
              <a:ext uri="{FF2B5EF4-FFF2-40B4-BE49-F238E27FC236}">
                <a16:creationId xmlns:a16="http://schemas.microsoft.com/office/drawing/2014/main" id="{147D66B2-4EB0-1BC9-A2AA-82A4E5AF742E}"/>
              </a:ext>
            </a:extLst>
          </p:cNvPr>
          <p:cNvGrpSpPr/>
          <p:nvPr/>
        </p:nvGrpSpPr>
        <p:grpSpPr>
          <a:xfrm>
            <a:off x="294498" y="1166757"/>
            <a:ext cx="11430087" cy="5494020"/>
            <a:chOff x="156722" y="961258"/>
            <a:chExt cx="8567407" cy="4016935"/>
          </a:xfrm>
        </p:grpSpPr>
        <p:grpSp>
          <p:nvGrpSpPr>
            <p:cNvPr id="25" name="Group 24">
              <a:extLst>
                <a:ext uri="{FF2B5EF4-FFF2-40B4-BE49-F238E27FC236}">
                  <a16:creationId xmlns:a16="http://schemas.microsoft.com/office/drawing/2014/main" id="{457D63F4-F07E-D224-6240-8A3CA1D13AAE}"/>
                </a:ext>
              </a:extLst>
            </p:cNvPr>
            <p:cNvGrpSpPr/>
            <p:nvPr/>
          </p:nvGrpSpPr>
          <p:grpSpPr>
            <a:xfrm>
              <a:off x="156722" y="961258"/>
              <a:ext cx="8567407" cy="4016935"/>
              <a:chOff x="424461" y="1195868"/>
              <a:chExt cx="11216636" cy="5336787"/>
            </a:xfrm>
          </p:grpSpPr>
          <p:sp>
            <p:nvSpPr>
              <p:cNvPr id="26" name="Rectangle 25">
                <a:extLst>
                  <a:ext uri="{FF2B5EF4-FFF2-40B4-BE49-F238E27FC236}">
                    <a16:creationId xmlns:a16="http://schemas.microsoft.com/office/drawing/2014/main" id="{BD314F31-15EA-B802-D53A-BC03E26C7932}"/>
                  </a:ext>
                </a:extLst>
              </p:cNvPr>
              <p:cNvSpPr/>
              <p:nvPr/>
            </p:nvSpPr>
            <p:spPr>
              <a:xfrm>
                <a:off x="424461" y="1195868"/>
                <a:ext cx="11216636" cy="5336787"/>
              </a:xfrm>
              <a:prstGeom prst="rect">
                <a:avLst/>
              </a:prstGeom>
              <a:noFill/>
              <a:ln w="9525" cap="rnd" cmpd="sng" algn="ctr">
                <a:solidFill>
                  <a:sysClr val="window" lastClr="FFFFFF">
                    <a:lumMod val="50000"/>
                  </a:sysClr>
                </a:solidFill>
                <a:prstDash val="dash"/>
                <a:miter lim="800000"/>
              </a:ln>
              <a:effectLst/>
            </p:spPr>
            <p:txBody>
              <a:bodyPr lIns="162259" tIns="162259" rIns="162259" bIns="162259"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1218042">
                  <a:defRPr/>
                </a:pPr>
                <a:endParaRPr lang="en-US" sz="1465" b="1" kern="0" spc="89">
                  <a:solidFill>
                    <a:srgbClr val="003366"/>
                  </a:solidFill>
                  <a:latin typeface="Boehringer Forward Head"/>
                </a:endParaRPr>
              </a:p>
            </p:txBody>
          </p:sp>
          <p:grpSp>
            <p:nvGrpSpPr>
              <p:cNvPr id="27" name="Group 71">
                <a:extLst>
                  <a:ext uri="{FF2B5EF4-FFF2-40B4-BE49-F238E27FC236}">
                    <a16:creationId xmlns:a16="http://schemas.microsoft.com/office/drawing/2014/main" id="{A437CF70-A59A-DF4B-B1B6-8395609213DC}"/>
                  </a:ext>
                </a:extLst>
              </p:cNvPr>
              <p:cNvGrpSpPr/>
              <p:nvPr/>
            </p:nvGrpSpPr>
            <p:grpSpPr>
              <a:xfrm>
                <a:off x="521241" y="1279209"/>
                <a:ext cx="1752594" cy="5149878"/>
                <a:chOff x="2606" y="730243"/>
                <a:chExt cx="1315662" cy="4182689"/>
              </a:xfrm>
            </p:grpSpPr>
            <p:sp>
              <p:nvSpPr>
                <p:cNvPr id="44" name="Rectangle 72">
                  <a:extLst>
                    <a:ext uri="{FF2B5EF4-FFF2-40B4-BE49-F238E27FC236}">
                      <a16:creationId xmlns:a16="http://schemas.microsoft.com/office/drawing/2014/main" id="{C5D8FB8C-C1C5-F506-03ED-5336D80FDE30}"/>
                    </a:ext>
                  </a:extLst>
                </p:cNvPr>
                <p:cNvSpPr/>
                <p:nvPr/>
              </p:nvSpPr>
              <p:spPr>
                <a:xfrm>
                  <a:off x="2606" y="730243"/>
                  <a:ext cx="1295402" cy="4182689"/>
                </a:xfrm>
                <a:prstGeom prst="rect">
                  <a:avLst/>
                </a:prstGeom>
                <a:solidFill>
                  <a:srgbClr val="08312A"/>
                </a:solidFill>
                <a:ln w="12700" cap="flat" cmpd="sng" algn="ctr">
                  <a:noFill/>
                  <a:prstDash val="solid"/>
                  <a:miter lim="800000"/>
                </a:ln>
                <a:effectLst/>
              </p:spPr>
              <p:txBody>
                <a:bodyPr lIns="324519" tIns="81131" rIns="324519" bIns="81131"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2163297">
                    <a:lnSpc>
                      <a:spcPct val="90000"/>
                    </a:lnSpc>
                    <a:spcBef>
                      <a:spcPct val="0"/>
                    </a:spcBef>
                    <a:spcAft>
                      <a:spcPts val="1064"/>
                    </a:spcAft>
                    <a:defRPr/>
                  </a:pPr>
                  <a:endParaRPr lang="en-US" sz="1865" b="1" kern="0" spc="248">
                    <a:solidFill>
                      <a:srgbClr val="FFFFFF"/>
                    </a:solidFill>
                    <a:latin typeface="BISansOptiCond" panose="02000506040000020004" pitchFamily="2" charset="0"/>
                  </a:endParaRPr>
                </a:p>
              </p:txBody>
            </p:sp>
            <p:sp>
              <p:nvSpPr>
                <p:cNvPr id="45" name="Rectangle 73">
                  <a:extLst>
                    <a:ext uri="{FF2B5EF4-FFF2-40B4-BE49-F238E27FC236}">
                      <a16:creationId xmlns:a16="http://schemas.microsoft.com/office/drawing/2014/main" id="{877BFC0E-3D6E-E47B-E5EF-54D82141BE4E}"/>
                    </a:ext>
                  </a:extLst>
                </p:cNvPr>
                <p:cNvSpPr/>
                <p:nvPr/>
              </p:nvSpPr>
              <p:spPr>
                <a:xfrm>
                  <a:off x="1273334" y="731520"/>
                  <a:ext cx="44934" cy="4011931"/>
                </a:xfrm>
                <a:prstGeom prst="rect">
                  <a:avLst/>
                </a:prstGeom>
                <a:solidFill>
                  <a:sysClr val="windowText" lastClr="000000">
                    <a:alpha val="22000"/>
                  </a:sysClr>
                </a:solidFill>
                <a:ln w="12700" cap="flat" cmpd="sng" algn="ctr">
                  <a:noFill/>
                  <a:prstDash val="solid"/>
                  <a:miter lim="800000"/>
                </a:ln>
                <a:effectLst/>
              </p:spPr>
              <p:txBody>
                <a:bodyPr lIns="324519" tIns="81131" rIns="324519" bIns="81131"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2163297">
                    <a:lnSpc>
                      <a:spcPct val="90000"/>
                    </a:lnSpc>
                    <a:spcBef>
                      <a:spcPct val="0"/>
                    </a:spcBef>
                    <a:spcAft>
                      <a:spcPts val="1064"/>
                    </a:spcAft>
                    <a:defRPr/>
                  </a:pPr>
                  <a:endParaRPr lang="en-US" sz="1865" b="1" kern="0" spc="248">
                    <a:solidFill>
                      <a:srgbClr val="FFFFFF"/>
                    </a:solidFill>
                    <a:latin typeface="BISansOptiCond" panose="02000506040000020004" pitchFamily="2" charset="0"/>
                  </a:endParaRPr>
                </a:p>
              </p:txBody>
            </p:sp>
          </p:grpSp>
          <p:sp>
            <p:nvSpPr>
              <p:cNvPr id="28" name="TextBox 77">
                <a:extLst>
                  <a:ext uri="{FF2B5EF4-FFF2-40B4-BE49-F238E27FC236}">
                    <a16:creationId xmlns:a16="http://schemas.microsoft.com/office/drawing/2014/main" id="{43FD7E3E-6805-973C-45D7-1263407CB074}"/>
                  </a:ext>
                </a:extLst>
              </p:cNvPr>
              <p:cNvSpPr txBox="1"/>
              <p:nvPr/>
            </p:nvSpPr>
            <p:spPr>
              <a:xfrm>
                <a:off x="632357" y="1390985"/>
                <a:ext cx="1705300" cy="717150"/>
              </a:xfrm>
              <a:prstGeom prst="rect">
                <a:avLst/>
              </a:prstGeom>
              <a:noFill/>
            </p:spPr>
            <p:txBody>
              <a:bodyPr wrap="square" lIns="0" tIns="0" rIns="0" bIns="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599" b="1" kern="0" spc="177">
                    <a:solidFill>
                      <a:srgbClr val="FFFFFF"/>
                    </a:solidFill>
                    <a:latin typeface="BISansOptiCond" panose="02000506040000020004" pitchFamily="2" charset="0"/>
                  </a:rPr>
                  <a:t>Indication &amp; target patient population</a:t>
                </a:r>
                <a:endParaRPr lang="en-US" sz="1599" b="1" kern="0" spc="177">
                  <a:solidFill>
                    <a:srgbClr val="99CCFF"/>
                  </a:solidFill>
                  <a:latin typeface="BISansOptiCond" panose="02000506040000020004" pitchFamily="2" charset="0"/>
                </a:endParaRPr>
              </a:p>
            </p:txBody>
          </p:sp>
          <p:sp>
            <p:nvSpPr>
              <p:cNvPr id="30" name="TextBox 79">
                <a:extLst>
                  <a:ext uri="{FF2B5EF4-FFF2-40B4-BE49-F238E27FC236}">
                    <a16:creationId xmlns:a16="http://schemas.microsoft.com/office/drawing/2014/main" id="{A4B65CF3-BDE8-3B75-1271-6C8B58F7F7AE}"/>
                  </a:ext>
                </a:extLst>
              </p:cNvPr>
              <p:cNvSpPr txBox="1"/>
              <p:nvPr/>
            </p:nvSpPr>
            <p:spPr>
              <a:xfrm>
                <a:off x="623552" y="3425533"/>
                <a:ext cx="1555343" cy="717150"/>
              </a:xfrm>
              <a:prstGeom prst="rect">
                <a:avLst/>
              </a:prstGeom>
              <a:noFill/>
            </p:spPr>
            <p:txBody>
              <a:bodyPr wrap="square" lIns="0" tIns="0" rIns="0" bIns="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599" b="1" kern="0" spc="177">
                    <a:solidFill>
                      <a:srgbClr val="FFFFFF"/>
                    </a:solidFill>
                    <a:latin typeface="BISansOptiCond" panose="02000506040000020004" pitchFamily="2" charset="0"/>
                  </a:rPr>
                  <a:t>Assumed standard of care at launch</a:t>
                </a:r>
                <a:endParaRPr lang="en-US" sz="1599" b="1" kern="0" spc="177">
                  <a:solidFill>
                    <a:srgbClr val="99CCFF"/>
                  </a:solidFill>
                  <a:latin typeface="BISansOptiCond" panose="02000506040000020004" pitchFamily="2" charset="0"/>
                </a:endParaRPr>
              </a:p>
            </p:txBody>
          </p:sp>
          <p:cxnSp>
            <p:nvCxnSpPr>
              <p:cNvPr id="32" name="Straight Connector 82">
                <a:extLst>
                  <a:ext uri="{FF2B5EF4-FFF2-40B4-BE49-F238E27FC236}">
                    <a16:creationId xmlns:a16="http://schemas.microsoft.com/office/drawing/2014/main" id="{21A1D7C4-88DC-3419-CB35-232D3785867D}"/>
                  </a:ext>
                </a:extLst>
              </p:cNvPr>
              <p:cNvCxnSpPr>
                <a:cxnSpLocks/>
              </p:cNvCxnSpPr>
              <p:nvPr/>
            </p:nvCxnSpPr>
            <p:spPr>
              <a:xfrm>
                <a:off x="564301" y="3407164"/>
                <a:ext cx="10877911" cy="0"/>
              </a:xfrm>
              <a:prstGeom prst="line">
                <a:avLst/>
              </a:prstGeom>
              <a:noFill/>
              <a:ln w="15875" cap="rnd" cmpd="sng" algn="ctr">
                <a:solidFill>
                  <a:sysClr val="window" lastClr="FFFFFF">
                    <a:lumMod val="95000"/>
                  </a:sysClr>
                </a:solidFill>
                <a:prstDash val="solid"/>
                <a:miter lim="800000"/>
              </a:ln>
              <a:effectLst/>
            </p:spPr>
          </p:cxnSp>
          <p:sp>
            <p:nvSpPr>
              <p:cNvPr id="33" name="Rectangle 74">
                <a:extLst>
                  <a:ext uri="{FF2B5EF4-FFF2-40B4-BE49-F238E27FC236}">
                    <a16:creationId xmlns:a16="http://schemas.microsoft.com/office/drawing/2014/main" id="{6859E0AE-2DD1-4905-DDBB-3948871D66DA}"/>
                  </a:ext>
                </a:extLst>
              </p:cNvPr>
              <p:cNvSpPr/>
              <p:nvPr/>
            </p:nvSpPr>
            <p:spPr>
              <a:xfrm>
                <a:off x="2261383" y="1433370"/>
                <a:ext cx="4541968" cy="951473"/>
              </a:xfrm>
              <a:prstGeom prst="rect">
                <a:avLst/>
              </a:prstGeom>
              <a:solidFill>
                <a:schemeClr val="bg1">
                  <a:lumMod val="95000"/>
                </a:schemeClr>
              </a:solidFill>
              <a:ln w="3175" cap="flat" cmpd="sng" algn="ctr">
                <a:noFill/>
                <a:prstDash val="solid"/>
                <a:miter lim="800000"/>
              </a:ln>
              <a:effectLst/>
              <a:scene3d>
                <a:camera prst="orthographicFront"/>
                <a:lightRig rig="threePt" dir="t"/>
              </a:scene3d>
              <a:sp3d>
                <a:bevelT w="114300" prst="artDeco"/>
              </a:sp3d>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77">
                  <a:defRPr/>
                </a:pPr>
                <a:endParaRPr lang="en-US" sz="667" b="1" i="1" kern="0">
                  <a:solidFill>
                    <a:prstClr val="black"/>
                  </a:solidFill>
                  <a:latin typeface="Boehringer Forward Head"/>
                  <a:cs typeface="Angsana New" panose="02020603050405020304" pitchFamily="18" charset="-34"/>
                </a:endParaRPr>
              </a:p>
              <a:p>
                <a:pPr algn="ctr" defTabSz="914377">
                  <a:defRPr/>
                </a:pPr>
                <a:r>
                  <a:rPr lang="en-US" sz="1265" b="1" i="1" kern="0">
                    <a:solidFill>
                      <a:prstClr val="black"/>
                    </a:solidFill>
                    <a:latin typeface="Boehringer Forward Head"/>
                    <a:cs typeface="Angsana New" panose="02020603050405020304" pitchFamily="18" charset="-34"/>
                  </a:rPr>
                  <a:t>In combo w/ cetuximab for therapy of pts with KRAS G12Dmut mCRC progressive on/after ≥1L prior systemic therapy, who have no effective SoC treatment option</a:t>
                </a:r>
              </a:p>
            </p:txBody>
          </p:sp>
          <p:sp>
            <p:nvSpPr>
              <p:cNvPr id="34" name="Rectangle 75">
                <a:extLst>
                  <a:ext uri="{FF2B5EF4-FFF2-40B4-BE49-F238E27FC236}">
                    <a16:creationId xmlns:a16="http://schemas.microsoft.com/office/drawing/2014/main" id="{99CE37D2-8645-10CD-35EB-1DF0DAF44492}"/>
                  </a:ext>
                </a:extLst>
              </p:cNvPr>
              <p:cNvSpPr/>
              <p:nvPr/>
            </p:nvSpPr>
            <p:spPr>
              <a:xfrm>
                <a:off x="2272188" y="2570046"/>
                <a:ext cx="4363885" cy="596348"/>
              </a:xfrm>
              <a:prstGeom prst="rect">
                <a:avLst/>
              </a:prstGeom>
              <a:noFill/>
              <a:ln w="3175" cap="flat" cmpd="sng" algn="ctr">
                <a:noFill/>
                <a:prstDash val="solid"/>
                <a:miter lim="800000"/>
              </a:ln>
              <a:effectLst/>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104228" lvl="1" defTabSz="1218042">
                  <a:defRPr/>
                </a:pPr>
                <a:r>
                  <a:rPr lang="en-US" sz="1332" b="1" kern="0">
                    <a:solidFill>
                      <a:prstClr val="black"/>
                    </a:solidFill>
                    <a:latin typeface="Boehringer Forward Head"/>
                  </a:rPr>
                  <a:t>Very low life expectancy and QoL </a:t>
                </a:r>
                <a:r>
                  <a:rPr lang="en-US" sz="1332" kern="0">
                    <a:solidFill>
                      <a:prstClr val="black"/>
                    </a:solidFill>
                    <a:latin typeface="Boehringer Forward Head"/>
                  </a:rPr>
                  <a:t>for patients with </a:t>
                </a:r>
                <a:r>
                  <a:rPr lang="en-US" sz="1332" kern="0" err="1">
                    <a:solidFill>
                      <a:prstClr val="black"/>
                    </a:solidFill>
                    <a:latin typeface="Boehringer Forward Head"/>
                  </a:rPr>
                  <a:t>KRASmut</a:t>
                </a:r>
                <a:r>
                  <a:rPr lang="en-US" sz="1332" kern="0">
                    <a:solidFill>
                      <a:prstClr val="black"/>
                    </a:solidFill>
                    <a:latin typeface="Boehringer Forward Head"/>
                  </a:rPr>
                  <a:t> mCRC</a:t>
                </a:r>
              </a:p>
              <a:p>
                <a:pPr marL="104228" lvl="1" defTabSz="1218042">
                  <a:defRPr/>
                </a:pPr>
                <a:r>
                  <a:rPr lang="en-US" sz="1332" b="1">
                    <a:solidFill>
                      <a:srgbClr val="08312A"/>
                    </a:solidFill>
                    <a:latin typeface="Boehringer Forward Head" panose="02000500000000020000" pitchFamily="2" charset="0"/>
                  </a:rPr>
                  <a:t>No effective SoC treatment option </a:t>
                </a:r>
                <a:r>
                  <a:rPr lang="en-US" sz="1332" kern="0">
                    <a:solidFill>
                      <a:prstClr val="black"/>
                    </a:solidFill>
                    <a:latin typeface="Boehringer Forward Head"/>
                  </a:rPr>
                  <a:t>in target population</a:t>
                </a:r>
              </a:p>
            </p:txBody>
          </p:sp>
          <p:sp>
            <p:nvSpPr>
              <p:cNvPr id="35" name="Rectangle 76">
                <a:extLst>
                  <a:ext uri="{FF2B5EF4-FFF2-40B4-BE49-F238E27FC236}">
                    <a16:creationId xmlns:a16="http://schemas.microsoft.com/office/drawing/2014/main" id="{DE1466A0-7574-F59B-A4D3-3759D42F5810}"/>
                  </a:ext>
                </a:extLst>
              </p:cNvPr>
              <p:cNvSpPr/>
              <p:nvPr/>
            </p:nvSpPr>
            <p:spPr>
              <a:xfrm>
                <a:off x="2386008" y="3496092"/>
                <a:ext cx="4402173" cy="867610"/>
              </a:xfrm>
              <a:prstGeom prst="rect">
                <a:avLst/>
              </a:prstGeom>
              <a:noFill/>
              <a:ln w="3175" cap="flat" cmpd="sng" algn="ctr">
                <a:noFill/>
                <a:prstDash val="solid"/>
                <a:miter lim="800000"/>
              </a:ln>
              <a:effectLst/>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332" b="1" kern="0">
                    <a:solidFill>
                      <a:srgbClr val="E7E6E6">
                        <a:lumMod val="10000"/>
                      </a:srgbClr>
                    </a:solidFill>
                    <a:latin typeface="Boehringer Forward Head"/>
                    <a:ea typeface="Times New Roman" panose="02020603050405020304" pitchFamily="18" charset="0"/>
                  </a:rPr>
                  <a:t>Chemo + targeted drugs</a:t>
                </a:r>
              </a:p>
              <a:p>
                <a:pPr defTabSz="1218042">
                  <a:defRPr/>
                </a:pPr>
                <a:r>
                  <a:rPr lang="en-US" sz="1332" kern="0" err="1">
                    <a:solidFill>
                      <a:prstClr val="black"/>
                    </a:solidFill>
                    <a:latin typeface="Boehringer Forward Head"/>
                  </a:rPr>
                  <a:t>Lonsurf</a:t>
                </a:r>
                <a:r>
                  <a:rPr lang="en-US" sz="1332" kern="0">
                    <a:solidFill>
                      <a:prstClr val="black"/>
                    </a:solidFill>
                    <a:latin typeface="Boehringer Forward Head"/>
                  </a:rPr>
                  <a:t> + BEV, </a:t>
                </a:r>
                <a:r>
                  <a:rPr lang="en-US" sz="1332" kern="0" err="1">
                    <a:solidFill>
                      <a:prstClr val="black"/>
                    </a:solidFill>
                    <a:latin typeface="Boehringer Forward Head"/>
                  </a:rPr>
                  <a:t>Fruquintinib</a:t>
                </a:r>
                <a:r>
                  <a:rPr lang="en-US" sz="1332" kern="0">
                    <a:solidFill>
                      <a:prstClr val="black"/>
                    </a:solidFill>
                    <a:latin typeface="Boehringer Forward Head"/>
                  </a:rPr>
                  <a:t>, </a:t>
                </a:r>
                <a:r>
                  <a:rPr lang="en-US" sz="1332" kern="0" err="1">
                    <a:solidFill>
                      <a:prstClr val="black"/>
                    </a:solidFill>
                    <a:latin typeface="Boehringer Forward Head"/>
                  </a:rPr>
                  <a:t>Lonsurf</a:t>
                </a:r>
                <a:r>
                  <a:rPr lang="en-US" sz="1332" kern="0">
                    <a:solidFill>
                      <a:prstClr val="black"/>
                    </a:solidFill>
                    <a:latin typeface="Boehringer Forward Head"/>
                  </a:rPr>
                  <a:t>, Regorafenib</a:t>
                </a:r>
              </a:p>
              <a:p>
                <a:pPr defTabSz="914377">
                  <a:defRPr/>
                </a:pPr>
                <a:r>
                  <a:rPr lang="en-US" sz="1332" b="1" kern="0">
                    <a:solidFill>
                      <a:srgbClr val="E7E6E6">
                        <a:lumMod val="10000"/>
                      </a:srgbClr>
                    </a:solidFill>
                    <a:latin typeface="Boehringer Forward Head"/>
                  </a:rPr>
                  <a:t>Pan(K)RAS inhibitors: tbd</a:t>
                </a:r>
                <a:endParaRPr lang="en-US" sz="1332" kern="0">
                  <a:solidFill>
                    <a:prstClr val="black"/>
                  </a:solidFill>
                  <a:latin typeface="Boehringer Forward Head"/>
                </a:endParaRPr>
              </a:p>
            </p:txBody>
          </p:sp>
          <p:cxnSp>
            <p:nvCxnSpPr>
              <p:cNvPr id="38" name="Straight Connector 81">
                <a:extLst>
                  <a:ext uri="{FF2B5EF4-FFF2-40B4-BE49-F238E27FC236}">
                    <a16:creationId xmlns:a16="http://schemas.microsoft.com/office/drawing/2014/main" id="{3438B4A3-D731-AB28-2A11-91FB576D73DA}"/>
                  </a:ext>
                </a:extLst>
              </p:cNvPr>
              <p:cNvCxnSpPr>
                <a:cxnSpLocks/>
              </p:cNvCxnSpPr>
              <p:nvPr/>
            </p:nvCxnSpPr>
            <p:spPr>
              <a:xfrm>
                <a:off x="6238072" y="2669500"/>
                <a:ext cx="1712332" cy="0"/>
              </a:xfrm>
              <a:prstGeom prst="line">
                <a:avLst/>
              </a:prstGeom>
              <a:noFill/>
              <a:ln w="9525" cap="rnd">
                <a:solidFill>
                  <a:sysClr val="window" lastClr="FFFFFF">
                    <a:alpha val="50000"/>
                  </a:sysClr>
                </a:solidFill>
                <a:prstDash val="solid"/>
                <a:miter/>
              </a:ln>
            </p:spPr>
          </p:cxnSp>
          <p:cxnSp>
            <p:nvCxnSpPr>
              <p:cNvPr id="39" name="Straight Connector 82">
                <a:extLst>
                  <a:ext uri="{FF2B5EF4-FFF2-40B4-BE49-F238E27FC236}">
                    <a16:creationId xmlns:a16="http://schemas.microsoft.com/office/drawing/2014/main" id="{1BD50936-150B-F736-409C-7BD36DDCC751}"/>
                  </a:ext>
                </a:extLst>
              </p:cNvPr>
              <p:cNvCxnSpPr>
                <a:cxnSpLocks/>
              </p:cNvCxnSpPr>
              <p:nvPr/>
            </p:nvCxnSpPr>
            <p:spPr>
              <a:xfrm>
                <a:off x="6238072" y="4884823"/>
                <a:ext cx="1712332" cy="0"/>
              </a:xfrm>
              <a:prstGeom prst="line">
                <a:avLst/>
              </a:prstGeom>
              <a:noFill/>
              <a:ln w="9525" cap="rnd">
                <a:solidFill>
                  <a:sysClr val="window" lastClr="FFFFFF">
                    <a:alpha val="50000"/>
                  </a:sysClr>
                </a:solidFill>
                <a:prstDash val="solid"/>
                <a:miter/>
              </a:ln>
            </p:spPr>
          </p:cxnSp>
          <p:cxnSp>
            <p:nvCxnSpPr>
              <p:cNvPr id="42" name="Straight Connector 81">
                <a:extLst>
                  <a:ext uri="{FF2B5EF4-FFF2-40B4-BE49-F238E27FC236}">
                    <a16:creationId xmlns:a16="http://schemas.microsoft.com/office/drawing/2014/main" id="{4C94E0CC-B673-5AA3-7685-10FC1DDEAE5E}"/>
                  </a:ext>
                </a:extLst>
              </p:cNvPr>
              <p:cNvCxnSpPr>
                <a:cxnSpLocks/>
              </p:cNvCxnSpPr>
              <p:nvPr/>
            </p:nvCxnSpPr>
            <p:spPr>
              <a:xfrm flipV="1">
                <a:off x="2337656" y="4134374"/>
                <a:ext cx="9037280" cy="9036"/>
              </a:xfrm>
              <a:prstGeom prst="line">
                <a:avLst/>
              </a:prstGeom>
              <a:noFill/>
              <a:ln w="15875" cap="rnd" cmpd="sng" algn="ctr">
                <a:solidFill>
                  <a:sysClr val="window" lastClr="FFFFFF">
                    <a:lumMod val="95000"/>
                  </a:sysClr>
                </a:solidFill>
                <a:prstDash val="solid"/>
                <a:miter lim="800000"/>
              </a:ln>
              <a:effectLst/>
            </p:spPr>
          </p:cxnSp>
          <p:sp>
            <p:nvSpPr>
              <p:cNvPr id="43" name="Rectangle 42">
                <a:extLst>
                  <a:ext uri="{FF2B5EF4-FFF2-40B4-BE49-F238E27FC236}">
                    <a16:creationId xmlns:a16="http://schemas.microsoft.com/office/drawing/2014/main" id="{8DB0519F-D028-FD9C-7460-CE1EF492D3B1}"/>
                  </a:ext>
                </a:extLst>
              </p:cNvPr>
              <p:cNvSpPr/>
              <p:nvPr/>
            </p:nvSpPr>
            <p:spPr>
              <a:xfrm>
                <a:off x="489901" y="1280783"/>
                <a:ext cx="11038437" cy="1122334"/>
              </a:xfrm>
              <a:prstGeom prst="rect">
                <a:avLst/>
              </a:prstGeom>
              <a:noFill/>
              <a:ln w="57150" cap="flat" cmpd="sng" algn="ctr">
                <a:solidFill>
                  <a:srgbClr val="08312A">
                    <a:lumMod val="60000"/>
                    <a:lumOff val="40000"/>
                  </a:srgbClr>
                </a:solidFill>
                <a:prstDash val="solid"/>
                <a:miter lim="800000"/>
              </a:ln>
              <a:effectLst/>
            </p:spPr>
            <p:txBody>
              <a:bodyPr lIns="162259" tIns="81131" rIns="162259" bIns="81131"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endParaRPr lang="en-US" sz="1399" kern="0">
                  <a:solidFill>
                    <a:prstClr val="white"/>
                  </a:solidFill>
                  <a:latin typeface="BISans" panose="02000503040000020004" pitchFamily="2" charset="0"/>
                </a:endParaRPr>
              </a:p>
            </p:txBody>
          </p:sp>
          <p:sp>
            <p:nvSpPr>
              <p:cNvPr id="29" name="TextBox 78">
                <a:extLst>
                  <a:ext uri="{FF2B5EF4-FFF2-40B4-BE49-F238E27FC236}">
                    <a16:creationId xmlns:a16="http://schemas.microsoft.com/office/drawing/2014/main" id="{7CB4780C-9520-A47B-9FE3-D6A662512FC9}"/>
                  </a:ext>
                </a:extLst>
              </p:cNvPr>
              <p:cNvSpPr txBox="1"/>
              <p:nvPr/>
            </p:nvSpPr>
            <p:spPr>
              <a:xfrm>
                <a:off x="623552" y="2568031"/>
                <a:ext cx="1450373" cy="717150"/>
              </a:xfrm>
              <a:prstGeom prst="rect">
                <a:avLst/>
              </a:prstGeom>
              <a:noFill/>
            </p:spPr>
            <p:txBody>
              <a:bodyPr wrap="square" lIns="0" tIns="0" rIns="0" bIns="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599" b="1" kern="0" spc="177">
                    <a:solidFill>
                      <a:srgbClr val="FFFFFF"/>
                    </a:solidFill>
                    <a:latin typeface="BISansOptiCond" panose="02000506040000020004" pitchFamily="2" charset="0"/>
                  </a:rPr>
                  <a:t>Unmet need and value proposition </a:t>
                </a:r>
                <a:endParaRPr lang="en-US" sz="1599" b="1" kern="0" spc="177">
                  <a:solidFill>
                    <a:srgbClr val="99CCFF"/>
                  </a:solidFill>
                  <a:latin typeface="BISansOptiCond" panose="02000506040000020004" pitchFamily="2" charset="0"/>
                </a:endParaRPr>
              </a:p>
            </p:txBody>
          </p:sp>
        </p:grpSp>
        <p:sp>
          <p:nvSpPr>
            <p:cNvPr id="57" name="Rectangle 75">
              <a:extLst>
                <a:ext uri="{FF2B5EF4-FFF2-40B4-BE49-F238E27FC236}">
                  <a16:creationId xmlns:a16="http://schemas.microsoft.com/office/drawing/2014/main" id="{9B248D7E-4A76-0983-61E7-B566B8A9D1F3}"/>
                </a:ext>
              </a:extLst>
            </p:cNvPr>
            <p:cNvSpPr/>
            <p:nvPr/>
          </p:nvSpPr>
          <p:spPr>
            <a:xfrm>
              <a:off x="1639238" y="3214686"/>
              <a:ext cx="2433295" cy="1054637"/>
            </a:xfrm>
            <a:prstGeom prst="rect">
              <a:avLst/>
            </a:prstGeom>
            <a:noFill/>
            <a:ln w="3175" cap="flat" cmpd="sng" algn="ctr">
              <a:noFill/>
              <a:prstDash val="solid"/>
              <a:miter lim="800000"/>
            </a:ln>
            <a:effectLst/>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lvl="1" defTabSz="1218042">
                <a:defRPr/>
              </a:pPr>
              <a:r>
                <a:rPr lang="en-US" sz="1332" b="1" kern="0">
                  <a:solidFill>
                    <a:prstClr val="black"/>
                  </a:solidFill>
                  <a:latin typeface="Boehringer Forward Head"/>
                </a:rPr>
                <a:t>Primary endpoint: </a:t>
              </a:r>
            </a:p>
            <a:p>
              <a:pPr marL="405638" lvl="1" indent="-304230" defTabSz="914377">
                <a:buFont typeface="Arial" panose="020B0604020202020204" pitchFamily="34" charset="0"/>
                <a:buChar char="•"/>
                <a:defRPr/>
              </a:pPr>
              <a:r>
                <a:rPr lang="en-US" sz="1332" kern="0" err="1">
                  <a:solidFill>
                    <a:prstClr val="black"/>
                  </a:solidFill>
                  <a:latin typeface="Boehringer Forward Head"/>
                </a:rPr>
                <a:t>mOS</a:t>
              </a:r>
              <a:r>
                <a:rPr lang="en-US" sz="1332" kern="0">
                  <a:solidFill>
                    <a:prstClr val="black"/>
                  </a:solidFill>
                  <a:latin typeface="Boehringer Forward Head"/>
                </a:rPr>
                <a:t> improved, HR≤ 0.7 vs. SoC</a:t>
              </a:r>
            </a:p>
            <a:p>
              <a:pPr marL="0" lvl="1" defTabSz="1218042">
                <a:defRPr/>
              </a:pPr>
              <a:r>
                <a:rPr lang="en-US" sz="1332" b="1" kern="0">
                  <a:solidFill>
                    <a:prstClr val="black"/>
                  </a:solidFill>
                  <a:latin typeface="Boehringer Forward Head"/>
                </a:rPr>
                <a:t>Secondary endpoints:</a:t>
              </a:r>
            </a:p>
            <a:p>
              <a:pPr marL="405638" lvl="1" indent="-304230" defTabSz="914377">
                <a:buFont typeface="Arial" panose="020B0604020202020204" pitchFamily="34" charset="0"/>
                <a:buChar char="•"/>
                <a:defRPr/>
              </a:pPr>
              <a:r>
                <a:rPr lang="en-US" sz="1332" kern="0" err="1">
                  <a:solidFill>
                    <a:srgbClr val="08312A">
                      <a:lumMod val="10000"/>
                    </a:srgbClr>
                  </a:solidFill>
                  <a:latin typeface="Boehringer Forward Head"/>
                </a:rPr>
                <a:t>mPFS</a:t>
              </a:r>
              <a:r>
                <a:rPr lang="en-US" sz="1332" kern="0">
                  <a:solidFill>
                    <a:srgbClr val="08312A">
                      <a:lumMod val="10000"/>
                    </a:srgbClr>
                  </a:solidFill>
                  <a:latin typeface="Boehringer Forward Head"/>
                </a:rPr>
                <a:t> (</a:t>
              </a:r>
              <a:r>
                <a:rPr lang="en-US" sz="1332" kern="0">
                  <a:solidFill>
                    <a:srgbClr val="08312A">
                      <a:lumMod val="10000"/>
                    </a:srgbClr>
                  </a:solidFill>
                  <a:latin typeface="Calibri" panose="020F0502020204030204" pitchFamily="34" charset="0"/>
                  <a:cs typeface="Calibri" panose="020F0502020204030204" pitchFamily="34" charset="0"/>
                </a:rPr>
                <a:t>≥</a:t>
              </a:r>
              <a:r>
                <a:rPr lang="en-US" sz="1332" kern="0">
                  <a:solidFill>
                    <a:srgbClr val="08312A">
                      <a:lumMod val="10000"/>
                    </a:srgbClr>
                  </a:solidFill>
                  <a:latin typeface="Boehringer Forward Head"/>
                </a:rPr>
                <a:t>6 m)</a:t>
              </a:r>
            </a:p>
            <a:p>
              <a:pPr marL="405638" lvl="1" indent="-304230" defTabSz="914377">
                <a:buFont typeface="Arial" panose="020B0604020202020204" pitchFamily="34" charset="0"/>
                <a:buChar char="•"/>
                <a:defRPr/>
              </a:pPr>
              <a:r>
                <a:rPr lang="en-US" sz="1332" kern="0" err="1">
                  <a:solidFill>
                    <a:srgbClr val="08312A">
                      <a:lumMod val="10000"/>
                    </a:srgbClr>
                  </a:solidFill>
                  <a:latin typeface="Boehringer Forward Head"/>
                </a:rPr>
                <a:t>DoR</a:t>
              </a:r>
              <a:r>
                <a:rPr lang="en-US" sz="1332" kern="0">
                  <a:solidFill>
                    <a:srgbClr val="08312A">
                      <a:lumMod val="10000"/>
                    </a:srgbClr>
                  </a:solidFill>
                  <a:latin typeface="Boehringer Forward Head"/>
                </a:rPr>
                <a:t> (</a:t>
              </a:r>
              <a:r>
                <a:rPr lang="en-US" sz="1332" kern="0">
                  <a:solidFill>
                    <a:srgbClr val="08312A">
                      <a:lumMod val="10000"/>
                    </a:srgbClr>
                  </a:solidFill>
                  <a:latin typeface="Calibri" panose="020F0502020204030204" pitchFamily="34" charset="0"/>
                  <a:cs typeface="Calibri" panose="020F0502020204030204" pitchFamily="34" charset="0"/>
                </a:rPr>
                <a:t>≥</a:t>
              </a:r>
              <a:r>
                <a:rPr lang="en-US" sz="1332" kern="0">
                  <a:solidFill>
                    <a:srgbClr val="08312A">
                      <a:lumMod val="10000"/>
                    </a:srgbClr>
                  </a:solidFill>
                  <a:latin typeface="Boehringer Forward Head"/>
                  <a:cs typeface="Calibri" panose="020F0502020204030204" pitchFamily="34" charset="0"/>
                </a:rPr>
                <a:t>8</a:t>
              </a:r>
              <a:r>
                <a:rPr lang="en-US" sz="1332" kern="0">
                  <a:solidFill>
                    <a:srgbClr val="08312A">
                      <a:lumMod val="10000"/>
                    </a:srgbClr>
                  </a:solidFill>
                  <a:latin typeface="Boehringer Forward Head"/>
                </a:rPr>
                <a:t> m)</a:t>
              </a:r>
            </a:p>
            <a:p>
              <a:pPr marL="405638" lvl="1" indent="-304230" defTabSz="914377">
                <a:buFont typeface="Arial" panose="020B0604020202020204" pitchFamily="34" charset="0"/>
                <a:buChar char="•"/>
                <a:defRPr/>
              </a:pPr>
              <a:r>
                <a:rPr lang="en-US" sz="1332" kern="0">
                  <a:solidFill>
                    <a:srgbClr val="08312A">
                      <a:lumMod val="10000"/>
                    </a:srgbClr>
                  </a:solidFill>
                  <a:latin typeface="Boehringer Forward Head"/>
                </a:rPr>
                <a:t>ORR (</a:t>
              </a:r>
              <a:r>
                <a:rPr lang="en-US" sz="1332" kern="0">
                  <a:solidFill>
                    <a:srgbClr val="08312A">
                      <a:lumMod val="10000"/>
                    </a:srgbClr>
                  </a:solidFill>
                  <a:latin typeface="Calibri" panose="020F0502020204030204" pitchFamily="34" charset="0"/>
                  <a:cs typeface="Calibri" panose="020F0502020204030204" pitchFamily="34" charset="0"/>
                </a:rPr>
                <a:t>≥</a:t>
              </a:r>
              <a:r>
                <a:rPr lang="en-US" sz="1332" kern="0">
                  <a:solidFill>
                    <a:srgbClr val="08312A">
                      <a:lumMod val="10000"/>
                    </a:srgbClr>
                  </a:solidFill>
                  <a:latin typeface="Boehringer Forward Head"/>
                </a:rPr>
                <a:t> 45%</a:t>
              </a:r>
              <a:r>
                <a:rPr lang="en-US" sz="1332" kern="0">
                  <a:solidFill>
                    <a:prstClr val="black"/>
                  </a:solidFill>
                  <a:latin typeface="Boehringer Forward Head"/>
                </a:rPr>
                <a:t>)</a:t>
              </a:r>
              <a:br>
                <a:rPr lang="en-US" sz="1332" kern="0">
                  <a:solidFill>
                    <a:prstClr val="black"/>
                  </a:solidFill>
                  <a:latin typeface="Boehringer Forward Head"/>
                </a:rPr>
              </a:br>
              <a:r>
                <a:rPr lang="en-US" sz="1332" kern="0">
                  <a:solidFill>
                    <a:prstClr val="black"/>
                  </a:solidFill>
                  <a:latin typeface="Boehringer Forward Head"/>
                </a:rPr>
                <a:t>QoL</a:t>
              </a:r>
            </a:p>
          </p:txBody>
        </p:sp>
        <p:sp>
          <p:nvSpPr>
            <p:cNvPr id="5" name="TextBox 79">
              <a:extLst>
                <a:ext uri="{FF2B5EF4-FFF2-40B4-BE49-F238E27FC236}">
                  <a16:creationId xmlns:a16="http://schemas.microsoft.com/office/drawing/2014/main" id="{085F907A-3939-9186-09DD-6C45F911CC46}"/>
                </a:ext>
              </a:extLst>
            </p:cNvPr>
            <p:cNvSpPr txBox="1"/>
            <p:nvPr/>
          </p:nvSpPr>
          <p:spPr>
            <a:xfrm>
              <a:off x="314521" y="3416253"/>
              <a:ext cx="861128" cy="179930"/>
            </a:xfrm>
            <a:prstGeom prst="rect">
              <a:avLst/>
            </a:prstGeom>
            <a:noFill/>
          </p:spPr>
          <p:txBody>
            <a:bodyPr wrap="square" lIns="0" tIns="0" rIns="0" bIns="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599" b="1" kern="0" spc="177">
                  <a:solidFill>
                    <a:srgbClr val="FFFFFF"/>
                  </a:solidFill>
                  <a:latin typeface="BISansOptiCond" panose="02000506040000020004" pitchFamily="2" charset="0"/>
                </a:rPr>
                <a:t>Efficacy</a:t>
              </a:r>
              <a:endParaRPr lang="en-US" sz="1599" b="1" kern="0" spc="177">
                <a:solidFill>
                  <a:srgbClr val="99CCFF"/>
                </a:solidFill>
                <a:latin typeface="BISansOptiCond" panose="02000506040000020004" pitchFamily="2" charset="0"/>
              </a:endParaRPr>
            </a:p>
          </p:txBody>
        </p:sp>
      </p:grpSp>
      <p:cxnSp>
        <p:nvCxnSpPr>
          <p:cNvPr id="7" name="Straight Connector 81">
            <a:extLst>
              <a:ext uri="{FF2B5EF4-FFF2-40B4-BE49-F238E27FC236}">
                <a16:creationId xmlns:a16="http://schemas.microsoft.com/office/drawing/2014/main" id="{FFB9095A-72D2-2FB2-30D7-4C0F5A997FB8}"/>
              </a:ext>
            </a:extLst>
          </p:cNvPr>
          <p:cNvCxnSpPr>
            <a:cxnSpLocks/>
          </p:cNvCxnSpPr>
          <p:nvPr/>
        </p:nvCxnSpPr>
        <p:spPr>
          <a:xfrm>
            <a:off x="375814" y="4244480"/>
            <a:ext cx="1742255" cy="0"/>
          </a:xfrm>
          <a:prstGeom prst="line">
            <a:avLst/>
          </a:prstGeom>
          <a:noFill/>
          <a:ln w="15875" cap="rnd" cmpd="sng" algn="ctr">
            <a:solidFill>
              <a:sysClr val="window" lastClr="FFFFFF">
                <a:lumMod val="95000"/>
              </a:sysClr>
            </a:solidFill>
            <a:prstDash val="solid"/>
            <a:miter lim="800000"/>
          </a:ln>
          <a:effectLst/>
        </p:spPr>
      </p:cxnSp>
      <p:cxnSp>
        <p:nvCxnSpPr>
          <p:cNvPr id="10" name="Straight Connector 82">
            <a:extLst>
              <a:ext uri="{FF2B5EF4-FFF2-40B4-BE49-F238E27FC236}">
                <a16:creationId xmlns:a16="http://schemas.microsoft.com/office/drawing/2014/main" id="{5898FD06-4717-59C5-5CD4-BA7D629D4FA2}"/>
              </a:ext>
            </a:extLst>
          </p:cNvPr>
          <p:cNvCxnSpPr>
            <a:cxnSpLocks/>
          </p:cNvCxnSpPr>
          <p:nvPr/>
        </p:nvCxnSpPr>
        <p:spPr>
          <a:xfrm>
            <a:off x="356693" y="2466513"/>
            <a:ext cx="11286356" cy="0"/>
          </a:xfrm>
          <a:prstGeom prst="line">
            <a:avLst/>
          </a:prstGeom>
          <a:noFill/>
          <a:ln w="15875" cap="rnd" cmpd="sng" algn="ctr">
            <a:solidFill>
              <a:sysClr val="window" lastClr="FFFFFF">
                <a:lumMod val="95000"/>
              </a:sysClr>
            </a:solidFill>
            <a:prstDash val="solid"/>
            <a:miter lim="800000"/>
          </a:ln>
          <a:effectLst/>
        </p:spPr>
      </p:cxnSp>
      <p:cxnSp>
        <p:nvCxnSpPr>
          <p:cNvPr id="11" name="Straight Connector 82">
            <a:extLst>
              <a:ext uri="{FF2B5EF4-FFF2-40B4-BE49-F238E27FC236}">
                <a16:creationId xmlns:a16="http://schemas.microsoft.com/office/drawing/2014/main" id="{711DEE6C-3219-B972-4790-79FD6879D51E}"/>
              </a:ext>
            </a:extLst>
          </p:cNvPr>
          <p:cNvCxnSpPr>
            <a:cxnSpLocks/>
          </p:cNvCxnSpPr>
          <p:nvPr/>
        </p:nvCxnSpPr>
        <p:spPr>
          <a:xfrm flipV="1">
            <a:off x="6903046" y="1416341"/>
            <a:ext cx="3231" cy="5161956"/>
          </a:xfrm>
          <a:prstGeom prst="line">
            <a:avLst/>
          </a:prstGeom>
          <a:noFill/>
          <a:ln w="28575" cap="rnd" cmpd="sng" algn="ctr">
            <a:solidFill>
              <a:sysClr val="window" lastClr="FFFFFF">
                <a:lumMod val="95000"/>
              </a:sysClr>
            </a:solidFill>
            <a:prstDash val="solid"/>
            <a:miter lim="800000"/>
          </a:ln>
          <a:effectLst/>
        </p:spPr>
      </p:cxnSp>
      <p:sp>
        <p:nvSpPr>
          <p:cNvPr id="22" name="Rectangle 76">
            <a:extLst>
              <a:ext uri="{FF2B5EF4-FFF2-40B4-BE49-F238E27FC236}">
                <a16:creationId xmlns:a16="http://schemas.microsoft.com/office/drawing/2014/main" id="{3541CEA3-03DD-E56E-CD50-AA5FF7CACC08}"/>
              </a:ext>
            </a:extLst>
          </p:cNvPr>
          <p:cNvSpPr/>
          <p:nvPr/>
        </p:nvSpPr>
        <p:spPr>
          <a:xfrm>
            <a:off x="7177136" y="3532164"/>
            <a:ext cx="4076208" cy="716331"/>
          </a:xfrm>
          <a:prstGeom prst="rect">
            <a:avLst/>
          </a:prstGeom>
          <a:noFill/>
          <a:ln w="3175" cap="flat" cmpd="sng" algn="ctr">
            <a:noFill/>
            <a:prstDash val="solid"/>
            <a:miter lim="800000"/>
          </a:ln>
          <a:effectLst/>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332" b="1" kern="0">
                <a:solidFill>
                  <a:srgbClr val="09352E"/>
                </a:solidFill>
                <a:latin typeface="Boehringer Forward Head"/>
                <a:ea typeface="Times New Roman" panose="02020603050405020304" pitchFamily="18" charset="0"/>
              </a:rPr>
              <a:t>Chemo + targeted drugs:</a:t>
            </a:r>
          </a:p>
          <a:p>
            <a:pPr defTabSz="1218042">
              <a:defRPr/>
            </a:pPr>
            <a:r>
              <a:rPr lang="en-US" sz="1332" kern="0">
                <a:solidFill>
                  <a:prstClr val="black"/>
                </a:solidFill>
                <a:latin typeface="Boehringer Forward Head"/>
              </a:rPr>
              <a:t>Bevacizumab + FOLFIRINOX or FOLFOX</a:t>
            </a:r>
          </a:p>
          <a:p>
            <a:pPr defTabSz="914377">
              <a:defRPr/>
            </a:pPr>
            <a:r>
              <a:rPr lang="en-US" sz="1332" b="1" kern="0">
                <a:solidFill>
                  <a:srgbClr val="09352E"/>
                </a:solidFill>
                <a:latin typeface="Boehringer Forward Head"/>
              </a:rPr>
              <a:t>Pan(K)RAS inhibitors</a:t>
            </a:r>
            <a:endParaRPr lang="en-US" sz="1332" kern="0">
              <a:solidFill>
                <a:srgbClr val="09352E"/>
              </a:solidFill>
              <a:latin typeface="Boehringer Forward Head"/>
            </a:endParaRPr>
          </a:p>
        </p:txBody>
      </p:sp>
      <p:sp>
        <p:nvSpPr>
          <p:cNvPr id="23" name="Rectangle 74">
            <a:extLst>
              <a:ext uri="{FF2B5EF4-FFF2-40B4-BE49-F238E27FC236}">
                <a16:creationId xmlns:a16="http://schemas.microsoft.com/office/drawing/2014/main" id="{E5C434B2-5732-A336-1F23-6A27292815C0}"/>
              </a:ext>
            </a:extLst>
          </p:cNvPr>
          <p:cNvSpPr/>
          <p:nvPr/>
        </p:nvSpPr>
        <p:spPr>
          <a:xfrm>
            <a:off x="6955515" y="1357758"/>
            <a:ext cx="4662028" cy="1053092"/>
          </a:xfrm>
          <a:prstGeom prst="rect">
            <a:avLst/>
          </a:prstGeom>
          <a:solidFill>
            <a:schemeClr val="bg1">
              <a:lumMod val="95000"/>
            </a:schemeClr>
          </a:solidFill>
          <a:ln w="3175" cap="flat" cmpd="sng" algn="ctr">
            <a:noFill/>
            <a:prstDash val="solid"/>
            <a:miter lim="800000"/>
          </a:ln>
          <a:effectLst/>
          <a:scene3d>
            <a:camera prst="orthographicFront"/>
            <a:lightRig rig="threePt" dir="t"/>
          </a:scene3d>
          <a:sp3d>
            <a:bevelT w="114300" prst="artDeco"/>
          </a:sp3d>
        </p:spPr>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77">
              <a:defRPr/>
            </a:pPr>
            <a:endParaRPr lang="en-US" sz="1332" b="1" i="1" kern="0">
              <a:solidFill>
                <a:prstClr val="black"/>
              </a:solidFill>
              <a:latin typeface="Boehringer Forward Head"/>
              <a:cs typeface="Angsana New" panose="02020603050405020304" pitchFamily="18" charset="-34"/>
            </a:endParaRPr>
          </a:p>
          <a:p>
            <a:pPr algn="ctr">
              <a:defRPr/>
            </a:pPr>
            <a:r>
              <a:rPr lang="en-US" sz="1267" b="1" i="1" kern="0">
                <a:solidFill>
                  <a:prstClr val="black"/>
                </a:solidFill>
                <a:latin typeface="Boehringer Forward Head"/>
                <a:cs typeface="Angsana New"/>
              </a:rPr>
              <a:t>In combo w/ 1L SoC (</a:t>
            </a:r>
            <a:r>
              <a:rPr lang="en-US" sz="1267" b="1" i="1" kern="0" err="1">
                <a:solidFill>
                  <a:prstClr val="black"/>
                </a:solidFill>
                <a:latin typeface="Boehringer Forward Head"/>
                <a:cs typeface="Angsana New"/>
              </a:rPr>
              <a:t>FOLFOX+beva</a:t>
            </a:r>
            <a:r>
              <a:rPr lang="en-US" sz="1267" b="1" i="1" kern="0">
                <a:solidFill>
                  <a:prstClr val="black"/>
                </a:solidFill>
                <a:latin typeface="Boehringer Forward Head"/>
                <a:cs typeface="Angsana New"/>
              </a:rPr>
              <a:t>) + </a:t>
            </a:r>
            <a:r>
              <a:rPr lang="en-US" sz="1267" b="1" i="1" kern="0" err="1">
                <a:solidFill>
                  <a:prstClr val="black"/>
                </a:solidFill>
                <a:latin typeface="Boehringer Forward Head"/>
                <a:cs typeface="Angsana New"/>
              </a:rPr>
              <a:t>cetux</a:t>
            </a:r>
            <a:r>
              <a:rPr lang="en-US" sz="1267" b="1" i="1" kern="0">
                <a:solidFill>
                  <a:prstClr val="black"/>
                </a:solidFill>
                <a:latin typeface="Boehringer Forward Head"/>
                <a:cs typeface="Angsana New"/>
              </a:rPr>
              <a:t> for the therapy of patients with mCRC with KRAS G12D mut, as determined by an FDA approved test</a:t>
            </a:r>
          </a:p>
        </p:txBody>
      </p:sp>
      <p:sp>
        <p:nvSpPr>
          <p:cNvPr id="24" name="Rectangle 75">
            <a:extLst>
              <a:ext uri="{FF2B5EF4-FFF2-40B4-BE49-F238E27FC236}">
                <a16:creationId xmlns:a16="http://schemas.microsoft.com/office/drawing/2014/main" id="{E9862CA6-F5CA-24E0-B17A-6A90908E8F7E}"/>
              </a:ext>
            </a:extLst>
          </p:cNvPr>
          <p:cNvSpPr/>
          <p:nvPr/>
        </p:nvSpPr>
        <p:spPr>
          <a:xfrm>
            <a:off x="7062979" y="2579735"/>
            <a:ext cx="4697355" cy="48378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104228" lvl="1" defTabSz="1218042">
              <a:defRPr/>
            </a:pPr>
            <a:r>
              <a:rPr lang="en-US" sz="1332" b="1">
                <a:solidFill>
                  <a:prstClr val="black"/>
                </a:solidFill>
                <a:latin typeface="Boehringer Forward Head"/>
              </a:rPr>
              <a:t>Very low life expectancy and QoL </a:t>
            </a:r>
            <a:r>
              <a:rPr lang="en-US" sz="1332">
                <a:solidFill>
                  <a:prstClr val="black"/>
                </a:solidFill>
                <a:latin typeface="Boehringer Forward Head"/>
              </a:rPr>
              <a:t>for patients with </a:t>
            </a:r>
            <a:r>
              <a:rPr lang="en-US" sz="1332" err="1">
                <a:solidFill>
                  <a:prstClr val="black"/>
                </a:solidFill>
                <a:latin typeface="Boehringer Forward Head"/>
              </a:rPr>
              <a:t>KRASmut</a:t>
            </a:r>
            <a:r>
              <a:rPr lang="en-US" sz="1332">
                <a:solidFill>
                  <a:prstClr val="black"/>
                </a:solidFill>
                <a:latin typeface="Boehringer Forward Head"/>
              </a:rPr>
              <a:t> mCRC and need for a targeted oral therapy</a:t>
            </a:r>
          </a:p>
        </p:txBody>
      </p:sp>
      <p:sp>
        <p:nvSpPr>
          <p:cNvPr id="36" name="Rectangle 75">
            <a:extLst>
              <a:ext uri="{FF2B5EF4-FFF2-40B4-BE49-F238E27FC236}">
                <a16:creationId xmlns:a16="http://schemas.microsoft.com/office/drawing/2014/main" id="{863CF19D-7C7D-DF2E-0D24-052422E3233D}"/>
              </a:ext>
            </a:extLst>
          </p:cNvPr>
          <p:cNvSpPr/>
          <p:nvPr/>
        </p:nvSpPr>
        <p:spPr>
          <a:xfrm>
            <a:off x="7173551" y="4328335"/>
            <a:ext cx="3579424" cy="122471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lvl="1" defTabSz="1218042">
              <a:defRPr/>
            </a:pPr>
            <a:r>
              <a:rPr lang="en-US" sz="1332" b="1">
                <a:solidFill>
                  <a:prstClr val="black"/>
                </a:solidFill>
                <a:latin typeface="Boehringer Forward Head"/>
              </a:rPr>
              <a:t>Primary endpoint: </a:t>
            </a:r>
          </a:p>
          <a:p>
            <a:pPr marL="405638" lvl="1" indent="-304230" defTabSz="914377">
              <a:buFont typeface="Arial" panose="020B0604020202020204" pitchFamily="34" charset="0"/>
              <a:buChar char="•"/>
              <a:defRPr/>
            </a:pPr>
            <a:r>
              <a:rPr lang="en-US" sz="1332" err="1">
                <a:solidFill>
                  <a:prstClr val="black"/>
                </a:solidFill>
                <a:latin typeface="Boehringer Forward Head"/>
              </a:rPr>
              <a:t>mOS</a:t>
            </a:r>
            <a:r>
              <a:rPr lang="en-US" sz="1332">
                <a:solidFill>
                  <a:prstClr val="black"/>
                </a:solidFill>
                <a:latin typeface="Boehringer Forward Head"/>
              </a:rPr>
              <a:t> Improved, HR≤ 0.7 vs. SoC</a:t>
            </a:r>
          </a:p>
          <a:p>
            <a:pPr marL="405638" lvl="1" indent="-304230" defTabSz="914377">
              <a:buFont typeface="Arial" panose="020B0604020202020204" pitchFamily="34" charset="0"/>
              <a:buChar char="•"/>
              <a:defRPr/>
            </a:pPr>
            <a:r>
              <a:rPr lang="en-US" sz="1332" err="1">
                <a:solidFill>
                  <a:prstClr val="black"/>
                </a:solidFill>
                <a:latin typeface="Boehringer Forward Head"/>
              </a:rPr>
              <a:t>mPFS</a:t>
            </a:r>
            <a:r>
              <a:rPr lang="en-US" sz="1332">
                <a:solidFill>
                  <a:prstClr val="black"/>
                </a:solidFill>
                <a:latin typeface="Boehringer Forward Head"/>
              </a:rPr>
              <a:t>(</a:t>
            </a:r>
            <a:r>
              <a:rPr lang="en-US" sz="1332">
                <a:solidFill>
                  <a:prstClr val="black"/>
                </a:solidFill>
                <a:latin typeface="Calibri" panose="020F0502020204030204" pitchFamily="34" charset="0"/>
                <a:cs typeface="Calibri" panose="020F0502020204030204" pitchFamily="34" charset="0"/>
              </a:rPr>
              <a:t>≥12</a:t>
            </a:r>
            <a:r>
              <a:rPr lang="en-US" sz="1332">
                <a:solidFill>
                  <a:prstClr val="black"/>
                </a:solidFill>
                <a:latin typeface="Boehringer Forward Head"/>
              </a:rPr>
              <a:t>m)</a:t>
            </a:r>
          </a:p>
          <a:p>
            <a:pPr marL="0" lvl="1" defTabSz="1218042">
              <a:defRPr/>
            </a:pPr>
            <a:r>
              <a:rPr lang="en-US" sz="1332" b="1">
                <a:solidFill>
                  <a:prstClr val="black"/>
                </a:solidFill>
                <a:latin typeface="Boehringer Forward Head"/>
              </a:rPr>
              <a:t>Secondary endpoints:</a:t>
            </a:r>
          </a:p>
          <a:p>
            <a:pPr marL="405638" lvl="1" indent="-304230" defTabSz="1218042">
              <a:buFont typeface="Arial" panose="020B0604020202020204" pitchFamily="34" charset="0"/>
              <a:buChar char="•"/>
              <a:defRPr/>
            </a:pPr>
            <a:r>
              <a:rPr lang="en-US" sz="1332">
                <a:solidFill>
                  <a:prstClr val="black"/>
                </a:solidFill>
                <a:latin typeface="Boehringer Forward Head"/>
              </a:rPr>
              <a:t>ORR (&gt;65-70%)</a:t>
            </a:r>
            <a:br>
              <a:rPr lang="en-US" sz="1332">
                <a:solidFill>
                  <a:prstClr val="black"/>
                </a:solidFill>
                <a:latin typeface="Boehringer Forward Head"/>
              </a:rPr>
            </a:br>
            <a:r>
              <a:rPr lang="en-US" sz="1332">
                <a:solidFill>
                  <a:prstClr val="black"/>
                </a:solidFill>
                <a:latin typeface="Boehringer Forward Head"/>
              </a:rPr>
              <a:t>QoL</a:t>
            </a:r>
          </a:p>
          <a:p>
            <a:pPr marL="405638" lvl="1" indent="-304230" defTabSz="1218042">
              <a:buFont typeface="Arial" panose="020B0604020202020204" pitchFamily="34" charset="0"/>
              <a:buChar char="•"/>
              <a:defRPr/>
            </a:pPr>
            <a:endParaRPr lang="en-US" sz="1332">
              <a:solidFill>
                <a:prstClr val="black"/>
              </a:solidFill>
              <a:latin typeface="Boehringer Forward Head"/>
            </a:endParaRPr>
          </a:p>
        </p:txBody>
      </p:sp>
      <p:cxnSp>
        <p:nvCxnSpPr>
          <p:cNvPr id="40" name="Straight Connector 81">
            <a:extLst>
              <a:ext uri="{FF2B5EF4-FFF2-40B4-BE49-F238E27FC236}">
                <a16:creationId xmlns:a16="http://schemas.microsoft.com/office/drawing/2014/main" id="{E4878B77-AA81-2E75-9360-E6214CE77801}"/>
              </a:ext>
            </a:extLst>
          </p:cNvPr>
          <p:cNvCxnSpPr>
            <a:cxnSpLocks/>
          </p:cNvCxnSpPr>
          <p:nvPr/>
        </p:nvCxnSpPr>
        <p:spPr>
          <a:xfrm flipV="1">
            <a:off x="2161036" y="5624953"/>
            <a:ext cx="9255827" cy="29811"/>
          </a:xfrm>
          <a:prstGeom prst="line">
            <a:avLst/>
          </a:prstGeom>
          <a:noFill/>
          <a:ln w="15875" cap="rnd" cmpd="sng" algn="ctr">
            <a:solidFill>
              <a:sysClr val="window" lastClr="FFFFFF">
                <a:lumMod val="95000"/>
              </a:sysClr>
            </a:solidFill>
            <a:prstDash val="solid"/>
            <a:miter lim="800000"/>
          </a:ln>
          <a:effectLst/>
        </p:spPr>
      </p:cxnSp>
      <p:cxnSp>
        <p:nvCxnSpPr>
          <p:cNvPr id="48" name="Straight Connector 81">
            <a:extLst>
              <a:ext uri="{FF2B5EF4-FFF2-40B4-BE49-F238E27FC236}">
                <a16:creationId xmlns:a16="http://schemas.microsoft.com/office/drawing/2014/main" id="{524485B8-8274-8012-DAC7-1B5E7BDFF7C3}"/>
              </a:ext>
            </a:extLst>
          </p:cNvPr>
          <p:cNvCxnSpPr>
            <a:cxnSpLocks/>
          </p:cNvCxnSpPr>
          <p:nvPr/>
        </p:nvCxnSpPr>
        <p:spPr>
          <a:xfrm>
            <a:off x="340198" y="5654764"/>
            <a:ext cx="1742255" cy="0"/>
          </a:xfrm>
          <a:prstGeom prst="line">
            <a:avLst/>
          </a:prstGeom>
          <a:noFill/>
          <a:ln w="15875" cap="rnd" cmpd="sng" algn="ctr">
            <a:solidFill>
              <a:sysClr val="window" lastClr="FFFFFF">
                <a:lumMod val="95000"/>
              </a:sysClr>
            </a:solidFill>
            <a:prstDash val="solid"/>
            <a:miter lim="800000"/>
          </a:ln>
          <a:effectLst/>
        </p:spPr>
      </p:cxnSp>
      <p:sp>
        <p:nvSpPr>
          <p:cNvPr id="54" name="TextBox 79">
            <a:extLst>
              <a:ext uri="{FF2B5EF4-FFF2-40B4-BE49-F238E27FC236}">
                <a16:creationId xmlns:a16="http://schemas.microsoft.com/office/drawing/2014/main" id="{1C19988E-3BD0-3FC3-E5D9-CD0CF0E4C2F8}"/>
              </a:ext>
            </a:extLst>
          </p:cNvPr>
          <p:cNvSpPr txBox="1"/>
          <p:nvPr/>
        </p:nvSpPr>
        <p:spPr>
          <a:xfrm>
            <a:off x="499928" y="5735470"/>
            <a:ext cx="1147109" cy="492186"/>
          </a:xfrm>
          <a:prstGeom prst="rect">
            <a:avLst/>
          </a:prstGeom>
          <a:noFill/>
        </p:spPr>
        <p:txBody>
          <a:bodyPr wrap="square" lIns="0" tIns="0" rIns="0" bIns="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1218042">
              <a:defRPr/>
            </a:pPr>
            <a:r>
              <a:rPr lang="en-US" sz="1599" b="1" kern="0" spc="177">
                <a:solidFill>
                  <a:srgbClr val="FFFFFF"/>
                </a:solidFill>
                <a:latin typeface="BISansOptiCond" panose="02000506040000020004" pitchFamily="2" charset="0"/>
              </a:rPr>
              <a:t>Benchmark</a:t>
            </a:r>
          </a:p>
          <a:p>
            <a:pPr defTabSz="1218042">
              <a:defRPr/>
            </a:pPr>
            <a:r>
              <a:rPr lang="en-US" sz="1599" b="1" kern="0" spc="177">
                <a:solidFill>
                  <a:srgbClr val="FFFFFF"/>
                </a:solidFill>
                <a:latin typeface="BISansOptiCond" panose="02000506040000020004" pitchFamily="2" charset="0"/>
              </a:rPr>
              <a:t>Efficacy</a:t>
            </a:r>
            <a:endParaRPr lang="en-US" sz="1599" b="1" kern="0" spc="177">
              <a:solidFill>
                <a:srgbClr val="99CCFF"/>
              </a:solidFill>
              <a:latin typeface="BISansOptiCond" panose="02000506040000020004" pitchFamily="2" charset="0"/>
            </a:endParaRPr>
          </a:p>
        </p:txBody>
      </p:sp>
      <p:sp>
        <p:nvSpPr>
          <p:cNvPr id="55" name="Rectangle 54">
            <a:extLst>
              <a:ext uri="{FF2B5EF4-FFF2-40B4-BE49-F238E27FC236}">
                <a16:creationId xmlns:a16="http://schemas.microsoft.com/office/drawing/2014/main" id="{D91D25FD-9095-E7CD-8731-7A8BCE1702E1}"/>
              </a:ext>
            </a:extLst>
          </p:cNvPr>
          <p:cNvSpPr/>
          <p:nvPr/>
        </p:nvSpPr>
        <p:spPr>
          <a:xfrm>
            <a:off x="2227325" y="5748670"/>
            <a:ext cx="962145"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400" b="1" spc="-31">
              <a:solidFill>
                <a:srgbClr val="FFFFFF"/>
              </a:solidFill>
              <a:latin typeface="Arial"/>
            </a:endParaRPr>
          </a:p>
          <a:p>
            <a:pPr algn="ctr" defTabSz="913532">
              <a:defRPr/>
            </a:pPr>
            <a:r>
              <a:rPr lang="en-US" sz="1199" b="1" spc="-31">
                <a:solidFill>
                  <a:srgbClr val="FFFFFF"/>
                </a:solidFill>
                <a:latin typeface="Arial"/>
              </a:rPr>
              <a:t>L± B </a:t>
            </a:r>
            <a:r>
              <a:rPr lang="en-US" sz="1199" spc="-31">
                <a:solidFill>
                  <a:srgbClr val="FFFFFF"/>
                </a:solidFill>
                <a:latin typeface="Arial"/>
              </a:rPr>
              <a:t>(2-3L)</a:t>
            </a:r>
          </a:p>
          <a:p>
            <a:pPr algn="ctr" defTabSz="913532">
              <a:defRPr/>
            </a:pPr>
            <a:r>
              <a:rPr lang="en-US" sz="1067" spc="-31" err="1">
                <a:solidFill>
                  <a:prstClr val="white"/>
                </a:solidFill>
                <a:latin typeface="Arial"/>
              </a:rPr>
              <a:t>mOS</a:t>
            </a:r>
            <a:r>
              <a:rPr lang="en-US" sz="1067" spc="-31">
                <a:solidFill>
                  <a:prstClr val="white"/>
                </a:solidFill>
                <a:latin typeface="Arial"/>
              </a:rPr>
              <a:t> - 10.8.m</a:t>
            </a:r>
          </a:p>
          <a:p>
            <a:pPr algn="ctr" defTabSz="913532">
              <a:defRPr/>
            </a:pPr>
            <a:r>
              <a:rPr lang="en-US" sz="1067" spc="-31" err="1">
                <a:solidFill>
                  <a:prstClr val="white"/>
                </a:solidFill>
                <a:latin typeface="Arial"/>
              </a:rPr>
              <a:t>mPFS</a:t>
            </a:r>
            <a:r>
              <a:rPr lang="en-US" sz="1067" spc="-31">
                <a:solidFill>
                  <a:prstClr val="white"/>
                </a:solidFill>
                <a:latin typeface="Arial"/>
              </a:rPr>
              <a:t> - 5.6m</a:t>
            </a:r>
          </a:p>
          <a:p>
            <a:pPr algn="ctr" defTabSz="913532">
              <a:defRPr/>
            </a:pPr>
            <a:r>
              <a:rPr lang="en-US" sz="1067" spc="-31">
                <a:solidFill>
                  <a:prstClr val="white"/>
                </a:solidFill>
                <a:latin typeface="Arial"/>
              </a:rPr>
              <a:t>ORR – 6.1%</a:t>
            </a:r>
          </a:p>
        </p:txBody>
      </p:sp>
      <p:sp>
        <p:nvSpPr>
          <p:cNvPr id="58" name="Rectangle 57">
            <a:extLst>
              <a:ext uri="{FF2B5EF4-FFF2-40B4-BE49-F238E27FC236}">
                <a16:creationId xmlns:a16="http://schemas.microsoft.com/office/drawing/2014/main" id="{4069A98F-D585-3B99-B0CD-91FD2E1F4A2E}"/>
              </a:ext>
            </a:extLst>
          </p:cNvPr>
          <p:cNvSpPr/>
          <p:nvPr/>
        </p:nvSpPr>
        <p:spPr>
          <a:xfrm>
            <a:off x="3827857" y="5748670"/>
            <a:ext cx="962145"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267" b="1" spc="-31">
              <a:solidFill>
                <a:srgbClr val="FFFFFF"/>
              </a:solidFill>
              <a:latin typeface="Arial"/>
            </a:endParaRPr>
          </a:p>
          <a:p>
            <a:pPr algn="ctr" defTabSz="913532">
              <a:defRPr/>
            </a:pPr>
            <a:r>
              <a:rPr lang="en-US" sz="932" b="1" spc="-31" err="1">
                <a:solidFill>
                  <a:prstClr val="white"/>
                </a:solidFill>
                <a:latin typeface="Arial"/>
              </a:rPr>
              <a:t>Fruquintinib</a:t>
            </a:r>
            <a:r>
              <a:rPr lang="en-US" sz="932" b="1" spc="-31">
                <a:solidFill>
                  <a:prstClr val="white"/>
                </a:solidFill>
                <a:latin typeface="Arial"/>
              </a:rPr>
              <a:t> </a:t>
            </a:r>
          </a:p>
          <a:p>
            <a:pPr algn="ctr" defTabSz="913532">
              <a:defRPr/>
            </a:pPr>
            <a:r>
              <a:rPr lang="en-US" sz="932" spc="-31">
                <a:solidFill>
                  <a:prstClr val="white"/>
                </a:solidFill>
                <a:latin typeface="Arial"/>
              </a:rPr>
              <a:t>(3L+) mono:</a:t>
            </a:r>
          </a:p>
          <a:p>
            <a:pPr algn="ctr" defTabSz="913532">
              <a:defRPr/>
            </a:pPr>
            <a:r>
              <a:rPr lang="en-US" sz="932" spc="-31" err="1">
                <a:solidFill>
                  <a:prstClr val="white"/>
                </a:solidFill>
                <a:latin typeface="Arial"/>
              </a:rPr>
              <a:t>mOS</a:t>
            </a:r>
            <a:r>
              <a:rPr lang="en-US" sz="932" spc="-31">
                <a:solidFill>
                  <a:prstClr val="white"/>
                </a:solidFill>
                <a:latin typeface="Arial"/>
              </a:rPr>
              <a:t> – 7.4m</a:t>
            </a:r>
          </a:p>
          <a:p>
            <a:pPr algn="ctr" defTabSz="913532">
              <a:defRPr/>
            </a:pPr>
            <a:r>
              <a:rPr lang="en-US" sz="932" spc="-31" err="1">
                <a:solidFill>
                  <a:prstClr val="white"/>
                </a:solidFill>
                <a:latin typeface="Arial"/>
              </a:rPr>
              <a:t>mPFS</a:t>
            </a:r>
            <a:r>
              <a:rPr lang="en-US" sz="932" spc="-31">
                <a:solidFill>
                  <a:prstClr val="white"/>
                </a:solidFill>
                <a:latin typeface="Arial"/>
              </a:rPr>
              <a:t> – 3.7m</a:t>
            </a:r>
          </a:p>
          <a:p>
            <a:pPr algn="ctr" defTabSz="913532">
              <a:defRPr/>
            </a:pPr>
            <a:r>
              <a:rPr lang="en-US" sz="932" spc="-31">
                <a:solidFill>
                  <a:prstClr val="white"/>
                </a:solidFill>
                <a:latin typeface="Arial"/>
              </a:rPr>
              <a:t>ORR: 4.7% </a:t>
            </a:r>
          </a:p>
        </p:txBody>
      </p:sp>
      <p:sp>
        <p:nvSpPr>
          <p:cNvPr id="59" name="Rectangle 58">
            <a:extLst>
              <a:ext uri="{FF2B5EF4-FFF2-40B4-BE49-F238E27FC236}">
                <a16:creationId xmlns:a16="http://schemas.microsoft.com/office/drawing/2014/main" id="{37743E71-D336-E9F5-0C02-58366416CFB9}"/>
              </a:ext>
            </a:extLst>
          </p:cNvPr>
          <p:cNvSpPr/>
          <p:nvPr/>
        </p:nvSpPr>
        <p:spPr>
          <a:xfrm>
            <a:off x="5450490" y="5748670"/>
            <a:ext cx="962145"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400" b="1" spc="-31">
              <a:solidFill>
                <a:srgbClr val="FFFFFF"/>
              </a:solidFill>
              <a:latin typeface="Arial"/>
            </a:endParaRPr>
          </a:p>
          <a:p>
            <a:pPr algn="ctr" defTabSz="913532">
              <a:defRPr/>
            </a:pPr>
            <a:r>
              <a:rPr lang="en-US" sz="1067" b="1" spc="-31" err="1">
                <a:solidFill>
                  <a:srgbClr val="FFFFFF"/>
                </a:solidFill>
                <a:latin typeface="Arial"/>
              </a:rPr>
              <a:t>Lonsurf</a:t>
            </a:r>
            <a:r>
              <a:rPr lang="en-US" sz="1067" b="1" spc="-31">
                <a:solidFill>
                  <a:srgbClr val="FFFFFF"/>
                </a:solidFill>
                <a:latin typeface="Arial"/>
              </a:rPr>
              <a:t> </a:t>
            </a:r>
            <a:r>
              <a:rPr lang="en-US" sz="1067" spc="-31">
                <a:solidFill>
                  <a:srgbClr val="FFFFFF"/>
                </a:solidFill>
                <a:latin typeface="Arial"/>
              </a:rPr>
              <a:t>(3L+)</a:t>
            </a:r>
          </a:p>
          <a:p>
            <a:pPr algn="ctr" defTabSz="913532">
              <a:defRPr/>
            </a:pPr>
            <a:r>
              <a:rPr lang="en-US" sz="932" spc="-31" err="1">
                <a:solidFill>
                  <a:prstClr val="white"/>
                </a:solidFill>
                <a:latin typeface="Arial"/>
              </a:rPr>
              <a:t>mOS</a:t>
            </a:r>
            <a:r>
              <a:rPr lang="en-US" sz="932" spc="-31">
                <a:solidFill>
                  <a:prstClr val="white"/>
                </a:solidFill>
                <a:latin typeface="Arial"/>
              </a:rPr>
              <a:t> – 7.2 m</a:t>
            </a:r>
          </a:p>
          <a:p>
            <a:pPr algn="ctr" defTabSz="913532">
              <a:defRPr/>
            </a:pPr>
            <a:r>
              <a:rPr lang="en-US" sz="932" spc="-31" err="1">
                <a:solidFill>
                  <a:prstClr val="white"/>
                </a:solidFill>
                <a:latin typeface="Arial"/>
              </a:rPr>
              <a:t>mPFS</a:t>
            </a:r>
            <a:r>
              <a:rPr lang="en-US" sz="932" spc="-31">
                <a:solidFill>
                  <a:prstClr val="white"/>
                </a:solidFill>
                <a:latin typeface="Arial"/>
              </a:rPr>
              <a:t> – 2.4 m</a:t>
            </a:r>
          </a:p>
          <a:p>
            <a:pPr algn="ctr" defTabSz="913532">
              <a:defRPr/>
            </a:pPr>
            <a:r>
              <a:rPr lang="en-US" sz="932" spc="-31">
                <a:solidFill>
                  <a:prstClr val="white"/>
                </a:solidFill>
                <a:latin typeface="Arial"/>
              </a:rPr>
              <a:t>ORR – 1.2%</a:t>
            </a:r>
          </a:p>
        </p:txBody>
      </p:sp>
      <p:sp>
        <p:nvSpPr>
          <p:cNvPr id="9" name="Rectangle 63">
            <a:extLst>
              <a:ext uri="{FF2B5EF4-FFF2-40B4-BE49-F238E27FC236}">
                <a16:creationId xmlns:a16="http://schemas.microsoft.com/office/drawing/2014/main" id="{C2B2B1C5-0259-1085-656A-66CF6436DD8D}"/>
              </a:ext>
            </a:extLst>
          </p:cNvPr>
          <p:cNvSpPr/>
          <p:nvPr/>
        </p:nvSpPr>
        <p:spPr>
          <a:xfrm>
            <a:off x="7393708" y="5736007"/>
            <a:ext cx="962145"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400" b="1" spc="-31">
              <a:solidFill>
                <a:srgbClr val="FFFFFF"/>
              </a:solidFill>
              <a:latin typeface="Arial"/>
            </a:endParaRPr>
          </a:p>
          <a:p>
            <a:pPr algn="ctr" defTabSz="913532">
              <a:defRPr/>
            </a:pPr>
            <a:r>
              <a:rPr lang="en-US" sz="799" b="1" spc="-31">
                <a:solidFill>
                  <a:srgbClr val="FFFFFF"/>
                </a:solidFill>
                <a:latin typeface="Arial"/>
              </a:rPr>
              <a:t>TRIBE 1 Study</a:t>
            </a:r>
            <a:br>
              <a:rPr lang="en-US" sz="799" b="1" spc="-31">
                <a:solidFill>
                  <a:srgbClr val="FFFFFF"/>
                </a:solidFill>
                <a:latin typeface="Arial"/>
              </a:rPr>
            </a:br>
            <a:r>
              <a:rPr lang="en-US" sz="799" b="1" spc="-31">
                <a:solidFill>
                  <a:srgbClr val="FFFFFF"/>
                </a:solidFill>
                <a:latin typeface="Arial"/>
              </a:rPr>
              <a:t>FOLFIRI + BEV </a:t>
            </a:r>
            <a:r>
              <a:rPr lang="en-US" sz="799" spc="-31">
                <a:solidFill>
                  <a:srgbClr val="FFFFFF"/>
                </a:solidFill>
                <a:latin typeface="Arial"/>
              </a:rPr>
              <a:t>(1L)</a:t>
            </a:r>
          </a:p>
          <a:p>
            <a:pPr algn="ctr" defTabSz="913532">
              <a:defRPr/>
            </a:pPr>
            <a:r>
              <a:rPr lang="en-US" sz="1067" spc="-31" err="1">
                <a:solidFill>
                  <a:prstClr val="white"/>
                </a:solidFill>
                <a:latin typeface="Arial"/>
              </a:rPr>
              <a:t>mOS</a:t>
            </a:r>
            <a:r>
              <a:rPr lang="en-US" sz="1067" spc="-31">
                <a:solidFill>
                  <a:prstClr val="white"/>
                </a:solidFill>
                <a:latin typeface="Arial"/>
              </a:rPr>
              <a:t> – 23.9m</a:t>
            </a:r>
          </a:p>
          <a:p>
            <a:pPr algn="ctr" defTabSz="913532">
              <a:defRPr/>
            </a:pPr>
            <a:r>
              <a:rPr lang="en-US" sz="1067" spc="-31" err="1">
                <a:solidFill>
                  <a:prstClr val="white"/>
                </a:solidFill>
                <a:latin typeface="Arial"/>
              </a:rPr>
              <a:t>mPFS</a:t>
            </a:r>
            <a:r>
              <a:rPr lang="en-US" sz="1067" spc="-31">
                <a:solidFill>
                  <a:prstClr val="white"/>
                </a:solidFill>
                <a:latin typeface="Arial"/>
              </a:rPr>
              <a:t> – 9.5 m</a:t>
            </a:r>
          </a:p>
          <a:p>
            <a:pPr algn="ctr" defTabSz="913532">
              <a:defRPr/>
            </a:pPr>
            <a:r>
              <a:rPr lang="en-US" sz="1067" spc="-31">
                <a:solidFill>
                  <a:prstClr val="white"/>
                </a:solidFill>
                <a:latin typeface="Arial"/>
              </a:rPr>
              <a:t>ORR – 55%</a:t>
            </a:r>
          </a:p>
        </p:txBody>
      </p:sp>
      <p:sp>
        <p:nvSpPr>
          <p:cNvPr id="12" name="Rectangle 63">
            <a:extLst>
              <a:ext uri="{FF2B5EF4-FFF2-40B4-BE49-F238E27FC236}">
                <a16:creationId xmlns:a16="http://schemas.microsoft.com/office/drawing/2014/main" id="{1F8BA6E0-C349-B68C-BD3A-AADE9A6092E2}"/>
              </a:ext>
            </a:extLst>
          </p:cNvPr>
          <p:cNvSpPr/>
          <p:nvPr/>
        </p:nvSpPr>
        <p:spPr>
          <a:xfrm>
            <a:off x="8762103" y="5752738"/>
            <a:ext cx="1140240"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400" b="1" spc="-31">
              <a:solidFill>
                <a:srgbClr val="FFFFFF"/>
              </a:solidFill>
              <a:latin typeface="Arial"/>
            </a:endParaRPr>
          </a:p>
          <a:p>
            <a:pPr algn="ctr" defTabSz="913532">
              <a:defRPr/>
            </a:pPr>
            <a:r>
              <a:rPr lang="en-US" sz="799" b="1" spc="-31">
                <a:solidFill>
                  <a:srgbClr val="FFFFFF"/>
                </a:solidFill>
                <a:latin typeface="Arial"/>
              </a:rPr>
              <a:t>TRIBE 2 Study</a:t>
            </a:r>
            <a:br>
              <a:rPr lang="en-US" sz="799" b="1" spc="-31">
                <a:solidFill>
                  <a:srgbClr val="FFFFFF"/>
                </a:solidFill>
                <a:latin typeface="Arial"/>
              </a:rPr>
            </a:br>
            <a:r>
              <a:rPr lang="en-US" sz="799" b="1" spc="-31">
                <a:solidFill>
                  <a:srgbClr val="FFFFFF"/>
                </a:solidFill>
                <a:latin typeface="Arial"/>
              </a:rPr>
              <a:t>mFOLFOX6 + BEV </a:t>
            </a:r>
            <a:r>
              <a:rPr lang="en-US" sz="799" spc="-31">
                <a:solidFill>
                  <a:srgbClr val="FFFFFF"/>
                </a:solidFill>
                <a:latin typeface="Arial"/>
              </a:rPr>
              <a:t>(1L)</a:t>
            </a:r>
          </a:p>
          <a:p>
            <a:pPr algn="ctr" defTabSz="913532">
              <a:defRPr/>
            </a:pPr>
            <a:r>
              <a:rPr lang="en-US" sz="1067" spc="-31" err="1">
                <a:solidFill>
                  <a:prstClr val="white"/>
                </a:solidFill>
                <a:latin typeface="Arial"/>
              </a:rPr>
              <a:t>mOS</a:t>
            </a:r>
            <a:r>
              <a:rPr lang="en-US" sz="1067" spc="-31">
                <a:solidFill>
                  <a:prstClr val="white"/>
                </a:solidFill>
                <a:latin typeface="Arial"/>
              </a:rPr>
              <a:t> – 22.5m</a:t>
            </a:r>
          </a:p>
          <a:p>
            <a:pPr algn="ctr" defTabSz="913532">
              <a:defRPr/>
            </a:pPr>
            <a:r>
              <a:rPr lang="en-US" sz="1067" spc="-31" err="1">
                <a:solidFill>
                  <a:prstClr val="white"/>
                </a:solidFill>
                <a:latin typeface="Arial"/>
              </a:rPr>
              <a:t>mPFS</a:t>
            </a:r>
            <a:r>
              <a:rPr lang="en-US" sz="1067" spc="-31">
                <a:solidFill>
                  <a:prstClr val="white"/>
                </a:solidFill>
                <a:latin typeface="Arial"/>
              </a:rPr>
              <a:t> – 9.8 m</a:t>
            </a:r>
          </a:p>
          <a:p>
            <a:pPr algn="ctr" defTabSz="913532">
              <a:defRPr/>
            </a:pPr>
            <a:r>
              <a:rPr lang="en-US" sz="1067" spc="-31">
                <a:solidFill>
                  <a:prstClr val="white"/>
                </a:solidFill>
                <a:latin typeface="Arial"/>
              </a:rPr>
              <a:t>ORR – 50%</a:t>
            </a:r>
          </a:p>
        </p:txBody>
      </p:sp>
      <p:sp>
        <p:nvSpPr>
          <p:cNvPr id="13" name="Rectangle 63">
            <a:extLst>
              <a:ext uri="{FF2B5EF4-FFF2-40B4-BE49-F238E27FC236}">
                <a16:creationId xmlns:a16="http://schemas.microsoft.com/office/drawing/2014/main" id="{8CF47B94-21F0-5393-1849-7E7AEA79230F}"/>
              </a:ext>
            </a:extLst>
          </p:cNvPr>
          <p:cNvSpPr/>
          <p:nvPr/>
        </p:nvSpPr>
        <p:spPr>
          <a:xfrm>
            <a:off x="10243343" y="5764209"/>
            <a:ext cx="1140240" cy="780884"/>
          </a:xfrm>
          <a:prstGeom prst="rect">
            <a:avLst/>
          </a:prstGeom>
          <a:solidFill>
            <a:srgbClr val="0935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400" b="1" spc="-31">
              <a:solidFill>
                <a:srgbClr val="FFFFFF"/>
              </a:solidFill>
              <a:latin typeface="Arial"/>
            </a:endParaRPr>
          </a:p>
          <a:p>
            <a:pPr algn="ctr" defTabSz="913532">
              <a:defRPr/>
            </a:pPr>
            <a:r>
              <a:rPr lang="en-US" sz="799" b="1" spc="-31">
                <a:solidFill>
                  <a:srgbClr val="FFFFFF"/>
                </a:solidFill>
                <a:latin typeface="Arial"/>
              </a:rPr>
              <a:t>CAIRO 5 Study</a:t>
            </a:r>
            <a:br>
              <a:rPr lang="en-US" sz="799" b="1" spc="-31">
                <a:solidFill>
                  <a:srgbClr val="FFFFFF"/>
                </a:solidFill>
                <a:latin typeface="Arial"/>
              </a:rPr>
            </a:br>
            <a:r>
              <a:rPr lang="en-US" sz="799" b="1" spc="-31">
                <a:solidFill>
                  <a:srgbClr val="FFFFFF"/>
                </a:solidFill>
                <a:latin typeface="Arial"/>
              </a:rPr>
              <a:t>FOLFOX + BEV </a:t>
            </a:r>
            <a:r>
              <a:rPr lang="en-US" sz="799" spc="-31">
                <a:solidFill>
                  <a:srgbClr val="FFFFFF"/>
                </a:solidFill>
                <a:latin typeface="Arial"/>
              </a:rPr>
              <a:t>(1L)</a:t>
            </a:r>
          </a:p>
          <a:p>
            <a:pPr algn="ctr" defTabSz="913532">
              <a:defRPr/>
            </a:pPr>
            <a:r>
              <a:rPr lang="en-US" sz="1067" spc="-31" err="1">
                <a:solidFill>
                  <a:prstClr val="white"/>
                </a:solidFill>
                <a:latin typeface="Arial"/>
              </a:rPr>
              <a:t>mOS</a:t>
            </a:r>
            <a:r>
              <a:rPr lang="en-US" sz="1067" spc="-31">
                <a:solidFill>
                  <a:prstClr val="white"/>
                </a:solidFill>
                <a:latin typeface="Arial"/>
              </a:rPr>
              <a:t> – n/a</a:t>
            </a:r>
          </a:p>
          <a:p>
            <a:pPr algn="ctr" defTabSz="913532">
              <a:defRPr/>
            </a:pPr>
            <a:r>
              <a:rPr lang="en-US" sz="1067" spc="-31" err="1">
                <a:solidFill>
                  <a:prstClr val="white"/>
                </a:solidFill>
                <a:latin typeface="Arial"/>
              </a:rPr>
              <a:t>mPFS</a:t>
            </a:r>
            <a:r>
              <a:rPr lang="en-US" sz="1067" spc="-31">
                <a:solidFill>
                  <a:prstClr val="white"/>
                </a:solidFill>
                <a:latin typeface="Arial"/>
              </a:rPr>
              <a:t> – 9 m</a:t>
            </a:r>
          </a:p>
          <a:p>
            <a:pPr algn="ctr" defTabSz="913532">
              <a:defRPr/>
            </a:pPr>
            <a:r>
              <a:rPr lang="en-US" sz="1067" spc="-31">
                <a:solidFill>
                  <a:prstClr val="white"/>
                </a:solidFill>
                <a:latin typeface="Arial"/>
              </a:rPr>
              <a:t>ORR – 33%</a:t>
            </a:r>
          </a:p>
        </p:txBody>
      </p:sp>
      <p:sp>
        <p:nvSpPr>
          <p:cNvPr id="15" name="Title 14">
            <a:extLst>
              <a:ext uri="{FF2B5EF4-FFF2-40B4-BE49-F238E27FC236}">
                <a16:creationId xmlns:a16="http://schemas.microsoft.com/office/drawing/2014/main" id="{B08F5F78-C4CC-6642-C4F0-3DF464A466AC}"/>
              </a:ext>
            </a:extLst>
          </p:cNvPr>
          <p:cNvSpPr>
            <a:spLocks noGrp="1"/>
          </p:cNvSpPr>
          <p:nvPr>
            <p:ph type="title"/>
          </p:nvPr>
        </p:nvSpPr>
        <p:spPr/>
        <p:txBody>
          <a:bodyPr/>
          <a:lstStyle/>
          <a:p>
            <a:r>
              <a:rPr lang="en-US" sz="2667">
                <a:solidFill>
                  <a:srgbClr val="08312A"/>
                </a:solidFill>
                <a:ea typeface="+mn-lt"/>
                <a:cs typeface="+mn-lt"/>
              </a:rPr>
              <a:t>BI 4015092: </a:t>
            </a:r>
            <a:r>
              <a:rPr lang="en-US" sz="2667" err="1">
                <a:solidFill>
                  <a:srgbClr val="08312A"/>
                </a:solidFill>
                <a:ea typeface="+mn-lt"/>
                <a:cs typeface="+mn-lt"/>
              </a:rPr>
              <a:t>eTPPs</a:t>
            </a:r>
            <a:r>
              <a:rPr lang="en-US" sz="2667">
                <a:solidFill>
                  <a:srgbClr val="08312A"/>
                </a:solidFill>
                <a:ea typeface="+mn-lt"/>
                <a:cs typeface="+mn-lt"/>
              </a:rPr>
              <a:t> to Support Best-in-Class Potential in 1L mCRC</a:t>
            </a:r>
            <a:br>
              <a:rPr lang="en-US"/>
            </a:br>
            <a:endParaRPr lang="en-US"/>
          </a:p>
        </p:txBody>
      </p:sp>
      <p:sp>
        <p:nvSpPr>
          <p:cNvPr id="2" name="Footer Placeholder 1">
            <a:extLst>
              <a:ext uri="{FF2B5EF4-FFF2-40B4-BE49-F238E27FC236}">
                <a16:creationId xmlns:a16="http://schemas.microsoft.com/office/drawing/2014/main" id="{EF9D46C9-CDAE-C593-CC24-956DE277C48F}"/>
              </a:ext>
            </a:extLst>
          </p:cNvPr>
          <p:cNvSpPr>
            <a:spLocks noGrp="1"/>
          </p:cNvSpPr>
          <p:nvPr>
            <p:ph type="ftr" sz="quarter" idx="10"/>
          </p:nvPr>
        </p:nvSpPr>
        <p:spPr>
          <a:xfrm>
            <a:off x="6343023" y="6534756"/>
            <a:ext cx="5040560" cy="288000"/>
          </a:xfrm>
        </p:spPr>
        <p:txBody>
          <a:bodyPr/>
          <a:lst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a:lstStyle>
          <a:p>
            <a:pPr algn="r" defTabSz="914377">
              <a:defRPr/>
            </a:pPr>
            <a:r>
              <a:rPr lang="en-US" sz="800">
                <a:solidFill>
                  <a:srgbClr val="08312A"/>
                </a:solidFill>
                <a:latin typeface="Boehringer Forward Text"/>
              </a:rPr>
              <a:t>KRAS G12D (BI 4015092) | IUEC October 2nd, 2025 | CONFIDENTIAL</a:t>
            </a:r>
          </a:p>
        </p:txBody>
      </p:sp>
      <p:sp>
        <p:nvSpPr>
          <p:cNvPr id="8" name="Rectangle 7">
            <a:extLst>
              <a:ext uri="{FF2B5EF4-FFF2-40B4-BE49-F238E27FC236}">
                <a16:creationId xmlns:a16="http://schemas.microsoft.com/office/drawing/2014/main" id="{C3FA55A2-0A97-B55F-D26A-B1AAAEDC7DF2}"/>
              </a:ext>
            </a:extLst>
          </p:cNvPr>
          <p:cNvSpPr/>
          <p:nvPr/>
        </p:nvSpPr>
        <p:spPr>
          <a:xfrm>
            <a:off x="5498568" y="4708131"/>
            <a:ext cx="962145" cy="780884"/>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267" b="1" spc="-31">
              <a:solidFill>
                <a:srgbClr val="FFFFFF"/>
              </a:solidFill>
              <a:latin typeface="Arial"/>
            </a:endParaRPr>
          </a:p>
          <a:p>
            <a:pPr algn="ctr" defTabSz="913532">
              <a:defRPr/>
            </a:pPr>
            <a:r>
              <a:rPr lang="en-US" sz="932" b="1" spc="-31">
                <a:solidFill>
                  <a:prstClr val="white"/>
                </a:solidFill>
                <a:latin typeface="Arial"/>
              </a:rPr>
              <a:t>G12Ci sotorasib</a:t>
            </a:r>
          </a:p>
          <a:p>
            <a:pPr algn="ctr" defTabSz="913532">
              <a:defRPr/>
            </a:pPr>
            <a:r>
              <a:rPr lang="en-US" sz="932" spc="-31">
                <a:solidFill>
                  <a:prstClr val="white"/>
                </a:solidFill>
                <a:latin typeface="Arial"/>
              </a:rPr>
              <a:t>(2L+ CRC combi) :</a:t>
            </a:r>
          </a:p>
          <a:p>
            <a:pPr algn="ctr" defTabSz="913532">
              <a:defRPr/>
            </a:pPr>
            <a:r>
              <a:rPr lang="en-US" sz="932" spc="-31">
                <a:solidFill>
                  <a:prstClr val="white"/>
                </a:solidFill>
                <a:latin typeface="Arial"/>
              </a:rPr>
              <a:t>ORR: 26% </a:t>
            </a:r>
          </a:p>
          <a:p>
            <a:pPr algn="ctr" defTabSz="913532">
              <a:defRPr/>
            </a:pPr>
            <a:r>
              <a:rPr lang="en-US" sz="932" spc="-31" err="1">
                <a:solidFill>
                  <a:prstClr val="white"/>
                </a:solidFill>
                <a:latin typeface="Arial"/>
              </a:rPr>
              <a:t>mPFS</a:t>
            </a:r>
            <a:r>
              <a:rPr lang="en-US" sz="932" spc="-31">
                <a:solidFill>
                  <a:prstClr val="white"/>
                </a:solidFill>
                <a:latin typeface="Arial"/>
              </a:rPr>
              <a:t> – 5.6m</a:t>
            </a:r>
          </a:p>
        </p:txBody>
      </p:sp>
      <p:sp>
        <p:nvSpPr>
          <p:cNvPr id="14" name="Rectangle 13">
            <a:extLst>
              <a:ext uri="{FF2B5EF4-FFF2-40B4-BE49-F238E27FC236}">
                <a16:creationId xmlns:a16="http://schemas.microsoft.com/office/drawing/2014/main" id="{AE5CC49F-D502-F61F-EFB7-649E5757188A}"/>
              </a:ext>
            </a:extLst>
          </p:cNvPr>
          <p:cNvSpPr/>
          <p:nvPr/>
        </p:nvSpPr>
        <p:spPr>
          <a:xfrm>
            <a:off x="4150992" y="4722566"/>
            <a:ext cx="962145" cy="780884"/>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none" lIns="45679" rIns="45679" rtlCol="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3532">
              <a:defRPr/>
            </a:pPr>
            <a:endParaRPr lang="en-US" sz="267" b="1" spc="-31">
              <a:solidFill>
                <a:srgbClr val="FFFFFF"/>
              </a:solidFill>
              <a:latin typeface="Arial"/>
            </a:endParaRPr>
          </a:p>
          <a:p>
            <a:pPr algn="ctr" defTabSz="913532">
              <a:defRPr/>
            </a:pPr>
            <a:r>
              <a:rPr lang="en-US" sz="932" b="1" spc="-31">
                <a:solidFill>
                  <a:prstClr val="white"/>
                </a:solidFill>
                <a:latin typeface="Arial"/>
              </a:rPr>
              <a:t>G12Ci </a:t>
            </a:r>
            <a:r>
              <a:rPr lang="en-US" sz="932" b="1" spc="-31" err="1">
                <a:solidFill>
                  <a:prstClr val="white"/>
                </a:solidFill>
                <a:latin typeface="Arial"/>
              </a:rPr>
              <a:t>Adagrasib</a:t>
            </a:r>
            <a:r>
              <a:rPr lang="en-US" sz="932" b="1" spc="-31">
                <a:solidFill>
                  <a:prstClr val="white"/>
                </a:solidFill>
                <a:latin typeface="Arial"/>
              </a:rPr>
              <a:t> </a:t>
            </a:r>
          </a:p>
          <a:p>
            <a:pPr algn="ctr" defTabSz="913532">
              <a:defRPr/>
            </a:pPr>
            <a:r>
              <a:rPr lang="en-US" sz="932" spc="-31">
                <a:solidFill>
                  <a:prstClr val="white"/>
                </a:solidFill>
                <a:latin typeface="Arial"/>
              </a:rPr>
              <a:t>(2L+ CRC combi) :</a:t>
            </a:r>
          </a:p>
          <a:p>
            <a:pPr algn="ctr" defTabSz="913532">
              <a:defRPr/>
            </a:pPr>
            <a:r>
              <a:rPr lang="en-US" sz="932" spc="-31">
                <a:solidFill>
                  <a:prstClr val="white"/>
                </a:solidFill>
                <a:latin typeface="Arial"/>
              </a:rPr>
              <a:t>ORR: 34%</a:t>
            </a:r>
          </a:p>
          <a:p>
            <a:pPr algn="ctr" defTabSz="913532">
              <a:defRPr/>
            </a:pPr>
            <a:r>
              <a:rPr lang="en-US" sz="932" spc="-31" err="1">
                <a:solidFill>
                  <a:prstClr val="white"/>
                </a:solidFill>
                <a:latin typeface="Arial"/>
              </a:rPr>
              <a:t>mPFS</a:t>
            </a:r>
            <a:r>
              <a:rPr lang="en-US" sz="932" spc="-31">
                <a:solidFill>
                  <a:prstClr val="white"/>
                </a:solidFill>
                <a:latin typeface="Arial"/>
              </a:rPr>
              <a:t> – 6.9m</a:t>
            </a:r>
          </a:p>
          <a:p>
            <a:pPr algn="ctr" defTabSz="913532">
              <a:defRPr/>
            </a:pPr>
            <a:r>
              <a:rPr lang="en-US" sz="932" spc="-31" err="1">
                <a:solidFill>
                  <a:prstClr val="white"/>
                </a:solidFill>
                <a:latin typeface="Arial"/>
              </a:rPr>
              <a:t>mOS</a:t>
            </a:r>
            <a:r>
              <a:rPr lang="en-US" sz="932" spc="-31">
                <a:solidFill>
                  <a:prstClr val="white"/>
                </a:solidFill>
                <a:latin typeface="Arial"/>
              </a:rPr>
              <a:t> 15.9 </a:t>
            </a:r>
          </a:p>
        </p:txBody>
      </p:sp>
    </p:spTree>
    <p:extLst>
      <p:ext uri="{BB962C8B-B14F-4D97-AF65-F5344CB8AC3E}">
        <p14:creationId xmlns:p14="http://schemas.microsoft.com/office/powerpoint/2010/main" val="3355714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72D58D7-6116-ADA5-4256-368B9491CD62}"/>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661945D1-60C6-BB25-FAE9-62401245529A}"/>
              </a:ext>
            </a:extLst>
          </p:cNvPr>
          <p:cNvSpPr/>
          <p:nvPr/>
        </p:nvSpPr>
        <p:spPr bwMode="gray">
          <a:xfrm>
            <a:off x="166752" y="789116"/>
            <a:ext cx="11870587" cy="305913"/>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3" name="Rectangle 2">
            <a:extLst>
              <a:ext uri="{FF2B5EF4-FFF2-40B4-BE49-F238E27FC236}">
                <a16:creationId xmlns:a16="http://schemas.microsoft.com/office/drawing/2014/main" id="{6AD726F3-B992-0F7F-93A3-6500DFF1EDD5}"/>
              </a:ext>
            </a:extLst>
          </p:cNvPr>
          <p:cNvSpPr/>
          <p:nvPr/>
        </p:nvSpPr>
        <p:spPr bwMode="gray">
          <a:xfrm>
            <a:off x="184888" y="1391858"/>
            <a:ext cx="1358781" cy="4035481"/>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white"/>
              </a:solidFill>
              <a:latin typeface="Boehringer Forward Text"/>
            </a:endParaRPr>
          </a:p>
        </p:txBody>
      </p:sp>
      <p:graphicFrame>
        <p:nvGraphicFramePr>
          <p:cNvPr id="8" name="Tabelle 59">
            <a:extLst>
              <a:ext uri="{FF2B5EF4-FFF2-40B4-BE49-F238E27FC236}">
                <a16:creationId xmlns:a16="http://schemas.microsoft.com/office/drawing/2014/main" id="{D1EF884A-3C9F-9549-BD7A-227D2730EFBC}"/>
              </a:ext>
            </a:extLst>
          </p:cNvPr>
          <p:cNvGraphicFramePr>
            <a:graphicFrameLocks noGrp="1"/>
          </p:cNvGraphicFramePr>
          <p:nvPr/>
        </p:nvGraphicFramePr>
        <p:xfrm>
          <a:off x="1548781" y="1101729"/>
          <a:ext cx="10488559" cy="4318907"/>
        </p:xfrm>
        <a:graphic>
          <a:graphicData uri="http://schemas.openxmlformats.org/drawingml/2006/table">
            <a:tbl>
              <a:tblPr firstRow="1" bandRow="1">
                <a:effectLst/>
                <a:tableStyleId>{5C22544A-7EE6-4342-B048-85BDC9FD1C3A}</a:tableStyleId>
              </a:tblPr>
              <a:tblGrid>
                <a:gridCol w="938784">
                  <a:extLst>
                    <a:ext uri="{9D8B030D-6E8A-4147-A177-3AD203B41FA5}">
                      <a16:colId xmlns:a16="http://schemas.microsoft.com/office/drawing/2014/main" val="697598611"/>
                    </a:ext>
                  </a:extLst>
                </a:gridCol>
                <a:gridCol w="938784">
                  <a:extLst>
                    <a:ext uri="{9D8B030D-6E8A-4147-A177-3AD203B41FA5}">
                      <a16:colId xmlns:a16="http://schemas.microsoft.com/office/drawing/2014/main" val="3391616022"/>
                    </a:ext>
                  </a:extLst>
                </a:gridCol>
                <a:gridCol w="942108">
                  <a:extLst>
                    <a:ext uri="{9D8B030D-6E8A-4147-A177-3AD203B41FA5}">
                      <a16:colId xmlns:a16="http://schemas.microsoft.com/office/drawing/2014/main" val="2881046735"/>
                    </a:ext>
                  </a:extLst>
                </a:gridCol>
                <a:gridCol w="1084099">
                  <a:extLst>
                    <a:ext uri="{9D8B030D-6E8A-4147-A177-3AD203B41FA5}">
                      <a16:colId xmlns:a16="http://schemas.microsoft.com/office/drawing/2014/main" val="3687800453"/>
                    </a:ext>
                  </a:extLst>
                </a:gridCol>
                <a:gridCol w="938784">
                  <a:extLst>
                    <a:ext uri="{9D8B030D-6E8A-4147-A177-3AD203B41FA5}">
                      <a16:colId xmlns:a16="http://schemas.microsoft.com/office/drawing/2014/main" val="1897731451"/>
                    </a:ext>
                  </a:extLst>
                </a:gridCol>
                <a:gridCol w="938784">
                  <a:extLst>
                    <a:ext uri="{9D8B030D-6E8A-4147-A177-3AD203B41FA5}">
                      <a16:colId xmlns:a16="http://schemas.microsoft.com/office/drawing/2014/main" val="1875794696"/>
                    </a:ext>
                  </a:extLst>
                </a:gridCol>
                <a:gridCol w="938784">
                  <a:extLst>
                    <a:ext uri="{9D8B030D-6E8A-4147-A177-3AD203B41FA5}">
                      <a16:colId xmlns:a16="http://schemas.microsoft.com/office/drawing/2014/main" val="3030948587"/>
                    </a:ext>
                  </a:extLst>
                </a:gridCol>
                <a:gridCol w="942108">
                  <a:extLst>
                    <a:ext uri="{9D8B030D-6E8A-4147-A177-3AD203B41FA5}">
                      <a16:colId xmlns:a16="http://schemas.microsoft.com/office/drawing/2014/main" val="1049288206"/>
                    </a:ext>
                  </a:extLst>
                </a:gridCol>
                <a:gridCol w="942108">
                  <a:extLst>
                    <a:ext uri="{9D8B030D-6E8A-4147-A177-3AD203B41FA5}">
                      <a16:colId xmlns:a16="http://schemas.microsoft.com/office/drawing/2014/main" val="1980316873"/>
                    </a:ext>
                  </a:extLst>
                </a:gridCol>
                <a:gridCol w="942108">
                  <a:extLst>
                    <a:ext uri="{9D8B030D-6E8A-4147-A177-3AD203B41FA5}">
                      <a16:colId xmlns:a16="http://schemas.microsoft.com/office/drawing/2014/main" val="3036414838"/>
                    </a:ext>
                  </a:extLst>
                </a:gridCol>
                <a:gridCol w="942108">
                  <a:extLst>
                    <a:ext uri="{9D8B030D-6E8A-4147-A177-3AD203B41FA5}">
                      <a16:colId xmlns:a16="http://schemas.microsoft.com/office/drawing/2014/main" val="2489147609"/>
                    </a:ext>
                  </a:extLst>
                </a:gridCol>
              </a:tblGrid>
              <a:tr h="289560">
                <a:tc>
                  <a:txBody>
                    <a:bodyPr/>
                    <a:lstStyle/>
                    <a:p>
                      <a:pPr algn="ctr"/>
                      <a:r>
                        <a:rPr lang="en-US" sz="1100" noProof="0">
                          <a:solidFill>
                            <a:schemeClr val="bg1"/>
                          </a:solidFill>
                        </a:rPr>
                        <a:t>2024</a:t>
                      </a: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tx2"/>
                          </a:solidFill>
                        </a:rPr>
                        <a:t>2025</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2026</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2027</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2028</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2029</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2030</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2031</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2032</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2033</a:t>
                      </a: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100" noProof="0">
                          <a:solidFill>
                            <a:schemeClr val="bg1"/>
                          </a:solidFill>
                        </a:rPr>
                        <a:t>2034</a:t>
                      </a: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01924808"/>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856808"/>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4702912"/>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137706"/>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b="0" noProof="0">
                        <a:solidFill>
                          <a:srgbClr val="0070C0"/>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7718813"/>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0072717"/>
                  </a:ext>
                </a:extLst>
              </a:tr>
              <a:tr h="515332">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5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5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764417"/>
                  </a:ext>
                </a:extLst>
              </a:tr>
              <a:tr h="661087">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5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5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7137566"/>
                  </a:ext>
                </a:extLst>
              </a:tr>
              <a:tr h="365760">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de-DE" sz="1100">
                        <a:solidFill>
                          <a:schemeClr val="tx1"/>
                        </a:solidFill>
                      </a:endParaRPr>
                    </a:p>
                  </a:txBody>
                  <a:tcPr marL="121920" marR="121920" marT="60960" marB="6096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de-DE" sz="1100">
                        <a:solidFill>
                          <a:schemeClr val="tx1"/>
                        </a:solidFill>
                      </a:endParaRPr>
                    </a:p>
                  </a:txBody>
                  <a:tcPr marL="121920" marR="121920" marT="60960" marB="6096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621028"/>
                  </a:ext>
                </a:extLst>
              </a:tr>
              <a:tr h="658368">
                <a:tc>
                  <a:txBody>
                    <a:bodyPr/>
                    <a:lstStyle/>
                    <a:p>
                      <a:pPr algn="ctr"/>
                      <a:endParaRPr lang="en-US" sz="1100" noProof="0">
                        <a:solidFill>
                          <a:schemeClr val="tx1"/>
                        </a:solidFill>
                      </a:endParaRPr>
                    </a:p>
                  </a:txBody>
                  <a:tcPr marL="121920" marR="121920" marT="60960" marB="60960" anchor="ctr">
                    <a:lnL w="3175" cap="flat" cmpd="sng" algn="ctr">
                      <a:noFill/>
                      <a:prstDash val="solid"/>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6350" cap="flat" cmpd="sng" algn="ctr">
                      <a:solidFill>
                        <a:srgbClr val="E5E3DE"/>
                      </a:solidFill>
                      <a:prstDash val="sysDot"/>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noProof="0">
                        <a:solidFill>
                          <a:schemeClr val="tx1"/>
                        </a:solidFill>
                      </a:endParaRPr>
                    </a:p>
                  </a:txBody>
                  <a:tcPr marL="121920" marR="121920" marT="60960" marB="60960" anchor="ctr">
                    <a:lnL w="6350" cap="flat" cmpd="sng" algn="ctr">
                      <a:solidFill>
                        <a:srgbClr val="E5E3DE"/>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519064"/>
                  </a:ext>
                </a:extLst>
              </a:tr>
            </a:tbl>
          </a:graphicData>
        </a:graphic>
      </p:graphicFrame>
      <p:sp>
        <p:nvSpPr>
          <p:cNvPr id="57" name="Arrow: Pentagon 56">
            <a:extLst>
              <a:ext uri="{FF2B5EF4-FFF2-40B4-BE49-F238E27FC236}">
                <a16:creationId xmlns:a16="http://schemas.microsoft.com/office/drawing/2014/main" id="{AABED08A-3115-7178-23BA-05BFAC9EA870}"/>
              </a:ext>
            </a:extLst>
          </p:cNvPr>
          <p:cNvSpPr/>
          <p:nvPr/>
        </p:nvSpPr>
        <p:spPr bwMode="gray">
          <a:xfrm>
            <a:off x="1582948" y="1451416"/>
            <a:ext cx="2202760" cy="243840"/>
          </a:xfrm>
          <a:prstGeom prst="homePlate">
            <a:avLst/>
          </a:prstGeom>
          <a:solidFill>
            <a:srgbClr val="FAF9F8"/>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33">
                <a:solidFill>
                  <a:prstClr val="black"/>
                </a:solidFill>
                <a:latin typeface="Boehringer Forward Text"/>
              </a:rPr>
              <a:t>ph1/1b mono /+daraxonrasib n=444</a:t>
            </a:r>
          </a:p>
        </p:txBody>
      </p:sp>
      <p:cxnSp>
        <p:nvCxnSpPr>
          <p:cNvPr id="113" name="Straight Connector 112">
            <a:extLst>
              <a:ext uri="{FF2B5EF4-FFF2-40B4-BE49-F238E27FC236}">
                <a16:creationId xmlns:a16="http://schemas.microsoft.com/office/drawing/2014/main" id="{3AE9F181-60ED-8C2C-30DF-0C67A28AC77F}"/>
              </a:ext>
            </a:extLst>
          </p:cNvPr>
          <p:cNvCxnSpPr>
            <a:cxnSpLocks/>
          </p:cNvCxnSpPr>
          <p:nvPr/>
        </p:nvCxnSpPr>
        <p:spPr bwMode="gray">
          <a:xfrm>
            <a:off x="4414421" y="849743"/>
            <a:ext cx="0" cy="4593256"/>
          </a:xfrm>
          <a:prstGeom prst="line">
            <a:avLst/>
          </a:prstGeom>
          <a:ln w="9525">
            <a:solidFill>
              <a:srgbClr val="EE6541"/>
            </a:solidFill>
            <a:prstDash val="dash"/>
          </a:ln>
        </p:spPr>
        <p:style>
          <a:lnRef idx="1">
            <a:schemeClr val="accent1"/>
          </a:lnRef>
          <a:fillRef idx="0">
            <a:schemeClr val="accent1"/>
          </a:fillRef>
          <a:effectRef idx="0">
            <a:schemeClr val="accent1"/>
          </a:effectRef>
          <a:fontRef idx="minor">
            <a:schemeClr val="tx1"/>
          </a:fontRef>
        </p:style>
      </p:cxnSp>
      <p:sp>
        <p:nvSpPr>
          <p:cNvPr id="54" name="Arrow: Pentagon 53">
            <a:extLst>
              <a:ext uri="{FF2B5EF4-FFF2-40B4-BE49-F238E27FC236}">
                <a16:creationId xmlns:a16="http://schemas.microsoft.com/office/drawing/2014/main" id="{7B6C9ED4-6A9E-477B-7C15-2F68F21F0F98}"/>
              </a:ext>
            </a:extLst>
          </p:cNvPr>
          <p:cNvSpPr/>
          <p:nvPr/>
        </p:nvSpPr>
        <p:spPr bwMode="gray">
          <a:xfrm>
            <a:off x="2074532" y="1824567"/>
            <a:ext cx="2703245"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7">
                <a:solidFill>
                  <a:prstClr val="black"/>
                </a:solidFill>
                <a:latin typeface="Boehringer Forward Text"/>
              </a:rPr>
              <a:t>ph1/2 +</a:t>
            </a:r>
            <a:r>
              <a:rPr lang="en-US" sz="907" err="1">
                <a:solidFill>
                  <a:prstClr val="black"/>
                </a:solidFill>
                <a:highlight>
                  <a:srgbClr val="00FF00"/>
                </a:highlight>
                <a:latin typeface="Boehringer Forward Text"/>
              </a:rPr>
              <a:t>cmab</a:t>
            </a:r>
            <a:r>
              <a:rPr lang="en-US" sz="907">
                <a:solidFill>
                  <a:prstClr val="black"/>
                </a:solidFill>
                <a:highlight>
                  <a:srgbClr val="00FF00"/>
                </a:highlight>
                <a:latin typeface="Boehringer Forward Text"/>
              </a:rPr>
              <a:t> ±CT </a:t>
            </a:r>
            <a:r>
              <a:rPr lang="en-US" sz="907">
                <a:solidFill>
                  <a:prstClr val="black"/>
                </a:solidFill>
                <a:latin typeface="Boehringer Forward Text"/>
              </a:rPr>
              <a:t>/+ 1L SoC </a:t>
            </a:r>
            <a:r>
              <a:rPr lang="en-US" sz="907" b="1" err="1">
                <a:solidFill>
                  <a:prstClr val="black"/>
                </a:solidFill>
                <a:latin typeface="Boehringer Forward Text"/>
              </a:rPr>
              <a:t>PaC</a:t>
            </a:r>
            <a:r>
              <a:rPr lang="en-US" sz="907" b="1">
                <a:solidFill>
                  <a:prstClr val="black"/>
                </a:solidFill>
                <a:latin typeface="Boehringer Forward Text"/>
              </a:rPr>
              <a:t>/CRC</a:t>
            </a:r>
            <a:r>
              <a:rPr lang="en-US" sz="907">
                <a:solidFill>
                  <a:prstClr val="black"/>
                </a:solidFill>
                <a:latin typeface="Boehringer Forward Text"/>
              </a:rPr>
              <a:t>, n=</a:t>
            </a:r>
            <a:r>
              <a:rPr lang="en-US" sz="907" b="1">
                <a:solidFill>
                  <a:prstClr val="black"/>
                </a:solidFill>
                <a:latin typeface="Boehringer Forward Text"/>
              </a:rPr>
              <a:t>1130</a:t>
            </a:r>
          </a:p>
        </p:txBody>
      </p:sp>
      <p:sp>
        <p:nvSpPr>
          <p:cNvPr id="55" name="TextBox 54">
            <a:extLst>
              <a:ext uri="{FF2B5EF4-FFF2-40B4-BE49-F238E27FC236}">
                <a16:creationId xmlns:a16="http://schemas.microsoft.com/office/drawing/2014/main" id="{5A73766F-950E-DDA3-0342-7EA1049D1079}"/>
              </a:ext>
            </a:extLst>
          </p:cNvPr>
          <p:cNvSpPr txBox="1"/>
          <p:nvPr/>
        </p:nvSpPr>
        <p:spPr bwMode="gray">
          <a:xfrm>
            <a:off x="4959642" y="1820032"/>
            <a:ext cx="1821748" cy="276999"/>
          </a:xfrm>
          <a:prstGeom prst="rect">
            <a:avLst/>
          </a:prstGeom>
          <a:solidFill>
            <a:schemeClr val="bg1"/>
          </a:solidFill>
          <a:ln>
            <a:solidFill>
              <a:schemeClr val="accent5"/>
            </a:solidFill>
          </a:ln>
        </p:spPr>
        <p:txBody>
          <a:bodyPr wrap="square" lIns="0" tIns="0" rIns="0" bIns="0" anchor="t">
            <a:spAutoFit/>
          </a:bodyPr>
          <a:lstStyle/>
          <a:p>
            <a:pPr defTabSz="914241">
              <a:defRPr/>
            </a:pPr>
            <a:r>
              <a:rPr lang="en-US" sz="900">
                <a:solidFill>
                  <a:prstClr val="black"/>
                </a:solidFill>
                <a:latin typeface="Boehringer Forward Text"/>
              </a:rPr>
              <a:t>zoldonrasib +/- </a:t>
            </a:r>
            <a:r>
              <a:rPr lang="en-US" sz="900" err="1">
                <a:solidFill>
                  <a:prstClr val="black"/>
                </a:solidFill>
                <a:latin typeface="Boehringer Forward Text"/>
              </a:rPr>
              <a:t>daraxonrasib</a:t>
            </a:r>
            <a:r>
              <a:rPr lang="en-US" sz="900">
                <a:solidFill>
                  <a:prstClr val="black"/>
                </a:solidFill>
                <a:latin typeface="Boehringer Forward Text"/>
              </a:rPr>
              <a:t>, </a:t>
            </a:r>
          </a:p>
          <a:p>
            <a:pPr defTabSz="914241">
              <a:defRPr/>
            </a:pPr>
            <a:r>
              <a:rPr lang="en-US" sz="900">
                <a:solidFill>
                  <a:prstClr val="black"/>
                </a:solidFill>
                <a:latin typeface="Boehringer Forward Text"/>
              </a:rPr>
              <a:t>+ all SOC combos, in 28 US sites</a:t>
            </a:r>
          </a:p>
        </p:txBody>
      </p:sp>
      <p:sp>
        <p:nvSpPr>
          <p:cNvPr id="30" name="Title 1">
            <a:extLst>
              <a:ext uri="{FF2B5EF4-FFF2-40B4-BE49-F238E27FC236}">
                <a16:creationId xmlns:a16="http://schemas.microsoft.com/office/drawing/2014/main" id="{ED7636F0-543C-0C2E-2326-0A3AB1369070}"/>
              </a:ext>
            </a:extLst>
          </p:cNvPr>
          <p:cNvSpPr>
            <a:spLocks noGrp="1"/>
          </p:cNvSpPr>
          <p:nvPr>
            <p:ph type="title"/>
          </p:nvPr>
        </p:nvSpPr>
        <p:spPr>
          <a:xfrm>
            <a:off x="480001" y="210713"/>
            <a:ext cx="11233151" cy="305123"/>
          </a:xfrm>
        </p:spPr>
        <p:txBody>
          <a:bodyPr/>
          <a:lstStyle/>
          <a:p>
            <a:r>
              <a:rPr lang="en-US" sz="2000">
                <a:solidFill>
                  <a:schemeClr val="tx2"/>
                </a:solidFill>
              </a:rPr>
              <a:t>G12D</a:t>
            </a:r>
            <a:r>
              <a:rPr lang="en-US" sz="2000"/>
              <a:t> Competitors _ focus on </a:t>
            </a:r>
            <a:r>
              <a:rPr lang="en-US" sz="2000">
                <a:solidFill>
                  <a:schemeClr val="tx2"/>
                </a:solidFill>
              </a:rPr>
              <a:t>CRC</a:t>
            </a:r>
            <a:r>
              <a:rPr lang="en-US" sz="2000"/>
              <a:t> + anti-EGFR | BI 4015092 will be a Late Follower</a:t>
            </a:r>
          </a:p>
        </p:txBody>
      </p:sp>
      <p:sp>
        <p:nvSpPr>
          <p:cNvPr id="56" name="Text Placeholder 55">
            <a:extLst>
              <a:ext uri="{FF2B5EF4-FFF2-40B4-BE49-F238E27FC236}">
                <a16:creationId xmlns:a16="http://schemas.microsoft.com/office/drawing/2014/main" id="{B70D837B-8CC4-B9B5-27A0-867046672893}"/>
              </a:ext>
            </a:extLst>
          </p:cNvPr>
          <p:cNvSpPr>
            <a:spLocks noGrp="1"/>
          </p:cNvSpPr>
          <p:nvPr>
            <p:ph type="body" sz="quarter" idx="13"/>
          </p:nvPr>
        </p:nvSpPr>
        <p:spPr>
          <a:xfrm>
            <a:off x="641924" y="5845557"/>
            <a:ext cx="11232000" cy="144000"/>
          </a:xfrm>
        </p:spPr>
        <p:txBody>
          <a:bodyPr/>
          <a:lstStyle/>
          <a:p>
            <a:r>
              <a:rPr lang="en-US" sz="700"/>
              <a:t>AA: accelerated approval ; FA: full approval; </a:t>
            </a:r>
            <a:r>
              <a:rPr lang="en-US" sz="700" err="1"/>
              <a:t>cmab</a:t>
            </a:r>
            <a:r>
              <a:rPr lang="en-US" sz="700"/>
              <a:t>: cetuximab; CRC: colorectal cancer; CT: chemotherapy; mono: monotherapy; NSCLC: non-small cell lung cancer; ORR: objective response rate; PDAC: pancreatic ductal adenocarcinoma; ww: worldwide clinical sites</a:t>
            </a:r>
          </a:p>
        </p:txBody>
      </p:sp>
      <p:sp>
        <p:nvSpPr>
          <p:cNvPr id="76" name="Arrow: Pentagon 75">
            <a:extLst>
              <a:ext uri="{FF2B5EF4-FFF2-40B4-BE49-F238E27FC236}">
                <a16:creationId xmlns:a16="http://schemas.microsoft.com/office/drawing/2014/main" id="{7649633D-C43C-327D-91E6-8B8AEB0ECF4B}"/>
              </a:ext>
            </a:extLst>
          </p:cNvPr>
          <p:cNvSpPr/>
          <p:nvPr/>
        </p:nvSpPr>
        <p:spPr bwMode="gray">
          <a:xfrm>
            <a:off x="2245033" y="2917063"/>
            <a:ext cx="3908235"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 +</a:t>
            </a:r>
            <a:r>
              <a:rPr lang="en-US" sz="900" err="1">
                <a:solidFill>
                  <a:prstClr val="black"/>
                </a:solidFill>
                <a:latin typeface="Boehringer Forward Text"/>
              </a:rPr>
              <a:t>undiscl</a:t>
            </a:r>
            <a:r>
              <a:rPr lang="en-US" sz="900">
                <a:solidFill>
                  <a:prstClr val="black"/>
                </a:solidFill>
                <a:latin typeface="Boehringer Forward Text"/>
              </a:rPr>
              <a:t>. n=410 in 27 sites ww </a:t>
            </a:r>
            <a:endParaRPr lang="en-US" sz="933" b="1">
              <a:solidFill>
                <a:prstClr val="black"/>
              </a:solidFill>
              <a:latin typeface="Boehringer Forward Text"/>
            </a:endParaRPr>
          </a:p>
        </p:txBody>
      </p:sp>
      <p:sp>
        <p:nvSpPr>
          <p:cNvPr id="79" name="Arrow: Pentagon 78">
            <a:extLst>
              <a:ext uri="{FF2B5EF4-FFF2-40B4-BE49-F238E27FC236}">
                <a16:creationId xmlns:a16="http://schemas.microsoft.com/office/drawing/2014/main" id="{37CC7481-52F1-330A-FCA3-1B8E8061905B}"/>
              </a:ext>
            </a:extLst>
          </p:cNvPr>
          <p:cNvSpPr/>
          <p:nvPr/>
        </p:nvSpPr>
        <p:spPr bwMode="gray">
          <a:xfrm>
            <a:off x="1557717" y="3369080"/>
            <a:ext cx="2662275"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 1L+ SOC </a:t>
            </a:r>
            <a:r>
              <a:rPr lang="en-US" sz="900" b="1">
                <a:solidFill>
                  <a:prstClr val="black"/>
                </a:solidFill>
                <a:latin typeface="Boehringer Forward Text"/>
              </a:rPr>
              <a:t>QW </a:t>
            </a:r>
            <a:r>
              <a:rPr lang="en-US" sz="900">
                <a:solidFill>
                  <a:prstClr val="black"/>
                </a:solidFill>
                <a:latin typeface="Boehringer Forward Text"/>
              </a:rPr>
              <a:t>in 47 ww</a:t>
            </a:r>
            <a:endParaRPr lang="en-US" sz="933" b="1">
              <a:solidFill>
                <a:prstClr val="black"/>
              </a:solidFill>
              <a:latin typeface="Boehringer Forward Text"/>
            </a:endParaRPr>
          </a:p>
        </p:txBody>
      </p:sp>
      <p:sp>
        <p:nvSpPr>
          <p:cNvPr id="84" name="Arrow: Pentagon 83">
            <a:extLst>
              <a:ext uri="{FF2B5EF4-FFF2-40B4-BE49-F238E27FC236}">
                <a16:creationId xmlns:a16="http://schemas.microsoft.com/office/drawing/2014/main" id="{C6177B53-BD18-C247-2D63-4AFED232BC75}"/>
              </a:ext>
            </a:extLst>
          </p:cNvPr>
          <p:cNvSpPr/>
          <p:nvPr/>
        </p:nvSpPr>
        <p:spPr bwMode="gray">
          <a:xfrm>
            <a:off x="2245035" y="2190924"/>
            <a:ext cx="3196116"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n=430 in 43 sites ww</a:t>
            </a:r>
            <a:endParaRPr lang="en-US" sz="933" b="1">
              <a:solidFill>
                <a:prstClr val="black"/>
              </a:solidFill>
              <a:latin typeface="Boehringer Forward Text"/>
            </a:endParaRPr>
          </a:p>
        </p:txBody>
      </p:sp>
      <p:sp>
        <p:nvSpPr>
          <p:cNvPr id="13" name="Arrow: Pentagon 12">
            <a:extLst>
              <a:ext uri="{FF2B5EF4-FFF2-40B4-BE49-F238E27FC236}">
                <a16:creationId xmlns:a16="http://schemas.microsoft.com/office/drawing/2014/main" id="{2E3FFC7E-EF24-37AB-0693-2363A894EC42}"/>
              </a:ext>
            </a:extLst>
          </p:cNvPr>
          <p:cNvSpPr/>
          <p:nvPr/>
        </p:nvSpPr>
        <p:spPr bwMode="gray">
          <a:xfrm>
            <a:off x="1582948" y="3793688"/>
            <a:ext cx="2880933"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 + SOC n=466, 32  US/EU</a:t>
            </a:r>
            <a:endParaRPr lang="en-US" sz="933" b="1">
              <a:solidFill>
                <a:srgbClr val="FF0000"/>
              </a:solidFill>
              <a:latin typeface="Boehringer Forward Text"/>
            </a:endParaRPr>
          </a:p>
        </p:txBody>
      </p:sp>
      <p:sp>
        <p:nvSpPr>
          <p:cNvPr id="14" name="Arrow: Pentagon 13">
            <a:extLst>
              <a:ext uri="{FF2B5EF4-FFF2-40B4-BE49-F238E27FC236}">
                <a16:creationId xmlns:a16="http://schemas.microsoft.com/office/drawing/2014/main" id="{D4B1B31B-2230-6BDC-B315-BE92D52B9783}"/>
              </a:ext>
            </a:extLst>
          </p:cNvPr>
          <p:cNvSpPr/>
          <p:nvPr/>
        </p:nvSpPr>
        <p:spPr bwMode="gray">
          <a:xfrm>
            <a:off x="2005233" y="4471955"/>
            <a:ext cx="4542179" cy="243840"/>
          </a:xfrm>
          <a:prstGeom prst="homePlate">
            <a:avLst/>
          </a:prstGeom>
          <a:solidFill>
            <a:schemeClr val="bg1">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Ph1/1b </a:t>
            </a:r>
            <a:r>
              <a:rPr lang="en-US" sz="900">
                <a:solidFill>
                  <a:prstClr val="black"/>
                </a:solidFill>
                <a:highlight>
                  <a:srgbClr val="00FF00"/>
                </a:highlight>
                <a:latin typeface="Boehringer Forward Text"/>
              </a:rPr>
              <a:t>2L</a:t>
            </a:r>
            <a:r>
              <a:rPr lang="en-US" sz="900">
                <a:solidFill>
                  <a:prstClr val="black"/>
                </a:solidFill>
                <a:latin typeface="Boehringer Forward Text"/>
              </a:rPr>
              <a:t>+ mono / +CT/ + </a:t>
            </a:r>
            <a:r>
              <a:rPr lang="en-US" sz="900" err="1">
                <a:solidFill>
                  <a:prstClr val="black"/>
                </a:solidFill>
                <a:highlight>
                  <a:srgbClr val="00FF00"/>
                </a:highlight>
                <a:latin typeface="Boehringer Forward Text"/>
              </a:rPr>
              <a:t>cmab</a:t>
            </a:r>
            <a:r>
              <a:rPr lang="en-US" sz="900">
                <a:solidFill>
                  <a:prstClr val="black"/>
                </a:solidFill>
                <a:highlight>
                  <a:srgbClr val="00FF00"/>
                </a:highlight>
                <a:latin typeface="Boehringer Forward Text"/>
              </a:rPr>
              <a:t> </a:t>
            </a:r>
            <a:r>
              <a:rPr lang="en-US" sz="900">
                <a:solidFill>
                  <a:prstClr val="black"/>
                </a:solidFill>
                <a:latin typeface="Boehringer Forward Text"/>
              </a:rPr>
              <a:t>n=570 in 52 US/EU</a:t>
            </a:r>
            <a:endParaRPr lang="en-US" sz="933" b="1">
              <a:solidFill>
                <a:prstClr val="black"/>
              </a:solidFill>
              <a:latin typeface="Boehringer Forward Text"/>
            </a:endParaRPr>
          </a:p>
        </p:txBody>
      </p:sp>
      <p:sp>
        <p:nvSpPr>
          <p:cNvPr id="28" name="TextBox 27">
            <a:extLst>
              <a:ext uri="{FF2B5EF4-FFF2-40B4-BE49-F238E27FC236}">
                <a16:creationId xmlns:a16="http://schemas.microsoft.com/office/drawing/2014/main" id="{EC0D2A5C-A8AF-BD74-84C1-6AA34FD503E9}"/>
              </a:ext>
            </a:extLst>
          </p:cNvPr>
          <p:cNvSpPr txBox="1"/>
          <p:nvPr/>
        </p:nvSpPr>
        <p:spPr bwMode="gray">
          <a:xfrm>
            <a:off x="2576882" y="6053422"/>
            <a:ext cx="3823575" cy="707886"/>
          </a:xfrm>
          <a:prstGeom prst="rect">
            <a:avLst/>
          </a:prstGeom>
          <a:noFill/>
        </p:spPr>
        <p:txBody>
          <a:bodyPr wrap="square" lIns="91440" tIns="45720" rIns="91440" bIns="45720" anchor="t">
            <a:spAutoFit/>
          </a:bodyPr>
          <a:lstStyle/>
          <a:p>
            <a:pPr defTabSz="1218990">
              <a:defRPr/>
            </a:pPr>
            <a:r>
              <a:rPr lang="en-US" sz="800">
                <a:solidFill>
                  <a:prstClr val="black"/>
                </a:solidFill>
                <a:latin typeface="Boehringer Forward Text"/>
              </a:rPr>
              <a:t>Other G12Di with only monotherapy trial (mostly CN only):</a:t>
            </a:r>
          </a:p>
          <a:p>
            <a:pPr marL="171442" indent="-171442" defTabSz="1218990">
              <a:buFont typeface="Arial" panose="020B0604020202020204" pitchFamily="34" charset="0"/>
              <a:buChar char="•"/>
              <a:defRPr/>
            </a:pPr>
            <a:r>
              <a:rPr lang="en-US" sz="800">
                <a:solidFill>
                  <a:prstClr val="black"/>
                </a:solidFill>
                <a:latin typeface="Boehringer Forward Text"/>
              </a:rPr>
              <a:t>G12D degrader: ARV-806, ASP-4396, PT-0253 (PAQ Ther.)</a:t>
            </a:r>
          </a:p>
          <a:p>
            <a:pPr marL="171442" indent="-171442" defTabSz="1218990">
              <a:buFont typeface="Arial" panose="020B0604020202020204" pitchFamily="34" charset="0"/>
              <a:buChar char="•"/>
              <a:defRPr/>
            </a:pPr>
            <a:r>
              <a:rPr lang="en-US" sz="800">
                <a:solidFill>
                  <a:prstClr val="black"/>
                </a:solidFill>
                <a:latin typeface="Boehringer Forward Text"/>
              </a:rPr>
              <a:t>DN022150, RNK08954, Jiangsu </a:t>
            </a:r>
            <a:r>
              <a:rPr lang="en-US" sz="800" err="1">
                <a:solidFill>
                  <a:prstClr val="black"/>
                </a:solidFill>
                <a:latin typeface="Boehringer Forward Text"/>
              </a:rPr>
              <a:t>Hansoh</a:t>
            </a:r>
            <a:r>
              <a:rPr lang="en-US" sz="800">
                <a:solidFill>
                  <a:prstClr val="black"/>
                </a:solidFill>
                <a:latin typeface="Boehringer Forward Text"/>
              </a:rPr>
              <a:t> HS-10529</a:t>
            </a:r>
          </a:p>
          <a:p>
            <a:pPr marL="171442" indent="-171442" defTabSz="1218990">
              <a:buFont typeface="Arial" panose="020B0604020202020204" pitchFamily="34" charset="0"/>
              <a:buChar char="•"/>
              <a:defRPr/>
            </a:pPr>
            <a:r>
              <a:rPr lang="en-US" sz="800" err="1">
                <a:solidFill>
                  <a:prstClr val="black"/>
                </a:solidFill>
                <a:latin typeface="Boehringer Forward Text"/>
              </a:rPr>
              <a:t>Tyligand</a:t>
            </a:r>
            <a:r>
              <a:rPr lang="en-US" sz="800">
                <a:solidFill>
                  <a:prstClr val="black"/>
                </a:solidFill>
                <a:latin typeface="Boehringer Forward Text"/>
              </a:rPr>
              <a:t> TSN1611, </a:t>
            </a:r>
            <a:r>
              <a:rPr lang="en-US" sz="800">
                <a:solidFill>
                  <a:prstClr val="black"/>
                </a:solidFill>
                <a:latin typeface="Boehringer Forward Text"/>
                <a:hlinkClick r:id="rId3">
                  <a:extLst>
                    <a:ext uri="{A12FA001-AC4F-418D-AE19-62706E023703}">
                      <ahyp:hlinkClr xmlns:ahyp="http://schemas.microsoft.com/office/drawing/2018/hyperlinkcolor" val="tx"/>
                    </a:ext>
                  </a:extLst>
                </a:hlinkClick>
              </a:rPr>
              <a:t>data</a:t>
            </a:r>
            <a:r>
              <a:rPr lang="en-US" sz="800">
                <a:solidFill>
                  <a:prstClr val="black"/>
                </a:solidFill>
                <a:latin typeface="Boehringer Forward Text"/>
              </a:rPr>
              <a:t> at ASCO25, ORR 25%</a:t>
            </a:r>
          </a:p>
          <a:p>
            <a:pPr marL="171442" indent="-171442" defTabSz="1218990">
              <a:buFont typeface="Arial" panose="020B0604020202020204" pitchFamily="34" charset="0"/>
              <a:buChar char="•"/>
              <a:defRPr/>
            </a:pPr>
            <a:r>
              <a:rPr lang="en-US" sz="800" err="1">
                <a:solidFill>
                  <a:prstClr val="black"/>
                </a:solidFill>
                <a:latin typeface="Boehringer Forward Text"/>
              </a:rPr>
              <a:t>Quilu</a:t>
            </a:r>
            <a:r>
              <a:rPr lang="en-US" sz="800">
                <a:solidFill>
                  <a:prstClr val="black"/>
                </a:solidFill>
                <a:latin typeface="Boehringer Forward Text"/>
              </a:rPr>
              <a:t> Pharma QLC1101 and </a:t>
            </a:r>
            <a:r>
              <a:rPr lang="en-US" sz="800" err="1">
                <a:solidFill>
                  <a:prstClr val="black"/>
                </a:solidFill>
                <a:latin typeface="Boehringer Forward Text"/>
              </a:rPr>
              <a:t>Hengrui’s</a:t>
            </a:r>
            <a:r>
              <a:rPr lang="en-US" sz="800">
                <a:solidFill>
                  <a:prstClr val="black"/>
                </a:solidFill>
                <a:latin typeface="Boehringer Forward Text"/>
              </a:rPr>
              <a:t> HRS-4642: other combos</a:t>
            </a:r>
          </a:p>
        </p:txBody>
      </p:sp>
      <p:sp>
        <p:nvSpPr>
          <p:cNvPr id="6" name="Arrow: Pentagon 5">
            <a:extLst>
              <a:ext uri="{FF2B5EF4-FFF2-40B4-BE49-F238E27FC236}">
                <a16:creationId xmlns:a16="http://schemas.microsoft.com/office/drawing/2014/main" id="{3E2C79F0-4B22-F6E3-F62A-F7DDB1D4D913}"/>
              </a:ext>
            </a:extLst>
          </p:cNvPr>
          <p:cNvSpPr/>
          <p:nvPr/>
        </p:nvSpPr>
        <p:spPr bwMode="gray">
          <a:xfrm>
            <a:off x="2521881" y="4104920"/>
            <a:ext cx="2158940"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 + SOC, n=308 </a:t>
            </a:r>
            <a:endParaRPr lang="en-US" sz="933" b="1">
              <a:solidFill>
                <a:srgbClr val="FF0000"/>
              </a:solidFill>
              <a:latin typeface="Boehringer Forward Text"/>
            </a:endParaRPr>
          </a:p>
        </p:txBody>
      </p:sp>
      <p:sp>
        <p:nvSpPr>
          <p:cNvPr id="16" name="Arrow: Pentagon 15">
            <a:extLst>
              <a:ext uri="{FF2B5EF4-FFF2-40B4-BE49-F238E27FC236}">
                <a16:creationId xmlns:a16="http://schemas.microsoft.com/office/drawing/2014/main" id="{EA917928-BC8B-37A0-7DFC-8D5C17497F74}"/>
              </a:ext>
            </a:extLst>
          </p:cNvPr>
          <p:cNvSpPr/>
          <p:nvPr/>
        </p:nvSpPr>
        <p:spPr bwMode="gray">
          <a:xfrm>
            <a:off x="1765600" y="4830733"/>
            <a:ext cx="2909049"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n=250 in 14 US</a:t>
            </a:r>
            <a:endParaRPr lang="en-US" sz="933" b="1">
              <a:solidFill>
                <a:srgbClr val="FF0000"/>
              </a:solidFill>
              <a:latin typeface="Boehringer Forward Text"/>
            </a:endParaRPr>
          </a:p>
        </p:txBody>
      </p:sp>
      <p:sp>
        <p:nvSpPr>
          <p:cNvPr id="18" name="Arrow: Pentagon 17">
            <a:extLst>
              <a:ext uri="{FF2B5EF4-FFF2-40B4-BE49-F238E27FC236}">
                <a16:creationId xmlns:a16="http://schemas.microsoft.com/office/drawing/2014/main" id="{5D34B620-1610-2565-4BE5-9B9D1D7BF716}"/>
              </a:ext>
            </a:extLst>
          </p:cNvPr>
          <p:cNvSpPr/>
          <p:nvPr/>
        </p:nvSpPr>
        <p:spPr bwMode="gray">
          <a:xfrm>
            <a:off x="1869444" y="5125981"/>
            <a:ext cx="3086073"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41">
              <a:lnSpc>
                <a:spcPct val="140000"/>
              </a:lnSpc>
              <a:defRPr/>
            </a:pPr>
            <a:r>
              <a:rPr lang="en-US" sz="900">
                <a:solidFill>
                  <a:prstClr val="black"/>
                </a:solidFill>
                <a:latin typeface="Boehringer Forward Text"/>
              </a:rPr>
              <a:t>ph1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n=240 in 5 US</a:t>
            </a:r>
            <a:endParaRPr lang="en-US" sz="933" b="1">
              <a:solidFill>
                <a:srgbClr val="FF0000"/>
              </a:solidFill>
              <a:latin typeface="Boehringer Forward Text"/>
            </a:endParaRPr>
          </a:p>
        </p:txBody>
      </p:sp>
      <p:sp>
        <p:nvSpPr>
          <p:cNvPr id="5" name="Arrow: Pentagon 4">
            <a:extLst>
              <a:ext uri="{FF2B5EF4-FFF2-40B4-BE49-F238E27FC236}">
                <a16:creationId xmlns:a16="http://schemas.microsoft.com/office/drawing/2014/main" id="{497C3081-6AFC-35DD-1D71-2C413CFAA5C9}"/>
              </a:ext>
            </a:extLst>
          </p:cNvPr>
          <p:cNvSpPr/>
          <p:nvPr/>
        </p:nvSpPr>
        <p:spPr bwMode="gray">
          <a:xfrm>
            <a:off x="2735793" y="2543303"/>
            <a:ext cx="3417475" cy="243840"/>
          </a:xfrm>
          <a:prstGeom prst="homePlate">
            <a:avLst/>
          </a:prstGeom>
          <a:solidFill>
            <a:schemeClr val="accent5">
              <a:lumMod val="40000"/>
              <a:lumOff val="60000"/>
              <a:alpha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41">
              <a:lnSpc>
                <a:spcPct val="140000"/>
              </a:lnSpc>
              <a:defRPr/>
            </a:pPr>
            <a:r>
              <a:rPr lang="en-US" sz="900">
                <a:solidFill>
                  <a:prstClr val="black"/>
                </a:solidFill>
                <a:latin typeface="Boehringer Forward Text"/>
              </a:rPr>
              <a:t>ph1/2 mono / +</a:t>
            </a:r>
            <a:r>
              <a:rPr lang="en-US" sz="900" err="1">
                <a:solidFill>
                  <a:prstClr val="black"/>
                </a:solidFill>
                <a:highlight>
                  <a:srgbClr val="00FF00"/>
                </a:highlight>
                <a:latin typeface="Boehringer Forward Text"/>
              </a:rPr>
              <a:t>cmab</a:t>
            </a:r>
            <a:r>
              <a:rPr lang="en-US" sz="900">
                <a:solidFill>
                  <a:prstClr val="black"/>
                </a:solidFill>
                <a:latin typeface="Boehringer Forward Text"/>
              </a:rPr>
              <a:t> n=130 in 5 US</a:t>
            </a:r>
            <a:endParaRPr lang="en-US" sz="933" b="1">
              <a:solidFill>
                <a:prstClr val="black"/>
              </a:solidFill>
              <a:latin typeface="Boehringer Forward Text"/>
            </a:endParaRPr>
          </a:p>
        </p:txBody>
      </p:sp>
      <p:graphicFrame>
        <p:nvGraphicFramePr>
          <p:cNvPr id="19" name="Tabelle 59">
            <a:extLst>
              <a:ext uri="{FF2B5EF4-FFF2-40B4-BE49-F238E27FC236}">
                <a16:creationId xmlns:a16="http://schemas.microsoft.com/office/drawing/2014/main" id="{4B8B2C7B-852F-9B9E-6D26-6BE8348F0CA1}"/>
              </a:ext>
            </a:extLst>
          </p:cNvPr>
          <p:cNvGraphicFramePr>
            <a:graphicFrameLocks noGrp="1"/>
          </p:cNvGraphicFramePr>
          <p:nvPr/>
        </p:nvGraphicFramePr>
        <p:xfrm>
          <a:off x="250476" y="825825"/>
          <a:ext cx="1307240" cy="4599038"/>
        </p:xfrm>
        <a:graphic>
          <a:graphicData uri="http://schemas.openxmlformats.org/drawingml/2006/table">
            <a:tbl>
              <a:tblPr firstRow="1" bandRow="1">
                <a:effectLst/>
                <a:tableStyleId>{5C22544A-7EE6-4342-B048-85BDC9FD1C3A}</a:tableStyleId>
              </a:tblPr>
              <a:tblGrid>
                <a:gridCol w="1307240">
                  <a:extLst>
                    <a:ext uri="{9D8B030D-6E8A-4147-A177-3AD203B41FA5}">
                      <a16:colId xmlns:a16="http://schemas.microsoft.com/office/drawing/2014/main" val="697598611"/>
                    </a:ext>
                  </a:extLst>
                </a:gridCol>
              </a:tblGrid>
              <a:tr h="28448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00E47C"/>
                          </a:solidFill>
                          <a:effectLst/>
                          <a:uLnTx/>
                          <a:uFillTx/>
                          <a:latin typeface="+mn-lt"/>
                          <a:ea typeface="+mn-ea"/>
                          <a:cs typeface="+mn-cs"/>
                        </a:rPr>
                        <a:t>Boehringer Ingelheim</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E47C"/>
                          </a:solidFill>
                          <a:effectLst/>
                          <a:uLnTx/>
                          <a:uFillTx/>
                          <a:latin typeface="+mn-lt"/>
                          <a:ea typeface="+mn-ea"/>
                          <a:cs typeface="+mn-cs"/>
                        </a:rPr>
                        <a:t>BI 4015092 </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1924808"/>
                  </a:ext>
                </a:extLst>
              </a:tr>
              <a:tr h="292608">
                <a:tc>
                  <a:txBody>
                    <a:bodyPr/>
                    <a:lstStyle/>
                    <a:p>
                      <a:pPr algn="ctr"/>
                      <a:endParaRPr lang="en-US" sz="900" noProof="0">
                        <a:solidFill>
                          <a:schemeClr val="accent2"/>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0914150"/>
                  </a:ext>
                </a:extLst>
              </a:tr>
              <a:tr h="73152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mn-cs"/>
                        </a:rPr>
                        <a:t>Revolution Medicines</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Zoldonrasib</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RMC-9805</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856808"/>
                  </a:ext>
                </a:extLst>
              </a:tr>
              <a:tr h="36576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mn-cs"/>
                        </a:rPr>
                        <a:t>AstraZeneca </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AZD022</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137706"/>
                  </a:ext>
                </a:extLst>
              </a:tr>
              <a:tr h="36576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err="1">
                          <a:ln>
                            <a:noFill/>
                          </a:ln>
                          <a:solidFill>
                            <a:schemeClr val="bg1"/>
                          </a:solidFill>
                          <a:effectLst/>
                          <a:uLnTx/>
                          <a:uFillTx/>
                          <a:latin typeface="+mn-lt"/>
                          <a:ea typeface="+mn-ea"/>
                          <a:cs typeface="+mn-cs"/>
                        </a:rPr>
                        <a:t>Verastem</a:t>
                      </a:r>
                      <a:r>
                        <a:rPr kumimoji="0" lang="en-US" sz="900" b="0" i="1" u="none" strike="noStrike" kern="1200" cap="none" spc="0" normalizeH="0" baseline="0" noProof="0">
                          <a:ln>
                            <a:noFill/>
                          </a:ln>
                          <a:solidFill>
                            <a:schemeClr val="bg1"/>
                          </a:solidFill>
                          <a:effectLst/>
                          <a:uLnTx/>
                          <a:uFillTx/>
                          <a:latin typeface="+mn-lt"/>
                          <a:ea typeface="+mn-ea"/>
                          <a:cs typeface="+mn-cs"/>
                        </a:rPr>
                        <a:t> </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mn-cs"/>
                        </a:rPr>
                        <a:t>VS-7375</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7718813"/>
                  </a:ext>
                </a:extLst>
              </a:tr>
              <a:tr h="36576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Calibri" panose="020F0502020204030204" pitchFamily="34" charset="0"/>
                        </a:rPr>
                        <a:t>Genentech</a:t>
                      </a:r>
                      <a:endParaRPr kumimoji="0" lang="en-US" sz="900" b="0" i="1" u="none" strike="noStrike" kern="1200" cap="none" spc="0" normalizeH="0" baseline="0" noProof="0">
                        <a:ln>
                          <a:noFill/>
                        </a:ln>
                        <a:solidFill>
                          <a:schemeClr val="bg1"/>
                        </a:solidFill>
                        <a:effectLst/>
                        <a:uLnTx/>
                        <a:uFillTx/>
                        <a:latin typeface="+mn-lt"/>
                        <a:ea typeface="+mn-ea"/>
                        <a:cs typeface="+mn-cs"/>
                      </a:endParaRP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Calibri" panose="020F0502020204030204" pitchFamily="34" charset="0"/>
                        </a:rPr>
                        <a:t>GDC-7035</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0072717"/>
                  </a:ext>
                </a:extLst>
              </a:tr>
              <a:tr h="511837">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mn-cs"/>
                        </a:rPr>
                        <a:t>Astellas </a:t>
                      </a:r>
                    </a:p>
                    <a:p>
                      <a:pPr marL="0" marR="0" lvl="0" indent="0" algn="l" defTabSz="685800" rtl="0" eaLnBrk="1" fontAlgn="b"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Calibri" panose="020F0502020204030204" pitchFamily="34" charset="0"/>
                        </a:rPr>
                        <a:t>ASP3082</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3764417"/>
                  </a:ext>
                </a:extLst>
              </a:tr>
              <a:tr h="657185">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Calibri" panose="020F0502020204030204" pitchFamily="34" charset="0"/>
                        </a:rPr>
                        <a:t>Incyte</a:t>
                      </a:r>
                      <a:endParaRPr kumimoji="0" lang="en-US" sz="900" b="0" i="1" u="none" strike="noStrike" kern="1200" cap="none" spc="0" normalizeH="0" baseline="0" noProof="0">
                        <a:ln>
                          <a:noFill/>
                        </a:ln>
                        <a:solidFill>
                          <a:schemeClr val="bg1"/>
                        </a:solidFill>
                        <a:effectLst/>
                        <a:uLnTx/>
                        <a:uFillTx/>
                        <a:latin typeface="+mn-lt"/>
                        <a:ea typeface="+mn-ea"/>
                        <a:cs typeface="+mn-cs"/>
                      </a:endParaRP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Calibri" panose="020F0502020204030204" pitchFamily="34" charset="0"/>
                        </a:rPr>
                        <a:t>INCB161734</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65000"/>
                            </a:schemeClr>
                          </a:solidFill>
                          <a:effectLst/>
                          <a:uLnTx/>
                          <a:uFillTx/>
                          <a:latin typeface="+mn-lt"/>
                          <a:ea typeface="+mn-ea"/>
                          <a:cs typeface="Calibri" panose="020F0502020204030204" pitchFamily="34" charset="0"/>
                        </a:rPr>
                        <a:t>INCB186748</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7137566"/>
                  </a:ext>
                </a:extLst>
              </a:tr>
              <a:tr h="365760">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Calibri" panose="020F0502020204030204" pitchFamily="34" charset="0"/>
                        </a:rPr>
                        <a:t>Eli Lilly</a:t>
                      </a:r>
                      <a:endParaRPr kumimoji="0" lang="en-US" sz="900" b="0" i="1" u="none" strike="noStrike" kern="1200" cap="none" spc="0" normalizeH="0" baseline="0" noProof="0">
                        <a:ln>
                          <a:noFill/>
                        </a:ln>
                        <a:solidFill>
                          <a:schemeClr val="bg1"/>
                        </a:solidFill>
                        <a:effectLst/>
                        <a:uLnTx/>
                        <a:uFillTx/>
                        <a:latin typeface="+mn-lt"/>
                        <a:ea typeface="+mn-ea"/>
                        <a:cs typeface="+mn-cs"/>
                      </a:endParaRP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Calibri" panose="020F0502020204030204" pitchFamily="34" charset="0"/>
                        </a:rPr>
                        <a:t>LY3962673</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621028"/>
                  </a:ext>
                </a:extLst>
              </a:tr>
              <a:tr h="658368">
                <a:tc>
                  <a:txBody>
                    <a:body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chemeClr val="bg1"/>
                          </a:solidFill>
                          <a:effectLst/>
                          <a:uLnTx/>
                          <a:uFillTx/>
                          <a:latin typeface="+mn-lt"/>
                          <a:ea typeface="+mn-ea"/>
                          <a:cs typeface="Calibri" panose="020F0502020204030204" pitchFamily="34" charset="0"/>
                        </a:rPr>
                        <a:t>Quanta</a:t>
                      </a:r>
                      <a:endParaRPr kumimoji="0" lang="en-US" sz="900" b="0" i="1" u="none" strike="noStrike" kern="1200" cap="none" spc="0" normalizeH="0" baseline="0" noProof="0">
                        <a:ln>
                          <a:noFill/>
                        </a:ln>
                        <a:solidFill>
                          <a:schemeClr val="bg1"/>
                        </a:solidFill>
                        <a:effectLst/>
                        <a:uLnTx/>
                        <a:uFillTx/>
                        <a:latin typeface="+mn-lt"/>
                        <a:ea typeface="+mn-ea"/>
                        <a:cs typeface="+mn-cs"/>
                      </a:endParaRP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solidFill>
                          <a:effectLst/>
                          <a:uLnTx/>
                          <a:uFillTx/>
                          <a:latin typeface="+mn-lt"/>
                          <a:ea typeface="+mn-ea"/>
                          <a:cs typeface="Calibri" panose="020F0502020204030204" pitchFamily="34" charset="0"/>
                        </a:rPr>
                        <a:t>QTX3034</a:t>
                      </a:r>
                    </a:p>
                    <a:p>
                      <a:pPr marL="0" marR="0" lvl="0" indent="0" algn="l" defTabSz="68571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65000"/>
                            </a:schemeClr>
                          </a:solidFill>
                          <a:effectLst/>
                          <a:uLnTx/>
                          <a:uFillTx/>
                          <a:latin typeface="+mn-lt"/>
                          <a:ea typeface="+mn-ea"/>
                          <a:cs typeface="Calibri" panose="020F0502020204030204" pitchFamily="34" charset="0"/>
                        </a:rPr>
                        <a:t>QTX3046</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519064"/>
                  </a:ext>
                </a:extLst>
              </a:tr>
            </a:tbl>
          </a:graphicData>
        </a:graphic>
      </p:graphicFrame>
      <p:cxnSp>
        <p:nvCxnSpPr>
          <p:cNvPr id="26" name="Straight Connector 25">
            <a:extLst>
              <a:ext uri="{FF2B5EF4-FFF2-40B4-BE49-F238E27FC236}">
                <a16:creationId xmlns:a16="http://schemas.microsoft.com/office/drawing/2014/main" id="{9D8B3217-CCF0-C31B-F33C-FB6B6A20B6D2}"/>
              </a:ext>
            </a:extLst>
          </p:cNvPr>
          <p:cNvCxnSpPr>
            <a:cxnSpLocks/>
          </p:cNvCxnSpPr>
          <p:nvPr/>
        </p:nvCxnSpPr>
        <p:spPr bwMode="gray">
          <a:xfrm>
            <a:off x="3209681" y="825819"/>
            <a:ext cx="0" cy="4617181"/>
          </a:xfrm>
          <a:prstGeom prst="line">
            <a:avLst/>
          </a:prstGeom>
          <a:ln w="95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A8B3FD1-5D7A-0610-4137-9082E650BAC1}"/>
              </a:ext>
            </a:extLst>
          </p:cNvPr>
          <p:cNvSpPr txBox="1"/>
          <p:nvPr/>
        </p:nvSpPr>
        <p:spPr bwMode="gray">
          <a:xfrm>
            <a:off x="3015257" y="633350"/>
            <a:ext cx="638897" cy="164212"/>
          </a:xfrm>
          <a:prstGeom prst="rect">
            <a:avLst/>
          </a:prstGeom>
          <a:noFill/>
        </p:spPr>
        <p:txBody>
          <a:bodyPr wrap="square" lIns="0" tIns="0" rIns="0" bIns="0">
            <a:spAutoFit/>
          </a:bodyPr>
          <a:lstStyle/>
          <a:p>
            <a:pPr defTabSz="1219140">
              <a:defRPr/>
            </a:pPr>
            <a:r>
              <a:rPr lang="en-US" sz="1067" i="1">
                <a:solidFill>
                  <a:srgbClr val="C00000"/>
                </a:solidFill>
                <a:latin typeface="Boehringer Forward Text"/>
              </a:rPr>
              <a:t>today</a:t>
            </a:r>
          </a:p>
        </p:txBody>
      </p:sp>
      <p:sp>
        <p:nvSpPr>
          <p:cNvPr id="32" name="TextBox 31">
            <a:extLst>
              <a:ext uri="{FF2B5EF4-FFF2-40B4-BE49-F238E27FC236}">
                <a16:creationId xmlns:a16="http://schemas.microsoft.com/office/drawing/2014/main" id="{93E800A6-C589-E6BC-FD07-B69821F7530D}"/>
              </a:ext>
            </a:extLst>
          </p:cNvPr>
          <p:cNvSpPr txBox="1"/>
          <p:nvPr/>
        </p:nvSpPr>
        <p:spPr bwMode="gray">
          <a:xfrm>
            <a:off x="7399791" y="2174005"/>
            <a:ext cx="2166132" cy="256545"/>
          </a:xfrm>
          <a:prstGeom prst="rect">
            <a:avLst/>
          </a:prstGeom>
          <a:noFill/>
        </p:spPr>
        <p:txBody>
          <a:bodyPr wrap="square">
            <a:spAutoFit/>
          </a:bodyPr>
          <a:lstStyle/>
          <a:p>
            <a:pPr defTabSz="1219140">
              <a:defRPr/>
            </a:pPr>
            <a:r>
              <a:rPr lang="en-US" sz="1067">
                <a:solidFill>
                  <a:prstClr val="black"/>
                </a:solidFill>
                <a:latin typeface="Boehringer Forward Text"/>
              </a:rPr>
              <a:t>no strong preclinical CRC data</a:t>
            </a:r>
          </a:p>
        </p:txBody>
      </p:sp>
      <p:cxnSp>
        <p:nvCxnSpPr>
          <p:cNvPr id="37" name="Straight Connector 36">
            <a:extLst>
              <a:ext uri="{FF2B5EF4-FFF2-40B4-BE49-F238E27FC236}">
                <a16:creationId xmlns:a16="http://schemas.microsoft.com/office/drawing/2014/main" id="{48435D04-7CE7-1253-1EF9-9CD36BA2B11C}"/>
              </a:ext>
            </a:extLst>
          </p:cNvPr>
          <p:cNvCxnSpPr>
            <a:cxnSpLocks/>
          </p:cNvCxnSpPr>
          <p:nvPr/>
        </p:nvCxnSpPr>
        <p:spPr bwMode="gray">
          <a:xfrm>
            <a:off x="1543670" y="1391857"/>
            <a:ext cx="166601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2" name="Gruppieren 356">
            <a:extLst>
              <a:ext uri="{FF2B5EF4-FFF2-40B4-BE49-F238E27FC236}">
                <a16:creationId xmlns:a16="http://schemas.microsoft.com/office/drawing/2014/main" id="{2B18D86B-208B-F548-FF18-8A99DF3639DC}"/>
              </a:ext>
            </a:extLst>
          </p:cNvPr>
          <p:cNvGrpSpPr/>
          <p:nvPr/>
        </p:nvGrpSpPr>
        <p:grpSpPr>
          <a:xfrm>
            <a:off x="9391737" y="825814"/>
            <a:ext cx="954059" cy="223745"/>
            <a:chOff x="4518031" y="2562483"/>
            <a:chExt cx="767975" cy="167809"/>
          </a:xfrm>
        </p:grpSpPr>
        <p:sp>
          <p:nvSpPr>
            <p:cNvPr id="43" name="TextBox 42">
              <a:extLst>
                <a:ext uri="{FF2B5EF4-FFF2-40B4-BE49-F238E27FC236}">
                  <a16:creationId xmlns:a16="http://schemas.microsoft.com/office/drawing/2014/main" id="{E452502A-D22B-4BC6-E2D2-FC4C3D473D07}"/>
                </a:ext>
              </a:extLst>
            </p:cNvPr>
            <p:cNvSpPr txBox="1"/>
            <p:nvPr/>
          </p:nvSpPr>
          <p:spPr bwMode="gray">
            <a:xfrm>
              <a:off x="4734245" y="2562483"/>
              <a:ext cx="551761" cy="158024"/>
            </a:xfrm>
            <a:prstGeom prst="rect">
              <a:avLst/>
            </a:prstGeom>
            <a:noFill/>
          </p:spPr>
          <p:txBody>
            <a:bodyPr wrap="square" lIns="0" tIns="0" rIns="0" bIns="0" rtlCol="0">
              <a:spAutoFit/>
            </a:bodyPr>
            <a:lstStyle/>
            <a:p>
              <a:pPr defTabSz="1219140">
                <a:lnSpc>
                  <a:spcPct val="140000"/>
                </a:lnSpc>
                <a:defRPr/>
              </a:pPr>
              <a:r>
                <a:rPr lang="en-US" sz="1067" b="1">
                  <a:solidFill>
                    <a:prstClr val="black"/>
                  </a:solidFill>
                  <a:latin typeface="Boehringer Forward Text"/>
                </a:rPr>
                <a:t>AA (2L)</a:t>
              </a:r>
            </a:p>
          </p:txBody>
        </p:sp>
        <p:sp>
          <p:nvSpPr>
            <p:cNvPr id="44" name="Star: 5 Points 43">
              <a:extLst>
                <a:ext uri="{FF2B5EF4-FFF2-40B4-BE49-F238E27FC236}">
                  <a16:creationId xmlns:a16="http://schemas.microsoft.com/office/drawing/2014/main" id="{238E5683-B24F-3D17-90C4-6CEDC0E140D3}"/>
                </a:ext>
              </a:extLst>
            </p:cNvPr>
            <p:cNvSpPr>
              <a:spLocks noChangeAspect="1"/>
            </p:cNvSpPr>
            <p:nvPr/>
          </p:nvSpPr>
          <p:spPr bwMode="gray">
            <a:xfrm>
              <a:off x="4518031" y="2574844"/>
              <a:ext cx="166840" cy="155448"/>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45" name="Gruppieren 353">
            <a:extLst>
              <a:ext uri="{FF2B5EF4-FFF2-40B4-BE49-F238E27FC236}">
                <a16:creationId xmlns:a16="http://schemas.microsoft.com/office/drawing/2014/main" id="{01B5957E-5D30-8D23-BA86-F5A24C071F16}"/>
              </a:ext>
            </a:extLst>
          </p:cNvPr>
          <p:cNvGrpSpPr/>
          <p:nvPr/>
        </p:nvGrpSpPr>
        <p:grpSpPr>
          <a:xfrm>
            <a:off x="10956609" y="844138"/>
            <a:ext cx="751745" cy="210656"/>
            <a:chOff x="6229451" y="3258015"/>
            <a:chExt cx="605123" cy="157992"/>
          </a:xfrm>
        </p:grpSpPr>
        <p:sp>
          <p:nvSpPr>
            <p:cNvPr id="46" name="TextBox 45">
              <a:extLst>
                <a:ext uri="{FF2B5EF4-FFF2-40B4-BE49-F238E27FC236}">
                  <a16:creationId xmlns:a16="http://schemas.microsoft.com/office/drawing/2014/main" id="{6C01E2DE-8483-9C90-B4E0-26343FDEF373}"/>
                </a:ext>
              </a:extLst>
            </p:cNvPr>
            <p:cNvSpPr txBox="1"/>
            <p:nvPr/>
          </p:nvSpPr>
          <p:spPr bwMode="gray">
            <a:xfrm>
              <a:off x="6229451" y="3281112"/>
              <a:ext cx="432349" cy="123159"/>
            </a:xfrm>
            <a:prstGeom prst="rect">
              <a:avLst/>
            </a:prstGeom>
            <a:noFill/>
          </p:spPr>
          <p:txBody>
            <a:bodyPr wrap="square" lIns="0" tIns="0" rIns="0" bIns="0" rtlCol="0">
              <a:spAutoFit/>
            </a:bodyPr>
            <a:lstStyle/>
            <a:p>
              <a:pPr defTabSz="1219140">
                <a:defRPr/>
              </a:pPr>
              <a:r>
                <a:rPr lang="en-US" sz="1067" b="1">
                  <a:solidFill>
                    <a:prstClr val="black"/>
                  </a:solidFill>
                  <a:latin typeface="Boehringer Forward Text"/>
                </a:rPr>
                <a:t>FA (1L) </a:t>
              </a:r>
            </a:p>
          </p:txBody>
        </p:sp>
        <p:sp>
          <p:nvSpPr>
            <p:cNvPr id="47" name="Star: 5 Points 288">
              <a:extLst>
                <a:ext uri="{FF2B5EF4-FFF2-40B4-BE49-F238E27FC236}">
                  <a16:creationId xmlns:a16="http://schemas.microsoft.com/office/drawing/2014/main" id="{425786EE-92AE-13BF-4F2D-9ED87571A45E}"/>
                </a:ext>
              </a:extLst>
            </p:cNvPr>
            <p:cNvSpPr>
              <a:spLocks noChangeAspect="1"/>
            </p:cNvSpPr>
            <p:nvPr/>
          </p:nvSpPr>
          <p:spPr bwMode="gray">
            <a:xfrm>
              <a:off x="6667735" y="3258015"/>
              <a:ext cx="166839" cy="157992"/>
            </a:xfrm>
            <a:prstGeom prst="star5">
              <a:avLst>
                <a:gd name="adj" fmla="val 25559"/>
                <a:gd name="hf" fmla="val 105146"/>
                <a:gd name="vf" fmla="val 110557"/>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20" name="Gruppieren 356">
            <a:extLst>
              <a:ext uri="{FF2B5EF4-FFF2-40B4-BE49-F238E27FC236}">
                <a16:creationId xmlns:a16="http://schemas.microsoft.com/office/drawing/2014/main" id="{6F9249D1-B000-1B1B-7A0C-24A16E1159CD}"/>
              </a:ext>
            </a:extLst>
          </p:cNvPr>
          <p:cNvGrpSpPr/>
          <p:nvPr/>
        </p:nvGrpSpPr>
        <p:grpSpPr>
          <a:xfrm>
            <a:off x="4310790" y="833253"/>
            <a:ext cx="1313741" cy="223745"/>
            <a:chOff x="4624583" y="2562483"/>
            <a:chExt cx="1057506" cy="167809"/>
          </a:xfrm>
        </p:grpSpPr>
        <p:sp>
          <p:nvSpPr>
            <p:cNvPr id="21" name="TextBox 20">
              <a:extLst>
                <a:ext uri="{FF2B5EF4-FFF2-40B4-BE49-F238E27FC236}">
                  <a16:creationId xmlns:a16="http://schemas.microsoft.com/office/drawing/2014/main" id="{D2ECFE80-9CCC-2DB5-D06F-CD77C3E6C405}"/>
                </a:ext>
              </a:extLst>
            </p:cNvPr>
            <p:cNvSpPr txBox="1"/>
            <p:nvPr/>
          </p:nvSpPr>
          <p:spPr bwMode="gray">
            <a:xfrm>
              <a:off x="4857616" y="2562483"/>
              <a:ext cx="824473" cy="158024"/>
            </a:xfrm>
            <a:prstGeom prst="rect">
              <a:avLst/>
            </a:prstGeom>
            <a:noFill/>
          </p:spPr>
          <p:txBody>
            <a:bodyPr wrap="square" lIns="0" tIns="0" rIns="0" bIns="0" rtlCol="0">
              <a:spAutoFit/>
            </a:bodyPr>
            <a:lstStyle/>
            <a:p>
              <a:pPr defTabSz="1219140">
                <a:lnSpc>
                  <a:spcPct val="140000"/>
                </a:lnSpc>
                <a:defRPr/>
              </a:pPr>
              <a:r>
                <a:rPr lang="en-US" sz="1067" b="1">
                  <a:solidFill>
                    <a:prstClr val="black"/>
                  </a:solidFill>
                  <a:latin typeface="Boehringer Forward Text"/>
                </a:rPr>
                <a:t>FiH</a:t>
              </a:r>
            </a:p>
          </p:txBody>
        </p:sp>
        <p:sp>
          <p:nvSpPr>
            <p:cNvPr id="23" name="Star: 5 Points 22">
              <a:extLst>
                <a:ext uri="{FF2B5EF4-FFF2-40B4-BE49-F238E27FC236}">
                  <a16:creationId xmlns:a16="http://schemas.microsoft.com/office/drawing/2014/main" id="{563E0949-CA1D-23BF-D214-D8F4C829B52C}"/>
                </a:ext>
              </a:extLst>
            </p:cNvPr>
            <p:cNvSpPr>
              <a:spLocks noChangeAspect="1"/>
            </p:cNvSpPr>
            <p:nvPr/>
          </p:nvSpPr>
          <p:spPr bwMode="gray">
            <a:xfrm>
              <a:off x="4624583" y="2574844"/>
              <a:ext cx="166839" cy="155448"/>
            </a:xfrm>
            <a:prstGeom prst="star5">
              <a:avLst>
                <a:gd name="adj" fmla="val 25559"/>
                <a:gd name="hf" fmla="val 105146"/>
                <a:gd name="vf" fmla="val 110557"/>
              </a:avLst>
            </a:prstGeom>
            <a:solidFill>
              <a:srgbClr val="FFD03D"/>
            </a:solidFill>
            <a:ln w="9525">
              <a:solidFill>
                <a:srgbClr val="E18600"/>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27" name="Gruppieren 353">
            <a:extLst>
              <a:ext uri="{FF2B5EF4-FFF2-40B4-BE49-F238E27FC236}">
                <a16:creationId xmlns:a16="http://schemas.microsoft.com/office/drawing/2014/main" id="{25637599-B6DA-E35D-5B37-215F03FD7D91}"/>
              </a:ext>
            </a:extLst>
          </p:cNvPr>
          <p:cNvGrpSpPr/>
          <p:nvPr/>
        </p:nvGrpSpPr>
        <p:grpSpPr>
          <a:xfrm>
            <a:off x="9429795" y="1829124"/>
            <a:ext cx="1011525" cy="210656"/>
            <a:chOff x="6667735" y="3258015"/>
            <a:chExt cx="814234" cy="157992"/>
          </a:xfrm>
        </p:grpSpPr>
        <p:sp>
          <p:nvSpPr>
            <p:cNvPr id="35" name="TextBox 34">
              <a:extLst>
                <a:ext uri="{FF2B5EF4-FFF2-40B4-BE49-F238E27FC236}">
                  <a16:creationId xmlns:a16="http://schemas.microsoft.com/office/drawing/2014/main" id="{52D3BA4F-19D9-6D32-72B0-0D93C974B78C}"/>
                </a:ext>
              </a:extLst>
            </p:cNvPr>
            <p:cNvSpPr txBox="1"/>
            <p:nvPr/>
          </p:nvSpPr>
          <p:spPr bwMode="gray">
            <a:xfrm>
              <a:off x="6854884" y="3289461"/>
              <a:ext cx="627085" cy="123159"/>
            </a:xfrm>
            <a:prstGeom prst="rect">
              <a:avLst/>
            </a:prstGeom>
            <a:noFill/>
          </p:spPr>
          <p:txBody>
            <a:bodyPr wrap="square" lIns="0" tIns="0" rIns="0" bIns="0" rtlCol="0">
              <a:spAutoFit/>
            </a:bodyPr>
            <a:lstStyle/>
            <a:p>
              <a:pPr defTabSz="1219140">
                <a:defRPr/>
              </a:pPr>
              <a:r>
                <a:rPr lang="en-US" sz="1067" b="1">
                  <a:solidFill>
                    <a:prstClr val="black"/>
                  </a:solidFill>
                  <a:latin typeface="Boehringer Forward Text"/>
                </a:rPr>
                <a:t>FA (1L GI) </a:t>
              </a:r>
            </a:p>
          </p:txBody>
        </p:sp>
        <p:sp>
          <p:nvSpPr>
            <p:cNvPr id="39" name="Star: 5 Points 288">
              <a:extLst>
                <a:ext uri="{FF2B5EF4-FFF2-40B4-BE49-F238E27FC236}">
                  <a16:creationId xmlns:a16="http://schemas.microsoft.com/office/drawing/2014/main" id="{AF3242CB-EB46-7F91-7C9C-B519A103B85E}"/>
                </a:ext>
              </a:extLst>
            </p:cNvPr>
            <p:cNvSpPr>
              <a:spLocks noChangeAspect="1"/>
            </p:cNvSpPr>
            <p:nvPr/>
          </p:nvSpPr>
          <p:spPr bwMode="gray">
            <a:xfrm>
              <a:off x="6667735" y="3258015"/>
              <a:ext cx="166839" cy="157992"/>
            </a:xfrm>
            <a:prstGeom prst="star5">
              <a:avLst>
                <a:gd name="adj" fmla="val 25559"/>
                <a:gd name="hf" fmla="val 105146"/>
                <a:gd name="vf" fmla="val 110557"/>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12" name="Gruppieren 356">
            <a:extLst>
              <a:ext uri="{FF2B5EF4-FFF2-40B4-BE49-F238E27FC236}">
                <a16:creationId xmlns:a16="http://schemas.microsoft.com/office/drawing/2014/main" id="{020095C4-28B2-0A47-8AC3-8FDA048C3306}"/>
              </a:ext>
            </a:extLst>
          </p:cNvPr>
          <p:cNvGrpSpPr/>
          <p:nvPr/>
        </p:nvGrpSpPr>
        <p:grpSpPr>
          <a:xfrm>
            <a:off x="6315112" y="2206623"/>
            <a:ext cx="1313741" cy="210700"/>
            <a:chOff x="4624583" y="2562483"/>
            <a:chExt cx="1057506" cy="158024"/>
          </a:xfrm>
        </p:grpSpPr>
        <p:sp>
          <p:nvSpPr>
            <p:cNvPr id="17" name="TextBox 16">
              <a:extLst>
                <a:ext uri="{FF2B5EF4-FFF2-40B4-BE49-F238E27FC236}">
                  <a16:creationId xmlns:a16="http://schemas.microsoft.com/office/drawing/2014/main" id="{E7EDA981-4B37-2A7C-97FC-13516771DB5F}"/>
                </a:ext>
              </a:extLst>
            </p:cNvPr>
            <p:cNvSpPr txBox="1"/>
            <p:nvPr/>
          </p:nvSpPr>
          <p:spPr bwMode="gray">
            <a:xfrm>
              <a:off x="4857616" y="2562483"/>
              <a:ext cx="824473" cy="158024"/>
            </a:xfrm>
            <a:prstGeom prst="rect">
              <a:avLst/>
            </a:prstGeom>
            <a:noFill/>
          </p:spPr>
          <p:txBody>
            <a:bodyPr wrap="square" lIns="0" tIns="0" rIns="0" bIns="0" rtlCol="0">
              <a:spAutoFit/>
            </a:bodyPr>
            <a:lstStyle/>
            <a:p>
              <a:pPr defTabSz="1219140">
                <a:lnSpc>
                  <a:spcPct val="140000"/>
                </a:lnSpc>
                <a:defRPr/>
              </a:pPr>
              <a:r>
                <a:rPr lang="en-US" sz="1067" b="1">
                  <a:solidFill>
                    <a:prstClr val="black"/>
                  </a:solidFill>
                  <a:latin typeface="Boehringer Forward Text"/>
                </a:rPr>
                <a:t>AA (2L)</a:t>
              </a:r>
            </a:p>
          </p:txBody>
        </p:sp>
        <p:sp>
          <p:nvSpPr>
            <p:cNvPr id="24" name="Star: 5 Points 23">
              <a:extLst>
                <a:ext uri="{FF2B5EF4-FFF2-40B4-BE49-F238E27FC236}">
                  <a16:creationId xmlns:a16="http://schemas.microsoft.com/office/drawing/2014/main" id="{9B2DC286-4BD3-34ED-3392-10598ED86BB3}"/>
                </a:ext>
              </a:extLst>
            </p:cNvPr>
            <p:cNvSpPr>
              <a:spLocks noChangeAspect="1"/>
            </p:cNvSpPr>
            <p:nvPr/>
          </p:nvSpPr>
          <p:spPr bwMode="gray">
            <a:xfrm>
              <a:off x="4624583" y="2574844"/>
              <a:ext cx="137397" cy="128016"/>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25" name="Gruppieren 356">
            <a:extLst>
              <a:ext uri="{FF2B5EF4-FFF2-40B4-BE49-F238E27FC236}">
                <a16:creationId xmlns:a16="http://schemas.microsoft.com/office/drawing/2014/main" id="{AF1D4B46-8109-B893-1E86-B39F706BEDC3}"/>
              </a:ext>
            </a:extLst>
          </p:cNvPr>
          <p:cNvGrpSpPr/>
          <p:nvPr/>
        </p:nvGrpSpPr>
        <p:grpSpPr>
          <a:xfrm>
            <a:off x="7114596" y="2561251"/>
            <a:ext cx="1313741" cy="210700"/>
            <a:chOff x="4624583" y="2562483"/>
            <a:chExt cx="1057506" cy="158024"/>
          </a:xfrm>
        </p:grpSpPr>
        <p:sp>
          <p:nvSpPr>
            <p:cNvPr id="29" name="TextBox 28">
              <a:extLst>
                <a:ext uri="{FF2B5EF4-FFF2-40B4-BE49-F238E27FC236}">
                  <a16:creationId xmlns:a16="http://schemas.microsoft.com/office/drawing/2014/main" id="{9EC8962E-93C7-7A35-AB29-9E82CB42E5E9}"/>
                </a:ext>
              </a:extLst>
            </p:cNvPr>
            <p:cNvSpPr txBox="1"/>
            <p:nvPr/>
          </p:nvSpPr>
          <p:spPr bwMode="gray">
            <a:xfrm>
              <a:off x="4857616" y="2562483"/>
              <a:ext cx="824473" cy="158024"/>
            </a:xfrm>
            <a:prstGeom prst="rect">
              <a:avLst/>
            </a:prstGeom>
            <a:noFill/>
          </p:spPr>
          <p:txBody>
            <a:bodyPr wrap="square" lIns="0" tIns="0" rIns="0" bIns="0" rtlCol="0">
              <a:spAutoFit/>
            </a:bodyPr>
            <a:lstStyle/>
            <a:p>
              <a:pPr defTabSz="1219140">
                <a:lnSpc>
                  <a:spcPct val="140000"/>
                </a:lnSpc>
                <a:defRPr/>
              </a:pPr>
              <a:r>
                <a:rPr lang="en-US" sz="1067" b="1">
                  <a:solidFill>
                    <a:prstClr val="black"/>
                  </a:solidFill>
                  <a:latin typeface="Boehringer Forward Text"/>
                </a:rPr>
                <a:t>AA (2L)</a:t>
              </a:r>
            </a:p>
          </p:txBody>
        </p:sp>
        <p:sp>
          <p:nvSpPr>
            <p:cNvPr id="40" name="Star: 5 Points 39">
              <a:extLst>
                <a:ext uri="{FF2B5EF4-FFF2-40B4-BE49-F238E27FC236}">
                  <a16:creationId xmlns:a16="http://schemas.microsoft.com/office/drawing/2014/main" id="{1016CA44-E94C-480D-9701-75D608C74473}"/>
                </a:ext>
              </a:extLst>
            </p:cNvPr>
            <p:cNvSpPr>
              <a:spLocks noChangeAspect="1"/>
            </p:cNvSpPr>
            <p:nvPr/>
          </p:nvSpPr>
          <p:spPr bwMode="gray">
            <a:xfrm>
              <a:off x="4624583" y="2574844"/>
              <a:ext cx="137397" cy="128016"/>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grpSp>
        <p:nvGrpSpPr>
          <p:cNvPr id="41" name="Gruppieren 356">
            <a:extLst>
              <a:ext uri="{FF2B5EF4-FFF2-40B4-BE49-F238E27FC236}">
                <a16:creationId xmlns:a16="http://schemas.microsoft.com/office/drawing/2014/main" id="{3498249E-6F53-D8C8-5507-1ADE81C9616F}"/>
              </a:ext>
            </a:extLst>
          </p:cNvPr>
          <p:cNvGrpSpPr/>
          <p:nvPr/>
        </p:nvGrpSpPr>
        <p:grpSpPr>
          <a:xfrm>
            <a:off x="6595735" y="4492739"/>
            <a:ext cx="1024244" cy="210699"/>
            <a:chOff x="4206922" y="2561362"/>
            <a:chExt cx="824473" cy="158024"/>
          </a:xfrm>
        </p:grpSpPr>
        <p:sp>
          <p:nvSpPr>
            <p:cNvPr id="48" name="TextBox 47">
              <a:extLst>
                <a:ext uri="{FF2B5EF4-FFF2-40B4-BE49-F238E27FC236}">
                  <a16:creationId xmlns:a16="http://schemas.microsoft.com/office/drawing/2014/main" id="{3A9FBE34-0A1D-315F-E42E-EEDF8DFADC51}"/>
                </a:ext>
              </a:extLst>
            </p:cNvPr>
            <p:cNvSpPr txBox="1"/>
            <p:nvPr/>
          </p:nvSpPr>
          <p:spPr bwMode="gray">
            <a:xfrm>
              <a:off x="4206922" y="2561362"/>
              <a:ext cx="824473" cy="158024"/>
            </a:xfrm>
            <a:prstGeom prst="rect">
              <a:avLst/>
            </a:prstGeom>
            <a:noFill/>
          </p:spPr>
          <p:txBody>
            <a:bodyPr wrap="square" lIns="0" tIns="0" rIns="0" bIns="0" rtlCol="0">
              <a:spAutoFit/>
            </a:bodyPr>
            <a:lstStyle/>
            <a:p>
              <a:pPr defTabSz="1219140">
                <a:lnSpc>
                  <a:spcPct val="140000"/>
                </a:lnSpc>
                <a:defRPr/>
              </a:pPr>
              <a:r>
                <a:rPr lang="en-US" sz="1067" b="1">
                  <a:solidFill>
                    <a:prstClr val="black"/>
                  </a:solidFill>
                  <a:latin typeface="Boehringer Forward Text"/>
                </a:rPr>
                <a:t>AA (2L)</a:t>
              </a:r>
            </a:p>
          </p:txBody>
        </p:sp>
        <p:sp>
          <p:nvSpPr>
            <p:cNvPr id="49" name="Star: 5 Points 48">
              <a:extLst>
                <a:ext uri="{FF2B5EF4-FFF2-40B4-BE49-F238E27FC236}">
                  <a16:creationId xmlns:a16="http://schemas.microsoft.com/office/drawing/2014/main" id="{64DA3FD2-543D-2E5C-2625-73D388729360}"/>
                </a:ext>
              </a:extLst>
            </p:cNvPr>
            <p:cNvSpPr>
              <a:spLocks noChangeAspect="1"/>
            </p:cNvSpPr>
            <p:nvPr/>
          </p:nvSpPr>
          <p:spPr bwMode="gray">
            <a:xfrm>
              <a:off x="4624583" y="2574844"/>
              <a:ext cx="137397" cy="128016"/>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endParaRPr lang="en-US" sz="933">
                <a:solidFill>
                  <a:prstClr val="black"/>
                </a:solidFill>
                <a:latin typeface="Boehringer Forward Text"/>
              </a:endParaRPr>
            </a:p>
          </p:txBody>
        </p:sp>
      </p:grpSp>
      <p:sp>
        <p:nvSpPr>
          <p:cNvPr id="52" name="Star: 5 Points 51">
            <a:extLst>
              <a:ext uri="{FF2B5EF4-FFF2-40B4-BE49-F238E27FC236}">
                <a16:creationId xmlns:a16="http://schemas.microsoft.com/office/drawing/2014/main" id="{F0375481-68C1-529A-C46E-603E82A9D6BC}"/>
              </a:ext>
            </a:extLst>
          </p:cNvPr>
          <p:cNvSpPr>
            <a:spLocks noChangeAspect="1"/>
          </p:cNvSpPr>
          <p:nvPr/>
        </p:nvSpPr>
        <p:spPr bwMode="gray">
          <a:xfrm>
            <a:off x="685368" y="5668167"/>
            <a:ext cx="170688" cy="170688"/>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r>
              <a:rPr lang="en-US" sz="933">
                <a:solidFill>
                  <a:prstClr val="black"/>
                </a:solidFill>
                <a:latin typeface="Boehringer Forward Text"/>
              </a:rPr>
              <a:t>potential AA if primary endpoint ORR (team assumptions)</a:t>
            </a:r>
          </a:p>
        </p:txBody>
      </p:sp>
      <p:sp>
        <p:nvSpPr>
          <p:cNvPr id="58" name="Rectangle 57">
            <a:extLst>
              <a:ext uri="{FF2B5EF4-FFF2-40B4-BE49-F238E27FC236}">
                <a16:creationId xmlns:a16="http://schemas.microsoft.com/office/drawing/2014/main" id="{192FF7EA-DCCE-6820-DA6F-6C6B7C30E258}"/>
              </a:ext>
            </a:extLst>
          </p:cNvPr>
          <p:cNvSpPr>
            <a:spLocks noChangeAspect="1"/>
          </p:cNvSpPr>
          <p:nvPr/>
        </p:nvSpPr>
        <p:spPr bwMode="gray">
          <a:xfrm>
            <a:off x="4463881" y="5655723"/>
            <a:ext cx="170688" cy="170688"/>
          </a:xfrm>
          <a:prstGeom prst="rect">
            <a:avLst/>
          </a:prstGeom>
          <a:solidFill>
            <a:srgbClr val="FDECE7"/>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38">
              <a:defRPr/>
            </a:pPr>
            <a:r>
              <a:rPr lang="en-US" sz="933">
                <a:solidFill>
                  <a:prstClr val="black"/>
                </a:solidFill>
                <a:latin typeface="Boehringer Forward Text"/>
              </a:rPr>
              <a:t>1L Focus anticipated</a:t>
            </a:r>
          </a:p>
        </p:txBody>
      </p:sp>
      <p:sp>
        <p:nvSpPr>
          <p:cNvPr id="7" name="TextBox 6">
            <a:extLst>
              <a:ext uri="{FF2B5EF4-FFF2-40B4-BE49-F238E27FC236}">
                <a16:creationId xmlns:a16="http://schemas.microsoft.com/office/drawing/2014/main" id="{0A415A3C-F01E-1FD1-CA82-0DA1ED850A49}"/>
              </a:ext>
            </a:extLst>
          </p:cNvPr>
          <p:cNvSpPr txBox="1"/>
          <p:nvPr/>
        </p:nvSpPr>
        <p:spPr bwMode="gray">
          <a:xfrm>
            <a:off x="8275188" y="2544487"/>
            <a:ext cx="2443609" cy="256545"/>
          </a:xfrm>
          <a:prstGeom prst="rect">
            <a:avLst/>
          </a:prstGeom>
          <a:noFill/>
        </p:spPr>
        <p:txBody>
          <a:bodyPr wrap="square">
            <a:spAutoFit/>
          </a:bodyPr>
          <a:lstStyle/>
          <a:p>
            <a:pPr defTabSz="1219140">
              <a:defRPr/>
            </a:pPr>
            <a:r>
              <a:rPr lang="en-US" sz="1067">
                <a:solidFill>
                  <a:prstClr val="black"/>
                </a:solidFill>
                <a:latin typeface="Boehringer Forward Text"/>
              </a:rPr>
              <a:t>no strong early (n=7) CRC data</a:t>
            </a:r>
          </a:p>
        </p:txBody>
      </p:sp>
      <p:sp>
        <p:nvSpPr>
          <p:cNvPr id="9" name="Isosceles Triangle 8">
            <a:extLst>
              <a:ext uri="{FF2B5EF4-FFF2-40B4-BE49-F238E27FC236}">
                <a16:creationId xmlns:a16="http://schemas.microsoft.com/office/drawing/2014/main" id="{AAF643AB-9D2B-16F4-4338-A809264CEF2E}"/>
              </a:ext>
            </a:extLst>
          </p:cNvPr>
          <p:cNvSpPr/>
          <p:nvPr/>
        </p:nvSpPr>
        <p:spPr bwMode="gray">
          <a:xfrm>
            <a:off x="3052456" y="4270323"/>
            <a:ext cx="95621" cy="11888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10" name="TextBox 9">
            <a:extLst>
              <a:ext uri="{FF2B5EF4-FFF2-40B4-BE49-F238E27FC236}">
                <a16:creationId xmlns:a16="http://schemas.microsoft.com/office/drawing/2014/main" id="{69E1AD0E-8E6D-1F47-86D2-F85D2CCE68B8}"/>
              </a:ext>
            </a:extLst>
          </p:cNvPr>
          <p:cNvSpPr txBox="1"/>
          <p:nvPr/>
        </p:nvSpPr>
        <p:spPr bwMode="gray">
          <a:xfrm>
            <a:off x="4742425" y="4156837"/>
            <a:ext cx="2778300" cy="177677"/>
          </a:xfrm>
          <a:prstGeom prst="rect">
            <a:avLst/>
          </a:prstGeom>
          <a:noFill/>
        </p:spPr>
        <p:txBody>
          <a:bodyPr wrap="square" lIns="0" tIns="0" rIns="0" bIns="0" rtlCol="0">
            <a:spAutoFit/>
          </a:bodyPr>
          <a:lstStyle/>
          <a:p>
            <a:pPr defTabSz="914377">
              <a:lnSpc>
                <a:spcPct val="140000"/>
              </a:lnSpc>
              <a:defRPr/>
            </a:pPr>
            <a:r>
              <a:rPr lang="de-AT" sz="900" b="1" err="1">
                <a:solidFill>
                  <a:srgbClr val="FF0000"/>
                </a:solidFill>
                <a:latin typeface="Boehringer Forward Text"/>
              </a:rPr>
              <a:t>closed</a:t>
            </a:r>
            <a:r>
              <a:rPr lang="de-AT" sz="900" b="1">
                <a:solidFill>
                  <a:srgbClr val="FF0000"/>
                </a:solidFill>
                <a:latin typeface="Boehringer Forward Text"/>
              </a:rPr>
              <a:t> 9/25 </a:t>
            </a:r>
            <a:r>
              <a:rPr lang="de-AT" sz="900" b="1" err="1">
                <a:solidFill>
                  <a:srgbClr val="FF0000"/>
                </a:solidFill>
                <a:latin typeface="Boehringer Forward Text"/>
              </a:rPr>
              <a:t>recruitment</a:t>
            </a:r>
            <a:r>
              <a:rPr lang="de-AT" sz="900" b="1">
                <a:solidFill>
                  <a:srgbClr val="FF0000"/>
                </a:solidFill>
                <a:latin typeface="Boehringer Forward Text"/>
              </a:rPr>
              <a:t> w 30 </a:t>
            </a:r>
            <a:r>
              <a:rPr lang="de-AT" sz="900" b="1" err="1">
                <a:solidFill>
                  <a:srgbClr val="FF0000"/>
                </a:solidFill>
                <a:latin typeface="Boehringer Forward Text"/>
              </a:rPr>
              <a:t>of</a:t>
            </a:r>
            <a:r>
              <a:rPr lang="de-AT" sz="900" b="1">
                <a:solidFill>
                  <a:srgbClr val="FF0000"/>
                </a:solidFill>
                <a:latin typeface="Boehringer Forward Text"/>
              </a:rPr>
              <a:t> 308 </a:t>
            </a:r>
            <a:r>
              <a:rPr lang="de-AT" sz="900" b="1" err="1">
                <a:solidFill>
                  <a:srgbClr val="FF0000"/>
                </a:solidFill>
                <a:latin typeface="Boehringer Forward Text"/>
              </a:rPr>
              <a:t>planned</a:t>
            </a:r>
            <a:r>
              <a:rPr lang="de-AT" sz="900" b="1">
                <a:solidFill>
                  <a:srgbClr val="FF0000"/>
                </a:solidFill>
                <a:latin typeface="Boehringer Forward Text"/>
              </a:rPr>
              <a:t> pts</a:t>
            </a:r>
            <a:endParaRPr lang="en-US" sz="900" b="1">
              <a:solidFill>
                <a:srgbClr val="FF0000"/>
              </a:solidFill>
              <a:latin typeface="Boehringer Forward Text"/>
            </a:endParaRPr>
          </a:p>
        </p:txBody>
      </p:sp>
      <p:pic>
        <p:nvPicPr>
          <p:cNvPr id="36" name="Picture 35">
            <a:extLst>
              <a:ext uri="{FF2B5EF4-FFF2-40B4-BE49-F238E27FC236}">
                <a16:creationId xmlns:a16="http://schemas.microsoft.com/office/drawing/2014/main" id="{B049F181-4F70-5BBC-EF7D-D974EE01425B}"/>
              </a:ext>
            </a:extLst>
          </p:cNvPr>
          <p:cNvPicPr>
            <a:picLocks noChangeAspect="1"/>
          </p:cNvPicPr>
          <p:nvPr/>
        </p:nvPicPr>
        <p:blipFill>
          <a:blip r:embed="rId4"/>
          <a:stretch>
            <a:fillRect/>
          </a:stretch>
        </p:blipFill>
        <p:spPr>
          <a:xfrm>
            <a:off x="2333320" y="4122889"/>
            <a:ext cx="158565" cy="215609"/>
          </a:xfrm>
          <a:prstGeom prst="rect">
            <a:avLst/>
          </a:prstGeom>
        </p:spPr>
      </p:pic>
      <p:sp>
        <p:nvSpPr>
          <p:cNvPr id="50" name="TextBox 49">
            <a:extLst>
              <a:ext uri="{FF2B5EF4-FFF2-40B4-BE49-F238E27FC236}">
                <a16:creationId xmlns:a16="http://schemas.microsoft.com/office/drawing/2014/main" id="{53A70C8D-8659-7F5B-EF06-9680B6D352A0}"/>
              </a:ext>
            </a:extLst>
          </p:cNvPr>
          <p:cNvSpPr txBox="1"/>
          <p:nvPr/>
        </p:nvSpPr>
        <p:spPr bwMode="gray">
          <a:xfrm>
            <a:off x="5059147" y="5159062"/>
            <a:ext cx="1990164" cy="177677"/>
          </a:xfrm>
          <a:prstGeom prst="rect">
            <a:avLst/>
          </a:prstGeom>
          <a:noFill/>
        </p:spPr>
        <p:txBody>
          <a:bodyPr wrap="square" lIns="0" tIns="0" rIns="0" bIns="0" rtlCol="0">
            <a:spAutoFit/>
          </a:bodyPr>
          <a:lstStyle/>
          <a:p>
            <a:pPr defTabSz="914377">
              <a:lnSpc>
                <a:spcPct val="140000"/>
              </a:lnSpc>
              <a:defRPr/>
            </a:pPr>
            <a:r>
              <a:rPr lang="de-AT" sz="900" b="1" err="1">
                <a:solidFill>
                  <a:srgbClr val="FF0000"/>
                </a:solidFill>
                <a:latin typeface="Boehringer Forward Text"/>
              </a:rPr>
              <a:t>closed</a:t>
            </a:r>
            <a:r>
              <a:rPr lang="de-AT" sz="900" b="1">
                <a:solidFill>
                  <a:srgbClr val="FF0000"/>
                </a:solidFill>
                <a:latin typeface="Boehringer Forward Text"/>
              </a:rPr>
              <a:t> 7/25 </a:t>
            </a:r>
            <a:r>
              <a:rPr lang="de-AT" sz="900" b="1" err="1">
                <a:solidFill>
                  <a:srgbClr val="FF0000"/>
                </a:solidFill>
                <a:latin typeface="Boehringer Forward Text"/>
              </a:rPr>
              <a:t>recruitment</a:t>
            </a:r>
            <a:r>
              <a:rPr lang="de-AT" sz="900" b="1">
                <a:solidFill>
                  <a:srgbClr val="FF0000"/>
                </a:solidFill>
                <a:latin typeface="Boehringer Forward Text"/>
              </a:rPr>
              <a:t> – </a:t>
            </a:r>
            <a:r>
              <a:rPr lang="de-AT" sz="900" b="1" err="1">
                <a:solidFill>
                  <a:srgbClr val="FF0000"/>
                </a:solidFill>
                <a:latin typeface="Boehringer Forward Text"/>
              </a:rPr>
              <a:t>no</a:t>
            </a:r>
            <a:r>
              <a:rPr lang="de-AT" sz="900" b="1">
                <a:solidFill>
                  <a:srgbClr val="FF0000"/>
                </a:solidFill>
                <a:latin typeface="Boehringer Forward Text"/>
              </a:rPr>
              <a:t> </a:t>
            </a:r>
            <a:r>
              <a:rPr lang="de-AT" sz="900" b="1" err="1">
                <a:solidFill>
                  <a:srgbClr val="FF0000"/>
                </a:solidFill>
                <a:latin typeface="Boehringer Forward Text"/>
              </a:rPr>
              <a:t>info</a:t>
            </a:r>
            <a:endParaRPr lang="en-US" sz="900" b="1">
              <a:solidFill>
                <a:srgbClr val="FF0000"/>
              </a:solidFill>
              <a:latin typeface="Boehringer Forward Text"/>
            </a:endParaRPr>
          </a:p>
        </p:txBody>
      </p:sp>
      <p:pic>
        <p:nvPicPr>
          <p:cNvPr id="51" name="Picture 50">
            <a:extLst>
              <a:ext uri="{FF2B5EF4-FFF2-40B4-BE49-F238E27FC236}">
                <a16:creationId xmlns:a16="http://schemas.microsoft.com/office/drawing/2014/main" id="{078C918F-49B9-6BB4-7048-81466D16D06B}"/>
              </a:ext>
            </a:extLst>
          </p:cNvPr>
          <p:cNvPicPr>
            <a:picLocks noChangeAspect="1"/>
          </p:cNvPicPr>
          <p:nvPr/>
        </p:nvPicPr>
        <p:blipFill>
          <a:blip r:embed="rId4"/>
          <a:stretch>
            <a:fillRect/>
          </a:stretch>
        </p:blipFill>
        <p:spPr>
          <a:xfrm>
            <a:off x="2274647" y="5137785"/>
            <a:ext cx="158565" cy="215609"/>
          </a:xfrm>
          <a:prstGeom prst="rect">
            <a:avLst/>
          </a:prstGeom>
        </p:spPr>
      </p:pic>
      <p:sp>
        <p:nvSpPr>
          <p:cNvPr id="53" name="Isosceles Triangle 52">
            <a:extLst>
              <a:ext uri="{FF2B5EF4-FFF2-40B4-BE49-F238E27FC236}">
                <a16:creationId xmlns:a16="http://schemas.microsoft.com/office/drawing/2014/main" id="{A2A46CD1-DDCE-9161-06CC-2F10278E1E55}"/>
              </a:ext>
            </a:extLst>
          </p:cNvPr>
          <p:cNvSpPr/>
          <p:nvPr/>
        </p:nvSpPr>
        <p:spPr bwMode="gray">
          <a:xfrm>
            <a:off x="2863031" y="5324119"/>
            <a:ext cx="95621" cy="118880"/>
          </a:xfrm>
          <a:prstGeom prst="triangl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33" name="Footer Placeholder 32">
            <a:extLst>
              <a:ext uri="{FF2B5EF4-FFF2-40B4-BE49-F238E27FC236}">
                <a16:creationId xmlns:a16="http://schemas.microsoft.com/office/drawing/2014/main" id="{CA21E55B-F0A6-34C1-0D4F-B95E463ABC65}"/>
              </a:ext>
            </a:extLst>
          </p:cNvPr>
          <p:cNvSpPr>
            <a:spLocks noGrp="1"/>
          </p:cNvSpPr>
          <p:nvPr>
            <p:ph type="ftr" sz="quarter" idx="10"/>
          </p:nvPr>
        </p:nvSpPr>
        <p:spPr>
          <a:xfrm>
            <a:off x="6312024" y="6439115"/>
            <a:ext cx="5040560" cy="288000"/>
          </a:xfrm>
        </p:spPr>
        <p:txBody>
          <a:bodyPr/>
          <a:lstStyle/>
          <a:p>
            <a:pPr defTabSz="914377">
              <a:defRPr/>
            </a:pPr>
            <a:r>
              <a:rPr lang="en-US">
                <a:solidFill>
                  <a:srgbClr val="08312A"/>
                </a:solidFill>
                <a:latin typeface="Boehringer Forward Text"/>
              </a:rPr>
              <a:t>Global – US CRC workshop 24 Sep 2025   |   SoC &amp; Competition   |    ONLY FOR INTERNAL USE</a:t>
            </a:r>
          </a:p>
        </p:txBody>
      </p:sp>
      <p:sp>
        <p:nvSpPr>
          <p:cNvPr id="2" name="Textfeld 1">
            <a:extLst>
              <a:ext uri="{FF2B5EF4-FFF2-40B4-BE49-F238E27FC236}">
                <a16:creationId xmlns:a16="http://schemas.microsoft.com/office/drawing/2014/main" id="{BB6F3B74-ECBF-4E2A-2687-3C2A8227A2D6}"/>
              </a:ext>
            </a:extLst>
          </p:cNvPr>
          <p:cNvSpPr txBox="1"/>
          <p:nvPr/>
        </p:nvSpPr>
        <p:spPr bwMode="gray">
          <a:xfrm>
            <a:off x="7673107" y="3923389"/>
            <a:ext cx="4236368" cy="1807231"/>
          </a:xfrm>
          <a:prstGeom prst="rect">
            <a:avLst/>
          </a:prstGeom>
          <a:solidFill>
            <a:schemeClr val="bg1">
              <a:lumMod val="85000"/>
            </a:schemeClr>
          </a:solidFill>
        </p:spPr>
        <p:txBody>
          <a:bodyPr wrap="square" lIns="0" tIns="0" rIns="0" bIns="0" rtlCol="0" anchor="ctr" anchorCtr="0">
            <a:noAutofit/>
          </a:bodyPr>
          <a:lstStyle/>
          <a:p>
            <a:pPr marL="152396" indent="-76198" defTabSz="1219170">
              <a:spcAft>
                <a:spcPts val="800"/>
              </a:spcAft>
              <a:buFont typeface="Arial" panose="020B0604020202020204" pitchFamily="34" charset="0"/>
              <a:buChar char="•"/>
              <a:defRPr/>
            </a:pPr>
            <a:r>
              <a:rPr lang="en-US" sz="1333">
                <a:solidFill>
                  <a:prstClr val="black"/>
                </a:solidFill>
                <a:latin typeface="Boehringer Forward Text"/>
              </a:rPr>
              <a:t>Fierce competition in the development of G12D specific KRAS inhibitors</a:t>
            </a:r>
          </a:p>
          <a:p>
            <a:pPr marL="152396" indent="-76198" defTabSz="1219170">
              <a:spcAft>
                <a:spcPts val="800"/>
              </a:spcAft>
              <a:buFont typeface="Arial" panose="020B0604020202020204" pitchFamily="34" charset="0"/>
              <a:buChar char="•"/>
              <a:defRPr/>
            </a:pPr>
            <a:r>
              <a:rPr lang="en-US" sz="1333">
                <a:solidFill>
                  <a:prstClr val="black"/>
                </a:solidFill>
                <a:latin typeface="Boehringer Forward Text"/>
              </a:rPr>
              <a:t>Several competitors are at least two years ahead</a:t>
            </a:r>
          </a:p>
          <a:p>
            <a:pPr marL="152396" indent="-76198" defTabSz="1219170">
              <a:spcAft>
                <a:spcPts val="800"/>
              </a:spcAft>
              <a:buFont typeface="Arial" panose="020B0604020202020204" pitchFamily="34" charset="0"/>
              <a:buChar char="•"/>
              <a:defRPr/>
            </a:pPr>
            <a:r>
              <a:rPr lang="en-US" sz="1333">
                <a:solidFill>
                  <a:prstClr val="black"/>
                </a:solidFill>
                <a:latin typeface="Boehringer Forward Text"/>
              </a:rPr>
              <a:t>Learning from G12C: swift move to early lines and combinations to increase efficacy</a:t>
            </a:r>
          </a:p>
          <a:p>
            <a:pPr marL="152396" indent="-76198" defTabSz="1219170">
              <a:spcAft>
                <a:spcPts val="800"/>
              </a:spcAft>
              <a:buFont typeface="Arial" panose="020B0604020202020204" pitchFamily="34" charset="0"/>
              <a:buChar char="•"/>
              <a:defRPr/>
            </a:pPr>
            <a:r>
              <a:rPr lang="en-US" sz="1333">
                <a:solidFill>
                  <a:prstClr val="black"/>
                </a:solidFill>
                <a:latin typeface="Boehringer Forward Text"/>
              </a:rPr>
              <a:t>Differentiation / BIC profile is needed to succeed</a:t>
            </a:r>
          </a:p>
        </p:txBody>
      </p:sp>
    </p:spTree>
    <p:extLst>
      <p:ext uri="{BB962C8B-B14F-4D97-AF65-F5344CB8AC3E}">
        <p14:creationId xmlns:p14="http://schemas.microsoft.com/office/powerpoint/2010/main" val="1802313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9E3C5B-F85E-DCE1-56F5-131DC3FA89A7}"/>
              </a:ext>
            </a:extLst>
          </p:cNvPr>
          <p:cNvSpPr>
            <a:spLocks noGrp="1"/>
          </p:cNvSpPr>
          <p:nvPr>
            <p:ph type="title"/>
          </p:nvPr>
        </p:nvSpPr>
        <p:spPr/>
        <p:txBody>
          <a:bodyPr/>
          <a:lstStyle/>
          <a:p>
            <a:r>
              <a:rPr lang="en-US" sz="2400">
                <a:solidFill>
                  <a:prstClr val="black"/>
                </a:solidFill>
                <a:latin typeface="Boehringer Forward Text"/>
                <a:ea typeface="+mn-ea"/>
                <a:cs typeface="+mn-cs"/>
              </a:rPr>
              <a:t>De-risking Clinical Development Investments | Proposed Inflection Points</a:t>
            </a:r>
            <a:endParaRPr lang="en-US" noProof="0"/>
          </a:p>
        </p:txBody>
      </p:sp>
      <p:sp>
        <p:nvSpPr>
          <p:cNvPr id="82" name="Text Placeholder 81">
            <a:extLst>
              <a:ext uri="{FF2B5EF4-FFF2-40B4-BE49-F238E27FC236}">
                <a16:creationId xmlns:a16="http://schemas.microsoft.com/office/drawing/2014/main" id="{1AE7FD16-0D29-5F8F-5BF4-C1BAAB64706E}"/>
              </a:ext>
            </a:extLst>
          </p:cNvPr>
          <p:cNvSpPr>
            <a:spLocks noGrp="1"/>
          </p:cNvSpPr>
          <p:nvPr>
            <p:ph type="body" sz="quarter" idx="13"/>
          </p:nvPr>
        </p:nvSpPr>
        <p:spPr/>
        <p:txBody>
          <a:bodyPr/>
          <a:lstStyle/>
          <a:p>
            <a:r>
              <a:rPr lang="en-US" noProof="0"/>
              <a:t>1L: First line; 2L+: second line and above; AA: accelerated approval; Bev: bevacizumab; CRC: colorectal cancer; DE: dose escalation; FA: full approval; FiH: first in human; RDO: Randomized Dose Optimization; rPh3: randomized phase 3.</a:t>
            </a:r>
          </a:p>
        </p:txBody>
      </p:sp>
      <p:sp>
        <p:nvSpPr>
          <p:cNvPr id="5" name="Fußzeilenplatzhalter 4">
            <a:extLst>
              <a:ext uri="{FF2B5EF4-FFF2-40B4-BE49-F238E27FC236}">
                <a16:creationId xmlns:a16="http://schemas.microsoft.com/office/drawing/2014/main" id="{12DACB71-EAB1-5CA6-A148-A4EC264BAFBA}"/>
              </a:ext>
            </a:extLst>
          </p:cNvPr>
          <p:cNvSpPr>
            <a:spLocks noGrp="1"/>
          </p:cNvSpPr>
          <p:nvPr>
            <p:ph type="ftr" sz="quarter" idx="10"/>
          </p:nvPr>
        </p:nvSpPr>
        <p:spPr/>
        <p:txBody>
          <a:bodyPr/>
          <a:lstStyle/>
          <a:p>
            <a:pPr defTabSz="1219170"/>
            <a:r>
              <a:rPr lang="en-US">
                <a:solidFill>
                  <a:srgbClr val="08312A"/>
                </a:solidFill>
                <a:latin typeface="Boehringer Forward Text"/>
              </a:rPr>
              <a:t>KRAS G12D (BI 4015092) | </a:t>
            </a:r>
            <a:r>
              <a:rPr lang="en-US" err="1">
                <a:solidFill>
                  <a:srgbClr val="08312A"/>
                </a:solidFill>
                <a:latin typeface="Boehringer Forward Text"/>
              </a:rPr>
              <a:t>sIUPC</a:t>
            </a:r>
            <a:r>
              <a:rPr lang="en-US">
                <a:solidFill>
                  <a:srgbClr val="08312A"/>
                </a:solidFill>
                <a:latin typeface="Boehringer Forward Text"/>
              </a:rPr>
              <a:t> September 10th, 2025 | CONFIDENTIAL</a:t>
            </a:r>
          </a:p>
        </p:txBody>
      </p:sp>
      <p:sp>
        <p:nvSpPr>
          <p:cNvPr id="6" name="Foliennummernplatzhalter 5">
            <a:extLst>
              <a:ext uri="{FF2B5EF4-FFF2-40B4-BE49-F238E27FC236}">
                <a16:creationId xmlns:a16="http://schemas.microsoft.com/office/drawing/2014/main" id="{F287328B-927B-D704-F7FA-FD0F5B46665E}"/>
              </a:ext>
            </a:extLst>
          </p:cNvPr>
          <p:cNvSpPr>
            <a:spLocks noGrp="1"/>
          </p:cNvSpPr>
          <p:nvPr>
            <p:ph type="sldNum" sz="quarter" idx="11"/>
          </p:nvPr>
        </p:nvSpPr>
        <p:spPr/>
        <p:txBody>
          <a:bodyPr/>
          <a:lstStyle/>
          <a:p>
            <a:pPr defTabSz="1219170"/>
            <a:fld id="{DF4E8F9F-5B1F-4F5B-BE49-3245D8C18D9F}" type="slidenum">
              <a:rPr lang="en-US">
                <a:solidFill>
                  <a:srgbClr val="08312A"/>
                </a:solidFill>
                <a:latin typeface="Boehringer Forward Text"/>
              </a:rPr>
              <a:pPr defTabSz="1219170"/>
              <a:t>42</a:t>
            </a:fld>
            <a:endParaRPr lang="en-US">
              <a:solidFill>
                <a:srgbClr val="08312A"/>
              </a:solidFill>
              <a:latin typeface="Boehringer Forward Text"/>
            </a:endParaRPr>
          </a:p>
        </p:txBody>
      </p:sp>
      <p:sp>
        <p:nvSpPr>
          <p:cNvPr id="30" name="Raute 29">
            <a:extLst>
              <a:ext uri="{FF2B5EF4-FFF2-40B4-BE49-F238E27FC236}">
                <a16:creationId xmlns:a16="http://schemas.microsoft.com/office/drawing/2014/main" id="{2F389750-9908-61B6-229D-9300CC782B98}"/>
              </a:ext>
            </a:extLst>
          </p:cNvPr>
          <p:cNvSpPr>
            <a:spLocks noChangeAspect="1"/>
          </p:cNvSpPr>
          <p:nvPr/>
        </p:nvSpPr>
        <p:spPr bwMode="gray">
          <a:xfrm>
            <a:off x="479425" y="5577008"/>
            <a:ext cx="157355" cy="157355"/>
          </a:xfrm>
          <a:prstGeom prst="diamond">
            <a:avLst/>
          </a:prstGeom>
          <a:solidFill>
            <a:schemeClr val="accent3">
              <a:lumMod val="9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243840" tIns="0" rIns="0" bIns="0" rtlCol="0" anchor="ctr"/>
          <a:lstStyle/>
          <a:p>
            <a:pPr defTabSz="1219170">
              <a:lnSpc>
                <a:spcPct val="140000"/>
              </a:lnSpc>
            </a:pPr>
            <a:r>
              <a:rPr lang="en-US" sz="1067">
                <a:solidFill>
                  <a:prstClr val="black"/>
                </a:solidFill>
                <a:latin typeface="Boehringer Forward Text"/>
              </a:rPr>
              <a:t>Preclinical data</a:t>
            </a:r>
          </a:p>
        </p:txBody>
      </p:sp>
      <p:sp>
        <p:nvSpPr>
          <p:cNvPr id="48" name="TextBox 47">
            <a:extLst>
              <a:ext uri="{FF2B5EF4-FFF2-40B4-BE49-F238E27FC236}">
                <a16:creationId xmlns:a16="http://schemas.microsoft.com/office/drawing/2014/main" id="{E8B453CA-D97E-43BA-3D40-790DF69E0CD9}"/>
              </a:ext>
            </a:extLst>
          </p:cNvPr>
          <p:cNvSpPr txBox="1"/>
          <p:nvPr/>
        </p:nvSpPr>
        <p:spPr bwMode="gray">
          <a:xfrm>
            <a:off x="5457062" y="725199"/>
            <a:ext cx="307777" cy="630750"/>
          </a:xfrm>
          <a:prstGeom prst="rect">
            <a:avLst/>
          </a:prstGeom>
          <a:noFill/>
        </p:spPr>
        <p:txBody>
          <a:bodyPr wrap="none" lIns="0" tIns="0" rIns="0" bIns="0" rtlCol="0">
            <a:spAutoFit/>
          </a:bodyPr>
          <a:lstStyle/>
          <a:p>
            <a:pPr defTabSz="1219170">
              <a:lnSpc>
                <a:spcPct val="140000"/>
              </a:lnSpc>
            </a:pPr>
            <a:r>
              <a:rPr lang="en-US" sz="3200">
                <a:solidFill>
                  <a:srgbClr val="E18600"/>
                </a:solidFill>
                <a:latin typeface="Aptos Narrow" panose="020B0004020202020204" pitchFamily="34" charset="0"/>
              </a:rPr>
              <a:t>⑤</a:t>
            </a:r>
            <a:endParaRPr lang="en-US" sz="3200">
              <a:solidFill>
                <a:srgbClr val="E18600"/>
              </a:solidFill>
              <a:latin typeface="Aptos" panose="020B0004020202020204" pitchFamily="34" charset="0"/>
            </a:endParaRPr>
          </a:p>
        </p:txBody>
      </p:sp>
      <p:sp>
        <p:nvSpPr>
          <p:cNvPr id="60" name="TextBox 59">
            <a:extLst>
              <a:ext uri="{FF2B5EF4-FFF2-40B4-BE49-F238E27FC236}">
                <a16:creationId xmlns:a16="http://schemas.microsoft.com/office/drawing/2014/main" id="{22E5C052-A0FD-7CE5-A53C-4B7FCA4851E2}"/>
              </a:ext>
            </a:extLst>
          </p:cNvPr>
          <p:cNvSpPr txBox="1"/>
          <p:nvPr/>
        </p:nvSpPr>
        <p:spPr bwMode="gray">
          <a:xfrm>
            <a:off x="940880" y="739475"/>
            <a:ext cx="307777" cy="630750"/>
          </a:xfrm>
          <a:prstGeom prst="rect">
            <a:avLst/>
          </a:prstGeom>
          <a:noFill/>
        </p:spPr>
        <p:txBody>
          <a:bodyPr wrap="none" lIns="0" tIns="0" rIns="0" bIns="0" rtlCol="0">
            <a:spAutoFit/>
          </a:bodyPr>
          <a:lstStyle/>
          <a:p>
            <a:pPr defTabSz="1219170">
              <a:lnSpc>
                <a:spcPct val="140000"/>
              </a:lnSpc>
            </a:pPr>
            <a:r>
              <a:rPr lang="en-US" sz="3200">
                <a:solidFill>
                  <a:srgbClr val="5D4495"/>
                </a:solidFill>
                <a:latin typeface="Aptos" panose="020B0004020202020204" pitchFamily="34" charset="0"/>
              </a:rPr>
              <a:t>①</a:t>
            </a:r>
          </a:p>
        </p:txBody>
      </p:sp>
      <p:sp>
        <p:nvSpPr>
          <p:cNvPr id="66" name="TextBox 65">
            <a:extLst>
              <a:ext uri="{FF2B5EF4-FFF2-40B4-BE49-F238E27FC236}">
                <a16:creationId xmlns:a16="http://schemas.microsoft.com/office/drawing/2014/main" id="{8900AB4E-5817-8A25-FA18-1A0B40AE8EB0}"/>
              </a:ext>
            </a:extLst>
          </p:cNvPr>
          <p:cNvSpPr txBox="1"/>
          <p:nvPr/>
        </p:nvSpPr>
        <p:spPr bwMode="gray">
          <a:xfrm>
            <a:off x="3577036" y="717968"/>
            <a:ext cx="307777" cy="630750"/>
          </a:xfrm>
          <a:prstGeom prst="rect">
            <a:avLst/>
          </a:prstGeom>
          <a:noFill/>
        </p:spPr>
        <p:txBody>
          <a:bodyPr wrap="none" lIns="0" tIns="0" rIns="0" bIns="0" rtlCol="0">
            <a:spAutoFit/>
          </a:bodyPr>
          <a:lstStyle/>
          <a:p>
            <a:pPr defTabSz="1219170">
              <a:lnSpc>
                <a:spcPct val="140000"/>
              </a:lnSpc>
            </a:pPr>
            <a:r>
              <a:rPr lang="en-US" sz="3200">
                <a:solidFill>
                  <a:srgbClr val="E18600"/>
                </a:solidFill>
                <a:latin typeface="Aptos Narrow" panose="020B0004020202020204" pitchFamily="34" charset="0"/>
              </a:rPr>
              <a:t>③</a:t>
            </a:r>
            <a:endParaRPr lang="en-US" sz="3200">
              <a:solidFill>
                <a:srgbClr val="E18600"/>
              </a:solidFill>
              <a:latin typeface="Aptos" panose="020B0004020202020204" pitchFamily="34" charset="0"/>
            </a:endParaRPr>
          </a:p>
        </p:txBody>
      </p:sp>
      <p:sp>
        <p:nvSpPr>
          <p:cNvPr id="67" name="TextBox 66">
            <a:extLst>
              <a:ext uri="{FF2B5EF4-FFF2-40B4-BE49-F238E27FC236}">
                <a16:creationId xmlns:a16="http://schemas.microsoft.com/office/drawing/2014/main" id="{5E40BD90-EB10-0314-ADB2-49F127576359}"/>
              </a:ext>
            </a:extLst>
          </p:cNvPr>
          <p:cNvSpPr txBox="1"/>
          <p:nvPr/>
        </p:nvSpPr>
        <p:spPr bwMode="gray">
          <a:xfrm>
            <a:off x="3053298" y="725199"/>
            <a:ext cx="307777" cy="630750"/>
          </a:xfrm>
          <a:prstGeom prst="rect">
            <a:avLst/>
          </a:prstGeom>
          <a:noFill/>
        </p:spPr>
        <p:txBody>
          <a:bodyPr wrap="none" lIns="0" tIns="0" rIns="0" bIns="0" rtlCol="0">
            <a:spAutoFit/>
          </a:bodyPr>
          <a:lstStyle/>
          <a:p>
            <a:pPr defTabSz="1219170">
              <a:lnSpc>
                <a:spcPct val="140000"/>
              </a:lnSpc>
            </a:pPr>
            <a:r>
              <a:rPr lang="en-US" sz="3200">
                <a:solidFill>
                  <a:srgbClr val="1EAD1B"/>
                </a:solidFill>
                <a:latin typeface="Aptos Narrow" panose="020B0004020202020204" pitchFamily="34" charset="0"/>
              </a:rPr>
              <a:t>②</a:t>
            </a:r>
            <a:endParaRPr lang="en-US" sz="3200">
              <a:solidFill>
                <a:srgbClr val="1EAD1B"/>
              </a:solidFill>
              <a:latin typeface="Aptos" panose="020B0004020202020204" pitchFamily="34" charset="0"/>
            </a:endParaRPr>
          </a:p>
        </p:txBody>
      </p:sp>
      <p:sp>
        <p:nvSpPr>
          <p:cNvPr id="68" name="TextBox 67">
            <a:extLst>
              <a:ext uri="{FF2B5EF4-FFF2-40B4-BE49-F238E27FC236}">
                <a16:creationId xmlns:a16="http://schemas.microsoft.com/office/drawing/2014/main" id="{56544D7D-309F-9C37-4D47-9E5E735348F7}"/>
              </a:ext>
            </a:extLst>
          </p:cNvPr>
          <p:cNvSpPr txBox="1"/>
          <p:nvPr/>
        </p:nvSpPr>
        <p:spPr bwMode="gray">
          <a:xfrm>
            <a:off x="4440885" y="711773"/>
            <a:ext cx="307777" cy="630750"/>
          </a:xfrm>
          <a:prstGeom prst="rect">
            <a:avLst/>
          </a:prstGeom>
          <a:noFill/>
        </p:spPr>
        <p:txBody>
          <a:bodyPr wrap="none" lIns="0" tIns="0" rIns="0" bIns="0" rtlCol="0">
            <a:spAutoFit/>
          </a:bodyPr>
          <a:lstStyle/>
          <a:p>
            <a:pPr defTabSz="1219170">
              <a:lnSpc>
                <a:spcPct val="140000"/>
              </a:lnSpc>
            </a:pPr>
            <a:r>
              <a:rPr lang="en-US" sz="3200">
                <a:solidFill>
                  <a:srgbClr val="6AD2E2"/>
                </a:solidFill>
                <a:latin typeface="Aptos Narrow" panose="020B0004020202020204" pitchFamily="34" charset="0"/>
              </a:rPr>
              <a:t>④</a:t>
            </a:r>
            <a:endParaRPr lang="en-US" sz="3200">
              <a:solidFill>
                <a:srgbClr val="6AD2E2"/>
              </a:solidFill>
              <a:latin typeface="Aptos" panose="020B0004020202020204" pitchFamily="34" charset="0"/>
            </a:endParaRPr>
          </a:p>
        </p:txBody>
      </p:sp>
      <p:sp>
        <p:nvSpPr>
          <p:cNvPr id="95" name="Raute 29">
            <a:extLst>
              <a:ext uri="{FF2B5EF4-FFF2-40B4-BE49-F238E27FC236}">
                <a16:creationId xmlns:a16="http://schemas.microsoft.com/office/drawing/2014/main" id="{B2753CA6-F648-A4DF-3BD1-D23AF20BC2E2}"/>
              </a:ext>
            </a:extLst>
          </p:cNvPr>
          <p:cNvSpPr>
            <a:spLocks noChangeAspect="1"/>
          </p:cNvSpPr>
          <p:nvPr/>
        </p:nvSpPr>
        <p:spPr bwMode="gray">
          <a:xfrm>
            <a:off x="1920249" y="5577008"/>
            <a:ext cx="157355" cy="157355"/>
          </a:xfrm>
          <a:prstGeom prst="diamond">
            <a:avLst/>
          </a:prstGeom>
          <a:solidFill>
            <a:srgbClr val="F04B1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243840" tIns="0" rIns="0" bIns="0" rtlCol="0" anchor="ctr"/>
          <a:lstStyle/>
          <a:p>
            <a:pPr defTabSz="1219170">
              <a:lnSpc>
                <a:spcPct val="140000"/>
              </a:lnSpc>
            </a:pPr>
            <a:r>
              <a:rPr lang="en-US" sz="1067">
                <a:solidFill>
                  <a:prstClr val="black"/>
                </a:solidFill>
                <a:latin typeface="Boehringer Forward Text"/>
              </a:rPr>
              <a:t>Clinical data</a:t>
            </a:r>
          </a:p>
        </p:txBody>
      </p:sp>
      <p:sp>
        <p:nvSpPr>
          <p:cNvPr id="96" name="Raute 29">
            <a:extLst>
              <a:ext uri="{FF2B5EF4-FFF2-40B4-BE49-F238E27FC236}">
                <a16:creationId xmlns:a16="http://schemas.microsoft.com/office/drawing/2014/main" id="{91EAF5B4-54B7-A1FA-214C-2BE427F4DABE}"/>
              </a:ext>
            </a:extLst>
          </p:cNvPr>
          <p:cNvSpPr>
            <a:spLocks noChangeAspect="1"/>
          </p:cNvSpPr>
          <p:nvPr/>
        </p:nvSpPr>
        <p:spPr bwMode="gray">
          <a:xfrm>
            <a:off x="3361073" y="5577008"/>
            <a:ext cx="157355" cy="157355"/>
          </a:xfrm>
          <a:prstGeom prst="diamond">
            <a:avLst/>
          </a:prstGeom>
          <a:solidFill>
            <a:srgbClr val="F2F2F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243840" tIns="0" rIns="0" bIns="0" rtlCol="0" anchor="ctr"/>
          <a:lstStyle/>
          <a:p>
            <a:pPr defTabSz="1219170">
              <a:lnSpc>
                <a:spcPct val="140000"/>
              </a:lnSpc>
            </a:pPr>
            <a:r>
              <a:rPr lang="en-US" sz="1067">
                <a:solidFill>
                  <a:prstClr val="black"/>
                </a:solidFill>
                <a:latin typeface="Boehringer Forward Text"/>
              </a:rPr>
              <a:t>Competitor data</a:t>
            </a:r>
          </a:p>
        </p:txBody>
      </p:sp>
      <p:sp>
        <p:nvSpPr>
          <p:cNvPr id="97" name="Raute 29">
            <a:extLst>
              <a:ext uri="{FF2B5EF4-FFF2-40B4-BE49-F238E27FC236}">
                <a16:creationId xmlns:a16="http://schemas.microsoft.com/office/drawing/2014/main" id="{A37AF6AF-A6DE-06B3-A87E-90E8E4C0E90E}"/>
              </a:ext>
            </a:extLst>
          </p:cNvPr>
          <p:cNvSpPr>
            <a:spLocks/>
          </p:cNvSpPr>
          <p:nvPr/>
        </p:nvSpPr>
        <p:spPr bwMode="gray">
          <a:xfrm>
            <a:off x="4887725" y="5577008"/>
            <a:ext cx="243840" cy="157355"/>
          </a:xfrm>
          <a:prstGeom prst="roundRect">
            <a:avLst/>
          </a:prstGeom>
          <a:solidFill>
            <a:srgbClr val="F2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365760" tIns="0" rIns="0" bIns="0" rtlCol="0" anchor="ctr"/>
          <a:lstStyle/>
          <a:p>
            <a:pPr defTabSz="1219170">
              <a:lnSpc>
                <a:spcPct val="140000"/>
              </a:lnSpc>
            </a:pPr>
            <a:r>
              <a:rPr lang="en-US" sz="1067">
                <a:solidFill>
                  <a:prstClr val="black"/>
                </a:solidFill>
                <a:latin typeface="Boehringer Forward Text"/>
              </a:rPr>
              <a:t>Part of 1</a:t>
            </a:r>
            <a:r>
              <a:rPr lang="en-US" sz="1067" baseline="30000">
                <a:solidFill>
                  <a:prstClr val="black"/>
                </a:solidFill>
                <a:latin typeface="Boehringer Forward Text"/>
              </a:rPr>
              <a:t>st</a:t>
            </a:r>
            <a:r>
              <a:rPr lang="en-US" sz="1067">
                <a:solidFill>
                  <a:prstClr val="black"/>
                </a:solidFill>
                <a:latin typeface="Boehringer Forward Text"/>
              </a:rPr>
              <a:t> CTP</a:t>
            </a:r>
          </a:p>
        </p:txBody>
      </p:sp>
      <p:sp>
        <p:nvSpPr>
          <p:cNvPr id="98" name="Raute 29">
            <a:extLst>
              <a:ext uri="{FF2B5EF4-FFF2-40B4-BE49-F238E27FC236}">
                <a16:creationId xmlns:a16="http://schemas.microsoft.com/office/drawing/2014/main" id="{BC50D02C-CA65-9704-E267-4F37EA16D82F}"/>
              </a:ext>
            </a:extLst>
          </p:cNvPr>
          <p:cNvSpPr>
            <a:spLocks/>
          </p:cNvSpPr>
          <p:nvPr/>
        </p:nvSpPr>
        <p:spPr bwMode="gray">
          <a:xfrm>
            <a:off x="6355477" y="5577008"/>
            <a:ext cx="243840" cy="157355"/>
          </a:xfrm>
          <a:prstGeom prst="roundRect">
            <a:avLst/>
          </a:prstGeom>
          <a:solidFill>
            <a:srgbClr val="F2F2F2"/>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365760" tIns="0" rIns="0" bIns="0" rtlCol="0" anchor="ctr"/>
          <a:lstStyle/>
          <a:p>
            <a:pPr defTabSz="1219170">
              <a:lnSpc>
                <a:spcPct val="140000"/>
              </a:lnSpc>
            </a:pPr>
            <a:r>
              <a:rPr lang="en-US" sz="1067">
                <a:solidFill>
                  <a:prstClr val="black"/>
                </a:solidFill>
                <a:latin typeface="Boehringer Forward Text"/>
              </a:rPr>
              <a:t>Added via amendment</a:t>
            </a:r>
          </a:p>
        </p:txBody>
      </p:sp>
      <p:sp>
        <p:nvSpPr>
          <p:cNvPr id="99" name="Raute 29">
            <a:extLst>
              <a:ext uri="{FF2B5EF4-FFF2-40B4-BE49-F238E27FC236}">
                <a16:creationId xmlns:a16="http://schemas.microsoft.com/office/drawing/2014/main" id="{5E34A4E2-C3D0-10E3-F9DD-0C46F0833E5B}"/>
              </a:ext>
            </a:extLst>
          </p:cNvPr>
          <p:cNvSpPr>
            <a:spLocks/>
          </p:cNvSpPr>
          <p:nvPr/>
        </p:nvSpPr>
        <p:spPr bwMode="gray">
          <a:xfrm>
            <a:off x="8316716" y="5577008"/>
            <a:ext cx="243840" cy="157355"/>
          </a:xfrm>
          <a:prstGeom prst="roundRect">
            <a:avLst/>
          </a:prstGeom>
          <a:solidFill>
            <a:srgbClr val="F2F2F2"/>
          </a:solidFill>
          <a:ln w="285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none" lIns="365760" tIns="0" rIns="0" bIns="0" rtlCol="0" anchor="ctr"/>
          <a:lstStyle/>
          <a:p>
            <a:pPr defTabSz="1219170">
              <a:lnSpc>
                <a:spcPct val="140000"/>
              </a:lnSpc>
            </a:pPr>
            <a:r>
              <a:rPr lang="en-US" sz="1067">
                <a:solidFill>
                  <a:prstClr val="black"/>
                </a:solidFill>
                <a:latin typeface="Boehringer Forward Text"/>
              </a:rPr>
              <a:t>Separate trial</a:t>
            </a:r>
          </a:p>
        </p:txBody>
      </p:sp>
      <p:cxnSp>
        <p:nvCxnSpPr>
          <p:cNvPr id="25" name="Gerader Verbinder 24">
            <a:extLst>
              <a:ext uri="{FF2B5EF4-FFF2-40B4-BE49-F238E27FC236}">
                <a16:creationId xmlns:a16="http://schemas.microsoft.com/office/drawing/2014/main" id="{188329FE-483E-CE29-39CC-6D17ED0617A5}"/>
              </a:ext>
            </a:extLst>
          </p:cNvPr>
          <p:cNvCxnSpPr/>
          <p:nvPr/>
        </p:nvCxnSpPr>
        <p:spPr bwMode="gray">
          <a:xfrm>
            <a:off x="150716" y="1965701"/>
            <a:ext cx="11704321"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MekkoValueChainHeader637660848299819829637660848300119802637660848300399819637660848300729812637660848301029847">
            <a:extLst>
              <a:ext uri="{FF2B5EF4-FFF2-40B4-BE49-F238E27FC236}">
                <a16:creationId xmlns:a16="http://schemas.microsoft.com/office/drawing/2014/main" id="{82210342-C354-2D68-594E-173552524B94}"/>
              </a:ext>
            </a:extLst>
          </p:cNvPr>
          <p:cNvSpPr/>
          <p:nvPr/>
        </p:nvSpPr>
        <p:spPr>
          <a:xfrm>
            <a:off x="397385" y="1809541"/>
            <a:ext cx="1294408" cy="332932"/>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2026</a:t>
            </a:r>
          </a:p>
        </p:txBody>
      </p:sp>
      <p:sp>
        <p:nvSpPr>
          <p:cNvPr id="10" name="MekkoValueChainHeader637660848299819829637660848300119802637660848300399819637660848300729812637660848301029847">
            <a:extLst>
              <a:ext uri="{FF2B5EF4-FFF2-40B4-BE49-F238E27FC236}">
                <a16:creationId xmlns:a16="http://schemas.microsoft.com/office/drawing/2014/main" id="{269FAA58-7A88-6DDE-3B3A-5A450A62158D}"/>
              </a:ext>
            </a:extLst>
          </p:cNvPr>
          <p:cNvSpPr/>
          <p:nvPr/>
        </p:nvSpPr>
        <p:spPr>
          <a:xfrm>
            <a:off x="1673639"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2027</a:t>
            </a:r>
          </a:p>
        </p:txBody>
      </p:sp>
      <p:sp>
        <p:nvSpPr>
          <p:cNvPr id="12" name="MekkoValueChainHeader637660848299819829637660848300119802637660848300399819637660848300729812637660848301029847">
            <a:extLst>
              <a:ext uri="{FF2B5EF4-FFF2-40B4-BE49-F238E27FC236}">
                <a16:creationId xmlns:a16="http://schemas.microsoft.com/office/drawing/2014/main" id="{4E72B218-3297-305C-4339-B50260B39311}"/>
              </a:ext>
            </a:extLst>
          </p:cNvPr>
          <p:cNvSpPr/>
          <p:nvPr/>
        </p:nvSpPr>
        <p:spPr>
          <a:xfrm>
            <a:off x="5483365"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2030</a:t>
            </a:r>
          </a:p>
        </p:txBody>
      </p:sp>
      <p:sp>
        <p:nvSpPr>
          <p:cNvPr id="13" name="MekkoValueChainHeader637660848299819829637660848300119802637660848300399819637660848300729812637660848301029847">
            <a:extLst>
              <a:ext uri="{FF2B5EF4-FFF2-40B4-BE49-F238E27FC236}">
                <a16:creationId xmlns:a16="http://schemas.microsoft.com/office/drawing/2014/main" id="{8C552A78-1711-BE7E-491E-A494486B38EA}"/>
              </a:ext>
            </a:extLst>
          </p:cNvPr>
          <p:cNvSpPr/>
          <p:nvPr/>
        </p:nvSpPr>
        <p:spPr>
          <a:xfrm>
            <a:off x="8022089"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2032</a:t>
            </a:r>
          </a:p>
        </p:txBody>
      </p:sp>
      <p:sp>
        <p:nvSpPr>
          <p:cNvPr id="14" name="MekkoValueChainHeader637660848299819829637660848300119802637660848300399819637660848300729812637660848301029847">
            <a:extLst>
              <a:ext uri="{FF2B5EF4-FFF2-40B4-BE49-F238E27FC236}">
                <a16:creationId xmlns:a16="http://schemas.microsoft.com/office/drawing/2014/main" id="{3E5F6BF8-9296-31BA-D45E-33A61ACC693A}"/>
              </a:ext>
            </a:extLst>
          </p:cNvPr>
          <p:cNvSpPr/>
          <p:nvPr/>
        </p:nvSpPr>
        <p:spPr>
          <a:xfrm>
            <a:off x="6751747"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2031</a:t>
            </a:r>
          </a:p>
        </p:txBody>
      </p:sp>
      <p:sp>
        <p:nvSpPr>
          <p:cNvPr id="17" name="MekkoValueChainHeader637660848299819829637660848300119802637660848300399819637660848300729812637660848301029847">
            <a:extLst>
              <a:ext uri="{FF2B5EF4-FFF2-40B4-BE49-F238E27FC236}">
                <a16:creationId xmlns:a16="http://schemas.microsoft.com/office/drawing/2014/main" id="{1652C49E-BB53-1C48-610F-D6693CCD6E74}"/>
              </a:ext>
            </a:extLst>
          </p:cNvPr>
          <p:cNvSpPr/>
          <p:nvPr/>
        </p:nvSpPr>
        <p:spPr>
          <a:xfrm>
            <a:off x="9290471"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2033</a:t>
            </a:r>
          </a:p>
        </p:txBody>
      </p:sp>
      <p:sp>
        <p:nvSpPr>
          <p:cNvPr id="18" name="MekkoValueChainHeader637660848299819829637660848300119802637660848300399819637660848300729812637660848301029847">
            <a:extLst>
              <a:ext uri="{FF2B5EF4-FFF2-40B4-BE49-F238E27FC236}">
                <a16:creationId xmlns:a16="http://schemas.microsoft.com/office/drawing/2014/main" id="{C44682CF-4B1E-DC52-ABC1-F465C556586F}"/>
              </a:ext>
            </a:extLst>
          </p:cNvPr>
          <p:cNvSpPr/>
          <p:nvPr/>
        </p:nvSpPr>
        <p:spPr>
          <a:xfrm>
            <a:off x="10565064" y="1810695"/>
            <a:ext cx="1292352"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2034</a:t>
            </a:r>
          </a:p>
        </p:txBody>
      </p:sp>
      <p:sp>
        <p:nvSpPr>
          <p:cNvPr id="19" name="Rechteck 18">
            <a:extLst>
              <a:ext uri="{FF2B5EF4-FFF2-40B4-BE49-F238E27FC236}">
                <a16:creationId xmlns:a16="http://schemas.microsoft.com/office/drawing/2014/main" id="{25E49FDF-BE61-CBB8-DBF0-47B9C0864562}"/>
              </a:ext>
            </a:extLst>
          </p:cNvPr>
          <p:cNvSpPr/>
          <p:nvPr/>
        </p:nvSpPr>
        <p:spPr bwMode="gray">
          <a:xfrm>
            <a:off x="1691795" y="2271203"/>
            <a:ext cx="1538853" cy="243840"/>
          </a:xfrm>
          <a:prstGeom prst="roundRect">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DE solid tumors</a:t>
            </a:r>
          </a:p>
        </p:txBody>
      </p:sp>
      <p:sp>
        <p:nvSpPr>
          <p:cNvPr id="21" name="Rechteck 20">
            <a:extLst>
              <a:ext uri="{FF2B5EF4-FFF2-40B4-BE49-F238E27FC236}">
                <a16:creationId xmlns:a16="http://schemas.microsoft.com/office/drawing/2014/main" id="{DB18C967-909B-6A13-159F-17C5CF646187}"/>
              </a:ext>
            </a:extLst>
          </p:cNvPr>
          <p:cNvSpPr/>
          <p:nvPr/>
        </p:nvSpPr>
        <p:spPr bwMode="gray">
          <a:xfrm>
            <a:off x="2422637" y="3393325"/>
            <a:ext cx="1032961" cy="243840"/>
          </a:xfrm>
          <a:prstGeom prst="roundRect">
            <a:avLst/>
          </a:prstGeom>
          <a:solidFill>
            <a:srgbClr val="E18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DE 2L+ CRC</a:t>
            </a:r>
          </a:p>
        </p:txBody>
      </p:sp>
      <p:sp>
        <p:nvSpPr>
          <p:cNvPr id="29" name="Rechteck 28">
            <a:extLst>
              <a:ext uri="{FF2B5EF4-FFF2-40B4-BE49-F238E27FC236}">
                <a16:creationId xmlns:a16="http://schemas.microsoft.com/office/drawing/2014/main" id="{4224ADBA-F43B-AE0A-BE90-CDA65F84BECC}"/>
              </a:ext>
            </a:extLst>
          </p:cNvPr>
          <p:cNvSpPr/>
          <p:nvPr/>
        </p:nvSpPr>
        <p:spPr bwMode="gray">
          <a:xfrm>
            <a:off x="5891770" y="3700099"/>
            <a:ext cx="1854812" cy="426720"/>
          </a:xfrm>
          <a:prstGeom prst="roundRect">
            <a:avLst/>
          </a:prstGeom>
          <a:solidFill>
            <a:srgbClr val="E18600"/>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Pivotal Ph2 2L+ CRC</a:t>
            </a:r>
          </a:p>
          <a:p>
            <a:pPr algn="ctr" defTabSz="1219170"/>
            <a:r>
              <a:rPr lang="en-US" sz="1200">
                <a:solidFill>
                  <a:prstClr val="black"/>
                </a:solidFill>
                <a:latin typeface="Boehringer Forward Text"/>
              </a:rPr>
              <a:t>Single arm n = 90</a:t>
            </a:r>
          </a:p>
        </p:txBody>
      </p:sp>
      <p:sp>
        <p:nvSpPr>
          <p:cNvPr id="31" name="Textfeld 30">
            <a:extLst>
              <a:ext uri="{FF2B5EF4-FFF2-40B4-BE49-F238E27FC236}">
                <a16:creationId xmlns:a16="http://schemas.microsoft.com/office/drawing/2014/main" id="{41C91620-1E17-5D55-10A2-87D6DB2EB6B2}"/>
              </a:ext>
            </a:extLst>
          </p:cNvPr>
          <p:cNvSpPr txBox="1"/>
          <p:nvPr/>
        </p:nvSpPr>
        <p:spPr bwMode="gray">
          <a:xfrm>
            <a:off x="924467" y="3333649"/>
            <a:ext cx="1029928" cy="328423"/>
          </a:xfrm>
          <a:prstGeom prst="rect">
            <a:avLst/>
          </a:prstGeom>
          <a:noFill/>
        </p:spPr>
        <p:txBody>
          <a:bodyPr wrap="square" lIns="0" tIns="0" rIns="0" bIns="0" rtlCol="0">
            <a:spAutoFit/>
          </a:bodyPr>
          <a:lstStyle/>
          <a:p>
            <a:pPr defTabSz="1219170"/>
            <a:r>
              <a:rPr lang="en-US" sz="1067">
                <a:solidFill>
                  <a:prstClr val="black"/>
                </a:solidFill>
                <a:latin typeface="Boehringer Forward Text"/>
              </a:rPr>
              <a:t>Combination w/ cetuximab</a:t>
            </a:r>
          </a:p>
        </p:txBody>
      </p:sp>
      <p:sp>
        <p:nvSpPr>
          <p:cNvPr id="34" name="Rechteck 33">
            <a:extLst>
              <a:ext uri="{FF2B5EF4-FFF2-40B4-BE49-F238E27FC236}">
                <a16:creationId xmlns:a16="http://schemas.microsoft.com/office/drawing/2014/main" id="{C12A62A7-AD9B-E31B-3FDB-F43500571381}"/>
              </a:ext>
            </a:extLst>
          </p:cNvPr>
          <p:cNvSpPr/>
          <p:nvPr/>
        </p:nvSpPr>
        <p:spPr bwMode="gray">
          <a:xfrm>
            <a:off x="3003063" y="4375067"/>
            <a:ext cx="997067" cy="243840"/>
          </a:xfrm>
          <a:prstGeom prst="roundRect">
            <a:avLst/>
          </a:prstGeom>
          <a:solidFill>
            <a:srgbClr val="6AD2E2"/>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DE 1L CRC</a:t>
            </a:r>
          </a:p>
        </p:txBody>
      </p:sp>
      <p:sp>
        <p:nvSpPr>
          <p:cNvPr id="35" name="Rechteck 34">
            <a:extLst>
              <a:ext uri="{FF2B5EF4-FFF2-40B4-BE49-F238E27FC236}">
                <a16:creationId xmlns:a16="http://schemas.microsoft.com/office/drawing/2014/main" id="{1ABBFA0C-0D94-C93A-77B4-BA0B0FC10235}"/>
              </a:ext>
            </a:extLst>
          </p:cNvPr>
          <p:cNvSpPr/>
          <p:nvPr/>
        </p:nvSpPr>
        <p:spPr bwMode="gray">
          <a:xfrm>
            <a:off x="3708476" y="4686464"/>
            <a:ext cx="2386880" cy="426720"/>
          </a:xfrm>
          <a:prstGeom prst="roundRect">
            <a:avLst/>
          </a:prstGeom>
          <a:solidFill>
            <a:srgbClr val="6AD2E2"/>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RDO 1L CRC</a:t>
            </a:r>
          </a:p>
          <a:p>
            <a:pPr algn="ctr" defTabSz="1219170"/>
            <a:r>
              <a:rPr lang="en-US" sz="1200">
                <a:solidFill>
                  <a:prstClr val="black"/>
                </a:solidFill>
                <a:latin typeface="Boehringer Forward Text"/>
              </a:rPr>
              <a:t>2 dose levels, n = 25 each</a:t>
            </a:r>
          </a:p>
        </p:txBody>
      </p:sp>
      <p:sp>
        <p:nvSpPr>
          <p:cNvPr id="36" name="Rechteck 35">
            <a:extLst>
              <a:ext uri="{FF2B5EF4-FFF2-40B4-BE49-F238E27FC236}">
                <a16:creationId xmlns:a16="http://schemas.microsoft.com/office/drawing/2014/main" id="{E2467E49-67F1-4B3D-0895-DD8FC7BE5E8A}"/>
              </a:ext>
            </a:extLst>
          </p:cNvPr>
          <p:cNvSpPr/>
          <p:nvPr/>
        </p:nvSpPr>
        <p:spPr bwMode="gray">
          <a:xfrm>
            <a:off x="6312025" y="4834656"/>
            <a:ext cx="4181220" cy="426720"/>
          </a:xfrm>
          <a:prstGeom prst="roundRect">
            <a:avLst/>
          </a:prstGeom>
          <a:solidFill>
            <a:srgbClr val="6AD2E2"/>
          </a:solidFill>
          <a:ln w="285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rPh3 1L CRC</a:t>
            </a:r>
          </a:p>
          <a:p>
            <a:pPr algn="ctr" defTabSz="1219170"/>
            <a:r>
              <a:rPr lang="en-US" sz="1200">
                <a:solidFill>
                  <a:prstClr val="black"/>
                </a:solidFill>
                <a:latin typeface="Boehringer Forward Text"/>
              </a:rPr>
              <a:t>vs. FOLFOX +/- Bev*</a:t>
            </a:r>
          </a:p>
        </p:txBody>
      </p:sp>
      <p:sp>
        <p:nvSpPr>
          <p:cNvPr id="54" name="Raute 53">
            <a:extLst>
              <a:ext uri="{FF2B5EF4-FFF2-40B4-BE49-F238E27FC236}">
                <a16:creationId xmlns:a16="http://schemas.microsoft.com/office/drawing/2014/main" id="{4E73E870-E664-158D-A7DA-02EA7DDFBD8E}"/>
              </a:ext>
            </a:extLst>
          </p:cNvPr>
          <p:cNvSpPr/>
          <p:nvPr/>
        </p:nvSpPr>
        <p:spPr bwMode="gray">
          <a:xfrm>
            <a:off x="1017559" y="1492944"/>
            <a:ext cx="170395" cy="182880"/>
          </a:xfrm>
          <a:prstGeom prst="diamond">
            <a:avLst/>
          </a:prstGeom>
          <a:solidFill>
            <a:srgbClr val="928BD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55" name="Raute 54">
            <a:extLst>
              <a:ext uri="{FF2B5EF4-FFF2-40B4-BE49-F238E27FC236}">
                <a16:creationId xmlns:a16="http://schemas.microsoft.com/office/drawing/2014/main" id="{CC02F6AB-509B-9346-932E-1D183DCE1E75}"/>
              </a:ext>
            </a:extLst>
          </p:cNvPr>
          <p:cNvSpPr/>
          <p:nvPr/>
        </p:nvSpPr>
        <p:spPr bwMode="gray">
          <a:xfrm>
            <a:off x="1017557" y="1648004"/>
            <a:ext cx="170395" cy="182880"/>
          </a:xfrm>
          <a:prstGeom prst="diamond">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57" name="Raute 56">
            <a:extLst>
              <a:ext uri="{FF2B5EF4-FFF2-40B4-BE49-F238E27FC236}">
                <a16:creationId xmlns:a16="http://schemas.microsoft.com/office/drawing/2014/main" id="{B1639D7B-785E-10A2-45D8-7951ECEF9B04}"/>
              </a:ext>
            </a:extLst>
          </p:cNvPr>
          <p:cNvSpPr/>
          <p:nvPr/>
        </p:nvSpPr>
        <p:spPr bwMode="gray">
          <a:xfrm>
            <a:off x="5497056" y="1504220"/>
            <a:ext cx="170395" cy="182880"/>
          </a:xfrm>
          <a:prstGeom prst="diamond">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61" name="Raute 60">
            <a:extLst>
              <a:ext uri="{FF2B5EF4-FFF2-40B4-BE49-F238E27FC236}">
                <a16:creationId xmlns:a16="http://schemas.microsoft.com/office/drawing/2014/main" id="{5267946F-931D-E31A-E648-E330C7105619}"/>
              </a:ext>
            </a:extLst>
          </p:cNvPr>
          <p:cNvSpPr/>
          <p:nvPr/>
        </p:nvSpPr>
        <p:spPr bwMode="gray">
          <a:xfrm>
            <a:off x="5494119" y="1648004"/>
            <a:ext cx="170395" cy="182880"/>
          </a:xfrm>
          <a:prstGeom prst="diamond">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62" name="Textfeld 61">
            <a:extLst>
              <a:ext uri="{FF2B5EF4-FFF2-40B4-BE49-F238E27FC236}">
                <a16:creationId xmlns:a16="http://schemas.microsoft.com/office/drawing/2014/main" id="{37396953-ABB5-E4C5-FC83-B1DD226C5FFE}"/>
              </a:ext>
            </a:extLst>
          </p:cNvPr>
          <p:cNvSpPr txBox="1"/>
          <p:nvPr/>
        </p:nvSpPr>
        <p:spPr bwMode="gray">
          <a:xfrm>
            <a:off x="687431" y="1210741"/>
            <a:ext cx="843308" cy="289695"/>
          </a:xfrm>
          <a:prstGeom prst="rect">
            <a:avLst/>
          </a:prstGeom>
          <a:noFill/>
        </p:spPr>
        <p:txBody>
          <a:bodyPr wrap="none" lIns="0" tIns="0" rIns="0" bIns="0" rtlCol="0">
            <a:spAutoFit/>
          </a:bodyPr>
          <a:lstStyle/>
          <a:p>
            <a:pPr algn="ctr" defTabSz="1219170">
              <a:lnSpc>
                <a:spcPct val="140000"/>
              </a:lnSpc>
            </a:pPr>
            <a:r>
              <a:rPr lang="en-US" sz="1467">
                <a:solidFill>
                  <a:prstClr val="black"/>
                </a:solidFill>
                <a:latin typeface="Boehringer Forward Text"/>
              </a:rPr>
              <a:t>Pre-FiH IP</a:t>
            </a:r>
          </a:p>
        </p:txBody>
      </p:sp>
      <p:sp>
        <p:nvSpPr>
          <p:cNvPr id="63" name="Textfeld 62">
            <a:extLst>
              <a:ext uri="{FF2B5EF4-FFF2-40B4-BE49-F238E27FC236}">
                <a16:creationId xmlns:a16="http://schemas.microsoft.com/office/drawing/2014/main" id="{437B36A6-AA44-20AB-F59A-9671C3A9E42E}"/>
              </a:ext>
            </a:extLst>
          </p:cNvPr>
          <p:cNvSpPr txBox="1"/>
          <p:nvPr/>
        </p:nvSpPr>
        <p:spPr bwMode="gray">
          <a:xfrm>
            <a:off x="2460463" y="1172565"/>
            <a:ext cx="836511" cy="289695"/>
          </a:xfrm>
          <a:prstGeom prst="rect">
            <a:avLst/>
          </a:prstGeom>
          <a:noFill/>
        </p:spPr>
        <p:txBody>
          <a:bodyPr wrap="none" lIns="0" tIns="0" rIns="0" bIns="0" rtlCol="0">
            <a:spAutoFit/>
          </a:bodyPr>
          <a:lstStyle/>
          <a:p>
            <a:pPr algn="ctr" defTabSz="1219170">
              <a:lnSpc>
                <a:spcPct val="140000"/>
              </a:lnSpc>
            </a:pPr>
            <a:r>
              <a:rPr lang="en-US" sz="1467">
                <a:solidFill>
                  <a:prstClr val="black"/>
                </a:solidFill>
                <a:latin typeface="Boehringer Forward Text"/>
              </a:rPr>
              <a:t>End of DE</a:t>
            </a:r>
          </a:p>
        </p:txBody>
      </p:sp>
      <p:sp>
        <p:nvSpPr>
          <p:cNvPr id="64" name="Textfeld 63">
            <a:extLst>
              <a:ext uri="{FF2B5EF4-FFF2-40B4-BE49-F238E27FC236}">
                <a16:creationId xmlns:a16="http://schemas.microsoft.com/office/drawing/2014/main" id="{0DB6F875-2164-684E-075B-F7171F234109}"/>
              </a:ext>
            </a:extLst>
          </p:cNvPr>
          <p:cNvSpPr txBox="1"/>
          <p:nvPr/>
        </p:nvSpPr>
        <p:spPr bwMode="gray">
          <a:xfrm>
            <a:off x="3477819" y="1241131"/>
            <a:ext cx="886124" cy="225767"/>
          </a:xfrm>
          <a:prstGeom prst="rect">
            <a:avLst/>
          </a:prstGeom>
          <a:noFill/>
        </p:spPr>
        <p:txBody>
          <a:bodyPr wrap="square" lIns="0" tIns="0" rIns="0" bIns="0" rtlCol="0">
            <a:spAutoFit/>
          </a:bodyPr>
          <a:lstStyle/>
          <a:p>
            <a:pPr algn="ctr" defTabSz="1219170"/>
            <a:r>
              <a:rPr lang="en-US" sz="1467">
                <a:solidFill>
                  <a:prstClr val="black"/>
                </a:solidFill>
                <a:latin typeface="Boehringer Forward Text"/>
              </a:rPr>
              <a:t>Futility 1</a:t>
            </a:r>
          </a:p>
        </p:txBody>
      </p:sp>
      <p:sp>
        <p:nvSpPr>
          <p:cNvPr id="65" name="Textfeld 64">
            <a:extLst>
              <a:ext uri="{FF2B5EF4-FFF2-40B4-BE49-F238E27FC236}">
                <a16:creationId xmlns:a16="http://schemas.microsoft.com/office/drawing/2014/main" id="{5E10F22B-B394-E2EB-C773-A4B862732204}"/>
              </a:ext>
            </a:extLst>
          </p:cNvPr>
          <p:cNvSpPr txBox="1"/>
          <p:nvPr/>
        </p:nvSpPr>
        <p:spPr bwMode="gray">
          <a:xfrm>
            <a:off x="5542405" y="1188072"/>
            <a:ext cx="413264" cy="289695"/>
          </a:xfrm>
          <a:prstGeom prst="rect">
            <a:avLst/>
          </a:prstGeom>
          <a:noFill/>
        </p:spPr>
        <p:txBody>
          <a:bodyPr wrap="square" lIns="0" tIns="0" rIns="0" bIns="0" rtlCol="0">
            <a:spAutoFit/>
          </a:bodyPr>
          <a:lstStyle/>
          <a:p>
            <a:pPr algn="ctr" defTabSz="1219170">
              <a:lnSpc>
                <a:spcPct val="140000"/>
              </a:lnSpc>
            </a:pPr>
            <a:r>
              <a:rPr lang="en-US" sz="1467">
                <a:solidFill>
                  <a:prstClr val="black"/>
                </a:solidFill>
                <a:latin typeface="Boehringer Forward Text"/>
              </a:rPr>
              <a:t>PoC</a:t>
            </a:r>
          </a:p>
        </p:txBody>
      </p:sp>
      <p:sp>
        <p:nvSpPr>
          <p:cNvPr id="69" name="Ellipse 68">
            <a:extLst>
              <a:ext uri="{FF2B5EF4-FFF2-40B4-BE49-F238E27FC236}">
                <a16:creationId xmlns:a16="http://schemas.microsoft.com/office/drawing/2014/main" id="{0717EBFF-4341-EE6F-18C1-3A538E18BFAA}"/>
              </a:ext>
            </a:extLst>
          </p:cNvPr>
          <p:cNvSpPr/>
          <p:nvPr/>
        </p:nvSpPr>
        <p:spPr bwMode="gray">
          <a:xfrm>
            <a:off x="3187652" y="2375540"/>
            <a:ext cx="95605" cy="10811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cxnSp>
        <p:nvCxnSpPr>
          <p:cNvPr id="74" name="Gerader Verbinder 73">
            <a:extLst>
              <a:ext uri="{FF2B5EF4-FFF2-40B4-BE49-F238E27FC236}">
                <a16:creationId xmlns:a16="http://schemas.microsoft.com/office/drawing/2014/main" id="{D23B0887-749D-96B2-41F6-85739212BE00}"/>
              </a:ext>
            </a:extLst>
          </p:cNvPr>
          <p:cNvCxnSpPr>
            <a:cxnSpLocks/>
            <a:stCxn id="73" idx="0"/>
            <a:endCxn id="56" idx="2"/>
          </p:cNvCxnSpPr>
          <p:nvPr/>
        </p:nvCxnSpPr>
        <p:spPr bwMode="gray">
          <a:xfrm flipH="1" flipV="1">
            <a:off x="3734912" y="1675150"/>
            <a:ext cx="4485" cy="196956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Raute 55">
            <a:extLst>
              <a:ext uri="{FF2B5EF4-FFF2-40B4-BE49-F238E27FC236}">
                <a16:creationId xmlns:a16="http://schemas.microsoft.com/office/drawing/2014/main" id="{46740214-2971-A5C4-33A8-3950921962F0}"/>
              </a:ext>
            </a:extLst>
          </p:cNvPr>
          <p:cNvSpPr/>
          <p:nvPr/>
        </p:nvSpPr>
        <p:spPr bwMode="gray">
          <a:xfrm>
            <a:off x="3649715" y="1492269"/>
            <a:ext cx="170395" cy="182880"/>
          </a:xfrm>
          <a:prstGeom prst="diamond">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cxnSp>
        <p:nvCxnSpPr>
          <p:cNvPr id="77" name="Gerader Verbinder 76">
            <a:extLst>
              <a:ext uri="{FF2B5EF4-FFF2-40B4-BE49-F238E27FC236}">
                <a16:creationId xmlns:a16="http://schemas.microsoft.com/office/drawing/2014/main" id="{01DD2933-4E3C-C4FD-1511-D1CDF491C103}"/>
              </a:ext>
            </a:extLst>
          </p:cNvPr>
          <p:cNvCxnSpPr>
            <a:cxnSpLocks/>
            <a:stCxn id="76" idx="0"/>
            <a:endCxn id="61" idx="2"/>
          </p:cNvCxnSpPr>
          <p:nvPr/>
        </p:nvCxnSpPr>
        <p:spPr bwMode="gray">
          <a:xfrm flipV="1">
            <a:off x="5575606" y="1830885"/>
            <a:ext cx="3711" cy="18210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MekkoValueChainHeader637660848299819829637660848300119802637660848300399819637660848300729812637660848301029847">
            <a:extLst>
              <a:ext uri="{FF2B5EF4-FFF2-40B4-BE49-F238E27FC236}">
                <a16:creationId xmlns:a16="http://schemas.microsoft.com/office/drawing/2014/main" id="{34F4997B-0F68-E7CC-362D-DF34C35DB6EF}"/>
              </a:ext>
            </a:extLst>
          </p:cNvPr>
          <p:cNvSpPr/>
          <p:nvPr/>
        </p:nvSpPr>
        <p:spPr>
          <a:xfrm>
            <a:off x="2944433"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2028</a:t>
            </a:r>
          </a:p>
        </p:txBody>
      </p:sp>
      <p:sp>
        <p:nvSpPr>
          <p:cNvPr id="7" name="Ellipse 6">
            <a:extLst>
              <a:ext uri="{FF2B5EF4-FFF2-40B4-BE49-F238E27FC236}">
                <a16:creationId xmlns:a16="http://schemas.microsoft.com/office/drawing/2014/main" id="{EBF21380-9CBA-546C-665B-2AE66F3B2741}"/>
              </a:ext>
            </a:extLst>
          </p:cNvPr>
          <p:cNvSpPr/>
          <p:nvPr/>
        </p:nvSpPr>
        <p:spPr bwMode="gray">
          <a:xfrm>
            <a:off x="4559344" y="4599079"/>
            <a:ext cx="95605" cy="10811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41" name="Textfeld 40">
            <a:extLst>
              <a:ext uri="{FF2B5EF4-FFF2-40B4-BE49-F238E27FC236}">
                <a16:creationId xmlns:a16="http://schemas.microsoft.com/office/drawing/2014/main" id="{273E7380-E30B-2E74-1207-476922E91FBF}"/>
              </a:ext>
            </a:extLst>
          </p:cNvPr>
          <p:cNvSpPr txBox="1"/>
          <p:nvPr/>
        </p:nvSpPr>
        <p:spPr bwMode="gray">
          <a:xfrm>
            <a:off x="4521181" y="1251155"/>
            <a:ext cx="778644" cy="225767"/>
          </a:xfrm>
          <a:prstGeom prst="rect">
            <a:avLst/>
          </a:prstGeom>
          <a:noFill/>
        </p:spPr>
        <p:txBody>
          <a:bodyPr wrap="square" lIns="0" tIns="0" rIns="0" bIns="0" rtlCol="0">
            <a:spAutoFit/>
          </a:bodyPr>
          <a:lstStyle/>
          <a:p>
            <a:pPr algn="ctr" defTabSz="1219170"/>
            <a:r>
              <a:rPr lang="en-US" sz="1467">
                <a:solidFill>
                  <a:prstClr val="black"/>
                </a:solidFill>
                <a:latin typeface="Boehringer Forward Text"/>
              </a:rPr>
              <a:t>Futility 2</a:t>
            </a:r>
          </a:p>
        </p:txBody>
      </p:sp>
      <p:sp>
        <p:nvSpPr>
          <p:cNvPr id="42" name="Raute 41">
            <a:extLst>
              <a:ext uri="{FF2B5EF4-FFF2-40B4-BE49-F238E27FC236}">
                <a16:creationId xmlns:a16="http://schemas.microsoft.com/office/drawing/2014/main" id="{E428CFAB-B3CF-E183-7412-5F36634DA9EA}"/>
              </a:ext>
            </a:extLst>
          </p:cNvPr>
          <p:cNvSpPr/>
          <p:nvPr/>
        </p:nvSpPr>
        <p:spPr bwMode="gray">
          <a:xfrm>
            <a:off x="4509575" y="1500311"/>
            <a:ext cx="170395" cy="182880"/>
          </a:xfrm>
          <a:prstGeom prst="diamond">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cxnSp>
        <p:nvCxnSpPr>
          <p:cNvPr id="15" name="Gerader Verbinder 14">
            <a:extLst>
              <a:ext uri="{FF2B5EF4-FFF2-40B4-BE49-F238E27FC236}">
                <a16:creationId xmlns:a16="http://schemas.microsoft.com/office/drawing/2014/main" id="{8480D190-864A-727B-4F0C-3693E0A69249}"/>
              </a:ext>
            </a:extLst>
          </p:cNvPr>
          <p:cNvCxnSpPr>
            <a:cxnSpLocks/>
            <a:stCxn id="7" idx="0"/>
            <a:endCxn id="42" idx="2"/>
          </p:cNvCxnSpPr>
          <p:nvPr/>
        </p:nvCxnSpPr>
        <p:spPr bwMode="gray">
          <a:xfrm flipH="1" flipV="1">
            <a:off x="4594773" y="1683191"/>
            <a:ext cx="12375" cy="29158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MekkoValueChainHeader637660848299819829637660848300119802637660848300399819637660848300729812637660848301029847">
            <a:extLst>
              <a:ext uri="{FF2B5EF4-FFF2-40B4-BE49-F238E27FC236}">
                <a16:creationId xmlns:a16="http://schemas.microsoft.com/office/drawing/2014/main" id="{C7FA7210-7C06-41BB-946C-57DC63501C01}"/>
              </a:ext>
            </a:extLst>
          </p:cNvPr>
          <p:cNvSpPr/>
          <p:nvPr/>
        </p:nvSpPr>
        <p:spPr>
          <a:xfrm>
            <a:off x="4213021" y="1810695"/>
            <a:ext cx="1294408" cy="330624"/>
          </a:xfrm>
          <a:prstGeom prst="chevron">
            <a:avLst>
              <a:gd name="adj" fmla="val 17164"/>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60960" rIns="6096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9110">
              <a:defRPr/>
            </a:pPr>
            <a:r>
              <a:rPr lang="en-US" sz="1400" b="1" spc="-40">
                <a:solidFill>
                  <a:srgbClr val="FFFFFF"/>
                </a:solidFill>
                <a:latin typeface="Boehringer Forward Text"/>
              </a:rPr>
              <a:t>2029</a:t>
            </a:r>
          </a:p>
        </p:txBody>
      </p:sp>
      <p:sp>
        <p:nvSpPr>
          <p:cNvPr id="20" name="Rechteck 19">
            <a:extLst>
              <a:ext uri="{FF2B5EF4-FFF2-40B4-BE49-F238E27FC236}">
                <a16:creationId xmlns:a16="http://schemas.microsoft.com/office/drawing/2014/main" id="{B9F3816B-FFEB-8838-6124-0D0AF7AB003F}"/>
              </a:ext>
            </a:extLst>
          </p:cNvPr>
          <p:cNvSpPr/>
          <p:nvPr/>
        </p:nvSpPr>
        <p:spPr bwMode="gray">
          <a:xfrm>
            <a:off x="2968047" y="2587544"/>
            <a:ext cx="1948380" cy="426720"/>
          </a:xfrm>
          <a:prstGeom prst="roundRect">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backfill cohorts 2L+ CRC</a:t>
            </a:r>
            <a:br>
              <a:rPr lang="en-US" sz="1200">
                <a:solidFill>
                  <a:prstClr val="black"/>
                </a:solidFill>
                <a:latin typeface="Boehringer Forward Text"/>
              </a:rPr>
            </a:br>
            <a:r>
              <a:rPr lang="en-US" sz="1200">
                <a:solidFill>
                  <a:prstClr val="black"/>
                </a:solidFill>
                <a:latin typeface="Boehringer Forward Text"/>
              </a:rPr>
              <a:t>2 dose levels, n = 20 each</a:t>
            </a:r>
          </a:p>
        </p:txBody>
      </p:sp>
      <p:sp>
        <p:nvSpPr>
          <p:cNvPr id="27" name="Rechteck 26">
            <a:extLst>
              <a:ext uri="{FF2B5EF4-FFF2-40B4-BE49-F238E27FC236}">
                <a16:creationId xmlns:a16="http://schemas.microsoft.com/office/drawing/2014/main" id="{DA9788C8-7236-0A9C-CF3D-BBF2E318AA79}"/>
              </a:ext>
            </a:extLst>
          </p:cNvPr>
          <p:cNvSpPr/>
          <p:nvPr/>
        </p:nvSpPr>
        <p:spPr bwMode="gray">
          <a:xfrm>
            <a:off x="2919619" y="3700099"/>
            <a:ext cx="2632845" cy="426720"/>
          </a:xfrm>
          <a:prstGeom prst="roundRect">
            <a:avLst/>
          </a:prstGeom>
          <a:solidFill>
            <a:srgbClr val="E18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70"/>
            <a:r>
              <a:rPr lang="en-US" sz="1200">
                <a:solidFill>
                  <a:prstClr val="black"/>
                </a:solidFill>
                <a:latin typeface="Boehringer Forward Text"/>
              </a:rPr>
              <a:t>RDO 2L+ CRC</a:t>
            </a:r>
          </a:p>
          <a:p>
            <a:pPr algn="ctr" defTabSz="1219170"/>
            <a:r>
              <a:rPr lang="en-US" sz="1200">
                <a:solidFill>
                  <a:prstClr val="black"/>
                </a:solidFill>
                <a:latin typeface="Boehringer Forward Text"/>
              </a:rPr>
              <a:t>2 dose levels, n = 25 each</a:t>
            </a:r>
          </a:p>
        </p:txBody>
      </p:sp>
      <p:sp>
        <p:nvSpPr>
          <p:cNvPr id="58" name="Raute 57">
            <a:extLst>
              <a:ext uri="{FF2B5EF4-FFF2-40B4-BE49-F238E27FC236}">
                <a16:creationId xmlns:a16="http://schemas.microsoft.com/office/drawing/2014/main" id="{6C316C71-3B50-FC7A-B475-D627B079F7F6}"/>
              </a:ext>
            </a:extLst>
          </p:cNvPr>
          <p:cNvSpPr/>
          <p:nvPr/>
        </p:nvSpPr>
        <p:spPr bwMode="gray">
          <a:xfrm>
            <a:off x="3155437" y="1492944"/>
            <a:ext cx="170395" cy="182880"/>
          </a:xfrm>
          <a:prstGeom prst="diamond">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59" name="Raute 58">
            <a:extLst>
              <a:ext uri="{FF2B5EF4-FFF2-40B4-BE49-F238E27FC236}">
                <a16:creationId xmlns:a16="http://schemas.microsoft.com/office/drawing/2014/main" id="{82C13DE0-9717-04E0-ED22-F60908D2231D}"/>
              </a:ext>
            </a:extLst>
          </p:cNvPr>
          <p:cNvSpPr/>
          <p:nvPr/>
        </p:nvSpPr>
        <p:spPr bwMode="gray">
          <a:xfrm>
            <a:off x="3150473" y="1648004"/>
            <a:ext cx="170395" cy="182880"/>
          </a:xfrm>
          <a:prstGeom prst="diamond">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cxnSp>
        <p:nvCxnSpPr>
          <p:cNvPr id="71" name="Gerader Verbinder 70">
            <a:extLst>
              <a:ext uri="{FF2B5EF4-FFF2-40B4-BE49-F238E27FC236}">
                <a16:creationId xmlns:a16="http://schemas.microsoft.com/office/drawing/2014/main" id="{1D13A6BD-DE37-9A85-C7C3-43BD1F18B3C7}"/>
              </a:ext>
            </a:extLst>
          </p:cNvPr>
          <p:cNvCxnSpPr>
            <a:cxnSpLocks/>
            <a:stCxn id="69" idx="0"/>
            <a:endCxn id="59" idx="2"/>
          </p:cNvCxnSpPr>
          <p:nvPr/>
        </p:nvCxnSpPr>
        <p:spPr bwMode="gray">
          <a:xfrm flipV="1">
            <a:off x="3235455" y="1830884"/>
            <a:ext cx="216" cy="54465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73" name="Ellipse 72">
            <a:extLst>
              <a:ext uri="{FF2B5EF4-FFF2-40B4-BE49-F238E27FC236}">
                <a16:creationId xmlns:a16="http://schemas.microsoft.com/office/drawing/2014/main" id="{12F37E2E-E4CC-6C98-9D59-8813905290BE}"/>
              </a:ext>
            </a:extLst>
          </p:cNvPr>
          <p:cNvSpPr/>
          <p:nvPr/>
        </p:nvSpPr>
        <p:spPr bwMode="gray">
          <a:xfrm>
            <a:off x="3691596" y="3644713"/>
            <a:ext cx="95605" cy="10811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76" name="Ellipse 75">
            <a:extLst>
              <a:ext uri="{FF2B5EF4-FFF2-40B4-BE49-F238E27FC236}">
                <a16:creationId xmlns:a16="http://schemas.microsoft.com/office/drawing/2014/main" id="{7623F2C8-44E0-BAFB-6A2C-3D4C94DA561A}"/>
              </a:ext>
            </a:extLst>
          </p:cNvPr>
          <p:cNvSpPr/>
          <p:nvPr/>
        </p:nvSpPr>
        <p:spPr bwMode="gray">
          <a:xfrm>
            <a:off x="5527803" y="3651925"/>
            <a:ext cx="95605" cy="108112"/>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prstClr val="black"/>
              </a:solidFill>
              <a:latin typeface="Boehringer Forward Text"/>
            </a:endParaRPr>
          </a:p>
        </p:txBody>
      </p:sp>
      <p:sp>
        <p:nvSpPr>
          <p:cNvPr id="80" name="Rectangle 79">
            <a:extLst>
              <a:ext uri="{FF2B5EF4-FFF2-40B4-BE49-F238E27FC236}">
                <a16:creationId xmlns:a16="http://schemas.microsoft.com/office/drawing/2014/main" id="{34645B59-13F4-5128-9252-315E7BC9AE75}"/>
              </a:ext>
            </a:extLst>
          </p:cNvPr>
          <p:cNvSpPr/>
          <p:nvPr/>
        </p:nvSpPr>
        <p:spPr bwMode="gray">
          <a:xfrm>
            <a:off x="402364" y="2196113"/>
            <a:ext cx="435104" cy="97536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1"/>
          <a:lstStyle/>
          <a:p>
            <a:pPr algn="ctr" defTabSz="1219170"/>
            <a:r>
              <a:rPr lang="en-US" sz="1600">
                <a:solidFill>
                  <a:srgbClr val="00E47C"/>
                </a:solidFill>
                <a:latin typeface="Boehringer Forward Text"/>
              </a:rPr>
              <a:t>Mono</a:t>
            </a:r>
          </a:p>
        </p:txBody>
      </p:sp>
      <p:sp>
        <p:nvSpPr>
          <p:cNvPr id="81" name="Rectangle 80">
            <a:extLst>
              <a:ext uri="{FF2B5EF4-FFF2-40B4-BE49-F238E27FC236}">
                <a16:creationId xmlns:a16="http://schemas.microsoft.com/office/drawing/2014/main" id="{C22BECFA-F69F-FF57-6F23-41200555760E}"/>
              </a:ext>
            </a:extLst>
          </p:cNvPr>
          <p:cNvSpPr/>
          <p:nvPr/>
        </p:nvSpPr>
        <p:spPr bwMode="gray">
          <a:xfrm>
            <a:off x="397381" y="3244684"/>
            <a:ext cx="435104" cy="97536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1"/>
          <a:lstStyle/>
          <a:p>
            <a:pPr algn="ctr" defTabSz="1219170"/>
            <a:r>
              <a:rPr lang="en-US" sz="1600">
                <a:solidFill>
                  <a:srgbClr val="00E47C"/>
                </a:solidFill>
                <a:latin typeface="Boehringer Forward Text"/>
              </a:rPr>
              <a:t>Combo 2L+</a:t>
            </a:r>
          </a:p>
        </p:txBody>
      </p:sp>
      <p:sp>
        <p:nvSpPr>
          <p:cNvPr id="83" name="Rectangle 82">
            <a:extLst>
              <a:ext uri="{FF2B5EF4-FFF2-40B4-BE49-F238E27FC236}">
                <a16:creationId xmlns:a16="http://schemas.microsoft.com/office/drawing/2014/main" id="{67B53DA3-95D5-1949-480B-FEF0E9D7CBD8}"/>
              </a:ext>
            </a:extLst>
          </p:cNvPr>
          <p:cNvSpPr/>
          <p:nvPr/>
        </p:nvSpPr>
        <p:spPr bwMode="gray">
          <a:xfrm>
            <a:off x="401680" y="4303373"/>
            <a:ext cx="435104" cy="97536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1"/>
          <a:lstStyle/>
          <a:p>
            <a:pPr algn="ctr" defTabSz="1219170"/>
            <a:r>
              <a:rPr lang="en-US" sz="1600">
                <a:solidFill>
                  <a:srgbClr val="00E47C"/>
                </a:solidFill>
                <a:latin typeface="Boehringer Forward Text"/>
              </a:rPr>
              <a:t>Combo 1L</a:t>
            </a:r>
          </a:p>
        </p:txBody>
      </p:sp>
      <p:sp>
        <p:nvSpPr>
          <p:cNvPr id="84" name="Textfeld 30">
            <a:extLst>
              <a:ext uri="{FF2B5EF4-FFF2-40B4-BE49-F238E27FC236}">
                <a16:creationId xmlns:a16="http://schemas.microsoft.com/office/drawing/2014/main" id="{41149470-476D-294C-8670-07E40FA40124}"/>
              </a:ext>
            </a:extLst>
          </p:cNvPr>
          <p:cNvSpPr txBox="1"/>
          <p:nvPr/>
        </p:nvSpPr>
        <p:spPr bwMode="gray">
          <a:xfrm>
            <a:off x="940879" y="4368314"/>
            <a:ext cx="1283195" cy="492635"/>
          </a:xfrm>
          <a:prstGeom prst="rect">
            <a:avLst/>
          </a:prstGeom>
          <a:noFill/>
        </p:spPr>
        <p:txBody>
          <a:bodyPr wrap="square" lIns="0" tIns="0" rIns="0" bIns="0" rtlCol="0">
            <a:spAutoFit/>
          </a:bodyPr>
          <a:lstStyle/>
          <a:p>
            <a:pPr defTabSz="1219170"/>
            <a:r>
              <a:rPr lang="en-US" sz="1067">
                <a:solidFill>
                  <a:prstClr val="black"/>
                </a:solidFill>
                <a:latin typeface="Boehringer Forward Text"/>
              </a:rPr>
              <a:t>Combination w/ cetuximab + FOLFOX</a:t>
            </a:r>
          </a:p>
        </p:txBody>
      </p:sp>
      <p:grpSp>
        <p:nvGrpSpPr>
          <p:cNvPr id="87" name="Gruppieren 356">
            <a:extLst>
              <a:ext uri="{FF2B5EF4-FFF2-40B4-BE49-F238E27FC236}">
                <a16:creationId xmlns:a16="http://schemas.microsoft.com/office/drawing/2014/main" id="{69AAD679-14D8-3D41-A1F6-89BD886C861D}"/>
              </a:ext>
            </a:extLst>
          </p:cNvPr>
          <p:cNvGrpSpPr/>
          <p:nvPr/>
        </p:nvGrpSpPr>
        <p:grpSpPr>
          <a:xfrm>
            <a:off x="8271059" y="3804180"/>
            <a:ext cx="1313741" cy="223745"/>
            <a:chOff x="4624583" y="2562483"/>
            <a:chExt cx="1057506" cy="167809"/>
          </a:xfrm>
        </p:grpSpPr>
        <p:sp>
          <p:nvSpPr>
            <p:cNvPr id="88" name="TextBox 87">
              <a:extLst>
                <a:ext uri="{FF2B5EF4-FFF2-40B4-BE49-F238E27FC236}">
                  <a16:creationId xmlns:a16="http://schemas.microsoft.com/office/drawing/2014/main" id="{A6654936-5DFA-DE3B-8EF5-3F30FCFF4204}"/>
                </a:ext>
              </a:extLst>
            </p:cNvPr>
            <p:cNvSpPr txBox="1"/>
            <p:nvPr/>
          </p:nvSpPr>
          <p:spPr bwMode="gray">
            <a:xfrm>
              <a:off x="4857616" y="2562483"/>
              <a:ext cx="824473" cy="158024"/>
            </a:xfrm>
            <a:prstGeom prst="rect">
              <a:avLst/>
            </a:prstGeom>
            <a:noFill/>
          </p:spPr>
          <p:txBody>
            <a:bodyPr wrap="square" lIns="0" tIns="0" rIns="0" bIns="0" rtlCol="0">
              <a:spAutoFit/>
            </a:bodyPr>
            <a:lstStyle/>
            <a:p>
              <a:pPr defTabSz="1219170">
                <a:lnSpc>
                  <a:spcPct val="140000"/>
                </a:lnSpc>
              </a:pPr>
              <a:r>
                <a:rPr lang="en-US" sz="1067" b="1">
                  <a:solidFill>
                    <a:prstClr val="black"/>
                  </a:solidFill>
                  <a:latin typeface="Boehringer Forward Text"/>
                </a:rPr>
                <a:t>AA (US)</a:t>
              </a:r>
            </a:p>
          </p:txBody>
        </p:sp>
        <p:sp>
          <p:nvSpPr>
            <p:cNvPr id="89" name="Star: 5 Points 88">
              <a:extLst>
                <a:ext uri="{FF2B5EF4-FFF2-40B4-BE49-F238E27FC236}">
                  <a16:creationId xmlns:a16="http://schemas.microsoft.com/office/drawing/2014/main" id="{97E09559-53B6-857C-4EBF-94B5A297CD2A}"/>
                </a:ext>
              </a:extLst>
            </p:cNvPr>
            <p:cNvSpPr>
              <a:spLocks noChangeAspect="1"/>
            </p:cNvSpPr>
            <p:nvPr/>
          </p:nvSpPr>
          <p:spPr bwMode="gray">
            <a:xfrm>
              <a:off x="4624583" y="2574844"/>
              <a:ext cx="166839" cy="155448"/>
            </a:xfrm>
            <a:prstGeom prst="star5">
              <a:avLst>
                <a:gd name="adj" fmla="val 25559"/>
                <a:gd name="hf" fmla="val 105146"/>
                <a:gd name="vf" fmla="val 110557"/>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79">
                <a:defRPr/>
              </a:pPr>
              <a:endParaRPr lang="en-US" sz="933">
                <a:solidFill>
                  <a:prstClr val="black"/>
                </a:solidFill>
                <a:latin typeface="Boehringer Forward Text"/>
              </a:endParaRPr>
            </a:p>
          </p:txBody>
        </p:sp>
      </p:grpSp>
      <p:grpSp>
        <p:nvGrpSpPr>
          <p:cNvPr id="90" name="Gruppieren 353">
            <a:extLst>
              <a:ext uri="{FF2B5EF4-FFF2-40B4-BE49-F238E27FC236}">
                <a16:creationId xmlns:a16="http://schemas.microsoft.com/office/drawing/2014/main" id="{D0281A71-7EF0-4D96-65D1-77014964AA8B}"/>
              </a:ext>
            </a:extLst>
          </p:cNvPr>
          <p:cNvGrpSpPr/>
          <p:nvPr/>
        </p:nvGrpSpPr>
        <p:grpSpPr>
          <a:xfrm>
            <a:off x="11084030" y="4795092"/>
            <a:ext cx="537108" cy="360412"/>
            <a:chOff x="6519200" y="3145698"/>
            <a:chExt cx="432349" cy="270309"/>
          </a:xfrm>
        </p:grpSpPr>
        <p:sp>
          <p:nvSpPr>
            <p:cNvPr id="91" name="TextBox 90">
              <a:extLst>
                <a:ext uri="{FF2B5EF4-FFF2-40B4-BE49-F238E27FC236}">
                  <a16:creationId xmlns:a16="http://schemas.microsoft.com/office/drawing/2014/main" id="{413AB117-3CD5-E274-239A-40BEE1215FD6}"/>
                </a:ext>
              </a:extLst>
            </p:cNvPr>
            <p:cNvSpPr txBox="1"/>
            <p:nvPr/>
          </p:nvSpPr>
          <p:spPr bwMode="gray">
            <a:xfrm>
              <a:off x="6519200" y="3145698"/>
              <a:ext cx="432349" cy="123159"/>
            </a:xfrm>
            <a:prstGeom prst="rect">
              <a:avLst/>
            </a:prstGeom>
            <a:noFill/>
          </p:spPr>
          <p:txBody>
            <a:bodyPr wrap="square" lIns="0" tIns="0" rIns="0" bIns="0" rtlCol="0">
              <a:spAutoFit/>
            </a:bodyPr>
            <a:lstStyle/>
            <a:p>
              <a:pPr defTabSz="1219170"/>
              <a:r>
                <a:rPr lang="en-US" sz="1067" b="1">
                  <a:solidFill>
                    <a:prstClr val="black"/>
                  </a:solidFill>
                  <a:latin typeface="Boehringer Forward Text"/>
                </a:rPr>
                <a:t>FA (US) </a:t>
              </a:r>
            </a:p>
          </p:txBody>
        </p:sp>
        <p:sp>
          <p:nvSpPr>
            <p:cNvPr id="92" name="Star: 5 Points 288">
              <a:extLst>
                <a:ext uri="{FF2B5EF4-FFF2-40B4-BE49-F238E27FC236}">
                  <a16:creationId xmlns:a16="http://schemas.microsoft.com/office/drawing/2014/main" id="{39AF89BB-080B-DB76-F1F0-6FC600D7F302}"/>
                </a:ext>
              </a:extLst>
            </p:cNvPr>
            <p:cNvSpPr>
              <a:spLocks noChangeAspect="1"/>
            </p:cNvSpPr>
            <p:nvPr/>
          </p:nvSpPr>
          <p:spPr bwMode="gray">
            <a:xfrm>
              <a:off x="6667735" y="3258015"/>
              <a:ext cx="166839" cy="157992"/>
            </a:xfrm>
            <a:prstGeom prst="star5">
              <a:avLst>
                <a:gd name="adj" fmla="val 25559"/>
                <a:gd name="hf" fmla="val 105146"/>
                <a:gd name="vf" fmla="val 110557"/>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79">
                <a:defRPr/>
              </a:pPr>
              <a:endParaRPr lang="en-US" sz="933">
                <a:solidFill>
                  <a:prstClr val="black"/>
                </a:solidFill>
                <a:latin typeface="Boehringer Forward Text"/>
              </a:endParaRPr>
            </a:p>
          </p:txBody>
        </p:sp>
      </p:grpSp>
      <p:cxnSp>
        <p:nvCxnSpPr>
          <p:cNvPr id="101" name="Straight Connector 100">
            <a:extLst>
              <a:ext uri="{FF2B5EF4-FFF2-40B4-BE49-F238E27FC236}">
                <a16:creationId xmlns:a16="http://schemas.microsoft.com/office/drawing/2014/main" id="{E9406866-4B0D-45C3-B85D-B42CE64DA79B}"/>
              </a:ext>
            </a:extLst>
          </p:cNvPr>
          <p:cNvCxnSpPr/>
          <p:nvPr/>
        </p:nvCxnSpPr>
        <p:spPr bwMode="gray">
          <a:xfrm>
            <a:off x="850665" y="3209851"/>
            <a:ext cx="10972800" cy="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22D0AE1-C505-DA29-D592-3E261B75B380}"/>
              </a:ext>
            </a:extLst>
          </p:cNvPr>
          <p:cNvCxnSpPr/>
          <p:nvPr/>
        </p:nvCxnSpPr>
        <p:spPr bwMode="gray">
          <a:xfrm>
            <a:off x="850665" y="4258600"/>
            <a:ext cx="10972800" cy="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06" name="Rectangle 53">
            <a:extLst>
              <a:ext uri="{FF2B5EF4-FFF2-40B4-BE49-F238E27FC236}">
                <a16:creationId xmlns:a16="http://schemas.microsoft.com/office/drawing/2014/main" id="{EC4BDFAB-718D-01ED-246B-D5D3DF91BE5E}"/>
              </a:ext>
            </a:extLst>
          </p:cNvPr>
          <p:cNvSpPr/>
          <p:nvPr/>
        </p:nvSpPr>
        <p:spPr>
          <a:xfrm>
            <a:off x="6782557" y="1244521"/>
            <a:ext cx="1692721" cy="476057"/>
          </a:xfrm>
          <a:prstGeom prst="rect">
            <a:avLst/>
          </a:prstGeom>
          <a:solidFill>
            <a:srgbClr val="F2F2F2"/>
          </a:solidFill>
          <a:ln w="12700">
            <a:solidFill>
              <a:srgbClr val="E5E3DE"/>
            </a:solidFill>
            <a:prstDash val="sysDash"/>
          </a:ln>
        </p:spPr>
        <p:style>
          <a:lnRef idx="2">
            <a:schemeClr val="accent1"/>
          </a:lnRef>
          <a:fillRef idx="1">
            <a:schemeClr val="lt1"/>
          </a:fillRef>
          <a:effectRef idx="0">
            <a:schemeClr val="accent1"/>
          </a:effectRef>
          <a:fontRef idx="minor">
            <a:schemeClr val="dk1"/>
          </a:fontRef>
        </p:style>
        <p:txBody>
          <a:bodyPr wrap="none" lIns="60960" tIns="60960" rIns="60960" bIns="60960" rtlCol="0" anchor="ctr" anchorCtr="0">
            <a:noAutofit/>
          </a:bodyPr>
          <a:lstStyle/>
          <a:p>
            <a:pPr defTabSz="1219140">
              <a:defRPr/>
            </a:pPr>
            <a:r>
              <a:rPr lang="en-US" sz="800" b="1">
                <a:solidFill>
                  <a:prstClr val="black"/>
                </a:solidFill>
                <a:latin typeface="Boehringer Forward Text"/>
              </a:rPr>
              <a:t>zoldonrasib + daraxonrasib</a:t>
            </a:r>
          </a:p>
          <a:p>
            <a:pPr defTabSz="1219140">
              <a:defRPr/>
            </a:pPr>
            <a:r>
              <a:rPr lang="en-US" sz="800" b="1">
                <a:solidFill>
                  <a:prstClr val="black"/>
                </a:solidFill>
                <a:latin typeface="Boehringer Forward Text"/>
              </a:rPr>
              <a:t>FA: </a:t>
            </a:r>
            <a:r>
              <a:rPr lang="en-US" sz="800">
                <a:solidFill>
                  <a:prstClr val="black"/>
                </a:solidFill>
                <a:latin typeface="Boehringer Forward Text"/>
              </a:rPr>
              <a:t>combo w/1L Soc CRC/PDAC</a:t>
            </a:r>
          </a:p>
          <a:p>
            <a:pPr defTabSz="1219140">
              <a:defRPr/>
            </a:pPr>
            <a:r>
              <a:rPr lang="en-US" sz="800" b="1">
                <a:solidFill>
                  <a:prstClr val="black"/>
                </a:solidFill>
                <a:latin typeface="Boehringer Forward Text"/>
              </a:rPr>
              <a:t>Q2/2032</a:t>
            </a:r>
            <a:endParaRPr lang="en-US" sz="800">
              <a:solidFill>
                <a:prstClr val="black"/>
              </a:solidFill>
              <a:latin typeface="Boehringer Forward Text"/>
            </a:endParaRPr>
          </a:p>
        </p:txBody>
      </p:sp>
      <p:sp>
        <p:nvSpPr>
          <p:cNvPr id="109" name="Star: 5 Points 288">
            <a:extLst>
              <a:ext uri="{FF2B5EF4-FFF2-40B4-BE49-F238E27FC236}">
                <a16:creationId xmlns:a16="http://schemas.microsoft.com/office/drawing/2014/main" id="{7BC9CABF-1703-8E9D-A483-2A4643B57125}"/>
              </a:ext>
            </a:extLst>
          </p:cNvPr>
          <p:cNvSpPr>
            <a:spLocks noChangeAspect="1"/>
          </p:cNvSpPr>
          <p:nvPr/>
        </p:nvSpPr>
        <p:spPr bwMode="gray">
          <a:xfrm>
            <a:off x="8374428" y="1646601"/>
            <a:ext cx="207264" cy="210656"/>
          </a:xfrm>
          <a:prstGeom prst="star5">
            <a:avLst>
              <a:gd name="adj" fmla="val 25559"/>
              <a:gd name="hf" fmla="val 105146"/>
              <a:gd name="vf" fmla="val 110557"/>
            </a:avLst>
          </a:prstGeom>
          <a:solidFill>
            <a:srgbClr val="1EAD1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406400" tIns="0" rIns="0" bIns="0" rtlCol="0" anchor="ctr"/>
          <a:lstStyle/>
          <a:p>
            <a:pPr defTabSz="1625479">
              <a:defRPr/>
            </a:pPr>
            <a:endParaRPr lang="en-US" sz="933">
              <a:solidFill>
                <a:prstClr val="black"/>
              </a:solidFill>
              <a:latin typeface="Boehringer Forward Text"/>
            </a:endParaRPr>
          </a:p>
        </p:txBody>
      </p:sp>
      <p:sp>
        <p:nvSpPr>
          <p:cNvPr id="70" name="Textfeld 69">
            <a:extLst>
              <a:ext uri="{FF2B5EF4-FFF2-40B4-BE49-F238E27FC236}">
                <a16:creationId xmlns:a16="http://schemas.microsoft.com/office/drawing/2014/main" id="{3BD429C1-A0AE-87D5-C3A3-06E5993EBE78}"/>
              </a:ext>
            </a:extLst>
          </p:cNvPr>
          <p:cNvSpPr txBox="1"/>
          <p:nvPr/>
        </p:nvSpPr>
        <p:spPr bwMode="gray">
          <a:xfrm>
            <a:off x="1265829" y="5962555"/>
            <a:ext cx="10139507" cy="236924"/>
          </a:xfrm>
          <a:prstGeom prst="rect">
            <a:avLst/>
          </a:prstGeom>
          <a:noFill/>
        </p:spPr>
        <p:txBody>
          <a:bodyPr wrap="none" lIns="0" tIns="0" rIns="0" bIns="0" rtlCol="0">
            <a:spAutoFit/>
          </a:bodyPr>
          <a:lstStyle/>
          <a:p>
            <a:pPr defTabSz="1219170">
              <a:lnSpc>
                <a:spcPct val="140000"/>
              </a:lnSpc>
            </a:pPr>
            <a:r>
              <a:rPr lang="en-US" sz="1200">
                <a:solidFill>
                  <a:prstClr val="black"/>
                </a:solidFill>
                <a:latin typeface="Boehringer Forward Text"/>
              </a:rPr>
              <a:t>*Risk: if any competitor receives FA in 1L CRC and becomes SoC before start of the BI 4015092 Ph3, head-to-head comparison may be required</a:t>
            </a:r>
          </a:p>
        </p:txBody>
      </p:sp>
    </p:spTree>
    <p:extLst>
      <p:ext uri="{BB962C8B-B14F-4D97-AF65-F5344CB8AC3E}">
        <p14:creationId xmlns:p14="http://schemas.microsoft.com/office/powerpoint/2010/main" val="42393347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11B0F-CE17-D525-ECB0-DAFBF81241E2}"/>
            </a:ext>
          </a:extLst>
        </p:cNvPr>
        <p:cNvGrpSpPr/>
        <p:nvPr/>
      </p:nvGrpSpPr>
      <p:grpSpPr>
        <a:xfrm>
          <a:off x="0" y="0"/>
          <a:ext cx="0" cy="0"/>
          <a:chOff x="0" y="0"/>
          <a:chExt cx="0" cy="0"/>
        </a:xfrm>
      </p:grpSpPr>
      <p:sp>
        <p:nvSpPr>
          <p:cNvPr id="22" name="Rectangle: Rounded Corners 43">
            <a:extLst>
              <a:ext uri="{FF2B5EF4-FFF2-40B4-BE49-F238E27FC236}">
                <a16:creationId xmlns:a16="http://schemas.microsoft.com/office/drawing/2014/main" id="{A7FE9C13-F26F-DFC2-336B-F4A837E700FE}"/>
              </a:ext>
            </a:extLst>
          </p:cNvPr>
          <p:cNvSpPr/>
          <p:nvPr/>
        </p:nvSpPr>
        <p:spPr>
          <a:xfrm>
            <a:off x="4130527" y="1656827"/>
            <a:ext cx="2218356" cy="28418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rtlCol="0" anchor="ctr" anchorCtr="0">
            <a:noAutofit/>
          </a:bodyPr>
          <a:lstStyle/>
          <a:p>
            <a:pPr defTabSz="1219170">
              <a:defRPr/>
            </a:pPr>
            <a:r>
              <a:rPr lang="en-US" sz="932" b="1" spc="-40">
                <a:solidFill>
                  <a:prstClr val="white"/>
                </a:solidFill>
                <a:latin typeface="Boehringer Forward Text"/>
              </a:rPr>
              <a:t>            Ph I mono Dose Escalation</a:t>
            </a:r>
            <a:endParaRPr lang="en-US" sz="932" i="1" spc="-40">
              <a:solidFill>
                <a:prstClr val="white"/>
              </a:solidFill>
              <a:latin typeface="Boehringer Forward Text"/>
            </a:endParaRPr>
          </a:p>
        </p:txBody>
      </p:sp>
      <p:grpSp>
        <p:nvGrpSpPr>
          <p:cNvPr id="11" name="Gruppieren 10">
            <a:extLst>
              <a:ext uri="{FF2B5EF4-FFF2-40B4-BE49-F238E27FC236}">
                <a16:creationId xmlns:a16="http://schemas.microsoft.com/office/drawing/2014/main" id="{8255DE28-06AE-F061-3695-911A91A0DC05}"/>
              </a:ext>
            </a:extLst>
          </p:cNvPr>
          <p:cNvGrpSpPr/>
          <p:nvPr/>
        </p:nvGrpSpPr>
        <p:grpSpPr>
          <a:xfrm>
            <a:off x="4031754" y="1628484"/>
            <a:ext cx="322204" cy="597841"/>
            <a:chOff x="3036082" y="2123373"/>
            <a:chExt cx="241653" cy="448381"/>
          </a:xfrm>
        </p:grpSpPr>
        <p:sp>
          <p:nvSpPr>
            <p:cNvPr id="58" name="Textfeld 57">
              <a:extLst>
                <a:ext uri="{FF2B5EF4-FFF2-40B4-BE49-F238E27FC236}">
                  <a16:creationId xmlns:a16="http://schemas.microsoft.com/office/drawing/2014/main" id="{FEAF2B5D-7069-DB47-7AC7-D63BBBBB8EDC}"/>
                </a:ext>
              </a:extLst>
            </p:cNvPr>
            <p:cNvSpPr txBox="1"/>
            <p:nvPr/>
          </p:nvSpPr>
          <p:spPr bwMode="gray">
            <a:xfrm>
              <a:off x="3036082" y="2334814"/>
              <a:ext cx="241653" cy="236940"/>
            </a:xfrm>
            <a:prstGeom prst="rect">
              <a:avLst/>
            </a:prstGeom>
            <a:noFill/>
          </p:spPr>
          <p:txBody>
            <a:bodyPr wrap="none" lIns="0" tIns="0" rIns="0" bIns="0" rtlCol="0">
              <a:spAutoFit/>
            </a:bodyPr>
            <a:lstStyle/>
            <a:p>
              <a:pPr defTabSz="1219170">
                <a:lnSpc>
                  <a:spcPct val="140000"/>
                </a:lnSpc>
              </a:pPr>
              <a:r>
                <a:rPr lang="en-US" sz="1600" b="1">
                  <a:solidFill>
                    <a:prstClr val="black"/>
                  </a:solidFill>
                  <a:latin typeface="Boehringer Forward Text"/>
                </a:rPr>
                <a:t>FiH</a:t>
              </a:r>
            </a:p>
          </p:txBody>
        </p:sp>
        <p:sp>
          <p:nvSpPr>
            <p:cNvPr id="59" name="Ellipse 58">
              <a:extLst>
                <a:ext uri="{FF2B5EF4-FFF2-40B4-BE49-F238E27FC236}">
                  <a16:creationId xmlns:a16="http://schemas.microsoft.com/office/drawing/2014/main" id="{320E295B-60CE-BAE4-31C3-6002F9882402}"/>
                </a:ext>
              </a:extLst>
            </p:cNvPr>
            <p:cNvSpPr/>
            <p:nvPr/>
          </p:nvSpPr>
          <p:spPr bwMode="gray">
            <a:xfrm>
              <a:off x="3048136" y="2123373"/>
              <a:ext cx="214313" cy="2324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1600">
                <a:solidFill>
                  <a:prstClr val="black"/>
                </a:solidFill>
                <a:latin typeface="Boehringer Forward Text"/>
              </a:endParaRPr>
            </a:p>
          </p:txBody>
        </p:sp>
        <p:sp>
          <p:nvSpPr>
            <p:cNvPr id="60" name="OTLSHAPE_SLM_5dce88851ef24699af4acc4f44e64e50_Shape">
              <a:extLst>
                <a:ext uri="{FF2B5EF4-FFF2-40B4-BE49-F238E27FC236}">
                  <a16:creationId xmlns:a16="http://schemas.microsoft.com/office/drawing/2014/main" id="{FB302C7D-3762-B308-27F8-9ED906D4C953}"/>
                </a:ext>
              </a:extLst>
            </p:cNvPr>
            <p:cNvSpPr/>
            <p:nvPr>
              <p:custDataLst>
                <p:tags r:id="rId12"/>
              </p:custDataLst>
            </p:nvPr>
          </p:nvSpPr>
          <p:spPr bwMode="gray">
            <a:xfrm>
              <a:off x="3077040" y="2166331"/>
              <a:ext cx="152400" cy="135764"/>
            </a:xfrm>
            <a:prstGeom prst="star5">
              <a:avLst>
                <a:gd name="adj" fmla="val 25000"/>
                <a:gd name="hf" fmla="val 105146"/>
                <a:gd name="vf" fmla="val 110557"/>
              </a:avLst>
            </a:prstGeom>
            <a:solidFill>
              <a:schemeClr val="accent5"/>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10">
                <a:lnSpc>
                  <a:spcPct val="140000"/>
                </a:lnSpc>
              </a:pPr>
              <a:endParaRPr lang="en-US" sz="933">
                <a:solidFill>
                  <a:prstClr val="black"/>
                </a:solidFill>
                <a:latin typeface="Boehringer Forward Text"/>
              </a:endParaRPr>
            </a:p>
          </p:txBody>
        </p:sp>
      </p:grpSp>
      <p:grpSp>
        <p:nvGrpSpPr>
          <p:cNvPr id="35" name="Gruppieren 34">
            <a:extLst>
              <a:ext uri="{FF2B5EF4-FFF2-40B4-BE49-F238E27FC236}">
                <a16:creationId xmlns:a16="http://schemas.microsoft.com/office/drawing/2014/main" id="{06E0CF1C-96F1-7DCE-EBAB-34048AAFD538}"/>
              </a:ext>
            </a:extLst>
          </p:cNvPr>
          <p:cNvGrpSpPr/>
          <p:nvPr/>
        </p:nvGrpSpPr>
        <p:grpSpPr>
          <a:xfrm>
            <a:off x="5542943" y="1768434"/>
            <a:ext cx="764656" cy="623652"/>
            <a:chOff x="4548967" y="2753860"/>
            <a:chExt cx="573492" cy="467739"/>
          </a:xfrm>
        </p:grpSpPr>
        <p:pic>
          <p:nvPicPr>
            <p:cNvPr id="41" name="Picture 60">
              <a:extLst>
                <a:ext uri="{FF2B5EF4-FFF2-40B4-BE49-F238E27FC236}">
                  <a16:creationId xmlns:a16="http://schemas.microsoft.com/office/drawing/2014/main" id="{8A862003-1569-4AFD-41E7-BD619C934597}"/>
                </a:ext>
              </a:extLst>
            </p:cNvPr>
            <p:cNvPicPr>
              <a:picLocks noChangeAspect="1"/>
            </p:cNvPicPr>
            <p:nvPr/>
          </p:nvPicPr>
          <p:blipFill>
            <a:blip r:embed="rId14"/>
            <a:stretch>
              <a:fillRect/>
            </a:stretch>
          </p:blipFill>
          <p:spPr>
            <a:xfrm>
              <a:off x="4734018" y="2753860"/>
              <a:ext cx="207337" cy="253412"/>
            </a:xfrm>
            <a:prstGeom prst="rect">
              <a:avLst/>
            </a:prstGeom>
          </p:spPr>
        </p:pic>
        <p:sp>
          <p:nvSpPr>
            <p:cNvPr id="30" name="Rectangle: Rounded Corners 37">
              <a:extLst>
                <a:ext uri="{FF2B5EF4-FFF2-40B4-BE49-F238E27FC236}">
                  <a16:creationId xmlns:a16="http://schemas.microsoft.com/office/drawing/2014/main" id="{2D0606BC-A32D-8DA4-42ED-E17ECE0C5719}"/>
                </a:ext>
              </a:extLst>
            </p:cNvPr>
            <p:cNvSpPr/>
            <p:nvPr/>
          </p:nvSpPr>
          <p:spPr>
            <a:xfrm>
              <a:off x="4548967" y="2993386"/>
              <a:ext cx="573492" cy="228213"/>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60904" rIns="60904" rtlCol="0" anchor="ctr" anchorCtr="0">
              <a:noAutofit/>
            </a:bodyPr>
            <a:lstStyle/>
            <a:p>
              <a:pPr algn="ctr" defTabSz="1219170">
                <a:defRPr/>
              </a:pPr>
              <a:r>
                <a:rPr lang="en-US" sz="932" b="1" spc="-40">
                  <a:solidFill>
                    <a:prstClr val="white"/>
                  </a:solidFill>
                  <a:latin typeface="Boehringer Forward Text"/>
                </a:rPr>
                <a:t>IP End of DE</a:t>
              </a:r>
            </a:p>
          </p:txBody>
        </p:sp>
      </p:grpSp>
      <p:grpSp>
        <p:nvGrpSpPr>
          <p:cNvPr id="8" name="Gruppieren 7">
            <a:extLst>
              <a:ext uri="{FF2B5EF4-FFF2-40B4-BE49-F238E27FC236}">
                <a16:creationId xmlns:a16="http://schemas.microsoft.com/office/drawing/2014/main" id="{AD6667F3-8389-07D5-DCEA-89C71EE77B53}"/>
              </a:ext>
            </a:extLst>
          </p:cNvPr>
          <p:cNvGrpSpPr/>
          <p:nvPr/>
        </p:nvGrpSpPr>
        <p:grpSpPr>
          <a:xfrm>
            <a:off x="647977" y="1116665"/>
            <a:ext cx="10626232" cy="399825"/>
            <a:chOff x="686008" y="1730217"/>
            <a:chExt cx="7251537" cy="299869"/>
          </a:xfrm>
        </p:grpSpPr>
        <p:grpSp>
          <p:nvGrpSpPr>
            <p:cNvPr id="15" name="Group 42">
              <a:extLst>
                <a:ext uri="{FF2B5EF4-FFF2-40B4-BE49-F238E27FC236}">
                  <a16:creationId xmlns:a16="http://schemas.microsoft.com/office/drawing/2014/main" id="{099EEBE4-2CA6-BE10-5398-47C5DAE8F488}"/>
                </a:ext>
              </a:extLst>
            </p:cNvPr>
            <p:cNvGrpSpPr/>
            <p:nvPr>
              <p:custDataLst>
                <p:tags r:id="rId11"/>
              </p:custDataLst>
            </p:nvPr>
          </p:nvGrpSpPr>
          <p:grpSpPr>
            <a:xfrm>
              <a:off x="686008" y="1730217"/>
              <a:ext cx="3578462" cy="294725"/>
              <a:chOff x="533712" y="1205268"/>
              <a:chExt cx="3045538" cy="381071"/>
            </a:xfrm>
          </p:grpSpPr>
          <p:sp>
            <p:nvSpPr>
              <p:cNvPr id="16" name="MekkoValueChainHeader637660848299819829">
                <a:extLst>
                  <a:ext uri="{FF2B5EF4-FFF2-40B4-BE49-F238E27FC236}">
                    <a16:creationId xmlns:a16="http://schemas.microsoft.com/office/drawing/2014/main" id="{04D151CE-BF58-FF04-04FB-4B153B1D5142}"/>
                  </a:ext>
                </a:extLst>
              </p:cNvPr>
              <p:cNvSpPr/>
              <p:nvPr/>
            </p:nvSpPr>
            <p:spPr>
              <a:xfrm>
                <a:off x="533712" y="1205268"/>
                <a:ext cx="1037664" cy="381000"/>
              </a:xfrm>
              <a:prstGeom prst="homePlate">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defRPr/>
                </a:pPr>
                <a:r>
                  <a:rPr lang="en-US" sz="1332" b="1" spc="-40">
                    <a:solidFill>
                      <a:srgbClr val="FFFFFF"/>
                    </a:solidFill>
                    <a:latin typeface="Boehringer Forward Text"/>
                  </a:rPr>
                  <a:t>2025</a:t>
                </a:r>
              </a:p>
            </p:txBody>
          </p:sp>
          <p:sp>
            <p:nvSpPr>
              <p:cNvPr id="17" name="MekkoValueChainHeader637660848299819829637660848300119802">
                <a:extLst>
                  <a:ext uri="{FF2B5EF4-FFF2-40B4-BE49-F238E27FC236}">
                    <a16:creationId xmlns:a16="http://schemas.microsoft.com/office/drawing/2014/main" id="{F3847559-A247-9294-9EF8-EF6C82105C4E}"/>
                  </a:ext>
                </a:extLst>
              </p:cNvPr>
              <p:cNvSpPr/>
              <p:nvPr/>
            </p:nvSpPr>
            <p:spPr>
              <a:xfrm>
                <a:off x="1499566" y="1205268"/>
                <a:ext cx="1037664" cy="381000"/>
              </a:xfrm>
              <a:prstGeom prst="chevron">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defRPr/>
                </a:pPr>
                <a:r>
                  <a:rPr lang="en-US" sz="1332" b="1" spc="-40">
                    <a:solidFill>
                      <a:srgbClr val="FFFFFF"/>
                    </a:solidFill>
                    <a:latin typeface="Boehringer Forward Text"/>
                  </a:rPr>
                  <a:t>2026</a:t>
                </a:r>
              </a:p>
            </p:txBody>
          </p:sp>
          <p:sp>
            <p:nvSpPr>
              <p:cNvPr id="18" name="MekkoValueChainHeader637660848299819829637660848300119802637660848300399819">
                <a:extLst>
                  <a:ext uri="{FF2B5EF4-FFF2-40B4-BE49-F238E27FC236}">
                    <a16:creationId xmlns:a16="http://schemas.microsoft.com/office/drawing/2014/main" id="{377B65F5-7AF3-7DCD-A64D-3BC5A9A2B9B0}"/>
                  </a:ext>
                </a:extLst>
              </p:cNvPr>
              <p:cNvSpPr/>
              <p:nvPr/>
            </p:nvSpPr>
            <p:spPr>
              <a:xfrm>
                <a:off x="2465421" y="1205339"/>
                <a:ext cx="1113829" cy="381000"/>
              </a:xfrm>
              <a:prstGeom prst="chevron">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pPr>
                <a:r>
                  <a:rPr lang="en-US" sz="1332" b="1" spc="-40">
                    <a:solidFill>
                      <a:srgbClr val="FFFFFF"/>
                    </a:solidFill>
                    <a:latin typeface="Boehringer Forward Text"/>
                  </a:rPr>
                  <a:t>2027</a:t>
                </a:r>
              </a:p>
            </p:txBody>
          </p:sp>
        </p:grpSp>
        <p:sp>
          <p:nvSpPr>
            <p:cNvPr id="36" name="MekkoValueChainHeader637660848299819829637660848300119802637660848300399819">
              <a:extLst>
                <a:ext uri="{FF2B5EF4-FFF2-40B4-BE49-F238E27FC236}">
                  <a16:creationId xmlns:a16="http://schemas.microsoft.com/office/drawing/2014/main" id="{5503BF9E-D532-72D3-7D2A-6F2D0C157AAF}"/>
                </a:ext>
              </a:extLst>
            </p:cNvPr>
            <p:cNvSpPr/>
            <p:nvPr/>
          </p:nvSpPr>
          <p:spPr>
            <a:xfrm>
              <a:off x="4180095" y="1731331"/>
              <a:ext cx="1308733" cy="294671"/>
            </a:xfrm>
            <a:prstGeom prst="chevron">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pPr>
              <a:r>
                <a:rPr lang="en-US" sz="1332" b="1" spc="-40">
                  <a:solidFill>
                    <a:srgbClr val="FFFFFF"/>
                  </a:solidFill>
                  <a:latin typeface="Boehringer Forward Text"/>
                </a:rPr>
                <a:t>2028</a:t>
              </a:r>
            </a:p>
          </p:txBody>
        </p:sp>
        <p:sp>
          <p:nvSpPr>
            <p:cNvPr id="38" name="MekkoValueChainHeader637660848299819829637660848300119802637660848300399819">
              <a:extLst>
                <a:ext uri="{FF2B5EF4-FFF2-40B4-BE49-F238E27FC236}">
                  <a16:creationId xmlns:a16="http://schemas.microsoft.com/office/drawing/2014/main" id="{89E3D043-D0BA-15F0-7A55-B7D9B200B979}"/>
                </a:ext>
              </a:extLst>
            </p:cNvPr>
            <p:cNvSpPr/>
            <p:nvPr/>
          </p:nvSpPr>
          <p:spPr>
            <a:xfrm>
              <a:off x="5404453" y="1735415"/>
              <a:ext cx="1308733" cy="294671"/>
            </a:xfrm>
            <a:prstGeom prst="chevron">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pPr>
              <a:r>
                <a:rPr lang="en-US" sz="1332" b="1" spc="-40">
                  <a:solidFill>
                    <a:srgbClr val="FFFFFF"/>
                  </a:solidFill>
                  <a:latin typeface="Boehringer Forward Text"/>
                </a:rPr>
                <a:t>2029/30</a:t>
              </a:r>
            </a:p>
          </p:txBody>
        </p:sp>
        <p:sp>
          <p:nvSpPr>
            <p:cNvPr id="3" name="MekkoValueChainHeader637660848299819829637660848300119802637660848300399819">
              <a:extLst>
                <a:ext uri="{FF2B5EF4-FFF2-40B4-BE49-F238E27FC236}">
                  <a16:creationId xmlns:a16="http://schemas.microsoft.com/office/drawing/2014/main" id="{8119E5FA-5C05-8B9A-C634-830193B212BA}"/>
                </a:ext>
              </a:extLst>
            </p:cNvPr>
            <p:cNvSpPr/>
            <p:nvPr/>
          </p:nvSpPr>
          <p:spPr>
            <a:xfrm>
              <a:off x="6628812" y="1732558"/>
              <a:ext cx="1308733" cy="294671"/>
            </a:xfrm>
            <a:prstGeom prst="chevron">
              <a:avLst>
                <a:gd name="adj" fmla="val 38400"/>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60904" rIns="60904" rtlCol="0" anchor="ctr" anchorCtr="0">
              <a:noAutofit/>
            </a:bodyPr>
            <a:lstStyle/>
            <a:p>
              <a:pPr algn="ctr" defTabSz="1219170">
                <a:lnSpc>
                  <a:spcPct val="110000"/>
                </a:lnSpc>
              </a:pPr>
              <a:r>
                <a:rPr lang="en-US" sz="1332" b="1" spc="-40">
                  <a:solidFill>
                    <a:srgbClr val="FFFFFF"/>
                  </a:solidFill>
                  <a:latin typeface="Boehringer Forward Text"/>
                </a:rPr>
                <a:t>2031/32</a:t>
              </a:r>
            </a:p>
          </p:txBody>
        </p:sp>
      </p:grpSp>
      <p:sp>
        <p:nvSpPr>
          <p:cNvPr id="4" name="Rectangle: Rounded Corners 43">
            <a:extLst>
              <a:ext uri="{FF2B5EF4-FFF2-40B4-BE49-F238E27FC236}">
                <a16:creationId xmlns:a16="http://schemas.microsoft.com/office/drawing/2014/main" id="{EA030477-5B69-26F9-6B4D-2ED724671E0F}"/>
              </a:ext>
            </a:extLst>
          </p:cNvPr>
          <p:cNvSpPr/>
          <p:nvPr/>
        </p:nvSpPr>
        <p:spPr>
          <a:xfrm>
            <a:off x="4788575" y="2880321"/>
            <a:ext cx="3818053" cy="28418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rtlCol="0" anchor="ctr" anchorCtr="0">
            <a:noAutofit/>
          </a:bodyPr>
          <a:lstStyle/>
          <a:p>
            <a:pPr marL="95998" defTabSz="1219170">
              <a:defRPr/>
            </a:pPr>
            <a:r>
              <a:rPr lang="en-US" sz="932" b="1" spc="-40">
                <a:solidFill>
                  <a:prstClr val="white"/>
                </a:solidFill>
                <a:latin typeface="Boehringer Forward Text"/>
              </a:rPr>
              <a:t>Ph I  2L CRC combi + Cetuximab</a:t>
            </a:r>
            <a:endParaRPr lang="en-US" sz="932" i="1" spc="-40">
              <a:solidFill>
                <a:prstClr val="white"/>
              </a:solidFill>
              <a:latin typeface="Boehringer Forward Text"/>
            </a:endParaRPr>
          </a:p>
        </p:txBody>
      </p:sp>
      <p:grpSp>
        <p:nvGrpSpPr>
          <p:cNvPr id="124" name="Gruppieren 123">
            <a:extLst>
              <a:ext uri="{FF2B5EF4-FFF2-40B4-BE49-F238E27FC236}">
                <a16:creationId xmlns:a16="http://schemas.microsoft.com/office/drawing/2014/main" id="{73CAA1DC-D66C-8469-69FB-755A54C60675}"/>
              </a:ext>
            </a:extLst>
          </p:cNvPr>
          <p:cNvGrpSpPr/>
          <p:nvPr/>
        </p:nvGrpSpPr>
        <p:grpSpPr>
          <a:xfrm>
            <a:off x="6627621" y="2985750"/>
            <a:ext cx="764656" cy="623652"/>
            <a:chOff x="5490411" y="2456089"/>
            <a:chExt cx="573492" cy="467739"/>
          </a:xfrm>
        </p:grpSpPr>
        <p:pic>
          <p:nvPicPr>
            <p:cNvPr id="121" name="Picture 60">
              <a:extLst>
                <a:ext uri="{FF2B5EF4-FFF2-40B4-BE49-F238E27FC236}">
                  <a16:creationId xmlns:a16="http://schemas.microsoft.com/office/drawing/2014/main" id="{5E5254C9-4A85-7E8A-1BAE-C127D8781FF5}"/>
                </a:ext>
              </a:extLst>
            </p:cNvPr>
            <p:cNvPicPr>
              <a:picLocks noChangeAspect="1"/>
            </p:cNvPicPr>
            <p:nvPr/>
          </p:nvPicPr>
          <p:blipFill>
            <a:blip r:embed="rId14"/>
            <a:stretch>
              <a:fillRect/>
            </a:stretch>
          </p:blipFill>
          <p:spPr>
            <a:xfrm>
              <a:off x="5675462" y="2456089"/>
              <a:ext cx="207337" cy="253412"/>
            </a:xfrm>
            <a:prstGeom prst="rect">
              <a:avLst/>
            </a:prstGeom>
          </p:spPr>
        </p:pic>
        <p:sp>
          <p:nvSpPr>
            <p:cNvPr id="122" name="Rectangle: Rounded Corners 37">
              <a:extLst>
                <a:ext uri="{FF2B5EF4-FFF2-40B4-BE49-F238E27FC236}">
                  <a16:creationId xmlns:a16="http://schemas.microsoft.com/office/drawing/2014/main" id="{0861DF44-BFC1-DF75-59E0-912D22544E63}"/>
                </a:ext>
              </a:extLst>
            </p:cNvPr>
            <p:cNvSpPr/>
            <p:nvPr/>
          </p:nvSpPr>
          <p:spPr>
            <a:xfrm>
              <a:off x="5490411" y="2695615"/>
              <a:ext cx="573492" cy="228213"/>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60904" rIns="60904" rtlCol="0" anchor="ctr" anchorCtr="0">
              <a:noAutofit/>
            </a:bodyPr>
            <a:lstStyle/>
            <a:p>
              <a:pPr algn="ctr" defTabSz="1219170">
                <a:defRPr/>
              </a:pPr>
              <a:r>
                <a:rPr lang="en-US" sz="932" b="1" spc="-40">
                  <a:solidFill>
                    <a:prstClr val="white"/>
                  </a:solidFill>
                  <a:latin typeface="Boehringer Forward Text"/>
                </a:rPr>
                <a:t>IP Combo </a:t>
              </a:r>
            </a:p>
            <a:p>
              <a:pPr algn="ctr" defTabSz="1219170">
                <a:defRPr/>
              </a:pPr>
              <a:r>
                <a:rPr lang="en-US" sz="932" b="1" spc="-40">
                  <a:solidFill>
                    <a:prstClr val="white"/>
                  </a:solidFill>
                  <a:latin typeface="Boehringer Forward Text"/>
                </a:rPr>
                <a:t>Futility</a:t>
              </a:r>
            </a:p>
          </p:txBody>
        </p:sp>
      </p:grpSp>
      <p:grpSp>
        <p:nvGrpSpPr>
          <p:cNvPr id="21" name="Gruppieren 20">
            <a:extLst>
              <a:ext uri="{FF2B5EF4-FFF2-40B4-BE49-F238E27FC236}">
                <a16:creationId xmlns:a16="http://schemas.microsoft.com/office/drawing/2014/main" id="{0DC57A48-30EE-6589-D2A7-609F3032A1BA}"/>
              </a:ext>
            </a:extLst>
          </p:cNvPr>
          <p:cNvGrpSpPr/>
          <p:nvPr/>
        </p:nvGrpSpPr>
        <p:grpSpPr>
          <a:xfrm>
            <a:off x="8432119" y="2869349"/>
            <a:ext cx="764656" cy="619448"/>
            <a:chOff x="6454938" y="2346513"/>
            <a:chExt cx="573492" cy="464586"/>
          </a:xfrm>
        </p:grpSpPr>
        <p:sp>
          <p:nvSpPr>
            <p:cNvPr id="44" name="Rectangle: Rounded Corners 37">
              <a:extLst>
                <a:ext uri="{FF2B5EF4-FFF2-40B4-BE49-F238E27FC236}">
                  <a16:creationId xmlns:a16="http://schemas.microsoft.com/office/drawing/2014/main" id="{FE1C3FD7-4221-6C5D-AFBA-E22E0A212B81}"/>
                </a:ext>
              </a:extLst>
            </p:cNvPr>
            <p:cNvSpPr/>
            <p:nvPr/>
          </p:nvSpPr>
          <p:spPr>
            <a:xfrm>
              <a:off x="6454938" y="2582886"/>
              <a:ext cx="573492" cy="228213"/>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60904" rIns="60904" rtlCol="0" anchor="ctr" anchorCtr="0">
              <a:noAutofit/>
            </a:bodyPr>
            <a:lstStyle/>
            <a:p>
              <a:pPr algn="ctr" defTabSz="1219170">
                <a:defRPr/>
              </a:pPr>
              <a:r>
                <a:rPr lang="en-US" sz="932" b="1" spc="-40">
                  <a:solidFill>
                    <a:prstClr val="white"/>
                  </a:solidFill>
                  <a:latin typeface="Boehringer Forward Text"/>
                </a:rPr>
                <a:t>PoC</a:t>
              </a:r>
            </a:p>
          </p:txBody>
        </p:sp>
        <p:pic>
          <p:nvPicPr>
            <p:cNvPr id="33" name="Picture 60">
              <a:extLst>
                <a:ext uri="{FF2B5EF4-FFF2-40B4-BE49-F238E27FC236}">
                  <a16:creationId xmlns:a16="http://schemas.microsoft.com/office/drawing/2014/main" id="{3F482225-3102-A137-EEC6-80F02D72D5B4}"/>
                </a:ext>
              </a:extLst>
            </p:cNvPr>
            <p:cNvPicPr>
              <a:picLocks noChangeAspect="1"/>
            </p:cNvPicPr>
            <p:nvPr/>
          </p:nvPicPr>
          <p:blipFill>
            <a:blip r:embed="rId14"/>
            <a:stretch>
              <a:fillRect/>
            </a:stretch>
          </p:blipFill>
          <p:spPr>
            <a:xfrm>
              <a:off x="6624228" y="2346513"/>
              <a:ext cx="207337" cy="253412"/>
            </a:xfrm>
            <a:prstGeom prst="rect">
              <a:avLst/>
            </a:prstGeom>
          </p:spPr>
        </p:pic>
      </p:grpSp>
      <p:sp>
        <p:nvSpPr>
          <p:cNvPr id="29" name="Stern: 5 Zacken 28">
            <a:extLst>
              <a:ext uri="{FF2B5EF4-FFF2-40B4-BE49-F238E27FC236}">
                <a16:creationId xmlns:a16="http://schemas.microsoft.com/office/drawing/2014/main" id="{DF0C1186-4730-D18D-E011-0F5E4385B060}"/>
              </a:ext>
            </a:extLst>
          </p:cNvPr>
          <p:cNvSpPr/>
          <p:nvPr/>
        </p:nvSpPr>
        <p:spPr bwMode="gray">
          <a:xfrm>
            <a:off x="10652597" y="2948991"/>
            <a:ext cx="179672" cy="174335"/>
          </a:xfrm>
          <a:prstGeom prst="star5">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40000"/>
              </a:lnSpc>
            </a:pPr>
            <a:endParaRPr lang="en-US" sz="2133">
              <a:solidFill>
                <a:sysClr val="windowText" lastClr="000000"/>
              </a:solidFill>
              <a:latin typeface="Boehringer Forward Text"/>
            </a:endParaRPr>
          </a:p>
        </p:txBody>
      </p:sp>
      <p:sp>
        <p:nvSpPr>
          <p:cNvPr id="32" name="Rectangle 36">
            <a:extLst>
              <a:ext uri="{FF2B5EF4-FFF2-40B4-BE49-F238E27FC236}">
                <a16:creationId xmlns:a16="http://schemas.microsoft.com/office/drawing/2014/main" id="{6C1DB4D8-9D7E-61DA-BF03-8221A497F1A1}"/>
              </a:ext>
            </a:extLst>
          </p:cNvPr>
          <p:cNvSpPr/>
          <p:nvPr/>
        </p:nvSpPr>
        <p:spPr>
          <a:xfrm>
            <a:off x="10832270" y="2869349"/>
            <a:ext cx="737965" cy="333616"/>
          </a:xfrm>
          <a:prstGeom prst="rect">
            <a:avLst/>
          </a:prstGeom>
          <a:ln w="6350">
            <a:noFill/>
          </a:ln>
        </p:spPr>
        <p:style>
          <a:lnRef idx="2">
            <a:schemeClr val="accent1"/>
          </a:lnRef>
          <a:fillRef idx="1">
            <a:schemeClr val="lt1"/>
          </a:fillRef>
          <a:effectRef idx="0">
            <a:schemeClr val="accent1"/>
          </a:effectRef>
          <a:fontRef idx="minor">
            <a:schemeClr val="dk1"/>
          </a:fontRef>
        </p:style>
        <p:txBody>
          <a:bodyPr wrap="square" lIns="72000" tIns="72000" rIns="72000" bIns="72000" rtlCol="0" anchor="t" anchorCtr="0">
            <a:noAutofit/>
          </a:bodyPr>
          <a:lstStyle/>
          <a:p>
            <a:pPr defTabSz="1623974">
              <a:lnSpc>
                <a:spcPct val="110000"/>
              </a:lnSpc>
              <a:defRPr/>
            </a:pPr>
            <a:r>
              <a:rPr lang="en-US" sz="1000" spc="-53">
                <a:solidFill>
                  <a:prstClr val="black"/>
                </a:solidFill>
                <a:latin typeface="Boehringer Forward Text"/>
              </a:rPr>
              <a:t>AA (US)</a:t>
            </a:r>
          </a:p>
        </p:txBody>
      </p:sp>
      <p:cxnSp>
        <p:nvCxnSpPr>
          <p:cNvPr id="62" name="Verbinder: gewinkelt 61">
            <a:extLst>
              <a:ext uri="{FF2B5EF4-FFF2-40B4-BE49-F238E27FC236}">
                <a16:creationId xmlns:a16="http://schemas.microsoft.com/office/drawing/2014/main" id="{AB67FEF1-29A7-9A10-8526-DED0F3CE75C7}"/>
              </a:ext>
            </a:extLst>
          </p:cNvPr>
          <p:cNvCxnSpPr>
            <a:cxnSpLocks/>
          </p:cNvCxnSpPr>
          <p:nvPr/>
        </p:nvCxnSpPr>
        <p:spPr bwMode="gray">
          <a:xfrm rot="16200000" flipH="1">
            <a:off x="4207817" y="2430903"/>
            <a:ext cx="1034615" cy="132029"/>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itle 47">
            <a:extLst>
              <a:ext uri="{FF2B5EF4-FFF2-40B4-BE49-F238E27FC236}">
                <a16:creationId xmlns:a16="http://schemas.microsoft.com/office/drawing/2014/main" id="{1DB2E703-6BD0-9837-AC65-B4E3871AB032}"/>
              </a:ext>
            </a:extLst>
          </p:cNvPr>
          <p:cNvSpPr>
            <a:spLocks noGrp="1"/>
          </p:cNvSpPr>
          <p:nvPr>
            <p:ph type="title"/>
          </p:nvPr>
        </p:nvSpPr>
        <p:spPr>
          <a:xfrm>
            <a:off x="479424" y="241882"/>
            <a:ext cx="11233151" cy="720000"/>
          </a:xfrm>
        </p:spPr>
        <p:txBody>
          <a:bodyPr/>
          <a:lstStyle/>
          <a:p>
            <a:r>
              <a:rPr lang="en-US" altLang="zh-CN" sz="2800" i="1">
                <a:solidFill>
                  <a:schemeClr val="tx1"/>
                </a:solidFill>
              </a:rPr>
              <a:t>Timeline assessment for China integration plan</a:t>
            </a:r>
            <a:endParaRPr lang="en-US"/>
          </a:p>
        </p:txBody>
      </p:sp>
      <p:cxnSp>
        <p:nvCxnSpPr>
          <p:cNvPr id="57" name="Straight Connector 147">
            <a:extLst>
              <a:ext uri="{FF2B5EF4-FFF2-40B4-BE49-F238E27FC236}">
                <a16:creationId xmlns:a16="http://schemas.microsoft.com/office/drawing/2014/main" id="{263859B1-B502-C492-C6C6-7C1684A484EE}"/>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pic>
        <p:nvPicPr>
          <p:cNvPr id="63" name="Picture 4">
            <a:extLst>
              <a:ext uri="{FF2B5EF4-FFF2-40B4-BE49-F238E27FC236}">
                <a16:creationId xmlns:a16="http://schemas.microsoft.com/office/drawing/2014/main" id="{454647B7-FD9A-8883-45B9-B362F10EC26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783" y="1566829"/>
            <a:ext cx="1138019" cy="560880"/>
          </a:xfrm>
          <a:prstGeom prst="rect">
            <a:avLst/>
          </a:prstGeom>
        </p:spPr>
      </p:pic>
      <p:pic>
        <p:nvPicPr>
          <p:cNvPr id="64" name="Picture 6">
            <a:extLst>
              <a:ext uri="{FF2B5EF4-FFF2-40B4-BE49-F238E27FC236}">
                <a16:creationId xmlns:a16="http://schemas.microsoft.com/office/drawing/2014/main" id="{C571AD76-AFB0-06F4-5920-6C7D9CA1FA1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4138782"/>
            <a:ext cx="1138019" cy="560880"/>
          </a:xfrm>
          <a:prstGeom prst="rect">
            <a:avLst/>
          </a:prstGeom>
        </p:spPr>
      </p:pic>
      <p:grpSp>
        <p:nvGrpSpPr>
          <p:cNvPr id="65" name="Group 64">
            <a:extLst>
              <a:ext uri="{FF2B5EF4-FFF2-40B4-BE49-F238E27FC236}">
                <a16:creationId xmlns:a16="http://schemas.microsoft.com/office/drawing/2014/main" id="{34B14324-5385-CB5A-CD69-E2BCDD4D03CA}"/>
              </a:ext>
            </a:extLst>
          </p:cNvPr>
          <p:cNvGrpSpPr/>
          <p:nvPr/>
        </p:nvGrpSpPr>
        <p:grpSpPr>
          <a:xfrm>
            <a:off x="1885785" y="725150"/>
            <a:ext cx="546747" cy="6104935"/>
            <a:chOff x="2212484" y="1356882"/>
            <a:chExt cx="546747" cy="4126554"/>
          </a:xfrm>
        </p:grpSpPr>
        <p:sp>
          <p:nvSpPr>
            <p:cNvPr id="66" name="OTLSHAPE_T_e17f3958430f4cff8650518c93c7635e_StartDate">
              <a:extLst>
                <a:ext uri="{FF2B5EF4-FFF2-40B4-BE49-F238E27FC236}">
                  <a16:creationId xmlns:a16="http://schemas.microsoft.com/office/drawing/2014/main" id="{5AFDF2C1-63D9-7481-703C-F883105979E1}"/>
                </a:ext>
              </a:extLst>
            </p:cNvPr>
            <p:cNvSpPr txBox="1"/>
            <p:nvPr>
              <p:custDataLst>
                <p:tags r:id="rId10"/>
              </p:custDataLst>
            </p:nvPr>
          </p:nvSpPr>
          <p:spPr>
            <a:xfrm>
              <a:off x="2212484" y="1356882"/>
              <a:ext cx="546747" cy="208038"/>
            </a:xfrm>
            <a:prstGeom prst="rect">
              <a:avLst/>
            </a:prstGeom>
            <a:noFill/>
            <a:ln w="12700">
              <a:noFill/>
            </a:ln>
          </p:spPr>
          <p:txBody>
            <a:bodyPr vert="horz" wrap="square" lIns="0" tIns="0" rIns="0" bIns="0" rtlCol="0" anchor="ctr" anchorCtr="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We are here</a:t>
              </a:r>
              <a:endParaRPr kumimoji="0" lang="zh-CN" altLang="en-US"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endParaRPr>
            </a:p>
          </p:txBody>
        </p:sp>
        <p:cxnSp>
          <p:nvCxnSpPr>
            <p:cNvPr id="68" name="Straight Connector 47">
              <a:extLst>
                <a:ext uri="{FF2B5EF4-FFF2-40B4-BE49-F238E27FC236}">
                  <a16:creationId xmlns:a16="http://schemas.microsoft.com/office/drawing/2014/main" id="{AC9E3B62-BB3B-7EE3-9BBB-1E663704E199}"/>
                </a:ext>
              </a:extLst>
            </p:cNvPr>
            <p:cNvCxnSpPr>
              <a:cxnSpLocks/>
              <a:endCxn id="66" idx="2"/>
            </p:cNvCxnSpPr>
            <p:nvPr/>
          </p:nvCxnSpPr>
          <p:spPr bwMode="auto">
            <a:xfrm flipH="1" flipV="1">
              <a:off x="2485858" y="1564920"/>
              <a:ext cx="41506" cy="3918516"/>
            </a:xfrm>
            <a:prstGeom prst="line">
              <a:avLst/>
            </a:prstGeom>
            <a:solidFill>
              <a:schemeClr val="accent1"/>
            </a:solidFill>
            <a:ln w="6350" cap="flat" cmpd="sng" algn="ctr">
              <a:solidFill>
                <a:schemeClr val="tx2"/>
              </a:solidFill>
              <a:prstDash val="dash"/>
              <a:round/>
              <a:headEnd type="none" w="med" len="med"/>
              <a:tailEnd type="none" w="med" len="med"/>
            </a:ln>
            <a:effectLst/>
          </p:spPr>
        </p:cxnSp>
      </p:grpSp>
      <p:sp>
        <p:nvSpPr>
          <p:cNvPr id="69" name="Rectangle: Rounded Corners 43">
            <a:extLst>
              <a:ext uri="{FF2B5EF4-FFF2-40B4-BE49-F238E27FC236}">
                <a16:creationId xmlns:a16="http://schemas.microsoft.com/office/drawing/2014/main" id="{35195409-F50F-95AF-3313-7EE91C4F2ADD}"/>
              </a:ext>
            </a:extLst>
          </p:cNvPr>
          <p:cNvSpPr/>
          <p:nvPr/>
        </p:nvSpPr>
        <p:spPr>
          <a:xfrm>
            <a:off x="4297845" y="4285318"/>
            <a:ext cx="2051038" cy="28418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rtlCol="0" anchor="ctr" anchorCtr="0">
            <a:noAutofit/>
          </a:bodyPr>
          <a:lstStyle/>
          <a:p>
            <a:pPr defTabSz="1219170">
              <a:defRPr/>
            </a:pPr>
            <a:r>
              <a:rPr lang="en-US" sz="932" b="1" spc="-40">
                <a:solidFill>
                  <a:prstClr val="white"/>
                </a:solidFill>
                <a:latin typeface="Boehringer Forward Text"/>
              </a:rPr>
              <a:t>            Ph I mono Dose Escalation</a:t>
            </a:r>
            <a:endParaRPr lang="en-US" sz="932" i="1" spc="-40">
              <a:solidFill>
                <a:prstClr val="white"/>
              </a:solidFill>
              <a:latin typeface="Boehringer Forward Text"/>
            </a:endParaRP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1"/>
            </p:custDataLst>
          </p:nvPr>
        </p:nvSpPr>
        <p:spPr>
          <a:xfrm>
            <a:off x="3831687" y="4096357"/>
            <a:ext cx="910164" cy="138499"/>
          </a:xfrm>
          <a:prstGeom prst="rect">
            <a:avLst/>
          </a:prstGeom>
          <a:noFill/>
        </p:spPr>
        <p:txBody>
          <a:bodyPr vert="horz" wrap="square" lIns="0" tIns="0" rIns="0" bIns="0" rtlCol="0" anchor="ctr" anchorCtr="0">
            <a:spAutoFit/>
          </a:bodyPr>
          <a:lstStyle/>
          <a:p>
            <a:pPr algn="ctr" defTabSz="1219108">
              <a:defRPr/>
            </a:pPr>
            <a:r>
              <a:rPr lang="en-US" altLang="zh-CN" sz="900" b="1" i="1">
                <a:solidFill>
                  <a:srgbClr val="44546A"/>
                </a:solidFill>
                <a:ea typeface="等线" panose="02010600030101010101" pitchFamily="2" charset="-122"/>
                <a:cs typeface="Calibri" panose="020F0502020204030204" pitchFamily="34" charset="0"/>
              </a:rPr>
              <a:t>Q1 2027</a:t>
            </a:r>
            <a:endParaRPr lang="zh-CN" altLang="en-US" sz="900" b="1" i="1">
              <a:solidFill>
                <a:srgbClr val="44546A"/>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2"/>
            </p:custDataLst>
          </p:nvPr>
        </p:nvSpPr>
        <p:spPr bwMode="auto">
          <a:xfrm>
            <a:off x="3369338" y="4261628"/>
            <a:ext cx="933980"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600" b="1">
                <a:solidFill>
                  <a:srgbClr val="000000"/>
                </a:solidFill>
                <a:ea typeface="等线" panose="02010600030101010101" pitchFamily="2" charset="-122"/>
                <a:cs typeface="Calibri" panose="020F0502020204030204" pitchFamily="34" charset="0"/>
              </a:rPr>
              <a:t>CTA Review + EC + HGRAC + 1</a:t>
            </a:r>
            <a:r>
              <a:rPr lang="en-US" altLang="zh-CN" sz="600" b="1" baseline="30000">
                <a:solidFill>
                  <a:srgbClr val="000000"/>
                </a:solidFill>
                <a:ea typeface="等线" panose="02010600030101010101" pitchFamily="2" charset="-122"/>
                <a:cs typeface="Calibri" panose="020F0502020204030204" pitchFamily="34" charset="0"/>
              </a:rPr>
              <a:t>st</a:t>
            </a:r>
            <a:r>
              <a:rPr lang="en-US" altLang="zh-CN" sz="600" b="1">
                <a:solidFill>
                  <a:srgbClr val="000000"/>
                </a:solidFill>
                <a:ea typeface="等线" panose="02010600030101010101" pitchFamily="2" charset="-122"/>
                <a:cs typeface="Calibri" panose="020F0502020204030204" pitchFamily="34" charset="0"/>
              </a:rPr>
              <a:t> SIV</a:t>
            </a:r>
            <a:endParaRPr lang="zh-CN" altLang="en-US" sz="6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3"/>
            </p:custDataLst>
          </p:nvPr>
        </p:nvSpPr>
        <p:spPr>
          <a:xfrm>
            <a:off x="3057661" y="4094926"/>
            <a:ext cx="769043" cy="138499"/>
          </a:xfrm>
          <a:prstGeom prst="rect">
            <a:avLst/>
          </a:prstGeom>
          <a:noFill/>
        </p:spPr>
        <p:txBody>
          <a:bodyPr vert="horz" wrap="square" lIns="0" tIns="0" rIns="0" bIns="0" rtlCol="0" anchor="ctr" anchorCtr="0">
            <a:spAutoFit/>
          </a:bodyPr>
          <a:lstStyle/>
          <a:p>
            <a:pPr algn="ctr" defTabSz="1219108">
              <a:defRPr/>
            </a:pPr>
            <a:r>
              <a:rPr lang="en-US" altLang="zh-CN" sz="900" b="1" i="1">
                <a:solidFill>
                  <a:srgbClr val="44546A"/>
                </a:solidFill>
                <a:ea typeface="等线" panose="02010600030101010101" pitchFamily="2" charset="-122"/>
                <a:cs typeface="Calibri" panose="020F0502020204030204" pitchFamily="34" charset="0"/>
              </a:rPr>
              <a:t>Q2/3 2026</a:t>
            </a:r>
            <a:endParaRPr lang="zh-CN" altLang="en-US" sz="900" b="1" i="1">
              <a:solidFill>
                <a:srgbClr val="44546A"/>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4078862" y="4549919"/>
            <a:ext cx="626660" cy="230832"/>
          </a:xfrm>
          <a:prstGeom prst="rect">
            <a:avLst/>
          </a:prstGeom>
        </p:spPr>
        <p:txBody>
          <a:bodyPr wrap="square">
            <a:spAutoFit/>
          </a:bodyPr>
          <a:lstStyle/>
          <a:p>
            <a:pPr algn="ctr" defTabSz="1219108">
              <a:defRPr/>
            </a:pPr>
            <a:r>
              <a:rPr lang="en-US" altLang="zh-CN" sz="900" b="1">
                <a:solidFill>
                  <a:srgbClr val="44546A"/>
                </a:solidFill>
                <a:ea typeface="等线" panose="02010600030101010101" pitchFamily="2" charset="-122"/>
                <a:cs typeface="Calibri" panose="020F0502020204030204" pitchFamily="34" charset="0"/>
              </a:rPr>
              <a:t>1</a:t>
            </a:r>
            <a:r>
              <a:rPr lang="en-US" altLang="zh-CN" sz="900" b="1" baseline="30000">
                <a:solidFill>
                  <a:srgbClr val="44546A"/>
                </a:solidFill>
                <a:ea typeface="等线" panose="02010600030101010101" pitchFamily="2" charset="-122"/>
                <a:cs typeface="Calibri" panose="020F0502020204030204" pitchFamily="34" charset="0"/>
              </a:rPr>
              <a:t>st</a:t>
            </a:r>
            <a:r>
              <a:rPr lang="en-US" altLang="zh-CN" sz="900" b="1">
                <a:solidFill>
                  <a:srgbClr val="44546A"/>
                </a:solidFill>
                <a:ea typeface="等线" panose="02010600030101010101" pitchFamily="2" charset="-122"/>
                <a:cs typeface="Calibri" panose="020F0502020204030204" pitchFamily="34" charset="0"/>
              </a:rPr>
              <a:t> SIV</a:t>
            </a:r>
            <a:endParaRPr lang="zh-CN" altLang="en-US" sz="900" b="1">
              <a:solidFill>
                <a:srgbClr val="44546A"/>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4"/>
            </p:custDataLst>
          </p:nvPr>
        </p:nvSpPr>
        <p:spPr>
          <a:xfrm>
            <a:off x="3134015" y="4607510"/>
            <a:ext cx="928201" cy="138499"/>
          </a:xfrm>
          <a:prstGeom prst="rect">
            <a:avLst/>
          </a:prstGeom>
          <a:noFill/>
        </p:spPr>
        <p:txBody>
          <a:bodyPr vert="horz" wrap="square" lIns="0" tIns="0" rIns="0" bIns="0" rtlCol="0" anchor="ctr" anchorCtr="0">
            <a:spAutoFit/>
          </a:bodyPr>
          <a:lstStyle/>
          <a:p>
            <a:pPr defTabSz="1219108">
              <a:defRPr/>
            </a:pPr>
            <a:r>
              <a:rPr lang="en-US" altLang="zh-CN" sz="900" b="1">
                <a:solidFill>
                  <a:srgbClr val="44546A"/>
                </a:solidFill>
                <a:ea typeface="等线" panose="02010600030101010101" pitchFamily="2" charset="-122"/>
                <a:cs typeface="Calibri" panose="020F0502020204030204" pitchFamily="34" charset="0"/>
              </a:rPr>
              <a:t>CTA Sub</a:t>
            </a:r>
            <a:endParaRPr lang="zh-CN" altLang="en-US" sz="900"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4208771" y="446373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cxnSp>
        <p:nvCxnSpPr>
          <p:cNvPr id="79" name="Straight Arrow Connector 78">
            <a:extLst>
              <a:ext uri="{FF2B5EF4-FFF2-40B4-BE49-F238E27FC236}">
                <a16:creationId xmlns:a16="http://schemas.microsoft.com/office/drawing/2014/main" id="{376541BF-6604-CCDC-4A3C-117CADFD43EA}"/>
              </a:ext>
            </a:extLst>
          </p:cNvPr>
          <p:cNvCxnSpPr>
            <a:cxnSpLocks/>
          </p:cNvCxnSpPr>
          <p:nvPr/>
        </p:nvCxnSpPr>
        <p:spPr bwMode="gray">
          <a:xfrm flipV="1">
            <a:off x="3369338" y="4780751"/>
            <a:ext cx="0" cy="394948"/>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0" name="文本框 160">
            <a:extLst>
              <a:ext uri="{FF2B5EF4-FFF2-40B4-BE49-F238E27FC236}">
                <a16:creationId xmlns:a16="http://schemas.microsoft.com/office/drawing/2014/main" id="{B7954CEC-4F08-E9F2-EFBE-06A3DBCE9060}"/>
              </a:ext>
            </a:extLst>
          </p:cNvPr>
          <p:cNvSpPr txBox="1"/>
          <p:nvPr/>
        </p:nvSpPr>
        <p:spPr>
          <a:xfrm>
            <a:off x="2636658" y="5175699"/>
            <a:ext cx="1530008" cy="283837"/>
          </a:xfrm>
          <a:prstGeom prst="roundRect">
            <a:avLst/>
          </a:prstGeom>
          <a:solidFill>
            <a:schemeClr val="tx2"/>
          </a:solidFill>
          <a:ln>
            <a:solidFill>
              <a:srgbClr val="076D7E"/>
            </a:solidFill>
            <a:prstDash val="lgDash"/>
          </a:ln>
        </p:spPr>
        <p:txBody>
          <a:bodyPr wrap="square" rtlCol="0">
            <a:spAutoFit/>
          </a:bodyPr>
          <a:lstStyle/>
          <a:p>
            <a:pPr algn="ctr" defTabSz="1219170">
              <a:spcAft>
                <a:spcPts val="267"/>
              </a:spcAft>
              <a:defRPr/>
            </a:pPr>
            <a:r>
              <a:rPr lang="en-US" altLang="zh-CN" sz="1067" i="1">
                <a:cs typeface="Calibri" panose="020F0502020204030204" pitchFamily="34" charset="0"/>
              </a:rPr>
              <a:t>Global CTP + 1M</a:t>
            </a:r>
          </a:p>
        </p:txBody>
      </p:sp>
      <p:sp>
        <p:nvSpPr>
          <p:cNvPr id="81" name="Rectangle: Rounded Corners 43">
            <a:extLst>
              <a:ext uri="{FF2B5EF4-FFF2-40B4-BE49-F238E27FC236}">
                <a16:creationId xmlns:a16="http://schemas.microsoft.com/office/drawing/2014/main" id="{84537FC6-1EB2-097A-F333-A388A7BCB495}"/>
              </a:ext>
            </a:extLst>
          </p:cNvPr>
          <p:cNvSpPr/>
          <p:nvPr/>
        </p:nvSpPr>
        <p:spPr>
          <a:xfrm>
            <a:off x="4788575" y="5500626"/>
            <a:ext cx="3818053" cy="28418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rtlCol="0" anchor="ctr" anchorCtr="0">
            <a:noAutofit/>
          </a:bodyPr>
          <a:lstStyle/>
          <a:p>
            <a:pPr marL="95998" defTabSz="1219170">
              <a:defRPr/>
            </a:pPr>
            <a:r>
              <a:rPr lang="en-US" sz="932" b="1" spc="-40">
                <a:solidFill>
                  <a:prstClr val="white"/>
                </a:solidFill>
                <a:latin typeface="Boehringer Forward Text"/>
              </a:rPr>
              <a:t>Ph I  2L CRC combi + Cetuximab</a:t>
            </a:r>
            <a:endParaRPr lang="en-US" sz="932" i="1" spc="-40">
              <a:solidFill>
                <a:prstClr val="white"/>
              </a:solidFill>
              <a:latin typeface="Boehringer Forward Text"/>
            </a:endParaRPr>
          </a:p>
        </p:txBody>
      </p:sp>
      <p:cxnSp>
        <p:nvCxnSpPr>
          <p:cNvPr id="82" name="Verbinder: gewinkelt 61">
            <a:extLst>
              <a:ext uri="{FF2B5EF4-FFF2-40B4-BE49-F238E27FC236}">
                <a16:creationId xmlns:a16="http://schemas.microsoft.com/office/drawing/2014/main" id="{2B736681-C000-C47F-2655-B5CB9B25C965}"/>
              </a:ext>
            </a:extLst>
          </p:cNvPr>
          <p:cNvCxnSpPr>
            <a:cxnSpLocks/>
          </p:cNvCxnSpPr>
          <p:nvPr/>
        </p:nvCxnSpPr>
        <p:spPr bwMode="gray">
          <a:xfrm rot="16200000" flipH="1">
            <a:off x="4207817" y="5051208"/>
            <a:ext cx="1034615" cy="132029"/>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TLSHAPE_T_e17f3958430f4cff8650518c93c7635e_Shape">
            <a:extLst>
              <a:ext uri="{FF2B5EF4-FFF2-40B4-BE49-F238E27FC236}">
                <a16:creationId xmlns:a16="http://schemas.microsoft.com/office/drawing/2014/main" id="{4FF2D317-5ED6-B0F5-1914-BBCC47792271}"/>
              </a:ext>
            </a:extLst>
          </p:cNvPr>
          <p:cNvSpPr/>
          <p:nvPr>
            <p:custDataLst>
              <p:tags r:id="rId5"/>
            </p:custDataLst>
          </p:nvPr>
        </p:nvSpPr>
        <p:spPr bwMode="auto">
          <a:xfrm>
            <a:off x="2636658" y="4263864"/>
            <a:ext cx="731944" cy="288000"/>
          </a:xfrm>
          <a:prstGeom prst="roundRect">
            <a:avLst/>
          </a:prstGeom>
          <a:solidFill>
            <a:schemeClr val="bg1">
              <a:lumMod val="50000"/>
              <a:alpha val="20000"/>
            </a:schemeClr>
          </a:solidFill>
          <a:ln w="3175" cap="flat" cmpd="sng" algn="ctr">
            <a:solidFill>
              <a:schemeClr val="bg1"/>
            </a:solidFill>
            <a:prstDash val="sysDot"/>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600" b="1">
                <a:solidFill>
                  <a:srgbClr val="000000"/>
                </a:solidFill>
                <a:ea typeface="等线" panose="02010600030101010101" pitchFamily="2" charset="-122"/>
                <a:cs typeface="Calibri" panose="020F0502020204030204" pitchFamily="34" charset="0"/>
              </a:rPr>
              <a:t>Pre-IND (TBD)</a:t>
            </a:r>
            <a:endParaRPr lang="zh-CN" altLang="en-US" sz="600" b="1">
              <a:solidFill>
                <a:srgbClr val="000000"/>
              </a:solidFill>
              <a:ea typeface="等线" panose="02010600030101010101" pitchFamily="2" charset="-122"/>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9D9E97C0-CB52-CFC5-D6DE-F235C5E18BDF}"/>
              </a:ext>
            </a:extLst>
          </p:cNvPr>
          <p:cNvSpPr txBox="1"/>
          <p:nvPr>
            <p:custDataLst>
              <p:tags r:id="rId6"/>
            </p:custDataLst>
          </p:nvPr>
        </p:nvSpPr>
        <p:spPr>
          <a:xfrm>
            <a:off x="2352486" y="4090109"/>
            <a:ext cx="581008" cy="138499"/>
          </a:xfrm>
          <a:prstGeom prst="rect">
            <a:avLst/>
          </a:prstGeom>
          <a:noFill/>
        </p:spPr>
        <p:txBody>
          <a:bodyPr vert="horz" wrap="square" lIns="0" tIns="0" rIns="0" bIns="0" rtlCol="0" anchor="ctr" anchorCtr="0">
            <a:spAutoFit/>
          </a:bodyPr>
          <a:lstStyle/>
          <a:p>
            <a:pPr algn="ctr" defTabSz="1219108">
              <a:defRPr/>
            </a:pPr>
            <a:r>
              <a:rPr lang="en-US" altLang="zh-CN" sz="900" b="1" i="1">
                <a:solidFill>
                  <a:srgbClr val="44546A"/>
                </a:solidFill>
                <a:ea typeface="等线" panose="02010600030101010101" pitchFamily="2" charset="-122"/>
                <a:cs typeface="Calibri" panose="020F0502020204030204" pitchFamily="34" charset="0"/>
              </a:rPr>
              <a:t>Q2 2026</a:t>
            </a:r>
            <a:endParaRPr lang="zh-CN" altLang="en-US" sz="900" b="1" i="1">
              <a:solidFill>
                <a:srgbClr val="44546A"/>
              </a:solidFill>
              <a:ea typeface="等线" panose="02010600030101010101" pitchFamily="2" charset="-122"/>
              <a:cs typeface="Calibri" panose="020F0502020204030204" pitchFamily="34" charset="0"/>
            </a:endParaRPr>
          </a:p>
        </p:txBody>
      </p:sp>
      <p:sp>
        <p:nvSpPr>
          <p:cNvPr id="85" name="OTLSHAPE_M_39ea6ebc19a94c9fab6ef5006c31df58_Shape">
            <a:extLst>
              <a:ext uri="{FF2B5EF4-FFF2-40B4-BE49-F238E27FC236}">
                <a16:creationId xmlns:a16="http://schemas.microsoft.com/office/drawing/2014/main" id="{B23207A2-7A69-52B6-8D4A-F1169AE75382}"/>
              </a:ext>
            </a:extLst>
          </p:cNvPr>
          <p:cNvSpPr/>
          <p:nvPr>
            <p:custDataLst>
              <p:tags r:id="rId7"/>
            </p:custDataLst>
          </p:nvPr>
        </p:nvSpPr>
        <p:spPr bwMode="auto">
          <a:xfrm rot="16200000">
            <a:off x="2618220" y="449430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8"/>
            </p:custDataLst>
          </p:nvPr>
        </p:nvSpPr>
        <p:spPr bwMode="auto">
          <a:xfrm rot="16200000">
            <a:off x="3352693" y="4493140"/>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86" name="OTLSHAPE_M_39ea6ebc19a94c9fab6ef5006c31df58_Title">
            <a:extLst>
              <a:ext uri="{FF2B5EF4-FFF2-40B4-BE49-F238E27FC236}">
                <a16:creationId xmlns:a16="http://schemas.microsoft.com/office/drawing/2014/main" id="{92410C24-E34B-1DCF-2B85-78E3F8FB25D4}"/>
              </a:ext>
            </a:extLst>
          </p:cNvPr>
          <p:cNvSpPr txBox="1"/>
          <p:nvPr>
            <p:custDataLst>
              <p:tags r:id="rId9"/>
            </p:custDataLst>
          </p:nvPr>
        </p:nvSpPr>
        <p:spPr>
          <a:xfrm>
            <a:off x="2386608" y="4594302"/>
            <a:ext cx="555956" cy="276999"/>
          </a:xfrm>
          <a:prstGeom prst="rect">
            <a:avLst/>
          </a:prstGeom>
          <a:noFill/>
        </p:spPr>
        <p:txBody>
          <a:bodyPr vert="horz" wrap="square" lIns="0" tIns="0" rIns="0" bIns="0" rtlCol="0" anchor="ctr" anchorCtr="0">
            <a:spAutoFit/>
          </a:bodyPr>
          <a:lstStyle/>
          <a:p>
            <a:pPr algn="ctr" defTabSz="1219108">
              <a:defRPr/>
            </a:pPr>
            <a:r>
              <a:rPr lang="en-US" altLang="zh-CN" sz="900" b="1">
                <a:solidFill>
                  <a:srgbClr val="44546A"/>
                </a:solidFill>
                <a:ea typeface="等线" panose="02010600030101010101" pitchFamily="2" charset="-122"/>
                <a:cs typeface="Calibri" panose="020F0502020204030204" pitchFamily="34" charset="0"/>
              </a:rPr>
              <a:t>Pre-IND</a:t>
            </a:r>
          </a:p>
          <a:p>
            <a:pPr algn="ctr" defTabSz="1219108">
              <a:defRPr/>
            </a:pPr>
            <a:r>
              <a:rPr lang="en-US" altLang="zh-CN" sz="900" b="1">
                <a:solidFill>
                  <a:srgbClr val="44546A"/>
                </a:solidFill>
                <a:ea typeface="等线" panose="02010600030101010101" pitchFamily="2" charset="-122"/>
                <a:cs typeface="Calibri" panose="020F0502020204030204" pitchFamily="34" charset="0"/>
              </a:rPr>
              <a:t> Sub</a:t>
            </a:r>
            <a:endParaRPr lang="zh-CN" altLang="en-US" sz="900" b="1">
              <a:solidFill>
                <a:srgbClr val="44546A"/>
              </a:solidFill>
              <a:ea typeface="等线" panose="02010600030101010101" pitchFamily="2" charset="-122"/>
              <a:cs typeface="Calibri" panose="020F0502020204030204" pitchFamily="34" charset="0"/>
            </a:endParaRPr>
          </a:p>
        </p:txBody>
      </p:sp>
      <p:cxnSp>
        <p:nvCxnSpPr>
          <p:cNvPr id="87" name="Straight Arrow Connector 86">
            <a:extLst>
              <a:ext uri="{FF2B5EF4-FFF2-40B4-BE49-F238E27FC236}">
                <a16:creationId xmlns:a16="http://schemas.microsoft.com/office/drawing/2014/main" id="{ED760014-FAF8-CFC3-3058-10EDD9E500B3}"/>
              </a:ext>
            </a:extLst>
          </p:cNvPr>
          <p:cNvCxnSpPr>
            <a:cxnSpLocks/>
          </p:cNvCxnSpPr>
          <p:nvPr/>
        </p:nvCxnSpPr>
        <p:spPr bwMode="gray">
          <a:xfrm flipV="1">
            <a:off x="2240280" y="4676584"/>
            <a:ext cx="158582" cy="207813"/>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8" name="文本框 160">
            <a:extLst>
              <a:ext uri="{FF2B5EF4-FFF2-40B4-BE49-F238E27FC236}">
                <a16:creationId xmlns:a16="http://schemas.microsoft.com/office/drawing/2014/main" id="{FE100803-1952-4A3F-92B1-600828D084DD}"/>
              </a:ext>
            </a:extLst>
          </p:cNvPr>
          <p:cNvSpPr txBox="1"/>
          <p:nvPr/>
        </p:nvSpPr>
        <p:spPr>
          <a:xfrm>
            <a:off x="707986" y="4890863"/>
            <a:ext cx="1530008" cy="283837"/>
          </a:xfrm>
          <a:prstGeom prst="roundRect">
            <a:avLst/>
          </a:prstGeom>
          <a:solidFill>
            <a:schemeClr val="tx2"/>
          </a:solidFill>
          <a:ln>
            <a:solidFill>
              <a:srgbClr val="076D7E"/>
            </a:solidFill>
            <a:prstDash val="lgDash"/>
          </a:ln>
        </p:spPr>
        <p:txBody>
          <a:bodyPr wrap="square" rtlCol="0">
            <a:spAutoFit/>
          </a:bodyPr>
          <a:lstStyle/>
          <a:p>
            <a:pPr algn="ctr" defTabSz="1219170">
              <a:spcAft>
                <a:spcPts val="267"/>
              </a:spcAft>
              <a:defRPr/>
            </a:pPr>
            <a:r>
              <a:rPr lang="en-US" altLang="zh-CN" sz="1067" i="1">
                <a:cs typeface="Calibri" panose="020F0502020204030204" pitchFamily="34" charset="0"/>
              </a:rPr>
              <a:t>Global TDO + 1M</a:t>
            </a:r>
          </a:p>
        </p:txBody>
      </p:sp>
      <p:sp>
        <p:nvSpPr>
          <p:cNvPr id="2" name="文本框 160">
            <a:extLst>
              <a:ext uri="{FF2B5EF4-FFF2-40B4-BE49-F238E27FC236}">
                <a16:creationId xmlns:a16="http://schemas.microsoft.com/office/drawing/2014/main" id="{F8EBD097-A1EC-282B-E99C-088FDCF18A7F}"/>
              </a:ext>
            </a:extLst>
          </p:cNvPr>
          <p:cNvSpPr txBox="1"/>
          <p:nvPr/>
        </p:nvSpPr>
        <p:spPr>
          <a:xfrm>
            <a:off x="7685917" y="4227638"/>
            <a:ext cx="3884318" cy="732329"/>
          </a:xfrm>
          <a:prstGeom prst="roundRect">
            <a:avLst/>
          </a:prstGeom>
          <a:noFill/>
          <a:ln>
            <a:solidFill>
              <a:srgbClr val="076D7E"/>
            </a:solidFill>
            <a:prstDash val="lgDash"/>
          </a:ln>
        </p:spPr>
        <p:txBody>
          <a:bodyPr wrap="square" rtlCol="0">
            <a:spAutoFit/>
          </a:bodyPr>
          <a:lstStyle/>
          <a:p>
            <a:pPr defTabSz="1219170">
              <a:spcAft>
                <a:spcPts val="267"/>
              </a:spcAft>
              <a:defRPr/>
            </a:pPr>
            <a:r>
              <a:rPr lang="en-US" altLang="zh-CN" sz="1067">
                <a:cs typeface="Calibri" panose="020F0502020204030204" pitchFamily="34" charset="0"/>
              </a:rPr>
              <a:t>Two pending discussion topics:</a:t>
            </a:r>
          </a:p>
          <a:p>
            <a:pPr marL="171450" indent="-171450" defTabSz="1219170">
              <a:spcAft>
                <a:spcPts val="267"/>
              </a:spcAft>
              <a:buFont typeface="Arial" panose="020B0604020202020204" pitchFamily="34" charset="0"/>
              <a:buChar char="•"/>
              <a:defRPr/>
            </a:pPr>
            <a:r>
              <a:rPr lang="en-US" altLang="zh-CN" sz="1067">
                <a:cs typeface="Calibri" panose="020F0502020204030204" pitchFamily="34" charset="0"/>
              </a:rPr>
              <a:t>Biomarker strategy</a:t>
            </a:r>
          </a:p>
          <a:p>
            <a:pPr marL="171450" indent="-171450" defTabSz="1219170">
              <a:spcAft>
                <a:spcPts val="267"/>
              </a:spcAft>
              <a:buFont typeface="Arial" panose="020B0604020202020204" pitchFamily="34" charset="0"/>
              <a:buChar char="•"/>
              <a:defRPr/>
            </a:pPr>
            <a:r>
              <a:rPr lang="en-US" altLang="zh-CN" sz="1067">
                <a:cs typeface="Calibri" panose="020F0502020204030204" pitchFamily="34" charset="0"/>
              </a:rPr>
              <a:t>IMP shelf life</a:t>
            </a:r>
          </a:p>
        </p:txBody>
      </p:sp>
    </p:spTree>
    <p:extLst>
      <p:ext uri="{BB962C8B-B14F-4D97-AF65-F5344CB8AC3E}">
        <p14:creationId xmlns:p14="http://schemas.microsoft.com/office/powerpoint/2010/main" val="1719744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0654-7495-5509-02A6-FEA460D9C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5519E-62D5-5A8C-F8AD-C1A7593E507C}"/>
              </a:ext>
            </a:extLst>
          </p:cNvPr>
          <p:cNvSpPr>
            <a:spLocks noGrp="1"/>
          </p:cNvSpPr>
          <p:nvPr>
            <p:ph type="title"/>
          </p:nvPr>
        </p:nvSpPr>
        <p:spPr>
          <a:xfrm>
            <a:off x="519180" y="2464903"/>
            <a:ext cx="11447533" cy="834887"/>
          </a:xfrm>
        </p:spPr>
        <p:txBody>
          <a:bodyPr/>
          <a:lstStyle/>
          <a:p>
            <a:r>
              <a:rPr lang="en-US" altLang="zh-CN"/>
              <a:t>PMS &amp; RWE Studies</a:t>
            </a:r>
            <a:endParaRPr lang="en-US" altLang="zh-CN" b="0"/>
          </a:p>
        </p:txBody>
      </p:sp>
      <p:sp>
        <p:nvSpPr>
          <p:cNvPr id="4" name="Slide Number Placeholder 3">
            <a:extLst>
              <a:ext uri="{FF2B5EF4-FFF2-40B4-BE49-F238E27FC236}">
                <a16:creationId xmlns:a16="http://schemas.microsoft.com/office/drawing/2014/main" id="{B4E864EB-3204-8D5B-20CE-D780CC12AFE7}"/>
              </a:ext>
            </a:extLst>
          </p:cNvPr>
          <p:cNvSpPr>
            <a:spLocks noGrp="1"/>
          </p:cNvSpPr>
          <p:nvPr>
            <p:ph type="sldNum" sz="quarter" idx="16"/>
          </p:nvPr>
        </p:nvSpPr>
        <p:spPr/>
        <p:txBody>
          <a:bodyPr/>
          <a:lstStyle/>
          <a:p>
            <a:fld id="{8FF9B0DE-3FEB-4AA0-B465-B80EF7C1333D}" type="slidenum">
              <a:rPr lang="en-US" smtClean="0"/>
              <a:pPr/>
              <a:t>44</a:t>
            </a:fld>
            <a:endParaRPr lang="en-US"/>
          </a:p>
        </p:txBody>
      </p:sp>
    </p:spTree>
    <p:extLst>
      <p:ext uri="{BB962C8B-B14F-4D97-AF65-F5344CB8AC3E}">
        <p14:creationId xmlns:p14="http://schemas.microsoft.com/office/powerpoint/2010/main" val="1501559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3">
            <a:extLst>
              <a:ext uri="{FF2B5EF4-FFF2-40B4-BE49-F238E27FC236}">
                <a16:creationId xmlns:a16="http://schemas.microsoft.com/office/drawing/2014/main" id="{D36799D8-A4C3-4A7D-254E-1C76B87DD66C}"/>
              </a:ext>
            </a:extLst>
          </p:cNvPr>
          <p:cNvGraphicFramePr>
            <a:graphicFrameLocks/>
          </p:cNvGraphicFramePr>
          <p:nvPr>
            <p:extLst>
              <p:ext uri="{D42A27DB-BD31-4B8C-83A1-F6EECF244321}">
                <p14:modId xmlns:p14="http://schemas.microsoft.com/office/powerpoint/2010/main" val="4219499608"/>
              </p:ext>
            </p:extLst>
          </p:nvPr>
        </p:nvGraphicFramePr>
        <p:xfrm>
          <a:off x="214675" y="535154"/>
          <a:ext cx="11762653" cy="5942537"/>
        </p:xfrm>
        <a:graphic>
          <a:graphicData uri="http://schemas.openxmlformats.org/drawingml/2006/table">
            <a:tbl>
              <a:tblPr firstRow="1" bandRow="1">
                <a:tableStyleId>{21E4AEA4-8DFA-4A89-87EB-49C32662AFE0}</a:tableStyleId>
              </a:tblPr>
              <a:tblGrid>
                <a:gridCol w="970649">
                  <a:extLst>
                    <a:ext uri="{9D8B030D-6E8A-4147-A177-3AD203B41FA5}">
                      <a16:colId xmlns:a16="http://schemas.microsoft.com/office/drawing/2014/main" val="20000"/>
                    </a:ext>
                  </a:extLst>
                </a:gridCol>
                <a:gridCol w="1246598">
                  <a:extLst>
                    <a:ext uri="{9D8B030D-6E8A-4147-A177-3AD203B41FA5}">
                      <a16:colId xmlns:a16="http://schemas.microsoft.com/office/drawing/2014/main" val="20002"/>
                    </a:ext>
                  </a:extLst>
                </a:gridCol>
                <a:gridCol w="1809579">
                  <a:extLst>
                    <a:ext uri="{9D8B030D-6E8A-4147-A177-3AD203B41FA5}">
                      <a16:colId xmlns:a16="http://schemas.microsoft.com/office/drawing/2014/main" val="20003"/>
                    </a:ext>
                  </a:extLst>
                </a:gridCol>
                <a:gridCol w="792836">
                  <a:extLst>
                    <a:ext uri="{9D8B030D-6E8A-4147-A177-3AD203B41FA5}">
                      <a16:colId xmlns:a16="http://schemas.microsoft.com/office/drawing/2014/main" val="1174614292"/>
                    </a:ext>
                  </a:extLst>
                </a:gridCol>
                <a:gridCol w="1070937">
                  <a:extLst>
                    <a:ext uri="{9D8B030D-6E8A-4147-A177-3AD203B41FA5}">
                      <a16:colId xmlns:a16="http://schemas.microsoft.com/office/drawing/2014/main" val="4100973461"/>
                    </a:ext>
                  </a:extLst>
                </a:gridCol>
                <a:gridCol w="1158555">
                  <a:extLst>
                    <a:ext uri="{9D8B030D-6E8A-4147-A177-3AD203B41FA5}">
                      <a16:colId xmlns:a16="http://schemas.microsoft.com/office/drawing/2014/main" val="511735397"/>
                    </a:ext>
                  </a:extLst>
                </a:gridCol>
                <a:gridCol w="4472314">
                  <a:extLst>
                    <a:ext uri="{9D8B030D-6E8A-4147-A177-3AD203B41FA5}">
                      <a16:colId xmlns:a16="http://schemas.microsoft.com/office/drawing/2014/main" val="20006"/>
                    </a:ext>
                  </a:extLst>
                </a:gridCol>
                <a:gridCol w="241185">
                  <a:extLst>
                    <a:ext uri="{9D8B030D-6E8A-4147-A177-3AD203B41FA5}">
                      <a16:colId xmlns:a16="http://schemas.microsoft.com/office/drawing/2014/main" val="1531765474"/>
                    </a:ext>
                  </a:extLst>
                </a:gridCol>
              </a:tblGrid>
              <a:tr h="775568">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Product</a:t>
                      </a:r>
                      <a:endParaRPr lang="en-US" altLang="zh-CN" sz="1050" kern="1200">
                        <a:solidFill>
                          <a:schemeClr val="bg1"/>
                        </a:solidFill>
                        <a:latin typeface="Calibri"/>
                        <a:ea typeface="+mn-ea"/>
                        <a:cs typeface="+mn-cs"/>
                      </a:endParaRPr>
                    </a:p>
                  </a:txBody>
                  <a:tcPr marL="92810" marR="92810"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1200">
                          <a:solidFill>
                            <a:schemeClr val="bg1"/>
                          </a:solidFill>
                        </a:rPr>
                        <a:t>Indication</a:t>
                      </a:r>
                      <a:endParaRPr lang="en-US" sz="1050" kern="1200">
                        <a:solidFill>
                          <a:schemeClr val="bg1"/>
                        </a:solidFill>
                        <a:latin typeface="Calibri"/>
                        <a:ea typeface="+mn-ea"/>
                        <a:cs typeface="+mn-cs"/>
                      </a:endParaRPr>
                    </a:p>
                  </a:txBody>
                  <a:tcPr marL="92810" marR="92810"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a:t>
                      </a:r>
                      <a:r>
                        <a:rPr lang="en-US" altLang="zh-CN" sz="1050" kern="1200" baseline="0">
                          <a:solidFill>
                            <a:schemeClr val="bg1"/>
                          </a:solidFill>
                        </a:rPr>
                        <a:t> no.: FPI-LPO,CTR</a:t>
                      </a:r>
                      <a:r>
                        <a:rPr lang="en-US" altLang="zh-CN" sz="1050" kern="1200">
                          <a:solidFill>
                            <a:schemeClr val="bg1"/>
                          </a:solidFill>
                        </a:rPr>
                        <a:t>)</a:t>
                      </a:r>
                      <a:endParaRPr lang="zh-CN" altLang="en-US" sz="1050"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China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Dev. Strat.</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Current Status</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 Next Mile-stone</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Key Updates</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kern="1200">
                        <a:solidFill>
                          <a:schemeClr val="bg1"/>
                        </a:solidFill>
                        <a:latin typeface="Calibri"/>
                        <a:ea typeface="+mn-ea"/>
                        <a:cs typeface="+mn-cs"/>
                      </a:endParaRPr>
                    </a:p>
                  </a:txBody>
                  <a:tcPr marL="92810" marR="92810" anchor="ctr">
                    <a:solidFill>
                      <a:schemeClr val="bg2">
                        <a:lumMod val="75000"/>
                        <a:lumOff val="25000"/>
                      </a:schemeClr>
                    </a:solidFill>
                  </a:tcPr>
                </a:tc>
                <a:extLst>
                  <a:ext uri="{0D108BD9-81ED-4DB2-BD59-A6C34878D82A}">
                    <a16:rowId xmlns:a16="http://schemas.microsoft.com/office/drawing/2014/main" val="10000"/>
                  </a:ext>
                </a:extLst>
              </a:tr>
              <a:tr h="15511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Afatinib 30mg &amp; 40mg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Non-</a:t>
                      </a:r>
                      <a:r>
                        <a:rPr lang="en-US" altLang="zh-CN" sz="1000" kern="1200" err="1">
                          <a:solidFill>
                            <a:schemeClr val="tx1"/>
                          </a:solidFill>
                          <a:latin typeface="+mn-lt"/>
                          <a:ea typeface="+mn-ea"/>
                          <a:cs typeface="+mn-cs"/>
                        </a:rPr>
                        <a:t>SqCC</a:t>
                      </a:r>
                      <a:r>
                        <a:rPr lang="en-US" altLang="zh-CN" sz="1000" kern="1200">
                          <a:solidFill>
                            <a:schemeClr val="tx1"/>
                          </a:solidFill>
                          <a:latin typeface="+mn-lt"/>
                          <a:ea typeface="+mn-ea"/>
                          <a:cs typeface="+mn-cs"/>
                        </a:rPr>
                        <a:t> NSCLC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Neoadjuvant</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IIS (1200-0328):</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Jul.2020 - May.2022(stage 1), Apr.2025 (stage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Sep.2025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Follow up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(Apr 2026)</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(Apr 2026)</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1000" b="0" u="none" strike="noStrike" kern="1200" cap="none" spc="0" normalizeH="0" baseline="0">
                          <a:ln>
                            <a:noFill/>
                          </a:ln>
                          <a:solidFill>
                            <a:schemeClr val="tx1"/>
                          </a:solidFill>
                          <a:effectLst/>
                          <a:uLnTx/>
                          <a:uFillTx/>
                        </a:rPr>
                        <a:t>Enrollment completion on 9Feb2022</a:t>
                      </a:r>
                      <a:r>
                        <a:rPr lang="en-US" altLang="zh-CN" sz="1000" b="0" u="none" strike="noStrike" kern="1200" cap="none" spc="0" normalizeH="0" baseline="0">
                          <a:ln>
                            <a:noFill/>
                          </a:ln>
                          <a:solidFill>
                            <a:schemeClr val="tx1"/>
                          </a:solidFill>
                          <a:effectLst/>
                          <a:uLnTx/>
                          <a:uFillTx/>
                        </a:rPr>
                        <a:t> </a:t>
                      </a:r>
                      <a:r>
                        <a:rPr kumimoji="0" lang="en-US" altLang="zh-CN" sz="1000" b="0" u="none" strike="noStrike" kern="1200" cap="none" spc="0" normalizeH="0" baseline="0">
                          <a:ln>
                            <a:noFill/>
                          </a:ln>
                          <a:solidFill>
                            <a:schemeClr val="tx1"/>
                          </a:solidFill>
                          <a:effectLst/>
                          <a:uLnTx/>
                          <a:uFillTx/>
                        </a:rPr>
                        <a:t> ,total 47 patients enrolled</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1000" b="0" u="none" strike="noStrike" kern="1200" cap="none" spc="0" normalizeH="0" baseline="0">
                          <a:ln>
                            <a:noFill/>
                          </a:ln>
                          <a:solidFill>
                            <a:schemeClr val="tx1"/>
                          </a:solidFill>
                          <a:effectLst/>
                          <a:uLnTx/>
                          <a:uFillTx/>
                        </a:rPr>
                        <a:t>primary endpoint (stage 1) results has </a:t>
                      </a:r>
                      <a:r>
                        <a:rPr lang="en-US" altLang="zh-CN" sz="1000" b="0" u="none" strike="noStrike" kern="1200" cap="none" spc="0" normalizeH="0" baseline="0">
                          <a:ln>
                            <a:noFill/>
                          </a:ln>
                          <a:solidFill>
                            <a:schemeClr val="tx1"/>
                          </a:solidFill>
                          <a:effectLst/>
                          <a:uLnTx/>
                          <a:uFillTx/>
                        </a:rPr>
                        <a:t>reached: Abstract</a:t>
                      </a:r>
                      <a:r>
                        <a:rPr kumimoji="0" lang="en-US" altLang="zh-CN" sz="1000" b="0" u="none" strike="noStrike" kern="1200" cap="none" spc="0" normalizeH="0" baseline="0">
                          <a:ln>
                            <a:noFill/>
                          </a:ln>
                          <a:solidFill>
                            <a:schemeClr val="tx1"/>
                          </a:solidFill>
                          <a:effectLst/>
                          <a:uLnTx/>
                          <a:uFillTx/>
                        </a:rPr>
                        <a:t> has</a:t>
                      </a:r>
                      <a:r>
                        <a:rPr lang="en-US" altLang="zh-CN" sz="1000" b="0" u="none" strike="noStrike" kern="1200" cap="none" spc="0" normalizeH="0" baseline="0">
                          <a:ln>
                            <a:noFill/>
                          </a:ln>
                          <a:solidFill>
                            <a:schemeClr val="tx1"/>
                          </a:solidFill>
                          <a:effectLst/>
                          <a:uLnTx/>
                          <a:uFillTx/>
                        </a:rPr>
                        <a:t> </a:t>
                      </a:r>
                      <a:r>
                        <a:rPr kumimoji="0" lang="en-US" altLang="zh-CN" sz="1000" b="0" u="none" strike="noStrike" kern="1200" cap="none" spc="0" normalizeH="0" baseline="0">
                          <a:ln>
                            <a:noFill/>
                          </a:ln>
                          <a:solidFill>
                            <a:schemeClr val="tx1"/>
                          </a:solidFill>
                          <a:effectLst/>
                          <a:uLnTx/>
                          <a:uFillTx/>
                        </a:rPr>
                        <a:t> oral </a:t>
                      </a:r>
                      <a:r>
                        <a:rPr lang="en-US" altLang="zh-CN" sz="1000" b="0" u="none" strike="noStrike" kern="1200" cap="none" spc="0" normalizeH="0" baseline="0">
                          <a:ln>
                            <a:noFill/>
                          </a:ln>
                          <a:solidFill>
                            <a:schemeClr val="tx1"/>
                          </a:solidFill>
                          <a:effectLst/>
                          <a:uLnTx/>
                          <a:uFillTx/>
                        </a:rPr>
                        <a:t>presented</a:t>
                      </a:r>
                      <a:r>
                        <a:rPr kumimoji="0" lang="en-US" altLang="zh-CN" sz="1000" b="0" u="none" strike="noStrike" kern="1200" cap="none" spc="0" normalizeH="0" baseline="0">
                          <a:ln>
                            <a:noFill/>
                          </a:ln>
                          <a:solidFill>
                            <a:schemeClr val="tx1"/>
                          </a:solidFill>
                          <a:effectLst/>
                          <a:uLnTx/>
                          <a:uFillTx/>
                        </a:rPr>
                        <a:t> at 59th STS</a:t>
                      </a:r>
                      <a:r>
                        <a:rPr kumimoji="0" lang="zh-CN" altLang="en-US" sz="1000" b="0" u="none" strike="noStrike" kern="1200" cap="none" spc="0" normalizeH="0" baseline="0">
                          <a:ln>
                            <a:noFill/>
                          </a:ln>
                          <a:solidFill>
                            <a:schemeClr val="tx1"/>
                          </a:solidFill>
                          <a:effectLst/>
                          <a:uLnTx/>
                          <a:uFillTx/>
                        </a:rPr>
                        <a:t> </a:t>
                      </a:r>
                      <a:r>
                        <a:rPr kumimoji="0" lang="en-US" altLang="zh-CN" sz="1000" b="0" u="none" strike="noStrike" kern="1200" cap="none" spc="0" normalizeH="0" baseline="0">
                          <a:ln>
                            <a:noFill/>
                          </a:ln>
                          <a:solidFill>
                            <a:schemeClr val="tx1"/>
                          </a:solidFill>
                          <a:effectLst/>
                          <a:uLnTx/>
                          <a:uFillTx/>
                        </a:rPr>
                        <a:t>done in Jan 2023</a:t>
                      </a:r>
                      <a:r>
                        <a:rPr kumimoji="0" lang="zh-CN" altLang="en-US" sz="1000" b="0" u="none" strike="noStrike" kern="1200" cap="none" spc="0" normalizeH="0" baseline="0">
                          <a:ln>
                            <a:noFill/>
                          </a:ln>
                          <a:solidFill>
                            <a:schemeClr val="tx1"/>
                          </a:solidFill>
                          <a:effectLst/>
                          <a:uLnTx/>
                          <a:uFillTx/>
                        </a:rPr>
                        <a:t>，</a:t>
                      </a:r>
                      <a:r>
                        <a:rPr kumimoji="0" lang="en-US" altLang="zh-CN" sz="1000" b="0" u="none" strike="noStrike" kern="1200" cap="none" spc="0" normalizeH="0" baseline="0">
                          <a:ln>
                            <a:noFill/>
                          </a:ln>
                          <a:solidFill>
                            <a:schemeClr val="tx1"/>
                          </a:solidFill>
                          <a:effectLst/>
                          <a:uLnTx/>
                          <a:uFillTx/>
                        </a:rPr>
                        <a:t>Report </a:t>
                      </a:r>
                      <a:r>
                        <a:rPr lang="en-US" altLang="zh-CN" sz="1000" b="0" u="none" strike="noStrike" kern="1200" cap="none" spc="0" normalizeH="0" baseline="0">
                          <a:ln>
                            <a:noFill/>
                          </a:ln>
                          <a:solidFill>
                            <a:schemeClr val="tx1"/>
                          </a:solidFill>
                          <a:effectLst/>
                          <a:uLnTx/>
                          <a:uFillTx/>
                        </a:rPr>
                        <a:t> </a:t>
                      </a:r>
                      <a:r>
                        <a:rPr kumimoji="0" lang="en-US" altLang="zh-CN" sz="1000" b="0" u="none" strike="noStrike" kern="1200" cap="none" spc="0" normalizeH="0" baseline="0">
                          <a:ln>
                            <a:noFill/>
                          </a:ln>
                          <a:solidFill>
                            <a:schemeClr val="tx1"/>
                          </a:solidFill>
                          <a:effectLst/>
                          <a:uLnTx/>
                          <a:uFillTx/>
                        </a:rPr>
                        <a:t>accepted by Nature communications on 26July2023.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1000" b="0" u="none" strike="noStrike" kern="1200" cap="none" spc="0" normalizeH="0" baseline="0">
                          <a:ln>
                            <a:noFill/>
                          </a:ln>
                          <a:solidFill>
                            <a:schemeClr val="tx1"/>
                          </a:solidFill>
                          <a:effectLst/>
                          <a:uLnTx/>
                          <a:uFillTx/>
                        </a:rPr>
                        <a:t>DIM report submitted successfully in Aug2023</a:t>
                      </a:r>
                    </a:p>
                    <a:p>
                      <a:pPr marL="171450" marR="0" lvl="0" indent="-171450" algn="l">
                        <a:lnSpc>
                          <a:spcPct val="100000"/>
                        </a:lnSpc>
                        <a:spcBef>
                          <a:spcPts val="0"/>
                        </a:spcBef>
                        <a:spcAft>
                          <a:spcPts val="0"/>
                        </a:spcAft>
                        <a:buClrTx/>
                        <a:buSzTx/>
                        <a:buFont typeface="Wingdings" panose="05000000000000000000" pitchFamily="2" charset="2"/>
                        <a:buChar char="Ø"/>
                      </a:pPr>
                      <a:r>
                        <a:rPr kumimoji="0" lang="en-US" sz="1000" b="0" u="none" strike="noStrike" kern="1200" cap="none" spc="0" normalizeH="0" baseline="0" noProof="0">
                          <a:ln>
                            <a:noFill/>
                          </a:ln>
                          <a:solidFill>
                            <a:schemeClr val="tx1"/>
                          </a:solidFill>
                          <a:effectLst/>
                          <a:uLnTx/>
                          <a:uFillTx/>
                          <a:latin typeface="+mn-lt"/>
                          <a:ea typeface="+mn-ea"/>
                          <a:cs typeface="+mn-cs"/>
                        </a:rPr>
                        <a:t>The investigator request</a:t>
                      </a:r>
                      <a:r>
                        <a:rPr kumimoji="0" lang="en-US" altLang="zh-CN" sz="1000" b="0" u="none" strike="noStrike" kern="1200" cap="none" spc="0" normalizeH="0" baseline="0" noProof="0">
                          <a:ln>
                            <a:noFill/>
                          </a:ln>
                          <a:solidFill>
                            <a:schemeClr val="tx1"/>
                          </a:solidFill>
                          <a:effectLst/>
                          <a:uLnTx/>
                          <a:uFillTx/>
                          <a:latin typeface="+mn-lt"/>
                          <a:ea typeface="+mn-ea"/>
                          <a:cs typeface="+mn-cs"/>
                        </a:rPr>
                        <a:t>ed</a:t>
                      </a:r>
                      <a:r>
                        <a:rPr kumimoji="0" lang="en-US" sz="1000" b="0" u="none" strike="noStrike" kern="1200" cap="none" spc="0" normalizeH="0" baseline="0" noProof="0">
                          <a:ln>
                            <a:noFill/>
                          </a:ln>
                          <a:solidFill>
                            <a:schemeClr val="tx1"/>
                          </a:solidFill>
                          <a:effectLst/>
                          <a:uLnTx/>
                          <a:uFillTx/>
                          <a:latin typeface="+mn-lt"/>
                          <a:ea typeface="+mn-ea"/>
                          <a:cs typeface="+mn-cs"/>
                        </a:rPr>
                        <a:t> to extend study period from 30Sep 2025 to 30Sep 2026 </a:t>
                      </a:r>
                      <a:r>
                        <a:rPr kumimoji="0" lang="en-US" altLang="zh-CN" sz="1000" b="0" u="none" strike="noStrike" kern="1200" cap="none" spc="0" normalizeH="0" baseline="0" noProof="0">
                          <a:ln>
                            <a:noFill/>
                          </a:ln>
                          <a:solidFill>
                            <a:schemeClr val="tx1"/>
                          </a:solidFill>
                          <a:effectLst/>
                          <a:uLnTx/>
                          <a:uFillTx/>
                          <a:latin typeface="+mn-lt"/>
                          <a:ea typeface="+mn-ea"/>
                          <a:cs typeface="+mn-cs"/>
                        </a:rPr>
                        <a:t>and got CEC endorsement.</a:t>
                      </a:r>
                    </a:p>
                    <a:p>
                      <a:pPr marL="171450" marR="0" lvl="0" indent="-171450" algn="l">
                        <a:lnSpc>
                          <a:spcPct val="100000"/>
                        </a:lnSpc>
                        <a:spcBef>
                          <a:spcPts val="0"/>
                        </a:spcBef>
                        <a:spcAft>
                          <a:spcPts val="0"/>
                        </a:spcAft>
                        <a:buClrTx/>
                        <a:buSzTx/>
                        <a:buFont typeface="Wingdings" panose="05000000000000000000" pitchFamily="2" charset="2"/>
                        <a:buChar char="Ø"/>
                      </a:pPr>
                      <a:r>
                        <a:rPr lang="en-US" altLang="zh-CN" sz="1000" kern="1200" baseline="0" noProof="0">
                          <a:solidFill>
                            <a:schemeClr val="accent2">
                              <a:lumMod val="75000"/>
                            </a:schemeClr>
                          </a:solidFill>
                          <a:latin typeface="+mn-lt"/>
                          <a:ea typeface="+mn-ea"/>
                          <a:cs typeface="+mn-cs"/>
                        </a:rPr>
                        <a:t>Stage 2 follow-up is on track. </a:t>
                      </a:r>
                      <a:endParaRPr lang="en-US" sz="1000" kern="1200" baseline="0" noProof="0">
                        <a:solidFill>
                          <a:schemeClr val="accent2">
                            <a:lumMod val="75000"/>
                          </a:schemeClr>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2352455091"/>
                  </a:ext>
                </a:extLst>
              </a:tr>
              <a:tr h="7238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Afatinib 40mg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Chordoma</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IIS (1200-0329):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Oct.2022 – Dec.2025, Mar2026</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LPI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(Jan 2025)</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(Dec 2025)</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sz="1000" b="0" u="none" strike="noStrike" kern="1200" cap="none" spc="0" normalizeH="0" baseline="0" noProof="0">
                          <a:ln>
                            <a:noFill/>
                          </a:ln>
                          <a:solidFill>
                            <a:schemeClr val="dk1"/>
                          </a:solidFill>
                          <a:effectLst/>
                          <a:uLnTx/>
                          <a:uFillTx/>
                          <a:latin typeface="+mn-lt"/>
                          <a:ea typeface="+mn-ea"/>
                          <a:cs typeface="+mn-cs"/>
                        </a:rPr>
                        <a:t>Study agreement</a:t>
                      </a:r>
                      <a:r>
                        <a:rPr lang="en-US" altLang="zh-CN" sz="1000" b="0" u="none" strike="noStrike" kern="1200" cap="none" spc="0" normalizeH="0" baseline="0">
                          <a:ln>
                            <a:noFill/>
                          </a:ln>
                          <a:solidFill>
                            <a:schemeClr val="dk1"/>
                          </a:solidFill>
                          <a:effectLst/>
                          <a:uLnTx/>
                          <a:uFillTx/>
                          <a:latin typeface="+mn-lt"/>
                          <a:ea typeface="+mn-ea"/>
                          <a:cs typeface="+mn-cs"/>
                        </a:rPr>
                        <a:t> fully signed, SIV:30Sep2022</a:t>
                      </a:r>
                      <a:r>
                        <a:rPr lang="zh-CN" altLang="en-US" sz="1000" b="0" u="none" strike="noStrike" kern="1200" cap="none" spc="0" normalizeH="0" baseline="0">
                          <a:ln>
                            <a:noFill/>
                          </a:ln>
                          <a:solidFill>
                            <a:schemeClr val="dk1"/>
                          </a:solidFill>
                          <a:effectLst/>
                          <a:uLnTx/>
                          <a:uFillTx/>
                          <a:latin typeface="+mn-lt"/>
                          <a:ea typeface="+mn-ea"/>
                          <a:cs typeface="+mn-cs"/>
                        </a:rPr>
                        <a:t>（</a:t>
                      </a:r>
                      <a:r>
                        <a:rPr lang="en-US" altLang="zh-CN" sz="1000" b="0" u="none" strike="noStrike" kern="1200" cap="none" spc="0" normalizeH="0" baseline="0">
                          <a:ln>
                            <a:noFill/>
                          </a:ln>
                          <a:solidFill>
                            <a:schemeClr val="dk1"/>
                          </a:solidFill>
                          <a:effectLst/>
                          <a:uLnTx/>
                          <a:uFillTx/>
                          <a:latin typeface="+mn-lt"/>
                          <a:ea typeface="+mn-ea"/>
                          <a:cs typeface="+mn-cs"/>
                        </a:rPr>
                        <a:t>sample size: 20)</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000" b="0" u="none" strike="noStrike" kern="1200" cap="none" spc="0" normalizeH="0" baseline="0">
                          <a:ln>
                            <a:noFill/>
                          </a:ln>
                          <a:solidFill>
                            <a:schemeClr val="dk1"/>
                          </a:solidFill>
                          <a:effectLst/>
                          <a:uLnTx/>
                          <a:uFillTx/>
                          <a:latin typeface="+mn-lt"/>
                          <a:ea typeface="+mn-ea"/>
                          <a:cs typeface="+mn-cs"/>
                        </a:rPr>
                        <a:t>Actual recruit/ Planned recruit: 15/20 (by 31Jan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1000" b="0" u="none" strike="noStrike" kern="1200" cap="none" spc="0" normalizeH="0" baseline="0">
                          <a:ln>
                            <a:noFill/>
                          </a:ln>
                          <a:solidFill>
                            <a:schemeClr val="dk1"/>
                          </a:solidFill>
                          <a:effectLst/>
                          <a:uLnTx/>
                          <a:uFillTx/>
                          <a:latin typeface="+mn-lt"/>
                          <a:ea typeface="+mn-ea"/>
                          <a:cs typeface="+mn-cs"/>
                        </a:rPr>
                        <a:t>FPI:</a:t>
                      </a:r>
                      <a:r>
                        <a:rPr lang="zh-CN" altLang="en-US" sz="1000" b="0" u="none" strike="noStrike" kern="1200" cap="none" spc="0" normalizeH="0" baseline="0">
                          <a:ln>
                            <a:noFill/>
                          </a:ln>
                          <a:solidFill>
                            <a:schemeClr val="dk1"/>
                          </a:solidFill>
                          <a:effectLst/>
                          <a:uLnTx/>
                          <a:uFillTx/>
                          <a:latin typeface="+mn-lt"/>
                          <a:ea typeface="+mn-ea"/>
                          <a:cs typeface="+mn-cs"/>
                        </a:rPr>
                        <a:t> </a:t>
                      </a:r>
                      <a:r>
                        <a:rPr lang="en-US" altLang="zh-CN" sz="1000" b="0" u="none" strike="noStrike" kern="1200" cap="none" spc="0" normalizeH="0" baseline="0">
                          <a:ln>
                            <a:noFill/>
                          </a:ln>
                          <a:solidFill>
                            <a:schemeClr val="dk1"/>
                          </a:solidFill>
                          <a:effectLst/>
                          <a:uLnTx/>
                          <a:uFillTx/>
                          <a:latin typeface="+mn-lt"/>
                          <a:ea typeface="+mn-ea"/>
                          <a:cs typeface="+mn-cs"/>
                        </a:rPr>
                        <a:t>26Oct2022, LPI: 31Jan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1000" kern="1200" baseline="0">
                          <a:solidFill>
                            <a:schemeClr val="accent2">
                              <a:lumMod val="75000"/>
                            </a:schemeClr>
                          </a:solidFill>
                          <a:latin typeface="+mn-lt"/>
                          <a:ea typeface="+mn-ea"/>
                          <a:cs typeface="+mn-cs"/>
                        </a:rPr>
                        <a:t>Follow-up is on track</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3800218417"/>
                  </a:ext>
                </a:extLst>
              </a:tr>
              <a:tr h="13443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err="1">
                          <a:solidFill>
                            <a:schemeClr val="tx1"/>
                          </a:solidFill>
                          <a:latin typeface="+mn-lt"/>
                          <a:ea typeface="+mn-ea"/>
                          <a:cs typeface="+mn-cs"/>
                        </a:rPr>
                        <a:t>Obrixtamig</a:t>
                      </a:r>
                      <a:endParaRPr lang="en-US" altLang="zh-CN"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NEC&amp;SCLC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ECR</a:t>
                      </a:r>
                      <a:r>
                        <a:rPr lang="zh-CN" altLang="en-US" sz="1000" kern="1200">
                          <a:solidFill>
                            <a:schemeClr val="tx1"/>
                          </a:solidFill>
                          <a:latin typeface="+mn-lt"/>
                          <a:ea typeface="+mn-ea"/>
                          <a:cs typeface="+mn-cs"/>
                        </a:rPr>
                        <a:t>（</a:t>
                      </a:r>
                      <a:r>
                        <a:rPr lang="en-US" altLang="zh-CN" sz="1000" kern="1200">
                          <a:solidFill>
                            <a:schemeClr val="tx1"/>
                          </a:solidFill>
                          <a:latin typeface="+mn-lt"/>
                          <a:ea typeface="+mn-ea"/>
                          <a:cs typeface="+mn-cs"/>
                        </a:rPr>
                        <a:t>1438-0032</a:t>
                      </a:r>
                      <a:r>
                        <a:rPr lang="zh-CN" altLang="en-US" sz="1000" kern="1200">
                          <a:solidFill>
                            <a:schemeClr val="tx1"/>
                          </a:solidFill>
                          <a:latin typeface="+mn-lt"/>
                          <a:ea typeface="+mn-ea"/>
                          <a:cs typeface="+mn-cs"/>
                        </a:rPr>
                        <a:t>）</a:t>
                      </a:r>
                      <a:endParaRPr lang="en-US" altLang="zh-CN" sz="1000" kern="120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Jan 2026- Dec 2026, Oct 2027 or Mar 2026-May 2027, Mar 2028</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EC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(12Nov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Data collection starts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(Dec 2025)</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Local CEC endorsed in Oct 2024.</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1st round hybrid review was completed on 5Nov, and the final decision is "Eligible for Re-Submission.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The kickoff meeting was held on 2Sep.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The contract was signed on 21Sep.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000" kern="1200" baseline="0">
                          <a:solidFill>
                            <a:schemeClr val="accent2">
                              <a:lumMod val="75000"/>
                            </a:schemeClr>
                          </a:solidFill>
                          <a:latin typeface="+mn-lt"/>
                          <a:ea typeface="+mn-ea"/>
                          <a:cs typeface="+mn-cs"/>
                        </a:rPr>
                        <a:t>Got EC approval letter on 25Nov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9933"/>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3122708058"/>
                  </a:ext>
                </a:extLst>
              </a:tr>
              <a:tr h="5570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Zongertinib</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ECR(1479-0042)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Dec2025-Apr 2026, Mar 2027</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Data collection starts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(26Nov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Data collection ends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(Feb 2026)</a:t>
                      </a: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CEC endorsed in Dec 2024.</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Global released was completed on 24 Mar 2025.Kick off meeting was held on 24Apr.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Protocol was approved in Aug.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000" b="0" u="none" strike="noStrike" kern="1200" cap="none" spc="0" normalizeH="0" baseline="0">
                          <a:ln>
                            <a:noFill/>
                          </a:ln>
                          <a:solidFill>
                            <a:schemeClr val="tx1"/>
                          </a:solidFill>
                          <a:effectLst/>
                          <a:uLnTx/>
                          <a:uFillTx/>
                          <a:latin typeface="+mn-lt"/>
                          <a:ea typeface="+mn-ea"/>
                          <a:cs typeface="+mn-cs"/>
                        </a:rPr>
                        <a:t>The contract was signed on 17Sep.</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1000" kern="1200" baseline="0">
                          <a:solidFill>
                            <a:schemeClr val="accent2">
                              <a:lumMod val="75000"/>
                            </a:schemeClr>
                          </a:solidFill>
                          <a:latin typeface="+mn-lt"/>
                          <a:ea typeface="+mn-ea"/>
                          <a:cs typeface="+mn-cs"/>
                        </a:rPr>
                        <a:t>Got EC approval letter on 26Nov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chemeClr val="tx2">
                            <a:lumMod val="75000"/>
                          </a:schemeClr>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2819003307"/>
                  </a:ext>
                </a:extLst>
              </a:tr>
              <a:tr h="5570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Zongertinib</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IIS </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CEC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PEC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(Dec 2025)</a:t>
                      </a:r>
                    </a:p>
                  </a:txBody>
                  <a:tcPr marL="92810" marR="92810" marT="38100" marB="38100"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1000" kern="1200" baseline="0">
                          <a:solidFill>
                            <a:schemeClr val="accent2">
                              <a:lumMod val="75000"/>
                            </a:schemeClr>
                          </a:solidFill>
                          <a:latin typeface="+mn-lt"/>
                          <a:ea typeface="+mn-ea"/>
                          <a:cs typeface="+mn-cs"/>
                        </a:rPr>
                        <a:t>CEC endorsed in Nov 2025.</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chemeClr val="tx2">
                            <a:lumMod val="75000"/>
                          </a:schemeClr>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2760402926"/>
                  </a:ext>
                </a:extLst>
              </a:tr>
            </a:tbl>
          </a:graphicData>
        </a:graphic>
      </p:graphicFrame>
      <p:sp>
        <p:nvSpPr>
          <p:cNvPr id="8" name="标题 4"/>
          <p:cNvSpPr>
            <a:spLocks noGrp="1"/>
          </p:cNvSpPr>
          <p:nvPr>
            <p:ph type="title"/>
          </p:nvPr>
        </p:nvSpPr>
        <p:spPr>
          <a:xfrm>
            <a:off x="214672" y="136973"/>
            <a:ext cx="11233151" cy="482788"/>
          </a:xfrm>
        </p:spPr>
        <p:txBody>
          <a:bodyPr/>
          <a:lstStyle/>
          <a:p>
            <a:r>
              <a:rPr lang="en-US" altLang="zh-CN"/>
              <a:t>Oncology TA Overview - IIS &amp; ECR</a:t>
            </a:r>
            <a:endParaRPr lang="zh-CN" altLang="en-US"/>
          </a:p>
        </p:txBody>
      </p:sp>
      <p:sp>
        <p:nvSpPr>
          <p:cNvPr id="4" name="灯片编号占位符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333" b="0" i="0" u="none" strike="noStrike" kern="1200" cap="none" spc="0" normalizeH="0" baseline="0" noProof="0" smtClean="0">
                <a:ln>
                  <a:noFill/>
                </a:ln>
                <a:solidFill>
                  <a:srgbClr val="FFFFFF">
                    <a:lumMod val="50000"/>
                  </a:srgbClr>
                </a:solidFill>
                <a:effectLst/>
                <a:uLnTx/>
                <a:uFillTx/>
                <a:latin typeface="BISansOptiCond"/>
                <a:ea typeface="+mn-ea"/>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333" b="0" i="0" u="none" strike="noStrike" kern="1200" cap="none" spc="0" normalizeH="0" baseline="0" noProof="0">
              <a:ln>
                <a:noFill/>
              </a:ln>
              <a:solidFill>
                <a:srgbClr val="FFFFFF">
                  <a:lumMod val="50000"/>
                </a:srgbClr>
              </a:solidFill>
              <a:effectLst/>
              <a:uLnTx/>
              <a:uFillTx/>
              <a:latin typeface="BISansOptiCond"/>
              <a:ea typeface="+mn-ea"/>
            </a:endParaRPr>
          </a:p>
        </p:txBody>
      </p:sp>
      <p:pic>
        <p:nvPicPr>
          <p:cNvPr id="2" name="图片 1">
            <a:extLst>
              <a:ext uri="{FF2B5EF4-FFF2-40B4-BE49-F238E27FC236}">
                <a16:creationId xmlns:a16="http://schemas.microsoft.com/office/drawing/2014/main" id="{32997402-D236-8347-9284-AFD7A4D208DD}"/>
              </a:ext>
            </a:extLst>
          </p:cNvPr>
          <p:cNvPicPr>
            <a:picLocks noChangeAspect="1"/>
          </p:cNvPicPr>
          <p:nvPr/>
        </p:nvPicPr>
        <p:blipFill>
          <a:blip r:embed="rId3"/>
          <a:stretch>
            <a:fillRect/>
          </a:stretch>
        </p:blipFill>
        <p:spPr>
          <a:xfrm>
            <a:off x="11810788" y="2096688"/>
            <a:ext cx="115834" cy="109738"/>
          </a:xfrm>
          <a:prstGeom prst="rect">
            <a:avLst/>
          </a:prstGeom>
        </p:spPr>
      </p:pic>
      <p:pic>
        <p:nvPicPr>
          <p:cNvPr id="3" name="图片 2">
            <a:extLst>
              <a:ext uri="{FF2B5EF4-FFF2-40B4-BE49-F238E27FC236}">
                <a16:creationId xmlns:a16="http://schemas.microsoft.com/office/drawing/2014/main" id="{5062E37B-6B64-5ACE-CE86-65F8B415308F}"/>
              </a:ext>
            </a:extLst>
          </p:cNvPr>
          <p:cNvPicPr>
            <a:picLocks noChangeAspect="1"/>
          </p:cNvPicPr>
          <p:nvPr/>
        </p:nvPicPr>
        <p:blipFill>
          <a:blip r:embed="rId3"/>
          <a:stretch>
            <a:fillRect/>
          </a:stretch>
        </p:blipFill>
        <p:spPr>
          <a:xfrm>
            <a:off x="11810788" y="5479939"/>
            <a:ext cx="115834" cy="109738"/>
          </a:xfrm>
          <a:prstGeom prst="rect">
            <a:avLst/>
          </a:prstGeom>
        </p:spPr>
      </p:pic>
      <p:pic>
        <p:nvPicPr>
          <p:cNvPr id="5" name="图片 4">
            <a:extLst>
              <a:ext uri="{FF2B5EF4-FFF2-40B4-BE49-F238E27FC236}">
                <a16:creationId xmlns:a16="http://schemas.microsoft.com/office/drawing/2014/main" id="{5AFA3A35-39A4-2F9C-B63B-C3B160AEE992}"/>
              </a:ext>
            </a:extLst>
          </p:cNvPr>
          <p:cNvPicPr>
            <a:picLocks noChangeAspect="1"/>
          </p:cNvPicPr>
          <p:nvPr/>
        </p:nvPicPr>
        <p:blipFill>
          <a:blip r:embed="rId3"/>
          <a:stretch>
            <a:fillRect/>
          </a:stretch>
        </p:blipFill>
        <p:spPr>
          <a:xfrm>
            <a:off x="11810788" y="3173027"/>
            <a:ext cx="115834" cy="109738"/>
          </a:xfrm>
          <a:prstGeom prst="rect">
            <a:avLst/>
          </a:prstGeom>
        </p:spPr>
      </p:pic>
      <p:pic>
        <p:nvPicPr>
          <p:cNvPr id="7" name="图片 6">
            <a:extLst>
              <a:ext uri="{FF2B5EF4-FFF2-40B4-BE49-F238E27FC236}">
                <a16:creationId xmlns:a16="http://schemas.microsoft.com/office/drawing/2014/main" id="{738DDA60-E126-0400-DFDA-04A06A2E5220}"/>
              </a:ext>
            </a:extLst>
          </p:cNvPr>
          <p:cNvPicPr>
            <a:picLocks noChangeAspect="1"/>
          </p:cNvPicPr>
          <p:nvPr/>
        </p:nvPicPr>
        <p:blipFill>
          <a:blip r:embed="rId3"/>
          <a:stretch>
            <a:fillRect/>
          </a:stretch>
        </p:blipFill>
        <p:spPr>
          <a:xfrm>
            <a:off x="11798389" y="4259363"/>
            <a:ext cx="115834" cy="109738"/>
          </a:xfrm>
          <a:prstGeom prst="rect">
            <a:avLst/>
          </a:prstGeom>
        </p:spPr>
      </p:pic>
      <p:pic>
        <p:nvPicPr>
          <p:cNvPr id="6" name="图片 5">
            <a:extLst>
              <a:ext uri="{FF2B5EF4-FFF2-40B4-BE49-F238E27FC236}">
                <a16:creationId xmlns:a16="http://schemas.microsoft.com/office/drawing/2014/main" id="{3C78BA8F-0134-AE6F-59F4-DA03BA2F1134}"/>
              </a:ext>
            </a:extLst>
          </p:cNvPr>
          <p:cNvPicPr>
            <a:picLocks noChangeAspect="1"/>
          </p:cNvPicPr>
          <p:nvPr/>
        </p:nvPicPr>
        <p:blipFill>
          <a:blip r:embed="rId3"/>
          <a:stretch>
            <a:fillRect/>
          </a:stretch>
        </p:blipFill>
        <p:spPr>
          <a:xfrm>
            <a:off x="11798804" y="6166595"/>
            <a:ext cx="115834" cy="109738"/>
          </a:xfrm>
          <a:prstGeom prst="rect">
            <a:avLst/>
          </a:prstGeom>
        </p:spPr>
      </p:pic>
    </p:spTree>
    <p:extLst>
      <p:ext uri="{BB962C8B-B14F-4D97-AF65-F5344CB8AC3E}">
        <p14:creationId xmlns:p14="http://schemas.microsoft.com/office/powerpoint/2010/main" val="5775805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7042D6-B283-061A-C5C2-2983B1AC3A86}"/>
              </a:ext>
            </a:extLst>
          </p:cNvPr>
          <p:cNvSpPr>
            <a:spLocks noGrp="1"/>
          </p:cNvSpPr>
          <p:nvPr>
            <p:ph type="sldNum" sz="quarter" idx="11"/>
          </p:nvPr>
        </p:nvSpPr>
        <p:spPr/>
        <p:txBody>
          <a:bodyPr/>
          <a:lstStyle/>
          <a:p>
            <a:fld id="{8FF9B0DE-3FEB-4AA0-B465-B80EF7C1333D}" type="slidenum">
              <a:rPr lang="en-US" smtClean="0"/>
              <a:pPr/>
              <a:t>46</a:t>
            </a:fld>
            <a:endParaRPr lang="en-US"/>
          </a:p>
        </p:txBody>
      </p:sp>
      <p:sp>
        <p:nvSpPr>
          <p:cNvPr id="5" name="标题 1">
            <a:extLst>
              <a:ext uri="{FF2B5EF4-FFF2-40B4-BE49-F238E27FC236}">
                <a16:creationId xmlns:a16="http://schemas.microsoft.com/office/drawing/2014/main" id="{F8630775-0D4E-020A-6A20-5B27FB678F3A}"/>
              </a:ext>
            </a:extLst>
          </p:cNvPr>
          <p:cNvSpPr>
            <a:spLocks noGrp="1"/>
          </p:cNvSpPr>
          <p:nvPr>
            <p:ph type="title"/>
          </p:nvPr>
        </p:nvSpPr>
        <p:spPr>
          <a:xfrm>
            <a:off x="479376" y="256862"/>
            <a:ext cx="9989990" cy="720000"/>
          </a:xfrm>
        </p:spPr>
        <p:txBody>
          <a:bodyPr/>
          <a:lstStyle/>
          <a:p>
            <a:r>
              <a:rPr lang="en-US" altLang="zh-CN" err="1"/>
              <a:t>Zongertinib</a:t>
            </a:r>
            <a:r>
              <a:rPr lang="en-US" altLang="zh-CN"/>
              <a:t> ECR Study timeline Acceleration</a:t>
            </a:r>
            <a:br>
              <a:rPr lang="en-US" altLang="zh-CN"/>
            </a:br>
            <a:r>
              <a:rPr lang="en-US" altLang="zh-CN" sz="2000"/>
              <a:t>Aim to has CTR ready by Jul 30, 2026</a:t>
            </a:r>
            <a:endParaRPr lang="zh-CN" altLang="en-US"/>
          </a:p>
        </p:txBody>
      </p:sp>
      <p:graphicFrame>
        <p:nvGraphicFramePr>
          <p:cNvPr id="8" name="内容占位符 7">
            <a:extLst>
              <a:ext uri="{FF2B5EF4-FFF2-40B4-BE49-F238E27FC236}">
                <a16:creationId xmlns:a16="http://schemas.microsoft.com/office/drawing/2014/main" id="{D0240D8D-318B-9CCB-6DA1-DD7D96E00812}"/>
              </a:ext>
            </a:extLst>
          </p:cNvPr>
          <p:cNvGraphicFramePr>
            <a:graphicFrameLocks/>
          </p:cNvGraphicFramePr>
          <p:nvPr/>
        </p:nvGraphicFramePr>
        <p:xfrm>
          <a:off x="1965652" y="1446157"/>
          <a:ext cx="6528283" cy="4185019"/>
        </p:xfrm>
        <a:graphic>
          <a:graphicData uri="http://schemas.openxmlformats.org/drawingml/2006/table">
            <a:tbl>
              <a:tblPr firstRow="1" firstCol="1" bandRow="1">
                <a:tableStyleId>{3B4B98B0-60AC-42C2-AFA5-B58CD77FA1E5}</a:tableStyleId>
              </a:tblPr>
              <a:tblGrid>
                <a:gridCol w="2067664">
                  <a:extLst>
                    <a:ext uri="{9D8B030D-6E8A-4147-A177-3AD203B41FA5}">
                      <a16:colId xmlns:a16="http://schemas.microsoft.com/office/drawing/2014/main" val="2718335937"/>
                    </a:ext>
                  </a:extLst>
                </a:gridCol>
                <a:gridCol w="1212565">
                  <a:extLst>
                    <a:ext uri="{9D8B030D-6E8A-4147-A177-3AD203B41FA5}">
                      <a16:colId xmlns:a16="http://schemas.microsoft.com/office/drawing/2014/main" val="1012730537"/>
                    </a:ext>
                  </a:extLst>
                </a:gridCol>
                <a:gridCol w="1252898">
                  <a:extLst>
                    <a:ext uri="{9D8B030D-6E8A-4147-A177-3AD203B41FA5}">
                      <a16:colId xmlns:a16="http://schemas.microsoft.com/office/drawing/2014/main" val="1649133538"/>
                    </a:ext>
                  </a:extLst>
                </a:gridCol>
                <a:gridCol w="1995156">
                  <a:extLst>
                    <a:ext uri="{9D8B030D-6E8A-4147-A177-3AD203B41FA5}">
                      <a16:colId xmlns:a16="http://schemas.microsoft.com/office/drawing/2014/main" val="4091012340"/>
                    </a:ext>
                  </a:extLst>
                </a:gridCol>
              </a:tblGrid>
              <a:tr h="316391">
                <a:tc>
                  <a:txBody>
                    <a:bodyPr/>
                    <a:lstStyle/>
                    <a:p>
                      <a:pPr algn="just"/>
                      <a:r>
                        <a:rPr lang="en-US" sz="1100" kern="100">
                          <a:effectLst/>
                        </a:rPr>
                        <a:t>Milestones</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a:effectLst/>
                        </a:rPr>
                        <a:t>Base case</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Acc. case</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100" b="1" kern="100">
                          <a:solidFill>
                            <a:schemeClr val="tx1"/>
                          </a:solidFill>
                          <a:effectLst/>
                          <a:latin typeface="+mn-lt"/>
                          <a:ea typeface="+mn-ea"/>
                          <a:cs typeface="+mn-cs"/>
                        </a:rPr>
                        <a:t>Actual</a:t>
                      </a:r>
                      <a:endParaRPr lang="zh-CN" altLang="en-US" sz="1100" b="1" kern="10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039613929"/>
                  </a:ext>
                </a:extLst>
              </a:tr>
              <a:tr h="316391">
                <a:tc>
                  <a:txBody>
                    <a:bodyPr/>
                    <a:lstStyle/>
                    <a:p>
                      <a:pPr marL="0" algn="l" defTabSz="913532" rtl="0" eaLnBrk="1" latinLnBrk="0" hangingPunct="1"/>
                      <a:r>
                        <a:rPr lang="en-US" altLang="zh-CN" sz="1100" b="0" kern="100">
                          <a:solidFill>
                            <a:schemeClr val="tx1"/>
                          </a:solidFill>
                          <a:effectLst/>
                          <a:latin typeface="+mn-lt"/>
                          <a:ea typeface="+mn-ea"/>
                          <a:cs typeface="+mn-cs"/>
                        </a:rPr>
                        <a:t>Local CEC endorsement</a:t>
                      </a:r>
                      <a:endParaRPr lang="zh-CN" altLang="en-US" sz="1100" b="0" kern="100">
                        <a:solidFill>
                          <a:schemeClr val="tx1"/>
                        </a:solidFill>
                        <a:effectLst/>
                        <a:latin typeface="+mn-lt"/>
                        <a:ea typeface="+mn-ea"/>
                        <a:cs typeface="+mn-cs"/>
                      </a:endParaRPr>
                    </a:p>
                  </a:txBody>
                  <a:tcPr marL="68580" marR="68580" marT="0" marB="0" anchor="ctr"/>
                </a:tc>
                <a:tc>
                  <a:txBody>
                    <a:bodyPr/>
                    <a:lstStyle/>
                    <a:p>
                      <a:pPr marL="0" algn="ctr" defTabSz="913532" rtl="0" eaLnBrk="1" latinLnBrk="0" hangingPunct="1"/>
                      <a:endParaRPr lang="zh-CN" altLang="en-US" sz="1100" b="0" kern="100">
                        <a:solidFill>
                          <a:schemeClr val="tx1"/>
                        </a:solidFill>
                        <a:effectLst/>
                        <a:latin typeface="+mn-lt"/>
                        <a:ea typeface="+mn-ea"/>
                        <a:cs typeface="+mn-cs"/>
                      </a:endParaRPr>
                    </a:p>
                  </a:txBody>
                  <a:tcPr marL="68580" marR="68580" marT="0" marB="0" anchor="ctr"/>
                </a:tc>
                <a:tc>
                  <a:txBody>
                    <a:bodyPr/>
                    <a:lstStyle/>
                    <a:p>
                      <a:pPr marL="0" algn="ctr" defTabSz="913532" rtl="0" eaLnBrk="1" latinLnBrk="0" hangingPunct="1"/>
                      <a:endParaRPr lang="zh-CN" altLang="en-US" sz="1100" b="0" kern="100">
                        <a:solidFill>
                          <a:schemeClr val="tx1"/>
                        </a:solidFill>
                        <a:effectLst/>
                        <a:latin typeface="+mn-lt"/>
                        <a:ea typeface="+mn-ea"/>
                        <a:cs typeface="+mn-cs"/>
                      </a:endParaRPr>
                    </a:p>
                  </a:txBody>
                  <a:tcPr marL="68580" marR="68580" marT="0" marB="0" anchor="ctr"/>
                </a:tc>
                <a:tc>
                  <a:txBody>
                    <a:bodyPr/>
                    <a:lstStyle/>
                    <a:p>
                      <a:pPr marL="0" algn="ctr" defTabSz="913532" rtl="0" eaLnBrk="1" latinLnBrk="0" hangingPunct="1"/>
                      <a:r>
                        <a:rPr lang="en-US" altLang="zh-CN" sz="1100" b="0" kern="100">
                          <a:solidFill>
                            <a:schemeClr val="tx1"/>
                          </a:solidFill>
                          <a:effectLst/>
                          <a:latin typeface="+mn-lt"/>
                          <a:ea typeface="+mn-ea"/>
                          <a:cs typeface="+mn-cs"/>
                        </a:rPr>
                        <a:t>24 Dec</a:t>
                      </a:r>
                      <a:endParaRPr lang="zh-CN" altLang="en-US" sz="1100" b="0" kern="10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3642483411"/>
                  </a:ext>
                </a:extLst>
              </a:tr>
              <a:tr h="316391">
                <a:tc>
                  <a:txBody>
                    <a:bodyPr/>
                    <a:lstStyle/>
                    <a:p>
                      <a:pPr algn="l"/>
                      <a:r>
                        <a:rPr lang="en-US" sz="1100" b="0" kern="100">
                          <a:effectLst/>
                        </a:rPr>
                        <a:t>Proposal submitted to </a:t>
                      </a:r>
                      <a:r>
                        <a:rPr lang="en-US" sz="1100" b="0" kern="100" err="1">
                          <a:effectLst/>
                        </a:rPr>
                        <a:t>Lectrona</a:t>
                      </a:r>
                      <a:endParaRPr lang="zh-CN" sz="1050" b="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a:effectLst/>
                        </a:rPr>
                        <a:t>Mar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Jan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43533183"/>
                  </a:ext>
                </a:extLst>
              </a:tr>
              <a:tr h="316391">
                <a:tc>
                  <a:txBody>
                    <a:bodyPr/>
                    <a:lstStyle/>
                    <a:p>
                      <a:pPr algn="l"/>
                      <a:r>
                        <a:rPr lang="en-US" sz="1100" b="0" kern="100">
                          <a:effectLst/>
                        </a:rPr>
                        <a:t>Hybrid review and budget release</a:t>
                      </a:r>
                      <a:endParaRPr lang="zh-CN" sz="1050" b="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a:effectLst/>
                        </a:rPr>
                        <a:t>Jun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Mar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52790041"/>
                  </a:ext>
                </a:extLst>
              </a:tr>
              <a:tr h="316391">
                <a:tc>
                  <a:txBody>
                    <a:bodyPr/>
                    <a:lstStyle/>
                    <a:p>
                      <a:pPr algn="l"/>
                      <a:r>
                        <a:rPr lang="en-US" sz="1100" b="0" kern="100">
                          <a:effectLst/>
                        </a:rPr>
                        <a:t>Protocol submitted to </a:t>
                      </a:r>
                      <a:r>
                        <a:rPr lang="en-US" sz="1100" b="0" kern="100" err="1">
                          <a:effectLst/>
                        </a:rPr>
                        <a:t>Lectrona</a:t>
                      </a:r>
                      <a:endParaRPr lang="zh-CN" sz="1050" b="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a:effectLst/>
                        </a:rPr>
                        <a:t>Jul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June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2673170"/>
                  </a:ext>
                </a:extLst>
              </a:tr>
              <a:tr h="312771">
                <a:tc>
                  <a:txBody>
                    <a:bodyPr/>
                    <a:lstStyle/>
                    <a:p>
                      <a:pPr algn="l"/>
                      <a:r>
                        <a:rPr lang="en-US" sz="1100" b="0" kern="100">
                          <a:effectLst/>
                        </a:rPr>
                        <a:t>Protocol review &amp; approval</a:t>
                      </a:r>
                      <a:endParaRPr lang="zh-CN" sz="1050" b="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kern="100">
                          <a:effectLst/>
                        </a:rPr>
                        <a:t>Aug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b="0" kern="100">
                          <a:solidFill>
                            <a:schemeClr val="tx2">
                              <a:lumMod val="75000"/>
                            </a:schemeClr>
                          </a:solidFill>
                          <a:effectLst/>
                        </a:rPr>
                        <a:t> Aug 2025</a:t>
                      </a:r>
                      <a:endParaRPr lang="zh-CN" sz="1050" b="0" kern="100">
                        <a:solidFill>
                          <a:schemeClr val="tx2">
                            <a:lumMod val="75000"/>
                          </a:schemeClr>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26Aug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73946682"/>
                  </a:ext>
                </a:extLst>
              </a:tr>
              <a:tr h="316391">
                <a:tc>
                  <a:txBody>
                    <a:bodyPr/>
                    <a:lstStyle/>
                    <a:p>
                      <a:pPr marL="0" algn="l" defTabSz="914400" rtl="0" eaLnBrk="1" latinLnBrk="0" hangingPunct="1"/>
                      <a:r>
                        <a:rPr lang="en-GB" sz="1100" b="0" kern="100">
                          <a:solidFill>
                            <a:schemeClr val="tx1"/>
                          </a:solidFill>
                          <a:effectLst/>
                          <a:latin typeface="+mn-lt"/>
                          <a:ea typeface="+mn-ea"/>
                          <a:cs typeface="+mn-cs"/>
                        </a:rPr>
                        <a:t>IRB/IEC approval</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a:r>
                        <a:rPr lang="en-US" sz="1100" kern="100">
                          <a:effectLst/>
                        </a:rPr>
                        <a:t>Sep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b="0" kern="100">
                          <a:solidFill>
                            <a:schemeClr val="tx2">
                              <a:lumMod val="75000"/>
                            </a:schemeClr>
                          </a:solidFill>
                          <a:effectLst/>
                        </a:rPr>
                        <a:t>S</a:t>
                      </a:r>
                      <a:r>
                        <a:rPr lang="en-US" altLang="zh-CN" sz="1100" b="0" kern="100">
                          <a:solidFill>
                            <a:schemeClr val="tx2">
                              <a:lumMod val="75000"/>
                            </a:schemeClr>
                          </a:solidFill>
                          <a:effectLst/>
                        </a:rPr>
                        <a:t>ep</a:t>
                      </a:r>
                      <a:r>
                        <a:rPr lang="en-US" sz="1100" b="0" kern="100">
                          <a:effectLst/>
                        </a:rPr>
                        <a:t> </a:t>
                      </a:r>
                      <a:r>
                        <a:rPr lang="en-US" altLang="zh-CN" sz="1100" b="0" kern="100">
                          <a:solidFill>
                            <a:schemeClr val="tx2">
                              <a:lumMod val="75000"/>
                            </a:schemeClr>
                          </a:solidFill>
                          <a:effectLst/>
                        </a:rPr>
                        <a:t>2025</a:t>
                      </a:r>
                      <a:endParaRPr lang="zh-CN" sz="1050" b="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24Nov 2025.</a:t>
                      </a:r>
                    </a:p>
                  </a:txBody>
                  <a:tcPr marL="68580" marR="68580" marT="0" marB="0" anchor="ctr"/>
                </a:tc>
                <a:extLst>
                  <a:ext uri="{0D108BD9-81ED-4DB2-BD59-A6C34878D82A}">
                    <a16:rowId xmlns:a16="http://schemas.microsoft.com/office/drawing/2014/main" val="2535682880"/>
                  </a:ext>
                </a:extLst>
              </a:tr>
              <a:tr h="316391">
                <a:tc>
                  <a:txBody>
                    <a:bodyPr/>
                    <a:lstStyle/>
                    <a:p>
                      <a:pPr marL="0" algn="l" defTabSz="914400" rtl="0" eaLnBrk="1" latinLnBrk="0" hangingPunct="1"/>
                      <a:r>
                        <a:rPr lang="en-US" sz="1100" b="0" kern="100">
                          <a:solidFill>
                            <a:schemeClr val="tx1"/>
                          </a:solidFill>
                          <a:effectLst/>
                          <a:latin typeface="+mn-lt"/>
                          <a:ea typeface="+mn-ea"/>
                          <a:cs typeface="+mn-cs"/>
                        </a:rPr>
                        <a:t>Contract</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a:r>
                        <a:rPr lang="en-US" sz="1100" kern="100">
                          <a:effectLst/>
                        </a:rPr>
                        <a:t>Nov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sz="1100" b="0" kern="100">
                          <a:solidFill>
                            <a:schemeClr val="tx2">
                              <a:lumMod val="75000"/>
                            </a:schemeClr>
                          </a:solidFill>
                          <a:effectLst/>
                        </a:rPr>
                        <a:t>Nov (Oct) 2025</a:t>
                      </a:r>
                      <a:endParaRPr lang="zh-CN" sz="1050" b="0" kern="100">
                        <a:solidFill>
                          <a:schemeClr val="tx2">
                            <a:lumMod val="75000"/>
                          </a:schemeClr>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17Sep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618328"/>
                  </a:ext>
                </a:extLst>
              </a:tr>
              <a:tr h="316391">
                <a:tc>
                  <a:txBody>
                    <a:bodyPr/>
                    <a:lstStyle/>
                    <a:p>
                      <a:pPr marL="0" algn="l" defTabSz="914400" rtl="0" eaLnBrk="1" latinLnBrk="0" hangingPunct="1"/>
                      <a:r>
                        <a:rPr lang="en-US" sz="1100" b="0" kern="100">
                          <a:solidFill>
                            <a:schemeClr val="tx1"/>
                          </a:solidFill>
                          <a:effectLst/>
                          <a:latin typeface="+mn-lt"/>
                          <a:ea typeface="+mn-ea"/>
                          <a:cs typeface="+mn-cs"/>
                        </a:rPr>
                        <a:t>Data collection starts</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a:r>
                        <a:rPr lang="en-US" sz="1100" kern="100">
                          <a:effectLst/>
                        </a:rPr>
                        <a:t>Dec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marL="0" algn="ctr" defTabSz="914400" rtl="0" eaLnBrk="1" latinLnBrk="0" hangingPunct="1"/>
                      <a:r>
                        <a:rPr lang="en-US" sz="1100" b="0" kern="100">
                          <a:solidFill>
                            <a:schemeClr val="tx2">
                              <a:lumMod val="75000"/>
                            </a:schemeClr>
                          </a:solidFill>
                          <a:effectLst/>
                          <a:latin typeface="+mn-lt"/>
                          <a:ea typeface="+mn-ea"/>
                          <a:cs typeface="+mn-cs"/>
                        </a:rPr>
                        <a:t>Nov 2025 </a:t>
                      </a:r>
                      <a:endParaRPr lang="zh-CN" altLang="en-US" sz="1100" b="0" kern="100">
                        <a:solidFill>
                          <a:schemeClr val="tx2">
                            <a:lumMod val="75000"/>
                          </a:schemeClr>
                        </a:solidFill>
                        <a:effectLst/>
                        <a:latin typeface="+mn-lt"/>
                        <a:ea typeface="+mn-ea"/>
                        <a:cs typeface="+mn-cs"/>
                      </a:endParaRPr>
                    </a:p>
                  </a:txBody>
                  <a:tcPr marL="68580" marR="68580" marT="0" marB="0" anchor="ctr"/>
                </a:tc>
                <a:tc>
                  <a:txBody>
                    <a:bodyPr/>
                    <a:lstStyle/>
                    <a:p>
                      <a:pPr algn="ctr"/>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26Nov 2025</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5136805"/>
                  </a:ext>
                </a:extLst>
              </a:tr>
              <a:tr h="316391">
                <a:tc>
                  <a:txBody>
                    <a:bodyPr/>
                    <a:lstStyle/>
                    <a:p>
                      <a:pPr marL="0" algn="l" defTabSz="914400" rtl="0" eaLnBrk="1" latinLnBrk="0" hangingPunct="1"/>
                      <a:r>
                        <a:rPr lang="en-US" sz="1100" b="0" kern="100">
                          <a:solidFill>
                            <a:schemeClr val="tx1"/>
                          </a:solidFill>
                          <a:effectLst/>
                          <a:latin typeface="+mn-lt"/>
                          <a:ea typeface="+mn-ea"/>
                          <a:cs typeface="+mn-cs"/>
                        </a:rPr>
                        <a:t>Data collection ends</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a:r>
                        <a:rPr lang="en-US" sz="1100" kern="100">
                          <a:effectLst/>
                        </a:rPr>
                        <a:t>Apr 2026</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marL="0" algn="ctr" defTabSz="914400" rtl="0" eaLnBrk="1" latinLnBrk="0" hangingPunct="1"/>
                      <a:r>
                        <a:rPr lang="en-US" sz="1100" b="0" kern="100">
                          <a:solidFill>
                            <a:schemeClr val="tx2">
                              <a:lumMod val="75000"/>
                            </a:schemeClr>
                          </a:solidFill>
                          <a:effectLst/>
                          <a:latin typeface="+mn-lt"/>
                          <a:ea typeface="+mn-ea"/>
                          <a:cs typeface="+mn-cs"/>
                        </a:rPr>
                        <a:t>D</a:t>
                      </a:r>
                      <a:r>
                        <a:rPr lang="en-US" altLang="zh-CN" sz="1100" b="0" kern="100">
                          <a:solidFill>
                            <a:schemeClr val="tx2">
                              <a:lumMod val="75000"/>
                            </a:schemeClr>
                          </a:solidFill>
                          <a:effectLst/>
                          <a:latin typeface="+mn-lt"/>
                          <a:ea typeface="+mn-ea"/>
                          <a:cs typeface="+mn-cs"/>
                        </a:rPr>
                        <a:t>ec 2025</a:t>
                      </a:r>
                      <a:endParaRPr lang="zh-CN" altLang="en-US" sz="1100" b="0" kern="100">
                        <a:solidFill>
                          <a:schemeClr val="tx2">
                            <a:lumMod val="75000"/>
                          </a:schemeClr>
                        </a:solidFill>
                        <a:effectLst/>
                        <a:latin typeface="+mn-lt"/>
                        <a:ea typeface="+mn-ea"/>
                        <a:cs typeface="+mn-cs"/>
                      </a:endParaRPr>
                    </a:p>
                  </a:txBody>
                  <a:tcPr marL="68580" marR="68580" marT="0" marB="0" anchor="ctr"/>
                </a:tc>
                <a:tc>
                  <a:txBody>
                    <a:bodyPr/>
                    <a:lstStyle/>
                    <a:p>
                      <a:pPr algn="ct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33554917"/>
                  </a:ext>
                </a:extLst>
              </a:tr>
              <a:tr h="316391">
                <a:tc>
                  <a:txBody>
                    <a:bodyPr/>
                    <a:lstStyle/>
                    <a:p>
                      <a:pPr marL="0" algn="l" defTabSz="914400" rtl="0" eaLnBrk="1" fontAlgn="base" latinLnBrk="0" hangingPunct="1"/>
                      <a:r>
                        <a:rPr lang="en-US" sz="1100" b="0" kern="100">
                          <a:solidFill>
                            <a:schemeClr val="tx1"/>
                          </a:solidFill>
                          <a:effectLst/>
                          <a:latin typeface="+mn-lt"/>
                          <a:ea typeface="+mn-ea"/>
                          <a:cs typeface="+mn-cs"/>
                        </a:rPr>
                        <a:t>Data analysis</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fontAlgn="base"/>
                      <a:r>
                        <a:rPr lang="en-US" sz="1100" kern="100">
                          <a:effectLst/>
                        </a:rPr>
                        <a:t>Jun 2026</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marL="0" algn="ctr" defTabSz="914400" rtl="0" eaLnBrk="1" fontAlgn="base" latinLnBrk="0" hangingPunct="1"/>
                      <a:r>
                        <a:rPr lang="en-US" sz="1100" b="0" kern="100">
                          <a:solidFill>
                            <a:schemeClr val="tx2">
                              <a:lumMod val="75000"/>
                            </a:schemeClr>
                          </a:solidFill>
                          <a:effectLst/>
                          <a:latin typeface="+mn-lt"/>
                          <a:ea typeface="+mn-ea"/>
                          <a:cs typeface="+mn-cs"/>
                        </a:rPr>
                        <a:t>Feb 2026</a:t>
                      </a:r>
                      <a:endParaRPr lang="zh-CN" altLang="en-US" sz="1100" b="0" kern="100">
                        <a:solidFill>
                          <a:schemeClr val="tx2">
                            <a:lumMod val="75000"/>
                          </a:schemeClr>
                        </a:solidFill>
                        <a:effectLst/>
                        <a:latin typeface="+mn-lt"/>
                        <a:ea typeface="+mn-ea"/>
                        <a:cs typeface="+mn-cs"/>
                      </a:endParaRPr>
                    </a:p>
                  </a:txBody>
                  <a:tcPr marL="68580" marR="68580" marT="0" marB="0" anchor="ctr"/>
                </a:tc>
                <a:tc>
                  <a:txBody>
                    <a:bodyPr/>
                    <a:lstStyle/>
                    <a:p>
                      <a:pPr algn="ctr" fontAlgn="base"/>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03015854"/>
                  </a:ext>
                </a:extLst>
              </a:tr>
              <a:tr h="319124">
                <a:tc>
                  <a:txBody>
                    <a:bodyPr/>
                    <a:lstStyle/>
                    <a:p>
                      <a:pPr marL="0" algn="l" defTabSz="914400" rtl="0" eaLnBrk="1" fontAlgn="base" latinLnBrk="0" hangingPunct="1"/>
                      <a:r>
                        <a:rPr lang="en-US" sz="1100" b="0" kern="100">
                          <a:solidFill>
                            <a:schemeClr val="tx1"/>
                          </a:solidFill>
                          <a:effectLst/>
                          <a:latin typeface="+mn-lt"/>
                          <a:ea typeface="+mn-ea"/>
                          <a:cs typeface="+mn-cs"/>
                        </a:rPr>
                        <a:t>Study report review &amp; approval</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fontAlgn="base"/>
                      <a:r>
                        <a:rPr lang="en-US" sz="1100" kern="100">
                          <a:effectLst/>
                        </a:rPr>
                        <a:t>Oct 2026</a:t>
                      </a:r>
                    </a:p>
                  </a:txBody>
                  <a:tcPr marL="68580" marR="68580" marT="0" marB="0" anchor="ctr"/>
                </a:tc>
                <a:tc>
                  <a:txBody>
                    <a:bodyPr/>
                    <a:lstStyle/>
                    <a:p>
                      <a:pPr marL="0" algn="ctr" defTabSz="914400" rtl="0" eaLnBrk="1" fontAlgn="base" latinLnBrk="0" hangingPunct="1"/>
                      <a:r>
                        <a:rPr lang="en-US" altLang="zh-CN" sz="1100" b="0" kern="100">
                          <a:solidFill>
                            <a:schemeClr val="tx2">
                              <a:lumMod val="75000"/>
                            </a:schemeClr>
                          </a:solidFill>
                          <a:effectLst/>
                          <a:latin typeface="+mn-lt"/>
                          <a:ea typeface="+mn-ea"/>
                          <a:cs typeface="+mn-cs"/>
                        </a:rPr>
                        <a:t>30July 2026</a:t>
                      </a:r>
                      <a:endParaRPr lang="zh-CN" altLang="en-US" sz="1100" b="0" kern="100">
                        <a:solidFill>
                          <a:schemeClr val="tx2">
                            <a:lumMod val="75000"/>
                          </a:schemeClr>
                        </a:solidFill>
                        <a:effectLst/>
                        <a:latin typeface="+mn-lt"/>
                        <a:ea typeface="+mn-ea"/>
                        <a:cs typeface="+mn-cs"/>
                      </a:endParaRPr>
                    </a:p>
                  </a:txBody>
                  <a:tcPr marL="68580" marR="68580" marT="0" marB="0" anchor="ctr"/>
                </a:tc>
                <a:tc>
                  <a:txBody>
                    <a:bodyPr/>
                    <a:lstStyle/>
                    <a:p>
                      <a:pPr algn="ctr" fontAlgn="base"/>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50397730"/>
                  </a:ext>
                </a:extLst>
              </a:tr>
              <a:tr h="316391">
                <a:tc>
                  <a:txBody>
                    <a:bodyPr/>
                    <a:lstStyle/>
                    <a:p>
                      <a:pPr marL="0" algn="l" defTabSz="914400" rtl="0" eaLnBrk="1" fontAlgn="base" latinLnBrk="0" hangingPunct="1"/>
                      <a:r>
                        <a:rPr lang="en-US" sz="1100" b="0" kern="100">
                          <a:solidFill>
                            <a:schemeClr val="tx1"/>
                          </a:solidFill>
                          <a:effectLst/>
                          <a:latin typeface="+mn-lt"/>
                          <a:ea typeface="+mn-ea"/>
                          <a:cs typeface="+mn-cs"/>
                        </a:rPr>
                        <a:t>Journal publication</a:t>
                      </a:r>
                      <a:endParaRPr lang="zh-CN" altLang="en-US" sz="1100" b="0" kern="100">
                        <a:solidFill>
                          <a:schemeClr val="tx1"/>
                        </a:solidFill>
                        <a:effectLst/>
                        <a:latin typeface="+mn-lt"/>
                        <a:ea typeface="+mn-ea"/>
                        <a:cs typeface="+mn-cs"/>
                      </a:endParaRPr>
                    </a:p>
                  </a:txBody>
                  <a:tcPr marL="68580" marR="68580" marT="0" marB="0" anchor="ctr"/>
                </a:tc>
                <a:tc>
                  <a:txBody>
                    <a:bodyPr/>
                    <a:lstStyle/>
                    <a:p>
                      <a:pPr algn="ctr" fontAlgn="base"/>
                      <a:r>
                        <a:rPr lang="en-US" sz="1100" kern="100">
                          <a:effectLst/>
                        </a:rPr>
                        <a:t>Mar 2027</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fontAlgn="base"/>
                      <a:r>
                        <a:rPr lang="en-US" altLang="zh-CN" sz="1050" kern="100">
                          <a:effectLst/>
                          <a:latin typeface="DengXian" panose="02010600030101010101" pitchFamily="2" charset="-122"/>
                          <a:ea typeface="DengXian" panose="02010600030101010101" pitchFamily="2" charset="-122"/>
                          <a:cs typeface="Times New Roman" panose="02020603050405020304" pitchFamily="18" charset="0"/>
                        </a:rPr>
                        <a:t>/</a:t>
                      </a:r>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ctr" fontAlgn="base"/>
                      <a:endParaRPr lang="zh-CN" sz="105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82140490"/>
                  </a:ext>
                </a:extLst>
              </a:tr>
            </a:tbl>
          </a:graphicData>
        </a:graphic>
      </p:graphicFrame>
      <p:sp>
        <p:nvSpPr>
          <p:cNvPr id="6" name="Speech Bubble: Rectangle with Corners Rounded 5">
            <a:extLst>
              <a:ext uri="{FF2B5EF4-FFF2-40B4-BE49-F238E27FC236}">
                <a16:creationId xmlns:a16="http://schemas.microsoft.com/office/drawing/2014/main" id="{B8A6A78E-E98B-9438-FCA6-0938B52831B6}"/>
              </a:ext>
            </a:extLst>
          </p:cNvPr>
          <p:cNvSpPr/>
          <p:nvPr/>
        </p:nvSpPr>
        <p:spPr bwMode="gray">
          <a:xfrm>
            <a:off x="8568647" y="4602822"/>
            <a:ext cx="2363056" cy="720000"/>
          </a:xfrm>
          <a:prstGeom prst="wedgeRoundRectCallout">
            <a:avLst>
              <a:gd name="adj1" fmla="val -56050"/>
              <a:gd name="adj2" fmla="val 31591"/>
              <a:gd name="adj3" fmla="val 16667"/>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100" i="1">
                <a:solidFill>
                  <a:schemeClr val="tx1"/>
                </a:solidFill>
              </a:rPr>
              <a:t>Key results will be used  to support NRDL submission aimed at June 2026</a:t>
            </a:r>
            <a:endParaRPr lang="zh-CN" altLang="en-US" sz="1100">
              <a:solidFill>
                <a:schemeClr val="tx1"/>
              </a:solidFill>
            </a:endParaRPr>
          </a:p>
        </p:txBody>
      </p:sp>
    </p:spTree>
    <p:extLst>
      <p:ext uri="{BB962C8B-B14F-4D97-AF65-F5344CB8AC3E}">
        <p14:creationId xmlns:p14="http://schemas.microsoft.com/office/powerpoint/2010/main" val="877663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32899E4-3943-520D-BF2D-4EDB0BA1DFF9}"/>
              </a:ext>
            </a:extLst>
          </p:cNvPr>
          <p:cNvSpPr>
            <a:spLocks noGrp="1"/>
          </p:cNvSpPr>
          <p:nvPr>
            <p:ph idx="1"/>
          </p:nvPr>
        </p:nvSpPr>
        <p:spPr>
          <a:xfrm>
            <a:off x="479424" y="1412876"/>
            <a:ext cx="11233151" cy="3024268"/>
          </a:xfrm>
        </p:spPr>
        <p:txBody>
          <a:bodyPr/>
          <a:lstStyle/>
          <a:p>
            <a:pPr marL="0" indent="0" algn="ctr">
              <a:buNone/>
            </a:pPr>
            <a:endParaRPr lang="en-US" altLang="zh-CN" sz="4800">
              <a:solidFill>
                <a:schemeClr val="tx2"/>
              </a:solidFill>
            </a:endParaRPr>
          </a:p>
          <a:p>
            <a:pPr marL="0" indent="0" algn="ctr">
              <a:buNone/>
            </a:pPr>
            <a:r>
              <a:rPr lang="en-US" altLang="zh-CN" sz="4800">
                <a:solidFill>
                  <a:schemeClr val="tx2"/>
                </a:solidFill>
              </a:rPr>
              <a:t>Thank You!</a:t>
            </a:r>
            <a:endParaRPr lang="zh-CN" altLang="en-US" sz="4800">
              <a:solidFill>
                <a:schemeClr val="tx2"/>
              </a:solidFill>
            </a:endParaRPr>
          </a:p>
        </p:txBody>
      </p:sp>
      <p:sp>
        <p:nvSpPr>
          <p:cNvPr id="5" name="页脚占位符 4">
            <a:extLst>
              <a:ext uri="{FF2B5EF4-FFF2-40B4-BE49-F238E27FC236}">
                <a16:creationId xmlns:a16="http://schemas.microsoft.com/office/drawing/2014/main" id="{313D1559-55E5-9EFB-7398-8077AB39A79A}"/>
              </a:ext>
            </a:extLst>
          </p:cNvPr>
          <p:cNvSpPr>
            <a:spLocks noGrp="1"/>
          </p:cNvSpPr>
          <p:nvPr>
            <p:ph type="ftr" sz="quarter" idx="14"/>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1"/>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6" name="灯片编号占位符 5">
            <a:extLst>
              <a:ext uri="{FF2B5EF4-FFF2-40B4-BE49-F238E27FC236}">
                <a16:creationId xmlns:a16="http://schemas.microsoft.com/office/drawing/2014/main" id="{C70B76BF-C50C-A148-FD26-309DC870EFED}"/>
              </a:ext>
            </a:extLst>
          </p:cNvPr>
          <p:cNvSpPr>
            <a:spLocks noGrp="1"/>
          </p:cNvSpPr>
          <p:nvPr>
            <p:ph type="sldNum" sz="quarter" idx="15"/>
          </p:nvPr>
        </p:nvSpPr>
        <p:spPr/>
        <p:txBody>
          <a:bodyPr/>
          <a:lstStyle/>
          <a:p>
            <a:fld id="{8FF9B0DE-3FEB-4AA0-B465-B80EF7C1333D}" type="slidenum">
              <a:rPr lang="en-US" smtClean="0"/>
              <a:pPr/>
              <a:t>47</a:t>
            </a:fld>
            <a:endParaRPr lang="en-US"/>
          </a:p>
        </p:txBody>
      </p:sp>
    </p:spTree>
    <p:extLst>
      <p:ext uri="{BB962C8B-B14F-4D97-AF65-F5344CB8AC3E}">
        <p14:creationId xmlns:p14="http://schemas.microsoft.com/office/powerpoint/2010/main" val="1454401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267.xml><?xml version="1.0" encoding="utf-8"?>
<p:tagLst xmlns:a="http://schemas.openxmlformats.org/drawingml/2006/main" xmlns:r="http://schemas.openxmlformats.org/officeDocument/2006/relationships" xmlns:p="http://schemas.openxmlformats.org/presentationml/2006/main">
  <p:tag name="OTLDATE" val="2025-07-10T23:59:00.0000000"/>
  <p:tag name="OTLDATEFORMATAMPMDESIGNATOR" val="AmPmLowerCase"/>
  <p:tag name="OTLDATEFORMATDATEISVISIBLE" val="True"/>
  <p:tag name="OTLDATEFORMATHOURDIGITS" val="H"/>
  <p:tag name="OTLDATEFORMATSEPARATOR" val="/"/>
  <p:tag name="OTLDATEFORMATSTRING" val="M/yy"/>
  <p:tag name="OTLDATEFORMATTIMEISVISIBLE" val="False"/>
  <p:tag name="OTLDATEFORMATTRIM00MINUTES" val="False"/>
  <p:tag name="OTLDATEFORMATUSEUS" val="True"/>
  <p:tag name="OTLMARKERSHAPE" val="OTL"/>
  <p:tag name="OTLMILESTONESPACING" val="5"/>
  <p:tag name="OTLMTITLE" val="PoCP Strategy &#10;(HPSC)"/>
  <p:tag name="OTLPOSITIONONTASK" val="None"/>
  <p:tag name="OTLRELATEDTASKID" val="00000000-0000-0000-0000-000000000000"/>
  <p:tag name="OTLWEEKNUMBERINGFORMAT" val="WNFormat1"/>
  <p:tag name="OTLWEEKNUMBERINGISVISIBLE" val="False"/>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3" id="{14B66337-F5CE-4094-9D92-B929EDCEB9BC}" vid="{8F864872-E7CE-4E16-BC4E-5BF6CCDC6B07}"/>
    </a:ext>
  </a:extLst>
</a:theme>
</file>

<file path=ppt/theme/theme4.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solidFill>
          <a:srgbClr val="F6F5F3"/>
        </a:solidFill>
      </a:spPr>
      <a:bodyPr wrap="square" lIns="0" tIns="0" rIns="0" bIns="0" rtlCol="0">
        <a:spAutoFit/>
      </a:bodyPr>
      <a:lstStyle>
        <a:defPPr marL="354330" indent="-171450" algn="l">
          <a:lnSpc>
            <a:spcPct val="200000"/>
          </a:lnSpc>
          <a:buFont typeface="Arial" panose="020B0604020202020204" pitchFamily="34" charset="0"/>
          <a:buChar char="•"/>
          <a:defRPr sz="1200" dirty="0">
            <a:solidFill>
              <a:srgbClr val="076D7E"/>
            </a:solidFill>
          </a:defRPr>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40E07A-3C7E-4686-B062-55EA6DDBB32B}">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3.xml><?xml version="1.0" encoding="utf-8"?>
<ds:datastoreItem xmlns:ds="http://schemas.openxmlformats.org/officeDocument/2006/customXml" ds:itemID="{5D0452D6-F2D9-4FC2-9863-71052AA7BDFA}">
  <ds:schemaRefs>
    <ds:schemaRef ds:uri="http://schemas.microsoft.com/office/2006/documentManagement/types"/>
    <ds:schemaRef ds:uri="http://purl.org/dc/elements/1.1/"/>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6105e471-a007-4c69-b034-cfd36128fabd"/>
    <ds:schemaRef ds:uri="545a336c-45ba-4242-ba8b-2a24159e5b92"/>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6396</Words>
  <Application>Microsoft Office PowerPoint</Application>
  <PresentationFormat>Widescreen</PresentationFormat>
  <Paragraphs>2070</Paragraphs>
  <Slides>47</Slides>
  <Notes>10</Notes>
  <HiddenSlides>14</HiddenSlides>
  <MMClips>0</MMClips>
  <ScaleCrop>false</ScaleCrop>
  <HeadingPairs>
    <vt:vector size="8" baseType="variant">
      <vt:variant>
        <vt:lpstr>Fonts Used</vt:lpstr>
      </vt:variant>
      <vt:variant>
        <vt:i4>16</vt:i4>
      </vt:variant>
      <vt:variant>
        <vt:lpstr>Theme</vt:lpstr>
      </vt:variant>
      <vt:variant>
        <vt:i4>4</vt:i4>
      </vt:variant>
      <vt:variant>
        <vt:lpstr>Embedded OLE Servers</vt:lpstr>
      </vt:variant>
      <vt:variant>
        <vt:i4>1</vt:i4>
      </vt:variant>
      <vt:variant>
        <vt:lpstr>Slide Titles</vt:lpstr>
      </vt:variant>
      <vt:variant>
        <vt:i4>47</vt:i4>
      </vt:variant>
    </vt:vector>
  </HeadingPairs>
  <TitlesOfParts>
    <vt:vector size="68" baseType="lpstr">
      <vt:lpstr>等线</vt:lpstr>
      <vt:lpstr>等线</vt:lpstr>
      <vt:lpstr>OPPOSans M</vt:lpstr>
      <vt:lpstr>Source Sans 3</vt:lpstr>
      <vt:lpstr>Source Sans 3 Regular</vt:lpstr>
      <vt:lpstr>Aptos</vt:lpstr>
      <vt:lpstr>Aptos Narrow</vt:lpstr>
      <vt:lpstr>Arial</vt:lpstr>
      <vt:lpstr>BISans</vt:lpstr>
      <vt:lpstr>BISansCond</vt:lpstr>
      <vt:lpstr>BISansOpti</vt:lpstr>
      <vt:lpstr>BISansOptiCond</vt:lpstr>
      <vt:lpstr>Boehringer Forward Head</vt:lpstr>
      <vt:lpstr>Boehringer Forward Text</vt:lpstr>
      <vt:lpstr>Calibri</vt:lpstr>
      <vt:lpstr>Wingdings</vt:lpstr>
      <vt:lpstr>1_Boehringer Ingelheim 16:9</vt:lpstr>
      <vt:lpstr>5_Boehringer Ingelheim 16:9</vt:lpstr>
      <vt:lpstr>9_Boehringer Ingelheim 16:9</vt:lpstr>
      <vt:lpstr>Boehringer Ingelheim 16:9</vt:lpstr>
      <vt:lpstr>Worksheet</vt:lpstr>
      <vt:lpstr>Portfolio Executive Committee (PEC) Review Meeting  TA ONCOLOGY</vt:lpstr>
      <vt:lpstr>Part I: Portfolio Update</vt:lpstr>
      <vt:lpstr>2025 ONC Key Milestone Overview</vt:lpstr>
      <vt:lpstr>Part II: Project Update</vt:lpstr>
      <vt:lpstr>Zongertinib (BI 1810631, HER2 TKI)</vt:lpstr>
      <vt:lpstr>Patients Enrollment for Beamion LUNG-1 Cohort 9 27 pts were enrolled by Dec 12th, 2025,  4.5 months ahead of plan</vt:lpstr>
      <vt:lpstr>Zongertinib (HERNEXEOS®) – 1L NSCLC Development Plan_AA  </vt:lpstr>
      <vt:lpstr>Zongertinib (HERNEXEOS®) – 1L NSCLC Development Plan_ Full Approval</vt:lpstr>
      <vt:lpstr>Beamion LUNG-2 zongertinib 1L NSCLC Recruitment  23 pts were enrolled as of 5th Dec 2025</vt:lpstr>
      <vt:lpstr>Zongertinib (HERNEXEOS®) – Adjunctive NSCLC Development Plan </vt:lpstr>
      <vt:lpstr>Zongertinib (HERNEXEOS®) – 1L NSCLC Combo  </vt:lpstr>
      <vt:lpstr>Zongertinib (BI 1810631, HER2 TKI)</vt:lpstr>
      <vt:lpstr>Zongertinib P2 indications expansion:  Zanidatamab combination in 2L BC, capture newly identified opportunities in pan-tumor, and CRC space new development </vt:lpstr>
      <vt:lpstr>Zongertinib P2 project global update </vt:lpstr>
      <vt:lpstr>Zongertinib (HERNEXEOS®) – Pan-tumor Development Plan (Accelerate Approval) </vt:lpstr>
      <vt:lpstr>Zongertinib (HERNEXEOS®) – Pan-tumor Development Plan (Accelerate Approval) – New Timeline   </vt:lpstr>
      <vt:lpstr>Global Recruitment Status (as of 12-Dec-2025) </vt:lpstr>
      <vt:lpstr>China Recruitment Status (as of 03-DEC-2025) </vt:lpstr>
      <vt:lpstr>Zongertinib (HERNEXEOS®) – Breast Cancer &amp; Gastric Cancer (BC&amp;GC)</vt:lpstr>
      <vt:lpstr>Zongertinib (HERNEXEOS®)– Gastric Cancer 2L</vt:lpstr>
      <vt:lpstr>Zongertinib (HERNEXEOS®)-- Breast Cancer 3L+  </vt:lpstr>
      <vt:lpstr>Zongertinib (HERNEXEOS®)-- Breast Cancer 2L</vt:lpstr>
      <vt:lpstr>Obrixtamig  (BI 764532, DLL3/CD3 TcE)</vt:lpstr>
      <vt:lpstr>Obrixtamig (DLL3/CD3 TcE) – 2L epNEC (single arm study)</vt:lpstr>
      <vt:lpstr>1438-0005 DLL3/CD3 epNEC dated on 12Dec 2025 (Global recruitment status)</vt:lpstr>
      <vt:lpstr>1438-0005 DLL3/CD3 epNEC dated on 12Dec 2025 (China recruitment status)</vt:lpstr>
      <vt:lpstr>PowerPoint Presentation</vt:lpstr>
      <vt:lpstr>Obrixtamig (DLL3/CD3 TcE) – 1L SCLC (obrix+atezo+EP vs. atezo+EP) </vt:lpstr>
      <vt:lpstr>Obrixtamig (DLL3/CD3 TcE) – 1L epNEC (obrix+EP vs. EP)</vt:lpstr>
      <vt:lpstr>Brigimadlin (BI 907828, MDM2/p53)</vt:lpstr>
      <vt:lpstr>Brigimadlin (MDM2/p53 antago.) – Rollover study Development Plan </vt:lpstr>
      <vt:lpstr>Early Assets</vt:lpstr>
      <vt:lpstr>CD137/FAP (BI 765179) </vt:lpstr>
      <vt:lpstr>PowerPoint Presentation</vt:lpstr>
      <vt:lpstr>1463-0001 CD137/FAP 1L HNSCC dated on 2Dec 2025 (Global recruitment status)</vt:lpstr>
      <vt:lpstr>1463-0001 CD137/FAP 1L HNSCC dated on 2Dec 2025 (China recruitment status)</vt:lpstr>
      <vt:lpstr>STING Agonist (BI 1703880)</vt:lpstr>
      <vt:lpstr>Systemic STING ago. FR  – NSCLC Development Plan </vt:lpstr>
      <vt:lpstr>KRAS G12D inhibitor (BI 4015092) </vt:lpstr>
      <vt:lpstr>BI 4015092: eTPPs to Support Best-in-Class Potential in 1L mCRC </vt:lpstr>
      <vt:lpstr>G12D Competitors _ focus on CRC + anti-EGFR | BI 4015092 will be a Late Follower</vt:lpstr>
      <vt:lpstr>De-risking Clinical Development Investments | Proposed Inflection Points</vt:lpstr>
      <vt:lpstr>Timeline assessment for China integration plan</vt:lpstr>
      <vt:lpstr>PMS &amp; RWE Studies</vt:lpstr>
      <vt:lpstr>Oncology TA Overview - IIS &amp; ECR</vt:lpstr>
      <vt:lpstr>Zongertinib ECR Study timeline Acceleration Aim to has CTR ready by Jul 30, 2026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 Jiaqi</dc:creator>
  <cp:lastModifiedBy>Lu,Dr.,Jiaqi (HP Medicine) BII-CN-S</cp:lastModifiedBy>
  <cp:revision>6</cp:revision>
  <dcterms:created xsi:type="dcterms:W3CDTF">2023-11-09T09:11:57Z</dcterms:created>
  <dcterms:modified xsi:type="dcterms:W3CDTF">2026-01-07T06:10:31Z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