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4.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5.xml" ContentType="application/vnd.openxmlformats-officedocument.theme+xml"/>
  <Override PartName="/ppt/tags/tag3.xml" ContentType="application/vnd.openxmlformats-officedocument.presentationml.tags+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 id="2147483788" r:id="rId5"/>
    <p:sldMasterId id="2147483826" r:id="rId6"/>
    <p:sldMasterId id="2147483866" r:id="rId7"/>
    <p:sldMasterId id="2147483872" r:id="rId8"/>
    <p:sldMasterId id="2147483917" r:id="rId9"/>
  </p:sldMasterIdLst>
  <p:notesMasterIdLst>
    <p:notesMasterId r:id="rId39"/>
  </p:notesMasterIdLst>
  <p:sldIdLst>
    <p:sldId id="9801" r:id="rId10"/>
    <p:sldId id="9860" r:id="rId11"/>
    <p:sldId id="2147469248" r:id="rId12"/>
    <p:sldId id="2147469247" r:id="rId13"/>
    <p:sldId id="2945" r:id="rId14"/>
    <p:sldId id="271" r:id="rId15"/>
    <p:sldId id="2147483432" r:id="rId16"/>
    <p:sldId id="2147483542" r:id="rId17"/>
    <p:sldId id="2147483543" r:id="rId18"/>
    <p:sldId id="2147483647" r:id="rId19"/>
    <p:sldId id="267" r:id="rId20"/>
    <p:sldId id="2147483434" r:id="rId21"/>
    <p:sldId id="262" r:id="rId22"/>
    <p:sldId id="272" r:id="rId23"/>
    <p:sldId id="256" r:id="rId24"/>
    <p:sldId id="2147483643" r:id="rId25"/>
    <p:sldId id="257" r:id="rId26"/>
    <p:sldId id="258" r:id="rId27"/>
    <p:sldId id="259" r:id="rId28"/>
    <p:sldId id="317" r:id="rId29"/>
    <p:sldId id="2147483594" r:id="rId30"/>
    <p:sldId id="261" r:id="rId31"/>
    <p:sldId id="2147483421" r:id="rId32"/>
    <p:sldId id="2147483425" r:id="rId33"/>
    <p:sldId id="2147483429" r:id="rId34"/>
    <p:sldId id="2147483535" r:id="rId35"/>
    <p:sldId id="2147483430" r:id="rId36"/>
    <p:sldId id="263" r:id="rId37"/>
    <p:sldId id="2147483593"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216D2A-4FC6-2F51-4E99-815BE75EFC69}" name="Huang,Hui (HP Medicine) BII-CN-S" initials="HB" userId="S::hui_3.huang@boehringer-ingelheim.com::6ac9ddaa-9dec-49fc-a3f9-a294c43f624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ang,Dr.,Bo (HP Medicine) BII-CN-S" initials="BW" lastIdx="17" clrIdx="0">
    <p:extLst>
      <p:ext uri="{19B8F6BF-5375-455C-9EA6-DF929625EA0E}">
        <p15:presenceInfo xmlns:p15="http://schemas.microsoft.com/office/powerpoint/2012/main" userId="S::bo_7.wang@boehringer-ingelheim.com::950b8564-41e4-4a68-9f11-e3d2e116a359" providerId="AD"/>
      </p:ext>
    </p:extLst>
  </p:cmAuthor>
  <p:cmAuthor id="2" name="Huang,Hui (HP Medicine) BII-CN-S" initials="HB" lastIdx="1" clrIdx="1">
    <p:extLst>
      <p:ext uri="{19B8F6BF-5375-455C-9EA6-DF929625EA0E}">
        <p15:presenceInfo xmlns:p15="http://schemas.microsoft.com/office/powerpoint/2012/main" userId="S::hui_3.huang@boehringer-ingelheim.com::6ac9ddaa-9dec-49fc-a3f9-a294c43f6245" providerId="AD"/>
      </p:ext>
    </p:extLst>
  </p:cmAuthor>
  <p:cmAuthor id="3" name="Li,Fengqiong (HP Medicine) BII-CN-B" initials="FL" lastIdx="4" clrIdx="2">
    <p:extLst>
      <p:ext uri="{19B8F6BF-5375-455C-9EA6-DF929625EA0E}">
        <p15:presenceInfo xmlns:p15="http://schemas.microsoft.com/office/powerpoint/2012/main" userId="S::fengqiong.li@boehringer-ingelheim.com::dae7b85d-6b67-4faa-a5b6-30ff5e066a0d" providerId="AD"/>
      </p:ext>
    </p:extLst>
  </p:cmAuthor>
  <p:cmAuthor id="4" name="Zhao,Qian (MED CDO) BII-CN-S" initials="ZB" lastIdx="1" clrIdx="3">
    <p:extLst>
      <p:ext uri="{19B8F6BF-5375-455C-9EA6-DF929625EA0E}">
        <p15:presenceInfo xmlns:p15="http://schemas.microsoft.com/office/powerpoint/2012/main" userId="S::qian_3.zhao@boehringer-ingelheim.com::e5f2fa0e-800e-4e03-b8e2-beea36a7bf3b" providerId="AD"/>
      </p:ext>
    </p:extLst>
  </p:cmAuthor>
  <p:cmAuthor id="5" name="Tao,Helen (HP Medicine) BII-CN-S" initials="HT" lastIdx="4" clrIdx="4">
    <p:extLst>
      <p:ext uri="{19B8F6BF-5375-455C-9EA6-DF929625EA0E}">
        <p15:presenceInfo xmlns:p15="http://schemas.microsoft.com/office/powerpoint/2012/main" userId="S::helen.tao@boehringer-ingelheim.com::35187e18-a979-452a-a00a-a6d2f11c820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53952F-9722-4FC1-83B1-BE375FE4D4F0}" v="1" dt="2025-12-14T10:07:57.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858" y="2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Dr.,Bo (HP Medicine) BII-CN-S" userId="950b8564-41e4-4a68-9f11-e3d2e116a359" providerId="ADAL" clId="{A0D9DB44-A0AF-4A5F-8A8D-1CAF10B8DF49}"/>
    <pc:docChg chg="custSel delSld modSld">
      <pc:chgData name="Wang,Dr.,Bo (HP Medicine) BII-CN-S" userId="950b8564-41e4-4a68-9f11-e3d2e116a359" providerId="ADAL" clId="{A0D9DB44-A0AF-4A5F-8A8D-1CAF10B8DF49}" dt="2025-12-14T10:15:35.356" v="246" actId="20577"/>
      <pc:docMkLst>
        <pc:docMk/>
      </pc:docMkLst>
      <pc:sldChg chg="modSp mod">
        <pc:chgData name="Wang,Dr.,Bo (HP Medicine) BII-CN-S" userId="950b8564-41e4-4a68-9f11-e3d2e116a359" providerId="ADAL" clId="{A0D9DB44-A0AF-4A5F-8A8D-1CAF10B8DF49}" dt="2025-12-14T10:15:35.356" v="246" actId="20577"/>
        <pc:sldMkLst>
          <pc:docMk/>
          <pc:sldMk cId="3706720857" sldId="263"/>
        </pc:sldMkLst>
        <pc:graphicFrameChg chg="mod modGraphic">
          <ac:chgData name="Wang,Dr.,Bo (HP Medicine) BII-CN-S" userId="950b8564-41e4-4a68-9f11-e3d2e116a359" providerId="ADAL" clId="{A0D9DB44-A0AF-4A5F-8A8D-1CAF10B8DF49}" dt="2025-12-14T10:15:35.356" v="246" actId="20577"/>
          <ac:graphicFrameMkLst>
            <pc:docMk/>
            <pc:sldMk cId="3706720857" sldId="263"/>
            <ac:graphicFrameMk id="5" creationId="{EA11B1E2-C87B-908E-FA10-C663AB0914BF}"/>
          </ac:graphicFrameMkLst>
        </pc:graphicFrameChg>
      </pc:sldChg>
      <pc:sldChg chg="modSp mod">
        <pc:chgData name="Wang,Dr.,Bo (HP Medicine) BII-CN-S" userId="950b8564-41e4-4a68-9f11-e3d2e116a359" providerId="ADAL" clId="{A0D9DB44-A0AF-4A5F-8A8D-1CAF10B8DF49}" dt="2025-12-11T15:14:44.159" v="28" actId="20577"/>
        <pc:sldMkLst>
          <pc:docMk/>
          <pc:sldMk cId="1429912873" sldId="9801"/>
        </pc:sldMkLst>
        <pc:spChg chg="mod">
          <ac:chgData name="Wang,Dr.,Bo (HP Medicine) BII-CN-S" userId="950b8564-41e4-4a68-9f11-e3d2e116a359" providerId="ADAL" clId="{A0D9DB44-A0AF-4A5F-8A8D-1CAF10B8DF49}" dt="2025-12-11T15:14:44.159" v="28" actId="20577"/>
          <ac:spMkLst>
            <pc:docMk/>
            <pc:sldMk cId="1429912873" sldId="9801"/>
            <ac:spMk id="10" creationId="{6723DFFC-7A84-40F2-69DD-524819653FC2}"/>
          </ac:spMkLst>
        </pc:spChg>
      </pc:sldChg>
      <pc:sldChg chg="modSp mod">
        <pc:chgData name="Wang,Dr.,Bo (HP Medicine) BII-CN-S" userId="950b8564-41e4-4a68-9f11-e3d2e116a359" providerId="ADAL" clId="{A0D9DB44-A0AF-4A5F-8A8D-1CAF10B8DF49}" dt="2025-12-14T08:50:00.518" v="143" actId="1076"/>
        <pc:sldMkLst>
          <pc:docMk/>
          <pc:sldMk cId="3698705349" sldId="9860"/>
        </pc:sldMkLst>
        <pc:spChg chg="mod">
          <ac:chgData name="Wang,Dr.,Bo (HP Medicine) BII-CN-S" userId="950b8564-41e4-4a68-9f11-e3d2e116a359" providerId="ADAL" clId="{A0D9DB44-A0AF-4A5F-8A8D-1CAF10B8DF49}" dt="2025-12-14T08:50:00.518" v="143" actId="1076"/>
          <ac:spMkLst>
            <pc:docMk/>
            <pc:sldMk cId="3698705349" sldId="9860"/>
            <ac:spMk id="5" creationId="{54D75C7F-CD17-A223-84D3-786B0C0C0D43}"/>
          </ac:spMkLst>
        </pc:spChg>
        <pc:spChg chg="mod">
          <ac:chgData name="Wang,Dr.,Bo (HP Medicine) BII-CN-S" userId="950b8564-41e4-4a68-9f11-e3d2e116a359" providerId="ADAL" clId="{A0D9DB44-A0AF-4A5F-8A8D-1CAF10B8DF49}" dt="2025-12-14T08:49:27.986" v="142" actId="5793"/>
          <ac:spMkLst>
            <pc:docMk/>
            <pc:sldMk cId="3698705349" sldId="9860"/>
            <ac:spMk id="13" creationId="{EE74D0FF-E456-2432-D436-0A5DE5BC10E4}"/>
          </ac:spMkLst>
        </pc:spChg>
        <pc:spChg chg="mod">
          <ac:chgData name="Wang,Dr.,Bo (HP Medicine) BII-CN-S" userId="950b8564-41e4-4a68-9f11-e3d2e116a359" providerId="ADAL" clId="{A0D9DB44-A0AF-4A5F-8A8D-1CAF10B8DF49}" dt="2025-12-11T15:14:30.145" v="26" actId="20577"/>
          <ac:spMkLst>
            <pc:docMk/>
            <pc:sldMk cId="3698705349" sldId="9860"/>
            <ac:spMk id="15" creationId="{018A4351-50B2-A250-4CF2-62E918AE2C27}"/>
          </ac:spMkLst>
        </pc:spChg>
        <pc:spChg chg="mod">
          <ac:chgData name="Wang,Dr.,Bo (HP Medicine) BII-CN-S" userId="950b8564-41e4-4a68-9f11-e3d2e116a359" providerId="ADAL" clId="{A0D9DB44-A0AF-4A5F-8A8D-1CAF10B8DF49}" dt="2025-12-14T08:50:00.518" v="143" actId="1076"/>
          <ac:spMkLst>
            <pc:docMk/>
            <pc:sldMk cId="3698705349" sldId="9860"/>
            <ac:spMk id="71" creationId="{4F17F9DA-EDAB-F90B-3181-0AFEC6BB2424}"/>
          </ac:spMkLst>
        </pc:spChg>
        <pc:spChg chg="mod">
          <ac:chgData name="Wang,Dr.,Bo (HP Medicine) BII-CN-S" userId="950b8564-41e4-4a68-9f11-e3d2e116a359" providerId="ADAL" clId="{A0D9DB44-A0AF-4A5F-8A8D-1CAF10B8DF49}" dt="2025-12-14T08:48:43.742" v="106" actId="14100"/>
          <ac:spMkLst>
            <pc:docMk/>
            <pc:sldMk cId="3698705349" sldId="9860"/>
            <ac:spMk id="72" creationId="{31742A8B-BC79-371E-B4CA-EBB040CBE1EE}"/>
          </ac:spMkLst>
        </pc:spChg>
        <pc:spChg chg="mod">
          <ac:chgData name="Wang,Dr.,Bo (HP Medicine) BII-CN-S" userId="950b8564-41e4-4a68-9f11-e3d2e116a359" providerId="ADAL" clId="{A0D9DB44-A0AF-4A5F-8A8D-1CAF10B8DF49}" dt="2025-12-14T08:50:00.518" v="143" actId="1076"/>
          <ac:spMkLst>
            <pc:docMk/>
            <pc:sldMk cId="3698705349" sldId="9860"/>
            <ac:spMk id="77" creationId="{64A8B87B-92C1-F3A2-C6D8-205E26BCED07}"/>
          </ac:spMkLst>
        </pc:spChg>
        <pc:spChg chg="mod">
          <ac:chgData name="Wang,Dr.,Bo (HP Medicine) BII-CN-S" userId="950b8564-41e4-4a68-9f11-e3d2e116a359" providerId="ADAL" clId="{A0D9DB44-A0AF-4A5F-8A8D-1CAF10B8DF49}" dt="2025-12-14T08:50:00.518" v="143" actId="1076"/>
          <ac:spMkLst>
            <pc:docMk/>
            <pc:sldMk cId="3698705349" sldId="9860"/>
            <ac:spMk id="81" creationId="{5630280C-7927-0B9E-CEFB-2E08CD26C19B}"/>
          </ac:spMkLst>
        </pc:spChg>
        <pc:spChg chg="mod">
          <ac:chgData name="Wang,Dr.,Bo (HP Medicine) BII-CN-S" userId="950b8564-41e4-4a68-9f11-e3d2e116a359" providerId="ADAL" clId="{A0D9DB44-A0AF-4A5F-8A8D-1CAF10B8DF49}" dt="2025-12-14T08:50:00.518" v="143" actId="1076"/>
          <ac:spMkLst>
            <pc:docMk/>
            <pc:sldMk cId="3698705349" sldId="9860"/>
            <ac:spMk id="87" creationId="{DF6302AA-82F6-4611-02FC-8C777B7FD34D}"/>
          </ac:spMkLst>
        </pc:spChg>
        <pc:spChg chg="mod">
          <ac:chgData name="Wang,Dr.,Bo (HP Medicine) BII-CN-S" userId="950b8564-41e4-4a68-9f11-e3d2e116a359" providerId="ADAL" clId="{A0D9DB44-A0AF-4A5F-8A8D-1CAF10B8DF49}" dt="2025-12-14T08:50:00.518" v="143" actId="1076"/>
          <ac:spMkLst>
            <pc:docMk/>
            <pc:sldMk cId="3698705349" sldId="9860"/>
            <ac:spMk id="106" creationId="{504627DC-1B8D-D359-EEFB-F586635E91D4}"/>
          </ac:spMkLst>
        </pc:spChg>
        <pc:spChg chg="mod">
          <ac:chgData name="Wang,Dr.,Bo (HP Medicine) BII-CN-S" userId="950b8564-41e4-4a68-9f11-e3d2e116a359" providerId="ADAL" clId="{A0D9DB44-A0AF-4A5F-8A8D-1CAF10B8DF49}" dt="2025-12-14T08:50:00.518" v="143" actId="1076"/>
          <ac:spMkLst>
            <pc:docMk/>
            <pc:sldMk cId="3698705349" sldId="9860"/>
            <ac:spMk id="107" creationId="{26404657-AF42-E04C-0484-8E12BF4F88B5}"/>
          </ac:spMkLst>
        </pc:spChg>
        <pc:spChg chg="mod">
          <ac:chgData name="Wang,Dr.,Bo (HP Medicine) BII-CN-S" userId="950b8564-41e4-4a68-9f11-e3d2e116a359" providerId="ADAL" clId="{A0D9DB44-A0AF-4A5F-8A8D-1CAF10B8DF49}" dt="2025-12-14T08:50:00.518" v="143" actId="1076"/>
          <ac:spMkLst>
            <pc:docMk/>
            <pc:sldMk cId="3698705349" sldId="9860"/>
            <ac:spMk id="111" creationId="{D57E4B50-846D-F18E-0522-72F0DAEE8133}"/>
          </ac:spMkLst>
        </pc:spChg>
        <pc:spChg chg="mod">
          <ac:chgData name="Wang,Dr.,Bo (HP Medicine) BII-CN-S" userId="950b8564-41e4-4a68-9f11-e3d2e116a359" providerId="ADAL" clId="{A0D9DB44-A0AF-4A5F-8A8D-1CAF10B8DF49}" dt="2025-12-14T08:50:00.518" v="143" actId="1076"/>
          <ac:spMkLst>
            <pc:docMk/>
            <pc:sldMk cId="3698705349" sldId="9860"/>
            <ac:spMk id="112" creationId="{C8ABFF76-4F68-FECA-8E75-1E50F2ABC296}"/>
          </ac:spMkLst>
        </pc:spChg>
        <pc:spChg chg="mod">
          <ac:chgData name="Wang,Dr.,Bo (HP Medicine) BII-CN-S" userId="950b8564-41e4-4a68-9f11-e3d2e116a359" providerId="ADAL" clId="{A0D9DB44-A0AF-4A5F-8A8D-1CAF10B8DF49}" dt="2025-12-14T08:50:00.518" v="143" actId="1076"/>
          <ac:spMkLst>
            <pc:docMk/>
            <pc:sldMk cId="3698705349" sldId="9860"/>
            <ac:spMk id="114" creationId="{945DE71A-BABA-A10E-6CDC-E43B1D69FB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2025/12/14</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zh-CN" sz="1200" kern="1200">
              <a:solidFill>
                <a:schemeClr val="tx1"/>
              </a:solidFill>
              <a:effectLst/>
              <a:latin typeface="Boehringer Forward Text" panose="02000500000000020000" pitchFamily="2" charset="0"/>
              <a:ea typeface="+mn-ea"/>
              <a:cs typeface="+mn-cs"/>
            </a:endParaRPr>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3267742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807B83-C6EF-4820-B29B-23163268F2B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OPPOSans M" panose="00020600040101010101"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OPPOSans M" panose="00020600040101010101" pitchFamily="18" charset="-122"/>
              <a:cs typeface="+mn-cs"/>
            </a:endParaRPr>
          </a:p>
        </p:txBody>
      </p:sp>
    </p:spTree>
    <p:extLst>
      <p:ext uri="{BB962C8B-B14F-4D97-AF65-F5344CB8AC3E}">
        <p14:creationId xmlns:p14="http://schemas.microsoft.com/office/powerpoint/2010/main" val="394752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GB"/>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501180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D5A067-4DB8-4090-BFE9-9CF99EADEFB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24071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0C174-3B45-4A15-BA70-A78CC8C221B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82702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0C174-3B45-4A15-BA70-A78CC8C221B3}"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68955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322196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A8FD05-1E38-4966-8738-829DFE500DC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490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E460097-0CC7-40A1-8493-A8E8522F88E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5885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A8FD05-1E38-4966-8738-829DFE500DC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502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871632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r>
              <a:rPr lang="en-US">
                <a:effectLst/>
                <a:latin typeface="-apple-system"/>
              </a:rPr>
              <a:t> </a:t>
            </a:r>
            <a:endParaRPr lang="de-CH"/>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88746877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14.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7.png"/><Relationship Id="rId5" Type="http://schemas.openxmlformats.org/officeDocument/2006/relationships/image" Target="../media/image18.emf"/><Relationship Id="rId4" Type="http://schemas.openxmlformats.org/officeDocument/2006/relationships/oleObject" Target="../embeddings/oleObject1.bin"/></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5.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21.svg"/><Relationship Id="rId4" Type="http://schemas.openxmlformats.org/officeDocument/2006/relationships/image" Target="../media/image4.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5.xml"/><Relationship Id="rId4" Type="http://schemas.openxmlformats.org/officeDocument/2006/relationships/image" Target="../media/image25.jpeg"/></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6.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14.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07134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22567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663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906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75129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9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182038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28300000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396428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919383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88264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9376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83576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126928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2461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7039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40619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273538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7851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52460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5020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933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32816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98486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86109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481123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205604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32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55258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6430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2756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731732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631844973"/>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14/12/2025</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5055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41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12712272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2025/12/14</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783793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4350766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734885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4524378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9395453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3747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378535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718696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702943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98107368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8456070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98251772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070397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7117685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25189993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5204050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20514232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4771862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866596860"/>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20559133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98342438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8014656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5177176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539532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0311597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4285259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8475559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0708526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58062956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5023850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98427527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54154498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040340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6004617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6134060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854590157"/>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09285A"/>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Arial"/>
                <a:cs typeface="Arial"/>
              </a:defRPr>
            </a:lvl1pPr>
          </a:lstStyle>
          <a:p>
            <a:pPr marL="38100">
              <a:lnSpc>
                <a:spcPts val="1425"/>
              </a:lnSpc>
            </a:pPr>
            <a:fld id="{81D60167-4931-47E6-BA6A-407CBD079E47}" type="slidenum">
              <a:rPr spc="-5" dirty="0"/>
              <a:t>‹#›</a:t>
            </a:fld>
            <a:endParaRPr spc="-5"/>
          </a:p>
        </p:txBody>
      </p:sp>
    </p:spTree>
    <p:extLst>
      <p:ext uri="{BB962C8B-B14F-4D97-AF65-F5344CB8AC3E}">
        <p14:creationId xmlns:p14="http://schemas.microsoft.com/office/powerpoint/2010/main" val="130944622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6524760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750808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040467" y="6020753"/>
            <a:ext cx="9287933" cy="52434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3958427457"/>
      </p:ext>
    </p:extLst>
  </p:cSld>
  <p:clrMapOvr>
    <a:masterClrMapping/>
  </p:clrMapOvr>
  <p:extLst>
    <p:ext uri="{DCECCB84-F9BA-43D5-87BE-67443E8EF086}">
      <p15:sldGuideLst xmlns:p15="http://schemas.microsoft.com/office/powerpoint/2012/main">
        <p15:guide id="1" pos="96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Nerandomilast in </a:t>
            </a:r>
            <a:r>
              <a:rPr lang="en-US" err="1"/>
              <a:t>SSc</a:t>
            </a:r>
            <a:r>
              <a:rPr lang="en-US"/>
              <a:t> </a:t>
            </a:r>
            <a:r>
              <a:rPr lang="en-US" err="1"/>
              <a:t>iCEC</a:t>
            </a:r>
            <a:r>
              <a:rPr lang="en-US"/>
              <a:t> June 2025 CONFIDENTIAL ONLY FOR INTERNAL USE </a:t>
            </a:r>
          </a:p>
        </p:txBody>
      </p:sp>
    </p:spTree>
    <p:extLst>
      <p:ext uri="{BB962C8B-B14F-4D97-AF65-F5344CB8AC3E}">
        <p14:creationId xmlns:p14="http://schemas.microsoft.com/office/powerpoint/2010/main" val="23437560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Tree>
    <p:extLst>
      <p:ext uri="{BB962C8B-B14F-4D97-AF65-F5344CB8AC3E}">
        <p14:creationId xmlns:p14="http://schemas.microsoft.com/office/powerpoint/2010/main" val="176128992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9790217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Nerandomilast in </a:t>
            </a:r>
            <a:r>
              <a:rPr lang="en-US" err="1"/>
              <a:t>SSc</a:t>
            </a:r>
            <a:r>
              <a:rPr lang="en-US"/>
              <a:t> </a:t>
            </a:r>
            <a:r>
              <a:rPr lang="en-US" err="1"/>
              <a:t>iCEC</a:t>
            </a:r>
            <a:r>
              <a:rPr lang="en-US"/>
              <a:t> June 2025 CONFIDENTIAL ONLY FOR INTERNAL USE </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66551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7757615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81969135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97870370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Tree>
    <p:extLst>
      <p:ext uri="{BB962C8B-B14F-4D97-AF65-F5344CB8AC3E}">
        <p14:creationId xmlns:p14="http://schemas.microsoft.com/office/powerpoint/2010/main" val="90308577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Tree>
    <p:extLst>
      <p:ext uri="{BB962C8B-B14F-4D97-AF65-F5344CB8AC3E}">
        <p14:creationId xmlns:p14="http://schemas.microsoft.com/office/powerpoint/2010/main" val="123753682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8124900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a:xfrm>
            <a:off x="4079776" y="6246836"/>
            <a:ext cx="7272808" cy="288000"/>
          </a:xfrm>
        </p:spPr>
        <p:txBody>
          <a:bodyPr/>
          <a:lstStyle/>
          <a:p>
            <a:r>
              <a:rPr lang="en-US"/>
              <a:t>Nerandomilast in </a:t>
            </a:r>
            <a:r>
              <a:rPr lang="en-US" err="1"/>
              <a:t>SSc</a:t>
            </a:r>
            <a:r>
              <a:rPr lang="en-US"/>
              <a:t> </a:t>
            </a:r>
            <a:r>
              <a:rPr lang="en-US" err="1"/>
              <a:t>iCEC</a:t>
            </a:r>
            <a:r>
              <a:rPr lang="en-US"/>
              <a:t> June 2025 CONFIDENTIAL ONLY FOR INTERNAL USE </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4532425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4520742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21270610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Nerandomilast in </a:t>
            </a:r>
            <a:r>
              <a:rPr lang="en-US" err="1"/>
              <a:t>SSc</a:t>
            </a:r>
            <a:r>
              <a:rPr lang="en-US"/>
              <a:t> </a:t>
            </a:r>
            <a:r>
              <a:rPr lang="en-US" err="1"/>
              <a:t>iCEC</a:t>
            </a:r>
            <a:r>
              <a:rPr lang="en-US"/>
              <a:t> June 2025 CONFIDENTIAL ONLY FOR INTERNAL USE </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2000235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65351073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693353873"/>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Tree>
    <p:extLst>
      <p:ext uri="{BB962C8B-B14F-4D97-AF65-F5344CB8AC3E}">
        <p14:creationId xmlns:p14="http://schemas.microsoft.com/office/powerpoint/2010/main" val="177991180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Tree>
    <p:extLst>
      <p:ext uri="{BB962C8B-B14F-4D97-AF65-F5344CB8AC3E}">
        <p14:creationId xmlns:p14="http://schemas.microsoft.com/office/powerpoint/2010/main" val="150752355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538879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240485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6418904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8235143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6415498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3173851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612888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64874608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4577668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6003735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348292002"/>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9894013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1745293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Nerandomilast in </a:t>
            </a:r>
            <a:r>
              <a:rPr lang="en-US" err="1"/>
              <a:t>SSc</a:t>
            </a:r>
            <a:r>
              <a:rPr lang="en-US"/>
              <a:t> </a:t>
            </a:r>
            <a:r>
              <a:rPr lang="en-US" err="1"/>
              <a:t>iCEC</a:t>
            </a:r>
            <a:r>
              <a:rPr lang="en-US"/>
              <a:t> June 2025 CONFIDENTIAL ONLY FOR INTERNAL USE </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5639366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Nerandomilast in </a:t>
            </a:r>
            <a:r>
              <a:rPr lang="en-US" err="1"/>
              <a:t>SSc</a:t>
            </a:r>
            <a:r>
              <a:rPr lang="en-US"/>
              <a:t> </a:t>
            </a:r>
            <a:r>
              <a:rPr lang="en-US" err="1"/>
              <a:t>iCEC</a:t>
            </a:r>
            <a:r>
              <a:rPr lang="en-US"/>
              <a:t> June 2025 CONFIDENTIAL ONLY FOR INTERNAL USE </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1956122058"/>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33961E-1BC5-A5E0-B6CB-49F21D3CE3A5}"/>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0260956-2259-7BD9-F745-212172629EF0}"/>
              </a:ext>
            </a:extLst>
          </p:cNvPr>
          <p:cNvSpPr>
            <a:spLocks noGrp="1"/>
          </p:cNvSpPr>
          <p:nvPr>
            <p:ph type="ftr" sz="quarter" idx="11"/>
          </p:nvPr>
        </p:nvSpPr>
        <p:spPr/>
        <p:txBody>
          <a:bodyPr/>
          <a:lstStyle/>
          <a:p>
            <a:r>
              <a:rPr lang="en-US"/>
              <a:t>Nerandomilast in </a:t>
            </a:r>
            <a:r>
              <a:rPr lang="en-US" err="1"/>
              <a:t>SSc</a:t>
            </a:r>
            <a:r>
              <a:rPr lang="en-US"/>
              <a:t> </a:t>
            </a:r>
            <a:r>
              <a:rPr lang="en-US" err="1"/>
              <a:t>iCEC</a:t>
            </a:r>
            <a:r>
              <a:rPr lang="en-US"/>
              <a:t> June 2025 CONFIDENTIAL ONLY FOR INTERNAL USE </a:t>
            </a:r>
          </a:p>
        </p:txBody>
      </p:sp>
      <p:sp>
        <p:nvSpPr>
          <p:cNvPr id="4" name="Slide Number Placeholder 3">
            <a:extLst>
              <a:ext uri="{FF2B5EF4-FFF2-40B4-BE49-F238E27FC236}">
                <a16:creationId xmlns:a16="http://schemas.microsoft.com/office/drawing/2014/main" id="{5843CB37-E42B-943A-8B58-072B2ACCA9D3}"/>
              </a:ext>
            </a:extLst>
          </p:cNvPr>
          <p:cNvSpPr>
            <a:spLocks noGrp="1"/>
          </p:cNvSpPr>
          <p:nvPr>
            <p:ph type="sldNum" sz="quarter" idx="12"/>
          </p:nvPr>
        </p:nvSpPr>
        <p:spPr/>
        <p:txBody>
          <a:bodyPr/>
          <a:lstStyle/>
          <a:p>
            <a:fld id="{D77874AA-E26C-4682-A800-36D55581FD23}" type="slidenum">
              <a:rPr lang="en-US" smtClean="0"/>
              <a:t>‹#›</a:t>
            </a:fld>
            <a:endParaRPr lang="en-US"/>
          </a:p>
        </p:txBody>
      </p:sp>
    </p:spTree>
    <p:extLst>
      <p:ext uri="{BB962C8B-B14F-4D97-AF65-F5344CB8AC3E}">
        <p14:creationId xmlns:p14="http://schemas.microsoft.com/office/powerpoint/2010/main" val="13375046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040467" y="6020753"/>
            <a:ext cx="9287933" cy="52434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403635031"/>
      </p:ext>
    </p:extLst>
  </p:cSld>
  <p:clrMapOvr>
    <a:masterClrMapping/>
  </p:clrMapOvr>
  <p:extLst>
    <p:ext uri="{DCECCB84-F9BA-43D5-87BE-67443E8EF086}">
      <p15:sldGuideLst xmlns:p15="http://schemas.microsoft.com/office/powerpoint/2012/main">
        <p15:guide id="1" pos="96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2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2" name="Text Placeholder 10">
            <a:extLst>
              <a:ext uri="{FF2B5EF4-FFF2-40B4-BE49-F238E27FC236}">
                <a16:creationId xmlns:a16="http://schemas.microsoft.com/office/drawing/2014/main" id="{74D2D559-6EE6-CAB1-0958-208A6D1CC2A2}"/>
              </a:ext>
            </a:extLst>
          </p:cNvPr>
          <p:cNvSpPr>
            <a:spLocks noGrp="1"/>
          </p:cNvSpPr>
          <p:nvPr>
            <p:ph type="body" sz="quarter" idx="12" hasCustomPrompt="1"/>
          </p:nvPr>
        </p:nvSpPr>
        <p:spPr>
          <a:xfrm>
            <a:off x="2009566" y="6038641"/>
            <a:ext cx="8784207" cy="503237"/>
          </a:xfrm>
        </p:spPr>
        <p:txBody>
          <a:bodyPr anchor="b"/>
          <a:lstStyle>
            <a:lvl1pPr marL="0" indent="0">
              <a:lnSpc>
                <a:spcPct val="100000"/>
              </a:lnSpc>
              <a:spcAft>
                <a:spcPts val="0"/>
              </a:spcAft>
              <a:buNone/>
              <a:defRPr sz="800"/>
            </a:lvl1pPr>
            <a:lvl2pPr marL="216000" indent="0">
              <a:buNone/>
              <a:defRPr sz="800"/>
            </a:lvl2pPr>
            <a:lvl3pPr marL="360000" indent="0">
              <a:buNone/>
              <a:defRPr sz="800"/>
            </a:lvl3pPr>
            <a:lvl4pPr marL="576000" indent="0">
              <a:buNone/>
              <a:defRPr sz="800"/>
            </a:lvl4pPr>
            <a:lvl5pPr marL="0" indent="0">
              <a:buNone/>
              <a:defRPr sz="800"/>
            </a:lvl5pPr>
          </a:lstStyle>
          <a:p>
            <a:pPr lvl="0"/>
            <a:r>
              <a:rPr lang="en-US"/>
              <a:t>Footer</a:t>
            </a:r>
            <a:endParaRPr lang="en-GB"/>
          </a:p>
        </p:txBody>
      </p:sp>
    </p:spTree>
    <p:extLst>
      <p:ext uri="{BB962C8B-B14F-4D97-AF65-F5344CB8AC3E}">
        <p14:creationId xmlns:p14="http://schemas.microsoft.com/office/powerpoint/2010/main" val="9708368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AA3FC-8B40-D82C-5AA6-E32303570C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B88416-E252-DA7A-081F-7879DDA9FA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8F17BC-58B1-53CC-C838-EAA229FD6AF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56EFD18-876D-3671-3628-8662AE09050C}"/>
              </a:ext>
            </a:extLst>
          </p:cNvPr>
          <p:cNvSpPr>
            <a:spLocks noGrp="1"/>
          </p:cNvSpPr>
          <p:nvPr>
            <p:ph type="ftr" sz="quarter" idx="11"/>
          </p:nvPr>
        </p:nvSpPr>
        <p:spPr/>
        <p:txBody>
          <a:bodyPr/>
          <a:lstStyle/>
          <a:p>
            <a:r>
              <a:rPr lang="en-US"/>
              <a:t>Nerandomilast in </a:t>
            </a:r>
            <a:r>
              <a:rPr lang="en-US" err="1"/>
              <a:t>SSc</a:t>
            </a:r>
            <a:r>
              <a:rPr lang="en-US"/>
              <a:t> </a:t>
            </a:r>
            <a:r>
              <a:rPr lang="en-US" err="1"/>
              <a:t>iCEC</a:t>
            </a:r>
            <a:r>
              <a:rPr lang="en-US"/>
              <a:t> June 2025 CONFIDENTIAL ONLY FOR INTERNAL USE </a:t>
            </a:r>
          </a:p>
        </p:txBody>
      </p:sp>
      <p:sp>
        <p:nvSpPr>
          <p:cNvPr id="6" name="Slide Number Placeholder 5">
            <a:extLst>
              <a:ext uri="{FF2B5EF4-FFF2-40B4-BE49-F238E27FC236}">
                <a16:creationId xmlns:a16="http://schemas.microsoft.com/office/drawing/2014/main" id="{6620FB25-890C-0259-01C5-725B1834F908}"/>
              </a:ext>
            </a:extLst>
          </p:cNvPr>
          <p:cNvSpPr>
            <a:spLocks noGrp="1"/>
          </p:cNvSpPr>
          <p:nvPr>
            <p:ph type="sldNum" sz="quarter" idx="12"/>
          </p:nvPr>
        </p:nvSpPr>
        <p:spPr/>
        <p:txBody>
          <a:bodyPr/>
          <a:lstStyle/>
          <a:p>
            <a:fld id="{B5842340-E6D6-42A6-A79B-ECB6804F0239}" type="slidenum">
              <a:rPr lang="en-US" smtClean="0"/>
              <a:t>‹#›</a:t>
            </a:fld>
            <a:endParaRPr lang="en-US"/>
          </a:p>
        </p:txBody>
      </p:sp>
    </p:spTree>
    <p:extLst>
      <p:ext uri="{BB962C8B-B14F-4D97-AF65-F5344CB8AC3E}">
        <p14:creationId xmlns:p14="http://schemas.microsoft.com/office/powerpoint/2010/main" val="339086419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Titel Only 20p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262876147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623" y="527671"/>
            <a:ext cx="11211277" cy="348813"/>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Nerandomilast in </a:t>
            </a:r>
            <a:r>
              <a:rPr lang="en-US" err="1"/>
              <a:t>SSc</a:t>
            </a:r>
            <a:r>
              <a:rPr lang="en-US"/>
              <a:t> </a:t>
            </a:r>
            <a:r>
              <a:rPr lang="en-US" err="1"/>
              <a:t>iCEC</a:t>
            </a:r>
            <a:r>
              <a:rPr lang="en-US"/>
              <a:t> June 2025 CONFIDENTIAL ONLY FOR INTERNAL USE </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480374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1" y="36008"/>
            <a:ext cx="9984131" cy="897125"/>
          </a:xfrm>
        </p:spPr>
        <p:txBody>
          <a:bodyPr anchor="ctr">
            <a:noAutofit/>
          </a:bodyPr>
          <a:lstStyle>
            <a:lvl1pPr>
              <a:lnSpc>
                <a:spcPct val="90000"/>
              </a:lnSpc>
              <a:defRPr/>
            </a:lvl1pPr>
          </a:lstStyle>
          <a:p>
            <a:r>
              <a:rPr lang="en-GB" noProof="0"/>
              <a:t>Click to add headline</a:t>
            </a:r>
          </a:p>
        </p:txBody>
      </p:sp>
      <p:grpSp>
        <p:nvGrpSpPr>
          <p:cNvPr id="16" name="Group 15">
            <a:extLst>
              <a:ext uri="{FF2B5EF4-FFF2-40B4-BE49-F238E27FC236}">
                <a16:creationId xmlns:a16="http://schemas.microsoft.com/office/drawing/2014/main" id="{30EEADE4-C03B-410E-98AF-E6B6D7D89869}"/>
              </a:ext>
            </a:extLst>
          </p:cNvPr>
          <p:cNvGrpSpPr/>
          <p:nvPr userDrawn="1"/>
        </p:nvGrpSpPr>
        <p:grpSpPr>
          <a:xfrm>
            <a:off x="10696164" y="127909"/>
            <a:ext cx="1315237" cy="743995"/>
            <a:chOff x="2248038" y="1360755"/>
            <a:chExt cx="4175388" cy="2361904"/>
          </a:xfrm>
        </p:grpSpPr>
        <p:grpSp>
          <p:nvGrpSpPr>
            <p:cNvPr id="17" name="Graphic 72">
              <a:extLst>
                <a:ext uri="{FF2B5EF4-FFF2-40B4-BE49-F238E27FC236}">
                  <a16:creationId xmlns:a16="http://schemas.microsoft.com/office/drawing/2014/main" id="{3C4824E3-BA7F-4F92-A06F-813C5183D045}"/>
                </a:ext>
              </a:extLst>
            </p:cNvPr>
            <p:cNvGrpSpPr/>
            <p:nvPr/>
          </p:nvGrpSpPr>
          <p:grpSpPr>
            <a:xfrm>
              <a:off x="2248038" y="1360755"/>
              <a:ext cx="4175388" cy="2361904"/>
              <a:chOff x="2248038" y="1360755"/>
              <a:chExt cx="4175388" cy="2361904"/>
            </a:xfrm>
          </p:grpSpPr>
          <p:grpSp>
            <p:nvGrpSpPr>
              <p:cNvPr id="31" name="Graphic 72">
                <a:extLst>
                  <a:ext uri="{FF2B5EF4-FFF2-40B4-BE49-F238E27FC236}">
                    <a16:creationId xmlns:a16="http://schemas.microsoft.com/office/drawing/2014/main" id="{DFC3A499-9C0F-47CF-BBF6-4D2392FE2CBB}"/>
                  </a:ext>
                </a:extLst>
              </p:cNvPr>
              <p:cNvGrpSpPr/>
              <p:nvPr/>
            </p:nvGrpSpPr>
            <p:grpSpPr>
              <a:xfrm>
                <a:off x="2248038" y="1360755"/>
                <a:ext cx="4175388" cy="2361904"/>
                <a:chOff x="2248038" y="1360755"/>
                <a:chExt cx="4175388" cy="2361904"/>
              </a:xfrm>
            </p:grpSpPr>
            <p:grpSp>
              <p:nvGrpSpPr>
                <p:cNvPr id="59" name="Graphic 72">
                  <a:extLst>
                    <a:ext uri="{FF2B5EF4-FFF2-40B4-BE49-F238E27FC236}">
                      <a16:creationId xmlns:a16="http://schemas.microsoft.com/office/drawing/2014/main" id="{E9166F24-4938-4D16-9BE1-36CD65883E83}"/>
                    </a:ext>
                  </a:extLst>
                </p:cNvPr>
                <p:cNvGrpSpPr/>
                <p:nvPr/>
              </p:nvGrpSpPr>
              <p:grpSpPr>
                <a:xfrm>
                  <a:off x="2249214" y="3443011"/>
                  <a:ext cx="2262616" cy="144341"/>
                  <a:chOff x="2249214" y="3443011"/>
                  <a:chExt cx="2262616" cy="144341"/>
                </a:xfrm>
                <a:solidFill>
                  <a:srgbClr val="003D7C"/>
                </a:solidFill>
              </p:grpSpPr>
              <p:sp>
                <p:nvSpPr>
                  <p:cNvPr id="93" name="Freeform: Shape 92">
                    <a:extLst>
                      <a:ext uri="{FF2B5EF4-FFF2-40B4-BE49-F238E27FC236}">
                        <a16:creationId xmlns:a16="http://schemas.microsoft.com/office/drawing/2014/main" id="{439BB0E3-2A47-4769-9CDA-348C7340B956}"/>
                      </a:ext>
                    </a:extLst>
                  </p:cNvPr>
                  <p:cNvSpPr/>
                  <p:nvPr/>
                </p:nvSpPr>
                <p:spPr>
                  <a:xfrm>
                    <a:off x="2249214" y="3445387"/>
                    <a:ext cx="115276" cy="139598"/>
                  </a:xfrm>
                  <a:custGeom>
                    <a:avLst/>
                    <a:gdLst>
                      <a:gd name="connsiteX0" fmla="*/ 48049 w 115276"/>
                      <a:gd name="connsiteY0" fmla="*/ 17007 h 139598"/>
                      <a:gd name="connsiteX1" fmla="*/ 6525 w 115276"/>
                      <a:gd name="connsiteY1" fmla="*/ 17007 h 139598"/>
                      <a:gd name="connsiteX2" fmla="*/ 0 w 115276"/>
                      <a:gd name="connsiteY2" fmla="*/ 10483 h 139598"/>
                      <a:gd name="connsiteX3" fmla="*/ 0 w 115276"/>
                      <a:gd name="connsiteY3" fmla="*/ 6525 h 139598"/>
                      <a:gd name="connsiteX4" fmla="*/ 6525 w 115276"/>
                      <a:gd name="connsiteY4" fmla="*/ 0 h 139598"/>
                      <a:gd name="connsiteX5" fmla="*/ 108952 w 115276"/>
                      <a:gd name="connsiteY5" fmla="*/ 0 h 139598"/>
                      <a:gd name="connsiteX6" fmla="*/ 115276 w 115276"/>
                      <a:gd name="connsiteY6" fmla="*/ 6525 h 139598"/>
                      <a:gd name="connsiteX7" fmla="*/ 115276 w 115276"/>
                      <a:gd name="connsiteY7" fmla="*/ 10483 h 139598"/>
                      <a:gd name="connsiteX8" fmla="*/ 108952 w 115276"/>
                      <a:gd name="connsiteY8" fmla="*/ 17007 h 139598"/>
                      <a:gd name="connsiteX9" fmla="*/ 67427 w 115276"/>
                      <a:gd name="connsiteY9" fmla="*/ 17007 h 139598"/>
                      <a:gd name="connsiteX10" fmla="*/ 67427 w 115276"/>
                      <a:gd name="connsiteY10" fmla="*/ 133074 h 139598"/>
                      <a:gd name="connsiteX11" fmla="*/ 60903 w 115276"/>
                      <a:gd name="connsiteY11" fmla="*/ 139598 h 139598"/>
                      <a:gd name="connsiteX12" fmla="*/ 54378 w 115276"/>
                      <a:gd name="connsiteY12" fmla="*/ 139598 h 139598"/>
                      <a:gd name="connsiteX13" fmla="*/ 48049 w 115276"/>
                      <a:gd name="connsiteY13" fmla="*/ 133074 h 139598"/>
                      <a:gd name="connsiteX14" fmla="*/ 48049 w 115276"/>
                      <a:gd name="connsiteY14" fmla="*/ 17007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5276" h="139598">
                        <a:moveTo>
                          <a:pt x="48049" y="17007"/>
                        </a:moveTo>
                        <a:lnTo>
                          <a:pt x="6525" y="17007"/>
                        </a:lnTo>
                        <a:cubicBezTo>
                          <a:pt x="2176" y="17007"/>
                          <a:pt x="0" y="14830"/>
                          <a:pt x="0" y="10483"/>
                        </a:cubicBezTo>
                        <a:lnTo>
                          <a:pt x="0" y="6525"/>
                        </a:lnTo>
                        <a:cubicBezTo>
                          <a:pt x="0" y="2172"/>
                          <a:pt x="2176" y="0"/>
                          <a:pt x="6525" y="0"/>
                        </a:cubicBezTo>
                        <a:lnTo>
                          <a:pt x="108952" y="0"/>
                        </a:lnTo>
                        <a:cubicBezTo>
                          <a:pt x="113171" y="0"/>
                          <a:pt x="115276" y="2177"/>
                          <a:pt x="115276" y="6525"/>
                        </a:cubicBezTo>
                        <a:lnTo>
                          <a:pt x="115276" y="10483"/>
                        </a:lnTo>
                        <a:cubicBezTo>
                          <a:pt x="115276" y="14830"/>
                          <a:pt x="113171" y="17007"/>
                          <a:pt x="108952" y="17007"/>
                        </a:cubicBezTo>
                        <a:lnTo>
                          <a:pt x="67427" y="17007"/>
                        </a:lnTo>
                        <a:lnTo>
                          <a:pt x="67427" y="133074"/>
                        </a:lnTo>
                        <a:cubicBezTo>
                          <a:pt x="67427" y="137427"/>
                          <a:pt x="65251" y="139598"/>
                          <a:pt x="60903" y="139598"/>
                        </a:cubicBezTo>
                        <a:lnTo>
                          <a:pt x="54378" y="139598"/>
                        </a:lnTo>
                        <a:cubicBezTo>
                          <a:pt x="50154" y="139598"/>
                          <a:pt x="48049" y="137422"/>
                          <a:pt x="48049" y="133074"/>
                        </a:cubicBezTo>
                        <a:lnTo>
                          <a:pt x="48049" y="17007"/>
                        </a:lnTo>
                        <a:close/>
                      </a:path>
                    </a:pathLst>
                  </a:custGeom>
                  <a:solidFill>
                    <a:srgbClr val="003D7C"/>
                  </a:solidFill>
                  <a:ln w="4763" cap="flat">
                    <a:noFill/>
                    <a:prstDash val="solid"/>
                    <a:miter/>
                  </a:ln>
                </p:spPr>
                <p:txBody>
                  <a:bodyPr rtlCol="0" anchor="ctr"/>
                  <a:lstStyle/>
                  <a:p>
                    <a:endParaRPr lang="en-GB" sz="3200"/>
                  </a:p>
                </p:txBody>
              </p:sp>
              <p:sp>
                <p:nvSpPr>
                  <p:cNvPr id="94" name="Freeform: Shape 93">
                    <a:extLst>
                      <a:ext uri="{FF2B5EF4-FFF2-40B4-BE49-F238E27FC236}">
                        <a16:creationId xmlns:a16="http://schemas.microsoft.com/office/drawing/2014/main" id="{37313256-502E-4A20-AF1F-4AB15879CBF6}"/>
                      </a:ext>
                    </a:extLst>
                  </p:cNvPr>
                  <p:cNvSpPr/>
                  <p:nvPr/>
                </p:nvSpPr>
                <p:spPr>
                  <a:xfrm>
                    <a:off x="2395586" y="3445387"/>
                    <a:ext cx="116941" cy="139598"/>
                  </a:xfrm>
                  <a:custGeom>
                    <a:avLst/>
                    <a:gdLst>
                      <a:gd name="connsiteX0" fmla="*/ 46419 w 116941"/>
                      <a:gd name="connsiteY0" fmla="*/ 5339 h 139598"/>
                      <a:gd name="connsiteX1" fmla="*/ 53735 w 116941"/>
                      <a:gd name="connsiteY1" fmla="*/ 0 h 139598"/>
                      <a:gd name="connsiteX2" fmla="*/ 63221 w 116941"/>
                      <a:gd name="connsiteY2" fmla="*/ 0 h 139598"/>
                      <a:gd name="connsiteX3" fmla="*/ 70541 w 116941"/>
                      <a:gd name="connsiteY3" fmla="*/ 5339 h 139598"/>
                      <a:gd name="connsiteX4" fmla="*/ 116414 w 116941"/>
                      <a:gd name="connsiteY4" fmla="*/ 132083 h 139598"/>
                      <a:gd name="connsiteX5" fmla="*/ 116119 w 116941"/>
                      <a:gd name="connsiteY5" fmla="*/ 137522 h 139598"/>
                      <a:gd name="connsiteX6" fmla="*/ 111075 w 116941"/>
                      <a:gd name="connsiteY6" fmla="*/ 139598 h 139598"/>
                      <a:gd name="connsiteX7" fmla="*/ 104355 w 116941"/>
                      <a:gd name="connsiteY7" fmla="*/ 139598 h 139598"/>
                      <a:gd name="connsiteX8" fmla="*/ 97035 w 116941"/>
                      <a:gd name="connsiteY8" fmla="*/ 134260 h 139598"/>
                      <a:gd name="connsiteX9" fmla="*/ 84581 w 116941"/>
                      <a:gd name="connsiteY9" fmla="*/ 99460 h 139598"/>
                      <a:gd name="connsiteX10" fmla="*/ 31984 w 116941"/>
                      <a:gd name="connsiteY10" fmla="*/ 99460 h 139598"/>
                      <a:gd name="connsiteX11" fmla="*/ 19725 w 116941"/>
                      <a:gd name="connsiteY11" fmla="*/ 134260 h 139598"/>
                      <a:gd name="connsiteX12" fmla="*/ 12610 w 116941"/>
                      <a:gd name="connsiteY12" fmla="*/ 139598 h 139598"/>
                      <a:gd name="connsiteX13" fmla="*/ 5886 w 116941"/>
                      <a:gd name="connsiteY13" fmla="*/ 139598 h 139598"/>
                      <a:gd name="connsiteX14" fmla="*/ 747 w 116941"/>
                      <a:gd name="connsiteY14" fmla="*/ 137522 h 139598"/>
                      <a:gd name="connsiteX15" fmla="*/ 547 w 116941"/>
                      <a:gd name="connsiteY15" fmla="*/ 132083 h 139598"/>
                      <a:gd name="connsiteX16" fmla="*/ 46419 w 116941"/>
                      <a:gd name="connsiteY16" fmla="*/ 5339 h 139598"/>
                      <a:gd name="connsiteX17" fmla="*/ 79438 w 116941"/>
                      <a:gd name="connsiteY17" fmla="*/ 83244 h 139598"/>
                      <a:gd name="connsiteX18" fmla="*/ 64017 w 116941"/>
                      <a:gd name="connsiteY18" fmla="*/ 38953 h 139598"/>
                      <a:gd name="connsiteX19" fmla="*/ 62135 w 116941"/>
                      <a:gd name="connsiteY19" fmla="*/ 32923 h 139598"/>
                      <a:gd name="connsiteX20" fmla="*/ 60450 w 116941"/>
                      <a:gd name="connsiteY20" fmla="*/ 26494 h 139598"/>
                      <a:gd name="connsiteX21" fmla="*/ 58673 w 116941"/>
                      <a:gd name="connsiteY21" fmla="*/ 19179 h 139598"/>
                      <a:gd name="connsiteX22" fmla="*/ 58278 w 116941"/>
                      <a:gd name="connsiteY22" fmla="*/ 19179 h 139598"/>
                      <a:gd name="connsiteX23" fmla="*/ 56297 w 116941"/>
                      <a:gd name="connsiteY23" fmla="*/ 26494 h 139598"/>
                      <a:gd name="connsiteX24" fmla="*/ 54520 w 116941"/>
                      <a:gd name="connsiteY24" fmla="*/ 32923 h 139598"/>
                      <a:gd name="connsiteX25" fmla="*/ 52739 w 116941"/>
                      <a:gd name="connsiteY25" fmla="*/ 38953 h 139598"/>
                      <a:gd name="connsiteX26" fmla="*/ 37123 w 116941"/>
                      <a:gd name="connsiteY26" fmla="*/ 83244 h 139598"/>
                      <a:gd name="connsiteX27" fmla="*/ 79438 w 116941"/>
                      <a:gd name="connsiteY27" fmla="*/ 83244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941" h="139598">
                        <a:moveTo>
                          <a:pt x="46419" y="5339"/>
                        </a:moveTo>
                        <a:cubicBezTo>
                          <a:pt x="47605" y="1777"/>
                          <a:pt x="50043" y="0"/>
                          <a:pt x="53735" y="0"/>
                        </a:cubicBezTo>
                        <a:lnTo>
                          <a:pt x="63221" y="0"/>
                        </a:lnTo>
                        <a:cubicBezTo>
                          <a:pt x="66912" y="0"/>
                          <a:pt x="69351" y="1781"/>
                          <a:pt x="70541" y="5339"/>
                        </a:cubicBezTo>
                        <a:lnTo>
                          <a:pt x="116414" y="132083"/>
                        </a:lnTo>
                        <a:cubicBezTo>
                          <a:pt x="117204" y="134326"/>
                          <a:pt x="117109" y="136136"/>
                          <a:pt x="116119" y="137522"/>
                        </a:cubicBezTo>
                        <a:cubicBezTo>
                          <a:pt x="115133" y="138908"/>
                          <a:pt x="113447" y="139598"/>
                          <a:pt x="111075" y="139598"/>
                        </a:cubicBezTo>
                        <a:lnTo>
                          <a:pt x="104355" y="139598"/>
                        </a:lnTo>
                        <a:cubicBezTo>
                          <a:pt x="100664" y="139598"/>
                          <a:pt x="98226" y="137817"/>
                          <a:pt x="97035" y="134260"/>
                        </a:cubicBezTo>
                        <a:lnTo>
                          <a:pt x="84581" y="99460"/>
                        </a:lnTo>
                        <a:lnTo>
                          <a:pt x="31984" y="99460"/>
                        </a:lnTo>
                        <a:lnTo>
                          <a:pt x="19725" y="134260"/>
                        </a:lnTo>
                        <a:cubicBezTo>
                          <a:pt x="18668" y="137822"/>
                          <a:pt x="16296" y="139598"/>
                          <a:pt x="12610" y="139598"/>
                        </a:cubicBezTo>
                        <a:lnTo>
                          <a:pt x="5886" y="139598"/>
                        </a:lnTo>
                        <a:cubicBezTo>
                          <a:pt x="3380" y="139598"/>
                          <a:pt x="1666" y="138903"/>
                          <a:pt x="747" y="137522"/>
                        </a:cubicBezTo>
                        <a:cubicBezTo>
                          <a:pt x="-177" y="136136"/>
                          <a:pt x="-244" y="134326"/>
                          <a:pt x="547" y="132083"/>
                        </a:cubicBezTo>
                        <a:lnTo>
                          <a:pt x="46419" y="5339"/>
                        </a:lnTo>
                        <a:close/>
                        <a:moveTo>
                          <a:pt x="79438" y="83244"/>
                        </a:moveTo>
                        <a:lnTo>
                          <a:pt x="64017" y="38953"/>
                        </a:lnTo>
                        <a:cubicBezTo>
                          <a:pt x="63350" y="37109"/>
                          <a:pt x="62726" y="35095"/>
                          <a:pt x="62135" y="32923"/>
                        </a:cubicBezTo>
                        <a:cubicBezTo>
                          <a:pt x="61540" y="30747"/>
                          <a:pt x="60978" y="28604"/>
                          <a:pt x="60450" y="26494"/>
                        </a:cubicBezTo>
                        <a:cubicBezTo>
                          <a:pt x="59926" y="24122"/>
                          <a:pt x="59330" y="21684"/>
                          <a:pt x="58673" y="19179"/>
                        </a:cubicBezTo>
                        <a:lnTo>
                          <a:pt x="58278" y="19179"/>
                        </a:lnTo>
                        <a:cubicBezTo>
                          <a:pt x="57487" y="21684"/>
                          <a:pt x="56820" y="24122"/>
                          <a:pt x="56297" y="26494"/>
                        </a:cubicBezTo>
                        <a:cubicBezTo>
                          <a:pt x="55635" y="28604"/>
                          <a:pt x="55044" y="30747"/>
                          <a:pt x="54520" y="32923"/>
                        </a:cubicBezTo>
                        <a:cubicBezTo>
                          <a:pt x="53992" y="35100"/>
                          <a:pt x="53401" y="37109"/>
                          <a:pt x="52739" y="38953"/>
                        </a:cubicBezTo>
                        <a:lnTo>
                          <a:pt x="37123" y="83244"/>
                        </a:lnTo>
                        <a:lnTo>
                          <a:pt x="79438" y="83244"/>
                        </a:lnTo>
                        <a:close/>
                      </a:path>
                    </a:pathLst>
                  </a:custGeom>
                  <a:solidFill>
                    <a:srgbClr val="003D7C"/>
                  </a:solidFill>
                  <a:ln w="4763" cap="flat">
                    <a:noFill/>
                    <a:prstDash val="solid"/>
                    <a:miter/>
                  </a:ln>
                </p:spPr>
                <p:txBody>
                  <a:bodyPr rtlCol="0" anchor="ctr"/>
                  <a:lstStyle/>
                  <a:p>
                    <a:endParaRPr lang="en-GB" sz="3200"/>
                  </a:p>
                </p:txBody>
              </p:sp>
              <p:sp>
                <p:nvSpPr>
                  <p:cNvPr id="95" name="Freeform: Shape 94">
                    <a:extLst>
                      <a:ext uri="{FF2B5EF4-FFF2-40B4-BE49-F238E27FC236}">
                        <a16:creationId xmlns:a16="http://schemas.microsoft.com/office/drawing/2014/main" id="{939423DA-34D4-47DE-AD18-CD905315CB72}"/>
                      </a:ext>
                    </a:extLst>
                  </p:cNvPr>
                  <p:cNvSpPr/>
                  <p:nvPr/>
                </p:nvSpPr>
                <p:spPr>
                  <a:xfrm>
                    <a:off x="2661680" y="3445387"/>
                    <a:ext cx="19378" cy="139598"/>
                  </a:xfrm>
                  <a:custGeom>
                    <a:avLst/>
                    <a:gdLst>
                      <a:gd name="connsiteX0" fmla="*/ 0 w 19378"/>
                      <a:gd name="connsiteY0" fmla="*/ 6525 h 139598"/>
                      <a:gd name="connsiteX1" fmla="*/ 6525 w 19378"/>
                      <a:gd name="connsiteY1" fmla="*/ 0 h 139598"/>
                      <a:gd name="connsiteX2" fmla="*/ 12854 w 19378"/>
                      <a:gd name="connsiteY2" fmla="*/ 0 h 139598"/>
                      <a:gd name="connsiteX3" fmla="*/ 19379 w 19378"/>
                      <a:gd name="connsiteY3" fmla="*/ 6525 h 139598"/>
                      <a:gd name="connsiteX4" fmla="*/ 19379 w 19378"/>
                      <a:gd name="connsiteY4" fmla="*/ 133074 h 139598"/>
                      <a:gd name="connsiteX5" fmla="*/ 12854 w 19378"/>
                      <a:gd name="connsiteY5" fmla="*/ 139598 h 139598"/>
                      <a:gd name="connsiteX6" fmla="*/ 6525 w 19378"/>
                      <a:gd name="connsiteY6" fmla="*/ 139598 h 139598"/>
                      <a:gd name="connsiteX7" fmla="*/ 0 w 19378"/>
                      <a:gd name="connsiteY7" fmla="*/ 133074 h 139598"/>
                      <a:gd name="connsiteX8" fmla="*/ 0 w 19378"/>
                      <a:gd name="connsiteY8" fmla="*/ 6525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78" h="139598">
                        <a:moveTo>
                          <a:pt x="0" y="6525"/>
                        </a:moveTo>
                        <a:cubicBezTo>
                          <a:pt x="0" y="2172"/>
                          <a:pt x="2177" y="0"/>
                          <a:pt x="6525" y="0"/>
                        </a:cubicBezTo>
                        <a:lnTo>
                          <a:pt x="12854" y="0"/>
                        </a:lnTo>
                        <a:cubicBezTo>
                          <a:pt x="17202" y="0"/>
                          <a:pt x="19379" y="2177"/>
                          <a:pt x="19379" y="6525"/>
                        </a:cubicBezTo>
                        <a:lnTo>
                          <a:pt x="19379" y="133074"/>
                        </a:lnTo>
                        <a:cubicBezTo>
                          <a:pt x="19379" y="137427"/>
                          <a:pt x="17202" y="139598"/>
                          <a:pt x="12854" y="139598"/>
                        </a:cubicBezTo>
                        <a:lnTo>
                          <a:pt x="6525" y="139598"/>
                        </a:lnTo>
                        <a:cubicBezTo>
                          <a:pt x="2177" y="139598"/>
                          <a:pt x="0" y="137422"/>
                          <a:pt x="0" y="133074"/>
                        </a:cubicBezTo>
                        <a:lnTo>
                          <a:pt x="0" y="6525"/>
                        </a:lnTo>
                        <a:close/>
                      </a:path>
                    </a:pathLst>
                  </a:custGeom>
                  <a:solidFill>
                    <a:srgbClr val="003D7C"/>
                  </a:solidFill>
                  <a:ln w="4763" cap="flat">
                    <a:noFill/>
                    <a:prstDash val="solid"/>
                    <a:miter/>
                  </a:ln>
                </p:spPr>
                <p:txBody>
                  <a:bodyPr rtlCol="0" anchor="ctr"/>
                  <a:lstStyle/>
                  <a:p>
                    <a:endParaRPr lang="en-GB" sz="3200"/>
                  </a:p>
                </p:txBody>
              </p:sp>
              <p:sp>
                <p:nvSpPr>
                  <p:cNvPr id="96" name="Freeform: Shape 95">
                    <a:extLst>
                      <a:ext uri="{FF2B5EF4-FFF2-40B4-BE49-F238E27FC236}">
                        <a16:creationId xmlns:a16="http://schemas.microsoft.com/office/drawing/2014/main" id="{5A111D06-41B3-4E48-847F-379C51DBA459}"/>
                      </a:ext>
                    </a:extLst>
                  </p:cNvPr>
                  <p:cNvSpPr/>
                  <p:nvPr/>
                </p:nvSpPr>
                <p:spPr>
                  <a:xfrm>
                    <a:off x="2756196" y="3445387"/>
                    <a:ext cx="111523" cy="139603"/>
                  </a:xfrm>
                  <a:custGeom>
                    <a:avLst/>
                    <a:gdLst>
                      <a:gd name="connsiteX0" fmla="*/ 0 w 111523"/>
                      <a:gd name="connsiteY0" fmla="*/ 6525 h 139603"/>
                      <a:gd name="connsiteX1" fmla="*/ 6525 w 111523"/>
                      <a:gd name="connsiteY1" fmla="*/ 0 h 139603"/>
                      <a:gd name="connsiteX2" fmla="*/ 14040 w 111523"/>
                      <a:gd name="connsiteY2" fmla="*/ 0 h 139603"/>
                      <a:gd name="connsiteX3" fmla="*/ 21945 w 111523"/>
                      <a:gd name="connsiteY3" fmla="*/ 4353 h 139603"/>
                      <a:gd name="connsiteX4" fmla="*/ 81462 w 111523"/>
                      <a:gd name="connsiteY4" fmla="*/ 90764 h 139603"/>
                      <a:gd name="connsiteX5" fmla="*/ 85320 w 111523"/>
                      <a:gd name="connsiteY5" fmla="*/ 96993 h 139603"/>
                      <a:gd name="connsiteX6" fmla="*/ 88983 w 111523"/>
                      <a:gd name="connsiteY6" fmla="*/ 103618 h 139603"/>
                      <a:gd name="connsiteX7" fmla="*/ 92935 w 111523"/>
                      <a:gd name="connsiteY7" fmla="*/ 110933 h 139603"/>
                      <a:gd name="connsiteX8" fmla="*/ 93331 w 111523"/>
                      <a:gd name="connsiteY8" fmla="*/ 110933 h 139603"/>
                      <a:gd name="connsiteX9" fmla="*/ 92740 w 111523"/>
                      <a:gd name="connsiteY9" fmla="*/ 103813 h 139603"/>
                      <a:gd name="connsiteX10" fmla="*/ 92245 w 111523"/>
                      <a:gd name="connsiteY10" fmla="*/ 97189 h 139603"/>
                      <a:gd name="connsiteX11" fmla="*/ 92145 w 111523"/>
                      <a:gd name="connsiteY11" fmla="*/ 90764 h 139603"/>
                      <a:gd name="connsiteX12" fmla="*/ 92145 w 111523"/>
                      <a:gd name="connsiteY12" fmla="*/ 6530 h 139603"/>
                      <a:gd name="connsiteX13" fmla="*/ 98670 w 111523"/>
                      <a:gd name="connsiteY13" fmla="*/ 5 h 139603"/>
                      <a:gd name="connsiteX14" fmla="*/ 104999 w 111523"/>
                      <a:gd name="connsiteY14" fmla="*/ 5 h 139603"/>
                      <a:gd name="connsiteX15" fmla="*/ 111523 w 111523"/>
                      <a:gd name="connsiteY15" fmla="*/ 6530 h 139603"/>
                      <a:gd name="connsiteX16" fmla="*/ 111523 w 111523"/>
                      <a:gd name="connsiteY16" fmla="*/ 133079 h 139603"/>
                      <a:gd name="connsiteX17" fmla="*/ 104999 w 111523"/>
                      <a:gd name="connsiteY17" fmla="*/ 139603 h 139603"/>
                      <a:gd name="connsiteX18" fmla="*/ 97484 w 111523"/>
                      <a:gd name="connsiteY18" fmla="*/ 139603 h 139603"/>
                      <a:gd name="connsiteX19" fmla="*/ 89773 w 111523"/>
                      <a:gd name="connsiteY19" fmla="*/ 135250 h 139603"/>
                      <a:gd name="connsiteX20" fmla="*/ 30061 w 111523"/>
                      <a:gd name="connsiteY20" fmla="*/ 49039 h 139603"/>
                      <a:gd name="connsiteX21" fmla="*/ 26103 w 111523"/>
                      <a:gd name="connsiteY21" fmla="*/ 42710 h 139603"/>
                      <a:gd name="connsiteX22" fmla="*/ 22546 w 111523"/>
                      <a:gd name="connsiteY22" fmla="*/ 35986 h 139603"/>
                      <a:gd name="connsiteX23" fmla="*/ 18593 w 111523"/>
                      <a:gd name="connsiteY23" fmla="*/ 28670 h 139603"/>
                      <a:gd name="connsiteX24" fmla="*/ 18197 w 111523"/>
                      <a:gd name="connsiteY24" fmla="*/ 28670 h 139603"/>
                      <a:gd name="connsiteX25" fmla="*/ 18788 w 111523"/>
                      <a:gd name="connsiteY25" fmla="*/ 35986 h 139603"/>
                      <a:gd name="connsiteX26" fmla="*/ 19183 w 111523"/>
                      <a:gd name="connsiteY26" fmla="*/ 42610 h 139603"/>
                      <a:gd name="connsiteX27" fmla="*/ 19383 w 111523"/>
                      <a:gd name="connsiteY27" fmla="*/ 49035 h 139603"/>
                      <a:gd name="connsiteX28" fmla="*/ 19383 w 111523"/>
                      <a:gd name="connsiteY28" fmla="*/ 133074 h 139603"/>
                      <a:gd name="connsiteX29" fmla="*/ 12859 w 111523"/>
                      <a:gd name="connsiteY29" fmla="*/ 139598 h 139603"/>
                      <a:gd name="connsiteX30" fmla="*/ 6529 w 111523"/>
                      <a:gd name="connsiteY30" fmla="*/ 139598 h 139603"/>
                      <a:gd name="connsiteX31" fmla="*/ 5 w 111523"/>
                      <a:gd name="connsiteY31" fmla="*/ 133074 h 139603"/>
                      <a:gd name="connsiteX32" fmla="*/ 5 w 111523"/>
                      <a:gd name="connsiteY32" fmla="*/ 6525 h 13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11523" h="139603">
                        <a:moveTo>
                          <a:pt x="0" y="6525"/>
                        </a:moveTo>
                        <a:cubicBezTo>
                          <a:pt x="0" y="2172"/>
                          <a:pt x="2176" y="0"/>
                          <a:pt x="6525" y="0"/>
                        </a:cubicBezTo>
                        <a:lnTo>
                          <a:pt x="14040" y="0"/>
                        </a:lnTo>
                        <a:cubicBezTo>
                          <a:pt x="17469" y="0"/>
                          <a:pt x="20098" y="1453"/>
                          <a:pt x="21945" y="4353"/>
                        </a:cubicBezTo>
                        <a:lnTo>
                          <a:pt x="81462" y="90764"/>
                        </a:lnTo>
                        <a:cubicBezTo>
                          <a:pt x="82653" y="92612"/>
                          <a:pt x="83939" y="94688"/>
                          <a:pt x="85320" y="96993"/>
                        </a:cubicBezTo>
                        <a:cubicBezTo>
                          <a:pt x="86706" y="99303"/>
                          <a:pt x="87925" y="101513"/>
                          <a:pt x="88983" y="103618"/>
                        </a:cubicBezTo>
                        <a:cubicBezTo>
                          <a:pt x="90297" y="105989"/>
                          <a:pt x="91621" y="108433"/>
                          <a:pt x="92935" y="110933"/>
                        </a:cubicBezTo>
                        <a:lnTo>
                          <a:pt x="93331" y="110933"/>
                        </a:lnTo>
                        <a:cubicBezTo>
                          <a:pt x="93064" y="108556"/>
                          <a:pt x="92869" y="106185"/>
                          <a:pt x="92740" y="103813"/>
                        </a:cubicBezTo>
                        <a:cubicBezTo>
                          <a:pt x="92473" y="101708"/>
                          <a:pt x="92307" y="99498"/>
                          <a:pt x="92245" y="97189"/>
                        </a:cubicBezTo>
                        <a:cubicBezTo>
                          <a:pt x="92178" y="94883"/>
                          <a:pt x="92145" y="92740"/>
                          <a:pt x="92145" y="90764"/>
                        </a:cubicBezTo>
                        <a:lnTo>
                          <a:pt x="92145" y="6530"/>
                        </a:lnTo>
                        <a:cubicBezTo>
                          <a:pt x="92145" y="2177"/>
                          <a:pt x="94321" y="5"/>
                          <a:pt x="98670" y="5"/>
                        </a:cubicBezTo>
                        <a:lnTo>
                          <a:pt x="104999" y="5"/>
                        </a:lnTo>
                        <a:cubicBezTo>
                          <a:pt x="109347" y="5"/>
                          <a:pt x="111523" y="2181"/>
                          <a:pt x="111523" y="6530"/>
                        </a:cubicBezTo>
                        <a:lnTo>
                          <a:pt x="111523" y="133079"/>
                        </a:lnTo>
                        <a:cubicBezTo>
                          <a:pt x="111523" y="137431"/>
                          <a:pt x="109347" y="139603"/>
                          <a:pt x="104999" y="139603"/>
                        </a:cubicBezTo>
                        <a:lnTo>
                          <a:pt x="97484" y="139603"/>
                        </a:lnTo>
                        <a:cubicBezTo>
                          <a:pt x="93926" y="139603"/>
                          <a:pt x="91354" y="138156"/>
                          <a:pt x="89773" y="135250"/>
                        </a:cubicBezTo>
                        <a:lnTo>
                          <a:pt x="30061" y="49039"/>
                        </a:lnTo>
                        <a:cubicBezTo>
                          <a:pt x="28742" y="47197"/>
                          <a:pt x="27418" y="45087"/>
                          <a:pt x="26103" y="42710"/>
                        </a:cubicBezTo>
                        <a:cubicBezTo>
                          <a:pt x="24789" y="40339"/>
                          <a:pt x="23603" y="38100"/>
                          <a:pt x="22546" y="35986"/>
                        </a:cubicBezTo>
                        <a:cubicBezTo>
                          <a:pt x="21226" y="33614"/>
                          <a:pt x="19907" y="31175"/>
                          <a:pt x="18593" y="28670"/>
                        </a:cubicBezTo>
                        <a:lnTo>
                          <a:pt x="18197" y="28670"/>
                        </a:lnTo>
                        <a:cubicBezTo>
                          <a:pt x="18326" y="31175"/>
                          <a:pt x="18521" y="33614"/>
                          <a:pt x="18788" y="35986"/>
                        </a:cubicBezTo>
                        <a:cubicBezTo>
                          <a:pt x="18917" y="38095"/>
                          <a:pt x="19055" y="40305"/>
                          <a:pt x="19183" y="42610"/>
                        </a:cubicBezTo>
                        <a:cubicBezTo>
                          <a:pt x="19312" y="44915"/>
                          <a:pt x="19383" y="47058"/>
                          <a:pt x="19383" y="49035"/>
                        </a:cubicBezTo>
                        <a:lnTo>
                          <a:pt x="19383" y="133074"/>
                        </a:lnTo>
                        <a:cubicBezTo>
                          <a:pt x="19383" y="137427"/>
                          <a:pt x="17207" y="139598"/>
                          <a:pt x="12859" y="139598"/>
                        </a:cubicBezTo>
                        <a:lnTo>
                          <a:pt x="6529" y="139598"/>
                        </a:lnTo>
                        <a:cubicBezTo>
                          <a:pt x="2181" y="139598"/>
                          <a:pt x="5" y="137422"/>
                          <a:pt x="5" y="133074"/>
                        </a:cubicBezTo>
                        <a:lnTo>
                          <a:pt x="5" y="6525"/>
                        </a:lnTo>
                        <a:close/>
                      </a:path>
                    </a:pathLst>
                  </a:custGeom>
                  <a:solidFill>
                    <a:srgbClr val="003D7C"/>
                  </a:solidFill>
                  <a:ln w="4763" cap="flat">
                    <a:noFill/>
                    <a:prstDash val="solid"/>
                    <a:miter/>
                  </a:ln>
                </p:spPr>
                <p:txBody>
                  <a:bodyPr rtlCol="0" anchor="ctr"/>
                  <a:lstStyle/>
                  <a:p>
                    <a:endParaRPr lang="en-GB" sz="3200"/>
                  </a:p>
                </p:txBody>
              </p:sp>
              <p:sp>
                <p:nvSpPr>
                  <p:cNvPr id="97" name="Freeform: Shape 96">
                    <a:extLst>
                      <a:ext uri="{FF2B5EF4-FFF2-40B4-BE49-F238E27FC236}">
                        <a16:creationId xmlns:a16="http://schemas.microsoft.com/office/drawing/2014/main" id="{2481C535-4EE3-4C1B-B4DE-E12900415BA7}"/>
                      </a:ext>
                    </a:extLst>
                  </p:cNvPr>
                  <p:cNvSpPr/>
                  <p:nvPr/>
                </p:nvSpPr>
                <p:spPr>
                  <a:xfrm>
                    <a:off x="2942848" y="3445387"/>
                    <a:ext cx="76919" cy="139598"/>
                  </a:xfrm>
                  <a:custGeom>
                    <a:avLst/>
                    <a:gdLst>
                      <a:gd name="connsiteX0" fmla="*/ 0 w 76919"/>
                      <a:gd name="connsiteY0" fmla="*/ 6525 h 139598"/>
                      <a:gd name="connsiteX1" fmla="*/ 6525 w 76919"/>
                      <a:gd name="connsiteY1" fmla="*/ 0 h 139598"/>
                      <a:gd name="connsiteX2" fmla="*/ 70395 w 76919"/>
                      <a:gd name="connsiteY2" fmla="*/ 0 h 139598"/>
                      <a:gd name="connsiteX3" fmla="*/ 76919 w 76919"/>
                      <a:gd name="connsiteY3" fmla="*/ 6525 h 139598"/>
                      <a:gd name="connsiteX4" fmla="*/ 76919 w 76919"/>
                      <a:gd name="connsiteY4" fmla="*/ 10483 h 139598"/>
                      <a:gd name="connsiteX5" fmla="*/ 70395 w 76919"/>
                      <a:gd name="connsiteY5" fmla="*/ 17007 h 139598"/>
                      <a:gd name="connsiteX6" fmla="*/ 19378 w 76919"/>
                      <a:gd name="connsiteY6" fmla="*/ 17007 h 139598"/>
                      <a:gd name="connsiteX7" fmla="*/ 19378 w 76919"/>
                      <a:gd name="connsiteY7" fmla="*/ 62879 h 139598"/>
                      <a:gd name="connsiteX8" fmla="*/ 61693 w 76919"/>
                      <a:gd name="connsiteY8" fmla="*/ 62879 h 139598"/>
                      <a:gd name="connsiteX9" fmla="*/ 68218 w 76919"/>
                      <a:gd name="connsiteY9" fmla="*/ 69404 h 139598"/>
                      <a:gd name="connsiteX10" fmla="*/ 68218 w 76919"/>
                      <a:gd name="connsiteY10" fmla="*/ 73362 h 139598"/>
                      <a:gd name="connsiteX11" fmla="*/ 61693 w 76919"/>
                      <a:gd name="connsiteY11" fmla="*/ 79886 h 139598"/>
                      <a:gd name="connsiteX12" fmla="*/ 19378 w 76919"/>
                      <a:gd name="connsiteY12" fmla="*/ 79886 h 139598"/>
                      <a:gd name="connsiteX13" fmla="*/ 19378 w 76919"/>
                      <a:gd name="connsiteY13" fmla="*/ 133074 h 139598"/>
                      <a:gd name="connsiteX14" fmla="*/ 12854 w 76919"/>
                      <a:gd name="connsiteY14" fmla="*/ 139598 h 139598"/>
                      <a:gd name="connsiteX15" fmla="*/ 6525 w 76919"/>
                      <a:gd name="connsiteY15" fmla="*/ 139598 h 139598"/>
                      <a:gd name="connsiteX16" fmla="*/ 0 w 76919"/>
                      <a:gd name="connsiteY16" fmla="*/ 133074 h 139598"/>
                      <a:gd name="connsiteX17" fmla="*/ 0 w 76919"/>
                      <a:gd name="connsiteY17" fmla="*/ 6525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919" h="139598">
                        <a:moveTo>
                          <a:pt x="0" y="6525"/>
                        </a:moveTo>
                        <a:cubicBezTo>
                          <a:pt x="0" y="2172"/>
                          <a:pt x="2176" y="0"/>
                          <a:pt x="6525" y="0"/>
                        </a:cubicBezTo>
                        <a:lnTo>
                          <a:pt x="70395" y="0"/>
                        </a:lnTo>
                        <a:cubicBezTo>
                          <a:pt x="74743" y="0"/>
                          <a:pt x="76919" y="2177"/>
                          <a:pt x="76919" y="6525"/>
                        </a:cubicBezTo>
                        <a:lnTo>
                          <a:pt x="76919" y="10483"/>
                        </a:lnTo>
                        <a:cubicBezTo>
                          <a:pt x="76919" y="14830"/>
                          <a:pt x="74743" y="17007"/>
                          <a:pt x="70395" y="17007"/>
                        </a:cubicBezTo>
                        <a:lnTo>
                          <a:pt x="19378" y="17007"/>
                        </a:lnTo>
                        <a:lnTo>
                          <a:pt x="19378" y="62879"/>
                        </a:lnTo>
                        <a:lnTo>
                          <a:pt x="61693" y="62879"/>
                        </a:lnTo>
                        <a:cubicBezTo>
                          <a:pt x="66042" y="62879"/>
                          <a:pt x="68218" y="65056"/>
                          <a:pt x="68218" y="69404"/>
                        </a:cubicBezTo>
                        <a:lnTo>
                          <a:pt x="68218" y="73362"/>
                        </a:lnTo>
                        <a:cubicBezTo>
                          <a:pt x="68218" y="77714"/>
                          <a:pt x="66042" y="79886"/>
                          <a:pt x="61693" y="79886"/>
                        </a:cubicBezTo>
                        <a:lnTo>
                          <a:pt x="19378" y="79886"/>
                        </a:lnTo>
                        <a:lnTo>
                          <a:pt x="19378" y="133074"/>
                        </a:lnTo>
                        <a:cubicBezTo>
                          <a:pt x="19378" y="137427"/>
                          <a:pt x="17202" y="139598"/>
                          <a:pt x="12854" y="139598"/>
                        </a:cubicBezTo>
                        <a:lnTo>
                          <a:pt x="6525" y="139598"/>
                        </a:lnTo>
                        <a:cubicBezTo>
                          <a:pt x="2176" y="139598"/>
                          <a:pt x="0" y="137422"/>
                          <a:pt x="0" y="133074"/>
                        </a:cubicBezTo>
                        <a:lnTo>
                          <a:pt x="0" y="6525"/>
                        </a:lnTo>
                        <a:close/>
                      </a:path>
                    </a:pathLst>
                  </a:custGeom>
                  <a:solidFill>
                    <a:srgbClr val="003D7C"/>
                  </a:solidFill>
                  <a:ln w="4763" cap="flat">
                    <a:noFill/>
                    <a:prstDash val="solid"/>
                    <a:miter/>
                  </a:ln>
                </p:spPr>
                <p:txBody>
                  <a:bodyPr rtlCol="0" anchor="ctr"/>
                  <a:lstStyle/>
                  <a:p>
                    <a:endParaRPr lang="en-GB" sz="3200"/>
                  </a:p>
                </p:txBody>
              </p:sp>
              <p:sp>
                <p:nvSpPr>
                  <p:cNvPr id="98" name="Freeform: Shape 97">
                    <a:extLst>
                      <a:ext uri="{FF2B5EF4-FFF2-40B4-BE49-F238E27FC236}">
                        <a16:creationId xmlns:a16="http://schemas.microsoft.com/office/drawing/2014/main" id="{E0B6EF70-0448-4A9A-BE0F-42918645B5CF}"/>
                      </a:ext>
                    </a:extLst>
                  </p:cNvPr>
                  <p:cNvSpPr/>
                  <p:nvPr/>
                </p:nvSpPr>
                <p:spPr>
                  <a:xfrm>
                    <a:off x="3082247" y="3445387"/>
                    <a:ext cx="82058" cy="139598"/>
                  </a:xfrm>
                  <a:custGeom>
                    <a:avLst/>
                    <a:gdLst>
                      <a:gd name="connsiteX0" fmla="*/ 0 w 82058"/>
                      <a:gd name="connsiteY0" fmla="*/ 6525 h 139598"/>
                      <a:gd name="connsiteX1" fmla="*/ 6525 w 82058"/>
                      <a:gd name="connsiteY1" fmla="*/ 0 h 139598"/>
                      <a:gd name="connsiteX2" fmla="*/ 12854 w 82058"/>
                      <a:gd name="connsiteY2" fmla="*/ 0 h 139598"/>
                      <a:gd name="connsiteX3" fmla="*/ 19379 w 82058"/>
                      <a:gd name="connsiteY3" fmla="*/ 6525 h 139598"/>
                      <a:gd name="connsiteX4" fmla="*/ 19379 w 82058"/>
                      <a:gd name="connsiteY4" fmla="*/ 122592 h 139598"/>
                      <a:gd name="connsiteX5" fmla="*/ 75533 w 82058"/>
                      <a:gd name="connsiteY5" fmla="*/ 122592 h 139598"/>
                      <a:gd name="connsiteX6" fmla="*/ 82058 w 82058"/>
                      <a:gd name="connsiteY6" fmla="*/ 129116 h 139598"/>
                      <a:gd name="connsiteX7" fmla="*/ 82058 w 82058"/>
                      <a:gd name="connsiteY7" fmla="*/ 133074 h 139598"/>
                      <a:gd name="connsiteX8" fmla="*/ 75533 w 82058"/>
                      <a:gd name="connsiteY8" fmla="*/ 139598 h 139598"/>
                      <a:gd name="connsiteX9" fmla="*/ 6525 w 82058"/>
                      <a:gd name="connsiteY9" fmla="*/ 139598 h 139598"/>
                      <a:gd name="connsiteX10" fmla="*/ 0 w 82058"/>
                      <a:gd name="connsiteY10" fmla="*/ 133074 h 139598"/>
                      <a:gd name="connsiteX11" fmla="*/ 0 w 82058"/>
                      <a:gd name="connsiteY11" fmla="*/ 6525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058" h="139598">
                        <a:moveTo>
                          <a:pt x="0" y="6525"/>
                        </a:moveTo>
                        <a:cubicBezTo>
                          <a:pt x="0" y="2172"/>
                          <a:pt x="2177" y="0"/>
                          <a:pt x="6525" y="0"/>
                        </a:cubicBezTo>
                        <a:lnTo>
                          <a:pt x="12854" y="0"/>
                        </a:lnTo>
                        <a:cubicBezTo>
                          <a:pt x="17202" y="0"/>
                          <a:pt x="19379" y="2177"/>
                          <a:pt x="19379" y="6525"/>
                        </a:cubicBezTo>
                        <a:lnTo>
                          <a:pt x="19379" y="122592"/>
                        </a:lnTo>
                        <a:lnTo>
                          <a:pt x="75533" y="122592"/>
                        </a:lnTo>
                        <a:cubicBezTo>
                          <a:pt x="79881" y="122592"/>
                          <a:pt x="82058" y="124768"/>
                          <a:pt x="82058" y="129116"/>
                        </a:cubicBezTo>
                        <a:lnTo>
                          <a:pt x="82058" y="133074"/>
                        </a:lnTo>
                        <a:cubicBezTo>
                          <a:pt x="82058" y="137427"/>
                          <a:pt x="79881" y="139598"/>
                          <a:pt x="75533" y="139598"/>
                        </a:cubicBezTo>
                        <a:lnTo>
                          <a:pt x="6525" y="139598"/>
                        </a:lnTo>
                        <a:cubicBezTo>
                          <a:pt x="2177" y="139598"/>
                          <a:pt x="0" y="137422"/>
                          <a:pt x="0" y="133074"/>
                        </a:cubicBezTo>
                        <a:lnTo>
                          <a:pt x="0" y="6525"/>
                        </a:lnTo>
                        <a:close/>
                      </a:path>
                    </a:pathLst>
                  </a:custGeom>
                  <a:solidFill>
                    <a:srgbClr val="003D7C"/>
                  </a:solidFill>
                  <a:ln w="4763" cap="flat">
                    <a:noFill/>
                    <a:prstDash val="solid"/>
                    <a:miter/>
                  </a:ln>
                </p:spPr>
                <p:txBody>
                  <a:bodyPr rtlCol="0" anchor="ctr"/>
                  <a:lstStyle/>
                  <a:p>
                    <a:endParaRPr lang="en-GB" sz="3200"/>
                  </a:p>
                </p:txBody>
              </p:sp>
              <p:sp>
                <p:nvSpPr>
                  <p:cNvPr id="99" name="Freeform: Shape 98">
                    <a:extLst>
                      <a:ext uri="{FF2B5EF4-FFF2-40B4-BE49-F238E27FC236}">
                        <a16:creationId xmlns:a16="http://schemas.microsoft.com/office/drawing/2014/main" id="{457BD3FF-7512-4214-BDE1-15404F1F10F1}"/>
                      </a:ext>
                    </a:extLst>
                  </p:cNvPr>
                  <p:cNvSpPr/>
                  <p:nvPr/>
                </p:nvSpPr>
                <p:spPr>
                  <a:xfrm>
                    <a:off x="3207854" y="3445387"/>
                    <a:ext cx="116942" cy="139598"/>
                  </a:xfrm>
                  <a:custGeom>
                    <a:avLst/>
                    <a:gdLst>
                      <a:gd name="connsiteX0" fmla="*/ 46419 w 116942"/>
                      <a:gd name="connsiteY0" fmla="*/ 5339 h 139598"/>
                      <a:gd name="connsiteX1" fmla="*/ 53735 w 116942"/>
                      <a:gd name="connsiteY1" fmla="*/ 0 h 139598"/>
                      <a:gd name="connsiteX2" fmla="*/ 63221 w 116942"/>
                      <a:gd name="connsiteY2" fmla="*/ 0 h 139598"/>
                      <a:gd name="connsiteX3" fmla="*/ 70541 w 116942"/>
                      <a:gd name="connsiteY3" fmla="*/ 5339 h 139598"/>
                      <a:gd name="connsiteX4" fmla="*/ 116414 w 116942"/>
                      <a:gd name="connsiteY4" fmla="*/ 132083 h 139598"/>
                      <a:gd name="connsiteX5" fmla="*/ 116119 w 116942"/>
                      <a:gd name="connsiteY5" fmla="*/ 137522 h 139598"/>
                      <a:gd name="connsiteX6" fmla="*/ 111075 w 116942"/>
                      <a:gd name="connsiteY6" fmla="*/ 139598 h 139598"/>
                      <a:gd name="connsiteX7" fmla="*/ 104355 w 116942"/>
                      <a:gd name="connsiteY7" fmla="*/ 139598 h 139598"/>
                      <a:gd name="connsiteX8" fmla="*/ 97035 w 116942"/>
                      <a:gd name="connsiteY8" fmla="*/ 134260 h 139598"/>
                      <a:gd name="connsiteX9" fmla="*/ 84581 w 116942"/>
                      <a:gd name="connsiteY9" fmla="*/ 99460 h 139598"/>
                      <a:gd name="connsiteX10" fmla="*/ 31984 w 116942"/>
                      <a:gd name="connsiteY10" fmla="*/ 99460 h 139598"/>
                      <a:gd name="connsiteX11" fmla="*/ 19725 w 116942"/>
                      <a:gd name="connsiteY11" fmla="*/ 134260 h 139598"/>
                      <a:gd name="connsiteX12" fmla="*/ 12610 w 116942"/>
                      <a:gd name="connsiteY12" fmla="*/ 139598 h 139598"/>
                      <a:gd name="connsiteX13" fmla="*/ 5886 w 116942"/>
                      <a:gd name="connsiteY13" fmla="*/ 139598 h 139598"/>
                      <a:gd name="connsiteX14" fmla="*/ 747 w 116942"/>
                      <a:gd name="connsiteY14" fmla="*/ 137522 h 139598"/>
                      <a:gd name="connsiteX15" fmla="*/ 547 w 116942"/>
                      <a:gd name="connsiteY15" fmla="*/ 132083 h 139598"/>
                      <a:gd name="connsiteX16" fmla="*/ 46419 w 116942"/>
                      <a:gd name="connsiteY16" fmla="*/ 5339 h 139598"/>
                      <a:gd name="connsiteX17" fmla="*/ 79442 w 116942"/>
                      <a:gd name="connsiteY17" fmla="*/ 83244 h 139598"/>
                      <a:gd name="connsiteX18" fmla="*/ 64021 w 116942"/>
                      <a:gd name="connsiteY18" fmla="*/ 38953 h 139598"/>
                      <a:gd name="connsiteX19" fmla="*/ 62140 w 116942"/>
                      <a:gd name="connsiteY19" fmla="*/ 32923 h 139598"/>
                      <a:gd name="connsiteX20" fmla="*/ 60454 w 116942"/>
                      <a:gd name="connsiteY20" fmla="*/ 26494 h 139598"/>
                      <a:gd name="connsiteX21" fmla="*/ 58678 w 116942"/>
                      <a:gd name="connsiteY21" fmla="*/ 19179 h 139598"/>
                      <a:gd name="connsiteX22" fmla="*/ 58283 w 116942"/>
                      <a:gd name="connsiteY22" fmla="*/ 19179 h 139598"/>
                      <a:gd name="connsiteX23" fmla="*/ 56302 w 116942"/>
                      <a:gd name="connsiteY23" fmla="*/ 26494 h 139598"/>
                      <a:gd name="connsiteX24" fmla="*/ 54525 w 116942"/>
                      <a:gd name="connsiteY24" fmla="*/ 32923 h 139598"/>
                      <a:gd name="connsiteX25" fmla="*/ 52744 w 116942"/>
                      <a:gd name="connsiteY25" fmla="*/ 38953 h 139598"/>
                      <a:gd name="connsiteX26" fmla="*/ 37128 w 116942"/>
                      <a:gd name="connsiteY26" fmla="*/ 83244 h 139598"/>
                      <a:gd name="connsiteX27" fmla="*/ 79442 w 116942"/>
                      <a:gd name="connsiteY27" fmla="*/ 83244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942" h="139598">
                        <a:moveTo>
                          <a:pt x="46419" y="5339"/>
                        </a:moveTo>
                        <a:cubicBezTo>
                          <a:pt x="47605" y="1777"/>
                          <a:pt x="50044" y="0"/>
                          <a:pt x="53735" y="0"/>
                        </a:cubicBezTo>
                        <a:lnTo>
                          <a:pt x="63221" y="0"/>
                        </a:lnTo>
                        <a:cubicBezTo>
                          <a:pt x="66912" y="0"/>
                          <a:pt x="69351" y="1781"/>
                          <a:pt x="70541" y="5339"/>
                        </a:cubicBezTo>
                        <a:lnTo>
                          <a:pt x="116414" y="132083"/>
                        </a:lnTo>
                        <a:cubicBezTo>
                          <a:pt x="117204" y="134326"/>
                          <a:pt x="117109" y="136136"/>
                          <a:pt x="116119" y="137522"/>
                        </a:cubicBezTo>
                        <a:cubicBezTo>
                          <a:pt x="115133" y="138908"/>
                          <a:pt x="113447" y="139598"/>
                          <a:pt x="111075" y="139598"/>
                        </a:cubicBezTo>
                        <a:lnTo>
                          <a:pt x="104355" y="139598"/>
                        </a:lnTo>
                        <a:cubicBezTo>
                          <a:pt x="100664" y="139598"/>
                          <a:pt x="98226" y="137817"/>
                          <a:pt x="97035" y="134260"/>
                        </a:cubicBezTo>
                        <a:lnTo>
                          <a:pt x="84581" y="99460"/>
                        </a:lnTo>
                        <a:lnTo>
                          <a:pt x="31984" y="99460"/>
                        </a:lnTo>
                        <a:lnTo>
                          <a:pt x="19725" y="134260"/>
                        </a:lnTo>
                        <a:cubicBezTo>
                          <a:pt x="18668" y="137822"/>
                          <a:pt x="16296" y="139598"/>
                          <a:pt x="12610" y="139598"/>
                        </a:cubicBezTo>
                        <a:lnTo>
                          <a:pt x="5886" y="139598"/>
                        </a:lnTo>
                        <a:cubicBezTo>
                          <a:pt x="3381" y="139598"/>
                          <a:pt x="1666" y="138903"/>
                          <a:pt x="747" y="137522"/>
                        </a:cubicBezTo>
                        <a:cubicBezTo>
                          <a:pt x="-177" y="136136"/>
                          <a:pt x="-244" y="134326"/>
                          <a:pt x="547" y="132083"/>
                        </a:cubicBezTo>
                        <a:lnTo>
                          <a:pt x="46419" y="5339"/>
                        </a:lnTo>
                        <a:close/>
                        <a:moveTo>
                          <a:pt x="79442" y="83244"/>
                        </a:moveTo>
                        <a:lnTo>
                          <a:pt x="64021" y="38953"/>
                        </a:lnTo>
                        <a:cubicBezTo>
                          <a:pt x="63355" y="37109"/>
                          <a:pt x="62731" y="35095"/>
                          <a:pt x="62140" y="32923"/>
                        </a:cubicBezTo>
                        <a:cubicBezTo>
                          <a:pt x="61545" y="30747"/>
                          <a:pt x="60983" y="28604"/>
                          <a:pt x="60454" y="26494"/>
                        </a:cubicBezTo>
                        <a:cubicBezTo>
                          <a:pt x="59930" y="24122"/>
                          <a:pt x="59335" y="21684"/>
                          <a:pt x="58678" y="19179"/>
                        </a:cubicBezTo>
                        <a:lnTo>
                          <a:pt x="58283" y="19179"/>
                        </a:lnTo>
                        <a:cubicBezTo>
                          <a:pt x="57492" y="21684"/>
                          <a:pt x="56825" y="24122"/>
                          <a:pt x="56302" y="26494"/>
                        </a:cubicBezTo>
                        <a:cubicBezTo>
                          <a:pt x="55639" y="28604"/>
                          <a:pt x="55049" y="30747"/>
                          <a:pt x="54525" y="32923"/>
                        </a:cubicBezTo>
                        <a:cubicBezTo>
                          <a:pt x="53996" y="35100"/>
                          <a:pt x="53406" y="37109"/>
                          <a:pt x="52744" y="38953"/>
                        </a:cubicBezTo>
                        <a:lnTo>
                          <a:pt x="37128" y="83244"/>
                        </a:lnTo>
                        <a:lnTo>
                          <a:pt x="79442" y="83244"/>
                        </a:lnTo>
                        <a:close/>
                      </a:path>
                    </a:pathLst>
                  </a:custGeom>
                  <a:solidFill>
                    <a:srgbClr val="003D7C"/>
                  </a:solidFill>
                  <a:ln w="4763" cap="flat">
                    <a:noFill/>
                    <a:prstDash val="solid"/>
                    <a:miter/>
                  </a:ln>
                </p:spPr>
                <p:txBody>
                  <a:bodyPr rtlCol="0" anchor="ctr"/>
                  <a:lstStyle/>
                  <a:p>
                    <a:endParaRPr lang="en-GB" sz="3200"/>
                  </a:p>
                </p:txBody>
              </p:sp>
              <p:sp>
                <p:nvSpPr>
                  <p:cNvPr id="100" name="Freeform: Shape 99">
                    <a:extLst>
                      <a:ext uri="{FF2B5EF4-FFF2-40B4-BE49-F238E27FC236}">
                        <a16:creationId xmlns:a16="http://schemas.microsoft.com/office/drawing/2014/main" id="{05926F2D-6A0F-428F-9865-5C8E56C648FC}"/>
                      </a:ext>
                    </a:extLst>
                  </p:cNvPr>
                  <p:cNvSpPr/>
                  <p:nvPr/>
                </p:nvSpPr>
                <p:spPr>
                  <a:xfrm>
                    <a:off x="3380200" y="3445387"/>
                    <a:ext cx="141028" cy="139598"/>
                  </a:xfrm>
                  <a:custGeom>
                    <a:avLst/>
                    <a:gdLst>
                      <a:gd name="connsiteX0" fmla="*/ 10310 w 141028"/>
                      <a:gd name="connsiteY0" fmla="*/ 6130 h 139598"/>
                      <a:gd name="connsiteX1" fmla="*/ 17029 w 141028"/>
                      <a:gd name="connsiteY1" fmla="*/ 0 h 139598"/>
                      <a:gd name="connsiteX2" fmla="*/ 25926 w 141028"/>
                      <a:gd name="connsiteY2" fmla="*/ 0 h 139598"/>
                      <a:gd name="connsiteX3" fmla="*/ 33241 w 141028"/>
                      <a:gd name="connsiteY3" fmla="*/ 5144 h 139598"/>
                      <a:gd name="connsiteX4" fmla="*/ 63497 w 141028"/>
                      <a:gd name="connsiteY4" fmla="*/ 75533 h 139598"/>
                      <a:gd name="connsiteX5" fmla="*/ 65869 w 141028"/>
                      <a:gd name="connsiteY5" fmla="*/ 81763 h 139598"/>
                      <a:gd name="connsiteX6" fmla="*/ 68045 w 141028"/>
                      <a:gd name="connsiteY6" fmla="*/ 87792 h 139598"/>
                      <a:gd name="connsiteX7" fmla="*/ 70417 w 141028"/>
                      <a:gd name="connsiteY7" fmla="*/ 94317 h 139598"/>
                      <a:gd name="connsiteX8" fmla="*/ 70812 w 141028"/>
                      <a:gd name="connsiteY8" fmla="*/ 94317 h 139598"/>
                      <a:gd name="connsiteX9" fmla="*/ 72989 w 141028"/>
                      <a:gd name="connsiteY9" fmla="*/ 87792 h 139598"/>
                      <a:gd name="connsiteX10" fmla="*/ 75165 w 141028"/>
                      <a:gd name="connsiteY10" fmla="*/ 81763 h 139598"/>
                      <a:gd name="connsiteX11" fmla="*/ 77537 w 141028"/>
                      <a:gd name="connsiteY11" fmla="*/ 75533 h 139598"/>
                      <a:gd name="connsiteX12" fmla="*/ 107793 w 141028"/>
                      <a:gd name="connsiteY12" fmla="*/ 5144 h 139598"/>
                      <a:gd name="connsiteX13" fmla="*/ 115108 w 141028"/>
                      <a:gd name="connsiteY13" fmla="*/ 0 h 139598"/>
                      <a:gd name="connsiteX14" fmla="*/ 124005 w 141028"/>
                      <a:gd name="connsiteY14" fmla="*/ 0 h 139598"/>
                      <a:gd name="connsiteX15" fmla="*/ 130725 w 141028"/>
                      <a:gd name="connsiteY15" fmla="*/ 6130 h 139598"/>
                      <a:gd name="connsiteX16" fmla="*/ 141007 w 141028"/>
                      <a:gd name="connsiteY16" fmla="*/ 132874 h 139598"/>
                      <a:gd name="connsiteX17" fmla="*/ 134682 w 141028"/>
                      <a:gd name="connsiteY17" fmla="*/ 139598 h 139598"/>
                      <a:gd name="connsiteX18" fmla="*/ 128353 w 141028"/>
                      <a:gd name="connsiteY18" fmla="*/ 139598 h 139598"/>
                      <a:gd name="connsiteX19" fmla="*/ 121633 w 141028"/>
                      <a:gd name="connsiteY19" fmla="*/ 133269 h 139598"/>
                      <a:gd name="connsiteX20" fmla="*/ 115303 w 141028"/>
                      <a:gd name="connsiteY20" fmla="*/ 51606 h 139598"/>
                      <a:gd name="connsiteX21" fmla="*/ 114808 w 141028"/>
                      <a:gd name="connsiteY21" fmla="*/ 44882 h 139598"/>
                      <a:gd name="connsiteX22" fmla="*/ 114708 w 141028"/>
                      <a:gd name="connsiteY22" fmla="*/ 38157 h 139598"/>
                      <a:gd name="connsiteX23" fmla="*/ 114903 w 141028"/>
                      <a:gd name="connsiteY23" fmla="*/ 31037 h 139598"/>
                      <a:gd name="connsiteX24" fmla="*/ 114508 w 141028"/>
                      <a:gd name="connsiteY24" fmla="*/ 31037 h 139598"/>
                      <a:gd name="connsiteX25" fmla="*/ 111936 w 141028"/>
                      <a:gd name="connsiteY25" fmla="*/ 38353 h 139598"/>
                      <a:gd name="connsiteX26" fmla="*/ 109465 w 141028"/>
                      <a:gd name="connsiteY26" fmla="*/ 45173 h 139598"/>
                      <a:gd name="connsiteX27" fmla="*/ 106988 w 141028"/>
                      <a:gd name="connsiteY27" fmla="*/ 51602 h 139598"/>
                      <a:gd name="connsiteX28" fmla="*/ 81290 w 141028"/>
                      <a:gd name="connsiteY28" fmla="*/ 109338 h 139598"/>
                      <a:gd name="connsiteX29" fmla="*/ 73775 w 141028"/>
                      <a:gd name="connsiteY29" fmla="*/ 114481 h 139598"/>
                      <a:gd name="connsiteX30" fmla="*/ 67250 w 141028"/>
                      <a:gd name="connsiteY30" fmla="*/ 114481 h 139598"/>
                      <a:gd name="connsiteX31" fmla="*/ 59735 w 141028"/>
                      <a:gd name="connsiteY31" fmla="*/ 109338 h 139598"/>
                      <a:gd name="connsiteX32" fmla="*/ 34036 w 141028"/>
                      <a:gd name="connsiteY32" fmla="*/ 51602 h 139598"/>
                      <a:gd name="connsiteX33" fmla="*/ 31560 w 141028"/>
                      <a:gd name="connsiteY33" fmla="*/ 45273 h 139598"/>
                      <a:gd name="connsiteX34" fmla="*/ 29088 w 141028"/>
                      <a:gd name="connsiteY34" fmla="*/ 38353 h 139598"/>
                      <a:gd name="connsiteX35" fmla="*/ 26516 w 141028"/>
                      <a:gd name="connsiteY35" fmla="*/ 30642 h 139598"/>
                      <a:gd name="connsiteX36" fmla="*/ 26121 w 141028"/>
                      <a:gd name="connsiteY36" fmla="*/ 30642 h 139598"/>
                      <a:gd name="connsiteX37" fmla="*/ 26121 w 141028"/>
                      <a:gd name="connsiteY37" fmla="*/ 37957 h 139598"/>
                      <a:gd name="connsiteX38" fmla="*/ 26121 w 141028"/>
                      <a:gd name="connsiteY38" fmla="*/ 44777 h 139598"/>
                      <a:gd name="connsiteX39" fmla="*/ 25726 w 141028"/>
                      <a:gd name="connsiteY39" fmla="*/ 51602 h 139598"/>
                      <a:gd name="connsiteX40" fmla="*/ 19396 w 141028"/>
                      <a:gd name="connsiteY40" fmla="*/ 133264 h 139598"/>
                      <a:gd name="connsiteX41" fmla="*/ 12872 w 141028"/>
                      <a:gd name="connsiteY41" fmla="*/ 139594 h 139598"/>
                      <a:gd name="connsiteX42" fmla="*/ 6347 w 141028"/>
                      <a:gd name="connsiteY42" fmla="*/ 139594 h 139598"/>
                      <a:gd name="connsiteX43" fmla="*/ 22 w 141028"/>
                      <a:gd name="connsiteY43" fmla="*/ 132869 h 139598"/>
                      <a:gd name="connsiteX44" fmla="*/ 10310 w 141028"/>
                      <a:gd name="connsiteY44" fmla="*/ 6130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41028" h="139598">
                        <a:moveTo>
                          <a:pt x="10310" y="6130"/>
                        </a:moveTo>
                        <a:cubicBezTo>
                          <a:pt x="10705" y="2048"/>
                          <a:pt x="12943" y="0"/>
                          <a:pt x="17029" y="0"/>
                        </a:cubicBezTo>
                        <a:lnTo>
                          <a:pt x="25926" y="0"/>
                        </a:lnTo>
                        <a:cubicBezTo>
                          <a:pt x="29617" y="0"/>
                          <a:pt x="32055" y="1715"/>
                          <a:pt x="33241" y="5144"/>
                        </a:cubicBezTo>
                        <a:lnTo>
                          <a:pt x="63497" y="75533"/>
                        </a:lnTo>
                        <a:cubicBezTo>
                          <a:pt x="64288" y="77514"/>
                          <a:pt x="65078" y="79591"/>
                          <a:pt x="65869" y="81763"/>
                        </a:cubicBezTo>
                        <a:cubicBezTo>
                          <a:pt x="66659" y="83934"/>
                          <a:pt x="67383" y="85949"/>
                          <a:pt x="68045" y="87792"/>
                        </a:cubicBezTo>
                        <a:cubicBezTo>
                          <a:pt x="68836" y="90035"/>
                          <a:pt x="69626" y="92212"/>
                          <a:pt x="70417" y="94317"/>
                        </a:cubicBezTo>
                        <a:lnTo>
                          <a:pt x="70812" y="94317"/>
                        </a:lnTo>
                        <a:cubicBezTo>
                          <a:pt x="71474" y="92212"/>
                          <a:pt x="72198" y="90035"/>
                          <a:pt x="72989" y="87792"/>
                        </a:cubicBezTo>
                        <a:cubicBezTo>
                          <a:pt x="73646" y="85949"/>
                          <a:pt x="74375" y="83934"/>
                          <a:pt x="75165" y="81763"/>
                        </a:cubicBezTo>
                        <a:cubicBezTo>
                          <a:pt x="75956" y="79591"/>
                          <a:pt x="76746" y="77510"/>
                          <a:pt x="77537" y="75533"/>
                        </a:cubicBezTo>
                        <a:lnTo>
                          <a:pt x="107793" y="5144"/>
                        </a:lnTo>
                        <a:cubicBezTo>
                          <a:pt x="108979" y="1715"/>
                          <a:pt x="111417" y="0"/>
                          <a:pt x="115108" y="0"/>
                        </a:cubicBezTo>
                        <a:lnTo>
                          <a:pt x="124005" y="0"/>
                        </a:lnTo>
                        <a:cubicBezTo>
                          <a:pt x="128086" y="0"/>
                          <a:pt x="130329" y="2048"/>
                          <a:pt x="130725" y="6130"/>
                        </a:cubicBezTo>
                        <a:lnTo>
                          <a:pt x="141007" y="132874"/>
                        </a:lnTo>
                        <a:cubicBezTo>
                          <a:pt x="141269" y="137355"/>
                          <a:pt x="139159" y="139598"/>
                          <a:pt x="134682" y="139598"/>
                        </a:cubicBezTo>
                        <a:lnTo>
                          <a:pt x="128353" y="139598"/>
                        </a:lnTo>
                        <a:cubicBezTo>
                          <a:pt x="124267" y="139598"/>
                          <a:pt x="122028" y="137493"/>
                          <a:pt x="121633" y="133269"/>
                        </a:cubicBezTo>
                        <a:lnTo>
                          <a:pt x="115303" y="51606"/>
                        </a:lnTo>
                        <a:cubicBezTo>
                          <a:pt x="115037" y="49502"/>
                          <a:pt x="114875" y="47254"/>
                          <a:pt x="114808" y="44882"/>
                        </a:cubicBezTo>
                        <a:cubicBezTo>
                          <a:pt x="114737" y="42506"/>
                          <a:pt x="114708" y="40267"/>
                          <a:pt x="114708" y="38157"/>
                        </a:cubicBezTo>
                        <a:cubicBezTo>
                          <a:pt x="114708" y="35781"/>
                          <a:pt x="114775" y="33409"/>
                          <a:pt x="114903" y="31037"/>
                        </a:cubicBezTo>
                        <a:lnTo>
                          <a:pt x="114508" y="31037"/>
                        </a:lnTo>
                        <a:cubicBezTo>
                          <a:pt x="113584" y="33542"/>
                          <a:pt x="112727" y="35981"/>
                          <a:pt x="111936" y="38353"/>
                        </a:cubicBezTo>
                        <a:cubicBezTo>
                          <a:pt x="111146" y="40462"/>
                          <a:pt x="110322" y="42734"/>
                          <a:pt x="109465" y="45173"/>
                        </a:cubicBezTo>
                        <a:cubicBezTo>
                          <a:pt x="108603" y="47616"/>
                          <a:pt x="107784" y="49754"/>
                          <a:pt x="106988" y="51602"/>
                        </a:cubicBezTo>
                        <a:lnTo>
                          <a:pt x="81290" y="109338"/>
                        </a:lnTo>
                        <a:cubicBezTo>
                          <a:pt x="79970" y="112767"/>
                          <a:pt x="77461" y="114481"/>
                          <a:pt x="73775" y="114481"/>
                        </a:cubicBezTo>
                        <a:lnTo>
                          <a:pt x="67250" y="114481"/>
                        </a:lnTo>
                        <a:cubicBezTo>
                          <a:pt x="63559" y="114481"/>
                          <a:pt x="61049" y="112771"/>
                          <a:pt x="59735" y="109338"/>
                        </a:cubicBezTo>
                        <a:lnTo>
                          <a:pt x="34036" y="51602"/>
                        </a:lnTo>
                        <a:cubicBezTo>
                          <a:pt x="33241" y="49759"/>
                          <a:pt x="32417" y="47644"/>
                          <a:pt x="31560" y="45273"/>
                        </a:cubicBezTo>
                        <a:cubicBezTo>
                          <a:pt x="30698" y="42901"/>
                          <a:pt x="29878" y="40596"/>
                          <a:pt x="29088" y="38353"/>
                        </a:cubicBezTo>
                        <a:cubicBezTo>
                          <a:pt x="28164" y="35852"/>
                          <a:pt x="27307" y="33281"/>
                          <a:pt x="26516" y="30642"/>
                        </a:cubicBezTo>
                        <a:lnTo>
                          <a:pt x="26121" y="30642"/>
                        </a:lnTo>
                        <a:lnTo>
                          <a:pt x="26121" y="37957"/>
                        </a:lnTo>
                        <a:cubicBezTo>
                          <a:pt x="26121" y="40067"/>
                          <a:pt x="26121" y="42339"/>
                          <a:pt x="26121" y="44777"/>
                        </a:cubicBezTo>
                        <a:cubicBezTo>
                          <a:pt x="26121" y="47220"/>
                          <a:pt x="25988" y="49492"/>
                          <a:pt x="25726" y="51602"/>
                        </a:cubicBezTo>
                        <a:lnTo>
                          <a:pt x="19396" y="133264"/>
                        </a:lnTo>
                        <a:cubicBezTo>
                          <a:pt x="19001" y="137484"/>
                          <a:pt x="16829" y="139594"/>
                          <a:pt x="12872" y="139594"/>
                        </a:cubicBezTo>
                        <a:lnTo>
                          <a:pt x="6347" y="139594"/>
                        </a:lnTo>
                        <a:cubicBezTo>
                          <a:pt x="1870" y="139594"/>
                          <a:pt x="-244" y="137355"/>
                          <a:pt x="22" y="132869"/>
                        </a:cubicBezTo>
                        <a:lnTo>
                          <a:pt x="10310" y="6130"/>
                        </a:lnTo>
                        <a:close/>
                      </a:path>
                    </a:pathLst>
                  </a:custGeom>
                  <a:solidFill>
                    <a:srgbClr val="003D7C"/>
                  </a:solidFill>
                  <a:ln w="4763" cap="flat">
                    <a:noFill/>
                    <a:prstDash val="solid"/>
                    <a:miter/>
                  </a:ln>
                </p:spPr>
                <p:txBody>
                  <a:bodyPr rtlCol="0" anchor="ctr"/>
                  <a:lstStyle/>
                  <a:p>
                    <a:endParaRPr lang="en-GB" sz="3200"/>
                  </a:p>
                </p:txBody>
              </p:sp>
              <p:sp>
                <p:nvSpPr>
                  <p:cNvPr id="101" name="Freeform: Shape 100">
                    <a:extLst>
                      <a:ext uri="{FF2B5EF4-FFF2-40B4-BE49-F238E27FC236}">
                        <a16:creationId xmlns:a16="http://schemas.microsoft.com/office/drawing/2014/main" id="{F1DB19BB-1635-4591-9020-EF3BD963AE34}"/>
                      </a:ext>
                    </a:extLst>
                  </p:cNvPr>
                  <p:cNvSpPr/>
                  <p:nvPr/>
                </p:nvSpPr>
                <p:spPr>
                  <a:xfrm>
                    <a:off x="3586825" y="3445387"/>
                    <a:ext cx="141028" cy="139598"/>
                  </a:xfrm>
                  <a:custGeom>
                    <a:avLst/>
                    <a:gdLst>
                      <a:gd name="connsiteX0" fmla="*/ 10310 w 141028"/>
                      <a:gd name="connsiteY0" fmla="*/ 6130 h 139598"/>
                      <a:gd name="connsiteX1" fmla="*/ 17029 w 141028"/>
                      <a:gd name="connsiteY1" fmla="*/ 0 h 139598"/>
                      <a:gd name="connsiteX2" fmla="*/ 25926 w 141028"/>
                      <a:gd name="connsiteY2" fmla="*/ 0 h 139598"/>
                      <a:gd name="connsiteX3" fmla="*/ 33241 w 141028"/>
                      <a:gd name="connsiteY3" fmla="*/ 5144 h 139598"/>
                      <a:gd name="connsiteX4" fmla="*/ 63497 w 141028"/>
                      <a:gd name="connsiteY4" fmla="*/ 75533 h 139598"/>
                      <a:gd name="connsiteX5" fmla="*/ 65869 w 141028"/>
                      <a:gd name="connsiteY5" fmla="*/ 81763 h 139598"/>
                      <a:gd name="connsiteX6" fmla="*/ 68045 w 141028"/>
                      <a:gd name="connsiteY6" fmla="*/ 87792 h 139598"/>
                      <a:gd name="connsiteX7" fmla="*/ 70417 w 141028"/>
                      <a:gd name="connsiteY7" fmla="*/ 94317 h 139598"/>
                      <a:gd name="connsiteX8" fmla="*/ 70812 w 141028"/>
                      <a:gd name="connsiteY8" fmla="*/ 94317 h 139598"/>
                      <a:gd name="connsiteX9" fmla="*/ 72989 w 141028"/>
                      <a:gd name="connsiteY9" fmla="*/ 87792 h 139598"/>
                      <a:gd name="connsiteX10" fmla="*/ 75165 w 141028"/>
                      <a:gd name="connsiteY10" fmla="*/ 81763 h 139598"/>
                      <a:gd name="connsiteX11" fmla="*/ 77537 w 141028"/>
                      <a:gd name="connsiteY11" fmla="*/ 75533 h 139598"/>
                      <a:gd name="connsiteX12" fmla="*/ 107793 w 141028"/>
                      <a:gd name="connsiteY12" fmla="*/ 5144 h 139598"/>
                      <a:gd name="connsiteX13" fmla="*/ 115108 w 141028"/>
                      <a:gd name="connsiteY13" fmla="*/ 0 h 139598"/>
                      <a:gd name="connsiteX14" fmla="*/ 124005 w 141028"/>
                      <a:gd name="connsiteY14" fmla="*/ 0 h 139598"/>
                      <a:gd name="connsiteX15" fmla="*/ 130725 w 141028"/>
                      <a:gd name="connsiteY15" fmla="*/ 6130 h 139598"/>
                      <a:gd name="connsiteX16" fmla="*/ 141007 w 141028"/>
                      <a:gd name="connsiteY16" fmla="*/ 132874 h 139598"/>
                      <a:gd name="connsiteX17" fmla="*/ 134682 w 141028"/>
                      <a:gd name="connsiteY17" fmla="*/ 139598 h 139598"/>
                      <a:gd name="connsiteX18" fmla="*/ 128353 w 141028"/>
                      <a:gd name="connsiteY18" fmla="*/ 139598 h 139598"/>
                      <a:gd name="connsiteX19" fmla="*/ 121633 w 141028"/>
                      <a:gd name="connsiteY19" fmla="*/ 133269 h 139598"/>
                      <a:gd name="connsiteX20" fmla="*/ 115303 w 141028"/>
                      <a:gd name="connsiteY20" fmla="*/ 51606 h 139598"/>
                      <a:gd name="connsiteX21" fmla="*/ 114808 w 141028"/>
                      <a:gd name="connsiteY21" fmla="*/ 44882 h 139598"/>
                      <a:gd name="connsiteX22" fmla="*/ 114708 w 141028"/>
                      <a:gd name="connsiteY22" fmla="*/ 38157 h 139598"/>
                      <a:gd name="connsiteX23" fmla="*/ 114903 w 141028"/>
                      <a:gd name="connsiteY23" fmla="*/ 31037 h 139598"/>
                      <a:gd name="connsiteX24" fmla="*/ 114508 w 141028"/>
                      <a:gd name="connsiteY24" fmla="*/ 31037 h 139598"/>
                      <a:gd name="connsiteX25" fmla="*/ 111936 w 141028"/>
                      <a:gd name="connsiteY25" fmla="*/ 38353 h 139598"/>
                      <a:gd name="connsiteX26" fmla="*/ 109465 w 141028"/>
                      <a:gd name="connsiteY26" fmla="*/ 45173 h 139598"/>
                      <a:gd name="connsiteX27" fmla="*/ 106988 w 141028"/>
                      <a:gd name="connsiteY27" fmla="*/ 51602 h 139598"/>
                      <a:gd name="connsiteX28" fmla="*/ 81290 w 141028"/>
                      <a:gd name="connsiteY28" fmla="*/ 109338 h 139598"/>
                      <a:gd name="connsiteX29" fmla="*/ 73775 w 141028"/>
                      <a:gd name="connsiteY29" fmla="*/ 114481 h 139598"/>
                      <a:gd name="connsiteX30" fmla="*/ 67250 w 141028"/>
                      <a:gd name="connsiteY30" fmla="*/ 114481 h 139598"/>
                      <a:gd name="connsiteX31" fmla="*/ 59735 w 141028"/>
                      <a:gd name="connsiteY31" fmla="*/ 109338 h 139598"/>
                      <a:gd name="connsiteX32" fmla="*/ 34036 w 141028"/>
                      <a:gd name="connsiteY32" fmla="*/ 51602 h 139598"/>
                      <a:gd name="connsiteX33" fmla="*/ 31560 w 141028"/>
                      <a:gd name="connsiteY33" fmla="*/ 45273 h 139598"/>
                      <a:gd name="connsiteX34" fmla="*/ 29088 w 141028"/>
                      <a:gd name="connsiteY34" fmla="*/ 38353 h 139598"/>
                      <a:gd name="connsiteX35" fmla="*/ 26516 w 141028"/>
                      <a:gd name="connsiteY35" fmla="*/ 30642 h 139598"/>
                      <a:gd name="connsiteX36" fmla="*/ 26121 w 141028"/>
                      <a:gd name="connsiteY36" fmla="*/ 30642 h 139598"/>
                      <a:gd name="connsiteX37" fmla="*/ 26121 w 141028"/>
                      <a:gd name="connsiteY37" fmla="*/ 37957 h 139598"/>
                      <a:gd name="connsiteX38" fmla="*/ 26121 w 141028"/>
                      <a:gd name="connsiteY38" fmla="*/ 44777 h 139598"/>
                      <a:gd name="connsiteX39" fmla="*/ 25726 w 141028"/>
                      <a:gd name="connsiteY39" fmla="*/ 51602 h 139598"/>
                      <a:gd name="connsiteX40" fmla="*/ 19396 w 141028"/>
                      <a:gd name="connsiteY40" fmla="*/ 133264 h 139598"/>
                      <a:gd name="connsiteX41" fmla="*/ 12872 w 141028"/>
                      <a:gd name="connsiteY41" fmla="*/ 139594 h 139598"/>
                      <a:gd name="connsiteX42" fmla="*/ 6347 w 141028"/>
                      <a:gd name="connsiteY42" fmla="*/ 139594 h 139598"/>
                      <a:gd name="connsiteX43" fmla="*/ 22 w 141028"/>
                      <a:gd name="connsiteY43" fmla="*/ 132869 h 139598"/>
                      <a:gd name="connsiteX44" fmla="*/ 10310 w 141028"/>
                      <a:gd name="connsiteY44" fmla="*/ 6130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41028" h="139598">
                        <a:moveTo>
                          <a:pt x="10310" y="6130"/>
                        </a:moveTo>
                        <a:cubicBezTo>
                          <a:pt x="10705" y="2048"/>
                          <a:pt x="12943" y="0"/>
                          <a:pt x="17029" y="0"/>
                        </a:cubicBezTo>
                        <a:lnTo>
                          <a:pt x="25926" y="0"/>
                        </a:lnTo>
                        <a:cubicBezTo>
                          <a:pt x="29617" y="0"/>
                          <a:pt x="32055" y="1715"/>
                          <a:pt x="33241" y="5144"/>
                        </a:cubicBezTo>
                        <a:lnTo>
                          <a:pt x="63497" y="75533"/>
                        </a:lnTo>
                        <a:cubicBezTo>
                          <a:pt x="64288" y="77514"/>
                          <a:pt x="65078" y="79591"/>
                          <a:pt x="65869" y="81763"/>
                        </a:cubicBezTo>
                        <a:cubicBezTo>
                          <a:pt x="66659" y="83934"/>
                          <a:pt x="67383" y="85949"/>
                          <a:pt x="68045" y="87792"/>
                        </a:cubicBezTo>
                        <a:cubicBezTo>
                          <a:pt x="68836" y="90035"/>
                          <a:pt x="69626" y="92212"/>
                          <a:pt x="70417" y="94317"/>
                        </a:cubicBezTo>
                        <a:lnTo>
                          <a:pt x="70812" y="94317"/>
                        </a:lnTo>
                        <a:cubicBezTo>
                          <a:pt x="71474" y="92212"/>
                          <a:pt x="72198" y="90035"/>
                          <a:pt x="72989" y="87792"/>
                        </a:cubicBezTo>
                        <a:cubicBezTo>
                          <a:pt x="73646" y="85949"/>
                          <a:pt x="74375" y="83934"/>
                          <a:pt x="75165" y="81763"/>
                        </a:cubicBezTo>
                        <a:cubicBezTo>
                          <a:pt x="75956" y="79591"/>
                          <a:pt x="76746" y="77510"/>
                          <a:pt x="77537" y="75533"/>
                        </a:cubicBezTo>
                        <a:lnTo>
                          <a:pt x="107793" y="5144"/>
                        </a:lnTo>
                        <a:cubicBezTo>
                          <a:pt x="108979" y="1715"/>
                          <a:pt x="111417" y="0"/>
                          <a:pt x="115108" y="0"/>
                        </a:cubicBezTo>
                        <a:lnTo>
                          <a:pt x="124005" y="0"/>
                        </a:lnTo>
                        <a:cubicBezTo>
                          <a:pt x="128086" y="0"/>
                          <a:pt x="130329" y="2048"/>
                          <a:pt x="130725" y="6130"/>
                        </a:cubicBezTo>
                        <a:lnTo>
                          <a:pt x="141007" y="132874"/>
                        </a:lnTo>
                        <a:cubicBezTo>
                          <a:pt x="141269" y="137355"/>
                          <a:pt x="139159" y="139598"/>
                          <a:pt x="134682" y="139598"/>
                        </a:cubicBezTo>
                        <a:lnTo>
                          <a:pt x="128353" y="139598"/>
                        </a:lnTo>
                        <a:cubicBezTo>
                          <a:pt x="124267" y="139598"/>
                          <a:pt x="122028" y="137493"/>
                          <a:pt x="121633" y="133269"/>
                        </a:cubicBezTo>
                        <a:lnTo>
                          <a:pt x="115303" y="51606"/>
                        </a:lnTo>
                        <a:cubicBezTo>
                          <a:pt x="115037" y="49502"/>
                          <a:pt x="114875" y="47254"/>
                          <a:pt x="114808" y="44882"/>
                        </a:cubicBezTo>
                        <a:cubicBezTo>
                          <a:pt x="114737" y="42506"/>
                          <a:pt x="114708" y="40267"/>
                          <a:pt x="114708" y="38157"/>
                        </a:cubicBezTo>
                        <a:cubicBezTo>
                          <a:pt x="114708" y="35781"/>
                          <a:pt x="114775" y="33409"/>
                          <a:pt x="114903" y="31037"/>
                        </a:cubicBezTo>
                        <a:lnTo>
                          <a:pt x="114508" y="31037"/>
                        </a:lnTo>
                        <a:cubicBezTo>
                          <a:pt x="113584" y="33542"/>
                          <a:pt x="112727" y="35981"/>
                          <a:pt x="111936" y="38353"/>
                        </a:cubicBezTo>
                        <a:cubicBezTo>
                          <a:pt x="111146" y="40462"/>
                          <a:pt x="110322" y="42734"/>
                          <a:pt x="109465" y="45173"/>
                        </a:cubicBezTo>
                        <a:cubicBezTo>
                          <a:pt x="108603" y="47616"/>
                          <a:pt x="107784" y="49754"/>
                          <a:pt x="106988" y="51602"/>
                        </a:cubicBezTo>
                        <a:lnTo>
                          <a:pt x="81290" y="109338"/>
                        </a:lnTo>
                        <a:cubicBezTo>
                          <a:pt x="79971" y="112767"/>
                          <a:pt x="77461" y="114481"/>
                          <a:pt x="73775" y="114481"/>
                        </a:cubicBezTo>
                        <a:lnTo>
                          <a:pt x="67250" y="114481"/>
                        </a:lnTo>
                        <a:cubicBezTo>
                          <a:pt x="63559" y="114481"/>
                          <a:pt x="61049" y="112771"/>
                          <a:pt x="59735" y="109338"/>
                        </a:cubicBezTo>
                        <a:lnTo>
                          <a:pt x="34036" y="51602"/>
                        </a:lnTo>
                        <a:cubicBezTo>
                          <a:pt x="33241" y="49759"/>
                          <a:pt x="32417" y="47644"/>
                          <a:pt x="31560" y="45273"/>
                        </a:cubicBezTo>
                        <a:cubicBezTo>
                          <a:pt x="30698" y="42901"/>
                          <a:pt x="29879" y="40596"/>
                          <a:pt x="29088" y="38353"/>
                        </a:cubicBezTo>
                        <a:cubicBezTo>
                          <a:pt x="28164" y="35852"/>
                          <a:pt x="27307" y="33281"/>
                          <a:pt x="26516" y="30642"/>
                        </a:cubicBezTo>
                        <a:lnTo>
                          <a:pt x="26121" y="30642"/>
                        </a:lnTo>
                        <a:lnTo>
                          <a:pt x="26121" y="37957"/>
                        </a:lnTo>
                        <a:cubicBezTo>
                          <a:pt x="26121" y="40067"/>
                          <a:pt x="26121" y="42339"/>
                          <a:pt x="26121" y="44777"/>
                        </a:cubicBezTo>
                        <a:cubicBezTo>
                          <a:pt x="26121" y="47220"/>
                          <a:pt x="25988" y="49492"/>
                          <a:pt x="25726" y="51602"/>
                        </a:cubicBezTo>
                        <a:lnTo>
                          <a:pt x="19396" y="133264"/>
                        </a:lnTo>
                        <a:cubicBezTo>
                          <a:pt x="19001" y="137484"/>
                          <a:pt x="16829" y="139594"/>
                          <a:pt x="12872" y="139594"/>
                        </a:cubicBezTo>
                        <a:lnTo>
                          <a:pt x="6347" y="139594"/>
                        </a:lnTo>
                        <a:cubicBezTo>
                          <a:pt x="1870" y="139594"/>
                          <a:pt x="-244" y="137355"/>
                          <a:pt x="22" y="132869"/>
                        </a:cubicBezTo>
                        <a:lnTo>
                          <a:pt x="10310" y="6130"/>
                        </a:lnTo>
                        <a:close/>
                      </a:path>
                    </a:pathLst>
                  </a:custGeom>
                  <a:solidFill>
                    <a:srgbClr val="003D7C"/>
                  </a:solidFill>
                  <a:ln w="4763" cap="flat">
                    <a:noFill/>
                    <a:prstDash val="solid"/>
                    <a:miter/>
                  </a:ln>
                </p:spPr>
                <p:txBody>
                  <a:bodyPr rtlCol="0" anchor="ctr"/>
                  <a:lstStyle/>
                  <a:p>
                    <a:endParaRPr lang="en-GB" sz="3200"/>
                  </a:p>
                </p:txBody>
              </p:sp>
              <p:sp>
                <p:nvSpPr>
                  <p:cNvPr id="102" name="Freeform: Shape 101">
                    <a:extLst>
                      <a:ext uri="{FF2B5EF4-FFF2-40B4-BE49-F238E27FC236}">
                        <a16:creationId xmlns:a16="http://schemas.microsoft.com/office/drawing/2014/main" id="{997FC285-E917-460E-BA7D-8E498370C5C9}"/>
                      </a:ext>
                    </a:extLst>
                  </p:cNvPr>
                  <p:cNvSpPr/>
                  <p:nvPr/>
                </p:nvSpPr>
                <p:spPr>
                  <a:xfrm>
                    <a:off x="3783445" y="3445387"/>
                    <a:ext cx="116941" cy="139598"/>
                  </a:xfrm>
                  <a:custGeom>
                    <a:avLst/>
                    <a:gdLst>
                      <a:gd name="connsiteX0" fmla="*/ 46419 w 116941"/>
                      <a:gd name="connsiteY0" fmla="*/ 5339 h 139598"/>
                      <a:gd name="connsiteX1" fmla="*/ 53734 w 116941"/>
                      <a:gd name="connsiteY1" fmla="*/ 0 h 139598"/>
                      <a:gd name="connsiteX2" fmla="*/ 63221 w 116941"/>
                      <a:gd name="connsiteY2" fmla="*/ 0 h 139598"/>
                      <a:gd name="connsiteX3" fmla="*/ 70541 w 116941"/>
                      <a:gd name="connsiteY3" fmla="*/ 5339 h 139598"/>
                      <a:gd name="connsiteX4" fmla="*/ 116414 w 116941"/>
                      <a:gd name="connsiteY4" fmla="*/ 132083 h 139598"/>
                      <a:gd name="connsiteX5" fmla="*/ 116119 w 116941"/>
                      <a:gd name="connsiteY5" fmla="*/ 137522 h 139598"/>
                      <a:gd name="connsiteX6" fmla="*/ 111075 w 116941"/>
                      <a:gd name="connsiteY6" fmla="*/ 139598 h 139598"/>
                      <a:gd name="connsiteX7" fmla="*/ 104355 w 116941"/>
                      <a:gd name="connsiteY7" fmla="*/ 139598 h 139598"/>
                      <a:gd name="connsiteX8" fmla="*/ 97035 w 116941"/>
                      <a:gd name="connsiteY8" fmla="*/ 134260 h 139598"/>
                      <a:gd name="connsiteX9" fmla="*/ 84581 w 116941"/>
                      <a:gd name="connsiteY9" fmla="*/ 99460 h 139598"/>
                      <a:gd name="connsiteX10" fmla="*/ 31984 w 116941"/>
                      <a:gd name="connsiteY10" fmla="*/ 99460 h 139598"/>
                      <a:gd name="connsiteX11" fmla="*/ 19725 w 116941"/>
                      <a:gd name="connsiteY11" fmla="*/ 134260 h 139598"/>
                      <a:gd name="connsiteX12" fmla="*/ 12610 w 116941"/>
                      <a:gd name="connsiteY12" fmla="*/ 139598 h 139598"/>
                      <a:gd name="connsiteX13" fmla="*/ 5885 w 116941"/>
                      <a:gd name="connsiteY13" fmla="*/ 139598 h 139598"/>
                      <a:gd name="connsiteX14" fmla="*/ 747 w 116941"/>
                      <a:gd name="connsiteY14" fmla="*/ 137522 h 139598"/>
                      <a:gd name="connsiteX15" fmla="*/ 547 w 116941"/>
                      <a:gd name="connsiteY15" fmla="*/ 132083 h 139598"/>
                      <a:gd name="connsiteX16" fmla="*/ 46419 w 116941"/>
                      <a:gd name="connsiteY16" fmla="*/ 5339 h 139598"/>
                      <a:gd name="connsiteX17" fmla="*/ 79438 w 116941"/>
                      <a:gd name="connsiteY17" fmla="*/ 83244 h 139598"/>
                      <a:gd name="connsiteX18" fmla="*/ 64017 w 116941"/>
                      <a:gd name="connsiteY18" fmla="*/ 38953 h 139598"/>
                      <a:gd name="connsiteX19" fmla="*/ 62135 w 116941"/>
                      <a:gd name="connsiteY19" fmla="*/ 32923 h 139598"/>
                      <a:gd name="connsiteX20" fmla="*/ 60450 w 116941"/>
                      <a:gd name="connsiteY20" fmla="*/ 26494 h 139598"/>
                      <a:gd name="connsiteX21" fmla="*/ 58673 w 116941"/>
                      <a:gd name="connsiteY21" fmla="*/ 19179 h 139598"/>
                      <a:gd name="connsiteX22" fmla="*/ 58278 w 116941"/>
                      <a:gd name="connsiteY22" fmla="*/ 19179 h 139598"/>
                      <a:gd name="connsiteX23" fmla="*/ 56297 w 116941"/>
                      <a:gd name="connsiteY23" fmla="*/ 26494 h 139598"/>
                      <a:gd name="connsiteX24" fmla="*/ 54520 w 116941"/>
                      <a:gd name="connsiteY24" fmla="*/ 32923 h 139598"/>
                      <a:gd name="connsiteX25" fmla="*/ 52739 w 116941"/>
                      <a:gd name="connsiteY25" fmla="*/ 38953 h 139598"/>
                      <a:gd name="connsiteX26" fmla="*/ 37123 w 116941"/>
                      <a:gd name="connsiteY26" fmla="*/ 83244 h 139598"/>
                      <a:gd name="connsiteX27" fmla="*/ 79438 w 116941"/>
                      <a:gd name="connsiteY27" fmla="*/ 83244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941" h="139598">
                        <a:moveTo>
                          <a:pt x="46419" y="5339"/>
                        </a:moveTo>
                        <a:cubicBezTo>
                          <a:pt x="47605" y="1777"/>
                          <a:pt x="50044" y="0"/>
                          <a:pt x="53734" y="0"/>
                        </a:cubicBezTo>
                        <a:lnTo>
                          <a:pt x="63221" y="0"/>
                        </a:lnTo>
                        <a:cubicBezTo>
                          <a:pt x="66912" y="0"/>
                          <a:pt x="69351" y="1781"/>
                          <a:pt x="70541" y="5339"/>
                        </a:cubicBezTo>
                        <a:lnTo>
                          <a:pt x="116414" y="132083"/>
                        </a:lnTo>
                        <a:cubicBezTo>
                          <a:pt x="117204" y="134326"/>
                          <a:pt x="117109" y="136136"/>
                          <a:pt x="116119" y="137522"/>
                        </a:cubicBezTo>
                        <a:cubicBezTo>
                          <a:pt x="115133" y="138908"/>
                          <a:pt x="113447" y="139598"/>
                          <a:pt x="111075" y="139598"/>
                        </a:cubicBezTo>
                        <a:lnTo>
                          <a:pt x="104355" y="139598"/>
                        </a:lnTo>
                        <a:cubicBezTo>
                          <a:pt x="100664" y="139598"/>
                          <a:pt x="98226" y="137817"/>
                          <a:pt x="97035" y="134260"/>
                        </a:cubicBezTo>
                        <a:lnTo>
                          <a:pt x="84581" y="99460"/>
                        </a:lnTo>
                        <a:lnTo>
                          <a:pt x="31984" y="99460"/>
                        </a:lnTo>
                        <a:lnTo>
                          <a:pt x="19725" y="134260"/>
                        </a:lnTo>
                        <a:cubicBezTo>
                          <a:pt x="18668" y="137822"/>
                          <a:pt x="16296" y="139598"/>
                          <a:pt x="12610" y="139598"/>
                        </a:cubicBezTo>
                        <a:lnTo>
                          <a:pt x="5885" y="139598"/>
                        </a:lnTo>
                        <a:cubicBezTo>
                          <a:pt x="3380" y="139598"/>
                          <a:pt x="1666" y="138903"/>
                          <a:pt x="747" y="137522"/>
                        </a:cubicBezTo>
                        <a:cubicBezTo>
                          <a:pt x="-177" y="136136"/>
                          <a:pt x="-244" y="134326"/>
                          <a:pt x="547" y="132083"/>
                        </a:cubicBezTo>
                        <a:lnTo>
                          <a:pt x="46419" y="5339"/>
                        </a:lnTo>
                        <a:close/>
                        <a:moveTo>
                          <a:pt x="79438" y="83244"/>
                        </a:moveTo>
                        <a:lnTo>
                          <a:pt x="64017" y="38953"/>
                        </a:lnTo>
                        <a:cubicBezTo>
                          <a:pt x="63350" y="37109"/>
                          <a:pt x="62726" y="35095"/>
                          <a:pt x="62135" y="32923"/>
                        </a:cubicBezTo>
                        <a:cubicBezTo>
                          <a:pt x="61540" y="30747"/>
                          <a:pt x="60978" y="28604"/>
                          <a:pt x="60450" y="26494"/>
                        </a:cubicBezTo>
                        <a:cubicBezTo>
                          <a:pt x="59926" y="24122"/>
                          <a:pt x="59330" y="21684"/>
                          <a:pt x="58673" y="19179"/>
                        </a:cubicBezTo>
                        <a:lnTo>
                          <a:pt x="58278" y="19179"/>
                        </a:lnTo>
                        <a:cubicBezTo>
                          <a:pt x="57487" y="21684"/>
                          <a:pt x="56820" y="24122"/>
                          <a:pt x="56297" y="26494"/>
                        </a:cubicBezTo>
                        <a:cubicBezTo>
                          <a:pt x="55635" y="28604"/>
                          <a:pt x="55044" y="30747"/>
                          <a:pt x="54520" y="32923"/>
                        </a:cubicBezTo>
                        <a:cubicBezTo>
                          <a:pt x="53992" y="35100"/>
                          <a:pt x="53401" y="37109"/>
                          <a:pt x="52739" y="38953"/>
                        </a:cubicBezTo>
                        <a:lnTo>
                          <a:pt x="37123" y="83244"/>
                        </a:lnTo>
                        <a:lnTo>
                          <a:pt x="79438" y="83244"/>
                        </a:lnTo>
                        <a:close/>
                      </a:path>
                    </a:pathLst>
                  </a:custGeom>
                  <a:solidFill>
                    <a:srgbClr val="003D7C"/>
                  </a:solidFill>
                  <a:ln w="4763" cap="flat">
                    <a:noFill/>
                    <a:prstDash val="solid"/>
                    <a:miter/>
                  </a:ln>
                </p:spPr>
                <p:txBody>
                  <a:bodyPr rtlCol="0" anchor="ctr"/>
                  <a:lstStyle/>
                  <a:p>
                    <a:endParaRPr lang="en-GB" sz="3200"/>
                  </a:p>
                </p:txBody>
              </p:sp>
              <p:sp>
                <p:nvSpPr>
                  <p:cNvPr id="103" name="Freeform: Shape 102">
                    <a:extLst>
                      <a:ext uri="{FF2B5EF4-FFF2-40B4-BE49-F238E27FC236}">
                        <a16:creationId xmlns:a16="http://schemas.microsoft.com/office/drawing/2014/main" id="{39206FBA-F670-4213-B3C0-7581EB14E427}"/>
                      </a:ext>
                    </a:extLst>
                  </p:cNvPr>
                  <p:cNvSpPr/>
                  <p:nvPr/>
                </p:nvSpPr>
                <p:spPr>
                  <a:xfrm>
                    <a:off x="3931296" y="3445387"/>
                    <a:ext cx="115276" cy="139598"/>
                  </a:xfrm>
                  <a:custGeom>
                    <a:avLst/>
                    <a:gdLst>
                      <a:gd name="connsiteX0" fmla="*/ 48049 w 115276"/>
                      <a:gd name="connsiteY0" fmla="*/ 17007 h 139598"/>
                      <a:gd name="connsiteX1" fmla="*/ 6525 w 115276"/>
                      <a:gd name="connsiteY1" fmla="*/ 17007 h 139598"/>
                      <a:gd name="connsiteX2" fmla="*/ 0 w 115276"/>
                      <a:gd name="connsiteY2" fmla="*/ 10483 h 139598"/>
                      <a:gd name="connsiteX3" fmla="*/ 0 w 115276"/>
                      <a:gd name="connsiteY3" fmla="*/ 6525 h 139598"/>
                      <a:gd name="connsiteX4" fmla="*/ 6525 w 115276"/>
                      <a:gd name="connsiteY4" fmla="*/ 0 h 139598"/>
                      <a:gd name="connsiteX5" fmla="*/ 108952 w 115276"/>
                      <a:gd name="connsiteY5" fmla="*/ 0 h 139598"/>
                      <a:gd name="connsiteX6" fmla="*/ 115276 w 115276"/>
                      <a:gd name="connsiteY6" fmla="*/ 6525 h 139598"/>
                      <a:gd name="connsiteX7" fmla="*/ 115276 w 115276"/>
                      <a:gd name="connsiteY7" fmla="*/ 10483 h 139598"/>
                      <a:gd name="connsiteX8" fmla="*/ 108952 w 115276"/>
                      <a:gd name="connsiteY8" fmla="*/ 17007 h 139598"/>
                      <a:gd name="connsiteX9" fmla="*/ 67428 w 115276"/>
                      <a:gd name="connsiteY9" fmla="*/ 17007 h 139598"/>
                      <a:gd name="connsiteX10" fmla="*/ 67428 w 115276"/>
                      <a:gd name="connsiteY10" fmla="*/ 133074 h 139598"/>
                      <a:gd name="connsiteX11" fmla="*/ 60903 w 115276"/>
                      <a:gd name="connsiteY11" fmla="*/ 139598 h 139598"/>
                      <a:gd name="connsiteX12" fmla="*/ 54378 w 115276"/>
                      <a:gd name="connsiteY12" fmla="*/ 139598 h 139598"/>
                      <a:gd name="connsiteX13" fmla="*/ 48049 w 115276"/>
                      <a:gd name="connsiteY13" fmla="*/ 133074 h 139598"/>
                      <a:gd name="connsiteX14" fmla="*/ 48049 w 115276"/>
                      <a:gd name="connsiteY14" fmla="*/ 17007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5276" h="139598">
                        <a:moveTo>
                          <a:pt x="48049" y="17007"/>
                        </a:moveTo>
                        <a:lnTo>
                          <a:pt x="6525" y="17007"/>
                        </a:lnTo>
                        <a:cubicBezTo>
                          <a:pt x="2177" y="17007"/>
                          <a:pt x="0" y="14830"/>
                          <a:pt x="0" y="10483"/>
                        </a:cubicBezTo>
                        <a:lnTo>
                          <a:pt x="0" y="6525"/>
                        </a:lnTo>
                        <a:cubicBezTo>
                          <a:pt x="0" y="2172"/>
                          <a:pt x="2177" y="0"/>
                          <a:pt x="6525" y="0"/>
                        </a:cubicBezTo>
                        <a:lnTo>
                          <a:pt x="108952" y="0"/>
                        </a:lnTo>
                        <a:cubicBezTo>
                          <a:pt x="113171" y="0"/>
                          <a:pt x="115276" y="2177"/>
                          <a:pt x="115276" y="6525"/>
                        </a:cubicBezTo>
                        <a:lnTo>
                          <a:pt x="115276" y="10483"/>
                        </a:lnTo>
                        <a:cubicBezTo>
                          <a:pt x="115276" y="14830"/>
                          <a:pt x="113171" y="17007"/>
                          <a:pt x="108952" y="17007"/>
                        </a:cubicBezTo>
                        <a:lnTo>
                          <a:pt x="67428" y="17007"/>
                        </a:lnTo>
                        <a:lnTo>
                          <a:pt x="67428" y="133074"/>
                        </a:lnTo>
                        <a:cubicBezTo>
                          <a:pt x="67428" y="137427"/>
                          <a:pt x="65251" y="139598"/>
                          <a:pt x="60903" y="139598"/>
                        </a:cubicBezTo>
                        <a:lnTo>
                          <a:pt x="54378" y="139598"/>
                        </a:lnTo>
                        <a:cubicBezTo>
                          <a:pt x="50154" y="139598"/>
                          <a:pt x="48049" y="137422"/>
                          <a:pt x="48049" y="133074"/>
                        </a:cubicBezTo>
                        <a:lnTo>
                          <a:pt x="48049" y="17007"/>
                        </a:lnTo>
                        <a:close/>
                      </a:path>
                    </a:pathLst>
                  </a:custGeom>
                  <a:solidFill>
                    <a:srgbClr val="003D7C"/>
                  </a:solidFill>
                  <a:ln w="4763" cap="flat">
                    <a:noFill/>
                    <a:prstDash val="solid"/>
                    <a:miter/>
                  </a:ln>
                </p:spPr>
                <p:txBody>
                  <a:bodyPr rtlCol="0" anchor="ctr"/>
                  <a:lstStyle/>
                  <a:p>
                    <a:endParaRPr lang="en-GB" sz="3200"/>
                  </a:p>
                </p:txBody>
              </p:sp>
              <p:sp>
                <p:nvSpPr>
                  <p:cNvPr id="104" name="Freeform: Shape 103">
                    <a:extLst>
                      <a:ext uri="{FF2B5EF4-FFF2-40B4-BE49-F238E27FC236}">
                        <a16:creationId xmlns:a16="http://schemas.microsoft.com/office/drawing/2014/main" id="{CDE40FDC-1D38-4563-B5DB-3F3F699214C0}"/>
                      </a:ext>
                    </a:extLst>
                  </p:cNvPr>
                  <p:cNvSpPr/>
                  <p:nvPr/>
                </p:nvSpPr>
                <p:spPr>
                  <a:xfrm>
                    <a:off x="4105098" y="3445387"/>
                    <a:ext cx="19378" cy="139598"/>
                  </a:xfrm>
                  <a:custGeom>
                    <a:avLst/>
                    <a:gdLst>
                      <a:gd name="connsiteX0" fmla="*/ 0 w 19378"/>
                      <a:gd name="connsiteY0" fmla="*/ 6525 h 139598"/>
                      <a:gd name="connsiteX1" fmla="*/ 6525 w 19378"/>
                      <a:gd name="connsiteY1" fmla="*/ 0 h 139598"/>
                      <a:gd name="connsiteX2" fmla="*/ 12854 w 19378"/>
                      <a:gd name="connsiteY2" fmla="*/ 0 h 139598"/>
                      <a:gd name="connsiteX3" fmla="*/ 19378 w 19378"/>
                      <a:gd name="connsiteY3" fmla="*/ 6525 h 139598"/>
                      <a:gd name="connsiteX4" fmla="*/ 19378 w 19378"/>
                      <a:gd name="connsiteY4" fmla="*/ 133074 h 139598"/>
                      <a:gd name="connsiteX5" fmla="*/ 12854 w 19378"/>
                      <a:gd name="connsiteY5" fmla="*/ 139598 h 139598"/>
                      <a:gd name="connsiteX6" fmla="*/ 6525 w 19378"/>
                      <a:gd name="connsiteY6" fmla="*/ 139598 h 139598"/>
                      <a:gd name="connsiteX7" fmla="*/ 0 w 19378"/>
                      <a:gd name="connsiteY7" fmla="*/ 133074 h 139598"/>
                      <a:gd name="connsiteX8" fmla="*/ 0 w 19378"/>
                      <a:gd name="connsiteY8" fmla="*/ 6525 h 13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78" h="139598">
                        <a:moveTo>
                          <a:pt x="0" y="6525"/>
                        </a:moveTo>
                        <a:cubicBezTo>
                          <a:pt x="0" y="2172"/>
                          <a:pt x="2176" y="0"/>
                          <a:pt x="6525" y="0"/>
                        </a:cubicBezTo>
                        <a:lnTo>
                          <a:pt x="12854" y="0"/>
                        </a:lnTo>
                        <a:cubicBezTo>
                          <a:pt x="17202" y="0"/>
                          <a:pt x="19378" y="2177"/>
                          <a:pt x="19378" y="6525"/>
                        </a:cubicBezTo>
                        <a:lnTo>
                          <a:pt x="19378" y="133074"/>
                        </a:lnTo>
                        <a:cubicBezTo>
                          <a:pt x="19378" y="137427"/>
                          <a:pt x="17202" y="139598"/>
                          <a:pt x="12854" y="139598"/>
                        </a:cubicBezTo>
                        <a:lnTo>
                          <a:pt x="6525" y="139598"/>
                        </a:lnTo>
                        <a:cubicBezTo>
                          <a:pt x="2176" y="139598"/>
                          <a:pt x="0" y="137422"/>
                          <a:pt x="0" y="133074"/>
                        </a:cubicBezTo>
                        <a:lnTo>
                          <a:pt x="0" y="6525"/>
                        </a:lnTo>
                        <a:close/>
                      </a:path>
                    </a:pathLst>
                  </a:custGeom>
                  <a:solidFill>
                    <a:srgbClr val="003D7C"/>
                  </a:solidFill>
                  <a:ln w="4763" cap="flat">
                    <a:noFill/>
                    <a:prstDash val="solid"/>
                    <a:miter/>
                  </a:ln>
                </p:spPr>
                <p:txBody>
                  <a:bodyPr rtlCol="0" anchor="ctr"/>
                  <a:lstStyle/>
                  <a:p>
                    <a:endParaRPr lang="en-GB" sz="3200"/>
                  </a:p>
                </p:txBody>
              </p:sp>
              <p:sp>
                <p:nvSpPr>
                  <p:cNvPr id="105" name="Freeform: Shape 104">
                    <a:extLst>
                      <a:ext uri="{FF2B5EF4-FFF2-40B4-BE49-F238E27FC236}">
                        <a16:creationId xmlns:a16="http://schemas.microsoft.com/office/drawing/2014/main" id="{8F517383-D6AC-4663-AE6E-6F2E8C4DAEE2}"/>
                      </a:ext>
                    </a:extLst>
                  </p:cNvPr>
                  <p:cNvSpPr/>
                  <p:nvPr/>
                </p:nvSpPr>
                <p:spPr>
                  <a:xfrm>
                    <a:off x="4190714" y="3443011"/>
                    <a:ext cx="143351" cy="144341"/>
                  </a:xfrm>
                  <a:custGeom>
                    <a:avLst/>
                    <a:gdLst>
                      <a:gd name="connsiteX0" fmla="*/ 0 w 143351"/>
                      <a:gd name="connsiteY0" fmla="*/ 71185 h 144341"/>
                      <a:gd name="connsiteX1" fmla="*/ 5339 w 143351"/>
                      <a:gd name="connsiteY1" fmla="*/ 43105 h 144341"/>
                      <a:gd name="connsiteX2" fmla="*/ 20269 w 143351"/>
                      <a:gd name="connsiteY2" fmla="*/ 20464 h 144341"/>
                      <a:gd name="connsiteX3" fmla="*/ 43005 w 143351"/>
                      <a:gd name="connsiteY3" fmla="*/ 5439 h 144341"/>
                      <a:gd name="connsiteX4" fmla="*/ 71776 w 143351"/>
                      <a:gd name="connsiteY4" fmla="*/ 0 h 144341"/>
                      <a:gd name="connsiteX5" fmla="*/ 100546 w 143351"/>
                      <a:gd name="connsiteY5" fmla="*/ 5439 h 144341"/>
                      <a:gd name="connsiteX6" fmla="*/ 123187 w 143351"/>
                      <a:gd name="connsiteY6" fmla="*/ 20464 h 144341"/>
                      <a:gd name="connsiteX7" fmla="*/ 138013 w 143351"/>
                      <a:gd name="connsiteY7" fmla="*/ 43105 h 144341"/>
                      <a:gd name="connsiteX8" fmla="*/ 143351 w 143351"/>
                      <a:gd name="connsiteY8" fmla="*/ 71185 h 144341"/>
                      <a:gd name="connsiteX9" fmla="*/ 138013 w 143351"/>
                      <a:gd name="connsiteY9" fmla="*/ 99955 h 144341"/>
                      <a:gd name="connsiteX10" fmla="*/ 123187 w 143351"/>
                      <a:gd name="connsiteY10" fmla="*/ 123187 h 144341"/>
                      <a:gd name="connsiteX11" fmla="*/ 100546 w 143351"/>
                      <a:gd name="connsiteY11" fmla="*/ 138708 h 144341"/>
                      <a:gd name="connsiteX12" fmla="*/ 71776 w 143351"/>
                      <a:gd name="connsiteY12" fmla="*/ 144342 h 144341"/>
                      <a:gd name="connsiteX13" fmla="*/ 43005 w 143351"/>
                      <a:gd name="connsiteY13" fmla="*/ 138708 h 144341"/>
                      <a:gd name="connsiteX14" fmla="*/ 20269 w 143351"/>
                      <a:gd name="connsiteY14" fmla="*/ 123187 h 144341"/>
                      <a:gd name="connsiteX15" fmla="*/ 5339 w 143351"/>
                      <a:gd name="connsiteY15" fmla="*/ 99955 h 144341"/>
                      <a:gd name="connsiteX16" fmla="*/ 0 w 143351"/>
                      <a:gd name="connsiteY16" fmla="*/ 71185 h 144341"/>
                      <a:gd name="connsiteX17" fmla="*/ 20174 w 143351"/>
                      <a:gd name="connsiteY17" fmla="*/ 71185 h 144341"/>
                      <a:gd name="connsiteX18" fmla="*/ 24032 w 143351"/>
                      <a:gd name="connsiteY18" fmla="*/ 92935 h 144341"/>
                      <a:gd name="connsiteX19" fmla="*/ 34809 w 143351"/>
                      <a:gd name="connsiteY19" fmla="*/ 110433 h 144341"/>
                      <a:gd name="connsiteX20" fmla="*/ 51216 w 143351"/>
                      <a:gd name="connsiteY20" fmla="*/ 122101 h 144341"/>
                      <a:gd name="connsiteX21" fmla="*/ 71781 w 143351"/>
                      <a:gd name="connsiteY21" fmla="*/ 126354 h 144341"/>
                      <a:gd name="connsiteX22" fmla="*/ 92345 w 143351"/>
                      <a:gd name="connsiteY22" fmla="*/ 122101 h 144341"/>
                      <a:gd name="connsiteX23" fmla="*/ 108656 w 143351"/>
                      <a:gd name="connsiteY23" fmla="*/ 110433 h 144341"/>
                      <a:gd name="connsiteX24" fmla="*/ 119334 w 143351"/>
                      <a:gd name="connsiteY24" fmla="*/ 92935 h 144341"/>
                      <a:gd name="connsiteX25" fmla="*/ 123192 w 143351"/>
                      <a:gd name="connsiteY25" fmla="*/ 71185 h 144341"/>
                      <a:gd name="connsiteX26" fmla="*/ 119334 w 143351"/>
                      <a:gd name="connsiteY26" fmla="*/ 50130 h 144341"/>
                      <a:gd name="connsiteX27" fmla="*/ 108656 w 143351"/>
                      <a:gd name="connsiteY27" fmla="*/ 33223 h 144341"/>
                      <a:gd name="connsiteX28" fmla="*/ 92345 w 143351"/>
                      <a:gd name="connsiteY28" fmla="*/ 22050 h 144341"/>
                      <a:gd name="connsiteX29" fmla="*/ 71781 w 143351"/>
                      <a:gd name="connsiteY29" fmla="*/ 17993 h 144341"/>
                      <a:gd name="connsiteX30" fmla="*/ 51216 w 143351"/>
                      <a:gd name="connsiteY30" fmla="*/ 22050 h 144341"/>
                      <a:gd name="connsiteX31" fmla="*/ 34809 w 143351"/>
                      <a:gd name="connsiteY31" fmla="*/ 33223 h 144341"/>
                      <a:gd name="connsiteX32" fmla="*/ 24032 w 143351"/>
                      <a:gd name="connsiteY32" fmla="*/ 50130 h 144341"/>
                      <a:gd name="connsiteX33" fmla="*/ 20174 w 143351"/>
                      <a:gd name="connsiteY33" fmla="*/ 71185 h 14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3351" h="144341">
                        <a:moveTo>
                          <a:pt x="0" y="71185"/>
                        </a:moveTo>
                        <a:cubicBezTo>
                          <a:pt x="0" y="61170"/>
                          <a:pt x="1781" y="51806"/>
                          <a:pt x="5339" y="43105"/>
                        </a:cubicBezTo>
                        <a:cubicBezTo>
                          <a:pt x="8896" y="34404"/>
                          <a:pt x="13873" y="26860"/>
                          <a:pt x="20269" y="20464"/>
                        </a:cubicBezTo>
                        <a:cubicBezTo>
                          <a:pt x="26661" y="14073"/>
                          <a:pt x="34242" y="9063"/>
                          <a:pt x="43005" y="5439"/>
                        </a:cubicBezTo>
                        <a:cubicBezTo>
                          <a:pt x="51773" y="1814"/>
                          <a:pt x="61360" y="0"/>
                          <a:pt x="71776" y="0"/>
                        </a:cubicBezTo>
                        <a:cubicBezTo>
                          <a:pt x="82191" y="0"/>
                          <a:pt x="91778" y="1814"/>
                          <a:pt x="100546" y="5439"/>
                        </a:cubicBezTo>
                        <a:cubicBezTo>
                          <a:pt x="109314" y="9068"/>
                          <a:pt x="116857" y="14073"/>
                          <a:pt x="123187" y="20464"/>
                        </a:cubicBezTo>
                        <a:cubicBezTo>
                          <a:pt x="129511" y="26860"/>
                          <a:pt x="134455" y="34404"/>
                          <a:pt x="138013" y="43105"/>
                        </a:cubicBezTo>
                        <a:cubicBezTo>
                          <a:pt x="141575" y="51806"/>
                          <a:pt x="143351" y="61165"/>
                          <a:pt x="143351" y="71185"/>
                        </a:cubicBezTo>
                        <a:cubicBezTo>
                          <a:pt x="143351" y="81467"/>
                          <a:pt x="141575" y="91059"/>
                          <a:pt x="138013" y="99955"/>
                        </a:cubicBezTo>
                        <a:cubicBezTo>
                          <a:pt x="134455" y="108856"/>
                          <a:pt x="129511" y="116600"/>
                          <a:pt x="123187" y="123187"/>
                        </a:cubicBezTo>
                        <a:cubicBezTo>
                          <a:pt x="116857" y="129778"/>
                          <a:pt x="109314" y="134950"/>
                          <a:pt x="100546" y="138708"/>
                        </a:cubicBezTo>
                        <a:cubicBezTo>
                          <a:pt x="91778" y="142465"/>
                          <a:pt x="82191" y="144342"/>
                          <a:pt x="71776" y="144342"/>
                        </a:cubicBezTo>
                        <a:cubicBezTo>
                          <a:pt x="61360" y="144342"/>
                          <a:pt x="51773" y="142465"/>
                          <a:pt x="43005" y="138708"/>
                        </a:cubicBezTo>
                        <a:cubicBezTo>
                          <a:pt x="34238" y="134950"/>
                          <a:pt x="26656" y="129778"/>
                          <a:pt x="20269" y="123187"/>
                        </a:cubicBezTo>
                        <a:cubicBezTo>
                          <a:pt x="13873" y="116596"/>
                          <a:pt x="8896" y="108851"/>
                          <a:pt x="5339" y="99955"/>
                        </a:cubicBezTo>
                        <a:cubicBezTo>
                          <a:pt x="1781" y="91059"/>
                          <a:pt x="0" y="81467"/>
                          <a:pt x="0" y="71185"/>
                        </a:cubicBezTo>
                        <a:close/>
                        <a:moveTo>
                          <a:pt x="20174" y="71185"/>
                        </a:moveTo>
                        <a:cubicBezTo>
                          <a:pt x="20174" y="78967"/>
                          <a:pt x="21460" y="86215"/>
                          <a:pt x="24032" y="92935"/>
                        </a:cubicBezTo>
                        <a:cubicBezTo>
                          <a:pt x="26599" y="99660"/>
                          <a:pt x="30189" y="105489"/>
                          <a:pt x="34809" y="110433"/>
                        </a:cubicBezTo>
                        <a:cubicBezTo>
                          <a:pt x="39424" y="115376"/>
                          <a:pt x="44891" y="119262"/>
                          <a:pt x="51216" y="122101"/>
                        </a:cubicBezTo>
                        <a:cubicBezTo>
                          <a:pt x="57545" y="124935"/>
                          <a:pt x="64398" y="126354"/>
                          <a:pt x="71781" y="126354"/>
                        </a:cubicBezTo>
                        <a:cubicBezTo>
                          <a:pt x="79162" y="126354"/>
                          <a:pt x="86015" y="124939"/>
                          <a:pt x="92345" y="122101"/>
                        </a:cubicBezTo>
                        <a:cubicBezTo>
                          <a:pt x="98670" y="119267"/>
                          <a:pt x="104108" y="115376"/>
                          <a:pt x="108656" y="110433"/>
                        </a:cubicBezTo>
                        <a:cubicBezTo>
                          <a:pt x="113205" y="105489"/>
                          <a:pt x="116762" y="99655"/>
                          <a:pt x="119334" y="92935"/>
                        </a:cubicBezTo>
                        <a:cubicBezTo>
                          <a:pt x="121906" y="86215"/>
                          <a:pt x="123192" y="78962"/>
                          <a:pt x="123192" y="71185"/>
                        </a:cubicBezTo>
                        <a:cubicBezTo>
                          <a:pt x="123192" y="63670"/>
                          <a:pt x="121906" y="56655"/>
                          <a:pt x="119334" y="50130"/>
                        </a:cubicBezTo>
                        <a:cubicBezTo>
                          <a:pt x="116762" y="43605"/>
                          <a:pt x="113205" y="37967"/>
                          <a:pt x="108656" y="33223"/>
                        </a:cubicBezTo>
                        <a:cubicBezTo>
                          <a:pt x="104108" y="28475"/>
                          <a:pt x="98670" y="24755"/>
                          <a:pt x="92345" y="22050"/>
                        </a:cubicBezTo>
                        <a:cubicBezTo>
                          <a:pt x="86015" y="19350"/>
                          <a:pt x="79157" y="17993"/>
                          <a:pt x="71781" y="17993"/>
                        </a:cubicBezTo>
                        <a:cubicBezTo>
                          <a:pt x="64394" y="17993"/>
                          <a:pt x="57545" y="19345"/>
                          <a:pt x="51216" y="22050"/>
                        </a:cubicBezTo>
                        <a:cubicBezTo>
                          <a:pt x="44891" y="24751"/>
                          <a:pt x="39419" y="28475"/>
                          <a:pt x="34809" y="33223"/>
                        </a:cubicBezTo>
                        <a:cubicBezTo>
                          <a:pt x="30189" y="37967"/>
                          <a:pt x="26599" y="43605"/>
                          <a:pt x="24032" y="50130"/>
                        </a:cubicBezTo>
                        <a:cubicBezTo>
                          <a:pt x="21455" y="56655"/>
                          <a:pt x="20174" y="63670"/>
                          <a:pt x="20174" y="71185"/>
                        </a:cubicBezTo>
                        <a:close/>
                      </a:path>
                    </a:pathLst>
                  </a:custGeom>
                  <a:solidFill>
                    <a:srgbClr val="003D7C"/>
                  </a:solidFill>
                  <a:ln w="4763" cap="flat">
                    <a:noFill/>
                    <a:prstDash val="solid"/>
                    <a:miter/>
                  </a:ln>
                </p:spPr>
                <p:txBody>
                  <a:bodyPr rtlCol="0" anchor="ctr"/>
                  <a:lstStyle/>
                  <a:p>
                    <a:endParaRPr lang="en-GB" sz="3200"/>
                  </a:p>
                </p:txBody>
              </p:sp>
              <p:sp>
                <p:nvSpPr>
                  <p:cNvPr id="106" name="Freeform: Shape 105">
                    <a:extLst>
                      <a:ext uri="{FF2B5EF4-FFF2-40B4-BE49-F238E27FC236}">
                        <a16:creationId xmlns:a16="http://schemas.microsoft.com/office/drawing/2014/main" id="{F2793D28-EEF5-441D-BD22-BB551914CDF2}"/>
                      </a:ext>
                    </a:extLst>
                  </p:cNvPr>
                  <p:cNvSpPr/>
                  <p:nvPr/>
                </p:nvSpPr>
                <p:spPr>
                  <a:xfrm>
                    <a:off x="4400306" y="3445387"/>
                    <a:ext cx="111523" cy="139603"/>
                  </a:xfrm>
                  <a:custGeom>
                    <a:avLst/>
                    <a:gdLst>
                      <a:gd name="connsiteX0" fmla="*/ 0 w 111523"/>
                      <a:gd name="connsiteY0" fmla="*/ 6525 h 139603"/>
                      <a:gd name="connsiteX1" fmla="*/ 6525 w 111523"/>
                      <a:gd name="connsiteY1" fmla="*/ 0 h 139603"/>
                      <a:gd name="connsiteX2" fmla="*/ 14040 w 111523"/>
                      <a:gd name="connsiteY2" fmla="*/ 0 h 139603"/>
                      <a:gd name="connsiteX3" fmla="*/ 21946 w 111523"/>
                      <a:gd name="connsiteY3" fmla="*/ 4353 h 139603"/>
                      <a:gd name="connsiteX4" fmla="*/ 81463 w 111523"/>
                      <a:gd name="connsiteY4" fmla="*/ 90764 h 139603"/>
                      <a:gd name="connsiteX5" fmla="*/ 85320 w 111523"/>
                      <a:gd name="connsiteY5" fmla="*/ 96993 h 139603"/>
                      <a:gd name="connsiteX6" fmla="*/ 88983 w 111523"/>
                      <a:gd name="connsiteY6" fmla="*/ 103618 h 139603"/>
                      <a:gd name="connsiteX7" fmla="*/ 92936 w 111523"/>
                      <a:gd name="connsiteY7" fmla="*/ 110933 h 139603"/>
                      <a:gd name="connsiteX8" fmla="*/ 93331 w 111523"/>
                      <a:gd name="connsiteY8" fmla="*/ 110933 h 139603"/>
                      <a:gd name="connsiteX9" fmla="*/ 92740 w 111523"/>
                      <a:gd name="connsiteY9" fmla="*/ 103813 h 139603"/>
                      <a:gd name="connsiteX10" fmla="*/ 92245 w 111523"/>
                      <a:gd name="connsiteY10" fmla="*/ 97189 h 139603"/>
                      <a:gd name="connsiteX11" fmla="*/ 92145 w 111523"/>
                      <a:gd name="connsiteY11" fmla="*/ 90764 h 139603"/>
                      <a:gd name="connsiteX12" fmla="*/ 92145 w 111523"/>
                      <a:gd name="connsiteY12" fmla="*/ 6530 h 139603"/>
                      <a:gd name="connsiteX13" fmla="*/ 98670 w 111523"/>
                      <a:gd name="connsiteY13" fmla="*/ 5 h 139603"/>
                      <a:gd name="connsiteX14" fmla="*/ 104999 w 111523"/>
                      <a:gd name="connsiteY14" fmla="*/ 5 h 139603"/>
                      <a:gd name="connsiteX15" fmla="*/ 111524 w 111523"/>
                      <a:gd name="connsiteY15" fmla="*/ 6530 h 139603"/>
                      <a:gd name="connsiteX16" fmla="*/ 111524 w 111523"/>
                      <a:gd name="connsiteY16" fmla="*/ 133079 h 139603"/>
                      <a:gd name="connsiteX17" fmla="*/ 104999 w 111523"/>
                      <a:gd name="connsiteY17" fmla="*/ 139603 h 139603"/>
                      <a:gd name="connsiteX18" fmla="*/ 97484 w 111523"/>
                      <a:gd name="connsiteY18" fmla="*/ 139603 h 139603"/>
                      <a:gd name="connsiteX19" fmla="*/ 89773 w 111523"/>
                      <a:gd name="connsiteY19" fmla="*/ 135250 h 139603"/>
                      <a:gd name="connsiteX20" fmla="*/ 30061 w 111523"/>
                      <a:gd name="connsiteY20" fmla="*/ 49039 h 139603"/>
                      <a:gd name="connsiteX21" fmla="*/ 26103 w 111523"/>
                      <a:gd name="connsiteY21" fmla="*/ 42710 h 139603"/>
                      <a:gd name="connsiteX22" fmla="*/ 22546 w 111523"/>
                      <a:gd name="connsiteY22" fmla="*/ 35986 h 139603"/>
                      <a:gd name="connsiteX23" fmla="*/ 18593 w 111523"/>
                      <a:gd name="connsiteY23" fmla="*/ 28670 h 139603"/>
                      <a:gd name="connsiteX24" fmla="*/ 18198 w 111523"/>
                      <a:gd name="connsiteY24" fmla="*/ 28670 h 139603"/>
                      <a:gd name="connsiteX25" fmla="*/ 18788 w 111523"/>
                      <a:gd name="connsiteY25" fmla="*/ 35986 h 139603"/>
                      <a:gd name="connsiteX26" fmla="*/ 19183 w 111523"/>
                      <a:gd name="connsiteY26" fmla="*/ 42610 h 139603"/>
                      <a:gd name="connsiteX27" fmla="*/ 19383 w 111523"/>
                      <a:gd name="connsiteY27" fmla="*/ 49035 h 139603"/>
                      <a:gd name="connsiteX28" fmla="*/ 19383 w 111523"/>
                      <a:gd name="connsiteY28" fmla="*/ 133074 h 139603"/>
                      <a:gd name="connsiteX29" fmla="*/ 12859 w 111523"/>
                      <a:gd name="connsiteY29" fmla="*/ 139598 h 139603"/>
                      <a:gd name="connsiteX30" fmla="*/ 6530 w 111523"/>
                      <a:gd name="connsiteY30" fmla="*/ 139598 h 139603"/>
                      <a:gd name="connsiteX31" fmla="*/ 5 w 111523"/>
                      <a:gd name="connsiteY31" fmla="*/ 133074 h 139603"/>
                      <a:gd name="connsiteX32" fmla="*/ 5 w 111523"/>
                      <a:gd name="connsiteY32" fmla="*/ 6525 h 139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11523" h="139603">
                        <a:moveTo>
                          <a:pt x="0" y="6525"/>
                        </a:moveTo>
                        <a:cubicBezTo>
                          <a:pt x="0" y="2172"/>
                          <a:pt x="2177" y="0"/>
                          <a:pt x="6525" y="0"/>
                        </a:cubicBezTo>
                        <a:lnTo>
                          <a:pt x="14040" y="0"/>
                        </a:lnTo>
                        <a:cubicBezTo>
                          <a:pt x="17469" y="0"/>
                          <a:pt x="20098" y="1453"/>
                          <a:pt x="21946" y="4353"/>
                        </a:cubicBezTo>
                        <a:lnTo>
                          <a:pt x="81463" y="90764"/>
                        </a:lnTo>
                        <a:cubicBezTo>
                          <a:pt x="82653" y="92612"/>
                          <a:pt x="83939" y="94688"/>
                          <a:pt x="85320" y="96993"/>
                        </a:cubicBezTo>
                        <a:cubicBezTo>
                          <a:pt x="86706" y="99303"/>
                          <a:pt x="87925" y="101513"/>
                          <a:pt x="88983" y="103618"/>
                        </a:cubicBezTo>
                        <a:cubicBezTo>
                          <a:pt x="90297" y="105989"/>
                          <a:pt x="91621" y="108433"/>
                          <a:pt x="92936" y="110933"/>
                        </a:cubicBezTo>
                        <a:lnTo>
                          <a:pt x="93331" y="110933"/>
                        </a:lnTo>
                        <a:cubicBezTo>
                          <a:pt x="93064" y="108556"/>
                          <a:pt x="92869" y="106185"/>
                          <a:pt x="92740" y="103813"/>
                        </a:cubicBezTo>
                        <a:cubicBezTo>
                          <a:pt x="92474" y="101708"/>
                          <a:pt x="92307" y="99498"/>
                          <a:pt x="92245" y="97189"/>
                        </a:cubicBezTo>
                        <a:cubicBezTo>
                          <a:pt x="92178" y="94883"/>
                          <a:pt x="92145" y="92740"/>
                          <a:pt x="92145" y="90764"/>
                        </a:cubicBezTo>
                        <a:lnTo>
                          <a:pt x="92145" y="6530"/>
                        </a:lnTo>
                        <a:cubicBezTo>
                          <a:pt x="92145" y="2177"/>
                          <a:pt x="94322" y="5"/>
                          <a:pt x="98670" y="5"/>
                        </a:cubicBezTo>
                        <a:lnTo>
                          <a:pt x="104999" y="5"/>
                        </a:lnTo>
                        <a:cubicBezTo>
                          <a:pt x="109347" y="5"/>
                          <a:pt x="111524" y="2181"/>
                          <a:pt x="111524" y="6530"/>
                        </a:cubicBezTo>
                        <a:lnTo>
                          <a:pt x="111524" y="133079"/>
                        </a:lnTo>
                        <a:cubicBezTo>
                          <a:pt x="111524" y="137431"/>
                          <a:pt x="109347" y="139603"/>
                          <a:pt x="104999" y="139603"/>
                        </a:cubicBezTo>
                        <a:lnTo>
                          <a:pt x="97484" y="139603"/>
                        </a:lnTo>
                        <a:cubicBezTo>
                          <a:pt x="93926" y="139603"/>
                          <a:pt x="91354" y="138156"/>
                          <a:pt x="89773" y="135250"/>
                        </a:cubicBezTo>
                        <a:lnTo>
                          <a:pt x="30061" y="49039"/>
                        </a:lnTo>
                        <a:cubicBezTo>
                          <a:pt x="28742" y="47197"/>
                          <a:pt x="27418" y="45087"/>
                          <a:pt x="26103" y="42710"/>
                        </a:cubicBezTo>
                        <a:cubicBezTo>
                          <a:pt x="24789" y="40339"/>
                          <a:pt x="23603" y="38100"/>
                          <a:pt x="22546" y="35986"/>
                        </a:cubicBezTo>
                        <a:cubicBezTo>
                          <a:pt x="21227" y="33614"/>
                          <a:pt x="19908" y="31175"/>
                          <a:pt x="18593" y="28670"/>
                        </a:cubicBezTo>
                        <a:lnTo>
                          <a:pt x="18198" y="28670"/>
                        </a:lnTo>
                        <a:cubicBezTo>
                          <a:pt x="18326" y="31175"/>
                          <a:pt x="18522" y="33614"/>
                          <a:pt x="18788" y="35986"/>
                        </a:cubicBezTo>
                        <a:cubicBezTo>
                          <a:pt x="18917" y="38095"/>
                          <a:pt x="19055" y="40305"/>
                          <a:pt x="19183" y="42610"/>
                        </a:cubicBezTo>
                        <a:cubicBezTo>
                          <a:pt x="19312" y="44915"/>
                          <a:pt x="19383" y="47058"/>
                          <a:pt x="19383" y="49035"/>
                        </a:cubicBezTo>
                        <a:lnTo>
                          <a:pt x="19383" y="133074"/>
                        </a:lnTo>
                        <a:cubicBezTo>
                          <a:pt x="19383" y="137427"/>
                          <a:pt x="17207" y="139598"/>
                          <a:pt x="12859" y="139598"/>
                        </a:cubicBezTo>
                        <a:lnTo>
                          <a:pt x="6530" y="139598"/>
                        </a:lnTo>
                        <a:cubicBezTo>
                          <a:pt x="2181" y="139598"/>
                          <a:pt x="5" y="137422"/>
                          <a:pt x="5" y="133074"/>
                        </a:cubicBezTo>
                        <a:lnTo>
                          <a:pt x="5" y="6525"/>
                        </a:lnTo>
                        <a:close/>
                      </a:path>
                    </a:pathLst>
                  </a:custGeom>
                  <a:solidFill>
                    <a:srgbClr val="003D7C"/>
                  </a:solidFill>
                  <a:ln w="4763" cap="flat">
                    <a:noFill/>
                    <a:prstDash val="solid"/>
                    <a:miter/>
                  </a:ln>
                </p:spPr>
                <p:txBody>
                  <a:bodyPr rtlCol="0" anchor="ctr"/>
                  <a:lstStyle/>
                  <a:p>
                    <a:endParaRPr lang="en-GB" sz="3200"/>
                  </a:p>
                </p:txBody>
              </p:sp>
            </p:grpSp>
            <p:sp>
              <p:nvSpPr>
                <p:cNvPr id="60" name="Freeform: Shape 59">
                  <a:extLst>
                    <a:ext uri="{FF2B5EF4-FFF2-40B4-BE49-F238E27FC236}">
                      <a16:creationId xmlns:a16="http://schemas.microsoft.com/office/drawing/2014/main" id="{D541C8C0-4437-4639-8D7F-D2B14514E8A9}"/>
                    </a:ext>
                  </a:extLst>
                </p:cNvPr>
                <p:cNvSpPr/>
                <p:nvPr/>
              </p:nvSpPr>
              <p:spPr>
                <a:xfrm>
                  <a:off x="2248047" y="3086752"/>
                  <a:ext cx="4175379" cy="4762"/>
                </a:xfrm>
                <a:custGeom>
                  <a:avLst/>
                  <a:gdLst>
                    <a:gd name="connsiteX0" fmla="*/ 0 w 4175379"/>
                    <a:gd name="connsiteY0" fmla="*/ 0 h 4762"/>
                    <a:gd name="connsiteX1" fmla="*/ 4175379 w 4175379"/>
                    <a:gd name="connsiteY1" fmla="*/ 0 h 4762"/>
                  </a:gdLst>
                  <a:ahLst/>
                  <a:cxnLst>
                    <a:cxn ang="0">
                      <a:pos x="connsiteX0" y="connsiteY0"/>
                    </a:cxn>
                    <a:cxn ang="0">
                      <a:pos x="connsiteX1" y="connsiteY1"/>
                    </a:cxn>
                  </a:cxnLst>
                  <a:rect l="l" t="t" r="r" b="b"/>
                  <a:pathLst>
                    <a:path w="4175379" h="4762">
                      <a:moveTo>
                        <a:pt x="0" y="0"/>
                      </a:moveTo>
                      <a:lnTo>
                        <a:pt x="4175379" y="0"/>
                      </a:lnTo>
                    </a:path>
                  </a:pathLst>
                </a:custGeom>
                <a:ln w="9212" cap="rnd">
                  <a:solidFill>
                    <a:srgbClr val="FDAF00"/>
                  </a:solidFill>
                  <a:prstDash val="solid"/>
                  <a:round/>
                </a:ln>
              </p:spPr>
              <p:txBody>
                <a:bodyPr rtlCol="0" anchor="ctr"/>
                <a:lstStyle/>
                <a:p>
                  <a:endParaRPr lang="en-GB" sz="3200"/>
                </a:p>
              </p:txBody>
            </p:sp>
            <p:grpSp>
              <p:nvGrpSpPr>
                <p:cNvPr id="61" name="Graphic 72">
                  <a:extLst>
                    <a:ext uri="{FF2B5EF4-FFF2-40B4-BE49-F238E27FC236}">
                      <a16:creationId xmlns:a16="http://schemas.microsoft.com/office/drawing/2014/main" id="{A1B24ED2-02EA-4DF0-9B99-890FAA86147C}"/>
                    </a:ext>
                  </a:extLst>
                </p:cNvPr>
                <p:cNvGrpSpPr/>
                <p:nvPr/>
              </p:nvGrpSpPr>
              <p:grpSpPr>
                <a:xfrm>
                  <a:off x="3930938" y="1700588"/>
                  <a:ext cx="2444524" cy="591897"/>
                  <a:chOff x="3930938" y="1700588"/>
                  <a:chExt cx="2444524" cy="591897"/>
                </a:xfrm>
                <a:solidFill>
                  <a:srgbClr val="003D7C"/>
                </a:solidFill>
              </p:grpSpPr>
              <p:sp>
                <p:nvSpPr>
                  <p:cNvPr id="86" name="Freeform: Shape 85">
                    <a:extLst>
                      <a:ext uri="{FF2B5EF4-FFF2-40B4-BE49-F238E27FC236}">
                        <a16:creationId xmlns:a16="http://schemas.microsoft.com/office/drawing/2014/main" id="{87A3EB5C-D041-4DCA-A01B-76BEE67EA9EB}"/>
                      </a:ext>
                    </a:extLst>
                  </p:cNvPr>
                  <p:cNvSpPr/>
                  <p:nvPr/>
                </p:nvSpPr>
                <p:spPr>
                  <a:xfrm>
                    <a:off x="3930938" y="1700588"/>
                    <a:ext cx="380790" cy="581948"/>
                  </a:xfrm>
                  <a:custGeom>
                    <a:avLst/>
                    <a:gdLst>
                      <a:gd name="connsiteX0" fmla="*/ 0 w 380790"/>
                      <a:gd name="connsiteY0" fmla="*/ 20693 h 581948"/>
                      <a:gd name="connsiteX1" fmla="*/ 19869 w 380790"/>
                      <a:gd name="connsiteY1" fmla="*/ 0 h 581948"/>
                      <a:gd name="connsiteX2" fmla="*/ 201159 w 380790"/>
                      <a:gd name="connsiteY2" fmla="*/ 0 h 581948"/>
                      <a:gd name="connsiteX3" fmla="*/ 274006 w 380790"/>
                      <a:gd name="connsiteY3" fmla="*/ 12830 h 581948"/>
                      <a:gd name="connsiteX4" fmla="*/ 330713 w 380790"/>
                      <a:gd name="connsiteY4" fmla="*/ 48839 h 581948"/>
                      <a:gd name="connsiteX5" fmla="*/ 367546 w 380790"/>
                      <a:gd name="connsiteY5" fmla="*/ 104304 h 581948"/>
                      <a:gd name="connsiteX6" fmla="*/ 380790 w 380790"/>
                      <a:gd name="connsiteY6" fmla="*/ 175493 h 581948"/>
                      <a:gd name="connsiteX7" fmla="*/ 367546 w 380790"/>
                      <a:gd name="connsiteY7" fmla="*/ 247926 h 581948"/>
                      <a:gd name="connsiteX8" fmla="*/ 330713 w 380790"/>
                      <a:gd name="connsiteY8" fmla="*/ 304219 h 581948"/>
                      <a:gd name="connsiteX9" fmla="*/ 274006 w 380790"/>
                      <a:gd name="connsiteY9" fmla="*/ 340643 h 581948"/>
                      <a:gd name="connsiteX10" fmla="*/ 201159 w 380790"/>
                      <a:gd name="connsiteY10" fmla="*/ 353473 h 581948"/>
                      <a:gd name="connsiteX11" fmla="*/ 57122 w 380790"/>
                      <a:gd name="connsiteY11" fmla="*/ 353473 h 581948"/>
                      <a:gd name="connsiteX12" fmla="*/ 57122 w 380790"/>
                      <a:gd name="connsiteY12" fmla="*/ 561251 h 581948"/>
                      <a:gd name="connsiteX13" fmla="*/ 37252 w 380790"/>
                      <a:gd name="connsiteY13" fmla="*/ 581949 h 581948"/>
                      <a:gd name="connsiteX14" fmla="*/ 19869 w 380790"/>
                      <a:gd name="connsiteY14" fmla="*/ 581949 h 581948"/>
                      <a:gd name="connsiteX15" fmla="*/ 0 w 380790"/>
                      <a:gd name="connsiteY15" fmla="*/ 561251 h 581948"/>
                      <a:gd name="connsiteX16" fmla="*/ 0 w 380790"/>
                      <a:gd name="connsiteY16" fmla="*/ 20693 h 581948"/>
                      <a:gd name="connsiteX17" fmla="*/ 193705 w 380790"/>
                      <a:gd name="connsiteY17" fmla="*/ 302152 h 581948"/>
                      <a:gd name="connsiteX18" fmla="*/ 287665 w 380790"/>
                      <a:gd name="connsiteY18" fmla="*/ 268624 h 581948"/>
                      <a:gd name="connsiteX19" fmla="*/ 322021 w 380790"/>
                      <a:gd name="connsiteY19" fmla="*/ 175493 h 581948"/>
                      <a:gd name="connsiteX20" fmla="*/ 288079 w 380790"/>
                      <a:gd name="connsiteY20" fmla="*/ 84849 h 581948"/>
                      <a:gd name="connsiteX21" fmla="*/ 194534 w 380790"/>
                      <a:gd name="connsiteY21" fmla="*/ 51321 h 581948"/>
                      <a:gd name="connsiteX22" fmla="*/ 57117 w 380790"/>
                      <a:gd name="connsiteY22" fmla="*/ 51321 h 581948"/>
                      <a:gd name="connsiteX23" fmla="*/ 57117 w 380790"/>
                      <a:gd name="connsiteY23" fmla="*/ 302147 h 581948"/>
                      <a:gd name="connsiteX24" fmla="*/ 193705 w 380790"/>
                      <a:gd name="connsiteY24" fmla="*/ 302147 h 581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0790" h="581948">
                        <a:moveTo>
                          <a:pt x="0" y="20693"/>
                        </a:moveTo>
                        <a:cubicBezTo>
                          <a:pt x="0" y="6906"/>
                          <a:pt x="6625" y="0"/>
                          <a:pt x="19869" y="0"/>
                        </a:cubicBezTo>
                        <a:lnTo>
                          <a:pt x="201159" y="0"/>
                        </a:lnTo>
                        <a:cubicBezTo>
                          <a:pt x="227647" y="0"/>
                          <a:pt x="251927" y="4281"/>
                          <a:pt x="274006" y="12830"/>
                        </a:cubicBezTo>
                        <a:cubicBezTo>
                          <a:pt x="296075" y="21393"/>
                          <a:pt x="314982" y="33395"/>
                          <a:pt x="330713" y="48839"/>
                        </a:cubicBezTo>
                        <a:cubicBezTo>
                          <a:pt x="346443" y="64298"/>
                          <a:pt x="358716" y="82777"/>
                          <a:pt x="367546" y="104304"/>
                        </a:cubicBezTo>
                        <a:cubicBezTo>
                          <a:pt x="376371" y="125825"/>
                          <a:pt x="380790" y="149562"/>
                          <a:pt x="380790" y="175493"/>
                        </a:cubicBezTo>
                        <a:cubicBezTo>
                          <a:pt x="380790" y="201982"/>
                          <a:pt x="376366" y="226133"/>
                          <a:pt x="367546" y="247926"/>
                        </a:cubicBezTo>
                        <a:cubicBezTo>
                          <a:pt x="358716" y="269734"/>
                          <a:pt x="346439" y="288488"/>
                          <a:pt x="330713" y="304219"/>
                        </a:cubicBezTo>
                        <a:cubicBezTo>
                          <a:pt x="314982" y="319945"/>
                          <a:pt x="296075" y="332094"/>
                          <a:pt x="274006" y="340643"/>
                        </a:cubicBezTo>
                        <a:cubicBezTo>
                          <a:pt x="251927" y="349206"/>
                          <a:pt x="227652" y="353473"/>
                          <a:pt x="201159" y="353473"/>
                        </a:cubicBezTo>
                        <a:lnTo>
                          <a:pt x="57122" y="353473"/>
                        </a:lnTo>
                        <a:lnTo>
                          <a:pt x="57122" y="561251"/>
                        </a:lnTo>
                        <a:cubicBezTo>
                          <a:pt x="57122" y="575053"/>
                          <a:pt x="50497" y="581949"/>
                          <a:pt x="37252" y="581949"/>
                        </a:cubicBezTo>
                        <a:lnTo>
                          <a:pt x="19869" y="581949"/>
                        </a:lnTo>
                        <a:cubicBezTo>
                          <a:pt x="6625" y="581949"/>
                          <a:pt x="0" y="575053"/>
                          <a:pt x="0" y="561251"/>
                        </a:cubicBezTo>
                        <a:lnTo>
                          <a:pt x="0" y="20693"/>
                        </a:lnTo>
                        <a:close/>
                        <a:moveTo>
                          <a:pt x="193705" y="302152"/>
                        </a:moveTo>
                        <a:cubicBezTo>
                          <a:pt x="233444" y="302152"/>
                          <a:pt x="264757" y="290974"/>
                          <a:pt x="287665" y="268624"/>
                        </a:cubicBezTo>
                        <a:cubicBezTo>
                          <a:pt x="310563" y="246274"/>
                          <a:pt x="322021" y="215232"/>
                          <a:pt x="322021" y="175493"/>
                        </a:cubicBezTo>
                        <a:cubicBezTo>
                          <a:pt x="322021" y="137412"/>
                          <a:pt x="310701" y="107199"/>
                          <a:pt x="288079" y="84849"/>
                        </a:cubicBezTo>
                        <a:cubicBezTo>
                          <a:pt x="265443" y="62498"/>
                          <a:pt x="234272" y="51321"/>
                          <a:pt x="194534" y="51321"/>
                        </a:cubicBezTo>
                        <a:lnTo>
                          <a:pt x="57117" y="51321"/>
                        </a:lnTo>
                        <a:lnTo>
                          <a:pt x="57117" y="302147"/>
                        </a:lnTo>
                        <a:lnTo>
                          <a:pt x="193705" y="302147"/>
                        </a:lnTo>
                        <a:close/>
                      </a:path>
                    </a:pathLst>
                  </a:custGeom>
                  <a:solidFill>
                    <a:srgbClr val="003D7C"/>
                  </a:solidFill>
                  <a:ln w="4763" cap="flat">
                    <a:noFill/>
                    <a:prstDash val="solid"/>
                    <a:miter/>
                  </a:ln>
                </p:spPr>
                <p:txBody>
                  <a:bodyPr rtlCol="0" anchor="ctr"/>
                  <a:lstStyle/>
                  <a:p>
                    <a:endParaRPr lang="en-GB" sz="3200"/>
                  </a:p>
                </p:txBody>
              </p:sp>
              <p:sp>
                <p:nvSpPr>
                  <p:cNvPr id="87" name="Freeform: Shape 86">
                    <a:extLst>
                      <a:ext uri="{FF2B5EF4-FFF2-40B4-BE49-F238E27FC236}">
                        <a16:creationId xmlns:a16="http://schemas.microsoft.com/office/drawing/2014/main" id="{2CB1F9FC-2411-4CB3-A75A-48E86B6E2AC8}"/>
                      </a:ext>
                    </a:extLst>
                  </p:cNvPr>
                  <p:cNvSpPr/>
                  <p:nvPr/>
                </p:nvSpPr>
                <p:spPr>
                  <a:xfrm>
                    <a:off x="4358916" y="1856222"/>
                    <a:ext cx="334437" cy="436264"/>
                  </a:xfrm>
                  <a:custGeom>
                    <a:avLst/>
                    <a:gdLst>
                      <a:gd name="connsiteX0" fmla="*/ 0 w 334437"/>
                      <a:gd name="connsiteY0" fmla="*/ 314563 h 436264"/>
                      <a:gd name="connsiteX1" fmla="*/ 66223 w 334437"/>
                      <a:gd name="connsiteY1" fmla="*/ 209017 h 436264"/>
                      <a:gd name="connsiteX2" fmla="*/ 254137 w 334437"/>
                      <a:gd name="connsiteY2" fmla="*/ 171350 h 436264"/>
                      <a:gd name="connsiteX3" fmla="*/ 278144 w 334437"/>
                      <a:gd name="connsiteY3" fmla="*/ 171350 h 436264"/>
                      <a:gd name="connsiteX4" fmla="*/ 278144 w 334437"/>
                      <a:gd name="connsiteY4" fmla="*/ 158196 h 436264"/>
                      <a:gd name="connsiteX5" fmla="*/ 175493 w 334437"/>
                      <a:gd name="connsiteY5" fmla="*/ 51321 h 436264"/>
                      <a:gd name="connsiteX6" fmla="*/ 123339 w 334437"/>
                      <a:gd name="connsiteY6" fmla="*/ 58769 h 436264"/>
                      <a:gd name="connsiteX7" fmla="*/ 74500 w 334437"/>
                      <a:gd name="connsiteY7" fmla="*/ 80296 h 436264"/>
                      <a:gd name="connsiteX8" fmla="*/ 46354 w 334437"/>
                      <a:gd name="connsiteY8" fmla="*/ 73671 h 436264"/>
                      <a:gd name="connsiteX9" fmla="*/ 41386 w 334437"/>
                      <a:gd name="connsiteY9" fmla="*/ 65394 h 436264"/>
                      <a:gd name="connsiteX10" fmla="*/ 47182 w 334437"/>
                      <a:gd name="connsiteY10" fmla="*/ 37019 h 436264"/>
                      <a:gd name="connsiteX11" fmla="*/ 109685 w 334437"/>
                      <a:gd name="connsiteY11" fmla="*/ 10101 h 436264"/>
                      <a:gd name="connsiteX12" fmla="*/ 179637 w 334437"/>
                      <a:gd name="connsiteY12" fmla="*/ 0 h 436264"/>
                      <a:gd name="connsiteX13" fmla="*/ 294704 w 334437"/>
                      <a:gd name="connsiteY13" fmla="*/ 40977 h 436264"/>
                      <a:gd name="connsiteX14" fmla="*/ 334437 w 334437"/>
                      <a:gd name="connsiteY14" fmla="*/ 159768 h 436264"/>
                      <a:gd name="connsiteX15" fmla="*/ 334437 w 334437"/>
                      <a:gd name="connsiteY15" fmla="*/ 405632 h 436264"/>
                      <a:gd name="connsiteX16" fmla="*/ 314573 w 334437"/>
                      <a:gd name="connsiteY16" fmla="*/ 426330 h 436264"/>
                      <a:gd name="connsiteX17" fmla="*/ 301328 w 334437"/>
                      <a:gd name="connsiteY17" fmla="*/ 426330 h 436264"/>
                      <a:gd name="connsiteX18" fmla="*/ 280630 w 334437"/>
                      <a:gd name="connsiteY18" fmla="*/ 405632 h 436264"/>
                      <a:gd name="connsiteX19" fmla="*/ 280630 w 334437"/>
                      <a:gd name="connsiteY19" fmla="*/ 372518 h 436264"/>
                      <a:gd name="connsiteX20" fmla="*/ 281045 w 334437"/>
                      <a:gd name="connsiteY20" fmla="*/ 353892 h 436264"/>
                      <a:gd name="connsiteX21" fmla="*/ 283116 w 334437"/>
                      <a:gd name="connsiteY21" fmla="*/ 341062 h 436264"/>
                      <a:gd name="connsiteX22" fmla="*/ 281459 w 334437"/>
                      <a:gd name="connsiteY22" fmla="*/ 341062 h 436264"/>
                      <a:gd name="connsiteX23" fmla="*/ 250003 w 334437"/>
                      <a:gd name="connsiteY23" fmla="*/ 388663 h 436264"/>
                      <a:gd name="connsiteX24" fmla="*/ 206545 w 334437"/>
                      <a:gd name="connsiteY24" fmla="*/ 421362 h 436264"/>
                      <a:gd name="connsiteX25" fmla="*/ 140732 w 334437"/>
                      <a:gd name="connsiteY25" fmla="*/ 436264 h 436264"/>
                      <a:gd name="connsiteX26" fmla="*/ 84029 w 334437"/>
                      <a:gd name="connsiteY26" fmla="*/ 427158 h 436264"/>
                      <a:gd name="connsiteX27" fmla="*/ 39324 w 334437"/>
                      <a:gd name="connsiteY27" fmla="*/ 401907 h 436264"/>
                      <a:gd name="connsiteX28" fmla="*/ 10354 w 334437"/>
                      <a:gd name="connsiteY28" fmla="*/ 363412 h 436264"/>
                      <a:gd name="connsiteX29" fmla="*/ 0 w 334437"/>
                      <a:gd name="connsiteY29" fmla="*/ 314563 h 436264"/>
                      <a:gd name="connsiteX30" fmla="*/ 57945 w 334437"/>
                      <a:gd name="connsiteY30" fmla="*/ 309596 h 436264"/>
                      <a:gd name="connsiteX31" fmla="*/ 84025 w 334437"/>
                      <a:gd name="connsiteY31" fmla="*/ 366717 h 436264"/>
                      <a:gd name="connsiteX32" fmla="*/ 150662 w 334437"/>
                      <a:gd name="connsiteY32" fmla="*/ 389068 h 436264"/>
                      <a:gd name="connsiteX33" fmla="*/ 199506 w 334437"/>
                      <a:gd name="connsiteY33" fmla="*/ 377061 h 436264"/>
                      <a:gd name="connsiteX34" fmla="*/ 240068 w 334437"/>
                      <a:gd name="connsiteY34" fmla="*/ 343948 h 436264"/>
                      <a:gd name="connsiteX35" fmla="*/ 267800 w 334437"/>
                      <a:gd name="connsiteY35" fmla="*/ 294280 h 436264"/>
                      <a:gd name="connsiteX36" fmla="*/ 278149 w 334437"/>
                      <a:gd name="connsiteY36" fmla="*/ 233434 h 436264"/>
                      <a:gd name="connsiteX37" fmla="*/ 278149 w 334437"/>
                      <a:gd name="connsiteY37" fmla="*/ 213565 h 436264"/>
                      <a:gd name="connsiteX38" fmla="*/ 254970 w 334437"/>
                      <a:gd name="connsiteY38" fmla="*/ 213565 h 436264"/>
                      <a:gd name="connsiteX39" fmla="*/ 107623 w 334437"/>
                      <a:gd name="connsiteY39" fmla="*/ 237987 h 436264"/>
                      <a:gd name="connsiteX40" fmla="*/ 57945 w 334437"/>
                      <a:gd name="connsiteY40" fmla="*/ 309596 h 436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4437" h="436264">
                        <a:moveTo>
                          <a:pt x="0" y="314563"/>
                        </a:moveTo>
                        <a:cubicBezTo>
                          <a:pt x="0" y="269319"/>
                          <a:pt x="22065" y="234134"/>
                          <a:pt x="66223" y="209017"/>
                        </a:cubicBezTo>
                        <a:cubicBezTo>
                          <a:pt x="110371" y="183913"/>
                          <a:pt x="173012" y="171350"/>
                          <a:pt x="254137" y="171350"/>
                        </a:cubicBezTo>
                        <a:lnTo>
                          <a:pt x="278144" y="171350"/>
                        </a:lnTo>
                        <a:lnTo>
                          <a:pt x="278144" y="158196"/>
                        </a:lnTo>
                        <a:cubicBezTo>
                          <a:pt x="278144" y="86954"/>
                          <a:pt x="243916" y="51321"/>
                          <a:pt x="175493" y="51321"/>
                        </a:cubicBezTo>
                        <a:cubicBezTo>
                          <a:pt x="158382" y="51321"/>
                          <a:pt x="140999" y="53802"/>
                          <a:pt x="123339" y="58769"/>
                        </a:cubicBezTo>
                        <a:cubicBezTo>
                          <a:pt x="105670" y="63737"/>
                          <a:pt x="89402" y="70914"/>
                          <a:pt x="74500" y="80296"/>
                        </a:cubicBezTo>
                        <a:cubicBezTo>
                          <a:pt x="62351" y="86920"/>
                          <a:pt x="52973" y="84720"/>
                          <a:pt x="46354" y="73671"/>
                        </a:cubicBezTo>
                        <a:lnTo>
                          <a:pt x="41386" y="65394"/>
                        </a:lnTo>
                        <a:cubicBezTo>
                          <a:pt x="33652" y="53778"/>
                          <a:pt x="35590" y="44310"/>
                          <a:pt x="47182" y="37019"/>
                        </a:cubicBezTo>
                        <a:cubicBezTo>
                          <a:pt x="65394" y="25803"/>
                          <a:pt x="86220" y="16826"/>
                          <a:pt x="109685" y="10101"/>
                        </a:cubicBezTo>
                        <a:cubicBezTo>
                          <a:pt x="133136" y="3372"/>
                          <a:pt x="156453" y="0"/>
                          <a:pt x="179637" y="0"/>
                        </a:cubicBezTo>
                        <a:cubicBezTo>
                          <a:pt x="229848" y="0"/>
                          <a:pt x="268214" y="13659"/>
                          <a:pt x="294704" y="40977"/>
                        </a:cubicBezTo>
                        <a:cubicBezTo>
                          <a:pt x="321193" y="68294"/>
                          <a:pt x="334437" y="107899"/>
                          <a:pt x="334437" y="159768"/>
                        </a:cubicBezTo>
                        <a:lnTo>
                          <a:pt x="334437" y="405632"/>
                        </a:lnTo>
                        <a:cubicBezTo>
                          <a:pt x="334437" y="419433"/>
                          <a:pt x="327813" y="426330"/>
                          <a:pt x="314573" y="426330"/>
                        </a:cubicBezTo>
                        <a:lnTo>
                          <a:pt x="301328" y="426330"/>
                        </a:lnTo>
                        <a:cubicBezTo>
                          <a:pt x="287526" y="426330"/>
                          <a:pt x="280630" y="419433"/>
                          <a:pt x="280630" y="405632"/>
                        </a:cubicBezTo>
                        <a:lnTo>
                          <a:pt x="280630" y="372518"/>
                        </a:lnTo>
                        <a:cubicBezTo>
                          <a:pt x="280630" y="365893"/>
                          <a:pt x="280759" y="359688"/>
                          <a:pt x="281045" y="353892"/>
                        </a:cubicBezTo>
                        <a:cubicBezTo>
                          <a:pt x="281316" y="348101"/>
                          <a:pt x="282002" y="343829"/>
                          <a:pt x="283116" y="341062"/>
                        </a:cubicBezTo>
                        <a:lnTo>
                          <a:pt x="281459" y="341062"/>
                        </a:lnTo>
                        <a:cubicBezTo>
                          <a:pt x="271524" y="360926"/>
                          <a:pt x="261033" y="376800"/>
                          <a:pt x="250003" y="388663"/>
                        </a:cubicBezTo>
                        <a:cubicBezTo>
                          <a:pt x="238958" y="400536"/>
                          <a:pt x="224471" y="411428"/>
                          <a:pt x="206545" y="421362"/>
                        </a:cubicBezTo>
                        <a:cubicBezTo>
                          <a:pt x="188600" y="431297"/>
                          <a:pt x="166664" y="436264"/>
                          <a:pt x="140732" y="436264"/>
                        </a:cubicBezTo>
                        <a:cubicBezTo>
                          <a:pt x="120310" y="436264"/>
                          <a:pt x="101413" y="433226"/>
                          <a:pt x="84029" y="427158"/>
                        </a:cubicBezTo>
                        <a:cubicBezTo>
                          <a:pt x="66647" y="421091"/>
                          <a:pt x="51745" y="412671"/>
                          <a:pt x="39324" y="401907"/>
                        </a:cubicBezTo>
                        <a:cubicBezTo>
                          <a:pt x="26908" y="391149"/>
                          <a:pt x="17245" y="378314"/>
                          <a:pt x="10354" y="363412"/>
                        </a:cubicBezTo>
                        <a:cubicBezTo>
                          <a:pt x="3434" y="348505"/>
                          <a:pt x="0" y="332232"/>
                          <a:pt x="0" y="314563"/>
                        </a:cubicBezTo>
                        <a:close/>
                        <a:moveTo>
                          <a:pt x="57945" y="309596"/>
                        </a:moveTo>
                        <a:cubicBezTo>
                          <a:pt x="57945" y="332775"/>
                          <a:pt x="66637" y="351815"/>
                          <a:pt x="84025" y="366717"/>
                        </a:cubicBezTo>
                        <a:cubicBezTo>
                          <a:pt x="101408" y="381619"/>
                          <a:pt x="123615" y="389068"/>
                          <a:pt x="150662" y="389068"/>
                        </a:cubicBezTo>
                        <a:cubicBezTo>
                          <a:pt x="167764" y="389068"/>
                          <a:pt x="184047" y="385072"/>
                          <a:pt x="199506" y="377061"/>
                        </a:cubicBezTo>
                        <a:cubicBezTo>
                          <a:pt x="214946" y="369070"/>
                          <a:pt x="228476" y="358021"/>
                          <a:pt x="240068" y="343948"/>
                        </a:cubicBezTo>
                        <a:cubicBezTo>
                          <a:pt x="251660" y="329875"/>
                          <a:pt x="260895" y="313315"/>
                          <a:pt x="267800" y="294280"/>
                        </a:cubicBezTo>
                        <a:cubicBezTo>
                          <a:pt x="274691" y="275239"/>
                          <a:pt x="278149" y="254956"/>
                          <a:pt x="278149" y="233434"/>
                        </a:cubicBezTo>
                        <a:lnTo>
                          <a:pt x="278149" y="213565"/>
                        </a:lnTo>
                        <a:lnTo>
                          <a:pt x="254970" y="213565"/>
                        </a:lnTo>
                        <a:cubicBezTo>
                          <a:pt x="189843" y="213565"/>
                          <a:pt x="140732" y="221714"/>
                          <a:pt x="107623" y="237987"/>
                        </a:cubicBezTo>
                        <a:cubicBezTo>
                          <a:pt x="74500" y="254279"/>
                          <a:pt x="57945" y="278140"/>
                          <a:pt x="57945" y="309596"/>
                        </a:cubicBezTo>
                        <a:close/>
                      </a:path>
                    </a:pathLst>
                  </a:custGeom>
                  <a:solidFill>
                    <a:srgbClr val="003D7C"/>
                  </a:solidFill>
                  <a:ln w="4763" cap="flat">
                    <a:noFill/>
                    <a:prstDash val="solid"/>
                    <a:miter/>
                  </a:ln>
                </p:spPr>
                <p:txBody>
                  <a:bodyPr rtlCol="0" anchor="ctr"/>
                  <a:lstStyle/>
                  <a:p>
                    <a:endParaRPr lang="en-GB" sz="3200"/>
                  </a:p>
                </p:txBody>
              </p:sp>
              <p:sp>
                <p:nvSpPr>
                  <p:cNvPr id="88" name="Freeform: Shape 87">
                    <a:extLst>
                      <a:ext uri="{FF2B5EF4-FFF2-40B4-BE49-F238E27FC236}">
                        <a16:creationId xmlns:a16="http://schemas.microsoft.com/office/drawing/2014/main" id="{17434932-F074-4A2F-85F5-D4F7D8335005}"/>
                      </a:ext>
                    </a:extLst>
                  </p:cNvPr>
                  <p:cNvSpPr/>
                  <p:nvPr/>
                </p:nvSpPr>
                <p:spPr>
                  <a:xfrm>
                    <a:off x="4771996" y="1751085"/>
                    <a:ext cx="224337" cy="534771"/>
                  </a:xfrm>
                  <a:custGeom>
                    <a:avLst/>
                    <a:gdLst>
                      <a:gd name="connsiteX0" fmla="*/ 54635 w 224337"/>
                      <a:gd name="connsiteY0" fmla="*/ 165564 h 534771"/>
                      <a:gd name="connsiteX1" fmla="*/ 19869 w 224337"/>
                      <a:gd name="connsiteY1" fmla="*/ 165564 h 534771"/>
                      <a:gd name="connsiteX2" fmla="*/ 0 w 224337"/>
                      <a:gd name="connsiteY2" fmla="*/ 145699 h 534771"/>
                      <a:gd name="connsiteX3" fmla="*/ 0 w 224337"/>
                      <a:gd name="connsiteY3" fmla="*/ 139075 h 534771"/>
                      <a:gd name="connsiteX4" fmla="*/ 19869 w 224337"/>
                      <a:gd name="connsiteY4" fmla="*/ 118377 h 534771"/>
                      <a:gd name="connsiteX5" fmla="*/ 55464 w 224337"/>
                      <a:gd name="connsiteY5" fmla="*/ 118377 h 534771"/>
                      <a:gd name="connsiteX6" fmla="*/ 55464 w 224337"/>
                      <a:gd name="connsiteY6" fmla="*/ 20693 h 534771"/>
                      <a:gd name="connsiteX7" fmla="*/ 76162 w 224337"/>
                      <a:gd name="connsiteY7" fmla="*/ 0 h 534771"/>
                      <a:gd name="connsiteX8" fmla="*/ 91064 w 224337"/>
                      <a:gd name="connsiteY8" fmla="*/ 0 h 534771"/>
                      <a:gd name="connsiteX9" fmla="*/ 110933 w 224337"/>
                      <a:gd name="connsiteY9" fmla="*/ 20693 h 534771"/>
                      <a:gd name="connsiteX10" fmla="*/ 110933 w 224337"/>
                      <a:gd name="connsiteY10" fmla="*/ 118377 h 534771"/>
                      <a:gd name="connsiteX11" fmla="*/ 195367 w 224337"/>
                      <a:gd name="connsiteY11" fmla="*/ 118377 h 534771"/>
                      <a:gd name="connsiteX12" fmla="*/ 216065 w 224337"/>
                      <a:gd name="connsiteY12" fmla="*/ 139075 h 534771"/>
                      <a:gd name="connsiteX13" fmla="*/ 216065 w 224337"/>
                      <a:gd name="connsiteY13" fmla="*/ 145699 h 534771"/>
                      <a:gd name="connsiteX14" fmla="*/ 195367 w 224337"/>
                      <a:gd name="connsiteY14" fmla="*/ 165564 h 534771"/>
                      <a:gd name="connsiteX15" fmla="*/ 110933 w 224337"/>
                      <a:gd name="connsiteY15" fmla="*/ 165564 h 534771"/>
                      <a:gd name="connsiteX16" fmla="*/ 110933 w 224337"/>
                      <a:gd name="connsiteY16" fmla="*/ 374175 h 534771"/>
                      <a:gd name="connsiteX17" fmla="*/ 134521 w 224337"/>
                      <a:gd name="connsiteY17" fmla="*/ 453233 h 534771"/>
                      <a:gd name="connsiteX18" fmla="*/ 201992 w 224337"/>
                      <a:gd name="connsiteY18" fmla="*/ 483446 h 534771"/>
                      <a:gd name="connsiteX19" fmla="*/ 219375 w 224337"/>
                      <a:gd name="connsiteY19" fmla="*/ 489656 h 534771"/>
                      <a:gd name="connsiteX20" fmla="*/ 224337 w 224337"/>
                      <a:gd name="connsiteY20" fmla="*/ 504144 h 534771"/>
                      <a:gd name="connsiteX21" fmla="*/ 224337 w 224337"/>
                      <a:gd name="connsiteY21" fmla="*/ 514902 h 534771"/>
                      <a:gd name="connsiteX22" fmla="*/ 201163 w 224337"/>
                      <a:gd name="connsiteY22" fmla="*/ 534772 h 534771"/>
                      <a:gd name="connsiteX23" fmla="*/ 92716 w 224337"/>
                      <a:gd name="connsiteY23" fmla="*/ 494624 h 534771"/>
                      <a:gd name="connsiteX24" fmla="*/ 54635 w 224337"/>
                      <a:gd name="connsiteY24" fmla="*/ 381624 h 534771"/>
                      <a:gd name="connsiteX25" fmla="*/ 54635 w 224337"/>
                      <a:gd name="connsiteY25" fmla="*/ 165564 h 53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4337" h="534771">
                        <a:moveTo>
                          <a:pt x="54635" y="165564"/>
                        </a:moveTo>
                        <a:lnTo>
                          <a:pt x="19869" y="165564"/>
                        </a:lnTo>
                        <a:cubicBezTo>
                          <a:pt x="6625" y="165564"/>
                          <a:pt x="0" y="158944"/>
                          <a:pt x="0" y="145699"/>
                        </a:cubicBezTo>
                        <a:lnTo>
                          <a:pt x="0" y="139075"/>
                        </a:lnTo>
                        <a:cubicBezTo>
                          <a:pt x="0" y="125287"/>
                          <a:pt x="6625" y="118377"/>
                          <a:pt x="19869" y="118377"/>
                        </a:cubicBezTo>
                        <a:lnTo>
                          <a:pt x="55464" y="118377"/>
                        </a:lnTo>
                        <a:lnTo>
                          <a:pt x="55464" y="20693"/>
                        </a:lnTo>
                        <a:cubicBezTo>
                          <a:pt x="55464" y="6906"/>
                          <a:pt x="62360" y="0"/>
                          <a:pt x="76162" y="0"/>
                        </a:cubicBezTo>
                        <a:lnTo>
                          <a:pt x="91064" y="0"/>
                        </a:lnTo>
                        <a:cubicBezTo>
                          <a:pt x="104308" y="0"/>
                          <a:pt x="110933" y="6906"/>
                          <a:pt x="110933" y="20693"/>
                        </a:cubicBezTo>
                        <a:lnTo>
                          <a:pt x="110933" y="118377"/>
                        </a:lnTo>
                        <a:lnTo>
                          <a:pt x="195367" y="118377"/>
                        </a:lnTo>
                        <a:cubicBezTo>
                          <a:pt x="209155" y="118377"/>
                          <a:pt x="216065" y="125287"/>
                          <a:pt x="216065" y="139075"/>
                        </a:cubicBezTo>
                        <a:lnTo>
                          <a:pt x="216065" y="145699"/>
                        </a:lnTo>
                        <a:cubicBezTo>
                          <a:pt x="216065" y="158944"/>
                          <a:pt x="209155" y="165564"/>
                          <a:pt x="195367" y="165564"/>
                        </a:cubicBezTo>
                        <a:lnTo>
                          <a:pt x="110933" y="165564"/>
                        </a:lnTo>
                        <a:lnTo>
                          <a:pt x="110933" y="374175"/>
                        </a:lnTo>
                        <a:cubicBezTo>
                          <a:pt x="110933" y="407846"/>
                          <a:pt x="118796" y="434192"/>
                          <a:pt x="134521" y="453233"/>
                        </a:cubicBezTo>
                        <a:cubicBezTo>
                          <a:pt x="150252" y="472273"/>
                          <a:pt x="172731" y="482346"/>
                          <a:pt x="201992" y="483446"/>
                        </a:cubicBezTo>
                        <a:cubicBezTo>
                          <a:pt x="210269" y="484556"/>
                          <a:pt x="216065" y="486627"/>
                          <a:pt x="219375" y="489656"/>
                        </a:cubicBezTo>
                        <a:cubicBezTo>
                          <a:pt x="222680" y="492695"/>
                          <a:pt x="224337" y="497519"/>
                          <a:pt x="224337" y="504144"/>
                        </a:cubicBezTo>
                        <a:lnTo>
                          <a:pt x="224337" y="514902"/>
                        </a:lnTo>
                        <a:cubicBezTo>
                          <a:pt x="224337" y="528147"/>
                          <a:pt x="216603" y="534772"/>
                          <a:pt x="201163" y="534772"/>
                        </a:cubicBezTo>
                        <a:cubicBezTo>
                          <a:pt x="154248" y="534772"/>
                          <a:pt x="118096" y="521398"/>
                          <a:pt x="92716" y="494624"/>
                        </a:cubicBezTo>
                        <a:cubicBezTo>
                          <a:pt x="67323" y="467859"/>
                          <a:pt x="54635" y="430197"/>
                          <a:pt x="54635" y="381624"/>
                        </a:cubicBezTo>
                        <a:lnTo>
                          <a:pt x="54635" y="165564"/>
                        </a:lnTo>
                        <a:close/>
                      </a:path>
                    </a:pathLst>
                  </a:custGeom>
                  <a:solidFill>
                    <a:srgbClr val="003D7C"/>
                  </a:solidFill>
                  <a:ln w="4763" cap="flat">
                    <a:noFill/>
                    <a:prstDash val="solid"/>
                    <a:miter/>
                  </a:ln>
                </p:spPr>
                <p:txBody>
                  <a:bodyPr rtlCol="0" anchor="ctr"/>
                  <a:lstStyle/>
                  <a:p>
                    <a:endParaRPr lang="en-GB" sz="3200"/>
                  </a:p>
                </p:txBody>
              </p:sp>
              <p:sp>
                <p:nvSpPr>
                  <p:cNvPr id="89" name="Freeform: Shape 88">
                    <a:extLst>
                      <a:ext uri="{FF2B5EF4-FFF2-40B4-BE49-F238E27FC236}">
                        <a16:creationId xmlns:a16="http://schemas.microsoft.com/office/drawing/2014/main" id="{538662B7-33AF-48E9-BDC1-E5A6403C7E6A}"/>
                      </a:ext>
                    </a:extLst>
                  </p:cNvPr>
                  <p:cNvSpPr/>
                  <p:nvPr/>
                </p:nvSpPr>
                <p:spPr>
                  <a:xfrm>
                    <a:off x="5073310" y="1700588"/>
                    <a:ext cx="60436" cy="581953"/>
                  </a:xfrm>
                  <a:custGeom>
                    <a:avLst/>
                    <a:gdLst>
                      <a:gd name="connsiteX0" fmla="*/ 19869 w 60436"/>
                      <a:gd name="connsiteY0" fmla="*/ 70361 h 581953"/>
                      <a:gd name="connsiteX1" fmla="*/ 0 w 60436"/>
                      <a:gd name="connsiteY1" fmla="*/ 50497 h 581953"/>
                      <a:gd name="connsiteX2" fmla="*/ 0 w 60436"/>
                      <a:gd name="connsiteY2" fmla="*/ 20693 h 581953"/>
                      <a:gd name="connsiteX3" fmla="*/ 19869 w 60436"/>
                      <a:gd name="connsiteY3" fmla="*/ 0 h 581953"/>
                      <a:gd name="connsiteX4" fmla="*/ 40567 w 60436"/>
                      <a:gd name="connsiteY4" fmla="*/ 0 h 581953"/>
                      <a:gd name="connsiteX5" fmla="*/ 60436 w 60436"/>
                      <a:gd name="connsiteY5" fmla="*/ 20693 h 581953"/>
                      <a:gd name="connsiteX6" fmla="*/ 60436 w 60436"/>
                      <a:gd name="connsiteY6" fmla="*/ 50497 h 581953"/>
                      <a:gd name="connsiteX7" fmla="*/ 40567 w 60436"/>
                      <a:gd name="connsiteY7" fmla="*/ 70361 h 581953"/>
                      <a:gd name="connsiteX8" fmla="*/ 19869 w 60436"/>
                      <a:gd name="connsiteY8" fmla="*/ 70361 h 581953"/>
                      <a:gd name="connsiteX9" fmla="*/ 1653 w 60436"/>
                      <a:gd name="connsiteY9" fmla="*/ 186257 h 581953"/>
                      <a:gd name="connsiteX10" fmla="*/ 22350 w 60436"/>
                      <a:gd name="connsiteY10" fmla="*/ 165559 h 581953"/>
                      <a:gd name="connsiteX11" fmla="*/ 38081 w 60436"/>
                      <a:gd name="connsiteY11" fmla="*/ 165559 h 581953"/>
                      <a:gd name="connsiteX12" fmla="*/ 57951 w 60436"/>
                      <a:gd name="connsiteY12" fmla="*/ 186257 h 581953"/>
                      <a:gd name="connsiteX13" fmla="*/ 57951 w 60436"/>
                      <a:gd name="connsiteY13" fmla="*/ 561256 h 581953"/>
                      <a:gd name="connsiteX14" fmla="*/ 38081 w 60436"/>
                      <a:gd name="connsiteY14" fmla="*/ 581954 h 581953"/>
                      <a:gd name="connsiteX15" fmla="*/ 22350 w 60436"/>
                      <a:gd name="connsiteY15" fmla="*/ 581954 h 581953"/>
                      <a:gd name="connsiteX16" fmla="*/ 1653 w 60436"/>
                      <a:gd name="connsiteY16" fmla="*/ 561256 h 581953"/>
                      <a:gd name="connsiteX17" fmla="*/ 1653 w 60436"/>
                      <a:gd name="connsiteY17" fmla="*/ 186257 h 58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436" h="581953">
                        <a:moveTo>
                          <a:pt x="19869" y="70361"/>
                        </a:moveTo>
                        <a:cubicBezTo>
                          <a:pt x="6625" y="70361"/>
                          <a:pt x="0" y="63741"/>
                          <a:pt x="0" y="50497"/>
                        </a:cubicBezTo>
                        <a:lnTo>
                          <a:pt x="0" y="20693"/>
                        </a:lnTo>
                        <a:cubicBezTo>
                          <a:pt x="0" y="6906"/>
                          <a:pt x="6625" y="0"/>
                          <a:pt x="19869" y="0"/>
                        </a:cubicBezTo>
                        <a:lnTo>
                          <a:pt x="40567" y="0"/>
                        </a:lnTo>
                        <a:cubicBezTo>
                          <a:pt x="53812" y="0"/>
                          <a:pt x="60436" y="6906"/>
                          <a:pt x="60436" y="20693"/>
                        </a:cubicBezTo>
                        <a:lnTo>
                          <a:pt x="60436" y="50497"/>
                        </a:lnTo>
                        <a:cubicBezTo>
                          <a:pt x="60436" y="63741"/>
                          <a:pt x="53812" y="70361"/>
                          <a:pt x="40567" y="70361"/>
                        </a:cubicBezTo>
                        <a:lnTo>
                          <a:pt x="19869" y="70361"/>
                        </a:lnTo>
                        <a:close/>
                        <a:moveTo>
                          <a:pt x="1653" y="186257"/>
                        </a:moveTo>
                        <a:cubicBezTo>
                          <a:pt x="1653" y="172469"/>
                          <a:pt x="8549" y="165559"/>
                          <a:pt x="22350" y="165559"/>
                        </a:cubicBezTo>
                        <a:lnTo>
                          <a:pt x="38081" y="165559"/>
                        </a:lnTo>
                        <a:cubicBezTo>
                          <a:pt x="51325" y="165559"/>
                          <a:pt x="57951" y="172469"/>
                          <a:pt x="57951" y="186257"/>
                        </a:cubicBezTo>
                        <a:lnTo>
                          <a:pt x="57951" y="561256"/>
                        </a:lnTo>
                        <a:cubicBezTo>
                          <a:pt x="57951" y="575058"/>
                          <a:pt x="51325" y="581954"/>
                          <a:pt x="38081" y="581954"/>
                        </a:cubicBezTo>
                        <a:lnTo>
                          <a:pt x="22350" y="581954"/>
                        </a:lnTo>
                        <a:cubicBezTo>
                          <a:pt x="8554" y="581954"/>
                          <a:pt x="1653" y="575058"/>
                          <a:pt x="1653" y="561256"/>
                        </a:cubicBezTo>
                        <a:lnTo>
                          <a:pt x="1653" y="186257"/>
                        </a:lnTo>
                        <a:close/>
                      </a:path>
                    </a:pathLst>
                  </a:custGeom>
                  <a:solidFill>
                    <a:srgbClr val="003D7C"/>
                  </a:solidFill>
                  <a:ln w="4763" cap="flat">
                    <a:noFill/>
                    <a:prstDash val="solid"/>
                    <a:miter/>
                  </a:ln>
                </p:spPr>
                <p:txBody>
                  <a:bodyPr rtlCol="0" anchor="ctr"/>
                  <a:lstStyle/>
                  <a:p>
                    <a:endParaRPr lang="en-GB" sz="3200"/>
                  </a:p>
                </p:txBody>
              </p:sp>
              <p:sp>
                <p:nvSpPr>
                  <p:cNvPr id="90" name="Freeform: Shape 89">
                    <a:extLst>
                      <a:ext uri="{FF2B5EF4-FFF2-40B4-BE49-F238E27FC236}">
                        <a16:creationId xmlns:a16="http://schemas.microsoft.com/office/drawing/2014/main" id="{CD139B0E-2ACF-40DE-A59B-E4F61F5BC833}"/>
                      </a:ext>
                    </a:extLst>
                  </p:cNvPr>
                  <p:cNvSpPr/>
                  <p:nvPr/>
                </p:nvSpPr>
                <p:spPr>
                  <a:xfrm>
                    <a:off x="5232249" y="1856217"/>
                    <a:ext cx="379147" cy="436254"/>
                  </a:xfrm>
                  <a:custGeom>
                    <a:avLst/>
                    <a:gdLst>
                      <a:gd name="connsiteX0" fmla="*/ 0 w 379147"/>
                      <a:gd name="connsiteY0" fmla="*/ 218542 h 436254"/>
                      <a:gd name="connsiteX1" fmla="*/ 14897 w 379147"/>
                      <a:gd name="connsiteY1" fmla="*/ 130378 h 436254"/>
                      <a:gd name="connsiteX2" fmla="*/ 57117 w 379147"/>
                      <a:gd name="connsiteY2" fmla="*/ 61255 h 436254"/>
                      <a:gd name="connsiteX3" fmla="*/ 122101 w 379147"/>
                      <a:gd name="connsiteY3" fmla="*/ 16140 h 436254"/>
                      <a:gd name="connsiteX4" fmla="*/ 205302 w 379147"/>
                      <a:gd name="connsiteY4" fmla="*/ 0 h 436254"/>
                      <a:gd name="connsiteX5" fmla="*/ 277320 w 379147"/>
                      <a:gd name="connsiteY5" fmla="*/ 13659 h 436254"/>
                      <a:gd name="connsiteX6" fmla="*/ 332370 w 379147"/>
                      <a:gd name="connsiteY6" fmla="*/ 53397 h 436254"/>
                      <a:gd name="connsiteX7" fmla="*/ 367141 w 379147"/>
                      <a:gd name="connsiteY7" fmla="*/ 116310 h 436254"/>
                      <a:gd name="connsiteX8" fmla="*/ 379147 w 379147"/>
                      <a:gd name="connsiteY8" fmla="*/ 198677 h 436254"/>
                      <a:gd name="connsiteX9" fmla="*/ 372937 w 379147"/>
                      <a:gd name="connsiteY9" fmla="*/ 213574 h 436254"/>
                      <a:gd name="connsiteX10" fmla="*/ 357621 w 379147"/>
                      <a:gd name="connsiteY10" fmla="*/ 219370 h 436254"/>
                      <a:gd name="connsiteX11" fmla="*/ 57950 w 379147"/>
                      <a:gd name="connsiteY11" fmla="*/ 219370 h 436254"/>
                      <a:gd name="connsiteX12" fmla="*/ 70780 w 379147"/>
                      <a:gd name="connsiteY12" fmla="*/ 286917 h 436254"/>
                      <a:gd name="connsiteX13" fmla="*/ 104308 w 379147"/>
                      <a:gd name="connsiteY13" fmla="*/ 339223 h 436254"/>
                      <a:gd name="connsiteX14" fmla="*/ 155214 w 379147"/>
                      <a:gd name="connsiteY14" fmla="*/ 372994 h 436254"/>
                      <a:gd name="connsiteX15" fmla="*/ 219370 w 379147"/>
                      <a:gd name="connsiteY15" fmla="*/ 384934 h 436254"/>
                      <a:gd name="connsiteX16" fmla="*/ 276492 w 379147"/>
                      <a:gd name="connsiteY16" fmla="*/ 375428 h 436254"/>
                      <a:gd name="connsiteX17" fmla="*/ 328641 w 379147"/>
                      <a:gd name="connsiteY17" fmla="*/ 346853 h 436254"/>
                      <a:gd name="connsiteX18" fmla="*/ 355959 w 379147"/>
                      <a:gd name="connsiteY18" fmla="*/ 351820 h 436254"/>
                      <a:gd name="connsiteX19" fmla="*/ 362583 w 379147"/>
                      <a:gd name="connsiteY19" fmla="*/ 361750 h 436254"/>
                      <a:gd name="connsiteX20" fmla="*/ 356788 w 379147"/>
                      <a:gd name="connsiteY20" fmla="*/ 389134 h 436254"/>
                      <a:gd name="connsiteX21" fmla="*/ 290565 w 379147"/>
                      <a:gd name="connsiteY21" fmla="*/ 423643 h 436254"/>
                      <a:gd name="connsiteX22" fmla="*/ 217713 w 379147"/>
                      <a:gd name="connsiteY22" fmla="*/ 436255 h 436254"/>
                      <a:gd name="connsiteX23" fmla="*/ 130378 w 379147"/>
                      <a:gd name="connsiteY23" fmla="*/ 420110 h 436254"/>
                      <a:gd name="connsiteX24" fmla="*/ 61255 w 379147"/>
                      <a:gd name="connsiteY24" fmla="*/ 374995 h 436254"/>
                      <a:gd name="connsiteX25" fmla="*/ 16135 w 379147"/>
                      <a:gd name="connsiteY25" fmla="*/ 305872 h 436254"/>
                      <a:gd name="connsiteX26" fmla="*/ 0 w 379147"/>
                      <a:gd name="connsiteY26" fmla="*/ 218542 h 436254"/>
                      <a:gd name="connsiteX27" fmla="*/ 322016 w 379147"/>
                      <a:gd name="connsiteY27" fmla="*/ 177151 h 436254"/>
                      <a:gd name="connsiteX28" fmla="*/ 287664 w 379147"/>
                      <a:gd name="connsiteY28" fmla="*/ 81953 h 436254"/>
                      <a:gd name="connsiteX29" fmla="*/ 203640 w 379147"/>
                      <a:gd name="connsiteY29" fmla="*/ 46358 h 436254"/>
                      <a:gd name="connsiteX30" fmla="*/ 108442 w 379147"/>
                      <a:gd name="connsiteY30" fmla="*/ 81953 h 436254"/>
                      <a:gd name="connsiteX31" fmla="*/ 60427 w 379147"/>
                      <a:gd name="connsiteY31" fmla="*/ 177151 h 436254"/>
                      <a:gd name="connsiteX32" fmla="*/ 322016 w 379147"/>
                      <a:gd name="connsiteY32" fmla="*/ 177151 h 436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79147" h="436254">
                        <a:moveTo>
                          <a:pt x="0" y="218542"/>
                        </a:moveTo>
                        <a:cubicBezTo>
                          <a:pt x="0" y="186542"/>
                          <a:pt x="4967" y="157153"/>
                          <a:pt x="14897" y="130378"/>
                        </a:cubicBezTo>
                        <a:cubicBezTo>
                          <a:pt x="24832" y="103618"/>
                          <a:pt x="38905" y="80577"/>
                          <a:pt x="57117" y="61255"/>
                        </a:cubicBezTo>
                        <a:cubicBezTo>
                          <a:pt x="75329" y="41943"/>
                          <a:pt x="96979" y="26903"/>
                          <a:pt x="122101" y="16140"/>
                        </a:cubicBezTo>
                        <a:cubicBezTo>
                          <a:pt x="147209" y="5382"/>
                          <a:pt x="174941" y="0"/>
                          <a:pt x="205302" y="0"/>
                        </a:cubicBezTo>
                        <a:cubicBezTo>
                          <a:pt x="231791" y="0"/>
                          <a:pt x="255798" y="4553"/>
                          <a:pt x="277320" y="13659"/>
                        </a:cubicBezTo>
                        <a:cubicBezTo>
                          <a:pt x="298847" y="22765"/>
                          <a:pt x="317182" y="36009"/>
                          <a:pt x="332370" y="53397"/>
                        </a:cubicBezTo>
                        <a:cubicBezTo>
                          <a:pt x="347548" y="70780"/>
                          <a:pt x="359130" y="91759"/>
                          <a:pt x="367141" y="116310"/>
                        </a:cubicBezTo>
                        <a:cubicBezTo>
                          <a:pt x="375138" y="140875"/>
                          <a:pt x="379147" y="168335"/>
                          <a:pt x="379147" y="198677"/>
                        </a:cubicBezTo>
                        <a:cubicBezTo>
                          <a:pt x="379147" y="204754"/>
                          <a:pt x="377076" y="209722"/>
                          <a:pt x="372937" y="213574"/>
                        </a:cubicBezTo>
                        <a:cubicBezTo>
                          <a:pt x="368798" y="217442"/>
                          <a:pt x="363688" y="219370"/>
                          <a:pt x="357621" y="219370"/>
                        </a:cubicBezTo>
                        <a:lnTo>
                          <a:pt x="57950" y="219370"/>
                        </a:lnTo>
                        <a:cubicBezTo>
                          <a:pt x="58493" y="244088"/>
                          <a:pt x="62775" y="266610"/>
                          <a:pt x="70780" y="286917"/>
                        </a:cubicBezTo>
                        <a:cubicBezTo>
                          <a:pt x="78777" y="307239"/>
                          <a:pt x="89949" y="324674"/>
                          <a:pt x="104308" y="339223"/>
                        </a:cubicBezTo>
                        <a:cubicBezTo>
                          <a:pt x="118653" y="353773"/>
                          <a:pt x="135622" y="365027"/>
                          <a:pt x="155214" y="372994"/>
                        </a:cubicBezTo>
                        <a:cubicBezTo>
                          <a:pt x="174798" y="380962"/>
                          <a:pt x="196191" y="384934"/>
                          <a:pt x="219370" y="384934"/>
                        </a:cubicBezTo>
                        <a:cubicBezTo>
                          <a:pt x="238125" y="385505"/>
                          <a:pt x="257170" y="382334"/>
                          <a:pt x="276492" y="375428"/>
                        </a:cubicBezTo>
                        <a:cubicBezTo>
                          <a:pt x="295803" y="368517"/>
                          <a:pt x="313187" y="359002"/>
                          <a:pt x="328641" y="346853"/>
                        </a:cubicBezTo>
                        <a:cubicBezTo>
                          <a:pt x="340233" y="339685"/>
                          <a:pt x="349339" y="341343"/>
                          <a:pt x="355959" y="351820"/>
                        </a:cubicBezTo>
                        <a:lnTo>
                          <a:pt x="362583" y="361750"/>
                        </a:lnTo>
                        <a:cubicBezTo>
                          <a:pt x="368646" y="372794"/>
                          <a:pt x="366722" y="381914"/>
                          <a:pt x="356788" y="389134"/>
                        </a:cubicBezTo>
                        <a:cubicBezTo>
                          <a:pt x="337461" y="403722"/>
                          <a:pt x="315396" y="415233"/>
                          <a:pt x="290565" y="423643"/>
                        </a:cubicBezTo>
                        <a:cubicBezTo>
                          <a:pt x="265729" y="432040"/>
                          <a:pt x="241440" y="436255"/>
                          <a:pt x="217713" y="436255"/>
                        </a:cubicBezTo>
                        <a:cubicBezTo>
                          <a:pt x="186261" y="436255"/>
                          <a:pt x="157139" y="430873"/>
                          <a:pt x="130378" y="420110"/>
                        </a:cubicBezTo>
                        <a:cubicBezTo>
                          <a:pt x="103604" y="409347"/>
                          <a:pt x="80567" y="394316"/>
                          <a:pt x="61255" y="374995"/>
                        </a:cubicBezTo>
                        <a:cubicBezTo>
                          <a:pt x="41929" y="355683"/>
                          <a:pt x="26898" y="332646"/>
                          <a:pt x="16135" y="305872"/>
                        </a:cubicBezTo>
                        <a:cubicBezTo>
                          <a:pt x="5382" y="279116"/>
                          <a:pt x="0" y="250003"/>
                          <a:pt x="0" y="218542"/>
                        </a:cubicBezTo>
                        <a:close/>
                        <a:moveTo>
                          <a:pt x="322016" y="177151"/>
                        </a:moveTo>
                        <a:cubicBezTo>
                          <a:pt x="320359" y="137417"/>
                          <a:pt x="308900" y="105689"/>
                          <a:pt x="287664" y="81953"/>
                        </a:cubicBezTo>
                        <a:cubicBezTo>
                          <a:pt x="266409" y="58231"/>
                          <a:pt x="238406" y="46358"/>
                          <a:pt x="203640" y="46358"/>
                        </a:cubicBezTo>
                        <a:cubicBezTo>
                          <a:pt x="166101" y="46358"/>
                          <a:pt x="134374" y="58231"/>
                          <a:pt x="108442" y="81953"/>
                        </a:cubicBezTo>
                        <a:cubicBezTo>
                          <a:pt x="82496" y="105689"/>
                          <a:pt x="66489" y="137417"/>
                          <a:pt x="60427" y="177151"/>
                        </a:cubicBezTo>
                        <a:lnTo>
                          <a:pt x="322016" y="177151"/>
                        </a:lnTo>
                        <a:close/>
                      </a:path>
                    </a:pathLst>
                  </a:custGeom>
                  <a:solidFill>
                    <a:srgbClr val="003D7C"/>
                  </a:solidFill>
                  <a:ln w="4763" cap="flat">
                    <a:noFill/>
                    <a:prstDash val="solid"/>
                    <a:miter/>
                  </a:ln>
                </p:spPr>
                <p:txBody>
                  <a:bodyPr rtlCol="0" anchor="ctr"/>
                  <a:lstStyle/>
                  <a:p>
                    <a:endParaRPr lang="en-GB" sz="3200"/>
                  </a:p>
                </p:txBody>
              </p:sp>
              <p:sp>
                <p:nvSpPr>
                  <p:cNvPr id="91" name="Freeform: Shape 90">
                    <a:extLst>
                      <a:ext uri="{FF2B5EF4-FFF2-40B4-BE49-F238E27FC236}">
                        <a16:creationId xmlns:a16="http://schemas.microsoft.com/office/drawing/2014/main" id="{887C4980-9FC4-4FF0-AC3F-36863BBC8926}"/>
                      </a:ext>
                    </a:extLst>
                  </p:cNvPr>
                  <p:cNvSpPr/>
                  <p:nvPr/>
                </p:nvSpPr>
                <p:spPr>
                  <a:xfrm>
                    <a:off x="5709875" y="1856217"/>
                    <a:ext cx="361773" cy="426329"/>
                  </a:xfrm>
                  <a:custGeom>
                    <a:avLst/>
                    <a:gdLst>
                      <a:gd name="connsiteX0" fmla="*/ 15 w 361773"/>
                      <a:gd name="connsiteY0" fmla="*/ 30628 h 426329"/>
                      <a:gd name="connsiteX1" fmla="*/ 20712 w 361773"/>
                      <a:gd name="connsiteY1" fmla="*/ 9930 h 426329"/>
                      <a:gd name="connsiteX2" fmla="*/ 35614 w 361773"/>
                      <a:gd name="connsiteY2" fmla="*/ 9930 h 426329"/>
                      <a:gd name="connsiteX3" fmla="*/ 55483 w 361773"/>
                      <a:gd name="connsiteY3" fmla="*/ 30628 h 426329"/>
                      <a:gd name="connsiteX4" fmla="*/ 55483 w 361773"/>
                      <a:gd name="connsiteY4" fmla="*/ 78643 h 426329"/>
                      <a:gd name="connsiteX5" fmla="*/ 54240 w 361773"/>
                      <a:gd name="connsiteY5" fmla="*/ 96026 h 426329"/>
                      <a:gd name="connsiteX6" fmla="*/ 52169 w 361773"/>
                      <a:gd name="connsiteY6" fmla="*/ 108442 h 426329"/>
                      <a:gd name="connsiteX7" fmla="*/ 53826 w 361773"/>
                      <a:gd name="connsiteY7" fmla="*/ 108442 h 426329"/>
                      <a:gd name="connsiteX8" fmla="*/ 80315 w 361773"/>
                      <a:gd name="connsiteY8" fmla="*/ 65394 h 426329"/>
                      <a:gd name="connsiteX9" fmla="*/ 120463 w 361773"/>
                      <a:gd name="connsiteY9" fmla="*/ 31042 h 426329"/>
                      <a:gd name="connsiteX10" fmla="*/ 169307 w 361773"/>
                      <a:gd name="connsiteY10" fmla="*/ 8277 h 426329"/>
                      <a:gd name="connsiteX11" fmla="*/ 221871 w 361773"/>
                      <a:gd name="connsiteY11" fmla="*/ 0 h 426329"/>
                      <a:gd name="connsiteX12" fmla="*/ 328246 w 361773"/>
                      <a:gd name="connsiteY12" fmla="*/ 38905 h 426329"/>
                      <a:gd name="connsiteX13" fmla="*/ 361774 w 361773"/>
                      <a:gd name="connsiteY13" fmla="*/ 161420 h 426329"/>
                      <a:gd name="connsiteX14" fmla="*/ 361774 w 361773"/>
                      <a:gd name="connsiteY14" fmla="*/ 405627 h 426329"/>
                      <a:gd name="connsiteX15" fmla="*/ 341076 w 361773"/>
                      <a:gd name="connsiteY15" fmla="*/ 426325 h 426329"/>
                      <a:gd name="connsiteX16" fmla="*/ 325346 w 361773"/>
                      <a:gd name="connsiteY16" fmla="*/ 426325 h 426329"/>
                      <a:gd name="connsiteX17" fmla="*/ 305477 w 361773"/>
                      <a:gd name="connsiteY17" fmla="*/ 405627 h 426329"/>
                      <a:gd name="connsiteX18" fmla="*/ 305477 w 361773"/>
                      <a:gd name="connsiteY18" fmla="*/ 176322 h 426329"/>
                      <a:gd name="connsiteX19" fmla="*/ 283950 w 361773"/>
                      <a:gd name="connsiteY19" fmla="*/ 81953 h 426329"/>
                      <a:gd name="connsiteX20" fmla="*/ 214413 w 361773"/>
                      <a:gd name="connsiteY20" fmla="*/ 52983 h 426329"/>
                      <a:gd name="connsiteX21" fmla="*/ 151500 w 361773"/>
                      <a:gd name="connsiteY21" fmla="*/ 66227 h 426329"/>
                      <a:gd name="connsiteX22" fmla="*/ 101413 w 361773"/>
                      <a:gd name="connsiteY22" fmla="*/ 102241 h 426329"/>
                      <a:gd name="connsiteX23" fmla="*/ 68304 w 361773"/>
                      <a:gd name="connsiteY23" fmla="*/ 156048 h 426329"/>
                      <a:gd name="connsiteX24" fmla="*/ 56298 w 361773"/>
                      <a:gd name="connsiteY24" fmla="*/ 222685 h 426329"/>
                      <a:gd name="connsiteX25" fmla="*/ 56298 w 361773"/>
                      <a:gd name="connsiteY25" fmla="*/ 405632 h 426329"/>
                      <a:gd name="connsiteX26" fmla="*/ 36429 w 361773"/>
                      <a:gd name="connsiteY26" fmla="*/ 426330 h 426329"/>
                      <a:gd name="connsiteX27" fmla="*/ 20698 w 361773"/>
                      <a:gd name="connsiteY27" fmla="*/ 426330 h 426329"/>
                      <a:gd name="connsiteX28" fmla="*/ 0 w 361773"/>
                      <a:gd name="connsiteY28" fmla="*/ 405632 h 426329"/>
                      <a:gd name="connsiteX29" fmla="*/ 0 w 361773"/>
                      <a:gd name="connsiteY29" fmla="*/ 30628 h 426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1773" h="426329">
                        <a:moveTo>
                          <a:pt x="15" y="30628"/>
                        </a:moveTo>
                        <a:cubicBezTo>
                          <a:pt x="15" y="16840"/>
                          <a:pt x="6911" y="9930"/>
                          <a:pt x="20712" y="9930"/>
                        </a:cubicBezTo>
                        <a:lnTo>
                          <a:pt x="35614" y="9930"/>
                        </a:lnTo>
                        <a:cubicBezTo>
                          <a:pt x="48859" y="9930"/>
                          <a:pt x="55483" y="16840"/>
                          <a:pt x="55483" y="30628"/>
                        </a:cubicBezTo>
                        <a:lnTo>
                          <a:pt x="55483" y="78643"/>
                        </a:lnTo>
                        <a:cubicBezTo>
                          <a:pt x="55483" y="84720"/>
                          <a:pt x="55069" y="90516"/>
                          <a:pt x="54240" y="96026"/>
                        </a:cubicBezTo>
                        <a:cubicBezTo>
                          <a:pt x="53412" y="101551"/>
                          <a:pt x="52717" y="105689"/>
                          <a:pt x="52169" y="108442"/>
                        </a:cubicBezTo>
                        <a:lnTo>
                          <a:pt x="53826" y="108442"/>
                        </a:lnTo>
                        <a:cubicBezTo>
                          <a:pt x="59889" y="92997"/>
                          <a:pt x="68728" y="78643"/>
                          <a:pt x="80315" y="65394"/>
                        </a:cubicBezTo>
                        <a:cubicBezTo>
                          <a:pt x="91902" y="52149"/>
                          <a:pt x="105276" y="40700"/>
                          <a:pt x="120463" y="31042"/>
                        </a:cubicBezTo>
                        <a:cubicBezTo>
                          <a:pt x="135636" y="21393"/>
                          <a:pt x="151919" y="13802"/>
                          <a:pt x="169307" y="8277"/>
                        </a:cubicBezTo>
                        <a:cubicBezTo>
                          <a:pt x="186686" y="2767"/>
                          <a:pt x="204202" y="0"/>
                          <a:pt x="221871" y="0"/>
                        </a:cubicBezTo>
                        <a:cubicBezTo>
                          <a:pt x="270425" y="0"/>
                          <a:pt x="305896" y="12973"/>
                          <a:pt x="328246" y="38905"/>
                        </a:cubicBezTo>
                        <a:cubicBezTo>
                          <a:pt x="350597" y="64851"/>
                          <a:pt x="361774" y="105685"/>
                          <a:pt x="361774" y="161420"/>
                        </a:cubicBezTo>
                        <a:lnTo>
                          <a:pt x="361774" y="405627"/>
                        </a:lnTo>
                        <a:cubicBezTo>
                          <a:pt x="361774" y="419429"/>
                          <a:pt x="354868" y="426325"/>
                          <a:pt x="341076" y="426325"/>
                        </a:cubicBezTo>
                        <a:lnTo>
                          <a:pt x="325346" y="426325"/>
                        </a:lnTo>
                        <a:cubicBezTo>
                          <a:pt x="312101" y="426325"/>
                          <a:pt x="305477" y="419429"/>
                          <a:pt x="305477" y="405627"/>
                        </a:cubicBezTo>
                        <a:lnTo>
                          <a:pt x="305477" y="176322"/>
                        </a:lnTo>
                        <a:cubicBezTo>
                          <a:pt x="305477" y="132731"/>
                          <a:pt x="298299" y="101275"/>
                          <a:pt x="283950" y="81953"/>
                        </a:cubicBezTo>
                        <a:cubicBezTo>
                          <a:pt x="269591" y="62641"/>
                          <a:pt x="246417" y="52983"/>
                          <a:pt x="214413" y="52983"/>
                        </a:cubicBezTo>
                        <a:cubicBezTo>
                          <a:pt x="191777" y="52983"/>
                          <a:pt x="170812" y="57407"/>
                          <a:pt x="151500" y="66227"/>
                        </a:cubicBezTo>
                        <a:cubicBezTo>
                          <a:pt x="132174" y="75062"/>
                          <a:pt x="115486" y="87063"/>
                          <a:pt x="101413" y="102241"/>
                        </a:cubicBezTo>
                        <a:cubicBezTo>
                          <a:pt x="87339" y="117424"/>
                          <a:pt x="76295" y="135355"/>
                          <a:pt x="68304" y="156048"/>
                        </a:cubicBezTo>
                        <a:cubicBezTo>
                          <a:pt x="60293" y="176741"/>
                          <a:pt x="56298" y="198963"/>
                          <a:pt x="56298" y="222685"/>
                        </a:cubicBezTo>
                        <a:lnTo>
                          <a:pt x="56298" y="405632"/>
                        </a:lnTo>
                        <a:cubicBezTo>
                          <a:pt x="56298" y="419433"/>
                          <a:pt x="49673" y="426330"/>
                          <a:pt x="36429" y="426330"/>
                        </a:cubicBezTo>
                        <a:lnTo>
                          <a:pt x="20698" y="426330"/>
                        </a:lnTo>
                        <a:cubicBezTo>
                          <a:pt x="6901" y="426330"/>
                          <a:pt x="0" y="419433"/>
                          <a:pt x="0" y="405632"/>
                        </a:cubicBezTo>
                        <a:lnTo>
                          <a:pt x="0" y="30628"/>
                        </a:lnTo>
                        <a:close/>
                      </a:path>
                    </a:pathLst>
                  </a:custGeom>
                  <a:solidFill>
                    <a:srgbClr val="003D7C"/>
                  </a:solidFill>
                  <a:ln w="4763" cap="flat">
                    <a:noFill/>
                    <a:prstDash val="solid"/>
                    <a:miter/>
                  </a:ln>
                </p:spPr>
                <p:txBody>
                  <a:bodyPr rtlCol="0" anchor="ctr"/>
                  <a:lstStyle/>
                  <a:p>
                    <a:endParaRPr lang="en-GB" sz="3200"/>
                  </a:p>
                </p:txBody>
              </p:sp>
              <p:sp>
                <p:nvSpPr>
                  <p:cNvPr id="92" name="Freeform: Shape 91">
                    <a:extLst>
                      <a:ext uri="{FF2B5EF4-FFF2-40B4-BE49-F238E27FC236}">
                        <a16:creationId xmlns:a16="http://schemas.microsoft.com/office/drawing/2014/main" id="{44254E72-2B1B-4F31-B57F-29445BF66E34}"/>
                      </a:ext>
                    </a:extLst>
                  </p:cNvPr>
                  <p:cNvSpPr/>
                  <p:nvPr/>
                </p:nvSpPr>
                <p:spPr>
                  <a:xfrm>
                    <a:off x="6151125" y="1751085"/>
                    <a:ext cx="224338" cy="534771"/>
                  </a:xfrm>
                  <a:custGeom>
                    <a:avLst/>
                    <a:gdLst>
                      <a:gd name="connsiteX0" fmla="*/ 54636 w 224338"/>
                      <a:gd name="connsiteY0" fmla="*/ 165564 h 534771"/>
                      <a:gd name="connsiteX1" fmla="*/ 19869 w 224338"/>
                      <a:gd name="connsiteY1" fmla="*/ 165564 h 534771"/>
                      <a:gd name="connsiteX2" fmla="*/ 0 w 224338"/>
                      <a:gd name="connsiteY2" fmla="*/ 145699 h 534771"/>
                      <a:gd name="connsiteX3" fmla="*/ 0 w 224338"/>
                      <a:gd name="connsiteY3" fmla="*/ 139075 h 534771"/>
                      <a:gd name="connsiteX4" fmla="*/ 19869 w 224338"/>
                      <a:gd name="connsiteY4" fmla="*/ 118377 h 534771"/>
                      <a:gd name="connsiteX5" fmla="*/ 55464 w 224338"/>
                      <a:gd name="connsiteY5" fmla="*/ 118377 h 534771"/>
                      <a:gd name="connsiteX6" fmla="*/ 55464 w 224338"/>
                      <a:gd name="connsiteY6" fmla="*/ 20693 h 534771"/>
                      <a:gd name="connsiteX7" fmla="*/ 76162 w 224338"/>
                      <a:gd name="connsiteY7" fmla="*/ 0 h 534771"/>
                      <a:gd name="connsiteX8" fmla="*/ 91064 w 224338"/>
                      <a:gd name="connsiteY8" fmla="*/ 0 h 534771"/>
                      <a:gd name="connsiteX9" fmla="*/ 110933 w 224338"/>
                      <a:gd name="connsiteY9" fmla="*/ 20693 h 534771"/>
                      <a:gd name="connsiteX10" fmla="*/ 110933 w 224338"/>
                      <a:gd name="connsiteY10" fmla="*/ 118377 h 534771"/>
                      <a:gd name="connsiteX11" fmla="*/ 195368 w 224338"/>
                      <a:gd name="connsiteY11" fmla="*/ 118377 h 534771"/>
                      <a:gd name="connsiteX12" fmla="*/ 216065 w 224338"/>
                      <a:gd name="connsiteY12" fmla="*/ 139075 h 534771"/>
                      <a:gd name="connsiteX13" fmla="*/ 216065 w 224338"/>
                      <a:gd name="connsiteY13" fmla="*/ 145699 h 534771"/>
                      <a:gd name="connsiteX14" fmla="*/ 195368 w 224338"/>
                      <a:gd name="connsiteY14" fmla="*/ 165564 h 534771"/>
                      <a:gd name="connsiteX15" fmla="*/ 110933 w 224338"/>
                      <a:gd name="connsiteY15" fmla="*/ 165564 h 534771"/>
                      <a:gd name="connsiteX16" fmla="*/ 110933 w 224338"/>
                      <a:gd name="connsiteY16" fmla="*/ 374175 h 534771"/>
                      <a:gd name="connsiteX17" fmla="*/ 134522 w 224338"/>
                      <a:gd name="connsiteY17" fmla="*/ 453233 h 534771"/>
                      <a:gd name="connsiteX18" fmla="*/ 201992 w 224338"/>
                      <a:gd name="connsiteY18" fmla="*/ 483446 h 534771"/>
                      <a:gd name="connsiteX19" fmla="*/ 219375 w 224338"/>
                      <a:gd name="connsiteY19" fmla="*/ 489656 h 534771"/>
                      <a:gd name="connsiteX20" fmla="*/ 224338 w 224338"/>
                      <a:gd name="connsiteY20" fmla="*/ 504144 h 534771"/>
                      <a:gd name="connsiteX21" fmla="*/ 224338 w 224338"/>
                      <a:gd name="connsiteY21" fmla="*/ 514902 h 534771"/>
                      <a:gd name="connsiteX22" fmla="*/ 201163 w 224338"/>
                      <a:gd name="connsiteY22" fmla="*/ 534772 h 534771"/>
                      <a:gd name="connsiteX23" fmla="*/ 92716 w 224338"/>
                      <a:gd name="connsiteY23" fmla="*/ 494624 h 534771"/>
                      <a:gd name="connsiteX24" fmla="*/ 54636 w 224338"/>
                      <a:gd name="connsiteY24" fmla="*/ 381624 h 534771"/>
                      <a:gd name="connsiteX25" fmla="*/ 54636 w 224338"/>
                      <a:gd name="connsiteY25" fmla="*/ 165564 h 53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4338" h="534771">
                        <a:moveTo>
                          <a:pt x="54636" y="165564"/>
                        </a:moveTo>
                        <a:lnTo>
                          <a:pt x="19869" y="165564"/>
                        </a:lnTo>
                        <a:cubicBezTo>
                          <a:pt x="6625" y="165564"/>
                          <a:pt x="0" y="158944"/>
                          <a:pt x="0" y="145699"/>
                        </a:cubicBezTo>
                        <a:lnTo>
                          <a:pt x="0" y="139075"/>
                        </a:lnTo>
                        <a:cubicBezTo>
                          <a:pt x="0" y="125287"/>
                          <a:pt x="6625" y="118377"/>
                          <a:pt x="19869" y="118377"/>
                        </a:cubicBezTo>
                        <a:lnTo>
                          <a:pt x="55464" y="118377"/>
                        </a:lnTo>
                        <a:lnTo>
                          <a:pt x="55464" y="20693"/>
                        </a:lnTo>
                        <a:cubicBezTo>
                          <a:pt x="55464" y="6906"/>
                          <a:pt x="62360" y="0"/>
                          <a:pt x="76162" y="0"/>
                        </a:cubicBezTo>
                        <a:lnTo>
                          <a:pt x="91064" y="0"/>
                        </a:lnTo>
                        <a:cubicBezTo>
                          <a:pt x="104309" y="0"/>
                          <a:pt x="110933" y="6906"/>
                          <a:pt x="110933" y="20693"/>
                        </a:cubicBezTo>
                        <a:lnTo>
                          <a:pt x="110933" y="118377"/>
                        </a:lnTo>
                        <a:lnTo>
                          <a:pt x="195368" y="118377"/>
                        </a:lnTo>
                        <a:cubicBezTo>
                          <a:pt x="209155" y="118377"/>
                          <a:pt x="216065" y="125287"/>
                          <a:pt x="216065" y="139075"/>
                        </a:cubicBezTo>
                        <a:lnTo>
                          <a:pt x="216065" y="145699"/>
                        </a:lnTo>
                        <a:cubicBezTo>
                          <a:pt x="216065" y="158944"/>
                          <a:pt x="209155" y="165564"/>
                          <a:pt x="195368" y="165564"/>
                        </a:cubicBezTo>
                        <a:lnTo>
                          <a:pt x="110933" y="165564"/>
                        </a:lnTo>
                        <a:lnTo>
                          <a:pt x="110933" y="374175"/>
                        </a:lnTo>
                        <a:cubicBezTo>
                          <a:pt x="110933" y="407846"/>
                          <a:pt x="118796" y="434192"/>
                          <a:pt x="134522" y="453233"/>
                        </a:cubicBezTo>
                        <a:cubicBezTo>
                          <a:pt x="150252" y="472273"/>
                          <a:pt x="172731" y="482346"/>
                          <a:pt x="201992" y="483446"/>
                        </a:cubicBezTo>
                        <a:cubicBezTo>
                          <a:pt x="210269" y="484556"/>
                          <a:pt x="216065" y="486627"/>
                          <a:pt x="219375" y="489656"/>
                        </a:cubicBezTo>
                        <a:cubicBezTo>
                          <a:pt x="222681" y="492695"/>
                          <a:pt x="224338" y="497519"/>
                          <a:pt x="224338" y="504144"/>
                        </a:cubicBezTo>
                        <a:lnTo>
                          <a:pt x="224338" y="514902"/>
                        </a:lnTo>
                        <a:cubicBezTo>
                          <a:pt x="224338" y="528147"/>
                          <a:pt x="216604" y="534772"/>
                          <a:pt x="201163" y="534772"/>
                        </a:cubicBezTo>
                        <a:cubicBezTo>
                          <a:pt x="154248" y="534772"/>
                          <a:pt x="118096" y="521398"/>
                          <a:pt x="92716" y="494624"/>
                        </a:cubicBezTo>
                        <a:cubicBezTo>
                          <a:pt x="67323" y="467859"/>
                          <a:pt x="54636" y="430197"/>
                          <a:pt x="54636" y="381624"/>
                        </a:cubicBezTo>
                        <a:lnTo>
                          <a:pt x="54636" y="165564"/>
                        </a:lnTo>
                        <a:close/>
                      </a:path>
                    </a:pathLst>
                  </a:custGeom>
                  <a:solidFill>
                    <a:srgbClr val="003D7C"/>
                  </a:solidFill>
                  <a:ln w="4763" cap="flat">
                    <a:noFill/>
                    <a:prstDash val="solid"/>
                    <a:miter/>
                  </a:ln>
                </p:spPr>
                <p:txBody>
                  <a:bodyPr rtlCol="0" anchor="ctr"/>
                  <a:lstStyle/>
                  <a:p>
                    <a:endParaRPr lang="en-GB" sz="3200"/>
                  </a:p>
                </p:txBody>
              </p:sp>
            </p:grpSp>
            <p:grpSp>
              <p:nvGrpSpPr>
                <p:cNvPr id="62" name="Graphic 72">
                  <a:extLst>
                    <a:ext uri="{FF2B5EF4-FFF2-40B4-BE49-F238E27FC236}">
                      <a16:creationId xmlns:a16="http://schemas.microsoft.com/office/drawing/2014/main" id="{B0637CE6-75F0-4152-8AAE-E585D5CACB2C}"/>
                    </a:ext>
                  </a:extLst>
                </p:cNvPr>
                <p:cNvGrpSpPr/>
                <p:nvPr/>
              </p:nvGrpSpPr>
              <p:grpSpPr>
                <a:xfrm>
                  <a:off x="3887357" y="1361917"/>
                  <a:ext cx="1461987" cy="213031"/>
                  <a:chOff x="3887357" y="1361917"/>
                  <a:chExt cx="1461987" cy="213031"/>
                </a:xfrm>
                <a:solidFill>
                  <a:srgbClr val="003D7C"/>
                </a:solidFill>
              </p:grpSpPr>
              <p:sp>
                <p:nvSpPr>
                  <p:cNvPr id="79" name="Freeform: Shape 78">
                    <a:extLst>
                      <a:ext uri="{FF2B5EF4-FFF2-40B4-BE49-F238E27FC236}">
                        <a16:creationId xmlns:a16="http://schemas.microsoft.com/office/drawing/2014/main" id="{9CB2258D-93F0-4592-BE13-DD09F1727A6B}"/>
                      </a:ext>
                    </a:extLst>
                  </p:cNvPr>
                  <p:cNvSpPr/>
                  <p:nvPr/>
                </p:nvSpPr>
                <p:spPr>
                  <a:xfrm>
                    <a:off x="3887357" y="1361917"/>
                    <a:ext cx="171011" cy="209450"/>
                  </a:xfrm>
                  <a:custGeom>
                    <a:avLst/>
                    <a:gdLst>
                      <a:gd name="connsiteX0" fmla="*/ 75081 w 171011"/>
                      <a:gd name="connsiteY0" fmla="*/ 18469 h 209450"/>
                      <a:gd name="connsiteX1" fmla="*/ 7449 w 171011"/>
                      <a:gd name="connsiteY1" fmla="*/ 18469 h 209450"/>
                      <a:gd name="connsiteX2" fmla="*/ 0 w 171011"/>
                      <a:gd name="connsiteY2" fmla="*/ 11020 h 209450"/>
                      <a:gd name="connsiteX3" fmla="*/ 0 w 171011"/>
                      <a:gd name="connsiteY3" fmla="*/ 7449 h 209450"/>
                      <a:gd name="connsiteX4" fmla="*/ 7449 w 171011"/>
                      <a:gd name="connsiteY4" fmla="*/ 0 h 209450"/>
                      <a:gd name="connsiteX5" fmla="*/ 163568 w 171011"/>
                      <a:gd name="connsiteY5" fmla="*/ 0 h 209450"/>
                      <a:gd name="connsiteX6" fmla="*/ 171012 w 171011"/>
                      <a:gd name="connsiteY6" fmla="*/ 7449 h 209450"/>
                      <a:gd name="connsiteX7" fmla="*/ 171012 w 171011"/>
                      <a:gd name="connsiteY7" fmla="*/ 11020 h 209450"/>
                      <a:gd name="connsiteX8" fmla="*/ 163568 w 171011"/>
                      <a:gd name="connsiteY8" fmla="*/ 18469 h 209450"/>
                      <a:gd name="connsiteX9" fmla="*/ 95636 w 171011"/>
                      <a:gd name="connsiteY9" fmla="*/ 18469 h 209450"/>
                      <a:gd name="connsiteX10" fmla="*/ 95636 w 171011"/>
                      <a:gd name="connsiteY10" fmla="*/ 202001 h 209450"/>
                      <a:gd name="connsiteX11" fmla="*/ 88483 w 171011"/>
                      <a:gd name="connsiteY11" fmla="*/ 209450 h 209450"/>
                      <a:gd name="connsiteX12" fmla="*/ 82525 w 171011"/>
                      <a:gd name="connsiteY12" fmla="*/ 209450 h 209450"/>
                      <a:gd name="connsiteX13" fmla="*/ 75081 w 171011"/>
                      <a:gd name="connsiteY13" fmla="*/ 202001 h 209450"/>
                      <a:gd name="connsiteX14" fmla="*/ 75081 w 171011"/>
                      <a:gd name="connsiteY14" fmla="*/ 18469 h 20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011" h="209450">
                        <a:moveTo>
                          <a:pt x="75081" y="18469"/>
                        </a:moveTo>
                        <a:lnTo>
                          <a:pt x="7449" y="18469"/>
                        </a:lnTo>
                        <a:cubicBezTo>
                          <a:pt x="2481" y="18469"/>
                          <a:pt x="0" y="15988"/>
                          <a:pt x="0" y="11020"/>
                        </a:cubicBezTo>
                        <a:lnTo>
                          <a:pt x="0" y="7449"/>
                        </a:lnTo>
                        <a:cubicBezTo>
                          <a:pt x="0" y="2486"/>
                          <a:pt x="2481" y="0"/>
                          <a:pt x="7449" y="0"/>
                        </a:cubicBezTo>
                        <a:lnTo>
                          <a:pt x="163568" y="0"/>
                        </a:lnTo>
                        <a:cubicBezTo>
                          <a:pt x="168531" y="0"/>
                          <a:pt x="171012" y="2486"/>
                          <a:pt x="171012" y="7449"/>
                        </a:cubicBezTo>
                        <a:lnTo>
                          <a:pt x="171012" y="11020"/>
                        </a:lnTo>
                        <a:cubicBezTo>
                          <a:pt x="171012" y="15988"/>
                          <a:pt x="168531" y="18469"/>
                          <a:pt x="163568" y="18469"/>
                        </a:cubicBezTo>
                        <a:lnTo>
                          <a:pt x="95636" y="18469"/>
                        </a:lnTo>
                        <a:lnTo>
                          <a:pt x="95636" y="202001"/>
                        </a:lnTo>
                        <a:cubicBezTo>
                          <a:pt x="95636" y="206969"/>
                          <a:pt x="93250" y="209450"/>
                          <a:pt x="88483" y="209450"/>
                        </a:cubicBezTo>
                        <a:lnTo>
                          <a:pt x="82525" y="209450"/>
                        </a:lnTo>
                        <a:cubicBezTo>
                          <a:pt x="77557" y="209450"/>
                          <a:pt x="75081" y="206969"/>
                          <a:pt x="75081" y="202001"/>
                        </a:cubicBezTo>
                        <a:lnTo>
                          <a:pt x="75081" y="18469"/>
                        </a:lnTo>
                        <a:close/>
                      </a:path>
                    </a:pathLst>
                  </a:custGeom>
                  <a:solidFill>
                    <a:srgbClr val="003D7C"/>
                  </a:solidFill>
                  <a:ln w="4763" cap="flat">
                    <a:noFill/>
                    <a:prstDash val="solid"/>
                    <a:miter/>
                  </a:ln>
                </p:spPr>
                <p:txBody>
                  <a:bodyPr rtlCol="0" anchor="ctr"/>
                  <a:lstStyle/>
                  <a:p>
                    <a:endParaRPr lang="en-GB" sz="3200"/>
                  </a:p>
                </p:txBody>
              </p:sp>
              <p:sp>
                <p:nvSpPr>
                  <p:cNvPr id="80" name="Freeform: Shape 79">
                    <a:extLst>
                      <a:ext uri="{FF2B5EF4-FFF2-40B4-BE49-F238E27FC236}">
                        <a16:creationId xmlns:a16="http://schemas.microsoft.com/office/drawing/2014/main" id="{3E161B5B-313E-4AD5-9CD6-868822E4380C}"/>
                      </a:ext>
                    </a:extLst>
                  </p:cNvPr>
                  <p:cNvSpPr/>
                  <p:nvPr/>
                </p:nvSpPr>
                <p:spPr>
                  <a:xfrm>
                    <a:off x="4107237" y="1417929"/>
                    <a:ext cx="158200" cy="157014"/>
                  </a:xfrm>
                  <a:custGeom>
                    <a:avLst/>
                    <a:gdLst>
                      <a:gd name="connsiteX0" fmla="*/ 0 w 158200"/>
                      <a:gd name="connsiteY0" fmla="*/ 77762 h 157014"/>
                      <a:gd name="connsiteX1" fmla="*/ 6105 w 158200"/>
                      <a:gd name="connsiteY1" fmla="*/ 47225 h 157014"/>
                      <a:gd name="connsiteX2" fmla="*/ 22789 w 158200"/>
                      <a:gd name="connsiteY2" fmla="*/ 22646 h 157014"/>
                      <a:gd name="connsiteX3" fmla="*/ 47816 w 158200"/>
                      <a:gd name="connsiteY3" fmla="*/ 6110 h 157014"/>
                      <a:gd name="connsiteX4" fmla="*/ 78953 w 158200"/>
                      <a:gd name="connsiteY4" fmla="*/ 0 h 157014"/>
                      <a:gd name="connsiteX5" fmla="*/ 110085 w 158200"/>
                      <a:gd name="connsiteY5" fmla="*/ 6110 h 157014"/>
                      <a:gd name="connsiteX6" fmla="*/ 135260 w 158200"/>
                      <a:gd name="connsiteY6" fmla="*/ 22646 h 157014"/>
                      <a:gd name="connsiteX7" fmla="*/ 152095 w 158200"/>
                      <a:gd name="connsiteY7" fmla="*/ 47225 h 157014"/>
                      <a:gd name="connsiteX8" fmla="*/ 158201 w 158200"/>
                      <a:gd name="connsiteY8" fmla="*/ 77762 h 157014"/>
                      <a:gd name="connsiteX9" fmla="*/ 152095 w 158200"/>
                      <a:gd name="connsiteY9" fmla="*/ 108899 h 157014"/>
                      <a:gd name="connsiteX10" fmla="*/ 135260 w 158200"/>
                      <a:gd name="connsiteY10" fmla="*/ 134074 h 157014"/>
                      <a:gd name="connsiteX11" fmla="*/ 110085 w 158200"/>
                      <a:gd name="connsiteY11" fmla="*/ 150909 h 157014"/>
                      <a:gd name="connsiteX12" fmla="*/ 79248 w 158200"/>
                      <a:gd name="connsiteY12" fmla="*/ 157015 h 157014"/>
                      <a:gd name="connsiteX13" fmla="*/ 48111 w 158200"/>
                      <a:gd name="connsiteY13" fmla="*/ 150909 h 157014"/>
                      <a:gd name="connsiteX14" fmla="*/ 22936 w 158200"/>
                      <a:gd name="connsiteY14" fmla="*/ 134074 h 157014"/>
                      <a:gd name="connsiteX15" fmla="*/ 6105 w 158200"/>
                      <a:gd name="connsiteY15" fmla="*/ 108899 h 157014"/>
                      <a:gd name="connsiteX16" fmla="*/ 0 w 158200"/>
                      <a:gd name="connsiteY16" fmla="*/ 77762 h 157014"/>
                      <a:gd name="connsiteX17" fmla="*/ 20855 w 158200"/>
                      <a:gd name="connsiteY17" fmla="*/ 77767 h 157014"/>
                      <a:gd name="connsiteX18" fmla="*/ 25322 w 158200"/>
                      <a:gd name="connsiteY18" fmla="*/ 101632 h 157014"/>
                      <a:gd name="connsiteX19" fmla="*/ 37686 w 158200"/>
                      <a:gd name="connsiteY19" fmla="*/ 120906 h 157014"/>
                      <a:gd name="connsiteX20" fmla="*/ 56307 w 158200"/>
                      <a:gd name="connsiteY20" fmla="*/ 133802 h 157014"/>
                      <a:gd name="connsiteX21" fmla="*/ 79248 w 158200"/>
                      <a:gd name="connsiteY21" fmla="*/ 138546 h 157014"/>
                      <a:gd name="connsiteX22" fmla="*/ 102037 w 158200"/>
                      <a:gd name="connsiteY22" fmla="*/ 133802 h 157014"/>
                      <a:gd name="connsiteX23" fmla="*/ 120510 w 158200"/>
                      <a:gd name="connsiteY23" fmla="*/ 120906 h 157014"/>
                      <a:gd name="connsiteX24" fmla="*/ 132879 w 158200"/>
                      <a:gd name="connsiteY24" fmla="*/ 101632 h 157014"/>
                      <a:gd name="connsiteX25" fmla="*/ 137346 w 158200"/>
                      <a:gd name="connsiteY25" fmla="*/ 77767 h 157014"/>
                      <a:gd name="connsiteX26" fmla="*/ 132879 w 158200"/>
                      <a:gd name="connsiteY26" fmla="*/ 54497 h 157014"/>
                      <a:gd name="connsiteX27" fmla="*/ 120510 w 158200"/>
                      <a:gd name="connsiteY27" fmla="*/ 35671 h 157014"/>
                      <a:gd name="connsiteX28" fmla="*/ 102037 w 158200"/>
                      <a:gd name="connsiteY28" fmla="*/ 23070 h 157014"/>
                      <a:gd name="connsiteX29" fmla="*/ 79248 w 158200"/>
                      <a:gd name="connsiteY29" fmla="*/ 18474 h 157014"/>
                      <a:gd name="connsiteX30" fmla="*/ 56307 w 158200"/>
                      <a:gd name="connsiteY30" fmla="*/ 23070 h 157014"/>
                      <a:gd name="connsiteX31" fmla="*/ 37686 w 158200"/>
                      <a:gd name="connsiteY31" fmla="*/ 35671 h 157014"/>
                      <a:gd name="connsiteX32" fmla="*/ 25322 w 158200"/>
                      <a:gd name="connsiteY32" fmla="*/ 54497 h 157014"/>
                      <a:gd name="connsiteX33" fmla="*/ 20855 w 158200"/>
                      <a:gd name="connsiteY33" fmla="*/ 77767 h 157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8200" h="157014">
                        <a:moveTo>
                          <a:pt x="0" y="77762"/>
                        </a:moveTo>
                        <a:cubicBezTo>
                          <a:pt x="0" y="66842"/>
                          <a:pt x="2034" y="56659"/>
                          <a:pt x="6105" y="47225"/>
                        </a:cubicBezTo>
                        <a:cubicBezTo>
                          <a:pt x="10173" y="37795"/>
                          <a:pt x="15735" y="29599"/>
                          <a:pt x="22789" y="22646"/>
                        </a:cubicBezTo>
                        <a:cubicBezTo>
                          <a:pt x="29837" y="15697"/>
                          <a:pt x="38176" y="10182"/>
                          <a:pt x="47816" y="6110"/>
                        </a:cubicBezTo>
                        <a:cubicBezTo>
                          <a:pt x="57445" y="2043"/>
                          <a:pt x="67823" y="0"/>
                          <a:pt x="78953" y="0"/>
                        </a:cubicBezTo>
                        <a:cubicBezTo>
                          <a:pt x="90073" y="0"/>
                          <a:pt x="100451" y="2038"/>
                          <a:pt x="110085" y="6110"/>
                        </a:cubicBezTo>
                        <a:cubicBezTo>
                          <a:pt x="119715" y="10182"/>
                          <a:pt x="128111" y="15697"/>
                          <a:pt x="135260" y="22646"/>
                        </a:cubicBezTo>
                        <a:cubicBezTo>
                          <a:pt x="142413" y="29599"/>
                          <a:pt x="148023" y="37795"/>
                          <a:pt x="152095" y="47225"/>
                        </a:cubicBezTo>
                        <a:cubicBezTo>
                          <a:pt x="156163" y="56659"/>
                          <a:pt x="158201" y="66842"/>
                          <a:pt x="158201" y="77762"/>
                        </a:cubicBezTo>
                        <a:cubicBezTo>
                          <a:pt x="158201" y="88887"/>
                          <a:pt x="156158" y="99265"/>
                          <a:pt x="152095" y="108899"/>
                        </a:cubicBezTo>
                        <a:cubicBezTo>
                          <a:pt x="148023" y="118534"/>
                          <a:pt x="142413" y="126925"/>
                          <a:pt x="135260" y="134074"/>
                        </a:cubicBezTo>
                        <a:cubicBezTo>
                          <a:pt x="128111" y="141222"/>
                          <a:pt x="119715" y="146837"/>
                          <a:pt x="110085" y="150909"/>
                        </a:cubicBezTo>
                        <a:cubicBezTo>
                          <a:pt x="100451" y="154977"/>
                          <a:pt x="90168" y="157015"/>
                          <a:pt x="79248" y="157015"/>
                        </a:cubicBezTo>
                        <a:cubicBezTo>
                          <a:pt x="68118" y="157015"/>
                          <a:pt x="57741" y="154977"/>
                          <a:pt x="48111" y="150909"/>
                        </a:cubicBezTo>
                        <a:cubicBezTo>
                          <a:pt x="38476" y="146842"/>
                          <a:pt x="30089" y="141227"/>
                          <a:pt x="22936" y="134074"/>
                        </a:cubicBezTo>
                        <a:cubicBezTo>
                          <a:pt x="15788" y="126925"/>
                          <a:pt x="10173" y="118534"/>
                          <a:pt x="6105" y="108899"/>
                        </a:cubicBezTo>
                        <a:cubicBezTo>
                          <a:pt x="2034" y="99265"/>
                          <a:pt x="0" y="88887"/>
                          <a:pt x="0" y="77762"/>
                        </a:cubicBezTo>
                        <a:close/>
                        <a:moveTo>
                          <a:pt x="20855" y="77767"/>
                        </a:moveTo>
                        <a:cubicBezTo>
                          <a:pt x="20855" y="86268"/>
                          <a:pt x="22341" y="94221"/>
                          <a:pt x="25322" y="101632"/>
                        </a:cubicBezTo>
                        <a:cubicBezTo>
                          <a:pt x="28299" y="109042"/>
                          <a:pt x="32418" y="115467"/>
                          <a:pt x="37686" y="120906"/>
                        </a:cubicBezTo>
                        <a:cubicBezTo>
                          <a:pt x="42944" y="126344"/>
                          <a:pt x="49159" y="130640"/>
                          <a:pt x="56307" y="133802"/>
                        </a:cubicBezTo>
                        <a:cubicBezTo>
                          <a:pt x="63456" y="136970"/>
                          <a:pt x="71099" y="138546"/>
                          <a:pt x="79248" y="138546"/>
                        </a:cubicBezTo>
                        <a:cubicBezTo>
                          <a:pt x="87387" y="138546"/>
                          <a:pt x="94988" y="136965"/>
                          <a:pt x="102037" y="133802"/>
                        </a:cubicBezTo>
                        <a:cubicBezTo>
                          <a:pt x="109085" y="130640"/>
                          <a:pt x="115243" y="126344"/>
                          <a:pt x="120510" y="120906"/>
                        </a:cubicBezTo>
                        <a:cubicBezTo>
                          <a:pt x="125768" y="115467"/>
                          <a:pt x="129897" y="109042"/>
                          <a:pt x="132879" y="101632"/>
                        </a:cubicBezTo>
                        <a:cubicBezTo>
                          <a:pt x="135855" y="94221"/>
                          <a:pt x="137346" y="86268"/>
                          <a:pt x="137346" y="77767"/>
                        </a:cubicBezTo>
                        <a:cubicBezTo>
                          <a:pt x="137346" y="69466"/>
                          <a:pt x="135855" y="61713"/>
                          <a:pt x="132879" y="54497"/>
                        </a:cubicBezTo>
                        <a:cubicBezTo>
                          <a:pt x="129897" y="47282"/>
                          <a:pt x="125773" y="41005"/>
                          <a:pt x="120510" y="35671"/>
                        </a:cubicBezTo>
                        <a:cubicBezTo>
                          <a:pt x="115248" y="30337"/>
                          <a:pt x="109090" y="26132"/>
                          <a:pt x="102037" y="23070"/>
                        </a:cubicBezTo>
                        <a:cubicBezTo>
                          <a:pt x="94983" y="20007"/>
                          <a:pt x="87387" y="18474"/>
                          <a:pt x="79248" y="18474"/>
                        </a:cubicBezTo>
                        <a:cubicBezTo>
                          <a:pt x="71099" y="18474"/>
                          <a:pt x="63456" y="20007"/>
                          <a:pt x="56307" y="23070"/>
                        </a:cubicBezTo>
                        <a:cubicBezTo>
                          <a:pt x="49159" y="26132"/>
                          <a:pt x="42944" y="30337"/>
                          <a:pt x="37686" y="35671"/>
                        </a:cubicBezTo>
                        <a:cubicBezTo>
                          <a:pt x="32423" y="41005"/>
                          <a:pt x="28299" y="47282"/>
                          <a:pt x="25322" y="54497"/>
                        </a:cubicBezTo>
                        <a:cubicBezTo>
                          <a:pt x="22346" y="61713"/>
                          <a:pt x="20855" y="69466"/>
                          <a:pt x="20855" y="77767"/>
                        </a:cubicBezTo>
                        <a:close/>
                      </a:path>
                    </a:pathLst>
                  </a:custGeom>
                  <a:solidFill>
                    <a:srgbClr val="003D7C"/>
                  </a:solidFill>
                  <a:ln w="4763" cap="flat">
                    <a:noFill/>
                    <a:prstDash val="solid"/>
                    <a:miter/>
                  </a:ln>
                </p:spPr>
                <p:txBody>
                  <a:bodyPr rtlCol="0" anchor="ctr"/>
                  <a:lstStyle/>
                  <a:p>
                    <a:endParaRPr lang="en-GB" sz="3200"/>
                  </a:p>
                </p:txBody>
              </p:sp>
              <p:sp>
                <p:nvSpPr>
                  <p:cNvPr id="81" name="Freeform: Shape 80">
                    <a:extLst>
                      <a:ext uri="{FF2B5EF4-FFF2-40B4-BE49-F238E27FC236}">
                        <a16:creationId xmlns:a16="http://schemas.microsoft.com/office/drawing/2014/main" id="{C50325E2-7770-45AC-B531-C93D30A6A625}"/>
                      </a:ext>
                    </a:extLst>
                  </p:cNvPr>
                  <p:cNvSpPr/>
                  <p:nvPr/>
                </p:nvSpPr>
                <p:spPr>
                  <a:xfrm>
                    <a:off x="4342821" y="1421506"/>
                    <a:ext cx="224349" cy="149861"/>
                  </a:xfrm>
                  <a:custGeom>
                    <a:avLst/>
                    <a:gdLst>
                      <a:gd name="connsiteX0" fmla="*/ 679 w 224349"/>
                      <a:gd name="connsiteY0" fmla="*/ 8339 h 149861"/>
                      <a:gd name="connsiteX1" fmla="*/ 974 w 224349"/>
                      <a:gd name="connsiteY1" fmla="*/ 2234 h 149861"/>
                      <a:gd name="connsiteX2" fmla="*/ 6937 w 224349"/>
                      <a:gd name="connsiteY2" fmla="*/ 0 h 149861"/>
                      <a:gd name="connsiteX3" fmla="*/ 13190 w 224349"/>
                      <a:gd name="connsiteY3" fmla="*/ 0 h 149861"/>
                      <a:gd name="connsiteX4" fmla="*/ 21534 w 224349"/>
                      <a:gd name="connsiteY4" fmla="*/ 6253 h 149861"/>
                      <a:gd name="connsiteX5" fmla="*/ 55795 w 224349"/>
                      <a:gd name="connsiteY5" fmla="*/ 111723 h 149861"/>
                      <a:gd name="connsiteX6" fmla="*/ 58176 w 224349"/>
                      <a:gd name="connsiteY6" fmla="*/ 120515 h 149861"/>
                      <a:gd name="connsiteX7" fmla="*/ 60262 w 224349"/>
                      <a:gd name="connsiteY7" fmla="*/ 127816 h 149861"/>
                      <a:gd name="connsiteX8" fmla="*/ 60858 w 224349"/>
                      <a:gd name="connsiteY8" fmla="*/ 127816 h 149861"/>
                      <a:gd name="connsiteX9" fmla="*/ 62791 w 224349"/>
                      <a:gd name="connsiteY9" fmla="*/ 120515 h 149861"/>
                      <a:gd name="connsiteX10" fmla="*/ 65625 w 224349"/>
                      <a:gd name="connsiteY10" fmla="*/ 111723 h 149861"/>
                      <a:gd name="connsiteX11" fmla="*/ 100482 w 224349"/>
                      <a:gd name="connsiteY11" fmla="*/ 6553 h 149861"/>
                      <a:gd name="connsiteX12" fmla="*/ 108821 w 224349"/>
                      <a:gd name="connsiteY12" fmla="*/ 595 h 149861"/>
                      <a:gd name="connsiteX13" fmla="*/ 115974 w 224349"/>
                      <a:gd name="connsiteY13" fmla="*/ 595 h 149861"/>
                      <a:gd name="connsiteX14" fmla="*/ 124318 w 224349"/>
                      <a:gd name="connsiteY14" fmla="*/ 6553 h 149861"/>
                      <a:gd name="connsiteX15" fmla="*/ 159175 w 224349"/>
                      <a:gd name="connsiteY15" fmla="*/ 111723 h 149861"/>
                      <a:gd name="connsiteX16" fmla="*/ 161704 w 224349"/>
                      <a:gd name="connsiteY16" fmla="*/ 120515 h 149861"/>
                      <a:gd name="connsiteX17" fmla="*/ 163942 w 224349"/>
                      <a:gd name="connsiteY17" fmla="*/ 127816 h 149861"/>
                      <a:gd name="connsiteX18" fmla="*/ 164537 w 224349"/>
                      <a:gd name="connsiteY18" fmla="*/ 127816 h 149861"/>
                      <a:gd name="connsiteX19" fmla="*/ 166323 w 224349"/>
                      <a:gd name="connsiteY19" fmla="*/ 120515 h 149861"/>
                      <a:gd name="connsiteX20" fmla="*/ 169005 w 224349"/>
                      <a:gd name="connsiteY20" fmla="*/ 111723 h 149861"/>
                      <a:gd name="connsiteX21" fmla="*/ 203266 w 224349"/>
                      <a:gd name="connsiteY21" fmla="*/ 6253 h 149861"/>
                      <a:gd name="connsiteX22" fmla="*/ 211605 w 224349"/>
                      <a:gd name="connsiteY22" fmla="*/ 0 h 149861"/>
                      <a:gd name="connsiteX23" fmla="*/ 217863 w 224349"/>
                      <a:gd name="connsiteY23" fmla="*/ 0 h 149861"/>
                      <a:gd name="connsiteX24" fmla="*/ 223821 w 224349"/>
                      <a:gd name="connsiteY24" fmla="*/ 8339 h 149861"/>
                      <a:gd name="connsiteX25" fmla="*/ 177939 w 224349"/>
                      <a:gd name="connsiteY25" fmla="*/ 143604 h 149861"/>
                      <a:gd name="connsiteX26" fmla="*/ 169595 w 224349"/>
                      <a:gd name="connsiteY26" fmla="*/ 149862 h 149861"/>
                      <a:gd name="connsiteX27" fmla="*/ 160361 w 224349"/>
                      <a:gd name="connsiteY27" fmla="*/ 149862 h 149861"/>
                      <a:gd name="connsiteX28" fmla="*/ 152017 w 224349"/>
                      <a:gd name="connsiteY28" fmla="*/ 143604 h 149861"/>
                      <a:gd name="connsiteX29" fmla="*/ 117160 w 224349"/>
                      <a:gd name="connsiteY29" fmla="*/ 43196 h 149861"/>
                      <a:gd name="connsiteX30" fmla="*/ 114483 w 224349"/>
                      <a:gd name="connsiteY30" fmla="*/ 34557 h 149861"/>
                      <a:gd name="connsiteX31" fmla="*/ 112693 w 224349"/>
                      <a:gd name="connsiteY31" fmla="*/ 27108 h 149861"/>
                      <a:gd name="connsiteX32" fmla="*/ 112098 w 224349"/>
                      <a:gd name="connsiteY32" fmla="*/ 27108 h 149861"/>
                      <a:gd name="connsiteX33" fmla="*/ 110012 w 224349"/>
                      <a:gd name="connsiteY33" fmla="*/ 34557 h 149861"/>
                      <a:gd name="connsiteX34" fmla="*/ 107330 w 224349"/>
                      <a:gd name="connsiteY34" fmla="*/ 43196 h 149861"/>
                      <a:gd name="connsiteX35" fmla="*/ 72769 w 224349"/>
                      <a:gd name="connsiteY35" fmla="*/ 143604 h 149861"/>
                      <a:gd name="connsiteX36" fmla="*/ 64425 w 224349"/>
                      <a:gd name="connsiteY36" fmla="*/ 149862 h 149861"/>
                      <a:gd name="connsiteX37" fmla="*/ 55195 w 224349"/>
                      <a:gd name="connsiteY37" fmla="*/ 149862 h 149861"/>
                      <a:gd name="connsiteX38" fmla="*/ 46556 w 224349"/>
                      <a:gd name="connsiteY38" fmla="*/ 143604 h 149861"/>
                      <a:gd name="connsiteX39" fmla="*/ 679 w 224349"/>
                      <a:gd name="connsiteY39" fmla="*/ 8339 h 149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4349" h="149861">
                        <a:moveTo>
                          <a:pt x="679" y="8339"/>
                        </a:moveTo>
                        <a:cubicBezTo>
                          <a:pt x="-317" y="5758"/>
                          <a:pt x="-217" y="3720"/>
                          <a:pt x="974" y="2234"/>
                        </a:cubicBezTo>
                        <a:cubicBezTo>
                          <a:pt x="2169" y="743"/>
                          <a:pt x="4151" y="0"/>
                          <a:pt x="6937" y="0"/>
                        </a:cubicBezTo>
                        <a:lnTo>
                          <a:pt x="13190" y="0"/>
                        </a:lnTo>
                        <a:cubicBezTo>
                          <a:pt x="17557" y="0"/>
                          <a:pt x="20338" y="2086"/>
                          <a:pt x="21534" y="6253"/>
                        </a:cubicBezTo>
                        <a:lnTo>
                          <a:pt x="55795" y="111723"/>
                        </a:lnTo>
                        <a:cubicBezTo>
                          <a:pt x="56586" y="114510"/>
                          <a:pt x="57381" y="117438"/>
                          <a:pt x="58176" y="120515"/>
                        </a:cubicBezTo>
                        <a:cubicBezTo>
                          <a:pt x="58967" y="123596"/>
                          <a:pt x="59662" y="126025"/>
                          <a:pt x="60262" y="127816"/>
                        </a:cubicBezTo>
                        <a:lnTo>
                          <a:pt x="60858" y="127816"/>
                        </a:lnTo>
                        <a:cubicBezTo>
                          <a:pt x="61253" y="126030"/>
                          <a:pt x="61901" y="123596"/>
                          <a:pt x="62791" y="120515"/>
                        </a:cubicBezTo>
                        <a:cubicBezTo>
                          <a:pt x="63687" y="117438"/>
                          <a:pt x="64625" y="114510"/>
                          <a:pt x="65625" y="111723"/>
                        </a:cubicBezTo>
                        <a:lnTo>
                          <a:pt x="100482" y="6553"/>
                        </a:lnTo>
                        <a:cubicBezTo>
                          <a:pt x="101472" y="2581"/>
                          <a:pt x="104254" y="595"/>
                          <a:pt x="108821" y="595"/>
                        </a:cubicBezTo>
                        <a:lnTo>
                          <a:pt x="115974" y="595"/>
                        </a:lnTo>
                        <a:cubicBezTo>
                          <a:pt x="120341" y="595"/>
                          <a:pt x="123123" y="2581"/>
                          <a:pt x="124318" y="6553"/>
                        </a:cubicBezTo>
                        <a:lnTo>
                          <a:pt x="159175" y="111723"/>
                        </a:lnTo>
                        <a:cubicBezTo>
                          <a:pt x="159965" y="114510"/>
                          <a:pt x="160813" y="117438"/>
                          <a:pt x="161704" y="120515"/>
                        </a:cubicBezTo>
                        <a:cubicBezTo>
                          <a:pt x="162599" y="123596"/>
                          <a:pt x="163347" y="126025"/>
                          <a:pt x="163942" y="127816"/>
                        </a:cubicBezTo>
                        <a:lnTo>
                          <a:pt x="164537" y="127816"/>
                        </a:lnTo>
                        <a:cubicBezTo>
                          <a:pt x="164933" y="126030"/>
                          <a:pt x="165528" y="123596"/>
                          <a:pt x="166323" y="120515"/>
                        </a:cubicBezTo>
                        <a:cubicBezTo>
                          <a:pt x="167114" y="117438"/>
                          <a:pt x="168009" y="114510"/>
                          <a:pt x="169005" y="111723"/>
                        </a:cubicBezTo>
                        <a:lnTo>
                          <a:pt x="203266" y="6253"/>
                        </a:lnTo>
                        <a:cubicBezTo>
                          <a:pt x="204056" y="2086"/>
                          <a:pt x="206838" y="0"/>
                          <a:pt x="211605" y="0"/>
                        </a:cubicBezTo>
                        <a:lnTo>
                          <a:pt x="217863" y="0"/>
                        </a:lnTo>
                        <a:cubicBezTo>
                          <a:pt x="223421" y="400"/>
                          <a:pt x="225407" y="3177"/>
                          <a:pt x="223821" y="8339"/>
                        </a:cubicBezTo>
                        <a:lnTo>
                          <a:pt x="177939" y="143604"/>
                        </a:lnTo>
                        <a:cubicBezTo>
                          <a:pt x="176744" y="147776"/>
                          <a:pt x="173962" y="149862"/>
                          <a:pt x="169595" y="149862"/>
                        </a:cubicBezTo>
                        <a:lnTo>
                          <a:pt x="160361" y="149862"/>
                        </a:lnTo>
                        <a:cubicBezTo>
                          <a:pt x="155593" y="149862"/>
                          <a:pt x="152807" y="147776"/>
                          <a:pt x="152017" y="143604"/>
                        </a:cubicBezTo>
                        <a:lnTo>
                          <a:pt x="117160" y="43196"/>
                        </a:lnTo>
                        <a:cubicBezTo>
                          <a:pt x="116165" y="40419"/>
                          <a:pt x="115274" y="37538"/>
                          <a:pt x="114483" y="34557"/>
                        </a:cubicBezTo>
                        <a:cubicBezTo>
                          <a:pt x="113683" y="31580"/>
                          <a:pt x="113088" y="29099"/>
                          <a:pt x="112693" y="27108"/>
                        </a:cubicBezTo>
                        <a:lnTo>
                          <a:pt x="112098" y="27108"/>
                        </a:lnTo>
                        <a:cubicBezTo>
                          <a:pt x="111502" y="29094"/>
                          <a:pt x="110807" y="31575"/>
                          <a:pt x="110012" y="34557"/>
                        </a:cubicBezTo>
                        <a:cubicBezTo>
                          <a:pt x="109216" y="37533"/>
                          <a:pt x="108321" y="40415"/>
                          <a:pt x="107330" y="43196"/>
                        </a:cubicBezTo>
                        <a:lnTo>
                          <a:pt x="72769" y="143604"/>
                        </a:lnTo>
                        <a:cubicBezTo>
                          <a:pt x="71578" y="147776"/>
                          <a:pt x="68792" y="149862"/>
                          <a:pt x="64425" y="149862"/>
                        </a:cubicBezTo>
                        <a:lnTo>
                          <a:pt x="55195" y="149862"/>
                        </a:lnTo>
                        <a:cubicBezTo>
                          <a:pt x="50623" y="149862"/>
                          <a:pt x="47747" y="147776"/>
                          <a:pt x="46556" y="143604"/>
                        </a:cubicBezTo>
                        <a:lnTo>
                          <a:pt x="679" y="8339"/>
                        </a:lnTo>
                        <a:close/>
                      </a:path>
                    </a:pathLst>
                  </a:custGeom>
                  <a:solidFill>
                    <a:srgbClr val="003D7C"/>
                  </a:solidFill>
                  <a:ln w="4763" cap="flat">
                    <a:noFill/>
                    <a:prstDash val="solid"/>
                    <a:miter/>
                  </a:ln>
                </p:spPr>
                <p:txBody>
                  <a:bodyPr rtlCol="0" anchor="ctr"/>
                  <a:lstStyle/>
                  <a:p>
                    <a:endParaRPr lang="en-GB" sz="3200"/>
                  </a:p>
                </p:txBody>
              </p:sp>
              <p:sp>
                <p:nvSpPr>
                  <p:cNvPr id="82" name="Freeform: Shape 81">
                    <a:extLst>
                      <a:ext uri="{FF2B5EF4-FFF2-40B4-BE49-F238E27FC236}">
                        <a16:creationId xmlns:a16="http://schemas.microsoft.com/office/drawing/2014/main" id="{263B753B-42CC-48E0-81F6-ACBD76AB5F4E}"/>
                      </a:ext>
                    </a:extLst>
                  </p:cNvPr>
                  <p:cNvSpPr/>
                  <p:nvPr/>
                </p:nvSpPr>
                <p:spPr>
                  <a:xfrm>
                    <a:off x="4643523" y="1417929"/>
                    <a:ext cx="120367" cy="157014"/>
                  </a:xfrm>
                  <a:custGeom>
                    <a:avLst/>
                    <a:gdLst>
                      <a:gd name="connsiteX0" fmla="*/ 0 w 120367"/>
                      <a:gd name="connsiteY0" fmla="*/ 113219 h 157014"/>
                      <a:gd name="connsiteX1" fmla="*/ 23836 w 120367"/>
                      <a:gd name="connsiteY1" fmla="*/ 75228 h 157014"/>
                      <a:gd name="connsiteX2" fmla="*/ 91469 w 120367"/>
                      <a:gd name="connsiteY2" fmla="*/ 61674 h 157014"/>
                      <a:gd name="connsiteX3" fmla="*/ 100103 w 120367"/>
                      <a:gd name="connsiteY3" fmla="*/ 61674 h 157014"/>
                      <a:gd name="connsiteX4" fmla="*/ 100103 w 120367"/>
                      <a:gd name="connsiteY4" fmla="*/ 56940 h 157014"/>
                      <a:gd name="connsiteX5" fmla="*/ 63160 w 120367"/>
                      <a:gd name="connsiteY5" fmla="*/ 18474 h 157014"/>
                      <a:gd name="connsiteX6" fmla="*/ 44391 w 120367"/>
                      <a:gd name="connsiteY6" fmla="*/ 21155 h 157014"/>
                      <a:gd name="connsiteX7" fmla="*/ 26818 w 120367"/>
                      <a:gd name="connsiteY7" fmla="*/ 28899 h 157014"/>
                      <a:gd name="connsiteX8" fmla="*/ 16683 w 120367"/>
                      <a:gd name="connsiteY8" fmla="*/ 26518 h 157014"/>
                      <a:gd name="connsiteX9" fmla="*/ 14897 w 120367"/>
                      <a:gd name="connsiteY9" fmla="*/ 23541 h 157014"/>
                      <a:gd name="connsiteX10" fmla="*/ 16983 w 120367"/>
                      <a:gd name="connsiteY10" fmla="*/ 13325 h 157014"/>
                      <a:gd name="connsiteX11" fmla="*/ 39476 w 120367"/>
                      <a:gd name="connsiteY11" fmla="*/ 3639 h 157014"/>
                      <a:gd name="connsiteX12" fmla="*/ 64651 w 120367"/>
                      <a:gd name="connsiteY12" fmla="*/ 0 h 157014"/>
                      <a:gd name="connsiteX13" fmla="*/ 106066 w 120367"/>
                      <a:gd name="connsiteY13" fmla="*/ 14750 h 157014"/>
                      <a:gd name="connsiteX14" fmla="*/ 120367 w 120367"/>
                      <a:gd name="connsiteY14" fmla="*/ 57507 h 157014"/>
                      <a:gd name="connsiteX15" fmla="*/ 120367 w 120367"/>
                      <a:gd name="connsiteY15" fmla="*/ 145994 h 157014"/>
                      <a:gd name="connsiteX16" fmla="*/ 113214 w 120367"/>
                      <a:gd name="connsiteY16" fmla="*/ 153443 h 157014"/>
                      <a:gd name="connsiteX17" fmla="*/ 108447 w 120367"/>
                      <a:gd name="connsiteY17" fmla="*/ 153443 h 157014"/>
                      <a:gd name="connsiteX18" fmla="*/ 101003 w 120367"/>
                      <a:gd name="connsiteY18" fmla="*/ 145994 h 157014"/>
                      <a:gd name="connsiteX19" fmla="*/ 101003 w 120367"/>
                      <a:gd name="connsiteY19" fmla="*/ 134079 h 157014"/>
                      <a:gd name="connsiteX20" fmla="*/ 101151 w 120367"/>
                      <a:gd name="connsiteY20" fmla="*/ 127373 h 157014"/>
                      <a:gd name="connsiteX21" fmla="*/ 101894 w 120367"/>
                      <a:gd name="connsiteY21" fmla="*/ 122753 h 157014"/>
                      <a:gd name="connsiteX22" fmla="*/ 101298 w 120367"/>
                      <a:gd name="connsiteY22" fmla="*/ 122753 h 157014"/>
                      <a:gd name="connsiteX23" fmla="*/ 89973 w 120367"/>
                      <a:gd name="connsiteY23" fmla="*/ 139884 h 157014"/>
                      <a:gd name="connsiteX24" fmla="*/ 74333 w 120367"/>
                      <a:gd name="connsiteY24" fmla="*/ 151652 h 157014"/>
                      <a:gd name="connsiteX25" fmla="*/ 50644 w 120367"/>
                      <a:gd name="connsiteY25" fmla="*/ 157015 h 157014"/>
                      <a:gd name="connsiteX26" fmla="*/ 30237 w 120367"/>
                      <a:gd name="connsiteY26" fmla="*/ 153738 h 157014"/>
                      <a:gd name="connsiteX27" fmla="*/ 14149 w 120367"/>
                      <a:gd name="connsiteY27" fmla="*/ 144651 h 157014"/>
                      <a:gd name="connsiteX28" fmla="*/ 3724 w 120367"/>
                      <a:gd name="connsiteY28" fmla="*/ 130797 h 157014"/>
                      <a:gd name="connsiteX29" fmla="*/ 0 w 120367"/>
                      <a:gd name="connsiteY29" fmla="*/ 113219 h 157014"/>
                      <a:gd name="connsiteX30" fmla="*/ 20850 w 120367"/>
                      <a:gd name="connsiteY30" fmla="*/ 111428 h 157014"/>
                      <a:gd name="connsiteX31" fmla="*/ 30237 w 120367"/>
                      <a:gd name="connsiteY31" fmla="*/ 131983 h 157014"/>
                      <a:gd name="connsiteX32" fmla="*/ 54221 w 120367"/>
                      <a:gd name="connsiteY32" fmla="*/ 140027 h 157014"/>
                      <a:gd name="connsiteX33" fmla="*/ 71799 w 120367"/>
                      <a:gd name="connsiteY33" fmla="*/ 135707 h 157014"/>
                      <a:gd name="connsiteX34" fmla="*/ 86396 w 120367"/>
                      <a:gd name="connsiteY34" fmla="*/ 123792 h 157014"/>
                      <a:gd name="connsiteX35" fmla="*/ 96379 w 120367"/>
                      <a:gd name="connsiteY35" fmla="*/ 105918 h 157014"/>
                      <a:gd name="connsiteX36" fmla="*/ 100098 w 120367"/>
                      <a:gd name="connsiteY36" fmla="*/ 84020 h 157014"/>
                      <a:gd name="connsiteX37" fmla="*/ 100098 w 120367"/>
                      <a:gd name="connsiteY37" fmla="*/ 76871 h 157014"/>
                      <a:gd name="connsiteX38" fmla="*/ 91759 w 120367"/>
                      <a:gd name="connsiteY38" fmla="*/ 76871 h 157014"/>
                      <a:gd name="connsiteX39" fmla="*/ 38724 w 120367"/>
                      <a:gd name="connsiteY39" fmla="*/ 85658 h 157014"/>
                      <a:gd name="connsiteX40" fmla="*/ 20850 w 120367"/>
                      <a:gd name="connsiteY40" fmla="*/ 111428 h 157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20367" h="157014">
                        <a:moveTo>
                          <a:pt x="0" y="113219"/>
                        </a:moveTo>
                        <a:cubicBezTo>
                          <a:pt x="0" y="96936"/>
                          <a:pt x="7944" y="84272"/>
                          <a:pt x="23836" y="75228"/>
                        </a:cubicBezTo>
                        <a:cubicBezTo>
                          <a:pt x="39724" y="66194"/>
                          <a:pt x="62270" y="61674"/>
                          <a:pt x="91469" y="61674"/>
                        </a:cubicBezTo>
                        <a:lnTo>
                          <a:pt x="100103" y="61674"/>
                        </a:lnTo>
                        <a:lnTo>
                          <a:pt x="100103" y="56940"/>
                        </a:lnTo>
                        <a:cubicBezTo>
                          <a:pt x="100103" y="31299"/>
                          <a:pt x="87787" y="18474"/>
                          <a:pt x="63160" y="18474"/>
                        </a:cubicBezTo>
                        <a:cubicBezTo>
                          <a:pt x="57002" y="18474"/>
                          <a:pt x="50744" y="19369"/>
                          <a:pt x="44391" y="21155"/>
                        </a:cubicBezTo>
                        <a:cubicBezTo>
                          <a:pt x="38033" y="22941"/>
                          <a:pt x="32180" y="25527"/>
                          <a:pt x="26818" y="28899"/>
                        </a:cubicBezTo>
                        <a:cubicBezTo>
                          <a:pt x="22446" y="31280"/>
                          <a:pt x="19069" y="30490"/>
                          <a:pt x="16683" y="26518"/>
                        </a:cubicBezTo>
                        <a:lnTo>
                          <a:pt x="14897" y="23541"/>
                        </a:lnTo>
                        <a:cubicBezTo>
                          <a:pt x="12116" y="19360"/>
                          <a:pt x="12811" y="15954"/>
                          <a:pt x="16983" y="13325"/>
                        </a:cubicBezTo>
                        <a:cubicBezTo>
                          <a:pt x="23536" y="9287"/>
                          <a:pt x="31028" y="6058"/>
                          <a:pt x="39476" y="3639"/>
                        </a:cubicBezTo>
                        <a:cubicBezTo>
                          <a:pt x="47915" y="1219"/>
                          <a:pt x="56312" y="0"/>
                          <a:pt x="64651" y="0"/>
                        </a:cubicBezTo>
                        <a:cubicBezTo>
                          <a:pt x="82725" y="0"/>
                          <a:pt x="96531" y="4915"/>
                          <a:pt x="106066" y="14750"/>
                        </a:cubicBezTo>
                        <a:cubicBezTo>
                          <a:pt x="115600" y="24584"/>
                          <a:pt x="120367" y="38838"/>
                          <a:pt x="120367" y="57507"/>
                        </a:cubicBezTo>
                        <a:lnTo>
                          <a:pt x="120367" y="145994"/>
                        </a:lnTo>
                        <a:cubicBezTo>
                          <a:pt x="120367" y="150962"/>
                          <a:pt x="117981" y="153443"/>
                          <a:pt x="113214" y="153443"/>
                        </a:cubicBezTo>
                        <a:lnTo>
                          <a:pt x="108447" y="153443"/>
                        </a:lnTo>
                        <a:cubicBezTo>
                          <a:pt x="103479" y="153443"/>
                          <a:pt x="101003" y="150962"/>
                          <a:pt x="101003" y="145994"/>
                        </a:cubicBezTo>
                        <a:lnTo>
                          <a:pt x="101003" y="134079"/>
                        </a:lnTo>
                        <a:cubicBezTo>
                          <a:pt x="101003" y="131697"/>
                          <a:pt x="101051" y="129459"/>
                          <a:pt x="101151" y="127373"/>
                        </a:cubicBezTo>
                        <a:cubicBezTo>
                          <a:pt x="101251" y="125287"/>
                          <a:pt x="101494" y="123754"/>
                          <a:pt x="101894" y="122753"/>
                        </a:cubicBezTo>
                        <a:lnTo>
                          <a:pt x="101298" y="122753"/>
                        </a:lnTo>
                        <a:cubicBezTo>
                          <a:pt x="97722" y="129902"/>
                          <a:pt x="93945" y="135617"/>
                          <a:pt x="89973" y="139884"/>
                        </a:cubicBezTo>
                        <a:cubicBezTo>
                          <a:pt x="86001" y="144156"/>
                          <a:pt x="80786" y="148081"/>
                          <a:pt x="74333" y="151652"/>
                        </a:cubicBezTo>
                        <a:cubicBezTo>
                          <a:pt x="67880" y="155229"/>
                          <a:pt x="59979" y="157015"/>
                          <a:pt x="50644" y="157015"/>
                        </a:cubicBezTo>
                        <a:cubicBezTo>
                          <a:pt x="43296" y="157015"/>
                          <a:pt x="36495" y="155924"/>
                          <a:pt x="30237" y="153738"/>
                        </a:cubicBezTo>
                        <a:cubicBezTo>
                          <a:pt x="23984" y="151557"/>
                          <a:pt x="18621" y="148523"/>
                          <a:pt x="14149" y="144651"/>
                        </a:cubicBezTo>
                        <a:cubicBezTo>
                          <a:pt x="9682" y="140779"/>
                          <a:pt x="6201" y="136160"/>
                          <a:pt x="3724" y="130797"/>
                        </a:cubicBezTo>
                        <a:cubicBezTo>
                          <a:pt x="1233" y="125435"/>
                          <a:pt x="0" y="119577"/>
                          <a:pt x="0" y="113219"/>
                        </a:cubicBezTo>
                        <a:close/>
                        <a:moveTo>
                          <a:pt x="20850" y="111428"/>
                        </a:moveTo>
                        <a:cubicBezTo>
                          <a:pt x="20850" y="119767"/>
                          <a:pt x="23979" y="126621"/>
                          <a:pt x="30237" y="131983"/>
                        </a:cubicBezTo>
                        <a:cubicBezTo>
                          <a:pt x="36495" y="137346"/>
                          <a:pt x="44487" y="140027"/>
                          <a:pt x="54221" y="140027"/>
                        </a:cubicBezTo>
                        <a:cubicBezTo>
                          <a:pt x="60374" y="140027"/>
                          <a:pt x="66237" y="138589"/>
                          <a:pt x="71799" y="135707"/>
                        </a:cubicBezTo>
                        <a:cubicBezTo>
                          <a:pt x="77357" y="132831"/>
                          <a:pt x="82225" y="128854"/>
                          <a:pt x="86396" y="123792"/>
                        </a:cubicBezTo>
                        <a:cubicBezTo>
                          <a:pt x="90568" y="118729"/>
                          <a:pt x="93888" y="112767"/>
                          <a:pt x="96379" y="105918"/>
                        </a:cubicBezTo>
                        <a:cubicBezTo>
                          <a:pt x="98860" y="99065"/>
                          <a:pt x="100098" y="91764"/>
                          <a:pt x="100098" y="84020"/>
                        </a:cubicBezTo>
                        <a:lnTo>
                          <a:pt x="100098" y="76871"/>
                        </a:lnTo>
                        <a:lnTo>
                          <a:pt x="91759" y="76871"/>
                        </a:lnTo>
                        <a:cubicBezTo>
                          <a:pt x="68318" y="76871"/>
                          <a:pt x="50640" y="79805"/>
                          <a:pt x="38724" y="85658"/>
                        </a:cubicBezTo>
                        <a:cubicBezTo>
                          <a:pt x="26813" y="91521"/>
                          <a:pt x="20850" y="100108"/>
                          <a:pt x="20850" y="111428"/>
                        </a:cubicBezTo>
                        <a:close/>
                      </a:path>
                    </a:pathLst>
                  </a:custGeom>
                  <a:solidFill>
                    <a:srgbClr val="003D7C"/>
                  </a:solidFill>
                  <a:ln w="4763" cap="flat">
                    <a:noFill/>
                    <a:prstDash val="solid"/>
                    <a:miter/>
                  </a:ln>
                </p:spPr>
                <p:txBody>
                  <a:bodyPr rtlCol="0" anchor="ctr"/>
                  <a:lstStyle/>
                  <a:p>
                    <a:endParaRPr lang="en-GB" sz="3200"/>
                  </a:p>
                </p:txBody>
              </p:sp>
              <p:sp>
                <p:nvSpPr>
                  <p:cNvPr id="83" name="Freeform: Shape 82">
                    <a:extLst>
                      <a:ext uri="{FF2B5EF4-FFF2-40B4-BE49-F238E27FC236}">
                        <a16:creationId xmlns:a16="http://schemas.microsoft.com/office/drawing/2014/main" id="{B06F1603-34D3-4A28-A4CA-4B21DB31AB3C}"/>
                      </a:ext>
                    </a:extLst>
                  </p:cNvPr>
                  <p:cNvSpPr/>
                  <p:nvPr/>
                </p:nvSpPr>
                <p:spPr>
                  <a:xfrm>
                    <a:off x="4867275" y="1420610"/>
                    <a:ext cx="75376" cy="150757"/>
                  </a:xfrm>
                  <a:custGeom>
                    <a:avLst/>
                    <a:gdLst>
                      <a:gd name="connsiteX0" fmla="*/ 0 w 75376"/>
                      <a:gd name="connsiteY0" fmla="*/ 8344 h 150757"/>
                      <a:gd name="connsiteX1" fmla="*/ 7444 w 75376"/>
                      <a:gd name="connsiteY1" fmla="*/ 895 h 150757"/>
                      <a:gd name="connsiteX2" fmla="*/ 12806 w 75376"/>
                      <a:gd name="connsiteY2" fmla="*/ 895 h 150757"/>
                      <a:gd name="connsiteX3" fmla="*/ 19960 w 75376"/>
                      <a:gd name="connsiteY3" fmla="*/ 8344 h 150757"/>
                      <a:gd name="connsiteX4" fmla="*/ 19960 w 75376"/>
                      <a:gd name="connsiteY4" fmla="*/ 28604 h 150757"/>
                      <a:gd name="connsiteX5" fmla="*/ 19512 w 75376"/>
                      <a:gd name="connsiteY5" fmla="*/ 35752 h 150757"/>
                      <a:gd name="connsiteX6" fmla="*/ 18769 w 75376"/>
                      <a:gd name="connsiteY6" fmla="*/ 40519 h 150757"/>
                      <a:gd name="connsiteX7" fmla="*/ 19365 w 75376"/>
                      <a:gd name="connsiteY7" fmla="*/ 40519 h 150757"/>
                      <a:gd name="connsiteX8" fmla="*/ 38433 w 75376"/>
                      <a:gd name="connsiteY8" fmla="*/ 11025 h 150757"/>
                      <a:gd name="connsiteX9" fmla="*/ 67627 w 75376"/>
                      <a:gd name="connsiteY9" fmla="*/ 0 h 150757"/>
                      <a:gd name="connsiteX10" fmla="*/ 75376 w 75376"/>
                      <a:gd name="connsiteY10" fmla="*/ 7149 h 150757"/>
                      <a:gd name="connsiteX11" fmla="*/ 75376 w 75376"/>
                      <a:gd name="connsiteY11" fmla="*/ 12511 h 150757"/>
                      <a:gd name="connsiteX12" fmla="*/ 67032 w 75376"/>
                      <a:gd name="connsiteY12" fmla="*/ 19960 h 150757"/>
                      <a:gd name="connsiteX13" fmla="*/ 48416 w 75376"/>
                      <a:gd name="connsiteY13" fmla="*/ 25175 h 150757"/>
                      <a:gd name="connsiteX14" fmla="*/ 33666 w 75376"/>
                      <a:gd name="connsiteY14" fmla="*/ 39329 h 150757"/>
                      <a:gd name="connsiteX15" fmla="*/ 23836 w 75376"/>
                      <a:gd name="connsiteY15" fmla="*/ 60631 h 150757"/>
                      <a:gd name="connsiteX16" fmla="*/ 20260 w 75376"/>
                      <a:gd name="connsiteY16" fmla="*/ 87297 h 150757"/>
                      <a:gd name="connsiteX17" fmla="*/ 20260 w 75376"/>
                      <a:gd name="connsiteY17" fmla="*/ 143308 h 150757"/>
                      <a:gd name="connsiteX18" fmla="*/ 13106 w 75376"/>
                      <a:gd name="connsiteY18" fmla="*/ 150757 h 150757"/>
                      <a:gd name="connsiteX19" fmla="*/ 7449 w 75376"/>
                      <a:gd name="connsiteY19" fmla="*/ 150757 h 150757"/>
                      <a:gd name="connsiteX20" fmla="*/ 5 w 75376"/>
                      <a:gd name="connsiteY20" fmla="*/ 143308 h 150757"/>
                      <a:gd name="connsiteX21" fmla="*/ 5 w 75376"/>
                      <a:gd name="connsiteY21" fmla="*/ 8344 h 15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5376" h="150757">
                        <a:moveTo>
                          <a:pt x="0" y="8344"/>
                        </a:moveTo>
                        <a:cubicBezTo>
                          <a:pt x="0" y="3381"/>
                          <a:pt x="2481" y="895"/>
                          <a:pt x="7444" y="895"/>
                        </a:cubicBezTo>
                        <a:lnTo>
                          <a:pt x="12806" y="895"/>
                        </a:lnTo>
                        <a:cubicBezTo>
                          <a:pt x="17573" y="895"/>
                          <a:pt x="19960" y="3381"/>
                          <a:pt x="19960" y="8344"/>
                        </a:cubicBezTo>
                        <a:lnTo>
                          <a:pt x="19960" y="28604"/>
                        </a:lnTo>
                        <a:cubicBezTo>
                          <a:pt x="19960" y="31185"/>
                          <a:pt x="19812" y="33571"/>
                          <a:pt x="19512" y="35752"/>
                        </a:cubicBezTo>
                        <a:cubicBezTo>
                          <a:pt x="19217" y="37938"/>
                          <a:pt x="18965" y="39529"/>
                          <a:pt x="18769" y="40519"/>
                        </a:cubicBezTo>
                        <a:lnTo>
                          <a:pt x="19365" y="40519"/>
                        </a:lnTo>
                        <a:cubicBezTo>
                          <a:pt x="23332" y="28208"/>
                          <a:pt x="29689" y="18374"/>
                          <a:pt x="38433" y="11025"/>
                        </a:cubicBezTo>
                        <a:cubicBezTo>
                          <a:pt x="47168" y="3681"/>
                          <a:pt x="56902" y="0"/>
                          <a:pt x="67627" y="0"/>
                        </a:cubicBezTo>
                        <a:cubicBezTo>
                          <a:pt x="72795" y="0"/>
                          <a:pt x="75376" y="2381"/>
                          <a:pt x="75376" y="7149"/>
                        </a:cubicBezTo>
                        <a:lnTo>
                          <a:pt x="75376" y="12511"/>
                        </a:lnTo>
                        <a:cubicBezTo>
                          <a:pt x="75376" y="17478"/>
                          <a:pt x="72590" y="19960"/>
                          <a:pt x="67032" y="19960"/>
                        </a:cubicBezTo>
                        <a:cubicBezTo>
                          <a:pt x="60279" y="19960"/>
                          <a:pt x="54073" y="21698"/>
                          <a:pt x="48416" y="25175"/>
                        </a:cubicBezTo>
                        <a:cubicBezTo>
                          <a:pt x="42753" y="28651"/>
                          <a:pt x="37833" y="33366"/>
                          <a:pt x="33666" y="39329"/>
                        </a:cubicBezTo>
                        <a:cubicBezTo>
                          <a:pt x="29494" y="45287"/>
                          <a:pt x="26218" y="52392"/>
                          <a:pt x="23836" y="60631"/>
                        </a:cubicBezTo>
                        <a:cubicBezTo>
                          <a:pt x="21450" y="68875"/>
                          <a:pt x="20260" y="77762"/>
                          <a:pt x="20260" y="87297"/>
                        </a:cubicBezTo>
                        <a:lnTo>
                          <a:pt x="20260" y="143308"/>
                        </a:lnTo>
                        <a:cubicBezTo>
                          <a:pt x="20260" y="148276"/>
                          <a:pt x="17874" y="150757"/>
                          <a:pt x="13106" y="150757"/>
                        </a:cubicBezTo>
                        <a:lnTo>
                          <a:pt x="7449" y="150757"/>
                        </a:lnTo>
                        <a:cubicBezTo>
                          <a:pt x="2481" y="150757"/>
                          <a:pt x="5" y="148276"/>
                          <a:pt x="5" y="143308"/>
                        </a:cubicBezTo>
                        <a:lnTo>
                          <a:pt x="5" y="8344"/>
                        </a:lnTo>
                        <a:close/>
                      </a:path>
                    </a:pathLst>
                  </a:custGeom>
                  <a:solidFill>
                    <a:srgbClr val="003D7C"/>
                  </a:solidFill>
                  <a:ln w="4763" cap="flat">
                    <a:noFill/>
                    <a:prstDash val="solid"/>
                    <a:miter/>
                  </a:ln>
                </p:spPr>
                <p:txBody>
                  <a:bodyPr rtlCol="0" anchor="ctr"/>
                  <a:lstStyle/>
                  <a:p>
                    <a:endParaRPr lang="en-GB" sz="3200"/>
                  </a:p>
                </p:txBody>
              </p:sp>
              <p:sp>
                <p:nvSpPr>
                  <p:cNvPr id="84" name="Freeform: Shape 83">
                    <a:extLst>
                      <a:ext uri="{FF2B5EF4-FFF2-40B4-BE49-F238E27FC236}">
                        <a16:creationId xmlns:a16="http://schemas.microsoft.com/office/drawing/2014/main" id="{A37AB8C6-4D94-446D-ABDD-759ECE30AFFB}"/>
                      </a:ext>
                    </a:extLst>
                  </p:cNvPr>
                  <p:cNvSpPr/>
                  <p:nvPr/>
                </p:nvSpPr>
                <p:spPr>
                  <a:xfrm>
                    <a:off x="5013860" y="1361917"/>
                    <a:ext cx="136450" cy="213031"/>
                  </a:xfrm>
                  <a:custGeom>
                    <a:avLst/>
                    <a:gdLst>
                      <a:gd name="connsiteX0" fmla="*/ 0 w 136450"/>
                      <a:gd name="connsiteY0" fmla="*/ 134369 h 213031"/>
                      <a:gd name="connsiteX1" fmla="*/ 4915 w 136450"/>
                      <a:gd name="connsiteY1" fmla="*/ 102637 h 213031"/>
                      <a:gd name="connsiteX2" fmla="*/ 18621 w 136450"/>
                      <a:gd name="connsiteY2" fmla="*/ 77757 h 213031"/>
                      <a:gd name="connsiteX3" fmla="*/ 39771 w 136450"/>
                      <a:gd name="connsiteY3" fmla="*/ 61669 h 213031"/>
                      <a:gd name="connsiteX4" fmla="*/ 67327 w 136450"/>
                      <a:gd name="connsiteY4" fmla="*/ 56007 h 213031"/>
                      <a:gd name="connsiteX5" fmla="*/ 82677 w 136450"/>
                      <a:gd name="connsiteY5" fmla="*/ 58241 h 213031"/>
                      <a:gd name="connsiteX6" fmla="*/ 96826 w 136450"/>
                      <a:gd name="connsiteY6" fmla="*/ 64499 h 213031"/>
                      <a:gd name="connsiteX7" fmla="*/ 108447 w 136450"/>
                      <a:gd name="connsiteY7" fmla="*/ 74033 h 213031"/>
                      <a:gd name="connsiteX8" fmla="*/ 116486 w 136450"/>
                      <a:gd name="connsiteY8" fmla="*/ 86101 h 213031"/>
                      <a:gd name="connsiteX9" fmla="*/ 117086 w 136450"/>
                      <a:gd name="connsiteY9" fmla="*/ 86101 h 213031"/>
                      <a:gd name="connsiteX10" fmla="*/ 116191 w 136450"/>
                      <a:gd name="connsiteY10" fmla="*/ 74781 h 213031"/>
                      <a:gd name="connsiteX11" fmla="*/ 116191 w 136450"/>
                      <a:gd name="connsiteY11" fmla="*/ 7449 h 213031"/>
                      <a:gd name="connsiteX12" fmla="*/ 123639 w 136450"/>
                      <a:gd name="connsiteY12" fmla="*/ 0 h 213031"/>
                      <a:gd name="connsiteX13" fmla="*/ 129297 w 136450"/>
                      <a:gd name="connsiteY13" fmla="*/ 0 h 213031"/>
                      <a:gd name="connsiteX14" fmla="*/ 136450 w 136450"/>
                      <a:gd name="connsiteY14" fmla="*/ 7449 h 213031"/>
                      <a:gd name="connsiteX15" fmla="*/ 136450 w 136450"/>
                      <a:gd name="connsiteY15" fmla="*/ 202001 h 213031"/>
                      <a:gd name="connsiteX16" fmla="*/ 129297 w 136450"/>
                      <a:gd name="connsiteY16" fmla="*/ 209450 h 213031"/>
                      <a:gd name="connsiteX17" fmla="*/ 124234 w 136450"/>
                      <a:gd name="connsiteY17" fmla="*/ 209450 h 213031"/>
                      <a:gd name="connsiteX18" fmla="*/ 116791 w 136450"/>
                      <a:gd name="connsiteY18" fmla="*/ 202301 h 213031"/>
                      <a:gd name="connsiteX19" fmla="*/ 116791 w 136450"/>
                      <a:gd name="connsiteY19" fmla="*/ 190981 h 213031"/>
                      <a:gd name="connsiteX20" fmla="*/ 117086 w 136450"/>
                      <a:gd name="connsiteY20" fmla="*/ 186066 h 213031"/>
                      <a:gd name="connsiteX21" fmla="*/ 117981 w 136450"/>
                      <a:gd name="connsiteY21" fmla="*/ 181746 h 213031"/>
                      <a:gd name="connsiteX22" fmla="*/ 117386 w 136450"/>
                      <a:gd name="connsiteY22" fmla="*/ 181746 h 213031"/>
                      <a:gd name="connsiteX23" fmla="*/ 109042 w 136450"/>
                      <a:gd name="connsiteY23" fmla="*/ 194410 h 213031"/>
                      <a:gd name="connsiteX24" fmla="*/ 96826 w 136450"/>
                      <a:gd name="connsiteY24" fmla="*/ 204392 h 213031"/>
                      <a:gd name="connsiteX25" fmla="*/ 81782 w 136450"/>
                      <a:gd name="connsiteY25" fmla="*/ 210798 h 213031"/>
                      <a:gd name="connsiteX26" fmla="*/ 65246 w 136450"/>
                      <a:gd name="connsiteY26" fmla="*/ 213031 h 213031"/>
                      <a:gd name="connsiteX27" fmla="*/ 38285 w 136450"/>
                      <a:gd name="connsiteY27" fmla="*/ 207521 h 213031"/>
                      <a:gd name="connsiteX28" fmla="*/ 17726 w 136450"/>
                      <a:gd name="connsiteY28" fmla="*/ 191734 h 213031"/>
                      <a:gd name="connsiteX29" fmla="*/ 4619 w 136450"/>
                      <a:gd name="connsiteY29" fmla="*/ 166854 h 213031"/>
                      <a:gd name="connsiteX30" fmla="*/ 0 w 136450"/>
                      <a:gd name="connsiteY30" fmla="*/ 134369 h 213031"/>
                      <a:gd name="connsiteX31" fmla="*/ 20855 w 136450"/>
                      <a:gd name="connsiteY31" fmla="*/ 134221 h 213031"/>
                      <a:gd name="connsiteX32" fmla="*/ 24131 w 136450"/>
                      <a:gd name="connsiteY32" fmla="*/ 159039 h 213031"/>
                      <a:gd name="connsiteX33" fmla="*/ 33666 w 136450"/>
                      <a:gd name="connsiteY33" fmla="*/ 178060 h 213031"/>
                      <a:gd name="connsiteX34" fmla="*/ 48710 w 136450"/>
                      <a:gd name="connsiteY34" fmla="*/ 190248 h 213031"/>
                      <a:gd name="connsiteX35" fmla="*/ 68227 w 136450"/>
                      <a:gd name="connsiteY35" fmla="*/ 194553 h 213031"/>
                      <a:gd name="connsiteX36" fmla="*/ 103679 w 136450"/>
                      <a:gd name="connsiteY36" fmla="*/ 178356 h 213031"/>
                      <a:gd name="connsiteX37" fmla="*/ 116791 w 136450"/>
                      <a:gd name="connsiteY37" fmla="*/ 134217 h 213031"/>
                      <a:gd name="connsiteX38" fmla="*/ 113214 w 136450"/>
                      <a:gd name="connsiteY38" fmla="*/ 110142 h 213031"/>
                      <a:gd name="connsiteX39" fmla="*/ 103384 w 136450"/>
                      <a:gd name="connsiteY39" fmla="*/ 91273 h 213031"/>
                      <a:gd name="connsiteX40" fmla="*/ 88339 w 136450"/>
                      <a:gd name="connsiteY40" fmla="*/ 78943 h 213031"/>
                      <a:gd name="connsiteX41" fmla="*/ 69123 w 136450"/>
                      <a:gd name="connsiteY41" fmla="*/ 74481 h 213031"/>
                      <a:gd name="connsiteX42" fmla="*/ 49458 w 136450"/>
                      <a:gd name="connsiteY42" fmla="*/ 78943 h 213031"/>
                      <a:gd name="connsiteX43" fmla="*/ 34266 w 136450"/>
                      <a:gd name="connsiteY43" fmla="*/ 91273 h 213031"/>
                      <a:gd name="connsiteX44" fmla="*/ 24436 w 136450"/>
                      <a:gd name="connsiteY44" fmla="*/ 110142 h 213031"/>
                      <a:gd name="connsiteX45" fmla="*/ 20855 w 136450"/>
                      <a:gd name="connsiteY45" fmla="*/ 134221 h 213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36450" h="213031">
                        <a:moveTo>
                          <a:pt x="0" y="134369"/>
                        </a:moveTo>
                        <a:cubicBezTo>
                          <a:pt x="0" y="122853"/>
                          <a:pt x="1638" y="112276"/>
                          <a:pt x="4915" y="102637"/>
                        </a:cubicBezTo>
                        <a:cubicBezTo>
                          <a:pt x="8191" y="93007"/>
                          <a:pt x="12754" y="84715"/>
                          <a:pt x="18621" y="77757"/>
                        </a:cubicBezTo>
                        <a:cubicBezTo>
                          <a:pt x="24474" y="70809"/>
                          <a:pt x="31528" y="65446"/>
                          <a:pt x="39771" y="61669"/>
                        </a:cubicBezTo>
                        <a:cubicBezTo>
                          <a:pt x="48010" y="57898"/>
                          <a:pt x="57197" y="56007"/>
                          <a:pt x="67327" y="56007"/>
                        </a:cubicBezTo>
                        <a:cubicBezTo>
                          <a:pt x="72494" y="56007"/>
                          <a:pt x="77609" y="56755"/>
                          <a:pt x="82677" y="58241"/>
                        </a:cubicBezTo>
                        <a:cubicBezTo>
                          <a:pt x="87739" y="59731"/>
                          <a:pt x="92459" y="61817"/>
                          <a:pt x="96826" y="64499"/>
                        </a:cubicBezTo>
                        <a:cubicBezTo>
                          <a:pt x="101193" y="67180"/>
                          <a:pt x="105065" y="70356"/>
                          <a:pt x="108447" y="74033"/>
                        </a:cubicBezTo>
                        <a:cubicBezTo>
                          <a:pt x="111823" y="77710"/>
                          <a:pt x="114500" y="81734"/>
                          <a:pt x="116486" y="86101"/>
                        </a:cubicBezTo>
                        <a:lnTo>
                          <a:pt x="117086" y="86101"/>
                        </a:lnTo>
                        <a:cubicBezTo>
                          <a:pt x="116486" y="84315"/>
                          <a:pt x="116191" y="80543"/>
                          <a:pt x="116191" y="74781"/>
                        </a:cubicBezTo>
                        <a:lnTo>
                          <a:pt x="116191" y="7449"/>
                        </a:lnTo>
                        <a:cubicBezTo>
                          <a:pt x="116191" y="2486"/>
                          <a:pt x="118672" y="0"/>
                          <a:pt x="123639" y="0"/>
                        </a:cubicBezTo>
                        <a:lnTo>
                          <a:pt x="129297" y="0"/>
                        </a:lnTo>
                        <a:cubicBezTo>
                          <a:pt x="134064" y="0"/>
                          <a:pt x="136450" y="2486"/>
                          <a:pt x="136450" y="7449"/>
                        </a:cubicBezTo>
                        <a:lnTo>
                          <a:pt x="136450" y="202001"/>
                        </a:lnTo>
                        <a:cubicBezTo>
                          <a:pt x="136450" y="206969"/>
                          <a:pt x="134064" y="209450"/>
                          <a:pt x="129297" y="209450"/>
                        </a:cubicBezTo>
                        <a:lnTo>
                          <a:pt x="124234" y="209450"/>
                        </a:lnTo>
                        <a:cubicBezTo>
                          <a:pt x="119267" y="209450"/>
                          <a:pt x="116791" y="207069"/>
                          <a:pt x="116791" y="202301"/>
                        </a:cubicBezTo>
                        <a:lnTo>
                          <a:pt x="116791" y="190981"/>
                        </a:lnTo>
                        <a:cubicBezTo>
                          <a:pt x="116791" y="189395"/>
                          <a:pt x="116891" y="187757"/>
                          <a:pt x="117086" y="186066"/>
                        </a:cubicBezTo>
                        <a:cubicBezTo>
                          <a:pt x="117281" y="184380"/>
                          <a:pt x="117581" y="182937"/>
                          <a:pt x="117981" y="181746"/>
                        </a:cubicBezTo>
                        <a:lnTo>
                          <a:pt x="117386" y="181746"/>
                        </a:lnTo>
                        <a:cubicBezTo>
                          <a:pt x="115395" y="186318"/>
                          <a:pt x="112619" y="190533"/>
                          <a:pt x="109042" y="194410"/>
                        </a:cubicBezTo>
                        <a:cubicBezTo>
                          <a:pt x="105465" y="198282"/>
                          <a:pt x="101393" y="201611"/>
                          <a:pt x="96826" y="204392"/>
                        </a:cubicBezTo>
                        <a:cubicBezTo>
                          <a:pt x="92259" y="207173"/>
                          <a:pt x="87244" y="209307"/>
                          <a:pt x="81782" y="210798"/>
                        </a:cubicBezTo>
                        <a:cubicBezTo>
                          <a:pt x="76319" y="212284"/>
                          <a:pt x="70804" y="213031"/>
                          <a:pt x="65246" y="213031"/>
                        </a:cubicBezTo>
                        <a:cubicBezTo>
                          <a:pt x="55311" y="213031"/>
                          <a:pt x="46324" y="211193"/>
                          <a:pt x="38285" y="207521"/>
                        </a:cubicBezTo>
                        <a:cubicBezTo>
                          <a:pt x="30242" y="203849"/>
                          <a:pt x="23388" y="198587"/>
                          <a:pt x="17726" y="191734"/>
                        </a:cubicBezTo>
                        <a:cubicBezTo>
                          <a:pt x="12068" y="184880"/>
                          <a:pt x="7696" y="176589"/>
                          <a:pt x="4619" y="166854"/>
                        </a:cubicBezTo>
                        <a:cubicBezTo>
                          <a:pt x="1538" y="157115"/>
                          <a:pt x="0" y="146285"/>
                          <a:pt x="0" y="134369"/>
                        </a:cubicBezTo>
                        <a:close/>
                        <a:moveTo>
                          <a:pt x="20855" y="134221"/>
                        </a:moveTo>
                        <a:cubicBezTo>
                          <a:pt x="20855" y="143337"/>
                          <a:pt x="21945" y="151609"/>
                          <a:pt x="24131" y="159039"/>
                        </a:cubicBezTo>
                        <a:cubicBezTo>
                          <a:pt x="26312" y="166468"/>
                          <a:pt x="29494" y="172812"/>
                          <a:pt x="33666" y="178060"/>
                        </a:cubicBezTo>
                        <a:cubicBezTo>
                          <a:pt x="37833" y="183313"/>
                          <a:pt x="42848" y="187376"/>
                          <a:pt x="48710" y="190248"/>
                        </a:cubicBezTo>
                        <a:cubicBezTo>
                          <a:pt x="54564" y="193119"/>
                          <a:pt x="61074" y="194553"/>
                          <a:pt x="68227" y="194553"/>
                        </a:cubicBezTo>
                        <a:cubicBezTo>
                          <a:pt x="83125" y="194553"/>
                          <a:pt x="94935" y="189157"/>
                          <a:pt x="103679" y="178356"/>
                        </a:cubicBezTo>
                        <a:cubicBezTo>
                          <a:pt x="112419" y="167554"/>
                          <a:pt x="116791" y="152848"/>
                          <a:pt x="116791" y="134217"/>
                        </a:cubicBezTo>
                        <a:cubicBezTo>
                          <a:pt x="116791" y="125501"/>
                          <a:pt x="115595" y="117477"/>
                          <a:pt x="113214" y="110142"/>
                        </a:cubicBezTo>
                        <a:cubicBezTo>
                          <a:pt x="110828" y="102813"/>
                          <a:pt x="107556" y="96522"/>
                          <a:pt x="103384" y="91273"/>
                        </a:cubicBezTo>
                        <a:cubicBezTo>
                          <a:pt x="99212" y="86025"/>
                          <a:pt x="94193" y="81910"/>
                          <a:pt x="88339" y="78943"/>
                        </a:cubicBezTo>
                        <a:cubicBezTo>
                          <a:pt x="82482" y="75971"/>
                          <a:pt x="76071" y="74481"/>
                          <a:pt x="69123" y="74481"/>
                        </a:cubicBezTo>
                        <a:cubicBezTo>
                          <a:pt x="61969" y="74481"/>
                          <a:pt x="55416" y="75971"/>
                          <a:pt x="49458" y="78943"/>
                        </a:cubicBezTo>
                        <a:cubicBezTo>
                          <a:pt x="43500" y="81915"/>
                          <a:pt x="38438" y="86025"/>
                          <a:pt x="34266" y="91273"/>
                        </a:cubicBezTo>
                        <a:cubicBezTo>
                          <a:pt x="30094" y="96522"/>
                          <a:pt x="26818" y="102818"/>
                          <a:pt x="24436" y="110142"/>
                        </a:cubicBezTo>
                        <a:cubicBezTo>
                          <a:pt x="22045" y="117481"/>
                          <a:pt x="20855" y="125506"/>
                          <a:pt x="20855" y="134221"/>
                        </a:cubicBezTo>
                        <a:close/>
                      </a:path>
                    </a:pathLst>
                  </a:custGeom>
                  <a:solidFill>
                    <a:srgbClr val="003D7C"/>
                  </a:solidFill>
                  <a:ln w="4763" cap="flat">
                    <a:noFill/>
                    <a:prstDash val="solid"/>
                    <a:miter/>
                  </a:ln>
                </p:spPr>
                <p:txBody>
                  <a:bodyPr rtlCol="0" anchor="ctr"/>
                  <a:lstStyle/>
                  <a:p>
                    <a:endParaRPr lang="en-GB" sz="3200"/>
                  </a:p>
                </p:txBody>
              </p:sp>
              <p:sp>
                <p:nvSpPr>
                  <p:cNvPr id="85" name="Freeform: Shape 84">
                    <a:extLst>
                      <a:ext uri="{FF2B5EF4-FFF2-40B4-BE49-F238E27FC236}">
                        <a16:creationId xmlns:a16="http://schemas.microsoft.com/office/drawing/2014/main" id="{B3314538-15C9-46B3-ACB8-BDB132ED2A6D}"/>
                      </a:ext>
                    </a:extLst>
                  </p:cNvPr>
                  <p:cNvSpPr/>
                  <p:nvPr/>
                </p:nvSpPr>
                <p:spPr>
                  <a:xfrm>
                    <a:off x="5244872" y="1417939"/>
                    <a:ext cx="104472" cy="156995"/>
                  </a:xfrm>
                  <a:custGeom>
                    <a:avLst/>
                    <a:gdLst>
                      <a:gd name="connsiteX0" fmla="*/ 3164 w 104472"/>
                      <a:gd name="connsiteY0" fmla="*/ 139722 h 156995"/>
                      <a:gd name="connsiteX1" fmla="*/ 1974 w 104472"/>
                      <a:gd name="connsiteY1" fmla="*/ 129592 h 156995"/>
                      <a:gd name="connsiteX2" fmla="*/ 4355 w 104472"/>
                      <a:gd name="connsiteY2" fmla="*/ 126616 h 156995"/>
                      <a:gd name="connsiteX3" fmla="*/ 14485 w 104472"/>
                      <a:gd name="connsiteY3" fmla="*/ 125425 h 156995"/>
                      <a:gd name="connsiteX4" fmla="*/ 33254 w 104472"/>
                      <a:gd name="connsiteY4" fmla="*/ 135555 h 156995"/>
                      <a:gd name="connsiteX5" fmla="*/ 54109 w 104472"/>
                      <a:gd name="connsiteY5" fmla="*/ 139127 h 156995"/>
                      <a:gd name="connsiteX6" fmla="*/ 76159 w 104472"/>
                      <a:gd name="connsiteY6" fmla="*/ 132574 h 156995"/>
                      <a:gd name="connsiteX7" fmla="*/ 84504 w 104472"/>
                      <a:gd name="connsiteY7" fmla="*/ 114995 h 156995"/>
                      <a:gd name="connsiteX8" fmla="*/ 78541 w 104472"/>
                      <a:gd name="connsiteY8" fmla="*/ 101441 h 156995"/>
                      <a:gd name="connsiteX9" fmla="*/ 63644 w 104472"/>
                      <a:gd name="connsiteY9" fmla="*/ 92207 h 156995"/>
                      <a:gd name="connsiteX10" fmla="*/ 44427 w 104472"/>
                      <a:gd name="connsiteY10" fmla="*/ 84463 h 156995"/>
                      <a:gd name="connsiteX11" fmla="*/ 25215 w 104472"/>
                      <a:gd name="connsiteY11" fmla="*/ 75376 h 156995"/>
                      <a:gd name="connsiteX12" fmla="*/ 10313 w 104472"/>
                      <a:gd name="connsiteY12" fmla="*/ 62270 h 156995"/>
                      <a:gd name="connsiteX13" fmla="*/ 4355 w 104472"/>
                      <a:gd name="connsiteY13" fmla="*/ 42010 h 156995"/>
                      <a:gd name="connsiteX14" fmla="*/ 7932 w 104472"/>
                      <a:gd name="connsiteY14" fmla="*/ 25027 h 156995"/>
                      <a:gd name="connsiteX15" fmla="*/ 18209 w 104472"/>
                      <a:gd name="connsiteY15" fmla="*/ 11621 h 156995"/>
                      <a:gd name="connsiteX16" fmla="*/ 34297 w 104472"/>
                      <a:gd name="connsiteY16" fmla="*/ 2981 h 156995"/>
                      <a:gd name="connsiteX17" fmla="*/ 55304 w 104472"/>
                      <a:gd name="connsiteY17" fmla="*/ 0 h 156995"/>
                      <a:gd name="connsiteX18" fmla="*/ 77350 w 104472"/>
                      <a:gd name="connsiteY18" fmla="*/ 3277 h 156995"/>
                      <a:gd name="connsiteX19" fmla="*/ 96419 w 104472"/>
                      <a:gd name="connsiteY19" fmla="*/ 12211 h 156995"/>
                      <a:gd name="connsiteX20" fmla="*/ 98505 w 104472"/>
                      <a:gd name="connsiteY20" fmla="*/ 22041 h 156995"/>
                      <a:gd name="connsiteX21" fmla="*/ 96419 w 104472"/>
                      <a:gd name="connsiteY21" fmla="*/ 25317 h 156995"/>
                      <a:gd name="connsiteX22" fmla="*/ 86290 w 104472"/>
                      <a:gd name="connsiteY22" fmla="*/ 27403 h 156995"/>
                      <a:gd name="connsiteX23" fmla="*/ 71097 w 104472"/>
                      <a:gd name="connsiteY23" fmla="*/ 20403 h 156995"/>
                      <a:gd name="connsiteX24" fmla="*/ 54114 w 104472"/>
                      <a:gd name="connsiteY24" fmla="*/ 17869 h 156995"/>
                      <a:gd name="connsiteX25" fmla="*/ 32368 w 104472"/>
                      <a:gd name="connsiteY25" fmla="*/ 24122 h 156995"/>
                      <a:gd name="connsiteX26" fmla="*/ 24619 w 104472"/>
                      <a:gd name="connsiteY26" fmla="*/ 41105 h 156995"/>
                      <a:gd name="connsiteX27" fmla="*/ 30582 w 104472"/>
                      <a:gd name="connsiteY27" fmla="*/ 55107 h 156995"/>
                      <a:gd name="connsiteX28" fmla="*/ 45332 w 104472"/>
                      <a:gd name="connsiteY28" fmla="*/ 64494 h 156995"/>
                      <a:gd name="connsiteX29" fmla="*/ 64548 w 104472"/>
                      <a:gd name="connsiteY29" fmla="*/ 72090 h 156995"/>
                      <a:gd name="connsiteX30" fmla="*/ 83761 w 104472"/>
                      <a:gd name="connsiteY30" fmla="*/ 81024 h 156995"/>
                      <a:gd name="connsiteX31" fmla="*/ 98510 w 104472"/>
                      <a:gd name="connsiteY31" fmla="*/ 94283 h 156995"/>
                      <a:gd name="connsiteX32" fmla="*/ 104473 w 104472"/>
                      <a:gd name="connsiteY32" fmla="*/ 114691 h 156995"/>
                      <a:gd name="connsiteX33" fmla="*/ 100748 w 104472"/>
                      <a:gd name="connsiteY33" fmla="*/ 131969 h 156995"/>
                      <a:gd name="connsiteX34" fmla="*/ 90323 w 104472"/>
                      <a:gd name="connsiteY34" fmla="*/ 145228 h 156995"/>
                      <a:gd name="connsiteX35" fmla="*/ 74236 w 104472"/>
                      <a:gd name="connsiteY35" fmla="*/ 153867 h 156995"/>
                      <a:gd name="connsiteX36" fmla="*/ 53823 w 104472"/>
                      <a:gd name="connsiteY36" fmla="*/ 156996 h 156995"/>
                      <a:gd name="connsiteX37" fmla="*/ 26120 w 104472"/>
                      <a:gd name="connsiteY37" fmla="*/ 152381 h 156995"/>
                      <a:gd name="connsiteX38" fmla="*/ 3164 w 104472"/>
                      <a:gd name="connsiteY38" fmla="*/ 139722 h 15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4472" h="156995">
                        <a:moveTo>
                          <a:pt x="3164" y="139722"/>
                        </a:moveTo>
                        <a:cubicBezTo>
                          <a:pt x="-612" y="137141"/>
                          <a:pt x="-1007" y="133764"/>
                          <a:pt x="1974" y="129592"/>
                        </a:cubicBezTo>
                        <a:lnTo>
                          <a:pt x="4355" y="126616"/>
                        </a:lnTo>
                        <a:cubicBezTo>
                          <a:pt x="6741" y="123244"/>
                          <a:pt x="10113" y="122844"/>
                          <a:pt x="14485" y="125425"/>
                        </a:cubicBezTo>
                        <a:cubicBezTo>
                          <a:pt x="20043" y="129792"/>
                          <a:pt x="26301" y="133169"/>
                          <a:pt x="33254" y="135555"/>
                        </a:cubicBezTo>
                        <a:cubicBezTo>
                          <a:pt x="40207" y="137941"/>
                          <a:pt x="47156" y="139127"/>
                          <a:pt x="54109" y="139127"/>
                        </a:cubicBezTo>
                        <a:cubicBezTo>
                          <a:pt x="63243" y="139127"/>
                          <a:pt x="70597" y="136946"/>
                          <a:pt x="76159" y="132574"/>
                        </a:cubicBezTo>
                        <a:cubicBezTo>
                          <a:pt x="81717" y="128206"/>
                          <a:pt x="84504" y="122349"/>
                          <a:pt x="84504" y="114995"/>
                        </a:cubicBezTo>
                        <a:cubicBezTo>
                          <a:pt x="84504" y="109438"/>
                          <a:pt x="82512" y="104918"/>
                          <a:pt x="78541" y="101441"/>
                        </a:cubicBezTo>
                        <a:cubicBezTo>
                          <a:pt x="74569" y="97969"/>
                          <a:pt x="69606" y="94888"/>
                          <a:pt x="63644" y="92207"/>
                        </a:cubicBezTo>
                        <a:cubicBezTo>
                          <a:pt x="57685" y="89525"/>
                          <a:pt x="51280" y="86949"/>
                          <a:pt x="44427" y="84463"/>
                        </a:cubicBezTo>
                        <a:cubicBezTo>
                          <a:pt x="37579" y="81982"/>
                          <a:pt x="31173" y="78953"/>
                          <a:pt x="25215" y="75376"/>
                        </a:cubicBezTo>
                        <a:cubicBezTo>
                          <a:pt x="19252" y="71804"/>
                          <a:pt x="14285" y="67437"/>
                          <a:pt x="10313" y="62270"/>
                        </a:cubicBezTo>
                        <a:cubicBezTo>
                          <a:pt x="6341" y="57107"/>
                          <a:pt x="4355" y="50354"/>
                          <a:pt x="4355" y="42010"/>
                        </a:cubicBezTo>
                        <a:cubicBezTo>
                          <a:pt x="4355" y="35857"/>
                          <a:pt x="5551" y="30194"/>
                          <a:pt x="7932" y="25027"/>
                        </a:cubicBezTo>
                        <a:cubicBezTo>
                          <a:pt x="10313" y="19864"/>
                          <a:pt x="13742" y="15397"/>
                          <a:pt x="18209" y="11621"/>
                        </a:cubicBezTo>
                        <a:cubicBezTo>
                          <a:pt x="22677" y="7849"/>
                          <a:pt x="28039" y="4967"/>
                          <a:pt x="34297" y="2981"/>
                        </a:cubicBezTo>
                        <a:cubicBezTo>
                          <a:pt x="40555" y="995"/>
                          <a:pt x="47556" y="0"/>
                          <a:pt x="55304" y="0"/>
                        </a:cubicBezTo>
                        <a:cubicBezTo>
                          <a:pt x="62849" y="0"/>
                          <a:pt x="70202" y="1095"/>
                          <a:pt x="77350" y="3277"/>
                        </a:cubicBezTo>
                        <a:cubicBezTo>
                          <a:pt x="84504" y="5463"/>
                          <a:pt x="90857" y="8444"/>
                          <a:pt x="96419" y="12211"/>
                        </a:cubicBezTo>
                        <a:cubicBezTo>
                          <a:pt x="100191" y="14792"/>
                          <a:pt x="100886" y="18074"/>
                          <a:pt x="98505" y="22041"/>
                        </a:cubicBezTo>
                        <a:lnTo>
                          <a:pt x="96419" y="25317"/>
                        </a:lnTo>
                        <a:cubicBezTo>
                          <a:pt x="94038" y="29485"/>
                          <a:pt x="90657" y="30185"/>
                          <a:pt x="86290" y="27403"/>
                        </a:cubicBezTo>
                        <a:cubicBezTo>
                          <a:pt x="81717" y="24422"/>
                          <a:pt x="76655" y="22088"/>
                          <a:pt x="71097" y="20403"/>
                        </a:cubicBezTo>
                        <a:cubicBezTo>
                          <a:pt x="65534" y="18717"/>
                          <a:pt x="59877" y="17869"/>
                          <a:pt x="54114" y="17869"/>
                        </a:cubicBezTo>
                        <a:cubicBezTo>
                          <a:pt x="44779" y="17869"/>
                          <a:pt x="37531" y="19955"/>
                          <a:pt x="32368" y="24122"/>
                        </a:cubicBezTo>
                        <a:cubicBezTo>
                          <a:pt x="27201" y="28294"/>
                          <a:pt x="24619" y="33952"/>
                          <a:pt x="24619" y="41105"/>
                        </a:cubicBezTo>
                        <a:cubicBezTo>
                          <a:pt x="24619" y="46868"/>
                          <a:pt x="26605" y="51530"/>
                          <a:pt x="30582" y="55107"/>
                        </a:cubicBezTo>
                        <a:cubicBezTo>
                          <a:pt x="34550" y="58679"/>
                          <a:pt x="39464" y="61813"/>
                          <a:pt x="45332" y="64494"/>
                        </a:cubicBezTo>
                        <a:cubicBezTo>
                          <a:pt x="51185" y="67175"/>
                          <a:pt x="57591" y="69709"/>
                          <a:pt x="64548" y="72090"/>
                        </a:cubicBezTo>
                        <a:cubicBezTo>
                          <a:pt x="71497" y="74471"/>
                          <a:pt x="77902" y="77453"/>
                          <a:pt x="83761" y="81024"/>
                        </a:cubicBezTo>
                        <a:cubicBezTo>
                          <a:pt x="89618" y="84601"/>
                          <a:pt x="94538" y="89025"/>
                          <a:pt x="98510" y="94283"/>
                        </a:cubicBezTo>
                        <a:cubicBezTo>
                          <a:pt x="102482" y="99546"/>
                          <a:pt x="104473" y="106351"/>
                          <a:pt x="104473" y="114691"/>
                        </a:cubicBezTo>
                        <a:cubicBezTo>
                          <a:pt x="104473" y="121048"/>
                          <a:pt x="103225" y="126806"/>
                          <a:pt x="100748" y="131969"/>
                        </a:cubicBezTo>
                        <a:cubicBezTo>
                          <a:pt x="98262" y="137136"/>
                          <a:pt x="94790" y="141556"/>
                          <a:pt x="90323" y="145228"/>
                        </a:cubicBezTo>
                        <a:cubicBezTo>
                          <a:pt x="85856" y="148904"/>
                          <a:pt x="80493" y="151781"/>
                          <a:pt x="74236" y="153867"/>
                        </a:cubicBezTo>
                        <a:cubicBezTo>
                          <a:pt x="67977" y="155953"/>
                          <a:pt x="61172" y="156996"/>
                          <a:pt x="53823" y="156996"/>
                        </a:cubicBezTo>
                        <a:cubicBezTo>
                          <a:pt x="44289" y="156996"/>
                          <a:pt x="35059" y="155458"/>
                          <a:pt x="26120" y="152381"/>
                        </a:cubicBezTo>
                        <a:cubicBezTo>
                          <a:pt x="17171" y="149309"/>
                          <a:pt x="9518" y="145090"/>
                          <a:pt x="3164" y="139722"/>
                        </a:cubicBezTo>
                        <a:close/>
                      </a:path>
                    </a:pathLst>
                  </a:custGeom>
                  <a:solidFill>
                    <a:srgbClr val="003D7C"/>
                  </a:solidFill>
                  <a:ln w="4763" cap="flat">
                    <a:noFill/>
                    <a:prstDash val="solid"/>
                    <a:miter/>
                  </a:ln>
                </p:spPr>
                <p:txBody>
                  <a:bodyPr rtlCol="0" anchor="ctr"/>
                  <a:lstStyle/>
                  <a:p>
                    <a:endParaRPr lang="en-GB" sz="3200"/>
                  </a:p>
                </p:txBody>
              </p:sp>
            </p:grpSp>
            <p:grpSp>
              <p:nvGrpSpPr>
                <p:cNvPr id="63" name="Graphic 72">
                  <a:extLst>
                    <a:ext uri="{FF2B5EF4-FFF2-40B4-BE49-F238E27FC236}">
                      <a16:creationId xmlns:a16="http://schemas.microsoft.com/office/drawing/2014/main" id="{DFC4CD4C-55E8-4BCA-9E69-0E8E8729AABF}"/>
                    </a:ext>
                  </a:extLst>
                </p:cNvPr>
                <p:cNvGrpSpPr/>
                <p:nvPr/>
              </p:nvGrpSpPr>
              <p:grpSpPr>
                <a:xfrm>
                  <a:off x="3895880" y="2480567"/>
                  <a:ext cx="2486208" cy="311162"/>
                  <a:chOff x="3895880" y="2480567"/>
                  <a:chExt cx="2486208" cy="311162"/>
                </a:xfrm>
                <a:solidFill>
                  <a:srgbClr val="FDAF00"/>
                </a:solidFill>
              </p:grpSpPr>
              <p:sp>
                <p:nvSpPr>
                  <p:cNvPr id="70" name="Freeform: Shape 69">
                    <a:extLst>
                      <a:ext uri="{FF2B5EF4-FFF2-40B4-BE49-F238E27FC236}">
                        <a16:creationId xmlns:a16="http://schemas.microsoft.com/office/drawing/2014/main" id="{01AFC6CD-B921-4CBC-92A7-6F6B0C09BBDF}"/>
                      </a:ext>
                    </a:extLst>
                  </p:cNvPr>
                  <p:cNvSpPr/>
                  <p:nvPr/>
                </p:nvSpPr>
                <p:spPr>
                  <a:xfrm>
                    <a:off x="3895880" y="2480571"/>
                    <a:ext cx="191359" cy="311153"/>
                  </a:xfrm>
                  <a:custGeom>
                    <a:avLst/>
                    <a:gdLst>
                      <a:gd name="connsiteX0" fmla="*/ 5527 w 191359"/>
                      <a:gd name="connsiteY0" fmla="*/ 280035 h 311153"/>
                      <a:gd name="connsiteX1" fmla="*/ 197 w 191359"/>
                      <a:gd name="connsiteY1" fmla="*/ 271510 h 311153"/>
                      <a:gd name="connsiteX2" fmla="*/ 3822 w 191359"/>
                      <a:gd name="connsiteY2" fmla="*/ 260428 h 311153"/>
                      <a:gd name="connsiteX3" fmla="*/ 11065 w 191359"/>
                      <a:gd name="connsiteY3" fmla="*/ 250198 h 311153"/>
                      <a:gd name="connsiteX4" fmla="*/ 30244 w 191359"/>
                      <a:gd name="connsiteY4" fmla="*/ 247641 h 311153"/>
                      <a:gd name="connsiteX5" fmla="*/ 40474 w 191359"/>
                      <a:gd name="connsiteY5" fmla="*/ 254675 h 311153"/>
                      <a:gd name="connsiteX6" fmla="*/ 55176 w 191359"/>
                      <a:gd name="connsiteY6" fmla="*/ 262562 h 311153"/>
                      <a:gd name="connsiteX7" fmla="*/ 73721 w 191359"/>
                      <a:gd name="connsiteY7" fmla="*/ 269167 h 311153"/>
                      <a:gd name="connsiteX8" fmla="*/ 95886 w 191359"/>
                      <a:gd name="connsiteY8" fmla="*/ 271939 h 311153"/>
                      <a:gd name="connsiteX9" fmla="*/ 134462 w 191359"/>
                      <a:gd name="connsiteY9" fmla="*/ 260218 h 311153"/>
                      <a:gd name="connsiteX10" fmla="*/ 148740 w 191359"/>
                      <a:gd name="connsiteY10" fmla="*/ 228891 h 311153"/>
                      <a:gd name="connsiteX11" fmla="*/ 138086 w 191359"/>
                      <a:gd name="connsiteY11" fmla="*/ 201611 h 311153"/>
                      <a:gd name="connsiteX12" fmla="*/ 111230 w 191359"/>
                      <a:gd name="connsiteY12" fmla="*/ 182642 h 311153"/>
                      <a:gd name="connsiteX13" fmla="*/ 76278 w 191359"/>
                      <a:gd name="connsiteY13" fmla="*/ 166445 h 311153"/>
                      <a:gd name="connsiteX14" fmla="*/ 41326 w 191359"/>
                      <a:gd name="connsiteY14" fmla="*/ 148119 h 311153"/>
                      <a:gd name="connsiteX15" fmla="*/ 14470 w 191359"/>
                      <a:gd name="connsiteY15" fmla="*/ 122330 h 311153"/>
                      <a:gd name="connsiteX16" fmla="*/ 3817 w 191359"/>
                      <a:gd name="connsiteY16" fmla="*/ 83539 h 311153"/>
                      <a:gd name="connsiteX17" fmla="*/ 11275 w 191359"/>
                      <a:gd name="connsiteY17" fmla="*/ 49016 h 311153"/>
                      <a:gd name="connsiteX18" fmla="*/ 31949 w 191359"/>
                      <a:gd name="connsiteY18" fmla="*/ 22803 h 311153"/>
                      <a:gd name="connsiteX19" fmla="*/ 63062 w 191359"/>
                      <a:gd name="connsiteY19" fmla="*/ 5967 h 311153"/>
                      <a:gd name="connsiteX20" fmla="*/ 101424 w 191359"/>
                      <a:gd name="connsiteY20" fmla="*/ 0 h 311153"/>
                      <a:gd name="connsiteX21" fmla="*/ 126570 w 191359"/>
                      <a:gd name="connsiteY21" fmla="*/ 2343 h 311153"/>
                      <a:gd name="connsiteX22" fmla="*/ 148306 w 191359"/>
                      <a:gd name="connsiteY22" fmla="*/ 8096 h 311153"/>
                      <a:gd name="connsiteX23" fmla="*/ 165356 w 191359"/>
                      <a:gd name="connsiteY23" fmla="*/ 15554 h 311153"/>
                      <a:gd name="connsiteX24" fmla="*/ 176867 w 191359"/>
                      <a:gd name="connsiteY24" fmla="*/ 23013 h 311153"/>
                      <a:gd name="connsiteX25" fmla="*/ 181129 w 191359"/>
                      <a:gd name="connsiteY25" fmla="*/ 42191 h 311153"/>
                      <a:gd name="connsiteX26" fmla="*/ 175162 w 191359"/>
                      <a:gd name="connsiteY26" fmla="*/ 52845 h 311153"/>
                      <a:gd name="connsiteX27" fmla="*/ 166423 w 191359"/>
                      <a:gd name="connsiteY27" fmla="*/ 59879 h 311153"/>
                      <a:gd name="connsiteX28" fmla="*/ 155983 w 191359"/>
                      <a:gd name="connsiteY28" fmla="*/ 56683 h 311153"/>
                      <a:gd name="connsiteX29" fmla="*/ 133604 w 191359"/>
                      <a:gd name="connsiteY29" fmla="*/ 45387 h 311153"/>
                      <a:gd name="connsiteX30" fmla="*/ 100572 w 191359"/>
                      <a:gd name="connsiteY30" fmla="*/ 39205 h 311153"/>
                      <a:gd name="connsiteX31" fmla="*/ 61781 w 191359"/>
                      <a:gd name="connsiteY31" fmla="*/ 50502 h 311153"/>
                      <a:gd name="connsiteX32" fmla="*/ 46437 w 191359"/>
                      <a:gd name="connsiteY32" fmla="*/ 81406 h 311153"/>
                      <a:gd name="connsiteX33" fmla="*/ 57090 w 191359"/>
                      <a:gd name="connsiteY33" fmla="*/ 107833 h 311153"/>
                      <a:gd name="connsiteX34" fmla="*/ 83946 w 191359"/>
                      <a:gd name="connsiteY34" fmla="*/ 125949 h 311153"/>
                      <a:gd name="connsiteX35" fmla="*/ 118898 w 191359"/>
                      <a:gd name="connsiteY35" fmla="*/ 141294 h 311153"/>
                      <a:gd name="connsiteX36" fmla="*/ 153850 w 191359"/>
                      <a:gd name="connsiteY36" fmla="*/ 159411 h 311153"/>
                      <a:gd name="connsiteX37" fmla="*/ 180701 w 191359"/>
                      <a:gd name="connsiteY37" fmla="*/ 185623 h 311153"/>
                      <a:gd name="connsiteX38" fmla="*/ 191359 w 191359"/>
                      <a:gd name="connsiteY38" fmla="*/ 225476 h 311153"/>
                      <a:gd name="connsiteX39" fmla="*/ 184963 w 191359"/>
                      <a:gd name="connsiteY39" fmla="*/ 258937 h 311153"/>
                      <a:gd name="connsiteX40" fmla="*/ 166209 w 191359"/>
                      <a:gd name="connsiteY40" fmla="*/ 286003 h 311153"/>
                      <a:gd name="connsiteX41" fmla="*/ 136157 w 191359"/>
                      <a:gd name="connsiteY41" fmla="*/ 304333 h 311153"/>
                      <a:gd name="connsiteX42" fmla="*/ 95881 w 191359"/>
                      <a:gd name="connsiteY42" fmla="*/ 311153 h 311153"/>
                      <a:gd name="connsiteX43" fmla="*/ 65405 w 191359"/>
                      <a:gd name="connsiteY43" fmla="*/ 307958 h 311153"/>
                      <a:gd name="connsiteX44" fmla="*/ 39617 w 191359"/>
                      <a:gd name="connsiteY44" fmla="*/ 299857 h 311153"/>
                      <a:gd name="connsiteX45" fmla="*/ 19371 w 191359"/>
                      <a:gd name="connsiteY45" fmla="*/ 289627 h 311153"/>
                      <a:gd name="connsiteX46" fmla="*/ 5527 w 191359"/>
                      <a:gd name="connsiteY46" fmla="*/ 280035 h 311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1359" h="311153">
                        <a:moveTo>
                          <a:pt x="5527" y="280035"/>
                        </a:moveTo>
                        <a:cubicBezTo>
                          <a:pt x="2678" y="277478"/>
                          <a:pt x="902" y="274639"/>
                          <a:pt x="197" y="271510"/>
                        </a:cubicBezTo>
                        <a:cubicBezTo>
                          <a:pt x="-512" y="268386"/>
                          <a:pt x="692" y="264690"/>
                          <a:pt x="3822" y="260428"/>
                        </a:cubicBezTo>
                        <a:lnTo>
                          <a:pt x="11065" y="250198"/>
                        </a:lnTo>
                        <a:cubicBezTo>
                          <a:pt x="16180" y="243664"/>
                          <a:pt x="22571" y="242811"/>
                          <a:pt x="30244" y="247641"/>
                        </a:cubicBezTo>
                        <a:cubicBezTo>
                          <a:pt x="32801" y="249631"/>
                          <a:pt x="36211" y="251974"/>
                          <a:pt x="40474" y="254675"/>
                        </a:cubicBezTo>
                        <a:cubicBezTo>
                          <a:pt x="44736" y="257380"/>
                          <a:pt x="49637" y="260004"/>
                          <a:pt x="55176" y="262562"/>
                        </a:cubicBezTo>
                        <a:cubicBezTo>
                          <a:pt x="60719" y="265119"/>
                          <a:pt x="66901" y="267324"/>
                          <a:pt x="73721" y="269167"/>
                        </a:cubicBezTo>
                        <a:cubicBezTo>
                          <a:pt x="80541" y="271020"/>
                          <a:pt x="87923" y="271939"/>
                          <a:pt x="95886" y="271939"/>
                        </a:cubicBezTo>
                        <a:cubicBezTo>
                          <a:pt x="112078" y="271939"/>
                          <a:pt x="124937" y="268038"/>
                          <a:pt x="134462" y="260218"/>
                        </a:cubicBezTo>
                        <a:cubicBezTo>
                          <a:pt x="143977" y="252403"/>
                          <a:pt x="148740" y="241964"/>
                          <a:pt x="148740" y="228891"/>
                        </a:cubicBezTo>
                        <a:cubicBezTo>
                          <a:pt x="148740" y="217808"/>
                          <a:pt x="145182" y="208717"/>
                          <a:pt x="138086" y="201611"/>
                        </a:cubicBezTo>
                        <a:cubicBezTo>
                          <a:pt x="130980" y="194510"/>
                          <a:pt x="122027" y="188186"/>
                          <a:pt x="111230" y="182642"/>
                        </a:cubicBezTo>
                        <a:cubicBezTo>
                          <a:pt x="100424" y="177103"/>
                          <a:pt x="88780" y="171707"/>
                          <a:pt x="76278" y="166445"/>
                        </a:cubicBezTo>
                        <a:cubicBezTo>
                          <a:pt x="63772" y="161187"/>
                          <a:pt x="52123" y="155082"/>
                          <a:pt x="41326" y="148119"/>
                        </a:cubicBezTo>
                        <a:cubicBezTo>
                          <a:pt x="30520" y="141161"/>
                          <a:pt x="21576" y="132560"/>
                          <a:pt x="14470" y="122330"/>
                        </a:cubicBezTo>
                        <a:cubicBezTo>
                          <a:pt x="7365" y="112100"/>
                          <a:pt x="3817" y="99174"/>
                          <a:pt x="3817" y="83539"/>
                        </a:cubicBezTo>
                        <a:cubicBezTo>
                          <a:pt x="3817" y="70752"/>
                          <a:pt x="6298" y="59246"/>
                          <a:pt x="11275" y="49016"/>
                        </a:cubicBezTo>
                        <a:cubicBezTo>
                          <a:pt x="16242" y="38786"/>
                          <a:pt x="23134" y="30047"/>
                          <a:pt x="31949" y="22803"/>
                        </a:cubicBezTo>
                        <a:cubicBezTo>
                          <a:pt x="40755" y="15559"/>
                          <a:pt x="51127" y="9949"/>
                          <a:pt x="63062" y="5967"/>
                        </a:cubicBezTo>
                        <a:cubicBezTo>
                          <a:pt x="74997" y="1991"/>
                          <a:pt x="87780" y="0"/>
                          <a:pt x="101424" y="0"/>
                        </a:cubicBezTo>
                        <a:cubicBezTo>
                          <a:pt x="110230" y="0"/>
                          <a:pt x="118612" y="786"/>
                          <a:pt x="126570" y="2343"/>
                        </a:cubicBezTo>
                        <a:cubicBezTo>
                          <a:pt x="134524" y="3910"/>
                          <a:pt x="141767" y="5825"/>
                          <a:pt x="148306" y="8096"/>
                        </a:cubicBezTo>
                        <a:cubicBezTo>
                          <a:pt x="154840" y="10378"/>
                          <a:pt x="160522" y="12859"/>
                          <a:pt x="165356" y="15554"/>
                        </a:cubicBezTo>
                        <a:cubicBezTo>
                          <a:pt x="170185" y="18260"/>
                          <a:pt x="174019" y="20741"/>
                          <a:pt x="176867" y="23013"/>
                        </a:cubicBezTo>
                        <a:cubicBezTo>
                          <a:pt x="183687" y="27847"/>
                          <a:pt x="185101" y="34238"/>
                          <a:pt x="181129" y="42191"/>
                        </a:cubicBezTo>
                        <a:lnTo>
                          <a:pt x="175162" y="52845"/>
                        </a:lnTo>
                        <a:cubicBezTo>
                          <a:pt x="172605" y="57393"/>
                          <a:pt x="169690" y="59736"/>
                          <a:pt x="166423" y="59879"/>
                        </a:cubicBezTo>
                        <a:cubicBezTo>
                          <a:pt x="163151" y="60027"/>
                          <a:pt x="159670" y="58960"/>
                          <a:pt x="155983" y="56683"/>
                        </a:cubicBezTo>
                        <a:cubicBezTo>
                          <a:pt x="150297" y="53273"/>
                          <a:pt x="142834" y="49511"/>
                          <a:pt x="133604" y="45387"/>
                        </a:cubicBezTo>
                        <a:cubicBezTo>
                          <a:pt x="124370" y="41272"/>
                          <a:pt x="113359" y="39205"/>
                          <a:pt x="100572" y="39205"/>
                        </a:cubicBezTo>
                        <a:cubicBezTo>
                          <a:pt x="84941" y="39205"/>
                          <a:pt x="72011" y="42977"/>
                          <a:pt x="61781" y="50502"/>
                        </a:cubicBezTo>
                        <a:cubicBezTo>
                          <a:pt x="51551" y="58036"/>
                          <a:pt x="46437" y="68337"/>
                          <a:pt x="46437" y="81406"/>
                        </a:cubicBezTo>
                        <a:cubicBezTo>
                          <a:pt x="46437" y="92207"/>
                          <a:pt x="49985" y="101013"/>
                          <a:pt x="57090" y="107833"/>
                        </a:cubicBezTo>
                        <a:cubicBezTo>
                          <a:pt x="64186" y="114653"/>
                          <a:pt x="73140" y="120696"/>
                          <a:pt x="83946" y="125949"/>
                        </a:cubicBezTo>
                        <a:cubicBezTo>
                          <a:pt x="94743" y="131212"/>
                          <a:pt x="106387" y="136327"/>
                          <a:pt x="118898" y="141294"/>
                        </a:cubicBezTo>
                        <a:cubicBezTo>
                          <a:pt x="131395" y="146266"/>
                          <a:pt x="143044" y="152310"/>
                          <a:pt x="153850" y="159411"/>
                        </a:cubicBezTo>
                        <a:cubicBezTo>
                          <a:pt x="164646" y="166516"/>
                          <a:pt x="173595" y="175255"/>
                          <a:pt x="180701" y="185623"/>
                        </a:cubicBezTo>
                        <a:cubicBezTo>
                          <a:pt x="187802" y="196001"/>
                          <a:pt x="191359" y="209279"/>
                          <a:pt x="191359" y="225476"/>
                        </a:cubicBezTo>
                        <a:cubicBezTo>
                          <a:pt x="191359" y="237411"/>
                          <a:pt x="189226" y="248569"/>
                          <a:pt x="184963" y="258937"/>
                        </a:cubicBezTo>
                        <a:cubicBezTo>
                          <a:pt x="180696" y="269315"/>
                          <a:pt x="174448" y="278330"/>
                          <a:pt x="166209" y="286003"/>
                        </a:cubicBezTo>
                        <a:cubicBezTo>
                          <a:pt x="157970" y="293675"/>
                          <a:pt x="147949" y="299790"/>
                          <a:pt x="136157" y="304333"/>
                        </a:cubicBezTo>
                        <a:cubicBezTo>
                          <a:pt x="124361" y="308877"/>
                          <a:pt x="110935" y="311153"/>
                          <a:pt x="95881" y="311153"/>
                        </a:cubicBezTo>
                        <a:cubicBezTo>
                          <a:pt x="85075" y="311153"/>
                          <a:pt x="74921" y="310087"/>
                          <a:pt x="65405" y="307958"/>
                        </a:cubicBezTo>
                        <a:cubicBezTo>
                          <a:pt x="55880" y="305824"/>
                          <a:pt x="47289" y="303129"/>
                          <a:pt x="39617" y="299857"/>
                        </a:cubicBezTo>
                        <a:cubicBezTo>
                          <a:pt x="31949" y="296594"/>
                          <a:pt x="25196" y="293184"/>
                          <a:pt x="19371" y="289627"/>
                        </a:cubicBezTo>
                        <a:cubicBezTo>
                          <a:pt x="13551" y="286074"/>
                          <a:pt x="8936" y="282878"/>
                          <a:pt x="5527" y="280035"/>
                        </a:cubicBezTo>
                        <a:close/>
                      </a:path>
                    </a:pathLst>
                  </a:custGeom>
                  <a:solidFill>
                    <a:srgbClr val="FDAF00"/>
                  </a:solidFill>
                  <a:ln w="4763" cap="flat">
                    <a:noFill/>
                    <a:prstDash val="solid"/>
                    <a:miter/>
                  </a:ln>
                </p:spPr>
                <p:txBody>
                  <a:bodyPr rtlCol="0" anchor="ctr"/>
                  <a:lstStyle/>
                  <a:p>
                    <a:endParaRPr lang="en-GB" sz="3200"/>
                  </a:p>
                </p:txBody>
              </p:sp>
              <p:sp>
                <p:nvSpPr>
                  <p:cNvPr id="71" name="Freeform: Shape 70">
                    <a:extLst>
                      <a:ext uri="{FF2B5EF4-FFF2-40B4-BE49-F238E27FC236}">
                        <a16:creationId xmlns:a16="http://schemas.microsoft.com/office/drawing/2014/main" id="{58530884-5133-44F7-AD61-EA366D94CDA8}"/>
                      </a:ext>
                    </a:extLst>
                  </p:cNvPr>
                  <p:cNvSpPr/>
                  <p:nvPr/>
                </p:nvSpPr>
                <p:spPr>
                  <a:xfrm>
                    <a:off x="4146061" y="2480567"/>
                    <a:ext cx="309019" cy="311158"/>
                  </a:xfrm>
                  <a:custGeom>
                    <a:avLst/>
                    <a:gdLst>
                      <a:gd name="connsiteX0" fmla="*/ 0 w 309019"/>
                      <a:gd name="connsiteY0" fmla="*/ 153448 h 311158"/>
                      <a:gd name="connsiteX1" fmla="*/ 11511 w 309019"/>
                      <a:gd name="connsiteY1" fmla="*/ 92921 h 311158"/>
                      <a:gd name="connsiteX2" fmla="*/ 43691 w 309019"/>
                      <a:gd name="connsiteY2" fmla="*/ 44115 h 311158"/>
                      <a:gd name="connsiteX3" fmla="*/ 92707 w 309019"/>
                      <a:gd name="connsiteY3" fmla="*/ 11721 h 311158"/>
                      <a:gd name="connsiteX4" fmla="*/ 154724 w 309019"/>
                      <a:gd name="connsiteY4" fmla="*/ 0 h 311158"/>
                      <a:gd name="connsiteX5" fmla="*/ 216741 w 309019"/>
                      <a:gd name="connsiteY5" fmla="*/ 11721 h 311158"/>
                      <a:gd name="connsiteX6" fmla="*/ 265543 w 309019"/>
                      <a:gd name="connsiteY6" fmla="*/ 44115 h 311158"/>
                      <a:gd name="connsiteX7" fmla="*/ 297513 w 309019"/>
                      <a:gd name="connsiteY7" fmla="*/ 92921 h 311158"/>
                      <a:gd name="connsiteX8" fmla="*/ 309020 w 309019"/>
                      <a:gd name="connsiteY8" fmla="*/ 153448 h 311158"/>
                      <a:gd name="connsiteX9" fmla="*/ 297513 w 309019"/>
                      <a:gd name="connsiteY9" fmla="*/ 215465 h 311158"/>
                      <a:gd name="connsiteX10" fmla="*/ 265543 w 309019"/>
                      <a:gd name="connsiteY10" fmla="*/ 265547 h 311158"/>
                      <a:gd name="connsiteX11" fmla="*/ 216741 w 309019"/>
                      <a:gd name="connsiteY11" fmla="*/ 299009 h 311158"/>
                      <a:gd name="connsiteX12" fmla="*/ 154724 w 309019"/>
                      <a:gd name="connsiteY12" fmla="*/ 311158 h 311158"/>
                      <a:gd name="connsiteX13" fmla="*/ 92707 w 309019"/>
                      <a:gd name="connsiteY13" fmla="*/ 299009 h 311158"/>
                      <a:gd name="connsiteX14" fmla="*/ 43691 w 309019"/>
                      <a:gd name="connsiteY14" fmla="*/ 265547 h 311158"/>
                      <a:gd name="connsiteX15" fmla="*/ 11511 w 309019"/>
                      <a:gd name="connsiteY15" fmla="*/ 215465 h 311158"/>
                      <a:gd name="connsiteX16" fmla="*/ 0 w 309019"/>
                      <a:gd name="connsiteY16" fmla="*/ 153448 h 311158"/>
                      <a:gd name="connsiteX17" fmla="*/ 43477 w 309019"/>
                      <a:gd name="connsiteY17" fmla="*/ 153448 h 311158"/>
                      <a:gd name="connsiteX18" fmla="*/ 51787 w 309019"/>
                      <a:gd name="connsiteY18" fmla="*/ 200335 h 311158"/>
                      <a:gd name="connsiteX19" fmla="*/ 75019 w 309019"/>
                      <a:gd name="connsiteY19" fmla="*/ 238058 h 311158"/>
                      <a:gd name="connsiteX20" fmla="*/ 110399 w 309019"/>
                      <a:gd name="connsiteY20" fmla="*/ 263204 h 311158"/>
                      <a:gd name="connsiteX21" fmla="*/ 154729 w 309019"/>
                      <a:gd name="connsiteY21" fmla="*/ 272367 h 311158"/>
                      <a:gd name="connsiteX22" fmla="*/ 199058 w 309019"/>
                      <a:gd name="connsiteY22" fmla="*/ 263204 h 311158"/>
                      <a:gd name="connsiteX23" fmla="*/ 234224 w 309019"/>
                      <a:gd name="connsiteY23" fmla="*/ 238058 h 311158"/>
                      <a:gd name="connsiteX24" fmla="*/ 257242 w 309019"/>
                      <a:gd name="connsiteY24" fmla="*/ 200335 h 311158"/>
                      <a:gd name="connsiteX25" fmla="*/ 265552 w 309019"/>
                      <a:gd name="connsiteY25" fmla="*/ 153448 h 311158"/>
                      <a:gd name="connsiteX26" fmla="*/ 257242 w 309019"/>
                      <a:gd name="connsiteY26" fmla="*/ 108052 h 311158"/>
                      <a:gd name="connsiteX27" fmla="*/ 234224 w 309019"/>
                      <a:gd name="connsiteY27" fmla="*/ 71609 h 311158"/>
                      <a:gd name="connsiteX28" fmla="*/ 199058 w 309019"/>
                      <a:gd name="connsiteY28" fmla="*/ 47525 h 311158"/>
                      <a:gd name="connsiteX29" fmla="*/ 154729 w 309019"/>
                      <a:gd name="connsiteY29" fmla="*/ 38791 h 311158"/>
                      <a:gd name="connsiteX30" fmla="*/ 110399 w 309019"/>
                      <a:gd name="connsiteY30" fmla="*/ 47525 h 311158"/>
                      <a:gd name="connsiteX31" fmla="*/ 75019 w 309019"/>
                      <a:gd name="connsiteY31" fmla="*/ 71609 h 311158"/>
                      <a:gd name="connsiteX32" fmla="*/ 51787 w 309019"/>
                      <a:gd name="connsiteY32" fmla="*/ 108052 h 311158"/>
                      <a:gd name="connsiteX33" fmla="*/ 43477 w 309019"/>
                      <a:gd name="connsiteY33" fmla="*/ 153448 h 311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09019" h="311158">
                        <a:moveTo>
                          <a:pt x="0" y="153448"/>
                        </a:moveTo>
                        <a:cubicBezTo>
                          <a:pt x="0" y="131854"/>
                          <a:pt x="3838" y="111676"/>
                          <a:pt x="11511" y="92921"/>
                        </a:cubicBezTo>
                        <a:cubicBezTo>
                          <a:pt x="19178" y="74166"/>
                          <a:pt x="29904" y="57903"/>
                          <a:pt x="43691" y="44115"/>
                        </a:cubicBezTo>
                        <a:cubicBezTo>
                          <a:pt x="57474" y="30332"/>
                          <a:pt x="73804" y="19540"/>
                          <a:pt x="92707" y="11721"/>
                        </a:cubicBezTo>
                        <a:cubicBezTo>
                          <a:pt x="111604" y="3910"/>
                          <a:pt x="132278" y="0"/>
                          <a:pt x="154724" y="0"/>
                        </a:cubicBezTo>
                        <a:cubicBezTo>
                          <a:pt x="177170" y="0"/>
                          <a:pt x="197844" y="3910"/>
                          <a:pt x="216741" y="11721"/>
                        </a:cubicBezTo>
                        <a:cubicBezTo>
                          <a:pt x="235634" y="19540"/>
                          <a:pt x="251908" y="30337"/>
                          <a:pt x="265543" y="44115"/>
                        </a:cubicBezTo>
                        <a:cubicBezTo>
                          <a:pt x="279182" y="57903"/>
                          <a:pt x="289841" y="74166"/>
                          <a:pt x="297513" y="92921"/>
                        </a:cubicBezTo>
                        <a:cubicBezTo>
                          <a:pt x="305181" y="111676"/>
                          <a:pt x="309020" y="131854"/>
                          <a:pt x="309020" y="153448"/>
                        </a:cubicBezTo>
                        <a:cubicBezTo>
                          <a:pt x="309020" y="175613"/>
                          <a:pt x="305181" y="196286"/>
                          <a:pt x="297513" y="215465"/>
                        </a:cubicBezTo>
                        <a:cubicBezTo>
                          <a:pt x="289841" y="234644"/>
                          <a:pt x="279182" y="251341"/>
                          <a:pt x="265543" y="265547"/>
                        </a:cubicBezTo>
                        <a:cubicBezTo>
                          <a:pt x="251908" y="279759"/>
                          <a:pt x="235634" y="290908"/>
                          <a:pt x="216741" y="299009"/>
                        </a:cubicBezTo>
                        <a:cubicBezTo>
                          <a:pt x="197839" y="307105"/>
                          <a:pt x="177165" y="311158"/>
                          <a:pt x="154724" y="311158"/>
                        </a:cubicBezTo>
                        <a:cubicBezTo>
                          <a:pt x="132274" y="311158"/>
                          <a:pt x="111600" y="307105"/>
                          <a:pt x="92707" y="299009"/>
                        </a:cubicBezTo>
                        <a:cubicBezTo>
                          <a:pt x="73804" y="290908"/>
                          <a:pt x="57474" y="279759"/>
                          <a:pt x="43691" y="265547"/>
                        </a:cubicBezTo>
                        <a:cubicBezTo>
                          <a:pt x="29904" y="251341"/>
                          <a:pt x="19183" y="234644"/>
                          <a:pt x="11511" y="215465"/>
                        </a:cubicBezTo>
                        <a:cubicBezTo>
                          <a:pt x="3838" y="196282"/>
                          <a:pt x="0" y="175608"/>
                          <a:pt x="0" y="153448"/>
                        </a:cubicBezTo>
                        <a:close/>
                        <a:moveTo>
                          <a:pt x="43477" y="153448"/>
                        </a:moveTo>
                        <a:cubicBezTo>
                          <a:pt x="43477" y="170216"/>
                          <a:pt x="46249" y="185842"/>
                          <a:pt x="51787" y="200335"/>
                        </a:cubicBezTo>
                        <a:cubicBezTo>
                          <a:pt x="57331" y="214827"/>
                          <a:pt x="65070" y="227400"/>
                          <a:pt x="75019" y="238058"/>
                        </a:cubicBezTo>
                        <a:cubicBezTo>
                          <a:pt x="84963" y="248712"/>
                          <a:pt x="96755" y="257099"/>
                          <a:pt x="110399" y="263204"/>
                        </a:cubicBezTo>
                        <a:cubicBezTo>
                          <a:pt x="124034" y="269319"/>
                          <a:pt x="138812" y="272367"/>
                          <a:pt x="154729" y="272367"/>
                        </a:cubicBezTo>
                        <a:cubicBezTo>
                          <a:pt x="170640" y="272367"/>
                          <a:pt x="185418" y="269315"/>
                          <a:pt x="199058" y="263204"/>
                        </a:cubicBezTo>
                        <a:cubicBezTo>
                          <a:pt x="212698" y="257099"/>
                          <a:pt x="224418" y="248712"/>
                          <a:pt x="234224" y="238058"/>
                        </a:cubicBezTo>
                        <a:cubicBezTo>
                          <a:pt x="244030" y="227400"/>
                          <a:pt x="251703" y="214827"/>
                          <a:pt x="257242" y="200335"/>
                        </a:cubicBezTo>
                        <a:cubicBezTo>
                          <a:pt x="262785" y="185842"/>
                          <a:pt x="265552" y="170216"/>
                          <a:pt x="265552" y="153448"/>
                        </a:cubicBezTo>
                        <a:cubicBezTo>
                          <a:pt x="265552" y="137250"/>
                          <a:pt x="262785" y="122120"/>
                          <a:pt x="257242" y="108052"/>
                        </a:cubicBezTo>
                        <a:cubicBezTo>
                          <a:pt x="251703" y="93983"/>
                          <a:pt x="244030" y="81839"/>
                          <a:pt x="234224" y="71609"/>
                        </a:cubicBezTo>
                        <a:cubicBezTo>
                          <a:pt x="224418" y="61379"/>
                          <a:pt x="212698" y="53354"/>
                          <a:pt x="199058" y="47525"/>
                        </a:cubicBezTo>
                        <a:cubicBezTo>
                          <a:pt x="185423" y="41705"/>
                          <a:pt x="170640" y="38791"/>
                          <a:pt x="154729" y="38791"/>
                        </a:cubicBezTo>
                        <a:cubicBezTo>
                          <a:pt x="138812" y="38791"/>
                          <a:pt x="124039" y="41705"/>
                          <a:pt x="110399" y="47525"/>
                        </a:cubicBezTo>
                        <a:cubicBezTo>
                          <a:pt x="96760" y="53354"/>
                          <a:pt x="84963" y="61379"/>
                          <a:pt x="75019" y="71609"/>
                        </a:cubicBezTo>
                        <a:cubicBezTo>
                          <a:pt x="65070" y="81839"/>
                          <a:pt x="57331" y="93988"/>
                          <a:pt x="51787" y="108052"/>
                        </a:cubicBezTo>
                        <a:cubicBezTo>
                          <a:pt x="46249" y="122115"/>
                          <a:pt x="43477" y="137246"/>
                          <a:pt x="43477" y="153448"/>
                        </a:cubicBezTo>
                        <a:close/>
                      </a:path>
                    </a:pathLst>
                  </a:custGeom>
                  <a:solidFill>
                    <a:srgbClr val="FDAF00"/>
                  </a:solidFill>
                  <a:ln w="4763" cap="flat">
                    <a:noFill/>
                    <a:prstDash val="solid"/>
                    <a:miter/>
                  </a:ln>
                </p:spPr>
                <p:txBody>
                  <a:bodyPr rtlCol="0" anchor="ctr"/>
                  <a:lstStyle/>
                  <a:p>
                    <a:endParaRPr lang="en-GB" sz="3200"/>
                  </a:p>
                </p:txBody>
              </p:sp>
              <p:sp>
                <p:nvSpPr>
                  <p:cNvPr id="72" name="Freeform: Shape 71">
                    <a:extLst>
                      <a:ext uri="{FF2B5EF4-FFF2-40B4-BE49-F238E27FC236}">
                        <a16:creationId xmlns:a16="http://schemas.microsoft.com/office/drawing/2014/main" id="{90FD85FC-C538-4B84-996E-72CB00276EF3}"/>
                      </a:ext>
                    </a:extLst>
                  </p:cNvPr>
                  <p:cNvSpPr/>
                  <p:nvPr/>
                </p:nvSpPr>
                <p:spPr>
                  <a:xfrm>
                    <a:off x="4533933" y="2485677"/>
                    <a:ext cx="176888" cy="300928"/>
                  </a:xfrm>
                  <a:custGeom>
                    <a:avLst/>
                    <a:gdLst>
                      <a:gd name="connsiteX0" fmla="*/ 0 w 176888"/>
                      <a:gd name="connsiteY0" fmla="*/ 14068 h 300928"/>
                      <a:gd name="connsiteX1" fmla="*/ 14068 w 176888"/>
                      <a:gd name="connsiteY1" fmla="*/ 0 h 300928"/>
                      <a:gd name="connsiteX2" fmla="*/ 27703 w 176888"/>
                      <a:gd name="connsiteY2" fmla="*/ 0 h 300928"/>
                      <a:gd name="connsiteX3" fmla="*/ 41772 w 176888"/>
                      <a:gd name="connsiteY3" fmla="*/ 14068 h 300928"/>
                      <a:gd name="connsiteX4" fmla="*/ 41772 w 176888"/>
                      <a:gd name="connsiteY4" fmla="*/ 264271 h 300928"/>
                      <a:gd name="connsiteX5" fmla="*/ 162820 w 176888"/>
                      <a:gd name="connsiteY5" fmla="*/ 264271 h 300928"/>
                      <a:gd name="connsiteX6" fmla="*/ 176889 w 176888"/>
                      <a:gd name="connsiteY6" fmla="*/ 278335 h 300928"/>
                      <a:gd name="connsiteX7" fmla="*/ 176889 w 176888"/>
                      <a:gd name="connsiteY7" fmla="*/ 286860 h 300928"/>
                      <a:gd name="connsiteX8" fmla="*/ 162820 w 176888"/>
                      <a:gd name="connsiteY8" fmla="*/ 300928 h 300928"/>
                      <a:gd name="connsiteX9" fmla="*/ 14068 w 176888"/>
                      <a:gd name="connsiteY9" fmla="*/ 300928 h 300928"/>
                      <a:gd name="connsiteX10" fmla="*/ 0 w 176888"/>
                      <a:gd name="connsiteY10" fmla="*/ 286860 h 300928"/>
                      <a:gd name="connsiteX11" fmla="*/ 0 w 176888"/>
                      <a:gd name="connsiteY11" fmla="*/ 14068 h 30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6888" h="300928">
                        <a:moveTo>
                          <a:pt x="0" y="14068"/>
                        </a:moveTo>
                        <a:cubicBezTo>
                          <a:pt x="0" y="4691"/>
                          <a:pt x="4686" y="0"/>
                          <a:pt x="14068" y="0"/>
                        </a:cubicBezTo>
                        <a:lnTo>
                          <a:pt x="27703" y="0"/>
                        </a:lnTo>
                        <a:cubicBezTo>
                          <a:pt x="37086" y="0"/>
                          <a:pt x="41772" y="4691"/>
                          <a:pt x="41772" y="14068"/>
                        </a:cubicBezTo>
                        <a:lnTo>
                          <a:pt x="41772" y="264271"/>
                        </a:lnTo>
                        <a:lnTo>
                          <a:pt x="162820" y="264271"/>
                        </a:lnTo>
                        <a:cubicBezTo>
                          <a:pt x="172202" y="264271"/>
                          <a:pt x="176889" y="268957"/>
                          <a:pt x="176889" y="278335"/>
                        </a:cubicBezTo>
                        <a:lnTo>
                          <a:pt x="176889" y="286860"/>
                        </a:lnTo>
                        <a:cubicBezTo>
                          <a:pt x="176889" y="296237"/>
                          <a:pt x="172202" y="300928"/>
                          <a:pt x="162820" y="300928"/>
                        </a:cubicBezTo>
                        <a:lnTo>
                          <a:pt x="14068" y="300928"/>
                        </a:lnTo>
                        <a:cubicBezTo>
                          <a:pt x="4686" y="300928"/>
                          <a:pt x="0" y="296242"/>
                          <a:pt x="0" y="286860"/>
                        </a:cubicBezTo>
                        <a:lnTo>
                          <a:pt x="0" y="14068"/>
                        </a:lnTo>
                        <a:close/>
                      </a:path>
                    </a:pathLst>
                  </a:custGeom>
                  <a:solidFill>
                    <a:srgbClr val="FDAF00"/>
                  </a:solidFill>
                  <a:ln w="4763" cap="flat">
                    <a:noFill/>
                    <a:prstDash val="solid"/>
                    <a:miter/>
                  </a:ln>
                </p:spPr>
                <p:txBody>
                  <a:bodyPr rtlCol="0" anchor="ctr"/>
                  <a:lstStyle/>
                  <a:p>
                    <a:endParaRPr lang="en-GB" sz="3200"/>
                  </a:p>
                </p:txBody>
              </p:sp>
              <p:sp>
                <p:nvSpPr>
                  <p:cNvPr id="73" name="Freeform: Shape 72">
                    <a:extLst>
                      <a:ext uri="{FF2B5EF4-FFF2-40B4-BE49-F238E27FC236}">
                        <a16:creationId xmlns:a16="http://schemas.microsoft.com/office/drawing/2014/main" id="{E8F732FD-F534-406C-B55E-DD520E8F2E95}"/>
                      </a:ext>
                    </a:extLst>
                  </p:cNvPr>
                  <p:cNvSpPr/>
                  <p:nvPr/>
                </p:nvSpPr>
                <p:spPr>
                  <a:xfrm>
                    <a:off x="4757280" y="2485677"/>
                    <a:ext cx="236567" cy="306052"/>
                  </a:xfrm>
                  <a:custGeom>
                    <a:avLst/>
                    <a:gdLst>
                      <a:gd name="connsiteX0" fmla="*/ 0 w 236567"/>
                      <a:gd name="connsiteY0" fmla="*/ 14068 h 306052"/>
                      <a:gd name="connsiteX1" fmla="*/ 14068 w 236567"/>
                      <a:gd name="connsiteY1" fmla="*/ 0 h 306052"/>
                      <a:gd name="connsiteX2" fmla="*/ 28132 w 236567"/>
                      <a:gd name="connsiteY2" fmla="*/ 0 h 306052"/>
                      <a:gd name="connsiteX3" fmla="*/ 41772 w 236567"/>
                      <a:gd name="connsiteY3" fmla="*/ 14068 h 306052"/>
                      <a:gd name="connsiteX4" fmla="*/ 41772 w 236567"/>
                      <a:gd name="connsiteY4" fmla="*/ 193943 h 306052"/>
                      <a:gd name="connsiteX5" fmla="*/ 62660 w 236567"/>
                      <a:gd name="connsiteY5" fmla="*/ 247864 h 306052"/>
                      <a:gd name="connsiteX6" fmla="*/ 118072 w 236567"/>
                      <a:gd name="connsiteY6" fmla="*/ 267257 h 306052"/>
                      <a:gd name="connsiteX7" fmla="*/ 173484 w 236567"/>
                      <a:gd name="connsiteY7" fmla="*/ 247864 h 306052"/>
                      <a:gd name="connsiteX8" fmla="*/ 194367 w 236567"/>
                      <a:gd name="connsiteY8" fmla="*/ 193519 h 306052"/>
                      <a:gd name="connsiteX9" fmla="*/ 194367 w 236567"/>
                      <a:gd name="connsiteY9" fmla="*/ 14073 h 306052"/>
                      <a:gd name="connsiteX10" fmla="*/ 208436 w 236567"/>
                      <a:gd name="connsiteY10" fmla="*/ 5 h 306052"/>
                      <a:gd name="connsiteX11" fmla="*/ 222500 w 236567"/>
                      <a:gd name="connsiteY11" fmla="*/ 5 h 306052"/>
                      <a:gd name="connsiteX12" fmla="*/ 236568 w 236567"/>
                      <a:gd name="connsiteY12" fmla="*/ 14073 h 306052"/>
                      <a:gd name="connsiteX13" fmla="*/ 236568 w 236567"/>
                      <a:gd name="connsiteY13" fmla="*/ 194372 h 306052"/>
                      <a:gd name="connsiteX14" fmla="*/ 228043 w 236567"/>
                      <a:gd name="connsiteY14" fmla="*/ 239982 h 306052"/>
                      <a:gd name="connsiteX15" fmla="*/ 203959 w 236567"/>
                      <a:gd name="connsiteY15" fmla="*/ 275149 h 306052"/>
                      <a:gd name="connsiteX16" fmla="*/ 166659 w 236567"/>
                      <a:gd name="connsiteY16" fmla="*/ 297952 h 306052"/>
                      <a:gd name="connsiteX17" fmla="*/ 118496 w 236567"/>
                      <a:gd name="connsiteY17" fmla="*/ 306053 h 306052"/>
                      <a:gd name="connsiteX18" fmla="*/ 70118 w 236567"/>
                      <a:gd name="connsiteY18" fmla="*/ 297952 h 306052"/>
                      <a:gd name="connsiteX19" fmla="*/ 32609 w 236567"/>
                      <a:gd name="connsiteY19" fmla="*/ 275149 h 306052"/>
                      <a:gd name="connsiteX20" fmla="*/ 8525 w 236567"/>
                      <a:gd name="connsiteY20" fmla="*/ 239982 h 306052"/>
                      <a:gd name="connsiteX21" fmla="*/ 0 w 236567"/>
                      <a:gd name="connsiteY21" fmla="*/ 194372 h 306052"/>
                      <a:gd name="connsiteX22" fmla="*/ 0 w 236567"/>
                      <a:gd name="connsiteY22" fmla="*/ 14068 h 306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6567" h="306052">
                        <a:moveTo>
                          <a:pt x="0" y="14068"/>
                        </a:moveTo>
                        <a:cubicBezTo>
                          <a:pt x="0" y="4691"/>
                          <a:pt x="4691" y="0"/>
                          <a:pt x="14068" y="0"/>
                        </a:cubicBezTo>
                        <a:lnTo>
                          <a:pt x="28132" y="0"/>
                        </a:lnTo>
                        <a:cubicBezTo>
                          <a:pt x="37224" y="0"/>
                          <a:pt x="41772" y="4691"/>
                          <a:pt x="41772" y="14068"/>
                        </a:cubicBezTo>
                        <a:lnTo>
                          <a:pt x="41772" y="193943"/>
                        </a:lnTo>
                        <a:cubicBezTo>
                          <a:pt x="41772" y="216960"/>
                          <a:pt x="48730" y="234934"/>
                          <a:pt x="62660" y="247864"/>
                        </a:cubicBezTo>
                        <a:cubicBezTo>
                          <a:pt x="76576" y="260799"/>
                          <a:pt x="95055" y="267257"/>
                          <a:pt x="118072" y="267257"/>
                        </a:cubicBezTo>
                        <a:cubicBezTo>
                          <a:pt x="141089" y="267257"/>
                          <a:pt x="159558" y="260799"/>
                          <a:pt x="173484" y="247864"/>
                        </a:cubicBezTo>
                        <a:cubicBezTo>
                          <a:pt x="187405" y="234939"/>
                          <a:pt x="194367" y="216822"/>
                          <a:pt x="194367" y="193519"/>
                        </a:cubicBezTo>
                        <a:lnTo>
                          <a:pt x="194367" y="14073"/>
                        </a:lnTo>
                        <a:cubicBezTo>
                          <a:pt x="194367" y="4696"/>
                          <a:pt x="199058" y="5"/>
                          <a:pt x="208436" y="5"/>
                        </a:cubicBezTo>
                        <a:lnTo>
                          <a:pt x="222500" y="5"/>
                        </a:lnTo>
                        <a:cubicBezTo>
                          <a:pt x="231877" y="5"/>
                          <a:pt x="236568" y="4696"/>
                          <a:pt x="236568" y="14073"/>
                        </a:cubicBezTo>
                        <a:lnTo>
                          <a:pt x="236568" y="194372"/>
                        </a:lnTo>
                        <a:cubicBezTo>
                          <a:pt x="236568" y="211141"/>
                          <a:pt x="233720" y="226343"/>
                          <a:pt x="228043" y="239982"/>
                        </a:cubicBezTo>
                        <a:cubicBezTo>
                          <a:pt x="222356" y="253622"/>
                          <a:pt x="214327" y="265343"/>
                          <a:pt x="203959" y="275149"/>
                        </a:cubicBezTo>
                        <a:cubicBezTo>
                          <a:pt x="193582" y="284950"/>
                          <a:pt x="181151" y="292556"/>
                          <a:pt x="166659" y="297952"/>
                        </a:cubicBezTo>
                        <a:cubicBezTo>
                          <a:pt x="152167" y="303347"/>
                          <a:pt x="136112" y="306053"/>
                          <a:pt x="118496" y="306053"/>
                        </a:cubicBezTo>
                        <a:cubicBezTo>
                          <a:pt x="100875" y="306053"/>
                          <a:pt x="84749" y="303347"/>
                          <a:pt x="70118" y="297952"/>
                        </a:cubicBezTo>
                        <a:cubicBezTo>
                          <a:pt x="55483" y="292556"/>
                          <a:pt x="42982" y="284950"/>
                          <a:pt x="32609" y="275149"/>
                        </a:cubicBezTo>
                        <a:cubicBezTo>
                          <a:pt x="22231" y="265343"/>
                          <a:pt x="14211" y="253622"/>
                          <a:pt x="8525" y="239982"/>
                        </a:cubicBezTo>
                        <a:cubicBezTo>
                          <a:pt x="2838" y="226343"/>
                          <a:pt x="0" y="211146"/>
                          <a:pt x="0" y="194372"/>
                        </a:cubicBezTo>
                        <a:lnTo>
                          <a:pt x="0" y="14068"/>
                        </a:lnTo>
                        <a:close/>
                      </a:path>
                    </a:pathLst>
                  </a:custGeom>
                  <a:solidFill>
                    <a:srgbClr val="FDAF00"/>
                  </a:solidFill>
                  <a:ln w="4763" cap="flat">
                    <a:noFill/>
                    <a:prstDash val="solid"/>
                    <a:miter/>
                  </a:ln>
                </p:spPr>
                <p:txBody>
                  <a:bodyPr rtlCol="0" anchor="ctr"/>
                  <a:lstStyle/>
                  <a:p>
                    <a:endParaRPr lang="en-GB" sz="3200"/>
                  </a:p>
                </p:txBody>
              </p:sp>
              <p:sp>
                <p:nvSpPr>
                  <p:cNvPr id="74" name="Freeform: Shape 73">
                    <a:extLst>
                      <a:ext uri="{FF2B5EF4-FFF2-40B4-BE49-F238E27FC236}">
                        <a16:creationId xmlns:a16="http://schemas.microsoft.com/office/drawing/2014/main" id="{CFC811CB-BC52-4320-A0C8-322EC15FD234}"/>
                      </a:ext>
                    </a:extLst>
                  </p:cNvPr>
                  <p:cNvSpPr/>
                  <p:nvPr/>
                </p:nvSpPr>
                <p:spPr>
                  <a:xfrm>
                    <a:off x="5052241" y="2485677"/>
                    <a:ext cx="248492" cy="300932"/>
                  </a:xfrm>
                  <a:custGeom>
                    <a:avLst/>
                    <a:gdLst>
                      <a:gd name="connsiteX0" fmla="*/ 103575 w 248492"/>
                      <a:gd name="connsiteY0" fmla="*/ 36662 h 300932"/>
                      <a:gd name="connsiteX1" fmla="*/ 14064 w 248492"/>
                      <a:gd name="connsiteY1" fmla="*/ 36662 h 300932"/>
                      <a:gd name="connsiteX2" fmla="*/ 0 w 248492"/>
                      <a:gd name="connsiteY2" fmla="*/ 22593 h 300932"/>
                      <a:gd name="connsiteX3" fmla="*/ 0 w 248492"/>
                      <a:gd name="connsiteY3" fmla="*/ 14068 h 300932"/>
                      <a:gd name="connsiteX4" fmla="*/ 14064 w 248492"/>
                      <a:gd name="connsiteY4" fmla="*/ 0 h 300932"/>
                      <a:gd name="connsiteX5" fmla="*/ 234853 w 248492"/>
                      <a:gd name="connsiteY5" fmla="*/ 0 h 300932"/>
                      <a:gd name="connsiteX6" fmla="*/ 248493 w 248492"/>
                      <a:gd name="connsiteY6" fmla="*/ 14068 h 300932"/>
                      <a:gd name="connsiteX7" fmla="*/ 248493 w 248492"/>
                      <a:gd name="connsiteY7" fmla="*/ 22593 h 300932"/>
                      <a:gd name="connsiteX8" fmla="*/ 234853 w 248492"/>
                      <a:gd name="connsiteY8" fmla="*/ 36662 h 300932"/>
                      <a:gd name="connsiteX9" fmla="*/ 145347 w 248492"/>
                      <a:gd name="connsiteY9" fmla="*/ 36662 h 300932"/>
                      <a:gd name="connsiteX10" fmla="*/ 145347 w 248492"/>
                      <a:gd name="connsiteY10" fmla="*/ 286864 h 300932"/>
                      <a:gd name="connsiteX11" fmla="*/ 131278 w 248492"/>
                      <a:gd name="connsiteY11" fmla="*/ 300933 h 300932"/>
                      <a:gd name="connsiteX12" fmla="*/ 117214 w 248492"/>
                      <a:gd name="connsiteY12" fmla="*/ 300933 h 300932"/>
                      <a:gd name="connsiteX13" fmla="*/ 103575 w 248492"/>
                      <a:gd name="connsiteY13" fmla="*/ 286864 h 300932"/>
                      <a:gd name="connsiteX14" fmla="*/ 103575 w 248492"/>
                      <a:gd name="connsiteY14" fmla="*/ 36662 h 30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8492" h="300932">
                        <a:moveTo>
                          <a:pt x="103575" y="36662"/>
                        </a:moveTo>
                        <a:lnTo>
                          <a:pt x="14064" y="36662"/>
                        </a:lnTo>
                        <a:cubicBezTo>
                          <a:pt x="4686" y="36662"/>
                          <a:pt x="0" y="31971"/>
                          <a:pt x="0" y="22593"/>
                        </a:cubicBezTo>
                        <a:lnTo>
                          <a:pt x="0" y="14068"/>
                        </a:lnTo>
                        <a:cubicBezTo>
                          <a:pt x="0" y="4691"/>
                          <a:pt x="4686" y="0"/>
                          <a:pt x="14064" y="0"/>
                        </a:cubicBezTo>
                        <a:lnTo>
                          <a:pt x="234853" y="0"/>
                        </a:lnTo>
                        <a:cubicBezTo>
                          <a:pt x="243945" y="0"/>
                          <a:pt x="248493" y="4691"/>
                          <a:pt x="248493" y="14068"/>
                        </a:cubicBezTo>
                        <a:lnTo>
                          <a:pt x="248493" y="22593"/>
                        </a:lnTo>
                        <a:cubicBezTo>
                          <a:pt x="248493" y="31971"/>
                          <a:pt x="243945" y="36662"/>
                          <a:pt x="234853" y="36662"/>
                        </a:cubicBezTo>
                        <a:lnTo>
                          <a:pt x="145347" y="36662"/>
                        </a:lnTo>
                        <a:lnTo>
                          <a:pt x="145347" y="286864"/>
                        </a:lnTo>
                        <a:cubicBezTo>
                          <a:pt x="145347" y="296242"/>
                          <a:pt x="140655" y="300933"/>
                          <a:pt x="131278" y="300933"/>
                        </a:cubicBezTo>
                        <a:lnTo>
                          <a:pt x="117214" y="300933"/>
                        </a:lnTo>
                        <a:cubicBezTo>
                          <a:pt x="108118" y="300933"/>
                          <a:pt x="103575" y="296246"/>
                          <a:pt x="103575" y="286864"/>
                        </a:cubicBezTo>
                        <a:lnTo>
                          <a:pt x="103575" y="36662"/>
                        </a:lnTo>
                        <a:close/>
                      </a:path>
                    </a:pathLst>
                  </a:custGeom>
                  <a:solidFill>
                    <a:srgbClr val="FDAF00"/>
                  </a:solidFill>
                  <a:ln w="4763" cap="flat">
                    <a:noFill/>
                    <a:prstDash val="solid"/>
                    <a:miter/>
                  </a:ln>
                </p:spPr>
                <p:txBody>
                  <a:bodyPr rtlCol="0" anchor="ctr"/>
                  <a:lstStyle/>
                  <a:p>
                    <a:endParaRPr lang="en-GB" sz="3200"/>
                  </a:p>
                </p:txBody>
              </p:sp>
              <p:sp>
                <p:nvSpPr>
                  <p:cNvPr id="75" name="Freeform: Shape 74">
                    <a:extLst>
                      <a:ext uri="{FF2B5EF4-FFF2-40B4-BE49-F238E27FC236}">
                        <a16:creationId xmlns:a16="http://schemas.microsoft.com/office/drawing/2014/main" id="{D185802C-0B22-4156-84EC-5D5029A67C74}"/>
                      </a:ext>
                    </a:extLst>
                  </p:cNvPr>
                  <p:cNvSpPr/>
                  <p:nvPr/>
                </p:nvSpPr>
                <p:spPr>
                  <a:xfrm>
                    <a:off x="5362961" y="2485677"/>
                    <a:ext cx="41771" cy="300928"/>
                  </a:xfrm>
                  <a:custGeom>
                    <a:avLst/>
                    <a:gdLst>
                      <a:gd name="connsiteX0" fmla="*/ 0 w 41771"/>
                      <a:gd name="connsiteY0" fmla="*/ 14068 h 300928"/>
                      <a:gd name="connsiteX1" fmla="*/ 14068 w 41771"/>
                      <a:gd name="connsiteY1" fmla="*/ 0 h 300928"/>
                      <a:gd name="connsiteX2" fmla="*/ 27703 w 41771"/>
                      <a:gd name="connsiteY2" fmla="*/ 0 h 300928"/>
                      <a:gd name="connsiteX3" fmla="*/ 41772 w 41771"/>
                      <a:gd name="connsiteY3" fmla="*/ 14068 h 300928"/>
                      <a:gd name="connsiteX4" fmla="*/ 41772 w 41771"/>
                      <a:gd name="connsiteY4" fmla="*/ 286860 h 300928"/>
                      <a:gd name="connsiteX5" fmla="*/ 27703 w 41771"/>
                      <a:gd name="connsiteY5" fmla="*/ 300928 h 300928"/>
                      <a:gd name="connsiteX6" fmla="*/ 14068 w 41771"/>
                      <a:gd name="connsiteY6" fmla="*/ 300928 h 300928"/>
                      <a:gd name="connsiteX7" fmla="*/ 0 w 41771"/>
                      <a:gd name="connsiteY7" fmla="*/ 286860 h 300928"/>
                      <a:gd name="connsiteX8" fmla="*/ 0 w 41771"/>
                      <a:gd name="connsiteY8" fmla="*/ 14068 h 30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71" h="300928">
                        <a:moveTo>
                          <a:pt x="0" y="14068"/>
                        </a:moveTo>
                        <a:cubicBezTo>
                          <a:pt x="0" y="4691"/>
                          <a:pt x="4686" y="0"/>
                          <a:pt x="14068" y="0"/>
                        </a:cubicBezTo>
                        <a:lnTo>
                          <a:pt x="27703" y="0"/>
                        </a:lnTo>
                        <a:cubicBezTo>
                          <a:pt x="37086" y="0"/>
                          <a:pt x="41772" y="4691"/>
                          <a:pt x="41772" y="14068"/>
                        </a:cubicBezTo>
                        <a:lnTo>
                          <a:pt x="41772" y="286860"/>
                        </a:lnTo>
                        <a:cubicBezTo>
                          <a:pt x="41772" y="296237"/>
                          <a:pt x="37086" y="300928"/>
                          <a:pt x="27703" y="300928"/>
                        </a:cubicBezTo>
                        <a:lnTo>
                          <a:pt x="14068" y="300928"/>
                        </a:lnTo>
                        <a:cubicBezTo>
                          <a:pt x="4686" y="300928"/>
                          <a:pt x="0" y="296242"/>
                          <a:pt x="0" y="286860"/>
                        </a:cubicBezTo>
                        <a:lnTo>
                          <a:pt x="0" y="14068"/>
                        </a:lnTo>
                        <a:close/>
                      </a:path>
                    </a:pathLst>
                  </a:custGeom>
                  <a:solidFill>
                    <a:srgbClr val="FDAF00"/>
                  </a:solidFill>
                  <a:ln w="4763" cap="flat">
                    <a:noFill/>
                    <a:prstDash val="solid"/>
                    <a:miter/>
                  </a:ln>
                </p:spPr>
                <p:txBody>
                  <a:bodyPr rtlCol="0" anchor="ctr"/>
                  <a:lstStyle/>
                  <a:p>
                    <a:endParaRPr lang="en-GB" sz="3200"/>
                  </a:p>
                </p:txBody>
              </p:sp>
              <p:sp>
                <p:nvSpPr>
                  <p:cNvPr id="76" name="Freeform: Shape 75">
                    <a:extLst>
                      <a:ext uri="{FF2B5EF4-FFF2-40B4-BE49-F238E27FC236}">
                        <a16:creationId xmlns:a16="http://schemas.microsoft.com/office/drawing/2014/main" id="{44C907FF-B097-4185-9D95-B1F966F55DE3}"/>
                      </a:ext>
                    </a:extLst>
                  </p:cNvPr>
                  <p:cNvSpPr/>
                  <p:nvPr/>
                </p:nvSpPr>
                <p:spPr>
                  <a:xfrm>
                    <a:off x="5483590" y="2480567"/>
                    <a:ext cx="309019" cy="311158"/>
                  </a:xfrm>
                  <a:custGeom>
                    <a:avLst/>
                    <a:gdLst>
                      <a:gd name="connsiteX0" fmla="*/ 0 w 309019"/>
                      <a:gd name="connsiteY0" fmla="*/ 153448 h 311158"/>
                      <a:gd name="connsiteX1" fmla="*/ 11511 w 309019"/>
                      <a:gd name="connsiteY1" fmla="*/ 92921 h 311158"/>
                      <a:gd name="connsiteX2" fmla="*/ 43691 w 309019"/>
                      <a:gd name="connsiteY2" fmla="*/ 44115 h 311158"/>
                      <a:gd name="connsiteX3" fmla="*/ 92707 w 309019"/>
                      <a:gd name="connsiteY3" fmla="*/ 11721 h 311158"/>
                      <a:gd name="connsiteX4" fmla="*/ 154724 w 309019"/>
                      <a:gd name="connsiteY4" fmla="*/ 0 h 311158"/>
                      <a:gd name="connsiteX5" fmla="*/ 216741 w 309019"/>
                      <a:gd name="connsiteY5" fmla="*/ 11721 h 311158"/>
                      <a:gd name="connsiteX6" fmla="*/ 265543 w 309019"/>
                      <a:gd name="connsiteY6" fmla="*/ 44115 h 311158"/>
                      <a:gd name="connsiteX7" fmla="*/ 297513 w 309019"/>
                      <a:gd name="connsiteY7" fmla="*/ 92921 h 311158"/>
                      <a:gd name="connsiteX8" fmla="*/ 309020 w 309019"/>
                      <a:gd name="connsiteY8" fmla="*/ 153448 h 311158"/>
                      <a:gd name="connsiteX9" fmla="*/ 297513 w 309019"/>
                      <a:gd name="connsiteY9" fmla="*/ 215465 h 311158"/>
                      <a:gd name="connsiteX10" fmla="*/ 265543 w 309019"/>
                      <a:gd name="connsiteY10" fmla="*/ 265547 h 311158"/>
                      <a:gd name="connsiteX11" fmla="*/ 216741 w 309019"/>
                      <a:gd name="connsiteY11" fmla="*/ 299009 h 311158"/>
                      <a:gd name="connsiteX12" fmla="*/ 154724 w 309019"/>
                      <a:gd name="connsiteY12" fmla="*/ 311158 h 311158"/>
                      <a:gd name="connsiteX13" fmla="*/ 92707 w 309019"/>
                      <a:gd name="connsiteY13" fmla="*/ 299009 h 311158"/>
                      <a:gd name="connsiteX14" fmla="*/ 43691 w 309019"/>
                      <a:gd name="connsiteY14" fmla="*/ 265547 h 311158"/>
                      <a:gd name="connsiteX15" fmla="*/ 11511 w 309019"/>
                      <a:gd name="connsiteY15" fmla="*/ 215465 h 311158"/>
                      <a:gd name="connsiteX16" fmla="*/ 0 w 309019"/>
                      <a:gd name="connsiteY16" fmla="*/ 153448 h 311158"/>
                      <a:gd name="connsiteX17" fmla="*/ 43476 w 309019"/>
                      <a:gd name="connsiteY17" fmla="*/ 153448 h 311158"/>
                      <a:gd name="connsiteX18" fmla="*/ 51788 w 309019"/>
                      <a:gd name="connsiteY18" fmla="*/ 200335 h 311158"/>
                      <a:gd name="connsiteX19" fmla="*/ 75019 w 309019"/>
                      <a:gd name="connsiteY19" fmla="*/ 238058 h 311158"/>
                      <a:gd name="connsiteX20" fmla="*/ 110399 w 309019"/>
                      <a:gd name="connsiteY20" fmla="*/ 263204 h 311158"/>
                      <a:gd name="connsiteX21" fmla="*/ 154729 w 309019"/>
                      <a:gd name="connsiteY21" fmla="*/ 272367 h 311158"/>
                      <a:gd name="connsiteX22" fmla="*/ 199058 w 309019"/>
                      <a:gd name="connsiteY22" fmla="*/ 263204 h 311158"/>
                      <a:gd name="connsiteX23" fmla="*/ 234224 w 309019"/>
                      <a:gd name="connsiteY23" fmla="*/ 238058 h 311158"/>
                      <a:gd name="connsiteX24" fmla="*/ 257241 w 309019"/>
                      <a:gd name="connsiteY24" fmla="*/ 200335 h 311158"/>
                      <a:gd name="connsiteX25" fmla="*/ 265552 w 309019"/>
                      <a:gd name="connsiteY25" fmla="*/ 153448 h 311158"/>
                      <a:gd name="connsiteX26" fmla="*/ 257241 w 309019"/>
                      <a:gd name="connsiteY26" fmla="*/ 108052 h 311158"/>
                      <a:gd name="connsiteX27" fmla="*/ 234224 w 309019"/>
                      <a:gd name="connsiteY27" fmla="*/ 71609 h 311158"/>
                      <a:gd name="connsiteX28" fmla="*/ 199058 w 309019"/>
                      <a:gd name="connsiteY28" fmla="*/ 47525 h 311158"/>
                      <a:gd name="connsiteX29" fmla="*/ 154729 w 309019"/>
                      <a:gd name="connsiteY29" fmla="*/ 38791 h 311158"/>
                      <a:gd name="connsiteX30" fmla="*/ 110399 w 309019"/>
                      <a:gd name="connsiteY30" fmla="*/ 47525 h 311158"/>
                      <a:gd name="connsiteX31" fmla="*/ 75019 w 309019"/>
                      <a:gd name="connsiteY31" fmla="*/ 71609 h 311158"/>
                      <a:gd name="connsiteX32" fmla="*/ 51788 w 309019"/>
                      <a:gd name="connsiteY32" fmla="*/ 108052 h 311158"/>
                      <a:gd name="connsiteX33" fmla="*/ 43476 w 309019"/>
                      <a:gd name="connsiteY33" fmla="*/ 153448 h 311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09019" h="311158">
                        <a:moveTo>
                          <a:pt x="0" y="153448"/>
                        </a:moveTo>
                        <a:cubicBezTo>
                          <a:pt x="0" y="131854"/>
                          <a:pt x="3838" y="111676"/>
                          <a:pt x="11511" y="92921"/>
                        </a:cubicBezTo>
                        <a:cubicBezTo>
                          <a:pt x="19178" y="74166"/>
                          <a:pt x="29903" y="57903"/>
                          <a:pt x="43691" y="44115"/>
                        </a:cubicBezTo>
                        <a:cubicBezTo>
                          <a:pt x="57474" y="30332"/>
                          <a:pt x="73804" y="19540"/>
                          <a:pt x="92707" y="11721"/>
                        </a:cubicBezTo>
                        <a:cubicBezTo>
                          <a:pt x="111604" y="3910"/>
                          <a:pt x="132279" y="0"/>
                          <a:pt x="154724" y="0"/>
                        </a:cubicBezTo>
                        <a:cubicBezTo>
                          <a:pt x="177169" y="0"/>
                          <a:pt x="197844" y="3910"/>
                          <a:pt x="216741" y="11721"/>
                        </a:cubicBezTo>
                        <a:cubicBezTo>
                          <a:pt x="235634" y="19540"/>
                          <a:pt x="251907" y="30337"/>
                          <a:pt x="265543" y="44115"/>
                        </a:cubicBezTo>
                        <a:cubicBezTo>
                          <a:pt x="279182" y="57903"/>
                          <a:pt x="289841" y="74166"/>
                          <a:pt x="297513" y="92921"/>
                        </a:cubicBezTo>
                        <a:cubicBezTo>
                          <a:pt x="305181" y="111676"/>
                          <a:pt x="309020" y="131854"/>
                          <a:pt x="309020" y="153448"/>
                        </a:cubicBezTo>
                        <a:cubicBezTo>
                          <a:pt x="309020" y="175613"/>
                          <a:pt x="305181" y="196286"/>
                          <a:pt x="297513" y="215465"/>
                        </a:cubicBezTo>
                        <a:cubicBezTo>
                          <a:pt x="289841" y="234644"/>
                          <a:pt x="279182" y="251341"/>
                          <a:pt x="265543" y="265547"/>
                        </a:cubicBezTo>
                        <a:cubicBezTo>
                          <a:pt x="251907" y="279759"/>
                          <a:pt x="235634" y="290908"/>
                          <a:pt x="216741" y="299009"/>
                        </a:cubicBezTo>
                        <a:cubicBezTo>
                          <a:pt x="197839" y="307105"/>
                          <a:pt x="177165" y="311158"/>
                          <a:pt x="154724" y="311158"/>
                        </a:cubicBezTo>
                        <a:cubicBezTo>
                          <a:pt x="132273" y="311158"/>
                          <a:pt x="111600" y="307105"/>
                          <a:pt x="92707" y="299009"/>
                        </a:cubicBezTo>
                        <a:cubicBezTo>
                          <a:pt x="73804" y="290908"/>
                          <a:pt x="57474" y="279759"/>
                          <a:pt x="43691" y="265547"/>
                        </a:cubicBezTo>
                        <a:cubicBezTo>
                          <a:pt x="29903" y="251341"/>
                          <a:pt x="19183" y="234644"/>
                          <a:pt x="11511" y="215465"/>
                        </a:cubicBezTo>
                        <a:cubicBezTo>
                          <a:pt x="3838" y="196282"/>
                          <a:pt x="0" y="175608"/>
                          <a:pt x="0" y="153448"/>
                        </a:cubicBezTo>
                        <a:close/>
                        <a:moveTo>
                          <a:pt x="43476" y="153448"/>
                        </a:moveTo>
                        <a:cubicBezTo>
                          <a:pt x="43476" y="170216"/>
                          <a:pt x="46248" y="185842"/>
                          <a:pt x="51788" y="200335"/>
                        </a:cubicBezTo>
                        <a:cubicBezTo>
                          <a:pt x="57331" y="214827"/>
                          <a:pt x="65070" y="227400"/>
                          <a:pt x="75019" y="238058"/>
                        </a:cubicBezTo>
                        <a:cubicBezTo>
                          <a:pt x="84963" y="248712"/>
                          <a:pt x="96755" y="257099"/>
                          <a:pt x="110399" y="263204"/>
                        </a:cubicBezTo>
                        <a:cubicBezTo>
                          <a:pt x="124034" y="269319"/>
                          <a:pt x="138812" y="272367"/>
                          <a:pt x="154729" y="272367"/>
                        </a:cubicBezTo>
                        <a:cubicBezTo>
                          <a:pt x="170640" y="272367"/>
                          <a:pt x="185418" y="269315"/>
                          <a:pt x="199058" y="263204"/>
                        </a:cubicBezTo>
                        <a:cubicBezTo>
                          <a:pt x="212698" y="257099"/>
                          <a:pt x="224418" y="248712"/>
                          <a:pt x="234224" y="238058"/>
                        </a:cubicBezTo>
                        <a:cubicBezTo>
                          <a:pt x="244030" y="227400"/>
                          <a:pt x="251703" y="214827"/>
                          <a:pt x="257241" y="200335"/>
                        </a:cubicBezTo>
                        <a:cubicBezTo>
                          <a:pt x="262785" y="185842"/>
                          <a:pt x="265552" y="170216"/>
                          <a:pt x="265552" y="153448"/>
                        </a:cubicBezTo>
                        <a:cubicBezTo>
                          <a:pt x="265552" y="137250"/>
                          <a:pt x="262785" y="122120"/>
                          <a:pt x="257241" y="108052"/>
                        </a:cubicBezTo>
                        <a:cubicBezTo>
                          <a:pt x="251703" y="93983"/>
                          <a:pt x="244030" y="81839"/>
                          <a:pt x="234224" y="71609"/>
                        </a:cubicBezTo>
                        <a:cubicBezTo>
                          <a:pt x="224418" y="61379"/>
                          <a:pt x="212698" y="53354"/>
                          <a:pt x="199058" y="47525"/>
                        </a:cubicBezTo>
                        <a:cubicBezTo>
                          <a:pt x="185423" y="41705"/>
                          <a:pt x="170640" y="38791"/>
                          <a:pt x="154729" y="38791"/>
                        </a:cubicBezTo>
                        <a:cubicBezTo>
                          <a:pt x="138812" y="38791"/>
                          <a:pt x="124039" y="41705"/>
                          <a:pt x="110399" y="47525"/>
                        </a:cubicBezTo>
                        <a:cubicBezTo>
                          <a:pt x="96760" y="53354"/>
                          <a:pt x="84963" y="61379"/>
                          <a:pt x="75019" y="71609"/>
                        </a:cubicBezTo>
                        <a:cubicBezTo>
                          <a:pt x="65070" y="81839"/>
                          <a:pt x="57331" y="93988"/>
                          <a:pt x="51788" y="108052"/>
                        </a:cubicBezTo>
                        <a:cubicBezTo>
                          <a:pt x="46248" y="122115"/>
                          <a:pt x="43476" y="137246"/>
                          <a:pt x="43476" y="153448"/>
                        </a:cubicBezTo>
                        <a:close/>
                      </a:path>
                    </a:pathLst>
                  </a:custGeom>
                  <a:solidFill>
                    <a:srgbClr val="FDAF00"/>
                  </a:solidFill>
                  <a:ln w="4763" cap="flat">
                    <a:noFill/>
                    <a:prstDash val="solid"/>
                    <a:miter/>
                  </a:ln>
                </p:spPr>
                <p:txBody>
                  <a:bodyPr rtlCol="0" anchor="ctr"/>
                  <a:lstStyle/>
                  <a:p>
                    <a:endParaRPr lang="en-GB" sz="3200"/>
                  </a:p>
                </p:txBody>
              </p:sp>
              <p:sp>
                <p:nvSpPr>
                  <p:cNvPr id="77" name="Freeform: Shape 76">
                    <a:extLst>
                      <a:ext uri="{FF2B5EF4-FFF2-40B4-BE49-F238E27FC236}">
                        <a16:creationId xmlns:a16="http://schemas.microsoft.com/office/drawing/2014/main" id="{3B27B152-3BE2-45CA-ADB6-0B5BCB7EA4A2}"/>
                      </a:ext>
                    </a:extLst>
                  </p:cNvPr>
                  <p:cNvSpPr/>
                  <p:nvPr/>
                </p:nvSpPr>
                <p:spPr>
                  <a:xfrm>
                    <a:off x="5871462" y="2485672"/>
                    <a:ext cx="240387" cy="300927"/>
                  </a:xfrm>
                  <a:custGeom>
                    <a:avLst/>
                    <a:gdLst>
                      <a:gd name="connsiteX0" fmla="*/ 0 w 240387"/>
                      <a:gd name="connsiteY0" fmla="*/ 14073 h 300927"/>
                      <a:gd name="connsiteX1" fmla="*/ 14068 w 240387"/>
                      <a:gd name="connsiteY1" fmla="*/ 5 h 300927"/>
                      <a:gd name="connsiteX2" fmla="*/ 30261 w 240387"/>
                      <a:gd name="connsiteY2" fmla="*/ 5 h 300927"/>
                      <a:gd name="connsiteX3" fmla="*/ 47310 w 240387"/>
                      <a:gd name="connsiteY3" fmla="*/ 9382 h 300927"/>
                      <a:gd name="connsiteX4" fmla="*/ 175607 w 240387"/>
                      <a:gd name="connsiteY4" fmla="*/ 195648 h 300927"/>
                      <a:gd name="connsiteX5" fmla="*/ 183918 w 240387"/>
                      <a:gd name="connsiteY5" fmla="*/ 209074 h 300927"/>
                      <a:gd name="connsiteX6" fmla="*/ 191800 w 240387"/>
                      <a:gd name="connsiteY6" fmla="*/ 223351 h 300927"/>
                      <a:gd name="connsiteX7" fmla="*/ 200325 w 240387"/>
                      <a:gd name="connsiteY7" fmla="*/ 239125 h 300927"/>
                      <a:gd name="connsiteX8" fmla="*/ 201182 w 240387"/>
                      <a:gd name="connsiteY8" fmla="*/ 239125 h 300927"/>
                      <a:gd name="connsiteX9" fmla="*/ 199901 w 240387"/>
                      <a:gd name="connsiteY9" fmla="*/ 223780 h 300927"/>
                      <a:gd name="connsiteX10" fmla="*/ 198834 w 240387"/>
                      <a:gd name="connsiteY10" fmla="*/ 209497 h 300927"/>
                      <a:gd name="connsiteX11" fmla="*/ 198620 w 240387"/>
                      <a:gd name="connsiteY11" fmla="*/ 195643 h 300927"/>
                      <a:gd name="connsiteX12" fmla="*/ 198620 w 240387"/>
                      <a:gd name="connsiteY12" fmla="*/ 14068 h 300927"/>
                      <a:gd name="connsiteX13" fmla="*/ 212684 w 240387"/>
                      <a:gd name="connsiteY13" fmla="*/ 0 h 300927"/>
                      <a:gd name="connsiteX14" fmla="*/ 226323 w 240387"/>
                      <a:gd name="connsiteY14" fmla="*/ 0 h 300927"/>
                      <a:gd name="connsiteX15" fmla="*/ 240387 w 240387"/>
                      <a:gd name="connsiteY15" fmla="*/ 14068 h 300927"/>
                      <a:gd name="connsiteX16" fmla="*/ 240387 w 240387"/>
                      <a:gd name="connsiteY16" fmla="*/ 286860 h 300927"/>
                      <a:gd name="connsiteX17" fmla="*/ 226323 w 240387"/>
                      <a:gd name="connsiteY17" fmla="*/ 300928 h 300927"/>
                      <a:gd name="connsiteX18" fmla="*/ 210126 w 240387"/>
                      <a:gd name="connsiteY18" fmla="*/ 300928 h 300927"/>
                      <a:gd name="connsiteX19" fmla="*/ 193505 w 240387"/>
                      <a:gd name="connsiteY19" fmla="*/ 291551 h 300927"/>
                      <a:gd name="connsiteX20" fmla="*/ 64784 w 240387"/>
                      <a:gd name="connsiteY20" fmla="*/ 105708 h 300927"/>
                      <a:gd name="connsiteX21" fmla="*/ 56259 w 240387"/>
                      <a:gd name="connsiteY21" fmla="*/ 92069 h 300927"/>
                      <a:gd name="connsiteX22" fmla="*/ 48587 w 240387"/>
                      <a:gd name="connsiteY22" fmla="*/ 77576 h 300927"/>
                      <a:gd name="connsiteX23" fmla="*/ 40062 w 240387"/>
                      <a:gd name="connsiteY23" fmla="*/ 61803 h 300927"/>
                      <a:gd name="connsiteX24" fmla="*/ 39210 w 240387"/>
                      <a:gd name="connsiteY24" fmla="*/ 61803 h 300927"/>
                      <a:gd name="connsiteX25" fmla="*/ 40491 w 240387"/>
                      <a:gd name="connsiteY25" fmla="*/ 77576 h 300927"/>
                      <a:gd name="connsiteX26" fmla="*/ 41343 w 240387"/>
                      <a:gd name="connsiteY26" fmla="*/ 91854 h 300927"/>
                      <a:gd name="connsiteX27" fmla="*/ 41772 w 240387"/>
                      <a:gd name="connsiteY27" fmla="*/ 105708 h 300927"/>
                      <a:gd name="connsiteX28" fmla="*/ 41772 w 240387"/>
                      <a:gd name="connsiteY28" fmla="*/ 286860 h 300927"/>
                      <a:gd name="connsiteX29" fmla="*/ 27704 w 240387"/>
                      <a:gd name="connsiteY29" fmla="*/ 300928 h 300927"/>
                      <a:gd name="connsiteX30" fmla="*/ 14068 w 240387"/>
                      <a:gd name="connsiteY30" fmla="*/ 300928 h 300927"/>
                      <a:gd name="connsiteX31" fmla="*/ 0 w 240387"/>
                      <a:gd name="connsiteY31" fmla="*/ 286860 h 300927"/>
                      <a:gd name="connsiteX32" fmla="*/ 0 w 240387"/>
                      <a:gd name="connsiteY32" fmla="*/ 14073 h 300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0387" h="300927">
                        <a:moveTo>
                          <a:pt x="0" y="14073"/>
                        </a:moveTo>
                        <a:cubicBezTo>
                          <a:pt x="0" y="4696"/>
                          <a:pt x="4686" y="5"/>
                          <a:pt x="14068" y="5"/>
                        </a:cubicBezTo>
                        <a:lnTo>
                          <a:pt x="30261" y="5"/>
                        </a:lnTo>
                        <a:cubicBezTo>
                          <a:pt x="37648" y="5"/>
                          <a:pt x="43329" y="3134"/>
                          <a:pt x="47310" y="9382"/>
                        </a:cubicBezTo>
                        <a:lnTo>
                          <a:pt x="175607" y="195648"/>
                        </a:lnTo>
                        <a:cubicBezTo>
                          <a:pt x="178165" y="199630"/>
                          <a:pt x="180932" y="204106"/>
                          <a:pt x="183918" y="209074"/>
                        </a:cubicBezTo>
                        <a:cubicBezTo>
                          <a:pt x="186900" y="214046"/>
                          <a:pt x="189529" y="218808"/>
                          <a:pt x="191800" y="223351"/>
                        </a:cubicBezTo>
                        <a:cubicBezTo>
                          <a:pt x="194639" y="228467"/>
                          <a:pt x="197482" y="233729"/>
                          <a:pt x="200325" y="239125"/>
                        </a:cubicBezTo>
                        <a:lnTo>
                          <a:pt x="201182" y="239125"/>
                        </a:lnTo>
                        <a:cubicBezTo>
                          <a:pt x="200610" y="234010"/>
                          <a:pt x="200182" y="228895"/>
                          <a:pt x="199901" y="223780"/>
                        </a:cubicBezTo>
                        <a:cubicBezTo>
                          <a:pt x="199330" y="219237"/>
                          <a:pt x="198977" y="214474"/>
                          <a:pt x="198834" y="209497"/>
                        </a:cubicBezTo>
                        <a:cubicBezTo>
                          <a:pt x="198687" y="204530"/>
                          <a:pt x="198620" y="199906"/>
                          <a:pt x="198620" y="195643"/>
                        </a:cubicBezTo>
                        <a:lnTo>
                          <a:pt x="198620" y="14068"/>
                        </a:lnTo>
                        <a:cubicBezTo>
                          <a:pt x="198620" y="4691"/>
                          <a:pt x="203306" y="0"/>
                          <a:pt x="212684" y="0"/>
                        </a:cubicBezTo>
                        <a:lnTo>
                          <a:pt x="226323" y="0"/>
                        </a:lnTo>
                        <a:cubicBezTo>
                          <a:pt x="235701" y="0"/>
                          <a:pt x="240387" y="4691"/>
                          <a:pt x="240387" y="14068"/>
                        </a:cubicBezTo>
                        <a:lnTo>
                          <a:pt x="240387" y="286860"/>
                        </a:lnTo>
                        <a:cubicBezTo>
                          <a:pt x="240387" y="296237"/>
                          <a:pt x="235701" y="300928"/>
                          <a:pt x="226323" y="300928"/>
                        </a:cubicBezTo>
                        <a:lnTo>
                          <a:pt x="210126" y="300928"/>
                        </a:lnTo>
                        <a:cubicBezTo>
                          <a:pt x="202459" y="300928"/>
                          <a:pt x="196915" y="297804"/>
                          <a:pt x="193505" y="291551"/>
                        </a:cubicBezTo>
                        <a:lnTo>
                          <a:pt x="64784" y="105708"/>
                        </a:lnTo>
                        <a:cubicBezTo>
                          <a:pt x="61936" y="101732"/>
                          <a:pt x="59098" y="97183"/>
                          <a:pt x="56259" y="92069"/>
                        </a:cubicBezTo>
                        <a:cubicBezTo>
                          <a:pt x="53411" y="86954"/>
                          <a:pt x="50854" y="82124"/>
                          <a:pt x="48587" y="77576"/>
                        </a:cubicBezTo>
                        <a:cubicBezTo>
                          <a:pt x="45744" y="72461"/>
                          <a:pt x="42900" y="67208"/>
                          <a:pt x="40062" y="61803"/>
                        </a:cubicBezTo>
                        <a:lnTo>
                          <a:pt x="39210" y="61803"/>
                        </a:lnTo>
                        <a:cubicBezTo>
                          <a:pt x="39491" y="67203"/>
                          <a:pt x="39914" y="72457"/>
                          <a:pt x="40491" y="77576"/>
                        </a:cubicBezTo>
                        <a:cubicBezTo>
                          <a:pt x="40771" y="82124"/>
                          <a:pt x="41053" y="86887"/>
                          <a:pt x="41343" y="91854"/>
                        </a:cubicBezTo>
                        <a:cubicBezTo>
                          <a:pt x="41624" y="96831"/>
                          <a:pt x="41772" y="101446"/>
                          <a:pt x="41772" y="105708"/>
                        </a:cubicBezTo>
                        <a:lnTo>
                          <a:pt x="41772" y="286860"/>
                        </a:lnTo>
                        <a:cubicBezTo>
                          <a:pt x="41772" y="296237"/>
                          <a:pt x="37086" y="300928"/>
                          <a:pt x="27704" y="300928"/>
                        </a:cubicBezTo>
                        <a:lnTo>
                          <a:pt x="14068" y="300928"/>
                        </a:lnTo>
                        <a:cubicBezTo>
                          <a:pt x="4686" y="300928"/>
                          <a:pt x="0" y="296242"/>
                          <a:pt x="0" y="286860"/>
                        </a:cubicBezTo>
                        <a:lnTo>
                          <a:pt x="0" y="14073"/>
                        </a:lnTo>
                        <a:close/>
                      </a:path>
                    </a:pathLst>
                  </a:custGeom>
                  <a:solidFill>
                    <a:srgbClr val="FDAF00"/>
                  </a:solidFill>
                  <a:ln w="4763" cap="flat">
                    <a:noFill/>
                    <a:prstDash val="solid"/>
                    <a:miter/>
                  </a:ln>
                </p:spPr>
                <p:txBody>
                  <a:bodyPr rtlCol="0" anchor="ctr"/>
                  <a:lstStyle/>
                  <a:p>
                    <a:endParaRPr lang="en-GB" sz="3200"/>
                  </a:p>
                </p:txBody>
              </p:sp>
              <p:sp>
                <p:nvSpPr>
                  <p:cNvPr id="78" name="Freeform: Shape 77">
                    <a:extLst>
                      <a:ext uri="{FF2B5EF4-FFF2-40B4-BE49-F238E27FC236}">
                        <a16:creationId xmlns:a16="http://schemas.microsoft.com/office/drawing/2014/main" id="{8B0ABCD8-3C3E-4CA7-941A-0238283C0403}"/>
                      </a:ext>
                    </a:extLst>
                  </p:cNvPr>
                  <p:cNvSpPr/>
                  <p:nvPr/>
                </p:nvSpPr>
                <p:spPr>
                  <a:xfrm>
                    <a:off x="6190728" y="2480571"/>
                    <a:ext cx="191359" cy="311153"/>
                  </a:xfrm>
                  <a:custGeom>
                    <a:avLst/>
                    <a:gdLst>
                      <a:gd name="connsiteX0" fmla="*/ 5527 w 191359"/>
                      <a:gd name="connsiteY0" fmla="*/ 280035 h 311153"/>
                      <a:gd name="connsiteX1" fmla="*/ 197 w 191359"/>
                      <a:gd name="connsiteY1" fmla="*/ 271510 h 311153"/>
                      <a:gd name="connsiteX2" fmla="*/ 3821 w 191359"/>
                      <a:gd name="connsiteY2" fmla="*/ 260428 h 311153"/>
                      <a:gd name="connsiteX3" fmla="*/ 11065 w 191359"/>
                      <a:gd name="connsiteY3" fmla="*/ 250198 h 311153"/>
                      <a:gd name="connsiteX4" fmla="*/ 30244 w 191359"/>
                      <a:gd name="connsiteY4" fmla="*/ 247641 h 311153"/>
                      <a:gd name="connsiteX5" fmla="*/ 40474 w 191359"/>
                      <a:gd name="connsiteY5" fmla="*/ 254675 h 311153"/>
                      <a:gd name="connsiteX6" fmla="*/ 55175 w 191359"/>
                      <a:gd name="connsiteY6" fmla="*/ 262562 h 311153"/>
                      <a:gd name="connsiteX7" fmla="*/ 73721 w 191359"/>
                      <a:gd name="connsiteY7" fmla="*/ 269167 h 311153"/>
                      <a:gd name="connsiteX8" fmla="*/ 95886 w 191359"/>
                      <a:gd name="connsiteY8" fmla="*/ 271939 h 311153"/>
                      <a:gd name="connsiteX9" fmla="*/ 134462 w 191359"/>
                      <a:gd name="connsiteY9" fmla="*/ 260218 h 311153"/>
                      <a:gd name="connsiteX10" fmla="*/ 148739 w 191359"/>
                      <a:gd name="connsiteY10" fmla="*/ 228891 h 311153"/>
                      <a:gd name="connsiteX11" fmla="*/ 138086 w 191359"/>
                      <a:gd name="connsiteY11" fmla="*/ 201611 h 311153"/>
                      <a:gd name="connsiteX12" fmla="*/ 111230 w 191359"/>
                      <a:gd name="connsiteY12" fmla="*/ 182642 h 311153"/>
                      <a:gd name="connsiteX13" fmla="*/ 76278 w 191359"/>
                      <a:gd name="connsiteY13" fmla="*/ 166445 h 311153"/>
                      <a:gd name="connsiteX14" fmla="*/ 41326 w 191359"/>
                      <a:gd name="connsiteY14" fmla="*/ 148119 h 311153"/>
                      <a:gd name="connsiteX15" fmla="*/ 14470 w 191359"/>
                      <a:gd name="connsiteY15" fmla="*/ 122330 h 311153"/>
                      <a:gd name="connsiteX16" fmla="*/ 3817 w 191359"/>
                      <a:gd name="connsiteY16" fmla="*/ 83539 h 311153"/>
                      <a:gd name="connsiteX17" fmla="*/ 11275 w 191359"/>
                      <a:gd name="connsiteY17" fmla="*/ 49016 h 311153"/>
                      <a:gd name="connsiteX18" fmla="*/ 31949 w 191359"/>
                      <a:gd name="connsiteY18" fmla="*/ 22803 h 311153"/>
                      <a:gd name="connsiteX19" fmla="*/ 63062 w 191359"/>
                      <a:gd name="connsiteY19" fmla="*/ 5967 h 311153"/>
                      <a:gd name="connsiteX20" fmla="*/ 101424 w 191359"/>
                      <a:gd name="connsiteY20" fmla="*/ 0 h 311153"/>
                      <a:gd name="connsiteX21" fmla="*/ 126570 w 191359"/>
                      <a:gd name="connsiteY21" fmla="*/ 2343 h 311153"/>
                      <a:gd name="connsiteX22" fmla="*/ 148306 w 191359"/>
                      <a:gd name="connsiteY22" fmla="*/ 8096 h 311153"/>
                      <a:gd name="connsiteX23" fmla="*/ 165356 w 191359"/>
                      <a:gd name="connsiteY23" fmla="*/ 15554 h 311153"/>
                      <a:gd name="connsiteX24" fmla="*/ 176867 w 191359"/>
                      <a:gd name="connsiteY24" fmla="*/ 23013 h 311153"/>
                      <a:gd name="connsiteX25" fmla="*/ 181129 w 191359"/>
                      <a:gd name="connsiteY25" fmla="*/ 42191 h 311153"/>
                      <a:gd name="connsiteX26" fmla="*/ 175162 w 191359"/>
                      <a:gd name="connsiteY26" fmla="*/ 52845 h 311153"/>
                      <a:gd name="connsiteX27" fmla="*/ 166423 w 191359"/>
                      <a:gd name="connsiteY27" fmla="*/ 59879 h 311153"/>
                      <a:gd name="connsiteX28" fmla="*/ 155983 w 191359"/>
                      <a:gd name="connsiteY28" fmla="*/ 56683 h 311153"/>
                      <a:gd name="connsiteX29" fmla="*/ 133604 w 191359"/>
                      <a:gd name="connsiteY29" fmla="*/ 45387 h 311153"/>
                      <a:gd name="connsiteX30" fmla="*/ 100572 w 191359"/>
                      <a:gd name="connsiteY30" fmla="*/ 39205 h 311153"/>
                      <a:gd name="connsiteX31" fmla="*/ 61781 w 191359"/>
                      <a:gd name="connsiteY31" fmla="*/ 50502 h 311153"/>
                      <a:gd name="connsiteX32" fmla="*/ 46436 w 191359"/>
                      <a:gd name="connsiteY32" fmla="*/ 81406 h 311153"/>
                      <a:gd name="connsiteX33" fmla="*/ 57090 w 191359"/>
                      <a:gd name="connsiteY33" fmla="*/ 107833 h 311153"/>
                      <a:gd name="connsiteX34" fmla="*/ 83946 w 191359"/>
                      <a:gd name="connsiteY34" fmla="*/ 125949 h 311153"/>
                      <a:gd name="connsiteX35" fmla="*/ 118898 w 191359"/>
                      <a:gd name="connsiteY35" fmla="*/ 141294 h 311153"/>
                      <a:gd name="connsiteX36" fmla="*/ 153850 w 191359"/>
                      <a:gd name="connsiteY36" fmla="*/ 159411 h 311153"/>
                      <a:gd name="connsiteX37" fmla="*/ 180701 w 191359"/>
                      <a:gd name="connsiteY37" fmla="*/ 185623 h 311153"/>
                      <a:gd name="connsiteX38" fmla="*/ 191359 w 191359"/>
                      <a:gd name="connsiteY38" fmla="*/ 225476 h 311153"/>
                      <a:gd name="connsiteX39" fmla="*/ 184963 w 191359"/>
                      <a:gd name="connsiteY39" fmla="*/ 258937 h 311153"/>
                      <a:gd name="connsiteX40" fmla="*/ 166209 w 191359"/>
                      <a:gd name="connsiteY40" fmla="*/ 286003 h 311153"/>
                      <a:gd name="connsiteX41" fmla="*/ 136157 w 191359"/>
                      <a:gd name="connsiteY41" fmla="*/ 304333 h 311153"/>
                      <a:gd name="connsiteX42" fmla="*/ 95880 w 191359"/>
                      <a:gd name="connsiteY42" fmla="*/ 311153 h 311153"/>
                      <a:gd name="connsiteX43" fmla="*/ 65406 w 191359"/>
                      <a:gd name="connsiteY43" fmla="*/ 307958 h 311153"/>
                      <a:gd name="connsiteX44" fmla="*/ 39616 w 191359"/>
                      <a:gd name="connsiteY44" fmla="*/ 299857 h 311153"/>
                      <a:gd name="connsiteX45" fmla="*/ 19371 w 191359"/>
                      <a:gd name="connsiteY45" fmla="*/ 289627 h 311153"/>
                      <a:gd name="connsiteX46" fmla="*/ 5527 w 191359"/>
                      <a:gd name="connsiteY46" fmla="*/ 280035 h 311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1359" h="311153">
                        <a:moveTo>
                          <a:pt x="5527" y="280035"/>
                        </a:moveTo>
                        <a:cubicBezTo>
                          <a:pt x="2679" y="277478"/>
                          <a:pt x="902" y="274639"/>
                          <a:pt x="197" y="271510"/>
                        </a:cubicBezTo>
                        <a:cubicBezTo>
                          <a:pt x="-513" y="268386"/>
                          <a:pt x="693" y="264690"/>
                          <a:pt x="3821" y="260428"/>
                        </a:cubicBezTo>
                        <a:lnTo>
                          <a:pt x="11065" y="250198"/>
                        </a:lnTo>
                        <a:cubicBezTo>
                          <a:pt x="16180" y="243664"/>
                          <a:pt x="22572" y="242811"/>
                          <a:pt x="30244" y="247641"/>
                        </a:cubicBezTo>
                        <a:cubicBezTo>
                          <a:pt x="32801" y="249631"/>
                          <a:pt x="36211" y="251974"/>
                          <a:pt x="40474" y="254675"/>
                        </a:cubicBezTo>
                        <a:cubicBezTo>
                          <a:pt x="44736" y="257380"/>
                          <a:pt x="49637" y="260004"/>
                          <a:pt x="55175" y="262562"/>
                        </a:cubicBezTo>
                        <a:cubicBezTo>
                          <a:pt x="60719" y="265119"/>
                          <a:pt x="66901" y="267324"/>
                          <a:pt x="73721" y="269167"/>
                        </a:cubicBezTo>
                        <a:cubicBezTo>
                          <a:pt x="80541" y="271020"/>
                          <a:pt x="87923" y="271939"/>
                          <a:pt x="95886" y="271939"/>
                        </a:cubicBezTo>
                        <a:cubicBezTo>
                          <a:pt x="112078" y="271939"/>
                          <a:pt x="124937" y="268038"/>
                          <a:pt x="134462" y="260218"/>
                        </a:cubicBezTo>
                        <a:cubicBezTo>
                          <a:pt x="143977" y="252403"/>
                          <a:pt x="148739" y="241964"/>
                          <a:pt x="148739" y="228891"/>
                        </a:cubicBezTo>
                        <a:cubicBezTo>
                          <a:pt x="148739" y="217808"/>
                          <a:pt x="145182" y="208717"/>
                          <a:pt x="138086" y="201611"/>
                        </a:cubicBezTo>
                        <a:cubicBezTo>
                          <a:pt x="130980" y="194510"/>
                          <a:pt x="122026" y="188186"/>
                          <a:pt x="111230" y="182642"/>
                        </a:cubicBezTo>
                        <a:cubicBezTo>
                          <a:pt x="100424" y="177103"/>
                          <a:pt x="88780" y="171707"/>
                          <a:pt x="76278" y="166445"/>
                        </a:cubicBezTo>
                        <a:cubicBezTo>
                          <a:pt x="63772" y="161187"/>
                          <a:pt x="52123" y="155082"/>
                          <a:pt x="41326" y="148119"/>
                        </a:cubicBezTo>
                        <a:cubicBezTo>
                          <a:pt x="30520" y="141161"/>
                          <a:pt x="21576" y="132560"/>
                          <a:pt x="14470" y="122330"/>
                        </a:cubicBezTo>
                        <a:cubicBezTo>
                          <a:pt x="7365" y="112100"/>
                          <a:pt x="3817" y="99174"/>
                          <a:pt x="3817" y="83539"/>
                        </a:cubicBezTo>
                        <a:cubicBezTo>
                          <a:pt x="3817" y="70752"/>
                          <a:pt x="6298" y="59246"/>
                          <a:pt x="11275" y="49016"/>
                        </a:cubicBezTo>
                        <a:cubicBezTo>
                          <a:pt x="16242" y="38786"/>
                          <a:pt x="23134" y="30047"/>
                          <a:pt x="31949" y="22803"/>
                        </a:cubicBezTo>
                        <a:cubicBezTo>
                          <a:pt x="40755" y="15559"/>
                          <a:pt x="51127" y="9949"/>
                          <a:pt x="63062" y="5967"/>
                        </a:cubicBezTo>
                        <a:cubicBezTo>
                          <a:pt x="74997" y="1991"/>
                          <a:pt x="87780" y="0"/>
                          <a:pt x="101424" y="0"/>
                        </a:cubicBezTo>
                        <a:cubicBezTo>
                          <a:pt x="110230" y="0"/>
                          <a:pt x="118612" y="786"/>
                          <a:pt x="126570" y="2343"/>
                        </a:cubicBezTo>
                        <a:cubicBezTo>
                          <a:pt x="134523" y="3910"/>
                          <a:pt x="141767" y="5825"/>
                          <a:pt x="148306" y="8096"/>
                        </a:cubicBezTo>
                        <a:cubicBezTo>
                          <a:pt x="154840" y="10378"/>
                          <a:pt x="160522" y="12859"/>
                          <a:pt x="165356" y="15554"/>
                        </a:cubicBezTo>
                        <a:cubicBezTo>
                          <a:pt x="170185" y="18260"/>
                          <a:pt x="174019" y="20741"/>
                          <a:pt x="176867" y="23013"/>
                        </a:cubicBezTo>
                        <a:cubicBezTo>
                          <a:pt x="183687" y="27847"/>
                          <a:pt x="185101" y="34238"/>
                          <a:pt x="181129" y="42191"/>
                        </a:cubicBezTo>
                        <a:lnTo>
                          <a:pt x="175162" y="52845"/>
                        </a:lnTo>
                        <a:cubicBezTo>
                          <a:pt x="172605" y="57393"/>
                          <a:pt x="169690" y="59736"/>
                          <a:pt x="166423" y="59879"/>
                        </a:cubicBezTo>
                        <a:cubicBezTo>
                          <a:pt x="163151" y="60027"/>
                          <a:pt x="159670" y="58960"/>
                          <a:pt x="155983" y="56683"/>
                        </a:cubicBezTo>
                        <a:cubicBezTo>
                          <a:pt x="150297" y="53273"/>
                          <a:pt x="142834" y="49511"/>
                          <a:pt x="133604" y="45387"/>
                        </a:cubicBezTo>
                        <a:cubicBezTo>
                          <a:pt x="124370" y="41272"/>
                          <a:pt x="113359" y="39205"/>
                          <a:pt x="100572" y="39205"/>
                        </a:cubicBezTo>
                        <a:cubicBezTo>
                          <a:pt x="84941" y="39205"/>
                          <a:pt x="72011" y="42977"/>
                          <a:pt x="61781" y="50502"/>
                        </a:cubicBezTo>
                        <a:cubicBezTo>
                          <a:pt x="51551" y="58036"/>
                          <a:pt x="46436" y="68337"/>
                          <a:pt x="46436" y="81406"/>
                        </a:cubicBezTo>
                        <a:cubicBezTo>
                          <a:pt x="46436" y="92207"/>
                          <a:pt x="49984" y="101013"/>
                          <a:pt x="57090" y="107833"/>
                        </a:cubicBezTo>
                        <a:cubicBezTo>
                          <a:pt x="64186" y="114653"/>
                          <a:pt x="73140" y="120696"/>
                          <a:pt x="83946" y="125949"/>
                        </a:cubicBezTo>
                        <a:cubicBezTo>
                          <a:pt x="94743" y="131212"/>
                          <a:pt x="106387" y="136327"/>
                          <a:pt x="118898" y="141294"/>
                        </a:cubicBezTo>
                        <a:cubicBezTo>
                          <a:pt x="131395" y="146266"/>
                          <a:pt x="143044" y="152310"/>
                          <a:pt x="153850" y="159411"/>
                        </a:cubicBezTo>
                        <a:cubicBezTo>
                          <a:pt x="164647" y="166516"/>
                          <a:pt x="173595" y="175255"/>
                          <a:pt x="180701" y="185623"/>
                        </a:cubicBezTo>
                        <a:cubicBezTo>
                          <a:pt x="187802" y="196001"/>
                          <a:pt x="191359" y="209279"/>
                          <a:pt x="191359" y="225476"/>
                        </a:cubicBezTo>
                        <a:cubicBezTo>
                          <a:pt x="191359" y="237411"/>
                          <a:pt x="189226" y="248569"/>
                          <a:pt x="184963" y="258937"/>
                        </a:cubicBezTo>
                        <a:cubicBezTo>
                          <a:pt x="180696" y="269315"/>
                          <a:pt x="174448" y="278330"/>
                          <a:pt x="166209" y="286003"/>
                        </a:cubicBezTo>
                        <a:cubicBezTo>
                          <a:pt x="157970" y="293675"/>
                          <a:pt x="147949" y="299790"/>
                          <a:pt x="136157" y="304333"/>
                        </a:cubicBezTo>
                        <a:cubicBezTo>
                          <a:pt x="124361" y="308877"/>
                          <a:pt x="110935" y="311153"/>
                          <a:pt x="95880" y="311153"/>
                        </a:cubicBezTo>
                        <a:cubicBezTo>
                          <a:pt x="85075" y="311153"/>
                          <a:pt x="74921" y="310087"/>
                          <a:pt x="65406" y="307958"/>
                        </a:cubicBezTo>
                        <a:cubicBezTo>
                          <a:pt x="55881" y="305824"/>
                          <a:pt x="47289" y="303129"/>
                          <a:pt x="39616" y="299857"/>
                        </a:cubicBezTo>
                        <a:cubicBezTo>
                          <a:pt x="31949" y="296594"/>
                          <a:pt x="25196" y="293184"/>
                          <a:pt x="19371" y="289627"/>
                        </a:cubicBezTo>
                        <a:cubicBezTo>
                          <a:pt x="13546" y="286074"/>
                          <a:pt x="8936" y="282878"/>
                          <a:pt x="5527" y="280035"/>
                        </a:cubicBezTo>
                        <a:close/>
                      </a:path>
                    </a:pathLst>
                  </a:custGeom>
                  <a:solidFill>
                    <a:srgbClr val="FDAF00"/>
                  </a:solidFill>
                  <a:ln w="4763" cap="flat">
                    <a:noFill/>
                    <a:prstDash val="solid"/>
                    <a:miter/>
                  </a:ln>
                </p:spPr>
                <p:txBody>
                  <a:bodyPr rtlCol="0" anchor="ctr"/>
                  <a:lstStyle/>
                  <a:p>
                    <a:endParaRPr lang="en-GB" sz="3200"/>
                  </a:p>
                </p:txBody>
              </p:sp>
            </p:grpSp>
            <p:grpSp>
              <p:nvGrpSpPr>
                <p:cNvPr id="64" name="Graphic 72">
                  <a:extLst>
                    <a:ext uri="{FF2B5EF4-FFF2-40B4-BE49-F238E27FC236}">
                      <a16:creationId xmlns:a16="http://schemas.microsoft.com/office/drawing/2014/main" id="{6BE0E0A6-DB5E-472B-9530-0EB4A55E4CE6}"/>
                    </a:ext>
                  </a:extLst>
                </p:cNvPr>
                <p:cNvGrpSpPr/>
                <p:nvPr/>
              </p:nvGrpSpPr>
              <p:grpSpPr>
                <a:xfrm>
                  <a:off x="5116063" y="3329382"/>
                  <a:ext cx="1302239" cy="393277"/>
                  <a:chOff x="5116063" y="3329382"/>
                  <a:chExt cx="1302239" cy="393277"/>
                </a:xfrm>
                <a:solidFill>
                  <a:srgbClr val="003D7C"/>
                </a:solidFill>
              </p:grpSpPr>
              <p:sp>
                <p:nvSpPr>
                  <p:cNvPr id="66" name="Freeform: Shape 65">
                    <a:extLst>
                      <a:ext uri="{FF2B5EF4-FFF2-40B4-BE49-F238E27FC236}">
                        <a16:creationId xmlns:a16="http://schemas.microsoft.com/office/drawing/2014/main" id="{7AB15F81-8163-4C18-822D-26952B6F82BB}"/>
                      </a:ext>
                    </a:extLst>
                  </p:cNvPr>
                  <p:cNvSpPr/>
                  <p:nvPr/>
                </p:nvSpPr>
                <p:spPr>
                  <a:xfrm>
                    <a:off x="5116063" y="3329382"/>
                    <a:ext cx="376246" cy="376242"/>
                  </a:xfrm>
                  <a:custGeom>
                    <a:avLst/>
                    <a:gdLst>
                      <a:gd name="connsiteX0" fmla="*/ 84754 w 376246"/>
                      <a:gd name="connsiteY0" fmla="*/ 345353 h 376242"/>
                      <a:gd name="connsiteX1" fmla="*/ 30099 w 376246"/>
                      <a:gd name="connsiteY1" fmla="*/ 291094 h 376242"/>
                      <a:gd name="connsiteX2" fmla="*/ 0 w 376246"/>
                      <a:gd name="connsiteY2" fmla="*/ 188519 h 376242"/>
                      <a:gd name="connsiteX3" fmla="*/ 188123 w 376246"/>
                      <a:gd name="connsiteY3" fmla="*/ 0 h 376242"/>
                      <a:gd name="connsiteX4" fmla="*/ 376247 w 376246"/>
                      <a:gd name="connsiteY4" fmla="*/ 188123 h 376242"/>
                      <a:gd name="connsiteX5" fmla="*/ 335852 w 376246"/>
                      <a:gd name="connsiteY5" fmla="*/ 305352 h 376242"/>
                      <a:gd name="connsiteX6" fmla="*/ 291493 w 376246"/>
                      <a:gd name="connsiteY6" fmla="*/ 345353 h 376242"/>
                      <a:gd name="connsiteX7" fmla="*/ 291493 w 376246"/>
                      <a:gd name="connsiteY7" fmla="*/ 235253 h 376242"/>
                      <a:gd name="connsiteX8" fmla="*/ 310106 w 376246"/>
                      <a:gd name="connsiteY8" fmla="*/ 235253 h 376242"/>
                      <a:gd name="connsiteX9" fmla="*/ 310106 w 376246"/>
                      <a:gd name="connsiteY9" fmla="*/ 310501 h 376242"/>
                      <a:gd name="connsiteX10" fmla="*/ 337432 w 376246"/>
                      <a:gd name="connsiteY10" fmla="*/ 272482 h 376242"/>
                      <a:gd name="connsiteX11" fmla="*/ 358816 w 376246"/>
                      <a:gd name="connsiteY11" fmla="*/ 188123 h 376242"/>
                      <a:gd name="connsiteX12" fmla="*/ 188123 w 376246"/>
                      <a:gd name="connsiteY12" fmla="*/ 15845 h 376242"/>
                      <a:gd name="connsiteX13" fmla="*/ 17426 w 376246"/>
                      <a:gd name="connsiteY13" fmla="*/ 189314 h 376242"/>
                      <a:gd name="connsiteX14" fmla="*/ 65746 w 376246"/>
                      <a:gd name="connsiteY14" fmla="*/ 310505 h 376242"/>
                      <a:gd name="connsiteX15" fmla="*/ 65746 w 376246"/>
                      <a:gd name="connsiteY15" fmla="*/ 235258 h 376242"/>
                      <a:gd name="connsiteX16" fmla="*/ 84758 w 376246"/>
                      <a:gd name="connsiteY16" fmla="*/ 235258 h 376242"/>
                      <a:gd name="connsiteX17" fmla="*/ 84758 w 376246"/>
                      <a:gd name="connsiteY17" fmla="*/ 345353 h 376242"/>
                      <a:gd name="connsiteX18" fmla="*/ 121977 w 376246"/>
                      <a:gd name="connsiteY18" fmla="*/ 364365 h 376242"/>
                      <a:gd name="connsiteX19" fmla="*/ 103361 w 376246"/>
                      <a:gd name="connsiteY19" fmla="*/ 356049 h 376242"/>
                      <a:gd name="connsiteX20" fmla="*/ 103361 w 376246"/>
                      <a:gd name="connsiteY20" fmla="*/ 235253 h 376242"/>
                      <a:gd name="connsiteX21" fmla="*/ 121977 w 376246"/>
                      <a:gd name="connsiteY21" fmla="*/ 235253 h 376242"/>
                      <a:gd name="connsiteX22" fmla="*/ 121977 w 376246"/>
                      <a:gd name="connsiteY22" fmla="*/ 364365 h 376242"/>
                      <a:gd name="connsiteX23" fmla="*/ 235248 w 376246"/>
                      <a:gd name="connsiteY23" fmla="*/ 99012 h 376242"/>
                      <a:gd name="connsiteX24" fmla="*/ 188119 w 376246"/>
                      <a:gd name="connsiteY24" fmla="*/ 62574 h 376242"/>
                      <a:gd name="connsiteX25" fmla="*/ 140989 w 376246"/>
                      <a:gd name="connsiteY25" fmla="*/ 99012 h 376242"/>
                      <a:gd name="connsiteX26" fmla="*/ 130693 w 376246"/>
                      <a:gd name="connsiteY26" fmla="*/ 85549 h 376242"/>
                      <a:gd name="connsiteX27" fmla="*/ 188119 w 376246"/>
                      <a:gd name="connsiteY27" fmla="*/ 40795 h 376242"/>
                      <a:gd name="connsiteX28" fmla="*/ 245545 w 376246"/>
                      <a:gd name="connsiteY28" fmla="*/ 85549 h 376242"/>
                      <a:gd name="connsiteX29" fmla="*/ 235248 w 376246"/>
                      <a:gd name="connsiteY29" fmla="*/ 99012 h 376242"/>
                      <a:gd name="connsiteX30" fmla="*/ 159605 w 376246"/>
                      <a:gd name="connsiteY30" fmla="*/ 374266 h 376242"/>
                      <a:gd name="connsiteX31" fmla="*/ 150100 w 376246"/>
                      <a:gd name="connsiteY31" fmla="*/ 372285 h 376242"/>
                      <a:gd name="connsiteX32" fmla="*/ 140989 w 376246"/>
                      <a:gd name="connsiteY32" fmla="*/ 370303 h 376242"/>
                      <a:gd name="connsiteX33" fmla="*/ 140989 w 376246"/>
                      <a:gd name="connsiteY33" fmla="*/ 112871 h 376242"/>
                      <a:gd name="connsiteX34" fmla="*/ 159601 w 376246"/>
                      <a:gd name="connsiteY34" fmla="*/ 112871 h 376242"/>
                      <a:gd name="connsiteX35" fmla="*/ 159601 w 376246"/>
                      <a:gd name="connsiteY35" fmla="*/ 374266 h 376242"/>
                      <a:gd name="connsiteX36" fmla="*/ 197229 w 376246"/>
                      <a:gd name="connsiteY36" fmla="*/ 375847 h 376242"/>
                      <a:gd name="connsiteX37" fmla="*/ 189705 w 376246"/>
                      <a:gd name="connsiteY37" fmla="*/ 376242 h 376242"/>
                      <a:gd name="connsiteX38" fmla="*/ 178618 w 376246"/>
                      <a:gd name="connsiteY38" fmla="*/ 375847 h 376242"/>
                      <a:gd name="connsiteX39" fmla="*/ 178618 w 376246"/>
                      <a:gd name="connsiteY39" fmla="*/ 112871 h 376242"/>
                      <a:gd name="connsiteX40" fmla="*/ 197229 w 376246"/>
                      <a:gd name="connsiteY40" fmla="*/ 112871 h 376242"/>
                      <a:gd name="connsiteX41" fmla="*/ 197229 w 376246"/>
                      <a:gd name="connsiteY41" fmla="*/ 375847 h 376242"/>
                      <a:gd name="connsiteX42" fmla="*/ 234853 w 376246"/>
                      <a:gd name="connsiteY42" fmla="*/ 369908 h 376242"/>
                      <a:gd name="connsiteX43" fmla="*/ 216236 w 376246"/>
                      <a:gd name="connsiteY43" fmla="*/ 374661 h 376242"/>
                      <a:gd name="connsiteX44" fmla="*/ 216236 w 376246"/>
                      <a:gd name="connsiteY44" fmla="*/ 112876 h 376242"/>
                      <a:gd name="connsiteX45" fmla="*/ 234853 w 376246"/>
                      <a:gd name="connsiteY45" fmla="*/ 112876 h 376242"/>
                      <a:gd name="connsiteX46" fmla="*/ 234853 w 376246"/>
                      <a:gd name="connsiteY46" fmla="*/ 369908 h 376242"/>
                      <a:gd name="connsiteX47" fmla="*/ 272872 w 376246"/>
                      <a:gd name="connsiteY47" fmla="*/ 356049 h 376242"/>
                      <a:gd name="connsiteX48" fmla="*/ 253860 w 376246"/>
                      <a:gd name="connsiteY48" fmla="*/ 364765 h 376242"/>
                      <a:gd name="connsiteX49" fmla="*/ 253860 w 376246"/>
                      <a:gd name="connsiteY49" fmla="*/ 235253 h 376242"/>
                      <a:gd name="connsiteX50" fmla="*/ 272872 w 376246"/>
                      <a:gd name="connsiteY50" fmla="*/ 235253 h 376242"/>
                      <a:gd name="connsiteX51" fmla="*/ 272872 w 376246"/>
                      <a:gd name="connsiteY51" fmla="*/ 356049 h 376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76246" h="376242">
                        <a:moveTo>
                          <a:pt x="84754" y="345353"/>
                        </a:moveTo>
                        <a:cubicBezTo>
                          <a:pt x="57821" y="325946"/>
                          <a:pt x="43562" y="311691"/>
                          <a:pt x="30099" y="291094"/>
                        </a:cubicBezTo>
                        <a:cubicBezTo>
                          <a:pt x="10692" y="260995"/>
                          <a:pt x="0" y="224557"/>
                          <a:pt x="0" y="188519"/>
                        </a:cubicBezTo>
                        <a:cubicBezTo>
                          <a:pt x="0" y="84358"/>
                          <a:pt x="83963" y="0"/>
                          <a:pt x="188123" y="0"/>
                        </a:cubicBezTo>
                        <a:cubicBezTo>
                          <a:pt x="291889" y="0"/>
                          <a:pt x="376247" y="84358"/>
                          <a:pt x="376247" y="188123"/>
                        </a:cubicBezTo>
                        <a:cubicBezTo>
                          <a:pt x="376247" y="230896"/>
                          <a:pt x="361592" y="273668"/>
                          <a:pt x="335852" y="305352"/>
                        </a:cubicBezTo>
                        <a:cubicBezTo>
                          <a:pt x="325160" y="318816"/>
                          <a:pt x="316049" y="326741"/>
                          <a:pt x="291493" y="345353"/>
                        </a:cubicBezTo>
                        <a:lnTo>
                          <a:pt x="291493" y="235253"/>
                        </a:lnTo>
                        <a:lnTo>
                          <a:pt x="310106" y="235253"/>
                        </a:lnTo>
                        <a:lnTo>
                          <a:pt x="310106" y="310501"/>
                        </a:lnTo>
                        <a:cubicBezTo>
                          <a:pt x="323969" y="294265"/>
                          <a:pt x="330698" y="284364"/>
                          <a:pt x="337432" y="272482"/>
                        </a:cubicBezTo>
                        <a:cubicBezTo>
                          <a:pt x="351291" y="247926"/>
                          <a:pt x="358816" y="217432"/>
                          <a:pt x="358816" y="188123"/>
                        </a:cubicBezTo>
                        <a:cubicBezTo>
                          <a:pt x="358816" y="93073"/>
                          <a:pt x="282378" y="15845"/>
                          <a:pt x="188123" y="15845"/>
                        </a:cubicBezTo>
                        <a:cubicBezTo>
                          <a:pt x="93469" y="15845"/>
                          <a:pt x="17426" y="93073"/>
                          <a:pt x="17426" y="189314"/>
                        </a:cubicBezTo>
                        <a:cubicBezTo>
                          <a:pt x="17426" y="233277"/>
                          <a:pt x="32871" y="272086"/>
                          <a:pt x="65746" y="310505"/>
                        </a:cubicBezTo>
                        <a:lnTo>
                          <a:pt x="65746" y="235258"/>
                        </a:lnTo>
                        <a:lnTo>
                          <a:pt x="84758" y="235258"/>
                        </a:lnTo>
                        <a:lnTo>
                          <a:pt x="84758" y="345353"/>
                        </a:lnTo>
                        <a:close/>
                        <a:moveTo>
                          <a:pt x="121977" y="364365"/>
                        </a:moveTo>
                        <a:cubicBezTo>
                          <a:pt x="118415" y="363574"/>
                          <a:pt x="110094" y="359611"/>
                          <a:pt x="103361" y="356049"/>
                        </a:cubicBezTo>
                        <a:lnTo>
                          <a:pt x="103361" y="235253"/>
                        </a:lnTo>
                        <a:lnTo>
                          <a:pt x="121977" y="235253"/>
                        </a:lnTo>
                        <a:lnTo>
                          <a:pt x="121977" y="364365"/>
                        </a:lnTo>
                        <a:close/>
                        <a:moveTo>
                          <a:pt x="235248" y="99012"/>
                        </a:moveTo>
                        <a:lnTo>
                          <a:pt x="188119" y="62574"/>
                        </a:lnTo>
                        <a:lnTo>
                          <a:pt x="140989" y="99012"/>
                        </a:lnTo>
                        <a:lnTo>
                          <a:pt x="130693" y="85549"/>
                        </a:lnTo>
                        <a:lnTo>
                          <a:pt x="188119" y="40795"/>
                        </a:lnTo>
                        <a:lnTo>
                          <a:pt x="245545" y="85549"/>
                        </a:lnTo>
                        <a:lnTo>
                          <a:pt x="235248" y="99012"/>
                        </a:lnTo>
                        <a:close/>
                        <a:moveTo>
                          <a:pt x="159605" y="374266"/>
                        </a:moveTo>
                        <a:cubicBezTo>
                          <a:pt x="152871" y="373080"/>
                          <a:pt x="152476" y="373080"/>
                          <a:pt x="150100" y="372285"/>
                        </a:cubicBezTo>
                        <a:cubicBezTo>
                          <a:pt x="148118" y="371889"/>
                          <a:pt x="147328" y="371889"/>
                          <a:pt x="140989" y="370303"/>
                        </a:cubicBezTo>
                        <a:lnTo>
                          <a:pt x="140989" y="112871"/>
                        </a:lnTo>
                        <a:lnTo>
                          <a:pt x="159601" y="112871"/>
                        </a:lnTo>
                        <a:lnTo>
                          <a:pt x="159601" y="374266"/>
                        </a:lnTo>
                        <a:close/>
                        <a:moveTo>
                          <a:pt x="197229" y="375847"/>
                        </a:moveTo>
                        <a:cubicBezTo>
                          <a:pt x="194457" y="376242"/>
                          <a:pt x="193667" y="376242"/>
                          <a:pt x="189705" y="376242"/>
                        </a:cubicBezTo>
                        <a:cubicBezTo>
                          <a:pt x="183766" y="376242"/>
                          <a:pt x="181785" y="376242"/>
                          <a:pt x="178618" y="375847"/>
                        </a:cubicBezTo>
                        <a:lnTo>
                          <a:pt x="178618" y="112871"/>
                        </a:lnTo>
                        <a:lnTo>
                          <a:pt x="197229" y="112871"/>
                        </a:lnTo>
                        <a:lnTo>
                          <a:pt x="197229" y="375847"/>
                        </a:lnTo>
                        <a:close/>
                        <a:moveTo>
                          <a:pt x="234853" y="369908"/>
                        </a:moveTo>
                        <a:cubicBezTo>
                          <a:pt x="228909" y="371889"/>
                          <a:pt x="223761" y="373075"/>
                          <a:pt x="216236" y="374661"/>
                        </a:cubicBezTo>
                        <a:lnTo>
                          <a:pt x="216236" y="112876"/>
                        </a:lnTo>
                        <a:lnTo>
                          <a:pt x="234853" y="112876"/>
                        </a:lnTo>
                        <a:lnTo>
                          <a:pt x="234853" y="369908"/>
                        </a:lnTo>
                        <a:close/>
                        <a:moveTo>
                          <a:pt x="272872" y="356049"/>
                        </a:moveTo>
                        <a:cubicBezTo>
                          <a:pt x="266928" y="358821"/>
                          <a:pt x="263366" y="360407"/>
                          <a:pt x="253860" y="364765"/>
                        </a:cubicBezTo>
                        <a:lnTo>
                          <a:pt x="253860" y="235253"/>
                        </a:lnTo>
                        <a:lnTo>
                          <a:pt x="272872" y="235253"/>
                        </a:lnTo>
                        <a:lnTo>
                          <a:pt x="272872" y="356049"/>
                        </a:lnTo>
                        <a:close/>
                      </a:path>
                    </a:pathLst>
                  </a:custGeom>
                  <a:solidFill>
                    <a:srgbClr val="003D7C"/>
                  </a:solidFill>
                  <a:ln w="4763" cap="flat">
                    <a:noFill/>
                    <a:prstDash val="solid"/>
                    <a:miter/>
                  </a:ln>
                </p:spPr>
                <p:txBody>
                  <a:bodyPr rtlCol="0" anchor="ctr"/>
                  <a:lstStyle/>
                  <a:p>
                    <a:endParaRPr lang="en-GB" sz="3200"/>
                  </a:p>
                </p:txBody>
              </p:sp>
              <p:sp>
                <p:nvSpPr>
                  <p:cNvPr id="67" name="Freeform: Shape 66">
                    <a:extLst>
                      <a:ext uri="{FF2B5EF4-FFF2-40B4-BE49-F238E27FC236}">
                        <a16:creationId xmlns:a16="http://schemas.microsoft.com/office/drawing/2014/main" id="{385C7A09-8D4C-47D2-9A49-A9A5568AB546}"/>
                      </a:ext>
                    </a:extLst>
                  </p:cNvPr>
                  <p:cNvSpPr/>
                  <p:nvPr/>
                </p:nvSpPr>
                <p:spPr>
                  <a:xfrm>
                    <a:off x="5563209" y="3347204"/>
                    <a:ext cx="276438" cy="375456"/>
                  </a:xfrm>
                  <a:custGeom>
                    <a:avLst/>
                    <a:gdLst>
                      <a:gd name="connsiteX0" fmla="*/ 40791 w 276438"/>
                      <a:gd name="connsiteY0" fmla="*/ 795 h 375456"/>
                      <a:gd name="connsiteX1" fmla="*/ 53068 w 276438"/>
                      <a:gd name="connsiteY1" fmla="*/ 0 h 375456"/>
                      <a:gd name="connsiteX2" fmla="*/ 90692 w 276438"/>
                      <a:gd name="connsiteY2" fmla="*/ 33266 h 375456"/>
                      <a:gd name="connsiteX3" fmla="*/ 66932 w 276438"/>
                      <a:gd name="connsiteY3" fmla="*/ 64951 h 375456"/>
                      <a:gd name="connsiteX4" fmla="*/ 98617 w 276438"/>
                      <a:gd name="connsiteY4" fmla="*/ 101784 h 375456"/>
                      <a:gd name="connsiteX5" fmla="*/ 77228 w 276438"/>
                      <a:gd name="connsiteY5" fmla="*/ 134655 h 375456"/>
                      <a:gd name="connsiteX6" fmla="*/ 51087 w 276438"/>
                      <a:gd name="connsiteY6" fmla="*/ 137822 h 375456"/>
                      <a:gd name="connsiteX7" fmla="*/ 38809 w 276438"/>
                      <a:gd name="connsiteY7" fmla="*/ 137822 h 375456"/>
                      <a:gd name="connsiteX8" fmla="*/ 22970 w 276438"/>
                      <a:gd name="connsiteY8" fmla="*/ 137427 h 375456"/>
                      <a:gd name="connsiteX9" fmla="*/ 0 w 276438"/>
                      <a:gd name="connsiteY9" fmla="*/ 137427 h 375456"/>
                      <a:gd name="connsiteX10" fmla="*/ 0 w 276438"/>
                      <a:gd name="connsiteY10" fmla="*/ 129507 h 375456"/>
                      <a:gd name="connsiteX11" fmla="*/ 13463 w 276438"/>
                      <a:gd name="connsiteY11" fmla="*/ 127130 h 375456"/>
                      <a:gd name="connsiteX12" fmla="*/ 13463 w 276438"/>
                      <a:gd name="connsiteY12" fmla="*/ 11882 h 375456"/>
                      <a:gd name="connsiteX13" fmla="*/ 0 w 276438"/>
                      <a:gd name="connsiteY13" fmla="*/ 9506 h 375456"/>
                      <a:gd name="connsiteX14" fmla="*/ 0 w 276438"/>
                      <a:gd name="connsiteY14" fmla="*/ 1191 h 375456"/>
                      <a:gd name="connsiteX15" fmla="*/ 24160 w 276438"/>
                      <a:gd name="connsiteY15" fmla="*/ 1191 h 375456"/>
                      <a:gd name="connsiteX16" fmla="*/ 40791 w 276438"/>
                      <a:gd name="connsiteY16" fmla="*/ 795 h 375456"/>
                      <a:gd name="connsiteX17" fmla="*/ 790 w 276438"/>
                      <a:gd name="connsiteY17" fmla="*/ 339809 h 375456"/>
                      <a:gd name="connsiteX18" fmla="*/ 790 w 276438"/>
                      <a:gd name="connsiteY18" fmla="*/ 331889 h 375456"/>
                      <a:gd name="connsiteX19" fmla="*/ 13463 w 276438"/>
                      <a:gd name="connsiteY19" fmla="*/ 329512 h 375456"/>
                      <a:gd name="connsiteX20" fmla="*/ 13463 w 276438"/>
                      <a:gd name="connsiteY20" fmla="*/ 213870 h 375456"/>
                      <a:gd name="connsiteX21" fmla="*/ 790 w 276438"/>
                      <a:gd name="connsiteY21" fmla="*/ 211888 h 375456"/>
                      <a:gd name="connsiteX22" fmla="*/ 790 w 276438"/>
                      <a:gd name="connsiteY22" fmla="*/ 203173 h 375456"/>
                      <a:gd name="connsiteX23" fmla="*/ 46334 w 276438"/>
                      <a:gd name="connsiteY23" fmla="*/ 203173 h 375456"/>
                      <a:gd name="connsiteX24" fmla="*/ 46334 w 276438"/>
                      <a:gd name="connsiteY24" fmla="*/ 211488 h 375456"/>
                      <a:gd name="connsiteX25" fmla="*/ 34452 w 276438"/>
                      <a:gd name="connsiteY25" fmla="*/ 213865 h 375456"/>
                      <a:gd name="connsiteX26" fmla="*/ 34452 w 276438"/>
                      <a:gd name="connsiteY26" fmla="*/ 329112 h 375456"/>
                      <a:gd name="connsiteX27" fmla="*/ 45939 w 276438"/>
                      <a:gd name="connsiteY27" fmla="*/ 331489 h 375456"/>
                      <a:gd name="connsiteX28" fmla="*/ 45939 w 276438"/>
                      <a:gd name="connsiteY28" fmla="*/ 339804 h 375456"/>
                      <a:gd name="connsiteX29" fmla="*/ 790 w 276438"/>
                      <a:gd name="connsiteY29" fmla="*/ 339804 h 375456"/>
                      <a:gd name="connsiteX30" fmla="*/ 43167 w 276438"/>
                      <a:gd name="connsiteY30" fmla="*/ 61389 h 375456"/>
                      <a:gd name="connsiteX31" fmla="*/ 68118 w 276438"/>
                      <a:gd name="connsiteY31" fmla="*/ 34061 h 375456"/>
                      <a:gd name="connsiteX32" fmla="*/ 45544 w 276438"/>
                      <a:gd name="connsiteY32" fmla="*/ 8715 h 375456"/>
                      <a:gd name="connsiteX33" fmla="*/ 33266 w 276438"/>
                      <a:gd name="connsiteY33" fmla="*/ 11092 h 375456"/>
                      <a:gd name="connsiteX34" fmla="*/ 33266 w 276438"/>
                      <a:gd name="connsiteY34" fmla="*/ 61389 h 375456"/>
                      <a:gd name="connsiteX35" fmla="*/ 43167 w 276438"/>
                      <a:gd name="connsiteY35" fmla="*/ 61389 h 375456"/>
                      <a:gd name="connsiteX36" fmla="*/ 33266 w 276438"/>
                      <a:gd name="connsiteY36" fmla="*/ 126344 h 375456"/>
                      <a:gd name="connsiteX37" fmla="*/ 45544 w 276438"/>
                      <a:gd name="connsiteY37" fmla="*/ 129511 h 375456"/>
                      <a:gd name="connsiteX38" fmla="*/ 75642 w 276438"/>
                      <a:gd name="connsiteY38" fmla="*/ 99412 h 375456"/>
                      <a:gd name="connsiteX39" fmla="*/ 41981 w 276438"/>
                      <a:gd name="connsiteY39" fmla="*/ 70899 h 375456"/>
                      <a:gd name="connsiteX40" fmla="*/ 33266 w 276438"/>
                      <a:gd name="connsiteY40" fmla="*/ 70899 h 375456"/>
                      <a:gd name="connsiteX41" fmla="*/ 33266 w 276438"/>
                      <a:gd name="connsiteY41" fmla="*/ 126344 h 375456"/>
                      <a:gd name="connsiteX42" fmla="*/ 108913 w 276438"/>
                      <a:gd name="connsiteY42" fmla="*/ 339809 h 375456"/>
                      <a:gd name="connsiteX43" fmla="*/ 108913 w 276438"/>
                      <a:gd name="connsiteY43" fmla="*/ 331889 h 375456"/>
                      <a:gd name="connsiteX44" fmla="*/ 119210 w 276438"/>
                      <a:gd name="connsiteY44" fmla="*/ 329908 h 375456"/>
                      <a:gd name="connsiteX45" fmla="*/ 119210 w 276438"/>
                      <a:gd name="connsiteY45" fmla="*/ 272086 h 375456"/>
                      <a:gd name="connsiteX46" fmla="*/ 108118 w 276438"/>
                      <a:gd name="connsiteY46" fmla="*/ 255846 h 375456"/>
                      <a:gd name="connsiteX47" fmla="*/ 89506 w 276438"/>
                      <a:gd name="connsiteY47" fmla="*/ 264561 h 375456"/>
                      <a:gd name="connsiteX48" fmla="*/ 89506 w 276438"/>
                      <a:gd name="connsiteY48" fmla="*/ 329117 h 375456"/>
                      <a:gd name="connsiteX49" fmla="*/ 99803 w 276438"/>
                      <a:gd name="connsiteY49" fmla="*/ 331494 h 375456"/>
                      <a:gd name="connsiteX50" fmla="*/ 99803 w 276438"/>
                      <a:gd name="connsiteY50" fmla="*/ 339809 h 375456"/>
                      <a:gd name="connsiteX51" fmla="*/ 59012 w 276438"/>
                      <a:gd name="connsiteY51" fmla="*/ 339809 h 375456"/>
                      <a:gd name="connsiteX52" fmla="*/ 59012 w 276438"/>
                      <a:gd name="connsiteY52" fmla="*/ 331889 h 375456"/>
                      <a:gd name="connsiteX53" fmla="*/ 70499 w 276438"/>
                      <a:gd name="connsiteY53" fmla="*/ 329512 h 375456"/>
                      <a:gd name="connsiteX54" fmla="*/ 70499 w 276438"/>
                      <a:gd name="connsiteY54" fmla="*/ 257432 h 375456"/>
                      <a:gd name="connsiteX55" fmla="*/ 59012 w 276438"/>
                      <a:gd name="connsiteY55" fmla="*/ 255846 h 375456"/>
                      <a:gd name="connsiteX56" fmla="*/ 59012 w 276438"/>
                      <a:gd name="connsiteY56" fmla="*/ 247926 h 375456"/>
                      <a:gd name="connsiteX57" fmla="*/ 83568 w 276438"/>
                      <a:gd name="connsiteY57" fmla="*/ 241587 h 375456"/>
                      <a:gd name="connsiteX58" fmla="*/ 89111 w 276438"/>
                      <a:gd name="connsiteY58" fmla="*/ 241587 h 375456"/>
                      <a:gd name="connsiteX59" fmla="*/ 89111 w 276438"/>
                      <a:gd name="connsiteY59" fmla="*/ 253470 h 375456"/>
                      <a:gd name="connsiteX60" fmla="*/ 115252 w 276438"/>
                      <a:gd name="connsiteY60" fmla="*/ 241983 h 375456"/>
                      <a:gd name="connsiteX61" fmla="*/ 138617 w 276438"/>
                      <a:gd name="connsiteY61" fmla="*/ 267724 h 375456"/>
                      <a:gd name="connsiteX62" fmla="*/ 138617 w 276438"/>
                      <a:gd name="connsiteY62" fmla="*/ 329112 h 375456"/>
                      <a:gd name="connsiteX63" fmla="*/ 148914 w 276438"/>
                      <a:gd name="connsiteY63" fmla="*/ 331489 h 375456"/>
                      <a:gd name="connsiteX64" fmla="*/ 148914 w 276438"/>
                      <a:gd name="connsiteY64" fmla="*/ 339804 h 375456"/>
                      <a:gd name="connsiteX65" fmla="*/ 108913 w 276438"/>
                      <a:gd name="connsiteY65" fmla="*/ 339804 h 375456"/>
                      <a:gd name="connsiteX66" fmla="*/ 191685 w 276438"/>
                      <a:gd name="connsiteY66" fmla="*/ 87135 h 375456"/>
                      <a:gd name="connsiteX67" fmla="*/ 151686 w 276438"/>
                      <a:gd name="connsiteY67" fmla="*/ 139413 h 375456"/>
                      <a:gd name="connsiteX68" fmla="*/ 113666 w 276438"/>
                      <a:gd name="connsiteY68" fmla="*/ 90702 h 375456"/>
                      <a:gd name="connsiteX69" fmla="*/ 153667 w 276438"/>
                      <a:gd name="connsiteY69" fmla="*/ 38424 h 375456"/>
                      <a:gd name="connsiteX70" fmla="*/ 191685 w 276438"/>
                      <a:gd name="connsiteY70" fmla="*/ 87135 h 375456"/>
                      <a:gd name="connsiteX71" fmla="*/ 134655 w 276438"/>
                      <a:gd name="connsiteY71" fmla="*/ 89906 h 375456"/>
                      <a:gd name="connsiteX72" fmla="*/ 152081 w 276438"/>
                      <a:gd name="connsiteY72" fmla="*/ 129511 h 375456"/>
                      <a:gd name="connsiteX73" fmla="*/ 170297 w 276438"/>
                      <a:gd name="connsiteY73" fmla="*/ 84758 h 375456"/>
                      <a:gd name="connsiteX74" fmla="*/ 152871 w 276438"/>
                      <a:gd name="connsiteY74" fmla="*/ 47925 h 375456"/>
                      <a:gd name="connsiteX75" fmla="*/ 134655 w 276438"/>
                      <a:gd name="connsiteY75" fmla="*/ 89906 h 375456"/>
                      <a:gd name="connsiteX76" fmla="*/ 225352 w 276438"/>
                      <a:gd name="connsiteY76" fmla="*/ 255056 h 375456"/>
                      <a:gd name="connsiteX77" fmla="*/ 232481 w 276438"/>
                      <a:gd name="connsiteY77" fmla="*/ 274463 h 375456"/>
                      <a:gd name="connsiteX78" fmla="*/ 199215 w 276438"/>
                      <a:gd name="connsiteY78" fmla="*/ 306148 h 375456"/>
                      <a:gd name="connsiteX79" fmla="*/ 188523 w 276438"/>
                      <a:gd name="connsiteY79" fmla="*/ 304562 h 375456"/>
                      <a:gd name="connsiteX80" fmla="*/ 180999 w 276438"/>
                      <a:gd name="connsiteY80" fmla="*/ 313277 h 375456"/>
                      <a:gd name="connsiteX81" fmla="*/ 189314 w 276438"/>
                      <a:gd name="connsiteY81" fmla="*/ 317240 h 375456"/>
                      <a:gd name="connsiteX82" fmla="*/ 213074 w 276438"/>
                      <a:gd name="connsiteY82" fmla="*/ 318425 h 375456"/>
                      <a:gd name="connsiteX83" fmla="*/ 240401 w 276438"/>
                      <a:gd name="connsiteY83" fmla="*/ 341000 h 375456"/>
                      <a:gd name="connsiteX84" fmla="*/ 193271 w 276438"/>
                      <a:gd name="connsiteY84" fmla="*/ 375456 h 375456"/>
                      <a:gd name="connsiteX85" fmla="*/ 158024 w 276438"/>
                      <a:gd name="connsiteY85" fmla="*/ 355259 h 375456"/>
                      <a:gd name="connsiteX86" fmla="*/ 173469 w 276438"/>
                      <a:gd name="connsiteY86" fmla="*/ 334666 h 375456"/>
                      <a:gd name="connsiteX87" fmla="*/ 162382 w 276438"/>
                      <a:gd name="connsiteY87" fmla="*/ 322388 h 375456"/>
                      <a:gd name="connsiteX88" fmla="*/ 180203 w 276438"/>
                      <a:gd name="connsiteY88" fmla="*/ 300999 h 375456"/>
                      <a:gd name="connsiteX89" fmla="*/ 163968 w 276438"/>
                      <a:gd name="connsiteY89" fmla="*/ 273672 h 375456"/>
                      <a:gd name="connsiteX90" fmla="*/ 196839 w 276438"/>
                      <a:gd name="connsiteY90" fmla="*/ 240802 h 375456"/>
                      <a:gd name="connsiteX91" fmla="*/ 209512 w 276438"/>
                      <a:gd name="connsiteY91" fmla="*/ 242783 h 375456"/>
                      <a:gd name="connsiteX92" fmla="*/ 218227 w 276438"/>
                      <a:gd name="connsiteY92" fmla="*/ 244369 h 375456"/>
                      <a:gd name="connsiteX93" fmla="*/ 221794 w 276438"/>
                      <a:gd name="connsiteY93" fmla="*/ 243973 h 375456"/>
                      <a:gd name="connsiteX94" fmla="*/ 225361 w 276438"/>
                      <a:gd name="connsiteY94" fmla="*/ 243973 h 375456"/>
                      <a:gd name="connsiteX95" fmla="*/ 241597 w 276438"/>
                      <a:gd name="connsiteY95" fmla="*/ 243578 h 375456"/>
                      <a:gd name="connsiteX96" fmla="*/ 241597 w 276438"/>
                      <a:gd name="connsiteY96" fmla="*/ 255065 h 375456"/>
                      <a:gd name="connsiteX97" fmla="*/ 225352 w 276438"/>
                      <a:gd name="connsiteY97" fmla="*/ 255065 h 375456"/>
                      <a:gd name="connsiteX98" fmla="*/ 184161 w 276438"/>
                      <a:gd name="connsiteY98" fmla="*/ 336247 h 375456"/>
                      <a:gd name="connsiteX99" fmla="*/ 177032 w 276438"/>
                      <a:gd name="connsiteY99" fmla="*/ 350901 h 375456"/>
                      <a:gd name="connsiteX100" fmla="*/ 198020 w 276438"/>
                      <a:gd name="connsiteY100" fmla="*/ 364765 h 375456"/>
                      <a:gd name="connsiteX101" fmla="*/ 226533 w 276438"/>
                      <a:gd name="connsiteY101" fmla="*/ 348524 h 375456"/>
                      <a:gd name="connsiteX102" fmla="*/ 191681 w 276438"/>
                      <a:gd name="connsiteY102" fmla="*/ 336642 h 375456"/>
                      <a:gd name="connsiteX103" fmla="*/ 184161 w 276438"/>
                      <a:gd name="connsiteY103" fmla="*/ 336247 h 375456"/>
                      <a:gd name="connsiteX104" fmla="*/ 184952 w 276438"/>
                      <a:gd name="connsiteY104" fmla="*/ 272877 h 375456"/>
                      <a:gd name="connsiteX105" fmla="*/ 198415 w 276438"/>
                      <a:gd name="connsiteY105" fmla="*/ 297037 h 375456"/>
                      <a:gd name="connsiteX106" fmla="*/ 211878 w 276438"/>
                      <a:gd name="connsiteY106" fmla="*/ 274858 h 375456"/>
                      <a:gd name="connsiteX107" fmla="*/ 197620 w 276438"/>
                      <a:gd name="connsiteY107" fmla="*/ 249117 h 375456"/>
                      <a:gd name="connsiteX108" fmla="*/ 184952 w 276438"/>
                      <a:gd name="connsiteY108" fmla="*/ 272877 h 375456"/>
                      <a:gd name="connsiteX109" fmla="*/ 226143 w 276438"/>
                      <a:gd name="connsiteY109" fmla="*/ 87530 h 375456"/>
                      <a:gd name="connsiteX110" fmla="*/ 249112 w 276438"/>
                      <a:gd name="connsiteY110" fmla="*/ 125549 h 375456"/>
                      <a:gd name="connsiteX111" fmla="*/ 267328 w 276438"/>
                      <a:gd name="connsiteY111" fmla="*/ 112876 h 375456"/>
                      <a:gd name="connsiteX112" fmla="*/ 276044 w 276438"/>
                      <a:gd name="connsiteY112" fmla="*/ 116438 h 375456"/>
                      <a:gd name="connsiteX113" fmla="*/ 243568 w 276438"/>
                      <a:gd name="connsiteY113" fmla="*/ 139408 h 375456"/>
                      <a:gd name="connsiteX114" fmla="*/ 206340 w 276438"/>
                      <a:gd name="connsiteY114" fmla="*/ 91487 h 375456"/>
                      <a:gd name="connsiteX115" fmla="*/ 243173 w 276438"/>
                      <a:gd name="connsiteY115" fmla="*/ 38814 h 375456"/>
                      <a:gd name="connsiteX116" fmla="*/ 276439 w 276438"/>
                      <a:gd name="connsiteY116" fmla="*/ 87525 h 375456"/>
                      <a:gd name="connsiteX117" fmla="*/ 226143 w 276438"/>
                      <a:gd name="connsiteY117" fmla="*/ 87525 h 375456"/>
                      <a:gd name="connsiteX118" fmla="*/ 256241 w 276438"/>
                      <a:gd name="connsiteY118" fmla="*/ 78024 h 375456"/>
                      <a:gd name="connsiteX119" fmla="*/ 242378 w 276438"/>
                      <a:gd name="connsiteY119" fmla="*/ 48320 h 375456"/>
                      <a:gd name="connsiteX120" fmla="*/ 226143 w 276438"/>
                      <a:gd name="connsiteY120" fmla="*/ 78024 h 375456"/>
                      <a:gd name="connsiteX121" fmla="*/ 256241 w 276438"/>
                      <a:gd name="connsiteY121" fmla="*/ 78024 h 375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76438" h="375456">
                        <a:moveTo>
                          <a:pt x="40791" y="795"/>
                        </a:moveTo>
                        <a:cubicBezTo>
                          <a:pt x="46734" y="400"/>
                          <a:pt x="51482" y="0"/>
                          <a:pt x="53068" y="0"/>
                        </a:cubicBezTo>
                        <a:cubicBezTo>
                          <a:pt x="75642" y="0"/>
                          <a:pt x="90692" y="13068"/>
                          <a:pt x="90692" y="33266"/>
                        </a:cubicBezTo>
                        <a:cubicBezTo>
                          <a:pt x="90692" y="47130"/>
                          <a:pt x="83167" y="57026"/>
                          <a:pt x="66932" y="64951"/>
                        </a:cubicBezTo>
                        <a:cubicBezTo>
                          <a:pt x="87525" y="69309"/>
                          <a:pt x="98617" y="82377"/>
                          <a:pt x="98617" y="101784"/>
                        </a:cubicBezTo>
                        <a:cubicBezTo>
                          <a:pt x="98617" y="116834"/>
                          <a:pt x="90301" y="129507"/>
                          <a:pt x="77228" y="134655"/>
                        </a:cubicBezTo>
                        <a:cubicBezTo>
                          <a:pt x="71285" y="137031"/>
                          <a:pt x="64160" y="137822"/>
                          <a:pt x="51087" y="137822"/>
                        </a:cubicBezTo>
                        <a:lnTo>
                          <a:pt x="38809" y="137822"/>
                        </a:lnTo>
                        <a:cubicBezTo>
                          <a:pt x="32075" y="137427"/>
                          <a:pt x="26927" y="137427"/>
                          <a:pt x="22970" y="137427"/>
                        </a:cubicBezTo>
                        <a:lnTo>
                          <a:pt x="0" y="137427"/>
                        </a:lnTo>
                        <a:lnTo>
                          <a:pt x="0" y="129507"/>
                        </a:lnTo>
                        <a:lnTo>
                          <a:pt x="13463" y="127130"/>
                        </a:lnTo>
                        <a:lnTo>
                          <a:pt x="13463" y="11882"/>
                        </a:lnTo>
                        <a:lnTo>
                          <a:pt x="0" y="9506"/>
                        </a:lnTo>
                        <a:lnTo>
                          <a:pt x="0" y="1191"/>
                        </a:lnTo>
                        <a:lnTo>
                          <a:pt x="24160" y="1191"/>
                        </a:lnTo>
                        <a:lnTo>
                          <a:pt x="40791" y="795"/>
                        </a:lnTo>
                        <a:close/>
                        <a:moveTo>
                          <a:pt x="790" y="339809"/>
                        </a:moveTo>
                        <a:lnTo>
                          <a:pt x="790" y="331889"/>
                        </a:lnTo>
                        <a:lnTo>
                          <a:pt x="13463" y="329512"/>
                        </a:lnTo>
                        <a:lnTo>
                          <a:pt x="13463" y="213870"/>
                        </a:lnTo>
                        <a:lnTo>
                          <a:pt x="790" y="211888"/>
                        </a:lnTo>
                        <a:lnTo>
                          <a:pt x="790" y="203173"/>
                        </a:lnTo>
                        <a:lnTo>
                          <a:pt x="46334" y="203173"/>
                        </a:lnTo>
                        <a:lnTo>
                          <a:pt x="46334" y="211488"/>
                        </a:lnTo>
                        <a:lnTo>
                          <a:pt x="34452" y="213865"/>
                        </a:lnTo>
                        <a:lnTo>
                          <a:pt x="34452" y="329112"/>
                        </a:lnTo>
                        <a:lnTo>
                          <a:pt x="45939" y="331489"/>
                        </a:lnTo>
                        <a:lnTo>
                          <a:pt x="45939" y="339804"/>
                        </a:lnTo>
                        <a:lnTo>
                          <a:pt x="790" y="339804"/>
                        </a:lnTo>
                        <a:close/>
                        <a:moveTo>
                          <a:pt x="43167" y="61389"/>
                        </a:moveTo>
                        <a:cubicBezTo>
                          <a:pt x="60197" y="61389"/>
                          <a:pt x="68118" y="52678"/>
                          <a:pt x="68118" y="34061"/>
                        </a:cubicBezTo>
                        <a:cubicBezTo>
                          <a:pt x="68118" y="18221"/>
                          <a:pt x="59803" y="8715"/>
                          <a:pt x="45544" y="8715"/>
                        </a:cubicBezTo>
                        <a:cubicBezTo>
                          <a:pt x="41581" y="8715"/>
                          <a:pt x="38809" y="9110"/>
                          <a:pt x="33266" y="11092"/>
                        </a:cubicBezTo>
                        <a:lnTo>
                          <a:pt x="33266" y="61389"/>
                        </a:lnTo>
                        <a:lnTo>
                          <a:pt x="43167" y="61389"/>
                        </a:lnTo>
                        <a:close/>
                        <a:moveTo>
                          <a:pt x="33266" y="126344"/>
                        </a:moveTo>
                        <a:cubicBezTo>
                          <a:pt x="37228" y="128721"/>
                          <a:pt x="40000" y="129511"/>
                          <a:pt x="45544" y="129511"/>
                        </a:cubicBezTo>
                        <a:cubicBezTo>
                          <a:pt x="64155" y="129511"/>
                          <a:pt x="75642" y="118024"/>
                          <a:pt x="75642" y="99412"/>
                        </a:cubicBezTo>
                        <a:cubicBezTo>
                          <a:pt x="75642" y="80005"/>
                          <a:pt x="64951" y="70899"/>
                          <a:pt x="41981" y="70899"/>
                        </a:cubicBezTo>
                        <a:lnTo>
                          <a:pt x="33266" y="70899"/>
                        </a:lnTo>
                        <a:lnTo>
                          <a:pt x="33266" y="126344"/>
                        </a:lnTo>
                        <a:close/>
                        <a:moveTo>
                          <a:pt x="108913" y="339809"/>
                        </a:moveTo>
                        <a:lnTo>
                          <a:pt x="108913" y="331889"/>
                        </a:lnTo>
                        <a:lnTo>
                          <a:pt x="119210" y="329908"/>
                        </a:lnTo>
                        <a:lnTo>
                          <a:pt x="119210" y="272086"/>
                        </a:lnTo>
                        <a:cubicBezTo>
                          <a:pt x="119210" y="260995"/>
                          <a:pt x="115643" y="255846"/>
                          <a:pt x="108118" y="255846"/>
                        </a:cubicBezTo>
                        <a:cubicBezTo>
                          <a:pt x="102179" y="255846"/>
                          <a:pt x="97031" y="258223"/>
                          <a:pt x="89506" y="264561"/>
                        </a:cubicBezTo>
                        <a:lnTo>
                          <a:pt x="89506" y="329117"/>
                        </a:lnTo>
                        <a:lnTo>
                          <a:pt x="99803" y="331494"/>
                        </a:lnTo>
                        <a:lnTo>
                          <a:pt x="99803" y="339809"/>
                        </a:lnTo>
                        <a:lnTo>
                          <a:pt x="59012" y="339809"/>
                        </a:lnTo>
                        <a:lnTo>
                          <a:pt x="59012" y="331889"/>
                        </a:lnTo>
                        <a:lnTo>
                          <a:pt x="70499" y="329512"/>
                        </a:lnTo>
                        <a:lnTo>
                          <a:pt x="70499" y="257432"/>
                        </a:lnTo>
                        <a:lnTo>
                          <a:pt x="59012" y="255846"/>
                        </a:lnTo>
                        <a:lnTo>
                          <a:pt x="59012" y="247926"/>
                        </a:lnTo>
                        <a:lnTo>
                          <a:pt x="83568" y="241587"/>
                        </a:lnTo>
                        <a:lnTo>
                          <a:pt x="89111" y="241587"/>
                        </a:lnTo>
                        <a:lnTo>
                          <a:pt x="89111" y="253470"/>
                        </a:lnTo>
                        <a:cubicBezTo>
                          <a:pt x="100993" y="244359"/>
                          <a:pt x="106537" y="241983"/>
                          <a:pt x="115252" y="241983"/>
                        </a:cubicBezTo>
                        <a:cubicBezTo>
                          <a:pt x="130302" y="241983"/>
                          <a:pt x="138617" y="251488"/>
                          <a:pt x="138617" y="267724"/>
                        </a:cubicBezTo>
                        <a:lnTo>
                          <a:pt x="138617" y="329112"/>
                        </a:lnTo>
                        <a:lnTo>
                          <a:pt x="148914" y="331489"/>
                        </a:lnTo>
                        <a:lnTo>
                          <a:pt x="148914" y="339804"/>
                        </a:lnTo>
                        <a:lnTo>
                          <a:pt x="108913" y="339804"/>
                        </a:lnTo>
                        <a:close/>
                        <a:moveTo>
                          <a:pt x="191685" y="87135"/>
                        </a:moveTo>
                        <a:cubicBezTo>
                          <a:pt x="191685" y="118420"/>
                          <a:pt x="175450" y="139413"/>
                          <a:pt x="151686" y="139413"/>
                        </a:cubicBezTo>
                        <a:cubicBezTo>
                          <a:pt x="129111" y="139413"/>
                          <a:pt x="113666" y="119610"/>
                          <a:pt x="113666" y="90702"/>
                        </a:cubicBezTo>
                        <a:cubicBezTo>
                          <a:pt x="113666" y="59807"/>
                          <a:pt x="129907" y="38424"/>
                          <a:pt x="153667" y="38424"/>
                        </a:cubicBezTo>
                        <a:cubicBezTo>
                          <a:pt x="176241" y="38419"/>
                          <a:pt x="191685" y="57826"/>
                          <a:pt x="191685" y="87135"/>
                        </a:cubicBezTo>
                        <a:close/>
                        <a:moveTo>
                          <a:pt x="134655" y="89906"/>
                        </a:moveTo>
                        <a:cubicBezTo>
                          <a:pt x="134655" y="115253"/>
                          <a:pt x="140989" y="129511"/>
                          <a:pt x="152081" y="129511"/>
                        </a:cubicBezTo>
                        <a:cubicBezTo>
                          <a:pt x="163963" y="129511"/>
                          <a:pt x="170297" y="114462"/>
                          <a:pt x="170297" y="84758"/>
                        </a:cubicBezTo>
                        <a:cubicBezTo>
                          <a:pt x="170297" y="60998"/>
                          <a:pt x="163959" y="47925"/>
                          <a:pt x="152871" y="47925"/>
                        </a:cubicBezTo>
                        <a:cubicBezTo>
                          <a:pt x="141389" y="47925"/>
                          <a:pt x="134655" y="63370"/>
                          <a:pt x="134655" y="89906"/>
                        </a:cubicBezTo>
                        <a:close/>
                        <a:moveTo>
                          <a:pt x="225352" y="255056"/>
                        </a:moveTo>
                        <a:cubicBezTo>
                          <a:pt x="230895" y="262185"/>
                          <a:pt x="232481" y="266938"/>
                          <a:pt x="232481" y="274463"/>
                        </a:cubicBezTo>
                        <a:cubicBezTo>
                          <a:pt x="232481" y="292680"/>
                          <a:pt x="218222" y="306148"/>
                          <a:pt x="199215" y="306148"/>
                        </a:cubicBezTo>
                        <a:cubicBezTo>
                          <a:pt x="195253" y="306148"/>
                          <a:pt x="192086" y="305753"/>
                          <a:pt x="188523" y="304562"/>
                        </a:cubicBezTo>
                        <a:cubicBezTo>
                          <a:pt x="183770" y="307729"/>
                          <a:pt x="180999" y="310901"/>
                          <a:pt x="180999" y="313277"/>
                        </a:cubicBezTo>
                        <a:cubicBezTo>
                          <a:pt x="180999" y="315654"/>
                          <a:pt x="183375" y="316840"/>
                          <a:pt x="189314" y="317240"/>
                        </a:cubicBezTo>
                        <a:lnTo>
                          <a:pt x="213074" y="318425"/>
                        </a:lnTo>
                        <a:cubicBezTo>
                          <a:pt x="231691" y="319216"/>
                          <a:pt x="240401" y="326346"/>
                          <a:pt x="240401" y="341000"/>
                        </a:cubicBezTo>
                        <a:cubicBezTo>
                          <a:pt x="240401" y="361993"/>
                          <a:pt x="221789" y="375456"/>
                          <a:pt x="193271" y="375456"/>
                        </a:cubicBezTo>
                        <a:cubicBezTo>
                          <a:pt x="171883" y="375456"/>
                          <a:pt x="158024" y="367536"/>
                          <a:pt x="158024" y="355259"/>
                        </a:cubicBezTo>
                        <a:cubicBezTo>
                          <a:pt x="158024" y="347339"/>
                          <a:pt x="161987" y="342190"/>
                          <a:pt x="173469" y="334666"/>
                        </a:cubicBezTo>
                        <a:cubicBezTo>
                          <a:pt x="165549" y="331499"/>
                          <a:pt x="162382" y="327931"/>
                          <a:pt x="162382" y="322388"/>
                        </a:cubicBezTo>
                        <a:cubicBezTo>
                          <a:pt x="162382" y="315258"/>
                          <a:pt x="167530" y="308924"/>
                          <a:pt x="180203" y="300999"/>
                        </a:cubicBezTo>
                        <a:cubicBezTo>
                          <a:pt x="168321" y="293475"/>
                          <a:pt x="163968" y="285950"/>
                          <a:pt x="163968" y="273672"/>
                        </a:cubicBezTo>
                        <a:cubicBezTo>
                          <a:pt x="163968" y="255060"/>
                          <a:pt x="178227" y="240802"/>
                          <a:pt x="196839" y="240802"/>
                        </a:cubicBezTo>
                        <a:cubicBezTo>
                          <a:pt x="200801" y="240802"/>
                          <a:pt x="202382" y="241197"/>
                          <a:pt x="209512" y="242783"/>
                        </a:cubicBezTo>
                        <a:cubicBezTo>
                          <a:pt x="213474" y="243969"/>
                          <a:pt x="216246" y="244369"/>
                          <a:pt x="218227" y="244369"/>
                        </a:cubicBezTo>
                        <a:cubicBezTo>
                          <a:pt x="218622" y="244369"/>
                          <a:pt x="220208" y="244369"/>
                          <a:pt x="221794" y="243973"/>
                        </a:cubicBezTo>
                        <a:lnTo>
                          <a:pt x="225361" y="243973"/>
                        </a:lnTo>
                        <a:lnTo>
                          <a:pt x="241597" y="243578"/>
                        </a:lnTo>
                        <a:lnTo>
                          <a:pt x="241597" y="255065"/>
                        </a:lnTo>
                        <a:lnTo>
                          <a:pt x="225352" y="255065"/>
                        </a:lnTo>
                        <a:close/>
                        <a:moveTo>
                          <a:pt x="184161" y="336247"/>
                        </a:moveTo>
                        <a:cubicBezTo>
                          <a:pt x="179012" y="341000"/>
                          <a:pt x="177032" y="344962"/>
                          <a:pt x="177032" y="350901"/>
                        </a:cubicBezTo>
                        <a:cubicBezTo>
                          <a:pt x="177032" y="359616"/>
                          <a:pt x="184952" y="364765"/>
                          <a:pt x="198020" y="364765"/>
                        </a:cubicBezTo>
                        <a:cubicBezTo>
                          <a:pt x="214260" y="364765"/>
                          <a:pt x="226533" y="358030"/>
                          <a:pt x="226533" y="348524"/>
                        </a:cubicBezTo>
                        <a:cubicBezTo>
                          <a:pt x="226533" y="340209"/>
                          <a:pt x="222175" y="338623"/>
                          <a:pt x="191681" y="336642"/>
                        </a:cubicBezTo>
                        <a:lnTo>
                          <a:pt x="184161" y="336247"/>
                        </a:lnTo>
                        <a:close/>
                        <a:moveTo>
                          <a:pt x="184952" y="272877"/>
                        </a:moveTo>
                        <a:cubicBezTo>
                          <a:pt x="184952" y="289512"/>
                          <a:pt x="188914" y="297037"/>
                          <a:pt x="198415" y="297037"/>
                        </a:cubicBezTo>
                        <a:cubicBezTo>
                          <a:pt x="207521" y="297037"/>
                          <a:pt x="211878" y="289512"/>
                          <a:pt x="211878" y="274858"/>
                        </a:cubicBezTo>
                        <a:cubicBezTo>
                          <a:pt x="211878" y="257432"/>
                          <a:pt x="207126" y="249117"/>
                          <a:pt x="197620" y="249117"/>
                        </a:cubicBezTo>
                        <a:cubicBezTo>
                          <a:pt x="188914" y="249117"/>
                          <a:pt x="184952" y="256642"/>
                          <a:pt x="184952" y="272877"/>
                        </a:cubicBezTo>
                        <a:close/>
                        <a:moveTo>
                          <a:pt x="226143" y="87530"/>
                        </a:moveTo>
                        <a:cubicBezTo>
                          <a:pt x="228123" y="114462"/>
                          <a:pt x="234853" y="125549"/>
                          <a:pt x="249112" y="125549"/>
                        </a:cubicBezTo>
                        <a:cubicBezTo>
                          <a:pt x="256241" y="125549"/>
                          <a:pt x="261389" y="121987"/>
                          <a:pt x="267328" y="112876"/>
                        </a:cubicBezTo>
                        <a:lnTo>
                          <a:pt x="276044" y="116438"/>
                        </a:lnTo>
                        <a:cubicBezTo>
                          <a:pt x="266142" y="134260"/>
                          <a:pt x="259013" y="139408"/>
                          <a:pt x="243568" y="139408"/>
                        </a:cubicBezTo>
                        <a:cubicBezTo>
                          <a:pt x="219803" y="139408"/>
                          <a:pt x="206340" y="122377"/>
                          <a:pt x="206340" y="91487"/>
                        </a:cubicBezTo>
                        <a:cubicBezTo>
                          <a:pt x="206340" y="58617"/>
                          <a:pt x="220199" y="38814"/>
                          <a:pt x="243173" y="38814"/>
                        </a:cubicBezTo>
                        <a:cubicBezTo>
                          <a:pt x="265352" y="38814"/>
                          <a:pt x="276044" y="54655"/>
                          <a:pt x="276439" y="87525"/>
                        </a:cubicBezTo>
                        <a:lnTo>
                          <a:pt x="226143" y="87525"/>
                        </a:lnTo>
                        <a:close/>
                        <a:moveTo>
                          <a:pt x="256241" y="78024"/>
                        </a:moveTo>
                        <a:cubicBezTo>
                          <a:pt x="255451" y="56635"/>
                          <a:pt x="251488" y="48320"/>
                          <a:pt x="242378" y="48320"/>
                        </a:cubicBezTo>
                        <a:cubicBezTo>
                          <a:pt x="233267" y="48320"/>
                          <a:pt x="228514" y="57431"/>
                          <a:pt x="226143" y="78024"/>
                        </a:cubicBezTo>
                        <a:lnTo>
                          <a:pt x="256241" y="78024"/>
                        </a:lnTo>
                        <a:close/>
                      </a:path>
                    </a:pathLst>
                  </a:custGeom>
                  <a:solidFill>
                    <a:srgbClr val="003D7C"/>
                  </a:solidFill>
                  <a:ln w="4763" cap="flat">
                    <a:noFill/>
                    <a:prstDash val="solid"/>
                    <a:miter/>
                  </a:ln>
                </p:spPr>
                <p:txBody>
                  <a:bodyPr rtlCol="0" anchor="ctr"/>
                  <a:lstStyle/>
                  <a:p>
                    <a:endParaRPr lang="en-GB" sz="3200"/>
                  </a:p>
                </p:txBody>
              </p:sp>
              <p:sp>
                <p:nvSpPr>
                  <p:cNvPr id="68" name="Freeform: Shape 67">
                    <a:extLst>
                      <a:ext uri="{FF2B5EF4-FFF2-40B4-BE49-F238E27FC236}">
                        <a16:creationId xmlns:a16="http://schemas.microsoft.com/office/drawing/2014/main" id="{F17373C3-F6B1-4786-AABB-187328E03616}"/>
                      </a:ext>
                    </a:extLst>
                  </p:cNvPr>
                  <p:cNvSpPr/>
                  <p:nvPr/>
                </p:nvSpPr>
                <p:spPr>
                  <a:xfrm>
                    <a:off x="5815503" y="3339279"/>
                    <a:ext cx="309710" cy="349714"/>
                  </a:xfrm>
                  <a:custGeom>
                    <a:avLst/>
                    <a:gdLst>
                      <a:gd name="connsiteX0" fmla="*/ 19802 w 309710"/>
                      <a:gd name="connsiteY0" fmla="*/ 297437 h 349714"/>
                      <a:gd name="connsiteX1" fmla="*/ 42772 w 309710"/>
                      <a:gd name="connsiteY1" fmla="*/ 335856 h 349714"/>
                      <a:gd name="connsiteX2" fmla="*/ 61389 w 309710"/>
                      <a:gd name="connsiteY2" fmla="*/ 323183 h 349714"/>
                      <a:gd name="connsiteX3" fmla="*/ 70099 w 309710"/>
                      <a:gd name="connsiteY3" fmla="*/ 326745 h 349714"/>
                      <a:gd name="connsiteX4" fmla="*/ 37229 w 309710"/>
                      <a:gd name="connsiteY4" fmla="*/ 349715 h 349714"/>
                      <a:gd name="connsiteX5" fmla="*/ 0 w 309710"/>
                      <a:gd name="connsiteY5" fmla="*/ 301400 h 349714"/>
                      <a:gd name="connsiteX6" fmla="*/ 36833 w 309710"/>
                      <a:gd name="connsiteY6" fmla="*/ 249121 h 349714"/>
                      <a:gd name="connsiteX7" fmla="*/ 67727 w 309710"/>
                      <a:gd name="connsiteY7" fmla="*/ 272882 h 349714"/>
                      <a:gd name="connsiteX8" fmla="*/ 70499 w 309710"/>
                      <a:gd name="connsiteY8" fmla="*/ 297437 h 349714"/>
                      <a:gd name="connsiteX9" fmla="*/ 19802 w 309710"/>
                      <a:gd name="connsiteY9" fmla="*/ 297437 h 349714"/>
                      <a:gd name="connsiteX10" fmla="*/ 49902 w 309710"/>
                      <a:gd name="connsiteY10" fmla="*/ 288327 h 349714"/>
                      <a:gd name="connsiteX11" fmla="*/ 36433 w 309710"/>
                      <a:gd name="connsiteY11" fmla="*/ 258623 h 349714"/>
                      <a:gd name="connsiteX12" fmla="*/ 19798 w 309710"/>
                      <a:gd name="connsiteY12" fmla="*/ 288327 h 349714"/>
                      <a:gd name="connsiteX13" fmla="*/ 49902 w 309710"/>
                      <a:gd name="connsiteY13" fmla="*/ 288327 h 349714"/>
                      <a:gd name="connsiteX14" fmla="*/ 85549 w 309710"/>
                      <a:gd name="connsiteY14" fmla="*/ 145356 h 349714"/>
                      <a:gd name="connsiteX15" fmla="*/ 85549 w 309710"/>
                      <a:gd name="connsiteY15" fmla="*/ 137436 h 349714"/>
                      <a:gd name="connsiteX16" fmla="*/ 95055 w 309710"/>
                      <a:gd name="connsiteY16" fmla="*/ 135455 h 349714"/>
                      <a:gd name="connsiteX17" fmla="*/ 95055 w 309710"/>
                      <a:gd name="connsiteY17" fmla="*/ 81986 h 349714"/>
                      <a:gd name="connsiteX18" fmla="*/ 83568 w 309710"/>
                      <a:gd name="connsiteY18" fmla="*/ 62579 h 349714"/>
                      <a:gd name="connsiteX19" fmla="*/ 65351 w 309710"/>
                      <a:gd name="connsiteY19" fmla="*/ 71290 h 349714"/>
                      <a:gd name="connsiteX20" fmla="*/ 65351 w 309710"/>
                      <a:gd name="connsiteY20" fmla="*/ 135055 h 349714"/>
                      <a:gd name="connsiteX21" fmla="*/ 74857 w 309710"/>
                      <a:gd name="connsiteY21" fmla="*/ 137036 h 349714"/>
                      <a:gd name="connsiteX22" fmla="*/ 74857 w 309710"/>
                      <a:gd name="connsiteY22" fmla="*/ 145352 h 349714"/>
                      <a:gd name="connsiteX23" fmla="*/ 34461 w 309710"/>
                      <a:gd name="connsiteY23" fmla="*/ 145352 h 349714"/>
                      <a:gd name="connsiteX24" fmla="*/ 34461 w 309710"/>
                      <a:gd name="connsiteY24" fmla="*/ 137431 h 349714"/>
                      <a:gd name="connsiteX25" fmla="*/ 46344 w 309710"/>
                      <a:gd name="connsiteY25" fmla="*/ 135055 h 349714"/>
                      <a:gd name="connsiteX26" fmla="*/ 46344 w 309710"/>
                      <a:gd name="connsiteY26" fmla="*/ 14259 h 349714"/>
                      <a:gd name="connsiteX27" fmla="*/ 35252 w 309710"/>
                      <a:gd name="connsiteY27" fmla="*/ 11882 h 349714"/>
                      <a:gd name="connsiteX28" fmla="*/ 35252 w 309710"/>
                      <a:gd name="connsiteY28" fmla="*/ 5148 h 349714"/>
                      <a:gd name="connsiteX29" fmla="*/ 59807 w 309710"/>
                      <a:gd name="connsiteY29" fmla="*/ 0 h 349714"/>
                      <a:gd name="connsiteX30" fmla="*/ 65351 w 309710"/>
                      <a:gd name="connsiteY30" fmla="*/ 0 h 349714"/>
                      <a:gd name="connsiteX31" fmla="*/ 65351 w 309710"/>
                      <a:gd name="connsiteY31" fmla="*/ 59803 h 349714"/>
                      <a:gd name="connsiteX32" fmla="*/ 91092 w 309710"/>
                      <a:gd name="connsiteY32" fmla="*/ 48316 h 349714"/>
                      <a:gd name="connsiteX33" fmla="*/ 114462 w 309710"/>
                      <a:gd name="connsiteY33" fmla="*/ 75247 h 349714"/>
                      <a:gd name="connsiteX34" fmla="*/ 114462 w 309710"/>
                      <a:gd name="connsiteY34" fmla="*/ 135050 h 349714"/>
                      <a:gd name="connsiteX35" fmla="*/ 124758 w 309710"/>
                      <a:gd name="connsiteY35" fmla="*/ 137031 h 349714"/>
                      <a:gd name="connsiteX36" fmla="*/ 124758 w 309710"/>
                      <a:gd name="connsiteY36" fmla="*/ 145347 h 349714"/>
                      <a:gd name="connsiteX37" fmla="*/ 85549 w 309710"/>
                      <a:gd name="connsiteY37" fmla="*/ 145347 h 349714"/>
                      <a:gd name="connsiteX38" fmla="*/ 81982 w 309710"/>
                      <a:gd name="connsiteY38" fmla="*/ 347734 h 349714"/>
                      <a:gd name="connsiteX39" fmla="*/ 81982 w 309710"/>
                      <a:gd name="connsiteY39" fmla="*/ 339814 h 349714"/>
                      <a:gd name="connsiteX40" fmla="*/ 93469 w 309710"/>
                      <a:gd name="connsiteY40" fmla="*/ 337437 h 349714"/>
                      <a:gd name="connsiteX41" fmla="*/ 93469 w 309710"/>
                      <a:gd name="connsiteY41" fmla="*/ 215455 h 349714"/>
                      <a:gd name="connsiteX42" fmla="*/ 82382 w 309710"/>
                      <a:gd name="connsiteY42" fmla="*/ 214265 h 349714"/>
                      <a:gd name="connsiteX43" fmla="*/ 82382 w 309710"/>
                      <a:gd name="connsiteY43" fmla="*/ 207531 h 349714"/>
                      <a:gd name="connsiteX44" fmla="*/ 107332 w 309710"/>
                      <a:gd name="connsiteY44" fmla="*/ 201987 h 349714"/>
                      <a:gd name="connsiteX45" fmla="*/ 112480 w 309710"/>
                      <a:gd name="connsiteY45" fmla="*/ 201987 h 349714"/>
                      <a:gd name="connsiteX46" fmla="*/ 112480 w 309710"/>
                      <a:gd name="connsiteY46" fmla="*/ 337037 h 349714"/>
                      <a:gd name="connsiteX47" fmla="*/ 123172 w 309710"/>
                      <a:gd name="connsiteY47" fmla="*/ 339414 h 349714"/>
                      <a:gd name="connsiteX48" fmla="*/ 123172 w 309710"/>
                      <a:gd name="connsiteY48" fmla="*/ 347729 h 349714"/>
                      <a:gd name="connsiteX49" fmla="*/ 81982 w 309710"/>
                      <a:gd name="connsiteY49" fmla="*/ 347729 h 349714"/>
                      <a:gd name="connsiteX50" fmla="*/ 186933 w 309710"/>
                      <a:gd name="connsiteY50" fmla="*/ 347734 h 349714"/>
                      <a:gd name="connsiteX51" fmla="*/ 186933 w 309710"/>
                      <a:gd name="connsiteY51" fmla="*/ 339814 h 349714"/>
                      <a:gd name="connsiteX52" fmla="*/ 196439 w 309710"/>
                      <a:gd name="connsiteY52" fmla="*/ 337833 h 349714"/>
                      <a:gd name="connsiteX53" fmla="*/ 196439 w 309710"/>
                      <a:gd name="connsiteY53" fmla="*/ 283969 h 349714"/>
                      <a:gd name="connsiteX54" fmla="*/ 184952 w 309710"/>
                      <a:gd name="connsiteY54" fmla="*/ 264561 h 349714"/>
                      <a:gd name="connsiteX55" fmla="*/ 166735 w 309710"/>
                      <a:gd name="connsiteY55" fmla="*/ 273672 h 349714"/>
                      <a:gd name="connsiteX56" fmla="*/ 166735 w 309710"/>
                      <a:gd name="connsiteY56" fmla="*/ 337037 h 349714"/>
                      <a:gd name="connsiteX57" fmla="*/ 176241 w 309710"/>
                      <a:gd name="connsiteY57" fmla="*/ 339414 h 349714"/>
                      <a:gd name="connsiteX58" fmla="*/ 176241 w 309710"/>
                      <a:gd name="connsiteY58" fmla="*/ 347729 h 349714"/>
                      <a:gd name="connsiteX59" fmla="*/ 136241 w 309710"/>
                      <a:gd name="connsiteY59" fmla="*/ 347729 h 349714"/>
                      <a:gd name="connsiteX60" fmla="*/ 136241 w 309710"/>
                      <a:gd name="connsiteY60" fmla="*/ 339809 h 349714"/>
                      <a:gd name="connsiteX61" fmla="*/ 147728 w 309710"/>
                      <a:gd name="connsiteY61" fmla="*/ 337433 h 349714"/>
                      <a:gd name="connsiteX62" fmla="*/ 147728 w 309710"/>
                      <a:gd name="connsiteY62" fmla="*/ 216241 h 349714"/>
                      <a:gd name="connsiteX63" fmla="*/ 136636 w 309710"/>
                      <a:gd name="connsiteY63" fmla="*/ 214260 h 349714"/>
                      <a:gd name="connsiteX64" fmla="*/ 136636 w 309710"/>
                      <a:gd name="connsiteY64" fmla="*/ 207526 h 349714"/>
                      <a:gd name="connsiteX65" fmla="*/ 161587 w 309710"/>
                      <a:gd name="connsiteY65" fmla="*/ 201982 h 349714"/>
                      <a:gd name="connsiteX66" fmla="*/ 166735 w 309710"/>
                      <a:gd name="connsiteY66" fmla="*/ 201982 h 349714"/>
                      <a:gd name="connsiteX67" fmla="*/ 166735 w 309710"/>
                      <a:gd name="connsiteY67" fmla="*/ 262180 h 349714"/>
                      <a:gd name="connsiteX68" fmla="*/ 192877 w 309710"/>
                      <a:gd name="connsiteY68" fmla="*/ 250693 h 349714"/>
                      <a:gd name="connsiteX69" fmla="*/ 215846 w 309710"/>
                      <a:gd name="connsiteY69" fmla="*/ 276039 h 349714"/>
                      <a:gd name="connsiteX70" fmla="*/ 215846 w 309710"/>
                      <a:gd name="connsiteY70" fmla="*/ 337028 h 349714"/>
                      <a:gd name="connsiteX71" fmla="*/ 226538 w 309710"/>
                      <a:gd name="connsiteY71" fmla="*/ 339404 h 349714"/>
                      <a:gd name="connsiteX72" fmla="*/ 226538 w 309710"/>
                      <a:gd name="connsiteY72" fmla="*/ 347719 h 349714"/>
                      <a:gd name="connsiteX73" fmla="*/ 186933 w 309710"/>
                      <a:gd name="connsiteY73" fmla="*/ 347719 h 349714"/>
                      <a:gd name="connsiteX74" fmla="*/ 167926 w 309710"/>
                      <a:gd name="connsiteY74" fmla="*/ 65751 h 349714"/>
                      <a:gd name="connsiteX75" fmla="*/ 186937 w 309710"/>
                      <a:gd name="connsiteY75" fmla="*/ 48720 h 349714"/>
                      <a:gd name="connsiteX76" fmla="*/ 198425 w 309710"/>
                      <a:gd name="connsiteY76" fmla="*/ 60207 h 349714"/>
                      <a:gd name="connsiteX77" fmla="*/ 190900 w 309710"/>
                      <a:gd name="connsiteY77" fmla="*/ 72090 h 349714"/>
                      <a:gd name="connsiteX78" fmla="*/ 180604 w 309710"/>
                      <a:gd name="connsiteY78" fmla="*/ 66546 h 349714"/>
                      <a:gd name="connsiteX79" fmla="*/ 168326 w 309710"/>
                      <a:gd name="connsiteY79" fmla="*/ 83182 h 349714"/>
                      <a:gd name="connsiteX80" fmla="*/ 168326 w 309710"/>
                      <a:gd name="connsiteY80" fmla="*/ 135064 h 349714"/>
                      <a:gd name="connsiteX81" fmla="*/ 182189 w 309710"/>
                      <a:gd name="connsiteY81" fmla="*/ 137046 h 349714"/>
                      <a:gd name="connsiteX82" fmla="*/ 182189 w 309710"/>
                      <a:gd name="connsiteY82" fmla="*/ 145361 h 349714"/>
                      <a:gd name="connsiteX83" fmla="*/ 138226 w 309710"/>
                      <a:gd name="connsiteY83" fmla="*/ 145361 h 349714"/>
                      <a:gd name="connsiteX84" fmla="*/ 138226 w 309710"/>
                      <a:gd name="connsiteY84" fmla="*/ 137441 h 349714"/>
                      <a:gd name="connsiteX85" fmla="*/ 149714 w 309710"/>
                      <a:gd name="connsiteY85" fmla="*/ 135064 h 349714"/>
                      <a:gd name="connsiteX86" fmla="*/ 149714 w 309710"/>
                      <a:gd name="connsiteY86" fmla="*/ 62193 h 349714"/>
                      <a:gd name="connsiteX87" fmla="*/ 138226 w 309710"/>
                      <a:gd name="connsiteY87" fmla="*/ 60212 h 349714"/>
                      <a:gd name="connsiteX88" fmla="*/ 138226 w 309710"/>
                      <a:gd name="connsiteY88" fmla="*/ 53873 h 349714"/>
                      <a:gd name="connsiteX89" fmla="*/ 161991 w 309710"/>
                      <a:gd name="connsiteY89" fmla="*/ 47535 h 349714"/>
                      <a:gd name="connsiteX90" fmla="*/ 167935 w 309710"/>
                      <a:gd name="connsiteY90" fmla="*/ 47535 h 349714"/>
                      <a:gd name="connsiteX91" fmla="*/ 167935 w 309710"/>
                      <a:gd name="connsiteY91" fmla="*/ 65751 h 349714"/>
                      <a:gd name="connsiteX92" fmla="*/ 208321 w 309710"/>
                      <a:gd name="connsiteY92" fmla="*/ 145356 h 349714"/>
                      <a:gd name="connsiteX93" fmla="*/ 208321 w 309710"/>
                      <a:gd name="connsiteY93" fmla="*/ 137436 h 349714"/>
                      <a:gd name="connsiteX94" fmla="*/ 219013 w 309710"/>
                      <a:gd name="connsiteY94" fmla="*/ 135060 h 349714"/>
                      <a:gd name="connsiteX95" fmla="*/ 219013 w 309710"/>
                      <a:gd name="connsiteY95" fmla="*/ 63770 h 349714"/>
                      <a:gd name="connsiteX96" fmla="*/ 208321 w 309710"/>
                      <a:gd name="connsiteY96" fmla="*/ 61393 h 349714"/>
                      <a:gd name="connsiteX97" fmla="*/ 208321 w 309710"/>
                      <a:gd name="connsiteY97" fmla="*/ 54659 h 349714"/>
                      <a:gd name="connsiteX98" fmla="*/ 233272 w 309710"/>
                      <a:gd name="connsiteY98" fmla="*/ 48320 h 349714"/>
                      <a:gd name="connsiteX99" fmla="*/ 238025 w 309710"/>
                      <a:gd name="connsiteY99" fmla="*/ 48320 h 349714"/>
                      <a:gd name="connsiteX100" fmla="*/ 238025 w 309710"/>
                      <a:gd name="connsiteY100" fmla="*/ 135055 h 349714"/>
                      <a:gd name="connsiteX101" fmla="*/ 249117 w 309710"/>
                      <a:gd name="connsiteY101" fmla="*/ 137036 h 349714"/>
                      <a:gd name="connsiteX102" fmla="*/ 249117 w 309710"/>
                      <a:gd name="connsiteY102" fmla="*/ 145352 h 349714"/>
                      <a:gd name="connsiteX103" fmla="*/ 208321 w 309710"/>
                      <a:gd name="connsiteY103" fmla="*/ 145352 h 349714"/>
                      <a:gd name="connsiteX104" fmla="*/ 239606 w 309710"/>
                      <a:gd name="connsiteY104" fmla="*/ 12682 h 349714"/>
                      <a:gd name="connsiteX105" fmla="*/ 226933 w 309710"/>
                      <a:gd name="connsiteY105" fmla="*/ 25355 h 349714"/>
                      <a:gd name="connsiteX106" fmla="*/ 214260 w 309710"/>
                      <a:gd name="connsiteY106" fmla="*/ 12682 h 349714"/>
                      <a:gd name="connsiteX107" fmla="*/ 226933 w 309710"/>
                      <a:gd name="connsiteY107" fmla="*/ 10 h 349714"/>
                      <a:gd name="connsiteX108" fmla="*/ 239606 w 309710"/>
                      <a:gd name="connsiteY108" fmla="*/ 12682 h 349714"/>
                      <a:gd name="connsiteX109" fmla="*/ 259013 w 309710"/>
                      <a:gd name="connsiteY109" fmla="*/ 297437 h 349714"/>
                      <a:gd name="connsiteX110" fmla="*/ 281983 w 309710"/>
                      <a:gd name="connsiteY110" fmla="*/ 335856 h 349714"/>
                      <a:gd name="connsiteX111" fmla="*/ 300599 w 309710"/>
                      <a:gd name="connsiteY111" fmla="*/ 323183 h 349714"/>
                      <a:gd name="connsiteX112" fmla="*/ 309310 w 309710"/>
                      <a:gd name="connsiteY112" fmla="*/ 326745 h 349714"/>
                      <a:gd name="connsiteX113" fmla="*/ 276439 w 309710"/>
                      <a:gd name="connsiteY113" fmla="*/ 349715 h 349714"/>
                      <a:gd name="connsiteX114" fmla="*/ 239211 w 309710"/>
                      <a:gd name="connsiteY114" fmla="*/ 301400 h 349714"/>
                      <a:gd name="connsiteX115" fmla="*/ 276044 w 309710"/>
                      <a:gd name="connsiteY115" fmla="*/ 249121 h 349714"/>
                      <a:gd name="connsiteX116" fmla="*/ 306938 w 309710"/>
                      <a:gd name="connsiteY116" fmla="*/ 272882 h 349714"/>
                      <a:gd name="connsiteX117" fmla="*/ 309710 w 309710"/>
                      <a:gd name="connsiteY117" fmla="*/ 297437 h 349714"/>
                      <a:gd name="connsiteX118" fmla="*/ 259013 w 309710"/>
                      <a:gd name="connsiteY118" fmla="*/ 297437 h 349714"/>
                      <a:gd name="connsiteX119" fmla="*/ 289117 w 309710"/>
                      <a:gd name="connsiteY119" fmla="*/ 288327 h 349714"/>
                      <a:gd name="connsiteX120" fmla="*/ 275649 w 309710"/>
                      <a:gd name="connsiteY120" fmla="*/ 258623 h 349714"/>
                      <a:gd name="connsiteX121" fmla="*/ 259013 w 309710"/>
                      <a:gd name="connsiteY121" fmla="*/ 288327 h 349714"/>
                      <a:gd name="connsiteX122" fmla="*/ 289117 w 309710"/>
                      <a:gd name="connsiteY122" fmla="*/ 288327 h 34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309710" h="349714">
                        <a:moveTo>
                          <a:pt x="19802" y="297437"/>
                        </a:moveTo>
                        <a:cubicBezTo>
                          <a:pt x="21784" y="324764"/>
                          <a:pt x="28513" y="335856"/>
                          <a:pt x="42772" y="335856"/>
                        </a:cubicBezTo>
                        <a:cubicBezTo>
                          <a:pt x="50296" y="335856"/>
                          <a:pt x="55445" y="332289"/>
                          <a:pt x="61389" y="323183"/>
                        </a:cubicBezTo>
                        <a:lnTo>
                          <a:pt x="70099" y="326745"/>
                        </a:lnTo>
                        <a:cubicBezTo>
                          <a:pt x="60989" y="343776"/>
                          <a:pt x="52673" y="349715"/>
                          <a:pt x="37229" y="349715"/>
                        </a:cubicBezTo>
                        <a:cubicBezTo>
                          <a:pt x="13464" y="349715"/>
                          <a:pt x="0" y="331894"/>
                          <a:pt x="0" y="301400"/>
                        </a:cubicBezTo>
                        <a:cubicBezTo>
                          <a:pt x="0" y="268529"/>
                          <a:pt x="13864" y="249121"/>
                          <a:pt x="36833" y="249121"/>
                        </a:cubicBezTo>
                        <a:cubicBezTo>
                          <a:pt x="52673" y="249121"/>
                          <a:pt x="62975" y="257437"/>
                          <a:pt x="67727" y="272882"/>
                        </a:cubicBezTo>
                        <a:cubicBezTo>
                          <a:pt x="69313" y="278030"/>
                          <a:pt x="69709" y="284369"/>
                          <a:pt x="70499" y="297437"/>
                        </a:cubicBezTo>
                        <a:lnTo>
                          <a:pt x="19802" y="297437"/>
                        </a:lnTo>
                        <a:close/>
                        <a:moveTo>
                          <a:pt x="49902" y="288327"/>
                        </a:moveTo>
                        <a:cubicBezTo>
                          <a:pt x="49506" y="267733"/>
                          <a:pt x="45544" y="258623"/>
                          <a:pt x="36433" y="258623"/>
                        </a:cubicBezTo>
                        <a:cubicBezTo>
                          <a:pt x="27322" y="258623"/>
                          <a:pt x="22174" y="267338"/>
                          <a:pt x="19798" y="288327"/>
                        </a:cubicBezTo>
                        <a:lnTo>
                          <a:pt x="49902" y="288327"/>
                        </a:lnTo>
                        <a:close/>
                        <a:moveTo>
                          <a:pt x="85549" y="145356"/>
                        </a:moveTo>
                        <a:lnTo>
                          <a:pt x="85549" y="137436"/>
                        </a:lnTo>
                        <a:lnTo>
                          <a:pt x="95055" y="135455"/>
                        </a:lnTo>
                        <a:lnTo>
                          <a:pt x="95055" y="81986"/>
                        </a:lnTo>
                        <a:cubicBezTo>
                          <a:pt x="95055" y="67728"/>
                          <a:pt x="91887" y="62579"/>
                          <a:pt x="83568" y="62579"/>
                        </a:cubicBezTo>
                        <a:cubicBezTo>
                          <a:pt x="77624" y="62579"/>
                          <a:pt x="73271" y="64560"/>
                          <a:pt x="65351" y="71290"/>
                        </a:cubicBezTo>
                        <a:lnTo>
                          <a:pt x="65351" y="135055"/>
                        </a:lnTo>
                        <a:lnTo>
                          <a:pt x="74857" y="137036"/>
                        </a:lnTo>
                        <a:lnTo>
                          <a:pt x="74857" y="145352"/>
                        </a:lnTo>
                        <a:lnTo>
                          <a:pt x="34461" y="145352"/>
                        </a:lnTo>
                        <a:lnTo>
                          <a:pt x="34461" y="137431"/>
                        </a:lnTo>
                        <a:lnTo>
                          <a:pt x="46344" y="135055"/>
                        </a:lnTo>
                        <a:lnTo>
                          <a:pt x="46344" y="14259"/>
                        </a:lnTo>
                        <a:lnTo>
                          <a:pt x="35252" y="11882"/>
                        </a:lnTo>
                        <a:lnTo>
                          <a:pt x="35252" y="5148"/>
                        </a:lnTo>
                        <a:lnTo>
                          <a:pt x="59807" y="0"/>
                        </a:lnTo>
                        <a:lnTo>
                          <a:pt x="65351" y="0"/>
                        </a:lnTo>
                        <a:lnTo>
                          <a:pt x="65351" y="59803"/>
                        </a:lnTo>
                        <a:cubicBezTo>
                          <a:pt x="76438" y="51092"/>
                          <a:pt x="82777" y="48316"/>
                          <a:pt x="91092" y="48316"/>
                        </a:cubicBezTo>
                        <a:cubicBezTo>
                          <a:pt x="106537" y="48316"/>
                          <a:pt x="114462" y="57426"/>
                          <a:pt x="114462" y="75247"/>
                        </a:cubicBezTo>
                        <a:lnTo>
                          <a:pt x="114462" y="135050"/>
                        </a:lnTo>
                        <a:lnTo>
                          <a:pt x="124758" y="137031"/>
                        </a:lnTo>
                        <a:lnTo>
                          <a:pt x="124758" y="145347"/>
                        </a:lnTo>
                        <a:lnTo>
                          <a:pt x="85549" y="145347"/>
                        </a:lnTo>
                        <a:close/>
                        <a:moveTo>
                          <a:pt x="81982" y="347734"/>
                        </a:moveTo>
                        <a:lnTo>
                          <a:pt x="81982" y="339814"/>
                        </a:lnTo>
                        <a:lnTo>
                          <a:pt x="93469" y="337437"/>
                        </a:lnTo>
                        <a:lnTo>
                          <a:pt x="93469" y="215455"/>
                        </a:lnTo>
                        <a:lnTo>
                          <a:pt x="82382" y="214265"/>
                        </a:lnTo>
                        <a:lnTo>
                          <a:pt x="82382" y="207531"/>
                        </a:lnTo>
                        <a:lnTo>
                          <a:pt x="107332" y="201987"/>
                        </a:lnTo>
                        <a:lnTo>
                          <a:pt x="112480" y="201987"/>
                        </a:lnTo>
                        <a:lnTo>
                          <a:pt x="112480" y="337037"/>
                        </a:lnTo>
                        <a:lnTo>
                          <a:pt x="123172" y="339414"/>
                        </a:lnTo>
                        <a:lnTo>
                          <a:pt x="123172" y="347729"/>
                        </a:lnTo>
                        <a:lnTo>
                          <a:pt x="81982" y="347729"/>
                        </a:lnTo>
                        <a:close/>
                        <a:moveTo>
                          <a:pt x="186933" y="347734"/>
                        </a:moveTo>
                        <a:lnTo>
                          <a:pt x="186933" y="339814"/>
                        </a:lnTo>
                        <a:lnTo>
                          <a:pt x="196439" y="337833"/>
                        </a:lnTo>
                        <a:lnTo>
                          <a:pt x="196439" y="283969"/>
                        </a:lnTo>
                        <a:cubicBezTo>
                          <a:pt x="196439" y="269710"/>
                          <a:pt x="193272" y="264561"/>
                          <a:pt x="184952" y="264561"/>
                        </a:cubicBezTo>
                        <a:cubicBezTo>
                          <a:pt x="179408" y="264561"/>
                          <a:pt x="174655" y="266938"/>
                          <a:pt x="166735" y="273672"/>
                        </a:cubicBezTo>
                        <a:lnTo>
                          <a:pt x="166735" y="337037"/>
                        </a:lnTo>
                        <a:lnTo>
                          <a:pt x="176241" y="339414"/>
                        </a:lnTo>
                        <a:lnTo>
                          <a:pt x="176241" y="347729"/>
                        </a:lnTo>
                        <a:lnTo>
                          <a:pt x="136241" y="347729"/>
                        </a:lnTo>
                        <a:lnTo>
                          <a:pt x="136241" y="339809"/>
                        </a:lnTo>
                        <a:lnTo>
                          <a:pt x="147728" y="337433"/>
                        </a:lnTo>
                        <a:lnTo>
                          <a:pt x="147728" y="216241"/>
                        </a:lnTo>
                        <a:lnTo>
                          <a:pt x="136636" y="214260"/>
                        </a:lnTo>
                        <a:lnTo>
                          <a:pt x="136636" y="207526"/>
                        </a:lnTo>
                        <a:lnTo>
                          <a:pt x="161587" y="201982"/>
                        </a:lnTo>
                        <a:lnTo>
                          <a:pt x="166735" y="201982"/>
                        </a:lnTo>
                        <a:lnTo>
                          <a:pt x="166735" y="262180"/>
                        </a:lnTo>
                        <a:cubicBezTo>
                          <a:pt x="177427" y="253465"/>
                          <a:pt x="183766" y="250693"/>
                          <a:pt x="192877" y="250693"/>
                        </a:cubicBezTo>
                        <a:cubicBezTo>
                          <a:pt x="207530" y="250693"/>
                          <a:pt x="215846" y="259804"/>
                          <a:pt x="215846" y="276039"/>
                        </a:cubicBezTo>
                        <a:lnTo>
                          <a:pt x="215846" y="337028"/>
                        </a:lnTo>
                        <a:lnTo>
                          <a:pt x="226538" y="339404"/>
                        </a:lnTo>
                        <a:lnTo>
                          <a:pt x="226538" y="347719"/>
                        </a:lnTo>
                        <a:lnTo>
                          <a:pt x="186933" y="347719"/>
                        </a:lnTo>
                        <a:close/>
                        <a:moveTo>
                          <a:pt x="167926" y="65751"/>
                        </a:moveTo>
                        <a:cubicBezTo>
                          <a:pt x="175846" y="52283"/>
                          <a:pt x="179808" y="48720"/>
                          <a:pt x="186937" y="48720"/>
                        </a:cubicBezTo>
                        <a:cubicBezTo>
                          <a:pt x="194067" y="48720"/>
                          <a:pt x="198425" y="53078"/>
                          <a:pt x="198425" y="60207"/>
                        </a:cubicBezTo>
                        <a:cubicBezTo>
                          <a:pt x="198425" y="64565"/>
                          <a:pt x="196048" y="68128"/>
                          <a:pt x="190900" y="72090"/>
                        </a:cubicBezTo>
                        <a:lnTo>
                          <a:pt x="180604" y="66546"/>
                        </a:lnTo>
                        <a:cubicBezTo>
                          <a:pt x="173869" y="70109"/>
                          <a:pt x="168326" y="77633"/>
                          <a:pt x="168326" y="83182"/>
                        </a:cubicBezTo>
                        <a:lnTo>
                          <a:pt x="168326" y="135064"/>
                        </a:lnTo>
                        <a:lnTo>
                          <a:pt x="182189" y="137046"/>
                        </a:lnTo>
                        <a:lnTo>
                          <a:pt x="182189" y="145361"/>
                        </a:lnTo>
                        <a:lnTo>
                          <a:pt x="138226" y="145361"/>
                        </a:lnTo>
                        <a:lnTo>
                          <a:pt x="138226" y="137441"/>
                        </a:lnTo>
                        <a:lnTo>
                          <a:pt x="149714" y="135064"/>
                        </a:lnTo>
                        <a:lnTo>
                          <a:pt x="149714" y="62193"/>
                        </a:lnTo>
                        <a:lnTo>
                          <a:pt x="138226" y="60212"/>
                        </a:lnTo>
                        <a:lnTo>
                          <a:pt x="138226" y="53873"/>
                        </a:lnTo>
                        <a:lnTo>
                          <a:pt x="161991" y="47535"/>
                        </a:lnTo>
                        <a:lnTo>
                          <a:pt x="167935" y="47535"/>
                        </a:lnTo>
                        <a:lnTo>
                          <a:pt x="167935" y="65751"/>
                        </a:lnTo>
                        <a:close/>
                        <a:moveTo>
                          <a:pt x="208321" y="145356"/>
                        </a:moveTo>
                        <a:lnTo>
                          <a:pt x="208321" y="137436"/>
                        </a:lnTo>
                        <a:lnTo>
                          <a:pt x="219013" y="135060"/>
                        </a:lnTo>
                        <a:lnTo>
                          <a:pt x="219013" y="63770"/>
                        </a:lnTo>
                        <a:lnTo>
                          <a:pt x="208321" y="61393"/>
                        </a:lnTo>
                        <a:lnTo>
                          <a:pt x="208321" y="54659"/>
                        </a:lnTo>
                        <a:lnTo>
                          <a:pt x="233272" y="48320"/>
                        </a:lnTo>
                        <a:lnTo>
                          <a:pt x="238025" y="48320"/>
                        </a:lnTo>
                        <a:lnTo>
                          <a:pt x="238025" y="135055"/>
                        </a:lnTo>
                        <a:lnTo>
                          <a:pt x="249117" y="137036"/>
                        </a:lnTo>
                        <a:lnTo>
                          <a:pt x="249117" y="145352"/>
                        </a:lnTo>
                        <a:lnTo>
                          <a:pt x="208321" y="145352"/>
                        </a:lnTo>
                        <a:close/>
                        <a:moveTo>
                          <a:pt x="239606" y="12682"/>
                        </a:moveTo>
                        <a:cubicBezTo>
                          <a:pt x="239606" y="19812"/>
                          <a:pt x="234062" y="25355"/>
                          <a:pt x="226933" y="25355"/>
                        </a:cubicBezTo>
                        <a:cubicBezTo>
                          <a:pt x="219803" y="25355"/>
                          <a:pt x="214260" y="19812"/>
                          <a:pt x="214260" y="12682"/>
                        </a:cubicBezTo>
                        <a:cubicBezTo>
                          <a:pt x="214260" y="5553"/>
                          <a:pt x="219808" y="10"/>
                          <a:pt x="226933" y="10"/>
                        </a:cubicBezTo>
                        <a:cubicBezTo>
                          <a:pt x="234062" y="10"/>
                          <a:pt x="239606" y="5553"/>
                          <a:pt x="239606" y="12682"/>
                        </a:cubicBezTo>
                        <a:close/>
                        <a:moveTo>
                          <a:pt x="259013" y="297437"/>
                        </a:moveTo>
                        <a:cubicBezTo>
                          <a:pt x="260995" y="324764"/>
                          <a:pt x="267728" y="335856"/>
                          <a:pt x="281983" y="335856"/>
                        </a:cubicBezTo>
                        <a:cubicBezTo>
                          <a:pt x="289507" y="335856"/>
                          <a:pt x="294656" y="332289"/>
                          <a:pt x="300599" y="323183"/>
                        </a:cubicBezTo>
                        <a:lnTo>
                          <a:pt x="309310" y="326745"/>
                        </a:lnTo>
                        <a:cubicBezTo>
                          <a:pt x="300204" y="343776"/>
                          <a:pt x="291884" y="349715"/>
                          <a:pt x="276439" y="349715"/>
                        </a:cubicBezTo>
                        <a:cubicBezTo>
                          <a:pt x="252674" y="349715"/>
                          <a:pt x="239211" y="331894"/>
                          <a:pt x="239211" y="301400"/>
                        </a:cubicBezTo>
                        <a:cubicBezTo>
                          <a:pt x="239211" y="268529"/>
                          <a:pt x="253074" y="249121"/>
                          <a:pt x="276044" y="249121"/>
                        </a:cubicBezTo>
                        <a:cubicBezTo>
                          <a:pt x="291889" y="249121"/>
                          <a:pt x="302185" y="257437"/>
                          <a:pt x="306938" y="272882"/>
                        </a:cubicBezTo>
                        <a:cubicBezTo>
                          <a:pt x="308524" y="278030"/>
                          <a:pt x="308920" y="284369"/>
                          <a:pt x="309710" y="297437"/>
                        </a:cubicBezTo>
                        <a:lnTo>
                          <a:pt x="259013" y="297437"/>
                        </a:lnTo>
                        <a:close/>
                        <a:moveTo>
                          <a:pt x="289117" y="288327"/>
                        </a:moveTo>
                        <a:cubicBezTo>
                          <a:pt x="288722" y="267733"/>
                          <a:pt x="284759" y="258623"/>
                          <a:pt x="275649" y="258623"/>
                        </a:cubicBezTo>
                        <a:cubicBezTo>
                          <a:pt x="266538" y="258623"/>
                          <a:pt x="261390" y="267338"/>
                          <a:pt x="259013" y="288327"/>
                        </a:cubicBezTo>
                        <a:lnTo>
                          <a:pt x="289117" y="288327"/>
                        </a:lnTo>
                        <a:close/>
                      </a:path>
                    </a:pathLst>
                  </a:custGeom>
                  <a:solidFill>
                    <a:srgbClr val="003D7C"/>
                  </a:solidFill>
                  <a:ln w="4763" cap="flat">
                    <a:noFill/>
                    <a:prstDash val="solid"/>
                    <a:miter/>
                  </a:ln>
                </p:spPr>
                <p:txBody>
                  <a:bodyPr rtlCol="0" anchor="ctr"/>
                  <a:lstStyle/>
                  <a:p>
                    <a:endParaRPr lang="en-GB" sz="3200"/>
                  </a:p>
                </p:txBody>
              </p:sp>
              <p:sp>
                <p:nvSpPr>
                  <p:cNvPr id="69" name="Freeform: Shape 68">
                    <a:extLst>
                      <a:ext uri="{FF2B5EF4-FFF2-40B4-BE49-F238E27FC236}">
                        <a16:creationId xmlns:a16="http://schemas.microsoft.com/office/drawing/2014/main" id="{1D51C772-1F96-46DF-A55D-7A9449E5E834}"/>
                      </a:ext>
                    </a:extLst>
                  </p:cNvPr>
                  <p:cNvSpPr/>
                  <p:nvPr/>
                </p:nvSpPr>
                <p:spPr>
                  <a:xfrm>
                    <a:off x="6078488" y="3385632"/>
                    <a:ext cx="339814" cy="301385"/>
                  </a:xfrm>
                  <a:custGeom>
                    <a:avLst/>
                    <a:gdLst>
                      <a:gd name="connsiteX0" fmla="*/ 49902 w 339814"/>
                      <a:gd name="connsiteY0" fmla="*/ 99003 h 301385"/>
                      <a:gd name="connsiteX1" fmla="*/ 49902 w 339814"/>
                      <a:gd name="connsiteY1" fmla="*/ 91083 h 301385"/>
                      <a:gd name="connsiteX2" fmla="*/ 60198 w 339814"/>
                      <a:gd name="connsiteY2" fmla="*/ 89102 h 301385"/>
                      <a:gd name="connsiteX3" fmla="*/ 60198 w 339814"/>
                      <a:gd name="connsiteY3" fmla="*/ 31280 h 301385"/>
                      <a:gd name="connsiteX4" fmla="*/ 49111 w 339814"/>
                      <a:gd name="connsiteY4" fmla="*/ 15045 h 301385"/>
                      <a:gd name="connsiteX5" fmla="*/ 30494 w 339814"/>
                      <a:gd name="connsiteY5" fmla="*/ 23756 h 301385"/>
                      <a:gd name="connsiteX6" fmla="*/ 30494 w 339814"/>
                      <a:gd name="connsiteY6" fmla="*/ 88311 h 301385"/>
                      <a:gd name="connsiteX7" fmla="*/ 40791 w 339814"/>
                      <a:gd name="connsiteY7" fmla="*/ 90687 h 301385"/>
                      <a:gd name="connsiteX8" fmla="*/ 40791 w 339814"/>
                      <a:gd name="connsiteY8" fmla="*/ 99003 h 301385"/>
                      <a:gd name="connsiteX9" fmla="*/ 0 w 339814"/>
                      <a:gd name="connsiteY9" fmla="*/ 99003 h 301385"/>
                      <a:gd name="connsiteX10" fmla="*/ 0 w 339814"/>
                      <a:gd name="connsiteY10" fmla="*/ 91083 h 301385"/>
                      <a:gd name="connsiteX11" fmla="*/ 11482 w 339814"/>
                      <a:gd name="connsiteY11" fmla="*/ 88707 h 301385"/>
                      <a:gd name="connsiteX12" fmla="*/ 11482 w 339814"/>
                      <a:gd name="connsiteY12" fmla="*/ 16626 h 301385"/>
                      <a:gd name="connsiteX13" fmla="*/ 0 w 339814"/>
                      <a:gd name="connsiteY13" fmla="*/ 15040 h 301385"/>
                      <a:gd name="connsiteX14" fmla="*/ 0 w 339814"/>
                      <a:gd name="connsiteY14" fmla="*/ 7120 h 301385"/>
                      <a:gd name="connsiteX15" fmla="*/ 24555 w 339814"/>
                      <a:gd name="connsiteY15" fmla="*/ 781 h 301385"/>
                      <a:gd name="connsiteX16" fmla="*/ 30104 w 339814"/>
                      <a:gd name="connsiteY16" fmla="*/ 781 h 301385"/>
                      <a:gd name="connsiteX17" fmla="*/ 30104 w 339814"/>
                      <a:gd name="connsiteY17" fmla="*/ 12663 h 301385"/>
                      <a:gd name="connsiteX18" fmla="*/ 56240 w 339814"/>
                      <a:gd name="connsiteY18" fmla="*/ 1176 h 301385"/>
                      <a:gd name="connsiteX19" fmla="*/ 79610 w 339814"/>
                      <a:gd name="connsiteY19" fmla="*/ 26918 h 301385"/>
                      <a:gd name="connsiteX20" fmla="*/ 79610 w 339814"/>
                      <a:gd name="connsiteY20" fmla="*/ 88302 h 301385"/>
                      <a:gd name="connsiteX21" fmla="*/ 89907 w 339814"/>
                      <a:gd name="connsiteY21" fmla="*/ 90678 h 301385"/>
                      <a:gd name="connsiteX22" fmla="*/ 89907 w 339814"/>
                      <a:gd name="connsiteY22" fmla="*/ 98993 h 301385"/>
                      <a:gd name="connsiteX23" fmla="*/ 49902 w 339814"/>
                      <a:gd name="connsiteY23" fmla="*/ 98993 h 301385"/>
                      <a:gd name="connsiteX24" fmla="*/ 62179 w 339814"/>
                      <a:gd name="connsiteY24" fmla="*/ 301381 h 301385"/>
                      <a:gd name="connsiteX25" fmla="*/ 62179 w 339814"/>
                      <a:gd name="connsiteY25" fmla="*/ 293461 h 301385"/>
                      <a:gd name="connsiteX26" fmla="*/ 72871 w 339814"/>
                      <a:gd name="connsiteY26" fmla="*/ 291084 h 301385"/>
                      <a:gd name="connsiteX27" fmla="*/ 72871 w 339814"/>
                      <a:gd name="connsiteY27" fmla="*/ 219399 h 301385"/>
                      <a:gd name="connsiteX28" fmla="*/ 62179 w 339814"/>
                      <a:gd name="connsiteY28" fmla="*/ 217023 h 301385"/>
                      <a:gd name="connsiteX29" fmla="*/ 62179 w 339814"/>
                      <a:gd name="connsiteY29" fmla="*/ 210684 h 301385"/>
                      <a:gd name="connsiteX30" fmla="*/ 87130 w 339814"/>
                      <a:gd name="connsiteY30" fmla="*/ 204345 h 301385"/>
                      <a:gd name="connsiteX31" fmla="*/ 91883 w 339814"/>
                      <a:gd name="connsiteY31" fmla="*/ 204345 h 301385"/>
                      <a:gd name="connsiteX32" fmla="*/ 91883 w 339814"/>
                      <a:gd name="connsiteY32" fmla="*/ 290684 h 301385"/>
                      <a:gd name="connsiteX33" fmla="*/ 102975 w 339814"/>
                      <a:gd name="connsiteY33" fmla="*/ 293061 h 301385"/>
                      <a:gd name="connsiteX34" fmla="*/ 102975 w 339814"/>
                      <a:gd name="connsiteY34" fmla="*/ 301376 h 301385"/>
                      <a:gd name="connsiteX35" fmla="*/ 62179 w 339814"/>
                      <a:gd name="connsiteY35" fmla="*/ 301376 h 301385"/>
                      <a:gd name="connsiteX36" fmla="*/ 93864 w 339814"/>
                      <a:gd name="connsiteY36" fmla="*/ 168312 h 301385"/>
                      <a:gd name="connsiteX37" fmla="*/ 80796 w 339814"/>
                      <a:gd name="connsiteY37" fmla="*/ 181380 h 301385"/>
                      <a:gd name="connsiteX38" fmla="*/ 68123 w 339814"/>
                      <a:gd name="connsiteY38" fmla="*/ 168707 h 301385"/>
                      <a:gd name="connsiteX39" fmla="*/ 81586 w 339814"/>
                      <a:gd name="connsiteY39" fmla="*/ 155638 h 301385"/>
                      <a:gd name="connsiteX40" fmla="*/ 93864 w 339814"/>
                      <a:gd name="connsiteY40" fmla="*/ 168312 h 301385"/>
                      <a:gd name="connsiteX41" fmla="*/ 165945 w 339814"/>
                      <a:gd name="connsiteY41" fmla="*/ 14249 h 301385"/>
                      <a:gd name="connsiteX42" fmla="*/ 173074 w 339814"/>
                      <a:gd name="connsiteY42" fmla="*/ 33657 h 301385"/>
                      <a:gd name="connsiteX43" fmla="*/ 139808 w 339814"/>
                      <a:gd name="connsiteY43" fmla="*/ 65342 h 301385"/>
                      <a:gd name="connsiteX44" fmla="*/ 129116 w 339814"/>
                      <a:gd name="connsiteY44" fmla="*/ 63756 h 301385"/>
                      <a:gd name="connsiteX45" fmla="*/ 121591 w 339814"/>
                      <a:gd name="connsiteY45" fmla="*/ 72071 h 301385"/>
                      <a:gd name="connsiteX46" fmla="*/ 129907 w 339814"/>
                      <a:gd name="connsiteY46" fmla="*/ 76429 h 301385"/>
                      <a:gd name="connsiteX47" fmla="*/ 153671 w 339814"/>
                      <a:gd name="connsiteY47" fmla="*/ 77619 h 301385"/>
                      <a:gd name="connsiteX48" fmla="*/ 180999 w 339814"/>
                      <a:gd name="connsiteY48" fmla="*/ 100194 h 301385"/>
                      <a:gd name="connsiteX49" fmla="*/ 133869 w 339814"/>
                      <a:gd name="connsiteY49" fmla="*/ 134650 h 301385"/>
                      <a:gd name="connsiteX50" fmla="*/ 98622 w 339814"/>
                      <a:gd name="connsiteY50" fmla="*/ 114453 h 301385"/>
                      <a:gd name="connsiteX51" fmla="*/ 114067 w 339814"/>
                      <a:gd name="connsiteY51" fmla="*/ 93859 h 301385"/>
                      <a:gd name="connsiteX52" fmla="*/ 102975 w 339814"/>
                      <a:gd name="connsiteY52" fmla="*/ 81186 h 301385"/>
                      <a:gd name="connsiteX53" fmla="*/ 120796 w 339814"/>
                      <a:gd name="connsiteY53" fmla="*/ 60198 h 301385"/>
                      <a:gd name="connsiteX54" fmla="*/ 104556 w 339814"/>
                      <a:gd name="connsiteY54" fmla="*/ 32871 h 301385"/>
                      <a:gd name="connsiteX55" fmla="*/ 137427 w 339814"/>
                      <a:gd name="connsiteY55" fmla="*/ 0 h 301385"/>
                      <a:gd name="connsiteX56" fmla="*/ 150100 w 339814"/>
                      <a:gd name="connsiteY56" fmla="*/ 1981 h 301385"/>
                      <a:gd name="connsiteX57" fmla="*/ 158815 w 339814"/>
                      <a:gd name="connsiteY57" fmla="*/ 3567 h 301385"/>
                      <a:gd name="connsiteX58" fmla="*/ 162382 w 339814"/>
                      <a:gd name="connsiteY58" fmla="*/ 3172 h 301385"/>
                      <a:gd name="connsiteX59" fmla="*/ 165945 w 339814"/>
                      <a:gd name="connsiteY59" fmla="*/ 3172 h 301385"/>
                      <a:gd name="connsiteX60" fmla="*/ 182185 w 339814"/>
                      <a:gd name="connsiteY60" fmla="*/ 2777 h 301385"/>
                      <a:gd name="connsiteX61" fmla="*/ 182185 w 339814"/>
                      <a:gd name="connsiteY61" fmla="*/ 14264 h 301385"/>
                      <a:gd name="connsiteX62" fmla="*/ 165945 w 339814"/>
                      <a:gd name="connsiteY62" fmla="*/ 14264 h 301385"/>
                      <a:gd name="connsiteX63" fmla="*/ 217032 w 339814"/>
                      <a:gd name="connsiteY63" fmla="*/ 301381 h 301385"/>
                      <a:gd name="connsiteX64" fmla="*/ 217032 w 339814"/>
                      <a:gd name="connsiteY64" fmla="*/ 293461 h 301385"/>
                      <a:gd name="connsiteX65" fmla="*/ 227729 w 339814"/>
                      <a:gd name="connsiteY65" fmla="*/ 291084 h 301385"/>
                      <a:gd name="connsiteX66" fmla="*/ 227729 w 339814"/>
                      <a:gd name="connsiteY66" fmla="*/ 236034 h 301385"/>
                      <a:gd name="connsiteX67" fmla="*/ 215846 w 339814"/>
                      <a:gd name="connsiteY67" fmla="*/ 217818 h 301385"/>
                      <a:gd name="connsiteX68" fmla="*/ 197234 w 339814"/>
                      <a:gd name="connsiteY68" fmla="*/ 227324 h 301385"/>
                      <a:gd name="connsiteX69" fmla="*/ 197234 w 339814"/>
                      <a:gd name="connsiteY69" fmla="*/ 290689 h 301385"/>
                      <a:gd name="connsiteX70" fmla="*/ 207136 w 339814"/>
                      <a:gd name="connsiteY70" fmla="*/ 293065 h 301385"/>
                      <a:gd name="connsiteX71" fmla="*/ 207136 w 339814"/>
                      <a:gd name="connsiteY71" fmla="*/ 301381 h 301385"/>
                      <a:gd name="connsiteX72" fmla="*/ 167135 w 339814"/>
                      <a:gd name="connsiteY72" fmla="*/ 301381 h 301385"/>
                      <a:gd name="connsiteX73" fmla="*/ 167135 w 339814"/>
                      <a:gd name="connsiteY73" fmla="*/ 293461 h 301385"/>
                      <a:gd name="connsiteX74" fmla="*/ 178222 w 339814"/>
                      <a:gd name="connsiteY74" fmla="*/ 291084 h 301385"/>
                      <a:gd name="connsiteX75" fmla="*/ 178222 w 339814"/>
                      <a:gd name="connsiteY75" fmla="*/ 235639 h 301385"/>
                      <a:gd name="connsiteX76" fmla="*/ 165549 w 339814"/>
                      <a:gd name="connsiteY76" fmla="*/ 217818 h 301385"/>
                      <a:gd name="connsiteX77" fmla="*/ 147728 w 339814"/>
                      <a:gd name="connsiteY77" fmla="*/ 226929 h 301385"/>
                      <a:gd name="connsiteX78" fmla="*/ 147728 w 339814"/>
                      <a:gd name="connsiteY78" fmla="*/ 290694 h 301385"/>
                      <a:gd name="connsiteX79" fmla="*/ 156839 w 339814"/>
                      <a:gd name="connsiteY79" fmla="*/ 293070 h 301385"/>
                      <a:gd name="connsiteX80" fmla="*/ 156839 w 339814"/>
                      <a:gd name="connsiteY80" fmla="*/ 301385 h 301385"/>
                      <a:gd name="connsiteX81" fmla="*/ 116443 w 339814"/>
                      <a:gd name="connsiteY81" fmla="*/ 301385 h 301385"/>
                      <a:gd name="connsiteX82" fmla="*/ 116443 w 339814"/>
                      <a:gd name="connsiteY82" fmla="*/ 293465 h 301385"/>
                      <a:gd name="connsiteX83" fmla="*/ 127925 w 339814"/>
                      <a:gd name="connsiteY83" fmla="*/ 291089 h 301385"/>
                      <a:gd name="connsiteX84" fmla="*/ 127925 w 339814"/>
                      <a:gd name="connsiteY84" fmla="*/ 218218 h 301385"/>
                      <a:gd name="connsiteX85" fmla="*/ 116443 w 339814"/>
                      <a:gd name="connsiteY85" fmla="*/ 216237 h 301385"/>
                      <a:gd name="connsiteX86" fmla="*/ 116443 w 339814"/>
                      <a:gd name="connsiteY86" fmla="*/ 209502 h 301385"/>
                      <a:gd name="connsiteX87" fmla="*/ 141394 w 339814"/>
                      <a:gd name="connsiteY87" fmla="*/ 203163 h 301385"/>
                      <a:gd name="connsiteX88" fmla="*/ 146547 w 339814"/>
                      <a:gd name="connsiteY88" fmla="*/ 203163 h 301385"/>
                      <a:gd name="connsiteX89" fmla="*/ 146547 w 339814"/>
                      <a:gd name="connsiteY89" fmla="*/ 216232 h 301385"/>
                      <a:gd name="connsiteX90" fmla="*/ 173479 w 339814"/>
                      <a:gd name="connsiteY90" fmla="*/ 204745 h 301385"/>
                      <a:gd name="connsiteX91" fmla="*/ 195658 w 339814"/>
                      <a:gd name="connsiteY91" fmla="*/ 217418 h 301385"/>
                      <a:gd name="connsiteX92" fmla="*/ 222985 w 339814"/>
                      <a:gd name="connsiteY92" fmla="*/ 204349 h 301385"/>
                      <a:gd name="connsiteX93" fmla="*/ 247145 w 339814"/>
                      <a:gd name="connsiteY93" fmla="*/ 232467 h 301385"/>
                      <a:gd name="connsiteX94" fmla="*/ 247145 w 339814"/>
                      <a:gd name="connsiteY94" fmla="*/ 290684 h 301385"/>
                      <a:gd name="connsiteX95" fmla="*/ 258237 w 339814"/>
                      <a:gd name="connsiteY95" fmla="*/ 293061 h 301385"/>
                      <a:gd name="connsiteX96" fmla="*/ 258237 w 339814"/>
                      <a:gd name="connsiteY96" fmla="*/ 301376 h 301385"/>
                      <a:gd name="connsiteX97" fmla="*/ 217032 w 339814"/>
                      <a:gd name="connsiteY97" fmla="*/ 301376 h 301385"/>
                      <a:gd name="connsiteX98" fmla="*/ 117629 w 339814"/>
                      <a:gd name="connsiteY98" fmla="*/ 110090 h 301385"/>
                      <a:gd name="connsiteX99" fmla="*/ 138617 w 339814"/>
                      <a:gd name="connsiteY99" fmla="*/ 123954 h 301385"/>
                      <a:gd name="connsiteX100" fmla="*/ 167135 w 339814"/>
                      <a:gd name="connsiteY100" fmla="*/ 107713 h 301385"/>
                      <a:gd name="connsiteX101" fmla="*/ 124759 w 339814"/>
                      <a:gd name="connsiteY101" fmla="*/ 95436 h 301385"/>
                      <a:gd name="connsiteX102" fmla="*/ 117629 w 339814"/>
                      <a:gd name="connsiteY102" fmla="*/ 110090 h 301385"/>
                      <a:gd name="connsiteX103" fmla="*/ 125549 w 339814"/>
                      <a:gd name="connsiteY103" fmla="*/ 32071 h 301385"/>
                      <a:gd name="connsiteX104" fmla="*/ 139017 w 339814"/>
                      <a:gd name="connsiteY104" fmla="*/ 56231 h 301385"/>
                      <a:gd name="connsiteX105" fmla="*/ 152481 w 339814"/>
                      <a:gd name="connsiteY105" fmla="*/ 34052 h 301385"/>
                      <a:gd name="connsiteX106" fmla="*/ 138222 w 339814"/>
                      <a:gd name="connsiteY106" fmla="*/ 8311 h 301385"/>
                      <a:gd name="connsiteX107" fmla="*/ 125549 w 339814"/>
                      <a:gd name="connsiteY107" fmla="*/ 32071 h 301385"/>
                      <a:gd name="connsiteX108" fmla="*/ 213074 w 339814"/>
                      <a:gd name="connsiteY108" fmla="*/ 49101 h 301385"/>
                      <a:gd name="connsiteX109" fmla="*/ 236044 w 339814"/>
                      <a:gd name="connsiteY109" fmla="*/ 87121 h 301385"/>
                      <a:gd name="connsiteX110" fmla="*/ 254261 w 339814"/>
                      <a:gd name="connsiteY110" fmla="*/ 74447 h 301385"/>
                      <a:gd name="connsiteX111" fmla="*/ 262976 w 339814"/>
                      <a:gd name="connsiteY111" fmla="*/ 78010 h 301385"/>
                      <a:gd name="connsiteX112" fmla="*/ 230500 w 339814"/>
                      <a:gd name="connsiteY112" fmla="*/ 100979 h 301385"/>
                      <a:gd name="connsiteX113" fmla="*/ 193272 w 339814"/>
                      <a:gd name="connsiteY113" fmla="*/ 53059 h 301385"/>
                      <a:gd name="connsiteX114" fmla="*/ 230105 w 339814"/>
                      <a:gd name="connsiteY114" fmla="*/ 386 h 301385"/>
                      <a:gd name="connsiteX115" fmla="*/ 263376 w 339814"/>
                      <a:gd name="connsiteY115" fmla="*/ 49097 h 301385"/>
                      <a:gd name="connsiteX116" fmla="*/ 213074 w 339814"/>
                      <a:gd name="connsiteY116" fmla="*/ 49097 h 301385"/>
                      <a:gd name="connsiteX117" fmla="*/ 243174 w 339814"/>
                      <a:gd name="connsiteY117" fmla="*/ 39596 h 301385"/>
                      <a:gd name="connsiteX118" fmla="*/ 229310 w 339814"/>
                      <a:gd name="connsiteY118" fmla="*/ 9892 h 301385"/>
                      <a:gd name="connsiteX119" fmla="*/ 213070 w 339814"/>
                      <a:gd name="connsiteY119" fmla="*/ 39596 h 301385"/>
                      <a:gd name="connsiteX120" fmla="*/ 243174 w 339814"/>
                      <a:gd name="connsiteY120" fmla="*/ 39596 h 301385"/>
                      <a:gd name="connsiteX121" fmla="*/ 309315 w 339814"/>
                      <a:gd name="connsiteY121" fmla="*/ 19398 h 301385"/>
                      <a:gd name="connsiteX122" fmla="*/ 328326 w 339814"/>
                      <a:gd name="connsiteY122" fmla="*/ 2367 h 301385"/>
                      <a:gd name="connsiteX123" fmla="*/ 339814 w 339814"/>
                      <a:gd name="connsiteY123" fmla="*/ 13854 h 301385"/>
                      <a:gd name="connsiteX124" fmla="*/ 332289 w 339814"/>
                      <a:gd name="connsiteY124" fmla="*/ 25737 h 301385"/>
                      <a:gd name="connsiteX125" fmla="*/ 321993 w 339814"/>
                      <a:gd name="connsiteY125" fmla="*/ 20193 h 301385"/>
                      <a:gd name="connsiteX126" fmla="*/ 309715 w 339814"/>
                      <a:gd name="connsiteY126" fmla="*/ 36829 h 301385"/>
                      <a:gd name="connsiteX127" fmla="*/ 309715 w 339814"/>
                      <a:gd name="connsiteY127" fmla="*/ 88711 h 301385"/>
                      <a:gd name="connsiteX128" fmla="*/ 323579 w 339814"/>
                      <a:gd name="connsiteY128" fmla="*/ 90692 h 301385"/>
                      <a:gd name="connsiteX129" fmla="*/ 323579 w 339814"/>
                      <a:gd name="connsiteY129" fmla="*/ 99008 h 301385"/>
                      <a:gd name="connsiteX130" fmla="*/ 279616 w 339814"/>
                      <a:gd name="connsiteY130" fmla="*/ 99008 h 301385"/>
                      <a:gd name="connsiteX131" fmla="*/ 279616 w 339814"/>
                      <a:gd name="connsiteY131" fmla="*/ 91088 h 301385"/>
                      <a:gd name="connsiteX132" fmla="*/ 291103 w 339814"/>
                      <a:gd name="connsiteY132" fmla="*/ 88711 h 301385"/>
                      <a:gd name="connsiteX133" fmla="*/ 291103 w 339814"/>
                      <a:gd name="connsiteY133" fmla="*/ 15840 h 301385"/>
                      <a:gd name="connsiteX134" fmla="*/ 279616 w 339814"/>
                      <a:gd name="connsiteY134" fmla="*/ 13859 h 301385"/>
                      <a:gd name="connsiteX135" fmla="*/ 279616 w 339814"/>
                      <a:gd name="connsiteY135" fmla="*/ 7520 h 301385"/>
                      <a:gd name="connsiteX136" fmla="*/ 303381 w 339814"/>
                      <a:gd name="connsiteY136" fmla="*/ 1181 h 301385"/>
                      <a:gd name="connsiteX137" fmla="*/ 309324 w 339814"/>
                      <a:gd name="connsiteY137" fmla="*/ 1181 h 301385"/>
                      <a:gd name="connsiteX138" fmla="*/ 309324 w 339814"/>
                      <a:gd name="connsiteY138" fmla="*/ 19398 h 30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339814" h="301385">
                        <a:moveTo>
                          <a:pt x="49902" y="99003"/>
                        </a:moveTo>
                        <a:lnTo>
                          <a:pt x="49902" y="91083"/>
                        </a:lnTo>
                        <a:lnTo>
                          <a:pt x="60198" y="89102"/>
                        </a:lnTo>
                        <a:lnTo>
                          <a:pt x="60198" y="31280"/>
                        </a:lnTo>
                        <a:cubicBezTo>
                          <a:pt x="60198" y="20193"/>
                          <a:pt x="56635" y="15045"/>
                          <a:pt x="49111" y="15045"/>
                        </a:cubicBezTo>
                        <a:cubicBezTo>
                          <a:pt x="43172" y="15045"/>
                          <a:pt x="38024" y="17421"/>
                          <a:pt x="30494" y="23756"/>
                        </a:cubicBezTo>
                        <a:lnTo>
                          <a:pt x="30494" y="88311"/>
                        </a:lnTo>
                        <a:lnTo>
                          <a:pt x="40791" y="90687"/>
                        </a:lnTo>
                        <a:lnTo>
                          <a:pt x="40791" y="99003"/>
                        </a:lnTo>
                        <a:lnTo>
                          <a:pt x="0" y="99003"/>
                        </a:lnTo>
                        <a:lnTo>
                          <a:pt x="0" y="91083"/>
                        </a:lnTo>
                        <a:lnTo>
                          <a:pt x="11482" y="88707"/>
                        </a:lnTo>
                        <a:lnTo>
                          <a:pt x="11482" y="16626"/>
                        </a:lnTo>
                        <a:lnTo>
                          <a:pt x="0" y="15040"/>
                        </a:lnTo>
                        <a:lnTo>
                          <a:pt x="0" y="7120"/>
                        </a:lnTo>
                        <a:lnTo>
                          <a:pt x="24555" y="781"/>
                        </a:lnTo>
                        <a:lnTo>
                          <a:pt x="30104" y="781"/>
                        </a:lnTo>
                        <a:lnTo>
                          <a:pt x="30104" y="12663"/>
                        </a:lnTo>
                        <a:cubicBezTo>
                          <a:pt x="41986" y="3553"/>
                          <a:pt x="47530" y="1176"/>
                          <a:pt x="56240" y="1176"/>
                        </a:cubicBezTo>
                        <a:cubicBezTo>
                          <a:pt x="71290" y="1176"/>
                          <a:pt x="79610" y="10682"/>
                          <a:pt x="79610" y="26918"/>
                        </a:cubicBezTo>
                        <a:lnTo>
                          <a:pt x="79610" y="88302"/>
                        </a:lnTo>
                        <a:lnTo>
                          <a:pt x="89907" y="90678"/>
                        </a:lnTo>
                        <a:lnTo>
                          <a:pt x="89907" y="98993"/>
                        </a:lnTo>
                        <a:lnTo>
                          <a:pt x="49902" y="98993"/>
                        </a:lnTo>
                        <a:close/>
                        <a:moveTo>
                          <a:pt x="62179" y="301381"/>
                        </a:moveTo>
                        <a:lnTo>
                          <a:pt x="62179" y="293461"/>
                        </a:lnTo>
                        <a:lnTo>
                          <a:pt x="72871" y="291084"/>
                        </a:lnTo>
                        <a:lnTo>
                          <a:pt x="72871" y="219399"/>
                        </a:lnTo>
                        <a:lnTo>
                          <a:pt x="62179" y="217023"/>
                        </a:lnTo>
                        <a:lnTo>
                          <a:pt x="62179" y="210684"/>
                        </a:lnTo>
                        <a:lnTo>
                          <a:pt x="87130" y="204345"/>
                        </a:lnTo>
                        <a:lnTo>
                          <a:pt x="91883" y="204345"/>
                        </a:lnTo>
                        <a:lnTo>
                          <a:pt x="91883" y="290684"/>
                        </a:lnTo>
                        <a:lnTo>
                          <a:pt x="102975" y="293061"/>
                        </a:lnTo>
                        <a:lnTo>
                          <a:pt x="102975" y="301376"/>
                        </a:lnTo>
                        <a:lnTo>
                          <a:pt x="62179" y="301376"/>
                        </a:lnTo>
                        <a:close/>
                        <a:moveTo>
                          <a:pt x="93864" y="168312"/>
                        </a:moveTo>
                        <a:cubicBezTo>
                          <a:pt x="93864" y="175441"/>
                          <a:pt x="87925" y="181380"/>
                          <a:pt x="80796" y="181380"/>
                        </a:cubicBezTo>
                        <a:cubicBezTo>
                          <a:pt x="73666" y="181380"/>
                          <a:pt x="68123" y="175836"/>
                          <a:pt x="68123" y="168707"/>
                        </a:cubicBezTo>
                        <a:cubicBezTo>
                          <a:pt x="68123" y="161577"/>
                          <a:pt x="74062" y="155638"/>
                          <a:pt x="81586" y="155638"/>
                        </a:cubicBezTo>
                        <a:cubicBezTo>
                          <a:pt x="88321" y="155638"/>
                          <a:pt x="93864" y="161577"/>
                          <a:pt x="93864" y="168312"/>
                        </a:cubicBezTo>
                        <a:close/>
                        <a:moveTo>
                          <a:pt x="165945" y="14249"/>
                        </a:moveTo>
                        <a:cubicBezTo>
                          <a:pt x="171488" y="21379"/>
                          <a:pt x="173074" y="26132"/>
                          <a:pt x="173074" y="33657"/>
                        </a:cubicBezTo>
                        <a:cubicBezTo>
                          <a:pt x="173074" y="51873"/>
                          <a:pt x="158815" y="65342"/>
                          <a:pt x="139808" y="65342"/>
                        </a:cubicBezTo>
                        <a:cubicBezTo>
                          <a:pt x="135846" y="65342"/>
                          <a:pt x="132679" y="64946"/>
                          <a:pt x="129116" y="63756"/>
                        </a:cubicBezTo>
                        <a:cubicBezTo>
                          <a:pt x="124363" y="66923"/>
                          <a:pt x="121591" y="70095"/>
                          <a:pt x="121591" y="72071"/>
                        </a:cubicBezTo>
                        <a:cubicBezTo>
                          <a:pt x="121591" y="74843"/>
                          <a:pt x="123968" y="76033"/>
                          <a:pt x="129907" y="76429"/>
                        </a:cubicBezTo>
                        <a:lnTo>
                          <a:pt x="153671" y="77619"/>
                        </a:lnTo>
                        <a:cubicBezTo>
                          <a:pt x="172288" y="78410"/>
                          <a:pt x="180999" y="85539"/>
                          <a:pt x="180999" y="100194"/>
                        </a:cubicBezTo>
                        <a:cubicBezTo>
                          <a:pt x="180999" y="121182"/>
                          <a:pt x="162382" y="134650"/>
                          <a:pt x="133869" y="134650"/>
                        </a:cubicBezTo>
                        <a:cubicBezTo>
                          <a:pt x="112481" y="134650"/>
                          <a:pt x="98622" y="126730"/>
                          <a:pt x="98622" y="114453"/>
                        </a:cubicBezTo>
                        <a:cubicBezTo>
                          <a:pt x="98622" y="106532"/>
                          <a:pt x="102980" y="100984"/>
                          <a:pt x="114067" y="93859"/>
                        </a:cubicBezTo>
                        <a:cubicBezTo>
                          <a:pt x="106146" y="90692"/>
                          <a:pt x="102975" y="86730"/>
                          <a:pt x="102975" y="81186"/>
                        </a:cubicBezTo>
                        <a:cubicBezTo>
                          <a:pt x="102975" y="74452"/>
                          <a:pt x="108123" y="68118"/>
                          <a:pt x="120796" y="60198"/>
                        </a:cubicBezTo>
                        <a:cubicBezTo>
                          <a:pt x="108914" y="52673"/>
                          <a:pt x="104556" y="45149"/>
                          <a:pt x="104556" y="32871"/>
                        </a:cubicBezTo>
                        <a:cubicBezTo>
                          <a:pt x="104556" y="14259"/>
                          <a:pt x="118815" y="0"/>
                          <a:pt x="137427" y="0"/>
                        </a:cubicBezTo>
                        <a:cubicBezTo>
                          <a:pt x="141389" y="0"/>
                          <a:pt x="142975" y="395"/>
                          <a:pt x="150100" y="1981"/>
                        </a:cubicBezTo>
                        <a:cubicBezTo>
                          <a:pt x="154062" y="3172"/>
                          <a:pt x="156834" y="3567"/>
                          <a:pt x="158815" y="3567"/>
                        </a:cubicBezTo>
                        <a:cubicBezTo>
                          <a:pt x="159211" y="3567"/>
                          <a:pt x="160797" y="3567"/>
                          <a:pt x="162382" y="3172"/>
                        </a:cubicBezTo>
                        <a:lnTo>
                          <a:pt x="165945" y="3172"/>
                        </a:lnTo>
                        <a:lnTo>
                          <a:pt x="182185" y="2777"/>
                        </a:lnTo>
                        <a:lnTo>
                          <a:pt x="182185" y="14264"/>
                        </a:lnTo>
                        <a:lnTo>
                          <a:pt x="165945" y="14264"/>
                        </a:lnTo>
                        <a:close/>
                        <a:moveTo>
                          <a:pt x="217032" y="301381"/>
                        </a:moveTo>
                        <a:lnTo>
                          <a:pt x="217032" y="293461"/>
                        </a:lnTo>
                        <a:lnTo>
                          <a:pt x="227729" y="291084"/>
                        </a:lnTo>
                        <a:lnTo>
                          <a:pt x="227729" y="236034"/>
                        </a:lnTo>
                        <a:cubicBezTo>
                          <a:pt x="227729" y="222966"/>
                          <a:pt x="224161" y="217818"/>
                          <a:pt x="215846" y="217818"/>
                        </a:cubicBezTo>
                        <a:cubicBezTo>
                          <a:pt x="209512" y="217818"/>
                          <a:pt x="205154" y="220194"/>
                          <a:pt x="197234" y="227324"/>
                        </a:cubicBezTo>
                        <a:lnTo>
                          <a:pt x="197234" y="290689"/>
                        </a:lnTo>
                        <a:lnTo>
                          <a:pt x="207136" y="293065"/>
                        </a:lnTo>
                        <a:lnTo>
                          <a:pt x="207136" y="301381"/>
                        </a:lnTo>
                        <a:lnTo>
                          <a:pt x="167135" y="301381"/>
                        </a:lnTo>
                        <a:lnTo>
                          <a:pt x="167135" y="293461"/>
                        </a:lnTo>
                        <a:lnTo>
                          <a:pt x="178222" y="291084"/>
                        </a:lnTo>
                        <a:lnTo>
                          <a:pt x="178222" y="235639"/>
                        </a:lnTo>
                        <a:cubicBezTo>
                          <a:pt x="178222" y="223361"/>
                          <a:pt x="174260" y="217818"/>
                          <a:pt x="165549" y="217818"/>
                        </a:cubicBezTo>
                        <a:cubicBezTo>
                          <a:pt x="159215" y="217818"/>
                          <a:pt x="154462" y="220194"/>
                          <a:pt x="147728" y="226929"/>
                        </a:cubicBezTo>
                        <a:lnTo>
                          <a:pt x="147728" y="290694"/>
                        </a:lnTo>
                        <a:lnTo>
                          <a:pt x="156839" y="293070"/>
                        </a:lnTo>
                        <a:lnTo>
                          <a:pt x="156839" y="301385"/>
                        </a:lnTo>
                        <a:lnTo>
                          <a:pt x="116443" y="301385"/>
                        </a:lnTo>
                        <a:lnTo>
                          <a:pt x="116443" y="293465"/>
                        </a:lnTo>
                        <a:lnTo>
                          <a:pt x="127925" y="291089"/>
                        </a:lnTo>
                        <a:lnTo>
                          <a:pt x="127925" y="218218"/>
                        </a:lnTo>
                        <a:lnTo>
                          <a:pt x="116443" y="216237"/>
                        </a:lnTo>
                        <a:lnTo>
                          <a:pt x="116443" y="209502"/>
                        </a:lnTo>
                        <a:lnTo>
                          <a:pt x="141394" y="203163"/>
                        </a:lnTo>
                        <a:lnTo>
                          <a:pt x="146547" y="203163"/>
                        </a:lnTo>
                        <a:lnTo>
                          <a:pt x="146547" y="216232"/>
                        </a:lnTo>
                        <a:cubicBezTo>
                          <a:pt x="156448" y="207917"/>
                          <a:pt x="163973" y="204745"/>
                          <a:pt x="173479" y="204745"/>
                        </a:cubicBezTo>
                        <a:cubicBezTo>
                          <a:pt x="183380" y="204745"/>
                          <a:pt x="190114" y="208702"/>
                          <a:pt x="195658" y="217418"/>
                        </a:cubicBezTo>
                        <a:cubicBezTo>
                          <a:pt x="205954" y="207912"/>
                          <a:pt x="212689" y="204349"/>
                          <a:pt x="222985" y="204349"/>
                        </a:cubicBezTo>
                        <a:cubicBezTo>
                          <a:pt x="240016" y="204349"/>
                          <a:pt x="247145" y="212665"/>
                          <a:pt x="247145" y="232467"/>
                        </a:cubicBezTo>
                        <a:lnTo>
                          <a:pt x="247145" y="290684"/>
                        </a:lnTo>
                        <a:lnTo>
                          <a:pt x="258237" y="293061"/>
                        </a:lnTo>
                        <a:lnTo>
                          <a:pt x="258237" y="301376"/>
                        </a:lnTo>
                        <a:lnTo>
                          <a:pt x="217032" y="301376"/>
                        </a:lnTo>
                        <a:close/>
                        <a:moveTo>
                          <a:pt x="117629" y="110090"/>
                        </a:moveTo>
                        <a:cubicBezTo>
                          <a:pt x="117629" y="118801"/>
                          <a:pt x="125549" y="123954"/>
                          <a:pt x="138617" y="123954"/>
                        </a:cubicBezTo>
                        <a:cubicBezTo>
                          <a:pt x="154857" y="123954"/>
                          <a:pt x="167135" y="116824"/>
                          <a:pt x="167135" y="107713"/>
                        </a:cubicBezTo>
                        <a:cubicBezTo>
                          <a:pt x="167135" y="98603"/>
                          <a:pt x="163968" y="97812"/>
                          <a:pt x="124759" y="95436"/>
                        </a:cubicBezTo>
                        <a:cubicBezTo>
                          <a:pt x="119605" y="100189"/>
                          <a:pt x="117629" y="104151"/>
                          <a:pt x="117629" y="110090"/>
                        </a:cubicBezTo>
                        <a:close/>
                        <a:moveTo>
                          <a:pt x="125549" y="32071"/>
                        </a:moveTo>
                        <a:cubicBezTo>
                          <a:pt x="125549" y="48706"/>
                          <a:pt x="129511" y="56231"/>
                          <a:pt x="139017" y="56231"/>
                        </a:cubicBezTo>
                        <a:cubicBezTo>
                          <a:pt x="148128" y="56231"/>
                          <a:pt x="152481" y="48706"/>
                          <a:pt x="152481" y="34052"/>
                        </a:cubicBezTo>
                        <a:cubicBezTo>
                          <a:pt x="152481" y="16626"/>
                          <a:pt x="147728" y="8311"/>
                          <a:pt x="138222" y="8311"/>
                        </a:cubicBezTo>
                        <a:cubicBezTo>
                          <a:pt x="129507" y="8306"/>
                          <a:pt x="125549" y="15831"/>
                          <a:pt x="125549" y="32071"/>
                        </a:cubicBezTo>
                        <a:close/>
                        <a:moveTo>
                          <a:pt x="213074" y="49101"/>
                        </a:moveTo>
                        <a:cubicBezTo>
                          <a:pt x="215055" y="76033"/>
                          <a:pt x="221789" y="87121"/>
                          <a:pt x="236044" y="87121"/>
                        </a:cubicBezTo>
                        <a:cubicBezTo>
                          <a:pt x="243174" y="87121"/>
                          <a:pt x="248321" y="83558"/>
                          <a:pt x="254261" y="74447"/>
                        </a:cubicBezTo>
                        <a:lnTo>
                          <a:pt x="262976" y="78010"/>
                        </a:lnTo>
                        <a:cubicBezTo>
                          <a:pt x="253075" y="95831"/>
                          <a:pt x="245945" y="100979"/>
                          <a:pt x="230500" y="100979"/>
                        </a:cubicBezTo>
                        <a:cubicBezTo>
                          <a:pt x="206736" y="100979"/>
                          <a:pt x="193272" y="83949"/>
                          <a:pt x="193272" y="53059"/>
                        </a:cubicBezTo>
                        <a:cubicBezTo>
                          <a:pt x="193272" y="20188"/>
                          <a:pt x="207136" y="386"/>
                          <a:pt x="230105" y="386"/>
                        </a:cubicBezTo>
                        <a:cubicBezTo>
                          <a:pt x="252284" y="386"/>
                          <a:pt x="262976" y="16226"/>
                          <a:pt x="263376" y="49097"/>
                        </a:cubicBezTo>
                        <a:lnTo>
                          <a:pt x="213074" y="49097"/>
                        </a:lnTo>
                        <a:close/>
                        <a:moveTo>
                          <a:pt x="243174" y="39596"/>
                        </a:moveTo>
                        <a:cubicBezTo>
                          <a:pt x="242383" y="18207"/>
                          <a:pt x="238420" y="9892"/>
                          <a:pt x="229310" y="9892"/>
                        </a:cubicBezTo>
                        <a:cubicBezTo>
                          <a:pt x="220199" y="9892"/>
                          <a:pt x="215446" y="19002"/>
                          <a:pt x="213070" y="39596"/>
                        </a:cubicBezTo>
                        <a:lnTo>
                          <a:pt x="243174" y="39596"/>
                        </a:lnTo>
                        <a:close/>
                        <a:moveTo>
                          <a:pt x="309315" y="19398"/>
                        </a:moveTo>
                        <a:cubicBezTo>
                          <a:pt x="317235" y="5929"/>
                          <a:pt x="321197" y="2367"/>
                          <a:pt x="328326" y="2367"/>
                        </a:cubicBezTo>
                        <a:cubicBezTo>
                          <a:pt x="335456" y="2367"/>
                          <a:pt x="339814" y="6725"/>
                          <a:pt x="339814" y="13854"/>
                        </a:cubicBezTo>
                        <a:cubicBezTo>
                          <a:pt x="339814" y="18212"/>
                          <a:pt x="337438" y="21774"/>
                          <a:pt x="332289" y="25737"/>
                        </a:cubicBezTo>
                        <a:lnTo>
                          <a:pt x="321993" y="20193"/>
                        </a:lnTo>
                        <a:cubicBezTo>
                          <a:pt x="315259" y="23756"/>
                          <a:pt x="309715" y="31280"/>
                          <a:pt x="309715" y="36829"/>
                        </a:cubicBezTo>
                        <a:lnTo>
                          <a:pt x="309715" y="88711"/>
                        </a:lnTo>
                        <a:lnTo>
                          <a:pt x="323579" y="90692"/>
                        </a:lnTo>
                        <a:lnTo>
                          <a:pt x="323579" y="99008"/>
                        </a:lnTo>
                        <a:lnTo>
                          <a:pt x="279616" y="99008"/>
                        </a:lnTo>
                        <a:lnTo>
                          <a:pt x="279616" y="91088"/>
                        </a:lnTo>
                        <a:lnTo>
                          <a:pt x="291103" y="88711"/>
                        </a:lnTo>
                        <a:lnTo>
                          <a:pt x="291103" y="15840"/>
                        </a:lnTo>
                        <a:lnTo>
                          <a:pt x="279616" y="13859"/>
                        </a:lnTo>
                        <a:lnTo>
                          <a:pt x="279616" y="7520"/>
                        </a:lnTo>
                        <a:lnTo>
                          <a:pt x="303381" y="1181"/>
                        </a:lnTo>
                        <a:lnTo>
                          <a:pt x="309324" y="1181"/>
                        </a:lnTo>
                        <a:lnTo>
                          <a:pt x="309324" y="19398"/>
                        </a:lnTo>
                        <a:close/>
                      </a:path>
                    </a:pathLst>
                  </a:custGeom>
                  <a:solidFill>
                    <a:srgbClr val="003D7C"/>
                  </a:solidFill>
                  <a:ln w="4763" cap="flat">
                    <a:noFill/>
                    <a:prstDash val="solid"/>
                    <a:miter/>
                  </a:ln>
                </p:spPr>
                <p:txBody>
                  <a:bodyPr rtlCol="0" anchor="ctr"/>
                  <a:lstStyle/>
                  <a:p>
                    <a:endParaRPr lang="en-GB" sz="3200"/>
                  </a:p>
                </p:txBody>
              </p:sp>
            </p:grpSp>
            <p:sp>
              <p:nvSpPr>
                <p:cNvPr id="65" name="Freeform: Shape 64">
                  <a:extLst>
                    <a:ext uri="{FF2B5EF4-FFF2-40B4-BE49-F238E27FC236}">
                      <a16:creationId xmlns:a16="http://schemas.microsoft.com/office/drawing/2014/main" id="{1E948291-706F-4969-81A0-6DA35BB0B5CC}"/>
                    </a:ext>
                  </a:extLst>
                </p:cNvPr>
                <p:cNvSpPr/>
                <p:nvPr/>
              </p:nvSpPr>
              <p:spPr>
                <a:xfrm>
                  <a:off x="2248038" y="1360755"/>
                  <a:ext cx="1282022" cy="1418562"/>
                </a:xfrm>
                <a:custGeom>
                  <a:avLst/>
                  <a:gdLst>
                    <a:gd name="connsiteX0" fmla="*/ 1183262 w 1282022"/>
                    <a:gd name="connsiteY0" fmla="*/ 929231 h 1418562"/>
                    <a:gd name="connsiteX1" fmla="*/ 1159974 w 1282022"/>
                    <a:gd name="connsiteY1" fmla="*/ 932017 h 1418562"/>
                    <a:gd name="connsiteX2" fmla="*/ 1145157 w 1282022"/>
                    <a:gd name="connsiteY2" fmla="*/ 884211 h 1418562"/>
                    <a:gd name="connsiteX3" fmla="*/ 1269640 w 1282022"/>
                    <a:gd name="connsiteY3" fmla="*/ 709289 h 1418562"/>
                    <a:gd name="connsiteX4" fmla="*/ 1145157 w 1282022"/>
                    <a:gd name="connsiteY4" fmla="*/ 534367 h 1418562"/>
                    <a:gd name="connsiteX5" fmla="*/ 1159974 w 1282022"/>
                    <a:gd name="connsiteY5" fmla="*/ 486556 h 1418562"/>
                    <a:gd name="connsiteX6" fmla="*/ 1183262 w 1282022"/>
                    <a:gd name="connsiteY6" fmla="*/ 489342 h 1418562"/>
                    <a:gd name="connsiteX7" fmla="*/ 1282022 w 1282022"/>
                    <a:gd name="connsiteY7" fmla="*/ 390582 h 1418562"/>
                    <a:gd name="connsiteX8" fmla="*/ 1183262 w 1282022"/>
                    <a:gd name="connsiteY8" fmla="*/ 291822 h 1418562"/>
                    <a:gd name="connsiteX9" fmla="*/ 1086941 w 1282022"/>
                    <a:gd name="connsiteY9" fmla="*/ 368799 h 1418562"/>
                    <a:gd name="connsiteX10" fmla="*/ 1047212 w 1282022"/>
                    <a:gd name="connsiteY10" fmla="*/ 362388 h 1418562"/>
                    <a:gd name="connsiteX11" fmla="*/ 1048731 w 1282022"/>
                    <a:gd name="connsiteY11" fmla="*/ 339004 h 1418562"/>
                    <a:gd name="connsiteX12" fmla="*/ 863589 w 1282022"/>
                    <a:gd name="connsiteY12" fmla="*/ 153862 h 1418562"/>
                    <a:gd name="connsiteX13" fmla="*/ 742393 w 1282022"/>
                    <a:gd name="connsiteY13" fmla="*/ 199111 h 1418562"/>
                    <a:gd name="connsiteX14" fmla="*/ 712508 w 1282022"/>
                    <a:gd name="connsiteY14" fmla="*/ 166854 h 1418562"/>
                    <a:gd name="connsiteX15" fmla="*/ 739778 w 1282022"/>
                    <a:gd name="connsiteY15" fmla="*/ 98760 h 1418562"/>
                    <a:gd name="connsiteX16" fmla="*/ 641014 w 1282022"/>
                    <a:gd name="connsiteY16" fmla="*/ 0 h 1418562"/>
                    <a:gd name="connsiteX17" fmla="*/ 542254 w 1282022"/>
                    <a:gd name="connsiteY17" fmla="*/ 98760 h 1418562"/>
                    <a:gd name="connsiteX18" fmla="*/ 641014 w 1282022"/>
                    <a:gd name="connsiteY18" fmla="*/ 197520 h 1418562"/>
                    <a:gd name="connsiteX19" fmla="*/ 703474 w 1282022"/>
                    <a:gd name="connsiteY19" fmla="*/ 175251 h 1418562"/>
                    <a:gd name="connsiteX20" fmla="*/ 733320 w 1282022"/>
                    <a:gd name="connsiteY20" fmla="*/ 207469 h 1418562"/>
                    <a:gd name="connsiteX21" fmla="*/ 678442 w 1282022"/>
                    <a:gd name="connsiteY21" fmla="*/ 339004 h 1418562"/>
                    <a:gd name="connsiteX22" fmla="*/ 863584 w 1282022"/>
                    <a:gd name="connsiteY22" fmla="*/ 524147 h 1418562"/>
                    <a:gd name="connsiteX23" fmla="*/ 1045278 w 1282022"/>
                    <a:gd name="connsiteY23" fmla="*/ 374566 h 1418562"/>
                    <a:gd name="connsiteX24" fmla="*/ 1084964 w 1282022"/>
                    <a:gd name="connsiteY24" fmla="*/ 380972 h 1418562"/>
                    <a:gd name="connsiteX25" fmla="*/ 1084493 w 1282022"/>
                    <a:gd name="connsiteY25" fmla="*/ 390587 h 1418562"/>
                    <a:gd name="connsiteX26" fmla="*/ 1148186 w 1282022"/>
                    <a:gd name="connsiteY26" fmla="*/ 482917 h 1418562"/>
                    <a:gd name="connsiteX27" fmla="*/ 1133375 w 1282022"/>
                    <a:gd name="connsiteY27" fmla="*/ 530719 h 1418562"/>
                    <a:gd name="connsiteX28" fmla="*/ 1084493 w 1282022"/>
                    <a:gd name="connsiteY28" fmla="*/ 524147 h 1418562"/>
                    <a:gd name="connsiteX29" fmla="*/ 899351 w 1282022"/>
                    <a:gd name="connsiteY29" fmla="*/ 709289 h 1418562"/>
                    <a:gd name="connsiteX30" fmla="*/ 1084493 w 1282022"/>
                    <a:gd name="connsiteY30" fmla="*/ 894431 h 1418562"/>
                    <a:gd name="connsiteX31" fmla="*/ 1133375 w 1282022"/>
                    <a:gd name="connsiteY31" fmla="*/ 887859 h 1418562"/>
                    <a:gd name="connsiteX32" fmla="*/ 1148186 w 1282022"/>
                    <a:gd name="connsiteY32" fmla="*/ 935660 h 1418562"/>
                    <a:gd name="connsiteX33" fmla="*/ 1084493 w 1282022"/>
                    <a:gd name="connsiteY33" fmla="*/ 1027990 h 1418562"/>
                    <a:gd name="connsiteX34" fmla="*/ 1084964 w 1282022"/>
                    <a:gd name="connsiteY34" fmla="*/ 1037606 h 1418562"/>
                    <a:gd name="connsiteX35" fmla="*/ 1045278 w 1282022"/>
                    <a:gd name="connsiteY35" fmla="*/ 1044011 h 1418562"/>
                    <a:gd name="connsiteX36" fmla="*/ 863584 w 1282022"/>
                    <a:gd name="connsiteY36" fmla="*/ 894431 h 1418562"/>
                    <a:gd name="connsiteX37" fmla="*/ 773540 w 1282022"/>
                    <a:gd name="connsiteY37" fmla="*/ 917810 h 1418562"/>
                    <a:gd name="connsiteX38" fmla="*/ 741602 w 1282022"/>
                    <a:gd name="connsiteY38" fmla="*/ 864684 h 1418562"/>
                    <a:gd name="connsiteX39" fmla="*/ 826151 w 1282022"/>
                    <a:gd name="connsiteY39" fmla="*/ 709289 h 1418562"/>
                    <a:gd name="connsiteX40" fmla="*/ 641009 w 1282022"/>
                    <a:gd name="connsiteY40" fmla="*/ 524147 h 1418562"/>
                    <a:gd name="connsiteX41" fmla="*/ 541530 w 1282022"/>
                    <a:gd name="connsiteY41" fmla="*/ 553179 h 1418562"/>
                    <a:gd name="connsiteX42" fmla="*/ 517184 w 1282022"/>
                    <a:gd name="connsiteY42" fmla="*/ 517646 h 1418562"/>
                    <a:gd name="connsiteX43" fmla="*/ 604104 w 1282022"/>
                    <a:gd name="connsiteY43" fmla="*/ 360731 h 1418562"/>
                    <a:gd name="connsiteX44" fmla="*/ 418962 w 1282022"/>
                    <a:gd name="connsiteY44" fmla="*/ 175589 h 1418562"/>
                    <a:gd name="connsiteX45" fmla="*/ 233820 w 1282022"/>
                    <a:gd name="connsiteY45" fmla="*/ 360731 h 1418562"/>
                    <a:gd name="connsiteX46" fmla="*/ 234120 w 1282022"/>
                    <a:gd name="connsiteY46" fmla="*/ 371070 h 1418562"/>
                    <a:gd name="connsiteX47" fmla="*/ 196253 w 1282022"/>
                    <a:gd name="connsiteY47" fmla="*/ 374795 h 1418562"/>
                    <a:gd name="connsiteX48" fmla="*/ 98765 w 1282022"/>
                    <a:gd name="connsiteY48" fmla="*/ 291818 h 1418562"/>
                    <a:gd name="connsiteX49" fmla="*/ 0 w 1282022"/>
                    <a:gd name="connsiteY49" fmla="*/ 390577 h 1418562"/>
                    <a:gd name="connsiteX50" fmla="*/ 98765 w 1282022"/>
                    <a:gd name="connsiteY50" fmla="*/ 489337 h 1418562"/>
                    <a:gd name="connsiteX51" fmla="*/ 122049 w 1282022"/>
                    <a:gd name="connsiteY51" fmla="*/ 486551 h 1418562"/>
                    <a:gd name="connsiteX52" fmla="*/ 136865 w 1282022"/>
                    <a:gd name="connsiteY52" fmla="*/ 534357 h 1418562"/>
                    <a:gd name="connsiteX53" fmla="*/ 12383 w 1282022"/>
                    <a:gd name="connsiteY53" fmla="*/ 709279 h 1418562"/>
                    <a:gd name="connsiteX54" fmla="*/ 136865 w 1282022"/>
                    <a:gd name="connsiteY54" fmla="*/ 884201 h 1418562"/>
                    <a:gd name="connsiteX55" fmla="*/ 122049 w 1282022"/>
                    <a:gd name="connsiteY55" fmla="*/ 932007 h 1418562"/>
                    <a:gd name="connsiteX56" fmla="*/ 98765 w 1282022"/>
                    <a:gd name="connsiteY56" fmla="*/ 929221 h 1418562"/>
                    <a:gd name="connsiteX57" fmla="*/ 0 w 1282022"/>
                    <a:gd name="connsiteY57" fmla="*/ 1027981 h 1418562"/>
                    <a:gd name="connsiteX58" fmla="*/ 98765 w 1282022"/>
                    <a:gd name="connsiteY58" fmla="*/ 1126741 h 1418562"/>
                    <a:gd name="connsiteX59" fmla="*/ 195091 w 1282022"/>
                    <a:gd name="connsiteY59" fmla="*/ 1049741 h 1418562"/>
                    <a:gd name="connsiteX60" fmla="*/ 235334 w 1282022"/>
                    <a:gd name="connsiteY60" fmla="*/ 1056223 h 1418562"/>
                    <a:gd name="connsiteX61" fmla="*/ 233820 w 1282022"/>
                    <a:gd name="connsiteY61" fmla="*/ 1079559 h 1418562"/>
                    <a:gd name="connsiteX62" fmla="*/ 418962 w 1282022"/>
                    <a:gd name="connsiteY62" fmla="*/ 1264701 h 1418562"/>
                    <a:gd name="connsiteX63" fmla="*/ 539996 w 1282022"/>
                    <a:gd name="connsiteY63" fmla="*/ 1219596 h 1418562"/>
                    <a:gd name="connsiteX64" fmla="*/ 569600 w 1282022"/>
                    <a:gd name="connsiteY64" fmla="*/ 1251623 h 1418562"/>
                    <a:gd name="connsiteX65" fmla="*/ 542249 w 1282022"/>
                    <a:gd name="connsiteY65" fmla="*/ 1319803 h 1418562"/>
                    <a:gd name="connsiteX66" fmla="*/ 641009 w 1282022"/>
                    <a:gd name="connsiteY66" fmla="*/ 1418563 h 1418562"/>
                    <a:gd name="connsiteX67" fmla="*/ 739773 w 1282022"/>
                    <a:gd name="connsiteY67" fmla="*/ 1319803 h 1418562"/>
                    <a:gd name="connsiteX68" fmla="*/ 641009 w 1282022"/>
                    <a:gd name="connsiteY68" fmla="*/ 1221043 h 1418562"/>
                    <a:gd name="connsiteX69" fmla="*/ 578639 w 1282022"/>
                    <a:gd name="connsiteY69" fmla="*/ 1243241 h 1418562"/>
                    <a:gd name="connsiteX70" fmla="*/ 549069 w 1282022"/>
                    <a:gd name="connsiteY70" fmla="*/ 1211247 h 1418562"/>
                    <a:gd name="connsiteX71" fmla="*/ 604104 w 1282022"/>
                    <a:gd name="connsiteY71" fmla="*/ 1079559 h 1418562"/>
                    <a:gd name="connsiteX72" fmla="*/ 418962 w 1282022"/>
                    <a:gd name="connsiteY72" fmla="*/ 894417 h 1418562"/>
                    <a:gd name="connsiteX73" fmla="*/ 237258 w 1282022"/>
                    <a:gd name="connsiteY73" fmla="*/ 1044045 h 1418562"/>
                    <a:gd name="connsiteX74" fmla="*/ 197053 w 1282022"/>
                    <a:gd name="connsiteY74" fmla="*/ 1037568 h 1418562"/>
                    <a:gd name="connsiteX75" fmla="*/ 197525 w 1282022"/>
                    <a:gd name="connsiteY75" fmla="*/ 1027981 h 1418562"/>
                    <a:gd name="connsiteX76" fmla="*/ 133831 w 1282022"/>
                    <a:gd name="connsiteY76" fmla="*/ 935650 h 1418562"/>
                    <a:gd name="connsiteX77" fmla="*/ 148647 w 1282022"/>
                    <a:gd name="connsiteY77" fmla="*/ 887849 h 1418562"/>
                    <a:gd name="connsiteX78" fmla="*/ 197530 w 1282022"/>
                    <a:gd name="connsiteY78" fmla="*/ 894421 h 1418562"/>
                    <a:gd name="connsiteX79" fmla="*/ 382672 w 1282022"/>
                    <a:gd name="connsiteY79" fmla="*/ 709279 h 1418562"/>
                    <a:gd name="connsiteX80" fmla="*/ 197530 w 1282022"/>
                    <a:gd name="connsiteY80" fmla="*/ 524137 h 1418562"/>
                    <a:gd name="connsiteX81" fmla="*/ 148647 w 1282022"/>
                    <a:gd name="connsiteY81" fmla="*/ 530709 h 1418562"/>
                    <a:gd name="connsiteX82" fmla="*/ 133836 w 1282022"/>
                    <a:gd name="connsiteY82" fmla="*/ 482908 h 1418562"/>
                    <a:gd name="connsiteX83" fmla="*/ 197530 w 1282022"/>
                    <a:gd name="connsiteY83" fmla="*/ 390577 h 1418562"/>
                    <a:gd name="connsiteX84" fmla="*/ 197439 w 1282022"/>
                    <a:gd name="connsiteY84" fmla="*/ 387068 h 1418562"/>
                    <a:gd name="connsiteX85" fmla="*/ 235244 w 1282022"/>
                    <a:gd name="connsiteY85" fmla="*/ 383348 h 1418562"/>
                    <a:gd name="connsiteX86" fmla="*/ 418962 w 1282022"/>
                    <a:gd name="connsiteY86" fmla="*/ 545873 h 1418562"/>
                    <a:gd name="connsiteX87" fmla="*/ 506516 w 1282022"/>
                    <a:gd name="connsiteY87" fmla="*/ 523885 h 1418562"/>
                    <a:gd name="connsiteX88" fmla="*/ 531352 w 1282022"/>
                    <a:gd name="connsiteY88" fmla="*/ 560132 h 1418562"/>
                    <a:gd name="connsiteX89" fmla="*/ 455867 w 1282022"/>
                    <a:gd name="connsiteY89" fmla="*/ 709289 h 1418562"/>
                    <a:gd name="connsiteX90" fmla="*/ 641009 w 1282022"/>
                    <a:gd name="connsiteY90" fmla="*/ 894431 h 1418562"/>
                    <a:gd name="connsiteX91" fmla="*/ 731053 w 1282022"/>
                    <a:gd name="connsiteY91" fmla="*/ 871052 h 1418562"/>
                    <a:gd name="connsiteX92" fmla="*/ 762986 w 1282022"/>
                    <a:gd name="connsiteY92" fmla="*/ 924177 h 1418562"/>
                    <a:gd name="connsiteX93" fmla="*/ 678442 w 1282022"/>
                    <a:gd name="connsiteY93" fmla="*/ 1079573 h 1418562"/>
                    <a:gd name="connsiteX94" fmla="*/ 863584 w 1282022"/>
                    <a:gd name="connsiteY94" fmla="*/ 1264715 h 1418562"/>
                    <a:gd name="connsiteX95" fmla="*/ 1048726 w 1282022"/>
                    <a:gd name="connsiteY95" fmla="*/ 1079573 h 1418562"/>
                    <a:gd name="connsiteX96" fmla="*/ 1047207 w 1282022"/>
                    <a:gd name="connsiteY96" fmla="*/ 1056189 h 1418562"/>
                    <a:gd name="connsiteX97" fmla="*/ 1086936 w 1282022"/>
                    <a:gd name="connsiteY97" fmla="*/ 1049779 h 1418562"/>
                    <a:gd name="connsiteX98" fmla="*/ 1183257 w 1282022"/>
                    <a:gd name="connsiteY98" fmla="*/ 1126755 h 1418562"/>
                    <a:gd name="connsiteX99" fmla="*/ 1282017 w 1282022"/>
                    <a:gd name="connsiteY99" fmla="*/ 1027995 h 1418562"/>
                    <a:gd name="connsiteX100" fmla="*/ 1183262 w 1282022"/>
                    <a:gd name="connsiteY100" fmla="*/ 929231 h 141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282022" h="1418562">
                      <a:moveTo>
                        <a:pt x="1183262" y="929231"/>
                      </a:moveTo>
                      <a:cubicBezTo>
                        <a:pt x="1175237" y="929231"/>
                        <a:pt x="1167446" y="930212"/>
                        <a:pt x="1159974" y="932017"/>
                      </a:cubicBezTo>
                      <a:lnTo>
                        <a:pt x="1145157" y="884211"/>
                      </a:lnTo>
                      <a:cubicBezTo>
                        <a:pt x="1217605" y="859088"/>
                        <a:pt x="1269640" y="790284"/>
                        <a:pt x="1269640" y="709289"/>
                      </a:cubicBezTo>
                      <a:cubicBezTo>
                        <a:pt x="1269640" y="628293"/>
                        <a:pt x="1217605" y="559489"/>
                        <a:pt x="1145157" y="534367"/>
                      </a:cubicBezTo>
                      <a:lnTo>
                        <a:pt x="1159974" y="486556"/>
                      </a:lnTo>
                      <a:cubicBezTo>
                        <a:pt x="1167446" y="488361"/>
                        <a:pt x="1175237" y="489342"/>
                        <a:pt x="1183262" y="489342"/>
                      </a:cubicBezTo>
                      <a:cubicBezTo>
                        <a:pt x="1237807" y="489342"/>
                        <a:pt x="1282022" y="445122"/>
                        <a:pt x="1282022" y="390582"/>
                      </a:cubicBezTo>
                      <a:cubicBezTo>
                        <a:pt x="1282022" y="336042"/>
                        <a:pt x="1237807" y="291822"/>
                        <a:pt x="1183262" y="291822"/>
                      </a:cubicBezTo>
                      <a:cubicBezTo>
                        <a:pt x="1136209" y="291822"/>
                        <a:pt x="1096866" y="324741"/>
                        <a:pt x="1086941" y="368799"/>
                      </a:cubicBezTo>
                      <a:lnTo>
                        <a:pt x="1047212" y="362388"/>
                      </a:lnTo>
                      <a:cubicBezTo>
                        <a:pt x="1048179" y="354725"/>
                        <a:pt x="1048731" y="346934"/>
                        <a:pt x="1048731" y="339004"/>
                      </a:cubicBezTo>
                      <a:cubicBezTo>
                        <a:pt x="1048731" y="236753"/>
                        <a:pt x="965840" y="153862"/>
                        <a:pt x="863589" y="153862"/>
                      </a:cubicBezTo>
                      <a:cubicBezTo>
                        <a:pt x="817221" y="153862"/>
                        <a:pt x="774873" y="170945"/>
                        <a:pt x="742393" y="199111"/>
                      </a:cubicBezTo>
                      <a:lnTo>
                        <a:pt x="712508" y="166854"/>
                      </a:lnTo>
                      <a:cubicBezTo>
                        <a:pt x="729391" y="149133"/>
                        <a:pt x="739778" y="125168"/>
                        <a:pt x="739778" y="98760"/>
                      </a:cubicBezTo>
                      <a:cubicBezTo>
                        <a:pt x="739778" y="44215"/>
                        <a:pt x="695563" y="0"/>
                        <a:pt x="641014" y="0"/>
                      </a:cubicBezTo>
                      <a:cubicBezTo>
                        <a:pt x="586469" y="0"/>
                        <a:pt x="542254" y="44215"/>
                        <a:pt x="542254" y="98760"/>
                      </a:cubicBezTo>
                      <a:cubicBezTo>
                        <a:pt x="542254" y="153305"/>
                        <a:pt x="586469" y="197520"/>
                        <a:pt x="641014" y="197520"/>
                      </a:cubicBezTo>
                      <a:cubicBezTo>
                        <a:pt x="664712" y="197520"/>
                        <a:pt x="686457" y="189167"/>
                        <a:pt x="703474" y="175251"/>
                      </a:cubicBezTo>
                      <a:lnTo>
                        <a:pt x="733320" y="207469"/>
                      </a:lnTo>
                      <a:cubicBezTo>
                        <a:pt x="699440" y="241021"/>
                        <a:pt x="678442" y="287555"/>
                        <a:pt x="678442" y="339004"/>
                      </a:cubicBezTo>
                      <a:cubicBezTo>
                        <a:pt x="678442" y="441255"/>
                        <a:pt x="761333" y="524147"/>
                        <a:pt x="863584" y="524147"/>
                      </a:cubicBezTo>
                      <a:cubicBezTo>
                        <a:pt x="953667" y="524147"/>
                        <a:pt x="1028690" y="459796"/>
                        <a:pt x="1045278" y="374566"/>
                      </a:cubicBezTo>
                      <a:lnTo>
                        <a:pt x="1084964" y="380972"/>
                      </a:lnTo>
                      <a:cubicBezTo>
                        <a:pt x="1084659" y="384134"/>
                        <a:pt x="1084493" y="387339"/>
                        <a:pt x="1084493" y="390587"/>
                      </a:cubicBezTo>
                      <a:cubicBezTo>
                        <a:pt x="1084493" y="432778"/>
                        <a:pt x="1110958" y="468768"/>
                        <a:pt x="1148186" y="482917"/>
                      </a:cubicBezTo>
                      <a:lnTo>
                        <a:pt x="1133375" y="530719"/>
                      </a:lnTo>
                      <a:cubicBezTo>
                        <a:pt x="1117797" y="526466"/>
                        <a:pt x="1101419" y="524147"/>
                        <a:pt x="1084493" y="524147"/>
                      </a:cubicBezTo>
                      <a:cubicBezTo>
                        <a:pt x="982242" y="524147"/>
                        <a:pt x="899351" y="607038"/>
                        <a:pt x="899351" y="709289"/>
                      </a:cubicBezTo>
                      <a:cubicBezTo>
                        <a:pt x="899351" y="811540"/>
                        <a:pt x="982242" y="894431"/>
                        <a:pt x="1084493" y="894431"/>
                      </a:cubicBezTo>
                      <a:cubicBezTo>
                        <a:pt x="1101419" y="894431"/>
                        <a:pt x="1117797" y="892116"/>
                        <a:pt x="1133375" y="887859"/>
                      </a:cubicBezTo>
                      <a:lnTo>
                        <a:pt x="1148186" y="935660"/>
                      </a:lnTo>
                      <a:cubicBezTo>
                        <a:pt x="1110958" y="949809"/>
                        <a:pt x="1084493" y="985799"/>
                        <a:pt x="1084493" y="1027990"/>
                      </a:cubicBezTo>
                      <a:cubicBezTo>
                        <a:pt x="1084493" y="1031234"/>
                        <a:pt x="1084659" y="1034439"/>
                        <a:pt x="1084964" y="1037606"/>
                      </a:cubicBezTo>
                      <a:lnTo>
                        <a:pt x="1045278" y="1044011"/>
                      </a:lnTo>
                      <a:cubicBezTo>
                        <a:pt x="1028690" y="958782"/>
                        <a:pt x="953667" y="894431"/>
                        <a:pt x="863584" y="894431"/>
                      </a:cubicBezTo>
                      <a:cubicBezTo>
                        <a:pt x="830890" y="894431"/>
                        <a:pt x="800195" y="902937"/>
                        <a:pt x="773540" y="917810"/>
                      </a:cubicBezTo>
                      <a:lnTo>
                        <a:pt x="741602" y="864684"/>
                      </a:lnTo>
                      <a:cubicBezTo>
                        <a:pt x="792471" y="831685"/>
                        <a:pt x="826151" y="774440"/>
                        <a:pt x="826151" y="709289"/>
                      </a:cubicBezTo>
                      <a:cubicBezTo>
                        <a:pt x="826151" y="607038"/>
                        <a:pt x="743260" y="524147"/>
                        <a:pt x="641009" y="524147"/>
                      </a:cubicBezTo>
                      <a:cubicBezTo>
                        <a:pt x="604380" y="524147"/>
                        <a:pt x="570267" y="534829"/>
                        <a:pt x="541530" y="553179"/>
                      </a:cubicBezTo>
                      <a:lnTo>
                        <a:pt x="517184" y="517646"/>
                      </a:lnTo>
                      <a:cubicBezTo>
                        <a:pt x="569376" y="484904"/>
                        <a:pt x="604104" y="426887"/>
                        <a:pt x="604104" y="360731"/>
                      </a:cubicBezTo>
                      <a:cubicBezTo>
                        <a:pt x="604104" y="258480"/>
                        <a:pt x="521213" y="175589"/>
                        <a:pt x="418962" y="175589"/>
                      </a:cubicBezTo>
                      <a:cubicBezTo>
                        <a:pt x="316711" y="175589"/>
                        <a:pt x="233820" y="258480"/>
                        <a:pt x="233820" y="360731"/>
                      </a:cubicBezTo>
                      <a:cubicBezTo>
                        <a:pt x="233820" y="364203"/>
                        <a:pt x="233934" y="367646"/>
                        <a:pt x="234120" y="371070"/>
                      </a:cubicBezTo>
                      <a:lnTo>
                        <a:pt x="196253" y="374795"/>
                      </a:lnTo>
                      <a:cubicBezTo>
                        <a:pt x="188695" y="327755"/>
                        <a:pt x="147933" y="291818"/>
                        <a:pt x="98765" y="291818"/>
                      </a:cubicBezTo>
                      <a:cubicBezTo>
                        <a:pt x="44220" y="291818"/>
                        <a:pt x="0" y="336037"/>
                        <a:pt x="0" y="390577"/>
                      </a:cubicBezTo>
                      <a:cubicBezTo>
                        <a:pt x="0" y="445118"/>
                        <a:pt x="44215" y="489337"/>
                        <a:pt x="98765" y="489337"/>
                      </a:cubicBezTo>
                      <a:cubicBezTo>
                        <a:pt x="106790" y="489337"/>
                        <a:pt x="114581" y="488356"/>
                        <a:pt x="122049" y="486551"/>
                      </a:cubicBezTo>
                      <a:lnTo>
                        <a:pt x="136865" y="534357"/>
                      </a:lnTo>
                      <a:cubicBezTo>
                        <a:pt x="64418" y="559480"/>
                        <a:pt x="12383" y="628283"/>
                        <a:pt x="12383" y="709279"/>
                      </a:cubicBezTo>
                      <a:cubicBezTo>
                        <a:pt x="12383" y="790275"/>
                        <a:pt x="64418" y="859079"/>
                        <a:pt x="136865" y="884201"/>
                      </a:cubicBezTo>
                      <a:lnTo>
                        <a:pt x="122049" y="932007"/>
                      </a:lnTo>
                      <a:cubicBezTo>
                        <a:pt x="114576" y="930202"/>
                        <a:pt x="106785" y="929221"/>
                        <a:pt x="98765" y="929221"/>
                      </a:cubicBezTo>
                      <a:cubicBezTo>
                        <a:pt x="44220" y="929221"/>
                        <a:pt x="0" y="973436"/>
                        <a:pt x="0" y="1027981"/>
                      </a:cubicBezTo>
                      <a:cubicBezTo>
                        <a:pt x="0" y="1082526"/>
                        <a:pt x="44215" y="1126741"/>
                        <a:pt x="98765" y="1126741"/>
                      </a:cubicBezTo>
                      <a:cubicBezTo>
                        <a:pt x="145828" y="1126741"/>
                        <a:pt x="185176" y="1093808"/>
                        <a:pt x="195091" y="1049741"/>
                      </a:cubicBezTo>
                      <a:lnTo>
                        <a:pt x="235334" y="1056223"/>
                      </a:lnTo>
                      <a:cubicBezTo>
                        <a:pt x="234372" y="1063871"/>
                        <a:pt x="233820" y="1071648"/>
                        <a:pt x="233820" y="1079559"/>
                      </a:cubicBezTo>
                      <a:cubicBezTo>
                        <a:pt x="233820" y="1181810"/>
                        <a:pt x="316711" y="1264701"/>
                        <a:pt x="418962" y="1264701"/>
                      </a:cubicBezTo>
                      <a:cubicBezTo>
                        <a:pt x="465249" y="1264701"/>
                        <a:pt x="507535" y="1247675"/>
                        <a:pt x="539996" y="1219596"/>
                      </a:cubicBezTo>
                      <a:lnTo>
                        <a:pt x="569600" y="1251623"/>
                      </a:lnTo>
                      <a:cubicBezTo>
                        <a:pt x="552669" y="1269354"/>
                        <a:pt x="542249" y="1293352"/>
                        <a:pt x="542249" y="1319803"/>
                      </a:cubicBezTo>
                      <a:cubicBezTo>
                        <a:pt x="542249" y="1374348"/>
                        <a:pt x="586464" y="1418563"/>
                        <a:pt x="641009" y="1418563"/>
                      </a:cubicBezTo>
                      <a:cubicBezTo>
                        <a:pt x="695554" y="1418563"/>
                        <a:pt x="739773" y="1374348"/>
                        <a:pt x="739773" y="1319803"/>
                      </a:cubicBezTo>
                      <a:cubicBezTo>
                        <a:pt x="739773" y="1265258"/>
                        <a:pt x="695558" y="1221043"/>
                        <a:pt x="641009" y="1221043"/>
                      </a:cubicBezTo>
                      <a:cubicBezTo>
                        <a:pt x="617353" y="1221043"/>
                        <a:pt x="595646" y="1229368"/>
                        <a:pt x="578639" y="1243241"/>
                      </a:cubicBezTo>
                      <a:lnTo>
                        <a:pt x="549069" y="1211247"/>
                      </a:lnTo>
                      <a:cubicBezTo>
                        <a:pt x="583040" y="1177681"/>
                        <a:pt x="604104" y="1131089"/>
                        <a:pt x="604104" y="1079559"/>
                      </a:cubicBezTo>
                      <a:cubicBezTo>
                        <a:pt x="604104" y="977308"/>
                        <a:pt x="521213" y="894417"/>
                        <a:pt x="418962" y="894417"/>
                      </a:cubicBezTo>
                      <a:cubicBezTo>
                        <a:pt x="328860" y="894417"/>
                        <a:pt x="253832" y="958791"/>
                        <a:pt x="237258" y="1044045"/>
                      </a:cubicBezTo>
                      <a:lnTo>
                        <a:pt x="197053" y="1037568"/>
                      </a:lnTo>
                      <a:cubicBezTo>
                        <a:pt x="197358" y="1034410"/>
                        <a:pt x="197525" y="1031215"/>
                        <a:pt x="197525" y="1027981"/>
                      </a:cubicBezTo>
                      <a:cubicBezTo>
                        <a:pt x="197525" y="985790"/>
                        <a:pt x="171059" y="949800"/>
                        <a:pt x="133831" y="935650"/>
                      </a:cubicBezTo>
                      <a:lnTo>
                        <a:pt x="148647" y="887849"/>
                      </a:lnTo>
                      <a:cubicBezTo>
                        <a:pt x="164225" y="892102"/>
                        <a:pt x="180604" y="894421"/>
                        <a:pt x="197530" y="894421"/>
                      </a:cubicBezTo>
                      <a:cubicBezTo>
                        <a:pt x="299780" y="894421"/>
                        <a:pt x="382672" y="811530"/>
                        <a:pt x="382672" y="709279"/>
                      </a:cubicBezTo>
                      <a:cubicBezTo>
                        <a:pt x="382672" y="607028"/>
                        <a:pt x="299780" y="524137"/>
                        <a:pt x="197530" y="524137"/>
                      </a:cubicBezTo>
                      <a:cubicBezTo>
                        <a:pt x="180604" y="524137"/>
                        <a:pt x="164225" y="526452"/>
                        <a:pt x="148647" y="530709"/>
                      </a:cubicBezTo>
                      <a:lnTo>
                        <a:pt x="133836" y="482908"/>
                      </a:lnTo>
                      <a:cubicBezTo>
                        <a:pt x="171064" y="468759"/>
                        <a:pt x="197530" y="432768"/>
                        <a:pt x="197530" y="390577"/>
                      </a:cubicBezTo>
                      <a:cubicBezTo>
                        <a:pt x="197530" y="389401"/>
                        <a:pt x="197482" y="388234"/>
                        <a:pt x="197439" y="387068"/>
                      </a:cubicBezTo>
                      <a:lnTo>
                        <a:pt x="235244" y="383348"/>
                      </a:lnTo>
                      <a:cubicBezTo>
                        <a:pt x="246407" y="474921"/>
                        <a:pt x="324374" y="545873"/>
                        <a:pt x="418962" y="545873"/>
                      </a:cubicBezTo>
                      <a:cubicBezTo>
                        <a:pt x="450637" y="545873"/>
                        <a:pt x="480446" y="537905"/>
                        <a:pt x="506516" y="523885"/>
                      </a:cubicBezTo>
                      <a:lnTo>
                        <a:pt x="531352" y="560132"/>
                      </a:lnTo>
                      <a:cubicBezTo>
                        <a:pt x="485585" y="593841"/>
                        <a:pt x="455867" y="648086"/>
                        <a:pt x="455867" y="709289"/>
                      </a:cubicBezTo>
                      <a:cubicBezTo>
                        <a:pt x="455867" y="811540"/>
                        <a:pt x="538758" y="894431"/>
                        <a:pt x="641009" y="894431"/>
                      </a:cubicBezTo>
                      <a:cubicBezTo>
                        <a:pt x="673703" y="894431"/>
                        <a:pt x="704398" y="885925"/>
                        <a:pt x="731053" y="871052"/>
                      </a:cubicBezTo>
                      <a:lnTo>
                        <a:pt x="762986" y="924177"/>
                      </a:lnTo>
                      <a:cubicBezTo>
                        <a:pt x="712118" y="957177"/>
                        <a:pt x="678442" y="1014422"/>
                        <a:pt x="678442" y="1079573"/>
                      </a:cubicBezTo>
                      <a:cubicBezTo>
                        <a:pt x="678442" y="1181824"/>
                        <a:pt x="761333" y="1264715"/>
                        <a:pt x="863584" y="1264715"/>
                      </a:cubicBezTo>
                      <a:cubicBezTo>
                        <a:pt x="965835" y="1264715"/>
                        <a:pt x="1048726" y="1181824"/>
                        <a:pt x="1048726" y="1079573"/>
                      </a:cubicBezTo>
                      <a:cubicBezTo>
                        <a:pt x="1048726" y="1071648"/>
                        <a:pt x="1048169" y="1063857"/>
                        <a:pt x="1047207" y="1056189"/>
                      </a:cubicBezTo>
                      <a:lnTo>
                        <a:pt x="1086936" y="1049779"/>
                      </a:lnTo>
                      <a:cubicBezTo>
                        <a:pt x="1096861" y="1093837"/>
                        <a:pt x="1136204" y="1126755"/>
                        <a:pt x="1183257" y="1126755"/>
                      </a:cubicBezTo>
                      <a:cubicBezTo>
                        <a:pt x="1237802" y="1126755"/>
                        <a:pt x="1282017" y="1082540"/>
                        <a:pt x="1282017" y="1027995"/>
                      </a:cubicBezTo>
                      <a:cubicBezTo>
                        <a:pt x="1282027" y="973446"/>
                        <a:pt x="1237807" y="929231"/>
                        <a:pt x="1183262" y="929231"/>
                      </a:cubicBezTo>
                      <a:close/>
                    </a:path>
                  </a:pathLst>
                </a:custGeom>
                <a:solidFill>
                  <a:srgbClr val="FDAF00"/>
                </a:solidFill>
                <a:ln w="4763" cap="flat">
                  <a:noFill/>
                  <a:prstDash val="solid"/>
                  <a:miter/>
                </a:ln>
              </p:spPr>
              <p:txBody>
                <a:bodyPr rtlCol="0" anchor="ctr"/>
                <a:lstStyle/>
                <a:p>
                  <a:endParaRPr lang="en-GB" sz="3200"/>
                </a:p>
              </p:txBody>
            </p:sp>
          </p:grpSp>
          <p:grpSp>
            <p:nvGrpSpPr>
              <p:cNvPr id="32" name="Graphic 72">
                <a:extLst>
                  <a:ext uri="{FF2B5EF4-FFF2-40B4-BE49-F238E27FC236}">
                    <a16:creationId xmlns:a16="http://schemas.microsoft.com/office/drawing/2014/main" id="{C871A4DE-D666-4192-9669-DC0290AE343F}"/>
                  </a:ext>
                </a:extLst>
              </p:cNvPr>
              <p:cNvGrpSpPr/>
              <p:nvPr/>
            </p:nvGrpSpPr>
            <p:grpSpPr>
              <a:xfrm>
                <a:off x="2551075" y="2326519"/>
                <a:ext cx="224723" cy="224723"/>
                <a:chOff x="2551075" y="2326519"/>
                <a:chExt cx="224723" cy="224723"/>
              </a:xfrm>
              <a:noFill/>
            </p:grpSpPr>
            <p:sp>
              <p:nvSpPr>
                <p:cNvPr id="53" name="Freeform: Shape 52">
                  <a:extLst>
                    <a:ext uri="{FF2B5EF4-FFF2-40B4-BE49-F238E27FC236}">
                      <a16:creationId xmlns:a16="http://schemas.microsoft.com/office/drawing/2014/main" id="{D1151203-4F8A-486A-B20E-E46C1525F349}"/>
                    </a:ext>
                  </a:extLst>
                </p:cNvPr>
                <p:cNvSpPr/>
                <p:nvPr/>
              </p:nvSpPr>
              <p:spPr>
                <a:xfrm>
                  <a:off x="2551075" y="2326519"/>
                  <a:ext cx="224723" cy="224723"/>
                </a:xfrm>
                <a:custGeom>
                  <a:avLst/>
                  <a:gdLst>
                    <a:gd name="connsiteX0" fmla="*/ 224723 w 224723"/>
                    <a:gd name="connsiteY0" fmla="*/ 112362 h 224723"/>
                    <a:gd name="connsiteX1" fmla="*/ 112361 w 224723"/>
                    <a:gd name="connsiteY1" fmla="*/ 224723 h 224723"/>
                    <a:gd name="connsiteX2" fmla="*/ 0 w 224723"/>
                    <a:gd name="connsiteY2" fmla="*/ 112362 h 224723"/>
                    <a:gd name="connsiteX3" fmla="*/ 112361 w 224723"/>
                    <a:gd name="connsiteY3" fmla="*/ 0 h 224723"/>
                    <a:gd name="connsiteX4" fmla="*/ 224723 w 224723"/>
                    <a:gd name="connsiteY4" fmla="*/ 112362 h 224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23" h="224723">
                      <a:moveTo>
                        <a:pt x="224723" y="112362"/>
                      </a:moveTo>
                      <a:cubicBezTo>
                        <a:pt x="224723" y="174417"/>
                        <a:pt x="174417" y="224723"/>
                        <a:pt x="112361" y="224723"/>
                      </a:cubicBezTo>
                      <a:cubicBezTo>
                        <a:pt x="50306" y="224723"/>
                        <a:pt x="0" y="174418"/>
                        <a:pt x="0" y="112362"/>
                      </a:cubicBezTo>
                      <a:cubicBezTo>
                        <a:pt x="0" y="50306"/>
                        <a:pt x="50306" y="0"/>
                        <a:pt x="112361" y="0"/>
                      </a:cubicBezTo>
                      <a:cubicBezTo>
                        <a:pt x="174417" y="0"/>
                        <a:pt x="224723" y="50306"/>
                        <a:pt x="224723" y="112362"/>
                      </a:cubicBezTo>
                      <a:close/>
                    </a:path>
                  </a:pathLst>
                </a:custGeom>
                <a:noFill/>
                <a:ln w="9525" cap="flat">
                  <a:solidFill>
                    <a:srgbClr val="FFFFFF"/>
                  </a:solidFill>
                  <a:prstDash val="solid"/>
                  <a:miter/>
                </a:ln>
              </p:spPr>
              <p:txBody>
                <a:bodyPr rtlCol="0" anchor="ctr"/>
                <a:lstStyle/>
                <a:p>
                  <a:endParaRPr lang="en-GB" sz="3200"/>
                </a:p>
              </p:txBody>
            </p:sp>
            <p:sp>
              <p:nvSpPr>
                <p:cNvPr id="54" name="Freeform: Shape 53">
                  <a:extLst>
                    <a:ext uri="{FF2B5EF4-FFF2-40B4-BE49-F238E27FC236}">
                      <a16:creationId xmlns:a16="http://schemas.microsoft.com/office/drawing/2014/main" id="{647A05F4-B880-4E99-84D7-F03A3E7693FA}"/>
                    </a:ext>
                  </a:extLst>
                </p:cNvPr>
                <p:cNvSpPr/>
                <p:nvPr/>
              </p:nvSpPr>
              <p:spPr>
                <a:xfrm>
                  <a:off x="2597724" y="2326519"/>
                  <a:ext cx="131425" cy="224723"/>
                </a:xfrm>
                <a:custGeom>
                  <a:avLst/>
                  <a:gdLst>
                    <a:gd name="connsiteX0" fmla="*/ 131426 w 131425"/>
                    <a:gd name="connsiteY0" fmla="*/ 112362 h 224723"/>
                    <a:gd name="connsiteX1" fmla="*/ 65713 w 131425"/>
                    <a:gd name="connsiteY1" fmla="*/ 224723 h 224723"/>
                    <a:gd name="connsiteX2" fmla="*/ 0 w 131425"/>
                    <a:gd name="connsiteY2" fmla="*/ 112362 h 224723"/>
                    <a:gd name="connsiteX3" fmla="*/ 65713 w 131425"/>
                    <a:gd name="connsiteY3" fmla="*/ 0 h 224723"/>
                    <a:gd name="connsiteX4" fmla="*/ 131426 w 131425"/>
                    <a:gd name="connsiteY4" fmla="*/ 112362 h 2247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25" h="224723">
                      <a:moveTo>
                        <a:pt x="131426" y="112362"/>
                      </a:moveTo>
                      <a:cubicBezTo>
                        <a:pt x="131426" y="174417"/>
                        <a:pt x="102005" y="224723"/>
                        <a:pt x="65713" y="224723"/>
                      </a:cubicBezTo>
                      <a:cubicBezTo>
                        <a:pt x="29421" y="224723"/>
                        <a:pt x="0" y="174418"/>
                        <a:pt x="0" y="112362"/>
                      </a:cubicBezTo>
                      <a:cubicBezTo>
                        <a:pt x="0" y="50306"/>
                        <a:pt x="29421" y="0"/>
                        <a:pt x="65713" y="0"/>
                      </a:cubicBezTo>
                      <a:cubicBezTo>
                        <a:pt x="102005" y="0"/>
                        <a:pt x="131426" y="50306"/>
                        <a:pt x="131426" y="112362"/>
                      </a:cubicBezTo>
                      <a:close/>
                    </a:path>
                  </a:pathLst>
                </a:custGeom>
                <a:noFill/>
                <a:ln w="9525" cap="flat">
                  <a:solidFill>
                    <a:srgbClr val="FFFFFF"/>
                  </a:solidFill>
                  <a:prstDash val="solid"/>
                  <a:miter/>
                </a:ln>
              </p:spPr>
              <p:txBody>
                <a:bodyPr rtlCol="0" anchor="ctr"/>
                <a:lstStyle/>
                <a:p>
                  <a:endParaRPr lang="en-GB" sz="3200"/>
                </a:p>
              </p:txBody>
            </p:sp>
            <p:sp>
              <p:nvSpPr>
                <p:cNvPr id="55" name="Freeform: Shape 54">
                  <a:extLst>
                    <a:ext uri="{FF2B5EF4-FFF2-40B4-BE49-F238E27FC236}">
                      <a16:creationId xmlns:a16="http://schemas.microsoft.com/office/drawing/2014/main" id="{90F17864-AF48-42DB-BC93-85D971F02A59}"/>
                    </a:ext>
                  </a:extLst>
                </p:cNvPr>
                <p:cNvSpPr/>
                <p:nvPr/>
              </p:nvSpPr>
              <p:spPr>
                <a:xfrm>
                  <a:off x="2578484" y="2364805"/>
                  <a:ext cx="169226" cy="23009"/>
                </a:xfrm>
                <a:custGeom>
                  <a:avLst/>
                  <a:gdLst>
                    <a:gd name="connsiteX0" fmla="*/ 0 w 169226"/>
                    <a:gd name="connsiteY0" fmla="*/ 1357 h 23009"/>
                    <a:gd name="connsiteX1" fmla="*/ 169226 w 169226"/>
                    <a:gd name="connsiteY1" fmla="*/ 0 h 23009"/>
                  </a:gdLst>
                  <a:ahLst/>
                  <a:cxnLst>
                    <a:cxn ang="0">
                      <a:pos x="connsiteX0" y="connsiteY0"/>
                    </a:cxn>
                    <a:cxn ang="0">
                      <a:pos x="connsiteX1" y="connsiteY1"/>
                    </a:cxn>
                  </a:cxnLst>
                  <a:rect l="l" t="t" r="r" b="b"/>
                  <a:pathLst>
                    <a:path w="169226" h="23009">
                      <a:moveTo>
                        <a:pt x="0" y="1357"/>
                      </a:moveTo>
                      <a:cubicBezTo>
                        <a:pt x="0" y="1357"/>
                        <a:pt x="70680" y="50968"/>
                        <a:pt x="169226" y="0"/>
                      </a:cubicBezTo>
                    </a:path>
                  </a:pathLst>
                </a:custGeom>
                <a:noFill/>
                <a:ln w="9525" cap="flat">
                  <a:solidFill>
                    <a:srgbClr val="FFFFFF"/>
                  </a:solidFill>
                  <a:prstDash val="solid"/>
                  <a:miter/>
                </a:ln>
              </p:spPr>
              <p:txBody>
                <a:bodyPr rtlCol="0" anchor="ctr"/>
                <a:lstStyle/>
                <a:p>
                  <a:endParaRPr lang="en-GB" sz="3200"/>
                </a:p>
              </p:txBody>
            </p:sp>
            <p:sp>
              <p:nvSpPr>
                <p:cNvPr id="56" name="Freeform: Shape 55">
                  <a:extLst>
                    <a:ext uri="{FF2B5EF4-FFF2-40B4-BE49-F238E27FC236}">
                      <a16:creationId xmlns:a16="http://schemas.microsoft.com/office/drawing/2014/main" id="{E5730069-D3D9-405C-A3D1-9B3EEDA14E11}"/>
                    </a:ext>
                  </a:extLst>
                </p:cNvPr>
                <p:cNvSpPr/>
                <p:nvPr/>
              </p:nvSpPr>
              <p:spPr>
                <a:xfrm>
                  <a:off x="2580679" y="2486451"/>
                  <a:ext cx="169221" cy="23009"/>
                </a:xfrm>
                <a:custGeom>
                  <a:avLst/>
                  <a:gdLst>
                    <a:gd name="connsiteX0" fmla="*/ 0 w 169221"/>
                    <a:gd name="connsiteY0" fmla="*/ 21653 h 23009"/>
                    <a:gd name="connsiteX1" fmla="*/ 169221 w 169221"/>
                    <a:gd name="connsiteY1" fmla="*/ 23010 h 23009"/>
                  </a:gdLst>
                  <a:ahLst/>
                  <a:cxnLst>
                    <a:cxn ang="0">
                      <a:pos x="connsiteX0" y="connsiteY0"/>
                    </a:cxn>
                    <a:cxn ang="0">
                      <a:pos x="connsiteX1" y="connsiteY1"/>
                    </a:cxn>
                  </a:cxnLst>
                  <a:rect l="l" t="t" r="r" b="b"/>
                  <a:pathLst>
                    <a:path w="169221" h="23009">
                      <a:moveTo>
                        <a:pt x="0" y="21653"/>
                      </a:moveTo>
                      <a:cubicBezTo>
                        <a:pt x="0" y="21653"/>
                        <a:pt x="70680" y="-27958"/>
                        <a:pt x="169221" y="23010"/>
                      </a:cubicBezTo>
                    </a:path>
                  </a:pathLst>
                </a:custGeom>
                <a:noFill/>
                <a:ln w="9525" cap="flat">
                  <a:solidFill>
                    <a:srgbClr val="FFFFFF"/>
                  </a:solidFill>
                  <a:prstDash val="solid"/>
                  <a:miter/>
                </a:ln>
              </p:spPr>
              <p:txBody>
                <a:bodyPr rtlCol="0" anchor="ctr"/>
                <a:lstStyle/>
                <a:p>
                  <a:endParaRPr lang="en-GB" sz="3200"/>
                </a:p>
              </p:txBody>
            </p:sp>
            <p:sp>
              <p:nvSpPr>
                <p:cNvPr id="57" name="Freeform: Shape 56">
                  <a:extLst>
                    <a:ext uri="{FF2B5EF4-FFF2-40B4-BE49-F238E27FC236}">
                      <a16:creationId xmlns:a16="http://schemas.microsoft.com/office/drawing/2014/main" id="{3555888F-5E59-4EC8-9FBD-E393FC09553E}"/>
                    </a:ext>
                  </a:extLst>
                </p:cNvPr>
                <p:cNvSpPr/>
                <p:nvPr/>
              </p:nvSpPr>
              <p:spPr>
                <a:xfrm>
                  <a:off x="2551075" y="2438881"/>
                  <a:ext cx="224723" cy="4762"/>
                </a:xfrm>
                <a:custGeom>
                  <a:avLst/>
                  <a:gdLst>
                    <a:gd name="connsiteX0" fmla="*/ 0 w 224723"/>
                    <a:gd name="connsiteY0" fmla="*/ 0 h 4762"/>
                    <a:gd name="connsiteX1" fmla="*/ 224723 w 224723"/>
                    <a:gd name="connsiteY1" fmla="*/ 0 h 4762"/>
                  </a:gdLst>
                  <a:ahLst/>
                  <a:cxnLst>
                    <a:cxn ang="0">
                      <a:pos x="connsiteX0" y="connsiteY0"/>
                    </a:cxn>
                    <a:cxn ang="0">
                      <a:pos x="connsiteX1" y="connsiteY1"/>
                    </a:cxn>
                  </a:cxnLst>
                  <a:rect l="l" t="t" r="r" b="b"/>
                  <a:pathLst>
                    <a:path w="224723" h="4762">
                      <a:moveTo>
                        <a:pt x="0" y="0"/>
                      </a:moveTo>
                      <a:lnTo>
                        <a:pt x="224723" y="0"/>
                      </a:lnTo>
                    </a:path>
                  </a:pathLst>
                </a:custGeom>
                <a:ln w="9525" cap="flat">
                  <a:solidFill>
                    <a:srgbClr val="FFFFFF"/>
                  </a:solidFill>
                  <a:prstDash val="solid"/>
                  <a:miter/>
                </a:ln>
              </p:spPr>
              <p:txBody>
                <a:bodyPr rtlCol="0" anchor="ctr"/>
                <a:lstStyle/>
                <a:p>
                  <a:endParaRPr lang="en-GB" sz="3200"/>
                </a:p>
              </p:txBody>
            </p:sp>
            <p:sp>
              <p:nvSpPr>
                <p:cNvPr id="58" name="Freeform: Shape 57">
                  <a:extLst>
                    <a:ext uri="{FF2B5EF4-FFF2-40B4-BE49-F238E27FC236}">
                      <a16:creationId xmlns:a16="http://schemas.microsoft.com/office/drawing/2014/main" id="{3081761B-BB6B-454F-8EF8-B8C92E21A145}"/>
                    </a:ext>
                  </a:extLst>
                </p:cNvPr>
                <p:cNvSpPr/>
                <p:nvPr/>
              </p:nvSpPr>
              <p:spPr>
                <a:xfrm>
                  <a:off x="2663437" y="2326519"/>
                  <a:ext cx="4762" cy="224723"/>
                </a:xfrm>
                <a:custGeom>
                  <a:avLst/>
                  <a:gdLst>
                    <a:gd name="connsiteX0" fmla="*/ 0 w 4762"/>
                    <a:gd name="connsiteY0" fmla="*/ 0 h 224723"/>
                    <a:gd name="connsiteX1" fmla="*/ 0 w 4762"/>
                    <a:gd name="connsiteY1" fmla="*/ 224723 h 224723"/>
                  </a:gdLst>
                  <a:ahLst/>
                  <a:cxnLst>
                    <a:cxn ang="0">
                      <a:pos x="connsiteX0" y="connsiteY0"/>
                    </a:cxn>
                    <a:cxn ang="0">
                      <a:pos x="connsiteX1" y="connsiteY1"/>
                    </a:cxn>
                  </a:cxnLst>
                  <a:rect l="l" t="t" r="r" b="b"/>
                  <a:pathLst>
                    <a:path w="4762" h="224723">
                      <a:moveTo>
                        <a:pt x="0" y="0"/>
                      </a:moveTo>
                      <a:lnTo>
                        <a:pt x="0" y="224723"/>
                      </a:lnTo>
                    </a:path>
                  </a:pathLst>
                </a:custGeom>
                <a:ln w="9525" cap="flat">
                  <a:solidFill>
                    <a:srgbClr val="FFFFFF"/>
                  </a:solidFill>
                  <a:prstDash val="solid"/>
                  <a:miter/>
                </a:ln>
              </p:spPr>
              <p:txBody>
                <a:bodyPr rtlCol="0" anchor="ctr"/>
                <a:lstStyle/>
                <a:p>
                  <a:endParaRPr lang="en-GB" sz="3200"/>
                </a:p>
              </p:txBody>
            </p:sp>
          </p:grpSp>
          <p:grpSp>
            <p:nvGrpSpPr>
              <p:cNvPr id="33" name="Graphic 72">
                <a:extLst>
                  <a:ext uri="{FF2B5EF4-FFF2-40B4-BE49-F238E27FC236}">
                    <a16:creationId xmlns:a16="http://schemas.microsoft.com/office/drawing/2014/main" id="{AD02402D-BDCA-4A50-A52C-2559F03D71B4}"/>
                  </a:ext>
                </a:extLst>
              </p:cNvPr>
              <p:cNvGrpSpPr/>
              <p:nvPr/>
            </p:nvGrpSpPr>
            <p:grpSpPr>
              <a:xfrm>
                <a:off x="3001260" y="2356851"/>
                <a:ext cx="227337" cy="166825"/>
                <a:chOff x="3001260" y="2356851"/>
                <a:chExt cx="227337" cy="166825"/>
              </a:xfrm>
              <a:noFill/>
            </p:grpSpPr>
            <p:sp>
              <p:nvSpPr>
                <p:cNvPr id="46" name="Freeform: Shape 45">
                  <a:extLst>
                    <a:ext uri="{FF2B5EF4-FFF2-40B4-BE49-F238E27FC236}">
                      <a16:creationId xmlns:a16="http://schemas.microsoft.com/office/drawing/2014/main" id="{0AAD9C86-0A3F-469E-B982-788D8BE3B335}"/>
                    </a:ext>
                  </a:extLst>
                </p:cNvPr>
                <p:cNvSpPr/>
                <p:nvPr/>
              </p:nvSpPr>
              <p:spPr>
                <a:xfrm>
                  <a:off x="3001260" y="2390646"/>
                  <a:ext cx="36252" cy="36252"/>
                </a:xfrm>
                <a:custGeom>
                  <a:avLst/>
                  <a:gdLst>
                    <a:gd name="connsiteX0" fmla="*/ 36252 w 36252"/>
                    <a:gd name="connsiteY0" fmla="*/ 18126 h 36252"/>
                    <a:gd name="connsiteX1" fmla="*/ 18126 w 36252"/>
                    <a:gd name="connsiteY1" fmla="*/ 36252 h 36252"/>
                    <a:gd name="connsiteX2" fmla="*/ 0 w 36252"/>
                    <a:gd name="connsiteY2" fmla="*/ 18126 h 36252"/>
                    <a:gd name="connsiteX3" fmla="*/ 18126 w 36252"/>
                    <a:gd name="connsiteY3" fmla="*/ 0 h 36252"/>
                    <a:gd name="connsiteX4" fmla="*/ 36252 w 36252"/>
                    <a:gd name="connsiteY4" fmla="*/ 18126 h 3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2" h="36252">
                      <a:moveTo>
                        <a:pt x="36252" y="18126"/>
                      </a:moveTo>
                      <a:cubicBezTo>
                        <a:pt x="36252" y="28137"/>
                        <a:pt x="28137" y="36252"/>
                        <a:pt x="18126" y="36252"/>
                      </a:cubicBezTo>
                      <a:cubicBezTo>
                        <a:pt x="8115" y="36252"/>
                        <a:pt x="0" y="28137"/>
                        <a:pt x="0" y="18126"/>
                      </a:cubicBezTo>
                      <a:cubicBezTo>
                        <a:pt x="0" y="8115"/>
                        <a:pt x="8115" y="0"/>
                        <a:pt x="18126" y="0"/>
                      </a:cubicBezTo>
                      <a:cubicBezTo>
                        <a:pt x="28137" y="0"/>
                        <a:pt x="36252" y="8115"/>
                        <a:pt x="36252" y="18126"/>
                      </a:cubicBezTo>
                      <a:close/>
                    </a:path>
                  </a:pathLst>
                </a:custGeom>
                <a:noFill/>
                <a:ln w="9525" cap="flat">
                  <a:solidFill>
                    <a:srgbClr val="FFFFFF"/>
                  </a:solidFill>
                  <a:prstDash val="solid"/>
                  <a:miter/>
                </a:ln>
              </p:spPr>
              <p:txBody>
                <a:bodyPr rtlCol="0" anchor="ctr"/>
                <a:lstStyle/>
                <a:p>
                  <a:endParaRPr lang="en-GB" sz="3200"/>
                </a:p>
              </p:txBody>
            </p:sp>
            <p:sp>
              <p:nvSpPr>
                <p:cNvPr id="47" name="Freeform: Shape 46">
                  <a:extLst>
                    <a:ext uri="{FF2B5EF4-FFF2-40B4-BE49-F238E27FC236}">
                      <a16:creationId xmlns:a16="http://schemas.microsoft.com/office/drawing/2014/main" id="{2C18B649-FDFE-43CF-9684-F2284858A384}"/>
                    </a:ext>
                  </a:extLst>
                </p:cNvPr>
                <p:cNvSpPr/>
                <p:nvPr/>
              </p:nvSpPr>
              <p:spPr>
                <a:xfrm>
                  <a:off x="3192346" y="2455454"/>
                  <a:ext cx="36252" cy="36252"/>
                </a:xfrm>
                <a:custGeom>
                  <a:avLst/>
                  <a:gdLst>
                    <a:gd name="connsiteX0" fmla="*/ 36252 w 36252"/>
                    <a:gd name="connsiteY0" fmla="*/ 18126 h 36252"/>
                    <a:gd name="connsiteX1" fmla="*/ 18126 w 36252"/>
                    <a:gd name="connsiteY1" fmla="*/ 36252 h 36252"/>
                    <a:gd name="connsiteX2" fmla="*/ 0 w 36252"/>
                    <a:gd name="connsiteY2" fmla="*/ 18126 h 36252"/>
                    <a:gd name="connsiteX3" fmla="*/ 18126 w 36252"/>
                    <a:gd name="connsiteY3" fmla="*/ 0 h 36252"/>
                    <a:gd name="connsiteX4" fmla="*/ 36252 w 36252"/>
                    <a:gd name="connsiteY4" fmla="*/ 18126 h 3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2" h="36252">
                      <a:moveTo>
                        <a:pt x="36252" y="18126"/>
                      </a:moveTo>
                      <a:cubicBezTo>
                        <a:pt x="36252" y="28137"/>
                        <a:pt x="28137" y="36252"/>
                        <a:pt x="18126" y="36252"/>
                      </a:cubicBezTo>
                      <a:cubicBezTo>
                        <a:pt x="8115" y="36252"/>
                        <a:pt x="0" y="28137"/>
                        <a:pt x="0" y="18126"/>
                      </a:cubicBezTo>
                      <a:cubicBezTo>
                        <a:pt x="0" y="8115"/>
                        <a:pt x="8115" y="0"/>
                        <a:pt x="18126" y="0"/>
                      </a:cubicBezTo>
                      <a:cubicBezTo>
                        <a:pt x="28137" y="0"/>
                        <a:pt x="36252" y="8115"/>
                        <a:pt x="36252" y="18126"/>
                      </a:cubicBezTo>
                      <a:close/>
                    </a:path>
                  </a:pathLst>
                </a:custGeom>
                <a:noFill/>
                <a:ln w="9525" cap="flat">
                  <a:solidFill>
                    <a:srgbClr val="FFFFFF"/>
                  </a:solidFill>
                  <a:prstDash val="solid"/>
                  <a:miter/>
                </a:ln>
              </p:spPr>
              <p:txBody>
                <a:bodyPr rtlCol="0" anchor="ctr"/>
                <a:lstStyle/>
                <a:p>
                  <a:endParaRPr lang="en-GB" sz="3200"/>
                </a:p>
              </p:txBody>
            </p:sp>
            <p:sp>
              <p:nvSpPr>
                <p:cNvPr id="48" name="Freeform: Shape 47">
                  <a:extLst>
                    <a:ext uri="{FF2B5EF4-FFF2-40B4-BE49-F238E27FC236}">
                      <a16:creationId xmlns:a16="http://schemas.microsoft.com/office/drawing/2014/main" id="{56C0A6DA-6D48-4B80-9577-CD887B0061AA}"/>
                    </a:ext>
                  </a:extLst>
                </p:cNvPr>
                <p:cNvSpPr/>
                <p:nvPr/>
              </p:nvSpPr>
              <p:spPr>
                <a:xfrm>
                  <a:off x="3135534" y="2356851"/>
                  <a:ext cx="36252" cy="36252"/>
                </a:xfrm>
                <a:custGeom>
                  <a:avLst/>
                  <a:gdLst>
                    <a:gd name="connsiteX0" fmla="*/ 36252 w 36252"/>
                    <a:gd name="connsiteY0" fmla="*/ 18126 h 36252"/>
                    <a:gd name="connsiteX1" fmla="*/ 18126 w 36252"/>
                    <a:gd name="connsiteY1" fmla="*/ 36252 h 36252"/>
                    <a:gd name="connsiteX2" fmla="*/ 0 w 36252"/>
                    <a:gd name="connsiteY2" fmla="*/ 18126 h 36252"/>
                    <a:gd name="connsiteX3" fmla="*/ 18126 w 36252"/>
                    <a:gd name="connsiteY3" fmla="*/ 0 h 36252"/>
                    <a:gd name="connsiteX4" fmla="*/ 36252 w 36252"/>
                    <a:gd name="connsiteY4" fmla="*/ 18126 h 3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2" h="36252">
                      <a:moveTo>
                        <a:pt x="36252" y="18126"/>
                      </a:moveTo>
                      <a:cubicBezTo>
                        <a:pt x="36252" y="28137"/>
                        <a:pt x="28137" y="36252"/>
                        <a:pt x="18126" y="36252"/>
                      </a:cubicBezTo>
                      <a:cubicBezTo>
                        <a:pt x="8115" y="36252"/>
                        <a:pt x="0" y="28137"/>
                        <a:pt x="0" y="18126"/>
                      </a:cubicBezTo>
                      <a:cubicBezTo>
                        <a:pt x="0" y="8115"/>
                        <a:pt x="8115" y="0"/>
                        <a:pt x="18126" y="0"/>
                      </a:cubicBezTo>
                      <a:cubicBezTo>
                        <a:pt x="28137" y="0"/>
                        <a:pt x="36252" y="8115"/>
                        <a:pt x="36252" y="18126"/>
                      </a:cubicBezTo>
                      <a:close/>
                    </a:path>
                  </a:pathLst>
                </a:custGeom>
                <a:noFill/>
                <a:ln w="9525" cap="flat">
                  <a:solidFill>
                    <a:srgbClr val="FFFFFF"/>
                  </a:solidFill>
                  <a:prstDash val="solid"/>
                  <a:miter/>
                </a:ln>
              </p:spPr>
              <p:txBody>
                <a:bodyPr rtlCol="0" anchor="ctr"/>
                <a:lstStyle/>
                <a:p>
                  <a:endParaRPr lang="en-GB" sz="3200"/>
                </a:p>
              </p:txBody>
            </p:sp>
            <p:sp>
              <p:nvSpPr>
                <p:cNvPr id="49" name="Freeform: Shape 48">
                  <a:extLst>
                    <a:ext uri="{FF2B5EF4-FFF2-40B4-BE49-F238E27FC236}">
                      <a16:creationId xmlns:a16="http://schemas.microsoft.com/office/drawing/2014/main" id="{8D23AB55-99F0-43AC-80FA-E20215A19D96}"/>
                    </a:ext>
                  </a:extLst>
                </p:cNvPr>
                <p:cNvSpPr/>
                <p:nvPr/>
              </p:nvSpPr>
              <p:spPr>
                <a:xfrm>
                  <a:off x="3054548" y="2487425"/>
                  <a:ext cx="36252" cy="36252"/>
                </a:xfrm>
                <a:custGeom>
                  <a:avLst/>
                  <a:gdLst>
                    <a:gd name="connsiteX0" fmla="*/ 36252 w 36252"/>
                    <a:gd name="connsiteY0" fmla="*/ 18126 h 36252"/>
                    <a:gd name="connsiteX1" fmla="*/ 18126 w 36252"/>
                    <a:gd name="connsiteY1" fmla="*/ 36252 h 36252"/>
                    <a:gd name="connsiteX2" fmla="*/ 0 w 36252"/>
                    <a:gd name="connsiteY2" fmla="*/ 18126 h 36252"/>
                    <a:gd name="connsiteX3" fmla="*/ 18126 w 36252"/>
                    <a:gd name="connsiteY3" fmla="*/ 0 h 36252"/>
                    <a:gd name="connsiteX4" fmla="*/ 36252 w 36252"/>
                    <a:gd name="connsiteY4" fmla="*/ 18126 h 3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52" h="36252">
                      <a:moveTo>
                        <a:pt x="36252" y="18126"/>
                      </a:moveTo>
                      <a:cubicBezTo>
                        <a:pt x="36252" y="28137"/>
                        <a:pt x="28137" y="36252"/>
                        <a:pt x="18126" y="36252"/>
                      </a:cubicBezTo>
                      <a:cubicBezTo>
                        <a:pt x="8115" y="36252"/>
                        <a:pt x="0" y="28137"/>
                        <a:pt x="0" y="18126"/>
                      </a:cubicBezTo>
                      <a:cubicBezTo>
                        <a:pt x="0" y="8115"/>
                        <a:pt x="8115" y="0"/>
                        <a:pt x="18126" y="0"/>
                      </a:cubicBezTo>
                      <a:cubicBezTo>
                        <a:pt x="28137" y="0"/>
                        <a:pt x="36252" y="8115"/>
                        <a:pt x="36252" y="18126"/>
                      </a:cubicBezTo>
                      <a:close/>
                    </a:path>
                  </a:pathLst>
                </a:custGeom>
                <a:noFill/>
                <a:ln w="9525" cap="flat">
                  <a:solidFill>
                    <a:srgbClr val="FFFFFF"/>
                  </a:solidFill>
                  <a:prstDash val="solid"/>
                  <a:miter/>
                </a:ln>
              </p:spPr>
              <p:txBody>
                <a:bodyPr rtlCol="0" anchor="ctr"/>
                <a:lstStyle/>
                <a:p>
                  <a:endParaRPr lang="en-GB" sz="3200"/>
                </a:p>
              </p:txBody>
            </p:sp>
            <p:sp>
              <p:nvSpPr>
                <p:cNvPr id="50" name="Freeform: Shape 49">
                  <a:extLst>
                    <a:ext uri="{FF2B5EF4-FFF2-40B4-BE49-F238E27FC236}">
                      <a16:creationId xmlns:a16="http://schemas.microsoft.com/office/drawing/2014/main" id="{9E5DCC9C-7D61-43FE-9947-9B83AEAA4D87}"/>
                    </a:ext>
                  </a:extLst>
                </p:cNvPr>
                <p:cNvSpPr/>
                <p:nvPr/>
              </p:nvSpPr>
              <p:spPr>
                <a:xfrm>
                  <a:off x="3025821" y="2424593"/>
                  <a:ext cx="35904" cy="65646"/>
                </a:xfrm>
                <a:custGeom>
                  <a:avLst/>
                  <a:gdLst>
                    <a:gd name="connsiteX0" fmla="*/ 0 w 35904"/>
                    <a:gd name="connsiteY0" fmla="*/ 0 h 65646"/>
                    <a:gd name="connsiteX1" fmla="*/ 35905 w 35904"/>
                    <a:gd name="connsiteY1" fmla="*/ 65646 h 65646"/>
                  </a:gdLst>
                  <a:ahLst/>
                  <a:cxnLst>
                    <a:cxn ang="0">
                      <a:pos x="connsiteX0" y="connsiteY0"/>
                    </a:cxn>
                    <a:cxn ang="0">
                      <a:pos x="connsiteX1" y="connsiteY1"/>
                    </a:cxn>
                  </a:cxnLst>
                  <a:rect l="l" t="t" r="r" b="b"/>
                  <a:pathLst>
                    <a:path w="35904" h="65646">
                      <a:moveTo>
                        <a:pt x="0" y="0"/>
                      </a:moveTo>
                      <a:lnTo>
                        <a:pt x="35905" y="65646"/>
                      </a:lnTo>
                    </a:path>
                  </a:pathLst>
                </a:custGeom>
                <a:ln w="9525" cap="flat">
                  <a:solidFill>
                    <a:srgbClr val="FFFFFF"/>
                  </a:solidFill>
                  <a:prstDash val="solid"/>
                  <a:miter/>
                </a:ln>
              </p:spPr>
              <p:txBody>
                <a:bodyPr rtlCol="0" anchor="ctr"/>
                <a:lstStyle/>
                <a:p>
                  <a:endParaRPr lang="en-GB" sz="3200"/>
                </a:p>
              </p:txBody>
            </p:sp>
            <p:sp>
              <p:nvSpPr>
                <p:cNvPr id="51" name="Freeform: Shape 50">
                  <a:extLst>
                    <a:ext uri="{FF2B5EF4-FFF2-40B4-BE49-F238E27FC236}">
                      <a16:creationId xmlns:a16="http://schemas.microsoft.com/office/drawing/2014/main" id="{EFDD4971-0FC6-4B69-AC29-1F4C4A44BCCE}"/>
                    </a:ext>
                  </a:extLst>
                </p:cNvPr>
                <p:cNvSpPr/>
                <p:nvPr/>
              </p:nvSpPr>
              <p:spPr>
                <a:xfrm>
                  <a:off x="3080018" y="2391551"/>
                  <a:ext cx="66298" cy="97426"/>
                </a:xfrm>
                <a:custGeom>
                  <a:avLst/>
                  <a:gdLst>
                    <a:gd name="connsiteX0" fmla="*/ 0 w 66298"/>
                    <a:gd name="connsiteY0" fmla="*/ 97426 h 97426"/>
                    <a:gd name="connsiteX1" fmla="*/ 66299 w 66298"/>
                    <a:gd name="connsiteY1" fmla="*/ 0 h 97426"/>
                  </a:gdLst>
                  <a:ahLst/>
                  <a:cxnLst>
                    <a:cxn ang="0">
                      <a:pos x="connsiteX0" y="connsiteY0"/>
                    </a:cxn>
                    <a:cxn ang="0">
                      <a:pos x="connsiteX1" y="connsiteY1"/>
                    </a:cxn>
                  </a:cxnLst>
                  <a:rect l="l" t="t" r="r" b="b"/>
                  <a:pathLst>
                    <a:path w="66298" h="97426">
                      <a:moveTo>
                        <a:pt x="0" y="97426"/>
                      </a:moveTo>
                      <a:lnTo>
                        <a:pt x="66299" y="0"/>
                      </a:lnTo>
                    </a:path>
                  </a:pathLst>
                </a:custGeom>
                <a:ln w="9525" cap="flat">
                  <a:solidFill>
                    <a:srgbClr val="FFFFFF"/>
                  </a:solidFill>
                  <a:prstDash val="solid"/>
                  <a:miter/>
                </a:ln>
              </p:spPr>
              <p:txBody>
                <a:bodyPr rtlCol="0" anchor="ctr"/>
                <a:lstStyle/>
                <a:p>
                  <a:endParaRPr lang="en-GB" sz="3200"/>
                </a:p>
              </p:txBody>
            </p:sp>
            <p:sp>
              <p:nvSpPr>
                <p:cNvPr id="52" name="Freeform: Shape 51">
                  <a:extLst>
                    <a:ext uri="{FF2B5EF4-FFF2-40B4-BE49-F238E27FC236}">
                      <a16:creationId xmlns:a16="http://schemas.microsoft.com/office/drawing/2014/main" id="{C0016F6F-2BBA-4AF6-914C-B464B45C9C2B}"/>
                    </a:ext>
                  </a:extLst>
                </p:cNvPr>
                <p:cNvSpPr/>
                <p:nvPr/>
              </p:nvSpPr>
              <p:spPr>
                <a:xfrm>
                  <a:off x="3162428" y="2390541"/>
                  <a:ext cx="37261" cy="66465"/>
                </a:xfrm>
                <a:custGeom>
                  <a:avLst/>
                  <a:gdLst>
                    <a:gd name="connsiteX0" fmla="*/ 0 w 37261"/>
                    <a:gd name="connsiteY0" fmla="*/ 0 h 66465"/>
                    <a:gd name="connsiteX1" fmla="*/ 37262 w 37261"/>
                    <a:gd name="connsiteY1" fmla="*/ 66465 h 66465"/>
                  </a:gdLst>
                  <a:ahLst/>
                  <a:cxnLst>
                    <a:cxn ang="0">
                      <a:pos x="connsiteX0" y="connsiteY0"/>
                    </a:cxn>
                    <a:cxn ang="0">
                      <a:pos x="connsiteX1" y="connsiteY1"/>
                    </a:cxn>
                  </a:cxnLst>
                  <a:rect l="l" t="t" r="r" b="b"/>
                  <a:pathLst>
                    <a:path w="37261" h="66465">
                      <a:moveTo>
                        <a:pt x="0" y="0"/>
                      </a:moveTo>
                      <a:lnTo>
                        <a:pt x="37262" y="66465"/>
                      </a:lnTo>
                    </a:path>
                  </a:pathLst>
                </a:custGeom>
                <a:ln w="9525" cap="flat">
                  <a:solidFill>
                    <a:srgbClr val="FFFFFF"/>
                  </a:solidFill>
                  <a:prstDash val="solid"/>
                  <a:miter/>
                </a:ln>
              </p:spPr>
              <p:txBody>
                <a:bodyPr rtlCol="0" anchor="ctr"/>
                <a:lstStyle/>
                <a:p>
                  <a:endParaRPr lang="en-GB" sz="3200"/>
                </a:p>
              </p:txBody>
            </p:sp>
          </p:grpSp>
          <p:grpSp>
            <p:nvGrpSpPr>
              <p:cNvPr id="34" name="Graphic 72">
                <a:extLst>
                  <a:ext uri="{FF2B5EF4-FFF2-40B4-BE49-F238E27FC236}">
                    <a16:creationId xmlns:a16="http://schemas.microsoft.com/office/drawing/2014/main" id="{8795C044-0C8F-45DA-859C-5B77B3C2F331}"/>
                  </a:ext>
                </a:extLst>
              </p:cNvPr>
              <p:cNvGrpSpPr/>
              <p:nvPr/>
            </p:nvGrpSpPr>
            <p:grpSpPr>
              <a:xfrm>
                <a:off x="2527568" y="1615930"/>
                <a:ext cx="281258" cy="181394"/>
                <a:chOff x="2527568" y="1615930"/>
                <a:chExt cx="281258" cy="181394"/>
              </a:xfrm>
              <a:noFill/>
            </p:grpSpPr>
            <p:grpSp>
              <p:nvGrpSpPr>
                <p:cNvPr id="35" name="Graphic 72">
                  <a:extLst>
                    <a:ext uri="{FF2B5EF4-FFF2-40B4-BE49-F238E27FC236}">
                      <a16:creationId xmlns:a16="http://schemas.microsoft.com/office/drawing/2014/main" id="{273908EE-CA74-4EA4-8DCE-2BDD62B24ED6}"/>
                    </a:ext>
                  </a:extLst>
                </p:cNvPr>
                <p:cNvGrpSpPr/>
                <p:nvPr/>
              </p:nvGrpSpPr>
              <p:grpSpPr>
                <a:xfrm>
                  <a:off x="2603053" y="1615930"/>
                  <a:ext cx="129816" cy="181394"/>
                  <a:chOff x="2603053" y="1615930"/>
                  <a:chExt cx="129816" cy="181394"/>
                </a:xfrm>
                <a:noFill/>
              </p:grpSpPr>
              <p:sp>
                <p:nvSpPr>
                  <p:cNvPr id="44" name="Freeform: Shape 43">
                    <a:extLst>
                      <a:ext uri="{FF2B5EF4-FFF2-40B4-BE49-F238E27FC236}">
                        <a16:creationId xmlns:a16="http://schemas.microsoft.com/office/drawing/2014/main" id="{D0DE94E8-8F99-42CC-8296-A1B37AA7F432}"/>
                      </a:ext>
                    </a:extLst>
                  </p:cNvPr>
                  <p:cNvSpPr/>
                  <p:nvPr/>
                </p:nvSpPr>
                <p:spPr>
                  <a:xfrm>
                    <a:off x="2622180" y="1615930"/>
                    <a:ext cx="91573" cy="91573"/>
                  </a:xfrm>
                  <a:custGeom>
                    <a:avLst/>
                    <a:gdLst>
                      <a:gd name="connsiteX0" fmla="*/ 91573 w 91573"/>
                      <a:gd name="connsiteY0" fmla="*/ 45787 h 91573"/>
                      <a:gd name="connsiteX1" fmla="*/ 45787 w 91573"/>
                      <a:gd name="connsiteY1" fmla="*/ 91573 h 91573"/>
                      <a:gd name="connsiteX2" fmla="*/ 0 w 91573"/>
                      <a:gd name="connsiteY2" fmla="*/ 45787 h 91573"/>
                      <a:gd name="connsiteX3" fmla="*/ 45787 w 91573"/>
                      <a:gd name="connsiteY3" fmla="*/ 0 h 91573"/>
                      <a:gd name="connsiteX4" fmla="*/ 91573 w 91573"/>
                      <a:gd name="connsiteY4" fmla="*/ 45787 h 91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73" h="91573">
                        <a:moveTo>
                          <a:pt x="91573" y="45787"/>
                        </a:moveTo>
                        <a:cubicBezTo>
                          <a:pt x="91573" y="71074"/>
                          <a:pt x="71074" y="91573"/>
                          <a:pt x="45787" y="91573"/>
                        </a:cubicBezTo>
                        <a:cubicBezTo>
                          <a:pt x="20499" y="91573"/>
                          <a:pt x="0" y="71074"/>
                          <a:pt x="0" y="45787"/>
                        </a:cubicBezTo>
                        <a:cubicBezTo>
                          <a:pt x="0" y="20499"/>
                          <a:pt x="20499" y="0"/>
                          <a:pt x="45787" y="0"/>
                        </a:cubicBezTo>
                        <a:cubicBezTo>
                          <a:pt x="71074" y="0"/>
                          <a:pt x="91573" y="20499"/>
                          <a:pt x="91573" y="45787"/>
                        </a:cubicBezTo>
                        <a:close/>
                      </a:path>
                    </a:pathLst>
                  </a:custGeom>
                  <a:noFill/>
                  <a:ln w="9525" cap="rnd">
                    <a:solidFill>
                      <a:srgbClr val="FFFFFF"/>
                    </a:solidFill>
                    <a:prstDash val="solid"/>
                    <a:miter/>
                  </a:ln>
                </p:spPr>
                <p:txBody>
                  <a:bodyPr rtlCol="0" anchor="ctr"/>
                  <a:lstStyle/>
                  <a:p>
                    <a:endParaRPr lang="en-GB" sz="3200"/>
                  </a:p>
                </p:txBody>
              </p:sp>
              <p:sp>
                <p:nvSpPr>
                  <p:cNvPr id="45" name="Freeform: Shape 44">
                    <a:extLst>
                      <a:ext uri="{FF2B5EF4-FFF2-40B4-BE49-F238E27FC236}">
                        <a16:creationId xmlns:a16="http://schemas.microsoft.com/office/drawing/2014/main" id="{7098F236-C695-4CFE-9B75-248FF4923FE9}"/>
                      </a:ext>
                    </a:extLst>
                  </p:cNvPr>
                  <p:cNvSpPr/>
                  <p:nvPr/>
                </p:nvSpPr>
                <p:spPr>
                  <a:xfrm>
                    <a:off x="2603053" y="1696864"/>
                    <a:ext cx="129816" cy="100460"/>
                  </a:xfrm>
                  <a:custGeom>
                    <a:avLst/>
                    <a:gdLst>
                      <a:gd name="connsiteX0" fmla="*/ 94236 w 129816"/>
                      <a:gd name="connsiteY0" fmla="*/ 0 h 100460"/>
                      <a:gd name="connsiteX1" fmla="*/ 129816 w 129816"/>
                      <a:gd name="connsiteY1" fmla="*/ 57922 h 100460"/>
                      <a:gd name="connsiteX2" fmla="*/ 129816 w 129816"/>
                      <a:gd name="connsiteY2" fmla="*/ 100460 h 100460"/>
                      <a:gd name="connsiteX3" fmla="*/ 0 w 129816"/>
                      <a:gd name="connsiteY3" fmla="*/ 100460 h 100460"/>
                      <a:gd name="connsiteX4" fmla="*/ 0 w 129816"/>
                      <a:gd name="connsiteY4" fmla="*/ 57922 h 100460"/>
                      <a:gd name="connsiteX5" fmla="*/ 35581 w 129816"/>
                      <a:gd name="connsiteY5" fmla="*/ 0 h 100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816" h="100460">
                        <a:moveTo>
                          <a:pt x="94236" y="0"/>
                        </a:moveTo>
                        <a:cubicBezTo>
                          <a:pt x="115348" y="10711"/>
                          <a:pt x="129816" y="32628"/>
                          <a:pt x="129816" y="57922"/>
                        </a:cubicBezTo>
                        <a:lnTo>
                          <a:pt x="129816" y="100460"/>
                        </a:lnTo>
                        <a:lnTo>
                          <a:pt x="0" y="100460"/>
                        </a:lnTo>
                        <a:lnTo>
                          <a:pt x="0" y="57922"/>
                        </a:lnTo>
                        <a:cubicBezTo>
                          <a:pt x="0" y="32628"/>
                          <a:pt x="14469" y="10711"/>
                          <a:pt x="35581" y="0"/>
                        </a:cubicBezTo>
                      </a:path>
                    </a:pathLst>
                  </a:custGeom>
                  <a:noFill/>
                  <a:ln w="9525" cap="rnd">
                    <a:solidFill>
                      <a:srgbClr val="FFFFFF"/>
                    </a:solidFill>
                    <a:prstDash val="solid"/>
                    <a:miter/>
                  </a:ln>
                </p:spPr>
                <p:txBody>
                  <a:bodyPr rtlCol="0" anchor="ctr"/>
                  <a:lstStyle/>
                  <a:p>
                    <a:endParaRPr lang="en-GB" sz="3200"/>
                  </a:p>
                </p:txBody>
              </p:sp>
            </p:grpSp>
            <p:grpSp>
              <p:nvGrpSpPr>
                <p:cNvPr id="36" name="Graphic 72">
                  <a:extLst>
                    <a:ext uri="{FF2B5EF4-FFF2-40B4-BE49-F238E27FC236}">
                      <a16:creationId xmlns:a16="http://schemas.microsoft.com/office/drawing/2014/main" id="{376A672E-7A72-425F-8F8D-F71C4A324079}"/>
                    </a:ext>
                  </a:extLst>
                </p:cNvPr>
                <p:cNvGrpSpPr/>
                <p:nvPr/>
              </p:nvGrpSpPr>
              <p:grpSpPr>
                <a:xfrm>
                  <a:off x="2527568" y="1652649"/>
                  <a:ext cx="83167" cy="127958"/>
                  <a:chOff x="2527568" y="1652649"/>
                  <a:chExt cx="83167" cy="127958"/>
                </a:xfrm>
                <a:noFill/>
              </p:grpSpPr>
              <p:sp>
                <p:nvSpPr>
                  <p:cNvPr id="41" name="Freeform: Shape 40">
                    <a:extLst>
                      <a:ext uri="{FF2B5EF4-FFF2-40B4-BE49-F238E27FC236}">
                        <a16:creationId xmlns:a16="http://schemas.microsoft.com/office/drawing/2014/main" id="{F35C4E5A-39F6-4FAF-BFC6-54AE0E823882}"/>
                      </a:ext>
                    </a:extLst>
                  </p:cNvPr>
                  <p:cNvSpPr/>
                  <p:nvPr/>
                </p:nvSpPr>
                <p:spPr>
                  <a:xfrm>
                    <a:off x="2541055" y="1652649"/>
                    <a:ext cx="64598" cy="64598"/>
                  </a:xfrm>
                  <a:custGeom>
                    <a:avLst/>
                    <a:gdLst>
                      <a:gd name="connsiteX0" fmla="*/ 64599 w 64598"/>
                      <a:gd name="connsiteY0" fmla="*/ 32299 h 64598"/>
                      <a:gd name="connsiteX1" fmla="*/ 32299 w 64598"/>
                      <a:gd name="connsiteY1" fmla="*/ 64599 h 64598"/>
                      <a:gd name="connsiteX2" fmla="*/ 0 w 64598"/>
                      <a:gd name="connsiteY2" fmla="*/ 32299 h 64598"/>
                      <a:gd name="connsiteX3" fmla="*/ 32299 w 64598"/>
                      <a:gd name="connsiteY3" fmla="*/ 0 h 64598"/>
                      <a:gd name="connsiteX4" fmla="*/ 64599 w 64598"/>
                      <a:gd name="connsiteY4" fmla="*/ 32299 h 64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98" h="64598">
                        <a:moveTo>
                          <a:pt x="64599" y="32299"/>
                        </a:moveTo>
                        <a:cubicBezTo>
                          <a:pt x="64599" y="50138"/>
                          <a:pt x="50138" y="64599"/>
                          <a:pt x="32299" y="64599"/>
                        </a:cubicBezTo>
                        <a:cubicBezTo>
                          <a:pt x="14461" y="64599"/>
                          <a:pt x="0" y="50138"/>
                          <a:pt x="0" y="32299"/>
                        </a:cubicBezTo>
                        <a:cubicBezTo>
                          <a:pt x="0" y="14461"/>
                          <a:pt x="14461" y="0"/>
                          <a:pt x="32299" y="0"/>
                        </a:cubicBezTo>
                        <a:cubicBezTo>
                          <a:pt x="50138" y="0"/>
                          <a:pt x="64599" y="14461"/>
                          <a:pt x="64599" y="32299"/>
                        </a:cubicBezTo>
                        <a:close/>
                      </a:path>
                    </a:pathLst>
                  </a:custGeom>
                  <a:noFill/>
                  <a:ln w="9525" cap="rnd">
                    <a:solidFill>
                      <a:srgbClr val="FFFFFF"/>
                    </a:solidFill>
                    <a:prstDash val="solid"/>
                    <a:miter/>
                  </a:ln>
                </p:spPr>
                <p:txBody>
                  <a:bodyPr rtlCol="0" anchor="ctr"/>
                  <a:lstStyle/>
                  <a:p>
                    <a:endParaRPr lang="en-GB" sz="3200"/>
                  </a:p>
                </p:txBody>
              </p:sp>
              <p:sp>
                <p:nvSpPr>
                  <p:cNvPr id="42" name="Freeform: Shape 41">
                    <a:extLst>
                      <a:ext uri="{FF2B5EF4-FFF2-40B4-BE49-F238E27FC236}">
                        <a16:creationId xmlns:a16="http://schemas.microsoft.com/office/drawing/2014/main" id="{6A520BB7-64E0-4E5C-BF60-F4CEAACC384A}"/>
                      </a:ext>
                    </a:extLst>
                  </p:cNvPr>
                  <p:cNvSpPr/>
                  <p:nvPr/>
                </p:nvSpPr>
                <p:spPr>
                  <a:xfrm>
                    <a:off x="2527568" y="1709742"/>
                    <a:ext cx="74818" cy="70866"/>
                  </a:xfrm>
                  <a:custGeom>
                    <a:avLst/>
                    <a:gdLst>
                      <a:gd name="connsiteX0" fmla="*/ 74819 w 74818"/>
                      <a:gd name="connsiteY0" fmla="*/ 70866 h 70866"/>
                      <a:gd name="connsiteX1" fmla="*/ 0 w 74818"/>
                      <a:gd name="connsiteY1" fmla="*/ 70866 h 70866"/>
                      <a:gd name="connsiteX2" fmla="*/ 0 w 74818"/>
                      <a:gd name="connsiteY2" fmla="*/ 40857 h 70866"/>
                      <a:gd name="connsiteX3" fmla="*/ 25103 w 74818"/>
                      <a:gd name="connsiteY3" fmla="*/ 0 h 70866"/>
                    </a:gdLst>
                    <a:ahLst/>
                    <a:cxnLst>
                      <a:cxn ang="0">
                        <a:pos x="connsiteX0" y="connsiteY0"/>
                      </a:cxn>
                      <a:cxn ang="0">
                        <a:pos x="connsiteX1" y="connsiteY1"/>
                      </a:cxn>
                      <a:cxn ang="0">
                        <a:pos x="connsiteX2" y="connsiteY2"/>
                      </a:cxn>
                      <a:cxn ang="0">
                        <a:pos x="connsiteX3" y="connsiteY3"/>
                      </a:cxn>
                    </a:cxnLst>
                    <a:rect l="l" t="t" r="r" b="b"/>
                    <a:pathLst>
                      <a:path w="74818" h="70866">
                        <a:moveTo>
                          <a:pt x="74819" y="70866"/>
                        </a:moveTo>
                        <a:lnTo>
                          <a:pt x="0" y="70866"/>
                        </a:lnTo>
                        <a:lnTo>
                          <a:pt x="0" y="40857"/>
                        </a:lnTo>
                        <a:cubicBezTo>
                          <a:pt x="0" y="23012"/>
                          <a:pt x="10206" y="7553"/>
                          <a:pt x="25103" y="0"/>
                        </a:cubicBezTo>
                      </a:path>
                    </a:pathLst>
                  </a:custGeom>
                  <a:noFill/>
                  <a:ln w="9525" cap="rnd">
                    <a:solidFill>
                      <a:srgbClr val="FFFFFF"/>
                    </a:solidFill>
                    <a:prstDash val="solid"/>
                    <a:miter/>
                  </a:ln>
                </p:spPr>
                <p:txBody>
                  <a:bodyPr rtlCol="0" anchor="ctr"/>
                  <a:lstStyle/>
                  <a:p>
                    <a:endParaRPr lang="en-GB" sz="3200"/>
                  </a:p>
                </p:txBody>
              </p:sp>
              <p:sp>
                <p:nvSpPr>
                  <p:cNvPr id="43" name="Freeform: Shape 42">
                    <a:extLst>
                      <a:ext uri="{FF2B5EF4-FFF2-40B4-BE49-F238E27FC236}">
                        <a16:creationId xmlns:a16="http://schemas.microsoft.com/office/drawing/2014/main" id="{B602D29B-2651-42EF-A554-6F1712D916A5}"/>
                      </a:ext>
                    </a:extLst>
                  </p:cNvPr>
                  <p:cNvSpPr/>
                  <p:nvPr/>
                </p:nvSpPr>
                <p:spPr>
                  <a:xfrm>
                    <a:off x="2594043" y="1709742"/>
                    <a:ext cx="16692" cy="14406"/>
                  </a:xfrm>
                  <a:custGeom>
                    <a:avLst/>
                    <a:gdLst>
                      <a:gd name="connsiteX0" fmla="*/ 0 w 16692"/>
                      <a:gd name="connsiteY0" fmla="*/ 0 h 14406"/>
                      <a:gd name="connsiteX1" fmla="*/ 16692 w 16692"/>
                      <a:gd name="connsiteY1" fmla="*/ 14407 h 14406"/>
                    </a:gdLst>
                    <a:ahLst/>
                    <a:cxnLst>
                      <a:cxn ang="0">
                        <a:pos x="connsiteX0" y="connsiteY0"/>
                      </a:cxn>
                      <a:cxn ang="0">
                        <a:pos x="connsiteX1" y="connsiteY1"/>
                      </a:cxn>
                    </a:cxnLst>
                    <a:rect l="l" t="t" r="r" b="b"/>
                    <a:pathLst>
                      <a:path w="16692" h="14406">
                        <a:moveTo>
                          <a:pt x="0" y="0"/>
                        </a:moveTo>
                        <a:cubicBezTo>
                          <a:pt x="6667" y="3381"/>
                          <a:pt x="12397" y="8353"/>
                          <a:pt x="16692" y="14407"/>
                        </a:cubicBezTo>
                      </a:path>
                    </a:pathLst>
                  </a:custGeom>
                  <a:noFill/>
                  <a:ln w="9525" cap="rnd">
                    <a:solidFill>
                      <a:srgbClr val="FFFFFF"/>
                    </a:solidFill>
                    <a:prstDash val="solid"/>
                    <a:miter/>
                  </a:ln>
                </p:spPr>
                <p:txBody>
                  <a:bodyPr rtlCol="0" anchor="ctr"/>
                  <a:lstStyle/>
                  <a:p>
                    <a:endParaRPr lang="en-GB" sz="3200"/>
                  </a:p>
                </p:txBody>
              </p:sp>
            </p:grpSp>
            <p:grpSp>
              <p:nvGrpSpPr>
                <p:cNvPr id="37" name="Graphic 72">
                  <a:extLst>
                    <a:ext uri="{FF2B5EF4-FFF2-40B4-BE49-F238E27FC236}">
                      <a16:creationId xmlns:a16="http://schemas.microsoft.com/office/drawing/2014/main" id="{0E46C307-1172-45C3-B859-9ED830D51D35}"/>
                    </a:ext>
                  </a:extLst>
                </p:cNvPr>
                <p:cNvGrpSpPr/>
                <p:nvPr/>
              </p:nvGrpSpPr>
              <p:grpSpPr>
                <a:xfrm>
                  <a:off x="2725388" y="1652649"/>
                  <a:ext cx="83439" cy="127958"/>
                  <a:chOff x="2725388" y="1652649"/>
                  <a:chExt cx="83439" cy="127958"/>
                </a:xfrm>
                <a:noFill/>
              </p:grpSpPr>
              <p:sp>
                <p:nvSpPr>
                  <p:cNvPr id="38" name="Freeform: Shape 37">
                    <a:extLst>
                      <a:ext uri="{FF2B5EF4-FFF2-40B4-BE49-F238E27FC236}">
                        <a16:creationId xmlns:a16="http://schemas.microsoft.com/office/drawing/2014/main" id="{904715E2-F0CB-41D6-B178-4E588BDB9D6F}"/>
                      </a:ext>
                    </a:extLst>
                  </p:cNvPr>
                  <p:cNvSpPr/>
                  <p:nvPr/>
                </p:nvSpPr>
                <p:spPr>
                  <a:xfrm>
                    <a:off x="2730746" y="1652649"/>
                    <a:ext cx="64598" cy="64598"/>
                  </a:xfrm>
                  <a:custGeom>
                    <a:avLst/>
                    <a:gdLst>
                      <a:gd name="connsiteX0" fmla="*/ 64598 w 64598"/>
                      <a:gd name="connsiteY0" fmla="*/ 32299 h 64598"/>
                      <a:gd name="connsiteX1" fmla="*/ 32299 w 64598"/>
                      <a:gd name="connsiteY1" fmla="*/ 64599 h 64598"/>
                      <a:gd name="connsiteX2" fmla="*/ 0 w 64598"/>
                      <a:gd name="connsiteY2" fmla="*/ 32299 h 64598"/>
                      <a:gd name="connsiteX3" fmla="*/ 32299 w 64598"/>
                      <a:gd name="connsiteY3" fmla="*/ 0 h 64598"/>
                      <a:gd name="connsiteX4" fmla="*/ 64598 w 64598"/>
                      <a:gd name="connsiteY4" fmla="*/ 32299 h 64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98" h="64598">
                        <a:moveTo>
                          <a:pt x="64598" y="32299"/>
                        </a:moveTo>
                        <a:cubicBezTo>
                          <a:pt x="64598" y="50138"/>
                          <a:pt x="50138" y="64599"/>
                          <a:pt x="32299" y="64599"/>
                        </a:cubicBezTo>
                        <a:cubicBezTo>
                          <a:pt x="14461" y="64599"/>
                          <a:pt x="0" y="50138"/>
                          <a:pt x="0" y="32299"/>
                        </a:cubicBezTo>
                        <a:cubicBezTo>
                          <a:pt x="0" y="14461"/>
                          <a:pt x="14461" y="0"/>
                          <a:pt x="32299" y="0"/>
                        </a:cubicBezTo>
                        <a:cubicBezTo>
                          <a:pt x="50138" y="0"/>
                          <a:pt x="64598" y="14461"/>
                          <a:pt x="64598" y="32299"/>
                        </a:cubicBezTo>
                        <a:close/>
                      </a:path>
                    </a:pathLst>
                  </a:custGeom>
                  <a:noFill/>
                  <a:ln w="9525" cap="rnd">
                    <a:solidFill>
                      <a:srgbClr val="FFFFFF"/>
                    </a:solidFill>
                    <a:prstDash val="solid"/>
                    <a:miter/>
                  </a:ln>
                </p:spPr>
                <p:txBody>
                  <a:bodyPr rtlCol="0" anchor="ctr"/>
                  <a:lstStyle/>
                  <a:p>
                    <a:endParaRPr lang="en-GB" sz="3200"/>
                  </a:p>
                </p:txBody>
              </p:sp>
              <p:sp>
                <p:nvSpPr>
                  <p:cNvPr id="39" name="Freeform: Shape 38">
                    <a:extLst>
                      <a:ext uri="{FF2B5EF4-FFF2-40B4-BE49-F238E27FC236}">
                        <a16:creationId xmlns:a16="http://schemas.microsoft.com/office/drawing/2014/main" id="{A4A54127-FA15-4A66-A7E2-C6153CC15255}"/>
                      </a:ext>
                    </a:extLst>
                  </p:cNvPr>
                  <p:cNvSpPr/>
                  <p:nvPr/>
                </p:nvSpPr>
                <p:spPr>
                  <a:xfrm>
                    <a:off x="2725388" y="1709742"/>
                    <a:ext cx="16968" cy="14801"/>
                  </a:xfrm>
                  <a:custGeom>
                    <a:avLst/>
                    <a:gdLst>
                      <a:gd name="connsiteX0" fmla="*/ 0 w 16968"/>
                      <a:gd name="connsiteY0" fmla="*/ 14802 h 14801"/>
                      <a:gd name="connsiteX1" fmla="*/ 16969 w 16968"/>
                      <a:gd name="connsiteY1" fmla="*/ 0 h 14801"/>
                    </a:gdLst>
                    <a:ahLst/>
                    <a:cxnLst>
                      <a:cxn ang="0">
                        <a:pos x="connsiteX0" y="connsiteY0"/>
                      </a:cxn>
                      <a:cxn ang="0">
                        <a:pos x="connsiteX1" y="connsiteY1"/>
                      </a:cxn>
                    </a:cxnLst>
                    <a:rect l="l" t="t" r="r" b="b"/>
                    <a:pathLst>
                      <a:path w="16968" h="14801">
                        <a:moveTo>
                          <a:pt x="0" y="14802"/>
                        </a:moveTo>
                        <a:cubicBezTo>
                          <a:pt x="4324" y="8568"/>
                          <a:pt x="10154" y="3457"/>
                          <a:pt x="16969" y="0"/>
                        </a:cubicBezTo>
                      </a:path>
                    </a:pathLst>
                  </a:custGeom>
                  <a:noFill/>
                  <a:ln w="9525" cap="rnd">
                    <a:solidFill>
                      <a:srgbClr val="FFFFFF"/>
                    </a:solidFill>
                    <a:prstDash val="solid"/>
                    <a:miter/>
                  </a:ln>
                </p:spPr>
                <p:txBody>
                  <a:bodyPr rtlCol="0" anchor="ctr"/>
                  <a:lstStyle/>
                  <a:p>
                    <a:endParaRPr lang="en-GB" sz="3200"/>
                  </a:p>
                </p:txBody>
              </p:sp>
              <p:sp>
                <p:nvSpPr>
                  <p:cNvPr id="40" name="Freeform: Shape 39">
                    <a:extLst>
                      <a:ext uri="{FF2B5EF4-FFF2-40B4-BE49-F238E27FC236}">
                        <a16:creationId xmlns:a16="http://schemas.microsoft.com/office/drawing/2014/main" id="{CCF8C4EE-9C5A-406F-97AC-D44A40D9523B}"/>
                      </a:ext>
                    </a:extLst>
                  </p:cNvPr>
                  <p:cNvSpPr/>
                  <p:nvPr/>
                </p:nvSpPr>
                <p:spPr>
                  <a:xfrm>
                    <a:off x="2732870" y="1709742"/>
                    <a:ext cx="75957" cy="70866"/>
                  </a:xfrm>
                  <a:custGeom>
                    <a:avLst/>
                    <a:gdLst>
                      <a:gd name="connsiteX0" fmla="*/ 50859 w 75957"/>
                      <a:gd name="connsiteY0" fmla="*/ 0 h 70866"/>
                      <a:gd name="connsiteX1" fmla="*/ 75957 w 75957"/>
                      <a:gd name="connsiteY1" fmla="*/ 40857 h 70866"/>
                      <a:gd name="connsiteX2" fmla="*/ 75957 w 75957"/>
                      <a:gd name="connsiteY2" fmla="*/ 70866 h 70866"/>
                      <a:gd name="connsiteX3" fmla="*/ 0 w 75957"/>
                      <a:gd name="connsiteY3" fmla="*/ 70866 h 70866"/>
                    </a:gdLst>
                    <a:ahLst/>
                    <a:cxnLst>
                      <a:cxn ang="0">
                        <a:pos x="connsiteX0" y="connsiteY0"/>
                      </a:cxn>
                      <a:cxn ang="0">
                        <a:pos x="connsiteX1" y="connsiteY1"/>
                      </a:cxn>
                      <a:cxn ang="0">
                        <a:pos x="connsiteX2" y="connsiteY2"/>
                      </a:cxn>
                      <a:cxn ang="0">
                        <a:pos x="connsiteX3" y="connsiteY3"/>
                      </a:cxn>
                    </a:cxnLst>
                    <a:rect l="l" t="t" r="r" b="b"/>
                    <a:pathLst>
                      <a:path w="75957" h="70866">
                        <a:moveTo>
                          <a:pt x="50859" y="0"/>
                        </a:moveTo>
                        <a:cubicBezTo>
                          <a:pt x="65751" y="7553"/>
                          <a:pt x="75957" y="23017"/>
                          <a:pt x="75957" y="40857"/>
                        </a:cubicBezTo>
                        <a:lnTo>
                          <a:pt x="75957" y="70866"/>
                        </a:lnTo>
                        <a:lnTo>
                          <a:pt x="0" y="70866"/>
                        </a:lnTo>
                      </a:path>
                    </a:pathLst>
                  </a:custGeom>
                  <a:noFill/>
                  <a:ln w="9525" cap="rnd">
                    <a:solidFill>
                      <a:srgbClr val="FFFFFF"/>
                    </a:solidFill>
                    <a:prstDash val="solid"/>
                    <a:miter/>
                  </a:ln>
                </p:spPr>
                <p:txBody>
                  <a:bodyPr rtlCol="0" anchor="ctr"/>
                  <a:lstStyle/>
                  <a:p>
                    <a:endParaRPr lang="en-GB" sz="3200"/>
                  </a:p>
                </p:txBody>
              </p:sp>
            </p:grpSp>
          </p:grpSp>
        </p:grpSp>
        <p:sp>
          <p:nvSpPr>
            <p:cNvPr id="18" name="Freeform: Shape 17">
              <a:extLst>
                <a:ext uri="{FF2B5EF4-FFF2-40B4-BE49-F238E27FC236}">
                  <a16:creationId xmlns:a16="http://schemas.microsoft.com/office/drawing/2014/main" id="{D6B58016-04E2-4982-BE01-FD5468C85C58}"/>
                </a:ext>
              </a:extLst>
            </p:cNvPr>
            <p:cNvSpPr/>
            <p:nvPr/>
          </p:nvSpPr>
          <p:spPr>
            <a:xfrm>
              <a:off x="2762459" y="1935780"/>
              <a:ext cx="256222" cy="256217"/>
            </a:xfrm>
            <a:custGeom>
              <a:avLst/>
              <a:gdLst>
                <a:gd name="connsiteX0" fmla="*/ 57717 w 256222"/>
                <a:gd name="connsiteY0" fmla="*/ 235177 h 256217"/>
                <a:gd name="connsiteX1" fmla="*/ 20498 w 256222"/>
                <a:gd name="connsiteY1" fmla="*/ 198229 h 256217"/>
                <a:gd name="connsiteX2" fmla="*/ 0 w 256222"/>
                <a:gd name="connsiteY2" fmla="*/ 128378 h 256217"/>
                <a:gd name="connsiteX3" fmla="*/ 128111 w 256222"/>
                <a:gd name="connsiteY3" fmla="*/ 0 h 256217"/>
                <a:gd name="connsiteX4" fmla="*/ 256222 w 256222"/>
                <a:gd name="connsiteY4" fmla="*/ 128111 h 256217"/>
                <a:gd name="connsiteX5" fmla="*/ 228714 w 256222"/>
                <a:gd name="connsiteY5" fmla="*/ 207945 h 256217"/>
                <a:gd name="connsiteX6" fmla="*/ 198506 w 256222"/>
                <a:gd name="connsiteY6" fmla="*/ 235187 h 256217"/>
                <a:gd name="connsiteX7" fmla="*/ 198506 w 256222"/>
                <a:gd name="connsiteY7" fmla="*/ 160210 h 256217"/>
                <a:gd name="connsiteX8" fmla="*/ 211184 w 256222"/>
                <a:gd name="connsiteY8" fmla="*/ 160210 h 256217"/>
                <a:gd name="connsiteX9" fmla="*/ 211184 w 256222"/>
                <a:gd name="connsiteY9" fmla="*/ 211455 h 256217"/>
                <a:gd name="connsiteX10" fmla="*/ 229795 w 256222"/>
                <a:gd name="connsiteY10" fmla="*/ 185561 h 256217"/>
                <a:gd name="connsiteX11" fmla="*/ 244359 w 256222"/>
                <a:gd name="connsiteY11" fmla="*/ 128116 h 256217"/>
                <a:gd name="connsiteX12" fmla="*/ 128116 w 256222"/>
                <a:gd name="connsiteY12" fmla="*/ 10797 h 256217"/>
                <a:gd name="connsiteX13" fmla="*/ 11873 w 256222"/>
                <a:gd name="connsiteY13" fmla="*/ 128926 h 256217"/>
                <a:gd name="connsiteX14" fmla="*/ 44777 w 256222"/>
                <a:gd name="connsiteY14" fmla="*/ 211455 h 256217"/>
                <a:gd name="connsiteX15" fmla="*/ 44777 w 256222"/>
                <a:gd name="connsiteY15" fmla="*/ 160210 h 256217"/>
                <a:gd name="connsiteX16" fmla="*/ 57721 w 256222"/>
                <a:gd name="connsiteY16" fmla="*/ 160210 h 256217"/>
                <a:gd name="connsiteX17" fmla="*/ 57721 w 256222"/>
                <a:gd name="connsiteY17" fmla="*/ 235177 h 256217"/>
                <a:gd name="connsiteX18" fmla="*/ 83068 w 256222"/>
                <a:gd name="connsiteY18" fmla="*/ 248126 h 256217"/>
                <a:gd name="connsiteX19" fmla="*/ 70390 w 256222"/>
                <a:gd name="connsiteY19" fmla="*/ 242464 h 256217"/>
                <a:gd name="connsiteX20" fmla="*/ 70390 w 256222"/>
                <a:gd name="connsiteY20" fmla="*/ 160206 h 256217"/>
                <a:gd name="connsiteX21" fmla="*/ 83068 w 256222"/>
                <a:gd name="connsiteY21" fmla="*/ 160206 h 256217"/>
                <a:gd name="connsiteX22" fmla="*/ 83068 w 256222"/>
                <a:gd name="connsiteY22" fmla="*/ 248126 h 256217"/>
                <a:gd name="connsiteX23" fmla="*/ 160201 w 256222"/>
                <a:gd name="connsiteY23" fmla="*/ 67423 h 256217"/>
                <a:gd name="connsiteX24" fmla="*/ 128106 w 256222"/>
                <a:gd name="connsiteY24" fmla="*/ 42610 h 256217"/>
                <a:gd name="connsiteX25" fmla="*/ 96012 w 256222"/>
                <a:gd name="connsiteY25" fmla="*/ 67423 h 256217"/>
                <a:gd name="connsiteX26" fmla="*/ 89002 w 256222"/>
                <a:gd name="connsiteY26" fmla="*/ 58255 h 256217"/>
                <a:gd name="connsiteX27" fmla="*/ 128111 w 256222"/>
                <a:gd name="connsiteY27" fmla="*/ 27780 h 256217"/>
                <a:gd name="connsiteX28" fmla="*/ 167216 w 256222"/>
                <a:gd name="connsiteY28" fmla="*/ 58255 h 256217"/>
                <a:gd name="connsiteX29" fmla="*/ 160201 w 256222"/>
                <a:gd name="connsiteY29" fmla="*/ 67423 h 256217"/>
                <a:gd name="connsiteX30" fmla="*/ 108690 w 256222"/>
                <a:gd name="connsiteY30" fmla="*/ 254870 h 256217"/>
                <a:gd name="connsiteX31" fmla="*/ 102218 w 256222"/>
                <a:gd name="connsiteY31" fmla="*/ 253522 h 256217"/>
                <a:gd name="connsiteX32" fmla="*/ 96017 w 256222"/>
                <a:gd name="connsiteY32" fmla="*/ 252174 h 256217"/>
                <a:gd name="connsiteX33" fmla="*/ 96017 w 256222"/>
                <a:gd name="connsiteY33" fmla="*/ 76867 h 256217"/>
                <a:gd name="connsiteX34" fmla="*/ 108695 w 256222"/>
                <a:gd name="connsiteY34" fmla="*/ 76867 h 256217"/>
                <a:gd name="connsiteX35" fmla="*/ 108695 w 256222"/>
                <a:gd name="connsiteY35" fmla="*/ 254870 h 256217"/>
                <a:gd name="connsiteX36" fmla="*/ 134312 w 256222"/>
                <a:gd name="connsiteY36" fmla="*/ 255946 h 256217"/>
                <a:gd name="connsiteX37" fmla="*/ 129187 w 256222"/>
                <a:gd name="connsiteY37" fmla="*/ 256218 h 256217"/>
                <a:gd name="connsiteX38" fmla="*/ 121634 w 256222"/>
                <a:gd name="connsiteY38" fmla="*/ 255946 h 256217"/>
                <a:gd name="connsiteX39" fmla="*/ 121634 w 256222"/>
                <a:gd name="connsiteY39" fmla="*/ 76862 h 256217"/>
                <a:gd name="connsiteX40" fmla="*/ 134312 w 256222"/>
                <a:gd name="connsiteY40" fmla="*/ 76862 h 256217"/>
                <a:gd name="connsiteX41" fmla="*/ 134312 w 256222"/>
                <a:gd name="connsiteY41" fmla="*/ 255946 h 256217"/>
                <a:gd name="connsiteX42" fmla="*/ 159934 w 256222"/>
                <a:gd name="connsiteY42" fmla="*/ 251903 h 256217"/>
                <a:gd name="connsiteX43" fmla="*/ 147256 w 256222"/>
                <a:gd name="connsiteY43" fmla="*/ 255141 h 256217"/>
                <a:gd name="connsiteX44" fmla="*/ 147256 w 256222"/>
                <a:gd name="connsiteY44" fmla="*/ 76867 h 256217"/>
                <a:gd name="connsiteX45" fmla="*/ 159934 w 256222"/>
                <a:gd name="connsiteY45" fmla="*/ 76867 h 256217"/>
                <a:gd name="connsiteX46" fmla="*/ 159934 w 256222"/>
                <a:gd name="connsiteY46" fmla="*/ 251903 h 256217"/>
                <a:gd name="connsiteX47" fmla="*/ 185823 w 256222"/>
                <a:gd name="connsiteY47" fmla="*/ 242459 h 256217"/>
                <a:gd name="connsiteX48" fmla="*/ 172879 w 256222"/>
                <a:gd name="connsiteY48" fmla="*/ 248393 h 256217"/>
                <a:gd name="connsiteX49" fmla="*/ 172879 w 256222"/>
                <a:gd name="connsiteY49" fmla="*/ 160201 h 256217"/>
                <a:gd name="connsiteX50" fmla="*/ 185823 w 256222"/>
                <a:gd name="connsiteY50" fmla="*/ 160201 h 256217"/>
                <a:gd name="connsiteX51" fmla="*/ 185823 w 256222"/>
                <a:gd name="connsiteY51" fmla="*/ 242459 h 25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56222" h="256217">
                  <a:moveTo>
                    <a:pt x="57717" y="235177"/>
                  </a:moveTo>
                  <a:cubicBezTo>
                    <a:pt x="39376" y="221961"/>
                    <a:pt x="29666" y="212250"/>
                    <a:pt x="20498" y="198229"/>
                  </a:cubicBezTo>
                  <a:cubicBezTo>
                    <a:pt x="7282" y="177732"/>
                    <a:pt x="0" y="152919"/>
                    <a:pt x="0" y="128378"/>
                  </a:cubicBezTo>
                  <a:cubicBezTo>
                    <a:pt x="0" y="57445"/>
                    <a:pt x="57178" y="0"/>
                    <a:pt x="128111" y="0"/>
                  </a:cubicBezTo>
                  <a:cubicBezTo>
                    <a:pt x="198772" y="0"/>
                    <a:pt x="256222" y="57445"/>
                    <a:pt x="256222" y="128111"/>
                  </a:cubicBezTo>
                  <a:cubicBezTo>
                    <a:pt x="256222" y="157239"/>
                    <a:pt x="246245" y="186366"/>
                    <a:pt x="228714" y="207945"/>
                  </a:cubicBezTo>
                  <a:cubicBezTo>
                    <a:pt x="221432" y="217113"/>
                    <a:pt x="215232" y="222509"/>
                    <a:pt x="198506" y="235187"/>
                  </a:cubicBezTo>
                  <a:lnTo>
                    <a:pt x="198506" y="160210"/>
                  </a:lnTo>
                  <a:lnTo>
                    <a:pt x="211184" y="160210"/>
                  </a:lnTo>
                  <a:lnTo>
                    <a:pt x="211184" y="211455"/>
                  </a:lnTo>
                  <a:cubicBezTo>
                    <a:pt x="220623" y="200396"/>
                    <a:pt x="225209" y="193653"/>
                    <a:pt x="229795" y="185561"/>
                  </a:cubicBezTo>
                  <a:cubicBezTo>
                    <a:pt x="239235" y="168840"/>
                    <a:pt x="244359" y="148071"/>
                    <a:pt x="244359" y="128116"/>
                  </a:cubicBezTo>
                  <a:cubicBezTo>
                    <a:pt x="244359" y="63389"/>
                    <a:pt x="192305" y="10797"/>
                    <a:pt x="128116" y="10797"/>
                  </a:cubicBezTo>
                  <a:cubicBezTo>
                    <a:pt x="63655" y="10797"/>
                    <a:pt x="11873" y="63389"/>
                    <a:pt x="11873" y="128926"/>
                  </a:cubicBezTo>
                  <a:cubicBezTo>
                    <a:pt x="11873" y="158863"/>
                    <a:pt x="22393" y="185295"/>
                    <a:pt x="44777" y="211455"/>
                  </a:cubicBezTo>
                  <a:lnTo>
                    <a:pt x="44777" y="160210"/>
                  </a:lnTo>
                  <a:lnTo>
                    <a:pt x="57721" y="160210"/>
                  </a:lnTo>
                  <a:lnTo>
                    <a:pt x="57721" y="235177"/>
                  </a:lnTo>
                  <a:close/>
                  <a:moveTo>
                    <a:pt x="83068" y="248126"/>
                  </a:moveTo>
                  <a:cubicBezTo>
                    <a:pt x="80639" y="247588"/>
                    <a:pt x="74976" y="244888"/>
                    <a:pt x="70390" y="242464"/>
                  </a:cubicBezTo>
                  <a:lnTo>
                    <a:pt x="70390" y="160206"/>
                  </a:lnTo>
                  <a:lnTo>
                    <a:pt x="83068" y="160206"/>
                  </a:lnTo>
                  <a:lnTo>
                    <a:pt x="83068" y="248126"/>
                  </a:lnTo>
                  <a:close/>
                  <a:moveTo>
                    <a:pt x="160201" y="67423"/>
                  </a:moveTo>
                  <a:lnTo>
                    <a:pt x="128106" y="42610"/>
                  </a:lnTo>
                  <a:lnTo>
                    <a:pt x="96012" y="67423"/>
                  </a:lnTo>
                  <a:lnTo>
                    <a:pt x="89002" y="58255"/>
                  </a:lnTo>
                  <a:lnTo>
                    <a:pt x="128111" y="27780"/>
                  </a:lnTo>
                  <a:lnTo>
                    <a:pt x="167216" y="58255"/>
                  </a:lnTo>
                  <a:lnTo>
                    <a:pt x="160201" y="67423"/>
                  </a:lnTo>
                  <a:close/>
                  <a:moveTo>
                    <a:pt x="108690" y="254870"/>
                  </a:moveTo>
                  <a:cubicBezTo>
                    <a:pt x="104104" y="254060"/>
                    <a:pt x="103837" y="254060"/>
                    <a:pt x="102218" y="253522"/>
                  </a:cubicBezTo>
                  <a:cubicBezTo>
                    <a:pt x="100870" y="253251"/>
                    <a:pt x="100332" y="253251"/>
                    <a:pt x="96017" y="252174"/>
                  </a:cubicBezTo>
                  <a:lnTo>
                    <a:pt x="96017" y="76867"/>
                  </a:lnTo>
                  <a:lnTo>
                    <a:pt x="108695" y="76867"/>
                  </a:lnTo>
                  <a:lnTo>
                    <a:pt x="108695" y="254870"/>
                  </a:lnTo>
                  <a:close/>
                  <a:moveTo>
                    <a:pt x="134312" y="255946"/>
                  </a:moveTo>
                  <a:cubicBezTo>
                    <a:pt x="132426" y="256218"/>
                    <a:pt x="131883" y="256218"/>
                    <a:pt x="129187" y="256218"/>
                  </a:cubicBezTo>
                  <a:cubicBezTo>
                    <a:pt x="125144" y="256218"/>
                    <a:pt x="123792" y="256218"/>
                    <a:pt x="121634" y="255946"/>
                  </a:cubicBezTo>
                  <a:lnTo>
                    <a:pt x="121634" y="76862"/>
                  </a:lnTo>
                  <a:lnTo>
                    <a:pt x="134312" y="76862"/>
                  </a:lnTo>
                  <a:lnTo>
                    <a:pt x="134312" y="255946"/>
                  </a:lnTo>
                  <a:close/>
                  <a:moveTo>
                    <a:pt x="159934" y="251903"/>
                  </a:moveTo>
                  <a:cubicBezTo>
                    <a:pt x="155886" y="253251"/>
                    <a:pt x="152381" y="254060"/>
                    <a:pt x="147256" y="255141"/>
                  </a:cubicBezTo>
                  <a:lnTo>
                    <a:pt x="147256" y="76867"/>
                  </a:lnTo>
                  <a:lnTo>
                    <a:pt x="159934" y="76867"/>
                  </a:lnTo>
                  <a:lnTo>
                    <a:pt x="159934" y="251903"/>
                  </a:lnTo>
                  <a:close/>
                  <a:moveTo>
                    <a:pt x="185823" y="242459"/>
                  </a:moveTo>
                  <a:cubicBezTo>
                    <a:pt x="181775" y="244345"/>
                    <a:pt x="179351" y="245426"/>
                    <a:pt x="172879" y="248393"/>
                  </a:cubicBezTo>
                  <a:lnTo>
                    <a:pt x="172879" y="160201"/>
                  </a:lnTo>
                  <a:lnTo>
                    <a:pt x="185823" y="160201"/>
                  </a:lnTo>
                  <a:lnTo>
                    <a:pt x="185823" y="242459"/>
                  </a:lnTo>
                  <a:close/>
                </a:path>
              </a:pathLst>
            </a:custGeom>
            <a:solidFill>
              <a:srgbClr val="FFFFFF"/>
            </a:solidFill>
            <a:ln w="4763" cap="flat">
              <a:noFill/>
              <a:prstDash val="solid"/>
              <a:miter/>
            </a:ln>
          </p:spPr>
          <p:txBody>
            <a:bodyPr rtlCol="0" anchor="ctr"/>
            <a:lstStyle/>
            <a:p>
              <a:endParaRPr lang="en-GB" sz="3200"/>
            </a:p>
          </p:txBody>
        </p:sp>
        <p:grpSp>
          <p:nvGrpSpPr>
            <p:cNvPr id="19" name="Graphic 72">
              <a:extLst>
                <a:ext uri="{FF2B5EF4-FFF2-40B4-BE49-F238E27FC236}">
                  <a16:creationId xmlns:a16="http://schemas.microsoft.com/office/drawing/2014/main" id="{05000CA8-61D3-4084-B830-0F9118B5E7B7}"/>
                </a:ext>
              </a:extLst>
            </p:cNvPr>
            <p:cNvGrpSpPr/>
            <p:nvPr/>
          </p:nvGrpSpPr>
          <p:grpSpPr>
            <a:xfrm>
              <a:off x="2994402" y="1585998"/>
              <a:ext cx="297994" cy="260689"/>
              <a:chOff x="2994402" y="1585998"/>
              <a:chExt cx="297994" cy="260689"/>
            </a:xfrm>
            <a:noFill/>
          </p:grpSpPr>
          <p:grpSp>
            <p:nvGrpSpPr>
              <p:cNvPr id="20" name="Graphic 72">
                <a:extLst>
                  <a:ext uri="{FF2B5EF4-FFF2-40B4-BE49-F238E27FC236}">
                    <a16:creationId xmlns:a16="http://schemas.microsoft.com/office/drawing/2014/main" id="{8B950633-D5B0-4D7C-95DD-4EEFDFCA8F16}"/>
                  </a:ext>
                </a:extLst>
              </p:cNvPr>
              <p:cNvGrpSpPr/>
              <p:nvPr/>
            </p:nvGrpSpPr>
            <p:grpSpPr>
              <a:xfrm>
                <a:off x="3034903" y="1626560"/>
                <a:ext cx="151561" cy="147313"/>
                <a:chOff x="3034903" y="1626560"/>
                <a:chExt cx="151561" cy="147313"/>
              </a:xfrm>
              <a:noFill/>
            </p:grpSpPr>
            <p:sp>
              <p:nvSpPr>
                <p:cNvPr id="24" name="Freeform: Shape 23">
                  <a:extLst>
                    <a:ext uri="{FF2B5EF4-FFF2-40B4-BE49-F238E27FC236}">
                      <a16:creationId xmlns:a16="http://schemas.microsoft.com/office/drawing/2014/main" id="{72093397-D88A-46C0-8389-A954BCAF7E61}"/>
                    </a:ext>
                  </a:extLst>
                </p:cNvPr>
                <p:cNvSpPr/>
                <p:nvPr/>
              </p:nvSpPr>
              <p:spPr>
                <a:xfrm>
                  <a:off x="3034903" y="1683258"/>
                  <a:ext cx="151561" cy="35975"/>
                </a:xfrm>
                <a:custGeom>
                  <a:avLst/>
                  <a:gdLst>
                    <a:gd name="connsiteX0" fmla="*/ 0 w 151561"/>
                    <a:gd name="connsiteY0" fmla="*/ 0 h 35975"/>
                    <a:gd name="connsiteX1" fmla="*/ 76310 w 151561"/>
                    <a:gd name="connsiteY1" fmla="*/ 18779 h 35975"/>
                    <a:gd name="connsiteX2" fmla="*/ 151562 w 151561"/>
                    <a:gd name="connsiteY2" fmla="*/ 35976 h 35975"/>
                  </a:gdLst>
                  <a:ahLst/>
                  <a:cxnLst>
                    <a:cxn ang="0">
                      <a:pos x="connsiteX0" y="connsiteY0"/>
                    </a:cxn>
                    <a:cxn ang="0">
                      <a:pos x="connsiteX1" y="connsiteY1"/>
                    </a:cxn>
                    <a:cxn ang="0">
                      <a:pos x="connsiteX2" y="connsiteY2"/>
                    </a:cxn>
                  </a:cxnLst>
                  <a:rect l="l" t="t" r="r" b="b"/>
                  <a:pathLst>
                    <a:path w="151561" h="35975">
                      <a:moveTo>
                        <a:pt x="0" y="0"/>
                      </a:moveTo>
                      <a:cubicBezTo>
                        <a:pt x="0" y="0"/>
                        <a:pt x="34252" y="32914"/>
                        <a:pt x="76310" y="18779"/>
                      </a:cubicBezTo>
                      <a:cubicBezTo>
                        <a:pt x="118367" y="4643"/>
                        <a:pt x="151562" y="35976"/>
                        <a:pt x="151562" y="35976"/>
                      </a:cubicBezTo>
                    </a:path>
                  </a:pathLst>
                </a:custGeom>
                <a:noFill/>
                <a:ln w="9525" cap="flat">
                  <a:solidFill>
                    <a:srgbClr val="FFFFFF"/>
                  </a:solidFill>
                  <a:prstDash val="solid"/>
                  <a:miter/>
                </a:ln>
              </p:spPr>
              <p:txBody>
                <a:bodyPr rtlCol="0" anchor="ctr"/>
                <a:lstStyle/>
                <a:p>
                  <a:endParaRPr lang="en-GB" sz="3200"/>
                </a:p>
              </p:txBody>
            </p:sp>
            <p:sp>
              <p:nvSpPr>
                <p:cNvPr id="25" name="Freeform: Shape 24">
                  <a:extLst>
                    <a:ext uri="{FF2B5EF4-FFF2-40B4-BE49-F238E27FC236}">
                      <a16:creationId xmlns:a16="http://schemas.microsoft.com/office/drawing/2014/main" id="{10DDEE44-9C5F-41A1-A331-C92A27417B52}"/>
                    </a:ext>
                  </a:extLst>
                </p:cNvPr>
                <p:cNvSpPr/>
                <p:nvPr/>
              </p:nvSpPr>
              <p:spPr>
                <a:xfrm>
                  <a:off x="3086295" y="1626560"/>
                  <a:ext cx="50634" cy="147313"/>
                </a:xfrm>
                <a:custGeom>
                  <a:avLst/>
                  <a:gdLst>
                    <a:gd name="connsiteX0" fmla="*/ 50635 w 50634"/>
                    <a:gd name="connsiteY0" fmla="*/ 147314 h 147313"/>
                    <a:gd name="connsiteX1" fmla="*/ 24479 w 50634"/>
                    <a:gd name="connsiteY1" fmla="*/ 73209 h 147313"/>
                    <a:gd name="connsiteX2" fmla="*/ 0 w 50634"/>
                    <a:gd name="connsiteY2" fmla="*/ 0 h 147313"/>
                  </a:gdLst>
                  <a:ahLst/>
                  <a:cxnLst>
                    <a:cxn ang="0">
                      <a:pos x="connsiteX0" y="connsiteY0"/>
                    </a:cxn>
                    <a:cxn ang="0">
                      <a:pos x="connsiteX1" y="connsiteY1"/>
                    </a:cxn>
                    <a:cxn ang="0">
                      <a:pos x="connsiteX2" y="connsiteY2"/>
                    </a:cxn>
                  </a:cxnLst>
                  <a:rect l="l" t="t" r="r" b="b"/>
                  <a:pathLst>
                    <a:path w="50634" h="147313">
                      <a:moveTo>
                        <a:pt x="50635" y="147314"/>
                      </a:moveTo>
                      <a:cubicBezTo>
                        <a:pt x="50635" y="147314"/>
                        <a:pt x="14526" y="116448"/>
                        <a:pt x="24479" y="73209"/>
                      </a:cubicBezTo>
                      <a:cubicBezTo>
                        <a:pt x="34433" y="29970"/>
                        <a:pt x="0" y="0"/>
                        <a:pt x="0" y="0"/>
                      </a:cubicBezTo>
                    </a:path>
                  </a:pathLst>
                </a:custGeom>
                <a:noFill/>
                <a:ln w="9525" cap="flat">
                  <a:solidFill>
                    <a:srgbClr val="FFFFFF"/>
                  </a:solidFill>
                  <a:prstDash val="solid"/>
                  <a:miter/>
                </a:ln>
              </p:spPr>
              <p:txBody>
                <a:bodyPr rtlCol="0" anchor="ctr"/>
                <a:lstStyle/>
                <a:p>
                  <a:endParaRPr lang="en-GB" sz="3200"/>
                </a:p>
              </p:txBody>
            </p:sp>
            <p:sp>
              <p:nvSpPr>
                <p:cNvPr id="26" name="Freeform: Shape 25">
                  <a:extLst>
                    <a:ext uri="{FF2B5EF4-FFF2-40B4-BE49-F238E27FC236}">
                      <a16:creationId xmlns:a16="http://schemas.microsoft.com/office/drawing/2014/main" id="{E73C2425-C9A8-4164-A8C7-D56F54B96B58}"/>
                    </a:ext>
                  </a:extLst>
                </p:cNvPr>
                <p:cNvSpPr/>
                <p:nvPr/>
              </p:nvSpPr>
              <p:spPr>
                <a:xfrm>
                  <a:off x="3050452" y="1655987"/>
                  <a:ext cx="34680" cy="38252"/>
                </a:xfrm>
                <a:custGeom>
                  <a:avLst/>
                  <a:gdLst>
                    <a:gd name="connsiteX0" fmla="*/ 0 w 34680"/>
                    <a:gd name="connsiteY0" fmla="*/ 38252 h 38252"/>
                    <a:gd name="connsiteX1" fmla="*/ 34681 w 34680"/>
                    <a:gd name="connsiteY1" fmla="*/ 0 h 38252"/>
                  </a:gdLst>
                  <a:ahLst/>
                  <a:cxnLst>
                    <a:cxn ang="0">
                      <a:pos x="connsiteX0" y="connsiteY0"/>
                    </a:cxn>
                    <a:cxn ang="0">
                      <a:pos x="connsiteX1" y="connsiteY1"/>
                    </a:cxn>
                  </a:cxnLst>
                  <a:rect l="l" t="t" r="r" b="b"/>
                  <a:pathLst>
                    <a:path w="34680" h="38252">
                      <a:moveTo>
                        <a:pt x="0" y="38252"/>
                      </a:moveTo>
                      <a:lnTo>
                        <a:pt x="34681" y="0"/>
                      </a:lnTo>
                    </a:path>
                  </a:pathLst>
                </a:custGeom>
                <a:ln w="9525" cap="flat">
                  <a:solidFill>
                    <a:srgbClr val="FFFFFF"/>
                  </a:solidFill>
                  <a:prstDash val="solid"/>
                  <a:miter/>
                </a:ln>
              </p:spPr>
              <p:txBody>
                <a:bodyPr rtlCol="0" anchor="ctr"/>
                <a:lstStyle/>
                <a:p>
                  <a:endParaRPr lang="en-GB" sz="3200"/>
                </a:p>
              </p:txBody>
            </p:sp>
            <p:sp>
              <p:nvSpPr>
                <p:cNvPr id="27" name="Freeform: Shape 26">
                  <a:extLst>
                    <a:ext uri="{FF2B5EF4-FFF2-40B4-BE49-F238E27FC236}">
                      <a16:creationId xmlns:a16="http://schemas.microsoft.com/office/drawing/2014/main" id="{5481FEF9-26E8-4527-A1B4-9DCFA679E9CC}"/>
                    </a:ext>
                  </a:extLst>
                </p:cNvPr>
                <p:cNvSpPr/>
                <p:nvPr/>
              </p:nvSpPr>
              <p:spPr>
                <a:xfrm>
                  <a:off x="3074408" y="1680629"/>
                  <a:ext cx="20745" cy="22883"/>
                </a:xfrm>
                <a:custGeom>
                  <a:avLst/>
                  <a:gdLst>
                    <a:gd name="connsiteX0" fmla="*/ 0 w 20745"/>
                    <a:gd name="connsiteY0" fmla="*/ 22884 h 22883"/>
                    <a:gd name="connsiteX1" fmla="*/ 20745 w 20745"/>
                    <a:gd name="connsiteY1" fmla="*/ 0 h 22883"/>
                  </a:gdLst>
                  <a:ahLst/>
                  <a:cxnLst>
                    <a:cxn ang="0">
                      <a:pos x="connsiteX0" y="connsiteY0"/>
                    </a:cxn>
                    <a:cxn ang="0">
                      <a:pos x="connsiteX1" y="connsiteY1"/>
                    </a:cxn>
                  </a:cxnLst>
                  <a:rect l="l" t="t" r="r" b="b"/>
                  <a:pathLst>
                    <a:path w="20745" h="22883">
                      <a:moveTo>
                        <a:pt x="0" y="22884"/>
                      </a:moveTo>
                      <a:lnTo>
                        <a:pt x="20745" y="0"/>
                      </a:lnTo>
                    </a:path>
                  </a:pathLst>
                </a:custGeom>
                <a:ln w="9525" cap="flat">
                  <a:solidFill>
                    <a:srgbClr val="FFFFFF"/>
                  </a:solidFill>
                  <a:prstDash val="solid"/>
                  <a:miter/>
                </a:ln>
              </p:spPr>
              <p:txBody>
                <a:bodyPr rtlCol="0" anchor="ctr"/>
                <a:lstStyle/>
                <a:p>
                  <a:endParaRPr lang="en-GB" sz="3200"/>
                </a:p>
              </p:txBody>
            </p:sp>
            <p:sp>
              <p:nvSpPr>
                <p:cNvPr id="28" name="Freeform: Shape 27">
                  <a:extLst>
                    <a:ext uri="{FF2B5EF4-FFF2-40B4-BE49-F238E27FC236}">
                      <a16:creationId xmlns:a16="http://schemas.microsoft.com/office/drawing/2014/main" id="{F693A5AE-20A4-40D1-B2E4-9E0FA9CD2BB1}"/>
                    </a:ext>
                  </a:extLst>
                </p:cNvPr>
                <p:cNvSpPr/>
                <p:nvPr/>
              </p:nvSpPr>
              <p:spPr>
                <a:xfrm>
                  <a:off x="3137606" y="1709480"/>
                  <a:ext cx="34675" cy="38252"/>
                </a:xfrm>
                <a:custGeom>
                  <a:avLst/>
                  <a:gdLst>
                    <a:gd name="connsiteX0" fmla="*/ 0 w 34675"/>
                    <a:gd name="connsiteY0" fmla="*/ 38252 h 38252"/>
                    <a:gd name="connsiteX1" fmla="*/ 34676 w 34675"/>
                    <a:gd name="connsiteY1" fmla="*/ 0 h 38252"/>
                  </a:gdLst>
                  <a:ahLst/>
                  <a:cxnLst>
                    <a:cxn ang="0">
                      <a:pos x="connsiteX0" y="connsiteY0"/>
                    </a:cxn>
                    <a:cxn ang="0">
                      <a:pos x="connsiteX1" y="connsiteY1"/>
                    </a:cxn>
                  </a:cxnLst>
                  <a:rect l="l" t="t" r="r" b="b"/>
                  <a:pathLst>
                    <a:path w="34675" h="38252">
                      <a:moveTo>
                        <a:pt x="0" y="38252"/>
                      </a:moveTo>
                      <a:lnTo>
                        <a:pt x="34676" y="0"/>
                      </a:lnTo>
                    </a:path>
                  </a:pathLst>
                </a:custGeom>
                <a:ln w="9525" cap="flat">
                  <a:solidFill>
                    <a:srgbClr val="FFFFFF"/>
                  </a:solidFill>
                  <a:prstDash val="solid"/>
                  <a:miter/>
                </a:ln>
              </p:spPr>
              <p:txBody>
                <a:bodyPr rtlCol="0" anchor="ctr"/>
                <a:lstStyle/>
                <a:p>
                  <a:endParaRPr lang="en-GB" sz="3200"/>
                </a:p>
              </p:txBody>
            </p:sp>
            <p:sp>
              <p:nvSpPr>
                <p:cNvPr id="29" name="Freeform: Shape 28">
                  <a:extLst>
                    <a:ext uri="{FF2B5EF4-FFF2-40B4-BE49-F238E27FC236}">
                      <a16:creationId xmlns:a16="http://schemas.microsoft.com/office/drawing/2014/main" id="{B7B7D523-A22B-492D-93B7-AC02B352CB05}"/>
                    </a:ext>
                  </a:extLst>
                </p:cNvPr>
                <p:cNvSpPr/>
                <p:nvPr/>
              </p:nvSpPr>
              <p:spPr>
                <a:xfrm>
                  <a:off x="3127586" y="1700212"/>
                  <a:ext cx="20745" cy="22883"/>
                </a:xfrm>
                <a:custGeom>
                  <a:avLst/>
                  <a:gdLst>
                    <a:gd name="connsiteX0" fmla="*/ 0 w 20745"/>
                    <a:gd name="connsiteY0" fmla="*/ 22884 h 22883"/>
                    <a:gd name="connsiteX1" fmla="*/ 20746 w 20745"/>
                    <a:gd name="connsiteY1" fmla="*/ 0 h 22883"/>
                  </a:gdLst>
                  <a:ahLst/>
                  <a:cxnLst>
                    <a:cxn ang="0">
                      <a:pos x="connsiteX0" y="connsiteY0"/>
                    </a:cxn>
                    <a:cxn ang="0">
                      <a:pos x="connsiteX1" y="connsiteY1"/>
                    </a:cxn>
                  </a:cxnLst>
                  <a:rect l="l" t="t" r="r" b="b"/>
                  <a:pathLst>
                    <a:path w="20745" h="22883">
                      <a:moveTo>
                        <a:pt x="0" y="22884"/>
                      </a:moveTo>
                      <a:lnTo>
                        <a:pt x="20746" y="0"/>
                      </a:lnTo>
                    </a:path>
                  </a:pathLst>
                </a:custGeom>
                <a:ln w="9525" cap="flat">
                  <a:solidFill>
                    <a:srgbClr val="FFFFFF"/>
                  </a:solidFill>
                  <a:prstDash val="solid"/>
                  <a:miter/>
                </a:ln>
              </p:spPr>
              <p:txBody>
                <a:bodyPr rtlCol="0" anchor="ctr"/>
                <a:lstStyle/>
                <a:p>
                  <a:endParaRPr lang="en-GB" sz="3200"/>
                </a:p>
              </p:txBody>
            </p:sp>
            <p:sp>
              <p:nvSpPr>
                <p:cNvPr id="30" name="Freeform: Shape 29">
                  <a:extLst>
                    <a:ext uri="{FF2B5EF4-FFF2-40B4-BE49-F238E27FC236}">
                      <a16:creationId xmlns:a16="http://schemas.microsoft.com/office/drawing/2014/main" id="{BB85E9A3-95ED-45FC-8FCD-3B05CF73CEF3}"/>
                    </a:ext>
                  </a:extLst>
                </p:cNvPr>
                <p:cNvSpPr/>
                <p:nvPr/>
              </p:nvSpPr>
              <p:spPr>
                <a:xfrm>
                  <a:off x="3034903" y="1683258"/>
                  <a:ext cx="151561" cy="35975"/>
                </a:xfrm>
                <a:custGeom>
                  <a:avLst/>
                  <a:gdLst>
                    <a:gd name="connsiteX0" fmla="*/ 0 w 151561"/>
                    <a:gd name="connsiteY0" fmla="*/ 0 h 35975"/>
                    <a:gd name="connsiteX1" fmla="*/ 76310 w 151561"/>
                    <a:gd name="connsiteY1" fmla="*/ 18779 h 35975"/>
                    <a:gd name="connsiteX2" fmla="*/ 151562 w 151561"/>
                    <a:gd name="connsiteY2" fmla="*/ 35976 h 35975"/>
                  </a:gdLst>
                  <a:ahLst/>
                  <a:cxnLst>
                    <a:cxn ang="0">
                      <a:pos x="connsiteX0" y="connsiteY0"/>
                    </a:cxn>
                    <a:cxn ang="0">
                      <a:pos x="connsiteX1" y="connsiteY1"/>
                    </a:cxn>
                    <a:cxn ang="0">
                      <a:pos x="connsiteX2" y="connsiteY2"/>
                    </a:cxn>
                  </a:cxnLst>
                  <a:rect l="l" t="t" r="r" b="b"/>
                  <a:pathLst>
                    <a:path w="151561" h="35975">
                      <a:moveTo>
                        <a:pt x="0" y="0"/>
                      </a:moveTo>
                      <a:cubicBezTo>
                        <a:pt x="0" y="0"/>
                        <a:pt x="34252" y="32914"/>
                        <a:pt x="76310" y="18779"/>
                      </a:cubicBezTo>
                      <a:cubicBezTo>
                        <a:pt x="118367" y="4643"/>
                        <a:pt x="151562" y="35976"/>
                        <a:pt x="151562" y="35976"/>
                      </a:cubicBezTo>
                    </a:path>
                  </a:pathLst>
                </a:custGeom>
                <a:noFill/>
                <a:ln w="9525" cap="flat">
                  <a:solidFill>
                    <a:srgbClr val="FFFFFF"/>
                  </a:solidFill>
                  <a:prstDash val="solid"/>
                  <a:miter/>
                </a:ln>
              </p:spPr>
              <p:txBody>
                <a:bodyPr rtlCol="0" anchor="ctr"/>
                <a:lstStyle/>
                <a:p>
                  <a:endParaRPr lang="en-GB" sz="3200"/>
                </a:p>
              </p:txBody>
            </p:sp>
          </p:grpSp>
          <p:grpSp>
            <p:nvGrpSpPr>
              <p:cNvPr id="21" name="Graphic 72">
                <a:extLst>
                  <a:ext uri="{FF2B5EF4-FFF2-40B4-BE49-F238E27FC236}">
                    <a16:creationId xmlns:a16="http://schemas.microsoft.com/office/drawing/2014/main" id="{7B0A66C9-6A76-430B-B960-57C6FD2915EA}"/>
                  </a:ext>
                </a:extLst>
              </p:cNvPr>
              <p:cNvGrpSpPr/>
              <p:nvPr/>
            </p:nvGrpSpPr>
            <p:grpSpPr>
              <a:xfrm>
                <a:off x="2994402" y="1585998"/>
                <a:ext cx="297994" cy="260689"/>
                <a:chOff x="2994402" y="1585998"/>
                <a:chExt cx="297994" cy="260689"/>
              </a:xfrm>
              <a:noFill/>
            </p:grpSpPr>
            <p:sp>
              <p:nvSpPr>
                <p:cNvPr id="22" name="Freeform: Shape 21">
                  <a:extLst>
                    <a:ext uri="{FF2B5EF4-FFF2-40B4-BE49-F238E27FC236}">
                      <a16:creationId xmlns:a16="http://schemas.microsoft.com/office/drawing/2014/main" id="{42C83978-CBA4-42B3-9D8D-CD229AEBAB4E}"/>
                    </a:ext>
                  </a:extLst>
                </p:cNvPr>
                <p:cNvSpPr/>
                <p:nvPr/>
              </p:nvSpPr>
              <p:spPr>
                <a:xfrm>
                  <a:off x="3197042" y="1770635"/>
                  <a:ext cx="95354" cy="76052"/>
                </a:xfrm>
                <a:custGeom>
                  <a:avLst/>
                  <a:gdLst>
                    <a:gd name="connsiteX0" fmla="*/ 0 w 95354"/>
                    <a:gd name="connsiteY0" fmla="*/ 0 h 76052"/>
                    <a:gd name="connsiteX1" fmla="*/ 95355 w 95354"/>
                    <a:gd name="connsiteY1" fmla="*/ 76052 h 76052"/>
                  </a:gdLst>
                  <a:ahLst/>
                  <a:cxnLst>
                    <a:cxn ang="0">
                      <a:pos x="connsiteX0" y="connsiteY0"/>
                    </a:cxn>
                    <a:cxn ang="0">
                      <a:pos x="connsiteX1" y="connsiteY1"/>
                    </a:cxn>
                  </a:cxnLst>
                  <a:rect l="l" t="t" r="r" b="b"/>
                  <a:pathLst>
                    <a:path w="95354" h="76052">
                      <a:moveTo>
                        <a:pt x="0" y="0"/>
                      </a:moveTo>
                      <a:lnTo>
                        <a:pt x="95355" y="76052"/>
                      </a:lnTo>
                    </a:path>
                  </a:pathLst>
                </a:custGeom>
                <a:ln w="9525" cap="rnd">
                  <a:solidFill>
                    <a:srgbClr val="FFFFFF"/>
                  </a:solidFill>
                  <a:prstDash val="solid"/>
                  <a:miter/>
                </a:ln>
              </p:spPr>
              <p:txBody>
                <a:bodyPr rtlCol="0" anchor="ctr"/>
                <a:lstStyle/>
                <a:p>
                  <a:endParaRPr lang="en-GB" sz="3200"/>
                </a:p>
              </p:txBody>
            </p:sp>
            <p:sp>
              <p:nvSpPr>
                <p:cNvPr id="23" name="Freeform: Shape 22">
                  <a:extLst>
                    <a:ext uri="{FF2B5EF4-FFF2-40B4-BE49-F238E27FC236}">
                      <a16:creationId xmlns:a16="http://schemas.microsoft.com/office/drawing/2014/main" id="{3ACD5E8B-3E3F-402C-A3F6-18D43DF4293E}"/>
                    </a:ext>
                  </a:extLst>
                </p:cNvPr>
                <p:cNvSpPr/>
                <p:nvPr/>
              </p:nvSpPr>
              <p:spPr>
                <a:xfrm>
                  <a:off x="2994402" y="1585998"/>
                  <a:ext cx="227456" cy="227456"/>
                </a:xfrm>
                <a:custGeom>
                  <a:avLst/>
                  <a:gdLst>
                    <a:gd name="connsiteX0" fmla="*/ 227457 w 227456"/>
                    <a:gd name="connsiteY0" fmla="*/ 113729 h 227456"/>
                    <a:gd name="connsiteX1" fmla="*/ 113728 w 227456"/>
                    <a:gd name="connsiteY1" fmla="*/ 227457 h 227456"/>
                    <a:gd name="connsiteX2" fmla="*/ 0 w 227456"/>
                    <a:gd name="connsiteY2" fmla="*/ 113729 h 227456"/>
                    <a:gd name="connsiteX3" fmla="*/ 113728 w 227456"/>
                    <a:gd name="connsiteY3" fmla="*/ 0 h 227456"/>
                    <a:gd name="connsiteX4" fmla="*/ 227457 w 227456"/>
                    <a:gd name="connsiteY4" fmla="*/ 113729 h 22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456" h="227456">
                      <a:moveTo>
                        <a:pt x="227457" y="113729"/>
                      </a:moveTo>
                      <a:cubicBezTo>
                        <a:pt x="227457" y="176539"/>
                        <a:pt x="176539" y="227457"/>
                        <a:pt x="113728" y="227457"/>
                      </a:cubicBezTo>
                      <a:cubicBezTo>
                        <a:pt x="50918" y="227457"/>
                        <a:pt x="0" y="176539"/>
                        <a:pt x="0" y="113729"/>
                      </a:cubicBezTo>
                      <a:cubicBezTo>
                        <a:pt x="0" y="50918"/>
                        <a:pt x="50918" y="0"/>
                        <a:pt x="113728" y="0"/>
                      </a:cubicBezTo>
                      <a:cubicBezTo>
                        <a:pt x="176539" y="0"/>
                        <a:pt x="227457" y="50918"/>
                        <a:pt x="227457" y="113729"/>
                      </a:cubicBezTo>
                      <a:close/>
                    </a:path>
                  </a:pathLst>
                </a:custGeom>
                <a:noFill/>
                <a:ln w="9525" cap="rnd">
                  <a:solidFill>
                    <a:srgbClr val="FFFFFF"/>
                  </a:solidFill>
                  <a:prstDash val="solid"/>
                  <a:miter/>
                </a:ln>
              </p:spPr>
              <p:txBody>
                <a:bodyPr rtlCol="0" anchor="ctr"/>
                <a:lstStyle/>
                <a:p>
                  <a:endParaRPr lang="en-GB" sz="3200"/>
                </a:p>
              </p:txBody>
            </p:sp>
          </p:grpSp>
        </p:grpSp>
      </p:grpSp>
      <p:pic>
        <p:nvPicPr>
          <p:cNvPr id="2" name="Picture 1" descr="A picture containing text, clipart&#10;&#10;Description automatically generated">
            <a:extLst>
              <a:ext uri="{FF2B5EF4-FFF2-40B4-BE49-F238E27FC236}">
                <a16:creationId xmlns:a16="http://schemas.microsoft.com/office/drawing/2014/main" id="{89E4DFEB-3E71-FF96-5B7D-A32D54767317}"/>
              </a:ext>
            </a:extLst>
          </p:cNvPr>
          <p:cNvPicPr>
            <a:picLocks noChangeAspect="1"/>
          </p:cNvPicPr>
          <p:nvPr userDrawn="1"/>
        </p:nvPicPr>
        <p:blipFill>
          <a:blip r:embed="rId2"/>
          <a:stretch>
            <a:fillRect/>
          </a:stretch>
        </p:blipFill>
        <p:spPr>
          <a:xfrm>
            <a:off x="490102" y="6514273"/>
            <a:ext cx="1180391" cy="271860"/>
          </a:xfrm>
          <a:prstGeom prst="rect">
            <a:avLst/>
          </a:prstGeom>
        </p:spPr>
      </p:pic>
    </p:spTree>
    <p:extLst>
      <p:ext uri="{BB962C8B-B14F-4D97-AF65-F5344CB8AC3E}">
        <p14:creationId xmlns:p14="http://schemas.microsoft.com/office/powerpoint/2010/main" val="2459278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500" b="1" i="0">
                <a:solidFill>
                  <a:srgbClr val="07302A"/>
                </a:solidFill>
                <a:latin typeface="Boehringer Forward Head"/>
                <a:cs typeface="Boehringer Forward Head"/>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8221822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07302A"/>
                </a:solidFill>
                <a:latin typeface="Boehringer Forward Head"/>
                <a:cs typeface="Boehringer Forward Head"/>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8572584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07302A"/>
                </a:solidFill>
                <a:latin typeface="Boehringer Forward Head"/>
                <a:cs typeface="Boehringer Forward Head"/>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7281894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07302A"/>
                </a:solidFill>
                <a:latin typeface="Boehringer Forward Head"/>
                <a:cs typeface="Boehringer Forward Head"/>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4507067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7643298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Spesolimab - confidential</a:t>
            </a:r>
          </a:p>
        </p:txBody>
      </p:sp>
    </p:spTree>
    <p:extLst>
      <p:ext uri="{BB962C8B-B14F-4D97-AF65-F5344CB8AC3E}">
        <p14:creationId xmlns:p14="http://schemas.microsoft.com/office/powerpoint/2010/main" val="367745582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Spesolimab - confidential</a:t>
            </a:r>
          </a:p>
        </p:txBody>
      </p:sp>
    </p:spTree>
    <p:extLst>
      <p:ext uri="{BB962C8B-B14F-4D97-AF65-F5344CB8AC3E}">
        <p14:creationId xmlns:p14="http://schemas.microsoft.com/office/powerpoint/2010/main" val="128108147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Spesolimab - confidential</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9547589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Spesolimab - confidential</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222292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Spesolimab - confidential</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185099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Spesolimab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97818300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Spesolimab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53910284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Spesolimab - confidential</a:t>
            </a:r>
          </a:p>
        </p:txBody>
      </p:sp>
    </p:spTree>
    <p:extLst>
      <p:ext uri="{BB962C8B-B14F-4D97-AF65-F5344CB8AC3E}">
        <p14:creationId xmlns:p14="http://schemas.microsoft.com/office/powerpoint/2010/main" val="427517379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Spesolimab - confidential</a:t>
            </a:r>
          </a:p>
        </p:txBody>
      </p:sp>
    </p:spTree>
    <p:extLst>
      <p:ext uri="{BB962C8B-B14F-4D97-AF65-F5344CB8AC3E}">
        <p14:creationId xmlns:p14="http://schemas.microsoft.com/office/powerpoint/2010/main" val="926674757"/>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Spesolimab - confidential</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8168713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7"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Spesolimab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8126862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Spesolimab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20042156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Spesolimab - confidential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48307469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Spesolimab - confidential</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59957510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Spesolimab - confidential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24555393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Spesolimab - confidential</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1882107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Spesolimab - confidential</a:t>
            </a:r>
          </a:p>
        </p:txBody>
      </p:sp>
    </p:spTree>
    <p:extLst>
      <p:ext uri="{BB962C8B-B14F-4D97-AF65-F5344CB8AC3E}">
        <p14:creationId xmlns:p14="http://schemas.microsoft.com/office/powerpoint/2010/main" val="247346154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90"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1"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Spesolimab - confidential</a:t>
            </a:r>
          </a:p>
        </p:txBody>
      </p:sp>
    </p:spTree>
    <p:extLst>
      <p:ext uri="{BB962C8B-B14F-4D97-AF65-F5344CB8AC3E}">
        <p14:creationId xmlns:p14="http://schemas.microsoft.com/office/powerpoint/2010/main" val="324167042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Spesolimab - confidential</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4494437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Spesolimab - confidential</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4028198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Spesolimab - confidential</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357152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Spesolimab - confidential</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3218539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Spesolimab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9448548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Spesolimab - confidential</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092483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Spesolimab - confidential</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8889977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Spesolimab - confidential</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6725960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Spesolimab - confidential</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7888318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Spesolimab - confidential</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0550341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Spesolimab - confidential</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36781221"/>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Spesolimab - confidential</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140575319"/>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Spesolimab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00698461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Spesolimab - confidential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57831553"/>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Spesolimab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7"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7"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3"/>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5"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3166790343"/>
      </p:ext>
    </p:extLst>
  </p:cSld>
  <p:clrMapOvr>
    <a:masterClrMapping/>
  </p:clrMapOvr>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noProof="0"/>
          </a:p>
        </p:txBody>
      </p:sp>
      <p:sp>
        <p:nvSpPr>
          <p:cNvPr id="3" name="Fußzeilenplatzhalter 2"/>
          <p:cNvSpPr>
            <a:spLocks noGrp="1"/>
          </p:cNvSpPr>
          <p:nvPr>
            <p:ph type="ftr" sz="quarter" idx="11"/>
          </p:nvPr>
        </p:nvSpPr>
        <p:spPr/>
        <p:txBody>
          <a:bodyPr/>
          <a:lstStyle/>
          <a:p>
            <a:r>
              <a:rPr lang="en-GB" noProof="0"/>
              <a:t>Spesolimab - confidential</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204615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GB" noProof="0"/>
              <a:t>Spesolimab - confidential</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2548934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3_Content F">
    <p:spTree>
      <p:nvGrpSpPr>
        <p:cNvPr id="1" name=""/>
        <p:cNvGrpSpPr/>
        <p:nvPr/>
      </p:nvGrpSpPr>
      <p:grpSpPr>
        <a:xfrm>
          <a:off x="0" y="0"/>
          <a:ext cx="0" cy="0"/>
          <a:chOff x="0" y="0"/>
          <a:chExt cx="0" cy="0"/>
        </a:xfrm>
      </p:grpSpPr>
      <p:sp>
        <p:nvSpPr>
          <p:cNvPr id="15" name="Triangle 14">
            <a:extLst>
              <a:ext uri="{FF2B5EF4-FFF2-40B4-BE49-F238E27FC236}">
                <a16:creationId xmlns:a16="http://schemas.microsoft.com/office/drawing/2014/main" id="{A1BA14A3-C092-5D4C-A9B8-B595077625F8}"/>
              </a:ext>
            </a:extLst>
          </p:cNvPr>
          <p:cNvSpPr/>
          <p:nvPr userDrawn="1"/>
        </p:nvSpPr>
        <p:spPr>
          <a:xfrm rot="5400000">
            <a:off x="9338887" y="2296271"/>
            <a:ext cx="1127244" cy="915280"/>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800"/>
          </a:p>
        </p:txBody>
      </p:sp>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1046814" y="1479809"/>
            <a:ext cx="8012095" cy="4421459"/>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8">
            <a:extLst>
              <a:ext uri="{FF2B5EF4-FFF2-40B4-BE49-F238E27FC236}">
                <a16:creationId xmlns:a16="http://schemas.microsoft.com/office/drawing/2014/main" id="{561421AC-2CBB-8343-9DE2-88924424FC86}"/>
              </a:ext>
            </a:extLst>
          </p:cNvPr>
          <p:cNvSpPr>
            <a:spLocks noGrp="1"/>
          </p:cNvSpPr>
          <p:nvPr>
            <p:ph type="body" sz="quarter" idx="11" hasCustomPrompt="1"/>
          </p:nvPr>
        </p:nvSpPr>
        <p:spPr>
          <a:xfrm>
            <a:off x="1046814" y="600585"/>
            <a:ext cx="8012095" cy="579291"/>
          </a:xfrm>
        </p:spPr>
        <p:txBody>
          <a:bodyPr anchor="t">
            <a:noAutofit/>
          </a:bodyPr>
          <a:lstStyle>
            <a:lvl1pPr>
              <a:lnSpc>
                <a:spcPct val="100000"/>
              </a:lnSpc>
              <a:spcBef>
                <a:spcPts val="0"/>
              </a:spcBef>
              <a:defRPr sz="3000" b="1" spc="0">
                <a:solidFill>
                  <a:schemeClr val="tx1"/>
                </a:solidFill>
              </a:defRPr>
            </a:lvl1pPr>
            <a:lvl2pPr marL="457189" indent="0">
              <a:buNone/>
              <a:defRPr/>
            </a:lvl2pPr>
          </a:lstStyle>
          <a:p>
            <a:pPr lvl="0"/>
            <a:r>
              <a:rPr lang="en-US"/>
              <a:t>CLICK TO ADD TITLE</a:t>
            </a:r>
          </a:p>
        </p:txBody>
      </p:sp>
      <p:grpSp>
        <p:nvGrpSpPr>
          <p:cNvPr id="2" name="Group 1">
            <a:extLst>
              <a:ext uri="{FF2B5EF4-FFF2-40B4-BE49-F238E27FC236}">
                <a16:creationId xmlns:a16="http://schemas.microsoft.com/office/drawing/2014/main" id="{6779DB53-58EC-654C-9D97-D6A2CF323001}"/>
              </a:ext>
            </a:extLst>
          </p:cNvPr>
          <p:cNvGrpSpPr/>
          <p:nvPr userDrawn="1"/>
        </p:nvGrpSpPr>
        <p:grpSpPr>
          <a:xfrm>
            <a:off x="9702305" y="920265"/>
            <a:ext cx="2054267" cy="5147603"/>
            <a:chOff x="9702306" y="920264"/>
            <a:chExt cx="2054266" cy="5147603"/>
          </a:xfrm>
        </p:grpSpPr>
        <p:sp>
          <p:nvSpPr>
            <p:cNvPr id="12" name="Triangle 11">
              <a:extLst>
                <a:ext uri="{FF2B5EF4-FFF2-40B4-BE49-F238E27FC236}">
                  <a16:creationId xmlns:a16="http://schemas.microsoft.com/office/drawing/2014/main" id="{367B2E3C-6F37-624E-979C-5D5F5B51FD23}"/>
                </a:ext>
              </a:extLst>
            </p:cNvPr>
            <p:cNvSpPr/>
            <p:nvPr/>
          </p:nvSpPr>
          <p:spPr>
            <a:xfrm rot="5400000">
              <a:off x="9758507" y="4123788"/>
              <a:ext cx="2088085" cy="1800073"/>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800"/>
            </a:p>
          </p:txBody>
        </p:sp>
        <p:sp>
          <p:nvSpPr>
            <p:cNvPr id="20" name="Triangle 19">
              <a:extLst>
                <a:ext uri="{FF2B5EF4-FFF2-40B4-BE49-F238E27FC236}">
                  <a16:creationId xmlns:a16="http://schemas.microsoft.com/office/drawing/2014/main" id="{2F54F3A2-E591-2748-ACBA-C5BBFC9C7EE9}"/>
                </a:ext>
              </a:extLst>
            </p:cNvPr>
            <p:cNvSpPr/>
            <p:nvPr/>
          </p:nvSpPr>
          <p:spPr>
            <a:xfrm rot="16200000">
              <a:off x="9689716" y="2890436"/>
              <a:ext cx="1302918" cy="1123205"/>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800"/>
            </a:p>
          </p:txBody>
        </p:sp>
        <p:sp>
          <p:nvSpPr>
            <p:cNvPr id="22" name="Triangle 21">
              <a:extLst>
                <a:ext uri="{FF2B5EF4-FFF2-40B4-BE49-F238E27FC236}">
                  <a16:creationId xmlns:a16="http://schemas.microsoft.com/office/drawing/2014/main" id="{3B87F402-ADDE-5C4B-B16E-F27A38C7B554}"/>
                </a:ext>
              </a:extLst>
            </p:cNvPr>
            <p:cNvSpPr/>
            <p:nvPr/>
          </p:nvSpPr>
          <p:spPr>
            <a:xfrm rot="5400000">
              <a:off x="9588106" y="1213900"/>
              <a:ext cx="1655891" cy="1427491"/>
            </a:xfrm>
            <a:prstGeom prst="triangle">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800">
                <a:solidFill>
                  <a:schemeClr val="tx1"/>
                </a:solidFill>
              </a:endParaRPr>
            </a:p>
          </p:txBody>
        </p:sp>
        <p:sp>
          <p:nvSpPr>
            <p:cNvPr id="23" name="Triangle 22">
              <a:extLst>
                <a:ext uri="{FF2B5EF4-FFF2-40B4-BE49-F238E27FC236}">
                  <a16:creationId xmlns:a16="http://schemas.microsoft.com/office/drawing/2014/main" id="{90348D4E-21B9-D249-B6DC-E92B2305DF70}"/>
                </a:ext>
              </a:extLst>
            </p:cNvPr>
            <p:cNvSpPr/>
            <p:nvPr/>
          </p:nvSpPr>
          <p:spPr>
            <a:xfrm rot="5400000">
              <a:off x="10543514" y="3722328"/>
              <a:ext cx="1302914" cy="1123202"/>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800">
                <a:solidFill>
                  <a:schemeClr val="accent1"/>
                </a:solidFill>
              </a:endParaRPr>
            </a:p>
          </p:txBody>
        </p:sp>
        <p:sp>
          <p:nvSpPr>
            <p:cNvPr id="24" name="Triangle 23">
              <a:extLst>
                <a:ext uri="{FF2B5EF4-FFF2-40B4-BE49-F238E27FC236}">
                  <a16:creationId xmlns:a16="http://schemas.microsoft.com/office/drawing/2014/main" id="{867D43BB-EB4F-C442-A0C8-8D797E805C20}"/>
                </a:ext>
              </a:extLst>
            </p:cNvPr>
            <p:cNvSpPr/>
            <p:nvPr/>
          </p:nvSpPr>
          <p:spPr>
            <a:xfrm rot="16200000">
              <a:off x="10276074" y="956334"/>
              <a:ext cx="523022" cy="450882"/>
            </a:xfrm>
            <a:prstGeom prst="triangl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800">
                <a:solidFill>
                  <a:schemeClr val="accent1"/>
                </a:solidFill>
              </a:endParaRPr>
            </a:p>
          </p:txBody>
        </p:sp>
      </p:grpSp>
      <p:sp>
        <p:nvSpPr>
          <p:cNvPr id="11" name="Text Placeholder 18">
            <a:extLst>
              <a:ext uri="{FF2B5EF4-FFF2-40B4-BE49-F238E27FC236}">
                <a16:creationId xmlns:a16="http://schemas.microsoft.com/office/drawing/2014/main" id="{94E74B46-F57C-ED48-A3DD-A783E8948904}"/>
              </a:ext>
            </a:extLst>
          </p:cNvPr>
          <p:cNvSpPr>
            <a:spLocks noGrp="1"/>
          </p:cNvSpPr>
          <p:nvPr>
            <p:ph type="body" sz="quarter" idx="14" hasCustomPrompt="1"/>
          </p:nvPr>
        </p:nvSpPr>
        <p:spPr>
          <a:xfrm>
            <a:off x="1046813" y="6070676"/>
            <a:ext cx="8012095" cy="486673"/>
          </a:xfrm>
        </p:spPr>
        <p:txBody>
          <a:bodyPr anchor="t">
            <a:noAutofit/>
          </a:bodyPr>
          <a:lstStyle>
            <a:lvl1pPr>
              <a:lnSpc>
                <a:spcPct val="100000"/>
              </a:lnSpc>
              <a:spcBef>
                <a:spcPts val="0"/>
              </a:spcBef>
              <a:defRPr sz="900" b="0" spc="0">
                <a:solidFill>
                  <a:schemeClr val="accent6"/>
                </a:solidFill>
              </a:defRPr>
            </a:lvl1pPr>
            <a:lvl2pPr marL="457189" indent="0">
              <a:buNone/>
              <a:defRPr/>
            </a:lvl2pPr>
          </a:lstStyle>
          <a:p>
            <a:pPr lvl="0"/>
            <a:r>
              <a:rPr lang="en-US"/>
              <a:t>Click to add footnote</a:t>
            </a:r>
          </a:p>
        </p:txBody>
      </p:sp>
    </p:spTree>
    <p:extLst>
      <p:ext uri="{BB962C8B-B14F-4D97-AF65-F5344CB8AC3E}">
        <p14:creationId xmlns:p14="http://schemas.microsoft.com/office/powerpoint/2010/main" val="148606184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1_Standard page_02">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7" name="Fußzeilenplatzhalter 6"/>
          <p:cNvSpPr>
            <a:spLocks noGrp="1"/>
          </p:cNvSpPr>
          <p:nvPr>
            <p:ph type="ftr" sz="quarter" idx="11"/>
          </p:nvPr>
        </p:nvSpPr>
        <p:spPr>
          <a:xfrm>
            <a:off x="1801771" y="6445020"/>
            <a:ext cx="8186291" cy="410369"/>
          </a:xfrm>
        </p:spPr>
        <p:txBody>
          <a:bodyPr/>
          <a:lstStyle>
            <a:lvl1pPr>
              <a:defRPr>
                <a:solidFill>
                  <a:schemeClr val="tx1"/>
                </a:solidFill>
              </a:defRPr>
            </a:lvl1pPr>
          </a:lstStyle>
          <a:p>
            <a:r>
              <a:rPr lang="en-US"/>
              <a:t>Spesolimab - confidential</a:t>
            </a:r>
            <a:endParaRPr lang="en-GB"/>
          </a:p>
        </p:txBody>
      </p:sp>
      <p:sp>
        <p:nvSpPr>
          <p:cNvPr id="8" name="Foliennummernplatzhalter 7"/>
          <p:cNvSpPr>
            <a:spLocks noGrp="1"/>
          </p:cNvSpPr>
          <p:nvPr>
            <p:ph type="sldNum" sz="quarter" idx="12"/>
          </p:nvPr>
        </p:nvSpPr>
        <p:spPr>
          <a:xfrm>
            <a:off x="11505265" y="6547611"/>
            <a:ext cx="196635" cy="205184"/>
          </a:xfrm>
        </p:spPr>
        <p:txBody>
          <a:bodyPr/>
          <a:lstStyle>
            <a:lvl1pPr>
              <a:defRPr>
                <a:solidFill>
                  <a:schemeClr val="tx1"/>
                </a:solidFill>
              </a:defRPr>
            </a:lvl1pPr>
          </a:lstStyle>
          <a:p>
            <a:fld id="{143B55C4-4F5A-416B-997D-6CE47EB0A945}" type="slidenum">
              <a:rPr lang="en-GB" smtClean="0"/>
              <a:pPr/>
              <a:t>‹#›</a:t>
            </a:fld>
            <a:endParaRPr lang="en-GB"/>
          </a:p>
        </p:txBody>
      </p:sp>
      <p:sp>
        <p:nvSpPr>
          <p:cNvPr id="14" name="Titel 2"/>
          <p:cNvSpPr>
            <a:spLocks noGrp="1"/>
          </p:cNvSpPr>
          <p:nvPr>
            <p:ph type="title"/>
          </p:nvPr>
        </p:nvSpPr>
        <p:spPr>
          <a:xfrm>
            <a:off x="484717" y="40285"/>
            <a:ext cx="11211800" cy="492443"/>
          </a:xfrm>
          <a:prstGeom prst="rect">
            <a:avLst/>
          </a:prstGeom>
        </p:spPr>
        <p:txBody>
          <a:bodyPr/>
          <a:lstStyle/>
          <a:p>
            <a:r>
              <a:rPr lang="de-DE"/>
              <a:t>Titelmasterformat durch Klicken bearbeiten</a:t>
            </a:r>
          </a:p>
        </p:txBody>
      </p:sp>
      <p:sp>
        <p:nvSpPr>
          <p:cNvPr id="4" name="Inhaltsplatzhalter 3"/>
          <p:cNvSpPr>
            <a:spLocks noGrp="1"/>
          </p:cNvSpPr>
          <p:nvPr>
            <p:ph sz="quarter" idx="13"/>
          </p:nvPr>
        </p:nvSpPr>
        <p:spPr>
          <a:xfrm>
            <a:off x="485924" y="1206502"/>
            <a:ext cx="11226800" cy="5108575"/>
          </a:xfrm>
          <a:prstGeom prst="rect">
            <a:avLst/>
          </a:prstGeom>
        </p:spPr>
        <p:txBody>
          <a:bodyPr/>
          <a:lstStyle>
            <a:lvl2pPr>
              <a:defRPr sz="2000"/>
            </a:lvl2pPr>
            <a:lvl3pPr>
              <a:defRPr sz="2000"/>
            </a:lvl3pPr>
            <a:lvl4pPr>
              <a:defRPr sz="2000"/>
            </a:lvl4pPr>
            <a:lvl5pPr>
              <a:defRPr sz="2000"/>
            </a:lvl5pPr>
          </a:lstStyle>
          <a:p>
            <a:pPr lvl="0"/>
            <a:r>
              <a:rPr lang="de-DE"/>
              <a:t>Textmasterformat bearbeiten</a:t>
            </a:r>
          </a:p>
          <a:p>
            <a:pPr lvl="1"/>
            <a:r>
              <a:rPr lang="de-DE"/>
              <a:t>Zweite Ebene</a:t>
            </a:r>
          </a:p>
        </p:txBody>
      </p:sp>
      <p:pic>
        <p:nvPicPr>
          <p:cNvPr id="15" name="Grafik 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581389" y="6557008"/>
            <a:ext cx="678313" cy="194149"/>
          </a:xfrm>
          <a:prstGeom prst="rect">
            <a:avLst/>
          </a:prstGeom>
        </p:spPr>
      </p:pic>
    </p:spTree>
    <p:extLst>
      <p:ext uri="{BB962C8B-B14F-4D97-AF65-F5344CB8AC3E}">
        <p14:creationId xmlns:p14="http://schemas.microsoft.com/office/powerpoint/2010/main" val="2146334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B3FF1-E52F-4C9D-83A1-9B186C0344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90ECE1-D074-48B0-A194-3DD06DCD46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460C516-5267-432E-B2E0-C737DAA7146C}"/>
              </a:ext>
            </a:extLst>
          </p:cNvPr>
          <p:cNvSpPr>
            <a:spLocks noGrp="1"/>
          </p:cNvSpPr>
          <p:nvPr>
            <p:ph type="sldNum" sz="quarter" idx="12"/>
          </p:nvPr>
        </p:nvSpPr>
        <p:spPr/>
        <p:txBody>
          <a:bodyPr/>
          <a:lstStyle/>
          <a:p>
            <a:fld id="{81291432-8017-464C-8A32-53F617CB22B2}" type="slidenum">
              <a:rPr lang="en-US" smtClean="0"/>
              <a:t>‹#›</a:t>
            </a:fld>
            <a:endParaRPr lang="en-US"/>
          </a:p>
        </p:txBody>
      </p:sp>
      <p:sp>
        <p:nvSpPr>
          <p:cNvPr id="8" name="Text Placeholder 7">
            <a:extLst>
              <a:ext uri="{FF2B5EF4-FFF2-40B4-BE49-F238E27FC236}">
                <a16:creationId xmlns:a16="http://schemas.microsoft.com/office/drawing/2014/main" id="{156BA498-F183-46F4-A7C6-A4BDEC24481F}"/>
              </a:ext>
            </a:extLst>
          </p:cNvPr>
          <p:cNvSpPr>
            <a:spLocks noGrp="1"/>
          </p:cNvSpPr>
          <p:nvPr>
            <p:ph type="body" sz="quarter" idx="13"/>
          </p:nvPr>
        </p:nvSpPr>
        <p:spPr>
          <a:xfrm>
            <a:off x="838200" y="6196196"/>
            <a:ext cx="9407769" cy="496888"/>
          </a:xfrm>
        </p:spPr>
        <p:txBody>
          <a:bodyPr anchor="b">
            <a:noAutofit/>
          </a:bodyPr>
          <a:lstStyle>
            <a:lvl1pPr marL="0" indent="0">
              <a:lnSpc>
                <a:spcPts val="900"/>
              </a:lnSpc>
              <a:spcBef>
                <a:spcPts val="0"/>
              </a:spcBef>
              <a:buNone/>
              <a:defRPr lang="en-US" sz="800" kern="1200" dirty="0" smtClean="0">
                <a:solidFill>
                  <a:schemeClr val="tx1">
                    <a:tint val="75000"/>
                  </a:schemeClr>
                </a:solidFill>
                <a:latin typeface="+mn-lt"/>
                <a:ea typeface="+mn-ea"/>
                <a:cs typeface="+mn-cs"/>
              </a:defRPr>
            </a:lvl1pPr>
            <a:lvl2pPr marL="457200" indent="0">
              <a:buNone/>
              <a:defRPr lang="en-US" sz="900" kern="1200" dirty="0" smtClean="0">
                <a:solidFill>
                  <a:schemeClr val="tx1">
                    <a:tint val="75000"/>
                  </a:schemeClr>
                </a:solidFill>
                <a:latin typeface="+mn-lt"/>
                <a:ea typeface="+mn-ea"/>
                <a:cs typeface="+mn-cs"/>
              </a:defRPr>
            </a:lvl2pPr>
            <a:lvl3pPr marL="914400" indent="0">
              <a:buNone/>
              <a:defRPr lang="en-US" sz="900" kern="1200" dirty="0" smtClean="0">
                <a:solidFill>
                  <a:schemeClr val="tx1">
                    <a:tint val="75000"/>
                  </a:schemeClr>
                </a:solidFill>
                <a:latin typeface="+mn-lt"/>
                <a:ea typeface="+mn-ea"/>
                <a:cs typeface="+mn-cs"/>
              </a:defRPr>
            </a:lvl3pPr>
            <a:lvl4pPr marL="1371600" indent="0">
              <a:buNone/>
              <a:defRPr lang="en-US" sz="900" kern="1200" dirty="0" smtClean="0">
                <a:solidFill>
                  <a:schemeClr val="tx1">
                    <a:tint val="75000"/>
                  </a:schemeClr>
                </a:solidFill>
                <a:latin typeface="+mn-lt"/>
                <a:ea typeface="+mn-ea"/>
                <a:cs typeface="+mn-cs"/>
              </a:defRPr>
            </a:lvl4pPr>
            <a:lvl5pPr marL="1828800" indent="0">
              <a:buNone/>
              <a:defRPr lang="en-US" sz="900" kern="1200" dirty="0">
                <a:solidFill>
                  <a:schemeClr val="tx1">
                    <a:tint val="75000"/>
                  </a:schemeClr>
                </a:solidFill>
                <a:latin typeface="+mn-lt"/>
                <a:ea typeface="+mn-ea"/>
                <a:cs typeface="+mn-cs"/>
              </a:defRPr>
            </a:lvl5pPr>
          </a:lstStyle>
          <a:p>
            <a:pPr lvl="0"/>
            <a:r>
              <a:rPr lang="en-US"/>
              <a:t>Click to edit Master text styles</a:t>
            </a:r>
          </a:p>
        </p:txBody>
      </p:sp>
    </p:spTree>
    <p:custDataLst>
      <p:tags r:id="rId1"/>
    </p:custDataLst>
    <p:extLst>
      <p:ext uri="{BB962C8B-B14F-4D97-AF65-F5344CB8AC3E}">
        <p14:creationId xmlns:p14="http://schemas.microsoft.com/office/powerpoint/2010/main" val="32769048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cSld name="Standard page_01 Large">
    <p:spTree>
      <p:nvGrpSpPr>
        <p:cNvPr id="1" name=""/>
        <p:cNvGrpSpPr/>
        <p:nvPr/>
      </p:nvGrpSpPr>
      <p:grpSpPr>
        <a:xfrm>
          <a:off x="0" y="0"/>
          <a:ext cx="0" cy="0"/>
          <a:chOff x="0" y="0"/>
          <a:chExt cx="0" cy="0"/>
        </a:xfrm>
      </p:grpSpPr>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924" y="6578958"/>
            <a:ext cx="840360" cy="190510"/>
          </a:xfrm>
          <a:prstGeom prst="rect">
            <a:avLst/>
          </a:prstGeom>
        </p:spPr>
      </p:pic>
      <p:sp>
        <p:nvSpPr>
          <p:cNvPr id="3" name="Titel 2"/>
          <p:cNvSpPr>
            <a:spLocks noGrp="1"/>
          </p:cNvSpPr>
          <p:nvPr>
            <p:ph type="title" hasCustomPrompt="1"/>
          </p:nvPr>
        </p:nvSpPr>
        <p:spPr>
          <a:xfrm>
            <a:off x="490100" y="467663"/>
            <a:ext cx="11211800" cy="492443"/>
          </a:xfrm>
        </p:spPr>
        <p:txBody>
          <a:bodyPr anchor="b"/>
          <a:lstStyle>
            <a:lvl1pPr>
              <a:defRPr sz="3200"/>
            </a:lvl1pPr>
          </a:lstStyle>
          <a:p>
            <a:r>
              <a:rPr lang="de-DE"/>
              <a:t>Header</a:t>
            </a:r>
          </a:p>
        </p:txBody>
      </p:sp>
      <p:sp>
        <p:nvSpPr>
          <p:cNvPr id="6" name="TextBox 5">
            <a:extLst>
              <a:ext uri="{FF2B5EF4-FFF2-40B4-BE49-F238E27FC236}">
                <a16:creationId xmlns:a16="http://schemas.microsoft.com/office/drawing/2014/main" id="{2D739149-21C0-FB49-9193-583092199C9E}"/>
              </a:ext>
            </a:extLst>
          </p:cNvPr>
          <p:cNvSpPr txBox="1"/>
          <p:nvPr userDrawn="1"/>
        </p:nvSpPr>
        <p:spPr>
          <a:xfrm>
            <a:off x="1463040" y="6620511"/>
            <a:ext cx="3016852" cy="33855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prstClr val="white">
                    <a:lumMod val="50000"/>
                  </a:prstClr>
                </a:solidFill>
              </a:rPr>
              <a:t>Confidential - for discussion purposes only – Not for Further Distribution</a:t>
            </a:r>
            <a:endParaRPr lang="en-GB" sz="800">
              <a:solidFill>
                <a:prstClr val="white">
                  <a:lumMod val="50000"/>
                </a:prstClr>
              </a:solidFill>
            </a:endParaRPr>
          </a:p>
          <a:p>
            <a:endParaRPr lang="en-US" sz="1400"/>
          </a:p>
        </p:txBody>
      </p:sp>
      <p:sp>
        <p:nvSpPr>
          <p:cNvPr id="7" name="Foliennummernplatzhalter 10">
            <a:extLst>
              <a:ext uri="{FF2B5EF4-FFF2-40B4-BE49-F238E27FC236}">
                <a16:creationId xmlns:a16="http://schemas.microsoft.com/office/drawing/2014/main" id="{0D8295C5-12DA-325E-CBF6-DE5C58209446}"/>
              </a:ext>
            </a:extLst>
          </p:cNvPr>
          <p:cNvSpPr>
            <a:spLocks noGrp="1"/>
          </p:cNvSpPr>
          <p:nvPr>
            <p:ph type="sldNum" sz="quarter" idx="12"/>
          </p:nvPr>
        </p:nvSpPr>
        <p:spPr>
          <a:xfrm>
            <a:off x="11582400" y="0"/>
            <a:ext cx="718612" cy="365957"/>
          </a:xfrm>
          <a:prstGeom prst="rect">
            <a:avLst/>
          </a:prstGeom>
        </p:spPr>
        <p:txBody>
          <a:bodyPr/>
          <a:lstStyle>
            <a:lvl1pPr>
              <a:defRPr>
                <a:solidFill>
                  <a:schemeClr val="tx1"/>
                </a:solidFill>
              </a:defRPr>
            </a:lvl1pPr>
          </a:lstStyle>
          <a:p>
            <a:fld id="{143B55C4-4F5A-416B-997D-6CE47EB0A945}" type="slidenum">
              <a:rPr lang="en-GB" smtClean="0"/>
              <a:pPr/>
              <a:t>‹#›</a:t>
            </a:fld>
            <a:endParaRPr lang="en-GB"/>
          </a:p>
        </p:txBody>
      </p:sp>
    </p:spTree>
    <p:extLst>
      <p:ext uri="{BB962C8B-B14F-4D97-AF65-F5344CB8AC3E}">
        <p14:creationId xmlns:p14="http://schemas.microsoft.com/office/powerpoint/2010/main" val="2728849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33">
          <p15:clr>
            <a:srgbClr val="FBAE40"/>
          </p15:clr>
        </p15:guide>
        <p15:guide id="2" pos="384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400B8-4492-E34A-AD6B-85F1D9737644}"/>
              </a:ext>
            </a:extLst>
          </p:cNvPr>
          <p:cNvSpPr>
            <a:spLocks noGrp="1"/>
          </p:cNvSpPr>
          <p:nvPr>
            <p:ph type="title"/>
          </p:nvPr>
        </p:nvSpPr>
        <p:spPr>
          <a:xfrm>
            <a:off x="609600" y="609600"/>
            <a:ext cx="10972800" cy="7620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CE21992C-CD43-9040-8769-73B52BA0D006}"/>
              </a:ext>
            </a:extLst>
          </p:cNvPr>
          <p:cNvSpPr>
            <a:spLocks noGrp="1"/>
          </p:cNvSpPr>
          <p:nvPr>
            <p:ph idx="1"/>
          </p:nvPr>
        </p:nvSpPr>
        <p:spPr>
          <a:xfrm>
            <a:off x="609600" y="1524001"/>
            <a:ext cx="10972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12EF2F-225B-8748-A9CF-36BDFBE486F2}"/>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122941C-811B-224E-9828-885696705156}"/>
              </a:ext>
            </a:extLst>
          </p:cNvPr>
          <p:cNvSpPr>
            <a:spLocks noGrp="1"/>
          </p:cNvSpPr>
          <p:nvPr>
            <p:ph type="ftr" sz="quarter" idx="11"/>
          </p:nvPr>
        </p:nvSpPr>
        <p:spPr/>
        <p:txBody>
          <a:bodyPr/>
          <a:lstStyle/>
          <a:p>
            <a:r>
              <a:rPr lang="en-US"/>
              <a:t>Spesolimab - confidential</a:t>
            </a:r>
          </a:p>
        </p:txBody>
      </p:sp>
      <p:sp>
        <p:nvSpPr>
          <p:cNvPr id="9" name="Slide Number Placeholder 8">
            <a:extLst>
              <a:ext uri="{FF2B5EF4-FFF2-40B4-BE49-F238E27FC236}">
                <a16:creationId xmlns:a16="http://schemas.microsoft.com/office/drawing/2014/main" id="{A84614D1-F81A-DC47-A09B-A9DB4F79F82D}"/>
              </a:ext>
            </a:extLst>
          </p:cNvPr>
          <p:cNvSpPr>
            <a:spLocks noGrp="1"/>
          </p:cNvSpPr>
          <p:nvPr>
            <p:ph type="sldNum" sz="quarter" idx="12"/>
          </p:nvPr>
        </p:nvSpPr>
        <p:spPr/>
        <p:txBody>
          <a:bodyPr/>
          <a:lstStyle/>
          <a:p>
            <a:fld id="{32F8B705-E198-5940-A58A-5D00C10E5F4B}" type="slidenum">
              <a:rPr lang="en-US" smtClean="0"/>
              <a:pPr/>
              <a:t>‹#›</a:t>
            </a:fld>
            <a:endParaRPr lang="en-US"/>
          </a:p>
        </p:txBody>
      </p:sp>
      <p:sp>
        <p:nvSpPr>
          <p:cNvPr id="4" name="Content Placeholder 2">
            <a:extLst>
              <a:ext uri="{FF2B5EF4-FFF2-40B4-BE49-F238E27FC236}">
                <a16:creationId xmlns:a16="http://schemas.microsoft.com/office/drawing/2014/main" id="{7DD190A2-5AD3-3DB1-FA5C-F97E552B4FC1}"/>
              </a:ext>
            </a:extLst>
          </p:cNvPr>
          <p:cNvSpPr>
            <a:spLocks noGrp="1"/>
          </p:cNvSpPr>
          <p:nvPr>
            <p:ph idx="13"/>
          </p:nvPr>
        </p:nvSpPr>
        <p:spPr>
          <a:xfrm>
            <a:off x="609600" y="5488003"/>
            <a:ext cx="10972800" cy="609602"/>
          </a:xfrm>
        </p:spPr>
        <p:txBody>
          <a:bodyPr anchor="b"/>
          <a:lstStyle>
            <a:lvl1pPr>
              <a:spcBef>
                <a:spcPts val="0"/>
              </a:spcBef>
              <a:defRPr sz="1000" b="0"/>
            </a:lvl1pPr>
            <a:lvl2pPr>
              <a:spcBef>
                <a:spcPts val="0"/>
              </a:spcBef>
              <a:defRPr sz="1000" b="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2843509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400B8-4492-E34A-AD6B-85F1D9737644}"/>
              </a:ext>
            </a:extLst>
          </p:cNvPr>
          <p:cNvSpPr>
            <a:spLocks noGrp="1"/>
          </p:cNvSpPr>
          <p:nvPr>
            <p:ph type="title"/>
          </p:nvPr>
        </p:nvSpPr>
        <p:spPr>
          <a:xfrm>
            <a:off x="609600" y="609600"/>
            <a:ext cx="10972800" cy="762000"/>
          </a:xfrm>
        </p:spPr>
        <p:txBody>
          <a:bodyPr/>
          <a:lstStyle/>
          <a:p>
            <a:r>
              <a:rPr lang="en-US"/>
              <a:t>Click to edit Master title style</a:t>
            </a:r>
          </a:p>
        </p:txBody>
      </p:sp>
      <p:sp>
        <p:nvSpPr>
          <p:cNvPr id="7" name="Date Placeholder 6">
            <a:extLst>
              <a:ext uri="{FF2B5EF4-FFF2-40B4-BE49-F238E27FC236}">
                <a16:creationId xmlns:a16="http://schemas.microsoft.com/office/drawing/2014/main" id="{7312EF2F-225B-8748-A9CF-36BDFBE486F2}"/>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122941C-811B-224E-9828-885696705156}"/>
              </a:ext>
            </a:extLst>
          </p:cNvPr>
          <p:cNvSpPr>
            <a:spLocks noGrp="1"/>
          </p:cNvSpPr>
          <p:nvPr>
            <p:ph type="ftr" sz="quarter" idx="11"/>
          </p:nvPr>
        </p:nvSpPr>
        <p:spPr/>
        <p:txBody>
          <a:bodyPr/>
          <a:lstStyle/>
          <a:p>
            <a:r>
              <a:rPr lang="en-US"/>
              <a:t>Spesolimab - confidential</a:t>
            </a:r>
          </a:p>
        </p:txBody>
      </p:sp>
      <p:sp>
        <p:nvSpPr>
          <p:cNvPr id="9" name="Slide Number Placeholder 8">
            <a:extLst>
              <a:ext uri="{FF2B5EF4-FFF2-40B4-BE49-F238E27FC236}">
                <a16:creationId xmlns:a16="http://schemas.microsoft.com/office/drawing/2014/main" id="{A84614D1-F81A-DC47-A09B-A9DB4F79F82D}"/>
              </a:ext>
            </a:extLst>
          </p:cNvPr>
          <p:cNvSpPr>
            <a:spLocks noGrp="1"/>
          </p:cNvSpPr>
          <p:nvPr>
            <p:ph type="sldNum" sz="quarter" idx="12"/>
          </p:nvPr>
        </p:nvSpPr>
        <p:spPr/>
        <p:txBody>
          <a:bodyPr/>
          <a:lstStyle/>
          <a:p>
            <a:fld id="{32F8B705-E198-5940-A58A-5D00C10E5F4B}" type="slidenum">
              <a:rPr lang="en-US" smtClean="0"/>
              <a:pPr/>
              <a:t>‹#›</a:t>
            </a:fld>
            <a:endParaRPr lang="en-US"/>
          </a:p>
        </p:txBody>
      </p:sp>
      <p:sp>
        <p:nvSpPr>
          <p:cNvPr id="4" name="Content Placeholder 2">
            <a:extLst>
              <a:ext uri="{FF2B5EF4-FFF2-40B4-BE49-F238E27FC236}">
                <a16:creationId xmlns:a16="http://schemas.microsoft.com/office/drawing/2014/main" id="{7DD190A2-5AD3-3DB1-FA5C-F97E552B4FC1}"/>
              </a:ext>
            </a:extLst>
          </p:cNvPr>
          <p:cNvSpPr>
            <a:spLocks noGrp="1"/>
          </p:cNvSpPr>
          <p:nvPr>
            <p:ph idx="13"/>
          </p:nvPr>
        </p:nvSpPr>
        <p:spPr>
          <a:xfrm>
            <a:off x="609600" y="5488003"/>
            <a:ext cx="10972800" cy="609602"/>
          </a:xfrm>
        </p:spPr>
        <p:txBody>
          <a:bodyPr anchor="b"/>
          <a:lstStyle>
            <a:lvl1pPr>
              <a:spcBef>
                <a:spcPts val="0"/>
              </a:spcBef>
              <a:defRPr sz="1000" b="0"/>
            </a:lvl1pPr>
            <a:lvl2pPr>
              <a:spcBef>
                <a:spcPts val="0"/>
              </a:spcBef>
              <a:defRPr sz="1000" b="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2957127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EEF3A-4A62-0F42-8410-F91C920C73B3}"/>
              </a:ext>
            </a:extLst>
          </p:cNvPr>
          <p:cNvSpPr>
            <a:spLocks noGrp="1"/>
          </p:cNvSpPr>
          <p:nvPr>
            <p:ph type="title"/>
          </p:nvPr>
        </p:nvSpPr>
        <p:spPr>
          <a:xfrm>
            <a:off x="609600" y="609600"/>
            <a:ext cx="10744200" cy="7620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EB96C3B-99A0-5444-80BD-C11C09938AEB}"/>
              </a:ext>
            </a:extLst>
          </p:cNvPr>
          <p:cNvSpPr>
            <a:spLocks noGrp="1"/>
          </p:cNvSpPr>
          <p:nvPr>
            <p:ph sz="half" idx="1"/>
          </p:nvPr>
        </p:nvSpPr>
        <p:spPr>
          <a:xfrm>
            <a:off x="609600" y="1524001"/>
            <a:ext cx="5257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84DCB4-1084-6948-A7B5-23368C1D2392}"/>
              </a:ext>
            </a:extLst>
          </p:cNvPr>
          <p:cNvSpPr>
            <a:spLocks noGrp="1"/>
          </p:cNvSpPr>
          <p:nvPr>
            <p:ph sz="half" idx="2"/>
          </p:nvPr>
        </p:nvSpPr>
        <p:spPr>
          <a:xfrm>
            <a:off x="6096000" y="1524001"/>
            <a:ext cx="5257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2443D3-10B8-634B-AECA-136C1AEC077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5FAA544-0BAF-6245-941F-4234D9625C1C}"/>
              </a:ext>
            </a:extLst>
          </p:cNvPr>
          <p:cNvSpPr>
            <a:spLocks noGrp="1"/>
          </p:cNvSpPr>
          <p:nvPr>
            <p:ph type="ftr" sz="quarter" idx="11"/>
          </p:nvPr>
        </p:nvSpPr>
        <p:spPr/>
        <p:txBody>
          <a:bodyPr/>
          <a:lstStyle/>
          <a:p>
            <a:r>
              <a:rPr lang="en-US"/>
              <a:t>Spesolimab - confidential</a:t>
            </a:r>
          </a:p>
        </p:txBody>
      </p:sp>
      <p:sp>
        <p:nvSpPr>
          <p:cNvPr id="7" name="Slide Number Placeholder 6">
            <a:extLst>
              <a:ext uri="{FF2B5EF4-FFF2-40B4-BE49-F238E27FC236}">
                <a16:creationId xmlns:a16="http://schemas.microsoft.com/office/drawing/2014/main" id="{D41B1678-8BE2-D343-82F9-16D118991569}"/>
              </a:ext>
            </a:extLst>
          </p:cNvPr>
          <p:cNvSpPr>
            <a:spLocks noGrp="1"/>
          </p:cNvSpPr>
          <p:nvPr>
            <p:ph type="sldNum" sz="quarter" idx="12"/>
          </p:nvPr>
        </p:nvSpPr>
        <p:spPr/>
        <p:txBody>
          <a:bodyPr/>
          <a:lstStyle/>
          <a:p>
            <a:fld id="{32F8B705-E198-5940-A58A-5D00C10E5F4B}" type="slidenum">
              <a:rPr lang="en-US" smtClean="0"/>
              <a:t>‹#›</a:t>
            </a:fld>
            <a:endParaRPr lang="en-US"/>
          </a:p>
        </p:txBody>
      </p:sp>
      <p:sp>
        <p:nvSpPr>
          <p:cNvPr id="8" name="Content Placeholder 2">
            <a:extLst>
              <a:ext uri="{FF2B5EF4-FFF2-40B4-BE49-F238E27FC236}">
                <a16:creationId xmlns:a16="http://schemas.microsoft.com/office/drawing/2014/main" id="{FB0DFFAD-3186-BB4D-A1B1-3FD7A6CD66E1}"/>
              </a:ext>
            </a:extLst>
          </p:cNvPr>
          <p:cNvSpPr>
            <a:spLocks noGrp="1"/>
          </p:cNvSpPr>
          <p:nvPr>
            <p:ph idx="13"/>
          </p:nvPr>
        </p:nvSpPr>
        <p:spPr>
          <a:xfrm>
            <a:off x="609600" y="5488003"/>
            <a:ext cx="10972800" cy="609602"/>
          </a:xfrm>
        </p:spPr>
        <p:txBody>
          <a:bodyPr anchor="b"/>
          <a:lstStyle>
            <a:lvl1pPr>
              <a:spcBef>
                <a:spcPts val="0"/>
              </a:spcBef>
              <a:defRPr sz="1000" b="0"/>
            </a:lvl1pPr>
            <a:lvl2pPr>
              <a:spcBef>
                <a:spcPts val="0"/>
              </a:spcBef>
              <a:defRPr sz="1000" b="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7015388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3_Content A">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1046814" y="1479810"/>
            <a:ext cx="10628720" cy="442992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1046812" y="600585"/>
            <a:ext cx="9324855" cy="579291"/>
          </a:xfrm>
        </p:spPr>
        <p:txBody>
          <a:bodyPr anchor="b">
            <a:noAutofit/>
          </a:bodyPr>
          <a:lstStyle>
            <a:lvl1pPr>
              <a:lnSpc>
                <a:spcPct val="100000"/>
              </a:lnSpc>
              <a:spcBef>
                <a:spcPts val="0"/>
              </a:spcBef>
              <a:defRPr sz="2400" b="1" spc="0">
                <a:solidFill>
                  <a:schemeClr val="tx1"/>
                </a:solidFill>
              </a:defRPr>
            </a:lvl1pPr>
            <a:lvl2pPr marL="457200" indent="0">
              <a:buNone/>
              <a:defRPr/>
            </a:lvl2pPr>
          </a:lstStyle>
          <a:p>
            <a:pPr lvl="0"/>
            <a:r>
              <a:rPr lang="en-US"/>
              <a:t>CLICK TO ADD TITLE</a:t>
            </a:r>
          </a:p>
        </p:txBody>
      </p:sp>
      <p:grpSp>
        <p:nvGrpSpPr>
          <p:cNvPr id="2" name="Group 1">
            <a:extLst>
              <a:ext uri="{FF2B5EF4-FFF2-40B4-BE49-F238E27FC236}">
                <a16:creationId xmlns:a16="http://schemas.microsoft.com/office/drawing/2014/main" id="{C489B624-AB5A-BF49-B581-5186A9A53F6A}"/>
              </a:ext>
            </a:extLst>
          </p:cNvPr>
          <p:cNvGrpSpPr/>
          <p:nvPr userDrawn="1"/>
        </p:nvGrpSpPr>
        <p:grpSpPr>
          <a:xfrm>
            <a:off x="10824812" y="229506"/>
            <a:ext cx="1015247" cy="1380233"/>
            <a:chOff x="10824812" y="229506"/>
            <a:chExt cx="1015247" cy="1380233"/>
          </a:xfrm>
        </p:grpSpPr>
        <p:sp>
          <p:nvSpPr>
            <p:cNvPr id="9" name="Triangle 8">
              <a:extLst>
                <a:ext uri="{FF2B5EF4-FFF2-40B4-BE49-F238E27FC236}">
                  <a16:creationId xmlns:a16="http://schemas.microsoft.com/office/drawing/2014/main" id="{0DB58712-AA08-AC42-9145-E6E2AE34EC26}"/>
                </a:ext>
              </a:extLst>
            </p:cNvPr>
            <p:cNvSpPr/>
            <p:nvPr userDrawn="1"/>
          </p:nvSpPr>
          <p:spPr>
            <a:xfrm rot="5400000">
              <a:off x="10743591" y="449632"/>
              <a:ext cx="1177689" cy="1015247"/>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grpSp>
          <p:nvGrpSpPr>
            <p:cNvPr id="22" name="Group 21">
              <a:extLst>
                <a:ext uri="{FF2B5EF4-FFF2-40B4-BE49-F238E27FC236}">
                  <a16:creationId xmlns:a16="http://schemas.microsoft.com/office/drawing/2014/main" id="{DE9F6445-3C90-8947-B31F-0CB1EF3573BE}"/>
                </a:ext>
              </a:extLst>
            </p:cNvPr>
            <p:cNvGrpSpPr/>
            <p:nvPr userDrawn="1"/>
          </p:nvGrpSpPr>
          <p:grpSpPr>
            <a:xfrm>
              <a:off x="11182866" y="229506"/>
              <a:ext cx="544659" cy="1380233"/>
              <a:chOff x="11182866" y="229506"/>
              <a:chExt cx="544659" cy="1380233"/>
            </a:xfrm>
          </p:grpSpPr>
          <p:sp>
            <p:nvSpPr>
              <p:cNvPr id="24" name="Triangle 23">
                <a:extLst>
                  <a:ext uri="{FF2B5EF4-FFF2-40B4-BE49-F238E27FC236}">
                    <a16:creationId xmlns:a16="http://schemas.microsoft.com/office/drawing/2014/main" id="{A9C5F8F9-5FA3-3544-91C4-70C8675A0057}"/>
                  </a:ext>
                </a:extLst>
              </p:cNvPr>
              <p:cNvSpPr/>
              <p:nvPr/>
            </p:nvSpPr>
            <p:spPr>
              <a:xfrm rot="16200000">
                <a:off x="11201860" y="284910"/>
                <a:ext cx="581070" cy="470261"/>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5" name="Triangle 24">
                <a:extLst>
                  <a:ext uri="{FF2B5EF4-FFF2-40B4-BE49-F238E27FC236}">
                    <a16:creationId xmlns:a16="http://schemas.microsoft.com/office/drawing/2014/main" id="{69546E45-236E-804B-90B4-10993DE28CED}"/>
                  </a:ext>
                </a:extLst>
              </p:cNvPr>
              <p:cNvSpPr/>
              <p:nvPr/>
            </p:nvSpPr>
            <p:spPr>
              <a:xfrm rot="5400000">
                <a:off x="11145245" y="1101860"/>
                <a:ext cx="545500" cy="470258"/>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6" name="Triangle 25">
                <a:extLst>
                  <a:ext uri="{FF2B5EF4-FFF2-40B4-BE49-F238E27FC236}">
                    <a16:creationId xmlns:a16="http://schemas.microsoft.com/office/drawing/2014/main" id="{F8C03A60-EB58-A54F-B1BC-C4B92700185C}"/>
                  </a:ext>
                </a:extLst>
              </p:cNvPr>
              <p:cNvSpPr/>
              <p:nvPr/>
            </p:nvSpPr>
            <p:spPr>
              <a:xfrm rot="5400000">
                <a:off x="11472182" y="1168029"/>
                <a:ext cx="160421" cy="138293"/>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grpSp>
      </p:grpSp>
      <p:sp>
        <p:nvSpPr>
          <p:cNvPr id="16" name="Text Placeholder 18">
            <a:extLst>
              <a:ext uri="{FF2B5EF4-FFF2-40B4-BE49-F238E27FC236}">
                <a16:creationId xmlns:a16="http://schemas.microsoft.com/office/drawing/2014/main" id="{308E4774-5B76-2340-A845-C32FC9D4DF21}"/>
              </a:ext>
            </a:extLst>
          </p:cNvPr>
          <p:cNvSpPr>
            <a:spLocks noGrp="1"/>
          </p:cNvSpPr>
          <p:nvPr>
            <p:ph type="body" sz="quarter" idx="14" hasCustomPrompt="1"/>
          </p:nvPr>
        </p:nvSpPr>
        <p:spPr>
          <a:xfrm>
            <a:off x="1046811" y="6070674"/>
            <a:ext cx="10628720" cy="486673"/>
          </a:xfrm>
        </p:spPr>
        <p:txBody>
          <a:bodyPr anchor="t">
            <a:noAutofit/>
          </a:bodyPr>
          <a:lstStyle>
            <a:lvl1pPr>
              <a:lnSpc>
                <a:spcPct val="100000"/>
              </a:lnSpc>
              <a:spcBef>
                <a:spcPts val="0"/>
              </a:spcBef>
              <a:defRPr sz="900" b="0" spc="0">
                <a:solidFill>
                  <a:schemeClr val="accent6"/>
                </a:solidFill>
              </a:defRPr>
            </a:lvl1pPr>
            <a:lvl2pPr marL="457200" indent="0">
              <a:buNone/>
              <a:defRPr/>
            </a:lvl2pPr>
          </a:lstStyle>
          <a:p>
            <a:pPr lvl="0"/>
            <a:r>
              <a:rPr lang="en-US"/>
              <a:t>Click to add footnote</a:t>
            </a:r>
          </a:p>
        </p:txBody>
      </p:sp>
      <p:sp>
        <p:nvSpPr>
          <p:cNvPr id="3" name="TextBox 2">
            <a:extLst>
              <a:ext uri="{FF2B5EF4-FFF2-40B4-BE49-F238E27FC236}">
                <a16:creationId xmlns:a16="http://schemas.microsoft.com/office/drawing/2014/main" id="{75A9D12B-294E-3C10-6549-CA1147D39ABC}"/>
              </a:ext>
            </a:extLst>
          </p:cNvPr>
          <p:cNvSpPr txBox="1"/>
          <p:nvPr userDrawn="1"/>
        </p:nvSpPr>
        <p:spPr>
          <a:xfrm>
            <a:off x="4767093" y="6684748"/>
            <a:ext cx="2443186" cy="153888"/>
          </a:xfrm>
          <a:prstGeom prst="rect">
            <a:avLst/>
          </a:prstGeom>
          <a:noFill/>
        </p:spPr>
        <p:txBody>
          <a:bodyPr wrap="square" lIns="0" tIns="0" rIns="0" bIns="0" rtlCol="0">
            <a:spAutoFit/>
          </a:bodyPr>
          <a:lstStyle/>
          <a:p>
            <a:pPr algn="ctr"/>
            <a:r>
              <a:rPr lang="en-US" sz="1000">
                <a:solidFill>
                  <a:schemeClr val="tx1"/>
                </a:solidFill>
              </a:rPr>
              <a:t>Confidential, please do not share</a:t>
            </a:r>
          </a:p>
        </p:txBody>
      </p:sp>
    </p:spTree>
    <p:extLst>
      <p:ext uri="{BB962C8B-B14F-4D97-AF65-F5344CB8AC3E}">
        <p14:creationId xmlns:p14="http://schemas.microsoft.com/office/powerpoint/2010/main" val="7649021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7FE9C085-847E-47B4-9789-70FAA100F651}" type="datetime1">
              <a:rPr lang="en-GB" smtClean="0"/>
              <a:t>14/12/2025</a:t>
            </a:fld>
            <a:endParaRPr lang="en-GB"/>
          </a:p>
        </p:txBody>
      </p:sp>
      <p:sp>
        <p:nvSpPr>
          <p:cNvPr id="4" name="Fußzeilenplatzhalter 3"/>
          <p:cNvSpPr>
            <a:spLocks noGrp="1"/>
          </p:cNvSpPr>
          <p:nvPr>
            <p:ph type="ftr" sz="quarter" idx="11"/>
          </p:nvPr>
        </p:nvSpPr>
        <p:spPr/>
        <p:txBody>
          <a:bodyPr/>
          <a:lstStyle/>
          <a:p>
            <a:r>
              <a:rPr lang="en-GB"/>
              <a:t>TALC February 2020</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33946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Tree>
    <p:extLst>
      <p:ext uri="{BB962C8B-B14F-4D97-AF65-F5344CB8AC3E}">
        <p14:creationId xmlns:p14="http://schemas.microsoft.com/office/powerpoint/2010/main" val="285229568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Tree>
    <p:extLst>
      <p:ext uri="{BB962C8B-B14F-4D97-AF65-F5344CB8AC3E}">
        <p14:creationId xmlns:p14="http://schemas.microsoft.com/office/powerpoint/2010/main" val="202053979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40523827"/>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37952346"/>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8450433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90795422"/>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06281816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1241138469"/>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178019716"/>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358897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542916"/>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2" name="Textplatzhalter 7">
            <a:extLst>
              <a:ext uri="{FF2B5EF4-FFF2-40B4-BE49-F238E27FC236}">
                <a16:creationId xmlns:a16="http://schemas.microsoft.com/office/drawing/2014/main" id="{CCD5109D-4419-E541-7FD6-70204E7117F6}"/>
              </a:ext>
            </a:extLst>
          </p:cNvPr>
          <p:cNvSpPr>
            <a:spLocks noGrp="1"/>
          </p:cNvSpPr>
          <p:nvPr>
            <p:ph type="body" sz="quarter" idx="13" hasCustomPrompt="1"/>
          </p:nvPr>
        </p:nvSpPr>
        <p:spPr bwMode="gray">
          <a:xfrm>
            <a:off x="1990724" y="6246836"/>
            <a:ext cx="9128380"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12193961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537074"/>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Textplatzhalter 7">
            <a:extLst>
              <a:ext uri="{FF2B5EF4-FFF2-40B4-BE49-F238E27FC236}">
                <a16:creationId xmlns:a16="http://schemas.microsoft.com/office/drawing/2014/main" id="{D2FF23F0-D6BB-5E63-D44B-E1723BF21688}"/>
              </a:ext>
            </a:extLst>
          </p:cNvPr>
          <p:cNvSpPr>
            <a:spLocks noGrp="1"/>
          </p:cNvSpPr>
          <p:nvPr>
            <p:ph type="body" sz="quarter" idx="13" hasCustomPrompt="1"/>
          </p:nvPr>
        </p:nvSpPr>
        <p:spPr bwMode="gray">
          <a:xfrm>
            <a:off x="1990724" y="6246836"/>
            <a:ext cx="9128380"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bg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69624959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535796"/>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4" name="Textplatzhalter 7">
            <a:extLst>
              <a:ext uri="{FF2B5EF4-FFF2-40B4-BE49-F238E27FC236}">
                <a16:creationId xmlns:a16="http://schemas.microsoft.com/office/drawing/2014/main" id="{066D5FEA-6C99-EA9B-1A1C-0B516EDBAB56}"/>
              </a:ext>
            </a:extLst>
          </p:cNvPr>
          <p:cNvSpPr>
            <a:spLocks noGrp="1"/>
          </p:cNvSpPr>
          <p:nvPr>
            <p:ph type="body" sz="quarter" idx="13" hasCustomPrompt="1"/>
          </p:nvPr>
        </p:nvSpPr>
        <p:spPr bwMode="gray">
          <a:xfrm>
            <a:off x="4008436" y="6246836"/>
            <a:ext cx="7110667"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4334381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535796"/>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9" name="Textplatzhalter 7">
            <a:extLst>
              <a:ext uri="{FF2B5EF4-FFF2-40B4-BE49-F238E27FC236}">
                <a16:creationId xmlns:a16="http://schemas.microsoft.com/office/drawing/2014/main" id="{C980B88C-448E-ADBC-B267-F4A1D6B09AC1}"/>
              </a:ext>
            </a:extLst>
          </p:cNvPr>
          <p:cNvSpPr>
            <a:spLocks noGrp="1"/>
          </p:cNvSpPr>
          <p:nvPr>
            <p:ph type="body" sz="quarter" idx="13" hasCustomPrompt="1"/>
          </p:nvPr>
        </p:nvSpPr>
        <p:spPr bwMode="gray">
          <a:xfrm>
            <a:off x="1990724" y="6246836"/>
            <a:ext cx="5880530"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96788884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537076"/>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4" name="Textplatzhalter 7">
            <a:extLst>
              <a:ext uri="{FF2B5EF4-FFF2-40B4-BE49-F238E27FC236}">
                <a16:creationId xmlns:a16="http://schemas.microsoft.com/office/drawing/2014/main" id="{0C71C665-4D4A-0B5F-BB2F-D638786DCF28}"/>
              </a:ext>
            </a:extLst>
          </p:cNvPr>
          <p:cNvSpPr>
            <a:spLocks noGrp="1"/>
          </p:cNvSpPr>
          <p:nvPr>
            <p:ph type="body" sz="quarter" idx="23" hasCustomPrompt="1"/>
          </p:nvPr>
        </p:nvSpPr>
        <p:spPr bwMode="gray">
          <a:xfrm>
            <a:off x="4008436" y="6246836"/>
            <a:ext cx="7110667"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419110021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537076"/>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8" name="Textplatzhalter 7">
            <a:extLst>
              <a:ext uri="{FF2B5EF4-FFF2-40B4-BE49-F238E27FC236}">
                <a16:creationId xmlns:a16="http://schemas.microsoft.com/office/drawing/2014/main" id="{257FB914-6424-4068-8913-07543F5F8770}"/>
              </a:ext>
            </a:extLst>
          </p:cNvPr>
          <p:cNvSpPr>
            <a:spLocks noGrp="1"/>
          </p:cNvSpPr>
          <p:nvPr>
            <p:ph type="body" sz="quarter" idx="19" hasCustomPrompt="1"/>
          </p:nvPr>
        </p:nvSpPr>
        <p:spPr bwMode="gray">
          <a:xfrm>
            <a:off x="1990724" y="6246836"/>
            <a:ext cx="5880530"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73700813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537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537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4" name="Textplatzhalter 7">
            <a:extLst>
              <a:ext uri="{FF2B5EF4-FFF2-40B4-BE49-F238E27FC236}">
                <a16:creationId xmlns:a16="http://schemas.microsoft.com/office/drawing/2014/main" id="{8F0BB16E-EC8A-CCDF-BDD2-ADD7EE1967CE}"/>
              </a:ext>
            </a:extLst>
          </p:cNvPr>
          <p:cNvSpPr>
            <a:spLocks noGrp="1"/>
          </p:cNvSpPr>
          <p:nvPr>
            <p:ph type="body" sz="quarter" idx="13" hasCustomPrompt="1"/>
          </p:nvPr>
        </p:nvSpPr>
        <p:spPr bwMode="gray">
          <a:xfrm>
            <a:off x="1990724" y="6246836"/>
            <a:ext cx="9128380"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763835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537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537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537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5" name="Textplatzhalter 7">
            <a:extLst>
              <a:ext uri="{FF2B5EF4-FFF2-40B4-BE49-F238E27FC236}">
                <a16:creationId xmlns:a16="http://schemas.microsoft.com/office/drawing/2014/main" id="{9924BEC1-44C2-6738-6837-A721C0D8127D}"/>
              </a:ext>
            </a:extLst>
          </p:cNvPr>
          <p:cNvSpPr>
            <a:spLocks noGrp="1"/>
          </p:cNvSpPr>
          <p:nvPr>
            <p:ph type="body" sz="quarter" idx="18" hasCustomPrompt="1"/>
          </p:nvPr>
        </p:nvSpPr>
        <p:spPr bwMode="gray">
          <a:xfrm>
            <a:off x="1990724" y="6246836"/>
            <a:ext cx="9128380"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53282148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3563938" cy="45370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2" name="Textplatzhalter 7">
            <a:extLst>
              <a:ext uri="{FF2B5EF4-FFF2-40B4-BE49-F238E27FC236}">
                <a16:creationId xmlns:a16="http://schemas.microsoft.com/office/drawing/2014/main" id="{EE27C6D3-1B28-4A50-D3FF-F113B78C66DF}"/>
              </a:ext>
            </a:extLst>
          </p:cNvPr>
          <p:cNvSpPr>
            <a:spLocks noGrp="1"/>
          </p:cNvSpPr>
          <p:nvPr>
            <p:ph type="body" sz="quarter" idx="13" hasCustomPrompt="1"/>
          </p:nvPr>
        </p:nvSpPr>
        <p:spPr bwMode="gray">
          <a:xfrm>
            <a:off x="1990724" y="6246836"/>
            <a:ext cx="9128380"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49488483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537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2" name="Textplatzhalter 7">
            <a:extLst>
              <a:ext uri="{FF2B5EF4-FFF2-40B4-BE49-F238E27FC236}">
                <a16:creationId xmlns:a16="http://schemas.microsoft.com/office/drawing/2014/main" id="{9F026A6E-88FD-7353-124E-1CB0E5484102}"/>
              </a:ext>
            </a:extLst>
          </p:cNvPr>
          <p:cNvSpPr>
            <a:spLocks noGrp="1"/>
          </p:cNvSpPr>
          <p:nvPr>
            <p:ph type="body" sz="quarter" idx="16" hasCustomPrompt="1"/>
          </p:nvPr>
        </p:nvSpPr>
        <p:spPr bwMode="gray">
          <a:xfrm>
            <a:off x="1990724" y="6246836"/>
            <a:ext cx="3960814"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2222755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537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4" name="Textplatzhalter 7">
            <a:extLst>
              <a:ext uri="{FF2B5EF4-FFF2-40B4-BE49-F238E27FC236}">
                <a16:creationId xmlns:a16="http://schemas.microsoft.com/office/drawing/2014/main" id="{80EA9065-D3DE-5B4B-0361-6E947B623CA7}"/>
              </a:ext>
            </a:extLst>
          </p:cNvPr>
          <p:cNvSpPr>
            <a:spLocks noGrp="1"/>
          </p:cNvSpPr>
          <p:nvPr>
            <p:ph type="body" sz="quarter" idx="16" hasCustomPrompt="1"/>
          </p:nvPr>
        </p:nvSpPr>
        <p:spPr bwMode="gray">
          <a:xfrm>
            <a:off x="1990723" y="6246836"/>
            <a:ext cx="5868989"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55942661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537074"/>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4" name="Textplatzhalter 7">
            <a:extLst>
              <a:ext uri="{FF2B5EF4-FFF2-40B4-BE49-F238E27FC236}">
                <a16:creationId xmlns:a16="http://schemas.microsoft.com/office/drawing/2014/main" id="{2D2CF942-FAF5-8841-287E-F8A78FF0F4BD}"/>
              </a:ext>
            </a:extLst>
          </p:cNvPr>
          <p:cNvSpPr>
            <a:spLocks noGrp="1"/>
          </p:cNvSpPr>
          <p:nvPr>
            <p:ph type="body" sz="quarter" idx="18" hasCustomPrompt="1"/>
          </p:nvPr>
        </p:nvSpPr>
        <p:spPr bwMode="gray">
          <a:xfrm>
            <a:off x="2316162" y="6246836"/>
            <a:ext cx="8802941" cy="288000"/>
          </a:xfrm>
        </p:spPr>
        <p:txBody>
          <a:bodyPr anchor="b"/>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9299919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537074"/>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2" name="Textplatzhalter 7">
            <a:extLst>
              <a:ext uri="{FF2B5EF4-FFF2-40B4-BE49-F238E27FC236}">
                <a16:creationId xmlns:a16="http://schemas.microsoft.com/office/drawing/2014/main" id="{2B321388-2C56-5B62-8CA0-12CE4B178FC8}"/>
              </a:ext>
            </a:extLst>
          </p:cNvPr>
          <p:cNvSpPr>
            <a:spLocks noGrp="1"/>
          </p:cNvSpPr>
          <p:nvPr>
            <p:ph type="body" sz="quarter" idx="16" hasCustomPrompt="1"/>
          </p:nvPr>
        </p:nvSpPr>
        <p:spPr bwMode="gray">
          <a:xfrm>
            <a:off x="1990724" y="6246836"/>
            <a:ext cx="3960814"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bg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39328348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537074"/>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4" name="Textplatzhalter 7">
            <a:extLst>
              <a:ext uri="{FF2B5EF4-FFF2-40B4-BE49-F238E27FC236}">
                <a16:creationId xmlns:a16="http://schemas.microsoft.com/office/drawing/2014/main" id="{C37269C8-5C43-6771-9D16-A067A10C38DB}"/>
              </a:ext>
            </a:extLst>
          </p:cNvPr>
          <p:cNvSpPr>
            <a:spLocks noGrp="1"/>
          </p:cNvSpPr>
          <p:nvPr>
            <p:ph type="body" sz="quarter" idx="16" hasCustomPrompt="1"/>
          </p:nvPr>
        </p:nvSpPr>
        <p:spPr bwMode="gray">
          <a:xfrm>
            <a:off x="1990724" y="6246836"/>
            <a:ext cx="5868988"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bg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08212348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537074"/>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4" name="Textplatzhalter 7">
            <a:extLst>
              <a:ext uri="{FF2B5EF4-FFF2-40B4-BE49-F238E27FC236}">
                <a16:creationId xmlns:a16="http://schemas.microsoft.com/office/drawing/2014/main" id="{586C5500-C1AD-4931-87A2-83B15F9F3233}"/>
              </a:ext>
            </a:extLst>
          </p:cNvPr>
          <p:cNvSpPr>
            <a:spLocks noGrp="1"/>
          </p:cNvSpPr>
          <p:nvPr>
            <p:ph type="body" sz="quarter" idx="18" hasCustomPrompt="1"/>
          </p:nvPr>
        </p:nvSpPr>
        <p:spPr bwMode="gray">
          <a:xfrm>
            <a:off x="2316162" y="6246836"/>
            <a:ext cx="8802941"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bg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406022894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537076"/>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
        <p:nvSpPr>
          <p:cNvPr id="5" name="Textplatzhalter 7">
            <a:extLst>
              <a:ext uri="{FF2B5EF4-FFF2-40B4-BE49-F238E27FC236}">
                <a16:creationId xmlns:a16="http://schemas.microsoft.com/office/drawing/2014/main" id="{26A270B5-39C2-343B-4130-F99D5AEB3B00}"/>
              </a:ext>
            </a:extLst>
          </p:cNvPr>
          <p:cNvSpPr>
            <a:spLocks noGrp="1"/>
          </p:cNvSpPr>
          <p:nvPr>
            <p:ph type="body" sz="quarter" idx="13" hasCustomPrompt="1"/>
          </p:nvPr>
        </p:nvSpPr>
        <p:spPr bwMode="gray">
          <a:xfrm>
            <a:off x="1990724" y="6246836"/>
            <a:ext cx="9128380"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bg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32122349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53667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
        <p:nvSpPr>
          <p:cNvPr id="9" name="Textplatzhalter 7">
            <a:extLst>
              <a:ext uri="{FF2B5EF4-FFF2-40B4-BE49-F238E27FC236}">
                <a16:creationId xmlns:a16="http://schemas.microsoft.com/office/drawing/2014/main" id="{1EA1EE62-1E22-532C-F767-4F8CD2907A94}"/>
              </a:ext>
            </a:extLst>
          </p:cNvPr>
          <p:cNvSpPr>
            <a:spLocks noGrp="1"/>
          </p:cNvSpPr>
          <p:nvPr>
            <p:ph type="body" sz="quarter" idx="13" hasCustomPrompt="1"/>
          </p:nvPr>
        </p:nvSpPr>
        <p:spPr bwMode="gray">
          <a:xfrm>
            <a:off x="1990724" y="6246836"/>
            <a:ext cx="3960814"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bg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412258046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537076"/>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
        <p:nvSpPr>
          <p:cNvPr id="9" name="Textplatzhalter 7">
            <a:extLst>
              <a:ext uri="{FF2B5EF4-FFF2-40B4-BE49-F238E27FC236}">
                <a16:creationId xmlns:a16="http://schemas.microsoft.com/office/drawing/2014/main" id="{D4111594-ADFD-AAEC-6EF9-467D362BD9DB}"/>
              </a:ext>
            </a:extLst>
          </p:cNvPr>
          <p:cNvSpPr>
            <a:spLocks noGrp="1"/>
          </p:cNvSpPr>
          <p:nvPr>
            <p:ph type="body" sz="quarter" idx="13" hasCustomPrompt="1"/>
          </p:nvPr>
        </p:nvSpPr>
        <p:spPr bwMode="gray">
          <a:xfrm>
            <a:off x="1990724" y="6246836"/>
            <a:ext cx="5868989"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bg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75737193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
        <p:nvSpPr>
          <p:cNvPr id="9" name="Textplatzhalter 7">
            <a:extLst>
              <a:ext uri="{FF2B5EF4-FFF2-40B4-BE49-F238E27FC236}">
                <a16:creationId xmlns:a16="http://schemas.microsoft.com/office/drawing/2014/main" id="{D1D335F4-0EA8-5BEA-DE2F-0FF614B84C0D}"/>
              </a:ext>
            </a:extLst>
          </p:cNvPr>
          <p:cNvSpPr>
            <a:spLocks noGrp="1"/>
          </p:cNvSpPr>
          <p:nvPr>
            <p:ph type="body" sz="quarter" idx="33" hasCustomPrompt="1"/>
          </p:nvPr>
        </p:nvSpPr>
        <p:spPr bwMode="gray">
          <a:xfrm>
            <a:off x="1990724" y="6246836"/>
            <a:ext cx="7885113"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bg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65582333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3" name="Textplatzhalter 7">
            <a:extLst>
              <a:ext uri="{FF2B5EF4-FFF2-40B4-BE49-F238E27FC236}">
                <a16:creationId xmlns:a16="http://schemas.microsoft.com/office/drawing/2014/main" id="{1A63F9F4-012F-2DD2-7D0B-599A12485BA0}"/>
              </a:ext>
            </a:extLst>
          </p:cNvPr>
          <p:cNvSpPr>
            <a:spLocks noGrp="1"/>
          </p:cNvSpPr>
          <p:nvPr>
            <p:ph type="body" sz="quarter" idx="13" hasCustomPrompt="1"/>
          </p:nvPr>
        </p:nvSpPr>
        <p:spPr bwMode="gray">
          <a:xfrm>
            <a:off x="1990724" y="6246836"/>
            <a:ext cx="9128380"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tx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1985134132"/>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Textplatzhalter 7">
            <a:extLst>
              <a:ext uri="{FF2B5EF4-FFF2-40B4-BE49-F238E27FC236}">
                <a16:creationId xmlns:a16="http://schemas.microsoft.com/office/drawing/2014/main" id="{D69CD2F7-D716-AB2D-900F-F5B65037538A}"/>
              </a:ext>
            </a:extLst>
          </p:cNvPr>
          <p:cNvSpPr>
            <a:spLocks noGrp="1"/>
          </p:cNvSpPr>
          <p:nvPr>
            <p:ph type="body" sz="quarter" idx="13" hasCustomPrompt="1"/>
          </p:nvPr>
        </p:nvSpPr>
        <p:spPr bwMode="gray">
          <a:xfrm>
            <a:off x="1990724" y="6246836"/>
            <a:ext cx="9128380" cy="288000"/>
          </a:xfrm>
        </p:spPr>
        <p:txBody>
          <a:bodyPr anchor="b"/>
          <a:lstStyle>
            <a:lvl1pPr marL="0" indent="0">
              <a:lnSpc>
                <a:spcPct val="100000"/>
              </a:lnSpc>
              <a:spcBef>
                <a:spcPts val="0"/>
              </a:spcBef>
              <a:spcAft>
                <a:spcPts val="0"/>
              </a:spcAft>
              <a:buFont typeface="Arial" panose="020B0604020202020204" pitchFamily="34" charset="0"/>
              <a:buNone/>
              <a:defRPr sz="700" b="0">
                <a:solidFill>
                  <a:schemeClr val="tx1"/>
                </a:solidFill>
              </a:defRPr>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327693378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8324644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552046170"/>
      </p:ext>
    </p:extLst>
  </p:cSld>
  <p:clrMapOvr>
    <a:masterClrMapping/>
  </p:clrMapOvr>
  <p:extLst>
    <p:ext uri="{DCECCB84-F9BA-43D5-87BE-67443E8EF086}">
      <p15:sldGuideLst xmlns:p15="http://schemas.microsoft.com/office/powerpoint/2012/main"/>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B6FAD-74F8-58E9-F796-FCF802A1CC5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1E37BE3-404E-0867-534B-B325B09730D1}"/>
              </a:ext>
            </a:extLst>
          </p:cNvPr>
          <p:cNvSpPr>
            <a:spLocks noGrp="1"/>
          </p:cNvSpPr>
          <p:nvPr>
            <p:ph type="dt" sz="half" idx="10"/>
          </p:nvPr>
        </p:nvSpPr>
        <p:spPr/>
        <p:txBody>
          <a:bodyPr/>
          <a:lstStyle/>
          <a:p>
            <a:fld id="{EA9E518F-5EE3-4C9F-B44D-3CF050B51810}" type="datetimeFigureOut">
              <a:rPr lang="en-GB" smtClean="0"/>
              <a:t>14/12/2025</a:t>
            </a:fld>
            <a:endParaRPr lang="en-GB"/>
          </a:p>
        </p:txBody>
      </p:sp>
      <p:sp>
        <p:nvSpPr>
          <p:cNvPr id="4" name="Footer Placeholder 3">
            <a:extLst>
              <a:ext uri="{FF2B5EF4-FFF2-40B4-BE49-F238E27FC236}">
                <a16:creationId xmlns:a16="http://schemas.microsoft.com/office/drawing/2014/main" id="{3563A805-12E6-FDDD-49E5-FBB109EFCA6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4E4892C-A37B-C544-2914-5DF2A6945224}"/>
              </a:ext>
            </a:extLst>
          </p:cNvPr>
          <p:cNvSpPr>
            <a:spLocks noGrp="1"/>
          </p:cNvSpPr>
          <p:nvPr>
            <p:ph type="sldNum" sz="quarter" idx="12"/>
          </p:nvPr>
        </p:nvSpPr>
        <p:spPr/>
        <p:txBody>
          <a:bodyPr/>
          <a:lstStyle/>
          <a:p>
            <a:fld id="{7097CB67-915E-44DE-8D20-5F1A09D505F7}" type="slidenum">
              <a:rPr lang="en-GB" smtClean="0"/>
              <a:t>‹#›</a:t>
            </a:fld>
            <a:endParaRPr lang="en-GB"/>
          </a:p>
        </p:txBody>
      </p:sp>
    </p:spTree>
    <p:extLst>
      <p:ext uri="{BB962C8B-B14F-4D97-AF65-F5344CB8AC3E}">
        <p14:creationId xmlns:p14="http://schemas.microsoft.com/office/powerpoint/2010/main" val="2779977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image" Target="../media/image1.png"/><Relationship Id="rId3" Type="http://schemas.openxmlformats.org/officeDocument/2006/relationships/slideLayout" Target="../slideLayouts/slideLayout42.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theme" Target="../theme/theme2.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image" Target="../media/image2.svg"/><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18" Type="http://schemas.openxmlformats.org/officeDocument/2006/relationships/slideLayout" Target="../slideLayouts/slideLayout94.xml"/><Relationship Id="rId26" Type="http://schemas.openxmlformats.org/officeDocument/2006/relationships/slideLayout" Target="../slideLayouts/slideLayout102.xml"/><Relationship Id="rId39" Type="http://schemas.openxmlformats.org/officeDocument/2006/relationships/slideLayout" Target="../slideLayouts/slideLayout115.xml"/><Relationship Id="rId3" Type="http://schemas.openxmlformats.org/officeDocument/2006/relationships/slideLayout" Target="../slideLayouts/slideLayout79.xml"/><Relationship Id="rId21" Type="http://schemas.openxmlformats.org/officeDocument/2006/relationships/slideLayout" Target="../slideLayouts/slideLayout97.xml"/><Relationship Id="rId34" Type="http://schemas.openxmlformats.org/officeDocument/2006/relationships/slideLayout" Target="../slideLayouts/slideLayout110.xml"/><Relationship Id="rId42" Type="http://schemas.openxmlformats.org/officeDocument/2006/relationships/image" Target="../media/image2.svg"/><Relationship Id="rId7" Type="http://schemas.openxmlformats.org/officeDocument/2006/relationships/slideLayout" Target="../slideLayouts/slideLayout83.xml"/><Relationship Id="rId12" Type="http://schemas.openxmlformats.org/officeDocument/2006/relationships/slideLayout" Target="../slideLayouts/slideLayout88.xml"/><Relationship Id="rId17" Type="http://schemas.openxmlformats.org/officeDocument/2006/relationships/slideLayout" Target="../slideLayouts/slideLayout93.xml"/><Relationship Id="rId25" Type="http://schemas.openxmlformats.org/officeDocument/2006/relationships/slideLayout" Target="../slideLayouts/slideLayout101.xml"/><Relationship Id="rId33" Type="http://schemas.openxmlformats.org/officeDocument/2006/relationships/slideLayout" Target="../slideLayouts/slideLayout109.xml"/><Relationship Id="rId38" Type="http://schemas.openxmlformats.org/officeDocument/2006/relationships/slideLayout" Target="../slideLayouts/slideLayout114.xml"/><Relationship Id="rId2" Type="http://schemas.openxmlformats.org/officeDocument/2006/relationships/slideLayout" Target="../slideLayouts/slideLayout78.xml"/><Relationship Id="rId16" Type="http://schemas.openxmlformats.org/officeDocument/2006/relationships/slideLayout" Target="../slideLayouts/slideLayout92.xml"/><Relationship Id="rId20" Type="http://schemas.openxmlformats.org/officeDocument/2006/relationships/slideLayout" Target="../slideLayouts/slideLayout96.xml"/><Relationship Id="rId29" Type="http://schemas.openxmlformats.org/officeDocument/2006/relationships/slideLayout" Target="../slideLayouts/slideLayout105.xml"/><Relationship Id="rId41" Type="http://schemas.openxmlformats.org/officeDocument/2006/relationships/image" Target="../media/image1.png"/><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24" Type="http://schemas.openxmlformats.org/officeDocument/2006/relationships/slideLayout" Target="../slideLayouts/slideLayout100.xml"/><Relationship Id="rId32" Type="http://schemas.openxmlformats.org/officeDocument/2006/relationships/slideLayout" Target="../slideLayouts/slideLayout108.xml"/><Relationship Id="rId37" Type="http://schemas.openxmlformats.org/officeDocument/2006/relationships/slideLayout" Target="../slideLayouts/slideLayout113.xml"/><Relationship Id="rId40" Type="http://schemas.openxmlformats.org/officeDocument/2006/relationships/theme" Target="../theme/theme3.xml"/><Relationship Id="rId5" Type="http://schemas.openxmlformats.org/officeDocument/2006/relationships/slideLayout" Target="../slideLayouts/slideLayout81.xml"/><Relationship Id="rId15" Type="http://schemas.openxmlformats.org/officeDocument/2006/relationships/slideLayout" Target="../slideLayouts/slideLayout91.xml"/><Relationship Id="rId23" Type="http://schemas.openxmlformats.org/officeDocument/2006/relationships/slideLayout" Target="../slideLayouts/slideLayout99.xml"/><Relationship Id="rId28" Type="http://schemas.openxmlformats.org/officeDocument/2006/relationships/slideLayout" Target="../slideLayouts/slideLayout104.xml"/><Relationship Id="rId36" Type="http://schemas.openxmlformats.org/officeDocument/2006/relationships/slideLayout" Target="../slideLayouts/slideLayout112.xml"/><Relationship Id="rId10" Type="http://schemas.openxmlformats.org/officeDocument/2006/relationships/slideLayout" Target="../slideLayouts/slideLayout86.xml"/><Relationship Id="rId19" Type="http://schemas.openxmlformats.org/officeDocument/2006/relationships/slideLayout" Target="../slideLayouts/slideLayout95.xml"/><Relationship Id="rId31" Type="http://schemas.openxmlformats.org/officeDocument/2006/relationships/slideLayout" Target="../slideLayouts/slideLayout107.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 Id="rId22" Type="http://schemas.openxmlformats.org/officeDocument/2006/relationships/slideLayout" Target="../slideLayouts/slideLayout98.xml"/><Relationship Id="rId27" Type="http://schemas.openxmlformats.org/officeDocument/2006/relationships/slideLayout" Target="../slideLayouts/slideLayout103.xml"/><Relationship Id="rId30" Type="http://schemas.openxmlformats.org/officeDocument/2006/relationships/slideLayout" Target="../slideLayouts/slideLayout106.xml"/><Relationship Id="rId35" Type="http://schemas.openxmlformats.org/officeDocument/2006/relationships/slideLayout" Target="../slideLayouts/slideLayout11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8.xml"/><Relationship Id="rId7" Type="http://schemas.openxmlformats.org/officeDocument/2006/relationships/image" Target="../media/image20.png"/><Relationship Id="rId2" Type="http://schemas.openxmlformats.org/officeDocument/2006/relationships/slideLayout" Target="../slideLayouts/slideLayout117.xml"/><Relationship Id="rId1" Type="http://schemas.openxmlformats.org/officeDocument/2006/relationships/slideLayout" Target="../slideLayouts/slideLayout116.xml"/><Relationship Id="rId6" Type="http://schemas.openxmlformats.org/officeDocument/2006/relationships/theme" Target="../theme/theme4.xml"/><Relationship Id="rId5" Type="http://schemas.openxmlformats.org/officeDocument/2006/relationships/slideLayout" Target="../slideLayouts/slideLayout120.xml"/><Relationship Id="rId4" Type="http://schemas.openxmlformats.org/officeDocument/2006/relationships/slideLayout" Target="../slideLayouts/slideLayout11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slideLayout" Target="../slideLayouts/slideLayout133.xml"/><Relationship Id="rId18" Type="http://schemas.openxmlformats.org/officeDocument/2006/relationships/slideLayout" Target="../slideLayouts/slideLayout138.xml"/><Relationship Id="rId26" Type="http://schemas.openxmlformats.org/officeDocument/2006/relationships/slideLayout" Target="../slideLayouts/slideLayout146.xml"/><Relationship Id="rId39" Type="http://schemas.openxmlformats.org/officeDocument/2006/relationships/slideLayout" Target="../slideLayouts/slideLayout159.xml"/><Relationship Id="rId3" Type="http://schemas.openxmlformats.org/officeDocument/2006/relationships/slideLayout" Target="../slideLayouts/slideLayout123.xml"/><Relationship Id="rId21" Type="http://schemas.openxmlformats.org/officeDocument/2006/relationships/slideLayout" Target="../slideLayouts/slideLayout141.xml"/><Relationship Id="rId34" Type="http://schemas.openxmlformats.org/officeDocument/2006/relationships/slideLayout" Target="../slideLayouts/slideLayout154.xml"/><Relationship Id="rId42" Type="http://schemas.openxmlformats.org/officeDocument/2006/relationships/slideLayout" Target="../slideLayouts/slideLayout162.xml"/><Relationship Id="rId47" Type="http://schemas.openxmlformats.org/officeDocument/2006/relationships/image" Target="../media/image2.svg"/><Relationship Id="rId7" Type="http://schemas.openxmlformats.org/officeDocument/2006/relationships/slideLayout" Target="../slideLayouts/slideLayout127.xml"/><Relationship Id="rId12" Type="http://schemas.openxmlformats.org/officeDocument/2006/relationships/slideLayout" Target="../slideLayouts/slideLayout132.xml"/><Relationship Id="rId17" Type="http://schemas.openxmlformats.org/officeDocument/2006/relationships/slideLayout" Target="../slideLayouts/slideLayout137.xml"/><Relationship Id="rId25" Type="http://schemas.openxmlformats.org/officeDocument/2006/relationships/slideLayout" Target="../slideLayouts/slideLayout145.xml"/><Relationship Id="rId33" Type="http://schemas.openxmlformats.org/officeDocument/2006/relationships/slideLayout" Target="../slideLayouts/slideLayout153.xml"/><Relationship Id="rId38" Type="http://schemas.openxmlformats.org/officeDocument/2006/relationships/slideLayout" Target="../slideLayouts/slideLayout158.xml"/><Relationship Id="rId46" Type="http://schemas.openxmlformats.org/officeDocument/2006/relationships/image" Target="../media/image1.png"/><Relationship Id="rId2" Type="http://schemas.openxmlformats.org/officeDocument/2006/relationships/slideLayout" Target="../slideLayouts/slideLayout122.xml"/><Relationship Id="rId16" Type="http://schemas.openxmlformats.org/officeDocument/2006/relationships/slideLayout" Target="../slideLayouts/slideLayout136.xml"/><Relationship Id="rId20" Type="http://schemas.openxmlformats.org/officeDocument/2006/relationships/slideLayout" Target="../slideLayouts/slideLayout140.xml"/><Relationship Id="rId29" Type="http://schemas.openxmlformats.org/officeDocument/2006/relationships/slideLayout" Target="../slideLayouts/slideLayout149.xml"/><Relationship Id="rId41" Type="http://schemas.openxmlformats.org/officeDocument/2006/relationships/slideLayout" Target="../slideLayouts/slideLayout161.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24" Type="http://schemas.openxmlformats.org/officeDocument/2006/relationships/slideLayout" Target="../slideLayouts/slideLayout144.xml"/><Relationship Id="rId32" Type="http://schemas.openxmlformats.org/officeDocument/2006/relationships/slideLayout" Target="../slideLayouts/slideLayout152.xml"/><Relationship Id="rId37" Type="http://schemas.openxmlformats.org/officeDocument/2006/relationships/slideLayout" Target="../slideLayouts/slideLayout157.xml"/><Relationship Id="rId40" Type="http://schemas.openxmlformats.org/officeDocument/2006/relationships/slideLayout" Target="../slideLayouts/slideLayout160.xml"/><Relationship Id="rId45" Type="http://schemas.openxmlformats.org/officeDocument/2006/relationships/theme" Target="../theme/theme5.xml"/><Relationship Id="rId5" Type="http://schemas.openxmlformats.org/officeDocument/2006/relationships/slideLayout" Target="../slideLayouts/slideLayout125.xml"/><Relationship Id="rId15" Type="http://schemas.openxmlformats.org/officeDocument/2006/relationships/slideLayout" Target="../slideLayouts/slideLayout135.xml"/><Relationship Id="rId23" Type="http://schemas.openxmlformats.org/officeDocument/2006/relationships/slideLayout" Target="../slideLayouts/slideLayout143.xml"/><Relationship Id="rId28" Type="http://schemas.openxmlformats.org/officeDocument/2006/relationships/slideLayout" Target="../slideLayouts/slideLayout148.xml"/><Relationship Id="rId36" Type="http://schemas.openxmlformats.org/officeDocument/2006/relationships/slideLayout" Target="../slideLayouts/slideLayout156.xml"/><Relationship Id="rId10" Type="http://schemas.openxmlformats.org/officeDocument/2006/relationships/slideLayout" Target="../slideLayouts/slideLayout130.xml"/><Relationship Id="rId19" Type="http://schemas.openxmlformats.org/officeDocument/2006/relationships/slideLayout" Target="../slideLayouts/slideLayout139.xml"/><Relationship Id="rId31" Type="http://schemas.openxmlformats.org/officeDocument/2006/relationships/slideLayout" Target="../slideLayouts/slideLayout151.xml"/><Relationship Id="rId44" Type="http://schemas.openxmlformats.org/officeDocument/2006/relationships/slideLayout" Target="../slideLayouts/slideLayout164.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slideLayout" Target="../slideLayouts/slideLayout134.xml"/><Relationship Id="rId22" Type="http://schemas.openxmlformats.org/officeDocument/2006/relationships/slideLayout" Target="../slideLayouts/slideLayout142.xml"/><Relationship Id="rId27" Type="http://schemas.openxmlformats.org/officeDocument/2006/relationships/slideLayout" Target="../slideLayouts/slideLayout147.xml"/><Relationship Id="rId30" Type="http://schemas.openxmlformats.org/officeDocument/2006/relationships/slideLayout" Target="../slideLayouts/slideLayout150.xml"/><Relationship Id="rId35" Type="http://schemas.openxmlformats.org/officeDocument/2006/relationships/slideLayout" Target="../slideLayouts/slideLayout155.xml"/><Relationship Id="rId43" Type="http://schemas.openxmlformats.org/officeDocument/2006/relationships/slideLayout" Target="../slideLayouts/slideLayout16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72.xml"/><Relationship Id="rId13" Type="http://schemas.openxmlformats.org/officeDocument/2006/relationships/slideLayout" Target="../slideLayouts/slideLayout177.xml"/><Relationship Id="rId18" Type="http://schemas.openxmlformats.org/officeDocument/2006/relationships/slideLayout" Target="../slideLayouts/slideLayout182.xml"/><Relationship Id="rId26" Type="http://schemas.openxmlformats.org/officeDocument/2006/relationships/slideLayout" Target="../slideLayouts/slideLayout190.xml"/><Relationship Id="rId3" Type="http://schemas.openxmlformats.org/officeDocument/2006/relationships/slideLayout" Target="../slideLayouts/slideLayout167.xml"/><Relationship Id="rId21" Type="http://schemas.openxmlformats.org/officeDocument/2006/relationships/slideLayout" Target="../slideLayouts/slideLayout185.xml"/><Relationship Id="rId34" Type="http://schemas.openxmlformats.org/officeDocument/2006/relationships/slideLayout" Target="../slideLayouts/slideLayout198.xml"/><Relationship Id="rId7" Type="http://schemas.openxmlformats.org/officeDocument/2006/relationships/slideLayout" Target="../slideLayouts/slideLayout171.xml"/><Relationship Id="rId12" Type="http://schemas.openxmlformats.org/officeDocument/2006/relationships/slideLayout" Target="../slideLayouts/slideLayout176.xml"/><Relationship Id="rId17" Type="http://schemas.openxmlformats.org/officeDocument/2006/relationships/slideLayout" Target="../slideLayouts/slideLayout181.xml"/><Relationship Id="rId25" Type="http://schemas.openxmlformats.org/officeDocument/2006/relationships/slideLayout" Target="../slideLayouts/slideLayout189.xml"/><Relationship Id="rId33" Type="http://schemas.openxmlformats.org/officeDocument/2006/relationships/slideLayout" Target="../slideLayouts/slideLayout197.xml"/><Relationship Id="rId2" Type="http://schemas.openxmlformats.org/officeDocument/2006/relationships/slideLayout" Target="../slideLayouts/slideLayout166.xml"/><Relationship Id="rId16" Type="http://schemas.openxmlformats.org/officeDocument/2006/relationships/slideLayout" Target="../slideLayouts/slideLayout180.xml"/><Relationship Id="rId20" Type="http://schemas.openxmlformats.org/officeDocument/2006/relationships/slideLayout" Target="../slideLayouts/slideLayout184.xml"/><Relationship Id="rId29" Type="http://schemas.openxmlformats.org/officeDocument/2006/relationships/slideLayout" Target="../slideLayouts/slideLayout193.xml"/><Relationship Id="rId1" Type="http://schemas.openxmlformats.org/officeDocument/2006/relationships/slideLayout" Target="../slideLayouts/slideLayout165.xml"/><Relationship Id="rId6" Type="http://schemas.openxmlformats.org/officeDocument/2006/relationships/slideLayout" Target="../slideLayouts/slideLayout170.xml"/><Relationship Id="rId11" Type="http://schemas.openxmlformats.org/officeDocument/2006/relationships/slideLayout" Target="../slideLayouts/slideLayout175.xml"/><Relationship Id="rId24" Type="http://schemas.openxmlformats.org/officeDocument/2006/relationships/slideLayout" Target="../slideLayouts/slideLayout188.xml"/><Relationship Id="rId32" Type="http://schemas.openxmlformats.org/officeDocument/2006/relationships/slideLayout" Target="../slideLayouts/slideLayout196.xml"/><Relationship Id="rId37" Type="http://schemas.openxmlformats.org/officeDocument/2006/relationships/image" Target="../media/image2.svg"/><Relationship Id="rId5" Type="http://schemas.openxmlformats.org/officeDocument/2006/relationships/slideLayout" Target="../slideLayouts/slideLayout169.xml"/><Relationship Id="rId15" Type="http://schemas.openxmlformats.org/officeDocument/2006/relationships/slideLayout" Target="../slideLayouts/slideLayout179.xml"/><Relationship Id="rId23" Type="http://schemas.openxmlformats.org/officeDocument/2006/relationships/slideLayout" Target="../slideLayouts/slideLayout187.xml"/><Relationship Id="rId28" Type="http://schemas.openxmlformats.org/officeDocument/2006/relationships/slideLayout" Target="../slideLayouts/slideLayout192.xml"/><Relationship Id="rId36" Type="http://schemas.openxmlformats.org/officeDocument/2006/relationships/image" Target="../media/image1.png"/><Relationship Id="rId10" Type="http://schemas.openxmlformats.org/officeDocument/2006/relationships/slideLayout" Target="../slideLayouts/slideLayout174.xml"/><Relationship Id="rId19" Type="http://schemas.openxmlformats.org/officeDocument/2006/relationships/slideLayout" Target="../slideLayouts/slideLayout183.xml"/><Relationship Id="rId31" Type="http://schemas.openxmlformats.org/officeDocument/2006/relationships/slideLayout" Target="../slideLayouts/slideLayout195.xml"/><Relationship Id="rId4" Type="http://schemas.openxmlformats.org/officeDocument/2006/relationships/slideLayout" Target="../slideLayouts/slideLayout168.xml"/><Relationship Id="rId9" Type="http://schemas.openxmlformats.org/officeDocument/2006/relationships/slideLayout" Target="../slideLayouts/slideLayout173.xml"/><Relationship Id="rId14" Type="http://schemas.openxmlformats.org/officeDocument/2006/relationships/slideLayout" Target="../slideLayouts/slideLayout178.xml"/><Relationship Id="rId22" Type="http://schemas.openxmlformats.org/officeDocument/2006/relationships/slideLayout" Target="../slideLayouts/slideLayout186.xml"/><Relationship Id="rId27" Type="http://schemas.openxmlformats.org/officeDocument/2006/relationships/slideLayout" Target="../slideLayouts/slideLayout191.xml"/><Relationship Id="rId30" Type="http://schemas.openxmlformats.org/officeDocument/2006/relationships/slideLayout" Target="../slideLayouts/slideLayout194.xml"/><Relationship Id="rId35"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12581710"/>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66" r:id="rId35"/>
    <p:sldLayoutId id="2147483768" r:id="rId36"/>
    <p:sldLayoutId id="2147483772" r:id="rId37"/>
    <p:sldLayoutId id="2147483773" r:id="rId38"/>
    <p:sldLayoutId id="2147483774" r:id="rId39"/>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733880640"/>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819" r:id="rId31"/>
    <p:sldLayoutId id="2147483820" r:id="rId32"/>
    <p:sldLayoutId id="2147483821" r:id="rId33"/>
    <p:sldLayoutId id="2147483822" r:id="rId34"/>
    <p:sldLayoutId id="2147483823" r:id="rId35"/>
    <p:sldLayoutId id="2147483824" r:id="rId36"/>
    <p:sldLayoutId id="2147483825" r:id="rId37"/>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Nerandomilast in </a:t>
            </a:r>
            <a:r>
              <a:rPr lang="en-US" err="1"/>
              <a:t>SSc</a:t>
            </a:r>
            <a:r>
              <a:rPr lang="en-US"/>
              <a:t> </a:t>
            </a:r>
            <a:r>
              <a:rPr lang="en-US" err="1"/>
              <a:t>iCEC</a:t>
            </a:r>
            <a:r>
              <a:rPr lang="en-US"/>
              <a:t> June 2025 CONFIDENTIAL ONLY FOR INTERNAL USE </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67445909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Lst>
  <p:hf sldNum="0"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80617" y="6166139"/>
            <a:ext cx="356870" cy="355600"/>
          </a:xfrm>
          <a:custGeom>
            <a:avLst/>
            <a:gdLst/>
            <a:ahLst/>
            <a:cxnLst/>
            <a:rect l="l" t="t" r="r" b="b"/>
            <a:pathLst>
              <a:path w="356869" h="355600">
                <a:moveTo>
                  <a:pt x="80236" y="326314"/>
                </a:moveTo>
                <a:lnTo>
                  <a:pt x="49565" y="301100"/>
                </a:lnTo>
                <a:lnTo>
                  <a:pt x="16243" y="252694"/>
                </a:lnTo>
                <a:lnTo>
                  <a:pt x="1818" y="203643"/>
                </a:lnTo>
                <a:lnTo>
                  <a:pt x="0" y="177757"/>
                </a:lnTo>
                <a:lnTo>
                  <a:pt x="6297" y="130761"/>
                </a:lnTo>
                <a:lnTo>
                  <a:pt x="21967" y="93561"/>
                </a:lnTo>
                <a:lnTo>
                  <a:pt x="52112" y="52108"/>
                </a:lnTo>
                <a:lnTo>
                  <a:pt x="88136" y="24295"/>
                </a:lnTo>
                <a:lnTo>
                  <a:pt x="130714" y="6357"/>
                </a:lnTo>
                <a:lnTo>
                  <a:pt x="178169" y="0"/>
                </a:lnTo>
                <a:lnTo>
                  <a:pt x="225638" y="6357"/>
                </a:lnTo>
                <a:lnTo>
                  <a:pt x="246083" y="14967"/>
                </a:lnTo>
                <a:lnTo>
                  <a:pt x="178169" y="14967"/>
                </a:lnTo>
                <a:lnTo>
                  <a:pt x="135223" y="20788"/>
                </a:lnTo>
                <a:lnTo>
                  <a:pt x="96655" y="37212"/>
                </a:lnTo>
                <a:lnTo>
                  <a:pt x="63829" y="62821"/>
                </a:lnTo>
                <a:lnTo>
                  <a:pt x="38543" y="95967"/>
                </a:lnTo>
                <a:lnTo>
                  <a:pt x="22240" y="135165"/>
                </a:lnTo>
                <a:lnTo>
                  <a:pt x="16613" y="177757"/>
                </a:lnTo>
                <a:lnTo>
                  <a:pt x="16563" y="178134"/>
                </a:lnTo>
                <a:lnTo>
                  <a:pt x="16463" y="178886"/>
                </a:lnTo>
                <a:lnTo>
                  <a:pt x="27670" y="238107"/>
                </a:lnTo>
                <a:lnTo>
                  <a:pt x="62233" y="293392"/>
                </a:lnTo>
                <a:lnTo>
                  <a:pt x="80236" y="293392"/>
                </a:lnTo>
                <a:lnTo>
                  <a:pt x="80236" y="326314"/>
                </a:lnTo>
                <a:close/>
              </a:path>
              <a:path w="356869" h="355600">
                <a:moveTo>
                  <a:pt x="313937" y="293392"/>
                </a:moveTo>
                <a:lnTo>
                  <a:pt x="293727" y="293392"/>
                </a:lnTo>
                <a:lnTo>
                  <a:pt x="302419" y="282884"/>
                </a:lnTo>
                <a:lnTo>
                  <a:pt x="309207" y="273882"/>
                </a:lnTo>
                <a:lnTo>
                  <a:pt x="328319" y="239110"/>
                </a:lnTo>
                <a:lnTo>
                  <a:pt x="338556" y="198624"/>
                </a:lnTo>
                <a:lnTo>
                  <a:pt x="339804" y="178886"/>
                </a:lnTo>
                <a:lnTo>
                  <a:pt x="339875" y="177757"/>
                </a:lnTo>
                <a:lnTo>
                  <a:pt x="334185" y="135165"/>
                </a:lnTo>
                <a:lnTo>
                  <a:pt x="334098" y="134512"/>
                </a:lnTo>
                <a:lnTo>
                  <a:pt x="317796" y="95633"/>
                </a:lnTo>
                <a:lnTo>
                  <a:pt x="292617" y="62821"/>
                </a:lnTo>
                <a:lnTo>
                  <a:pt x="292509" y="62680"/>
                </a:lnTo>
                <a:lnTo>
                  <a:pt x="259781" y="37212"/>
                </a:lnTo>
                <a:lnTo>
                  <a:pt x="221154" y="20788"/>
                </a:lnTo>
                <a:lnTo>
                  <a:pt x="178169" y="14967"/>
                </a:lnTo>
                <a:lnTo>
                  <a:pt x="246083" y="14967"/>
                </a:lnTo>
                <a:lnTo>
                  <a:pt x="304288" y="52108"/>
                </a:lnTo>
                <a:lnTo>
                  <a:pt x="332115" y="88092"/>
                </a:lnTo>
                <a:lnTo>
                  <a:pt x="350041" y="130543"/>
                </a:lnTo>
                <a:lnTo>
                  <a:pt x="356389" y="177757"/>
                </a:lnTo>
                <a:lnTo>
                  <a:pt x="353841" y="207910"/>
                </a:lnTo>
                <a:lnTo>
                  <a:pt x="346404" y="237074"/>
                </a:lnTo>
                <a:lnTo>
                  <a:pt x="334393" y="264272"/>
                </a:lnTo>
                <a:lnTo>
                  <a:pt x="318122" y="288522"/>
                </a:lnTo>
                <a:lnTo>
                  <a:pt x="313937" y="293392"/>
                </a:lnTo>
                <a:close/>
              </a:path>
              <a:path w="356869" h="355600">
                <a:moveTo>
                  <a:pt x="133530" y="93561"/>
                </a:moveTo>
                <a:lnTo>
                  <a:pt x="123765" y="80831"/>
                </a:lnTo>
                <a:lnTo>
                  <a:pt x="178169" y="38545"/>
                </a:lnTo>
                <a:lnTo>
                  <a:pt x="204659" y="59134"/>
                </a:lnTo>
                <a:lnTo>
                  <a:pt x="178169" y="59134"/>
                </a:lnTo>
                <a:lnTo>
                  <a:pt x="133530" y="93561"/>
                </a:lnTo>
                <a:close/>
              </a:path>
              <a:path w="356869" h="355600">
                <a:moveTo>
                  <a:pt x="222829" y="93561"/>
                </a:moveTo>
                <a:lnTo>
                  <a:pt x="178169" y="59134"/>
                </a:lnTo>
                <a:lnTo>
                  <a:pt x="204659" y="59134"/>
                </a:lnTo>
                <a:lnTo>
                  <a:pt x="232575" y="80831"/>
                </a:lnTo>
                <a:lnTo>
                  <a:pt x="222829" y="93561"/>
                </a:lnTo>
                <a:close/>
              </a:path>
              <a:path w="356869" h="355600">
                <a:moveTo>
                  <a:pt x="151134" y="353635"/>
                </a:moveTo>
                <a:lnTo>
                  <a:pt x="144784" y="352527"/>
                </a:lnTo>
                <a:lnTo>
                  <a:pt x="144407" y="352527"/>
                </a:lnTo>
                <a:lnTo>
                  <a:pt x="142144" y="351774"/>
                </a:lnTo>
                <a:lnTo>
                  <a:pt x="140257" y="351398"/>
                </a:lnTo>
                <a:lnTo>
                  <a:pt x="139524" y="351398"/>
                </a:lnTo>
                <a:lnTo>
                  <a:pt x="133510" y="349893"/>
                </a:lnTo>
                <a:lnTo>
                  <a:pt x="133510" y="106646"/>
                </a:lnTo>
                <a:lnTo>
                  <a:pt x="151134" y="106646"/>
                </a:lnTo>
                <a:lnTo>
                  <a:pt x="151134" y="353635"/>
                </a:lnTo>
                <a:close/>
              </a:path>
              <a:path w="356869" h="355600">
                <a:moveTo>
                  <a:pt x="186804" y="355139"/>
                </a:moveTo>
                <a:lnTo>
                  <a:pt x="169179" y="355139"/>
                </a:lnTo>
                <a:lnTo>
                  <a:pt x="169179" y="106646"/>
                </a:lnTo>
                <a:lnTo>
                  <a:pt x="186804" y="106646"/>
                </a:lnTo>
                <a:lnTo>
                  <a:pt x="186804" y="355139"/>
                </a:lnTo>
                <a:close/>
              </a:path>
              <a:path w="356869" h="355600">
                <a:moveTo>
                  <a:pt x="204827" y="354031"/>
                </a:moveTo>
                <a:lnTo>
                  <a:pt x="204827" y="106646"/>
                </a:lnTo>
                <a:lnTo>
                  <a:pt x="222452" y="106646"/>
                </a:lnTo>
                <a:lnTo>
                  <a:pt x="222452" y="349517"/>
                </a:lnTo>
                <a:lnTo>
                  <a:pt x="221374" y="349893"/>
                </a:lnTo>
                <a:lnTo>
                  <a:pt x="216815" y="351398"/>
                </a:lnTo>
                <a:lnTo>
                  <a:pt x="211953" y="352527"/>
                </a:lnTo>
                <a:lnTo>
                  <a:pt x="204827" y="354031"/>
                </a:lnTo>
                <a:close/>
              </a:path>
              <a:path w="356869" h="355600">
                <a:moveTo>
                  <a:pt x="80236" y="293392"/>
                </a:moveTo>
                <a:lnTo>
                  <a:pt x="62233" y="293392"/>
                </a:lnTo>
                <a:lnTo>
                  <a:pt x="62233" y="222281"/>
                </a:lnTo>
                <a:lnTo>
                  <a:pt x="80236" y="222281"/>
                </a:lnTo>
                <a:lnTo>
                  <a:pt x="80236" y="293392"/>
                </a:lnTo>
                <a:close/>
              </a:path>
              <a:path w="356869" h="355600">
                <a:moveTo>
                  <a:pt x="115507" y="344270"/>
                </a:moveTo>
                <a:lnTo>
                  <a:pt x="112133" y="343518"/>
                </a:lnTo>
                <a:lnTo>
                  <a:pt x="104253" y="339776"/>
                </a:lnTo>
                <a:lnTo>
                  <a:pt x="97882" y="336411"/>
                </a:lnTo>
                <a:lnTo>
                  <a:pt x="97882" y="222281"/>
                </a:lnTo>
                <a:lnTo>
                  <a:pt x="115507" y="222281"/>
                </a:lnTo>
                <a:lnTo>
                  <a:pt x="115507" y="344270"/>
                </a:lnTo>
                <a:close/>
              </a:path>
              <a:path w="356869" h="355600">
                <a:moveTo>
                  <a:pt x="240475" y="344667"/>
                </a:moveTo>
                <a:lnTo>
                  <a:pt x="240475" y="222281"/>
                </a:lnTo>
                <a:lnTo>
                  <a:pt x="258478" y="222281"/>
                </a:lnTo>
                <a:lnTo>
                  <a:pt x="258478" y="336411"/>
                </a:lnTo>
                <a:lnTo>
                  <a:pt x="252841" y="339045"/>
                </a:lnTo>
                <a:lnTo>
                  <a:pt x="249466" y="340550"/>
                </a:lnTo>
                <a:lnTo>
                  <a:pt x="240475" y="344667"/>
                </a:lnTo>
                <a:close/>
              </a:path>
              <a:path w="356869" h="355600">
                <a:moveTo>
                  <a:pt x="276103" y="326314"/>
                </a:moveTo>
                <a:lnTo>
                  <a:pt x="276103" y="222281"/>
                </a:lnTo>
                <a:lnTo>
                  <a:pt x="293727" y="222281"/>
                </a:lnTo>
                <a:lnTo>
                  <a:pt x="293727" y="293392"/>
                </a:lnTo>
                <a:lnTo>
                  <a:pt x="313937" y="293392"/>
                </a:lnTo>
                <a:lnTo>
                  <a:pt x="310557" y="297325"/>
                </a:lnTo>
                <a:lnTo>
                  <a:pt x="302040" y="305600"/>
                </a:lnTo>
                <a:lnTo>
                  <a:pt x="291059" y="314783"/>
                </a:lnTo>
                <a:lnTo>
                  <a:pt x="276103" y="326314"/>
                </a:lnTo>
                <a:close/>
              </a:path>
              <a:path w="356869" h="355600">
                <a:moveTo>
                  <a:pt x="184185" y="355537"/>
                </a:moveTo>
                <a:lnTo>
                  <a:pt x="172176" y="355537"/>
                </a:lnTo>
                <a:lnTo>
                  <a:pt x="169007" y="355139"/>
                </a:lnTo>
                <a:lnTo>
                  <a:pt x="186955" y="355139"/>
                </a:lnTo>
                <a:lnTo>
                  <a:pt x="184185" y="355537"/>
                </a:lnTo>
                <a:close/>
              </a:path>
            </a:pathLst>
          </a:custGeom>
          <a:solidFill>
            <a:srgbClr val="07302A"/>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904175" y="6175483"/>
            <a:ext cx="810057" cy="362246"/>
          </a:xfrm>
          <a:prstGeom prst="rect">
            <a:avLst/>
          </a:prstGeom>
        </p:spPr>
      </p:pic>
      <p:sp>
        <p:nvSpPr>
          <p:cNvPr id="2" name="Holder 2"/>
          <p:cNvSpPr>
            <a:spLocks noGrp="1"/>
          </p:cNvSpPr>
          <p:nvPr>
            <p:ph type="title"/>
          </p:nvPr>
        </p:nvSpPr>
        <p:spPr>
          <a:xfrm>
            <a:off x="106733" y="80910"/>
            <a:ext cx="11338505" cy="1234798"/>
          </a:xfrm>
          <a:prstGeom prst="rect">
            <a:avLst/>
          </a:prstGeom>
        </p:spPr>
        <p:txBody>
          <a:bodyPr wrap="square" lIns="0" tIns="0" rIns="0" bIns="0">
            <a:spAutoFit/>
          </a:bodyPr>
          <a:lstStyle>
            <a:lvl1pPr>
              <a:defRPr sz="2500" b="1" i="0">
                <a:solidFill>
                  <a:srgbClr val="07302A"/>
                </a:solidFill>
                <a:latin typeface="Boehringer Forward Head"/>
                <a:cs typeface="Boehringer Forward Head"/>
              </a:defRPr>
            </a:lvl1pPr>
          </a:lstStyle>
          <a:p>
            <a:endParaRPr/>
          </a:p>
        </p:txBody>
      </p:sp>
      <p:sp>
        <p:nvSpPr>
          <p:cNvPr id="3" name="Holder 3"/>
          <p:cNvSpPr>
            <a:spLocks noGrp="1"/>
          </p:cNvSpPr>
          <p:nvPr>
            <p:ph type="body" idx="1"/>
          </p:nvPr>
        </p:nvSpPr>
        <p:spPr>
          <a:xfrm>
            <a:off x="449287" y="1321235"/>
            <a:ext cx="10941685" cy="374840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73440467"/>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7"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5"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Spesolimab - confidential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6">
            <a:extLst>
              <a:ext uri="{96DAC541-7B7A-43D3-8B79-37D633B846F1}">
                <asvg:svgBlip xmlns:asvg="http://schemas.microsoft.com/office/drawing/2016/SVG/main" r:embed="rId47"/>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320718594"/>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 id="2147483887" r:id="rId15"/>
    <p:sldLayoutId id="2147483888" r:id="rId16"/>
    <p:sldLayoutId id="2147483889" r:id="rId17"/>
    <p:sldLayoutId id="2147483890" r:id="rId18"/>
    <p:sldLayoutId id="2147483891" r:id="rId19"/>
    <p:sldLayoutId id="2147483892" r:id="rId20"/>
    <p:sldLayoutId id="2147483893" r:id="rId21"/>
    <p:sldLayoutId id="2147483894" r:id="rId22"/>
    <p:sldLayoutId id="2147483895" r:id="rId23"/>
    <p:sldLayoutId id="2147483896" r:id="rId24"/>
    <p:sldLayoutId id="2147483897" r:id="rId25"/>
    <p:sldLayoutId id="2147483898" r:id="rId26"/>
    <p:sldLayoutId id="2147483899" r:id="rId27"/>
    <p:sldLayoutId id="2147483900" r:id="rId28"/>
    <p:sldLayoutId id="2147483901" r:id="rId29"/>
    <p:sldLayoutId id="2147483902" r:id="rId30"/>
    <p:sldLayoutId id="2147483903" r:id="rId31"/>
    <p:sldLayoutId id="2147483904" r:id="rId32"/>
    <p:sldLayoutId id="2147483905" r:id="rId33"/>
    <p:sldLayoutId id="2147483906" r:id="rId34"/>
    <p:sldLayoutId id="2147483907" r:id="rId35"/>
    <p:sldLayoutId id="2147483908" r:id="rId36"/>
    <p:sldLayoutId id="2147483909" r:id="rId37"/>
    <p:sldLayoutId id="2147483910" r:id="rId38"/>
    <p:sldLayoutId id="2147483911" r:id="rId39"/>
    <p:sldLayoutId id="2147483912" r:id="rId40"/>
    <p:sldLayoutId id="2147483913" r:id="rId41"/>
    <p:sldLayoutId id="2147483914" r:id="rId42"/>
    <p:sldLayoutId id="2147483915" r:id="rId43"/>
    <p:sldLayoutId id="2147483916" r:id="rId44"/>
  </p:sldLayoutIdLst>
  <p:hf hdr="0" ftr="0" dt="0"/>
  <p:txStyles>
    <p:titleStyle>
      <a:lvl1pPr algn="l" defTabSz="914354"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89" indent="-215989" algn="l" defTabSz="914354"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79"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72"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60"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86" indent="-142867"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79"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60247180"/>
      </p:ext>
    </p:extLst>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 id="2147483929" r:id="rId12"/>
    <p:sldLayoutId id="2147483930" r:id="rId13"/>
    <p:sldLayoutId id="2147483931" r:id="rId14"/>
    <p:sldLayoutId id="2147483932" r:id="rId15"/>
    <p:sldLayoutId id="2147483933" r:id="rId16"/>
    <p:sldLayoutId id="2147483934" r:id="rId17"/>
    <p:sldLayoutId id="2147483935" r:id="rId18"/>
    <p:sldLayoutId id="2147483936" r:id="rId19"/>
    <p:sldLayoutId id="2147483937" r:id="rId20"/>
    <p:sldLayoutId id="2147483938" r:id="rId21"/>
    <p:sldLayoutId id="2147483939" r:id="rId22"/>
    <p:sldLayoutId id="2147483940" r:id="rId23"/>
    <p:sldLayoutId id="2147483941" r:id="rId24"/>
    <p:sldLayoutId id="2147483942" r:id="rId25"/>
    <p:sldLayoutId id="2147483943" r:id="rId26"/>
    <p:sldLayoutId id="2147483944" r:id="rId27"/>
    <p:sldLayoutId id="2147483945" r:id="rId28"/>
    <p:sldLayoutId id="2147483946" r:id="rId29"/>
    <p:sldLayoutId id="2147483947" r:id="rId30"/>
    <p:sldLayoutId id="2147483948" r:id="rId31"/>
    <p:sldLayoutId id="2147483949" r:id="rId32"/>
    <p:sldLayoutId id="2147483950" r:id="rId33"/>
    <p:sldLayoutId id="2147483951"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6.xml"/><Relationship Id="rId7" Type="http://schemas.openxmlformats.org/officeDocument/2006/relationships/slideLayout" Target="../slideLayouts/slideLayout7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39.png"/><Relationship Id="rId18" Type="http://schemas.openxmlformats.org/officeDocument/2006/relationships/image" Target="../media/image44.svg"/><Relationship Id="rId3" Type="http://schemas.openxmlformats.org/officeDocument/2006/relationships/image" Target="../media/image29.png"/><Relationship Id="rId21" Type="http://schemas.openxmlformats.org/officeDocument/2006/relationships/image" Target="../media/image47.png"/><Relationship Id="rId7" Type="http://schemas.openxmlformats.org/officeDocument/2006/relationships/image" Target="../media/image33.png"/><Relationship Id="rId12" Type="http://schemas.openxmlformats.org/officeDocument/2006/relationships/image" Target="../media/image38.svg"/><Relationship Id="rId17" Type="http://schemas.openxmlformats.org/officeDocument/2006/relationships/image" Target="../media/image43.png"/><Relationship Id="rId2" Type="http://schemas.openxmlformats.org/officeDocument/2006/relationships/notesSlide" Target="../notesSlides/notesSlide3.xml"/><Relationship Id="rId16" Type="http://schemas.openxmlformats.org/officeDocument/2006/relationships/image" Target="../media/image42.svg"/><Relationship Id="rId20" Type="http://schemas.openxmlformats.org/officeDocument/2006/relationships/image" Target="../media/image46.svg"/><Relationship Id="rId1" Type="http://schemas.openxmlformats.org/officeDocument/2006/relationships/slideLayout" Target="../slideLayouts/slideLayout76.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svg"/><Relationship Id="rId19" Type="http://schemas.openxmlformats.org/officeDocument/2006/relationships/image" Target="../media/image45.png"/><Relationship Id="rId4" Type="http://schemas.openxmlformats.org/officeDocument/2006/relationships/image" Target="../media/image30.svg"/><Relationship Id="rId9" Type="http://schemas.openxmlformats.org/officeDocument/2006/relationships/image" Target="../media/image35.png"/><Relationship Id="rId14" Type="http://schemas.openxmlformats.org/officeDocument/2006/relationships/image" Target="../media/image40.svg"/><Relationship Id="rId22" Type="http://schemas.openxmlformats.org/officeDocument/2006/relationships/image" Target="../media/image4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6.xml"/></Relationships>
</file>

<file path=ppt/slides/_rels/slide8.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2.xml"/></Relationships>
</file>

<file path=ppt/slides/_rels/slide9.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png"/><Relationship Id="rId1" Type="http://schemas.openxmlformats.org/officeDocument/2006/relationships/slideLayout" Target="../slideLayouts/slideLayout8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20.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18" Type="http://schemas.openxmlformats.org/officeDocument/2006/relationships/tags" Target="../tags/tag27.xml"/><Relationship Id="rId26" Type="http://schemas.openxmlformats.org/officeDocument/2006/relationships/image" Target="../media/image55.png"/><Relationship Id="rId3" Type="http://schemas.openxmlformats.org/officeDocument/2006/relationships/tags" Target="../tags/tag12.xml"/><Relationship Id="rId21" Type="http://schemas.openxmlformats.org/officeDocument/2006/relationships/tags" Target="../tags/tag30.xml"/><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tags" Target="../tags/tag26.xml"/><Relationship Id="rId25" Type="http://schemas.openxmlformats.org/officeDocument/2006/relationships/notesSlide" Target="../notesSlides/notesSlide7.xm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tags" Target="../tags/tag29.xml"/><Relationship Id="rId29" Type="http://schemas.openxmlformats.org/officeDocument/2006/relationships/image" Target="../media/image58.sv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slideLayout" Target="../slideLayouts/slideLayout131.xm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tags" Target="../tags/tag32.xml"/><Relationship Id="rId28" Type="http://schemas.openxmlformats.org/officeDocument/2006/relationships/image" Target="../media/image57.png"/><Relationship Id="rId10" Type="http://schemas.openxmlformats.org/officeDocument/2006/relationships/tags" Target="../tags/tag19.xml"/><Relationship Id="rId19" Type="http://schemas.openxmlformats.org/officeDocument/2006/relationships/tags" Target="../tags/tag28.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tags" Target="../tags/tag31.xml"/><Relationship Id="rId27" Type="http://schemas.openxmlformats.org/officeDocument/2006/relationships/image" Target="../media/image5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23.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emf"/><Relationship Id="rId2" Type="http://schemas.openxmlformats.org/officeDocument/2006/relationships/notesSlide" Target="../notesSlides/notesSlide8.xml"/><Relationship Id="rId1" Type="http://schemas.openxmlformats.org/officeDocument/2006/relationships/slideLayout" Target="../slideLayouts/slideLayout126.xml"/><Relationship Id="rId6" Type="http://schemas.openxmlformats.org/officeDocument/2006/relationships/image" Target="../media/image62.emf"/><Relationship Id="rId5" Type="http://schemas.openxmlformats.org/officeDocument/2006/relationships/image" Target="../media/image61.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9.xml"/><Relationship Id="rId1" Type="http://schemas.openxmlformats.org/officeDocument/2006/relationships/slideLayout" Target="../slideLayouts/slideLayout154.xml"/><Relationship Id="rId5" Type="http://schemas.openxmlformats.org/officeDocument/2006/relationships/image" Target="../media/image67.emf"/><Relationship Id="rId4" Type="http://schemas.openxmlformats.org/officeDocument/2006/relationships/image" Target="../media/image66.emf"/></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10.xml"/><Relationship Id="rId1" Type="http://schemas.openxmlformats.org/officeDocument/2006/relationships/slideLayout" Target="../slideLayouts/slideLayout126.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94.xml"/><Relationship Id="rId1" Type="http://schemas.openxmlformats.org/officeDocument/2006/relationships/tags" Target="../tags/tag33.xml"/><Relationship Id="rId5" Type="http://schemas.openxmlformats.org/officeDocument/2006/relationships/image" Target="../media/image73.e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8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1E614ADB-816F-D0B2-36B5-7FDBAB3DD757}"/>
              </a:ext>
            </a:extLst>
          </p:cNvPr>
          <p:cNvSpPr>
            <a:spLocks noGrp="1"/>
          </p:cNvSpPr>
          <p:nvPr>
            <p:ph type="subTitle" idx="14"/>
          </p:nvPr>
        </p:nvSpPr>
        <p:spPr bwMode="gray"/>
        <p:txBody>
          <a:bodyPr vert="horz" lIns="0" tIns="0" rIns="0" bIns="0" rtlCol="0" anchor="t">
            <a:noAutofit/>
          </a:bodyPr>
          <a:lstStyle/>
          <a:p>
            <a:r>
              <a:rPr lang="en-US" altLang="zh-CN"/>
              <a:t>Bo Wang</a:t>
            </a:r>
            <a:endParaRPr lang="de-DE" altLang="zh-CN"/>
          </a:p>
          <a:p>
            <a:r>
              <a:rPr lang="en-US"/>
              <a:t>Dec 15, 2025</a:t>
            </a:r>
          </a:p>
        </p:txBody>
      </p:sp>
      <p:sp>
        <p:nvSpPr>
          <p:cNvPr id="10" name="Title 9">
            <a:extLst>
              <a:ext uri="{FF2B5EF4-FFF2-40B4-BE49-F238E27FC236}">
                <a16:creationId xmlns:a16="http://schemas.microsoft.com/office/drawing/2014/main" id="{6723DFFC-7A84-40F2-69DD-524819653FC2}"/>
              </a:ext>
            </a:extLst>
          </p:cNvPr>
          <p:cNvSpPr>
            <a:spLocks noGrp="1"/>
          </p:cNvSpPr>
          <p:nvPr>
            <p:ph type="title"/>
          </p:nvPr>
        </p:nvSpPr>
        <p:spPr bwMode="gray">
          <a:xfrm>
            <a:off x="479423" y="1412874"/>
            <a:ext cx="9689590" cy="1799861"/>
          </a:xfrm>
        </p:spPr>
        <p:txBody>
          <a:bodyPr/>
          <a:lstStyle/>
          <a:p>
            <a:r>
              <a:rPr lang="en-US" altLang="zh-CN" dirty="0"/>
              <a:t>China development strategy for Nerandomilast </a:t>
            </a:r>
            <a:r>
              <a:rPr lang="en-US" altLang="zh-CN" dirty="0" err="1"/>
              <a:t>SSc</a:t>
            </a:r>
            <a:r>
              <a:rPr lang="en-US" altLang="zh-CN" dirty="0"/>
              <a:t> indication</a:t>
            </a:r>
            <a:endParaRPr lang="de-DE" sz="3200" dirty="0">
              <a:latin typeface="+mj-ea"/>
            </a:endParaRPr>
          </a:p>
        </p:txBody>
      </p:sp>
    </p:spTree>
    <p:extLst>
      <p:ext uri="{BB962C8B-B14F-4D97-AF65-F5344CB8AC3E}">
        <p14:creationId xmlns:p14="http://schemas.microsoft.com/office/powerpoint/2010/main" val="1429912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54D75C7F-CD17-A223-84D3-786B0C0C0D43}"/>
              </a:ext>
            </a:extLst>
          </p:cNvPr>
          <p:cNvSpPr/>
          <p:nvPr>
            <p:custDataLst>
              <p:tags r:id="rId1"/>
            </p:custDataLst>
          </p:nvPr>
        </p:nvSpPr>
        <p:spPr>
          <a:xfrm>
            <a:off x="429158" y="1369778"/>
            <a:ext cx="5257538" cy="4486948"/>
          </a:xfrm>
          <a:prstGeom prst="roundRect">
            <a:avLst>
              <a:gd name="adj" fmla="val 0"/>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71" name="任意多边形: 形状 70">
            <a:extLst>
              <a:ext uri="{FF2B5EF4-FFF2-40B4-BE49-F238E27FC236}">
                <a16:creationId xmlns:a16="http://schemas.microsoft.com/office/drawing/2014/main" id="{4F17F9DA-EDAB-F90B-3181-0AFEC6BB2424}"/>
              </a:ext>
            </a:extLst>
          </p:cNvPr>
          <p:cNvSpPr/>
          <p:nvPr>
            <p:custDataLst>
              <p:tags r:id="rId2"/>
            </p:custDataLst>
          </p:nvPr>
        </p:nvSpPr>
        <p:spPr>
          <a:xfrm>
            <a:off x="422729" y="1080445"/>
            <a:ext cx="5263967" cy="647523"/>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370332" dist="111100"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8879" tIns="44440" rIns="88879" bIns="44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750" b="0" i="0" u="none" strike="noStrike" kern="1200" cap="none" spc="0" normalizeH="0" baseline="0" noProof="0">
              <a:ln>
                <a:noFill/>
              </a:ln>
              <a:solidFill>
                <a:prstClr val="white"/>
              </a:solidFill>
              <a:effectLst>
                <a:outerShdw blurRad="123444" dist="37033" dir="2699979" algn="tl">
                  <a:srgbClr val="000000">
                    <a:alpha val="40000"/>
                  </a:srgbClr>
                </a:outerShdw>
              </a:effectLst>
              <a:uLnTx/>
              <a:uFillTx/>
              <a:latin typeface="+mn-lt"/>
              <a:ea typeface="OPPOSans M"/>
              <a:cs typeface="+mn-cs"/>
            </a:endParaRPr>
          </a:p>
        </p:txBody>
      </p:sp>
      <p:sp>
        <p:nvSpPr>
          <p:cNvPr id="72" name="文本框 71">
            <a:extLst>
              <a:ext uri="{FF2B5EF4-FFF2-40B4-BE49-F238E27FC236}">
                <a16:creationId xmlns:a16="http://schemas.microsoft.com/office/drawing/2014/main" id="{31742A8B-BC79-371E-B4CA-EBB040CBE1EE}"/>
              </a:ext>
            </a:extLst>
          </p:cNvPr>
          <p:cNvSpPr txBox="1"/>
          <p:nvPr/>
        </p:nvSpPr>
        <p:spPr>
          <a:xfrm>
            <a:off x="688371" y="1088009"/>
            <a:ext cx="4641276"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Background</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77" name="矩形: 圆角 76">
            <a:extLst>
              <a:ext uri="{FF2B5EF4-FFF2-40B4-BE49-F238E27FC236}">
                <a16:creationId xmlns:a16="http://schemas.microsoft.com/office/drawing/2014/main" id="{64A8B87B-92C1-F3A2-C6D8-205E26BCED07}"/>
              </a:ext>
            </a:extLst>
          </p:cNvPr>
          <p:cNvSpPr/>
          <p:nvPr>
            <p:custDataLst>
              <p:tags r:id="rId3"/>
            </p:custDataLst>
          </p:nvPr>
        </p:nvSpPr>
        <p:spPr>
          <a:xfrm>
            <a:off x="5791659" y="1359145"/>
            <a:ext cx="5979103" cy="4486948"/>
          </a:xfrm>
          <a:prstGeom prst="roundRect">
            <a:avLst>
              <a:gd name="adj" fmla="val 0"/>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20" b="0" i="0" u="none" strike="noStrike" kern="1200" cap="none" spc="0" normalizeH="0" baseline="0" noProof="0">
              <a:ln>
                <a:noFill/>
              </a:ln>
              <a:solidFill>
                <a:prstClr val="white"/>
              </a:solidFill>
              <a:effectLst/>
              <a:uLnTx/>
              <a:uFillTx/>
              <a:latin typeface="Arial"/>
              <a:ea typeface="OPPOSans R"/>
              <a:cs typeface="+mn-cs"/>
            </a:endParaRPr>
          </a:p>
        </p:txBody>
      </p:sp>
      <p:sp>
        <p:nvSpPr>
          <p:cNvPr id="81" name="任意多边形: 形状 80">
            <a:extLst>
              <a:ext uri="{FF2B5EF4-FFF2-40B4-BE49-F238E27FC236}">
                <a16:creationId xmlns:a16="http://schemas.microsoft.com/office/drawing/2014/main" id="{5630280C-7927-0B9E-CEFB-2E08CD26C19B}"/>
              </a:ext>
            </a:extLst>
          </p:cNvPr>
          <p:cNvSpPr/>
          <p:nvPr>
            <p:custDataLst>
              <p:tags r:id="rId4"/>
            </p:custDataLst>
          </p:nvPr>
        </p:nvSpPr>
        <p:spPr>
          <a:xfrm>
            <a:off x="5799265" y="1080445"/>
            <a:ext cx="5979133" cy="647524"/>
          </a:xfrm>
          <a:custGeom>
            <a:avLst/>
            <a:gdLst>
              <a:gd name="connsiteX0" fmla="*/ 171559 w 5653087"/>
              <a:gd name="connsiteY0" fmla="*/ 0 h 779010"/>
              <a:gd name="connsiteX1" fmla="*/ 5481528 w 5653087"/>
              <a:gd name="connsiteY1" fmla="*/ 0 h 779010"/>
              <a:gd name="connsiteX2" fmla="*/ 5653087 w 5653087"/>
              <a:gd name="connsiteY2" fmla="*/ 171559 h 779010"/>
              <a:gd name="connsiteX3" fmla="*/ 5653087 w 5653087"/>
              <a:gd name="connsiteY3" fmla="*/ 779010 h 779010"/>
              <a:gd name="connsiteX4" fmla="*/ 0 w 5653087"/>
              <a:gd name="connsiteY4" fmla="*/ 779010 h 779010"/>
              <a:gd name="connsiteX5" fmla="*/ 0 w 5653087"/>
              <a:gd name="connsiteY5" fmla="*/ 171559 h 779010"/>
              <a:gd name="connsiteX6" fmla="*/ 171559 w 5653087"/>
              <a:gd name="connsiteY6" fmla="*/ 0 h 77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53087" h="779010">
                <a:moveTo>
                  <a:pt x="171559" y="0"/>
                </a:moveTo>
                <a:lnTo>
                  <a:pt x="5481528" y="0"/>
                </a:lnTo>
                <a:cubicBezTo>
                  <a:pt x="5576277" y="0"/>
                  <a:pt x="5653087" y="76810"/>
                  <a:pt x="5653087" y="171559"/>
                </a:cubicBezTo>
                <a:lnTo>
                  <a:pt x="5653087" y="779010"/>
                </a:lnTo>
                <a:lnTo>
                  <a:pt x="0" y="779010"/>
                </a:lnTo>
                <a:lnTo>
                  <a:pt x="0" y="171559"/>
                </a:lnTo>
                <a:cubicBezTo>
                  <a:pt x="0" y="76810"/>
                  <a:pt x="76810" y="0"/>
                  <a:pt x="171559" y="0"/>
                </a:cubicBez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944"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n-lt"/>
              <a:ea typeface="OPPOSans M"/>
              <a:cs typeface="+mn-cs"/>
            </a:endParaRPr>
          </a:p>
        </p:txBody>
      </p:sp>
      <p:sp>
        <p:nvSpPr>
          <p:cNvPr id="62" name="文本占位符 1">
            <a:extLst>
              <a:ext uri="{FF2B5EF4-FFF2-40B4-BE49-F238E27FC236}">
                <a16:creationId xmlns:a16="http://schemas.microsoft.com/office/drawing/2014/main" id="{8BBEA513-3F42-1249-7A77-74867D20D3A8}"/>
              </a:ext>
            </a:extLst>
          </p:cNvPr>
          <p:cNvSpPr txBox="1">
            <a:spLocks/>
          </p:cNvSpPr>
          <p:nvPr/>
        </p:nvSpPr>
        <p:spPr>
          <a:xfrm>
            <a:off x="578417" y="-841540"/>
            <a:ext cx="4634366" cy="391967"/>
          </a:xfrm>
          <a:prstGeom prst="rect">
            <a:avLst/>
          </a:prstGeom>
        </p:spPr>
        <p:txBody>
          <a:bodyPr/>
          <a:lstStyle>
            <a:defPPr>
              <a:defRPr lang="zh-CN"/>
            </a:defPPr>
            <a:lvl1pPr indent="0">
              <a:lnSpc>
                <a:spcPct val="90000"/>
              </a:lnSpc>
              <a:spcBef>
                <a:spcPts val="1000"/>
              </a:spcBef>
              <a:buFont typeface="Arial" panose="020B0604020202020204" pitchFamily="34" charset="0"/>
              <a:buNone/>
              <a:defRPr sz="2800">
                <a:solidFill>
                  <a:schemeClr val="accent1"/>
                </a:solidFill>
                <a:latin typeface="思源宋体 CN Heavy" panose="02020900000000000000" pitchFamily="18" charset="-122"/>
                <a:ea typeface="思源宋体 CN Heavy" panose="02020900000000000000" pitchFamily="18" charset="-122"/>
                <a:cs typeface="阿里巴巴普惠体 M"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a:ln>
                <a:noFill/>
              </a:ln>
              <a:solidFill>
                <a:srgbClr val="1E4123"/>
              </a:solidFill>
              <a:effectLst/>
              <a:uLnTx/>
              <a:uFillTx/>
              <a:latin typeface="OPPOSans B" panose="00020600040101010101" pitchFamily="18" charset="-122"/>
              <a:ea typeface="OPPOSans B" panose="00020600040101010101" pitchFamily="18" charset="-122"/>
            </a:endParaRPr>
          </a:p>
        </p:txBody>
      </p:sp>
      <p:sp>
        <p:nvSpPr>
          <p:cNvPr id="87" name="文本框 86">
            <a:extLst>
              <a:ext uri="{FF2B5EF4-FFF2-40B4-BE49-F238E27FC236}">
                <a16:creationId xmlns:a16="http://schemas.microsoft.com/office/drawing/2014/main" id="{DF6302AA-82F6-4611-02FC-8C777B7FD34D}"/>
              </a:ext>
            </a:extLst>
          </p:cNvPr>
          <p:cNvSpPr txBox="1"/>
          <p:nvPr/>
        </p:nvSpPr>
        <p:spPr>
          <a:xfrm>
            <a:off x="6540175" y="1088009"/>
            <a:ext cx="4850842" cy="518988"/>
          </a:xfrm>
          <a:prstGeom prst="rect">
            <a:avLst/>
          </a:prstGeom>
          <a:noFill/>
          <a:effectLst/>
        </p:spPr>
        <p:txBody>
          <a:bodyPr wrap="square" lIns="82296" tIns="41148" rIns="82296" bIns="41148">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PEC Discussion</a:t>
            </a:r>
            <a:endParaRPr kumimoji="0" lang="zh-CN" altLang="en-US" sz="25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5" name="矩形 104">
            <a:extLst>
              <a:ext uri="{FF2B5EF4-FFF2-40B4-BE49-F238E27FC236}">
                <a16:creationId xmlns:a16="http://schemas.microsoft.com/office/drawing/2014/main" id="{F6F9C9E3-5BEA-396C-CC84-7FC99FC96EB4}"/>
              </a:ext>
            </a:extLst>
          </p:cNvPr>
          <p:cNvSpPr/>
          <p:nvPr/>
        </p:nvSpPr>
        <p:spPr>
          <a:xfrm>
            <a:off x="5997915" y="2103847"/>
            <a:ext cx="5522419" cy="2091943"/>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6" name="矩形: 圆角 105">
            <a:extLst>
              <a:ext uri="{FF2B5EF4-FFF2-40B4-BE49-F238E27FC236}">
                <a16:creationId xmlns:a16="http://schemas.microsoft.com/office/drawing/2014/main" id="{504627DC-1B8D-D359-EEFB-F586635E91D4}"/>
              </a:ext>
            </a:extLst>
          </p:cNvPr>
          <p:cNvSpPr/>
          <p:nvPr>
            <p:custDataLst>
              <p:tags r:id="rId5"/>
            </p:custDataLst>
          </p:nvPr>
        </p:nvSpPr>
        <p:spPr>
          <a:xfrm>
            <a:off x="6236300" y="1894944"/>
            <a:ext cx="3365795" cy="377055"/>
          </a:xfrm>
          <a:prstGeom prst="roundRect">
            <a:avLst>
              <a:gd name="adj" fmla="val 13302"/>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Team Proposal</a:t>
            </a:r>
            <a:endParaRPr kumimoji="0" lang="zh-CN" altLang="en-US"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07" name="矩形 106">
            <a:extLst>
              <a:ext uri="{FF2B5EF4-FFF2-40B4-BE49-F238E27FC236}">
                <a16:creationId xmlns:a16="http://schemas.microsoft.com/office/drawing/2014/main" id="{26404657-AF42-E04C-0484-8E12BF4F88B5}"/>
              </a:ext>
            </a:extLst>
          </p:cNvPr>
          <p:cNvSpPr/>
          <p:nvPr/>
        </p:nvSpPr>
        <p:spPr>
          <a:xfrm>
            <a:off x="5997915" y="4511067"/>
            <a:ext cx="5505714" cy="733650"/>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OPPOSans R"/>
              <a:cs typeface="+mn-cs"/>
            </a:endParaRPr>
          </a:p>
        </p:txBody>
      </p:sp>
      <p:sp>
        <p:nvSpPr>
          <p:cNvPr id="108" name="矩形: 圆角 107">
            <a:extLst>
              <a:ext uri="{FF2B5EF4-FFF2-40B4-BE49-F238E27FC236}">
                <a16:creationId xmlns:a16="http://schemas.microsoft.com/office/drawing/2014/main" id="{7EC3D8D4-E562-802E-C322-11C97D6B087E}"/>
              </a:ext>
            </a:extLst>
          </p:cNvPr>
          <p:cNvSpPr/>
          <p:nvPr>
            <p:custDataLst>
              <p:tags r:id="rId6"/>
            </p:custDataLst>
          </p:nvPr>
        </p:nvSpPr>
        <p:spPr>
          <a:xfrm>
            <a:off x="6248422" y="4335697"/>
            <a:ext cx="3365795" cy="377055"/>
          </a:xfrm>
          <a:prstGeom prst="roundRect">
            <a:avLst>
              <a:gd name="adj" fmla="val 13302"/>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rPr>
              <a:t>Rationale for PEC Discussion</a:t>
            </a:r>
            <a:endParaRPr kumimoji="0" lang="zh-CN" altLang="en-US" sz="1600" b="1" i="1"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Boehringer Forward Head"/>
              <a:ea typeface="OPPOSans M"/>
              <a:cs typeface="+mn-cs"/>
            </a:endParaRPr>
          </a:p>
        </p:txBody>
      </p:sp>
      <p:sp>
        <p:nvSpPr>
          <p:cNvPr id="111" name="文本框 110">
            <a:extLst>
              <a:ext uri="{FF2B5EF4-FFF2-40B4-BE49-F238E27FC236}">
                <a16:creationId xmlns:a16="http://schemas.microsoft.com/office/drawing/2014/main" id="{D57E4B50-846D-F18E-0522-72F0DAEE8133}"/>
              </a:ext>
            </a:extLst>
          </p:cNvPr>
          <p:cNvSpPr txBox="1"/>
          <p:nvPr/>
        </p:nvSpPr>
        <p:spPr>
          <a:xfrm>
            <a:off x="6170284" y="2376025"/>
            <a:ext cx="5154716" cy="1708608"/>
          </a:xfrm>
          <a:prstGeom prst="rect">
            <a:avLst/>
          </a:prstGeom>
          <a:noFill/>
        </p:spPr>
        <p:txBody>
          <a:bodyPr wrap="square">
            <a:noAutofit/>
          </a:bodyPr>
          <a:lstStyle>
            <a:defPPr>
              <a:defRPr lang="en-US"/>
            </a:defPPr>
            <a:lvl1pPr>
              <a:lnSpc>
                <a:spcPct val="125000"/>
              </a:lnSpc>
              <a:defRPr kern="100">
                <a:effectLst/>
                <a:latin typeface="+mn-ea"/>
                <a:cs typeface="仿宋" panose="02010609060101010101" pitchFamily="49" charset="-122"/>
              </a:defRPr>
            </a:lvl1pPr>
          </a:lstStyle>
          <a:p>
            <a:pPr marL="285750" indent="-285750">
              <a:lnSpc>
                <a:spcPct val="100000"/>
              </a:lnSpc>
              <a:spcAft>
                <a:spcPts val="600"/>
              </a:spcAft>
              <a:buFont typeface="Wingdings" panose="05000000000000000000" pitchFamily="2" charset="2"/>
              <a:buChar char="§"/>
              <a:defRPr/>
            </a:pPr>
            <a:r>
              <a:rPr lang="en-US" altLang="zh-CN" sz="1400" kern="1200">
                <a:solidFill>
                  <a:schemeClr val="tx1">
                    <a:lumMod val="65000"/>
                    <a:lumOff val="35000"/>
                  </a:schemeClr>
                </a:solidFill>
                <a:latin typeface="+mn-lt"/>
                <a:cs typeface="+mn-cs"/>
              </a:rPr>
              <a:t>Considering about the potential risks with China CTA/EC approvals, local evidence team propose to submit China CTA after FDA feedback on US CTA.</a:t>
            </a:r>
          </a:p>
          <a:p>
            <a:pPr marL="285750" indent="-285750">
              <a:lnSpc>
                <a:spcPct val="100000"/>
              </a:lnSpc>
              <a:spcAft>
                <a:spcPts val="600"/>
              </a:spcAft>
              <a:buFont typeface="Wingdings" panose="05000000000000000000" pitchFamily="2" charset="2"/>
              <a:buChar char="§"/>
              <a:defRPr/>
            </a:pPr>
            <a:r>
              <a:rPr lang="en-US" altLang="zh-CN" sz="1400">
                <a:solidFill>
                  <a:srgbClr val="595959"/>
                </a:solidFill>
                <a:latin typeface="Boehringer Forward Text" panose="020B0504030403020204" pitchFamily="2" charset="0"/>
              </a:rPr>
              <a:t>Maintain close communication with global ET regarding the supplemental supporting evidence for the CTA</a:t>
            </a:r>
          </a:p>
          <a:p>
            <a:pPr marL="285750" indent="-285750">
              <a:lnSpc>
                <a:spcPct val="100000"/>
              </a:lnSpc>
              <a:spcAft>
                <a:spcPts val="600"/>
              </a:spcAft>
              <a:buFont typeface="Wingdings" panose="05000000000000000000" pitchFamily="2" charset="2"/>
              <a:buChar char="§"/>
              <a:defRPr/>
            </a:pPr>
            <a:r>
              <a:rPr lang="en-US" altLang="zh-CN" sz="1400">
                <a:solidFill>
                  <a:srgbClr val="595959"/>
                </a:solidFill>
                <a:latin typeface="Boehringer Forward Text" panose="020B0504030403020204" pitchFamily="2" charset="0"/>
              </a:rPr>
              <a:t>Maintain close communication with global ET and local AT about the future NDA strategy.</a:t>
            </a:r>
            <a:endParaRPr lang="zh-CN" altLang="en-US" sz="1400" kern="1200">
              <a:solidFill>
                <a:schemeClr val="tx1">
                  <a:lumMod val="65000"/>
                  <a:lumOff val="35000"/>
                </a:schemeClr>
              </a:solidFill>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zh-CN" altLang="en-US" sz="1400" b="0" i="1" u="none" strike="noStrike" kern="1200" cap="none" spc="0" normalizeH="0" baseline="0" noProof="0">
              <a:ln>
                <a:noFill/>
              </a:ln>
              <a:solidFill>
                <a:prstClr val="black">
                  <a:lumMod val="75000"/>
                  <a:lumOff val="25000"/>
                </a:prstClr>
              </a:solidFill>
              <a:effectLst/>
              <a:uLnTx/>
              <a:uFillTx/>
              <a:latin typeface="Arial"/>
              <a:ea typeface="+mn-ea"/>
              <a:cs typeface="+mn-cs"/>
            </a:endParaRPr>
          </a:p>
        </p:txBody>
      </p:sp>
      <p:sp>
        <p:nvSpPr>
          <p:cNvPr id="112" name="文本框 111">
            <a:extLst>
              <a:ext uri="{FF2B5EF4-FFF2-40B4-BE49-F238E27FC236}">
                <a16:creationId xmlns:a16="http://schemas.microsoft.com/office/drawing/2014/main" id="{C8ABFF76-4F68-FECA-8E75-1E50F2ABC296}"/>
              </a:ext>
            </a:extLst>
          </p:cNvPr>
          <p:cNvSpPr txBox="1"/>
          <p:nvPr/>
        </p:nvSpPr>
        <p:spPr>
          <a:xfrm>
            <a:off x="6269863" y="4771902"/>
            <a:ext cx="4998185" cy="424621"/>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altLang="zh-CN" sz="1400" b="0" i="1" u="none" strike="noStrike" kern="1200" cap="none" spc="0" normalizeH="0" baseline="0" noProof="0" dirty="0">
                <a:ln>
                  <a:noFill/>
                </a:ln>
                <a:solidFill>
                  <a:prstClr val="black">
                    <a:lumMod val="75000"/>
                    <a:lumOff val="25000"/>
                  </a:prstClr>
                </a:solidFill>
                <a:effectLst/>
                <a:uLnTx/>
                <a:uFillTx/>
                <a:latin typeface="+mn-lt"/>
                <a:ea typeface="+mn-ea"/>
                <a:cs typeface="+mn-cs"/>
              </a:rPr>
              <a:t>For information sharing and for advice</a:t>
            </a:r>
            <a:endParaRPr kumimoji="0" lang="zh-CN" altLang="en-US" sz="1400" b="0" i="1" u="none" strike="noStrike" kern="1200" cap="none" spc="0" normalizeH="0" baseline="0" noProof="0" dirty="0">
              <a:ln>
                <a:noFill/>
              </a:ln>
              <a:solidFill>
                <a:prstClr val="black">
                  <a:lumMod val="75000"/>
                  <a:lumOff val="25000"/>
                </a:prstClr>
              </a:solidFill>
              <a:effectLst/>
              <a:uLnTx/>
              <a:uFillTx/>
              <a:latin typeface="+mn-lt"/>
              <a:ea typeface="+mn-ea"/>
              <a:cs typeface="+mn-cs"/>
            </a:endParaRPr>
          </a:p>
        </p:txBody>
      </p:sp>
      <p:sp>
        <p:nvSpPr>
          <p:cNvPr id="114" name="文本框 113">
            <a:extLst>
              <a:ext uri="{FF2B5EF4-FFF2-40B4-BE49-F238E27FC236}">
                <a16:creationId xmlns:a16="http://schemas.microsoft.com/office/drawing/2014/main" id="{945DE71A-BABA-A10E-6CDC-E43B1D69FB3C}"/>
              </a:ext>
            </a:extLst>
          </p:cNvPr>
          <p:cNvSpPr txBox="1"/>
          <p:nvPr/>
        </p:nvSpPr>
        <p:spPr>
          <a:xfrm>
            <a:off x="5986432" y="5339469"/>
            <a:ext cx="5522420" cy="338554"/>
          </a:xfrm>
          <a:prstGeom prst="rect">
            <a:avLst/>
          </a:prstGeom>
          <a:noFill/>
        </p:spPr>
        <p:txBody>
          <a:bodyPr wrap="square" lIns="91440" tIns="45720" rIns="91440" bIns="45720" anchor="t">
            <a:spAutoFit/>
          </a:bodyPr>
          <a:lstStyle/>
          <a:p>
            <a:pPr lvl="0" algn="ctr">
              <a:defRPr/>
            </a:pPr>
            <a:r>
              <a:rPr lang="zh-CN" altLang="en-US" sz="1600" b="1" i="1">
                <a:solidFill>
                  <a:prstClr val="black">
                    <a:lumMod val="75000"/>
                    <a:lumOff val="25000"/>
                  </a:prstClr>
                </a:solidFill>
                <a:latin typeface="Boehringer Forward Head"/>
                <a:ea typeface="OPPOSans M"/>
              </a:rPr>
              <a:t>✔</a:t>
            </a:r>
            <a:r>
              <a:rPr kumimoji="0" lang="en-US" altLang="zh-CN" sz="1600" b="1" i="1"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For Sharing  </a:t>
            </a:r>
            <a:r>
              <a:rPr lang="zh-CN" altLang="en-US" sz="1600" b="1" i="1">
                <a:solidFill>
                  <a:prstClr val="black">
                    <a:lumMod val="75000"/>
                    <a:lumOff val="25000"/>
                  </a:prstClr>
                </a:solidFill>
                <a:latin typeface="Boehringer Forward Head"/>
                <a:ea typeface="OPPOSans M"/>
              </a:rPr>
              <a:t>✔</a:t>
            </a:r>
            <a:r>
              <a:rPr kumimoji="0" lang="en-US" altLang="zh-CN" sz="1600" b="1" i="0"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a:t>
            </a:r>
            <a:r>
              <a:rPr kumimoji="0" lang="en-US" altLang="zh-CN" sz="1600" b="1" i="1"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For Advice   </a:t>
            </a:r>
            <a:r>
              <a:rPr kumimoji="0" lang="en-US" altLang="zh-CN" sz="1600" b="1" i="0"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a:t>
            </a:r>
            <a:r>
              <a:rPr kumimoji="0" lang="en-US" altLang="zh-CN" sz="1600" b="1" i="1" u="none" strike="noStrike" kern="1200" cap="none" spc="0" normalizeH="0" baseline="0" noProof="0">
                <a:ln>
                  <a:noFill/>
                </a:ln>
                <a:solidFill>
                  <a:prstClr val="black">
                    <a:lumMod val="75000"/>
                    <a:lumOff val="25000"/>
                  </a:prstClr>
                </a:solidFill>
                <a:effectLst/>
                <a:uLnTx/>
                <a:uFillTx/>
                <a:latin typeface="Boehringer Forward Head"/>
                <a:ea typeface="OPPOSans M"/>
                <a:cs typeface="+mn-cs"/>
              </a:rPr>
              <a:t> For Endorsement</a:t>
            </a:r>
          </a:p>
        </p:txBody>
      </p:sp>
      <p:sp>
        <p:nvSpPr>
          <p:cNvPr id="13" name="文本框 12">
            <a:extLst>
              <a:ext uri="{FF2B5EF4-FFF2-40B4-BE49-F238E27FC236}">
                <a16:creationId xmlns:a16="http://schemas.microsoft.com/office/drawing/2014/main" id="{EE74D0FF-E456-2432-D436-0A5DE5BC10E4}"/>
              </a:ext>
            </a:extLst>
          </p:cNvPr>
          <p:cNvSpPr txBox="1"/>
          <p:nvPr/>
        </p:nvSpPr>
        <p:spPr>
          <a:xfrm>
            <a:off x="506707" y="1894944"/>
            <a:ext cx="5089618" cy="3234703"/>
          </a:xfrm>
          <a:prstGeom prst="rect">
            <a:avLst/>
          </a:prstGeom>
          <a:noFill/>
        </p:spPr>
        <p:txBody>
          <a:bodyPr wrap="square">
            <a:noAutofit/>
          </a:bodyPr>
          <a:lstStyle/>
          <a:p>
            <a:pPr marL="285750" indent="-285750">
              <a:spcBef>
                <a:spcPts val="600"/>
              </a:spcBef>
              <a:spcAft>
                <a:spcPts val="600"/>
              </a:spcAft>
              <a:buFont typeface="Wingdings" panose="05000000000000000000" pitchFamily="2" charset="2"/>
              <a:buChar char="§"/>
              <a:defRPr/>
            </a:pPr>
            <a:r>
              <a:rPr lang="en-US" altLang="zh-CN" sz="1400" dirty="0">
                <a:solidFill>
                  <a:schemeClr val="tx1">
                    <a:lumMod val="65000"/>
                    <a:lumOff val="35000"/>
                  </a:schemeClr>
                </a:solidFill>
              </a:rPr>
              <a:t>The global strategy involves proceeding directly to a ph3 trial for the </a:t>
            </a:r>
            <a:r>
              <a:rPr lang="en-US" altLang="zh-CN" sz="1400" dirty="0" err="1">
                <a:solidFill>
                  <a:schemeClr val="tx1">
                    <a:lumMod val="65000"/>
                    <a:lumOff val="35000"/>
                  </a:schemeClr>
                </a:solidFill>
              </a:rPr>
              <a:t>SSc</a:t>
            </a:r>
            <a:r>
              <a:rPr lang="en-US" altLang="zh-CN" sz="1400" dirty="0">
                <a:solidFill>
                  <a:schemeClr val="tx1">
                    <a:lumMod val="65000"/>
                    <a:lumOff val="35000"/>
                  </a:schemeClr>
                </a:solidFill>
              </a:rPr>
              <a:t> indication without awaiting results from the ph2b CONQUEST trial, based on encouraging subgroup data for </a:t>
            </a:r>
            <a:r>
              <a:rPr lang="en-US" altLang="zh-CN" sz="1400" dirty="0" err="1">
                <a:solidFill>
                  <a:schemeClr val="tx1">
                    <a:lumMod val="65000"/>
                    <a:lumOff val="35000"/>
                  </a:schemeClr>
                </a:solidFill>
              </a:rPr>
              <a:t>SSc</a:t>
            </a:r>
            <a:r>
              <a:rPr lang="en-US" altLang="zh-CN" sz="1400" dirty="0">
                <a:solidFill>
                  <a:schemeClr val="tx1">
                    <a:lumMod val="65000"/>
                    <a:lumOff val="35000"/>
                  </a:schemeClr>
                </a:solidFill>
              </a:rPr>
              <a:t>-ILD from the FIBRONEER-ILD trial and supportive preclinical evidence.</a:t>
            </a:r>
          </a:p>
          <a:p>
            <a:pPr marL="285750" indent="-285750">
              <a:spcBef>
                <a:spcPts val="600"/>
              </a:spcBef>
              <a:spcAft>
                <a:spcPts val="600"/>
              </a:spcAft>
              <a:buFont typeface="Wingdings" panose="05000000000000000000" pitchFamily="2" charset="2"/>
              <a:buChar char="§"/>
              <a:defRPr/>
            </a:pPr>
            <a:r>
              <a:rPr lang="en-US" altLang="zh-CN" sz="1400" dirty="0">
                <a:solidFill>
                  <a:schemeClr val="tx1">
                    <a:lumMod val="65000"/>
                    <a:lumOff val="35000"/>
                  </a:schemeClr>
                </a:solidFill>
              </a:rPr>
              <a:t>China integration strategy for </a:t>
            </a:r>
            <a:r>
              <a:rPr lang="en-US" altLang="zh-CN" sz="1400" dirty="0" err="1">
                <a:solidFill>
                  <a:schemeClr val="tx1">
                    <a:lumMod val="65000"/>
                    <a:lumOff val="35000"/>
                  </a:schemeClr>
                </a:solidFill>
              </a:rPr>
              <a:t>SSc</a:t>
            </a:r>
            <a:r>
              <a:rPr lang="en-US" altLang="zh-CN" sz="1400" dirty="0">
                <a:solidFill>
                  <a:schemeClr val="tx1">
                    <a:lumMod val="65000"/>
                    <a:lumOff val="35000"/>
                  </a:schemeClr>
                </a:solidFill>
              </a:rPr>
              <a:t> project has been endorsed by CEC in Aug 2025.</a:t>
            </a:r>
          </a:p>
          <a:p>
            <a:pPr marL="285750" indent="-285750">
              <a:spcBef>
                <a:spcPts val="600"/>
              </a:spcBef>
              <a:spcAft>
                <a:spcPts val="600"/>
              </a:spcAft>
              <a:buFont typeface="Wingdings" panose="05000000000000000000" pitchFamily="2" charset="2"/>
              <a:buChar char="§"/>
              <a:defRPr/>
            </a:pPr>
            <a:r>
              <a:rPr lang="en-US" altLang="zh-CN" sz="1400" dirty="0">
                <a:solidFill>
                  <a:schemeClr val="tx1">
                    <a:lumMod val="65000"/>
                    <a:lumOff val="35000"/>
                  </a:schemeClr>
                </a:solidFill>
              </a:rPr>
              <a:t>Pre-CTA HAIs have been conducted in focus countries to gather feedback on the ph3 development plan.</a:t>
            </a:r>
          </a:p>
          <a:p>
            <a:pPr marL="285750" indent="-285750">
              <a:spcBef>
                <a:spcPts val="600"/>
              </a:spcBef>
              <a:spcAft>
                <a:spcPts val="600"/>
              </a:spcAft>
              <a:buFont typeface="Wingdings" panose="05000000000000000000" pitchFamily="2" charset="2"/>
              <a:buChar char="§"/>
              <a:defRPr/>
            </a:pPr>
            <a:r>
              <a:rPr lang="en-US" altLang="zh-CN" sz="1400" dirty="0">
                <a:solidFill>
                  <a:schemeClr val="tx1">
                    <a:lumMod val="65000"/>
                    <a:lumOff val="35000"/>
                  </a:schemeClr>
                </a:solidFill>
              </a:rPr>
              <a:t>Feedback from FDA, CDE and PMDA consistently highlighted that the current data is insufficient for a confirmatory ph3 trial in </a:t>
            </a:r>
            <a:r>
              <a:rPr lang="en-US" altLang="zh-CN" sz="1400" dirty="0" err="1">
                <a:solidFill>
                  <a:schemeClr val="tx1">
                    <a:lumMod val="65000"/>
                    <a:lumOff val="35000"/>
                  </a:schemeClr>
                </a:solidFill>
              </a:rPr>
              <a:t>SSc</a:t>
            </a:r>
            <a:r>
              <a:rPr lang="en-US" altLang="zh-CN" sz="1400" dirty="0">
                <a:solidFill>
                  <a:schemeClr val="tx1">
                    <a:lumMod val="65000"/>
                    <a:lumOff val="35000"/>
                  </a:schemeClr>
                </a:solidFill>
              </a:rPr>
              <a:t>. Risks for the final NDA approval of </a:t>
            </a:r>
            <a:r>
              <a:rPr lang="en-US" altLang="zh-CN" sz="1400" dirty="0" err="1">
                <a:solidFill>
                  <a:schemeClr val="tx1">
                    <a:lumMod val="65000"/>
                    <a:lumOff val="35000"/>
                  </a:schemeClr>
                </a:solidFill>
              </a:rPr>
              <a:t>SSc</a:t>
            </a:r>
            <a:r>
              <a:rPr lang="en-US" altLang="zh-CN" sz="1400" dirty="0">
                <a:solidFill>
                  <a:schemeClr val="tx1">
                    <a:lumMod val="65000"/>
                    <a:lumOff val="35000"/>
                  </a:schemeClr>
                </a:solidFill>
              </a:rPr>
              <a:t> indication were also raised.  </a:t>
            </a:r>
          </a:p>
          <a:p>
            <a:pPr marL="285750" indent="-285750">
              <a:spcBef>
                <a:spcPts val="600"/>
              </a:spcBef>
              <a:spcAft>
                <a:spcPts val="600"/>
              </a:spcAft>
              <a:buFont typeface="Wingdings" panose="05000000000000000000" pitchFamily="2" charset="2"/>
              <a:buChar char="§"/>
              <a:defRPr/>
            </a:pPr>
            <a:r>
              <a:rPr lang="en-US" altLang="zh-CN" sz="1400" dirty="0" err="1">
                <a:solidFill>
                  <a:schemeClr val="tx1">
                    <a:lumMod val="65000"/>
                    <a:lumOff val="35000"/>
                  </a:schemeClr>
                </a:solidFill>
              </a:rPr>
              <a:t>RoFD</a:t>
            </a:r>
            <a:r>
              <a:rPr lang="en-US" altLang="zh-CN" sz="1400" dirty="0">
                <a:solidFill>
                  <a:schemeClr val="tx1">
                    <a:lumMod val="65000"/>
                    <a:lumOff val="35000"/>
                  </a:schemeClr>
                </a:solidFill>
              </a:rPr>
              <a:t> for </a:t>
            </a:r>
            <a:r>
              <a:rPr lang="en-US" altLang="zh-CN" sz="1400" dirty="0" err="1">
                <a:solidFill>
                  <a:schemeClr val="tx1">
                    <a:lumMod val="65000"/>
                    <a:lumOff val="35000"/>
                  </a:schemeClr>
                </a:solidFill>
              </a:rPr>
              <a:t>SSc</a:t>
            </a:r>
            <a:r>
              <a:rPr lang="en-US" altLang="zh-CN" sz="1400" dirty="0">
                <a:solidFill>
                  <a:schemeClr val="tx1">
                    <a:lumMod val="65000"/>
                    <a:lumOff val="35000"/>
                  </a:schemeClr>
                </a:solidFill>
              </a:rPr>
              <a:t> was released by BUEC on Nov 18</a:t>
            </a:r>
            <a:r>
              <a:rPr lang="en-US" altLang="zh-CN" sz="1400" baseline="30000" dirty="0">
                <a:solidFill>
                  <a:schemeClr val="tx1">
                    <a:lumMod val="65000"/>
                    <a:lumOff val="35000"/>
                  </a:schemeClr>
                </a:solidFill>
              </a:rPr>
              <a:t>th</a:t>
            </a:r>
            <a:r>
              <a:rPr lang="en-US" altLang="zh-CN" sz="1400" dirty="0">
                <a:solidFill>
                  <a:schemeClr val="tx1">
                    <a:lumMod val="65000"/>
                    <a:lumOff val="35000"/>
                  </a:schemeClr>
                </a:solidFill>
              </a:rPr>
              <a:t> and ph3 trial in </a:t>
            </a:r>
            <a:r>
              <a:rPr lang="en-US" altLang="zh-CN" sz="1400" dirty="0" err="1">
                <a:solidFill>
                  <a:schemeClr val="tx1">
                    <a:lumMod val="65000"/>
                    <a:lumOff val="35000"/>
                  </a:schemeClr>
                </a:solidFill>
              </a:rPr>
              <a:t>SSc</a:t>
            </a:r>
            <a:r>
              <a:rPr lang="en-US" altLang="zh-CN" sz="1400" dirty="0">
                <a:solidFill>
                  <a:schemeClr val="tx1">
                    <a:lumMod val="65000"/>
                    <a:lumOff val="35000"/>
                  </a:schemeClr>
                </a:solidFill>
              </a:rPr>
              <a:t> will be proceed.</a:t>
            </a:r>
          </a:p>
        </p:txBody>
      </p:sp>
      <p:sp>
        <p:nvSpPr>
          <p:cNvPr id="3" name="Object13">
            <a:extLst>
              <a:ext uri="{FF2B5EF4-FFF2-40B4-BE49-F238E27FC236}">
                <a16:creationId xmlns:a16="http://schemas.microsoft.com/office/drawing/2014/main" id="{83ED1057-69A6-3F8F-8268-ED1DF559A4CE}"/>
              </a:ext>
            </a:extLst>
          </p:cNvPr>
          <p:cNvSpPr/>
          <p:nvPr/>
        </p:nvSpPr>
        <p:spPr>
          <a:xfrm>
            <a:off x="688370" y="512812"/>
            <a:ext cx="2857500" cy="365760"/>
          </a:xfrm>
          <a:prstGeom prst="rect">
            <a:avLst/>
          </a:prstGeom>
          <a:noFill/>
          <a:ln/>
        </p:spPr>
        <p:txBody>
          <a:bodyPr wrap="square" lIns="0" tIns="0" rIns="0" bIns="0" rtlCol="0" anchor="ctr"/>
          <a:lstStyle/>
          <a:p>
            <a:pPr marL="0" marR="0" lvl="0" indent="0" algn="l" defTabSz="731520" rtl="0" eaLnBrk="1" fontAlgn="auto" latinLnBrk="0" hangingPunct="1">
              <a:lnSpc>
                <a:spcPct val="100000"/>
              </a:lnSpc>
              <a:spcBef>
                <a:spcPts val="0"/>
              </a:spcBef>
              <a:spcAft>
                <a:spcPts val="0"/>
              </a:spcAft>
              <a:buClrTx/>
              <a:buSzTx/>
              <a:buFontTx/>
              <a:buNone/>
              <a:tabLst/>
              <a:defRPr/>
            </a:pPr>
            <a:endParaRPr kumimoji="0" lang="en-US" sz="3182" b="0" i="0" u="none" strike="noStrike" kern="1200" cap="none" spc="0" normalizeH="0" baseline="0" noProof="0">
              <a:ln>
                <a:noFill/>
              </a:ln>
              <a:solidFill>
                <a:sysClr val="windowText" lastClr="000000"/>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sp>
        <p:nvSpPr>
          <p:cNvPr id="15" name="Title 1">
            <a:extLst>
              <a:ext uri="{FF2B5EF4-FFF2-40B4-BE49-F238E27FC236}">
                <a16:creationId xmlns:a16="http://schemas.microsoft.com/office/drawing/2014/main" id="{018A4351-50B2-A250-4CF2-62E918AE2C27}"/>
              </a:ext>
            </a:extLst>
          </p:cNvPr>
          <p:cNvSpPr txBox="1">
            <a:spLocks/>
          </p:cNvSpPr>
          <p:nvPr/>
        </p:nvSpPr>
        <p:spPr>
          <a:xfrm>
            <a:off x="422729" y="218712"/>
            <a:ext cx="11609944" cy="720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ct val="100000"/>
              </a:lnSpc>
              <a:spcAft>
                <a:spcPts val="600"/>
              </a:spcAft>
              <a:defRPr/>
            </a:pPr>
            <a:r>
              <a:rPr kumimoji="0" lang="en-US" altLang="zh-CN" sz="1800" b="1" i="1" u="none" strike="noStrike" kern="1200" cap="none" spc="0" normalizeH="0" baseline="0" noProof="0" dirty="0">
                <a:ln>
                  <a:noFill/>
                </a:ln>
                <a:solidFill>
                  <a:prstClr val="black">
                    <a:lumMod val="50000"/>
                    <a:lumOff val="50000"/>
                  </a:prstClr>
                </a:solidFill>
                <a:effectLst/>
                <a:uLnTx/>
                <a:uFillTx/>
                <a:latin typeface="Boehringer Forward Head"/>
                <a:ea typeface="OPPOSans M"/>
                <a:cs typeface="+mj-cs"/>
              </a:rPr>
              <a:t>Executive Summary</a:t>
            </a:r>
            <a:br>
              <a:rPr kumimoji="0" lang="en-US" altLang="zh-CN" sz="2500" b="1" i="0" u="none" strike="noStrike" kern="1200" cap="none" spc="0" normalizeH="0" baseline="0" noProof="0" dirty="0">
                <a:ln>
                  <a:noFill/>
                </a:ln>
                <a:solidFill>
                  <a:prstClr val="black">
                    <a:lumMod val="50000"/>
                    <a:lumOff val="50000"/>
                  </a:prstClr>
                </a:solidFill>
                <a:effectLst/>
                <a:uLnTx/>
                <a:uFillTx/>
                <a:latin typeface="Boehringer Forward Head"/>
                <a:ea typeface="OPPOSans M"/>
                <a:cs typeface="+mj-cs"/>
              </a:rPr>
            </a:br>
            <a:r>
              <a:rPr lang="en-US" altLang="zh-CN" sz="2000" b="1" dirty="0">
                <a:solidFill>
                  <a:srgbClr val="306534"/>
                </a:solidFill>
              </a:rPr>
              <a:t>China development strategy for Nerandomilast </a:t>
            </a:r>
            <a:r>
              <a:rPr lang="en-US" altLang="zh-CN" sz="2000" b="1" dirty="0" err="1">
                <a:solidFill>
                  <a:srgbClr val="306534"/>
                </a:solidFill>
              </a:rPr>
              <a:t>SSc</a:t>
            </a:r>
            <a:r>
              <a:rPr lang="en-US" altLang="zh-CN" sz="2000" b="1" dirty="0">
                <a:solidFill>
                  <a:srgbClr val="306534"/>
                </a:solidFill>
              </a:rPr>
              <a:t> indication</a:t>
            </a:r>
            <a:endParaRPr lang="zh-CN" altLang="en-US" sz="2000" b="1" dirty="0">
              <a:solidFill>
                <a:srgbClr val="306534"/>
              </a:solidFill>
            </a:endParaRPr>
          </a:p>
        </p:txBody>
      </p:sp>
    </p:spTree>
    <p:extLst>
      <p:ext uri="{BB962C8B-B14F-4D97-AF65-F5344CB8AC3E}">
        <p14:creationId xmlns:p14="http://schemas.microsoft.com/office/powerpoint/2010/main" val="3698705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97D55F-9529-9EA4-AEFB-E08E8A0F9D81}"/>
              </a:ext>
            </a:extLst>
          </p:cNvPr>
          <p:cNvSpPr>
            <a:spLocks noGrp="1"/>
          </p:cNvSpPr>
          <p:nvPr>
            <p:ph type="title"/>
          </p:nvPr>
        </p:nvSpPr>
        <p:spPr/>
        <p:txBody>
          <a:bodyPr/>
          <a:lstStyle/>
          <a:p>
            <a:r>
              <a:rPr lang="en-US" altLang="zh-CN"/>
              <a:t>Disease background</a:t>
            </a:r>
            <a:endParaRPr lang="zh-CN" altLang="en-US"/>
          </a:p>
        </p:txBody>
      </p:sp>
      <p:sp>
        <p:nvSpPr>
          <p:cNvPr id="3" name="副标题 2">
            <a:extLst>
              <a:ext uri="{FF2B5EF4-FFF2-40B4-BE49-F238E27FC236}">
                <a16:creationId xmlns:a16="http://schemas.microsoft.com/office/drawing/2014/main" id="{364C4114-8FA2-70B7-EDF2-E0AC832954DD}"/>
              </a:ext>
            </a:extLst>
          </p:cNvPr>
          <p:cNvSpPr>
            <a:spLocks noGrp="1"/>
          </p:cNvSpPr>
          <p:nvPr>
            <p:ph type="subTitle" idx="14"/>
          </p:nvPr>
        </p:nvSpPr>
        <p:spPr/>
        <p:txBody>
          <a:bodyPr/>
          <a:lstStyle/>
          <a:p>
            <a:endParaRPr lang="zh-CN" altLang="en-US"/>
          </a:p>
        </p:txBody>
      </p:sp>
      <p:sp>
        <p:nvSpPr>
          <p:cNvPr id="4" name="灯片编号占位符 3">
            <a:extLst>
              <a:ext uri="{FF2B5EF4-FFF2-40B4-BE49-F238E27FC236}">
                <a16:creationId xmlns:a16="http://schemas.microsoft.com/office/drawing/2014/main" id="{4F13C9BB-C01D-F4D4-B777-5DB220D98660}"/>
              </a:ext>
            </a:extLst>
          </p:cNvPr>
          <p:cNvSpPr>
            <a:spLocks noGrp="1"/>
          </p:cNvSpPr>
          <p:nvPr>
            <p:ph type="sldNum" sz="quarter" idx="16"/>
          </p:nvPr>
        </p:nvSpPr>
        <p:spPr/>
        <p:txBody>
          <a:bodyPr/>
          <a:lstStyle/>
          <a:p>
            <a:fld id="{8FF9B0DE-3FEB-4AA0-B465-B80EF7C1333D}" type="slidenum">
              <a:rPr lang="en-US" smtClean="0"/>
              <a:pPr/>
              <a:t>3</a:t>
            </a:fld>
            <a:endParaRPr lang="en-US"/>
          </a:p>
        </p:txBody>
      </p:sp>
      <p:sp>
        <p:nvSpPr>
          <p:cNvPr id="5" name="页脚占位符 4">
            <a:extLst>
              <a:ext uri="{FF2B5EF4-FFF2-40B4-BE49-F238E27FC236}">
                <a16:creationId xmlns:a16="http://schemas.microsoft.com/office/drawing/2014/main" id="{D5C99A28-1FEC-6F24-FAE4-E183C9025A01}"/>
              </a:ext>
            </a:extLst>
          </p:cNvPr>
          <p:cNvSpPr>
            <a:spLocks noGrp="1"/>
          </p:cNvSpPr>
          <p:nvPr>
            <p:ph type="ftr" sz="quarter" idx="19"/>
          </p:nvPr>
        </p:nvSpPr>
        <p:spPr/>
        <p:txBody>
          <a:bodyPr/>
          <a:lstStyle/>
          <a:p>
            <a:r>
              <a:rPr lang="en-US"/>
              <a:t>Presentation title    |    ONLY FOR INTERNAL USE</a:t>
            </a:r>
          </a:p>
        </p:txBody>
      </p:sp>
    </p:spTree>
    <p:extLst>
      <p:ext uri="{BB962C8B-B14F-4D97-AF65-F5344CB8AC3E}">
        <p14:creationId xmlns:p14="http://schemas.microsoft.com/office/powerpoint/2010/main" val="422059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C6CAAE9-3379-9331-66DB-EA815377D8A0}"/>
              </a:ext>
            </a:extLst>
          </p:cNvPr>
          <p:cNvSpPr>
            <a:spLocks noGrp="1"/>
          </p:cNvSpPr>
          <p:nvPr>
            <p:ph type="title"/>
          </p:nvPr>
        </p:nvSpPr>
        <p:spPr>
          <a:xfrm>
            <a:off x="479424" y="196214"/>
            <a:ext cx="11233151" cy="720000"/>
          </a:xfrm>
        </p:spPr>
        <p:txBody>
          <a:bodyPr/>
          <a:lstStyle/>
          <a:p>
            <a:r>
              <a:rPr lang="en-US" sz="2400" b="1">
                <a:solidFill>
                  <a:srgbClr val="08312A"/>
                </a:solidFill>
                <a:effectLst/>
                <a:latin typeface="Boehringer Forward Head" panose="020B0504030403020204" pitchFamily="2" charset="0"/>
              </a:rPr>
              <a:t>Systemic sclerosis (</a:t>
            </a:r>
            <a:r>
              <a:rPr lang="en-US" sz="2400" b="1" err="1">
                <a:solidFill>
                  <a:srgbClr val="08312A"/>
                </a:solidFill>
                <a:effectLst/>
                <a:latin typeface="Boehringer Forward Head" panose="020B0504030403020204" pitchFamily="2" charset="0"/>
              </a:rPr>
              <a:t>SSc</a:t>
            </a:r>
            <a:r>
              <a:rPr lang="en-US" sz="2400" b="1">
                <a:solidFill>
                  <a:srgbClr val="08312A"/>
                </a:solidFill>
                <a:effectLst/>
                <a:latin typeface="Boehringer Forward Head" panose="020B0504030403020204" pitchFamily="2" charset="0"/>
              </a:rPr>
              <a:t>) is a persistent autoimmune rheumatic disorder affecting multiple organs, with significant unmet needs in therapeutic options.</a:t>
            </a:r>
            <a:endParaRPr lang="en-US" sz="2400"/>
          </a:p>
        </p:txBody>
      </p:sp>
      <p:sp>
        <p:nvSpPr>
          <p:cNvPr id="9" name="Content Placeholder 8">
            <a:extLst>
              <a:ext uri="{FF2B5EF4-FFF2-40B4-BE49-F238E27FC236}">
                <a16:creationId xmlns:a16="http://schemas.microsoft.com/office/drawing/2014/main" id="{740CF214-9C57-F47C-EAF4-FE969DB8E119}"/>
              </a:ext>
            </a:extLst>
          </p:cNvPr>
          <p:cNvSpPr>
            <a:spLocks noGrp="1"/>
          </p:cNvSpPr>
          <p:nvPr>
            <p:ph idx="1"/>
          </p:nvPr>
        </p:nvSpPr>
        <p:spPr>
          <a:xfrm>
            <a:off x="6847444" y="1643674"/>
            <a:ext cx="4865131" cy="2092881"/>
          </a:xfrm>
        </p:spPr>
        <p:txBody>
          <a:bodyPr wrap="square" lIns="72000">
            <a:spAutoFit/>
          </a:bodyPr>
          <a:lstStyle/>
          <a:p>
            <a:pPr lvl="2">
              <a:lnSpc>
                <a:spcPct val="100000"/>
              </a:lnSpc>
            </a:pPr>
            <a:r>
              <a:rPr lang="en-US" sz="1400" dirty="0"/>
              <a:t>The pathogenesis of </a:t>
            </a:r>
            <a:r>
              <a:rPr lang="en-US" sz="1400" dirty="0" err="1"/>
              <a:t>SSc</a:t>
            </a:r>
            <a:r>
              <a:rPr lang="en-US" sz="1400" dirty="0"/>
              <a:t> is characterized by a complex interplay of </a:t>
            </a:r>
            <a:r>
              <a:rPr lang="en-US" sz="1400" b="1" dirty="0"/>
              <a:t>vasculopathy, immune dysregulation and progressive fibrosis</a:t>
            </a:r>
            <a:r>
              <a:rPr lang="en-US" sz="1400" baseline="30000" dirty="0"/>
              <a:t>1–4</a:t>
            </a:r>
          </a:p>
          <a:p>
            <a:pPr lvl="2">
              <a:lnSpc>
                <a:spcPct val="100000"/>
              </a:lnSpc>
            </a:pPr>
            <a:r>
              <a:rPr lang="en-US" sz="1400" dirty="0" err="1"/>
              <a:t>SSc</a:t>
            </a:r>
            <a:r>
              <a:rPr lang="en-US" sz="1400" dirty="0"/>
              <a:t> is </a:t>
            </a:r>
            <a:r>
              <a:rPr lang="en-US" sz="1400" b="1" dirty="0"/>
              <a:t>clinically heterogeneous </a:t>
            </a:r>
            <a:r>
              <a:rPr lang="en-US" sz="1400" dirty="0"/>
              <a:t>and can affect the skin and several internal organs</a:t>
            </a:r>
            <a:r>
              <a:rPr lang="en-US" sz="1400" baseline="30000" dirty="0"/>
              <a:t>1,4,5</a:t>
            </a:r>
          </a:p>
          <a:p>
            <a:pPr lvl="2">
              <a:lnSpc>
                <a:spcPct val="100000"/>
              </a:lnSpc>
            </a:pPr>
            <a:r>
              <a:rPr lang="en-US" altLang="zh-CN" sz="1400" b="1" dirty="0"/>
              <a:t>ILD</a:t>
            </a:r>
            <a:r>
              <a:rPr lang="en-US" altLang="zh-CN" sz="1400" dirty="0"/>
              <a:t> is the most common and the leading cause of mortality among complications in patients with </a:t>
            </a:r>
            <a:r>
              <a:rPr lang="en-US" altLang="zh-CN" sz="1400" dirty="0" err="1"/>
              <a:t>SSc</a:t>
            </a:r>
            <a:r>
              <a:rPr lang="en-US" altLang="zh-CN" sz="1400" dirty="0"/>
              <a:t>. Globally, the prevalence of ILD in </a:t>
            </a:r>
            <a:r>
              <a:rPr lang="en-US" altLang="zh-CN" sz="1400" dirty="0" err="1"/>
              <a:t>SSc</a:t>
            </a:r>
            <a:r>
              <a:rPr lang="en-US" altLang="zh-CN" sz="1400" dirty="0"/>
              <a:t> patients is </a:t>
            </a:r>
            <a:r>
              <a:rPr lang="en-US" altLang="zh-CN" sz="1400" b="1" dirty="0"/>
              <a:t>50%-80%</a:t>
            </a:r>
            <a:r>
              <a:rPr lang="en-US" altLang="zh-CN" sz="1400" baseline="30000" dirty="0"/>
              <a:t>6</a:t>
            </a:r>
            <a:r>
              <a:rPr lang="en-US" altLang="zh-CN" sz="1400" dirty="0"/>
              <a:t>.</a:t>
            </a:r>
            <a:endParaRPr lang="en-US" sz="1400" dirty="0"/>
          </a:p>
        </p:txBody>
      </p:sp>
      <p:sp>
        <p:nvSpPr>
          <p:cNvPr id="64" name="Text Placeholder 63">
            <a:extLst>
              <a:ext uri="{FF2B5EF4-FFF2-40B4-BE49-F238E27FC236}">
                <a16:creationId xmlns:a16="http://schemas.microsoft.com/office/drawing/2014/main" id="{9BADFD64-8130-4E50-1F82-B75F1C8D0709}"/>
              </a:ext>
            </a:extLst>
          </p:cNvPr>
          <p:cNvSpPr>
            <a:spLocks noGrp="1"/>
          </p:cNvSpPr>
          <p:nvPr>
            <p:ph type="body" sz="quarter" idx="4294967295"/>
          </p:nvPr>
        </p:nvSpPr>
        <p:spPr>
          <a:xfrm>
            <a:off x="2040467" y="6150555"/>
            <a:ext cx="9384125" cy="524340"/>
          </a:xfrm>
        </p:spPr>
        <p:txBody>
          <a:bodyPr anchor="b" anchorCtr="0"/>
          <a:lstStyle/>
          <a:p>
            <a:pPr marL="0" indent="0">
              <a:lnSpc>
                <a:spcPct val="100000"/>
              </a:lnSpc>
              <a:spcAft>
                <a:spcPts val="0"/>
              </a:spcAft>
              <a:buNone/>
            </a:pPr>
            <a:r>
              <a:rPr lang="en-GB" sz="700"/>
              <a:t>GI, gastrointestinal; ILD, interstitial lung disease; PAH, pulmonary arterial hypertension; RP, Raynaud's phenomenon; </a:t>
            </a:r>
            <a:r>
              <a:rPr lang="en-GB" sz="700" err="1"/>
              <a:t>SSc</a:t>
            </a:r>
            <a:r>
              <a:rPr lang="en-GB" sz="700"/>
              <a:t>, systemic sclerosis</a:t>
            </a:r>
            <a:br>
              <a:rPr lang="en-GB" sz="700"/>
            </a:br>
            <a:r>
              <a:rPr lang="en-GB" sz="700"/>
              <a:t>1. </a:t>
            </a:r>
            <a:r>
              <a:rPr lang="en-GB" sz="700" err="1"/>
              <a:t>Allanore</a:t>
            </a:r>
            <a:r>
              <a:rPr lang="en-GB" sz="700"/>
              <a:t> Y</a:t>
            </a:r>
            <a:r>
              <a:rPr lang="en-GB" sz="700" i="1"/>
              <a:t> et al. Nat Rev Dis Primers </a:t>
            </a:r>
            <a:r>
              <a:rPr lang="en-GB" sz="700"/>
              <a:t>2015;1:15002; 2. </a:t>
            </a:r>
            <a:r>
              <a:rPr lang="en-GB" sz="700" err="1"/>
              <a:t>Matucci-Cerinic</a:t>
            </a:r>
            <a:r>
              <a:rPr lang="en-GB" sz="700"/>
              <a:t> M </a:t>
            </a:r>
            <a:r>
              <a:rPr lang="en-GB" sz="700" i="1"/>
              <a:t>et al. Arthritis Rheum </a:t>
            </a:r>
            <a:r>
              <a:rPr lang="en-GB" sz="700"/>
              <a:t>2013;65:1953–62; 3. </a:t>
            </a:r>
            <a:r>
              <a:rPr lang="en-GB" sz="700" err="1"/>
              <a:t>Roofeh</a:t>
            </a:r>
            <a:r>
              <a:rPr lang="en-GB" sz="700"/>
              <a:t> D </a:t>
            </a:r>
            <a:r>
              <a:rPr lang="en-GB" sz="700" i="1"/>
              <a:t>et al. Expert </a:t>
            </a:r>
            <a:r>
              <a:rPr lang="en-GB" sz="700" i="1" err="1"/>
              <a:t>Opin</a:t>
            </a:r>
            <a:r>
              <a:rPr lang="en-GB" sz="700" i="1"/>
              <a:t> Emerg Drugs </a:t>
            </a:r>
            <a:r>
              <a:rPr lang="en-GB" sz="700"/>
              <a:t>2020;25:455–66; </a:t>
            </a:r>
            <a:br>
              <a:rPr lang="en-GB" sz="700"/>
            </a:br>
            <a:r>
              <a:rPr lang="en-GB" sz="700"/>
              <a:t>4. </a:t>
            </a:r>
            <a:r>
              <a:rPr lang="en-US" sz="700"/>
              <a:t>Hughes M </a:t>
            </a:r>
            <a:r>
              <a:rPr lang="en-US" sz="700" i="1"/>
              <a:t>et al. </a:t>
            </a:r>
            <a:r>
              <a:rPr lang="en-US" sz="700" i="1" err="1"/>
              <a:t>Eur</a:t>
            </a:r>
            <a:r>
              <a:rPr lang="en-US" sz="700" i="1"/>
              <a:t> J </a:t>
            </a:r>
            <a:r>
              <a:rPr lang="en-US" sz="700" i="1" err="1"/>
              <a:t>Rheumatol</a:t>
            </a:r>
            <a:r>
              <a:rPr lang="en-US" sz="700" i="1"/>
              <a:t> </a:t>
            </a:r>
            <a:r>
              <a:rPr lang="en-US" sz="700"/>
              <a:t>2020;7:100–9; 5. Denton CP </a:t>
            </a:r>
            <a:r>
              <a:rPr lang="en-US" sz="700" i="1"/>
              <a:t>et al. Lancet </a:t>
            </a:r>
            <a:r>
              <a:rPr lang="en-US" sz="700"/>
              <a:t>2017;390:1685–99. 6. </a:t>
            </a:r>
            <a:r>
              <a:rPr lang="da-DK" altLang="zh-CN" sz="700"/>
              <a:t>Perelas A, et al</a:t>
            </a:r>
            <a:r>
              <a:rPr lang="da-DK" altLang="zh-CN" sz="700" i="1"/>
              <a:t>. Lancet Respir Med. </a:t>
            </a:r>
            <a:r>
              <a:rPr lang="da-DK" altLang="zh-CN" sz="700"/>
              <a:t>2020;8(3):304-320</a:t>
            </a:r>
            <a:r>
              <a:rPr lang="da-DK" altLang="zh-CN" sz="700" i="1"/>
              <a:t>; 7. </a:t>
            </a:r>
            <a:r>
              <a:rPr lang="en-GB" altLang="zh-CN" sz="700" i="1"/>
              <a:t>Vol</a:t>
            </a:r>
            <a:r>
              <a:rPr lang="en-GB" altLang="zh-CN" sz="700"/>
              <a:t>kmann ER </a:t>
            </a:r>
            <a:r>
              <a:rPr lang="en-GB" altLang="zh-CN" sz="700" i="1"/>
              <a:t>et al. Lancet </a:t>
            </a:r>
            <a:r>
              <a:rPr lang="en-GB" altLang="zh-CN" sz="700"/>
              <a:t>2023;401:304–18;  8.. </a:t>
            </a:r>
            <a:r>
              <a:rPr lang="en-GB" altLang="zh-CN" sz="700" err="1"/>
              <a:t>Liakouli</a:t>
            </a:r>
            <a:r>
              <a:rPr lang="en-GB" altLang="zh-CN" sz="700"/>
              <a:t> V </a:t>
            </a:r>
            <a:r>
              <a:rPr lang="en-GB" altLang="zh-CN" sz="700" i="1"/>
              <a:t>et al. Nat Rev </a:t>
            </a:r>
            <a:r>
              <a:rPr lang="en-GB" altLang="zh-CN" sz="700" i="1" err="1"/>
              <a:t>Rheumatol</a:t>
            </a:r>
            <a:r>
              <a:rPr lang="en-GB" altLang="zh-CN" sz="700"/>
              <a:t> 2024;20:21–32</a:t>
            </a:r>
            <a:endParaRPr lang="en-GB" sz="700"/>
          </a:p>
        </p:txBody>
      </p:sp>
      <p:sp>
        <p:nvSpPr>
          <p:cNvPr id="5" name="Foliennummernplatzhalter 8">
            <a:extLst>
              <a:ext uri="{FF2B5EF4-FFF2-40B4-BE49-F238E27FC236}">
                <a16:creationId xmlns:a16="http://schemas.microsoft.com/office/drawing/2014/main" id="{06F876C2-BAC4-22DD-CCC1-58FC92C6E979}"/>
              </a:ext>
            </a:extLst>
          </p:cNvPr>
          <p:cNvSpPr txBox="1">
            <a:spLocks/>
          </p:cNvSpPr>
          <p:nvPr/>
        </p:nvSpPr>
        <p:spPr bwMode="gray">
          <a:xfrm>
            <a:off x="11424592" y="6246836"/>
            <a:ext cx="288000" cy="288000"/>
          </a:xfrm>
          <a:prstGeom prst="rect">
            <a:avLst/>
          </a:prstGeom>
        </p:spPr>
        <p:txBody>
          <a:bodyPr lIns="0" tIns="0" rIns="0" bIns="0"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prstClr val="black"/>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13" name="Grafik 18">
            <a:extLst>
              <a:ext uri="{FF2B5EF4-FFF2-40B4-BE49-F238E27FC236}">
                <a16:creationId xmlns:a16="http://schemas.microsoft.com/office/drawing/2014/main" id="{4801D279-065E-7477-1332-C7BF3BCD69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rot="16200000">
            <a:off x="6672523" y="1443650"/>
            <a:ext cx="576000" cy="645686"/>
          </a:xfrm>
          <a:prstGeom prst="rect">
            <a:avLst/>
          </a:prstGeom>
        </p:spPr>
      </p:pic>
      <p:sp>
        <p:nvSpPr>
          <p:cNvPr id="229" name="Rectangle 228">
            <a:extLst>
              <a:ext uri="{FF2B5EF4-FFF2-40B4-BE49-F238E27FC236}">
                <a16:creationId xmlns:a16="http://schemas.microsoft.com/office/drawing/2014/main" id="{1DF939C7-DC3D-0675-C870-ADB59D5850EB}"/>
              </a:ext>
            </a:extLst>
          </p:cNvPr>
          <p:cNvSpPr/>
          <p:nvPr/>
        </p:nvSpPr>
        <p:spPr>
          <a:xfrm>
            <a:off x="1874876" y="1264684"/>
            <a:ext cx="2902985" cy="4422490"/>
          </a:xfrm>
          <a:prstGeom prst="rect">
            <a:avLst/>
          </a:prstGeom>
          <a:noFill/>
          <a:ln w="190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pic>
        <p:nvPicPr>
          <p:cNvPr id="230" name="Graphic 229">
            <a:extLst>
              <a:ext uri="{FF2B5EF4-FFF2-40B4-BE49-F238E27FC236}">
                <a16:creationId xmlns:a16="http://schemas.microsoft.com/office/drawing/2014/main" id="{624CBB3B-5AB6-7839-0515-A9BF294AA3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35713" y="1630501"/>
            <a:ext cx="1786396" cy="4174948"/>
          </a:xfrm>
          <a:prstGeom prst="rect">
            <a:avLst/>
          </a:prstGeom>
        </p:spPr>
      </p:pic>
      <p:sp>
        <p:nvSpPr>
          <p:cNvPr id="231" name="TextBox 230">
            <a:extLst>
              <a:ext uri="{FF2B5EF4-FFF2-40B4-BE49-F238E27FC236}">
                <a16:creationId xmlns:a16="http://schemas.microsoft.com/office/drawing/2014/main" id="{5911DBB7-F88A-30AB-5A43-B407D65E94D9}"/>
              </a:ext>
            </a:extLst>
          </p:cNvPr>
          <p:cNvSpPr txBox="1"/>
          <p:nvPr/>
        </p:nvSpPr>
        <p:spPr>
          <a:xfrm>
            <a:off x="154819" y="1727523"/>
            <a:ext cx="1277057" cy="461665"/>
          </a:xfrm>
          <a:prstGeom prst="rect">
            <a:avLst/>
          </a:prstGeom>
          <a:noFill/>
        </p:spPr>
        <p:txBody>
          <a:bodyPr wrap="square">
            <a:spAutoFit/>
          </a:bodyPr>
          <a:lstStyle/>
          <a:p>
            <a:pPr marL="0" marR="0" lvl="0" indent="0" algn="r" defTabSz="121917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Hand swelling and puffiness</a:t>
            </a:r>
          </a:p>
        </p:txBody>
      </p:sp>
      <p:sp>
        <p:nvSpPr>
          <p:cNvPr id="232" name="TextBox 231">
            <a:extLst>
              <a:ext uri="{FF2B5EF4-FFF2-40B4-BE49-F238E27FC236}">
                <a16:creationId xmlns:a16="http://schemas.microsoft.com/office/drawing/2014/main" id="{0746955D-CE47-28F0-C035-92277435FBA9}"/>
              </a:ext>
            </a:extLst>
          </p:cNvPr>
          <p:cNvSpPr txBox="1"/>
          <p:nvPr/>
        </p:nvSpPr>
        <p:spPr>
          <a:xfrm>
            <a:off x="292461" y="4862642"/>
            <a:ext cx="1139415" cy="461665"/>
          </a:xfrm>
          <a:prstGeom prst="rect">
            <a:avLst/>
          </a:prstGeom>
          <a:noFill/>
        </p:spPr>
        <p:txBody>
          <a:bodyPr wrap="square">
            <a:spAutoFit/>
          </a:bodyPr>
          <a:lstStyle/>
          <a:p>
            <a:pPr marL="0" marR="0" lvl="0" indent="0" algn="r" defTabSz="121917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Raynaud’s phenomenon</a:t>
            </a:r>
          </a:p>
        </p:txBody>
      </p:sp>
      <p:grpSp>
        <p:nvGrpSpPr>
          <p:cNvPr id="233" name="Group 232">
            <a:extLst>
              <a:ext uri="{FF2B5EF4-FFF2-40B4-BE49-F238E27FC236}">
                <a16:creationId xmlns:a16="http://schemas.microsoft.com/office/drawing/2014/main" id="{32F9A3F5-4476-69A1-F742-6936663C644C}"/>
              </a:ext>
            </a:extLst>
          </p:cNvPr>
          <p:cNvGrpSpPr/>
          <p:nvPr/>
        </p:nvGrpSpPr>
        <p:grpSpPr>
          <a:xfrm>
            <a:off x="4445669" y="3707262"/>
            <a:ext cx="2401776" cy="668004"/>
            <a:chOff x="9529541" y="2843444"/>
            <a:chExt cx="2584966" cy="718955"/>
          </a:xfrm>
        </p:grpSpPr>
        <p:sp>
          <p:nvSpPr>
            <p:cNvPr id="234" name="TextBox 233">
              <a:extLst>
                <a:ext uri="{FF2B5EF4-FFF2-40B4-BE49-F238E27FC236}">
                  <a16:creationId xmlns:a16="http://schemas.microsoft.com/office/drawing/2014/main" id="{CED9C8CD-6F87-8323-C2CE-71D930217E21}"/>
                </a:ext>
              </a:extLst>
            </p:cNvPr>
            <p:cNvSpPr txBox="1"/>
            <p:nvPr/>
          </p:nvSpPr>
          <p:spPr>
            <a:xfrm>
              <a:off x="10357435" y="2976939"/>
              <a:ext cx="1757072" cy="496878"/>
            </a:xfrm>
            <a:prstGeom prst="rect">
              <a:avLst/>
            </a:prstGeom>
            <a:noFill/>
          </p:spPr>
          <p:txBody>
            <a:bodyPr wrap="square">
              <a:spAutoFit/>
            </a:bodyPr>
            <a:lstStyle/>
            <a:p>
              <a:pPr marL="0" marR="0" lvl="0" indent="0" algn="l" defTabSz="121917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Skin thickening </a:t>
              </a:r>
              <a:br>
                <a:rPr kumimoji="0" lang="en-US" sz="1200" b="0" i="0" u="none" strike="noStrike" kern="1200" cap="none" spc="0" normalizeH="0" baseline="0" noProof="0">
                  <a:ln>
                    <a:noFill/>
                  </a:ln>
                  <a:solidFill>
                    <a:srgbClr val="000000"/>
                  </a:solidFill>
                  <a:effectLst/>
                  <a:uLnTx/>
                  <a:uFillTx/>
                  <a:latin typeface="Boehringer Forward Text"/>
                  <a:ea typeface="+mn-ea"/>
                  <a:cs typeface="+mn-cs"/>
                </a:rPr>
              </a:b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and color changes</a:t>
              </a:r>
            </a:p>
          </p:txBody>
        </p:sp>
        <p:sp>
          <p:nvSpPr>
            <p:cNvPr id="241" name="Oval 240">
              <a:extLst>
                <a:ext uri="{FF2B5EF4-FFF2-40B4-BE49-F238E27FC236}">
                  <a16:creationId xmlns:a16="http://schemas.microsoft.com/office/drawing/2014/main" id="{91D461B3-01EA-E2BC-BEB5-89D12F43AF79}"/>
                </a:ext>
              </a:extLst>
            </p:cNvPr>
            <p:cNvSpPr/>
            <p:nvPr/>
          </p:nvSpPr>
          <p:spPr>
            <a:xfrm>
              <a:off x="9529541" y="2843444"/>
              <a:ext cx="718954" cy="718955"/>
            </a:xfrm>
            <a:prstGeom prst="ellipse">
              <a:avLst/>
            </a:prstGeom>
            <a:solidFill>
              <a:schemeClr val="accent2"/>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grpSp>
      <p:grpSp>
        <p:nvGrpSpPr>
          <p:cNvPr id="242" name="Group 241">
            <a:extLst>
              <a:ext uri="{FF2B5EF4-FFF2-40B4-BE49-F238E27FC236}">
                <a16:creationId xmlns:a16="http://schemas.microsoft.com/office/drawing/2014/main" id="{0FFD12B1-23EF-D075-A309-C2683A131549}"/>
              </a:ext>
            </a:extLst>
          </p:cNvPr>
          <p:cNvGrpSpPr/>
          <p:nvPr/>
        </p:nvGrpSpPr>
        <p:grpSpPr>
          <a:xfrm>
            <a:off x="4444895" y="1605805"/>
            <a:ext cx="1826534" cy="672384"/>
            <a:chOff x="9528707" y="1729757"/>
            <a:chExt cx="1965849" cy="723669"/>
          </a:xfrm>
        </p:grpSpPr>
        <p:sp>
          <p:nvSpPr>
            <p:cNvPr id="243" name="TextBox 242">
              <a:extLst>
                <a:ext uri="{FF2B5EF4-FFF2-40B4-BE49-F238E27FC236}">
                  <a16:creationId xmlns:a16="http://schemas.microsoft.com/office/drawing/2014/main" id="{667B46A8-C149-2AC5-9B57-BFD8244224E9}"/>
                </a:ext>
              </a:extLst>
            </p:cNvPr>
            <p:cNvSpPr txBox="1"/>
            <p:nvPr/>
          </p:nvSpPr>
          <p:spPr>
            <a:xfrm>
              <a:off x="10357434" y="1859716"/>
              <a:ext cx="1137122" cy="496878"/>
            </a:xfrm>
            <a:prstGeom prst="rect">
              <a:avLst/>
            </a:prstGeom>
            <a:noFill/>
          </p:spPr>
          <p:txBody>
            <a:bodyPr wrap="square">
              <a:spAutoFit/>
            </a:bodyPr>
            <a:lstStyle/>
            <a:p>
              <a:pPr marL="0" marR="0" lvl="0" indent="0" algn="l" defTabSz="121917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Muscle and joint pain</a:t>
              </a:r>
            </a:p>
          </p:txBody>
        </p:sp>
        <p:sp>
          <p:nvSpPr>
            <p:cNvPr id="249" name="Oval 248">
              <a:extLst>
                <a:ext uri="{FF2B5EF4-FFF2-40B4-BE49-F238E27FC236}">
                  <a16:creationId xmlns:a16="http://schemas.microsoft.com/office/drawing/2014/main" id="{DB0AECDE-E44E-0DBE-F5B5-1F5D3673CAA4}"/>
                </a:ext>
              </a:extLst>
            </p:cNvPr>
            <p:cNvSpPr/>
            <p:nvPr/>
          </p:nvSpPr>
          <p:spPr>
            <a:xfrm>
              <a:off x="9528707" y="1729757"/>
              <a:ext cx="723669" cy="723669"/>
            </a:xfrm>
            <a:prstGeom prst="ellipse">
              <a:avLst/>
            </a:prstGeom>
            <a:solidFill>
              <a:srgbClr val="E18600"/>
            </a:solidFill>
            <a:ln w="50800">
              <a:solidFill>
                <a:srgbClr val="E186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grpSp>
      <p:sp>
        <p:nvSpPr>
          <p:cNvPr id="251" name="TextBox 250">
            <a:extLst>
              <a:ext uri="{FF2B5EF4-FFF2-40B4-BE49-F238E27FC236}">
                <a16:creationId xmlns:a16="http://schemas.microsoft.com/office/drawing/2014/main" id="{EA0C810C-7045-64EE-DBB9-7EBB43A6ED27}"/>
              </a:ext>
            </a:extLst>
          </p:cNvPr>
          <p:cNvSpPr txBox="1"/>
          <p:nvPr/>
        </p:nvSpPr>
        <p:spPr>
          <a:xfrm>
            <a:off x="177565" y="2851509"/>
            <a:ext cx="1254312" cy="276999"/>
          </a:xfrm>
          <a:prstGeom prst="rect">
            <a:avLst/>
          </a:prstGeom>
          <a:noFill/>
        </p:spPr>
        <p:txBody>
          <a:bodyPr wrap="square">
            <a:spAutoFit/>
          </a:bodyPr>
          <a:lstStyle/>
          <a:p>
            <a:pPr marL="0" marR="0" lvl="0" indent="0" algn="r" defTabSz="121917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Calcinosis</a:t>
            </a:r>
          </a:p>
        </p:txBody>
      </p:sp>
      <p:sp>
        <p:nvSpPr>
          <p:cNvPr id="258" name="Oval 257">
            <a:extLst>
              <a:ext uri="{FF2B5EF4-FFF2-40B4-BE49-F238E27FC236}">
                <a16:creationId xmlns:a16="http://schemas.microsoft.com/office/drawing/2014/main" id="{32FE7708-9B26-E827-5E29-EFDAC03E64D7}"/>
              </a:ext>
            </a:extLst>
          </p:cNvPr>
          <p:cNvSpPr/>
          <p:nvPr/>
        </p:nvSpPr>
        <p:spPr>
          <a:xfrm>
            <a:off x="1538059" y="2656006"/>
            <a:ext cx="668004" cy="668004"/>
          </a:xfrm>
          <a:prstGeom prst="ellipse">
            <a:avLst/>
          </a:prstGeom>
          <a:solidFill>
            <a:srgbClr val="A3E5EE"/>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59" name="TextBox 258">
            <a:extLst>
              <a:ext uri="{FF2B5EF4-FFF2-40B4-BE49-F238E27FC236}">
                <a16:creationId xmlns:a16="http://schemas.microsoft.com/office/drawing/2014/main" id="{3655B118-D169-54F4-9550-49F465702468}"/>
              </a:ext>
            </a:extLst>
          </p:cNvPr>
          <p:cNvSpPr txBox="1"/>
          <p:nvPr/>
        </p:nvSpPr>
        <p:spPr>
          <a:xfrm>
            <a:off x="2200074" y="1084289"/>
            <a:ext cx="2244821" cy="430887"/>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8312A"/>
                </a:solidFill>
                <a:effectLst/>
                <a:uLnTx/>
                <a:uFillTx/>
                <a:latin typeface="Boehringer Forward Text"/>
                <a:ea typeface="+mn-ea"/>
                <a:cs typeface="+mn-cs"/>
              </a:rPr>
              <a:t>Common manifestations of SSc</a:t>
            </a:r>
            <a:r>
              <a:rPr kumimoji="0" lang="en-US" sz="1400" b="1" i="0" u="none" strike="noStrike" kern="1200" cap="none" spc="0" normalizeH="0" baseline="30000" noProof="0">
                <a:ln>
                  <a:noFill/>
                </a:ln>
                <a:solidFill>
                  <a:srgbClr val="08312A"/>
                </a:solidFill>
                <a:effectLst/>
                <a:uLnTx/>
                <a:uFillTx/>
                <a:latin typeface="Boehringer Forward Text"/>
                <a:ea typeface="+mn-ea"/>
                <a:cs typeface="+mn-cs"/>
              </a:rPr>
              <a:t>1,4,5</a:t>
            </a:r>
          </a:p>
        </p:txBody>
      </p:sp>
      <p:sp>
        <p:nvSpPr>
          <p:cNvPr id="260" name="Oval 259">
            <a:extLst>
              <a:ext uri="{FF2B5EF4-FFF2-40B4-BE49-F238E27FC236}">
                <a16:creationId xmlns:a16="http://schemas.microsoft.com/office/drawing/2014/main" id="{0FB7EB93-61C8-CD1C-2E99-4E52DBA84FE1}"/>
              </a:ext>
            </a:extLst>
          </p:cNvPr>
          <p:cNvSpPr/>
          <p:nvPr/>
        </p:nvSpPr>
        <p:spPr>
          <a:xfrm>
            <a:off x="3276196" y="3404754"/>
            <a:ext cx="100346" cy="100346"/>
          </a:xfrm>
          <a:prstGeom prst="ellipse">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1" name="Oval 260">
            <a:extLst>
              <a:ext uri="{FF2B5EF4-FFF2-40B4-BE49-F238E27FC236}">
                <a16:creationId xmlns:a16="http://schemas.microsoft.com/office/drawing/2014/main" id="{B0FF7A81-5850-83D1-D887-336B4F8FBB23}"/>
              </a:ext>
            </a:extLst>
          </p:cNvPr>
          <p:cNvSpPr/>
          <p:nvPr/>
        </p:nvSpPr>
        <p:spPr>
          <a:xfrm>
            <a:off x="2495270" y="3725967"/>
            <a:ext cx="100346" cy="100346"/>
          </a:xfrm>
          <a:prstGeom prst="ellipse">
            <a:avLst/>
          </a:prstGeom>
          <a:solidFill>
            <a:srgbClr val="8625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2" name="Oval 261">
            <a:extLst>
              <a:ext uri="{FF2B5EF4-FFF2-40B4-BE49-F238E27FC236}">
                <a16:creationId xmlns:a16="http://schemas.microsoft.com/office/drawing/2014/main" id="{EEFAF3D7-D5AF-F838-49EA-FCB9D8A24506}"/>
              </a:ext>
            </a:extLst>
          </p:cNvPr>
          <p:cNvSpPr/>
          <p:nvPr/>
        </p:nvSpPr>
        <p:spPr>
          <a:xfrm>
            <a:off x="2595616" y="3754702"/>
            <a:ext cx="100346" cy="100346"/>
          </a:xfrm>
          <a:prstGeom prst="ellipse">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3" name="Oval 262">
            <a:extLst>
              <a:ext uri="{FF2B5EF4-FFF2-40B4-BE49-F238E27FC236}">
                <a16:creationId xmlns:a16="http://schemas.microsoft.com/office/drawing/2014/main" id="{FEBD6D17-087F-02A0-A4C6-91269BCD5056}"/>
              </a:ext>
            </a:extLst>
          </p:cNvPr>
          <p:cNvSpPr/>
          <p:nvPr/>
        </p:nvSpPr>
        <p:spPr>
          <a:xfrm>
            <a:off x="3427074" y="4874131"/>
            <a:ext cx="100346" cy="100346"/>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4" name="Oval 263">
            <a:extLst>
              <a:ext uri="{FF2B5EF4-FFF2-40B4-BE49-F238E27FC236}">
                <a16:creationId xmlns:a16="http://schemas.microsoft.com/office/drawing/2014/main" id="{38A2E209-88F1-2FAA-A32C-0CFBEC1620F0}"/>
              </a:ext>
            </a:extLst>
          </p:cNvPr>
          <p:cNvSpPr/>
          <p:nvPr/>
        </p:nvSpPr>
        <p:spPr>
          <a:xfrm>
            <a:off x="4008824" y="3768478"/>
            <a:ext cx="100346" cy="100346"/>
          </a:xfrm>
          <a:prstGeom prst="ellipse">
            <a:avLst/>
          </a:prstGeom>
          <a:solidFill>
            <a:srgbClr val="076D7E"/>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5" name="Oval 264">
            <a:extLst>
              <a:ext uri="{FF2B5EF4-FFF2-40B4-BE49-F238E27FC236}">
                <a16:creationId xmlns:a16="http://schemas.microsoft.com/office/drawing/2014/main" id="{38E7A481-2CFA-C780-755B-F3D38EB2D4F9}"/>
              </a:ext>
            </a:extLst>
          </p:cNvPr>
          <p:cNvSpPr/>
          <p:nvPr/>
        </p:nvSpPr>
        <p:spPr>
          <a:xfrm>
            <a:off x="3078774" y="4022868"/>
            <a:ext cx="100346" cy="100346"/>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6" name="Oval 265">
            <a:extLst>
              <a:ext uri="{FF2B5EF4-FFF2-40B4-BE49-F238E27FC236}">
                <a16:creationId xmlns:a16="http://schemas.microsoft.com/office/drawing/2014/main" id="{C17F2437-4729-511D-6B50-ED5FD9214B94}"/>
              </a:ext>
            </a:extLst>
          </p:cNvPr>
          <p:cNvSpPr/>
          <p:nvPr/>
        </p:nvSpPr>
        <p:spPr>
          <a:xfrm>
            <a:off x="3425887" y="5623646"/>
            <a:ext cx="100346" cy="100346"/>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7" name="Oval 266">
            <a:extLst>
              <a:ext uri="{FF2B5EF4-FFF2-40B4-BE49-F238E27FC236}">
                <a16:creationId xmlns:a16="http://schemas.microsoft.com/office/drawing/2014/main" id="{0D18A4DD-74E2-317C-3B5C-A0DBEB27642D}"/>
              </a:ext>
            </a:extLst>
          </p:cNvPr>
          <p:cNvSpPr/>
          <p:nvPr/>
        </p:nvSpPr>
        <p:spPr>
          <a:xfrm>
            <a:off x="3728993" y="2850103"/>
            <a:ext cx="100346" cy="100346"/>
          </a:xfrm>
          <a:prstGeom prst="ellipse">
            <a:avLst/>
          </a:prstGeom>
          <a:solidFill>
            <a:srgbClr val="E186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68" name="Oval 267">
            <a:extLst>
              <a:ext uri="{FF2B5EF4-FFF2-40B4-BE49-F238E27FC236}">
                <a16:creationId xmlns:a16="http://schemas.microsoft.com/office/drawing/2014/main" id="{AB56E7D0-122E-CBF4-947A-0F23112C1919}"/>
              </a:ext>
            </a:extLst>
          </p:cNvPr>
          <p:cNvSpPr/>
          <p:nvPr/>
        </p:nvSpPr>
        <p:spPr>
          <a:xfrm>
            <a:off x="3114265" y="4604812"/>
            <a:ext cx="100346" cy="100346"/>
          </a:xfrm>
          <a:prstGeom prst="ellipse">
            <a:avLst/>
          </a:prstGeom>
          <a:solidFill>
            <a:srgbClr val="E186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71" name="Oval 270">
            <a:extLst>
              <a:ext uri="{FF2B5EF4-FFF2-40B4-BE49-F238E27FC236}">
                <a16:creationId xmlns:a16="http://schemas.microsoft.com/office/drawing/2014/main" id="{5C20807B-94AD-53BA-D714-4457AA54BA6B}"/>
              </a:ext>
            </a:extLst>
          </p:cNvPr>
          <p:cNvSpPr/>
          <p:nvPr/>
        </p:nvSpPr>
        <p:spPr>
          <a:xfrm>
            <a:off x="1532070" y="4737983"/>
            <a:ext cx="668004" cy="668004"/>
          </a:xfrm>
          <a:prstGeom prst="ellipse">
            <a:avLst/>
          </a:prstGeom>
          <a:solidFill>
            <a:srgbClr val="86251B"/>
          </a:solidFill>
          <a:ln w="50800">
            <a:solidFill>
              <a:srgbClr val="86251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79" name="Oval 278">
            <a:extLst>
              <a:ext uri="{FF2B5EF4-FFF2-40B4-BE49-F238E27FC236}">
                <a16:creationId xmlns:a16="http://schemas.microsoft.com/office/drawing/2014/main" id="{EFEF1FFD-6118-9C27-3FB0-D6F2FAAEE3CA}"/>
              </a:ext>
            </a:extLst>
          </p:cNvPr>
          <p:cNvSpPr/>
          <p:nvPr/>
        </p:nvSpPr>
        <p:spPr>
          <a:xfrm>
            <a:off x="1538058" y="1601930"/>
            <a:ext cx="668004" cy="668004"/>
          </a:xfrm>
          <a:prstGeom prst="ellipse">
            <a:avLst/>
          </a:prstGeom>
          <a:solidFill>
            <a:srgbClr val="076D7E"/>
          </a:solidFill>
          <a:ln w="50800">
            <a:solidFill>
              <a:srgbClr val="076D7E"/>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grpSp>
        <p:nvGrpSpPr>
          <p:cNvPr id="280" name="Group 279">
            <a:extLst>
              <a:ext uri="{FF2B5EF4-FFF2-40B4-BE49-F238E27FC236}">
                <a16:creationId xmlns:a16="http://schemas.microsoft.com/office/drawing/2014/main" id="{C6C2D814-E839-3021-AB23-C5C60A097638}"/>
              </a:ext>
            </a:extLst>
          </p:cNvPr>
          <p:cNvGrpSpPr/>
          <p:nvPr/>
        </p:nvGrpSpPr>
        <p:grpSpPr>
          <a:xfrm>
            <a:off x="4447325" y="4746761"/>
            <a:ext cx="1905104" cy="668003"/>
            <a:chOff x="9531323" y="5110290"/>
            <a:chExt cx="2050412" cy="718955"/>
          </a:xfrm>
        </p:grpSpPr>
        <p:sp>
          <p:nvSpPr>
            <p:cNvPr id="281" name="TextBox 280">
              <a:extLst>
                <a:ext uri="{FF2B5EF4-FFF2-40B4-BE49-F238E27FC236}">
                  <a16:creationId xmlns:a16="http://schemas.microsoft.com/office/drawing/2014/main" id="{B836081C-A38A-FB10-ECCC-81B1568F45CA}"/>
                </a:ext>
              </a:extLst>
            </p:cNvPr>
            <p:cNvSpPr txBox="1"/>
            <p:nvPr/>
          </p:nvSpPr>
          <p:spPr>
            <a:xfrm>
              <a:off x="10357436" y="5331339"/>
              <a:ext cx="1224299" cy="298127"/>
            </a:xfrm>
            <a:prstGeom prst="rect">
              <a:avLst/>
            </a:prstGeom>
            <a:noFill/>
          </p:spPr>
          <p:txBody>
            <a:bodyPr wrap="square">
              <a:spAutoFit/>
            </a:bodyPr>
            <a:lstStyle/>
            <a:p>
              <a:pPr marL="0" marR="0" lvl="0" indent="0" algn="l" defTabSz="121917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GI issues</a:t>
              </a:r>
            </a:p>
          </p:txBody>
        </p:sp>
        <p:grpSp>
          <p:nvGrpSpPr>
            <p:cNvPr id="282" name="Group 281">
              <a:extLst>
                <a:ext uri="{FF2B5EF4-FFF2-40B4-BE49-F238E27FC236}">
                  <a16:creationId xmlns:a16="http://schemas.microsoft.com/office/drawing/2014/main" id="{6292D5DB-FA11-4D12-7276-3CEA13161234}"/>
                </a:ext>
              </a:extLst>
            </p:cNvPr>
            <p:cNvGrpSpPr/>
            <p:nvPr/>
          </p:nvGrpSpPr>
          <p:grpSpPr>
            <a:xfrm>
              <a:off x="9531323" y="5110290"/>
              <a:ext cx="718955" cy="718955"/>
              <a:chOff x="4237240" y="5161581"/>
              <a:chExt cx="628341" cy="628341"/>
            </a:xfrm>
          </p:grpSpPr>
          <p:sp>
            <p:nvSpPr>
              <p:cNvPr id="289" name="Oval 288">
                <a:extLst>
                  <a:ext uri="{FF2B5EF4-FFF2-40B4-BE49-F238E27FC236}">
                    <a16:creationId xmlns:a16="http://schemas.microsoft.com/office/drawing/2014/main" id="{D9103772-00C6-7589-E5DD-E9550EF6C422}"/>
                  </a:ext>
                </a:extLst>
              </p:cNvPr>
              <p:cNvSpPr/>
              <p:nvPr/>
            </p:nvSpPr>
            <p:spPr>
              <a:xfrm>
                <a:off x="4237240" y="5161581"/>
                <a:ext cx="628341" cy="628341"/>
              </a:xfrm>
              <a:prstGeom prst="ellipse">
                <a:avLst/>
              </a:prstGeom>
              <a:solidFill>
                <a:schemeClr val="bg2"/>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87" name="Freeform: Shape 286">
                <a:extLst>
                  <a:ext uri="{FF2B5EF4-FFF2-40B4-BE49-F238E27FC236}">
                    <a16:creationId xmlns:a16="http://schemas.microsoft.com/office/drawing/2014/main" id="{FB4CE27A-5A96-A90E-43A8-144ED7094CE3}"/>
                  </a:ext>
                </a:extLst>
              </p:cNvPr>
              <p:cNvSpPr/>
              <p:nvPr/>
            </p:nvSpPr>
            <p:spPr>
              <a:xfrm>
                <a:off x="4355863" y="5450103"/>
                <a:ext cx="12988" cy="12923"/>
              </a:xfrm>
              <a:custGeom>
                <a:avLst/>
                <a:gdLst>
                  <a:gd name="connsiteX0" fmla="*/ 11945 w 12435"/>
                  <a:gd name="connsiteY0" fmla="*/ 3856 h 12373"/>
                  <a:gd name="connsiteX1" fmla="*/ 2770 w 12435"/>
                  <a:gd name="connsiteY1" fmla="*/ 1033 h 12373"/>
                  <a:gd name="connsiteX2" fmla="*/ 3829 w 12435"/>
                  <a:gd name="connsiteY2" fmla="*/ 11884 h 12373"/>
                  <a:gd name="connsiteX3" fmla="*/ 11945 w 12435"/>
                  <a:gd name="connsiteY3" fmla="*/ 3767 h 12373"/>
                  <a:gd name="connsiteX4" fmla="*/ 11945 w 12435"/>
                  <a:gd name="connsiteY4" fmla="*/ 3767 h 12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5" h="12373">
                    <a:moveTo>
                      <a:pt x="11945" y="3856"/>
                    </a:moveTo>
                    <a:cubicBezTo>
                      <a:pt x="10445" y="150"/>
                      <a:pt x="5946" y="-1085"/>
                      <a:pt x="2770" y="1033"/>
                    </a:cubicBezTo>
                    <a:cubicBezTo>
                      <a:pt x="-1288" y="3679"/>
                      <a:pt x="-847" y="9943"/>
                      <a:pt x="3829" y="11884"/>
                    </a:cubicBezTo>
                    <a:cubicBezTo>
                      <a:pt x="8945" y="14001"/>
                      <a:pt x="14062" y="8884"/>
                      <a:pt x="11945" y="3767"/>
                    </a:cubicBezTo>
                    <a:lnTo>
                      <a:pt x="11945" y="3767"/>
                    </a:lnTo>
                    <a:close/>
                  </a:path>
                </a:pathLst>
              </a:custGeom>
              <a:solidFill>
                <a:schemeClr val="accent1"/>
              </a:solidFill>
              <a:ln w="88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Boehringer Forward Text"/>
                  <a:ea typeface="+mn-ea"/>
                  <a:cs typeface="+mn-cs"/>
                </a:endParaRPr>
              </a:p>
            </p:txBody>
          </p:sp>
        </p:grpSp>
      </p:grpSp>
      <p:sp>
        <p:nvSpPr>
          <p:cNvPr id="290" name="Oval 289">
            <a:extLst>
              <a:ext uri="{FF2B5EF4-FFF2-40B4-BE49-F238E27FC236}">
                <a16:creationId xmlns:a16="http://schemas.microsoft.com/office/drawing/2014/main" id="{59E6DA55-8ED1-F5BD-076F-CD2A8CB5B029}"/>
              </a:ext>
            </a:extLst>
          </p:cNvPr>
          <p:cNvSpPr/>
          <p:nvPr/>
        </p:nvSpPr>
        <p:spPr>
          <a:xfrm>
            <a:off x="2962028" y="2573648"/>
            <a:ext cx="100346" cy="100346"/>
          </a:xfrm>
          <a:prstGeom prst="ellipse">
            <a:avLst/>
          </a:prstGeom>
          <a:solidFill>
            <a:srgbClr val="E186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91" name="Oval 290">
            <a:extLst>
              <a:ext uri="{FF2B5EF4-FFF2-40B4-BE49-F238E27FC236}">
                <a16:creationId xmlns:a16="http://schemas.microsoft.com/office/drawing/2014/main" id="{C953FCA8-BE4B-583A-F383-DF22F91F8A8C}"/>
              </a:ext>
            </a:extLst>
          </p:cNvPr>
          <p:cNvSpPr/>
          <p:nvPr/>
        </p:nvSpPr>
        <p:spPr>
          <a:xfrm>
            <a:off x="3053987" y="5676983"/>
            <a:ext cx="100346" cy="100346"/>
          </a:xfrm>
          <a:prstGeom prst="ellipse">
            <a:avLst/>
          </a:prstGeom>
          <a:solidFill>
            <a:srgbClr val="8625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93" name="Oval 292">
            <a:extLst>
              <a:ext uri="{FF2B5EF4-FFF2-40B4-BE49-F238E27FC236}">
                <a16:creationId xmlns:a16="http://schemas.microsoft.com/office/drawing/2014/main" id="{CF76FCF6-A5DF-C93B-8F50-C5C529F6471C}"/>
              </a:ext>
            </a:extLst>
          </p:cNvPr>
          <p:cNvSpPr/>
          <p:nvPr/>
        </p:nvSpPr>
        <p:spPr>
          <a:xfrm>
            <a:off x="3418766" y="2674718"/>
            <a:ext cx="100346" cy="100346"/>
          </a:xfrm>
          <a:prstGeom prst="ellipse">
            <a:avLst/>
          </a:prstGeom>
          <a:solidFill>
            <a:srgbClr val="5D449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94" name="TextBox 293">
            <a:extLst>
              <a:ext uri="{FF2B5EF4-FFF2-40B4-BE49-F238E27FC236}">
                <a16:creationId xmlns:a16="http://schemas.microsoft.com/office/drawing/2014/main" id="{93EB1B6D-4EA0-CD53-C2C2-FC99A97BCF32}"/>
              </a:ext>
            </a:extLst>
          </p:cNvPr>
          <p:cNvSpPr txBox="1"/>
          <p:nvPr/>
        </p:nvSpPr>
        <p:spPr>
          <a:xfrm>
            <a:off x="-86711" y="3912581"/>
            <a:ext cx="1518588" cy="276999"/>
          </a:xfrm>
          <a:prstGeom prst="rect">
            <a:avLst/>
          </a:prstGeom>
          <a:noFill/>
        </p:spPr>
        <p:txBody>
          <a:bodyPr wrap="square">
            <a:spAutoFit/>
          </a:bodyPr>
          <a:lstStyle/>
          <a:p>
            <a:pPr marL="0" marR="0" lvl="0" indent="0" algn="r" defTabSz="121917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Digital ulcers</a:t>
            </a:r>
          </a:p>
        </p:txBody>
      </p:sp>
      <p:sp>
        <p:nvSpPr>
          <p:cNvPr id="295" name="Oval 294">
            <a:extLst>
              <a:ext uri="{FF2B5EF4-FFF2-40B4-BE49-F238E27FC236}">
                <a16:creationId xmlns:a16="http://schemas.microsoft.com/office/drawing/2014/main" id="{86287B27-9F4C-8028-161E-C7FBD0C419C2}"/>
              </a:ext>
            </a:extLst>
          </p:cNvPr>
          <p:cNvSpPr/>
          <p:nvPr/>
        </p:nvSpPr>
        <p:spPr>
          <a:xfrm>
            <a:off x="2470911" y="3855048"/>
            <a:ext cx="100346" cy="100346"/>
          </a:xfrm>
          <a:prstGeom prst="ellipse">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grpSp>
        <p:nvGrpSpPr>
          <p:cNvPr id="296" name="Group 295">
            <a:extLst>
              <a:ext uri="{FF2B5EF4-FFF2-40B4-BE49-F238E27FC236}">
                <a16:creationId xmlns:a16="http://schemas.microsoft.com/office/drawing/2014/main" id="{7E43D625-08D0-2860-55FD-2C771BE9A3F2}"/>
              </a:ext>
            </a:extLst>
          </p:cNvPr>
          <p:cNvGrpSpPr/>
          <p:nvPr/>
        </p:nvGrpSpPr>
        <p:grpSpPr>
          <a:xfrm>
            <a:off x="4445669" y="2656006"/>
            <a:ext cx="2018409" cy="680871"/>
            <a:chOff x="9529541" y="3949301"/>
            <a:chExt cx="2172359" cy="732803"/>
          </a:xfrm>
        </p:grpSpPr>
        <p:sp>
          <p:nvSpPr>
            <p:cNvPr id="304" name="Oval 303">
              <a:extLst>
                <a:ext uri="{FF2B5EF4-FFF2-40B4-BE49-F238E27FC236}">
                  <a16:creationId xmlns:a16="http://schemas.microsoft.com/office/drawing/2014/main" id="{334D8B53-E926-F842-0CBE-03980DFEA2AA}"/>
                </a:ext>
              </a:extLst>
            </p:cNvPr>
            <p:cNvSpPr/>
            <p:nvPr/>
          </p:nvSpPr>
          <p:spPr>
            <a:xfrm>
              <a:off x="9529541" y="3949301"/>
              <a:ext cx="718956" cy="718955"/>
            </a:xfrm>
            <a:prstGeom prst="ellipse">
              <a:avLst/>
            </a:prstGeom>
            <a:solidFill>
              <a:srgbClr val="5D4495"/>
            </a:solidFill>
            <a:ln w="50800">
              <a:solidFill>
                <a:srgbClr val="5D4495"/>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298" name="TextBox 297">
              <a:extLst>
                <a:ext uri="{FF2B5EF4-FFF2-40B4-BE49-F238E27FC236}">
                  <a16:creationId xmlns:a16="http://schemas.microsoft.com/office/drawing/2014/main" id="{70C9008E-D9FA-CA93-6D61-FEE9D37E86BA}"/>
                </a:ext>
              </a:extLst>
            </p:cNvPr>
            <p:cNvSpPr txBox="1"/>
            <p:nvPr/>
          </p:nvSpPr>
          <p:spPr>
            <a:xfrm>
              <a:off x="10357435" y="3986475"/>
              <a:ext cx="1344465" cy="695629"/>
            </a:xfrm>
            <a:prstGeom prst="rect">
              <a:avLst/>
            </a:prstGeom>
            <a:noFill/>
          </p:spPr>
          <p:txBody>
            <a:bodyPr wrap="square">
              <a:spAutoFit/>
            </a:bodyPr>
            <a:lstStyle/>
            <a:p>
              <a:pPr marL="0" marR="0" lvl="0" indent="0" algn="l" defTabSz="1219170" rtl="0" eaLnBrk="1" fontAlgn="auto" latinLnBrk="0" hangingPunct="1">
                <a:lnSpc>
                  <a:spcPct val="100000"/>
                </a:lnSpc>
                <a:spcBef>
                  <a:spcPts val="600"/>
                </a:spcBef>
                <a:spcAft>
                  <a:spcPts val="60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Lung involvement</a:t>
              </a:r>
              <a:br>
                <a:rPr kumimoji="0" lang="en-US" sz="1200" b="0" i="0" u="none" strike="noStrike" kern="1200" cap="none" spc="0" normalizeH="0" baseline="0" noProof="0">
                  <a:ln>
                    <a:noFill/>
                  </a:ln>
                  <a:solidFill>
                    <a:srgbClr val="000000"/>
                  </a:solidFill>
                  <a:effectLst/>
                  <a:uLnTx/>
                  <a:uFillTx/>
                  <a:latin typeface="Boehringer Forward Text"/>
                  <a:ea typeface="+mn-ea"/>
                  <a:cs typeface="+mn-cs"/>
                </a:rPr>
              </a:br>
              <a:r>
                <a:rPr kumimoji="0" lang="en-US" sz="1200" b="0" i="0" u="none" strike="noStrike" kern="1200" cap="none" spc="0" normalizeH="0" baseline="0" noProof="0">
                  <a:ln>
                    <a:noFill/>
                  </a:ln>
                  <a:solidFill>
                    <a:srgbClr val="000000"/>
                  </a:solidFill>
                  <a:effectLst/>
                  <a:uLnTx/>
                  <a:uFillTx/>
                  <a:latin typeface="Boehringer Forward Text"/>
                  <a:ea typeface="+mn-ea"/>
                  <a:cs typeface="+mn-cs"/>
                </a:rPr>
                <a:t>(ILD and PAH)</a:t>
              </a:r>
            </a:p>
          </p:txBody>
        </p:sp>
      </p:grpSp>
      <p:sp>
        <p:nvSpPr>
          <p:cNvPr id="307" name="Oval 306">
            <a:extLst>
              <a:ext uri="{FF2B5EF4-FFF2-40B4-BE49-F238E27FC236}">
                <a16:creationId xmlns:a16="http://schemas.microsoft.com/office/drawing/2014/main" id="{B6AB0F2F-4E83-1525-B236-2C350FE11F39}"/>
              </a:ext>
            </a:extLst>
          </p:cNvPr>
          <p:cNvSpPr/>
          <p:nvPr/>
        </p:nvSpPr>
        <p:spPr>
          <a:xfrm>
            <a:off x="1538058" y="3707262"/>
            <a:ext cx="668005" cy="668005"/>
          </a:xfrm>
          <a:prstGeom prst="ellipse">
            <a:avLst/>
          </a:prstGeom>
          <a:solidFill>
            <a:srgbClr val="F58A68"/>
          </a:solidFill>
          <a:ln w="508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Boehringer Forward Text"/>
              <a:ea typeface="+mn-ea"/>
              <a:cs typeface="+mn-cs"/>
            </a:endParaRPr>
          </a:p>
        </p:txBody>
      </p:sp>
      <p:pic>
        <p:nvPicPr>
          <p:cNvPr id="3" name="Graphic 2">
            <a:extLst>
              <a:ext uri="{FF2B5EF4-FFF2-40B4-BE49-F238E27FC236}">
                <a16:creationId xmlns:a16="http://schemas.microsoft.com/office/drawing/2014/main" id="{AABD4B30-C7AB-7191-F461-B18166205D3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04284" y="4902735"/>
            <a:ext cx="360000" cy="405000"/>
          </a:xfrm>
          <a:prstGeom prst="rect">
            <a:avLst/>
          </a:prstGeom>
        </p:spPr>
      </p:pic>
      <p:pic>
        <p:nvPicPr>
          <p:cNvPr id="4" name="Graphic 3">
            <a:extLst>
              <a:ext uri="{FF2B5EF4-FFF2-40B4-BE49-F238E27FC236}">
                <a16:creationId xmlns:a16="http://schemas.microsoft.com/office/drawing/2014/main" id="{AD03239D-EF83-2FE5-2636-8F017546FB8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69108" y="2781950"/>
            <a:ext cx="412281" cy="389377"/>
          </a:xfrm>
          <a:prstGeom prst="rect">
            <a:avLst/>
          </a:prstGeom>
        </p:spPr>
      </p:pic>
      <p:pic>
        <p:nvPicPr>
          <p:cNvPr id="7" name="Graphic 6">
            <a:extLst>
              <a:ext uri="{FF2B5EF4-FFF2-40B4-BE49-F238E27FC236}">
                <a16:creationId xmlns:a16="http://schemas.microsoft.com/office/drawing/2014/main" id="{7478EBB1-4F49-7317-E5E1-C814FA30835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81575" y="1690664"/>
            <a:ext cx="370127" cy="435444"/>
          </a:xfrm>
          <a:prstGeom prst="rect">
            <a:avLst/>
          </a:prstGeom>
        </p:spPr>
      </p:pic>
      <p:pic>
        <p:nvPicPr>
          <p:cNvPr id="11" name="Graphic 10">
            <a:extLst>
              <a:ext uri="{FF2B5EF4-FFF2-40B4-BE49-F238E27FC236}">
                <a16:creationId xmlns:a16="http://schemas.microsoft.com/office/drawing/2014/main" id="{E2B47F0D-BE0A-ECF8-D187-1F15B11F67C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56768" y="2826788"/>
            <a:ext cx="445339" cy="311737"/>
          </a:xfrm>
          <a:prstGeom prst="rect">
            <a:avLst/>
          </a:prstGeom>
        </p:spPr>
      </p:pic>
      <p:pic>
        <p:nvPicPr>
          <p:cNvPr id="14" name="Graphic 13">
            <a:extLst>
              <a:ext uri="{FF2B5EF4-FFF2-40B4-BE49-F238E27FC236}">
                <a16:creationId xmlns:a16="http://schemas.microsoft.com/office/drawing/2014/main" id="{4B2BF67C-BFB1-B125-A58F-45D204042FE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04353" y="3806057"/>
            <a:ext cx="344555" cy="459406"/>
          </a:xfrm>
          <a:prstGeom prst="rect">
            <a:avLst/>
          </a:prstGeom>
        </p:spPr>
      </p:pic>
      <p:pic>
        <p:nvPicPr>
          <p:cNvPr id="15" name="Graphic 14">
            <a:extLst>
              <a:ext uri="{FF2B5EF4-FFF2-40B4-BE49-F238E27FC236}">
                <a16:creationId xmlns:a16="http://schemas.microsoft.com/office/drawing/2014/main" id="{E5E0E20D-33BA-B273-9A6E-D3056451F03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587770" y="1757525"/>
            <a:ext cx="395176" cy="351268"/>
          </a:xfrm>
          <a:prstGeom prst="rect">
            <a:avLst/>
          </a:prstGeom>
        </p:spPr>
      </p:pic>
      <p:pic>
        <p:nvPicPr>
          <p:cNvPr id="16" name="Graphic 15">
            <a:extLst>
              <a:ext uri="{FF2B5EF4-FFF2-40B4-BE49-F238E27FC236}">
                <a16:creationId xmlns:a16="http://schemas.microsoft.com/office/drawing/2014/main" id="{ED6A6A0F-C449-970C-514F-7DFAB63E537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66424" y="4845548"/>
            <a:ext cx="420381" cy="467091"/>
          </a:xfrm>
          <a:prstGeom prst="rect">
            <a:avLst/>
          </a:prstGeom>
        </p:spPr>
      </p:pic>
      <p:pic>
        <p:nvPicPr>
          <p:cNvPr id="10" name="Graphic 9">
            <a:extLst>
              <a:ext uri="{FF2B5EF4-FFF2-40B4-BE49-F238E27FC236}">
                <a16:creationId xmlns:a16="http://schemas.microsoft.com/office/drawing/2014/main" id="{DB297DE7-E489-6F0C-CE89-974C80EB4D7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563604" y="3835890"/>
            <a:ext cx="447375" cy="380269"/>
          </a:xfrm>
          <a:prstGeom prst="rect">
            <a:avLst/>
          </a:prstGeom>
        </p:spPr>
      </p:pic>
      <p:grpSp>
        <p:nvGrpSpPr>
          <p:cNvPr id="19" name="组合 18">
            <a:extLst>
              <a:ext uri="{FF2B5EF4-FFF2-40B4-BE49-F238E27FC236}">
                <a16:creationId xmlns:a16="http://schemas.microsoft.com/office/drawing/2014/main" id="{13C75A0F-D825-AC29-6A8F-21F6C17B70D1}"/>
              </a:ext>
            </a:extLst>
          </p:cNvPr>
          <p:cNvGrpSpPr/>
          <p:nvPr/>
        </p:nvGrpSpPr>
        <p:grpSpPr>
          <a:xfrm>
            <a:off x="6637680" y="3862456"/>
            <a:ext cx="5074895" cy="2063901"/>
            <a:chOff x="6654720" y="3264101"/>
            <a:chExt cx="5074895" cy="2063901"/>
          </a:xfrm>
        </p:grpSpPr>
        <p:sp>
          <p:nvSpPr>
            <p:cNvPr id="17" name="文本框 16">
              <a:extLst>
                <a:ext uri="{FF2B5EF4-FFF2-40B4-BE49-F238E27FC236}">
                  <a16:creationId xmlns:a16="http://schemas.microsoft.com/office/drawing/2014/main" id="{4E262507-FEA2-0963-0466-7DF71DC3E46E}"/>
                </a:ext>
              </a:extLst>
            </p:cNvPr>
            <p:cNvSpPr txBox="1"/>
            <p:nvPr/>
          </p:nvSpPr>
          <p:spPr bwMode="gray">
            <a:xfrm>
              <a:off x="6864484" y="3373621"/>
              <a:ext cx="4865131" cy="1954381"/>
            </a:xfrm>
            <a:prstGeom prst="rect">
              <a:avLst/>
            </a:prstGeom>
            <a:noFill/>
          </p:spPr>
          <p:txBody>
            <a:bodyPr wrap="square">
              <a:spAutoFit/>
            </a:bodyPr>
            <a:lstStyle/>
            <a:p>
              <a:pPr marL="576000" marR="0" lvl="2" indent="-216000" fontAlgn="auto">
                <a:spcAft>
                  <a:spcPts val="600"/>
                </a:spcAft>
                <a:buClrTx/>
                <a:buSzTx/>
                <a:buFont typeface="Arial" panose="020B0604020202020204" pitchFamily="34" charset="0"/>
                <a:buChar char="•"/>
                <a:tabLst/>
                <a:defRPr/>
              </a:pPr>
              <a:r>
                <a:rPr lang="en-US" altLang="zh-CN" sz="1400"/>
                <a:t>Although some drugs are licensed to treat </a:t>
              </a:r>
              <a:r>
                <a:rPr lang="en-US" altLang="zh-CN" sz="1400" b="1"/>
                <a:t>specific complications of </a:t>
              </a:r>
              <a:r>
                <a:rPr lang="en-US" altLang="zh-CN" sz="1400" b="1" err="1"/>
                <a:t>SSc</a:t>
              </a:r>
              <a:r>
                <a:rPr lang="en-US" altLang="zh-CN" sz="1400"/>
                <a:t>,  there is a lack of approved treatments for </a:t>
              </a:r>
              <a:r>
                <a:rPr lang="en-US" altLang="zh-CN" sz="1400" err="1"/>
                <a:t>SSc</a:t>
              </a:r>
              <a:r>
                <a:rPr lang="en-US" altLang="zh-CN" sz="1400"/>
                <a:t> that can address disease pathogenesis and halt disease progression</a:t>
              </a:r>
              <a:r>
                <a:rPr lang="en-US" altLang="zh-CN" sz="1400" baseline="30000"/>
                <a:t>5, 7-8</a:t>
              </a:r>
            </a:p>
            <a:p>
              <a:pPr marL="360000" marR="0" lvl="2" fontAlgn="auto">
                <a:spcAft>
                  <a:spcPts val="600"/>
                </a:spcAft>
                <a:buClrTx/>
                <a:buSzTx/>
                <a:tabLst/>
                <a:defRPr/>
              </a:pPr>
              <a:r>
                <a:rPr lang="en-US" altLang="zh-CN" sz="1200"/>
                <a:t>    - </a:t>
              </a:r>
              <a:r>
                <a:rPr lang="en-US" altLang="zh-CN" sz="1200" err="1"/>
                <a:t>Nintedanib</a:t>
              </a:r>
              <a:r>
                <a:rPr lang="en-US" altLang="zh-CN" sz="1200"/>
                <a:t> (TKI): approved for </a:t>
              </a:r>
              <a:r>
                <a:rPr lang="en-US" altLang="zh-CN" sz="1200" err="1"/>
                <a:t>SSc</a:t>
              </a:r>
              <a:r>
                <a:rPr lang="en-US" altLang="zh-CN" sz="1200"/>
                <a:t>-ILD (including</a:t>
              </a:r>
              <a:r>
                <a:rPr lang="zh-CN" altLang="en-US" sz="1200"/>
                <a:t> </a:t>
              </a:r>
              <a:r>
                <a:rPr lang="en-US" altLang="zh-CN" sz="1200"/>
                <a:t>China);</a:t>
              </a:r>
            </a:p>
            <a:p>
              <a:pPr marL="360000" marR="0" lvl="2" fontAlgn="auto">
                <a:spcAft>
                  <a:spcPts val="600"/>
                </a:spcAft>
                <a:buClrTx/>
                <a:buSzTx/>
                <a:tabLst/>
                <a:defRPr/>
              </a:pPr>
              <a:r>
                <a:rPr lang="en-US" altLang="zh-CN" sz="1200"/>
                <a:t>    - Tocilizumab (anti-IL-6): approved for </a:t>
              </a:r>
              <a:r>
                <a:rPr lang="en-US" altLang="zh-CN" sz="1200" err="1"/>
                <a:t>SSc</a:t>
              </a:r>
              <a:r>
                <a:rPr lang="en-US" altLang="zh-CN" sz="1200"/>
                <a:t>-ILD in US;</a:t>
              </a:r>
            </a:p>
            <a:p>
              <a:pPr marL="360000" marR="0" lvl="2" fontAlgn="auto">
                <a:spcAft>
                  <a:spcPts val="600"/>
                </a:spcAft>
                <a:buClrTx/>
                <a:buSzTx/>
                <a:tabLst/>
                <a:defRPr/>
              </a:pPr>
              <a:r>
                <a:rPr lang="en-US" altLang="zh-CN" sz="1200"/>
                <a:t>    - Rituximab (anti-CD20): approved for </a:t>
              </a:r>
              <a:r>
                <a:rPr lang="en-US" altLang="zh-CN" sz="1200" err="1"/>
                <a:t>SSc</a:t>
              </a:r>
              <a:r>
                <a:rPr lang="en-US" altLang="zh-CN" sz="1200"/>
                <a:t> in Japan.</a:t>
              </a:r>
            </a:p>
          </p:txBody>
        </p:sp>
        <p:pic>
          <p:nvPicPr>
            <p:cNvPr id="18" name="Grafik 18">
              <a:extLst>
                <a:ext uri="{FF2B5EF4-FFF2-40B4-BE49-F238E27FC236}">
                  <a16:creationId xmlns:a16="http://schemas.microsoft.com/office/drawing/2014/main" id="{0110BC2D-185C-715B-FE15-D4B1CDCD3A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rot="16200000">
              <a:off x="6689563" y="3229258"/>
              <a:ext cx="576000" cy="645686"/>
            </a:xfrm>
            <a:prstGeom prst="rect">
              <a:avLst/>
            </a:prstGeom>
          </p:spPr>
        </p:pic>
      </p:grpSp>
    </p:spTree>
    <p:extLst>
      <p:ext uri="{BB962C8B-B14F-4D97-AF65-F5344CB8AC3E}">
        <p14:creationId xmlns:p14="http://schemas.microsoft.com/office/powerpoint/2010/main" val="2476238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E42210F5-A02C-62D8-D601-1A6C99D122F6}"/>
              </a:ext>
            </a:extLst>
          </p:cNvPr>
          <p:cNvSpPr>
            <a:spLocks noGrp="1"/>
          </p:cNvSpPr>
          <p:nvPr>
            <p:ph type="ctrTitle"/>
          </p:nvPr>
        </p:nvSpPr>
        <p:spPr>
          <a:xfrm>
            <a:off x="479425" y="2637000"/>
            <a:ext cx="11233148" cy="1584000"/>
          </a:xfrm>
        </p:spPr>
        <p:txBody>
          <a:bodyPr anchor="ctr" anchorCtr="0"/>
          <a:lstStyle/>
          <a:p>
            <a:r>
              <a:rPr lang="en-US" sz="4000" b="1">
                <a:solidFill>
                  <a:srgbClr val="08312A"/>
                </a:solidFill>
                <a:effectLst/>
                <a:latin typeface="Boehringer Forward Head" panose="02000500000000020000" pitchFamily="2" charset="0"/>
              </a:rPr>
              <a:t>Supporting Evidence for Nerandomilast Development in </a:t>
            </a:r>
            <a:r>
              <a:rPr lang="en-US" sz="4000" b="1" err="1">
                <a:solidFill>
                  <a:srgbClr val="08312A"/>
                </a:solidFill>
                <a:effectLst/>
                <a:latin typeface="Boehringer Forward Head" panose="02000500000000020000" pitchFamily="2" charset="0"/>
              </a:rPr>
              <a:t>SSc</a:t>
            </a:r>
            <a:endParaRPr lang="en-US" altLang="zh-CN" sz="4000" b="1"/>
          </a:p>
        </p:txBody>
      </p:sp>
      <p:sp>
        <p:nvSpPr>
          <p:cNvPr id="3" name="副标题 2">
            <a:extLst>
              <a:ext uri="{FF2B5EF4-FFF2-40B4-BE49-F238E27FC236}">
                <a16:creationId xmlns:a16="http://schemas.microsoft.com/office/drawing/2014/main" id="{28B0E6AA-ED15-CAC8-2635-9883AEB062CB}"/>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518396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BAD488DD-6E88-7BE5-104D-EBBD51D71BDF}"/>
              </a:ext>
            </a:extLst>
          </p:cNvPr>
          <p:cNvCxnSpPr>
            <a:cxnSpLocks/>
          </p:cNvCxnSpPr>
          <p:nvPr/>
        </p:nvCxnSpPr>
        <p:spPr bwMode="gray">
          <a:xfrm flipH="1" flipV="1">
            <a:off x="2992199" y="2452199"/>
            <a:ext cx="1176793" cy="24468"/>
          </a:xfrm>
          <a:prstGeom prst="line">
            <a:avLst/>
          </a:prstGeom>
          <a:ln w="25400">
            <a:solidFill>
              <a:srgbClr val="ECE3C6"/>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968251A-D0F1-2BD5-57D6-FB555CD4B455}"/>
              </a:ext>
            </a:extLst>
          </p:cNvPr>
          <p:cNvCxnSpPr>
            <a:cxnSpLocks/>
          </p:cNvCxnSpPr>
          <p:nvPr/>
        </p:nvCxnSpPr>
        <p:spPr bwMode="gray">
          <a:xfrm>
            <a:off x="5803421" y="4474791"/>
            <a:ext cx="0" cy="220250"/>
          </a:xfrm>
          <a:prstGeom prst="line">
            <a:avLst/>
          </a:prstGeom>
          <a:ln w="25400">
            <a:solidFill>
              <a:srgbClr val="C7E6B8"/>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55E91FB-5FC2-8A0F-4BAB-87B835EACE4A}"/>
              </a:ext>
            </a:extLst>
          </p:cNvPr>
          <p:cNvSpPr>
            <a:spLocks noGrp="1"/>
          </p:cNvSpPr>
          <p:nvPr>
            <p:ph type="title"/>
          </p:nvPr>
        </p:nvSpPr>
        <p:spPr>
          <a:xfrm>
            <a:off x="191442" y="140411"/>
            <a:ext cx="9154578" cy="441283"/>
          </a:xfrm>
        </p:spPr>
        <p:txBody>
          <a:bodyPr/>
          <a:lstStyle/>
          <a:p>
            <a:r>
              <a:rPr lang="en-US"/>
              <a:t>Preclinical evidence on Nerandomilast in </a:t>
            </a:r>
            <a:r>
              <a:rPr lang="en-US" err="1"/>
              <a:t>SSc</a:t>
            </a:r>
            <a:endParaRPr lang="en-US" sz="1800"/>
          </a:p>
        </p:txBody>
      </p:sp>
      <p:sp>
        <p:nvSpPr>
          <p:cNvPr id="4" name="Footer Placeholder 3">
            <a:extLst>
              <a:ext uri="{FF2B5EF4-FFF2-40B4-BE49-F238E27FC236}">
                <a16:creationId xmlns:a16="http://schemas.microsoft.com/office/drawing/2014/main" id="{AE1464AF-5723-B4BA-FBB1-55820E590045}"/>
              </a:ext>
            </a:extLst>
          </p:cNvPr>
          <p:cNvSpPr>
            <a:spLocks noGrp="1"/>
          </p:cNvSpPr>
          <p:nvPr>
            <p:ph type="ftr" sz="quarter" idx="16"/>
          </p:nvPr>
        </p:nvSpPr>
        <p:spPr>
          <a:xfrm>
            <a:off x="6545599" y="6246836"/>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sp>
        <p:nvSpPr>
          <p:cNvPr id="6" name="Title 4">
            <a:extLst>
              <a:ext uri="{FF2B5EF4-FFF2-40B4-BE49-F238E27FC236}">
                <a16:creationId xmlns:a16="http://schemas.microsoft.com/office/drawing/2014/main" id="{24D779ED-DEBF-1B52-F64D-699256109492}"/>
              </a:ext>
            </a:extLst>
          </p:cNvPr>
          <p:cNvSpPr txBox="1">
            <a:spLocks/>
          </p:cNvSpPr>
          <p:nvPr/>
        </p:nvSpPr>
        <p:spPr bwMode="gray">
          <a:xfrm>
            <a:off x="467354" y="5365757"/>
            <a:ext cx="11355536" cy="699800"/>
          </a:xfrm>
          <a:prstGeom prst="rect">
            <a:avLst/>
          </a:prstGeom>
          <a:solidFill>
            <a:schemeClr val="bg1"/>
          </a:solidFill>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180000" marR="0" lvl="0" indent="-18000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prstClr val="black"/>
                </a:solidFill>
                <a:effectLst/>
                <a:uLnTx/>
                <a:uFillTx/>
                <a:latin typeface="Boehringer Forward Head"/>
                <a:ea typeface="+mj-ea"/>
                <a:cs typeface="+mj-cs"/>
              </a:rPr>
              <a:t>Pre-clinical data demonstrate that </a:t>
            </a:r>
            <a:r>
              <a:rPr kumimoji="0" lang="en-US" altLang="zh-CN" sz="1400" b="0" i="0" u="none" strike="noStrike" kern="1200" cap="none" spc="0" normalizeH="0" baseline="0" noProof="0" err="1">
                <a:ln>
                  <a:noFill/>
                </a:ln>
                <a:solidFill>
                  <a:prstClr val="black"/>
                </a:solidFill>
                <a:effectLst/>
                <a:uLnTx/>
                <a:uFillTx/>
                <a:latin typeface="Boehringer Forward Head"/>
                <a:ea typeface="+mj-ea"/>
                <a:cs typeface="+mj-cs"/>
              </a:rPr>
              <a:t>nerandomilast</a:t>
            </a:r>
            <a:r>
              <a:rPr kumimoji="0" lang="en-US" altLang="zh-CN" sz="1400" b="0" i="0" u="none" strike="noStrike" kern="1200" cap="none" spc="0" normalizeH="0" baseline="0" noProof="0">
                <a:ln>
                  <a:noFill/>
                </a:ln>
                <a:solidFill>
                  <a:prstClr val="black"/>
                </a:solidFill>
                <a:effectLst/>
                <a:uLnTx/>
                <a:uFillTx/>
                <a:latin typeface="Boehringer Forward Head"/>
                <a:ea typeface="+mj-ea"/>
                <a:cs typeface="+mj-cs"/>
              </a:rPr>
              <a:t> targets key pathogenic mechanisms of </a:t>
            </a:r>
            <a:r>
              <a:rPr kumimoji="0" lang="en-US" altLang="zh-CN" sz="1400" b="0" i="0" u="none" strike="noStrike" kern="1200" cap="none" spc="0" normalizeH="0" baseline="0" noProof="0" err="1">
                <a:ln>
                  <a:noFill/>
                </a:ln>
                <a:solidFill>
                  <a:prstClr val="black"/>
                </a:solidFill>
                <a:effectLst/>
                <a:uLnTx/>
                <a:uFillTx/>
                <a:latin typeface="Boehringer Forward Head"/>
                <a:ea typeface="+mj-ea"/>
                <a:cs typeface="+mj-cs"/>
              </a:rPr>
              <a:t>SSc</a:t>
            </a:r>
            <a:r>
              <a:rPr kumimoji="0" lang="en-US" altLang="zh-CN" sz="1400" b="0" i="0" u="none" strike="noStrike" kern="1200" cap="none" spc="0" normalizeH="0" baseline="0" noProof="0">
                <a:ln>
                  <a:noFill/>
                </a:ln>
                <a:solidFill>
                  <a:prstClr val="black"/>
                </a:solidFill>
                <a:effectLst/>
                <a:uLnTx/>
                <a:uFillTx/>
                <a:latin typeface="Boehringer Forward Head"/>
                <a:ea typeface="+mj-ea"/>
                <a:cs typeface="+mj-cs"/>
              </a:rPr>
              <a:t> — </a:t>
            </a:r>
            <a:r>
              <a:rPr kumimoji="0" lang="en-US" altLang="zh-CN" sz="1400" b="1" i="0" u="none" strike="noStrike" kern="1200" cap="none" spc="0" normalizeH="0" baseline="0" noProof="0">
                <a:ln>
                  <a:noFill/>
                </a:ln>
                <a:solidFill>
                  <a:prstClr val="black"/>
                </a:solidFill>
                <a:effectLst/>
                <a:uLnTx/>
                <a:uFillTx/>
                <a:latin typeface="Boehringer Forward Head"/>
                <a:ea typeface="+mj-ea"/>
                <a:cs typeface="+mj-cs"/>
              </a:rPr>
              <a:t>fibrosis, vasculopathy, and immune dysregulation</a:t>
            </a:r>
            <a:r>
              <a:rPr kumimoji="0" lang="en-US" altLang="zh-CN" sz="1400" b="0" i="0" u="none" strike="noStrike" kern="1200" cap="none" spc="0" normalizeH="0" baseline="0" noProof="0">
                <a:ln>
                  <a:noFill/>
                </a:ln>
                <a:solidFill>
                  <a:prstClr val="black"/>
                </a:solidFill>
                <a:effectLst/>
                <a:uLnTx/>
                <a:uFillTx/>
                <a:latin typeface="Boehringer Forward Head"/>
                <a:ea typeface="+mj-ea"/>
                <a:cs typeface="+mj-cs"/>
              </a:rPr>
              <a:t> — across relevant in vitro and in vivo models, with effects observed at clinically relevant concentrations. Importantly, these effects were not limited to the </a:t>
            </a:r>
            <a:r>
              <a:rPr kumimoji="0" lang="en-US" altLang="zh-CN" sz="1400" b="1" i="0" u="none" strike="noStrike" kern="1200" cap="none" spc="0" normalizeH="0" baseline="0" noProof="0">
                <a:ln>
                  <a:noFill/>
                </a:ln>
                <a:solidFill>
                  <a:prstClr val="black"/>
                </a:solidFill>
                <a:effectLst/>
                <a:uLnTx/>
                <a:uFillTx/>
                <a:latin typeface="Boehringer Forward Head"/>
                <a:ea typeface="+mj-ea"/>
                <a:cs typeface="+mj-cs"/>
              </a:rPr>
              <a:t>lung</a:t>
            </a:r>
            <a:r>
              <a:rPr kumimoji="0" lang="en-US" altLang="zh-CN" sz="1400" b="0" i="0" u="none" strike="noStrike" kern="1200" cap="none" spc="0" normalizeH="0" baseline="0" noProof="0">
                <a:ln>
                  <a:noFill/>
                </a:ln>
                <a:solidFill>
                  <a:prstClr val="black"/>
                </a:solidFill>
                <a:effectLst/>
                <a:uLnTx/>
                <a:uFillTx/>
                <a:latin typeface="Boehringer Forward Head"/>
                <a:ea typeface="+mj-ea"/>
                <a:cs typeface="+mj-cs"/>
              </a:rPr>
              <a:t> but </a:t>
            </a:r>
            <a:r>
              <a:rPr kumimoji="0" lang="en-US" altLang="zh-CN" sz="1400" b="1" i="0" u="none" strike="noStrike" kern="1200" cap="none" spc="0" normalizeH="0" baseline="0" noProof="0">
                <a:ln>
                  <a:noFill/>
                </a:ln>
                <a:solidFill>
                  <a:prstClr val="black"/>
                </a:solidFill>
                <a:effectLst/>
                <a:uLnTx/>
                <a:uFillTx/>
                <a:latin typeface="Boehringer Forward Head"/>
                <a:ea typeface="+mj-ea"/>
                <a:cs typeface="+mj-cs"/>
              </a:rPr>
              <a:t>also included skin and vascular tissues</a:t>
            </a:r>
            <a:r>
              <a:rPr kumimoji="0" lang="en-US" altLang="zh-CN" sz="1400" b="0" i="0" u="none" strike="noStrike" kern="1200" cap="none" spc="0" normalizeH="0" baseline="0" noProof="0">
                <a:ln>
                  <a:noFill/>
                </a:ln>
                <a:solidFill>
                  <a:prstClr val="black"/>
                </a:solidFill>
                <a:effectLst/>
                <a:uLnTx/>
                <a:uFillTx/>
                <a:latin typeface="Boehringer Forward Head"/>
                <a:ea typeface="+mj-ea"/>
                <a:cs typeface="+mj-cs"/>
              </a:rPr>
              <a:t>, supporting its potential for </a:t>
            </a:r>
            <a:r>
              <a:rPr kumimoji="0" lang="en-US" altLang="zh-CN" sz="1400" b="1" i="0" u="none" strike="noStrike" kern="1200" cap="none" spc="0" normalizeH="0" baseline="0" noProof="0">
                <a:ln>
                  <a:noFill/>
                </a:ln>
                <a:solidFill>
                  <a:prstClr val="black"/>
                </a:solidFill>
                <a:effectLst/>
                <a:uLnTx/>
                <a:uFillTx/>
                <a:latin typeface="Boehringer Forward Head"/>
                <a:ea typeface="+mj-ea"/>
                <a:cs typeface="+mj-cs"/>
              </a:rPr>
              <a:t>systemic disease modification</a:t>
            </a:r>
            <a:r>
              <a:rPr kumimoji="0" lang="en-US" altLang="zh-CN" sz="1400" b="0" i="0" u="none" strike="noStrike" kern="1200" cap="none" spc="0" normalizeH="0" baseline="0" noProof="0">
                <a:ln>
                  <a:noFill/>
                </a:ln>
                <a:solidFill>
                  <a:prstClr val="black"/>
                </a:solidFill>
                <a:effectLst/>
                <a:uLnTx/>
                <a:uFillTx/>
                <a:latin typeface="Boehringer Forward Head"/>
                <a:ea typeface="+mj-ea"/>
                <a:cs typeface="+mj-cs"/>
              </a:rPr>
              <a:t>.</a:t>
            </a:r>
          </a:p>
        </p:txBody>
      </p:sp>
      <p:sp>
        <p:nvSpPr>
          <p:cNvPr id="10" name="Rectangle 9">
            <a:extLst>
              <a:ext uri="{FF2B5EF4-FFF2-40B4-BE49-F238E27FC236}">
                <a16:creationId xmlns:a16="http://schemas.microsoft.com/office/drawing/2014/main" id="{9AF87040-C872-FA8D-63C1-78BF2655FF14}"/>
              </a:ext>
            </a:extLst>
          </p:cNvPr>
          <p:cNvSpPr/>
          <p:nvPr/>
        </p:nvSpPr>
        <p:spPr bwMode="gray">
          <a:xfrm>
            <a:off x="7667125" y="810463"/>
            <a:ext cx="3476077" cy="957962"/>
          </a:xfrm>
          <a:prstGeom prst="rect">
            <a:avLst/>
          </a:prstGeom>
          <a:solidFill>
            <a:srgbClr val="FDEEE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Rectangle 10">
            <a:extLst>
              <a:ext uri="{FF2B5EF4-FFF2-40B4-BE49-F238E27FC236}">
                <a16:creationId xmlns:a16="http://schemas.microsoft.com/office/drawing/2014/main" id="{878818AB-B625-10AD-5DB6-AAFC97EBB1F9}"/>
              </a:ext>
            </a:extLst>
          </p:cNvPr>
          <p:cNvSpPr/>
          <p:nvPr/>
        </p:nvSpPr>
        <p:spPr bwMode="gray">
          <a:xfrm>
            <a:off x="7684347" y="2438132"/>
            <a:ext cx="3773314" cy="879303"/>
          </a:xfrm>
          <a:prstGeom prst="rect">
            <a:avLst/>
          </a:prstGeom>
          <a:solidFill>
            <a:srgbClr val="B9C2D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12" name="Straight Connector 11">
            <a:extLst>
              <a:ext uri="{FF2B5EF4-FFF2-40B4-BE49-F238E27FC236}">
                <a16:creationId xmlns:a16="http://schemas.microsoft.com/office/drawing/2014/main" id="{B182FE1A-C4F2-4789-77D3-4C9CDFF8F8BF}"/>
              </a:ext>
            </a:extLst>
          </p:cNvPr>
          <p:cNvCxnSpPr>
            <a:cxnSpLocks/>
          </p:cNvCxnSpPr>
          <p:nvPr/>
        </p:nvCxnSpPr>
        <p:spPr bwMode="gray">
          <a:xfrm flipH="1">
            <a:off x="7279240" y="2722736"/>
            <a:ext cx="405107" cy="0"/>
          </a:xfrm>
          <a:prstGeom prst="line">
            <a:avLst/>
          </a:prstGeom>
          <a:ln w="25400">
            <a:solidFill>
              <a:srgbClr val="8594B6"/>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2E69529-1B6F-C269-283D-AC31DD0D4861}"/>
              </a:ext>
            </a:extLst>
          </p:cNvPr>
          <p:cNvSpPr/>
          <p:nvPr/>
        </p:nvSpPr>
        <p:spPr bwMode="gray">
          <a:xfrm>
            <a:off x="393503" y="1494855"/>
            <a:ext cx="3115920" cy="1454631"/>
          </a:xfrm>
          <a:prstGeom prst="rect">
            <a:avLst/>
          </a:prstGeom>
          <a:solidFill>
            <a:srgbClr val="FBE3D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TextBox 14">
            <a:extLst>
              <a:ext uri="{FF2B5EF4-FFF2-40B4-BE49-F238E27FC236}">
                <a16:creationId xmlns:a16="http://schemas.microsoft.com/office/drawing/2014/main" id="{E13FE181-F6D2-1B00-FFB3-71D1C30366A4}"/>
              </a:ext>
            </a:extLst>
          </p:cNvPr>
          <p:cNvSpPr txBox="1"/>
          <p:nvPr/>
        </p:nvSpPr>
        <p:spPr bwMode="gray">
          <a:xfrm>
            <a:off x="7722689" y="2324945"/>
            <a:ext cx="3584259" cy="923330"/>
          </a:xfrm>
          <a:prstGeom prst="rect">
            <a:avLst/>
          </a:prstGeom>
          <a:noFill/>
        </p:spPr>
        <p:txBody>
          <a:bodyPr wrap="square" lIns="0" tIns="0" rIns="0" bIns="0"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Boehringer Forward Tex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Pre-clinical data show direct </a:t>
            </a:r>
            <a:r>
              <a:rPr kumimoji="0" lang="en-US" sz="1200" b="1" i="0" u="none" strike="noStrike" kern="1200" cap="none" spc="0" normalizeH="0" baseline="0" noProof="0">
                <a:ln>
                  <a:noFill/>
                </a:ln>
                <a:solidFill>
                  <a:prstClr val="black"/>
                </a:solidFill>
                <a:effectLst/>
                <a:uLnTx/>
                <a:uFillTx/>
                <a:latin typeface="Boehringer Forward Text"/>
                <a:ea typeface="+mn-ea"/>
                <a:cs typeface="+mn-cs"/>
              </a:rPr>
              <a:t>anti-fibrotic effects </a:t>
            </a:r>
            <a:r>
              <a:rPr kumimoji="0" lang="en-US" sz="1200" b="0" i="0" u="none" strike="noStrike" kern="1200" cap="none" spc="0" normalizeH="0" baseline="0" noProof="0">
                <a:ln>
                  <a:noFill/>
                </a:ln>
                <a:solidFill>
                  <a:prstClr val="black"/>
                </a:solidFill>
                <a:effectLst/>
                <a:uLnTx/>
                <a:uFillTx/>
                <a:latin typeface="Boehringer Forward Text"/>
                <a:ea typeface="+mn-ea"/>
                <a:cs typeface="+mn-cs"/>
              </a:rPr>
              <a:t>on </a:t>
            </a:r>
            <a:r>
              <a:rPr kumimoji="0" lang="en-US" sz="1200" b="1" i="0" u="none" strike="noStrike" kern="1200" cap="none" spc="0" normalizeH="0" baseline="0" noProof="0">
                <a:ln>
                  <a:noFill/>
                </a:ln>
                <a:solidFill>
                  <a:prstClr val="black"/>
                </a:solidFill>
                <a:effectLst/>
                <a:uLnTx/>
                <a:uFillTx/>
                <a:latin typeface="Boehringer Forward Text"/>
                <a:ea typeface="+mn-ea"/>
                <a:cs typeface="+mn-cs"/>
              </a:rPr>
              <a:t>lung and </a:t>
            </a:r>
            <a:r>
              <a:rPr kumimoji="0" lang="en-US" sz="1200" b="1" i="0" u="none" strike="noStrike" kern="1200" cap="none" spc="0" normalizeH="0" baseline="0" noProof="0" err="1">
                <a:ln>
                  <a:noFill/>
                </a:ln>
                <a:solidFill>
                  <a:prstClr val="black"/>
                </a:solidFill>
                <a:effectLst/>
                <a:uLnTx/>
                <a:uFillTx/>
                <a:latin typeface="Boehringer Forward Text"/>
                <a:ea typeface="+mn-ea"/>
                <a:cs typeface="+mn-cs"/>
              </a:rPr>
              <a:t>SSc</a:t>
            </a:r>
            <a:r>
              <a:rPr kumimoji="0" lang="en-US" sz="1200" b="1" i="0" u="none" strike="noStrike" kern="1200" cap="none" spc="0" normalizeH="0" baseline="0" noProof="0">
                <a:ln>
                  <a:noFill/>
                </a:ln>
                <a:solidFill>
                  <a:prstClr val="black"/>
                </a:solidFill>
                <a:effectLst/>
                <a:uLnTx/>
                <a:uFillTx/>
                <a:latin typeface="Boehringer Forward Text"/>
                <a:ea typeface="+mn-ea"/>
                <a:cs typeface="+mn-cs"/>
              </a:rPr>
              <a:t> skin fibroblasts </a:t>
            </a:r>
            <a:r>
              <a:rPr kumimoji="0" lang="en-US" sz="1200" b="0" i="0" u="none" strike="noStrike" kern="1200" cap="none" spc="0" normalizeH="0" baseline="0" noProof="0">
                <a:ln>
                  <a:noFill/>
                </a:ln>
                <a:solidFill>
                  <a:prstClr val="black"/>
                </a:solidFill>
                <a:effectLst/>
                <a:uLnTx/>
                <a:uFillTx/>
                <a:latin typeface="Boehringer Forward Text"/>
                <a:ea typeface="+mn-ea"/>
                <a:cs typeface="+mn-cs"/>
              </a:rPr>
              <a:t>and suppression of epithelial cell and keratinocyte pro-fibrotic activation</a:t>
            </a:r>
          </a:p>
        </p:txBody>
      </p:sp>
      <p:sp>
        <p:nvSpPr>
          <p:cNvPr id="17" name="TextBox 16">
            <a:extLst>
              <a:ext uri="{FF2B5EF4-FFF2-40B4-BE49-F238E27FC236}">
                <a16:creationId xmlns:a16="http://schemas.microsoft.com/office/drawing/2014/main" id="{B3F0D12E-75CF-E394-DF72-7036B6D0C373}"/>
              </a:ext>
            </a:extLst>
          </p:cNvPr>
          <p:cNvSpPr txBox="1"/>
          <p:nvPr/>
        </p:nvSpPr>
        <p:spPr bwMode="gray">
          <a:xfrm>
            <a:off x="7722689" y="913371"/>
            <a:ext cx="3420513" cy="738664"/>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Potential to directly </a:t>
            </a:r>
            <a:r>
              <a:rPr kumimoji="0" lang="en-US" sz="1200" b="1" i="0" u="none" strike="noStrike" kern="1200" cap="none" spc="0" normalizeH="0" baseline="0" noProof="0">
                <a:ln>
                  <a:noFill/>
                </a:ln>
                <a:solidFill>
                  <a:prstClr val="black"/>
                </a:solidFill>
                <a:effectLst/>
                <a:uLnTx/>
                <a:uFillTx/>
                <a:latin typeface="Boehringer Forward Text"/>
                <a:ea typeface="+mn-ea"/>
                <a:cs typeface="+mn-cs"/>
              </a:rPr>
              <a:t>impact endothelial activation </a:t>
            </a:r>
            <a:r>
              <a:rPr kumimoji="0" lang="en-US" sz="1200" b="0" i="0" u="none" strike="noStrike" kern="1200" cap="none" spc="0" normalizeH="0" baseline="0" noProof="0">
                <a:ln>
                  <a:noFill/>
                </a:ln>
                <a:solidFill>
                  <a:prstClr val="black"/>
                </a:solidFill>
                <a:effectLst/>
                <a:uLnTx/>
                <a:uFillTx/>
                <a:latin typeface="Boehringer Forward Text"/>
                <a:ea typeface="+mn-ea"/>
                <a:cs typeface="+mn-cs"/>
              </a:rPr>
              <a:t>(literature and emerging in-house data) and indirectly through suppression of inflammation</a:t>
            </a:r>
          </a:p>
        </p:txBody>
      </p:sp>
      <p:cxnSp>
        <p:nvCxnSpPr>
          <p:cNvPr id="18" name="Straight Connector 17">
            <a:extLst>
              <a:ext uri="{FF2B5EF4-FFF2-40B4-BE49-F238E27FC236}">
                <a16:creationId xmlns:a16="http://schemas.microsoft.com/office/drawing/2014/main" id="{7EA236DA-0748-85E6-7CD4-104E4CDA3A5C}"/>
              </a:ext>
            </a:extLst>
          </p:cNvPr>
          <p:cNvCxnSpPr>
            <a:cxnSpLocks/>
          </p:cNvCxnSpPr>
          <p:nvPr/>
        </p:nvCxnSpPr>
        <p:spPr bwMode="gray">
          <a:xfrm flipH="1">
            <a:off x="6540735" y="1190038"/>
            <a:ext cx="1126390" cy="0"/>
          </a:xfrm>
          <a:prstGeom prst="line">
            <a:avLst/>
          </a:prstGeom>
          <a:ln w="25400">
            <a:solidFill>
              <a:srgbClr val="CBA8B7"/>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742F0DE-F9B3-1B86-9C5C-DD6E027FE135}"/>
              </a:ext>
            </a:extLst>
          </p:cNvPr>
          <p:cNvSpPr txBox="1"/>
          <p:nvPr/>
        </p:nvSpPr>
        <p:spPr bwMode="gray">
          <a:xfrm>
            <a:off x="2846493" y="4687951"/>
            <a:ext cx="5913856" cy="369332"/>
          </a:xfrm>
          <a:prstGeom prst="rect">
            <a:avLst/>
          </a:prstGeom>
          <a:solidFill>
            <a:srgbClr val="C9E3C8"/>
          </a:solidFill>
        </p:spPr>
        <p:txBody>
          <a:bodyPr wrap="square" lIns="0" tIns="0" rIns="0" bIns="0" rtlCol="0">
            <a:spAutoFit/>
          </a:bodyPr>
          <a:lstStyle>
            <a:defPPr>
              <a:defRPr lang="en-US"/>
            </a:defPPr>
            <a:lvl1pPr>
              <a:defRPr sz="1200" b="1"/>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Potential to directly </a:t>
            </a:r>
            <a:r>
              <a:rPr kumimoji="0" lang="en-US" sz="1200" b="1" i="0" u="none" strike="noStrike" kern="1200" cap="none" spc="0" normalizeH="0" baseline="0" noProof="0">
                <a:ln>
                  <a:noFill/>
                </a:ln>
                <a:solidFill>
                  <a:prstClr val="black"/>
                </a:solidFill>
                <a:effectLst/>
                <a:uLnTx/>
                <a:uFillTx/>
                <a:latin typeface="Boehringer Forward Text"/>
                <a:ea typeface="+mn-ea"/>
                <a:cs typeface="+mn-cs"/>
              </a:rPr>
              <a:t>attenuate skin fibrosis</a:t>
            </a:r>
            <a:r>
              <a:rPr kumimoji="0" lang="en-US" sz="1200" b="0" i="0" u="none" strike="noStrike" kern="1200" cap="none" spc="0" normalizeH="0" baseline="0" noProof="0">
                <a:ln>
                  <a:noFill/>
                </a:ln>
                <a:solidFill>
                  <a:prstClr val="black"/>
                </a:solidFill>
                <a:effectLst/>
                <a:uLnTx/>
                <a:uFillTx/>
                <a:latin typeface="Boehringer Forward Text"/>
                <a:ea typeface="+mn-ea"/>
                <a:cs typeface="+mn-cs"/>
              </a:rPr>
              <a:t> by inhibiting pro-fibrotic activation of keratinocytes and promoting barrier function</a:t>
            </a:r>
          </a:p>
        </p:txBody>
      </p:sp>
      <p:sp>
        <p:nvSpPr>
          <p:cNvPr id="40" name="TextBox 39">
            <a:extLst>
              <a:ext uri="{FF2B5EF4-FFF2-40B4-BE49-F238E27FC236}">
                <a16:creationId xmlns:a16="http://schemas.microsoft.com/office/drawing/2014/main" id="{4D46FE53-BC05-7BD8-DE86-A1F26CDDB333}"/>
              </a:ext>
            </a:extLst>
          </p:cNvPr>
          <p:cNvSpPr txBox="1"/>
          <p:nvPr/>
        </p:nvSpPr>
        <p:spPr bwMode="gray">
          <a:xfrm>
            <a:off x="406008" y="1567003"/>
            <a:ext cx="3090910" cy="1292662"/>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Potential to directly </a:t>
            </a:r>
            <a:r>
              <a:rPr kumimoji="0" lang="en-US" sz="1200" b="1" i="0" u="none" strike="noStrike" kern="1200" cap="none" spc="0" normalizeH="0" baseline="0" noProof="0">
                <a:ln>
                  <a:noFill/>
                </a:ln>
                <a:solidFill>
                  <a:prstClr val="black"/>
                </a:solidFill>
                <a:effectLst/>
                <a:uLnTx/>
                <a:uFillTx/>
                <a:latin typeface="Boehringer Forward Text"/>
                <a:ea typeface="+mn-ea"/>
                <a:cs typeface="+mn-cs"/>
              </a:rPr>
              <a:t>attenuate inflammation</a:t>
            </a:r>
            <a:r>
              <a:rPr kumimoji="0" lang="en-US" sz="1200" b="0" i="0" u="none" strike="noStrike" kern="1200" cap="none" spc="0" normalizeH="0" baseline="0" noProof="0">
                <a:ln>
                  <a:noFill/>
                </a:ln>
                <a:solidFill>
                  <a:prstClr val="black"/>
                </a:solidFill>
                <a:effectLst/>
                <a:uLnTx/>
                <a:uFillTx/>
                <a:latin typeface="Boehringer Forward Text"/>
                <a:ea typeface="+mn-ea"/>
                <a:cs typeface="+mn-cs"/>
              </a:rPr>
              <a:t> by modulating macrophage and lymphocyte activation and suppression of pro-inflammatory cytokines and IFNs (activities on macrophages are differentiated from MMF)</a:t>
            </a:r>
          </a:p>
        </p:txBody>
      </p:sp>
      <p:pic>
        <p:nvPicPr>
          <p:cNvPr id="7" name="Picture 6" descr="A close-up of a diagram&#10;&#10;AI-generated content may be incorrect.">
            <a:extLst>
              <a:ext uri="{FF2B5EF4-FFF2-40B4-BE49-F238E27FC236}">
                <a16:creationId xmlns:a16="http://schemas.microsoft.com/office/drawing/2014/main" id="{C178C13A-00D9-4CAC-5F34-1BE6BB5F2985}"/>
              </a:ext>
            </a:extLst>
          </p:cNvPr>
          <p:cNvPicPr>
            <a:picLocks noChangeAspect="1"/>
          </p:cNvPicPr>
          <p:nvPr/>
        </p:nvPicPr>
        <p:blipFill rotWithShape="1">
          <a:blip r:embed="rId2">
            <a:extLst>
              <a:ext uri="{28A0092B-C50C-407E-A947-70E740481C1C}">
                <a14:useLocalDpi xmlns:a14="http://schemas.microsoft.com/office/drawing/2010/main" val="0"/>
              </a:ext>
            </a:extLst>
          </a:blip>
          <a:srcRect l="20412" t="22592" r="42510" b="15688"/>
          <a:stretch/>
        </p:blipFill>
        <p:spPr>
          <a:xfrm>
            <a:off x="3964213" y="668220"/>
            <a:ext cx="3390473" cy="3950571"/>
          </a:xfrm>
          <a:prstGeom prst="rect">
            <a:avLst/>
          </a:prstGeom>
        </p:spPr>
      </p:pic>
    </p:spTree>
    <p:extLst>
      <p:ext uri="{BB962C8B-B14F-4D97-AF65-F5344CB8AC3E}">
        <p14:creationId xmlns:p14="http://schemas.microsoft.com/office/powerpoint/2010/main" val="914065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D79A1C-9748-4C44-A110-899972ABD486}"/>
              </a:ext>
            </a:extLst>
          </p:cNvPr>
          <p:cNvSpPr>
            <a:spLocks noGrp="1"/>
          </p:cNvSpPr>
          <p:nvPr>
            <p:ph type="title"/>
          </p:nvPr>
        </p:nvSpPr>
        <p:spPr>
          <a:xfrm>
            <a:off x="479423" y="427073"/>
            <a:ext cx="11233151" cy="720000"/>
          </a:xfrm>
        </p:spPr>
        <p:txBody>
          <a:bodyPr/>
          <a:lstStyle/>
          <a:p>
            <a:r>
              <a:rPr lang="en-US" altLang="zh-CN"/>
              <a:t>Evidence from subgroup analyses in patients with </a:t>
            </a:r>
            <a:r>
              <a:rPr lang="en-US" altLang="zh-CN" err="1"/>
              <a:t>SSc</a:t>
            </a:r>
            <a:r>
              <a:rPr lang="en-US" altLang="zh-CN"/>
              <a:t>-ILD (trial 1305-0023)</a:t>
            </a:r>
            <a:endParaRPr lang="zh-CN" altLang="en-US"/>
          </a:p>
        </p:txBody>
      </p:sp>
      <p:sp>
        <p:nvSpPr>
          <p:cNvPr id="4" name="页脚占位符 3">
            <a:extLst>
              <a:ext uri="{FF2B5EF4-FFF2-40B4-BE49-F238E27FC236}">
                <a16:creationId xmlns:a16="http://schemas.microsoft.com/office/drawing/2014/main" id="{D1789FC9-3387-0DF9-7655-8824FD81BC42}"/>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sp>
        <p:nvSpPr>
          <p:cNvPr id="6" name="文本框 5">
            <a:extLst>
              <a:ext uri="{FF2B5EF4-FFF2-40B4-BE49-F238E27FC236}">
                <a16:creationId xmlns:a16="http://schemas.microsoft.com/office/drawing/2014/main" id="{420CACA6-47DA-E155-0C21-238917499897}"/>
              </a:ext>
            </a:extLst>
          </p:cNvPr>
          <p:cNvSpPr txBox="1"/>
          <p:nvPr/>
        </p:nvSpPr>
        <p:spPr bwMode="gray">
          <a:xfrm>
            <a:off x="479423" y="1673718"/>
            <a:ext cx="11233151" cy="232390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The analysis of primary and key secondary endpoints in a subgroup of patients with </a:t>
            </a:r>
            <a:r>
              <a:rPr kumimoji="0" lang="en-US" altLang="zh-CN" sz="1400" b="1" i="0" u="none" strike="noStrike" kern="1200" cap="none" spc="0" normalizeH="0" baseline="0" noProof="0" err="1">
                <a:ln>
                  <a:noFill/>
                </a:ln>
                <a:solidFill>
                  <a:prstClr val="black"/>
                </a:solidFill>
                <a:effectLst/>
                <a:uLnTx/>
                <a:uFillTx/>
                <a:latin typeface="Boehringer Forward Text"/>
                <a:ea typeface="+mn-ea"/>
                <a:cs typeface="+mn-cs"/>
              </a:rPr>
              <a:t>SSc</a:t>
            </a: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-ILD, though based on a relatively small sample size (n=75), provides compelling evidence supporting the potential efficacy of </a:t>
            </a:r>
            <a:r>
              <a:rPr kumimoji="0" lang="en-US" altLang="zh-CN" sz="1400" b="1" i="0" u="none" strike="noStrike" kern="1200" cap="none" spc="0" normalizeH="0" baseline="0" noProof="0" err="1">
                <a:ln>
                  <a:noFill/>
                </a:ln>
                <a:solidFill>
                  <a:prstClr val="black"/>
                </a:solidFill>
                <a:effectLst/>
                <a:uLnTx/>
                <a:uFillTx/>
                <a:latin typeface="Boehringer Forward Text"/>
                <a:ea typeface="+mn-ea"/>
                <a:cs typeface="+mn-cs"/>
              </a:rPr>
              <a:t>nerandomilast</a:t>
            </a: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 in this patient population.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In the </a:t>
            </a:r>
            <a:r>
              <a:rPr kumimoji="0" lang="en-US" altLang="zh-CN" sz="1400" b="1" i="0" u="none" strike="noStrike" kern="1200" cap="none" spc="0" normalizeH="0" baseline="0" noProof="0" err="1">
                <a:ln>
                  <a:noFill/>
                </a:ln>
                <a:solidFill>
                  <a:srgbClr val="00E47C"/>
                </a:solidFill>
                <a:effectLst/>
                <a:uLnTx/>
                <a:uFillTx/>
                <a:latin typeface="Boehringer Forward Text"/>
                <a:ea typeface="+mn-ea"/>
                <a:cs typeface="+mn-cs"/>
              </a:rPr>
              <a:t>SSc</a:t>
            </a:r>
            <a:r>
              <a:rPr kumimoji="0" lang="en-US" altLang="zh-CN" sz="1400" b="1" i="0" u="none" strike="noStrike" kern="1200" cap="none" spc="0" normalizeH="0" baseline="0" noProof="0">
                <a:ln>
                  <a:noFill/>
                </a:ln>
                <a:solidFill>
                  <a:srgbClr val="00E47C"/>
                </a:solidFill>
                <a:effectLst/>
                <a:uLnTx/>
                <a:uFillTx/>
                <a:latin typeface="Boehringer Forward Text"/>
                <a:ea typeface="+mn-ea"/>
                <a:cs typeface="+mn-cs"/>
              </a:rPr>
              <a:t>-ILD subgroup</a:t>
            </a: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1400" b="1" i="0" u="none" strike="noStrike" kern="1200" cap="none" spc="0" normalizeH="0" baseline="0" noProof="0" err="1">
                <a:ln>
                  <a:noFill/>
                </a:ln>
                <a:solidFill>
                  <a:prstClr val="black"/>
                </a:solidFill>
                <a:effectLst/>
                <a:uLnTx/>
                <a:uFillTx/>
                <a:latin typeface="Boehringer Forward Text"/>
                <a:ea typeface="+mn-ea"/>
                <a:cs typeface="+mn-cs"/>
              </a:rPr>
              <a:t>nerandomilast</a:t>
            </a: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 showed </a:t>
            </a:r>
            <a:r>
              <a:rPr kumimoji="0" lang="en-US" altLang="zh-CN" sz="1400" b="1" i="0" u="none" strike="noStrike" kern="1200" cap="none" spc="0" normalizeH="0" baseline="0" noProof="0">
                <a:ln>
                  <a:noFill/>
                </a:ln>
                <a:solidFill>
                  <a:srgbClr val="00E47C"/>
                </a:solidFill>
                <a:effectLst/>
                <a:uLnTx/>
                <a:uFillTx/>
                <a:latin typeface="Boehringer Forward Text"/>
                <a:ea typeface="+mn-ea"/>
                <a:cs typeface="+mn-cs"/>
              </a:rPr>
              <a:t>numerically favorable trends in both primary and key secondary endpoints</a:t>
            </a: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despite the limited sample size. </a:t>
            </a: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Safety data in this subgroup were generally consistent with the overall safety profile.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These findings support the clinical relevance of the pre-clinical data and justify further evaluation of </a:t>
            </a:r>
            <a:r>
              <a:rPr kumimoji="0" lang="en-US" altLang="zh-CN" sz="1400" b="0" i="0" u="none" strike="noStrike" kern="1200" cap="none" spc="0" normalizeH="0" baseline="0" noProof="0" err="1">
                <a:ln>
                  <a:noFill/>
                </a:ln>
                <a:solidFill>
                  <a:prstClr val="black"/>
                </a:solidFill>
                <a:effectLst/>
                <a:uLnTx/>
                <a:uFillTx/>
                <a:latin typeface="Boehringer Forward Text"/>
                <a:ea typeface="+mn-ea"/>
                <a:cs typeface="+mn-cs"/>
              </a:rPr>
              <a:t>nerandomilast</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on ILD and other organ manifestations in </a:t>
            </a:r>
            <a:r>
              <a:rPr kumimoji="0" lang="en-US" altLang="zh-CN" sz="1400" b="0" i="0" u="none" strike="noStrike" kern="1200" cap="none" spc="0" normalizeH="0" baseline="0" noProof="0" err="1">
                <a:ln>
                  <a:noFill/>
                </a:ln>
                <a:solidFill>
                  <a:prstClr val="black"/>
                </a:solidFill>
                <a:effectLst/>
                <a:uLnTx/>
                <a:uFillTx/>
                <a:latin typeface="Boehringer Forward Text"/>
                <a:ea typeface="+mn-ea"/>
                <a:cs typeface="+mn-cs"/>
              </a:rPr>
              <a:t>SSc</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in a confirmatory Phase III trial.</a:t>
            </a:r>
            <a:endParaRPr kumimoji="0" lang="zh-CN" altLang="en-US" sz="14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948579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862844-DD48-53DF-2B1B-6EE87C4824D8}"/>
              </a:ext>
            </a:extLst>
          </p:cNvPr>
          <p:cNvSpPr>
            <a:spLocks noGrp="1"/>
          </p:cNvSpPr>
          <p:nvPr>
            <p:ph type="title"/>
          </p:nvPr>
        </p:nvSpPr>
        <p:spPr>
          <a:xfrm>
            <a:off x="274517" y="129644"/>
            <a:ext cx="11706201" cy="720000"/>
          </a:xfrm>
        </p:spPr>
        <p:txBody>
          <a:bodyPr/>
          <a:lstStyle/>
          <a:p>
            <a:r>
              <a:rPr lang="en-US" altLang="zh-CN" sz="2400">
                <a:solidFill>
                  <a:schemeClr val="tx1"/>
                </a:solidFill>
              </a:rPr>
              <a:t>In the </a:t>
            </a:r>
            <a:r>
              <a:rPr lang="en-US" altLang="zh-CN" sz="2400" err="1">
                <a:solidFill>
                  <a:schemeClr val="tx1"/>
                </a:solidFill>
              </a:rPr>
              <a:t>SSc</a:t>
            </a:r>
            <a:r>
              <a:rPr lang="en-US" altLang="zh-CN" sz="2400">
                <a:solidFill>
                  <a:schemeClr val="tx1"/>
                </a:solidFill>
              </a:rPr>
              <a:t>-ILD subgroup, </a:t>
            </a:r>
            <a:r>
              <a:rPr lang="en-US" altLang="zh-CN" sz="2400" err="1">
                <a:solidFill>
                  <a:schemeClr val="tx1"/>
                </a:solidFill>
              </a:rPr>
              <a:t>nerandomilast</a:t>
            </a:r>
            <a:r>
              <a:rPr lang="en-US" altLang="zh-CN" sz="2400">
                <a:solidFill>
                  <a:schemeClr val="tx1"/>
                </a:solidFill>
              </a:rPr>
              <a:t> showed numerically favorable trends in both primary and key secondary endpoints, despite the limited sample size</a:t>
            </a:r>
            <a:endParaRPr lang="zh-CN" altLang="en-US" sz="2400">
              <a:solidFill>
                <a:schemeClr val="tx1"/>
              </a:solidFill>
            </a:endParaRPr>
          </a:p>
        </p:txBody>
      </p:sp>
      <p:sp>
        <p:nvSpPr>
          <p:cNvPr id="4" name="页脚占位符 3">
            <a:extLst>
              <a:ext uri="{FF2B5EF4-FFF2-40B4-BE49-F238E27FC236}">
                <a16:creationId xmlns:a16="http://schemas.microsoft.com/office/drawing/2014/main" id="{B4056E2D-EB45-5568-8B8B-072E9976A0F0}"/>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graphicFrame>
        <p:nvGraphicFramePr>
          <p:cNvPr id="7" name="表格 6">
            <a:extLst>
              <a:ext uri="{FF2B5EF4-FFF2-40B4-BE49-F238E27FC236}">
                <a16:creationId xmlns:a16="http://schemas.microsoft.com/office/drawing/2014/main" id="{D1937F9D-F766-9A05-B03B-BC0839C77BF9}"/>
              </a:ext>
            </a:extLst>
          </p:cNvPr>
          <p:cNvGraphicFramePr>
            <a:graphicFrameLocks noGrp="1"/>
          </p:cNvGraphicFramePr>
          <p:nvPr>
            <p:extLst>
              <p:ext uri="{D42A27DB-BD31-4B8C-83A1-F6EECF244321}">
                <p14:modId xmlns:p14="http://schemas.microsoft.com/office/powerpoint/2010/main" val="1193293160"/>
              </p:ext>
            </p:extLst>
          </p:nvPr>
        </p:nvGraphicFramePr>
        <p:xfrm>
          <a:off x="415660" y="1281348"/>
          <a:ext cx="5559979" cy="2539528"/>
        </p:xfrm>
        <a:graphic>
          <a:graphicData uri="http://schemas.openxmlformats.org/drawingml/2006/table">
            <a:tbl>
              <a:tblPr firstRow="1" firstCol="1" bandRow="1">
                <a:tableStyleId>{5C22544A-7EE6-4342-B048-85BDC9FD1C3A}</a:tableStyleId>
              </a:tblPr>
              <a:tblGrid>
                <a:gridCol w="1163758">
                  <a:extLst>
                    <a:ext uri="{9D8B030D-6E8A-4147-A177-3AD203B41FA5}">
                      <a16:colId xmlns:a16="http://schemas.microsoft.com/office/drawing/2014/main" val="2783583109"/>
                    </a:ext>
                  </a:extLst>
                </a:gridCol>
                <a:gridCol w="1402773">
                  <a:extLst>
                    <a:ext uri="{9D8B030D-6E8A-4147-A177-3AD203B41FA5}">
                      <a16:colId xmlns:a16="http://schemas.microsoft.com/office/drawing/2014/main" val="774995110"/>
                    </a:ext>
                  </a:extLst>
                </a:gridCol>
                <a:gridCol w="1475509">
                  <a:extLst>
                    <a:ext uri="{9D8B030D-6E8A-4147-A177-3AD203B41FA5}">
                      <a16:colId xmlns:a16="http://schemas.microsoft.com/office/drawing/2014/main" val="635335805"/>
                    </a:ext>
                  </a:extLst>
                </a:gridCol>
                <a:gridCol w="1517939">
                  <a:extLst>
                    <a:ext uri="{9D8B030D-6E8A-4147-A177-3AD203B41FA5}">
                      <a16:colId xmlns:a16="http://schemas.microsoft.com/office/drawing/2014/main" val="964296583"/>
                    </a:ext>
                  </a:extLst>
                </a:gridCol>
              </a:tblGrid>
              <a:tr h="527848">
                <a:tc>
                  <a:txBody>
                    <a:bodyPr/>
                    <a:lstStyle/>
                    <a:p>
                      <a:pPr>
                        <a:buNone/>
                      </a:pPr>
                      <a:r>
                        <a:rPr lang="en-GB" sz="1400">
                          <a:solidFill>
                            <a:schemeClr val="tx1"/>
                          </a:solidFill>
                          <a:effectLst/>
                        </a:rPr>
                        <a:t> </a:t>
                      </a:r>
                      <a:endParaRPr lang="zh-CN" sz="18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lgn="ctr">
                        <a:buNone/>
                      </a:pPr>
                      <a:r>
                        <a:rPr lang="en-GB" sz="1400">
                          <a:solidFill>
                            <a:schemeClr val="tx1"/>
                          </a:solidFill>
                          <a:effectLst/>
                        </a:rPr>
                        <a:t>Placebo (n=23)</a:t>
                      </a:r>
                      <a:endParaRPr lang="zh-CN" sz="18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lgn="ctr">
                        <a:buNone/>
                      </a:pPr>
                      <a:r>
                        <a:rPr lang="en-GB" sz="1400">
                          <a:solidFill>
                            <a:schemeClr val="tx1"/>
                          </a:solidFill>
                          <a:effectLst/>
                        </a:rPr>
                        <a:t>Nera 9 mg bid (n=25)</a:t>
                      </a:r>
                      <a:endParaRPr lang="zh-CN" sz="18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lgn="ctr">
                        <a:buNone/>
                      </a:pPr>
                      <a:r>
                        <a:rPr lang="en-GB" sz="1400">
                          <a:solidFill>
                            <a:schemeClr val="tx1"/>
                          </a:solidFill>
                          <a:effectLst/>
                        </a:rPr>
                        <a:t>Nera 18 mg bid (n=27)</a:t>
                      </a:r>
                      <a:endParaRPr lang="zh-CN" sz="18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738663393"/>
                  </a:ext>
                </a:extLst>
              </a:tr>
              <a:tr h="284701">
                <a:tc>
                  <a:txBody>
                    <a:bodyPr/>
                    <a:lstStyle/>
                    <a:p>
                      <a:pPr algn="ctr">
                        <a:buNone/>
                      </a:pPr>
                      <a:r>
                        <a:rPr lang="en-GB" sz="1200">
                          <a:solidFill>
                            <a:schemeClr val="tx1"/>
                          </a:solidFill>
                          <a:effectLst/>
                        </a:rPr>
                        <a:t>Baseline, mean (SD), mL</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lgn="ctr">
                        <a:buNone/>
                      </a:pPr>
                      <a:r>
                        <a:rPr lang="en-GB" sz="1200">
                          <a:solidFill>
                            <a:schemeClr val="tx1"/>
                          </a:solidFill>
                          <a:effectLst/>
                        </a:rPr>
                        <a:t>2045.30 (631.65)</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1200">
                          <a:solidFill>
                            <a:schemeClr val="tx1"/>
                          </a:solidFill>
                          <a:effectLst/>
                        </a:rPr>
                        <a:t>2199.48 (678.28)</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1200">
                          <a:solidFill>
                            <a:schemeClr val="tx1"/>
                          </a:solidFill>
                          <a:effectLst/>
                        </a:rPr>
                        <a:t>2012.93 (576.14)</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8859220"/>
                  </a:ext>
                </a:extLst>
              </a:tr>
              <a:tr h="569402">
                <a:tc>
                  <a:txBody>
                    <a:bodyPr/>
                    <a:lstStyle/>
                    <a:p>
                      <a:pPr algn="ctr">
                        <a:buNone/>
                      </a:pPr>
                      <a:r>
                        <a:rPr lang="en-GB" sz="1200">
                          <a:solidFill>
                            <a:schemeClr val="tx1"/>
                          </a:solidFill>
                          <a:effectLst/>
                        </a:rPr>
                        <a:t>Week 52 change from baseline, adjusted mean, mL</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lgn="ctr">
                        <a:buNone/>
                      </a:pPr>
                      <a:r>
                        <a:rPr lang="en-GB" sz="1200">
                          <a:solidFill>
                            <a:schemeClr val="tx1"/>
                          </a:solidFill>
                          <a:effectLst/>
                        </a:rPr>
                        <a:t>-116.13 </a:t>
                      </a:r>
                    </a:p>
                    <a:p>
                      <a:pPr algn="ctr">
                        <a:buNone/>
                      </a:pPr>
                      <a:r>
                        <a:rPr lang="en-GB" sz="1200">
                          <a:solidFill>
                            <a:schemeClr val="tx1"/>
                          </a:solidFill>
                          <a:effectLst/>
                        </a:rPr>
                        <a:t>(-220.24, -12.03)</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1200">
                          <a:solidFill>
                            <a:schemeClr val="tx1"/>
                          </a:solidFill>
                          <a:effectLst/>
                        </a:rPr>
                        <a:t>-49.13 </a:t>
                      </a:r>
                    </a:p>
                    <a:p>
                      <a:pPr algn="ctr">
                        <a:buNone/>
                      </a:pPr>
                      <a:r>
                        <a:rPr lang="en-GB" sz="1200">
                          <a:solidFill>
                            <a:schemeClr val="tx1"/>
                          </a:solidFill>
                          <a:effectLst/>
                        </a:rPr>
                        <a:t>(-146.31, 48.05)</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1200" b="1">
                          <a:solidFill>
                            <a:schemeClr val="tx2"/>
                          </a:solidFill>
                          <a:effectLst/>
                        </a:rPr>
                        <a:t>0.54 </a:t>
                      </a:r>
                    </a:p>
                    <a:p>
                      <a:pPr algn="ctr">
                        <a:buNone/>
                      </a:pPr>
                      <a:r>
                        <a:rPr lang="en-GB" sz="1200" b="1">
                          <a:solidFill>
                            <a:schemeClr val="tx1"/>
                          </a:solidFill>
                          <a:effectLst/>
                        </a:rPr>
                        <a:t>(-93.87, 94.95)</a:t>
                      </a:r>
                      <a:endParaRPr lang="zh-CN" sz="1600" b="1">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0541177"/>
                  </a:ext>
                </a:extLst>
              </a:tr>
              <a:tr h="284701">
                <a:tc>
                  <a:txBody>
                    <a:bodyPr/>
                    <a:lstStyle/>
                    <a:p>
                      <a:pPr algn="ctr">
                        <a:buNone/>
                      </a:pPr>
                      <a:r>
                        <a:rPr lang="en-GB" sz="1200">
                          <a:solidFill>
                            <a:schemeClr val="tx1"/>
                          </a:solidFill>
                          <a:effectLst/>
                        </a:rPr>
                        <a:t>Adjusted mean vs. placebo, mL</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lgn="ctr">
                        <a:buNone/>
                      </a:pPr>
                      <a:r>
                        <a:rPr lang="en-GB" sz="1200">
                          <a:solidFill>
                            <a:schemeClr val="tx1"/>
                          </a:solidFill>
                          <a:effectLst/>
                        </a:rPr>
                        <a:t> </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1200">
                          <a:solidFill>
                            <a:schemeClr val="tx1"/>
                          </a:solidFill>
                          <a:effectLst/>
                        </a:rPr>
                        <a:t>67.00 </a:t>
                      </a:r>
                    </a:p>
                    <a:p>
                      <a:pPr algn="ctr">
                        <a:buNone/>
                      </a:pPr>
                      <a:r>
                        <a:rPr lang="en-GB" sz="1200">
                          <a:solidFill>
                            <a:schemeClr val="tx1"/>
                          </a:solidFill>
                          <a:effectLst/>
                        </a:rPr>
                        <a:t>(-75.31, 209.32)</a:t>
                      </a:r>
                      <a:endParaRPr lang="zh-CN" sz="1600">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GB" sz="1200" b="1">
                          <a:solidFill>
                            <a:schemeClr val="tx2"/>
                          </a:solidFill>
                          <a:effectLst/>
                        </a:rPr>
                        <a:t>116.67 </a:t>
                      </a:r>
                    </a:p>
                    <a:p>
                      <a:pPr algn="ctr">
                        <a:buNone/>
                      </a:pPr>
                      <a:r>
                        <a:rPr lang="en-GB" sz="1200" b="1">
                          <a:solidFill>
                            <a:schemeClr val="tx1"/>
                          </a:solidFill>
                          <a:effectLst/>
                        </a:rPr>
                        <a:t>(-23.58, 256.93)</a:t>
                      </a:r>
                      <a:endParaRPr lang="zh-CN" sz="1600" b="1">
                        <a:solidFill>
                          <a:schemeClr val="tx1"/>
                        </a:solidFill>
                        <a:effectLst/>
                        <a:latin typeface="Times New Roman" panose="02020603050405020304" pitchFamily="18" charset="0"/>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0112382"/>
                  </a:ext>
                </a:extLst>
              </a:tr>
            </a:tbl>
          </a:graphicData>
        </a:graphic>
      </p:graphicFrame>
      <p:pic>
        <p:nvPicPr>
          <p:cNvPr id="8" name="Picture 2">
            <a:extLst>
              <a:ext uri="{FF2B5EF4-FFF2-40B4-BE49-F238E27FC236}">
                <a16:creationId xmlns:a16="http://schemas.microsoft.com/office/drawing/2014/main" id="{E06D8CEE-56D8-A63F-4C31-2D853E0BB2E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8325"/>
          <a:stretch/>
        </p:blipFill>
        <p:spPr bwMode="auto">
          <a:xfrm>
            <a:off x="6096000" y="1173740"/>
            <a:ext cx="5687291" cy="2835041"/>
          </a:xfrm>
          <a:prstGeom prst="rect">
            <a:avLst/>
          </a:prstGeom>
          <a:noFill/>
          <a:ln>
            <a:noFill/>
          </a:ln>
          <a:extLst>
            <a:ext uri="{53640926-AAD7-44D8-BBD7-CCE9431645EC}">
              <a14:shadowObscured xmlns:a14="http://schemas.microsoft.com/office/drawing/2010/main"/>
            </a:ext>
          </a:extLst>
        </p:spPr>
      </p:pic>
      <p:graphicFrame>
        <p:nvGraphicFramePr>
          <p:cNvPr id="3" name="表格 2">
            <a:extLst>
              <a:ext uri="{FF2B5EF4-FFF2-40B4-BE49-F238E27FC236}">
                <a16:creationId xmlns:a16="http://schemas.microsoft.com/office/drawing/2014/main" id="{2392849F-C9B7-3D59-A812-1EFB7770F561}"/>
              </a:ext>
            </a:extLst>
          </p:cNvPr>
          <p:cNvGraphicFramePr>
            <a:graphicFrameLocks noGrp="1"/>
          </p:cNvGraphicFramePr>
          <p:nvPr>
            <p:extLst>
              <p:ext uri="{D42A27DB-BD31-4B8C-83A1-F6EECF244321}">
                <p14:modId xmlns:p14="http://schemas.microsoft.com/office/powerpoint/2010/main" val="1412355640"/>
              </p:ext>
            </p:extLst>
          </p:nvPr>
        </p:nvGraphicFramePr>
        <p:xfrm>
          <a:off x="1424420" y="4486503"/>
          <a:ext cx="9102437" cy="1905291"/>
        </p:xfrm>
        <a:graphic>
          <a:graphicData uri="http://schemas.openxmlformats.org/drawingml/2006/table">
            <a:tbl>
              <a:tblPr firstRow="1" firstCol="1" bandRow="1">
                <a:tableStyleId>{5C22544A-7EE6-4342-B048-85BDC9FD1C3A}</a:tableStyleId>
              </a:tblPr>
              <a:tblGrid>
                <a:gridCol w="3294226">
                  <a:extLst>
                    <a:ext uri="{9D8B030D-6E8A-4147-A177-3AD203B41FA5}">
                      <a16:colId xmlns:a16="http://schemas.microsoft.com/office/drawing/2014/main" val="1909334979"/>
                    </a:ext>
                  </a:extLst>
                </a:gridCol>
                <a:gridCol w="1527157">
                  <a:extLst>
                    <a:ext uri="{9D8B030D-6E8A-4147-A177-3AD203B41FA5}">
                      <a16:colId xmlns:a16="http://schemas.microsoft.com/office/drawing/2014/main" val="3909350823"/>
                    </a:ext>
                  </a:extLst>
                </a:gridCol>
                <a:gridCol w="1995054">
                  <a:extLst>
                    <a:ext uri="{9D8B030D-6E8A-4147-A177-3AD203B41FA5}">
                      <a16:colId xmlns:a16="http://schemas.microsoft.com/office/drawing/2014/main" val="1289357892"/>
                    </a:ext>
                  </a:extLst>
                </a:gridCol>
                <a:gridCol w="2286000">
                  <a:extLst>
                    <a:ext uri="{9D8B030D-6E8A-4147-A177-3AD203B41FA5}">
                      <a16:colId xmlns:a16="http://schemas.microsoft.com/office/drawing/2014/main" val="655047961"/>
                    </a:ext>
                  </a:extLst>
                </a:gridCol>
              </a:tblGrid>
              <a:tr h="313113">
                <a:tc>
                  <a:txBody>
                    <a:bodyPr/>
                    <a:lstStyle/>
                    <a:p>
                      <a:pPr>
                        <a:buNone/>
                      </a:pPr>
                      <a:r>
                        <a:rPr lang="en-GB" sz="1200">
                          <a:solidFill>
                            <a:srgbClr val="000000"/>
                          </a:solidFill>
                          <a:effectLst/>
                          <a:latin typeface="+mn-lt"/>
                          <a:ea typeface="MS Mincho" panose="02020609040205080304" pitchFamily="49" charset="-128"/>
                          <a:cs typeface="Cordia New" panose="020B0304020202020204" pitchFamily="34" charset="-34"/>
                        </a:rPr>
                        <a:t> </a:t>
                      </a:r>
                      <a:endParaRPr lang="zh-CN" sz="16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Placebo (n=23)</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Nera 9 mg bid (n=25)</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Nera 18 mg bid (n=27)</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730275246"/>
                  </a:ext>
                </a:extLst>
              </a:tr>
              <a:tr h="215669">
                <a:tc>
                  <a:txBody>
                    <a:bodyPr/>
                    <a:lstStyle/>
                    <a:p>
                      <a:pPr>
                        <a:buNone/>
                      </a:pPr>
                      <a:r>
                        <a:rPr lang="en-GB" sz="1200">
                          <a:solidFill>
                            <a:srgbClr val="000000"/>
                          </a:solidFill>
                          <a:effectLst/>
                          <a:latin typeface="+mn-lt"/>
                          <a:ea typeface="MS Mincho" panose="02020609040205080304" pitchFamily="49" charset="-128"/>
                          <a:cs typeface="Cordia New" panose="020B0304020202020204" pitchFamily="34" charset="-34"/>
                        </a:rPr>
                        <a:t>Number of patients (N %)</a:t>
                      </a:r>
                      <a:endParaRPr lang="zh-CN" sz="16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23 (100)</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25 (100)</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27 (100)</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9038476"/>
                  </a:ext>
                </a:extLst>
              </a:tr>
              <a:tr h="215669">
                <a:tc>
                  <a:txBody>
                    <a:bodyPr/>
                    <a:lstStyle/>
                    <a:p>
                      <a:pPr>
                        <a:buNone/>
                      </a:pPr>
                      <a:r>
                        <a:rPr lang="en-GB" sz="1200">
                          <a:solidFill>
                            <a:srgbClr val="000000"/>
                          </a:solidFill>
                          <a:effectLst/>
                          <a:latin typeface="+mn-lt"/>
                          <a:ea typeface="MS Mincho" panose="02020609040205080304" pitchFamily="49" charset="-128"/>
                          <a:cs typeface="Cordia New" panose="020B0304020202020204" pitchFamily="34" charset="-34"/>
                        </a:rPr>
                        <a:t>Number of patients with event (N %)</a:t>
                      </a:r>
                      <a:endParaRPr lang="zh-CN" sz="16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6 (26.1)</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4 (16.0)</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4 (14.8)</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2169822"/>
                  </a:ext>
                </a:extLst>
              </a:tr>
              <a:tr h="215669">
                <a:tc>
                  <a:txBody>
                    <a:bodyPr/>
                    <a:lstStyle/>
                    <a:p>
                      <a:pPr>
                        <a:buNone/>
                      </a:pPr>
                      <a:r>
                        <a:rPr lang="en-GB" sz="1200" b="0">
                          <a:solidFill>
                            <a:srgbClr val="000000"/>
                          </a:solidFill>
                          <a:effectLst/>
                          <a:latin typeface="+mn-lt"/>
                          <a:ea typeface="MS Mincho" panose="02020609040205080304" pitchFamily="49" charset="-128"/>
                          <a:cs typeface="Cordia New" panose="020B0304020202020204" pitchFamily="34" charset="-34"/>
                        </a:rPr>
                        <a:t>- Acute ILD exacerbation</a:t>
                      </a:r>
                      <a:endParaRPr lang="zh-CN" sz="1600" b="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3 (13.0)</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0</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2 (7.4)</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8020129"/>
                  </a:ext>
                </a:extLst>
              </a:tr>
              <a:tr h="298164">
                <a:tc>
                  <a:txBody>
                    <a:bodyPr/>
                    <a:lstStyle/>
                    <a:p>
                      <a:pPr>
                        <a:buNone/>
                      </a:pPr>
                      <a:r>
                        <a:rPr lang="en-GB" sz="1200" b="0">
                          <a:solidFill>
                            <a:srgbClr val="000000"/>
                          </a:solidFill>
                          <a:effectLst/>
                          <a:latin typeface="+mn-lt"/>
                          <a:ea typeface="MS Mincho" panose="02020609040205080304" pitchFamily="49" charset="-128"/>
                          <a:cs typeface="Cordia New" panose="020B0304020202020204" pitchFamily="34" charset="-34"/>
                        </a:rPr>
                        <a:t>- Hospitalisation for respiratory cause</a:t>
                      </a:r>
                      <a:endParaRPr lang="zh-CN" sz="1600" b="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1 (4.3)</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3 (12.0)</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2 (7.4)</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8670696"/>
                  </a:ext>
                </a:extLst>
              </a:tr>
              <a:tr h="215669">
                <a:tc>
                  <a:txBody>
                    <a:bodyPr/>
                    <a:lstStyle/>
                    <a:p>
                      <a:pPr>
                        <a:buNone/>
                      </a:pPr>
                      <a:r>
                        <a:rPr lang="en-GB" sz="1200" b="0">
                          <a:solidFill>
                            <a:srgbClr val="000000"/>
                          </a:solidFill>
                          <a:effectLst/>
                          <a:latin typeface="+mn-lt"/>
                          <a:ea typeface="MS Mincho" panose="02020609040205080304" pitchFamily="49" charset="-128"/>
                          <a:cs typeface="Cordia New" panose="020B0304020202020204" pitchFamily="34" charset="-34"/>
                        </a:rPr>
                        <a:t>- Death</a:t>
                      </a:r>
                      <a:endParaRPr lang="zh-CN" sz="1600" b="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2 (8.7)</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1 (4.0)</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0">
                          <a:solidFill>
                            <a:schemeClr val="tx1"/>
                          </a:solidFill>
                          <a:effectLst/>
                          <a:latin typeface="+mn-lt"/>
                          <a:ea typeface="MS Mincho" panose="02020609040205080304" pitchFamily="49" charset="-128"/>
                          <a:cs typeface="Cordia New" panose="020B0304020202020204" pitchFamily="34" charset="-34"/>
                        </a:rPr>
                        <a:t>0</a:t>
                      </a:r>
                      <a:endParaRPr lang="zh-CN" sz="1800" b="0">
                        <a:solidFill>
                          <a:schemeClr val="tx1"/>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1540980"/>
                  </a:ext>
                </a:extLst>
              </a:tr>
              <a:tr h="215669">
                <a:tc>
                  <a:txBody>
                    <a:bodyPr/>
                    <a:lstStyle/>
                    <a:p>
                      <a:pPr>
                        <a:buNone/>
                      </a:pPr>
                      <a:r>
                        <a:rPr lang="en-GB" sz="1200">
                          <a:solidFill>
                            <a:srgbClr val="000000"/>
                          </a:solidFill>
                          <a:effectLst/>
                          <a:latin typeface="+mn-lt"/>
                          <a:ea typeface="MS Mincho" panose="02020609040205080304" pitchFamily="49" charset="-128"/>
                          <a:cs typeface="Cordia New" panose="020B0304020202020204" pitchFamily="34" charset="-34"/>
                        </a:rPr>
                        <a:t>HR vs placebo</a:t>
                      </a:r>
                      <a:endParaRPr lang="zh-CN" sz="16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 </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1">
                          <a:solidFill>
                            <a:schemeClr val="tx2"/>
                          </a:solidFill>
                          <a:effectLst/>
                          <a:latin typeface="+mn-lt"/>
                          <a:ea typeface="MS Mincho" panose="02020609040205080304" pitchFamily="49" charset="-128"/>
                          <a:cs typeface="Cordia New" panose="020B0304020202020204" pitchFamily="34" charset="-34"/>
                        </a:rPr>
                        <a:t>0.55</a:t>
                      </a:r>
                      <a:endParaRPr lang="zh-CN" sz="1800" b="1">
                        <a:solidFill>
                          <a:schemeClr val="tx2"/>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b="1">
                          <a:solidFill>
                            <a:schemeClr val="tx2"/>
                          </a:solidFill>
                          <a:effectLst/>
                          <a:latin typeface="+mn-lt"/>
                          <a:ea typeface="MS Mincho" panose="02020609040205080304" pitchFamily="49" charset="-128"/>
                          <a:cs typeface="Cordia New" panose="020B0304020202020204" pitchFamily="34" charset="-34"/>
                        </a:rPr>
                        <a:t>0.37</a:t>
                      </a:r>
                      <a:endParaRPr lang="zh-CN" sz="1800" b="1">
                        <a:solidFill>
                          <a:schemeClr val="tx2"/>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9538943"/>
                  </a:ext>
                </a:extLst>
              </a:tr>
              <a:tr h="215669">
                <a:tc>
                  <a:txBody>
                    <a:bodyPr/>
                    <a:lstStyle/>
                    <a:p>
                      <a:pPr>
                        <a:buNone/>
                      </a:pPr>
                      <a:r>
                        <a:rPr lang="en-GB" sz="1200">
                          <a:solidFill>
                            <a:srgbClr val="000000"/>
                          </a:solidFill>
                          <a:effectLst/>
                          <a:latin typeface="+mn-lt"/>
                          <a:ea typeface="MS Mincho" panose="02020609040205080304" pitchFamily="49" charset="-128"/>
                          <a:cs typeface="Cordia New" panose="020B0304020202020204" pitchFamily="34" charset="-34"/>
                        </a:rPr>
                        <a:t>95% CI</a:t>
                      </a:r>
                      <a:endParaRPr lang="zh-CN" sz="16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 </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0.15, 1.94</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400">
                          <a:solidFill>
                            <a:srgbClr val="000000"/>
                          </a:solidFill>
                          <a:effectLst/>
                          <a:latin typeface="+mn-lt"/>
                          <a:ea typeface="MS Mincho" panose="02020609040205080304" pitchFamily="49" charset="-128"/>
                          <a:cs typeface="Cordia New" panose="020B0304020202020204" pitchFamily="34" charset="-34"/>
                        </a:rPr>
                        <a:t>0.10, 1.32</a:t>
                      </a:r>
                      <a:endParaRPr lang="zh-CN" sz="18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7858725"/>
                  </a:ext>
                </a:extLst>
              </a:tr>
            </a:tbl>
          </a:graphicData>
        </a:graphic>
      </p:graphicFrame>
      <p:sp>
        <p:nvSpPr>
          <p:cNvPr id="5" name="文本框 4">
            <a:extLst>
              <a:ext uri="{FF2B5EF4-FFF2-40B4-BE49-F238E27FC236}">
                <a16:creationId xmlns:a16="http://schemas.microsoft.com/office/drawing/2014/main" id="{252262E4-6EBA-CD45-78DA-D8831BA75A0C}"/>
              </a:ext>
            </a:extLst>
          </p:cNvPr>
          <p:cNvSpPr txBox="1"/>
          <p:nvPr/>
        </p:nvSpPr>
        <p:spPr bwMode="gray">
          <a:xfrm>
            <a:off x="2119745" y="853732"/>
            <a:ext cx="2215350" cy="315920"/>
          </a:xfrm>
          <a:prstGeom prst="rect">
            <a:avLst/>
          </a:prstGeom>
          <a:noFill/>
        </p:spPr>
        <p:txBody>
          <a:bodyPr wrap="none" lIns="0" tIns="0" rIns="0" bIns="0" rtlCol="0">
            <a:spAutoFit/>
          </a:bodyPr>
          <a:lstStyle/>
          <a:p>
            <a:pPr algn="l">
              <a:lnSpc>
                <a:spcPct val="140000"/>
              </a:lnSpc>
            </a:pPr>
            <a:r>
              <a:rPr lang="en-US" altLang="zh-CN" sz="1600"/>
              <a:t>Change in FVC at W52</a:t>
            </a:r>
            <a:endParaRPr lang="zh-CN" altLang="en-US" sz="1600"/>
          </a:p>
        </p:txBody>
      </p:sp>
      <p:sp>
        <p:nvSpPr>
          <p:cNvPr id="6" name="文本框 5">
            <a:extLst>
              <a:ext uri="{FF2B5EF4-FFF2-40B4-BE49-F238E27FC236}">
                <a16:creationId xmlns:a16="http://schemas.microsoft.com/office/drawing/2014/main" id="{89E3CAB1-174D-14E8-A930-E14E63C78049}"/>
              </a:ext>
            </a:extLst>
          </p:cNvPr>
          <p:cNvSpPr txBox="1"/>
          <p:nvPr/>
        </p:nvSpPr>
        <p:spPr bwMode="gray">
          <a:xfrm>
            <a:off x="7701043" y="849644"/>
            <a:ext cx="2933495" cy="315920"/>
          </a:xfrm>
          <a:prstGeom prst="rect">
            <a:avLst/>
          </a:prstGeom>
          <a:noFill/>
        </p:spPr>
        <p:txBody>
          <a:bodyPr wrap="none" lIns="0" tIns="0" rIns="0" bIns="0" rtlCol="0">
            <a:spAutoFit/>
          </a:bodyPr>
          <a:lstStyle/>
          <a:p>
            <a:pPr algn="l">
              <a:lnSpc>
                <a:spcPct val="140000"/>
              </a:lnSpc>
            </a:pPr>
            <a:r>
              <a:rPr lang="en-US" altLang="zh-CN" sz="1600"/>
              <a:t>Change in FVC over 52 weeks</a:t>
            </a:r>
            <a:endParaRPr lang="zh-CN" altLang="en-US" sz="1600"/>
          </a:p>
        </p:txBody>
      </p:sp>
      <p:sp>
        <p:nvSpPr>
          <p:cNvPr id="9" name="文本框 8">
            <a:extLst>
              <a:ext uri="{FF2B5EF4-FFF2-40B4-BE49-F238E27FC236}">
                <a16:creationId xmlns:a16="http://schemas.microsoft.com/office/drawing/2014/main" id="{3838D27B-04D7-A450-D04A-E53ED0803940}"/>
              </a:ext>
            </a:extLst>
          </p:cNvPr>
          <p:cNvSpPr txBox="1"/>
          <p:nvPr/>
        </p:nvSpPr>
        <p:spPr bwMode="gray">
          <a:xfrm>
            <a:off x="2277647" y="4132663"/>
            <a:ext cx="7636706" cy="315920"/>
          </a:xfrm>
          <a:prstGeom prst="rect">
            <a:avLst/>
          </a:prstGeom>
          <a:noFill/>
        </p:spPr>
        <p:txBody>
          <a:bodyPr wrap="none" lIns="0" tIns="0" rIns="0" bIns="0" rtlCol="0">
            <a:spAutoFit/>
          </a:bodyPr>
          <a:lstStyle/>
          <a:p>
            <a:pPr algn="l">
              <a:lnSpc>
                <a:spcPct val="140000"/>
              </a:lnSpc>
            </a:pPr>
            <a:r>
              <a:rPr lang="en-US" altLang="zh-CN" sz="1600"/>
              <a:t>Time to first acute ILD exacerbation, hospitalization for respiratory case or death</a:t>
            </a:r>
            <a:endParaRPr lang="zh-CN" altLang="en-US" sz="1600"/>
          </a:p>
        </p:txBody>
      </p:sp>
    </p:spTree>
    <p:extLst>
      <p:ext uri="{BB962C8B-B14F-4D97-AF65-F5344CB8AC3E}">
        <p14:creationId xmlns:p14="http://schemas.microsoft.com/office/powerpoint/2010/main" val="3087947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6B7F7B-1A6D-8574-5851-661FFF68ADC2}"/>
              </a:ext>
            </a:extLst>
          </p:cNvPr>
          <p:cNvSpPr>
            <a:spLocks noGrp="1"/>
          </p:cNvSpPr>
          <p:nvPr>
            <p:ph type="title"/>
          </p:nvPr>
        </p:nvSpPr>
        <p:spPr>
          <a:xfrm>
            <a:off x="479424" y="298913"/>
            <a:ext cx="11233151" cy="720000"/>
          </a:xfrm>
        </p:spPr>
        <p:txBody>
          <a:bodyPr/>
          <a:lstStyle/>
          <a:p>
            <a:r>
              <a:rPr lang="en-US" sz="2500" b="1">
                <a:solidFill>
                  <a:srgbClr val="08312A"/>
                </a:solidFill>
                <a:effectLst/>
                <a:latin typeface="Boehringer Forward Head" panose="020B0504030403020204" pitchFamily="2" charset="0"/>
              </a:rPr>
              <a:t>Efficacy results across subgroups based on various ILD diagnoses</a:t>
            </a:r>
            <a:endParaRPr lang="zh-CN" altLang="en-US"/>
          </a:p>
        </p:txBody>
      </p:sp>
      <p:sp>
        <p:nvSpPr>
          <p:cNvPr id="4" name="页脚占位符 3">
            <a:extLst>
              <a:ext uri="{FF2B5EF4-FFF2-40B4-BE49-F238E27FC236}">
                <a16:creationId xmlns:a16="http://schemas.microsoft.com/office/drawing/2014/main" id="{CC15A643-3430-EFA1-39D6-D63D69097ADB}"/>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Nerandomilast in SSc iCEC June 2025 CONFIDENTIAL ONLY FOR INTERNAL USE </a:t>
            </a:r>
          </a:p>
        </p:txBody>
      </p:sp>
      <p:pic>
        <p:nvPicPr>
          <p:cNvPr id="6" name="图片 5">
            <a:extLst>
              <a:ext uri="{FF2B5EF4-FFF2-40B4-BE49-F238E27FC236}">
                <a16:creationId xmlns:a16="http://schemas.microsoft.com/office/drawing/2014/main" id="{D49A8D0B-3607-9E0B-9967-F190CF8BBD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622766"/>
            <a:ext cx="6197437" cy="4336732"/>
          </a:xfrm>
          <a:prstGeom prst="rect">
            <a:avLst/>
          </a:prstGeom>
          <a:noFill/>
        </p:spPr>
      </p:pic>
      <p:sp>
        <p:nvSpPr>
          <p:cNvPr id="3" name="文本框 2">
            <a:extLst>
              <a:ext uri="{FF2B5EF4-FFF2-40B4-BE49-F238E27FC236}">
                <a16:creationId xmlns:a16="http://schemas.microsoft.com/office/drawing/2014/main" id="{EF1C14A4-2D20-33FE-FA14-9F4CCD2E2E49}"/>
              </a:ext>
            </a:extLst>
          </p:cNvPr>
          <p:cNvSpPr txBox="1"/>
          <p:nvPr/>
        </p:nvSpPr>
        <p:spPr bwMode="gray">
          <a:xfrm>
            <a:off x="117764" y="4353407"/>
            <a:ext cx="5759756" cy="288000"/>
          </a:xfrm>
          <a:prstGeom prst="rect">
            <a:avLst/>
          </a:prstGeom>
          <a:noFill/>
          <a:ln>
            <a:solidFill>
              <a:schemeClr val="accent5">
                <a:lumMod val="75000"/>
              </a:schemeClr>
            </a:solidFill>
          </a:ln>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文本框 7">
            <a:extLst>
              <a:ext uri="{FF2B5EF4-FFF2-40B4-BE49-F238E27FC236}">
                <a16:creationId xmlns:a16="http://schemas.microsoft.com/office/drawing/2014/main" id="{AA2117CC-6D8F-4A8A-11FB-B44ECB68A71E}"/>
              </a:ext>
            </a:extLst>
          </p:cNvPr>
          <p:cNvSpPr txBox="1"/>
          <p:nvPr/>
        </p:nvSpPr>
        <p:spPr bwMode="gray">
          <a:xfrm>
            <a:off x="903873" y="1296547"/>
            <a:ext cx="4187537" cy="315920"/>
          </a:xfrm>
          <a:prstGeom prst="rect">
            <a:avLst/>
          </a:prstGeom>
          <a:solidFill>
            <a:schemeClr val="accent2"/>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Primary endpoint: Nera 18mg</a:t>
            </a: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vs.</a:t>
            </a: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placebo</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9" name="Picture 4">
            <a:extLst>
              <a:ext uri="{FF2B5EF4-FFF2-40B4-BE49-F238E27FC236}">
                <a16:creationId xmlns:a16="http://schemas.microsoft.com/office/drawing/2014/main" id="{1F43C90E-93FA-5384-00CB-099A84776A3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413" b="45022"/>
          <a:stretch/>
        </p:blipFill>
        <p:spPr bwMode="auto">
          <a:xfrm>
            <a:off x="6313252" y="1712014"/>
            <a:ext cx="5762212" cy="4158236"/>
          </a:xfrm>
          <a:prstGeom prst="rect">
            <a:avLst/>
          </a:prstGeom>
          <a:noFill/>
          <a:ln>
            <a:noFill/>
          </a:ln>
          <a:extLst>
            <a:ext uri="{53640926-AAD7-44D8-BBD7-CCE9431645EC}">
              <a14:shadowObscured xmlns:a14="http://schemas.microsoft.com/office/drawing/2010/main"/>
            </a:ext>
          </a:extLst>
        </p:spPr>
      </p:pic>
      <p:sp>
        <p:nvSpPr>
          <p:cNvPr id="10" name="文本框 9">
            <a:extLst>
              <a:ext uri="{FF2B5EF4-FFF2-40B4-BE49-F238E27FC236}">
                <a16:creationId xmlns:a16="http://schemas.microsoft.com/office/drawing/2014/main" id="{F7A29D38-D1D2-39D0-C52B-990D56B99E71}"/>
              </a:ext>
            </a:extLst>
          </p:cNvPr>
          <p:cNvSpPr txBox="1"/>
          <p:nvPr/>
        </p:nvSpPr>
        <p:spPr bwMode="gray">
          <a:xfrm>
            <a:off x="6315708" y="4031130"/>
            <a:ext cx="5759756" cy="288000"/>
          </a:xfrm>
          <a:prstGeom prst="rect">
            <a:avLst/>
          </a:prstGeom>
          <a:noFill/>
          <a:ln>
            <a:solidFill>
              <a:schemeClr val="accent5">
                <a:lumMod val="75000"/>
              </a:schemeClr>
            </a:solidFill>
          </a:ln>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文本框 10">
            <a:extLst>
              <a:ext uri="{FF2B5EF4-FFF2-40B4-BE49-F238E27FC236}">
                <a16:creationId xmlns:a16="http://schemas.microsoft.com/office/drawing/2014/main" id="{A3DE2BEE-F4B6-FEE0-80FC-04A7AE4AFAC2}"/>
              </a:ext>
            </a:extLst>
          </p:cNvPr>
          <p:cNvSpPr txBox="1"/>
          <p:nvPr/>
        </p:nvSpPr>
        <p:spPr bwMode="gray">
          <a:xfrm>
            <a:off x="6647971" y="1296547"/>
            <a:ext cx="5092773" cy="315920"/>
          </a:xfrm>
          <a:prstGeom prst="rect">
            <a:avLst/>
          </a:prstGeom>
          <a:solidFill>
            <a:schemeClr val="accent2"/>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Key secondary endpoint: Nera 18mg</a:t>
            </a: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vs.</a:t>
            </a: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placebo</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203182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EEF9B2-E97D-C5BA-B314-B1ABAC3B698A}"/>
              </a:ext>
            </a:extLst>
          </p:cNvPr>
          <p:cNvSpPr>
            <a:spLocks noGrp="1"/>
          </p:cNvSpPr>
          <p:nvPr>
            <p:ph type="title"/>
          </p:nvPr>
        </p:nvSpPr>
        <p:spPr>
          <a:xfrm>
            <a:off x="346901" y="304071"/>
            <a:ext cx="11725356" cy="720000"/>
          </a:xfrm>
        </p:spPr>
        <p:txBody>
          <a:bodyPr/>
          <a:lstStyle/>
          <a:p>
            <a:r>
              <a:rPr lang="en-US" altLang="zh-CN" sz="2400">
                <a:solidFill>
                  <a:schemeClr val="tx1"/>
                </a:solidFill>
              </a:rPr>
              <a:t>The safety profile of </a:t>
            </a:r>
            <a:r>
              <a:rPr lang="en-US" altLang="zh-CN" sz="2400" err="1">
                <a:solidFill>
                  <a:schemeClr val="tx1"/>
                </a:solidFill>
              </a:rPr>
              <a:t>nerandomilast</a:t>
            </a:r>
            <a:r>
              <a:rPr lang="en-US" altLang="zh-CN" sz="2400">
                <a:solidFill>
                  <a:schemeClr val="tx1"/>
                </a:solidFill>
              </a:rPr>
              <a:t> in </a:t>
            </a:r>
            <a:r>
              <a:rPr lang="en-US" altLang="zh-CN" sz="2400" err="1">
                <a:solidFill>
                  <a:schemeClr val="tx1"/>
                </a:solidFill>
              </a:rPr>
              <a:t>SSc</a:t>
            </a:r>
            <a:r>
              <a:rPr lang="en-US" altLang="zh-CN" sz="2400">
                <a:solidFill>
                  <a:schemeClr val="tx1"/>
                </a:solidFill>
              </a:rPr>
              <a:t>-ILD subgroups was generally consistent with that in the overall trial population</a:t>
            </a:r>
            <a:endParaRPr lang="zh-CN" altLang="en-US" sz="2400">
              <a:solidFill>
                <a:schemeClr val="tx1"/>
              </a:solidFill>
            </a:endParaRPr>
          </a:p>
        </p:txBody>
      </p:sp>
      <p:sp>
        <p:nvSpPr>
          <p:cNvPr id="4" name="页脚占位符 3">
            <a:extLst>
              <a:ext uri="{FF2B5EF4-FFF2-40B4-BE49-F238E27FC236}">
                <a16:creationId xmlns:a16="http://schemas.microsoft.com/office/drawing/2014/main" id="{597E12A4-FE39-6139-0ED5-4366A64062AC}"/>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graphicFrame>
        <p:nvGraphicFramePr>
          <p:cNvPr id="10" name="表格 9">
            <a:extLst>
              <a:ext uri="{FF2B5EF4-FFF2-40B4-BE49-F238E27FC236}">
                <a16:creationId xmlns:a16="http://schemas.microsoft.com/office/drawing/2014/main" id="{A965452B-FDC1-677A-769C-2AB43E4E8074}"/>
              </a:ext>
            </a:extLst>
          </p:cNvPr>
          <p:cNvGraphicFramePr>
            <a:graphicFrameLocks noGrp="1"/>
          </p:cNvGraphicFramePr>
          <p:nvPr>
            <p:extLst>
              <p:ext uri="{D42A27DB-BD31-4B8C-83A1-F6EECF244321}">
                <p14:modId xmlns:p14="http://schemas.microsoft.com/office/powerpoint/2010/main" val="3804406685"/>
              </p:ext>
            </p:extLst>
          </p:nvPr>
        </p:nvGraphicFramePr>
        <p:xfrm>
          <a:off x="479425" y="1442909"/>
          <a:ext cx="11233149" cy="3692845"/>
        </p:xfrm>
        <a:graphic>
          <a:graphicData uri="http://schemas.openxmlformats.org/drawingml/2006/table">
            <a:tbl>
              <a:tblPr firstRow="1" firstCol="1" lastRow="1" lastCol="1" bandRow="1" bandCol="1"/>
              <a:tblGrid>
                <a:gridCol w="3181281">
                  <a:extLst>
                    <a:ext uri="{9D8B030D-6E8A-4147-A177-3AD203B41FA5}">
                      <a16:colId xmlns:a16="http://schemas.microsoft.com/office/drawing/2014/main" val="454282619"/>
                    </a:ext>
                  </a:extLst>
                </a:gridCol>
                <a:gridCol w="1316312">
                  <a:extLst>
                    <a:ext uri="{9D8B030D-6E8A-4147-A177-3AD203B41FA5}">
                      <a16:colId xmlns:a16="http://schemas.microsoft.com/office/drawing/2014/main" val="2439863357"/>
                    </a:ext>
                  </a:extLst>
                </a:gridCol>
                <a:gridCol w="1316312">
                  <a:extLst>
                    <a:ext uri="{9D8B030D-6E8A-4147-A177-3AD203B41FA5}">
                      <a16:colId xmlns:a16="http://schemas.microsoft.com/office/drawing/2014/main" val="161671341"/>
                    </a:ext>
                  </a:extLst>
                </a:gridCol>
                <a:gridCol w="1316312">
                  <a:extLst>
                    <a:ext uri="{9D8B030D-6E8A-4147-A177-3AD203B41FA5}">
                      <a16:colId xmlns:a16="http://schemas.microsoft.com/office/drawing/2014/main" val="3437321152"/>
                    </a:ext>
                  </a:extLst>
                </a:gridCol>
                <a:gridCol w="1316312">
                  <a:extLst>
                    <a:ext uri="{9D8B030D-6E8A-4147-A177-3AD203B41FA5}">
                      <a16:colId xmlns:a16="http://schemas.microsoft.com/office/drawing/2014/main" val="3898273606"/>
                    </a:ext>
                  </a:extLst>
                </a:gridCol>
                <a:gridCol w="1536085">
                  <a:extLst>
                    <a:ext uri="{9D8B030D-6E8A-4147-A177-3AD203B41FA5}">
                      <a16:colId xmlns:a16="http://schemas.microsoft.com/office/drawing/2014/main" val="3801514694"/>
                    </a:ext>
                  </a:extLst>
                </a:gridCol>
                <a:gridCol w="1250535">
                  <a:extLst>
                    <a:ext uri="{9D8B030D-6E8A-4147-A177-3AD203B41FA5}">
                      <a16:colId xmlns:a16="http://schemas.microsoft.com/office/drawing/2014/main" val="91842093"/>
                    </a:ext>
                  </a:extLst>
                </a:gridCol>
              </a:tblGrid>
              <a:tr h="681455">
                <a:tc gridSpan="7">
                  <a:txBody>
                    <a:bodyPr/>
                    <a:lstStyle/>
                    <a:p>
                      <a:pPr algn="ctr">
                        <a:lnSpc>
                          <a:spcPts val="1400"/>
                        </a:lnSpc>
                        <a:spcAft>
                          <a:spcPts val="700"/>
                        </a:spcAft>
                        <a:buNone/>
                      </a:pPr>
                      <a:r>
                        <a:rPr lang="en-US" altLang="zh-CN" sz="1600" b="1" kern="1200">
                          <a:solidFill>
                            <a:srgbClr val="000000"/>
                          </a:solidFill>
                          <a:effectLst/>
                          <a:latin typeface="+mn-lt"/>
                          <a:ea typeface="MS Mincho" panose="02020609040205080304" pitchFamily="49" charset="-128"/>
                          <a:cs typeface="Cordia New" panose="020B0304020202020204" pitchFamily="34" charset="-34"/>
                        </a:rPr>
                        <a:t>FIBRONEER-ILD Trial</a:t>
                      </a:r>
                      <a:endParaRPr lang="zh-CN" altLang="en-US" sz="1600" b="1"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10000"/>
                        <a:lumOff val="90000"/>
                      </a:schemeClr>
                    </a:solidFill>
                  </a:tcPr>
                </a:tc>
                <a:tc hMerge="1">
                  <a:txBody>
                    <a:bodyPr/>
                    <a:lstStyle/>
                    <a:p>
                      <a:pPr algn="ctr">
                        <a:lnSpc>
                          <a:spcPts val="1400"/>
                        </a:lnSpc>
                        <a:spcAft>
                          <a:spcPts val="700"/>
                        </a:spcAft>
                        <a:buNone/>
                      </a:pPr>
                      <a:endParaRPr lang="zh-CN" altLang="en-US" sz="16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10000"/>
                        <a:lumOff val="90000"/>
                      </a:schemeClr>
                    </a:solidFill>
                  </a:tcPr>
                </a:tc>
                <a:tc hMerge="1">
                  <a:txBody>
                    <a:bodyPr/>
                    <a:lstStyle/>
                    <a:p>
                      <a:endParaRPr lang="zh-CN" altLang="en-US"/>
                    </a:p>
                  </a:txBody>
                  <a:tcPr/>
                </a:tc>
                <a:tc hMerge="1">
                  <a:txBody>
                    <a:bodyPr/>
                    <a:lstStyle/>
                    <a:p>
                      <a:endParaRPr lang="zh-CN" altLang="en-US"/>
                    </a:p>
                  </a:txBody>
                  <a:tcPr/>
                </a:tc>
                <a:tc hMerge="1">
                  <a:txBody>
                    <a:bodyPr/>
                    <a:lstStyle/>
                    <a:p>
                      <a:pPr algn="ctr">
                        <a:lnSpc>
                          <a:spcPts val="1400"/>
                        </a:lnSpc>
                        <a:spcAft>
                          <a:spcPts val="700"/>
                        </a:spcAft>
                        <a:buNone/>
                      </a:pPr>
                      <a:endParaRPr lang="en-US" altLang="zh-CN" sz="16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10000"/>
                        <a:lumOff val="90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06232272"/>
                  </a:ext>
                </a:extLst>
              </a:tr>
              <a:tr h="452582">
                <a:tc rowSpan="2">
                  <a:txBody>
                    <a:bodyPr/>
                    <a:lstStyle/>
                    <a:p>
                      <a:pPr>
                        <a:lnSpc>
                          <a:spcPts val="1400"/>
                        </a:lnSpc>
                        <a:spcAft>
                          <a:spcPts val="700"/>
                        </a:spcAft>
                        <a:buNone/>
                      </a:pPr>
                      <a:r>
                        <a:rPr lang="en-GB" sz="1400" b="0" kern="1200">
                          <a:solidFill>
                            <a:srgbClr val="000000"/>
                          </a:solidFill>
                          <a:effectLst/>
                          <a:latin typeface="+mn-lt"/>
                          <a:ea typeface="MS Mincho" panose="02020609040205080304" pitchFamily="49" charset="-128"/>
                          <a:cs typeface="Cordia New" panose="020B0304020202020204" pitchFamily="34" charset="-34"/>
                        </a:rPr>
                        <a:t>Category of AEs</a:t>
                      </a:r>
                    </a:p>
                    <a:p>
                      <a:pPr>
                        <a:lnSpc>
                          <a:spcPts val="1400"/>
                        </a:lnSpc>
                        <a:spcAft>
                          <a:spcPts val="700"/>
                        </a:spcAft>
                        <a:buNone/>
                      </a:pPr>
                      <a:r>
                        <a:rPr lang="en-GB" sz="1400" b="0" kern="1200">
                          <a:solidFill>
                            <a:srgbClr val="000000"/>
                          </a:solidFill>
                          <a:effectLst/>
                          <a:latin typeface="+mn-lt"/>
                          <a:ea typeface="MS Mincho" panose="02020609040205080304" pitchFamily="49" charset="-128"/>
                          <a:cs typeface="Cordia New" panose="020B0304020202020204" pitchFamily="34" charset="-34"/>
                        </a:rPr>
                        <a:t>DBL1 </a:t>
                      </a:r>
                      <a:endParaRPr lang="zh-CN" altLang="en-US" sz="14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10000"/>
                        <a:lumOff val="90000"/>
                      </a:schemeClr>
                    </a:solidFill>
                  </a:tcPr>
                </a:tc>
                <a:tc gridSpan="3">
                  <a:txBody>
                    <a:bodyPr/>
                    <a:lstStyle/>
                    <a:p>
                      <a:pPr algn="ctr">
                        <a:lnSpc>
                          <a:spcPts val="1400"/>
                        </a:lnSpc>
                        <a:spcAft>
                          <a:spcPts val="700"/>
                        </a:spcAft>
                        <a:buNone/>
                      </a:pPr>
                      <a:r>
                        <a:rPr lang="en-US" altLang="zh-CN" sz="1600" b="0" kern="1200">
                          <a:solidFill>
                            <a:srgbClr val="000000"/>
                          </a:solidFill>
                          <a:effectLst/>
                          <a:latin typeface="+mn-lt"/>
                          <a:ea typeface="MS Mincho" panose="02020609040205080304" pitchFamily="49" charset="-128"/>
                          <a:cs typeface="Cordia New" panose="020B0304020202020204" pitchFamily="34" charset="-34"/>
                        </a:rPr>
                        <a:t>Overall population</a:t>
                      </a:r>
                      <a:endParaRPr lang="zh-CN" altLang="en-US" sz="16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algn="ctr">
                        <a:lnSpc>
                          <a:spcPts val="1400"/>
                        </a:lnSpc>
                        <a:spcAft>
                          <a:spcPts val="700"/>
                        </a:spcAft>
                        <a:buNone/>
                      </a:pP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algn="ctr">
                        <a:lnSpc>
                          <a:spcPts val="1400"/>
                        </a:lnSpc>
                        <a:spcAft>
                          <a:spcPts val="700"/>
                        </a:spcAft>
                        <a:buNone/>
                      </a:pP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3">
                  <a:txBody>
                    <a:bodyPr/>
                    <a:lstStyle/>
                    <a:p>
                      <a:pPr algn="ctr">
                        <a:lnSpc>
                          <a:spcPts val="1400"/>
                        </a:lnSpc>
                        <a:spcAft>
                          <a:spcPts val="700"/>
                        </a:spcAft>
                        <a:buNone/>
                      </a:pPr>
                      <a:r>
                        <a:rPr lang="en-US" altLang="zh-CN" sz="1600" b="0" kern="1200">
                          <a:solidFill>
                            <a:srgbClr val="000000"/>
                          </a:solidFill>
                          <a:effectLst/>
                          <a:latin typeface="+mn-lt"/>
                          <a:ea typeface="MS Mincho" panose="02020609040205080304" pitchFamily="49" charset="-128"/>
                          <a:cs typeface="Cordia New" panose="020B0304020202020204" pitchFamily="34" charset="-34"/>
                        </a:rPr>
                        <a:t>Patients with </a:t>
                      </a:r>
                      <a:r>
                        <a:rPr lang="en-US" altLang="zh-CN" sz="1600" b="0" kern="1200">
                          <a:solidFill>
                            <a:schemeClr val="tx2"/>
                          </a:solidFill>
                          <a:effectLst/>
                          <a:latin typeface="+mn-lt"/>
                          <a:ea typeface="MS Mincho" panose="02020609040205080304" pitchFamily="49" charset="-128"/>
                          <a:cs typeface="Cordia New" panose="020B0304020202020204" pitchFamily="34" charset="-34"/>
                        </a:rPr>
                        <a:t>SSc-ILD</a:t>
                      </a:r>
                    </a:p>
                  </a:txBody>
                  <a:tcPr marL="36195" marR="36195"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algn="ctr">
                        <a:lnSpc>
                          <a:spcPts val="1400"/>
                        </a:lnSpc>
                        <a:spcAft>
                          <a:spcPts val="700"/>
                        </a:spcAft>
                        <a:buNone/>
                      </a:pP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algn="ctr">
                        <a:lnSpc>
                          <a:spcPts val="1400"/>
                        </a:lnSpc>
                        <a:spcAft>
                          <a:spcPts val="700"/>
                        </a:spcAft>
                        <a:buNone/>
                      </a:pP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68041179"/>
                  </a:ext>
                </a:extLst>
              </a:tr>
              <a:tr h="424872">
                <a:tc vMerge="1">
                  <a:txBody>
                    <a:bodyPr/>
                    <a:lstStyle/>
                    <a:p>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10000"/>
                        <a:lumOff val="90000"/>
                      </a:schemeClr>
                    </a:solidFill>
                  </a:tcPr>
                </a:tc>
                <a:tc>
                  <a:txBody>
                    <a:bodyPr/>
                    <a:lstStyle/>
                    <a:p>
                      <a:pPr algn="ctr">
                        <a:lnSpc>
                          <a:spcPts val="1400"/>
                        </a:lnSpc>
                        <a:spcAft>
                          <a:spcPts val="700"/>
                        </a:spcAft>
                        <a:buNone/>
                      </a:pPr>
                      <a:r>
                        <a:rPr lang="en-GB" sz="1200" b="0" kern="1200">
                          <a:solidFill>
                            <a:srgbClr val="000000"/>
                          </a:solidFill>
                          <a:effectLst/>
                          <a:latin typeface="+mn-lt"/>
                          <a:ea typeface="MS Mincho" panose="02020609040205080304" pitchFamily="49" charset="-128"/>
                          <a:cs typeface="Cordia New" panose="020B0304020202020204" pitchFamily="34" charset="-34"/>
                        </a:rPr>
                        <a:t>Placebo</a:t>
                      </a:r>
                    </a:p>
                    <a:p>
                      <a:pPr algn="ctr">
                        <a:lnSpc>
                          <a:spcPts val="1400"/>
                        </a:lnSpc>
                        <a:spcAft>
                          <a:spcPts val="700"/>
                        </a:spcAft>
                        <a:buNone/>
                      </a:pPr>
                      <a:r>
                        <a:rPr lang="en-GB" sz="1200" b="0" kern="1200">
                          <a:solidFill>
                            <a:srgbClr val="000000"/>
                          </a:solidFill>
                          <a:effectLst/>
                          <a:latin typeface="+mn-lt"/>
                          <a:ea typeface="MS Mincho" panose="02020609040205080304" pitchFamily="49" charset="-128"/>
                          <a:cs typeface="Cordia New" panose="020B0304020202020204" pitchFamily="34" charset="-34"/>
                        </a:rPr>
                        <a:t>N(%)</a:t>
                      </a: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ts val="1400"/>
                        </a:lnSpc>
                        <a:spcAft>
                          <a:spcPts val="700"/>
                        </a:spcAft>
                        <a:buNone/>
                      </a:pPr>
                      <a:r>
                        <a:rPr lang="en-GB" sz="1200" b="0" kern="1200" err="1">
                          <a:solidFill>
                            <a:srgbClr val="000000"/>
                          </a:solidFill>
                          <a:effectLst/>
                          <a:latin typeface="+mn-lt"/>
                          <a:ea typeface="MS Mincho" panose="02020609040205080304" pitchFamily="49" charset="-128"/>
                          <a:cs typeface="Cordia New" panose="020B0304020202020204" pitchFamily="34" charset="-34"/>
                        </a:rPr>
                        <a:t>Nerandomilast</a:t>
                      </a:r>
                      <a:br>
                        <a:rPr lang="en-GB" sz="1200" b="0" kern="1200">
                          <a:solidFill>
                            <a:srgbClr val="000000"/>
                          </a:solidFill>
                          <a:effectLst/>
                          <a:latin typeface="+mn-lt"/>
                          <a:ea typeface="MS Mincho" panose="02020609040205080304" pitchFamily="49" charset="-128"/>
                          <a:cs typeface="Cordia New" panose="020B0304020202020204" pitchFamily="34" charset="-34"/>
                        </a:rPr>
                      </a:br>
                      <a:r>
                        <a:rPr lang="en-GB" sz="1200" b="0" kern="1200">
                          <a:solidFill>
                            <a:srgbClr val="000000"/>
                          </a:solidFill>
                          <a:effectLst/>
                          <a:latin typeface="+mn-lt"/>
                          <a:ea typeface="MS Mincho" panose="02020609040205080304" pitchFamily="49" charset="-128"/>
                          <a:cs typeface="Cordia New" panose="020B0304020202020204" pitchFamily="34" charset="-34"/>
                        </a:rPr>
                        <a:t> 9 mg bid</a:t>
                      </a:r>
                    </a:p>
                    <a:p>
                      <a:pPr algn="ctr">
                        <a:lnSpc>
                          <a:spcPts val="1400"/>
                        </a:lnSpc>
                        <a:spcAft>
                          <a:spcPts val="700"/>
                        </a:spcAft>
                        <a:buNone/>
                      </a:pPr>
                      <a:r>
                        <a:rPr lang="en-GB" sz="1200" b="0" kern="1200">
                          <a:solidFill>
                            <a:srgbClr val="000000"/>
                          </a:solidFill>
                          <a:effectLst/>
                          <a:latin typeface="+mn-lt"/>
                          <a:ea typeface="MS Mincho" panose="02020609040205080304" pitchFamily="49" charset="-128"/>
                          <a:cs typeface="Cordia New" panose="020B0304020202020204" pitchFamily="34" charset="-34"/>
                        </a:rPr>
                        <a:t>N(%)</a:t>
                      </a: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ts val="1400"/>
                        </a:lnSpc>
                        <a:spcAft>
                          <a:spcPts val="700"/>
                        </a:spcAft>
                        <a:buNone/>
                      </a:pPr>
                      <a:r>
                        <a:rPr lang="en-GB" sz="1200" b="0" kern="1200" err="1">
                          <a:solidFill>
                            <a:srgbClr val="000000"/>
                          </a:solidFill>
                          <a:effectLst/>
                          <a:latin typeface="+mn-lt"/>
                          <a:ea typeface="MS Mincho" panose="02020609040205080304" pitchFamily="49" charset="-128"/>
                          <a:cs typeface="Cordia New" panose="020B0304020202020204" pitchFamily="34" charset="-34"/>
                        </a:rPr>
                        <a:t>Nerandomilast</a:t>
                      </a:r>
                      <a:br>
                        <a:rPr lang="en-GB" sz="1200" b="0" kern="1200">
                          <a:solidFill>
                            <a:srgbClr val="000000"/>
                          </a:solidFill>
                          <a:effectLst/>
                          <a:latin typeface="+mn-lt"/>
                          <a:ea typeface="MS Mincho" panose="02020609040205080304" pitchFamily="49" charset="-128"/>
                          <a:cs typeface="Cordia New" panose="020B0304020202020204" pitchFamily="34" charset="-34"/>
                        </a:rPr>
                      </a:br>
                      <a:r>
                        <a:rPr lang="en-GB" sz="1200" b="0" kern="1200">
                          <a:solidFill>
                            <a:srgbClr val="000000"/>
                          </a:solidFill>
                          <a:effectLst/>
                          <a:latin typeface="+mn-lt"/>
                          <a:ea typeface="MS Mincho" panose="02020609040205080304" pitchFamily="49" charset="-128"/>
                          <a:cs typeface="Cordia New" panose="020B0304020202020204" pitchFamily="34" charset="-34"/>
                        </a:rPr>
                        <a:t> 18 mg bid</a:t>
                      </a:r>
                    </a:p>
                    <a:p>
                      <a:pPr algn="ctr">
                        <a:lnSpc>
                          <a:spcPts val="1400"/>
                        </a:lnSpc>
                        <a:spcAft>
                          <a:spcPts val="700"/>
                        </a:spcAft>
                        <a:buNone/>
                      </a:pPr>
                      <a:r>
                        <a:rPr lang="en-GB" sz="1200" b="0" kern="1200">
                          <a:solidFill>
                            <a:srgbClr val="000000"/>
                          </a:solidFill>
                          <a:effectLst/>
                          <a:latin typeface="+mn-lt"/>
                          <a:ea typeface="MS Mincho" panose="02020609040205080304" pitchFamily="49" charset="-128"/>
                          <a:cs typeface="Cordia New" panose="020B0304020202020204" pitchFamily="34" charset="-34"/>
                        </a:rPr>
                        <a:t>N(%)</a:t>
                      </a: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ts val="1400"/>
                        </a:lnSpc>
                        <a:spcAft>
                          <a:spcPts val="700"/>
                        </a:spcAft>
                        <a:buNone/>
                      </a:pPr>
                      <a:r>
                        <a:rPr lang="en-GB" sz="1200" b="0" kern="1200">
                          <a:solidFill>
                            <a:srgbClr val="000000"/>
                          </a:solidFill>
                          <a:effectLst/>
                          <a:latin typeface="+mn-lt"/>
                          <a:ea typeface="MS Mincho" panose="02020609040205080304" pitchFamily="49" charset="-128"/>
                          <a:cs typeface="Cordia New" panose="020B0304020202020204" pitchFamily="34" charset="-34"/>
                        </a:rPr>
                        <a:t>Placebo</a:t>
                      </a:r>
                    </a:p>
                    <a:p>
                      <a:pPr algn="ctr">
                        <a:lnSpc>
                          <a:spcPts val="1400"/>
                        </a:lnSpc>
                        <a:spcAft>
                          <a:spcPts val="700"/>
                        </a:spcAft>
                        <a:buNone/>
                      </a:pPr>
                      <a:r>
                        <a:rPr lang="en-GB" sz="1200" b="0" kern="1200">
                          <a:solidFill>
                            <a:srgbClr val="000000"/>
                          </a:solidFill>
                          <a:effectLst/>
                          <a:latin typeface="+mn-lt"/>
                          <a:ea typeface="MS Mincho" panose="02020609040205080304" pitchFamily="49" charset="-128"/>
                          <a:cs typeface="Cordia New" panose="020B0304020202020204" pitchFamily="34" charset="-34"/>
                        </a:rPr>
                        <a:t>N(%)</a:t>
                      </a: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ts val="1400"/>
                        </a:lnSpc>
                        <a:spcAft>
                          <a:spcPts val="700"/>
                        </a:spcAft>
                        <a:buNone/>
                      </a:pPr>
                      <a:r>
                        <a:rPr lang="en-GB" sz="1200" b="0" kern="1200" err="1">
                          <a:solidFill>
                            <a:srgbClr val="000000"/>
                          </a:solidFill>
                          <a:effectLst/>
                          <a:latin typeface="+mn-lt"/>
                          <a:ea typeface="MS Mincho" panose="02020609040205080304" pitchFamily="49" charset="-128"/>
                          <a:cs typeface="Cordia New" panose="020B0304020202020204" pitchFamily="34" charset="-34"/>
                        </a:rPr>
                        <a:t>Nerandomilast</a:t>
                      </a:r>
                      <a:br>
                        <a:rPr lang="en-GB" sz="1200" b="0" kern="1200">
                          <a:solidFill>
                            <a:srgbClr val="000000"/>
                          </a:solidFill>
                          <a:effectLst/>
                          <a:latin typeface="+mn-lt"/>
                          <a:ea typeface="MS Mincho" panose="02020609040205080304" pitchFamily="49" charset="-128"/>
                          <a:cs typeface="Cordia New" panose="020B0304020202020204" pitchFamily="34" charset="-34"/>
                        </a:rPr>
                      </a:br>
                      <a:r>
                        <a:rPr lang="en-GB" sz="1200" b="0" kern="1200">
                          <a:solidFill>
                            <a:srgbClr val="000000"/>
                          </a:solidFill>
                          <a:effectLst/>
                          <a:latin typeface="+mn-lt"/>
                          <a:ea typeface="MS Mincho" panose="02020609040205080304" pitchFamily="49" charset="-128"/>
                          <a:cs typeface="Cordia New" panose="020B0304020202020204" pitchFamily="34" charset="-34"/>
                        </a:rPr>
                        <a:t> 9 mg bid</a:t>
                      </a:r>
                    </a:p>
                    <a:p>
                      <a:pPr algn="ctr">
                        <a:lnSpc>
                          <a:spcPts val="1400"/>
                        </a:lnSpc>
                        <a:spcAft>
                          <a:spcPts val="700"/>
                        </a:spcAft>
                        <a:buNone/>
                      </a:pPr>
                      <a:r>
                        <a:rPr lang="en-GB" sz="1200" b="0" kern="1200">
                          <a:solidFill>
                            <a:srgbClr val="000000"/>
                          </a:solidFill>
                          <a:effectLst/>
                          <a:latin typeface="+mn-lt"/>
                          <a:ea typeface="MS Mincho" panose="02020609040205080304" pitchFamily="49" charset="-128"/>
                          <a:cs typeface="Cordia New" panose="020B0304020202020204" pitchFamily="34" charset="-34"/>
                        </a:rPr>
                        <a:t>N(%)</a:t>
                      </a: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ts val="1400"/>
                        </a:lnSpc>
                        <a:spcAft>
                          <a:spcPts val="700"/>
                        </a:spcAft>
                        <a:buNone/>
                      </a:pPr>
                      <a:r>
                        <a:rPr lang="en-GB" sz="1200" b="0" kern="1200" err="1">
                          <a:solidFill>
                            <a:srgbClr val="000000"/>
                          </a:solidFill>
                          <a:effectLst/>
                          <a:latin typeface="+mn-lt"/>
                          <a:ea typeface="MS Mincho" panose="02020609040205080304" pitchFamily="49" charset="-128"/>
                          <a:cs typeface="Cordia New" panose="020B0304020202020204" pitchFamily="34" charset="-34"/>
                        </a:rPr>
                        <a:t>Nerandomilast</a:t>
                      </a:r>
                      <a:br>
                        <a:rPr lang="en-GB" sz="1200" b="0" kern="1200">
                          <a:solidFill>
                            <a:srgbClr val="000000"/>
                          </a:solidFill>
                          <a:effectLst/>
                          <a:latin typeface="+mn-lt"/>
                          <a:ea typeface="MS Mincho" panose="02020609040205080304" pitchFamily="49" charset="-128"/>
                          <a:cs typeface="Cordia New" panose="020B0304020202020204" pitchFamily="34" charset="-34"/>
                        </a:rPr>
                      </a:br>
                      <a:r>
                        <a:rPr lang="en-GB" sz="1200" b="0" kern="1200">
                          <a:solidFill>
                            <a:srgbClr val="000000"/>
                          </a:solidFill>
                          <a:effectLst/>
                          <a:latin typeface="+mn-lt"/>
                          <a:ea typeface="MS Mincho" panose="02020609040205080304" pitchFamily="49" charset="-128"/>
                          <a:cs typeface="Cordia New" panose="020B0304020202020204" pitchFamily="34" charset="-34"/>
                        </a:rPr>
                        <a:t> 18 mg bid</a:t>
                      </a:r>
                    </a:p>
                    <a:p>
                      <a:pPr algn="ctr">
                        <a:lnSpc>
                          <a:spcPts val="1400"/>
                        </a:lnSpc>
                        <a:spcAft>
                          <a:spcPts val="700"/>
                        </a:spcAft>
                        <a:buNone/>
                      </a:pPr>
                      <a:r>
                        <a:rPr lang="en-GB" sz="1200" b="0" kern="1200">
                          <a:solidFill>
                            <a:srgbClr val="000000"/>
                          </a:solidFill>
                          <a:effectLst/>
                          <a:latin typeface="+mn-lt"/>
                          <a:ea typeface="MS Mincho" panose="02020609040205080304" pitchFamily="49" charset="-128"/>
                          <a:cs typeface="Cordia New" panose="020B0304020202020204" pitchFamily="34" charset="-34"/>
                        </a:rPr>
                        <a:t>N(%)</a:t>
                      </a:r>
                      <a:endParaRPr lang="zh-CN" altLang="en-US" sz="1200" b="0" kern="1200">
                        <a:solidFill>
                          <a:srgbClr val="000000"/>
                        </a:solidFill>
                        <a:effectLst/>
                        <a:latin typeface="+mn-lt"/>
                        <a:ea typeface="MS Mincho" panose="02020609040205080304" pitchFamily="49" charset="-128"/>
                        <a:cs typeface="Cordia New" panose="020B0304020202020204" pitchFamily="34" charset="-34"/>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42100597"/>
                  </a:ext>
                </a:extLst>
              </a:tr>
              <a:tr h="278128">
                <a:tc>
                  <a:txBody>
                    <a:bodyPr/>
                    <a:lstStyle/>
                    <a:p>
                      <a:pPr>
                        <a:lnSpc>
                          <a:spcPts val="1400"/>
                        </a:lnSpc>
                        <a:spcAft>
                          <a:spcPts val="700"/>
                        </a:spcAft>
                        <a:buNone/>
                      </a:pPr>
                      <a:r>
                        <a:rPr lang="en-GB" sz="1400" b="0" kern="1200">
                          <a:solidFill>
                            <a:srgbClr val="000000"/>
                          </a:solidFill>
                          <a:effectLst/>
                          <a:latin typeface="+mn-lt"/>
                          <a:ea typeface="MS Mincho" panose="02020609040205080304" pitchFamily="49" charset="-128"/>
                          <a:cs typeface="Cordia New" panose="020B0304020202020204" pitchFamily="34" charset="-34"/>
                        </a:rPr>
                        <a:t>Patients treated</a:t>
                      </a:r>
                      <a:endParaRPr lang="zh-CN" altLang="en-US" sz="14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a:noFill/>
                    </a:lnB>
                    <a:solidFill>
                      <a:schemeClr val="accent1">
                        <a:lumMod val="10000"/>
                        <a:lumOff val="90000"/>
                      </a:schemeClr>
                    </a:solidFill>
                  </a:tcPr>
                </a:tc>
                <a:tc>
                  <a:txBody>
                    <a:bodyPr/>
                    <a:lstStyle/>
                    <a:p>
                      <a:pPr algn="ctr">
                        <a:lnSpc>
                          <a:spcPts val="1400"/>
                        </a:lnSpc>
                        <a:spcAft>
                          <a:spcPts val="700"/>
                        </a:spcAft>
                        <a:buNone/>
                      </a:pPr>
                      <a:r>
                        <a:rPr lang="en-US" altLang="zh-CN" sz="1400" b="0" kern="1200">
                          <a:solidFill>
                            <a:schemeClr val="tx1"/>
                          </a:solidFill>
                          <a:latin typeface="+mn-ea"/>
                          <a:ea typeface="+mn-ea"/>
                          <a:cs typeface="Arial" panose="020B0604020202020204" pitchFamily="34" charset="0"/>
                        </a:rPr>
                        <a:t>392(100.0)</a:t>
                      </a:r>
                      <a:endParaRPr lang="zh-CN" altLang="en-US" sz="1400" b="0" kern="1200">
                        <a:solidFill>
                          <a:schemeClr val="tx1"/>
                        </a:solidFill>
                        <a:latin typeface="+mn-ea"/>
                        <a:ea typeface="+mn-ea"/>
                        <a:cs typeface="Arial" panose="020B0604020202020204" pitchFamily="34" charset="0"/>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lnSpc>
                          <a:spcPts val="1400"/>
                        </a:lnSpc>
                        <a:spcAft>
                          <a:spcPts val="700"/>
                        </a:spcAft>
                        <a:buNone/>
                      </a:pPr>
                      <a:r>
                        <a:rPr lang="en-US" altLang="zh-CN" sz="1400" b="0" kern="1200">
                          <a:solidFill>
                            <a:schemeClr val="tx1"/>
                          </a:solidFill>
                          <a:latin typeface="+mn-ea"/>
                          <a:ea typeface="+mn-ea"/>
                          <a:cs typeface="Arial" panose="020B0604020202020204" pitchFamily="34" charset="0"/>
                        </a:rPr>
                        <a:t>393(100.0)</a:t>
                      </a:r>
                      <a:endParaRPr lang="zh-CN" altLang="en-US" sz="1400" b="0" kern="1200">
                        <a:solidFill>
                          <a:schemeClr val="tx1"/>
                        </a:solidFill>
                        <a:latin typeface="+mn-ea"/>
                        <a:ea typeface="+mn-ea"/>
                        <a:cs typeface="Arial" panose="020B0604020202020204" pitchFamily="34" charset="0"/>
                      </a:endParaRPr>
                    </a:p>
                  </a:txBody>
                  <a:tcPr marL="36195" marR="36195"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lnSpc>
                          <a:spcPts val="1400"/>
                        </a:lnSpc>
                        <a:spcAft>
                          <a:spcPts val="700"/>
                        </a:spcAft>
                        <a:buNone/>
                      </a:pPr>
                      <a:r>
                        <a:rPr lang="en-US" altLang="zh-CN" sz="1400" b="0" kern="1200">
                          <a:solidFill>
                            <a:schemeClr val="tx1"/>
                          </a:solidFill>
                          <a:latin typeface="+mn-ea"/>
                          <a:ea typeface="+mn-ea"/>
                          <a:cs typeface="Arial" panose="020B0604020202020204" pitchFamily="34" charset="0"/>
                        </a:rPr>
                        <a:t>391(100.0)</a:t>
                      </a:r>
                      <a:endParaRPr lang="zh-CN" altLang="en-US" sz="1400" b="0" kern="1200">
                        <a:solidFill>
                          <a:schemeClr val="tx1"/>
                        </a:solidFill>
                        <a:latin typeface="+mn-ea"/>
                        <a:ea typeface="+mn-ea"/>
                        <a:cs typeface="Arial" panose="020B0604020202020204" pitchFamily="34" charset="0"/>
                      </a:endParaRPr>
                    </a:p>
                  </a:txBody>
                  <a:tcPr marL="36195" marR="36195" marT="0" marB="0" anchor="ctr">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23 (100.0)</a:t>
                      </a:r>
                      <a:endParaRPr lang="zh-CN" altLang="en-US" sz="1400" b="0" kern="1200">
                        <a:solidFill>
                          <a:schemeClr val="tx1"/>
                        </a:solidFill>
                        <a:latin typeface="+mn-ea"/>
                        <a:ea typeface="+mn-ea"/>
                        <a:cs typeface="Arial" panose="020B0604020202020204" pitchFamily="34" charset="0"/>
                      </a:endParaRPr>
                    </a:p>
                  </a:txBody>
                  <a:tcPr marL="36195" marR="36195" marT="0" marB="0" anchor="ctr">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25(100.0)</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27(100.0)</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24622640"/>
                  </a:ext>
                </a:extLst>
              </a:tr>
              <a:tr h="364953">
                <a:tc>
                  <a:txBody>
                    <a:bodyPr/>
                    <a:lstStyle/>
                    <a:p>
                      <a:pPr>
                        <a:lnSpc>
                          <a:spcPts val="1400"/>
                        </a:lnSpc>
                        <a:spcAft>
                          <a:spcPts val="700"/>
                        </a:spcAft>
                        <a:buNone/>
                      </a:pPr>
                      <a:r>
                        <a:rPr lang="en-GB" sz="1400" b="0" kern="1200">
                          <a:solidFill>
                            <a:srgbClr val="000000"/>
                          </a:solidFill>
                          <a:effectLst/>
                          <a:latin typeface="+mn-lt"/>
                          <a:ea typeface="MS Mincho" panose="02020609040205080304" pitchFamily="49" charset="-128"/>
                          <a:cs typeface="Cordia New" panose="020B0304020202020204" pitchFamily="34" charset="-34"/>
                        </a:rPr>
                        <a:t>Patients with any AE</a:t>
                      </a:r>
                      <a:endParaRPr lang="zh-CN" altLang="en-US" sz="14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a:noFill/>
                    </a:lnT>
                    <a:lnB>
                      <a:noFill/>
                    </a:lnB>
                    <a:solidFill>
                      <a:schemeClr val="accent1">
                        <a:lumMod val="10000"/>
                        <a:lumOff val="90000"/>
                      </a:schemeClr>
                    </a:solid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369 (94.1)</a:t>
                      </a:r>
                    </a:p>
                  </a:txBody>
                  <a:tcPr marL="68580" marR="68580" marT="0" marB="0" anchor="ctr">
                    <a:lnL>
                      <a:noFill/>
                    </a:lnL>
                    <a:lnR>
                      <a:noFill/>
                    </a:lnR>
                    <a:lnT>
                      <a:noFill/>
                    </a:lnT>
                    <a:lnB>
                      <a:noFill/>
                    </a:lnB>
                    <a:no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369 (93.9)</a:t>
                      </a:r>
                    </a:p>
                  </a:txBody>
                  <a:tcPr marL="68580" marR="68580" marT="0" marB="0" anchor="ctr">
                    <a:lnL>
                      <a:noFill/>
                    </a:lnL>
                    <a:lnR>
                      <a:noFill/>
                    </a:lnR>
                    <a:lnT>
                      <a:noFill/>
                    </a:lnT>
                    <a:lnB>
                      <a:noFill/>
                    </a:lnB>
                    <a:no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364 (93.1)</a:t>
                      </a:r>
                    </a:p>
                  </a:txBody>
                  <a:tcPr marL="68580" marR="68580" marT="0" marB="0"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21(91.3)</a:t>
                      </a:r>
                      <a:endParaRPr lang="zh-CN" altLang="en-US" sz="1400" b="0" kern="1200">
                        <a:solidFill>
                          <a:schemeClr val="tx1"/>
                        </a:solidFill>
                        <a:latin typeface="+mn-ea"/>
                        <a:ea typeface="+mn-ea"/>
                        <a:cs typeface="Arial" panose="020B0604020202020204" pitchFamily="34" charset="0"/>
                      </a:endParaRPr>
                    </a:p>
                  </a:txBody>
                  <a:tcPr marL="36195" marR="36195" marT="0" marB="0"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21(84.0)</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a:noFill/>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26(96.3)</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w="12700" cap="flat" cmpd="sng" algn="ctr">
                      <a:noFill/>
                      <a:prstDash val="solid"/>
                      <a:round/>
                      <a:headEnd type="none" w="med" len="med"/>
                      <a:tailEnd type="none" w="med" len="med"/>
                    </a:lnR>
                    <a:lnT>
                      <a:noFill/>
                    </a:lnT>
                    <a:lnB>
                      <a:noFill/>
                    </a:lnB>
                    <a:noFill/>
                  </a:tcPr>
                </a:tc>
                <a:extLst>
                  <a:ext uri="{0D108BD9-81ED-4DB2-BD59-A6C34878D82A}">
                    <a16:rowId xmlns:a16="http://schemas.microsoft.com/office/drawing/2014/main" val="3037233190"/>
                  </a:ext>
                </a:extLst>
              </a:tr>
              <a:tr h="278128">
                <a:tc>
                  <a:txBody>
                    <a:bodyPr/>
                    <a:lstStyle/>
                    <a:p>
                      <a:pPr marL="215900">
                        <a:lnSpc>
                          <a:spcPts val="1400"/>
                        </a:lnSpc>
                        <a:spcAft>
                          <a:spcPts val="700"/>
                        </a:spcAft>
                        <a:buNone/>
                      </a:pPr>
                      <a:r>
                        <a:rPr lang="en-GB" sz="1400" b="0" kern="1200">
                          <a:solidFill>
                            <a:srgbClr val="000000"/>
                          </a:solidFill>
                          <a:effectLst/>
                          <a:latin typeface="+mn-lt"/>
                          <a:ea typeface="MS Mincho" panose="02020609040205080304" pitchFamily="49" charset="-128"/>
                          <a:cs typeface="Cordia New" panose="020B0304020202020204" pitchFamily="34" charset="-34"/>
                        </a:rPr>
                        <a:t>Severe AEs (CTCAE grade &gt;2)</a:t>
                      </a:r>
                      <a:endParaRPr lang="zh-CN" altLang="en-US" sz="14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a:noFill/>
                    </a:lnT>
                    <a:lnB>
                      <a:noFill/>
                    </a:lnB>
                    <a:solidFill>
                      <a:schemeClr val="accent1">
                        <a:lumMod val="10000"/>
                        <a:lumOff val="90000"/>
                      </a:schemeClr>
                    </a:solidFill>
                  </a:tcPr>
                </a:tc>
                <a:tc>
                  <a:txBody>
                    <a:bodyPr/>
                    <a:lstStyle/>
                    <a:p>
                      <a:pPr algn="ctr" fontAlgn="b"/>
                      <a:r>
                        <a:rPr lang="en-US" altLang="zh-CN" sz="1400" b="0" kern="1200">
                          <a:solidFill>
                            <a:schemeClr val="tx1"/>
                          </a:solidFill>
                          <a:latin typeface="+mn-ea"/>
                          <a:ea typeface="+mn-ea"/>
                          <a:cs typeface="Arial" panose="020B0604020202020204" pitchFamily="34" charset="0"/>
                        </a:rPr>
                        <a:t>146(37.2)</a:t>
                      </a:r>
                    </a:p>
                  </a:txBody>
                  <a:tcPr marL="6350" marR="6350" marT="6350" marB="0" anchor="ctr">
                    <a:lnL>
                      <a:noFill/>
                    </a:lnL>
                    <a:lnR>
                      <a:noFill/>
                    </a:lnR>
                    <a:lnT>
                      <a:noFill/>
                    </a:lnT>
                    <a:lnB>
                      <a:noFill/>
                    </a:lnB>
                    <a:noFill/>
                  </a:tcPr>
                </a:tc>
                <a:tc>
                  <a:txBody>
                    <a:bodyPr/>
                    <a:lstStyle/>
                    <a:p>
                      <a:pPr marL="0" algn="ctr" defTabSz="914400" rtl="0" eaLnBrk="1" fontAlgn="ctr" latinLnBrk="0" hangingPunct="1"/>
                      <a:r>
                        <a:rPr lang="en-US" altLang="zh-CN" sz="1400" b="0" kern="1200">
                          <a:solidFill>
                            <a:schemeClr val="tx1"/>
                          </a:solidFill>
                          <a:latin typeface="+mn-ea"/>
                          <a:ea typeface="+mn-ea"/>
                          <a:cs typeface="Arial" panose="020B0604020202020204" pitchFamily="34" charset="0"/>
                        </a:rPr>
                        <a:t>139(35.4)</a:t>
                      </a:r>
                    </a:p>
                  </a:txBody>
                  <a:tcPr marL="6350" marR="6350" marT="6350" marB="0" anchor="ctr">
                    <a:lnL>
                      <a:noFill/>
                    </a:lnL>
                    <a:lnR>
                      <a:noFill/>
                    </a:lnR>
                    <a:lnT>
                      <a:noFill/>
                    </a:lnT>
                    <a:lnB>
                      <a:noFill/>
                    </a:lnB>
                    <a:noFill/>
                  </a:tcPr>
                </a:tc>
                <a:tc>
                  <a:txBody>
                    <a:bodyPr/>
                    <a:lstStyle/>
                    <a:p>
                      <a:pPr marL="0" algn="ctr" defTabSz="914400" rtl="0" eaLnBrk="1" fontAlgn="ctr" latinLnBrk="0" hangingPunct="1"/>
                      <a:r>
                        <a:rPr lang="en-US" altLang="zh-CN" sz="1400" b="0" kern="1200">
                          <a:solidFill>
                            <a:schemeClr val="tx1"/>
                          </a:solidFill>
                          <a:latin typeface="+mn-ea"/>
                          <a:ea typeface="+mn-ea"/>
                          <a:cs typeface="Arial" panose="020B0604020202020204" pitchFamily="34" charset="0"/>
                        </a:rPr>
                        <a:t>145(37.1)</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6(26.1)</a:t>
                      </a:r>
                      <a:endParaRPr lang="zh-CN" altLang="en-US" sz="1400" b="0" kern="1200">
                        <a:solidFill>
                          <a:schemeClr val="tx1"/>
                        </a:solidFill>
                        <a:latin typeface="+mn-ea"/>
                        <a:ea typeface="+mn-ea"/>
                        <a:cs typeface="Arial" panose="020B0604020202020204" pitchFamily="34" charset="0"/>
                      </a:endParaRPr>
                    </a:p>
                  </a:txBody>
                  <a:tcPr marL="36195" marR="36195" marT="0" marB="0"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7(28.0)</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a:noFill/>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13(48.2)</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w="12700" cap="flat" cmpd="sng" algn="ctr">
                      <a:noFill/>
                      <a:prstDash val="solid"/>
                      <a:round/>
                      <a:headEnd type="none" w="med" len="med"/>
                      <a:tailEnd type="none" w="med" len="med"/>
                    </a:lnR>
                    <a:lnT>
                      <a:noFill/>
                    </a:lnT>
                    <a:lnB>
                      <a:noFill/>
                    </a:lnB>
                    <a:noFill/>
                  </a:tcPr>
                </a:tc>
                <a:extLst>
                  <a:ext uri="{0D108BD9-81ED-4DB2-BD59-A6C34878D82A}">
                    <a16:rowId xmlns:a16="http://schemas.microsoft.com/office/drawing/2014/main" val="1537768001"/>
                  </a:ext>
                </a:extLst>
              </a:tr>
              <a:tr h="523811">
                <a:tc>
                  <a:txBody>
                    <a:bodyPr/>
                    <a:lstStyle/>
                    <a:p>
                      <a:pPr marL="215900">
                        <a:lnSpc>
                          <a:spcPts val="1400"/>
                        </a:lnSpc>
                        <a:spcAft>
                          <a:spcPts val="700"/>
                        </a:spcAft>
                        <a:buNone/>
                      </a:pPr>
                      <a:r>
                        <a:rPr lang="en-GB" sz="1400" b="0" kern="1200">
                          <a:solidFill>
                            <a:srgbClr val="000000"/>
                          </a:solidFill>
                          <a:effectLst/>
                          <a:latin typeface="+mn-lt"/>
                          <a:ea typeface="MS Mincho" panose="02020609040205080304" pitchFamily="49" charset="-128"/>
                          <a:cs typeface="Cordia New" panose="020B0304020202020204" pitchFamily="34" charset="-34"/>
                        </a:rPr>
                        <a:t>AEs leading to permanent treatment discontinuation</a:t>
                      </a:r>
                      <a:endParaRPr lang="zh-CN" altLang="en-US" sz="14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a:noFill/>
                    </a:lnT>
                    <a:lnB>
                      <a:noFill/>
                    </a:lnB>
                    <a:solidFill>
                      <a:schemeClr val="accent1">
                        <a:lumMod val="10000"/>
                        <a:lumOff val="90000"/>
                      </a:schemeClr>
                    </a:solid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46 (11.7)</a:t>
                      </a:r>
                    </a:p>
                  </a:txBody>
                  <a:tcPr marL="68580" marR="68580" marT="0" marB="0" anchor="ctr">
                    <a:lnL>
                      <a:noFill/>
                    </a:lnL>
                    <a:lnR>
                      <a:noFill/>
                    </a:lnR>
                    <a:lnT>
                      <a:noFill/>
                    </a:lnT>
                    <a:lnB>
                      <a:noFill/>
                    </a:lnB>
                    <a:no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39 (9</a:t>
                      </a:r>
                      <a:r>
                        <a:rPr lang="en-US" sz="1400" b="0" kern="1200">
                          <a:solidFill>
                            <a:schemeClr val="tx1"/>
                          </a:solidFill>
                          <a:latin typeface="+mn-ea"/>
                          <a:ea typeface="+mn-ea"/>
                          <a:cs typeface="Arial" panose="020B0604020202020204" pitchFamily="34" charset="0"/>
                        </a:rPr>
                        <a:t>.9</a:t>
                      </a:r>
                      <a:r>
                        <a:rPr lang="en-GB" sz="1400" b="0" kern="1200">
                          <a:solidFill>
                            <a:schemeClr val="tx1"/>
                          </a:solidFill>
                          <a:latin typeface="+mn-ea"/>
                          <a:ea typeface="+mn-ea"/>
                          <a:cs typeface="Arial" panose="020B0604020202020204" pitchFamily="34" charset="0"/>
                        </a:rPr>
                        <a:t>)</a:t>
                      </a:r>
                    </a:p>
                  </a:txBody>
                  <a:tcPr marL="68580" marR="68580" marT="0" marB="0" anchor="ctr">
                    <a:lnL>
                      <a:noFill/>
                    </a:lnL>
                    <a:lnR>
                      <a:noFill/>
                    </a:lnR>
                    <a:lnT>
                      <a:noFill/>
                    </a:lnT>
                    <a:lnB>
                      <a:noFill/>
                    </a:lnB>
                    <a:no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44 (11.3)</a:t>
                      </a:r>
                    </a:p>
                  </a:txBody>
                  <a:tcPr marL="68580" marR="68580" marT="0" marB="0"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2(8.7)</a:t>
                      </a:r>
                      <a:endParaRPr lang="zh-CN" altLang="en-US" sz="1400" b="0" kern="1200">
                        <a:solidFill>
                          <a:schemeClr val="tx1"/>
                        </a:solidFill>
                        <a:latin typeface="+mn-ea"/>
                        <a:ea typeface="+mn-ea"/>
                        <a:cs typeface="Arial" panose="020B0604020202020204" pitchFamily="34" charset="0"/>
                      </a:endParaRPr>
                    </a:p>
                  </a:txBody>
                  <a:tcPr marL="36195" marR="36195" marT="0" marB="0"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2(8.0)</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a:noFill/>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3(11.1)</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w="12700" cap="flat" cmpd="sng" algn="ctr">
                      <a:noFill/>
                      <a:prstDash val="solid"/>
                      <a:round/>
                      <a:headEnd type="none" w="med" len="med"/>
                      <a:tailEnd type="none" w="med" len="med"/>
                    </a:lnR>
                    <a:lnT>
                      <a:noFill/>
                    </a:lnT>
                    <a:lnB>
                      <a:noFill/>
                    </a:lnB>
                    <a:noFill/>
                  </a:tcPr>
                </a:tc>
                <a:extLst>
                  <a:ext uri="{0D108BD9-81ED-4DB2-BD59-A6C34878D82A}">
                    <a16:rowId xmlns:a16="http://schemas.microsoft.com/office/drawing/2014/main" val="2819106238"/>
                  </a:ext>
                </a:extLst>
              </a:tr>
              <a:tr h="0">
                <a:tc>
                  <a:txBody>
                    <a:bodyPr/>
                    <a:lstStyle/>
                    <a:p>
                      <a:pPr marL="215900">
                        <a:lnSpc>
                          <a:spcPts val="1400"/>
                        </a:lnSpc>
                        <a:spcAft>
                          <a:spcPts val="700"/>
                        </a:spcAft>
                        <a:buNone/>
                      </a:pPr>
                      <a:r>
                        <a:rPr lang="en-GB" sz="1400" b="0" kern="1200">
                          <a:solidFill>
                            <a:srgbClr val="000000"/>
                          </a:solidFill>
                          <a:effectLst/>
                          <a:latin typeface="+mn-lt"/>
                          <a:ea typeface="MS Mincho" panose="02020609040205080304" pitchFamily="49" charset="-128"/>
                          <a:cs typeface="Cordia New" panose="020B0304020202020204" pitchFamily="34" charset="-34"/>
                        </a:rPr>
                        <a:t>Serious AEs</a:t>
                      </a:r>
                      <a:endParaRPr lang="zh-CN" altLang="en-US" sz="14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a:noFill/>
                    </a:lnT>
                    <a:lnB>
                      <a:noFill/>
                    </a:lnB>
                    <a:solidFill>
                      <a:schemeClr val="accent1">
                        <a:lumMod val="10000"/>
                        <a:lumOff val="90000"/>
                      </a:schemeClr>
                    </a:solid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168 (42.9)</a:t>
                      </a:r>
                    </a:p>
                  </a:txBody>
                  <a:tcPr marL="68580" marR="68580" marT="0" marB="0" anchor="ctr">
                    <a:lnL>
                      <a:noFill/>
                    </a:lnL>
                    <a:lnR>
                      <a:noFill/>
                    </a:lnR>
                    <a:lnT>
                      <a:noFill/>
                    </a:lnT>
                    <a:lnB>
                      <a:noFill/>
                    </a:lnB>
                    <a:no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150 (38.2)</a:t>
                      </a:r>
                    </a:p>
                  </a:txBody>
                  <a:tcPr marL="68580" marR="68580" marT="0" marB="0" anchor="ctr">
                    <a:lnL>
                      <a:noFill/>
                    </a:lnL>
                    <a:lnR>
                      <a:noFill/>
                    </a:lnR>
                    <a:lnT>
                      <a:noFill/>
                    </a:lnT>
                    <a:lnB>
                      <a:noFill/>
                    </a:lnB>
                    <a:no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154 (39.4)</a:t>
                      </a:r>
                    </a:p>
                  </a:txBody>
                  <a:tcPr marL="68580" marR="68580" marT="0" marB="0"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10(43.5)</a:t>
                      </a:r>
                      <a:endParaRPr lang="zh-CN" altLang="en-US" sz="1400" b="0" kern="1200">
                        <a:solidFill>
                          <a:schemeClr val="tx1"/>
                        </a:solidFill>
                        <a:latin typeface="+mn-ea"/>
                        <a:ea typeface="+mn-ea"/>
                        <a:cs typeface="Arial" panose="020B0604020202020204" pitchFamily="34" charset="0"/>
                      </a:endParaRPr>
                    </a:p>
                  </a:txBody>
                  <a:tcPr marL="36195" marR="36195" marT="0" marB="0"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8(32.0)</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a:noFill/>
                    </a:lnR>
                    <a:lnT>
                      <a:noFill/>
                    </a:lnT>
                    <a:lnB>
                      <a:noFill/>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11(40.7)</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w="12700" cap="flat" cmpd="sng" algn="ctr">
                      <a:noFill/>
                      <a:prstDash val="solid"/>
                      <a:round/>
                      <a:headEnd type="none" w="med" len="med"/>
                      <a:tailEnd type="none" w="med" len="med"/>
                    </a:lnR>
                    <a:lnT>
                      <a:noFill/>
                    </a:lnT>
                    <a:lnB>
                      <a:noFill/>
                    </a:lnB>
                    <a:noFill/>
                  </a:tcPr>
                </a:tc>
                <a:extLst>
                  <a:ext uri="{0D108BD9-81ED-4DB2-BD59-A6C34878D82A}">
                    <a16:rowId xmlns:a16="http://schemas.microsoft.com/office/drawing/2014/main" val="2657366051"/>
                  </a:ext>
                </a:extLst>
              </a:tr>
              <a:tr h="278128">
                <a:tc>
                  <a:txBody>
                    <a:bodyPr/>
                    <a:lstStyle/>
                    <a:p>
                      <a:pPr marL="431800">
                        <a:lnSpc>
                          <a:spcPts val="1400"/>
                        </a:lnSpc>
                        <a:spcAft>
                          <a:spcPts val="700"/>
                        </a:spcAft>
                        <a:buNone/>
                      </a:pPr>
                      <a:r>
                        <a:rPr lang="en-GB" sz="1400" b="0" kern="1200">
                          <a:solidFill>
                            <a:srgbClr val="000000"/>
                          </a:solidFill>
                          <a:effectLst/>
                          <a:latin typeface="+mn-lt"/>
                          <a:ea typeface="MS Mincho" panose="02020609040205080304" pitchFamily="49" charset="-128"/>
                          <a:cs typeface="Cordia New" panose="020B0304020202020204" pitchFamily="34" charset="-34"/>
                        </a:rPr>
                        <a:t>Resulted in death</a:t>
                      </a:r>
                      <a:endParaRPr lang="zh-CN" altLang="en-US" sz="1400" b="0" kern="1200">
                        <a:solidFill>
                          <a:srgbClr val="000000"/>
                        </a:solidFill>
                        <a:effectLst/>
                        <a:latin typeface="+mn-lt"/>
                        <a:ea typeface="MS Mincho" panose="02020609040205080304" pitchFamily="49" charset="-128"/>
                        <a:cs typeface="Cordia New" panose="020B0304020202020204" pitchFamily="34" charset="-34"/>
                      </a:endParaRPr>
                    </a:p>
                  </a:txBody>
                  <a:tcPr marL="36195" marR="36195" marT="0" marB="0" anchor="ctr">
                    <a:lnL>
                      <a:noFill/>
                    </a:lnL>
                    <a:lnR>
                      <a:noFill/>
                    </a:lnR>
                    <a:lnT>
                      <a:noFill/>
                    </a:lnT>
                    <a:lnB w="12700" cap="flat" cmpd="sng" algn="ctr">
                      <a:solidFill>
                        <a:srgbClr val="000000"/>
                      </a:solidFill>
                      <a:prstDash val="solid"/>
                      <a:round/>
                      <a:headEnd type="none" w="med" len="med"/>
                      <a:tailEnd type="none" w="med" len="med"/>
                    </a:lnB>
                    <a:solidFill>
                      <a:schemeClr val="accent1">
                        <a:lumMod val="10000"/>
                        <a:lumOff val="90000"/>
                      </a:schemeClr>
                    </a:solid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29 (7.4)</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18 (4.6)</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lnSpc>
                          <a:spcPct val="100000"/>
                        </a:lnSpc>
                        <a:spcAft>
                          <a:spcPts val="0"/>
                        </a:spcAft>
                      </a:pPr>
                      <a:r>
                        <a:rPr lang="en-GB" sz="1400" b="0" kern="1200">
                          <a:solidFill>
                            <a:schemeClr val="tx1"/>
                          </a:solidFill>
                          <a:latin typeface="+mn-ea"/>
                          <a:ea typeface="+mn-ea"/>
                          <a:cs typeface="Arial" panose="020B0604020202020204" pitchFamily="34" charset="0"/>
                        </a:rPr>
                        <a:t>8 (2.1)</a:t>
                      </a:r>
                    </a:p>
                  </a:txBody>
                  <a:tcPr marL="68580" marR="68580" marT="0" marB="0" anchor="ctr">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3(13.0)</a:t>
                      </a:r>
                      <a:endParaRPr lang="zh-CN" altLang="en-US" sz="1400" b="0" kern="1200">
                        <a:solidFill>
                          <a:schemeClr val="tx1"/>
                        </a:solidFill>
                        <a:latin typeface="+mn-ea"/>
                        <a:ea typeface="+mn-ea"/>
                        <a:cs typeface="Arial" panose="020B0604020202020204" pitchFamily="34" charset="0"/>
                      </a:endParaRPr>
                    </a:p>
                  </a:txBody>
                  <a:tcPr marL="36195" marR="36195" marT="0" marB="0" anchor="ctr">
                    <a:lnL w="12700" cap="flat" cmpd="sng" algn="ctr">
                      <a:solidFill>
                        <a:schemeClr val="tx1"/>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1(4.0)</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lnSpc>
                          <a:spcPts val="1400"/>
                        </a:lnSpc>
                        <a:spcAft>
                          <a:spcPts val="700"/>
                        </a:spcAft>
                        <a:buNone/>
                      </a:pPr>
                      <a:r>
                        <a:rPr lang="en-GB" sz="1400" b="0" kern="1200">
                          <a:solidFill>
                            <a:schemeClr val="tx1"/>
                          </a:solidFill>
                          <a:latin typeface="+mn-ea"/>
                          <a:ea typeface="+mn-ea"/>
                          <a:cs typeface="Arial" panose="020B0604020202020204" pitchFamily="34" charset="0"/>
                        </a:rPr>
                        <a:t>0(0)</a:t>
                      </a:r>
                      <a:endParaRPr lang="zh-CN" altLang="en-US" sz="1400" b="0" kern="1200">
                        <a:solidFill>
                          <a:schemeClr val="tx1"/>
                        </a:solidFill>
                        <a:latin typeface="+mn-ea"/>
                        <a:ea typeface="+mn-ea"/>
                        <a:cs typeface="Arial" panose="020B0604020202020204" pitchFamily="34" charset="0"/>
                      </a:endParaRPr>
                    </a:p>
                  </a:txBody>
                  <a:tcPr marL="68580" marR="68580" marT="0" marB="0" anchor="ctr">
                    <a:lnL>
                      <a:noFill/>
                    </a:lnL>
                    <a:lnR w="12700" cap="flat" cmpd="sng" algn="ctr">
                      <a:no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9683444"/>
                  </a:ext>
                </a:extLst>
              </a:tr>
            </a:tbl>
          </a:graphicData>
        </a:graphic>
      </p:graphicFrame>
      <p:sp>
        <p:nvSpPr>
          <p:cNvPr id="7" name="文本框 6">
            <a:extLst>
              <a:ext uri="{FF2B5EF4-FFF2-40B4-BE49-F238E27FC236}">
                <a16:creationId xmlns:a16="http://schemas.microsoft.com/office/drawing/2014/main" id="{3CA06DBB-3FA3-CCD7-445A-8060C7363454}"/>
              </a:ext>
            </a:extLst>
          </p:cNvPr>
          <p:cNvSpPr txBox="1"/>
          <p:nvPr/>
        </p:nvSpPr>
        <p:spPr bwMode="gray">
          <a:xfrm>
            <a:off x="414773" y="5291980"/>
            <a:ext cx="9017000" cy="246221"/>
          </a:xfrm>
          <a:prstGeom prst="rect">
            <a:avLst/>
          </a:prstGeom>
          <a:noFill/>
        </p:spPr>
        <p:txBody>
          <a:bodyPr wrap="square">
            <a:spAutoFit/>
          </a:bodyPr>
          <a:lstStyle/>
          <a:p>
            <a:r>
              <a:rPr lang="en-US" altLang="zh-CN" sz="1000"/>
              <a:t>CTCAE, Common Terminology Criteria for Adverse Events.</a:t>
            </a:r>
          </a:p>
        </p:txBody>
      </p:sp>
    </p:spTree>
    <p:extLst>
      <p:ext uri="{BB962C8B-B14F-4D97-AF65-F5344CB8AC3E}">
        <p14:creationId xmlns:p14="http://schemas.microsoft.com/office/powerpoint/2010/main" val="440869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EE7985-F78E-0B02-C9A4-81231C91BA00}"/>
              </a:ext>
            </a:extLst>
          </p:cNvPr>
          <p:cNvSpPr>
            <a:spLocks noGrp="1"/>
          </p:cNvSpPr>
          <p:nvPr>
            <p:ph type="title"/>
          </p:nvPr>
        </p:nvSpPr>
        <p:spPr/>
        <p:txBody>
          <a:bodyPr/>
          <a:lstStyle/>
          <a:p>
            <a:r>
              <a:rPr lang="en-US" altLang="zh-CN"/>
              <a:t>Summary </a:t>
            </a:r>
            <a:endParaRPr lang="zh-CN" altLang="en-US"/>
          </a:p>
        </p:txBody>
      </p:sp>
      <p:sp>
        <p:nvSpPr>
          <p:cNvPr id="4" name="页脚占位符 3">
            <a:extLst>
              <a:ext uri="{FF2B5EF4-FFF2-40B4-BE49-F238E27FC236}">
                <a16:creationId xmlns:a16="http://schemas.microsoft.com/office/drawing/2014/main" id="{071FA0DB-1A2F-BF7F-F760-51EC334AE24D}"/>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sp>
        <p:nvSpPr>
          <p:cNvPr id="5" name="文本框 4">
            <a:extLst>
              <a:ext uri="{FF2B5EF4-FFF2-40B4-BE49-F238E27FC236}">
                <a16:creationId xmlns:a16="http://schemas.microsoft.com/office/drawing/2014/main" id="{A8358088-5DC1-B4C4-F6A3-E60BB9D9F1FA}"/>
              </a:ext>
            </a:extLst>
          </p:cNvPr>
          <p:cNvSpPr txBox="1"/>
          <p:nvPr/>
        </p:nvSpPr>
        <p:spPr bwMode="gray">
          <a:xfrm>
            <a:off x="479424" y="1197000"/>
            <a:ext cx="11232000" cy="3201069"/>
          </a:xfrm>
          <a:prstGeom prst="rect">
            <a:avLst/>
          </a:prstGeom>
          <a:noFill/>
        </p:spPr>
        <p:txBody>
          <a:bodyPr wrap="square" lIns="0" tIns="0" rIns="0" bIns="0" rtlCol="0">
            <a:spAutoFit/>
          </a:bodyPr>
          <a:lstStyle/>
          <a:p>
            <a:pPr marL="285750" marR="0" lvl="0" indent="-285750" fontAlgn="auto">
              <a:lnSpc>
                <a:spcPct val="150000"/>
              </a:lnSpc>
              <a:spcBef>
                <a:spcPts val="0"/>
              </a:spcBef>
              <a:spcAft>
                <a:spcPts val="0"/>
              </a:spcAft>
              <a:buClrTx/>
              <a:buSzTx/>
              <a:buFont typeface="Wingdings" panose="05000000000000000000" pitchFamily="2" charset="2"/>
              <a:buChar char="Ø"/>
              <a:tabLst/>
              <a:defRPr/>
            </a:pPr>
            <a:r>
              <a:rPr lang="en-US" altLang="zh-CN" sz="1400"/>
              <a:t>The combined </a:t>
            </a:r>
            <a:r>
              <a:rPr lang="en-US" altLang="zh-CN" sz="1400" b="1"/>
              <a:t>non-clinical</a:t>
            </a:r>
            <a:r>
              <a:rPr lang="en-US" altLang="zh-CN" sz="1400"/>
              <a:t> and </a:t>
            </a:r>
            <a:r>
              <a:rPr lang="en-US" altLang="zh-CN" sz="1400" b="1"/>
              <a:t>clinical</a:t>
            </a:r>
            <a:r>
              <a:rPr lang="en-US" altLang="zh-CN" sz="1400"/>
              <a:t> data provide a strong scientific rationale to initiate a Phase III trial of </a:t>
            </a:r>
            <a:r>
              <a:rPr lang="en-US" altLang="zh-CN" sz="1400" err="1"/>
              <a:t>nerandomilast</a:t>
            </a:r>
            <a:r>
              <a:rPr lang="en-US" altLang="zh-CN" sz="1400"/>
              <a:t> in </a:t>
            </a:r>
            <a:r>
              <a:rPr lang="en-US" altLang="zh-CN" sz="1400" err="1"/>
              <a:t>SSc</a:t>
            </a:r>
            <a:r>
              <a:rPr lang="en-US" altLang="zh-CN" sz="1400"/>
              <a:t>. </a:t>
            </a:r>
          </a:p>
          <a:p>
            <a:pPr marL="285750" marR="0" lvl="0" indent="-285750" fontAlgn="auto">
              <a:lnSpc>
                <a:spcPct val="150000"/>
              </a:lnSpc>
              <a:spcBef>
                <a:spcPts val="0"/>
              </a:spcBef>
              <a:spcAft>
                <a:spcPts val="0"/>
              </a:spcAft>
              <a:buClrTx/>
              <a:buSzTx/>
              <a:buFont typeface="Wingdings" panose="05000000000000000000" pitchFamily="2" charset="2"/>
              <a:buChar char="Ø"/>
              <a:tabLst/>
              <a:defRPr/>
            </a:pPr>
            <a:r>
              <a:rPr lang="en-US" altLang="zh-CN" sz="1400"/>
              <a:t>Pre-clinical data demonstrate that </a:t>
            </a:r>
            <a:r>
              <a:rPr lang="en-US" altLang="zh-CN" sz="1400" err="1"/>
              <a:t>nerandomilast</a:t>
            </a:r>
            <a:r>
              <a:rPr lang="en-US" altLang="zh-CN" sz="1400"/>
              <a:t> </a:t>
            </a:r>
            <a:r>
              <a:rPr lang="en-US" altLang="zh-CN" sz="1400" b="1"/>
              <a:t>targets key pathogenic mechanisms of </a:t>
            </a:r>
            <a:r>
              <a:rPr lang="en-US" altLang="zh-CN" sz="1400" b="1" err="1"/>
              <a:t>SSc</a:t>
            </a:r>
            <a:r>
              <a:rPr lang="en-US" altLang="zh-CN" sz="1400" b="1"/>
              <a:t> — fibrosis, vasculopathy, and immune dysregulation</a:t>
            </a:r>
            <a:r>
              <a:rPr lang="en-US" altLang="zh-CN" sz="1400"/>
              <a:t> — across relevant in vitro and in vivo models, with effects observed at clinically relevant concentrations. Importantly, these effects were not limited to the lung but also included skin and vascular tissues, supporting its potential for systemic disease modification.</a:t>
            </a:r>
          </a:p>
          <a:p>
            <a:pPr marL="285750" marR="0" lvl="0" indent="-285750" fontAlgn="auto">
              <a:lnSpc>
                <a:spcPct val="150000"/>
              </a:lnSpc>
              <a:spcBef>
                <a:spcPts val="0"/>
              </a:spcBef>
              <a:spcAft>
                <a:spcPts val="0"/>
              </a:spcAft>
              <a:buClrTx/>
              <a:buSzTx/>
              <a:buFont typeface="Wingdings" panose="05000000000000000000" pitchFamily="2" charset="2"/>
              <a:buChar char="Ø"/>
              <a:tabLst/>
              <a:defRPr/>
            </a:pPr>
            <a:r>
              <a:rPr lang="en-US" altLang="zh-CN" sz="1400"/>
              <a:t>Clinically, </a:t>
            </a:r>
            <a:r>
              <a:rPr lang="en-US" altLang="zh-CN" sz="1400" err="1"/>
              <a:t>nerandomilast</a:t>
            </a:r>
            <a:r>
              <a:rPr lang="en-US" altLang="zh-CN" sz="1400"/>
              <a:t> has demonstrated consistent efficacy and safety in two large Phase III trials in fibrosing ILDs (IPF and PPF). In the </a:t>
            </a:r>
            <a:r>
              <a:rPr lang="en-US" altLang="zh-CN" sz="1400" b="1" err="1"/>
              <a:t>SSc</a:t>
            </a:r>
            <a:r>
              <a:rPr lang="en-US" altLang="zh-CN" sz="1400" b="1"/>
              <a:t>-ILD subgroup</a:t>
            </a:r>
            <a:r>
              <a:rPr lang="en-US" altLang="zh-CN" sz="1400"/>
              <a:t>, </a:t>
            </a:r>
            <a:r>
              <a:rPr lang="en-US" altLang="zh-CN" sz="1400" err="1"/>
              <a:t>nerandomilast</a:t>
            </a:r>
            <a:r>
              <a:rPr lang="en-US" altLang="zh-CN" sz="1400"/>
              <a:t> showed </a:t>
            </a:r>
            <a:r>
              <a:rPr lang="en-US" altLang="zh-CN" sz="1400" b="1"/>
              <a:t>numerically </a:t>
            </a:r>
            <a:r>
              <a:rPr lang="en-US" altLang="zh-CN" sz="1400" b="1" err="1"/>
              <a:t>favourable</a:t>
            </a:r>
            <a:r>
              <a:rPr lang="en-US" altLang="zh-CN" sz="1400" b="1"/>
              <a:t> trends in both primary and key secondary endpoints</a:t>
            </a:r>
            <a:r>
              <a:rPr lang="en-US" altLang="zh-CN" sz="1400"/>
              <a:t>, despite the limited sample size. Safety data in this subgroup were consistent with the overall safety profile. </a:t>
            </a:r>
          </a:p>
          <a:p>
            <a:pPr marL="285750" marR="0" lvl="0" indent="-285750" fontAlgn="auto">
              <a:lnSpc>
                <a:spcPct val="150000"/>
              </a:lnSpc>
              <a:spcBef>
                <a:spcPts val="0"/>
              </a:spcBef>
              <a:spcAft>
                <a:spcPts val="0"/>
              </a:spcAft>
              <a:buClrTx/>
              <a:buSzTx/>
              <a:buFont typeface="Wingdings" panose="05000000000000000000" pitchFamily="2" charset="2"/>
              <a:buChar char="Ø"/>
              <a:tabLst/>
              <a:defRPr/>
            </a:pPr>
            <a:r>
              <a:rPr lang="en-US" altLang="zh-CN" sz="1400"/>
              <a:t>These findings support the clinical relevance of the pre-clinical data and justify further evaluation of </a:t>
            </a:r>
            <a:r>
              <a:rPr lang="en-US" altLang="zh-CN" sz="1400" err="1"/>
              <a:t>nerandomilast</a:t>
            </a:r>
            <a:r>
              <a:rPr lang="en-US" altLang="zh-CN" sz="1400"/>
              <a:t> on ILD and other organ manifestations in </a:t>
            </a:r>
            <a:r>
              <a:rPr lang="en-US" altLang="zh-CN" sz="1400" err="1"/>
              <a:t>SSc</a:t>
            </a:r>
            <a:r>
              <a:rPr lang="en-US" altLang="zh-CN" sz="1400"/>
              <a:t> in a confirmatory Phase III trial.</a:t>
            </a:r>
            <a:endParaRPr lang="zh-CN" altLang="en-US" sz="1400"/>
          </a:p>
        </p:txBody>
      </p:sp>
      <p:sp>
        <p:nvSpPr>
          <p:cNvPr id="6" name="灯片编号占位符 5">
            <a:extLst>
              <a:ext uri="{FF2B5EF4-FFF2-40B4-BE49-F238E27FC236}">
                <a16:creationId xmlns:a16="http://schemas.microsoft.com/office/drawing/2014/main" id="{9A7D5772-0B1F-E339-34EE-5E21FF1D2864}"/>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38123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52F22F-C1C0-845D-D380-73D7A65FA50C}"/>
              </a:ext>
            </a:extLst>
          </p:cNvPr>
          <p:cNvSpPr>
            <a:spLocks noGrp="1"/>
          </p:cNvSpPr>
          <p:nvPr>
            <p:ph type="title"/>
          </p:nvPr>
        </p:nvSpPr>
        <p:spPr>
          <a:xfrm>
            <a:off x="479424" y="1412874"/>
            <a:ext cx="11451319" cy="1799861"/>
          </a:xfrm>
        </p:spPr>
        <p:txBody>
          <a:bodyPr/>
          <a:lstStyle/>
          <a:p>
            <a:r>
              <a:rPr lang="en-US" altLang="zh-CN" err="1"/>
              <a:t>SSc</a:t>
            </a:r>
            <a:r>
              <a:rPr lang="en-US" altLang="zh-CN"/>
              <a:t> Ph3 (1305-0052) Study Design Overview</a:t>
            </a:r>
            <a:endParaRPr lang="zh-CN" altLang="en-US"/>
          </a:p>
        </p:txBody>
      </p:sp>
      <p:sp>
        <p:nvSpPr>
          <p:cNvPr id="4" name="页脚占位符 3">
            <a:extLst>
              <a:ext uri="{FF2B5EF4-FFF2-40B4-BE49-F238E27FC236}">
                <a16:creationId xmlns:a16="http://schemas.microsoft.com/office/drawing/2014/main" id="{70E4871C-5D58-FBEB-B3FA-824063D46271}"/>
              </a:ext>
            </a:extLst>
          </p:cNvPr>
          <p:cNvSpPr>
            <a:spLocks noGrp="1"/>
          </p:cNvSpPr>
          <p:nvPr>
            <p:ph type="ftr" sz="quarter" idx="19"/>
          </p:nvPr>
        </p:nvSpPr>
        <p:spPr/>
        <p:txBody>
          <a:bodyPr/>
          <a:lstStyle/>
          <a:p>
            <a:r>
              <a:rPr lang="en-US"/>
              <a:t>Nerandomilast in SSc iCEC June 2025 CONFIDENTIAL ONLY FOR INTERNAL USE </a:t>
            </a:r>
          </a:p>
        </p:txBody>
      </p:sp>
      <p:sp>
        <p:nvSpPr>
          <p:cNvPr id="6" name="副标题 5">
            <a:extLst>
              <a:ext uri="{FF2B5EF4-FFF2-40B4-BE49-F238E27FC236}">
                <a16:creationId xmlns:a16="http://schemas.microsoft.com/office/drawing/2014/main" id="{1542E5DA-74FB-6C1A-2880-D4C1E4F98D12}"/>
              </a:ext>
            </a:extLst>
          </p:cNvPr>
          <p:cNvSpPr>
            <a:spLocks noGrp="1"/>
          </p:cNvSpPr>
          <p:nvPr>
            <p:ph type="subTitle" idx="14"/>
          </p:nvPr>
        </p:nvSpPr>
        <p:spPr/>
        <p:txBody>
          <a:bodyPr/>
          <a:lstStyle/>
          <a:p>
            <a:endParaRPr lang="zh-CN" altLang="en-US"/>
          </a:p>
        </p:txBody>
      </p:sp>
    </p:spTree>
    <p:extLst>
      <p:ext uri="{BB962C8B-B14F-4D97-AF65-F5344CB8AC3E}">
        <p14:creationId xmlns:p14="http://schemas.microsoft.com/office/powerpoint/2010/main" val="3497988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67" y="202364"/>
            <a:ext cx="8279765" cy="396904"/>
          </a:xfrm>
          <a:prstGeom prst="rect">
            <a:avLst/>
          </a:prstGeom>
        </p:spPr>
        <p:txBody>
          <a:bodyPr vert="horz" wrap="square" lIns="0" tIns="12065" rIns="0" bIns="0" rtlCol="0">
            <a:spAutoFit/>
          </a:bodyPr>
          <a:lstStyle/>
          <a:p>
            <a:pPr marL="12700">
              <a:lnSpc>
                <a:spcPct val="100000"/>
              </a:lnSpc>
              <a:spcBef>
                <a:spcPts val="95"/>
              </a:spcBef>
            </a:pPr>
            <a:r>
              <a:rPr spc="-20"/>
              <a:t>1305-</a:t>
            </a:r>
            <a:r>
              <a:t>0052:</a:t>
            </a:r>
            <a:r>
              <a:rPr spc="-60"/>
              <a:t> </a:t>
            </a:r>
            <a:r>
              <a:t>Trial</a:t>
            </a:r>
            <a:r>
              <a:rPr spc="-30"/>
              <a:t> </a:t>
            </a:r>
            <a:r>
              <a:t>Design</a:t>
            </a:r>
            <a:r>
              <a:rPr lang="en-US"/>
              <a:t> (as of Dec 2</a:t>
            </a:r>
            <a:r>
              <a:rPr lang="en-US" baseline="30000"/>
              <a:t>nd</a:t>
            </a:r>
            <a:r>
              <a:rPr lang="en-US"/>
              <a:t>)</a:t>
            </a:r>
            <a:endParaRPr spc="-10"/>
          </a:p>
        </p:txBody>
      </p:sp>
      <p:sp>
        <p:nvSpPr>
          <p:cNvPr id="3" name="object 3"/>
          <p:cNvSpPr txBox="1"/>
          <p:nvPr/>
        </p:nvSpPr>
        <p:spPr>
          <a:xfrm>
            <a:off x="10373475" y="6461308"/>
            <a:ext cx="1978025" cy="13593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800" b="0" i="0" u="none" strike="noStrike" kern="0" cap="none" spc="0" normalizeH="0" baseline="0" noProof="0">
                <a:ln>
                  <a:noFill/>
                </a:ln>
                <a:solidFill>
                  <a:srgbClr val="07302A"/>
                </a:solidFill>
                <a:effectLst/>
                <a:uLnTx/>
                <a:uFillTx/>
                <a:latin typeface="Boehringer Forward Text"/>
                <a:ea typeface="+mn-ea"/>
                <a:cs typeface="Boehringer Forward Text"/>
              </a:rPr>
              <a:t>|</a:t>
            </a:r>
            <a:r>
              <a:rPr kumimoji="0" sz="800" b="0" i="0" u="none" strike="noStrike" kern="0" cap="none" spc="170" normalizeH="0" baseline="0" noProof="0">
                <a:ln>
                  <a:noFill/>
                </a:ln>
                <a:solidFill>
                  <a:srgbClr val="07302A"/>
                </a:solidFill>
                <a:effectLst/>
                <a:uLnTx/>
                <a:uFillTx/>
                <a:latin typeface="Boehringer Forward Text"/>
                <a:ea typeface="+mn-ea"/>
                <a:cs typeface="Boehringer Forward Text"/>
              </a:rPr>
              <a:t>  </a:t>
            </a:r>
            <a:r>
              <a:rPr kumimoji="0" sz="800" b="0" i="0" u="none" strike="noStrike" kern="0" cap="none" spc="-10" normalizeH="0" baseline="0" noProof="0">
                <a:ln>
                  <a:noFill/>
                </a:ln>
                <a:solidFill>
                  <a:srgbClr val="07302A"/>
                </a:solidFill>
                <a:effectLst/>
                <a:uLnTx/>
                <a:uFillTx/>
                <a:latin typeface="Boehringer Forward Text"/>
                <a:ea typeface="+mn-ea"/>
                <a:cs typeface="Boehringer Forward Text"/>
              </a:rPr>
              <a:t>CONFIDENTIAL</a:t>
            </a:r>
            <a:endParaRPr kumimoji="0" sz="8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grpSp>
        <p:nvGrpSpPr>
          <p:cNvPr id="4" name="object 4"/>
          <p:cNvGrpSpPr/>
          <p:nvPr/>
        </p:nvGrpSpPr>
        <p:grpSpPr>
          <a:xfrm>
            <a:off x="1754873" y="1468755"/>
            <a:ext cx="8861425" cy="1960245"/>
            <a:chOff x="1067570" y="678200"/>
            <a:chExt cx="8861425" cy="1960245"/>
          </a:xfrm>
        </p:grpSpPr>
        <p:sp>
          <p:nvSpPr>
            <p:cNvPr id="5" name="object 5"/>
            <p:cNvSpPr/>
            <p:nvPr/>
          </p:nvSpPr>
          <p:spPr>
            <a:xfrm>
              <a:off x="1652793" y="2236448"/>
              <a:ext cx="8256905" cy="8890"/>
            </a:xfrm>
            <a:custGeom>
              <a:avLst/>
              <a:gdLst/>
              <a:ahLst/>
              <a:cxnLst/>
              <a:rect l="l" t="t" r="r" b="b"/>
              <a:pathLst>
                <a:path w="8256905" h="8889">
                  <a:moveTo>
                    <a:pt x="0" y="0"/>
                  </a:moveTo>
                  <a:lnTo>
                    <a:pt x="8256625" y="8839"/>
                  </a:lnTo>
                </a:path>
              </a:pathLst>
            </a:custGeom>
            <a:ln w="38100">
              <a:solidFill>
                <a:srgbClr val="7E7E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 name="object 6"/>
            <p:cNvSpPr/>
            <p:nvPr/>
          </p:nvSpPr>
          <p:spPr>
            <a:xfrm>
              <a:off x="1652793" y="925527"/>
              <a:ext cx="0" cy="477520"/>
            </a:xfrm>
            <a:custGeom>
              <a:avLst/>
              <a:gdLst/>
              <a:ahLst/>
              <a:cxnLst/>
              <a:rect l="l" t="t" r="r" b="b"/>
              <a:pathLst>
                <a:path h="477519">
                  <a:moveTo>
                    <a:pt x="0" y="0"/>
                  </a:moveTo>
                  <a:lnTo>
                    <a:pt x="0" y="477520"/>
                  </a:lnTo>
                </a:path>
              </a:pathLst>
            </a:custGeom>
            <a:ln w="38100">
              <a:solidFill>
                <a:srgbClr val="006FC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 name="object 7"/>
            <p:cNvSpPr/>
            <p:nvPr/>
          </p:nvSpPr>
          <p:spPr>
            <a:xfrm>
              <a:off x="1652793" y="1758928"/>
              <a:ext cx="0" cy="477520"/>
            </a:xfrm>
            <a:custGeom>
              <a:avLst/>
              <a:gdLst/>
              <a:ahLst/>
              <a:cxnLst/>
              <a:rect l="l" t="t" r="r" b="b"/>
              <a:pathLst>
                <a:path h="477519">
                  <a:moveTo>
                    <a:pt x="0" y="0"/>
                  </a:moveTo>
                  <a:lnTo>
                    <a:pt x="0" y="477520"/>
                  </a:lnTo>
                </a:path>
              </a:pathLst>
            </a:custGeom>
            <a:ln w="38100">
              <a:solidFill>
                <a:srgbClr val="7E7E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 name="object 8"/>
            <p:cNvSpPr/>
            <p:nvPr/>
          </p:nvSpPr>
          <p:spPr>
            <a:xfrm>
              <a:off x="9909422" y="697250"/>
              <a:ext cx="0" cy="1922145"/>
            </a:xfrm>
            <a:custGeom>
              <a:avLst/>
              <a:gdLst/>
              <a:ahLst/>
              <a:cxnLst/>
              <a:rect l="l" t="t" r="r" b="b"/>
              <a:pathLst>
                <a:path h="1922145">
                  <a:moveTo>
                    <a:pt x="0" y="0"/>
                  </a:moveTo>
                  <a:lnTo>
                    <a:pt x="0" y="1922145"/>
                  </a:lnTo>
                </a:path>
              </a:pathLst>
            </a:custGeom>
            <a:ln w="38100">
              <a:solidFill>
                <a:srgbClr val="778592"/>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 name="object 9"/>
            <p:cNvSpPr/>
            <p:nvPr/>
          </p:nvSpPr>
          <p:spPr>
            <a:xfrm>
              <a:off x="1086620" y="1562528"/>
              <a:ext cx="271145" cy="0"/>
            </a:xfrm>
            <a:custGeom>
              <a:avLst/>
              <a:gdLst/>
              <a:ahLst/>
              <a:cxnLst/>
              <a:rect l="l" t="t" r="r" b="b"/>
              <a:pathLst>
                <a:path w="271144">
                  <a:moveTo>
                    <a:pt x="271081" y="0"/>
                  </a:moveTo>
                  <a:lnTo>
                    <a:pt x="0" y="0"/>
                  </a:lnTo>
                </a:path>
              </a:pathLst>
            </a:custGeom>
            <a:ln w="38100">
              <a:solidFill>
                <a:srgbClr val="778592"/>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0" name="object 10"/>
            <p:cNvSpPr/>
            <p:nvPr/>
          </p:nvSpPr>
          <p:spPr>
            <a:xfrm>
              <a:off x="1231520" y="1240185"/>
              <a:ext cx="781685" cy="635635"/>
            </a:xfrm>
            <a:custGeom>
              <a:avLst/>
              <a:gdLst/>
              <a:ahLst/>
              <a:cxnLst/>
              <a:rect l="l" t="t" r="r" b="b"/>
              <a:pathLst>
                <a:path w="781685" h="635635">
                  <a:moveTo>
                    <a:pt x="390766" y="0"/>
                  </a:moveTo>
                  <a:lnTo>
                    <a:pt x="337742" y="2899"/>
                  </a:lnTo>
                  <a:lnTo>
                    <a:pt x="286886" y="11347"/>
                  </a:lnTo>
                  <a:lnTo>
                    <a:pt x="238663" y="24964"/>
                  </a:lnTo>
                  <a:lnTo>
                    <a:pt x="193540" y="43371"/>
                  </a:lnTo>
                  <a:lnTo>
                    <a:pt x="151982" y="66191"/>
                  </a:lnTo>
                  <a:lnTo>
                    <a:pt x="114453" y="93044"/>
                  </a:lnTo>
                  <a:lnTo>
                    <a:pt x="81422" y="123553"/>
                  </a:lnTo>
                  <a:lnTo>
                    <a:pt x="53351" y="157338"/>
                  </a:lnTo>
                  <a:lnTo>
                    <a:pt x="30708" y="194022"/>
                  </a:lnTo>
                  <a:lnTo>
                    <a:pt x="13958" y="233225"/>
                  </a:lnTo>
                  <a:lnTo>
                    <a:pt x="3567" y="274570"/>
                  </a:lnTo>
                  <a:lnTo>
                    <a:pt x="0" y="317677"/>
                  </a:lnTo>
                  <a:lnTo>
                    <a:pt x="3567" y="360785"/>
                  </a:lnTo>
                  <a:lnTo>
                    <a:pt x="13958" y="402129"/>
                  </a:lnTo>
                  <a:lnTo>
                    <a:pt x="30708" y="441333"/>
                  </a:lnTo>
                  <a:lnTo>
                    <a:pt x="53351" y="478016"/>
                  </a:lnTo>
                  <a:lnTo>
                    <a:pt x="81422" y="511802"/>
                  </a:lnTo>
                  <a:lnTo>
                    <a:pt x="114453" y="542310"/>
                  </a:lnTo>
                  <a:lnTo>
                    <a:pt x="151982" y="569164"/>
                  </a:lnTo>
                  <a:lnTo>
                    <a:pt x="193540" y="591983"/>
                  </a:lnTo>
                  <a:lnTo>
                    <a:pt x="238663" y="610391"/>
                  </a:lnTo>
                  <a:lnTo>
                    <a:pt x="286886" y="624007"/>
                  </a:lnTo>
                  <a:lnTo>
                    <a:pt x="337742" y="632455"/>
                  </a:lnTo>
                  <a:lnTo>
                    <a:pt x="390766" y="635355"/>
                  </a:lnTo>
                  <a:lnTo>
                    <a:pt x="443790" y="632455"/>
                  </a:lnTo>
                  <a:lnTo>
                    <a:pt x="494645" y="624007"/>
                  </a:lnTo>
                  <a:lnTo>
                    <a:pt x="542866" y="610391"/>
                  </a:lnTo>
                  <a:lnTo>
                    <a:pt x="587988" y="591983"/>
                  </a:lnTo>
                  <a:lnTo>
                    <a:pt x="629545" y="569164"/>
                  </a:lnTo>
                  <a:lnTo>
                    <a:pt x="667072" y="542310"/>
                  </a:lnTo>
                  <a:lnTo>
                    <a:pt x="700102" y="511802"/>
                  </a:lnTo>
                  <a:lnTo>
                    <a:pt x="728171" y="478016"/>
                  </a:lnTo>
                  <a:lnTo>
                    <a:pt x="750813" y="441333"/>
                  </a:lnTo>
                  <a:lnTo>
                    <a:pt x="767562" y="402129"/>
                  </a:lnTo>
                  <a:lnTo>
                    <a:pt x="777952" y="360785"/>
                  </a:lnTo>
                  <a:lnTo>
                    <a:pt x="781519" y="317677"/>
                  </a:lnTo>
                  <a:lnTo>
                    <a:pt x="777952" y="274570"/>
                  </a:lnTo>
                  <a:lnTo>
                    <a:pt x="767562" y="233225"/>
                  </a:lnTo>
                  <a:lnTo>
                    <a:pt x="750813" y="194022"/>
                  </a:lnTo>
                  <a:lnTo>
                    <a:pt x="728171" y="157338"/>
                  </a:lnTo>
                  <a:lnTo>
                    <a:pt x="700102" y="123553"/>
                  </a:lnTo>
                  <a:lnTo>
                    <a:pt x="667072" y="93044"/>
                  </a:lnTo>
                  <a:lnTo>
                    <a:pt x="629545" y="66191"/>
                  </a:lnTo>
                  <a:lnTo>
                    <a:pt x="587988" y="43371"/>
                  </a:lnTo>
                  <a:lnTo>
                    <a:pt x="542866" y="24964"/>
                  </a:lnTo>
                  <a:lnTo>
                    <a:pt x="494645" y="11347"/>
                  </a:lnTo>
                  <a:lnTo>
                    <a:pt x="443790" y="2899"/>
                  </a:lnTo>
                  <a:lnTo>
                    <a:pt x="390766" y="0"/>
                  </a:lnTo>
                  <a:close/>
                </a:path>
              </a:pathLst>
            </a:custGeom>
            <a:solidFill>
              <a:srgbClr val="00E37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11" name="object 11"/>
          <p:cNvSpPr txBox="1"/>
          <p:nvPr/>
        </p:nvSpPr>
        <p:spPr>
          <a:xfrm>
            <a:off x="2141690" y="2056827"/>
            <a:ext cx="334010" cy="574040"/>
          </a:xfrm>
          <a:prstGeom prst="rect">
            <a:avLst/>
          </a:prstGeom>
        </p:spPr>
        <p:txBody>
          <a:bodyPr vert="horz" wrap="square" lIns="0" tIns="12700" rIns="0" bIns="0" rtlCol="0">
            <a:spAutoFit/>
          </a:bodyPr>
          <a:lstStyle/>
          <a:p>
            <a:pPr marL="12700" marR="5080" lvl="0" indent="8636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0" cap="none" spc="-50" normalizeH="0" baseline="0" noProof="0">
                <a:ln>
                  <a:noFill/>
                </a:ln>
                <a:solidFill>
                  <a:srgbClr val="FFFFFF"/>
                </a:solidFill>
                <a:effectLst/>
                <a:uLnTx/>
                <a:uFillTx/>
                <a:latin typeface="BISansBa"/>
                <a:ea typeface="+mn-ea"/>
                <a:cs typeface="BISansBa"/>
              </a:rPr>
              <a:t>R </a:t>
            </a:r>
            <a:r>
              <a:rPr kumimoji="0" sz="1800" b="0" i="0" u="none" strike="noStrike" kern="0" cap="none" spc="-25" normalizeH="0" baseline="0" noProof="0">
                <a:ln>
                  <a:noFill/>
                </a:ln>
                <a:solidFill>
                  <a:srgbClr val="FFFFFF"/>
                </a:solidFill>
                <a:effectLst/>
                <a:uLnTx/>
                <a:uFillTx/>
                <a:latin typeface="BISansBa"/>
                <a:ea typeface="+mn-ea"/>
                <a:cs typeface="BISansBa"/>
              </a:rPr>
              <a:t>1:1</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12" name="object 12"/>
          <p:cNvSpPr txBox="1"/>
          <p:nvPr/>
        </p:nvSpPr>
        <p:spPr>
          <a:xfrm>
            <a:off x="890067" y="2185995"/>
            <a:ext cx="896619" cy="26924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600" b="0" i="0" u="none" strike="noStrike" kern="0" cap="none" spc="-10" normalizeH="0" baseline="0" noProof="0">
                <a:ln>
                  <a:noFill/>
                </a:ln>
                <a:solidFill>
                  <a:sysClr val="windowText" lastClr="000000"/>
                </a:solidFill>
                <a:effectLst/>
                <a:uLnTx/>
                <a:uFillTx/>
                <a:latin typeface="BISansBa"/>
                <a:ea typeface="+mn-ea"/>
                <a:cs typeface="BISansBa"/>
              </a:rPr>
              <a:t>Screening</a:t>
            </a:r>
            <a:endParaRPr kumimoji="0" sz="1600" b="0" i="0" u="none" strike="noStrike" kern="0" cap="none" spc="0" normalizeH="0" baseline="0" noProof="0">
              <a:ln>
                <a:noFill/>
              </a:ln>
              <a:solidFill>
                <a:sysClr val="windowText" lastClr="000000"/>
              </a:solidFill>
              <a:effectLst/>
              <a:uLnTx/>
              <a:uFillTx/>
              <a:latin typeface="BISansBa"/>
              <a:ea typeface="+mn-ea"/>
              <a:cs typeface="BISansBa"/>
            </a:endParaRPr>
          </a:p>
        </p:txBody>
      </p:sp>
      <p:grpSp>
        <p:nvGrpSpPr>
          <p:cNvPr id="13" name="object 13"/>
          <p:cNvGrpSpPr/>
          <p:nvPr/>
        </p:nvGrpSpPr>
        <p:grpSpPr>
          <a:xfrm>
            <a:off x="1607896" y="3615746"/>
            <a:ext cx="9001760" cy="289560"/>
            <a:chOff x="920593" y="2825191"/>
            <a:chExt cx="9001760" cy="289560"/>
          </a:xfrm>
        </p:grpSpPr>
        <p:sp>
          <p:nvSpPr>
            <p:cNvPr id="14" name="object 14"/>
            <p:cNvSpPr/>
            <p:nvPr/>
          </p:nvSpPr>
          <p:spPr>
            <a:xfrm>
              <a:off x="2235813" y="2922968"/>
              <a:ext cx="7605395" cy="11430"/>
            </a:xfrm>
            <a:custGeom>
              <a:avLst/>
              <a:gdLst/>
              <a:ahLst/>
              <a:cxnLst/>
              <a:rect l="l" t="t" r="r" b="b"/>
              <a:pathLst>
                <a:path w="7605395" h="11430">
                  <a:moveTo>
                    <a:pt x="0" y="11302"/>
                  </a:moveTo>
                  <a:lnTo>
                    <a:pt x="7604810" y="0"/>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5" name="object 15"/>
            <p:cNvSpPr/>
            <p:nvPr/>
          </p:nvSpPr>
          <p:spPr>
            <a:xfrm>
              <a:off x="933293" y="2935932"/>
              <a:ext cx="1370330" cy="0"/>
            </a:xfrm>
            <a:custGeom>
              <a:avLst/>
              <a:gdLst/>
              <a:ahLst/>
              <a:cxnLst/>
              <a:rect l="l" t="t" r="r" b="b"/>
              <a:pathLst>
                <a:path w="1370330">
                  <a:moveTo>
                    <a:pt x="0" y="0"/>
                  </a:moveTo>
                  <a:lnTo>
                    <a:pt x="1369898" y="0"/>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6" name="object 16"/>
            <p:cNvSpPr/>
            <p:nvPr/>
          </p:nvSpPr>
          <p:spPr>
            <a:xfrm>
              <a:off x="1608974" y="2837891"/>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object 17"/>
            <p:cNvSpPr/>
            <p:nvPr/>
          </p:nvSpPr>
          <p:spPr>
            <a:xfrm>
              <a:off x="2686586" y="2863767"/>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8" name="object 18"/>
            <p:cNvSpPr/>
            <p:nvPr/>
          </p:nvSpPr>
          <p:spPr>
            <a:xfrm>
              <a:off x="3750214" y="2844902"/>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9" name="object 19"/>
            <p:cNvSpPr/>
            <p:nvPr/>
          </p:nvSpPr>
          <p:spPr>
            <a:xfrm>
              <a:off x="9909422" y="2850182"/>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20" name="object 20"/>
          <p:cNvSpPr txBox="1"/>
          <p:nvPr/>
        </p:nvSpPr>
        <p:spPr>
          <a:xfrm>
            <a:off x="912655" y="3420123"/>
            <a:ext cx="31178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10" normalizeH="0" baseline="0" noProof="0">
                <a:ln>
                  <a:noFill/>
                </a:ln>
                <a:solidFill>
                  <a:sysClr val="windowText" lastClr="000000"/>
                </a:solidFill>
                <a:effectLst/>
                <a:uLnTx/>
                <a:uFillTx/>
                <a:latin typeface="BISansBa"/>
                <a:ea typeface="+mn-ea"/>
                <a:cs typeface="BISansBa"/>
              </a:rPr>
              <a:t>Visit</a:t>
            </a:r>
            <a:endParaRPr kumimoji="0" sz="12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21" name="object 21"/>
          <p:cNvSpPr txBox="1"/>
          <p:nvPr/>
        </p:nvSpPr>
        <p:spPr>
          <a:xfrm>
            <a:off x="3296401" y="3364668"/>
            <a:ext cx="15049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0" cap="none" spc="-50" normalizeH="0" baseline="0" noProof="0">
                <a:ln>
                  <a:noFill/>
                </a:ln>
                <a:solidFill>
                  <a:sysClr val="windowText" lastClr="000000"/>
                </a:solidFill>
                <a:effectLst/>
                <a:uLnTx/>
                <a:uFillTx/>
                <a:latin typeface="BISansBa"/>
                <a:ea typeface="+mn-ea"/>
                <a:cs typeface="BISansBa"/>
              </a:rPr>
              <a:t>4</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22" name="object 22"/>
          <p:cNvSpPr txBox="1"/>
          <p:nvPr/>
        </p:nvSpPr>
        <p:spPr>
          <a:xfrm>
            <a:off x="5458728" y="3360096"/>
            <a:ext cx="15049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0" cap="none" spc="-50" normalizeH="0" baseline="0" noProof="0">
                <a:ln>
                  <a:noFill/>
                </a:ln>
                <a:solidFill>
                  <a:sysClr val="windowText" lastClr="000000"/>
                </a:solidFill>
                <a:effectLst/>
                <a:uLnTx/>
                <a:uFillTx/>
                <a:latin typeface="BISansBa"/>
                <a:ea typeface="+mn-ea"/>
                <a:cs typeface="BISansBa"/>
              </a:rPr>
              <a:t>8</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23" name="object 23"/>
          <p:cNvSpPr txBox="1"/>
          <p:nvPr/>
        </p:nvSpPr>
        <p:spPr>
          <a:xfrm>
            <a:off x="896874" y="4107952"/>
            <a:ext cx="568960" cy="556260"/>
          </a:xfrm>
          <a:prstGeom prst="rect">
            <a:avLst/>
          </a:prstGeom>
        </p:spPr>
        <p:txBody>
          <a:bodyPr vert="horz" wrap="square" lIns="0" tIns="12700" rIns="0" bIns="0" rtlCol="0">
            <a:spAutoFit/>
          </a:bodyPr>
          <a:lstStyle/>
          <a:p>
            <a:pPr marL="12700" marR="5080" lvl="0" indent="16510" algn="l" defTabSz="914400" rtl="0" eaLnBrk="1" fontAlgn="auto" latinLnBrk="0" hangingPunct="1">
              <a:lnSpc>
                <a:spcPct val="145100"/>
              </a:lnSpc>
              <a:spcBef>
                <a:spcPts val="100"/>
              </a:spcBef>
              <a:spcAft>
                <a:spcPts val="0"/>
              </a:spcAft>
              <a:buClrTx/>
              <a:buSzTx/>
              <a:buFontTx/>
              <a:buNone/>
              <a:tabLst/>
              <a:defRPr/>
            </a:pPr>
            <a:r>
              <a:rPr kumimoji="0" sz="1200" b="0" i="0" u="none" strike="noStrike" kern="0" cap="none" spc="-20" normalizeH="0" baseline="0" noProof="0">
                <a:ln>
                  <a:noFill/>
                </a:ln>
                <a:solidFill>
                  <a:sysClr val="windowText" lastClr="000000"/>
                </a:solidFill>
                <a:effectLst/>
                <a:uLnTx/>
                <a:uFillTx/>
                <a:latin typeface="BISansBa"/>
                <a:ea typeface="+mn-ea"/>
                <a:cs typeface="BISansBa"/>
              </a:rPr>
              <a:t>Week </a:t>
            </a:r>
            <a:r>
              <a:rPr kumimoji="0" sz="1200" b="0" i="0" u="none" strike="noStrike" kern="0" cap="none" spc="-10" normalizeH="0" baseline="0" noProof="0">
                <a:ln>
                  <a:noFill/>
                </a:ln>
                <a:solidFill>
                  <a:sysClr val="windowText" lastClr="000000"/>
                </a:solidFill>
                <a:effectLst/>
                <a:uLnTx/>
                <a:uFillTx/>
                <a:latin typeface="BISansBa"/>
                <a:ea typeface="+mn-ea"/>
                <a:cs typeface="BISansBa"/>
              </a:rPr>
              <a:t>Window</a:t>
            </a:r>
            <a:endParaRPr kumimoji="0" sz="1200" b="0" i="0" u="none" strike="noStrike" kern="0" cap="none" spc="0" normalizeH="0" baseline="0" noProof="0">
              <a:ln>
                <a:noFill/>
              </a:ln>
              <a:solidFill>
                <a:sysClr val="windowText" lastClr="000000"/>
              </a:solidFill>
              <a:effectLst/>
              <a:uLnTx/>
              <a:uFillTx/>
              <a:latin typeface="BISansBa"/>
              <a:ea typeface="+mn-ea"/>
              <a:cs typeface="BISansBa"/>
            </a:endParaRPr>
          </a:p>
        </p:txBody>
      </p:sp>
      <p:grpSp>
        <p:nvGrpSpPr>
          <p:cNvPr id="24" name="object 24"/>
          <p:cNvGrpSpPr/>
          <p:nvPr/>
        </p:nvGrpSpPr>
        <p:grpSpPr>
          <a:xfrm>
            <a:off x="2801371" y="3630957"/>
            <a:ext cx="8320405" cy="264160"/>
            <a:chOff x="2114068" y="2840402"/>
            <a:chExt cx="8320405" cy="264160"/>
          </a:xfrm>
        </p:grpSpPr>
        <p:sp>
          <p:nvSpPr>
            <p:cNvPr id="25" name="object 25"/>
            <p:cNvSpPr/>
            <p:nvPr/>
          </p:nvSpPr>
          <p:spPr>
            <a:xfrm>
              <a:off x="9931988" y="2922564"/>
              <a:ext cx="489584" cy="2540"/>
            </a:xfrm>
            <a:custGeom>
              <a:avLst/>
              <a:gdLst/>
              <a:ahLst/>
              <a:cxnLst/>
              <a:rect l="l" t="t" r="r" b="b"/>
              <a:pathLst>
                <a:path w="489584" h="2539">
                  <a:moveTo>
                    <a:pt x="0" y="0"/>
                  </a:moveTo>
                  <a:lnTo>
                    <a:pt x="489254" y="2070"/>
                  </a:lnTo>
                </a:path>
              </a:pathLst>
            </a:custGeom>
            <a:ln w="25399">
              <a:solidFill>
                <a:srgbClr val="000000"/>
              </a:solidFill>
              <a:prstDash val="sys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6" name="object 26"/>
            <p:cNvSpPr/>
            <p:nvPr/>
          </p:nvSpPr>
          <p:spPr>
            <a:xfrm>
              <a:off x="2126768" y="2853102"/>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27" name="object 27"/>
          <p:cNvSpPr txBox="1"/>
          <p:nvPr/>
        </p:nvSpPr>
        <p:spPr>
          <a:xfrm>
            <a:off x="2743987" y="3368040"/>
            <a:ext cx="15049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0" cap="none" spc="-50" normalizeH="0" baseline="0" noProof="0">
                <a:ln>
                  <a:noFill/>
                </a:ln>
                <a:solidFill>
                  <a:sysClr val="windowText" lastClr="000000"/>
                </a:solidFill>
                <a:effectLst/>
                <a:uLnTx/>
                <a:uFillTx/>
                <a:latin typeface="BISansBa"/>
                <a:ea typeface="+mn-ea"/>
                <a:cs typeface="BISansBa"/>
              </a:rPr>
              <a:t>3</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28" name="object 28"/>
          <p:cNvSpPr/>
          <p:nvPr/>
        </p:nvSpPr>
        <p:spPr>
          <a:xfrm>
            <a:off x="2340096" y="1724920"/>
            <a:ext cx="8279765" cy="0"/>
          </a:xfrm>
          <a:custGeom>
            <a:avLst/>
            <a:gdLst/>
            <a:ahLst/>
            <a:cxnLst/>
            <a:rect l="l" t="t" r="r" b="b"/>
            <a:pathLst>
              <a:path w="8279765">
                <a:moveTo>
                  <a:pt x="0" y="0"/>
                </a:moveTo>
                <a:lnTo>
                  <a:pt x="8279193" y="0"/>
                </a:lnTo>
              </a:path>
            </a:pathLst>
          </a:custGeom>
          <a:ln w="38100">
            <a:solidFill>
              <a:srgbClr val="006FC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9" name="object 29"/>
          <p:cNvSpPr txBox="1"/>
          <p:nvPr/>
        </p:nvSpPr>
        <p:spPr>
          <a:xfrm>
            <a:off x="5646315" y="1387749"/>
            <a:ext cx="2524125" cy="277640"/>
          </a:xfrm>
          <a:prstGeom prst="rect">
            <a:avLst/>
          </a:prstGeom>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sz="1700" b="1" i="0" u="none" strike="noStrike" kern="0" cap="none" spc="0" normalizeH="0" baseline="0" noProof="0">
                <a:ln>
                  <a:noFill/>
                </a:ln>
                <a:solidFill>
                  <a:sysClr val="windowText" lastClr="000000"/>
                </a:solidFill>
                <a:effectLst/>
                <a:uLnTx/>
                <a:uFillTx/>
                <a:latin typeface="BISansOpti"/>
                <a:ea typeface="+mn-ea"/>
                <a:cs typeface="BISansOpti"/>
              </a:rPr>
              <a:t>Nerandomilast</a:t>
            </a:r>
            <a:r>
              <a:rPr kumimoji="0" sz="1700" b="1" i="0" u="none" strike="noStrike" kern="0" cap="none" spc="15" normalizeH="0" baseline="0" noProof="0">
                <a:ln>
                  <a:noFill/>
                </a:ln>
                <a:solidFill>
                  <a:sysClr val="windowText" lastClr="000000"/>
                </a:solidFill>
                <a:effectLst/>
                <a:uLnTx/>
                <a:uFillTx/>
                <a:latin typeface="BISansOpti"/>
                <a:ea typeface="+mn-ea"/>
                <a:cs typeface="BISansOpti"/>
              </a:rPr>
              <a:t> </a:t>
            </a:r>
            <a:r>
              <a:rPr kumimoji="0" sz="1700" b="1" i="0" u="none" strike="noStrike" kern="0" cap="none" spc="0" normalizeH="0" baseline="0" noProof="0">
                <a:ln>
                  <a:noFill/>
                </a:ln>
                <a:solidFill>
                  <a:sysClr val="windowText" lastClr="000000"/>
                </a:solidFill>
                <a:effectLst/>
                <a:uLnTx/>
                <a:uFillTx/>
                <a:latin typeface="BISansOpti"/>
                <a:ea typeface="+mn-ea"/>
                <a:cs typeface="BISansOpti"/>
              </a:rPr>
              <a:t>18</a:t>
            </a:r>
            <a:r>
              <a:rPr kumimoji="0" sz="1700" b="1" i="0" u="none" strike="noStrike" kern="0" cap="none" spc="35" normalizeH="0" baseline="0" noProof="0">
                <a:ln>
                  <a:noFill/>
                </a:ln>
                <a:solidFill>
                  <a:sysClr val="windowText" lastClr="000000"/>
                </a:solidFill>
                <a:effectLst/>
                <a:uLnTx/>
                <a:uFillTx/>
                <a:latin typeface="BISansOpti"/>
                <a:ea typeface="+mn-ea"/>
                <a:cs typeface="BISansOpti"/>
              </a:rPr>
              <a:t> </a:t>
            </a:r>
            <a:r>
              <a:rPr kumimoji="0" sz="1700" b="1" i="0" u="none" strike="noStrike" kern="0" cap="none" spc="0" normalizeH="0" baseline="0" noProof="0">
                <a:ln>
                  <a:noFill/>
                </a:ln>
                <a:solidFill>
                  <a:sysClr val="windowText" lastClr="000000"/>
                </a:solidFill>
                <a:effectLst/>
                <a:uLnTx/>
                <a:uFillTx/>
                <a:latin typeface="BISansOpti"/>
                <a:ea typeface="+mn-ea"/>
                <a:cs typeface="BISansOpti"/>
              </a:rPr>
              <a:t>mg</a:t>
            </a:r>
            <a:r>
              <a:rPr kumimoji="0" sz="1700" b="1" i="0" u="none" strike="noStrike" kern="0" cap="none" spc="30" normalizeH="0" baseline="0" noProof="0">
                <a:ln>
                  <a:noFill/>
                </a:ln>
                <a:solidFill>
                  <a:sysClr val="windowText" lastClr="000000"/>
                </a:solidFill>
                <a:effectLst/>
                <a:uLnTx/>
                <a:uFillTx/>
                <a:latin typeface="BISansOpti"/>
                <a:ea typeface="+mn-ea"/>
                <a:cs typeface="BISansOpti"/>
              </a:rPr>
              <a:t> </a:t>
            </a:r>
            <a:r>
              <a:rPr kumimoji="0" sz="1700" b="1" i="0" u="none" strike="noStrike" kern="0" cap="none" spc="-20" normalizeH="0" baseline="0" noProof="0">
                <a:ln>
                  <a:noFill/>
                </a:ln>
                <a:solidFill>
                  <a:sysClr val="windowText" lastClr="000000"/>
                </a:solidFill>
                <a:effectLst/>
                <a:uLnTx/>
                <a:uFillTx/>
                <a:latin typeface="BISansOpti"/>
                <a:ea typeface="+mn-ea"/>
                <a:cs typeface="BISansOpti"/>
              </a:rPr>
              <a:t>bid</a:t>
            </a:r>
            <a:r>
              <a:rPr kumimoji="0" sz="1700" b="1" i="0" u="none" strike="noStrike" kern="0" cap="none" spc="-20" normalizeH="0" baseline="0" noProof="0">
                <a:ln>
                  <a:noFill/>
                </a:ln>
                <a:effectLst/>
                <a:uLnTx/>
                <a:uFillTx/>
                <a:latin typeface="BISansOpti"/>
                <a:ea typeface="+mn-ea"/>
                <a:cs typeface="BISansOpti"/>
              </a:rPr>
              <a:t>*</a:t>
            </a:r>
            <a:endParaRPr kumimoji="0" sz="1700" b="0" i="0" u="none" strike="noStrike" kern="0" cap="none" spc="0" normalizeH="0" baseline="0" noProof="0">
              <a:ln>
                <a:noFill/>
              </a:ln>
              <a:effectLst/>
              <a:uLnTx/>
              <a:uFillTx/>
              <a:latin typeface="BISansOpti"/>
              <a:ea typeface="+mn-ea"/>
              <a:cs typeface="BISansOpti"/>
            </a:endParaRPr>
          </a:p>
        </p:txBody>
      </p:sp>
      <p:sp>
        <p:nvSpPr>
          <p:cNvPr id="30" name="object 30"/>
          <p:cNvSpPr txBox="1"/>
          <p:nvPr/>
        </p:nvSpPr>
        <p:spPr>
          <a:xfrm>
            <a:off x="6559471" y="2690440"/>
            <a:ext cx="788670" cy="288925"/>
          </a:xfrm>
          <a:prstGeom prst="rect">
            <a:avLst/>
          </a:prstGeom>
        </p:spPr>
        <p:txBody>
          <a:bodyPr vert="horz" wrap="square" lIns="0" tIns="15875" rIns="0" bIns="0" rtlCol="0">
            <a:spAutoFit/>
          </a:bodyPr>
          <a:lstStyle/>
          <a:p>
            <a:pPr marL="12700" marR="0" lvl="0" indent="0" algn="l" defTabSz="914400" rtl="0" eaLnBrk="1" fontAlgn="auto" latinLnBrk="0" hangingPunct="1">
              <a:lnSpc>
                <a:spcPct val="100000"/>
              </a:lnSpc>
              <a:spcBef>
                <a:spcPts val="125"/>
              </a:spcBef>
              <a:spcAft>
                <a:spcPts val="0"/>
              </a:spcAft>
              <a:buClrTx/>
              <a:buSzTx/>
              <a:buFontTx/>
              <a:buNone/>
              <a:tabLst/>
              <a:defRPr/>
            </a:pPr>
            <a:r>
              <a:rPr kumimoji="0" sz="1700" b="1" i="0" u="none" strike="noStrike" kern="0" cap="none" spc="-10" normalizeH="0" baseline="0" noProof="0">
                <a:ln>
                  <a:noFill/>
                </a:ln>
                <a:solidFill>
                  <a:sysClr val="windowText" lastClr="000000"/>
                </a:solidFill>
                <a:effectLst/>
                <a:uLnTx/>
                <a:uFillTx/>
                <a:latin typeface="BISansOpti"/>
                <a:ea typeface="+mn-ea"/>
                <a:cs typeface="BISansOpti"/>
              </a:rPr>
              <a:t>Placebo</a:t>
            </a:r>
            <a:endParaRPr kumimoji="0" sz="1700" b="0" i="0" u="none" strike="noStrike" kern="0" cap="none" spc="0" normalizeH="0" baseline="0" noProof="0">
              <a:ln>
                <a:noFill/>
              </a:ln>
              <a:solidFill>
                <a:sysClr val="windowText" lastClr="000000"/>
              </a:solidFill>
              <a:effectLst/>
              <a:uLnTx/>
              <a:uFillTx/>
              <a:latin typeface="BISansOpti"/>
              <a:ea typeface="+mn-ea"/>
              <a:cs typeface="BISansOpti"/>
            </a:endParaRPr>
          </a:p>
        </p:txBody>
      </p:sp>
      <p:sp>
        <p:nvSpPr>
          <p:cNvPr id="31" name="object 31"/>
          <p:cNvSpPr/>
          <p:nvPr/>
        </p:nvSpPr>
        <p:spPr>
          <a:xfrm>
            <a:off x="11108549" y="3640296"/>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nvGrpSpPr>
          <p:cNvPr id="32" name="object 32"/>
          <p:cNvGrpSpPr/>
          <p:nvPr/>
        </p:nvGrpSpPr>
        <p:grpSpPr>
          <a:xfrm>
            <a:off x="919282" y="1567530"/>
            <a:ext cx="10189845" cy="1481455"/>
            <a:chOff x="231979" y="776975"/>
            <a:chExt cx="10189845" cy="1481455"/>
          </a:xfrm>
        </p:grpSpPr>
        <p:sp>
          <p:nvSpPr>
            <p:cNvPr id="33" name="object 33"/>
            <p:cNvSpPr/>
            <p:nvPr/>
          </p:nvSpPr>
          <p:spPr>
            <a:xfrm>
              <a:off x="9931988" y="2245287"/>
              <a:ext cx="489584" cy="0"/>
            </a:xfrm>
            <a:custGeom>
              <a:avLst/>
              <a:gdLst/>
              <a:ahLst/>
              <a:cxnLst/>
              <a:rect l="l" t="t" r="r" b="b"/>
              <a:pathLst>
                <a:path w="489584">
                  <a:moveTo>
                    <a:pt x="0" y="0"/>
                  </a:moveTo>
                  <a:lnTo>
                    <a:pt x="489254" y="0"/>
                  </a:lnTo>
                </a:path>
              </a:pathLst>
            </a:custGeom>
            <a:ln w="25400">
              <a:solidFill>
                <a:srgbClr val="000000"/>
              </a:solidFill>
              <a:prstDash val="sys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4" name="object 34"/>
            <p:cNvSpPr/>
            <p:nvPr/>
          </p:nvSpPr>
          <p:spPr>
            <a:xfrm>
              <a:off x="9920711" y="926231"/>
              <a:ext cx="434340" cy="0"/>
            </a:xfrm>
            <a:custGeom>
              <a:avLst/>
              <a:gdLst/>
              <a:ahLst/>
              <a:cxnLst/>
              <a:rect l="l" t="t" r="r" b="b"/>
              <a:pathLst>
                <a:path w="434340">
                  <a:moveTo>
                    <a:pt x="0" y="0"/>
                  </a:moveTo>
                  <a:lnTo>
                    <a:pt x="434263" y="0"/>
                  </a:lnTo>
                </a:path>
              </a:pathLst>
            </a:custGeom>
            <a:ln w="25400">
              <a:solidFill>
                <a:srgbClr val="000000"/>
              </a:solidFill>
              <a:prstDash val="sysDot"/>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5" name="object 35"/>
            <p:cNvSpPr/>
            <p:nvPr/>
          </p:nvSpPr>
          <p:spPr>
            <a:xfrm>
              <a:off x="238329" y="783325"/>
              <a:ext cx="1037590" cy="378460"/>
            </a:xfrm>
            <a:custGeom>
              <a:avLst/>
              <a:gdLst/>
              <a:ahLst/>
              <a:cxnLst/>
              <a:rect l="l" t="t" r="r" b="b"/>
              <a:pathLst>
                <a:path w="1037590" h="378459">
                  <a:moveTo>
                    <a:pt x="974026" y="0"/>
                  </a:moveTo>
                  <a:lnTo>
                    <a:pt x="63030" y="0"/>
                  </a:lnTo>
                  <a:lnTo>
                    <a:pt x="38495" y="4953"/>
                  </a:lnTo>
                  <a:lnTo>
                    <a:pt x="18461" y="18461"/>
                  </a:lnTo>
                  <a:lnTo>
                    <a:pt x="4953" y="38495"/>
                  </a:lnTo>
                  <a:lnTo>
                    <a:pt x="0" y="63030"/>
                  </a:lnTo>
                  <a:lnTo>
                    <a:pt x="0" y="315150"/>
                  </a:lnTo>
                  <a:lnTo>
                    <a:pt x="4953" y="339684"/>
                  </a:lnTo>
                  <a:lnTo>
                    <a:pt x="18461" y="359719"/>
                  </a:lnTo>
                  <a:lnTo>
                    <a:pt x="38495" y="373227"/>
                  </a:lnTo>
                  <a:lnTo>
                    <a:pt x="63030" y="378180"/>
                  </a:lnTo>
                  <a:lnTo>
                    <a:pt x="974026" y="378180"/>
                  </a:lnTo>
                  <a:lnTo>
                    <a:pt x="998568" y="373227"/>
                  </a:lnTo>
                  <a:lnTo>
                    <a:pt x="1018606" y="359719"/>
                  </a:lnTo>
                  <a:lnTo>
                    <a:pt x="1032115" y="339684"/>
                  </a:lnTo>
                  <a:lnTo>
                    <a:pt x="1037069" y="315150"/>
                  </a:lnTo>
                  <a:lnTo>
                    <a:pt x="1037069" y="63030"/>
                  </a:lnTo>
                  <a:lnTo>
                    <a:pt x="1032115" y="38495"/>
                  </a:lnTo>
                  <a:lnTo>
                    <a:pt x="1018606" y="18461"/>
                  </a:lnTo>
                  <a:lnTo>
                    <a:pt x="998568" y="4953"/>
                  </a:lnTo>
                  <a:lnTo>
                    <a:pt x="974026" y="0"/>
                  </a:lnTo>
                  <a:close/>
                </a:path>
              </a:pathLst>
            </a:custGeom>
            <a:solidFill>
              <a:srgbClr val="FAD0C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6" name="object 36"/>
            <p:cNvSpPr/>
            <p:nvPr/>
          </p:nvSpPr>
          <p:spPr>
            <a:xfrm>
              <a:off x="238329" y="783325"/>
              <a:ext cx="1037590" cy="378460"/>
            </a:xfrm>
            <a:custGeom>
              <a:avLst/>
              <a:gdLst/>
              <a:ahLst/>
              <a:cxnLst/>
              <a:rect l="l" t="t" r="r" b="b"/>
              <a:pathLst>
                <a:path w="1037590" h="378459">
                  <a:moveTo>
                    <a:pt x="0" y="63030"/>
                  </a:moveTo>
                  <a:lnTo>
                    <a:pt x="4953" y="38495"/>
                  </a:lnTo>
                  <a:lnTo>
                    <a:pt x="18461" y="18461"/>
                  </a:lnTo>
                  <a:lnTo>
                    <a:pt x="38495" y="4953"/>
                  </a:lnTo>
                  <a:lnTo>
                    <a:pt x="63030" y="0"/>
                  </a:lnTo>
                  <a:lnTo>
                    <a:pt x="974026" y="0"/>
                  </a:lnTo>
                  <a:lnTo>
                    <a:pt x="998568" y="4953"/>
                  </a:lnTo>
                  <a:lnTo>
                    <a:pt x="1018606" y="18461"/>
                  </a:lnTo>
                  <a:lnTo>
                    <a:pt x="1032115" y="38495"/>
                  </a:lnTo>
                  <a:lnTo>
                    <a:pt x="1037069" y="63030"/>
                  </a:lnTo>
                  <a:lnTo>
                    <a:pt x="1037069" y="315150"/>
                  </a:lnTo>
                  <a:lnTo>
                    <a:pt x="1032115" y="339684"/>
                  </a:lnTo>
                  <a:lnTo>
                    <a:pt x="1018606" y="359719"/>
                  </a:lnTo>
                  <a:lnTo>
                    <a:pt x="998568" y="373227"/>
                  </a:lnTo>
                  <a:lnTo>
                    <a:pt x="974026" y="378180"/>
                  </a:lnTo>
                  <a:lnTo>
                    <a:pt x="63030" y="378180"/>
                  </a:lnTo>
                  <a:lnTo>
                    <a:pt x="38495" y="373227"/>
                  </a:lnTo>
                  <a:lnTo>
                    <a:pt x="18461" y="359719"/>
                  </a:lnTo>
                  <a:lnTo>
                    <a:pt x="4953" y="339684"/>
                  </a:lnTo>
                  <a:lnTo>
                    <a:pt x="0" y="315150"/>
                  </a:lnTo>
                  <a:lnTo>
                    <a:pt x="0" y="63030"/>
                  </a:lnTo>
                  <a:close/>
                </a:path>
              </a:pathLst>
            </a:custGeom>
            <a:ln w="12700">
              <a:solidFill>
                <a:srgbClr val="00336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aphicFrame>
        <p:nvGraphicFramePr>
          <p:cNvPr id="37" name="object 37"/>
          <p:cNvGraphicFramePr>
            <a:graphicFrameLocks noGrp="1"/>
          </p:cNvGraphicFramePr>
          <p:nvPr>
            <p:extLst>
              <p:ext uri="{D42A27DB-BD31-4B8C-83A1-F6EECF244321}">
                <p14:modId xmlns:p14="http://schemas.microsoft.com/office/powerpoint/2010/main" val="1734840025"/>
              </p:ext>
            </p:extLst>
          </p:nvPr>
        </p:nvGraphicFramePr>
        <p:xfrm>
          <a:off x="1400725" y="4770214"/>
          <a:ext cx="10138408" cy="264795"/>
        </p:xfrm>
        <a:graphic>
          <a:graphicData uri="http://schemas.openxmlformats.org/drawingml/2006/table">
            <a:tbl>
              <a:tblPr firstRow="1" bandRow="1">
                <a:tableStyleId>{2D5ABB26-0587-4C30-8999-92F81FD0307C}</a:tableStyleId>
              </a:tblPr>
              <a:tblGrid>
                <a:gridCol w="892810">
                  <a:extLst>
                    <a:ext uri="{9D8B030D-6E8A-4147-A177-3AD203B41FA5}">
                      <a16:colId xmlns:a16="http://schemas.microsoft.com/office/drawing/2014/main" val="20000"/>
                    </a:ext>
                  </a:extLst>
                </a:gridCol>
                <a:gridCol w="4834255">
                  <a:extLst>
                    <a:ext uri="{9D8B030D-6E8A-4147-A177-3AD203B41FA5}">
                      <a16:colId xmlns:a16="http://schemas.microsoft.com/office/drawing/2014/main" val="20001"/>
                    </a:ext>
                  </a:extLst>
                </a:gridCol>
                <a:gridCol w="3446144">
                  <a:extLst>
                    <a:ext uri="{9D8B030D-6E8A-4147-A177-3AD203B41FA5}">
                      <a16:colId xmlns:a16="http://schemas.microsoft.com/office/drawing/2014/main" val="20002"/>
                    </a:ext>
                  </a:extLst>
                </a:gridCol>
                <a:gridCol w="489584">
                  <a:extLst>
                    <a:ext uri="{9D8B030D-6E8A-4147-A177-3AD203B41FA5}">
                      <a16:colId xmlns:a16="http://schemas.microsoft.com/office/drawing/2014/main" val="20003"/>
                    </a:ext>
                  </a:extLst>
                </a:gridCol>
                <a:gridCol w="475615">
                  <a:extLst>
                    <a:ext uri="{9D8B030D-6E8A-4147-A177-3AD203B41FA5}">
                      <a16:colId xmlns:a16="http://schemas.microsoft.com/office/drawing/2014/main" val="20004"/>
                    </a:ext>
                  </a:extLst>
                </a:gridCol>
              </a:tblGrid>
              <a:tr h="264795">
                <a:tc>
                  <a:txBody>
                    <a:bodyPr/>
                    <a:lstStyle/>
                    <a:p>
                      <a:pPr marL="111760">
                        <a:lnSpc>
                          <a:spcPct val="100000"/>
                        </a:lnSpc>
                        <a:spcBef>
                          <a:spcPts val="275"/>
                        </a:spcBef>
                      </a:pPr>
                      <a:r>
                        <a:rPr sz="1100" spc="-10">
                          <a:latin typeface="Boehringer Forward Text"/>
                          <a:cs typeface="Boehringer Forward Text"/>
                        </a:rPr>
                        <a:t>Screening</a:t>
                      </a:r>
                      <a:endParaRPr sz="1100">
                        <a:latin typeface="Boehringer Forward Text"/>
                        <a:cs typeface="Boehringer Forward Text"/>
                      </a:endParaRPr>
                    </a:p>
                  </a:txBody>
                  <a:tcPr marL="0" marR="0" marT="3492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FFF5C2"/>
                    </a:solidFill>
                  </a:tcPr>
                </a:tc>
                <a:tc>
                  <a:txBody>
                    <a:bodyPr/>
                    <a:lstStyle/>
                    <a:p>
                      <a:pPr marL="3175" algn="ctr">
                        <a:lnSpc>
                          <a:spcPct val="100000"/>
                        </a:lnSpc>
                        <a:spcBef>
                          <a:spcPts val="480"/>
                        </a:spcBef>
                      </a:pPr>
                      <a:r>
                        <a:rPr sz="1100">
                          <a:latin typeface="Boehringer Forward Text"/>
                          <a:cs typeface="Boehringer Forward Text"/>
                        </a:rPr>
                        <a:t>Treatment</a:t>
                      </a:r>
                      <a:r>
                        <a:rPr sz="1100" spc="-50">
                          <a:latin typeface="Boehringer Forward Text"/>
                          <a:cs typeface="Boehringer Forward Text"/>
                        </a:rPr>
                        <a:t> </a:t>
                      </a:r>
                      <a:r>
                        <a:rPr sz="1100">
                          <a:latin typeface="Boehringer Forward Text"/>
                          <a:cs typeface="Boehringer Forward Text"/>
                        </a:rPr>
                        <a:t>Period</a:t>
                      </a:r>
                      <a:r>
                        <a:rPr sz="1100" spc="-40">
                          <a:latin typeface="Boehringer Forward Text"/>
                          <a:cs typeface="Boehringer Forward Text"/>
                        </a:rPr>
                        <a:t> </a:t>
                      </a:r>
                      <a:r>
                        <a:rPr sz="1100" b="1" spc="-50">
                          <a:latin typeface="Boehringer Forward Text"/>
                          <a:cs typeface="Boehringer Forward Text"/>
                        </a:rPr>
                        <a:t>A</a:t>
                      </a:r>
                      <a:endParaRPr sz="1100">
                        <a:latin typeface="Boehringer Forward Text"/>
                        <a:cs typeface="Boehringer Forward Text"/>
                      </a:endParaRPr>
                    </a:p>
                  </a:txBody>
                  <a:tcPr marL="0" marR="0" marT="6096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7EEF5"/>
                    </a:solidFill>
                  </a:tcPr>
                </a:tc>
                <a:tc>
                  <a:txBody>
                    <a:bodyPr/>
                    <a:lstStyle/>
                    <a:p>
                      <a:pPr marL="1025525">
                        <a:lnSpc>
                          <a:spcPct val="100000"/>
                        </a:lnSpc>
                        <a:spcBef>
                          <a:spcPts val="495"/>
                        </a:spcBef>
                      </a:pPr>
                      <a:r>
                        <a:rPr sz="1100">
                          <a:latin typeface="Boehringer Forward Text"/>
                          <a:cs typeface="Boehringer Forward Text"/>
                        </a:rPr>
                        <a:t>Treatment</a:t>
                      </a:r>
                      <a:r>
                        <a:rPr sz="1100" spc="-50">
                          <a:latin typeface="Boehringer Forward Text"/>
                          <a:cs typeface="Boehringer Forward Text"/>
                        </a:rPr>
                        <a:t> </a:t>
                      </a:r>
                      <a:r>
                        <a:rPr sz="1100">
                          <a:latin typeface="Boehringer Forward Text"/>
                          <a:cs typeface="Boehringer Forward Text"/>
                        </a:rPr>
                        <a:t>Period</a:t>
                      </a:r>
                      <a:r>
                        <a:rPr sz="1100" spc="-40">
                          <a:latin typeface="Boehringer Forward Text"/>
                          <a:cs typeface="Boehringer Forward Text"/>
                        </a:rPr>
                        <a:t> </a:t>
                      </a:r>
                      <a:r>
                        <a:rPr sz="1100" b="1" spc="-25">
                          <a:latin typeface="Boehringer Forward Text"/>
                          <a:cs typeface="Boehringer Forward Text"/>
                        </a:rPr>
                        <a:t>B**</a:t>
                      </a:r>
                      <a:endParaRPr sz="1100">
                        <a:latin typeface="Boehringer Forward Text"/>
                        <a:cs typeface="Boehringer Forward Text"/>
                      </a:endParaRPr>
                    </a:p>
                  </a:txBody>
                  <a:tcPr marL="0" marR="0" marT="62865" marB="0">
                    <a:lnL w="127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solidFill>
                      <a:srgbClr val="00AFEF"/>
                    </a:solidFill>
                  </a:tcPr>
                </a:tc>
                <a:tc>
                  <a:txBody>
                    <a:bodyPr/>
                    <a:lstStyle/>
                    <a:p>
                      <a:pPr marL="130175">
                        <a:lnSpc>
                          <a:spcPct val="100000"/>
                        </a:lnSpc>
                        <a:spcBef>
                          <a:spcPts val="345"/>
                        </a:spcBef>
                      </a:pPr>
                      <a:r>
                        <a:rPr sz="1100" spc="-25">
                          <a:solidFill>
                            <a:srgbClr val="C00000"/>
                          </a:solidFill>
                          <a:latin typeface="BISansBa"/>
                          <a:cs typeface="BISansBa"/>
                        </a:rPr>
                        <a:t>EoT</a:t>
                      </a:r>
                      <a:endParaRPr sz="1100">
                        <a:latin typeface="BISansBa"/>
                        <a:cs typeface="BISansBa"/>
                      </a:endParaRPr>
                    </a:p>
                  </a:txBody>
                  <a:tcPr marL="0" marR="0" marT="43815"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AD0C3"/>
                    </a:solidFill>
                  </a:tcPr>
                </a:tc>
                <a:tc>
                  <a:txBody>
                    <a:bodyPr/>
                    <a:lstStyle/>
                    <a:p>
                      <a:pPr marL="125095">
                        <a:lnSpc>
                          <a:spcPts val="835"/>
                        </a:lnSpc>
                      </a:pPr>
                      <a:r>
                        <a:rPr sz="800" spc="-20">
                          <a:latin typeface="Boehringer Forward Text"/>
                          <a:cs typeface="Boehringer Forward Text"/>
                        </a:rPr>
                        <a:t>Fup/</a:t>
                      </a:r>
                      <a:endParaRPr sz="800">
                        <a:latin typeface="Boehringer Forward Text"/>
                        <a:cs typeface="Boehringer Forward Text"/>
                      </a:endParaRPr>
                    </a:p>
                    <a:p>
                      <a:pPr marL="145415">
                        <a:lnSpc>
                          <a:spcPct val="100000"/>
                        </a:lnSpc>
                      </a:pPr>
                      <a:r>
                        <a:rPr sz="800" spc="-25">
                          <a:latin typeface="Boehringer Forward Text"/>
                          <a:cs typeface="Boehringer Forward Text"/>
                        </a:rPr>
                        <a:t>EoS</a:t>
                      </a:r>
                      <a:endParaRPr sz="800">
                        <a:latin typeface="Boehringer Forward Text"/>
                        <a:cs typeface="Boehringer Forward Tex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5C3ED"/>
                    </a:solidFill>
                  </a:tcPr>
                </a:tc>
                <a:extLst>
                  <a:ext uri="{0D108BD9-81ED-4DB2-BD59-A6C34878D82A}">
                    <a16:rowId xmlns:a16="http://schemas.microsoft.com/office/drawing/2014/main" val="10000"/>
                  </a:ext>
                </a:extLst>
              </a:tr>
            </a:tbl>
          </a:graphicData>
        </a:graphic>
      </p:graphicFrame>
      <p:sp>
        <p:nvSpPr>
          <p:cNvPr id="38" name="object 38"/>
          <p:cNvSpPr txBox="1"/>
          <p:nvPr/>
        </p:nvSpPr>
        <p:spPr>
          <a:xfrm>
            <a:off x="1074689" y="1603429"/>
            <a:ext cx="739140" cy="311150"/>
          </a:xfrm>
          <a:prstGeom prst="rect">
            <a:avLst/>
          </a:prstGeom>
        </p:spPr>
        <p:txBody>
          <a:bodyPr vert="horz" wrap="square" lIns="0" tIns="15240" rIns="0" bIns="0" rtlCol="0">
            <a:spAutoFit/>
          </a:bodyPr>
          <a:lstStyle/>
          <a:p>
            <a:pPr marL="12700" marR="0" lvl="0" indent="0" algn="l" defTabSz="914400" rtl="0" eaLnBrk="1" fontAlgn="auto" latinLnBrk="0" hangingPunct="1">
              <a:lnSpc>
                <a:spcPct val="100000"/>
              </a:lnSpc>
              <a:spcBef>
                <a:spcPts val="120"/>
              </a:spcBef>
              <a:spcAft>
                <a:spcPts val="0"/>
              </a:spcAft>
              <a:buClrTx/>
              <a:buSzTx/>
              <a:buFontTx/>
              <a:buNone/>
              <a:tabLst/>
              <a:defRPr/>
            </a:pPr>
            <a:r>
              <a:rPr kumimoji="0" sz="1850" b="1" i="0" u="none" strike="noStrike" kern="0" cap="none" spc="0" normalizeH="0" baseline="0" noProof="0">
                <a:ln>
                  <a:noFill/>
                </a:ln>
                <a:solidFill>
                  <a:srgbClr val="C00000"/>
                </a:solidFill>
                <a:effectLst/>
                <a:uLnTx/>
                <a:uFillTx/>
                <a:latin typeface="BISansOpti"/>
                <a:ea typeface="+mn-ea"/>
                <a:cs typeface="BISansOpti"/>
              </a:rPr>
              <a:t>N</a:t>
            </a:r>
            <a:r>
              <a:rPr kumimoji="0" sz="1850" b="1" i="0" u="none" strike="noStrike" kern="0" cap="none" spc="20" normalizeH="0" baseline="0" noProof="0">
                <a:ln>
                  <a:noFill/>
                </a:ln>
                <a:solidFill>
                  <a:srgbClr val="C00000"/>
                </a:solidFill>
                <a:effectLst/>
                <a:uLnTx/>
                <a:uFillTx/>
                <a:latin typeface="BISansOpti"/>
                <a:ea typeface="+mn-ea"/>
                <a:cs typeface="BISansOpti"/>
              </a:rPr>
              <a:t> </a:t>
            </a:r>
            <a:r>
              <a:rPr kumimoji="0" sz="1850" b="1" i="0" u="none" strike="noStrike" kern="0" cap="none" spc="-20" normalizeH="0" baseline="0" noProof="0">
                <a:ln>
                  <a:noFill/>
                </a:ln>
                <a:solidFill>
                  <a:srgbClr val="C00000"/>
                </a:solidFill>
                <a:effectLst/>
                <a:uLnTx/>
                <a:uFillTx/>
                <a:latin typeface="BISansOpti"/>
                <a:ea typeface="+mn-ea"/>
                <a:cs typeface="BISansOpti"/>
              </a:rPr>
              <a:t>≈</a:t>
            </a:r>
            <a:r>
              <a:rPr kumimoji="0" lang="en-US" sz="1850" b="1" i="0" u="none" strike="noStrike" kern="0" cap="none" spc="-20" normalizeH="0" baseline="0" noProof="0">
                <a:ln>
                  <a:noFill/>
                </a:ln>
                <a:solidFill>
                  <a:srgbClr val="C00000"/>
                </a:solidFill>
                <a:effectLst/>
                <a:uLnTx/>
                <a:uFillTx/>
                <a:latin typeface="BISansOpti"/>
                <a:ea typeface="+mn-ea"/>
                <a:cs typeface="BISansOpti"/>
              </a:rPr>
              <a:t>448</a:t>
            </a:r>
            <a:endParaRPr kumimoji="0" sz="1850" b="0" i="0" u="none" strike="noStrike" kern="0" cap="none" spc="0" normalizeH="0" baseline="0" noProof="0">
              <a:ln>
                <a:noFill/>
              </a:ln>
              <a:solidFill>
                <a:sysClr val="windowText" lastClr="000000"/>
              </a:solidFill>
              <a:effectLst/>
              <a:uLnTx/>
              <a:uFillTx/>
              <a:latin typeface="BISansOpti"/>
              <a:ea typeface="+mn-ea"/>
              <a:cs typeface="BISansOpti"/>
            </a:endParaRPr>
          </a:p>
        </p:txBody>
      </p:sp>
      <p:sp>
        <p:nvSpPr>
          <p:cNvPr id="39" name="object 39"/>
          <p:cNvSpPr txBox="1"/>
          <p:nvPr/>
        </p:nvSpPr>
        <p:spPr>
          <a:xfrm>
            <a:off x="2252487" y="3870226"/>
            <a:ext cx="110489"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0" cap="none" spc="-50" normalizeH="0" baseline="0" noProof="0">
                <a:ln>
                  <a:noFill/>
                </a:ln>
                <a:solidFill>
                  <a:sysClr val="windowText" lastClr="000000"/>
                </a:solidFill>
                <a:effectLst/>
                <a:uLnTx/>
                <a:uFillTx/>
                <a:latin typeface="Boehringer Forward Text"/>
                <a:ea typeface="+mn-ea"/>
                <a:cs typeface="Boehringer Forward Text"/>
              </a:rPr>
              <a:t>1</a:t>
            </a:r>
            <a:endPar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40" name="object 40"/>
          <p:cNvSpPr txBox="1"/>
          <p:nvPr/>
        </p:nvSpPr>
        <p:spPr>
          <a:xfrm>
            <a:off x="927105" y="3822460"/>
            <a:ext cx="28003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5" normalizeH="0" baseline="0" noProof="0">
                <a:ln>
                  <a:noFill/>
                </a:ln>
                <a:solidFill>
                  <a:sysClr val="windowText" lastClr="000000"/>
                </a:solidFill>
                <a:effectLst/>
                <a:uLnTx/>
                <a:uFillTx/>
                <a:latin typeface="BISansBa"/>
                <a:ea typeface="+mn-ea"/>
                <a:cs typeface="BISansBa"/>
              </a:rPr>
              <a:t>Day</a:t>
            </a:r>
            <a:endParaRPr kumimoji="0" sz="12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41" name="object 41"/>
          <p:cNvSpPr txBox="1"/>
          <p:nvPr/>
        </p:nvSpPr>
        <p:spPr>
          <a:xfrm>
            <a:off x="2705872" y="3879192"/>
            <a:ext cx="193040"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43</a:t>
            </a:r>
            <a:endPar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42" name="object 42"/>
          <p:cNvSpPr txBox="1"/>
          <p:nvPr/>
        </p:nvSpPr>
        <p:spPr>
          <a:xfrm>
            <a:off x="3288991" y="3872755"/>
            <a:ext cx="193040"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85</a:t>
            </a:r>
            <a:endPar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43" name="object 43"/>
          <p:cNvSpPr txBox="1"/>
          <p:nvPr/>
        </p:nvSpPr>
        <p:spPr>
          <a:xfrm>
            <a:off x="2219359" y="4114686"/>
            <a:ext cx="64706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509270" algn="l"/>
              </a:tabLst>
              <a:defRPr/>
            </a:pPr>
            <a:r>
              <a:rPr kumimoji="0" sz="1800" b="0" i="0" u="none" strike="noStrike" kern="0" cap="none" spc="-50" normalizeH="0" baseline="0" noProof="0">
                <a:ln>
                  <a:noFill/>
                </a:ln>
                <a:solidFill>
                  <a:sysClr val="windowText" lastClr="000000"/>
                </a:solidFill>
                <a:effectLst/>
                <a:uLnTx/>
                <a:uFillTx/>
                <a:latin typeface="BISansBa"/>
                <a:ea typeface="+mn-ea"/>
                <a:cs typeface="BISansBa"/>
              </a:rPr>
              <a:t>0</a:t>
            </a:r>
            <a:r>
              <a:rPr kumimoji="0" sz="1800" b="0" i="0" u="none" strike="noStrike" kern="0" cap="none" spc="0" normalizeH="0" baseline="0" noProof="0">
                <a:ln>
                  <a:noFill/>
                </a:ln>
                <a:solidFill>
                  <a:sysClr val="windowText" lastClr="000000"/>
                </a:solidFill>
                <a:effectLst/>
                <a:uLnTx/>
                <a:uFillTx/>
                <a:latin typeface="BISansBa"/>
                <a:ea typeface="+mn-ea"/>
                <a:cs typeface="BISansBa"/>
              </a:rPr>
              <a:t>	</a:t>
            </a:r>
            <a:r>
              <a:rPr kumimoji="0" sz="2700" b="0" i="0" u="none" strike="noStrike" kern="0" cap="none" spc="-75" normalizeH="0" baseline="1543" noProof="0">
                <a:ln>
                  <a:noFill/>
                </a:ln>
                <a:solidFill>
                  <a:sysClr val="windowText" lastClr="000000"/>
                </a:solidFill>
                <a:effectLst/>
                <a:uLnTx/>
                <a:uFillTx/>
                <a:latin typeface="BISansBa"/>
                <a:ea typeface="+mn-ea"/>
                <a:cs typeface="BISansBa"/>
              </a:rPr>
              <a:t>6</a:t>
            </a:r>
            <a:endParaRPr kumimoji="0" sz="2700" b="0" i="0" u="none" strike="noStrike" kern="0" cap="none" spc="0" normalizeH="0" baseline="1543" noProof="0">
              <a:ln>
                <a:noFill/>
              </a:ln>
              <a:solidFill>
                <a:sysClr val="windowText" lastClr="000000"/>
              </a:solidFill>
              <a:effectLst/>
              <a:uLnTx/>
              <a:uFillTx/>
              <a:latin typeface="BISansBa"/>
              <a:ea typeface="+mn-ea"/>
              <a:cs typeface="BISansBa"/>
            </a:endParaRPr>
          </a:p>
        </p:txBody>
      </p:sp>
      <p:sp>
        <p:nvSpPr>
          <p:cNvPr id="44" name="object 44"/>
          <p:cNvSpPr txBox="1"/>
          <p:nvPr/>
        </p:nvSpPr>
        <p:spPr>
          <a:xfrm>
            <a:off x="1678317" y="3373078"/>
            <a:ext cx="70675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568325" algn="l"/>
              </a:tabLst>
              <a:defRPr/>
            </a:pPr>
            <a:r>
              <a:rPr kumimoji="0" sz="1600" b="0" i="0" u="none" strike="noStrike" kern="0" cap="none" spc="-50" normalizeH="0" baseline="0" noProof="0">
                <a:ln>
                  <a:noFill/>
                </a:ln>
                <a:solidFill>
                  <a:sysClr val="windowText" lastClr="000000"/>
                </a:solidFill>
                <a:effectLst/>
                <a:uLnTx/>
                <a:uFillTx/>
                <a:latin typeface="Boehringer Forward Text"/>
                <a:ea typeface="+mn-ea"/>
                <a:cs typeface="Boehringer Forward Text"/>
              </a:rPr>
              <a:t>1</a:t>
            </a:r>
            <a:r>
              <a:rPr kumimoji="0" sz="16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	</a:t>
            </a:r>
            <a:r>
              <a:rPr kumimoji="0" sz="2700" b="0" i="0" u="none" strike="noStrike" kern="0" cap="none" spc="-75" normalizeH="0" baseline="1543" noProof="0">
                <a:ln>
                  <a:noFill/>
                </a:ln>
                <a:solidFill>
                  <a:sysClr val="windowText" lastClr="000000"/>
                </a:solidFill>
                <a:effectLst/>
                <a:uLnTx/>
                <a:uFillTx/>
                <a:latin typeface="BISansBa"/>
                <a:ea typeface="+mn-ea"/>
                <a:cs typeface="BISansBa"/>
              </a:rPr>
              <a:t>2</a:t>
            </a:r>
            <a:endParaRPr kumimoji="0" sz="2700" b="0" i="0" u="none" strike="noStrike" kern="0" cap="none" spc="0" normalizeH="0" baseline="1543" noProof="0">
              <a:ln>
                <a:noFill/>
              </a:ln>
              <a:solidFill>
                <a:sysClr val="windowText" lastClr="000000"/>
              </a:solidFill>
              <a:effectLst/>
              <a:uLnTx/>
              <a:uFillTx/>
              <a:latin typeface="BISansBa"/>
              <a:ea typeface="+mn-ea"/>
              <a:cs typeface="BISansBa"/>
            </a:endParaRPr>
          </a:p>
        </p:txBody>
      </p:sp>
      <p:sp>
        <p:nvSpPr>
          <p:cNvPr id="45" name="object 45"/>
          <p:cNvSpPr txBox="1"/>
          <p:nvPr/>
        </p:nvSpPr>
        <p:spPr>
          <a:xfrm>
            <a:off x="1593365" y="3866219"/>
            <a:ext cx="537845"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rPr>
              <a:t>1-</a:t>
            </a:r>
            <a:r>
              <a:rPr kumimoji="0" sz="1050" b="0" i="0" u="none" strike="noStrike" kern="0" cap="none" spc="-10" normalizeH="0" baseline="0" noProof="0">
                <a:ln>
                  <a:noFill/>
                </a:ln>
                <a:solidFill>
                  <a:sysClr val="windowText" lastClr="000000"/>
                </a:solidFill>
                <a:effectLst/>
                <a:uLnTx/>
                <a:uFillTx/>
                <a:latin typeface="Boehringer Forward Text"/>
                <a:ea typeface="+mn-ea"/>
                <a:cs typeface="Boehringer Forward Text"/>
              </a:rPr>
              <a:t> </a:t>
            </a:r>
            <a:r>
              <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rPr>
              <a:t>6</a:t>
            </a:r>
            <a:r>
              <a:rPr kumimoji="0" sz="1050" b="0" i="0" u="none" strike="noStrike" kern="0" cap="none" spc="-5" normalizeH="0" baseline="0" noProof="0">
                <a:ln>
                  <a:noFill/>
                </a:ln>
                <a:solidFill>
                  <a:sysClr val="windowText" lastClr="000000"/>
                </a:solidFill>
                <a:effectLst/>
                <a:uLnTx/>
                <a:uFillTx/>
                <a:latin typeface="Boehringer Forward Text"/>
                <a:ea typeface="+mn-ea"/>
                <a:cs typeface="Boehringer Forward Text"/>
              </a:rPr>
              <a:t> </a:t>
            </a:r>
            <a:r>
              <a:rPr kumimoji="0" sz="105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wks</a:t>
            </a:r>
            <a:endPar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grpSp>
        <p:nvGrpSpPr>
          <p:cNvPr id="46" name="object 46"/>
          <p:cNvGrpSpPr/>
          <p:nvPr/>
        </p:nvGrpSpPr>
        <p:grpSpPr>
          <a:xfrm>
            <a:off x="1743639" y="3644321"/>
            <a:ext cx="9408160" cy="914400"/>
            <a:chOff x="1056336" y="2853766"/>
            <a:chExt cx="9408160" cy="914400"/>
          </a:xfrm>
        </p:grpSpPr>
        <p:sp>
          <p:nvSpPr>
            <p:cNvPr id="47" name="object 47"/>
            <p:cNvSpPr/>
            <p:nvPr/>
          </p:nvSpPr>
          <p:spPr>
            <a:xfrm>
              <a:off x="1069036" y="2866466"/>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8" name="object 48"/>
            <p:cNvSpPr/>
            <p:nvPr/>
          </p:nvSpPr>
          <p:spPr>
            <a:xfrm>
              <a:off x="10421246" y="3168719"/>
              <a:ext cx="0" cy="584835"/>
            </a:xfrm>
            <a:custGeom>
              <a:avLst/>
              <a:gdLst/>
              <a:ahLst/>
              <a:cxnLst/>
              <a:rect l="l" t="t" r="r" b="b"/>
              <a:pathLst>
                <a:path h="584835">
                  <a:moveTo>
                    <a:pt x="0" y="584784"/>
                  </a:moveTo>
                  <a:lnTo>
                    <a:pt x="0" y="0"/>
                  </a:lnTo>
                </a:path>
              </a:pathLst>
            </a:custGeom>
            <a:ln w="285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9" name="object 49"/>
            <p:cNvSpPr/>
            <p:nvPr/>
          </p:nvSpPr>
          <p:spPr>
            <a:xfrm>
              <a:off x="10378387" y="3097283"/>
              <a:ext cx="85725" cy="85725"/>
            </a:xfrm>
            <a:custGeom>
              <a:avLst/>
              <a:gdLst/>
              <a:ahLst/>
              <a:cxnLst/>
              <a:rect l="l" t="t" r="r" b="b"/>
              <a:pathLst>
                <a:path w="85725" h="85725">
                  <a:moveTo>
                    <a:pt x="42862" y="0"/>
                  </a:moveTo>
                  <a:lnTo>
                    <a:pt x="0" y="85725"/>
                  </a:lnTo>
                  <a:lnTo>
                    <a:pt x="85725" y="85725"/>
                  </a:lnTo>
                  <a:lnTo>
                    <a:pt x="4286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0" name="object 50"/>
            <p:cNvSpPr/>
            <p:nvPr/>
          </p:nvSpPr>
          <p:spPr>
            <a:xfrm>
              <a:off x="6781863" y="3161296"/>
              <a:ext cx="2837815" cy="570865"/>
            </a:xfrm>
            <a:custGeom>
              <a:avLst/>
              <a:gdLst/>
              <a:ahLst/>
              <a:cxnLst/>
              <a:rect l="l" t="t" r="r" b="b"/>
              <a:pathLst>
                <a:path w="2837815" h="570864">
                  <a:moveTo>
                    <a:pt x="0" y="0"/>
                  </a:moveTo>
                  <a:lnTo>
                    <a:pt x="2837726" y="0"/>
                  </a:lnTo>
                  <a:lnTo>
                    <a:pt x="2837726" y="570725"/>
                  </a:lnTo>
                  <a:lnTo>
                    <a:pt x="0" y="570725"/>
                  </a:lnTo>
                  <a:lnTo>
                    <a:pt x="0" y="0"/>
                  </a:lnTo>
                  <a:close/>
                </a:path>
              </a:pathLst>
            </a:custGeom>
            <a:ln w="127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51" name="object 51"/>
          <p:cNvSpPr txBox="1"/>
          <p:nvPr/>
        </p:nvSpPr>
        <p:spPr>
          <a:xfrm>
            <a:off x="7586783" y="4071005"/>
            <a:ext cx="1665605" cy="162560"/>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**On-</a:t>
            </a:r>
            <a:r>
              <a:rPr kumimoji="0" sz="900" b="0" i="0" u="none" strike="noStrike" kern="0" cap="none" spc="-10" normalizeH="0" baseline="0" noProof="0">
                <a:ln>
                  <a:noFill/>
                </a:ln>
                <a:solidFill>
                  <a:sysClr val="windowText" lastClr="000000"/>
                </a:solidFill>
                <a:effectLst/>
                <a:uLnTx/>
                <a:uFillTx/>
                <a:latin typeface="Boehringer Forward Text"/>
                <a:ea typeface="+mn-ea"/>
                <a:cs typeface="Boehringer Forward Text"/>
              </a:rPr>
              <a:t>site</a:t>
            </a:r>
            <a:r>
              <a:rPr kumimoji="0" sz="900" b="0" i="0" u="none" strike="noStrike" kern="0" cap="none" spc="-40" normalizeH="0" baseline="0" noProof="0">
                <a:ln>
                  <a:noFill/>
                </a:ln>
                <a:solidFill>
                  <a:sysClr val="windowText" lastClr="000000"/>
                </a:solidFill>
                <a:effectLst/>
                <a:uLnTx/>
                <a:uFillTx/>
                <a:latin typeface="Boehringer Forward Text"/>
                <a:ea typeface="+mn-ea"/>
                <a:cs typeface="Boehringer Forward Text"/>
              </a:rPr>
              <a:t> </a:t>
            </a: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visits every</a:t>
            </a: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 </a:t>
            </a: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12</a:t>
            </a:r>
            <a:r>
              <a:rPr kumimoji="0" sz="900" b="0" i="0" u="none" strike="noStrike" kern="0" cap="none" spc="-5" normalizeH="0" baseline="0" noProof="0">
                <a:ln>
                  <a:noFill/>
                </a:ln>
                <a:solidFill>
                  <a:sysClr val="windowText" lastClr="000000"/>
                </a:solidFill>
                <a:effectLst/>
                <a:uLnTx/>
                <a:uFillTx/>
                <a:latin typeface="Boehringer Forward Text"/>
                <a:ea typeface="+mn-ea"/>
                <a:cs typeface="Boehringer Forward Text"/>
              </a:rPr>
              <a:t> </a:t>
            </a:r>
            <a:r>
              <a:rPr kumimoji="0" sz="900" b="0" i="0" u="none" strike="noStrike" kern="0" cap="none" spc="-10" normalizeH="0" baseline="0" noProof="0">
                <a:ln>
                  <a:noFill/>
                </a:ln>
                <a:solidFill>
                  <a:sysClr val="windowText" lastClr="000000"/>
                </a:solidFill>
                <a:effectLst/>
                <a:uLnTx/>
                <a:uFillTx/>
                <a:latin typeface="Boehringer Forward Text"/>
                <a:ea typeface="+mn-ea"/>
                <a:cs typeface="Boehringer Forward Text"/>
              </a:rPr>
              <a:t>weeks,</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52" name="object 52"/>
          <p:cNvSpPr txBox="1"/>
          <p:nvPr/>
        </p:nvSpPr>
        <p:spPr>
          <a:xfrm>
            <a:off x="9333287" y="4081419"/>
            <a:ext cx="83185" cy="152400"/>
          </a:xfrm>
          <a:prstGeom prst="rect">
            <a:avLst/>
          </a:prstGeom>
        </p:spPr>
        <p:txBody>
          <a:bodyPr vert="horz" wrap="square" lIns="0" tIns="1905" rIns="0" bIns="0" rtlCol="0">
            <a:spAutoFit/>
          </a:bodyPr>
          <a:lstStyle/>
          <a:p>
            <a:pPr marL="0" marR="0" lvl="0" indent="0" algn="l" defTabSz="914400" rtl="0" eaLnBrk="1" fontAlgn="auto" latinLnBrk="0" hangingPunct="1">
              <a:lnSpc>
                <a:spcPct val="100000"/>
              </a:lnSpc>
              <a:spcBef>
                <a:spcPts val="15"/>
              </a:spcBef>
              <a:spcAft>
                <a:spcPts val="0"/>
              </a:spcAft>
              <a:buClrTx/>
              <a:buSzTx/>
              <a:buFontTx/>
              <a:buNone/>
              <a:tabLst/>
              <a:defRPr/>
            </a:pPr>
            <a:r>
              <a:rPr kumimoji="0" sz="900" b="0" i="0" u="none" strike="noStrike" kern="0" cap="none" spc="-50" normalizeH="0" baseline="0" noProof="0">
                <a:ln>
                  <a:noFill/>
                </a:ln>
                <a:solidFill>
                  <a:sysClr val="windowText" lastClr="000000"/>
                </a:solidFill>
                <a:effectLst/>
                <a:uLnTx/>
                <a:uFillTx/>
                <a:latin typeface="Boehringer Forward Text"/>
                <a:ea typeface="+mn-ea"/>
                <a:cs typeface="Boehringer Forward Text"/>
              </a:rPr>
              <a:t>&amp;</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53" name="object 53"/>
          <p:cNvSpPr txBox="1"/>
          <p:nvPr/>
        </p:nvSpPr>
        <p:spPr>
          <a:xfrm>
            <a:off x="9653087" y="4071005"/>
            <a:ext cx="549275" cy="162560"/>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visit</a:t>
            </a:r>
            <a:r>
              <a:rPr kumimoji="0" sz="900" b="0" i="0" u="none" strike="noStrike" kern="0" cap="none" spc="-10" normalizeH="0" baseline="0" noProof="0">
                <a:ln>
                  <a:noFill/>
                </a:ln>
                <a:solidFill>
                  <a:sysClr val="windowText" lastClr="000000"/>
                </a:solidFill>
                <a:effectLst/>
                <a:uLnTx/>
                <a:uFillTx/>
                <a:latin typeface="Boehringer Forward Text"/>
                <a:ea typeface="+mn-ea"/>
                <a:cs typeface="Boehringer Forward Text"/>
              </a:rPr>
              <a:t> every</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54" name="object 54"/>
          <p:cNvSpPr txBox="1"/>
          <p:nvPr/>
        </p:nvSpPr>
        <p:spPr>
          <a:xfrm>
            <a:off x="8074501" y="4263029"/>
            <a:ext cx="1638935" cy="162560"/>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6</a:t>
            </a:r>
            <a:r>
              <a:rPr kumimoji="0" sz="900" b="0" i="0" u="none" strike="noStrike" kern="0" cap="none" spc="-20" normalizeH="0" baseline="0" noProof="0">
                <a:ln>
                  <a:noFill/>
                </a:ln>
                <a:solidFill>
                  <a:sysClr val="windowText" lastClr="000000"/>
                </a:solidFill>
                <a:effectLst/>
                <a:uLnTx/>
                <a:uFillTx/>
                <a:latin typeface="Boehringer Forward Text"/>
                <a:ea typeface="+mn-ea"/>
                <a:cs typeface="Boehringer Forward Text"/>
              </a:rPr>
              <a:t> </a:t>
            </a: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weeks</a:t>
            </a:r>
            <a:r>
              <a:rPr kumimoji="0" sz="900" b="0" i="0" u="none" strike="noStrike" kern="0" cap="none" spc="-15" normalizeH="0" baseline="0" noProof="0">
                <a:ln>
                  <a:noFill/>
                </a:ln>
                <a:solidFill>
                  <a:sysClr val="windowText" lastClr="000000"/>
                </a:solidFill>
                <a:effectLst/>
                <a:uLnTx/>
                <a:uFillTx/>
                <a:latin typeface="Boehringer Forward Text"/>
                <a:ea typeface="+mn-ea"/>
                <a:cs typeface="Boehringer Forward Text"/>
              </a:rPr>
              <a:t> </a:t>
            </a: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after</a:t>
            </a:r>
            <a:r>
              <a:rPr kumimoji="0" sz="900" b="0" i="0" u="none" strike="noStrike" kern="0" cap="none" spc="-20" normalizeH="0" baseline="0" noProof="0">
                <a:ln>
                  <a:noFill/>
                </a:ln>
                <a:solidFill>
                  <a:sysClr val="windowText" lastClr="000000"/>
                </a:solidFill>
                <a:effectLst/>
                <a:uLnTx/>
                <a:uFillTx/>
                <a:latin typeface="Boehringer Forward Text"/>
                <a:ea typeface="+mn-ea"/>
                <a:cs typeface="Boehringer Forward Text"/>
              </a:rPr>
              <a:t> </a:t>
            </a: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each</a:t>
            </a:r>
            <a:r>
              <a:rPr kumimoji="0" sz="900" b="0" i="0" u="none" strike="noStrike" kern="0" cap="none" spc="-20" normalizeH="0" baseline="0" noProof="0">
                <a:ln>
                  <a:noFill/>
                </a:ln>
                <a:solidFill>
                  <a:sysClr val="windowText" lastClr="000000"/>
                </a:solidFill>
                <a:effectLst/>
                <a:uLnTx/>
                <a:uFillTx/>
                <a:latin typeface="Boehringer Forward Text"/>
                <a:ea typeface="+mn-ea"/>
                <a:cs typeface="Boehringer Forward Text"/>
              </a:rPr>
              <a:t> </a:t>
            </a:r>
            <a:r>
              <a:rPr kumimoji="0" sz="900" b="0" i="0" u="none" strike="noStrike" kern="0" cap="none" spc="-10" normalizeH="0" baseline="0" noProof="0">
                <a:ln>
                  <a:noFill/>
                </a:ln>
                <a:solidFill>
                  <a:sysClr val="windowText" lastClr="000000"/>
                </a:solidFill>
                <a:effectLst/>
                <a:uLnTx/>
                <a:uFillTx/>
                <a:latin typeface="Boehringer Forward Text"/>
                <a:ea typeface="+mn-ea"/>
                <a:cs typeface="Boehringer Forward Text"/>
              </a:rPr>
              <a:t>on-</a:t>
            </a: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site</a:t>
            </a:r>
            <a:r>
              <a:rPr kumimoji="0" sz="900" b="0" i="0" u="none" strike="noStrike" kern="0" cap="none" spc="-20" normalizeH="0" baseline="0" noProof="0">
                <a:ln>
                  <a:noFill/>
                </a:ln>
                <a:solidFill>
                  <a:sysClr val="windowText" lastClr="000000"/>
                </a:solidFill>
                <a:effectLst/>
                <a:uLnTx/>
                <a:uFillTx/>
                <a:latin typeface="Boehringer Forward Text"/>
                <a:ea typeface="+mn-ea"/>
                <a:cs typeface="Boehringer Forward Text"/>
              </a:rPr>
              <a:t> visit</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grpSp>
        <p:nvGrpSpPr>
          <p:cNvPr id="55" name="object 55"/>
          <p:cNvGrpSpPr/>
          <p:nvPr/>
        </p:nvGrpSpPr>
        <p:grpSpPr>
          <a:xfrm>
            <a:off x="7180490" y="3728904"/>
            <a:ext cx="3463925" cy="840740"/>
            <a:chOff x="6493187" y="2938349"/>
            <a:chExt cx="3463925" cy="840740"/>
          </a:xfrm>
        </p:grpSpPr>
        <p:sp>
          <p:nvSpPr>
            <p:cNvPr id="56" name="object 56"/>
            <p:cNvSpPr/>
            <p:nvPr/>
          </p:nvSpPr>
          <p:spPr>
            <a:xfrm>
              <a:off x="6507474" y="2952637"/>
              <a:ext cx="3357245" cy="269240"/>
            </a:xfrm>
            <a:custGeom>
              <a:avLst/>
              <a:gdLst/>
              <a:ahLst/>
              <a:cxnLst/>
              <a:rect l="l" t="t" r="r" b="b"/>
              <a:pathLst>
                <a:path w="3357245" h="269239">
                  <a:moveTo>
                    <a:pt x="3357003" y="0"/>
                  </a:moveTo>
                  <a:lnTo>
                    <a:pt x="3355242" y="52317"/>
                  </a:lnTo>
                  <a:lnTo>
                    <a:pt x="3350440" y="95038"/>
                  </a:lnTo>
                  <a:lnTo>
                    <a:pt x="3343319" y="123842"/>
                  </a:lnTo>
                  <a:lnTo>
                    <a:pt x="3334600" y="134404"/>
                  </a:lnTo>
                  <a:lnTo>
                    <a:pt x="1700911" y="134404"/>
                  </a:lnTo>
                  <a:lnTo>
                    <a:pt x="1692186" y="144967"/>
                  </a:lnTo>
                  <a:lnTo>
                    <a:pt x="1685066" y="173775"/>
                  </a:lnTo>
                  <a:lnTo>
                    <a:pt x="1680267" y="216501"/>
                  </a:lnTo>
                  <a:lnTo>
                    <a:pt x="1678508" y="268820"/>
                  </a:lnTo>
                  <a:lnTo>
                    <a:pt x="1676747" y="216501"/>
                  </a:lnTo>
                  <a:lnTo>
                    <a:pt x="1671945" y="173775"/>
                  </a:lnTo>
                  <a:lnTo>
                    <a:pt x="1664824" y="144967"/>
                  </a:lnTo>
                  <a:lnTo>
                    <a:pt x="1656105" y="134404"/>
                  </a:lnTo>
                  <a:lnTo>
                    <a:pt x="22402" y="134404"/>
                  </a:lnTo>
                  <a:lnTo>
                    <a:pt x="13683" y="123842"/>
                  </a:lnTo>
                  <a:lnTo>
                    <a:pt x="6562" y="95038"/>
                  </a:lnTo>
                  <a:lnTo>
                    <a:pt x="1760" y="52317"/>
                  </a:lnTo>
                  <a:lnTo>
                    <a:pt x="0" y="0"/>
                  </a:lnTo>
                </a:path>
              </a:pathLst>
            </a:custGeom>
            <a:ln w="28575">
              <a:solidFill>
                <a:srgbClr val="006FC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7" name="object 57"/>
            <p:cNvSpPr/>
            <p:nvPr/>
          </p:nvSpPr>
          <p:spPr>
            <a:xfrm>
              <a:off x="9913679" y="3179743"/>
              <a:ext cx="0" cy="584835"/>
            </a:xfrm>
            <a:custGeom>
              <a:avLst/>
              <a:gdLst/>
              <a:ahLst/>
              <a:cxnLst/>
              <a:rect l="l" t="t" r="r" b="b"/>
              <a:pathLst>
                <a:path h="584835">
                  <a:moveTo>
                    <a:pt x="0" y="584784"/>
                  </a:moveTo>
                  <a:lnTo>
                    <a:pt x="0" y="0"/>
                  </a:lnTo>
                </a:path>
              </a:pathLst>
            </a:custGeom>
            <a:ln w="2857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8" name="object 58"/>
            <p:cNvSpPr/>
            <p:nvPr/>
          </p:nvSpPr>
          <p:spPr>
            <a:xfrm>
              <a:off x="9870822" y="3108308"/>
              <a:ext cx="85725" cy="85725"/>
            </a:xfrm>
            <a:custGeom>
              <a:avLst/>
              <a:gdLst/>
              <a:ahLst/>
              <a:cxnLst/>
              <a:rect l="l" t="t" r="r" b="b"/>
              <a:pathLst>
                <a:path w="85725" h="85725">
                  <a:moveTo>
                    <a:pt x="42862" y="0"/>
                  </a:moveTo>
                  <a:lnTo>
                    <a:pt x="0" y="85725"/>
                  </a:lnTo>
                  <a:lnTo>
                    <a:pt x="85725" y="85725"/>
                  </a:lnTo>
                  <a:lnTo>
                    <a:pt x="42862"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59" name="object 59"/>
          <p:cNvSpPr txBox="1"/>
          <p:nvPr/>
        </p:nvSpPr>
        <p:spPr>
          <a:xfrm>
            <a:off x="890067" y="5290318"/>
            <a:ext cx="10789314" cy="918200"/>
          </a:xfrm>
          <a:prstGeom prst="rect">
            <a:avLst/>
          </a:prstGeom>
        </p:spPr>
        <p:txBody>
          <a:bodyPr vert="horz" wrap="square" lIns="0" tIns="12700" rIns="0" bIns="0" rtlCol="0">
            <a:spAutoFit/>
          </a:bodyPr>
          <a:lstStyle/>
          <a:p>
            <a:pPr marL="33655" marR="27940" lvl="0" indent="0" defTabSz="914400" rtl="0" eaLnBrk="1" fontAlgn="auto" latinLnBrk="0" hangingPunct="1">
              <a:spcAft>
                <a:spcPts val="600"/>
              </a:spcAft>
              <a:buClrTx/>
              <a:buSzTx/>
              <a:buFontTx/>
              <a:buNone/>
              <a:tabLst/>
              <a:defRPr/>
            </a:pPr>
            <a:r>
              <a:rPr kumimoji="0" sz="1200" i="0" u="none" strike="noStrike" kern="0" cap="none" spc="0" normalizeH="0" baseline="0" noProof="0">
                <a:ln>
                  <a:noFill/>
                </a:ln>
                <a:effectLst/>
                <a:uLnTx/>
                <a:uFillTx/>
                <a:latin typeface="Boehringer Forward Text"/>
                <a:ea typeface="+mn-ea"/>
                <a:cs typeface="Boehringer Forward Text"/>
              </a:rPr>
              <a:t>*</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During</a:t>
            </a:r>
            <a:r>
              <a:rPr kumimoji="0" sz="1200" i="0" u="none" strike="noStrike" kern="0" cap="none" spc="-40"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the</a:t>
            </a:r>
            <a:r>
              <a:rPr kumimoji="0" sz="1200" i="0" u="none" strike="noStrike" kern="0" cap="none" spc="-25"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treatment</a:t>
            </a:r>
            <a:r>
              <a:rPr kumimoji="0" sz="1200" i="0" u="none" strike="noStrike" kern="0" cap="none" spc="-40"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period,</a:t>
            </a:r>
            <a:r>
              <a:rPr kumimoji="0" sz="1200" i="0" u="none" strike="noStrike" kern="0" cap="none" spc="-35"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based</a:t>
            </a:r>
            <a:r>
              <a:rPr kumimoji="0" sz="1200" i="0" u="none" strike="noStrike" kern="0" cap="none" spc="-25" normalizeH="0" baseline="0" noProof="0">
                <a:ln>
                  <a:noFill/>
                </a:ln>
                <a:solidFill>
                  <a:sysClr val="windowText" lastClr="000000"/>
                </a:solidFill>
                <a:effectLst/>
                <a:uLnTx/>
                <a:uFillTx/>
                <a:latin typeface="Boehringer Forward Text"/>
                <a:ea typeface="+mn-ea"/>
                <a:cs typeface="Boehringer Forward Text"/>
              </a:rPr>
              <a:t> on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the</a:t>
            </a:r>
            <a:r>
              <a:rPr kumimoji="0" sz="1200" i="0" u="none" strike="noStrike" kern="0" cap="none" spc="-35"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10" normalizeH="0" baseline="0" noProof="0">
                <a:ln>
                  <a:noFill/>
                </a:ln>
                <a:solidFill>
                  <a:sysClr val="windowText" lastClr="000000"/>
                </a:solidFill>
                <a:effectLst/>
                <a:uLnTx/>
                <a:uFillTx/>
                <a:latin typeface="Boehringer Forward Text"/>
                <a:ea typeface="+mn-ea"/>
                <a:cs typeface="Boehringer Forward Text"/>
              </a:rPr>
              <a:t>individual</a:t>
            </a:r>
            <a:r>
              <a:rPr kumimoji="0" sz="1200" i="0" u="none" strike="noStrike" kern="0" cap="none" spc="10"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patient</a:t>
            </a:r>
            <a:r>
              <a:rPr kumimoji="0" sz="1200" i="0" u="none" strike="noStrike" kern="0" cap="none" spc="-5"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10" normalizeH="0" baseline="0" noProof="0">
                <a:ln>
                  <a:noFill/>
                </a:ln>
                <a:solidFill>
                  <a:sysClr val="windowText" lastClr="000000"/>
                </a:solidFill>
                <a:effectLst/>
                <a:uLnTx/>
                <a:uFillTx/>
                <a:latin typeface="Boehringer Forward Text"/>
                <a:ea typeface="+mn-ea"/>
                <a:cs typeface="Boehringer Forward Text"/>
              </a:rPr>
              <a:t>tolerability,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possible</a:t>
            </a:r>
            <a:r>
              <a:rPr kumimoji="0" sz="1200" i="0" u="none" strike="noStrike" kern="0" cap="none" spc="-40"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temporary</a:t>
            </a:r>
            <a:r>
              <a:rPr kumimoji="0" sz="1200" i="0" u="none" strike="noStrike" kern="0" cap="none" spc="-35"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reduction</a:t>
            </a:r>
            <a:r>
              <a:rPr kumimoji="0" sz="1200" i="0" u="none" strike="noStrike" kern="0" cap="none" spc="-15"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to</a:t>
            </a:r>
            <a:r>
              <a:rPr kumimoji="0" sz="1200" i="0" u="none" strike="noStrike" kern="0" cap="none" spc="-40"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9</a:t>
            </a:r>
            <a:r>
              <a:rPr kumimoji="0" sz="1200" i="0" u="none" strike="noStrike" kern="0" cap="none" spc="-40" normalizeH="0" baseline="0" noProof="0">
                <a:ln>
                  <a:noFill/>
                </a:ln>
                <a:solidFill>
                  <a:sysClr val="windowText" lastClr="000000"/>
                </a:solidFill>
                <a:effectLst/>
                <a:uLnTx/>
                <a:uFillTx/>
                <a:latin typeface="Boehringer Forward Text"/>
                <a:ea typeface="+mn-ea"/>
                <a:cs typeface="Boehringer Forward Text"/>
              </a:rPr>
              <a:t> </a:t>
            </a:r>
            <a:r>
              <a:rPr kumimoji="0" sz="1200" i="0" u="none" strike="noStrike" kern="0" cap="none" spc="-25" normalizeH="0" baseline="0" noProof="0">
                <a:ln>
                  <a:noFill/>
                </a:ln>
                <a:solidFill>
                  <a:sysClr val="windowText" lastClr="000000"/>
                </a:solidFill>
                <a:effectLst/>
                <a:uLnTx/>
                <a:uFillTx/>
                <a:latin typeface="Boehringer Forward Text"/>
                <a:ea typeface="+mn-ea"/>
                <a:cs typeface="Boehringer Forward Text"/>
              </a:rPr>
              <a:t>mg </a:t>
            </a:r>
            <a:r>
              <a:rPr kumimoji="0" sz="1200" i="0" u="none" strike="noStrike" kern="0" cap="none" spc="0" normalizeH="0" baseline="0" noProof="0">
                <a:ln>
                  <a:noFill/>
                </a:ln>
                <a:solidFill>
                  <a:sysClr val="windowText" lastClr="000000"/>
                </a:solidFill>
                <a:effectLst/>
                <a:uLnTx/>
                <a:uFillTx/>
                <a:latin typeface="Boehringer Forward Text"/>
                <a:ea typeface="+mn-ea"/>
                <a:cs typeface="Boehringer Forward Text"/>
              </a:rPr>
              <a:t>bid</a:t>
            </a:r>
            <a:endParaRPr kumimoji="0" lang="en-US" sz="120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a:p>
            <a:pPr lvl="0">
              <a:spcAft>
                <a:spcPts val="600"/>
              </a:spcAft>
              <a:defRPr/>
            </a:pPr>
            <a:r>
              <a:rPr lang="en-US" altLang="zh-CN" sz="1200" kern="0">
                <a:latin typeface="Boehringer Forward Text"/>
                <a:cs typeface="Boehringer Forward Text"/>
              </a:rPr>
              <a:t>**</a:t>
            </a:r>
            <a:r>
              <a:rPr lang="en-US" altLang="zh-CN" sz="1200" kern="0" spc="-45">
                <a:latin typeface="Boehringer Forward Text"/>
                <a:cs typeface="Boehringer Forward Text"/>
              </a:rPr>
              <a:t> </a:t>
            </a:r>
            <a:r>
              <a:rPr lang="en-US" altLang="zh-CN" sz="1200" kern="0">
                <a:latin typeface="Boehringer Forward Text"/>
                <a:cs typeface="Boehringer Forward Text"/>
              </a:rPr>
              <a:t>Treatment</a:t>
            </a:r>
            <a:r>
              <a:rPr lang="en-US" altLang="zh-CN" sz="1200" kern="0" spc="-15">
                <a:latin typeface="Boehringer Forward Text"/>
                <a:cs typeface="Boehringer Forward Text"/>
              </a:rPr>
              <a:t> </a:t>
            </a:r>
            <a:r>
              <a:rPr lang="en-US" altLang="zh-CN" sz="1200" kern="0">
                <a:latin typeface="Boehringer Forward Text"/>
                <a:cs typeface="Boehringer Forward Text"/>
              </a:rPr>
              <a:t>Period</a:t>
            </a:r>
            <a:r>
              <a:rPr lang="en-US" altLang="zh-CN" sz="1200" kern="0" spc="-40">
                <a:latin typeface="Boehringer Forward Text"/>
                <a:cs typeface="Boehringer Forward Text"/>
              </a:rPr>
              <a:t> </a:t>
            </a:r>
            <a:r>
              <a:rPr lang="en-US" altLang="zh-CN" sz="1200" kern="0">
                <a:latin typeface="Boehringer Forward Text"/>
                <a:cs typeface="Boehringer Forward Text"/>
              </a:rPr>
              <a:t>B</a:t>
            </a:r>
            <a:r>
              <a:rPr lang="en-US" altLang="zh-CN" sz="1200" kern="0" spc="-30">
                <a:latin typeface="Boehringer Forward Text"/>
                <a:cs typeface="Boehringer Forward Text"/>
              </a:rPr>
              <a:t> </a:t>
            </a:r>
            <a:r>
              <a:rPr lang="en-US" altLang="zh-CN" sz="1200" kern="0" spc="-25">
                <a:latin typeface="Boehringer Forward Text"/>
                <a:cs typeface="Boehringer Forward Text"/>
              </a:rPr>
              <a:t>to </a:t>
            </a:r>
            <a:r>
              <a:rPr lang="en-US" altLang="zh-CN" sz="1200" kern="0">
                <a:latin typeface="Boehringer Forward Text"/>
                <a:cs typeface="Boehringer Forward Text"/>
              </a:rPr>
              <a:t>continue</a:t>
            </a:r>
            <a:r>
              <a:rPr lang="en-US" altLang="zh-CN" sz="1200" kern="0" spc="-40">
                <a:latin typeface="Boehringer Forward Text"/>
                <a:cs typeface="Boehringer Forward Text"/>
              </a:rPr>
              <a:t> </a:t>
            </a:r>
            <a:r>
              <a:rPr lang="en-US" altLang="zh-CN" sz="1200" kern="0">
                <a:latin typeface="Boehringer Forward Text"/>
                <a:cs typeface="Boehringer Forward Text"/>
              </a:rPr>
              <a:t>until</a:t>
            </a:r>
            <a:r>
              <a:rPr lang="en-US" altLang="zh-CN" sz="1200" kern="0" spc="-40">
                <a:latin typeface="Boehringer Forward Text"/>
                <a:cs typeface="Boehringer Forward Text"/>
              </a:rPr>
              <a:t> </a:t>
            </a:r>
            <a:r>
              <a:rPr lang="en-US" altLang="zh-CN" sz="1200" kern="0">
                <a:latin typeface="Boehringer Forward Text"/>
                <a:cs typeface="Boehringer Forward Text"/>
              </a:rPr>
              <a:t>at</a:t>
            </a:r>
            <a:r>
              <a:rPr lang="en-US" altLang="zh-CN" sz="1200" kern="0" spc="-15">
                <a:latin typeface="Boehringer Forward Text"/>
                <a:cs typeface="Boehringer Forward Text"/>
              </a:rPr>
              <a:t> </a:t>
            </a:r>
            <a:r>
              <a:rPr lang="en-US" altLang="zh-CN" sz="1200" kern="0">
                <a:latin typeface="Boehringer Forward Text"/>
                <a:cs typeface="Boehringer Forward Text"/>
              </a:rPr>
              <a:t>least</a:t>
            </a:r>
            <a:r>
              <a:rPr lang="en-US" altLang="zh-CN" sz="1200" kern="0" spc="-10">
                <a:latin typeface="Boehringer Forward Text"/>
                <a:cs typeface="Boehringer Forward Text"/>
              </a:rPr>
              <a:t> </a:t>
            </a:r>
            <a:r>
              <a:rPr lang="en-US" altLang="zh-CN" sz="1200" kern="0" spc="-25">
                <a:latin typeface="Boehringer Forward Text"/>
                <a:cs typeface="Boehringer Forward Text"/>
              </a:rPr>
              <a:t>283 </a:t>
            </a:r>
            <a:r>
              <a:rPr lang="en-US" altLang="zh-CN" sz="1200" kern="0">
                <a:latin typeface="Boehringer Forward Text"/>
                <a:cs typeface="Boehringer Forward Text"/>
              </a:rPr>
              <a:t>primary</a:t>
            </a:r>
            <a:r>
              <a:rPr lang="en-US" altLang="zh-CN" sz="1200" kern="0" spc="-45">
                <a:latin typeface="Boehringer Forward Text"/>
                <a:cs typeface="Boehringer Forward Text"/>
              </a:rPr>
              <a:t> </a:t>
            </a:r>
            <a:r>
              <a:rPr lang="en-US" altLang="zh-CN" sz="1200" kern="0">
                <a:latin typeface="Boehringer Forward Text"/>
                <a:cs typeface="Boehringer Forward Text"/>
              </a:rPr>
              <a:t>endpoints</a:t>
            </a:r>
            <a:r>
              <a:rPr lang="en-US" altLang="zh-CN" sz="1200" kern="0" spc="-60">
                <a:latin typeface="Boehringer Forward Text"/>
                <a:cs typeface="Boehringer Forward Text"/>
              </a:rPr>
              <a:t> </a:t>
            </a:r>
            <a:r>
              <a:rPr lang="en-US" altLang="zh-CN" sz="1200" kern="0">
                <a:latin typeface="Boehringer Forward Text"/>
                <a:cs typeface="Boehringer Forward Text"/>
              </a:rPr>
              <a:t>events</a:t>
            </a:r>
            <a:r>
              <a:rPr lang="en-US" altLang="zh-CN" sz="1200" kern="0" spc="-20">
                <a:latin typeface="Boehringer Forward Text"/>
                <a:cs typeface="Boehringer Forward Text"/>
              </a:rPr>
              <a:t> have </a:t>
            </a:r>
            <a:r>
              <a:rPr lang="en-US" altLang="zh-CN" sz="1200" kern="0">
                <a:latin typeface="Boehringer Forward Text"/>
                <a:cs typeface="Boehringer Forward Text"/>
              </a:rPr>
              <a:t>been</a:t>
            </a:r>
            <a:r>
              <a:rPr lang="en-US" altLang="zh-CN" sz="1200" kern="0" spc="-40">
                <a:latin typeface="Boehringer Forward Text"/>
                <a:cs typeface="Boehringer Forward Text"/>
              </a:rPr>
              <a:t> </a:t>
            </a:r>
            <a:r>
              <a:rPr lang="en-US" altLang="zh-CN" sz="1200" kern="0" spc="-10">
                <a:latin typeface="Boehringer Forward Text"/>
                <a:cs typeface="Boehringer Forward Text"/>
              </a:rPr>
              <a:t>achieved</a:t>
            </a:r>
            <a:r>
              <a:rPr lang="en-US" altLang="zh-CN" sz="1200" kern="0">
                <a:latin typeface="Boehringer Forward Text"/>
                <a:cs typeface="Boehringer Forward Text"/>
              </a:rPr>
              <a:t> </a:t>
            </a:r>
            <a:r>
              <a:rPr lang="en-US" altLang="zh-CN" sz="1200" kern="0" spc="-25">
                <a:latin typeface="Boehringer Forward Text"/>
                <a:cs typeface="Boehringer Forward Text"/>
              </a:rPr>
              <a:t>and </a:t>
            </a:r>
            <a:r>
              <a:rPr lang="en-US" altLang="zh-CN" sz="1200" kern="0">
                <a:latin typeface="Boehringer Forward Text"/>
                <a:cs typeface="Boehringer Forward Text"/>
              </a:rPr>
              <a:t>the</a:t>
            </a:r>
            <a:r>
              <a:rPr lang="en-US" altLang="zh-CN" sz="1200" kern="0" spc="-30">
                <a:latin typeface="Boehringer Forward Text"/>
                <a:cs typeface="Boehringer Forward Text"/>
              </a:rPr>
              <a:t> </a:t>
            </a:r>
            <a:r>
              <a:rPr lang="en-US" altLang="zh-CN" sz="1200" kern="0">
                <a:latin typeface="Boehringer Forward Text"/>
                <a:cs typeface="Boehringer Forward Text"/>
              </a:rPr>
              <a:t>last</a:t>
            </a:r>
            <a:r>
              <a:rPr lang="en-US" altLang="zh-CN" sz="1200" kern="0" spc="-30">
                <a:latin typeface="Boehringer Forward Text"/>
                <a:cs typeface="Boehringer Forward Text"/>
              </a:rPr>
              <a:t> </a:t>
            </a:r>
            <a:r>
              <a:rPr lang="en-US" altLang="zh-CN" sz="1200" kern="0">
                <a:latin typeface="Boehringer Forward Text"/>
                <a:cs typeface="Boehringer Forward Text"/>
              </a:rPr>
              <a:t>randomized</a:t>
            </a:r>
            <a:r>
              <a:rPr lang="en-US" altLang="zh-CN" sz="1200" kern="0" spc="-40">
                <a:latin typeface="Boehringer Forward Text"/>
                <a:cs typeface="Boehringer Forward Text"/>
              </a:rPr>
              <a:t> </a:t>
            </a:r>
            <a:r>
              <a:rPr lang="en-US" altLang="zh-CN" sz="1200" kern="0">
                <a:latin typeface="Boehringer Forward Text"/>
                <a:cs typeface="Boehringer Forward Text"/>
              </a:rPr>
              <a:t>patient</a:t>
            </a:r>
            <a:r>
              <a:rPr lang="en-US" altLang="zh-CN" sz="1200" kern="0" spc="-30">
                <a:latin typeface="Boehringer Forward Text"/>
                <a:cs typeface="Boehringer Forward Text"/>
              </a:rPr>
              <a:t> </a:t>
            </a:r>
            <a:r>
              <a:rPr lang="en-US" altLang="zh-CN" sz="1200" kern="0" spc="-25">
                <a:latin typeface="Boehringer Forward Text"/>
                <a:cs typeface="Boehringer Forward Text"/>
              </a:rPr>
              <a:t>on </a:t>
            </a:r>
            <a:r>
              <a:rPr lang="en-US" altLang="zh-CN" sz="1200" kern="0">
                <a:latin typeface="Boehringer Forward Text"/>
                <a:cs typeface="Boehringer Forward Text"/>
              </a:rPr>
              <a:t>trial</a:t>
            </a:r>
            <a:r>
              <a:rPr lang="en-US" altLang="zh-CN" sz="1200" kern="0" spc="-30">
                <a:latin typeface="Boehringer Forward Text"/>
                <a:cs typeface="Boehringer Forward Text"/>
              </a:rPr>
              <a:t> </a:t>
            </a:r>
            <a:r>
              <a:rPr lang="en-US" altLang="zh-CN" sz="1200" kern="0">
                <a:latin typeface="Boehringer Forward Text"/>
                <a:cs typeface="Boehringer Forward Text"/>
              </a:rPr>
              <a:t>treatment</a:t>
            </a:r>
            <a:r>
              <a:rPr lang="en-US" altLang="zh-CN" sz="1200" kern="0" spc="-40">
                <a:latin typeface="Boehringer Forward Text"/>
                <a:cs typeface="Boehringer Forward Text"/>
              </a:rPr>
              <a:t> </a:t>
            </a:r>
            <a:r>
              <a:rPr lang="en-US" altLang="zh-CN" sz="1200" kern="0">
                <a:latin typeface="Boehringer Forward Text"/>
                <a:cs typeface="Boehringer Forward Text"/>
              </a:rPr>
              <a:t>reaches</a:t>
            </a:r>
            <a:r>
              <a:rPr lang="en-US" altLang="zh-CN" sz="1200" kern="0" spc="-20">
                <a:latin typeface="Boehringer Forward Text"/>
                <a:cs typeface="Boehringer Forward Text"/>
              </a:rPr>
              <a:t> </a:t>
            </a:r>
            <a:r>
              <a:rPr lang="en-US" altLang="zh-CN" sz="1200" kern="0">
                <a:latin typeface="Boehringer Forward Text"/>
                <a:cs typeface="Boehringer Forward Text"/>
              </a:rPr>
              <a:t>52</a:t>
            </a:r>
            <a:r>
              <a:rPr lang="en-US" altLang="zh-CN" sz="1200" kern="0" spc="-40">
                <a:latin typeface="Boehringer Forward Text"/>
                <a:cs typeface="Boehringer Forward Text"/>
              </a:rPr>
              <a:t> </a:t>
            </a:r>
            <a:r>
              <a:rPr lang="en-US" altLang="zh-CN" sz="1200" kern="0" spc="-20">
                <a:latin typeface="Boehringer Forward Text"/>
                <a:cs typeface="Boehringer Forward Text"/>
              </a:rPr>
              <a:t>weeks </a:t>
            </a:r>
            <a:r>
              <a:rPr lang="en-US" altLang="zh-CN" sz="1200" kern="0">
                <a:latin typeface="Boehringer Forward Text"/>
                <a:cs typeface="Boehringer Forward Text"/>
              </a:rPr>
              <a:t>of</a:t>
            </a:r>
            <a:r>
              <a:rPr lang="en-US" altLang="zh-CN" sz="1200" kern="0" spc="-15">
                <a:latin typeface="Boehringer Forward Text"/>
                <a:cs typeface="Boehringer Forward Text"/>
              </a:rPr>
              <a:t> </a:t>
            </a:r>
            <a:r>
              <a:rPr lang="en-US" altLang="zh-CN" sz="1200" kern="0" spc="-10">
                <a:latin typeface="Boehringer Forward Text"/>
                <a:cs typeface="Boehringer Forward Text"/>
              </a:rPr>
              <a:t>treatment</a:t>
            </a:r>
            <a:endParaRPr lang="en-US" altLang="zh-CN" sz="1200" kern="0">
              <a:latin typeface="Boehringer Forward Text"/>
              <a:cs typeface="Boehringer Forward Text"/>
            </a:endParaRPr>
          </a:p>
          <a:p>
            <a:pPr marL="33655" marR="27940" lvl="0" indent="0" defTabSz="914400" rtl="0" eaLnBrk="1" fontAlgn="auto" latinLnBrk="0" hangingPunct="1">
              <a:lnSpc>
                <a:spcPct val="100000"/>
              </a:lnSpc>
              <a:spcBef>
                <a:spcPts val="100"/>
              </a:spcBef>
              <a:spcAft>
                <a:spcPts val="0"/>
              </a:spcAft>
              <a:buClrTx/>
              <a:buSzTx/>
              <a:buFontTx/>
              <a:buNone/>
              <a:tabLst/>
              <a:defRPr/>
            </a:pPr>
            <a:endParaRPr kumimoji="0" sz="12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60" name="object 60"/>
          <p:cNvSpPr txBox="1"/>
          <p:nvPr/>
        </p:nvSpPr>
        <p:spPr>
          <a:xfrm>
            <a:off x="4303901" y="3872072"/>
            <a:ext cx="276860"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169</a:t>
            </a:r>
            <a:endPar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61" name="object 61"/>
          <p:cNvSpPr txBox="1"/>
          <p:nvPr/>
        </p:nvSpPr>
        <p:spPr>
          <a:xfrm>
            <a:off x="4296042" y="4114686"/>
            <a:ext cx="27559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0" cap="none" spc="-25" normalizeH="0" baseline="0" noProof="0">
                <a:ln>
                  <a:noFill/>
                </a:ln>
                <a:solidFill>
                  <a:sysClr val="windowText" lastClr="000000"/>
                </a:solidFill>
                <a:effectLst/>
                <a:uLnTx/>
                <a:uFillTx/>
                <a:latin typeface="BISansBa"/>
                <a:ea typeface="+mn-ea"/>
                <a:cs typeface="BISansBa"/>
              </a:rPr>
              <a:t>24</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grpSp>
        <p:nvGrpSpPr>
          <p:cNvPr id="62" name="object 62"/>
          <p:cNvGrpSpPr/>
          <p:nvPr/>
        </p:nvGrpSpPr>
        <p:grpSpPr>
          <a:xfrm>
            <a:off x="2571767" y="3606221"/>
            <a:ext cx="6941184" cy="1073150"/>
            <a:chOff x="1884464" y="2815666"/>
            <a:chExt cx="6941184" cy="1073150"/>
          </a:xfrm>
        </p:grpSpPr>
        <p:sp>
          <p:nvSpPr>
            <p:cNvPr id="63" name="object 63"/>
            <p:cNvSpPr/>
            <p:nvPr/>
          </p:nvSpPr>
          <p:spPr>
            <a:xfrm>
              <a:off x="4842923" y="2828366"/>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4" name="object 64"/>
            <p:cNvSpPr/>
            <p:nvPr/>
          </p:nvSpPr>
          <p:spPr>
            <a:xfrm>
              <a:off x="5739557" y="2830692"/>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5" name="object 65"/>
            <p:cNvSpPr/>
            <p:nvPr/>
          </p:nvSpPr>
          <p:spPr>
            <a:xfrm>
              <a:off x="6446553" y="2853101"/>
              <a:ext cx="0" cy="238760"/>
            </a:xfrm>
            <a:custGeom>
              <a:avLst/>
              <a:gdLst/>
              <a:ahLst/>
              <a:cxnLst/>
              <a:rect l="l" t="t" r="r" b="b"/>
              <a:pathLst>
                <a:path h="238760">
                  <a:moveTo>
                    <a:pt x="0" y="0"/>
                  </a:moveTo>
                  <a:lnTo>
                    <a:pt x="0" y="238252"/>
                  </a:lnTo>
                </a:path>
              </a:pathLst>
            </a:custGeom>
            <a:ln w="25400">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66" name="object 66"/>
            <p:cNvPicPr/>
            <p:nvPr/>
          </p:nvPicPr>
          <p:blipFill>
            <a:blip r:embed="rId2" cstate="print"/>
            <a:stretch>
              <a:fillRect/>
            </a:stretch>
          </p:blipFill>
          <p:spPr>
            <a:xfrm>
              <a:off x="3134410" y="2869564"/>
              <a:ext cx="180337" cy="136518"/>
            </a:xfrm>
            <a:prstGeom prst="rect">
              <a:avLst/>
            </a:prstGeom>
          </p:spPr>
        </p:pic>
        <p:pic>
          <p:nvPicPr>
            <p:cNvPr id="67" name="object 67"/>
            <p:cNvPicPr/>
            <p:nvPr/>
          </p:nvPicPr>
          <p:blipFill>
            <a:blip r:embed="rId2" cstate="print"/>
            <a:stretch>
              <a:fillRect/>
            </a:stretch>
          </p:blipFill>
          <p:spPr>
            <a:xfrm>
              <a:off x="4219981" y="2876600"/>
              <a:ext cx="180335" cy="136519"/>
            </a:xfrm>
            <a:prstGeom prst="rect">
              <a:avLst/>
            </a:prstGeom>
          </p:spPr>
        </p:pic>
        <p:pic>
          <p:nvPicPr>
            <p:cNvPr id="68" name="object 68"/>
            <p:cNvPicPr/>
            <p:nvPr/>
          </p:nvPicPr>
          <p:blipFill>
            <a:blip r:embed="rId2" cstate="print"/>
            <a:stretch>
              <a:fillRect/>
            </a:stretch>
          </p:blipFill>
          <p:spPr>
            <a:xfrm>
              <a:off x="5287519" y="2844903"/>
              <a:ext cx="180338" cy="136523"/>
            </a:xfrm>
            <a:prstGeom prst="rect">
              <a:avLst/>
            </a:prstGeom>
          </p:spPr>
        </p:pic>
        <p:pic>
          <p:nvPicPr>
            <p:cNvPr id="69" name="object 69"/>
            <p:cNvPicPr/>
            <p:nvPr/>
          </p:nvPicPr>
          <p:blipFill>
            <a:blip r:embed="rId2" cstate="print"/>
            <a:stretch>
              <a:fillRect/>
            </a:stretch>
          </p:blipFill>
          <p:spPr>
            <a:xfrm>
              <a:off x="5988786" y="2848081"/>
              <a:ext cx="180338" cy="136519"/>
            </a:xfrm>
            <a:prstGeom prst="rect">
              <a:avLst/>
            </a:prstGeom>
          </p:spPr>
        </p:pic>
        <p:pic>
          <p:nvPicPr>
            <p:cNvPr id="70" name="object 70"/>
            <p:cNvPicPr/>
            <p:nvPr/>
          </p:nvPicPr>
          <p:blipFill>
            <a:blip r:embed="rId3" cstate="print"/>
            <a:stretch>
              <a:fillRect/>
            </a:stretch>
          </p:blipFill>
          <p:spPr>
            <a:xfrm>
              <a:off x="8657073" y="3297583"/>
              <a:ext cx="168313" cy="133486"/>
            </a:xfrm>
            <a:prstGeom prst="rect">
              <a:avLst/>
            </a:prstGeom>
          </p:spPr>
        </p:pic>
        <p:sp>
          <p:nvSpPr>
            <p:cNvPr id="71" name="object 71"/>
            <p:cNvSpPr/>
            <p:nvPr/>
          </p:nvSpPr>
          <p:spPr>
            <a:xfrm>
              <a:off x="1884464" y="3577374"/>
              <a:ext cx="405130" cy="311785"/>
            </a:xfrm>
            <a:custGeom>
              <a:avLst/>
              <a:gdLst/>
              <a:ahLst/>
              <a:cxnLst/>
              <a:rect l="l" t="t" r="r" b="b"/>
              <a:pathLst>
                <a:path w="405130" h="311785">
                  <a:moveTo>
                    <a:pt x="404545" y="0"/>
                  </a:moveTo>
                  <a:lnTo>
                    <a:pt x="0" y="0"/>
                  </a:lnTo>
                  <a:lnTo>
                    <a:pt x="0" y="311162"/>
                  </a:lnTo>
                  <a:lnTo>
                    <a:pt x="404545" y="311162"/>
                  </a:lnTo>
                  <a:lnTo>
                    <a:pt x="404545"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72" name="object 72"/>
          <p:cNvSpPr txBox="1"/>
          <p:nvPr/>
        </p:nvSpPr>
        <p:spPr>
          <a:xfrm>
            <a:off x="2654091" y="4453311"/>
            <a:ext cx="23812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±7d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73" name="object 73"/>
          <p:cNvSpPr/>
          <p:nvPr/>
        </p:nvSpPr>
        <p:spPr>
          <a:xfrm>
            <a:off x="3151623" y="4371586"/>
            <a:ext cx="405130" cy="311785"/>
          </a:xfrm>
          <a:custGeom>
            <a:avLst/>
            <a:gdLst/>
            <a:ahLst/>
            <a:cxnLst/>
            <a:rect l="l" t="t" r="r" b="b"/>
            <a:pathLst>
              <a:path w="405130" h="311785">
                <a:moveTo>
                  <a:pt x="404545" y="0"/>
                </a:moveTo>
                <a:lnTo>
                  <a:pt x="0" y="0"/>
                </a:lnTo>
                <a:lnTo>
                  <a:pt x="0" y="311162"/>
                </a:lnTo>
                <a:lnTo>
                  <a:pt x="404545" y="311162"/>
                </a:lnTo>
                <a:lnTo>
                  <a:pt x="404545"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4" name="object 74"/>
          <p:cNvSpPr txBox="1"/>
          <p:nvPr/>
        </p:nvSpPr>
        <p:spPr>
          <a:xfrm>
            <a:off x="3233947" y="4456968"/>
            <a:ext cx="23812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±7d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75" name="object 75"/>
          <p:cNvSpPr/>
          <p:nvPr/>
        </p:nvSpPr>
        <p:spPr>
          <a:xfrm>
            <a:off x="4137296" y="4369859"/>
            <a:ext cx="540385" cy="311785"/>
          </a:xfrm>
          <a:custGeom>
            <a:avLst/>
            <a:gdLst/>
            <a:ahLst/>
            <a:cxnLst/>
            <a:rect l="l" t="t" r="r" b="b"/>
            <a:pathLst>
              <a:path w="540385" h="311785">
                <a:moveTo>
                  <a:pt x="539902" y="0"/>
                </a:moveTo>
                <a:lnTo>
                  <a:pt x="0" y="0"/>
                </a:lnTo>
                <a:lnTo>
                  <a:pt x="0" y="311162"/>
                </a:lnTo>
                <a:lnTo>
                  <a:pt x="539902" y="311162"/>
                </a:lnTo>
                <a:lnTo>
                  <a:pt x="539902"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6" name="object 76"/>
          <p:cNvSpPr txBox="1"/>
          <p:nvPr/>
        </p:nvSpPr>
        <p:spPr>
          <a:xfrm>
            <a:off x="4286852" y="4455234"/>
            <a:ext cx="23812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±7d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77" name="object 77"/>
          <p:cNvSpPr/>
          <p:nvPr/>
        </p:nvSpPr>
        <p:spPr>
          <a:xfrm>
            <a:off x="5225444" y="4368424"/>
            <a:ext cx="540385" cy="330200"/>
          </a:xfrm>
          <a:custGeom>
            <a:avLst/>
            <a:gdLst/>
            <a:ahLst/>
            <a:cxnLst/>
            <a:rect l="l" t="t" r="r" b="b"/>
            <a:pathLst>
              <a:path w="540385" h="330200">
                <a:moveTo>
                  <a:pt x="539902" y="0"/>
                </a:moveTo>
                <a:lnTo>
                  <a:pt x="0" y="0"/>
                </a:lnTo>
                <a:lnTo>
                  <a:pt x="0" y="329577"/>
                </a:lnTo>
                <a:lnTo>
                  <a:pt x="539902" y="329577"/>
                </a:lnTo>
                <a:lnTo>
                  <a:pt x="539902"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8" name="object 78"/>
          <p:cNvSpPr txBox="1"/>
          <p:nvPr/>
        </p:nvSpPr>
        <p:spPr>
          <a:xfrm>
            <a:off x="5374993" y="4463016"/>
            <a:ext cx="23812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±7d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79" name="object 79"/>
          <p:cNvSpPr/>
          <p:nvPr/>
        </p:nvSpPr>
        <p:spPr>
          <a:xfrm>
            <a:off x="6145877" y="4354797"/>
            <a:ext cx="1264285" cy="311150"/>
          </a:xfrm>
          <a:custGeom>
            <a:avLst/>
            <a:gdLst/>
            <a:ahLst/>
            <a:cxnLst/>
            <a:rect l="l" t="t" r="r" b="b"/>
            <a:pathLst>
              <a:path w="1264284" h="311150">
                <a:moveTo>
                  <a:pt x="539902" y="47117"/>
                </a:moveTo>
                <a:lnTo>
                  <a:pt x="0" y="47117"/>
                </a:lnTo>
                <a:lnTo>
                  <a:pt x="0" y="298259"/>
                </a:lnTo>
                <a:lnTo>
                  <a:pt x="539902" y="298259"/>
                </a:lnTo>
                <a:lnTo>
                  <a:pt x="539902" y="47117"/>
                </a:lnTo>
                <a:close/>
              </a:path>
              <a:path w="1264284" h="311150">
                <a:moveTo>
                  <a:pt x="1264196" y="0"/>
                </a:moveTo>
                <a:lnTo>
                  <a:pt x="682294" y="0"/>
                </a:lnTo>
                <a:lnTo>
                  <a:pt x="682294" y="310781"/>
                </a:lnTo>
                <a:lnTo>
                  <a:pt x="1264196" y="310781"/>
                </a:lnTo>
                <a:lnTo>
                  <a:pt x="1264196"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0" name="object 80"/>
          <p:cNvSpPr txBox="1"/>
          <p:nvPr/>
        </p:nvSpPr>
        <p:spPr>
          <a:xfrm>
            <a:off x="6998660" y="4439981"/>
            <a:ext cx="23812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±7d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81" name="object 81"/>
          <p:cNvSpPr txBox="1"/>
          <p:nvPr/>
        </p:nvSpPr>
        <p:spPr>
          <a:xfrm>
            <a:off x="8740757" y="4564069"/>
            <a:ext cx="30988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0" normalizeH="0" baseline="0" noProof="0">
                <a:ln>
                  <a:noFill/>
                </a:ln>
                <a:solidFill>
                  <a:sysClr val="windowText" lastClr="000000"/>
                </a:solidFill>
                <a:effectLst/>
                <a:uLnTx/>
                <a:uFillTx/>
                <a:latin typeface="Boehringer Forward Text"/>
                <a:ea typeface="+mn-ea"/>
                <a:cs typeface="Boehringer Forward Text"/>
              </a:rPr>
              <a:t>±14d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82" name="object 82"/>
          <p:cNvSpPr txBox="1"/>
          <p:nvPr/>
        </p:nvSpPr>
        <p:spPr>
          <a:xfrm>
            <a:off x="3225919" y="4119371"/>
            <a:ext cx="79819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534670" algn="l"/>
              </a:tabLst>
              <a:defRPr/>
            </a:pPr>
            <a:r>
              <a:rPr kumimoji="0" sz="1800" b="0" i="0" u="none" strike="noStrike" kern="0" cap="none" spc="-25" normalizeH="0" baseline="0" noProof="0">
                <a:ln>
                  <a:noFill/>
                </a:ln>
                <a:solidFill>
                  <a:sysClr val="windowText" lastClr="000000"/>
                </a:solidFill>
                <a:effectLst/>
                <a:uLnTx/>
                <a:uFillTx/>
                <a:latin typeface="BISansBa"/>
                <a:ea typeface="+mn-ea"/>
                <a:cs typeface="BISansBa"/>
              </a:rPr>
              <a:t>12</a:t>
            </a:r>
            <a:r>
              <a:rPr kumimoji="0" sz="1800" b="0" i="0" u="none" strike="noStrike" kern="0" cap="none" spc="0" normalizeH="0" baseline="0" noProof="0">
                <a:ln>
                  <a:noFill/>
                </a:ln>
                <a:solidFill>
                  <a:sysClr val="windowText" lastClr="000000"/>
                </a:solidFill>
                <a:effectLst/>
                <a:uLnTx/>
                <a:uFillTx/>
                <a:latin typeface="BISansBa"/>
                <a:ea typeface="+mn-ea"/>
                <a:cs typeface="BISansBa"/>
              </a:rPr>
              <a:t>	</a:t>
            </a:r>
            <a:r>
              <a:rPr kumimoji="0" sz="1800" b="0" i="0" u="none" strike="noStrike" kern="0" cap="none" spc="-25" normalizeH="0" baseline="0" noProof="0">
                <a:ln>
                  <a:noFill/>
                </a:ln>
                <a:solidFill>
                  <a:sysClr val="windowText" lastClr="000000"/>
                </a:solidFill>
                <a:effectLst/>
                <a:uLnTx/>
                <a:uFillTx/>
                <a:latin typeface="BISansBa"/>
                <a:ea typeface="+mn-ea"/>
                <a:cs typeface="BISansBa"/>
              </a:rPr>
              <a:t>18</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83" name="object 83"/>
          <p:cNvSpPr txBox="1"/>
          <p:nvPr/>
        </p:nvSpPr>
        <p:spPr>
          <a:xfrm>
            <a:off x="3850227" y="3364600"/>
            <a:ext cx="65722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519430" algn="l"/>
              </a:tabLst>
              <a:defRPr/>
            </a:pPr>
            <a:r>
              <a:rPr kumimoji="0" sz="1800" b="0" i="0" u="none" strike="noStrike" kern="0" cap="none" spc="-50" normalizeH="0" baseline="0" noProof="0">
                <a:ln>
                  <a:noFill/>
                </a:ln>
                <a:solidFill>
                  <a:sysClr val="windowText" lastClr="000000"/>
                </a:solidFill>
                <a:effectLst/>
                <a:uLnTx/>
                <a:uFillTx/>
                <a:latin typeface="BISansBa"/>
                <a:ea typeface="+mn-ea"/>
                <a:cs typeface="BISansBa"/>
              </a:rPr>
              <a:t>5</a:t>
            </a:r>
            <a:r>
              <a:rPr kumimoji="0" sz="1800" b="0" i="0" u="none" strike="noStrike" kern="0" cap="none" spc="0" normalizeH="0" baseline="0" noProof="0">
                <a:ln>
                  <a:noFill/>
                </a:ln>
                <a:solidFill>
                  <a:sysClr val="windowText" lastClr="000000"/>
                </a:solidFill>
                <a:effectLst/>
                <a:uLnTx/>
                <a:uFillTx/>
                <a:latin typeface="BISansBa"/>
                <a:ea typeface="+mn-ea"/>
                <a:cs typeface="BISansBa"/>
              </a:rPr>
              <a:t>	</a:t>
            </a:r>
            <a:r>
              <a:rPr kumimoji="0" sz="1800" b="0" i="0" u="none" strike="noStrike" kern="0" cap="none" spc="-50" normalizeH="0" baseline="0" noProof="0">
                <a:ln>
                  <a:noFill/>
                </a:ln>
                <a:solidFill>
                  <a:sysClr val="windowText" lastClr="000000"/>
                </a:solidFill>
                <a:effectLst/>
                <a:uLnTx/>
                <a:uFillTx/>
                <a:latin typeface="BISansBa"/>
                <a:ea typeface="+mn-ea"/>
                <a:cs typeface="BISansBa"/>
              </a:rPr>
              <a:t>6</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84" name="object 84"/>
          <p:cNvSpPr txBox="1"/>
          <p:nvPr/>
        </p:nvSpPr>
        <p:spPr>
          <a:xfrm>
            <a:off x="4916875" y="3362772"/>
            <a:ext cx="15049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0" cap="none" spc="-50" normalizeH="0" baseline="0" noProof="0">
                <a:ln>
                  <a:noFill/>
                </a:ln>
                <a:solidFill>
                  <a:sysClr val="windowText" lastClr="000000"/>
                </a:solidFill>
                <a:effectLst/>
                <a:uLnTx/>
                <a:uFillTx/>
                <a:latin typeface="BISansBa"/>
                <a:ea typeface="+mn-ea"/>
                <a:cs typeface="BISansBa"/>
              </a:rPr>
              <a:t>7</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85" name="object 85"/>
          <p:cNvSpPr txBox="1"/>
          <p:nvPr/>
        </p:nvSpPr>
        <p:spPr>
          <a:xfrm>
            <a:off x="5993352" y="3352714"/>
            <a:ext cx="15049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0" cap="none" spc="-50" normalizeH="0" baseline="0" noProof="0">
                <a:ln>
                  <a:noFill/>
                </a:ln>
                <a:solidFill>
                  <a:sysClr val="windowText" lastClr="000000"/>
                </a:solidFill>
                <a:effectLst/>
                <a:uLnTx/>
                <a:uFillTx/>
                <a:latin typeface="BISansBa"/>
                <a:ea typeface="+mn-ea"/>
                <a:cs typeface="BISansBa"/>
              </a:rPr>
              <a:t>9</a:t>
            </a:r>
            <a:endParaRPr kumimoji="0" sz="1800" b="0" i="0" u="none" strike="noStrike" kern="0" cap="none" spc="0" normalizeH="0" baseline="0" noProof="0">
              <a:ln>
                <a:noFill/>
              </a:ln>
              <a:solidFill>
                <a:sysClr val="windowText" lastClr="000000"/>
              </a:solidFill>
              <a:effectLst/>
              <a:uLnTx/>
              <a:uFillTx/>
              <a:latin typeface="BISansBa"/>
              <a:ea typeface="+mn-ea"/>
              <a:cs typeface="BISansBa"/>
            </a:endParaRPr>
          </a:p>
        </p:txBody>
      </p:sp>
      <p:sp>
        <p:nvSpPr>
          <p:cNvPr id="86" name="object 86"/>
          <p:cNvSpPr/>
          <p:nvPr/>
        </p:nvSpPr>
        <p:spPr>
          <a:xfrm>
            <a:off x="3695463" y="4369224"/>
            <a:ext cx="405130" cy="311785"/>
          </a:xfrm>
          <a:custGeom>
            <a:avLst/>
            <a:gdLst/>
            <a:ahLst/>
            <a:cxnLst/>
            <a:rect l="l" t="t" r="r" b="b"/>
            <a:pathLst>
              <a:path w="405129" h="311785">
                <a:moveTo>
                  <a:pt x="404545" y="0"/>
                </a:moveTo>
                <a:lnTo>
                  <a:pt x="0" y="0"/>
                </a:lnTo>
                <a:lnTo>
                  <a:pt x="0" y="311162"/>
                </a:lnTo>
                <a:lnTo>
                  <a:pt x="404545" y="311162"/>
                </a:lnTo>
                <a:lnTo>
                  <a:pt x="404545"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7" name="object 87"/>
          <p:cNvSpPr txBox="1"/>
          <p:nvPr/>
        </p:nvSpPr>
        <p:spPr>
          <a:xfrm>
            <a:off x="3777778" y="4454605"/>
            <a:ext cx="23812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±2d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88" name="object 88"/>
          <p:cNvSpPr/>
          <p:nvPr/>
        </p:nvSpPr>
        <p:spPr>
          <a:xfrm>
            <a:off x="4735465" y="4377631"/>
            <a:ext cx="405130" cy="311785"/>
          </a:xfrm>
          <a:custGeom>
            <a:avLst/>
            <a:gdLst/>
            <a:ahLst/>
            <a:cxnLst/>
            <a:rect l="l" t="t" r="r" b="b"/>
            <a:pathLst>
              <a:path w="405129" h="311785">
                <a:moveTo>
                  <a:pt x="404545" y="0"/>
                </a:moveTo>
                <a:lnTo>
                  <a:pt x="0" y="0"/>
                </a:lnTo>
                <a:lnTo>
                  <a:pt x="0" y="311162"/>
                </a:lnTo>
                <a:lnTo>
                  <a:pt x="404545" y="311162"/>
                </a:lnTo>
                <a:lnTo>
                  <a:pt x="404545"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9" name="object 89"/>
          <p:cNvSpPr txBox="1"/>
          <p:nvPr/>
        </p:nvSpPr>
        <p:spPr>
          <a:xfrm>
            <a:off x="4817788" y="4463016"/>
            <a:ext cx="23812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±2d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90" name="object 90"/>
          <p:cNvSpPr/>
          <p:nvPr/>
        </p:nvSpPr>
        <p:spPr>
          <a:xfrm>
            <a:off x="5837216" y="4372323"/>
            <a:ext cx="1120140" cy="311785"/>
          </a:xfrm>
          <a:custGeom>
            <a:avLst/>
            <a:gdLst/>
            <a:ahLst/>
            <a:cxnLst/>
            <a:rect l="l" t="t" r="r" b="b"/>
            <a:pathLst>
              <a:path w="1120139" h="311785">
                <a:moveTo>
                  <a:pt x="404545" y="368"/>
                </a:moveTo>
                <a:lnTo>
                  <a:pt x="0" y="368"/>
                </a:lnTo>
                <a:lnTo>
                  <a:pt x="0" y="311531"/>
                </a:lnTo>
                <a:lnTo>
                  <a:pt x="404545" y="311531"/>
                </a:lnTo>
                <a:lnTo>
                  <a:pt x="404545" y="368"/>
                </a:lnTo>
                <a:close/>
              </a:path>
              <a:path w="1120139" h="311785">
                <a:moveTo>
                  <a:pt x="1119682" y="0"/>
                </a:moveTo>
                <a:lnTo>
                  <a:pt x="715149" y="0"/>
                </a:lnTo>
                <a:lnTo>
                  <a:pt x="715149" y="311162"/>
                </a:lnTo>
                <a:lnTo>
                  <a:pt x="1119682" y="311162"/>
                </a:lnTo>
                <a:lnTo>
                  <a:pt x="1119682"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1" name="object 91"/>
          <p:cNvSpPr txBox="1"/>
          <p:nvPr/>
        </p:nvSpPr>
        <p:spPr>
          <a:xfrm>
            <a:off x="5919539" y="4458064"/>
            <a:ext cx="95313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387985" algn="l"/>
              </a:tabLst>
              <a:defRPr/>
            </a:pP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±2d</a:t>
            </a:r>
            <a:r>
              <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rPr>
              <a:t>	±7d</a:t>
            </a:r>
            <a:r>
              <a:rPr kumimoji="0" sz="900" b="0" i="0" u="none" strike="noStrike" kern="0" cap="none" spc="295" normalizeH="0" baseline="0" noProof="0">
                <a:ln>
                  <a:noFill/>
                </a:ln>
                <a:solidFill>
                  <a:sysClr val="windowText" lastClr="000000"/>
                </a:solidFill>
                <a:effectLst/>
                <a:uLnTx/>
                <a:uFillTx/>
                <a:latin typeface="Boehringer Forward Text"/>
                <a:ea typeface="+mn-ea"/>
                <a:cs typeface="Boehringer Forward Text"/>
              </a:rPr>
              <a:t>  </a:t>
            </a:r>
            <a:r>
              <a:rPr kumimoji="0" sz="90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±2d</a:t>
            </a:r>
            <a:endParaRPr kumimoji="0" sz="90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92" name="object 92"/>
          <p:cNvSpPr txBox="1"/>
          <p:nvPr/>
        </p:nvSpPr>
        <p:spPr>
          <a:xfrm>
            <a:off x="3750112" y="3873256"/>
            <a:ext cx="276860"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127</a:t>
            </a:r>
            <a:endPar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93" name="object 93"/>
          <p:cNvSpPr txBox="1"/>
          <p:nvPr/>
        </p:nvSpPr>
        <p:spPr>
          <a:xfrm>
            <a:off x="4845807" y="3864270"/>
            <a:ext cx="276860"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211</a:t>
            </a:r>
            <a:endPar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p:txBody>
      </p:sp>
      <p:sp>
        <p:nvSpPr>
          <p:cNvPr id="94" name="object 94"/>
          <p:cNvSpPr txBox="1"/>
          <p:nvPr/>
        </p:nvSpPr>
        <p:spPr>
          <a:xfrm>
            <a:off x="6276645" y="3366634"/>
            <a:ext cx="99441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0" i="0" u="none" strike="noStrike" kern="0" cap="none" spc="0" normalizeH="0" baseline="0" noProof="0">
                <a:ln>
                  <a:noFill/>
                </a:ln>
                <a:solidFill>
                  <a:sysClr val="windowText" lastClr="000000"/>
                </a:solidFill>
                <a:effectLst/>
                <a:uLnTx/>
                <a:uFillTx/>
                <a:latin typeface="BISansBa"/>
                <a:ea typeface="+mn-ea"/>
                <a:cs typeface="BISansBa"/>
              </a:rPr>
              <a:t>10</a:t>
            </a:r>
            <a:r>
              <a:rPr kumimoji="0" sz="1800" b="0" i="0" u="none" strike="noStrike" kern="0" cap="none" spc="390" normalizeH="0" baseline="0" noProof="0">
                <a:ln>
                  <a:noFill/>
                </a:ln>
                <a:solidFill>
                  <a:sysClr val="windowText" lastClr="000000"/>
                </a:solidFill>
                <a:effectLst/>
                <a:uLnTx/>
                <a:uFillTx/>
                <a:latin typeface="BISansBa"/>
                <a:ea typeface="+mn-ea"/>
                <a:cs typeface="BISansBa"/>
              </a:rPr>
              <a:t> </a:t>
            </a:r>
            <a:r>
              <a:rPr kumimoji="0" sz="2700" b="0" i="0" u="none" strike="noStrike" kern="0" cap="none" spc="0" normalizeH="0" baseline="3086" noProof="0">
                <a:ln>
                  <a:noFill/>
                </a:ln>
                <a:solidFill>
                  <a:sysClr val="windowText" lastClr="000000"/>
                </a:solidFill>
                <a:effectLst/>
                <a:uLnTx/>
                <a:uFillTx/>
                <a:latin typeface="BISansBa"/>
                <a:ea typeface="+mn-ea"/>
                <a:cs typeface="BISansBa"/>
              </a:rPr>
              <a:t>11</a:t>
            </a:r>
            <a:r>
              <a:rPr kumimoji="0" sz="2700" b="0" i="0" u="none" strike="noStrike" kern="0" cap="none" spc="712" normalizeH="0" baseline="3086" noProof="0">
                <a:ln>
                  <a:noFill/>
                </a:ln>
                <a:solidFill>
                  <a:sysClr val="windowText" lastClr="000000"/>
                </a:solidFill>
                <a:effectLst/>
                <a:uLnTx/>
                <a:uFillTx/>
                <a:latin typeface="BISansBa"/>
                <a:ea typeface="+mn-ea"/>
                <a:cs typeface="BISansBa"/>
              </a:rPr>
              <a:t> </a:t>
            </a:r>
            <a:r>
              <a:rPr kumimoji="0" sz="2700" b="0" i="0" u="none" strike="noStrike" kern="0" cap="none" spc="-37" normalizeH="0" baseline="1543" noProof="0">
                <a:ln>
                  <a:noFill/>
                </a:ln>
                <a:solidFill>
                  <a:sysClr val="windowText" lastClr="000000"/>
                </a:solidFill>
                <a:effectLst/>
                <a:uLnTx/>
                <a:uFillTx/>
                <a:latin typeface="BISansBa"/>
                <a:ea typeface="+mn-ea"/>
                <a:cs typeface="BISansBa"/>
              </a:rPr>
              <a:t>12</a:t>
            </a:r>
            <a:endParaRPr kumimoji="0" sz="2700" b="0" i="0" u="none" strike="noStrike" kern="0" cap="none" spc="0" normalizeH="0" baseline="1543" noProof="0">
              <a:ln>
                <a:noFill/>
              </a:ln>
              <a:solidFill>
                <a:sysClr val="windowText" lastClr="000000"/>
              </a:solidFill>
              <a:effectLst/>
              <a:uLnTx/>
              <a:uFillTx/>
              <a:latin typeface="BISansBa"/>
              <a:ea typeface="+mn-ea"/>
              <a:cs typeface="BISansBa"/>
            </a:endParaRPr>
          </a:p>
        </p:txBody>
      </p:sp>
      <p:sp>
        <p:nvSpPr>
          <p:cNvPr id="95" name="object 95"/>
          <p:cNvSpPr txBox="1"/>
          <p:nvPr/>
        </p:nvSpPr>
        <p:spPr>
          <a:xfrm>
            <a:off x="4835722" y="3823720"/>
            <a:ext cx="2432685" cy="604520"/>
          </a:xfrm>
          <a:prstGeom prst="rect">
            <a:avLst/>
          </a:prstGeom>
        </p:spPr>
        <p:txBody>
          <a:bodyPr vert="horz" wrap="square" lIns="0" tIns="66040" rIns="0" bIns="0" rtlCol="0">
            <a:spAutoFit/>
          </a:bodyPr>
          <a:lstStyle/>
          <a:p>
            <a:pPr marL="582295" marR="0" lvl="0" indent="0" algn="l" defTabSz="914400" rtl="0" eaLnBrk="1" fontAlgn="auto" latinLnBrk="0" hangingPunct="1">
              <a:lnSpc>
                <a:spcPct val="100000"/>
              </a:lnSpc>
              <a:spcBef>
                <a:spcPts val="520"/>
              </a:spcBef>
              <a:spcAft>
                <a:spcPts val="0"/>
              </a:spcAft>
              <a:buClrTx/>
              <a:buSzTx/>
              <a:buFontTx/>
              <a:buNone/>
              <a:tabLst>
                <a:tab pos="1113155" algn="l"/>
              </a:tabLst>
              <a:defRPr/>
            </a:pPr>
            <a:r>
              <a:rPr kumimoji="0" sz="1575" b="0" i="0" u="none" strike="noStrike" kern="0" cap="none" spc="-37" normalizeH="0" baseline="2645" noProof="0">
                <a:ln>
                  <a:noFill/>
                </a:ln>
                <a:solidFill>
                  <a:sysClr val="windowText" lastClr="000000"/>
                </a:solidFill>
                <a:effectLst/>
                <a:uLnTx/>
                <a:uFillTx/>
                <a:latin typeface="Boehringer Forward Text"/>
                <a:ea typeface="+mn-ea"/>
                <a:cs typeface="Boehringer Forward Text"/>
              </a:rPr>
              <a:t>253</a:t>
            </a:r>
            <a:r>
              <a:rPr kumimoji="0" sz="1575" b="0" i="0" u="none" strike="noStrike" kern="0" cap="none" spc="0" normalizeH="0" baseline="2645" noProof="0">
                <a:ln>
                  <a:noFill/>
                </a:ln>
                <a:solidFill>
                  <a:sysClr val="windowText" lastClr="000000"/>
                </a:solidFill>
                <a:effectLst/>
                <a:uLnTx/>
                <a:uFillTx/>
                <a:latin typeface="Boehringer Forward Text"/>
                <a:ea typeface="+mn-ea"/>
                <a:cs typeface="Boehringer Forward Text"/>
              </a:rPr>
              <a:t>	281</a:t>
            </a:r>
            <a:r>
              <a:rPr kumimoji="0" sz="1575" b="0" i="0" u="none" strike="noStrike" kern="0" cap="none" spc="247" normalizeH="0" baseline="2645" noProof="0">
                <a:ln>
                  <a:noFill/>
                </a:ln>
                <a:solidFill>
                  <a:sysClr val="windowText" lastClr="000000"/>
                </a:solidFill>
                <a:effectLst/>
                <a:uLnTx/>
                <a:uFillTx/>
                <a:latin typeface="Boehringer Forward Text"/>
                <a:ea typeface="+mn-ea"/>
                <a:cs typeface="Boehringer Forward Text"/>
              </a:rPr>
              <a:t>  </a:t>
            </a:r>
            <a:r>
              <a:rPr kumimoji="0" sz="1575" b="0" i="0" u="none" strike="noStrike" kern="0" cap="none" spc="0" normalizeH="0" baseline="2645" noProof="0">
                <a:ln>
                  <a:noFill/>
                </a:ln>
                <a:solidFill>
                  <a:sysClr val="windowText" lastClr="000000"/>
                </a:solidFill>
                <a:effectLst/>
                <a:uLnTx/>
                <a:uFillTx/>
                <a:latin typeface="Boehringer Forward Text"/>
                <a:ea typeface="+mn-ea"/>
                <a:cs typeface="Boehringer Forward Text"/>
              </a:rPr>
              <a:t>309</a:t>
            </a:r>
            <a:r>
              <a:rPr kumimoji="0" sz="1575" b="0" i="0" u="none" strike="noStrike" kern="0" cap="none" spc="742" normalizeH="0" baseline="2645" noProof="0">
                <a:ln>
                  <a:noFill/>
                </a:ln>
                <a:solidFill>
                  <a:sysClr val="windowText" lastClr="000000"/>
                </a:solidFill>
                <a:effectLst/>
                <a:uLnTx/>
                <a:uFillTx/>
                <a:latin typeface="Boehringer Forward Text"/>
                <a:ea typeface="+mn-ea"/>
                <a:cs typeface="Boehringer Forward Text"/>
              </a:rPr>
              <a:t> </a:t>
            </a:r>
            <a:r>
              <a:rPr kumimoji="0" sz="1575" b="0" i="0" u="none" strike="noStrike" kern="0" cap="none" spc="0" normalizeH="0" baseline="5291" noProof="0">
                <a:ln>
                  <a:noFill/>
                </a:ln>
                <a:solidFill>
                  <a:sysClr val="windowText" lastClr="000000"/>
                </a:solidFill>
                <a:effectLst/>
                <a:uLnTx/>
                <a:uFillTx/>
                <a:latin typeface="Boehringer Forward Text"/>
                <a:ea typeface="+mn-ea"/>
                <a:cs typeface="Boehringer Forward Text"/>
              </a:rPr>
              <a:t>337</a:t>
            </a:r>
            <a:r>
              <a:rPr kumimoji="0" sz="1575" b="0" i="0" u="none" strike="noStrike" kern="0" cap="none" spc="225" normalizeH="0" baseline="5291" noProof="0">
                <a:ln>
                  <a:noFill/>
                </a:ln>
                <a:solidFill>
                  <a:sysClr val="windowText" lastClr="000000"/>
                </a:solidFill>
                <a:effectLst/>
                <a:uLnTx/>
                <a:uFillTx/>
                <a:latin typeface="Boehringer Forward Text"/>
                <a:ea typeface="+mn-ea"/>
                <a:cs typeface="Boehringer Forward Text"/>
              </a:rPr>
              <a:t>  </a:t>
            </a:r>
            <a:r>
              <a:rPr kumimoji="0" sz="1050" b="0" i="0" u="none" strike="noStrike" kern="0" cap="none" spc="-25" normalizeH="0" baseline="0" noProof="0">
                <a:ln>
                  <a:noFill/>
                </a:ln>
                <a:solidFill>
                  <a:sysClr val="windowText" lastClr="000000"/>
                </a:solidFill>
                <a:effectLst/>
                <a:uLnTx/>
                <a:uFillTx/>
                <a:latin typeface="Boehringer Forward Text"/>
                <a:ea typeface="+mn-ea"/>
                <a:cs typeface="Boehringer Forward Text"/>
              </a:rPr>
              <a:t>365</a:t>
            </a:r>
            <a:endParaRPr kumimoji="0" sz="1050" b="0" i="0" u="none" strike="noStrike" kern="0" cap="none" spc="0" normalizeH="0" baseline="0" noProof="0">
              <a:ln>
                <a:noFill/>
              </a:ln>
              <a:solidFill>
                <a:sysClr val="windowText" lastClr="000000"/>
              </a:solidFill>
              <a:effectLst/>
              <a:uLnTx/>
              <a:uFillTx/>
              <a:latin typeface="Boehringer Forward Text"/>
              <a:ea typeface="+mn-ea"/>
              <a:cs typeface="Boehringer Forward Text"/>
            </a:endParaRPr>
          </a:p>
          <a:p>
            <a:pPr marL="12700" marR="0" lvl="0" indent="0" algn="l" defTabSz="914400" rtl="0" eaLnBrk="1" fontAlgn="auto" latinLnBrk="0" hangingPunct="1">
              <a:lnSpc>
                <a:spcPct val="100000"/>
              </a:lnSpc>
              <a:spcBef>
                <a:spcPts val="715"/>
              </a:spcBef>
              <a:spcAft>
                <a:spcPts val="0"/>
              </a:spcAft>
              <a:buClrTx/>
              <a:buSzTx/>
              <a:buFontTx/>
              <a:buNone/>
              <a:tabLst>
                <a:tab pos="566420" algn="l"/>
                <a:tab pos="1090295" algn="l"/>
              </a:tabLst>
              <a:defRPr/>
            </a:pPr>
            <a:r>
              <a:rPr kumimoji="0" sz="2700" b="0" i="0" u="none" strike="noStrike" kern="0" cap="none" spc="-37" normalizeH="0" baseline="1543" noProof="0">
                <a:ln>
                  <a:noFill/>
                </a:ln>
                <a:solidFill>
                  <a:sysClr val="windowText" lastClr="000000"/>
                </a:solidFill>
                <a:effectLst/>
                <a:uLnTx/>
                <a:uFillTx/>
                <a:latin typeface="BISansBa"/>
                <a:ea typeface="+mn-ea"/>
                <a:cs typeface="BISansBa"/>
              </a:rPr>
              <a:t>30</a:t>
            </a:r>
            <a:r>
              <a:rPr kumimoji="0" sz="2700" b="0" i="0" u="none" strike="noStrike" kern="0" cap="none" spc="0" normalizeH="0" baseline="1543" noProof="0">
                <a:ln>
                  <a:noFill/>
                </a:ln>
                <a:solidFill>
                  <a:sysClr val="windowText" lastClr="000000"/>
                </a:solidFill>
                <a:effectLst/>
                <a:uLnTx/>
                <a:uFillTx/>
                <a:latin typeface="BISansBa"/>
                <a:ea typeface="+mn-ea"/>
                <a:cs typeface="BISansBa"/>
              </a:rPr>
              <a:t>	</a:t>
            </a:r>
            <a:r>
              <a:rPr kumimoji="0" sz="2700" b="0" i="0" u="none" strike="noStrike" kern="0" cap="none" spc="-37" normalizeH="0" baseline="1543" noProof="0">
                <a:ln>
                  <a:noFill/>
                </a:ln>
                <a:solidFill>
                  <a:sysClr val="windowText" lastClr="000000"/>
                </a:solidFill>
                <a:effectLst/>
                <a:uLnTx/>
                <a:uFillTx/>
                <a:latin typeface="BISansBa"/>
                <a:ea typeface="+mn-ea"/>
                <a:cs typeface="BISansBa"/>
              </a:rPr>
              <a:t>36</a:t>
            </a:r>
            <a:r>
              <a:rPr kumimoji="0" sz="2700" b="0" i="0" u="none" strike="noStrike" kern="0" cap="none" spc="0" normalizeH="0" baseline="1543" noProof="0">
                <a:ln>
                  <a:noFill/>
                </a:ln>
                <a:solidFill>
                  <a:sysClr val="windowText" lastClr="000000"/>
                </a:solidFill>
                <a:effectLst/>
                <a:uLnTx/>
                <a:uFillTx/>
                <a:latin typeface="BISansBa"/>
                <a:ea typeface="+mn-ea"/>
                <a:cs typeface="BISansBa"/>
              </a:rPr>
              <a:t>	</a:t>
            </a:r>
            <a:r>
              <a:rPr kumimoji="0" sz="1800" b="0" i="0" u="none" strike="noStrike" kern="0" cap="none" spc="0" normalizeH="0" baseline="0" noProof="0">
                <a:ln>
                  <a:noFill/>
                </a:ln>
                <a:solidFill>
                  <a:sysClr val="windowText" lastClr="000000"/>
                </a:solidFill>
                <a:effectLst/>
                <a:uLnTx/>
                <a:uFillTx/>
                <a:latin typeface="BISansBa"/>
                <a:ea typeface="+mn-ea"/>
                <a:cs typeface="BISansBa"/>
              </a:rPr>
              <a:t>40</a:t>
            </a:r>
            <a:r>
              <a:rPr kumimoji="0" sz="1800" b="0" i="0" u="none" strike="noStrike" kern="0" cap="none" spc="475" normalizeH="0" baseline="0" noProof="0">
                <a:ln>
                  <a:noFill/>
                </a:ln>
                <a:solidFill>
                  <a:sysClr val="windowText" lastClr="000000"/>
                </a:solidFill>
                <a:effectLst/>
                <a:uLnTx/>
                <a:uFillTx/>
                <a:latin typeface="BISansBa"/>
                <a:ea typeface="+mn-ea"/>
                <a:cs typeface="BISansBa"/>
              </a:rPr>
              <a:t> </a:t>
            </a:r>
            <a:r>
              <a:rPr kumimoji="0" sz="2700" b="0" i="0" u="none" strike="noStrike" kern="0" cap="none" spc="0" normalizeH="0" baseline="1543" noProof="0">
                <a:ln>
                  <a:noFill/>
                </a:ln>
                <a:solidFill>
                  <a:sysClr val="windowText" lastClr="000000"/>
                </a:solidFill>
                <a:effectLst/>
                <a:uLnTx/>
                <a:uFillTx/>
                <a:latin typeface="BISansBa"/>
                <a:ea typeface="+mn-ea"/>
                <a:cs typeface="BISansBa"/>
              </a:rPr>
              <a:t>44</a:t>
            </a:r>
            <a:r>
              <a:rPr kumimoji="0" sz="2700" b="0" i="0" u="none" strike="noStrike" kern="0" cap="none" spc="412" normalizeH="0" baseline="1543" noProof="0">
                <a:ln>
                  <a:noFill/>
                </a:ln>
                <a:solidFill>
                  <a:sysClr val="windowText" lastClr="000000"/>
                </a:solidFill>
                <a:effectLst/>
                <a:uLnTx/>
                <a:uFillTx/>
                <a:latin typeface="BISansBa"/>
                <a:ea typeface="+mn-ea"/>
                <a:cs typeface="BISansBa"/>
              </a:rPr>
              <a:t> </a:t>
            </a:r>
            <a:r>
              <a:rPr kumimoji="0" sz="2700" b="0" i="0" u="none" strike="noStrike" kern="0" cap="none" spc="0" normalizeH="0" baseline="3086" noProof="0">
                <a:ln>
                  <a:noFill/>
                </a:ln>
                <a:solidFill>
                  <a:sysClr val="windowText" lastClr="000000"/>
                </a:solidFill>
                <a:effectLst/>
                <a:uLnTx/>
                <a:uFillTx/>
                <a:latin typeface="BISansBa"/>
                <a:ea typeface="+mn-ea"/>
                <a:cs typeface="BISansBa"/>
              </a:rPr>
              <a:t>48</a:t>
            </a:r>
            <a:r>
              <a:rPr kumimoji="0" sz="2700" b="0" i="0" u="none" strike="noStrike" kern="0" cap="none" spc="97" normalizeH="0" baseline="3086" noProof="0">
                <a:ln>
                  <a:noFill/>
                </a:ln>
                <a:solidFill>
                  <a:sysClr val="windowText" lastClr="000000"/>
                </a:solidFill>
                <a:effectLst/>
                <a:uLnTx/>
                <a:uFillTx/>
                <a:latin typeface="BISansBa"/>
                <a:ea typeface="+mn-ea"/>
                <a:cs typeface="BISansBa"/>
              </a:rPr>
              <a:t>  </a:t>
            </a:r>
            <a:r>
              <a:rPr kumimoji="0" sz="2700" b="0" i="0" u="none" strike="noStrike" kern="0" cap="none" spc="-37" normalizeH="0" baseline="4629" noProof="0">
                <a:ln>
                  <a:noFill/>
                </a:ln>
                <a:solidFill>
                  <a:sysClr val="windowText" lastClr="000000"/>
                </a:solidFill>
                <a:effectLst/>
                <a:uLnTx/>
                <a:uFillTx/>
                <a:latin typeface="BISansBa"/>
                <a:ea typeface="+mn-ea"/>
                <a:cs typeface="BISansBa"/>
              </a:rPr>
              <a:t>52</a:t>
            </a:r>
            <a:endParaRPr kumimoji="0" sz="2700" b="0" i="0" u="none" strike="noStrike" kern="0" cap="none" spc="0" normalizeH="0" baseline="4629" noProof="0">
              <a:ln>
                <a:noFill/>
              </a:ln>
              <a:solidFill>
                <a:sysClr val="windowText" lastClr="000000"/>
              </a:solidFill>
              <a:effectLst/>
              <a:uLnTx/>
              <a:uFillTx/>
              <a:latin typeface="BISansBa"/>
              <a:ea typeface="+mn-ea"/>
              <a:cs typeface="BISansBa"/>
            </a:endParaRPr>
          </a:p>
        </p:txBody>
      </p:sp>
      <p:sp>
        <p:nvSpPr>
          <p:cNvPr id="100" name="文本框 99">
            <a:extLst>
              <a:ext uri="{FF2B5EF4-FFF2-40B4-BE49-F238E27FC236}">
                <a16:creationId xmlns:a16="http://schemas.microsoft.com/office/drawing/2014/main" id="{A0C4F8A2-6C95-ECCC-764F-85367CD088F3}"/>
              </a:ext>
            </a:extLst>
          </p:cNvPr>
          <p:cNvSpPr txBox="1"/>
          <p:nvPr/>
        </p:nvSpPr>
        <p:spPr>
          <a:xfrm>
            <a:off x="362732" y="805954"/>
            <a:ext cx="11378663" cy="338554"/>
          </a:xfrm>
          <a:prstGeom prst="rect">
            <a:avLst/>
          </a:prstGeom>
          <a:noFill/>
        </p:spPr>
        <p:txBody>
          <a:bodyPr wrap="square">
            <a:spAutoFit/>
          </a:bodyPr>
          <a:lstStyle/>
          <a:p>
            <a:pPr marL="285750" indent="-285750">
              <a:buFont typeface="Arial" panose="020B0604020202020204" pitchFamily="34" charset="0"/>
              <a:buChar char="•"/>
            </a:pP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The</a:t>
            </a:r>
            <a:r>
              <a:rPr kumimoji="0" lang="en-US" altLang="zh-CN" sz="1600"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main</a:t>
            </a:r>
            <a:r>
              <a:rPr kumimoji="0" lang="en-US" altLang="zh-CN" sz="1600" i="0" u="none" strike="noStrike" kern="0" cap="none" spc="-4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entry</a:t>
            </a:r>
            <a:r>
              <a:rPr kumimoji="0" lang="en-US" altLang="zh-CN" sz="1600"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criterion</a:t>
            </a:r>
            <a:r>
              <a:rPr kumimoji="0" lang="en-US" altLang="zh-CN" sz="1600" i="0" u="none" strike="noStrike" kern="0" cap="none" spc="-55"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for</a:t>
            </a:r>
            <a:r>
              <a:rPr kumimoji="0" lang="en-US" altLang="zh-CN" sz="1600"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the</a:t>
            </a:r>
            <a:r>
              <a:rPr kumimoji="0" lang="en-US" altLang="zh-CN" sz="1600" i="0" u="none" strike="noStrike" kern="0" cap="none" spc="-4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trial</a:t>
            </a:r>
            <a:r>
              <a:rPr kumimoji="0" lang="en-US" altLang="zh-CN" sz="1600" i="0" u="none" strike="noStrike" kern="0" cap="none" spc="-5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is</a:t>
            </a:r>
            <a:r>
              <a:rPr kumimoji="0" lang="en-US" altLang="zh-CN" sz="1600" i="0" u="none" strike="noStrike" kern="0" cap="none" spc="-5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that</a:t>
            </a:r>
            <a:r>
              <a:rPr kumimoji="0" lang="en-US" altLang="zh-CN" sz="1600" i="0" u="none" strike="noStrike" kern="0" cap="none" spc="-35"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patients</a:t>
            </a:r>
            <a:r>
              <a:rPr kumimoji="0" lang="en-US" altLang="zh-CN" sz="1600"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are</a:t>
            </a:r>
            <a:r>
              <a:rPr kumimoji="0" lang="en-US" altLang="zh-CN" sz="1600" i="0" u="none" strike="noStrike" kern="0" cap="none" spc="-4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at</a:t>
            </a:r>
            <a:r>
              <a:rPr kumimoji="0" lang="en-US" altLang="zh-CN" sz="1600"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10" normalizeH="0" baseline="0" noProof="0">
                <a:ln>
                  <a:noFill/>
                </a:ln>
                <a:solidFill>
                  <a:sysClr val="windowText" lastClr="000000"/>
                </a:solidFill>
                <a:effectLst/>
                <a:uLnTx/>
                <a:uFillTx/>
                <a:latin typeface="Boehringer Forward Text"/>
                <a:cs typeface="Boehringer Forward Text"/>
              </a:rPr>
              <a:t>least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18</a:t>
            </a:r>
            <a:r>
              <a:rPr kumimoji="0" lang="en-US" altLang="zh-CN" sz="1600" i="0" u="none" strike="noStrike" kern="0" cap="none" spc="-3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years</a:t>
            </a:r>
            <a:r>
              <a:rPr kumimoji="0" lang="en-US" altLang="zh-CN" sz="1600" i="0" u="none" strike="noStrike" kern="0" cap="none" spc="-5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of</a:t>
            </a:r>
            <a:r>
              <a:rPr kumimoji="0" lang="en-US" altLang="zh-CN" sz="1600" i="0" u="none" strike="noStrike" kern="0" cap="none" spc="-3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age</a:t>
            </a:r>
            <a:r>
              <a:rPr kumimoji="0" lang="en-US" altLang="zh-CN" sz="1600" i="0" u="none" strike="noStrike" kern="0" cap="none" spc="-35"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diagnosed</a:t>
            </a:r>
            <a:r>
              <a:rPr kumimoji="0" lang="en-US" altLang="zh-CN" sz="1600" i="0" u="none" strike="noStrike" kern="0" cap="none" spc="-30" normalizeH="0" baseline="0" noProof="0">
                <a:ln>
                  <a:noFill/>
                </a:ln>
                <a:solidFill>
                  <a:sysClr val="windowText" lastClr="000000"/>
                </a:solidFill>
                <a:effectLst/>
                <a:uLnTx/>
                <a:uFillTx/>
                <a:latin typeface="Boehringer Forward Text"/>
                <a:cs typeface="Boehringer Forward Text"/>
              </a:rPr>
              <a:t> </a:t>
            </a:r>
            <a:r>
              <a:rPr kumimoji="0" lang="en-US" altLang="zh-CN" sz="1600" i="0" u="none" strike="noStrike" kern="0" cap="none" spc="0" normalizeH="0" baseline="0" noProof="0">
                <a:ln>
                  <a:noFill/>
                </a:ln>
                <a:solidFill>
                  <a:sysClr val="windowText" lastClr="000000"/>
                </a:solidFill>
                <a:effectLst/>
                <a:uLnTx/>
                <a:uFillTx/>
                <a:latin typeface="Boehringer Forward Text"/>
                <a:cs typeface="Boehringer Forward Text"/>
              </a:rPr>
              <a:t>with</a:t>
            </a:r>
            <a:r>
              <a:rPr kumimoji="0" lang="en-US" altLang="zh-CN" sz="1600" i="0" u="none" strike="noStrike" kern="0" cap="none" spc="-35" normalizeH="0" baseline="0" noProof="0">
                <a:ln>
                  <a:noFill/>
                </a:ln>
                <a:solidFill>
                  <a:sysClr val="windowText" lastClr="000000"/>
                </a:solidFill>
                <a:effectLst/>
                <a:uLnTx/>
                <a:uFillTx/>
                <a:latin typeface="Boehringer Forward Text"/>
                <a:cs typeface="Boehringer Forward Text"/>
              </a:rPr>
              <a:t> </a:t>
            </a:r>
            <a:r>
              <a:rPr kumimoji="0" lang="en-US" altLang="zh-CN" sz="1600" b="1" i="0" u="none" strike="noStrike" kern="0" cap="none" spc="0" normalizeH="0" baseline="0" noProof="0" err="1">
                <a:ln>
                  <a:noFill/>
                </a:ln>
                <a:solidFill>
                  <a:sysClr val="windowText" lastClr="000000"/>
                </a:solidFill>
                <a:effectLst/>
                <a:uLnTx/>
                <a:uFillTx/>
                <a:latin typeface="Boehringer Forward Text"/>
                <a:cs typeface="Boehringer Forward Text"/>
              </a:rPr>
              <a:t>SSc</a:t>
            </a:r>
            <a:r>
              <a:rPr kumimoji="0" lang="en-US" altLang="zh-CN" sz="1600" b="1"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600" b="1" i="0" u="none" strike="noStrike" kern="0" cap="none" spc="0" normalizeH="0" baseline="0" noProof="0">
                <a:ln>
                  <a:noFill/>
                </a:ln>
                <a:solidFill>
                  <a:sysClr val="windowText" lastClr="000000"/>
                </a:solidFill>
                <a:effectLst/>
                <a:uLnTx/>
                <a:uFillTx/>
                <a:latin typeface="Boehringer Forward Text"/>
                <a:cs typeface="Boehringer Forward Text"/>
              </a:rPr>
              <a:t>(</a:t>
            </a:r>
            <a:r>
              <a:rPr kumimoji="0" lang="en-US" altLang="zh-CN" sz="1600" b="1" i="0" u="none" strike="noStrike" kern="0" cap="none" spc="0" normalizeH="0" baseline="0" noProof="0" err="1">
                <a:ln>
                  <a:noFill/>
                </a:ln>
                <a:solidFill>
                  <a:sysClr val="windowText" lastClr="000000"/>
                </a:solidFill>
                <a:effectLst/>
                <a:uLnTx/>
                <a:uFillTx/>
                <a:latin typeface="Boehringer Forward Text"/>
                <a:cs typeface="Boehringer Forward Text"/>
              </a:rPr>
              <a:t>dcSSc</a:t>
            </a:r>
            <a:r>
              <a:rPr kumimoji="0" lang="en-US" altLang="zh-CN" sz="1600" b="1" i="0" u="none" strike="noStrike" kern="0" cap="none" spc="-40" normalizeH="0" baseline="0" noProof="0">
                <a:ln>
                  <a:noFill/>
                </a:ln>
                <a:solidFill>
                  <a:sysClr val="windowText" lastClr="000000"/>
                </a:solidFill>
                <a:effectLst/>
                <a:uLnTx/>
                <a:uFillTx/>
                <a:latin typeface="Boehringer Forward Text"/>
                <a:cs typeface="Boehringer Forward Text"/>
              </a:rPr>
              <a:t> </a:t>
            </a:r>
            <a:r>
              <a:rPr kumimoji="0" lang="en-US" altLang="zh-CN" sz="1600" b="1" i="0" u="none" strike="noStrike" kern="0" cap="none" spc="0" normalizeH="0" baseline="0" noProof="0">
                <a:ln>
                  <a:noFill/>
                </a:ln>
                <a:solidFill>
                  <a:sysClr val="windowText" lastClr="000000"/>
                </a:solidFill>
                <a:effectLst/>
                <a:uLnTx/>
                <a:uFillTx/>
                <a:latin typeface="Boehringer Forward Text"/>
                <a:cs typeface="Boehringer Forward Text"/>
              </a:rPr>
              <a:t>or</a:t>
            </a:r>
            <a:r>
              <a:rPr kumimoji="0" lang="en-US" altLang="zh-CN" sz="1600" b="1"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600" b="1" i="0" u="none" strike="noStrike" kern="0" cap="none" spc="-10" normalizeH="0" baseline="0" noProof="0" err="1">
                <a:ln>
                  <a:noFill/>
                </a:ln>
                <a:solidFill>
                  <a:sysClr val="windowText" lastClr="000000"/>
                </a:solidFill>
                <a:effectLst/>
                <a:uLnTx/>
                <a:uFillTx/>
                <a:latin typeface="Boehringer Forward Text"/>
                <a:cs typeface="Boehringer Forward Text"/>
              </a:rPr>
              <a:t>lcSSc</a:t>
            </a:r>
            <a:r>
              <a:rPr kumimoji="0" lang="en-US" altLang="zh-CN" sz="1600" b="1" i="0" u="none" strike="noStrike" kern="0" cap="none" spc="-10" normalizeH="0" baseline="0" noProof="0">
                <a:ln>
                  <a:noFill/>
                </a:ln>
                <a:solidFill>
                  <a:sysClr val="windowText" lastClr="000000"/>
                </a:solidFill>
                <a:effectLst/>
                <a:uLnTx/>
                <a:uFillTx/>
                <a:latin typeface="Boehringer Forward Text"/>
                <a:cs typeface="Boehringer Forward Text"/>
              </a:rPr>
              <a:t>).</a:t>
            </a:r>
            <a:endParaRPr lang="zh-CN" altLang="en-US" sz="160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723" y="439916"/>
            <a:ext cx="11017706" cy="396904"/>
          </a:xfrm>
          <a:prstGeom prst="rect">
            <a:avLst/>
          </a:prstGeom>
        </p:spPr>
        <p:txBody>
          <a:bodyPr vert="horz" wrap="square" lIns="0" tIns="12065" rIns="0" bIns="0" rtlCol="0">
            <a:spAutoFit/>
          </a:bodyPr>
          <a:lstStyle/>
          <a:p>
            <a:pPr marL="12700">
              <a:lnSpc>
                <a:spcPct val="100000"/>
              </a:lnSpc>
              <a:spcBef>
                <a:spcPts val="95"/>
              </a:spcBef>
            </a:pPr>
            <a:r>
              <a:rPr spc="-20"/>
              <a:t>1305-</a:t>
            </a:r>
            <a:r>
              <a:t>0052:</a:t>
            </a:r>
            <a:r>
              <a:rPr spc="-75"/>
              <a:t> </a:t>
            </a:r>
            <a:r>
              <a:t>Primary</a:t>
            </a:r>
            <a:r>
              <a:rPr spc="-45"/>
              <a:t> </a:t>
            </a:r>
            <a:r>
              <a:rPr spc="-10"/>
              <a:t>Endpoint</a:t>
            </a:r>
            <a:r>
              <a:rPr lang="en-US" altLang="zh-CN"/>
              <a:t> and Key</a:t>
            </a:r>
            <a:r>
              <a:rPr lang="en-US" altLang="zh-CN" spc="-45"/>
              <a:t> </a:t>
            </a:r>
            <a:r>
              <a:rPr lang="en-US" altLang="zh-CN"/>
              <a:t>Secondary</a:t>
            </a:r>
            <a:r>
              <a:rPr lang="en-US" altLang="zh-CN" spc="-80"/>
              <a:t> </a:t>
            </a:r>
            <a:r>
              <a:rPr lang="en-US" altLang="zh-CN" spc="-10"/>
              <a:t>Endpoints</a:t>
            </a:r>
            <a:endParaRPr spc="-10"/>
          </a:p>
        </p:txBody>
      </p:sp>
      <p:sp>
        <p:nvSpPr>
          <p:cNvPr id="3" name="object 3"/>
          <p:cNvSpPr txBox="1"/>
          <p:nvPr/>
        </p:nvSpPr>
        <p:spPr>
          <a:xfrm>
            <a:off x="9386948" y="6391071"/>
            <a:ext cx="1978025" cy="1479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800" b="0" i="0" u="none" strike="noStrike" kern="0" cap="none" spc="-10" normalizeH="0" baseline="0" noProof="0">
                <a:ln>
                  <a:noFill/>
                </a:ln>
                <a:solidFill>
                  <a:srgbClr val="07302A"/>
                </a:solidFill>
                <a:effectLst/>
                <a:uLnTx/>
                <a:uFillTx/>
                <a:latin typeface="Boehringer Forward Text"/>
                <a:cs typeface="Boehringer Forward Text"/>
              </a:rPr>
              <a:t>Nerandomilast</a:t>
            </a:r>
            <a:r>
              <a:rPr kumimoji="0" sz="800" b="0" i="0" u="none" strike="noStrike" kern="0" cap="none" spc="-35" normalizeH="0" baseline="0" noProof="0">
                <a:ln>
                  <a:noFill/>
                </a:ln>
                <a:solidFill>
                  <a:srgbClr val="07302A"/>
                </a:solidFill>
                <a:effectLst/>
                <a:uLnTx/>
                <a:uFillTx/>
                <a:latin typeface="Boehringer Forward Text"/>
                <a:cs typeface="Boehringer Forward Text"/>
              </a:rPr>
              <a:t> </a:t>
            </a:r>
            <a:r>
              <a:rPr kumimoji="0" sz="800" b="0" i="0" u="none" strike="noStrike" kern="0" cap="none" spc="0" normalizeH="0" baseline="0" noProof="0">
                <a:ln>
                  <a:noFill/>
                </a:ln>
                <a:solidFill>
                  <a:srgbClr val="07302A"/>
                </a:solidFill>
                <a:effectLst/>
                <a:uLnTx/>
                <a:uFillTx/>
                <a:latin typeface="Boehringer Forward Text"/>
                <a:cs typeface="Boehringer Forward Text"/>
              </a:rPr>
              <a:t>in</a:t>
            </a:r>
            <a:r>
              <a:rPr kumimoji="0" sz="800" b="0" i="0" u="none" strike="noStrike" kern="0" cap="none" spc="10" normalizeH="0" baseline="0" noProof="0">
                <a:ln>
                  <a:noFill/>
                </a:ln>
                <a:solidFill>
                  <a:srgbClr val="07302A"/>
                </a:solidFill>
                <a:effectLst/>
                <a:uLnTx/>
                <a:uFillTx/>
                <a:latin typeface="Boehringer Forward Text"/>
                <a:cs typeface="Boehringer Forward Text"/>
              </a:rPr>
              <a:t> </a:t>
            </a:r>
            <a:r>
              <a:rPr kumimoji="0" sz="800" b="0" i="0" u="none" strike="noStrike" kern="0" cap="none" spc="0" normalizeH="0" baseline="0" noProof="0">
                <a:ln>
                  <a:noFill/>
                </a:ln>
                <a:solidFill>
                  <a:srgbClr val="07302A"/>
                </a:solidFill>
                <a:effectLst/>
                <a:uLnTx/>
                <a:uFillTx/>
                <a:latin typeface="Boehringer Forward Text"/>
                <a:cs typeface="Boehringer Forward Text"/>
              </a:rPr>
              <a:t>SSc</a:t>
            </a:r>
            <a:r>
              <a:rPr kumimoji="0" sz="800" b="0" i="0" u="none" strike="noStrike" kern="0" cap="none" spc="484" normalizeH="0" baseline="0" noProof="0">
                <a:ln>
                  <a:noFill/>
                </a:ln>
                <a:solidFill>
                  <a:srgbClr val="07302A"/>
                </a:solidFill>
                <a:effectLst/>
                <a:uLnTx/>
                <a:uFillTx/>
                <a:latin typeface="Boehringer Forward Text"/>
                <a:cs typeface="Boehringer Forward Text"/>
              </a:rPr>
              <a:t> </a:t>
            </a:r>
            <a:r>
              <a:rPr kumimoji="0" sz="800" b="0" i="0" u="none" strike="noStrike" kern="0" cap="none" spc="0" normalizeH="0" baseline="0" noProof="0">
                <a:ln>
                  <a:noFill/>
                </a:ln>
                <a:solidFill>
                  <a:srgbClr val="07302A"/>
                </a:solidFill>
                <a:effectLst/>
                <a:uLnTx/>
                <a:uFillTx/>
                <a:latin typeface="Boehringer Forward Text"/>
                <a:cs typeface="Boehringer Forward Text"/>
              </a:rPr>
              <a:t>|</a:t>
            </a:r>
            <a:r>
              <a:rPr kumimoji="0" sz="800" b="0" i="0" u="none" strike="noStrike" kern="0" cap="none" spc="170" normalizeH="0" baseline="0" noProof="0">
                <a:ln>
                  <a:noFill/>
                </a:ln>
                <a:solidFill>
                  <a:srgbClr val="07302A"/>
                </a:solidFill>
                <a:effectLst/>
                <a:uLnTx/>
                <a:uFillTx/>
                <a:latin typeface="Boehringer Forward Text"/>
                <a:cs typeface="Boehringer Forward Text"/>
              </a:rPr>
              <a:t>  </a:t>
            </a:r>
            <a:r>
              <a:rPr kumimoji="0" sz="800" b="0" i="0" u="none" strike="noStrike" kern="0" cap="none" spc="-10" normalizeH="0" baseline="0" noProof="0">
                <a:ln>
                  <a:noFill/>
                </a:ln>
                <a:solidFill>
                  <a:srgbClr val="07302A"/>
                </a:solidFill>
                <a:effectLst/>
                <a:uLnTx/>
                <a:uFillTx/>
                <a:latin typeface="Boehringer Forward Text"/>
                <a:cs typeface="Boehringer Forward Text"/>
              </a:rPr>
              <a:t>CONFIDENTIAL</a:t>
            </a:r>
            <a:endParaRPr kumimoji="0" sz="800" b="0" i="0" u="none" strike="noStrike" kern="0" cap="none" spc="0" normalizeH="0" baseline="0" noProof="0">
              <a:ln>
                <a:noFill/>
              </a:ln>
              <a:solidFill>
                <a:sysClr val="windowText" lastClr="000000"/>
              </a:solidFill>
              <a:effectLst/>
              <a:uLnTx/>
              <a:uFillTx/>
              <a:latin typeface="Boehringer Forward Text"/>
              <a:cs typeface="Boehringer Forward Text"/>
            </a:endParaRPr>
          </a:p>
        </p:txBody>
      </p:sp>
      <p:sp>
        <p:nvSpPr>
          <p:cNvPr id="6" name="object 6"/>
          <p:cNvSpPr/>
          <p:nvPr/>
        </p:nvSpPr>
        <p:spPr>
          <a:xfrm>
            <a:off x="466723" y="1043305"/>
            <a:ext cx="11102975" cy="2428421"/>
          </a:xfrm>
          <a:custGeom>
            <a:avLst/>
            <a:gdLst/>
            <a:ahLst/>
            <a:cxnLst/>
            <a:rect l="l" t="t" r="r" b="b"/>
            <a:pathLst>
              <a:path w="11102975" h="2385695">
                <a:moveTo>
                  <a:pt x="11102378" y="0"/>
                </a:moveTo>
                <a:lnTo>
                  <a:pt x="0" y="0"/>
                </a:lnTo>
                <a:lnTo>
                  <a:pt x="0" y="2385263"/>
                </a:lnTo>
                <a:lnTo>
                  <a:pt x="11102378" y="2385263"/>
                </a:lnTo>
                <a:lnTo>
                  <a:pt x="11102378" y="0"/>
                </a:lnTo>
                <a:close/>
              </a:path>
            </a:pathLst>
          </a:custGeom>
          <a:solidFill>
            <a:srgbClr val="D7F8F3"/>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p:cNvSpPr txBox="1"/>
          <p:nvPr/>
        </p:nvSpPr>
        <p:spPr>
          <a:xfrm>
            <a:off x="622302" y="973435"/>
            <a:ext cx="9382760" cy="2489784"/>
          </a:xfrm>
          <a:prstGeom prst="rect">
            <a:avLst/>
          </a:prstGeom>
        </p:spPr>
        <p:txBody>
          <a:bodyPr vert="horz" wrap="square" lIns="0" tIns="164465" rIns="0" bIns="0" rtlCol="0">
            <a:spAutoFit/>
          </a:bodyPr>
          <a:lstStyle/>
          <a:p>
            <a:pPr marL="12700" marR="0" lvl="0" indent="0" defTabSz="914400" eaLnBrk="1" fontAlgn="auto" latinLnBrk="0" hangingPunct="1">
              <a:spcAft>
                <a:spcPts val="600"/>
              </a:spcAft>
              <a:buClrTx/>
              <a:buSzTx/>
              <a:buFontTx/>
              <a:buNone/>
              <a:tabLst/>
              <a:defRPr/>
            </a:pPr>
            <a:r>
              <a:rPr kumimoji="0" b="1" i="0" u="none" strike="noStrike" kern="0" cap="none" spc="0" normalizeH="0" baseline="0" noProof="0">
                <a:ln>
                  <a:noFill/>
                </a:ln>
                <a:solidFill>
                  <a:sysClr val="windowText" lastClr="000000"/>
                </a:solidFill>
                <a:effectLst/>
                <a:uLnTx/>
                <a:uFillTx/>
                <a:latin typeface="Boehringer Forward Text"/>
                <a:cs typeface="Boehringer Forward Text"/>
              </a:rPr>
              <a:t>Primary</a:t>
            </a:r>
            <a:r>
              <a:rPr kumimoji="0" b="1" i="0" u="none" strike="noStrike" kern="0" cap="none" spc="-30" normalizeH="0" baseline="0" noProof="0">
                <a:ln>
                  <a:noFill/>
                </a:ln>
                <a:solidFill>
                  <a:sysClr val="windowText" lastClr="000000"/>
                </a:solidFill>
                <a:effectLst/>
                <a:uLnTx/>
                <a:uFillTx/>
                <a:latin typeface="Boehringer Forward Text"/>
                <a:cs typeface="Boehringer Forward Text"/>
              </a:rPr>
              <a:t> </a:t>
            </a:r>
            <a:r>
              <a:rPr kumimoji="0" b="1" i="0" u="none" strike="noStrike" kern="0" cap="none" spc="-10" normalizeH="0" baseline="0" noProof="0">
                <a:ln>
                  <a:noFill/>
                </a:ln>
                <a:solidFill>
                  <a:sysClr val="windowText" lastClr="000000"/>
                </a:solidFill>
                <a:effectLst/>
                <a:uLnTx/>
                <a:uFillTx/>
                <a:latin typeface="Boehringer Forward Text"/>
                <a:cs typeface="Boehringer Forward Text"/>
              </a:rPr>
              <a:t>Endpoint:</a:t>
            </a:r>
            <a:endParaRPr kumimoji="0" b="0" i="0" u="none" strike="noStrike" kern="0" cap="none" spc="0" normalizeH="0" baseline="0" noProof="0">
              <a:ln>
                <a:noFill/>
              </a:ln>
              <a:solidFill>
                <a:sysClr val="windowText" lastClr="000000"/>
              </a:solidFill>
              <a:effectLst/>
              <a:uLnTx/>
              <a:uFillTx/>
              <a:latin typeface="Boehringer Forward Text"/>
              <a:cs typeface="Boehringer Forward Text"/>
            </a:endParaRPr>
          </a:p>
          <a:p>
            <a:pPr>
              <a:spcAft>
                <a:spcPts val="600"/>
              </a:spcAft>
              <a:tabLst>
                <a:tab pos="342265" algn="l"/>
              </a:tabLst>
              <a:defRPr/>
            </a:pPr>
            <a:r>
              <a:rPr lang="en-GB" altLang="zh-CN" kern="0">
                <a:solidFill>
                  <a:sysClr val="windowText" lastClr="000000"/>
                </a:solidFill>
                <a:latin typeface="Boehringer Forward Text"/>
              </a:rPr>
              <a:t>Time to the first occurrence of disease progression or all-cause death: </a:t>
            </a:r>
            <a:endParaRPr lang="en-US" altLang="zh-CN" kern="0">
              <a:solidFill>
                <a:sysClr val="windowText" lastClr="000000"/>
              </a:solidFill>
              <a:latin typeface="Boehringer Forward Text"/>
            </a:endParaRPr>
          </a:p>
          <a:p>
            <a:pPr marL="342265" indent="-342900">
              <a:spcAft>
                <a:spcPts val="600"/>
              </a:spcAft>
              <a:buFont typeface="Wingdings"/>
              <a:buChar char=""/>
              <a:tabLst>
                <a:tab pos="342265" algn="l"/>
              </a:tabLst>
              <a:defRPr/>
            </a:pPr>
            <a:r>
              <a:rPr lang="en-GB" altLang="zh-CN" kern="0">
                <a:solidFill>
                  <a:sysClr val="windowText" lastClr="000000"/>
                </a:solidFill>
                <a:latin typeface="Boehringer Forward Text"/>
              </a:rPr>
              <a:t>Adjudicated </a:t>
            </a:r>
            <a:r>
              <a:rPr lang="en-GB" altLang="zh-CN" kern="0" err="1">
                <a:solidFill>
                  <a:sysClr val="windowText" lastClr="000000"/>
                </a:solidFill>
                <a:latin typeface="Boehringer Forward Text"/>
              </a:rPr>
              <a:t>SSc</a:t>
            </a:r>
            <a:r>
              <a:rPr lang="en-GB" altLang="zh-CN" kern="0">
                <a:solidFill>
                  <a:sysClr val="windowText" lastClr="000000"/>
                </a:solidFill>
                <a:latin typeface="Boehringer Forward Text"/>
              </a:rPr>
              <a:t>-related clinically meaningful disease progression or complications*, or </a:t>
            </a:r>
            <a:endParaRPr lang="en-US" altLang="zh-CN" kern="0">
              <a:solidFill>
                <a:sysClr val="windowText" lastClr="000000"/>
              </a:solidFill>
              <a:latin typeface="Boehringer Forward Text"/>
            </a:endParaRPr>
          </a:p>
          <a:p>
            <a:pPr marL="342265" indent="-342900">
              <a:spcAft>
                <a:spcPts val="600"/>
              </a:spcAft>
              <a:buFont typeface="Wingdings"/>
              <a:buChar char=""/>
              <a:tabLst>
                <a:tab pos="342265" algn="l"/>
              </a:tabLst>
              <a:defRPr/>
            </a:pPr>
            <a:r>
              <a:rPr lang="en-GB" altLang="zh-CN" kern="0">
                <a:solidFill>
                  <a:sysClr val="windowText" lastClr="000000"/>
                </a:solidFill>
                <a:latin typeface="Boehringer Forward Text"/>
              </a:rPr>
              <a:t>Absolute decline in FVC% predicted ≥5%, or </a:t>
            </a:r>
            <a:endParaRPr lang="en-US" altLang="zh-CN" kern="0">
              <a:solidFill>
                <a:sysClr val="windowText" lastClr="000000"/>
              </a:solidFill>
              <a:latin typeface="Boehringer Forward Text"/>
            </a:endParaRPr>
          </a:p>
          <a:p>
            <a:pPr marL="342265" indent="-342900">
              <a:spcAft>
                <a:spcPts val="600"/>
              </a:spcAft>
              <a:buFont typeface="Wingdings"/>
              <a:buChar char=""/>
              <a:tabLst>
                <a:tab pos="342265" algn="l"/>
              </a:tabLst>
              <a:defRPr/>
            </a:pPr>
            <a:r>
              <a:rPr lang="en-GB" altLang="zh-CN" kern="0">
                <a:solidFill>
                  <a:sysClr val="windowText" lastClr="000000"/>
                </a:solidFill>
                <a:latin typeface="Boehringer Forward Text"/>
              </a:rPr>
              <a:t>Relative increase in </a:t>
            </a:r>
            <a:r>
              <a:rPr lang="en-GB" altLang="zh-CN" kern="0" err="1">
                <a:solidFill>
                  <a:sysClr val="windowText" lastClr="000000"/>
                </a:solidFill>
                <a:latin typeface="Boehringer Forward Text"/>
              </a:rPr>
              <a:t>mRSS</a:t>
            </a:r>
            <a:r>
              <a:rPr lang="en-GB" altLang="zh-CN" kern="0">
                <a:solidFill>
                  <a:sysClr val="windowText" lastClr="000000"/>
                </a:solidFill>
                <a:latin typeface="Boehringer Forward Text"/>
              </a:rPr>
              <a:t> ≥25% and absolute increase in </a:t>
            </a:r>
            <a:r>
              <a:rPr lang="en-GB" altLang="zh-CN" kern="0" err="1">
                <a:solidFill>
                  <a:sysClr val="windowText" lastClr="000000"/>
                </a:solidFill>
                <a:latin typeface="Boehringer Forward Text"/>
              </a:rPr>
              <a:t>mRSS</a:t>
            </a:r>
            <a:r>
              <a:rPr lang="en-GB" altLang="zh-CN" kern="0">
                <a:solidFill>
                  <a:sysClr val="windowText" lastClr="000000"/>
                </a:solidFill>
                <a:latin typeface="Boehringer Forward Text"/>
              </a:rPr>
              <a:t> ≥5 points, or </a:t>
            </a:r>
            <a:endParaRPr lang="en-US" altLang="zh-CN" kern="0">
              <a:solidFill>
                <a:sysClr val="windowText" lastClr="000000"/>
              </a:solidFill>
              <a:latin typeface="Boehringer Forward Text"/>
            </a:endParaRPr>
          </a:p>
          <a:p>
            <a:pPr marL="342265" indent="-342900">
              <a:spcAft>
                <a:spcPts val="600"/>
              </a:spcAft>
              <a:buFont typeface="Wingdings"/>
              <a:buChar char=""/>
              <a:tabLst>
                <a:tab pos="342265" algn="l"/>
              </a:tabLst>
              <a:defRPr/>
            </a:pPr>
            <a:r>
              <a:rPr lang="en-GB" altLang="zh-CN" kern="0">
                <a:solidFill>
                  <a:sysClr val="windowText" lastClr="000000"/>
                </a:solidFill>
                <a:latin typeface="Boehringer Forward Text"/>
              </a:rPr>
              <a:t>All-cause death </a:t>
            </a:r>
            <a:endParaRPr kern="0">
              <a:solidFill>
                <a:sysClr val="windowText" lastClr="000000"/>
              </a:solidFill>
              <a:latin typeface="Boehringer Forward Text"/>
            </a:endParaRPr>
          </a:p>
        </p:txBody>
      </p:sp>
      <p:sp>
        <p:nvSpPr>
          <p:cNvPr id="10" name="文本框 9">
            <a:extLst>
              <a:ext uri="{FF2B5EF4-FFF2-40B4-BE49-F238E27FC236}">
                <a16:creationId xmlns:a16="http://schemas.microsoft.com/office/drawing/2014/main" id="{ECA2DDE1-E53B-CB27-50EB-0E776239BD36}"/>
              </a:ext>
            </a:extLst>
          </p:cNvPr>
          <p:cNvSpPr txBox="1"/>
          <p:nvPr/>
        </p:nvSpPr>
        <p:spPr>
          <a:xfrm>
            <a:off x="454025" y="3884456"/>
            <a:ext cx="9789431" cy="1082348"/>
          </a:xfrm>
          <a:prstGeom prst="rect">
            <a:avLst/>
          </a:prstGeom>
          <a:noFill/>
        </p:spPr>
        <p:txBody>
          <a:bodyPr wrap="square">
            <a:spAutoFit/>
          </a:bodyPr>
          <a:lstStyle/>
          <a:p>
            <a:pPr marL="0" marR="0" lvl="0" indent="0" defTabSz="914400" eaLnBrk="1" fontAlgn="auto" latinLnBrk="0" hangingPunct="1">
              <a:spcAft>
                <a:spcPts val="600"/>
              </a:spcAft>
              <a:buClrTx/>
              <a:buSzTx/>
              <a:buFontTx/>
              <a:buNone/>
              <a:tabLst/>
              <a:defRPr/>
            </a:pPr>
            <a:r>
              <a:rPr kumimoji="0" lang="en-US" altLang="zh-CN" sz="1800" b="1" i="0" u="none" strike="noStrike" kern="0" cap="none" spc="0" normalizeH="0" baseline="0" noProof="0">
                <a:ln>
                  <a:noFill/>
                </a:ln>
                <a:solidFill>
                  <a:srgbClr val="07302A"/>
                </a:solidFill>
                <a:effectLst/>
                <a:uLnTx/>
                <a:uFillTx/>
                <a:latin typeface="Boehringer Forward Text"/>
                <a:cs typeface="Boehringer Forward Text"/>
              </a:rPr>
              <a:t>Key</a:t>
            </a:r>
            <a:r>
              <a:rPr kumimoji="0" lang="en-US" altLang="zh-CN" sz="1800" b="1" i="0" u="none" strike="noStrike" kern="0" cap="none" spc="-30" normalizeH="0" baseline="0" noProof="0">
                <a:ln>
                  <a:noFill/>
                </a:ln>
                <a:solidFill>
                  <a:srgbClr val="07302A"/>
                </a:solidFill>
                <a:effectLst/>
                <a:uLnTx/>
                <a:uFillTx/>
                <a:latin typeface="Boehringer Forward Text"/>
                <a:cs typeface="Boehringer Forward Text"/>
              </a:rPr>
              <a:t> </a:t>
            </a:r>
            <a:r>
              <a:rPr kumimoji="0" lang="en-US" altLang="zh-CN" sz="1800" b="1" i="0" u="none" strike="noStrike" kern="0" cap="none" spc="0" normalizeH="0" baseline="0" noProof="0">
                <a:ln>
                  <a:noFill/>
                </a:ln>
                <a:solidFill>
                  <a:srgbClr val="07302A"/>
                </a:solidFill>
                <a:effectLst/>
                <a:uLnTx/>
                <a:uFillTx/>
                <a:latin typeface="Boehringer Forward Text"/>
                <a:cs typeface="Boehringer Forward Text"/>
              </a:rPr>
              <a:t>secondary</a:t>
            </a:r>
            <a:r>
              <a:rPr kumimoji="0" lang="en-US" altLang="zh-CN" sz="1800" b="1" i="0" u="none" strike="noStrike" kern="0" cap="none" spc="-60" normalizeH="0" baseline="0" noProof="0">
                <a:ln>
                  <a:noFill/>
                </a:ln>
                <a:solidFill>
                  <a:srgbClr val="07302A"/>
                </a:solidFill>
                <a:effectLst/>
                <a:uLnTx/>
                <a:uFillTx/>
                <a:latin typeface="Boehringer Forward Text"/>
                <a:cs typeface="Boehringer Forward Text"/>
              </a:rPr>
              <a:t> </a:t>
            </a:r>
            <a:r>
              <a:rPr kumimoji="0" lang="en-US" altLang="zh-CN" sz="1800" b="1" i="0" u="none" strike="noStrike" kern="0" cap="none" spc="-10" normalizeH="0" baseline="0" noProof="0">
                <a:ln>
                  <a:noFill/>
                </a:ln>
                <a:solidFill>
                  <a:srgbClr val="07302A"/>
                </a:solidFill>
                <a:effectLst/>
                <a:uLnTx/>
                <a:uFillTx/>
                <a:latin typeface="Boehringer Forward Text"/>
                <a:cs typeface="Boehringer Forward Text"/>
              </a:rPr>
              <a:t>Endpoints</a:t>
            </a:r>
            <a:endPar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endParaRPr>
          </a:p>
          <a:p>
            <a:pPr marL="342265" marR="0" lvl="0" indent="-342900" defTabSz="914400" eaLnBrk="1" fontAlgn="auto" latinLnBrk="0" hangingPunct="1">
              <a:spcAft>
                <a:spcPts val="600"/>
              </a:spcAft>
              <a:buClrTx/>
              <a:buSzTx/>
              <a:buFont typeface="Wingdings"/>
              <a:buChar char=""/>
              <a:tabLst>
                <a:tab pos="342265" algn="l"/>
              </a:tabLst>
              <a:defRPr/>
            </a:pP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Change</a:t>
            </a:r>
            <a:r>
              <a:rPr kumimoji="0" lang="en-US" altLang="zh-CN" sz="1800" b="0"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from</a:t>
            </a:r>
            <a:r>
              <a:rPr kumimoji="0" lang="en-US" altLang="zh-CN" sz="1800" b="0" i="0" u="none" strike="noStrike" kern="0" cap="none" spc="-10"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baseline</a:t>
            </a:r>
            <a:r>
              <a:rPr kumimoji="0" lang="en-US" altLang="zh-CN" sz="1800" b="0"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in</a:t>
            </a:r>
            <a:r>
              <a:rPr kumimoji="0" lang="en-US" altLang="zh-CN" sz="1800" b="0" i="0" u="none" strike="noStrike" kern="0" cap="none" spc="-20"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FVC</a:t>
            </a:r>
            <a:r>
              <a:rPr kumimoji="0" lang="en-US" altLang="zh-CN" sz="1800" b="0" i="0" u="none" strike="noStrike" kern="0" cap="none" spc="-10"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(ml)</a:t>
            </a:r>
            <a:r>
              <a:rPr kumimoji="0" lang="en-US" altLang="zh-CN" sz="1800" b="0" i="0" u="none" strike="noStrike" kern="0" cap="none" spc="-40"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at</a:t>
            </a:r>
            <a:r>
              <a:rPr kumimoji="0" lang="en-US" altLang="zh-CN" sz="1800" b="0" i="0" u="none" strike="noStrike" kern="0" cap="none" spc="-15"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Week</a:t>
            </a:r>
            <a:r>
              <a:rPr kumimoji="0" lang="en-US" altLang="zh-CN" sz="1800" b="0" i="0" u="none" strike="noStrike" kern="0" cap="none" spc="-25" normalizeH="0" baseline="0" noProof="0">
                <a:ln>
                  <a:noFill/>
                </a:ln>
                <a:solidFill>
                  <a:sysClr val="windowText" lastClr="000000"/>
                </a:solidFill>
                <a:effectLst/>
                <a:uLnTx/>
                <a:uFillTx/>
                <a:latin typeface="Boehringer Forward Text"/>
                <a:cs typeface="Boehringer Forward Text"/>
              </a:rPr>
              <a:t> 52</a:t>
            </a:r>
            <a:endPar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endParaRPr>
          </a:p>
          <a:p>
            <a:pPr marL="342265" marR="0" lvl="0" indent="-342900" defTabSz="914400" eaLnBrk="1" fontAlgn="auto" latinLnBrk="0" hangingPunct="1">
              <a:spcAft>
                <a:spcPts val="600"/>
              </a:spcAft>
              <a:buClrTx/>
              <a:buSzTx/>
              <a:buFont typeface="Wingdings"/>
              <a:buChar char=""/>
              <a:tabLst>
                <a:tab pos="342265" algn="l"/>
              </a:tabLst>
              <a:defRPr/>
            </a:pP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Change</a:t>
            </a:r>
            <a:r>
              <a:rPr kumimoji="0" lang="en-US" altLang="zh-CN" sz="1800" b="0" i="0" u="none" strike="noStrike" kern="0" cap="none" spc="-50"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from</a:t>
            </a:r>
            <a:r>
              <a:rPr kumimoji="0" lang="en-US" altLang="zh-CN" sz="1800" b="0" i="0" u="none" strike="noStrike" kern="0" cap="none" spc="-15"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baseline</a:t>
            </a:r>
            <a:r>
              <a:rPr kumimoji="0" lang="en-US" altLang="zh-CN" sz="1800" b="0" i="0" u="none" strike="noStrike" kern="0" cap="none" spc="-45"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in</a:t>
            </a:r>
            <a:r>
              <a:rPr kumimoji="0" lang="en-US" altLang="zh-CN" sz="1800" b="0" i="0" u="none" strike="noStrike" kern="0" cap="none" spc="-25"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err="1">
                <a:ln>
                  <a:noFill/>
                </a:ln>
                <a:solidFill>
                  <a:sysClr val="windowText" lastClr="000000"/>
                </a:solidFill>
                <a:effectLst/>
                <a:uLnTx/>
                <a:uFillTx/>
                <a:latin typeface="Boehringer Forward Text"/>
                <a:cs typeface="Boehringer Forward Text"/>
              </a:rPr>
              <a:t>mRSS</a:t>
            </a:r>
            <a:r>
              <a:rPr kumimoji="0" lang="en-US" altLang="zh-CN" sz="1800" b="0" i="0" u="none" strike="noStrike" kern="0" cap="none" spc="-25"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at</a:t>
            </a:r>
            <a:r>
              <a:rPr kumimoji="0" lang="en-US" altLang="zh-CN" sz="1800" b="0" i="0" u="none" strike="noStrike" kern="0" cap="none" spc="-15"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rPr>
              <a:t>Week</a:t>
            </a:r>
            <a:r>
              <a:rPr kumimoji="0" lang="en-US" altLang="zh-CN" sz="1800" b="0" i="0" u="none" strike="noStrike" kern="0" cap="none" spc="-30" normalizeH="0" baseline="0" noProof="0">
                <a:ln>
                  <a:noFill/>
                </a:ln>
                <a:solidFill>
                  <a:sysClr val="windowText" lastClr="000000"/>
                </a:solidFill>
                <a:effectLst/>
                <a:uLnTx/>
                <a:uFillTx/>
                <a:latin typeface="Boehringer Forward Text"/>
                <a:cs typeface="Boehringer Forward Text"/>
              </a:rPr>
              <a:t> </a:t>
            </a:r>
            <a:r>
              <a:rPr kumimoji="0" lang="en-US" altLang="zh-CN" sz="1800" b="0" i="0" u="none" strike="noStrike" kern="0" cap="none" spc="-25" normalizeH="0" baseline="0" noProof="0">
                <a:ln>
                  <a:noFill/>
                </a:ln>
                <a:solidFill>
                  <a:sysClr val="windowText" lastClr="000000"/>
                </a:solidFill>
                <a:effectLst/>
                <a:uLnTx/>
                <a:uFillTx/>
                <a:latin typeface="Boehringer Forward Text"/>
                <a:cs typeface="Boehringer Forward Text"/>
              </a:rPr>
              <a:t>52</a:t>
            </a:r>
            <a:endParaRPr kumimoji="0" lang="en-US" altLang="zh-CN" sz="1800" b="0" i="0" u="none" strike="noStrike" kern="0" cap="none" spc="0" normalizeH="0" baseline="0" noProof="0">
              <a:ln>
                <a:noFill/>
              </a:ln>
              <a:solidFill>
                <a:sysClr val="windowText" lastClr="000000"/>
              </a:solidFill>
              <a:effectLst/>
              <a:uLnTx/>
              <a:uFillTx/>
              <a:latin typeface="Boehringer Forward Text"/>
              <a:cs typeface="Boehringer Forward Text"/>
            </a:endParaRPr>
          </a:p>
        </p:txBody>
      </p:sp>
      <p:sp>
        <p:nvSpPr>
          <p:cNvPr id="5" name="文本框 4">
            <a:extLst>
              <a:ext uri="{FF2B5EF4-FFF2-40B4-BE49-F238E27FC236}">
                <a16:creationId xmlns:a16="http://schemas.microsoft.com/office/drawing/2014/main" id="{ACF30049-4282-6D22-2309-5A5552A41AB5}"/>
              </a:ext>
            </a:extLst>
          </p:cNvPr>
          <p:cNvSpPr txBox="1"/>
          <p:nvPr/>
        </p:nvSpPr>
        <p:spPr>
          <a:xfrm>
            <a:off x="1496785" y="5168364"/>
            <a:ext cx="9198429" cy="646331"/>
          </a:xfrm>
          <a:prstGeom prst="rect">
            <a:avLst/>
          </a:prstGeom>
          <a:noFill/>
        </p:spPr>
        <p:txBody>
          <a:bodyPr wrap="square">
            <a:spAutoFit/>
          </a:bodyPr>
          <a:lstStyle/>
          <a:p>
            <a:r>
              <a:rPr lang="en-US" kern="0">
                <a:solidFill>
                  <a:srgbClr val="FF0000"/>
                </a:solidFill>
                <a:latin typeface="Boehringer Forward Text"/>
              </a:rPr>
              <a:t>The primary endpoint proposed in the 1305-0052 trial has not been used as the primary endpoint in other pivotal trials for </a:t>
            </a:r>
            <a:r>
              <a:rPr lang="en-US" kern="0" err="1">
                <a:solidFill>
                  <a:srgbClr val="FF0000"/>
                </a:solidFill>
                <a:latin typeface="Boehringer Forward Text"/>
              </a:rPr>
              <a:t>SSc</a:t>
            </a:r>
            <a:r>
              <a:rPr lang="en-US" kern="0">
                <a:solidFill>
                  <a:srgbClr val="FF0000"/>
                </a:solidFill>
                <a:latin typeface="Boehringer Forward Text"/>
              </a:rPr>
              <a:t>.</a:t>
            </a:r>
            <a:endParaRPr lang="zh-CN" altLang="en-US" kern="0">
              <a:solidFill>
                <a:srgbClr val="FF0000"/>
              </a:solidFill>
              <a:latin typeface="Boehringer Forward Tex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25F0B-8689-E548-0D6A-EBC8BAF9FB21}"/>
              </a:ext>
            </a:extLst>
          </p:cNvPr>
          <p:cNvSpPr>
            <a:spLocks noGrp="1"/>
          </p:cNvSpPr>
          <p:nvPr>
            <p:ph type="title"/>
          </p:nvPr>
        </p:nvSpPr>
        <p:spPr/>
        <p:txBody>
          <a:bodyPr/>
          <a:lstStyle/>
          <a:p>
            <a:r>
              <a:rPr lang="en-US" altLang="zh-CN"/>
              <a:t>Pre-CTA HAI feedbacks</a:t>
            </a:r>
            <a:endParaRPr lang="zh-CN" altLang="en-US"/>
          </a:p>
        </p:txBody>
      </p:sp>
      <p:sp>
        <p:nvSpPr>
          <p:cNvPr id="3" name="副标题 2">
            <a:extLst>
              <a:ext uri="{FF2B5EF4-FFF2-40B4-BE49-F238E27FC236}">
                <a16:creationId xmlns:a16="http://schemas.microsoft.com/office/drawing/2014/main" id="{EE311395-854C-BB29-153A-2F3FCDA5CC88}"/>
              </a:ext>
            </a:extLst>
          </p:cNvPr>
          <p:cNvSpPr>
            <a:spLocks noGrp="1"/>
          </p:cNvSpPr>
          <p:nvPr>
            <p:ph type="subTitle" idx="14"/>
          </p:nvPr>
        </p:nvSpPr>
        <p:spPr/>
        <p:txBody>
          <a:bodyPr/>
          <a:lstStyle/>
          <a:p>
            <a:endParaRPr lang="zh-CN" altLang="en-US"/>
          </a:p>
        </p:txBody>
      </p:sp>
      <p:sp>
        <p:nvSpPr>
          <p:cNvPr id="4" name="页脚占位符 3">
            <a:extLst>
              <a:ext uri="{FF2B5EF4-FFF2-40B4-BE49-F238E27FC236}">
                <a16:creationId xmlns:a16="http://schemas.microsoft.com/office/drawing/2014/main" id="{3EAF8786-017A-0601-971C-3AC9458FEFF2}"/>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Nerandomilast in SSc iCEC June 2025 CONFIDENTIAL ONLY FOR INTERNAL USE </a:t>
            </a:r>
          </a:p>
        </p:txBody>
      </p:sp>
    </p:spTree>
    <p:extLst>
      <p:ext uri="{BB962C8B-B14F-4D97-AF65-F5344CB8AC3E}">
        <p14:creationId xmlns:p14="http://schemas.microsoft.com/office/powerpoint/2010/main" val="2317253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4D5A299-11F9-F87D-F7FB-650A79DF102D}"/>
              </a:ext>
            </a:extLst>
          </p:cNvPr>
          <p:cNvSpPr>
            <a:spLocks noGrp="1"/>
          </p:cNvSpPr>
          <p:nvPr>
            <p:ph type="title"/>
          </p:nvPr>
        </p:nvSpPr>
        <p:spPr/>
        <p:txBody>
          <a:bodyPr/>
          <a:lstStyle/>
          <a:p>
            <a:r>
              <a:rPr lang="en-US" altLang="zh-CN"/>
              <a:t>Question List</a:t>
            </a:r>
            <a:endParaRPr lang="zh-CN" altLang="en-US"/>
          </a:p>
        </p:txBody>
      </p:sp>
      <p:sp>
        <p:nvSpPr>
          <p:cNvPr id="5" name="内容占位符 4">
            <a:extLst>
              <a:ext uri="{FF2B5EF4-FFF2-40B4-BE49-F238E27FC236}">
                <a16:creationId xmlns:a16="http://schemas.microsoft.com/office/drawing/2014/main" id="{3E2DDA6D-BC0E-E311-0821-4D832BFD2D5B}"/>
              </a:ext>
            </a:extLst>
          </p:cNvPr>
          <p:cNvSpPr>
            <a:spLocks noGrp="1"/>
          </p:cNvSpPr>
          <p:nvPr>
            <p:ph idx="1"/>
          </p:nvPr>
        </p:nvSpPr>
        <p:spPr>
          <a:xfrm>
            <a:off x="479427" y="1065404"/>
            <a:ext cx="11233151" cy="4392000"/>
          </a:xfrm>
        </p:spPr>
        <p:txBody>
          <a:bodyPr/>
          <a:lstStyle/>
          <a:p>
            <a:pPr marL="342900" indent="-342900">
              <a:buFont typeface="+mj-lt"/>
              <a:buAutoNum type="arabicPeriod"/>
            </a:pPr>
            <a:r>
              <a:rPr lang="en-US" altLang="zh-CN" sz="1400"/>
              <a:t>Given the pre-clinical data suggesting a potential therapeutic effect of </a:t>
            </a:r>
            <a:r>
              <a:rPr lang="en-US" altLang="zh-CN" sz="1400" err="1"/>
              <a:t>nerandomilast</a:t>
            </a:r>
            <a:r>
              <a:rPr lang="en-US" altLang="zh-CN" sz="1400"/>
              <a:t> on </a:t>
            </a:r>
            <a:r>
              <a:rPr lang="en-US" altLang="zh-CN" sz="1400" err="1"/>
              <a:t>SSc</a:t>
            </a:r>
            <a:r>
              <a:rPr lang="en-US" altLang="zh-CN" sz="1400"/>
              <a:t> beyond pulmonary involvement, the encouraging efficacy signals observed in the </a:t>
            </a:r>
            <a:r>
              <a:rPr lang="en-US" altLang="zh-CN" sz="1400" err="1"/>
              <a:t>SSc</a:t>
            </a:r>
            <a:r>
              <a:rPr lang="en-US" altLang="zh-CN" sz="1400"/>
              <a:t>-ILD subgroup analysis from the FIBRONEER™-ILD trial, and the substantial efficacy and safety data already available from Phase 3 trials in IPF and PPF, does CDE support the </a:t>
            </a:r>
            <a:r>
              <a:rPr lang="en-US" altLang="zh-CN" sz="1400" b="1"/>
              <a:t>rationale to proceed directly to a Phase III clinical trial in patients with </a:t>
            </a:r>
            <a:r>
              <a:rPr lang="en-US" altLang="zh-CN" sz="1400" b="1" err="1"/>
              <a:t>SSc</a:t>
            </a:r>
            <a:r>
              <a:rPr lang="en-US" altLang="zh-CN" sz="1400"/>
              <a:t>, without conducting a dedicated Phase II trial in this population?</a:t>
            </a:r>
          </a:p>
          <a:p>
            <a:pPr marL="342900" indent="-342900">
              <a:buFont typeface="+mj-lt"/>
              <a:buAutoNum type="arabicPeriod"/>
            </a:pPr>
            <a:r>
              <a:rPr lang="en-US" altLang="zh-CN" sz="1400"/>
              <a:t>Does the CDE agree that the proposed Phase III trial (1305-0052) is appropriately designed and powered to evaluate the efficacy of </a:t>
            </a:r>
            <a:r>
              <a:rPr lang="en-US" altLang="zh-CN" sz="1400" err="1"/>
              <a:t>nerandomilast</a:t>
            </a:r>
            <a:r>
              <a:rPr lang="en-US" altLang="zh-CN" sz="1400"/>
              <a:t> for the treatment of </a:t>
            </a:r>
            <a:r>
              <a:rPr lang="en-US" altLang="zh-CN" sz="1400" err="1"/>
              <a:t>SSc</a:t>
            </a:r>
            <a:r>
              <a:rPr lang="en-US" altLang="zh-CN" sz="1400"/>
              <a:t>, including the adequacy of the study population and </a:t>
            </a:r>
            <a:r>
              <a:rPr lang="en-US" altLang="zh-CN" sz="1400" b="1"/>
              <a:t>endpoints</a:t>
            </a:r>
            <a:r>
              <a:rPr lang="en-US" altLang="zh-CN" sz="1400"/>
              <a:t> to support the target indication of “Treatment of </a:t>
            </a:r>
            <a:r>
              <a:rPr lang="en-US" altLang="zh-CN" sz="1400" err="1"/>
              <a:t>SSc</a:t>
            </a:r>
            <a:r>
              <a:rPr lang="en-US" altLang="zh-CN" sz="1400"/>
              <a:t>”? </a:t>
            </a:r>
          </a:p>
          <a:p>
            <a:pPr marL="342900" indent="-342900">
              <a:buFont typeface="+mj-lt"/>
              <a:buAutoNum type="arabicPeriod"/>
            </a:pPr>
            <a:r>
              <a:rPr lang="en-US" altLang="zh-CN" sz="1400"/>
              <a:t> Does the CDE concur that the </a:t>
            </a:r>
            <a:r>
              <a:rPr lang="en-US" altLang="zh-CN" sz="1400" b="1"/>
              <a:t>statistical analysis strategy </a:t>
            </a:r>
            <a:r>
              <a:rPr lang="en-US" altLang="zh-CN" sz="1400"/>
              <a:t>of the proposed Phase III trial (1305-0052) is set up sufficiently to provide evidence of efficacy for </a:t>
            </a:r>
            <a:r>
              <a:rPr lang="en-US" altLang="zh-CN" sz="1400" err="1"/>
              <a:t>nerandomilast</a:t>
            </a:r>
            <a:r>
              <a:rPr lang="en-US" altLang="zh-CN" sz="1400"/>
              <a:t> in the targeted indication including the scenario of positive interim analyses? </a:t>
            </a:r>
          </a:p>
          <a:p>
            <a:pPr marL="342900" indent="-342900">
              <a:buFont typeface="+mj-lt"/>
              <a:buAutoNum type="arabicPeriod"/>
            </a:pPr>
            <a:r>
              <a:rPr lang="en-US" altLang="zh-CN" sz="1400"/>
              <a:t>Does the CDE concur that the proposed Phase III Trial (1305-0052) is adequately designed to determine safety of </a:t>
            </a:r>
            <a:r>
              <a:rPr lang="en-US" altLang="zh-CN" sz="1400" err="1"/>
              <a:t>nerandomilast</a:t>
            </a:r>
            <a:r>
              <a:rPr lang="en-US" altLang="zh-CN" sz="1400"/>
              <a:t> in adult patients with </a:t>
            </a:r>
            <a:r>
              <a:rPr lang="en-US" altLang="zh-CN" sz="1400" err="1"/>
              <a:t>SSc</a:t>
            </a:r>
            <a:r>
              <a:rPr lang="en-US" altLang="zh-CN" sz="1400"/>
              <a:t>? </a:t>
            </a:r>
          </a:p>
          <a:p>
            <a:pPr marL="342900" indent="-342900">
              <a:buFont typeface="+mj-lt"/>
              <a:buAutoNum type="arabicPeriod"/>
            </a:pPr>
            <a:r>
              <a:rPr lang="en-US" altLang="zh-CN" sz="1400"/>
              <a:t>Does the CDE agree with the proposed </a:t>
            </a:r>
            <a:r>
              <a:rPr lang="en-US" altLang="zh-CN" sz="1400" b="1"/>
              <a:t>dose regimen </a:t>
            </a:r>
            <a:r>
              <a:rPr lang="en-US" altLang="zh-CN" sz="1400"/>
              <a:t>to be tested in the proposed Phase III trial (1305-0052)? </a:t>
            </a:r>
          </a:p>
        </p:txBody>
      </p:sp>
      <p:sp>
        <p:nvSpPr>
          <p:cNvPr id="6" name="文本占位符 5">
            <a:extLst>
              <a:ext uri="{FF2B5EF4-FFF2-40B4-BE49-F238E27FC236}">
                <a16:creationId xmlns:a16="http://schemas.microsoft.com/office/drawing/2014/main" id="{B742389C-EEA0-02FD-E60E-37AD18EFCC92}"/>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3521007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88B27945-5F03-6A64-5009-5C4F45974CC7}"/>
              </a:ext>
            </a:extLst>
          </p:cNvPr>
          <p:cNvSpPr/>
          <p:nvPr/>
        </p:nvSpPr>
        <p:spPr bwMode="gray">
          <a:xfrm>
            <a:off x="317643" y="3244754"/>
            <a:ext cx="2870848" cy="2173027"/>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9" name="矩形 8">
            <a:extLst>
              <a:ext uri="{FF2B5EF4-FFF2-40B4-BE49-F238E27FC236}">
                <a16:creationId xmlns:a16="http://schemas.microsoft.com/office/drawing/2014/main" id="{5F27E524-D26E-3B15-63D0-97718FA0DDE3}"/>
              </a:ext>
            </a:extLst>
          </p:cNvPr>
          <p:cNvSpPr/>
          <p:nvPr/>
        </p:nvSpPr>
        <p:spPr bwMode="gray">
          <a:xfrm>
            <a:off x="317643" y="1169954"/>
            <a:ext cx="2870851" cy="1661993"/>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 name="标题 1">
            <a:extLst>
              <a:ext uri="{FF2B5EF4-FFF2-40B4-BE49-F238E27FC236}">
                <a16:creationId xmlns:a16="http://schemas.microsoft.com/office/drawing/2014/main" id="{D8A625E2-EA75-6D31-6B17-DF501A88F3A1}"/>
              </a:ext>
            </a:extLst>
          </p:cNvPr>
          <p:cNvSpPr>
            <a:spLocks noGrp="1"/>
          </p:cNvSpPr>
          <p:nvPr>
            <p:ph type="title"/>
          </p:nvPr>
        </p:nvSpPr>
        <p:spPr>
          <a:xfrm>
            <a:off x="479424" y="292307"/>
            <a:ext cx="11233151" cy="720000"/>
          </a:xfrm>
        </p:spPr>
        <p:txBody>
          <a:bodyPr/>
          <a:lstStyle/>
          <a:p>
            <a:r>
              <a:rPr lang="en-US" sz="2500" b="1">
                <a:solidFill>
                  <a:srgbClr val="08312A"/>
                </a:solidFill>
                <a:effectLst/>
                <a:latin typeface="Boehringer Forward Head" panose="020B0504030403020204" pitchFamily="2" charset="0"/>
              </a:rPr>
              <a:t>Overview of Feedback Received from FDA, CDE, and PMDA Following the Pre-CTA HAI</a:t>
            </a:r>
            <a:endParaRPr lang="zh-CN" altLang="en-US"/>
          </a:p>
        </p:txBody>
      </p:sp>
      <p:sp>
        <p:nvSpPr>
          <p:cNvPr id="4" name="灯片编号占位符 3">
            <a:extLst>
              <a:ext uri="{FF2B5EF4-FFF2-40B4-BE49-F238E27FC236}">
                <a16:creationId xmlns:a16="http://schemas.microsoft.com/office/drawing/2014/main" id="{9B950473-5B5F-E7E6-F6C7-799037A85E7C}"/>
              </a:ext>
            </a:extLst>
          </p:cNvPr>
          <p:cNvSpPr>
            <a:spLocks noGrp="1"/>
          </p:cNvSpPr>
          <p:nvPr>
            <p:ph type="sldNum" sz="quarter" idx="11"/>
          </p:nvPr>
        </p:nvSpPr>
        <p:spPr/>
        <p:txBody>
          <a:bodyPr/>
          <a:lstStyle/>
          <a:p>
            <a:fld id="{8FF9B0DE-3FEB-4AA0-B465-B80EF7C1333D}" type="slidenum">
              <a:rPr lang="en-US" smtClean="0"/>
              <a:pPr/>
              <a:t>17</a:t>
            </a:fld>
            <a:endParaRPr lang="en-US"/>
          </a:p>
        </p:txBody>
      </p:sp>
      <p:sp>
        <p:nvSpPr>
          <p:cNvPr id="5" name="文本框 4">
            <a:extLst>
              <a:ext uri="{FF2B5EF4-FFF2-40B4-BE49-F238E27FC236}">
                <a16:creationId xmlns:a16="http://schemas.microsoft.com/office/drawing/2014/main" id="{4D864D71-0030-3FFD-0EBC-25AF4A44D787}"/>
              </a:ext>
            </a:extLst>
          </p:cNvPr>
          <p:cNvSpPr txBox="1"/>
          <p:nvPr/>
        </p:nvSpPr>
        <p:spPr bwMode="gray">
          <a:xfrm>
            <a:off x="317642" y="1545147"/>
            <a:ext cx="2870851" cy="879664"/>
          </a:xfrm>
          <a:prstGeom prst="rect">
            <a:avLst/>
          </a:prstGeom>
          <a:noFill/>
        </p:spPr>
        <p:txBody>
          <a:bodyPr wrap="square" lIns="0" tIns="0" rIns="0" bIns="0" rtlCol="0">
            <a:spAutoFit/>
          </a:bodyPr>
          <a:lstStyle/>
          <a:p>
            <a:pPr algn="ctr">
              <a:lnSpc>
                <a:spcPct val="140000"/>
              </a:lnSpc>
            </a:pPr>
            <a:r>
              <a:rPr lang="en-US" altLang="zh-CN" sz="1400" b="1"/>
              <a:t>Proceed directly into a Ph3 in </a:t>
            </a:r>
            <a:r>
              <a:rPr lang="en-US" altLang="zh-CN" sz="1400" b="1" err="1"/>
              <a:t>SSc</a:t>
            </a:r>
            <a:r>
              <a:rPr lang="en-US" altLang="zh-CN" sz="1400" b="1"/>
              <a:t> without conducting a dedicated ph2</a:t>
            </a:r>
            <a:endParaRPr lang="zh-CN" altLang="en-US" sz="1400" b="1"/>
          </a:p>
        </p:txBody>
      </p:sp>
      <p:sp>
        <p:nvSpPr>
          <p:cNvPr id="6" name="文本框 5">
            <a:extLst>
              <a:ext uri="{FF2B5EF4-FFF2-40B4-BE49-F238E27FC236}">
                <a16:creationId xmlns:a16="http://schemas.microsoft.com/office/drawing/2014/main" id="{2029125E-0161-99C0-CD09-3203D198FC6A}"/>
              </a:ext>
            </a:extLst>
          </p:cNvPr>
          <p:cNvSpPr txBox="1"/>
          <p:nvPr/>
        </p:nvSpPr>
        <p:spPr bwMode="gray">
          <a:xfrm>
            <a:off x="406684" y="3464321"/>
            <a:ext cx="2692765" cy="1784527"/>
          </a:xfrm>
          <a:prstGeom prst="rect">
            <a:avLst/>
          </a:prstGeom>
          <a:noFill/>
        </p:spPr>
        <p:txBody>
          <a:bodyPr wrap="square" lIns="0" tIns="0" rIns="0" bIns="0" rtlCol="0">
            <a:spAutoFit/>
          </a:bodyPr>
          <a:lstStyle/>
          <a:p>
            <a:pPr algn="ctr">
              <a:lnSpc>
                <a:spcPct val="140000"/>
              </a:lnSpc>
            </a:pPr>
            <a:r>
              <a:rPr lang="en-US" altLang="zh-CN" sz="1400" b="1"/>
              <a:t>Overall study design to support target indication of “treatment of </a:t>
            </a:r>
            <a:r>
              <a:rPr lang="en-US" altLang="zh-CN" sz="1400" b="1" err="1"/>
              <a:t>SSc</a:t>
            </a:r>
            <a:r>
              <a:rPr lang="en-US" altLang="zh-CN" sz="1400" b="1"/>
              <a:t>” </a:t>
            </a:r>
            <a:r>
              <a:rPr lang="en-US" altLang="zh-CN" sz="1400"/>
              <a:t>(study population, endpoints, statistical analysis strategy, safety, dose regimen)</a:t>
            </a:r>
            <a:endParaRPr lang="zh-CN" altLang="en-US" sz="1400"/>
          </a:p>
        </p:txBody>
      </p:sp>
      <p:sp>
        <p:nvSpPr>
          <p:cNvPr id="11" name="文本框 10">
            <a:extLst>
              <a:ext uri="{FF2B5EF4-FFF2-40B4-BE49-F238E27FC236}">
                <a16:creationId xmlns:a16="http://schemas.microsoft.com/office/drawing/2014/main" id="{DE5CAC7D-54E2-AFF9-880D-93112EB59C5A}"/>
              </a:ext>
            </a:extLst>
          </p:cNvPr>
          <p:cNvSpPr txBox="1"/>
          <p:nvPr/>
        </p:nvSpPr>
        <p:spPr bwMode="gray">
          <a:xfrm>
            <a:off x="3188491" y="1199466"/>
            <a:ext cx="8677926" cy="1661993"/>
          </a:xfrm>
          <a:prstGeom prst="rect">
            <a:avLst/>
          </a:prstGeom>
          <a:noFill/>
          <a:ln w="19050">
            <a:noFill/>
          </a:ln>
        </p:spPr>
        <p:txBody>
          <a:bodyPr wrap="square" lIns="0" tIns="0" rIns="0" bIns="0" rtlCol="0">
            <a:spAutoFit/>
          </a:bodyPr>
          <a:lstStyle/>
          <a:p>
            <a:pPr marL="283464" indent="-283464">
              <a:spcAft>
                <a:spcPts val="600"/>
              </a:spcAft>
              <a:buFont typeface="Arial" panose="020B0604020202020204" pitchFamily="34" charset="0"/>
              <a:buChar char="•"/>
            </a:pPr>
            <a:r>
              <a:rPr lang="en-US" altLang="zh-CN" sz="1400" b="1"/>
              <a:t>FDA: </a:t>
            </a:r>
            <a:r>
              <a:rPr lang="en-US" altLang="zh-CN" sz="1400"/>
              <a:t>The </a:t>
            </a:r>
            <a:r>
              <a:rPr lang="en-US" altLang="zh-CN" sz="1400" err="1"/>
              <a:t>SSc</a:t>
            </a:r>
            <a:r>
              <a:rPr lang="en-US" altLang="zh-CN" sz="1400"/>
              <a:t>-ILD subgroup data’s relevance to the broader </a:t>
            </a:r>
            <a:r>
              <a:rPr lang="en-US" altLang="zh-CN" sz="1400" err="1"/>
              <a:t>SSc</a:t>
            </a:r>
            <a:r>
              <a:rPr lang="en-US" altLang="zh-CN" sz="1400"/>
              <a:t> population remains </a:t>
            </a:r>
            <a:r>
              <a:rPr lang="en-US" altLang="zh-CN" sz="1400" b="1">
                <a:solidFill>
                  <a:srgbClr val="FF0000"/>
                </a:solidFill>
              </a:rPr>
              <a:t>uncertain</a:t>
            </a:r>
            <a:r>
              <a:rPr lang="en-US" altLang="zh-CN" sz="1400"/>
              <a:t>; a </a:t>
            </a:r>
            <a:r>
              <a:rPr lang="en-US" altLang="zh-CN" sz="1400" b="1" err="1"/>
              <a:t>ph</a:t>
            </a:r>
            <a:r>
              <a:rPr lang="en-US" altLang="zh-CN" sz="1400" b="1"/>
              <a:t> 2 dose-finding/POC trial is recommended</a:t>
            </a:r>
            <a:r>
              <a:rPr lang="en-US" altLang="zh-CN" sz="1400"/>
              <a:t> to guide ph3; conducting a ph3 trial based on available data is </a:t>
            </a:r>
            <a:r>
              <a:rPr lang="en-US" altLang="zh-CN" sz="1400" b="1"/>
              <a:t>at your discretion</a:t>
            </a:r>
            <a:r>
              <a:rPr lang="en-US" altLang="zh-CN" sz="1400"/>
              <a:t>.</a:t>
            </a:r>
          </a:p>
          <a:p>
            <a:pPr marL="283464" lvl="0" indent="-283464" defTabSz="914354">
              <a:spcAft>
                <a:spcPts val="600"/>
              </a:spcAft>
              <a:buFont typeface="Arial" panose="020B0604020202020204" pitchFamily="34" charset="0"/>
              <a:buChar char="•"/>
              <a:defRPr/>
            </a:pPr>
            <a:r>
              <a:rPr lang="en-US" altLang="zh-CN" sz="1400" b="1"/>
              <a:t>CDE: </a:t>
            </a:r>
            <a:r>
              <a:rPr lang="en-US" altLang="zh-CN" sz="1400"/>
              <a:t>current evidence </a:t>
            </a:r>
            <a:r>
              <a:rPr lang="en-US" altLang="zh-CN" sz="1400" b="1">
                <a:solidFill>
                  <a:srgbClr val="FF0000"/>
                </a:solidFill>
              </a:rPr>
              <a:t>is insufficient </a:t>
            </a:r>
            <a:r>
              <a:rPr lang="en-US" altLang="zh-CN" sz="1400"/>
              <a:t>to justify proceeding directly to a pivotal trial for </a:t>
            </a:r>
            <a:r>
              <a:rPr lang="en-US" altLang="zh-CN" sz="1400" err="1"/>
              <a:t>SSc</a:t>
            </a:r>
            <a:r>
              <a:rPr lang="en-US" altLang="zh-CN" sz="1400"/>
              <a:t>; a </a:t>
            </a:r>
            <a:r>
              <a:rPr lang="en-US" altLang="zh-CN" sz="1400" b="1"/>
              <a:t>dose-exploratory trial</a:t>
            </a:r>
            <a:r>
              <a:rPr lang="en-US" altLang="zh-CN" sz="1400"/>
              <a:t> for </a:t>
            </a:r>
            <a:r>
              <a:rPr lang="en-US" altLang="zh-CN" sz="1400" err="1"/>
              <a:t>SSc</a:t>
            </a:r>
            <a:r>
              <a:rPr lang="en-US" altLang="zh-CN" sz="1400"/>
              <a:t> or </a:t>
            </a:r>
            <a:r>
              <a:rPr lang="en-US" altLang="zh-CN" sz="1400" b="1"/>
              <a:t>provide additional evidence </a:t>
            </a:r>
            <a:r>
              <a:rPr lang="en-US" altLang="zh-CN" sz="1400"/>
              <a:t>would support advancing to a pivotal trial for </a:t>
            </a:r>
            <a:r>
              <a:rPr lang="en-US" altLang="zh-CN" sz="1400" err="1"/>
              <a:t>SSc</a:t>
            </a:r>
            <a:r>
              <a:rPr lang="en-US" altLang="zh-CN" sz="1400"/>
              <a:t>.</a:t>
            </a:r>
          </a:p>
          <a:p>
            <a:pPr marL="283464" lvl="0" indent="-283464" defTabSz="914354">
              <a:spcAft>
                <a:spcPts val="600"/>
              </a:spcAft>
              <a:buFont typeface="Arial" panose="020B0604020202020204" pitchFamily="34" charset="0"/>
              <a:buChar char="•"/>
              <a:defRPr/>
            </a:pPr>
            <a:r>
              <a:rPr lang="en-US" altLang="zh-CN" sz="1400" b="1"/>
              <a:t>PMDA: </a:t>
            </a:r>
            <a:r>
              <a:rPr lang="en-US" altLang="zh-CN" sz="1400"/>
              <a:t>trial </a:t>
            </a:r>
            <a:r>
              <a:rPr lang="en-US" altLang="zh-CN" sz="1400" b="1">
                <a:solidFill>
                  <a:srgbClr val="FF0000"/>
                </a:solidFill>
              </a:rPr>
              <a:t>cannot</a:t>
            </a:r>
            <a:r>
              <a:rPr lang="en-US" altLang="zh-CN" sz="1400"/>
              <a:t> be considered a confirmatory study due</a:t>
            </a:r>
            <a:r>
              <a:rPr lang="zh-CN" altLang="en-US" sz="1400"/>
              <a:t> </a:t>
            </a:r>
            <a:r>
              <a:rPr lang="en-US" altLang="zh-CN" sz="1400"/>
              <a:t>to</a:t>
            </a:r>
            <a:r>
              <a:rPr lang="zh-CN" altLang="en-US" sz="1400"/>
              <a:t> </a:t>
            </a:r>
            <a:r>
              <a:rPr lang="en-US" altLang="zh-CN" sz="1400" b="1">
                <a:solidFill>
                  <a:srgbClr val="FF0000"/>
                </a:solidFill>
              </a:rPr>
              <a:t>insufficient</a:t>
            </a:r>
            <a:r>
              <a:rPr lang="en-US" altLang="zh-CN" sz="1400"/>
              <a:t> evidence.</a:t>
            </a:r>
            <a:endParaRPr lang="zh-CN" altLang="zh-CN" sz="1400"/>
          </a:p>
        </p:txBody>
      </p:sp>
      <p:sp>
        <p:nvSpPr>
          <p:cNvPr id="12" name="矩形 11">
            <a:extLst>
              <a:ext uri="{FF2B5EF4-FFF2-40B4-BE49-F238E27FC236}">
                <a16:creationId xmlns:a16="http://schemas.microsoft.com/office/drawing/2014/main" id="{B34FB8E8-1767-AADB-17A6-76909A40B7E1}"/>
              </a:ext>
            </a:extLst>
          </p:cNvPr>
          <p:cNvSpPr/>
          <p:nvPr/>
        </p:nvSpPr>
        <p:spPr bwMode="gray">
          <a:xfrm>
            <a:off x="3188492" y="1184710"/>
            <a:ext cx="8750661" cy="1647237"/>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3" name="文本框 12">
            <a:extLst>
              <a:ext uri="{FF2B5EF4-FFF2-40B4-BE49-F238E27FC236}">
                <a16:creationId xmlns:a16="http://schemas.microsoft.com/office/drawing/2014/main" id="{3A97C999-5AF6-63DF-80AD-3C1FECDFAE15}"/>
              </a:ext>
            </a:extLst>
          </p:cNvPr>
          <p:cNvSpPr txBox="1"/>
          <p:nvPr/>
        </p:nvSpPr>
        <p:spPr bwMode="gray">
          <a:xfrm>
            <a:off x="3202392" y="3310145"/>
            <a:ext cx="8677926" cy="2092881"/>
          </a:xfrm>
          <a:prstGeom prst="rect">
            <a:avLst/>
          </a:prstGeom>
          <a:noFill/>
          <a:ln w="19050">
            <a:noFill/>
          </a:ln>
        </p:spPr>
        <p:txBody>
          <a:bodyPr wrap="square" lIns="0" tIns="0" rIns="0" bIns="0" rtlCol="0">
            <a:spAutoFit/>
          </a:bodyPr>
          <a:lstStyle/>
          <a:p>
            <a:pPr marL="283464" indent="-283464">
              <a:spcAft>
                <a:spcPts val="600"/>
              </a:spcAft>
              <a:buFont typeface="Arial" panose="020B0604020202020204" pitchFamily="34" charset="0"/>
              <a:buChar char="•"/>
            </a:pPr>
            <a:r>
              <a:rPr lang="en-US" altLang="zh-CN" sz="1400" b="1"/>
              <a:t>FDA: </a:t>
            </a:r>
            <a:r>
              <a:rPr lang="en-US" altLang="zh-CN" sz="1400"/>
              <a:t>No regulatory precedent exists regarding primary endpoint; efficacy must show improvement across multiple core components; </a:t>
            </a:r>
            <a:r>
              <a:rPr lang="en-US" altLang="zh-CN" sz="1400">
                <a:solidFill>
                  <a:srgbClr val="FF0000"/>
                </a:solidFill>
              </a:rPr>
              <a:t>variability in assessment and interpretation</a:t>
            </a:r>
            <a:r>
              <a:rPr lang="en-US" altLang="zh-CN" sz="1400"/>
              <a:t> (e.g. </a:t>
            </a:r>
            <a:r>
              <a:rPr lang="en-US" altLang="zh-CN" sz="1400" err="1"/>
              <a:t>mRSS</a:t>
            </a:r>
            <a:r>
              <a:rPr lang="en-US" altLang="zh-CN" sz="1400"/>
              <a:t>) should be considered; </a:t>
            </a:r>
            <a:r>
              <a:rPr lang="en-US" altLang="zh-CN" sz="1400">
                <a:latin typeface="Boehringer Forward Text" panose="02000500000000020000" pitchFamily="2" charset="0"/>
              </a:rPr>
              <a:t>dose reduction impact on efficacy and safety need to be considered; data from the planned </a:t>
            </a:r>
            <a:r>
              <a:rPr lang="en-US" altLang="zh-CN" sz="1400" err="1">
                <a:latin typeface="Boehringer Forward Text" panose="02000500000000020000" pitchFamily="2" charset="0"/>
              </a:rPr>
              <a:t>ph</a:t>
            </a:r>
            <a:r>
              <a:rPr lang="en-US" altLang="zh-CN" sz="1400">
                <a:latin typeface="Boehringer Forward Text" panose="02000500000000020000" pitchFamily="2" charset="0"/>
              </a:rPr>
              <a:t> 3 study in the </a:t>
            </a:r>
            <a:r>
              <a:rPr lang="en-US" altLang="zh-CN" sz="1400" err="1">
                <a:latin typeface="Boehringer Forward Text" panose="02000500000000020000" pitchFamily="2" charset="0"/>
              </a:rPr>
              <a:t>SSc</a:t>
            </a:r>
            <a:r>
              <a:rPr lang="en-US" altLang="zh-CN" sz="1400">
                <a:latin typeface="Boehringer Forward Text" panose="02000500000000020000" pitchFamily="2" charset="0"/>
              </a:rPr>
              <a:t>-ILD subgroup may support an independent </a:t>
            </a:r>
            <a:r>
              <a:rPr lang="en-US" altLang="zh-CN" sz="1400" b="1" err="1">
                <a:solidFill>
                  <a:srgbClr val="FF0000"/>
                </a:solidFill>
                <a:latin typeface="Boehringer Forward Text" panose="02000500000000020000" pitchFamily="2" charset="0"/>
              </a:rPr>
              <a:t>SSc</a:t>
            </a:r>
            <a:r>
              <a:rPr lang="en-US" altLang="zh-CN" sz="1400" b="1">
                <a:solidFill>
                  <a:srgbClr val="FF0000"/>
                </a:solidFill>
                <a:latin typeface="Boehringer Forward Text" panose="02000500000000020000" pitchFamily="2" charset="0"/>
              </a:rPr>
              <a:t>-ILD indication</a:t>
            </a:r>
            <a:r>
              <a:rPr lang="en-US" altLang="zh-CN" sz="1400">
                <a:latin typeface="Boehringer Forward Text" panose="02000500000000020000" pitchFamily="2" charset="0"/>
              </a:rPr>
              <a:t>.</a:t>
            </a:r>
            <a:endParaRPr lang="en-US" altLang="zh-CN" sz="1400"/>
          </a:p>
          <a:p>
            <a:pPr marL="283464" lvl="0" indent="-283464" defTabSz="914354">
              <a:spcAft>
                <a:spcPts val="600"/>
              </a:spcAft>
              <a:buFont typeface="Arial" panose="020B0604020202020204" pitchFamily="34" charset="0"/>
              <a:buChar char="•"/>
              <a:defRPr/>
            </a:pPr>
            <a:r>
              <a:rPr lang="en-US" altLang="zh-CN" sz="1400" b="1"/>
              <a:t>CDE: </a:t>
            </a:r>
            <a:r>
              <a:rPr lang="en-US" altLang="zh-CN" sz="1400"/>
              <a:t>/.</a:t>
            </a:r>
          </a:p>
          <a:p>
            <a:pPr marL="283464" lvl="0" indent="-283464" defTabSz="914354">
              <a:spcAft>
                <a:spcPts val="600"/>
              </a:spcAft>
              <a:buFont typeface="Arial" panose="020B0604020202020204" pitchFamily="34" charset="0"/>
              <a:buChar char="•"/>
              <a:defRPr/>
            </a:pPr>
            <a:r>
              <a:rPr lang="en-US" altLang="zh-CN" sz="1400" b="1"/>
              <a:t>PMDA: </a:t>
            </a:r>
            <a:r>
              <a:rPr lang="en-US" altLang="zh-CN" sz="1400">
                <a:solidFill>
                  <a:srgbClr val="FF0000"/>
                </a:solidFill>
                <a:latin typeface="Boehringer Forward Text" panose="02000500000000020000" pitchFamily="2" charset="0"/>
              </a:rPr>
              <a:t>Interpreting the results may be difficult</a:t>
            </a:r>
            <a:r>
              <a:rPr lang="en-US" altLang="zh-CN" sz="1400">
                <a:solidFill>
                  <a:srgbClr val="000000"/>
                </a:solidFill>
                <a:latin typeface="Boehringer Forward Text" panose="02000500000000020000" pitchFamily="2" charset="0"/>
              </a:rPr>
              <a:t>, and there is a high risk that a negative judgment may have to be made even if proposed primary endpoint meets; no intention to halt the conduct of the 1305-0052 trial due to no safety concerns;</a:t>
            </a:r>
            <a:r>
              <a:rPr lang="en-US" altLang="zh-CN" sz="1400">
                <a:solidFill>
                  <a:srgbClr val="000000"/>
                </a:solidFill>
                <a:latin typeface="Boehringer Forward Text" panose="020B0504030403020204" pitchFamily="2" charset="0"/>
              </a:rPr>
              <a:t> even if a pre-NDA consultation is conducted based on the trial’s findings, there is concern that it </a:t>
            </a:r>
            <a:r>
              <a:rPr lang="en-US" altLang="zh-CN" sz="1400" b="1">
                <a:solidFill>
                  <a:srgbClr val="FF0000"/>
                </a:solidFill>
                <a:latin typeface="Boehringer Forward Text" panose="020B0504030403020204" pitchFamily="2" charset="0"/>
              </a:rPr>
              <a:t>may not result in NDA approval</a:t>
            </a:r>
            <a:r>
              <a:rPr lang="en-US" altLang="zh-CN" sz="1400">
                <a:solidFill>
                  <a:srgbClr val="000000"/>
                </a:solidFill>
                <a:latin typeface="Boehringer Forward Text" panose="020B0504030403020204" pitchFamily="2" charset="0"/>
              </a:rPr>
              <a:t>.</a:t>
            </a:r>
          </a:p>
        </p:txBody>
      </p:sp>
      <p:sp>
        <p:nvSpPr>
          <p:cNvPr id="14" name="矩形 13">
            <a:extLst>
              <a:ext uri="{FF2B5EF4-FFF2-40B4-BE49-F238E27FC236}">
                <a16:creationId xmlns:a16="http://schemas.microsoft.com/office/drawing/2014/main" id="{754A68B7-D21D-3D10-C02D-39D199DB5578}"/>
              </a:ext>
            </a:extLst>
          </p:cNvPr>
          <p:cNvSpPr/>
          <p:nvPr/>
        </p:nvSpPr>
        <p:spPr bwMode="gray">
          <a:xfrm>
            <a:off x="3115754" y="3259510"/>
            <a:ext cx="8823399" cy="2158271"/>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5" name="文本框 14">
            <a:extLst>
              <a:ext uri="{FF2B5EF4-FFF2-40B4-BE49-F238E27FC236}">
                <a16:creationId xmlns:a16="http://schemas.microsoft.com/office/drawing/2014/main" id="{1058AC53-112C-2021-1A69-30659153A55F}"/>
              </a:ext>
            </a:extLst>
          </p:cNvPr>
          <p:cNvSpPr txBox="1"/>
          <p:nvPr/>
        </p:nvSpPr>
        <p:spPr bwMode="gray">
          <a:xfrm>
            <a:off x="1255731" y="5637348"/>
            <a:ext cx="9680535" cy="246221"/>
          </a:xfrm>
          <a:prstGeom prst="rect">
            <a:avLst/>
          </a:prstGeom>
          <a:noFill/>
        </p:spPr>
        <p:txBody>
          <a:bodyPr wrap="none" lIns="0" tIns="0" rIns="0" bIns="0" rtlCol="0">
            <a:spAutoFit/>
          </a:bodyPr>
          <a:lstStyle/>
          <a:p>
            <a:pPr marL="285750" indent="-285750">
              <a:spcAft>
                <a:spcPts val="600"/>
              </a:spcAft>
              <a:buFont typeface="Arial" panose="020B0604020202020204" pitchFamily="34" charset="0"/>
              <a:buChar char="•"/>
            </a:pPr>
            <a:r>
              <a:rPr lang="en-US" altLang="zh-CN" sz="1600" err="1"/>
              <a:t>RoFD</a:t>
            </a:r>
            <a:r>
              <a:rPr lang="en-US" altLang="zh-CN" sz="1600"/>
              <a:t> in </a:t>
            </a:r>
            <a:r>
              <a:rPr lang="en-US" altLang="zh-CN" sz="1600" err="1"/>
              <a:t>SSc</a:t>
            </a:r>
            <a:r>
              <a:rPr lang="en-US" altLang="zh-CN" sz="1600"/>
              <a:t> has been released by BUEC on Nov 18</a:t>
            </a:r>
            <a:r>
              <a:rPr lang="en-US" altLang="zh-CN" sz="1600" baseline="30000"/>
              <a:t>th</a:t>
            </a:r>
            <a:r>
              <a:rPr lang="en-US" altLang="zh-CN" sz="1600"/>
              <a:t> , and ph3 in </a:t>
            </a:r>
            <a:r>
              <a:rPr lang="en-US" altLang="zh-CN" sz="1600" err="1"/>
              <a:t>SSc</a:t>
            </a:r>
            <a:r>
              <a:rPr lang="en-US" altLang="zh-CN" sz="1600"/>
              <a:t> will be proceeded as planned. </a:t>
            </a:r>
          </a:p>
        </p:txBody>
      </p:sp>
    </p:spTree>
    <p:extLst>
      <p:ext uri="{BB962C8B-B14F-4D97-AF65-F5344CB8AC3E}">
        <p14:creationId xmlns:p14="http://schemas.microsoft.com/office/powerpoint/2010/main" val="3960407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E4284-1C53-117A-2AA5-A3C8DF72C85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0EAF47-4669-7EBE-B61C-BFE699322605}"/>
              </a:ext>
            </a:extLst>
          </p:cNvPr>
          <p:cNvSpPr>
            <a:spLocks noGrp="1"/>
          </p:cNvSpPr>
          <p:nvPr>
            <p:ph type="title"/>
          </p:nvPr>
        </p:nvSpPr>
        <p:spPr>
          <a:xfrm>
            <a:off x="479424" y="1412876"/>
            <a:ext cx="9578976" cy="1799861"/>
          </a:xfrm>
        </p:spPr>
        <p:txBody>
          <a:bodyPr/>
          <a:lstStyle/>
          <a:p>
            <a:r>
              <a:rPr lang="en-US" altLang="zh-CN"/>
              <a:t>China CTA/EC/NDA considerations</a:t>
            </a:r>
            <a:endParaRPr lang="zh-CN" altLang="en-US"/>
          </a:p>
        </p:txBody>
      </p:sp>
      <p:sp>
        <p:nvSpPr>
          <p:cNvPr id="3" name="副标题 2">
            <a:extLst>
              <a:ext uri="{FF2B5EF4-FFF2-40B4-BE49-F238E27FC236}">
                <a16:creationId xmlns:a16="http://schemas.microsoft.com/office/drawing/2014/main" id="{3C397495-4549-BEAC-4890-486A1B0AA8D0}"/>
              </a:ext>
            </a:extLst>
          </p:cNvPr>
          <p:cNvSpPr>
            <a:spLocks noGrp="1"/>
          </p:cNvSpPr>
          <p:nvPr>
            <p:ph type="subTitle" idx="14"/>
          </p:nvPr>
        </p:nvSpPr>
        <p:spPr/>
        <p:txBody>
          <a:bodyPr/>
          <a:lstStyle/>
          <a:p>
            <a:endParaRPr lang="zh-CN" altLang="en-US"/>
          </a:p>
        </p:txBody>
      </p:sp>
      <p:sp>
        <p:nvSpPr>
          <p:cNvPr id="4" name="页脚占位符 3">
            <a:extLst>
              <a:ext uri="{FF2B5EF4-FFF2-40B4-BE49-F238E27FC236}">
                <a16:creationId xmlns:a16="http://schemas.microsoft.com/office/drawing/2014/main" id="{2ED59109-B718-459C-1F61-970366A40D5D}"/>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Nerandomilast in SSc iCEC June 2025 CONFIDENTIAL ONLY FOR INTERNAL USE </a:t>
            </a:r>
          </a:p>
        </p:txBody>
      </p:sp>
    </p:spTree>
    <p:extLst>
      <p:ext uri="{BB962C8B-B14F-4D97-AF65-F5344CB8AC3E}">
        <p14:creationId xmlns:p14="http://schemas.microsoft.com/office/powerpoint/2010/main" val="4159057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B98181-8972-9A80-5A13-22A3BD4D7E8C}"/>
              </a:ext>
            </a:extLst>
          </p:cNvPr>
          <p:cNvSpPr>
            <a:spLocks noGrp="1"/>
          </p:cNvSpPr>
          <p:nvPr>
            <p:ph type="title"/>
          </p:nvPr>
        </p:nvSpPr>
        <p:spPr>
          <a:xfrm>
            <a:off x="479999" y="323164"/>
            <a:ext cx="11233151" cy="720000"/>
          </a:xfrm>
        </p:spPr>
        <p:txBody>
          <a:bodyPr/>
          <a:lstStyle/>
          <a:p>
            <a:r>
              <a:rPr lang="en-US" altLang="zh-CN"/>
              <a:t>Team evaluation and proposal</a:t>
            </a:r>
            <a:endParaRPr lang="zh-CN" altLang="en-US"/>
          </a:p>
        </p:txBody>
      </p:sp>
      <p:sp>
        <p:nvSpPr>
          <p:cNvPr id="3" name="文本占位符 2">
            <a:extLst>
              <a:ext uri="{FF2B5EF4-FFF2-40B4-BE49-F238E27FC236}">
                <a16:creationId xmlns:a16="http://schemas.microsoft.com/office/drawing/2014/main" id="{56B1F916-B7C5-F526-499E-1DBE6F45018A}"/>
              </a:ext>
            </a:extLst>
          </p:cNvPr>
          <p:cNvSpPr>
            <a:spLocks noGrp="1"/>
          </p:cNvSpPr>
          <p:nvPr>
            <p:ph type="body" sz="quarter" idx="13"/>
          </p:nvPr>
        </p:nvSpPr>
        <p:spPr/>
        <p:txBody>
          <a:bodyPr/>
          <a:lstStyle/>
          <a:p>
            <a:endParaRPr lang="zh-CN" altLang="en-US"/>
          </a:p>
        </p:txBody>
      </p:sp>
      <p:sp>
        <p:nvSpPr>
          <p:cNvPr id="4" name="灯片编号占位符 3">
            <a:extLst>
              <a:ext uri="{FF2B5EF4-FFF2-40B4-BE49-F238E27FC236}">
                <a16:creationId xmlns:a16="http://schemas.microsoft.com/office/drawing/2014/main" id="{A5311E38-C907-F836-16CB-9C5FED794F11}"/>
              </a:ext>
            </a:extLst>
          </p:cNvPr>
          <p:cNvSpPr>
            <a:spLocks noGrp="1"/>
          </p:cNvSpPr>
          <p:nvPr>
            <p:ph type="sldNum" sz="quarter" idx="11"/>
          </p:nvPr>
        </p:nvSpPr>
        <p:spPr/>
        <p:txBody>
          <a:bodyPr/>
          <a:lstStyle/>
          <a:p>
            <a:fld id="{8FF9B0DE-3FEB-4AA0-B465-B80EF7C1333D}" type="slidenum">
              <a:rPr lang="en-US" smtClean="0"/>
              <a:pPr/>
              <a:t>19</a:t>
            </a:fld>
            <a:endParaRPr lang="en-US"/>
          </a:p>
        </p:txBody>
      </p:sp>
      <p:sp>
        <p:nvSpPr>
          <p:cNvPr id="6" name="文本框 5">
            <a:extLst>
              <a:ext uri="{FF2B5EF4-FFF2-40B4-BE49-F238E27FC236}">
                <a16:creationId xmlns:a16="http://schemas.microsoft.com/office/drawing/2014/main" id="{7536B594-86F4-E773-901F-107AF0556665}"/>
              </a:ext>
            </a:extLst>
          </p:cNvPr>
          <p:cNvSpPr txBox="1"/>
          <p:nvPr/>
        </p:nvSpPr>
        <p:spPr bwMode="gray">
          <a:xfrm>
            <a:off x="484090" y="1121908"/>
            <a:ext cx="11084502" cy="4385816"/>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zh-CN" dirty="0"/>
              <a:t>Based on global team feedback, only additional pre-clinical data can be provided in CTA package. </a:t>
            </a:r>
          </a:p>
          <a:p>
            <a:pPr marL="285750" indent="-285750">
              <a:spcAft>
                <a:spcPts val="600"/>
              </a:spcAft>
              <a:buFont typeface="Arial" panose="020B0604020202020204" pitchFamily="34" charset="0"/>
              <a:buChar char="•"/>
            </a:pPr>
            <a:r>
              <a:rPr lang="en-US" altLang="zh-CN" b="1" dirty="0"/>
              <a:t>Potential risks related to China CTA, EC and NDA were identified.</a:t>
            </a:r>
          </a:p>
          <a:p>
            <a:pPr>
              <a:spcAft>
                <a:spcPts val="600"/>
              </a:spcAft>
            </a:pPr>
            <a:r>
              <a:rPr lang="en-US" altLang="zh-CN" sz="1600" dirty="0"/>
              <a:t>    - </a:t>
            </a:r>
            <a:r>
              <a:rPr lang="en-US" altLang="zh-CN" sz="1600" u="sng" dirty="0"/>
              <a:t>CTA: </a:t>
            </a:r>
            <a:r>
              <a:rPr lang="en-US" altLang="zh-CN" sz="1600" dirty="0"/>
              <a:t>CDE has not yet provided feedback regarding the specific study design and further review will be needed during CTA review; although the likelihood of CDE directly rejecting the CTA application is low, the approval letter may include remarks related to insufficient evidence and concerns.</a:t>
            </a:r>
          </a:p>
          <a:p>
            <a:pPr>
              <a:spcAft>
                <a:spcPts val="600"/>
              </a:spcAft>
            </a:pPr>
            <a:r>
              <a:rPr lang="en-US" altLang="zh-CN" sz="1600" dirty="0"/>
              <a:t>    - </a:t>
            </a:r>
            <a:r>
              <a:rPr lang="en-US" altLang="zh-CN" sz="1600" u="sng" dirty="0"/>
              <a:t>EC: </a:t>
            </a:r>
            <a:r>
              <a:rPr lang="en-US" altLang="zh-CN" sz="1600" dirty="0"/>
              <a:t>Concerns may be raised by site ECs due to unclear risk-benefit profile in </a:t>
            </a:r>
            <a:r>
              <a:rPr lang="en-US" altLang="zh-CN" sz="1600" dirty="0" err="1"/>
              <a:t>SSc</a:t>
            </a:r>
            <a:r>
              <a:rPr lang="en-US" altLang="zh-CN" sz="1600" dirty="0"/>
              <a:t> patients, which could potentially impact the subsequent trial execution.</a:t>
            </a:r>
          </a:p>
          <a:p>
            <a:pPr>
              <a:spcAft>
                <a:spcPts val="600"/>
              </a:spcAft>
            </a:pPr>
            <a:r>
              <a:rPr lang="en-US" altLang="zh-CN" sz="1600" dirty="0"/>
              <a:t>    - </a:t>
            </a:r>
            <a:r>
              <a:rPr lang="en-US" altLang="zh-CN" sz="1600" u="sng" dirty="0"/>
              <a:t>NDA: </a:t>
            </a:r>
            <a:r>
              <a:rPr lang="en-US" altLang="zh-CN" sz="1600" dirty="0"/>
              <a:t>remarks on the HAI feedback and CTA approval letter need to be addressed in NDA submission; approval of </a:t>
            </a:r>
            <a:r>
              <a:rPr lang="en-US" altLang="zh-CN" sz="1600" dirty="0" err="1"/>
              <a:t>SSc</a:t>
            </a:r>
            <a:r>
              <a:rPr lang="en-US" altLang="zh-CN" sz="1600" dirty="0"/>
              <a:t> indication may be challenging.</a:t>
            </a:r>
          </a:p>
          <a:p>
            <a:pPr marL="285750" indent="-285750">
              <a:spcAft>
                <a:spcPts val="600"/>
              </a:spcAft>
              <a:buFont typeface="Arial" panose="020B0604020202020204" pitchFamily="34" charset="0"/>
              <a:buChar char="•"/>
            </a:pPr>
            <a:r>
              <a:rPr lang="en-US" altLang="zh-CN" b="1" dirty="0"/>
              <a:t>Team proposal: submit China CTA after FDA feedback on US CTA.</a:t>
            </a:r>
          </a:p>
          <a:p>
            <a:pPr>
              <a:spcAft>
                <a:spcPts val="600"/>
              </a:spcAft>
            </a:pPr>
            <a:r>
              <a:rPr lang="en-US" altLang="zh-CN" sz="1600" dirty="0"/>
              <a:t>    - </a:t>
            </a:r>
            <a:r>
              <a:rPr lang="en-US" altLang="zh-CN" sz="1600" u="sng" dirty="0"/>
              <a:t>Pros</a:t>
            </a:r>
            <a:r>
              <a:rPr lang="en-US" altLang="zh-CN" sz="1600" dirty="0"/>
              <a:t>: New IND released by FDA may support China CTA/EC arguments.</a:t>
            </a:r>
          </a:p>
          <a:p>
            <a:pPr>
              <a:spcAft>
                <a:spcPts val="600"/>
              </a:spcAft>
            </a:pPr>
            <a:r>
              <a:rPr lang="en-US" altLang="zh-CN" sz="1600" dirty="0"/>
              <a:t>    - </a:t>
            </a:r>
            <a:r>
              <a:rPr lang="en-US" altLang="zh-CN" sz="1600" u="sng" dirty="0"/>
              <a:t>Cons: </a:t>
            </a:r>
            <a:r>
              <a:rPr lang="en-US" altLang="zh-CN" sz="1600" dirty="0"/>
              <a:t>1~2 months delay in leading site EC submission (only a minimal impact on patient enrollment in China).</a:t>
            </a:r>
          </a:p>
          <a:p>
            <a:pPr marL="285750" indent="-285750">
              <a:spcAft>
                <a:spcPts val="600"/>
              </a:spcAft>
              <a:buFont typeface="Arial" panose="020B0604020202020204" pitchFamily="34" charset="0"/>
              <a:buChar char="•"/>
            </a:pPr>
            <a:r>
              <a:rPr lang="en-US" altLang="zh-CN" b="1" dirty="0"/>
              <a:t>China CTA submission strategy has been endorsed by CEC in Nov and aligned with global ET.</a:t>
            </a:r>
          </a:p>
          <a:p>
            <a:pPr marL="285750" indent="-285750">
              <a:spcAft>
                <a:spcPts val="600"/>
              </a:spcAft>
              <a:buFont typeface="Arial" panose="020B0604020202020204" pitchFamily="34" charset="0"/>
              <a:buChar char="•"/>
            </a:pPr>
            <a:r>
              <a:rPr lang="en-US" altLang="zh-CN" b="1" dirty="0"/>
              <a:t>Risks associated with final NDA approval were communicated to local AT in Nov.</a:t>
            </a:r>
          </a:p>
        </p:txBody>
      </p:sp>
    </p:spTree>
    <p:extLst>
      <p:ext uri="{BB962C8B-B14F-4D97-AF65-F5344CB8AC3E}">
        <p14:creationId xmlns:p14="http://schemas.microsoft.com/office/powerpoint/2010/main" val="709262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369569" y="2075391"/>
            <a:ext cx="5577546" cy="192711"/>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 name="Title 3"/>
          <p:cNvSpPr>
            <a:spLocks noGrp="1"/>
          </p:cNvSpPr>
          <p:nvPr>
            <p:ph type="title"/>
          </p:nvPr>
        </p:nvSpPr>
        <p:spPr>
          <a:xfrm>
            <a:off x="346236" y="281595"/>
            <a:ext cx="11333146" cy="720000"/>
          </a:xfrm>
        </p:spPr>
        <p:txBody>
          <a:bodyPr>
            <a:normAutofit/>
          </a:bodyPr>
          <a:lstStyle/>
          <a:p>
            <a:r>
              <a:rPr lang="en-US" altLang="zh-CN" sz="2400" b="0" i="1">
                <a:cs typeface="Calibri" panose="020F0502020204030204" pitchFamily="34" charset="0"/>
              </a:rPr>
              <a:t>Nerandomilast (PDE4b inhibitor): </a:t>
            </a:r>
            <a:r>
              <a:rPr lang="en-US" altLang="zh-CN" sz="2400" b="0">
                <a:cs typeface="Calibri" panose="020F0502020204030204" pitchFamily="34" charset="0"/>
              </a:rPr>
              <a:t>Systemic Sclerosis (</a:t>
            </a:r>
            <a:r>
              <a:rPr lang="en-US" altLang="zh-CN" sz="2400" b="0" err="1">
                <a:ea typeface="+mn-ea"/>
                <a:cs typeface="Calibri" panose="020F0502020204030204" pitchFamily="34" charset="0"/>
              </a:rPr>
              <a:t>SSc</a:t>
            </a:r>
            <a:r>
              <a:rPr lang="en-US" altLang="zh-CN" sz="2400" b="0">
                <a:ea typeface="+mn-ea"/>
                <a:cs typeface="Calibri" panose="020F0502020204030204" pitchFamily="34" charset="0"/>
              </a:rPr>
              <a:t>) Development Plan</a:t>
            </a:r>
            <a:endParaRPr lang="zh-CN" altLang="en-US" sz="2400" b="0">
              <a:ea typeface="+mn-ea"/>
              <a:cs typeface="Calibri" panose="020F0502020204030204" pitchFamily="34" charset="0"/>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24703" y="3584239"/>
            <a:ext cx="12168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49" name="Table 48">
            <a:extLst>
              <a:ext uri="{FF2B5EF4-FFF2-40B4-BE49-F238E27FC236}">
                <a16:creationId xmlns:a16="http://schemas.microsoft.com/office/drawing/2014/main" id="{EB1832F7-86BE-4DEE-91F1-447638E4A957}"/>
              </a:ext>
            </a:extLst>
          </p:cNvPr>
          <p:cNvGraphicFramePr>
            <a:graphicFrameLocks noGrp="1"/>
          </p:cNvGraphicFramePr>
          <p:nvPr/>
        </p:nvGraphicFramePr>
        <p:xfrm>
          <a:off x="369569" y="1039091"/>
          <a:ext cx="11669672" cy="685800"/>
        </p:xfrm>
        <a:graphic>
          <a:graphicData uri="http://schemas.openxmlformats.org/drawingml/2006/table">
            <a:tbl>
              <a:tblPr firstRow="1" bandRow="1"/>
              <a:tblGrid>
                <a:gridCol w="416774">
                  <a:extLst>
                    <a:ext uri="{9D8B030D-6E8A-4147-A177-3AD203B41FA5}">
                      <a16:colId xmlns:a16="http://schemas.microsoft.com/office/drawing/2014/main" val="3696607442"/>
                    </a:ext>
                  </a:extLst>
                </a:gridCol>
                <a:gridCol w="416774">
                  <a:extLst>
                    <a:ext uri="{9D8B030D-6E8A-4147-A177-3AD203B41FA5}">
                      <a16:colId xmlns:a16="http://schemas.microsoft.com/office/drawing/2014/main" val="223989776"/>
                    </a:ext>
                  </a:extLst>
                </a:gridCol>
                <a:gridCol w="416774">
                  <a:extLst>
                    <a:ext uri="{9D8B030D-6E8A-4147-A177-3AD203B41FA5}">
                      <a16:colId xmlns:a16="http://schemas.microsoft.com/office/drawing/2014/main" val="124731204"/>
                    </a:ext>
                  </a:extLst>
                </a:gridCol>
                <a:gridCol w="416774">
                  <a:extLst>
                    <a:ext uri="{9D8B030D-6E8A-4147-A177-3AD203B41FA5}">
                      <a16:colId xmlns:a16="http://schemas.microsoft.com/office/drawing/2014/main" val="3066978585"/>
                    </a:ext>
                  </a:extLst>
                </a:gridCol>
                <a:gridCol w="416774">
                  <a:extLst>
                    <a:ext uri="{9D8B030D-6E8A-4147-A177-3AD203B41FA5}">
                      <a16:colId xmlns:a16="http://schemas.microsoft.com/office/drawing/2014/main" val="1064917641"/>
                    </a:ext>
                  </a:extLst>
                </a:gridCol>
                <a:gridCol w="416774">
                  <a:extLst>
                    <a:ext uri="{9D8B030D-6E8A-4147-A177-3AD203B41FA5}">
                      <a16:colId xmlns:a16="http://schemas.microsoft.com/office/drawing/2014/main" val="4221117315"/>
                    </a:ext>
                  </a:extLst>
                </a:gridCol>
                <a:gridCol w="416774">
                  <a:extLst>
                    <a:ext uri="{9D8B030D-6E8A-4147-A177-3AD203B41FA5}">
                      <a16:colId xmlns:a16="http://schemas.microsoft.com/office/drawing/2014/main" val="3266065341"/>
                    </a:ext>
                  </a:extLst>
                </a:gridCol>
                <a:gridCol w="416774">
                  <a:extLst>
                    <a:ext uri="{9D8B030D-6E8A-4147-A177-3AD203B41FA5}">
                      <a16:colId xmlns:a16="http://schemas.microsoft.com/office/drawing/2014/main" val="2374051224"/>
                    </a:ext>
                  </a:extLst>
                </a:gridCol>
                <a:gridCol w="416774">
                  <a:extLst>
                    <a:ext uri="{9D8B030D-6E8A-4147-A177-3AD203B41FA5}">
                      <a16:colId xmlns:a16="http://schemas.microsoft.com/office/drawing/2014/main" val="1840388365"/>
                    </a:ext>
                  </a:extLst>
                </a:gridCol>
                <a:gridCol w="416774">
                  <a:extLst>
                    <a:ext uri="{9D8B030D-6E8A-4147-A177-3AD203B41FA5}">
                      <a16:colId xmlns:a16="http://schemas.microsoft.com/office/drawing/2014/main" val="267750830"/>
                    </a:ext>
                  </a:extLst>
                </a:gridCol>
                <a:gridCol w="416774">
                  <a:extLst>
                    <a:ext uri="{9D8B030D-6E8A-4147-A177-3AD203B41FA5}">
                      <a16:colId xmlns:a16="http://schemas.microsoft.com/office/drawing/2014/main" val="3966469970"/>
                    </a:ext>
                  </a:extLst>
                </a:gridCol>
                <a:gridCol w="416774">
                  <a:extLst>
                    <a:ext uri="{9D8B030D-6E8A-4147-A177-3AD203B41FA5}">
                      <a16:colId xmlns:a16="http://schemas.microsoft.com/office/drawing/2014/main" val="2522973146"/>
                    </a:ext>
                  </a:extLst>
                </a:gridCol>
                <a:gridCol w="416774">
                  <a:extLst>
                    <a:ext uri="{9D8B030D-6E8A-4147-A177-3AD203B41FA5}">
                      <a16:colId xmlns:a16="http://schemas.microsoft.com/office/drawing/2014/main" val="3852236956"/>
                    </a:ext>
                  </a:extLst>
                </a:gridCol>
                <a:gridCol w="416774">
                  <a:extLst>
                    <a:ext uri="{9D8B030D-6E8A-4147-A177-3AD203B41FA5}">
                      <a16:colId xmlns:a16="http://schemas.microsoft.com/office/drawing/2014/main" val="2684703990"/>
                    </a:ext>
                  </a:extLst>
                </a:gridCol>
                <a:gridCol w="416774">
                  <a:extLst>
                    <a:ext uri="{9D8B030D-6E8A-4147-A177-3AD203B41FA5}">
                      <a16:colId xmlns:a16="http://schemas.microsoft.com/office/drawing/2014/main" val="493228184"/>
                    </a:ext>
                  </a:extLst>
                </a:gridCol>
                <a:gridCol w="416774">
                  <a:extLst>
                    <a:ext uri="{9D8B030D-6E8A-4147-A177-3AD203B41FA5}">
                      <a16:colId xmlns:a16="http://schemas.microsoft.com/office/drawing/2014/main" val="1381913138"/>
                    </a:ext>
                  </a:extLst>
                </a:gridCol>
                <a:gridCol w="416774">
                  <a:extLst>
                    <a:ext uri="{9D8B030D-6E8A-4147-A177-3AD203B41FA5}">
                      <a16:colId xmlns:a16="http://schemas.microsoft.com/office/drawing/2014/main" val="2981130253"/>
                    </a:ext>
                  </a:extLst>
                </a:gridCol>
                <a:gridCol w="416774">
                  <a:extLst>
                    <a:ext uri="{9D8B030D-6E8A-4147-A177-3AD203B41FA5}">
                      <a16:colId xmlns:a16="http://schemas.microsoft.com/office/drawing/2014/main" val="1079565870"/>
                    </a:ext>
                  </a:extLst>
                </a:gridCol>
                <a:gridCol w="416774">
                  <a:extLst>
                    <a:ext uri="{9D8B030D-6E8A-4147-A177-3AD203B41FA5}">
                      <a16:colId xmlns:a16="http://schemas.microsoft.com/office/drawing/2014/main" val="3858798142"/>
                    </a:ext>
                  </a:extLst>
                </a:gridCol>
                <a:gridCol w="416774">
                  <a:extLst>
                    <a:ext uri="{9D8B030D-6E8A-4147-A177-3AD203B41FA5}">
                      <a16:colId xmlns:a16="http://schemas.microsoft.com/office/drawing/2014/main" val="3644221336"/>
                    </a:ext>
                  </a:extLst>
                </a:gridCol>
                <a:gridCol w="416774">
                  <a:extLst>
                    <a:ext uri="{9D8B030D-6E8A-4147-A177-3AD203B41FA5}">
                      <a16:colId xmlns:a16="http://schemas.microsoft.com/office/drawing/2014/main" val="2294277384"/>
                    </a:ext>
                  </a:extLst>
                </a:gridCol>
                <a:gridCol w="416774">
                  <a:extLst>
                    <a:ext uri="{9D8B030D-6E8A-4147-A177-3AD203B41FA5}">
                      <a16:colId xmlns:a16="http://schemas.microsoft.com/office/drawing/2014/main" val="3507583475"/>
                    </a:ext>
                  </a:extLst>
                </a:gridCol>
                <a:gridCol w="416774">
                  <a:extLst>
                    <a:ext uri="{9D8B030D-6E8A-4147-A177-3AD203B41FA5}">
                      <a16:colId xmlns:a16="http://schemas.microsoft.com/office/drawing/2014/main" val="886327182"/>
                    </a:ext>
                  </a:extLst>
                </a:gridCol>
                <a:gridCol w="416774">
                  <a:extLst>
                    <a:ext uri="{9D8B030D-6E8A-4147-A177-3AD203B41FA5}">
                      <a16:colId xmlns:a16="http://schemas.microsoft.com/office/drawing/2014/main" val="1377691189"/>
                    </a:ext>
                  </a:extLst>
                </a:gridCol>
                <a:gridCol w="416774">
                  <a:extLst>
                    <a:ext uri="{9D8B030D-6E8A-4147-A177-3AD203B41FA5}">
                      <a16:colId xmlns:a16="http://schemas.microsoft.com/office/drawing/2014/main" val="3833544948"/>
                    </a:ext>
                  </a:extLst>
                </a:gridCol>
                <a:gridCol w="416774">
                  <a:extLst>
                    <a:ext uri="{9D8B030D-6E8A-4147-A177-3AD203B41FA5}">
                      <a16:colId xmlns:a16="http://schemas.microsoft.com/office/drawing/2014/main" val="1839448441"/>
                    </a:ext>
                  </a:extLst>
                </a:gridCol>
                <a:gridCol w="416774">
                  <a:extLst>
                    <a:ext uri="{9D8B030D-6E8A-4147-A177-3AD203B41FA5}">
                      <a16:colId xmlns:a16="http://schemas.microsoft.com/office/drawing/2014/main" val="3130983783"/>
                    </a:ext>
                  </a:extLst>
                </a:gridCol>
                <a:gridCol w="416774">
                  <a:extLst>
                    <a:ext uri="{9D8B030D-6E8A-4147-A177-3AD203B41FA5}">
                      <a16:colId xmlns:a16="http://schemas.microsoft.com/office/drawing/2014/main" val="2768341058"/>
                    </a:ext>
                  </a:extLst>
                </a:gridCol>
              </a:tblGrid>
              <a:tr h="209835">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50" name="Isosceles Triangle 49"/>
          <p:cNvSpPr/>
          <p:nvPr/>
        </p:nvSpPr>
        <p:spPr>
          <a:xfrm rot="16200000" flipH="1">
            <a:off x="-97992" y="1209843"/>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1" name="Isosceles Triangle 50"/>
          <p:cNvSpPr/>
          <p:nvPr/>
        </p:nvSpPr>
        <p:spPr>
          <a:xfrm rot="5400000">
            <a:off x="11828683" y="1190892"/>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4" name="TextBox 43"/>
          <p:cNvSpPr txBox="1"/>
          <p:nvPr/>
        </p:nvSpPr>
        <p:spPr>
          <a:xfrm>
            <a:off x="0" y="2014615"/>
            <a:ext cx="572911"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Ph2b-1305.40</a:t>
            </a:r>
          </a:p>
        </p:txBody>
      </p:sp>
      <p:sp>
        <p:nvSpPr>
          <p:cNvPr id="45" name="TextBox 44"/>
          <p:cNvSpPr txBox="1"/>
          <p:nvPr/>
        </p:nvSpPr>
        <p:spPr>
          <a:xfrm>
            <a:off x="48755" y="4065728"/>
            <a:ext cx="619207"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1305.52</a:t>
            </a:r>
          </a:p>
        </p:txBody>
      </p:sp>
      <p:sp>
        <p:nvSpPr>
          <p:cNvPr id="58"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8837150" y="2657722"/>
            <a:ext cx="693698" cy="143565"/>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12Apr 2030</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4" name="Rectangle 37"/>
          <p:cNvSpPr/>
          <p:nvPr/>
        </p:nvSpPr>
        <p:spPr>
          <a:xfrm>
            <a:off x="9595138" y="2662774"/>
            <a:ext cx="643057"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dirty="0">
                <a:solidFill>
                  <a:srgbClr val="44546A"/>
                </a:solidFill>
                <a:latin typeface="Calibri" panose="020F0502020204030204" pitchFamily="34" charset="0"/>
                <a:cs typeface="Calibri" panose="020F0502020204030204" pitchFamily="34" charset="0"/>
              </a:rPr>
              <a:t>Aug</a:t>
            </a:r>
            <a:r>
              <a:rPr kumimoji="0" lang="en-US" altLang="zh-CN" sz="900" b="1" i="0" u="none" strike="noStrike" kern="1200" cap="none" spc="0" normalizeH="0" baseline="0" noProof="0" dirty="0">
                <a:ln>
                  <a:noFill/>
                </a:ln>
                <a:solidFill>
                  <a:srgbClr val="44546A"/>
                </a:solidFill>
                <a:effectLst/>
                <a:uLnTx/>
                <a:uFillTx/>
                <a:latin typeface="Calibri" panose="020F0502020204030204" pitchFamily="34" charset="0"/>
                <a:ea typeface="+mn-ea"/>
                <a:cs typeface="Calibri" panose="020F0502020204030204" pitchFamily="34" charset="0"/>
              </a:rPr>
              <a:t>2030</a:t>
            </a:r>
            <a:endParaRPr kumimoji="0" lang="zh-CN" altLang="en-US" sz="900" b="1" i="0" u="none" strike="noStrike" kern="1200" cap="none" spc="0" normalizeH="0" baseline="0" noProof="0" dirty="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6" name="Rectangle 37"/>
          <p:cNvSpPr/>
          <p:nvPr/>
        </p:nvSpPr>
        <p:spPr>
          <a:xfrm>
            <a:off x="10333970" y="2645555"/>
            <a:ext cx="643057"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dirty="0">
                <a:solidFill>
                  <a:srgbClr val="44546A"/>
                </a:solidFill>
                <a:latin typeface="Calibri" panose="020F0502020204030204" pitchFamily="34" charset="0"/>
                <a:cs typeface="Calibri" panose="020F0502020204030204" pitchFamily="34" charset="0"/>
              </a:rPr>
              <a:t>Feb</a:t>
            </a:r>
            <a:r>
              <a:rPr kumimoji="0" lang="en-US" altLang="zh-CN" sz="900" b="1" i="0" u="none" strike="noStrike" kern="1200" cap="none" spc="0" normalizeH="0" baseline="0" noProof="0" dirty="0">
                <a:ln>
                  <a:noFill/>
                </a:ln>
                <a:solidFill>
                  <a:srgbClr val="44546A"/>
                </a:solidFill>
                <a:effectLst/>
                <a:uLnTx/>
                <a:uFillTx/>
                <a:latin typeface="Calibri" panose="020F0502020204030204" pitchFamily="34" charset="0"/>
                <a:ea typeface="+mn-ea"/>
                <a:cs typeface="Calibri" panose="020F0502020204030204" pitchFamily="34" charset="0"/>
              </a:rPr>
              <a:t> 2031</a:t>
            </a:r>
            <a:endParaRPr kumimoji="0" lang="zh-CN" altLang="en-US" sz="900" b="1" i="0" u="none" strike="noStrike" kern="1200" cap="none" spc="0" normalizeH="0" baseline="0" noProof="0" dirty="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91" name="Freeform: Shape 152">
            <a:extLst>
              <a:ext uri="{FF2B5EF4-FFF2-40B4-BE49-F238E27FC236}">
                <a16:creationId xmlns:a16="http://schemas.microsoft.com/office/drawing/2014/main" id="{808EC121-D3B7-4E05-908F-C8EFBD0CB71E}"/>
              </a:ext>
            </a:extLst>
          </p:cNvPr>
          <p:cNvSpPr/>
          <p:nvPr/>
        </p:nvSpPr>
        <p:spPr bwMode="auto">
          <a:xfrm>
            <a:off x="48865" y="3684009"/>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92" name="Oval 134">
            <a:extLst>
              <a:ext uri="{FF2B5EF4-FFF2-40B4-BE49-F238E27FC236}">
                <a16:creationId xmlns:a16="http://schemas.microsoft.com/office/drawing/2014/main" id="{FEFADB89-8F35-407D-93F6-37544172D655}"/>
              </a:ext>
            </a:extLst>
          </p:cNvPr>
          <p:cNvSpPr/>
          <p:nvPr/>
        </p:nvSpPr>
        <p:spPr>
          <a:xfrm>
            <a:off x="33042" y="3587669"/>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94"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9256" y="3623880"/>
            <a:ext cx="374799" cy="37479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27"/>
          <a:stretch>
            <a:fillRect/>
          </a:stretch>
        </p:blipFill>
        <p:spPr>
          <a:xfrm>
            <a:off x="21439" y="1602873"/>
            <a:ext cx="854956" cy="418383"/>
          </a:xfrm>
          <a:prstGeom prst="rect">
            <a:avLst/>
          </a:prstGeom>
        </p:spPr>
      </p:pic>
      <p:sp>
        <p:nvSpPr>
          <p:cNvPr id="135" name="OTLSHAPE_T_e17f3958430f4cff8650518c93c7635e_Shape">
            <a:extLst>
              <a:ext uri="{FF2B5EF4-FFF2-40B4-BE49-F238E27FC236}">
                <a16:creationId xmlns:a16="http://schemas.microsoft.com/office/drawing/2014/main" id="{856E6EFB-19BA-463B-BA51-2CC7710D0A18}"/>
              </a:ext>
            </a:extLst>
          </p:cNvPr>
          <p:cNvSpPr/>
          <p:nvPr>
            <p:custDataLst>
              <p:tags r:id="rId3"/>
            </p:custDataLst>
          </p:nvPr>
        </p:nvSpPr>
        <p:spPr bwMode="auto">
          <a:xfrm>
            <a:off x="2810217" y="2815546"/>
            <a:ext cx="6403059" cy="25889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SSc</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Ph3 (N=448, 32 months)</a:t>
            </a: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6" name="Star: 4 Points 143">
            <a:extLst>
              <a:ext uri="{FF2B5EF4-FFF2-40B4-BE49-F238E27FC236}">
                <a16:creationId xmlns:a16="http://schemas.microsoft.com/office/drawing/2014/main" id="{EB0D7CD9-9939-4001-94C5-9E99ECAF630C}"/>
              </a:ext>
            </a:extLst>
          </p:cNvPr>
          <p:cNvSpPr/>
          <p:nvPr/>
        </p:nvSpPr>
        <p:spPr bwMode="auto">
          <a:xfrm>
            <a:off x="2730124" y="290693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4" name="TextBox 133">
            <a:extLst>
              <a:ext uri="{FF2B5EF4-FFF2-40B4-BE49-F238E27FC236}">
                <a16:creationId xmlns:a16="http://schemas.microsoft.com/office/drawing/2014/main" id="{E6DC675E-0C04-4313-97B8-84D2678DBE97}"/>
              </a:ext>
            </a:extLst>
          </p:cNvPr>
          <p:cNvSpPr txBox="1"/>
          <p:nvPr/>
        </p:nvSpPr>
        <p:spPr>
          <a:xfrm>
            <a:off x="22470" y="2706021"/>
            <a:ext cx="572912"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Ph3-1305.52</a:t>
            </a:r>
          </a:p>
        </p:txBody>
      </p:sp>
      <p:sp>
        <p:nvSpPr>
          <p:cNvPr id="210" name="OTLSHAPE_T_e17f3958430f4cff8650518c93c7635e_StartDate">
            <a:extLst>
              <a:ext uri="{FF2B5EF4-FFF2-40B4-BE49-F238E27FC236}">
                <a16:creationId xmlns:a16="http://schemas.microsoft.com/office/drawing/2014/main" id="{6A0574E4-9366-44A4-B234-500AE40A94DA}"/>
              </a:ext>
            </a:extLst>
          </p:cNvPr>
          <p:cNvSpPr txBox="1"/>
          <p:nvPr>
            <p:custDataLst>
              <p:tags r:id="rId4"/>
            </p:custDataLst>
          </p:nvPr>
        </p:nvSpPr>
        <p:spPr>
          <a:xfrm>
            <a:off x="2665924" y="2548210"/>
            <a:ext cx="45267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900" b="1">
                <a:solidFill>
                  <a:srgbClr val="44546A"/>
                </a:solidFill>
                <a:latin typeface="Calibri" panose="020F0502020204030204" pitchFamily="34" charset="0"/>
                <a:cs typeface="Calibri" panose="020F0502020204030204" pitchFamily="34" charset="0"/>
              </a:rPr>
              <a:t>9</a:t>
            </a: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Jun</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2026</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52" name="Graphic 51" descr="Flag with solid fill">
            <a:extLst>
              <a:ext uri="{FF2B5EF4-FFF2-40B4-BE49-F238E27FC236}">
                <a16:creationId xmlns:a16="http://schemas.microsoft.com/office/drawing/2014/main" id="{D8E229BE-0E6D-08D7-DD03-DFA857222A2B}"/>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0528034" y="2886752"/>
            <a:ext cx="194560" cy="194560"/>
          </a:xfrm>
          <a:prstGeom prst="rect">
            <a:avLst/>
          </a:prstGeom>
        </p:spPr>
      </p:pic>
      <p:sp>
        <p:nvSpPr>
          <p:cNvPr id="15" name="Star: 4 Points 143">
            <a:extLst>
              <a:ext uri="{FF2B5EF4-FFF2-40B4-BE49-F238E27FC236}">
                <a16:creationId xmlns:a16="http://schemas.microsoft.com/office/drawing/2014/main" id="{CFB83DC0-5A2E-7510-6D49-D8CEDC885EEB}"/>
              </a:ext>
            </a:extLst>
          </p:cNvPr>
          <p:cNvSpPr/>
          <p:nvPr/>
        </p:nvSpPr>
        <p:spPr bwMode="auto">
          <a:xfrm>
            <a:off x="5842898" y="208619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0" name="Isosceles Triangle 29">
            <a:extLst>
              <a:ext uri="{FF2B5EF4-FFF2-40B4-BE49-F238E27FC236}">
                <a16:creationId xmlns:a16="http://schemas.microsoft.com/office/drawing/2014/main" id="{9C0271C8-4168-3528-2FC4-765E04CC3CE8}"/>
              </a:ext>
            </a:extLst>
          </p:cNvPr>
          <p:cNvSpPr/>
          <p:nvPr/>
        </p:nvSpPr>
        <p:spPr bwMode="gray">
          <a:xfrm>
            <a:off x="3744626" y="2173842"/>
            <a:ext cx="130608" cy="121858"/>
          </a:xfrm>
          <a:prstGeom prst="triangl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Rectangle 37">
            <a:extLst>
              <a:ext uri="{FF2B5EF4-FFF2-40B4-BE49-F238E27FC236}">
                <a16:creationId xmlns:a16="http://schemas.microsoft.com/office/drawing/2014/main" id="{3B6F82DE-F9AC-578D-C45F-342300A4C34B}"/>
              </a:ext>
            </a:extLst>
          </p:cNvPr>
          <p:cNvSpPr/>
          <p:nvPr/>
        </p:nvSpPr>
        <p:spPr>
          <a:xfrm>
            <a:off x="3581429" y="1793894"/>
            <a:ext cx="471874" cy="307777"/>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31Jan 2027</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6" name="Rectangle 37">
            <a:extLst>
              <a:ext uri="{FF2B5EF4-FFF2-40B4-BE49-F238E27FC236}">
                <a16:creationId xmlns:a16="http://schemas.microsoft.com/office/drawing/2014/main" id="{8C1717B8-EAD0-3EA6-6D22-540178F02D0F}"/>
              </a:ext>
            </a:extLst>
          </p:cNvPr>
          <p:cNvSpPr/>
          <p:nvPr/>
        </p:nvSpPr>
        <p:spPr>
          <a:xfrm>
            <a:off x="1932473" y="2668596"/>
            <a:ext cx="45267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44546A"/>
                </a:solidFill>
                <a:effectLst/>
                <a:uLnTx/>
                <a:uFillTx/>
                <a:latin typeface="Calibri"/>
                <a:ea typeface="Calibri"/>
                <a:cs typeface="Calibri"/>
              </a:rPr>
              <a:t>Feb </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44546A"/>
                </a:solidFill>
                <a:effectLst/>
                <a:uLnTx/>
                <a:uFillTx/>
                <a:latin typeface="Calibri"/>
                <a:ea typeface="Calibri"/>
                <a:cs typeface="Calibri"/>
              </a:rPr>
              <a:t> 2026</a:t>
            </a:r>
            <a:endParaRPr kumimoji="0" lang="zh-CN" altLang="en-US" sz="900" b="1" i="0" u="none" strike="noStrike" kern="1200" cap="none" spc="0" normalizeH="0" baseline="0" noProof="0" dirty="0">
              <a:ln>
                <a:noFill/>
              </a:ln>
              <a:solidFill>
                <a:srgbClr val="44546A"/>
              </a:solidFill>
              <a:effectLst/>
              <a:uLnTx/>
              <a:uFillTx/>
              <a:latin typeface="Calibri"/>
              <a:ea typeface="+mn-ea"/>
              <a:cs typeface="Calibri"/>
            </a:endParaRPr>
          </a:p>
        </p:txBody>
      </p:sp>
      <p:sp>
        <p:nvSpPr>
          <p:cNvPr id="41" name="OTLSHAPE_T_5a934a26f311425e8ebaa0f45e6533ad_Shape">
            <a:extLst>
              <a:ext uri="{FF2B5EF4-FFF2-40B4-BE49-F238E27FC236}">
                <a16:creationId xmlns:a16="http://schemas.microsoft.com/office/drawing/2014/main" id="{B1E308F7-A38B-1D2A-DF17-49FBF403CD3E}"/>
              </a:ext>
            </a:extLst>
          </p:cNvPr>
          <p:cNvSpPr/>
          <p:nvPr>
            <p:custDataLst>
              <p:tags r:id="rId5"/>
            </p:custDataLst>
          </p:nvPr>
        </p:nvSpPr>
        <p:spPr bwMode="auto">
          <a:xfrm>
            <a:off x="3355126" y="4168502"/>
            <a:ext cx="5406117" cy="22101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err="1">
                <a:ln>
                  <a:noFill/>
                </a:ln>
                <a:solidFill>
                  <a:srgbClr val="000000"/>
                </a:solidFill>
                <a:effectLst/>
                <a:uLnTx/>
                <a:uFillTx/>
                <a:latin typeface="Calibri"/>
                <a:ea typeface="Calibri"/>
                <a:cs typeface="Calibri"/>
              </a:rPr>
              <a:t>SSc</a:t>
            </a:r>
            <a:r>
              <a:rPr kumimoji="0" lang="en-US" altLang="zh-CN" sz="1000" b="1" i="0" u="none" strike="noStrike" kern="1200" cap="none" spc="0" normalizeH="0" baseline="0" noProof="0">
                <a:ln>
                  <a:noFill/>
                </a:ln>
                <a:solidFill>
                  <a:srgbClr val="000000"/>
                </a:solidFill>
                <a:effectLst/>
                <a:uLnTx/>
                <a:uFillTx/>
                <a:latin typeface="Calibri"/>
                <a:ea typeface="Calibri"/>
                <a:cs typeface="Calibri"/>
              </a:rPr>
              <a:t> Ph3 (N</a:t>
            </a:r>
            <a:r>
              <a:rPr lang="en-US" altLang="zh-CN" sz="1000" b="1">
                <a:solidFill>
                  <a:srgbClr val="000000"/>
                </a:solidFill>
                <a:latin typeface="Calibri"/>
                <a:ea typeface="Calibri"/>
                <a:cs typeface="Calibri"/>
              </a:rPr>
              <a:t>=45, ~27 months</a:t>
            </a:r>
            <a:r>
              <a:rPr kumimoji="0" lang="en-US" altLang="zh-CN" sz="1000" b="1" i="0" u="none" strike="noStrike" kern="1200" cap="none" spc="0" normalizeH="0" baseline="0" noProof="0">
                <a:ln>
                  <a:noFill/>
                </a:ln>
                <a:solidFill>
                  <a:srgbClr val="000000"/>
                </a:solidFill>
                <a:effectLst/>
                <a:uLnTx/>
                <a:uFillTx/>
                <a:latin typeface="Calibri"/>
                <a:ea typeface="Calibri"/>
                <a:cs typeface="Calibri"/>
              </a:rPr>
              <a:t>)</a:t>
            </a:r>
          </a:p>
        </p:txBody>
      </p:sp>
      <p:sp>
        <p:nvSpPr>
          <p:cNvPr id="68" name="五角星 55">
            <a:extLst>
              <a:ext uri="{FF2B5EF4-FFF2-40B4-BE49-F238E27FC236}">
                <a16:creationId xmlns:a16="http://schemas.microsoft.com/office/drawing/2014/main" id="{CC709E3D-6EB6-EFE5-6A60-08E4FBDBB0B5}"/>
              </a:ext>
            </a:extLst>
          </p:cNvPr>
          <p:cNvSpPr>
            <a:spLocks noChangeAspect="1"/>
          </p:cNvSpPr>
          <p:nvPr/>
        </p:nvSpPr>
        <p:spPr bwMode="auto">
          <a:xfrm>
            <a:off x="9774693" y="2926926"/>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70" name="Rectangle 37">
            <a:extLst>
              <a:ext uri="{FF2B5EF4-FFF2-40B4-BE49-F238E27FC236}">
                <a16:creationId xmlns:a16="http://schemas.microsoft.com/office/drawing/2014/main" id="{9C44927C-B0F2-F829-0974-DDE58573E96D}"/>
              </a:ext>
            </a:extLst>
          </p:cNvPr>
          <p:cNvSpPr/>
          <p:nvPr/>
        </p:nvSpPr>
        <p:spPr>
          <a:xfrm>
            <a:off x="9517481" y="4020960"/>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44546A"/>
                </a:solidFill>
                <a:effectLst/>
                <a:uLnTx/>
                <a:uFillTx/>
                <a:latin typeface="Calibri" panose="020F0502020204030204" pitchFamily="34" charset="0"/>
                <a:ea typeface="+mn-ea"/>
                <a:cs typeface="Calibri" panose="020F0502020204030204" pitchFamily="34" charset="0"/>
              </a:rPr>
              <a:t>Sep 2030</a:t>
            </a:r>
            <a:endParaRPr kumimoji="0" lang="zh-CN" altLang="en-US" sz="900" b="1" i="0" u="none" strike="noStrike" kern="1200" cap="none" spc="0" normalizeH="0" baseline="0" noProof="0" dirty="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81" name="Graphic 80" descr="Flag with solid fill">
            <a:extLst>
              <a:ext uri="{FF2B5EF4-FFF2-40B4-BE49-F238E27FC236}">
                <a16:creationId xmlns:a16="http://schemas.microsoft.com/office/drawing/2014/main" id="{128A88A2-37A9-01C9-C115-7EB797234945}"/>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170000" y="4262735"/>
            <a:ext cx="194560" cy="194560"/>
          </a:xfrm>
          <a:prstGeom prst="rect">
            <a:avLst/>
          </a:prstGeom>
        </p:spPr>
      </p:pic>
      <p:sp>
        <p:nvSpPr>
          <p:cNvPr id="86" name="五角星 55">
            <a:extLst>
              <a:ext uri="{FF2B5EF4-FFF2-40B4-BE49-F238E27FC236}">
                <a16:creationId xmlns:a16="http://schemas.microsoft.com/office/drawing/2014/main" id="{08F3E73E-2376-95A3-2678-E55C4143DB2B}"/>
              </a:ext>
            </a:extLst>
          </p:cNvPr>
          <p:cNvSpPr>
            <a:spLocks noChangeAspect="1"/>
          </p:cNvSpPr>
          <p:nvPr/>
        </p:nvSpPr>
        <p:spPr bwMode="auto">
          <a:xfrm>
            <a:off x="9926535" y="4273513"/>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89" name="Rectangle 37">
            <a:extLst>
              <a:ext uri="{FF2B5EF4-FFF2-40B4-BE49-F238E27FC236}">
                <a16:creationId xmlns:a16="http://schemas.microsoft.com/office/drawing/2014/main" id="{4030344B-944E-38BC-ABFC-BC9FF7686C6F}"/>
              </a:ext>
            </a:extLst>
          </p:cNvPr>
          <p:cNvSpPr/>
          <p:nvPr/>
        </p:nvSpPr>
        <p:spPr>
          <a:xfrm>
            <a:off x="10783671" y="4022359"/>
            <a:ext cx="993545"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44546A"/>
                </a:solidFill>
                <a:effectLst/>
                <a:uLnTx/>
                <a:uFillTx/>
                <a:latin typeface="Calibri" panose="020F0502020204030204" pitchFamily="34" charset="0"/>
                <a:ea typeface="+mn-ea"/>
                <a:cs typeface="Calibri" panose="020F0502020204030204" pitchFamily="34" charset="0"/>
              </a:rPr>
              <a:t>Jul 2031</a:t>
            </a:r>
            <a:endParaRPr kumimoji="0" lang="zh-CN" altLang="en-US" sz="900" b="1" i="0" u="none" strike="noStrike" kern="1200" cap="none" spc="0" normalizeH="0" baseline="0" noProof="0" dirty="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3" name="Group 2">
            <a:extLst>
              <a:ext uri="{FF2B5EF4-FFF2-40B4-BE49-F238E27FC236}">
                <a16:creationId xmlns:a16="http://schemas.microsoft.com/office/drawing/2014/main" id="{617F5821-6204-96A0-0496-51C04921EC49}"/>
              </a:ext>
            </a:extLst>
          </p:cNvPr>
          <p:cNvGrpSpPr/>
          <p:nvPr/>
        </p:nvGrpSpPr>
        <p:grpSpPr>
          <a:xfrm>
            <a:off x="1608982" y="1347117"/>
            <a:ext cx="546747" cy="3795204"/>
            <a:chOff x="1956799" y="1275522"/>
            <a:chExt cx="546747" cy="3893172"/>
          </a:xfrm>
        </p:grpSpPr>
        <p:cxnSp>
          <p:nvCxnSpPr>
            <p:cNvPr id="5" name="Straight Connector 4">
              <a:extLst>
                <a:ext uri="{FF2B5EF4-FFF2-40B4-BE49-F238E27FC236}">
                  <a16:creationId xmlns:a16="http://schemas.microsoft.com/office/drawing/2014/main" id="{6D4CE5F4-855A-A1A9-6E07-E09C6FB11AC0}"/>
                </a:ext>
              </a:extLst>
            </p:cNvPr>
            <p:cNvCxnSpPr>
              <a:cxnSpLocks/>
            </p:cNvCxnSpPr>
            <p:nvPr/>
          </p:nvCxnSpPr>
          <p:spPr bwMode="auto">
            <a:xfrm flipV="1">
              <a:off x="2278209" y="139372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 name="OTLSHAPE_T_e17f3958430f4cff8650518c93c7635e_StartDate">
              <a:extLst>
                <a:ext uri="{FF2B5EF4-FFF2-40B4-BE49-F238E27FC236}">
                  <a16:creationId xmlns:a16="http://schemas.microsoft.com/office/drawing/2014/main" id="{4C312F06-6870-7A4E-55B9-E66F21E62F02}"/>
                </a:ext>
              </a:extLst>
            </p:cNvPr>
            <p:cNvSpPr txBox="1"/>
            <p:nvPr>
              <p:custDataLst>
                <p:tags r:id="rId23"/>
              </p:custDataLst>
            </p:nvPr>
          </p:nvSpPr>
          <p:spPr>
            <a:xfrm>
              <a:off x="1956799" y="1275522"/>
              <a:ext cx="546747" cy="123159"/>
            </a:xfrm>
            <a:prstGeom prst="rect">
              <a:avLst/>
            </a:prstGeom>
            <a:noFill/>
            <a:ln w="12700">
              <a:noFill/>
            </a:ln>
          </p:spPr>
          <p:txBody>
            <a:bodyPr vert="horz" wrap="square" lIns="0" tIns="0" rIns="0" bIns="0" rtlCol="0" anchor="ctr" anchorCtr="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12" name="Star: 4 Points 143">
            <a:extLst>
              <a:ext uri="{FF2B5EF4-FFF2-40B4-BE49-F238E27FC236}">
                <a16:creationId xmlns:a16="http://schemas.microsoft.com/office/drawing/2014/main" id="{2419FA29-FC90-DE03-C49F-CFEB0A659ADA}"/>
              </a:ext>
            </a:extLst>
          </p:cNvPr>
          <p:cNvSpPr/>
          <p:nvPr/>
        </p:nvSpPr>
        <p:spPr bwMode="auto">
          <a:xfrm>
            <a:off x="3272752" y="42299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8DB288A6-1FBD-8C9C-6127-9E6FDC6F36A7}"/>
              </a:ext>
            </a:extLst>
          </p:cNvPr>
          <p:cNvSpPr txBox="1"/>
          <p:nvPr>
            <p:custDataLst>
              <p:tags r:id="rId6"/>
            </p:custDataLst>
          </p:nvPr>
        </p:nvSpPr>
        <p:spPr>
          <a:xfrm>
            <a:off x="5635013" y="1764656"/>
            <a:ext cx="581310" cy="307777"/>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15Apr 2028</a:t>
            </a:r>
            <a:endParaRPr kumimoji="0" lang="zh-CN" altLang="en-US" sz="10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 name="Rectangle 37">
            <a:extLst>
              <a:ext uri="{FF2B5EF4-FFF2-40B4-BE49-F238E27FC236}">
                <a16:creationId xmlns:a16="http://schemas.microsoft.com/office/drawing/2014/main" id="{B434AB64-63A9-79E1-4CED-EC45EAE00949}"/>
              </a:ext>
            </a:extLst>
          </p:cNvPr>
          <p:cNvSpPr/>
          <p:nvPr/>
        </p:nvSpPr>
        <p:spPr>
          <a:xfrm>
            <a:off x="2182035" y="3966041"/>
            <a:ext cx="474549"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FF0000"/>
                </a:solidFill>
                <a:effectLst/>
                <a:uLnTx/>
                <a:uFillTx/>
                <a:latin typeface="Calibri"/>
                <a:ea typeface="Calibri"/>
                <a:cs typeface="Calibri"/>
              </a:rPr>
              <a:t>Mar</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chemeClr val="accent1"/>
                </a:solidFill>
                <a:effectLst/>
                <a:uLnTx/>
                <a:uFillTx/>
                <a:latin typeface="Calibri"/>
                <a:ea typeface="Calibri"/>
                <a:cs typeface="Calibri"/>
              </a:rPr>
              <a:t>2026</a:t>
            </a:r>
            <a:endParaRPr kumimoji="0" lang="zh-CN" altLang="en-US" sz="900" b="1" i="0" u="none" strike="noStrike" kern="1200" cap="none" spc="0" normalizeH="0" baseline="0" noProof="0" dirty="0">
              <a:ln>
                <a:noFill/>
              </a:ln>
              <a:solidFill>
                <a:schemeClr val="accent1"/>
              </a:solidFill>
              <a:effectLst/>
              <a:uLnTx/>
              <a:uFillTx/>
              <a:latin typeface="Calibri"/>
              <a:ea typeface="+mn-ea"/>
              <a:cs typeface="Calibri"/>
            </a:endParaRPr>
          </a:p>
        </p:txBody>
      </p:sp>
      <p:sp>
        <p:nvSpPr>
          <p:cNvPr id="8" name="Rectangle 7">
            <a:extLst>
              <a:ext uri="{FF2B5EF4-FFF2-40B4-BE49-F238E27FC236}">
                <a16:creationId xmlns:a16="http://schemas.microsoft.com/office/drawing/2014/main" id="{F420ADC8-AA2E-5293-DFFA-CAC8A7ACE401}"/>
              </a:ext>
            </a:extLst>
          </p:cNvPr>
          <p:cNvSpPr/>
          <p:nvPr/>
        </p:nvSpPr>
        <p:spPr>
          <a:xfrm>
            <a:off x="1878800" y="2046199"/>
            <a:ext cx="2020350" cy="246221"/>
          </a:xfrm>
          <a:prstGeom prst="rect">
            <a:avLst/>
          </a:prstGeom>
        </p:spPr>
        <p:txBody>
          <a:bodyPr wrap="square">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CONQUEST Trial, </a:t>
            </a:r>
            <a:r>
              <a:rPr kumimoji="0" lang="en-US" altLang="zh-CN" sz="1000" b="1" i="0" u="none" strike="noStrike" kern="1200" cap="none" spc="0" normalizeH="0" baseline="0" noProof="0" err="1">
                <a:ln>
                  <a:noFill/>
                </a:ln>
                <a:solidFill>
                  <a:srgbClr val="44546A"/>
                </a:solidFill>
                <a:effectLst/>
                <a:uLnTx/>
                <a:uFillTx/>
                <a:latin typeface="Calibri" panose="020F0502020204030204" pitchFamily="34" charset="0"/>
                <a:ea typeface="+mn-ea"/>
                <a:cs typeface="Calibri" panose="020F0502020204030204" pitchFamily="34" charset="0"/>
              </a:rPr>
              <a:t>SSc</a:t>
            </a: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-ILD, ph2b</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 name="Star: 4 Points 143">
            <a:extLst>
              <a:ext uri="{FF2B5EF4-FFF2-40B4-BE49-F238E27FC236}">
                <a16:creationId xmlns:a16="http://schemas.microsoft.com/office/drawing/2014/main" id="{5B97D9C5-8C92-BE5C-A9BD-9750D22EB10E}"/>
              </a:ext>
            </a:extLst>
          </p:cNvPr>
          <p:cNvSpPr/>
          <p:nvPr/>
        </p:nvSpPr>
        <p:spPr bwMode="auto">
          <a:xfrm>
            <a:off x="9119581" y="28955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 name="OTLSHAPE_T_e17f3958430f4cff8650518c93c7635e_StartDate">
            <a:extLst>
              <a:ext uri="{FF2B5EF4-FFF2-40B4-BE49-F238E27FC236}">
                <a16:creationId xmlns:a16="http://schemas.microsoft.com/office/drawing/2014/main" id="{6A8A5E06-8C92-D9FA-B2B6-D5DE65ADC7FA}"/>
              </a:ext>
            </a:extLst>
          </p:cNvPr>
          <p:cNvSpPr txBox="1"/>
          <p:nvPr>
            <p:custDataLst>
              <p:tags r:id="rId7"/>
            </p:custDataLst>
          </p:nvPr>
        </p:nvSpPr>
        <p:spPr>
          <a:xfrm>
            <a:off x="3158342" y="3933190"/>
            <a:ext cx="380248"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a:t>
            </a: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a:t>
            </a:r>
            <a:r>
              <a:rPr kumimoji="0" lang="en-US" altLang="zh-CN" sz="9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Oct </a:t>
            </a: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2026</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3" name="Rectangle 37">
            <a:extLst>
              <a:ext uri="{FF2B5EF4-FFF2-40B4-BE49-F238E27FC236}">
                <a16:creationId xmlns:a16="http://schemas.microsoft.com/office/drawing/2014/main" id="{2B05A927-7A25-E18E-8B53-1CE53CB659F5}"/>
              </a:ext>
            </a:extLst>
          </p:cNvPr>
          <p:cNvSpPr/>
          <p:nvPr/>
        </p:nvSpPr>
        <p:spPr>
          <a:xfrm>
            <a:off x="1149536" y="2677974"/>
            <a:ext cx="53976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15 Aug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7" name="Rectangle 37">
            <a:extLst>
              <a:ext uri="{FF2B5EF4-FFF2-40B4-BE49-F238E27FC236}">
                <a16:creationId xmlns:a16="http://schemas.microsoft.com/office/drawing/2014/main" id="{82E01482-82E0-8A5A-16BE-F164724DC1B5}"/>
              </a:ext>
            </a:extLst>
          </p:cNvPr>
          <p:cNvSpPr/>
          <p:nvPr/>
        </p:nvSpPr>
        <p:spPr>
          <a:xfrm>
            <a:off x="1286717" y="3929535"/>
            <a:ext cx="392033"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21 Aug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7" name="5-Point Star 5">
            <a:extLst>
              <a:ext uri="{FF2B5EF4-FFF2-40B4-BE49-F238E27FC236}">
                <a16:creationId xmlns:a16="http://schemas.microsoft.com/office/drawing/2014/main" id="{1C0A289F-A7E3-2F6F-4626-702D6F9F7592}"/>
              </a:ext>
            </a:extLst>
          </p:cNvPr>
          <p:cNvSpPr/>
          <p:nvPr/>
        </p:nvSpPr>
        <p:spPr>
          <a:xfrm>
            <a:off x="1404067" y="4257611"/>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0" name="5-Point Star 5">
            <a:extLst>
              <a:ext uri="{FF2B5EF4-FFF2-40B4-BE49-F238E27FC236}">
                <a16:creationId xmlns:a16="http://schemas.microsoft.com/office/drawing/2014/main" id="{30059EFD-319A-EF4F-9248-24674CA05622}"/>
              </a:ext>
            </a:extLst>
          </p:cNvPr>
          <p:cNvSpPr/>
          <p:nvPr/>
        </p:nvSpPr>
        <p:spPr>
          <a:xfrm>
            <a:off x="2384024" y="4278977"/>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 name="5-Point Star 5">
            <a:extLst>
              <a:ext uri="{FF2B5EF4-FFF2-40B4-BE49-F238E27FC236}">
                <a16:creationId xmlns:a16="http://schemas.microsoft.com/office/drawing/2014/main" id="{C50CB7DD-1E26-9A65-FFCD-A2DDAE35A43E}"/>
              </a:ext>
            </a:extLst>
          </p:cNvPr>
          <p:cNvSpPr/>
          <p:nvPr/>
        </p:nvSpPr>
        <p:spPr>
          <a:xfrm>
            <a:off x="1393782" y="2929952"/>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6" name="5-Point Star 5">
            <a:extLst>
              <a:ext uri="{FF2B5EF4-FFF2-40B4-BE49-F238E27FC236}">
                <a16:creationId xmlns:a16="http://schemas.microsoft.com/office/drawing/2014/main" id="{20BCC26C-CA80-2E2D-C0A0-ACA16A14C096}"/>
              </a:ext>
            </a:extLst>
          </p:cNvPr>
          <p:cNvSpPr/>
          <p:nvPr/>
        </p:nvSpPr>
        <p:spPr>
          <a:xfrm>
            <a:off x="2111775" y="2914938"/>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5" name="OTLSHAPE_T_e17f3958430f4cff8650518c93c7635e_StartDate">
            <a:extLst>
              <a:ext uri="{FF2B5EF4-FFF2-40B4-BE49-F238E27FC236}">
                <a16:creationId xmlns:a16="http://schemas.microsoft.com/office/drawing/2014/main" id="{CF1A1996-36F3-1756-DA34-B2D505F2F834}"/>
              </a:ext>
            </a:extLst>
          </p:cNvPr>
          <p:cNvSpPr txBox="1"/>
          <p:nvPr>
            <p:custDataLst>
              <p:tags r:id="rId8"/>
            </p:custDataLst>
          </p:nvPr>
        </p:nvSpPr>
        <p:spPr>
          <a:xfrm>
            <a:off x="3364873" y="2340557"/>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IA</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8" name="OTLSHAPE_T_e17f3958430f4cff8650518c93c7635e_StartDate">
            <a:extLst>
              <a:ext uri="{FF2B5EF4-FFF2-40B4-BE49-F238E27FC236}">
                <a16:creationId xmlns:a16="http://schemas.microsoft.com/office/drawing/2014/main" id="{2EB6FC2C-BB94-6B96-FF5A-F13B6DFF5EC3}"/>
              </a:ext>
            </a:extLst>
          </p:cNvPr>
          <p:cNvSpPr txBox="1"/>
          <p:nvPr>
            <p:custDataLst>
              <p:tags r:id="rId9"/>
            </p:custDataLst>
          </p:nvPr>
        </p:nvSpPr>
        <p:spPr>
          <a:xfrm>
            <a:off x="5482525" y="2295939"/>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Key results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337DB876-AECC-595E-522D-B54FD8922BBA}"/>
              </a:ext>
            </a:extLst>
          </p:cNvPr>
          <p:cNvSpPr txBox="1"/>
          <p:nvPr>
            <p:custDataLst>
              <p:tags r:id="rId10"/>
            </p:custDataLst>
          </p:nvPr>
        </p:nvSpPr>
        <p:spPr>
          <a:xfrm>
            <a:off x="1016473" y="309257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HAI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4" name="OTLSHAPE_T_e17f3958430f4cff8650518c93c7635e_StartDate">
            <a:extLst>
              <a:ext uri="{FF2B5EF4-FFF2-40B4-BE49-F238E27FC236}">
                <a16:creationId xmlns:a16="http://schemas.microsoft.com/office/drawing/2014/main" id="{D105C575-841F-C6D7-A806-07486A5F065A}"/>
              </a:ext>
            </a:extLst>
          </p:cNvPr>
          <p:cNvSpPr txBox="1"/>
          <p:nvPr>
            <p:custDataLst>
              <p:tags r:id="rId11"/>
            </p:custDataLst>
          </p:nvPr>
        </p:nvSpPr>
        <p:spPr>
          <a:xfrm>
            <a:off x="1941859" y="3029856"/>
            <a:ext cx="501875"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5" name="OTLSHAPE_T_e17f3958430f4cff8650518c93c7635e_StartDate">
            <a:extLst>
              <a:ext uri="{FF2B5EF4-FFF2-40B4-BE49-F238E27FC236}">
                <a16:creationId xmlns:a16="http://schemas.microsoft.com/office/drawing/2014/main" id="{C894EAC2-0460-A329-50A7-C7DA59C663C4}"/>
              </a:ext>
            </a:extLst>
          </p:cNvPr>
          <p:cNvSpPr txBox="1"/>
          <p:nvPr>
            <p:custDataLst>
              <p:tags r:id="rId12"/>
            </p:custDataLst>
          </p:nvPr>
        </p:nvSpPr>
        <p:spPr>
          <a:xfrm>
            <a:off x="2400370" y="3092843"/>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7" name="OTLSHAPE_T_e17f3958430f4cff8650518c93c7635e_StartDate">
            <a:extLst>
              <a:ext uri="{FF2B5EF4-FFF2-40B4-BE49-F238E27FC236}">
                <a16:creationId xmlns:a16="http://schemas.microsoft.com/office/drawing/2014/main" id="{6616317D-1161-AB2F-A04C-29C9EBD6F686}"/>
              </a:ext>
            </a:extLst>
          </p:cNvPr>
          <p:cNvSpPr txBox="1"/>
          <p:nvPr>
            <p:custDataLst>
              <p:tags r:id="rId13"/>
            </p:custDataLst>
          </p:nvPr>
        </p:nvSpPr>
        <p:spPr>
          <a:xfrm>
            <a:off x="8766837" y="30464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8" name="OTLSHAPE_T_e17f3958430f4cff8650518c93c7635e_StartDate">
            <a:extLst>
              <a:ext uri="{FF2B5EF4-FFF2-40B4-BE49-F238E27FC236}">
                <a16:creationId xmlns:a16="http://schemas.microsoft.com/office/drawing/2014/main" id="{FE90227F-7713-6CAF-DA8E-EB32BE8985BF}"/>
              </a:ext>
            </a:extLst>
          </p:cNvPr>
          <p:cNvSpPr txBox="1"/>
          <p:nvPr>
            <p:custDataLst>
              <p:tags r:id="rId14"/>
            </p:custDataLst>
          </p:nvPr>
        </p:nvSpPr>
        <p:spPr>
          <a:xfrm>
            <a:off x="9427991" y="3095754"/>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9" name="OTLSHAPE_T_e17f3958430f4cff8650518c93c7635e_StartDate">
            <a:extLst>
              <a:ext uri="{FF2B5EF4-FFF2-40B4-BE49-F238E27FC236}">
                <a16:creationId xmlns:a16="http://schemas.microsoft.com/office/drawing/2014/main" id="{F42DBE8A-C098-F6BC-79D4-4447F9C579D8}"/>
              </a:ext>
            </a:extLst>
          </p:cNvPr>
          <p:cNvSpPr txBox="1"/>
          <p:nvPr>
            <p:custDataLst>
              <p:tags r:id="rId15"/>
            </p:custDataLst>
          </p:nvPr>
        </p:nvSpPr>
        <p:spPr>
          <a:xfrm>
            <a:off x="10222759" y="308073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1DF8E5F2-21C9-49E9-729A-0B45B70695D9}"/>
              </a:ext>
            </a:extLst>
          </p:cNvPr>
          <p:cNvSpPr txBox="1"/>
          <p:nvPr>
            <p:custDataLst>
              <p:tags r:id="rId16"/>
            </p:custDataLst>
          </p:nvPr>
        </p:nvSpPr>
        <p:spPr>
          <a:xfrm>
            <a:off x="996265" y="44529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HAI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2" name="OTLSHAPE_T_e17f3958430f4cff8650518c93c7635e_StartDate">
            <a:extLst>
              <a:ext uri="{FF2B5EF4-FFF2-40B4-BE49-F238E27FC236}">
                <a16:creationId xmlns:a16="http://schemas.microsoft.com/office/drawing/2014/main" id="{58CF18B1-3788-C69E-BF27-07C0EF28AD69}"/>
              </a:ext>
            </a:extLst>
          </p:cNvPr>
          <p:cNvSpPr txBox="1"/>
          <p:nvPr>
            <p:custDataLst>
              <p:tags r:id="rId17"/>
            </p:custDataLst>
          </p:nvPr>
        </p:nvSpPr>
        <p:spPr>
          <a:xfrm>
            <a:off x="2050208" y="44529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3" name="OTLSHAPE_T_e17f3958430f4cff8650518c93c7635e_StartDate">
            <a:extLst>
              <a:ext uri="{FF2B5EF4-FFF2-40B4-BE49-F238E27FC236}">
                <a16:creationId xmlns:a16="http://schemas.microsoft.com/office/drawing/2014/main" id="{2FD1E0FB-9F0A-E520-1757-7E4AEA7FABDA}"/>
              </a:ext>
            </a:extLst>
          </p:cNvPr>
          <p:cNvSpPr txBox="1"/>
          <p:nvPr>
            <p:custDataLst>
              <p:tags r:id="rId18"/>
            </p:custDataLst>
          </p:nvPr>
        </p:nvSpPr>
        <p:spPr>
          <a:xfrm>
            <a:off x="2888693" y="44325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8" name="OTLSHAPE_T_e17f3958430f4cff8650518c93c7635e_StartDate">
            <a:extLst>
              <a:ext uri="{FF2B5EF4-FFF2-40B4-BE49-F238E27FC236}">
                <a16:creationId xmlns:a16="http://schemas.microsoft.com/office/drawing/2014/main" id="{8DE0B0D6-6DDA-585E-B368-353A51252392}"/>
              </a:ext>
            </a:extLst>
          </p:cNvPr>
          <p:cNvSpPr txBox="1"/>
          <p:nvPr>
            <p:custDataLst>
              <p:tags r:id="rId19"/>
            </p:custDataLst>
          </p:nvPr>
        </p:nvSpPr>
        <p:spPr>
          <a:xfrm>
            <a:off x="9557471" y="4486944"/>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3" name="OTLSHAPE_T_e17f3958430f4cff8650518c93c7635e_StartDate">
            <a:extLst>
              <a:ext uri="{FF2B5EF4-FFF2-40B4-BE49-F238E27FC236}">
                <a16:creationId xmlns:a16="http://schemas.microsoft.com/office/drawing/2014/main" id="{E5C476A4-DB74-DD15-0373-747B493F8A02}"/>
              </a:ext>
            </a:extLst>
          </p:cNvPr>
          <p:cNvSpPr txBox="1"/>
          <p:nvPr>
            <p:custDataLst>
              <p:tags r:id="rId20"/>
            </p:custDataLst>
          </p:nvPr>
        </p:nvSpPr>
        <p:spPr>
          <a:xfrm>
            <a:off x="10783672" y="4455766"/>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5" name="OTLSHAPE_T_e17f3958430f4cff8650518c93c7635e_StartDate">
            <a:extLst>
              <a:ext uri="{FF2B5EF4-FFF2-40B4-BE49-F238E27FC236}">
                <a16:creationId xmlns:a16="http://schemas.microsoft.com/office/drawing/2014/main" id="{57A93F4E-3E86-7AE5-F11D-93DC54E657FC}"/>
              </a:ext>
            </a:extLst>
          </p:cNvPr>
          <p:cNvSpPr txBox="1"/>
          <p:nvPr>
            <p:custDataLst>
              <p:tags r:id="rId21"/>
            </p:custDataLst>
          </p:nvPr>
        </p:nvSpPr>
        <p:spPr>
          <a:xfrm>
            <a:off x="1622441" y="3074973"/>
            <a:ext cx="501875"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44546A"/>
                </a:solidFill>
                <a:effectLst/>
                <a:uLnTx/>
                <a:uFillTx/>
                <a:latin typeface="Boehringer Forward Text"/>
                <a:ea typeface="+mn-ea"/>
                <a:cs typeface="Calibri" panose="020F0502020204030204" pitchFamily="34" charset="0"/>
              </a:rPr>
              <a:t>RoFD</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6" name="Star: 4 Points 143">
            <a:extLst>
              <a:ext uri="{FF2B5EF4-FFF2-40B4-BE49-F238E27FC236}">
                <a16:creationId xmlns:a16="http://schemas.microsoft.com/office/drawing/2014/main" id="{19E29455-A644-1314-C6CF-0E79898D1DB0}"/>
              </a:ext>
            </a:extLst>
          </p:cNvPr>
          <p:cNvSpPr/>
          <p:nvPr/>
        </p:nvSpPr>
        <p:spPr bwMode="auto">
          <a:xfrm>
            <a:off x="1806311" y="28955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7" name="Rectangle 37">
            <a:extLst>
              <a:ext uri="{FF2B5EF4-FFF2-40B4-BE49-F238E27FC236}">
                <a16:creationId xmlns:a16="http://schemas.microsoft.com/office/drawing/2014/main" id="{DCB1151E-B253-F962-AD94-DDD22BDD50B9}"/>
              </a:ext>
            </a:extLst>
          </p:cNvPr>
          <p:cNvSpPr/>
          <p:nvPr/>
        </p:nvSpPr>
        <p:spPr>
          <a:xfrm>
            <a:off x="1758052" y="2592496"/>
            <a:ext cx="273077" cy="415498"/>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18 Nov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2" name="Rectangle 37">
            <a:extLst>
              <a:ext uri="{FF2B5EF4-FFF2-40B4-BE49-F238E27FC236}">
                <a16:creationId xmlns:a16="http://schemas.microsoft.com/office/drawing/2014/main" id="{3416EC81-F61E-FB76-E718-AF4B5637AEC8}"/>
              </a:ext>
            </a:extLst>
          </p:cNvPr>
          <p:cNvSpPr/>
          <p:nvPr/>
        </p:nvSpPr>
        <p:spPr>
          <a:xfrm>
            <a:off x="2248621" y="2691820"/>
            <a:ext cx="45267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44546A"/>
                </a:solidFill>
                <a:effectLst/>
                <a:uLnTx/>
                <a:uFillTx/>
                <a:latin typeface="Calibri"/>
                <a:ea typeface="Calibri"/>
                <a:cs typeface="Calibri"/>
              </a:rPr>
              <a:t>Mar</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44546A"/>
                </a:solidFill>
                <a:effectLst/>
                <a:uLnTx/>
                <a:uFillTx/>
                <a:latin typeface="Calibri"/>
                <a:ea typeface="Calibri"/>
                <a:cs typeface="Calibri"/>
              </a:rPr>
              <a:t>2026</a:t>
            </a:r>
            <a:endParaRPr kumimoji="0" lang="zh-CN" altLang="en-US" sz="900" b="1" i="0" u="none" strike="noStrike" kern="1200" cap="none" spc="0" normalizeH="0" baseline="0" noProof="0" dirty="0">
              <a:ln>
                <a:noFill/>
              </a:ln>
              <a:solidFill>
                <a:srgbClr val="44546A"/>
              </a:solidFill>
              <a:effectLst/>
              <a:uLnTx/>
              <a:uFillTx/>
              <a:latin typeface="Calibri"/>
              <a:ea typeface="+mn-ea"/>
              <a:cs typeface="Calibri"/>
            </a:endParaRPr>
          </a:p>
        </p:txBody>
      </p:sp>
      <p:sp>
        <p:nvSpPr>
          <p:cNvPr id="26" name="5-Point Star 5">
            <a:extLst>
              <a:ext uri="{FF2B5EF4-FFF2-40B4-BE49-F238E27FC236}">
                <a16:creationId xmlns:a16="http://schemas.microsoft.com/office/drawing/2014/main" id="{9312EA32-0D6C-646D-EC6F-87A3F4E18210}"/>
              </a:ext>
            </a:extLst>
          </p:cNvPr>
          <p:cNvSpPr/>
          <p:nvPr/>
        </p:nvSpPr>
        <p:spPr>
          <a:xfrm>
            <a:off x="2373385" y="2927676"/>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2" name="OTLSHAPE_T_e17f3958430f4cff8650518c93c7635e_StartDate">
            <a:extLst>
              <a:ext uri="{FF2B5EF4-FFF2-40B4-BE49-F238E27FC236}">
                <a16:creationId xmlns:a16="http://schemas.microsoft.com/office/drawing/2014/main" id="{788D81C8-E858-57F6-6B31-BDD21D077406}"/>
              </a:ext>
            </a:extLst>
          </p:cNvPr>
          <p:cNvSpPr txBox="1"/>
          <p:nvPr>
            <p:custDataLst>
              <p:tags r:id="rId22"/>
            </p:custDataLst>
          </p:nvPr>
        </p:nvSpPr>
        <p:spPr>
          <a:xfrm>
            <a:off x="2203469" y="3042594"/>
            <a:ext cx="501875"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t>
            </a:r>
            <a:r>
              <a:rPr lang="en-US" altLang="zh-CN" sz="800">
                <a:latin typeface="Boehringer Forward Text"/>
              </a:rPr>
              <a:t>appr</a:t>
            </a: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 name="文本框 20">
            <a:extLst>
              <a:ext uri="{FF2B5EF4-FFF2-40B4-BE49-F238E27FC236}">
                <a16:creationId xmlns:a16="http://schemas.microsoft.com/office/drawing/2014/main" id="{DB2EAABC-A71F-19CB-75E5-2D46FCC870EA}"/>
              </a:ext>
            </a:extLst>
          </p:cNvPr>
          <p:cNvSpPr txBox="1"/>
          <p:nvPr/>
        </p:nvSpPr>
        <p:spPr bwMode="gray">
          <a:xfrm>
            <a:off x="327866" y="4998695"/>
            <a:ext cx="11619945" cy="1338828"/>
          </a:xfrm>
          <a:prstGeom prst="rect">
            <a:avLst/>
          </a:prstGeom>
          <a:solidFill>
            <a:schemeClr val="bg1"/>
          </a:solidFill>
        </p:spPr>
        <p:txBody>
          <a:bodyPr wrap="square">
            <a:spAutoFit/>
          </a:bodyPr>
          <a:lstStyle/>
          <a:p>
            <a:pPr marL="285750" indent="-285750">
              <a:spcAft>
                <a:spcPts val="600"/>
              </a:spcAft>
              <a:buFont typeface="Arial" panose="020B0604020202020204" pitchFamily="34" charset="0"/>
              <a:buChar char="•"/>
            </a:pPr>
            <a:r>
              <a:rPr lang="en-US" altLang="zh-CN" b="1" dirty="0"/>
              <a:t>Follow-up actions:</a:t>
            </a:r>
          </a:p>
          <a:p>
            <a:pPr defTabSz="914377">
              <a:spcAft>
                <a:spcPts val="600"/>
              </a:spcAft>
              <a:defRPr/>
            </a:pPr>
            <a:r>
              <a:rPr lang="en-US" altLang="zh-CN" sz="1600" dirty="0">
                <a:solidFill>
                  <a:schemeClr val="dk1"/>
                </a:solidFill>
              </a:rPr>
              <a:t>    - HAI response will be prepared and incorporated into the CTA submission packages.</a:t>
            </a:r>
          </a:p>
          <a:p>
            <a:pPr defTabSz="914377">
              <a:lnSpc>
                <a:spcPct val="100000"/>
              </a:lnSpc>
              <a:spcAft>
                <a:spcPts val="600"/>
              </a:spcAft>
              <a:defRPr/>
            </a:pPr>
            <a:r>
              <a:rPr lang="en-US" altLang="zh-CN" sz="1600" dirty="0">
                <a:solidFill>
                  <a:schemeClr val="dk1"/>
                </a:solidFill>
              </a:rPr>
              <a:t>    - Maintain close communication with global ET regarding the supplemental supporting evidence for the CTA.</a:t>
            </a:r>
          </a:p>
          <a:p>
            <a:pPr defTabSz="914377">
              <a:lnSpc>
                <a:spcPct val="100000"/>
              </a:lnSpc>
              <a:spcAft>
                <a:spcPts val="600"/>
              </a:spcAft>
              <a:defRPr/>
            </a:pPr>
            <a:r>
              <a:rPr lang="en-US" altLang="zh-CN" sz="1600" dirty="0">
                <a:solidFill>
                  <a:schemeClr val="dk1"/>
                </a:solidFill>
              </a:rPr>
              <a:t>    - Maintain close communication with global ET and local AT about the future NDA strategy.</a:t>
            </a:r>
            <a:endParaRPr lang="zh-CN" altLang="en-US" sz="1600" dirty="0">
              <a:solidFill>
                <a:schemeClr val="dk1"/>
              </a:solidFill>
            </a:endParaRPr>
          </a:p>
        </p:txBody>
      </p:sp>
    </p:spTree>
    <p:extLst>
      <p:ext uri="{BB962C8B-B14F-4D97-AF65-F5344CB8AC3E}">
        <p14:creationId xmlns:p14="http://schemas.microsoft.com/office/powerpoint/2010/main" val="666196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D29EA8-7150-1C8D-84C7-7D6057B3D23A}"/>
              </a:ext>
            </a:extLst>
          </p:cNvPr>
          <p:cNvSpPr>
            <a:spLocks noGrp="1"/>
          </p:cNvSpPr>
          <p:nvPr>
            <p:ph type="title"/>
          </p:nvPr>
        </p:nvSpPr>
        <p:spPr/>
        <p:txBody>
          <a:bodyPr/>
          <a:lstStyle/>
          <a:p>
            <a:r>
              <a:rPr lang="en-US" altLang="zh-CN" sz="5400"/>
              <a:t>Thank you</a:t>
            </a:r>
            <a:endParaRPr lang="zh-CN" altLang="en-US" sz="5400"/>
          </a:p>
        </p:txBody>
      </p:sp>
      <p:sp>
        <p:nvSpPr>
          <p:cNvPr id="3" name="副标题 2">
            <a:extLst>
              <a:ext uri="{FF2B5EF4-FFF2-40B4-BE49-F238E27FC236}">
                <a16:creationId xmlns:a16="http://schemas.microsoft.com/office/drawing/2014/main" id="{1CBE7389-6F98-9745-7461-05326463F751}"/>
              </a:ext>
            </a:extLst>
          </p:cNvPr>
          <p:cNvSpPr>
            <a:spLocks noGrp="1"/>
          </p:cNvSpPr>
          <p:nvPr>
            <p:ph type="subTitle" idx="14"/>
          </p:nvPr>
        </p:nvSpPr>
        <p:spPr/>
        <p:txBody>
          <a:bodyPr/>
          <a:lstStyle/>
          <a:p>
            <a:endParaRPr lang="zh-CN" altLang="en-US"/>
          </a:p>
        </p:txBody>
      </p:sp>
      <p:sp>
        <p:nvSpPr>
          <p:cNvPr id="4" name="页脚占位符 3">
            <a:extLst>
              <a:ext uri="{FF2B5EF4-FFF2-40B4-BE49-F238E27FC236}">
                <a16:creationId xmlns:a16="http://schemas.microsoft.com/office/drawing/2014/main" id="{E46038E9-CB81-FAEF-D83A-D47D9BC99030}"/>
              </a:ext>
            </a:extLst>
          </p:cNvPr>
          <p:cNvSpPr>
            <a:spLocks noGrp="1"/>
          </p:cNvSpPr>
          <p:nvPr>
            <p:ph type="ftr" sz="quarter" idx="19"/>
          </p:nvPr>
        </p:nvSpPr>
        <p:spPr/>
        <p:txBody>
          <a:bodyPr/>
          <a:lstStyle/>
          <a:p>
            <a:r>
              <a:rPr lang="en-US"/>
              <a:t>Nerandomilast in SSc iCEC June 2025 CONFIDENTIAL ONLY FOR INTERNAL USE </a:t>
            </a:r>
          </a:p>
        </p:txBody>
      </p:sp>
    </p:spTree>
    <p:extLst>
      <p:ext uri="{BB962C8B-B14F-4D97-AF65-F5344CB8AC3E}">
        <p14:creationId xmlns:p14="http://schemas.microsoft.com/office/powerpoint/2010/main" val="4154113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61DDD9-9AAC-7172-EA59-AE7BC334DD31}"/>
              </a:ext>
            </a:extLst>
          </p:cNvPr>
          <p:cNvSpPr>
            <a:spLocks noGrp="1"/>
          </p:cNvSpPr>
          <p:nvPr>
            <p:ph type="title"/>
          </p:nvPr>
        </p:nvSpPr>
        <p:spPr/>
        <p:txBody>
          <a:bodyPr/>
          <a:lstStyle/>
          <a:p>
            <a:r>
              <a:rPr lang="en-US" altLang="zh-CN"/>
              <a:t>Back up slides</a:t>
            </a:r>
            <a:endParaRPr lang="zh-CN" altLang="en-US"/>
          </a:p>
        </p:txBody>
      </p:sp>
      <p:sp>
        <p:nvSpPr>
          <p:cNvPr id="3" name="副标题 2">
            <a:extLst>
              <a:ext uri="{FF2B5EF4-FFF2-40B4-BE49-F238E27FC236}">
                <a16:creationId xmlns:a16="http://schemas.microsoft.com/office/drawing/2014/main" id="{6FD7CBDD-7379-5103-4070-24704AA5F0D8}"/>
              </a:ext>
            </a:extLst>
          </p:cNvPr>
          <p:cNvSpPr>
            <a:spLocks noGrp="1"/>
          </p:cNvSpPr>
          <p:nvPr>
            <p:ph type="subTitle" idx="14"/>
          </p:nvPr>
        </p:nvSpPr>
        <p:spPr/>
        <p:txBody>
          <a:bodyPr/>
          <a:lstStyle/>
          <a:p>
            <a:endParaRPr lang="zh-CN" altLang="en-US"/>
          </a:p>
        </p:txBody>
      </p:sp>
      <p:sp>
        <p:nvSpPr>
          <p:cNvPr id="4" name="灯片编号占位符 3">
            <a:extLst>
              <a:ext uri="{FF2B5EF4-FFF2-40B4-BE49-F238E27FC236}">
                <a16:creationId xmlns:a16="http://schemas.microsoft.com/office/drawing/2014/main" id="{C975EDB3-60F0-CC01-B823-3FDE2B1FB729}"/>
              </a:ext>
            </a:extLst>
          </p:cNvPr>
          <p:cNvSpPr>
            <a:spLocks noGrp="1"/>
          </p:cNvSpPr>
          <p:nvPr>
            <p:ph type="sldNum" sz="quarter" idx="16"/>
          </p:nvPr>
        </p:nvSpPr>
        <p:spPr/>
        <p:txBody>
          <a:bodyPr/>
          <a:lstStyle/>
          <a:p>
            <a:fld id="{8FF9B0DE-3FEB-4AA0-B465-B80EF7C1333D}" type="slidenum">
              <a:rPr lang="en-US" smtClean="0"/>
              <a:pPr/>
              <a:t>22</a:t>
            </a:fld>
            <a:endParaRPr lang="en-US"/>
          </a:p>
        </p:txBody>
      </p:sp>
    </p:spTree>
    <p:extLst>
      <p:ext uri="{BB962C8B-B14F-4D97-AF65-F5344CB8AC3E}">
        <p14:creationId xmlns:p14="http://schemas.microsoft.com/office/powerpoint/2010/main" val="4039012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54819B0C-CCBF-F792-68DE-A13643CB5BC7}"/>
              </a:ext>
            </a:extLst>
          </p:cNvPr>
          <p:cNvSpPr/>
          <p:nvPr/>
        </p:nvSpPr>
        <p:spPr bwMode="gray">
          <a:xfrm>
            <a:off x="4340930" y="1052403"/>
            <a:ext cx="3578382" cy="3125052"/>
          </a:xfrm>
          <a:prstGeom prst="rect">
            <a:avLst/>
          </a:prstGeom>
          <a:solidFill>
            <a:schemeClr val="bg1"/>
          </a:solidFill>
          <a:ln w="38100">
            <a:solidFill>
              <a:srgbClr val="E2D4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Footer Placeholder 3">
            <a:extLst>
              <a:ext uri="{FF2B5EF4-FFF2-40B4-BE49-F238E27FC236}">
                <a16:creationId xmlns:a16="http://schemas.microsoft.com/office/drawing/2014/main" id="{73F06DC6-5A76-55C6-493A-E793506AF327}"/>
              </a:ext>
            </a:extLst>
          </p:cNvPr>
          <p:cNvSpPr>
            <a:spLocks noGrp="1"/>
          </p:cNvSpPr>
          <p:nvPr>
            <p:ph type="ftr" sz="quarter" idx="16"/>
          </p:nvPr>
        </p:nvSpPr>
        <p:spPr>
          <a:xfrm>
            <a:off x="5287644" y="6420002"/>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sp>
        <p:nvSpPr>
          <p:cNvPr id="7" name="Title 17">
            <a:extLst>
              <a:ext uri="{FF2B5EF4-FFF2-40B4-BE49-F238E27FC236}">
                <a16:creationId xmlns:a16="http://schemas.microsoft.com/office/drawing/2014/main" id="{DC26C4A3-7E74-C541-99C2-103756C544A9}"/>
              </a:ext>
            </a:extLst>
          </p:cNvPr>
          <p:cNvSpPr>
            <a:spLocks noGrp="1"/>
          </p:cNvSpPr>
          <p:nvPr>
            <p:ph type="title"/>
          </p:nvPr>
        </p:nvSpPr>
        <p:spPr>
          <a:xfrm>
            <a:off x="360527" y="123049"/>
            <a:ext cx="11352048" cy="493792"/>
          </a:xfrm>
        </p:spPr>
        <p:txBody>
          <a:bodyPr/>
          <a:lstStyle/>
          <a:p>
            <a:r>
              <a:rPr lang="en-GB">
                <a:solidFill>
                  <a:srgbClr val="08312A"/>
                </a:solidFill>
                <a:latin typeface="Boehringer Forward Head"/>
              </a:rPr>
              <a:t>Anti-Inflammatory Effect of Nerandomilast</a:t>
            </a:r>
            <a:br>
              <a:rPr lang="en-GB">
                <a:solidFill>
                  <a:srgbClr val="08312A"/>
                </a:solidFill>
                <a:latin typeface="Boehringer Forward Head"/>
              </a:rPr>
            </a:br>
            <a:r>
              <a:rPr lang="en-GB" sz="1800">
                <a:solidFill>
                  <a:srgbClr val="70AD47">
                    <a:lumMod val="75000"/>
                  </a:srgbClr>
                </a:solidFill>
                <a:latin typeface="Boehringer Forward Head"/>
                <a:ea typeface="+mn-ea"/>
                <a:cs typeface="+mn-cs"/>
              </a:rPr>
              <a:t>Nerandomilast inhibits activation of multiple disease mediating inflammatory cells</a:t>
            </a:r>
          </a:p>
        </p:txBody>
      </p:sp>
      <p:pic>
        <p:nvPicPr>
          <p:cNvPr id="8" name="Picture 7" descr="A screenshot of a cell&#10;&#10;Description automatically generated">
            <a:extLst>
              <a:ext uri="{FF2B5EF4-FFF2-40B4-BE49-F238E27FC236}">
                <a16:creationId xmlns:a16="http://schemas.microsoft.com/office/drawing/2014/main" id="{0A6DC507-009F-6A69-07A0-60B38A812809}"/>
              </a:ext>
            </a:extLst>
          </p:cNvPr>
          <p:cNvPicPr>
            <a:picLocks noChangeAspect="1"/>
          </p:cNvPicPr>
          <p:nvPr/>
        </p:nvPicPr>
        <p:blipFill rotWithShape="1">
          <a:blip r:embed="rId3">
            <a:extLst>
              <a:ext uri="{28A0092B-C50C-407E-A947-70E740481C1C}">
                <a14:useLocalDpi xmlns:a14="http://schemas.microsoft.com/office/drawing/2010/main" val="0"/>
              </a:ext>
            </a:extLst>
          </a:blip>
          <a:srcRect l="20312" t="16072" r="20312" b="37208"/>
          <a:stretch/>
        </p:blipFill>
        <p:spPr>
          <a:xfrm>
            <a:off x="223787" y="1090422"/>
            <a:ext cx="4134622" cy="2277397"/>
          </a:xfrm>
          <a:prstGeom prst="rect">
            <a:avLst/>
          </a:prstGeom>
        </p:spPr>
      </p:pic>
      <p:sp>
        <p:nvSpPr>
          <p:cNvPr id="14" name="Rectangle 13">
            <a:extLst>
              <a:ext uri="{FF2B5EF4-FFF2-40B4-BE49-F238E27FC236}">
                <a16:creationId xmlns:a16="http://schemas.microsoft.com/office/drawing/2014/main" id="{83401676-6CA1-FD71-B07C-652BA566EC16}"/>
              </a:ext>
            </a:extLst>
          </p:cNvPr>
          <p:cNvSpPr/>
          <p:nvPr/>
        </p:nvSpPr>
        <p:spPr bwMode="gray">
          <a:xfrm>
            <a:off x="4340930" y="4291477"/>
            <a:ext cx="3578382" cy="2123931"/>
          </a:xfrm>
          <a:prstGeom prst="rect">
            <a:avLst/>
          </a:prstGeom>
          <a:solidFill>
            <a:schemeClr val="bg1"/>
          </a:solidFill>
          <a:ln w="38100">
            <a:solidFill>
              <a:srgbClr val="E2D4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TextBox 14">
            <a:extLst>
              <a:ext uri="{FF2B5EF4-FFF2-40B4-BE49-F238E27FC236}">
                <a16:creationId xmlns:a16="http://schemas.microsoft.com/office/drawing/2014/main" id="{F192E277-6186-272C-41B9-08D9D86F6152}"/>
              </a:ext>
            </a:extLst>
          </p:cNvPr>
          <p:cNvSpPr txBox="1"/>
          <p:nvPr/>
        </p:nvSpPr>
        <p:spPr>
          <a:xfrm>
            <a:off x="4288174" y="4269211"/>
            <a:ext cx="8194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T cells </a:t>
            </a:r>
          </a:p>
        </p:txBody>
      </p:sp>
      <p:sp>
        <p:nvSpPr>
          <p:cNvPr id="23" name="Rectangle 22">
            <a:extLst>
              <a:ext uri="{FF2B5EF4-FFF2-40B4-BE49-F238E27FC236}">
                <a16:creationId xmlns:a16="http://schemas.microsoft.com/office/drawing/2014/main" id="{C779FA0C-1486-6FC1-4489-1D751DF6E5AE}"/>
              </a:ext>
            </a:extLst>
          </p:cNvPr>
          <p:cNvSpPr/>
          <p:nvPr/>
        </p:nvSpPr>
        <p:spPr>
          <a:xfrm>
            <a:off x="50916" y="3775886"/>
            <a:ext cx="4370021" cy="748510"/>
          </a:xfrm>
          <a:prstGeom prst="rect">
            <a:avLst/>
          </a:prstGeom>
          <a:no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black"/>
              </a:solidFill>
              <a:effectLst/>
              <a:uLnTx/>
              <a:uFillTx/>
              <a:latin typeface="BISansOpti"/>
              <a:ea typeface="+mn-ea"/>
              <a:cs typeface="+mn-cs"/>
            </a:endParaRPr>
          </a:p>
        </p:txBody>
      </p:sp>
      <p:sp>
        <p:nvSpPr>
          <p:cNvPr id="24" name="TextBox 23">
            <a:extLst>
              <a:ext uri="{FF2B5EF4-FFF2-40B4-BE49-F238E27FC236}">
                <a16:creationId xmlns:a16="http://schemas.microsoft.com/office/drawing/2014/main" id="{5FAE7279-5767-4F2D-FC6D-B57C55C109B3}"/>
              </a:ext>
            </a:extLst>
          </p:cNvPr>
          <p:cNvSpPr txBox="1"/>
          <p:nvPr/>
        </p:nvSpPr>
        <p:spPr>
          <a:xfrm>
            <a:off x="169548" y="3238725"/>
            <a:ext cx="3952201" cy="70788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prstClr val="black"/>
                </a:solidFill>
                <a:effectLst/>
                <a:uLnTx/>
                <a:uFillTx/>
                <a:latin typeface="BISansOpti"/>
                <a:ea typeface="+mn-ea"/>
                <a:cs typeface="Arial" panose="020B0604020202020204" pitchFamily="34" charset="0"/>
              </a:rPr>
              <a:t>Anti-inflammatory effect on multiple  immune cells</a:t>
            </a:r>
          </a:p>
        </p:txBody>
      </p:sp>
      <p:grpSp>
        <p:nvGrpSpPr>
          <p:cNvPr id="27" name="Group 26">
            <a:extLst>
              <a:ext uri="{FF2B5EF4-FFF2-40B4-BE49-F238E27FC236}">
                <a16:creationId xmlns:a16="http://schemas.microsoft.com/office/drawing/2014/main" id="{967C033D-6238-793D-7F3F-4955A6E04388}"/>
              </a:ext>
            </a:extLst>
          </p:cNvPr>
          <p:cNvGrpSpPr/>
          <p:nvPr/>
        </p:nvGrpSpPr>
        <p:grpSpPr>
          <a:xfrm>
            <a:off x="271377" y="4005725"/>
            <a:ext cx="3425084" cy="1793239"/>
            <a:chOff x="240333" y="4199689"/>
            <a:chExt cx="4351505" cy="1793239"/>
          </a:xfrm>
        </p:grpSpPr>
        <p:sp>
          <p:nvSpPr>
            <p:cNvPr id="9" name="TextBox 8">
              <a:extLst>
                <a:ext uri="{FF2B5EF4-FFF2-40B4-BE49-F238E27FC236}">
                  <a16:creationId xmlns:a16="http://schemas.microsoft.com/office/drawing/2014/main" id="{FED25559-4DB4-3768-6D19-AADA5EA4B813}"/>
                </a:ext>
              </a:extLst>
            </p:cNvPr>
            <p:cNvSpPr txBox="1"/>
            <p:nvPr/>
          </p:nvSpPr>
          <p:spPr bwMode="gray">
            <a:xfrm>
              <a:off x="258896" y="4507457"/>
              <a:ext cx="4332942" cy="1485471"/>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PBMCs</a:t>
              </a:r>
            </a:p>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Monocyte derived macrophages</a:t>
              </a:r>
            </a:p>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iPSC derived macrophages</a:t>
              </a:r>
              <a:br>
                <a:rPr kumimoji="0" lang="en-US" sz="1600" b="0" i="0" u="none" strike="noStrike" kern="1200" cap="none" spc="0" normalizeH="0" baseline="0" noProof="0">
                  <a:ln>
                    <a:noFill/>
                  </a:ln>
                  <a:solidFill>
                    <a:prstClr val="black"/>
                  </a:solidFill>
                  <a:effectLst/>
                  <a:uLnTx/>
                  <a:uFillTx/>
                  <a:latin typeface="Boehringer Forward Text"/>
                  <a:ea typeface="+mn-ea"/>
                  <a:cs typeface="+mn-cs"/>
                </a:rPr>
              </a:br>
              <a:r>
                <a:rPr kumimoji="0" lang="en-US" sz="1200" b="0" i="0" u="none" strike="noStrike" kern="1200" cap="none" spc="0" normalizeH="0" baseline="0" noProof="0">
                  <a:ln>
                    <a:noFill/>
                  </a:ln>
                  <a:solidFill>
                    <a:prstClr val="black"/>
                  </a:solidFill>
                  <a:effectLst/>
                  <a:uLnTx/>
                  <a:uFillTx/>
                  <a:latin typeface="Boehringer Forward Text"/>
                  <a:ea typeface="+mn-ea"/>
                  <a:cs typeface="+mn-cs"/>
                </a:rPr>
                <a:t>(model of tissue resident macrophages)</a:t>
              </a:r>
            </a:p>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Suppresses biomarker MCP-1</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 name="TextBox 25">
              <a:extLst>
                <a:ext uri="{FF2B5EF4-FFF2-40B4-BE49-F238E27FC236}">
                  <a16:creationId xmlns:a16="http://schemas.microsoft.com/office/drawing/2014/main" id="{AD481A66-E0FB-B15F-2E90-BA9C741B63BF}"/>
                </a:ext>
              </a:extLst>
            </p:cNvPr>
            <p:cNvSpPr txBox="1"/>
            <p:nvPr/>
          </p:nvSpPr>
          <p:spPr bwMode="gray">
            <a:xfrm>
              <a:off x="240333" y="4199689"/>
              <a:ext cx="3804218" cy="660630"/>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T cells</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pSp>
      <p:sp>
        <p:nvSpPr>
          <p:cNvPr id="6" name="Rectangle 5">
            <a:extLst>
              <a:ext uri="{FF2B5EF4-FFF2-40B4-BE49-F238E27FC236}">
                <a16:creationId xmlns:a16="http://schemas.microsoft.com/office/drawing/2014/main" id="{8A137946-1AD3-7557-3470-31E25F134A15}"/>
              </a:ext>
            </a:extLst>
          </p:cNvPr>
          <p:cNvSpPr/>
          <p:nvPr/>
        </p:nvSpPr>
        <p:spPr bwMode="gray">
          <a:xfrm>
            <a:off x="8141674" y="1082185"/>
            <a:ext cx="3469575" cy="1998365"/>
          </a:xfrm>
          <a:prstGeom prst="rect">
            <a:avLst/>
          </a:prstGeom>
          <a:solidFill>
            <a:schemeClr val="bg1"/>
          </a:solidFill>
          <a:ln w="38100">
            <a:solidFill>
              <a:srgbClr val="E2D4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TextBox 9">
            <a:extLst>
              <a:ext uri="{FF2B5EF4-FFF2-40B4-BE49-F238E27FC236}">
                <a16:creationId xmlns:a16="http://schemas.microsoft.com/office/drawing/2014/main" id="{1BF19121-D752-23D6-3384-F01FB85D997D}"/>
              </a:ext>
            </a:extLst>
          </p:cNvPr>
          <p:cNvSpPr txBox="1"/>
          <p:nvPr/>
        </p:nvSpPr>
        <p:spPr>
          <a:xfrm>
            <a:off x="8181400" y="1030095"/>
            <a:ext cx="34676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Monocyte derived Mac (LPS-stim.)</a:t>
            </a:r>
          </a:p>
        </p:txBody>
      </p:sp>
      <p:sp>
        <p:nvSpPr>
          <p:cNvPr id="11" name="Rectangle 10">
            <a:extLst>
              <a:ext uri="{FF2B5EF4-FFF2-40B4-BE49-F238E27FC236}">
                <a16:creationId xmlns:a16="http://schemas.microsoft.com/office/drawing/2014/main" id="{4A9F801F-313C-D6CA-E5C2-3FE3231D593D}"/>
              </a:ext>
            </a:extLst>
          </p:cNvPr>
          <p:cNvSpPr/>
          <p:nvPr/>
        </p:nvSpPr>
        <p:spPr bwMode="gray">
          <a:xfrm>
            <a:off x="8149758" y="3215242"/>
            <a:ext cx="3469575" cy="1998365"/>
          </a:xfrm>
          <a:prstGeom prst="rect">
            <a:avLst/>
          </a:prstGeom>
          <a:solidFill>
            <a:schemeClr val="bg1"/>
          </a:solidFill>
          <a:ln w="38100">
            <a:solidFill>
              <a:srgbClr val="E2D4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B08B4D43-5496-5B1B-D7A9-F5FCF4CD5A99}"/>
              </a:ext>
            </a:extLst>
          </p:cNvPr>
          <p:cNvSpPr txBox="1"/>
          <p:nvPr/>
        </p:nvSpPr>
        <p:spPr>
          <a:xfrm>
            <a:off x="8198338" y="3183534"/>
            <a:ext cx="32861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err="1">
                <a:ln>
                  <a:noFill/>
                </a:ln>
                <a:solidFill>
                  <a:prstClr val="black"/>
                </a:solidFill>
                <a:effectLst/>
                <a:uLnTx/>
                <a:uFillTx/>
                <a:latin typeface="Calibri" panose="020F0502020204030204"/>
                <a:ea typeface="+mn-ea"/>
                <a:cs typeface="+mn-cs"/>
              </a:rPr>
              <a:t>iDMs</a:t>
            </a: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 (tissue res. Mac, LPS-stim.)</a:t>
            </a:r>
          </a:p>
        </p:txBody>
      </p:sp>
      <p:pic>
        <p:nvPicPr>
          <p:cNvPr id="19" name="Grafik 21">
            <a:extLst>
              <a:ext uri="{FF2B5EF4-FFF2-40B4-BE49-F238E27FC236}">
                <a16:creationId xmlns:a16="http://schemas.microsoft.com/office/drawing/2014/main" id="{BA81823E-4455-2E50-04C9-75727FE0712A}"/>
              </a:ext>
            </a:extLst>
          </p:cNvPr>
          <p:cNvPicPr>
            <a:picLocks noChangeAspect="1"/>
          </p:cNvPicPr>
          <p:nvPr/>
        </p:nvPicPr>
        <p:blipFill>
          <a:blip r:embed="rId4"/>
          <a:stretch>
            <a:fillRect/>
          </a:stretch>
        </p:blipFill>
        <p:spPr>
          <a:xfrm>
            <a:off x="8393457" y="1376666"/>
            <a:ext cx="2901544" cy="1613735"/>
          </a:xfrm>
          <a:prstGeom prst="rect">
            <a:avLst/>
          </a:prstGeom>
        </p:spPr>
      </p:pic>
      <p:pic>
        <p:nvPicPr>
          <p:cNvPr id="20" name="Grafik 25">
            <a:extLst>
              <a:ext uri="{FF2B5EF4-FFF2-40B4-BE49-F238E27FC236}">
                <a16:creationId xmlns:a16="http://schemas.microsoft.com/office/drawing/2014/main" id="{F0A9EE0B-90E8-2A64-F989-E40316D37CCA}"/>
              </a:ext>
            </a:extLst>
          </p:cNvPr>
          <p:cNvPicPr>
            <a:picLocks noChangeAspect="1"/>
          </p:cNvPicPr>
          <p:nvPr/>
        </p:nvPicPr>
        <p:blipFill>
          <a:blip r:embed="rId5"/>
          <a:stretch>
            <a:fillRect/>
          </a:stretch>
        </p:blipFill>
        <p:spPr>
          <a:xfrm>
            <a:off x="8188983" y="3636481"/>
            <a:ext cx="3376111" cy="1366927"/>
          </a:xfrm>
          <a:prstGeom prst="rect">
            <a:avLst/>
          </a:prstGeom>
        </p:spPr>
      </p:pic>
      <p:pic>
        <p:nvPicPr>
          <p:cNvPr id="2" name="Picture 1">
            <a:extLst>
              <a:ext uri="{FF2B5EF4-FFF2-40B4-BE49-F238E27FC236}">
                <a16:creationId xmlns:a16="http://schemas.microsoft.com/office/drawing/2014/main" id="{A23DF550-0DD5-EF78-1F5C-46C0A46F2DCF}"/>
              </a:ext>
            </a:extLst>
          </p:cNvPr>
          <p:cNvPicPr>
            <a:picLocks noChangeAspect="1"/>
          </p:cNvPicPr>
          <p:nvPr/>
        </p:nvPicPr>
        <p:blipFill>
          <a:blip r:embed="rId6"/>
          <a:stretch>
            <a:fillRect/>
          </a:stretch>
        </p:blipFill>
        <p:spPr>
          <a:xfrm>
            <a:off x="6854267" y="1409634"/>
            <a:ext cx="918584" cy="721169"/>
          </a:xfrm>
          <a:prstGeom prst="rect">
            <a:avLst/>
          </a:prstGeom>
        </p:spPr>
      </p:pic>
      <p:grpSp>
        <p:nvGrpSpPr>
          <p:cNvPr id="3" name="Group 2">
            <a:extLst>
              <a:ext uri="{FF2B5EF4-FFF2-40B4-BE49-F238E27FC236}">
                <a16:creationId xmlns:a16="http://schemas.microsoft.com/office/drawing/2014/main" id="{A2AB1AEF-144F-A6ED-A3AF-E9BF58312C5A}"/>
              </a:ext>
            </a:extLst>
          </p:cNvPr>
          <p:cNvGrpSpPr/>
          <p:nvPr/>
        </p:nvGrpSpPr>
        <p:grpSpPr>
          <a:xfrm>
            <a:off x="4283638" y="1101675"/>
            <a:ext cx="3052438" cy="2996546"/>
            <a:chOff x="3501459" y="1915890"/>
            <a:chExt cx="3906451" cy="3819082"/>
          </a:xfrm>
        </p:grpSpPr>
        <p:pic>
          <p:nvPicPr>
            <p:cNvPr id="21" name="Picture 20">
              <a:extLst>
                <a:ext uri="{FF2B5EF4-FFF2-40B4-BE49-F238E27FC236}">
                  <a16:creationId xmlns:a16="http://schemas.microsoft.com/office/drawing/2014/main" id="{E16F667D-7CCB-2773-2D9C-D59ED0B4CCB7}"/>
                </a:ext>
              </a:extLst>
            </p:cNvPr>
            <p:cNvPicPr>
              <a:picLocks noChangeAspect="1"/>
            </p:cNvPicPr>
            <p:nvPr/>
          </p:nvPicPr>
          <p:blipFill rotWithShape="1">
            <a:blip r:embed="rId7"/>
            <a:srcRect t="16602" r="50242" b="24693"/>
            <a:stretch/>
          </p:blipFill>
          <p:spPr>
            <a:xfrm>
              <a:off x="3501459" y="1955218"/>
              <a:ext cx="2927804" cy="2901918"/>
            </a:xfrm>
            <a:prstGeom prst="rect">
              <a:avLst/>
            </a:prstGeom>
          </p:spPr>
        </p:pic>
        <p:pic>
          <p:nvPicPr>
            <p:cNvPr id="22" name="Picture 21">
              <a:extLst>
                <a:ext uri="{FF2B5EF4-FFF2-40B4-BE49-F238E27FC236}">
                  <a16:creationId xmlns:a16="http://schemas.microsoft.com/office/drawing/2014/main" id="{8184021F-1A58-64E9-E4D1-BC0E3FA457F4}"/>
                </a:ext>
              </a:extLst>
            </p:cNvPr>
            <p:cNvPicPr>
              <a:picLocks noChangeAspect="1"/>
            </p:cNvPicPr>
            <p:nvPr/>
          </p:nvPicPr>
          <p:blipFill rotWithShape="1">
            <a:blip r:embed="rId7"/>
            <a:srcRect l="65421" t="15807" r="17947" b="24693"/>
            <a:stretch/>
          </p:blipFill>
          <p:spPr>
            <a:xfrm>
              <a:off x="6429263" y="1915890"/>
              <a:ext cx="978647" cy="2941245"/>
            </a:xfrm>
            <a:prstGeom prst="rect">
              <a:avLst/>
            </a:prstGeom>
          </p:spPr>
        </p:pic>
        <p:sp>
          <p:nvSpPr>
            <p:cNvPr id="25" name="TextBox 24">
              <a:extLst>
                <a:ext uri="{FF2B5EF4-FFF2-40B4-BE49-F238E27FC236}">
                  <a16:creationId xmlns:a16="http://schemas.microsoft.com/office/drawing/2014/main" id="{B1036766-14EA-3B23-2331-B533178130BC}"/>
                </a:ext>
              </a:extLst>
            </p:cNvPr>
            <p:cNvSpPr txBox="1"/>
            <p:nvPr/>
          </p:nvSpPr>
          <p:spPr bwMode="gray">
            <a:xfrm>
              <a:off x="4662966" y="4800401"/>
              <a:ext cx="201046" cy="25161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a:t>
              </a:r>
            </a:p>
          </p:txBody>
        </p:sp>
        <p:sp>
          <p:nvSpPr>
            <p:cNvPr id="29" name="TextBox 28">
              <a:extLst>
                <a:ext uri="{FF2B5EF4-FFF2-40B4-BE49-F238E27FC236}">
                  <a16:creationId xmlns:a16="http://schemas.microsoft.com/office/drawing/2014/main" id="{EFE2AF47-8013-FC29-1AF9-D1EE0492365A}"/>
                </a:ext>
              </a:extLst>
            </p:cNvPr>
            <p:cNvSpPr txBox="1"/>
            <p:nvPr/>
          </p:nvSpPr>
          <p:spPr bwMode="gray">
            <a:xfrm rot="16200000">
              <a:off x="4706851" y="4937775"/>
              <a:ext cx="433120"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PGE2</a:t>
              </a:r>
            </a:p>
          </p:txBody>
        </p:sp>
        <p:sp>
          <p:nvSpPr>
            <p:cNvPr id="30" name="TextBox 29">
              <a:extLst>
                <a:ext uri="{FF2B5EF4-FFF2-40B4-BE49-F238E27FC236}">
                  <a16:creationId xmlns:a16="http://schemas.microsoft.com/office/drawing/2014/main" id="{D1FE0E4B-A152-1ACD-8662-8001C6E502E5}"/>
                </a:ext>
              </a:extLst>
            </p:cNvPr>
            <p:cNvSpPr txBox="1"/>
            <p:nvPr/>
          </p:nvSpPr>
          <p:spPr bwMode="gray">
            <a:xfrm rot="16200000">
              <a:off x="4917447" y="4916881"/>
              <a:ext cx="394303"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Nera</a:t>
              </a:r>
            </a:p>
          </p:txBody>
        </p:sp>
        <p:sp>
          <p:nvSpPr>
            <p:cNvPr id="31" name="TextBox 30">
              <a:extLst>
                <a:ext uri="{FF2B5EF4-FFF2-40B4-BE49-F238E27FC236}">
                  <a16:creationId xmlns:a16="http://schemas.microsoft.com/office/drawing/2014/main" id="{30E4AE2C-65EB-5768-2B89-743B1352E52A}"/>
                </a:ext>
              </a:extLst>
            </p:cNvPr>
            <p:cNvSpPr txBox="1"/>
            <p:nvPr/>
          </p:nvSpPr>
          <p:spPr bwMode="gray">
            <a:xfrm rot="16200000">
              <a:off x="4859408" y="5125327"/>
              <a:ext cx="909144"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PGE2/Nera</a:t>
              </a:r>
            </a:p>
          </p:txBody>
        </p:sp>
        <p:sp>
          <p:nvSpPr>
            <p:cNvPr id="32" name="TextBox 31">
              <a:extLst>
                <a:ext uri="{FF2B5EF4-FFF2-40B4-BE49-F238E27FC236}">
                  <a16:creationId xmlns:a16="http://schemas.microsoft.com/office/drawing/2014/main" id="{A401E3CA-67CD-850D-C194-4C1C9EF01F6C}"/>
                </a:ext>
              </a:extLst>
            </p:cNvPr>
            <p:cNvSpPr txBox="1"/>
            <p:nvPr/>
          </p:nvSpPr>
          <p:spPr bwMode="gray">
            <a:xfrm>
              <a:off x="5578868" y="4814774"/>
              <a:ext cx="201046" cy="25161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a:t>
              </a:r>
            </a:p>
          </p:txBody>
        </p:sp>
        <p:sp>
          <p:nvSpPr>
            <p:cNvPr id="33" name="TextBox 32">
              <a:extLst>
                <a:ext uri="{FF2B5EF4-FFF2-40B4-BE49-F238E27FC236}">
                  <a16:creationId xmlns:a16="http://schemas.microsoft.com/office/drawing/2014/main" id="{D983B849-8A82-41AB-2703-021CF1388568}"/>
                </a:ext>
              </a:extLst>
            </p:cNvPr>
            <p:cNvSpPr txBox="1"/>
            <p:nvPr/>
          </p:nvSpPr>
          <p:spPr bwMode="gray">
            <a:xfrm rot="16200000">
              <a:off x="5622753" y="4952146"/>
              <a:ext cx="433120"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PGE2</a:t>
              </a:r>
            </a:p>
          </p:txBody>
        </p:sp>
        <p:sp>
          <p:nvSpPr>
            <p:cNvPr id="34" name="TextBox 33">
              <a:extLst>
                <a:ext uri="{FF2B5EF4-FFF2-40B4-BE49-F238E27FC236}">
                  <a16:creationId xmlns:a16="http://schemas.microsoft.com/office/drawing/2014/main" id="{C55B24B6-A084-DA61-61B2-A0683EBA3817}"/>
                </a:ext>
              </a:extLst>
            </p:cNvPr>
            <p:cNvSpPr txBox="1"/>
            <p:nvPr/>
          </p:nvSpPr>
          <p:spPr bwMode="gray">
            <a:xfrm rot="16200000">
              <a:off x="5833348" y="4931252"/>
              <a:ext cx="394303"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Nera</a:t>
              </a:r>
            </a:p>
          </p:txBody>
        </p:sp>
        <p:sp>
          <p:nvSpPr>
            <p:cNvPr id="35" name="TextBox 34">
              <a:extLst>
                <a:ext uri="{FF2B5EF4-FFF2-40B4-BE49-F238E27FC236}">
                  <a16:creationId xmlns:a16="http://schemas.microsoft.com/office/drawing/2014/main" id="{6682D73E-7792-EF41-8B46-78B0E984A27E}"/>
                </a:ext>
              </a:extLst>
            </p:cNvPr>
            <p:cNvSpPr txBox="1"/>
            <p:nvPr/>
          </p:nvSpPr>
          <p:spPr bwMode="gray">
            <a:xfrm rot="16200000">
              <a:off x="5775309" y="5139697"/>
              <a:ext cx="909144"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PGE2/Nera</a:t>
              </a:r>
            </a:p>
          </p:txBody>
        </p:sp>
        <p:sp>
          <p:nvSpPr>
            <p:cNvPr id="36" name="TextBox 35">
              <a:extLst>
                <a:ext uri="{FF2B5EF4-FFF2-40B4-BE49-F238E27FC236}">
                  <a16:creationId xmlns:a16="http://schemas.microsoft.com/office/drawing/2014/main" id="{6A2C06DF-05FE-EF90-C4F7-A44F71C22EE0}"/>
                </a:ext>
              </a:extLst>
            </p:cNvPr>
            <p:cNvSpPr txBox="1"/>
            <p:nvPr/>
          </p:nvSpPr>
          <p:spPr bwMode="gray">
            <a:xfrm>
              <a:off x="6500250" y="4829145"/>
              <a:ext cx="201046" cy="25161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a:t>
              </a:r>
            </a:p>
          </p:txBody>
        </p:sp>
        <p:sp>
          <p:nvSpPr>
            <p:cNvPr id="37" name="TextBox 36">
              <a:extLst>
                <a:ext uri="{FF2B5EF4-FFF2-40B4-BE49-F238E27FC236}">
                  <a16:creationId xmlns:a16="http://schemas.microsoft.com/office/drawing/2014/main" id="{DD233F2D-28DD-A961-3868-A922F2BCC0C5}"/>
                </a:ext>
              </a:extLst>
            </p:cNvPr>
            <p:cNvSpPr txBox="1"/>
            <p:nvPr/>
          </p:nvSpPr>
          <p:spPr bwMode="gray">
            <a:xfrm rot="16200000">
              <a:off x="6544135" y="4966520"/>
              <a:ext cx="433120"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PGE2</a:t>
              </a:r>
            </a:p>
          </p:txBody>
        </p:sp>
        <p:sp>
          <p:nvSpPr>
            <p:cNvPr id="38" name="TextBox 37">
              <a:extLst>
                <a:ext uri="{FF2B5EF4-FFF2-40B4-BE49-F238E27FC236}">
                  <a16:creationId xmlns:a16="http://schemas.microsoft.com/office/drawing/2014/main" id="{E00C84A1-9CDF-BD07-71BB-5948C96F97D5}"/>
                </a:ext>
              </a:extLst>
            </p:cNvPr>
            <p:cNvSpPr txBox="1"/>
            <p:nvPr/>
          </p:nvSpPr>
          <p:spPr bwMode="gray">
            <a:xfrm rot="16200000">
              <a:off x="6754730" y="4945626"/>
              <a:ext cx="394303"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Nera</a:t>
              </a:r>
            </a:p>
          </p:txBody>
        </p:sp>
        <p:sp>
          <p:nvSpPr>
            <p:cNvPr id="39" name="TextBox 38">
              <a:extLst>
                <a:ext uri="{FF2B5EF4-FFF2-40B4-BE49-F238E27FC236}">
                  <a16:creationId xmlns:a16="http://schemas.microsoft.com/office/drawing/2014/main" id="{32CB4EC8-F6E8-F6DA-443A-6009F044F116}"/>
                </a:ext>
              </a:extLst>
            </p:cNvPr>
            <p:cNvSpPr txBox="1"/>
            <p:nvPr/>
          </p:nvSpPr>
          <p:spPr bwMode="gray">
            <a:xfrm rot="16200000">
              <a:off x="6696691" y="5154069"/>
              <a:ext cx="909144" cy="25266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Boehringer Forward Text"/>
                  <a:ea typeface="+mn-ea"/>
                  <a:cs typeface="+mn-cs"/>
                </a:rPr>
                <a:t>PGE2/Nera</a:t>
              </a:r>
            </a:p>
          </p:txBody>
        </p:sp>
      </p:grpSp>
      <p:sp>
        <p:nvSpPr>
          <p:cNvPr id="41" name="TextBox 40">
            <a:extLst>
              <a:ext uri="{FF2B5EF4-FFF2-40B4-BE49-F238E27FC236}">
                <a16:creationId xmlns:a16="http://schemas.microsoft.com/office/drawing/2014/main" id="{5FCBDCE0-5E8E-DB77-D9F0-F54608166C14}"/>
              </a:ext>
            </a:extLst>
          </p:cNvPr>
          <p:cNvSpPr txBox="1"/>
          <p:nvPr/>
        </p:nvSpPr>
        <p:spPr>
          <a:xfrm>
            <a:off x="4378272" y="1030095"/>
            <a:ext cx="85311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PBMCs</a:t>
            </a:r>
          </a:p>
        </p:txBody>
      </p:sp>
      <p:sp>
        <p:nvSpPr>
          <p:cNvPr id="43" name="TextBox 42">
            <a:extLst>
              <a:ext uri="{FF2B5EF4-FFF2-40B4-BE49-F238E27FC236}">
                <a16:creationId xmlns:a16="http://schemas.microsoft.com/office/drawing/2014/main" id="{AB0492E6-49C1-CFAE-C50C-843470B8869E}"/>
              </a:ext>
            </a:extLst>
          </p:cNvPr>
          <p:cNvSpPr txBox="1"/>
          <p:nvPr/>
        </p:nvSpPr>
        <p:spPr bwMode="gray">
          <a:xfrm>
            <a:off x="8198337" y="5297222"/>
            <a:ext cx="3647297" cy="86177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prstClr val="black"/>
                </a:solidFill>
                <a:effectLst/>
                <a:uLnTx/>
                <a:uFillTx/>
                <a:latin typeface="Boehringer Forward Text"/>
                <a:ea typeface="+mn-ea"/>
                <a:cs typeface="+mn-cs"/>
              </a:rPr>
              <a:t>Note: The concentrations used of Nerandomilast in the in vitro studies (500nM) reflect the exposure level in patients receiving 18mg bid </a:t>
            </a:r>
            <a:r>
              <a:rPr kumimoji="0" lang="en-US" sz="1400" b="0" i="1" u="none" strike="noStrike" kern="1200" cap="none" spc="0" normalizeH="0" baseline="0" noProof="0" err="1">
                <a:ln>
                  <a:noFill/>
                </a:ln>
                <a:solidFill>
                  <a:prstClr val="black"/>
                </a:solidFill>
                <a:effectLst/>
                <a:uLnTx/>
                <a:uFillTx/>
                <a:latin typeface="Boehringer Forward Text"/>
                <a:ea typeface="+mn-ea"/>
                <a:cs typeface="+mn-cs"/>
              </a:rPr>
              <a:t>Neradnomilast</a:t>
            </a:r>
            <a:r>
              <a:rPr kumimoji="0" lang="en-US" sz="1400" b="0" i="1" u="none" strike="noStrike" kern="1200" cap="none" spc="0" normalizeH="0" baseline="0" noProof="0">
                <a:ln>
                  <a:noFill/>
                </a:ln>
                <a:solidFill>
                  <a:prstClr val="black"/>
                </a:solidFill>
                <a:effectLst/>
                <a:uLnTx/>
                <a:uFillTx/>
                <a:latin typeface="Boehringer Forward Text"/>
                <a:ea typeface="+mn-ea"/>
                <a:cs typeface="+mn-cs"/>
              </a:rPr>
              <a:t>.</a:t>
            </a:r>
          </a:p>
        </p:txBody>
      </p:sp>
      <p:sp>
        <p:nvSpPr>
          <p:cNvPr id="5" name="Rectangle 4">
            <a:extLst>
              <a:ext uri="{FF2B5EF4-FFF2-40B4-BE49-F238E27FC236}">
                <a16:creationId xmlns:a16="http://schemas.microsoft.com/office/drawing/2014/main" id="{C6063FC1-5432-B568-612A-A229806CA68E}"/>
              </a:ext>
            </a:extLst>
          </p:cNvPr>
          <p:cNvSpPr/>
          <p:nvPr/>
        </p:nvSpPr>
        <p:spPr bwMode="gray">
          <a:xfrm>
            <a:off x="5262270" y="4347951"/>
            <a:ext cx="2325125" cy="188723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13" name="Picture 12">
            <a:extLst>
              <a:ext uri="{FF2B5EF4-FFF2-40B4-BE49-F238E27FC236}">
                <a16:creationId xmlns:a16="http://schemas.microsoft.com/office/drawing/2014/main" id="{02B36C1F-E46A-23FE-A74E-9B3A1E15A5D8}"/>
              </a:ext>
            </a:extLst>
          </p:cNvPr>
          <p:cNvPicPr>
            <a:picLocks noChangeAspect="1"/>
          </p:cNvPicPr>
          <p:nvPr/>
        </p:nvPicPr>
        <p:blipFill>
          <a:blip r:embed="rId8"/>
          <a:srcRect l="9118" t="13164" r="29623" b="16314"/>
          <a:stretch/>
        </p:blipFill>
        <p:spPr>
          <a:xfrm>
            <a:off x="5115154" y="4553362"/>
            <a:ext cx="2289271" cy="1672373"/>
          </a:xfrm>
          <a:prstGeom prst="rect">
            <a:avLst/>
          </a:prstGeom>
        </p:spPr>
      </p:pic>
      <p:sp>
        <p:nvSpPr>
          <p:cNvPr id="42" name="TextBox 41">
            <a:extLst>
              <a:ext uri="{FF2B5EF4-FFF2-40B4-BE49-F238E27FC236}">
                <a16:creationId xmlns:a16="http://schemas.microsoft.com/office/drawing/2014/main" id="{CA176102-C226-B5E2-A0F9-A16DFF608669}"/>
              </a:ext>
            </a:extLst>
          </p:cNvPr>
          <p:cNvSpPr txBox="1"/>
          <p:nvPr/>
        </p:nvSpPr>
        <p:spPr bwMode="gray">
          <a:xfrm rot="16200000">
            <a:off x="4303016" y="5148232"/>
            <a:ext cx="1152560" cy="21518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oehringer Forward Text"/>
                <a:ea typeface="+mn-ea"/>
                <a:cs typeface="+mn-cs"/>
              </a:rPr>
              <a:t>Normalized  </a:t>
            </a:r>
            <a:r>
              <a:rPr kumimoji="0" lang="en-US" sz="1100" b="1" i="0" u="none" strike="noStrike" kern="1200" cap="none" spc="0" normalizeH="0" baseline="0" noProof="0" err="1">
                <a:ln>
                  <a:noFill/>
                </a:ln>
                <a:solidFill>
                  <a:prstClr val="black"/>
                </a:solidFill>
                <a:effectLst/>
                <a:uLnTx/>
                <a:uFillTx/>
                <a:latin typeface="Boehringer Forward Text"/>
                <a:ea typeface="+mn-ea"/>
                <a:cs typeface="+mn-cs"/>
              </a:rPr>
              <a:t>IFN</a:t>
            </a:r>
            <a:r>
              <a:rPr kumimoji="0" lang="en-US" sz="1100" b="1" i="0" u="none" strike="noStrike" kern="1200" cap="none" spc="0" normalizeH="0" baseline="0" noProof="0" err="1">
                <a:ln>
                  <a:noFill/>
                </a:ln>
                <a:solidFill>
                  <a:prstClr val="black"/>
                </a:solidFill>
                <a:effectLst/>
                <a:uLnTx/>
                <a:uFillTx/>
                <a:latin typeface="Symbol" panose="05050102010706020507" pitchFamily="18" charset="2"/>
                <a:ea typeface="+mn-ea"/>
                <a:cs typeface="+mn-cs"/>
              </a:rPr>
              <a:t>g</a:t>
            </a:r>
            <a:endParaRPr kumimoji="0" lang="en-US" sz="1100" b="1" i="0" u="none" strike="noStrike" kern="1200" cap="none" spc="0" normalizeH="0" baseline="0" noProof="0">
              <a:ln>
                <a:noFill/>
              </a:ln>
              <a:solidFill>
                <a:prstClr val="black"/>
              </a:solidFill>
              <a:effectLst/>
              <a:uLnTx/>
              <a:uFillTx/>
              <a:latin typeface="Symbol" panose="05050102010706020507" pitchFamily="18" charset="2"/>
              <a:ea typeface="+mn-ea"/>
              <a:cs typeface="+mn-cs"/>
            </a:endParaRPr>
          </a:p>
        </p:txBody>
      </p:sp>
      <p:sp>
        <p:nvSpPr>
          <p:cNvPr id="44" name="TextBox 43">
            <a:extLst>
              <a:ext uri="{FF2B5EF4-FFF2-40B4-BE49-F238E27FC236}">
                <a16:creationId xmlns:a16="http://schemas.microsoft.com/office/drawing/2014/main" id="{C1935E2C-8EBB-7647-0CD4-34567BD276F8}"/>
              </a:ext>
            </a:extLst>
          </p:cNvPr>
          <p:cNvSpPr txBox="1"/>
          <p:nvPr/>
        </p:nvSpPr>
        <p:spPr bwMode="gray">
          <a:xfrm>
            <a:off x="6155224" y="6221805"/>
            <a:ext cx="359073" cy="176074"/>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oehringer Forward Text"/>
                <a:ea typeface="+mn-ea"/>
                <a:cs typeface="+mn-cs"/>
              </a:rPr>
              <a:t> Molar</a:t>
            </a:r>
            <a:endParaRPr kumimoji="0" lang="en-US" sz="900" b="1" i="0" u="none" strike="noStrike" kern="1200" cap="none" spc="0" normalizeH="0" baseline="0" noProof="0">
              <a:ln>
                <a:noFill/>
              </a:ln>
              <a:solidFill>
                <a:prstClr val="black"/>
              </a:solidFill>
              <a:effectLst/>
              <a:uLnTx/>
              <a:uFillTx/>
              <a:latin typeface="Symbol" panose="05050102010706020507" pitchFamily="18" charset="2"/>
              <a:ea typeface="+mn-ea"/>
              <a:cs typeface="+mn-cs"/>
            </a:endParaRPr>
          </a:p>
        </p:txBody>
      </p:sp>
      <p:sp>
        <p:nvSpPr>
          <p:cNvPr id="45" name="Rectangle 44">
            <a:extLst>
              <a:ext uri="{FF2B5EF4-FFF2-40B4-BE49-F238E27FC236}">
                <a16:creationId xmlns:a16="http://schemas.microsoft.com/office/drawing/2014/main" id="{03BA12C1-FF5F-E3CD-6992-EC13436DCD63}"/>
              </a:ext>
            </a:extLst>
          </p:cNvPr>
          <p:cNvSpPr/>
          <p:nvPr/>
        </p:nvSpPr>
        <p:spPr bwMode="gray">
          <a:xfrm>
            <a:off x="7258575" y="4612631"/>
            <a:ext cx="145176" cy="612254"/>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46" name="Group 45">
            <a:extLst>
              <a:ext uri="{FF2B5EF4-FFF2-40B4-BE49-F238E27FC236}">
                <a16:creationId xmlns:a16="http://schemas.microsoft.com/office/drawing/2014/main" id="{2C138601-026A-2313-FE75-C342414F1B17}"/>
              </a:ext>
            </a:extLst>
          </p:cNvPr>
          <p:cNvGrpSpPr/>
          <p:nvPr/>
        </p:nvGrpSpPr>
        <p:grpSpPr>
          <a:xfrm>
            <a:off x="6772069" y="4755169"/>
            <a:ext cx="924361" cy="477462"/>
            <a:chOff x="3371346" y="2642864"/>
            <a:chExt cx="924361" cy="477462"/>
          </a:xfrm>
        </p:grpSpPr>
        <p:sp>
          <p:nvSpPr>
            <p:cNvPr id="47" name="Isosceles Triangle 46">
              <a:extLst>
                <a:ext uri="{FF2B5EF4-FFF2-40B4-BE49-F238E27FC236}">
                  <a16:creationId xmlns:a16="http://schemas.microsoft.com/office/drawing/2014/main" id="{82E3563B-9143-1660-72CE-1845426D0D0A}"/>
                </a:ext>
              </a:extLst>
            </p:cNvPr>
            <p:cNvSpPr/>
            <p:nvPr/>
          </p:nvSpPr>
          <p:spPr bwMode="gray">
            <a:xfrm>
              <a:off x="3371346" y="2816623"/>
              <a:ext cx="45719" cy="97721"/>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8" name="Isosceles Triangle 47">
              <a:extLst>
                <a:ext uri="{FF2B5EF4-FFF2-40B4-BE49-F238E27FC236}">
                  <a16:creationId xmlns:a16="http://schemas.microsoft.com/office/drawing/2014/main" id="{EE550AA6-A274-4F6E-D5E3-0A69ADE49C6C}"/>
                </a:ext>
              </a:extLst>
            </p:cNvPr>
            <p:cNvSpPr/>
            <p:nvPr/>
          </p:nvSpPr>
          <p:spPr bwMode="gray">
            <a:xfrm rot="10800000">
              <a:off x="3372156" y="2969023"/>
              <a:ext cx="45719" cy="97721"/>
            </a:xfrm>
            <a:prstGeom prst="triangle">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9" name="Oval 48">
              <a:extLst>
                <a:ext uri="{FF2B5EF4-FFF2-40B4-BE49-F238E27FC236}">
                  <a16:creationId xmlns:a16="http://schemas.microsoft.com/office/drawing/2014/main" id="{60342E34-7A7A-6E05-707A-76B1EF260DC1}"/>
                </a:ext>
              </a:extLst>
            </p:cNvPr>
            <p:cNvSpPr/>
            <p:nvPr/>
          </p:nvSpPr>
          <p:spPr bwMode="gray">
            <a:xfrm>
              <a:off x="3371346" y="2708973"/>
              <a:ext cx="52199" cy="45719"/>
            </a:xfrm>
            <a:prstGeom prst="ellipse">
              <a:avLst/>
            </a:prstGeom>
            <a:solidFill>
              <a:schemeClr val="accent5">
                <a:lumMod val="75000"/>
              </a:schemeClr>
            </a:solidFill>
            <a:ln w="63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0" name="TextBox 49">
              <a:extLst>
                <a:ext uri="{FF2B5EF4-FFF2-40B4-BE49-F238E27FC236}">
                  <a16:creationId xmlns:a16="http://schemas.microsoft.com/office/drawing/2014/main" id="{DE9E3249-32EF-4972-3B47-1B1DDABAD35D}"/>
                </a:ext>
              </a:extLst>
            </p:cNvPr>
            <p:cNvSpPr txBox="1"/>
            <p:nvPr/>
          </p:nvSpPr>
          <p:spPr bwMode="gray">
            <a:xfrm>
              <a:off x="3460542" y="2787734"/>
              <a:ext cx="551433" cy="176074"/>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oehringer Forward Text"/>
                  <a:ea typeface="+mn-ea"/>
                  <a:cs typeface="+mn-cs"/>
                </a:rPr>
                <a:t>Pos. </a:t>
              </a:r>
              <a:r>
                <a:rPr kumimoji="0" lang="en-US" sz="900" b="1" i="0" u="none" strike="noStrike" kern="1200" cap="none" spc="0" normalizeH="0" baseline="0" noProof="0" err="1">
                  <a:ln>
                    <a:noFill/>
                  </a:ln>
                  <a:solidFill>
                    <a:prstClr val="black"/>
                  </a:solidFill>
                  <a:effectLst/>
                  <a:uLnTx/>
                  <a:uFillTx/>
                  <a:latin typeface="Boehringer Forward Text"/>
                  <a:ea typeface="+mn-ea"/>
                  <a:cs typeface="+mn-cs"/>
                </a:rPr>
                <a:t>cntrl</a:t>
              </a:r>
              <a:r>
                <a:rPr kumimoji="0" lang="en-US" sz="900" b="1" i="0" u="none" strike="noStrike" kern="1200" cap="none" spc="0" normalizeH="0" baseline="0" noProof="0">
                  <a:ln>
                    <a:noFill/>
                  </a:ln>
                  <a:solidFill>
                    <a:prstClr val="black"/>
                  </a:solidFill>
                  <a:effectLst/>
                  <a:uLnTx/>
                  <a:uFillTx/>
                  <a:latin typeface="Boehringer Forward Text"/>
                  <a:ea typeface="+mn-ea"/>
                  <a:cs typeface="+mn-cs"/>
                </a:rPr>
                <a:t> </a:t>
              </a:r>
              <a:endParaRPr kumimoji="0" lang="en-US" sz="900" b="1" i="0" u="none" strike="noStrike" kern="1200" cap="none" spc="0" normalizeH="0" baseline="0" noProof="0">
                <a:ln>
                  <a:noFill/>
                </a:ln>
                <a:solidFill>
                  <a:prstClr val="black"/>
                </a:solidFill>
                <a:effectLst/>
                <a:uLnTx/>
                <a:uFillTx/>
                <a:latin typeface="Symbol" panose="05050102010706020507" pitchFamily="18" charset="2"/>
                <a:ea typeface="+mn-ea"/>
                <a:cs typeface="+mn-cs"/>
              </a:endParaRPr>
            </a:p>
          </p:txBody>
        </p:sp>
        <p:sp>
          <p:nvSpPr>
            <p:cNvPr id="51" name="TextBox 50">
              <a:extLst>
                <a:ext uri="{FF2B5EF4-FFF2-40B4-BE49-F238E27FC236}">
                  <a16:creationId xmlns:a16="http://schemas.microsoft.com/office/drawing/2014/main" id="{3893C384-B2CB-369C-7720-4F06C15F6D73}"/>
                </a:ext>
              </a:extLst>
            </p:cNvPr>
            <p:cNvSpPr txBox="1"/>
            <p:nvPr/>
          </p:nvSpPr>
          <p:spPr bwMode="gray">
            <a:xfrm>
              <a:off x="3460542" y="2944252"/>
              <a:ext cx="583493" cy="176074"/>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oehringer Forward Text"/>
                  <a:ea typeface="+mn-ea"/>
                  <a:cs typeface="+mn-cs"/>
                </a:rPr>
                <a:t>Neg. </a:t>
              </a:r>
              <a:r>
                <a:rPr kumimoji="0" lang="en-US" sz="900" b="1" i="0" u="none" strike="noStrike" kern="1200" cap="none" spc="0" normalizeH="0" baseline="0" noProof="0" err="1">
                  <a:ln>
                    <a:noFill/>
                  </a:ln>
                  <a:solidFill>
                    <a:prstClr val="black"/>
                  </a:solidFill>
                  <a:effectLst/>
                  <a:uLnTx/>
                  <a:uFillTx/>
                  <a:latin typeface="Boehringer Forward Text"/>
                  <a:ea typeface="+mn-ea"/>
                  <a:cs typeface="+mn-cs"/>
                </a:rPr>
                <a:t>cntrl</a:t>
              </a:r>
              <a:r>
                <a:rPr kumimoji="0" lang="en-US" sz="900" b="1" i="0" u="none" strike="noStrike" kern="1200" cap="none" spc="0" normalizeH="0" baseline="0" noProof="0">
                  <a:ln>
                    <a:noFill/>
                  </a:ln>
                  <a:solidFill>
                    <a:prstClr val="black"/>
                  </a:solidFill>
                  <a:effectLst/>
                  <a:uLnTx/>
                  <a:uFillTx/>
                  <a:latin typeface="Boehringer Forward Text"/>
                  <a:ea typeface="+mn-ea"/>
                  <a:cs typeface="+mn-cs"/>
                </a:rPr>
                <a:t> </a:t>
              </a:r>
              <a:endParaRPr kumimoji="0" lang="en-US" sz="900" b="1" i="0" u="none" strike="noStrike" kern="1200" cap="none" spc="0" normalizeH="0" baseline="0" noProof="0">
                <a:ln>
                  <a:noFill/>
                </a:ln>
                <a:solidFill>
                  <a:prstClr val="black"/>
                </a:solidFill>
                <a:effectLst/>
                <a:uLnTx/>
                <a:uFillTx/>
                <a:latin typeface="Symbol" panose="05050102010706020507" pitchFamily="18" charset="2"/>
                <a:ea typeface="+mn-ea"/>
                <a:cs typeface="+mn-cs"/>
              </a:endParaRPr>
            </a:p>
          </p:txBody>
        </p:sp>
        <p:sp>
          <p:nvSpPr>
            <p:cNvPr id="52" name="TextBox 51">
              <a:extLst>
                <a:ext uri="{FF2B5EF4-FFF2-40B4-BE49-F238E27FC236}">
                  <a16:creationId xmlns:a16="http://schemas.microsoft.com/office/drawing/2014/main" id="{E111BD39-443E-D6E7-6B6C-93999AD35033}"/>
                </a:ext>
              </a:extLst>
            </p:cNvPr>
            <p:cNvSpPr txBox="1"/>
            <p:nvPr/>
          </p:nvSpPr>
          <p:spPr bwMode="gray">
            <a:xfrm>
              <a:off x="3460542" y="2642864"/>
              <a:ext cx="835165" cy="176074"/>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oehringer Forward Text"/>
                  <a:ea typeface="+mn-ea"/>
                  <a:cs typeface="+mn-cs"/>
                </a:rPr>
                <a:t>Nerandomilast</a:t>
              </a:r>
              <a:endParaRPr kumimoji="0" lang="en-US" sz="900" b="1" i="0" u="none" strike="noStrike" kern="1200" cap="none" spc="0" normalizeH="0" baseline="0" noProof="0">
                <a:ln>
                  <a:noFill/>
                </a:ln>
                <a:solidFill>
                  <a:prstClr val="black"/>
                </a:solidFill>
                <a:effectLst/>
                <a:uLnTx/>
                <a:uFillTx/>
                <a:latin typeface="Symbol" panose="05050102010706020507" pitchFamily="18" charset="2"/>
                <a:ea typeface="+mn-ea"/>
                <a:cs typeface="+mn-cs"/>
              </a:endParaRPr>
            </a:p>
          </p:txBody>
        </p:sp>
      </p:grpSp>
      <p:sp>
        <p:nvSpPr>
          <p:cNvPr id="53" name="TextBox 52">
            <a:extLst>
              <a:ext uri="{FF2B5EF4-FFF2-40B4-BE49-F238E27FC236}">
                <a16:creationId xmlns:a16="http://schemas.microsoft.com/office/drawing/2014/main" id="{6AD3692E-A365-664F-AB59-844CAA23E9FE}"/>
              </a:ext>
            </a:extLst>
          </p:cNvPr>
          <p:cNvSpPr txBox="1"/>
          <p:nvPr/>
        </p:nvSpPr>
        <p:spPr bwMode="gray">
          <a:xfrm>
            <a:off x="5478475" y="4366138"/>
            <a:ext cx="2217956"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err="1">
                <a:ln>
                  <a:noFill/>
                </a:ln>
                <a:solidFill>
                  <a:prstClr val="black"/>
                </a:solidFill>
                <a:effectLst/>
                <a:uLnTx/>
                <a:uFillTx/>
                <a:latin typeface="Boehringer Forward Text"/>
                <a:ea typeface="+mn-ea"/>
                <a:cs typeface="+mn-cs"/>
              </a:rPr>
              <a:t>IFN</a:t>
            </a:r>
            <a:r>
              <a:rPr kumimoji="0" lang="en-US" sz="900" b="1" i="0" u="none" strike="noStrike" kern="1200" cap="none" spc="0" normalizeH="0" baseline="0" noProof="0" err="1">
                <a:ln>
                  <a:noFill/>
                </a:ln>
                <a:solidFill>
                  <a:prstClr val="black"/>
                </a:solidFill>
                <a:effectLst/>
                <a:uLnTx/>
                <a:uFillTx/>
                <a:latin typeface="Symbol" panose="05050102010706020507" pitchFamily="18" charset="2"/>
                <a:ea typeface="+mn-ea"/>
                <a:cs typeface="+mn-cs"/>
              </a:rPr>
              <a:t>g</a:t>
            </a:r>
            <a:r>
              <a:rPr kumimoji="0" lang="en-US" sz="900" b="1" i="0" u="none" strike="noStrike" kern="1200" cap="none" spc="0" normalizeH="0" baseline="0" noProof="0">
                <a:ln>
                  <a:noFill/>
                </a:ln>
                <a:solidFill>
                  <a:prstClr val="black"/>
                </a:solidFill>
                <a:effectLst/>
                <a:uLnTx/>
                <a:uFillTx/>
                <a:latin typeface="Boehringer Forward Text"/>
                <a:ea typeface="+mn-ea"/>
                <a:cs typeface="+mn-cs"/>
              </a:rPr>
              <a:t> production of anti-CD3/anti-CD28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oehringer Forward Text"/>
                <a:ea typeface="+mn-ea"/>
                <a:cs typeface="+mn-cs"/>
              </a:rPr>
              <a:t> stimulated human CD4+ T cells </a:t>
            </a:r>
          </a:p>
        </p:txBody>
      </p:sp>
      <p:sp>
        <p:nvSpPr>
          <p:cNvPr id="55" name="TextBox 54">
            <a:extLst>
              <a:ext uri="{FF2B5EF4-FFF2-40B4-BE49-F238E27FC236}">
                <a16:creationId xmlns:a16="http://schemas.microsoft.com/office/drawing/2014/main" id="{79627BE2-DE56-5263-CC6F-B0F2B1FEF4B2}"/>
              </a:ext>
            </a:extLst>
          </p:cNvPr>
          <p:cNvSpPr txBox="1"/>
          <p:nvPr/>
        </p:nvSpPr>
        <p:spPr bwMode="gray">
          <a:xfrm>
            <a:off x="5393136" y="5401307"/>
            <a:ext cx="110679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oehringer Forward Text"/>
                <a:ea typeface="+mn-ea"/>
                <a:cs typeface="+mn-cs"/>
              </a:rPr>
              <a:t>(6 donors,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oehringer Forward Text"/>
                <a:ea typeface="+mn-ea"/>
                <a:cs typeface="+mn-cs"/>
              </a:rPr>
              <a:t>+/-SEM)</a:t>
            </a:r>
          </a:p>
        </p:txBody>
      </p:sp>
      <p:sp>
        <p:nvSpPr>
          <p:cNvPr id="16" name="Arrow: Down 15">
            <a:extLst>
              <a:ext uri="{FF2B5EF4-FFF2-40B4-BE49-F238E27FC236}">
                <a16:creationId xmlns:a16="http://schemas.microsoft.com/office/drawing/2014/main" id="{486D5E7C-DE8E-D510-DE13-56C45E344961}"/>
              </a:ext>
            </a:extLst>
          </p:cNvPr>
          <p:cNvSpPr/>
          <p:nvPr/>
        </p:nvSpPr>
        <p:spPr bwMode="gray">
          <a:xfrm>
            <a:off x="6228814" y="2641476"/>
            <a:ext cx="120201" cy="293940"/>
          </a:xfrm>
          <a:prstGeom prst="downArrow">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Arrow: Down 16">
            <a:extLst>
              <a:ext uri="{FF2B5EF4-FFF2-40B4-BE49-F238E27FC236}">
                <a16:creationId xmlns:a16="http://schemas.microsoft.com/office/drawing/2014/main" id="{7A95EF00-0D51-9A57-94DA-B551C74D4303}"/>
              </a:ext>
            </a:extLst>
          </p:cNvPr>
          <p:cNvSpPr/>
          <p:nvPr/>
        </p:nvSpPr>
        <p:spPr bwMode="gray">
          <a:xfrm>
            <a:off x="6946304" y="2531255"/>
            <a:ext cx="120201" cy="293940"/>
          </a:xfrm>
          <a:prstGeom prst="downArrow">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 name="Arrow: Down 17">
            <a:extLst>
              <a:ext uri="{FF2B5EF4-FFF2-40B4-BE49-F238E27FC236}">
                <a16:creationId xmlns:a16="http://schemas.microsoft.com/office/drawing/2014/main" id="{C4FCDA44-3B45-CB4F-1409-57104BB495B6}"/>
              </a:ext>
            </a:extLst>
          </p:cNvPr>
          <p:cNvSpPr/>
          <p:nvPr/>
        </p:nvSpPr>
        <p:spPr bwMode="gray">
          <a:xfrm>
            <a:off x="9011579" y="1561714"/>
            <a:ext cx="120201" cy="293940"/>
          </a:xfrm>
          <a:prstGeom prst="downArrow">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 name="Arrow: Down 27">
            <a:extLst>
              <a:ext uri="{FF2B5EF4-FFF2-40B4-BE49-F238E27FC236}">
                <a16:creationId xmlns:a16="http://schemas.microsoft.com/office/drawing/2014/main" id="{3070B409-434B-7FC3-D9BB-84CA94A53C21}"/>
              </a:ext>
            </a:extLst>
          </p:cNvPr>
          <p:cNvSpPr/>
          <p:nvPr/>
        </p:nvSpPr>
        <p:spPr bwMode="gray">
          <a:xfrm>
            <a:off x="9943596" y="1258467"/>
            <a:ext cx="120201" cy="293940"/>
          </a:xfrm>
          <a:prstGeom prst="downArrow">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4" name="Arrow: Down 53">
            <a:extLst>
              <a:ext uri="{FF2B5EF4-FFF2-40B4-BE49-F238E27FC236}">
                <a16:creationId xmlns:a16="http://schemas.microsoft.com/office/drawing/2014/main" id="{B696AD0E-D4E2-83A4-811C-F9892956C49B}"/>
              </a:ext>
            </a:extLst>
          </p:cNvPr>
          <p:cNvSpPr/>
          <p:nvPr/>
        </p:nvSpPr>
        <p:spPr bwMode="gray">
          <a:xfrm>
            <a:off x="10948840" y="1387149"/>
            <a:ext cx="120201" cy="293940"/>
          </a:xfrm>
          <a:prstGeom prst="downArrow">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466776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4">
            <a:extLst>
              <a:ext uri="{FF2B5EF4-FFF2-40B4-BE49-F238E27FC236}">
                <a16:creationId xmlns:a16="http://schemas.microsoft.com/office/drawing/2014/main" id="{C27A5350-FDCC-FB3F-84F7-21351F52C311}"/>
              </a:ext>
            </a:extLst>
          </p:cNvPr>
          <p:cNvSpPr txBox="1">
            <a:spLocks/>
          </p:cNvSpPr>
          <p:nvPr/>
        </p:nvSpPr>
        <p:spPr bwMode="gray">
          <a:xfrm>
            <a:off x="181197" y="125982"/>
            <a:ext cx="11757957" cy="684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NZ" sz="2400" b="1" i="0" u="none" strike="noStrike" kern="1200" cap="none" spc="0" normalizeH="0" baseline="0" noProof="0">
                <a:ln>
                  <a:noFill/>
                </a:ln>
                <a:solidFill>
                  <a:srgbClr val="08312A"/>
                </a:solidFill>
                <a:effectLst/>
                <a:uLnTx/>
                <a:uFillTx/>
                <a:latin typeface="Boehringer Forward Head"/>
                <a:ea typeface="+mj-ea"/>
                <a:cs typeface="+mj-cs"/>
              </a:rPr>
              <a:t>Nerandomilast suppresses dermal fibroblast activation suggesting direct anti-fibrotic effects in </a:t>
            </a:r>
            <a:r>
              <a:rPr kumimoji="0" lang="en-NZ" sz="2400" b="1" i="0" u="none" strike="noStrike" kern="1200" cap="none" spc="0" normalizeH="0" baseline="0" noProof="0" err="1">
                <a:ln>
                  <a:noFill/>
                </a:ln>
                <a:solidFill>
                  <a:srgbClr val="08312A"/>
                </a:solidFill>
                <a:effectLst/>
                <a:uLnTx/>
                <a:uFillTx/>
                <a:latin typeface="Boehringer Forward Head"/>
                <a:ea typeface="+mj-ea"/>
                <a:cs typeface="+mj-cs"/>
              </a:rPr>
              <a:t>SSc</a:t>
            </a:r>
            <a:endParaRPr kumimoji="0" lang="en-NZ" sz="24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30" name="TextBox 29">
            <a:extLst>
              <a:ext uri="{FF2B5EF4-FFF2-40B4-BE49-F238E27FC236}">
                <a16:creationId xmlns:a16="http://schemas.microsoft.com/office/drawing/2014/main" id="{9CDC79DF-31A6-DADB-121A-647588AF89EC}"/>
              </a:ext>
            </a:extLst>
          </p:cNvPr>
          <p:cNvSpPr txBox="1"/>
          <p:nvPr/>
        </p:nvSpPr>
        <p:spPr>
          <a:xfrm>
            <a:off x="3063710" y="4995493"/>
            <a:ext cx="680009" cy="161583"/>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n=4 donors</a:t>
            </a:r>
          </a:p>
        </p:txBody>
      </p:sp>
      <p:pic>
        <p:nvPicPr>
          <p:cNvPr id="31" name="Picture 30">
            <a:extLst>
              <a:ext uri="{FF2B5EF4-FFF2-40B4-BE49-F238E27FC236}">
                <a16:creationId xmlns:a16="http://schemas.microsoft.com/office/drawing/2014/main" id="{0F2EECAC-72D0-3A62-1B13-EC90057D52E1}"/>
              </a:ext>
            </a:extLst>
          </p:cNvPr>
          <p:cNvPicPr>
            <a:picLocks noChangeAspect="1"/>
          </p:cNvPicPr>
          <p:nvPr/>
        </p:nvPicPr>
        <p:blipFill rotWithShape="1">
          <a:blip r:embed="rId3"/>
          <a:srcRect l="9881" t="6615" r="38359" b="39935"/>
          <a:stretch/>
        </p:blipFill>
        <p:spPr>
          <a:xfrm>
            <a:off x="1267320" y="2491836"/>
            <a:ext cx="2089366" cy="2081839"/>
          </a:xfrm>
          <a:prstGeom prst="rect">
            <a:avLst/>
          </a:prstGeom>
        </p:spPr>
      </p:pic>
      <p:sp>
        <p:nvSpPr>
          <p:cNvPr id="32" name="TextBox 31">
            <a:extLst>
              <a:ext uri="{FF2B5EF4-FFF2-40B4-BE49-F238E27FC236}">
                <a16:creationId xmlns:a16="http://schemas.microsoft.com/office/drawing/2014/main" id="{A81E4476-A9D7-B59D-D74C-CF25FA5F9417}"/>
              </a:ext>
            </a:extLst>
          </p:cNvPr>
          <p:cNvSpPr txBox="1"/>
          <p:nvPr/>
        </p:nvSpPr>
        <p:spPr>
          <a:xfrm>
            <a:off x="1763120" y="4580113"/>
            <a:ext cx="177876"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VC</a:t>
            </a:r>
          </a:p>
        </p:txBody>
      </p:sp>
      <p:sp>
        <p:nvSpPr>
          <p:cNvPr id="33" name="TextBox 32">
            <a:extLst>
              <a:ext uri="{FF2B5EF4-FFF2-40B4-BE49-F238E27FC236}">
                <a16:creationId xmlns:a16="http://schemas.microsoft.com/office/drawing/2014/main" id="{450E666A-97A3-B066-50DC-D5D06648F6B6}"/>
              </a:ext>
            </a:extLst>
          </p:cNvPr>
          <p:cNvSpPr txBox="1"/>
          <p:nvPr/>
        </p:nvSpPr>
        <p:spPr>
          <a:xfrm>
            <a:off x="1995689" y="4580113"/>
            <a:ext cx="483864"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PDE4Bi</a:t>
            </a:r>
          </a:p>
        </p:txBody>
      </p:sp>
      <p:sp>
        <p:nvSpPr>
          <p:cNvPr id="34" name="TextBox 33">
            <a:extLst>
              <a:ext uri="{FF2B5EF4-FFF2-40B4-BE49-F238E27FC236}">
                <a16:creationId xmlns:a16="http://schemas.microsoft.com/office/drawing/2014/main" id="{595E0D6A-A75D-D75F-79F2-614B8BED7E7F}"/>
              </a:ext>
            </a:extLst>
          </p:cNvPr>
          <p:cNvSpPr txBox="1"/>
          <p:nvPr/>
        </p:nvSpPr>
        <p:spPr>
          <a:xfrm>
            <a:off x="2533570" y="4573676"/>
            <a:ext cx="333592"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MMF</a:t>
            </a:r>
          </a:p>
        </p:txBody>
      </p:sp>
      <p:sp>
        <p:nvSpPr>
          <p:cNvPr id="35" name="TextBox 34">
            <a:extLst>
              <a:ext uri="{FF2B5EF4-FFF2-40B4-BE49-F238E27FC236}">
                <a16:creationId xmlns:a16="http://schemas.microsoft.com/office/drawing/2014/main" id="{D6A104A4-24D0-7A4C-DB9A-3AA532EBEC81}"/>
              </a:ext>
            </a:extLst>
          </p:cNvPr>
          <p:cNvSpPr txBox="1"/>
          <p:nvPr/>
        </p:nvSpPr>
        <p:spPr>
          <a:xfrm>
            <a:off x="2883672" y="4578098"/>
            <a:ext cx="569912"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PDE4Bi</a:t>
            </a:r>
          </a:p>
        </p:txBody>
      </p:sp>
      <p:sp>
        <p:nvSpPr>
          <p:cNvPr id="36" name="TextBox 35">
            <a:extLst>
              <a:ext uri="{FF2B5EF4-FFF2-40B4-BE49-F238E27FC236}">
                <a16:creationId xmlns:a16="http://schemas.microsoft.com/office/drawing/2014/main" id="{A19AADC5-5AB8-9137-DFBA-C6CA3FC015EA}"/>
              </a:ext>
            </a:extLst>
          </p:cNvPr>
          <p:cNvSpPr txBox="1"/>
          <p:nvPr/>
        </p:nvSpPr>
        <p:spPr>
          <a:xfrm>
            <a:off x="2968550" y="4715993"/>
            <a:ext cx="333592"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MMF</a:t>
            </a:r>
          </a:p>
        </p:txBody>
      </p:sp>
      <p:cxnSp>
        <p:nvCxnSpPr>
          <p:cNvPr id="37" name="Straight Connector 36">
            <a:extLst>
              <a:ext uri="{FF2B5EF4-FFF2-40B4-BE49-F238E27FC236}">
                <a16:creationId xmlns:a16="http://schemas.microsoft.com/office/drawing/2014/main" id="{8E4D07AE-7BB9-BDF8-22FF-72A314FCAA7B}"/>
              </a:ext>
            </a:extLst>
          </p:cNvPr>
          <p:cNvCxnSpPr>
            <a:cxnSpLocks/>
          </p:cNvCxnSpPr>
          <p:nvPr/>
        </p:nvCxnSpPr>
        <p:spPr>
          <a:xfrm>
            <a:off x="1997291" y="4885271"/>
            <a:ext cx="1359395" cy="0"/>
          </a:xfrm>
          <a:prstGeom prst="line">
            <a:avLst/>
          </a:prstGeom>
          <a:ln w="6350">
            <a:solidFill>
              <a:srgbClr val="003366"/>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29C9269-3D5D-0236-E462-540B14C4FED8}"/>
              </a:ext>
            </a:extLst>
          </p:cNvPr>
          <p:cNvSpPr txBox="1"/>
          <p:nvPr/>
        </p:nvSpPr>
        <p:spPr>
          <a:xfrm rot="16200000">
            <a:off x="-55043" y="3357516"/>
            <a:ext cx="2311353" cy="307777"/>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BISansOpti"/>
                <a:ea typeface="+mn-ea"/>
                <a:cs typeface="+mn-cs"/>
              </a:rPr>
              <a:t>% IL-1</a:t>
            </a:r>
            <a:r>
              <a:rPr kumimoji="0" lang="en-US" sz="2000" b="1" i="0" u="none" strike="noStrike" kern="1200" cap="none" spc="0" normalizeH="0" baseline="0" noProof="0">
                <a:ln>
                  <a:noFill/>
                </a:ln>
                <a:solidFill>
                  <a:prstClr val="black"/>
                </a:solidFill>
                <a:effectLst/>
                <a:uLnTx/>
                <a:uFillTx/>
                <a:latin typeface="Symbol" panose="05050102010706020507" pitchFamily="18" charset="2"/>
                <a:ea typeface="+mn-ea"/>
                <a:cs typeface="+mn-cs"/>
              </a:rPr>
              <a:t>b</a:t>
            </a:r>
            <a:r>
              <a:rPr kumimoji="0" lang="en-US" sz="2000" b="1" i="0" u="none" strike="noStrike" kern="1200" cap="none" spc="0" normalizeH="0" baseline="0" noProof="0">
                <a:ln>
                  <a:noFill/>
                </a:ln>
                <a:solidFill>
                  <a:prstClr val="black"/>
                </a:solidFill>
                <a:effectLst/>
                <a:uLnTx/>
                <a:uFillTx/>
                <a:latin typeface="BISansOpti"/>
                <a:ea typeface="+mn-ea"/>
                <a:cs typeface="+mn-cs"/>
              </a:rPr>
              <a:t> + </a:t>
            </a:r>
            <a:r>
              <a:rPr kumimoji="0" lang="en-US" sz="2000" b="1" i="0" u="none" strike="noStrike" kern="1200" cap="none" spc="0" normalizeH="0" baseline="0" noProof="0" err="1">
                <a:ln>
                  <a:noFill/>
                </a:ln>
                <a:solidFill>
                  <a:prstClr val="black"/>
                </a:solidFill>
                <a:effectLst/>
                <a:uLnTx/>
                <a:uFillTx/>
                <a:latin typeface="BISansOpti"/>
                <a:ea typeface="+mn-ea"/>
                <a:cs typeface="+mn-cs"/>
              </a:rPr>
              <a:t>bFGF</a:t>
            </a:r>
            <a:r>
              <a:rPr kumimoji="0" lang="en-US" sz="2000" b="1" i="0" u="none" strike="noStrike" kern="1200" cap="none" spc="0" normalizeH="0" baseline="0" noProof="0">
                <a:ln>
                  <a:noFill/>
                </a:ln>
                <a:solidFill>
                  <a:prstClr val="black"/>
                </a:solidFill>
                <a:effectLst/>
                <a:uLnTx/>
                <a:uFillTx/>
                <a:latin typeface="BISansOpti"/>
                <a:ea typeface="+mn-ea"/>
                <a:cs typeface="+mn-cs"/>
              </a:rPr>
              <a:t> </a:t>
            </a:r>
          </a:p>
        </p:txBody>
      </p:sp>
      <p:sp>
        <p:nvSpPr>
          <p:cNvPr id="39" name="TextBox 38">
            <a:extLst>
              <a:ext uri="{FF2B5EF4-FFF2-40B4-BE49-F238E27FC236}">
                <a16:creationId xmlns:a16="http://schemas.microsoft.com/office/drawing/2014/main" id="{0C077566-1055-A878-320F-9FCC82C881D7}"/>
              </a:ext>
            </a:extLst>
          </p:cNvPr>
          <p:cNvSpPr txBox="1"/>
          <p:nvPr/>
        </p:nvSpPr>
        <p:spPr>
          <a:xfrm>
            <a:off x="2173123" y="4922602"/>
            <a:ext cx="849962" cy="169278"/>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IL-1</a:t>
            </a:r>
            <a:r>
              <a:rPr kumimoji="0" lang="en-US" sz="1100" b="1" i="0" u="none" strike="noStrike" kern="1200" cap="none" spc="0" normalizeH="0" baseline="0" noProof="0">
                <a:ln>
                  <a:noFill/>
                </a:ln>
                <a:solidFill>
                  <a:prstClr val="black"/>
                </a:solidFill>
                <a:effectLst/>
                <a:uLnTx/>
                <a:uFillTx/>
                <a:latin typeface="Symbol" panose="05050102010706020507" pitchFamily="18" charset="2"/>
                <a:ea typeface="+mn-ea"/>
                <a:cs typeface="+mn-cs"/>
              </a:rPr>
              <a:t>b</a:t>
            </a:r>
            <a:r>
              <a:rPr kumimoji="0" lang="en-US" sz="1100" b="1" i="0" u="none" strike="noStrike" kern="1200" cap="none" spc="0" normalizeH="0" baseline="0" noProof="0">
                <a:ln>
                  <a:noFill/>
                </a:ln>
                <a:solidFill>
                  <a:prstClr val="black"/>
                </a:solidFill>
                <a:effectLst/>
                <a:uLnTx/>
                <a:uFillTx/>
                <a:latin typeface="BISansOpti"/>
                <a:ea typeface="+mn-ea"/>
                <a:cs typeface="+mn-cs"/>
              </a:rPr>
              <a:t> + </a:t>
            </a:r>
            <a:r>
              <a:rPr kumimoji="0" lang="en-US" sz="1100" b="1" i="0" u="none" strike="noStrike" kern="1200" cap="none" spc="0" normalizeH="0" baseline="0" noProof="0" err="1">
                <a:ln>
                  <a:noFill/>
                </a:ln>
                <a:solidFill>
                  <a:prstClr val="black"/>
                </a:solidFill>
                <a:effectLst/>
                <a:uLnTx/>
                <a:uFillTx/>
                <a:latin typeface="BISansOpti"/>
                <a:ea typeface="+mn-ea"/>
                <a:cs typeface="+mn-cs"/>
              </a:rPr>
              <a:t>bFGF</a:t>
            </a:r>
            <a:r>
              <a:rPr kumimoji="0" lang="en-US" sz="1100" b="1" i="0" u="none" strike="noStrike" kern="1200" cap="none" spc="0" normalizeH="0" baseline="0" noProof="0">
                <a:ln>
                  <a:noFill/>
                </a:ln>
                <a:solidFill>
                  <a:prstClr val="black"/>
                </a:solidFill>
                <a:effectLst/>
                <a:uLnTx/>
                <a:uFillTx/>
                <a:latin typeface="BISansOpti"/>
                <a:ea typeface="+mn-ea"/>
                <a:cs typeface="+mn-cs"/>
              </a:rPr>
              <a:t> </a:t>
            </a:r>
          </a:p>
        </p:txBody>
      </p:sp>
      <p:sp>
        <p:nvSpPr>
          <p:cNvPr id="40" name="TextBox 39">
            <a:extLst>
              <a:ext uri="{FF2B5EF4-FFF2-40B4-BE49-F238E27FC236}">
                <a16:creationId xmlns:a16="http://schemas.microsoft.com/office/drawing/2014/main" id="{3F61C15A-2BEE-775A-81B8-BE98062B4FDC}"/>
              </a:ext>
            </a:extLst>
          </p:cNvPr>
          <p:cNvSpPr txBox="1"/>
          <p:nvPr/>
        </p:nvSpPr>
        <p:spPr>
          <a:xfrm>
            <a:off x="825914" y="4720110"/>
            <a:ext cx="964612" cy="276998"/>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ISansOpti"/>
                <a:ea typeface="+mn-ea"/>
                <a:cs typeface="+mn-cs"/>
              </a:rPr>
              <a:t>VC= DMSO</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ISansOpti"/>
                <a:ea typeface="+mn-ea"/>
                <a:cs typeface="+mn-cs"/>
              </a:rPr>
              <a:t>PDE4Bi  0.5</a:t>
            </a:r>
            <a:r>
              <a:rPr kumimoji="0" lang="en-US" sz="900" b="1" i="0" u="none" strike="noStrike" kern="1200" cap="none" spc="0" normalizeH="0" baseline="0" noProof="0">
                <a:ln>
                  <a:noFill/>
                </a:ln>
                <a:solidFill>
                  <a:prstClr val="black"/>
                </a:solidFill>
                <a:effectLst/>
                <a:uLnTx/>
                <a:uFillTx/>
                <a:latin typeface="Symbol" panose="05050102010706020507" pitchFamily="18" charset="2"/>
                <a:ea typeface="+mn-ea"/>
                <a:cs typeface="+mn-cs"/>
              </a:rPr>
              <a:t>m</a:t>
            </a:r>
            <a:r>
              <a:rPr kumimoji="0" lang="en-US" sz="900" b="1" i="0" u="none" strike="noStrike" kern="1200" cap="none" spc="0" normalizeH="0" baseline="0" noProof="0">
                <a:ln>
                  <a:noFill/>
                </a:ln>
                <a:solidFill>
                  <a:prstClr val="black"/>
                </a:solidFill>
                <a:effectLst/>
                <a:uLnTx/>
                <a:uFillTx/>
                <a:latin typeface="BISansOpti"/>
                <a:ea typeface="+mn-ea"/>
                <a:cs typeface="+mn-cs"/>
              </a:rPr>
              <a:t>M</a:t>
            </a:r>
          </a:p>
        </p:txBody>
      </p:sp>
      <p:sp>
        <p:nvSpPr>
          <p:cNvPr id="41" name="TextBox 40">
            <a:extLst>
              <a:ext uri="{FF2B5EF4-FFF2-40B4-BE49-F238E27FC236}">
                <a16:creationId xmlns:a16="http://schemas.microsoft.com/office/drawing/2014/main" id="{9B48EF1B-1773-F74E-0440-90465CA3FE7B}"/>
              </a:ext>
            </a:extLst>
          </p:cNvPr>
          <p:cNvSpPr txBox="1"/>
          <p:nvPr/>
        </p:nvSpPr>
        <p:spPr>
          <a:xfrm>
            <a:off x="819190" y="5084984"/>
            <a:ext cx="702520" cy="138499"/>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ISansOpti"/>
                <a:ea typeface="+mn-ea"/>
                <a:cs typeface="+mn-cs"/>
              </a:rPr>
              <a:t>MMF 5</a:t>
            </a:r>
            <a:r>
              <a:rPr kumimoji="0" lang="en-US" sz="900" b="1" i="0" u="none" strike="noStrike" kern="1200" cap="none" spc="0" normalizeH="0" baseline="0" noProof="0">
                <a:ln>
                  <a:noFill/>
                </a:ln>
                <a:solidFill>
                  <a:prstClr val="black"/>
                </a:solidFill>
                <a:effectLst/>
                <a:uLnTx/>
                <a:uFillTx/>
                <a:latin typeface="Symbol" panose="05050102010706020507" pitchFamily="18" charset="2"/>
                <a:ea typeface="+mn-ea"/>
                <a:cs typeface="+mn-cs"/>
              </a:rPr>
              <a:t>m</a:t>
            </a:r>
            <a:r>
              <a:rPr kumimoji="0" lang="en-US" sz="900" b="1" i="0" u="none" strike="noStrike" kern="1200" cap="none" spc="0" normalizeH="0" baseline="0" noProof="0">
                <a:ln>
                  <a:noFill/>
                </a:ln>
                <a:solidFill>
                  <a:prstClr val="black"/>
                </a:solidFill>
                <a:effectLst/>
                <a:uLnTx/>
                <a:uFillTx/>
                <a:latin typeface="BISansOpti"/>
                <a:ea typeface="+mn-ea"/>
                <a:cs typeface="+mn-cs"/>
              </a:rPr>
              <a:t>M</a:t>
            </a:r>
          </a:p>
        </p:txBody>
      </p:sp>
      <p:sp>
        <p:nvSpPr>
          <p:cNvPr id="42" name="Rectangle 41">
            <a:extLst>
              <a:ext uri="{FF2B5EF4-FFF2-40B4-BE49-F238E27FC236}">
                <a16:creationId xmlns:a16="http://schemas.microsoft.com/office/drawing/2014/main" id="{EDCF6F71-6E5E-1D4A-B090-F8E236D0D805}"/>
              </a:ext>
            </a:extLst>
          </p:cNvPr>
          <p:cNvSpPr/>
          <p:nvPr/>
        </p:nvSpPr>
        <p:spPr>
          <a:xfrm>
            <a:off x="295650" y="1976150"/>
            <a:ext cx="2477801" cy="385507"/>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black"/>
              </a:solidFill>
              <a:effectLst/>
              <a:uLnTx/>
              <a:uFillTx/>
              <a:latin typeface="BISansOpti"/>
              <a:ea typeface="+mn-ea"/>
              <a:cs typeface="+mn-cs"/>
            </a:endParaRPr>
          </a:p>
        </p:txBody>
      </p:sp>
      <p:sp>
        <p:nvSpPr>
          <p:cNvPr id="43" name="Rectangle 42">
            <a:extLst>
              <a:ext uri="{FF2B5EF4-FFF2-40B4-BE49-F238E27FC236}">
                <a16:creationId xmlns:a16="http://schemas.microsoft.com/office/drawing/2014/main" id="{B0EBD113-5951-1D39-CB0A-D53E2A1A0B0F}"/>
              </a:ext>
            </a:extLst>
          </p:cNvPr>
          <p:cNvSpPr/>
          <p:nvPr/>
        </p:nvSpPr>
        <p:spPr>
          <a:xfrm>
            <a:off x="716162" y="1763659"/>
            <a:ext cx="3110537" cy="3862389"/>
          </a:xfrm>
          <a:prstGeom prst="rect">
            <a:avLst/>
          </a:prstGeom>
          <a:noFill/>
          <a:ln w="28575">
            <a:solidFill>
              <a:srgbClr val="B9C2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TextBox 43">
            <a:extLst>
              <a:ext uri="{FF2B5EF4-FFF2-40B4-BE49-F238E27FC236}">
                <a16:creationId xmlns:a16="http://schemas.microsoft.com/office/drawing/2014/main" id="{11C811B5-A5BB-5CE1-FFAB-B1FB156BF31B}"/>
              </a:ext>
            </a:extLst>
          </p:cNvPr>
          <p:cNvSpPr txBox="1"/>
          <p:nvPr/>
        </p:nvSpPr>
        <p:spPr>
          <a:xfrm>
            <a:off x="717068" y="1767798"/>
            <a:ext cx="2722639" cy="369333"/>
          </a:xfrm>
          <a:prstGeom prst="rect">
            <a:avLst/>
          </a:prstGeom>
          <a:solidFill>
            <a:srgbClr val="B9C2D6"/>
          </a:solidFill>
          <a:ln>
            <a:solidFill>
              <a:srgbClr val="B9C2D6"/>
            </a:solidFill>
          </a:ln>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b="1" i="0" u="none" strike="noStrike" cap="none" spc="0" normalizeH="0" baseline="0">
                <a:ln>
                  <a:noFill/>
                </a:ln>
                <a:solidFill>
                  <a:schemeClr val="bg1"/>
                </a:solidFill>
                <a:effectLst/>
                <a:uLnTx/>
                <a:uFillTx/>
                <a:latin typeface="Boehringer Forward Head" panose="0200050000000002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Boehringer Forward Head" panose="02000500000000020000" pitchFamily="2" charset="0"/>
                <a:ea typeface="+mn-ea"/>
                <a:cs typeface="+mn-cs"/>
              </a:rPr>
              <a:t>Proliferation</a:t>
            </a:r>
          </a:p>
        </p:txBody>
      </p:sp>
      <p:sp>
        <p:nvSpPr>
          <p:cNvPr id="80" name="Rectangle 79">
            <a:extLst>
              <a:ext uri="{FF2B5EF4-FFF2-40B4-BE49-F238E27FC236}">
                <a16:creationId xmlns:a16="http://schemas.microsoft.com/office/drawing/2014/main" id="{002A222F-791A-1423-90B6-DD44B743EEA1}"/>
              </a:ext>
            </a:extLst>
          </p:cNvPr>
          <p:cNvSpPr/>
          <p:nvPr/>
        </p:nvSpPr>
        <p:spPr>
          <a:xfrm>
            <a:off x="4007993" y="1751023"/>
            <a:ext cx="3169899" cy="3876797"/>
          </a:xfrm>
          <a:prstGeom prst="rect">
            <a:avLst/>
          </a:prstGeom>
          <a:solidFill>
            <a:sysClr val="window" lastClr="FFFFFF"/>
          </a:solidFill>
          <a:ln w="28575" cap="flat" cmpd="sng" algn="ctr">
            <a:solidFill>
              <a:srgbClr val="B9C2D6"/>
            </a:solidFill>
            <a:prstDash val="solid"/>
            <a:miter lim="800000"/>
          </a:ln>
          <a:effectLst/>
        </p:spPr>
        <p:txBody>
          <a:bodyPr lIns="96000" tIns="96000" rIns="96000" bIns="9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err="1">
              <a:ln>
                <a:noFill/>
              </a:ln>
              <a:solidFill>
                <a:srgbClr val="000000"/>
              </a:solidFill>
              <a:effectLst/>
              <a:uLnTx/>
              <a:uFillTx/>
              <a:latin typeface="BISansOpti"/>
              <a:ea typeface="+mn-ea"/>
              <a:cs typeface="+mn-cs"/>
            </a:endParaRPr>
          </a:p>
        </p:txBody>
      </p:sp>
      <p:pic>
        <p:nvPicPr>
          <p:cNvPr id="82" name="Picture 81">
            <a:extLst>
              <a:ext uri="{FF2B5EF4-FFF2-40B4-BE49-F238E27FC236}">
                <a16:creationId xmlns:a16="http://schemas.microsoft.com/office/drawing/2014/main" id="{E5A3BE23-C36B-F72D-196B-246E5601495C}"/>
              </a:ext>
            </a:extLst>
          </p:cNvPr>
          <p:cNvPicPr>
            <a:picLocks noChangeAspect="1"/>
          </p:cNvPicPr>
          <p:nvPr/>
        </p:nvPicPr>
        <p:blipFill rotWithShape="1">
          <a:blip r:embed="rId4"/>
          <a:srcRect l="8647" t="9908" r="38569" b="40264"/>
          <a:stretch/>
        </p:blipFill>
        <p:spPr>
          <a:xfrm>
            <a:off x="4675554" y="2445527"/>
            <a:ext cx="2088778" cy="2164596"/>
          </a:xfrm>
          <a:prstGeom prst="rect">
            <a:avLst/>
          </a:prstGeom>
        </p:spPr>
      </p:pic>
      <p:sp>
        <p:nvSpPr>
          <p:cNvPr id="90" name="TextBox 89">
            <a:extLst>
              <a:ext uri="{FF2B5EF4-FFF2-40B4-BE49-F238E27FC236}">
                <a16:creationId xmlns:a16="http://schemas.microsoft.com/office/drawing/2014/main" id="{869CDC20-6DEF-F8EA-67E6-9B4D6FAC05CA}"/>
              </a:ext>
            </a:extLst>
          </p:cNvPr>
          <p:cNvSpPr txBox="1"/>
          <p:nvPr/>
        </p:nvSpPr>
        <p:spPr>
          <a:xfrm rot="16200000">
            <a:off x="3657725" y="3233300"/>
            <a:ext cx="1905508" cy="615553"/>
          </a:xfrm>
          <a:prstGeom prst="rect">
            <a:avLst/>
          </a:prstGeom>
          <a:noFill/>
        </p:spPr>
        <p:txBody>
          <a:bodyPr wrap="square" lIns="0" tIns="0" rIns="0" bIns="0" rtlCol="0">
            <a:spAutoFit/>
          </a:bodyPr>
          <a:lstStyle>
            <a:defPPr>
              <a:defRPr lang="en-US"/>
            </a:defPPr>
            <a:lvl1pPr algn="ctr" defTabSz="1219170">
              <a:defRPr sz="1200" b="1">
                <a:latin typeface="BISansOpti"/>
              </a:defRPr>
            </a:lvl1p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BISansOpti"/>
                <a:ea typeface="+mn-ea"/>
                <a:cs typeface="+mn-cs"/>
              </a:rPr>
              <a:t>% </a:t>
            </a:r>
            <a:r>
              <a:rPr kumimoji="0" lang="en-US" sz="2000" b="1" i="0" u="none" strike="noStrike" kern="1200" cap="none" spc="0" normalizeH="0" baseline="0" noProof="0" err="1">
                <a:ln>
                  <a:noFill/>
                </a:ln>
                <a:solidFill>
                  <a:prstClr val="black"/>
                </a:solidFill>
                <a:effectLst/>
                <a:uLnTx/>
                <a:uFillTx/>
                <a:latin typeface="BISansOpti"/>
                <a:ea typeface="+mn-ea"/>
                <a:cs typeface="+mn-cs"/>
              </a:rPr>
              <a:t>TGF</a:t>
            </a:r>
            <a:r>
              <a:rPr kumimoji="0" lang="en-US" sz="2000" b="1" i="0" u="none" strike="noStrike" kern="1200" cap="none" spc="0" normalizeH="0" baseline="0" noProof="0" err="1">
                <a:ln>
                  <a:noFill/>
                </a:ln>
                <a:solidFill>
                  <a:prstClr val="black"/>
                </a:solidFill>
                <a:effectLst/>
                <a:uLnTx/>
                <a:uFillTx/>
                <a:latin typeface="Symbol" panose="05050102010706020507" pitchFamily="18" charset="2"/>
                <a:ea typeface="+mn-ea"/>
                <a:cs typeface="+mn-cs"/>
              </a:rPr>
              <a:t>b</a:t>
            </a:r>
            <a:r>
              <a:rPr kumimoji="0" lang="en-US" sz="2000" b="1" i="0" u="none" strike="noStrike" kern="1200" cap="none" spc="0" normalizeH="0" baseline="0" noProof="0">
                <a:ln>
                  <a:noFill/>
                </a:ln>
                <a:solidFill>
                  <a:prstClr val="black"/>
                </a:solidFill>
                <a:effectLst/>
                <a:uLnTx/>
                <a:uFillTx/>
                <a:latin typeface="BISansOpti"/>
                <a:ea typeface="+mn-ea"/>
                <a:cs typeface="+mn-cs"/>
              </a:rPr>
              <a:t> + PGE</a:t>
            </a:r>
            <a:r>
              <a:rPr kumimoji="0" lang="en-US" sz="2000" b="1" i="0" u="none" strike="noStrike" kern="1200" cap="none" spc="0" normalizeH="0" baseline="-25000" noProof="0">
                <a:ln>
                  <a:noFill/>
                </a:ln>
                <a:solidFill>
                  <a:prstClr val="black"/>
                </a:solidFill>
                <a:effectLst/>
                <a:uLnTx/>
                <a:uFillTx/>
                <a:latin typeface="BISansOpti"/>
                <a:ea typeface="+mn-ea"/>
                <a:cs typeface="+mn-cs"/>
              </a:rPr>
              <a:t>2</a:t>
            </a:r>
            <a:endParaRPr kumimoji="0" lang="en-US" sz="2000" b="1" i="0" u="none" strike="noStrike" kern="1200" cap="none" spc="0" normalizeH="0" baseline="0" noProof="0">
              <a:ln>
                <a:noFill/>
              </a:ln>
              <a:solidFill>
                <a:prstClr val="black"/>
              </a:solidFill>
              <a:effectLst/>
              <a:uLnTx/>
              <a:uFillTx/>
              <a:latin typeface="BISansOpti"/>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prstClr val="black"/>
                </a:solidFill>
                <a:effectLst/>
                <a:uLnTx/>
                <a:uFillTx/>
                <a:latin typeface="BISansOpti"/>
                <a:ea typeface="+mn-ea"/>
                <a:cs typeface="+mn-cs"/>
              </a:rPr>
              <a:t> </a:t>
            </a:r>
          </a:p>
        </p:txBody>
      </p:sp>
      <p:sp>
        <p:nvSpPr>
          <p:cNvPr id="91" name="Rectangle 90">
            <a:extLst>
              <a:ext uri="{FF2B5EF4-FFF2-40B4-BE49-F238E27FC236}">
                <a16:creationId xmlns:a16="http://schemas.microsoft.com/office/drawing/2014/main" id="{3BE65A2A-2A80-AB30-EB7C-9DCF0C4BEDC6}"/>
              </a:ext>
            </a:extLst>
          </p:cNvPr>
          <p:cNvSpPr/>
          <p:nvPr/>
        </p:nvSpPr>
        <p:spPr>
          <a:xfrm>
            <a:off x="5112704" y="2002500"/>
            <a:ext cx="1393303" cy="218265"/>
          </a:xfrm>
          <a:prstGeom prst="rect">
            <a:avLst/>
          </a:prstGeom>
          <a:solidFill>
            <a:sysClr val="window" lastClr="FFFFFF"/>
          </a:solidFill>
          <a:ln w="12700" cap="flat" cmpd="sng" algn="ctr">
            <a:solidFill>
              <a:sysClr val="window" lastClr="FFFFFF"/>
            </a:solidFill>
            <a:prstDash val="solid"/>
            <a:miter lim="800000"/>
          </a:ln>
          <a:effectLst/>
        </p:spPr>
        <p:txBody>
          <a:bodyPr lIns="96000" tIns="96000" rIns="96000" bIns="9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err="1">
              <a:ln>
                <a:noFill/>
              </a:ln>
              <a:solidFill>
                <a:srgbClr val="000000"/>
              </a:solidFill>
              <a:effectLst/>
              <a:uLnTx/>
              <a:uFillTx/>
              <a:latin typeface="BISansOpti"/>
              <a:ea typeface="+mn-ea"/>
              <a:cs typeface="+mn-cs"/>
            </a:endParaRPr>
          </a:p>
        </p:txBody>
      </p:sp>
      <p:sp>
        <p:nvSpPr>
          <p:cNvPr id="92" name="Rectangle 91">
            <a:extLst>
              <a:ext uri="{FF2B5EF4-FFF2-40B4-BE49-F238E27FC236}">
                <a16:creationId xmlns:a16="http://schemas.microsoft.com/office/drawing/2014/main" id="{C6FDB649-52D2-97E7-6922-DADAAA515FD1}"/>
              </a:ext>
            </a:extLst>
          </p:cNvPr>
          <p:cNvSpPr/>
          <p:nvPr/>
        </p:nvSpPr>
        <p:spPr>
          <a:xfrm>
            <a:off x="5152110" y="2574868"/>
            <a:ext cx="240546" cy="138819"/>
          </a:xfrm>
          <a:prstGeom prst="rect">
            <a:avLst/>
          </a:prstGeom>
          <a:solidFill>
            <a:sysClr val="window" lastClr="FFFFFF"/>
          </a:solidFill>
          <a:ln w="12700" cap="flat" cmpd="sng" algn="ctr">
            <a:solidFill>
              <a:sysClr val="window" lastClr="FFFFFF"/>
            </a:solidFill>
            <a:prstDash val="solid"/>
            <a:miter lim="800000"/>
          </a:ln>
          <a:effectLst/>
        </p:spPr>
        <p:txBody>
          <a:bodyPr lIns="96000" tIns="96000" rIns="96000" bIns="9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err="1">
              <a:ln>
                <a:noFill/>
              </a:ln>
              <a:solidFill>
                <a:srgbClr val="08312A">
                  <a:lumMod val="90000"/>
                  <a:lumOff val="10000"/>
                </a:srgbClr>
              </a:solidFill>
              <a:effectLst/>
              <a:uLnTx/>
              <a:uFillTx/>
              <a:latin typeface="BISansOpti"/>
              <a:ea typeface="+mn-ea"/>
              <a:cs typeface="+mn-cs"/>
            </a:endParaRPr>
          </a:p>
        </p:txBody>
      </p:sp>
      <p:sp>
        <p:nvSpPr>
          <p:cNvPr id="94" name="TextBox 93">
            <a:extLst>
              <a:ext uri="{FF2B5EF4-FFF2-40B4-BE49-F238E27FC236}">
                <a16:creationId xmlns:a16="http://schemas.microsoft.com/office/drawing/2014/main" id="{883BB937-3278-90E1-AA11-95AE7BFC7584}"/>
              </a:ext>
            </a:extLst>
          </p:cNvPr>
          <p:cNvSpPr txBox="1"/>
          <p:nvPr/>
        </p:nvSpPr>
        <p:spPr>
          <a:xfrm>
            <a:off x="6482061" y="5034590"/>
            <a:ext cx="680009" cy="161583"/>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n=4 donors</a:t>
            </a:r>
          </a:p>
        </p:txBody>
      </p:sp>
      <p:sp>
        <p:nvSpPr>
          <p:cNvPr id="95" name="TextBox 94">
            <a:extLst>
              <a:ext uri="{FF2B5EF4-FFF2-40B4-BE49-F238E27FC236}">
                <a16:creationId xmlns:a16="http://schemas.microsoft.com/office/drawing/2014/main" id="{CCCBFFBF-3015-815F-2033-9D7A1CB7BB26}"/>
              </a:ext>
            </a:extLst>
          </p:cNvPr>
          <p:cNvSpPr txBox="1"/>
          <p:nvPr/>
        </p:nvSpPr>
        <p:spPr>
          <a:xfrm>
            <a:off x="5169718" y="4612773"/>
            <a:ext cx="177876"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VC</a:t>
            </a:r>
          </a:p>
        </p:txBody>
      </p:sp>
      <p:sp>
        <p:nvSpPr>
          <p:cNvPr id="96" name="TextBox 95">
            <a:extLst>
              <a:ext uri="{FF2B5EF4-FFF2-40B4-BE49-F238E27FC236}">
                <a16:creationId xmlns:a16="http://schemas.microsoft.com/office/drawing/2014/main" id="{027C1763-F11F-1D36-0E01-D36CCE1E1702}"/>
              </a:ext>
            </a:extLst>
          </p:cNvPr>
          <p:cNvSpPr txBox="1"/>
          <p:nvPr/>
        </p:nvSpPr>
        <p:spPr>
          <a:xfrm>
            <a:off x="5414042" y="4619212"/>
            <a:ext cx="483864"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PDE4Bi</a:t>
            </a:r>
          </a:p>
        </p:txBody>
      </p:sp>
      <p:sp>
        <p:nvSpPr>
          <p:cNvPr id="97" name="TextBox 96">
            <a:extLst>
              <a:ext uri="{FF2B5EF4-FFF2-40B4-BE49-F238E27FC236}">
                <a16:creationId xmlns:a16="http://schemas.microsoft.com/office/drawing/2014/main" id="{A8EDED96-58B1-E108-E8E6-FB197F568827}"/>
              </a:ext>
            </a:extLst>
          </p:cNvPr>
          <p:cNvSpPr txBox="1"/>
          <p:nvPr/>
        </p:nvSpPr>
        <p:spPr>
          <a:xfrm>
            <a:off x="5951923" y="4612773"/>
            <a:ext cx="333592"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MMF</a:t>
            </a:r>
          </a:p>
        </p:txBody>
      </p:sp>
      <p:sp>
        <p:nvSpPr>
          <p:cNvPr id="98" name="TextBox 97">
            <a:extLst>
              <a:ext uri="{FF2B5EF4-FFF2-40B4-BE49-F238E27FC236}">
                <a16:creationId xmlns:a16="http://schemas.microsoft.com/office/drawing/2014/main" id="{E0F8F672-781B-9FFB-FEA5-11E3742193B8}"/>
              </a:ext>
            </a:extLst>
          </p:cNvPr>
          <p:cNvSpPr txBox="1"/>
          <p:nvPr/>
        </p:nvSpPr>
        <p:spPr>
          <a:xfrm>
            <a:off x="6302025" y="4617196"/>
            <a:ext cx="569912"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PDE4Bi</a:t>
            </a:r>
          </a:p>
        </p:txBody>
      </p:sp>
      <p:sp>
        <p:nvSpPr>
          <p:cNvPr id="99" name="TextBox 98">
            <a:extLst>
              <a:ext uri="{FF2B5EF4-FFF2-40B4-BE49-F238E27FC236}">
                <a16:creationId xmlns:a16="http://schemas.microsoft.com/office/drawing/2014/main" id="{6FC4A65F-538A-C095-B0D9-5B1066658CF4}"/>
              </a:ext>
            </a:extLst>
          </p:cNvPr>
          <p:cNvSpPr txBox="1"/>
          <p:nvPr/>
        </p:nvSpPr>
        <p:spPr>
          <a:xfrm>
            <a:off x="6386903" y="4755090"/>
            <a:ext cx="333592" cy="16927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BISansOpti"/>
                <a:ea typeface="+mn-ea"/>
                <a:cs typeface="+mn-cs"/>
              </a:rPr>
              <a:t>MMF</a:t>
            </a:r>
          </a:p>
        </p:txBody>
      </p:sp>
      <p:cxnSp>
        <p:nvCxnSpPr>
          <p:cNvPr id="100" name="Straight Connector 99">
            <a:extLst>
              <a:ext uri="{FF2B5EF4-FFF2-40B4-BE49-F238E27FC236}">
                <a16:creationId xmlns:a16="http://schemas.microsoft.com/office/drawing/2014/main" id="{87F7B9C0-6D75-4D9A-22F2-A44129351604}"/>
              </a:ext>
            </a:extLst>
          </p:cNvPr>
          <p:cNvCxnSpPr>
            <a:cxnSpLocks/>
          </p:cNvCxnSpPr>
          <p:nvPr/>
        </p:nvCxnSpPr>
        <p:spPr>
          <a:xfrm>
            <a:off x="5305402" y="4943331"/>
            <a:ext cx="1359395" cy="0"/>
          </a:xfrm>
          <a:prstGeom prst="line">
            <a:avLst/>
          </a:prstGeom>
          <a:ln w="6350">
            <a:solidFill>
              <a:srgbClr val="003366"/>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6EF10A4-494B-E301-828C-9027556793D1}"/>
              </a:ext>
            </a:extLst>
          </p:cNvPr>
          <p:cNvSpPr txBox="1"/>
          <p:nvPr/>
        </p:nvSpPr>
        <p:spPr>
          <a:xfrm>
            <a:off x="5591475" y="4961699"/>
            <a:ext cx="849962" cy="169278"/>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err="1">
                <a:ln>
                  <a:noFill/>
                </a:ln>
                <a:solidFill>
                  <a:prstClr val="black"/>
                </a:solidFill>
                <a:effectLst/>
                <a:uLnTx/>
                <a:uFillTx/>
                <a:latin typeface="BISansOpti"/>
                <a:ea typeface="+mn-ea"/>
                <a:cs typeface="+mn-cs"/>
              </a:rPr>
              <a:t>TGF</a:t>
            </a:r>
            <a:r>
              <a:rPr kumimoji="0" lang="en-US" sz="1100" b="1" i="0" u="none" strike="noStrike" kern="1200" cap="none" spc="0" normalizeH="0" baseline="0" noProof="0" err="1">
                <a:ln>
                  <a:noFill/>
                </a:ln>
                <a:solidFill>
                  <a:prstClr val="black"/>
                </a:solidFill>
                <a:effectLst/>
                <a:uLnTx/>
                <a:uFillTx/>
                <a:latin typeface="Symbol" panose="05050102010706020507" pitchFamily="18" charset="2"/>
                <a:ea typeface="+mn-ea"/>
                <a:cs typeface="+mn-cs"/>
              </a:rPr>
              <a:t>b</a:t>
            </a:r>
            <a:r>
              <a:rPr kumimoji="0" lang="en-US" sz="1100" b="1" i="0" u="none" strike="noStrike" kern="1200" cap="none" spc="0" normalizeH="0" baseline="0" noProof="0">
                <a:ln>
                  <a:noFill/>
                </a:ln>
                <a:solidFill>
                  <a:prstClr val="black"/>
                </a:solidFill>
                <a:effectLst/>
                <a:uLnTx/>
                <a:uFillTx/>
                <a:latin typeface="BISansOpti"/>
                <a:ea typeface="+mn-ea"/>
                <a:cs typeface="+mn-cs"/>
              </a:rPr>
              <a:t> + PGE2 </a:t>
            </a:r>
          </a:p>
        </p:txBody>
      </p:sp>
      <p:sp>
        <p:nvSpPr>
          <p:cNvPr id="102" name="TextBox 101">
            <a:extLst>
              <a:ext uri="{FF2B5EF4-FFF2-40B4-BE49-F238E27FC236}">
                <a16:creationId xmlns:a16="http://schemas.microsoft.com/office/drawing/2014/main" id="{4F31280E-DF79-7B5D-2554-6450C44CA61A}"/>
              </a:ext>
            </a:extLst>
          </p:cNvPr>
          <p:cNvSpPr txBox="1"/>
          <p:nvPr/>
        </p:nvSpPr>
        <p:spPr>
          <a:xfrm>
            <a:off x="4172541" y="4804779"/>
            <a:ext cx="964612" cy="323165"/>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VC= DMSO</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PDE4Bi  0.5</a:t>
            </a:r>
            <a:r>
              <a:rPr kumimoji="0" lang="en-US" sz="1050" b="1" i="0" u="none" strike="noStrike" kern="1200" cap="none" spc="0" normalizeH="0" baseline="0" noProof="0">
                <a:ln>
                  <a:noFill/>
                </a:ln>
                <a:solidFill>
                  <a:prstClr val="black"/>
                </a:solidFill>
                <a:effectLst/>
                <a:uLnTx/>
                <a:uFillTx/>
                <a:latin typeface="Symbol" panose="05050102010706020507" pitchFamily="18" charset="2"/>
                <a:ea typeface="+mn-ea"/>
                <a:cs typeface="+mn-cs"/>
              </a:rPr>
              <a:t>m</a:t>
            </a:r>
            <a:r>
              <a:rPr kumimoji="0" lang="en-US" sz="1050" b="1" i="0" u="none" strike="noStrike" kern="1200" cap="none" spc="0" normalizeH="0" baseline="0" noProof="0">
                <a:ln>
                  <a:noFill/>
                </a:ln>
                <a:solidFill>
                  <a:prstClr val="black"/>
                </a:solidFill>
                <a:effectLst/>
                <a:uLnTx/>
                <a:uFillTx/>
                <a:latin typeface="BISansOpti"/>
                <a:ea typeface="+mn-ea"/>
                <a:cs typeface="+mn-cs"/>
              </a:rPr>
              <a:t>M</a:t>
            </a:r>
          </a:p>
        </p:txBody>
      </p:sp>
      <p:sp>
        <p:nvSpPr>
          <p:cNvPr id="103" name="TextBox 102">
            <a:extLst>
              <a:ext uri="{FF2B5EF4-FFF2-40B4-BE49-F238E27FC236}">
                <a16:creationId xmlns:a16="http://schemas.microsoft.com/office/drawing/2014/main" id="{E1FAB39A-CF19-180C-0921-913100CBB851}"/>
              </a:ext>
            </a:extLst>
          </p:cNvPr>
          <p:cNvSpPr txBox="1"/>
          <p:nvPr/>
        </p:nvSpPr>
        <p:spPr>
          <a:xfrm>
            <a:off x="4165817" y="5169653"/>
            <a:ext cx="702520" cy="161583"/>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MMF 5</a:t>
            </a:r>
            <a:r>
              <a:rPr kumimoji="0" lang="en-US" sz="1050" b="1" i="0" u="none" strike="noStrike" kern="1200" cap="none" spc="0" normalizeH="0" baseline="0" noProof="0">
                <a:ln>
                  <a:noFill/>
                </a:ln>
                <a:solidFill>
                  <a:prstClr val="black"/>
                </a:solidFill>
                <a:effectLst/>
                <a:uLnTx/>
                <a:uFillTx/>
                <a:latin typeface="Symbol" panose="05050102010706020507" pitchFamily="18" charset="2"/>
                <a:ea typeface="+mn-ea"/>
                <a:cs typeface="+mn-cs"/>
              </a:rPr>
              <a:t>m</a:t>
            </a:r>
            <a:r>
              <a:rPr kumimoji="0" lang="en-US" sz="1050" b="1" i="0" u="none" strike="noStrike" kern="1200" cap="none" spc="0" normalizeH="0" baseline="0" noProof="0">
                <a:ln>
                  <a:noFill/>
                </a:ln>
                <a:solidFill>
                  <a:prstClr val="black"/>
                </a:solidFill>
                <a:effectLst/>
                <a:uLnTx/>
                <a:uFillTx/>
                <a:latin typeface="BISansOpti"/>
                <a:ea typeface="+mn-ea"/>
                <a:cs typeface="+mn-cs"/>
              </a:rPr>
              <a:t>M</a:t>
            </a:r>
          </a:p>
        </p:txBody>
      </p:sp>
      <p:sp>
        <p:nvSpPr>
          <p:cNvPr id="104" name="TextBox 103">
            <a:extLst>
              <a:ext uri="{FF2B5EF4-FFF2-40B4-BE49-F238E27FC236}">
                <a16:creationId xmlns:a16="http://schemas.microsoft.com/office/drawing/2014/main" id="{B4AE316E-9CBA-310A-DA15-81A219761B56}"/>
              </a:ext>
            </a:extLst>
          </p:cNvPr>
          <p:cNvSpPr txBox="1"/>
          <p:nvPr/>
        </p:nvSpPr>
        <p:spPr>
          <a:xfrm>
            <a:off x="4004259" y="1765766"/>
            <a:ext cx="2429662" cy="369333"/>
          </a:xfrm>
          <a:prstGeom prst="rect">
            <a:avLst/>
          </a:prstGeom>
          <a:solidFill>
            <a:srgbClr val="B9C2D6"/>
          </a:solidFill>
          <a:ln>
            <a:solidFill>
              <a:srgbClr val="B9C2D6"/>
            </a:solidFill>
          </a:ln>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b="1" i="0" u="none" strike="noStrike" cap="none" spc="0" normalizeH="0" baseline="0">
                <a:ln>
                  <a:noFill/>
                </a:ln>
                <a:solidFill>
                  <a:schemeClr val="bg1"/>
                </a:solidFill>
                <a:effectLst/>
                <a:uLnTx/>
                <a:uFillTx/>
                <a:latin typeface="Calibri" panose="020F0502020204030204"/>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Boehringer Forward Head" panose="02000500000000020000" pitchFamily="2" charset="0"/>
                <a:ea typeface="+mn-ea"/>
                <a:cs typeface="+mn-cs"/>
              </a:rPr>
              <a:t>Fibronectin</a:t>
            </a:r>
          </a:p>
        </p:txBody>
      </p:sp>
      <p:sp>
        <p:nvSpPr>
          <p:cNvPr id="2" name="Slide Number Placeholder 4">
            <a:extLst>
              <a:ext uri="{FF2B5EF4-FFF2-40B4-BE49-F238E27FC236}">
                <a16:creationId xmlns:a16="http://schemas.microsoft.com/office/drawing/2014/main" id="{86FD70CC-40F8-E35B-8A90-415B6CFE6727}"/>
              </a:ext>
            </a:extLst>
          </p:cNvPr>
          <p:cNvSpPr txBox="1">
            <a:spLocks/>
          </p:cNvSpPr>
          <p:nvPr/>
        </p:nvSpPr>
        <p:spPr>
          <a:xfrm>
            <a:off x="11840135" y="6630041"/>
            <a:ext cx="351865" cy="216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0" name="Rectangle 19">
            <a:extLst>
              <a:ext uri="{FF2B5EF4-FFF2-40B4-BE49-F238E27FC236}">
                <a16:creationId xmlns:a16="http://schemas.microsoft.com/office/drawing/2014/main" id="{A78BF489-ABF9-FA6E-993B-0931DD01C55A}"/>
              </a:ext>
            </a:extLst>
          </p:cNvPr>
          <p:cNvSpPr/>
          <p:nvPr/>
        </p:nvSpPr>
        <p:spPr>
          <a:xfrm>
            <a:off x="7349520" y="1727753"/>
            <a:ext cx="4003064" cy="3903331"/>
          </a:xfrm>
          <a:prstGeom prst="rect">
            <a:avLst/>
          </a:prstGeom>
          <a:noFill/>
          <a:ln w="28575" cap="flat" cmpd="sng" algn="ctr">
            <a:solidFill>
              <a:srgbClr val="B9C2D6"/>
            </a:solidFill>
            <a:prstDash val="solid"/>
          </a:ln>
          <a:effectLst/>
        </p:spPr>
        <p:txBody>
          <a:bodyPr lIns="96000" tIns="96000" rIns="96000" bIns="9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err="1">
              <a:ln>
                <a:noFill/>
              </a:ln>
              <a:solidFill>
                <a:srgbClr val="000000"/>
              </a:solidFill>
              <a:effectLst/>
              <a:uLnTx/>
              <a:uFillTx/>
              <a:latin typeface="BISansOpti"/>
              <a:ea typeface="+mn-ea"/>
              <a:cs typeface="+mn-cs"/>
            </a:endParaRPr>
          </a:p>
        </p:txBody>
      </p:sp>
      <p:pic>
        <p:nvPicPr>
          <p:cNvPr id="23" name="Picture 22">
            <a:extLst>
              <a:ext uri="{FF2B5EF4-FFF2-40B4-BE49-F238E27FC236}">
                <a16:creationId xmlns:a16="http://schemas.microsoft.com/office/drawing/2014/main" id="{52D00883-02E0-D9BD-657D-6DA6671FBE99}"/>
              </a:ext>
            </a:extLst>
          </p:cNvPr>
          <p:cNvPicPr>
            <a:picLocks noChangeAspect="1"/>
          </p:cNvPicPr>
          <p:nvPr/>
        </p:nvPicPr>
        <p:blipFill rotWithShape="1">
          <a:blip r:embed="rId5"/>
          <a:srcRect l="8950" t="8737" r="37555" b="39534"/>
          <a:stretch/>
        </p:blipFill>
        <p:spPr>
          <a:xfrm>
            <a:off x="8567176" y="2268773"/>
            <a:ext cx="2204143" cy="2557968"/>
          </a:xfrm>
          <a:prstGeom prst="rect">
            <a:avLst/>
          </a:prstGeom>
        </p:spPr>
      </p:pic>
      <p:sp>
        <p:nvSpPr>
          <p:cNvPr id="49" name="TextBox 48">
            <a:extLst>
              <a:ext uri="{FF2B5EF4-FFF2-40B4-BE49-F238E27FC236}">
                <a16:creationId xmlns:a16="http://schemas.microsoft.com/office/drawing/2014/main" id="{2B7C6B94-FBAC-06D0-885D-12AD7BB641D2}"/>
              </a:ext>
            </a:extLst>
          </p:cNvPr>
          <p:cNvSpPr txBox="1"/>
          <p:nvPr/>
        </p:nvSpPr>
        <p:spPr>
          <a:xfrm>
            <a:off x="8963607" y="4832502"/>
            <a:ext cx="336128" cy="164212"/>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prstClr val="black"/>
                </a:solidFill>
                <a:effectLst/>
                <a:uLnTx/>
                <a:uFillTx/>
                <a:latin typeface="BISansOpti"/>
                <a:ea typeface="+mn-ea"/>
                <a:cs typeface="+mn-cs"/>
              </a:rPr>
              <a:t>VC</a:t>
            </a:r>
          </a:p>
        </p:txBody>
      </p:sp>
      <p:sp>
        <p:nvSpPr>
          <p:cNvPr id="50" name="TextBox 49">
            <a:extLst>
              <a:ext uri="{FF2B5EF4-FFF2-40B4-BE49-F238E27FC236}">
                <a16:creationId xmlns:a16="http://schemas.microsoft.com/office/drawing/2014/main" id="{CE9C27FF-9B07-BDF0-3FEA-6785236C3C40}"/>
              </a:ext>
            </a:extLst>
          </p:cNvPr>
          <p:cNvSpPr txBox="1"/>
          <p:nvPr/>
        </p:nvSpPr>
        <p:spPr>
          <a:xfrm>
            <a:off x="9387006" y="4832503"/>
            <a:ext cx="469223" cy="164212"/>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prstClr val="black"/>
                </a:solidFill>
                <a:effectLst/>
                <a:uLnTx/>
                <a:uFillTx/>
                <a:latin typeface="BISansOpti"/>
                <a:ea typeface="+mn-ea"/>
                <a:cs typeface="+mn-cs"/>
              </a:rPr>
              <a:t>PDE4Bi</a:t>
            </a:r>
          </a:p>
        </p:txBody>
      </p:sp>
      <p:sp>
        <p:nvSpPr>
          <p:cNvPr id="51" name="TextBox 50">
            <a:extLst>
              <a:ext uri="{FF2B5EF4-FFF2-40B4-BE49-F238E27FC236}">
                <a16:creationId xmlns:a16="http://schemas.microsoft.com/office/drawing/2014/main" id="{CAAD05E0-F6EA-D60B-B09B-3AC03A5713C7}"/>
              </a:ext>
            </a:extLst>
          </p:cNvPr>
          <p:cNvSpPr txBox="1"/>
          <p:nvPr/>
        </p:nvSpPr>
        <p:spPr>
          <a:xfrm>
            <a:off x="9934888" y="4832503"/>
            <a:ext cx="336128" cy="164212"/>
          </a:xfrm>
          <a:prstGeom prst="rect">
            <a:avLst/>
          </a:prstGeom>
          <a:solidFill>
            <a:srgbClr val="FFFFFF"/>
          </a:solid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prstClr val="black"/>
                </a:solidFill>
                <a:effectLst/>
                <a:uLnTx/>
                <a:uFillTx/>
                <a:latin typeface="BISansOpti"/>
                <a:ea typeface="+mn-ea"/>
                <a:cs typeface="+mn-cs"/>
              </a:rPr>
              <a:t>MMF</a:t>
            </a:r>
          </a:p>
        </p:txBody>
      </p:sp>
      <p:sp>
        <p:nvSpPr>
          <p:cNvPr id="52" name="TextBox 51">
            <a:extLst>
              <a:ext uri="{FF2B5EF4-FFF2-40B4-BE49-F238E27FC236}">
                <a16:creationId xmlns:a16="http://schemas.microsoft.com/office/drawing/2014/main" id="{6998E831-DFD3-4EEF-C6B2-83E19BCF0AA3}"/>
              </a:ext>
            </a:extLst>
          </p:cNvPr>
          <p:cNvSpPr txBox="1"/>
          <p:nvPr/>
        </p:nvSpPr>
        <p:spPr>
          <a:xfrm>
            <a:off x="10378657" y="4832503"/>
            <a:ext cx="469223" cy="164212"/>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prstClr val="black"/>
                </a:solidFill>
                <a:effectLst/>
                <a:uLnTx/>
                <a:uFillTx/>
                <a:latin typeface="BISansOpti"/>
                <a:ea typeface="+mn-ea"/>
                <a:cs typeface="+mn-cs"/>
              </a:rPr>
              <a:t>PDE4Bi</a:t>
            </a:r>
          </a:p>
        </p:txBody>
      </p:sp>
      <p:sp>
        <p:nvSpPr>
          <p:cNvPr id="56" name="TextBox 55">
            <a:extLst>
              <a:ext uri="{FF2B5EF4-FFF2-40B4-BE49-F238E27FC236}">
                <a16:creationId xmlns:a16="http://schemas.microsoft.com/office/drawing/2014/main" id="{C64F4C94-B9A9-EE34-96BA-75891F18BB32}"/>
              </a:ext>
            </a:extLst>
          </p:cNvPr>
          <p:cNvSpPr txBox="1"/>
          <p:nvPr/>
        </p:nvSpPr>
        <p:spPr>
          <a:xfrm>
            <a:off x="10421920" y="5059271"/>
            <a:ext cx="336128" cy="164212"/>
          </a:xfrm>
          <a:prstGeom prst="rect">
            <a:avLst/>
          </a:prstGeom>
          <a:solidFill>
            <a:srgbClr val="FFFFFF"/>
          </a:solid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prstClr val="black"/>
                </a:solidFill>
                <a:effectLst/>
                <a:uLnTx/>
                <a:uFillTx/>
                <a:latin typeface="BISansOpti"/>
                <a:ea typeface="+mn-ea"/>
                <a:cs typeface="+mn-cs"/>
              </a:rPr>
              <a:t>MMF</a:t>
            </a:r>
          </a:p>
        </p:txBody>
      </p:sp>
      <p:cxnSp>
        <p:nvCxnSpPr>
          <p:cNvPr id="57" name="Straight Connector 56">
            <a:extLst>
              <a:ext uri="{FF2B5EF4-FFF2-40B4-BE49-F238E27FC236}">
                <a16:creationId xmlns:a16="http://schemas.microsoft.com/office/drawing/2014/main" id="{E66C4C60-3B2B-89DE-AA45-17064E9A6EE8}"/>
              </a:ext>
            </a:extLst>
          </p:cNvPr>
          <p:cNvCxnSpPr/>
          <p:nvPr/>
        </p:nvCxnSpPr>
        <p:spPr>
          <a:xfrm>
            <a:off x="9340557" y="5255348"/>
            <a:ext cx="1320863" cy="0"/>
          </a:xfrm>
          <a:prstGeom prst="line">
            <a:avLst/>
          </a:prstGeom>
          <a:noFill/>
          <a:ln w="6350" cap="flat" cmpd="sng" algn="ctr">
            <a:solidFill>
              <a:srgbClr val="003366"/>
            </a:solidFill>
            <a:prstDash val="solid"/>
          </a:ln>
          <a:effectLst/>
        </p:spPr>
      </p:cxnSp>
      <p:sp>
        <p:nvSpPr>
          <p:cNvPr id="58" name="TextBox 57">
            <a:extLst>
              <a:ext uri="{FF2B5EF4-FFF2-40B4-BE49-F238E27FC236}">
                <a16:creationId xmlns:a16="http://schemas.microsoft.com/office/drawing/2014/main" id="{936B7A72-8F89-DEA5-4AD0-3CD3EDE12816}"/>
              </a:ext>
            </a:extLst>
          </p:cNvPr>
          <p:cNvSpPr txBox="1"/>
          <p:nvPr/>
        </p:nvSpPr>
        <p:spPr>
          <a:xfrm>
            <a:off x="9712127" y="5250445"/>
            <a:ext cx="798981" cy="164212"/>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err="1">
                <a:ln>
                  <a:noFill/>
                </a:ln>
                <a:solidFill>
                  <a:prstClr val="black"/>
                </a:solidFill>
                <a:effectLst/>
                <a:uLnTx/>
                <a:uFillTx/>
                <a:latin typeface="BISansOpti"/>
                <a:ea typeface="+mn-ea"/>
                <a:cs typeface="+mn-cs"/>
              </a:rPr>
              <a:t>TGF</a:t>
            </a:r>
            <a:r>
              <a:rPr kumimoji="0" lang="en-US" sz="1067" b="1" i="0" u="none" strike="noStrike" kern="1200" cap="none" spc="0" normalizeH="0" baseline="0" noProof="0" err="1">
                <a:ln>
                  <a:noFill/>
                </a:ln>
                <a:solidFill>
                  <a:prstClr val="black"/>
                </a:solidFill>
                <a:effectLst/>
                <a:uLnTx/>
                <a:uFillTx/>
                <a:latin typeface="Symbol" panose="05050102010706020507" pitchFamily="18" charset="2"/>
                <a:ea typeface="+mn-ea"/>
                <a:cs typeface="+mn-cs"/>
              </a:rPr>
              <a:t>b</a:t>
            </a:r>
            <a:r>
              <a:rPr kumimoji="0" lang="en-US" sz="1067" b="1" i="0" u="none" strike="noStrike" kern="1200" cap="none" spc="0" normalizeH="0" baseline="0" noProof="0">
                <a:ln>
                  <a:noFill/>
                </a:ln>
                <a:solidFill>
                  <a:prstClr val="black"/>
                </a:solidFill>
                <a:effectLst/>
                <a:uLnTx/>
                <a:uFillTx/>
                <a:latin typeface="BISansOpti"/>
                <a:ea typeface="+mn-ea"/>
                <a:cs typeface="+mn-cs"/>
              </a:rPr>
              <a:t> + PGE2</a:t>
            </a:r>
          </a:p>
        </p:txBody>
      </p:sp>
      <p:sp>
        <p:nvSpPr>
          <p:cNvPr id="59" name="TextBox 58">
            <a:extLst>
              <a:ext uri="{FF2B5EF4-FFF2-40B4-BE49-F238E27FC236}">
                <a16:creationId xmlns:a16="http://schemas.microsoft.com/office/drawing/2014/main" id="{C10E6EDF-E120-B7EC-2CAA-E5F8D0AB2CEE}"/>
              </a:ext>
            </a:extLst>
          </p:cNvPr>
          <p:cNvSpPr txBox="1"/>
          <p:nvPr/>
        </p:nvSpPr>
        <p:spPr>
          <a:xfrm rot="16200000">
            <a:off x="7442051" y="3235223"/>
            <a:ext cx="2040774" cy="553998"/>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BISansOpti"/>
                <a:ea typeface="+mn-ea"/>
                <a:cs typeface="+mn-cs"/>
              </a:rPr>
              <a:t>% </a:t>
            </a:r>
            <a:r>
              <a:rPr kumimoji="0" lang="en-US" sz="1800" b="1" i="0" u="none" strike="noStrike" kern="1200" cap="none" spc="0" normalizeH="0" baseline="0" noProof="0" err="1">
                <a:ln>
                  <a:noFill/>
                </a:ln>
                <a:solidFill>
                  <a:prstClr val="black"/>
                </a:solidFill>
                <a:effectLst/>
                <a:uLnTx/>
                <a:uFillTx/>
                <a:latin typeface="BISansOpti"/>
                <a:ea typeface="+mn-ea"/>
                <a:cs typeface="+mn-cs"/>
              </a:rPr>
              <a:t>TGF</a:t>
            </a:r>
            <a:r>
              <a:rPr kumimoji="0" lang="en-US" sz="1800" b="1" i="0" u="none" strike="noStrike" kern="1200" cap="none" spc="0" normalizeH="0" baseline="0" noProof="0" err="1">
                <a:ln>
                  <a:noFill/>
                </a:ln>
                <a:solidFill>
                  <a:prstClr val="black"/>
                </a:solidFill>
                <a:effectLst/>
                <a:uLnTx/>
                <a:uFillTx/>
                <a:latin typeface="Symbol" panose="05050102010706020507" pitchFamily="18" charset="2"/>
                <a:ea typeface="+mn-ea"/>
                <a:cs typeface="+mn-cs"/>
              </a:rPr>
              <a:t>b</a:t>
            </a:r>
            <a:r>
              <a:rPr kumimoji="0" lang="en-US" sz="1800" b="1" i="0" u="none" strike="noStrike" kern="1200" cap="none" spc="0" normalizeH="0" baseline="0" noProof="0">
                <a:ln>
                  <a:noFill/>
                </a:ln>
                <a:solidFill>
                  <a:prstClr val="black"/>
                </a:solidFill>
                <a:effectLst/>
                <a:uLnTx/>
                <a:uFillTx/>
                <a:latin typeface="BISansOpti"/>
                <a:ea typeface="+mn-ea"/>
                <a:cs typeface="+mn-cs"/>
              </a:rPr>
              <a:t> + PGE2</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BISansOpti"/>
                <a:ea typeface="+mn-ea"/>
                <a:cs typeface="+mn-cs"/>
              </a:rPr>
              <a:t> </a:t>
            </a:r>
          </a:p>
        </p:txBody>
      </p:sp>
      <p:sp>
        <p:nvSpPr>
          <p:cNvPr id="61" name="Rectangle 60">
            <a:extLst>
              <a:ext uri="{FF2B5EF4-FFF2-40B4-BE49-F238E27FC236}">
                <a16:creationId xmlns:a16="http://schemas.microsoft.com/office/drawing/2014/main" id="{49CAB456-5CF0-C8C8-DA4D-241C2B3FFD1D}"/>
              </a:ext>
            </a:extLst>
          </p:cNvPr>
          <p:cNvSpPr/>
          <p:nvPr/>
        </p:nvSpPr>
        <p:spPr>
          <a:xfrm>
            <a:off x="8704783" y="1796009"/>
            <a:ext cx="1946944" cy="242359"/>
          </a:xfrm>
          <a:prstGeom prst="rect">
            <a:avLst/>
          </a:prstGeom>
          <a:solidFill>
            <a:srgbClr val="FFFFFF"/>
          </a:solidFill>
          <a:ln w="12700" cap="flat" cmpd="sng" algn="ctr">
            <a:solidFill>
              <a:srgbClr val="FFFFFF"/>
            </a:solidFill>
            <a:prstDash val="solid"/>
          </a:ln>
          <a:effectLst/>
        </p:spPr>
        <p:txBody>
          <a:bodyPr lIns="96000" tIns="96000" rIns="96000" bIns="9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err="1">
              <a:ln>
                <a:noFill/>
              </a:ln>
              <a:solidFill>
                <a:srgbClr val="000000"/>
              </a:solidFill>
              <a:effectLst/>
              <a:uLnTx/>
              <a:uFillTx/>
              <a:latin typeface="BISansOpti"/>
              <a:ea typeface="+mn-ea"/>
              <a:cs typeface="+mn-cs"/>
            </a:endParaRPr>
          </a:p>
        </p:txBody>
      </p:sp>
      <p:sp>
        <p:nvSpPr>
          <p:cNvPr id="63" name="Rectangle 62">
            <a:extLst>
              <a:ext uri="{FF2B5EF4-FFF2-40B4-BE49-F238E27FC236}">
                <a16:creationId xmlns:a16="http://schemas.microsoft.com/office/drawing/2014/main" id="{CAC21E04-308F-E947-DDC3-83A8A495E7AC}"/>
              </a:ext>
            </a:extLst>
          </p:cNvPr>
          <p:cNvSpPr/>
          <p:nvPr/>
        </p:nvSpPr>
        <p:spPr>
          <a:xfrm>
            <a:off x="9033810" y="2441421"/>
            <a:ext cx="336128" cy="134372"/>
          </a:xfrm>
          <a:prstGeom prst="rect">
            <a:avLst/>
          </a:prstGeom>
          <a:solidFill>
            <a:srgbClr val="FFFFFF"/>
          </a:solidFill>
          <a:ln w="12700" cap="flat" cmpd="sng" algn="ctr">
            <a:solidFill>
              <a:srgbClr val="FFFFFF"/>
            </a:solidFill>
            <a:prstDash val="solid"/>
          </a:ln>
          <a:effectLst/>
        </p:spPr>
        <p:txBody>
          <a:bodyPr lIns="96000" tIns="96000" rIns="96000" bIns="9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err="1">
              <a:ln>
                <a:noFill/>
              </a:ln>
              <a:solidFill>
                <a:srgbClr val="000000"/>
              </a:solidFill>
              <a:effectLst/>
              <a:uLnTx/>
              <a:uFillTx/>
              <a:latin typeface="BISansOpti"/>
              <a:ea typeface="+mn-ea"/>
              <a:cs typeface="+mn-cs"/>
            </a:endParaRPr>
          </a:p>
        </p:txBody>
      </p:sp>
      <p:sp>
        <p:nvSpPr>
          <p:cNvPr id="21" name="Rectangle 20">
            <a:extLst>
              <a:ext uri="{FF2B5EF4-FFF2-40B4-BE49-F238E27FC236}">
                <a16:creationId xmlns:a16="http://schemas.microsoft.com/office/drawing/2014/main" id="{911D2ADF-8171-FF52-1D45-CF901025B6C3}"/>
              </a:ext>
            </a:extLst>
          </p:cNvPr>
          <p:cNvSpPr/>
          <p:nvPr/>
        </p:nvSpPr>
        <p:spPr>
          <a:xfrm>
            <a:off x="7343581" y="1727754"/>
            <a:ext cx="2429662" cy="369332"/>
          </a:xfrm>
          <a:prstGeom prst="rect">
            <a:avLst/>
          </a:prstGeom>
          <a:solidFill>
            <a:srgbClr val="B9C2D6"/>
          </a:solidFill>
          <a:ln>
            <a:solidFill>
              <a:srgbClr val="B9C2D6"/>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800" b="1" i="0" u="none" strike="noStrike" kern="1200" cap="none" spc="0" normalizeH="0" baseline="0" noProof="0">
                <a:ln>
                  <a:noFill/>
                </a:ln>
                <a:solidFill>
                  <a:prstClr val="white"/>
                </a:solidFill>
                <a:effectLst/>
                <a:uLnTx/>
                <a:uFillTx/>
                <a:latin typeface="Calibri" panose="020F0502020204030204"/>
                <a:ea typeface="+mn-ea"/>
                <a:cs typeface="+mn-cs"/>
              </a:rPr>
              <a:t>α</a:t>
            </a: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-Smooth muscle actin</a:t>
            </a:r>
          </a:p>
        </p:txBody>
      </p:sp>
      <p:sp>
        <p:nvSpPr>
          <p:cNvPr id="65" name="TextBox 64">
            <a:extLst>
              <a:ext uri="{FF2B5EF4-FFF2-40B4-BE49-F238E27FC236}">
                <a16:creationId xmlns:a16="http://schemas.microsoft.com/office/drawing/2014/main" id="{857FE7BD-4CB3-0F47-0482-FE4D885B8D28}"/>
              </a:ext>
            </a:extLst>
          </p:cNvPr>
          <p:cNvSpPr txBox="1"/>
          <p:nvPr/>
        </p:nvSpPr>
        <p:spPr>
          <a:xfrm>
            <a:off x="7699665" y="4932939"/>
            <a:ext cx="964612" cy="323165"/>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VC= DMSO</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PDE4Bi  0.5</a:t>
            </a:r>
            <a:r>
              <a:rPr kumimoji="0" lang="en-US" sz="1050" b="1" i="0" u="none" strike="noStrike" kern="1200" cap="none" spc="0" normalizeH="0" baseline="0" noProof="0">
                <a:ln>
                  <a:noFill/>
                </a:ln>
                <a:solidFill>
                  <a:prstClr val="black"/>
                </a:solidFill>
                <a:effectLst/>
                <a:uLnTx/>
                <a:uFillTx/>
                <a:latin typeface="Symbol" panose="05050102010706020507" pitchFamily="18" charset="2"/>
                <a:ea typeface="+mn-ea"/>
                <a:cs typeface="+mn-cs"/>
              </a:rPr>
              <a:t>m</a:t>
            </a:r>
            <a:r>
              <a:rPr kumimoji="0" lang="en-US" sz="1050" b="1" i="0" u="none" strike="noStrike" kern="1200" cap="none" spc="0" normalizeH="0" baseline="0" noProof="0">
                <a:ln>
                  <a:noFill/>
                </a:ln>
                <a:solidFill>
                  <a:prstClr val="black"/>
                </a:solidFill>
                <a:effectLst/>
                <a:uLnTx/>
                <a:uFillTx/>
                <a:latin typeface="BISansOpti"/>
                <a:ea typeface="+mn-ea"/>
                <a:cs typeface="+mn-cs"/>
              </a:rPr>
              <a:t>M</a:t>
            </a:r>
          </a:p>
        </p:txBody>
      </p:sp>
      <p:sp>
        <p:nvSpPr>
          <p:cNvPr id="66" name="TextBox 65">
            <a:extLst>
              <a:ext uri="{FF2B5EF4-FFF2-40B4-BE49-F238E27FC236}">
                <a16:creationId xmlns:a16="http://schemas.microsoft.com/office/drawing/2014/main" id="{00B68176-A458-C1F5-E7E9-6102CB15FE85}"/>
              </a:ext>
            </a:extLst>
          </p:cNvPr>
          <p:cNvSpPr txBox="1"/>
          <p:nvPr/>
        </p:nvSpPr>
        <p:spPr>
          <a:xfrm>
            <a:off x="7692941" y="5297813"/>
            <a:ext cx="702520" cy="161583"/>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MMF 5</a:t>
            </a:r>
            <a:r>
              <a:rPr kumimoji="0" lang="en-US" sz="1050" b="1" i="0" u="none" strike="noStrike" kern="1200" cap="none" spc="0" normalizeH="0" baseline="0" noProof="0">
                <a:ln>
                  <a:noFill/>
                </a:ln>
                <a:solidFill>
                  <a:prstClr val="black"/>
                </a:solidFill>
                <a:effectLst/>
                <a:uLnTx/>
                <a:uFillTx/>
                <a:latin typeface="Symbol" panose="05050102010706020507" pitchFamily="18" charset="2"/>
                <a:ea typeface="+mn-ea"/>
                <a:cs typeface="+mn-cs"/>
              </a:rPr>
              <a:t>m</a:t>
            </a:r>
            <a:r>
              <a:rPr kumimoji="0" lang="en-US" sz="1050" b="1" i="0" u="none" strike="noStrike" kern="1200" cap="none" spc="0" normalizeH="0" baseline="0" noProof="0">
                <a:ln>
                  <a:noFill/>
                </a:ln>
                <a:solidFill>
                  <a:prstClr val="black"/>
                </a:solidFill>
                <a:effectLst/>
                <a:uLnTx/>
                <a:uFillTx/>
                <a:latin typeface="BISansOpti"/>
                <a:ea typeface="+mn-ea"/>
                <a:cs typeface="+mn-cs"/>
              </a:rPr>
              <a:t>M</a:t>
            </a:r>
          </a:p>
        </p:txBody>
      </p:sp>
      <p:sp>
        <p:nvSpPr>
          <p:cNvPr id="67" name="Rectangle 66">
            <a:extLst>
              <a:ext uri="{FF2B5EF4-FFF2-40B4-BE49-F238E27FC236}">
                <a16:creationId xmlns:a16="http://schemas.microsoft.com/office/drawing/2014/main" id="{070D1D85-259D-45F1-C18A-10F59C378137}"/>
              </a:ext>
            </a:extLst>
          </p:cNvPr>
          <p:cNvSpPr/>
          <p:nvPr/>
        </p:nvSpPr>
        <p:spPr>
          <a:xfrm>
            <a:off x="716162" y="1205117"/>
            <a:ext cx="4212351" cy="369332"/>
          </a:xfrm>
          <a:prstGeom prst="rect">
            <a:avLst/>
          </a:prstGeom>
          <a:solidFill>
            <a:srgbClr val="B9C2D6"/>
          </a:solidFill>
          <a:ln>
            <a:solidFill>
              <a:srgbClr val="B9C2D6"/>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Boehringer Forward Head" panose="02000500000000020000" pitchFamily="2" charset="0"/>
                <a:ea typeface="+mn-ea"/>
                <a:cs typeface="+mn-cs"/>
              </a:rPr>
              <a:t>Skin Fibroblasts from SSc Patients</a:t>
            </a:r>
          </a:p>
        </p:txBody>
      </p:sp>
      <p:sp>
        <p:nvSpPr>
          <p:cNvPr id="3" name="Fußzeilenplatzhalter 2">
            <a:extLst>
              <a:ext uri="{FF2B5EF4-FFF2-40B4-BE49-F238E27FC236}">
                <a16:creationId xmlns:a16="http://schemas.microsoft.com/office/drawing/2014/main" id="{9A91CCBE-BE29-0CCC-82C6-FCFDBE2F6FEA}"/>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sp>
        <p:nvSpPr>
          <p:cNvPr id="6" name="TextBox 5">
            <a:extLst>
              <a:ext uri="{FF2B5EF4-FFF2-40B4-BE49-F238E27FC236}">
                <a16:creationId xmlns:a16="http://schemas.microsoft.com/office/drawing/2014/main" id="{F99951B5-A85E-102D-97EB-E46144770170}"/>
              </a:ext>
            </a:extLst>
          </p:cNvPr>
          <p:cNvSpPr txBox="1"/>
          <p:nvPr/>
        </p:nvSpPr>
        <p:spPr>
          <a:xfrm>
            <a:off x="8665464" y="5441809"/>
            <a:ext cx="680009" cy="161583"/>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n=4 donors</a:t>
            </a:r>
          </a:p>
        </p:txBody>
      </p:sp>
      <p:sp>
        <p:nvSpPr>
          <p:cNvPr id="4" name="TextBox 3">
            <a:extLst>
              <a:ext uri="{FF2B5EF4-FFF2-40B4-BE49-F238E27FC236}">
                <a16:creationId xmlns:a16="http://schemas.microsoft.com/office/drawing/2014/main" id="{D8AAEAAE-51A0-CDA4-2A95-7BDD568C38B8}"/>
              </a:ext>
            </a:extLst>
          </p:cNvPr>
          <p:cNvSpPr txBox="1"/>
          <p:nvPr/>
        </p:nvSpPr>
        <p:spPr>
          <a:xfrm>
            <a:off x="716161" y="5713924"/>
            <a:ext cx="1817409" cy="161583"/>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BISansOpti"/>
                <a:ea typeface="+mn-ea"/>
                <a:cs typeface="+mn-cs"/>
              </a:rPr>
              <a:t>PGE2 at 1nM; </a:t>
            </a:r>
            <a:r>
              <a:rPr kumimoji="0" lang="en-US" sz="1050" b="1" i="0" u="none" strike="noStrike" kern="1200" cap="none" spc="0" normalizeH="0" baseline="0" noProof="0" err="1">
                <a:ln>
                  <a:noFill/>
                </a:ln>
                <a:solidFill>
                  <a:prstClr val="black"/>
                </a:solidFill>
                <a:effectLst/>
                <a:uLnTx/>
                <a:uFillTx/>
                <a:latin typeface="BISansOpti"/>
                <a:ea typeface="+mn-ea"/>
                <a:cs typeface="+mn-cs"/>
              </a:rPr>
              <a:t>TGFb</a:t>
            </a:r>
            <a:r>
              <a:rPr kumimoji="0" lang="en-US" sz="1050" b="1" i="0" u="none" strike="noStrike" kern="1200" cap="none" spc="0" normalizeH="0" baseline="0" noProof="0">
                <a:ln>
                  <a:noFill/>
                </a:ln>
                <a:solidFill>
                  <a:prstClr val="black"/>
                </a:solidFill>
                <a:effectLst/>
                <a:uLnTx/>
                <a:uFillTx/>
                <a:latin typeface="BISansOpti"/>
                <a:ea typeface="+mn-ea"/>
                <a:cs typeface="+mn-cs"/>
              </a:rPr>
              <a:t> at 5ng/ml</a:t>
            </a:r>
          </a:p>
        </p:txBody>
      </p:sp>
      <p:sp>
        <p:nvSpPr>
          <p:cNvPr id="9" name="TextBox 8">
            <a:extLst>
              <a:ext uri="{FF2B5EF4-FFF2-40B4-BE49-F238E27FC236}">
                <a16:creationId xmlns:a16="http://schemas.microsoft.com/office/drawing/2014/main" id="{F2AF9739-8A51-58D6-D65C-7368120B1B1C}"/>
              </a:ext>
            </a:extLst>
          </p:cNvPr>
          <p:cNvSpPr txBox="1"/>
          <p:nvPr/>
        </p:nvSpPr>
        <p:spPr bwMode="gray">
          <a:xfrm>
            <a:off x="599429" y="5836425"/>
            <a:ext cx="2864588"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err="1">
                <a:ln>
                  <a:noFill/>
                </a:ln>
                <a:solidFill>
                  <a:prstClr val="black"/>
                </a:solidFill>
                <a:effectLst/>
                <a:uLnTx/>
                <a:uFillTx/>
                <a:latin typeface="Boehringer Forward Text"/>
                <a:ea typeface="+mn-ea"/>
                <a:cs typeface="+mn-cs"/>
              </a:rPr>
              <a:t>bFGF</a:t>
            </a:r>
            <a:r>
              <a:rPr kumimoji="0" lang="fr-FR" sz="1050" b="1" i="0" u="none" strike="noStrike" kern="1200" cap="none" spc="0" normalizeH="0" baseline="0" noProof="0">
                <a:ln>
                  <a:noFill/>
                </a:ln>
                <a:solidFill>
                  <a:prstClr val="black"/>
                </a:solidFill>
                <a:effectLst/>
                <a:uLnTx/>
                <a:uFillTx/>
                <a:latin typeface="Boehringer Forward Text"/>
                <a:ea typeface="+mn-ea"/>
                <a:cs typeface="+mn-cs"/>
              </a:rPr>
              <a:t> (20 </a:t>
            </a:r>
            <a:r>
              <a:rPr kumimoji="0" lang="fr-FR" sz="1050" b="1" i="0" u="none" strike="noStrike" kern="1200" cap="none" spc="0" normalizeH="0" baseline="0" noProof="0" err="1">
                <a:ln>
                  <a:noFill/>
                </a:ln>
                <a:solidFill>
                  <a:prstClr val="black"/>
                </a:solidFill>
                <a:effectLst/>
                <a:uLnTx/>
                <a:uFillTx/>
                <a:latin typeface="Boehringer Forward Text"/>
                <a:ea typeface="+mn-ea"/>
                <a:cs typeface="+mn-cs"/>
              </a:rPr>
              <a:t>ng</a:t>
            </a:r>
            <a:r>
              <a:rPr kumimoji="0" lang="fr-FR" sz="1050" b="1" i="0" u="none" strike="noStrike" kern="1200" cap="none" spc="0" normalizeH="0" baseline="0" noProof="0">
                <a:ln>
                  <a:noFill/>
                </a:ln>
                <a:solidFill>
                  <a:prstClr val="black"/>
                </a:solidFill>
                <a:effectLst/>
                <a:uLnTx/>
                <a:uFillTx/>
                <a:latin typeface="Boehringer Forward Text"/>
                <a:ea typeface="+mn-ea"/>
                <a:cs typeface="+mn-cs"/>
              </a:rPr>
              <a:t>/</a:t>
            </a:r>
            <a:r>
              <a:rPr kumimoji="0" lang="fr-FR" sz="1050" b="1" i="0" u="none" strike="noStrike" kern="1200" cap="none" spc="0" normalizeH="0" baseline="0" noProof="0" err="1">
                <a:ln>
                  <a:noFill/>
                </a:ln>
                <a:solidFill>
                  <a:prstClr val="black"/>
                </a:solidFill>
                <a:effectLst/>
                <a:uLnTx/>
                <a:uFillTx/>
                <a:latin typeface="Boehringer Forward Text"/>
                <a:ea typeface="+mn-ea"/>
                <a:cs typeface="+mn-cs"/>
              </a:rPr>
              <a:t>mL</a:t>
            </a:r>
            <a:r>
              <a:rPr kumimoji="0" lang="fr-FR" sz="1050" b="1" i="0" u="none" strike="noStrike" kern="1200" cap="none" spc="0" normalizeH="0" baseline="0" noProof="0">
                <a:ln>
                  <a:noFill/>
                </a:ln>
                <a:solidFill>
                  <a:prstClr val="black"/>
                </a:solidFill>
                <a:effectLst/>
                <a:uLnTx/>
                <a:uFillTx/>
                <a:latin typeface="Boehringer Forward Text"/>
                <a:ea typeface="+mn-ea"/>
                <a:cs typeface="+mn-cs"/>
              </a:rPr>
              <a:t>),IL-1β (30 </a:t>
            </a:r>
            <a:r>
              <a:rPr kumimoji="0" lang="fr-FR" sz="1050" b="1" i="0" u="none" strike="noStrike" kern="1200" cap="none" spc="0" normalizeH="0" baseline="0" noProof="0" err="1">
                <a:ln>
                  <a:noFill/>
                </a:ln>
                <a:solidFill>
                  <a:prstClr val="black"/>
                </a:solidFill>
                <a:effectLst/>
                <a:uLnTx/>
                <a:uFillTx/>
                <a:latin typeface="Boehringer Forward Text"/>
                <a:ea typeface="+mn-ea"/>
                <a:cs typeface="+mn-cs"/>
              </a:rPr>
              <a:t>pg</a:t>
            </a:r>
            <a:r>
              <a:rPr kumimoji="0" lang="fr-FR" sz="1050" b="1" i="0" u="none" strike="noStrike" kern="1200" cap="none" spc="0" normalizeH="0" baseline="0" noProof="0">
                <a:ln>
                  <a:noFill/>
                </a:ln>
                <a:solidFill>
                  <a:prstClr val="black"/>
                </a:solidFill>
                <a:effectLst/>
                <a:uLnTx/>
                <a:uFillTx/>
                <a:latin typeface="Boehringer Forward Text"/>
                <a:ea typeface="+mn-ea"/>
                <a:cs typeface="+mn-cs"/>
              </a:rPr>
              <a:t>/</a:t>
            </a:r>
            <a:r>
              <a:rPr kumimoji="0" lang="fr-FR" sz="1050" b="1" i="0" u="none" strike="noStrike" kern="1200" cap="none" spc="0" normalizeH="0" baseline="0" noProof="0" err="1">
                <a:ln>
                  <a:noFill/>
                </a:ln>
                <a:solidFill>
                  <a:prstClr val="black"/>
                </a:solidFill>
                <a:effectLst/>
                <a:uLnTx/>
                <a:uFillTx/>
                <a:latin typeface="Boehringer Forward Text"/>
                <a:ea typeface="+mn-ea"/>
                <a:cs typeface="+mn-cs"/>
              </a:rPr>
              <a:t>mL</a:t>
            </a:r>
            <a:r>
              <a:rPr kumimoji="0" lang="fr-FR" sz="1050" b="1" i="0" u="none" strike="noStrike" kern="1200" cap="none" spc="0" normalizeH="0" baseline="0" noProof="0">
                <a:ln>
                  <a:noFill/>
                </a:ln>
                <a:solidFill>
                  <a:prstClr val="black"/>
                </a:solidFill>
                <a:effectLst/>
                <a:uLnTx/>
                <a:uFillTx/>
                <a:latin typeface="Boehringer Forward Text"/>
                <a:ea typeface="+mn-ea"/>
                <a:cs typeface="+mn-cs"/>
              </a:rPr>
              <a:t>)</a:t>
            </a:r>
            <a:endParaRPr kumimoji="0" lang="en-US" sz="105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Arrow: Down 4">
            <a:extLst>
              <a:ext uri="{FF2B5EF4-FFF2-40B4-BE49-F238E27FC236}">
                <a16:creationId xmlns:a16="http://schemas.microsoft.com/office/drawing/2014/main" id="{943E1E45-14B7-BAD1-0E11-581C67A7BB9F}"/>
              </a:ext>
            </a:extLst>
          </p:cNvPr>
          <p:cNvSpPr/>
          <p:nvPr/>
        </p:nvSpPr>
        <p:spPr bwMode="gray">
          <a:xfrm>
            <a:off x="2200946" y="3401282"/>
            <a:ext cx="120201" cy="293940"/>
          </a:xfrm>
          <a:prstGeom prst="downArrow">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Arrow: Down 6">
            <a:extLst>
              <a:ext uri="{FF2B5EF4-FFF2-40B4-BE49-F238E27FC236}">
                <a16:creationId xmlns:a16="http://schemas.microsoft.com/office/drawing/2014/main" id="{149708FB-0A4F-B2F1-2F90-5570C300BB7B}"/>
              </a:ext>
            </a:extLst>
          </p:cNvPr>
          <p:cNvSpPr/>
          <p:nvPr/>
        </p:nvSpPr>
        <p:spPr bwMode="gray">
          <a:xfrm>
            <a:off x="5605634" y="2947458"/>
            <a:ext cx="120201" cy="293940"/>
          </a:xfrm>
          <a:prstGeom prst="downArrow">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Arrow: Down 7">
            <a:extLst>
              <a:ext uri="{FF2B5EF4-FFF2-40B4-BE49-F238E27FC236}">
                <a16:creationId xmlns:a16="http://schemas.microsoft.com/office/drawing/2014/main" id="{F5E45B7A-0245-8901-B39A-49D85D05679F}"/>
              </a:ext>
            </a:extLst>
          </p:cNvPr>
          <p:cNvSpPr/>
          <p:nvPr/>
        </p:nvSpPr>
        <p:spPr bwMode="gray">
          <a:xfrm>
            <a:off x="9533543" y="3144204"/>
            <a:ext cx="120201" cy="293940"/>
          </a:xfrm>
          <a:prstGeom prst="downArrow">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38055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E794721-721F-85A2-B0EF-F3BC9DB1F3C3}"/>
              </a:ext>
            </a:extLst>
          </p:cNvPr>
          <p:cNvSpPr>
            <a:spLocks noGrp="1"/>
          </p:cNvSpPr>
          <p:nvPr>
            <p:ph type="ftr" sz="quarter" idx="16"/>
          </p:nvPr>
        </p:nvSpPr>
        <p:spPr>
          <a:xfrm>
            <a:off x="5793259" y="6502858"/>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sp>
        <p:nvSpPr>
          <p:cNvPr id="7" name="Title 17">
            <a:extLst>
              <a:ext uri="{FF2B5EF4-FFF2-40B4-BE49-F238E27FC236}">
                <a16:creationId xmlns:a16="http://schemas.microsoft.com/office/drawing/2014/main" id="{7BD084E8-EBCA-D38D-1CEC-61F7C263D1D4}"/>
              </a:ext>
            </a:extLst>
          </p:cNvPr>
          <p:cNvSpPr>
            <a:spLocks noGrp="1"/>
          </p:cNvSpPr>
          <p:nvPr>
            <p:ph type="title"/>
          </p:nvPr>
        </p:nvSpPr>
        <p:spPr>
          <a:xfrm>
            <a:off x="360527" y="123049"/>
            <a:ext cx="11673818" cy="493792"/>
          </a:xfrm>
        </p:spPr>
        <p:txBody>
          <a:bodyPr/>
          <a:lstStyle/>
          <a:p>
            <a:r>
              <a:rPr lang="en-GB">
                <a:solidFill>
                  <a:srgbClr val="08312A"/>
                </a:solidFill>
                <a:latin typeface="Boehringer Forward Head"/>
              </a:rPr>
              <a:t>Nerandomilast suppresses endothelial activation and injury</a:t>
            </a:r>
          </a:p>
        </p:txBody>
      </p:sp>
      <p:sp>
        <p:nvSpPr>
          <p:cNvPr id="8" name="TextBox 7">
            <a:extLst>
              <a:ext uri="{FF2B5EF4-FFF2-40B4-BE49-F238E27FC236}">
                <a16:creationId xmlns:a16="http://schemas.microsoft.com/office/drawing/2014/main" id="{BE3575CA-47D4-9677-52A4-E03F7CEA346A}"/>
              </a:ext>
            </a:extLst>
          </p:cNvPr>
          <p:cNvSpPr txBox="1"/>
          <p:nvPr/>
        </p:nvSpPr>
        <p:spPr bwMode="gray">
          <a:xfrm>
            <a:off x="164488" y="3215964"/>
            <a:ext cx="3794389" cy="24622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Inhibition of inflammatory activation of endothelial cells (VCAM expression)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Inhibition of monocyte adhesion</a:t>
            </a:r>
            <a:br>
              <a:rPr kumimoji="0" lang="en-US" sz="1600" b="0" i="0" u="none" strike="noStrike" kern="1200" cap="none" spc="0" normalizeH="0" baseline="0" noProof="0">
                <a:ln>
                  <a:noFill/>
                </a:ln>
                <a:solidFill>
                  <a:prstClr val="black"/>
                </a:solidFill>
                <a:effectLst/>
                <a:uLnTx/>
                <a:uFillTx/>
                <a:latin typeface="Boehringer Forward Text"/>
                <a:ea typeface="+mn-ea"/>
                <a:cs typeface="+mn-cs"/>
              </a:rPr>
            </a:br>
            <a:r>
              <a:rPr kumimoji="0" lang="en-US" sz="16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sz="1600" b="0" i="0" u="none" strike="noStrike" kern="1200" cap="none" spc="0" normalizeH="0" baseline="0" noProof="0" err="1">
                <a:ln>
                  <a:noFill/>
                </a:ln>
                <a:solidFill>
                  <a:prstClr val="black"/>
                </a:solidFill>
                <a:effectLst/>
                <a:uLnTx/>
                <a:uFillTx/>
                <a:latin typeface="Boehringer Forward Text"/>
                <a:ea typeface="+mn-ea"/>
                <a:cs typeface="+mn-cs"/>
              </a:rPr>
              <a:t>potentially</a:t>
            </a:r>
            <a:r>
              <a:rPr kumimoji="0" lang="en-US" sz="1600" b="0" i="0" u="none" strike="noStrike" kern="1200" cap="none" spc="0" normalizeH="0" baseline="0" noProof="0">
                <a:ln>
                  <a:noFill/>
                </a:ln>
                <a:solidFill>
                  <a:prstClr val="black"/>
                </a:solidFill>
                <a:effectLst/>
                <a:uLnTx/>
                <a:uFillTx/>
                <a:latin typeface="Boehringer Forward Text"/>
                <a:ea typeface="+mn-ea"/>
                <a:cs typeface="+mn-cs"/>
              </a:rPr>
              <a:t> transmigration)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Stabilizing barrier function, reducing permeability</a:t>
            </a:r>
          </a:p>
        </p:txBody>
      </p:sp>
      <p:pic>
        <p:nvPicPr>
          <p:cNvPr id="10" name="Picture 9" descr="A diagram of a cell&#10;&#10;Description automatically generated">
            <a:extLst>
              <a:ext uri="{FF2B5EF4-FFF2-40B4-BE49-F238E27FC236}">
                <a16:creationId xmlns:a16="http://schemas.microsoft.com/office/drawing/2014/main" id="{D1475EEB-8F82-0839-598F-2F6F2D5DE571}"/>
              </a:ext>
            </a:extLst>
          </p:cNvPr>
          <p:cNvPicPr>
            <a:picLocks noChangeAspect="1"/>
          </p:cNvPicPr>
          <p:nvPr/>
        </p:nvPicPr>
        <p:blipFill rotWithShape="1">
          <a:blip r:embed="rId3">
            <a:extLst>
              <a:ext uri="{28A0092B-C50C-407E-A947-70E740481C1C}">
                <a14:useLocalDpi xmlns:a14="http://schemas.microsoft.com/office/drawing/2010/main" val="0"/>
              </a:ext>
            </a:extLst>
          </a:blip>
          <a:srcRect l="15632" t="12520" r="24138" b="33949"/>
          <a:stretch/>
        </p:blipFill>
        <p:spPr>
          <a:xfrm>
            <a:off x="164488" y="1019204"/>
            <a:ext cx="3530989" cy="2196760"/>
          </a:xfrm>
          <a:prstGeom prst="rect">
            <a:avLst/>
          </a:prstGeom>
        </p:spPr>
      </p:pic>
      <p:pic>
        <p:nvPicPr>
          <p:cNvPr id="17" name="Grafik 19">
            <a:extLst>
              <a:ext uri="{FF2B5EF4-FFF2-40B4-BE49-F238E27FC236}">
                <a16:creationId xmlns:a16="http://schemas.microsoft.com/office/drawing/2014/main" id="{02A2E128-2C65-7E4E-E8D6-238631D733C8}"/>
              </a:ext>
            </a:extLst>
          </p:cNvPr>
          <p:cNvPicPr>
            <a:picLocks noChangeAspect="1"/>
          </p:cNvPicPr>
          <p:nvPr/>
        </p:nvPicPr>
        <p:blipFill>
          <a:blip r:embed="rId4"/>
          <a:stretch>
            <a:fillRect/>
          </a:stretch>
        </p:blipFill>
        <p:spPr>
          <a:xfrm>
            <a:off x="4634727" y="711974"/>
            <a:ext cx="2432653" cy="2822091"/>
          </a:xfrm>
          <a:prstGeom prst="rect">
            <a:avLst/>
          </a:prstGeom>
        </p:spPr>
      </p:pic>
      <p:grpSp>
        <p:nvGrpSpPr>
          <p:cNvPr id="21" name="Group 20">
            <a:extLst>
              <a:ext uri="{FF2B5EF4-FFF2-40B4-BE49-F238E27FC236}">
                <a16:creationId xmlns:a16="http://schemas.microsoft.com/office/drawing/2014/main" id="{9FD8E319-EC48-B50E-2FE3-2441B9CF2963}"/>
              </a:ext>
            </a:extLst>
          </p:cNvPr>
          <p:cNvGrpSpPr/>
          <p:nvPr/>
        </p:nvGrpSpPr>
        <p:grpSpPr>
          <a:xfrm>
            <a:off x="4103350" y="3731634"/>
            <a:ext cx="7812931" cy="2831374"/>
            <a:chOff x="4078983" y="594067"/>
            <a:chExt cx="7812931" cy="2831374"/>
          </a:xfrm>
        </p:grpSpPr>
        <p:sp>
          <p:nvSpPr>
            <p:cNvPr id="6" name="Rectangle 5">
              <a:extLst>
                <a:ext uri="{FF2B5EF4-FFF2-40B4-BE49-F238E27FC236}">
                  <a16:creationId xmlns:a16="http://schemas.microsoft.com/office/drawing/2014/main" id="{C77E6B6B-994D-4880-662B-27FA80FFDABB}"/>
                </a:ext>
              </a:extLst>
            </p:cNvPr>
            <p:cNvSpPr/>
            <p:nvPr/>
          </p:nvSpPr>
          <p:spPr bwMode="gray">
            <a:xfrm>
              <a:off x="4078983" y="723722"/>
              <a:ext cx="7812931" cy="2701719"/>
            </a:xfrm>
            <a:prstGeom prst="rect">
              <a:avLst/>
            </a:prstGeom>
            <a:solidFill>
              <a:schemeClr val="bg1"/>
            </a:solidFill>
            <a:ln w="38100">
              <a:solidFill>
                <a:srgbClr val="CBA8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13" name="Grafik 2">
              <a:extLst>
                <a:ext uri="{FF2B5EF4-FFF2-40B4-BE49-F238E27FC236}">
                  <a16:creationId xmlns:a16="http://schemas.microsoft.com/office/drawing/2014/main" id="{F0A263C9-F8B6-70A6-1AA6-E48BD7AED86E}"/>
                </a:ext>
              </a:extLst>
            </p:cNvPr>
            <p:cNvPicPr>
              <a:picLocks noChangeAspect="1"/>
            </p:cNvPicPr>
            <p:nvPr/>
          </p:nvPicPr>
          <p:blipFill>
            <a:blip r:embed="rId5"/>
            <a:stretch>
              <a:fillRect/>
            </a:stretch>
          </p:blipFill>
          <p:spPr>
            <a:xfrm>
              <a:off x="4249274" y="910188"/>
              <a:ext cx="3491668" cy="2484104"/>
            </a:xfrm>
            <a:prstGeom prst="rect">
              <a:avLst/>
            </a:prstGeom>
          </p:spPr>
        </p:pic>
        <p:pic>
          <p:nvPicPr>
            <p:cNvPr id="14" name="Grafik 4">
              <a:extLst>
                <a:ext uri="{FF2B5EF4-FFF2-40B4-BE49-F238E27FC236}">
                  <a16:creationId xmlns:a16="http://schemas.microsoft.com/office/drawing/2014/main" id="{90428C6E-C682-C0AA-6BD1-9E90E99E3A19}"/>
                </a:ext>
              </a:extLst>
            </p:cNvPr>
            <p:cNvPicPr>
              <a:picLocks noChangeAspect="1"/>
            </p:cNvPicPr>
            <p:nvPr/>
          </p:nvPicPr>
          <p:blipFill>
            <a:blip r:embed="rId6"/>
            <a:stretch>
              <a:fillRect/>
            </a:stretch>
          </p:blipFill>
          <p:spPr>
            <a:xfrm>
              <a:off x="8691059" y="820706"/>
              <a:ext cx="2250738" cy="2566799"/>
            </a:xfrm>
            <a:prstGeom prst="rect">
              <a:avLst/>
            </a:prstGeom>
          </p:spPr>
        </p:pic>
        <p:sp>
          <p:nvSpPr>
            <p:cNvPr id="9" name="TextBox 8">
              <a:extLst>
                <a:ext uri="{FF2B5EF4-FFF2-40B4-BE49-F238E27FC236}">
                  <a16:creationId xmlns:a16="http://schemas.microsoft.com/office/drawing/2014/main" id="{5658DF3C-D0C2-6598-47F2-1545F49E1B42}"/>
                </a:ext>
              </a:extLst>
            </p:cNvPr>
            <p:cNvSpPr txBox="1"/>
            <p:nvPr/>
          </p:nvSpPr>
          <p:spPr>
            <a:xfrm>
              <a:off x="7094486" y="594067"/>
              <a:ext cx="1399229" cy="369332"/>
            </a:xfrm>
            <a:prstGeom prst="rect">
              <a:avLst/>
            </a:prstGeom>
            <a:solidFill>
              <a:srgbClr val="CBA8B7"/>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Permeability</a:t>
              </a:r>
            </a:p>
          </p:txBody>
        </p:sp>
      </p:grpSp>
      <p:sp>
        <p:nvSpPr>
          <p:cNvPr id="19" name="Rectangle 18">
            <a:extLst>
              <a:ext uri="{FF2B5EF4-FFF2-40B4-BE49-F238E27FC236}">
                <a16:creationId xmlns:a16="http://schemas.microsoft.com/office/drawing/2014/main" id="{FA66D728-6A6F-620A-3690-A31ED92B0638}"/>
              </a:ext>
            </a:extLst>
          </p:cNvPr>
          <p:cNvSpPr/>
          <p:nvPr/>
        </p:nvSpPr>
        <p:spPr bwMode="gray">
          <a:xfrm>
            <a:off x="4078983" y="675551"/>
            <a:ext cx="3661958" cy="2997373"/>
          </a:xfrm>
          <a:prstGeom prst="rect">
            <a:avLst/>
          </a:prstGeom>
          <a:noFill/>
          <a:ln w="38100">
            <a:solidFill>
              <a:srgbClr val="CBA8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260C8F2E-1C50-85D1-0213-EC65EF2C01B3}"/>
              </a:ext>
            </a:extLst>
          </p:cNvPr>
          <p:cNvSpPr txBox="1"/>
          <p:nvPr/>
        </p:nvSpPr>
        <p:spPr>
          <a:xfrm>
            <a:off x="4080536" y="671513"/>
            <a:ext cx="780470" cy="369332"/>
          </a:xfrm>
          <a:prstGeom prst="rect">
            <a:avLst/>
          </a:prstGeom>
          <a:solidFill>
            <a:srgbClr val="CBA8B7"/>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VCAM</a:t>
            </a:r>
          </a:p>
        </p:txBody>
      </p:sp>
      <p:grpSp>
        <p:nvGrpSpPr>
          <p:cNvPr id="20" name="Group 19">
            <a:extLst>
              <a:ext uri="{FF2B5EF4-FFF2-40B4-BE49-F238E27FC236}">
                <a16:creationId xmlns:a16="http://schemas.microsoft.com/office/drawing/2014/main" id="{1E916882-C89C-911A-49D0-02C14859C0DA}"/>
              </a:ext>
            </a:extLst>
          </p:cNvPr>
          <p:cNvGrpSpPr/>
          <p:nvPr/>
        </p:nvGrpSpPr>
        <p:grpSpPr>
          <a:xfrm>
            <a:off x="8199233" y="671513"/>
            <a:ext cx="3661958" cy="2997373"/>
            <a:chOff x="4078984" y="3537463"/>
            <a:chExt cx="3661958" cy="2997373"/>
          </a:xfrm>
        </p:grpSpPr>
        <p:pic>
          <p:nvPicPr>
            <p:cNvPr id="16" name="Grafik 14">
              <a:extLst>
                <a:ext uri="{FF2B5EF4-FFF2-40B4-BE49-F238E27FC236}">
                  <a16:creationId xmlns:a16="http://schemas.microsoft.com/office/drawing/2014/main" id="{5C63790A-B1E1-BDA9-CCB1-EBDE0004FCA2}"/>
                </a:ext>
              </a:extLst>
            </p:cNvPr>
            <p:cNvPicPr>
              <a:picLocks noChangeAspect="1"/>
            </p:cNvPicPr>
            <p:nvPr/>
          </p:nvPicPr>
          <p:blipFill>
            <a:blip r:embed="rId7"/>
            <a:stretch>
              <a:fillRect/>
            </a:stretch>
          </p:blipFill>
          <p:spPr>
            <a:xfrm>
              <a:off x="4601806" y="3597638"/>
              <a:ext cx="2492241" cy="2850604"/>
            </a:xfrm>
            <a:prstGeom prst="rect">
              <a:avLst/>
            </a:prstGeom>
          </p:spPr>
        </p:pic>
        <p:sp>
          <p:nvSpPr>
            <p:cNvPr id="18" name="Rectangle 17">
              <a:extLst>
                <a:ext uri="{FF2B5EF4-FFF2-40B4-BE49-F238E27FC236}">
                  <a16:creationId xmlns:a16="http://schemas.microsoft.com/office/drawing/2014/main" id="{C947E89B-1274-7A8D-125F-099DE438449B}"/>
                </a:ext>
              </a:extLst>
            </p:cNvPr>
            <p:cNvSpPr/>
            <p:nvPr/>
          </p:nvSpPr>
          <p:spPr bwMode="gray">
            <a:xfrm>
              <a:off x="4078984" y="3537463"/>
              <a:ext cx="3661958" cy="2997373"/>
            </a:xfrm>
            <a:prstGeom prst="rect">
              <a:avLst/>
            </a:prstGeom>
            <a:noFill/>
            <a:ln w="38100">
              <a:solidFill>
                <a:srgbClr val="CBA8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TextBox 10">
              <a:extLst>
                <a:ext uri="{FF2B5EF4-FFF2-40B4-BE49-F238E27FC236}">
                  <a16:creationId xmlns:a16="http://schemas.microsoft.com/office/drawing/2014/main" id="{435660CC-DA9F-C937-2ADB-81CD5FD24EBB}"/>
                </a:ext>
              </a:extLst>
            </p:cNvPr>
            <p:cNvSpPr txBox="1"/>
            <p:nvPr/>
          </p:nvSpPr>
          <p:spPr>
            <a:xfrm>
              <a:off x="4091394" y="3537463"/>
              <a:ext cx="1208921" cy="646331"/>
            </a:xfrm>
            <a:prstGeom prst="rect">
              <a:avLst/>
            </a:prstGeom>
            <a:solidFill>
              <a:srgbClr val="CBA8B7"/>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Monocyte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ea typeface="+mn-ea"/>
                  <a:cs typeface="+mn-cs"/>
                </a:rPr>
                <a:t>Adhesion</a:t>
              </a:r>
            </a:p>
          </p:txBody>
        </p:sp>
      </p:grpSp>
    </p:spTree>
    <p:extLst>
      <p:ext uri="{BB962C8B-B14F-4D97-AF65-F5344CB8AC3E}">
        <p14:creationId xmlns:p14="http://schemas.microsoft.com/office/powerpoint/2010/main" val="717113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DF264903-A0AE-AC06-8ED0-B71E35717B43}"/>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18" name="think-cell data - do not delete" hidden="1">
                        <a:extLst>
                          <a:ext uri="{FF2B5EF4-FFF2-40B4-BE49-F238E27FC236}">
                            <a16:creationId xmlns:a16="http://schemas.microsoft.com/office/drawing/2014/main" id="{DF264903-A0AE-AC06-8ED0-B71E35717B43}"/>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520558D5-712E-640E-CE8D-6CEDC093B9D8}"/>
              </a:ext>
            </a:extLst>
          </p:cNvPr>
          <p:cNvSpPr>
            <a:spLocks noGrp="1"/>
          </p:cNvSpPr>
          <p:nvPr>
            <p:ph type="ftr" sz="quarter" idx="10"/>
          </p:nvPr>
        </p:nvSpPr>
        <p:spPr bwMode="gray">
          <a:xfrm>
            <a:off x="7644172" y="6282836"/>
            <a:ext cx="3780420" cy="216000"/>
          </a:xfrm>
          <a:prstGeom prst="rect">
            <a:avLst/>
          </a:prstGeom>
        </p:spPr>
        <p:txBody>
          <a:bodyPr vert="horz" lIns="0" tIns="0" rIns="0" bIns="0" rtlCol="0" anchor="b">
            <a:noAutofit/>
          </a:bodyPr>
          <a:lstStyle>
            <a:defPPr>
              <a:defRPr lang="de-DE"/>
            </a:defPPr>
            <a:lvl1pPr marL="0" indent="0" algn="r" defTabSz="914400" rtl="0" eaLnBrk="1" latinLnBrk="0" hangingPunct="1">
              <a:spcAft>
                <a:spcPts val="225"/>
              </a:spcAft>
              <a:defRPr sz="600" kern="1200">
                <a:solidFill>
                  <a:schemeClr val="bg2"/>
                </a:solidFill>
                <a:latin typeface="+mn-lt"/>
                <a:ea typeface="+mn-ea"/>
                <a:cs typeface="+mn-cs"/>
              </a:defRPr>
            </a:lvl1pPr>
            <a:lvl2pPr marL="0" indent="0" algn="l" defTabSz="914400" rtl="0" eaLnBrk="1" latinLnBrk="0" hangingPunct="1">
              <a:defRPr sz="600" kern="1200">
                <a:solidFill>
                  <a:schemeClr val="tx1"/>
                </a:solidFill>
                <a:latin typeface="+mn-lt"/>
                <a:ea typeface="+mn-ea"/>
                <a:cs typeface="+mn-cs"/>
              </a:defRPr>
            </a:lvl2pPr>
            <a:lvl3pPr marL="0" indent="0" algn="l" defTabSz="914400" rtl="0" eaLnBrk="1" latinLnBrk="0" hangingPunct="1">
              <a:defRPr sz="600" kern="1200">
                <a:solidFill>
                  <a:schemeClr val="tx1"/>
                </a:solidFill>
                <a:latin typeface="+mn-lt"/>
                <a:ea typeface="+mn-ea"/>
                <a:cs typeface="+mn-cs"/>
              </a:defRPr>
            </a:lvl3pPr>
            <a:lvl4pPr marL="0" indent="0" algn="l" defTabSz="914400" rtl="0" eaLnBrk="1" latinLnBrk="0" hangingPunct="1">
              <a:defRPr sz="600" kern="1200">
                <a:solidFill>
                  <a:schemeClr val="tx1"/>
                </a:solidFill>
                <a:latin typeface="+mn-lt"/>
                <a:ea typeface="+mn-ea"/>
                <a:cs typeface="+mn-cs"/>
              </a:defRPr>
            </a:lvl4pPr>
            <a:lvl5pPr marL="0" indent="0" algn="l" defTabSz="914400" rtl="0" eaLnBrk="1" latinLnBrk="0" hangingPunct="1">
              <a:defRPr sz="600" kern="1200">
                <a:solidFill>
                  <a:schemeClr val="tx1"/>
                </a:solidFill>
                <a:latin typeface="+mn-lt"/>
                <a:ea typeface="+mn-ea"/>
                <a:cs typeface="+mn-cs"/>
              </a:defRPr>
            </a:lvl5pPr>
            <a:lvl6pPr marL="0" indent="0" algn="l" defTabSz="914400" rtl="0" eaLnBrk="1" latinLnBrk="0" hangingPunct="1">
              <a:defRPr sz="600" kern="1200">
                <a:solidFill>
                  <a:schemeClr val="tx1"/>
                </a:solidFill>
                <a:latin typeface="+mn-lt"/>
                <a:ea typeface="+mn-ea"/>
                <a:cs typeface="+mn-cs"/>
              </a:defRPr>
            </a:lvl6pPr>
            <a:lvl7pPr marL="0" indent="0" algn="l" defTabSz="914400" rtl="0" eaLnBrk="1" latinLnBrk="0" hangingPunct="1">
              <a:defRPr sz="600" kern="1200">
                <a:solidFill>
                  <a:schemeClr val="tx1"/>
                </a:solidFill>
                <a:latin typeface="+mn-lt"/>
                <a:ea typeface="+mn-ea"/>
                <a:cs typeface="+mn-cs"/>
              </a:defRPr>
            </a:lvl7pPr>
            <a:lvl8pPr marL="0" indent="0" algn="l" defTabSz="914400" rtl="0" eaLnBrk="1" latinLnBrk="0" hangingPunct="1">
              <a:defRPr sz="600" kern="1200">
                <a:solidFill>
                  <a:schemeClr val="tx1"/>
                </a:solidFill>
                <a:latin typeface="+mn-lt"/>
                <a:ea typeface="+mn-ea"/>
                <a:cs typeface="+mn-cs"/>
              </a:defRPr>
            </a:lvl8pPr>
            <a:lvl9pPr marL="0" indent="0" algn="l" defTabSz="914400" rtl="0" eaLnBrk="1" latinLnBrk="0" hangingPunct="1">
              <a:defRPr sz="6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225"/>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CONFIDENTIAL</a:t>
            </a:r>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7" name="Slide Number Placeholder 16">
            <a:extLst>
              <a:ext uri="{FF2B5EF4-FFF2-40B4-BE49-F238E27FC236}">
                <a16:creationId xmlns:a16="http://schemas.microsoft.com/office/drawing/2014/main" id="{EBC19147-14A4-9D3B-E3F6-6061DD868320}"/>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标题 1">
            <a:extLst>
              <a:ext uri="{FF2B5EF4-FFF2-40B4-BE49-F238E27FC236}">
                <a16:creationId xmlns:a16="http://schemas.microsoft.com/office/drawing/2014/main" id="{EB601E82-326C-3635-A3E4-ED47C4B43720}"/>
              </a:ext>
            </a:extLst>
          </p:cNvPr>
          <p:cNvSpPr txBox="1">
            <a:spLocks/>
          </p:cNvSpPr>
          <p:nvPr/>
        </p:nvSpPr>
        <p:spPr bwMode="gray">
          <a:xfrm>
            <a:off x="606328" y="336070"/>
            <a:ext cx="11233151" cy="550185"/>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2500" b="1" i="0" u="none" strike="noStrike" kern="1200" cap="none" spc="0" normalizeH="0" baseline="0" noProof="0">
                <a:ln>
                  <a:noFill/>
                </a:ln>
                <a:solidFill>
                  <a:srgbClr val="08312A"/>
                </a:solidFill>
                <a:effectLst/>
                <a:uLnTx/>
                <a:uFillTx/>
                <a:latin typeface="Boehringer Forward Head"/>
                <a:ea typeface="+mj-ea"/>
                <a:cs typeface="+mj-cs"/>
              </a:rPr>
              <a:t>CONQUEST trial: Nerandomilast ph2b in </a:t>
            </a:r>
            <a:r>
              <a:rPr kumimoji="0" lang="en-US" altLang="zh-CN" sz="2500" b="1" i="0" u="none" strike="noStrike" kern="1200" cap="none" spc="0" normalizeH="0" baseline="0" noProof="0" err="1">
                <a:ln>
                  <a:noFill/>
                </a:ln>
                <a:solidFill>
                  <a:srgbClr val="08312A"/>
                </a:solidFill>
                <a:effectLst/>
                <a:uLnTx/>
                <a:uFillTx/>
                <a:latin typeface="Boehringer Forward Head"/>
                <a:ea typeface="+mj-ea"/>
                <a:cs typeface="+mj-cs"/>
              </a:rPr>
              <a:t>SSc</a:t>
            </a:r>
            <a:r>
              <a:rPr kumimoji="0" lang="en-US" altLang="zh-CN" sz="2500" b="1" i="0" u="none" strike="noStrike" kern="1200" cap="none" spc="0" normalizeH="0" baseline="0" noProof="0">
                <a:ln>
                  <a:noFill/>
                </a:ln>
                <a:solidFill>
                  <a:srgbClr val="08312A"/>
                </a:solidFill>
                <a:effectLst/>
                <a:uLnTx/>
                <a:uFillTx/>
                <a:latin typeface="Boehringer Forward Head"/>
                <a:ea typeface="+mj-ea"/>
                <a:cs typeface="+mj-cs"/>
              </a:rPr>
              <a:t>-ILD</a:t>
            </a:r>
            <a:endParaRPr kumimoji="0" lang="zh-CN" altLang="en-US" sz="25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11" name="文本框 10">
            <a:extLst>
              <a:ext uri="{FF2B5EF4-FFF2-40B4-BE49-F238E27FC236}">
                <a16:creationId xmlns:a16="http://schemas.microsoft.com/office/drawing/2014/main" id="{A4DDD7FA-B9CA-9761-6A4A-C2D7A1953D84}"/>
              </a:ext>
            </a:extLst>
          </p:cNvPr>
          <p:cNvSpPr txBox="1"/>
          <p:nvPr/>
        </p:nvSpPr>
        <p:spPr bwMode="gray">
          <a:xfrm>
            <a:off x="367337" y="966787"/>
            <a:ext cx="11233151" cy="517064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srgbClr val="08312A"/>
                </a:solidFill>
                <a:effectLst/>
                <a:uLnTx/>
                <a:uFillTx/>
                <a:latin typeface="Boehringer Forward Text"/>
                <a:ea typeface="+mn-ea"/>
                <a:cs typeface="+mn-cs"/>
              </a:rPr>
              <a:t>CONQUEST </a:t>
            </a: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rPr>
              <a:t>(NCT06195072)</a:t>
            </a:r>
            <a:r>
              <a:rPr kumimoji="0" lang="zh-CN" altLang="en-US" sz="1600" b="0" i="0" u="none" strike="noStrike" kern="1200" cap="none" spc="0" normalizeH="0" baseline="0" noProof="0">
                <a:ln>
                  <a:noFill/>
                </a:ln>
                <a:solidFill>
                  <a:srgbClr val="08312A"/>
                </a:solidFill>
                <a:effectLst/>
                <a:uLnTx/>
                <a:uFillTx/>
                <a:latin typeface="Boehringer Forward Text"/>
                <a:ea typeface="+mn-ea"/>
                <a:cs typeface="+mn-cs"/>
              </a:rPr>
              <a:t> is a multicentre, double-blind, randomized, placebo-controlled, Phase 2b platform trial evaluating the efficacy, safety and pharmacodynamics of multiple investigational products to treat early active systemic sclerosis with interstitial lung disease </a:t>
            </a: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rPr>
              <a:t>(</a:t>
            </a:r>
            <a:r>
              <a:rPr kumimoji="0" lang="en-US" altLang="zh-CN" sz="1600" b="0" i="0" u="none" strike="noStrike" kern="1200" cap="none" spc="0" normalizeH="0" baseline="0" noProof="0" err="1">
                <a:ln>
                  <a:noFill/>
                </a:ln>
                <a:solidFill>
                  <a:srgbClr val="08312A"/>
                </a:solidFill>
                <a:effectLst/>
                <a:uLnTx/>
                <a:uFillTx/>
                <a:latin typeface="Boehringer Forward Text"/>
                <a:ea typeface="+mn-ea"/>
                <a:cs typeface="+mn-cs"/>
              </a:rPr>
              <a:t>SSc</a:t>
            </a: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rPr>
              <a:t>-ILD)</a:t>
            </a:r>
            <a:r>
              <a:rPr kumimoji="0" lang="zh-CN" altLang="en-US" sz="1600" b="0" i="0" u="none" strike="noStrike" kern="1200" cap="none" spc="0" normalizeH="0" baseline="0" noProof="0">
                <a:ln>
                  <a:noFill/>
                </a:ln>
                <a:solidFill>
                  <a:srgbClr val="08312A"/>
                </a:solidFill>
                <a:effectLst/>
                <a:uLnTx/>
                <a:uFillTx/>
                <a:latin typeface="Boehringer Forward Text"/>
                <a:ea typeface="+mn-ea"/>
                <a:cs typeface="+mn-cs"/>
              </a:rPr>
              <a:t> versus placebo</a:t>
            </a: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rPr>
              <a: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rPr>
              <a:t>    - Target patient number: n=400 (134 for Nerandomilast)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rPr>
              <a:t>    - Primary endpoint: FVC (lung) </a:t>
            </a: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sym typeface="Wingdings" panose="05000000000000000000" pitchFamily="2" charset="2"/>
              </a:rPr>
              <a:t> </a:t>
            </a:r>
            <a:r>
              <a:rPr kumimoji="0" lang="en-GB" altLang="zh-CN" sz="1600" b="0" i="0" u="none" strike="noStrike" kern="1200" cap="none" spc="0" normalizeH="0" baseline="0" noProof="0" err="1">
                <a:ln>
                  <a:noFill/>
                </a:ln>
                <a:solidFill>
                  <a:srgbClr val="08312A"/>
                </a:solidFill>
                <a:effectLst/>
                <a:uLnTx/>
                <a:uFillTx/>
                <a:latin typeface="Boehringer Forward Text"/>
                <a:ea typeface="+mn-ea"/>
                <a:cs typeface="Arial"/>
              </a:rPr>
              <a:t>SSc</a:t>
            </a: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rPr>
              <a:t>-ILD</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rPr>
              <a:t>    - Secondary endpoint: </a:t>
            </a:r>
            <a:r>
              <a:rPr kumimoji="0" lang="en-GB" altLang="zh-CN" sz="1600" b="0" i="0" u="none" strike="noStrike" kern="1200" cap="none" spc="0" normalizeH="0" baseline="0" noProof="0" err="1">
                <a:ln>
                  <a:noFill/>
                </a:ln>
                <a:solidFill>
                  <a:srgbClr val="08312A"/>
                </a:solidFill>
                <a:effectLst/>
                <a:uLnTx/>
                <a:uFillTx/>
                <a:latin typeface="Boehringer Forward Text"/>
                <a:ea typeface="+mn-ea"/>
                <a:cs typeface="Arial"/>
              </a:rPr>
              <a:t>rCRISS</a:t>
            </a: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rPr>
              <a:t> (composite endpoint: lung, skin, PROs) </a:t>
            </a: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sym typeface="Wingdings" panose="05000000000000000000" pitchFamily="2" charset="2"/>
              </a:rPr>
              <a:t> </a:t>
            </a: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rPr>
              <a:t>broad </a:t>
            </a:r>
            <a:r>
              <a:rPr kumimoji="0" lang="en-GB" altLang="zh-CN" sz="1600" b="0" i="0" u="none" strike="noStrike" kern="1200" cap="none" spc="0" normalizeH="0" baseline="0" noProof="0" err="1">
                <a:ln>
                  <a:noFill/>
                </a:ln>
                <a:solidFill>
                  <a:srgbClr val="08312A"/>
                </a:solidFill>
                <a:effectLst/>
                <a:uLnTx/>
                <a:uFillTx/>
                <a:latin typeface="Boehringer Forward Text"/>
                <a:ea typeface="+mn-ea"/>
                <a:cs typeface="Arial"/>
              </a:rPr>
              <a:t>SSc</a:t>
            </a:r>
            <a:endPar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endParaRP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de-DE" altLang="zh-CN" sz="1600" b="1" i="0" u="none" strike="noStrike" kern="1200" cap="none" spc="0" normalizeH="0" baseline="0" noProof="0">
                <a:ln>
                  <a:noFill/>
                </a:ln>
                <a:solidFill>
                  <a:srgbClr val="08312A"/>
                </a:solidFill>
                <a:effectLst/>
                <a:uLnTx/>
                <a:uFillTx/>
                <a:latin typeface="Boehringer Forward Text"/>
                <a:ea typeface="+mn-ea"/>
                <a:cs typeface="Arial"/>
              </a:rPr>
              <a:t>Original Plan: Interim Analyis of CONQUEST triggers initiation of internal PhIII: Sep 2025</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GB" altLang="zh-CN" sz="1600" b="1" i="0" u="none" strike="noStrike" kern="1200" cap="none" spc="0" normalizeH="0" baseline="0" noProof="0">
                <a:ln>
                  <a:noFill/>
                </a:ln>
                <a:solidFill>
                  <a:srgbClr val="08312A"/>
                </a:solidFill>
                <a:effectLst/>
                <a:uLnTx/>
                <a:uFillTx/>
                <a:latin typeface="Boehringer Forward Text"/>
                <a:ea typeface="+mn-ea"/>
                <a:cs typeface="Arial"/>
              </a:rPr>
              <a:t>Current status of CONQUEST:</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rPr>
              <a:t>    - Slow recruitment: Aug 21, 2024: </a:t>
            </a:r>
            <a:r>
              <a:rPr kumimoji="0" lang="en-GB" altLang="zh-CN" sz="1600" b="0" i="0" u="none" strike="noStrike" kern="1200" cap="none" spc="0" normalizeH="0" baseline="0" noProof="0" err="1">
                <a:ln>
                  <a:noFill/>
                </a:ln>
                <a:solidFill>
                  <a:srgbClr val="08312A"/>
                </a:solidFill>
                <a:effectLst/>
                <a:uLnTx/>
                <a:uFillTx/>
                <a:latin typeface="Boehringer Forward Text"/>
                <a:ea typeface="+mn-ea"/>
                <a:cs typeface="Arial"/>
              </a:rPr>
              <a:t>nera’s</a:t>
            </a: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rPr>
              <a:t> FPI on Aug 21, 2024; until Jun 18, 2025, only 34 </a:t>
            </a:r>
            <a:r>
              <a:rPr kumimoji="0" lang="en-GB" altLang="zh-CN" sz="1600" b="0" i="0" u="none" strike="noStrike" kern="1200" cap="none" spc="0" normalizeH="0" baseline="0" noProof="0" err="1">
                <a:ln>
                  <a:noFill/>
                </a:ln>
                <a:solidFill>
                  <a:srgbClr val="08312A"/>
                </a:solidFill>
                <a:effectLst/>
                <a:uLnTx/>
                <a:uFillTx/>
                <a:latin typeface="Boehringer Forward Text"/>
                <a:ea typeface="+mn-ea"/>
                <a:cs typeface="Arial"/>
              </a:rPr>
              <a:t>nera</a:t>
            </a:r>
            <a:r>
              <a:rPr kumimoji="0" lang="en-GB" altLang="zh-CN" sz="1600" b="0" i="0" u="none" strike="noStrike" kern="1200" cap="none" spc="0" normalizeH="0" baseline="0" noProof="0">
                <a:ln>
                  <a:noFill/>
                </a:ln>
                <a:solidFill>
                  <a:srgbClr val="08312A"/>
                </a:solidFill>
                <a:effectLst/>
                <a:uLnTx/>
                <a:uFillTx/>
                <a:latin typeface="Boehringer Forward Text"/>
                <a:ea typeface="+mn-ea"/>
                <a:cs typeface="Arial"/>
              </a:rPr>
              <a:t> pts were randomized (total 63).</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rPr>
              <a:t>    - Timeline was adjusted for a 15-month delay  </a:t>
            </a: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sym typeface="Wingdings" panose="05000000000000000000" pitchFamily="2" charset="2"/>
              </a:rPr>
              <a:t> </a:t>
            </a: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mn-cs"/>
              </a:rPr>
              <a:t>DBL moves from Jan 2027 to Apr 2028</a:t>
            </a:r>
          </a:p>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n-US" altLang="zh-CN" sz="1600" b="0" i="0" u="none" strike="noStrike" kern="1200" cap="none" spc="0" normalizeH="0" baseline="0" noProof="0">
                <a:ln>
                  <a:noFill/>
                </a:ln>
                <a:solidFill>
                  <a:srgbClr val="08312A"/>
                </a:solidFill>
                <a:effectLst/>
                <a:uLnTx/>
                <a:uFillTx/>
                <a:latin typeface="Boehringer Forward Text"/>
                <a:ea typeface="+mn-ea"/>
                <a:cs typeface="Arial"/>
              </a:rPr>
              <a:t>    - </a:t>
            </a:r>
            <a:r>
              <a:rPr kumimoji="0" lang="en-US" altLang="zh-CN" sz="1600" b="1" i="0" u="none" strike="noStrike" kern="1200" cap="none" spc="0" normalizeH="0" baseline="0" noProof="0">
                <a:ln>
                  <a:noFill/>
                </a:ln>
                <a:solidFill>
                  <a:srgbClr val="FF0000"/>
                </a:solidFill>
                <a:effectLst/>
                <a:uLnTx/>
                <a:uFillTx/>
                <a:latin typeface="Boehringer Forward Text"/>
                <a:ea typeface="+mn-ea"/>
                <a:cs typeface="Arial"/>
              </a:rPr>
              <a:t>Interim analysis move to Jan 2027, 1.5 years delay. Launch will only be in mid 2032 with best case if keep the original plan.</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altLang="zh-CN" sz="1600" b="1" i="0" u="none" strike="noStrike" kern="1200" cap="none" spc="0" normalizeH="0" baseline="0" noProof="0">
                <a:ln>
                  <a:noFill/>
                </a:ln>
                <a:solidFill>
                  <a:srgbClr val="08312A"/>
                </a:solidFill>
                <a:effectLst/>
                <a:uLnTx/>
                <a:uFillTx/>
                <a:latin typeface="Boehringer Forward Text"/>
                <a:ea typeface="+mn-ea"/>
                <a:cs typeface="Arial"/>
              </a:rPr>
              <a:t>Global strategy: </a:t>
            </a:r>
            <a:r>
              <a:rPr kumimoji="0" lang="de-DE" altLang="zh-CN" sz="1600" b="1" i="0" u="none" strike="noStrike" kern="1200" cap="none" spc="0" normalizeH="0" baseline="0" noProof="0">
                <a:ln>
                  <a:noFill/>
                </a:ln>
                <a:solidFill>
                  <a:srgbClr val="08312A"/>
                </a:solidFill>
                <a:effectLst/>
                <a:uLnTx/>
                <a:uFillTx/>
                <a:latin typeface="Boehringer Forward Text"/>
                <a:ea typeface="+mn-ea"/>
                <a:cs typeface="Arial"/>
              </a:rPr>
              <a:t>PhIII initiation in preparation without waiting for CONQUEST data supported by SSc-ILD data from FIBRONEER-PPF with 18 mg dose strength.</a:t>
            </a:r>
          </a:p>
        </p:txBody>
      </p:sp>
    </p:spTree>
    <p:extLst>
      <p:ext uri="{BB962C8B-B14F-4D97-AF65-F5344CB8AC3E}">
        <p14:creationId xmlns:p14="http://schemas.microsoft.com/office/powerpoint/2010/main" val="4274836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BF87FA-FF11-083C-C75A-8DD4878C5C81}"/>
              </a:ext>
            </a:extLst>
          </p:cNvPr>
          <p:cNvSpPr>
            <a:spLocks noGrp="1"/>
          </p:cNvSpPr>
          <p:nvPr>
            <p:ph type="title"/>
          </p:nvPr>
        </p:nvSpPr>
        <p:spPr>
          <a:xfrm>
            <a:off x="479424" y="198473"/>
            <a:ext cx="11233151" cy="720000"/>
          </a:xfrm>
        </p:spPr>
        <p:txBody>
          <a:bodyPr/>
          <a:lstStyle/>
          <a:p>
            <a:r>
              <a:rPr lang="en-US" altLang="zh-CN"/>
              <a:t>CONQUEST trial: ph2b in </a:t>
            </a:r>
            <a:r>
              <a:rPr lang="en-US" altLang="zh-CN" err="1"/>
              <a:t>SSc</a:t>
            </a:r>
            <a:r>
              <a:rPr lang="en-US" altLang="zh-CN"/>
              <a:t>-ILD, Nerandomilast and </a:t>
            </a:r>
            <a:r>
              <a:rPr lang="en-US" altLang="zh-CN" err="1"/>
              <a:t>Amlitelimab</a:t>
            </a:r>
            <a:r>
              <a:rPr lang="en-US" altLang="zh-CN"/>
              <a:t> </a:t>
            </a:r>
            <a:endParaRPr lang="zh-CN" altLang="en-US"/>
          </a:p>
        </p:txBody>
      </p:sp>
      <p:sp>
        <p:nvSpPr>
          <p:cNvPr id="4" name="页脚占位符 3">
            <a:extLst>
              <a:ext uri="{FF2B5EF4-FFF2-40B4-BE49-F238E27FC236}">
                <a16:creationId xmlns:a16="http://schemas.microsoft.com/office/drawing/2014/main" id="{C78FE158-D231-484A-A002-18FC8143E1B2}"/>
              </a:ext>
            </a:extLst>
          </p:cNvPr>
          <p:cNvSpPr>
            <a:spLocks noGrp="1"/>
          </p:cNvSpPr>
          <p:nvPr>
            <p:ph type="ftr" sz="quarter" idx="16"/>
          </p:nvPr>
        </p:nvSpPr>
        <p:spPr>
          <a:xfrm>
            <a:off x="6935479" y="6236445"/>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pic>
        <p:nvPicPr>
          <p:cNvPr id="6" name="图片 5">
            <a:extLst>
              <a:ext uri="{FF2B5EF4-FFF2-40B4-BE49-F238E27FC236}">
                <a16:creationId xmlns:a16="http://schemas.microsoft.com/office/drawing/2014/main" id="{C453B763-3107-3C21-0989-D1B3CCEFE59C}"/>
              </a:ext>
            </a:extLst>
          </p:cNvPr>
          <p:cNvPicPr>
            <a:picLocks noChangeAspect="1"/>
          </p:cNvPicPr>
          <p:nvPr/>
        </p:nvPicPr>
        <p:blipFill>
          <a:blip r:embed="rId2"/>
          <a:stretch>
            <a:fillRect/>
          </a:stretch>
        </p:blipFill>
        <p:spPr>
          <a:xfrm>
            <a:off x="134712" y="1662546"/>
            <a:ext cx="7331305" cy="4996981"/>
          </a:xfrm>
          <a:prstGeom prst="rect">
            <a:avLst/>
          </a:prstGeom>
        </p:spPr>
      </p:pic>
      <p:sp>
        <p:nvSpPr>
          <p:cNvPr id="7" name="文本框 6">
            <a:extLst>
              <a:ext uri="{FF2B5EF4-FFF2-40B4-BE49-F238E27FC236}">
                <a16:creationId xmlns:a16="http://schemas.microsoft.com/office/drawing/2014/main" id="{DCF08826-B471-9654-BB34-0B29F0C3D364}"/>
              </a:ext>
            </a:extLst>
          </p:cNvPr>
          <p:cNvSpPr txBox="1"/>
          <p:nvPr/>
        </p:nvSpPr>
        <p:spPr bwMode="gray">
          <a:xfrm>
            <a:off x="7661711" y="1922319"/>
            <a:ext cx="4118633" cy="3464988"/>
          </a:xfrm>
          <a:prstGeom prst="rect">
            <a:avLst/>
          </a:prstGeom>
          <a:noFill/>
        </p:spPr>
        <p:txBody>
          <a:bodyPr wrap="square" lIns="0" tIns="0" rIns="0" bIns="0" rtlCol="0">
            <a:spAutoFit/>
          </a:bodyPr>
          <a:lstStyle/>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Primary endpoint</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 Change in FVC from baseline at W52.</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Secondary endpoint: </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 Change in HRCT QILD-WL score at W52.</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 Change in FACIT-</a:t>
            </a:r>
            <a:r>
              <a:rPr kumimoji="0" lang="en-US" altLang="zh-CN" sz="1400" b="0" i="0" u="none" strike="noStrike" kern="1200" cap="none" spc="0" normalizeH="0" baseline="0" noProof="0" err="1">
                <a:ln>
                  <a:noFill/>
                </a:ln>
                <a:solidFill>
                  <a:prstClr val="black"/>
                </a:solidFill>
                <a:effectLst/>
                <a:uLnTx/>
                <a:uFillTx/>
                <a:latin typeface="Boehringer Forward Text"/>
                <a:ea typeface="+mn-ea"/>
                <a:cs typeface="+mn-cs"/>
              </a:rPr>
              <a:t>Dyspnoea</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score at W52.</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 % patients with improvement in revised CRISS score at W52.</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 Change in </a:t>
            </a:r>
            <a:r>
              <a:rPr kumimoji="0" lang="en-US" altLang="zh-CN" sz="1400" b="0" i="0" u="none" strike="noStrike" kern="1200" cap="none" spc="0" normalizeH="0" baseline="0" noProof="0" err="1">
                <a:ln>
                  <a:noFill/>
                </a:ln>
                <a:solidFill>
                  <a:prstClr val="black"/>
                </a:solidFill>
                <a:effectLst/>
                <a:uLnTx/>
                <a:uFillTx/>
                <a:latin typeface="Boehringer Forward Text"/>
                <a:ea typeface="+mn-ea"/>
                <a:cs typeface="+mn-cs"/>
              </a:rPr>
              <a:t>mRSS</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at W52.</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    - Safety and tolerability.</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1" i="0" u="none" strike="noStrike" kern="1200" cap="none" spc="0" normalizeH="0" baseline="0" noProof="0">
                <a:ln>
                  <a:noFill/>
                </a:ln>
                <a:solidFill>
                  <a:prstClr val="black"/>
                </a:solidFill>
                <a:effectLst/>
                <a:uLnTx/>
                <a:uFillTx/>
                <a:latin typeface="Boehringer Forward Text"/>
                <a:ea typeface="+mn-ea"/>
                <a:cs typeface="+mn-cs"/>
              </a:rPr>
              <a:t>Treatment: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Nera 18mg bid.</a:t>
            </a:r>
          </a:p>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文本框 8">
            <a:extLst>
              <a:ext uri="{FF2B5EF4-FFF2-40B4-BE49-F238E27FC236}">
                <a16:creationId xmlns:a16="http://schemas.microsoft.com/office/drawing/2014/main" id="{A5BF07F2-16F9-0264-4DF5-E1E9B7256B1C}"/>
              </a:ext>
            </a:extLst>
          </p:cNvPr>
          <p:cNvSpPr txBox="1"/>
          <p:nvPr/>
        </p:nvSpPr>
        <p:spPr bwMode="gray">
          <a:xfrm>
            <a:off x="293543" y="696467"/>
            <a:ext cx="11682496" cy="83099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CONQUEST </a:t>
            </a: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(NCT06195072)</a:t>
            </a: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 is a multicentre, double-blind, randomized, placebo-controlled, Phase 2b platform trial evaluating the efficacy, safety and pharmacodynamics of multiple investigational products to treat </a:t>
            </a:r>
            <a:r>
              <a:rPr kumimoji="0" lang="zh-CN" altLang="en-US" sz="1600" b="1" i="0" u="none" strike="noStrike" kern="1200" cap="none" spc="0" normalizeH="0" baseline="0" noProof="0">
                <a:ln>
                  <a:noFill/>
                </a:ln>
                <a:solidFill>
                  <a:prstClr val="black"/>
                </a:solidFill>
                <a:effectLst/>
                <a:uLnTx/>
                <a:uFillTx/>
                <a:latin typeface="Boehringer Forward Text"/>
                <a:ea typeface="+mn-ea"/>
                <a:cs typeface="+mn-cs"/>
              </a:rPr>
              <a:t>early active systemic sclerosis with interstitial lung disease </a:t>
            </a:r>
            <a:r>
              <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rPr>
              <a:t>versus placebo.</a:t>
            </a:r>
          </a:p>
        </p:txBody>
      </p:sp>
    </p:spTree>
    <p:extLst>
      <p:ext uri="{BB962C8B-B14F-4D97-AF65-F5344CB8AC3E}">
        <p14:creationId xmlns:p14="http://schemas.microsoft.com/office/powerpoint/2010/main" val="1279228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ADAC5-1493-4A33-3633-C939CAD4CC6C}"/>
              </a:ext>
            </a:extLst>
          </p:cNvPr>
          <p:cNvSpPr>
            <a:spLocks noGrp="1"/>
          </p:cNvSpPr>
          <p:nvPr>
            <p:ph type="title"/>
          </p:nvPr>
        </p:nvSpPr>
        <p:spPr/>
        <p:txBody>
          <a:bodyPr/>
          <a:lstStyle/>
          <a:p>
            <a:r>
              <a:rPr lang="en-US" altLang="zh-CN"/>
              <a:t>Primary endpoint used in other </a:t>
            </a:r>
            <a:r>
              <a:rPr lang="en-US" altLang="zh-CN" err="1"/>
              <a:t>SSc</a:t>
            </a:r>
            <a:r>
              <a:rPr lang="en-US" altLang="zh-CN"/>
              <a:t> trials</a:t>
            </a:r>
            <a:endParaRPr lang="zh-CN" altLang="en-US"/>
          </a:p>
        </p:txBody>
      </p:sp>
      <p:sp>
        <p:nvSpPr>
          <p:cNvPr id="3" name="文本占位符 2">
            <a:extLst>
              <a:ext uri="{FF2B5EF4-FFF2-40B4-BE49-F238E27FC236}">
                <a16:creationId xmlns:a16="http://schemas.microsoft.com/office/drawing/2014/main" id="{44BD46CC-5873-13BC-32E8-D6AA4ADBECD2}"/>
              </a:ext>
            </a:extLst>
          </p:cNvPr>
          <p:cNvSpPr>
            <a:spLocks noGrp="1"/>
          </p:cNvSpPr>
          <p:nvPr>
            <p:ph type="body" sz="quarter" idx="13"/>
          </p:nvPr>
        </p:nvSpPr>
        <p:spPr/>
        <p:txBody>
          <a:bodyPr/>
          <a:lstStyle/>
          <a:p>
            <a:endParaRPr lang="zh-CN" altLang="en-US"/>
          </a:p>
        </p:txBody>
      </p:sp>
      <p:sp>
        <p:nvSpPr>
          <p:cNvPr id="4" name="页脚占位符 3">
            <a:extLst>
              <a:ext uri="{FF2B5EF4-FFF2-40B4-BE49-F238E27FC236}">
                <a16:creationId xmlns:a16="http://schemas.microsoft.com/office/drawing/2014/main" id="{E9FBC41C-8E9A-698B-FB02-85200DC0D5D4}"/>
              </a:ext>
            </a:extLst>
          </p:cNvPr>
          <p:cNvSpPr>
            <a:spLocks noGrp="1"/>
          </p:cNvSpPr>
          <p:nvPr>
            <p:ph type="ftr" sz="quarter" idx="10"/>
          </p:nvPr>
        </p:nvSpPr>
        <p:spPr/>
        <p:txBody>
          <a:bodyPr/>
          <a:lstStyle/>
          <a:p>
            <a:r>
              <a:rPr lang="en-US"/>
              <a:t>CONFIDENTIAL ONLY FOR INTERNAL USE </a:t>
            </a:r>
          </a:p>
        </p:txBody>
      </p:sp>
      <p:graphicFrame>
        <p:nvGraphicFramePr>
          <p:cNvPr id="5" name="表格 4">
            <a:extLst>
              <a:ext uri="{FF2B5EF4-FFF2-40B4-BE49-F238E27FC236}">
                <a16:creationId xmlns:a16="http://schemas.microsoft.com/office/drawing/2014/main" id="{EA11B1E2-C87B-908E-FA10-C663AB0914BF}"/>
              </a:ext>
            </a:extLst>
          </p:cNvPr>
          <p:cNvGraphicFramePr>
            <a:graphicFrameLocks noGrp="1"/>
          </p:cNvGraphicFramePr>
          <p:nvPr>
            <p:extLst>
              <p:ext uri="{D42A27DB-BD31-4B8C-83A1-F6EECF244321}">
                <p14:modId xmlns:p14="http://schemas.microsoft.com/office/powerpoint/2010/main" val="3828662615"/>
              </p:ext>
            </p:extLst>
          </p:nvPr>
        </p:nvGraphicFramePr>
        <p:xfrm>
          <a:off x="360131" y="1276100"/>
          <a:ext cx="11231997" cy="3139440"/>
        </p:xfrm>
        <a:graphic>
          <a:graphicData uri="http://schemas.openxmlformats.org/drawingml/2006/table">
            <a:tbl>
              <a:tblPr firstRow="1" bandRow="1">
                <a:tableStyleId>{21E4AEA4-8DFA-4A89-87EB-49C32662AFE0}</a:tableStyleId>
              </a:tblPr>
              <a:tblGrid>
                <a:gridCol w="1370698">
                  <a:extLst>
                    <a:ext uri="{9D8B030D-6E8A-4147-A177-3AD203B41FA5}">
                      <a16:colId xmlns:a16="http://schemas.microsoft.com/office/drawing/2014/main" val="1504755512"/>
                    </a:ext>
                  </a:extLst>
                </a:gridCol>
                <a:gridCol w="1838444">
                  <a:extLst>
                    <a:ext uri="{9D8B030D-6E8A-4147-A177-3AD203B41FA5}">
                      <a16:colId xmlns:a16="http://schemas.microsoft.com/office/drawing/2014/main" val="2858840429"/>
                    </a:ext>
                  </a:extLst>
                </a:gridCol>
                <a:gridCol w="1604571">
                  <a:extLst>
                    <a:ext uri="{9D8B030D-6E8A-4147-A177-3AD203B41FA5}">
                      <a16:colId xmlns:a16="http://schemas.microsoft.com/office/drawing/2014/main" val="3875943939"/>
                    </a:ext>
                  </a:extLst>
                </a:gridCol>
                <a:gridCol w="1604571">
                  <a:extLst>
                    <a:ext uri="{9D8B030D-6E8A-4147-A177-3AD203B41FA5}">
                      <a16:colId xmlns:a16="http://schemas.microsoft.com/office/drawing/2014/main" val="3854665175"/>
                    </a:ext>
                  </a:extLst>
                </a:gridCol>
                <a:gridCol w="1604571">
                  <a:extLst>
                    <a:ext uri="{9D8B030D-6E8A-4147-A177-3AD203B41FA5}">
                      <a16:colId xmlns:a16="http://schemas.microsoft.com/office/drawing/2014/main" val="2097653249"/>
                    </a:ext>
                  </a:extLst>
                </a:gridCol>
                <a:gridCol w="1604571">
                  <a:extLst>
                    <a:ext uri="{9D8B030D-6E8A-4147-A177-3AD203B41FA5}">
                      <a16:colId xmlns:a16="http://schemas.microsoft.com/office/drawing/2014/main" val="3628537242"/>
                    </a:ext>
                  </a:extLst>
                </a:gridCol>
                <a:gridCol w="1604571">
                  <a:extLst>
                    <a:ext uri="{9D8B030D-6E8A-4147-A177-3AD203B41FA5}">
                      <a16:colId xmlns:a16="http://schemas.microsoft.com/office/drawing/2014/main" val="1343293913"/>
                    </a:ext>
                  </a:extLst>
                </a:gridCol>
              </a:tblGrid>
              <a:tr h="370840">
                <a:tc>
                  <a:txBody>
                    <a:bodyPr/>
                    <a:lstStyle/>
                    <a:p>
                      <a:endParaRPr lang="zh-CN" altLang="en-US" sz="160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b="1">
                          <a:solidFill>
                            <a:schemeClr val="tx1"/>
                          </a:solidFill>
                        </a:rPr>
                        <a:t>Nerandomilast</a:t>
                      </a:r>
                    </a:p>
                    <a:p>
                      <a:r>
                        <a:rPr lang="en-US" altLang="zh-CN" sz="1600" b="1">
                          <a:solidFill>
                            <a:schemeClr val="tx1"/>
                          </a:solidFill>
                        </a:rPr>
                        <a:t>(BI)</a:t>
                      </a:r>
                      <a:endParaRPr lang="zh-CN" altLang="en-US" sz="1600" b="1">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b="1" i="0" kern="1200" dirty="0">
                          <a:solidFill>
                            <a:schemeClr val="tx1"/>
                          </a:solidFill>
                          <a:effectLst/>
                          <a:latin typeface="+mn-lt"/>
                          <a:ea typeface="+mn-ea"/>
                          <a:cs typeface="+mn-cs"/>
                        </a:rPr>
                        <a:t>Tocilizumab</a:t>
                      </a:r>
                    </a:p>
                    <a:p>
                      <a:r>
                        <a:rPr lang="en-US" altLang="zh-CN" sz="1600" b="1" i="0" kern="1200" dirty="0">
                          <a:solidFill>
                            <a:schemeClr val="tx1"/>
                          </a:solidFill>
                          <a:effectLst/>
                          <a:latin typeface="+mn-lt"/>
                          <a:ea typeface="+mn-ea"/>
                          <a:cs typeface="+mn-cs"/>
                        </a:rPr>
                        <a:t>(Roche)</a:t>
                      </a:r>
                      <a:endParaRPr lang="zh-CN" altLang="en-US" sz="1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b="1" dirty="0">
                          <a:solidFill>
                            <a:schemeClr val="tx1"/>
                          </a:solidFill>
                        </a:rPr>
                        <a:t>Rituximab (Roche)</a:t>
                      </a:r>
                      <a:endParaRPr lang="zh-CN" altLang="en-US" sz="1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b="1" i="0" kern="1200" dirty="0" err="1">
                          <a:solidFill>
                            <a:schemeClr val="tx1"/>
                          </a:solidFill>
                          <a:effectLst/>
                          <a:latin typeface="+mn-lt"/>
                          <a:ea typeface="+mn-ea"/>
                          <a:cs typeface="+mn-cs"/>
                        </a:rPr>
                        <a:t>Anifrolumab</a:t>
                      </a:r>
                      <a:endParaRPr lang="en-US" altLang="zh-CN" sz="1600" b="1" i="0" kern="1200" dirty="0">
                        <a:solidFill>
                          <a:schemeClr val="tx1"/>
                        </a:solidFill>
                        <a:effectLst/>
                        <a:latin typeface="+mn-lt"/>
                        <a:ea typeface="+mn-ea"/>
                        <a:cs typeface="+mn-cs"/>
                      </a:endParaRPr>
                    </a:p>
                    <a:p>
                      <a:r>
                        <a:rPr lang="en-US" altLang="zh-CN" sz="1600" b="1" i="0" kern="1200" dirty="0">
                          <a:solidFill>
                            <a:schemeClr val="tx1"/>
                          </a:solidFill>
                          <a:effectLst/>
                          <a:latin typeface="+mn-lt"/>
                          <a:ea typeface="+mn-ea"/>
                          <a:cs typeface="+mn-cs"/>
                        </a:rPr>
                        <a:t>(AZ)</a:t>
                      </a:r>
                      <a:endParaRPr lang="zh-CN" altLang="en-US" sz="1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b="1" i="0" kern="1200" dirty="0" err="1">
                          <a:solidFill>
                            <a:schemeClr val="tx1"/>
                          </a:solidFill>
                          <a:effectLst/>
                          <a:latin typeface="+mn-lt"/>
                          <a:ea typeface="+mn-ea"/>
                          <a:cs typeface="+mn-cs"/>
                        </a:rPr>
                        <a:t>Avenciguat</a:t>
                      </a:r>
                      <a:endParaRPr lang="en-US" altLang="zh-CN" sz="1600" b="1" i="0" kern="1200" dirty="0">
                        <a:solidFill>
                          <a:schemeClr val="tx1"/>
                        </a:solidFill>
                        <a:effectLst/>
                        <a:latin typeface="+mn-lt"/>
                        <a:ea typeface="+mn-ea"/>
                        <a:cs typeface="+mn-cs"/>
                      </a:endParaRPr>
                    </a:p>
                    <a:p>
                      <a:r>
                        <a:rPr lang="en-US" altLang="zh-CN" sz="1600" b="1" i="0" kern="1200" dirty="0">
                          <a:solidFill>
                            <a:schemeClr val="tx1"/>
                          </a:solidFill>
                          <a:effectLst/>
                          <a:latin typeface="+mn-lt"/>
                          <a:ea typeface="+mn-ea"/>
                          <a:cs typeface="+mn-cs"/>
                        </a:rPr>
                        <a:t>(BI)</a:t>
                      </a:r>
                      <a:endParaRPr lang="zh-CN" altLang="en-US" sz="1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b="1" i="0" kern="1200" dirty="0">
                          <a:solidFill>
                            <a:schemeClr val="tx1"/>
                          </a:solidFill>
                          <a:effectLst/>
                          <a:latin typeface="+mn-lt"/>
                          <a:ea typeface="+mn-ea"/>
                          <a:cs typeface="+mn-cs"/>
                        </a:rPr>
                        <a:t>HY-021068</a:t>
                      </a:r>
                    </a:p>
                    <a:p>
                      <a:r>
                        <a:rPr lang="en-US" altLang="zh-CN" sz="1600" b="1" i="0" kern="1200" dirty="0">
                          <a:solidFill>
                            <a:schemeClr val="tx1"/>
                          </a:solidFill>
                          <a:effectLst/>
                          <a:latin typeface="+mn-lt"/>
                          <a:ea typeface="+mn-ea"/>
                          <a:cs typeface="+mn-cs"/>
                        </a:rPr>
                        <a:t>(</a:t>
                      </a:r>
                      <a:r>
                        <a:rPr lang="zh-CN" altLang="en-US" sz="1600" b="1" i="0" kern="1200" dirty="0">
                          <a:solidFill>
                            <a:schemeClr val="tx1"/>
                          </a:solidFill>
                          <a:effectLst/>
                          <a:latin typeface="+mn-lt"/>
                          <a:ea typeface="+mn-ea"/>
                          <a:cs typeface="+mn-cs"/>
                        </a:rPr>
                        <a:t>合肥恩瑞特）</a:t>
                      </a:r>
                      <a:endParaRPr lang="zh-CN" altLang="en-US" sz="1600" b="1"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5209169"/>
                  </a:ext>
                </a:extLst>
              </a:tr>
              <a:tr h="370840">
                <a:tc>
                  <a:txBody>
                    <a:bodyPr/>
                    <a:lstStyle/>
                    <a:p>
                      <a:r>
                        <a:rPr lang="en-US" altLang="zh-CN" sz="1600" b="1" dirty="0" err="1"/>
                        <a:t>MoA</a:t>
                      </a:r>
                      <a:endParaRPr lang="zh-CN" altLang="en-US" sz="1600" b="1"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altLang="zh-CN" sz="1400" dirty="0"/>
                        <a:t>PDE4bi, oral</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Anti-IL-6, </a:t>
                      </a:r>
                      <a:r>
                        <a:rPr lang="en-US" altLang="zh-CN" sz="1400" dirty="0" err="1"/>
                        <a:t>sc</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Anti-CD20, iv</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Anti-IFNAR1, </a:t>
                      </a:r>
                      <a:r>
                        <a:rPr lang="en-US" altLang="zh-CN" sz="1400" dirty="0" err="1"/>
                        <a:t>sc</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err="1"/>
                        <a:t>sGC</a:t>
                      </a:r>
                      <a:r>
                        <a:rPr lang="en-US" altLang="zh-CN" sz="1400" dirty="0"/>
                        <a:t> activator, oral</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TXA2i, oral</a:t>
                      </a:r>
                      <a:endParaRPr lang="zh-CN" altLang="en-US"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7334017"/>
                  </a:ext>
                </a:extLst>
              </a:tr>
              <a:tr h="370840">
                <a:tc>
                  <a:txBody>
                    <a:bodyPr/>
                    <a:lstStyle/>
                    <a:p>
                      <a:r>
                        <a:rPr lang="en-US" altLang="zh-CN" sz="1600" b="1" dirty="0"/>
                        <a:t>Development stage</a:t>
                      </a:r>
                      <a:endParaRPr lang="zh-CN" altLang="en-US" sz="1600" b="1"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altLang="zh-CN" sz="1400" dirty="0"/>
                        <a:t>Ph3 under planning</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Approved for </a:t>
                      </a:r>
                      <a:r>
                        <a:rPr lang="en-US" altLang="zh-CN" sz="1400" dirty="0" err="1"/>
                        <a:t>SSc</a:t>
                      </a:r>
                      <a:r>
                        <a:rPr lang="en-US" altLang="zh-CN" sz="1400" dirty="0"/>
                        <a:t>-ILD in US based on ph3</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Approved for </a:t>
                      </a:r>
                      <a:r>
                        <a:rPr lang="en-US" altLang="zh-CN" sz="1400" dirty="0" err="1"/>
                        <a:t>SSc</a:t>
                      </a:r>
                      <a:r>
                        <a:rPr lang="en-US" altLang="zh-CN" sz="1400" dirty="0"/>
                        <a:t> in JP based on IIT (ph2)</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Ph3 </a:t>
                      </a:r>
                      <a:r>
                        <a:rPr lang="en-US" altLang="zh-CN" sz="1400" dirty="0" err="1"/>
                        <a:t>ongoing,MRCT</a:t>
                      </a:r>
                      <a:r>
                        <a:rPr lang="en-US" altLang="zh-CN" sz="1400" dirty="0"/>
                        <a:t>,  China join</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Ph2 completed, MRCT, China join</a:t>
                      </a:r>
                      <a:endParaRPr lang="zh-CN"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Ph2 ongoing, China alone</a:t>
                      </a:r>
                      <a:endParaRPr lang="zh-CN" altLang="en-US"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049360"/>
                  </a:ext>
                </a:extLst>
              </a:tr>
              <a:tr h="370840">
                <a:tc>
                  <a:txBody>
                    <a:bodyPr/>
                    <a:lstStyle/>
                    <a:p>
                      <a:r>
                        <a:rPr lang="en-US" altLang="zh-CN" sz="1600" b="1"/>
                        <a:t>Target population</a:t>
                      </a:r>
                      <a:endParaRPr lang="zh-CN" altLang="en-US" sz="1600" b="1"/>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altLang="zh-CN" sz="1400" err="1"/>
                        <a:t>SSc</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err="1"/>
                        <a:t>SSc</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err="1"/>
                        <a:t>SSc</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err="1"/>
                        <a:t>SSc</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err="1"/>
                        <a:t>SSc</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err="1"/>
                        <a:t>SSc</a:t>
                      </a:r>
                      <a:endParaRPr lang="zh-CN" altLang="en-US" sz="140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653729"/>
                  </a:ext>
                </a:extLst>
              </a:tr>
              <a:tr h="370840">
                <a:tc>
                  <a:txBody>
                    <a:bodyPr/>
                    <a:lstStyle/>
                    <a:p>
                      <a:r>
                        <a:rPr lang="en-US" altLang="zh-CN" sz="1600" b="1"/>
                        <a:t>Primary endpoint</a:t>
                      </a:r>
                      <a:endParaRPr lang="zh-CN" altLang="en-US" sz="1600" b="1"/>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altLang="zh-CN" sz="1400"/>
                        <a:t>Time to disease progression or death</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Change in </a:t>
                      </a:r>
                      <a:r>
                        <a:rPr lang="en-US" altLang="zh-CN" sz="1400" err="1"/>
                        <a:t>mRSS</a:t>
                      </a:r>
                      <a:r>
                        <a:rPr lang="en-US" altLang="zh-CN" sz="1400"/>
                        <a:t> score at W48</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a:t>Change in </a:t>
                      </a:r>
                      <a:r>
                        <a:rPr lang="en-US" altLang="zh-CN" sz="1400" err="1"/>
                        <a:t>mRSS</a:t>
                      </a:r>
                      <a:r>
                        <a:rPr lang="en-US" altLang="zh-CN" sz="1400"/>
                        <a:t> score at W24</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Number of responders based on at W52</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Annual rate of decline in FVC at W48</a:t>
                      </a:r>
                      <a:endParaRPr lang="zh-CN" altLang="en-US" sz="1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Change in </a:t>
                      </a:r>
                      <a:r>
                        <a:rPr lang="en-US" altLang="zh-CN" sz="1400" dirty="0" err="1"/>
                        <a:t>mRSS</a:t>
                      </a:r>
                      <a:r>
                        <a:rPr lang="en-US" altLang="zh-CN" sz="1400" dirty="0"/>
                        <a:t> score at W48</a:t>
                      </a:r>
                      <a:endParaRPr lang="zh-CN" altLang="en-US"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6246572"/>
                  </a:ext>
                </a:extLst>
              </a:tr>
            </a:tbl>
          </a:graphicData>
        </a:graphic>
      </p:graphicFrame>
    </p:spTree>
    <p:extLst>
      <p:ext uri="{BB962C8B-B14F-4D97-AF65-F5344CB8AC3E}">
        <p14:creationId xmlns:p14="http://schemas.microsoft.com/office/powerpoint/2010/main" val="3706720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39C71-6199-F095-E446-B48CF1E3204D}"/>
              </a:ext>
            </a:extLst>
          </p:cNvPr>
          <p:cNvSpPr>
            <a:spLocks noGrp="1"/>
          </p:cNvSpPr>
          <p:nvPr>
            <p:ph type="title"/>
          </p:nvPr>
        </p:nvSpPr>
        <p:spPr>
          <a:xfrm>
            <a:off x="129311" y="186785"/>
            <a:ext cx="11233151" cy="720000"/>
          </a:xfrm>
        </p:spPr>
        <p:txBody>
          <a:bodyPr/>
          <a:lstStyle/>
          <a:p>
            <a:r>
              <a:rPr lang="en-US"/>
              <a:t>Considerations for Primary Endpoint Selection</a:t>
            </a:r>
          </a:p>
        </p:txBody>
      </p:sp>
      <p:sp>
        <p:nvSpPr>
          <p:cNvPr id="6" name="Footer Placeholder 5">
            <a:extLst>
              <a:ext uri="{FF2B5EF4-FFF2-40B4-BE49-F238E27FC236}">
                <a16:creationId xmlns:a16="http://schemas.microsoft.com/office/drawing/2014/main" id="{BD6D6429-CCB4-E327-BC11-109B59EF4ABB}"/>
              </a:ext>
            </a:extLst>
          </p:cNvPr>
          <p:cNvSpPr>
            <a:spLocks noGrp="1"/>
          </p:cNvSpPr>
          <p:nvPr>
            <p:ph type="ftr" sz="quarter" idx="21"/>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 ONLY FOR INTERNAL USE </a:t>
            </a:r>
          </a:p>
        </p:txBody>
      </p:sp>
      <p:graphicFrame>
        <p:nvGraphicFramePr>
          <p:cNvPr id="12" name="Table 11">
            <a:extLst>
              <a:ext uri="{FF2B5EF4-FFF2-40B4-BE49-F238E27FC236}">
                <a16:creationId xmlns:a16="http://schemas.microsoft.com/office/drawing/2014/main" id="{13AE4D38-C3E2-3D29-B64E-D76C5AFE4E19}"/>
              </a:ext>
            </a:extLst>
          </p:cNvPr>
          <p:cNvGraphicFramePr>
            <a:graphicFrameLocks noGrp="1"/>
          </p:cNvGraphicFramePr>
          <p:nvPr/>
        </p:nvGraphicFramePr>
        <p:xfrm>
          <a:off x="129311" y="649722"/>
          <a:ext cx="11933376" cy="4861560"/>
        </p:xfrm>
        <a:graphic>
          <a:graphicData uri="http://schemas.openxmlformats.org/drawingml/2006/table">
            <a:tbl>
              <a:tblPr firstRow="1" bandRow="1">
                <a:tableStyleId>{5C22544A-7EE6-4342-B048-85BDC9FD1C3A}</a:tableStyleId>
              </a:tblPr>
              <a:tblGrid>
                <a:gridCol w="1262689">
                  <a:extLst>
                    <a:ext uri="{9D8B030D-6E8A-4147-A177-3AD203B41FA5}">
                      <a16:colId xmlns:a16="http://schemas.microsoft.com/office/drawing/2014/main" val="3036688841"/>
                    </a:ext>
                  </a:extLst>
                </a:gridCol>
                <a:gridCol w="5337600">
                  <a:extLst>
                    <a:ext uri="{9D8B030D-6E8A-4147-A177-3AD203B41FA5}">
                      <a16:colId xmlns:a16="http://schemas.microsoft.com/office/drawing/2014/main" val="204980695"/>
                    </a:ext>
                  </a:extLst>
                </a:gridCol>
                <a:gridCol w="5333087">
                  <a:extLst>
                    <a:ext uri="{9D8B030D-6E8A-4147-A177-3AD203B41FA5}">
                      <a16:colId xmlns:a16="http://schemas.microsoft.com/office/drawing/2014/main" val="643828767"/>
                    </a:ext>
                  </a:extLst>
                </a:gridCol>
              </a:tblGrid>
              <a:tr h="275930">
                <a:tc>
                  <a:txBody>
                    <a:bodyPr/>
                    <a:lstStyle/>
                    <a:p>
                      <a:endParaRPr lang="de-DE" sz="1600">
                        <a:latin typeface="+mn-lt"/>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de-DE" sz="1600">
                          <a:latin typeface="+mn-lt"/>
                        </a:rPr>
                        <a:t>Time </a:t>
                      </a:r>
                      <a:r>
                        <a:rPr lang="de-DE" sz="1600" err="1">
                          <a:latin typeface="+mn-lt"/>
                        </a:rPr>
                        <a:t>to</a:t>
                      </a:r>
                      <a:r>
                        <a:rPr lang="de-DE" sz="1600">
                          <a:latin typeface="+mn-lt"/>
                        </a:rPr>
                        <a:t> Disease Progression</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de-DE" sz="1600">
                          <a:latin typeface="+mn-lt"/>
                        </a:rPr>
                        <a:t>rCRISS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4189345203"/>
                  </a:ext>
                </a:extLst>
              </a:tr>
              <a:tr h="1287672">
                <a:tc>
                  <a:txBody>
                    <a:bodyPr/>
                    <a:lstStyle/>
                    <a:p>
                      <a:r>
                        <a:rPr lang="de-DE" sz="1300">
                          <a:latin typeface="+mn-lt"/>
                        </a:rPr>
                        <a:t>General</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300" b="0" kern="1200">
                          <a:solidFill>
                            <a:schemeClr val="accent2">
                              <a:lumMod val="75000"/>
                            </a:schemeClr>
                          </a:solidFill>
                          <a:effectLst/>
                          <a:latin typeface="+mn-lt"/>
                        </a:rPr>
                        <a:t>Focus on disease worsening </a:t>
                      </a:r>
                      <a:r>
                        <a:rPr lang="en-US" sz="1300" b="0" kern="1200">
                          <a:solidFill>
                            <a:schemeClr val="accent2">
                              <a:lumMod val="75000"/>
                            </a:schemeClr>
                          </a:solidFill>
                          <a:effectLst/>
                          <a:latin typeface="+mn-lt"/>
                          <a:sym typeface="Wingdings" panose="05000000000000000000" pitchFamily="2" charset="2"/>
                        </a:rPr>
                        <a:t> easier to interpret and often used in other indications</a:t>
                      </a:r>
                    </a:p>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300">
                          <a:solidFill>
                            <a:schemeClr val="accent2">
                              <a:lumMod val="75000"/>
                            </a:schemeClr>
                          </a:solidFill>
                          <a:effectLst/>
                          <a:latin typeface="+mn-lt"/>
                        </a:rPr>
                        <a:t>Relatively easy to implement and adjudicate. Lower risk due to fewer components.</a:t>
                      </a:r>
                    </a:p>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300" b="1" kern="1200">
                          <a:solidFill>
                            <a:schemeClr val="accent2">
                              <a:lumMod val="75000"/>
                            </a:schemeClr>
                          </a:solidFill>
                          <a:effectLst/>
                          <a:latin typeface="+mn-lt"/>
                          <a:sym typeface="Wingdings" panose="05000000000000000000" pitchFamily="2" charset="2"/>
                        </a:rPr>
                        <a:t>Can be used for all </a:t>
                      </a:r>
                      <a:r>
                        <a:rPr lang="en-US" sz="1300" b="1" kern="1200" err="1">
                          <a:solidFill>
                            <a:schemeClr val="accent2">
                              <a:lumMod val="75000"/>
                            </a:schemeClr>
                          </a:solidFill>
                          <a:effectLst/>
                          <a:latin typeface="+mn-lt"/>
                          <a:sym typeface="Wingdings" panose="05000000000000000000" pitchFamily="2" charset="2"/>
                        </a:rPr>
                        <a:t>SSc</a:t>
                      </a:r>
                      <a:r>
                        <a:rPr lang="en-US" sz="1300" b="1" kern="1200">
                          <a:solidFill>
                            <a:schemeClr val="accent2">
                              <a:lumMod val="75000"/>
                            </a:schemeClr>
                          </a:solidFill>
                          <a:effectLst/>
                          <a:latin typeface="+mn-lt"/>
                          <a:sym typeface="Wingdings" panose="05000000000000000000" pitchFamily="2" charset="2"/>
                        </a:rPr>
                        <a:t> pts</a:t>
                      </a:r>
                    </a:p>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300" b="0" kern="1200">
                          <a:solidFill>
                            <a:srgbClr val="FF0000"/>
                          </a:solidFill>
                          <a:effectLst/>
                          <a:latin typeface="+mn-lt"/>
                        </a:rPr>
                        <a:t>Not yet used as primary endpoint in </a:t>
                      </a:r>
                      <a:r>
                        <a:rPr lang="en-US" sz="1300" b="0" kern="1200" err="1">
                          <a:solidFill>
                            <a:srgbClr val="FF0000"/>
                          </a:solidFill>
                          <a:effectLst/>
                          <a:latin typeface="+mn-lt"/>
                        </a:rPr>
                        <a:t>SSc</a:t>
                      </a:r>
                      <a:r>
                        <a:rPr lang="en-US" sz="1300" b="0" kern="1200">
                          <a:solidFill>
                            <a:srgbClr val="FF0000"/>
                          </a:solidFill>
                          <a:effectLst/>
                          <a:latin typeface="+mn-lt"/>
                        </a:rPr>
                        <a:t> (except in stem cell transplant trials): may not fully capture the multi-system nature of </a:t>
                      </a:r>
                      <a:r>
                        <a:rPr lang="en-US" sz="1300" b="0" kern="1200" err="1">
                          <a:solidFill>
                            <a:srgbClr val="FF0000"/>
                          </a:solidFill>
                          <a:effectLst/>
                          <a:latin typeface="+mn-lt"/>
                        </a:rPr>
                        <a:t>SSc</a:t>
                      </a:r>
                      <a:r>
                        <a:rPr lang="en-US" sz="1300" b="0" kern="1200">
                          <a:solidFill>
                            <a:srgbClr val="FF0000"/>
                          </a:solidFill>
                          <a:effectLst/>
                          <a:latin typeface="+mn-lt"/>
                        </a:rPr>
                        <a:t> or improvements in QoL</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Wingdings" panose="05000000000000000000" pitchFamily="2" charset="2"/>
                        <a:buChar char="§"/>
                      </a:pPr>
                      <a:r>
                        <a:rPr lang="en-US" sz="1300" b="0" kern="1200">
                          <a:solidFill>
                            <a:schemeClr val="accent2">
                              <a:lumMod val="75000"/>
                            </a:schemeClr>
                          </a:solidFill>
                          <a:effectLst/>
                          <a:latin typeface="+mn-lt"/>
                        </a:rPr>
                        <a:t>More comprehensive and patient-centered</a:t>
                      </a:r>
                    </a:p>
                    <a:p>
                      <a:pPr marL="171450" lvl="0" indent="-171450" algn="l">
                        <a:buFont typeface="Wingdings" panose="05000000000000000000" pitchFamily="2" charset="2"/>
                        <a:buChar char="§"/>
                      </a:pPr>
                      <a:r>
                        <a:rPr lang="en-US" sz="1300" b="0" kern="1200">
                          <a:solidFill>
                            <a:schemeClr val="accent2">
                              <a:lumMod val="75000"/>
                            </a:schemeClr>
                          </a:solidFill>
                          <a:effectLst/>
                          <a:latin typeface="+mn-lt"/>
                        </a:rPr>
                        <a:t>Captures "improvement" which is what rheumatologists want to offer patients</a:t>
                      </a:r>
                    </a:p>
                    <a:p>
                      <a:pPr marL="171450" indent="-171450" algn="l">
                        <a:buFont typeface="Wingdings" panose="05000000000000000000" pitchFamily="2" charset="2"/>
                        <a:buChar char="§"/>
                      </a:pPr>
                      <a:r>
                        <a:rPr lang="en-US" sz="1300" b="1" kern="1200">
                          <a:solidFill>
                            <a:srgbClr val="FF0000"/>
                          </a:solidFill>
                          <a:effectLst/>
                          <a:latin typeface="+mn-lt"/>
                        </a:rPr>
                        <a:t>Created only for </a:t>
                      </a:r>
                      <a:r>
                        <a:rPr lang="en-US" sz="1300" b="1" kern="1200" err="1">
                          <a:solidFill>
                            <a:srgbClr val="FF0000"/>
                          </a:solidFill>
                          <a:effectLst/>
                          <a:latin typeface="+mn-lt"/>
                        </a:rPr>
                        <a:t>dcSSc</a:t>
                      </a:r>
                      <a:r>
                        <a:rPr lang="en-US" sz="1300" b="1" kern="1200">
                          <a:solidFill>
                            <a:srgbClr val="FF0000"/>
                          </a:solidFill>
                          <a:effectLst/>
                          <a:latin typeface="+mn-lt"/>
                        </a:rPr>
                        <a:t> pts</a:t>
                      </a:r>
                    </a:p>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300">
                          <a:solidFill>
                            <a:srgbClr val="FF0000"/>
                          </a:solidFill>
                          <a:effectLst/>
                          <a:latin typeface="+mn-lt"/>
                        </a:rPr>
                        <a:t>Challenging due to multiple domains and thresholds. Higher risk due to reliance on multiple domains.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4766646"/>
                  </a:ext>
                </a:extLst>
              </a:tr>
              <a:tr h="436889">
                <a:tc>
                  <a:txBody>
                    <a:bodyPr/>
                    <a:lstStyle/>
                    <a:p>
                      <a:r>
                        <a:rPr lang="de-DE" sz="1300" b="0">
                          <a:latin typeface="+mn-lt"/>
                        </a:rPr>
                        <a:t>Patient Centricity</a:t>
                      </a:r>
                      <a:endParaRPr lang="de-DE" sz="1300" b="0" err="1">
                        <a:latin typeface="+mn-lt"/>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00">
                          <a:solidFill>
                            <a:schemeClr val="accent1"/>
                          </a:solidFill>
                          <a:effectLst/>
                          <a:latin typeface="+mn-lt"/>
                        </a:rPr>
                        <a:t>Includes multiple progression criteria. Limited focus on patient-reported outcomes.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00">
                          <a:solidFill>
                            <a:schemeClr val="accent1"/>
                          </a:solidFill>
                          <a:effectLst/>
                          <a:latin typeface="+mn-lt"/>
                        </a:rPr>
                        <a:t>Covers multi-system involvement and patient reported outcomes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9781620"/>
                  </a:ext>
                </a:extLst>
              </a:tr>
              <a:tr h="436889">
                <a:tc>
                  <a:txBody>
                    <a:bodyPr/>
                    <a:lstStyle/>
                    <a:p>
                      <a:r>
                        <a:rPr lang="de-DE" sz="1300">
                          <a:latin typeface="+mn-lt"/>
                        </a:rPr>
                        <a:t>Regulatory</a:t>
                      </a:r>
                    </a:p>
                    <a:p>
                      <a:r>
                        <a:rPr lang="de-DE" sz="1300">
                          <a:latin typeface="+mn-lt"/>
                        </a:rPr>
                        <a:t>Acceptance</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00">
                          <a:solidFill>
                            <a:srgbClr val="FF0000"/>
                          </a:solidFill>
                          <a:effectLst/>
                          <a:latin typeface="+mn-lt"/>
                        </a:rPr>
                        <a:t>Lack of precedence except for </a:t>
                      </a:r>
                      <a:r>
                        <a:rPr lang="en-US" sz="1300" err="1">
                          <a:solidFill>
                            <a:srgbClr val="FF0000"/>
                          </a:solidFill>
                          <a:effectLst/>
                          <a:latin typeface="+mn-lt"/>
                        </a:rPr>
                        <a:t>haematopoetic</a:t>
                      </a:r>
                      <a:r>
                        <a:rPr lang="en-US" sz="1300">
                          <a:solidFill>
                            <a:srgbClr val="FF0000"/>
                          </a:solidFill>
                          <a:effectLst/>
                          <a:latin typeface="+mn-lt"/>
                        </a:rPr>
                        <a:t> stem cell transplant in </a:t>
                      </a:r>
                      <a:r>
                        <a:rPr lang="en-US" sz="1300" err="1">
                          <a:solidFill>
                            <a:srgbClr val="FF0000"/>
                          </a:solidFill>
                          <a:effectLst/>
                          <a:latin typeface="+mn-lt"/>
                        </a:rPr>
                        <a:t>SSc</a:t>
                      </a:r>
                      <a:endParaRPr lang="en-US" sz="1300">
                        <a:solidFill>
                          <a:srgbClr val="FF0000"/>
                        </a:solidFill>
                        <a:effectLst/>
                        <a:latin typeface="+mn-lt"/>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00">
                          <a:solidFill>
                            <a:schemeClr val="accent2">
                              <a:lumMod val="75000"/>
                            </a:schemeClr>
                          </a:solidFill>
                          <a:effectLst/>
                          <a:latin typeface="+mn-lt"/>
                          <a:ea typeface="Times New Roman" panose="02020603050405020304" pitchFamily="18" charset="0"/>
                          <a:cs typeface="Aptos" panose="020B0004020202020204" pitchFamily="34" charset="0"/>
                        </a:rPr>
                        <a:t>FDA buy-in with qualification plan implemented in PhIII DAISY trial (anifrolumab, TLR: Q4/2026) </a:t>
                      </a:r>
                      <a:endParaRPr lang="en-US" sz="1300">
                        <a:solidFill>
                          <a:schemeClr val="accent2">
                            <a:lumMod val="75000"/>
                          </a:schemeClr>
                        </a:solidFill>
                        <a:effectLst/>
                        <a:latin typeface="+mn-lt"/>
                        <a:ea typeface="DengXian"/>
                        <a:cs typeface="Aptos" panose="020B0004020202020204" pitchFamily="34"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2922813"/>
                  </a:ext>
                </a:extLst>
              </a:tr>
              <a:tr h="436889">
                <a:tc>
                  <a:txBody>
                    <a:bodyPr/>
                    <a:lstStyle/>
                    <a:p>
                      <a:r>
                        <a:rPr lang="de-DE" sz="1300">
                          <a:latin typeface="+mn-lt"/>
                        </a:rPr>
                        <a:t>Clinical Concept</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00">
                          <a:solidFill>
                            <a:schemeClr val="accent1"/>
                          </a:solidFill>
                          <a:effectLst/>
                          <a:latin typeface="+mn-lt"/>
                        </a:rPr>
                        <a:t>Focuses on disease progression and worsening.</a:t>
                      </a:r>
                    </a:p>
                    <a:p>
                      <a:endParaRPr lang="de-DE" sz="1300">
                        <a:solidFill>
                          <a:schemeClr val="accent1"/>
                        </a:solidFill>
                        <a:latin typeface="+mn-lt"/>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00">
                          <a:solidFill>
                            <a:schemeClr val="accent1"/>
                          </a:solidFill>
                          <a:effectLst/>
                          <a:latin typeface="+mn-lt"/>
                        </a:rPr>
                        <a:t>Captures improvement (Step 2) and absence of severe disease worsening events (Step 1) </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192214"/>
                  </a:ext>
                </a:extLst>
              </a:tr>
              <a:tr h="71281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b="0">
                          <a:effectLst/>
                          <a:latin typeface="+mn-lt"/>
                        </a:rPr>
                        <a:t>Clinical Relevance</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00" b="1">
                          <a:solidFill>
                            <a:schemeClr val="accent2">
                              <a:lumMod val="75000"/>
                            </a:schemeClr>
                          </a:solidFill>
                          <a:effectLst/>
                          <a:latin typeface="+mn-lt"/>
                        </a:rPr>
                        <a:t>Status June 2025: valued higher by experts, physicians, patients &amp; payer</a:t>
                      </a:r>
                    </a:p>
                    <a:p>
                      <a:endParaRPr lang="de-DE" sz="1300">
                        <a:solidFill>
                          <a:schemeClr val="accent2">
                            <a:lumMod val="75000"/>
                          </a:schemeClr>
                        </a:solidFill>
                        <a:latin typeface="+mn-lt"/>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00">
                          <a:solidFill>
                            <a:srgbClr val="00B050"/>
                          </a:solidFill>
                          <a:effectLst/>
                          <a:latin typeface="+mn-lt"/>
                          <a:ea typeface="Times New Roman" panose="02020603050405020304" pitchFamily="18" charset="0"/>
                          <a:cs typeface="Aptos" panose="020B0004020202020204" pitchFamily="34" charset="0"/>
                        </a:rPr>
                        <a:t>Author of </a:t>
                      </a:r>
                      <a:r>
                        <a:rPr lang="en-US" sz="1300" err="1">
                          <a:solidFill>
                            <a:srgbClr val="00B050"/>
                          </a:solidFill>
                          <a:effectLst/>
                          <a:latin typeface="+mn-lt"/>
                          <a:ea typeface="Times New Roman" panose="02020603050405020304" pitchFamily="18" charset="0"/>
                          <a:cs typeface="Aptos" panose="020B0004020202020204" pitchFamily="34" charset="0"/>
                        </a:rPr>
                        <a:t>rCRISS</a:t>
                      </a:r>
                      <a:r>
                        <a:rPr lang="en-US" sz="1300">
                          <a:solidFill>
                            <a:srgbClr val="00B050"/>
                          </a:solidFill>
                          <a:effectLst/>
                          <a:latin typeface="+mn-lt"/>
                          <a:ea typeface="Times New Roman" panose="02020603050405020304" pitchFamily="18" charset="0"/>
                          <a:cs typeface="Aptos" panose="020B0004020202020204" pitchFamily="34" charset="0"/>
                        </a:rPr>
                        <a:t> (Prof. Khana): Clinical relevance to be demonstrated. However</a:t>
                      </a:r>
                      <a:r>
                        <a:rPr lang="en-US" sz="1300">
                          <a:solidFill>
                            <a:schemeClr val="accent2">
                              <a:lumMod val="75000"/>
                            </a:schemeClr>
                          </a:solidFill>
                          <a:effectLst/>
                          <a:latin typeface="+mn-lt"/>
                          <a:ea typeface="Times New Roman" panose="02020603050405020304" pitchFamily="18" charset="0"/>
                          <a:cs typeface="Aptos" panose="020B0004020202020204" pitchFamily="34" charset="0"/>
                        </a:rPr>
                        <a:t>, in rheumatology many of the composite EPs lack it, e.g. ACR20, BICLA, SRI4 etc. </a:t>
                      </a:r>
                      <a:endParaRPr lang="en-US" sz="1300">
                        <a:solidFill>
                          <a:schemeClr val="accent2">
                            <a:lumMod val="75000"/>
                          </a:schemeClr>
                        </a:solidFill>
                        <a:effectLst/>
                        <a:latin typeface="+mn-lt"/>
                        <a:ea typeface="DengXian"/>
                        <a:cs typeface="Aptos" panose="020B0004020202020204" pitchFamily="34" charset="0"/>
                      </a:endParaRP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1644763"/>
                  </a:ext>
                </a:extLst>
              </a:tr>
              <a:tr h="45988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b="0">
                          <a:effectLst/>
                          <a:latin typeface="+mn-lt"/>
                        </a:rPr>
                        <a:t>Timelines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300" b="1" kern="1200">
                          <a:solidFill>
                            <a:srgbClr val="00B050"/>
                          </a:solidFill>
                          <a:effectLst/>
                          <a:latin typeface="+mj-lt"/>
                          <a:ea typeface="+mn-ea"/>
                          <a:cs typeface="+mn-cs"/>
                        </a:rPr>
                        <a:t>12 months, </a:t>
                      </a:r>
                      <a:r>
                        <a:rPr lang="en-US" sz="1300" b="1" kern="1200">
                          <a:solidFill>
                            <a:srgbClr val="FF0000"/>
                          </a:solidFill>
                          <a:effectLst/>
                          <a:latin typeface="+mj-lt"/>
                          <a:ea typeface="+mn-ea"/>
                          <a:cs typeface="+mn-cs"/>
                        </a:rPr>
                        <a:t>but only if required event rate is fulfilled</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300" b="1" kern="1200">
                          <a:solidFill>
                            <a:schemeClr val="accent1"/>
                          </a:solidFill>
                          <a:effectLst/>
                          <a:latin typeface="+mj-lt"/>
                          <a:ea typeface="+mn-ea"/>
                          <a:cs typeface="+mn-cs"/>
                        </a:rPr>
                        <a:t>Current design with 560 pts:  </a:t>
                      </a:r>
                      <a:r>
                        <a:rPr lang="en-US" sz="1300" b="1" kern="1200">
                          <a:solidFill>
                            <a:srgbClr val="FF0000"/>
                          </a:solidFill>
                          <a:effectLst/>
                          <a:latin typeface="+mj-lt"/>
                          <a:ea typeface="+mn-ea"/>
                          <a:cs typeface="Times New Roman"/>
                        </a:rPr>
                        <a:t>≥ </a:t>
                      </a:r>
                      <a:r>
                        <a:rPr lang="en-US" sz="1300" b="1" kern="1200">
                          <a:solidFill>
                            <a:schemeClr val="accent1"/>
                          </a:solidFill>
                          <a:effectLst/>
                          <a:latin typeface="+mj-lt"/>
                          <a:ea typeface="+mn-ea"/>
                          <a:cs typeface="Times New Roman"/>
                        </a:rPr>
                        <a:t>3.7 years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lgn="l">
                        <a:buFont typeface="Wingdings" panose="05000000000000000000" pitchFamily="2" charset="2"/>
                        <a:buChar char="§"/>
                      </a:pPr>
                      <a:r>
                        <a:rPr lang="en-US" sz="1300" b="1" kern="1200">
                          <a:solidFill>
                            <a:schemeClr val="accent2">
                              <a:lumMod val="75000"/>
                            </a:schemeClr>
                          </a:solidFill>
                          <a:effectLst/>
                          <a:latin typeface="+mn-lt"/>
                        </a:rPr>
                        <a:t>12 months</a:t>
                      </a:r>
                    </a:p>
                    <a:p>
                      <a:pPr marL="171450" indent="-171450" algn="l">
                        <a:buFont typeface="Wingdings" panose="05000000000000000000" pitchFamily="2" charset="2"/>
                        <a:buChar char="§"/>
                      </a:pPr>
                      <a:r>
                        <a:rPr lang="en-US" sz="1300" b="1" kern="1200">
                          <a:solidFill>
                            <a:schemeClr val="accent1"/>
                          </a:solidFill>
                          <a:effectLst/>
                          <a:latin typeface="+mn-lt"/>
                        </a:rPr>
                        <a:t>Current design with 462 pts: 3.4 years</a:t>
                      </a:r>
                    </a:p>
                  </a:txBody>
                  <a:tcPr marL="121920" marR="12192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5667895"/>
                  </a:ext>
                </a:extLst>
              </a:tr>
            </a:tbl>
          </a:graphicData>
        </a:graphic>
      </p:graphicFrame>
    </p:spTree>
    <p:extLst>
      <p:ext uri="{BB962C8B-B14F-4D97-AF65-F5344CB8AC3E}">
        <p14:creationId xmlns:p14="http://schemas.microsoft.com/office/powerpoint/2010/main" val="23282983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DJUSTMENTS" val="0"/>
</p:tagLst>
</file>

<file path=ppt/tags/tag5.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6.xml><?xml version="1.0" encoding="utf-8"?>
<p:tagLst xmlns:a="http://schemas.openxmlformats.org/drawingml/2006/main" xmlns:r="http://schemas.openxmlformats.org/officeDocument/2006/relationships" xmlns:p="http://schemas.openxmlformats.org/presentationml/2006/main">
  <p:tag name="ADJUSTMENTS" val="0"/>
</p:tagLst>
</file>

<file path=ppt/tags/tag7.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8.xml><?xml version="1.0" encoding="utf-8"?>
<p:tagLst xmlns:a="http://schemas.openxmlformats.org/drawingml/2006/main" xmlns:r="http://schemas.openxmlformats.org/officeDocument/2006/relationships" xmlns:p="http://schemas.openxmlformats.org/presentationml/2006/main">
  <p:tag name="ADJUSTMENTS" val="3.162912"/>
</p:tagLst>
</file>

<file path=ppt/tags/tag9.xml><?xml version="1.0" encoding="utf-8"?>
<p:tagLst xmlns:a="http://schemas.openxmlformats.org/drawingml/2006/main" xmlns:r="http://schemas.openxmlformats.org/officeDocument/2006/relationships" xmlns:p="http://schemas.openxmlformats.org/presentationml/2006/main">
  <p:tag name="ADJUSTMENTS" val="3.162912"/>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3.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88785"/>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6.xml><?xml version="1.0" encoding="utf-8"?>
<a:theme xmlns:a="http://schemas.openxmlformats.org/drawingml/2006/main" name="Boehringer Ingelheim 16:9_Opt 1_without confidentiality notic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2700">
          <a:solidFill>
            <a:srgbClr val="898885"/>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0089264629A9345B70E065414DFB55F" ma:contentTypeVersion="13" ma:contentTypeDescription="Create a new document." ma:contentTypeScope="" ma:versionID="5b3ecd571f2f479d86935419f04ebf61">
  <xsd:schema xmlns:xsd="http://www.w3.org/2001/XMLSchema" xmlns:xs="http://www.w3.org/2001/XMLSchema" xmlns:p="http://schemas.microsoft.com/office/2006/metadata/properties" xmlns:ns2="545a336c-45ba-4242-ba8b-2a24159e5b92" xmlns:ns3="6105e471-a007-4c69-b034-cfd36128fabd" targetNamespace="http://schemas.microsoft.com/office/2006/metadata/properties" ma:root="true" ma:fieldsID="407e22b21c13b20270037f8773d43d34" ns2:_="" ns3:_="">
    <xsd:import namespace="545a336c-45ba-4242-ba8b-2a24159e5b92"/>
    <xsd:import namespace="6105e471-a007-4c69-b034-cfd36128fab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a336c-45ba-4242-ba8b-2a24159e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05e471-a007-4c69-b034-cfd36128fab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E89AE9-096C-4008-8F14-FF16F0553995}">
  <ds:schemaRefs>
    <ds:schemaRef ds:uri="http://schemas.microsoft.com/sharepoint/v3/contenttype/forms"/>
  </ds:schemaRefs>
</ds:datastoreItem>
</file>

<file path=customXml/itemProps2.xml><?xml version="1.0" encoding="utf-8"?>
<ds:datastoreItem xmlns:ds="http://schemas.openxmlformats.org/officeDocument/2006/customXml" ds:itemID="{5D0452D6-F2D9-4FC2-9863-71052AA7BDFA}">
  <ds:schemaRefs>
    <ds:schemaRef ds:uri="http://purl.org/dc/elements/1.1/"/>
    <ds:schemaRef ds:uri="http://schemas.microsoft.com/office/2006/metadata/properties"/>
    <ds:schemaRef ds:uri="6105e471-a007-4c69-b034-cfd36128fabd"/>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545a336c-45ba-4242-ba8b-2a24159e5b92"/>
    <ds:schemaRef ds:uri="http://www.w3.org/XML/1998/namespace"/>
    <ds:schemaRef ds:uri="http://purl.org/dc/dcmitype/"/>
  </ds:schemaRefs>
</ds:datastoreItem>
</file>

<file path=customXml/itemProps3.xml><?xml version="1.0" encoding="utf-8"?>
<ds:datastoreItem xmlns:ds="http://schemas.openxmlformats.org/officeDocument/2006/customXml" ds:itemID="{E50293E2-1D30-4E9A-B78B-048F533F0C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5a336c-45ba-4242-ba8b-2a24159e5b92"/>
    <ds:schemaRef ds:uri="6105e471-a007-4c69-b034-cfd36128fa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104</TotalTime>
  <Words>3987</Words>
  <Application>Microsoft Office PowerPoint</Application>
  <PresentationFormat>宽屏</PresentationFormat>
  <Paragraphs>572</Paragraphs>
  <Slides>29</Slides>
  <Notes>12</Notes>
  <HiddenSlides>2</HiddenSlides>
  <MMClips>0</MMClips>
  <ScaleCrop>false</ScaleCrop>
  <HeadingPairs>
    <vt:vector size="8" baseType="variant">
      <vt:variant>
        <vt:lpstr>已用的字体</vt:lpstr>
      </vt:variant>
      <vt:variant>
        <vt:i4>18</vt:i4>
      </vt:variant>
      <vt:variant>
        <vt:lpstr>主题</vt:lpstr>
      </vt:variant>
      <vt:variant>
        <vt:i4>6</vt:i4>
      </vt:variant>
      <vt:variant>
        <vt:lpstr>嵌入 OLE 服务器</vt:lpstr>
      </vt:variant>
      <vt:variant>
        <vt:i4>1</vt:i4>
      </vt:variant>
      <vt:variant>
        <vt:lpstr>幻灯片标题</vt:lpstr>
      </vt:variant>
      <vt:variant>
        <vt:i4>29</vt:i4>
      </vt:variant>
    </vt:vector>
  </HeadingPairs>
  <TitlesOfParts>
    <vt:vector size="54" baseType="lpstr">
      <vt:lpstr>-apple-system</vt:lpstr>
      <vt:lpstr>DengXian</vt:lpstr>
      <vt:lpstr>Microsoft YaHei</vt:lpstr>
      <vt:lpstr>OPPOSans B</vt:lpstr>
      <vt:lpstr>OPPOSans H</vt:lpstr>
      <vt:lpstr>OPPOSans M</vt:lpstr>
      <vt:lpstr>Arial</vt:lpstr>
      <vt:lpstr>BISans</vt:lpstr>
      <vt:lpstr>BISansBa</vt:lpstr>
      <vt:lpstr>BISansCond</vt:lpstr>
      <vt:lpstr>BISansOpti</vt:lpstr>
      <vt:lpstr>BISansOptiCond</vt:lpstr>
      <vt:lpstr>Boehringer Forward Head</vt:lpstr>
      <vt:lpstr>Boehringer Forward Text</vt:lpstr>
      <vt:lpstr>Calibri</vt:lpstr>
      <vt:lpstr>Symbol</vt:lpstr>
      <vt:lpstr>Times New Roman</vt:lpstr>
      <vt:lpstr>Wingdings</vt:lpstr>
      <vt:lpstr>1_Boehringer Ingelheim 16:9</vt:lpstr>
      <vt:lpstr>Boehringer Ingelheim 16:9</vt:lpstr>
      <vt:lpstr>2_Boehringer Ingelheim 16:9</vt:lpstr>
      <vt:lpstr>Office Theme</vt:lpstr>
      <vt:lpstr>3_Boehringer Ingelheim 16:9</vt:lpstr>
      <vt:lpstr>Boehringer Ingelheim 16:9_Opt 1_without confidentiality notice</vt:lpstr>
      <vt:lpstr>think-cell Slide</vt:lpstr>
      <vt:lpstr>China development strategy for Nerandomilast SSc indication</vt:lpstr>
      <vt:lpstr>PowerPoint 演示文稿</vt:lpstr>
      <vt:lpstr>Disease background</vt:lpstr>
      <vt:lpstr>Systemic sclerosis (SSc) is a persistent autoimmune rheumatic disorder affecting multiple organs, with significant unmet needs in therapeutic options.</vt:lpstr>
      <vt:lpstr>Supporting Evidence for Nerandomilast Development in SSc</vt:lpstr>
      <vt:lpstr>Preclinical evidence on Nerandomilast in SSc</vt:lpstr>
      <vt:lpstr>Evidence from subgroup analyses in patients with SSc-ILD (trial 1305-0023)</vt:lpstr>
      <vt:lpstr>In the SSc-ILD subgroup, nerandomilast showed numerically favorable trends in both primary and key secondary endpoints, despite the limited sample size</vt:lpstr>
      <vt:lpstr>Efficacy results across subgroups based on various ILD diagnoses</vt:lpstr>
      <vt:lpstr>The safety profile of nerandomilast in SSc-ILD subgroups was generally consistent with that in the overall trial population</vt:lpstr>
      <vt:lpstr>Summary </vt:lpstr>
      <vt:lpstr>SSc Ph3 (1305-0052) Study Design Overview</vt:lpstr>
      <vt:lpstr>1305-0052: Trial Design (as of Dec 2nd)</vt:lpstr>
      <vt:lpstr>1305-0052: Primary Endpoint and Key Secondary Endpoints</vt:lpstr>
      <vt:lpstr>Pre-CTA HAI feedbacks</vt:lpstr>
      <vt:lpstr>Question List</vt:lpstr>
      <vt:lpstr>Overview of Feedback Received from FDA, CDE, and PMDA Following the Pre-CTA HAI</vt:lpstr>
      <vt:lpstr>China CTA/EC/NDA considerations</vt:lpstr>
      <vt:lpstr>Team evaluation and proposal</vt:lpstr>
      <vt:lpstr>Nerandomilast (PDE4b inhibitor): Systemic Sclerosis (SSc) Development Plan</vt:lpstr>
      <vt:lpstr>Thank you</vt:lpstr>
      <vt:lpstr>Back up slides</vt:lpstr>
      <vt:lpstr>Anti-Inflammatory Effect of Nerandomilast Nerandomilast inhibits activation of multiple disease mediating inflammatory cells</vt:lpstr>
      <vt:lpstr>PowerPoint 演示文稿</vt:lpstr>
      <vt:lpstr>Nerandomilast suppresses endothelial activation and injury</vt:lpstr>
      <vt:lpstr>PowerPoint 演示文稿</vt:lpstr>
      <vt:lpstr>CONQUEST trial: ph2b in SSc-ILD, Nerandomilast and Amlitelimab </vt:lpstr>
      <vt:lpstr>Primary endpoint used in other SSc trials</vt:lpstr>
      <vt:lpstr>Considerations for Primary Endpoint Selection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lastModifiedBy>Wang,Dr.,Bo (HP Medicine) BII-CN-S</cp:lastModifiedBy>
  <cp:revision>1</cp:revision>
  <dcterms:created xsi:type="dcterms:W3CDTF">2023-11-09T09:11:57Z</dcterms:created>
  <dcterms:modified xsi:type="dcterms:W3CDTF">2025-12-14T10:15:37Z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0x01010040089264629A9345B70E065414DFB55F</vt:lpwstr>
  </property>
  <property fmtid="{D5CDD505-2E9C-101B-9397-08002B2CF9AE}" pid="3" name="MediaServiceImageTags">
    <vt:lpwstr/>
  </property>
</Properties>
</file>