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3.xml" ContentType="application/vnd.openxmlformats-officedocument.theme+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1.xml" ContentType="application/vnd.openxmlformats-officedocument.presentationml.comments+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comment2.xml" ContentType="application/vnd.openxmlformats-officedocument.presentationml.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comment3.xml" ContentType="application/vnd.openxmlformats-officedocument.presentationml.comments+xml"/>
  <Override PartName="/ppt/notesSlides/notesSlide20.xml" ContentType="application/vnd.openxmlformats-officedocument.presentationml.notesSlide+xml"/>
  <Override PartName="/ppt/comments/comment4.xml" ContentType="application/vnd.openxmlformats-officedocument.presentationml.comments+xml"/>
  <Override PartName="/ppt/notesSlides/notesSlide21.xml" ContentType="application/vnd.openxmlformats-officedocument.presentationml.notesSlide+xml"/>
  <Override PartName="/ppt/comments/comment5.xml" ContentType="application/vnd.openxmlformats-officedocument.presentationml.comments+xml"/>
  <Override PartName="/ppt/tags/tag4.xml" ContentType="application/vnd.openxmlformats-officedocument.presentationml.tags+xml"/>
  <Override PartName="/ppt/tags/tag5.xml" ContentType="application/vnd.openxmlformats-officedocument.presentationml.tags+xml"/>
  <Override PartName="/ppt/notesSlides/notesSlide22.xml" ContentType="application/vnd.openxmlformats-officedocument.presentationml.notesSlide+xml"/>
  <Override PartName="/ppt/comments/comment6.xml" ContentType="application/vnd.openxmlformats-officedocument.presentationml.comments+xml"/>
  <Override PartName="/ppt/notesSlides/notesSlide23.xml" ContentType="application/vnd.openxmlformats-officedocument.presentationml.notesSlide+xml"/>
  <Override PartName="/ppt/comments/comment7.xml" ContentType="application/vnd.openxmlformats-officedocument.presentationml.comments+xml"/>
  <Override PartName="/ppt/notesSlides/notesSlide24.xml" ContentType="application/vnd.openxmlformats-officedocument.presentationml.notesSlide+xml"/>
  <Override PartName="/ppt/comments/comment8.xml" ContentType="application/vnd.openxmlformats-officedocument.presentationml.comment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71" r:id="rId4"/>
    <p:sldMasterId id="2147483890" r:id="rId5"/>
    <p:sldMasterId id="2147483660" r:id="rId6"/>
    <p:sldMasterId id="2147483963" r:id="rId7"/>
  </p:sldMasterIdLst>
  <p:notesMasterIdLst>
    <p:notesMasterId r:id="rId36"/>
  </p:notesMasterIdLst>
  <p:handoutMasterIdLst>
    <p:handoutMasterId r:id="rId37"/>
  </p:handoutMasterIdLst>
  <p:sldIdLst>
    <p:sldId id="9801" r:id="rId8"/>
    <p:sldId id="2147474091" r:id="rId9"/>
    <p:sldId id="2147483640" r:id="rId10"/>
    <p:sldId id="2147483644" r:id="rId11"/>
    <p:sldId id="2768" r:id="rId12"/>
    <p:sldId id="258" r:id="rId13"/>
    <p:sldId id="2147483642" r:id="rId14"/>
    <p:sldId id="2147483630" r:id="rId15"/>
    <p:sldId id="2147483638" r:id="rId16"/>
    <p:sldId id="263" r:id="rId17"/>
    <p:sldId id="2147483620" r:id="rId18"/>
    <p:sldId id="2147483636" r:id="rId19"/>
    <p:sldId id="2147483645" r:id="rId20"/>
    <p:sldId id="2147483646" r:id="rId21"/>
    <p:sldId id="2147483641" r:id="rId22"/>
    <p:sldId id="2147483647" r:id="rId23"/>
    <p:sldId id="256" r:id="rId24"/>
    <p:sldId id="2147483629" r:id="rId25"/>
    <p:sldId id="2147483632" r:id="rId26"/>
    <p:sldId id="257" r:id="rId27"/>
    <p:sldId id="259" r:id="rId28"/>
    <p:sldId id="260" r:id="rId29"/>
    <p:sldId id="261" r:id="rId30"/>
    <p:sldId id="262" r:id="rId31"/>
    <p:sldId id="267" r:id="rId32"/>
    <p:sldId id="264" r:id="rId33"/>
    <p:sldId id="265" r:id="rId34"/>
    <p:sldId id="266" r:id="rId35"/>
  </p:sldIdLst>
  <p:sldSz cx="12192000" cy="6858000"/>
  <p:notesSz cx="6858000" cy="9144000"/>
  <p:embeddedFontLst>
    <p:embeddedFont>
      <p:font typeface="DengXian" panose="020B0604020202020204" charset="-122"/>
      <p:regular r:id="rId38"/>
      <p:bold r:id="rId39"/>
    </p:embeddedFont>
    <p:embeddedFont>
      <p:font typeface="Aptos Narrow" panose="020B0604020202020204" charset="0"/>
      <p:regular r:id="rId40"/>
      <p:bold r:id="rId41"/>
      <p:italic r:id="rId42"/>
      <p:boldItalic r:id="rId43"/>
    </p:embeddedFont>
    <p:embeddedFont>
      <p:font typeface="BISans" panose="020B0604020202020204" charset="0"/>
      <p:regular r:id="rId44"/>
      <p:italic r:id="rId45"/>
    </p:embeddedFont>
    <p:embeddedFont>
      <p:font typeface="Boehringer Forward Head" panose="020B0604020202020204" charset="0"/>
      <p:regular r:id="rId46"/>
      <p:bold r:id="rId47"/>
      <p:italic r:id="rId48"/>
      <p:boldItalic r:id="rId49"/>
    </p:embeddedFont>
    <p:embeddedFont>
      <p:font typeface="Boehringer Forward Text" panose="020B0604020202020204" charset="0"/>
      <p:regular r:id="rId50"/>
      <p:bold r:id="rId51"/>
      <p:italic r:id="rId52"/>
      <p:boldItalic r:id="rId53"/>
    </p:embeddedFont>
    <p:embeddedFont>
      <p:font typeface="Boehringer Headline" panose="020B0604020202020204" charset="0"/>
      <p:regular r:id="rId54"/>
      <p:bold r:id="rId55"/>
      <p:italic r:id="rId56"/>
      <p:boldItalic r:id="rId57"/>
    </p:embeddedFont>
    <p:embeddedFont>
      <p:font typeface="Cambria Math" panose="02040503050406030204" pitchFamily="18" charset="0"/>
      <p:regular r:id="rId58"/>
    </p:embeddedFont>
    <p:embeddedFont>
      <p:font typeface="Microsoft YaHei" panose="020B0503020204020204" pitchFamily="34" charset="-122"/>
      <p:regular r:id="rId59"/>
      <p:bold r:id="rId60"/>
    </p:embeddedFont>
    <p:embeddedFont>
      <p:font typeface="Open Sans Extrabold" panose="020B0604020202020204" charset="0"/>
      <p:bold r:id="rId61"/>
      <p:boldItalic r:id="rId62"/>
    </p:embeddedFont>
  </p:embeddedFontLst>
  <p:custDataLst>
    <p:tags r:id="rId6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NIS: CKD" id="{AA08E66F-718D-4436-8623-AEBA27634B0F}">
          <p14:sldIdLst>
            <p14:sldId id="9801"/>
            <p14:sldId id="2147474091"/>
            <p14:sldId id="2147483640"/>
            <p14:sldId id="2147483644"/>
            <p14:sldId id="2768"/>
            <p14:sldId id="258"/>
            <p14:sldId id="2147483642"/>
            <p14:sldId id="2147483630"/>
            <p14:sldId id="2147483638"/>
            <p14:sldId id="263"/>
            <p14:sldId id="2147483620"/>
            <p14:sldId id="2147483636"/>
          </p14:sldIdLst>
        </p14:section>
        <p14:section name="ECR: CVRR" id="{106AEA63-ED7B-477D-BF08-AE4701387177}">
          <p14:sldIdLst>
            <p14:sldId id="2147483645"/>
            <p14:sldId id="2147483646"/>
            <p14:sldId id="2147483641"/>
            <p14:sldId id="2147483647"/>
            <p14:sldId id="256"/>
            <p14:sldId id="2147483629"/>
            <p14:sldId id="2147483632"/>
            <p14:sldId id="257"/>
            <p14:sldId id="259"/>
            <p14:sldId id="260"/>
            <p14:sldId id="261"/>
            <p14:sldId id="262"/>
            <p14:sldId id="267"/>
            <p14:sldId id="264"/>
            <p14:sldId id="265"/>
            <p14:sldId id="266"/>
          </p14:sldIdLst>
        </p14:section>
        <p14:section name="Master Layouts" id="{F6135164-930C-4F17-8810-A4D7425EDECA}">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 initials="CV" lastIdx="3" clrIdx="0">
    <p:extLst>
      <p:ext uri="{19B8F6BF-5375-455C-9EA6-DF929625EA0E}">
        <p15:presenceInfo xmlns:p15="http://schemas.microsoft.com/office/powerpoint/2012/main" userId=" " providerId="None"/>
      </p:ext>
    </p:extLst>
  </p:cmAuthor>
  <p:cmAuthor id="2" name="Tan,Wenjing (HP Medicine) BII-CN-S" initials="WT" lastIdx="65" clrIdx="1">
    <p:extLst>
      <p:ext uri="{19B8F6BF-5375-455C-9EA6-DF929625EA0E}">
        <p15:presenceInfo xmlns:p15="http://schemas.microsoft.com/office/powerpoint/2012/main" userId="S::wenjing.tan@boehringer-ingelheim.com::c424e0fe-fde7-4df0-ae27-58d7452c23f9" providerId="AD"/>
      </p:ext>
    </p:extLst>
  </p:cmAuthor>
  <p:cmAuthor id="3" name="Fan,Dr.,Feng (HP Medicine) BII-CN-S" initials="F(MBCS" lastIdx="1" clrIdx="2">
    <p:extLst>
      <p:ext uri="{19B8F6BF-5375-455C-9EA6-DF929625EA0E}">
        <p15:presenceInfo xmlns:p15="http://schemas.microsoft.com/office/powerpoint/2012/main" userId="S::feng.fan@boehringer-ingelheim.com::56f1bf9d-6553-4f81-a57f-bcb9389b56d7" providerId="AD"/>
      </p:ext>
    </p:extLst>
  </p:cmAuthor>
  <p:cmAuthor id="4" name="Wu,Dr.,Tianmin (MED BDS) BII-CN-S" initials="W(BBCS" lastIdx="1" clrIdx="3">
    <p:extLst>
      <p:ext uri="{19B8F6BF-5375-455C-9EA6-DF929625EA0E}">
        <p15:presenceInfo xmlns:p15="http://schemas.microsoft.com/office/powerpoint/2012/main" userId="S::tianmin.wu@boehringer-ingelheim.com::0569a3dc-a509-4300-96d4-f0f913ec8544" providerId="AD"/>
      </p:ext>
    </p:extLst>
  </p:cmAuthor>
  <p:cmAuthor id="5" name="Li,Xiyan (MED BDS) BII-CN-S" initials="XL" lastIdx="6" clrIdx="4">
    <p:extLst>
      <p:ext uri="{19B8F6BF-5375-455C-9EA6-DF929625EA0E}">
        <p15:presenceInfo xmlns:p15="http://schemas.microsoft.com/office/powerpoint/2012/main" userId="S::xiyan.li@boehringer-ingelheim.com::4595c288-2547-4915-b4a0-c8dbf2900960" providerId="AD"/>
      </p:ext>
    </p:extLst>
  </p:cmAuthor>
  <p:cmAuthor id="6" name="zxSHA Xiong,Yanwen (HP Medicine) EXTERNAL" initials="YX" lastIdx="6" clrIdx="5">
    <p:extLst>
      <p:ext uri="{19B8F6BF-5375-455C-9EA6-DF929625EA0E}">
        <p15:presenceInfo xmlns:p15="http://schemas.microsoft.com/office/powerpoint/2012/main" userId="S::yanwen.xiong.ext@boehringer-ingelheim.com::c4388089-c179-4221-bb7e-33e3416ff773" providerId="AD"/>
      </p:ext>
    </p:extLst>
  </p:cmAuthor>
  <p:cmAuthor id="7" name="Wu,Songtao (HP Medicine) BII-CN-B" initials="SW" lastIdx="1" clrIdx="6">
    <p:extLst>
      <p:ext uri="{19B8F6BF-5375-455C-9EA6-DF929625EA0E}">
        <p15:presenceInfo xmlns:p15="http://schemas.microsoft.com/office/powerpoint/2012/main" userId="S::songtao.wu@boehringer-ingelheim.com::2cf271dd-f50d-4283-929f-9b2c18b5f415" providerId="AD"/>
      </p:ext>
    </p:extLst>
  </p:cmAuthor>
  <p:cmAuthor id="8" name="Chen,Sophie (BI X) BIIT-CN-S" initials="CB" lastIdx="6" clrIdx="7">
    <p:extLst>
      <p:ext uri="{19B8F6BF-5375-455C-9EA6-DF929625EA0E}">
        <p15:presenceInfo xmlns:p15="http://schemas.microsoft.com/office/powerpoint/2012/main" userId="S::sophie.chen@boehringer-ingelheim.com::4a82d857-bf63-4373-bf7b-92f6a8f11f98" providerId="AD"/>
      </p:ext>
    </p:extLst>
  </p:cmAuthor>
  <p:cmAuthor id="9" name="Zhu,Yinan (HP Medicine) BII-CN-S" initials="ZB" lastIdx="29" clrIdx="8">
    <p:extLst>
      <p:ext uri="{19B8F6BF-5375-455C-9EA6-DF929625EA0E}">
        <p15:presenceInfo xmlns:p15="http://schemas.microsoft.com/office/powerpoint/2012/main" userId="S::yinan.zhu@boehringer-ingelheim.com::84fd82bc-0f33-4231-bc26-e12433039e09" providerId="AD"/>
      </p:ext>
    </p:extLst>
  </p:cmAuthor>
  <p:cmAuthor id="10" name="Shen,Jane (HP Medicine) BII-CN-S" initials="SB" lastIdx="1" clrIdx="9">
    <p:extLst>
      <p:ext uri="{19B8F6BF-5375-455C-9EA6-DF929625EA0E}">
        <p15:presenceInfo xmlns:p15="http://schemas.microsoft.com/office/powerpoint/2012/main" userId="S::jane.shen@boehringer-ingelheim.com::69e17002-8b13-49c4-8f59-7ed29c242fe7" providerId="AD"/>
      </p:ext>
    </p:extLst>
  </p:cmAuthor>
  <p:cmAuthor id="11" name="Zhan,Dr.,Jill (HP Medicine) BII-CN-S" initials="ZB" lastIdx="14" clrIdx="10">
    <p:extLst>
      <p:ext uri="{19B8F6BF-5375-455C-9EA6-DF929625EA0E}">
        <p15:presenceInfo xmlns:p15="http://schemas.microsoft.com/office/powerpoint/2012/main" userId="S::jill.zhan@boehringer-ingelheim.com::05da7a8a-ad46-4a0a-8d25-0803a4efd69d" providerId="AD"/>
      </p:ext>
    </p:extLst>
  </p:cmAuthor>
  <p:cmAuthor id="12" name="Hu,Dr.,Ying (HP Medicine) BII-CN-S" initials="YH" lastIdx="3" clrIdx="11">
    <p:extLst>
      <p:ext uri="{19B8F6BF-5375-455C-9EA6-DF929625EA0E}">
        <p15:presenceInfo xmlns:p15="http://schemas.microsoft.com/office/powerpoint/2012/main" userId="S::ying.hu@boehringer-ingelheim.com::13bc9780-0b36-4480-a5d9-4f8efd408919" providerId="AD"/>
      </p:ext>
    </p:extLst>
  </p:cmAuthor>
  <p:cmAuthor id="13" name="Tang,Dr.,Ming (MED BDS) BII-CN-S" initials="TB" lastIdx="4" clrIdx="12">
    <p:extLst>
      <p:ext uri="{19B8F6BF-5375-455C-9EA6-DF929625EA0E}">
        <p15:presenceInfo xmlns:p15="http://schemas.microsoft.com/office/powerpoint/2012/main" userId="S::ming.tang@boehringer-ingelheim.com::47f6bb5c-429d-4b00-8ed3-46d8754e0596" providerId="AD"/>
      </p:ext>
    </p:extLst>
  </p:cmAuthor>
  <p:cmAuthor id="14" name="Wang,Dr.,Chloe (HP Medicine) BII-CN-S" initials="WB" lastIdx="2" clrIdx="13">
    <p:extLst>
      <p:ext uri="{19B8F6BF-5375-455C-9EA6-DF929625EA0E}">
        <p15:presenceInfo xmlns:p15="http://schemas.microsoft.com/office/powerpoint/2012/main" userId="S::chloe.wang@boehringer-ingelheim.com::35f192ab-a497-412f-8441-be0bcc6e1ff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E47C"/>
    <a:srgbClr val="F58A68"/>
    <a:srgbClr val="FFE667"/>
    <a:srgbClr val="D2F2F7"/>
    <a:srgbClr val="08312A"/>
    <a:srgbClr val="79B59A"/>
    <a:srgbClr val="00723E"/>
    <a:srgbClr val="B39600"/>
    <a:srgbClr val="C5C3EE"/>
    <a:srgbClr val="03A1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11DE3F-90E8-425F-8316-B54FE15A9D59}" v="82" dt="2025-12-15T04:55:57.893"/>
    <p1510:client id="{E87B5B97-F2BB-4895-9C40-CBF604BA39FA}" v="4" dt="2025-12-14T14:53:08.314"/>
  </p1510:revLst>
</p1510:revInfo>
</file>

<file path=ppt/tableStyles.xml><?xml version="1.0" encoding="utf-8"?>
<a:tblStyleLst xmlns:a="http://schemas.openxmlformats.org/drawingml/2006/main" def="{9D7B26C5-4107-4FEC-AEDC-1716B250A1EF}">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font" Target="fonts/font5.fntdata"/><Relationship Id="rId47" Type="http://schemas.openxmlformats.org/officeDocument/2006/relationships/font" Target="fonts/font10.fntdata"/><Relationship Id="rId63" Type="http://schemas.openxmlformats.org/officeDocument/2006/relationships/tags" Target="tags/tag1.xml"/><Relationship Id="rId68"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58" Type="http://schemas.openxmlformats.org/officeDocument/2006/relationships/font" Target="fonts/font21.fntdata"/><Relationship Id="rId66"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font" Target="fonts/font24.fntdata"/><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font" Target="fonts/font19.fntdata"/><Relationship Id="rId64" Type="http://schemas.openxmlformats.org/officeDocument/2006/relationships/commentAuthors" Target="commentAuthors.xml"/><Relationship Id="rId69" Type="http://schemas.microsoft.com/office/2016/11/relationships/changesInfo" Target="changesInfos/changesInfo1.xml"/><Relationship Id="rId8" Type="http://schemas.openxmlformats.org/officeDocument/2006/relationships/slide" Target="slides/slide1.xml"/><Relationship Id="rId51" Type="http://schemas.openxmlformats.org/officeDocument/2006/relationships/font" Target="fonts/font14.fntdata"/><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font" Target="fonts/font1.fntdata"/><Relationship Id="rId46" Type="http://schemas.openxmlformats.org/officeDocument/2006/relationships/font" Target="fonts/font9.fntdata"/><Relationship Id="rId59" Type="http://schemas.openxmlformats.org/officeDocument/2006/relationships/font" Target="fonts/font22.fntdata"/><Relationship Id="rId67"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font" Target="fonts/font4.fntdata"/><Relationship Id="rId54" Type="http://schemas.openxmlformats.org/officeDocument/2006/relationships/font" Target="fonts/font17.fntdata"/><Relationship Id="rId62" Type="http://schemas.openxmlformats.org/officeDocument/2006/relationships/font" Target="fonts/font25.fntdata"/><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notesMaster" Target="notesMasters/notesMaster1.xml"/><Relationship Id="rId49" Type="http://schemas.openxmlformats.org/officeDocument/2006/relationships/font" Target="fonts/font12.fntdata"/><Relationship Id="rId57" Type="http://schemas.openxmlformats.org/officeDocument/2006/relationships/font" Target="fonts/font20.fntdata"/><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font" Target="fonts/font7.fntdata"/><Relationship Id="rId52" Type="http://schemas.openxmlformats.org/officeDocument/2006/relationships/font" Target="fonts/font15.fntdata"/><Relationship Id="rId60" Type="http://schemas.openxmlformats.org/officeDocument/2006/relationships/font" Target="fonts/font23.fntdata"/><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font" Target="fonts/font2.fntdata"/><Relationship Id="rId34" Type="http://schemas.openxmlformats.org/officeDocument/2006/relationships/slide" Target="slides/slide27.xml"/><Relationship Id="rId50" Type="http://schemas.openxmlformats.org/officeDocument/2006/relationships/font" Target="fonts/font13.fntdata"/><Relationship Id="rId55" Type="http://schemas.openxmlformats.org/officeDocument/2006/relationships/font" Target="fonts/font18.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097EC73C-B70A-D85A-16F5-A702921DEF99}"/>
    <pc:docChg chg="delSld modSection">
      <pc:chgData name="" userId="" providerId="" clId="Web-{097EC73C-B70A-D85A-16F5-A702921DEF99}" dt="2025-12-12T01:28:29.932" v="0"/>
      <pc:docMkLst>
        <pc:docMk/>
      </pc:docMkLst>
    </pc:docChg>
  </pc:docChgLst>
  <pc:docChgLst>
    <pc:chgData name="Tan,Wenjing (HP Medicine) BII-CN-S" userId="S::wenjing.tan@boehringer-ingelheim.com::c424e0fe-fde7-4df0-ae27-58d7452c23f9" providerId="AD" clId="Web-{097EC73C-B70A-D85A-16F5-A702921DEF99}"/>
    <pc:docChg chg="addSld modSld modSection">
      <pc:chgData name="Tan,Wenjing (HP Medicine) BII-CN-S" userId="S::wenjing.tan@boehringer-ingelheim.com::c424e0fe-fde7-4df0-ae27-58d7452c23f9" providerId="AD" clId="Web-{097EC73C-B70A-D85A-16F5-A702921DEF99}" dt="2025-12-12T04:11:50.240" v="26" actId="20577"/>
      <pc:docMkLst>
        <pc:docMk/>
      </pc:docMkLst>
      <pc:sldChg chg="modSp">
        <pc:chgData name="Tan,Wenjing (HP Medicine) BII-CN-S" userId="S::wenjing.tan@boehringer-ingelheim.com::c424e0fe-fde7-4df0-ae27-58d7452c23f9" providerId="AD" clId="Web-{097EC73C-B70A-D85A-16F5-A702921DEF99}" dt="2025-12-12T04:11:50.240" v="26" actId="20577"/>
        <pc:sldMkLst>
          <pc:docMk/>
          <pc:sldMk cId="2855345008" sldId="262"/>
        </pc:sldMkLst>
        <pc:spChg chg="mod">
          <ac:chgData name="Tan,Wenjing (HP Medicine) BII-CN-S" userId="S::wenjing.tan@boehringer-ingelheim.com::c424e0fe-fde7-4df0-ae27-58d7452c23f9" providerId="AD" clId="Web-{097EC73C-B70A-D85A-16F5-A702921DEF99}" dt="2025-12-12T04:11:50.240" v="26" actId="20577"/>
          <ac:spMkLst>
            <pc:docMk/>
            <pc:sldMk cId="2855345008" sldId="262"/>
            <ac:spMk id="17" creationId="{4C21B88E-2E97-BA28-9674-10D5F34642CE}"/>
          </ac:spMkLst>
        </pc:spChg>
      </pc:sldChg>
      <pc:sldChg chg="delSp">
        <pc:chgData name="Tan,Wenjing (HP Medicine) BII-CN-S" userId="S::wenjing.tan@boehringer-ingelheim.com::c424e0fe-fde7-4df0-ae27-58d7452c23f9" providerId="AD" clId="Web-{097EC73C-B70A-D85A-16F5-A702921DEF99}" dt="2025-12-12T01:29:50.890" v="2"/>
        <pc:sldMkLst>
          <pc:docMk/>
          <pc:sldMk cId="2183844866" sldId="264"/>
        </pc:sldMkLst>
      </pc:sldChg>
      <pc:sldChg chg="add">
        <pc:chgData name="Tan,Wenjing (HP Medicine) BII-CN-S" userId="S::wenjing.tan@boehringer-ingelheim.com::c424e0fe-fde7-4df0-ae27-58d7452c23f9" providerId="AD" clId="Web-{097EC73C-B70A-D85A-16F5-A702921DEF99}" dt="2025-12-12T01:29:42.421" v="0"/>
        <pc:sldMkLst>
          <pc:docMk/>
          <pc:sldMk cId="1539873832" sldId="265"/>
        </pc:sldMkLst>
      </pc:sldChg>
      <pc:sldChg chg="modSp">
        <pc:chgData name="Tan,Wenjing (HP Medicine) BII-CN-S" userId="S::wenjing.tan@boehringer-ingelheim.com::c424e0fe-fde7-4df0-ae27-58d7452c23f9" providerId="AD" clId="Web-{097EC73C-B70A-D85A-16F5-A702921DEF99}" dt="2025-12-12T01:34:49.650" v="5" actId="20577"/>
        <pc:sldMkLst>
          <pc:docMk/>
          <pc:sldMk cId="2837503471" sldId="9801"/>
        </pc:sldMkLst>
        <pc:spChg chg="mod">
          <ac:chgData name="Tan,Wenjing (HP Medicine) BII-CN-S" userId="S::wenjing.tan@boehringer-ingelheim.com::c424e0fe-fde7-4df0-ae27-58d7452c23f9" providerId="AD" clId="Web-{097EC73C-B70A-D85A-16F5-A702921DEF99}" dt="2025-12-12T01:34:49.650" v="5" actId="20577"/>
          <ac:spMkLst>
            <pc:docMk/>
            <pc:sldMk cId="2837503471" sldId="9801"/>
            <ac:spMk id="8" creationId="{1E614ADB-816F-D0B2-36B5-7FDBAB3DD757}"/>
          </ac:spMkLst>
        </pc:spChg>
      </pc:sldChg>
      <pc:sldChg chg="modSp">
        <pc:chgData name="Tan,Wenjing (HP Medicine) BII-CN-S" userId="S::wenjing.tan@boehringer-ingelheim.com::c424e0fe-fde7-4df0-ae27-58d7452c23f9" providerId="AD" clId="Web-{097EC73C-B70A-D85A-16F5-A702921DEF99}" dt="2025-12-12T01:34:59.603" v="12" actId="20577"/>
        <pc:sldMkLst>
          <pc:docMk/>
          <pc:sldMk cId="2578409140" sldId="2147474091"/>
        </pc:sldMkLst>
        <pc:spChg chg="mod">
          <ac:chgData name="Tan,Wenjing (HP Medicine) BII-CN-S" userId="S::wenjing.tan@boehringer-ingelheim.com::c424e0fe-fde7-4df0-ae27-58d7452c23f9" providerId="AD" clId="Web-{097EC73C-B70A-D85A-16F5-A702921DEF99}" dt="2025-12-12T01:34:59.603" v="12" actId="20577"/>
          <ac:spMkLst>
            <pc:docMk/>
            <pc:sldMk cId="2578409140" sldId="2147474091"/>
            <ac:spMk id="19" creationId="{7CD815F8-7CA4-C9B8-DDE0-94C1281B0AA0}"/>
          </ac:spMkLst>
        </pc:spChg>
      </pc:sldChg>
      <pc:sldChg chg="modSp">
        <pc:chgData name="Tan,Wenjing (HP Medicine) BII-CN-S" userId="S::wenjing.tan@boehringer-ingelheim.com::c424e0fe-fde7-4df0-ae27-58d7452c23f9" providerId="AD" clId="Web-{097EC73C-B70A-D85A-16F5-A702921DEF99}" dt="2025-12-12T01:35:10.244" v="15" actId="20577"/>
        <pc:sldMkLst>
          <pc:docMk/>
          <pc:sldMk cId="2617666120" sldId="2147483645"/>
        </pc:sldMkLst>
        <pc:spChg chg="mod">
          <ac:chgData name="Tan,Wenjing (HP Medicine) BII-CN-S" userId="S::wenjing.tan@boehringer-ingelheim.com::c424e0fe-fde7-4df0-ae27-58d7452c23f9" providerId="AD" clId="Web-{097EC73C-B70A-D85A-16F5-A702921DEF99}" dt="2025-12-12T01:35:10.244" v="15" actId="20577"/>
          <ac:spMkLst>
            <pc:docMk/>
            <pc:sldMk cId="2617666120" sldId="2147483645"/>
            <ac:spMk id="8" creationId="{1E614ADB-816F-D0B2-36B5-7FDBAB3DD757}"/>
          </ac:spMkLst>
        </pc:spChg>
      </pc:sldChg>
      <pc:sldChg chg="modSp">
        <pc:chgData name="Tan,Wenjing (HP Medicine) BII-CN-S" userId="S::wenjing.tan@boehringer-ingelheim.com::c424e0fe-fde7-4df0-ae27-58d7452c23f9" providerId="AD" clId="Web-{097EC73C-B70A-D85A-16F5-A702921DEF99}" dt="2025-12-12T03:55:15.324" v="24" actId="20577"/>
        <pc:sldMkLst>
          <pc:docMk/>
          <pc:sldMk cId="3527517198" sldId="2147483646"/>
        </pc:sldMkLst>
        <pc:spChg chg="mod">
          <ac:chgData name="Tan,Wenjing (HP Medicine) BII-CN-S" userId="S::wenjing.tan@boehringer-ingelheim.com::c424e0fe-fde7-4df0-ae27-58d7452c23f9" providerId="AD" clId="Web-{097EC73C-B70A-D85A-16F5-A702921DEF99}" dt="2025-12-12T03:55:15.324" v="24" actId="20577"/>
          <ac:spMkLst>
            <pc:docMk/>
            <pc:sldMk cId="3527517198" sldId="2147483646"/>
            <ac:spMk id="3" creationId="{BC2757C2-AE5A-F694-E7EB-75A4AACBE567}"/>
          </ac:spMkLst>
        </pc:spChg>
        <pc:spChg chg="mod">
          <ac:chgData name="Tan,Wenjing (HP Medicine) BII-CN-S" userId="S::wenjing.tan@boehringer-ingelheim.com::c424e0fe-fde7-4df0-ae27-58d7452c23f9" providerId="AD" clId="Web-{097EC73C-B70A-D85A-16F5-A702921DEF99}" dt="2025-12-12T03:55:11.980" v="23" actId="20577"/>
          <ac:spMkLst>
            <pc:docMk/>
            <pc:sldMk cId="3527517198" sldId="2147483646"/>
            <ac:spMk id="10" creationId="{109CCD2C-AB78-56D3-16BC-2BD6A7A511A0}"/>
          </ac:spMkLst>
        </pc:spChg>
        <pc:spChg chg="mod">
          <ac:chgData name="Tan,Wenjing (HP Medicine) BII-CN-S" userId="S::wenjing.tan@boehringer-ingelheim.com::c424e0fe-fde7-4df0-ae27-58d7452c23f9" providerId="AD" clId="Web-{097EC73C-B70A-D85A-16F5-A702921DEF99}" dt="2025-12-12T01:35:20.291" v="17" actId="20577"/>
          <ac:spMkLst>
            <pc:docMk/>
            <pc:sldMk cId="3527517198" sldId="2147483646"/>
            <ac:spMk id="19" creationId="{7CD815F8-7CA4-C9B8-DDE0-94C1281B0AA0}"/>
          </ac:spMkLst>
        </pc:spChg>
      </pc:sldChg>
    </pc:docChg>
  </pc:docChgLst>
  <pc:docChgLst>
    <pc:chgData name="Liu,Dr.,Meiruo (HP Medicine) BII-CN-S" userId="ece9aa16-5bba-4d2f-b200-019c8e2ba0a0" providerId="ADAL" clId="{7AE74376-5C31-4B5A-9670-ACD085A29F44}"/>
    <pc:docChg chg="modSld">
      <pc:chgData name="Liu,Dr.,Meiruo (HP Medicine) BII-CN-S" userId="ece9aa16-5bba-4d2f-b200-019c8e2ba0a0" providerId="ADAL" clId="{7AE74376-5C31-4B5A-9670-ACD085A29F44}" dt="2025-12-14T14:53:08.314" v="3"/>
      <pc:docMkLst>
        <pc:docMk/>
      </pc:docMkLst>
      <pc:sldChg chg="modCm">
        <pc:chgData name="Liu,Dr.,Meiruo (HP Medicine) BII-CN-S" userId="ece9aa16-5bba-4d2f-b200-019c8e2ba0a0" providerId="ADAL" clId="{7AE74376-5C31-4B5A-9670-ACD085A29F44}" dt="2025-12-14T14:53:08.314" v="3"/>
        <pc:sldMkLst>
          <pc:docMk/>
          <pc:sldMk cId="3867218584" sldId="2147483630"/>
        </pc:sldMkLst>
      </pc:sldChg>
    </pc:docChg>
  </pc:docChgLst>
  <pc:docChgLst>
    <pc:chgData name="Tan,Wenjing (HP Medicine) BII-CN-S" userId="c424e0fe-fde7-4df0-ae27-58d7452c23f9" providerId="ADAL" clId="{26170B8D-F3D1-4BD7-9418-967601496D95}"/>
    <pc:docChg chg="undo custSel addSld delSld modSld sldOrd modSection">
      <pc:chgData name="Tan,Wenjing (HP Medicine) BII-CN-S" userId="c424e0fe-fde7-4df0-ae27-58d7452c23f9" providerId="ADAL" clId="{26170B8D-F3D1-4BD7-9418-967601496D95}" dt="2025-12-15T04:55:57.893" v="146" actId="700"/>
      <pc:docMkLst>
        <pc:docMk/>
      </pc:docMkLst>
      <pc:sldChg chg="modSp mod">
        <pc:chgData name="Tan,Wenjing (HP Medicine) BII-CN-S" userId="c424e0fe-fde7-4df0-ae27-58d7452c23f9" providerId="ADAL" clId="{26170B8D-F3D1-4BD7-9418-967601496D95}" dt="2025-12-15T02:25:10.418" v="144" actId="20577"/>
        <pc:sldMkLst>
          <pc:docMk/>
          <pc:sldMk cId="3511863881" sldId="257"/>
        </pc:sldMkLst>
        <pc:spChg chg="mod">
          <ac:chgData name="Tan,Wenjing (HP Medicine) BII-CN-S" userId="c424e0fe-fde7-4df0-ae27-58d7452c23f9" providerId="ADAL" clId="{26170B8D-F3D1-4BD7-9418-967601496D95}" dt="2025-12-15T02:25:10.418" v="144" actId="20577"/>
          <ac:spMkLst>
            <pc:docMk/>
            <pc:sldMk cId="3511863881" sldId="257"/>
            <ac:spMk id="25" creationId="{13FA4611-F6DC-CE3F-5E3A-5922DC419E2D}"/>
          </ac:spMkLst>
        </pc:spChg>
      </pc:sldChg>
      <pc:sldChg chg="modSp mod">
        <pc:chgData name="Tan,Wenjing (HP Medicine) BII-CN-S" userId="c424e0fe-fde7-4df0-ae27-58d7452c23f9" providerId="ADAL" clId="{26170B8D-F3D1-4BD7-9418-967601496D95}" dt="2025-12-15T01:43:16.059" v="85" actId="113"/>
        <pc:sldMkLst>
          <pc:docMk/>
          <pc:sldMk cId="3246347708" sldId="258"/>
        </pc:sldMkLst>
        <pc:spChg chg="mod">
          <ac:chgData name="Tan,Wenjing (HP Medicine) BII-CN-S" userId="c424e0fe-fde7-4df0-ae27-58d7452c23f9" providerId="ADAL" clId="{26170B8D-F3D1-4BD7-9418-967601496D95}" dt="2025-12-15T01:43:16.059" v="85" actId="113"/>
          <ac:spMkLst>
            <pc:docMk/>
            <pc:sldMk cId="3246347708" sldId="258"/>
            <ac:spMk id="42" creationId="{81306647-789C-0F50-C0D8-2DB8B86C0227}"/>
          </ac:spMkLst>
        </pc:spChg>
      </pc:sldChg>
      <pc:sldChg chg="add">
        <pc:chgData name="Tan,Wenjing (HP Medicine) BII-CN-S" userId="c424e0fe-fde7-4df0-ae27-58d7452c23f9" providerId="ADAL" clId="{26170B8D-F3D1-4BD7-9418-967601496D95}" dt="2025-12-12T04:13:04.113" v="11"/>
        <pc:sldMkLst>
          <pc:docMk/>
          <pc:sldMk cId="1637442899" sldId="263"/>
        </pc:sldMkLst>
      </pc:sldChg>
      <pc:sldChg chg="addSp delSp modSp mod">
        <pc:chgData name="Tan,Wenjing (HP Medicine) BII-CN-S" userId="c424e0fe-fde7-4df0-ae27-58d7452c23f9" providerId="ADAL" clId="{26170B8D-F3D1-4BD7-9418-967601496D95}" dt="2025-12-15T01:42:09.813" v="39" actId="20577"/>
        <pc:sldMkLst>
          <pc:docMk/>
          <pc:sldMk cId="2183844866" sldId="264"/>
        </pc:sldMkLst>
        <pc:spChg chg="add mod">
          <ac:chgData name="Tan,Wenjing (HP Medicine) BII-CN-S" userId="c424e0fe-fde7-4df0-ae27-58d7452c23f9" providerId="ADAL" clId="{26170B8D-F3D1-4BD7-9418-967601496D95}" dt="2025-12-15T01:42:05.986" v="30" actId="1076"/>
          <ac:spMkLst>
            <pc:docMk/>
            <pc:sldMk cId="2183844866" sldId="264"/>
            <ac:spMk id="9" creationId="{FBA5CE97-B3D7-134F-414E-6AB91AF15009}"/>
          </ac:spMkLst>
        </pc:spChg>
        <pc:spChg chg="mod">
          <ac:chgData name="Tan,Wenjing (HP Medicine) BII-CN-S" userId="c424e0fe-fde7-4df0-ae27-58d7452c23f9" providerId="ADAL" clId="{26170B8D-F3D1-4BD7-9418-967601496D95}" dt="2025-12-15T01:42:09.813" v="39" actId="20577"/>
          <ac:spMkLst>
            <pc:docMk/>
            <pc:sldMk cId="2183844866" sldId="264"/>
            <ac:spMk id="15" creationId="{0FC101FA-16F2-FFEF-B832-739392563937}"/>
          </ac:spMkLst>
        </pc:spChg>
        <pc:graphicFrameChg chg="add del mod">
          <ac:chgData name="Tan,Wenjing (HP Medicine) BII-CN-S" userId="c424e0fe-fde7-4df0-ae27-58d7452c23f9" providerId="ADAL" clId="{26170B8D-F3D1-4BD7-9418-967601496D95}" dt="2025-12-15T01:41:55.062" v="27" actId="478"/>
          <ac:graphicFrameMkLst>
            <pc:docMk/>
            <pc:sldMk cId="2183844866" sldId="264"/>
            <ac:graphicFrameMk id="6" creationId="{4630434C-DE2D-ED04-2293-9D2F402D4344}"/>
          </ac:graphicFrameMkLst>
        </pc:graphicFrameChg>
        <pc:graphicFrameChg chg="add mod modGraphic">
          <ac:chgData name="Tan,Wenjing (HP Medicine) BII-CN-S" userId="c424e0fe-fde7-4df0-ae27-58d7452c23f9" providerId="ADAL" clId="{26170B8D-F3D1-4BD7-9418-967601496D95}" dt="2025-12-15T01:41:51.027" v="26"/>
          <ac:graphicFrameMkLst>
            <pc:docMk/>
            <pc:sldMk cId="2183844866" sldId="264"/>
            <ac:graphicFrameMk id="7" creationId="{01DF95D3-3238-E6C3-7998-7C94F97D456F}"/>
          </ac:graphicFrameMkLst>
        </pc:graphicFrameChg>
      </pc:sldChg>
      <pc:sldChg chg="mod modShow">
        <pc:chgData name="Tan,Wenjing (HP Medicine) BII-CN-S" userId="c424e0fe-fde7-4df0-ae27-58d7452c23f9" providerId="ADAL" clId="{26170B8D-F3D1-4BD7-9418-967601496D95}" dt="2025-12-15T01:42:16.003" v="40" actId="729"/>
        <pc:sldMkLst>
          <pc:docMk/>
          <pc:sldMk cId="1539873832" sldId="265"/>
        </pc:sldMkLst>
      </pc:sldChg>
      <pc:sldChg chg="modSp add mod">
        <pc:chgData name="Tan,Wenjing (HP Medicine) BII-CN-S" userId="c424e0fe-fde7-4df0-ae27-58d7452c23f9" providerId="ADAL" clId="{26170B8D-F3D1-4BD7-9418-967601496D95}" dt="2025-12-12T04:12:47.357" v="10" actId="20577"/>
        <pc:sldMkLst>
          <pc:docMk/>
          <pc:sldMk cId="3098314759" sldId="267"/>
        </pc:sldMkLst>
        <pc:spChg chg="mod">
          <ac:chgData name="Tan,Wenjing (HP Medicine) BII-CN-S" userId="c424e0fe-fde7-4df0-ae27-58d7452c23f9" providerId="ADAL" clId="{26170B8D-F3D1-4BD7-9418-967601496D95}" dt="2025-12-12T04:12:47.357" v="10" actId="20577"/>
          <ac:spMkLst>
            <pc:docMk/>
            <pc:sldMk cId="3098314759" sldId="267"/>
            <ac:spMk id="35" creationId="{F0F40BBD-B4B9-541B-FD77-B0E75A043EA9}"/>
          </ac:spMkLst>
        </pc:spChg>
      </pc:sldChg>
      <pc:sldChg chg="addSp delSp modSp mod chgLayout">
        <pc:chgData name="Tan,Wenjing (HP Medicine) BII-CN-S" userId="c424e0fe-fde7-4df0-ae27-58d7452c23f9" providerId="ADAL" clId="{26170B8D-F3D1-4BD7-9418-967601496D95}" dt="2025-12-15T04:55:57.893" v="146" actId="700"/>
        <pc:sldMkLst>
          <pc:docMk/>
          <pc:sldMk cId="3124275635" sldId="2147483620"/>
        </pc:sldMkLst>
        <pc:spChg chg="mod ord">
          <ac:chgData name="Tan,Wenjing (HP Medicine) BII-CN-S" userId="c424e0fe-fde7-4df0-ae27-58d7452c23f9" providerId="ADAL" clId="{26170B8D-F3D1-4BD7-9418-967601496D95}" dt="2025-12-15T04:55:57.893" v="146" actId="700"/>
          <ac:spMkLst>
            <pc:docMk/>
            <pc:sldMk cId="3124275635" sldId="2147483620"/>
            <ac:spMk id="2" creationId="{0A341D12-C3F1-C556-59E7-F488D02AD2D3}"/>
          </ac:spMkLst>
        </pc:spChg>
        <pc:spChg chg="del">
          <ac:chgData name="Tan,Wenjing (HP Medicine) BII-CN-S" userId="c424e0fe-fde7-4df0-ae27-58d7452c23f9" providerId="ADAL" clId="{26170B8D-F3D1-4BD7-9418-967601496D95}" dt="2025-12-15T04:55:57.893" v="146" actId="700"/>
          <ac:spMkLst>
            <pc:docMk/>
            <pc:sldMk cId="3124275635" sldId="2147483620"/>
            <ac:spMk id="3" creationId="{B9FC6B3D-47E8-ADDF-4724-89F5BEEE4766}"/>
          </ac:spMkLst>
        </pc:spChg>
        <pc:spChg chg="mod ord">
          <ac:chgData name="Tan,Wenjing (HP Medicine) BII-CN-S" userId="c424e0fe-fde7-4df0-ae27-58d7452c23f9" providerId="ADAL" clId="{26170B8D-F3D1-4BD7-9418-967601496D95}" dt="2025-12-15T04:55:57.893" v="146" actId="700"/>
          <ac:spMkLst>
            <pc:docMk/>
            <pc:sldMk cId="3124275635" sldId="2147483620"/>
            <ac:spMk id="4" creationId="{5E9CAFB1-FF8C-BD43-9149-6B548AA857C6}"/>
          </ac:spMkLst>
        </pc:spChg>
        <pc:spChg chg="mod ord">
          <ac:chgData name="Tan,Wenjing (HP Medicine) BII-CN-S" userId="c424e0fe-fde7-4df0-ae27-58d7452c23f9" providerId="ADAL" clId="{26170B8D-F3D1-4BD7-9418-967601496D95}" dt="2025-12-15T04:55:57.893" v="146" actId="700"/>
          <ac:spMkLst>
            <pc:docMk/>
            <pc:sldMk cId="3124275635" sldId="2147483620"/>
            <ac:spMk id="5" creationId="{714A72D8-5A94-8FC3-BC85-9E622A472939}"/>
          </ac:spMkLst>
        </pc:spChg>
        <pc:spChg chg="add mod ord">
          <ac:chgData name="Tan,Wenjing (HP Medicine) BII-CN-S" userId="c424e0fe-fde7-4df0-ae27-58d7452c23f9" providerId="ADAL" clId="{26170B8D-F3D1-4BD7-9418-967601496D95}" dt="2025-12-15T04:55:57.893" v="146" actId="700"/>
          <ac:spMkLst>
            <pc:docMk/>
            <pc:sldMk cId="3124275635" sldId="2147483620"/>
            <ac:spMk id="6" creationId="{97E12023-2A9F-D7EA-7BC0-E425154B0C1C}"/>
          </ac:spMkLst>
        </pc:spChg>
      </pc:sldChg>
      <pc:sldChg chg="add">
        <pc:chgData name="Tan,Wenjing (HP Medicine) BII-CN-S" userId="c424e0fe-fde7-4df0-ae27-58d7452c23f9" providerId="ADAL" clId="{26170B8D-F3D1-4BD7-9418-967601496D95}" dt="2025-12-15T02:00:27.942" v="92"/>
        <pc:sldMkLst>
          <pc:docMk/>
          <pc:sldMk cId="2227293263" sldId="2147483629"/>
        </pc:sldMkLst>
      </pc:sldChg>
      <pc:sldChg chg="del ord">
        <pc:chgData name="Tan,Wenjing (HP Medicine) BII-CN-S" userId="c424e0fe-fde7-4df0-ae27-58d7452c23f9" providerId="ADAL" clId="{26170B8D-F3D1-4BD7-9418-967601496D95}" dt="2025-12-15T02:00:25.235" v="91" actId="2696"/>
        <pc:sldMkLst>
          <pc:docMk/>
          <pc:sldMk cId="3198106645" sldId="2147483629"/>
        </pc:sldMkLst>
      </pc:sldChg>
      <pc:sldChg chg="modSp mod modCm">
        <pc:chgData name="Tan,Wenjing (HP Medicine) BII-CN-S" userId="c424e0fe-fde7-4df0-ae27-58d7452c23f9" providerId="ADAL" clId="{26170B8D-F3D1-4BD7-9418-967601496D95}" dt="2025-12-15T01:43:41.493" v="88"/>
        <pc:sldMkLst>
          <pc:docMk/>
          <pc:sldMk cId="3867218584" sldId="2147483630"/>
        </pc:sldMkLst>
        <pc:spChg chg="mod">
          <ac:chgData name="Tan,Wenjing (HP Medicine) BII-CN-S" userId="c424e0fe-fde7-4df0-ae27-58d7452c23f9" providerId="ADAL" clId="{26170B8D-F3D1-4BD7-9418-967601496D95}" dt="2025-12-15T01:43:38.829" v="87" actId="13926"/>
          <ac:spMkLst>
            <pc:docMk/>
            <pc:sldMk cId="3867218584" sldId="2147483630"/>
            <ac:spMk id="8" creationId="{F6F07B9D-7AB2-B47A-B67F-EE242A39CC95}"/>
          </ac:spMkLst>
        </pc:spChg>
        <pc:graphicFrameChg chg="modGraphic">
          <ac:chgData name="Tan,Wenjing (HP Medicine) BII-CN-S" userId="c424e0fe-fde7-4df0-ae27-58d7452c23f9" providerId="ADAL" clId="{26170B8D-F3D1-4BD7-9418-967601496D95}" dt="2025-12-15T01:43:32.248" v="86" actId="13926"/>
          <ac:graphicFrameMkLst>
            <pc:docMk/>
            <pc:sldMk cId="3867218584" sldId="2147483630"/>
            <ac:graphicFrameMk id="3" creationId="{7860827F-F130-3FEF-45B3-FF78FA7ADDDE}"/>
          </ac:graphicFrameMkLst>
        </pc:graphicFrameChg>
      </pc:sldChg>
      <pc:sldChg chg="addSp delSp modSp mod addAnim delAnim modNotesTx">
        <pc:chgData name="Tan,Wenjing (HP Medicine) BII-CN-S" userId="c424e0fe-fde7-4df0-ae27-58d7452c23f9" providerId="ADAL" clId="{26170B8D-F3D1-4BD7-9418-967601496D95}" dt="2025-12-15T02:19:59.274" v="134" actId="20577"/>
        <pc:sldMkLst>
          <pc:docMk/>
          <pc:sldMk cId="1336178447" sldId="2147483632"/>
        </pc:sldMkLst>
        <pc:spChg chg="add del">
          <ac:chgData name="Tan,Wenjing (HP Medicine) BII-CN-S" userId="c424e0fe-fde7-4df0-ae27-58d7452c23f9" providerId="ADAL" clId="{26170B8D-F3D1-4BD7-9418-967601496D95}" dt="2025-12-15T02:19:04.490" v="132" actId="478"/>
          <ac:spMkLst>
            <pc:docMk/>
            <pc:sldMk cId="1336178447" sldId="2147483632"/>
            <ac:spMk id="15" creationId="{88F26096-C2B4-3647-69F3-8934F5183467}"/>
          </ac:spMkLst>
        </pc:spChg>
        <pc:graphicFrameChg chg="modGraphic">
          <ac:chgData name="Tan,Wenjing (HP Medicine) BII-CN-S" userId="c424e0fe-fde7-4df0-ae27-58d7452c23f9" providerId="ADAL" clId="{26170B8D-F3D1-4BD7-9418-967601496D95}" dt="2025-12-15T02:19:59.274" v="134" actId="20577"/>
          <ac:graphicFrameMkLst>
            <pc:docMk/>
            <pc:sldMk cId="1336178447" sldId="2147483632"/>
            <ac:graphicFrameMk id="10" creationId="{0C286F0F-0B4A-CA08-DEB6-0CC6541568DB}"/>
          </ac:graphicFrameMkLst>
        </pc:graphicFrameChg>
      </pc:sldChg>
      <pc:sldChg chg="mod modShow">
        <pc:chgData name="Tan,Wenjing (HP Medicine) BII-CN-S" userId="c424e0fe-fde7-4df0-ae27-58d7452c23f9" providerId="ADAL" clId="{26170B8D-F3D1-4BD7-9418-967601496D95}" dt="2025-12-15T02:47:45.375" v="145" actId="729"/>
        <pc:sldMkLst>
          <pc:docMk/>
          <pc:sldMk cId="302232505" sldId="2147483640"/>
        </pc:sldMkLst>
      </pc:sldChg>
      <pc:sldChg chg="modNotesTx">
        <pc:chgData name="Tan,Wenjing (HP Medicine) BII-CN-S" userId="c424e0fe-fde7-4df0-ae27-58d7452c23f9" providerId="ADAL" clId="{26170B8D-F3D1-4BD7-9418-967601496D95}" dt="2025-12-15T02:15:37.976" v="96" actId="20577"/>
        <pc:sldMkLst>
          <pc:docMk/>
          <pc:sldMk cId="2490194719" sldId="2147483642"/>
        </pc:sldMkLst>
      </pc:sldChg>
      <pc:sldChg chg="modNotesTx">
        <pc:chgData name="Tan,Wenjing (HP Medicine) BII-CN-S" userId="c424e0fe-fde7-4df0-ae27-58d7452c23f9" providerId="ADAL" clId="{26170B8D-F3D1-4BD7-9418-967601496D95}" dt="2025-12-15T02:17:47.257" v="118" actId="20577"/>
        <pc:sldMkLst>
          <pc:docMk/>
          <pc:sldMk cId="3527517198" sldId="2147483646"/>
        </pc:sldMkLst>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1" dt="2025-12-03T18:01:52.707" idx="14">
    <p:pos x="106" y="106"/>
    <p:text>加一个vica emp ckd timeline</p:text>
    <p:extLst>
      <p:ext uri="{C676402C-5697-4E1C-873F-D02D1690AC5C}">
        <p15:threadingInfo xmlns:p15="http://schemas.microsoft.com/office/powerpoint/2012/main" timeZoneBias="-480"/>
      </p:ext>
    </p:extLst>
  </p:cm>
  <p:cm authorId="2" dt="2025-12-04T13:54:48.423" idx="65">
    <p:pos x="106" y="202"/>
    <p:text>done</p:text>
    <p:extLst>
      <p:ext uri="{C676402C-5697-4E1C-873F-D02D1690AC5C}">
        <p15:threadingInfo xmlns:p15="http://schemas.microsoft.com/office/powerpoint/2012/main" timeZoneBias="-480">
          <p15:parentCm authorId="11" idx="14"/>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5-11-06T10:23:23.491" idx="40">
    <p:pos x="10" y="10"/>
    <p:text>[@Wang,Dr.,Chloe (HP Medicine) BII-CN-S] please nominate clinical PI</p:text>
    <p:extLst>
      <p:ext uri="{C676402C-5697-4E1C-873F-D02D1690AC5C}">
        <p15:threadingInfo xmlns:p15="http://schemas.microsoft.com/office/powerpoint/2012/main" timeZoneBias="-4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5-11-06T10:22:26.662" idx="57">
    <p:pos x="10" y="10"/>
    <p:text>[@Wang,Dr.,Chloe (HP Medicine) BII-CN-S] please kindly input lab test, comorbidities and drugs</p:text>
    <p:extLst>
      <p:ext uri="{C676402C-5697-4E1C-873F-D02D1690AC5C}">
        <p15:threadingInfo xmlns:p15="http://schemas.microsoft.com/office/powerpoint/2012/main" timeZoneBias="-4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5-11-06T10:22:26.662" idx="58">
    <p:pos x="10" y="10"/>
    <p:text>[@Wang,Dr.,Chloe (HP Medicine) BII-CN-S] please kindly input lab test, comorbidities and drugs</p:text>
    <p:extLst>
      <p:ext uri="{C676402C-5697-4E1C-873F-D02D1690AC5C}">
        <p15:threadingInfo xmlns:p15="http://schemas.microsoft.com/office/powerpoint/2012/main" timeZoneBias="-4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2" dt="2025-11-06T10:22:26.662" idx="59">
    <p:pos x="10" y="10"/>
    <p:text>[@Wang,Dr.,Chloe (HP Medicine) BII-CN-S] please kindly input lab test, comorbidities and drugs</p:text>
    <p:extLst>
      <p:ext uri="{C676402C-5697-4E1C-873F-D02D1690AC5C}">
        <p15:threadingInfo xmlns:p15="http://schemas.microsoft.com/office/powerpoint/2012/main" timeZoneBias="-4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2" dt="2025-11-10T15:45:17.864" idx="60">
    <p:pos x="7024" y="256"/>
    <p:text>&lt;@Tang,Dr.,Ming (MED BDS) BII-CN-S&gt; please kindly review the statistical analysis</p:text>
    <p:extLst>
      <p:ext uri="{C676402C-5697-4E1C-873F-D02D1690AC5C}">
        <p15:threadingInfo xmlns:p15="http://schemas.microsoft.com/office/powerpoint/2012/main" timeZoneBias="-480"/>
      </p:ext>
    </p:extLst>
  </p:cm>
  <p:cm authorId="13" dt="2025-11-10T18:54:13.483" idx="3">
    <p:pos x="7024" y="352"/>
    <p:text>All look good. a minor comment, we could probably add time to event (KM estimate) to the drug adhereance.</p:text>
    <p:extLst>
      <p:ext uri="{C676402C-5697-4E1C-873F-D02D1690AC5C}">
        <p15:threadingInfo xmlns:p15="http://schemas.microsoft.com/office/powerpoint/2012/main" timeZoneBias="480">
          <p15:parentCm authorId="2" idx="60"/>
        </p15:threadingInfo>
      </p:ext>
    </p:extLst>
  </p:cm>
  <p:cm authorId="13" dt="2025-11-10T18:51:35.420" idx="4">
    <p:pos x="10" y="10"/>
    <p:text>could we link the important subgroup analysis (SGLT2i etc) with the objectives in page 6?</p:text>
    <p:extLst>
      <p:ext uri="{C676402C-5697-4E1C-873F-D02D1690AC5C}">
        <p15:threadingInfo xmlns:p15="http://schemas.microsoft.com/office/powerpoint/2012/main" timeZoneBias="4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2" dt="2025-11-10T15:47:13.548" idx="64">
    <p:pos x="10" y="10"/>
    <p:text>[@Hu,Dr.,Ying (HP Medicine) BII-CN-S] please kindly add congress timeline</p:text>
    <p:extLst>
      <p:ext uri="{C676402C-5697-4E1C-873F-D02D1690AC5C}">
        <p15:threadingInfo xmlns:p15="http://schemas.microsoft.com/office/powerpoint/2012/main" timeZoneBias="-480"/>
      </p:ext>
    </p:extLst>
  </p:cm>
  <p:cm authorId="12" dt="2025-11-10T17:01:47.251" idx="3">
    <p:pos x="10" y="106"/>
    <p:text>added congress timeline, also updated manuscript timeline based on publication time.</p:text>
    <p:extLst>
      <p:ext uri="{C676402C-5697-4E1C-873F-D02D1690AC5C}">
        <p15:threadingInfo xmlns:p15="http://schemas.microsoft.com/office/powerpoint/2012/main" timeZoneBias="-480">
          <p15:parentCm authorId="2" idx="64"/>
        </p15:threadingInfo>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2" dt="2025-11-06T10:23:23.491" idx="62">
    <p:pos x="10" y="10"/>
    <p:text>[@Wang,Dr.,Chloe (HP Medicine) BII-CN-S] please nominate clinical PI</p:text>
    <p:extLst>
      <p:ext uri="{C676402C-5697-4E1C-873F-D02D1690AC5C}">
        <p15:threadingInfo xmlns:p15="http://schemas.microsoft.com/office/powerpoint/2012/main" timeZoneBias="-480"/>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DFCD44-46DB-49BC-8927-96D4F10B7CBD}"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zh-CN" altLang="en-US"/>
        </a:p>
      </dgm:t>
    </dgm:pt>
    <dgm:pt modelId="{BF4A9F65-2AA3-418F-90BD-7CB927B0C1FB}">
      <dgm:prSet phldrT="[Text]" phldr="1"/>
      <dgm:spPr>
        <a:noFill/>
      </dgm:spPr>
      <dgm:t>
        <a:bodyPr/>
        <a:lstStyle/>
        <a:p>
          <a:endParaRPr lang="zh-CN" altLang="en-US"/>
        </a:p>
      </dgm:t>
    </dgm:pt>
    <dgm:pt modelId="{10E6F3E1-BCA9-444F-BF80-3835B8F8B8CA}" type="parTrans" cxnId="{08DFBF61-F2D7-48D7-B1E4-2F2299A41F80}">
      <dgm:prSet/>
      <dgm:spPr/>
      <dgm:t>
        <a:bodyPr/>
        <a:lstStyle/>
        <a:p>
          <a:endParaRPr lang="zh-CN" altLang="en-US"/>
        </a:p>
      </dgm:t>
    </dgm:pt>
    <dgm:pt modelId="{4582621E-0381-4175-9088-00368D398652}" type="sibTrans" cxnId="{08DFBF61-F2D7-48D7-B1E4-2F2299A41F80}">
      <dgm:prSet/>
      <dgm:spPr/>
      <dgm:t>
        <a:bodyPr/>
        <a:lstStyle/>
        <a:p>
          <a:endParaRPr lang="zh-CN" altLang="en-US"/>
        </a:p>
      </dgm:t>
    </dgm:pt>
    <dgm:pt modelId="{3292A86C-8F69-4FF6-817D-DC4868B60910}">
      <dgm:prSet phldrT="[Text]" phldr="1"/>
      <dgm:spPr>
        <a:solidFill>
          <a:schemeClr val="bg1"/>
        </a:solidFill>
      </dgm:spPr>
      <dgm:t>
        <a:bodyPr/>
        <a:lstStyle/>
        <a:p>
          <a:endParaRPr lang="zh-CN" altLang="en-US"/>
        </a:p>
      </dgm:t>
    </dgm:pt>
    <dgm:pt modelId="{DF395036-6462-431B-85B8-E38993F44857}" type="sibTrans" cxnId="{993448ED-A8C2-473C-A456-6D72B5A5681C}">
      <dgm:prSet/>
      <dgm:spPr/>
      <dgm:t>
        <a:bodyPr/>
        <a:lstStyle/>
        <a:p>
          <a:endParaRPr lang="zh-CN" altLang="en-US"/>
        </a:p>
      </dgm:t>
    </dgm:pt>
    <dgm:pt modelId="{A8DBC095-82B8-499E-9610-8E1ABA667851}" type="parTrans" cxnId="{993448ED-A8C2-473C-A456-6D72B5A5681C}">
      <dgm:prSet/>
      <dgm:spPr/>
      <dgm:t>
        <a:bodyPr/>
        <a:lstStyle/>
        <a:p>
          <a:endParaRPr lang="zh-CN" altLang="en-US"/>
        </a:p>
      </dgm:t>
    </dgm:pt>
    <dgm:pt modelId="{1A4BA1E4-D457-46DB-AEA8-A790A133B3D6}" type="pres">
      <dgm:prSet presAssocID="{25DFCD44-46DB-49BC-8927-96D4F10B7CBD}" presName="Name0" presStyleCnt="0">
        <dgm:presLayoutVars>
          <dgm:chMax val="1"/>
          <dgm:dir/>
          <dgm:animLvl val="ctr"/>
          <dgm:resizeHandles val="exact"/>
        </dgm:presLayoutVars>
      </dgm:prSet>
      <dgm:spPr/>
    </dgm:pt>
    <dgm:pt modelId="{EE002E6F-4E8A-4048-8E7E-82A15AC508CB}" type="pres">
      <dgm:prSet presAssocID="{3292A86C-8F69-4FF6-817D-DC4868B60910}" presName="centerShape" presStyleLbl="node0" presStyleIdx="0" presStyleCnt="1"/>
      <dgm:spPr/>
    </dgm:pt>
    <dgm:pt modelId="{21B86A73-01B5-4108-A9B5-6A1C4C053190}" type="pres">
      <dgm:prSet presAssocID="{BF4A9F65-2AA3-418F-90BD-7CB927B0C1FB}" presName="oneComp" presStyleCnt="0"/>
      <dgm:spPr/>
    </dgm:pt>
    <dgm:pt modelId="{CBCDD9B0-A571-4F3C-975D-60E055F450D0}" type="pres">
      <dgm:prSet presAssocID="{BF4A9F65-2AA3-418F-90BD-7CB927B0C1FB}" presName="dummyConnPt" presStyleCnt="0"/>
      <dgm:spPr/>
    </dgm:pt>
    <dgm:pt modelId="{615649C5-7221-4936-9C8A-BF0CAF84AE41}" type="pres">
      <dgm:prSet presAssocID="{BF4A9F65-2AA3-418F-90BD-7CB927B0C1FB}" presName="oneNode" presStyleLbl="node1" presStyleIdx="0" presStyleCnt="1" custLinFactNeighborX="696" custLinFactNeighborY="83897">
        <dgm:presLayoutVars>
          <dgm:bulletEnabled val="1"/>
        </dgm:presLayoutVars>
      </dgm:prSet>
      <dgm:spPr/>
    </dgm:pt>
    <dgm:pt modelId="{03E49FB4-CAA1-48AD-8BCB-38725EB36D20}" type="pres">
      <dgm:prSet presAssocID="{BF4A9F65-2AA3-418F-90BD-7CB927B0C1FB}" presName="dummya" presStyleCnt="0"/>
      <dgm:spPr/>
    </dgm:pt>
    <dgm:pt modelId="{550C2922-0548-4A15-9914-946C1E9FB7AE}" type="pres">
      <dgm:prSet presAssocID="{BF4A9F65-2AA3-418F-90BD-7CB927B0C1FB}" presName="dummyb" presStyleCnt="0"/>
      <dgm:spPr/>
    </dgm:pt>
    <dgm:pt modelId="{BC4FA3CE-8FBD-4DA7-90A6-32494BEB3471}" type="pres">
      <dgm:prSet presAssocID="{BF4A9F65-2AA3-418F-90BD-7CB927B0C1FB}" presName="dummyc" presStyleCnt="0"/>
      <dgm:spPr/>
    </dgm:pt>
    <dgm:pt modelId="{ECF77F63-8DDC-4F91-8F58-6A43545DC917}" type="pres">
      <dgm:prSet presAssocID="{4582621E-0381-4175-9088-00368D398652}" presName="singleconn" presStyleLbl="sibTrans2D1" presStyleIdx="0" presStyleCnt="1" custLinFactNeighborX="-523" custLinFactNeighborY="149"/>
      <dgm:spPr/>
    </dgm:pt>
  </dgm:ptLst>
  <dgm:cxnLst>
    <dgm:cxn modelId="{08DFBF61-F2D7-48D7-B1E4-2F2299A41F80}" srcId="{3292A86C-8F69-4FF6-817D-DC4868B60910}" destId="{BF4A9F65-2AA3-418F-90BD-7CB927B0C1FB}" srcOrd="0" destOrd="0" parTransId="{10E6F3E1-BCA9-444F-BF80-3835B8F8B8CA}" sibTransId="{4582621E-0381-4175-9088-00368D398652}"/>
    <dgm:cxn modelId="{E0D2D59E-B040-47E3-B178-7A32E10041CD}" type="presOf" srcId="{4582621E-0381-4175-9088-00368D398652}" destId="{ECF77F63-8DDC-4F91-8F58-6A43545DC917}" srcOrd="0" destOrd="0" presId="urn:microsoft.com/office/officeart/2005/8/layout/radial6"/>
    <dgm:cxn modelId="{0B1308B6-DBF1-48A0-A685-858EE4403945}" type="presOf" srcId="{3292A86C-8F69-4FF6-817D-DC4868B60910}" destId="{EE002E6F-4E8A-4048-8E7E-82A15AC508CB}" srcOrd="0" destOrd="0" presId="urn:microsoft.com/office/officeart/2005/8/layout/radial6"/>
    <dgm:cxn modelId="{F77EB3C6-7BD2-4E32-BA1C-A33E8B01696F}" type="presOf" srcId="{25DFCD44-46DB-49BC-8927-96D4F10B7CBD}" destId="{1A4BA1E4-D457-46DB-AEA8-A790A133B3D6}" srcOrd="0" destOrd="0" presId="urn:microsoft.com/office/officeart/2005/8/layout/radial6"/>
    <dgm:cxn modelId="{A45D86DC-5ECE-4989-AB73-AF81B75A95D7}" type="presOf" srcId="{BF4A9F65-2AA3-418F-90BD-7CB927B0C1FB}" destId="{615649C5-7221-4936-9C8A-BF0CAF84AE41}" srcOrd="0" destOrd="0" presId="urn:microsoft.com/office/officeart/2005/8/layout/radial6"/>
    <dgm:cxn modelId="{993448ED-A8C2-473C-A456-6D72B5A5681C}" srcId="{25DFCD44-46DB-49BC-8927-96D4F10B7CBD}" destId="{3292A86C-8F69-4FF6-817D-DC4868B60910}" srcOrd="0" destOrd="0" parTransId="{A8DBC095-82B8-499E-9610-8E1ABA667851}" sibTransId="{DF395036-6462-431B-85B8-E38993F44857}"/>
    <dgm:cxn modelId="{43ACD1F7-7F18-4460-8242-CF797C3FDB54}" type="presParOf" srcId="{1A4BA1E4-D457-46DB-AEA8-A790A133B3D6}" destId="{EE002E6F-4E8A-4048-8E7E-82A15AC508CB}" srcOrd="0" destOrd="0" presId="urn:microsoft.com/office/officeart/2005/8/layout/radial6"/>
    <dgm:cxn modelId="{EDF8F55A-0D59-47E2-82BA-02722F4F9D14}" type="presParOf" srcId="{1A4BA1E4-D457-46DB-AEA8-A790A133B3D6}" destId="{21B86A73-01B5-4108-A9B5-6A1C4C053190}" srcOrd="1" destOrd="0" presId="urn:microsoft.com/office/officeart/2005/8/layout/radial6"/>
    <dgm:cxn modelId="{29D5BB71-082D-4CCE-8A3F-9A39333690C3}" type="presParOf" srcId="{21B86A73-01B5-4108-A9B5-6A1C4C053190}" destId="{CBCDD9B0-A571-4F3C-975D-60E055F450D0}" srcOrd="0" destOrd="0" presId="urn:microsoft.com/office/officeart/2005/8/layout/radial6"/>
    <dgm:cxn modelId="{0E6E57D7-F239-4B51-BE63-ACA69B724270}" type="presParOf" srcId="{21B86A73-01B5-4108-A9B5-6A1C4C053190}" destId="{615649C5-7221-4936-9C8A-BF0CAF84AE41}" srcOrd="1" destOrd="0" presId="urn:microsoft.com/office/officeart/2005/8/layout/radial6"/>
    <dgm:cxn modelId="{3B61CD50-149D-4A16-B7CD-608EEC22D0B5}" type="presParOf" srcId="{1A4BA1E4-D457-46DB-AEA8-A790A133B3D6}" destId="{03E49FB4-CAA1-48AD-8BCB-38725EB36D20}" srcOrd="2" destOrd="0" presId="urn:microsoft.com/office/officeart/2005/8/layout/radial6"/>
    <dgm:cxn modelId="{1DF73373-9699-4789-8399-108BEC9892FD}" type="presParOf" srcId="{1A4BA1E4-D457-46DB-AEA8-A790A133B3D6}" destId="{550C2922-0548-4A15-9914-946C1E9FB7AE}" srcOrd="3" destOrd="0" presId="urn:microsoft.com/office/officeart/2005/8/layout/radial6"/>
    <dgm:cxn modelId="{213C41E4-7324-4E0C-8F48-DF8F1BF2C652}" type="presParOf" srcId="{1A4BA1E4-D457-46DB-AEA8-A790A133B3D6}" destId="{BC4FA3CE-8FBD-4DA7-90A6-32494BEB3471}" srcOrd="4" destOrd="0" presId="urn:microsoft.com/office/officeart/2005/8/layout/radial6"/>
    <dgm:cxn modelId="{ADCBDA9D-2774-4E74-997D-58B42728F224}" type="presParOf" srcId="{1A4BA1E4-D457-46DB-AEA8-A790A133B3D6}" destId="{ECF77F63-8DDC-4F91-8F58-6A43545DC917}" srcOrd="5"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77F63-8DDC-4F91-8F58-6A43545DC917}">
      <dsp:nvSpPr>
        <dsp:cNvPr id="0" name=""/>
        <dsp:cNvSpPr/>
      </dsp:nvSpPr>
      <dsp:spPr>
        <a:xfrm>
          <a:off x="1646709" y="506146"/>
          <a:ext cx="3316039" cy="3316039"/>
        </a:xfrm>
        <a:prstGeom prst="blockArc">
          <a:avLst>
            <a:gd name="adj1" fmla="val 8787"/>
            <a:gd name="adj2" fmla="val 21591213"/>
            <a:gd name="adj3" fmla="val 463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E002E6F-4E8A-4048-8E7E-82A15AC508CB}">
      <dsp:nvSpPr>
        <dsp:cNvPr id="0" name=""/>
        <dsp:cNvSpPr/>
      </dsp:nvSpPr>
      <dsp:spPr>
        <a:xfrm>
          <a:off x="2554868" y="1392027"/>
          <a:ext cx="1526116" cy="1526116"/>
        </a:xfrm>
        <a:prstGeom prst="ellipse">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zh-CN" altLang="en-US" sz="3100" kern="1200"/>
        </a:p>
      </dsp:txBody>
      <dsp:txXfrm>
        <a:off x="2778363" y="1615522"/>
        <a:ext cx="1079126" cy="1079126"/>
      </dsp:txXfrm>
    </dsp:sp>
    <dsp:sp modelId="{615649C5-7221-4936-9C8A-BF0CAF84AE41}">
      <dsp:nvSpPr>
        <dsp:cNvPr id="0" name=""/>
        <dsp:cNvSpPr/>
      </dsp:nvSpPr>
      <dsp:spPr>
        <a:xfrm>
          <a:off x="4410782" y="2517200"/>
          <a:ext cx="1068281" cy="1068281"/>
        </a:xfrm>
        <a:prstGeom prst="ellipse">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endParaRPr lang="zh-CN" altLang="en-US" sz="2100" kern="1200"/>
        </a:p>
      </dsp:txBody>
      <dsp:txXfrm>
        <a:off x="4567228" y="2673646"/>
        <a:ext cx="755389" cy="755389"/>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6208414-63E5-4F02-90C1-1083AB123697}"/>
              </a:ext>
            </a:extLst>
          </p:cNvPr>
          <p:cNvSpPr>
            <a:spLocks noGrp="1"/>
          </p:cNvSpPr>
          <p:nvPr>
            <p:ph type="ftr" sz="quarter" idx="2"/>
          </p:nvPr>
        </p:nvSpPr>
        <p:spPr>
          <a:xfrm>
            <a:off x="483022" y="8640452"/>
            <a:ext cx="5148000" cy="216000"/>
          </a:xfrm>
          <a:prstGeom prst="rect">
            <a:avLst/>
          </a:prstGeom>
        </p:spPr>
        <p:txBody>
          <a:bodyPr vert="horz" lIns="0" tIns="0" rIns="0" bIns="0" rtlCol="0" anchor="b">
            <a:noAutofit/>
          </a:bodyPr>
          <a:lstStyle>
            <a:lvl1pPr algn="l">
              <a:defRPr sz="1200"/>
            </a:lvl1pPr>
          </a:lstStyle>
          <a:p>
            <a:r>
              <a:rPr lang="en-US" sz="800">
                <a:solidFill>
                  <a:schemeClr val="bg2"/>
                </a:solidFill>
                <a:latin typeface="Boehringer Forward Text" panose="02000500000000020000" pitchFamily="2" charset="0"/>
              </a:rPr>
              <a:t>Presentation title    |    ONLY FOR INTERNAL USE</a:t>
            </a:r>
          </a:p>
        </p:txBody>
      </p:sp>
      <p:sp>
        <p:nvSpPr>
          <p:cNvPr id="5" name="Slide Number Placeholder 4">
            <a:extLst>
              <a:ext uri="{FF2B5EF4-FFF2-40B4-BE49-F238E27FC236}">
                <a16:creationId xmlns:a16="http://schemas.microsoft.com/office/drawing/2014/main" id="{63298000-5EC0-49A7-A832-DD2DED39A0D1}"/>
              </a:ext>
            </a:extLst>
          </p:cNvPr>
          <p:cNvSpPr>
            <a:spLocks noGrp="1"/>
          </p:cNvSpPr>
          <p:nvPr>
            <p:ph type="sldNum" sz="quarter" idx="3"/>
          </p:nvPr>
        </p:nvSpPr>
        <p:spPr>
          <a:xfrm>
            <a:off x="6026812" y="8640452"/>
            <a:ext cx="360040" cy="216000"/>
          </a:xfrm>
          <a:prstGeom prst="rect">
            <a:avLst/>
          </a:prstGeom>
        </p:spPr>
        <p:txBody>
          <a:bodyPr vert="horz" lIns="0" tIns="0" rIns="0" bIns="0" rtlCol="0" anchor="b">
            <a:noAutofit/>
          </a:bodyPr>
          <a:lstStyle>
            <a:lvl1pPr algn="r">
              <a:defRPr sz="1200"/>
            </a:lvl1pPr>
          </a:lstStyle>
          <a:p>
            <a:fld id="{D388EF01-4040-4B6C-80FD-9D313BD6F632}" type="slidenum">
              <a:rPr lang="en-US" sz="800" smtClean="0">
                <a:solidFill>
                  <a:schemeClr val="bg2"/>
                </a:solidFill>
                <a:latin typeface="Boehringer Forward Text" panose="02000500000000020000" pitchFamily="2" charset="0"/>
              </a:rPr>
              <a:pPr/>
              <a:t>‹#›</a:t>
            </a:fld>
            <a:endParaRPr lang="en-US" sz="800">
              <a:solidFill>
                <a:schemeClr val="bg2"/>
              </a:solidFill>
              <a:latin typeface="Boehringer Forward Text" panose="02000500000000020000" pitchFamily="2" charset="0"/>
            </a:endParaRPr>
          </a:p>
        </p:txBody>
      </p:sp>
    </p:spTree>
    <p:extLst>
      <p:ext uri="{BB962C8B-B14F-4D97-AF65-F5344CB8AC3E}">
        <p14:creationId xmlns:p14="http://schemas.microsoft.com/office/powerpoint/2010/main" val="4013944680"/>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1" pos="302" userDrawn="1">
          <p15:clr>
            <a:srgbClr val="F26B43"/>
          </p15:clr>
        </p15:guide>
        <p15:guide id="2"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75566" y="611560"/>
            <a:ext cx="5904000" cy="3321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79425" y="4103948"/>
            <a:ext cx="5903913" cy="3897052"/>
          </a:xfrm>
          <a:prstGeom prst="rect">
            <a:avLst/>
          </a:prstGeom>
        </p:spPr>
        <p:txBody>
          <a:bodyPr vert="horz" lIns="0" tIns="0" rIns="0" bIns="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Nineth level</a:t>
            </a:r>
          </a:p>
        </p:txBody>
      </p:sp>
      <p:sp>
        <p:nvSpPr>
          <p:cNvPr id="8" name="Footer Placeholder 3">
            <a:extLst>
              <a:ext uri="{FF2B5EF4-FFF2-40B4-BE49-F238E27FC236}">
                <a16:creationId xmlns:a16="http://schemas.microsoft.com/office/drawing/2014/main" id="{5B82265E-FCCE-3032-9319-779A0A3FC97F}"/>
              </a:ext>
            </a:extLst>
          </p:cNvPr>
          <p:cNvSpPr>
            <a:spLocks noGrp="1"/>
          </p:cNvSpPr>
          <p:nvPr>
            <p:ph type="ftr" sz="quarter" idx="4"/>
          </p:nvPr>
        </p:nvSpPr>
        <p:spPr>
          <a:xfrm>
            <a:off x="483022" y="8640452"/>
            <a:ext cx="5148000" cy="216000"/>
          </a:xfrm>
          <a:prstGeom prst="rect">
            <a:avLst/>
          </a:prstGeom>
        </p:spPr>
        <p:txBody>
          <a:bodyPr vert="horz" lIns="0" tIns="0" rIns="0" bIns="0" rtlCol="0" anchor="b">
            <a:noAutofit/>
          </a:bodyPr>
          <a:lstStyle>
            <a:lvl1pPr algn="l">
              <a:defRPr sz="1200">
                <a:latin typeface="Boehringer Forward Text" panose="02000500000000020000" pitchFamily="2" charset="0"/>
              </a:defRPr>
            </a:lvl1pPr>
          </a:lstStyle>
          <a:p>
            <a:r>
              <a:rPr lang="en-US" sz="800">
                <a:solidFill>
                  <a:schemeClr val="bg2"/>
                </a:solidFill>
              </a:rPr>
              <a:t>Presentation title    |    ONLY FOR INTERNAL USE</a:t>
            </a:r>
          </a:p>
        </p:txBody>
      </p:sp>
      <p:sp>
        <p:nvSpPr>
          <p:cNvPr id="9" name="Slide Number Placeholder 4">
            <a:extLst>
              <a:ext uri="{FF2B5EF4-FFF2-40B4-BE49-F238E27FC236}">
                <a16:creationId xmlns:a16="http://schemas.microsoft.com/office/drawing/2014/main" id="{73E0AC08-0105-C885-9273-72FE8FC54C80}"/>
              </a:ext>
            </a:extLst>
          </p:cNvPr>
          <p:cNvSpPr>
            <a:spLocks noGrp="1"/>
          </p:cNvSpPr>
          <p:nvPr>
            <p:ph type="sldNum" sz="quarter" idx="5"/>
          </p:nvPr>
        </p:nvSpPr>
        <p:spPr>
          <a:xfrm>
            <a:off x="6026812" y="8640452"/>
            <a:ext cx="360040" cy="216000"/>
          </a:xfrm>
          <a:prstGeom prst="rect">
            <a:avLst/>
          </a:prstGeom>
        </p:spPr>
        <p:txBody>
          <a:bodyPr vert="horz" lIns="0" tIns="0" rIns="0" bIns="0" rtlCol="0" anchor="b">
            <a:noAutofit/>
          </a:bodyPr>
          <a:lstStyle>
            <a:lvl1pPr algn="r">
              <a:defRPr sz="1200">
                <a:latin typeface="Boehringer Forward Text" panose="02000500000000020000" pitchFamily="2" charset="0"/>
              </a:defRPr>
            </a:lvl1pPr>
          </a:lstStyle>
          <a:p>
            <a:fld id="{D388EF01-4040-4B6C-80FD-9D313BD6F632}" type="slidenum">
              <a:rPr lang="en-US" sz="800" smtClean="0">
                <a:solidFill>
                  <a:schemeClr val="bg2"/>
                </a:solidFill>
              </a:rPr>
              <a:pPr/>
              <a:t>‹#›</a:t>
            </a:fld>
            <a:endParaRPr lang="en-US" sz="800">
              <a:solidFill>
                <a:schemeClr val="bg2"/>
              </a:solidFill>
            </a:endParaRPr>
          </a:p>
        </p:txBody>
      </p:sp>
    </p:spTree>
    <p:extLst>
      <p:ext uri="{BB962C8B-B14F-4D97-AF65-F5344CB8AC3E}">
        <p14:creationId xmlns:p14="http://schemas.microsoft.com/office/powerpoint/2010/main" val="122120379"/>
      </p:ext>
    </p:extLst>
  </p:cSld>
  <p:clrMap bg1="lt1" tx1="dk1" bg2="lt2" tx2="dk2" accent1="accent1" accent2="accent2" accent3="accent3" accent4="accent4" accent5="accent5" accent6="accent6" hlink="hlink" folHlink="folHlink"/>
  <p:hf hdr="0" dt="0"/>
  <p:notesStyle>
    <a:lvl1pPr marL="144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1pPr>
    <a:lvl2pPr marL="288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2pPr>
    <a:lvl3pPr marL="432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3pPr>
    <a:lvl4pPr marL="576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4pPr>
    <a:lvl5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5pPr>
    <a:lvl6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6pPr>
    <a:lvl7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7pPr>
    <a:lvl8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8pPr>
    <a:lvl9pPr marL="720000" indent="-144000" algn="l" defTabSz="914400" rtl="0" eaLnBrk="1" latinLnBrk="0" hangingPunct="1">
      <a:lnSpc>
        <a:spcPct val="110000"/>
      </a:lnSpc>
      <a:buFont typeface="Arial" panose="020B0604020202020204" pitchFamily="34" charset="0"/>
      <a:buChar char="•"/>
      <a:defRPr sz="1200" kern="1200">
        <a:solidFill>
          <a:schemeClr val="tx1"/>
        </a:solidFill>
        <a:latin typeface="Boehringer Forward Text" panose="02000500000000020000" pitchFamily="2" charset="0"/>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pPr marL="0" indent="0">
              <a:buNone/>
            </a:pPr>
            <a:r>
              <a:rPr lang="zh-CN" altLang="en-US"/>
              <a:t>缩写</a:t>
            </a:r>
            <a:endParaRPr lang="en-US" altLang="zh-CN"/>
          </a:p>
          <a:p>
            <a:pPr marL="0" indent="0">
              <a:buNone/>
            </a:pPr>
            <a:r>
              <a:rPr lang="en-US"/>
              <a:t>1. </a:t>
            </a:r>
            <a:r>
              <a:rPr lang="zh-CN" altLang="en-US"/>
              <a:t>总费用</a:t>
            </a:r>
            <a:endParaRPr lang="de-DE"/>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a:t>
            </a:fld>
            <a:endParaRPr lang="en-US" sz="800">
              <a:solidFill>
                <a:schemeClr val="bg2"/>
              </a:solidFill>
            </a:endParaRPr>
          </a:p>
        </p:txBody>
      </p:sp>
    </p:spTree>
    <p:extLst>
      <p:ext uri="{BB962C8B-B14F-4D97-AF65-F5344CB8AC3E}">
        <p14:creationId xmlns:p14="http://schemas.microsoft.com/office/powerpoint/2010/main" val="1193960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6250" y="611188"/>
            <a:ext cx="5903913" cy="3321050"/>
          </a:xfrm>
        </p:spPr>
      </p:sp>
      <p:sp>
        <p:nvSpPr>
          <p:cNvPr id="3" name="备注占位符 2"/>
          <p:cNvSpPr>
            <a:spLocks noGrp="1"/>
          </p:cNvSpPr>
          <p:nvPr>
            <p:ph type="body" idx="1"/>
          </p:nvPr>
        </p:nvSpPr>
        <p:spPr/>
        <p:txBody>
          <a:bodyPr/>
          <a:lstStyle/>
          <a:p>
            <a:r>
              <a:rPr lang="en-US" altLang="zh-CN"/>
              <a:t>Launch</a:t>
            </a:r>
            <a:r>
              <a:rPr lang="zh-CN" altLang="en-US"/>
              <a:t>做准备</a:t>
            </a:r>
          </a:p>
        </p:txBody>
      </p:sp>
      <p:sp>
        <p:nvSpPr>
          <p:cNvPr id="4" name="页脚占位符 3"/>
          <p:cNvSpPr>
            <a:spLocks noGrp="1"/>
          </p:cNvSpPr>
          <p:nvPr>
            <p:ph type="ftr" sz="quarter" idx="4"/>
          </p:nvPr>
        </p:nvSpPr>
        <p:spPr/>
        <p:txBody>
          <a:bodyPr/>
          <a:lstStyle/>
          <a:p>
            <a:r>
              <a:rPr lang="en-US" sz="800">
                <a:solidFill>
                  <a:schemeClr val="bg2"/>
                </a:solidFill>
              </a:rPr>
              <a:t>Presentation title    |    ONLY FOR INTERNAL USE</a:t>
            </a:r>
          </a:p>
        </p:txBody>
      </p:sp>
      <p:sp>
        <p:nvSpPr>
          <p:cNvPr id="5" name="灯片编号占位符 4"/>
          <p:cNvSpPr>
            <a:spLocks noGrp="1"/>
          </p:cNvSpPr>
          <p:nvPr>
            <p:ph type="sldNum" sz="quarter" idx="5"/>
          </p:nvPr>
        </p:nvSpPr>
        <p:spPr/>
        <p:txBody>
          <a:bodyPr/>
          <a:lstStyle/>
          <a:p>
            <a:fld id="{D388EF01-4040-4B6C-80FD-9D313BD6F632}" type="slidenum">
              <a:rPr lang="en-US" sz="800" smtClean="0">
                <a:solidFill>
                  <a:schemeClr val="bg2"/>
                </a:solidFill>
              </a:rPr>
              <a:pPr/>
              <a:t>2</a:t>
            </a:fld>
            <a:endParaRPr lang="en-US" sz="800">
              <a:solidFill>
                <a:schemeClr val="bg2"/>
              </a:solidFill>
            </a:endParaRPr>
          </a:p>
        </p:txBody>
      </p:sp>
    </p:spTree>
    <p:extLst>
      <p:ext uri="{BB962C8B-B14F-4D97-AF65-F5344CB8AC3E}">
        <p14:creationId xmlns:p14="http://schemas.microsoft.com/office/powerpoint/2010/main" val="3634001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6250" y="611188"/>
            <a:ext cx="5903913" cy="3321050"/>
          </a:xfrm>
        </p:spPr>
      </p:sp>
      <p:sp>
        <p:nvSpPr>
          <p:cNvPr id="3" name="备注占位符 2"/>
          <p:cNvSpPr>
            <a:spLocks noGrp="1"/>
          </p:cNvSpPr>
          <p:nvPr>
            <p:ph type="body" idx="1"/>
          </p:nvPr>
        </p:nvSpPr>
        <p:spPr/>
        <p:txBody>
          <a:bodyPr/>
          <a:lstStyle/>
          <a:p>
            <a:pPr marL="0" indent="0">
              <a:buNone/>
            </a:pPr>
            <a:endParaRPr lang="en-US" altLang="zh-CN"/>
          </a:p>
        </p:txBody>
      </p:sp>
      <p:sp>
        <p:nvSpPr>
          <p:cNvPr id="4" name="灯片编号占位符 3"/>
          <p:cNvSpPr>
            <a:spLocks noGrp="1"/>
          </p:cNvSpPr>
          <p:nvPr>
            <p:ph type="sldNum" sz="quarter" idx="5"/>
          </p:nvPr>
        </p:nvSpPr>
        <p:spPr/>
        <p:txBody>
          <a:bodyPr/>
          <a:lstStyle/>
          <a:p>
            <a:fld id="{D0661EE8-70BC-4533-8E68-96BB40D74796}" type="slidenum">
              <a:rPr lang="zh-CN" altLang="en-US" smtClean="0"/>
              <a:t>4</a:t>
            </a:fld>
            <a:endParaRPr lang="zh-CN" altLang="en-US"/>
          </a:p>
        </p:txBody>
      </p:sp>
    </p:spTree>
    <p:extLst>
      <p:ext uri="{BB962C8B-B14F-4D97-AF65-F5344CB8AC3E}">
        <p14:creationId xmlns:p14="http://schemas.microsoft.com/office/powerpoint/2010/main" val="317388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zh-CN" altLang="en-US"/>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5</a:t>
            </a:fld>
            <a:endParaRPr lang="en-US" sz="800">
              <a:solidFill>
                <a:schemeClr val="bg2"/>
              </a:solidFill>
            </a:endParaRPr>
          </a:p>
        </p:txBody>
      </p:sp>
    </p:spTree>
    <p:extLst>
      <p:ext uri="{BB962C8B-B14F-4D97-AF65-F5344CB8AC3E}">
        <p14:creationId xmlns:p14="http://schemas.microsoft.com/office/powerpoint/2010/main" val="4105596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F53F0-062B-8ED9-B064-8831C88700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37C8AB-15C0-3745-992D-E51F63AA1426}"/>
              </a:ext>
            </a:extLst>
          </p:cNvPr>
          <p:cNvSpPr>
            <a:spLocks noGrp="1" noRot="1" noChangeAspect="1"/>
          </p:cNvSpPr>
          <p:nvPr>
            <p:ph type="sldImg"/>
          </p:nvPr>
        </p:nvSpPr>
        <p:spPr>
          <a:xfrm>
            <a:off x="476250" y="611188"/>
            <a:ext cx="5903913" cy="3321050"/>
          </a:xfrm>
        </p:spPr>
      </p:sp>
      <p:sp>
        <p:nvSpPr>
          <p:cNvPr id="3" name="备注占位符 2">
            <a:extLst>
              <a:ext uri="{FF2B5EF4-FFF2-40B4-BE49-F238E27FC236}">
                <a16:creationId xmlns:a16="http://schemas.microsoft.com/office/drawing/2014/main" id="{6619180F-F376-D30E-5111-CF6E58D502AC}"/>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6001948A-6054-E62F-1CF1-1AE6EB63EFE1}"/>
              </a:ext>
            </a:extLst>
          </p:cNvPr>
          <p:cNvSpPr>
            <a:spLocks noGrp="1"/>
          </p:cNvSpPr>
          <p:nvPr>
            <p:ph type="sldNum" sz="quarter" idx="5"/>
          </p:nvPr>
        </p:nvSpPr>
        <p:spPr/>
        <p:txBody>
          <a:bodyPr/>
          <a:lstStyle/>
          <a:p>
            <a:fld id="{29C6583C-5D3C-754D-9703-0AE26E04DEDF}" type="slidenum">
              <a:rPr kumimoji="1" lang="zh-CN" altLang="en-US" smtClean="0"/>
              <a:t>6</a:t>
            </a:fld>
            <a:endParaRPr kumimoji="1" lang="zh-CN" altLang="en-US"/>
          </a:p>
        </p:txBody>
      </p:sp>
    </p:spTree>
    <p:extLst>
      <p:ext uri="{BB962C8B-B14F-4D97-AF65-F5344CB8AC3E}">
        <p14:creationId xmlns:p14="http://schemas.microsoft.com/office/powerpoint/2010/main" val="1902808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1342C-8603-7DF7-AECD-3670C53F0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F956DE-4BF3-8508-448B-E00A0717785F}"/>
              </a:ext>
            </a:extLst>
          </p:cNvPr>
          <p:cNvSpPr>
            <a:spLocks noGrp="1" noRot="1" noChangeAspect="1"/>
          </p:cNvSpPr>
          <p:nvPr>
            <p:ph type="sldImg"/>
          </p:nvPr>
        </p:nvSpPr>
        <p:spPr>
          <a:xfrm>
            <a:off x="476250" y="611188"/>
            <a:ext cx="5903913" cy="3321050"/>
          </a:xfrm>
        </p:spPr>
      </p:sp>
      <p:sp>
        <p:nvSpPr>
          <p:cNvPr id="3" name="Notes Placeholder 2">
            <a:extLst>
              <a:ext uri="{FF2B5EF4-FFF2-40B4-BE49-F238E27FC236}">
                <a16:creationId xmlns:a16="http://schemas.microsoft.com/office/drawing/2014/main" id="{AF5CEBC5-6895-2974-EF7A-72774D823C5F}"/>
              </a:ext>
            </a:extLst>
          </p:cNvPr>
          <p:cNvSpPr>
            <a:spLocks noGrp="1"/>
          </p:cNvSpPr>
          <p:nvPr>
            <p:ph type="body" idx="1"/>
          </p:nvPr>
        </p:nvSpPr>
        <p:spPr/>
        <p:txBody>
          <a:bodyPr/>
          <a:lstStyle/>
          <a:p>
            <a:pPr marL="0" indent="0">
              <a:buNone/>
            </a:pPr>
            <a:r>
              <a:rPr lang="en-US" altLang="zh-CN"/>
              <a:t>2023</a:t>
            </a:r>
            <a:endParaRPr lang="en-US" altLang="zh-CN">
              <a:solidFill>
                <a:prstClr val="black"/>
              </a:solidFill>
              <a:latin typeface="BISans"/>
            </a:endParaRPr>
          </a:p>
          <a:p>
            <a:pPr marL="0" indent="0">
              <a:buNone/>
            </a:pPr>
            <a:endParaRPr lang="en-US" altLang="zh-CN"/>
          </a:p>
        </p:txBody>
      </p:sp>
      <p:sp>
        <p:nvSpPr>
          <p:cNvPr id="4" name="Slide Number Placeholder 3">
            <a:extLst>
              <a:ext uri="{FF2B5EF4-FFF2-40B4-BE49-F238E27FC236}">
                <a16:creationId xmlns:a16="http://schemas.microsoft.com/office/drawing/2014/main" id="{3E550F16-B85A-53E7-F5D0-14EB2136F5F6}"/>
              </a:ext>
            </a:extLst>
          </p:cNvPr>
          <p:cNvSpPr>
            <a:spLocks noGrp="1"/>
          </p:cNvSpPr>
          <p:nvPr>
            <p:ph type="sldNum" sz="quarter" idx="5"/>
          </p:nvPr>
        </p:nvSpPr>
        <p:spPr/>
        <p:txBody>
          <a:bodyPr/>
          <a:lstStyle/>
          <a:p>
            <a:fld id="{BCDC17C3-EC3F-4FEA-AB3A-D6FDE184CE82}" type="slidenum">
              <a:rPr lang="en-US" smtClean="0"/>
              <a:t>7</a:t>
            </a:fld>
            <a:endParaRPr lang="en-US"/>
          </a:p>
        </p:txBody>
      </p:sp>
    </p:spTree>
    <p:extLst>
      <p:ext uri="{BB962C8B-B14F-4D97-AF65-F5344CB8AC3E}">
        <p14:creationId xmlns:p14="http://schemas.microsoft.com/office/powerpoint/2010/main" val="1540551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616C7-1D72-6382-50AA-F0133DB605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E4ED39-CC69-B234-B76F-C8F66A567A19}"/>
              </a:ext>
            </a:extLst>
          </p:cNvPr>
          <p:cNvSpPr>
            <a:spLocks noGrp="1" noRot="1" noChangeAspect="1"/>
          </p:cNvSpPr>
          <p:nvPr>
            <p:ph type="sldImg"/>
          </p:nvPr>
        </p:nvSpPr>
        <p:spPr>
          <a:xfrm>
            <a:off x="476250" y="611188"/>
            <a:ext cx="5903913" cy="3321050"/>
          </a:xfrm>
        </p:spPr>
      </p:sp>
      <p:sp>
        <p:nvSpPr>
          <p:cNvPr id="3" name="备注占位符 2">
            <a:extLst>
              <a:ext uri="{FF2B5EF4-FFF2-40B4-BE49-F238E27FC236}">
                <a16:creationId xmlns:a16="http://schemas.microsoft.com/office/drawing/2014/main" id="{3975366D-C61F-9A0E-48BC-697C07C10A49}"/>
              </a:ext>
            </a:extLst>
          </p:cNvPr>
          <p:cNvSpPr>
            <a:spLocks noGrp="1"/>
          </p:cNvSpPr>
          <p:nvPr>
            <p:ph type="body" idx="1"/>
          </p:nvPr>
        </p:nvSpPr>
        <p:spPr/>
        <p:txBody>
          <a:bodyPr/>
          <a:lstStyle/>
          <a:p>
            <a:r>
              <a:rPr kumimoji="1" lang="zh-CN" altLang="en-US"/>
              <a:t>总部</a:t>
            </a:r>
            <a:r>
              <a:rPr kumimoji="1" lang="en-US" altLang="zh-CN"/>
              <a:t>trt</a:t>
            </a:r>
          </a:p>
          <a:p>
            <a:pPr marL="0" marR="0" lvl="0" indent="0" algn="l" defTabSz="914400" rtl="0" eaLnBrk="1" fontAlgn="ctr" latinLnBrk="0" hangingPunct="1">
              <a:lnSpc>
                <a:spcPct val="100000"/>
              </a:lnSpc>
              <a:spcBef>
                <a:spcPts val="0"/>
              </a:spcBef>
              <a:spcAft>
                <a:spcPts val="0"/>
              </a:spcAft>
              <a:buClrTx/>
              <a:buSzTx/>
              <a:buFontTx/>
              <a:buNone/>
              <a:tabLst/>
              <a:defRPr/>
            </a:pPr>
            <a:endParaRPr lang="en-US" sz="1200" b="1" u="none" strike="noStrike">
              <a:effectLst/>
            </a:endParaRPr>
          </a:p>
          <a:p>
            <a:pPr algn="l" fontAlgn="ctr">
              <a:buNone/>
            </a:pPr>
            <a:r>
              <a:rPr lang="en-US" sz="1200" b="1" i="0" u="none" strike="noStrike" kern="1200">
                <a:solidFill>
                  <a:srgbClr val="000000"/>
                </a:solidFill>
                <a:effectLst/>
                <a:latin typeface="Aptos Narrow" panose="020B0004020202020204" pitchFamily="34" charset="0"/>
                <a:ea typeface="+mn-ea"/>
                <a:cs typeface="+mn-cs"/>
              </a:rPr>
              <a:t>Exploratory-time-to-event () </a:t>
            </a:r>
            <a:r>
              <a:rPr lang="en-US" altLang="zh-CN" sz="1200" b="0" i="0" u="none" strike="noStrike" kern="1200">
                <a:solidFill>
                  <a:srgbClr val="000000"/>
                </a:solidFill>
                <a:effectLst/>
                <a:latin typeface="Aptos Narrow" panose="020B0004020202020204" pitchFamily="34" charset="0"/>
                <a:ea typeface="+mn-ea"/>
                <a:cs typeface="+mn-cs"/>
              </a:rPr>
              <a:t>SGLT2i, MET, DPP-4i, GLP-1 RA, Insulin; ACEI, ARB, β-blocker, CCB; Statins; Aspirin; Anticoagulants, etc.</a:t>
            </a:r>
            <a:endParaRPr lang="en-US" sz="1200" b="1" i="0" u="none" strike="noStrike" kern="1200">
              <a:solidFill>
                <a:srgbClr val="000000"/>
              </a:solidFill>
              <a:effectLst/>
              <a:latin typeface="Aptos Narrow" panose="020B0004020202020204" pitchFamily="34" charset="0"/>
              <a:ea typeface="+mn-ea"/>
              <a:cs typeface="+mn-cs"/>
            </a:endParaRPr>
          </a:p>
        </p:txBody>
      </p:sp>
      <p:sp>
        <p:nvSpPr>
          <p:cNvPr id="4" name="灯片编号占位符 3">
            <a:extLst>
              <a:ext uri="{FF2B5EF4-FFF2-40B4-BE49-F238E27FC236}">
                <a16:creationId xmlns:a16="http://schemas.microsoft.com/office/drawing/2014/main" id="{39D9D13C-BC23-8F81-C5F3-2269F9757CA9}"/>
              </a:ext>
            </a:extLst>
          </p:cNvPr>
          <p:cNvSpPr>
            <a:spLocks noGrp="1"/>
          </p:cNvSpPr>
          <p:nvPr>
            <p:ph type="sldNum" sz="quarter" idx="5"/>
          </p:nvPr>
        </p:nvSpPr>
        <p:spPr/>
        <p:txBody>
          <a:bodyPr/>
          <a:lstStyle/>
          <a:p>
            <a:fld id="{C65F0F37-E8DD-274F-8E79-7BB9FBABDD83}" type="slidenum">
              <a:rPr kumimoji="1" lang="zh-CN" altLang="en-US" smtClean="0"/>
              <a:t>8</a:t>
            </a:fld>
            <a:endParaRPr kumimoji="1" lang="zh-CN" altLang="en-US"/>
          </a:p>
        </p:txBody>
      </p:sp>
    </p:spTree>
    <p:extLst>
      <p:ext uri="{BB962C8B-B14F-4D97-AF65-F5344CB8AC3E}">
        <p14:creationId xmlns:p14="http://schemas.microsoft.com/office/powerpoint/2010/main" val="556176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A7CBF-266E-C3BF-A04F-384911FD2578}"/>
            </a:ext>
          </a:extLst>
        </p:cNvPr>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5431AA6E-7271-CBE9-21DB-9A8B99364F66}"/>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8041C99C-8352-6D8C-AAD1-3865FD075114}"/>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A91ED92B-6A32-BF2A-7721-57E90D7C8268}"/>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p>
        </p:txBody>
      </p:sp>
      <p:sp>
        <p:nvSpPr>
          <p:cNvPr id="9" name="Foliennummernplatzhalter 4">
            <a:extLst>
              <a:ext uri="{FF2B5EF4-FFF2-40B4-BE49-F238E27FC236}">
                <a16:creationId xmlns:a16="http://schemas.microsoft.com/office/drawing/2014/main" id="{FDEFB5E4-810B-4085-D1BB-67DEE53EA8D4}"/>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9</a:t>
            </a:fld>
            <a:endParaRPr lang="en-US" sz="800">
              <a:solidFill>
                <a:schemeClr val="bg2"/>
              </a:solidFill>
            </a:endParaRPr>
          </a:p>
        </p:txBody>
      </p:sp>
    </p:spTree>
    <p:extLst>
      <p:ext uri="{BB962C8B-B14F-4D97-AF65-F5344CB8AC3E}">
        <p14:creationId xmlns:p14="http://schemas.microsoft.com/office/powerpoint/2010/main" val="4264572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en-US" altLang="zh-CN"/>
              <a:t>publication</a:t>
            </a:r>
          </a:p>
          <a:p>
            <a:r>
              <a:rPr lang="zh-CN" altLang="en-US"/>
              <a:t>这里开始持续产生</a:t>
            </a:r>
            <a:r>
              <a:rPr lang="en-US"/>
              <a:t>insights for internal use </a:t>
            </a:r>
          </a:p>
          <a:p>
            <a:r>
              <a:rPr lang="zh-CN" altLang="en-US"/>
              <a:t>三期提前</a:t>
            </a:r>
            <a:r>
              <a:rPr lang="en-US" altLang="zh-CN"/>
              <a:t>1</a:t>
            </a:r>
            <a:r>
              <a:rPr lang="zh-CN" altLang="en-US"/>
              <a:t>年</a:t>
            </a:r>
            <a:endParaRPr lang="en-US"/>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10</a:t>
            </a:fld>
            <a:endParaRPr lang="en-US" sz="800">
              <a:solidFill>
                <a:schemeClr val="bg2"/>
              </a:solidFill>
            </a:endParaRPr>
          </a:p>
        </p:txBody>
      </p:sp>
    </p:spTree>
    <p:extLst>
      <p:ext uri="{BB962C8B-B14F-4D97-AF65-F5344CB8AC3E}">
        <p14:creationId xmlns:p14="http://schemas.microsoft.com/office/powerpoint/2010/main" val="21891050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en-US"/>
              <a:t>With yin</a:t>
            </a:r>
          </a:p>
          <a:p>
            <a:r>
              <a:rPr lang="zh-CN" altLang="en-US"/>
              <a:t>大型队列的</a:t>
            </a:r>
            <a:r>
              <a:rPr lang="en-US" altLang="zh-CN"/>
              <a:t>leading PI</a:t>
            </a:r>
            <a:r>
              <a:rPr lang="zh-CN" altLang="en-US"/>
              <a:t>，赵明辉</a:t>
            </a:r>
            <a:endParaRPr lang="en-US"/>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11</a:t>
            </a:fld>
            <a:endParaRPr lang="en-US" sz="800">
              <a:solidFill>
                <a:schemeClr val="bg2"/>
              </a:solidFill>
            </a:endParaRPr>
          </a:p>
        </p:txBody>
      </p:sp>
    </p:spTree>
    <p:extLst>
      <p:ext uri="{BB962C8B-B14F-4D97-AF65-F5344CB8AC3E}">
        <p14:creationId xmlns:p14="http://schemas.microsoft.com/office/powerpoint/2010/main" val="1635815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zh-CN" altLang="en-US"/>
              <a:t>巩固治疗理念，支持</a:t>
            </a:r>
            <a:r>
              <a:rPr lang="en-US" altLang="zh-CN"/>
              <a:t>vision foundation therapy</a:t>
            </a:r>
            <a:r>
              <a:rPr lang="zh-CN" altLang="en-US"/>
              <a:t>，</a:t>
            </a:r>
            <a:r>
              <a:rPr lang="en-US" altLang="zh-CN"/>
              <a:t>scientific leadership</a:t>
            </a:r>
          </a:p>
          <a:p>
            <a:endParaRPr lang="en-US"/>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12</a:t>
            </a:fld>
            <a:endParaRPr lang="en-US" sz="800">
              <a:solidFill>
                <a:schemeClr val="bg2"/>
              </a:solidFill>
            </a:endParaRPr>
          </a:p>
        </p:txBody>
      </p:sp>
    </p:spTree>
    <p:extLst>
      <p:ext uri="{BB962C8B-B14F-4D97-AF65-F5344CB8AC3E}">
        <p14:creationId xmlns:p14="http://schemas.microsoft.com/office/powerpoint/2010/main" val="26341563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de-DE"/>
              <a:t>CVRR??</a:t>
            </a:r>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13</a:t>
            </a:fld>
            <a:endParaRPr lang="en-US" sz="800">
              <a:solidFill>
                <a:schemeClr val="bg2"/>
              </a:solidFill>
            </a:endParaRPr>
          </a:p>
        </p:txBody>
      </p:sp>
    </p:spTree>
    <p:extLst>
      <p:ext uri="{BB962C8B-B14F-4D97-AF65-F5344CB8AC3E}">
        <p14:creationId xmlns:p14="http://schemas.microsoft.com/office/powerpoint/2010/main" val="11939603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6250" y="611188"/>
            <a:ext cx="5903913" cy="3321050"/>
          </a:xfrm>
        </p:spPr>
      </p:sp>
      <p:sp>
        <p:nvSpPr>
          <p:cNvPr id="3" name="备注占位符 2"/>
          <p:cNvSpPr>
            <a:spLocks noGrp="1"/>
          </p:cNvSpPr>
          <p:nvPr>
            <p:ph type="body" idx="1"/>
          </p:nvPr>
        </p:nvSpPr>
        <p:spPr/>
        <p:txBody>
          <a:bodyPr/>
          <a:lstStyle/>
          <a:p>
            <a:r>
              <a:rPr lang="en-US" altLang="zh-CN"/>
              <a:t>CVRR</a:t>
            </a:r>
            <a:r>
              <a:rPr lang="zh-CN" altLang="en-US"/>
              <a:t>定义</a:t>
            </a:r>
            <a:endParaRPr lang="en-US" altLang="zh-CN"/>
          </a:p>
          <a:p>
            <a:r>
              <a:rPr lang="zh-CN" altLang="en-US"/>
              <a:t>为三期临床研究提供真实世界数据支持，一级预防</a:t>
            </a:r>
          </a:p>
        </p:txBody>
      </p:sp>
      <p:sp>
        <p:nvSpPr>
          <p:cNvPr id="4" name="页脚占位符 3"/>
          <p:cNvSpPr>
            <a:spLocks noGrp="1"/>
          </p:cNvSpPr>
          <p:nvPr>
            <p:ph type="ftr" sz="quarter" idx="4"/>
          </p:nvPr>
        </p:nvSpPr>
        <p:spPr/>
        <p:txBody>
          <a:bodyPr/>
          <a:lstStyle/>
          <a:p>
            <a:r>
              <a:rPr lang="en-US" sz="800">
                <a:solidFill>
                  <a:schemeClr val="bg2"/>
                </a:solidFill>
              </a:rPr>
              <a:t>Presentation title    |    ONLY FOR INTERNAL USE</a:t>
            </a:r>
          </a:p>
        </p:txBody>
      </p:sp>
      <p:sp>
        <p:nvSpPr>
          <p:cNvPr id="5" name="灯片编号占位符 4"/>
          <p:cNvSpPr>
            <a:spLocks noGrp="1"/>
          </p:cNvSpPr>
          <p:nvPr>
            <p:ph type="sldNum" sz="quarter" idx="5"/>
          </p:nvPr>
        </p:nvSpPr>
        <p:spPr/>
        <p:txBody>
          <a:bodyPr/>
          <a:lstStyle/>
          <a:p>
            <a:fld id="{D388EF01-4040-4B6C-80FD-9D313BD6F632}" type="slidenum">
              <a:rPr lang="en-US" sz="800" smtClean="0">
                <a:solidFill>
                  <a:schemeClr val="bg2"/>
                </a:solidFill>
              </a:rPr>
              <a:pPr/>
              <a:t>14</a:t>
            </a:fld>
            <a:endParaRPr lang="en-US" sz="800">
              <a:solidFill>
                <a:schemeClr val="bg2"/>
              </a:solidFill>
            </a:endParaRPr>
          </a:p>
        </p:txBody>
      </p:sp>
    </p:spTree>
    <p:extLst>
      <p:ext uri="{BB962C8B-B14F-4D97-AF65-F5344CB8AC3E}">
        <p14:creationId xmlns:p14="http://schemas.microsoft.com/office/powerpoint/2010/main" val="36340017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1850B-06A8-6A9A-7271-5E2088AB11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B69990-7353-4DCD-3864-8BF2777C7AD5}"/>
              </a:ext>
            </a:extLst>
          </p:cNvPr>
          <p:cNvSpPr>
            <a:spLocks noGrp="1" noRot="1" noChangeAspect="1"/>
          </p:cNvSpPr>
          <p:nvPr>
            <p:ph type="sldImg"/>
          </p:nvPr>
        </p:nvSpPr>
        <p:spPr>
          <a:xfrm>
            <a:off x="476250" y="611188"/>
            <a:ext cx="5903913" cy="3321050"/>
          </a:xfrm>
        </p:spPr>
      </p:sp>
      <p:sp>
        <p:nvSpPr>
          <p:cNvPr id="3" name="备注占位符 2">
            <a:extLst>
              <a:ext uri="{FF2B5EF4-FFF2-40B4-BE49-F238E27FC236}">
                <a16:creationId xmlns:a16="http://schemas.microsoft.com/office/drawing/2014/main" id="{0063C59D-D65F-FCA2-CD77-7EB2DFEA6043}"/>
              </a:ext>
            </a:extLst>
          </p:cNvPr>
          <p:cNvSpPr>
            <a:spLocks noGrp="1"/>
          </p:cNvSpPr>
          <p:nvPr>
            <p:ph type="body" idx="1"/>
          </p:nvPr>
        </p:nvSpPr>
        <p:spPr/>
        <p:txBody>
          <a:bodyPr/>
          <a:lstStyle/>
          <a:p>
            <a:pPr marL="0" indent="0">
              <a:buNone/>
            </a:pPr>
            <a:endParaRPr lang="zh-CN" altLang="en-US"/>
          </a:p>
        </p:txBody>
      </p:sp>
      <p:sp>
        <p:nvSpPr>
          <p:cNvPr id="4" name="灯片编号占位符 3">
            <a:extLst>
              <a:ext uri="{FF2B5EF4-FFF2-40B4-BE49-F238E27FC236}">
                <a16:creationId xmlns:a16="http://schemas.microsoft.com/office/drawing/2014/main" id="{EAD42EA1-1639-AE20-99A6-B1A3EBBD50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1FAA1A-615A-4CB4-9401-314F39E5750F}"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39619786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3BD9A-B1AE-BA18-75C6-8400491B93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D2C2FB-3E5A-D97B-BB2F-C1216D91A1BF}"/>
              </a:ext>
            </a:extLst>
          </p:cNvPr>
          <p:cNvSpPr>
            <a:spLocks noGrp="1" noRot="1" noChangeAspect="1"/>
          </p:cNvSpPr>
          <p:nvPr>
            <p:ph type="sldImg"/>
          </p:nvPr>
        </p:nvSpPr>
        <p:spPr>
          <a:xfrm>
            <a:off x="476250" y="611188"/>
            <a:ext cx="5903913" cy="3321050"/>
          </a:xfrm>
        </p:spPr>
      </p:sp>
      <p:sp>
        <p:nvSpPr>
          <p:cNvPr id="3" name="备注占位符 2">
            <a:extLst>
              <a:ext uri="{FF2B5EF4-FFF2-40B4-BE49-F238E27FC236}">
                <a16:creationId xmlns:a16="http://schemas.microsoft.com/office/drawing/2014/main" id="{1E048106-7862-D5E4-3899-52DF73F3125D}"/>
              </a:ext>
            </a:extLst>
          </p:cNvPr>
          <p:cNvSpPr>
            <a:spLocks noGrp="1"/>
          </p:cNvSpPr>
          <p:nvPr>
            <p:ph type="body" idx="1"/>
          </p:nvPr>
        </p:nvSpPr>
        <p:spPr/>
        <p:txBody>
          <a:bodyPr/>
          <a:lstStyle/>
          <a:p>
            <a:pPr marL="0" indent="0">
              <a:buNone/>
            </a:pPr>
            <a:endParaRPr lang="zh-CN" altLang="en-US" b="1">
              <a:latin typeface="Boehringer Text"/>
            </a:endParaRPr>
          </a:p>
        </p:txBody>
      </p:sp>
      <p:sp>
        <p:nvSpPr>
          <p:cNvPr id="4" name="灯片编号占位符 3">
            <a:extLst>
              <a:ext uri="{FF2B5EF4-FFF2-40B4-BE49-F238E27FC236}">
                <a16:creationId xmlns:a16="http://schemas.microsoft.com/office/drawing/2014/main" id="{78B0AEE1-89CE-BC9E-6655-49AA2F6393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1FAA1A-615A-4CB4-9401-314F39E5750F}"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658774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17</a:t>
            </a:fld>
            <a:endParaRPr lang="en-US" sz="800">
              <a:solidFill>
                <a:schemeClr val="bg2"/>
              </a:solidFill>
            </a:endParaRPr>
          </a:p>
        </p:txBody>
      </p:sp>
    </p:spTree>
    <p:extLst>
      <p:ext uri="{BB962C8B-B14F-4D97-AF65-F5344CB8AC3E}">
        <p14:creationId xmlns:p14="http://schemas.microsoft.com/office/powerpoint/2010/main" val="2258689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en-US"/>
              <a:t>CDC</a:t>
            </a:r>
            <a:r>
              <a:rPr lang="zh-CN" altLang="en-US"/>
              <a:t>合作，希望能和更多临床专家合作；</a:t>
            </a:r>
            <a:r>
              <a:rPr lang="en-US"/>
              <a:t>CDC</a:t>
            </a:r>
            <a:r>
              <a:rPr lang="zh-CN" altLang="en-US"/>
              <a:t>合作，唯一能够提供多个数据，唯一</a:t>
            </a:r>
            <a:r>
              <a:rPr lang="en-US" altLang="zh-CN"/>
              <a:t>open</a:t>
            </a:r>
            <a:r>
              <a:rPr lang="zh-CN" altLang="en-US"/>
              <a:t>给企业的数据库；</a:t>
            </a:r>
            <a:endParaRPr lang="en-US"/>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18</a:t>
            </a:fld>
            <a:endParaRPr lang="en-US" sz="800">
              <a:solidFill>
                <a:schemeClr val="bg2"/>
              </a:solidFill>
            </a:endParaRPr>
          </a:p>
        </p:txBody>
      </p:sp>
    </p:spTree>
    <p:extLst>
      <p:ext uri="{BB962C8B-B14F-4D97-AF65-F5344CB8AC3E}">
        <p14:creationId xmlns:p14="http://schemas.microsoft.com/office/powerpoint/2010/main" val="36888370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pPr marL="0" indent="0">
              <a:buNone/>
            </a:pPr>
            <a:r>
              <a:rPr lang="zh-CN" altLang="en-US"/>
              <a:t>删除原因：慢危没有</a:t>
            </a:r>
            <a:r>
              <a:rPr lang="en-US" altLang="zh-CN"/>
              <a:t>HF</a:t>
            </a:r>
            <a:endParaRPr lang="en-US"/>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19</a:t>
            </a:fld>
            <a:endParaRPr lang="en-US" sz="800">
              <a:solidFill>
                <a:schemeClr val="bg2"/>
              </a:solidFill>
            </a:endParaRPr>
          </a:p>
        </p:txBody>
      </p:sp>
    </p:spTree>
    <p:extLst>
      <p:ext uri="{BB962C8B-B14F-4D97-AF65-F5344CB8AC3E}">
        <p14:creationId xmlns:p14="http://schemas.microsoft.com/office/powerpoint/2010/main" val="1407790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616C7-1D72-6382-50AA-F0133DB605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E4ED39-CC69-B234-B76F-C8F66A567A19}"/>
              </a:ext>
            </a:extLst>
          </p:cNvPr>
          <p:cNvSpPr>
            <a:spLocks noGrp="1" noRot="1" noChangeAspect="1"/>
          </p:cNvSpPr>
          <p:nvPr>
            <p:ph type="sldImg"/>
          </p:nvPr>
        </p:nvSpPr>
        <p:spPr>
          <a:xfrm>
            <a:off x="476250" y="611188"/>
            <a:ext cx="5903913" cy="3321050"/>
          </a:xfrm>
        </p:spPr>
      </p:sp>
      <p:sp>
        <p:nvSpPr>
          <p:cNvPr id="3" name="备注占位符 2">
            <a:extLst>
              <a:ext uri="{FF2B5EF4-FFF2-40B4-BE49-F238E27FC236}">
                <a16:creationId xmlns:a16="http://schemas.microsoft.com/office/drawing/2014/main" id="{3975366D-C61F-9A0E-48BC-697C07C10A49}"/>
              </a:ext>
            </a:extLst>
          </p:cNvPr>
          <p:cNvSpPr>
            <a:spLocks noGrp="1"/>
          </p:cNvSpPr>
          <p:nvPr>
            <p:ph type="body" idx="1"/>
          </p:nvPr>
        </p:nvSpPr>
        <p:spPr/>
        <p:txBody>
          <a:bodyPr/>
          <a:lstStyle/>
          <a:p>
            <a:r>
              <a:rPr kumimoji="1" lang="zh-CN" altLang="en-US"/>
              <a:t>文献，</a:t>
            </a:r>
            <a:r>
              <a:rPr kumimoji="1" lang="en-US" altLang="zh-CN"/>
              <a:t>HTN/T2D</a:t>
            </a:r>
          </a:p>
          <a:p>
            <a:r>
              <a:rPr kumimoji="1" lang="en-US" altLang="zh-CN"/>
              <a:t>Index_date</a:t>
            </a:r>
          </a:p>
          <a:p>
            <a:endParaRPr kumimoji="1" lang="en-US" altLang="zh-CN"/>
          </a:p>
          <a:p>
            <a:pPr marL="0" marR="0" lvl="0" indent="0" algn="l" defTabSz="914400" rtl="0" eaLnBrk="1" fontAlgn="ctr" latinLnBrk="0" hangingPunct="1">
              <a:lnSpc>
                <a:spcPct val="100000"/>
              </a:lnSpc>
              <a:spcBef>
                <a:spcPts val="0"/>
              </a:spcBef>
              <a:spcAft>
                <a:spcPts val="0"/>
              </a:spcAft>
              <a:buClrTx/>
              <a:buSzTx/>
              <a:buFontTx/>
              <a:buNone/>
              <a:tabLst/>
              <a:defRPr/>
            </a:pPr>
            <a:endParaRPr lang="en-US" sz="1200" b="1" u="none" strike="noStrike">
              <a:effectLst/>
            </a:endParaRPr>
          </a:p>
          <a:p>
            <a:pPr algn="l" fontAlgn="ctr">
              <a:buNone/>
            </a:pPr>
            <a:r>
              <a:rPr lang="en-US" sz="1200" b="1" i="0" u="none" strike="noStrike" kern="1200">
                <a:solidFill>
                  <a:srgbClr val="000000"/>
                </a:solidFill>
                <a:effectLst/>
                <a:latin typeface="Aptos Narrow" panose="020B0004020202020204" pitchFamily="34" charset="0"/>
                <a:ea typeface="+mn-ea"/>
                <a:cs typeface="+mn-cs"/>
              </a:rPr>
              <a:t>Exploratory-time-to-event () </a:t>
            </a:r>
            <a:r>
              <a:rPr lang="en-US" altLang="zh-CN" sz="1200" b="0" i="0" u="none" strike="noStrike" kern="1200">
                <a:solidFill>
                  <a:srgbClr val="000000"/>
                </a:solidFill>
                <a:effectLst/>
                <a:latin typeface="Aptos Narrow" panose="020B0004020202020204" pitchFamily="34" charset="0"/>
                <a:ea typeface="+mn-ea"/>
                <a:cs typeface="+mn-cs"/>
              </a:rPr>
              <a:t>SGLT2i, MET, DPP-4i, GLP-1 RA, Insulin; ACEI, ARB, β-blocker, CCB; Statins; Aspirin; Anticoagulants, etc.</a:t>
            </a:r>
            <a:endParaRPr lang="en-US" sz="1200" b="1" i="0" u="none" strike="noStrike" kern="1200">
              <a:solidFill>
                <a:srgbClr val="000000"/>
              </a:solidFill>
              <a:effectLst/>
              <a:latin typeface="Aptos Narrow" panose="020B0004020202020204" pitchFamily="34" charset="0"/>
              <a:ea typeface="+mn-ea"/>
              <a:cs typeface="+mn-cs"/>
            </a:endParaRPr>
          </a:p>
        </p:txBody>
      </p:sp>
      <p:sp>
        <p:nvSpPr>
          <p:cNvPr id="4" name="灯片编号占位符 3">
            <a:extLst>
              <a:ext uri="{FF2B5EF4-FFF2-40B4-BE49-F238E27FC236}">
                <a16:creationId xmlns:a16="http://schemas.microsoft.com/office/drawing/2014/main" id="{39D9D13C-BC23-8F81-C5F3-2269F9757CA9}"/>
              </a:ext>
            </a:extLst>
          </p:cNvPr>
          <p:cNvSpPr>
            <a:spLocks noGrp="1"/>
          </p:cNvSpPr>
          <p:nvPr>
            <p:ph type="sldNum" sz="quarter" idx="5"/>
          </p:nvPr>
        </p:nvSpPr>
        <p:spPr/>
        <p:txBody>
          <a:bodyPr/>
          <a:lstStyle/>
          <a:p>
            <a:fld id="{C65F0F37-E8DD-274F-8E79-7BB9FBABDD83}" type="slidenum">
              <a:rPr kumimoji="1" lang="zh-CN" altLang="en-US" smtClean="0"/>
              <a:t>20</a:t>
            </a:fld>
            <a:endParaRPr kumimoji="1" lang="zh-CN" altLang="en-US"/>
          </a:p>
        </p:txBody>
      </p:sp>
    </p:spTree>
    <p:extLst>
      <p:ext uri="{BB962C8B-B14F-4D97-AF65-F5344CB8AC3E}">
        <p14:creationId xmlns:p14="http://schemas.microsoft.com/office/powerpoint/2010/main" val="5561760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3DBF6-4671-DD2F-02F8-A6EB28A7EA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1DD618-A5C3-38BF-31D7-5A5507E9D8AA}"/>
              </a:ext>
            </a:extLst>
          </p:cNvPr>
          <p:cNvSpPr>
            <a:spLocks noGrp="1" noRot="1" noChangeAspect="1"/>
          </p:cNvSpPr>
          <p:nvPr>
            <p:ph type="sldImg"/>
          </p:nvPr>
        </p:nvSpPr>
        <p:spPr>
          <a:xfrm>
            <a:off x="476250" y="611188"/>
            <a:ext cx="5903913" cy="3321050"/>
          </a:xfrm>
        </p:spPr>
      </p:sp>
      <p:sp>
        <p:nvSpPr>
          <p:cNvPr id="3" name="备注占位符 2">
            <a:extLst>
              <a:ext uri="{FF2B5EF4-FFF2-40B4-BE49-F238E27FC236}">
                <a16:creationId xmlns:a16="http://schemas.microsoft.com/office/drawing/2014/main" id="{E8CB4BA0-191A-28AE-0379-168737D25A12}"/>
              </a:ext>
            </a:extLst>
          </p:cNvPr>
          <p:cNvSpPr>
            <a:spLocks noGrp="1"/>
          </p:cNvSpPr>
          <p:nvPr>
            <p:ph type="body" idx="1"/>
          </p:nvPr>
        </p:nvSpPr>
        <p:spPr/>
        <p:txBody>
          <a:bodyPr/>
          <a:lstStyle/>
          <a:p>
            <a:r>
              <a:rPr kumimoji="1" lang="zh-CN" altLang="en-US"/>
              <a:t>文献，</a:t>
            </a:r>
            <a:r>
              <a:rPr kumimoji="1" lang="en-US" altLang="zh-CN"/>
              <a:t>HTN/T2D</a:t>
            </a:r>
          </a:p>
          <a:p>
            <a:endParaRPr kumimoji="1" lang="en-US" altLang="zh-CN"/>
          </a:p>
          <a:p>
            <a:pPr marL="0" marR="0" lvl="0" indent="0" algn="l" defTabSz="914400" rtl="0" eaLnBrk="1" fontAlgn="ctr" latinLnBrk="0" hangingPunct="1">
              <a:lnSpc>
                <a:spcPct val="100000"/>
              </a:lnSpc>
              <a:spcBef>
                <a:spcPts val="0"/>
              </a:spcBef>
              <a:spcAft>
                <a:spcPts val="0"/>
              </a:spcAft>
              <a:buClrTx/>
              <a:buSzTx/>
              <a:buFontTx/>
              <a:buNone/>
              <a:tabLst/>
              <a:defRPr/>
            </a:pPr>
            <a:endParaRPr lang="en-US" sz="1200" b="1" u="none" strike="noStrike">
              <a:effectLst/>
            </a:endParaRPr>
          </a:p>
          <a:p>
            <a:pPr algn="l" fontAlgn="ctr">
              <a:buNone/>
            </a:pPr>
            <a:r>
              <a:rPr lang="en-US" sz="1200" b="1" i="0" u="none" strike="noStrike" kern="1200">
                <a:solidFill>
                  <a:srgbClr val="000000"/>
                </a:solidFill>
                <a:effectLst/>
                <a:latin typeface="Aptos Narrow" panose="020B0004020202020204" pitchFamily="34" charset="0"/>
                <a:ea typeface="+mn-ea"/>
                <a:cs typeface="+mn-cs"/>
              </a:rPr>
              <a:t>Exploratory-time-to-event () </a:t>
            </a:r>
            <a:r>
              <a:rPr lang="en-US" altLang="zh-CN" sz="1200" b="0" i="0" u="none" strike="noStrike" kern="1200">
                <a:solidFill>
                  <a:srgbClr val="000000"/>
                </a:solidFill>
                <a:effectLst/>
                <a:latin typeface="Aptos Narrow" panose="020B0004020202020204" pitchFamily="34" charset="0"/>
                <a:ea typeface="+mn-ea"/>
                <a:cs typeface="+mn-cs"/>
              </a:rPr>
              <a:t>SGLT2i, MET, DPP-4i, GLP-1 RA, Insulin; ACEI, ARB, β-blocker, CCB; Statins; Aspirin; Anticoagulants, etc.</a:t>
            </a:r>
            <a:endParaRPr lang="en-US" sz="1200" b="1" i="0" u="none" strike="noStrike" kern="1200">
              <a:solidFill>
                <a:srgbClr val="000000"/>
              </a:solidFill>
              <a:effectLst/>
              <a:latin typeface="Aptos Narrow" panose="020B0004020202020204" pitchFamily="34" charset="0"/>
              <a:ea typeface="+mn-ea"/>
              <a:cs typeface="+mn-cs"/>
            </a:endParaRPr>
          </a:p>
        </p:txBody>
      </p:sp>
      <p:sp>
        <p:nvSpPr>
          <p:cNvPr id="4" name="灯片编号占位符 3">
            <a:extLst>
              <a:ext uri="{FF2B5EF4-FFF2-40B4-BE49-F238E27FC236}">
                <a16:creationId xmlns:a16="http://schemas.microsoft.com/office/drawing/2014/main" id="{63F680FE-83A9-D4A3-F99A-0725DD1899A7}"/>
              </a:ext>
            </a:extLst>
          </p:cNvPr>
          <p:cNvSpPr>
            <a:spLocks noGrp="1"/>
          </p:cNvSpPr>
          <p:nvPr>
            <p:ph type="sldNum" sz="quarter" idx="5"/>
          </p:nvPr>
        </p:nvSpPr>
        <p:spPr/>
        <p:txBody>
          <a:bodyPr/>
          <a:lstStyle/>
          <a:p>
            <a:fld id="{C65F0F37-E8DD-274F-8E79-7BB9FBABDD83}" type="slidenum">
              <a:rPr kumimoji="1" lang="zh-CN" altLang="en-US" smtClean="0"/>
              <a:t>21</a:t>
            </a:fld>
            <a:endParaRPr kumimoji="1" lang="zh-CN" altLang="en-US"/>
          </a:p>
        </p:txBody>
      </p:sp>
    </p:spTree>
    <p:extLst>
      <p:ext uri="{BB962C8B-B14F-4D97-AF65-F5344CB8AC3E}">
        <p14:creationId xmlns:p14="http://schemas.microsoft.com/office/powerpoint/2010/main" val="28619727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E0F1E-9A5C-DB70-467A-FBCD819C81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732520-0B18-1809-8B71-57745A3513AC}"/>
              </a:ext>
            </a:extLst>
          </p:cNvPr>
          <p:cNvSpPr>
            <a:spLocks noGrp="1" noRot="1" noChangeAspect="1"/>
          </p:cNvSpPr>
          <p:nvPr>
            <p:ph type="sldImg"/>
          </p:nvPr>
        </p:nvSpPr>
        <p:spPr>
          <a:xfrm>
            <a:off x="476250" y="611188"/>
            <a:ext cx="5903913" cy="3321050"/>
          </a:xfrm>
        </p:spPr>
      </p:sp>
      <p:sp>
        <p:nvSpPr>
          <p:cNvPr id="3" name="备注占位符 2">
            <a:extLst>
              <a:ext uri="{FF2B5EF4-FFF2-40B4-BE49-F238E27FC236}">
                <a16:creationId xmlns:a16="http://schemas.microsoft.com/office/drawing/2014/main" id="{8A2F4A6A-1171-F6B2-C380-2242DF805081}"/>
              </a:ext>
            </a:extLst>
          </p:cNvPr>
          <p:cNvSpPr>
            <a:spLocks noGrp="1"/>
          </p:cNvSpPr>
          <p:nvPr>
            <p:ph type="body" idx="1"/>
          </p:nvPr>
        </p:nvSpPr>
        <p:spPr/>
        <p:txBody>
          <a:bodyPr/>
          <a:lstStyle/>
          <a:p>
            <a:pPr marL="144000" marR="0" lvl="0" indent="-14400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1" lang="zh-CN" altLang="en-US"/>
              <a:t>文献，</a:t>
            </a:r>
            <a:r>
              <a:rPr kumimoji="1" lang="en-US" altLang="zh-CN"/>
              <a:t>HTN/T2D</a:t>
            </a:r>
            <a:r>
              <a:rPr lang="en-US" altLang="zh-CN" sz="1200" b="0" i="0" u="none" strike="noStrike" kern="1200">
                <a:solidFill>
                  <a:srgbClr val="000000"/>
                </a:solidFill>
                <a:effectLst/>
                <a:latin typeface="Aptos Narrow" panose="020B0004020202020204" pitchFamily="34" charset="0"/>
                <a:ea typeface="+mn-ea"/>
                <a:cs typeface="+mn-cs"/>
              </a:rPr>
              <a:t>The last day of supply before gap</a:t>
            </a:r>
          </a:p>
          <a:p>
            <a:endParaRPr kumimoji="1" lang="en-US" altLang="zh-CN"/>
          </a:p>
          <a:p>
            <a:endParaRPr kumimoji="1" lang="en-US" altLang="zh-CN"/>
          </a:p>
          <a:p>
            <a:pPr marL="0" marR="0" lvl="0" indent="0" algn="l" defTabSz="914400" rtl="0" eaLnBrk="1" fontAlgn="ctr" latinLnBrk="0" hangingPunct="1">
              <a:lnSpc>
                <a:spcPct val="100000"/>
              </a:lnSpc>
              <a:spcBef>
                <a:spcPts val="0"/>
              </a:spcBef>
              <a:spcAft>
                <a:spcPts val="0"/>
              </a:spcAft>
              <a:buClrTx/>
              <a:buSzTx/>
              <a:buFontTx/>
              <a:buNone/>
              <a:tabLst/>
              <a:defRPr/>
            </a:pPr>
            <a:endParaRPr lang="en-US" sz="1200" b="1" u="none" strike="noStrike">
              <a:effectLst/>
            </a:endParaRPr>
          </a:p>
          <a:p>
            <a:pPr algn="l" fontAlgn="ctr">
              <a:buNone/>
            </a:pPr>
            <a:r>
              <a:rPr lang="en-US" sz="1200" b="1" i="0" u="none" strike="noStrike" kern="1200">
                <a:solidFill>
                  <a:srgbClr val="000000"/>
                </a:solidFill>
                <a:effectLst/>
                <a:latin typeface="Aptos Narrow" panose="020B0004020202020204" pitchFamily="34" charset="0"/>
                <a:ea typeface="+mn-ea"/>
                <a:cs typeface="+mn-cs"/>
              </a:rPr>
              <a:t>Exploratory-time-to-event () </a:t>
            </a:r>
            <a:r>
              <a:rPr lang="en-US" altLang="zh-CN" sz="1200" b="0" i="0" u="none" strike="noStrike" kern="1200">
                <a:solidFill>
                  <a:srgbClr val="000000"/>
                </a:solidFill>
                <a:effectLst/>
                <a:latin typeface="Aptos Narrow" panose="020B0004020202020204" pitchFamily="34" charset="0"/>
                <a:ea typeface="+mn-ea"/>
                <a:cs typeface="+mn-cs"/>
              </a:rPr>
              <a:t>SGLT2i, MET, DPP-4i, GLP-1 RA, Insulin; ACEI, ARB, β-blocker, CCB; Statins; Aspirin; Anticoagulants, etc.</a:t>
            </a:r>
            <a:endParaRPr lang="en-US" sz="1200" b="1" i="0" u="none" strike="noStrike" kern="1200">
              <a:solidFill>
                <a:srgbClr val="000000"/>
              </a:solidFill>
              <a:effectLst/>
              <a:latin typeface="Aptos Narrow" panose="020B0004020202020204" pitchFamily="34" charset="0"/>
              <a:ea typeface="+mn-ea"/>
              <a:cs typeface="+mn-cs"/>
            </a:endParaRPr>
          </a:p>
        </p:txBody>
      </p:sp>
      <p:sp>
        <p:nvSpPr>
          <p:cNvPr id="4" name="灯片编号占位符 3">
            <a:extLst>
              <a:ext uri="{FF2B5EF4-FFF2-40B4-BE49-F238E27FC236}">
                <a16:creationId xmlns:a16="http://schemas.microsoft.com/office/drawing/2014/main" id="{E248A981-42F8-CF18-E1CC-E8A01AE824AB}"/>
              </a:ext>
            </a:extLst>
          </p:cNvPr>
          <p:cNvSpPr>
            <a:spLocks noGrp="1"/>
          </p:cNvSpPr>
          <p:nvPr>
            <p:ph type="sldNum" sz="quarter" idx="5"/>
          </p:nvPr>
        </p:nvSpPr>
        <p:spPr/>
        <p:txBody>
          <a:bodyPr/>
          <a:lstStyle/>
          <a:p>
            <a:fld id="{C65F0F37-E8DD-274F-8E79-7BB9FBABDD83}" type="slidenum">
              <a:rPr kumimoji="1" lang="zh-CN" altLang="en-US" smtClean="0"/>
              <a:t>22</a:t>
            </a:fld>
            <a:endParaRPr kumimoji="1" lang="zh-CN" altLang="en-US"/>
          </a:p>
        </p:txBody>
      </p:sp>
    </p:spTree>
    <p:extLst>
      <p:ext uri="{BB962C8B-B14F-4D97-AF65-F5344CB8AC3E}">
        <p14:creationId xmlns:p14="http://schemas.microsoft.com/office/powerpoint/2010/main" val="18841803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A7CBF-266E-C3BF-A04F-384911FD2578}"/>
            </a:ext>
          </a:extLst>
        </p:cNvPr>
        <p:cNvGrpSpPr/>
        <p:nvPr/>
      </p:nvGrpSpPr>
      <p:grpSpPr>
        <a:xfrm>
          <a:off x="0" y="0"/>
          <a:ext cx="0" cy="0"/>
          <a:chOff x="0" y="0"/>
          <a:chExt cx="0" cy="0"/>
        </a:xfrm>
      </p:grpSpPr>
      <p:sp>
        <p:nvSpPr>
          <p:cNvPr id="6" name="Folienbildplatzhalter 5">
            <a:extLst>
              <a:ext uri="{FF2B5EF4-FFF2-40B4-BE49-F238E27FC236}">
                <a16:creationId xmlns:a16="http://schemas.microsoft.com/office/drawing/2014/main" id="{5431AA6E-7271-CBE9-21DB-9A8B99364F66}"/>
              </a:ext>
            </a:extLst>
          </p:cNvPr>
          <p:cNvSpPr>
            <a:spLocks noGrp="1" noRot="1" noChangeAspect="1"/>
          </p:cNvSpPr>
          <p:nvPr>
            <p:ph type="sldImg"/>
          </p:nvPr>
        </p:nvSpPr>
        <p:spPr>
          <a:xfrm>
            <a:off x="476250" y="611188"/>
            <a:ext cx="5903913" cy="3321050"/>
          </a:xfrm>
        </p:spPr>
      </p:sp>
      <p:sp>
        <p:nvSpPr>
          <p:cNvPr id="7" name="Notizenplatzhalter 6">
            <a:extLst>
              <a:ext uri="{FF2B5EF4-FFF2-40B4-BE49-F238E27FC236}">
                <a16:creationId xmlns:a16="http://schemas.microsoft.com/office/drawing/2014/main" id="{8041C99C-8352-6D8C-AAD1-3865FD075114}"/>
              </a:ext>
            </a:extLst>
          </p:cNvPr>
          <p:cNvSpPr>
            <a:spLocks noGrp="1"/>
          </p:cNvSpPr>
          <p:nvPr>
            <p:ph type="body" idx="1"/>
          </p:nvPr>
        </p:nvSpPr>
        <p:spPr/>
        <p:txBody>
          <a:bodyPr/>
          <a:lstStyle/>
          <a:p>
            <a:endParaRPr lang="de-DE"/>
          </a:p>
        </p:txBody>
      </p:sp>
      <p:sp>
        <p:nvSpPr>
          <p:cNvPr id="8" name="Fußzeilenplatzhalter 3">
            <a:extLst>
              <a:ext uri="{FF2B5EF4-FFF2-40B4-BE49-F238E27FC236}">
                <a16:creationId xmlns:a16="http://schemas.microsoft.com/office/drawing/2014/main" id="{A91ED92B-6A32-BF2A-7721-57E90D7C8268}"/>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p>
        </p:txBody>
      </p:sp>
      <p:sp>
        <p:nvSpPr>
          <p:cNvPr id="9" name="Foliennummernplatzhalter 4">
            <a:extLst>
              <a:ext uri="{FF2B5EF4-FFF2-40B4-BE49-F238E27FC236}">
                <a16:creationId xmlns:a16="http://schemas.microsoft.com/office/drawing/2014/main" id="{FDEFB5E4-810B-4085-D1BB-67DEE53EA8D4}"/>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24</a:t>
            </a:fld>
            <a:endParaRPr lang="en-US" sz="800">
              <a:solidFill>
                <a:schemeClr val="bg2"/>
              </a:solidFill>
            </a:endParaRPr>
          </a:p>
        </p:txBody>
      </p:sp>
    </p:spTree>
    <p:extLst>
      <p:ext uri="{BB962C8B-B14F-4D97-AF65-F5344CB8AC3E}">
        <p14:creationId xmlns:p14="http://schemas.microsoft.com/office/powerpoint/2010/main" val="42645724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zh-CN" altLang="en-US"/>
              <a:t>这里开始持续产生</a:t>
            </a:r>
            <a:r>
              <a:rPr lang="en-US"/>
              <a:t>insights for internal use </a:t>
            </a:r>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25</a:t>
            </a:fld>
            <a:endParaRPr lang="en-US" sz="800">
              <a:solidFill>
                <a:schemeClr val="bg2"/>
              </a:solidFill>
            </a:endParaRPr>
          </a:p>
        </p:txBody>
      </p:sp>
    </p:spTree>
    <p:extLst>
      <p:ext uri="{BB962C8B-B14F-4D97-AF65-F5344CB8AC3E}">
        <p14:creationId xmlns:p14="http://schemas.microsoft.com/office/powerpoint/2010/main" val="21891050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en-US"/>
              <a:t>With yin</a:t>
            </a:r>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26</a:t>
            </a:fld>
            <a:endParaRPr lang="en-US" sz="800">
              <a:solidFill>
                <a:schemeClr val="bg2"/>
              </a:solidFill>
            </a:endParaRPr>
          </a:p>
        </p:txBody>
      </p:sp>
    </p:spTree>
    <p:extLst>
      <p:ext uri="{BB962C8B-B14F-4D97-AF65-F5344CB8AC3E}">
        <p14:creationId xmlns:p14="http://schemas.microsoft.com/office/powerpoint/2010/main" val="16358150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3.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4.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999226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15096492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9763046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2140149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24807300"/>
      </p:ext>
    </p:extLst>
  </p:cSld>
  <p:clrMapOvr>
    <a:masterClrMapping/>
  </p:clrMapOvr>
  <p:extLst>
    <p:ext uri="{DCECCB84-F9BA-43D5-87BE-67443E8EF086}">
      <p15:sldGuideLst xmlns:p15="http://schemas.microsoft.com/office/powerpoint/2012/main">
        <p15:guide id="1" orient="horz" pos="2682" userDrawn="1">
          <p15:clr>
            <a:srgbClr val="FBAE40"/>
          </p15:clr>
        </p15:guide>
        <p15:guide id="7" orient="horz" pos="279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835363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828961397"/>
      </p:ext>
    </p:extLst>
  </p:cSld>
  <p:clrMapOvr>
    <a:masterClrMapping/>
  </p:clrMapOvr>
  <p:extLst>
    <p:ext uri="{DCECCB84-F9BA-43D5-87BE-67443E8EF086}">
      <p15:sldGuideLst xmlns:p15="http://schemas.microsoft.com/office/powerpoint/2012/main">
        <p15:guide id="3" pos="3749" userDrawn="1">
          <p15:clr>
            <a:srgbClr val="FBAE40"/>
          </p15:clr>
        </p15:guide>
        <p15:guide id="5" pos="393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47710885"/>
      </p:ext>
    </p:extLst>
  </p:cSld>
  <p:clrMapOvr>
    <a:masterClrMapping/>
  </p:clrMapOvr>
  <p:extLst>
    <p:ext uri="{DCECCB84-F9BA-43D5-87BE-67443E8EF086}">
      <p15:sldGuideLst xmlns:p15="http://schemas.microsoft.com/office/powerpoint/2012/main">
        <p15:guide id="1" orient="horz" pos="2024" userDrawn="1">
          <p15:clr>
            <a:srgbClr val="FBAE40"/>
          </p15:clr>
        </p15:guide>
        <p15:guide id="2" orient="horz" pos="225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099830585"/>
      </p:ext>
    </p:extLst>
  </p:cSld>
  <p:clrMapOvr>
    <a:masterClrMapping/>
  </p:clrMapOvr>
  <p:extLst>
    <p:ext uri="{DCECCB84-F9BA-43D5-87BE-67443E8EF086}">
      <p15:sldGuideLst xmlns:p15="http://schemas.microsoft.com/office/powerpoint/2012/main">
        <p15:guide id="3" orient="horz" pos="2024" userDrawn="1">
          <p15:clr>
            <a:srgbClr val="FBAE40"/>
          </p15:clr>
        </p15:guide>
        <p15:guide id="4" orient="horz" pos="225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1958627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024" userDrawn="1">
          <p15:clr>
            <a:srgbClr val="FBAE40"/>
          </p15:clr>
        </p15:guide>
        <p15:guide id="3" orient="horz" pos="225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167055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89265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71300890"/>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987639518"/>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8162539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54476981"/>
      </p:ext>
    </p:extLst>
  </p:cSld>
  <p:clrMapOvr>
    <a:masterClrMapping/>
  </p:clrMapOvr>
  <p:extLst>
    <p:ext uri="{DCECCB84-F9BA-43D5-87BE-67443E8EF086}">
      <p15:sldGuideLst xmlns:p15="http://schemas.microsoft.com/office/powerpoint/2012/main">
        <p15:guide id="2" pos="495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767965743"/>
      </p:ext>
    </p:extLst>
  </p:cSld>
  <p:clrMapOvr>
    <a:masterClrMapping/>
  </p:clrMapOvr>
  <p:extLst>
    <p:ext uri="{DCECCB84-F9BA-43D5-87BE-67443E8EF086}">
      <p15:sldGuideLst xmlns:p15="http://schemas.microsoft.com/office/powerpoint/2012/main">
        <p15:guide id="1" pos="3749" userDrawn="1">
          <p15:clr>
            <a:srgbClr val="FBAE40"/>
          </p15:clr>
        </p15:guide>
        <p15:guide id="2" pos="393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660840846"/>
      </p:ext>
    </p:extLst>
  </p:cSld>
  <p:clrMapOvr>
    <a:masterClrMapping/>
  </p:clrMapOvr>
  <p:extLst>
    <p:ext uri="{DCECCB84-F9BA-43D5-87BE-67443E8EF086}">
      <p15:sldGuideLst xmlns:p15="http://schemas.microsoft.com/office/powerpoint/2012/main">
        <p15:guide id="1" pos="2547" userDrawn="1">
          <p15:clr>
            <a:srgbClr val="FBAE40"/>
          </p15:clr>
        </p15:guide>
        <p15:guide id="2" pos="4951" userDrawn="1">
          <p15:clr>
            <a:srgbClr val="FBAE40"/>
          </p15:clr>
        </p15:guide>
        <p15:guide id="3" pos="2729" userDrawn="1">
          <p15:clr>
            <a:srgbClr val="FBAE40"/>
          </p15:clr>
        </p15:guide>
        <p15:guide id="4" pos="5133"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77534345"/>
      </p:ext>
    </p:extLst>
  </p:cSld>
  <p:clrMapOvr>
    <a:masterClrMapping/>
  </p:clrMapOvr>
  <p:extLst>
    <p:ext uri="{DCECCB84-F9BA-43D5-87BE-67443E8EF086}">
      <p15:sldGuideLst xmlns:p15="http://schemas.microsoft.com/office/powerpoint/2012/main">
        <p15:guide id="1" pos="2547" userDrawn="1">
          <p15:clr>
            <a:srgbClr val="FBAE40"/>
          </p15:clr>
        </p15:guide>
        <p15:guide id="2" pos="272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0978979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02921626"/>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21245573"/>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5311929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33178519"/>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52567264"/>
      </p:ext>
    </p:extLst>
  </p:cSld>
  <p:clrMapOvr>
    <a:masterClrMapping/>
  </p:clrMapOvr>
  <p:extLst>
    <p:ext uri="{DCECCB84-F9BA-43D5-87BE-67443E8EF086}">
      <p15:sldGuideLst xmlns:p15="http://schemas.microsoft.com/office/powerpoint/2012/main">
        <p15:guide id="1" pos="1459" userDrawn="1">
          <p15:clr>
            <a:srgbClr val="FBAE40"/>
          </p15:clr>
        </p15:guide>
        <p15:guide id="2" pos="1277"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425784220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35245917"/>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guide id="3" orient="horz" pos="1298" userDrawn="1">
          <p15:clr>
            <a:srgbClr val="FBAE40"/>
          </p15:clr>
        </p15:guide>
        <p15:guide id="4"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03938524"/>
      </p:ext>
    </p:extLst>
  </p:cSld>
  <p:clrMapOvr>
    <a:masterClrMapping/>
  </p:clrMapOvr>
  <p:extLst>
    <p:ext uri="{DCECCB84-F9BA-43D5-87BE-67443E8EF086}">
      <p15:sldGuideLst xmlns:p15="http://schemas.microsoft.com/office/powerpoint/2012/main">
        <p15:guide id="1" pos="4951" userDrawn="1">
          <p15:clr>
            <a:srgbClr val="FBAE40"/>
          </p15:clr>
        </p15:guide>
        <p15:guide id="3" orient="horz" pos="1298" userDrawn="1">
          <p15:clr>
            <a:srgbClr val="FBAE40"/>
          </p15:clr>
        </p15:guide>
        <p15:guide id="4" pos="5133"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33980837"/>
      </p:ext>
    </p:extLst>
  </p:cSld>
  <p:clrMapOvr>
    <a:masterClrMapping/>
  </p:clrMapOvr>
  <p:extLst>
    <p:ext uri="{DCECCB84-F9BA-43D5-87BE-67443E8EF086}">
      <p15:sldGuideLst xmlns:p15="http://schemas.microsoft.com/office/powerpoint/2012/main">
        <p15:guide id="1" pos="6221" userDrawn="1">
          <p15:clr>
            <a:srgbClr val="FBAE40"/>
          </p15:clr>
        </p15:guide>
        <p15:guide id="2" pos="6403" userDrawn="1">
          <p15:clr>
            <a:srgbClr val="FBAE40"/>
          </p15:clr>
        </p15:guide>
        <p15:guide id="3" orient="horz" pos="1298"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7943276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718174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93466420"/>
      </p:ext>
    </p:extLst>
  </p:cSld>
  <p:clrMapOvr>
    <a:masterClrMapping/>
  </p:clrMapOvr>
  <p:extLst>
    <p:ext uri="{DCECCB84-F9BA-43D5-87BE-67443E8EF086}">
      <p15:sldGuideLst xmlns:p15="http://schemas.microsoft.com/office/powerpoint/2012/main">
        <p15:guide id="1" pos="3931" userDrawn="1">
          <p15:clr>
            <a:srgbClr val="FBAE40"/>
          </p15:clr>
        </p15:guide>
        <p15:guide id="2" orient="horz" pos="2137" userDrawn="1">
          <p15:clr>
            <a:srgbClr val="FBAE40"/>
          </p15:clr>
        </p15:guide>
        <p15:guide id="3" orient="horz" pos="1434" userDrawn="1">
          <p15:clr>
            <a:srgbClr val="FBAE40"/>
          </p15:clr>
        </p15:guide>
        <p15:guide id="4" pos="374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3131020907"/>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Slide 30">
    <p:spTree>
      <p:nvGrpSpPr>
        <p:cNvPr id="1" name=""/>
        <p:cNvGrpSpPr/>
        <p:nvPr/>
      </p:nvGrpSpPr>
      <p:grpSpPr>
        <a:xfrm>
          <a:off x="0" y="0"/>
          <a:ext cx="0" cy="0"/>
          <a:chOff x="0" y="0"/>
          <a:chExt cx="0" cy="0"/>
        </a:xfrm>
      </p:grpSpPr>
      <p:sp>
        <p:nvSpPr>
          <p:cNvPr id="2" name="Slide Number Placeholder 5"/>
          <p:cNvSpPr>
            <a:spLocks noGrp="1"/>
          </p:cNvSpPr>
          <p:nvPr>
            <p:ph type="sldNum" sz="quarter" idx="12"/>
          </p:nvPr>
        </p:nvSpPr>
        <p:spPr>
          <a:xfrm>
            <a:off x="9088120" y="6356350"/>
            <a:ext cx="2743200" cy="365125"/>
          </a:xfrm>
        </p:spPr>
        <p:txBody>
          <a:bodyPr/>
          <a:lstStyle/>
          <a:p>
            <a:fld id="{2B30E84B-84D7-7445-83F4-9A662E9B97D4}" type="slidenum">
              <a:rPr lang="en-US" smtClean="0"/>
              <a:t>‹#›</a:t>
            </a:fld>
            <a:endParaRPr lang="en-US"/>
          </a:p>
        </p:txBody>
      </p:sp>
    </p:spTree>
    <p:extLst>
      <p:ext uri="{BB962C8B-B14F-4D97-AF65-F5344CB8AC3E}">
        <p14:creationId xmlns:p14="http://schemas.microsoft.com/office/powerpoint/2010/main" val="37914949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标题幻灯片">
    <p:bg>
      <p:bgPr>
        <a:solidFill>
          <a:schemeClr val="bg1"/>
        </a:solidFill>
        <a:effectLst/>
      </p:bgPr>
    </p:bg>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9FFFA23C-39ED-FA90-23AF-F8398FC87F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Tree>
    <p:extLst>
      <p:ext uri="{BB962C8B-B14F-4D97-AF65-F5344CB8AC3E}">
        <p14:creationId xmlns:p14="http://schemas.microsoft.com/office/powerpoint/2010/main" val="4390185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0" advClick="0"/>
    </mc:Choice>
    <mc:Fallback>
      <p:transition advClick="0"/>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09285A"/>
                </a:solidFill>
                <a:latin typeface="微软雅黑"/>
                <a:cs typeface="微软雅黑"/>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Arial"/>
                <a:cs typeface="Arial"/>
              </a:defRPr>
            </a:lvl1pPr>
          </a:lstStyle>
          <a:p>
            <a:pPr marL="38100">
              <a:lnSpc>
                <a:spcPts val="1425"/>
              </a:lnSpc>
            </a:pPr>
            <a:fld id="{81D60167-4931-47E6-BA6A-407CBD079E47}" type="slidenum">
              <a:rPr spc="-5" dirty="0"/>
              <a:t>‹#›</a:t>
            </a:fld>
            <a:endParaRPr spc="-5"/>
          </a:p>
        </p:txBody>
      </p:sp>
    </p:spTree>
    <p:extLst>
      <p:ext uri="{BB962C8B-B14F-4D97-AF65-F5344CB8AC3E}">
        <p14:creationId xmlns:p14="http://schemas.microsoft.com/office/powerpoint/2010/main" val="29997864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165239697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707403901"/>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07826656"/>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5945939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9622503"/>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610655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64908591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2620236063"/>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286419870"/>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76555410"/>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lnSpc>
                <a:spcPct val="120000"/>
              </a:lnSpc>
              <a:defRPr>
                <a:solidFill>
                  <a:schemeClr val="bg2"/>
                </a:solidFill>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1157424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6792391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257464377"/>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84378445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549438625"/>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493205404"/>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446590095"/>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4228174434"/>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23448360"/>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7360945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5497327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175473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5623972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1184513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40474560"/>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7418072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62707275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845360713"/>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32688817"/>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62345317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5379905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12498258"/>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3233350808"/>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Slide 30">
    <p:spTree>
      <p:nvGrpSpPr>
        <p:cNvPr id="1" name=""/>
        <p:cNvGrpSpPr/>
        <p:nvPr/>
      </p:nvGrpSpPr>
      <p:grpSpPr>
        <a:xfrm>
          <a:off x="0" y="0"/>
          <a:ext cx="0" cy="0"/>
          <a:chOff x="0" y="0"/>
          <a:chExt cx="0" cy="0"/>
        </a:xfrm>
      </p:grpSpPr>
      <p:sp>
        <p:nvSpPr>
          <p:cNvPr id="2" name="Slide Number Placeholder 5"/>
          <p:cNvSpPr>
            <a:spLocks noGrp="1"/>
          </p:cNvSpPr>
          <p:nvPr>
            <p:ph type="sldNum" sz="quarter" idx="12"/>
          </p:nvPr>
        </p:nvSpPr>
        <p:spPr>
          <a:xfrm>
            <a:off x="9088120" y="6356350"/>
            <a:ext cx="2743200" cy="365125"/>
          </a:xfrm>
        </p:spPr>
        <p:txBody>
          <a:bodyPr/>
          <a:lstStyle/>
          <a:p>
            <a:fld id="{2B30E84B-84D7-7445-83F4-9A662E9B97D4}" type="slidenum">
              <a:rPr lang="en-US" smtClean="0"/>
              <a:t>‹#›</a:t>
            </a:fld>
            <a:endParaRPr lang="en-US"/>
          </a:p>
        </p:txBody>
      </p:sp>
    </p:spTree>
    <p:extLst>
      <p:ext uri="{BB962C8B-B14F-4D97-AF65-F5344CB8AC3E}">
        <p14:creationId xmlns:p14="http://schemas.microsoft.com/office/powerpoint/2010/main" val="335175282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06EDD6-F8E2-B164-A9B5-DC22D7C2073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2CB68C5-1C29-B002-5E3C-58C7F11F05C2}"/>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1E77D1D-9BFC-327A-4AE3-922CBA2A3CA2}"/>
              </a:ext>
            </a:extLst>
          </p:cNvPr>
          <p:cNvSpPr>
            <a:spLocks noGrp="1"/>
          </p:cNvSpPr>
          <p:nvPr>
            <p:ph type="dt" sz="half" idx="10"/>
          </p:nvPr>
        </p:nvSpPr>
        <p:spPr/>
        <p:txBody>
          <a:bodyPr/>
          <a:lstStyle/>
          <a:p>
            <a:fld id="{6DF64FF5-AF41-8D44-8EA5-C76EFF349F7B}" type="datetimeFigureOut">
              <a:rPr kumimoji="1" lang="zh-CN" altLang="en-US" smtClean="0"/>
              <a:t>2025/12/14</a:t>
            </a:fld>
            <a:endParaRPr kumimoji="1" lang="zh-CN" altLang="en-US"/>
          </a:p>
        </p:txBody>
      </p:sp>
      <p:sp>
        <p:nvSpPr>
          <p:cNvPr id="5" name="页脚占位符 4">
            <a:extLst>
              <a:ext uri="{FF2B5EF4-FFF2-40B4-BE49-F238E27FC236}">
                <a16:creationId xmlns:a16="http://schemas.microsoft.com/office/drawing/2014/main" id="{7725F529-DFB2-55B5-DC6E-8F6FBC4CC34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19AA28F-67A0-3DAE-7C3B-1E2A3D052D06}"/>
              </a:ext>
            </a:extLst>
          </p:cNvPr>
          <p:cNvSpPr>
            <a:spLocks noGrp="1"/>
          </p:cNvSpPr>
          <p:nvPr>
            <p:ph type="sldNum" sz="quarter" idx="12"/>
          </p:nvPr>
        </p:nvSpPr>
        <p:spPr/>
        <p:txBody>
          <a:bodyPr/>
          <a:lstStyle/>
          <a:p>
            <a:fld id="{A035A6CB-1573-CE49-879F-C20378C53C5A}" type="slidenum">
              <a:rPr kumimoji="1" lang="zh-CN" altLang="en-US" smtClean="0"/>
              <a:t>‹#›</a:t>
            </a:fld>
            <a:endParaRPr kumimoji="1" lang="zh-CN" altLang="en-US"/>
          </a:p>
        </p:txBody>
      </p:sp>
    </p:spTree>
    <p:extLst>
      <p:ext uri="{BB962C8B-B14F-4D97-AF65-F5344CB8AC3E}">
        <p14:creationId xmlns:p14="http://schemas.microsoft.com/office/powerpoint/2010/main" val="498430917"/>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标题幻灯片">
    <p:bg>
      <p:bgPr>
        <a:solidFill>
          <a:schemeClr val="bg1"/>
        </a:solidFill>
        <a:effectLst/>
      </p:bgPr>
    </p:bg>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9FFFA23C-39ED-FA90-23AF-F8398FC87F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Tree>
    <p:extLst>
      <p:ext uri="{BB962C8B-B14F-4D97-AF65-F5344CB8AC3E}">
        <p14:creationId xmlns:p14="http://schemas.microsoft.com/office/powerpoint/2010/main" val="23895218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0" advClick="0"/>
    </mc:Choice>
    <mc:Fallback>
      <p:transition advClick="0"/>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4253579154"/>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4163653034"/>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39817742"/>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62119210"/>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5896340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94887582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97300197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227621865"/>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242966763"/>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34250384"/>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55002591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3646492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515222270"/>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15386571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835538461"/>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504898250"/>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159745274"/>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492034014"/>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7462310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8032408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0904998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4227493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2416273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9365670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14756570"/>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81898810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40692865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697415246"/>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871709643"/>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60437137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17755853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451977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296271840"/>
      </p:ext>
    </p:extLst>
  </p:cSld>
  <p:clrMapOvr>
    <a:masterClrMapping/>
  </p:clrMapOvr>
  <p:extLst>
    <p:ext uri="{DCECCB84-F9BA-43D5-87BE-67443E8EF086}">
      <p15:sldGuideLst xmlns:p15="http://schemas.microsoft.com/office/powerpoint/2012/main"/>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04655-CE0B-1688-29E3-D5E2215362FD}"/>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390DA4DE-6DA8-A6F2-7098-FEB80A49894C}"/>
              </a:ext>
            </a:extLst>
          </p:cNvPr>
          <p:cNvSpPr>
            <a:spLocks noGrp="1"/>
          </p:cNvSpPr>
          <p:nvPr>
            <p:ph type="ftr" sz="quarter" idx="10"/>
          </p:nvPr>
        </p:nvSpPr>
        <p:spPr/>
        <p:txBody>
          <a:bodyPr/>
          <a:lstStyle/>
          <a:p>
            <a:r>
              <a:rPr lang="en-GB"/>
              <a:t>Launch readiness |     ONLY FOR INTERNAL USE</a:t>
            </a:r>
            <a:endParaRPr lang="en-US"/>
          </a:p>
        </p:txBody>
      </p:sp>
      <p:sp>
        <p:nvSpPr>
          <p:cNvPr id="4" name="Slide Number Placeholder 3">
            <a:extLst>
              <a:ext uri="{FF2B5EF4-FFF2-40B4-BE49-F238E27FC236}">
                <a16:creationId xmlns:a16="http://schemas.microsoft.com/office/drawing/2014/main" id="{5AB582A5-B948-EE46-E393-A7C5A5A5CF45}"/>
              </a:ext>
            </a:extLst>
          </p:cNvPr>
          <p:cNvSpPr>
            <a:spLocks noGrp="1"/>
          </p:cNvSpPr>
          <p:nvPr>
            <p:ph type="sldNum" sz="quarter" idx="11"/>
          </p:nvPr>
        </p:nvSpPr>
        <p:spPr/>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20934078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4253579154"/>
      </p:ext>
    </p:extLst>
  </p:cSld>
  <p:clrMapOvr>
    <a:masterClrMapping/>
  </p:clrMapOvr>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4163653034"/>
      </p:ext>
    </p:extLst>
  </p:cSld>
  <p:clrMapOvr>
    <a:masterClrMapping/>
  </p:clrMapOvr>
  <p:extLst>
    <p:ext uri="{DCECCB84-F9BA-43D5-87BE-67443E8EF086}">
      <p15:sldGuideLst xmlns:p15="http://schemas.microsoft.com/office/powerpoint/2012/main"/>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39817742"/>
      </p:ext>
    </p:extLst>
  </p:cSld>
  <p:clrMapOvr>
    <a:masterClrMapping/>
  </p:clrMapOvr>
  <p:extLst>
    <p:ext uri="{DCECCB84-F9BA-43D5-87BE-67443E8EF086}">
      <p15:sldGuideLst xmlns:p15="http://schemas.microsoft.com/office/powerpoint/2012/main"/>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62119210"/>
      </p:ext>
    </p:extLst>
  </p:cSld>
  <p:clrMapOvr>
    <a:masterClrMapping/>
  </p:clrMapOvr>
  <p:extLst>
    <p:ext uri="{DCECCB84-F9BA-43D5-87BE-67443E8EF086}">
      <p15:sldGuideLst xmlns:p15="http://schemas.microsoft.com/office/powerpoint/2012/main"/>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5896340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94887582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97300197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227621865"/>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242966763"/>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34250384"/>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55002591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3646492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515222270"/>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15386571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835538461"/>
      </p:ext>
    </p:extLst>
  </p:cSld>
  <p:clrMapOvr>
    <a:masterClrMapping/>
  </p:clrMapOvr>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504898250"/>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159745274"/>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492034014"/>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7462310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8032408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0904998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4227493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2416273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9365670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14756570"/>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81898810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40692865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697415246"/>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871709643"/>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604371377"/>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177558534"/>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451977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296271840"/>
      </p:ext>
    </p:extLst>
  </p:cSld>
  <p:clrMapOvr>
    <a:masterClrMapping/>
  </p:clrMapOvr>
  <p:extLst>
    <p:ext uri="{DCECCB84-F9BA-43D5-87BE-67443E8EF086}">
      <p15:sldGuideLst xmlns:p15="http://schemas.microsoft.com/office/powerpoint/2012/main"/>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04655-CE0B-1688-29E3-D5E2215362FD}"/>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390DA4DE-6DA8-A6F2-7098-FEB80A49894C}"/>
              </a:ext>
            </a:extLst>
          </p:cNvPr>
          <p:cNvSpPr>
            <a:spLocks noGrp="1"/>
          </p:cNvSpPr>
          <p:nvPr>
            <p:ph type="ftr" sz="quarter" idx="10"/>
          </p:nvPr>
        </p:nvSpPr>
        <p:spPr/>
        <p:txBody>
          <a:bodyPr/>
          <a:lstStyle/>
          <a:p>
            <a:r>
              <a:rPr lang="en-GB"/>
              <a:t>Launch readiness |     ONLY FOR INTERNAL USE</a:t>
            </a:r>
            <a:endParaRPr lang="en-US"/>
          </a:p>
        </p:txBody>
      </p:sp>
      <p:sp>
        <p:nvSpPr>
          <p:cNvPr id="4" name="Slide Number Placeholder 3">
            <a:extLst>
              <a:ext uri="{FF2B5EF4-FFF2-40B4-BE49-F238E27FC236}">
                <a16:creationId xmlns:a16="http://schemas.microsoft.com/office/drawing/2014/main" id="{5AB582A5-B948-EE46-E393-A7C5A5A5CF45}"/>
              </a:ext>
            </a:extLst>
          </p:cNvPr>
          <p:cNvSpPr>
            <a:spLocks noGrp="1"/>
          </p:cNvSpPr>
          <p:nvPr>
            <p:ph type="sldNum" sz="quarter" idx="11"/>
          </p:nvPr>
        </p:nvSpPr>
        <p:spPr/>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20934078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sv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9" Type="http://schemas.openxmlformats.org/officeDocument/2006/relationships/image" Target="../media/image2.svg"/><Relationship Id="rId21" Type="http://schemas.openxmlformats.org/officeDocument/2006/relationships/slideLayout" Target="../slideLayouts/slideLayout57.xml"/><Relationship Id="rId34" Type="http://schemas.openxmlformats.org/officeDocument/2006/relationships/slideLayout" Target="../slideLayouts/slideLayout70.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33" Type="http://schemas.openxmlformats.org/officeDocument/2006/relationships/slideLayout" Target="../slideLayouts/slideLayout69.xml"/><Relationship Id="rId38" Type="http://schemas.openxmlformats.org/officeDocument/2006/relationships/image" Target="../media/image1.png"/><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29" Type="http://schemas.openxmlformats.org/officeDocument/2006/relationships/slideLayout" Target="../slideLayouts/slideLayout65.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32" Type="http://schemas.openxmlformats.org/officeDocument/2006/relationships/slideLayout" Target="../slideLayouts/slideLayout68.xml"/><Relationship Id="rId37" Type="http://schemas.openxmlformats.org/officeDocument/2006/relationships/theme" Target="../theme/theme2.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slideLayout" Target="../slideLayouts/slideLayout64.xml"/><Relationship Id="rId36" Type="http://schemas.openxmlformats.org/officeDocument/2006/relationships/slideLayout" Target="../slideLayouts/slideLayout72.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31" Type="http://schemas.openxmlformats.org/officeDocument/2006/relationships/slideLayout" Target="../slideLayouts/slideLayout67.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slideLayout" Target="../slideLayouts/slideLayout63.xml"/><Relationship Id="rId30" Type="http://schemas.openxmlformats.org/officeDocument/2006/relationships/slideLayout" Target="../slideLayouts/slideLayout66.xml"/><Relationship Id="rId35" Type="http://schemas.openxmlformats.org/officeDocument/2006/relationships/slideLayout" Target="../slideLayouts/slideLayout71.xml"/><Relationship Id="rId8" Type="http://schemas.openxmlformats.org/officeDocument/2006/relationships/slideLayout" Target="../slideLayouts/slideLayout44.xml"/><Relationship Id="rId3" Type="http://schemas.openxmlformats.org/officeDocument/2006/relationships/slideLayout" Target="../slideLayouts/slideLayout3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5.xml"/><Relationship Id="rId18" Type="http://schemas.openxmlformats.org/officeDocument/2006/relationships/slideLayout" Target="../slideLayouts/slideLayout90.xml"/><Relationship Id="rId26" Type="http://schemas.openxmlformats.org/officeDocument/2006/relationships/slideLayout" Target="../slideLayouts/slideLayout98.xml"/><Relationship Id="rId21" Type="http://schemas.openxmlformats.org/officeDocument/2006/relationships/slideLayout" Target="../slideLayouts/slideLayout93.xml"/><Relationship Id="rId34" Type="http://schemas.openxmlformats.org/officeDocument/2006/relationships/slideLayout" Target="../slideLayouts/slideLayout106.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17" Type="http://schemas.openxmlformats.org/officeDocument/2006/relationships/slideLayout" Target="../slideLayouts/slideLayout89.xml"/><Relationship Id="rId25" Type="http://schemas.openxmlformats.org/officeDocument/2006/relationships/slideLayout" Target="../slideLayouts/slideLayout97.xml"/><Relationship Id="rId33" Type="http://schemas.openxmlformats.org/officeDocument/2006/relationships/slideLayout" Target="../slideLayouts/slideLayout105.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20" Type="http://schemas.openxmlformats.org/officeDocument/2006/relationships/slideLayout" Target="../slideLayouts/slideLayout92.xml"/><Relationship Id="rId29" Type="http://schemas.openxmlformats.org/officeDocument/2006/relationships/slideLayout" Target="../slideLayouts/slideLayout101.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24" Type="http://schemas.openxmlformats.org/officeDocument/2006/relationships/slideLayout" Target="../slideLayouts/slideLayout96.xml"/><Relationship Id="rId32" Type="http://schemas.openxmlformats.org/officeDocument/2006/relationships/slideLayout" Target="../slideLayouts/slideLayout104.xml"/><Relationship Id="rId37" Type="http://schemas.openxmlformats.org/officeDocument/2006/relationships/image" Target="../media/image2.svg"/><Relationship Id="rId5" Type="http://schemas.openxmlformats.org/officeDocument/2006/relationships/slideLayout" Target="../slideLayouts/slideLayout77.xml"/><Relationship Id="rId15" Type="http://schemas.openxmlformats.org/officeDocument/2006/relationships/slideLayout" Target="../slideLayouts/slideLayout87.xml"/><Relationship Id="rId23" Type="http://schemas.openxmlformats.org/officeDocument/2006/relationships/slideLayout" Target="../slideLayouts/slideLayout95.xml"/><Relationship Id="rId28" Type="http://schemas.openxmlformats.org/officeDocument/2006/relationships/slideLayout" Target="../slideLayouts/slideLayout100.xml"/><Relationship Id="rId36" Type="http://schemas.openxmlformats.org/officeDocument/2006/relationships/image" Target="../media/image1.png"/><Relationship Id="rId10" Type="http://schemas.openxmlformats.org/officeDocument/2006/relationships/slideLayout" Target="../slideLayouts/slideLayout82.xml"/><Relationship Id="rId19" Type="http://schemas.openxmlformats.org/officeDocument/2006/relationships/slideLayout" Target="../slideLayouts/slideLayout91.xml"/><Relationship Id="rId31" Type="http://schemas.openxmlformats.org/officeDocument/2006/relationships/slideLayout" Target="../slideLayouts/slideLayout103.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slideLayout" Target="../slideLayouts/slideLayout86.xml"/><Relationship Id="rId22" Type="http://schemas.openxmlformats.org/officeDocument/2006/relationships/slideLayout" Target="../slideLayouts/slideLayout94.xml"/><Relationship Id="rId27" Type="http://schemas.openxmlformats.org/officeDocument/2006/relationships/slideLayout" Target="../slideLayouts/slideLayout99.xml"/><Relationship Id="rId30" Type="http://schemas.openxmlformats.org/officeDocument/2006/relationships/slideLayout" Target="../slideLayouts/slideLayout102.xml"/><Relationship Id="rId35" Type="http://schemas.openxmlformats.org/officeDocument/2006/relationships/theme" Target="../theme/theme3.xml"/><Relationship Id="rId8" Type="http://schemas.openxmlformats.org/officeDocument/2006/relationships/slideLayout" Target="../slideLayouts/slideLayout80.xml"/><Relationship Id="rId3" Type="http://schemas.openxmlformats.org/officeDocument/2006/relationships/slideLayout" Target="../slideLayouts/slideLayout75.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19.xml"/><Relationship Id="rId18" Type="http://schemas.openxmlformats.org/officeDocument/2006/relationships/slideLayout" Target="../slideLayouts/slideLayout124.xml"/><Relationship Id="rId26" Type="http://schemas.openxmlformats.org/officeDocument/2006/relationships/slideLayout" Target="../slideLayouts/slideLayout132.xml"/><Relationship Id="rId21" Type="http://schemas.openxmlformats.org/officeDocument/2006/relationships/slideLayout" Target="../slideLayouts/slideLayout127.xml"/><Relationship Id="rId34" Type="http://schemas.openxmlformats.org/officeDocument/2006/relationships/slideLayout" Target="../slideLayouts/slideLayout140.xml"/><Relationship Id="rId7" Type="http://schemas.openxmlformats.org/officeDocument/2006/relationships/slideLayout" Target="../slideLayouts/slideLayout113.xml"/><Relationship Id="rId12" Type="http://schemas.openxmlformats.org/officeDocument/2006/relationships/slideLayout" Target="../slideLayouts/slideLayout118.xml"/><Relationship Id="rId17" Type="http://schemas.openxmlformats.org/officeDocument/2006/relationships/slideLayout" Target="../slideLayouts/slideLayout123.xml"/><Relationship Id="rId25" Type="http://schemas.openxmlformats.org/officeDocument/2006/relationships/slideLayout" Target="../slideLayouts/slideLayout131.xml"/><Relationship Id="rId33" Type="http://schemas.openxmlformats.org/officeDocument/2006/relationships/slideLayout" Target="../slideLayouts/slideLayout139.xml"/><Relationship Id="rId2" Type="http://schemas.openxmlformats.org/officeDocument/2006/relationships/slideLayout" Target="../slideLayouts/slideLayout108.xml"/><Relationship Id="rId16" Type="http://schemas.openxmlformats.org/officeDocument/2006/relationships/slideLayout" Target="../slideLayouts/slideLayout122.xml"/><Relationship Id="rId20" Type="http://schemas.openxmlformats.org/officeDocument/2006/relationships/slideLayout" Target="../slideLayouts/slideLayout126.xml"/><Relationship Id="rId29" Type="http://schemas.openxmlformats.org/officeDocument/2006/relationships/slideLayout" Target="../slideLayouts/slideLayout135.xml"/><Relationship Id="rId1" Type="http://schemas.openxmlformats.org/officeDocument/2006/relationships/slideLayout" Target="../slideLayouts/slideLayout107.xml"/><Relationship Id="rId6" Type="http://schemas.openxmlformats.org/officeDocument/2006/relationships/slideLayout" Target="../slideLayouts/slideLayout112.xml"/><Relationship Id="rId11" Type="http://schemas.openxmlformats.org/officeDocument/2006/relationships/slideLayout" Target="../slideLayouts/slideLayout117.xml"/><Relationship Id="rId24" Type="http://schemas.openxmlformats.org/officeDocument/2006/relationships/slideLayout" Target="../slideLayouts/slideLayout130.xml"/><Relationship Id="rId32" Type="http://schemas.openxmlformats.org/officeDocument/2006/relationships/slideLayout" Target="../slideLayouts/slideLayout138.xml"/><Relationship Id="rId37" Type="http://schemas.openxmlformats.org/officeDocument/2006/relationships/image" Target="../media/image2.svg"/><Relationship Id="rId5" Type="http://schemas.openxmlformats.org/officeDocument/2006/relationships/slideLayout" Target="../slideLayouts/slideLayout111.xml"/><Relationship Id="rId15" Type="http://schemas.openxmlformats.org/officeDocument/2006/relationships/slideLayout" Target="../slideLayouts/slideLayout121.xml"/><Relationship Id="rId23" Type="http://schemas.openxmlformats.org/officeDocument/2006/relationships/slideLayout" Target="../slideLayouts/slideLayout129.xml"/><Relationship Id="rId28" Type="http://schemas.openxmlformats.org/officeDocument/2006/relationships/slideLayout" Target="../slideLayouts/slideLayout134.xml"/><Relationship Id="rId36" Type="http://schemas.openxmlformats.org/officeDocument/2006/relationships/image" Target="../media/image1.png"/><Relationship Id="rId10" Type="http://schemas.openxmlformats.org/officeDocument/2006/relationships/slideLayout" Target="../slideLayouts/slideLayout116.xml"/><Relationship Id="rId19" Type="http://schemas.openxmlformats.org/officeDocument/2006/relationships/slideLayout" Target="../slideLayouts/slideLayout125.xml"/><Relationship Id="rId31" Type="http://schemas.openxmlformats.org/officeDocument/2006/relationships/slideLayout" Target="../slideLayouts/slideLayout137.xml"/><Relationship Id="rId4" Type="http://schemas.openxmlformats.org/officeDocument/2006/relationships/slideLayout" Target="../slideLayouts/slideLayout110.xml"/><Relationship Id="rId9" Type="http://schemas.openxmlformats.org/officeDocument/2006/relationships/slideLayout" Target="../slideLayouts/slideLayout115.xml"/><Relationship Id="rId14" Type="http://schemas.openxmlformats.org/officeDocument/2006/relationships/slideLayout" Target="../slideLayouts/slideLayout120.xml"/><Relationship Id="rId22" Type="http://schemas.openxmlformats.org/officeDocument/2006/relationships/slideLayout" Target="../slideLayouts/slideLayout128.xml"/><Relationship Id="rId27" Type="http://schemas.openxmlformats.org/officeDocument/2006/relationships/slideLayout" Target="../slideLayouts/slideLayout133.xml"/><Relationship Id="rId30" Type="http://schemas.openxmlformats.org/officeDocument/2006/relationships/slideLayout" Target="../slideLayouts/slideLayout136.xml"/><Relationship Id="rId35" Type="http://schemas.openxmlformats.org/officeDocument/2006/relationships/theme" Target="../theme/theme4.xml"/><Relationship Id="rId8" Type="http://schemas.openxmlformats.org/officeDocument/2006/relationships/slideLayout" Target="../slideLayouts/slideLayout114.xml"/><Relationship Id="rId3" Type="http://schemas.openxmlformats.org/officeDocument/2006/relationships/slideLayout" Target="../slideLayouts/slideLayout10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536109598"/>
      </p:ext>
    </p:extLst>
  </p:cSld>
  <p:clrMap bg1="lt1" tx1="dk1" bg2="lt2" tx2="dk2" accent1="accent1" accent2="accent2" accent3="accent3" accent4="accent4" accent5="accent5" accent6="accent6" hlink="hlink" folHlink="folHlink"/>
  <p:sldLayoutIdLst>
    <p:sldLayoutId id="2147483772" r:id="rId1"/>
    <p:sldLayoutId id="2147483812" r:id="rId2"/>
    <p:sldLayoutId id="2147483786" r:id="rId3"/>
    <p:sldLayoutId id="2147483805" r:id="rId4"/>
    <p:sldLayoutId id="2147483787" r:id="rId5"/>
    <p:sldLayoutId id="2147483773" r:id="rId6"/>
    <p:sldLayoutId id="2147483804" r:id="rId7"/>
    <p:sldLayoutId id="2147483802" r:id="rId8"/>
    <p:sldLayoutId id="2147483803" r:id="rId9"/>
    <p:sldLayoutId id="2147483808" r:id="rId10"/>
    <p:sldLayoutId id="2147483775" r:id="rId11"/>
    <p:sldLayoutId id="2147483807" r:id="rId12"/>
    <p:sldLayoutId id="2147483776" r:id="rId13"/>
    <p:sldLayoutId id="2147483810" r:id="rId14"/>
    <p:sldLayoutId id="2147483809" r:id="rId15"/>
    <p:sldLayoutId id="2147483788" r:id="rId16"/>
    <p:sldLayoutId id="2147483789" r:id="rId17"/>
    <p:sldLayoutId id="2147483790" r:id="rId18"/>
    <p:sldLayoutId id="2147483791" r:id="rId19"/>
    <p:sldLayoutId id="2147483792" r:id="rId20"/>
    <p:sldLayoutId id="2147483793" r:id="rId21"/>
    <p:sldLayoutId id="2147483794" r:id="rId22"/>
    <p:sldLayoutId id="2147483799" r:id="rId23"/>
    <p:sldLayoutId id="2147483800" r:id="rId24"/>
    <p:sldLayoutId id="2147483806" r:id="rId25"/>
    <p:sldLayoutId id="2147483795" r:id="rId26"/>
    <p:sldLayoutId id="2147483796" r:id="rId27"/>
    <p:sldLayoutId id="2147483797" r:id="rId28"/>
    <p:sldLayoutId id="2147483798" r:id="rId29"/>
    <p:sldLayoutId id="2147483783" r:id="rId30"/>
    <p:sldLayoutId id="2147483784" r:id="rId31"/>
    <p:sldLayoutId id="2147483785" r:id="rId32"/>
    <p:sldLayoutId id="2147483811" r:id="rId33"/>
    <p:sldLayoutId id="2147483813" r:id="rId34"/>
    <p:sldLayoutId id="2147483815" r:id="rId35"/>
    <p:sldLayoutId id="2147483927" r:id="rId36"/>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userDrawn="1">
          <p15:clr>
            <a:srgbClr val="F26B43"/>
          </p15:clr>
        </p15:guide>
        <p15:guide id="2" pos="7378" userDrawn="1">
          <p15:clr>
            <a:srgbClr val="F26B43"/>
          </p15:clr>
        </p15:guide>
        <p15:guide id="3" orient="horz" pos="890" userDrawn="1">
          <p15:clr>
            <a:srgbClr val="F26B43"/>
          </p15:clr>
        </p15:guide>
        <p15:guide id="5" orient="horz" pos="300" userDrawn="1">
          <p15:clr>
            <a:srgbClr val="F26B43"/>
          </p15:clr>
        </p15:guide>
        <p15:guide id="6" orient="horz" pos="374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46693222"/>
      </p:ext>
    </p:extLst>
  </p:cSld>
  <p:clrMap bg1="lt1" tx1="dk1" bg2="lt2" tx2="dk2" accent1="accent1" accent2="accent2" accent3="accent3" accent4="accent4" accent5="accent5" accent6="accent6" hlink="hlink" folHlink="folHlink"/>
  <p:sldLayoutIdLst>
    <p:sldLayoutId id="2147483891" r:id="rId1"/>
    <p:sldLayoutId id="2147483892" r:id="rId2"/>
    <p:sldLayoutId id="2147483893" r:id="rId3"/>
    <p:sldLayoutId id="2147483894" r:id="rId4"/>
    <p:sldLayoutId id="2147483895" r:id="rId5"/>
    <p:sldLayoutId id="2147483896" r:id="rId6"/>
    <p:sldLayoutId id="2147483897" r:id="rId7"/>
    <p:sldLayoutId id="2147483898" r:id="rId8"/>
    <p:sldLayoutId id="2147483899" r:id="rId9"/>
    <p:sldLayoutId id="2147483900" r:id="rId10"/>
    <p:sldLayoutId id="2147483901" r:id="rId11"/>
    <p:sldLayoutId id="2147483902" r:id="rId12"/>
    <p:sldLayoutId id="2147483903" r:id="rId13"/>
    <p:sldLayoutId id="2147483904" r:id="rId14"/>
    <p:sldLayoutId id="2147483905" r:id="rId15"/>
    <p:sldLayoutId id="2147483906" r:id="rId16"/>
    <p:sldLayoutId id="2147483907" r:id="rId17"/>
    <p:sldLayoutId id="2147483908" r:id="rId18"/>
    <p:sldLayoutId id="2147483909" r:id="rId19"/>
    <p:sldLayoutId id="2147483910" r:id="rId20"/>
    <p:sldLayoutId id="2147483911" r:id="rId21"/>
    <p:sldLayoutId id="2147483912" r:id="rId22"/>
    <p:sldLayoutId id="2147483913" r:id="rId23"/>
    <p:sldLayoutId id="2147483914" r:id="rId24"/>
    <p:sldLayoutId id="2147483915" r:id="rId25"/>
    <p:sldLayoutId id="2147483916" r:id="rId26"/>
    <p:sldLayoutId id="2147483917" r:id="rId27"/>
    <p:sldLayoutId id="2147483918" r:id="rId28"/>
    <p:sldLayoutId id="2147483919" r:id="rId29"/>
    <p:sldLayoutId id="2147483920" r:id="rId30"/>
    <p:sldLayoutId id="2147483921" r:id="rId31"/>
    <p:sldLayoutId id="2147483922" r:id="rId32"/>
    <p:sldLayoutId id="2147483923" r:id="rId33"/>
    <p:sldLayoutId id="2147483924" r:id="rId34"/>
    <p:sldLayoutId id="2147483925" r:id="rId35"/>
    <p:sldLayoutId id="2147483926" r:id="rId36"/>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3360531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336053149"/>
      </p:ext>
    </p:extLst>
  </p:cSld>
  <p:clrMap bg1="lt1" tx1="dk1" bg2="lt2" tx2="dk2" accent1="accent1" accent2="accent2" accent3="accent3" accent4="accent4" accent5="accent5" accent6="accent6" hlink="hlink" folHlink="folHlink"/>
  <p:sldLayoutIdLst>
    <p:sldLayoutId id="2147483964" r:id="rId1"/>
    <p:sldLayoutId id="2147483965" r:id="rId2"/>
    <p:sldLayoutId id="2147483966" r:id="rId3"/>
    <p:sldLayoutId id="2147483967" r:id="rId4"/>
    <p:sldLayoutId id="2147483968" r:id="rId5"/>
    <p:sldLayoutId id="2147483969" r:id="rId6"/>
    <p:sldLayoutId id="2147483970" r:id="rId7"/>
    <p:sldLayoutId id="2147483971" r:id="rId8"/>
    <p:sldLayoutId id="2147483972" r:id="rId9"/>
    <p:sldLayoutId id="2147483973" r:id="rId10"/>
    <p:sldLayoutId id="2147483974" r:id="rId11"/>
    <p:sldLayoutId id="2147483975" r:id="rId12"/>
    <p:sldLayoutId id="2147483976" r:id="rId13"/>
    <p:sldLayoutId id="2147483977" r:id="rId14"/>
    <p:sldLayoutId id="2147483978" r:id="rId15"/>
    <p:sldLayoutId id="2147483979" r:id="rId16"/>
    <p:sldLayoutId id="2147483980" r:id="rId17"/>
    <p:sldLayoutId id="2147483981" r:id="rId18"/>
    <p:sldLayoutId id="2147483982" r:id="rId19"/>
    <p:sldLayoutId id="2147483983" r:id="rId20"/>
    <p:sldLayoutId id="2147483984" r:id="rId21"/>
    <p:sldLayoutId id="2147483985" r:id="rId22"/>
    <p:sldLayoutId id="2147483986" r:id="rId23"/>
    <p:sldLayoutId id="2147483987" r:id="rId24"/>
    <p:sldLayoutId id="2147483988" r:id="rId25"/>
    <p:sldLayoutId id="2147483989" r:id="rId26"/>
    <p:sldLayoutId id="2147483990" r:id="rId27"/>
    <p:sldLayoutId id="2147483991" r:id="rId28"/>
    <p:sldLayoutId id="2147483992" r:id="rId29"/>
    <p:sldLayoutId id="2147483993" r:id="rId30"/>
    <p:sldLayoutId id="2147483994" r:id="rId31"/>
    <p:sldLayoutId id="2147483995" r:id="rId32"/>
    <p:sldLayoutId id="2147483996" r:id="rId33"/>
    <p:sldLayoutId id="2147483997" r:id="rId34"/>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5.xml"/><Relationship Id="rId4" Type="http://schemas.openxmlformats.org/officeDocument/2006/relationships/image" Target="../media/image21.svg"/></Relationships>
</file>

<file path=ppt/slides/_rels/slide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1.xml"/></Relationships>
</file>

<file path=ppt/slides/_rels/slide6.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36.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slideLayout" Target="../slideLayouts/slideLayout30.xml"/><Relationship Id="rId7" Type="http://schemas.openxmlformats.org/officeDocument/2006/relationships/image" Target="../media/image7.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30.emf"/><Relationship Id="rId5" Type="http://schemas.openxmlformats.org/officeDocument/2006/relationships/oleObject" Target="../embeddings/oleObject1.bin"/><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30.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comments" Target="../comments/comment2.xml"/><Relationship Id="rId4" Type="http://schemas.openxmlformats.org/officeDocument/2006/relationships/diagramLayout" Target="../diagrams/layout1.xml"/><Relationship Id="rId9" Type="http://schemas.openxmlformats.org/officeDocument/2006/relationships/image" Target="../media/image32.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21.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35.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 Id="rId9" Type="http://schemas.openxmlformats.org/officeDocument/2006/relationships/comments" Target="../comments/comment5.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slideLayout" Target="../slideLayouts/slideLayout30.xml"/><Relationship Id="rId7" Type="http://schemas.openxmlformats.org/officeDocument/2006/relationships/image" Target="../media/image7.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30.emf"/><Relationship Id="rId5" Type="http://schemas.openxmlformats.org/officeDocument/2006/relationships/oleObject" Target="../embeddings/oleObject1.bin"/><Relationship Id="rId4" Type="http://schemas.openxmlformats.org/officeDocument/2006/relationships/notesSlide" Target="../notesSlides/notesSlide22.xml"/><Relationship Id="rId9" Type="http://schemas.openxmlformats.org/officeDocument/2006/relationships/comments" Target="../comments/comment6.xml"/></Relationships>
</file>

<file path=ppt/slides/_rels/slide25.xml.rels><?xml version="1.0" encoding="UTF-8" standalone="yes"?>
<Relationships xmlns="http://schemas.openxmlformats.org/package/2006/relationships"><Relationship Id="rId3" Type="http://schemas.openxmlformats.org/officeDocument/2006/relationships/comments" Target="../comments/comment7.xml"/><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comments" Target="../comments/comment8.xml"/><Relationship Id="rId2" Type="http://schemas.openxmlformats.org/officeDocument/2006/relationships/notesSlide" Target="../notesSlides/notesSlide24.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1E614ADB-816F-D0B2-36B5-7FDBAB3DD757}"/>
              </a:ext>
            </a:extLst>
          </p:cNvPr>
          <p:cNvSpPr>
            <a:spLocks noGrp="1"/>
          </p:cNvSpPr>
          <p:nvPr>
            <p:ph type="subTitle" idx="14"/>
          </p:nvPr>
        </p:nvSpPr>
        <p:spPr bwMode="gray">
          <a:xfrm>
            <a:off x="479423" y="3822750"/>
            <a:ext cx="7632701" cy="792088"/>
          </a:xfrm>
        </p:spPr>
        <p:txBody>
          <a:bodyPr vert="horz" lIns="0" tIns="0" rIns="0" bIns="0" rtlCol="0" anchor="t">
            <a:noAutofit/>
          </a:bodyPr>
          <a:lstStyle/>
          <a:p>
            <a:r>
              <a:rPr lang="en-US" altLang="zh-CN" sz="1800"/>
              <a:t>ONIS study concept</a:t>
            </a:r>
          </a:p>
          <a:p>
            <a:r>
              <a:rPr lang="en-US" sz="1600" i="1" u="sng"/>
              <a:t>for </a:t>
            </a:r>
            <a:r>
              <a:rPr lang="en-US" i="1" u="sng"/>
              <a:t>PEC E</a:t>
            </a:r>
            <a:r>
              <a:rPr lang="en-US" altLang="zh-CN" i="1" u="sng"/>
              <a:t>ndorsement</a:t>
            </a:r>
            <a:endParaRPr lang="de-DE"/>
          </a:p>
        </p:txBody>
      </p:sp>
      <p:sp>
        <p:nvSpPr>
          <p:cNvPr id="10" name="Title 9">
            <a:extLst>
              <a:ext uri="{FF2B5EF4-FFF2-40B4-BE49-F238E27FC236}">
                <a16:creationId xmlns:a16="http://schemas.microsoft.com/office/drawing/2014/main" id="{6723DFFC-7A84-40F2-69DD-524819653FC2}"/>
              </a:ext>
            </a:extLst>
          </p:cNvPr>
          <p:cNvSpPr>
            <a:spLocks noGrp="1"/>
          </p:cNvSpPr>
          <p:nvPr>
            <p:ph type="title"/>
          </p:nvPr>
        </p:nvSpPr>
        <p:spPr bwMode="gray">
          <a:xfrm>
            <a:off x="479424" y="1740750"/>
            <a:ext cx="11305208" cy="1799861"/>
          </a:xfrm>
        </p:spPr>
        <p:txBody>
          <a:bodyPr/>
          <a:lstStyle/>
          <a:p>
            <a:br>
              <a:rPr lang="en-US" sz="3000"/>
            </a:br>
            <a:r>
              <a:rPr lang="en-US" sz="3000"/>
              <a:t>ONIS: Guideline-directed Medical Therapy Treatment Pattern Among Adults with Chronic Kidney Disease in China: a national wide cross-sectional study</a:t>
            </a:r>
            <a:br>
              <a:rPr lang="en-US" sz="3000"/>
            </a:br>
            <a:endParaRPr lang="de-DE" sz="3000"/>
          </a:p>
        </p:txBody>
      </p:sp>
      <p:sp>
        <p:nvSpPr>
          <p:cNvPr id="2" name="Untertitel 8">
            <a:extLst>
              <a:ext uri="{FF2B5EF4-FFF2-40B4-BE49-F238E27FC236}">
                <a16:creationId xmlns:a16="http://schemas.microsoft.com/office/drawing/2014/main" id="{B6FE8F58-AA53-8CFA-4B9D-7FA383F2E353}"/>
              </a:ext>
            </a:extLst>
          </p:cNvPr>
          <p:cNvSpPr txBox="1">
            <a:spLocks/>
          </p:cNvSpPr>
          <p:nvPr/>
        </p:nvSpPr>
        <p:spPr bwMode="invGray">
          <a:xfrm>
            <a:off x="479424" y="4896978"/>
            <a:ext cx="7632701" cy="792088"/>
          </a:xfrm>
          <a:prstGeom prst="rect">
            <a:avLst/>
          </a:prstGeom>
        </p:spPr>
        <p:txBody>
          <a:bodyPr vert="horz" lIns="0" tIns="0" rIns="0" bIns="0" rtlCol="0">
            <a:noAutofit/>
          </a:bodyPr>
          <a:lstStyle>
            <a:lvl1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1pPr>
            <a:lvl2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2pPr>
            <a:lvl3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3pPr>
            <a:lvl4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4pPr>
            <a:lvl5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5pPr>
            <a:lvl6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6pPr>
            <a:lvl7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7pPr>
            <a:lvl8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8pPr>
            <a:lvl9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9pPr>
          </a:lstStyle>
          <a:p>
            <a:r>
              <a:rPr lang="en-US" altLang="zh-CN" sz="2000"/>
              <a:t>Wenjing Tan,</a:t>
            </a:r>
            <a:r>
              <a:rPr lang="zh-CN" altLang="en-US" sz="2000"/>
              <a:t> </a:t>
            </a:r>
            <a:r>
              <a:rPr lang="en-US" altLang="zh-CN" sz="2000"/>
              <a:t>Chloe Wang</a:t>
            </a:r>
          </a:p>
          <a:p>
            <a:endParaRPr lang="en-US" sz="2000"/>
          </a:p>
        </p:txBody>
      </p:sp>
      <p:sp>
        <p:nvSpPr>
          <p:cNvPr id="3" name="文本占位符 15">
            <a:extLst>
              <a:ext uri="{FF2B5EF4-FFF2-40B4-BE49-F238E27FC236}">
                <a16:creationId xmlns:a16="http://schemas.microsoft.com/office/drawing/2014/main" id="{D7E2AAE0-B576-6E6F-6528-912AFAF954D1}"/>
              </a:ext>
            </a:extLst>
          </p:cNvPr>
          <p:cNvSpPr txBox="1">
            <a:spLocks/>
          </p:cNvSpPr>
          <p:nvPr/>
        </p:nvSpPr>
        <p:spPr>
          <a:xfrm>
            <a:off x="1737677" y="6275756"/>
            <a:ext cx="7098956" cy="88894"/>
          </a:xfrm>
          <a:prstGeom prst="rect">
            <a:avLst/>
          </a:prstGeom>
        </p:spPr>
        <p:txBody>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altLang="zh-CN" sz="1000">
                <a:solidFill>
                  <a:schemeClr val="bg1"/>
                </a:solidFill>
              </a:rPr>
              <a:t>ECR: external collaborative research.</a:t>
            </a:r>
            <a:endParaRPr lang="zh-CN" altLang="en-US" sz="1000">
              <a:solidFill>
                <a:schemeClr val="bg1"/>
              </a:solidFill>
            </a:endParaRPr>
          </a:p>
        </p:txBody>
      </p:sp>
    </p:spTree>
    <p:extLst>
      <p:ext uri="{BB962C8B-B14F-4D97-AF65-F5344CB8AC3E}">
        <p14:creationId xmlns:p14="http://schemas.microsoft.com/office/powerpoint/2010/main" val="2837503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3707B-E434-0441-E538-F1189F7DAC19}"/>
              </a:ext>
            </a:extLst>
          </p:cNvPr>
          <p:cNvSpPr>
            <a:spLocks noGrp="1"/>
          </p:cNvSpPr>
          <p:nvPr>
            <p:ph type="title"/>
          </p:nvPr>
        </p:nvSpPr>
        <p:spPr/>
        <p:txBody>
          <a:bodyPr/>
          <a:lstStyle/>
          <a:p>
            <a:pPr algn="ctr"/>
            <a:r>
              <a:rPr lang="en-US" altLang="zh-CN"/>
              <a:t>Executive Summary</a:t>
            </a:r>
            <a:endParaRPr lang="zh-CN" altLang="en-US"/>
          </a:p>
        </p:txBody>
      </p:sp>
      <p:sp>
        <p:nvSpPr>
          <p:cNvPr id="7" name="Slide Number Placeholder 6">
            <a:extLst>
              <a:ext uri="{FF2B5EF4-FFF2-40B4-BE49-F238E27FC236}">
                <a16:creationId xmlns:a16="http://schemas.microsoft.com/office/drawing/2014/main" id="{13BA5787-E7DA-BB4B-3F07-F7455584B6EB}"/>
              </a:ext>
            </a:extLst>
          </p:cNvPr>
          <p:cNvSpPr>
            <a:spLocks noGrp="1"/>
          </p:cNvSpPr>
          <p:nvPr>
            <p:ph type="sldNum" sz="quarter" idx="2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8" name="Textplatzhalter 2">
            <a:extLst>
              <a:ext uri="{FF2B5EF4-FFF2-40B4-BE49-F238E27FC236}">
                <a16:creationId xmlns:a16="http://schemas.microsoft.com/office/drawing/2014/main" id="{92AFA8A2-EE05-C396-D21F-C05229A42079}"/>
              </a:ext>
            </a:extLst>
          </p:cNvPr>
          <p:cNvSpPr txBox="1">
            <a:spLocks/>
          </p:cNvSpPr>
          <p:nvPr/>
        </p:nvSpPr>
        <p:spPr bwMode="gray">
          <a:xfrm>
            <a:off x="450624" y="1318138"/>
            <a:ext cx="2553431" cy="391473"/>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marR="0" lvl="0" indent="0" algn="l" defTabSz="914400" rtl="0" eaLnBrk="1" fontAlgn="auto" latinLnBrk="0" hangingPunct="1">
              <a:lnSpc>
                <a:spcPct val="140000"/>
              </a:lnSpc>
              <a:spcBef>
                <a:spcPts val="0"/>
              </a:spcBef>
              <a:spcAft>
                <a:spcPts val="600"/>
              </a:spcAft>
              <a:buClr>
                <a:srgbClr val="00E47C"/>
              </a:buClr>
              <a:buSzTx/>
              <a:buFont typeface="Arial" panose="020B0604020202020204" pitchFamily="34" charset="0"/>
              <a:buNone/>
              <a:tabLst/>
              <a:defRPr/>
            </a:pPr>
            <a:r>
              <a:rPr kumimoji="0" lang="en-US" sz="1600" b="1" i="0" u="none" strike="noStrike" kern="1200" cap="none" spc="0" normalizeH="0" baseline="0" noProof="0">
                <a:ln>
                  <a:noFill/>
                </a:ln>
                <a:solidFill>
                  <a:prstClr val="white"/>
                </a:solidFill>
                <a:effectLst/>
                <a:uLnTx/>
                <a:uFillTx/>
                <a:latin typeface="Boehringer Forward Text"/>
                <a:ea typeface="+mn-ea"/>
                <a:cs typeface="+mn-cs"/>
              </a:rPr>
              <a:t>Background </a:t>
            </a:r>
          </a:p>
        </p:txBody>
      </p:sp>
      <p:pic>
        <p:nvPicPr>
          <p:cNvPr id="9" name="Grafik 17">
            <a:extLst>
              <a:ext uri="{FF2B5EF4-FFF2-40B4-BE49-F238E27FC236}">
                <a16:creationId xmlns:a16="http://schemas.microsoft.com/office/drawing/2014/main" id="{9F61877D-FC4A-2CC4-B77D-D231A8253A9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a:off x="2828247" y="1225874"/>
            <a:ext cx="576000" cy="576000"/>
          </a:xfrm>
          <a:prstGeom prst="rect">
            <a:avLst/>
          </a:prstGeom>
        </p:spPr>
      </p:pic>
      <p:sp>
        <p:nvSpPr>
          <p:cNvPr id="12" name="Textplatzhalter 2">
            <a:extLst>
              <a:ext uri="{FF2B5EF4-FFF2-40B4-BE49-F238E27FC236}">
                <a16:creationId xmlns:a16="http://schemas.microsoft.com/office/drawing/2014/main" id="{CA94E05C-EC99-D66A-47DB-B09DC245EA34}"/>
              </a:ext>
            </a:extLst>
          </p:cNvPr>
          <p:cNvSpPr txBox="1">
            <a:spLocks/>
          </p:cNvSpPr>
          <p:nvPr/>
        </p:nvSpPr>
        <p:spPr bwMode="gray">
          <a:xfrm>
            <a:off x="386945" y="2782620"/>
            <a:ext cx="2377045" cy="463089"/>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marR="0" lvl="0" indent="0" algn="l" defTabSz="914400" rtl="0" eaLnBrk="1" fontAlgn="auto" latinLnBrk="0" hangingPunct="1">
              <a:lnSpc>
                <a:spcPct val="140000"/>
              </a:lnSpc>
              <a:spcBef>
                <a:spcPts val="0"/>
              </a:spcBef>
              <a:spcAft>
                <a:spcPts val="600"/>
              </a:spcAft>
              <a:buClr>
                <a:srgbClr val="00E47C"/>
              </a:buClr>
              <a:buSzTx/>
              <a:buFont typeface="Arial" panose="020B0604020202020204" pitchFamily="34" charset="0"/>
              <a:buNone/>
              <a:tabLst/>
              <a:defRPr/>
            </a:pPr>
            <a:r>
              <a:rPr kumimoji="0" lang="en-US" sz="1600" b="1" i="0" u="none" strike="noStrike" kern="1200" cap="none" spc="0" normalizeH="0" baseline="0" noProof="0">
                <a:ln>
                  <a:noFill/>
                </a:ln>
                <a:solidFill>
                  <a:prstClr val="white"/>
                </a:solidFill>
                <a:effectLst/>
                <a:uLnTx/>
                <a:uFillTx/>
                <a:latin typeface="Boehringer Forward Text"/>
                <a:ea typeface="+mn-ea"/>
                <a:cs typeface="+mn-cs"/>
              </a:rPr>
              <a:t>Key Message/Rationale</a:t>
            </a:r>
          </a:p>
        </p:txBody>
      </p:sp>
      <p:pic>
        <p:nvPicPr>
          <p:cNvPr id="13" name="Grafik 42">
            <a:extLst>
              <a:ext uri="{FF2B5EF4-FFF2-40B4-BE49-F238E27FC236}">
                <a16:creationId xmlns:a16="http://schemas.microsoft.com/office/drawing/2014/main" id="{4D4920A2-A67C-5622-D297-C51D4A2547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a:off x="2830889" y="2782851"/>
            <a:ext cx="576000" cy="576000"/>
          </a:xfrm>
          <a:prstGeom prst="rect">
            <a:avLst/>
          </a:prstGeom>
        </p:spPr>
      </p:pic>
      <p:pic>
        <p:nvPicPr>
          <p:cNvPr id="14" name="Grafik 17">
            <a:extLst>
              <a:ext uri="{FF2B5EF4-FFF2-40B4-BE49-F238E27FC236}">
                <a16:creationId xmlns:a16="http://schemas.microsoft.com/office/drawing/2014/main" id="{A063004D-EEC8-1C7F-6484-5598BD2991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a:off x="2805386" y="5589678"/>
            <a:ext cx="576000" cy="576000"/>
          </a:xfrm>
          <a:prstGeom prst="rect">
            <a:avLst/>
          </a:prstGeom>
        </p:spPr>
      </p:pic>
      <p:sp>
        <p:nvSpPr>
          <p:cNvPr id="19" name="TextBox 18">
            <a:extLst>
              <a:ext uri="{FF2B5EF4-FFF2-40B4-BE49-F238E27FC236}">
                <a16:creationId xmlns:a16="http://schemas.microsoft.com/office/drawing/2014/main" id="{7CD815F8-7CA4-C9B8-DDE0-94C1281B0AA0}"/>
              </a:ext>
            </a:extLst>
          </p:cNvPr>
          <p:cNvSpPr txBox="1"/>
          <p:nvPr/>
        </p:nvSpPr>
        <p:spPr bwMode="gray">
          <a:xfrm>
            <a:off x="4053525" y="5734136"/>
            <a:ext cx="7704577" cy="276422"/>
          </a:xfrm>
          <a:prstGeom prst="rect">
            <a:avLst/>
          </a:prstGeom>
          <a:noFill/>
        </p:spPr>
        <p:txBody>
          <a:bodyPr wrap="square" lIns="0" tIns="0" rIns="0" bIns="0" rtlCol="0" anchor="t">
            <a:spAutoFit/>
          </a:bodyPr>
          <a:lstStyle/>
          <a:p>
            <a:pPr marL="285750" indent="-285750">
              <a:lnSpc>
                <a:spcPct val="140000"/>
              </a:lnSpc>
              <a:buFont typeface="Arial" panose="020B0604020202020204" pitchFamily="34" charset="0"/>
              <a:buChar char="•"/>
              <a:defRPr/>
            </a:pPr>
            <a:r>
              <a:rPr lang="en-US" altLang="zh-CN" sz="1400" i="1">
                <a:latin typeface="Boehringer Forward Text"/>
              </a:rPr>
              <a:t>Seek for PEC's endorsement</a:t>
            </a:r>
            <a:endParaRPr lang="zh-CN" altLang="en-US" sz="1400" i="1">
              <a:latin typeface="Boehringer Forward Text"/>
            </a:endParaRPr>
          </a:p>
        </p:txBody>
      </p:sp>
      <p:sp>
        <p:nvSpPr>
          <p:cNvPr id="20" name="Textplatzhalter 2">
            <a:extLst>
              <a:ext uri="{FF2B5EF4-FFF2-40B4-BE49-F238E27FC236}">
                <a16:creationId xmlns:a16="http://schemas.microsoft.com/office/drawing/2014/main" id="{F9E6C4B2-5F80-6752-78DD-E2E88B40E540}"/>
              </a:ext>
            </a:extLst>
          </p:cNvPr>
          <p:cNvSpPr txBox="1">
            <a:spLocks/>
          </p:cNvSpPr>
          <p:nvPr/>
        </p:nvSpPr>
        <p:spPr bwMode="gray">
          <a:xfrm>
            <a:off x="389663" y="5734136"/>
            <a:ext cx="2553431" cy="354586"/>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marR="0" lvl="0" indent="0" algn="l" defTabSz="914400" rtl="0" eaLnBrk="1" fontAlgn="auto" latinLnBrk="0" hangingPunct="1">
              <a:lnSpc>
                <a:spcPct val="140000"/>
              </a:lnSpc>
              <a:spcBef>
                <a:spcPts val="0"/>
              </a:spcBef>
              <a:spcAft>
                <a:spcPts val="600"/>
              </a:spcAft>
              <a:buClr>
                <a:srgbClr val="00E47C"/>
              </a:buClr>
              <a:buSzTx/>
              <a:buFont typeface="Arial" panose="020B0604020202020204" pitchFamily="34" charset="0"/>
              <a:buNone/>
              <a:tabLst/>
              <a:defRPr/>
            </a:pPr>
            <a:r>
              <a:rPr kumimoji="0" lang="en-US" altLang="zh-CN" sz="1600" b="1" i="0" u="none" strike="noStrike" kern="1200" cap="none" spc="0" normalizeH="0" baseline="0" noProof="0">
                <a:ln>
                  <a:noFill/>
                </a:ln>
                <a:solidFill>
                  <a:prstClr val="white"/>
                </a:solidFill>
                <a:effectLst/>
                <a:uLnTx/>
                <a:uFillTx/>
                <a:latin typeface="Boehringer Forward Text"/>
                <a:ea typeface="+mn-ea"/>
                <a:cs typeface="+mn-cs"/>
              </a:rPr>
              <a:t>Request for </a:t>
            </a:r>
            <a:r>
              <a:rPr lang="en-US" altLang="zh-CN" b="1">
                <a:solidFill>
                  <a:prstClr val="white"/>
                </a:solidFill>
                <a:latin typeface="Boehringer Forward Text"/>
              </a:rPr>
              <a:t>CEC</a:t>
            </a:r>
            <a:endParaRPr kumimoji="0" lang="en-US" sz="1600" b="1"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5" name="Textplatzhalter 2">
            <a:extLst>
              <a:ext uri="{FF2B5EF4-FFF2-40B4-BE49-F238E27FC236}">
                <a16:creationId xmlns:a16="http://schemas.microsoft.com/office/drawing/2014/main" id="{0FABACB4-695E-4191-4883-629D87325AC5}"/>
              </a:ext>
            </a:extLst>
          </p:cNvPr>
          <p:cNvSpPr txBox="1">
            <a:spLocks/>
          </p:cNvSpPr>
          <p:nvPr/>
        </p:nvSpPr>
        <p:spPr bwMode="gray">
          <a:xfrm>
            <a:off x="455866" y="4535824"/>
            <a:ext cx="2377045" cy="463089"/>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marR="0" lvl="0" indent="0" algn="l" defTabSz="914400" rtl="0" eaLnBrk="1" fontAlgn="auto" latinLnBrk="0" hangingPunct="1">
              <a:lnSpc>
                <a:spcPct val="140000"/>
              </a:lnSpc>
              <a:spcBef>
                <a:spcPts val="0"/>
              </a:spcBef>
              <a:spcAft>
                <a:spcPts val="600"/>
              </a:spcAft>
              <a:buClr>
                <a:srgbClr val="00E47C"/>
              </a:buClr>
              <a:buSzTx/>
              <a:buFont typeface="Arial" panose="020B0604020202020204" pitchFamily="34" charset="0"/>
              <a:buNone/>
              <a:tabLst/>
              <a:defRPr/>
            </a:pPr>
            <a:r>
              <a:rPr kumimoji="0" lang="en-US" sz="1600" b="1" i="0" u="none" strike="noStrike" kern="1200" cap="none" spc="0" normalizeH="0" baseline="0" noProof="0">
                <a:ln>
                  <a:noFill/>
                </a:ln>
                <a:solidFill>
                  <a:prstClr val="white"/>
                </a:solidFill>
                <a:effectLst/>
                <a:uLnTx/>
                <a:uFillTx/>
                <a:latin typeface="Boehringer Forward Text"/>
                <a:ea typeface="+mn-ea"/>
                <a:cs typeface="+mn-cs"/>
              </a:rPr>
              <a:t>Study type/</a:t>
            </a:r>
            <a:r>
              <a:rPr lang="en-US" b="1">
                <a:solidFill>
                  <a:prstClr val="white"/>
                </a:solidFill>
                <a:latin typeface="Boehringer Forward Text"/>
              </a:rPr>
              <a:t>Data source</a:t>
            </a:r>
            <a:endParaRPr kumimoji="0" lang="en-US" sz="1600" b="1" i="0" u="none" strike="noStrike" kern="1200" cap="none" spc="0" normalizeH="0" baseline="0" noProof="0">
              <a:ln>
                <a:noFill/>
              </a:ln>
              <a:solidFill>
                <a:prstClr val="white"/>
              </a:solidFill>
              <a:effectLst/>
              <a:uLnTx/>
              <a:uFillTx/>
              <a:latin typeface="Boehringer Forward Text"/>
              <a:ea typeface="+mn-ea"/>
              <a:cs typeface="+mn-cs"/>
            </a:endParaRPr>
          </a:p>
        </p:txBody>
      </p:sp>
      <p:pic>
        <p:nvPicPr>
          <p:cNvPr id="6" name="Grafik 42">
            <a:extLst>
              <a:ext uri="{FF2B5EF4-FFF2-40B4-BE49-F238E27FC236}">
                <a16:creationId xmlns:a16="http://schemas.microsoft.com/office/drawing/2014/main" id="{FCE58A2A-65DD-6019-4C53-D6070252F1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a:off x="2857865" y="4437094"/>
            <a:ext cx="576000" cy="576000"/>
          </a:xfrm>
          <a:prstGeom prst="rect">
            <a:avLst/>
          </a:prstGeom>
        </p:spPr>
      </p:pic>
      <p:sp>
        <p:nvSpPr>
          <p:cNvPr id="10" name="TextBox 18">
            <a:extLst>
              <a:ext uri="{FF2B5EF4-FFF2-40B4-BE49-F238E27FC236}">
                <a16:creationId xmlns:a16="http://schemas.microsoft.com/office/drawing/2014/main" id="{109CCD2C-AB78-56D3-16BC-2BD6A7A511A0}"/>
              </a:ext>
            </a:extLst>
          </p:cNvPr>
          <p:cNvSpPr txBox="1"/>
          <p:nvPr/>
        </p:nvSpPr>
        <p:spPr bwMode="gray">
          <a:xfrm>
            <a:off x="3826286" y="4669801"/>
            <a:ext cx="7491859" cy="430887"/>
          </a:xfrm>
          <a:prstGeom prst="rect">
            <a:avLst/>
          </a:prstGeom>
          <a:noFill/>
        </p:spPr>
        <p:txBody>
          <a:bodyPr wrap="square" lIns="0" tIns="0" rIns="0" bIns="0" rtlCol="0" anchor="t">
            <a:spAutoFit/>
          </a:bodyPr>
          <a:lstStyle/>
          <a:p>
            <a:pPr marL="555625" indent="-285750">
              <a:buFont typeface="Arial" panose="020B0604020202020204" pitchFamily="34" charset="0"/>
              <a:buChar char="•"/>
              <a:defRPr/>
            </a:pPr>
            <a:r>
              <a:rPr lang="en-US" sz="1400" i="1">
                <a:latin typeface="Boehringer Forward Text"/>
              </a:rPr>
              <a:t>A non-interventional, cross-sectional study utilizing existing data from the China Kidney Disease Network (CK-NET).</a:t>
            </a:r>
            <a:endParaRPr lang="zh-CN" altLang="en-US" sz="1400" i="1">
              <a:latin typeface="Boehringer Forward Text"/>
            </a:endParaRPr>
          </a:p>
        </p:txBody>
      </p:sp>
      <p:sp>
        <p:nvSpPr>
          <p:cNvPr id="15" name="文本框 13">
            <a:extLst>
              <a:ext uri="{FF2B5EF4-FFF2-40B4-BE49-F238E27FC236}">
                <a16:creationId xmlns:a16="http://schemas.microsoft.com/office/drawing/2014/main" id="{4757B579-A2EB-4F9C-6A9A-9D11CC7C873F}"/>
              </a:ext>
            </a:extLst>
          </p:cNvPr>
          <p:cNvSpPr txBox="1"/>
          <p:nvPr/>
        </p:nvSpPr>
        <p:spPr>
          <a:xfrm>
            <a:off x="4008437" y="6654668"/>
            <a:ext cx="9989683" cy="153888"/>
          </a:xfrm>
          <a:prstGeom prst="rect">
            <a:avLst/>
          </a:prstGeom>
          <a:noFill/>
        </p:spPr>
        <p:txBody>
          <a:bodyPr wrap="square" lIns="0" tIns="0" rIns="0" bIns="0" rtlCol="0" anchor="t">
            <a:spAutoFit/>
          </a:bodyPr>
          <a:lstStyle/>
          <a:p>
            <a:r>
              <a:rPr lang="en-US" sz="1000"/>
              <a:t>CDC: Center for disease control and prevention ; EHR: electronic health records</a:t>
            </a:r>
          </a:p>
        </p:txBody>
      </p:sp>
      <p:sp>
        <p:nvSpPr>
          <p:cNvPr id="4" name="TextBox 3">
            <a:extLst>
              <a:ext uri="{FF2B5EF4-FFF2-40B4-BE49-F238E27FC236}">
                <a16:creationId xmlns:a16="http://schemas.microsoft.com/office/drawing/2014/main" id="{1AC1E75F-AB8B-7B5C-35F5-D73FD718CE24}"/>
              </a:ext>
            </a:extLst>
          </p:cNvPr>
          <p:cNvSpPr txBox="1"/>
          <p:nvPr/>
        </p:nvSpPr>
        <p:spPr bwMode="gray">
          <a:xfrm>
            <a:off x="3909732" y="1031700"/>
            <a:ext cx="8282268" cy="1384995"/>
          </a:xfrm>
          <a:prstGeom prst="rect">
            <a:avLst/>
          </a:prstGeom>
          <a:noFill/>
        </p:spPr>
        <p:txBody>
          <a:bodyPr wrap="square">
            <a:spAutoFit/>
          </a:bodyPr>
          <a:lstStyle/>
          <a:p>
            <a:pPr marL="285750" indent="-285750">
              <a:buFont typeface="Arial" panose="020B0604020202020204" pitchFamily="34" charset="0"/>
              <a:buChar char="•"/>
            </a:pPr>
            <a:r>
              <a:rPr lang="en-US" altLang="zh-CN" sz="1400" i="1">
                <a:latin typeface="Boehringer Forward Text"/>
              </a:rPr>
              <a:t>SGLT2i significantly reduce cardiovascular and renal events in CKD patients, leading to their inclusion as first-line therapy in both global (KDIGO 2024) and Chinese (2023/2025) guidelines. </a:t>
            </a:r>
          </a:p>
          <a:p>
            <a:pPr marL="285750" indent="-285750">
              <a:buFont typeface="Arial" panose="020B0604020202020204" pitchFamily="34" charset="0"/>
              <a:buChar char="•"/>
            </a:pPr>
            <a:r>
              <a:rPr lang="en-US" altLang="zh-CN" sz="1400" i="1" err="1">
                <a:latin typeface="Boehringer Forward Text"/>
              </a:rPr>
              <a:t>EASi</a:t>
            </a:r>
            <a:r>
              <a:rPr lang="en-US" altLang="zh-CN" sz="1400" i="1">
                <a:latin typeface="Boehringer Forward Text"/>
              </a:rPr>
              <a:t>-KIDNEY trial is under-development, will be approved in Jan 2029</a:t>
            </a:r>
          </a:p>
          <a:p>
            <a:pPr marL="285750" indent="-285750">
              <a:buFont typeface="Arial" panose="020B0604020202020204" pitchFamily="34" charset="0"/>
              <a:buChar char="•"/>
            </a:pPr>
            <a:r>
              <a:rPr lang="en-US" altLang="zh-CN" sz="1400" i="1">
                <a:latin typeface="Boehringer Forward Text"/>
              </a:rPr>
              <a:t>The vision of </a:t>
            </a:r>
            <a:r>
              <a:rPr lang="en-US" altLang="zh-CN" sz="1400" i="1" err="1">
                <a:latin typeface="Boehringer Forward Text"/>
              </a:rPr>
              <a:t>vica-empa</a:t>
            </a:r>
            <a:r>
              <a:rPr lang="en-US" altLang="zh-CN" sz="1400" i="1">
                <a:latin typeface="Boehringer Forward Text"/>
              </a:rPr>
              <a:t> is to replace SGLT2i/</a:t>
            </a:r>
            <a:r>
              <a:rPr lang="en-US" altLang="zh-CN" sz="1400" i="1" err="1">
                <a:latin typeface="Boehringer Forward Text"/>
              </a:rPr>
              <a:t>SGLTi</a:t>
            </a:r>
            <a:r>
              <a:rPr lang="en-US" altLang="zh-CN" sz="1400" i="1">
                <a:latin typeface="Boehringer Forward Text"/>
              </a:rPr>
              <a:t> and ns-MRA becoming 1st line foundational therapy for CKD management</a:t>
            </a:r>
          </a:p>
        </p:txBody>
      </p:sp>
      <p:sp>
        <p:nvSpPr>
          <p:cNvPr id="16" name="TextBox 15">
            <a:extLst>
              <a:ext uri="{FF2B5EF4-FFF2-40B4-BE49-F238E27FC236}">
                <a16:creationId xmlns:a16="http://schemas.microsoft.com/office/drawing/2014/main" id="{761234A8-BFA1-FFFE-4669-F2E070534C77}"/>
              </a:ext>
            </a:extLst>
          </p:cNvPr>
          <p:cNvSpPr txBox="1"/>
          <p:nvPr/>
        </p:nvSpPr>
        <p:spPr bwMode="gray">
          <a:xfrm>
            <a:off x="3590440" y="2785185"/>
            <a:ext cx="7734495" cy="1200329"/>
          </a:xfrm>
          <a:prstGeom prst="rect">
            <a:avLst/>
          </a:prstGeom>
          <a:noFill/>
        </p:spPr>
        <p:txBody>
          <a:bodyPr wrap="square" lIns="91440" tIns="45720" rIns="91440" bIns="45720" anchor="t">
            <a:spAutoFit/>
          </a:bodyPr>
          <a:lstStyle/>
          <a:p>
            <a:pPr marL="555625" indent="-285750">
              <a:buFont typeface="Arial" panose="020B0604020202020204" pitchFamily="34" charset="0"/>
              <a:buChar char="•"/>
            </a:pPr>
            <a:r>
              <a:rPr lang="en-US" altLang="zh-CN" sz="1400" i="1">
                <a:latin typeface="Boehringer Forward Text"/>
              </a:rPr>
              <a:t>Understanding treatment opportunity gaps and barriers will be necessary for GDMT implementation</a:t>
            </a:r>
          </a:p>
          <a:p>
            <a:pPr marL="555625" indent="-285750">
              <a:buFont typeface="Arial" panose="020B0604020202020204" pitchFamily="34" charset="0"/>
              <a:buChar char="•"/>
            </a:pPr>
            <a:r>
              <a:rPr lang="en-US" altLang="zh-CN" sz="1400" i="1">
                <a:latin typeface="Boehringer Forward Text"/>
              </a:rPr>
              <a:t>Introducing the concept of GDMT can help lay the groundwork for effective medical education in preparation for the vica-empa launch</a:t>
            </a:r>
          </a:p>
          <a:p>
            <a:pPr marL="269875" indent="0">
              <a:buNone/>
            </a:pPr>
            <a:endParaRPr lang="zh-CN" altLang="en-US" sz="1600" i="1">
              <a:latin typeface="Boehringer Forward Text"/>
            </a:endParaRPr>
          </a:p>
        </p:txBody>
      </p:sp>
    </p:spTree>
    <p:extLst>
      <p:ext uri="{BB962C8B-B14F-4D97-AF65-F5344CB8AC3E}">
        <p14:creationId xmlns:p14="http://schemas.microsoft.com/office/powerpoint/2010/main" val="2578409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154130-E423-0B74-8FBB-04C0C52E84B4}"/>
              </a:ext>
            </a:extLst>
          </p:cNvPr>
          <p:cNvSpPr>
            <a:spLocks noGrp="1"/>
          </p:cNvSpPr>
          <p:nvPr>
            <p:ph type="title"/>
          </p:nvPr>
        </p:nvSpPr>
        <p:spPr/>
        <p:txBody>
          <a:bodyPr/>
          <a:lstStyle/>
          <a:p>
            <a:r>
              <a:rPr lang="en-US"/>
              <a:t>Study background</a:t>
            </a:r>
            <a:endParaRPr lang="en-GB"/>
          </a:p>
        </p:txBody>
      </p:sp>
      <p:sp>
        <p:nvSpPr>
          <p:cNvPr id="6" name="Content Placeholder 5">
            <a:extLst>
              <a:ext uri="{FF2B5EF4-FFF2-40B4-BE49-F238E27FC236}">
                <a16:creationId xmlns:a16="http://schemas.microsoft.com/office/drawing/2014/main" id="{A8B24D93-9EAA-2E4A-8A61-7F25580B0E90}"/>
              </a:ext>
            </a:extLst>
          </p:cNvPr>
          <p:cNvSpPr>
            <a:spLocks noGrp="1"/>
          </p:cNvSpPr>
          <p:nvPr>
            <p:ph idx="1"/>
          </p:nvPr>
        </p:nvSpPr>
        <p:spPr>
          <a:xfrm>
            <a:off x="479425" y="1412876"/>
            <a:ext cx="7443288" cy="4392000"/>
          </a:xfrm>
        </p:spPr>
        <p:txBody>
          <a:bodyPr/>
          <a:lstStyle/>
          <a:p>
            <a:pPr algn="l"/>
            <a:r>
              <a:rPr lang="en-US"/>
              <a:t>The cardiovascular and kidney benefits of SGLT2 inhibitors in patients with chronic kidney disease (CKD) are well established in large pivotal trials. </a:t>
            </a:r>
            <a:r>
              <a:rPr lang="en-GB" sz="1800" b="0" i="0" u="none" strike="noStrike" baseline="0">
                <a:latin typeface="AdvTTae869a4c"/>
              </a:rPr>
              <a:t>This has </a:t>
            </a:r>
            <a:r>
              <a:rPr lang="en-US" sz="1800" b="0" i="0" u="none" strike="noStrike" baseline="0">
                <a:latin typeface="AdvTTae869a4c"/>
              </a:rPr>
              <a:t>prompted updates to SGLT2 inhibitor drug </a:t>
            </a:r>
            <a:r>
              <a:rPr lang="en-US" sz="1800" b="0" i="0" u="none" strike="noStrike" baseline="0" err="1">
                <a:latin typeface="AdvTTae869a4c"/>
              </a:rPr>
              <a:t>licences</a:t>
            </a:r>
            <a:r>
              <a:rPr lang="en-US" sz="1800" b="0" i="0" u="none" strike="noStrike" baseline="0">
                <a:latin typeface="AdvTTae869a4c"/>
              </a:rPr>
              <a:t> and the publication/update of clinical guidelines relating to their use, including ‘</a:t>
            </a:r>
            <a:r>
              <a:rPr lang="en-GB" sz="1800" b="0" i="0" u="none" strike="noStrike" baseline="0">
                <a:latin typeface="AdvTTae869a4c"/>
              </a:rPr>
              <a:t>Kidney Disease: Improving Global Outcomes’ (KDIGO) guidelines in 2024 and ‘</a:t>
            </a:r>
            <a:r>
              <a:rPr lang="en-US" sz="1800" b="0" i="0" u="none" strike="noStrike" baseline="0">
                <a:latin typeface="AdvTTae869a4c"/>
              </a:rPr>
              <a:t>Guidelines for the early evaluation and management of chronic kidney disease in China’ in 2023.</a:t>
            </a:r>
          </a:p>
          <a:p>
            <a:pPr algn="l"/>
            <a:r>
              <a:rPr lang="en-GB" sz="1800" b="0" i="0" u="none" strike="noStrike" baseline="0">
                <a:latin typeface="AdvTTae869a4c"/>
              </a:rPr>
              <a:t>However, </a:t>
            </a:r>
            <a:r>
              <a:rPr lang="en-US"/>
              <a:t>the </a:t>
            </a:r>
            <a:r>
              <a:rPr lang="en-US" sz="1800" b="0" i="0" u="none" strike="noStrike" baseline="0">
                <a:latin typeface="AdvTT0d8bc80f.B"/>
              </a:rPr>
              <a:t>implementation of updated SGLT2 inhibitor guidelines and prescribing in the real-world CKD population remains largely unknown</a:t>
            </a:r>
          </a:p>
          <a:p>
            <a:pPr algn="l"/>
            <a:r>
              <a:rPr lang="en-US"/>
              <a:t>Understanding treatment opportunity gaps, highlighting potential barriers and disparities are essential in guiding the successful GDMT.</a:t>
            </a:r>
            <a:endParaRPr lang="en-GB"/>
          </a:p>
        </p:txBody>
      </p:sp>
      <p:sp>
        <p:nvSpPr>
          <p:cNvPr id="7" name="Text Placeholder 6">
            <a:extLst>
              <a:ext uri="{FF2B5EF4-FFF2-40B4-BE49-F238E27FC236}">
                <a16:creationId xmlns:a16="http://schemas.microsoft.com/office/drawing/2014/main" id="{BCD4E5B1-A505-AF9C-8B7C-5728B6B603D2}"/>
              </a:ext>
            </a:extLst>
          </p:cNvPr>
          <p:cNvSpPr>
            <a:spLocks noGrp="1"/>
          </p:cNvSpPr>
          <p:nvPr>
            <p:ph type="body" sz="quarter" idx="13"/>
          </p:nvPr>
        </p:nvSpPr>
        <p:spPr/>
        <p:txBody>
          <a:bodyPr/>
          <a:lstStyle/>
          <a:p>
            <a:r>
              <a:rPr lang="en-GB" altLang="zh-CN"/>
              <a:t>Kidney Disease: Improving Global Outcomes (KDIGO). Kidney Int 2024;105:S117.</a:t>
            </a:r>
          </a:p>
        </p:txBody>
      </p:sp>
      <p:sp>
        <p:nvSpPr>
          <p:cNvPr id="4" name="Footer Placeholder 3">
            <a:extLst>
              <a:ext uri="{FF2B5EF4-FFF2-40B4-BE49-F238E27FC236}">
                <a16:creationId xmlns:a16="http://schemas.microsoft.com/office/drawing/2014/main" id="{535E50FA-3EBA-78B3-EC6E-DB5C0C25AFD2}"/>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ONLY FOR INTERNAL USE</a:t>
            </a:r>
          </a:p>
        </p:txBody>
      </p:sp>
      <p:pic>
        <p:nvPicPr>
          <p:cNvPr id="3" name="图片 2">
            <a:extLst>
              <a:ext uri="{FF2B5EF4-FFF2-40B4-BE49-F238E27FC236}">
                <a16:creationId xmlns:a16="http://schemas.microsoft.com/office/drawing/2014/main" id="{781318EB-24C5-F1B2-496C-35679FB6BF15}"/>
              </a:ext>
            </a:extLst>
          </p:cNvPr>
          <p:cNvPicPr>
            <a:picLocks noChangeAspect="1"/>
          </p:cNvPicPr>
          <p:nvPr/>
        </p:nvPicPr>
        <p:blipFill>
          <a:blip r:embed="rId2"/>
          <a:stretch>
            <a:fillRect/>
          </a:stretch>
        </p:blipFill>
        <p:spPr>
          <a:xfrm>
            <a:off x="8211043" y="2317315"/>
            <a:ext cx="3774278" cy="1603569"/>
          </a:xfrm>
          <a:prstGeom prst="rect">
            <a:avLst/>
          </a:prstGeom>
        </p:spPr>
      </p:pic>
    </p:spTree>
    <p:extLst>
      <p:ext uri="{BB962C8B-B14F-4D97-AF65-F5344CB8AC3E}">
        <p14:creationId xmlns:p14="http://schemas.microsoft.com/office/powerpoint/2010/main" val="302232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F89219-61F8-AA7E-4959-25FAAD3180D9}"/>
              </a:ext>
            </a:extLst>
          </p:cNvPr>
          <p:cNvSpPr>
            <a:spLocks noGrp="1"/>
          </p:cNvSpPr>
          <p:nvPr>
            <p:ph type="title"/>
          </p:nvPr>
        </p:nvSpPr>
        <p:spPr/>
        <p:txBody>
          <a:bodyPr/>
          <a:lstStyle/>
          <a:p>
            <a:r>
              <a:rPr lang="en-US" altLang="zh-CN" sz="2000"/>
              <a:t>The Gap Between SGLT2i Guideline Recommendations and Real-World Practice in CKD Management Highlights the Urgent Need for Real-World Research</a:t>
            </a:r>
            <a:br>
              <a:rPr lang="en-US" altLang="zh-CN"/>
            </a:br>
            <a:endParaRPr lang="zh-CN" altLang="en-US"/>
          </a:p>
        </p:txBody>
      </p:sp>
      <p:sp>
        <p:nvSpPr>
          <p:cNvPr id="3" name="内容占位符 2">
            <a:extLst>
              <a:ext uri="{FF2B5EF4-FFF2-40B4-BE49-F238E27FC236}">
                <a16:creationId xmlns:a16="http://schemas.microsoft.com/office/drawing/2014/main" id="{7CABF3C2-4A17-9E9D-B1E0-F1B8B087BA4D}"/>
              </a:ext>
            </a:extLst>
          </p:cNvPr>
          <p:cNvSpPr>
            <a:spLocks noGrp="1"/>
          </p:cNvSpPr>
          <p:nvPr>
            <p:ph idx="1"/>
          </p:nvPr>
        </p:nvSpPr>
        <p:spPr>
          <a:xfrm>
            <a:off x="547787" y="1432622"/>
            <a:ext cx="11233151" cy="4392000"/>
          </a:xfrm>
        </p:spPr>
        <p:txBody>
          <a:bodyPr/>
          <a:lstStyle/>
          <a:p>
            <a:r>
              <a:rPr lang="en-US" altLang="zh-CN" sz="1400" b="1"/>
              <a:t>Established Cardiorenal Benefits of SGLT2i</a:t>
            </a:r>
            <a:br>
              <a:rPr lang="en-US" altLang="zh-CN" sz="1400"/>
            </a:br>
            <a:r>
              <a:rPr lang="en-US" altLang="zh-CN" sz="1400"/>
              <a:t>Large clinical trials have demonstrated that SGLT2 inhibitors (SGLT2i) significantly reduce cardiovascular and renal events in CKD patients, leading to their inclusion as first-line therapy in both global (KDIGO 2024) and Chinese (2023/2025) guidelines. </a:t>
            </a:r>
          </a:p>
          <a:p>
            <a:pPr>
              <a:spcBef>
                <a:spcPts val="600"/>
              </a:spcBef>
              <a:spcAft>
                <a:spcPts val="300"/>
              </a:spcAft>
            </a:pPr>
            <a:r>
              <a:rPr lang="en-US" altLang="zh-CN" sz="1400" b="1"/>
              <a:t>Discrepancy Between Guidelines and Clinical Practice</a:t>
            </a:r>
            <a:br>
              <a:rPr lang="en-US" altLang="zh-CN" sz="1400"/>
            </a:br>
            <a:r>
              <a:rPr lang="en-US" altLang="zh-CN" sz="1400"/>
              <a:t>Despite strong recommendations, the real-world prescription rate, treatment patterns, and influencing factors for SGLT2i use among CKD patients in China remain unclear. There is a lack of systematic, nationwide data, which hinders effective guideline implementation and maximization of patient benefit.</a:t>
            </a:r>
          </a:p>
          <a:p>
            <a:pPr>
              <a:spcBef>
                <a:spcPts val="600"/>
              </a:spcBef>
              <a:spcAft>
                <a:spcPts val="300"/>
              </a:spcAft>
            </a:pPr>
            <a:r>
              <a:rPr lang="en-US" altLang="zh-CN" sz="1400" b="1"/>
              <a:t>Rationale for the Study</a:t>
            </a:r>
            <a:br>
              <a:rPr lang="en-US" altLang="zh-CN" sz="1400"/>
            </a:br>
            <a:r>
              <a:rPr lang="en-US" altLang="zh-CN" sz="1400"/>
              <a:t>There is an urgent need for </a:t>
            </a:r>
            <a:r>
              <a:rPr lang="en-US" altLang="zh-CN" sz="1400" b="1"/>
              <a:t>real-world studies </a:t>
            </a:r>
            <a:r>
              <a:rPr lang="en-US" altLang="zh-CN" sz="1400"/>
              <a:t>to systematically assess </a:t>
            </a:r>
            <a:r>
              <a:rPr lang="en-US" altLang="zh-CN" sz="1400" b="1"/>
              <a:t>SGLT2i use, guideline adherence, and barriers </a:t>
            </a:r>
            <a:r>
              <a:rPr lang="en-US" altLang="zh-CN" sz="1400"/>
              <a:t>in CKD management in China. </a:t>
            </a:r>
          </a:p>
          <a:p>
            <a:pPr marL="269875" indent="0">
              <a:buNone/>
            </a:pPr>
            <a:r>
              <a:rPr lang="en-US" altLang="zh-CN" sz="1400"/>
              <a:t>Understanding </a:t>
            </a:r>
            <a:r>
              <a:rPr lang="en-US" altLang="zh-CN" sz="1400" b="1"/>
              <a:t>treatment opportunity gaps</a:t>
            </a:r>
            <a:r>
              <a:rPr lang="en-US" altLang="zh-CN" sz="1400"/>
              <a:t>, highlighting </a:t>
            </a:r>
            <a:r>
              <a:rPr lang="en-US" altLang="zh-CN" sz="1400" b="1"/>
              <a:t>potential barriers </a:t>
            </a:r>
            <a:r>
              <a:rPr lang="en-US" altLang="zh-CN" sz="1400"/>
              <a:t>and disparities are essential in guiding </a:t>
            </a:r>
            <a:r>
              <a:rPr lang="en-US" altLang="zh-CN" sz="1400" b="1"/>
              <a:t>the successful GDMT,  optimize CKD management strategies </a:t>
            </a:r>
            <a:r>
              <a:rPr lang="en-US" altLang="zh-CN" sz="1400"/>
              <a:t>and</a:t>
            </a:r>
            <a:r>
              <a:rPr lang="en-US" altLang="zh-CN" sz="1400" b="1"/>
              <a:t> improve patient outcomes</a:t>
            </a:r>
            <a:r>
              <a:rPr lang="en-US" altLang="zh-CN" sz="1400"/>
              <a:t>. </a:t>
            </a:r>
            <a:endParaRPr lang="zh-CN" altLang="en-US" sz="1400"/>
          </a:p>
        </p:txBody>
      </p:sp>
      <p:sp>
        <p:nvSpPr>
          <p:cNvPr id="5" name="页脚占位符 4">
            <a:extLst>
              <a:ext uri="{FF2B5EF4-FFF2-40B4-BE49-F238E27FC236}">
                <a16:creationId xmlns:a16="http://schemas.microsoft.com/office/drawing/2014/main" id="{ECAA8610-AE40-9A0A-199C-E3A18A838E6F}"/>
              </a:ext>
            </a:extLst>
          </p:cNvPr>
          <p:cNvSpPr>
            <a:spLocks noGrp="1"/>
          </p:cNvSpPr>
          <p:nvPr>
            <p:ph type="ftr" sz="quarter" idx="19"/>
          </p:nvPr>
        </p:nvSpPr>
        <p:spPr/>
        <p:txBody>
          <a:bodyPr/>
          <a:lstStyle/>
          <a:p>
            <a:r>
              <a:rPr lang="en-US"/>
              <a:t>Presentation title    |    ONLY FOR INTERNAL USE</a:t>
            </a:r>
          </a:p>
        </p:txBody>
      </p:sp>
      <p:sp>
        <p:nvSpPr>
          <p:cNvPr id="6" name="灯片编号占位符 5">
            <a:extLst>
              <a:ext uri="{FF2B5EF4-FFF2-40B4-BE49-F238E27FC236}">
                <a16:creationId xmlns:a16="http://schemas.microsoft.com/office/drawing/2014/main" id="{25FB7C2B-82B4-725E-A29E-9840234E65FA}"/>
              </a:ext>
            </a:extLst>
          </p:cNvPr>
          <p:cNvSpPr>
            <a:spLocks noGrp="1"/>
          </p:cNvSpPr>
          <p:nvPr>
            <p:ph type="sldNum" sz="quarter" idx="20"/>
          </p:nvPr>
        </p:nvSpPr>
        <p:spPr/>
        <p:txBody>
          <a:bodyPr/>
          <a:lstStyle/>
          <a:p>
            <a:fld id="{DF4E8F9F-5B1F-4F5B-BE49-3245D8C18D9F}" type="slidenum">
              <a:rPr lang="en-US" smtClean="0"/>
              <a:pPr/>
              <a:t>4</a:t>
            </a:fld>
            <a:endParaRPr lang="en-US"/>
          </a:p>
        </p:txBody>
      </p:sp>
    </p:spTree>
    <p:extLst>
      <p:ext uri="{BB962C8B-B14F-4D97-AF65-F5344CB8AC3E}">
        <p14:creationId xmlns:p14="http://schemas.microsoft.com/office/powerpoint/2010/main" val="1957812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任意形状 14">
            <a:extLst>
              <a:ext uri="{FF2B5EF4-FFF2-40B4-BE49-F238E27FC236}">
                <a16:creationId xmlns:a16="http://schemas.microsoft.com/office/drawing/2014/main" id="{8C9BA5DA-0AA2-88F8-80F6-89FD229542B0}"/>
              </a:ext>
            </a:extLst>
          </p:cNvPr>
          <p:cNvSpPr/>
          <p:nvPr/>
        </p:nvSpPr>
        <p:spPr>
          <a:xfrm>
            <a:off x="3182108" y="1520235"/>
            <a:ext cx="7350301" cy="1049372"/>
          </a:xfrm>
          <a:custGeom>
            <a:avLst/>
            <a:gdLst>
              <a:gd name="connsiteX0" fmla="*/ 0 w 3855719"/>
              <a:gd name="connsiteY0" fmla="*/ 0 h 825499"/>
              <a:gd name="connsiteX1" fmla="*/ 3855720 w 3855719"/>
              <a:gd name="connsiteY1" fmla="*/ 0 h 825499"/>
              <a:gd name="connsiteX2" fmla="*/ 3855720 w 3855719"/>
              <a:gd name="connsiteY2" fmla="*/ 825500 h 825499"/>
              <a:gd name="connsiteX3" fmla="*/ 0 w 3855719"/>
              <a:gd name="connsiteY3" fmla="*/ 825500 h 825499"/>
            </a:gdLst>
            <a:ahLst/>
            <a:cxnLst>
              <a:cxn ang="0">
                <a:pos x="connsiteX0" y="connsiteY0"/>
              </a:cxn>
              <a:cxn ang="0">
                <a:pos x="connsiteX1" y="connsiteY1"/>
              </a:cxn>
              <a:cxn ang="0">
                <a:pos x="connsiteX2" y="connsiteY2"/>
              </a:cxn>
              <a:cxn ang="0">
                <a:pos x="connsiteX3" y="connsiteY3"/>
              </a:cxn>
            </a:cxnLst>
            <a:rect l="l" t="t" r="r" b="b"/>
            <a:pathLst>
              <a:path w="3855719" h="825499">
                <a:moveTo>
                  <a:pt x="0" y="0"/>
                </a:moveTo>
                <a:lnTo>
                  <a:pt x="3855720" y="0"/>
                </a:lnTo>
                <a:lnTo>
                  <a:pt x="3855720" y="825500"/>
                </a:lnTo>
                <a:lnTo>
                  <a:pt x="0" y="825500"/>
                </a:lnTo>
                <a:close/>
              </a:path>
            </a:pathLst>
          </a:custGeom>
          <a:solidFill>
            <a:schemeClr val="bg1">
              <a:lumMod val="95000"/>
            </a:schemeClr>
          </a:solidFill>
          <a:ln w="1905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9" name="任意形状 18">
            <a:extLst>
              <a:ext uri="{FF2B5EF4-FFF2-40B4-BE49-F238E27FC236}">
                <a16:creationId xmlns:a16="http://schemas.microsoft.com/office/drawing/2014/main" id="{66072F27-490A-13D4-AB52-24D567E9986F}"/>
              </a:ext>
            </a:extLst>
          </p:cNvPr>
          <p:cNvSpPr/>
          <p:nvPr/>
        </p:nvSpPr>
        <p:spPr>
          <a:xfrm>
            <a:off x="4128420" y="3511669"/>
            <a:ext cx="7342891" cy="785683"/>
          </a:xfrm>
          <a:custGeom>
            <a:avLst/>
            <a:gdLst>
              <a:gd name="connsiteX0" fmla="*/ 0 w 3855719"/>
              <a:gd name="connsiteY0" fmla="*/ 0 h 825500"/>
              <a:gd name="connsiteX1" fmla="*/ 3855720 w 3855719"/>
              <a:gd name="connsiteY1" fmla="*/ 0 h 825500"/>
              <a:gd name="connsiteX2" fmla="*/ 3855720 w 3855719"/>
              <a:gd name="connsiteY2" fmla="*/ 825500 h 825500"/>
              <a:gd name="connsiteX3" fmla="*/ 0 w 3855719"/>
              <a:gd name="connsiteY3" fmla="*/ 825500 h 825500"/>
            </a:gdLst>
            <a:ahLst/>
            <a:cxnLst>
              <a:cxn ang="0">
                <a:pos x="connsiteX0" y="connsiteY0"/>
              </a:cxn>
              <a:cxn ang="0">
                <a:pos x="connsiteX1" y="connsiteY1"/>
              </a:cxn>
              <a:cxn ang="0">
                <a:pos x="connsiteX2" y="connsiteY2"/>
              </a:cxn>
              <a:cxn ang="0">
                <a:pos x="connsiteX3" y="connsiteY3"/>
              </a:cxn>
            </a:cxnLst>
            <a:rect l="l" t="t" r="r" b="b"/>
            <a:pathLst>
              <a:path w="3855719" h="825500">
                <a:moveTo>
                  <a:pt x="0" y="0"/>
                </a:moveTo>
                <a:lnTo>
                  <a:pt x="3855720" y="0"/>
                </a:lnTo>
                <a:lnTo>
                  <a:pt x="3855720" y="825500"/>
                </a:lnTo>
                <a:lnTo>
                  <a:pt x="0" y="825500"/>
                </a:lnTo>
                <a:close/>
              </a:path>
            </a:pathLst>
          </a:custGeom>
          <a:solidFill>
            <a:schemeClr val="bg1">
              <a:lumMod val="95000"/>
            </a:schemeClr>
          </a:solidFill>
          <a:ln w="1905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3" name="任意形状 22">
            <a:extLst>
              <a:ext uri="{FF2B5EF4-FFF2-40B4-BE49-F238E27FC236}">
                <a16:creationId xmlns:a16="http://schemas.microsoft.com/office/drawing/2014/main" id="{BBD88A56-A7F8-1F77-3E19-C4FD69FA949B}"/>
              </a:ext>
            </a:extLst>
          </p:cNvPr>
          <p:cNvSpPr/>
          <p:nvPr/>
        </p:nvSpPr>
        <p:spPr>
          <a:xfrm>
            <a:off x="3305282" y="5360002"/>
            <a:ext cx="7265227" cy="825500"/>
          </a:xfrm>
          <a:custGeom>
            <a:avLst/>
            <a:gdLst>
              <a:gd name="connsiteX0" fmla="*/ 0 w 3855719"/>
              <a:gd name="connsiteY0" fmla="*/ 0 h 825500"/>
              <a:gd name="connsiteX1" fmla="*/ 3855720 w 3855719"/>
              <a:gd name="connsiteY1" fmla="*/ 0 h 825500"/>
              <a:gd name="connsiteX2" fmla="*/ 3855720 w 3855719"/>
              <a:gd name="connsiteY2" fmla="*/ 825500 h 825500"/>
              <a:gd name="connsiteX3" fmla="*/ 0 w 3855719"/>
              <a:gd name="connsiteY3" fmla="*/ 825500 h 825500"/>
            </a:gdLst>
            <a:ahLst/>
            <a:cxnLst>
              <a:cxn ang="0">
                <a:pos x="connsiteX0" y="connsiteY0"/>
              </a:cxn>
              <a:cxn ang="0">
                <a:pos x="connsiteX1" y="connsiteY1"/>
              </a:cxn>
              <a:cxn ang="0">
                <a:pos x="connsiteX2" y="connsiteY2"/>
              </a:cxn>
              <a:cxn ang="0">
                <a:pos x="connsiteX3" y="connsiteY3"/>
              </a:cxn>
            </a:cxnLst>
            <a:rect l="l" t="t" r="r" b="b"/>
            <a:pathLst>
              <a:path w="3855719" h="825500">
                <a:moveTo>
                  <a:pt x="0" y="0"/>
                </a:moveTo>
                <a:lnTo>
                  <a:pt x="3855720" y="0"/>
                </a:lnTo>
                <a:lnTo>
                  <a:pt x="3855720" y="825500"/>
                </a:lnTo>
                <a:lnTo>
                  <a:pt x="0" y="825500"/>
                </a:lnTo>
                <a:close/>
              </a:path>
            </a:pathLst>
          </a:custGeom>
          <a:solidFill>
            <a:schemeClr val="bg1">
              <a:lumMod val="95000"/>
            </a:schemeClr>
          </a:solidFill>
          <a:ln w="1905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cxnSp>
        <p:nvCxnSpPr>
          <p:cNvPr id="46" name="直线箭头连接符 45">
            <a:extLst>
              <a:ext uri="{FF2B5EF4-FFF2-40B4-BE49-F238E27FC236}">
                <a16:creationId xmlns:a16="http://schemas.microsoft.com/office/drawing/2014/main" id="{64AD6FC8-9F35-5415-30FC-7822A23929C1}"/>
              </a:ext>
            </a:extLst>
          </p:cNvPr>
          <p:cNvCxnSpPr>
            <a:cxnSpLocks/>
          </p:cNvCxnSpPr>
          <p:nvPr/>
        </p:nvCxnSpPr>
        <p:spPr>
          <a:xfrm>
            <a:off x="2398731" y="1731593"/>
            <a:ext cx="739139" cy="0"/>
          </a:xfrm>
          <a:prstGeom prst="straightConnector1">
            <a:avLst/>
          </a:prstGeom>
          <a:ln w="15875">
            <a:solidFill>
              <a:schemeClr val="bg2">
                <a:lumMod val="90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0" name="直线箭头连接符 49">
            <a:extLst>
              <a:ext uri="{FF2B5EF4-FFF2-40B4-BE49-F238E27FC236}">
                <a16:creationId xmlns:a16="http://schemas.microsoft.com/office/drawing/2014/main" id="{B32BB56F-96E1-85B8-4A1F-514F83879917}"/>
              </a:ext>
            </a:extLst>
          </p:cNvPr>
          <p:cNvCxnSpPr>
            <a:cxnSpLocks/>
          </p:cNvCxnSpPr>
          <p:nvPr/>
        </p:nvCxnSpPr>
        <p:spPr>
          <a:xfrm>
            <a:off x="3293390" y="3677927"/>
            <a:ext cx="812656" cy="1041"/>
          </a:xfrm>
          <a:prstGeom prst="straightConnector1">
            <a:avLst/>
          </a:prstGeom>
          <a:ln w="15875">
            <a:solidFill>
              <a:schemeClr val="bg2">
                <a:lumMod val="90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53" name="直线箭头连接符 52">
            <a:extLst>
              <a:ext uri="{FF2B5EF4-FFF2-40B4-BE49-F238E27FC236}">
                <a16:creationId xmlns:a16="http://schemas.microsoft.com/office/drawing/2014/main" id="{07F958A5-DD17-F41D-EEEC-3D5E329C8FB5}"/>
              </a:ext>
            </a:extLst>
          </p:cNvPr>
          <p:cNvCxnSpPr>
            <a:cxnSpLocks/>
          </p:cNvCxnSpPr>
          <p:nvPr/>
        </p:nvCxnSpPr>
        <p:spPr>
          <a:xfrm>
            <a:off x="2405500" y="5614406"/>
            <a:ext cx="857250" cy="0"/>
          </a:xfrm>
          <a:prstGeom prst="straightConnector1">
            <a:avLst/>
          </a:prstGeom>
          <a:ln w="15875">
            <a:solidFill>
              <a:schemeClr val="bg2">
                <a:lumMod val="90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0" name="任意形状 9">
            <a:extLst>
              <a:ext uri="{FF2B5EF4-FFF2-40B4-BE49-F238E27FC236}">
                <a16:creationId xmlns:a16="http://schemas.microsoft.com/office/drawing/2014/main" id="{E446D087-F297-F914-2636-7CD3F3BA5C51}"/>
              </a:ext>
            </a:extLst>
          </p:cNvPr>
          <p:cNvSpPr/>
          <p:nvPr/>
        </p:nvSpPr>
        <p:spPr>
          <a:xfrm>
            <a:off x="357304" y="2001486"/>
            <a:ext cx="1923263" cy="3399846"/>
          </a:xfrm>
          <a:custGeom>
            <a:avLst/>
            <a:gdLst>
              <a:gd name="connsiteX0" fmla="*/ 0 w 1577340"/>
              <a:gd name="connsiteY0" fmla="*/ 3155950 h 3155950"/>
              <a:gd name="connsiteX1" fmla="*/ 1577340 w 1577340"/>
              <a:gd name="connsiteY1" fmla="*/ 1578610 h 3155950"/>
              <a:gd name="connsiteX2" fmla="*/ 0 w 1577340"/>
              <a:gd name="connsiteY2" fmla="*/ 0 h 3155950"/>
              <a:gd name="connsiteX3" fmla="*/ 0 w 1577340"/>
              <a:gd name="connsiteY3" fmla="*/ 3155950 h 3155950"/>
            </a:gdLst>
            <a:ahLst/>
            <a:cxnLst>
              <a:cxn ang="0">
                <a:pos x="connsiteX0" y="connsiteY0"/>
              </a:cxn>
              <a:cxn ang="0">
                <a:pos x="connsiteX1" y="connsiteY1"/>
              </a:cxn>
              <a:cxn ang="0">
                <a:pos x="connsiteX2" y="connsiteY2"/>
              </a:cxn>
              <a:cxn ang="0">
                <a:pos x="connsiteX3" y="connsiteY3"/>
              </a:cxn>
            </a:cxnLst>
            <a:rect l="l" t="t" r="r" b="b"/>
            <a:pathLst>
              <a:path w="1577340" h="3155950">
                <a:moveTo>
                  <a:pt x="0" y="3155950"/>
                </a:moveTo>
                <a:cubicBezTo>
                  <a:pt x="871220" y="3155950"/>
                  <a:pt x="1577340" y="2449830"/>
                  <a:pt x="1577340" y="1578610"/>
                </a:cubicBezTo>
                <a:cubicBezTo>
                  <a:pt x="1577340" y="707390"/>
                  <a:pt x="871220" y="0"/>
                  <a:pt x="0" y="0"/>
                </a:cubicBezTo>
                <a:lnTo>
                  <a:pt x="0" y="3155950"/>
                </a:lnTo>
                <a:close/>
              </a:path>
            </a:pathLst>
          </a:custGeom>
          <a:solidFill>
            <a:schemeClr val="accent2">
              <a:lumMod val="50000"/>
            </a:schemeClr>
          </a:solidFill>
          <a:ln w="16076"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1" name="任意形状 10">
            <a:extLst>
              <a:ext uri="{FF2B5EF4-FFF2-40B4-BE49-F238E27FC236}">
                <a16:creationId xmlns:a16="http://schemas.microsoft.com/office/drawing/2014/main" id="{7AA971B3-EFEA-737D-3975-C7402EA2AA4A}"/>
              </a:ext>
            </a:extLst>
          </p:cNvPr>
          <p:cNvSpPr/>
          <p:nvPr/>
        </p:nvSpPr>
        <p:spPr>
          <a:xfrm>
            <a:off x="349776" y="1231445"/>
            <a:ext cx="2836498" cy="4939928"/>
          </a:xfrm>
          <a:custGeom>
            <a:avLst/>
            <a:gdLst>
              <a:gd name="connsiteX0" fmla="*/ 2407920 w 2407919"/>
              <a:gd name="connsiteY0" fmla="*/ 2407920 h 4815839"/>
              <a:gd name="connsiteX1" fmla="*/ 0 w 2407919"/>
              <a:gd name="connsiteY1" fmla="*/ 4815840 h 4815839"/>
              <a:gd name="connsiteX2" fmla="*/ 0 w 2407919"/>
              <a:gd name="connsiteY2" fmla="*/ 4175760 h 4815839"/>
              <a:gd name="connsiteX3" fmla="*/ 1767840 w 2407919"/>
              <a:gd name="connsiteY3" fmla="*/ 2407920 h 4815839"/>
              <a:gd name="connsiteX4" fmla="*/ 0 w 2407919"/>
              <a:gd name="connsiteY4" fmla="*/ 640080 h 4815839"/>
              <a:gd name="connsiteX5" fmla="*/ 0 w 2407919"/>
              <a:gd name="connsiteY5" fmla="*/ 0 h 4815839"/>
              <a:gd name="connsiteX6" fmla="*/ 2407920 w 2407919"/>
              <a:gd name="connsiteY6" fmla="*/ 2407920 h 4815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07919" h="4815839">
                <a:moveTo>
                  <a:pt x="2407920" y="2407920"/>
                </a:moveTo>
                <a:cubicBezTo>
                  <a:pt x="2407920" y="3737610"/>
                  <a:pt x="1329690" y="4815840"/>
                  <a:pt x="0" y="4815840"/>
                </a:cubicBezTo>
                <a:lnTo>
                  <a:pt x="0" y="4175760"/>
                </a:lnTo>
                <a:cubicBezTo>
                  <a:pt x="976630" y="4175760"/>
                  <a:pt x="1767840" y="3384550"/>
                  <a:pt x="1767840" y="2407920"/>
                </a:cubicBezTo>
                <a:cubicBezTo>
                  <a:pt x="1767840" y="1431290"/>
                  <a:pt x="976630" y="640080"/>
                  <a:pt x="0" y="640080"/>
                </a:cubicBezTo>
                <a:lnTo>
                  <a:pt x="0" y="0"/>
                </a:lnTo>
                <a:cubicBezTo>
                  <a:pt x="1329690" y="0"/>
                  <a:pt x="2407920" y="1078230"/>
                  <a:pt x="2407920" y="2407920"/>
                </a:cubicBezTo>
                <a:close/>
              </a:path>
            </a:pathLst>
          </a:custGeom>
          <a:solidFill>
            <a:schemeClr val="accent2">
              <a:lumMod val="20000"/>
              <a:lumOff val="80000"/>
            </a:schemeClr>
          </a:solidFill>
          <a:ln w="16076"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30" name="任意形状 29">
            <a:extLst>
              <a:ext uri="{FF2B5EF4-FFF2-40B4-BE49-F238E27FC236}">
                <a16:creationId xmlns:a16="http://schemas.microsoft.com/office/drawing/2014/main" id="{A336819F-41B0-001A-A8A5-6E279A91C39A}"/>
              </a:ext>
            </a:extLst>
          </p:cNvPr>
          <p:cNvSpPr/>
          <p:nvPr/>
        </p:nvSpPr>
        <p:spPr>
          <a:xfrm>
            <a:off x="1659591" y="1371548"/>
            <a:ext cx="739139" cy="739139"/>
          </a:xfrm>
          <a:custGeom>
            <a:avLst/>
            <a:gdLst>
              <a:gd name="connsiteX0" fmla="*/ 739140 w 739139"/>
              <a:gd name="connsiteY0" fmla="*/ 369570 h 739139"/>
              <a:gd name="connsiteX1" fmla="*/ 369570 w 739139"/>
              <a:gd name="connsiteY1" fmla="*/ 739140 h 739139"/>
              <a:gd name="connsiteX2" fmla="*/ 0 w 739139"/>
              <a:gd name="connsiteY2" fmla="*/ 369570 h 739139"/>
              <a:gd name="connsiteX3" fmla="*/ 369570 w 739139"/>
              <a:gd name="connsiteY3" fmla="*/ 0 h 739139"/>
              <a:gd name="connsiteX4" fmla="*/ 739140 w 739139"/>
              <a:gd name="connsiteY4" fmla="*/ 369570 h 7391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39" h="739139">
                <a:moveTo>
                  <a:pt x="739140" y="369570"/>
                </a:moveTo>
                <a:cubicBezTo>
                  <a:pt x="739140" y="573678"/>
                  <a:pt x="573678" y="739140"/>
                  <a:pt x="369570" y="739140"/>
                </a:cubicBezTo>
                <a:cubicBezTo>
                  <a:pt x="165462" y="739140"/>
                  <a:pt x="0" y="573678"/>
                  <a:pt x="0" y="369570"/>
                </a:cubicBezTo>
                <a:cubicBezTo>
                  <a:pt x="0" y="165462"/>
                  <a:pt x="165462" y="0"/>
                  <a:pt x="369570" y="0"/>
                </a:cubicBezTo>
                <a:cubicBezTo>
                  <a:pt x="573678" y="0"/>
                  <a:pt x="739140" y="165462"/>
                  <a:pt x="739140" y="369570"/>
                </a:cubicBezTo>
                <a:close/>
              </a:path>
            </a:pathLst>
          </a:custGeom>
          <a:solidFill>
            <a:schemeClr val="accent2">
              <a:lumMod val="50000"/>
            </a:schemeClr>
          </a:solidFill>
          <a:ln w="16076" cap="flat">
            <a:noFill/>
            <a:prstDash val="solid"/>
            <a:miter/>
          </a:ln>
        </p:spPr>
        <p:txBody>
          <a:bodyPr rtlCol="0" anchor="ctr"/>
          <a:lstStyle/>
          <a:p>
            <a:pPr algn="ctr"/>
            <a:r>
              <a:rPr lang="en-US" altLang="zh-CN" b="1">
                <a:solidFill>
                  <a:schemeClr val="bg1"/>
                </a:solidFill>
                <a:latin typeface="Alibaba PuHuiTi" pitchFamily="18" charset="-122"/>
                <a:ea typeface="Alibaba PuHuiTi" pitchFamily="18" charset="-122"/>
                <a:cs typeface="Alibaba PuHuiTi" pitchFamily="18" charset="-122"/>
              </a:rPr>
              <a:t>1</a:t>
            </a:r>
            <a:endParaRPr lang="zh-CN" altLang="en-US" b="1">
              <a:solidFill>
                <a:schemeClr val="bg1"/>
              </a:solidFill>
              <a:latin typeface="Alibaba PuHuiTi" pitchFamily="18" charset="-122"/>
              <a:ea typeface="Alibaba PuHuiTi" pitchFamily="18" charset="-122"/>
              <a:cs typeface="Alibaba PuHuiTi" pitchFamily="18" charset="-122"/>
            </a:endParaRPr>
          </a:p>
        </p:txBody>
      </p:sp>
      <p:sp>
        <p:nvSpPr>
          <p:cNvPr id="33" name="任意形状 32">
            <a:extLst>
              <a:ext uri="{FF2B5EF4-FFF2-40B4-BE49-F238E27FC236}">
                <a16:creationId xmlns:a16="http://schemas.microsoft.com/office/drawing/2014/main" id="{1133EC3D-D1BC-762C-8191-46254EB62A70}"/>
              </a:ext>
            </a:extLst>
          </p:cNvPr>
          <p:cNvSpPr/>
          <p:nvPr/>
        </p:nvSpPr>
        <p:spPr>
          <a:xfrm>
            <a:off x="2745439" y="3318426"/>
            <a:ext cx="739139" cy="739140"/>
          </a:xfrm>
          <a:custGeom>
            <a:avLst/>
            <a:gdLst>
              <a:gd name="connsiteX0" fmla="*/ 739140 w 739139"/>
              <a:gd name="connsiteY0" fmla="*/ 369570 h 739140"/>
              <a:gd name="connsiteX1" fmla="*/ 369570 w 739139"/>
              <a:gd name="connsiteY1" fmla="*/ 739140 h 739140"/>
              <a:gd name="connsiteX2" fmla="*/ 0 w 739139"/>
              <a:gd name="connsiteY2" fmla="*/ 369570 h 739140"/>
              <a:gd name="connsiteX3" fmla="*/ 369570 w 739139"/>
              <a:gd name="connsiteY3" fmla="*/ 0 h 739140"/>
              <a:gd name="connsiteX4" fmla="*/ 739140 w 739139"/>
              <a:gd name="connsiteY4" fmla="*/ 369570 h 739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39" h="739140">
                <a:moveTo>
                  <a:pt x="739140" y="369570"/>
                </a:moveTo>
                <a:cubicBezTo>
                  <a:pt x="739140" y="573678"/>
                  <a:pt x="573678" y="739140"/>
                  <a:pt x="369570" y="739140"/>
                </a:cubicBezTo>
                <a:cubicBezTo>
                  <a:pt x="165462" y="739140"/>
                  <a:pt x="0" y="573678"/>
                  <a:pt x="0" y="369570"/>
                </a:cubicBezTo>
                <a:cubicBezTo>
                  <a:pt x="0" y="165462"/>
                  <a:pt x="165462" y="0"/>
                  <a:pt x="369570" y="0"/>
                </a:cubicBezTo>
                <a:cubicBezTo>
                  <a:pt x="573678" y="0"/>
                  <a:pt x="739140" y="165462"/>
                  <a:pt x="739140" y="369570"/>
                </a:cubicBezTo>
                <a:close/>
              </a:path>
            </a:pathLst>
          </a:custGeom>
          <a:solidFill>
            <a:schemeClr val="accent2">
              <a:lumMod val="75000"/>
            </a:schemeClr>
          </a:solidFill>
          <a:ln w="16076" cap="flat">
            <a:noFill/>
            <a:prstDash val="solid"/>
            <a:miter/>
          </a:ln>
        </p:spPr>
        <p:txBody>
          <a:bodyPr rtlCol="0" anchor="ctr"/>
          <a:lstStyle/>
          <a:p>
            <a:pPr algn="ctr"/>
            <a:r>
              <a:rPr lang="en-US" altLang="zh-CN" b="1">
                <a:solidFill>
                  <a:schemeClr val="bg1"/>
                </a:solidFill>
                <a:latin typeface="Alibaba PuHuiTi" pitchFamily="18" charset="-122"/>
                <a:ea typeface="Alibaba PuHuiTi" pitchFamily="18" charset="-122"/>
                <a:cs typeface="Alibaba PuHuiTi" pitchFamily="18" charset="-122"/>
              </a:rPr>
              <a:t>2</a:t>
            </a:r>
            <a:endParaRPr lang="zh-CN" altLang="en-US" b="1">
              <a:solidFill>
                <a:schemeClr val="bg1"/>
              </a:solidFill>
              <a:latin typeface="Alibaba PuHuiTi" pitchFamily="18" charset="-122"/>
              <a:ea typeface="Alibaba PuHuiTi" pitchFamily="18" charset="-122"/>
              <a:cs typeface="Alibaba PuHuiTi" pitchFamily="18" charset="-122"/>
            </a:endParaRPr>
          </a:p>
        </p:txBody>
      </p:sp>
      <p:sp>
        <p:nvSpPr>
          <p:cNvPr id="36" name="任意形状 35">
            <a:extLst>
              <a:ext uri="{FF2B5EF4-FFF2-40B4-BE49-F238E27FC236}">
                <a16:creationId xmlns:a16="http://schemas.microsoft.com/office/drawing/2014/main" id="{080C58BE-88CB-9F98-E114-33939DC9B6D6}"/>
              </a:ext>
            </a:extLst>
          </p:cNvPr>
          <p:cNvSpPr/>
          <p:nvPr/>
        </p:nvSpPr>
        <p:spPr>
          <a:xfrm>
            <a:off x="1661941" y="5196470"/>
            <a:ext cx="739139" cy="739140"/>
          </a:xfrm>
          <a:custGeom>
            <a:avLst/>
            <a:gdLst>
              <a:gd name="connsiteX0" fmla="*/ 739140 w 739139"/>
              <a:gd name="connsiteY0" fmla="*/ 369570 h 739140"/>
              <a:gd name="connsiteX1" fmla="*/ 369570 w 739139"/>
              <a:gd name="connsiteY1" fmla="*/ 739140 h 739140"/>
              <a:gd name="connsiteX2" fmla="*/ 0 w 739139"/>
              <a:gd name="connsiteY2" fmla="*/ 369570 h 739140"/>
              <a:gd name="connsiteX3" fmla="*/ 369570 w 739139"/>
              <a:gd name="connsiteY3" fmla="*/ 0 h 739140"/>
              <a:gd name="connsiteX4" fmla="*/ 739140 w 739139"/>
              <a:gd name="connsiteY4" fmla="*/ 369570 h 739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39" h="739140">
                <a:moveTo>
                  <a:pt x="739140" y="369570"/>
                </a:moveTo>
                <a:cubicBezTo>
                  <a:pt x="739140" y="573678"/>
                  <a:pt x="573678" y="739140"/>
                  <a:pt x="369570" y="739140"/>
                </a:cubicBezTo>
                <a:cubicBezTo>
                  <a:pt x="165462" y="739140"/>
                  <a:pt x="0" y="573678"/>
                  <a:pt x="0" y="369570"/>
                </a:cubicBezTo>
                <a:cubicBezTo>
                  <a:pt x="0" y="165462"/>
                  <a:pt x="165462" y="0"/>
                  <a:pt x="369570" y="0"/>
                </a:cubicBezTo>
                <a:cubicBezTo>
                  <a:pt x="573678" y="0"/>
                  <a:pt x="739140" y="165462"/>
                  <a:pt x="739140" y="369570"/>
                </a:cubicBezTo>
                <a:close/>
              </a:path>
            </a:pathLst>
          </a:custGeom>
          <a:solidFill>
            <a:schemeClr val="accent2">
              <a:lumMod val="50000"/>
            </a:schemeClr>
          </a:solidFill>
          <a:ln w="16076" cap="flat">
            <a:noFill/>
            <a:prstDash val="solid"/>
            <a:miter/>
          </a:ln>
        </p:spPr>
        <p:txBody>
          <a:bodyPr rtlCol="0" anchor="ctr"/>
          <a:lstStyle/>
          <a:p>
            <a:pPr algn="ctr"/>
            <a:r>
              <a:rPr lang="en-US" altLang="zh-CN" b="1">
                <a:solidFill>
                  <a:schemeClr val="bg1"/>
                </a:solidFill>
                <a:latin typeface="Alibaba PuHuiTi" pitchFamily="18" charset="-122"/>
                <a:ea typeface="Alibaba PuHuiTi" pitchFamily="18" charset="-122"/>
                <a:cs typeface="Alibaba PuHuiTi" pitchFamily="18" charset="-122"/>
              </a:rPr>
              <a:t>3</a:t>
            </a:r>
            <a:endParaRPr lang="zh-CN" altLang="en-US" b="1">
              <a:solidFill>
                <a:schemeClr val="bg1"/>
              </a:solidFill>
              <a:latin typeface="Alibaba PuHuiTi" pitchFamily="18" charset="-122"/>
              <a:ea typeface="Alibaba PuHuiTi" pitchFamily="18" charset="-122"/>
              <a:cs typeface="Alibaba PuHuiTi" pitchFamily="18" charset="-122"/>
            </a:endParaRPr>
          </a:p>
        </p:txBody>
      </p:sp>
      <p:sp>
        <p:nvSpPr>
          <p:cNvPr id="5" name="文本框 4">
            <a:extLst>
              <a:ext uri="{FF2B5EF4-FFF2-40B4-BE49-F238E27FC236}">
                <a16:creationId xmlns:a16="http://schemas.microsoft.com/office/drawing/2014/main" id="{4C849D25-3D47-CA94-AB12-690203317159}"/>
              </a:ext>
            </a:extLst>
          </p:cNvPr>
          <p:cNvSpPr txBox="1"/>
          <p:nvPr/>
        </p:nvSpPr>
        <p:spPr>
          <a:xfrm>
            <a:off x="273300" y="3003144"/>
            <a:ext cx="1875879" cy="1200329"/>
          </a:xfrm>
          <a:prstGeom prst="rect">
            <a:avLst/>
          </a:prstGeom>
          <a:noFill/>
        </p:spPr>
        <p:txBody>
          <a:bodyPr wrap="square" rtlCol="0">
            <a:spAutoFit/>
          </a:bodyPr>
          <a:lstStyle/>
          <a:p>
            <a:pPr lvl="0" algn="ctr"/>
            <a:r>
              <a:rPr lang="en-US" altLang="zh-CN" b="1">
                <a:solidFill>
                  <a:schemeClr val="bg1"/>
                </a:solidFill>
              </a:rPr>
              <a:t>Follow global LEXIC study research objective </a:t>
            </a:r>
            <a:endParaRPr lang="zh-CN" altLang="zh-CN" b="1">
              <a:solidFill>
                <a:schemeClr val="bg1"/>
              </a:solidFill>
            </a:endParaRPr>
          </a:p>
        </p:txBody>
      </p:sp>
      <p:sp>
        <p:nvSpPr>
          <p:cNvPr id="7" name="TextBox 41">
            <a:extLst>
              <a:ext uri="{FF2B5EF4-FFF2-40B4-BE49-F238E27FC236}">
                <a16:creationId xmlns:a16="http://schemas.microsoft.com/office/drawing/2014/main" id="{9CF4D2C3-A766-2A18-1342-4A91454CBDD0}"/>
              </a:ext>
            </a:extLst>
          </p:cNvPr>
          <p:cNvSpPr txBox="1"/>
          <p:nvPr/>
        </p:nvSpPr>
        <p:spPr>
          <a:xfrm>
            <a:off x="3226728" y="1610347"/>
            <a:ext cx="7265227" cy="836191"/>
          </a:xfrm>
          <a:prstGeom prst="rect">
            <a:avLst/>
          </a:prstGeom>
          <a:noFill/>
        </p:spPr>
        <p:txBody>
          <a:bodyPr wrap="square" rtlCol="0" anchor="t">
            <a:spAutoFit/>
          </a:bodyPr>
          <a:lstStyle/>
          <a:p>
            <a:pPr>
              <a:lnSpc>
                <a:spcPct val="110000"/>
              </a:lnSpc>
              <a:spcBef>
                <a:spcPts val="200"/>
              </a:spcBef>
              <a:spcAft>
                <a:spcPts val="200"/>
              </a:spcAft>
              <a:defRPr/>
            </a:pPr>
            <a:r>
              <a:rPr lang="en-US" altLang="zh-CN" sz="1400">
                <a:solidFill>
                  <a:prstClr val="black"/>
                </a:solidFill>
                <a:latin typeface="Boehringer Headline"/>
              </a:rPr>
              <a:t>To quantify rates of individual &amp; combination </a:t>
            </a:r>
            <a:r>
              <a:rPr lang="en-US" altLang="zh-CN" sz="1400" b="1">
                <a:solidFill>
                  <a:prstClr val="black"/>
                </a:solidFill>
                <a:latin typeface="Boehringer Headline"/>
              </a:rPr>
              <a:t>treatment</a:t>
            </a:r>
            <a:r>
              <a:rPr lang="en-US" altLang="zh-CN" sz="1400">
                <a:solidFill>
                  <a:prstClr val="black"/>
                </a:solidFill>
                <a:latin typeface="Boehringer Headline"/>
              </a:rPr>
              <a:t> in prevalent CKD</a:t>
            </a:r>
          </a:p>
          <a:p>
            <a:pPr marL="742950" lvl="1" indent="-285750">
              <a:lnSpc>
                <a:spcPct val="110000"/>
              </a:lnSpc>
              <a:spcBef>
                <a:spcPts val="200"/>
              </a:spcBef>
              <a:spcAft>
                <a:spcPts val="200"/>
              </a:spcAft>
              <a:buFont typeface="Wingdings" panose="05000000000000000000" pitchFamily="2" charset="2"/>
              <a:buChar char="Ø"/>
              <a:defRPr/>
            </a:pPr>
            <a:r>
              <a:rPr lang="en-US" altLang="zh-CN" sz="1400">
                <a:solidFill>
                  <a:prstClr val="black"/>
                </a:solidFill>
                <a:latin typeface="Boehringer Headline"/>
              </a:rPr>
              <a:t>To estimate the proportion of guideline-directed medical therapy (GDMT) of </a:t>
            </a:r>
            <a:r>
              <a:rPr lang="en-US" altLang="zh-CN" sz="1400" b="1">
                <a:solidFill>
                  <a:prstClr val="black"/>
                </a:solidFill>
                <a:latin typeface="Boehringer Headline"/>
              </a:rPr>
              <a:t>SGLT2i </a:t>
            </a:r>
            <a:r>
              <a:rPr lang="en-US" altLang="zh-CN" sz="1400">
                <a:solidFill>
                  <a:prstClr val="black"/>
                </a:solidFill>
                <a:latin typeface="Boehringer Headline"/>
              </a:rPr>
              <a:t>in patient with guideline-eligible CKD patients in 2024 and 2025 in China</a:t>
            </a:r>
          </a:p>
        </p:txBody>
      </p:sp>
      <p:sp>
        <p:nvSpPr>
          <p:cNvPr id="14" name="任意形状 13">
            <a:extLst>
              <a:ext uri="{FF2B5EF4-FFF2-40B4-BE49-F238E27FC236}">
                <a16:creationId xmlns:a16="http://schemas.microsoft.com/office/drawing/2014/main" id="{0F2470DB-A7C3-904F-5D47-097B9643BE5C}"/>
              </a:ext>
            </a:extLst>
          </p:cNvPr>
          <p:cNvSpPr/>
          <p:nvPr/>
        </p:nvSpPr>
        <p:spPr>
          <a:xfrm>
            <a:off x="3182108" y="1122587"/>
            <a:ext cx="7350301" cy="455564"/>
          </a:xfrm>
          <a:custGeom>
            <a:avLst/>
            <a:gdLst>
              <a:gd name="connsiteX0" fmla="*/ 0 w 7711440"/>
              <a:gd name="connsiteY0" fmla="*/ 0 h 356869"/>
              <a:gd name="connsiteX1" fmla="*/ 7711441 w 7711440"/>
              <a:gd name="connsiteY1" fmla="*/ 0 h 356869"/>
              <a:gd name="connsiteX2" fmla="*/ 7711441 w 7711440"/>
              <a:gd name="connsiteY2" fmla="*/ 356870 h 356869"/>
              <a:gd name="connsiteX3" fmla="*/ 0 w 7711440"/>
              <a:gd name="connsiteY3" fmla="*/ 356870 h 356869"/>
            </a:gdLst>
            <a:ahLst/>
            <a:cxnLst>
              <a:cxn ang="0">
                <a:pos x="connsiteX0" y="connsiteY0"/>
              </a:cxn>
              <a:cxn ang="0">
                <a:pos x="connsiteX1" y="connsiteY1"/>
              </a:cxn>
              <a:cxn ang="0">
                <a:pos x="connsiteX2" y="connsiteY2"/>
              </a:cxn>
              <a:cxn ang="0">
                <a:pos x="connsiteX3" y="connsiteY3"/>
              </a:cxn>
            </a:cxnLst>
            <a:rect l="l" t="t" r="r" b="b"/>
            <a:pathLst>
              <a:path w="7711440" h="356869">
                <a:moveTo>
                  <a:pt x="0" y="0"/>
                </a:moveTo>
                <a:lnTo>
                  <a:pt x="7711441" y="0"/>
                </a:lnTo>
                <a:lnTo>
                  <a:pt x="7711441" y="356870"/>
                </a:lnTo>
                <a:lnTo>
                  <a:pt x="0" y="356870"/>
                </a:lnTo>
                <a:close/>
              </a:path>
            </a:pathLst>
          </a:custGeom>
          <a:solidFill>
            <a:schemeClr val="accent2">
              <a:lumMod val="50000"/>
            </a:schemeClr>
          </a:solidFill>
          <a:ln w="1905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22" name="任意形状 21">
            <a:extLst>
              <a:ext uri="{FF2B5EF4-FFF2-40B4-BE49-F238E27FC236}">
                <a16:creationId xmlns:a16="http://schemas.microsoft.com/office/drawing/2014/main" id="{A0FAD48E-6539-4CB0-E480-1AD1FBC0AF09}"/>
              </a:ext>
            </a:extLst>
          </p:cNvPr>
          <p:cNvSpPr/>
          <p:nvPr/>
        </p:nvSpPr>
        <p:spPr>
          <a:xfrm>
            <a:off x="3305282" y="4947072"/>
            <a:ext cx="7265227" cy="438947"/>
          </a:xfrm>
          <a:custGeom>
            <a:avLst/>
            <a:gdLst>
              <a:gd name="connsiteX0" fmla="*/ 0 w 7711440"/>
              <a:gd name="connsiteY0" fmla="*/ 0 h 356870"/>
              <a:gd name="connsiteX1" fmla="*/ 7711441 w 7711440"/>
              <a:gd name="connsiteY1" fmla="*/ 0 h 356870"/>
              <a:gd name="connsiteX2" fmla="*/ 7711441 w 7711440"/>
              <a:gd name="connsiteY2" fmla="*/ 356870 h 356870"/>
              <a:gd name="connsiteX3" fmla="*/ 0 w 7711440"/>
              <a:gd name="connsiteY3" fmla="*/ 356870 h 356870"/>
            </a:gdLst>
            <a:ahLst/>
            <a:cxnLst>
              <a:cxn ang="0">
                <a:pos x="connsiteX0" y="connsiteY0"/>
              </a:cxn>
              <a:cxn ang="0">
                <a:pos x="connsiteX1" y="connsiteY1"/>
              </a:cxn>
              <a:cxn ang="0">
                <a:pos x="connsiteX2" y="connsiteY2"/>
              </a:cxn>
              <a:cxn ang="0">
                <a:pos x="connsiteX3" y="connsiteY3"/>
              </a:cxn>
            </a:cxnLst>
            <a:rect l="l" t="t" r="r" b="b"/>
            <a:pathLst>
              <a:path w="7711440" h="356870">
                <a:moveTo>
                  <a:pt x="0" y="0"/>
                </a:moveTo>
                <a:lnTo>
                  <a:pt x="7711441" y="0"/>
                </a:lnTo>
                <a:lnTo>
                  <a:pt x="7711441" y="356870"/>
                </a:lnTo>
                <a:lnTo>
                  <a:pt x="0" y="356870"/>
                </a:lnTo>
                <a:close/>
              </a:path>
            </a:pathLst>
          </a:custGeom>
          <a:solidFill>
            <a:schemeClr val="accent2">
              <a:lumMod val="75000"/>
            </a:schemeClr>
          </a:solidFill>
          <a:ln w="1905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8" name="TextBox 42">
            <a:extLst>
              <a:ext uri="{FF2B5EF4-FFF2-40B4-BE49-F238E27FC236}">
                <a16:creationId xmlns:a16="http://schemas.microsoft.com/office/drawing/2014/main" id="{C673BBFD-4001-FEB0-7EC5-8CB43B69493D}"/>
              </a:ext>
            </a:extLst>
          </p:cNvPr>
          <p:cNvSpPr txBox="1"/>
          <p:nvPr/>
        </p:nvSpPr>
        <p:spPr>
          <a:xfrm>
            <a:off x="3291174" y="1209610"/>
            <a:ext cx="3512350" cy="330475"/>
          </a:xfrm>
          <a:prstGeom prst="rect">
            <a:avLst/>
          </a:prstGeom>
          <a:noFill/>
        </p:spPr>
        <p:txBody>
          <a:bodyPr wrap="square" rtlCol="0" anchor="t">
            <a:spAutoFit/>
          </a:bodyPr>
          <a:lstStyle/>
          <a:p>
            <a:pPr>
              <a:lnSpc>
                <a:spcPts val="1800"/>
              </a:lnSpc>
            </a:pPr>
            <a:r>
              <a:rPr lang="en-US" altLang="zh-CN" b="1">
                <a:solidFill>
                  <a:schemeClr val="bg1"/>
                </a:solidFill>
                <a:effectLst/>
                <a:latin typeface="+mj-ea"/>
                <a:ea typeface="+mj-ea"/>
                <a:cs typeface="Alibaba PuHuiTi" pitchFamily="18" charset="-122"/>
              </a:rPr>
              <a:t>Primary objective</a:t>
            </a:r>
            <a:endParaRPr lang="en-US" b="1">
              <a:solidFill>
                <a:schemeClr val="bg1"/>
              </a:solidFill>
              <a:latin typeface="+mj-ea"/>
              <a:ea typeface="+mj-ea"/>
              <a:cs typeface="Alibaba PuHuiTi" pitchFamily="18" charset="-122"/>
            </a:endParaRPr>
          </a:p>
        </p:txBody>
      </p:sp>
      <p:grpSp>
        <p:nvGrpSpPr>
          <p:cNvPr id="2" name="Group 1">
            <a:extLst>
              <a:ext uri="{FF2B5EF4-FFF2-40B4-BE49-F238E27FC236}">
                <a16:creationId xmlns:a16="http://schemas.microsoft.com/office/drawing/2014/main" id="{108C983F-349A-9F16-7EAE-64E476DAB7DD}"/>
              </a:ext>
            </a:extLst>
          </p:cNvPr>
          <p:cNvGrpSpPr/>
          <p:nvPr/>
        </p:nvGrpSpPr>
        <p:grpSpPr>
          <a:xfrm>
            <a:off x="4128420" y="3103168"/>
            <a:ext cx="7342891" cy="1100305"/>
            <a:chOff x="4128420" y="2636330"/>
            <a:chExt cx="7342891" cy="1100305"/>
          </a:xfrm>
        </p:grpSpPr>
        <p:sp>
          <p:nvSpPr>
            <p:cNvPr id="18" name="任意形状 17">
              <a:extLst>
                <a:ext uri="{FF2B5EF4-FFF2-40B4-BE49-F238E27FC236}">
                  <a16:creationId xmlns:a16="http://schemas.microsoft.com/office/drawing/2014/main" id="{DAD9BC1C-7D09-C9FA-2BD7-5DD8DBD7E942}"/>
                </a:ext>
              </a:extLst>
            </p:cNvPr>
            <p:cNvSpPr/>
            <p:nvPr/>
          </p:nvSpPr>
          <p:spPr>
            <a:xfrm>
              <a:off x="4128420" y="2636330"/>
              <a:ext cx="7342891" cy="445625"/>
            </a:xfrm>
            <a:custGeom>
              <a:avLst/>
              <a:gdLst>
                <a:gd name="connsiteX0" fmla="*/ 0 w 7711440"/>
                <a:gd name="connsiteY0" fmla="*/ 0 h 356869"/>
                <a:gd name="connsiteX1" fmla="*/ 7711441 w 7711440"/>
                <a:gd name="connsiteY1" fmla="*/ 0 h 356869"/>
                <a:gd name="connsiteX2" fmla="*/ 7711441 w 7711440"/>
                <a:gd name="connsiteY2" fmla="*/ 356870 h 356869"/>
                <a:gd name="connsiteX3" fmla="*/ 0 w 7711440"/>
                <a:gd name="connsiteY3" fmla="*/ 356870 h 356869"/>
              </a:gdLst>
              <a:ahLst/>
              <a:cxnLst>
                <a:cxn ang="0">
                  <a:pos x="connsiteX0" y="connsiteY0"/>
                </a:cxn>
                <a:cxn ang="0">
                  <a:pos x="connsiteX1" y="connsiteY1"/>
                </a:cxn>
                <a:cxn ang="0">
                  <a:pos x="connsiteX2" y="connsiteY2"/>
                </a:cxn>
                <a:cxn ang="0">
                  <a:pos x="connsiteX3" y="connsiteY3"/>
                </a:cxn>
              </a:cxnLst>
              <a:rect l="l" t="t" r="r" b="b"/>
              <a:pathLst>
                <a:path w="7711440" h="356869">
                  <a:moveTo>
                    <a:pt x="0" y="0"/>
                  </a:moveTo>
                  <a:lnTo>
                    <a:pt x="7711441" y="0"/>
                  </a:lnTo>
                  <a:lnTo>
                    <a:pt x="7711441" y="356870"/>
                  </a:lnTo>
                  <a:lnTo>
                    <a:pt x="0" y="356870"/>
                  </a:lnTo>
                  <a:close/>
                </a:path>
              </a:pathLst>
            </a:custGeom>
            <a:solidFill>
              <a:schemeClr val="accent1">
                <a:lumMod val="90000"/>
                <a:lumOff val="10000"/>
              </a:schemeClr>
            </a:solidFill>
            <a:ln w="1905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sp>
          <p:nvSpPr>
            <p:cNvPr id="17" name="TextBox 41">
              <a:extLst>
                <a:ext uri="{FF2B5EF4-FFF2-40B4-BE49-F238E27FC236}">
                  <a16:creationId xmlns:a16="http://schemas.microsoft.com/office/drawing/2014/main" id="{BE3C00CE-8790-C384-BDC6-A74C43A800E5}"/>
                </a:ext>
              </a:extLst>
            </p:cNvPr>
            <p:cNvSpPr txBox="1"/>
            <p:nvPr/>
          </p:nvSpPr>
          <p:spPr>
            <a:xfrm>
              <a:off x="4194902" y="3166222"/>
              <a:ext cx="7179806" cy="570413"/>
            </a:xfrm>
            <a:prstGeom prst="rect">
              <a:avLst/>
            </a:prstGeom>
            <a:noFill/>
          </p:spPr>
          <p:txBody>
            <a:bodyPr wrap="square" rtlCol="0" anchor="t">
              <a:spAutoFit/>
            </a:bodyPr>
            <a:lstStyle/>
            <a:p>
              <a:pPr>
                <a:lnSpc>
                  <a:spcPct val="110000"/>
                </a:lnSpc>
                <a:spcBef>
                  <a:spcPts val="200"/>
                </a:spcBef>
                <a:spcAft>
                  <a:spcPts val="200"/>
                </a:spcAft>
                <a:defRPr/>
              </a:pPr>
              <a:r>
                <a:rPr lang="en-US" altLang="zh-CN" sz="1400">
                  <a:solidFill>
                    <a:prstClr val="black"/>
                  </a:solidFill>
                  <a:latin typeface="Boehringer Headline"/>
                </a:rPr>
                <a:t>To describe the </a:t>
              </a:r>
              <a:r>
                <a:rPr lang="en-US" altLang="zh-CN" sz="1400" b="1">
                  <a:solidFill>
                    <a:prstClr val="black"/>
                  </a:solidFill>
                  <a:latin typeface="Boehringer Headline"/>
                </a:rPr>
                <a:t>demographics and clinical characteristics </a:t>
              </a:r>
              <a:r>
                <a:rPr lang="en-US" altLang="zh-CN" sz="1400">
                  <a:solidFill>
                    <a:prstClr val="black"/>
                  </a:solidFill>
                  <a:latin typeface="Boehringer Headline"/>
                </a:rPr>
                <a:t>of CKD patient in China </a:t>
              </a:r>
            </a:p>
            <a:p>
              <a:pPr marL="285750" lvl="0" indent="-285750">
                <a:lnSpc>
                  <a:spcPct val="100000"/>
                </a:lnSpc>
                <a:spcAft>
                  <a:spcPts val="600"/>
                </a:spcAft>
                <a:buFont typeface="Arial" panose="020B0604020202020204" pitchFamily="34" charset="0"/>
                <a:buChar char="•"/>
              </a:pPr>
              <a:endParaRPr lang="en-US" altLang="zh-CN" sz="1400">
                <a:latin typeface="+mn-ea"/>
              </a:endParaRPr>
            </a:p>
          </p:txBody>
        </p:sp>
      </p:grpSp>
      <p:sp>
        <p:nvSpPr>
          <p:cNvPr id="21" name="TextBox 42">
            <a:extLst>
              <a:ext uri="{FF2B5EF4-FFF2-40B4-BE49-F238E27FC236}">
                <a16:creationId xmlns:a16="http://schemas.microsoft.com/office/drawing/2014/main" id="{147AA599-064F-80B8-80A4-71B88D3A63B5}"/>
              </a:ext>
            </a:extLst>
          </p:cNvPr>
          <p:cNvSpPr txBox="1"/>
          <p:nvPr/>
        </p:nvSpPr>
        <p:spPr>
          <a:xfrm>
            <a:off x="4194902" y="3181194"/>
            <a:ext cx="3512350" cy="330475"/>
          </a:xfrm>
          <a:prstGeom prst="rect">
            <a:avLst/>
          </a:prstGeom>
          <a:noFill/>
        </p:spPr>
        <p:txBody>
          <a:bodyPr wrap="square" rtlCol="0" anchor="t">
            <a:spAutoFit/>
          </a:bodyPr>
          <a:lstStyle/>
          <a:p>
            <a:pPr>
              <a:lnSpc>
                <a:spcPts val="1800"/>
              </a:lnSpc>
            </a:pPr>
            <a:r>
              <a:rPr lang="en-US" altLang="zh-CN" b="1">
                <a:solidFill>
                  <a:schemeClr val="bg1"/>
                </a:solidFill>
                <a:effectLst/>
                <a:latin typeface="+mj-ea"/>
                <a:ea typeface="+mj-ea"/>
                <a:cs typeface="Alibaba PuHuiTi" pitchFamily="18" charset="-122"/>
              </a:rPr>
              <a:t>Secondary objectives</a:t>
            </a:r>
            <a:endParaRPr lang="en-US" b="1">
              <a:solidFill>
                <a:schemeClr val="bg1"/>
              </a:solidFill>
              <a:latin typeface="+mj-ea"/>
              <a:ea typeface="+mj-ea"/>
              <a:cs typeface="Alibaba PuHuiTi" pitchFamily="18" charset="-122"/>
            </a:endParaRPr>
          </a:p>
        </p:txBody>
      </p:sp>
      <p:sp>
        <p:nvSpPr>
          <p:cNvPr id="32" name="TextBox 41">
            <a:extLst>
              <a:ext uri="{FF2B5EF4-FFF2-40B4-BE49-F238E27FC236}">
                <a16:creationId xmlns:a16="http://schemas.microsoft.com/office/drawing/2014/main" id="{DC825E09-2DCF-28BF-A758-AB6E7B6C031E}"/>
              </a:ext>
            </a:extLst>
          </p:cNvPr>
          <p:cNvSpPr txBox="1"/>
          <p:nvPr/>
        </p:nvSpPr>
        <p:spPr>
          <a:xfrm>
            <a:off x="3381758" y="5502874"/>
            <a:ext cx="5873225" cy="547907"/>
          </a:xfrm>
          <a:prstGeom prst="rect">
            <a:avLst/>
          </a:prstGeom>
          <a:noFill/>
        </p:spPr>
        <p:txBody>
          <a:bodyPr wrap="square" rtlCol="0" anchor="t">
            <a:spAutoFit/>
          </a:bodyPr>
          <a:lstStyle/>
          <a:p>
            <a:pPr>
              <a:lnSpc>
                <a:spcPct val="110000"/>
              </a:lnSpc>
              <a:spcBef>
                <a:spcPts val="200"/>
              </a:spcBef>
              <a:spcAft>
                <a:spcPts val="200"/>
              </a:spcAft>
              <a:defRPr/>
            </a:pPr>
            <a:r>
              <a:rPr lang="en-US" altLang="zh-CN" sz="1400">
                <a:solidFill>
                  <a:prstClr val="black"/>
                </a:solidFill>
                <a:latin typeface="Boehringer Headline"/>
              </a:rPr>
              <a:t>To identify </a:t>
            </a:r>
            <a:r>
              <a:rPr lang="en-US" altLang="zh-CN" sz="1400" b="1">
                <a:solidFill>
                  <a:prstClr val="black"/>
                </a:solidFill>
                <a:latin typeface="Boehringer Headline"/>
              </a:rPr>
              <a:t>factors</a:t>
            </a:r>
            <a:r>
              <a:rPr lang="en-US" altLang="zh-CN" sz="1400">
                <a:solidFill>
                  <a:prstClr val="black"/>
                </a:solidFill>
                <a:latin typeface="Boehringer Headline"/>
              </a:rPr>
              <a:t> associated with </a:t>
            </a:r>
            <a:r>
              <a:rPr lang="en-US" altLang="zh-CN" sz="1400" b="1">
                <a:solidFill>
                  <a:prstClr val="black"/>
                </a:solidFill>
                <a:latin typeface="Boehringer Headline"/>
              </a:rPr>
              <a:t>prescribing SGLT2i </a:t>
            </a:r>
            <a:r>
              <a:rPr lang="en-US" altLang="zh-CN" sz="1400">
                <a:solidFill>
                  <a:prstClr val="black"/>
                </a:solidFill>
                <a:latin typeface="Boehringer Headline"/>
              </a:rPr>
              <a:t>as part of GDMT vs non-GDMT in China </a:t>
            </a:r>
          </a:p>
        </p:txBody>
      </p:sp>
      <p:sp>
        <p:nvSpPr>
          <p:cNvPr id="34" name="TextBox 42">
            <a:extLst>
              <a:ext uri="{FF2B5EF4-FFF2-40B4-BE49-F238E27FC236}">
                <a16:creationId xmlns:a16="http://schemas.microsoft.com/office/drawing/2014/main" id="{D72B6065-9007-84E6-81BC-9156F166034E}"/>
              </a:ext>
            </a:extLst>
          </p:cNvPr>
          <p:cNvSpPr txBox="1"/>
          <p:nvPr/>
        </p:nvSpPr>
        <p:spPr>
          <a:xfrm>
            <a:off x="3346991" y="5050460"/>
            <a:ext cx="3512350" cy="330475"/>
          </a:xfrm>
          <a:prstGeom prst="rect">
            <a:avLst/>
          </a:prstGeom>
          <a:noFill/>
        </p:spPr>
        <p:txBody>
          <a:bodyPr wrap="square" rtlCol="0" anchor="t">
            <a:spAutoFit/>
          </a:bodyPr>
          <a:lstStyle/>
          <a:p>
            <a:pPr>
              <a:lnSpc>
                <a:spcPts val="1800"/>
              </a:lnSpc>
            </a:pPr>
            <a:r>
              <a:rPr lang="en-US" altLang="zh-CN" b="1">
                <a:solidFill>
                  <a:schemeClr val="bg1"/>
                </a:solidFill>
                <a:effectLst/>
                <a:latin typeface="+mj-ea"/>
                <a:ea typeface="+mj-ea"/>
                <a:cs typeface="Alibaba PuHuiTi" pitchFamily="18" charset="-122"/>
              </a:rPr>
              <a:t>Exploratory</a:t>
            </a:r>
            <a:r>
              <a:rPr lang="en-US" altLang="zh-CN" b="1">
                <a:effectLst/>
                <a:latin typeface="+mj-ea"/>
                <a:ea typeface="+mj-ea"/>
                <a:cs typeface="Alibaba PuHuiTi" pitchFamily="18" charset="-122"/>
              </a:rPr>
              <a:t> </a:t>
            </a:r>
            <a:r>
              <a:rPr lang="en-US" altLang="zh-CN" b="1">
                <a:solidFill>
                  <a:schemeClr val="bg1"/>
                </a:solidFill>
                <a:effectLst/>
                <a:latin typeface="+mj-ea"/>
                <a:ea typeface="+mj-ea"/>
                <a:cs typeface="Alibaba PuHuiTi" pitchFamily="18" charset="-122"/>
              </a:rPr>
              <a:t>objective</a:t>
            </a:r>
            <a:endParaRPr lang="en-US" b="1">
              <a:solidFill>
                <a:schemeClr val="bg1"/>
              </a:solidFill>
              <a:latin typeface="+mj-ea"/>
              <a:ea typeface="+mj-ea"/>
              <a:cs typeface="Alibaba PuHuiTi" pitchFamily="18" charset="-122"/>
            </a:endParaRPr>
          </a:p>
        </p:txBody>
      </p:sp>
      <p:sp>
        <p:nvSpPr>
          <p:cNvPr id="6" name="Title 1">
            <a:extLst>
              <a:ext uri="{FF2B5EF4-FFF2-40B4-BE49-F238E27FC236}">
                <a16:creationId xmlns:a16="http://schemas.microsoft.com/office/drawing/2014/main" id="{889DE287-0B27-6003-BB3D-D4EE00255FD4}"/>
              </a:ext>
            </a:extLst>
          </p:cNvPr>
          <p:cNvSpPr>
            <a:spLocks noGrp="1"/>
          </p:cNvSpPr>
          <p:nvPr>
            <p:ph type="title"/>
          </p:nvPr>
        </p:nvSpPr>
        <p:spPr>
          <a:xfrm>
            <a:off x="458469" y="328259"/>
            <a:ext cx="11233151" cy="720000"/>
          </a:xfrm>
        </p:spPr>
        <p:txBody>
          <a:bodyPr/>
          <a:lstStyle/>
          <a:p>
            <a:r>
              <a:rPr lang="en-US" altLang="zh-CN" sz="2800">
                <a:solidFill>
                  <a:schemeClr val="tx1">
                    <a:lumMod val="85000"/>
                    <a:lumOff val="15000"/>
                  </a:schemeClr>
                </a:solidFill>
                <a:latin typeface="+mj-lt"/>
              </a:rPr>
              <a:t>Study</a:t>
            </a:r>
            <a:r>
              <a:rPr lang="en-US" altLang="zh-CN" sz="2800">
                <a:solidFill>
                  <a:schemeClr val="accent1">
                    <a:lumMod val="90000"/>
                    <a:lumOff val="10000"/>
                  </a:schemeClr>
                </a:solidFill>
                <a:latin typeface="+mj-lt"/>
              </a:rPr>
              <a:t> </a:t>
            </a:r>
            <a:r>
              <a:rPr lang="en-US" altLang="zh-CN" sz="2800">
                <a:solidFill>
                  <a:schemeClr val="tx1">
                    <a:lumMod val="85000"/>
                    <a:lumOff val="15000"/>
                  </a:schemeClr>
                </a:solidFill>
                <a:latin typeface="+mj-lt"/>
              </a:rPr>
              <a:t>Objective</a:t>
            </a:r>
            <a:br>
              <a:rPr lang="zh-CN" altLang="en-US" sz="2800">
                <a:solidFill>
                  <a:schemeClr val="accent1">
                    <a:lumMod val="90000"/>
                    <a:lumOff val="10000"/>
                  </a:schemeClr>
                </a:solidFill>
                <a:latin typeface="+mj-lt"/>
              </a:rPr>
            </a:br>
            <a:endParaRPr lang="zh-CN" altLang="en-US" sz="2800">
              <a:solidFill>
                <a:schemeClr val="accent1">
                  <a:lumMod val="90000"/>
                  <a:lumOff val="10000"/>
                </a:schemeClr>
              </a:solidFill>
              <a:latin typeface="+mj-lt"/>
            </a:endParaRPr>
          </a:p>
        </p:txBody>
      </p:sp>
      <p:sp>
        <p:nvSpPr>
          <p:cNvPr id="52" name="TextBox 51">
            <a:extLst>
              <a:ext uri="{FF2B5EF4-FFF2-40B4-BE49-F238E27FC236}">
                <a16:creationId xmlns:a16="http://schemas.microsoft.com/office/drawing/2014/main" id="{2AE54901-9E2D-F6D1-3CC9-B7146DDD2BF3}"/>
              </a:ext>
            </a:extLst>
          </p:cNvPr>
          <p:cNvSpPr txBox="1"/>
          <p:nvPr/>
        </p:nvSpPr>
        <p:spPr bwMode="gray">
          <a:xfrm>
            <a:off x="1768025" y="6329806"/>
            <a:ext cx="6181724" cy="246221"/>
          </a:xfrm>
          <a:prstGeom prst="rect">
            <a:avLst/>
          </a:prstGeom>
          <a:noFill/>
        </p:spPr>
        <p:txBody>
          <a:bodyPr wrap="square">
            <a:spAutoFit/>
          </a:bodyPr>
          <a:lstStyle/>
          <a:p>
            <a:r>
              <a:rPr lang="en-US" altLang="zh-CN" sz="1000">
                <a:latin typeface="+mn-ea"/>
              </a:rPr>
              <a:t>HCRU: Healthcare resource utilization</a:t>
            </a:r>
            <a:endParaRPr lang="zh-CN" altLang="en-US" sz="1000"/>
          </a:p>
        </p:txBody>
      </p:sp>
    </p:spTree>
    <p:extLst>
      <p:ext uri="{BB962C8B-B14F-4D97-AF65-F5344CB8AC3E}">
        <p14:creationId xmlns:p14="http://schemas.microsoft.com/office/powerpoint/2010/main" val="3141402606"/>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368FB-23B2-D565-3513-F53223F93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51870-7DDF-85E3-2734-2CA446833CF9}"/>
              </a:ext>
            </a:extLst>
          </p:cNvPr>
          <p:cNvSpPr>
            <a:spLocks noGrp="1"/>
          </p:cNvSpPr>
          <p:nvPr>
            <p:ph type="title"/>
          </p:nvPr>
        </p:nvSpPr>
        <p:spPr>
          <a:xfrm>
            <a:off x="700122" y="578832"/>
            <a:ext cx="11728450" cy="720000"/>
          </a:xfrm>
        </p:spPr>
        <p:txBody>
          <a:bodyPr/>
          <a:lstStyle/>
          <a:p>
            <a:r>
              <a:rPr lang="en-US" altLang="zh-CN" sz="2800"/>
              <a:t>Data Source: China Kidney Disease Network</a:t>
            </a:r>
            <a:endParaRPr lang="zh-CN" altLang="en-US" sz="2800"/>
          </a:p>
        </p:txBody>
      </p:sp>
      <p:sp>
        <p:nvSpPr>
          <p:cNvPr id="7" name="TextBox 6">
            <a:extLst>
              <a:ext uri="{FF2B5EF4-FFF2-40B4-BE49-F238E27FC236}">
                <a16:creationId xmlns:a16="http://schemas.microsoft.com/office/drawing/2014/main" id="{442A6FEE-5D90-C8B0-595B-572E2C388DF3}"/>
              </a:ext>
            </a:extLst>
          </p:cNvPr>
          <p:cNvSpPr txBox="1"/>
          <p:nvPr/>
        </p:nvSpPr>
        <p:spPr bwMode="gray">
          <a:xfrm>
            <a:off x="1751509" y="6306273"/>
            <a:ext cx="3389128" cy="215444"/>
          </a:xfrm>
          <a:prstGeom prst="rect">
            <a:avLst/>
          </a:prstGeom>
          <a:noFill/>
        </p:spPr>
        <p:txBody>
          <a:bodyPr wrap="square">
            <a:spAutoFit/>
          </a:bodyPr>
          <a:lstStyle/>
          <a:p>
            <a:r>
              <a:rPr lang="zh-CN" altLang="en-US" sz="800" b="0" i="0" u="none" strike="noStrike" baseline="0">
                <a:solidFill>
                  <a:srgbClr val="000000"/>
                </a:solidFill>
                <a:latin typeface="+mn-ea"/>
              </a:rPr>
              <a:t> </a:t>
            </a:r>
            <a:r>
              <a:rPr lang="en-US" altLang="zh-CN" sz="800" b="0" i="0" u="none" strike="noStrike" baseline="0">
                <a:solidFill>
                  <a:srgbClr val="000000"/>
                </a:solidFill>
                <a:latin typeface="+mn-ea"/>
              </a:rPr>
              <a:t>1. </a:t>
            </a:r>
            <a:r>
              <a:rPr lang="zh-CN" altLang="en-US" sz="800" b="0" i="0" u="none" strike="noStrike" baseline="0">
                <a:solidFill>
                  <a:srgbClr val="000000"/>
                </a:solidFill>
                <a:latin typeface="+mn-ea"/>
              </a:rPr>
              <a:t>北京市卫健委</a:t>
            </a:r>
            <a:r>
              <a:rPr lang="en-US" altLang="zh-CN" sz="800" b="0" i="0" u="none" strike="noStrike" baseline="0">
                <a:solidFill>
                  <a:srgbClr val="000000"/>
                </a:solidFill>
                <a:latin typeface="+mn-ea"/>
              </a:rPr>
              <a:t>《2023</a:t>
            </a:r>
            <a:r>
              <a:rPr lang="zh-CN" altLang="en-US" sz="800" b="0" i="0" u="none" strike="noStrike" baseline="0">
                <a:solidFill>
                  <a:srgbClr val="000000"/>
                </a:solidFill>
                <a:latin typeface="+mn-ea"/>
              </a:rPr>
              <a:t>年北京卫生健康事业发展统计公报</a:t>
            </a:r>
            <a:r>
              <a:rPr lang="en-US" altLang="zh-CN" sz="800" b="0" i="0" u="none" strike="noStrike" baseline="0">
                <a:solidFill>
                  <a:srgbClr val="000000"/>
                </a:solidFill>
                <a:latin typeface="+mn-ea"/>
              </a:rPr>
              <a:t>》</a:t>
            </a:r>
            <a:endParaRPr lang="zh-CN" altLang="en-US" sz="800">
              <a:latin typeface="+mn-ea"/>
            </a:endParaRPr>
          </a:p>
        </p:txBody>
      </p:sp>
      <p:grpSp>
        <p:nvGrpSpPr>
          <p:cNvPr id="32" name="Group 31">
            <a:extLst>
              <a:ext uri="{FF2B5EF4-FFF2-40B4-BE49-F238E27FC236}">
                <a16:creationId xmlns:a16="http://schemas.microsoft.com/office/drawing/2014/main" id="{D7F0DD97-8FA7-11D8-0278-DEF5E702F9FB}"/>
              </a:ext>
            </a:extLst>
          </p:cNvPr>
          <p:cNvGrpSpPr/>
          <p:nvPr/>
        </p:nvGrpSpPr>
        <p:grpSpPr>
          <a:xfrm>
            <a:off x="889911" y="1529341"/>
            <a:ext cx="10975521" cy="4179050"/>
            <a:chOff x="907580" y="1962245"/>
            <a:chExt cx="10975521" cy="4179050"/>
          </a:xfrm>
        </p:grpSpPr>
        <p:sp>
          <p:nvSpPr>
            <p:cNvPr id="23" name="任意形状 29">
              <a:extLst>
                <a:ext uri="{FF2B5EF4-FFF2-40B4-BE49-F238E27FC236}">
                  <a16:creationId xmlns:a16="http://schemas.microsoft.com/office/drawing/2014/main" id="{6B28B222-8B84-1502-899E-3468D9FF8A45}"/>
                </a:ext>
              </a:extLst>
            </p:cNvPr>
            <p:cNvSpPr/>
            <p:nvPr/>
          </p:nvSpPr>
          <p:spPr>
            <a:xfrm>
              <a:off x="907580" y="4683664"/>
              <a:ext cx="10544810" cy="1457631"/>
            </a:xfrm>
            <a:custGeom>
              <a:avLst/>
              <a:gdLst>
                <a:gd name="connsiteX0" fmla="*/ 0 w 10544810"/>
                <a:gd name="connsiteY0" fmla="*/ 0 h 1687829"/>
                <a:gd name="connsiteX1" fmla="*/ 10544810 w 10544810"/>
                <a:gd name="connsiteY1" fmla="*/ 0 h 1687829"/>
                <a:gd name="connsiteX2" fmla="*/ 10544810 w 10544810"/>
                <a:gd name="connsiteY2" fmla="*/ 1687830 h 1687829"/>
                <a:gd name="connsiteX3" fmla="*/ 0 w 10544810"/>
                <a:gd name="connsiteY3" fmla="*/ 1687830 h 1687829"/>
              </a:gdLst>
              <a:ahLst/>
              <a:cxnLst>
                <a:cxn ang="0">
                  <a:pos x="connsiteX0" y="connsiteY0"/>
                </a:cxn>
                <a:cxn ang="0">
                  <a:pos x="connsiteX1" y="connsiteY1"/>
                </a:cxn>
                <a:cxn ang="0">
                  <a:pos x="connsiteX2" y="connsiteY2"/>
                </a:cxn>
                <a:cxn ang="0">
                  <a:pos x="connsiteX3" y="connsiteY3"/>
                </a:cxn>
              </a:cxnLst>
              <a:rect l="l" t="t" r="r" b="b"/>
              <a:pathLst>
                <a:path w="10544810" h="1687829">
                  <a:moveTo>
                    <a:pt x="0" y="0"/>
                  </a:moveTo>
                  <a:lnTo>
                    <a:pt x="10544810" y="0"/>
                  </a:lnTo>
                  <a:lnTo>
                    <a:pt x="10544810" y="1687830"/>
                  </a:lnTo>
                  <a:lnTo>
                    <a:pt x="0" y="1687830"/>
                  </a:lnTo>
                  <a:close/>
                </a:path>
              </a:pathLst>
            </a:custGeom>
            <a:solidFill>
              <a:schemeClr val="bg1">
                <a:lumMod val="95000"/>
              </a:schemeClr>
            </a:solidFill>
            <a:ln w="12700" cap="flat">
              <a:noFill/>
              <a:prstDash val="solid"/>
              <a:miter/>
            </a:ln>
          </p:spPr>
          <p:txBody>
            <a:bodyPr rtlCol="0" anchor="ctr"/>
            <a:lstStyle/>
            <a:p>
              <a:endParaRPr lang="zh-CN" altLang="en-US" sz="1400">
                <a:solidFill>
                  <a:schemeClr val="accent2">
                    <a:lumMod val="50000"/>
                  </a:schemeClr>
                </a:solidFill>
                <a:latin typeface="+mn-ea"/>
              </a:endParaRPr>
            </a:p>
          </p:txBody>
        </p:sp>
        <p:grpSp>
          <p:nvGrpSpPr>
            <p:cNvPr id="3" name="Group 2">
              <a:extLst>
                <a:ext uri="{FF2B5EF4-FFF2-40B4-BE49-F238E27FC236}">
                  <a16:creationId xmlns:a16="http://schemas.microsoft.com/office/drawing/2014/main" id="{94398A61-1DAA-4070-32C4-E8D85147DE46}"/>
                </a:ext>
              </a:extLst>
            </p:cNvPr>
            <p:cNvGrpSpPr/>
            <p:nvPr/>
          </p:nvGrpSpPr>
          <p:grpSpPr>
            <a:xfrm>
              <a:off x="907580" y="1962245"/>
              <a:ext cx="10975521" cy="2801186"/>
              <a:chOff x="1088693" y="1199622"/>
              <a:chExt cx="10975521" cy="2801186"/>
            </a:xfrm>
          </p:grpSpPr>
          <p:sp>
            <p:nvSpPr>
              <p:cNvPr id="29" name="任意形状 28">
                <a:extLst>
                  <a:ext uri="{FF2B5EF4-FFF2-40B4-BE49-F238E27FC236}">
                    <a16:creationId xmlns:a16="http://schemas.microsoft.com/office/drawing/2014/main" id="{9BC9A64A-E83E-3DAD-90E0-B914A7C73432}"/>
                  </a:ext>
                </a:extLst>
              </p:cNvPr>
              <p:cNvSpPr/>
              <p:nvPr/>
            </p:nvSpPr>
            <p:spPr>
              <a:xfrm>
                <a:off x="1088693" y="1207237"/>
                <a:ext cx="10544810" cy="1345923"/>
              </a:xfrm>
              <a:custGeom>
                <a:avLst/>
                <a:gdLst>
                  <a:gd name="connsiteX0" fmla="*/ 0 w 10544810"/>
                  <a:gd name="connsiteY0" fmla="*/ 0 h 1687830"/>
                  <a:gd name="connsiteX1" fmla="*/ 10544810 w 10544810"/>
                  <a:gd name="connsiteY1" fmla="*/ 0 h 1687830"/>
                  <a:gd name="connsiteX2" fmla="*/ 10544810 w 10544810"/>
                  <a:gd name="connsiteY2" fmla="*/ 1687830 h 1687830"/>
                  <a:gd name="connsiteX3" fmla="*/ 0 w 10544810"/>
                  <a:gd name="connsiteY3" fmla="*/ 1687830 h 1687830"/>
                </a:gdLst>
                <a:ahLst/>
                <a:cxnLst>
                  <a:cxn ang="0">
                    <a:pos x="connsiteX0" y="connsiteY0"/>
                  </a:cxn>
                  <a:cxn ang="0">
                    <a:pos x="connsiteX1" y="connsiteY1"/>
                  </a:cxn>
                  <a:cxn ang="0">
                    <a:pos x="connsiteX2" y="connsiteY2"/>
                  </a:cxn>
                  <a:cxn ang="0">
                    <a:pos x="connsiteX3" y="connsiteY3"/>
                  </a:cxn>
                </a:cxnLst>
                <a:rect l="l" t="t" r="r" b="b"/>
                <a:pathLst>
                  <a:path w="10544810" h="1687830">
                    <a:moveTo>
                      <a:pt x="0" y="0"/>
                    </a:moveTo>
                    <a:lnTo>
                      <a:pt x="10544810" y="0"/>
                    </a:lnTo>
                    <a:lnTo>
                      <a:pt x="10544810" y="1687830"/>
                    </a:lnTo>
                    <a:lnTo>
                      <a:pt x="0" y="1687830"/>
                    </a:lnTo>
                    <a:close/>
                  </a:path>
                </a:pathLst>
              </a:custGeom>
              <a:solidFill>
                <a:schemeClr val="bg1">
                  <a:lumMod val="95000"/>
                </a:schemeClr>
              </a:solidFill>
              <a:ln w="12700" cap="flat">
                <a:noFill/>
                <a:prstDash val="solid"/>
                <a:miter/>
              </a:ln>
            </p:spPr>
            <p:txBody>
              <a:bodyPr rtlCol="0" anchor="ctr"/>
              <a:lstStyle/>
              <a:p>
                <a:endParaRPr lang="zh-CN" altLang="en-US">
                  <a:latin typeface="+mn-ea"/>
                  <a:cs typeface="Alibaba PuHuiTi" pitchFamily="18" charset="-122"/>
                </a:endParaRPr>
              </a:p>
            </p:txBody>
          </p:sp>
          <p:sp>
            <p:nvSpPr>
              <p:cNvPr id="30" name="任意形状 29">
                <a:extLst>
                  <a:ext uri="{FF2B5EF4-FFF2-40B4-BE49-F238E27FC236}">
                    <a16:creationId xmlns:a16="http://schemas.microsoft.com/office/drawing/2014/main" id="{60FD0088-18F4-6979-15EF-38E7F588F983}"/>
                  </a:ext>
                </a:extLst>
              </p:cNvPr>
              <p:cNvSpPr/>
              <p:nvPr/>
            </p:nvSpPr>
            <p:spPr>
              <a:xfrm>
                <a:off x="1088693" y="2537153"/>
                <a:ext cx="10544810" cy="1457631"/>
              </a:xfrm>
              <a:custGeom>
                <a:avLst/>
                <a:gdLst>
                  <a:gd name="connsiteX0" fmla="*/ 0 w 10544810"/>
                  <a:gd name="connsiteY0" fmla="*/ 0 h 1687829"/>
                  <a:gd name="connsiteX1" fmla="*/ 10544810 w 10544810"/>
                  <a:gd name="connsiteY1" fmla="*/ 0 h 1687829"/>
                  <a:gd name="connsiteX2" fmla="*/ 10544810 w 10544810"/>
                  <a:gd name="connsiteY2" fmla="*/ 1687830 h 1687829"/>
                  <a:gd name="connsiteX3" fmla="*/ 0 w 10544810"/>
                  <a:gd name="connsiteY3" fmla="*/ 1687830 h 1687829"/>
                </a:gdLst>
                <a:ahLst/>
                <a:cxnLst>
                  <a:cxn ang="0">
                    <a:pos x="connsiteX0" y="connsiteY0"/>
                  </a:cxn>
                  <a:cxn ang="0">
                    <a:pos x="connsiteX1" y="connsiteY1"/>
                  </a:cxn>
                  <a:cxn ang="0">
                    <a:pos x="connsiteX2" y="connsiteY2"/>
                  </a:cxn>
                  <a:cxn ang="0">
                    <a:pos x="connsiteX3" y="connsiteY3"/>
                  </a:cxn>
                </a:cxnLst>
                <a:rect l="l" t="t" r="r" b="b"/>
                <a:pathLst>
                  <a:path w="10544810" h="1687829">
                    <a:moveTo>
                      <a:pt x="0" y="0"/>
                    </a:moveTo>
                    <a:lnTo>
                      <a:pt x="10544810" y="0"/>
                    </a:lnTo>
                    <a:lnTo>
                      <a:pt x="10544810" y="1687830"/>
                    </a:lnTo>
                    <a:lnTo>
                      <a:pt x="0" y="1687830"/>
                    </a:lnTo>
                    <a:close/>
                  </a:path>
                </a:pathLst>
              </a:custGeom>
              <a:solidFill>
                <a:schemeClr val="bg1">
                  <a:lumMod val="95000"/>
                </a:schemeClr>
              </a:solidFill>
              <a:ln w="12700" cap="flat">
                <a:noFill/>
                <a:prstDash val="solid"/>
                <a:miter/>
              </a:ln>
            </p:spPr>
            <p:txBody>
              <a:bodyPr rtlCol="0" anchor="ctr"/>
              <a:lstStyle/>
              <a:p>
                <a:endParaRPr lang="zh-CN" altLang="en-US">
                  <a:latin typeface="+mn-ea"/>
                  <a:cs typeface="Alibaba PuHuiTi" pitchFamily="18" charset="-122"/>
                </a:endParaRPr>
              </a:p>
            </p:txBody>
          </p:sp>
          <p:sp>
            <p:nvSpPr>
              <p:cNvPr id="13" name="任意形状 12">
                <a:extLst>
                  <a:ext uri="{FF2B5EF4-FFF2-40B4-BE49-F238E27FC236}">
                    <a16:creationId xmlns:a16="http://schemas.microsoft.com/office/drawing/2014/main" id="{2835F82F-4571-5393-0F27-3F943989326A}"/>
                  </a:ext>
                </a:extLst>
              </p:cNvPr>
              <p:cNvSpPr/>
              <p:nvPr/>
            </p:nvSpPr>
            <p:spPr>
              <a:xfrm>
                <a:off x="3966055" y="1199622"/>
                <a:ext cx="2488238" cy="1427852"/>
              </a:xfrm>
              <a:custGeom>
                <a:avLst/>
                <a:gdLst>
                  <a:gd name="connsiteX0" fmla="*/ 136044 w 2488238"/>
                  <a:gd name="connsiteY0" fmla="*/ 0 h 1687830"/>
                  <a:gd name="connsiteX1" fmla="*/ 1193954 w 2488238"/>
                  <a:gd name="connsiteY1" fmla="*/ 0 h 1687830"/>
                  <a:gd name="connsiteX2" fmla="*/ 1294284 w 2488238"/>
                  <a:gd name="connsiteY2" fmla="*/ 0 h 1687830"/>
                  <a:gd name="connsiteX3" fmla="*/ 2352194 w 2488238"/>
                  <a:gd name="connsiteY3" fmla="*/ 0 h 1687830"/>
                  <a:gd name="connsiteX4" fmla="*/ 2488238 w 2488238"/>
                  <a:gd name="connsiteY4" fmla="*/ 1687830 h 1687830"/>
                  <a:gd name="connsiteX5" fmla="*/ 0 w 2488238"/>
                  <a:gd name="connsiteY5" fmla="*/ 1687830 h 1687830"/>
                  <a:gd name="connsiteX6" fmla="*/ 136044 w 2488238"/>
                  <a:gd name="connsiteY6" fmla="*/ 0 h 1687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88238" h="1687830">
                    <a:moveTo>
                      <a:pt x="136044" y="0"/>
                    </a:moveTo>
                    <a:lnTo>
                      <a:pt x="1193954" y="0"/>
                    </a:lnTo>
                    <a:lnTo>
                      <a:pt x="1294284" y="0"/>
                    </a:lnTo>
                    <a:lnTo>
                      <a:pt x="2352194" y="0"/>
                    </a:lnTo>
                    <a:lnTo>
                      <a:pt x="2488238" y="1687830"/>
                    </a:lnTo>
                    <a:lnTo>
                      <a:pt x="0" y="1687830"/>
                    </a:lnTo>
                    <a:lnTo>
                      <a:pt x="136044" y="0"/>
                    </a:lnTo>
                    <a:close/>
                  </a:path>
                </a:pathLst>
              </a:cu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9" name="任意形状 8">
                <a:extLst>
                  <a:ext uri="{FF2B5EF4-FFF2-40B4-BE49-F238E27FC236}">
                    <a16:creationId xmlns:a16="http://schemas.microsoft.com/office/drawing/2014/main" id="{9859D1B3-9D1B-1BD3-B89B-F9AFF1D359AC}"/>
                  </a:ext>
                </a:extLst>
              </p:cNvPr>
              <p:cNvSpPr/>
              <p:nvPr/>
            </p:nvSpPr>
            <p:spPr>
              <a:xfrm>
                <a:off x="3824283" y="2630306"/>
                <a:ext cx="2767017" cy="1370502"/>
              </a:xfrm>
              <a:custGeom>
                <a:avLst/>
                <a:gdLst>
                  <a:gd name="connsiteX0" fmla="*/ 136184 w 2780464"/>
                  <a:gd name="connsiteY0" fmla="*/ 0 h 1689568"/>
                  <a:gd name="connsiteX1" fmla="*/ 2644280 w 2780464"/>
                  <a:gd name="connsiteY1" fmla="*/ 0 h 1689568"/>
                  <a:gd name="connsiteX2" fmla="*/ 2780464 w 2780464"/>
                  <a:gd name="connsiteY2" fmla="*/ 1689568 h 1689568"/>
                  <a:gd name="connsiteX3" fmla="*/ 0 w 2780464"/>
                  <a:gd name="connsiteY3" fmla="*/ 1689568 h 1689568"/>
                  <a:gd name="connsiteX4" fmla="*/ 136184 w 2780464"/>
                  <a:gd name="connsiteY4" fmla="*/ 0 h 1689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0464" h="1689568">
                    <a:moveTo>
                      <a:pt x="136184" y="0"/>
                    </a:moveTo>
                    <a:lnTo>
                      <a:pt x="2644280" y="0"/>
                    </a:lnTo>
                    <a:lnTo>
                      <a:pt x="2780464" y="1689568"/>
                    </a:lnTo>
                    <a:lnTo>
                      <a:pt x="0" y="1689568"/>
                    </a:lnTo>
                    <a:lnTo>
                      <a:pt x="136184"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26" name="任意形状 25">
                <a:extLst>
                  <a:ext uri="{FF2B5EF4-FFF2-40B4-BE49-F238E27FC236}">
                    <a16:creationId xmlns:a16="http://schemas.microsoft.com/office/drawing/2014/main" id="{BCD8D4D1-60EB-AA2B-5E11-1C6F6EAACC60}"/>
                  </a:ext>
                </a:extLst>
              </p:cNvPr>
              <p:cNvSpPr/>
              <p:nvPr/>
            </p:nvSpPr>
            <p:spPr>
              <a:xfrm>
                <a:off x="4757575" y="2830497"/>
                <a:ext cx="733741" cy="661272"/>
              </a:xfrm>
              <a:custGeom>
                <a:avLst/>
                <a:gdLst>
                  <a:gd name="connsiteX0" fmla="*/ 830580 w 830579"/>
                  <a:gd name="connsiteY0" fmla="*/ 415290 h 830579"/>
                  <a:gd name="connsiteX1" fmla="*/ 415290 w 830579"/>
                  <a:gd name="connsiteY1" fmla="*/ 830580 h 830579"/>
                  <a:gd name="connsiteX2" fmla="*/ 0 w 830579"/>
                  <a:gd name="connsiteY2" fmla="*/ 415290 h 830579"/>
                  <a:gd name="connsiteX3" fmla="*/ 415290 w 830579"/>
                  <a:gd name="connsiteY3" fmla="*/ 0 h 830579"/>
                  <a:gd name="connsiteX4" fmla="*/ 830580 w 830579"/>
                  <a:gd name="connsiteY4" fmla="*/ 415290 h 830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579" h="830579">
                    <a:moveTo>
                      <a:pt x="830580" y="415290"/>
                    </a:moveTo>
                    <a:cubicBezTo>
                      <a:pt x="830580" y="644648"/>
                      <a:pt x="644648" y="830580"/>
                      <a:pt x="415290" y="830580"/>
                    </a:cubicBezTo>
                    <a:cubicBezTo>
                      <a:pt x="185931" y="830580"/>
                      <a:pt x="0" y="644648"/>
                      <a:pt x="0" y="415290"/>
                    </a:cubicBezTo>
                    <a:cubicBezTo>
                      <a:pt x="0" y="185931"/>
                      <a:pt x="185931" y="0"/>
                      <a:pt x="415290" y="0"/>
                    </a:cubicBezTo>
                    <a:cubicBezTo>
                      <a:pt x="644648" y="0"/>
                      <a:pt x="830580" y="185931"/>
                      <a:pt x="830580" y="415290"/>
                    </a:cubicBez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grpSp>
            <p:nvGrpSpPr>
              <p:cNvPr id="19" name="组合 18">
                <a:extLst>
                  <a:ext uri="{FF2B5EF4-FFF2-40B4-BE49-F238E27FC236}">
                    <a16:creationId xmlns:a16="http://schemas.microsoft.com/office/drawing/2014/main" id="{6EAE9553-CA7E-31E4-8C11-887E1022829A}"/>
                  </a:ext>
                </a:extLst>
              </p:cNvPr>
              <p:cNvGrpSpPr/>
              <p:nvPr/>
            </p:nvGrpSpPr>
            <p:grpSpPr>
              <a:xfrm>
                <a:off x="1423514" y="1381373"/>
                <a:ext cx="2456970" cy="941023"/>
                <a:chOff x="4416017" y="1269291"/>
                <a:chExt cx="2456970" cy="941023"/>
              </a:xfrm>
            </p:grpSpPr>
            <p:sp>
              <p:nvSpPr>
                <p:cNvPr id="20" name="文本框 19">
                  <a:extLst>
                    <a:ext uri="{FF2B5EF4-FFF2-40B4-BE49-F238E27FC236}">
                      <a16:creationId xmlns:a16="http://schemas.microsoft.com/office/drawing/2014/main" id="{DB560B83-39B2-167C-72F8-1BA17D98827A}"/>
                    </a:ext>
                  </a:extLst>
                </p:cNvPr>
                <p:cNvSpPr txBox="1"/>
                <p:nvPr/>
              </p:nvSpPr>
              <p:spPr>
                <a:xfrm>
                  <a:off x="4416017" y="1902537"/>
                  <a:ext cx="2456970" cy="307777"/>
                </a:xfrm>
                <a:prstGeom prst="rect">
                  <a:avLst/>
                </a:prstGeom>
                <a:noFill/>
              </p:spPr>
              <p:txBody>
                <a:bodyPr wrap="square" rtlCol="0">
                  <a:spAutoFit/>
                </a:bodyPr>
                <a:lstStyle/>
                <a:p>
                  <a:pPr lvl="0" algn="ctr">
                    <a:defRPr/>
                  </a:pPr>
                  <a:r>
                    <a:rPr lang="en-US" altLang="zh-CN" sz="1400">
                      <a:solidFill>
                        <a:schemeClr val="accent2">
                          <a:lumMod val="50000"/>
                        </a:schemeClr>
                      </a:solidFill>
                      <a:latin typeface="+mn-ea"/>
                    </a:rPr>
                    <a:t>Hospitals</a:t>
                  </a:r>
                  <a:endParaRPr kumimoji="1" lang="zh-CN" altLang="en-US" sz="1400" b="0" i="0" u="none" strike="noStrike" kern="1200" cap="none" spc="0" normalizeH="0" baseline="0" noProof="0">
                    <a:ln>
                      <a:noFill/>
                    </a:ln>
                    <a:solidFill>
                      <a:schemeClr val="accent2">
                        <a:lumMod val="50000"/>
                      </a:schemeClr>
                    </a:solidFill>
                    <a:effectLst/>
                    <a:uLnTx/>
                    <a:uFillTx/>
                    <a:latin typeface="Alibaba PuHuiTi" pitchFamily="18" charset="-122"/>
                    <a:ea typeface="Alibaba PuHuiTi" pitchFamily="18" charset="-122"/>
                    <a:cs typeface="Alibaba PuHuiTi" pitchFamily="18" charset="-122"/>
                  </a:endParaRPr>
                </a:p>
              </p:txBody>
            </p:sp>
            <p:sp>
              <p:nvSpPr>
                <p:cNvPr id="21" name="文本框 20">
                  <a:extLst>
                    <a:ext uri="{FF2B5EF4-FFF2-40B4-BE49-F238E27FC236}">
                      <a16:creationId xmlns:a16="http://schemas.microsoft.com/office/drawing/2014/main" id="{88D60B2F-31BC-2DAB-74EF-67E2DE330D99}"/>
                    </a:ext>
                  </a:extLst>
                </p:cNvPr>
                <p:cNvSpPr txBox="1"/>
                <p:nvPr/>
              </p:nvSpPr>
              <p:spPr>
                <a:xfrm>
                  <a:off x="5102953" y="1269291"/>
                  <a:ext cx="994183" cy="584775"/>
                </a:xfrm>
                <a:prstGeom prst="rect">
                  <a:avLst/>
                </a:prstGeom>
                <a:noFill/>
              </p:spPr>
              <p:txBody>
                <a:bodyPr wrap="none" rtlCol="0">
                  <a:spAutoFit/>
                </a:bodyPr>
                <a:lstStyle/>
                <a:p>
                  <a:pPr lvl="0" algn="ctr">
                    <a:defRPr/>
                  </a:pPr>
                  <a:r>
                    <a:rPr lang="en-US" altLang="zh-CN" sz="3200">
                      <a:solidFill>
                        <a:schemeClr val="accent2">
                          <a:lumMod val="50000"/>
                        </a:schemeClr>
                      </a:solidFill>
                      <a:latin typeface="+mn-ea"/>
                    </a:rPr>
                    <a:t>~ 22</a:t>
                  </a:r>
                </a:p>
              </p:txBody>
            </p:sp>
          </p:grpSp>
          <p:sp>
            <p:nvSpPr>
              <p:cNvPr id="39" name="文本框 38">
                <a:extLst>
                  <a:ext uri="{FF2B5EF4-FFF2-40B4-BE49-F238E27FC236}">
                    <a16:creationId xmlns:a16="http://schemas.microsoft.com/office/drawing/2014/main" id="{5DF280F8-D013-7123-2A45-3D68A457335E}"/>
                  </a:ext>
                </a:extLst>
              </p:cNvPr>
              <p:cNvSpPr txBox="1"/>
              <p:nvPr/>
            </p:nvSpPr>
            <p:spPr>
              <a:xfrm>
                <a:off x="3969940" y="2164287"/>
                <a:ext cx="2480467" cy="338554"/>
              </a:xfrm>
              <a:prstGeom prst="rect">
                <a:avLst/>
              </a:prstGeom>
              <a:noFill/>
            </p:spPr>
            <p:txBody>
              <a:bodyPr wrap="square">
                <a:spAutoFit/>
              </a:bodyPr>
              <a:lstStyle/>
              <a:p>
                <a:pPr algn="ctr"/>
                <a:r>
                  <a:rPr lang="en-US" altLang="zh-CN" sz="1600" b="1">
                    <a:solidFill>
                      <a:schemeClr val="bg1"/>
                    </a:solidFill>
                    <a:latin typeface="+mn-ea"/>
                    <a:cs typeface="Alibaba PuHuiTi" pitchFamily="18" charset="-122"/>
                  </a:rPr>
                  <a:t>Institutions</a:t>
                </a:r>
                <a:endParaRPr lang="zh-CN" altLang="en-US" sz="1600" b="1">
                  <a:solidFill>
                    <a:schemeClr val="bg1"/>
                  </a:solidFill>
                  <a:latin typeface="+mn-ea"/>
                  <a:cs typeface="Alibaba PuHuiTi" pitchFamily="18" charset="-122"/>
                </a:endParaRPr>
              </a:p>
            </p:txBody>
          </p:sp>
          <p:sp>
            <p:nvSpPr>
              <p:cNvPr id="40" name="文本框 39">
                <a:extLst>
                  <a:ext uri="{FF2B5EF4-FFF2-40B4-BE49-F238E27FC236}">
                    <a16:creationId xmlns:a16="http://schemas.microsoft.com/office/drawing/2014/main" id="{9C06F40A-CF94-8A6D-B781-EE903B7F4D5C}"/>
                  </a:ext>
                </a:extLst>
              </p:cNvPr>
              <p:cNvSpPr txBox="1"/>
              <p:nvPr/>
            </p:nvSpPr>
            <p:spPr>
              <a:xfrm>
                <a:off x="3933113" y="3558737"/>
                <a:ext cx="2488237" cy="338554"/>
              </a:xfrm>
              <a:prstGeom prst="rect">
                <a:avLst/>
              </a:prstGeom>
              <a:noFill/>
            </p:spPr>
            <p:txBody>
              <a:bodyPr wrap="square">
                <a:spAutoFit/>
              </a:bodyPr>
              <a:lstStyle/>
              <a:p>
                <a:pPr algn="ctr"/>
                <a:r>
                  <a:rPr lang="en-US" altLang="zh-CN" sz="1600" b="1">
                    <a:solidFill>
                      <a:schemeClr val="bg1"/>
                    </a:solidFill>
                    <a:latin typeface="+mn-ea"/>
                    <a:cs typeface="Alibaba PuHuiTi" pitchFamily="18" charset="-122"/>
                  </a:rPr>
                  <a:t>Data </a:t>
                </a:r>
                <a:endParaRPr lang="zh-CN" altLang="en-US" sz="1600" b="1">
                  <a:solidFill>
                    <a:schemeClr val="bg1"/>
                  </a:solidFill>
                  <a:latin typeface="+mn-ea"/>
                  <a:cs typeface="Alibaba PuHuiTi" pitchFamily="18" charset="-122"/>
                </a:endParaRPr>
              </a:p>
            </p:txBody>
          </p:sp>
          <p:sp>
            <p:nvSpPr>
              <p:cNvPr id="42" name="文本框 81">
                <a:extLst>
                  <a:ext uri="{FF2B5EF4-FFF2-40B4-BE49-F238E27FC236}">
                    <a16:creationId xmlns:a16="http://schemas.microsoft.com/office/drawing/2014/main" id="{81306647-789C-0F50-C0D8-2DB8B86C0227}"/>
                  </a:ext>
                </a:extLst>
              </p:cNvPr>
              <p:cNvSpPr txBox="1"/>
              <p:nvPr/>
            </p:nvSpPr>
            <p:spPr>
              <a:xfrm>
                <a:off x="7146138" y="1462101"/>
                <a:ext cx="4918076" cy="307777"/>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spcAft>
                    <a:spcPts val="600"/>
                  </a:spcAft>
                  <a:buFont typeface="Arial" panose="020B0604020202020204" pitchFamily="34" charset="0"/>
                  <a:buChar char="•"/>
                  <a:defRPr/>
                </a:pPr>
                <a:r>
                  <a:rPr lang="en-US" altLang="zh-CN" sz="1400">
                    <a:solidFill>
                      <a:schemeClr val="accent2">
                        <a:lumMod val="50000"/>
                      </a:schemeClr>
                    </a:solidFill>
                    <a:latin typeface="+mn-ea"/>
                  </a:rPr>
                  <a:t>Lead by </a:t>
                </a:r>
                <a:r>
                  <a:rPr lang="zh-CN" altLang="en-US" sz="1400" b="1">
                    <a:solidFill>
                      <a:schemeClr val="accent2">
                        <a:lumMod val="50000"/>
                      </a:schemeClr>
                    </a:solidFill>
                    <a:latin typeface="+mn-ea"/>
                  </a:rPr>
                  <a:t>赵明辉</a:t>
                </a:r>
                <a:r>
                  <a:rPr lang="en-US" altLang="zh-CN" sz="1400" b="1">
                    <a:solidFill>
                      <a:schemeClr val="accent2">
                        <a:lumMod val="50000"/>
                      </a:schemeClr>
                    </a:solidFill>
                    <a:latin typeface="+mn-ea"/>
                  </a:rPr>
                  <a:t>&amp;</a:t>
                </a:r>
                <a:r>
                  <a:rPr lang="zh-CN" altLang="en-US" sz="1400" b="1">
                    <a:solidFill>
                      <a:schemeClr val="accent2">
                        <a:lumMod val="50000"/>
                      </a:schemeClr>
                    </a:solidFill>
                    <a:latin typeface="+mn-ea"/>
                  </a:rPr>
                  <a:t>张路霞教授，北京大学第一医院</a:t>
                </a:r>
                <a:endParaRPr lang="en-US" altLang="zh-CN" sz="1400" b="1">
                  <a:solidFill>
                    <a:schemeClr val="accent2">
                      <a:lumMod val="50000"/>
                    </a:schemeClr>
                  </a:solidFill>
                  <a:latin typeface="+mn-ea"/>
                </a:endParaRPr>
              </a:p>
            </p:txBody>
          </p:sp>
          <p:sp>
            <p:nvSpPr>
              <p:cNvPr id="43" name="文本框 81">
                <a:extLst>
                  <a:ext uri="{FF2B5EF4-FFF2-40B4-BE49-F238E27FC236}">
                    <a16:creationId xmlns:a16="http://schemas.microsoft.com/office/drawing/2014/main" id="{F5C8E7D9-58A6-9924-ED30-2BE40DAC8EF3}"/>
                  </a:ext>
                </a:extLst>
              </p:cNvPr>
              <p:cNvSpPr txBox="1"/>
              <p:nvPr/>
            </p:nvSpPr>
            <p:spPr>
              <a:xfrm>
                <a:off x="7146138" y="2857391"/>
                <a:ext cx="4254044" cy="523220"/>
              </a:xfrm>
              <a:prstGeom prst="rect">
                <a:avLst/>
              </a:prstGeom>
              <a:noFill/>
              <a:ln>
                <a:noFill/>
              </a:ln>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defRPr/>
                </a:pPr>
                <a:r>
                  <a:rPr lang="en-US" altLang="zh-CN" sz="1400">
                    <a:solidFill>
                      <a:schemeClr val="accent2">
                        <a:lumMod val="50000"/>
                      </a:schemeClr>
                    </a:solidFill>
                    <a:latin typeface="+mn-ea"/>
                  </a:rPr>
                  <a:t>Demographics, Diagnoses, Prescriptions, Lab tests, Surgeries, Imaging text reports</a:t>
                </a:r>
              </a:p>
            </p:txBody>
          </p:sp>
          <p:grpSp>
            <p:nvGrpSpPr>
              <p:cNvPr id="51" name="组合 50">
                <a:extLst>
                  <a:ext uri="{FF2B5EF4-FFF2-40B4-BE49-F238E27FC236}">
                    <a16:creationId xmlns:a16="http://schemas.microsoft.com/office/drawing/2014/main" id="{1CA5DE67-4CF5-BEDE-3958-0CD2752F42CE}"/>
                  </a:ext>
                </a:extLst>
              </p:cNvPr>
              <p:cNvGrpSpPr/>
              <p:nvPr/>
            </p:nvGrpSpPr>
            <p:grpSpPr>
              <a:xfrm>
                <a:off x="2090454" y="2955497"/>
                <a:ext cx="1051891" cy="898576"/>
                <a:chOff x="4984712" y="1309589"/>
                <a:chExt cx="1051891" cy="898576"/>
              </a:xfrm>
            </p:grpSpPr>
            <p:sp>
              <p:nvSpPr>
                <p:cNvPr id="52" name="文本框 51">
                  <a:extLst>
                    <a:ext uri="{FF2B5EF4-FFF2-40B4-BE49-F238E27FC236}">
                      <a16:creationId xmlns:a16="http://schemas.microsoft.com/office/drawing/2014/main" id="{D56E8DD1-7540-5D60-BE4F-326F32144F2C}"/>
                    </a:ext>
                  </a:extLst>
                </p:cNvPr>
                <p:cNvSpPr txBox="1"/>
                <p:nvPr/>
              </p:nvSpPr>
              <p:spPr>
                <a:xfrm>
                  <a:off x="5418293" y="1900388"/>
                  <a:ext cx="18473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400" b="0" i="0" u="none" strike="noStrike" kern="1200" cap="none" spc="0" normalizeH="0" baseline="0" noProof="0">
                    <a:ln>
                      <a:noFill/>
                    </a:ln>
                    <a:solidFill>
                      <a:schemeClr val="accent2">
                        <a:lumMod val="50000"/>
                      </a:schemeClr>
                    </a:solidFill>
                    <a:effectLst/>
                    <a:uLnTx/>
                    <a:uFillTx/>
                    <a:latin typeface="+mn-ea"/>
                    <a:cs typeface="Alibaba PuHuiTi" pitchFamily="18" charset="-122"/>
                  </a:endParaRPr>
                </a:p>
              </p:txBody>
            </p:sp>
            <p:sp>
              <p:nvSpPr>
                <p:cNvPr id="53" name="文本框 52">
                  <a:extLst>
                    <a:ext uri="{FF2B5EF4-FFF2-40B4-BE49-F238E27FC236}">
                      <a16:creationId xmlns:a16="http://schemas.microsoft.com/office/drawing/2014/main" id="{26548C5B-DE04-D93D-F49B-1A379A597B40}"/>
                    </a:ext>
                  </a:extLst>
                </p:cNvPr>
                <p:cNvSpPr txBox="1"/>
                <p:nvPr/>
              </p:nvSpPr>
              <p:spPr>
                <a:xfrm>
                  <a:off x="4984712" y="1309589"/>
                  <a:ext cx="1051891"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3200">
                      <a:solidFill>
                        <a:schemeClr val="accent2">
                          <a:lumMod val="50000"/>
                        </a:schemeClr>
                      </a:solidFill>
                      <a:latin typeface="+mn-ea"/>
                      <a:cs typeface="Alibaba PuHuiTi" pitchFamily="18" charset="-122"/>
                    </a:rPr>
                    <a:t>EHR</a:t>
                  </a:r>
                  <a:endParaRPr kumimoji="1" lang="zh-CN" altLang="en-US" sz="3200" i="0" u="none" strike="noStrike" kern="1200" cap="none" spc="0" normalizeH="0" baseline="0" noProof="0">
                    <a:ln>
                      <a:noFill/>
                    </a:ln>
                    <a:solidFill>
                      <a:schemeClr val="accent2">
                        <a:lumMod val="50000"/>
                      </a:schemeClr>
                    </a:solidFill>
                    <a:effectLst/>
                    <a:uLnTx/>
                    <a:uFillTx/>
                    <a:latin typeface="+mn-ea"/>
                    <a:cs typeface="Alibaba PuHuiTi" pitchFamily="18" charset="-122"/>
                  </a:endParaRPr>
                </a:p>
              </p:txBody>
            </p:sp>
          </p:grpSp>
          <p:grpSp>
            <p:nvGrpSpPr>
              <p:cNvPr id="11" name="Group 10">
                <a:extLst>
                  <a:ext uri="{FF2B5EF4-FFF2-40B4-BE49-F238E27FC236}">
                    <a16:creationId xmlns:a16="http://schemas.microsoft.com/office/drawing/2014/main" id="{EA39437E-AA19-803D-B79F-361D85A95F94}"/>
                  </a:ext>
                </a:extLst>
              </p:cNvPr>
              <p:cNvGrpSpPr/>
              <p:nvPr/>
            </p:nvGrpSpPr>
            <p:grpSpPr>
              <a:xfrm>
                <a:off x="4773929" y="1398357"/>
                <a:ext cx="711199" cy="655443"/>
                <a:chOff x="4490720" y="1169229"/>
                <a:chExt cx="830579" cy="830579"/>
              </a:xfrm>
            </p:grpSpPr>
            <p:sp>
              <p:nvSpPr>
                <p:cNvPr id="28" name="任意形状 27">
                  <a:extLst>
                    <a:ext uri="{FF2B5EF4-FFF2-40B4-BE49-F238E27FC236}">
                      <a16:creationId xmlns:a16="http://schemas.microsoft.com/office/drawing/2014/main" id="{0E12B9CA-8E02-8D3D-88FE-EA43AA5D1DFC}"/>
                    </a:ext>
                  </a:extLst>
                </p:cNvPr>
                <p:cNvSpPr/>
                <p:nvPr/>
              </p:nvSpPr>
              <p:spPr>
                <a:xfrm>
                  <a:off x="4490720" y="1169229"/>
                  <a:ext cx="830579" cy="830579"/>
                </a:xfrm>
                <a:custGeom>
                  <a:avLst/>
                  <a:gdLst>
                    <a:gd name="connsiteX0" fmla="*/ 830580 w 830579"/>
                    <a:gd name="connsiteY0" fmla="*/ 415290 h 830579"/>
                    <a:gd name="connsiteX1" fmla="*/ 415290 w 830579"/>
                    <a:gd name="connsiteY1" fmla="*/ 830580 h 830579"/>
                    <a:gd name="connsiteX2" fmla="*/ 0 w 830579"/>
                    <a:gd name="connsiteY2" fmla="*/ 415290 h 830579"/>
                    <a:gd name="connsiteX3" fmla="*/ 415290 w 830579"/>
                    <a:gd name="connsiteY3" fmla="*/ 0 h 830579"/>
                    <a:gd name="connsiteX4" fmla="*/ 830580 w 830579"/>
                    <a:gd name="connsiteY4" fmla="*/ 415290 h 830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579" h="830579">
                      <a:moveTo>
                        <a:pt x="830580" y="415290"/>
                      </a:moveTo>
                      <a:cubicBezTo>
                        <a:pt x="830580" y="644648"/>
                        <a:pt x="644648" y="830580"/>
                        <a:pt x="415290" y="830580"/>
                      </a:cubicBezTo>
                      <a:cubicBezTo>
                        <a:pt x="185931" y="830580"/>
                        <a:pt x="0" y="644648"/>
                        <a:pt x="0" y="415290"/>
                      </a:cubicBezTo>
                      <a:cubicBezTo>
                        <a:pt x="0" y="185932"/>
                        <a:pt x="185931" y="0"/>
                        <a:pt x="415290" y="0"/>
                      </a:cubicBezTo>
                      <a:cubicBezTo>
                        <a:pt x="644648" y="0"/>
                        <a:pt x="830580" y="185932"/>
                        <a:pt x="830580" y="415290"/>
                      </a:cubicBez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pic>
              <p:nvPicPr>
                <p:cNvPr id="6" name="Graphic 5" descr="Medical with solid fill">
                  <a:extLst>
                    <a:ext uri="{FF2B5EF4-FFF2-40B4-BE49-F238E27FC236}">
                      <a16:creationId xmlns:a16="http://schemas.microsoft.com/office/drawing/2014/main" id="{42323925-EE1D-BFD6-6375-FBE5209016A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316" y="1250005"/>
                  <a:ext cx="666115" cy="666115"/>
                </a:xfrm>
                <a:prstGeom prst="rect">
                  <a:avLst/>
                </a:prstGeom>
              </p:spPr>
            </p:pic>
          </p:grpSp>
        </p:grpSp>
        <p:sp>
          <p:nvSpPr>
            <p:cNvPr id="4" name="任意形状 8">
              <a:extLst>
                <a:ext uri="{FF2B5EF4-FFF2-40B4-BE49-F238E27FC236}">
                  <a16:creationId xmlns:a16="http://schemas.microsoft.com/office/drawing/2014/main" id="{EF2CF83D-6CD7-C8AE-461D-E52F0C87B1A8}"/>
                </a:ext>
              </a:extLst>
            </p:cNvPr>
            <p:cNvSpPr/>
            <p:nvPr/>
          </p:nvSpPr>
          <p:spPr>
            <a:xfrm>
              <a:off x="3489739" y="4763431"/>
              <a:ext cx="3074608" cy="1370502"/>
            </a:xfrm>
            <a:custGeom>
              <a:avLst/>
              <a:gdLst>
                <a:gd name="connsiteX0" fmla="*/ 136184 w 2780464"/>
                <a:gd name="connsiteY0" fmla="*/ 0 h 1689568"/>
                <a:gd name="connsiteX1" fmla="*/ 2644280 w 2780464"/>
                <a:gd name="connsiteY1" fmla="*/ 0 h 1689568"/>
                <a:gd name="connsiteX2" fmla="*/ 2780464 w 2780464"/>
                <a:gd name="connsiteY2" fmla="*/ 1689568 h 1689568"/>
                <a:gd name="connsiteX3" fmla="*/ 0 w 2780464"/>
                <a:gd name="connsiteY3" fmla="*/ 1689568 h 1689568"/>
                <a:gd name="connsiteX4" fmla="*/ 136184 w 2780464"/>
                <a:gd name="connsiteY4" fmla="*/ 0 h 1689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0464" h="1689568">
                  <a:moveTo>
                    <a:pt x="136184" y="0"/>
                  </a:moveTo>
                  <a:lnTo>
                    <a:pt x="2644280" y="0"/>
                  </a:lnTo>
                  <a:lnTo>
                    <a:pt x="2780464" y="1689568"/>
                  </a:lnTo>
                  <a:lnTo>
                    <a:pt x="0" y="1689568"/>
                  </a:lnTo>
                  <a:lnTo>
                    <a:pt x="136184" y="0"/>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Alibaba PuHuiTi" pitchFamily="18" charset="-122"/>
                <a:ea typeface="Alibaba PuHuiTi" pitchFamily="18" charset="-122"/>
                <a:cs typeface="Alibaba PuHuiTi" pitchFamily="18" charset="-122"/>
              </a:endParaRPr>
            </a:p>
          </p:txBody>
        </p:sp>
        <p:sp>
          <p:nvSpPr>
            <p:cNvPr id="10" name="任意形状 25">
              <a:extLst>
                <a:ext uri="{FF2B5EF4-FFF2-40B4-BE49-F238E27FC236}">
                  <a16:creationId xmlns:a16="http://schemas.microsoft.com/office/drawing/2014/main" id="{11B581C9-FCCF-BB9E-4BD6-7DD94C0418EA}"/>
                </a:ext>
              </a:extLst>
            </p:cNvPr>
            <p:cNvSpPr/>
            <p:nvPr/>
          </p:nvSpPr>
          <p:spPr>
            <a:xfrm>
              <a:off x="4570274" y="5091048"/>
              <a:ext cx="733741" cy="661272"/>
            </a:xfrm>
            <a:custGeom>
              <a:avLst/>
              <a:gdLst>
                <a:gd name="connsiteX0" fmla="*/ 830580 w 830579"/>
                <a:gd name="connsiteY0" fmla="*/ 415290 h 830579"/>
                <a:gd name="connsiteX1" fmla="*/ 415290 w 830579"/>
                <a:gd name="connsiteY1" fmla="*/ 830580 h 830579"/>
                <a:gd name="connsiteX2" fmla="*/ 0 w 830579"/>
                <a:gd name="connsiteY2" fmla="*/ 415290 h 830579"/>
                <a:gd name="connsiteX3" fmla="*/ 415290 w 830579"/>
                <a:gd name="connsiteY3" fmla="*/ 0 h 830579"/>
                <a:gd name="connsiteX4" fmla="*/ 830580 w 830579"/>
                <a:gd name="connsiteY4" fmla="*/ 415290 h 830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579" h="830579">
                  <a:moveTo>
                    <a:pt x="830580" y="415290"/>
                  </a:moveTo>
                  <a:cubicBezTo>
                    <a:pt x="830580" y="644648"/>
                    <a:pt x="644648" y="830580"/>
                    <a:pt x="415290" y="830580"/>
                  </a:cubicBezTo>
                  <a:cubicBezTo>
                    <a:pt x="185931" y="830580"/>
                    <a:pt x="0" y="644648"/>
                    <a:pt x="0" y="415290"/>
                  </a:cubicBezTo>
                  <a:cubicBezTo>
                    <a:pt x="0" y="185931"/>
                    <a:pt x="185931" y="0"/>
                    <a:pt x="415290" y="0"/>
                  </a:cubicBezTo>
                  <a:cubicBezTo>
                    <a:pt x="644648" y="0"/>
                    <a:pt x="830580" y="185931"/>
                    <a:pt x="830580" y="415290"/>
                  </a:cubicBezTo>
                  <a:close/>
                </a:path>
              </a:pathLst>
            </a:custGeom>
            <a:solidFill>
              <a:schemeClr val="bg1"/>
            </a:solidFill>
            <a:ln w="12700" cap="flat">
              <a:noFill/>
              <a:prstDash val="solid"/>
              <a:miter/>
            </a:ln>
          </p:spPr>
          <p:txBody>
            <a:bodyPr rtlCol="0" anchor="ctr"/>
            <a:lstStyle/>
            <a:p>
              <a:endParaRPr lang="zh-CN" altLang="en-US">
                <a:latin typeface="Alibaba PuHuiTi" pitchFamily="18" charset="-122"/>
                <a:ea typeface="Alibaba PuHuiTi" pitchFamily="18" charset="-122"/>
                <a:cs typeface="Alibaba PuHuiTi" pitchFamily="18" charset="-122"/>
              </a:endParaRPr>
            </a:p>
          </p:txBody>
        </p:sp>
        <p:pic>
          <p:nvPicPr>
            <p:cNvPr id="14" name="Graphic 13" descr="Atom outline">
              <a:extLst>
                <a:ext uri="{FF2B5EF4-FFF2-40B4-BE49-F238E27FC236}">
                  <a16:creationId xmlns:a16="http://schemas.microsoft.com/office/drawing/2014/main" id="{35397C32-C539-9CF0-398D-00745F2D591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62684" y="3620014"/>
              <a:ext cx="607483" cy="607483"/>
            </a:xfrm>
            <a:prstGeom prst="rect">
              <a:avLst/>
            </a:prstGeom>
          </p:spPr>
        </p:pic>
        <p:pic>
          <p:nvPicPr>
            <p:cNvPr id="17" name="Graphic 16" descr="Bank outline">
              <a:extLst>
                <a:ext uri="{FF2B5EF4-FFF2-40B4-BE49-F238E27FC236}">
                  <a16:creationId xmlns:a16="http://schemas.microsoft.com/office/drawing/2014/main" id="{96EA6A46-397A-2827-C8C5-924E2C630BB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64465" y="5149005"/>
              <a:ext cx="545357" cy="545357"/>
            </a:xfrm>
            <a:prstGeom prst="rect">
              <a:avLst/>
            </a:prstGeom>
          </p:spPr>
        </p:pic>
        <p:sp>
          <p:nvSpPr>
            <p:cNvPr id="24" name="文本框 52">
              <a:extLst>
                <a:ext uri="{FF2B5EF4-FFF2-40B4-BE49-F238E27FC236}">
                  <a16:creationId xmlns:a16="http://schemas.microsoft.com/office/drawing/2014/main" id="{D425832A-5497-1964-C4AC-3E1EB39C29C0}"/>
                </a:ext>
              </a:extLst>
            </p:cNvPr>
            <p:cNvSpPr txBox="1"/>
            <p:nvPr/>
          </p:nvSpPr>
          <p:spPr>
            <a:xfrm>
              <a:off x="1426304" y="4981592"/>
              <a:ext cx="2089164" cy="1077218"/>
            </a:xfrm>
            <a:prstGeom prst="rect">
              <a:avLst/>
            </a:prstGeom>
            <a:noFill/>
          </p:spPr>
          <p:txBody>
            <a:bodyPr wrap="square" rtlCol="0">
              <a:spAutoFit/>
            </a:bodyPr>
            <a:lstStyle/>
            <a:p>
              <a:pPr lvl="0" algn="ctr">
                <a:defRPr/>
              </a:pPr>
              <a:r>
                <a:rPr kumimoji="1" lang="en-US" altLang="zh-CN" sz="3200">
                  <a:solidFill>
                    <a:schemeClr val="accent2">
                      <a:lumMod val="50000"/>
                    </a:schemeClr>
                  </a:solidFill>
                  <a:latin typeface="+mn-ea"/>
                </a:rPr>
                <a:t>Cross-sectional</a:t>
              </a:r>
              <a:endParaRPr kumimoji="1" lang="zh-CN" altLang="en-US" i="0" u="none" strike="noStrike" kern="1200" cap="none" spc="0" normalizeH="0" baseline="0" noProof="0">
                <a:ln>
                  <a:noFill/>
                </a:ln>
                <a:solidFill>
                  <a:schemeClr val="accent2">
                    <a:lumMod val="50000"/>
                  </a:schemeClr>
                </a:solidFill>
                <a:effectLst/>
                <a:uLnTx/>
                <a:uFillTx/>
                <a:latin typeface="+mn-ea"/>
                <a:cs typeface="Alibaba PuHuiTi" pitchFamily="18" charset="-122"/>
              </a:endParaRPr>
            </a:p>
          </p:txBody>
        </p:sp>
        <p:sp>
          <p:nvSpPr>
            <p:cNvPr id="27" name="TextBox 26">
              <a:extLst>
                <a:ext uri="{FF2B5EF4-FFF2-40B4-BE49-F238E27FC236}">
                  <a16:creationId xmlns:a16="http://schemas.microsoft.com/office/drawing/2014/main" id="{3119A331-3FB0-390A-9D2F-44E5DB03BDD6}"/>
                </a:ext>
              </a:extLst>
            </p:cNvPr>
            <p:cNvSpPr txBox="1"/>
            <p:nvPr/>
          </p:nvSpPr>
          <p:spPr bwMode="gray">
            <a:xfrm>
              <a:off x="6965025" y="5138176"/>
              <a:ext cx="4410959" cy="523220"/>
            </a:xfrm>
            <a:prstGeom prst="rect">
              <a:avLst/>
            </a:prstGeom>
            <a:noFill/>
          </p:spPr>
          <p:txBody>
            <a:bodyPr wrap="square">
              <a:spAutoFit/>
            </a:bodyPr>
            <a:lstStyle/>
            <a:p>
              <a:pPr marL="285750" indent="-285750">
                <a:buFont typeface="Arial" panose="020B0604020202020204" pitchFamily="34" charset="0"/>
                <a:buChar char="•"/>
              </a:pPr>
              <a:r>
                <a:rPr lang="en-US" altLang="zh-CN" sz="1400">
                  <a:solidFill>
                    <a:schemeClr val="accent2">
                      <a:lumMod val="50000"/>
                    </a:schemeClr>
                  </a:solidFill>
                  <a:latin typeface="+mn-ea"/>
                  <a:sym typeface="+mn-lt"/>
                </a:rPr>
                <a:t>Patient diagnosed with CKD who visited between Jan 1 2023 – Dec 31, 2025</a:t>
              </a:r>
              <a:endParaRPr lang="zh-CN" altLang="en-US" sz="1400">
                <a:solidFill>
                  <a:schemeClr val="accent2">
                    <a:lumMod val="50000"/>
                  </a:schemeClr>
                </a:solidFill>
                <a:latin typeface="+mn-ea"/>
              </a:endParaRPr>
            </a:p>
          </p:txBody>
        </p:sp>
      </p:grpSp>
      <p:sp>
        <p:nvSpPr>
          <p:cNvPr id="33" name="文本框 39">
            <a:extLst>
              <a:ext uri="{FF2B5EF4-FFF2-40B4-BE49-F238E27FC236}">
                <a16:creationId xmlns:a16="http://schemas.microsoft.com/office/drawing/2014/main" id="{488E76E7-AAD2-E3CA-DACD-CACD64F2BD40}"/>
              </a:ext>
            </a:extLst>
          </p:cNvPr>
          <p:cNvSpPr txBox="1"/>
          <p:nvPr/>
        </p:nvSpPr>
        <p:spPr>
          <a:xfrm>
            <a:off x="3734330" y="5353830"/>
            <a:ext cx="2488237" cy="338554"/>
          </a:xfrm>
          <a:prstGeom prst="rect">
            <a:avLst/>
          </a:prstGeom>
          <a:noFill/>
        </p:spPr>
        <p:txBody>
          <a:bodyPr wrap="square">
            <a:spAutoFit/>
          </a:bodyPr>
          <a:lstStyle/>
          <a:p>
            <a:pPr algn="ctr"/>
            <a:r>
              <a:rPr lang="en-US" altLang="zh-CN" sz="1600" b="1">
                <a:solidFill>
                  <a:schemeClr val="bg1"/>
                </a:solidFill>
                <a:latin typeface="+mn-ea"/>
                <a:cs typeface="Alibaba PuHuiTi" pitchFamily="18" charset="-122"/>
              </a:rPr>
              <a:t>Design</a:t>
            </a:r>
            <a:endParaRPr lang="zh-CN" altLang="en-US" sz="1600" b="1">
              <a:solidFill>
                <a:schemeClr val="bg1"/>
              </a:solidFill>
              <a:latin typeface="+mn-ea"/>
              <a:cs typeface="Alibaba PuHuiTi" pitchFamily="18" charset="-122"/>
            </a:endParaRPr>
          </a:p>
        </p:txBody>
      </p:sp>
    </p:spTree>
    <p:extLst>
      <p:ext uri="{BB962C8B-B14F-4D97-AF65-F5344CB8AC3E}">
        <p14:creationId xmlns:p14="http://schemas.microsoft.com/office/powerpoint/2010/main" val="3246347708"/>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74A44-0398-833B-3A15-9E55FA3E9DE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686C17B-EDE8-766E-33FC-206237F90FAD}"/>
              </a:ext>
            </a:extLst>
          </p:cNvPr>
          <p:cNvSpPr>
            <a:spLocks noGrp="1"/>
          </p:cNvSpPr>
          <p:nvPr>
            <p:ph type="title"/>
          </p:nvPr>
        </p:nvSpPr>
        <p:spPr>
          <a:xfrm>
            <a:off x="412586" y="536260"/>
            <a:ext cx="11233151" cy="720000"/>
          </a:xfrm>
        </p:spPr>
        <p:txBody>
          <a:bodyPr/>
          <a:lstStyle/>
          <a:p>
            <a:r>
              <a:rPr lang="en-US" altLang="zh-CN" sz="2400"/>
              <a:t>Study Design:</a:t>
            </a:r>
            <a:endParaRPr lang="en-US" sz="2400"/>
          </a:p>
        </p:txBody>
      </p:sp>
      <p:sp>
        <p:nvSpPr>
          <p:cNvPr id="7" name="Text Placeholder 6">
            <a:extLst>
              <a:ext uri="{FF2B5EF4-FFF2-40B4-BE49-F238E27FC236}">
                <a16:creationId xmlns:a16="http://schemas.microsoft.com/office/drawing/2014/main" id="{BFA5BD68-96AE-616F-8E19-A50889FEF91A}"/>
              </a:ext>
            </a:extLst>
          </p:cNvPr>
          <p:cNvSpPr>
            <a:spLocks noGrp="1"/>
          </p:cNvSpPr>
          <p:nvPr>
            <p:ph type="body" sz="quarter" idx="13"/>
          </p:nvPr>
        </p:nvSpPr>
        <p:spPr>
          <a:xfrm>
            <a:off x="1820991" y="6534963"/>
            <a:ext cx="9587925" cy="323037"/>
          </a:xfrm>
        </p:spPr>
        <p:txBody>
          <a:bodyPr/>
          <a:lstStyle/>
          <a:p>
            <a:endParaRPr lang="en-US">
              <a:solidFill>
                <a:prstClr val="black"/>
              </a:solidFill>
              <a:latin typeface="BISans"/>
            </a:endParaRPr>
          </a:p>
        </p:txBody>
      </p:sp>
      <p:sp>
        <p:nvSpPr>
          <p:cNvPr id="4" name="TextBox 3">
            <a:extLst>
              <a:ext uri="{FF2B5EF4-FFF2-40B4-BE49-F238E27FC236}">
                <a16:creationId xmlns:a16="http://schemas.microsoft.com/office/drawing/2014/main" id="{000AE0F8-C916-4A8B-8306-E60B858DDAB0}"/>
              </a:ext>
            </a:extLst>
          </p:cNvPr>
          <p:cNvSpPr txBox="1"/>
          <p:nvPr/>
        </p:nvSpPr>
        <p:spPr bwMode="gray">
          <a:xfrm>
            <a:off x="356400" y="1530167"/>
            <a:ext cx="10441689" cy="752963"/>
          </a:xfrm>
          <a:prstGeom prst="rect">
            <a:avLst/>
          </a:prstGeom>
          <a:noFill/>
          <a:ln>
            <a:noFill/>
            <a:prstDash val="lgDashDotDot"/>
          </a:ln>
        </p:spPr>
        <p:txBody>
          <a:bodyPr wrap="square">
            <a:spAutoFit/>
          </a:bodyPr>
          <a:lstStyle/>
          <a:p>
            <a:pPr defTabSz="685682">
              <a:lnSpc>
                <a:spcPct val="140000"/>
              </a:lnSpc>
            </a:pPr>
            <a:r>
              <a:rPr lang="en-US" altLang="zh-CN" sz="1600" b="1">
                <a:solidFill>
                  <a:schemeClr val="bg2"/>
                </a:solidFill>
                <a:latin typeface="Boehringer Headline"/>
              </a:rPr>
              <a:t>C</a:t>
            </a:r>
            <a:r>
              <a:rPr lang="en-US" sz="1400" b="1">
                <a:solidFill>
                  <a:schemeClr val="bg2"/>
                </a:solidFill>
                <a:latin typeface="Boehringer Headline"/>
              </a:rPr>
              <a:t>ross-sectional study</a:t>
            </a:r>
          </a:p>
          <a:p>
            <a:pPr defTabSz="685682">
              <a:lnSpc>
                <a:spcPct val="140000"/>
              </a:lnSpc>
            </a:pPr>
            <a:endParaRPr lang="en-US" sz="1600" b="1">
              <a:solidFill>
                <a:prstClr val="black"/>
              </a:solidFill>
            </a:endParaRPr>
          </a:p>
        </p:txBody>
      </p:sp>
      <p:grpSp>
        <p:nvGrpSpPr>
          <p:cNvPr id="30" name="Group 29">
            <a:extLst>
              <a:ext uri="{FF2B5EF4-FFF2-40B4-BE49-F238E27FC236}">
                <a16:creationId xmlns:a16="http://schemas.microsoft.com/office/drawing/2014/main" id="{506A3E69-D734-7A36-D497-4255FBB513D4}"/>
              </a:ext>
            </a:extLst>
          </p:cNvPr>
          <p:cNvGrpSpPr/>
          <p:nvPr/>
        </p:nvGrpSpPr>
        <p:grpSpPr>
          <a:xfrm>
            <a:off x="553593" y="2318526"/>
            <a:ext cx="11084814" cy="2695721"/>
            <a:chOff x="553593" y="2298862"/>
            <a:chExt cx="11084814" cy="2695721"/>
          </a:xfrm>
        </p:grpSpPr>
        <p:grpSp>
          <p:nvGrpSpPr>
            <p:cNvPr id="3" name="Group 2">
              <a:extLst>
                <a:ext uri="{FF2B5EF4-FFF2-40B4-BE49-F238E27FC236}">
                  <a16:creationId xmlns:a16="http://schemas.microsoft.com/office/drawing/2014/main" id="{8F386C9F-194A-0E2E-739C-B2F57AD182A9}"/>
                </a:ext>
              </a:extLst>
            </p:cNvPr>
            <p:cNvGrpSpPr/>
            <p:nvPr/>
          </p:nvGrpSpPr>
          <p:grpSpPr>
            <a:xfrm>
              <a:off x="553593" y="2298862"/>
              <a:ext cx="11084814" cy="2695721"/>
              <a:chOff x="602829" y="1699587"/>
              <a:chExt cx="10317707" cy="2033516"/>
            </a:xfrm>
          </p:grpSpPr>
          <p:grpSp>
            <p:nvGrpSpPr>
              <p:cNvPr id="5" name="Group 4">
                <a:extLst>
                  <a:ext uri="{FF2B5EF4-FFF2-40B4-BE49-F238E27FC236}">
                    <a16:creationId xmlns:a16="http://schemas.microsoft.com/office/drawing/2014/main" id="{46407273-764D-B5BD-7DB2-28157106C423}"/>
                  </a:ext>
                </a:extLst>
              </p:cNvPr>
              <p:cNvGrpSpPr/>
              <p:nvPr/>
            </p:nvGrpSpPr>
            <p:grpSpPr>
              <a:xfrm>
                <a:off x="602829" y="1699587"/>
                <a:ext cx="10317707" cy="2033516"/>
                <a:chOff x="435031" y="3473821"/>
                <a:chExt cx="10317707" cy="2033516"/>
              </a:xfrm>
            </p:grpSpPr>
            <p:sp>
              <p:nvSpPr>
                <p:cNvPr id="8" name="Rectangle: Rounded Corners 7">
                  <a:extLst>
                    <a:ext uri="{FF2B5EF4-FFF2-40B4-BE49-F238E27FC236}">
                      <a16:creationId xmlns:a16="http://schemas.microsoft.com/office/drawing/2014/main" id="{27F44E2F-4182-CDBC-D7FB-BBF3C9853CE4}"/>
                    </a:ext>
                  </a:extLst>
                </p:cNvPr>
                <p:cNvSpPr/>
                <p:nvPr/>
              </p:nvSpPr>
              <p:spPr bwMode="gray">
                <a:xfrm>
                  <a:off x="435031" y="3473821"/>
                  <a:ext cx="10317707" cy="2033516"/>
                </a:xfrm>
                <a:prstGeom prst="roundRect">
                  <a:avLst>
                    <a:gd name="adj" fmla="val 2349"/>
                  </a:avLst>
                </a:prstGeom>
                <a:solidFill>
                  <a:schemeClr val="accent4">
                    <a:lumMod val="20000"/>
                    <a:lumOff val="8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0" name="TextBox 9">
                  <a:extLst>
                    <a:ext uri="{FF2B5EF4-FFF2-40B4-BE49-F238E27FC236}">
                      <a16:creationId xmlns:a16="http://schemas.microsoft.com/office/drawing/2014/main" id="{DBBBBF7B-4A1B-082B-82AA-5BF44EF2D778}"/>
                    </a:ext>
                  </a:extLst>
                </p:cNvPr>
                <p:cNvSpPr txBox="1"/>
                <p:nvPr/>
              </p:nvSpPr>
              <p:spPr bwMode="gray">
                <a:xfrm>
                  <a:off x="635462" y="3932096"/>
                  <a:ext cx="2105071" cy="1165127"/>
                </a:xfrm>
                <a:prstGeom prst="rect">
                  <a:avLst/>
                </a:prstGeom>
                <a:noFill/>
              </p:spPr>
              <p:txBody>
                <a:bodyPr wrap="square" lIns="0" tIns="0" rIns="0" bIns="0" rtlCol="0">
                  <a:spAutoFit/>
                </a:bodyPr>
                <a:lstStyle/>
                <a:p>
                  <a:pPr marL="171450" indent="-171450">
                    <a:lnSpc>
                      <a:spcPct val="140000"/>
                    </a:lnSpc>
                    <a:buFont typeface="Wingdings" panose="05000000000000000000" pitchFamily="2" charset="2"/>
                    <a:buChar char="Ø"/>
                  </a:pPr>
                  <a:r>
                    <a:rPr lang="en-US" altLang="zh-CN" sz="1100" b="1" u="sng"/>
                    <a:t>Inclusion criteria: </a:t>
                  </a:r>
                </a:p>
                <a:p>
                  <a:pPr>
                    <a:lnSpc>
                      <a:spcPct val="140000"/>
                    </a:lnSpc>
                  </a:pPr>
                  <a:r>
                    <a:rPr lang="en-US" altLang="zh-CN" sz="1100"/>
                    <a:t>Adult CKD patients</a:t>
                  </a:r>
                </a:p>
                <a:p>
                  <a:pPr marL="171450" indent="-171450">
                    <a:lnSpc>
                      <a:spcPct val="140000"/>
                    </a:lnSpc>
                    <a:buFont typeface="Wingdings" panose="05000000000000000000" pitchFamily="2" charset="2"/>
                    <a:buChar char="Ø"/>
                  </a:pPr>
                  <a:r>
                    <a:rPr lang="en-US" altLang="zh-CN" sz="1100" b="1" u="sng"/>
                    <a:t>Exclusion criteria: </a:t>
                  </a:r>
                </a:p>
                <a:p>
                  <a:pPr>
                    <a:lnSpc>
                      <a:spcPct val="140000"/>
                    </a:lnSpc>
                  </a:pPr>
                  <a:r>
                    <a:rPr lang="en-US" altLang="zh-CN" sz="1100"/>
                    <a:t>T1D, polycystic kidney disease,</a:t>
                  </a:r>
                </a:p>
                <a:p>
                  <a:pPr>
                    <a:lnSpc>
                      <a:spcPct val="140000"/>
                    </a:lnSpc>
                  </a:pPr>
                  <a:r>
                    <a:rPr lang="en-US" altLang="zh-CN" sz="1100"/>
                    <a:t>history of kidney transplantation; </a:t>
                  </a:r>
                </a:p>
              </p:txBody>
            </p:sp>
          </p:grpSp>
          <p:cxnSp>
            <p:nvCxnSpPr>
              <p:cNvPr id="21" name="直接连接符 8">
                <a:extLst>
                  <a:ext uri="{FF2B5EF4-FFF2-40B4-BE49-F238E27FC236}">
                    <a16:creationId xmlns:a16="http://schemas.microsoft.com/office/drawing/2014/main" id="{150F474A-AAC6-19F1-D592-00EF5A8CAF25}"/>
                  </a:ext>
                </a:extLst>
              </p:cNvPr>
              <p:cNvCxnSpPr>
                <a:cxnSpLocks/>
              </p:cNvCxnSpPr>
              <p:nvPr/>
            </p:nvCxnSpPr>
            <p:spPr>
              <a:xfrm>
                <a:off x="4799256" y="1974693"/>
                <a:ext cx="0" cy="738271"/>
              </a:xfrm>
              <a:prstGeom prst="line">
                <a:avLst/>
              </a:prstGeom>
              <a:ln w="28575">
                <a:prstDash val="sysDot"/>
              </a:ln>
            </p:spPr>
            <p:style>
              <a:lnRef idx="3">
                <a:schemeClr val="accent2"/>
              </a:lnRef>
              <a:fillRef idx="0">
                <a:schemeClr val="accent2"/>
              </a:fillRef>
              <a:effectRef idx="2">
                <a:schemeClr val="accent2"/>
              </a:effectRef>
              <a:fontRef idx="minor">
                <a:schemeClr val="tx1"/>
              </a:fontRef>
            </p:style>
          </p:cxnSp>
          <p:sp>
            <p:nvSpPr>
              <p:cNvPr id="23" name="文本框 11">
                <a:extLst>
                  <a:ext uri="{FF2B5EF4-FFF2-40B4-BE49-F238E27FC236}">
                    <a16:creationId xmlns:a16="http://schemas.microsoft.com/office/drawing/2014/main" id="{0ED7AED2-CEF5-0A4F-6497-052CD3D75258}"/>
                  </a:ext>
                </a:extLst>
              </p:cNvPr>
              <p:cNvSpPr txBox="1"/>
              <p:nvPr/>
            </p:nvSpPr>
            <p:spPr>
              <a:xfrm>
                <a:off x="5570240" y="3078201"/>
                <a:ext cx="3215070" cy="25538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i="0" u="none" strike="noStrike" kern="1200" cap="none" spc="0" normalizeH="0" baseline="0" noProof="0">
                    <a:ln>
                      <a:noFill/>
                    </a:ln>
                    <a:solidFill>
                      <a:prstClr val="black"/>
                    </a:solidFill>
                    <a:effectLst/>
                    <a:uLnTx/>
                    <a:uFillTx/>
                    <a:latin typeface="Boehringer Forward Text"/>
                    <a:ea typeface="+mn-ea"/>
                    <a:cs typeface="+mn-cs"/>
                  </a:rPr>
                  <a:t>Patient identification:</a:t>
                </a:r>
              </a:p>
              <a:p>
                <a:pPr lvl="0" algn="ctr">
                  <a:defRPr/>
                </a:pPr>
                <a:r>
                  <a:rPr lang="en-US" altLang="zh-CN" sz="1100"/>
                  <a:t>Jan 1</a:t>
                </a:r>
                <a:r>
                  <a:rPr lang="en-US" altLang="zh-CN" sz="1100" baseline="30000"/>
                  <a:t>st</a:t>
                </a:r>
                <a:r>
                  <a:rPr lang="en-US" altLang="zh-CN" sz="1100"/>
                  <a:t>, </a:t>
                </a:r>
                <a:r>
                  <a:rPr lang="en-US" altLang="zh-CN" sz="1100" b="1"/>
                  <a:t>2024</a:t>
                </a:r>
                <a:r>
                  <a:rPr lang="en-US" altLang="zh-CN" sz="1100"/>
                  <a:t> </a:t>
                </a:r>
                <a:r>
                  <a:rPr kumimoji="0" lang="en-US" altLang="zh-CN" sz="1100" i="0" u="none" strike="noStrike" kern="1200" cap="none" spc="0" normalizeH="0" baseline="0" noProof="0">
                    <a:ln>
                      <a:noFill/>
                    </a:ln>
                    <a:effectLst/>
                    <a:uLnTx/>
                    <a:uFillTx/>
                    <a:latin typeface="Boehringer Forward Text"/>
                    <a:ea typeface="+mn-ea"/>
                    <a:cs typeface="+mn-cs"/>
                  </a:rPr>
                  <a:t>- Dec 31</a:t>
                </a:r>
                <a:r>
                  <a:rPr lang="en-US" altLang="zh-CN" sz="1100" baseline="30000" err="1"/>
                  <a:t>th</a:t>
                </a:r>
                <a:r>
                  <a:rPr lang="en-US" altLang="zh-CN" sz="1100">
                    <a:latin typeface="Boehringer Forward Text"/>
                  </a:rPr>
                  <a:t>,</a:t>
                </a:r>
                <a:r>
                  <a:rPr kumimoji="0" lang="en-US" altLang="zh-CN" sz="1100" i="0" u="none" strike="noStrike" kern="1200" cap="none" spc="0" normalizeH="0" baseline="0" noProof="0">
                    <a:ln>
                      <a:noFill/>
                    </a:ln>
                    <a:effectLst/>
                    <a:uLnTx/>
                    <a:uFillTx/>
                    <a:latin typeface="Boehringer Forward Text"/>
                    <a:ea typeface="+mn-ea"/>
                    <a:cs typeface="+mn-cs"/>
                  </a:rPr>
                  <a:t> </a:t>
                </a:r>
                <a:r>
                  <a:rPr kumimoji="0" lang="en-US" altLang="zh-CN" sz="1100" b="1" i="0" u="none" strike="noStrike" kern="1200" cap="none" spc="0" normalizeH="0" baseline="0" noProof="0">
                    <a:ln>
                      <a:noFill/>
                    </a:ln>
                    <a:effectLst/>
                    <a:uLnTx/>
                    <a:uFillTx/>
                    <a:latin typeface="Boehringer Forward Text"/>
                    <a:ea typeface="+mn-ea"/>
                    <a:cs typeface="+mn-cs"/>
                  </a:rPr>
                  <a:t>202</a:t>
                </a:r>
                <a:r>
                  <a:rPr lang="en-US" altLang="zh-CN" sz="1100" b="1">
                    <a:latin typeface="Boehringer Forward Text"/>
                  </a:rPr>
                  <a:t>5</a:t>
                </a:r>
                <a:endParaRPr kumimoji="0" lang="zh-CN" altLang="en-US" sz="1100" b="1" i="0" u="none" strike="noStrike" kern="1200" cap="none" spc="0" normalizeH="0" baseline="0" noProof="0">
                  <a:ln>
                    <a:noFill/>
                  </a:ln>
                  <a:effectLst/>
                  <a:uLnTx/>
                  <a:uFillTx/>
                  <a:latin typeface="Boehringer Forward Text"/>
                  <a:ea typeface="+mn-ea"/>
                  <a:cs typeface="+mn-cs"/>
                </a:endParaRPr>
              </a:p>
            </p:txBody>
          </p:sp>
          <p:sp>
            <p:nvSpPr>
              <p:cNvPr id="24" name="左大括号 6">
                <a:extLst>
                  <a:ext uri="{FF2B5EF4-FFF2-40B4-BE49-F238E27FC236}">
                    <a16:creationId xmlns:a16="http://schemas.microsoft.com/office/drawing/2014/main" id="{6C74090F-953C-1C16-C610-B8F145CF470B}"/>
                  </a:ext>
                </a:extLst>
              </p:cNvPr>
              <p:cNvSpPr/>
              <p:nvPr/>
            </p:nvSpPr>
            <p:spPr>
              <a:xfrm rot="16200000">
                <a:off x="7153601" y="68165"/>
                <a:ext cx="93557" cy="5749967"/>
              </a:xfrm>
              <a:prstGeom prst="lef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7" name="TextBox 26">
                <a:extLst>
                  <a:ext uri="{FF2B5EF4-FFF2-40B4-BE49-F238E27FC236}">
                    <a16:creationId xmlns:a16="http://schemas.microsoft.com/office/drawing/2014/main" id="{EE60D0DF-7EF7-7C22-66EA-E4E35F6788E8}"/>
                  </a:ext>
                </a:extLst>
              </p:cNvPr>
              <p:cNvSpPr txBox="1"/>
              <p:nvPr/>
            </p:nvSpPr>
            <p:spPr bwMode="gray">
              <a:xfrm>
                <a:off x="3198208" y="1808797"/>
                <a:ext cx="7632333" cy="169277"/>
              </a:xfrm>
              <a:prstGeom prst="rect">
                <a:avLst/>
              </a:prstGeom>
              <a:noFill/>
              <a:ln>
                <a:noFill/>
              </a:ln>
            </p:spPr>
            <p:txBody>
              <a:bodyPr wrap="square" lIns="0" tIns="0" rIns="0" bIns="0" rtlCol="0" anchor="t">
                <a:sp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latin typeface="Boehringer Forward Text"/>
                  </a:defRPr>
                </a:lvl1pPr>
              </a:lstStyle>
              <a:p>
                <a:r>
                  <a:rPr lang="en-US" altLang="zh-CN"/>
                  <a:t>Index date:  the last relevant prescription of inpatient group or at least two same prescriptions of outpatient group </a:t>
                </a:r>
                <a:endParaRPr lang="zh-CN" altLang="en-US"/>
              </a:p>
            </p:txBody>
          </p:sp>
        </p:grpSp>
        <p:sp>
          <p:nvSpPr>
            <p:cNvPr id="34" name="TextBox 33">
              <a:extLst>
                <a:ext uri="{FF2B5EF4-FFF2-40B4-BE49-F238E27FC236}">
                  <a16:creationId xmlns:a16="http://schemas.microsoft.com/office/drawing/2014/main" id="{D5CCFA38-1E77-089A-BD0B-A7EB8D2197BC}"/>
                </a:ext>
              </a:extLst>
            </p:cNvPr>
            <p:cNvSpPr txBox="1"/>
            <p:nvPr/>
          </p:nvSpPr>
          <p:spPr bwMode="gray">
            <a:xfrm>
              <a:off x="3009126" y="2794013"/>
              <a:ext cx="1100656" cy="371577"/>
            </a:xfrm>
            <a:prstGeom prst="rect">
              <a:avLst/>
            </a:prstGeom>
            <a:noFill/>
          </p:spPr>
          <p:txBody>
            <a:bodyPr wrap="square" lIns="0" tIns="0" rIns="0" bIns="0" rtlCol="0">
              <a:spAutoFit/>
            </a:bodyPr>
            <a:lstStyle/>
            <a:p>
              <a:pPr algn="ctr">
                <a:lnSpc>
                  <a:spcPct val="140000"/>
                </a:lnSpc>
              </a:pPr>
              <a:r>
                <a:rPr lang="en-US" altLang="zh-CN" sz="900" b="1"/>
                <a:t>Aug. 2023 </a:t>
              </a:r>
            </a:p>
            <a:p>
              <a:pPr algn="ctr">
                <a:lnSpc>
                  <a:spcPct val="140000"/>
                </a:lnSpc>
              </a:pPr>
              <a:r>
                <a:rPr lang="en-US" altLang="zh-CN" sz="900"/>
                <a:t>Chinese guideline </a:t>
              </a:r>
              <a:endParaRPr lang="zh-CN" altLang="en-US" sz="900"/>
            </a:p>
          </p:txBody>
        </p:sp>
        <p:cxnSp>
          <p:nvCxnSpPr>
            <p:cNvPr id="36" name="Straight Arrow Connector 35">
              <a:extLst>
                <a:ext uri="{FF2B5EF4-FFF2-40B4-BE49-F238E27FC236}">
                  <a16:creationId xmlns:a16="http://schemas.microsoft.com/office/drawing/2014/main" id="{4AD26188-209A-0A69-CDE5-F16290A0D09E}"/>
                </a:ext>
              </a:extLst>
            </p:cNvPr>
            <p:cNvCxnSpPr>
              <a:cxnSpLocks/>
            </p:cNvCxnSpPr>
            <p:nvPr/>
          </p:nvCxnSpPr>
          <p:spPr bwMode="gray">
            <a:xfrm flipV="1">
              <a:off x="3553767" y="3217909"/>
              <a:ext cx="0" cy="296523"/>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 name="Straight Arrow Connector 35">
              <a:extLst>
                <a:ext uri="{FF2B5EF4-FFF2-40B4-BE49-F238E27FC236}">
                  <a16:creationId xmlns:a16="http://schemas.microsoft.com/office/drawing/2014/main" id="{132940EC-9944-B5F9-3BEC-2D6EAE71B802}"/>
                </a:ext>
              </a:extLst>
            </p:cNvPr>
            <p:cNvCxnSpPr>
              <a:cxnSpLocks/>
            </p:cNvCxnSpPr>
            <p:nvPr/>
          </p:nvCxnSpPr>
          <p:spPr bwMode="gray">
            <a:xfrm flipV="1">
              <a:off x="10706113" y="3217911"/>
              <a:ext cx="0" cy="296523"/>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33">
              <a:extLst>
                <a:ext uri="{FF2B5EF4-FFF2-40B4-BE49-F238E27FC236}">
                  <a16:creationId xmlns:a16="http://schemas.microsoft.com/office/drawing/2014/main" id="{83588356-4C31-D7F4-1098-3531A779385E}"/>
                </a:ext>
              </a:extLst>
            </p:cNvPr>
            <p:cNvSpPr txBox="1"/>
            <p:nvPr/>
          </p:nvSpPr>
          <p:spPr bwMode="gray">
            <a:xfrm>
              <a:off x="10562254" y="3014144"/>
              <a:ext cx="593227" cy="177678"/>
            </a:xfrm>
            <a:prstGeom prst="rect">
              <a:avLst/>
            </a:prstGeom>
            <a:noFill/>
          </p:spPr>
          <p:txBody>
            <a:bodyPr wrap="square" lIns="0" tIns="0" rIns="0" bIns="0" rtlCol="0" anchor="t">
              <a:spAutoFit/>
            </a:bodyPr>
            <a:lstStyle/>
            <a:p>
              <a:pPr algn="l">
                <a:lnSpc>
                  <a:spcPct val="140000"/>
                </a:lnSpc>
              </a:pPr>
              <a:r>
                <a:rPr lang="en-US" altLang="zh-CN" sz="900"/>
                <a:t>2026</a:t>
              </a:r>
              <a:endParaRPr lang="zh-CN" altLang="en-US" sz="900"/>
            </a:p>
          </p:txBody>
        </p:sp>
        <p:sp>
          <p:nvSpPr>
            <p:cNvPr id="12" name="TextBox 11">
              <a:extLst>
                <a:ext uri="{FF2B5EF4-FFF2-40B4-BE49-F238E27FC236}">
                  <a16:creationId xmlns:a16="http://schemas.microsoft.com/office/drawing/2014/main" id="{A53F95A5-EF48-48EF-5E6A-FD3FE2B9DD4D}"/>
                </a:ext>
              </a:extLst>
            </p:cNvPr>
            <p:cNvSpPr txBox="1"/>
            <p:nvPr/>
          </p:nvSpPr>
          <p:spPr bwMode="gray">
            <a:xfrm>
              <a:off x="3451914" y="4068418"/>
              <a:ext cx="1182058" cy="565476"/>
            </a:xfrm>
            <a:prstGeom prst="rect">
              <a:avLst/>
            </a:prstGeom>
            <a:noFill/>
          </p:spPr>
          <p:txBody>
            <a:bodyPr wrap="square" lIns="0" tIns="0" rIns="0" bIns="0" rtlCol="0">
              <a:spAutoFit/>
            </a:bodyPr>
            <a:lstStyle/>
            <a:p>
              <a:pPr algn="ctr">
                <a:lnSpc>
                  <a:spcPct val="140000"/>
                </a:lnSpc>
              </a:pPr>
              <a:r>
                <a:rPr lang="en-US" altLang="zh-CN" sz="900" b="1"/>
                <a:t>Nov. 2023</a:t>
              </a:r>
            </a:p>
            <a:p>
              <a:pPr algn="ctr">
                <a:lnSpc>
                  <a:spcPct val="140000"/>
                </a:lnSpc>
              </a:pPr>
              <a:r>
                <a:rPr lang="en-US" altLang="zh-CN" sz="900"/>
                <a:t>Jardiance approval for CKD</a:t>
              </a:r>
              <a:endParaRPr lang="zh-CN" altLang="en-US" sz="900"/>
            </a:p>
          </p:txBody>
        </p:sp>
        <p:cxnSp>
          <p:nvCxnSpPr>
            <p:cNvPr id="13" name="Straight Arrow Connector 12">
              <a:extLst>
                <a:ext uri="{FF2B5EF4-FFF2-40B4-BE49-F238E27FC236}">
                  <a16:creationId xmlns:a16="http://schemas.microsoft.com/office/drawing/2014/main" id="{3C8C675D-542E-916F-6975-5FCE19D2A711}"/>
                </a:ext>
              </a:extLst>
            </p:cNvPr>
            <p:cNvCxnSpPr>
              <a:cxnSpLocks/>
            </p:cNvCxnSpPr>
            <p:nvPr/>
          </p:nvCxnSpPr>
          <p:spPr bwMode="gray">
            <a:xfrm>
              <a:off x="4054740" y="3436107"/>
              <a:ext cx="0" cy="61546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Arrow: Right 27">
              <a:extLst>
                <a:ext uri="{FF2B5EF4-FFF2-40B4-BE49-F238E27FC236}">
                  <a16:creationId xmlns:a16="http://schemas.microsoft.com/office/drawing/2014/main" id="{58477C5D-4BC0-E79D-0568-EA97422BA13D}"/>
                </a:ext>
              </a:extLst>
            </p:cNvPr>
            <p:cNvSpPr/>
            <p:nvPr/>
          </p:nvSpPr>
          <p:spPr bwMode="gray">
            <a:xfrm>
              <a:off x="2811122" y="3348106"/>
              <a:ext cx="7919274" cy="391675"/>
            </a:xfrm>
            <a:prstGeom prst="rightArrow">
              <a:avLst/>
            </a:prstGeom>
            <a:solidFill>
              <a:schemeClr val="accent2">
                <a:lumMod val="20000"/>
                <a:lumOff val="8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9" name="箭头: 右 7">
              <a:extLst>
                <a:ext uri="{FF2B5EF4-FFF2-40B4-BE49-F238E27FC236}">
                  <a16:creationId xmlns:a16="http://schemas.microsoft.com/office/drawing/2014/main" id="{6F7CE377-B7AF-1D9A-239D-CFF393C0693D}"/>
                </a:ext>
              </a:extLst>
            </p:cNvPr>
            <p:cNvSpPr/>
            <p:nvPr/>
          </p:nvSpPr>
          <p:spPr>
            <a:xfrm>
              <a:off x="4528644" y="3346911"/>
              <a:ext cx="6201752" cy="408004"/>
            </a:xfrm>
            <a:prstGeom prst="rightArrow">
              <a:avLst>
                <a:gd name="adj1" fmla="val 50000"/>
                <a:gd name="adj2" fmla="val 0"/>
              </a:avLst>
            </a:prstGeom>
            <a:solidFill>
              <a:schemeClr val="accent1">
                <a:lumMod val="90000"/>
                <a:lumOff val="10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Boehringer Forward Text"/>
                <a:ea typeface="+mn-ea"/>
                <a:cs typeface="+mn-cs"/>
              </a:endParaRPr>
            </a:p>
          </p:txBody>
        </p:sp>
      </p:grpSp>
    </p:spTree>
    <p:extLst>
      <p:ext uri="{BB962C8B-B14F-4D97-AF65-F5344CB8AC3E}">
        <p14:creationId xmlns:p14="http://schemas.microsoft.com/office/powerpoint/2010/main" val="2490194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27593-8280-107C-641D-AEBF41CA9C71}"/>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26F2D556-75BD-B0B2-64AE-03526E33B00A}"/>
              </a:ext>
            </a:extLst>
          </p:cNvPr>
          <p:cNvSpPr txBox="1">
            <a:spLocks/>
          </p:cNvSpPr>
          <p:nvPr/>
        </p:nvSpPr>
        <p:spPr bwMode="gray">
          <a:xfrm>
            <a:off x="262058" y="259175"/>
            <a:ext cx="11233151" cy="72000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a:t>Study Outcomes</a:t>
            </a: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7860827F-F130-3FEF-45B3-FF78FA7ADDDE}"/>
                  </a:ext>
                </a:extLst>
              </p:cNvPr>
              <p:cNvGraphicFramePr>
                <a:graphicFrameLocks noGrp="1"/>
              </p:cNvGraphicFramePr>
              <p:nvPr>
                <p:extLst>
                  <p:ext uri="{D42A27DB-BD31-4B8C-83A1-F6EECF244321}">
                    <p14:modId xmlns:p14="http://schemas.microsoft.com/office/powerpoint/2010/main" val="64257824"/>
                  </p:ext>
                </p:extLst>
              </p:nvPr>
            </p:nvGraphicFramePr>
            <p:xfrm>
              <a:off x="302959" y="1200482"/>
              <a:ext cx="11061702" cy="4376249"/>
            </p:xfrm>
            <a:graphic>
              <a:graphicData uri="http://schemas.openxmlformats.org/drawingml/2006/table">
                <a:tbl>
                  <a:tblPr firstRow="1" firstCol="1">
                    <a:tableStyleId>{B301B821-A1FF-4177-AEE7-76D212191A09}</a:tableStyleId>
                  </a:tblPr>
                  <a:tblGrid>
                    <a:gridCol w="1789241">
                      <a:extLst>
                        <a:ext uri="{9D8B030D-6E8A-4147-A177-3AD203B41FA5}">
                          <a16:colId xmlns:a16="http://schemas.microsoft.com/office/drawing/2014/main" val="2093087952"/>
                        </a:ext>
                      </a:extLst>
                    </a:gridCol>
                    <a:gridCol w="3128605">
                      <a:extLst>
                        <a:ext uri="{9D8B030D-6E8A-4147-A177-3AD203B41FA5}">
                          <a16:colId xmlns:a16="http://schemas.microsoft.com/office/drawing/2014/main" val="3949654163"/>
                        </a:ext>
                      </a:extLst>
                    </a:gridCol>
                    <a:gridCol w="6143856">
                      <a:extLst>
                        <a:ext uri="{9D8B030D-6E8A-4147-A177-3AD203B41FA5}">
                          <a16:colId xmlns:a16="http://schemas.microsoft.com/office/drawing/2014/main" val="594323563"/>
                        </a:ext>
                      </a:extLst>
                    </a:gridCol>
                  </a:tblGrid>
                  <a:tr h="276167">
                    <a:tc>
                      <a:txBody>
                        <a:bodyPr/>
                        <a:lstStyle/>
                        <a:p>
                          <a:pPr algn="l" fontAlgn="ctr">
                            <a:buNone/>
                          </a:pPr>
                          <a:endParaRPr lang="en-US" sz="1200" u="none" strike="noStrike">
                            <a:effectLst/>
                          </a:endParaRPr>
                        </a:p>
                      </a:txBody>
                      <a:tcPr marL="108000"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1200" b="1" u="none" strike="noStrike" kern="1200">
                              <a:solidFill>
                                <a:schemeClr val="lt1"/>
                              </a:solidFill>
                              <a:effectLst/>
                              <a:latin typeface="+mn-lt"/>
                              <a:ea typeface="+mn-ea"/>
                              <a:cs typeface="+mn-cs"/>
                            </a:rPr>
                            <a:t>Objectives</a:t>
                          </a:r>
                          <a:endParaRPr lang="en-US" sz="1200" b="1" u="none" strike="noStrike" kern="1200">
                            <a:solidFill>
                              <a:schemeClr val="lt1"/>
                            </a:solidFill>
                            <a:effectLst/>
                            <a:latin typeface="+mn-lt"/>
                            <a:ea typeface="+mn-ea"/>
                            <a:cs typeface="+mn-cs"/>
                          </a:endParaRPr>
                        </a:p>
                      </a:txBody>
                      <a:tcPr marL="108000" marR="9525" marT="9525" marB="0" anchor="ctr">
                        <a:solidFill>
                          <a:schemeClr val="bg2"/>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u="none" strike="noStrike" kern="1200">
                              <a:solidFill>
                                <a:schemeClr val="lt1"/>
                              </a:solidFill>
                              <a:effectLst/>
                              <a:latin typeface="+mn-lt"/>
                              <a:ea typeface="+mn-ea"/>
                              <a:cs typeface="+mn-cs"/>
                            </a:rPr>
                            <a:t>Outcomes</a:t>
                          </a:r>
                        </a:p>
                      </a:txBody>
                      <a:tcPr marL="108000" marR="9525" marT="9525" marB="0" anchor="ctr">
                        <a:solidFill>
                          <a:schemeClr val="bg2"/>
                        </a:solidFill>
                      </a:tcPr>
                    </a:tc>
                    <a:extLst>
                      <a:ext uri="{0D108BD9-81ED-4DB2-BD59-A6C34878D82A}">
                        <a16:rowId xmlns:a16="http://schemas.microsoft.com/office/drawing/2014/main" val="1429639543"/>
                      </a:ext>
                    </a:extLst>
                  </a:tr>
                  <a:tr h="667272">
                    <a:tc>
                      <a:txBody>
                        <a:bodyPr/>
                        <a:lstStyle/>
                        <a:p>
                          <a:pPr algn="l" fontAlgn="ctr">
                            <a:buNone/>
                          </a:pPr>
                          <a:r>
                            <a:rPr lang="en-US" sz="1200" b="1" u="none" strike="noStrike" kern="1200">
                              <a:solidFill>
                                <a:schemeClr val="dk1"/>
                              </a:solidFill>
                              <a:effectLst/>
                              <a:latin typeface="+mn-lt"/>
                              <a:ea typeface="+mn-ea"/>
                              <a:cs typeface="+mn-cs"/>
                            </a:rPr>
                            <a:t>Primary outcome</a:t>
                          </a:r>
                        </a:p>
                      </a:txBody>
                      <a:tcPr marL="108000"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 typeface="Wingdings" panose="05000000000000000000" pitchFamily="2" charset="2"/>
                            <a:buNone/>
                            <a:tabLst/>
                            <a:defRPr/>
                          </a:pPr>
                          <a:r>
                            <a:rPr lang="en-US" altLang="zh-CN" sz="1400" b="1" i="0" u="none" strike="noStrike" kern="1200">
                              <a:solidFill>
                                <a:srgbClr val="000000"/>
                              </a:solidFill>
                              <a:effectLst/>
                              <a:latin typeface="Aptos Narrow" panose="020B0004020202020204" pitchFamily="34" charset="0"/>
                              <a:ea typeface="+mn-ea"/>
                              <a:cs typeface="+mn-cs"/>
                            </a:rPr>
                            <a:t>Rate of SGLT2i use</a:t>
                          </a:r>
                        </a:p>
                      </a:txBody>
                      <a:tcPr marL="108000" marR="9525" marT="9525" marB="0" anchor="c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1400" b="1" i="0" u="none" strike="noStrike" kern="1200">
                              <a:solidFill>
                                <a:srgbClr val="000000"/>
                              </a:solidFill>
                              <a:effectLst/>
                              <a:latin typeface="Aptos Narrow" panose="020B0004020202020204" pitchFamily="34" charset="0"/>
                              <a:ea typeface="+mn-ea"/>
                              <a:cs typeface="+mn-cs"/>
                            </a:rPr>
                            <a:t>Proportion: </a:t>
                          </a:r>
                          <a14:m>
                            <m:oMath xmlns:m="http://schemas.openxmlformats.org/officeDocument/2006/math">
                              <m:f>
                                <m:fPr>
                                  <m:ctrlPr>
                                    <a:rPr lang="en-US" altLang="zh-CN" sz="1000" b="0" i="1" kern="1200" smtClean="0">
                                      <a:solidFill>
                                        <a:schemeClr val="dk1"/>
                                      </a:solidFill>
                                      <a:latin typeface="Cambria Math" panose="02040503050406030204" pitchFamily="18" charset="0"/>
                                      <a:ea typeface="+mn-ea"/>
                                      <a:cs typeface="+mn-cs"/>
                                    </a:rPr>
                                  </m:ctrlPr>
                                </m:fPr>
                                <m:num>
                                  <m:r>
                                    <m:rPr>
                                      <m:nor/>
                                    </m:rPr>
                                    <a:rPr lang="en-US" altLang="zh-CN" sz="1000" b="0" i="1" kern="1200" smtClean="0">
                                      <a:solidFill>
                                        <a:schemeClr val="dk1"/>
                                      </a:solidFill>
                                      <a:latin typeface="Cambria Math" panose="02040503050406030204" pitchFamily="18" charset="0"/>
                                      <a:ea typeface="+mn-ea"/>
                                      <a:cs typeface="+mn-cs"/>
                                    </a:rPr>
                                    <m:t>N</m:t>
                                  </m:r>
                                  <m:r>
                                    <m:rPr>
                                      <m:nor/>
                                    </m:rPr>
                                    <a:rPr lang="en-US" altLang="zh-CN" sz="1000" b="0" i="1" kern="1200" dirty="0" smtClean="0">
                                      <a:solidFill>
                                        <a:schemeClr val="dk1"/>
                                      </a:solidFill>
                                      <a:latin typeface="Cambria Math" panose="02040503050406030204" pitchFamily="18" charset="0"/>
                                      <a:ea typeface="+mn-ea"/>
                                      <a:cs typeface="+mn-cs"/>
                                      <a:sym typeface="Helvetica Neue"/>
                                    </a:rPr>
                                    <m:t>umber</m:t>
                                  </m:r>
                                  <m:r>
                                    <m:rPr>
                                      <m:nor/>
                                    </m:rPr>
                                    <a:rPr lang="en-US" altLang="zh-CN" sz="1000" b="0" i="1" kern="1200" dirty="0" smtClean="0">
                                      <a:solidFill>
                                        <a:schemeClr val="dk1"/>
                                      </a:solidFill>
                                      <a:latin typeface="Cambria Math" panose="02040503050406030204" pitchFamily="18" charset="0"/>
                                      <a:ea typeface="+mn-ea"/>
                                      <a:cs typeface="+mn-cs"/>
                                      <a:sym typeface="Helvetica Neue"/>
                                    </a:rPr>
                                    <m:t> </m:t>
                                  </m:r>
                                  <m:r>
                                    <m:rPr>
                                      <m:nor/>
                                    </m:rPr>
                                    <a:rPr lang="en-US" altLang="zh-CN" sz="1000" b="0" i="1" kern="1200" dirty="0" smtClean="0">
                                      <a:solidFill>
                                        <a:schemeClr val="dk1"/>
                                      </a:solidFill>
                                      <a:latin typeface="Cambria Math" panose="02040503050406030204" pitchFamily="18" charset="0"/>
                                      <a:ea typeface="+mn-ea"/>
                                      <a:cs typeface="+mn-cs"/>
                                      <a:sym typeface="Helvetica Neue"/>
                                    </a:rPr>
                                    <m:t>of</m:t>
                                  </m:r>
                                  <m:r>
                                    <m:rPr>
                                      <m:nor/>
                                    </m:rPr>
                                    <a:rPr lang="en-US" altLang="zh-CN" sz="1000" b="0" i="1" kern="1200" dirty="0" smtClean="0">
                                      <a:solidFill>
                                        <a:schemeClr val="dk1"/>
                                      </a:solidFill>
                                      <a:latin typeface="Cambria Math" panose="02040503050406030204" pitchFamily="18" charset="0"/>
                                      <a:ea typeface="+mn-ea"/>
                                      <a:cs typeface="+mn-cs"/>
                                      <a:sym typeface="Helvetica Neue"/>
                                    </a:rPr>
                                    <m:t> </m:t>
                                  </m:r>
                                  <m:r>
                                    <m:rPr>
                                      <m:nor/>
                                    </m:rPr>
                                    <a:rPr lang="en-US" altLang="zh-CN" sz="1000" b="0" i="1" kern="1200" dirty="0" smtClean="0">
                                      <a:solidFill>
                                        <a:schemeClr val="dk1"/>
                                      </a:solidFill>
                                      <a:latin typeface="Cambria Math" panose="02040503050406030204" pitchFamily="18" charset="0"/>
                                      <a:ea typeface="+mn-ea"/>
                                      <a:cs typeface="+mn-cs"/>
                                      <a:sym typeface="Helvetica Neue"/>
                                    </a:rPr>
                                    <m:t>patients</m:t>
                                  </m:r>
                                  <m:r>
                                    <m:rPr>
                                      <m:nor/>
                                    </m:rPr>
                                    <a:rPr lang="en-US" altLang="zh-CN" sz="1000" b="0" i="1" kern="1200" dirty="0" smtClean="0">
                                      <a:solidFill>
                                        <a:schemeClr val="dk1"/>
                                      </a:solidFill>
                                      <a:latin typeface="Cambria Math" panose="02040503050406030204" pitchFamily="18" charset="0"/>
                                      <a:ea typeface="+mn-ea"/>
                                      <a:cs typeface="+mn-cs"/>
                                      <a:sym typeface="Helvetica Neue"/>
                                    </a:rPr>
                                    <m:t> </m:t>
                                  </m:r>
                                  <m:r>
                                    <m:rPr>
                                      <m:nor/>
                                    </m:rPr>
                                    <a:rPr lang="en-US" altLang="zh-CN" sz="1000" b="0" i="1" kern="1200" dirty="0" smtClean="0">
                                      <a:solidFill>
                                        <a:schemeClr val="dk1"/>
                                      </a:solidFill>
                                      <a:latin typeface="Cambria Math" panose="02040503050406030204" pitchFamily="18" charset="0"/>
                                      <a:ea typeface="+mn-ea"/>
                                      <a:cs typeface="+mn-cs"/>
                                      <a:sym typeface="Helvetica Neue"/>
                                    </a:rPr>
                                    <m:t>with</m:t>
                                  </m:r>
                                  <m:r>
                                    <m:rPr>
                                      <m:nor/>
                                    </m:rPr>
                                    <a:rPr lang="en-US" altLang="zh-CN" sz="1000" b="0" i="1" kern="1200" dirty="0" smtClean="0">
                                      <a:solidFill>
                                        <a:schemeClr val="dk1"/>
                                      </a:solidFill>
                                      <a:latin typeface="Cambria Math" panose="02040503050406030204" pitchFamily="18" charset="0"/>
                                      <a:ea typeface="+mn-ea"/>
                                      <a:cs typeface="+mn-cs"/>
                                      <a:sym typeface="Helvetica Neue"/>
                                    </a:rPr>
                                    <m:t> </m:t>
                                  </m:r>
                                  <m:r>
                                    <m:rPr>
                                      <m:nor/>
                                    </m:rPr>
                                    <a:rPr lang="en-US" altLang="zh-CN" sz="1000" b="0" i="1" kern="1200" smtClean="0">
                                      <a:solidFill>
                                        <a:schemeClr val="dk1"/>
                                      </a:solidFill>
                                      <a:latin typeface="Cambria Math" panose="02040503050406030204" pitchFamily="18" charset="0"/>
                                      <a:ea typeface="+mn-ea"/>
                                      <a:cs typeface="+mn-cs"/>
                                    </a:rPr>
                                    <m:t>active</m:t>
                                  </m:r>
                                  <m:r>
                                    <m:rPr>
                                      <m:nor/>
                                    </m:rPr>
                                    <a:rPr lang="en-US" altLang="zh-CN" sz="1000" b="0" i="1" kern="1200" smtClean="0">
                                      <a:solidFill>
                                        <a:schemeClr val="dk1"/>
                                      </a:solidFill>
                                      <a:latin typeface="Cambria Math" panose="02040503050406030204" pitchFamily="18" charset="0"/>
                                      <a:ea typeface="+mn-ea"/>
                                      <a:cs typeface="+mn-cs"/>
                                    </a:rPr>
                                    <m:t> </m:t>
                                  </m:r>
                                  <m:r>
                                    <m:rPr>
                                      <m:nor/>
                                    </m:rPr>
                                    <a:rPr lang="en-US" altLang="zh-CN" sz="1000" b="0" i="1" kern="1200" smtClean="0">
                                      <a:solidFill>
                                        <a:schemeClr val="dk1"/>
                                      </a:solidFill>
                                      <a:latin typeface="Cambria Math" panose="02040503050406030204" pitchFamily="18" charset="0"/>
                                      <a:ea typeface="+mn-ea"/>
                                      <a:cs typeface="+mn-cs"/>
                                    </a:rPr>
                                    <m:t>prescription</m:t>
                                  </m:r>
                                  <m:r>
                                    <m:rPr>
                                      <m:nor/>
                                    </m:rPr>
                                    <a:rPr lang="en-US" altLang="zh-CN" sz="1000" b="0" i="1" kern="1200" smtClean="0">
                                      <a:solidFill>
                                        <a:schemeClr val="dk1"/>
                                      </a:solidFill>
                                      <a:latin typeface="Cambria Math" panose="02040503050406030204" pitchFamily="18" charset="0"/>
                                      <a:ea typeface="+mn-ea"/>
                                      <a:cs typeface="+mn-cs"/>
                                    </a:rPr>
                                    <m:t> </m:t>
                                  </m:r>
                                  <m:r>
                                    <m:rPr>
                                      <m:nor/>
                                    </m:rPr>
                                    <a:rPr lang="en-US" altLang="zh-CN" sz="1000" b="0" i="1" kern="1200" smtClean="0">
                                      <a:solidFill>
                                        <a:schemeClr val="dk1"/>
                                      </a:solidFill>
                                      <a:latin typeface="Cambria Math" panose="02040503050406030204" pitchFamily="18" charset="0"/>
                                      <a:ea typeface="+mn-ea"/>
                                      <a:cs typeface="+mn-cs"/>
                                    </a:rPr>
                                    <m:t>for</m:t>
                                  </m:r>
                                  <m:r>
                                    <m:rPr>
                                      <m:nor/>
                                    </m:rPr>
                                    <a:rPr lang="en-US" altLang="zh-CN" sz="1000" b="0" i="1" kern="1200" smtClean="0">
                                      <a:solidFill>
                                        <a:schemeClr val="dk1"/>
                                      </a:solidFill>
                                      <a:latin typeface="Cambria Math" panose="02040503050406030204" pitchFamily="18" charset="0"/>
                                      <a:ea typeface="+mn-ea"/>
                                      <a:cs typeface="+mn-cs"/>
                                    </a:rPr>
                                    <m:t> </m:t>
                                  </m:r>
                                  <m:r>
                                    <m:rPr>
                                      <m:nor/>
                                    </m:rPr>
                                    <a:rPr lang="en-US" altLang="zh-CN" sz="1000" b="0" i="1" kern="1200" smtClean="0">
                                      <a:solidFill>
                                        <a:schemeClr val="dk1"/>
                                      </a:solidFill>
                                      <a:latin typeface="Cambria Math" panose="02040503050406030204" pitchFamily="18" charset="0"/>
                                      <a:ea typeface="+mn-ea"/>
                                      <a:cs typeface="+mn-cs"/>
                                    </a:rPr>
                                    <m:t>GDMT</m:t>
                                  </m:r>
                                  <m:r>
                                    <m:rPr>
                                      <m:nor/>
                                    </m:rPr>
                                    <a:rPr lang="en-US" altLang="zh-CN" sz="1000" b="0" i="1" kern="1200" smtClean="0">
                                      <a:solidFill>
                                        <a:schemeClr val="dk1"/>
                                      </a:solidFill>
                                      <a:latin typeface="Cambria Math" panose="02040503050406030204" pitchFamily="18" charset="0"/>
                                      <a:ea typeface="+mn-ea"/>
                                      <a:cs typeface="+mn-cs"/>
                                    </a:rPr>
                                    <m:t> </m:t>
                                  </m:r>
                                  <m:r>
                                    <m:rPr>
                                      <m:nor/>
                                    </m:rPr>
                                    <a:rPr lang="en-US" altLang="zh-CN" sz="1000" b="0" i="1" kern="1200" smtClean="0">
                                      <a:solidFill>
                                        <a:schemeClr val="dk1"/>
                                      </a:solidFill>
                                      <a:latin typeface="Cambria Math" panose="02040503050406030204" pitchFamily="18" charset="0"/>
                                      <a:ea typeface="+mn-ea"/>
                                      <a:cs typeface="+mn-cs"/>
                                    </a:rPr>
                                    <m:t>of</m:t>
                                  </m:r>
                                  <m:r>
                                    <m:rPr>
                                      <m:nor/>
                                    </m:rPr>
                                    <a:rPr lang="en-US" altLang="zh-CN" sz="1000" b="0" i="1" kern="1200" smtClean="0">
                                      <a:solidFill>
                                        <a:schemeClr val="dk1"/>
                                      </a:solidFill>
                                      <a:latin typeface="Cambria Math" panose="02040503050406030204" pitchFamily="18" charset="0"/>
                                      <a:ea typeface="+mn-ea"/>
                                      <a:cs typeface="+mn-cs"/>
                                    </a:rPr>
                                    <m:t> </m:t>
                                  </m:r>
                                  <m:r>
                                    <m:rPr>
                                      <m:nor/>
                                    </m:rPr>
                                    <a:rPr lang="en-US" altLang="zh-CN" sz="1000" b="0" i="1" kern="1200" smtClean="0">
                                      <a:solidFill>
                                        <a:schemeClr val="dk1"/>
                                      </a:solidFill>
                                      <a:latin typeface="Cambria Math" panose="02040503050406030204" pitchFamily="18" charset="0"/>
                                      <a:ea typeface="+mn-ea"/>
                                      <a:cs typeface="+mn-cs"/>
                                    </a:rPr>
                                    <m:t>SGLT</m:t>
                                  </m:r>
                                  <m:r>
                                    <m:rPr>
                                      <m:nor/>
                                    </m:rPr>
                                    <a:rPr lang="en-US" altLang="zh-CN" sz="1000" b="0" i="1" kern="1200" smtClean="0">
                                      <a:solidFill>
                                        <a:schemeClr val="dk1"/>
                                      </a:solidFill>
                                      <a:latin typeface="Cambria Math" panose="02040503050406030204" pitchFamily="18" charset="0"/>
                                      <a:ea typeface="+mn-ea"/>
                                      <a:cs typeface="+mn-cs"/>
                                    </a:rPr>
                                    <m:t>2 </m:t>
                                  </m:r>
                                  <m:r>
                                    <m:rPr>
                                      <m:nor/>
                                    </m:rPr>
                                    <a:rPr lang="en-US" altLang="zh-CN" sz="1000" b="0" i="1" kern="1200" smtClean="0">
                                      <a:solidFill>
                                        <a:schemeClr val="dk1"/>
                                      </a:solidFill>
                                      <a:latin typeface="Cambria Math" panose="02040503050406030204" pitchFamily="18" charset="0"/>
                                      <a:ea typeface="+mn-ea"/>
                                      <a:cs typeface="+mn-cs"/>
                                    </a:rPr>
                                    <m:t>inhibitor</m:t>
                                  </m:r>
                                  <m:r>
                                    <m:rPr>
                                      <m:nor/>
                                    </m:rPr>
                                    <a:rPr lang="en-US" altLang="zh-CN" sz="1000" b="0" i="1" kern="1200" smtClean="0">
                                      <a:solidFill>
                                        <a:schemeClr val="dk1"/>
                                      </a:solidFill>
                                      <a:latin typeface="Cambria Math" panose="02040503050406030204" pitchFamily="18" charset="0"/>
                                      <a:ea typeface="+mn-ea"/>
                                      <a:cs typeface="+mn-cs"/>
                                    </a:rPr>
                                    <m:t> </m:t>
                                  </m:r>
                                  <m:r>
                                    <m:rPr>
                                      <m:nor/>
                                    </m:rPr>
                                    <a:rPr lang="en-US" altLang="zh-CN" sz="1000" b="0" i="1" kern="1200" smtClean="0">
                                      <a:solidFill>
                                        <a:schemeClr val="dk1"/>
                                      </a:solidFill>
                                      <a:latin typeface="Cambria Math" panose="02040503050406030204" pitchFamily="18" charset="0"/>
                                      <a:ea typeface="+mn-ea"/>
                                      <a:cs typeface="+mn-cs"/>
                                    </a:rPr>
                                    <m:t>therapy</m:t>
                                  </m:r>
                                </m:num>
                                <m:den>
                                  <m:r>
                                    <a:rPr lang="en-US" altLang="zh-CN" sz="1000" b="0" i="1" kern="1200" dirty="0" smtClean="0">
                                      <a:solidFill>
                                        <a:schemeClr val="dk1"/>
                                      </a:solidFill>
                                      <a:latin typeface="Cambria Math" panose="02040503050406030204" pitchFamily="18" charset="0"/>
                                      <a:ea typeface="+mn-ea"/>
                                      <a:cs typeface="+mn-cs"/>
                                      <a:sym typeface="Helvetica Neue"/>
                                    </a:rPr>
                                    <m:t>𝑁𝑢𝑚𝑏𝑒𝑟</m:t>
                                  </m:r>
                                  <m:r>
                                    <a:rPr lang="en-US" altLang="zh-CN" sz="1000" b="0" i="1" kern="1200" dirty="0" smtClean="0">
                                      <a:solidFill>
                                        <a:schemeClr val="dk1"/>
                                      </a:solidFill>
                                      <a:latin typeface="Cambria Math" panose="02040503050406030204" pitchFamily="18" charset="0"/>
                                      <a:ea typeface="+mn-ea"/>
                                      <a:cs typeface="+mn-cs"/>
                                      <a:sym typeface="Helvetica Neue"/>
                                    </a:rPr>
                                    <m:t> </m:t>
                                  </m:r>
                                  <m:r>
                                    <a:rPr lang="en-US" altLang="zh-CN" sz="1000" b="0" i="1" kern="1200" dirty="0" smtClean="0">
                                      <a:solidFill>
                                        <a:schemeClr val="dk1"/>
                                      </a:solidFill>
                                      <a:latin typeface="Cambria Math" panose="02040503050406030204" pitchFamily="18" charset="0"/>
                                      <a:ea typeface="+mn-ea"/>
                                      <a:cs typeface="+mn-cs"/>
                                      <a:sym typeface="Helvetica Neue"/>
                                    </a:rPr>
                                    <m:t>𝑜𝑓</m:t>
                                  </m:r>
                                  <m:r>
                                    <a:rPr lang="en-US" altLang="zh-CN" sz="1000" b="0" i="1" kern="1200" dirty="0" smtClean="0">
                                      <a:solidFill>
                                        <a:schemeClr val="dk1"/>
                                      </a:solidFill>
                                      <a:latin typeface="Cambria Math" panose="02040503050406030204" pitchFamily="18" charset="0"/>
                                      <a:ea typeface="+mn-ea"/>
                                      <a:cs typeface="+mn-cs"/>
                                      <a:sym typeface="Helvetica Neue"/>
                                    </a:rPr>
                                    <m:t> </m:t>
                                  </m:r>
                                  <m:r>
                                    <a:rPr lang="en-US" altLang="zh-CN" sz="1000" b="0" i="1" kern="1200" dirty="0" smtClean="0">
                                      <a:solidFill>
                                        <a:schemeClr val="dk1"/>
                                      </a:solidFill>
                                      <a:latin typeface="Cambria Math" panose="02040503050406030204" pitchFamily="18" charset="0"/>
                                      <a:ea typeface="+mn-ea"/>
                                      <a:cs typeface="+mn-cs"/>
                                      <a:sym typeface="Helvetica Neue"/>
                                    </a:rPr>
                                    <m:t>𝑔𝑢𝑖𝑑𝑒𝑙𝑖𝑛𝑒</m:t>
                                  </m:r>
                                  <m:r>
                                    <a:rPr lang="en-US" altLang="zh-CN" sz="1000" b="0" i="1" kern="1200" smtClean="0">
                                      <a:solidFill>
                                        <a:schemeClr val="dk1"/>
                                      </a:solidFill>
                                      <a:latin typeface="Cambria Math" panose="02040503050406030204" pitchFamily="18" charset="0"/>
                                      <a:ea typeface="+mn-ea"/>
                                      <a:cs typeface="+mn-cs"/>
                                    </a:rPr>
                                    <m:t>−</m:t>
                                  </m:r>
                                  <m:r>
                                    <a:rPr lang="en-US" altLang="zh-CN" sz="1000" b="0" i="1" kern="1200" smtClean="0">
                                      <a:solidFill>
                                        <a:schemeClr val="dk1"/>
                                      </a:solidFill>
                                      <a:latin typeface="Cambria Math" panose="02040503050406030204" pitchFamily="18" charset="0"/>
                                      <a:ea typeface="+mn-ea"/>
                                      <a:cs typeface="+mn-cs"/>
                                    </a:rPr>
                                    <m:t>𝑒𝑙𝑖𝑔𝑖𝑏𝑙𝑒</m:t>
                                  </m:r>
                                  <m:r>
                                    <a:rPr lang="en-US" altLang="zh-CN" sz="1000" b="0" i="1" kern="1200" smtClean="0">
                                      <a:solidFill>
                                        <a:schemeClr val="dk1"/>
                                      </a:solidFill>
                                      <a:latin typeface="Cambria Math" panose="02040503050406030204" pitchFamily="18" charset="0"/>
                                      <a:ea typeface="+mn-ea"/>
                                      <a:cs typeface="+mn-cs"/>
                                    </a:rPr>
                                    <m:t> </m:t>
                                  </m:r>
                                  <m:r>
                                    <a:rPr lang="en-US" altLang="zh-CN" sz="1000" b="0" i="1" kern="1200" smtClean="0">
                                      <a:solidFill>
                                        <a:schemeClr val="dk1"/>
                                      </a:solidFill>
                                      <a:latin typeface="Cambria Math" panose="02040503050406030204" pitchFamily="18" charset="0"/>
                                      <a:ea typeface="+mn-ea"/>
                                      <a:cs typeface="+mn-cs"/>
                                    </a:rPr>
                                    <m:t>𝐶𝐾𝐷</m:t>
                                  </m:r>
                                  <m:r>
                                    <a:rPr lang="en-US" altLang="zh-CN" sz="1000" b="0" i="1" kern="1200" smtClean="0">
                                      <a:solidFill>
                                        <a:schemeClr val="dk1"/>
                                      </a:solidFill>
                                      <a:latin typeface="Cambria Math" panose="02040503050406030204" pitchFamily="18" charset="0"/>
                                      <a:ea typeface="+mn-ea"/>
                                      <a:cs typeface="+mn-cs"/>
                                    </a:rPr>
                                    <m:t> </m:t>
                                  </m:r>
                                  <m:r>
                                    <a:rPr lang="en-US" altLang="zh-CN" sz="1000" b="0" i="1" kern="1200" smtClean="0">
                                      <a:solidFill>
                                        <a:schemeClr val="dk1"/>
                                      </a:solidFill>
                                      <a:latin typeface="Cambria Math" panose="02040503050406030204" pitchFamily="18" charset="0"/>
                                      <a:ea typeface="+mn-ea"/>
                                      <a:cs typeface="+mn-cs"/>
                                    </a:rPr>
                                    <m:t>𝑝𝑎𝑡𝑖𝑒𝑛𝑡𝑠</m:t>
                                  </m:r>
                                  <m:r>
                                    <a:rPr lang="en-US" altLang="zh-CN" sz="1000" b="0" i="1" kern="1200" smtClean="0">
                                      <a:solidFill>
                                        <a:schemeClr val="dk1"/>
                                      </a:solidFill>
                                      <a:latin typeface="Cambria Math" panose="02040503050406030204" pitchFamily="18" charset="0"/>
                                      <a:ea typeface="+mn-ea"/>
                                      <a:cs typeface="+mn-cs"/>
                                    </a:rPr>
                                    <m:t> </m:t>
                                  </m:r>
                                </m:den>
                              </m:f>
                            </m:oMath>
                          </a14:m>
                          <a:endParaRPr lang="en-US" altLang="zh-CN" sz="1000" b="0" i="1" kern="1200">
                            <a:solidFill>
                              <a:schemeClr val="dk1"/>
                            </a:solidFill>
                            <a:latin typeface="Cambria Math" panose="02040503050406030204" pitchFamily="18" charset="0"/>
                            <a:ea typeface="+mn-ea"/>
                            <a:cs typeface="+mn-cs"/>
                          </a:endParaRPr>
                        </a:p>
                      </a:txBody>
                      <a:tcPr marL="108000" marR="9525" marT="9525" marB="0" anchor="ctr">
                        <a:noFill/>
                      </a:tcPr>
                    </a:tc>
                    <a:extLst>
                      <a:ext uri="{0D108BD9-81ED-4DB2-BD59-A6C34878D82A}">
                        <a16:rowId xmlns:a16="http://schemas.microsoft.com/office/drawing/2014/main" val="740881612"/>
                      </a:ext>
                    </a:extLst>
                  </a:tr>
                  <a:tr h="667272">
                    <a:tc rowSpan="2">
                      <a:txBody>
                        <a:bodyPr/>
                        <a:lstStyle/>
                        <a:p>
                          <a:pPr algn="l" fontAlgn="ctr">
                            <a:buNone/>
                          </a:pPr>
                          <a:r>
                            <a:rPr lang="en-US" sz="1200" u="none" strike="noStrike">
                              <a:effectLst/>
                            </a:rPr>
                            <a:t>Secondary outcomes</a:t>
                          </a:r>
                        </a:p>
                      </a:txBody>
                      <a:tcPr marL="108000"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400" b="1" i="0" u="none" strike="noStrike" kern="1200">
                              <a:solidFill>
                                <a:srgbClr val="000000"/>
                              </a:solidFill>
                              <a:effectLst/>
                              <a:latin typeface="Aptos Narrow" panose="020B0004020202020204" pitchFamily="34" charset="0"/>
                              <a:ea typeface="+mn-ea"/>
                              <a:cs typeface="+mn-cs"/>
                            </a:rPr>
                            <a:t>Treatment Pattern</a:t>
                          </a:r>
                          <a:endParaRPr lang="en-US" sz="1400" b="1" i="0" u="none" strike="noStrike" kern="1200">
                            <a:solidFill>
                              <a:srgbClr val="000000"/>
                            </a:solidFill>
                            <a:effectLst/>
                            <a:latin typeface="Aptos Narrow" panose="020B0004020202020204" pitchFamily="34" charset="0"/>
                            <a:ea typeface="+mn-ea"/>
                            <a:cs typeface="+mn-cs"/>
                          </a:endParaRPr>
                        </a:p>
                      </a:txBody>
                      <a:tcPr marL="108000" marR="9525" marT="9525" marB="0"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i="0" u="none" strike="noStrike" kern="1200">
                              <a:solidFill>
                                <a:srgbClr val="000000"/>
                              </a:solidFill>
                              <a:effectLst/>
                              <a:latin typeface="Aptos Narrow" panose="020B0004020202020204" pitchFamily="34" charset="0"/>
                              <a:ea typeface="+mn-ea"/>
                              <a:cs typeface="+mn-cs"/>
                            </a:rPr>
                            <a:t>Mono: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a:solidFill>
                                <a:srgbClr val="000000"/>
                              </a:solidFill>
                              <a:effectLst/>
                              <a:latin typeface="Aptos Narrow" panose="020B0004020202020204" pitchFamily="34" charset="0"/>
                              <a:ea typeface="+mn-ea"/>
                              <a:cs typeface="+mn-cs"/>
                            </a:rPr>
                            <a:t>SGLT2i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err="1">
                              <a:solidFill>
                                <a:srgbClr val="000000"/>
                              </a:solidFill>
                              <a:effectLst/>
                              <a:latin typeface="Aptos Narrow" panose="020B0004020202020204" pitchFamily="34" charset="0"/>
                              <a:ea typeface="+mn-ea"/>
                              <a:cs typeface="+mn-cs"/>
                            </a:rPr>
                            <a:t>RASi</a:t>
                          </a:r>
                          <a:r>
                            <a:rPr lang="en-US" sz="1400" b="0" i="0" u="none" strike="noStrike" kern="1200">
                              <a:solidFill>
                                <a:srgbClr val="000000"/>
                              </a:solidFill>
                              <a:effectLst/>
                              <a:latin typeface="Aptos Narrow" panose="020B0004020202020204" pitchFamily="34"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400" b="1" i="0" u="none" strike="noStrike" kern="1200">
                              <a:solidFill>
                                <a:srgbClr val="000000"/>
                              </a:solidFill>
                              <a:effectLst/>
                              <a:latin typeface="Aptos Narrow" panose="020B0004020202020204" pitchFamily="34" charset="0"/>
                              <a:ea typeface="+mn-ea"/>
                              <a:cs typeface="+mn-cs"/>
                            </a:rPr>
                            <a:t>Combo: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a:solidFill>
                                <a:srgbClr val="000000"/>
                              </a:solidFill>
                              <a:effectLst/>
                              <a:latin typeface="Aptos Narrow" panose="020B0004020202020204" pitchFamily="34" charset="0"/>
                              <a:ea typeface="+mn-ea"/>
                              <a:cs typeface="+mn-cs"/>
                            </a:rPr>
                            <a:t>SGLT2i + </a:t>
                          </a:r>
                          <a:r>
                            <a:rPr lang="en-US" sz="1400" b="0" i="0" u="none" strike="noStrike" kern="1200" err="1">
                              <a:solidFill>
                                <a:srgbClr val="000000"/>
                              </a:solidFill>
                              <a:effectLst/>
                              <a:latin typeface="Aptos Narrow" panose="020B0004020202020204" pitchFamily="34" charset="0"/>
                              <a:ea typeface="+mn-ea"/>
                              <a:cs typeface="+mn-cs"/>
                            </a:rPr>
                            <a:t>RAASi（ACEI</a:t>
                          </a:r>
                          <a:r>
                            <a:rPr lang="en-US" sz="1400" b="0" i="0" u="none" strike="noStrike" kern="1200">
                              <a:solidFill>
                                <a:srgbClr val="000000"/>
                              </a:solidFill>
                              <a:effectLst/>
                              <a:latin typeface="Aptos Narrow" panose="020B0004020202020204" pitchFamily="34" charset="0"/>
                              <a:ea typeface="+mn-ea"/>
                              <a:cs typeface="+mn-cs"/>
                            </a:rPr>
                            <a:t>/ARB/ARNI）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a:solidFill>
                                <a:srgbClr val="000000"/>
                              </a:solidFill>
                              <a:effectLst/>
                              <a:latin typeface="Aptos Narrow" panose="020B0004020202020204" pitchFamily="34" charset="0"/>
                              <a:ea typeface="+mn-ea"/>
                              <a:cs typeface="+mn-cs"/>
                            </a:rPr>
                            <a:t>SGLT2i + </a:t>
                          </a:r>
                          <a:r>
                            <a:rPr lang="en-US" sz="1400" b="0" i="0" u="none" strike="noStrike" kern="1200" err="1">
                              <a:solidFill>
                                <a:srgbClr val="000000"/>
                              </a:solidFill>
                              <a:effectLst/>
                              <a:latin typeface="Aptos Narrow" panose="020B0004020202020204" pitchFamily="34" charset="0"/>
                              <a:ea typeface="+mn-ea"/>
                              <a:cs typeface="+mn-cs"/>
                            </a:rPr>
                            <a:t>RAASi</a:t>
                          </a:r>
                          <a:r>
                            <a:rPr lang="en-US" sz="1400" b="0" i="0" u="none" strike="noStrike" kern="1200">
                              <a:solidFill>
                                <a:srgbClr val="000000"/>
                              </a:solidFill>
                              <a:effectLst/>
                              <a:latin typeface="Aptos Narrow" panose="020B0004020202020204" pitchFamily="34" charset="0"/>
                              <a:ea typeface="+mn-ea"/>
                              <a:cs typeface="+mn-cs"/>
                            </a:rPr>
                            <a:t> + MRA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a:solidFill>
                                <a:srgbClr val="000000"/>
                              </a:solidFill>
                              <a:effectLst/>
                              <a:latin typeface="Aptos Narrow" panose="020B0004020202020204" pitchFamily="34" charset="0"/>
                              <a:ea typeface="+mn-ea"/>
                              <a:cs typeface="+mn-cs"/>
                            </a:rPr>
                            <a:t>SGLT2i + </a:t>
                          </a:r>
                          <a:r>
                            <a:rPr lang="en-US" sz="1400" b="0" i="0" u="none" strike="noStrike" kern="1200" err="1">
                              <a:solidFill>
                                <a:srgbClr val="000000"/>
                              </a:solidFill>
                              <a:effectLst/>
                              <a:latin typeface="Aptos Narrow" panose="020B0004020202020204" pitchFamily="34" charset="0"/>
                              <a:ea typeface="+mn-ea"/>
                              <a:cs typeface="+mn-cs"/>
                            </a:rPr>
                            <a:t>RAASi</a:t>
                          </a:r>
                          <a:r>
                            <a:rPr lang="en-US" sz="1400" b="0" i="0" u="none" strike="noStrike" kern="1200">
                              <a:solidFill>
                                <a:srgbClr val="000000"/>
                              </a:solidFill>
                              <a:effectLst/>
                              <a:latin typeface="Aptos Narrow" panose="020B0004020202020204" pitchFamily="34" charset="0"/>
                              <a:ea typeface="+mn-ea"/>
                              <a:cs typeface="+mn-cs"/>
                            </a:rPr>
                            <a:t> + CCB/diuretics</a:t>
                          </a:r>
                          <a:endParaRPr lang="zh-CN" altLang="en-US" sz="1400" b="0" i="0" u="none" strike="noStrike" kern="1200">
                            <a:solidFill>
                              <a:srgbClr val="000000"/>
                            </a:solidFill>
                            <a:effectLst/>
                            <a:latin typeface="Aptos Narrow" panose="020B00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a:solidFill>
                                <a:srgbClr val="000000"/>
                              </a:solidFill>
                              <a:effectLst/>
                              <a:latin typeface="Aptos Narrow" panose="020B0004020202020204" pitchFamily="34" charset="0"/>
                              <a:ea typeface="+mn-ea"/>
                              <a:cs typeface="+mn-cs"/>
                            </a:rPr>
                            <a:t>SGLT2i + GLP-1RA + </a:t>
                          </a:r>
                          <a:r>
                            <a:rPr lang="en-US" sz="1400" b="0" i="0" u="none" strike="noStrike" kern="1200" err="1">
                              <a:solidFill>
                                <a:srgbClr val="000000"/>
                              </a:solidFill>
                              <a:effectLst/>
                              <a:latin typeface="Aptos Narrow" panose="020B0004020202020204" pitchFamily="34" charset="0"/>
                              <a:ea typeface="+mn-ea"/>
                              <a:cs typeface="+mn-cs"/>
                            </a:rPr>
                            <a:t>RAASi</a:t>
                          </a:r>
                          <a:endParaRPr lang="en-US" sz="1400" b="0" i="0" u="none" strike="noStrike" kern="1200">
                            <a:solidFill>
                              <a:srgbClr val="000000"/>
                            </a:solidFill>
                            <a:effectLst/>
                            <a:latin typeface="Aptos Narrow" panose="020B00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400" b="0" i="0" u="none" strike="noStrike" kern="1200">
                              <a:solidFill>
                                <a:srgbClr val="000000"/>
                              </a:solidFill>
                              <a:effectLst/>
                              <a:latin typeface="Aptos Narrow" panose="020B0004020202020204" pitchFamily="34" charset="0"/>
                              <a:ea typeface="+mn-ea"/>
                              <a:cs typeface="+mn-cs"/>
                            </a:rPr>
                            <a:t>Others</a:t>
                          </a:r>
                          <a:endParaRPr lang="zh-CN" altLang="en-US" sz="1400" b="0" i="0" u="none" strike="noStrike" kern="1200">
                            <a:solidFill>
                              <a:srgbClr val="000000"/>
                            </a:solidFill>
                            <a:effectLst/>
                            <a:latin typeface="Aptos Narrow" panose="020B0004020202020204" pitchFamily="34" charset="0"/>
                            <a:ea typeface="+mn-ea"/>
                            <a:cs typeface="+mn-cs"/>
                          </a:endParaRPr>
                        </a:p>
                      </a:txBody>
                      <a:tcPr marL="108000" marR="9525" marT="9525" marB="0" anchor="ctr">
                        <a:noFill/>
                      </a:tcPr>
                    </a:tc>
                    <a:extLst>
                      <a:ext uri="{0D108BD9-81ED-4DB2-BD59-A6C34878D82A}">
                        <a16:rowId xmlns:a16="http://schemas.microsoft.com/office/drawing/2014/main" val="3179870790"/>
                      </a:ext>
                    </a:extLst>
                  </a:tr>
                  <a:tr h="750741">
                    <a:tc vMerge="1">
                      <a:txBody>
                        <a:bodyPr/>
                        <a:lstStyle/>
                        <a:p>
                          <a:endParaRPr lang="zh-CN"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1" i="0" u="none" strike="noStrike" kern="1200">
                              <a:solidFill>
                                <a:srgbClr val="000000"/>
                              </a:solidFill>
                              <a:effectLst/>
                              <a:latin typeface="Aptos Narrow" panose="020B0004020202020204" pitchFamily="34" charset="0"/>
                              <a:ea typeface="+mn-ea"/>
                              <a:cs typeface="+mn-cs"/>
                            </a:rPr>
                            <a:t>Clinical Characteristics</a:t>
                          </a:r>
                          <a:endParaRPr lang="en-US" sz="1400" b="0" i="0" u="none" strike="noStrike" kern="1200">
                            <a:solidFill>
                              <a:srgbClr val="000000"/>
                            </a:solidFill>
                            <a:effectLst/>
                            <a:latin typeface="Aptos Narrow" panose="020B0004020202020204" pitchFamily="34" charset="0"/>
                            <a:ea typeface="+mn-ea"/>
                            <a:cs typeface="+mn-cs"/>
                          </a:endParaRPr>
                        </a:p>
                      </a:txBody>
                      <a:tcPr marL="108000" marR="9525" marT="9525" marB="0"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zh-CN" sz="1400" b="1" i="0" u="none" strike="noStrike" kern="1200">
                              <a:solidFill>
                                <a:srgbClr val="000000"/>
                              </a:solidFill>
                              <a:effectLst/>
                              <a:latin typeface="Aptos Narrow" panose="020B0004020202020204" pitchFamily="34" charset="0"/>
                              <a:ea typeface="+mn-ea"/>
                              <a:cs typeface="+mn-cs"/>
                            </a:rPr>
                            <a:t>Kidney Disease-Specific Metrics: </a:t>
                          </a:r>
                        </a:p>
                        <a:p>
                          <a:pPr marL="285750" indent="-285750" algn="l" fontAlgn="ctr">
                            <a:buFont typeface="Arial" panose="020B0604020202020204" pitchFamily="34" charset="0"/>
                            <a:buChar char="•"/>
                          </a:pPr>
                          <a:r>
                            <a:rPr lang="en-US" altLang="zh-CN" sz="1400" b="0" i="0" u="none" strike="noStrike" kern="1200">
                              <a:solidFill>
                                <a:srgbClr val="000000"/>
                              </a:solidFill>
                              <a:effectLst/>
                              <a:latin typeface="Aptos Narrow" panose="020B0004020202020204" pitchFamily="34" charset="0"/>
                              <a:ea typeface="+mn-ea"/>
                              <a:cs typeface="+mn-cs"/>
                            </a:rPr>
                            <a:t>CKD Stage, Duration of CKD, Etiology (if available)</a:t>
                          </a:r>
                        </a:p>
                        <a:p>
                          <a:pPr marL="285750" indent="-285750" algn="l" fontAlgn="ctr">
                            <a:buFont typeface="Arial" panose="020B0604020202020204" pitchFamily="34" charset="0"/>
                            <a:buChar char="•"/>
                          </a:pPr>
                          <a:r>
                            <a:rPr lang="en-US" altLang="zh-CN" sz="1400" b="0" i="0" u="none" strike="noStrike" kern="1200">
                              <a:solidFill>
                                <a:srgbClr val="000000"/>
                              </a:solidFill>
                              <a:effectLst/>
                              <a:latin typeface="Aptos Narrow" panose="020B0004020202020204" pitchFamily="34" charset="0"/>
                              <a:ea typeface="+mn-ea"/>
                              <a:cs typeface="+mn-cs"/>
                            </a:rPr>
                            <a:t>eGFR value, </a:t>
                          </a:r>
                          <a:r>
                            <a:rPr lang="en-US" altLang="zh-CN" sz="1400" b="0" i="0" u="none" strike="noStrike" kern="1200" err="1">
                              <a:solidFill>
                                <a:srgbClr val="000000"/>
                              </a:solidFill>
                              <a:effectLst/>
                              <a:latin typeface="Aptos Narrow" panose="020B0004020202020204" pitchFamily="34" charset="0"/>
                              <a:ea typeface="+mn-ea"/>
                              <a:cs typeface="+mn-cs"/>
                            </a:rPr>
                            <a:t>uACR</a:t>
                          </a:r>
                          <a:r>
                            <a:rPr lang="en-US" altLang="zh-CN" sz="1400" b="0" i="0" u="none" strike="noStrike" kern="1200">
                              <a:solidFill>
                                <a:srgbClr val="000000"/>
                              </a:solidFill>
                              <a:effectLst/>
                              <a:latin typeface="Aptos Narrow" panose="020B0004020202020204" pitchFamily="34" charset="0"/>
                              <a:ea typeface="+mn-ea"/>
                              <a:cs typeface="+mn-cs"/>
                            </a:rPr>
                            <a:t> level, Level of Proteinuria, </a:t>
                          </a:r>
                        </a:p>
                        <a:p>
                          <a:pPr marL="0" indent="0" algn="l" fontAlgn="ctr">
                            <a:buFont typeface="Wingdings" panose="05000000000000000000" pitchFamily="2" charset="2"/>
                            <a:buNone/>
                          </a:pPr>
                          <a:r>
                            <a:rPr lang="en-US" altLang="zh-CN" sz="1400" b="1" i="0" u="none" strike="noStrike" kern="1200">
                              <a:solidFill>
                                <a:srgbClr val="000000"/>
                              </a:solidFill>
                              <a:effectLst/>
                              <a:latin typeface="Aptos Narrow" panose="020B0004020202020204" pitchFamily="34" charset="0"/>
                              <a:ea typeface="+mn-ea"/>
                              <a:cs typeface="+mn-cs"/>
                            </a:rPr>
                            <a:t>Clinical Characteristics and Comorbidities: </a:t>
                          </a:r>
                        </a:p>
                        <a:p>
                          <a:pPr marL="285750" indent="-285750" algn="l" fontAlgn="ctr">
                            <a:buFont typeface="Arial" panose="020B0604020202020204" pitchFamily="34" charset="0"/>
                            <a:buChar char="•"/>
                          </a:pPr>
                          <a:r>
                            <a:rPr lang="en-US" altLang="zh-CN" sz="1400" b="0" i="0" u="none" strike="noStrike" kern="1200">
                              <a:solidFill>
                                <a:srgbClr val="000000"/>
                              </a:solidFill>
                              <a:effectLst/>
                              <a:latin typeface="Aptos Narrow" panose="020B0004020202020204" pitchFamily="34" charset="0"/>
                              <a:ea typeface="+mn-ea"/>
                              <a:cs typeface="+mn-cs"/>
                            </a:rPr>
                            <a:t>T2DM, HTN, CV, HF, BMI, HbA1C.</a:t>
                          </a:r>
                        </a:p>
                        <a:p>
                          <a:pPr marL="0" marR="0" lvl="0" indent="0" algn="l" defTabSz="914400" rtl="0" eaLnBrk="1" fontAlgn="ctr" latinLnBrk="0" hangingPunct="1">
                            <a:lnSpc>
                              <a:spcPct val="100000"/>
                            </a:lnSpc>
                            <a:spcBef>
                              <a:spcPts val="0"/>
                            </a:spcBef>
                            <a:spcAft>
                              <a:spcPts val="0"/>
                            </a:spcAft>
                            <a:buClrTx/>
                            <a:buSzTx/>
                            <a:buFont typeface="Wingdings" panose="05000000000000000000" pitchFamily="2" charset="2"/>
                            <a:buNone/>
                            <a:tabLst/>
                            <a:defRPr/>
                          </a:pPr>
                          <a:r>
                            <a:rPr lang="en-US" sz="1400" b="1" i="0" u="none" strike="noStrike" kern="1200">
                              <a:solidFill>
                                <a:srgbClr val="000000"/>
                              </a:solidFill>
                              <a:effectLst/>
                              <a:latin typeface="Aptos Narrow" panose="020B0004020202020204" pitchFamily="34" charset="0"/>
                              <a:ea typeface="+mn-ea"/>
                              <a:cs typeface="+mn-cs"/>
                            </a:rPr>
                            <a:t>Healthcare System: </a:t>
                          </a: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a:solidFill>
                                <a:srgbClr val="000000"/>
                              </a:solidFill>
                              <a:effectLst/>
                              <a:latin typeface="Aptos Narrow" panose="020B0004020202020204" pitchFamily="34" charset="0"/>
                              <a:ea typeface="+mn-ea"/>
                              <a:cs typeface="+mn-cs"/>
                            </a:rPr>
                            <a:t>Typer of Hospital</a:t>
                          </a:r>
                        </a:p>
                      </a:txBody>
                      <a:tcPr marL="108000" marR="9525" marT="9525" marB="0" anchor="ctr">
                        <a:noFill/>
                      </a:tcPr>
                    </a:tc>
                    <a:extLst>
                      <a:ext uri="{0D108BD9-81ED-4DB2-BD59-A6C34878D82A}">
                        <a16:rowId xmlns:a16="http://schemas.microsoft.com/office/drawing/2014/main" val="2520005708"/>
                      </a:ext>
                    </a:extLst>
                  </a:tr>
                </a:tbl>
              </a:graphicData>
            </a:graphic>
          </p:graphicFrame>
        </mc:Choice>
        <mc:Fallback>
          <p:graphicFrame>
            <p:nvGraphicFramePr>
              <p:cNvPr id="3" name="Table 2">
                <a:extLst>
                  <a:ext uri="{FF2B5EF4-FFF2-40B4-BE49-F238E27FC236}">
                    <a16:creationId xmlns:a16="http://schemas.microsoft.com/office/drawing/2014/main" id="{7860827F-F130-3FEF-45B3-FF78FA7ADDDE}"/>
                  </a:ext>
                </a:extLst>
              </p:cNvPr>
              <p:cNvGraphicFramePr>
                <a:graphicFrameLocks noGrp="1"/>
              </p:cNvGraphicFramePr>
              <p:nvPr>
                <p:extLst>
                  <p:ext uri="{D42A27DB-BD31-4B8C-83A1-F6EECF244321}">
                    <p14:modId xmlns:p14="http://schemas.microsoft.com/office/powerpoint/2010/main" val="64257824"/>
                  </p:ext>
                </p:extLst>
              </p:nvPr>
            </p:nvGraphicFramePr>
            <p:xfrm>
              <a:off x="302959" y="1200482"/>
              <a:ext cx="11061702" cy="4376249"/>
            </p:xfrm>
            <a:graphic>
              <a:graphicData uri="http://schemas.openxmlformats.org/drawingml/2006/table">
                <a:tbl>
                  <a:tblPr firstRow="1" firstCol="1">
                    <a:tableStyleId>{B301B821-A1FF-4177-AEE7-76D212191A09}</a:tableStyleId>
                  </a:tblPr>
                  <a:tblGrid>
                    <a:gridCol w="1789241">
                      <a:extLst>
                        <a:ext uri="{9D8B030D-6E8A-4147-A177-3AD203B41FA5}">
                          <a16:colId xmlns:a16="http://schemas.microsoft.com/office/drawing/2014/main" val="2093087952"/>
                        </a:ext>
                      </a:extLst>
                    </a:gridCol>
                    <a:gridCol w="3128605">
                      <a:extLst>
                        <a:ext uri="{9D8B030D-6E8A-4147-A177-3AD203B41FA5}">
                          <a16:colId xmlns:a16="http://schemas.microsoft.com/office/drawing/2014/main" val="3949654163"/>
                        </a:ext>
                      </a:extLst>
                    </a:gridCol>
                    <a:gridCol w="6143856">
                      <a:extLst>
                        <a:ext uri="{9D8B030D-6E8A-4147-A177-3AD203B41FA5}">
                          <a16:colId xmlns:a16="http://schemas.microsoft.com/office/drawing/2014/main" val="594323563"/>
                        </a:ext>
                      </a:extLst>
                    </a:gridCol>
                  </a:tblGrid>
                  <a:tr h="276167">
                    <a:tc>
                      <a:txBody>
                        <a:bodyPr/>
                        <a:lstStyle/>
                        <a:p>
                          <a:pPr algn="l" fontAlgn="ctr">
                            <a:buNone/>
                          </a:pPr>
                          <a:endParaRPr lang="en-US" sz="1200" u="none" strike="noStrike">
                            <a:effectLst/>
                          </a:endParaRPr>
                        </a:p>
                      </a:txBody>
                      <a:tcPr marL="108000"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1200" b="1" u="none" strike="noStrike" kern="1200">
                              <a:solidFill>
                                <a:schemeClr val="lt1"/>
                              </a:solidFill>
                              <a:effectLst/>
                              <a:latin typeface="+mn-lt"/>
                              <a:ea typeface="+mn-ea"/>
                              <a:cs typeface="+mn-cs"/>
                            </a:rPr>
                            <a:t>Objectives</a:t>
                          </a:r>
                          <a:endParaRPr lang="en-US" sz="1200" b="1" u="none" strike="noStrike" kern="1200">
                            <a:solidFill>
                              <a:schemeClr val="lt1"/>
                            </a:solidFill>
                            <a:effectLst/>
                            <a:latin typeface="+mn-lt"/>
                            <a:ea typeface="+mn-ea"/>
                            <a:cs typeface="+mn-cs"/>
                          </a:endParaRPr>
                        </a:p>
                      </a:txBody>
                      <a:tcPr marL="108000" marR="9525" marT="9525" marB="0" anchor="ctr">
                        <a:solidFill>
                          <a:schemeClr val="bg2"/>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u="none" strike="noStrike" kern="1200">
                              <a:solidFill>
                                <a:schemeClr val="lt1"/>
                              </a:solidFill>
                              <a:effectLst/>
                              <a:latin typeface="+mn-lt"/>
                              <a:ea typeface="+mn-ea"/>
                              <a:cs typeface="+mn-cs"/>
                            </a:rPr>
                            <a:t>Outcomes</a:t>
                          </a:r>
                        </a:p>
                      </a:txBody>
                      <a:tcPr marL="108000" marR="9525" marT="9525" marB="0" anchor="ctr">
                        <a:solidFill>
                          <a:schemeClr val="bg2"/>
                        </a:solidFill>
                      </a:tcPr>
                    </a:tc>
                    <a:extLst>
                      <a:ext uri="{0D108BD9-81ED-4DB2-BD59-A6C34878D82A}">
                        <a16:rowId xmlns:a16="http://schemas.microsoft.com/office/drawing/2014/main" val="1429639543"/>
                      </a:ext>
                    </a:extLst>
                  </a:tr>
                  <a:tr h="667272">
                    <a:tc>
                      <a:txBody>
                        <a:bodyPr/>
                        <a:lstStyle/>
                        <a:p>
                          <a:pPr algn="l" fontAlgn="ctr">
                            <a:buNone/>
                          </a:pPr>
                          <a:r>
                            <a:rPr lang="en-US" sz="1200" b="1" u="none" strike="noStrike" kern="1200">
                              <a:solidFill>
                                <a:schemeClr val="dk1"/>
                              </a:solidFill>
                              <a:effectLst/>
                              <a:latin typeface="+mn-lt"/>
                              <a:ea typeface="+mn-ea"/>
                              <a:cs typeface="+mn-cs"/>
                            </a:rPr>
                            <a:t>Primary outcome</a:t>
                          </a:r>
                        </a:p>
                      </a:txBody>
                      <a:tcPr marL="108000"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 typeface="Wingdings" panose="05000000000000000000" pitchFamily="2" charset="2"/>
                            <a:buNone/>
                            <a:tabLst/>
                            <a:defRPr/>
                          </a:pPr>
                          <a:r>
                            <a:rPr lang="en-US" altLang="zh-CN" sz="1400" b="1" i="0" u="none" strike="noStrike" kern="1200">
                              <a:solidFill>
                                <a:srgbClr val="000000"/>
                              </a:solidFill>
                              <a:effectLst/>
                              <a:latin typeface="Aptos Narrow" panose="020B0004020202020204" pitchFamily="34" charset="0"/>
                              <a:ea typeface="+mn-ea"/>
                              <a:cs typeface="+mn-cs"/>
                            </a:rPr>
                            <a:t>Rate of SGLT2i use</a:t>
                          </a:r>
                        </a:p>
                      </a:txBody>
                      <a:tcPr marL="108000" marR="9525" marT="9525" marB="0" anchor="ctr">
                        <a:noFill/>
                      </a:tcPr>
                    </a:tc>
                    <a:tc>
                      <a:txBody>
                        <a:bodyPr/>
                        <a:lstStyle/>
                        <a:p>
                          <a:endParaRPr lang="en-US"/>
                        </a:p>
                      </a:txBody>
                      <a:tcPr marL="108000" marR="9525" marT="9525" marB="0" anchor="ctr">
                        <a:blipFill>
                          <a:blip r:embed="rId3"/>
                          <a:stretch>
                            <a:fillRect l="-80079" t="-41818" r="-198" b="-529091"/>
                          </a:stretch>
                        </a:blipFill>
                      </a:tcPr>
                    </a:tc>
                    <a:extLst>
                      <a:ext uri="{0D108BD9-81ED-4DB2-BD59-A6C34878D82A}">
                        <a16:rowId xmlns:a16="http://schemas.microsoft.com/office/drawing/2014/main" val="740881612"/>
                      </a:ext>
                    </a:extLst>
                  </a:tr>
                  <a:tr h="1929765">
                    <a:tc rowSpan="2">
                      <a:txBody>
                        <a:bodyPr/>
                        <a:lstStyle/>
                        <a:p>
                          <a:pPr algn="l" fontAlgn="ctr">
                            <a:buNone/>
                          </a:pPr>
                          <a:r>
                            <a:rPr lang="en-US" sz="1200" u="none" strike="noStrike">
                              <a:effectLst/>
                            </a:rPr>
                            <a:t>Secondary outcomes</a:t>
                          </a:r>
                        </a:p>
                      </a:txBody>
                      <a:tcPr marL="108000"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400" b="1" i="0" u="none" strike="noStrike" kern="1200">
                              <a:solidFill>
                                <a:srgbClr val="000000"/>
                              </a:solidFill>
                              <a:effectLst/>
                              <a:latin typeface="Aptos Narrow" panose="020B0004020202020204" pitchFamily="34" charset="0"/>
                              <a:ea typeface="+mn-ea"/>
                              <a:cs typeface="+mn-cs"/>
                            </a:rPr>
                            <a:t>Treatment Pattern</a:t>
                          </a:r>
                          <a:endParaRPr lang="en-US" sz="1400" b="1" i="0" u="none" strike="noStrike" kern="1200">
                            <a:solidFill>
                              <a:srgbClr val="000000"/>
                            </a:solidFill>
                            <a:effectLst/>
                            <a:latin typeface="Aptos Narrow" panose="020B0004020202020204" pitchFamily="34" charset="0"/>
                            <a:ea typeface="+mn-ea"/>
                            <a:cs typeface="+mn-cs"/>
                          </a:endParaRPr>
                        </a:p>
                      </a:txBody>
                      <a:tcPr marL="108000" marR="9525" marT="9525" marB="0"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i="0" u="none" strike="noStrike" kern="1200">
                              <a:solidFill>
                                <a:srgbClr val="000000"/>
                              </a:solidFill>
                              <a:effectLst/>
                              <a:latin typeface="Aptos Narrow" panose="020B0004020202020204" pitchFamily="34" charset="0"/>
                              <a:ea typeface="+mn-ea"/>
                              <a:cs typeface="+mn-cs"/>
                            </a:rPr>
                            <a:t>Mono: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a:solidFill>
                                <a:srgbClr val="000000"/>
                              </a:solidFill>
                              <a:effectLst/>
                              <a:latin typeface="Aptos Narrow" panose="020B0004020202020204" pitchFamily="34" charset="0"/>
                              <a:ea typeface="+mn-ea"/>
                              <a:cs typeface="+mn-cs"/>
                            </a:rPr>
                            <a:t>SGLT2i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err="1">
                              <a:solidFill>
                                <a:srgbClr val="000000"/>
                              </a:solidFill>
                              <a:effectLst/>
                              <a:latin typeface="Aptos Narrow" panose="020B0004020202020204" pitchFamily="34" charset="0"/>
                              <a:ea typeface="+mn-ea"/>
                              <a:cs typeface="+mn-cs"/>
                            </a:rPr>
                            <a:t>RASi</a:t>
                          </a:r>
                          <a:r>
                            <a:rPr lang="en-US" sz="1400" b="0" i="0" u="none" strike="noStrike" kern="1200">
                              <a:solidFill>
                                <a:srgbClr val="000000"/>
                              </a:solidFill>
                              <a:effectLst/>
                              <a:latin typeface="Aptos Narrow" panose="020B0004020202020204" pitchFamily="34"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400" b="1" i="0" u="none" strike="noStrike" kern="1200">
                              <a:solidFill>
                                <a:srgbClr val="000000"/>
                              </a:solidFill>
                              <a:effectLst/>
                              <a:latin typeface="Aptos Narrow" panose="020B0004020202020204" pitchFamily="34" charset="0"/>
                              <a:ea typeface="+mn-ea"/>
                              <a:cs typeface="+mn-cs"/>
                            </a:rPr>
                            <a:t>Combo: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a:solidFill>
                                <a:srgbClr val="000000"/>
                              </a:solidFill>
                              <a:effectLst/>
                              <a:latin typeface="Aptos Narrow" panose="020B0004020202020204" pitchFamily="34" charset="0"/>
                              <a:ea typeface="+mn-ea"/>
                              <a:cs typeface="+mn-cs"/>
                            </a:rPr>
                            <a:t>SGLT2i + </a:t>
                          </a:r>
                          <a:r>
                            <a:rPr lang="en-US" sz="1400" b="0" i="0" u="none" strike="noStrike" kern="1200" err="1">
                              <a:solidFill>
                                <a:srgbClr val="000000"/>
                              </a:solidFill>
                              <a:effectLst/>
                              <a:latin typeface="Aptos Narrow" panose="020B0004020202020204" pitchFamily="34" charset="0"/>
                              <a:ea typeface="+mn-ea"/>
                              <a:cs typeface="+mn-cs"/>
                            </a:rPr>
                            <a:t>RAASi（ACEI</a:t>
                          </a:r>
                          <a:r>
                            <a:rPr lang="en-US" sz="1400" b="0" i="0" u="none" strike="noStrike" kern="1200">
                              <a:solidFill>
                                <a:srgbClr val="000000"/>
                              </a:solidFill>
                              <a:effectLst/>
                              <a:latin typeface="Aptos Narrow" panose="020B0004020202020204" pitchFamily="34" charset="0"/>
                              <a:ea typeface="+mn-ea"/>
                              <a:cs typeface="+mn-cs"/>
                            </a:rPr>
                            <a:t>/ARB/ARNI）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a:solidFill>
                                <a:srgbClr val="000000"/>
                              </a:solidFill>
                              <a:effectLst/>
                              <a:latin typeface="Aptos Narrow" panose="020B0004020202020204" pitchFamily="34" charset="0"/>
                              <a:ea typeface="+mn-ea"/>
                              <a:cs typeface="+mn-cs"/>
                            </a:rPr>
                            <a:t>SGLT2i + </a:t>
                          </a:r>
                          <a:r>
                            <a:rPr lang="en-US" sz="1400" b="0" i="0" u="none" strike="noStrike" kern="1200" err="1">
                              <a:solidFill>
                                <a:srgbClr val="000000"/>
                              </a:solidFill>
                              <a:effectLst/>
                              <a:latin typeface="Aptos Narrow" panose="020B0004020202020204" pitchFamily="34" charset="0"/>
                              <a:ea typeface="+mn-ea"/>
                              <a:cs typeface="+mn-cs"/>
                            </a:rPr>
                            <a:t>RAASi</a:t>
                          </a:r>
                          <a:r>
                            <a:rPr lang="en-US" sz="1400" b="0" i="0" u="none" strike="noStrike" kern="1200">
                              <a:solidFill>
                                <a:srgbClr val="000000"/>
                              </a:solidFill>
                              <a:effectLst/>
                              <a:latin typeface="Aptos Narrow" panose="020B0004020202020204" pitchFamily="34" charset="0"/>
                              <a:ea typeface="+mn-ea"/>
                              <a:cs typeface="+mn-cs"/>
                            </a:rPr>
                            <a:t> + MRA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a:solidFill>
                                <a:srgbClr val="000000"/>
                              </a:solidFill>
                              <a:effectLst/>
                              <a:latin typeface="Aptos Narrow" panose="020B0004020202020204" pitchFamily="34" charset="0"/>
                              <a:ea typeface="+mn-ea"/>
                              <a:cs typeface="+mn-cs"/>
                            </a:rPr>
                            <a:t>SGLT2i + </a:t>
                          </a:r>
                          <a:r>
                            <a:rPr lang="en-US" sz="1400" b="0" i="0" u="none" strike="noStrike" kern="1200" err="1">
                              <a:solidFill>
                                <a:srgbClr val="000000"/>
                              </a:solidFill>
                              <a:effectLst/>
                              <a:latin typeface="Aptos Narrow" panose="020B0004020202020204" pitchFamily="34" charset="0"/>
                              <a:ea typeface="+mn-ea"/>
                              <a:cs typeface="+mn-cs"/>
                            </a:rPr>
                            <a:t>RAASi</a:t>
                          </a:r>
                          <a:r>
                            <a:rPr lang="en-US" sz="1400" b="0" i="0" u="none" strike="noStrike" kern="1200">
                              <a:solidFill>
                                <a:srgbClr val="000000"/>
                              </a:solidFill>
                              <a:effectLst/>
                              <a:latin typeface="Aptos Narrow" panose="020B0004020202020204" pitchFamily="34" charset="0"/>
                              <a:ea typeface="+mn-ea"/>
                              <a:cs typeface="+mn-cs"/>
                            </a:rPr>
                            <a:t> + CCB/diuretics</a:t>
                          </a:r>
                          <a:endParaRPr lang="zh-CN" altLang="en-US" sz="1400" b="0" i="0" u="none" strike="noStrike" kern="1200">
                            <a:solidFill>
                              <a:srgbClr val="000000"/>
                            </a:solidFill>
                            <a:effectLst/>
                            <a:latin typeface="Aptos Narrow" panose="020B00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a:solidFill>
                                <a:srgbClr val="000000"/>
                              </a:solidFill>
                              <a:effectLst/>
                              <a:latin typeface="Aptos Narrow" panose="020B0004020202020204" pitchFamily="34" charset="0"/>
                              <a:ea typeface="+mn-ea"/>
                              <a:cs typeface="+mn-cs"/>
                            </a:rPr>
                            <a:t>SGLT2i + GLP-1RA + </a:t>
                          </a:r>
                          <a:r>
                            <a:rPr lang="en-US" sz="1400" b="0" i="0" u="none" strike="noStrike" kern="1200" err="1">
                              <a:solidFill>
                                <a:srgbClr val="000000"/>
                              </a:solidFill>
                              <a:effectLst/>
                              <a:latin typeface="Aptos Narrow" panose="020B0004020202020204" pitchFamily="34" charset="0"/>
                              <a:ea typeface="+mn-ea"/>
                              <a:cs typeface="+mn-cs"/>
                            </a:rPr>
                            <a:t>RAASi</a:t>
                          </a:r>
                          <a:endParaRPr lang="en-US" sz="1400" b="0" i="0" u="none" strike="noStrike" kern="1200">
                            <a:solidFill>
                              <a:srgbClr val="000000"/>
                            </a:solidFill>
                            <a:effectLst/>
                            <a:latin typeface="Aptos Narrow" panose="020B00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400" b="0" i="0" u="none" strike="noStrike" kern="1200">
                              <a:solidFill>
                                <a:srgbClr val="000000"/>
                              </a:solidFill>
                              <a:effectLst/>
                              <a:latin typeface="Aptos Narrow" panose="020B0004020202020204" pitchFamily="34" charset="0"/>
                              <a:ea typeface="+mn-ea"/>
                              <a:cs typeface="+mn-cs"/>
                            </a:rPr>
                            <a:t>Others</a:t>
                          </a:r>
                          <a:endParaRPr lang="zh-CN" altLang="en-US" sz="1400" b="0" i="0" u="none" strike="noStrike" kern="1200">
                            <a:solidFill>
                              <a:srgbClr val="000000"/>
                            </a:solidFill>
                            <a:effectLst/>
                            <a:latin typeface="Aptos Narrow" panose="020B0004020202020204" pitchFamily="34" charset="0"/>
                            <a:ea typeface="+mn-ea"/>
                            <a:cs typeface="+mn-cs"/>
                          </a:endParaRPr>
                        </a:p>
                      </a:txBody>
                      <a:tcPr marL="108000" marR="9525" marT="9525" marB="0" anchor="ctr">
                        <a:noFill/>
                      </a:tcPr>
                    </a:tc>
                    <a:extLst>
                      <a:ext uri="{0D108BD9-81ED-4DB2-BD59-A6C34878D82A}">
                        <a16:rowId xmlns:a16="http://schemas.microsoft.com/office/drawing/2014/main" val="3179870790"/>
                      </a:ext>
                    </a:extLst>
                  </a:tr>
                  <a:tr h="1503045">
                    <a:tc vMerge="1">
                      <a:txBody>
                        <a:bodyPr/>
                        <a:lstStyle/>
                        <a:p>
                          <a:endParaRPr lang="zh-CN"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1" i="0" u="none" strike="noStrike" kern="1200">
                              <a:solidFill>
                                <a:srgbClr val="000000"/>
                              </a:solidFill>
                              <a:effectLst/>
                              <a:latin typeface="Aptos Narrow" panose="020B0004020202020204" pitchFamily="34" charset="0"/>
                              <a:ea typeface="+mn-ea"/>
                              <a:cs typeface="+mn-cs"/>
                            </a:rPr>
                            <a:t>Clinical Characteristics</a:t>
                          </a:r>
                          <a:endParaRPr lang="en-US" sz="1400" b="0" i="0" u="none" strike="noStrike" kern="1200">
                            <a:solidFill>
                              <a:srgbClr val="000000"/>
                            </a:solidFill>
                            <a:effectLst/>
                            <a:latin typeface="Aptos Narrow" panose="020B0004020202020204" pitchFamily="34" charset="0"/>
                            <a:ea typeface="+mn-ea"/>
                            <a:cs typeface="+mn-cs"/>
                          </a:endParaRPr>
                        </a:p>
                      </a:txBody>
                      <a:tcPr marL="108000" marR="9525" marT="9525" marB="0"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zh-CN" sz="1400" b="1" i="0" u="none" strike="noStrike" kern="1200">
                              <a:solidFill>
                                <a:srgbClr val="000000"/>
                              </a:solidFill>
                              <a:effectLst/>
                              <a:latin typeface="Aptos Narrow" panose="020B0004020202020204" pitchFamily="34" charset="0"/>
                              <a:ea typeface="+mn-ea"/>
                              <a:cs typeface="+mn-cs"/>
                            </a:rPr>
                            <a:t>Kidney Disease-Specific Metrics: </a:t>
                          </a:r>
                        </a:p>
                        <a:p>
                          <a:pPr marL="285750" indent="-285750" algn="l" fontAlgn="ctr">
                            <a:buFont typeface="Arial" panose="020B0604020202020204" pitchFamily="34" charset="0"/>
                            <a:buChar char="•"/>
                          </a:pPr>
                          <a:r>
                            <a:rPr lang="en-US" altLang="zh-CN" sz="1400" b="0" i="0" u="none" strike="noStrike" kern="1200">
                              <a:solidFill>
                                <a:srgbClr val="000000"/>
                              </a:solidFill>
                              <a:effectLst/>
                              <a:latin typeface="Aptos Narrow" panose="020B0004020202020204" pitchFamily="34" charset="0"/>
                              <a:ea typeface="+mn-ea"/>
                              <a:cs typeface="+mn-cs"/>
                            </a:rPr>
                            <a:t>CKD Stage, Duration of CKD, Etiology (if available)</a:t>
                          </a:r>
                        </a:p>
                        <a:p>
                          <a:pPr marL="285750" indent="-285750" algn="l" fontAlgn="ctr">
                            <a:buFont typeface="Arial" panose="020B0604020202020204" pitchFamily="34" charset="0"/>
                            <a:buChar char="•"/>
                          </a:pPr>
                          <a:r>
                            <a:rPr lang="en-US" altLang="zh-CN" sz="1400" b="0" i="0" u="none" strike="noStrike" kern="1200">
                              <a:solidFill>
                                <a:srgbClr val="000000"/>
                              </a:solidFill>
                              <a:effectLst/>
                              <a:latin typeface="Aptos Narrow" panose="020B0004020202020204" pitchFamily="34" charset="0"/>
                              <a:ea typeface="+mn-ea"/>
                              <a:cs typeface="+mn-cs"/>
                            </a:rPr>
                            <a:t>eGFR value, </a:t>
                          </a:r>
                          <a:r>
                            <a:rPr lang="en-US" altLang="zh-CN" sz="1400" b="0" i="0" u="none" strike="noStrike" kern="1200" err="1">
                              <a:solidFill>
                                <a:srgbClr val="000000"/>
                              </a:solidFill>
                              <a:effectLst/>
                              <a:latin typeface="Aptos Narrow" panose="020B0004020202020204" pitchFamily="34" charset="0"/>
                              <a:ea typeface="+mn-ea"/>
                              <a:cs typeface="+mn-cs"/>
                            </a:rPr>
                            <a:t>uACR</a:t>
                          </a:r>
                          <a:r>
                            <a:rPr lang="en-US" altLang="zh-CN" sz="1400" b="0" i="0" u="none" strike="noStrike" kern="1200">
                              <a:solidFill>
                                <a:srgbClr val="000000"/>
                              </a:solidFill>
                              <a:effectLst/>
                              <a:latin typeface="Aptos Narrow" panose="020B0004020202020204" pitchFamily="34" charset="0"/>
                              <a:ea typeface="+mn-ea"/>
                              <a:cs typeface="+mn-cs"/>
                            </a:rPr>
                            <a:t> level, Level of Proteinuria, </a:t>
                          </a:r>
                        </a:p>
                        <a:p>
                          <a:pPr marL="0" indent="0" algn="l" fontAlgn="ctr">
                            <a:buFont typeface="Wingdings" panose="05000000000000000000" pitchFamily="2" charset="2"/>
                            <a:buNone/>
                          </a:pPr>
                          <a:r>
                            <a:rPr lang="en-US" altLang="zh-CN" sz="1400" b="1" i="0" u="none" strike="noStrike" kern="1200">
                              <a:solidFill>
                                <a:srgbClr val="000000"/>
                              </a:solidFill>
                              <a:effectLst/>
                              <a:latin typeface="Aptos Narrow" panose="020B0004020202020204" pitchFamily="34" charset="0"/>
                              <a:ea typeface="+mn-ea"/>
                              <a:cs typeface="+mn-cs"/>
                            </a:rPr>
                            <a:t>Clinical Characteristics and Comorbidities: </a:t>
                          </a:r>
                        </a:p>
                        <a:p>
                          <a:pPr marL="285750" indent="-285750" algn="l" fontAlgn="ctr">
                            <a:buFont typeface="Arial" panose="020B0604020202020204" pitchFamily="34" charset="0"/>
                            <a:buChar char="•"/>
                          </a:pPr>
                          <a:r>
                            <a:rPr lang="en-US" altLang="zh-CN" sz="1400" b="0" i="0" u="none" strike="noStrike" kern="1200">
                              <a:solidFill>
                                <a:srgbClr val="000000"/>
                              </a:solidFill>
                              <a:effectLst/>
                              <a:latin typeface="Aptos Narrow" panose="020B0004020202020204" pitchFamily="34" charset="0"/>
                              <a:ea typeface="+mn-ea"/>
                              <a:cs typeface="+mn-cs"/>
                            </a:rPr>
                            <a:t>T2DM, HTN, CV, HF, BMI, HbA1C.</a:t>
                          </a:r>
                        </a:p>
                        <a:p>
                          <a:pPr marL="0" marR="0" lvl="0" indent="0" algn="l" defTabSz="914400" rtl="0" eaLnBrk="1" fontAlgn="ctr" latinLnBrk="0" hangingPunct="1">
                            <a:lnSpc>
                              <a:spcPct val="100000"/>
                            </a:lnSpc>
                            <a:spcBef>
                              <a:spcPts val="0"/>
                            </a:spcBef>
                            <a:spcAft>
                              <a:spcPts val="0"/>
                            </a:spcAft>
                            <a:buClrTx/>
                            <a:buSzTx/>
                            <a:buFont typeface="Wingdings" panose="05000000000000000000" pitchFamily="2" charset="2"/>
                            <a:buNone/>
                            <a:tabLst/>
                            <a:defRPr/>
                          </a:pPr>
                          <a:r>
                            <a:rPr lang="en-US" sz="1400" b="1" i="0" u="none" strike="noStrike" kern="1200">
                              <a:solidFill>
                                <a:srgbClr val="000000"/>
                              </a:solidFill>
                              <a:effectLst/>
                              <a:latin typeface="Aptos Narrow" panose="020B0004020202020204" pitchFamily="34" charset="0"/>
                              <a:ea typeface="+mn-ea"/>
                              <a:cs typeface="+mn-cs"/>
                            </a:rPr>
                            <a:t>Healthcare System: </a:t>
                          </a: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a:solidFill>
                                <a:srgbClr val="000000"/>
                              </a:solidFill>
                              <a:effectLst/>
                              <a:latin typeface="Aptos Narrow" panose="020B0004020202020204" pitchFamily="34" charset="0"/>
                              <a:ea typeface="+mn-ea"/>
                              <a:cs typeface="+mn-cs"/>
                            </a:rPr>
                            <a:t>Typer of Hospital</a:t>
                          </a:r>
                        </a:p>
                      </a:txBody>
                      <a:tcPr marL="108000" marR="9525" marT="9525" marB="0" anchor="ctr">
                        <a:noFill/>
                      </a:tcPr>
                    </a:tc>
                    <a:extLst>
                      <a:ext uri="{0D108BD9-81ED-4DB2-BD59-A6C34878D82A}">
                        <a16:rowId xmlns:a16="http://schemas.microsoft.com/office/drawing/2014/main" val="2520005708"/>
                      </a:ext>
                    </a:extLst>
                  </a:tr>
                </a:tbl>
              </a:graphicData>
            </a:graphic>
          </p:graphicFrame>
        </mc:Fallback>
      </mc:AlternateContent>
      <p:sp>
        <p:nvSpPr>
          <p:cNvPr id="6" name="TextBox 5">
            <a:extLst>
              <a:ext uri="{FF2B5EF4-FFF2-40B4-BE49-F238E27FC236}">
                <a16:creationId xmlns:a16="http://schemas.microsoft.com/office/drawing/2014/main" id="{3AAB2A08-A39B-2670-15C6-49F5D21FA108}"/>
              </a:ext>
            </a:extLst>
          </p:cNvPr>
          <p:cNvSpPr txBox="1"/>
          <p:nvPr/>
        </p:nvSpPr>
        <p:spPr bwMode="gray">
          <a:xfrm>
            <a:off x="6478234" y="2339472"/>
            <a:ext cx="6179930" cy="52322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400">
                <a:solidFill>
                  <a:srgbClr val="000000"/>
                </a:solidFill>
                <a:latin typeface="Aptos Narrow" panose="020B0004020202020204" pitchFamily="34" charset="0"/>
              </a:rPr>
              <a:t>GLP-1RA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400" err="1">
                <a:solidFill>
                  <a:srgbClr val="000000"/>
                </a:solidFill>
                <a:latin typeface="Aptos Narrow" panose="020B0004020202020204" pitchFamily="34" charset="0"/>
              </a:rPr>
              <a:t>sMRAs</a:t>
            </a:r>
            <a:r>
              <a:rPr lang="en-US" altLang="zh-CN" sz="1400">
                <a:solidFill>
                  <a:srgbClr val="000000"/>
                </a:solidFill>
                <a:latin typeface="Aptos Narrow" panose="020B0004020202020204" pitchFamily="34" charset="0"/>
              </a:rPr>
              <a:t> </a:t>
            </a:r>
          </a:p>
        </p:txBody>
      </p:sp>
      <p:sp>
        <p:nvSpPr>
          <p:cNvPr id="8" name="TextBox 7">
            <a:extLst>
              <a:ext uri="{FF2B5EF4-FFF2-40B4-BE49-F238E27FC236}">
                <a16:creationId xmlns:a16="http://schemas.microsoft.com/office/drawing/2014/main" id="{F6F07B9D-7AB2-B47A-B67F-EE242A39CC95}"/>
              </a:ext>
            </a:extLst>
          </p:cNvPr>
          <p:cNvSpPr txBox="1"/>
          <p:nvPr/>
        </p:nvSpPr>
        <p:spPr bwMode="gray">
          <a:xfrm>
            <a:off x="7968505" y="2345335"/>
            <a:ext cx="6407522" cy="73866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400">
                <a:solidFill>
                  <a:srgbClr val="000000"/>
                </a:solidFill>
                <a:latin typeface="Aptos Narrow" panose="020B0004020202020204" pitchFamily="34" charset="0"/>
              </a:rPr>
              <a:t>Statins</a:t>
            </a:r>
          </a:p>
          <a:p>
            <a:pPr marL="285750" indent="-285750">
              <a:buFont typeface="Arial" panose="020B0604020202020204" pitchFamily="34" charset="0"/>
              <a:buChar char="•"/>
              <a:defRPr/>
            </a:pPr>
            <a:r>
              <a:rPr lang="en-US" altLang="zh-CN" sz="1400" err="1">
                <a:solidFill>
                  <a:srgbClr val="000000"/>
                </a:solidFill>
                <a:latin typeface="Aptos Narrow" panose="020B0004020202020204" pitchFamily="34" charset="0"/>
              </a:rPr>
              <a:t>Finerenone</a:t>
            </a:r>
            <a:endParaRPr lang="zh-CN" altLang="en-US" sz="1400">
              <a:solidFill>
                <a:srgbClr val="000000"/>
              </a:solidFill>
              <a:latin typeface="Aptos Narrow" panose="020B0004020202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en-US" altLang="zh-CN" sz="1400">
              <a:solidFill>
                <a:srgbClr val="000000"/>
              </a:solidFill>
              <a:latin typeface="Aptos Narrow" panose="020B0004020202020204" pitchFamily="34" charset="0"/>
            </a:endParaRPr>
          </a:p>
        </p:txBody>
      </p:sp>
      <p:sp>
        <p:nvSpPr>
          <p:cNvPr id="2" name="TextBox 1">
            <a:extLst>
              <a:ext uri="{FF2B5EF4-FFF2-40B4-BE49-F238E27FC236}">
                <a16:creationId xmlns:a16="http://schemas.microsoft.com/office/drawing/2014/main" id="{C7C98633-6E82-A95B-CDBF-E3383C807FBC}"/>
              </a:ext>
            </a:extLst>
          </p:cNvPr>
          <p:cNvSpPr txBox="1"/>
          <p:nvPr/>
        </p:nvSpPr>
        <p:spPr bwMode="gray">
          <a:xfrm>
            <a:off x="302959" y="5667233"/>
            <a:ext cx="8390515" cy="261610"/>
          </a:xfrm>
          <a:prstGeom prst="rect">
            <a:avLst/>
          </a:prstGeom>
          <a:noFill/>
        </p:spPr>
        <p:txBody>
          <a:bodyPr wrap="square">
            <a:spAutoFit/>
          </a:bodyPr>
          <a:lstStyle/>
          <a:p>
            <a:pPr marL="285750" indent="-285750">
              <a:buFont typeface="Wingdings" panose="05000000000000000000" pitchFamily="2" charset="2"/>
              <a:buChar char="u"/>
            </a:pPr>
            <a:r>
              <a:rPr lang="zh-CN" altLang="en-US" sz="1100" i="1">
                <a:solidFill>
                  <a:schemeClr val="accent5">
                    <a:lumMod val="50000"/>
                  </a:schemeClr>
                </a:solidFill>
              </a:rPr>
              <a:t>按分层因素</a:t>
            </a:r>
            <a:r>
              <a:rPr lang="en-US" altLang="zh-CN" sz="1100" i="1">
                <a:solidFill>
                  <a:schemeClr val="accent5">
                    <a:lumMod val="50000"/>
                  </a:schemeClr>
                </a:solidFill>
              </a:rPr>
              <a:t>(T2D, obesity, HTN, </a:t>
            </a:r>
            <a:r>
              <a:rPr lang="en-US" altLang="zh-CN" sz="1100" i="1" err="1">
                <a:solidFill>
                  <a:schemeClr val="accent5">
                    <a:lumMod val="50000"/>
                  </a:schemeClr>
                </a:solidFill>
              </a:rPr>
              <a:t>eCVD</a:t>
            </a:r>
            <a:r>
              <a:rPr lang="en-US" altLang="zh-CN" sz="1100" i="1">
                <a:solidFill>
                  <a:schemeClr val="accent5">
                    <a:lumMod val="50000"/>
                  </a:schemeClr>
                </a:solidFill>
              </a:rPr>
              <a:t>, GN, and KDIGO stages)</a:t>
            </a:r>
            <a:r>
              <a:rPr lang="zh-CN" altLang="en-US" sz="1100" i="1">
                <a:solidFill>
                  <a:schemeClr val="accent5">
                    <a:lumMod val="50000"/>
                  </a:schemeClr>
                </a:solidFill>
              </a:rPr>
              <a:t>进行治疗模式描述</a:t>
            </a:r>
          </a:p>
        </p:txBody>
      </p:sp>
    </p:spTree>
    <p:extLst>
      <p:ext uri="{BB962C8B-B14F-4D97-AF65-F5344CB8AC3E}">
        <p14:creationId xmlns:p14="http://schemas.microsoft.com/office/powerpoint/2010/main" val="3867218584"/>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DEB24-C967-6C9D-E976-6EB6290A7731}"/>
            </a:ext>
          </a:extLst>
        </p:cNvPr>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7E8BA99B-ADED-D875-A91C-F98430D5A315}"/>
              </a:ext>
            </a:extLst>
          </p:cNvPr>
          <p:cNvGraphicFramePr>
            <a:graphicFrameLocks/>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3" name="Objekt 2" hidden="1">
                        <a:extLst>
                          <a:ext uri="{FF2B5EF4-FFF2-40B4-BE49-F238E27FC236}">
                            <a16:creationId xmlns:a16="http://schemas.microsoft.com/office/drawing/2014/main" id="{7E8BA99B-ADED-D875-A91C-F98430D5A315}"/>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hteck 5" hidden="1">
            <a:extLst>
              <a:ext uri="{FF2B5EF4-FFF2-40B4-BE49-F238E27FC236}">
                <a16:creationId xmlns:a16="http://schemas.microsoft.com/office/drawing/2014/main" id="{A381197C-3593-4137-F0C0-6EB563125E51}"/>
              </a:ext>
            </a:extLst>
          </p:cNvPr>
          <p:cNvSpPr/>
          <p:nvPr>
            <p:custDataLst>
              <p:tags r:id="rId2"/>
            </p:custDataLst>
          </p:nvPr>
        </p:nvSpPr>
        <p:spPr>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4" name="Titel 13">
            <a:extLst>
              <a:ext uri="{FF2B5EF4-FFF2-40B4-BE49-F238E27FC236}">
                <a16:creationId xmlns:a16="http://schemas.microsoft.com/office/drawing/2014/main" id="{07C93A81-0F12-B42D-B4E4-B3C054FD1B5E}"/>
              </a:ext>
            </a:extLst>
          </p:cNvPr>
          <p:cNvSpPr>
            <a:spLocks noGrp="1"/>
          </p:cNvSpPr>
          <p:nvPr>
            <p:ph type="title"/>
          </p:nvPr>
        </p:nvSpPr>
        <p:spPr bwMode="gray">
          <a:xfrm>
            <a:off x="335441" y="433395"/>
            <a:ext cx="11233151" cy="720000"/>
          </a:xfrm>
        </p:spPr>
        <p:txBody>
          <a:bodyPr/>
          <a:lstStyle/>
          <a:p>
            <a:r>
              <a:rPr lang="en-US" altLang="zh-CN" sz="2000"/>
              <a:t>Statistical Analysis Methods</a:t>
            </a:r>
            <a:br>
              <a:rPr lang="en-US" altLang="zh-CN" sz="2000" i="1"/>
            </a:br>
            <a:endParaRPr lang="en-US" sz="2000"/>
          </a:p>
        </p:txBody>
      </p:sp>
      <p:pic>
        <p:nvPicPr>
          <p:cNvPr id="21" name="Grafik 20">
            <a:extLst>
              <a:ext uri="{FF2B5EF4-FFF2-40B4-BE49-F238E27FC236}">
                <a16:creationId xmlns:a16="http://schemas.microsoft.com/office/drawing/2014/main" id="{79599956-1906-7AC6-234C-FED750BCB6BC}"/>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bwMode="gray">
          <a:xfrm>
            <a:off x="479424" y="6165000"/>
            <a:ext cx="1234800" cy="372727"/>
          </a:xfrm>
          <a:prstGeom prst="rect">
            <a:avLst/>
          </a:prstGeom>
        </p:spPr>
      </p:pic>
      <p:sp>
        <p:nvSpPr>
          <p:cNvPr id="5" name="Fußzeilenplatzhalter 4">
            <a:extLst>
              <a:ext uri="{FF2B5EF4-FFF2-40B4-BE49-F238E27FC236}">
                <a16:creationId xmlns:a16="http://schemas.microsoft.com/office/drawing/2014/main" id="{8D008363-C4DB-FBEE-3916-0ABB6D917377}"/>
              </a:ext>
            </a:extLst>
          </p:cNvPr>
          <p:cNvSpPr>
            <a:spLocks noGrp="1"/>
          </p:cNvSpPr>
          <p:nvPr>
            <p:ph type="ftr" sz="quarter" idx="10"/>
          </p:nvPr>
        </p:nvSpPr>
        <p:spPr bwMode="gray">
          <a:xfrm>
            <a:off x="6312024" y="6246836"/>
            <a:ext cx="5040560" cy="288000"/>
          </a:xfrm>
        </p:spPr>
        <p:txBody>
          <a:bodyPr/>
          <a:lstStyle/>
          <a:p>
            <a:r>
              <a:rPr lang="en-US" sz="600">
                <a:solidFill>
                  <a:schemeClr val="bg1"/>
                </a:solidFill>
              </a:rPr>
              <a:t>Slide library    |     ONLY FOR INTERNAL USE</a:t>
            </a:r>
          </a:p>
        </p:txBody>
      </p:sp>
      <p:sp>
        <p:nvSpPr>
          <p:cNvPr id="7" name="Foliennummernplatzhalter 6">
            <a:extLst>
              <a:ext uri="{FF2B5EF4-FFF2-40B4-BE49-F238E27FC236}">
                <a16:creationId xmlns:a16="http://schemas.microsoft.com/office/drawing/2014/main" id="{7A5746FF-ED78-BE16-4CDF-702E59756E25}"/>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z="600" smtClean="0">
                <a:solidFill>
                  <a:schemeClr val="bg1"/>
                </a:solidFill>
              </a:rPr>
              <a:pPr/>
              <a:t>9</a:t>
            </a:fld>
            <a:endParaRPr lang="en-US" sz="600">
              <a:solidFill>
                <a:schemeClr val="bg1"/>
              </a:solidFill>
            </a:endParaRPr>
          </a:p>
        </p:txBody>
      </p:sp>
      <p:sp>
        <p:nvSpPr>
          <p:cNvPr id="11" name="TextBox 2">
            <a:extLst>
              <a:ext uri="{FF2B5EF4-FFF2-40B4-BE49-F238E27FC236}">
                <a16:creationId xmlns:a16="http://schemas.microsoft.com/office/drawing/2014/main" id="{5DB8FD9B-8C70-BB35-AF7F-B9E9A28F39D4}"/>
              </a:ext>
            </a:extLst>
          </p:cNvPr>
          <p:cNvSpPr txBox="1"/>
          <p:nvPr/>
        </p:nvSpPr>
        <p:spPr bwMode="gray">
          <a:xfrm>
            <a:off x="267253" y="921826"/>
            <a:ext cx="11811000" cy="5847755"/>
          </a:xfrm>
          <a:prstGeom prst="rect">
            <a:avLst/>
          </a:prstGeom>
          <a:noFill/>
        </p:spPr>
        <p:txBody>
          <a:bodyPr wrap="square">
            <a:spAutoFit/>
          </a:bodyPr>
          <a:lstStyle/>
          <a:p>
            <a:r>
              <a:rPr lang="en-US" altLang="zh-CN" sz="1400" b="1" u="sng"/>
              <a:t>P</a:t>
            </a:r>
            <a:r>
              <a:rPr lang="en-US" sz="1400" b="1" u="sng"/>
              <a:t>rimary outcomes:</a:t>
            </a:r>
          </a:p>
          <a:p>
            <a:endParaRPr lang="en-US" sz="1600"/>
          </a:p>
          <a:p>
            <a:pPr marL="285750" indent="-285750">
              <a:buFont typeface="Wingdings" panose="05000000000000000000" pitchFamily="2" charset="2"/>
              <a:buChar char="§"/>
            </a:pPr>
            <a:r>
              <a:rPr lang="en-US" sz="1400" b="1"/>
              <a:t>Proportion </a:t>
            </a:r>
            <a:r>
              <a:rPr lang="zh-CN" altLang="en-US" sz="1400" b="1"/>
              <a:t>：</a:t>
            </a:r>
            <a:endParaRPr lang="en-US" sz="1400" b="1"/>
          </a:p>
          <a:p>
            <a:pPr marL="285750" indent="-285750">
              <a:buFont typeface="Wingdings" panose="05000000000000000000" pitchFamily="2" charset="2"/>
              <a:buChar char="§"/>
            </a:pPr>
            <a:endParaRPr lang="en-US" sz="1400" b="1"/>
          </a:p>
          <a:p>
            <a:pPr marL="285750" indent="-285750">
              <a:buFont typeface="Wingdings" panose="05000000000000000000" pitchFamily="2" charset="2"/>
              <a:buChar char="§"/>
            </a:pPr>
            <a:endParaRPr lang="en-US" sz="1400" b="1"/>
          </a:p>
          <a:p>
            <a:endParaRPr lang="en-US" sz="1400" b="1"/>
          </a:p>
          <a:p>
            <a:endParaRPr lang="en-US" sz="1400" b="1" u="sng"/>
          </a:p>
          <a:p>
            <a:r>
              <a:rPr lang="en-US" sz="1400" b="1" u="sng"/>
              <a:t>Secondary outcomes: </a:t>
            </a:r>
          </a:p>
          <a:p>
            <a:pPr marL="342900" indent="-342900">
              <a:buFont typeface="Wingdings" panose="05000000000000000000" pitchFamily="2" charset="2"/>
              <a:buChar char="§"/>
            </a:pPr>
            <a:endParaRPr lang="en-US" sz="1400" b="1"/>
          </a:p>
          <a:p>
            <a:pPr marL="342900" indent="-342900">
              <a:buFont typeface="Wingdings" panose="05000000000000000000" pitchFamily="2" charset="2"/>
              <a:buChar char="§"/>
            </a:pPr>
            <a:r>
              <a:rPr lang="en-US" altLang="zh-CN" sz="1400" b="1"/>
              <a:t>Treatment pattern:</a:t>
            </a:r>
            <a:endParaRPr lang="en-US" sz="1200" b="1" i="1"/>
          </a:p>
          <a:p>
            <a:pPr marL="342900" indent="-342900">
              <a:buFont typeface="Wingdings" panose="05000000000000000000" pitchFamily="2" charset="2"/>
              <a:buChar char="§"/>
            </a:pPr>
            <a:endParaRPr lang="en-US" sz="1400" b="1"/>
          </a:p>
          <a:p>
            <a:pPr marL="342900" indent="-342900">
              <a:buFont typeface="Wingdings" panose="05000000000000000000" pitchFamily="2" charset="2"/>
              <a:buChar char="§"/>
            </a:pPr>
            <a:endParaRPr lang="en-US" sz="1400" b="1"/>
          </a:p>
          <a:p>
            <a:pPr marL="342900" indent="-342900">
              <a:buFont typeface="Wingdings" panose="05000000000000000000" pitchFamily="2" charset="2"/>
              <a:buChar char="§"/>
            </a:pPr>
            <a:endParaRPr lang="en-US" sz="1400" b="1"/>
          </a:p>
          <a:p>
            <a:pPr marL="342900" indent="-342900">
              <a:buFont typeface="Wingdings" panose="05000000000000000000" pitchFamily="2" charset="2"/>
              <a:buChar char="§"/>
            </a:pPr>
            <a:endParaRPr lang="en-US" sz="1400" b="1"/>
          </a:p>
          <a:p>
            <a:pPr marL="342900" indent="-342900">
              <a:buFont typeface="Wingdings" panose="05000000000000000000" pitchFamily="2" charset="2"/>
              <a:buChar char="§"/>
            </a:pPr>
            <a:endParaRPr lang="en-US" sz="1400" b="1"/>
          </a:p>
          <a:p>
            <a:pPr marL="342900" indent="-342900">
              <a:buFont typeface="Wingdings" panose="05000000000000000000" pitchFamily="2" charset="2"/>
              <a:buChar char="§"/>
            </a:pPr>
            <a:r>
              <a:rPr lang="en-US" sz="1400" b="1"/>
              <a:t>Clinical characteristics:</a:t>
            </a:r>
          </a:p>
          <a:p>
            <a:pPr marL="342900" indent="-342900">
              <a:buFont typeface="Wingdings" panose="05000000000000000000" pitchFamily="2" charset="2"/>
              <a:buChar char="§"/>
            </a:pPr>
            <a:endParaRPr lang="en-US" sz="1200" b="1" i="1"/>
          </a:p>
          <a:p>
            <a:pPr marL="342900" indent="-342900">
              <a:buFont typeface="Wingdings" panose="05000000000000000000" pitchFamily="2" charset="2"/>
              <a:buChar char="§"/>
            </a:pPr>
            <a:endParaRPr lang="en-US" sz="1200" b="1" i="1"/>
          </a:p>
          <a:p>
            <a:endParaRPr lang="en-US" sz="900" b="1" i="1"/>
          </a:p>
          <a:p>
            <a:endParaRPr lang="en-US" sz="1200" b="1" i="1"/>
          </a:p>
          <a:p>
            <a:pPr marL="342900" indent="-342900">
              <a:buFont typeface="Wingdings" panose="05000000000000000000" pitchFamily="2" charset="2"/>
              <a:buChar char="§"/>
            </a:pPr>
            <a:endParaRPr lang="en-US" sz="1200" b="1" i="1"/>
          </a:p>
          <a:p>
            <a:r>
              <a:rPr lang="en-US" altLang="zh-CN" sz="1400" b="1" u="sng"/>
              <a:t>Exploratory outcome:</a:t>
            </a:r>
          </a:p>
          <a:p>
            <a:pPr marL="342900" indent="-342900">
              <a:buFont typeface="Wingdings" panose="05000000000000000000" pitchFamily="2" charset="2"/>
              <a:buChar char="§"/>
            </a:pPr>
            <a:endParaRPr lang="en-US" altLang="zh-CN" sz="1400" b="1"/>
          </a:p>
          <a:p>
            <a:pPr marL="342900" indent="-342900">
              <a:buFont typeface="Wingdings" panose="05000000000000000000" pitchFamily="2" charset="2"/>
              <a:buChar char="§"/>
            </a:pPr>
            <a:r>
              <a:rPr lang="en-US" altLang="zh-CN" sz="1400" b="1"/>
              <a:t>Risk factors</a:t>
            </a:r>
          </a:p>
          <a:p>
            <a:pPr marL="342900" indent="-342900">
              <a:buFont typeface="Wingdings" panose="05000000000000000000" pitchFamily="2" charset="2"/>
              <a:buChar char="§"/>
            </a:pPr>
            <a:endParaRPr lang="en-US" altLang="zh-CN" sz="1200" b="1" i="1"/>
          </a:p>
          <a:p>
            <a:pPr marL="342900" indent="-342900">
              <a:buFont typeface="Wingdings" panose="05000000000000000000" pitchFamily="2" charset="2"/>
              <a:buChar char="§"/>
            </a:pPr>
            <a:endParaRPr lang="en-US" altLang="zh-CN" sz="1200" b="1" i="1"/>
          </a:p>
          <a:p>
            <a:pPr marL="285750" indent="-285750">
              <a:buFont typeface="Wingdings" panose="05000000000000000000" pitchFamily="2" charset="2"/>
              <a:buChar char="n"/>
            </a:pPr>
            <a:endParaRPr lang="en-US" altLang="zh-CN" sz="1400" b="1" u="sng"/>
          </a:p>
          <a:p>
            <a:endParaRPr lang="en-US" sz="1100" i="1"/>
          </a:p>
        </p:txBody>
      </p:sp>
      <p:sp>
        <p:nvSpPr>
          <p:cNvPr id="15" name="TextBox 14">
            <a:extLst>
              <a:ext uri="{FF2B5EF4-FFF2-40B4-BE49-F238E27FC236}">
                <a16:creationId xmlns:a16="http://schemas.microsoft.com/office/drawing/2014/main" id="{DF712300-A551-DC1D-1396-D7F601CB8C30}"/>
              </a:ext>
            </a:extLst>
          </p:cNvPr>
          <p:cNvSpPr txBox="1"/>
          <p:nvPr/>
        </p:nvSpPr>
        <p:spPr bwMode="gray">
          <a:xfrm>
            <a:off x="2394715" y="1407763"/>
            <a:ext cx="9458652" cy="830997"/>
          </a:xfrm>
          <a:prstGeom prst="rect">
            <a:avLst/>
          </a:prstGeom>
          <a:solidFill>
            <a:schemeClr val="bg1">
              <a:lumMod val="95000"/>
            </a:schemeClr>
          </a:solid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kumimoji="0" lang="en-US" altLang="zh-CN" sz="1200" b="0" i="1" u="none" strike="noStrike" kern="1200" cap="none" spc="0" normalizeH="0" baseline="0" noProof="0">
                <a:ln>
                  <a:noFill/>
                </a:ln>
                <a:solidFill>
                  <a:prstClr val="black"/>
                </a:solidFill>
                <a:effectLst/>
                <a:uLnTx/>
                <a:uFillTx/>
                <a:latin typeface="Boehringer Forward Text"/>
                <a:ea typeface="+mn-ea"/>
                <a:cs typeface="+mn-cs"/>
              </a:rPr>
              <a:t>Describe</a:t>
            </a:r>
            <a:r>
              <a:rPr kumimoji="0" lang="zh-CN" altLang="en-US" sz="1200" b="0" i="1" u="none" strike="noStrike" kern="1200" cap="none" spc="0" normalizeH="0" baseline="0" noProof="0">
                <a:ln>
                  <a:noFill/>
                </a:ln>
                <a:solidFill>
                  <a:prstClr val="black"/>
                </a:solidFill>
                <a:effectLst/>
                <a:uLnTx/>
                <a:uFillTx/>
                <a:latin typeface="Boehringer Forward Text"/>
                <a:ea typeface="+mn-ea"/>
                <a:cs typeface="+mn-cs"/>
              </a:rPr>
              <a:t> </a:t>
            </a:r>
            <a:r>
              <a:rPr lang="en-US" altLang="zh-CN" sz="1200" b="1" i="1">
                <a:solidFill>
                  <a:prstClr val="black"/>
                </a:solidFill>
                <a:latin typeface="Boehringer Forward Text"/>
              </a:rPr>
              <a:t>proportion</a:t>
            </a:r>
            <a:r>
              <a:rPr lang="en-US" altLang="zh-CN" sz="1200" i="1">
                <a:solidFill>
                  <a:prstClr val="black"/>
                </a:solidFill>
                <a:latin typeface="Boehringer Forward Text"/>
              </a:rPr>
              <a:t> of </a:t>
            </a:r>
            <a:r>
              <a:rPr kumimoji="0" lang="en-US" altLang="zh-CN" sz="1200" b="0" i="1" u="none" strike="noStrike" kern="1200" cap="none" spc="0" normalizeH="0" baseline="0" noProof="0">
                <a:ln>
                  <a:noFill/>
                </a:ln>
                <a:solidFill>
                  <a:prstClr val="black"/>
                </a:solidFill>
                <a:effectLst/>
                <a:uLnTx/>
                <a:uFillTx/>
                <a:latin typeface="Boehringer Forward Text"/>
                <a:ea typeface="+mn-ea"/>
                <a:cs typeface="+mn-cs"/>
              </a:rPr>
              <a:t>GDMT with SGLT2 </a:t>
            </a:r>
            <a:r>
              <a:rPr kumimoji="0" lang="en-US" altLang="zh-CN" sz="1200" b="0" i="1" u="none" strike="noStrike" kern="1200" cap="none" spc="0" normalizeH="0" baseline="0" noProof="0">
                <a:ln>
                  <a:noFill/>
                </a:ln>
                <a:solidFill>
                  <a:prstClr val="black"/>
                </a:solidFill>
                <a:effectLst/>
                <a:uLnTx/>
                <a:uFillTx/>
                <a:latin typeface="Boehringer Forward Text" panose="02000500000000020000" pitchFamily="2" charset="0"/>
              </a:rPr>
              <a:t>Inhibitors </a:t>
            </a:r>
            <a:r>
              <a:rPr lang="en-US" altLang="zh-CN" sz="1200">
                <a:solidFill>
                  <a:prstClr val="black"/>
                </a:solidFill>
                <a:latin typeface="Boehringer Forward Text" panose="02000500000000020000" pitchFamily="2" charset="0"/>
              </a:rPr>
              <a:t>among </a:t>
            </a:r>
            <a:r>
              <a:rPr lang="en-US" altLang="zh-CN" sz="1200" i="1">
                <a:solidFill>
                  <a:prstClr val="black"/>
                </a:solidFill>
              </a:rPr>
              <a:t>the guideline-eligible CKD patients</a:t>
            </a:r>
            <a:endParaRPr lang="en-US" altLang="zh-CN" sz="1200">
              <a:solidFill>
                <a:prstClr val="black"/>
              </a:solidFill>
            </a:endParaRPr>
          </a:p>
          <a:p>
            <a:pPr marL="285750" marR="0" indent="-285750" fontAlgn="auto">
              <a:lnSpc>
                <a:spcPct val="100000"/>
              </a:lnSpc>
              <a:spcBef>
                <a:spcPts val="0"/>
              </a:spcBef>
              <a:spcAft>
                <a:spcPts val="0"/>
              </a:spcAft>
              <a:buClrTx/>
              <a:buSzTx/>
              <a:buFont typeface="Wingdings" panose="05000000000000000000" pitchFamily="2" charset="2"/>
              <a:buChar char="Ø"/>
              <a:tabLst/>
              <a:defRPr/>
            </a:pPr>
            <a:r>
              <a:rPr lang="en-US" altLang="zh-CN" sz="1200" i="1">
                <a:solidFill>
                  <a:prstClr val="black"/>
                </a:solidFill>
              </a:rPr>
              <a:t>95% CI for prevalence estimates</a:t>
            </a:r>
          </a:p>
          <a:p>
            <a:pPr marL="285750" marR="0" indent="-285750" fontAlgn="auto">
              <a:lnSpc>
                <a:spcPct val="100000"/>
              </a:lnSpc>
              <a:spcBef>
                <a:spcPts val="0"/>
              </a:spcBef>
              <a:spcAft>
                <a:spcPts val="0"/>
              </a:spcAft>
              <a:buClrTx/>
              <a:buSzTx/>
              <a:buFont typeface="Wingdings" panose="05000000000000000000" pitchFamily="2" charset="2"/>
              <a:buChar char="Ø"/>
              <a:tabLst/>
              <a:defRPr/>
            </a:pPr>
            <a:r>
              <a:rPr lang="en-US" altLang="zh-CN" sz="1200" i="1">
                <a:solidFill>
                  <a:prstClr val="black"/>
                </a:solidFill>
              </a:rPr>
              <a:t>In 2024, 2025</a:t>
            </a:r>
          </a:p>
          <a:p>
            <a:pPr marL="285750" lvl="0" indent="-285750">
              <a:buFont typeface="Wingdings" panose="05000000000000000000" pitchFamily="2" charset="2"/>
              <a:buChar char="Ø"/>
              <a:defRPr/>
            </a:pPr>
            <a:r>
              <a:rPr lang="en-US" altLang="zh-CN" sz="1200" i="1">
                <a:solidFill>
                  <a:prstClr val="black"/>
                </a:solidFill>
              </a:rPr>
              <a:t>Subgroup analysis (T2DM, obesity, HTN, </a:t>
            </a:r>
            <a:r>
              <a:rPr lang="en-US" altLang="zh-CN" sz="1200" i="1" err="1">
                <a:solidFill>
                  <a:prstClr val="black"/>
                </a:solidFill>
              </a:rPr>
              <a:t>eCVD</a:t>
            </a:r>
            <a:r>
              <a:rPr lang="en-US" altLang="zh-CN" sz="1200" i="1">
                <a:solidFill>
                  <a:prstClr val="black"/>
                </a:solidFill>
              </a:rPr>
              <a:t>, GN, and KDIGO stages)</a:t>
            </a:r>
          </a:p>
        </p:txBody>
      </p:sp>
      <p:sp>
        <p:nvSpPr>
          <p:cNvPr id="17" name="TextBox 16">
            <a:extLst>
              <a:ext uri="{FF2B5EF4-FFF2-40B4-BE49-F238E27FC236}">
                <a16:creationId xmlns:a16="http://schemas.microsoft.com/office/drawing/2014/main" id="{4C21B88E-2E97-BA28-9674-10D5F34642CE}"/>
              </a:ext>
            </a:extLst>
          </p:cNvPr>
          <p:cNvSpPr txBox="1"/>
          <p:nvPr/>
        </p:nvSpPr>
        <p:spPr bwMode="gray">
          <a:xfrm>
            <a:off x="2394715" y="2969259"/>
            <a:ext cx="9458654" cy="830997"/>
          </a:xfrm>
          <a:prstGeom prst="rect">
            <a:avLst/>
          </a:prstGeom>
          <a:solidFill>
            <a:schemeClr val="bg1">
              <a:lumMod val="95000"/>
            </a:schemeClr>
          </a:solidFill>
        </p:spPr>
        <p:txBody>
          <a:bodyPr wrap="square">
            <a:spAutoFit/>
          </a:bodyPr>
          <a:lstStyle/>
          <a:p>
            <a:r>
              <a:rPr lang="en-US" altLang="zh-CN" sz="1200" b="1" i="1">
                <a:solidFill>
                  <a:prstClr val="black"/>
                </a:solidFill>
                <a:latin typeface="Boehringer Forward Text"/>
              </a:rPr>
              <a:t>Descriptive analysis </a:t>
            </a:r>
          </a:p>
          <a:p>
            <a:pPr marL="285750" indent="-285750">
              <a:buFont typeface="Wingdings" panose="05000000000000000000" pitchFamily="2" charset="2"/>
              <a:buChar char="Ø"/>
            </a:pPr>
            <a:r>
              <a:rPr lang="en-US" altLang="zh-CN" sz="1200" i="1">
                <a:solidFill>
                  <a:prstClr val="black"/>
                </a:solidFill>
                <a:latin typeface="Boehringer Forward Text"/>
              </a:rPr>
              <a:t>Describe treatment pattern of CKD patients by Mono/Combo</a:t>
            </a:r>
          </a:p>
          <a:p>
            <a:pPr marL="285750" marR="0" indent="-285750" fontAlgn="auto">
              <a:lnSpc>
                <a:spcPct val="100000"/>
              </a:lnSpc>
              <a:spcBef>
                <a:spcPts val="0"/>
              </a:spcBef>
              <a:spcAft>
                <a:spcPts val="0"/>
              </a:spcAft>
              <a:buClrTx/>
              <a:buSzTx/>
              <a:buFont typeface="Wingdings" panose="05000000000000000000" pitchFamily="2" charset="2"/>
              <a:buChar char="Ø"/>
              <a:tabLst/>
              <a:defRPr/>
            </a:pPr>
            <a:r>
              <a:rPr lang="en-US" altLang="zh-CN" sz="1200" i="1">
                <a:solidFill>
                  <a:prstClr val="black"/>
                </a:solidFill>
              </a:rPr>
              <a:t>In 2024, 2025 </a:t>
            </a:r>
          </a:p>
          <a:p>
            <a:pPr marL="285750" lvl="0" indent="-285750">
              <a:buFont typeface="Wingdings" panose="05000000000000000000" pitchFamily="2" charset="2"/>
              <a:buChar char="Ø"/>
              <a:defRPr/>
            </a:pPr>
            <a:r>
              <a:rPr lang="en-US" altLang="zh-CN" sz="1200" i="1">
                <a:solidFill>
                  <a:prstClr val="black"/>
                </a:solidFill>
              </a:rPr>
              <a:t>Subgroup analysis (T2D, obesity, HTN, </a:t>
            </a:r>
            <a:r>
              <a:rPr lang="en-US" altLang="zh-CN" sz="1200" i="1" err="1">
                <a:solidFill>
                  <a:prstClr val="black"/>
                </a:solidFill>
              </a:rPr>
              <a:t>eCVD</a:t>
            </a:r>
            <a:r>
              <a:rPr lang="en-US" altLang="zh-CN" sz="1200" i="1">
                <a:solidFill>
                  <a:prstClr val="black"/>
                </a:solidFill>
              </a:rPr>
              <a:t>, GN, and KDIGO stages)</a:t>
            </a:r>
          </a:p>
        </p:txBody>
      </p:sp>
      <p:sp>
        <p:nvSpPr>
          <p:cNvPr id="19" name="TextBox 18">
            <a:extLst>
              <a:ext uri="{FF2B5EF4-FFF2-40B4-BE49-F238E27FC236}">
                <a16:creationId xmlns:a16="http://schemas.microsoft.com/office/drawing/2014/main" id="{E024ABA3-FC4E-BB3D-61C3-30F81EA5D8BF}"/>
              </a:ext>
            </a:extLst>
          </p:cNvPr>
          <p:cNvSpPr txBox="1"/>
          <p:nvPr/>
        </p:nvSpPr>
        <p:spPr bwMode="gray">
          <a:xfrm>
            <a:off x="2394715" y="4530756"/>
            <a:ext cx="9458652" cy="646331"/>
          </a:xfrm>
          <a:prstGeom prst="rect">
            <a:avLst/>
          </a:prstGeom>
          <a:solidFill>
            <a:schemeClr val="bg1">
              <a:lumMod val="95000"/>
            </a:schemeClr>
          </a:solidFill>
        </p:spPr>
        <p:txBody>
          <a:bodyPr wrap="square">
            <a:spAutoFit/>
          </a:bodyPr>
          <a:lstStyle/>
          <a:p>
            <a:r>
              <a:rPr kumimoji="0" lang="en-US" altLang="zh-CN" sz="1200" b="1" i="1" u="none" strike="noStrike" kern="1200" cap="none" spc="0" normalizeH="0" baseline="0" noProof="0">
                <a:ln>
                  <a:noFill/>
                </a:ln>
                <a:solidFill>
                  <a:prstClr val="black"/>
                </a:solidFill>
                <a:effectLst/>
                <a:uLnTx/>
                <a:uFillTx/>
                <a:latin typeface="Boehringer Forward Text"/>
                <a:ea typeface="+mn-ea"/>
                <a:cs typeface="+mn-cs"/>
              </a:rPr>
              <a:t>Descriptive analysis</a:t>
            </a:r>
          </a:p>
          <a:p>
            <a:pPr marL="285750" indent="-285750">
              <a:buFont typeface="Wingdings" panose="05000000000000000000" pitchFamily="2" charset="2"/>
              <a:buChar char="Ø"/>
            </a:pPr>
            <a:r>
              <a:rPr kumimoji="0" lang="en-US" altLang="zh-CN" sz="1200" b="0" i="1" u="none" strike="noStrike" kern="1200" cap="none" spc="0" normalizeH="0" baseline="0" noProof="0">
                <a:ln>
                  <a:noFill/>
                </a:ln>
                <a:solidFill>
                  <a:prstClr val="black"/>
                </a:solidFill>
                <a:effectLst/>
                <a:uLnTx/>
                <a:uFillTx/>
                <a:latin typeface="Boehringer Forward Text"/>
                <a:ea typeface="+mn-ea"/>
                <a:cs typeface="+mn-cs"/>
              </a:rPr>
              <a:t>Mean ± SD or Median [IQR]) for continuous variables </a:t>
            </a:r>
          </a:p>
          <a:p>
            <a:pPr marL="285750" indent="-285750">
              <a:buFont typeface="Wingdings" panose="05000000000000000000" pitchFamily="2" charset="2"/>
              <a:buChar char="Ø"/>
            </a:pPr>
            <a:r>
              <a:rPr lang="en-US" altLang="zh-CN" sz="1200" i="1">
                <a:solidFill>
                  <a:prstClr val="black"/>
                </a:solidFill>
                <a:latin typeface="Boehringer Forward Text"/>
              </a:rPr>
              <a:t>N</a:t>
            </a:r>
            <a:r>
              <a:rPr kumimoji="0" lang="en-US" altLang="zh-CN" sz="1200" b="0" i="1" u="none" strike="noStrike" kern="1200" cap="none" spc="0" normalizeH="0" baseline="0" noProof="0">
                <a:ln>
                  <a:noFill/>
                </a:ln>
                <a:solidFill>
                  <a:prstClr val="black"/>
                </a:solidFill>
                <a:effectLst/>
                <a:uLnTx/>
                <a:uFillTx/>
                <a:latin typeface="Boehringer Forward Text"/>
                <a:ea typeface="+mn-ea"/>
                <a:cs typeface="+mn-cs"/>
              </a:rPr>
              <a:t>umber (percentage) for categorical variables</a:t>
            </a:r>
            <a:endParaRPr lang="zh-CN" altLang="en-US" sz="1400"/>
          </a:p>
        </p:txBody>
      </p:sp>
      <p:sp>
        <p:nvSpPr>
          <p:cNvPr id="2" name="TextBox 1">
            <a:extLst>
              <a:ext uri="{FF2B5EF4-FFF2-40B4-BE49-F238E27FC236}">
                <a16:creationId xmlns:a16="http://schemas.microsoft.com/office/drawing/2014/main" id="{5D60424F-E6D0-70FA-6360-39E684CDB96F}"/>
              </a:ext>
            </a:extLst>
          </p:cNvPr>
          <p:cNvSpPr txBox="1"/>
          <p:nvPr/>
        </p:nvSpPr>
        <p:spPr bwMode="gray">
          <a:xfrm>
            <a:off x="2394715" y="5705032"/>
            <a:ext cx="9458652" cy="461665"/>
          </a:xfrm>
          <a:prstGeom prst="rect">
            <a:avLst/>
          </a:prstGeom>
          <a:solidFill>
            <a:schemeClr val="bg1">
              <a:lumMod val="95000"/>
            </a:schemeClr>
          </a:solidFill>
        </p:spPr>
        <p:txBody>
          <a:bodyPr wrap="square">
            <a:spAutoFit/>
          </a:bodyPr>
          <a:lstStyle/>
          <a:p>
            <a:r>
              <a:rPr lang="en-GB" sz="1200" b="1" i="1">
                <a:solidFill>
                  <a:prstClr val="black"/>
                </a:solidFill>
                <a:latin typeface="Boehringer Forward Text"/>
              </a:rPr>
              <a:t>Multivariable </a:t>
            </a:r>
            <a:r>
              <a:rPr lang="en-US" sz="1200" b="1" i="1">
                <a:solidFill>
                  <a:prstClr val="black"/>
                </a:solidFill>
                <a:latin typeface="Boehringer Forward Text"/>
              </a:rPr>
              <a:t>l</a:t>
            </a:r>
            <a:r>
              <a:rPr lang="en-US" altLang="zh-CN" sz="1200" b="1" i="1">
                <a:solidFill>
                  <a:prstClr val="black"/>
                </a:solidFill>
                <a:latin typeface="Boehringer Forward Text"/>
              </a:rPr>
              <a:t>ogistic regression </a:t>
            </a:r>
            <a:r>
              <a:rPr lang="en-US" altLang="zh-CN" sz="1200" i="1">
                <a:solidFill>
                  <a:prstClr val="black"/>
                </a:solidFill>
                <a:latin typeface="Boehringer Forward Text"/>
              </a:rPr>
              <a:t>to explore the </a:t>
            </a:r>
            <a:r>
              <a:rPr lang="en-US" altLang="zh-CN" sz="1200" b="1" i="1">
                <a:solidFill>
                  <a:prstClr val="black"/>
                </a:solidFill>
                <a:latin typeface="Boehringer Forward Text"/>
              </a:rPr>
              <a:t>association between risk factors and </a:t>
            </a:r>
            <a:r>
              <a:rPr lang="en-GB" sz="1200" b="1" i="1">
                <a:solidFill>
                  <a:prstClr val="black"/>
                </a:solidFill>
                <a:latin typeface="Boehringer Forward Text"/>
              </a:rPr>
              <a:t>SGLT2 inhibitor prescription </a:t>
            </a:r>
            <a:endParaRPr lang="en-US" altLang="zh-CN" sz="1200" b="1" i="1">
              <a:solidFill>
                <a:prstClr val="black"/>
              </a:solidFill>
              <a:latin typeface="Boehringer Forward Text"/>
            </a:endParaRPr>
          </a:p>
          <a:p>
            <a:pPr marL="285750" indent="-285750">
              <a:buFont typeface="Wingdings" panose="05000000000000000000" pitchFamily="2" charset="2"/>
              <a:buChar char="Ø"/>
            </a:pPr>
            <a:r>
              <a:rPr lang="en-US" altLang="zh-CN" sz="1200" i="1">
                <a:solidFill>
                  <a:prstClr val="black"/>
                </a:solidFill>
                <a:latin typeface="Boehringer Forward Text"/>
              </a:rPr>
              <a:t>Odds ratios with 95% confidence intervals for each characteristics such as eGFR, comorbidities, etc.</a:t>
            </a:r>
          </a:p>
        </p:txBody>
      </p:sp>
    </p:spTree>
    <p:extLst>
      <p:ext uri="{BB962C8B-B14F-4D97-AF65-F5344CB8AC3E}">
        <p14:creationId xmlns:p14="http://schemas.microsoft.com/office/powerpoint/2010/main" val="364857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40AB7-DDFE-DA75-9C01-65888007CD5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FBCD201-1CBF-BCC9-9CF7-4E622E0DFC06}"/>
              </a:ext>
            </a:extLst>
          </p:cNvPr>
          <p:cNvSpPr>
            <a:spLocks noGrp="1"/>
          </p:cNvSpPr>
          <p:nvPr>
            <p:ph type="title"/>
          </p:nvPr>
        </p:nvSpPr>
        <p:spPr/>
        <p:txBody>
          <a:bodyPr/>
          <a:lstStyle/>
          <a:p>
            <a:r>
              <a:rPr lang="en-US" altLang="zh-CN"/>
              <a:t>Estimated key study milestone and budget </a:t>
            </a:r>
            <a:endParaRPr lang="zh-CN" altLang="en-US"/>
          </a:p>
        </p:txBody>
      </p:sp>
      <p:sp>
        <p:nvSpPr>
          <p:cNvPr id="4" name="页脚占位符 3">
            <a:extLst>
              <a:ext uri="{FF2B5EF4-FFF2-40B4-BE49-F238E27FC236}">
                <a16:creationId xmlns:a16="http://schemas.microsoft.com/office/drawing/2014/main" id="{F60C16C5-BD0E-08B4-330D-571E91B73C97}"/>
              </a:ext>
            </a:extLst>
          </p:cNvPr>
          <p:cNvSpPr>
            <a:spLocks noGrp="1"/>
          </p:cNvSpPr>
          <p:nvPr>
            <p:ph type="ftr" sz="quarter" idx="16"/>
          </p:nvPr>
        </p:nvSpPr>
        <p:spPr/>
        <p:txBody>
          <a:bodyPr/>
          <a:lstStyle/>
          <a:p>
            <a:r>
              <a:rPr lang="en-US"/>
              <a:t>Presentation title    |    ONLY FOR INTERNAL USE</a:t>
            </a:r>
          </a:p>
        </p:txBody>
      </p:sp>
      <p:sp>
        <p:nvSpPr>
          <p:cNvPr id="5" name="灯片编号占位符 4">
            <a:extLst>
              <a:ext uri="{FF2B5EF4-FFF2-40B4-BE49-F238E27FC236}">
                <a16:creationId xmlns:a16="http://schemas.microsoft.com/office/drawing/2014/main" id="{B833329F-72A7-B670-189F-FBB423DC8461}"/>
              </a:ext>
            </a:extLst>
          </p:cNvPr>
          <p:cNvSpPr>
            <a:spLocks noGrp="1"/>
          </p:cNvSpPr>
          <p:nvPr>
            <p:ph type="sldNum" sz="quarter" idx="17"/>
          </p:nvPr>
        </p:nvSpPr>
        <p:spPr/>
        <p:txBody>
          <a:bodyPr/>
          <a:lstStyle/>
          <a:p>
            <a:fld id="{8FF9B0DE-3FEB-4AA0-B465-B80EF7C1333D}" type="slidenum">
              <a:rPr lang="en-US" smtClean="0"/>
              <a:pPr/>
              <a:t>10</a:t>
            </a:fld>
            <a:endParaRPr lang="en-US"/>
          </a:p>
        </p:txBody>
      </p:sp>
      <p:sp>
        <p:nvSpPr>
          <p:cNvPr id="6" name="Rechteck 17">
            <a:extLst>
              <a:ext uri="{FF2B5EF4-FFF2-40B4-BE49-F238E27FC236}">
                <a16:creationId xmlns:a16="http://schemas.microsoft.com/office/drawing/2014/main" id="{64B1FDB0-BB47-4428-DCFB-BB8A882B7889}"/>
              </a:ext>
            </a:extLst>
          </p:cNvPr>
          <p:cNvSpPr/>
          <p:nvPr/>
        </p:nvSpPr>
        <p:spPr bwMode="gray">
          <a:xfrm>
            <a:off x="366572" y="3738986"/>
            <a:ext cx="11196000" cy="72008"/>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7" name="Rechteck 17">
            <a:extLst>
              <a:ext uri="{FF2B5EF4-FFF2-40B4-BE49-F238E27FC236}">
                <a16:creationId xmlns:a16="http://schemas.microsoft.com/office/drawing/2014/main" id="{70FF61F7-5F21-B264-2F60-F9F7F94816C0}"/>
              </a:ext>
            </a:extLst>
          </p:cNvPr>
          <p:cNvSpPr/>
          <p:nvPr/>
        </p:nvSpPr>
        <p:spPr bwMode="gray">
          <a:xfrm rot="16200000">
            <a:off x="1706569" y="3682337"/>
            <a:ext cx="72009" cy="45719"/>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8" name="Rechteck 17">
            <a:extLst>
              <a:ext uri="{FF2B5EF4-FFF2-40B4-BE49-F238E27FC236}">
                <a16:creationId xmlns:a16="http://schemas.microsoft.com/office/drawing/2014/main" id="{ED08C14E-A18E-89FD-D9E9-FC780D1A294C}"/>
              </a:ext>
            </a:extLst>
          </p:cNvPr>
          <p:cNvSpPr/>
          <p:nvPr/>
        </p:nvSpPr>
        <p:spPr bwMode="gray">
          <a:xfrm rot="16200000">
            <a:off x="2917647" y="3684474"/>
            <a:ext cx="72009" cy="45719"/>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9" name="Rechteck 17">
            <a:extLst>
              <a:ext uri="{FF2B5EF4-FFF2-40B4-BE49-F238E27FC236}">
                <a16:creationId xmlns:a16="http://schemas.microsoft.com/office/drawing/2014/main" id="{7DA78284-C320-90BD-96E4-9E51548144F1}"/>
              </a:ext>
            </a:extLst>
          </p:cNvPr>
          <p:cNvSpPr/>
          <p:nvPr/>
        </p:nvSpPr>
        <p:spPr bwMode="gray">
          <a:xfrm rot="16200000">
            <a:off x="4550132" y="3678802"/>
            <a:ext cx="72009" cy="45719"/>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10" name="Rechteck 17">
            <a:extLst>
              <a:ext uri="{FF2B5EF4-FFF2-40B4-BE49-F238E27FC236}">
                <a16:creationId xmlns:a16="http://schemas.microsoft.com/office/drawing/2014/main" id="{5F37EE84-DE1C-2761-354C-2DDBBA56DC2C}"/>
              </a:ext>
            </a:extLst>
          </p:cNvPr>
          <p:cNvSpPr/>
          <p:nvPr/>
        </p:nvSpPr>
        <p:spPr bwMode="gray">
          <a:xfrm rot="16200000">
            <a:off x="5345212" y="3678802"/>
            <a:ext cx="72009" cy="45719"/>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13" name="Rechteck 17">
            <a:extLst>
              <a:ext uri="{FF2B5EF4-FFF2-40B4-BE49-F238E27FC236}">
                <a16:creationId xmlns:a16="http://schemas.microsoft.com/office/drawing/2014/main" id="{F8D55DED-468D-446E-BB24-1B7B486220B9}"/>
              </a:ext>
            </a:extLst>
          </p:cNvPr>
          <p:cNvSpPr/>
          <p:nvPr/>
        </p:nvSpPr>
        <p:spPr bwMode="gray">
          <a:xfrm rot="16200000">
            <a:off x="2397812" y="3683262"/>
            <a:ext cx="72009" cy="45719"/>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aphicFrame>
        <p:nvGraphicFramePr>
          <p:cNvPr id="14" name="表格 13">
            <a:extLst>
              <a:ext uri="{FF2B5EF4-FFF2-40B4-BE49-F238E27FC236}">
                <a16:creationId xmlns:a16="http://schemas.microsoft.com/office/drawing/2014/main" id="{FDF8DAFE-17C2-1F11-7602-8E2E70C785A4}"/>
              </a:ext>
            </a:extLst>
          </p:cNvPr>
          <p:cNvGraphicFramePr>
            <a:graphicFrameLocks noGrp="1"/>
          </p:cNvGraphicFramePr>
          <p:nvPr/>
        </p:nvGraphicFramePr>
        <p:xfrm>
          <a:off x="476412" y="2054426"/>
          <a:ext cx="11196009" cy="720000"/>
        </p:xfrm>
        <a:graphic>
          <a:graphicData uri="http://schemas.openxmlformats.org/drawingml/2006/table">
            <a:tbl>
              <a:tblPr firstRow="1" bandRow="1">
                <a:tableStyleId>{2D5ABB26-0587-4C30-8999-92F81FD0307C}</a:tableStyleId>
              </a:tblPr>
              <a:tblGrid>
                <a:gridCol w="486783">
                  <a:extLst>
                    <a:ext uri="{9D8B030D-6E8A-4147-A177-3AD203B41FA5}">
                      <a16:colId xmlns:a16="http://schemas.microsoft.com/office/drawing/2014/main" val="743198579"/>
                    </a:ext>
                  </a:extLst>
                </a:gridCol>
                <a:gridCol w="486783">
                  <a:extLst>
                    <a:ext uri="{9D8B030D-6E8A-4147-A177-3AD203B41FA5}">
                      <a16:colId xmlns:a16="http://schemas.microsoft.com/office/drawing/2014/main" val="2058163880"/>
                    </a:ext>
                  </a:extLst>
                </a:gridCol>
                <a:gridCol w="486783">
                  <a:extLst>
                    <a:ext uri="{9D8B030D-6E8A-4147-A177-3AD203B41FA5}">
                      <a16:colId xmlns:a16="http://schemas.microsoft.com/office/drawing/2014/main" val="194434949"/>
                    </a:ext>
                  </a:extLst>
                </a:gridCol>
                <a:gridCol w="486783">
                  <a:extLst>
                    <a:ext uri="{9D8B030D-6E8A-4147-A177-3AD203B41FA5}">
                      <a16:colId xmlns:a16="http://schemas.microsoft.com/office/drawing/2014/main" val="348458557"/>
                    </a:ext>
                  </a:extLst>
                </a:gridCol>
                <a:gridCol w="486783">
                  <a:extLst>
                    <a:ext uri="{9D8B030D-6E8A-4147-A177-3AD203B41FA5}">
                      <a16:colId xmlns:a16="http://schemas.microsoft.com/office/drawing/2014/main" val="3614102787"/>
                    </a:ext>
                  </a:extLst>
                </a:gridCol>
                <a:gridCol w="486783">
                  <a:extLst>
                    <a:ext uri="{9D8B030D-6E8A-4147-A177-3AD203B41FA5}">
                      <a16:colId xmlns:a16="http://schemas.microsoft.com/office/drawing/2014/main" val="3639998648"/>
                    </a:ext>
                  </a:extLst>
                </a:gridCol>
                <a:gridCol w="486783">
                  <a:extLst>
                    <a:ext uri="{9D8B030D-6E8A-4147-A177-3AD203B41FA5}">
                      <a16:colId xmlns:a16="http://schemas.microsoft.com/office/drawing/2014/main" val="3116315663"/>
                    </a:ext>
                  </a:extLst>
                </a:gridCol>
                <a:gridCol w="486783">
                  <a:extLst>
                    <a:ext uri="{9D8B030D-6E8A-4147-A177-3AD203B41FA5}">
                      <a16:colId xmlns:a16="http://schemas.microsoft.com/office/drawing/2014/main" val="894785498"/>
                    </a:ext>
                  </a:extLst>
                </a:gridCol>
                <a:gridCol w="486783">
                  <a:extLst>
                    <a:ext uri="{9D8B030D-6E8A-4147-A177-3AD203B41FA5}">
                      <a16:colId xmlns:a16="http://schemas.microsoft.com/office/drawing/2014/main" val="3645125408"/>
                    </a:ext>
                  </a:extLst>
                </a:gridCol>
                <a:gridCol w="486783">
                  <a:extLst>
                    <a:ext uri="{9D8B030D-6E8A-4147-A177-3AD203B41FA5}">
                      <a16:colId xmlns:a16="http://schemas.microsoft.com/office/drawing/2014/main" val="2832039241"/>
                    </a:ext>
                  </a:extLst>
                </a:gridCol>
                <a:gridCol w="486783">
                  <a:extLst>
                    <a:ext uri="{9D8B030D-6E8A-4147-A177-3AD203B41FA5}">
                      <a16:colId xmlns:a16="http://schemas.microsoft.com/office/drawing/2014/main" val="696315721"/>
                    </a:ext>
                  </a:extLst>
                </a:gridCol>
                <a:gridCol w="486783">
                  <a:extLst>
                    <a:ext uri="{9D8B030D-6E8A-4147-A177-3AD203B41FA5}">
                      <a16:colId xmlns:a16="http://schemas.microsoft.com/office/drawing/2014/main" val="3885578322"/>
                    </a:ext>
                  </a:extLst>
                </a:gridCol>
                <a:gridCol w="486783">
                  <a:extLst>
                    <a:ext uri="{9D8B030D-6E8A-4147-A177-3AD203B41FA5}">
                      <a16:colId xmlns:a16="http://schemas.microsoft.com/office/drawing/2014/main" val="347226873"/>
                    </a:ext>
                  </a:extLst>
                </a:gridCol>
                <a:gridCol w="486783">
                  <a:extLst>
                    <a:ext uri="{9D8B030D-6E8A-4147-A177-3AD203B41FA5}">
                      <a16:colId xmlns:a16="http://schemas.microsoft.com/office/drawing/2014/main" val="3112529547"/>
                    </a:ext>
                  </a:extLst>
                </a:gridCol>
                <a:gridCol w="486783">
                  <a:extLst>
                    <a:ext uri="{9D8B030D-6E8A-4147-A177-3AD203B41FA5}">
                      <a16:colId xmlns:a16="http://schemas.microsoft.com/office/drawing/2014/main" val="1525126350"/>
                    </a:ext>
                  </a:extLst>
                </a:gridCol>
                <a:gridCol w="486783">
                  <a:extLst>
                    <a:ext uri="{9D8B030D-6E8A-4147-A177-3AD203B41FA5}">
                      <a16:colId xmlns:a16="http://schemas.microsoft.com/office/drawing/2014/main" val="379827691"/>
                    </a:ext>
                  </a:extLst>
                </a:gridCol>
                <a:gridCol w="486783">
                  <a:extLst>
                    <a:ext uri="{9D8B030D-6E8A-4147-A177-3AD203B41FA5}">
                      <a16:colId xmlns:a16="http://schemas.microsoft.com/office/drawing/2014/main" val="49789408"/>
                    </a:ext>
                  </a:extLst>
                </a:gridCol>
                <a:gridCol w="486783">
                  <a:extLst>
                    <a:ext uri="{9D8B030D-6E8A-4147-A177-3AD203B41FA5}">
                      <a16:colId xmlns:a16="http://schemas.microsoft.com/office/drawing/2014/main" val="709977708"/>
                    </a:ext>
                  </a:extLst>
                </a:gridCol>
                <a:gridCol w="486783">
                  <a:extLst>
                    <a:ext uri="{9D8B030D-6E8A-4147-A177-3AD203B41FA5}">
                      <a16:colId xmlns:a16="http://schemas.microsoft.com/office/drawing/2014/main" val="4280954220"/>
                    </a:ext>
                  </a:extLst>
                </a:gridCol>
                <a:gridCol w="486783">
                  <a:extLst>
                    <a:ext uri="{9D8B030D-6E8A-4147-A177-3AD203B41FA5}">
                      <a16:colId xmlns:a16="http://schemas.microsoft.com/office/drawing/2014/main" val="3652301727"/>
                    </a:ext>
                  </a:extLst>
                </a:gridCol>
                <a:gridCol w="486783">
                  <a:extLst>
                    <a:ext uri="{9D8B030D-6E8A-4147-A177-3AD203B41FA5}">
                      <a16:colId xmlns:a16="http://schemas.microsoft.com/office/drawing/2014/main" val="4069433029"/>
                    </a:ext>
                  </a:extLst>
                </a:gridCol>
                <a:gridCol w="486783">
                  <a:extLst>
                    <a:ext uri="{9D8B030D-6E8A-4147-A177-3AD203B41FA5}">
                      <a16:colId xmlns:a16="http://schemas.microsoft.com/office/drawing/2014/main" val="1532273083"/>
                    </a:ext>
                  </a:extLst>
                </a:gridCol>
                <a:gridCol w="486783">
                  <a:extLst>
                    <a:ext uri="{9D8B030D-6E8A-4147-A177-3AD203B41FA5}">
                      <a16:colId xmlns:a16="http://schemas.microsoft.com/office/drawing/2014/main" val="444198552"/>
                    </a:ext>
                  </a:extLst>
                </a:gridCol>
              </a:tblGrid>
              <a:tr h="360000">
                <a:tc gridSpan="3">
                  <a:txBody>
                    <a:bodyPr/>
                    <a:lstStyle/>
                    <a:p>
                      <a:pPr algn="ctr"/>
                      <a:r>
                        <a:rPr lang="en-US" altLang="zh-CN" sz="1600" b="1">
                          <a:solidFill>
                            <a:schemeClr val="bg1"/>
                          </a:solidFill>
                        </a:rPr>
                        <a:t>2025</a:t>
                      </a:r>
                      <a:endParaRPr lang="zh-CN" altLang="en-US" sz="1600" b="1">
                        <a:solidFill>
                          <a:schemeClr val="bg1"/>
                        </a:solidFill>
                      </a:endParaRPr>
                    </a:p>
                  </a:txBody>
                  <a:tcPr>
                    <a:lnL>
                      <a:noFill/>
                    </a:lnL>
                    <a:lnT>
                      <a:noFill/>
                    </a:lnT>
                    <a:lnB>
                      <a:noFill/>
                    </a:lnB>
                    <a:lnTlToBr w="12700" cmpd="sng">
                      <a:noFill/>
                      <a:prstDash val="solid"/>
                    </a:lnTlToBr>
                    <a:lnBlToTr w="12700" cmpd="sng">
                      <a:noFill/>
                      <a:prstDash val="solid"/>
                    </a:lnBlToTr>
                    <a:solidFill>
                      <a:schemeClr val="bg2"/>
                    </a:solidFill>
                  </a:tcPr>
                </a:tc>
                <a:tc hMerge="1">
                  <a:txBody>
                    <a:bodyPr/>
                    <a:lstStyle/>
                    <a:p>
                      <a:endParaRPr/>
                    </a:p>
                  </a:txBody>
                  <a:tcPr>
                    <a:lnL w="19050" cap="flat" cmpd="sng" algn="ctr">
                      <a:no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endParaRPr lang="zh-CN" altLang="en-US"/>
                    </a:p>
                  </a:txBody>
                  <a:tcPr/>
                </a:tc>
                <a:tc gridSpan="4">
                  <a:txBody>
                    <a:bodyPr/>
                    <a:lstStyle/>
                    <a:p>
                      <a:pPr algn="ctr"/>
                      <a:r>
                        <a:rPr lang="en-US" altLang="zh-CN" sz="1600" b="1">
                          <a:solidFill>
                            <a:schemeClr val="bg1"/>
                          </a:solidFill>
                        </a:rPr>
                        <a:t>2026</a:t>
                      </a:r>
                      <a:endParaRPr lang="zh-CN" altLang="en-US" sz="1600" b="1">
                        <a:solidFill>
                          <a:schemeClr val="bg1"/>
                        </a:solidFill>
                      </a:endParaRPr>
                    </a:p>
                  </a:txBody>
                  <a:tcPr>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a:r>
                        <a:rPr lang="en-US" altLang="zh-CN" sz="1600" b="1">
                          <a:solidFill>
                            <a:schemeClr val="bg1"/>
                          </a:solidFill>
                        </a:rPr>
                        <a:t>2027</a:t>
                      </a:r>
                      <a:endParaRPr lang="zh-CN" altLang="en-US" sz="16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a:r>
                        <a:rPr lang="en-US" altLang="zh-CN" sz="1600" b="1">
                          <a:solidFill>
                            <a:schemeClr val="bg1"/>
                          </a:solidFill>
                        </a:rPr>
                        <a:t>2028</a:t>
                      </a:r>
                      <a:endParaRPr lang="zh-CN" altLang="en-US" sz="16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a:r>
                        <a:rPr lang="en-US" altLang="zh-CN" sz="1600" b="1">
                          <a:solidFill>
                            <a:schemeClr val="bg1"/>
                          </a:solidFill>
                        </a:rPr>
                        <a:t>2029</a:t>
                      </a:r>
                      <a:endParaRPr lang="zh-CN" altLang="en-US" sz="16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pPr algn="ctr"/>
                      <a:endParaRPr lang="zh-CN" altLang="en-US" sz="18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pPr algn="ctr"/>
                      <a:endParaRPr lang="zh-CN" altLang="en-US" sz="18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pPr algn="ctr"/>
                      <a:endParaRPr lang="zh-CN" altLang="en-US" sz="18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gridSpan="4">
                  <a:txBody>
                    <a:bodyPr/>
                    <a:lstStyle/>
                    <a:p>
                      <a:pPr algn="ctr"/>
                      <a:r>
                        <a:rPr lang="en-US" altLang="zh-CN" sz="1600" b="1">
                          <a:solidFill>
                            <a:schemeClr val="bg1"/>
                          </a:solidFill>
                        </a:rPr>
                        <a:t>2030</a:t>
                      </a:r>
                      <a:endParaRPr lang="zh-CN" altLang="en-US" sz="16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pPr algn="ctr"/>
                      <a:endParaRPr lang="zh-CN" altLang="en-US" sz="18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pPr algn="ctr"/>
                      <a:endParaRPr lang="zh-CN" altLang="en-US" sz="18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pPr algn="ctr"/>
                      <a:endParaRPr lang="zh-CN" altLang="en-US" sz="18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extLst>
                  <a:ext uri="{0D108BD9-81ED-4DB2-BD59-A6C34878D82A}">
                    <a16:rowId xmlns:a16="http://schemas.microsoft.com/office/drawing/2014/main" val="145374884"/>
                  </a:ext>
                </a:extLst>
              </a:tr>
              <a:tr h="360000">
                <a:tc>
                  <a:txBody>
                    <a:bodyPr/>
                    <a:lstStyle/>
                    <a:p>
                      <a:pPr algn="ctr"/>
                      <a:r>
                        <a:rPr lang="en-US" altLang="zh-CN" sz="1200"/>
                        <a:t>Oct</a:t>
                      </a:r>
                      <a:endParaRPr lang="zh-CN" altLang="en-US" sz="1200"/>
                    </a:p>
                  </a:txBody>
                  <a:tcP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t>Nov</a:t>
                      </a:r>
                      <a:endParaRPr lang="zh-CN" altLang="en-US" sz="1200"/>
                    </a:p>
                  </a:txBody>
                  <a:tcPr>
                    <a:lnL>
                      <a:noFill/>
                    </a:lnL>
                    <a:lnB w="19050" cap="flat" cmpd="sng" algn="ctr">
                      <a:solidFill>
                        <a:schemeClr val="tx1"/>
                      </a:solidFill>
                      <a:prstDash val="solid"/>
                      <a:round/>
                      <a:headEnd type="none" w="med" len="med"/>
                      <a:tailEnd type="none" w="med" len="med"/>
                    </a:lnB>
                  </a:tcPr>
                </a:tc>
                <a:tc>
                  <a:txBody>
                    <a:bodyPr/>
                    <a:lstStyle/>
                    <a:p>
                      <a:pPr algn="ctr"/>
                      <a:r>
                        <a:rPr lang="en-US" altLang="zh-CN" sz="1200"/>
                        <a:t>Dec</a:t>
                      </a:r>
                      <a:endParaRPr lang="zh-CN" altLang="en-US" sz="1200"/>
                    </a:p>
                  </a:txBody>
                  <a:tcPr>
                    <a:lnR w="19050" cap="flat" cmpd="sng" algn="ctr">
                      <a:solidFill>
                        <a:schemeClr val="bg1">
                          <a:lumMod val="75000"/>
                        </a:schemeClr>
                      </a:solidFill>
                      <a:prstDash val="sysDot"/>
                      <a:round/>
                      <a:headEnd type="none" w="med" len="med"/>
                      <a:tailEnd type="none" w="med" len="med"/>
                    </a:lnR>
                    <a:lnB w="19050" cap="flat" cmpd="sng" algn="ctr">
                      <a:solidFill>
                        <a:schemeClr val="tx1"/>
                      </a:solidFill>
                      <a:prstDash val="solid"/>
                      <a:round/>
                      <a:headEnd type="none" w="med" len="med"/>
                      <a:tailEnd type="none" w="med" len="med"/>
                    </a:lnB>
                  </a:tcPr>
                </a:tc>
                <a:tc>
                  <a:txBody>
                    <a:bodyPr/>
                    <a:lstStyle/>
                    <a:p>
                      <a:pPr algn="ctr"/>
                      <a:r>
                        <a:rPr lang="en-US" altLang="zh-CN" sz="1200"/>
                        <a:t>Q1</a:t>
                      </a:r>
                      <a:endParaRPr lang="zh-CN" altLang="en-US" sz="1200"/>
                    </a:p>
                  </a:txBody>
                  <a:tcPr>
                    <a:lnL w="19050" cap="flat" cmpd="sng" algn="ctr">
                      <a:solidFill>
                        <a:schemeClr val="bg1">
                          <a:lumMod val="75000"/>
                        </a:schemeClr>
                      </a:solidFill>
                      <a:prstDash val="sysDot"/>
                      <a:round/>
                      <a:headEnd type="none" w="med" len="med"/>
                      <a:tailEnd type="none" w="med" len="med"/>
                    </a:lnL>
                    <a:lnB w="19050" cap="flat" cmpd="sng" algn="ctr">
                      <a:solidFill>
                        <a:schemeClr val="tx1"/>
                      </a:solidFill>
                      <a:prstDash val="solid"/>
                      <a:round/>
                      <a:headEnd type="none" w="med" len="med"/>
                      <a:tailEnd type="none" w="med" len="med"/>
                    </a:lnB>
                  </a:tcPr>
                </a:tc>
                <a:tc>
                  <a:txBody>
                    <a:bodyPr/>
                    <a:lstStyle/>
                    <a:p>
                      <a:pPr algn="ctr"/>
                      <a:r>
                        <a:rPr lang="en-US" altLang="zh-CN" sz="1200"/>
                        <a:t>Q2</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Q3</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Q4</a:t>
                      </a:r>
                      <a:endParaRPr lang="zh-CN" altLang="en-US" sz="1200"/>
                    </a:p>
                  </a:txBody>
                  <a:tcPr>
                    <a:lnR w="19050" cap="flat" cmpd="sng" algn="ctr">
                      <a:solidFill>
                        <a:schemeClr val="bg1">
                          <a:lumMod val="75000"/>
                        </a:schemeClr>
                      </a:solidFill>
                      <a:prstDash val="sysDot"/>
                      <a:round/>
                      <a:headEnd type="none" w="med" len="med"/>
                      <a:tailEnd type="none" w="med" len="med"/>
                    </a:lnR>
                    <a:lnB w="19050" cap="flat" cmpd="sng" algn="ctr">
                      <a:solidFill>
                        <a:schemeClr val="tx1"/>
                      </a:solidFill>
                      <a:prstDash val="solid"/>
                      <a:round/>
                      <a:headEnd type="none" w="med" len="med"/>
                      <a:tailEnd type="none" w="med" len="med"/>
                    </a:lnB>
                  </a:tcPr>
                </a:tc>
                <a:tc>
                  <a:txBody>
                    <a:bodyPr/>
                    <a:lstStyle/>
                    <a:p>
                      <a:pPr algn="ctr"/>
                      <a:r>
                        <a:rPr lang="en-US" altLang="zh-CN" sz="1200"/>
                        <a:t>Q1</a:t>
                      </a:r>
                      <a:endParaRPr lang="zh-CN" altLang="en-US" sz="1200"/>
                    </a:p>
                  </a:txBody>
                  <a:tcPr>
                    <a:lnL w="19050" cap="flat" cmpd="sng" algn="ctr">
                      <a:solidFill>
                        <a:schemeClr val="bg1">
                          <a:lumMod val="75000"/>
                        </a:schemeClr>
                      </a:solidFill>
                      <a:prstDash val="sysDot"/>
                      <a:round/>
                      <a:headEnd type="none" w="med" len="med"/>
                      <a:tailEnd type="none" w="med" len="med"/>
                    </a:lnL>
                    <a:lnB w="19050" cap="flat" cmpd="sng" algn="ctr">
                      <a:solidFill>
                        <a:schemeClr val="tx1"/>
                      </a:solidFill>
                      <a:prstDash val="solid"/>
                      <a:round/>
                      <a:headEnd type="none" w="med" len="med"/>
                      <a:tailEnd type="none" w="med" len="med"/>
                    </a:lnB>
                  </a:tcPr>
                </a:tc>
                <a:tc>
                  <a:txBody>
                    <a:bodyPr/>
                    <a:lstStyle/>
                    <a:p>
                      <a:pPr algn="ctr"/>
                      <a:r>
                        <a:rPr lang="en-US" altLang="zh-CN" sz="1200"/>
                        <a:t>Q2</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Q3</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Q4</a:t>
                      </a:r>
                      <a:endParaRPr lang="zh-CN" altLang="en-US" sz="1200"/>
                    </a:p>
                  </a:txBody>
                  <a:tcPr>
                    <a:lnR w="19050" cap="flat" cmpd="sng" algn="ctr">
                      <a:solidFill>
                        <a:schemeClr val="bg1">
                          <a:lumMod val="75000"/>
                        </a:schemeClr>
                      </a:solidFill>
                      <a:prstDash val="sysDot"/>
                      <a:round/>
                      <a:headEnd type="none" w="med" len="med"/>
                      <a:tailEnd type="none" w="med" len="med"/>
                    </a:lnR>
                    <a:lnB w="19050" cap="flat" cmpd="sng" algn="ctr">
                      <a:solidFill>
                        <a:schemeClr val="tx1"/>
                      </a:solidFill>
                      <a:prstDash val="solid"/>
                      <a:round/>
                      <a:headEnd type="none" w="med" len="med"/>
                      <a:tailEnd type="none" w="med" len="med"/>
                    </a:lnB>
                  </a:tcPr>
                </a:tc>
                <a:tc>
                  <a:txBody>
                    <a:bodyPr/>
                    <a:lstStyle/>
                    <a:p>
                      <a:pPr algn="ctr"/>
                      <a:r>
                        <a:rPr lang="en-US" altLang="zh-CN" sz="1200"/>
                        <a:t>Q1</a:t>
                      </a:r>
                      <a:endParaRPr lang="zh-CN" altLang="en-US" sz="1200"/>
                    </a:p>
                  </a:txBody>
                  <a:tcPr>
                    <a:lnL w="19050" cap="flat" cmpd="sng" algn="ctr">
                      <a:solidFill>
                        <a:schemeClr val="bg1">
                          <a:lumMod val="75000"/>
                        </a:schemeClr>
                      </a:solidFill>
                      <a:prstDash val="sysDot"/>
                      <a:round/>
                      <a:headEnd type="none" w="med" len="med"/>
                      <a:tailEnd type="none" w="med" len="med"/>
                    </a:lnL>
                    <a:lnB w="19050" cap="flat" cmpd="sng" algn="ctr">
                      <a:solidFill>
                        <a:schemeClr val="tx1"/>
                      </a:solidFill>
                      <a:prstDash val="solid"/>
                      <a:round/>
                      <a:headEnd type="none" w="med" len="med"/>
                      <a:tailEnd type="none" w="med" len="med"/>
                    </a:lnB>
                  </a:tcPr>
                </a:tc>
                <a:tc>
                  <a:txBody>
                    <a:bodyPr/>
                    <a:lstStyle/>
                    <a:p>
                      <a:pPr algn="ctr"/>
                      <a:r>
                        <a:rPr lang="en-US" altLang="zh-CN" sz="1200"/>
                        <a:t>Q2</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Q3</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Q4</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Q1</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Q2</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Q3</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Q4</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Q1</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Q2</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Q3</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Q4</a:t>
                      </a:r>
                      <a:endParaRPr lang="zh-CN" altLang="en-US" sz="1200"/>
                    </a:p>
                  </a:txBody>
                  <a:tcPr>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193944"/>
                  </a:ext>
                </a:extLst>
              </a:tr>
            </a:tbl>
          </a:graphicData>
        </a:graphic>
      </p:graphicFrame>
      <p:sp>
        <p:nvSpPr>
          <p:cNvPr id="15" name="文本框 14">
            <a:extLst>
              <a:ext uri="{FF2B5EF4-FFF2-40B4-BE49-F238E27FC236}">
                <a16:creationId xmlns:a16="http://schemas.microsoft.com/office/drawing/2014/main" id="{5854BB43-C8EF-9E2C-FFBF-00A4BB1BB8B5}"/>
              </a:ext>
            </a:extLst>
          </p:cNvPr>
          <p:cNvSpPr txBox="1"/>
          <p:nvPr/>
        </p:nvSpPr>
        <p:spPr>
          <a:xfrm>
            <a:off x="1330255" y="3191374"/>
            <a:ext cx="793486" cy="415498"/>
          </a:xfrm>
          <a:prstGeom prst="rect">
            <a:avLst/>
          </a:prstGeom>
          <a:noFill/>
        </p:spPr>
        <p:txBody>
          <a:bodyPr wrap="square" lIns="0" tIns="0" rIns="0" bIns="0" rtlCol="0">
            <a:spAutoFit/>
          </a:bodyPr>
          <a:lstStyle/>
          <a:p>
            <a:pPr algn="ctr"/>
            <a:r>
              <a:rPr lang="en-US" altLang="zh-CN" sz="900" b="1">
                <a:solidFill>
                  <a:schemeClr val="bg2"/>
                </a:solidFill>
              </a:rPr>
              <a:t>Dec.25</a:t>
            </a:r>
          </a:p>
          <a:p>
            <a:pPr algn="ctr"/>
            <a:r>
              <a:rPr lang="en-US" altLang="zh-CN" sz="900">
                <a:solidFill>
                  <a:schemeClr val="bg2"/>
                </a:solidFill>
              </a:rPr>
              <a:t>CEC&amp;PEC endorse</a:t>
            </a:r>
            <a:endParaRPr lang="zh-CN" altLang="en-US" sz="900">
              <a:solidFill>
                <a:schemeClr val="bg2"/>
              </a:solidFill>
            </a:endParaRPr>
          </a:p>
        </p:txBody>
      </p:sp>
      <p:sp>
        <p:nvSpPr>
          <p:cNvPr id="16" name="文本框 15">
            <a:extLst>
              <a:ext uri="{FF2B5EF4-FFF2-40B4-BE49-F238E27FC236}">
                <a16:creationId xmlns:a16="http://schemas.microsoft.com/office/drawing/2014/main" id="{DA88DFA7-CA6C-1630-B1DE-28CA12085101}"/>
              </a:ext>
            </a:extLst>
          </p:cNvPr>
          <p:cNvSpPr txBox="1"/>
          <p:nvPr/>
        </p:nvSpPr>
        <p:spPr>
          <a:xfrm>
            <a:off x="2014214" y="3210528"/>
            <a:ext cx="793486" cy="415498"/>
          </a:xfrm>
          <a:prstGeom prst="rect">
            <a:avLst/>
          </a:prstGeom>
          <a:noFill/>
        </p:spPr>
        <p:txBody>
          <a:bodyPr wrap="square" lIns="0" tIns="0" rIns="0" bIns="0" rtlCol="0">
            <a:spAutoFit/>
          </a:bodyPr>
          <a:lstStyle/>
          <a:p>
            <a:pPr algn="ctr"/>
            <a:r>
              <a:rPr lang="en-US" altLang="zh-CN" sz="900" b="1">
                <a:solidFill>
                  <a:schemeClr val="bg2"/>
                </a:solidFill>
              </a:rPr>
              <a:t>Apr.26</a:t>
            </a:r>
          </a:p>
          <a:p>
            <a:pPr algn="ctr"/>
            <a:r>
              <a:rPr lang="en-US" altLang="zh-CN" sz="900">
                <a:solidFill>
                  <a:schemeClr val="bg2"/>
                </a:solidFill>
              </a:rPr>
              <a:t>Corporate endorse</a:t>
            </a:r>
            <a:endParaRPr lang="zh-CN" altLang="en-US" sz="900">
              <a:solidFill>
                <a:schemeClr val="bg2"/>
              </a:solidFill>
            </a:endParaRPr>
          </a:p>
        </p:txBody>
      </p:sp>
      <p:sp>
        <p:nvSpPr>
          <p:cNvPr id="17" name="文本框 16">
            <a:extLst>
              <a:ext uri="{FF2B5EF4-FFF2-40B4-BE49-F238E27FC236}">
                <a16:creationId xmlns:a16="http://schemas.microsoft.com/office/drawing/2014/main" id="{435A4E6F-9D6E-29EE-EB7A-EA5CEF65FE49}"/>
              </a:ext>
            </a:extLst>
          </p:cNvPr>
          <p:cNvSpPr txBox="1"/>
          <p:nvPr/>
        </p:nvSpPr>
        <p:spPr>
          <a:xfrm>
            <a:off x="2724839" y="3208862"/>
            <a:ext cx="503343" cy="276999"/>
          </a:xfrm>
          <a:prstGeom prst="rect">
            <a:avLst/>
          </a:prstGeom>
          <a:noFill/>
        </p:spPr>
        <p:txBody>
          <a:bodyPr wrap="square" lIns="0" tIns="0" rIns="0" bIns="0" rtlCol="0" anchor="t">
            <a:spAutoFit/>
          </a:bodyPr>
          <a:lstStyle/>
          <a:p>
            <a:pPr algn="ctr"/>
            <a:r>
              <a:rPr lang="en-US" altLang="zh-CN" sz="900" b="1">
                <a:solidFill>
                  <a:schemeClr val="bg2"/>
                </a:solidFill>
              </a:rPr>
              <a:t>Jul.26</a:t>
            </a:r>
          </a:p>
          <a:p>
            <a:pPr algn="ctr"/>
            <a:r>
              <a:rPr lang="en-US" altLang="zh-CN" sz="900">
                <a:solidFill>
                  <a:schemeClr val="bg2"/>
                </a:solidFill>
              </a:rPr>
              <a:t>CTP app</a:t>
            </a:r>
            <a:endParaRPr lang="zh-CN" altLang="en-US" sz="900">
              <a:solidFill>
                <a:schemeClr val="bg2"/>
              </a:solidFill>
            </a:endParaRPr>
          </a:p>
        </p:txBody>
      </p:sp>
      <p:sp>
        <p:nvSpPr>
          <p:cNvPr id="18" name="文本框 17">
            <a:extLst>
              <a:ext uri="{FF2B5EF4-FFF2-40B4-BE49-F238E27FC236}">
                <a16:creationId xmlns:a16="http://schemas.microsoft.com/office/drawing/2014/main" id="{559B2D3A-DF9E-EF82-C114-1FB06502EDD1}"/>
              </a:ext>
            </a:extLst>
          </p:cNvPr>
          <p:cNvSpPr txBox="1"/>
          <p:nvPr/>
        </p:nvSpPr>
        <p:spPr>
          <a:xfrm>
            <a:off x="3431007" y="3210528"/>
            <a:ext cx="562655" cy="415498"/>
          </a:xfrm>
          <a:prstGeom prst="rect">
            <a:avLst/>
          </a:prstGeom>
          <a:noFill/>
        </p:spPr>
        <p:txBody>
          <a:bodyPr wrap="square" lIns="0" tIns="0" rIns="0" bIns="0" rtlCol="0" anchor="t">
            <a:spAutoFit/>
          </a:bodyPr>
          <a:lstStyle/>
          <a:p>
            <a:pPr algn="ctr"/>
            <a:r>
              <a:rPr lang="en-US" altLang="zh-CN" sz="900" b="1">
                <a:solidFill>
                  <a:schemeClr val="bg2"/>
                </a:solidFill>
              </a:rPr>
              <a:t>Dec.26</a:t>
            </a:r>
          </a:p>
          <a:p>
            <a:r>
              <a:rPr lang="en-US" altLang="zh-CN" sz="900">
                <a:solidFill>
                  <a:schemeClr val="bg2"/>
                </a:solidFill>
              </a:rPr>
              <a:t>Contract </a:t>
            </a:r>
          </a:p>
          <a:p>
            <a:pPr algn="ctr"/>
            <a:r>
              <a:rPr lang="en-US" altLang="zh-CN" sz="900">
                <a:solidFill>
                  <a:schemeClr val="bg2"/>
                </a:solidFill>
              </a:rPr>
              <a:t>sign-off</a:t>
            </a:r>
            <a:endParaRPr lang="zh-CN" altLang="en-US" sz="900">
              <a:solidFill>
                <a:schemeClr val="bg2"/>
              </a:solidFill>
            </a:endParaRPr>
          </a:p>
        </p:txBody>
      </p:sp>
      <p:sp>
        <p:nvSpPr>
          <p:cNvPr id="19" name="Rechteck 17">
            <a:extLst>
              <a:ext uri="{FF2B5EF4-FFF2-40B4-BE49-F238E27FC236}">
                <a16:creationId xmlns:a16="http://schemas.microsoft.com/office/drawing/2014/main" id="{120863C1-E1E9-0D85-1729-1B63C8A790EB}"/>
              </a:ext>
            </a:extLst>
          </p:cNvPr>
          <p:cNvSpPr/>
          <p:nvPr/>
        </p:nvSpPr>
        <p:spPr bwMode="gray">
          <a:xfrm rot="16200000">
            <a:off x="3676329" y="3689317"/>
            <a:ext cx="72009" cy="45719"/>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20" name="文本框 19">
            <a:extLst>
              <a:ext uri="{FF2B5EF4-FFF2-40B4-BE49-F238E27FC236}">
                <a16:creationId xmlns:a16="http://schemas.microsoft.com/office/drawing/2014/main" id="{DB7637ED-2C5E-E18D-AC03-CAA816926D5A}"/>
              </a:ext>
            </a:extLst>
          </p:cNvPr>
          <p:cNvSpPr txBox="1"/>
          <p:nvPr/>
        </p:nvSpPr>
        <p:spPr>
          <a:xfrm>
            <a:off x="4317823" y="3198753"/>
            <a:ext cx="469679" cy="415498"/>
          </a:xfrm>
          <a:prstGeom prst="rect">
            <a:avLst/>
          </a:prstGeom>
          <a:noFill/>
        </p:spPr>
        <p:txBody>
          <a:bodyPr wrap="square" lIns="0" tIns="0" rIns="0" bIns="0" rtlCol="0">
            <a:spAutoFit/>
          </a:bodyPr>
          <a:lstStyle/>
          <a:p>
            <a:pPr algn="ctr"/>
            <a:r>
              <a:rPr lang="en-US" altLang="zh-CN" sz="900" b="1">
                <a:solidFill>
                  <a:schemeClr val="bg2"/>
                </a:solidFill>
              </a:rPr>
              <a:t>2027Q2</a:t>
            </a:r>
          </a:p>
          <a:p>
            <a:pPr algn="ctr"/>
            <a:r>
              <a:rPr lang="en-US" altLang="zh-CN" sz="900">
                <a:solidFill>
                  <a:schemeClr val="bg2"/>
                </a:solidFill>
              </a:rPr>
              <a:t>Final </a:t>
            </a:r>
          </a:p>
          <a:p>
            <a:pPr algn="ctr"/>
            <a:r>
              <a:rPr lang="en-US" altLang="zh-CN" sz="900">
                <a:solidFill>
                  <a:schemeClr val="bg2"/>
                </a:solidFill>
              </a:rPr>
              <a:t>analysis</a:t>
            </a:r>
            <a:endParaRPr lang="zh-CN" altLang="en-US" sz="900">
              <a:solidFill>
                <a:schemeClr val="bg2"/>
              </a:solidFill>
            </a:endParaRPr>
          </a:p>
        </p:txBody>
      </p:sp>
      <p:sp>
        <p:nvSpPr>
          <p:cNvPr id="21" name="文本框 20">
            <a:extLst>
              <a:ext uri="{FF2B5EF4-FFF2-40B4-BE49-F238E27FC236}">
                <a16:creationId xmlns:a16="http://schemas.microsoft.com/office/drawing/2014/main" id="{EF344450-1D45-6520-258C-81CD345E69A9}"/>
              </a:ext>
            </a:extLst>
          </p:cNvPr>
          <p:cNvSpPr txBox="1"/>
          <p:nvPr/>
        </p:nvSpPr>
        <p:spPr>
          <a:xfrm>
            <a:off x="5170466" y="3185450"/>
            <a:ext cx="469679" cy="276999"/>
          </a:xfrm>
          <a:prstGeom prst="rect">
            <a:avLst/>
          </a:prstGeom>
          <a:noFill/>
        </p:spPr>
        <p:txBody>
          <a:bodyPr wrap="square" lIns="0" tIns="0" rIns="0" bIns="0" rtlCol="0">
            <a:spAutoFit/>
          </a:bodyPr>
          <a:lstStyle/>
          <a:p>
            <a:pPr algn="ctr"/>
            <a:r>
              <a:rPr lang="en-US" altLang="zh-CN" sz="900" b="1">
                <a:solidFill>
                  <a:schemeClr val="bg2"/>
                </a:solidFill>
              </a:rPr>
              <a:t>2027Q4</a:t>
            </a:r>
          </a:p>
          <a:p>
            <a:pPr algn="ctr"/>
            <a:r>
              <a:rPr lang="en-US" altLang="zh-CN" sz="900">
                <a:solidFill>
                  <a:schemeClr val="bg2"/>
                </a:solidFill>
              </a:rPr>
              <a:t>CTR</a:t>
            </a:r>
            <a:endParaRPr lang="zh-CN" altLang="en-US" sz="900">
              <a:solidFill>
                <a:schemeClr val="bg2"/>
              </a:solidFill>
            </a:endParaRPr>
          </a:p>
        </p:txBody>
      </p:sp>
      <p:sp>
        <p:nvSpPr>
          <p:cNvPr id="22" name="Textplatzhalter 2">
            <a:extLst>
              <a:ext uri="{FF2B5EF4-FFF2-40B4-BE49-F238E27FC236}">
                <a16:creationId xmlns:a16="http://schemas.microsoft.com/office/drawing/2014/main" id="{41C0F82A-5CB3-0B60-9815-91FD7CE942DD}"/>
              </a:ext>
            </a:extLst>
          </p:cNvPr>
          <p:cNvSpPr txBox="1">
            <a:spLocks/>
          </p:cNvSpPr>
          <p:nvPr/>
        </p:nvSpPr>
        <p:spPr bwMode="gray">
          <a:xfrm>
            <a:off x="476413" y="5362299"/>
            <a:ext cx="9604642" cy="723988"/>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215900" indent="-215900">
              <a:buFont typeface="Wingdings" panose="05000000000000000000" pitchFamily="2" charset="2"/>
              <a:buChar char="l"/>
            </a:pPr>
            <a:r>
              <a:rPr lang="en-US" b="1">
                <a:solidFill>
                  <a:schemeClr val="bg2"/>
                </a:solidFill>
              </a:rPr>
              <a:t>Total budget:    2,000,000 RMB, global funding </a:t>
            </a:r>
            <a:endParaRPr lang="zh-CN" altLang="en-US">
              <a:solidFill>
                <a:schemeClr val="bg2"/>
              </a:solidFill>
            </a:endParaRPr>
          </a:p>
        </p:txBody>
      </p:sp>
      <p:sp>
        <p:nvSpPr>
          <p:cNvPr id="34" name="Rechteck 17">
            <a:extLst>
              <a:ext uri="{FF2B5EF4-FFF2-40B4-BE49-F238E27FC236}">
                <a16:creationId xmlns:a16="http://schemas.microsoft.com/office/drawing/2014/main" id="{FA5D80DC-7809-19C7-C4A9-7CA4F1AE1D95}"/>
              </a:ext>
            </a:extLst>
          </p:cNvPr>
          <p:cNvSpPr/>
          <p:nvPr/>
        </p:nvSpPr>
        <p:spPr bwMode="gray">
          <a:xfrm rot="16200000">
            <a:off x="7567351" y="3697356"/>
            <a:ext cx="72009" cy="45719"/>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35" name="文本框 34">
            <a:extLst>
              <a:ext uri="{FF2B5EF4-FFF2-40B4-BE49-F238E27FC236}">
                <a16:creationId xmlns:a16="http://schemas.microsoft.com/office/drawing/2014/main" id="{F0F40BBD-B4B9-541B-FD77-B0E75A043EA9}"/>
              </a:ext>
            </a:extLst>
          </p:cNvPr>
          <p:cNvSpPr txBox="1"/>
          <p:nvPr/>
        </p:nvSpPr>
        <p:spPr>
          <a:xfrm>
            <a:off x="7286992" y="3324790"/>
            <a:ext cx="757684" cy="276999"/>
          </a:xfrm>
          <a:prstGeom prst="rect">
            <a:avLst/>
          </a:prstGeom>
          <a:noFill/>
        </p:spPr>
        <p:txBody>
          <a:bodyPr wrap="square" lIns="0" tIns="0" rIns="0" bIns="0" rtlCol="0">
            <a:spAutoFit/>
          </a:bodyPr>
          <a:lstStyle/>
          <a:p>
            <a:pPr algn="ctr"/>
            <a:r>
              <a:rPr lang="en-US" altLang="zh-CN" sz="900" b="1">
                <a:solidFill>
                  <a:schemeClr val="bg2"/>
                </a:solidFill>
              </a:rPr>
              <a:t>Dec.28</a:t>
            </a:r>
          </a:p>
          <a:p>
            <a:pPr algn="ctr"/>
            <a:r>
              <a:rPr lang="en-US" altLang="zh-CN" sz="900">
                <a:solidFill>
                  <a:schemeClr val="bg2"/>
                </a:solidFill>
              </a:rPr>
              <a:t>Manuscript</a:t>
            </a:r>
            <a:endParaRPr lang="zh-CN" altLang="en-US" sz="900">
              <a:solidFill>
                <a:schemeClr val="bg2"/>
              </a:solidFill>
            </a:endParaRPr>
          </a:p>
        </p:txBody>
      </p:sp>
      <p:sp>
        <p:nvSpPr>
          <p:cNvPr id="3" name="Rechteck 17">
            <a:extLst>
              <a:ext uri="{FF2B5EF4-FFF2-40B4-BE49-F238E27FC236}">
                <a16:creationId xmlns:a16="http://schemas.microsoft.com/office/drawing/2014/main" id="{483A113D-1F98-F11A-7875-DE5E544FE506}"/>
              </a:ext>
            </a:extLst>
          </p:cNvPr>
          <p:cNvSpPr/>
          <p:nvPr/>
        </p:nvSpPr>
        <p:spPr bwMode="gray">
          <a:xfrm>
            <a:off x="198866" y="4834189"/>
            <a:ext cx="11812736" cy="8171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38" name="文本框 26">
            <a:extLst>
              <a:ext uri="{FF2B5EF4-FFF2-40B4-BE49-F238E27FC236}">
                <a16:creationId xmlns:a16="http://schemas.microsoft.com/office/drawing/2014/main" id="{E1C54F42-366A-474D-47BF-BBE531811C08}"/>
              </a:ext>
            </a:extLst>
          </p:cNvPr>
          <p:cNvSpPr txBox="1"/>
          <p:nvPr/>
        </p:nvSpPr>
        <p:spPr>
          <a:xfrm>
            <a:off x="6931942" y="4417603"/>
            <a:ext cx="1041618" cy="276999"/>
          </a:xfrm>
          <a:prstGeom prst="rect">
            <a:avLst/>
          </a:prstGeom>
          <a:noFill/>
        </p:spPr>
        <p:txBody>
          <a:bodyPr wrap="square" lIns="0" tIns="0" rIns="0" bIns="0" rtlCol="0">
            <a:spAutoFit/>
          </a:bodyPr>
          <a:lstStyle/>
          <a:p>
            <a:pPr algn="ctr"/>
            <a:r>
              <a:rPr lang="en-US" altLang="zh-CN" sz="900" b="1">
                <a:solidFill>
                  <a:schemeClr val="bg2"/>
                </a:solidFill>
              </a:rPr>
              <a:t>Dec.28</a:t>
            </a:r>
          </a:p>
          <a:p>
            <a:pPr algn="ctr"/>
            <a:r>
              <a:rPr lang="en-US" altLang="zh-CN" sz="900">
                <a:solidFill>
                  <a:schemeClr val="bg2"/>
                </a:solidFill>
              </a:rPr>
              <a:t>CTR</a:t>
            </a:r>
            <a:endParaRPr lang="zh-CN" altLang="en-US" sz="900">
              <a:solidFill>
                <a:schemeClr val="bg2"/>
              </a:solidFill>
            </a:endParaRPr>
          </a:p>
        </p:txBody>
      </p:sp>
      <p:sp>
        <p:nvSpPr>
          <p:cNvPr id="39" name="Rechteck 17">
            <a:extLst>
              <a:ext uri="{FF2B5EF4-FFF2-40B4-BE49-F238E27FC236}">
                <a16:creationId xmlns:a16="http://schemas.microsoft.com/office/drawing/2014/main" id="{F97F417C-7B5D-9AD7-1B10-58B96A15195E}"/>
              </a:ext>
            </a:extLst>
          </p:cNvPr>
          <p:cNvSpPr/>
          <p:nvPr/>
        </p:nvSpPr>
        <p:spPr bwMode="gray">
          <a:xfrm rot="16200000">
            <a:off x="7439606" y="4775325"/>
            <a:ext cx="72009" cy="45719"/>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40" name="文本框 28">
            <a:extLst>
              <a:ext uri="{FF2B5EF4-FFF2-40B4-BE49-F238E27FC236}">
                <a16:creationId xmlns:a16="http://schemas.microsoft.com/office/drawing/2014/main" id="{F7604996-67AF-FFDF-EBF8-EBA54FC9499F}"/>
              </a:ext>
            </a:extLst>
          </p:cNvPr>
          <p:cNvSpPr txBox="1"/>
          <p:nvPr/>
        </p:nvSpPr>
        <p:spPr>
          <a:xfrm>
            <a:off x="7639171" y="4281333"/>
            <a:ext cx="1193133" cy="415498"/>
          </a:xfrm>
          <a:prstGeom prst="rect">
            <a:avLst/>
          </a:prstGeom>
          <a:noFill/>
        </p:spPr>
        <p:txBody>
          <a:bodyPr wrap="square" lIns="0" tIns="0" rIns="0" bIns="0" rtlCol="0">
            <a:spAutoFit/>
          </a:bodyPr>
          <a:lstStyle/>
          <a:p>
            <a:pPr algn="ctr"/>
            <a:r>
              <a:rPr lang="en-US" altLang="zh-CN" sz="900" b="1">
                <a:solidFill>
                  <a:schemeClr val="bg2"/>
                </a:solidFill>
              </a:rPr>
              <a:t>Jan.29</a:t>
            </a:r>
          </a:p>
          <a:p>
            <a:pPr algn="ctr"/>
            <a:r>
              <a:rPr lang="en-US" altLang="zh-CN" sz="900">
                <a:solidFill>
                  <a:schemeClr val="bg2"/>
                </a:solidFill>
              </a:rPr>
              <a:t>CHN app.</a:t>
            </a:r>
          </a:p>
          <a:p>
            <a:pPr algn="ctr"/>
            <a:r>
              <a:rPr lang="en-US" altLang="zh-CN" sz="900">
                <a:solidFill>
                  <a:schemeClr val="bg2"/>
                </a:solidFill>
              </a:rPr>
              <a:t>(best case)</a:t>
            </a:r>
            <a:endParaRPr lang="zh-CN" altLang="en-US" sz="900">
              <a:solidFill>
                <a:schemeClr val="bg2"/>
              </a:solidFill>
            </a:endParaRPr>
          </a:p>
        </p:txBody>
      </p:sp>
      <p:sp>
        <p:nvSpPr>
          <p:cNvPr id="41" name="Rechteck 17">
            <a:extLst>
              <a:ext uri="{FF2B5EF4-FFF2-40B4-BE49-F238E27FC236}">
                <a16:creationId xmlns:a16="http://schemas.microsoft.com/office/drawing/2014/main" id="{68DA1639-2E1C-6C8D-458B-34335B1901A2}"/>
              </a:ext>
            </a:extLst>
          </p:cNvPr>
          <p:cNvSpPr/>
          <p:nvPr/>
        </p:nvSpPr>
        <p:spPr bwMode="gray">
          <a:xfrm rot="16200000">
            <a:off x="8144125" y="4792283"/>
            <a:ext cx="72009" cy="45719"/>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42" name="文本框 30">
            <a:extLst>
              <a:ext uri="{FF2B5EF4-FFF2-40B4-BE49-F238E27FC236}">
                <a16:creationId xmlns:a16="http://schemas.microsoft.com/office/drawing/2014/main" id="{B92770B1-44BB-228E-0774-2E69F3C65001}"/>
              </a:ext>
            </a:extLst>
          </p:cNvPr>
          <p:cNvSpPr txBox="1"/>
          <p:nvPr/>
        </p:nvSpPr>
        <p:spPr>
          <a:xfrm>
            <a:off x="71547" y="4289276"/>
            <a:ext cx="1193996" cy="138499"/>
          </a:xfrm>
          <a:prstGeom prst="rect">
            <a:avLst/>
          </a:prstGeom>
          <a:solidFill>
            <a:schemeClr val="tx2"/>
          </a:solidFill>
        </p:spPr>
        <p:txBody>
          <a:bodyPr wrap="square" lIns="0" tIns="0" rIns="0" bIns="0" rtlCol="0">
            <a:spAutoFit/>
          </a:bodyPr>
          <a:lstStyle/>
          <a:p>
            <a:pPr algn="ctr"/>
            <a:r>
              <a:rPr lang="en-US" altLang="zh-CN" sz="900" b="1">
                <a:solidFill>
                  <a:schemeClr val="bg2"/>
                </a:solidFill>
              </a:rPr>
              <a:t>Ph-III: </a:t>
            </a:r>
            <a:r>
              <a:rPr lang="en-US" altLang="zh-CN" sz="900" b="1" err="1"/>
              <a:t>EASi</a:t>
            </a:r>
            <a:r>
              <a:rPr lang="en-US" altLang="zh-CN" sz="900" b="1"/>
              <a:t>-KIDNEY</a:t>
            </a:r>
            <a:endParaRPr lang="zh-CN" altLang="en-US" sz="900" b="1">
              <a:solidFill>
                <a:schemeClr val="bg2"/>
              </a:solidFill>
            </a:endParaRPr>
          </a:p>
        </p:txBody>
      </p:sp>
      <p:sp>
        <p:nvSpPr>
          <p:cNvPr id="43" name="文本框 31">
            <a:extLst>
              <a:ext uri="{FF2B5EF4-FFF2-40B4-BE49-F238E27FC236}">
                <a16:creationId xmlns:a16="http://schemas.microsoft.com/office/drawing/2014/main" id="{49798C7A-64E3-7C4C-82C8-F329F6389F65}"/>
              </a:ext>
            </a:extLst>
          </p:cNvPr>
          <p:cNvSpPr txBox="1"/>
          <p:nvPr/>
        </p:nvSpPr>
        <p:spPr>
          <a:xfrm>
            <a:off x="198866" y="4461667"/>
            <a:ext cx="469679" cy="276999"/>
          </a:xfrm>
          <a:prstGeom prst="rect">
            <a:avLst/>
          </a:prstGeom>
          <a:noFill/>
        </p:spPr>
        <p:txBody>
          <a:bodyPr wrap="square" lIns="0" tIns="0" rIns="0" bIns="0" rtlCol="0">
            <a:spAutoFit/>
          </a:bodyPr>
          <a:lstStyle/>
          <a:p>
            <a:pPr algn="ctr"/>
            <a:r>
              <a:rPr lang="en-US" altLang="zh-CN" sz="900" b="1">
                <a:solidFill>
                  <a:schemeClr val="bg2"/>
                </a:solidFill>
              </a:rPr>
              <a:t>Sep.25</a:t>
            </a:r>
          </a:p>
          <a:p>
            <a:pPr algn="ctr"/>
            <a:r>
              <a:rPr lang="en-US" altLang="zh-CN" sz="900">
                <a:solidFill>
                  <a:schemeClr val="bg2"/>
                </a:solidFill>
              </a:rPr>
              <a:t>FSS</a:t>
            </a:r>
            <a:endParaRPr lang="zh-CN" altLang="en-US" sz="900">
              <a:solidFill>
                <a:schemeClr val="bg2"/>
              </a:solidFill>
            </a:endParaRPr>
          </a:p>
        </p:txBody>
      </p:sp>
      <p:sp>
        <p:nvSpPr>
          <p:cNvPr id="44" name="Rechteck 17">
            <a:extLst>
              <a:ext uri="{FF2B5EF4-FFF2-40B4-BE49-F238E27FC236}">
                <a16:creationId xmlns:a16="http://schemas.microsoft.com/office/drawing/2014/main" id="{79283F04-41BB-0E18-83D0-CD7C28932743}"/>
              </a:ext>
            </a:extLst>
          </p:cNvPr>
          <p:cNvSpPr/>
          <p:nvPr/>
        </p:nvSpPr>
        <p:spPr bwMode="gray">
          <a:xfrm rot="16200000">
            <a:off x="397700" y="4767345"/>
            <a:ext cx="72009" cy="45719"/>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45" name="文本框 30">
            <a:extLst>
              <a:ext uri="{FF2B5EF4-FFF2-40B4-BE49-F238E27FC236}">
                <a16:creationId xmlns:a16="http://schemas.microsoft.com/office/drawing/2014/main" id="{29EEDCBE-3E62-B72C-E2DF-85AE0ECC3356}"/>
              </a:ext>
            </a:extLst>
          </p:cNvPr>
          <p:cNvSpPr txBox="1"/>
          <p:nvPr/>
        </p:nvSpPr>
        <p:spPr>
          <a:xfrm>
            <a:off x="71547" y="1527456"/>
            <a:ext cx="1193996" cy="138499"/>
          </a:xfrm>
          <a:prstGeom prst="rect">
            <a:avLst/>
          </a:prstGeom>
          <a:solidFill>
            <a:schemeClr val="tx2"/>
          </a:solidFill>
        </p:spPr>
        <p:txBody>
          <a:bodyPr wrap="square" lIns="0" tIns="0" rIns="0" bIns="0" rtlCol="0">
            <a:spAutoFit/>
          </a:bodyPr>
          <a:lstStyle/>
          <a:p>
            <a:pPr algn="ctr"/>
            <a:r>
              <a:rPr lang="en-US" altLang="zh-CN" sz="900" b="1">
                <a:solidFill>
                  <a:schemeClr val="bg2"/>
                </a:solidFill>
              </a:rPr>
              <a:t>RWS: CKD GDMT</a:t>
            </a:r>
            <a:endParaRPr lang="zh-CN" altLang="en-US" sz="900" b="1">
              <a:solidFill>
                <a:schemeClr val="bg2"/>
              </a:solidFill>
            </a:endParaRPr>
          </a:p>
        </p:txBody>
      </p:sp>
      <p:cxnSp>
        <p:nvCxnSpPr>
          <p:cNvPr id="11" name="Straight Connector 10">
            <a:extLst>
              <a:ext uri="{FF2B5EF4-FFF2-40B4-BE49-F238E27FC236}">
                <a16:creationId xmlns:a16="http://schemas.microsoft.com/office/drawing/2014/main" id="{D3F708CE-CCF0-85DD-21BC-B9283BCC0839}"/>
              </a:ext>
            </a:extLst>
          </p:cNvPr>
          <p:cNvCxnSpPr>
            <a:cxnSpLocks/>
          </p:cNvCxnSpPr>
          <p:nvPr/>
        </p:nvCxnSpPr>
        <p:spPr bwMode="gray">
          <a:xfrm>
            <a:off x="5380852" y="1424444"/>
            <a:ext cx="0" cy="3753948"/>
          </a:xfrm>
          <a:prstGeom prst="line">
            <a:avLst/>
          </a:prstGeom>
          <a:ln w="1905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CCEC7272-F210-9CB7-23A0-6507D2BA79B5}"/>
              </a:ext>
            </a:extLst>
          </p:cNvPr>
          <p:cNvSpPr/>
          <p:nvPr/>
        </p:nvSpPr>
        <p:spPr bwMode="gray">
          <a:xfrm>
            <a:off x="4682245" y="1152066"/>
            <a:ext cx="1607784" cy="272378"/>
          </a:xfrm>
          <a:prstGeom prst="round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40000"/>
              </a:lnSpc>
            </a:pPr>
            <a:r>
              <a:rPr lang="en-US" altLang="zh-CN" sz="1000">
                <a:solidFill>
                  <a:schemeClr val="accent6">
                    <a:lumMod val="50000"/>
                  </a:schemeClr>
                </a:solidFill>
              </a:rPr>
              <a:t>Start to provide RWE</a:t>
            </a:r>
            <a:endParaRPr lang="zh-CN" altLang="en-US" sz="1000">
              <a:solidFill>
                <a:schemeClr val="accent6">
                  <a:lumMod val="50000"/>
                </a:schemeClr>
              </a:solidFill>
            </a:endParaRPr>
          </a:p>
        </p:txBody>
      </p:sp>
      <p:sp>
        <p:nvSpPr>
          <p:cNvPr id="12" name="Rechteck 17">
            <a:extLst>
              <a:ext uri="{FF2B5EF4-FFF2-40B4-BE49-F238E27FC236}">
                <a16:creationId xmlns:a16="http://schemas.microsoft.com/office/drawing/2014/main" id="{47583641-1B7E-A762-E6C6-DD87059F5896}"/>
              </a:ext>
            </a:extLst>
          </p:cNvPr>
          <p:cNvSpPr/>
          <p:nvPr/>
        </p:nvSpPr>
        <p:spPr bwMode="gray">
          <a:xfrm rot="16200000">
            <a:off x="6510571" y="3678802"/>
            <a:ext cx="72009" cy="45719"/>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23" name="文本框 35">
            <a:extLst>
              <a:ext uri="{FF2B5EF4-FFF2-40B4-BE49-F238E27FC236}">
                <a16:creationId xmlns:a16="http://schemas.microsoft.com/office/drawing/2014/main" id="{3DD2C2B0-7374-DCFB-0284-52558005B2E0}"/>
              </a:ext>
            </a:extLst>
          </p:cNvPr>
          <p:cNvSpPr txBox="1"/>
          <p:nvPr/>
        </p:nvSpPr>
        <p:spPr>
          <a:xfrm>
            <a:off x="6047665" y="3175400"/>
            <a:ext cx="978847" cy="415498"/>
          </a:xfrm>
          <a:prstGeom prst="rect">
            <a:avLst/>
          </a:prstGeom>
          <a:noFill/>
        </p:spPr>
        <p:txBody>
          <a:bodyPr wrap="square" lIns="0" tIns="0" rIns="0" bIns="0" rtlCol="0">
            <a:spAutoFit/>
          </a:bodyPr>
          <a:lstStyle/>
          <a:p>
            <a:pPr algn="ctr"/>
            <a:r>
              <a:rPr lang="en-US" altLang="zh-CN" sz="900" b="1">
                <a:solidFill>
                  <a:schemeClr val="bg2"/>
                </a:solidFill>
              </a:rPr>
              <a:t>2028Q2</a:t>
            </a:r>
          </a:p>
          <a:p>
            <a:pPr algn="ctr"/>
            <a:r>
              <a:rPr lang="en-US" altLang="zh-CN" sz="900">
                <a:solidFill>
                  <a:schemeClr val="bg2"/>
                </a:solidFill>
              </a:rPr>
              <a:t>WCN/ERA-EDTA Congress</a:t>
            </a:r>
            <a:endParaRPr lang="zh-CN" altLang="en-US" sz="900">
              <a:solidFill>
                <a:schemeClr val="bg2"/>
              </a:solidFill>
            </a:endParaRPr>
          </a:p>
        </p:txBody>
      </p:sp>
    </p:spTree>
    <p:extLst>
      <p:ext uri="{BB962C8B-B14F-4D97-AF65-F5344CB8AC3E}">
        <p14:creationId xmlns:p14="http://schemas.microsoft.com/office/powerpoint/2010/main" val="1637442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Diagram 13">
            <a:extLst>
              <a:ext uri="{FF2B5EF4-FFF2-40B4-BE49-F238E27FC236}">
                <a16:creationId xmlns:a16="http://schemas.microsoft.com/office/drawing/2014/main" id="{C0BD7C1C-8F17-A4C0-5A56-9096A6B4097C}"/>
              </a:ext>
            </a:extLst>
          </p:cNvPr>
          <p:cNvGraphicFramePr/>
          <p:nvPr>
            <p:extLst>
              <p:ext uri="{D42A27DB-BD31-4B8C-83A1-F6EECF244321}">
                <p14:modId xmlns:p14="http://schemas.microsoft.com/office/powerpoint/2010/main" val="2203381"/>
              </p:ext>
            </p:extLst>
          </p:nvPr>
        </p:nvGraphicFramePr>
        <p:xfrm>
          <a:off x="1590074" y="908720"/>
          <a:ext cx="6635854" cy="43101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0A341D12-C3F1-C556-59E7-F488D02AD2D3}"/>
              </a:ext>
            </a:extLst>
          </p:cNvPr>
          <p:cNvSpPr>
            <a:spLocks noGrp="1"/>
          </p:cNvSpPr>
          <p:nvPr>
            <p:ph type="title"/>
          </p:nvPr>
        </p:nvSpPr>
        <p:spPr/>
        <p:txBody>
          <a:bodyPr/>
          <a:lstStyle/>
          <a:p>
            <a:r>
              <a:rPr lang="en-US" sz="2800"/>
              <a:t>C</a:t>
            </a:r>
            <a:r>
              <a:rPr lang="en-US" altLang="zh-CN" sz="2800"/>
              <a:t>ollaboration</a:t>
            </a:r>
            <a:br>
              <a:rPr lang="en-US" altLang="zh-CN"/>
            </a:br>
            <a:endParaRPr lang="en-US" i="1"/>
          </a:p>
        </p:txBody>
      </p:sp>
      <p:sp>
        <p:nvSpPr>
          <p:cNvPr id="6" name="Text Placeholder 5">
            <a:extLst>
              <a:ext uri="{FF2B5EF4-FFF2-40B4-BE49-F238E27FC236}">
                <a16:creationId xmlns:a16="http://schemas.microsoft.com/office/drawing/2014/main" id="{97E12023-2A9F-D7EA-7BC0-E425154B0C1C}"/>
              </a:ext>
            </a:extLst>
          </p:cNvPr>
          <p:cNvSpPr>
            <a:spLocks noGrp="1"/>
          </p:cNvSpPr>
          <p:nvPr>
            <p:ph type="body" sz="quarter" idx="13"/>
          </p:nvPr>
        </p:nvSpPr>
        <p:spPr/>
        <p:txBody>
          <a:bodyPr/>
          <a:lstStyle/>
          <a:p>
            <a:endParaRPr lang="en-US"/>
          </a:p>
        </p:txBody>
      </p:sp>
      <p:sp>
        <p:nvSpPr>
          <p:cNvPr id="4" name="Footer Placeholder 3">
            <a:extLst>
              <a:ext uri="{FF2B5EF4-FFF2-40B4-BE49-F238E27FC236}">
                <a16:creationId xmlns:a16="http://schemas.microsoft.com/office/drawing/2014/main" id="{5E9CAFB1-FF8C-BD43-9149-6B548AA857C6}"/>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714A72D8-5A94-8FC3-BC85-9E622A472939}"/>
              </a:ext>
            </a:extLst>
          </p:cNvPr>
          <p:cNvSpPr>
            <a:spLocks noGrp="1"/>
          </p:cNvSpPr>
          <p:nvPr>
            <p:ph type="sldNum" sz="quarter" idx="11"/>
          </p:nvPr>
        </p:nvSpPr>
        <p:spPr/>
        <p:txBody>
          <a:bodyPr/>
          <a:lstStyle/>
          <a:p>
            <a:fld id="{8FF9B0DE-3FEB-4AA0-B465-B80EF7C1333D}" type="slidenum">
              <a:rPr lang="en-US" smtClean="0"/>
              <a:pPr/>
              <a:t>11</a:t>
            </a:fld>
            <a:endParaRPr lang="en-US"/>
          </a:p>
        </p:txBody>
      </p:sp>
      <p:sp>
        <p:nvSpPr>
          <p:cNvPr id="10" name="TextBox 9">
            <a:extLst>
              <a:ext uri="{FF2B5EF4-FFF2-40B4-BE49-F238E27FC236}">
                <a16:creationId xmlns:a16="http://schemas.microsoft.com/office/drawing/2014/main" id="{7259E774-B33D-3626-A4F5-18FA702A58C1}"/>
              </a:ext>
            </a:extLst>
          </p:cNvPr>
          <p:cNvSpPr txBox="1"/>
          <p:nvPr/>
        </p:nvSpPr>
        <p:spPr bwMode="gray">
          <a:xfrm>
            <a:off x="1537038" y="4320887"/>
            <a:ext cx="2956956" cy="1000467"/>
          </a:xfrm>
          <a:prstGeom prst="rect">
            <a:avLst/>
          </a:prstGeom>
          <a:noFill/>
        </p:spPr>
        <p:txBody>
          <a:bodyPr wrap="square" lIns="0" tIns="0" rIns="0" bIns="0" rtlCol="0">
            <a:spAutoFit/>
          </a:bodyPr>
          <a:lstStyle/>
          <a:p>
            <a:pPr algn="l">
              <a:lnSpc>
                <a:spcPct val="140000"/>
              </a:lnSpc>
            </a:pPr>
            <a:r>
              <a:rPr lang="en-US" sz="1600"/>
              <a:t>Epidemiological PI:</a:t>
            </a:r>
          </a:p>
          <a:p>
            <a:pPr>
              <a:lnSpc>
                <a:spcPct val="140000"/>
              </a:lnSpc>
            </a:pPr>
            <a:r>
              <a:rPr lang="zh-CN" altLang="en-US" sz="1600"/>
              <a:t>北医三院 曾琳</a:t>
            </a:r>
            <a:endParaRPr lang="en-US" altLang="zh-CN" sz="1600"/>
          </a:p>
          <a:p>
            <a:pPr>
              <a:lnSpc>
                <a:spcPct val="140000"/>
              </a:lnSpc>
            </a:pPr>
            <a:r>
              <a:rPr lang="zh-CN" altLang="en-US" sz="1600"/>
              <a:t>硕士生导师、流行病学家</a:t>
            </a:r>
            <a:endParaRPr lang="en-US" sz="1600"/>
          </a:p>
        </p:txBody>
      </p:sp>
      <p:sp>
        <p:nvSpPr>
          <p:cNvPr id="11" name="TextBox 10">
            <a:extLst>
              <a:ext uri="{FF2B5EF4-FFF2-40B4-BE49-F238E27FC236}">
                <a16:creationId xmlns:a16="http://schemas.microsoft.com/office/drawing/2014/main" id="{FC21F823-0439-130C-583B-C8BDE8DFFEB7}"/>
              </a:ext>
            </a:extLst>
          </p:cNvPr>
          <p:cNvSpPr txBox="1"/>
          <p:nvPr/>
        </p:nvSpPr>
        <p:spPr bwMode="gray">
          <a:xfrm>
            <a:off x="6095998" y="4320886"/>
            <a:ext cx="2956956" cy="1350050"/>
          </a:xfrm>
          <a:prstGeom prst="rect">
            <a:avLst/>
          </a:prstGeom>
          <a:noFill/>
        </p:spPr>
        <p:txBody>
          <a:bodyPr wrap="square" lIns="0" tIns="0" rIns="0" bIns="0" rtlCol="0">
            <a:spAutoFit/>
          </a:bodyPr>
          <a:lstStyle/>
          <a:p>
            <a:pPr algn="l">
              <a:lnSpc>
                <a:spcPct val="140000"/>
              </a:lnSpc>
            </a:pPr>
            <a:r>
              <a:rPr lang="en-US" sz="1600"/>
              <a:t>Clinical PI:</a:t>
            </a:r>
          </a:p>
          <a:p>
            <a:pPr>
              <a:lnSpc>
                <a:spcPct val="140000"/>
              </a:lnSpc>
            </a:pPr>
            <a:r>
              <a:rPr lang="zh-CN" altLang="en-US" sz="1600"/>
              <a:t>北京大学第一医院 张路霞</a:t>
            </a:r>
            <a:endParaRPr lang="en-US" altLang="zh-CN" sz="1600"/>
          </a:p>
          <a:p>
            <a:pPr>
              <a:lnSpc>
                <a:spcPct val="140000"/>
              </a:lnSpc>
            </a:pPr>
            <a:r>
              <a:rPr lang="zh-CN" altLang="en-US" sz="1600"/>
              <a:t>肾内科主任医师</a:t>
            </a:r>
            <a:endParaRPr lang="en-US" altLang="zh-CN" sz="1600"/>
          </a:p>
          <a:p>
            <a:pPr>
              <a:lnSpc>
                <a:spcPct val="140000"/>
              </a:lnSpc>
            </a:pPr>
            <a:endParaRPr lang="en-US" sz="1600"/>
          </a:p>
        </p:txBody>
      </p:sp>
      <p:pic>
        <p:nvPicPr>
          <p:cNvPr id="1026" name="Picture 2">
            <a:extLst>
              <a:ext uri="{FF2B5EF4-FFF2-40B4-BE49-F238E27FC236}">
                <a16:creationId xmlns:a16="http://schemas.microsoft.com/office/drawing/2014/main" id="{7534560F-3509-079C-37C6-08399CF7440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6765" y="1742123"/>
            <a:ext cx="2091715" cy="253683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ADB3FDE-6A4A-5957-981C-951319CA861B}"/>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r="8319"/>
          <a:stretch>
            <a:fillRect/>
          </a:stretch>
        </p:blipFill>
        <p:spPr bwMode="auto">
          <a:xfrm>
            <a:off x="5986886" y="1814340"/>
            <a:ext cx="2052766" cy="2439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4275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AC3DE-644F-C94A-BCA6-CAF41FF4F812}"/>
              </a:ext>
            </a:extLst>
          </p:cNvPr>
          <p:cNvSpPr>
            <a:spLocks noGrp="1"/>
          </p:cNvSpPr>
          <p:nvPr>
            <p:ph type="title"/>
          </p:nvPr>
        </p:nvSpPr>
        <p:spPr>
          <a:xfrm>
            <a:off x="427420" y="683624"/>
            <a:ext cx="11233151" cy="720000"/>
          </a:xfrm>
        </p:spPr>
        <p:txBody>
          <a:bodyPr/>
          <a:lstStyle/>
          <a:p>
            <a:r>
              <a:rPr lang="en-US" altLang="zh-CN"/>
              <a:t>Summary of Study Impact</a:t>
            </a:r>
            <a:endParaRPr lang="zh-CN" altLang="en-US"/>
          </a:p>
        </p:txBody>
      </p:sp>
      <p:sp>
        <p:nvSpPr>
          <p:cNvPr id="4" name="Footer Placeholder 3">
            <a:extLst>
              <a:ext uri="{FF2B5EF4-FFF2-40B4-BE49-F238E27FC236}">
                <a16:creationId xmlns:a16="http://schemas.microsoft.com/office/drawing/2014/main" id="{352FB07D-71B6-67AE-9217-9CA1BA06C574}"/>
              </a:ext>
            </a:extLst>
          </p:cNvPr>
          <p:cNvSpPr>
            <a:spLocks noGrp="1"/>
          </p:cNvSpPr>
          <p:nvPr>
            <p:ph type="ftr" sz="quarter" idx="16"/>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A55EB270-C202-EB2B-9DCF-6E6D0C902213}"/>
              </a:ext>
            </a:extLst>
          </p:cNvPr>
          <p:cNvSpPr>
            <a:spLocks noGrp="1"/>
          </p:cNvSpPr>
          <p:nvPr>
            <p:ph type="sldNum" sz="quarter" idx="17"/>
          </p:nvPr>
        </p:nvSpPr>
        <p:spPr/>
        <p:txBody>
          <a:bodyPr/>
          <a:lstStyle/>
          <a:p>
            <a:fld id="{8FF9B0DE-3FEB-4AA0-B465-B80EF7C1333D}" type="slidenum">
              <a:rPr lang="en-US" smtClean="0"/>
              <a:pPr/>
              <a:t>12</a:t>
            </a:fld>
            <a:endParaRPr lang="en-US"/>
          </a:p>
        </p:txBody>
      </p:sp>
      <p:sp>
        <p:nvSpPr>
          <p:cNvPr id="6" name="Text Placeholder 2">
            <a:extLst>
              <a:ext uri="{FF2B5EF4-FFF2-40B4-BE49-F238E27FC236}">
                <a16:creationId xmlns:a16="http://schemas.microsoft.com/office/drawing/2014/main" id="{AA98503E-C3A9-4A62-F2C0-1A99B9802CC6}"/>
              </a:ext>
            </a:extLst>
          </p:cNvPr>
          <p:cNvSpPr txBox="1">
            <a:spLocks/>
          </p:cNvSpPr>
          <p:nvPr/>
        </p:nvSpPr>
        <p:spPr bwMode="gray">
          <a:xfrm>
            <a:off x="191441" y="1637302"/>
            <a:ext cx="11233151" cy="4537074"/>
          </a:xfrm>
          <a:prstGeom prst="rect">
            <a:avLst/>
          </a:prstGeom>
        </p:spPr>
        <p:txBody>
          <a:bodyPr vert="horz" lIns="0" tIns="0" rIns="0" bIns="0" rtlCol="0" anchor="t">
            <a:noAutofit/>
          </a:bodyPr>
          <a:lstStyle>
            <a:lvl1pPr marL="360000" indent="-360000" algn="l" defTabSz="914400" rtl="0" eaLnBrk="1" latinLnBrk="0" hangingPunct="1">
              <a:lnSpc>
                <a:spcPct val="140000"/>
              </a:lnSpc>
              <a:spcBef>
                <a:spcPts val="1800"/>
              </a:spcBef>
              <a:spcAft>
                <a:spcPts val="600"/>
              </a:spcAft>
              <a:buFont typeface="+mj-lt"/>
              <a:buAutoNum type="arabicPeriod"/>
              <a:defRPr sz="2000" b="0" kern="1200">
                <a:solidFill>
                  <a:schemeClr val="tx1"/>
                </a:solidFill>
                <a:latin typeface="+mn-lt"/>
                <a:ea typeface="+mn-ea"/>
                <a:cs typeface="+mn-cs"/>
              </a:defRPr>
            </a:lvl1pPr>
            <a:lvl2pPr marL="540000" indent="-180000" algn="l" defTabSz="914400" rtl="0" eaLnBrk="1" latinLnBrk="0" hangingPunct="1">
              <a:lnSpc>
                <a:spcPct val="140000"/>
              </a:lnSpc>
              <a:spcBef>
                <a:spcPts val="200"/>
              </a:spcBef>
              <a:spcAft>
                <a:spcPts val="200"/>
              </a:spcAft>
              <a:buFont typeface="Arial" panose="020B0604020202020204" pitchFamily="34" charset="0"/>
              <a:buChar char="•"/>
              <a:defRPr sz="1600" kern="1200">
                <a:solidFill>
                  <a:schemeClr val="tx1"/>
                </a:solidFill>
                <a:latin typeface="+mn-lt"/>
                <a:ea typeface="+mn-ea"/>
                <a:cs typeface="+mn-cs"/>
              </a:defRPr>
            </a:lvl2pPr>
            <a:lvl3pPr marL="540000" indent="-180000" algn="l" defTabSz="914400" rtl="0" eaLnBrk="1" latinLnBrk="0" hangingPunct="1">
              <a:lnSpc>
                <a:spcPct val="140000"/>
              </a:lnSpc>
              <a:spcBef>
                <a:spcPts val="200"/>
              </a:spcBef>
              <a:spcAft>
                <a:spcPts val="200"/>
              </a:spcAft>
              <a:buFont typeface="Arial" panose="020B0604020202020204" pitchFamily="34" charset="0"/>
              <a:buChar char="•"/>
              <a:defRPr sz="1600" kern="1200">
                <a:solidFill>
                  <a:schemeClr val="tx1"/>
                </a:solidFill>
                <a:latin typeface="+mn-lt"/>
                <a:ea typeface="+mn-ea"/>
                <a:cs typeface="+mn-cs"/>
              </a:defRPr>
            </a:lvl3pPr>
            <a:lvl4pPr marL="540000" indent="-180000" algn="l" defTabSz="914400" rtl="0" eaLnBrk="1" latinLnBrk="0" hangingPunct="1">
              <a:lnSpc>
                <a:spcPct val="140000"/>
              </a:lnSpc>
              <a:spcBef>
                <a:spcPts val="200"/>
              </a:spcBef>
              <a:spcAft>
                <a:spcPts val="200"/>
              </a:spcAft>
              <a:buFont typeface="Arial" panose="020B0604020202020204" pitchFamily="34" charset="0"/>
              <a:buChar char="•"/>
              <a:defRPr sz="1600" kern="1200">
                <a:solidFill>
                  <a:schemeClr val="tx1"/>
                </a:solidFill>
                <a:latin typeface="+mn-lt"/>
                <a:ea typeface="+mn-ea"/>
                <a:cs typeface="+mn-cs"/>
              </a:defRPr>
            </a:lvl4pPr>
            <a:lvl5pPr marL="540000" indent="-180000" algn="l" defTabSz="914400" rtl="0" eaLnBrk="1" latinLnBrk="0" hangingPunct="1">
              <a:lnSpc>
                <a:spcPct val="140000"/>
              </a:lnSpc>
              <a:spcBef>
                <a:spcPts val="200"/>
              </a:spcBef>
              <a:spcAft>
                <a:spcPts val="200"/>
              </a:spcAft>
              <a:buFont typeface="Arial" panose="020B0604020202020204" pitchFamily="34" charset="0"/>
              <a:buChar char="•"/>
              <a:defRPr sz="1600" kern="1200">
                <a:solidFill>
                  <a:schemeClr val="tx1"/>
                </a:solidFill>
                <a:latin typeface="+mn-lt"/>
                <a:ea typeface="+mn-ea"/>
                <a:cs typeface="+mn-cs"/>
              </a:defRPr>
            </a:lvl5pPr>
            <a:lvl6pPr marL="540000" indent="-180000" algn="l" defTabSz="914400" rtl="0" eaLnBrk="1" latinLnBrk="0" hangingPunct="1">
              <a:lnSpc>
                <a:spcPct val="140000"/>
              </a:lnSpc>
              <a:spcBef>
                <a:spcPts val="200"/>
              </a:spcBef>
              <a:spcAft>
                <a:spcPts val="200"/>
              </a:spcAft>
              <a:buFont typeface="Arial" panose="020B0604020202020204" pitchFamily="34" charset="0"/>
              <a:buChar char="•"/>
              <a:defRPr sz="1600" kern="1200">
                <a:solidFill>
                  <a:schemeClr val="tx1"/>
                </a:solidFill>
                <a:latin typeface="+mn-lt"/>
                <a:ea typeface="+mn-ea"/>
                <a:cs typeface="+mn-cs"/>
              </a:defRPr>
            </a:lvl6pPr>
            <a:lvl7pPr marL="540000" indent="-180000" algn="l" defTabSz="914400" rtl="0" eaLnBrk="1" latinLnBrk="0" hangingPunct="1">
              <a:lnSpc>
                <a:spcPct val="140000"/>
              </a:lnSpc>
              <a:spcBef>
                <a:spcPts val="200"/>
              </a:spcBef>
              <a:spcAft>
                <a:spcPts val="200"/>
              </a:spcAft>
              <a:buFont typeface="Arial" panose="020B0604020202020204" pitchFamily="34" charset="0"/>
              <a:buChar char="•"/>
              <a:defRPr sz="1600" kern="1200">
                <a:solidFill>
                  <a:schemeClr val="tx1"/>
                </a:solidFill>
                <a:latin typeface="+mn-lt"/>
                <a:ea typeface="+mn-ea"/>
                <a:cs typeface="+mn-cs"/>
              </a:defRPr>
            </a:lvl7pPr>
            <a:lvl8pPr marL="540000" indent="-180000" algn="l" defTabSz="914400" rtl="0" eaLnBrk="1" latinLnBrk="0" hangingPunct="1">
              <a:lnSpc>
                <a:spcPct val="140000"/>
              </a:lnSpc>
              <a:spcBef>
                <a:spcPts val="200"/>
              </a:spcBef>
              <a:spcAft>
                <a:spcPts val="200"/>
              </a:spcAft>
              <a:buFont typeface="Arial" panose="020B0604020202020204" pitchFamily="34" charset="0"/>
              <a:buChar char="•"/>
              <a:defRPr sz="1600" kern="1200">
                <a:solidFill>
                  <a:schemeClr val="tx1"/>
                </a:solidFill>
                <a:latin typeface="+mn-lt"/>
                <a:ea typeface="+mn-ea"/>
                <a:cs typeface="+mn-cs"/>
              </a:defRPr>
            </a:lvl8pPr>
            <a:lvl9pPr marL="540000" indent="-180000" algn="l" defTabSz="914400" rtl="0" eaLnBrk="1" latinLnBrk="0" hangingPunct="1">
              <a:lnSpc>
                <a:spcPct val="140000"/>
              </a:lnSpc>
              <a:spcBef>
                <a:spcPts val="200"/>
              </a:spcBef>
              <a:spcAft>
                <a:spcPts val="200"/>
              </a:spcAft>
              <a:buFont typeface="Arial" panose="020B0604020202020204" pitchFamily="34" charset="0"/>
              <a:buChar char="•"/>
              <a:defRPr sz="1600" kern="1200">
                <a:solidFill>
                  <a:schemeClr val="tx1"/>
                </a:solidFill>
                <a:latin typeface="+mn-lt"/>
                <a:ea typeface="+mn-ea"/>
                <a:cs typeface="+mn-cs"/>
              </a:defRPr>
            </a:lvl9pPr>
          </a:lstStyle>
          <a:p>
            <a:pPr marL="555625" indent="-285750">
              <a:lnSpc>
                <a:spcPct val="150000"/>
              </a:lnSpc>
              <a:buFont typeface="Arial" panose="020B0604020202020204" pitchFamily="34" charset="0"/>
              <a:buChar char="•"/>
            </a:pPr>
            <a:r>
              <a:rPr lang="en-US" altLang="zh-CN" sz="1800">
                <a:latin typeface="Arial"/>
                <a:cs typeface="Arial"/>
              </a:rPr>
              <a:t>Understanding treatment opportunity and gaps, introducing the concept of GDMT</a:t>
            </a:r>
            <a:br>
              <a:rPr lang="zh-CN" altLang="zh-CN" sz="1600">
                <a:latin typeface="Arial" panose="020B0604020202020204" pitchFamily="34" charset="0"/>
              </a:rPr>
            </a:br>
            <a:r>
              <a:rPr lang="en-US" altLang="zh-CN" sz="1600" i="1">
                <a:solidFill>
                  <a:schemeClr val="accent6">
                    <a:lumMod val="50000"/>
                  </a:schemeClr>
                </a:solidFill>
                <a:latin typeface="Arial"/>
                <a:cs typeface="Arial"/>
              </a:rPr>
              <a:t>Support the vision of </a:t>
            </a:r>
            <a:r>
              <a:rPr lang="en-US" altLang="zh-CN" sz="1600" i="1" err="1">
                <a:solidFill>
                  <a:schemeClr val="accent6">
                    <a:lumMod val="50000"/>
                  </a:schemeClr>
                </a:solidFill>
                <a:latin typeface="Arial"/>
                <a:cs typeface="Arial"/>
              </a:rPr>
              <a:t>vica-empa</a:t>
            </a:r>
            <a:r>
              <a:rPr lang="en-US" altLang="zh-CN" sz="1600" i="1">
                <a:solidFill>
                  <a:schemeClr val="accent6">
                    <a:lumMod val="50000"/>
                  </a:schemeClr>
                </a:solidFill>
                <a:latin typeface="Arial"/>
                <a:cs typeface="Arial"/>
              </a:rPr>
              <a:t> is to replace SGLT2i/</a:t>
            </a:r>
            <a:r>
              <a:rPr lang="en-US" altLang="zh-CN" sz="1600" i="1" err="1">
                <a:solidFill>
                  <a:schemeClr val="accent6">
                    <a:lumMod val="50000"/>
                  </a:schemeClr>
                </a:solidFill>
                <a:latin typeface="Arial"/>
                <a:cs typeface="Arial"/>
              </a:rPr>
              <a:t>SGLTi</a:t>
            </a:r>
            <a:r>
              <a:rPr lang="en-US" altLang="zh-CN" sz="1600" i="1">
                <a:solidFill>
                  <a:schemeClr val="accent6">
                    <a:lumMod val="50000"/>
                  </a:schemeClr>
                </a:solidFill>
                <a:latin typeface="Arial"/>
                <a:cs typeface="Arial"/>
              </a:rPr>
              <a:t> and ns-MRA becoming 1st line foundational therapy for CKD management</a:t>
            </a:r>
          </a:p>
          <a:p>
            <a:pPr marL="555625" indent="-285750">
              <a:lnSpc>
                <a:spcPct val="150000"/>
              </a:lnSpc>
              <a:buFont typeface="Arial" panose="020B0604020202020204" pitchFamily="34" charset="0"/>
              <a:buChar char="•"/>
            </a:pPr>
            <a:r>
              <a:rPr lang="en-US" altLang="zh-CN" sz="1800">
                <a:latin typeface="Arial"/>
                <a:cs typeface="Arial"/>
              </a:rPr>
              <a:t>Collaborate with China Kidney Disease Network</a:t>
            </a:r>
            <a:br>
              <a:rPr lang="zh-CN" altLang="zh-CN" sz="1800">
                <a:latin typeface="Arial"/>
                <a:cs typeface="Arial"/>
              </a:rPr>
            </a:br>
            <a:r>
              <a:rPr lang="en-US" altLang="zh-CN" sz="1600" i="1">
                <a:solidFill>
                  <a:schemeClr val="accent6">
                    <a:lumMod val="50000"/>
                  </a:schemeClr>
                </a:solidFill>
                <a:latin typeface="Arial"/>
                <a:cs typeface="Arial"/>
              </a:rPr>
              <a:t>To gain evidence-based insights and strengthen our scientific leadership in CKD</a:t>
            </a:r>
          </a:p>
          <a:p>
            <a:pPr marL="555625" indent="-285750">
              <a:lnSpc>
                <a:spcPct val="150000"/>
              </a:lnSpc>
              <a:buFont typeface="Arial" panose="020B0604020202020204" pitchFamily="34" charset="0"/>
              <a:buChar char="•"/>
            </a:pPr>
            <a:endParaRPr lang="en-US" altLang="zh-CN" sz="1600" i="1">
              <a:solidFill>
                <a:schemeClr val="accent6">
                  <a:lumMod val="50000"/>
                </a:schemeClr>
              </a:solidFill>
              <a:latin typeface="Arial"/>
              <a:cs typeface="Arial"/>
            </a:endParaRPr>
          </a:p>
          <a:p>
            <a:pPr marL="555625" indent="-285750">
              <a:lnSpc>
                <a:spcPct val="100000"/>
              </a:lnSpc>
              <a:buFont typeface="Arial" panose="020B0604020202020204" pitchFamily="34" charset="0"/>
              <a:buChar char="•"/>
            </a:pPr>
            <a:endParaRPr lang="en-US" altLang="zh-CN" sz="1800">
              <a:latin typeface="Arial"/>
              <a:cs typeface="Arial"/>
            </a:endParaRPr>
          </a:p>
          <a:p>
            <a:pPr marL="555625" indent="-285750">
              <a:lnSpc>
                <a:spcPct val="100000"/>
              </a:lnSpc>
              <a:buFont typeface="Arial" panose="020B0604020202020204" pitchFamily="34" charset="0"/>
              <a:buChar char="•"/>
            </a:pPr>
            <a:endParaRPr lang="en-US" altLang="zh-CN" sz="1800">
              <a:latin typeface="Arial"/>
              <a:cs typeface="Arial"/>
            </a:endParaRPr>
          </a:p>
          <a:p>
            <a:pPr marL="269875" indent="0">
              <a:lnSpc>
                <a:spcPct val="150000"/>
              </a:lnSpc>
              <a:buNone/>
            </a:pPr>
            <a:endParaRPr lang="en-US" altLang="zh-CN" sz="1800">
              <a:latin typeface="Arial"/>
              <a:cs typeface="Arial"/>
            </a:endParaRPr>
          </a:p>
          <a:p>
            <a:pPr marL="555625" indent="-285750">
              <a:lnSpc>
                <a:spcPct val="150000"/>
              </a:lnSpc>
              <a:buFont typeface="Arial" panose="020B0604020202020204" pitchFamily="34" charset="0"/>
              <a:buChar char="•"/>
            </a:pPr>
            <a:endParaRPr lang="en-US" altLang="zh-CN" sz="1800">
              <a:latin typeface="Arial"/>
              <a:cs typeface="Arial"/>
            </a:endParaRPr>
          </a:p>
          <a:p>
            <a:pPr marL="555625" indent="-285750">
              <a:lnSpc>
                <a:spcPct val="150000"/>
              </a:lnSpc>
              <a:buFont typeface="Arial" panose="020B0604020202020204" pitchFamily="34" charset="0"/>
              <a:buChar char="•"/>
            </a:pPr>
            <a:endParaRPr lang="en-US" altLang="zh-CN" sz="1600" i="1">
              <a:solidFill>
                <a:schemeClr val="accent6">
                  <a:lumMod val="50000"/>
                </a:schemeClr>
              </a:solidFill>
              <a:latin typeface="Arial"/>
              <a:cs typeface="Arial"/>
            </a:endParaRPr>
          </a:p>
        </p:txBody>
      </p:sp>
    </p:spTree>
    <p:extLst>
      <p:ext uri="{BB962C8B-B14F-4D97-AF65-F5344CB8AC3E}">
        <p14:creationId xmlns:p14="http://schemas.microsoft.com/office/powerpoint/2010/main" val="1378619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1E614ADB-816F-D0B2-36B5-7FDBAB3DD757}"/>
              </a:ext>
            </a:extLst>
          </p:cNvPr>
          <p:cNvSpPr>
            <a:spLocks noGrp="1"/>
          </p:cNvSpPr>
          <p:nvPr>
            <p:ph type="subTitle" idx="14"/>
          </p:nvPr>
        </p:nvSpPr>
        <p:spPr bwMode="gray">
          <a:xfrm>
            <a:off x="479423" y="3822750"/>
            <a:ext cx="7632701" cy="792088"/>
          </a:xfrm>
        </p:spPr>
        <p:txBody>
          <a:bodyPr vert="horz" lIns="0" tIns="0" rIns="0" bIns="0" rtlCol="0" anchor="t">
            <a:noAutofit/>
          </a:bodyPr>
          <a:lstStyle/>
          <a:p>
            <a:r>
              <a:rPr lang="en-US" altLang="zh-CN" sz="1800"/>
              <a:t>ECR study concept</a:t>
            </a:r>
          </a:p>
          <a:p>
            <a:r>
              <a:rPr lang="en-US" sz="1600" i="1" u="sng"/>
              <a:t>for </a:t>
            </a:r>
            <a:r>
              <a:rPr lang="en-US" i="1" u="sng"/>
              <a:t>PEC</a:t>
            </a:r>
            <a:r>
              <a:rPr lang="en-US" sz="1600" i="1" u="sng"/>
              <a:t> E</a:t>
            </a:r>
            <a:r>
              <a:rPr lang="en-US" altLang="zh-CN" sz="1600" i="1" u="sng"/>
              <a:t>ndorsement</a:t>
            </a:r>
            <a:endParaRPr lang="de-DE"/>
          </a:p>
        </p:txBody>
      </p:sp>
      <p:sp>
        <p:nvSpPr>
          <p:cNvPr id="10" name="Title 9">
            <a:extLst>
              <a:ext uri="{FF2B5EF4-FFF2-40B4-BE49-F238E27FC236}">
                <a16:creationId xmlns:a16="http://schemas.microsoft.com/office/drawing/2014/main" id="{6723DFFC-7A84-40F2-69DD-524819653FC2}"/>
              </a:ext>
            </a:extLst>
          </p:cNvPr>
          <p:cNvSpPr>
            <a:spLocks noGrp="1"/>
          </p:cNvSpPr>
          <p:nvPr>
            <p:ph type="title"/>
          </p:nvPr>
        </p:nvSpPr>
        <p:spPr bwMode="gray">
          <a:xfrm>
            <a:off x="479424" y="1740750"/>
            <a:ext cx="11305208" cy="1799861"/>
          </a:xfrm>
        </p:spPr>
        <p:txBody>
          <a:bodyPr/>
          <a:lstStyle/>
          <a:p>
            <a:br>
              <a:rPr lang="en-US" sz="3000"/>
            </a:br>
            <a:r>
              <a:rPr lang="en-US" sz="3000"/>
              <a:t>ECR: Prevalence,</a:t>
            </a:r>
            <a:r>
              <a:rPr lang="zh-CN" altLang="en-US" sz="3000"/>
              <a:t> </a:t>
            </a:r>
            <a:r>
              <a:rPr lang="en-US" sz="3000"/>
              <a:t>treatment pattern and outcome of patients with hypertension, type 2 diabetes and established cardiovascular disease (without heart failure) in China</a:t>
            </a:r>
            <a:br>
              <a:rPr lang="en-US" sz="3000"/>
            </a:br>
            <a:endParaRPr lang="de-DE" sz="3000"/>
          </a:p>
        </p:txBody>
      </p:sp>
      <p:sp>
        <p:nvSpPr>
          <p:cNvPr id="2" name="Untertitel 8">
            <a:extLst>
              <a:ext uri="{FF2B5EF4-FFF2-40B4-BE49-F238E27FC236}">
                <a16:creationId xmlns:a16="http://schemas.microsoft.com/office/drawing/2014/main" id="{B6FE8F58-AA53-8CFA-4B9D-7FA383F2E353}"/>
              </a:ext>
            </a:extLst>
          </p:cNvPr>
          <p:cNvSpPr txBox="1">
            <a:spLocks/>
          </p:cNvSpPr>
          <p:nvPr/>
        </p:nvSpPr>
        <p:spPr bwMode="invGray">
          <a:xfrm>
            <a:off x="479424" y="4896978"/>
            <a:ext cx="7632701" cy="792088"/>
          </a:xfrm>
          <a:prstGeom prst="rect">
            <a:avLst/>
          </a:prstGeom>
        </p:spPr>
        <p:txBody>
          <a:bodyPr vert="horz" lIns="0" tIns="0" rIns="0" bIns="0" rtlCol="0">
            <a:noAutofit/>
          </a:bodyPr>
          <a:lstStyle>
            <a:lvl1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1pPr>
            <a:lvl2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2pPr>
            <a:lvl3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3pPr>
            <a:lvl4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4pPr>
            <a:lvl5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5pPr>
            <a:lvl6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6pPr>
            <a:lvl7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7pPr>
            <a:lvl8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8pPr>
            <a:lvl9pPr marL="0" indent="0" algn="l" defTabSz="913532" rtl="0" eaLnBrk="1" latinLnBrk="0" hangingPunct="1">
              <a:lnSpc>
                <a:spcPct val="140000"/>
              </a:lnSpc>
              <a:spcBef>
                <a:spcPts val="0"/>
              </a:spcBef>
              <a:spcAft>
                <a:spcPts val="0"/>
              </a:spcAft>
              <a:buFont typeface="Arial" panose="020B0604020202020204" pitchFamily="34" charset="0"/>
              <a:buNone/>
              <a:defRPr sz="1599" b="0" kern="1200">
                <a:solidFill>
                  <a:schemeClr val="bg1"/>
                </a:solidFill>
                <a:latin typeface="+mn-lt"/>
                <a:ea typeface="+mn-ea"/>
                <a:cs typeface="+mn-cs"/>
              </a:defRPr>
            </a:lvl9pPr>
          </a:lstStyle>
          <a:p>
            <a:r>
              <a:rPr lang="en-US" altLang="zh-CN" sz="2000"/>
              <a:t>Wenjing Tan,</a:t>
            </a:r>
            <a:r>
              <a:rPr lang="zh-CN" altLang="en-US" sz="2000"/>
              <a:t> </a:t>
            </a:r>
            <a:r>
              <a:rPr lang="en-US" altLang="zh-CN" sz="2000"/>
              <a:t>Chloe Wang</a:t>
            </a:r>
          </a:p>
          <a:p>
            <a:endParaRPr lang="en-US" sz="2000"/>
          </a:p>
        </p:txBody>
      </p:sp>
      <p:sp>
        <p:nvSpPr>
          <p:cNvPr id="3" name="文本占位符 15">
            <a:extLst>
              <a:ext uri="{FF2B5EF4-FFF2-40B4-BE49-F238E27FC236}">
                <a16:creationId xmlns:a16="http://schemas.microsoft.com/office/drawing/2014/main" id="{D7E2AAE0-B576-6E6F-6528-912AFAF954D1}"/>
              </a:ext>
            </a:extLst>
          </p:cNvPr>
          <p:cNvSpPr txBox="1">
            <a:spLocks/>
          </p:cNvSpPr>
          <p:nvPr/>
        </p:nvSpPr>
        <p:spPr>
          <a:xfrm>
            <a:off x="1737677" y="6275756"/>
            <a:ext cx="7098956" cy="88894"/>
          </a:xfrm>
          <a:prstGeom prst="rect">
            <a:avLst/>
          </a:prstGeom>
        </p:spPr>
        <p:txBody>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altLang="zh-CN" sz="1000">
                <a:solidFill>
                  <a:schemeClr val="bg1"/>
                </a:solidFill>
              </a:rPr>
              <a:t>ECR: external collaborative research.</a:t>
            </a:r>
            <a:endParaRPr lang="zh-CN" altLang="en-US" sz="1000">
              <a:solidFill>
                <a:schemeClr val="bg1"/>
              </a:solidFill>
            </a:endParaRPr>
          </a:p>
        </p:txBody>
      </p:sp>
    </p:spTree>
    <p:extLst>
      <p:ext uri="{BB962C8B-B14F-4D97-AF65-F5344CB8AC3E}">
        <p14:creationId xmlns:p14="http://schemas.microsoft.com/office/powerpoint/2010/main" val="2617666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3707B-E434-0441-E538-F1189F7DAC19}"/>
              </a:ext>
            </a:extLst>
          </p:cNvPr>
          <p:cNvSpPr>
            <a:spLocks noGrp="1"/>
          </p:cNvSpPr>
          <p:nvPr>
            <p:ph type="title"/>
          </p:nvPr>
        </p:nvSpPr>
        <p:spPr/>
        <p:txBody>
          <a:bodyPr/>
          <a:lstStyle/>
          <a:p>
            <a:pPr algn="ctr"/>
            <a:r>
              <a:rPr lang="en-US" altLang="zh-CN"/>
              <a:t>Executive Summary</a:t>
            </a:r>
            <a:endParaRPr lang="zh-CN" altLang="en-US"/>
          </a:p>
        </p:txBody>
      </p:sp>
      <p:sp>
        <p:nvSpPr>
          <p:cNvPr id="7" name="Slide Number Placeholder 6">
            <a:extLst>
              <a:ext uri="{FF2B5EF4-FFF2-40B4-BE49-F238E27FC236}">
                <a16:creationId xmlns:a16="http://schemas.microsoft.com/office/drawing/2014/main" id="{13BA5787-E7DA-BB4B-3F07-F7455584B6EB}"/>
              </a:ext>
            </a:extLst>
          </p:cNvPr>
          <p:cNvSpPr>
            <a:spLocks noGrp="1"/>
          </p:cNvSpPr>
          <p:nvPr>
            <p:ph type="sldNum" sz="quarter" idx="2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8" name="Textplatzhalter 2">
            <a:extLst>
              <a:ext uri="{FF2B5EF4-FFF2-40B4-BE49-F238E27FC236}">
                <a16:creationId xmlns:a16="http://schemas.microsoft.com/office/drawing/2014/main" id="{92AFA8A2-EE05-C396-D21F-C05229A42079}"/>
              </a:ext>
            </a:extLst>
          </p:cNvPr>
          <p:cNvSpPr txBox="1">
            <a:spLocks/>
          </p:cNvSpPr>
          <p:nvPr/>
        </p:nvSpPr>
        <p:spPr bwMode="gray">
          <a:xfrm>
            <a:off x="450624" y="1318138"/>
            <a:ext cx="2553431" cy="391473"/>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marR="0" lvl="0" indent="0" algn="l" defTabSz="914400" rtl="0" eaLnBrk="1" fontAlgn="auto" latinLnBrk="0" hangingPunct="1">
              <a:lnSpc>
                <a:spcPct val="140000"/>
              </a:lnSpc>
              <a:spcBef>
                <a:spcPts val="0"/>
              </a:spcBef>
              <a:spcAft>
                <a:spcPts val="600"/>
              </a:spcAft>
              <a:buClr>
                <a:srgbClr val="00E47C"/>
              </a:buClr>
              <a:buSzTx/>
              <a:buFont typeface="Arial" panose="020B0604020202020204" pitchFamily="34" charset="0"/>
              <a:buNone/>
              <a:tabLst/>
              <a:defRPr/>
            </a:pPr>
            <a:r>
              <a:rPr kumimoji="0" lang="en-US" sz="1600" b="1" i="0" u="none" strike="noStrike" kern="1200" cap="none" spc="0" normalizeH="0" baseline="0" noProof="0">
                <a:ln>
                  <a:noFill/>
                </a:ln>
                <a:solidFill>
                  <a:prstClr val="white"/>
                </a:solidFill>
                <a:effectLst/>
                <a:uLnTx/>
                <a:uFillTx/>
                <a:latin typeface="Boehringer Forward Text"/>
                <a:ea typeface="+mn-ea"/>
                <a:cs typeface="+mn-cs"/>
              </a:rPr>
              <a:t>Background </a:t>
            </a:r>
          </a:p>
        </p:txBody>
      </p:sp>
      <p:pic>
        <p:nvPicPr>
          <p:cNvPr id="9" name="Grafik 17">
            <a:extLst>
              <a:ext uri="{FF2B5EF4-FFF2-40B4-BE49-F238E27FC236}">
                <a16:creationId xmlns:a16="http://schemas.microsoft.com/office/drawing/2014/main" id="{9F61877D-FC4A-2CC4-B77D-D231A8253A9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a:off x="2828247" y="1225874"/>
            <a:ext cx="576000" cy="576000"/>
          </a:xfrm>
          <a:prstGeom prst="rect">
            <a:avLst/>
          </a:prstGeom>
        </p:spPr>
      </p:pic>
      <p:sp>
        <p:nvSpPr>
          <p:cNvPr id="12" name="Textplatzhalter 2">
            <a:extLst>
              <a:ext uri="{FF2B5EF4-FFF2-40B4-BE49-F238E27FC236}">
                <a16:creationId xmlns:a16="http://schemas.microsoft.com/office/drawing/2014/main" id="{CA94E05C-EC99-D66A-47DB-B09DC245EA34}"/>
              </a:ext>
            </a:extLst>
          </p:cNvPr>
          <p:cNvSpPr txBox="1">
            <a:spLocks/>
          </p:cNvSpPr>
          <p:nvPr/>
        </p:nvSpPr>
        <p:spPr bwMode="gray">
          <a:xfrm>
            <a:off x="386945" y="2515425"/>
            <a:ext cx="2377045" cy="463089"/>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marR="0" lvl="0" indent="0" algn="l" defTabSz="914400" rtl="0" eaLnBrk="1" fontAlgn="auto" latinLnBrk="0" hangingPunct="1">
              <a:lnSpc>
                <a:spcPct val="140000"/>
              </a:lnSpc>
              <a:spcBef>
                <a:spcPts val="0"/>
              </a:spcBef>
              <a:spcAft>
                <a:spcPts val="600"/>
              </a:spcAft>
              <a:buClr>
                <a:srgbClr val="00E47C"/>
              </a:buClr>
              <a:buSzTx/>
              <a:buFont typeface="Arial" panose="020B0604020202020204" pitchFamily="34" charset="0"/>
              <a:buNone/>
              <a:tabLst/>
              <a:defRPr/>
            </a:pPr>
            <a:r>
              <a:rPr kumimoji="0" lang="en-US" sz="1600" b="1" i="0" u="none" strike="noStrike" kern="1200" cap="none" spc="0" normalizeH="0" baseline="0" noProof="0">
                <a:ln>
                  <a:noFill/>
                </a:ln>
                <a:solidFill>
                  <a:prstClr val="white"/>
                </a:solidFill>
                <a:effectLst/>
                <a:uLnTx/>
                <a:uFillTx/>
                <a:latin typeface="Boehringer Forward Text"/>
                <a:ea typeface="+mn-ea"/>
                <a:cs typeface="+mn-cs"/>
              </a:rPr>
              <a:t>Key Message/Rationale</a:t>
            </a:r>
          </a:p>
        </p:txBody>
      </p:sp>
      <p:pic>
        <p:nvPicPr>
          <p:cNvPr id="13" name="Grafik 42">
            <a:extLst>
              <a:ext uri="{FF2B5EF4-FFF2-40B4-BE49-F238E27FC236}">
                <a16:creationId xmlns:a16="http://schemas.microsoft.com/office/drawing/2014/main" id="{4D4920A2-A67C-5622-D297-C51D4A2547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a:off x="2830889" y="2416695"/>
            <a:ext cx="576000" cy="576000"/>
          </a:xfrm>
          <a:prstGeom prst="rect">
            <a:avLst/>
          </a:prstGeom>
        </p:spPr>
      </p:pic>
      <p:pic>
        <p:nvPicPr>
          <p:cNvPr id="14" name="Grafik 17">
            <a:extLst>
              <a:ext uri="{FF2B5EF4-FFF2-40B4-BE49-F238E27FC236}">
                <a16:creationId xmlns:a16="http://schemas.microsoft.com/office/drawing/2014/main" id="{A063004D-EEC8-1C7F-6484-5598BD2991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a:off x="2805386" y="5589678"/>
            <a:ext cx="576000" cy="576000"/>
          </a:xfrm>
          <a:prstGeom prst="rect">
            <a:avLst/>
          </a:prstGeom>
        </p:spPr>
      </p:pic>
      <p:sp>
        <p:nvSpPr>
          <p:cNvPr id="19" name="TextBox 18">
            <a:extLst>
              <a:ext uri="{FF2B5EF4-FFF2-40B4-BE49-F238E27FC236}">
                <a16:creationId xmlns:a16="http://schemas.microsoft.com/office/drawing/2014/main" id="{7CD815F8-7CA4-C9B8-DDE0-94C1281B0AA0}"/>
              </a:ext>
            </a:extLst>
          </p:cNvPr>
          <p:cNvSpPr txBox="1"/>
          <p:nvPr/>
        </p:nvSpPr>
        <p:spPr bwMode="gray">
          <a:xfrm>
            <a:off x="3771136" y="5719718"/>
            <a:ext cx="7704577" cy="315920"/>
          </a:xfrm>
          <a:prstGeom prst="rect">
            <a:avLst/>
          </a:prstGeom>
          <a:noFill/>
        </p:spPr>
        <p:txBody>
          <a:bodyPr wrap="square" lIns="0" tIns="0" rIns="0" bIns="0" rtlCol="0" anchor="t">
            <a:spAutoFit/>
          </a:bodyPr>
          <a:lstStyle/>
          <a:p>
            <a:pPr>
              <a:lnSpc>
                <a:spcPct val="140000"/>
              </a:lnSpc>
              <a:defRPr/>
            </a:pPr>
            <a:r>
              <a:rPr kumimoji="0" lang="en-US" altLang="zh-CN" sz="1600" b="0" i="1" u="none" strike="noStrike" kern="1200" cap="none" spc="0" normalizeH="0" baseline="0" noProof="0">
                <a:ln>
                  <a:noFill/>
                </a:ln>
                <a:effectLst/>
                <a:uLnTx/>
                <a:uFillTx/>
                <a:latin typeface="Boehringer Forward Text"/>
                <a:ea typeface="+mn-ea"/>
                <a:cs typeface="+mn-cs"/>
              </a:rPr>
              <a:t>Seek for </a:t>
            </a:r>
            <a:r>
              <a:rPr lang="en-US" altLang="zh-CN" sz="1600" i="1">
                <a:latin typeface="Boehringer Forward Text"/>
              </a:rPr>
              <a:t>PEC’s</a:t>
            </a:r>
            <a:r>
              <a:rPr kumimoji="0" lang="en-US" altLang="zh-CN" sz="1600" b="0" i="1" u="none" strike="noStrike" kern="1200" cap="none" spc="0" normalizeH="0" baseline="0" noProof="0">
                <a:ln>
                  <a:noFill/>
                </a:ln>
                <a:effectLst/>
                <a:uLnTx/>
                <a:uFillTx/>
                <a:latin typeface="Boehringer Forward Text"/>
                <a:ea typeface="+mn-ea"/>
                <a:cs typeface="+mn-cs"/>
              </a:rPr>
              <a:t> endorsement</a:t>
            </a:r>
            <a:endParaRPr kumimoji="0" lang="zh-CN" altLang="en-US" sz="1600" b="0" i="1" u="none" strike="noStrike" kern="1200" cap="none" spc="0" normalizeH="0" baseline="0" noProof="0">
              <a:ln>
                <a:noFill/>
              </a:ln>
              <a:effectLst/>
              <a:uLnTx/>
              <a:uFillTx/>
              <a:latin typeface="Boehringer Forward Text"/>
              <a:ea typeface="+mn-ea"/>
              <a:cs typeface="+mn-cs"/>
            </a:endParaRPr>
          </a:p>
        </p:txBody>
      </p:sp>
      <p:sp>
        <p:nvSpPr>
          <p:cNvPr id="20" name="Textplatzhalter 2">
            <a:extLst>
              <a:ext uri="{FF2B5EF4-FFF2-40B4-BE49-F238E27FC236}">
                <a16:creationId xmlns:a16="http://schemas.microsoft.com/office/drawing/2014/main" id="{F9E6C4B2-5F80-6752-78DD-E2E88B40E540}"/>
              </a:ext>
            </a:extLst>
          </p:cNvPr>
          <p:cNvSpPr txBox="1">
            <a:spLocks/>
          </p:cNvSpPr>
          <p:nvPr/>
        </p:nvSpPr>
        <p:spPr bwMode="gray">
          <a:xfrm>
            <a:off x="389663" y="5734136"/>
            <a:ext cx="2553431" cy="354586"/>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marR="0" lvl="0" indent="0" algn="l" defTabSz="914400" rtl="0" eaLnBrk="1" fontAlgn="auto" latinLnBrk="0" hangingPunct="1">
              <a:lnSpc>
                <a:spcPct val="140000"/>
              </a:lnSpc>
              <a:spcBef>
                <a:spcPts val="0"/>
              </a:spcBef>
              <a:spcAft>
                <a:spcPts val="600"/>
              </a:spcAft>
              <a:buClr>
                <a:srgbClr val="00E47C"/>
              </a:buClr>
              <a:buSzTx/>
              <a:buFont typeface="Arial" panose="020B0604020202020204" pitchFamily="34" charset="0"/>
              <a:buNone/>
              <a:tabLst/>
              <a:defRPr/>
            </a:pPr>
            <a:r>
              <a:rPr kumimoji="0" lang="en-US" altLang="zh-CN" sz="1600" b="1" i="0" u="none" strike="noStrike" kern="1200" cap="none" spc="0" normalizeH="0" baseline="0" noProof="0">
                <a:ln>
                  <a:noFill/>
                </a:ln>
                <a:solidFill>
                  <a:prstClr val="white"/>
                </a:solidFill>
                <a:effectLst/>
                <a:uLnTx/>
                <a:uFillTx/>
                <a:latin typeface="Boehringer Forward Text"/>
                <a:ea typeface="+mn-ea"/>
                <a:cs typeface="+mn-cs"/>
              </a:rPr>
              <a:t>Request for </a:t>
            </a:r>
            <a:r>
              <a:rPr lang="en-US" altLang="zh-CN" b="1">
                <a:solidFill>
                  <a:prstClr val="white"/>
                </a:solidFill>
                <a:latin typeface="Boehringer Forward Text"/>
              </a:rPr>
              <a:t>CEC</a:t>
            </a:r>
            <a:endParaRPr kumimoji="0" lang="en-US" sz="1600" b="1"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5" name="Textplatzhalter 2">
            <a:extLst>
              <a:ext uri="{FF2B5EF4-FFF2-40B4-BE49-F238E27FC236}">
                <a16:creationId xmlns:a16="http://schemas.microsoft.com/office/drawing/2014/main" id="{0FABACB4-695E-4191-4883-629D87325AC5}"/>
              </a:ext>
            </a:extLst>
          </p:cNvPr>
          <p:cNvSpPr txBox="1">
            <a:spLocks/>
          </p:cNvSpPr>
          <p:nvPr/>
        </p:nvSpPr>
        <p:spPr bwMode="gray">
          <a:xfrm>
            <a:off x="455866" y="4535824"/>
            <a:ext cx="2377045" cy="463089"/>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marR="0" lvl="0" indent="0" algn="l" defTabSz="914400" rtl="0" eaLnBrk="1" fontAlgn="auto" latinLnBrk="0" hangingPunct="1">
              <a:lnSpc>
                <a:spcPct val="140000"/>
              </a:lnSpc>
              <a:spcBef>
                <a:spcPts val="0"/>
              </a:spcBef>
              <a:spcAft>
                <a:spcPts val="600"/>
              </a:spcAft>
              <a:buClr>
                <a:srgbClr val="00E47C"/>
              </a:buClr>
              <a:buSzTx/>
              <a:buFont typeface="Arial" panose="020B0604020202020204" pitchFamily="34" charset="0"/>
              <a:buNone/>
              <a:tabLst/>
              <a:defRPr/>
            </a:pPr>
            <a:r>
              <a:rPr kumimoji="0" lang="en-US" sz="1600" b="1" i="0" u="none" strike="noStrike" kern="1200" cap="none" spc="0" normalizeH="0" baseline="0" noProof="0">
                <a:ln>
                  <a:noFill/>
                </a:ln>
                <a:solidFill>
                  <a:prstClr val="white"/>
                </a:solidFill>
                <a:effectLst/>
                <a:uLnTx/>
                <a:uFillTx/>
                <a:latin typeface="Boehringer Forward Text"/>
                <a:ea typeface="+mn-ea"/>
                <a:cs typeface="+mn-cs"/>
              </a:rPr>
              <a:t>Study type/</a:t>
            </a:r>
            <a:r>
              <a:rPr lang="en-US" b="1">
                <a:solidFill>
                  <a:prstClr val="white"/>
                </a:solidFill>
                <a:latin typeface="Boehringer Forward Text"/>
              </a:rPr>
              <a:t>Data source</a:t>
            </a:r>
            <a:endParaRPr kumimoji="0" lang="en-US" sz="1600" b="1" i="0" u="none" strike="noStrike" kern="1200" cap="none" spc="0" normalizeH="0" baseline="0" noProof="0">
              <a:ln>
                <a:noFill/>
              </a:ln>
              <a:solidFill>
                <a:prstClr val="white"/>
              </a:solidFill>
              <a:effectLst/>
              <a:uLnTx/>
              <a:uFillTx/>
              <a:latin typeface="Boehringer Forward Text"/>
              <a:ea typeface="+mn-ea"/>
              <a:cs typeface="+mn-cs"/>
            </a:endParaRPr>
          </a:p>
        </p:txBody>
      </p:sp>
      <p:pic>
        <p:nvPicPr>
          <p:cNvPr id="6" name="Grafik 42">
            <a:extLst>
              <a:ext uri="{FF2B5EF4-FFF2-40B4-BE49-F238E27FC236}">
                <a16:creationId xmlns:a16="http://schemas.microsoft.com/office/drawing/2014/main" id="{FCE58A2A-65DD-6019-4C53-D6070252F1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gray">
          <a:xfrm>
            <a:off x="2857865" y="4437094"/>
            <a:ext cx="576000" cy="576000"/>
          </a:xfrm>
          <a:prstGeom prst="rect">
            <a:avLst/>
          </a:prstGeom>
        </p:spPr>
      </p:pic>
      <p:sp>
        <p:nvSpPr>
          <p:cNvPr id="10" name="TextBox 18">
            <a:extLst>
              <a:ext uri="{FF2B5EF4-FFF2-40B4-BE49-F238E27FC236}">
                <a16:creationId xmlns:a16="http://schemas.microsoft.com/office/drawing/2014/main" id="{109CCD2C-AB78-56D3-16BC-2BD6A7A511A0}"/>
              </a:ext>
            </a:extLst>
          </p:cNvPr>
          <p:cNvSpPr txBox="1"/>
          <p:nvPr/>
        </p:nvSpPr>
        <p:spPr bwMode="gray">
          <a:xfrm>
            <a:off x="3833101" y="4608245"/>
            <a:ext cx="7971954" cy="861774"/>
          </a:xfrm>
          <a:prstGeom prst="rect">
            <a:avLst/>
          </a:prstGeom>
          <a:noFill/>
        </p:spPr>
        <p:txBody>
          <a:bodyPr wrap="square" lIns="0" tIns="0" rIns="0" bIns="0" rtlCol="0" anchor="t">
            <a:spAutoFit/>
          </a:bodyPr>
          <a:lstStyle/>
          <a:p>
            <a:pPr marL="285750" indent="-285750">
              <a:buFont typeface="Arial" panose="020B0604020202020204" pitchFamily="34" charset="0"/>
              <a:buChar char="•"/>
              <a:defRPr/>
            </a:pPr>
            <a:r>
              <a:rPr lang="en-US" sz="1400" i="1"/>
              <a:t>An ECR with CDC(consulting on clinical experts) </a:t>
            </a:r>
          </a:p>
          <a:p>
            <a:pPr marL="285750" indent="-285750">
              <a:buFont typeface="Arial" panose="020B0604020202020204" pitchFamily="34" charset="0"/>
              <a:buChar char="•"/>
              <a:defRPr/>
            </a:pPr>
            <a:r>
              <a:rPr lang="en-US" sz="1400" i="1"/>
              <a:t>A retrospective observational study based on four data sources including 1)</a:t>
            </a:r>
            <a:r>
              <a:rPr lang="en-US" altLang="zh-CN" sz="1400" i="1"/>
              <a:t> Beijing Claims data, 2) Summary of Inpatient Discharge  (</a:t>
            </a:r>
            <a:r>
              <a:rPr lang="zh-CN" altLang="en-US" sz="1400" i="1"/>
              <a:t>病案首页</a:t>
            </a:r>
            <a:r>
              <a:rPr lang="en-US" altLang="zh-CN" sz="1400" i="1"/>
              <a:t>), 3) </a:t>
            </a:r>
            <a:r>
              <a:rPr lang="zh-CN" altLang="en-US" sz="1400" i="1"/>
              <a:t>死因监测数据 </a:t>
            </a:r>
            <a:r>
              <a:rPr lang="en-US" altLang="zh-CN" sz="1400" i="1"/>
              <a:t>and 4) CCDRFS(</a:t>
            </a:r>
            <a:r>
              <a:rPr lang="zh-CN" altLang="en-US" sz="1400" i="1"/>
              <a:t>慢性病危险监测数据</a:t>
            </a:r>
            <a:r>
              <a:rPr lang="en-US" altLang="zh-CN" sz="1400" i="1"/>
              <a:t>) .</a:t>
            </a:r>
            <a:endParaRPr lang="zh-CN" altLang="en-US" sz="1400" i="1"/>
          </a:p>
        </p:txBody>
      </p:sp>
      <p:sp>
        <p:nvSpPr>
          <p:cNvPr id="15" name="文本框 13">
            <a:extLst>
              <a:ext uri="{FF2B5EF4-FFF2-40B4-BE49-F238E27FC236}">
                <a16:creationId xmlns:a16="http://schemas.microsoft.com/office/drawing/2014/main" id="{4757B579-A2EB-4F9C-6A9A-9D11CC7C873F}"/>
              </a:ext>
            </a:extLst>
          </p:cNvPr>
          <p:cNvSpPr txBox="1"/>
          <p:nvPr/>
        </p:nvSpPr>
        <p:spPr>
          <a:xfrm>
            <a:off x="4008437" y="6654668"/>
            <a:ext cx="9989683" cy="153888"/>
          </a:xfrm>
          <a:prstGeom prst="rect">
            <a:avLst/>
          </a:prstGeom>
          <a:noFill/>
        </p:spPr>
        <p:txBody>
          <a:bodyPr wrap="square" lIns="0" tIns="0" rIns="0" bIns="0" rtlCol="0" anchor="t">
            <a:spAutoFit/>
          </a:bodyPr>
          <a:lstStyle/>
          <a:p>
            <a:r>
              <a:rPr lang="en-US" sz="1000"/>
              <a:t>CDC: Center for disease control and prevention ; EHR: electronic health records</a:t>
            </a:r>
          </a:p>
        </p:txBody>
      </p:sp>
      <p:sp>
        <p:nvSpPr>
          <p:cNvPr id="3" name="文本框 2">
            <a:extLst>
              <a:ext uri="{FF2B5EF4-FFF2-40B4-BE49-F238E27FC236}">
                <a16:creationId xmlns:a16="http://schemas.microsoft.com/office/drawing/2014/main" id="{BC2757C2-AE5A-F694-E7EB-75A4AACBE567}"/>
              </a:ext>
            </a:extLst>
          </p:cNvPr>
          <p:cNvSpPr txBox="1"/>
          <p:nvPr/>
        </p:nvSpPr>
        <p:spPr bwMode="gray">
          <a:xfrm>
            <a:off x="3833101" y="1225874"/>
            <a:ext cx="7879491" cy="96225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400" i="1" baseline="0">
                <a:latin typeface="Boehringer Forward Text"/>
                <a:ea typeface="Arial"/>
                <a:cs typeface="Arial"/>
              </a:rPr>
              <a:t>The number of </a:t>
            </a:r>
            <a:r>
              <a:rPr lang="en-US" sz="1400" i="1">
                <a:latin typeface="Boehringer Forward Text"/>
                <a:ea typeface="Arial"/>
                <a:cs typeface="Arial"/>
              </a:rPr>
              <a:t>patients</a:t>
            </a:r>
            <a:r>
              <a:rPr lang="en-US" sz="1400" i="1" baseline="0">
                <a:latin typeface="Boehringer Forward Text"/>
                <a:ea typeface="Arial"/>
                <a:cs typeface="Arial"/>
              </a:rPr>
              <a:t> in China with coexisting T2DM</a:t>
            </a:r>
            <a:r>
              <a:rPr lang="en-US" sz="1400" i="1">
                <a:latin typeface="Boehringer Forward Text"/>
                <a:ea typeface="Arial"/>
                <a:cs typeface="Arial"/>
              </a:rPr>
              <a:t>,</a:t>
            </a:r>
            <a:r>
              <a:rPr lang="en-US" sz="1400" i="1" baseline="0">
                <a:latin typeface="Boehringer Forward Text"/>
                <a:ea typeface="Arial"/>
                <a:cs typeface="Arial"/>
              </a:rPr>
              <a:t> HTN</a:t>
            </a:r>
            <a:r>
              <a:rPr lang="en-US" sz="1400" i="1">
                <a:latin typeface="Boehringer Forward Text"/>
                <a:ea typeface="Arial"/>
                <a:cs typeface="Arial"/>
              </a:rPr>
              <a:t>,</a:t>
            </a:r>
            <a:r>
              <a:rPr lang="en-US" sz="1400" i="1" baseline="0">
                <a:latin typeface="Boehringer Forward Text"/>
                <a:ea typeface="Arial"/>
                <a:cs typeface="Arial"/>
              </a:rPr>
              <a:t> and established </a:t>
            </a:r>
            <a:r>
              <a:rPr lang="en-US" sz="1400" i="1">
                <a:latin typeface="Boehringer Forward Text"/>
                <a:ea typeface="Arial"/>
                <a:cs typeface="Arial"/>
              </a:rPr>
              <a:t>CVD</a:t>
            </a:r>
            <a:r>
              <a:rPr lang="en-US" sz="1400" i="1" baseline="0">
                <a:latin typeface="Boehringer Forward Text"/>
                <a:ea typeface="Arial"/>
                <a:cs typeface="Arial"/>
              </a:rPr>
              <a:t> is substantial and continues to grow. These patients are at extremely high risk of developing heart failure (HF). </a:t>
            </a:r>
            <a:r>
              <a:rPr lang="en-US" sz="1400" i="1">
                <a:latin typeface="Boehringer Forward Text"/>
                <a:ea typeface="Arial"/>
                <a:cs typeface="Arial"/>
              </a:rPr>
              <a:t>​ </a:t>
            </a:r>
            <a:r>
              <a:rPr lang="en-US" sz="1400" i="1" err="1">
                <a:latin typeface="Boehringer Forward Text"/>
                <a:ea typeface="Arial"/>
                <a:cs typeface="Arial"/>
              </a:rPr>
              <a:t>EASi</a:t>
            </a:r>
            <a:r>
              <a:rPr lang="en-US" sz="1400" i="1">
                <a:latin typeface="Boehringer Forward Text"/>
                <a:ea typeface="Arial"/>
                <a:cs typeface="Arial"/>
              </a:rPr>
              <a:t>™-PROTKT phase III trial is on going. Expected to have results by </a:t>
            </a:r>
            <a:r>
              <a:rPr lang="en-US" altLang="zh-CN" sz="1400" i="1">
                <a:latin typeface="Boehringer Forward Text"/>
                <a:ea typeface="Arial"/>
                <a:cs typeface="Arial"/>
              </a:rPr>
              <a:t>Apr </a:t>
            </a:r>
            <a:r>
              <a:rPr lang="en-US" sz="1400" i="1">
                <a:latin typeface="Boehringer Forward Text"/>
                <a:ea typeface="Arial"/>
                <a:cs typeface="Arial"/>
              </a:rPr>
              <a:t>2030. </a:t>
            </a:r>
            <a:endParaRPr lang="en-US" altLang="zh-CN" sz="1400" i="1">
              <a:cs typeface="Arial"/>
            </a:endParaRPr>
          </a:p>
          <a:p>
            <a:pPr marL="179705" indent="-179705" algn="l">
              <a:lnSpc>
                <a:spcPct val="140000"/>
              </a:lnSpc>
              <a:buFont typeface="Arial" panose="020B0604020202020204" pitchFamily="34" charset="0"/>
              <a:buChar char="•"/>
            </a:pPr>
            <a:endParaRPr lang="zh-CN" altLang="en-US" sz="1600" i="1"/>
          </a:p>
        </p:txBody>
      </p:sp>
      <p:sp>
        <p:nvSpPr>
          <p:cNvPr id="4" name="文本框 3">
            <a:extLst>
              <a:ext uri="{FF2B5EF4-FFF2-40B4-BE49-F238E27FC236}">
                <a16:creationId xmlns:a16="http://schemas.microsoft.com/office/drawing/2014/main" id="{ACC63AFF-1E71-D79A-6478-8C8B1B4CE91E}"/>
              </a:ext>
            </a:extLst>
          </p:cNvPr>
          <p:cNvSpPr txBox="1"/>
          <p:nvPr/>
        </p:nvSpPr>
        <p:spPr bwMode="gray">
          <a:xfrm>
            <a:off x="3833101" y="2534210"/>
            <a:ext cx="7971954" cy="86177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altLang="zh-CN" sz="1400" i="1"/>
              <a:t>Leveraging RWD to provide up-to date local evidence on patient number, treatment landscape and relevant clinical outcomes will help to:</a:t>
            </a:r>
          </a:p>
          <a:p>
            <a:pPr marL="342900" lvl="0" indent="-342900" eaLnBrk="0" fontAlgn="base" hangingPunct="0">
              <a:spcBef>
                <a:spcPct val="0"/>
              </a:spcBef>
              <a:spcAft>
                <a:spcPct val="0"/>
              </a:spcAft>
              <a:buFont typeface="Arial" panose="020B0604020202020204" pitchFamily="34" charset="0"/>
              <a:buChar char="•"/>
            </a:pPr>
            <a:r>
              <a:rPr lang="en-US" altLang="zh-CN" sz="1400" i="1"/>
              <a:t>S</a:t>
            </a:r>
            <a:r>
              <a:rPr lang="zh-CN" altLang="zh-CN" sz="1400" i="1"/>
              <a:t>upport </a:t>
            </a:r>
            <a:r>
              <a:rPr lang="en-US" altLang="zh-CN" sz="1400" i="1"/>
              <a:t>HF </a:t>
            </a:r>
            <a:r>
              <a:rPr lang="zh-CN" altLang="zh-CN" sz="1400" i="1"/>
              <a:t>Tier 1 prevention</a:t>
            </a:r>
            <a:r>
              <a:rPr lang="en-US" altLang="zh-CN" sz="1400" i="1"/>
              <a:t> strategy</a:t>
            </a:r>
            <a:r>
              <a:rPr lang="zh-CN" altLang="zh-CN" sz="1400" i="1"/>
              <a:t> and </a:t>
            </a:r>
            <a:r>
              <a:rPr lang="en-US" altLang="zh-CN" sz="1400" i="1"/>
              <a:t>provide </a:t>
            </a:r>
            <a:r>
              <a:rPr lang="zh-CN" altLang="zh-CN" sz="1400" i="1"/>
              <a:t>reference data for endpoint estimation.</a:t>
            </a:r>
            <a:endParaRPr lang="en-US" altLang="zh-CN" sz="1400" i="1"/>
          </a:p>
          <a:p>
            <a:pPr marL="342900" indent="-342900" eaLnBrk="0" fontAlgn="base" hangingPunct="0">
              <a:spcBef>
                <a:spcPct val="0"/>
              </a:spcBef>
              <a:spcAft>
                <a:spcPct val="0"/>
              </a:spcAft>
              <a:buFont typeface="Arial" panose="020B0604020202020204" pitchFamily="34" charset="0"/>
              <a:buChar char="•"/>
            </a:pPr>
            <a:r>
              <a:rPr lang="en-US" altLang="zh-CN" sz="1400" i="1"/>
              <a:t>G</a:t>
            </a:r>
            <a:r>
              <a:rPr lang="zh-CN" altLang="zh-CN" sz="1400" i="1"/>
              <a:t>uide medical strategy, HCP education, and future guidelines.</a:t>
            </a:r>
            <a:endParaRPr lang="en-US" altLang="zh-CN" sz="1400" i="1"/>
          </a:p>
        </p:txBody>
      </p:sp>
    </p:spTree>
    <p:extLst>
      <p:ext uri="{BB962C8B-B14F-4D97-AF65-F5344CB8AC3E}">
        <p14:creationId xmlns:p14="http://schemas.microsoft.com/office/powerpoint/2010/main" val="3527517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AFC2E-C172-C1B3-3DB2-A5E891B7153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DA6967C-F4AD-82EB-60F6-4DCA3E91448C}"/>
              </a:ext>
            </a:extLst>
          </p:cNvPr>
          <p:cNvSpPr>
            <a:spLocks noGrp="1"/>
          </p:cNvSpPr>
          <p:nvPr>
            <p:ph type="title"/>
          </p:nvPr>
        </p:nvSpPr>
        <p:spPr>
          <a:xfrm>
            <a:off x="479425" y="484357"/>
            <a:ext cx="11233151" cy="720000"/>
          </a:xfrm>
        </p:spPr>
        <p:txBody>
          <a:bodyPr/>
          <a:lstStyle/>
          <a:p>
            <a:r>
              <a:rPr lang="en-US" altLang="zh-CN"/>
              <a:t>Call for Large-scale Real-World Data to Reveal the Treatment Landscape of High-Risk Multimorbidity Populations in China</a:t>
            </a:r>
            <a:endParaRPr lang="zh-CN" altLang="en-US" b="0"/>
          </a:p>
        </p:txBody>
      </p:sp>
      <p:sp>
        <p:nvSpPr>
          <p:cNvPr id="3" name="内容占位符 2">
            <a:extLst>
              <a:ext uri="{FF2B5EF4-FFF2-40B4-BE49-F238E27FC236}">
                <a16:creationId xmlns:a16="http://schemas.microsoft.com/office/drawing/2014/main" id="{40CBA1F7-B861-2D91-55C2-FD8D741608DF}"/>
              </a:ext>
            </a:extLst>
          </p:cNvPr>
          <p:cNvSpPr>
            <a:spLocks noGrp="1"/>
          </p:cNvSpPr>
          <p:nvPr>
            <p:ph idx="1"/>
          </p:nvPr>
        </p:nvSpPr>
        <p:spPr>
          <a:xfrm>
            <a:off x="479425" y="1451075"/>
            <a:ext cx="11233151" cy="720000"/>
          </a:xfrm>
        </p:spPr>
        <p:txBody>
          <a:bodyPr/>
          <a:lstStyle/>
          <a:p>
            <a:pPr marL="0" indent="0">
              <a:buNone/>
            </a:pPr>
            <a:r>
              <a:rPr lang="en-US" altLang="zh-CN" sz="1400"/>
              <a:t>The number of patients in China with </a:t>
            </a:r>
            <a:r>
              <a:rPr lang="en-US" altLang="zh-CN" sz="1400" b="1"/>
              <a:t>coexisting type 2 diabetes (T2DM), hypertension (HTN), and established cardiovascular disease (</a:t>
            </a:r>
            <a:r>
              <a:rPr lang="en-US" altLang="zh-CN" sz="1400" b="1" err="1"/>
              <a:t>eCVD</a:t>
            </a:r>
            <a:r>
              <a:rPr lang="en-US" altLang="zh-CN" sz="1400" b="1"/>
              <a:t>)</a:t>
            </a:r>
            <a:r>
              <a:rPr lang="en-US" altLang="zh-CN" sz="1400"/>
              <a:t> is large and continues to grow. These patients are at </a:t>
            </a:r>
            <a:r>
              <a:rPr lang="en-US" altLang="zh-CN" sz="1400" b="1"/>
              <a:t>extremely high risk of developing heart failure (HF)</a:t>
            </a:r>
            <a:r>
              <a:rPr lang="en-US" altLang="zh-CN" sz="1400"/>
              <a:t>. </a:t>
            </a:r>
          </a:p>
          <a:p>
            <a:pPr marL="0" indent="0">
              <a:buNone/>
            </a:pPr>
            <a:endParaRPr lang="en-US" altLang="zh-CN" sz="1400"/>
          </a:p>
          <a:p>
            <a:pPr marL="0" indent="0">
              <a:buNone/>
            </a:pPr>
            <a:endParaRPr lang="en-US" altLang="zh-CN" sz="1400"/>
          </a:p>
          <a:p>
            <a:pPr>
              <a:buFont typeface="Wingdings" panose="05000000000000000000" pitchFamily="2" charset="2"/>
              <a:buChar char="Ø"/>
            </a:pPr>
            <a:endParaRPr lang="en-US" altLang="zh-CN" sz="1400"/>
          </a:p>
          <a:p>
            <a:pPr>
              <a:buFont typeface="Wingdings" panose="05000000000000000000" pitchFamily="2" charset="2"/>
              <a:buChar char="Ø"/>
            </a:pPr>
            <a:endParaRPr lang="en-US" altLang="zh-CN" sz="1400"/>
          </a:p>
          <a:p>
            <a:pPr>
              <a:buFont typeface="Wingdings" panose="05000000000000000000" pitchFamily="2" charset="2"/>
              <a:buChar char="Ø"/>
            </a:pPr>
            <a:endParaRPr lang="en-US" altLang="zh-CN" sz="1400"/>
          </a:p>
          <a:p>
            <a:pPr>
              <a:buFont typeface="Wingdings" panose="05000000000000000000" pitchFamily="2" charset="2"/>
              <a:buChar char="Ø"/>
            </a:pPr>
            <a:endParaRPr lang="en-US" altLang="zh-CN" sz="1400"/>
          </a:p>
          <a:p>
            <a:pPr>
              <a:buFont typeface="Wingdings" panose="05000000000000000000" pitchFamily="2" charset="2"/>
              <a:buChar char="Ø"/>
            </a:pPr>
            <a:endParaRPr lang="en-US" altLang="zh-CN" sz="1400"/>
          </a:p>
          <a:p>
            <a:pPr>
              <a:buFont typeface="Wingdings" panose="05000000000000000000" pitchFamily="2" charset="2"/>
              <a:buChar char="Ø"/>
            </a:pPr>
            <a:endParaRPr lang="en-US" altLang="zh-CN" sz="1400"/>
          </a:p>
          <a:p>
            <a:pPr>
              <a:buFont typeface="Wingdings" panose="05000000000000000000" pitchFamily="2" charset="2"/>
              <a:buChar char="Ø"/>
            </a:pPr>
            <a:endParaRPr lang="en-US" altLang="zh-CN" sz="1400"/>
          </a:p>
        </p:txBody>
      </p:sp>
      <p:sp>
        <p:nvSpPr>
          <p:cNvPr id="5" name="页脚占位符 4">
            <a:extLst>
              <a:ext uri="{FF2B5EF4-FFF2-40B4-BE49-F238E27FC236}">
                <a16:creationId xmlns:a16="http://schemas.microsoft.com/office/drawing/2014/main" id="{F9082B35-46C1-002C-C889-F3BDD81F8152}"/>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14" name="内容占位符 2">
            <a:extLst>
              <a:ext uri="{FF2B5EF4-FFF2-40B4-BE49-F238E27FC236}">
                <a16:creationId xmlns:a16="http://schemas.microsoft.com/office/drawing/2014/main" id="{B7474FA5-B0AA-A733-0FCA-85AAAC7B35FA}"/>
              </a:ext>
            </a:extLst>
          </p:cNvPr>
          <p:cNvSpPr txBox="1">
            <a:spLocks/>
          </p:cNvSpPr>
          <p:nvPr/>
        </p:nvSpPr>
        <p:spPr bwMode="gray">
          <a:xfrm>
            <a:off x="301028" y="2307924"/>
            <a:ext cx="5643807" cy="2737563"/>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216000" lvl="1" indent="0">
              <a:lnSpc>
                <a:spcPct val="120000"/>
              </a:lnSpc>
              <a:spcAft>
                <a:spcPts val="300"/>
              </a:spcAft>
              <a:buNone/>
            </a:pPr>
            <a:r>
              <a:rPr lang="en-US" altLang="zh-CN" b="1">
                <a:solidFill>
                  <a:schemeClr val="accent5"/>
                </a:solidFill>
              </a:rPr>
              <a:t>Limited and unsystematic real-world data</a:t>
            </a:r>
            <a:endParaRPr lang="en-US" altLang="zh-CN">
              <a:solidFill>
                <a:schemeClr val="accent5"/>
              </a:solidFill>
            </a:endParaRPr>
          </a:p>
          <a:p>
            <a:pPr lvl="2">
              <a:lnSpc>
                <a:spcPct val="120000"/>
              </a:lnSpc>
              <a:spcAft>
                <a:spcPts val="300"/>
              </a:spcAft>
              <a:buFont typeface="Wingdings" panose="05000000000000000000" pitchFamily="2" charset="2"/>
              <a:buChar char="Ø"/>
            </a:pPr>
            <a:r>
              <a:rPr lang="en-US" altLang="zh-CN" sz="1400" b="1"/>
              <a:t>Disease burden</a:t>
            </a:r>
          </a:p>
          <a:p>
            <a:pPr lvl="2">
              <a:lnSpc>
                <a:spcPct val="120000"/>
              </a:lnSpc>
              <a:spcAft>
                <a:spcPts val="300"/>
              </a:spcAft>
              <a:buFont typeface="Wingdings" panose="05000000000000000000" pitchFamily="2" charset="2"/>
              <a:buChar char="Ø"/>
            </a:pPr>
            <a:r>
              <a:rPr lang="en-US" altLang="zh-CN" sz="1400" b="1"/>
              <a:t>Treatment landscape</a:t>
            </a:r>
          </a:p>
          <a:p>
            <a:pPr lvl="3">
              <a:lnSpc>
                <a:spcPct val="120000"/>
              </a:lnSpc>
              <a:spcAft>
                <a:spcPts val="300"/>
              </a:spcAft>
            </a:pPr>
            <a:r>
              <a:rPr lang="en-US" altLang="zh-CN" sz="1400"/>
              <a:t>Patient </a:t>
            </a:r>
            <a:r>
              <a:rPr lang="en-US" altLang="zh-CN" sz="1400" b="1"/>
              <a:t>adherence,</a:t>
            </a:r>
            <a:r>
              <a:rPr lang="en-US" altLang="zh-CN" sz="1400"/>
              <a:t> </a:t>
            </a:r>
            <a:r>
              <a:rPr lang="en-US" altLang="zh-CN" sz="1400" b="1"/>
              <a:t>combination therapy patterns</a:t>
            </a:r>
            <a:r>
              <a:rPr lang="en-US" altLang="zh-CN" sz="1400"/>
              <a:t>, and </a:t>
            </a:r>
            <a:r>
              <a:rPr lang="en-US" altLang="zh-CN" sz="1400" b="1"/>
              <a:t>true impact on heart failure prevention</a:t>
            </a:r>
            <a:endParaRPr lang="zh-CN" altLang="en-US" sz="1400" b="1"/>
          </a:p>
          <a:p>
            <a:pPr lvl="3">
              <a:lnSpc>
                <a:spcPct val="120000"/>
              </a:lnSpc>
              <a:spcAft>
                <a:spcPts val="300"/>
              </a:spcAft>
            </a:pPr>
            <a:r>
              <a:rPr lang="en-US" altLang="zh-CN" sz="1400"/>
              <a:t>Clinical situation may be complex due to </a:t>
            </a:r>
            <a:r>
              <a:rPr lang="en-US" altLang="zh-CN" sz="1400" b="1"/>
              <a:t>diverse patient factors</a:t>
            </a:r>
            <a:r>
              <a:rPr lang="en-US" altLang="zh-CN" sz="1400"/>
              <a:t>, </a:t>
            </a:r>
            <a:r>
              <a:rPr lang="en-US" altLang="zh-CN" sz="1400" b="1"/>
              <a:t>physician preferences</a:t>
            </a:r>
            <a:r>
              <a:rPr lang="en-US" altLang="zh-CN" sz="1400"/>
              <a:t>, and </a:t>
            </a:r>
            <a:r>
              <a:rPr lang="en-US" altLang="zh-CN" sz="1400" b="1"/>
              <a:t>regional disparities</a:t>
            </a:r>
            <a:r>
              <a:rPr lang="en-US" altLang="zh-CN" sz="1400"/>
              <a:t>.</a:t>
            </a:r>
          </a:p>
          <a:p>
            <a:pPr lvl="3">
              <a:lnSpc>
                <a:spcPct val="120000"/>
              </a:lnSpc>
              <a:spcAft>
                <a:spcPts val="300"/>
              </a:spcAft>
            </a:pPr>
            <a:r>
              <a:rPr lang="en-US" altLang="zh-CN" sz="1400"/>
              <a:t>Further understanding is needed regarding the </a:t>
            </a:r>
            <a:r>
              <a:rPr lang="en-US" altLang="zh-CN" sz="1400" b="1"/>
              <a:t>implementation of emerging therapies </a:t>
            </a:r>
            <a:r>
              <a:rPr lang="en-US" altLang="zh-CN" sz="1400"/>
              <a:t>(e.g., SGLT2i) in practice</a:t>
            </a:r>
          </a:p>
        </p:txBody>
      </p:sp>
      <p:sp>
        <p:nvSpPr>
          <p:cNvPr id="15" name="文本框 14">
            <a:extLst>
              <a:ext uri="{FF2B5EF4-FFF2-40B4-BE49-F238E27FC236}">
                <a16:creationId xmlns:a16="http://schemas.microsoft.com/office/drawing/2014/main" id="{DFE073C2-3099-2BA0-3E9A-75AA4F98DA08}"/>
              </a:ext>
            </a:extLst>
          </p:cNvPr>
          <p:cNvSpPr txBox="1"/>
          <p:nvPr/>
        </p:nvSpPr>
        <p:spPr bwMode="gray">
          <a:xfrm>
            <a:off x="7008387" y="2307924"/>
            <a:ext cx="4499416" cy="3112583"/>
          </a:xfrm>
          <a:prstGeom prst="rect">
            <a:avLst/>
          </a:prstGeom>
          <a:noFill/>
        </p:spPr>
        <p:txBody>
          <a:bodyPr wrap="square" lIns="91440" tIns="45720" rIns="91440" bIns="45720" anchor="t">
            <a:spAutoFit/>
          </a:bodyPr>
          <a:lstStyle/>
          <a:p>
            <a:pPr marL="0" lvl="1" indent="177800">
              <a:lnSpc>
                <a:spcPct val="120000"/>
              </a:lnSpc>
              <a:spcAft>
                <a:spcPts val="600"/>
              </a:spcAft>
            </a:pPr>
            <a:r>
              <a:rPr lang="en-US" altLang="zh-CN" sz="1600" b="1">
                <a:solidFill>
                  <a:schemeClr val="accent5"/>
                </a:solidFill>
              </a:rPr>
              <a:t>Unique Value of Real-World Data 	</a:t>
            </a:r>
          </a:p>
          <a:p>
            <a:pPr marL="448945" lvl="1" indent="-271145">
              <a:lnSpc>
                <a:spcPct val="120000"/>
              </a:lnSpc>
              <a:spcAft>
                <a:spcPts val="600"/>
              </a:spcAft>
              <a:buFont typeface="Wingdings" panose="05000000000000000000" pitchFamily="2" charset="2"/>
              <a:buChar char="Ø"/>
            </a:pPr>
            <a:r>
              <a:rPr lang="en-US" altLang="zh-CN" sz="1400"/>
              <a:t>Real-world studies (RWS) can leverage </a:t>
            </a:r>
            <a:r>
              <a:rPr lang="en-US" altLang="zh-CN" sz="1400" b="1"/>
              <a:t>multiple data sources </a:t>
            </a:r>
            <a:r>
              <a:rPr lang="en-US" altLang="zh-CN" sz="1400"/>
              <a:t>(e.g., CDC surveillance, EHR, insurance claims) to systematically reveal </a:t>
            </a:r>
            <a:r>
              <a:rPr lang="en-US" altLang="zh-CN" sz="1400" b="1"/>
              <a:t>prevalence, treatment patterns and  outcomes</a:t>
            </a:r>
            <a:r>
              <a:rPr lang="en-US" altLang="zh-CN" sz="1400"/>
              <a:t>.</a:t>
            </a:r>
          </a:p>
          <a:p>
            <a:pPr marL="448945" lvl="1" indent="-271145">
              <a:lnSpc>
                <a:spcPct val="120000"/>
              </a:lnSpc>
              <a:spcAft>
                <a:spcPts val="600"/>
              </a:spcAft>
              <a:buFont typeface="Wingdings" panose="05000000000000000000" pitchFamily="2" charset="2"/>
              <a:buChar char="Ø"/>
            </a:pPr>
            <a:r>
              <a:rPr lang="en-US" altLang="zh-CN" sz="1400"/>
              <a:t>RWD provides </a:t>
            </a:r>
            <a:r>
              <a:rPr lang="en-US" altLang="zh-CN" sz="1400" b="1"/>
              <a:t>localized baseline data </a:t>
            </a:r>
            <a:r>
              <a:rPr lang="en-US" altLang="zh-CN" sz="1400"/>
              <a:t>and </a:t>
            </a:r>
            <a:r>
              <a:rPr lang="en-US" altLang="zh-CN" sz="1400" b="1"/>
              <a:t>clinical practice context for </a:t>
            </a:r>
            <a:r>
              <a:rPr lang="en-US" altLang="zh-CN" sz="1400"/>
              <a:t>phase III studies, supporting a comprehensive understanding of the value of innovative therapies in real-world settings.</a:t>
            </a:r>
          </a:p>
        </p:txBody>
      </p:sp>
      <p:sp>
        <p:nvSpPr>
          <p:cNvPr id="16" name="文本框 15">
            <a:extLst>
              <a:ext uri="{FF2B5EF4-FFF2-40B4-BE49-F238E27FC236}">
                <a16:creationId xmlns:a16="http://schemas.microsoft.com/office/drawing/2014/main" id="{8D65DF5D-C4BB-0324-1D63-8D39AA70F339}"/>
              </a:ext>
            </a:extLst>
          </p:cNvPr>
          <p:cNvSpPr txBox="1"/>
          <p:nvPr/>
        </p:nvSpPr>
        <p:spPr bwMode="gray">
          <a:xfrm>
            <a:off x="1541943" y="5426730"/>
            <a:ext cx="8805785" cy="523220"/>
          </a:xfrm>
          <a:prstGeom prst="rect">
            <a:avLst/>
          </a:prstGeom>
          <a:noFill/>
        </p:spPr>
        <p:txBody>
          <a:bodyPr wrap="square">
            <a:spAutoFit/>
          </a:bodyPr>
          <a:lstStyle/>
          <a:p>
            <a:pPr lvl="2"/>
            <a:r>
              <a:rPr lang="en-US" altLang="zh-CN" sz="1400" i="1">
                <a:solidFill>
                  <a:schemeClr val="accent5">
                    <a:lumMod val="75000"/>
                  </a:schemeClr>
                </a:solidFill>
              </a:rPr>
              <a:t>Existing literature and guidelines highlight the need for further studies on real-world management and outcomes in this population.</a:t>
            </a:r>
          </a:p>
        </p:txBody>
      </p:sp>
      <p:sp>
        <p:nvSpPr>
          <p:cNvPr id="17" name="箭头: 右 16">
            <a:extLst>
              <a:ext uri="{FF2B5EF4-FFF2-40B4-BE49-F238E27FC236}">
                <a16:creationId xmlns:a16="http://schemas.microsoft.com/office/drawing/2014/main" id="{1958D2FE-B0DB-FBBB-CCCB-EB34FC5F910D}"/>
              </a:ext>
            </a:extLst>
          </p:cNvPr>
          <p:cNvSpPr/>
          <p:nvPr/>
        </p:nvSpPr>
        <p:spPr bwMode="gray">
          <a:xfrm rot="10800000">
            <a:off x="6146082" y="3676706"/>
            <a:ext cx="500842" cy="469900"/>
          </a:xfrm>
          <a:prstGeom prst="rightArrow">
            <a:avLst/>
          </a:prstGeom>
          <a:solidFill>
            <a:srgbClr val="EE654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3551378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144A0-E775-842A-4BC6-A82201BE2E7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3CEE782-F8D1-1D00-686A-A0944EBD8C37}"/>
              </a:ext>
            </a:extLst>
          </p:cNvPr>
          <p:cNvSpPr>
            <a:spLocks noGrp="1"/>
          </p:cNvSpPr>
          <p:nvPr>
            <p:ph type="title"/>
          </p:nvPr>
        </p:nvSpPr>
        <p:spPr>
          <a:xfrm>
            <a:off x="479425" y="477875"/>
            <a:ext cx="11233151" cy="720000"/>
          </a:xfrm>
        </p:spPr>
        <p:txBody>
          <a:bodyPr/>
          <a:lstStyle/>
          <a:p>
            <a:r>
              <a:rPr lang="en-US" altLang="zh-CN"/>
              <a:t>RWS Provides Critical Complement to Phase III Trials, Supporting Optimized Future Chronic Disease Management in China</a:t>
            </a:r>
            <a:endParaRPr lang="zh-CN" altLang="en-US"/>
          </a:p>
        </p:txBody>
      </p:sp>
      <p:sp>
        <p:nvSpPr>
          <p:cNvPr id="3" name="内容占位符 2">
            <a:extLst>
              <a:ext uri="{FF2B5EF4-FFF2-40B4-BE49-F238E27FC236}">
                <a16:creationId xmlns:a16="http://schemas.microsoft.com/office/drawing/2014/main" id="{8118044C-DF87-8F6C-B9E0-953AD05B28DC}"/>
              </a:ext>
            </a:extLst>
          </p:cNvPr>
          <p:cNvSpPr>
            <a:spLocks noGrp="1"/>
          </p:cNvSpPr>
          <p:nvPr>
            <p:ph idx="1"/>
          </p:nvPr>
        </p:nvSpPr>
        <p:spPr>
          <a:xfrm>
            <a:off x="479424" y="1433432"/>
            <a:ext cx="6598709" cy="4392000"/>
          </a:xfrm>
        </p:spPr>
        <p:txBody>
          <a:bodyPr/>
          <a:lstStyle/>
          <a:p>
            <a:pPr marL="342900" indent="-342900" fontAlgn="ctr">
              <a:lnSpc>
                <a:spcPct val="120000"/>
              </a:lnSpc>
              <a:spcBef>
                <a:spcPts val="600"/>
              </a:spcBef>
              <a:buFont typeface="+mj-lt"/>
              <a:buAutoNum type="arabicPeriod"/>
            </a:pPr>
            <a:r>
              <a:rPr lang="en-US" altLang="zh-CN" sz="1400" b="1"/>
              <a:t>Closing data gap </a:t>
            </a:r>
            <a:r>
              <a:rPr lang="en-US" altLang="zh-CN" sz="1400"/>
              <a:t>through </a:t>
            </a:r>
            <a:r>
              <a:rPr lang="en-US" altLang="zh-CN" sz="1400" b="1"/>
              <a:t>revealing the treatment landscape </a:t>
            </a:r>
            <a:r>
              <a:rPr lang="en-US" altLang="zh-CN" sz="1400"/>
              <a:t>of high-risk multimorbidity populations in China</a:t>
            </a:r>
          </a:p>
          <a:p>
            <a:pPr marL="342900" indent="-342900" fontAlgn="ctr">
              <a:lnSpc>
                <a:spcPct val="120000"/>
              </a:lnSpc>
              <a:spcBef>
                <a:spcPts val="600"/>
              </a:spcBef>
              <a:buFont typeface="+mj-lt"/>
              <a:buAutoNum type="arabicPeriod"/>
            </a:pPr>
            <a:r>
              <a:rPr lang="en-US" altLang="zh-CN" sz="1400" b="1"/>
              <a:t>Complement RCT evidence,</a:t>
            </a:r>
            <a:r>
              <a:rPr lang="zh-CN" altLang="en-US" sz="1400" b="1"/>
              <a:t> </a:t>
            </a:r>
            <a:r>
              <a:rPr lang="en-US" altLang="zh-CN" sz="1400" b="1"/>
              <a:t>enhancing external validity and supporting localized interpretation of results</a:t>
            </a:r>
          </a:p>
          <a:p>
            <a:pPr marL="663675" lvl="1" indent="-177800" fontAlgn="ctr">
              <a:lnSpc>
                <a:spcPct val="120000"/>
              </a:lnSpc>
            </a:pPr>
            <a:r>
              <a:rPr lang="en-US" altLang="zh-CN" sz="1400"/>
              <a:t>RWS provide local data on patient characteristics, medication use, adherence, and outcomes, supporting interpretation and application of </a:t>
            </a:r>
            <a:r>
              <a:rPr lang="en-US" altLang="zh-CN" sz="1400" err="1"/>
              <a:t>EASi</a:t>
            </a:r>
            <a:r>
              <a:rPr lang="en-US" altLang="zh-CN" sz="1400"/>
              <a:t>™-PROTKT phase III results in China.</a:t>
            </a:r>
          </a:p>
          <a:p>
            <a:pPr marL="342900" indent="-342900" fontAlgn="ctr">
              <a:lnSpc>
                <a:spcPct val="120000"/>
              </a:lnSpc>
              <a:spcBef>
                <a:spcPts val="600"/>
              </a:spcBef>
              <a:buFont typeface="+mj-lt"/>
              <a:buAutoNum type="arabicPeriod" startAt="3"/>
            </a:pPr>
            <a:r>
              <a:rPr lang="en-US" altLang="zh-CN" sz="1400" b="1"/>
              <a:t>Inform clinical and policy decisions:</a:t>
            </a:r>
          </a:p>
          <a:p>
            <a:pPr marL="663675" lvl="1" indent="-177800" fontAlgn="ctr">
              <a:lnSpc>
                <a:spcPct val="120000"/>
              </a:lnSpc>
            </a:pPr>
            <a:r>
              <a:rPr lang="en-US" altLang="zh-CN" sz="1400"/>
              <a:t>Systematic evaluation of prevalence, treatment patterns and outcomes helps </a:t>
            </a:r>
            <a:r>
              <a:rPr lang="en-US" altLang="zh-CN" sz="1400" b="1"/>
              <a:t>identify practice gaps</a:t>
            </a:r>
            <a:r>
              <a:rPr lang="en-US" altLang="zh-CN" sz="1400"/>
              <a:t> and </a:t>
            </a:r>
            <a:r>
              <a:rPr lang="en-US" altLang="zh-CN" sz="1400" b="1"/>
              <a:t>supports guideline updates and policy making</a:t>
            </a:r>
            <a:r>
              <a:rPr lang="en-US" altLang="zh-CN" sz="1400"/>
              <a:t>.</a:t>
            </a:r>
          </a:p>
          <a:p>
            <a:pPr marL="663675" lvl="1" indent="-177800" fontAlgn="ctr">
              <a:lnSpc>
                <a:spcPct val="120000"/>
              </a:lnSpc>
            </a:pPr>
            <a:r>
              <a:rPr lang="en-US" altLang="zh-CN" sz="1400"/>
              <a:t>RWS evidence supports </a:t>
            </a:r>
            <a:r>
              <a:rPr lang="en-US" altLang="zh-CN" sz="1400" b="1"/>
              <a:t>innovation in chronic disease management</a:t>
            </a:r>
            <a:r>
              <a:rPr lang="en-US" altLang="zh-CN" sz="1400"/>
              <a:t>, tiered care, and multidisciplinary collaboration, as emphasized by both domestic and international guidelines.</a:t>
            </a:r>
            <a:endParaRPr lang="zh-CN" altLang="en-US" sz="1400"/>
          </a:p>
        </p:txBody>
      </p:sp>
      <p:sp>
        <p:nvSpPr>
          <p:cNvPr id="5" name="页脚占位符 4">
            <a:extLst>
              <a:ext uri="{FF2B5EF4-FFF2-40B4-BE49-F238E27FC236}">
                <a16:creationId xmlns:a16="http://schemas.microsoft.com/office/drawing/2014/main" id="{1666EB1A-7343-DEA4-61EC-20CC840E84BB}"/>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6" name="灯片编号占位符 5">
            <a:extLst>
              <a:ext uri="{FF2B5EF4-FFF2-40B4-BE49-F238E27FC236}">
                <a16:creationId xmlns:a16="http://schemas.microsoft.com/office/drawing/2014/main" id="{2A737C09-B1FC-E493-6805-6E0F479D2C5B}"/>
              </a:ext>
            </a:extLst>
          </p:cNvPr>
          <p:cNvSpPr>
            <a:spLocks noGrp="1"/>
          </p:cNvSpPr>
          <p:nvPr>
            <p:ph type="sldNum" sz="quarter" idx="20"/>
          </p:nvPr>
        </p:nvSpPr>
        <p:spPr>
          <a:xfrm>
            <a:off x="11424575" y="6287294"/>
            <a:ext cx="288000" cy="288000"/>
          </a:xfrm>
          <a:prstGeom prst="round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7" name="矩形: 圆角 6">
            <a:extLst>
              <a:ext uri="{FF2B5EF4-FFF2-40B4-BE49-F238E27FC236}">
                <a16:creationId xmlns:a16="http://schemas.microsoft.com/office/drawing/2014/main" id="{8E0D3B33-54B5-A383-AC69-83E7DBAD1BBD}"/>
              </a:ext>
            </a:extLst>
          </p:cNvPr>
          <p:cNvSpPr/>
          <p:nvPr/>
        </p:nvSpPr>
        <p:spPr bwMode="gray">
          <a:xfrm>
            <a:off x="8673554" y="2930864"/>
            <a:ext cx="1371600" cy="720000"/>
          </a:xfrm>
          <a:prstGeom prst="roundRect">
            <a:avLst/>
          </a:prstGeom>
          <a:solidFill>
            <a:srgbClr val="F5CDB9"/>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600" b="1">
                <a:solidFill>
                  <a:schemeClr val="tx1"/>
                </a:solidFill>
              </a:rPr>
              <a:t>RWE</a:t>
            </a:r>
            <a:endParaRPr lang="zh-CN" altLang="en-US" sz="1600" b="1">
              <a:solidFill>
                <a:schemeClr val="tx1"/>
              </a:solidFill>
            </a:endParaRPr>
          </a:p>
        </p:txBody>
      </p:sp>
      <p:sp>
        <p:nvSpPr>
          <p:cNvPr id="9" name="矩形: 圆角 8">
            <a:extLst>
              <a:ext uri="{FF2B5EF4-FFF2-40B4-BE49-F238E27FC236}">
                <a16:creationId xmlns:a16="http://schemas.microsoft.com/office/drawing/2014/main" id="{E0D1D11E-FCF5-4245-198F-14FD8B4B9605}"/>
              </a:ext>
            </a:extLst>
          </p:cNvPr>
          <p:cNvSpPr/>
          <p:nvPr/>
        </p:nvSpPr>
        <p:spPr bwMode="gray">
          <a:xfrm>
            <a:off x="7166532" y="1436776"/>
            <a:ext cx="1879600" cy="783982"/>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600">
                <a:solidFill>
                  <a:schemeClr val="tx1"/>
                </a:solidFill>
              </a:rPr>
              <a:t>Close Data Gap</a:t>
            </a:r>
          </a:p>
        </p:txBody>
      </p:sp>
      <p:sp>
        <p:nvSpPr>
          <p:cNvPr id="10" name="矩形: 圆角 9">
            <a:extLst>
              <a:ext uri="{FF2B5EF4-FFF2-40B4-BE49-F238E27FC236}">
                <a16:creationId xmlns:a16="http://schemas.microsoft.com/office/drawing/2014/main" id="{6ECA3E8A-42EB-2993-D5CC-2C34D9DFD8F0}"/>
              </a:ext>
            </a:extLst>
          </p:cNvPr>
          <p:cNvSpPr/>
          <p:nvPr/>
        </p:nvSpPr>
        <p:spPr bwMode="gray">
          <a:xfrm>
            <a:off x="9559925" y="1436776"/>
            <a:ext cx="1879600" cy="783982"/>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600">
                <a:solidFill>
                  <a:schemeClr val="tx1"/>
                </a:solidFill>
              </a:rPr>
              <a:t>Identify practice gap</a:t>
            </a:r>
          </a:p>
        </p:txBody>
      </p:sp>
      <p:sp>
        <p:nvSpPr>
          <p:cNvPr id="11" name="矩形: 圆角 10">
            <a:extLst>
              <a:ext uri="{FF2B5EF4-FFF2-40B4-BE49-F238E27FC236}">
                <a16:creationId xmlns:a16="http://schemas.microsoft.com/office/drawing/2014/main" id="{210E9A1A-958F-6F08-DE8F-2F1FE888355B}"/>
              </a:ext>
            </a:extLst>
          </p:cNvPr>
          <p:cNvSpPr/>
          <p:nvPr/>
        </p:nvSpPr>
        <p:spPr bwMode="gray">
          <a:xfrm>
            <a:off x="7895678" y="3998858"/>
            <a:ext cx="2927350" cy="406400"/>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600">
                <a:solidFill>
                  <a:schemeClr val="tx1"/>
                </a:solidFill>
              </a:rPr>
              <a:t>Practice Optimization</a:t>
            </a:r>
            <a:endParaRPr lang="zh-CN" altLang="en-US" sz="1600">
              <a:solidFill>
                <a:schemeClr val="tx1"/>
              </a:solidFill>
            </a:endParaRPr>
          </a:p>
        </p:txBody>
      </p:sp>
      <p:sp>
        <p:nvSpPr>
          <p:cNvPr id="14" name="矩形: 圆角 13">
            <a:extLst>
              <a:ext uri="{FF2B5EF4-FFF2-40B4-BE49-F238E27FC236}">
                <a16:creationId xmlns:a16="http://schemas.microsoft.com/office/drawing/2014/main" id="{CF9A4BD0-48B4-F412-5A5F-9CC41ED03CE9}"/>
              </a:ext>
            </a:extLst>
          </p:cNvPr>
          <p:cNvSpPr/>
          <p:nvPr/>
        </p:nvSpPr>
        <p:spPr bwMode="gray">
          <a:xfrm>
            <a:off x="7310995" y="5055721"/>
            <a:ext cx="1123141" cy="867394"/>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Guideline Updates</a:t>
            </a:r>
            <a:endParaRPr lang="zh-CN" altLang="en-US" sz="1400">
              <a:solidFill>
                <a:schemeClr val="tx1"/>
              </a:solidFill>
            </a:endParaRPr>
          </a:p>
        </p:txBody>
      </p:sp>
      <p:sp>
        <p:nvSpPr>
          <p:cNvPr id="16" name="矩形: 圆角 15">
            <a:extLst>
              <a:ext uri="{FF2B5EF4-FFF2-40B4-BE49-F238E27FC236}">
                <a16:creationId xmlns:a16="http://schemas.microsoft.com/office/drawing/2014/main" id="{3601E687-A366-581C-E6BD-CDDC15111516}"/>
              </a:ext>
            </a:extLst>
          </p:cNvPr>
          <p:cNvSpPr/>
          <p:nvPr/>
        </p:nvSpPr>
        <p:spPr bwMode="gray">
          <a:xfrm>
            <a:off x="10188672" y="5078564"/>
            <a:ext cx="1511482" cy="867394"/>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Chronic Disease Management Innovation</a:t>
            </a:r>
            <a:endParaRPr lang="zh-CN" altLang="en-US" sz="1400">
              <a:solidFill>
                <a:schemeClr val="tx1"/>
              </a:solidFill>
            </a:endParaRPr>
          </a:p>
        </p:txBody>
      </p:sp>
      <p:cxnSp>
        <p:nvCxnSpPr>
          <p:cNvPr id="18" name="连接符: 肘形 17">
            <a:extLst>
              <a:ext uri="{FF2B5EF4-FFF2-40B4-BE49-F238E27FC236}">
                <a16:creationId xmlns:a16="http://schemas.microsoft.com/office/drawing/2014/main" id="{B4B05DAE-CEB3-03D2-9D3F-843928EB1A32}"/>
              </a:ext>
            </a:extLst>
          </p:cNvPr>
          <p:cNvCxnSpPr/>
          <p:nvPr/>
        </p:nvCxnSpPr>
        <p:spPr bwMode="gray">
          <a:xfrm rot="16200000" flipV="1">
            <a:off x="8377790" y="1949300"/>
            <a:ext cx="710106" cy="1253022"/>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401DF9CD-CE0A-1EC9-8374-408825DDEEEE}"/>
              </a:ext>
            </a:extLst>
          </p:cNvPr>
          <p:cNvCxnSpPr/>
          <p:nvPr/>
        </p:nvCxnSpPr>
        <p:spPr bwMode="gray">
          <a:xfrm rot="5400000" flipH="1" flipV="1">
            <a:off x="9574486" y="2005626"/>
            <a:ext cx="710106" cy="1140371"/>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E0538FC1-A68D-9980-81B3-A790E9882ED1}"/>
              </a:ext>
            </a:extLst>
          </p:cNvPr>
          <p:cNvCxnSpPr>
            <a:cxnSpLocks/>
            <a:stCxn id="7" idx="2"/>
            <a:endCxn id="11" idx="0"/>
          </p:cNvCxnSpPr>
          <p:nvPr/>
        </p:nvCxnSpPr>
        <p:spPr bwMode="gray">
          <a:xfrm flipH="1">
            <a:off x="9359353" y="3650864"/>
            <a:ext cx="1" cy="347994"/>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连接符: 肘形 26">
            <a:extLst>
              <a:ext uri="{FF2B5EF4-FFF2-40B4-BE49-F238E27FC236}">
                <a16:creationId xmlns:a16="http://schemas.microsoft.com/office/drawing/2014/main" id="{9D7D2F93-4576-E7FB-E748-7A3A86678C24}"/>
              </a:ext>
            </a:extLst>
          </p:cNvPr>
          <p:cNvCxnSpPr>
            <a:cxnSpLocks/>
            <a:stCxn id="11" idx="2"/>
            <a:endCxn id="14" idx="0"/>
          </p:cNvCxnSpPr>
          <p:nvPr/>
        </p:nvCxnSpPr>
        <p:spPr bwMode="gray">
          <a:xfrm rot="5400000">
            <a:off x="8290729" y="3987096"/>
            <a:ext cx="650463" cy="1486787"/>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连接符: 肘形 28">
            <a:extLst>
              <a:ext uri="{FF2B5EF4-FFF2-40B4-BE49-F238E27FC236}">
                <a16:creationId xmlns:a16="http://schemas.microsoft.com/office/drawing/2014/main" id="{6ED39893-188A-0407-0110-E660AB7812EC}"/>
              </a:ext>
            </a:extLst>
          </p:cNvPr>
          <p:cNvCxnSpPr>
            <a:cxnSpLocks/>
            <a:stCxn id="11" idx="2"/>
            <a:endCxn id="16" idx="0"/>
          </p:cNvCxnSpPr>
          <p:nvPr/>
        </p:nvCxnSpPr>
        <p:spPr bwMode="gray">
          <a:xfrm rot="16200000" flipH="1">
            <a:off x="9815230" y="3949381"/>
            <a:ext cx="673306" cy="1585060"/>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4568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EFF875-EAC3-89A7-9305-0C1A4318A7F0}"/>
              </a:ext>
            </a:extLst>
          </p:cNvPr>
          <p:cNvSpPr>
            <a:spLocks noGrp="1"/>
          </p:cNvSpPr>
          <p:nvPr>
            <p:ph type="title"/>
          </p:nvPr>
        </p:nvSpPr>
        <p:spPr/>
        <p:txBody>
          <a:bodyPr/>
          <a:lstStyle/>
          <a:p>
            <a:r>
              <a:rPr lang="en-US" altLang="zh-CN"/>
              <a:t>Objectives</a:t>
            </a:r>
            <a:endParaRPr lang="zh-CN" altLang="en-US"/>
          </a:p>
        </p:txBody>
      </p:sp>
      <p:sp>
        <p:nvSpPr>
          <p:cNvPr id="4" name="页脚占位符 3">
            <a:extLst>
              <a:ext uri="{FF2B5EF4-FFF2-40B4-BE49-F238E27FC236}">
                <a16:creationId xmlns:a16="http://schemas.microsoft.com/office/drawing/2014/main" id="{6AC4E143-F15F-73D3-FCDF-F038D2111986}"/>
              </a:ext>
            </a:extLst>
          </p:cNvPr>
          <p:cNvSpPr>
            <a:spLocks noGrp="1"/>
          </p:cNvSpPr>
          <p:nvPr>
            <p:ph type="ftr" sz="quarter" idx="10"/>
          </p:nvPr>
        </p:nvSpPr>
        <p:spPr/>
        <p:txBody>
          <a:bodyPr/>
          <a:lstStyle/>
          <a:p>
            <a:r>
              <a:rPr lang="en-US"/>
              <a:t>Presentation title    |    ONLY FOR INTERNAL USE</a:t>
            </a:r>
          </a:p>
        </p:txBody>
      </p:sp>
      <p:sp>
        <p:nvSpPr>
          <p:cNvPr id="5" name="灯片编号占位符 4">
            <a:extLst>
              <a:ext uri="{FF2B5EF4-FFF2-40B4-BE49-F238E27FC236}">
                <a16:creationId xmlns:a16="http://schemas.microsoft.com/office/drawing/2014/main" id="{CF87B14C-9077-89C8-0BD2-2DCFE0CE063A}"/>
              </a:ext>
            </a:extLst>
          </p:cNvPr>
          <p:cNvSpPr>
            <a:spLocks noGrp="1"/>
          </p:cNvSpPr>
          <p:nvPr>
            <p:ph type="sldNum" sz="quarter" idx="11"/>
          </p:nvPr>
        </p:nvSpPr>
        <p:spPr/>
        <p:txBody>
          <a:bodyPr/>
          <a:lstStyle/>
          <a:p>
            <a:fld id="{8FF9B0DE-3FEB-4AA0-B465-B80EF7C1333D}" type="slidenum">
              <a:rPr lang="en-US" smtClean="0"/>
              <a:pPr/>
              <a:t>17</a:t>
            </a:fld>
            <a:endParaRPr lang="en-US"/>
          </a:p>
        </p:txBody>
      </p:sp>
      <p:sp>
        <p:nvSpPr>
          <p:cNvPr id="6" name="文本框 5">
            <a:extLst>
              <a:ext uri="{FF2B5EF4-FFF2-40B4-BE49-F238E27FC236}">
                <a16:creationId xmlns:a16="http://schemas.microsoft.com/office/drawing/2014/main" id="{F85E4A37-FAF0-55BF-7A5B-93C9D5EFAFE9}"/>
              </a:ext>
            </a:extLst>
          </p:cNvPr>
          <p:cNvSpPr txBox="1"/>
          <p:nvPr/>
        </p:nvSpPr>
        <p:spPr bwMode="gray">
          <a:xfrm>
            <a:off x="469949" y="1700360"/>
            <a:ext cx="11017087" cy="2790508"/>
          </a:xfrm>
          <a:prstGeom prst="rect">
            <a:avLst/>
          </a:prstGeom>
          <a:noFill/>
          <a:ln>
            <a:noFill/>
          </a:ln>
        </p:spPr>
        <p:txBody>
          <a:bodyPr wrap="square" lIns="72000" tIns="0" rIns="72000" bIns="0" rtlCol="0">
            <a:spAutoFit/>
          </a:bodyPr>
          <a:lstStyle/>
          <a:p>
            <a:pPr marL="0" indent="0" algn="l">
              <a:buNone/>
            </a:pPr>
            <a:r>
              <a:rPr lang="en-US" altLang="zh-CN" sz="1600" b="1"/>
              <a:t>Primary objectives</a:t>
            </a:r>
          </a:p>
          <a:p>
            <a:pPr marL="0" indent="0" algn="l">
              <a:buNone/>
            </a:pPr>
            <a:endParaRPr lang="en-US" altLang="zh-CN" sz="1600" b="1"/>
          </a:p>
          <a:p>
            <a:pPr marL="285750" indent="-285750">
              <a:lnSpc>
                <a:spcPct val="110000"/>
              </a:lnSpc>
              <a:spcBef>
                <a:spcPts val="200"/>
              </a:spcBef>
              <a:spcAft>
                <a:spcPts val="200"/>
              </a:spcAft>
              <a:buFont typeface="Arial" panose="020B0604020202020204" pitchFamily="34" charset="0"/>
              <a:buChar char="•"/>
              <a:defRPr/>
            </a:pPr>
            <a:r>
              <a:rPr lang="en-US" sz="1600">
                <a:solidFill>
                  <a:prstClr val="black"/>
                </a:solidFill>
                <a:latin typeface="Boehringer Headline"/>
              </a:rPr>
              <a:t>To evaluate </a:t>
            </a:r>
            <a:r>
              <a:rPr lang="en-US" altLang="zh-CN" sz="1600">
                <a:solidFill>
                  <a:prstClr val="black"/>
                </a:solidFill>
                <a:latin typeface="Boehringer Headline"/>
              </a:rPr>
              <a:t>clinical outcomes (including </a:t>
            </a:r>
            <a:r>
              <a:rPr lang="en-US" sz="1600"/>
              <a:t>CV death, HHF or urgent HF visit) </a:t>
            </a:r>
            <a:r>
              <a:rPr lang="en-US" altLang="zh-CN" sz="1600">
                <a:solidFill>
                  <a:prstClr val="black"/>
                </a:solidFill>
                <a:latin typeface="Boehringer Headline"/>
              </a:rPr>
              <a:t>among </a:t>
            </a:r>
            <a:r>
              <a:rPr lang="en-US" altLang="zh-CN" sz="1600">
                <a:solidFill>
                  <a:prstClr val="black"/>
                </a:solidFill>
                <a:latin typeface="Boehringer Headline"/>
                <a:sym typeface="Helvetica Neue"/>
              </a:rPr>
              <a:t>patients </a:t>
            </a:r>
            <a:r>
              <a:rPr lang="en-US" altLang="zh-CN" sz="1600">
                <a:solidFill>
                  <a:prstClr val="black"/>
                </a:solidFill>
                <a:latin typeface="Boehringer Headline"/>
              </a:rPr>
              <a:t>in China </a:t>
            </a:r>
            <a:r>
              <a:rPr lang="en-US" altLang="zh-CN" sz="1600">
                <a:solidFill>
                  <a:prstClr val="black"/>
                </a:solidFill>
                <a:latin typeface="Boehringer Headline"/>
                <a:sym typeface="Helvetica Neue"/>
              </a:rPr>
              <a:t>with HTN, T2D and established CVD (without HF)</a:t>
            </a:r>
            <a:r>
              <a:rPr lang="en-US" altLang="zh-CN" sz="1600">
                <a:solidFill>
                  <a:prstClr val="black"/>
                </a:solidFill>
                <a:latin typeface="Boehringer Headline"/>
              </a:rPr>
              <a:t> </a:t>
            </a:r>
            <a:endParaRPr lang="en-US" altLang="zh-CN" sz="1600">
              <a:solidFill>
                <a:prstClr val="black"/>
              </a:solidFill>
              <a:latin typeface="Boehringer Headline"/>
              <a:sym typeface="Helvetica Neue"/>
            </a:endParaRPr>
          </a:p>
          <a:p>
            <a:pPr marL="285750" indent="-285750">
              <a:lnSpc>
                <a:spcPct val="110000"/>
              </a:lnSpc>
              <a:spcBef>
                <a:spcPts val="200"/>
              </a:spcBef>
              <a:spcAft>
                <a:spcPts val="200"/>
              </a:spcAft>
              <a:buFont typeface="Arial" panose="020B0604020202020204" pitchFamily="34" charset="0"/>
              <a:buChar char="•"/>
              <a:defRPr/>
            </a:pPr>
            <a:endParaRPr kumimoji="0" lang="en-US" altLang="zh-CN" sz="1600" i="0" u="none" strike="noStrike" kern="1200" cap="none" spc="0" normalizeH="0" baseline="0" noProof="0">
              <a:ln>
                <a:noFill/>
              </a:ln>
              <a:solidFill>
                <a:prstClr val="black"/>
              </a:solidFill>
              <a:effectLst/>
              <a:uLnTx/>
              <a:uFillTx/>
              <a:latin typeface="Boehringer Headline"/>
              <a:ea typeface="+mn-ea"/>
              <a:cs typeface="+mn-cs"/>
              <a:sym typeface="Helvetica Neue"/>
            </a:endParaRPr>
          </a:p>
          <a:p>
            <a:pPr marL="0" indent="0" algn="l">
              <a:buNone/>
            </a:pPr>
            <a:r>
              <a:rPr lang="en-US" altLang="zh-CN" sz="1600" b="1"/>
              <a:t>Secondary objectives</a:t>
            </a:r>
          </a:p>
          <a:p>
            <a:pPr marL="0" indent="0" algn="l">
              <a:buNone/>
            </a:pPr>
            <a:endParaRPr lang="en-US" altLang="zh-CN" sz="1600">
              <a:solidFill>
                <a:prstClr val="black"/>
              </a:solidFill>
              <a:latin typeface="Boehringer Headline"/>
            </a:endParaRPr>
          </a:p>
          <a:p>
            <a:pPr marL="285750" indent="-285750">
              <a:lnSpc>
                <a:spcPct val="110000"/>
              </a:lnSpc>
              <a:spcBef>
                <a:spcPts val="200"/>
              </a:spcBef>
              <a:spcAft>
                <a:spcPts val="200"/>
              </a:spcAft>
              <a:buFont typeface="Arial" panose="020B0604020202020204" pitchFamily="34" charset="0"/>
              <a:buChar char="•"/>
              <a:defRPr/>
            </a:pPr>
            <a:r>
              <a:rPr lang="en-US" altLang="zh-CN" sz="1600">
                <a:solidFill>
                  <a:prstClr val="black"/>
                </a:solidFill>
                <a:latin typeface="Boehringer Headline"/>
              </a:rPr>
              <a:t>To characterize treatment patterns among </a:t>
            </a:r>
            <a:r>
              <a:rPr lang="en-US" altLang="zh-CN" sz="1600">
                <a:solidFill>
                  <a:prstClr val="black"/>
                </a:solidFill>
                <a:latin typeface="Boehringer Headline"/>
                <a:sym typeface="Helvetica Neue"/>
              </a:rPr>
              <a:t>patients with HTN, T2D and established CVD (without HF)</a:t>
            </a:r>
            <a:r>
              <a:rPr lang="en-US" altLang="zh-CN" sz="1600">
                <a:solidFill>
                  <a:prstClr val="black"/>
                </a:solidFill>
                <a:latin typeface="Boehringer Headline"/>
              </a:rPr>
              <a:t> in China</a:t>
            </a:r>
          </a:p>
          <a:p>
            <a:pPr marL="285750" indent="-285750">
              <a:lnSpc>
                <a:spcPct val="110000"/>
              </a:lnSpc>
              <a:spcBef>
                <a:spcPts val="200"/>
              </a:spcBef>
              <a:spcAft>
                <a:spcPts val="200"/>
              </a:spcAft>
              <a:buFont typeface="Arial" panose="020B0604020202020204" pitchFamily="34" charset="0"/>
              <a:buChar char="•"/>
              <a:defRPr/>
            </a:pPr>
            <a:r>
              <a:rPr lang="en-US" altLang="zh-CN" sz="1600">
                <a:solidFill>
                  <a:prstClr val="black"/>
                </a:solidFill>
                <a:latin typeface="Boehringer Headline"/>
                <a:sym typeface="Helvetica Neue"/>
              </a:rPr>
              <a:t>To estimate the prevalence of patients with HTN, T2D and established CVD (without HF)  in China</a:t>
            </a:r>
            <a:endParaRPr lang="en-US" altLang="zh-CN" sz="1600">
              <a:solidFill>
                <a:prstClr val="black"/>
              </a:solidFill>
              <a:latin typeface="Boehringer Headline"/>
            </a:endParaRPr>
          </a:p>
          <a:p>
            <a:pPr marL="171450" lvl="0" indent="-171450">
              <a:buFont typeface="Arial" panose="020B0604020202020204" pitchFamily="34" charset="0"/>
              <a:buChar char="•"/>
              <a:defRPr/>
            </a:pPr>
            <a:endParaRPr lang="en-US" altLang="zh-CN" sz="1600">
              <a:solidFill>
                <a:srgbClr val="08312A"/>
              </a:solidFill>
            </a:endParaRPr>
          </a:p>
        </p:txBody>
      </p:sp>
      <p:sp>
        <p:nvSpPr>
          <p:cNvPr id="8" name="TextBox 7">
            <a:extLst>
              <a:ext uri="{FF2B5EF4-FFF2-40B4-BE49-F238E27FC236}">
                <a16:creationId xmlns:a16="http://schemas.microsoft.com/office/drawing/2014/main" id="{ACDB871A-E79D-CF8A-4EA8-8D91B11C903D}"/>
              </a:ext>
            </a:extLst>
          </p:cNvPr>
          <p:cNvSpPr txBox="1"/>
          <p:nvPr/>
        </p:nvSpPr>
        <p:spPr bwMode="gray">
          <a:xfrm>
            <a:off x="407504" y="5414779"/>
            <a:ext cx="11141978" cy="246221"/>
          </a:xfrm>
          <a:prstGeom prst="rect">
            <a:avLst/>
          </a:prstGeom>
          <a:noFill/>
        </p:spPr>
        <p:txBody>
          <a:bodyPr wrap="square">
            <a:spAutoFit/>
          </a:bodyPr>
          <a:lstStyle/>
          <a:p>
            <a:r>
              <a:rPr lang="en-US" sz="1000"/>
              <a:t>HTN: hypertension, T2D: type 2 diabetes, CVD: cardiovascular disease, HF: heart failure</a:t>
            </a:r>
          </a:p>
        </p:txBody>
      </p:sp>
    </p:spTree>
    <p:extLst>
      <p:ext uri="{BB962C8B-B14F-4D97-AF65-F5344CB8AC3E}">
        <p14:creationId xmlns:p14="http://schemas.microsoft.com/office/powerpoint/2010/main" val="1559695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DBADE3E-4D39-B8D0-46FC-2657F6E17EBD}"/>
              </a:ext>
            </a:extLst>
          </p:cNvPr>
          <p:cNvSpPr>
            <a:spLocks noGrp="1"/>
          </p:cNvSpPr>
          <p:nvPr>
            <p:ph type="ftr" sz="quarter" idx="16"/>
          </p:nvPr>
        </p:nvSpPr>
        <p:spPr>
          <a:xfrm>
            <a:off x="6967348" y="6265200"/>
            <a:ext cx="5040560" cy="288000"/>
          </a:xfrm>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B4F387D5-368E-A02D-653F-B6F81B2FEAAE}"/>
              </a:ext>
            </a:extLst>
          </p:cNvPr>
          <p:cNvSpPr>
            <a:spLocks noGrp="1"/>
          </p:cNvSpPr>
          <p:nvPr>
            <p:ph type="sldNum" sz="quarter" idx="17"/>
          </p:nvPr>
        </p:nvSpPr>
        <p:spPr>
          <a:xfrm>
            <a:off x="12079916" y="6265200"/>
            <a:ext cx="288000" cy="288000"/>
          </a:xfrm>
        </p:spPr>
        <p:txBody>
          <a:bodyPr/>
          <a:lstStyle/>
          <a:p>
            <a:fld id="{8FF9B0DE-3FEB-4AA0-B465-B80EF7C1333D}" type="slidenum">
              <a:rPr lang="en-US" smtClean="0"/>
              <a:pPr/>
              <a:t>18</a:t>
            </a:fld>
            <a:endParaRPr lang="en-US"/>
          </a:p>
        </p:txBody>
      </p:sp>
      <p:graphicFrame>
        <p:nvGraphicFramePr>
          <p:cNvPr id="10" name="Table 9">
            <a:extLst>
              <a:ext uri="{FF2B5EF4-FFF2-40B4-BE49-F238E27FC236}">
                <a16:creationId xmlns:a16="http://schemas.microsoft.com/office/drawing/2014/main" id="{B52D07F8-75D9-D844-3CCB-8BA5DC264805}"/>
              </a:ext>
            </a:extLst>
          </p:cNvPr>
          <p:cNvGraphicFramePr>
            <a:graphicFrameLocks noGrp="1"/>
          </p:cNvGraphicFramePr>
          <p:nvPr/>
        </p:nvGraphicFramePr>
        <p:xfrm>
          <a:off x="420157" y="1301560"/>
          <a:ext cx="11340043" cy="2657557"/>
        </p:xfrm>
        <a:graphic>
          <a:graphicData uri="http://schemas.openxmlformats.org/drawingml/2006/table">
            <a:tbl>
              <a:tblPr firstRow="1" firstCol="1">
                <a:tableStyleId>{B301B821-A1FF-4177-AEE7-76D212191A09}</a:tableStyleId>
              </a:tblPr>
              <a:tblGrid>
                <a:gridCol w="2643554">
                  <a:extLst>
                    <a:ext uri="{9D8B030D-6E8A-4147-A177-3AD203B41FA5}">
                      <a16:colId xmlns:a16="http://schemas.microsoft.com/office/drawing/2014/main" val="2413409038"/>
                    </a:ext>
                  </a:extLst>
                </a:gridCol>
                <a:gridCol w="5300741">
                  <a:extLst>
                    <a:ext uri="{9D8B030D-6E8A-4147-A177-3AD203B41FA5}">
                      <a16:colId xmlns:a16="http://schemas.microsoft.com/office/drawing/2014/main" val="3485464298"/>
                    </a:ext>
                  </a:extLst>
                </a:gridCol>
                <a:gridCol w="3395748">
                  <a:extLst>
                    <a:ext uri="{9D8B030D-6E8A-4147-A177-3AD203B41FA5}">
                      <a16:colId xmlns:a16="http://schemas.microsoft.com/office/drawing/2014/main" val="3566812282"/>
                    </a:ext>
                  </a:extLst>
                </a:gridCol>
              </a:tblGrid>
              <a:tr h="396042">
                <a:tc>
                  <a:txBody>
                    <a:bodyPr/>
                    <a:lstStyle/>
                    <a:p>
                      <a:pPr algn="l" fontAlgn="b">
                        <a:buNone/>
                      </a:pPr>
                      <a:endParaRPr lang="en-US" sz="1500" b="0" i="0" u="none" strike="noStrike">
                        <a:solidFill>
                          <a:srgbClr val="000000"/>
                        </a:solidFill>
                        <a:effectLst/>
                        <a:latin typeface="Aptos Narrow" panose="020B0004020202020204" pitchFamily="34" charset="0"/>
                      </a:endParaRPr>
                    </a:p>
                  </a:txBody>
                  <a:tcPr marL="9525" marR="9525" marT="9525" marB="0" anchor="b">
                    <a:solidFill>
                      <a:schemeClr val="accent1">
                        <a:lumMod val="75000"/>
                        <a:lumOff val="25000"/>
                      </a:schemeClr>
                    </a:solidFill>
                  </a:tcPr>
                </a:tc>
                <a:tc>
                  <a:txBody>
                    <a:bodyPr/>
                    <a:lstStyle/>
                    <a:p>
                      <a:pPr algn="l" fontAlgn="b">
                        <a:buNone/>
                      </a:pPr>
                      <a:r>
                        <a:rPr lang="en-US" altLang="zh-CN" sz="1500" b="1" u="none" strike="noStrike" kern="1200">
                          <a:solidFill>
                            <a:schemeClr val="lt1"/>
                          </a:solidFill>
                          <a:effectLst/>
                          <a:latin typeface="+mn-lt"/>
                          <a:ea typeface="+mn-ea"/>
                          <a:cs typeface="+mn-cs"/>
                        </a:rPr>
                        <a:t>Data Source Requirements to Achieve Study Objectives</a:t>
                      </a:r>
                      <a:endParaRPr lang="en-US" sz="1500" b="1" u="none" strike="noStrike" kern="1200">
                        <a:solidFill>
                          <a:schemeClr val="lt1"/>
                        </a:solidFill>
                        <a:effectLst/>
                        <a:latin typeface="+mn-lt"/>
                        <a:ea typeface="+mn-ea"/>
                        <a:cs typeface="+mn-cs"/>
                      </a:endParaRPr>
                    </a:p>
                  </a:txBody>
                  <a:tcPr marL="9525" marR="9525" marT="9525" marB="0" anchor="b">
                    <a:solidFill>
                      <a:schemeClr val="accent1">
                        <a:lumMod val="75000"/>
                        <a:lumOff val="25000"/>
                      </a:schemeClr>
                    </a:solidFill>
                  </a:tcPr>
                </a:tc>
                <a:tc>
                  <a:txBody>
                    <a:bodyPr/>
                    <a:lstStyle/>
                    <a:p>
                      <a:pPr algn="ctr" fontAlgn="b">
                        <a:buNone/>
                      </a:pPr>
                      <a:r>
                        <a:rPr lang="en-US" sz="1500" u="none" strike="noStrike">
                          <a:effectLst/>
                        </a:rPr>
                        <a:t>Recommend Database</a:t>
                      </a:r>
                      <a:endParaRPr lang="en-US" sz="1500" b="0" i="0" u="none" strike="noStrike">
                        <a:solidFill>
                          <a:srgbClr val="000000"/>
                        </a:solidFill>
                        <a:effectLst/>
                        <a:latin typeface="Aptos Narrow" panose="020B0004020202020204" pitchFamily="34" charset="0"/>
                      </a:endParaRPr>
                    </a:p>
                  </a:txBody>
                  <a:tcPr marL="9525" marR="9525" marT="9525" marB="0" anchor="b">
                    <a:solidFill>
                      <a:schemeClr val="accent1">
                        <a:lumMod val="75000"/>
                        <a:lumOff val="25000"/>
                      </a:schemeClr>
                    </a:solidFill>
                  </a:tcPr>
                </a:tc>
                <a:extLst>
                  <a:ext uri="{0D108BD9-81ED-4DB2-BD59-A6C34878D82A}">
                    <a16:rowId xmlns:a16="http://schemas.microsoft.com/office/drawing/2014/main" val="1058844691"/>
                  </a:ext>
                </a:extLst>
              </a:tr>
              <a:tr h="1149797">
                <a:tc>
                  <a:txBody>
                    <a:bodyPr/>
                    <a:lstStyle/>
                    <a:p>
                      <a:pPr marL="0" indent="0" algn="l" defTabSz="914400" rtl="0" eaLnBrk="1" fontAlgn="ctr" latinLnBrk="0" hangingPunct="1">
                        <a:buFont typeface="Wingdings" panose="05000000000000000000" pitchFamily="2" charset="2"/>
                        <a:buNone/>
                      </a:pPr>
                      <a:r>
                        <a:rPr lang="en-US" sz="1500" b="1" u="none" strike="noStrike" kern="1200">
                          <a:solidFill>
                            <a:schemeClr val="dk1"/>
                          </a:solidFill>
                          <a:effectLst/>
                          <a:latin typeface="+mn-lt"/>
                          <a:ea typeface="+mn-ea"/>
                          <a:cs typeface="+mn-cs"/>
                        </a:rPr>
                        <a:t>Primary O</a:t>
                      </a:r>
                      <a:r>
                        <a:rPr lang="en-US" altLang="zh-CN" sz="1500" b="1" u="none" strike="noStrike" kern="1200">
                          <a:solidFill>
                            <a:schemeClr val="dk1"/>
                          </a:solidFill>
                          <a:effectLst/>
                          <a:latin typeface="+mn-lt"/>
                          <a:ea typeface="+mn-ea"/>
                          <a:cs typeface="+mn-cs"/>
                        </a:rPr>
                        <a:t>bjective</a:t>
                      </a:r>
                      <a:endParaRPr lang="en-US" sz="1500" b="1" u="none" strike="noStrike" kern="1200">
                        <a:solidFill>
                          <a:schemeClr val="dk1"/>
                        </a:solidFill>
                        <a:effectLst/>
                        <a:latin typeface="+mn-lt"/>
                        <a:ea typeface="+mn-ea"/>
                        <a:cs typeface="+mn-cs"/>
                      </a:endParaRPr>
                    </a:p>
                  </a:txBody>
                  <a:tcPr marL="108000" marR="108000" marT="9525" marB="0" anchor="ctr"/>
                </a:tc>
                <a:tc>
                  <a:txBody>
                    <a:bodyPr/>
                    <a:lstStyle/>
                    <a:p>
                      <a:pPr algn="l" fontAlgn="ctr">
                        <a:buNone/>
                      </a:pPr>
                      <a:r>
                        <a:rPr lang="en-US" sz="1500" b="1" u="none" strike="noStrike">
                          <a:effectLst/>
                        </a:rPr>
                        <a:t>Clinical Outcomes</a:t>
                      </a:r>
                    </a:p>
                    <a:p>
                      <a:pPr marL="285750" indent="-285750" algn="l" fontAlgn="ctr">
                        <a:buFont typeface="Wingdings" panose="05000000000000000000" pitchFamily="2" charset="2"/>
                        <a:buChar char="ü"/>
                      </a:pPr>
                      <a:r>
                        <a:rPr lang="en-US" sz="1500" u="none" strike="noStrike">
                          <a:effectLst/>
                        </a:rPr>
                        <a:t>Outcomes record: Death &amp; HHF &amp; </a:t>
                      </a:r>
                      <a:r>
                        <a:rPr lang="en-US" altLang="zh-CN" sz="1600">
                          <a:solidFill>
                            <a:srgbClr val="000000"/>
                          </a:solidFill>
                          <a:ea typeface="DengXian"/>
                        </a:rPr>
                        <a:t>urgent HF visit</a:t>
                      </a:r>
                    </a:p>
                    <a:p>
                      <a:pPr marL="285750" marR="0" lvl="0" indent="-285750" algn="l" defTabSz="914400" rtl="0" eaLnBrk="1" fontAlgn="ctr" latinLnBrk="0" hangingPunct="1">
                        <a:lnSpc>
                          <a:spcPct val="100000"/>
                        </a:lnSpc>
                        <a:spcBef>
                          <a:spcPts val="0"/>
                        </a:spcBef>
                        <a:spcAft>
                          <a:spcPts val="0"/>
                        </a:spcAft>
                        <a:buClrTx/>
                        <a:buSzTx/>
                        <a:buFont typeface="Wingdings" panose="05000000000000000000" pitchFamily="2" charset="2"/>
                        <a:buChar char="ü"/>
                        <a:tabLst/>
                        <a:defRPr/>
                      </a:pPr>
                      <a:r>
                        <a:rPr lang="en-US" altLang="zh-CN" sz="1500" u="none" strike="noStrike">
                          <a:effectLst/>
                        </a:rPr>
                        <a:t>Longitudinal</a:t>
                      </a:r>
                      <a:r>
                        <a:rPr lang="en-US" altLang="zh-CN" sz="1500" b="0" i="0" u="none" strike="noStrike">
                          <a:solidFill>
                            <a:srgbClr val="000000"/>
                          </a:solidFill>
                          <a:effectLst/>
                          <a:latin typeface="Aptos Narrow" panose="020B0004020202020204" pitchFamily="34" charset="0"/>
                        </a:rPr>
                        <a:t> with sufficient follow-up period</a:t>
                      </a:r>
                      <a:endParaRPr lang="en-US" altLang="zh-CN" sz="1500" u="none" strike="noStrike">
                        <a:effectLst/>
                      </a:endParaRPr>
                    </a:p>
                  </a:txBody>
                  <a:tcPr marL="108000" marR="108000" marT="9525"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500" b="1" u="none" strike="noStrike">
                          <a:effectLst/>
                        </a:rPr>
                        <a:t>北京医保数据</a:t>
                      </a:r>
                      <a:endParaRPr lang="en-US" altLang="zh-CN" sz="1500" b="1" u="none" strike="noStrike">
                        <a:effectLst/>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500" b="1" u="none" strike="noStrike">
                          <a:effectLst/>
                        </a:rPr>
                        <a:t>(</a:t>
                      </a:r>
                      <a:r>
                        <a:rPr lang="en-US" altLang="zh-CN" sz="1500" b="0" u="none" strike="noStrike">
                          <a:effectLst/>
                        </a:rPr>
                        <a:t>linked with</a:t>
                      </a:r>
                      <a:r>
                        <a:rPr lang="zh-CN" altLang="en-US" sz="1500" b="1" u="none" strike="noStrike">
                          <a:effectLst/>
                        </a:rPr>
                        <a:t>死因监测数据</a:t>
                      </a:r>
                      <a:r>
                        <a:rPr lang="en-US" altLang="zh-CN" sz="1500" b="1" u="none" strike="noStrike">
                          <a:effectLst/>
                        </a:rPr>
                        <a:t>)</a:t>
                      </a:r>
                      <a:r>
                        <a:rPr lang="zh-CN" altLang="en-US" sz="1500" b="1" u="none" strike="noStrike">
                          <a:effectLst/>
                        </a:rPr>
                        <a:t> </a:t>
                      </a:r>
                      <a:endParaRPr lang="en-US" altLang="zh-CN" sz="1500" b="1" u="none" strike="noStrike">
                        <a:effectLst/>
                      </a:endParaRPr>
                    </a:p>
                    <a:p>
                      <a:pPr algn="ctr" fontAlgn="ctr">
                        <a:buNone/>
                      </a:pPr>
                      <a:endParaRPr lang="en-US" altLang="zh-CN" sz="1500" b="1" u="none" strike="noStrike">
                        <a:effectLst/>
                      </a:endParaRPr>
                    </a:p>
                  </a:txBody>
                  <a:tcPr marL="108000" marR="108000" marT="9525" marB="0" anchor="ctr"/>
                </a:tc>
                <a:extLst>
                  <a:ext uri="{0D108BD9-81ED-4DB2-BD59-A6C34878D82A}">
                    <a16:rowId xmlns:a16="http://schemas.microsoft.com/office/drawing/2014/main" val="2834615587"/>
                  </a:ext>
                </a:extLst>
              </a:tr>
              <a:tr h="1111718">
                <a:tc>
                  <a:txBody>
                    <a:bodyPr/>
                    <a:lstStyle/>
                    <a:p>
                      <a:pPr marL="0" indent="0" algn="l" fontAlgn="ctr">
                        <a:buFont typeface="Wingdings" panose="05000000000000000000" pitchFamily="2" charset="2"/>
                        <a:buNone/>
                      </a:pPr>
                      <a:r>
                        <a:rPr lang="en-US" sz="1500" b="1" u="none" strike="noStrike" kern="1200">
                          <a:solidFill>
                            <a:schemeClr val="dk1"/>
                          </a:solidFill>
                          <a:effectLst/>
                          <a:latin typeface="+mn-lt"/>
                          <a:ea typeface="+mn-ea"/>
                          <a:cs typeface="+mn-cs"/>
                        </a:rPr>
                        <a:t>Secondary Objective</a:t>
                      </a:r>
                    </a:p>
                  </a:txBody>
                  <a:tcPr marL="108000" marR="108000" marT="9525" marB="0" anchor="ctr"/>
                </a:tc>
                <a:tc>
                  <a:txBody>
                    <a:bodyPr/>
                    <a:lstStyle/>
                    <a:p>
                      <a:pPr algn="l" fontAlgn="ctr">
                        <a:buNone/>
                      </a:pPr>
                      <a:r>
                        <a:rPr lang="en-US" sz="1500" b="1" u="none" strike="noStrike" kern="1200">
                          <a:solidFill>
                            <a:schemeClr val="dk1"/>
                          </a:solidFill>
                          <a:effectLst/>
                          <a:latin typeface="+mn-lt"/>
                          <a:ea typeface="+mn-ea"/>
                          <a:cs typeface="+mn-cs"/>
                        </a:rPr>
                        <a:t>Treatment pattern</a:t>
                      </a:r>
                    </a:p>
                    <a:p>
                      <a:pPr marL="285750" indent="-285750" algn="l" fontAlgn="ctr">
                        <a:buFont typeface="Wingdings" panose="05000000000000000000" pitchFamily="2" charset="2"/>
                        <a:buChar char="ü"/>
                      </a:pPr>
                      <a:r>
                        <a:rPr lang="en-US" sz="1500" b="0" u="none" strike="noStrike" kern="1200">
                          <a:solidFill>
                            <a:schemeClr val="dk1"/>
                          </a:solidFill>
                          <a:effectLst/>
                          <a:latin typeface="+mn-lt"/>
                          <a:ea typeface="+mn-ea"/>
                          <a:cs typeface="+mn-cs"/>
                        </a:rPr>
                        <a:t>Prescription record</a:t>
                      </a:r>
                    </a:p>
                    <a:p>
                      <a:pPr marL="0" marR="0" lvl="0" indent="0" algn="l" defTabSz="914400" rtl="0" eaLnBrk="1" fontAlgn="ctr" latinLnBrk="0" hangingPunct="1">
                        <a:lnSpc>
                          <a:spcPct val="100000"/>
                        </a:lnSpc>
                        <a:spcBef>
                          <a:spcPts val="0"/>
                        </a:spcBef>
                        <a:spcAft>
                          <a:spcPts val="0"/>
                        </a:spcAft>
                        <a:buClrTx/>
                        <a:buSzTx/>
                        <a:buFont typeface="Wingdings" panose="05000000000000000000" pitchFamily="2" charset="2"/>
                        <a:buNone/>
                        <a:tabLst/>
                        <a:defRPr/>
                      </a:pPr>
                      <a:r>
                        <a:rPr lang="en-US" altLang="zh-CN" sz="1500" b="1" u="none" strike="noStrike" kern="1200">
                          <a:solidFill>
                            <a:schemeClr val="dk1"/>
                          </a:solidFill>
                          <a:effectLst/>
                          <a:latin typeface="+mn-lt"/>
                          <a:ea typeface="+mn-ea"/>
                          <a:cs typeface="+mn-cs"/>
                        </a:rPr>
                        <a:t>Prevalence</a:t>
                      </a:r>
                    </a:p>
                    <a:p>
                      <a:pPr marL="285750" marR="0" lvl="0" indent="-285750" algn="l" defTabSz="914400" rtl="0" eaLnBrk="1" fontAlgn="ctr" latinLnBrk="0" hangingPunct="1">
                        <a:lnSpc>
                          <a:spcPct val="100000"/>
                        </a:lnSpc>
                        <a:spcBef>
                          <a:spcPts val="0"/>
                        </a:spcBef>
                        <a:spcAft>
                          <a:spcPts val="0"/>
                        </a:spcAft>
                        <a:buClrTx/>
                        <a:buSzTx/>
                        <a:buFont typeface="Wingdings" panose="05000000000000000000" pitchFamily="2" charset="2"/>
                        <a:buChar char="ü"/>
                        <a:tabLst/>
                        <a:defRPr/>
                      </a:pPr>
                      <a:r>
                        <a:rPr lang="en-US" altLang="zh-CN" sz="1500" b="0" u="none" strike="noStrike" kern="1200">
                          <a:solidFill>
                            <a:schemeClr val="dk1"/>
                          </a:solidFill>
                          <a:effectLst/>
                          <a:latin typeface="+mn-lt"/>
                          <a:ea typeface="+mn-ea"/>
                          <a:cs typeface="+mn-cs"/>
                        </a:rPr>
                        <a:t>Diagnosis record </a:t>
                      </a:r>
                      <a:endParaRPr lang="en-US" sz="1500" b="0" u="none" strike="noStrike" kern="1200">
                        <a:solidFill>
                          <a:schemeClr val="dk1"/>
                        </a:solidFill>
                        <a:effectLst/>
                        <a:latin typeface="+mn-lt"/>
                        <a:ea typeface="+mn-ea"/>
                        <a:cs typeface="+mn-cs"/>
                      </a:endParaRPr>
                    </a:p>
                  </a:txBody>
                  <a:tcPr marL="108000" marR="108000" marT="9525" marB="0" anchor="ctr"/>
                </a:tc>
                <a:tc vMerge="1">
                  <a:txBody>
                    <a:bodyPr/>
                    <a:lstStyle/>
                    <a:p>
                      <a:endParaRPr lang="en-US"/>
                    </a:p>
                  </a:txBody>
                  <a:tcPr/>
                </a:tc>
                <a:extLst>
                  <a:ext uri="{0D108BD9-81ED-4DB2-BD59-A6C34878D82A}">
                    <a16:rowId xmlns:a16="http://schemas.microsoft.com/office/drawing/2014/main" val="803063070"/>
                  </a:ext>
                </a:extLst>
              </a:tr>
            </a:tbl>
          </a:graphicData>
        </a:graphic>
      </p:graphicFrame>
      <p:grpSp>
        <p:nvGrpSpPr>
          <p:cNvPr id="15" name="Group 68">
            <a:extLst>
              <a:ext uri="{FF2B5EF4-FFF2-40B4-BE49-F238E27FC236}">
                <a16:creationId xmlns:a16="http://schemas.microsoft.com/office/drawing/2014/main" id="{6E2CC66C-8A7B-D49F-D80F-45552ACDBE6C}"/>
              </a:ext>
            </a:extLst>
          </p:cNvPr>
          <p:cNvGrpSpPr/>
          <p:nvPr/>
        </p:nvGrpSpPr>
        <p:grpSpPr>
          <a:xfrm>
            <a:off x="6026134" y="4540593"/>
            <a:ext cx="5704954" cy="1641137"/>
            <a:chOff x="-2534405" y="1606874"/>
            <a:chExt cx="2574724" cy="1971095"/>
          </a:xfrm>
        </p:grpSpPr>
        <p:sp>
          <p:nvSpPr>
            <p:cNvPr id="16" name="任意形状 23">
              <a:extLst>
                <a:ext uri="{FF2B5EF4-FFF2-40B4-BE49-F238E27FC236}">
                  <a16:creationId xmlns:a16="http://schemas.microsoft.com/office/drawing/2014/main" id="{51BB5571-1013-AA83-8B3E-289039C155AA}"/>
                </a:ext>
              </a:extLst>
            </p:cNvPr>
            <p:cNvSpPr/>
            <p:nvPr/>
          </p:nvSpPr>
          <p:spPr>
            <a:xfrm>
              <a:off x="-2534405" y="1606874"/>
              <a:ext cx="2566670" cy="436993"/>
            </a:xfrm>
            <a:custGeom>
              <a:avLst/>
              <a:gdLst>
                <a:gd name="connsiteX0" fmla="*/ 0 w 2566670"/>
                <a:gd name="connsiteY0" fmla="*/ 0 h 360679"/>
                <a:gd name="connsiteX1" fmla="*/ 2566670 w 2566670"/>
                <a:gd name="connsiteY1" fmla="*/ 0 h 360679"/>
                <a:gd name="connsiteX2" fmla="*/ 2566670 w 2566670"/>
                <a:gd name="connsiteY2" fmla="*/ 360680 h 360679"/>
                <a:gd name="connsiteX3" fmla="*/ 0 w 2566670"/>
                <a:gd name="connsiteY3" fmla="*/ 360680 h 360679"/>
              </a:gdLst>
              <a:ahLst/>
              <a:cxnLst>
                <a:cxn ang="0">
                  <a:pos x="connsiteX0" y="connsiteY0"/>
                </a:cxn>
                <a:cxn ang="0">
                  <a:pos x="connsiteX1" y="connsiteY1"/>
                </a:cxn>
                <a:cxn ang="0">
                  <a:pos x="connsiteX2" y="connsiteY2"/>
                </a:cxn>
                <a:cxn ang="0">
                  <a:pos x="connsiteX3" y="connsiteY3"/>
                </a:cxn>
              </a:cxnLst>
              <a:rect l="l" t="t" r="r" b="b"/>
              <a:pathLst>
                <a:path w="2566670" h="360679">
                  <a:moveTo>
                    <a:pt x="0" y="0"/>
                  </a:moveTo>
                  <a:lnTo>
                    <a:pt x="2566670" y="0"/>
                  </a:lnTo>
                  <a:lnTo>
                    <a:pt x="2566670" y="360680"/>
                  </a:lnTo>
                  <a:lnTo>
                    <a:pt x="0" y="360680"/>
                  </a:lnTo>
                  <a:close/>
                </a:path>
              </a:pathLst>
            </a:custGeom>
            <a:solidFill>
              <a:srgbClr val="B7B6B2"/>
            </a:solidFill>
            <a:ln w="9575" cap="flat">
              <a:noFill/>
              <a:prstDash val="solid"/>
              <a:miter/>
            </a:ln>
          </p:spPr>
          <p:txBody>
            <a:bodyPr lIns="91440" tIns="45720" rIns="91440" bIns="45720" rtlCol="0" anchor="ctr"/>
            <a:lstStyle/>
            <a:p>
              <a:pPr algn="ctr"/>
              <a:r>
                <a:rPr lang="en-US" altLang="zh-CN" sz="1500" b="1">
                  <a:latin typeface="DengXian"/>
                  <a:ea typeface="DengXian"/>
                </a:rPr>
                <a:t>NDSS  </a:t>
              </a:r>
              <a:r>
                <a:rPr lang="en-US" sz="1500" b="1">
                  <a:latin typeface="DengXian"/>
                  <a:ea typeface="DengXian"/>
                </a:rPr>
                <a:t>(</a:t>
              </a:r>
              <a:r>
                <a:rPr lang="zh-CN" altLang="en-US" sz="1500" b="1">
                  <a:latin typeface="DengXian"/>
                  <a:ea typeface="DengXian"/>
                </a:rPr>
                <a:t>死因监测数据</a:t>
              </a:r>
              <a:r>
                <a:rPr lang="en-US" sz="1500" b="1">
                  <a:latin typeface="DengXian"/>
                  <a:ea typeface="DengXian"/>
                </a:rPr>
                <a:t>)</a:t>
              </a:r>
            </a:p>
          </p:txBody>
        </p:sp>
        <p:sp>
          <p:nvSpPr>
            <p:cNvPr id="17" name="任意形状 24">
              <a:extLst>
                <a:ext uri="{FF2B5EF4-FFF2-40B4-BE49-F238E27FC236}">
                  <a16:creationId xmlns:a16="http://schemas.microsoft.com/office/drawing/2014/main" id="{CB156570-2D06-8CED-0484-A69EDC079138}"/>
                </a:ext>
              </a:extLst>
            </p:cNvPr>
            <p:cNvSpPr/>
            <p:nvPr/>
          </p:nvSpPr>
          <p:spPr>
            <a:xfrm>
              <a:off x="-2531364" y="2090679"/>
              <a:ext cx="2571683" cy="1487290"/>
            </a:xfrm>
            <a:custGeom>
              <a:avLst/>
              <a:gdLst>
                <a:gd name="connsiteX0" fmla="*/ 0 w 2566670"/>
                <a:gd name="connsiteY0" fmla="*/ 0 h 1680210"/>
                <a:gd name="connsiteX1" fmla="*/ 2566670 w 2566670"/>
                <a:gd name="connsiteY1" fmla="*/ 0 h 1680210"/>
                <a:gd name="connsiteX2" fmla="*/ 2566670 w 2566670"/>
                <a:gd name="connsiteY2" fmla="*/ 1680210 h 1680210"/>
                <a:gd name="connsiteX3" fmla="*/ 0 w 2566670"/>
                <a:gd name="connsiteY3" fmla="*/ 1680210 h 1680210"/>
              </a:gdLst>
              <a:ahLst/>
              <a:cxnLst>
                <a:cxn ang="0">
                  <a:pos x="connsiteX0" y="connsiteY0"/>
                </a:cxn>
                <a:cxn ang="0">
                  <a:pos x="connsiteX1" y="connsiteY1"/>
                </a:cxn>
                <a:cxn ang="0">
                  <a:pos x="connsiteX2" y="connsiteY2"/>
                </a:cxn>
                <a:cxn ang="0">
                  <a:pos x="connsiteX3" y="connsiteY3"/>
                </a:cxn>
              </a:cxnLst>
              <a:rect l="l" t="t" r="r" b="b"/>
              <a:pathLst>
                <a:path w="2566670" h="1680210">
                  <a:moveTo>
                    <a:pt x="0" y="0"/>
                  </a:moveTo>
                  <a:lnTo>
                    <a:pt x="2566670" y="0"/>
                  </a:lnTo>
                  <a:lnTo>
                    <a:pt x="2566670" y="1680210"/>
                  </a:lnTo>
                  <a:lnTo>
                    <a:pt x="0" y="1680210"/>
                  </a:lnTo>
                  <a:close/>
                </a:path>
              </a:pathLst>
            </a:custGeom>
            <a:solidFill>
              <a:schemeClr val="bg1">
                <a:lumMod val="95000"/>
              </a:schemeClr>
            </a:solidFill>
            <a:ln w="20655" cap="flat">
              <a:noFill/>
              <a:prstDash val="solid"/>
              <a:miter/>
            </a:ln>
          </p:spPr>
          <p:txBody>
            <a:bodyPr lIns="91440" tIns="45720" rIns="91440" bIns="45720" rtlCol="0" anchor="ctr"/>
            <a:lstStyle/>
            <a:p>
              <a:endParaRPr lang="zh-CN" altLang="en-US">
                <a:latin typeface="Alibaba PuHuiTi" pitchFamily="18" charset="-122"/>
                <a:ea typeface="Alibaba PuHuiTi" pitchFamily="18" charset="-122"/>
                <a:cs typeface="Alibaba PuHuiTi" pitchFamily="18" charset="-122"/>
              </a:endParaRPr>
            </a:p>
          </p:txBody>
        </p:sp>
      </p:grpSp>
      <p:sp>
        <p:nvSpPr>
          <p:cNvPr id="18" name="文本框 55">
            <a:extLst>
              <a:ext uri="{FF2B5EF4-FFF2-40B4-BE49-F238E27FC236}">
                <a16:creationId xmlns:a16="http://schemas.microsoft.com/office/drawing/2014/main" id="{A8C79BB6-D8BC-A298-7A28-66ACCD94B1C8}"/>
              </a:ext>
            </a:extLst>
          </p:cNvPr>
          <p:cNvSpPr txBox="1"/>
          <p:nvPr/>
        </p:nvSpPr>
        <p:spPr bwMode="gray">
          <a:xfrm>
            <a:off x="6231348" y="5029427"/>
            <a:ext cx="5040560" cy="96763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buFont typeface="Arial"/>
              <a:buChar char="•"/>
            </a:pPr>
            <a:r>
              <a:rPr lang="en-US" sz="1200">
                <a:solidFill>
                  <a:srgbClr val="000000"/>
                </a:solidFill>
                <a:ea typeface="DengXian"/>
              </a:rPr>
              <a:t>National representativeness​</a:t>
            </a:r>
            <a:r>
              <a:rPr lang="en-US" altLang="zh-CN" sz="1200">
                <a:solidFill>
                  <a:srgbClr val="000000"/>
                </a:solidFill>
                <a:ea typeface="DengXian"/>
              </a:rPr>
              <a:t> </a:t>
            </a:r>
          </a:p>
          <a:p>
            <a:pPr marL="285750" indent="-285750">
              <a:buFont typeface="Arial"/>
              <a:buChar char="•"/>
            </a:pPr>
            <a:r>
              <a:rPr lang="en-US" altLang="zh-CN" sz="1200">
                <a:solidFill>
                  <a:srgbClr val="000000"/>
                </a:solidFill>
                <a:ea typeface="DengXian"/>
              </a:rPr>
              <a:t>Include death record and cause of death;</a:t>
            </a:r>
          </a:p>
          <a:p>
            <a:pPr marL="285750" indent="-285750">
              <a:buFont typeface="Arial"/>
              <a:buChar char="•"/>
            </a:pPr>
            <a:r>
              <a:rPr lang="en-US" altLang="zh-CN" sz="1200">
                <a:solidFill>
                  <a:srgbClr val="000000"/>
                </a:solidFill>
                <a:ea typeface="DengXian"/>
              </a:rPr>
              <a:t>Record linked with the public security administrative system </a:t>
            </a:r>
          </a:p>
          <a:p>
            <a:pPr marL="285750" indent="-285750">
              <a:buFont typeface="Arial"/>
              <a:buChar char="•"/>
            </a:pPr>
            <a:r>
              <a:rPr lang="en-US" altLang="zh-CN" sz="1200">
                <a:solidFill>
                  <a:srgbClr val="000000"/>
                </a:solidFill>
                <a:ea typeface="DengXian"/>
              </a:rPr>
              <a:t>Updated every year</a:t>
            </a:r>
          </a:p>
          <a:p>
            <a:pPr>
              <a:lnSpc>
                <a:spcPct val="140000"/>
              </a:lnSpc>
            </a:pPr>
            <a:endParaRPr lang="en-US" altLang="zh-CN" sz="1200">
              <a:solidFill>
                <a:srgbClr val="000000"/>
              </a:solidFill>
              <a:latin typeface="+mn-ea"/>
            </a:endParaRPr>
          </a:p>
        </p:txBody>
      </p:sp>
      <p:sp>
        <p:nvSpPr>
          <p:cNvPr id="42" name="标题 1">
            <a:extLst>
              <a:ext uri="{FF2B5EF4-FFF2-40B4-BE49-F238E27FC236}">
                <a16:creationId xmlns:a16="http://schemas.microsoft.com/office/drawing/2014/main" id="{41418EB6-6360-936B-C2D0-925B3010FEEB}"/>
              </a:ext>
            </a:extLst>
          </p:cNvPr>
          <p:cNvSpPr txBox="1">
            <a:spLocks/>
          </p:cNvSpPr>
          <p:nvPr/>
        </p:nvSpPr>
        <p:spPr bwMode="gray">
          <a:xfrm>
            <a:off x="158148" y="239022"/>
            <a:ext cx="12250523" cy="431736"/>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a:t>Study Method： Data Source I</a:t>
            </a:r>
            <a:br>
              <a:rPr lang="en-US" altLang="zh-CN"/>
            </a:br>
            <a:r>
              <a:rPr lang="en-US" altLang="zh-CN" sz="1800" i="1"/>
              <a:t>Collaborate with CDC to</a:t>
            </a:r>
            <a:r>
              <a:rPr lang="en-US" altLang="zh-CN" sz="2400"/>
              <a:t> </a:t>
            </a:r>
            <a:r>
              <a:rPr lang="en-US" altLang="zh-CN" sz="1800" i="1"/>
              <a:t>Leveraging Diverse</a:t>
            </a:r>
            <a:r>
              <a:rPr lang="en-US" sz="1800" i="1"/>
              <a:t> Databases for Comprehensive </a:t>
            </a:r>
            <a:r>
              <a:rPr lang="en-US" altLang="zh-CN" sz="1800" i="1"/>
              <a:t>O</a:t>
            </a:r>
            <a:r>
              <a:rPr lang="en-US" sz="1800" i="1"/>
              <a:t>bjectives and Reliable Outcomes</a:t>
            </a:r>
            <a:endParaRPr lang="zh-CN" altLang="en-US" sz="1800" i="1"/>
          </a:p>
        </p:txBody>
      </p:sp>
      <p:sp>
        <p:nvSpPr>
          <p:cNvPr id="7" name="TextBox 6">
            <a:extLst>
              <a:ext uri="{FF2B5EF4-FFF2-40B4-BE49-F238E27FC236}">
                <a16:creationId xmlns:a16="http://schemas.microsoft.com/office/drawing/2014/main" id="{6DAFCF09-148B-A072-5A0B-57DB8C68D6FC}"/>
              </a:ext>
            </a:extLst>
          </p:cNvPr>
          <p:cNvSpPr txBox="1"/>
          <p:nvPr/>
        </p:nvSpPr>
        <p:spPr bwMode="gray">
          <a:xfrm>
            <a:off x="7935283" y="3332275"/>
            <a:ext cx="4000398" cy="430887"/>
          </a:xfrm>
          <a:prstGeom prst="rect">
            <a:avLst/>
          </a:prstGeom>
          <a:noFill/>
        </p:spPr>
        <p:txBody>
          <a:bodyPr wrap="square" lIns="0" tIns="0" rIns="0" bIns="0" rtlCol="0">
            <a:spAutoFit/>
          </a:bodyPr>
          <a:lstStyle/>
          <a:p>
            <a:pPr algn="ctr"/>
            <a:r>
              <a:rPr lang="en-US" sz="1400" i="1">
                <a:solidFill>
                  <a:schemeClr val="tx1">
                    <a:lumMod val="50000"/>
                    <a:lumOff val="50000"/>
                  </a:schemeClr>
                </a:solidFill>
              </a:rPr>
              <a:t>Limitation :</a:t>
            </a:r>
          </a:p>
          <a:p>
            <a:pPr algn="ctr"/>
            <a:r>
              <a:rPr lang="en-US" sz="1400" i="1">
                <a:solidFill>
                  <a:schemeClr val="tx1">
                    <a:lumMod val="50000"/>
                    <a:lumOff val="50000"/>
                  </a:schemeClr>
                </a:solidFill>
              </a:rPr>
              <a:t>Lack national representativeness</a:t>
            </a:r>
          </a:p>
        </p:txBody>
      </p:sp>
      <p:grpSp>
        <p:nvGrpSpPr>
          <p:cNvPr id="8" name="Group 7">
            <a:extLst>
              <a:ext uri="{FF2B5EF4-FFF2-40B4-BE49-F238E27FC236}">
                <a16:creationId xmlns:a16="http://schemas.microsoft.com/office/drawing/2014/main" id="{659FE468-A3F3-47C7-BCE7-EF3BFF6D191B}"/>
              </a:ext>
            </a:extLst>
          </p:cNvPr>
          <p:cNvGrpSpPr/>
          <p:nvPr/>
        </p:nvGrpSpPr>
        <p:grpSpPr>
          <a:xfrm>
            <a:off x="420157" y="4540593"/>
            <a:ext cx="5389233" cy="1641137"/>
            <a:chOff x="6602993" y="162899"/>
            <a:chExt cx="5322136" cy="2174988"/>
          </a:xfrm>
        </p:grpSpPr>
        <p:grpSp>
          <p:nvGrpSpPr>
            <p:cNvPr id="9" name="Group 68">
              <a:extLst>
                <a:ext uri="{FF2B5EF4-FFF2-40B4-BE49-F238E27FC236}">
                  <a16:creationId xmlns:a16="http://schemas.microsoft.com/office/drawing/2014/main" id="{031DEE0A-3862-7993-46A2-B310D45826CB}"/>
                </a:ext>
              </a:extLst>
            </p:cNvPr>
            <p:cNvGrpSpPr/>
            <p:nvPr/>
          </p:nvGrpSpPr>
          <p:grpSpPr>
            <a:xfrm>
              <a:off x="6602993" y="162899"/>
              <a:ext cx="5322136" cy="2174988"/>
              <a:chOff x="-2560953" y="1602218"/>
              <a:chExt cx="2571683" cy="1669572"/>
            </a:xfrm>
          </p:grpSpPr>
          <p:sp>
            <p:nvSpPr>
              <p:cNvPr id="24" name="任意形状 23">
                <a:extLst>
                  <a:ext uri="{FF2B5EF4-FFF2-40B4-BE49-F238E27FC236}">
                    <a16:creationId xmlns:a16="http://schemas.microsoft.com/office/drawing/2014/main" id="{F87736D4-EE9A-E0EF-8490-9045A55F8324}"/>
                  </a:ext>
                </a:extLst>
              </p:cNvPr>
              <p:cNvSpPr/>
              <p:nvPr/>
            </p:nvSpPr>
            <p:spPr>
              <a:xfrm>
                <a:off x="-2555940" y="1602218"/>
                <a:ext cx="2566670" cy="370145"/>
              </a:xfrm>
              <a:custGeom>
                <a:avLst/>
                <a:gdLst>
                  <a:gd name="connsiteX0" fmla="*/ 0 w 2566670"/>
                  <a:gd name="connsiteY0" fmla="*/ 0 h 360679"/>
                  <a:gd name="connsiteX1" fmla="*/ 2566670 w 2566670"/>
                  <a:gd name="connsiteY1" fmla="*/ 0 h 360679"/>
                  <a:gd name="connsiteX2" fmla="*/ 2566670 w 2566670"/>
                  <a:gd name="connsiteY2" fmla="*/ 360680 h 360679"/>
                  <a:gd name="connsiteX3" fmla="*/ 0 w 2566670"/>
                  <a:gd name="connsiteY3" fmla="*/ 360680 h 360679"/>
                </a:gdLst>
                <a:ahLst/>
                <a:cxnLst>
                  <a:cxn ang="0">
                    <a:pos x="connsiteX0" y="connsiteY0"/>
                  </a:cxn>
                  <a:cxn ang="0">
                    <a:pos x="connsiteX1" y="connsiteY1"/>
                  </a:cxn>
                  <a:cxn ang="0">
                    <a:pos x="connsiteX2" y="connsiteY2"/>
                  </a:cxn>
                  <a:cxn ang="0">
                    <a:pos x="connsiteX3" y="connsiteY3"/>
                  </a:cxn>
                </a:cxnLst>
                <a:rect l="l" t="t" r="r" b="b"/>
                <a:pathLst>
                  <a:path w="2566670" h="360679">
                    <a:moveTo>
                      <a:pt x="0" y="0"/>
                    </a:moveTo>
                    <a:lnTo>
                      <a:pt x="2566670" y="0"/>
                    </a:lnTo>
                    <a:lnTo>
                      <a:pt x="2566670" y="360680"/>
                    </a:lnTo>
                    <a:lnTo>
                      <a:pt x="0" y="360680"/>
                    </a:lnTo>
                    <a:close/>
                  </a:path>
                </a:pathLst>
              </a:custGeom>
              <a:solidFill>
                <a:srgbClr val="B7B6B2"/>
              </a:solidFill>
              <a:ln w="9575" cap="flat">
                <a:noFill/>
                <a:prstDash val="solid"/>
                <a:miter/>
              </a:ln>
            </p:spPr>
            <p:txBody>
              <a:bodyPr lIns="91440" tIns="45720" rIns="91440" bIns="45720" rtlCol="0" anchor="ctr"/>
              <a:lstStyle/>
              <a:p>
                <a:pPr algn="ctr"/>
                <a:r>
                  <a:rPr lang="en-US" altLang="zh-CN" sz="1500" b="1">
                    <a:latin typeface="DengXian"/>
                    <a:ea typeface="DengXian"/>
                  </a:rPr>
                  <a:t>Beijing </a:t>
                </a:r>
                <a:r>
                  <a:rPr lang="zh-CN" altLang="en-US" sz="1500" b="1">
                    <a:latin typeface="DengXian"/>
                    <a:ea typeface="DengXian"/>
                  </a:rPr>
                  <a:t>Claims Database </a:t>
                </a:r>
                <a:r>
                  <a:rPr lang="en-US" altLang="zh-CN" sz="1500" b="1">
                    <a:latin typeface="DengXian"/>
                    <a:ea typeface="DengXian"/>
                  </a:rPr>
                  <a:t>(</a:t>
                </a:r>
                <a:r>
                  <a:rPr lang="zh-CN" altLang="en-US" sz="1500" b="1">
                    <a:latin typeface="DengXian"/>
                    <a:ea typeface="DengXian"/>
                  </a:rPr>
                  <a:t>北京医保数据</a:t>
                </a:r>
                <a:r>
                  <a:rPr lang="en-US" altLang="zh-CN" sz="1500" b="1">
                    <a:latin typeface="DengXian"/>
                    <a:ea typeface="DengXian"/>
                  </a:rPr>
                  <a:t>)</a:t>
                </a:r>
                <a:endParaRPr lang="zh-CN" altLang="en-US" sz="1500" b="1">
                  <a:latin typeface="DengXian"/>
                  <a:ea typeface="DengXian"/>
                </a:endParaRPr>
              </a:p>
            </p:txBody>
          </p:sp>
          <p:sp>
            <p:nvSpPr>
              <p:cNvPr id="25" name="任意形状 24">
                <a:extLst>
                  <a:ext uri="{FF2B5EF4-FFF2-40B4-BE49-F238E27FC236}">
                    <a16:creationId xmlns:a16="http://schemas.microsoft.com/office/drawing/2014/main" id="{C9F70CF0-5911-9DE7-F584-86392654B9D0}"/>
                  </a:ext>
                </a:extLst>
              </p:cNvPr>
              <p:cNvSpPr/>
              <p:nvPr/>
            </p:nvSpPr>
            <p:spPr>
              <a:xfrm>
                <a:off x="-2560953" y="2012014"/>
                <a:ext cx="2571683" cy="1259776"/>
              </a:xfrm>
              <a:custGeom>
                <a:avLst/>
                <a:gdLst>
                  <a:gd name="connsiteX0" fmla="*/ 0 w 2566670"/>
                  <a:gd name="connsiteY0" fmla="*/ 0 h 1680210"/>
                  <a:gd name="connsiteX1" fmla="*/ 2566670 w 2566670"/>
                  <a:gd name="connsiteY1" fmla="*/ 0 h 1680210"/>
                  <a:gd name="connsiteX2" fmla="*/ 2566670 w 2566670"/>
                  <a:gd name="connsiteY2" fmla="*/ 1680210 h 1680210"/>
                  <a:gd name="connsiteX3" fmla="*/ 0 w 2566670"/>
                  <a:gd name="connsiteY3" fmla="*/ 1680210 h 1680210"/>
                </a:gdLst>
                <a:ahLst/>
                <a:cxnLst>
                  <a:cxn ang="0">
                    <a:pos x="connsiteX0" y="connsiteY0"/>
                  </a:cxn>
                  <a:cxn ang="0">
                    <a:pos x="connsiteX1" y="connsiteY1"/>
                  </a:cxn>
                  <a:cxn ang="0">
                    <a:pos x="connsiteX2" y="connsiteY2"/>
                  </a:cxn>
                  <a:cxn ang="0">
                    <a:pos x="connsiteX3" y="connsiteY3"/>
                  </a:cxn>
                </a:cxnLst>
                <a:rect l="l" t="t" r="r" b="b"/>
                <a:pathLst>
                  <a:path w="2566670" h="1680210">
                    <a:moveTo>
                      <a:pt x="0" y="0"/>
                    </a:moveTo>
                    <a:lnTo>
                      <a:pt x="2566670" y="0"/>
                    </a:lnTo>
                    <a:lnTo>
                      <a:pt x="2566670" y="1680210"/>
                    </a:lnTo>
                    <a:lnTo>
                      <a:pt x="0" y="1680210"/>
                    </a:lnTo>
                    <a:close/>
                  </a:path>
                </a:pathLst>
              </a:custGeom>
              <a:solidFill>
                <a:schemeClr val="bg1">
                  <a:lumMod val="95000"/>
                </a:schemeClr>
              </a:solidFill>
              <a:ln w="20655" cap="flat">
                <a:noFill/>
                <a:prstDash val="solid"/>
                <a:miter/>
              </a:ln>
            </p:spPr>
            <p:txBody>
              <a:bodyPr lIns="91440" tIns="45720" rIns="91440" bIns="45720" rtlCol="0" anchor="ctr"/>
              <a:lstStyle/>
              <a:p>
                <a:endParaRPr lang="zh-CN" altLang="en-US">
                  <a:latin typeface="Alibaba PuHuiTi" pitchFamily="18" charset="-122"/>
                  <a:ea typeface="Alibaba PuHuiTi" pitchFamily="18" charset="-122"/>
                  <a:cs typeface="Alibaba PuHuiTi" pitchFamily="18" charset="-122"/>
                </a:endParaRPr>
              </a:p>
            </p:txBody>
          </p:sp>
        </p:grpSp>
        <p:sp>
          <p:nvSpPr>
            <p:cNvPr id="23" name="文本框 92">
              <a:extLst>
                <a:ext uri="{FF2B5EF4-FFF2-40B4-BE49-F238E27FC236}">
                  <a16:creationId xmlns:a16="http://schemas.microsoft.com/office/drawing/2014/main" id="{588C5C6E-BA22-A3EF-A9F6-A512CB24E8C4}"/>
                </a:ext>
              </a:extLst>
            </p:cNvPr>
            <p:cNvSpPr txBox="1"/>
            <p:nvPr/>
          </p:nvSpPr>
          <p:spPr bwMode="gray">
            <a:xfrm>
              <a:off x="6643241" y="857737"/>
              <a:ext cx="5241640" cy="97894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buFont typeface="Arial"/>
                <a:buChar char="•"/>
              </a:pPr>
              <a:r>
                <a:rPr lang="en-US" altLang="zh-CN" sz="1200">
                  <a:solidFill>
                    <a:srgbClr val="000000"/>
                  </a:solidFill>
                  <a:ea typeface="DengXian"/>
                </a:rPr>
                <a:t>Beijing residence claims data</a:t>
              </a:r>
            </a:p>
            <a:p>
              <a:pPr marL="285750" indent="-285750">
                <a:buFont typeface="Arial"/>
                <a:buChar char="•"/>
              </a:pPr>
              <a:r>
                <a:rPr lang="en-US" altLang="zh-CN" sz="1200">
                  <a:solidFill>
                    <a:srgbClr val="000000"/>
                  </a:solidFill>
                  <a:ea typeface="DengXian"/>
                </a:rPr>
                <a:t>Longitudinal data-cohort starting from 2019/01/01</a:t>
              </a:r>
            </a:p>
            <a:p>
              <a:pPr marL="285750" indent="-285750">
                <a:buFont typeface="Arial"/>
                <a:buChar char="•"/>
              </a:pPr>
              <a:r>
                <a:rPr lang="en-US" altLang="zh-CN" sz="1200">
                  <a:solidFill>
                    <a:srgbClr val="000000"/>
                  </a:solidFill>
                  <a:ea typeface="DengXian"/>
                </a:rPr>
                <a:t>Including demographics, diagnosis (urgent HF visit)) and treatment</a:t>
              </a:r>
            </a:p>
            <a:p>
              <a:pPr marL="285750" indent="-285750">
                <a:buFont typeface="Arial"/>
                <a:buChar char="•"/>
              </a:pPr>
              <a:endParaRPr lang="en-US" altLang="zh-CN" sz="1200">
                <a:solidFill>
                  <a:srgbClr val="000000"/>
                </a:solidFill>
                <a:ea typeface="DengXian"/>
              </a:endParaRPr>
            </a:p>
          </p:txBody>
        </p:sp>
      </p:grpSp>
    </p:spTree>
    <p:extLst>
      <p:ext uri="{BB962C8B-B14F-4D97-AF65-F5344CB8AC3E}">
        <p14:creationId xmlns:p14="http://schemas.microsoft.com/office/powerpoint/2010/main" val="222729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359FE-180A-389D-2CCC-E9EEF989BF72}"/>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9D3E2B8B-B08B-A497-1F72-F2BF7253654C}"/>
              </a:ext>
            </a:extLst>
          </p:cNvPr>
          <p:cNvSpPr>
            <a:spLocks noGrp="1"/>
          </p:cNvSpPr>
          <p:nvPr>
            <p:ph type="ftr" sz="quarter" idx="16"/>
          </p:nvPr>
        </p:nvSpPr>
        <p:spPr>
          <a:xfrm>
            <a:off x="6472890" y="6500836"/>
            <a:ext cx="5040560" cy="288000"/>
          </a:xfrm>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E38DCB0C-3867-730B-5FA1-A37E23F73F79}"/>
              </a:ext>
            </a:extLst>
          </p:cNvPr>
          <p:cNvSpPr>
            <a:spLocks noGrp="1"/>
          </p:cNvSpPr>
          <p:nvPr>
            <p:ph type="sldNum" sz="quarter" idx="17"/>
          </p:nvPr>
        </p:nvSpPr>
        <p:spPr>
          <a:xfrm>
            <a:off x="11585458" y="6500836"/>
            <a:ext cx="288000" cy="288000"/>
          </a:xfrm>
        </p:spPr>
        <p:txBody>
          <a:bodyPr/>
          <a:lstStyle/>
          <a:p>
            <a:fld id="{8FF9B0DE-3FEB-4AA0-B465-B80EF7C1333D}" type="slidenum">
              <a:rPr lang="en-US" smtClean="0"/>
              <a:pPr/>
              <a:t>19</a:t>
            </a:fld>
            <a:endParaRPr lang="en-US"/>
          </a:p>
        </p:txBody>
      </p:sp>
      <p:graphicFrame>
        <p:nvGraphicFramePr>
          <p:cNvPr id="10" name="Table 9">
            <a:extLst>
              <a:ext uri="{FF2B5EF4-FFF2-40B4-BE49-F238E27FC236}">
                <a16:creationId xmlns:a16="http://schemas.microsoft.com/office/drawing/2014/main" id="{0C286F0F-0B4A-CA08-DEB6-0CC6541568DB}"/>
              </a:ext>
            </a:extLst>
          </p:cNvPr>
          <p:cNvGraphicFramePr>
            <a:graphicFrameLocks noGrp="1"/>
          </p:cNvGraphicFramePr>
          <p:nvPr>
            <p:extLst>
              <p:ext uri="{D42A27DB-BD31-4B8C-83A1-F6EECF244321}">
                <p14:modId xmlns:p14="http://schemas.microsoft.com/office/powerpoint/2010/main" val="311393033"/>
              </p:ext>
            </p:extLst>
          </p:nvPr>
        </p:nvGraphicFramePr>
        <p:xfrm>
          <a:off x="511555" y="1885145"/>
          <a:ext cx="11001895" cy="2215545"/>
        </p:xfrm>
        <a:graphic>
          <a:graphicData uri="http://schemas.openxmlformats.org/drawingml/2006/table">
            <a:tbl>
              <a:tblPr firstRow="1" firstCol="1">
                <a:tableStyleId>{B301B821-A1FF-4177-AEE7-76D212191A09}</a:tableStyleId>
              </a:tblPr>
              <a:tblGrid>
                <a:gridCol w="3044445">
                  <a:extLst>
                    <a:ext uri="{9D8B030D-6E8A-4147-A177-3AD203B41FA5}">
                      <a16:colId xmlns:a16="http://schemas.microsoft.com/office/drawing/2014/main" val="3838260133"/>
                    </a:ext>
                  </a:extLst>
                </a:gridCol>
                <a:gridCol w="3903133">
                  <a:extLst>
                    <a:ext uri="{9D8B030D-6E8A-4147-A177-3AD203B41FA5}">
                      <a16:colId xmlns:a16="http://schemas.microsoft.com/office/drawing/2014/main" val="3485464298"/>
                    </a:ext>
                  </a:extLst>
                </a:gridCol>
                <a:gridCol w="4054317">
                  <a:extLst>
                    <a:ext uri="{9D8B030D-6E8A-4147-A177-3AD203B41FA5}">
                      <a16:colId xmlns:a16="http://schemas.microsoft.com/office/drawing/2014/main" val="3566812282"/>
                    </a:ext>
                  </a:extLst>
                </a:gridCol>
              </a:tblGrid>
              <a:tr h="703219">
                <a:tc>
                  <a:txBody>
                    <a:bodyPr/>
                    <a:lstStyle/>
                    <a:p>
                      <a:pPr algn="l" fontAlgn="b">
                        <a:buNone/>
                      </a:pPr>
                      <a:endParaRPr lang="en-US" sz="1500" b="0" i="0" u="none" strike="noStrike">
                        <a:solidFill>
                          <a:srgbClr val="000000"/>
                        </a:solidFill>
                        <a:effectLst/>
                        <a:latin typeface="Aptos Narrow" panose="020B0004020202020204" pitchFamily="34" charset="0"/>
                      </a:endParaRPr>
                    </a:p>
                  </a:txBody>
                  <a:tcPr marL="9525" marR="9525" marT="9525" marB="0" anchor="ctr">
                    <a:solidFill>
                      <a:schemeClr val="accent1">
                        <a:lumMod val="75000"/>
                        <a:lumOff val="25000"/>
                      </a:schemeClr>
                    </a:solidFill>
                  </a:tcPr>
                </a:tc>
                <a:tc>
                  <a:txBody>
                    <a:bodyPr/>
                    <a:lstStyle/>
                    <a:p>
                      <a:pPr algn="l" fontAlgn="b">
                        <a:buNone/>
                      </a:pPr>
                      <a:r>
                        <a:rPr lang="en-US" altLang="zh-CN" sz="1500" b="1" u="none" strike="noStrike" kern="1200">
                          <a:solidFill>
                            <a:schemeClr val="lt1"/>
                          </a:solidFill>
                          <a:effectLst/>
                          <a:latin typeface="+mn-lt"/>
                          <a:ea typeface="+mn-ea"/>
                          <a:cs typeface="+mn-cs"/>
                        </a:rPr>
                        <a:t>Data Source Requirements to Achieve Study Objectives</a:t>
                      </a:r>
                    </a:p>
                  </a:txBody>
                  <a:tcPr marL="9525" marR="9525" marT="9525" marB="0" anchor="ctr">
                    <a:solidFill>
                      <a:schemeClr val="accent1">
                        <a:lumMod val="75000"/>
                        <a:lumOff val="25000"/>
                      </a:schemeClr>
                    </a:solidFill>
                  </a:tcPr>
                </a:tc>
                <a:tc>
                  <a:txBody>
                    <a:bodyPr/>
                    <a:lstStyle/>
                    <a:p>
                      <a:pPr algn="ctr" fontAlgn="b">
                        <a:buNone/>
                      </a:pPr>
                      <a:r>
                        <a:rPr lang="en-US" altLang="zh-CN" sz="1500" u="none" strike="noStrike">
                          <a:effectLst/>
                        </a:rPr>
                        <a:t>Recommend Database</a:t>
                      </a:r>
                      <a:endParaRPr lang="en-US" altLang="zh-CN" sz="1500" b="0" i="0" u="none" strike="noStrike">
                        <a:solidFill>
                          <a:srgbClr val="000000"/>
                        </a:solidFill>
                        <a:effectLst/>
                        <a:latin typeface="Aptos Narrow" panose="020B0004020202020204" pitchFamily="34" charset="0"/>
                      </a:endParaRPr>
                    </a:p>
                  </a:txBody>
                  <a:tcPr marL="9525" marR="9525" marT="9525" marB="0" anchor="ctr">
                    <a:solidFill>
                      <a:schemeClr val="accent1">
                        <a:lumMod val="75000"/>
                        <a:lumOff val="25000"/>
                      </a:schemeClr>
                    </a:solidFill>
                  </a:tcPr>
                </a:tc>
                <a:extLst>
                  <a:ext uri="{0D108BD9-81ED-4DB2-BD59-A6C34878D82A}">
                    <a16:rowId xmlns:a16="http://schemas.microsoft.com/office/drawing/2014/main" val="1058844691"/>
                  </a:ext>
                </a:extLst>
              </a:tr>
              <a:tr h="1512326">
                <a:tc>
                  <a:txBody>
                    <a:bodyPr/>
                    <a:lstStyle/>
                    <a:p>
                      <a:pPr algn="l" fontAlgn="ctr">
                        <a:buNone/>
                      </a:pPr>
                      <a:r>
                        <a:rPr lang="en-US" sz="1800" u="none" strike="noStrike">
                          <a:effectLst/>
                        </a:rPr>
                        <a:t>Secondary objectives</a:t>
                      </a:r>
                      <a:endParaRPr lang="en-US" sz="1800" b="0" i="0" u="none" strike="noStrike">
                        <a:solidFill>
                          <a:srgbClr val="000000"/>
                        </a:solidFill>
                        <a:effectLst/>
                        <a:latin typeface="Aptos Narrow" panose="020B0004020202020204" pitchFamily="34" charset="0"/>
                      </a:endParaRPr>
                    </a:p>
                  </a:txBody>
                  <a:tcPr marL="108000" marR="108000" marT="9525" marB="0" anchor="ctr"/>
                </a:tc>
                <a:tc>
                  <a:txBody>
                    <a:bodyPr/>
                    <a:lstStyle/>
                    <a:p>
                      <a:pPr algn="l" fontAlgn="ctr">
                        <a:buNone/>
                      </a:pPr>
                      <a:r>
                        <a:rPr lang="en-US" sz="1500" b="1" u="none" strike="noStrike">
                          <a:effectLst/>
                        </a:rPr>
                        <a:t>Prevalence</a:t>
                      </a:r>
                    </a:p>
                    <a:p>
                      <a:pPr marL="285750" indent="-285750" algn="l" fontAlgn="ctr">
                        <a:buFont typeface="Wingdings" panose="05000000000000000000" pitchFamily="2" charset="2"/>
                        <a:buChar char="ü"/>
                      </a:pPr>
                      <a:r>
                        <a:rPr lang="en-US" altLang="zh-CN" sz="1500" u="none" strike="noStrike">
                          <a:effectLst/>
                        </a:rPr>
                        <a:t>Cross-sectional</a:t>
                      </a:r>
                      <a:endParaRPr lang="en-US" sz="1500" u="none" strike="noStrike">
                        <a:effectLst/>
                      </a:endParaRPr>
                    </a:p>
                    <a:p>
                      <a:pPr marL="285750" indent="-285750" algn="l" fontAlgn="ctr">
                        <a:buFont typeface="Wingdings" panose="05000000000000000000" pitchFamily="2" charset="2"/>
                        <a:buChar char="ü"/>
                      </a:pPr>
                      <a:r>
                        <a:rPr lang="en-US" sz="1500" u="none" strike="noStrike">
                          <a:effectLst/>
                        </a:rPr>
                        <a:t>Representativeness</a:t>
                      </a:r>
                    </a:p>
                    <a:p>
                      <a:pPr marL="285750" indent="-285750" algn="l" fontAlgn="ctr">
                        <a:buFont typeface="Wingdings" panose="05000000000000000000" pitchFamily="2" charset="2"/>
                        <a:buChar char="ü"/>
                      </a:pPr>
                      <a:r>
                        <a:rPr lang="en-US" altLang="zh-CN" sz="1500" u="none" strike="noStrike">
                          <a:effectLst/>
                        </a:rPr>
                        <a:t>D</a:t>
                      </a:r>
                      <a:r>
                        <a:rPr lang="en-US" sz="1500" u="none" strike="noStrike">
                          <a:effectLst/>
                        </a:rPr>
                        <a:t>iagnosis record </a:t>
                      </a:r>
                    </a:p>
                  </a:txBody>
                  <a:tcPr marL="108000" marR="108000" marT="9525" marB="0" anchor="ctr"/>
                </a:tc>
                <a:tc>
                  <a:txBody>
                    <a:bodyPr/>
                    <a:lstStyle/>
                    <a:p>
                      <a:pPr marL="0" indent="0" algn="ctr" fontAlgn="ctr">
                        <a:buFont typeface="Arial" panose="020B0604020202020204"/>
                        <a:buNone/>
                      </a:pPr>
                      <a:r>
                        <a:rPr lang="zh-CN" altLang="en-US" sz="1500" b="1">
                          <a:latin typeface="DengXian"/>
                          <a:ea typeface="DengXian"/>
                        </a:rPr>
                        <a:t>慢性病危险监测数据</a:t>
                      </a:r>
                      <a:r>
                        <a:rPr lang="en-US" altLang="zh-CN" sz="1500" b="1">
                          <a:latin typeface="DengXian"/>
                          <a:ea typeface="DengXian"/>
                        </a:rPr>
                        <a:t>+</a:t>
                      </a:r>
                      <a:r>
                        <a:rPr lang="zh-CN" altLang="en-US" sz="1500" b="1">
                          <a:latin typeface="DengXian"/>
                          <a:ea typeface="DengXian"/>
                        </a:rPr>
                        <a:t>病案首页</a:t>
                      </a:r>
                      <a:endParaRPr lang="en-US" altLang="zh-CN" sz="1500" b="1" u="none" strike="noStrike" kern="1200">
                        <a:solidFill>
                          <a:schemeClr val="dk1"/>
                        </a:solidFill>
                        <a:effectLst/>
                        <a:latin typeface="+mn-lt"/>
                        <a:ea typeface="+mn-ea"/>
                        <a:cs typeface="+mn-cs"/>
                      </a:endParaRPr>
                    </a:p>
                  </a:txBody>
                  <a:tcPr marL="108000" marR="108000" marT="9525" marB="0" anchor="ctr"/>
                </a:tc>
                <a:extLst>
                  <a:ext uri="{0D108BD9-81ED-4DB2-BD59-A6C34878D82A}">
                    <a16:rowId xmlns:a16="http://schemas.microsoft.com/office/drawing/2014/main" val="3175723842"/>
                  </a:ext>
                </a:extLst>
              </a:tr>
            </a:tbl>
          </a:graphicData>
        </a:graphic>
      </p:graphicFrame>
      <p:sp>
        <p:nvSpPr>
          <p:cNvPr id="42" name="标题 1">
            <a:extLst>
              <a:ext uri="{FF2B5EF4-FFF2-40B4-BE49-F238E27FC236}">
                <a16:creationId xmlns:a16="http://schemas.microsoft.com/office/drawing/2014/main" id="{7903E247-3C7B-2A35-48E1-0909DC2DE966}"/>
              </a:ext>
            </a:extLst>
          </p:cNvPr>
          <p:cNvSpPr txBox="1">
            <a:spLocks/>
          </p:cNvSpPr>
          <p:nvPr/>
        </p:nvSpPr>
        <p:spPr bwMode="gray">
          <a:xfrm>
            <a:off x="158148" y="239022"/>
            <a:ext cx="12250523" cy="431736"/>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a:t>Study Method： Data Source II</a:t>
            </a:r>
            <a:br>
              <a:rPr lang="en-US" altLang="zh-CN"/>
            </a:br>
            <a:r>
              <a:rPr lang="en-US" altLang="zh-CN" sz="1800" i="1"/>
              <a:t>Collaborate with CDC to</a:t>
            </a:r>
            <a:r>
              <a:rPr lang="en-US" altLang="zh-CN" sz="2400"/>
              <a:t> </a:t>
            </a:r>
            <a:r>
              <a:rPr lang="en-US" altLang="zh-CN" sz="1800" i="1"/>
              <a:t>Leveraging Diverse</a:t>
            </a:r>
            <a:r>
              <a:rPr lang="en-US" sz="1800" i="1"/>
              <a:t> Databases for Comprehensive objectives and Reliable Outcomes</a:t>
            </a:r>
            <a:endParaRPr lang="zh-CN" altLang="en-US" sz="1800" i="1"/>
          </a:p>
        </p:txBody>
      </p:sp>
      <p:grpSp>
        <p:nvGrpSpPr>
          <p:cNvPr id="46" name="Group 45">
            <a:extLst>
              <a:ext uri="{FF2B5EF4-FFF2-40B4-BE49-F238E27FC236}">
                <a16:creationId xmlns:a16="http://schemas.microsoft.com/office/drawing/2014/main" id="{9D9603D4-D2F1-2837-17F9-5CA1BC2D9972}"/>
              </a:ext>
            </a:extLst>
          </p:cNvPr>
          <p:cNvGrpSpPr/>
          <p:nvPr/>
        </p:nvGrpSpPr>
        <p:grpSpPr>
          <a:xfrm>
            <a:off x="6043396" y="4298069"/>
            <a:ext cx="5470054" cy="1706481"/>
            <a:chOff x="6702239" y="4165261"/>
            <a:chExt cx="2987861" cy="2182526"/>
          </a:xfrm>
        </p:grpSpPr>
        <p:grpSp>
          <p:nvGrpSpPr>
            <p:cNvPr id="35" name="Group 68">
              <a:extLst>
                <a:ext uri="{FF2B5EF4-FFF2-40B4-BE49-F238E27FC236}">
                  <a16:creationId xmlns:a16="http://schemas.microsoft.com/office/drawing/2014/main" id="{FCD52C61-265B-3D65-DD87-8B39FFA23A5D}"/>
                </a:ext>
              </a:extLst>
            </p:cNvPr>
            <p:cNvGrpSpPr/>
            <p:nvPr/>
          </p:nvGrpSpPr>
          <p:grpSpPr>
            <a:xfrm>
              <a:off x="6702239" y="4165261"/>
              <a:ext cx="2987861" cy="2155031"/>
              <a:chOff x="-2534405" y="1613949"/>
              <a:chExt cx="2577992" cy="1348348"/>
            </a:xfrm>
          </p:grpSpPr>
          <p:sp>
            <p:nvSpPr>
              <p:cNvPr id="38" name="任意形状 23">
                <a:extLst>
                  <a:ext uri="{FF2B5EF4-FFF2-40B4-BE49-F238E27FC236}">
                    <a16:creationId xmlns:a16="http://schemas.microsoft.com/office/drawing/2014/main" id="{BECCE2B9-40E4-6B9C-2E64-A48D1754FDA8}"/>
                  </a:ext>
                </a:extLst>
              </p:cNvPr>
              <p:cNvSpPr/>
              <p:nvPr/>
            </p:nvSpPr>
            <p:spPr>
              <a:xfrm>
                <a:off x="-2534405" y="1613949"/>
                <a:ext cx="2566670" cy="349500"/>
              </a:xfrm>
              <a:custGeom>
                <a:avLst/>
                <a:gdLst>
                  <a:gd name="connsiteX0" fmla="*/ 0 w 2566670"/>
                  <a:gd name="connsiteY0" fmla="*/ 0 h 360679"/>
                  <a:gd name="connsiteX1" fmla="*/ 2566670 w 2566670"/>
                  <a:gd name="connsiteY1" fmla="*/ 0 h 360679"/>
                  <a:gd name="connsiteX2" fmla="*/ 2566670 w 2566670"/>
                  <a:gd name="connsiteY2" fmla="*/ 360680 h 360679"/>
                  <a:gd name="connsiteX3" fmla="*/ 0 w 2566670"/>
                  <a:gd name="connsiteY3" fmla="*/ 360680 h 360679"/>
                </a:gdLst>
                <a:ahLst/>
                <a:cxnLst>
                  <a:cxn ang="0">
                    <a:pos x="connsiteX0" y="connsiteY0"/>
                  </a:cxn>
                  <a:cxn ang="0">
                    <a:pos x="connsiteX1" y="connsiteY1"/>
                  </a:cxn>
                  <a:cxn ang="0">
                    <a:pos x="connsiteX2" y="connsiteY2"/>
                  </a:cxn>
                  <a:cxn ang="0">
                    <a:pos x="connsiteX3" y="connsiteY3"/>
                  </a:cxn>
                </a:cxnLst>
                <a:rect l="l" t="t" r="r" b="b"/>
                <a:pathLst>
                  <a:path w="2566670" h="360679">
                    <a:moveTo>
                      <a:pt x="0" y="0"/>
                    </a:moveTo>
                    <a:lnTo>
                      <a:pt x="2566670" y="0"/>
                    </a:lnTo>
                    <a:lnTo>
                      <a:pt x="2566670" y="360680"/>
                    </a:lnTo>
                    <a:lnTo>
                      <a:pt x="0" y="360680"/>
                    </a:lnTo>
                    <a:close/>
                  </a:path>
                </a:pathLst>
              </a:custGeom>
              <a:solidFill>
                <a:srgbClr val="B7B6B2"/>
              </a:solidFill>
              <a:ln w="9575" cap="flat">
                <a:noFill/>
                <a:prstDash val="solid"/>
                <a:miter/>
              </a:ln>
            </p:spPr>
            <p:txBody>
              <a:bodyPr lIns="91440" tIns="45720" rIns="91440" bIns="45720" rtlCol="0" anchor="ctr"/>
              <a:lstStyle/>
              <a:p>
                <a:pPr algn="ctr"/>
                <a:r>
                  <a:rPr lang="en-US" altLang="zh-CN" sz="1500" b="1">
                    <a:latin typeface="DengXian"/>
                    <a:ea typeface="DengXian"/>
                  </a:rPr>
                  <a:t>Summary of Inpatient Discharge </a:t>
                </a:r>
              </a:p>
              <a:p>
                <a:pPr algn="ctr"/>
                <a:r>
                  <a:rPr lang="en-US" altLang="zh-CN" sz="1500" b="1">
                    <a:latin typeface="DengXian"/>
                    <a:ea typeface="DengXian"/>
                  </a:rPr>
                  <a:t>(</a:t>
                </a:r>
                <a:r>
                  <a:rPr lang="zh-CN" altLang="en-US" sz="1500" b="1">
                    <a:latin typeface="DengXian"/>
                    <a:ea typeface="DengXian"/>
                  </a:rPr>
                  <a:t>病案首页）</a:t>
                </a:r>
              </a:p>
            </p:txBody>
          </p:sp>
          <p:sp>
            <p:nvSpPr>
              <p:cNvPr id="39" name="任意形状 24">
                <a:extLst>
                  <a:ext uri="{FF2B5EF4-FFF2-40B4-BE49-F238E27FC236}">
                    <a16:creationId xmlns:a16="http://schemas.microsoft.com/office/drawing/2014/main" id="{697BAFC5-9366-F5A3-0245-24438FE1D040}"/>
                  </a:ext>
                </a:extLst>
              </p:cNvPr>
              <p:cNvSpPr/>
              <p:nvPr/>
            </p:nvSpPr>
            <p:spPr>
              <a:xfrm>
                <a:off x="-2528096" y="1982827"/>
                <a:ext cx="2571683" cy="979470"/>
              </a:xfrm>
              <a:custGeom>
                <a:avLst/>
                <a:gdLst>
                  <a:gd name="connsiteX0" fmla="*/ 0 w 2566670"/>
                  <a:gd name="connsiteY0" fmla="*/ 0 h 1680210"/>
                  <a:gd name="connsiteX1" fmla="*/ 2566670 w 2566670"/>
                  <a:gd name="connsiteY1" fmla="*/ 0 h 1680210"/>
                  <a:gd name="connsiteX2" fmla="*/ 2566670 w 2566670"/>
                  <a:gd name="connsiteY2" fmla="*/ 1680210 h 1680210"/>
                  <a:gd name="connsiteX3" fmla="*/ 0 w 2566670"/>
                  <a:gd name="connsiteY3" fmla="*/ 1680210 h 1680210"/>
                </a:gdLst>
                <a:ahLst/>
                <a:cxnLst>
                  <a:cxn ang="0">
                    <a:pos x="connsiteX0" y="connsiteY0"/>
                  </a:cxn>
                  <a:cxn ang="0">
                    <a:pos x="connsiteX1" y="connsiteY1"/>
                  </a:cxn>
                  <a:cxn ang="0">
                    <a:pos x="connsiteX2" y="connsiteY2"/>
                  </a:cxn>
                  <a:cxn ang="0">
                    <a:pos x="connsiteX3" y="connsiteY3"/>
                  </a:cxn>
                </a:cxnLst>
                <a:rect l="l" t="t" r="r" b="b"/>
                <a:pathLst>
                  <a:path w="2566670" h="1680210">
                    <a:moveTo>
                      <a:pt x="0" y="0"/>
                    </a:moveTo>
                    <a:lnTo>
                      <a:pt x="2566670" y="0"/>
                    </a:lnTo>
                    <a:lnTo>
                      <a:pt x="2566670" y="1680210"/>
                    </a:lnTo>
                    <a:lnTo>
                      <a:pt x="0" y="1680210"/>
                    </a:lnTo>
                    <a:close/>
                  </a:path>
                </a:pathLst>
              </a:custGeom>
              <a:solidFill>
                <a:schemeClr val="bg1">
                  <a:lumMod val="95000"/>
                </a:schemeClr>
              </a:solidFill>
              <a:ln w="20655" cap="flat">
                <a:noFill/>
                <a:prstDash val="solid"/>
                <a:miter/>
              </a:ln>
            </p:spPr>
            <p:txBody>
              <a:bodyPr lIns="91440" tIns="45720" rIns="91440" bIns="45720" rtlCol="0" anchor="ctr"/>
              <a:lstStyle/>
              <a:p>
                <a:endParaRPr lang="zh-CN" altLang="en-US">
                  <a:latin typeface="Alibaba PuHuiTi" pitchFamily="18" charset="-122"/>
                  <a:ea typeface="Alibaba PuHuiTi" pitchFamily="18" charset="-122"/>
                  <a:cs typeface="Alibaba PuHuiTi" pitchFamily="18" charset="-122"/>
                </a:endParaRPr>
              </a:p>
            </p:txBody>
          </p:sp>
        </p:grpSp>
        <p:sp>
          <p:nvSpPr>
            <p:cNvPr id="40" name="文本框 75">
              <a:extLst>
                <a:ext uri="{FF2B5EF4-FFF2-40B4-BE49-F238E27FC236}">
                  <a16:creationId xmlns:a16="http://schemas.microsoft.com/office/drawing/2014/main" id="{62E3FF4C-EE3F-1B05-2A6E-42EE2C6AC7ED}"/>
                </a:ext>
              </a:extLst>
            </p:cNvPr>
            <p:cNvSpPr txBox="1"/>
            <p:nvPr/>
          </p:nvSpPr>
          <p:spPr bwMode="gray">
            <a:xfrm>
              <a:off x="6745712" y="4930701"/>
              <a:ext cx="2887793" cy="14170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buFont typeface="Arial"/>
                <a:buChar char="•"/>
              </a:pPr>
              <a:r>
                <a:rPr lang="en-US" sz="1200">
                  <a:solidFill>
                    <a:srgbClr val="000000"/>
                  </a:solidFill>
                  <a:ea typeface="+mn-lt"/>
                  <a:cs typeface="+mn-lt"/>
                </a:rPr>
                <a:t>National-level, Tier2 and 3 hospitals</a:t>
              </a:r>
            </a:p>
            <a:p>
              <a:pPr marL="285750" indent="-285750">
                <a:buFont typeface="Arial"/>
                <a:buChar char="•"/>
              </a:pPr>
              <a:r>
                <a:rPr lang="en-US" sz="1200">
                  <a:solidFill>
                    <a:srgbClr val="000000"/>
                  </a:solidFill>
                  <a:ea typeface="+mn-lt"/>
                  <a:cs typeface="+mn-lt"/>
                </a:rPr>
                <a:t>Inpatient discharge summary,</a:t>
              </a:r>
              <a:r>
                <a:rPr lang="zh-CN" altLang="en-US" sz="1200">
                  <a:solidFill>
                    <a:srgbClr val="000000"/>
                  </a:solidFill>
                  <a:ea typeface="+mn-lt"/>
                  <a:cs typeface="+mn-lt"/>
                </a:rPr>
                <a:t> </a:t>
              </a:r>
              <a:r>
                <a:rPr lang="en-US" altLang="zh-CN" sz="1200">
                  <a:solidFill>
                    <a:srgbClr val="000000"/>
                  </a:solidFill>
                  <a:ea typeface="+mn-lt"/>
                  <a:cs typeface="+mn-lt"/>
                </a:rPr>
                <a:t>i</a:t>
              </a:r>
              <a:r>
                <a:rPr lang="en-US" altLang="zh-CN" sz="1200">
                  <a:solidFill>
                    <a:srgbClr val="000000"/>
                  </a:solidFill>
                  <a:ea typeface="DengXian"/>
                </a:rPr>
                <a:t>ncl. age, gender, diagnosis and outcome (incl. HHF</a:t>
              </a:r>
              <a:r>
                <a:rPr lang="zh-CN" altLang="en-US" sz="1200">
                  <a:solidFill>
                    <a:srgbClr val="000000"/>
                  </a:solidFill>
                  <a:ea typeface="DengXian"/>
                </a:rPr>
                <a:t>）</a:t>
              </a:r>
              <a:endParaRPr lang="en-US" altLang="zh-CN" sz="1200">
                <a:solidFill>
                  <a:srgbClr val="000000"/>
                </a:solidFill>
                <a:ea typeface="DengXian"/>
              </a:endParaRPr>
            </a:p>
            <a:p>
              <a:pPr marL="285750" indent="-285750">
                <a:buFont typeface="Arial"/>
                <a:buChar char="•"/>
              </a:pPr>
              <a:r>
                <a:rPr lang="en-US" altLang="zh-CN" sz="1200">
                  <a:solidFill>
                    <a:srgbClr val="000000"/>
                  </a:solidFill>
                  <a:ea typeface="DengXian"/>
                </a:rPr>
                <a:t>Longitudinal data-cohort linked patient each visit</a:t>
              </a:r>
            </a:p>
            <a:p>
              <a:pPr marL="285750" indent="-285750">
                <a:buFont typeface="Arial"/>
                <a:buChar char="•"/>
              </a:pPr>
              <a:r>
                <a:rPr lang="en-US" altLang="zh-CN" sz="1200">
                  <a:solidFill>
                    <a:srgbClr val="000000"/>
                  </a:solidFill>
                  <a:ea typeface="DengXian"/>
                </a:rPr>
                <a:t>Start from 2020</a:t>
              </a:r>
            </a:p>
            <a:p>
              <a:pPr marL="285750" indent="-285750">
                <a:buFont typeface="Arial"/>
                <a:buChar char="•"/>
              </a:pPr>
              <a:endParaRPr lang="en-US" altLang="zh-CN" sz="1200">
                <a:solidFill>
                  <a:srgbClr val="000000"/>
                </a:solidFill>
                <a:ea typeface="DengXian"/>
              </a:endParaRPr>
            </a:p>
          </p:txBody>
        </p:sp>
      </p:grpSp>
      <p:grpSp>
        <p:nvGrpSpPr>
          <p:cNvPr id="2" name="Group 1">
            <a:extLst>
              <a:ext uri="{FF2B5EF4-FFF2-40B4-BE49-F238E27FC236}">
                <a16:creationId xmlns:a16="http://schemas.microsoft.com/office/drawing/2014/main" id="{794FCE05-A963-BFE7-17CB-720A681AE4C6}"/>
              </a:ext>
            </a:extLst>
          </p:cNvPr>
          <p:cNvGrpSpPr/>
          <p:nvPr/>
        </p:nvGrpSpPr>
        <p:grpSpPr>
          <a:xfrm>
            <a:off x="511555" y="4298068"/>
            <a:ext cx="5336892" cy="1684986"/>
            <a:chOff x="-2511916" y="1602519"/>
            <a:chExt cx="2571683" cy="1715012"/>
          </a:xfrm>
        </p:grpSpPr>
        <p:sp>
          <p:nvSpPr>
            <p:cNvPr id="3" name="任意形状 23">
              <a:extLst>
                <a:ext uri="{FF2B5EF4-FFF2-40B4-BE49-F238E27FC236}">
                  <a16:creationId xmlns:a16="http://schemas.microsoft.com/office/drawing/2014/main" id="{F5952409-3EFF-A53C-FCCF-ED302F378259}"/>
                </a:ext>
              </a:extLst>
            </p:cNvPr>
            <p:cNvSpPr/>
            <p:nvPr/>
          </p:nvSpPr>
          <p:spPr>
            <a:xfrm>
              <a:off x="-2511916" y="1602519"/>
              <a:ext cx="2566670" cy="444542"/>
            </a:xfrm>
            <a:custGeom>
              <a:avLst/>
              <a:gdLst>
                <a:gd name="connsiteX0" fmla="*/ 0 w 2566670"/>
                <a:gd name="connsiteY0" fmla="*/ 0 h 360679"/>
                <a:gd name="connsiteX1" fmla="*/ 2566670 w 2566670"/>
                <a:gd name="connsiteY1" fmla="*/ 0 h 360679"/>
                <a:gd name="connsiteX2" fmla="*/ 2566670 w 2566670"/>
                <a:gd name="connsiteY2" fmla="*/ 360680 h 360679"/>
                <a:gd name="connsiteX3" fmla="*/ 0 w 2566670"/>
                <a:gd name="connsiteY3" fmla="*/ 360680 h 360679"/>
              </a:gdLst>
              <a:ahLst/>
              <a:cxnLst>
                <a:cxn ang="0">
                  <a:pos x="connsiteX0" y="connsiteY0"/>
                </a:cxn>
                <a:cxn ang="0">
                  <a:pos x="connsiteX1" y="connsiteY1"/>
                </a:cxn>
                <a:cxn ang="0">
                  <a:pos x="connsiteX2" y="connsiteY2"/>
                </a:cxn>
                <a:cxn ang="0">
                  <a:pos x="connsiteX3" y="connsiteY3"/>
                </a:cxn>
              </a:cxnLst>
              <a:rect l="l" t="t" r="r" b="b"/>
              <a:pathLst>
                <a:path w="2566670" h="360679">
                  <a:moveTo>
                    <a:pt x="0" y="0"/>
                  </a:moveTo>
                  <a:lnTo>
                    <a:pt x="2566670" y="0"/>
                  </a:lnTo>
                  <a:lnTo>
                    <a:pt x="2566670" y="360680"/>
                  </a:lnTo>
                  <a:lnTo>
                    <a:pt x="0" y="360680"/>
                  </a:lnTo>
                  <a:close/>
                </a:path>
              </a:pathLst>
            </a:custGeom>
            <a:solidFill>
              <a:srgbClr val="B7B6B2"/>
            </a:solidFill>
            <a:ln w="9575" cap="flat">
              <a:noFill/>
              <a:prstDash val="solid"/>
              <a:miter/>
            </a:ln>
          </p:spPr>
          <p:txBody>
            <a:bodyPr lIns="91440" tIns="45720" rIns="91440" bIns="45720" rtlCol="0" anchor="ctr"/>
            <a:lstStyle/>
            <a:p>
              <a:pPr algn="ctr"/>
              <a:r>
                <a:rPr lang="en-US" sz="1500" b="1">
                  <a:latin typeface="DengXian"/>
                  <a:ea typeface="DengXian"/>
                </a:rPr>
                <a:t>CCDRFS </a:t>
              </a:r>
            </a:p>
            <a:p>
              <a:pPr algn="ctr"/>
              <a:r>
                <a:rPr lang="en-US" sz="1500" b="1">
                  <a:latin typeface="DengXian"/>
                  <a:ea typeface="DengXian"/>
                </a:rPr>
                <a:t>(</a:t>
              </a:r>
              <a:r>
                <a:rPr lang="zh-CN" altLang="en-US" sz="1500" b="1">
                  <a:latin typeface="DengXian"/>
                  <a:ea typeface="DengXian"/>
                </a:rPr>
                <a:t>慢性病危险监测数据</a:t>
              </a:r>
              <a:r>
                <a:rPr lang="en-US" sz="1500" b="1">
                  <a:latin typeface="DengXian"/>
                  <a:ea typeface="DengXian"/>
                </a:rPr>
                <a:t>)</a:t>
              </a:r>
              <a:endParaRPr lang="en-US" altLang="zh-CN" sz="1500" b="1">
                <a:latin typeface="DengXian"/>
                <a:ea typeface="DengXian"/>
              </a:endParaRPr>
            </a:p>
          </p:txBody>
        </p:sp>
        <p:sp>
          <p:nvSpPr>
            <p:cNvPr id="6" name="任意形状 24">
              <a:extLst>
                <a:ext uri="{FF2B5EF4-FFF2-40B4-BE49-F238E27FC236}">
                  <a16:creationId xmlns:a16="http://schemas.microsoft.com/office/drawing/2014/main" id="{18E32A7D-BDE2-795F-4037-26DBC3186251}"/>
                </a:ext>
              </a:extLst>
            </p:cNvPr>
            <p:cNvSpPr/>
            <p:nvPr/>
          </p:nvSpPr>
          <p:spPr>
            <a:xfrm>
              <a:off x="-2511916" y="2071710"/>
              <a:ext cx="2571683" cy="1245821"/>
            </a:xfrm>
            <a:custGeom>
              <a:avLst/>
              <a:gdLst>
                <a:gd name="connsiteX0" fmla="*/ 0 w 2566670"/>
                <a:gd name="connsiteY0" fmla="*/ 0 h 1680210"/>
                <a:gd name="connsiteX1" fmla="*/ 2566670 w 2566670"/>
                <a:gd name="connsiteY1" fmla="*/ 0 h 1680210"/>
                <a:gd name="connsiteX2" fmla="*/ 2566670 w 2566670"/>
                <a:gd name="connsiteY2" fmla="*/ 1680210 h 1680210"/>
                <a:gd name="connsiteX3" fmla="*/ 0 w 2566670"/>
                <a:gd name="connsiteY3" fmla="*/ 1680210 h 1680210"/>
              </a:gdLst>
              <a:ahLst/>
              <a:cxnLst>
                <a:cxn ang="0">
                  <a:pos x="connsiteX0" y="connsiteY0"/>
                </a:cxn>
                <a:cxn ang="0">
                  <a:pos x="connsiteX1" y="connsiteY1"/>
                </a:cxn>
                <a:cxn ang="0">
                  <a:pos x="connsiteX2" y="connsiteY2"/>
                </a:cxn>
                <a:cxn ang="0">
                  <a:pos x="connsiteX3" y="connsiteY3"/>
                </a:cxn>
              </a:cxnLst>
              <a:rect l="l" t="t" r="r" b="b"/>
              <a:pathLst>
                <a:path w="2566670" h="1680210">
                  <a:moveTo>
                    <a:pt x="0" y="0"/>
                  </a:moveTo>
                  <a:lnTo>
                    <a:pt x="2566670" y="0"/>
                  </a:lnTo>
                  <a:lnTo>
                    <a:pt x="2566670" y="1680210"/>
                  </a:lnTo>
                  <a:lnTo>
                    <a:pt x="0" y="1680210"/>
                  </a:lnTo>
                  <a:close/>
                </a:path>
              </a:pathLst>
            </a:custGeom>
            <a:solidFill>
              <a:schemeClr val="bg1">
                <a:lumMod val="95000"/>
              </a:schemeClr>
            </a:solidFill>
            <a:ln w="20655" cap="flat">
              <a:noFill/>
              <a:prstDash val="solid"/>
              <a:miter/>
            </a:ln>
          </p:spPr>
          <p:txBody>
            <a:bodyPr lIns="91440" tIns="45720" rIns="91440" bIns="45720" rtlCol="0" anchor="ctr"/>
            <a:lstStyle/>
            <a:p>
              <a:endParaRPr lang="zh-CN" altLang="en-US">
                <a:latin typeface="Alibaba PuHuiTi" pitchFamily="18" charset="-122"/>
                <a:ea typeface="Alibaba PuHuiTi" pitchFamily="18" charset="-122"/>
                <a:cs typeface="Alibaba PuHuiTi" pitchFamily="18" charset="-122"/>
              </a:endParaRPr>
            </a:p>
          </p:txBody>
        </p:sp>
      </p:grpSp>
      <p:sp>
        <p:nvSpPr>
          <p:cNvPr id="7" name="文本框 50">
            <a:extLst>
              <a:ext uri="{FF2B5EF4-FFF2-40B4-BE49-F238E27FC236}">
                <a16:creationId xmlns:a16="http://schemas.microsoft.com/office/drawing/2014/main" id="{4C40A15C-48B1-9599-87B9-928C4A50B770}"/>
              </a:ext>
            </a:extLst>
          </p:cNvPr>
          <p:cNvSpPr txBox="1"/>
          <p:nvPr/>
        </p:nvSpPr>
        <p:spPr bwMode="gray">
          <a:xfrm>
            <a:off x="678550" y="4909382"/>
            <a:ext cx="4796902" cy="92333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buFont typeface="Arial"/>
              <a:buChar char="•"/>
            </a:pPr>
            <a:r>
              <a:rPr lang="en-US" sz="1200">
                <a:solidFill>
                  <a:srgbClr val="000000"/>
                </a:solidFill>
                <a:ea typeface="DengXian"/>
              </a:rPr>
              <a:t>National representativeness</a:t>
            </a:r>
            <a:r>
              <a:rPr sz="1200">
                <a:solidFill>
                  <a:srgbClr val="000000"/>
                </a:solidFill>
                <a:ea typeface="DengXian"/>
              </a:rPr>
              <a:t>​</a:t>
            </a:r>
            <a:r>
              <a:rPr lang="zh-CN" altLang="en-US" sz="1200">
                <a:solidFill>
                  <a:srgbClr val="000000"/>
                </a:solidFill>
                <a:ea typeface="DengXian"/>
              </a:rPr>
              <a:t> </a:t>
            </a:r>
            <a:r>
              <a:rPr lang="en-US" altLang="zh-CN" sz="1200">
                <a:solidFill>
                  <a:srgbClr val="000000"/>
                </a:solidFill>
                <a:ea typeface="DengXian"/>
              </a:rPr>
              <a:t>population-based survey</a:t>
            </a:r>
            <a:endParaRPr lang="zh-CN" altLang="en-US" sz="1200">
              <a:solidFill>
                <a:srgbClr val="000000"/>
              </a:solidFill>
              <a:ea typeface="DengXian"/>
            </a:endParaRPr>
          </a:p>
          <a:p>
            <a:pPr marL="285750" indent="-285750">
              <a:buFont typeface="Arial"/>
              <a:buChar char="•"/>
            </a:pPr>
            <a:r>
              <a:rPr lang="en-US" altLang="zh-CN" sz="1200">
                <a:solidFill>
                  <a:srgbClr val="000000"/>
                </a:solidFill>
                <a:ea typeface="DengXian"/>
              </a:rPr>
              <a:t>Focus on chronic disease incl. hypertension, diabetes, dyslipidemia, stroke, MI</a:t>
            </a:r>
          </a:p>
          <a:p>
            <a:pPr marL="285750" indent="-285750">
              <a:buFont typeface="Arial"/>
              <a:buChar char="•"/>
            </a:pPr>
            <a:r>
              <a:rPr lang="en-US" altLang="zh-CN" sz="1200">
                <a:solidFill>
                  <a:srgbClr val="000000"/>
                </a:solidFill>
                <a:ea typeface="DengXian"/>
              </a:rPr>
              <a:t>Include disease risk factors, diagnosis</a:t>
            </a:r>
          </a:p>
          <a:p>
            <a:pPr marL="285750" indent="-285750">
              <a:buFont typeface="Arial"/>
              <a:buChar char="•"/>
            </a:pPr>
            <a:r>
              <a:rPr lang="en-US" altLang="zh-CN" sz="1200">
                <a:solidFill>
                  <a:srgbClr val="000000"/>
                </a:solidFill>
                <a:ea typeface="DengXian"/>
              </a:rPr>
              <a:t>Year 2010, 2013, 2015, 2018, 2023</a:t>
            </a:r>
            <a:endParaRPr lang="zh-CN" altLang="en-US" sz="1200">
              <a:solidFill>
                <a:srgbClr val="000000"/>
              </a:solidFill>
              <a:ea typeface="DengXian"/>
            </a:endParaRPr>
          </a:p>
        </p:txBody>
      </p:sp>
    </p:spTree>
    <p:extLst>
      <p:ext uri="{BB962C8B-B14F-4D97-AF65-F5344CB8AC3E}">
        <p14:creationId xmlns:p14="http://schemas.microsoft.com/office/powerpoint/2010/main" val="1336178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27593-8280-107C-641D-AEBF41CA9C71}"/>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26F2D556-75BD-B0B2-64AE-03526E33B00A}"/>
              </a:ext>
            </a:extLst>
          </p:cNvPr>
          <p:cNvSpPr txBox="1">
            <a:spLocks/>
          </p:cNvSpPr>
          <p:nvPr/>
        </p:nvSpPr>
        <p:spPr bwMode="gray">
          <a:xfrm>
            <a:off x="262058" y="259175"/>
            <a:ext cx="11233151" cy="72000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a:t>Study Design and Outcomes</a:t>
            </a:r>
          </a:p>
        </p:txBody>
      </p:sp>
      <p:sp>
        <p:nvSpPr>
          <p:cNvPr id="31" name="文本框 13">
            <a:extLst>
              <a:ext uri="{FF2B5EF4-FFF2-40B4-BE49-F238E27FC236}">
                <a16:creationId xmlns:a16="http://schemas.microsoft.com/office/drawing/2014/main" id="{FBCA9804-9B50-69CD-FCFC-08B54F8705D8}"/>
              </a:ext>
            </a:extLst>
          </p:cNvPr>
          <p:cNvSpPr txBox="1"/>
          <p:nvPr/>
        </p:nvSpPr>
        <p:spPr>
          <a:xfrm>
            <a:off x="1640003" y="6498305"/>
            <a:ext cx="9989683" cy="153888"/>
          </a:xfrm>
          <a:prstGeom prst="rect">
            <a:avLst/>
          </a:prstGeom>
          <a:noFill/>
        </p:spPr>
        <p:txBody>
          <a:bodyPr wrap="square" lIns="0" tIns="0" rIns="0" bIns="0" rtlCol="0" anchor="t">
            <a:spAutoFit/>
          </a:bodyPr>
          <a:lstStyle/>
          <a:p>
            <a:r>
              <a:rPr lang="en-US" sz="1000"/>
              <a:t>HHF: </a:t>
            </a:r>
            <a:r>
              <a:rPr lang="en-US" sz="1000" err="1"/>
              <a:t>hospitalisation</a:t>
            </a:r>
            <a:r>
              <a:rPr lang="en-US" sz="1000"/>
              <a:t> for heart failure; EHR: electronic health records;</a:t>
            </a:r>
          </a:p>
        </p:txBody>
      </p:sp>
      <p:graphicFrame>
        <p:nvGraphicFramePr>
          <p:cNvPr id="75" name="Table 74">
            <a:extLst>
              <a:ext uri="{FF2B5EF4-FFF2-40B4-BE49-F238E27FC236}">
                <a16:creationId xmlns:a16="http://schemas.microsoft.com/office/drawing/2014/main" id="{6D340214-80B5-DC67-612B-DFDA39F28B6E}"/>
              </a:ext>
            </a:extLst>
          </p:cNvPr>
          <p:cNvGraphicFramePr>
            <a:graphicFrameLocks noGrp="1"/>
          </p:cNvGraphicFramePr>
          <p:nvPr/>
        </p:nvGraphicFramePr>
        <p:xfrm>
          <a:off x="262058" y="1762242"/>
          <a:ext cx="11502783" cy="1549616"/>
        </p:xfrm>
        <a:graphic>
          <a:graphicData uri="http://schemas.openxmlformats.org/drawingml/2006/table">
            <a:tbl>
              <a:tblPr firstRow="1" firstCol="1">
                <a:tableStyleId>{B301B821-A1FF-4177-AEE7-76D212191A09}</a:tableStyleId>
              </a:tblPr>
              <a:tblGrid>
                <a:gridCol w="1851837">
                  <a:extLst>
                    <a:ext uri="{9D8B030D-6E8A-4147-A177-3AD203B41FA5}">
                      <a16:colId xmlns:a16="http://schemas.microsoft.com/office/drawing/2014/main" val="1610005820"/>
                    </a:ext>
                  </a:extLst>
                </a:gridCol>
                <a:gridCol w="2653723">
                  <a:extLst>
                    <a:ext uri="{9D8B030D-6E8A-4147-A177-3AD203B41FA5}">
                      <a16:colId xmlns:a16="http://schemas.microsoft.com/office/drawing/2014/main" val="3184976697"/>
                    </a:ext>
                  </a:extLst>
                </a:gridCol>
                <a:gridCol w="6997223">
                  <a:extLst>
                    <a:ext uri="{9D8B030D-6E8A-4147-A177-3AD203B41FA5}">
                      <a16:colId xmlns:a16="http://schemas.microsoft.com/office/drawing/2014/main" val="994899143"/>
                    </a:ext>
                  </a:extLst>
                </a:gridCol>
              </a:tblGrid>
              <a:tr h="246989">
                <a:tc>
                  <a:txBody>
                    <a:bodyPr/>
                    <a:lstStyle/>
                    <a:p>
                      <a:pPr algn="l" fontAlgn="ctr">
                        <a:buNone/>
                      </a:pPr>
                      <a:endParaRPr lang="en-US" sz="1200" b="0" i="0" u="none" strike="noStrike">
                        <a:solidFill>
                          <a:srgbClr val="000000"/>
                        </a:solidFill>
                        <a:effectLst/>
                        <a:latin typeface="Aptos Narrow" panose="020B0004020202020204" pitchFamily="34" charset="0"/>
                      </a:endParaRPr>
                    </a:p>
                  </a:txBody>
                  <a:tcPr marL="108000" marR="9525" marT="9525" marB="0" anchor="ctr">
                    <a:solidFill>
                      <a:schemeClr val="accent1">
                        <a:lumMod val="75000"/>
                        <a:lumOff val="25000"/>
                      </a:schemeClr>
                    </a:solidFill>
                  </a:tcPr>
                </a:tc>
                <a:tc>
                  <a:txBody>
                    <a:bodyPr/>
                    <a:lstStyle/>
                    <a:p>
                      <a:pPr algn="l" fontAlgn="ctr">
                        <a:buNone/>
                      </a:pPr>
                      <a:r>
                        <a:rPr lang="en-US" altLang="zh-CN" sz="1200" b="1" u="none" strike="noStrike" kern="1200">
                          <a:solidFill>
                            <a:schemeClr val="lt1"/>
                          </a:solidFill>
                          <a:effectLst/>
                          <a:latin typeface="+mn-lt"/>
                          <a:ea typeface="+mn-ea"/>
                          <a:cs typeface="+mn-cs"/>
                        </a:rPr>
                        <a:t>Study design</a:t>
                      </a:r>
                      <a:endParaRPr lang="en-US" sz="1200" b="1" u="none" strike="noStrike" kern="1200">
                        <a:solidFill>
                          <a:schemeClr val="lt1"/>
                        </a:solidFill>
                        <a:effectLst/>
                        <a:latin typeface="+mn-lt"/>
                        <a:ea typeface="+mn-ea"/>
                        <a:cs typeface="+mn-cs"/>
                      </a:endParaRPr>
                    </a:p>
                  </a:txBody>
                  <a:tcPr marL="108000" marR="9525" marT="9525" marB="0" anchor="ctr">
                    <a:solidFill>
                      <a:schemeClr val="accent1">
                        <a:lumMod val="75000"/>
                        <a:lumOff val="25000"/>
                      </a:schemeClr>
                    </a:solidFill>
                  </a:tcPr>
                </a:tc>
                <a:tc>
                  <a:txBody>
                    <a:bodyPr/>
                    <a:lstStyle/>
                    <a:p>
                      <a:pPr algn="l" fontAlgn="ctr">
                        <a:buNone/>
                      </a:pPr>
                      <a:r>
                        <a:rPr lang="en-US" sz="1200" u="none" strike="noStrike">
                          <a:effectLst/>
                        </a:rPr>
                        <a:t>Outcomes</a:t>
                      </a:r>
                      <a:endParaRPr lang="en-US" sz="1200" b="0" i="0" u="none" strike="noStrike">
                        <a:solidFill>
                          <a:srgbClr val="000000"/>
                        </a:solidFill>
                        <a:effectLst/>
                        <a:latin typeface="Aptos Narrow" panose="020B0004020202020204" pitchFamily="34" charset="0"/>
                      </a:endParaRPr>
                    </a:p>
                  </a:txBody>
                  <a:tcPr marL="108000" marR="9525" marT="9525" marB="0" anchor="ctr">
                    <a:solidFill>
                      <a:schemeClr val="accent1">
                        <a:lumMod val="75000"/>
                        <a:lumOff val="25000"/>
                      </a:schemeClr>
                    </a:solidFill>
                  </a:tcPr>
                </a:tc>
                <a:extLst>
                  <a:ext uri="{0D108BD9-81ED-4DB2-BD59-A6C34878D82A}">
                    <a16:rowId xmlns:a16="http://schemas.microsoft.com/office/drawing/2014/main" val="365647698"/>
                  </a:ext>
                </a:extLst>
              </a:tr>
              <a:tr h="1302627">
                <a:tc>
                  <a:txBody>
                    <a:bodyPr/>
                    <a:lstStyle/>
                    <a:p>
                      <a:pPr algn="l" fontAlgn="ctr">
                        <a:buNone/>
                      </a:pPr>
                      <a:r>
                        <a:rPr lang="en-US" sz="1200" u="none" strike="noStrike">
                          <a:effectLst/>
                        </a:rPr>
                        <a:t>Clinical outcomes</a:t>
                      </a:r>
                    </a:p>
                  </a:txBody>
                  <a:tcPr marL="108000"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Aptos Narrow" panose="020B0004020202020204" pitchFamily="34" charset="0"/>
                        </a:rPr>
                        <a:t>Cohort</a:t>
                      </a:r>
                    </a:p>
                  </a:txBody>
                  <a:tcPr marL="108000" marR="9525" marT="9525" marB="0" anchor="ctr">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1400" b="1" i="0" u="none" strike="noStrike" kern="1200">
                          <a:solidFill>
                            <a:srgbClr val="000000"/>
                          </a:solidFill>
                          <a:effectLst/>
                          <a:latin typeface="Aptos Narrow" panose="020B0004020202020204" pitchFamily="34" charset="0"/>
                          <a:ea typeface="+mn-ea"/>
                          <a:cs typeface="+mn-cs"/>
                        </a:rPr>
                        <a:t>Incidence</a:t>
                      </a:r>
                      <a:r>
                        <a:rPr lang="en-US" sz="1400" b="1" i="0" u="none" strike="noStrike" kern="1200">
                          <a:solidFill>
                            <a:srgbClr val="000000"/>
                          </a:solidFill>
                          <a:effectLst/>
                          <a:latin typeface="Aptos Narrow" panose="020B0004020202020204" pitchFamily="34" charset="0"/>
                          <a:ea typeface="+mn-ea"/>
                          <a:cs typeface="+mn-cs"/>
                        </a:rPr>
                        <a:t> &amp; Occurrences:</a:t>
                      </a:r>
                    </a:p>
                    <a:p>
                      <a:pPr marL="285750" indent="-285750" algn="l" fontAlgn="ctr">
                        <a:buFont typeface="Arial" panose="020B0604020202020204"/>
                        <a:buChar char="•"/>
                      </a:pPr>
                      <a:r>
                        <a:rPr lang="en-US" sz="1400" b="0" i="0" u="none" strike="noStrike" kern="1200">
                          <a:solidFill>
                            <a:srgbClr val="000000"/>
                          </a:solidFill>
                          <a:effectLst/>
                          <a:latin typeface="Aptos Narrow" panose="020B0004020202020204" pitchFamily="34" charset="0"/>
                          <a:ea typeface="+mn-ea"/>
                          <a:cs typeface="+mn-cs"/>
                        </a:rPr>
                        <a:t>Incidence of CV death, HHF or urgent HF visit</a:t>
                      </a:r>
                    </a:p>
                    <a:p>
                      <a:pPr marL="285750" indent="-285750" algn="l" fontAlgn="ctr">
                        <a:buFont typeface="Arial" panose="020B0604020202020204"/>
                        <a:buChar char="•"/>
                      </a:pPr>
                      <a:r>
                        <a:rPr lang="en-US" altLang="zh-CN" sz="1400" b="0" i="0" u="none" strike="noStrike" kern="1200">
                          <a:solidFill>
                            <a:srgbClr val="000000"/>
                          </a:solidFill>
                          <a:effectLst/>
                          <a:latin typeface="Aptos Narrow" panose="020B0004020202020204" pitchFamily="34" charset="0"/>
                          <a:ea typeface="+mn-ea"/>
                          <a:cs typeface="+mn-cs"/>
                        </a:rPr>
                        <a:t>Incidence </a:t>
                      </a:r>
                      <a:r>
                        <a:rPr lang="en-US" sz="1400" b="0" i="0" u="none" strike="noStrike" kern="1200">
                          <a:solidFill>
                            <a:srgbClr val="000000"/>
                          </a:solidFill>
                          <a:effectLst/>
                          <a:latin typeface="Aptos Narrow" panose="020B0004020202020204" pitchFamily="34" charset="0"/>
                          <a:ea typeface="+mn-ea"/>
                          <a:cs typeface="+mn-cs"/>
                        </a:rPr>
                        <a:t>of CV death or HHF</a:t>
                      </a:r>
                    </a:p>
                    <a:p>
                      <a:pPr marL="285750" indent="-285750" algn="l" fontAlgn="ctr">
                        <a:buFont typeface="Arial" panose="020B0604020202020204"/>
                        <a:buChar char="•"/>
                      </a:pPr>
                      <a:r>
                        <a:rPr lang="en-US" altLang="zh-CN" sz="1400" b="0" i="0" u="none" strike="noStrike" kern="1200">
                          <a:solidFill>
                            <a:srgbClr val="000000"/>
                          </a:solidFill>
                          <a:effectLst/>
                          <a:latin typeface="Aptos Narrow" panose="020B0004020202020204" pitchFamily="34" charset="0"/>
                          <a:ea typeface="+mn-ea"/>
                          <a:cs typeface="+mn-cs"/>
                        </a:rPr>
                        <a:t>Incidence </a:t>
                      </a:r>
                      <a:r>
                        <a:rPr lang="en-US" sz="1400" b="0" i="0" u="none" strike="noStrike" kern="1200">
                          <a:solidFill>
                            <a:srgbClr val="000000"/>
                          </a:solidFill>
                          <a:effectLst/>
                          <a:latin typeface="Aptos Narrow" panose="020B0004020202020204" pitchFamily="34" charset="0"/>
                          <a:ea typeface="+mn-ea"/>
                          <a:cs typeface="+mn-cs"/>
                        </a:rPr>
                        <a:t>of CV death, HHF, non-fatal MI or non-fatal stroke </a:t>
                      </a:r>
                    </a:p>
                    <a:p>
                      <a:pPr marL="285750" indent="-285750" algn="l" fontAlgn="ctr">
                        <a:buFont typeface="Arial" panose="020B0604020202020204"/>
                        <a:buChar char="•"/>
                      </a:pPr>
                      <a:r>
                        <a:rPr lang="en-US" sz="1400" b="0" i="0" u="none" strike="noStrike" kern="1200">
                          <a:solidFill>
                            <a:srgbClr val="000000"/>
                          </a:solidFill>
                          <a:effectLst/>
                          <a:latin typeface="Aptos Narrow" panose="020B0004020202020204" pitchFamily="34" charset="0"/>
                          <a:ea typeface="+mn-ea"/>
                          <a:cs typeface="+mn-cs"/>
                        </a:rPr>
                        <a:t>Occurrences of all-cause hospitalizations</a:t>
                      </a:r>
                    </a:p>
                  </a:txBody>
                  <a:tcPr marL="108000" marR="9525" marT="9525" marB="0" anchor="ctr">
                    <a:solidFill>
                      <a:schemeClr val="bg1"/>
                    </a:solidFill>
                  </a:tcPr>
                </a:tc>
                <a:extLst>
                  <a:ext uri="{0D108BD9-81ED-4DB2-BD59-A6C34878D82A}">
                    <a16:rowId xmlns:a16="http://schemas.microsoft.com/office/drawing/2014/main" val="1477195908"/>
                  </a:ext>
                </a:extLst>
              </a:tr>
            </a:tbl>
          </a:graphicData>
        </a:graphic>
      </p:graphicFrame>
      <p:sp>
        <p:nvSpPr>
          <p:cNvPr id="4" name="TextBox 3">
            <a:extLst>
              <a:ext uri="{FF2B5EF4-FFF2-40B4-BE49-F238E27FC236}">
                <a16:creationId xmlns:a16="http://schemas.microsoft.com/office/drawing/2014/main" id="{CABCE22E-955B-6534-F0EC-50F65A4ADFB6}"/>
              </a:ext>
            </a:extLst>
          </p:cNvPr>
          <p:cNvSpPr txBox="1"/>
          <p:nvPr/>
        </p:nvSpPr>
        <p:spPr bwMode="gray">
          <a:xfrm>
            <a:off x="189270" y="1234858"/>
            <a:ext cx="6179574" cy="369332"/>
          </a:xfrm>
          <a:prstGeom prst="rect">
            <a:avLst/>
          </a:prstGeom>
          <a:noFill/>
        </p:spPr>
        <p:txBody>
          <a:bodyPr wrap="square">
            <a:spAutoFit/>
          </a:bodyPr>
          <a:lstStyle/>
          <a:p>
            <a:pPr algn="l" fontAlgn="ctr">
              <a:buNone/>
            </a:pPr>
            <a:r>
              <a:rPr lang="en-US" altLang="zh-CN" b="1" u="none" strike="noStrike">
                <a:effectLst/>
              </a:rPr>
              <a:t>Primary Objectives</a:t>
            </a:r>
            <a:endParaRPr lang="en-US" altLang="zh-CN" b="1" i="0" u="none" strike="noStrike">
              <a:solidFill>
                <a:srgbClr val="000000"/>
              </a:solidFill>
              <a:effectLst/>
              <a:latin typeface="Aptos Narrow" panose="020B0004020202020204" pitchFamily="34" charset="0"/>
            </a:endParaRPr>
          </a:p>
        </p:txBody>
      </p:sp>
      <p:grpSp>
        <p:nvGrpSpPr>
          <p:cNvPr id="29" name="Group 28">
            <a:extLst>
              <a:ext uri="{FF2B5EF4-FFF2-40B4-BE49-F238E27FC236}">
                <a16:creationId xmlns:a16="http://schemas.microsoft.com/office/drawing/2014/main" id="{7206A51D-88D7-51C6-34E4-4119DFDB8E6E}"/>
              </a:ext>
            </a:extLst>
          </p:cNvPr>
          <p:cNvGrpSpPr/>
          <p:nvPr/>
        </p:nvGrpSpPr>
        <p:grpSpPr>
          <a:xfrm>
            <a:off x="1093073" y="3589626"/>
            <a:ext cx="10317707" cy="2033516"/>
            <a:chOff x="373039" y="3512024"/>
            <a:chExt cx="10317707" cy="2033516"/>
          </a:xfrm>
        </p:grpSpPr>
        <p:sp>
          <p:nvSpPr>
            <p:cNvPr id="22" name="Rectangle: Rounded Corners 21">
              <a:extLst>
                <a:ext uri="{FF2B5EF4-FFF2-40B4-BE49-F238E27FC236}">
                  <a16:creationId xmlns:a16="http://schemas.microsoft.com/office/drawing/2014/main" id="{CB6E837E-DA3A-7278-9390-5AAB1C36B445}"/>
                </a:ext>
              </a:extLst>
            </p:cNvPr>
            <p:cNvSpPr/>
            <p:nvPr/>
          </p:nvSpPr>
          <p:spPr bwMode="gray">
            <a:xfrm>
              <a:off x="373039" y="3512024"/>
              <a:ext cx="10317707" cy="2033516"/>
            </a:xfrm>
            <a:prstGeom prst="roundRect">
              <a:avLst>
                <a:gd name="adj" fmla="val 2349"/>
              </a:avLst>
            </a:prstGeom>
            <a:solidFill>
              <a:schemeClr val="accent4">
                <a:lumMod val="20000"/>
                <a:lumOff val="8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grpSp>
          <p:nvGrpSpPr>
            <p:cNvPr id="21" name="Group 20">
              <a:extLst>
                <a:ext uri="{FF2B5EF4-FFF2-40B4-BE49-F238E27FC236}">
                  <a16:creationId xmlns:a16="http://schemas.microsoft.com/office/drawing/2014/main" id="{693F4A58-3746-414E-5CAA-9F91F4543AD3}"/>
                </a:ext>
              </a:extLst>
            </p:cNvPr>
            <p:cNvGrpSpPr/>
            <p:nvPr/>
          </p:nvGrpSpPr>
          <p:grpSpPr>
            <a:xfrm>
              <a:off x="1640003" y="3654101"/>
              <a:ext cx="8690650" cy="1637394"/>
              <a:chOff x="1640003" y="3654101"/>
              <a:chExt cx="8690650" cy="1637394"/>
            </a:xfrm>
          </p:grpSpPr>
          <p:sp>
            <p:nvSpPr>
              <p:cNvPr id="3" name="箭头: 右 7">
                <a:extLst>
                  <a:ext uri="{FF2B5EF4-FFF2-40B4-BE49-F238E27FC236}">
                    <a16:creationId xmlns:a16="http://schemas.microsoft.com/office/drawing/2014/main" id="{51A83331-71B6-D4FD-7412-00511ED910F3}"/>
                  </a:ext>
                </a:extLst>
              </p:cNvPr>
              <p:cNvSpPr/>
              <p:nvPr/>
            </p:nvSpPr>
            <p:spPr>
              <a:xfrm>
                <a:off x="1640003" y="4165622"/>
                <a:ext cx="8278531" cy="307778"/>
              </a:xfrm>
              <a:prstGeom prst="rightArrow">
                <a:avLst/>
              </a:prstGeom>
              <a:solidFill>
                <a:schemeClr val="accent1">
                  <a:lumMod val="90000"/>
                  <a:lumOff val="10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err="1">
                  <a:ln>
                    <a:noFill/>
                  </a:ln>
                  <a:solidFill>
                    <a:prstClr val="black"/>
                  </a:solidFill>
                  <a:effectLst/>
                  <a:uLnTx/>
                  <a:uFillTx/>
                  <a:latin typeface="Boehringer Forward Text"/>
                  <a:ea typeface="+mn-ea"/>
                  <a:cs typeface="+mn-cs"/>
                </a:endParaRPr>
              </a:p>
            </p:txBody>
          </p:sp>
          <p:sp>
            <p:nvSpPr>
              <p:cNvPr id="6" name="左大括号 6">
                <a:extLst>
                  <a:ext uri="{FF2B5EF4-FFF2-40B4-BE49-F238E27FC236}">
                    <a16:creationId xmlns:a16="http://schemas.microsoft.com/office/drawing/2014/main" id="{37514728-7F74-91FF-78E1-F19023115723}"/>
                  </a:ext>
                </a:extLst>
              </p:cNvPr>
              <p:cNvSpPr/>
              <p:nvPr/>
            </p:nvSpPr>
            <p:spPr>
              <a:xfrm rot="16200000">
                <a:off x="4621165" y="1643312"/>
                <a:ext cx="255046" cy="6139717"/>
              </a:xfrm>
              <a:prstGeom prst="lef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 name="文本框 11">
                <a:extLst>
                  <a:ext uri="{FF2B5EF4-FFF2-40B4-BE49-F238E27FC236}">
                    <a16:creationId xmlns:a16="http://schemas.microsoft.com/office/drawing/2014/main" id="{0CD7557B-B856-23BB-CFFB-966DF5A9FE39}"/>
                  </a:ext>
                </a:extLst>
              </p:cNvPr>
              <p:cNvSpPr txBox="1"/>
              <p:nvPr/>
            </p:nvSpPr>
            <p:spPr>
              <a:xfrm>
                <a:off x="3910221" y="4952941"/>
                <a:ext cx="1994137" cy="33855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i="0" u="none" strike="noStrike" kern="1200" cap="none" spc="0" normalizeH="0" baseline="0" noProof="0">
                    <a:ln>
                      <a:noFill/>
                    </a:ln>
                    <a:solidFill>
                      <a:prstClr val="black"/>
                    </a:solidFill>
                    <a:effectLst/>
                    <a:uLnTx/>
                    <a:uFillTx/>
                    <a:latin typeface="Boehringer Forward Text"/>
                    <a:ea typeface="+mn-ea"/>
                    <a:cs typeface="+mn-cs"/>
                  </a:rPr>
                  <a:t>Cohort identification period:</a:t>
                </a:r>
              </a:p>
              <a:p>
                <a:pPr lvl="0" algn="ctr">
                  <a:defRPr/>
                </a:pPr>
                <a:r>
                  <a:rPr lang="en-US" altLang="zh-CN" sz="1100"/>
                  <a:t>Jan 1</a:t>
                </a:r>
                <a:r>
                  <a:rPr lang="en-US" altLang="zh-CN" sz="1100" baseline="30000"/>
                  <a:t>st</a:t>
                </a:r>
                <a:r>
                  <a:rPr lang="en-US" altLang="zh-CN" sz="1100"/>
                  <a:t> , 2019 </a:t>
                </a:r>
                <a:r>
                  <a:rPr kumimoji="0" lang="en-US" altLang="zh-CN" sz="1100" i="0" u="none" strike="noStrike" kern="1200" cap="none" spc="0" normalizeH="0" baseline="0" noProof="0">
                    <a:ln>
                      <a:noFill/>
                    </a:ln>
                    <a:effectLst/>
                    <a:uLnTx/>
                    <a:uFillTx/>
                    <a:latin typeface="Boehringer Forward Text"/>
                    <a:ea typeface="+mn-ea"/>
                    <a:cs typeface="+mn-cs"/>
                  </a:rPr>
                  <a:t>- Dec 31</a:t>
                </a:r>
                <a:r>
                  <a:rPr lang="en-US" altLang="zh-CN" sz="1100" baseline="30000" err="1"/>
                  <a:t>th</a:t>
                </a:r>
                <a:r>
                  <a:rPr lang="en-US" altLang="zh-CN" sz="1100">
                    <a:latin typeface="Boehringer Forward Text"/>
                  </a:rPr>
                  <a:t>,</a:t>
                </a:r>
                <a:r>
                  <a:rPr kumimoji="0" lang="en-US" altLang="zh-CN" sz="1100" i="0" u="none" strike="noStrike" kern="1200" cap="none" spc="0" normalizeH="0" baseline="0" noProof="0">
                    <a:ln>
                      <a:noFill/>
                    </a:ln>
                    <a:effectLst/>
                    <a:uLnTx/>
                    <a:uFillTx/>
                    <a:latin typeface="Boehringer Forward Text"/>
                    <a:ea typeface="+mn-ea"/>
                    <a:cs typeface="+mn-cs"/>
                  </a:rPr>
                  <a:t> 2024</a:t>
                </a:r>
                <a:endParaRPr kumimoji="0" lang="zh-CN" altLang="en-US" sz="1100" i="0" u="none" strike="noStrike" kern="1200" cap="none" spc="0" normalizeH="0" baseline="0" noProof="0">
                  <a:ln>
                    <a:noFill/>
                  </a:ln>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AB3407F3-97E4-8086-8C2A-4AB0EFFE422C}"/>
                  </a:ext>
                </a:extLst>
              </p:cNvPr>
              <p:cNvSpPr txBox="1"/>
              <p:nvPr/>
            </p:nvSpPr>
            <p:spPr bwMode="gray">
              <a:xfrm>
                <a:off x="2093313" y="3654101"/>
                <a:ext cx="5310749" cy="169277"/>
              </a:xfrm>
              <a:prstGeom prst="rect">
                <a:avLst/>
              </a:prstGeom>
              <a:noFill/>
            </p:spPr>
            <p:txBody>
              <a:bodyPr wrap="non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latin typeface="Boehringer Forward Text"/>
                  </a:defRPr>
                </a:lvl1pPr>
              </a:lstStyle>
              <a:p>
                <a:r>
                  <a:rPr lang="en-US" altLang="zh-CN"/>
                  <a:t>Index date:  the earliest date diagnose as HTN, T2D and established CVD (w/o HF)</a:t>
                </a:r>
                <a:endParaRPr lang="zh-CN" altLang="en-US"/>
              </a:p>
            </p:txBody>
          </p:sp>
          <p:cxnSp>
            <p:nvCxnSpPr>
              <p:cNvPr id="13" name="直接连接符 8">
                <a:extLst>
                  <a:ext uri="{FF2B5EF4-FFF2-40B4-BE49-F238E27FC236}">
                    <a16:creationId xmlns:a16="http://schemas.microsoft.com/office/drawing/2014/main" id="{A5462E65-80A6-5F3D-A23F-F00E6886A1ED}"/>
                  </a:ext>
                </a:extLst>
              </p:cNvPr>
              <p:cNvCxnSpPr>
                <a:cxnSpLocks/>
              </p:cNvCxnSpPr>
              <p:nvPr/>
            </p:nvCxnSpPr>
            <p:spPr>
              <a:xfrm>
                <a:off x="3860819" y="3889612"/>
                <a:ext cx="0" cy="823558"/>
              </a:xfrm>
              <a:prstGeom prst="line">
                <a:avLst/>
              </a:prstGeom>
              <a:ln w="28575">
                <a:prstDash val="sysDot"/>
              </a:ln>
            </p:spPr>
            <p:style>
              <a:lnRef idx="3">
                <a:schemeClr val="accent2"/>
              </a:lnRef>
              <a:fillRef idx="0">
                <a:schemeClr val="accent2"/>
              </a:fillRef>
              <a:effectRef idx="2">
                <a:schemeClr val="accent2"/>
              </a:effectRef>
              <a:fontRef idx="minor">
                <a:schemeClr val="tx1"/>
              </a:fontRef>
            </p:style>
          </p:cxnSp>
          <p:cxnSp>
            <p:nvCxnSpPr>
              <p:cNvPr id="18" name="Straight Arrow Connector 17">
                <a:extLst>
                  <a:ext uri="{FF2B5EF4-FFF2-40B4-BE49-F238E27FC236}">
                    <a16:creationId xmlns:a16="http://schemas.microsoft.com/office/drawing/2014/main" id="{D4BFA889-7000-8C22-20BF-A8032F01D7A0}"/>
                  </a:ext>
                </a:extLst>
              </p:cNvPr>
              <p:cNvCxnSpPr/>
              <p:nvPr/>
            </p:nvCxnSpPr>
            <p:spPr bwMode="gray">
              <a:xfrm>
                <a:off x="3860819" y="4030639"/>
                <a:ext cx="6057715"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E4A51FE-5579-853A-AA7A-9AFBB1B56499}"/>
                  </a:ext>
                </a:extLst>
              </p:cNvPr>
              <p:cNvSpPr txBox="1"/>
              <p:nvPr/>
            </p:nvSpPr>
            <p:spPr bwMode="gray">
              <a:xfrm>
                <a:off x="6440698" y="3942979"/>
                <a:ext cx="684482" cy="169277"/>
              </a:xfrm>
              <a:prstGeom prst="rect">
                <a:avLst/>
              </a:prstGeom>
              <a:noFill/>
            </p:spPr>
            <p:txBody>
              <a:bodyPr wrap="non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latin typeface="Boehringer Forward Text"/>
                  </a:defRPr>
                </a:lvl1pPr>
              </a:lstStyle>
              <a:p>
                <a:r>
                  <a:rPr lang="en-US" altLang="zh-CN"/>
                  <a:t>Follow-up </a:t>
                </a:r>
                <a:endParaRPr lang="zh-CN" altLang="en-US"/>
              </a:p>
            </p:txBody>
          </p:sp>
          <p:sp>
            <p:nvSpPr>
              <p:cNvPr id="20" name="文本框 11">
                <a:extLst>
                  <a:ext uri="{FF2B5EF4-FFF2-40B4-BE49-F238E27FC236}">
                    <a16:creationId xmlns:a16="http://schemas.microsoft.com/office/drawing/2014/main" id="{ECC9AE26-6FB6-9B91-4399-7F70C2B1A1CF}"/>
                  </a:ext>
                </a:extLst>
              </p:cNvPr>
              <p:cNvSpPr txBox="1"/>
              <p:nvPr/>
            </p:nvSpPr>
            <p:spPr>
              <a:xfrm>
                <a:off x="9360836" y="3746185"/>
                <a:ext cx="969817" cy="169277"/>
              </a:xfrm>
              <a:prstGeom prst="rect">
                <a:avLst/>
              </a:prstGeom>
              <a:noFill/>
            </p:spPr>
            <p:txBody>
              <a:bodyPr wrap="none" lIns="0" tIns="0" rIns="0" bIns="0" rtlCol="0">
                <a:spAutoFit/>
              </a:bodyPr>
              <a:lstStyle/>
              <a:p>
                <a:pPr lvl="0" algn="ctr">
                  <a:defRPr/>
                </a:pPr>
                <a:r>
                  <a:rPr kumimoji="0" lang="en-US" altLang="zh-CN" sz="1100" i="0" u="none" strike="noStrike" kern="1200" cap="none" spc="0" normalizeH="0" baseline="0" noProof="0">
                    <a:ln>
                      <a:noFill/>
                    </a:ln>
                    <a:effectLst/>
                    <a:uLnTx/>
                    <a:uFillTx/>
                    <a:latin typeface="Boehringer Forward Text"/>
                    <a:ea typeface="+mn-ea"/>
                    <a:cs typeface="+mn-cs"/>
                  </a:rPr>
                  <a:t>Dec 31</a:t>
                </a:r>
                <a:r>
                  <a:rPr lang="en-US" altLang="zh-CN" sz="1100" baseline="30000" err="1"/>
                  <a:t>th</a:t>
                </a:r>
                <a:r>
                  <a:rPr lang="en-US" altLang="zh-CN" sz="1100">
                    <a:latin typeface="Boehringer Forward Text"/>
                  </a:rPr>
                  <a:t>,</a:t>
                </a:r>
                <a:r>
                  <a:rPr kumimoji="0" lang="en-US" altLang="zh-CN" sz="1100" i="0" u="none" strike="noStrike" kern="1200" cap="none" spc="0" normalizeH="0" baseline="0" noProof="0">
                    <a:ln>
                      <a:noFill/>
                    </a:ln>
                    <a:effectLst/>
                    <a:uLnTx/>
                    <a:uFillTx/>
                    <a:latin typeface="Boehringer Forward Text"/>
                    <a:ea typeface="+mn-ea"/>
                    <a:cs typeface="+mn-cs"/>
                  </a:rPr>
                  <a:t> 2027</a:t>
                </a:r>
                <a:endParaRPr kumimoji="0" lang="zh-CN" altLang="en-US" sz="1100" i="0" u="none" strike="noStrike" kern="1200" cap="none" spc="0" normalizeH="0" baseline="0" noProof="0">
                  <a:ln>
                    <a:noFill/>
                  </a:ln>
                  <a:effectLst/>
                  <a:uLnTx/>
                  <a:uFillTx/>
                  <a:latin typeface="Boehringer Forward Text"/>
                  <a:ea typeface="+mn-ea"/>
                  <a:cs typeface="+mn-cs"/>
                </a:endParaRPr>
              </a:p>
            </p:txBody>
          </p:sp>
        </p:grpSp>
        <p:sp>
          <p:nvSpPr>
            <p:cNvPr id="25" name="TextBox 24">
              <a:extLst>
                <a:ext uri="{FF2B5EF4-FFF2-40B4-BE49-F238E27FC236}">
                  <a16:creationId xmlns:a16="http://schemas.microsoft.com/office/drawing/2014/main" id="{13FA4611-F6DC-CE3F-5E3A-5922DC419E2D}"/>
                </a:ext>
              </a:extLst>
            </p:cNvPr>
            <p:cNvSpPr txBox="1"/>
            <p:nvPr/>
          </p:nvSpPr>
          <p:spPr bwMode="gray">
            <a:xfrm>
              <a:off x="441750" y="3835372"/>
              <a:ext cx="1198252" cy="1163524"/>
            </a:xfrm>
            <a:prstGeom prst="rect">
              <a:avLst/>
            </a:prstGeom>
            <a:noFill/>
          </p:spPr>
          <p:txBody>
            <a:bodyPr wrap="square" lIns="0" tIns="0" rIns="0" bIns="0" rtlCol="0">
              <a:spAutoFit/>
            </a:bodyPr>
            <a:lstStyle/>
            <a:p>
              <a:pPr>
                <a:lnSpc>
                  <a:spcPct val="140000"/>
                </a:lnSpc>
              </a:pPr>
              <a:r>
                <a:rPr lang="en-US" altLang="zh-CN" sz="1100" b="1" u="sng"/>
                <a:t>Inclusion Criteria:</a:t>
              </a:r>
              <a:r>
                <a:rPr lang="en-US" altLang="zh-CN" sz="1100" b="1"/>
                <a:t> </a:t>
              </a:r>
            </a:p>
            <a:p>
              <a:pPr>
                <a:lnSpc>
                  <a:spcPct val="140000"/>
                </a:lnSpc>
              </a:pPr>
              <a:r>
                <a:rPr lang="en-US" altLang="zh-CN" sz="1100"/>
                <a:t>Adults, diagnosis of </a:t>
              </a:r>
              <a:r>
                <a:rPr lang="en-US" altLang="zh-CN" sz="1100">
                  <a:solidFill>
                    <a:prstClr val="black"/>
                  </a:solidFill>
                  <a:latin typeface="Boehringer Headline"/>
                  <a:sym typeface="Helvetica Neue"/>
                </a:rPr>
                <a:t>with HTN, T2D and established CVD (without HF)</a:t>
              </a:r>
              <a:r>
                <a:rPr lang="en-US" altLang="zh-CN" sz="1100"/>
                <a:t> </a:t>
              </a:r>
              <a:endParaRPr lang="zh-CN" altLang="en-US" sz="1100"/>
            </a:p>
          </p:txBody>
        </p:sp>
      </p:grpSp>
    </p:spTree>
    <p:extLst>
      <p:ext uri="{BB962C8B-B14F-4D97-AF65-F5344CB8AC3E}">
        <p14:creationId xmlns:p14="http://schemas.microsoft.com/office/powerpoint/2010/main" val="3511863881"/>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478224C-A638-9600-9430-36C8B894FD34}"/>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D3B91637-D4FA-C4A8-44CF-8F3C6BEE41EF}"/>
              </a:ext>
            </a:extLst>
          </p:cNvPr>
          <p:cNvSpPr txBox="1">
            <a:spLocks/>
          </p:cNvSpPr>
          <p:nvPr/>
        </p:nvSpPr>
        <p:spPr bwMode="gray">
          <a:xfrm>
            <a:off x="292604" y="1010575"/>
            <a:ext cx="11233151" cy="72000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a:t>Exploratory endpoint</a:t>
            </a:r>
          </a:p>
        </p:txBody>
      </p:sp>
      <p:sp>
        <p:nvSpPr>
          <p:cNvPr id="31" name="文本框 13">
            <a:extLst>
              <a:ext uri="{FF2B5EF4-FFF2-40B4-BE49-F238E27FC236}">
                <a16:creationId xmlns:a16="http://schemas.microsoft.com/office/drawing/2014/main" id="{2D6EB395-D651-4FD4-FEB2-6A7A90F66B45}"/>
              </a:ext>
            </a:extLst>
          </p:cNvPr>
          <p:cNvSpPr txBox="1"/>
          <p:nvPr/>
        </p:nvSpPr>
        <p:spPr>
          <a:xfrm>
            <a:off x="1640003" y="6498305"/>
            <a:ext cx="9989683" cy="307777"/>
          </a:xfrm>
          <a:prstGeom prst="rect">
            <a:avLst/>
          </a:prstGeom>
          <a:noFill/>
        </p:spPr>
        <p:txBody>
          <a:bodyPr wrap="square" lIns="0" tIns="0" rIns="0" bIns="0" rtlCol="0" anchor="t">
            <a:spAutoFit/>
          </a:bodyPr>
          <a:lstStyle/>
          <a:p>
            <a:r>
              <a:rPr lang="en-US" sz="1000"/>
              <a:t>HHF: </a:t>
            </a:r>
            <a:r>
              <a:rPr lang="en-US" sz="1000" err="1"/>
              <a:t>hospitalisation</a:t>
            </a:r>
            <a:r>
              <a:rPr lang="en-US" sz="1000"/>
              <a:t> for heart failure; EHR: electronic health records;</a:t>
            </a:r>
          </a:p>
          <a:p>
            <a:r>
              <a:rPr lang="en-US" sz="1000"/>
              <a:t>*Drug list include….</a:t>
            </a:r>
          </a:p>
        </p:txBody>
      </p:sp>
      <p:graphicFrame>
        <p:nvGraphicFramePr>
          <p:cNvPr id="75" name="Table 74">
            <a:extLst>
              <a:ext uri="{FF2B5EF4-FFF2-40B4-BE49-F238E27FC236}">
                <a16:creationId xmlns:a16="http://schemas.microsoft.com/office/drawing/2014/main" id="{9919840E-A33B-FECD-B70B-396A1023B029}"/>
              </a:ext>
            </a:extLst>
          </p:cNvPr>
          <p:cNvGraphicFramePr>
            <a:graphicFrameLocks noGrp="1"/>
          </p:cNvGraphicFramePr>
          <p:nvPr/>
        </p:nvGraphicFramePr>
        <p:xfrm>
          <a:off x="292604" y="2184800"/>
          <a:ext cx="11502783" cy="1543050"/>
        </p:xfrm>
        <a:graphic>
          <a:graphicData uri="http://schemas.openxmlformats.org/drawingml/2006/table">
            <a:tbl>
              <a:tblPr firstRow="1" firstCol="1">
                <a:tableStyleId>{B301B821-A1FF-4177-AEE7-76D212191A09}</a:tableStyleId>
              </a:tblPr>
              <a:tblGrid>
                <a:gridCol w="1851837">
                  <a:extLst>
                    <a:ext uri="{9D8B030D-6E8A-4147-A177-3AD203B41FA5}">
                      <a16:colId xmlns:a16="http://schemas.microsoft.com/office/drawing/2014/main" val="1610005820"/>
                    </a:ext>
                  </a:extLst>
                </a:gridCol>
                <a:gridCol w="3214541">
                  <a:extLst>
                    <a:ext uri="{9D8B030D-6E8A-4147-A177-3AD203B41FA5}">
                      <a16:colId xmlns:a16="http://schemas.microsoft.com/office/drawing/2014/main" val="3184976697"/>
                    </a:ext>
                  </a:extLst>
                </a:gridCol>
                <a:gridCol w="6436405">
                  <a:extLst>
                    <a:ext uri="{9D8B030D-6E8A-4147-A177-3AD203B41FA5}">
                      <a16:colId xmlns:a16="http://schemas.microsoft.com/office/drawing/2014/main" val="994899143"/>
                    </a:ext>
                  </a:extLst>
                </a:gridCol>
              </a:tblGrid>
              <a:tr h="204080">
                <a:tc>
                  <a:txBody>
                    <a:bodyPr/>
                    <a:lstStyle/>
                    <a:p>
                      <a:pPr algn="l" fontAlgn="ctr">
                        <a:buNone/>
                      </a:pPr>
                      <a:endParaRPr lang="en-US" sz="1500" b="0" i="0" u="none" strike="noStrike">
                        <a:solidFill>
                          <a:srgbClr val="000000"/>
                        </a:solidFill>
                        <a:effectLst/>
                        <a:latin typeface="Aptos Narrow" panose="020B0004020202020204" pitchFamily="34" charset="0"/>
                      </a:endParaRPr>
                    </a:p>
                  </a:txBody>
                  <a:tcPr marL="108000" marR="9525" marT="9525" marB="0" anchor="ctr">
                    <a:solidFill>
                      <a:schemeClr val="bg2">
                        <a:lumMod val="75000"/>
                        <a:lumOff val="25000"/>
                      </a:schemeClr>
                    </a:solidFill>
                  </a:tcPr>
                </a:tc>
                <a:tc>
                  <a:txBody>
                    <a:bodyPr/>
                    <a:lstStyle/>
                    <a:p>
                      <a:pPr algn="l" fontAlgn="ctr">
                        <a:buNone/>
                      </a:pPr>
                      <a:r>
                        <a:rPr lang="en-US" altLang="zh-CN" sz="1500" b="1" u="none" strike="noStrike" kern="1200">
                          <a:solidFill>
                            <a:schemeClr val="lt1"/>
                          </a:solidFill>
                          <a:effectLst/>
                          <a:latin typeface="+mn-lt"/>
                          <a:ea typeface="+mn-ea"/>
                          <a:cs typeface="+mn-cs"/>
                        </a:rPr>
                        <a:t>Study design</a:t>
                      </a:r>
                      <a:endParaRPr lang="en-US" sz="1500" b="1" u="none" strike="noStrike" kern="1200">
                        <a:solidFill>
                          <a:schemeClr val="lt1"/>
                        </a:solidFill>
                        <a:effectLst/>
                        <a:latin typeface="+mn-lt"/>
                        <a:ea typeface="+mn-ea"/>
                        <a:cs typeface="+mn-cs"/>
                      </a:endParaRPr>
                    </a:p>
                  </a:txBody>
                  <a:tcPr marL="108000" marR="9525" marT="9525" marB="0" anchor="ctr">
                    <a:solidFill>
                      <a:schemeClr val="bg2">
                        <a:lumMod val="75000"/>
                        <a:lumOff val="25000"/>
                      </a:schemeClr>
                    </a:solidFill>
                  </a:tcPr>
                </a:tc>
                <a:tc>
                  <a:txBody>
                    <a:bodyPr/>
                    <a:lstStyle/>
                    <a:p>
                      <a:pPr algn="l" fontAlgn="ctr">
                        <a:buNone/>
                      </a:pPr>
                      <a:r>
                        <a:rPr lang="en-US" sz="1500" u="none" strike="noStrike">
                          <a:effectLst/>
                        </a:rPr>
                        <a:t>Outcomes</a:t>
                      </a:r>
                      <a:endParaRPr lang="en-US" sz="1500" b="0" i="0" u="none" strike="noStrike">
                        <a:solidFill>
                          <a:srgbClr val="000000"/>
                        </a:solidFill>
                        <a:effectLst/>
                        <a:latin typeface="Aptos Narrow" panose="020B0004020202020204" pitchFamily="34" charset="0"/>
                      </a:endParaRPr>
                    </a:p>
                  </a:txBody>
                  <a:tcPr marL="108000" marR="9525" marT="9525" marB="0" anchor="ctr">
                    <a:solidFill>
                      <a:schemeClr val="bg2">
                        <a:lumMod val="75000"/>
                        <a:lumOff val="25000"/>
                      </a:schemeClr>
                    </a:solidFill>
                  </a:tcPr>
                </a:tc>
                <a:extLst>
                  <a:ext uri="{0D108BD9-81ED-4DB2-BD59-A6C34878D82A}">
                    <a16:rowId xmlns:a16="http://schemas.microsoft.com/office/drawing/2014/main" val="365647698"/>
                  </a:ext>
                </a:extLst>
              </a:tr>
              <a:tr h="397188">
                <a:tc>
                  <a:txBody>
                    <a:bodyPr/>
                    <a:lstStyle/>
                    <a:p>
                      <a:pPr algn="l" fontAlgn="ctr">
                        <a:buNone/>
                      </a:pPr>
                      <a:r>
                        <a:rPr lang="en-US" sz="1500" u="none" strike="noStrike">
                          <a:effectLst/>
                        </a:rPr>
                        <a:t>Clinical outcomes</a:t>
                      </a:r>
                    </a:p>
                  </a:txBody>
                  <a:tcPr marL="108000"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700" b="1" i="0" u="none" strike="noStrike">
                          <a:solidFill>
                            <a:srgbClr val="000000"/>
                          </a:solidFill>
                          <a:effectLst/>
                          <a:latin typeface="Aptos Narrow" panose="020B0004020202020204" pitchFamily="34" charset="0"/>
                        </a:rPr>
                        <a:t>Cohort</a:t>
                      </a:r>
                    </a:p>
                  </a:txBody>
                  <a:tcPr marL="108000" marR="9525" marT="9525" marB="0" anchor="ctr">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700" b="1" i="0" u="none" strike="noStrike" kern="1200">
                          <a:solidFill>
                            <a:srgbClr val="000000"/>
                          </a:solidFill>
                          <a:effectLst/>
                          <a:latin typeface="Aptos Narrow" panose="020B0004020202020204" pitchFamily="34" charset="0"/>
                          <a:ea typeface="+mn-ea"/>
                          <a:cs typeface="+mn-cs"/>
                        </a:rPr>
                        <a:t>Time to events &amp; Occurrences:</a:t>
                      </a:r>
                    </a:p>
                    <a:p>
                      <a:pPr marL="285750" indent="-285750" algn="l" fontAlgn="ctr">
                        <a:buFont typeface="Arial" panose="020B0604020202020204"/>
                        <a:buChar char="•"/>
                      </a:pPr>
                      <a:r>
                        <a:rPr lang="en-US" altLang="zh-CN" sz="1700" b="0" i="0" u="none" strike="noStrike" kern="1200">
                          <a:solidFill>
                            <a:srgbClr val="000000"/>
                          </a:solidFill>
                          <a:effectLst/>
                          <a:latin typeface="Aptos Narrow" panose="020B0004020202020204" pitchFamily="34" charset="0"/>
                          <a:ea typeface="+mn-ea"/>
                          <a:cs typeface="+mn-cs"/>
                        </a:rPr>
                        <a:t>Time to event</a:t>
                      </a:r>
                      <a:r>
                        <a:rPr lang="en-US" sz="1700" b="0" i="0" u="none" strike="noStrike" kern="1200">
                          <a:solidFill>
                            <a:srgbClr val="000000"/>
                          </a:solidFill>
                          <a:effectLst/>
                          <a:latin typeface="Aptos Narrow" panose="020B0004020202020204" pitchFamily="34" charset="0"/>
                          <a:ea typeface="+mn-ea"/>
                          <a:cs typeface="+mn-cs"/>
                        </a:rPr>
                        <a:t> of CV death, HHF or urgent HF visit</a:t>
                      </a:r>
                    </a:p>
                    <a:p>
                      <a:pPr marL="285750" indent="-285750" algn="l" fontAlgn="ctr">
                        <a:buFont typeface="Arial" panose="020B0604020202020204"/>
                        <a:buChar char="•"/>
                      </a:pPr>
                      <a:r>
                        <a:rPr lang="en-US" altLang="zh-CN" sz="1700" b="0" i="0" u="none" strike="noStrike" kern="1200">
                          <a:solidFill>
                            <a:srgbClr val="000000"/>
                          </a:solidFill>
                          <a:effectLst/>
                          <a:latin typeface="Aptos Narrow" panose="020B0004020202020204" pitchFamily="34" charset="0"/>
                          <a:ea typeface="+mn-ea"/>
                          <a:cs typeface="+mn-cs"/>
                        </a:rPr>
                        <a:t>Time to event  </a:t>
                      </a:r>
                      <a:r>
                        <a:rPr lang="en-US" sz="1700" b="0" i="0" u="none" strike="noStrike" kern="1200">
                          <a:solidFill>
                            <a:srgbClr val="000000"/>
                          </a:solidFill>
                          <a:effectLst/>
                          <a:latin typeface="Aptos Narrow" panose="020B0004020202020204" pitchFamily="34" charset="0"/>
                          <a:ea typeface="+mn-ea"/>
                          <a:cs typeface="+mn-cs"/>
                        </a:rPr>
                        <a:t>of CV death or HHF</a:t>
                      </a:r>
                    </a:p>
                    <a:p>
                      <a:pPr marL="285750" indent="-285750" algn="l" fontAlgn="ctr">
                        <a:buFont typeface="Arial" panose="020B0604020202020204"/>
                        <a:buChar char="•"/>
                      </a:pPr>
                      <a:r>
                        <a:rPr lang="en-US" altLang="zh-CN" sz="1700" b="0" i="0" u="none" strike="noStrike" kern="1200">
                          <a:solidFill>
                            <a:srgbClr val="000000"/>
                          </a:solidFill>
                          <a:effectLst/>
                          <a:latin typeface="Aptos Narrow" panose="020B0004020202020204" pitchFamily="34" charset="0"/>
                          <a:ea typeface="+mn-ea"/>
                          <a:cs typeface="+mn-cs"/>
                        </a:rPr>
                        <a:t>Time to event  </a:t>
                      </a:r>
                      <a:r>
                        <a:rPr lang="en-US" sz="1700" b="0" i="0" u="none" strike="noStrike" kern="1200">
                          <a:solidFill>
                            <a:srgbClr val="000000"/>
                          </a:solidFill>
                          <a:effectLst/>
                          <a:latin typeface="Aptos Narrow" panose="020B0004020202020204" pitchFamily="34" charset="0"/>
                          <a:ea typeface="+mn-ea"/>
                          <a:cs typeface="+mn-cs"/>
                        </a:rPr>
                        <a:t>of CV death, HHF, non-fatal MI or non-fatal stroke </a:t>
                      </a:r>
                    </a:p>
                    <a:p>
                      <a:pPr marL="285750" indent="-285750" algn="l" fontAlgn="ctr">
                        <a:buFont typeface="Arial" panose="020B0604020202020204"/>
                        <a:buChar char="•"/>
                      </a:pPr>
                      <a:r>
                        <a:rPr lang="en-US" sz="1700" b="0" i="0" u="none" strike="noStrike" kern="1200">
                          <a:solidFill>
                            <a:srgbClr val="000000"/>
                          </a:solidFill>
                          <a:effectLst/>
                          <a:latin typeface="Aptos Narrow" panose="020B0004020202020204" pitchFamily="34" charset="0"/>
                          <a:ea typeface="+mn-ea"/>
                          <a:cs typeface="+mn-cs"/>
                        </a:rPr>
                        <a:t>Occurrences of all-cause hospitalizations</a:t>
                      </a:r>
                    </a:p>
                  </a:txBody>
                  <a:tcPr marL="108000" marR="9525" marT="9525" marB="0" anchor="ctr">
                    <a:solidFill>
                      <a:schemeClr val="bg1"/>
                    </a:solidFill>
                  </a:tcPr>
                </a:tc>
                <a:extLst>
                  <a:ext uri="{0D108BD9-81ED-4DB2-BD59-A6C34878D82A}">
                    <a16:rowId xmlns:a16="http://schemas.microsoft.com/office/drawing/2014/main" val="1477195908"/>
                  </a:ext>
                </a:extLst>
              </a:tr>
            </a:tbl>
          </a:graphicData>
        </a:graphic>
      </p:graphicFrame>
      <p:sp>
        <p:nvSpPr>
          <p:cNvPr id="3" name="TextBox 2">
            <a:extLst>
              <a:ext uri="{FF2B5EF4-FFF2-40B4-BE49-F238E27FC236}">
                <a16:creationId xmlns:a16="http://schemas.microsoft.com/office/drawing/2014/main" id="{4B50A609-580A-30C9-028B-0B0BBC0D0D19}"/>
              </a:ext>
            </a:extLst>
          </p:cNvPr>
          <p:cNvSpPr txBox="1"/>
          <p:nvPr/>
        </p:nvSpPr>
        <p:spPr bwMode="gray">
          <a:xfrm>
            <a:off x="213696" y="1619348"/>
            <a:ext cx="6179574" cy="369332"/>
          </a:xfrm>
          <a:prstGeom prst="rect">
            <a:avLst/>
          </a:prstGeom>
          <a:noFill/>
        </p:spPr>
        <p:txBody>
          <a:bodyPr wrap="square">
            <a:spAutoFit/>
          </a:bodyPr>
          <a:lstStyle/>
          <a:p>
            <a:pPr fontAlgn="ctr"/>
            <a:r>
              <a:rPr lang="en-US" altLang="zh-CN" b="1" i="0" u="none" strike="noStrike">
                <a:solidFill>
                  <a:schemeClr val="accent2"/>
                </a:solidFill>
                <a:effectLst/>
                <a:latin typeface="Aptos Narrow" panose="020B0004020202020204" pitchFamily="34" charset="0"/>
              </a:rPr>
              <a:t>For SGLT2i users</a:t>
            </a:r>
            <a:r>
              <a:rPr lang="en-US" altLang="zh-CN" b="1">
                <a:solidFill>
                  <a:schemeClr val="accent2"/>
                </a:solidFill>
                <a:latin typeface="Aptos Narrow" panose="020B0004020202020204" pitchFamily="34" charset="0"/>
              </a:rPr>
              <a:t>/ GLP1 RA users </a:t>
            </a:r>
            <a:r>
              <a:rPr lang="en-US" altLang="zh-CN" b="1" i="0" u="none" strike="noStrike">
                <a:solidFill>
                  <a:schemeClr val="accent2"/>
                </a:solidFill>
                <a:effectLst/>
                <a:latin typeface="Aptos Narrow" panose="020B0004020202020204" pitchFamily="34" charset="0"/>
              </a:rPr>
              <a:t>: </a:t>
            </a:r>
          </a:p>
        </p:txBody>
      </p:sp>
      <p:grpSp>
        <p:nvGrpSpPr>
          <p:cNvPr id="2" name="Group 1">
            <a:extLst>
              <a:ext uri="{FF2B5EF4-FFF2-40B4-BE49-F238E27FC236}">
                <a16:creationId xmlns:a16="http://schemas.microsoft.com/office/drawing/2014/main" id="{A14BA812-9C03-92D9-02B9-B79C30F28388}"/>
              </a:ext>
            </a:extLst>
          </p:cNvPr>
          <p:cNvGrpSpPr/>
          <p:nvPr/>
        </p:nvGrpSpPr>
        <p:grpSpPr>
          <a:xfrm>
            <a:off x="1013011" y="4385480"/>
            <a:ext cx="10666174" cy="1721155"/>
            <a:chOff x="823416" y="4467366"/>
            <a:chExt cx="10666174" cy="1721155"/>
          </a:xfrm>
        </p:grpSpPr>
        <p:sp>
          <p:nvSpPr>
            <p:cNvPr id="4" name="Rectangle: Rounded Corners 3">
              <a:extLst>
                <a:ext uri="{FF2B5EF4-FFF2-40B4-BE49-F238E27FC236}">
                  <a16:creationId xmlns:a16="http://schemas.microsoft.com/office/drawing/2014/main" id="{52611DD1-B710-9D02-C1A1-7C3A989FCBFD}"/>
                </a:ext>
              </a:extLst>
            </p:cNvPr>
            <p:cNvSpPr/>
            <p:nvPr/>
          </p:nvSpPr>
          <p:spPr bwMode="gray">
            <a:xfrm>
              <a:off x="823416" y="4467366"/>
              <a:ext cx="10666174" cy="1721155"/>
            </a:xfrm>
            <a:prstGeom prst="roundRect">
              <a:avLst>
                <a:gd name="adj" fmla="val 2349"/>
              </a:avLst>
            </a:prstGeom>
            <a:solidFill>
              <a:schemeClr val="accent4">
                <a:lumMod val="20000"/>
                <a:lumOff val="80000"/>
              </a:scheme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1" name="箭头: 右 7">
              <a:extLst>
                <a:ext uri="{FF2B5EF4-FFF2-40B4-BE49-F238E27FC236}">
                  <a16:creationId xmlns:a16="http://schemas.microsoft.com/office/drawing/2014/main" id="{F4858F16-D19B-1BA7-5201-A0C554C249D4}"/>
                </a:ext>
              </a:extLst>
            </p:cNvPr>
            <p:cNvSpPr/>
            <p:nvPr/>
          </p:nvSpPr>
          <p:spPr>
            <a:xfrm>
              <a:off x="2117380" y="5127419"/>
              <a:ext cx="8278531" cy="307778"/>
            </a:xfrm>
            <a:prstGeom prst="rightArrow">
              <a:avLst/>
            </a:prstGeom>
            <a:solidFill>
              <a:schemeClr val="accent1">
                <a:lumMod val="90000"/>
                <a:lumOff val="10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err="1">
                <a:ln>
                  <a:noFill/>
                </a:ln>
                <a:solidFill>
                  <a:prstClr val="black"/>
                </a:solidFill>
                <a:effectLst/>
                <a:uLnTx/>
                <a:uFillTx/>
                <a:latin typeface="Boehringer Forward Text"/>
                <a:ea typeface="+mn-ea"/>
                <a:cs typeface="+mn-cs"/>
              </a:endParaRPr>
            </a:p>
          </p:txBody>
        </p:sp>
        <p:sp>
          <p:nvSpPr>
            <p:cNvPr id="9" name="左大括号 6">
              <a:extLst>
                <a:ext uri="{FF2B5EF4-FFF2-40B4-BE49-F238E27FC236}">
                  <a16:creationId xmlns:a16="http://schemas.microsoft.com/office/drawing/2014/main" id="{F9118152-F0FF-1847-C241-1CBA117347ED}"/>
                </a:ext>
              </a:extLst>
            </p:cNvPr>
            <p:cNvSpPr/>
            <p:nvPr/>
          </p:nvSpPr>
          <p:spPr>
            <a:xfrm rot="16200000">
              <a:off x="5677171" y="1971890"/>
              <a:ext cx="153889" cy="7221939"/>
            </a:xfrm>
            <a:prstGeom prst="leftBrace">
              <a:avLst>
                <a:gd name="adj1" fmla="val 8333"/>
                <a:gd name="adj2" fmla="val 49433"/>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文本框 11">
              <a:extLst>
                <a:ext uri="{FF2B5EF4-FFF2-40B4-BE49-F238E27FC236}">
                  <a16:creationId xmlns:a16="http://schemas.microsoft.com/office/drawing/2014/main" id="{7BB2629F-28A6-2E82-20C4-8B25AD88D39A}"/>
                </a:ext>
              </a:extLst>
            </p:cNvPr>
            <p:cNvSpPr txBox="1"/>
            <p:nvPr/>
          </p:nvSpPr>
          <p:spPr>
            <a:xfrm>
              <a:off x="4646697" y="5757588"/>
              <a:ext cx="2309928"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i="0" u="none" strike="noStrike" kern="1200" cap="none" spc="0" normalizeH="0" baseline="0" noProof="0">
                  <a:ln>
                    <a:noFill/>
                  </a:ln>
                  <a:solidFill>
                    <a:prstClr val="black"/>
                  </a:solidFill>
                  <a:effectLst/>
                  <a:uLnTx/>
                  <a:uFillTx/>
                  <a:latin typeface="Boehringer Forward Text"/>
                  <a:ea typeface="+mn-ea"/>
                  <a:cs typeface="+mn-cs"/>
                </a:rPr>
                <a:t>Cohort patient identification period:</a:t>
              </a:r>
            </a:p>
            <a:p>
              <a:pPr lvl="0" algn="ctr">
                <a:defRPr/>
              </a:pPr>
              <a:r>
                <a:rPr lang="en-US" altLang="zh-CN" sz="1050"/>
                <a:t>Jan 1</a:t>
              </a:r>
              <a:r>
                <a:rPr lang="en-US" altLang="zh-CN" sz="1050" baseline="30000"/>
                <a:t>st</a:t>
              </a:r>
              <a:r>
                <a:rPr lang="en-US" altLang="zh-CN" sz="1050"/>
                <a:t> 2020</a:t>
              </a:r>
              <a:r>
                <a:rPr kumimoji="0" lang="en-US" altLang="zh-CN" sz="1050" i="0" u="none" strike="noStrike" kern="1200" cap="none" spc="0" normalizeH="0" baseline="0" noProof="0">
                  <a:ln>
                    <a:noFill/>
                  </a:ln>
                  <a:effectLst/>
                  <a:uLnTx/>
                  <a:uFillTx/>
                  <a:latin typeface="Boehringer Forward Text"/>
                  <a:ea typeface="+mn-ea"/>
                  <a:cs typeface="+mn-cs"/>
                </a:rPr>
                <a:t>- Dec 31</a:t>
              </a:r>
              <a:r>
                <a:rPr lang="en-US" altLang="zh-CN" sz="1050" baseline="30000" err="1"/>
                <a:t>th</a:t>
              </a:r>
              <a:r>
                <a:rPr lang="en-US" altLang="zh-CN" sz="1050">
                  <a:latin typeface="Boehringer Forward Text"/>
                </a:rPr>
                <a:t>,</a:t>
              </a:r>
              <a:r>
                <a:rPr kumimoji="0" lang="en-US" altLang="zh-CN" sz="1050" i="0" u="none" strike="noStrike" kern="1200" cap="none" spc="0" normalizeH="0" baseline="0" noProof="0">
                  <a:ln>
                    <a:noFill/>
                  </a:ln>
                  <a:effectLst/>
                  <a:uLnTx/>
                  <a:uFillTx/>
                  <a:latin typeface="Boehringer Forward Text"/>
                  <a:ea typeface="+mn-ea"/>
                  <a:cs typeface="+mn-cs"/>
                </a:rPr>
                <a:t> 2026</a:t>
              </a:r>
              <a:endParaRPr kumimoji="0" lang="zh-CN" altLang="en-US" sz="1050" i="0" u="none" strike="noStrike" kern="1200" cap="none" spc="0" normalizeH="0" baseline="0" noProof="0">
                <a:ln>
                  <a:noFill/>
                </a:ln>
                <a:effectLst/>
                <a:uLnTx/>
                <a:uFillTx/>
                <a:latin typeface="Boehringer Forward Text"/>
                <a:ea typeface="+mn-ea"/>
                <a:cs typeface="+mn-cs"/>
              </a:endParaRPr>
            </a:p>
          </p:txBody>
        </p:sp>
        <p:cxnSp>
          <p:nvCxnSpPr>
            <p:cNvPr id="14" name="直接连接符 8">
              <a:extLst>
                <a:ext uri="{FF2B5EF4-FFF2-40B4-BE49-F238E27FC236}">
                  <a16:creationId xmlns:a16="http://schemas.microsoft.com/office/drawing/2014/main" id="{08B80866-0C61-E163-F297-4B02CCAE0017}"/>
                </a:ext>
              </a:extLst>
            </p:cNvPr>
            <p:cNvCxnSpPr>
              <a:cxnSpLocks/>
            </p:cNvCxnSpPr>
            <p:nvPr/>
          </p:nvCxnSpPr>
          <p:spPr>
            <a:xfrm flipV="1">
              <a:off x="3374497" y="4722125"/>
              <a:ext cx="0" cy="860734"/>
            </a:xfrm>
            <a:prstGeom prst="line">
              <a:avLst/>
            </a:prstGeom>
            <a:ln w="28575">
              <a:prstDash val="sysDot"/>
            </a:ln>
          </p:spPr>
          <p:style>
            <a:lnRef idx="3">
              <a:schemeClr val="accent2"/>
            </a:lnRef>
            <a:fillRef idx="0">
              <a:schemeClr val="accent2"/>
            </a:fillRef>
            <a:effectRef idx="2">
              <a:schemeClr val="accent2"/>
            </a:effectRef>
            <a:fontRef idx="minor">
              <a:schemeClr val="tx1"/>
            </a:fontRef>
          </p:style>
        </p:cxnSp>
        <p:sp>
          <p:nvSpPr>
            <p:cNvPr id="15" name="TextBox 14">
              <a:extLst>
                <a:ext uri="{FF2B5EF4-FFF2-40B4-BE49-F238E27FC236}">
                  <a16:creationId xmlns:a16="http://schemas.microsoft.com/office/drawing/2014/main" id="{C5C0121E-5608-5D4F-E91B-B1D948EEF067}"/>
                </a:ext>
              </a:extLst>
            </p:cNvPr>
            <p:cNvSpPr txBox="1"/>
            <p:nvPr/>
          </p:nvSpPr>
          <p:spPr bwMode="gray">
            <a:xfrm>
              <a:off x="2159696" y="4600180"/>
              <a:ext cx="3482852" cy="153888"/>
            </a:xfrm>
            <a:prstGeom prst="rect">
              <a:avLst/>
            </a:prstGeom>
            <a:noFill/>
            <a:ln>
              <a:noFill/>
            </a:ln>
          </p:spPr>
          <p:txBody>
            <a:bodyPr wrap="squar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latin typeface="Boehringer Forward Text"/>
                </a:defRPr>
              </a:lvl1pPr>
            </a:lstStyle>
            <a:p>
              <a:r>
                <a:rPr lang="en-US" altLang="zh-CN" sz="1000"/>
                <a:t>Index date:  the</a:t>
              </a:r>
              <a:r>
                <a:rPr lang="zh-CN" altLang="en-US" sz="1000"/>
                <a:t> </a:t>
              </a:r>
              <a:r>
                <a:rPr lang="en-US" altLang="zh-CN" sz="1000"/>
                <a:t>first</a:t>
              </a:r>
              <a:r>
                <a:rPr lang="zh-CN" altLang="en-US" sz="1000"/>
                <a:t> </a:t>
              </a:r>
              <a:r>
                <a:rPr lang="en-US" altLang="zh-CN" sz="1000"/>
                <a:t>prescription</a:t>
              </a:r>
              <a:r>
                <a:rPr lang="zh-CN" altLang="en-US" sz="1000"/>
                <a:t> </a:t>
              </a:r>
              <a:r>
                <a:rPr lang="en-US" altLang="zh-CN" sz="1000"/>
                <a:t>of</a:t>
              </a:r>
              <a:r>
                <a:rPr lang="zh-CN" altLang="en-US" sz="1000"/>
                <a:t> </a:t>
              </a:r>
              <a:r>
                <a:rPr lang="en-US" altLang="zh-CN" sz="1000"/>
                <a:t>SGLT2i &amp; GLP1 RA</a:t>
              </a:r>
              <a:endParaRPr lang="zh-CN" altLang="en-US" sz="1000"/>
            </a:p>
          </p:txBody>
        </p:sp>
        <p:cxnSp>
          <p:nvCxnSpPr>
            <p:cNvPr id="16" name="Straight Arrow Connector 15">
              <a:extLst>
                <a:ext uri="{FF2B5EF4-FFF2-40B4-BE49-F238E27FC236}">
                  <a16:creationId xmlns:a16="http://schemas.microsoft.com/office/drawing/2014/main" id="{1CE67EF0-95C1-FCB2-5206-76110D0CC48E}"/>
                </a:ext>
              </a:extLst>
            </p:cNvPr>
            <p:cNvCxnSpPr>
              <a:cxnSpLocks/>
            </p:cNvCxnSpPr>
            <p:nvPr/>
          </p:nvCxnSpPr>
          <p:spPr bwMode="gray">
            <a:xfrm>
              <a:off x="3371267" y="4935234"/>
              <a:ext cx="7024644"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9B93A89-EFB2-FF28-A08E-7067386842C5}"/>
                </a:ext>
              </a:extLst>
            </p:cNvPr>
            <p:cNvSpPr txBox="1"/>
            <p:nvPr/>
          </p:nvSpPr>
          <p:spPr bwMode="gray">
            <a:xfrm>
              <a:off x="6405321" y="4850595"/>
              <a:ext cx="684482" cy="169277"/>
            </a:xfrm>
            <a:prstGeom prst="rect">
              <a:avLst/>
            </a:prstGeom>
            <a:noFill/>
          </p:spPr>
          <p:txBody>
            <a:bodyPr wrap="squar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latin typeface="Boehringer Forward Text"/>
                </a:defRPr>
              </a:lvl1pPr>
            </a:lstStyle>
            <a:p>
              <a:r>
                <a:rPr lang="en-US" altLang="zh-CN"/>
                <a:t>Follow-up </a:t>
              </a:r>
              <a:endParaRPr lang="zh-CN" altLang="en-US"/>
            </a:p>
          </p:txBody>
        </p:sp>
        <p:cxnSp>
          <p:nvCxnSpPr>
            <p:cNvPr id="18" name="Straight Arrow Connector 17">
              <a:extLst>
                <a:ext uri="{FF2B5EF4-FFF2-40B4-BE49-F238E27FC236}">
                  <a16:creationId xmlns:a16="http://schemas.microsoft.com/office/drawing/2014/main" id="{A313B4FC-95C7-627E-2A32-80A16CABA3F5}"/>
                </a:ext>
              </a:extLst>
            </p:cNvPr>
            <p:cNvCxnSpPr>
              <a:cxnSpLocks/>
            </p:cNvCxnSpPr>
            <p:nvPr/>
          </p:nvCxnSpPr>
          <p:spPr bwMode="gray">
            <a:xfrm flipH="1" flipV="1">
              <a:off x="2146376" y="5037900"/>
              <a:ext cx="1228121" cy="891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4E6DD91C-C71F-A418-AC47-1CF5F4C41158}"/>
                </a:ext>
              </a:extLst>
            </p:cNvPr>
            <p:cNvSpPr txBox="1"/>
            <p:nvPr/>
          </p:nvSpPr>
          <p:spPr bwMode="gray">
            <a:xfrm>
              <a:off x="2266059" y="4935233"/>
              <a:ext cx="1090042" cy="169277"/>
            </a:xfrm>
            <a:prstGeom prst="rect">
              <a:avLst/>
            </a:prstGeom>
            <a:noFill/>
          </p:spPr>
          <p:txBody>
            <a:bodyPr wrap="squar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latin typeface="Boehringer Forward Text"/>
                </a:defRPr>
              </a:lvl1pPr>
            </a:lstStyle>
            <a:p>
              <a:r>
                <a:rPr lang="en-US" altLang="zh-CN"/>
                <a:t>1-year wash-out </a:t>
              </a:r>
              <a:endParaRPr lang="zh-CN" altLang="en-US"/>
            </a:p>
          </p:txBody>
        </p:sp>
        <p:sp>
          <p:nvSpPr>
            <p:cNvPr id="20" name="TextBox 19">
              <a:extLst>
                <a:ext uri="{FF2B5EF4-FFF2-40B4-BE49-F238E27FC236}">
                  <a16:creationId xmlns:a16="http://schemas.microsoft.com/office/drawing/2014/main" id="{14146F4B-098E-8A46-331F-1EC87E4371C6}"/>
                </a:ext>
              </a:extLst>
            </p:cNvPr>
            <p:cNvSpPr txBox="1"/>
            <p:nvPr/>
          </p:nvSpPr>
          <p:spPr bwMode="gray">
            <a:xfrm>
              <a:off x="961444" y="4638960"/>
              <a:ext cx="1198252" cy="1163524"/>
            </a:xfrm>
            <a:prstGeom prst="rect">
              <a:avLst/>
            </a:prstGeom>
            <a:noFill/>
          </p:spPr>
          <p:txBody>
            <a:bodyPr wrap="square" lIns="0" tIns="0" rIns="0" bIns="0" rtlCol="0">
              <a:spAutoFit/>
            </a:bodyPr>
            <a:lstStyle/>
            <a:p>
              <a:pPr>
                <a:lnSpc>
                  <a:spcPct val="140000"/>
                </a:lnSpc>
              </a:pPr>
              <a:r>
                <a:rPr lang="en-US" altLang="zh-CN" sz="1100" b="1" u="sng"/>
                <a:t>Inclusion Criteria:</a:t>
              </a:r>
              <a:r>
                <a:rPr lang="en-US" altLang="zh-CN" sz="1100" b="1"/>
                <a:t> </a:t>
              </a:r>
            </a:p>
            <a:p>
              <a:pPr>
                <a:lnSpc>
                  <a:spcPct val="140000"/>
                </a:lnSpc>
              </a:pPr>
              <a:r>
                <a:rPr lang="en-US" altLang="zh-CN" sz="1100"/>
                <a:t>diagnosis of </a:t>
              </a:r>
              <a:r>
                <a:rPr lang="en-US" altLang="zh-CN" sz="1100">
                  <a:solidFill>
                    <a:prstClr val="black"/>
                  </a:solidFill>
                  <a:latin typeface="Boehringer Headline"/>
                  <a:sym typeface="Helvetica Neue"/>
                </a:rPr>
                <a:t>with HTN, T2D and established CVD (without HF)</a:t>
              </a:r>
              <a:r>
                <a:rPr lang="en-US" altLang="zh-CN" sz="1100"/>
                <a:t> </a:t>
              </a:r>
              <a:endParaRPr lang="zh-CN" altLang="en-US" sz="1100"/>
            </a:p>
          </p:txBody>
        </p:sp>
      </p:grpSp>
      <p:sp>
        <p:nvSpPr>
          <p:cNvPr id="81" name="TextBox 80">
            <a:extLst>
              <a:ext uri="{FF2B5EF4-FFF2-40B4-BE49-F238E27FC236}">
                <a16:creationId xmlns:a16="http://schemas.microsoft.com/office/drawing/2014/main" id="{B1385E09-9D77-11A4-03C9-3F77BE1636F8}"/>
              </a:ext>
            </a:extLst>
          </p:cNvPr>
          <p:cNvSpPr txBox="1"/>
          <p:nvPr/>
        </p:nvSpPr>
        <p:spPr bwMode="gray">
          <a:xfrm>
            <a:off x="10563123" y="5093848"/>
            <a:ext cx="1721847" cy="253916"/>
          </a:xfrm>
          <a:prstGeom prst="rect">
            <a:avLst/>
          </a:prstGeom>
          <a:noFill/>
        </p:spPr>
        <p:txBody>
          <a:bodyPr wrap="square">
            <a:spAutoFit/>
          </a:bodyPr>
          <a:lstStyle/>
          <a:p>
            <a:r>
              <a:rPr lang="en-US" altLang="zh-CN" sz="1050">
                <a:solidFill>
                  <a:prstClr val="black"/>
                </a:solidFill>
                <a:latin typeface="Boehringer Forward Text"/>
              </a:rPr>
              <a:t>Dec 31th, 2027</a:t>
            </a:r>
            <a:endParaRPr lang="zh-CN" altLang="en-US" sz="1050">
              <a:solidFill>
                <a:prstClr val="black"/>
              </a:solidFill>
              <a:latin typeface="Boehringer Forward Text"/>
            </a:endParaRPr>
          </a:p>
        </p:txBody>
      </p:sp>
    </p:spTree>
    <p:extLst>
      <p:ext uri="{BB962C8B-B14F-4D97-AF65-F5344CB8AC3E}">
        <p14:creationId xmlns:p14="http://schemas.microsoft.com/office/powerpoint/2010/main" val="3510168744"/>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58A38-6F15-09BA-C345-B799A4DAA753}"/>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A4703F47-2BA8-0508-3C15-8300739E46DB}"/>
              </a:ext>
            </a:extLst>
          </p:cNvPr>
          <p:cNvSpPr txBox="1">
            <a:spLocks/>
          </p:cNvSpPr>
          <p:nvPr/>
        </p:nvSpPr>
        <p:spPr bwMode="gray">
          <a:xfrm>
            <a:off x="262058" y="259175"/>
            <a:ext cx="11233151" cy="72000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a:t>Study Design and Outcomes</a:t>
            </a:r>
          </a:p>
        </p:txBody>
      </p:sp>
      <p:sp>
        <p:nvSpPr>
          <p:cNvPr id="31" name="文本框 13">
            <a:extLst>
              <a:ext uri="{FF2B5EF4-FFF2-40B4-BE49-F238E27FC236}">
                <a16:creationId xmlns:a16="http://schemas.microsoft.com/office/drawing/2014/main" id="{59A78CFB-23A0-8E74-5E9D-3B32AD39DAF5}"/>
              </a:ext>
            </a:extLst>
          </p:cNvPr>
          <p:cNvSpPr txBox="1"/>
          <p:nvPr/>
        </p:nvSpPr>
        <p:spPr>
          <a:xfrm>
            <a:off x="1640003" y="6498305"/>
            <a:ext cx="9989683" cy="153888"/>
          </a:xfrm>
          <a:prstGeom prst="rect">
            <a:avLst/>
          </a:prstGeom>
          <a:noFill/>
        </p:spPr>
        <p:txBody>
          <a:bodyPr wrap="square" lIns="0" tIns="0" rIns="0" bIns="0" rtlCol="0" anchor="t">
            <a:spAutoFit/>
          </a:bodyPr>
          <a:lstStyle/>
          <a:p>
            <a:r>
              <a:rPr lang="en-US" sz="1000"/>
              <a:t>HHF: </a:t>
            </a:r>
            <a:r>
              <a:rPr lang="en-US" sz="1000" err="1"/>
              <a:t>hospitalisation</a:t>
            </a:r>
            <a:r>
              <a:rPr lang="en-US" sz="1000"/>
              <a:t> for heart failure; EHR: electronic health records;</a:t>
            </a:r>
          </a:p>
        </p:txBody>
      </p:sp>
      <p:graphicFrame>
        <p:nvGraphicFramePr>
          <p:cNvPr id="2" name="Table 1">
            <a:extLst>
              <a:ext uri="{FF2B5EF4-FFF2-40B4-BE49-F238E27FC236}">
                <a16:creationId xmlns:a16="http://schemas.microsoft.com/office/drawing/2014/main" id="{6FD3CF92-E573-F4FF-18D9-3F4D2C7E84F5}"/>
              </a:ext>
            </a:extLst>
          </p:cNvPr>
          <p:cNvGraphicFramePr>
            <a:graphicFrameLocks noGrp="1"/>
          </p:cNvGraphicFramePr>
          <p:nvPr/>
        </p:nvGraphicFramePr>
        <p:xfrm>
          <a:off x="299245" y="1260545"/>
          <a:ext cx="11824647" cy="2418370"/>
        </p:xfrm>
        <a:graphic>
          <a:graphicData uri="http://schemas.openxmlformats.org/drawingml/2006/table">
            <a:tbl>
              <a:tblPr firstRow="1" firstCol="1">
                <a:tableStyleId>{B301B821-A1FF-4177-AEE7-76D212191A09}</a:tableStyleId>
              </a:tblPr>
              <a:tblGrid>
                <a:gridCol w="1552433">
                  <a:extLst>
                    <a:ext uri="{9D8B030D-6E8A-4147-A177-3AD203B41FA5}">
                      <a16:colId xmlns:a16="http://schemas.microsoft.com/office/drawing/2014/main" val="2093087952"/>
                    </a:ext>
                  </a:extLst>
                </a:gridCol>
                <a:gridCol w="1874292">
                  <a:extLst>
                    <a:ext uri="{9D8B030D-6E8A-4147-A177-3AD203B41FA5}">
                      <a16:colId xmlns:a16="http://schemas.microsoft.com/office/drawing/2014/main" val="3949654163"/>
                    </a:ext>
                  </a:extLst>
                </a:gridCol>
                <a:gridCol w="8397922">
                  <a:extLst>
                    <a:ext uri="{9D8B030D-6E8A-4147-A177-3AD203B41FA5}">
                      <a16:colId xmlns:a16="http://schemas.microsoft.com/office/drawing/2014/main" val="594323563"/>
                    </a:ext>
                  </a:extLst>
                </a:gridCol>
              </a:tblGrid>
              <a:tr h="357160">
                <a:tc>
                  <a:txBody>
                    <a:bodyPr/>
                    <a:lstStyle/>
                    <a:p>
                      <a:pPr algn="l" fontAlgn="ctr">
                        <a:buNone/>
                      </a:pPr>
                      <a:endParaRPr lang="en-US" sz="1200" u="none" strike="noStrike">
                        <a:effectLst/>
                      </a:endParaRPr>
                    </a:p>
                  </a:txBody>
                  <a:tcPr marL="108000" marR="9525" marT="9525" marB="0" anchor="ctr">
                    <a:solidFill>
                      <a:schemeClr val="bg2">
                        <a:lumMod val="75000"/>
                        <a:lumOff val="2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1200" b="1" u="none" strike="noStrike" kern="1200">
                          <a:solidFill>
                            <a:schemeClr val="lt1"/>
                          </a:solidFill>
                          <a:effectLst/>
                          <a:latin typeface="+mn-lt"/>
                          <a:ea typeface="+mn-ea"/>
                          <a:cs typeface="+mn-cs"/>
                        </a:rPr>
                        <a:t>Study Design</a:t>
                      </a:r>
                      <a:endParaRPr lang="en-US" sz="1200" b="1" u="none" strike="noStrike" kern="1200">
                        <a:solidFill>
                          <a:schemeClr val="lt1"/>
                        </a:solidFill>
                        <a:effectLst/>
                        <a:latin typeface="+mn-lt"/>
                        <a:ea typeface="+mn-ea"/>
                        <a:cs typeface="+mn-cs"/>
                      </a:endParaRPr>
                    </a:p>
                  </a:txBody>
                  <a:tcPr marL="108000" marR="9525" marT="9525" marB="0" anchor="ctr">
                    <a:solidFill>
                      <a:schemeClr val="bg2">
                        <a:lumMod val="75000"/>
                        <a:lumOff val="2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u="none" strike="noStrike" kern="1200">
                          <a:solidFill>
                            <a:schemeClr val="lt1"/>
                          </a:solidFill>
                          <a:effectLst/>
                          <a:latin typeface="+mn-lt"/>
                          <a:ea typeface="+mn-ea"/>
                          <a:cs typeface="+mn-cs"/>
                        </a:rPr>
                        <a:t>Outcomes</a:t>
                      </a:r>
                    </a:p>
                  </a:txBody>
                  <a:tcPr marL="108000" marR="9525" marT="9525" marB="0" anchor="ctr">
                    <a:solidFill>
                      <a:schemeClr val="bg2">
                        <a:lumMod val="75000"/>
                        <a:lumOff val="25000"/>
                      </a:schemeClr>
                    </a:solidFill>
                  </a:tcPr>
                </a:tc>
                <a:extLst>
                  <a:ext uri="{0D108BD9-81ED-4DB2-BD59-A6C34878D82A}">
                    <a16:rowId xmlns:a16="http://schemas.microsoft.com/office/drawing/2014/main" val="1429639543"/>
                  </a:ext>
                </a:extLst>
              </a:tr>
              <a:tr h="667703">
                <a:tc rowSpan="2">
                  <a:txBody>
                    <a:bodyPr/>
                    <a:lstStyle/>
                    <a:p>
                      <a:pPr algn="l" fontAlgn="ctr">
                        <a:buNone/>
                      </a:pPr>
                      <a:r>
                        <a:rPr lang="en-US" sz="1200" u="none" strike="noStrike">
                          <a:effectLst/>
                        </a:rPr>
                        <a:t>Treatment pattern</a:t>
                      </a:r>
                    </a:p>
                  </a:txBody>
                  <a:tcPr marL="108000"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1" i="0" u="none" strike="noStrike" kern="1200">
                          <a:solidFill>
                            <a:srgbClr val="000000"/>
                          </a:solidFill>
                          <a:effectLst/>
                          <a:latin typeface="Aptos Narrow" panose="020B0004020202020204" pitchFamily="34" charset="0"/>
                          <a:ea typeface="+mn-ea"/>
                          <a:cs typeface="+mn-cs"/>
                        </a:rPr>
                        <a:t>     Cross-sectional</a:t>
                      </a:r>
                    </a:p>
                  </a:txBody>
                  <a:tcPr marL="108000" marR="9525" marT="9525" marB="0" anchor="ctr">
                    <a:noFill/>
                  </a:tcPr>
                </a:tc>
                <a:tc>
                  <a:txBody>
                    <a:bodyPr/>
                    <a:lstStyle/>
                    <a:p>
                      <a:pPr marL="0" marR="0" lvl="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sz="1400" b="1" i="0" u="none" strike="noStrike" kern="1200">
                          <a:solidFill>
                            <a:srgbClr val="000000"/>
                          </a:solidFill>
                          <a:effectLst/>
                          <a:latin typeface="Aptos Narrow" panose="020B0004020202020204" pitchFamily="34" charset="0"/>
                          <a:ea typeface="+mn-ea"/>
                          <a:cs typeface="+mn-cs"/>
                        </a:rPr>
                        <a:t>Drug prescription: </a:t>
                      </a:r>
                      <a:endParaRPr lang="en-US" altLang="zh-CN" sz="1400" b="1" i="0" u="none" strike="noStrike" kern="1200">
                        <a:solidFill>
                          <a:srgbClr val="000000"/>
                        </a:solidFill>
                        <a:effectLst/>
                        <a:latin typeface="Aptos Narrow" panose="020B0004020202020204" pitchFamily="34" charset="0"/>
                        <a:ea typeface="+mn-ea"/>
                        <a:cs typeface="+mn-cs"/>
                      </a:endParaRP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a:solidFill>
                            <a:srgbClr val="000000"/>
                          </a:solidFill>
                          <a:effectLst/>
                          <a:latin typeface="Aptos Narrow" panose="020B0004020202020204" pitchFamily="34" charset="0"/>
                          <a:ea typeface="+mn-ea"/>
                          <a:cs typeface="+mn-cs"/>
                        </a:rPr>
                        <a:t>By Category: </a:t>
                      </a:r>
                    </a:p>
                    <a:p>
                      <a:pPr marL="742950" marR="0" lvl="1" indent="-285750" algn="l" defTabSz="914400" rtl="0" eaLnBrk="1" fontAlgn="ctr" latinLnBrk="0" hangingPunct="1">
                        <a:lnSpc>
                          <a:spcPct val="100000"/>
                        </a:lnSpc>
                        <a:spcBef>
                          <a:spcPts val="0"/>
                        </a:spcBef>
                        <a:spcAft>
                          <a:spcPts val="0"/>
                        </a:spcAft>
                        <a:buClrTx/>
                        <a:buSzTx/>
                        <a:buFont typeface="Wingdings" panose="05000000000000000000" pitchFamily="2" charset="2"/>
                        <a:buChar char="ü"/>
                        <a:tabLst/>
                        <a:defRPr/>
                      </a:pPr>
                      <a:r>
                        <a:rPr lang="en-US" sz="1200" b="0" i="0" u="none" strike="noStrike" kern="1200">
                          <a:solidFill>
                            <a:srgbClr val="000000"/>
                          </a:solidFill>
                          <a:effectLst/>
                          <a:latin typeface="Aptos Narrow" panose="020B0004020202020204" pitchFamily="34" charset="0"/>
                          <a:ea typeface="+mn-ea"/>
                          <a:cs typeface="+mn-cs"/>
                        </a:rPr>
                        <a:t>Anti-diabetic(e.g. SGLT2i,DPP-4i,</a:t>
                      </a:r>
                      <a:r>
                        <a:rPr lang="zh-CN" altLang="en-US" sz="1200" b="0" i="0" u="none" strike="noStrike" kern="1200">
                          <a:solidFill>
                            <a:srgbClr val="000000"/>
                          </a:solidFill>
                          <a:effectLst/>
                          <a:latin typeface="Aptos Narrow" panose="020B0004020202020204" pitchFamily="34" charset="0"/>
                          <a:ea typeface="+mn-ea"/>
                          <a:cs typeface="+mn-cs"/>
                        </a:rPr>
                        <a:t> </a:t>
                      </a:r>
                      <a:r>
                        <a:rPr lang="en-US" altLang="zh-CN" sz="1200" b="0" i="0" u="none" strike="noStrike" kern="1200">
                          <a:solidFill>
                            <a:srgbClr val="000000"/>
                          </a:solidFill>
                          <a:effectLst/>
                          <a:latin typeface="Aptos Narrow" panose="020B0004020202020204" pitchFamily="34" charset="0"/>
                          <a:ea typeface="+mn-ea"/>
                          <a:cs typeface="+mn-cs"/>
                        </a:rPr>
                        <a:t>GLP-1 RA, insulin)</a:t>
                      </a:r>
                    </a:p>
                    <a:p>
                      <a:pPr marL="742950" marR="0" lvl="1" indent="-285750" algn="l" defTabSz="914400" rtl="0" eaLnBrk="1" fontAlgn="ctr" latinLnBrk="0" hangingPunct="1">
                        <a:lnSpc>
                          <a:spcPct val="100000"/>
                        </a:lnSpc>
                        <a:spcBef>
                          <a:spcPts val="0"/>
                        </a:spcBef>
                        <a:spcAft>
                          <a:spcPts val="0"/>
                        </a:spcAft>
                        <a:buClrTx/>
                        <a:buSzTx/>
                        <a:buFont typeface="Wingdings" panose="05000000000000000000" pitchFamily="2" charset="2"/>
                        <a:buChar char="ü"/>
                        <a:tabLst/>
                        <a:defRPr/>
                      </a:pPr>
                      <a:r>
                        <a:rPr lang="en-US" sz="1200" b="0" i="0" u="none" strike="noStrike" kern="1200">
                          <a:solidFill>
                            <a:srgbClr val="000000"/>
                          </a:solidFill>
                          <a:effectLst/>
                          <a:latin typeface="Aptos Narrow" panose="020B0004020202020204" pitchFamily="34" charset="0"/>
                          <a:ea typeface="+mn-ea"/>
                          <a:cs typeface="+mn-cs"/>
                        </a:rPr>
                        <a:t>Anti-hyperten</a:t>
                      </a:r>
                      <a:r>
                        <a:rPr lang="en-US" altLang="zh-CN" sz="1200" b="0" i="0" u="none" strike="noStrike" kern="1200">
                          <a:solidFill>
                            <a:srgbClr val="000000"/>
                          </a:solidFill>
                          <a:effectLst/>
                          <a:latin typeface="Aptos Narrow" panose="020B0004020202020204" pitchFamily="34" charset="0"/>
                          <a:ea typeface="+mn-ea"/>
                          <a:cs typeface="+mn-cs"/>
                        </a:rPr>
                        <a:t>sive (e.g., ACEi,</a:t>
                      </a:r>
                      <a:r>
                        <a:rPr lang="zh-CN" altLang="en-US" sz="1200" b="0" i="0" u="none" strike="noStrike" kern="1200">
                          <a:solidFill>
                            <a:srgbClr val="000000"/>
                          </a:solidFill>
                          <a:effectLst/>
                          <a:latin typeface="Aptos Narrow" panose="020B0004020202020204" pitchFamily="34" charset="0"/>
                          <a:ea typeface="+mn-ea"/>
                          <a:cs typeface="+mn-cs"/>
                        </a:rPr>
                        <a:t> </a:t>
                      </a:r>
                      <a:r>
                        <a:rPr lang="en-US" altLang="zh-CN" sz="1200" b="0" i="0" u="none" strike="noStrike" kern="1200">
                          <a:solidFill>
                            <a:srgbClr val="000000"/>
                          </a:solidFill>
                          <a:effectLst/>
                          <a:latin typeface="Aptos Narrow" panose="020B0004020202020204" pitchFamily="34" charset="0"/>
                          <a:ea typeface="+mn-ea"/>
                          <a:cs typeface="+mn-cs"/>
                        </a:rPr>
                        <a:t>ARB,MRA</a:t>
                      </a:r>
                      <a:r>
                        <a:rPr lang="zh-CN" altLang="en-US" sz="1200" b="0" i="0" u="none" strike="noStrike" kern="1200">
                          <a:solidFill>
                            <a:srgbClr val="000000"/>
                          </a:solidFill>
                          <a:effectLst/>
                          <a:latin typeface="Aptos Narrow" panose="020B0004020202020204" pitchFamily="34" charset="0"/>
                          <a:ea typeface="+mn-ea"/>
                          <a:cs typeface="+mn-cs"/>
                        </a:rPr>
                        <a:t>）</a:t>
                      </a:r>
                      <a:endParaRPr lang="en-US" altLang="zh-CN" sz="1200" b="0" i="0" u="none" strike="noStrike" kern="1200">
                        <a:solidFill>
                          <a:srgbClr val="000000"/>
                        </a:solidFill>
                        <a:effectLst/>
                        <a:latin typeface="Aptos Narrow" panose="020B0004020202020204" pitchFamily="34" charset="0"/>
                        <a:ea typeface="+mn-ea"/>
                        <a:cs typeface="+mn-cs"/>
                      </a:endParaRPr>
                    </a:p>
                    <a:p>
                      <a:pPr marL="742950" marR="0" lvl="1" indent="-285750" algn="l" defTabSz="914400" rtl="0" eaLnBrk="1" fontAlgn="ctr" latinLnBrk="0" hangingPunct="1">
                        <a:lnSpc>
                          <a:spcPct val="100000"/>
                        </a:lnSpc>
                        <a:spcBef>
                          <a:spcPts val="0"/>
                        </a:spcBef>
                        <a:spcAft>
                          <a:spcPts val="0"/>
                        </a:spcAft>
                        <a:buClrTx/>
                        <a:buSzTx/>
                        <a:buFont typeface="Wingdings" panose="05000000000000000000" pitchFamily="2" charset="2"/>
                        <a:buChar char="ü"/>
                        <a:tabLst/>
                        <a:defRPr/>
                      </a:pPr>
                      <a:r>
                        <a:rPr lang="en-US" sz="1200" b="0" i="0" u="none" strike="noStrike" kern="1200">
                          <a:solidFill>
                            <a:srgbClr val="000000"/>
                          </a:solidFill>
                          <a:effectLst/>
                          <a:latin typeface="Aptos Narrow" panose="020B0004020202020204" pitchFamily="34" charset="0"/>
                          <a:ea typeface="+mn-ea"/>
                          <a:cs typeface="+mn-cs"/>
                        </a:rPr>
                        <a:t>Lipid-lowering (e.g., Statins, Ezetimibe)</a:t>
                      </a: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a:solidFill>
                            <a:srgbClr val="000000"/>
                          </a:solidFill>
                          <a:effectLst/>
                          <a:latin typeface="Aptos Narrow" panose="020B0004020202020204" pitchFamily="34" charset="0"/>
                          <a:ea typeface="+mn-ea"/>
                          <a:cs typeface="+mn-cs"/>
                        </a:rPr>
                        <a:t>Combination</a:t>
                      </a:r>
                    </a:p>
                  </a:txBody>
                  <a:tcPr marL="108000" marR="9525" marT="9525" marB="0" anchor="ctr">
                    <a:noFill/>
                  </a:tcPr>
                </a:tc>
                <a:extLst>
                  <a:ext uri="{0D108BD9-81ED-4DB2-BD59-A6C34878D82A}">
                    <a16:rowId xmlns:a16="http://schemas.microsoft.com/office/drawing/2014/main" val="3179870790"/>
                  </a:ext>
                </a:extLst>
              </a:tr>
              <a:tr h="667703">
                <a:tc vMerge="1">
                  <a:txBody>
                    <a:bodyPr/>
                    <a:lstStyle/>
                    <a:p>
                      <a:endParaRPr lang="zh-CN" altLang="en-US"/>
                    </a:p>
                  </a:txBody>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1" i="0" u="none" strike="noStrike" kern="1200">
                          <a:solidFill>
                            <a:srgbClr val="000000"/>
                          </a:solidFill>
                          <a:effectLst/>
                          <a:latin typeface="Aptos Narrow" panose="020B0004020202020204" pitchFamily="34" charset="0"/>
                          <a:ea typeface="+mn-ea"/>
                          <a:cs typeface="+mn-cs"/>
                        </a:rPr>
                        <a:t>     Cohort</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400" b="1" i="0" u="none" strike="noStrike" kern="1200">
                          <a:solidFill>
                            <a:srgbClr val="000000"/>
                          </a:solidFill>
                          <a:effectLst/>
                          <a:latin typeface="Aptos Narrow" panose="020B0004020202020204" pitchFamily="34" charset="0"/>
                          <a:ea typeface="+mn-ea"/>
                          <a:cs typeface="+mn-cs"/>
                        </a:rPr>
                        <a:t> (SGLT2i &amp; GLP1 group)</a:t>
                      </a:r>
                    </a:p>
                  </a:txBody>
                  <a:tcPr marL="108000" marR="9525" marT="9525" marB="0" anchor="ctr">
                    <a:noFill/>
                  </a:tcPr>
                </a:tc>
                <a:tc>
                  <a:txBody>
                    <a:bodyPr/>
                    <a:lstStyle/>
                    <a:p>
                      <a:pPr algn="l" fontAlgn="ctr">
                        <a:buNone/>
                      </a:pPr>
                      <a:r>
                        <a:rPr lang="en-US" altLang="zh-CN" sz="1400" b="1" i="0" u="none" strike="noStrike" kern="1200">
                          <a:solidFill>
                            <a:srgbClr val="000000"/>
                          </a:solidFill>
                          <a:effectLst/>
                          <a:latin typeface="Aptos Narrow" panose="020B0004020202020204" pitchFamily="34" charset="0"/>
                          <a:ea typeface="+mn-ea"/>
                          <a:cs typeface="+mn-cs"/>
                        </a:rPr>
                        <a:t>Drug Persistence</a:t>
                      </a:r>
                      <a:r>
                        <a:rPr lang="en-US" altLang="zh-CN" sz="1400" b="0" i="0" u="none" strike="noStrike" kern="1200">
                          <a:solidFill>
                            <a:srgbClr val="000000"/>
                          </a:solidFill>
                          <a:effectLst/>
                          <a:latin typeface="Aptos Narrow" panose="020B0004020202020204" pitchFamily="34" charset="0"/>
                          <a:ea typeface="+mn-ea"/>
                          <a:cs typeface="+mn-cs"/>
                        </a:rPr>
                        <a:t>: persistent without 60-day gap in therapy</a:t>
                      </a:r>
                    </a:p>
                    <a:p>
                      <a:pPr marL="0" marR="0" lvl="0" indent="0" algn="l" defTabSz="914400" rtl="0" eaLnBrk="1" fontAlgn="ctr" latinLnBrk="0" hangingPunct="1">
                        <a:lnSpc>
                          <a:spcPct val="100000"/>
                        </a:lnSpc>
                        <a:spcBef>
                          <a:spcPts val="0"/>
                        </a:spcBef>
                        <a:spcAft>
                          <a:spcPts val="0"/>
                        </a:spcAft>
                        <a:buClrTx/>
                        <a:buSzTx/>
                        <a:buFont typeface="Arial" panose="020B0604020202020204" pitchFamily="34" charset="0"/>
                        <a:buNone/>
                        <a:tabLst/>
                        <a:defRPr/>
                      </a:pPr>
                      <a:r>
                        <a:rPr lang="en-US" altLang="zh-CN" sz="1400" b="1" i="0" u="none" strike="noStrike" kern="1200">
                          <a:solidFill>
                            <a:srgbClr val="000000"/>
                          </a:solidFill>
                          <a:effectLst/>
                          <a:latin typeface="Aptos Narrow" panose="020B0004020202020204" pitchFamily="34" charset="0"/>
                          <a:ea typeface="+mn-ea"/>
                          <a:cs typeface="+mn-cs"/>
                        </a:rPr>
                        <a:t>Drug Discontinuation</a:t>
                      </a:r>
                      <a:r>
                        <a:rPr lang="en-US" altLang="zh-CN" sz="1400" b="0" i="0" u="none" strike="noStrike" kern="1200">
                          <a:solidFill>
                            <a:srgbClr val="000000"/>
                          </a:solidFill>
                          <a:effectLst/>
                          <a:latin typeface="Aptos Narrow" panose="020B0004020202020204" pitchFamily="34" charset="0"/>
                          <a:ea typeface="+mn-ea"/>
                          <a:cs typeface="+mn-cs"/>
                        </a:rPr>
                        <a:t>: time to discontinuation (The last day of supply before gap) </a:t>
                      </a:r>
                    </a:p>
                    <a:p>
                      <a:pPr algn="l" fontAlgn="ctr">
                        <a:buNone/>
                      </a:pPr>
                      <a:r>
                        <a:rPr lang="en-US" altLang="zh-CN" sz="1400" b="1" i="0" u="none" strike="noStrike" kern="1200">
                          <a:solidFill>
                            <a:srgbClr val="000000"/>
                          </a:solidFill>
                          <a:effectLst/>
                          <a:latin typeface="Aptos Narrow" panose="020B0004020202020204" pitchFamily="34" charset="0"/>
                          <a:ea typeface="+mn-ea"/>
                          <a:cs typeface="+mn-cs"/>
                        </a:rPr>
                        <a:t>Drug Adherence</a:t>
                      </a:r>
                      <a:r>
                        <a:rPr lang="en-US" altLang="zh-CN" sz="1400" b="0" i="0" u="none" strike="noStrike" kern="1200">
                          <a:solidFill>
                            <a:srgbClr val="000000"/>
                          </a:solidFill>
                          <a:effectLst/>
                          <a:latin typeface="Aptos Narrow" panose="020B0004020202020204" pitchFamily="34" charset="0"/>
                          <a:ea typeface="+mn-ea"/>
                          <a:cs typeface="+mn-cs"/>
                        </a:rPr>
                        <a:t>: the proportion of days covered for one year </a:t>
                      </a:r>
                    </a:p>
                    <a:p>
                      <a:pPr algn="l" fontAlgn="ctr">
                        <a:buNone/>
                      </a:pPr>
                      <a:r>
                        <a:rPr lang="en-US" altLang="zh-CN" sz="1400" b="1" i="0" u="none" strike="noStrike" kern="1200">
                          <a:solidFill>
                            <a:srgbClr val="000000"/>
                          </a:solidFill>
                          <a:effectLst/>
                          <a:latin typeface="Aptos Narrow" panose="020B0004020202020204" pitchFamily="34" charset="0"/>
                          <a:ea typeface="+mn-ea"/>
                          <a:cs typeface="+mn-cs"/>
                        </a:rPr>
                        <a:t>Drug Switch</a:t>
                      </a:r>
                      <a:r>
                        <a:rPr lang="en-US" altLang="zh-CN" sz="1400" b="0" i="0" u="none" strike="noStrike" kern="1200">
                          <a:solidFill>
                            <a:srgbClr val="000000"/>
                          </a:solidFill>
                          <a:effectLst/>
                          <a:latin typeface="Aptos Narrow" panose="020B0004020202020204" pitchFamily="34" charset="0"/>
                          <a:ea typeface="+mn-ea"/>
                          <a:cs typeface="+mn-cs"/>
                        </a:rPr>
                        <a:t>: a change between SLGT2i or</a:t>
                      </a:r>
                      <a:r>
                        <a:rPr lang="zh-CN" altLang="en-US" sz="1400" b="0" i="0" u="none" strike="noStrike" kern="1200">
                          <a:solidFill>
                            <a:srgbClr val="000000"/>
                          </a:solidFill>
                          <a:effectLst/>
                          <a:latin typeface="Aptos Narrow" panose="020B0004020202020204" pitchFamily="34" charset="0"/>
                          <a:ea typeface="+mn-ea"/>
                          <a:cs typeface="+mn-cs"/>
                        </a:rPr>
                        <a:t> </a:t>
                      </a:r>
                      <a:r>
                        <a:rPr lang="en-US" altLang="zh-CN" sz="1400" b="0" i="0" u="none" strike="noStrike" kern="1200">
                          <a:solidFill>
                            <a:srgbClr val="000000"/>
                          </a:solidFill>
                          <a:effectLst/>
                          <a:latin typeface="Aptos Narrow" panose="020B0004020202020204" pitchFamily="34" charset="0"/>
                          <a:ea typeface="+mn-ea"/>
                          <a:cs typeface="+mn-cs"/>
                        </a:rPr>
                        <a:t>GLP1</a:t>
                      </a:r>
                      <a:r>
                        <a:rPr lang="zh-CN" altLang="en-US" sz="1400" b="0" i="0" u="none" strike="noStrike" kern="1200">
                          <a:solidFill>
                            <a:srgbClr val="000000"/>
                          </a:solidFill>
                          <a:effectLst/>
                          <a:latin typeface="Aptos Narrow" panose="020B0004020202020204" pitchFamily="34" charset="0"/>
                          <a:ea typeface="+mn-ea"/>
                          <a:cs typeface="+mn-cs"/>
                        </a:rPr>
                        <a:t> </a:t>
                      </a:r>
                      <a:r>
                        <a:rPr lang="en-US" altLang="zh-CN" sz="1400" b="0" i="0" u="none" strike="noStrike" kern="1200">
                          <a:solidFill>
                            <a:srgbClr val="000000"/>
                          </a:solidFill>
                          <a:effectLst/>
                          <a:latin typeface="Aptos Narrow" panose="020B0004020202020204" pitchFamily="34" charset="0"/>
                          <a:ea typeface="+mn-ea"/>
                          <a:cs typeface="+mn-cs"/>
                        </a:rPr>
                        <a:t>products from one claim to the next for one year </a:t>
                      </a:r>
                    </a:p>
                  </a:txBody>
                  <a:tcPr marL="108000" marR="9525" marT="9525" marB="0" anchor="ctr">
                    <a:noFill/>
                  </a:tcPr>
                </a:tc>
                <a:extLst>
                  <a:ext uri="{0D108BD9-81ED-4DB2-BD59-A6C34878D82A}">
                    <a16:rowId xmlns:a16="http://schemas.microsoft.com/office/drawing/2014/main" val="2520005708"/>
                  </a:ext>
                </a:extLst>
              </a:tr>
            </a:tbl>
          </a:graphicData>
        </a:graphic>
      </p:graphicFrame>
      <p:sp>
        <p:nvSpPr>
          <p:cNvPr id="5" name="TextBox 4">
            <a:extLst>
              <a:ext uri="{FF2B5EF4-FFF2-40B4-BE49-F238E27FC236}">
                <a16:creationId xmlns:a16="http://schemas.microsoft.com/office/drawing/2014/main" id="{EFEC9C54-B439-5FD6-1849-D0683DBC1E94}"/>
              </a:ext>
            </a:extLst>
          </p:cNvPr>
          <p:cNvSpPr txBox="1"/>
          <p:nvPr/>
        </p:nvSpPr>
        <p:spPr bwMode="gray">
          <a:xfrm>
            <a:off x="189270" y="875111"/>
            <a:ext cx="6179574" cy="307777"/>
          </a:xfrm>
          <a:prstGeom prst="rect">
            <a:avLst/>
          </a:prstGeom>
          <a:noFill/>
        </p:spPr>
        <p:txBody>
          <a:bodyPr wrap="square">
            <a:spAutoFit/>
          </a:bodyPr>
          <a:lstStyle/>
          <a:p>
            <a:pPr algn="l" fontAlgn="ctr">
              <a:buNone/>
            </a:pPr>
            <a:r>
              <a:rPr lang="en-US" altLang="zh-CN" sz="1400" b="1"/>
              <a:t>Secondary</a:t>
            </a:r>
            <a:r>
              <a:rPr lang="en-US" altLang="zh-CN" sz="1400" b="1" u="none" strike="noStrike">
                <a:effectLst/>
              </a:rPr>
              <a:t> Objectives</a:t>
            </a:r>
            <a:endParaRPr lang="en-US" altLang="zh-CN" sz="1400" b="1" i="0" u="none" strike="noStrike">
              <a:solidFill>
                <a:srgbClr val="000000"/>
              </a:solidFill>
              <a:effectLst/>
              <a:latin typeface="Aptos Narrow" panose="020B0004020202020204" pitchFamily="34" charset="0"/>
            </a:endParaRPr>
          </a:p>
        </p:txBody>
      </p:sp>
      <p:pic>
        <p:nvPicPr>
          <p:cNvPr id="24" name="Graphic 23" descr="Badge 1 with solid fill">
            <a:extLst>
              <a:ext uri="{FF2B5EF4-FFF2-40B4-BE49-F238E27FC236}">
                <a16:creationId xmlns:a16="http://schemas.microsoft.com/office/drawing/2014/main" id="{8FCD592C-1091-E3BE-1C1C-C27DC2271C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31524" y="2112258"/>
            <a:ext cx="252482" cy="252482"/>
          </a:xfrm>
          <a:prstGeom prst="rect">
            <a:avLst/>
          </a:prstGeom>
        </p:spPr>
      </p:pic>
      <p:pic>
        <p:nvPicPr>
          <p:cNvPr id="28" name="Graphic 27" descr="Badge with solid fill">
            <a:extLst>
              <a:ext uri="{FF2B5EF4-FFF2-40B4-BE49-F238E27FC236}">
                <a16:creationId xmlns:a16="http://schemas.microsoft.com/office/drawing/2014/main" id="{296E7553-08EC-C450-9DA0-80B12AA7893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31524" y="3000091"/>
            <a:ext cx="252482" cy="252482"/>
          </a:xfrm>
          <a:prstGeom prst="rect">
            <a:avLst/>
          </a:prstGeom>
        </p:spPr>
      </p:pic>
      <p:sp>
        <p:nvSpPr>
          <p:cNvPr id="76" name="TextBox 75">
            <a:extLst>
              <a:ext uri="{FF2B5EF4-FFF2-40B4-BE49-F238E27FC236}">
                <a16:creationId xmlns:a16="http://schemas.microsoft.com/office/drawing/2014/main" id="{FD4E3AFB-4D4A-9011-F664-1A225387729D}"/>
              </a:ext>
            </a:extLst>
          </p:cNvPr>
          <p:cNvSpPr txBox="1"/>
          <p:nvPr/>
        </p:nvSpPr>
        <p:spPr bwMode="gray">
          <a:xfrm>
            <a:off x="7726097" y="1990605"/>
            <a:ext cx="4342742" cy="707886"/>
          </a:xfrm>
          <a:prstGeom prst="rect">
            <a:avLst/>
          </a:prstGeom>
          <a:noFill/>
        </p:spPr>
        <p:txBody>
          <a:bodyPr wrap="square">
            <a:spAutoFit/>
          </a:bodyPr>
          <a:lstStyle/>
          <a:p>
            <a:pPr marL="742950" marR="0" lvl="1" indent="-285750" algn="l" defTabSz="914400" rtl="0" eaLnBrk="1" fontAlgn="ctr" latinLnBrk="0" hangingPunct="1">
              <a:lnSpc>
                <a:spcPct val="100000"/>
              </a:lnSpc>
              <a:spcBef>
                <a:spcPts val="0"/>
              </a:spcBef>
              <a:spcAft>
                <a:spcPts val="0"/>
              </a:spcAft>
              <a:buClrTx/>
              <a:buSzTx/>
              <a:buFont typeface="Wingdings" panose="05000000000000000000" pitchFamily="2" charset="2"/>
              <a:buChar char="ü"/>
              <a:tabLst/>
              <a:defRPr/>
            </a:pPr>
            <a:r>
              <a:rPr lang="en-US" altLang="zh-CN" sz="1200">
                <a:solidFill>
                  <a:srgbClr val="000000"/>
                </a:solidFill>
                <a:latin typeface="Aptos Narrow" panose="020B0004020202020204" pitchFamily="34" charset="0"/>
              </a:rPr>
              <a:t>Antiplatelet (e.g., Aspirin</a:t>
            </a:r>
            <a:r>
              <a:rPr lang="zh-CN" altLang="en-US" sz="1200">
                <a:solidFill>
                  <a:srgbClr val="000000"/>
                </a:solidFill>
                <a:latin typeface="Aptos Narrow" panose="020B0004020202020204" pitchFamily="34" charset="0"/>
              </a:rPr>
              <a:t>）</a:t>
            </a:r>
            <a:endParaRPr lang="en-US" altLang="zh-CN" sz="1200">
              <a:solidFill>
                <a:srgbClr val="000000"/>
              </a:solidFill>
              <a:latin typeface="Aptos Narrow" panose="020B0004020202020204" pitchFamily="34" charset="0"/>
            </a:endParaRPr>
          </a:p>
          <a:p>
            <a:pPr marL="742950" marR="0" lvl="1" indent="-285750" algn="l" defTabSz="914400" rtl="0" eaLnBrk="1" fontAlgn="ctr" latinLnBrk="0" hangingPunct="1">
              <a:lnSpc>
                <a:spcPct val="100000"/>
              </a:lnSpc>
              <a:spcBef>
                <a:spcPts val="0"/>
              </a:spcBef>
              <a:spcAft>
                <a:spcPts val="0"/>
              </a:spcAft>
              <a:buClrTx/>
              <a:buSzTx/>
              <a:buFont typeface="Wingdings" panose="05000000000000000000" pitchFamily="2" charset="2"/>
              <a:buChar char="ü"/>
              <a:tabLst/>
              <a:defRPr/>
            </a:pPr>
            <a:r>
              <a:rPr lang="en-US" altLang="zh-CN" sz="1200">
                <a:solidFill>
                  <a:srgbClr val="000000"/>
                </a:solidFill>
                <a:latin typeface="Aptos Narrow" panose="020B0004020202020204" pitchFamily="34" charset="0"/>
              </a:rPr>
              <a:t>Others</a:t>
            </a:r>
            <a:r>
              <a:rPr lang="zh-CN" altLang="en-US" sz="1200">
                <a:solidFill>
                  <a:srgbClr val="000000"/>
                </a:solidFill>
                <a:latin typeface="Aptos Narrow" panose="020B0004020202020204" pitchFamily="34" charset="0"/>
              </a:rPr>
              <a:t> </a:t>
            </a:r>
            <a:r>
              <a:rPr lang="en-US" altLang="zh-CN" sz="1200">
                <a:solidFill>
                  <a:srgbClr val="000000"/>
                </a:solidFill>
                <a:latin typeface="Aptos Narrow" panose="020B0004020202020204" pitchFamily="34" charset="0"/>
              </a:rPr>
              <a:t>for</a:t>
            </a:r>
            <a:r>
              <a:rPr lang="zh-CN" altLang="en-US" sz="1200">
                <a:solidFill>
                  <a:srgbClr val="000000"/>
                </a:solidFill>
                <a:latin typeface="Aptos Narrow" panose="020B0004020202020204" pitchFamily="34" charset="0"/>
              </a:rPr>
              <a:t> </a:t>
            </a:r>
            <a:r>
              <a:rPr lang="en-US" altLang="zh-CN" sz="1200">
                <a:solidFill>
                  <a:srgbClr val="000000"/>
                </a:solidFill>
                <a:latin typeface="Aptos Narrow" panose="020B0004020202020204" pitchFamily="34" charset="0"/>
              </a:rPr>
              <a:t>CV protective(e.g., </a:t>
            </a:r>
            <a:r>
              <a:rPr lang="en-US" altLang="zh-CN" sz="1200" err="1">
                <a:solidFill>
                  <a:srgbClr val="000000"/>
                </a:solidFill>
                <a:latin typeface="Aptos Narrow" panose="020B0004020202020204" pitchFamily="34" charset="0"/>
              </a:rPr>
              <a:t>Aliskiren</a:t>
            </a:r>
            <a:r>
              <a:rPr lang="en-US" altLang="zh-CN" sz="1200">
                <a:solidFill>
                  <a:srgbClr val="000000"/>
                </a:solidFill>
                <a:latin typeface="Aptos Narrow" panose="020B0004020202020204" pitchFamily="34" charset="0"/>
              </a:rPr>
              <a:t>)</a:t>
            </a:r>
          </a:p>
          <a:p>
            <a:pPr marL="742950" marR="0" lvl="1" indent="-285750" algn="l" defTabSz="914400" rtl="0" eaLnBrk="1" fontAlgn="ctr" latinLnBrk="0" hangingPunct="1">
              <a:lnSpc>
                <a:spcPct val="100000"/>
              </a:lnSpc>
              <a:spcBef>
                <a:spcPts val="0"/>
              </a:spcBef>
              <a:spcAft>
                <a:spcPts val="0"/>
              </a:spcAft>
              <a:buClrTx/>
              <a:buSzTx/>
              <a:buFont typeface="Wingdings" panose="05000000000000000000" pitchFamily="2" charset="2"/>
              <a:buChar char="ü"/>
              <a:tabLst/>
              <a:defRPr/>
            </a:pPr>
            <a:r>
              <a:rPr lang="en-US" altLang="zh-CN" sz="1200">
                <a:solidFill>
                  <a:srgbClr val="000000"/>
                </a:solidFill>
                <a:latin typeface="Aptos Narrow" panose="020B0004020202020204" pitchFamily="34" charset="0"/>
              </a:rPr>
              <a:t>Comorbidity management (e.g., Anticoagulants</a:t>
            </a:r>
            <a:r>
              <a:rPr lang="en-US" altLang="zh-CN" sz="1600" b="0" i="0" u="none" strike="noStrike" kern="1200">
                <a:solidFill>
                  <a:srgbClr val="000000"/>
                </a:solidFill>
                <a:effectLst/>
                <a:latin typeface="Aptos Narrow" panose="020B0004020202020204" pitchFamily="34" charset="0"/>
                <a:ea typeface="+mn-ea"/>
                <a:cs typeface="+mn-cs"/>
              </a:rPr>
              <a:t>)</a:t>
            </a:r>
          </a:p>
        </p:txBody>
      </p:sp>
      <p:grpSp>
        <p:nvGrpSpPr>
          <p:cNvPr id="83" name="Group 82">
            <a:extLst>
              <a:ext uri="{FF2B5EF4-FFF2-40B4-BE49-F238E27FC236}">
                <a16:creationId xmlns:a16="http://schemas.microsoft.com/office/drawing/2014/main" id="{355FAEBC-9C01-198E-6F57-C1BEE7D919CA}"/>
              </a:ext>
            </a:extLst>
          </p:cNvPr>
          <p:cNvGrpSpPr/>
          <p:nvPr/>
        </p:nvGrpSpPr>
        <p:grpSpPr>
          <a:xfrm>
            <a:off x="1035757" y="3897599"/>
            <a:ext cx="10666174" cy="2319336"/>
            <a:chOff x="846162" y="3979485"/>
            <a:chExt cx="10666174" cy="2319336"/>
          </a:xfrm>
        </p:grpSpPr>
        <p:sp>
          <p:nvSpPr>
            <p:cNvPr id="3" name="Rectangle: Rounded Corners 2">
              <a:extLst>
                <a:ext uri="{FF2B5EF4-FFF2-40B4-BE49-F238E27FC236}">
                  <a16:creationId xmlns:a16="http://schemas.microsoft.com/office/drawing/2014/main" id="{2F2E3BCC-8CBD-BE82-5020-9FE74AC36F54}"/>
                </a:ext>
              </a:extLst>
            </p:cNvPr>
            <p:cNvSpPr/>
            <p:nvPr/>
          </p:nvSpPr>
          <p:spPr bwMode="gray">
            <a:xfrm>
              <a:off x="846162" y="3979485"/>
              <a:ext cx="10666174" cy="2319336"/>
            </a:xfrm>
            <a:prstGeom prst="roundRect">
              <a:avLst>
                <a:gd name="adj" fmla="val 2349"/>
              </a:avLst>
            </a:prstGeom>
            <a:solidFill>
              <a:schemeClr val="accent4">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grpSp>
          <p:nvGrpSpPr>
            <p:cNvPr id="6" name="Group 5">
              <a:extLst>
                <a:ext uri="{FF2B5EF4-FFF2-40B4-BE49-F238E27FC236}">
                  <a16:creationId xmlns:a16="http://schemas.microsoft.com/office/drawing/2014/main" id="{4C18CCE6-47D0-25A1-B42E-777C233B992A}"/>
                </a:ext>
              </a:extLst>
            </p:cNvPr>
            <p:cNvGrpSpPr/>
            <p:nvPr/>
          </p:nvGrpSpPr>
          <p:grpSpPr>
            <a:xfrm>
              <a:off x="2143146" y="3999356"/>
              <a:ext cx="9354242" cy="1308916"/>
              <a:chOff x="1640003" y="3514774"/>
              <a:chExt cx="9354242" cy="1308916"/>
            </a:xfrm>
          </p:grpSpPr>
          <p:sp>
            <p:nvSpPr>
              <p:cNvPr id="7" name="箭头: 右 7">
                <a:extLst>
                  <a:ext uri="{FF2B5EF4-FFF2-40B4-BE49-F238E27FC236}">
                    <a16:creationId xmlns:a16="http://schemas.microsoft.com/office/drawing/2014/main" id="{4DE1CF08-949C-B3AD-22A4-FC3915A2D08D}"/>
                  </a:ext>
                </a:extLst>
              </p:cNvPr>
              <p:cNvSpPr/>
              <p:nvPr/>
            </p:nvSpPr>
            <p:spPr>
              <a:xfrm>
                <a:off x="1640003" y="4515912"/>
                <a:ext cx="8278531" cy="307778"/>
              </a:xfrm>
              <a:prstGeom prst="rightArrow">
                <a:avLst/>
              </a:prstGeom>
              <a:solidFill>
                <a:schemeClr val="accent1">
                  <a:lumMod val="90000"/>
                  <a:lumOff val="10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err="1">
                  <a:ln>
                    <a:noFill/>
                  </a:ln>
                  <a:solidFill>
                    <a:prstClr val="black"/>
                  </a:solidFill>
                  <a:effectLst/>
                  <a:uLnTx/>
                  <a:uFillTx/>
                  <a:latin typeface="Boehringer Forward Text"/>
                  <a:ea typeface="+mn-ea"/>
                  <a:cs typeface="+mn-cs"/>
                </a:endParaRPr>
              </a:p>
            </p:txBody>
          </p:sp>
          <p:sp>
            <p:nvSpPr>
              <p:cNvPr id="8" name="左大括号 6">
                <a:extLst>
                  <a:ext uri="{FF2B5EF4-FFF2-40B4-BE49-F238E27FC236}">
                    <a16:creationId xmlns:a16="http://schemas.microsoft.com/office/drawing/2014/main" id="{0C4AC28B-04CB-3F73-D591-2D52E1079DBA}"/>
                  </a:ext>
                </a:extLst>
              </p:cNvPr>
              <p:cNvSpPr/>
              <p:nvPr/>
            </p:nvSpPr>
            <p:spPr>
              <a:xfrm rot="5400000">
                <a:off x="8792423" y="3355037"/>
                <a:ext cx="167927" cy="2039222"/>
              </a:xfrm>
              <a:prstGeom prst="leftBrace">
                <a:avLst/>
              </a:prstGeom>
              <a:ln w="38100">
                <a:solidFill>
                  <a:schemeClr val="accent5"/>
                </a:solidFill>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 name="TextBox 9">
                <a:extLst>
                  <a:ext uri="{FF2B5EF4-FFF2-40B4-BE49-F238E27FC236}">
                    <a16:creationId xmlns:a16="http://schemas.microsoft.com/office/drawing/2014/main" id="{B7FC2DD9-1292-BA7C-5FE7-28E66670816C}"/>
                  </a:ext>
                </a:extLst>
              </p:cNvPr>
              <p:cNvSpPr txBox="1"/>
              <p:nvPr/>
            </p:nvSpPr>
            <p:spPr bwMode="gray">
              <a:xfrm>
                <a:off x="6643010" y="3514774"/>
                <a:ext cx="4351235" cy="338554"/>
              </a:xfrm>
              <a:prstGeom prst="rect">
                <a:avLst/>
              </a:prstGeom>
              <a:noFill/>
              <a:ln>
                <a:noFill/>
              </a:ln>
            </p:spPr>
            <p:txBody>
              <a:bodyPr wrap="square" lIns="0" tIns="0" rIns="0" bIns="0" rtlCol="0" anchor="t">
                <a:sp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latin typeface="Boehringer Forward Text"/>
                  </a:defRPr>
                </a:lvl1pPr>
              </a:lstStyle>
              <a:p>
                <a:r>
                  <a:rPr lang="en-US" altLang="zh-CN"/>
                  <a:t>Index date:  the last relevant prescription of inpatient group or at least two same prescriptions of outpatient group </a:t>
                </a:r>
                <a:endParaRPr lang="zh-CN" altLang="en-US"/>
              </a:p>
            </p:txBody>
          </p:sp>
          <p:cxnSp>
            <p:nvCxnSpPr>
              <p:cNvPr id="12" name="直接连接符 8">
                <a:extLst>
                  <a:ext uri="{FF2B5EF4-FFF2-40B4-BE49-F238E27FC236}">
                    <a16:creationId xmlns:a16="http://schemas.microsoft.com/office/drawing/2014/main" id="{F8EB8176-9D08-9F31-8A7D-43743117AA07}"/>
                  </a:ext>
                </a:extLst>
              </p:cNvPr>
              <p:cNvCxnSpPr>
                <a:cxnSpLocks/>
              </p:cNvCxnSpPr>
              <p:nvPr/>
            </p:nvCxnSpPr>
            <p:spPr>
              <a:xfrm>
                <a:off x="8646632" y="3839481"/>
                <a:ext cx="0" cy="771691"/>
              </a:xfrm>
              <a:prstGeom prst="line">
                <a:avLst/>
              </a:prstGeom>
              <a:ln w="28575">
                <a:solidFill>
                  <a:schemeClr val="accent5"/>
                </a:solidFill>
                <a:prstDash val="sysDot"/>
              </a:ln>
            </p:spPr>
            <p:style>
              <a:lnRef idx="3">
                <a:schemeClr val="accent2"/>
              </a:lnRef>
              <a:fillRef idx="0">
                <a:schemeClr val="accent2"/>
              </a:fillRef>
              <a:effectRef idx="2">
                <a:schemeClr val="accent2"/>
              </a:effectRef>
              <a:fontRef idx="minor">
                <a:schemeClr val="tx1"/>
              </a:fontRef>
            </p:style>
          </p:cxnSp>
        </p:grpSp>
        <p:sp>
          <p:nvSpPr>
            <p:cNvPr id="17" name="文本框 11">
              <a:extLst>
                <a:ext uri="{FF2B5EF4-FFF2-40B4-BE49-F238E27FC236}">
                  <a16:creationId xmlns:a16="http://schemas.microsoft.com/office/drawing/2014/main" id="{19F0EE57-5E0B-CDAE-EF0E-FF9BF68F5C4E}"/>
                </a:ext>
              </a:extLst>
            </p:cNvPr>
            <p:cNvSpPr txBox="1"/>
            <p:nvPr/>
          </p:nvSpPr>
          <p:spPr>
            <a:xfrm>
              <a:off x="8100338" y="4413316"/>
              <a:ext cx="3215070"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i="0" u="none" strike="noStrike" kern="1200" cap="none" spc="0" normalizeH="0" baseline="0" noProof="0">
                  <a:ln>
                    <a:noFill/>
                  </a:ln>
                  <a:solidFill>
                    <a:prstClr val="black"/>
                  </a:solidFill>
                  <a:effectLst/>
                  <a:uLnTx/>
                  <a:uFillTx/>
                  <a:latin typeface="Boehringer Forward Text"/>
                  <a:ea typeface="+mn-ea"/>
                  <a:cs typeface="+mn-cs"/>
                </a:rPr>
                <a:t>Cross-sectional patient identification period:</a:t>
              </a:r>
            </a:p>
            <a:p>
              <a:pPr lvl="0" algn="ctr">
                <a:defRPr/>
              </a:pPr>
              <a:r>
                <a:rPr lang="en-US" altLang="zh-CN" sz="1100"/>
                <a:t>Jan 1</a:t>
              </a:r>
              <a:r>
                <a:rPr lang="en-US" altLang="zh-CN" sz="1100" baseline="30000"/>
                <a:t>st</a:t>
              </a:r>
              <a:r>
                <a:rPr lang="en-US" altLang="zh-CN" sz="1100"/>
                <a:t> 2026</a:t>
              </a:r>
              <a:r>
                <a:rPr kumimoji="0" lang="en-US" altLang="zh-CN" sz="1100" i="0" u="none" strike="noStrike" kern="1200" cap="none" spc="0" normalizeH="0" baseline="0" noProof="0">
                  <a:ln>
                    <a:noFill/>
                  </a:ln>
                  <a:effectLst/>
                  <a:uLnTx/>
                  <a:uFillTx/>
                  <a:latin typeface="Boehringer Forward Text"/>
                  <a:ea typeface="+mn-ea"/>
                  <a:cs typeface="+mn-cs"/>
                </a:rPr>
                <a:t>- Dec 31</a:t>
              </a:r>
              <a:r>
                <a:rPr lang="en-US" altLang="zh-CN" sz="1100" baseline="30000" err="1"/>
                <a:t>th</a:t>
              </a:r>
              <a:r>
                <a:rPr lang="en-US" altLang="zh-CN" sz="1100">
                  <a:latin typeface="Boehringer Forward Text"/>
                </a:rPr>
                <a:t>,</a:t>
              </a:r>
              <a:r>
                <a:rPr kumimoji="0" lang="en-US" altLang="zh-CN" sz="1100" i="0" u="none" strike="noStrike" kern="1200" cap="none" spc="0" normalizeH="0" baseline="0" noProof="0">
                  <a:ln>
                    <a:noFill/>
                  </a:ln>
                  <a:effectLst/>
                  <a:uLnTx/>
                  <a:uFillTx/>
                  <a:latin typeface="Boehringer Forward Text"/>
                  <a:ea typeface="+mn-ea"/>
                  <a:cs typeface="+mn-cs"/>
                </a:rPr>
                <a:t> 2027</a:t>
              </a:r>
              <a:endParaRPr kumimoji="0" lang="zh-CN" altLang="en-US" sz="1100" i="0" u="none" strike="noStrike" kern="1200" cap="none" spc="0" normalizeH="0" baseline="0" noProof="0">
                <a:ln>
                  <a:noFill/>
                </a:ln>
                <a:effectLst/>
                <a:uLnTx/>
                <a:uFillTx/>
                <a:latin typeface="Boehringer Forward Text"/>
                <a:ea typeface="+mn-ea"/>
                <a:cs typeface="+mn-cs"/>
              </a:endParaRPr>
            </a:p>
          </p:txBody>
        </p:sp>
        <p:sp>
          <p:nvSpPr>
            <p:cNvPr id="21" name="左大括号 6">
              <a:extLst>
                <a:ext uri="{FF2B5EF4-FFF2-40B4-BE49-F238E27FC236}">
                  <a16:creationId xmlns:a16="http://schemas.microsoft.com/office/drawing/2014/main" id="{806A48BF-B636-4216-8426-398D62C0A4A4}"/>
                </a:ext>
              </a:extLst>
            </p:cNvPr>
            <p:cNvSpPr/>
            <p:nvPr/>
          </p:nvSpPr>
          <p:spPr>
            <a:xfrm rot="16200000">
              <a:off x="5677171" y="1971890"/>
              <a:ext cx="153889" cy="7221939"/>
            </a:xfrm>
            <a:prstGeom prst="leftBrace">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25" name="Graphic 24" descr="Badge 1 with solid fill">
              <a:extLst>
                <a:ext uri="{FF2B5EF4-FFF2-40B4-BE49-F238E27FC236}">
                  <a16:creationId xmlns:a16="http://schemas.microsoft.com/office/drawing/2014/main" id="{149449F2-D6AB-4A34-E367-8D271D0E681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72988" y="4386478"/>
              <a:ext cx="252482" cy="252482"/>
            </a:xfrm>
            <a:prstGeom prst="rect">
              <a:avLst/>
            </a:prstGeom>
          </p:spPr>
        </p:pic>
        <p:pic>
          <p:nvPicPr>
            <p:cNvPr id="29" name="Graphic 28" descr="Badge with solid fill">
              <a:extLst>
                <a:ext uri="{FF2B5EF4-FFF2-40B4-BE49-F238E27FC236}">
                  <a16:creationId xmlns:a16="http://schemas.microsoft.com/office/drawing/2014/main" id="{6E97E37B-4423-FF6F-D431-320F0A93B99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45870" y="5622068"/>
              <a:ext cx="252482" cy="252482"/>
            </a:xfrm>
            <a:prstGeom prst="rect">
              <a:avLst/>
            </a:prstGeom>
          </p:spPr>
        </p:pic>
        <p:sp>
          <p:nvSpPr>
            <p:cNvPr id="30" name="文本框 11">
              <a:extLst>
                <a:ext uri="{FF2B5EF4-FFF2-40B4-BE49-F238E27FC236}">
                  <a16:creationId xmlns:a16="http://schemas.microsoft.com/office/drawing/2014/main" id="{D6542C62-F277-40A9-3D55-2FD0B0EF8927}"/>
                </a:ext>
              </a:extLst>
            </p:cNvPr>
            <p:cNvSpPr txBox="1"/>
            <p:nvPr/>
          </p:nvSpPr>
          <p:spPr>
            <a:xfrm>
              <a:off x="5098352" y="5679341"/>
              <a:ext cx="2309928" cy="33855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100" i="0" u="none" strike="noStrike" kern="1200" cap="none" spc="0" normalizeH="0" baseline="0" noProof="0">
                  <a:ln>
                    <a:noFill/>
                  </a:ln>
                  <a:solidFill>
                    <a:prstClr val="black"/>
                  </a:solidFill>
                  <a:effectLst/>
                  <a:uLnTx/>
                  <a:uFillTx/>
                  <a:latin typeface="Boehringer Forward Text"/>
                  <a:ea typeface="+mn-ea"/>
                  <a:cs typeface="+mn-cs"/>
                </a:rPr>
                <a:t>Cohort patient identification period:</a:t>
              </a:r>
            </a:p>
            <a:p>
              <a:pPr lvl="0" algn="ctr">
                <a:defRPr/>
              </a:pPr>
              <a:r>
                <a:rPr lang="en-US" altLang="zh-CN" sz="1100"/>
                <a:t>Jan 1</a:t>
              </a:r>
              <a:r>
                <a:rPr lang="en-US" altLang="zh-CN" sz="1100" baseline="30000"/>
                <a:t>st</a:t>
              </a:r>
              <a:r>
                <a:rPr lang="en-US" altLang="zh-CN" sz="1100"/>
                <a:t> 2020</a:t>
              </a:r>
              <a:r>
                <a:rPr kumimoji="0" lang="en-US" altLang="zh-CN" sz="1100" i="0" u="none" strike="noStrike" kern="1200" cap="none" spc="0" normalizeH="0" baseline="0" noProof="0">
                  <a:ln>
                    <a:noFill/>
                  </a:ln>
                  <a:effectLst/>
                  <a:uLnTx/>
                  <a:uFillTx/>
                  <a:latin typeface="Boehringer Forward Text"/>
                  <a:ea typeface="+mn-ea"/>
                  <a:cs typeface="+mn-cs"/>
                </a:rPr>
                <a:t>- Dec 31</a:t>
              </a:r>
              <a:r>
                <a:rPr lang="en-US" altLang="zh-CN" sz="1100" baseline="30000" err="1"/>
                <a:t>th</a:t>
              </a:r>
              <a:r>
                <a:rPr lang="en-US" altLang="zh-CN" sz="1100">
                  <a:latin typeface="Boehringer Forward Text"/>
                </a:rPr>
                <a:t>,</a:t>
              </a:r>
              <a:r>
                <a:rPr kumimoji="0" lang="en-US" altLang="zh-CN" sz="1100" i="0" u="none" strike="noStrike" kern="1200" cap="none" spc="0" normalizeH="0" baseline="0" noProof="0">
                  <a:ln>
                    <a:noFill/>
                  </a:ln>
                  <a:effectLst/>
                  <a:uLnTx/>
                  <a:uFillTx/>
                  <a:latin typeface="Boehringer Forward Text"/>
                  <a:ea typeface="+mn-ea"/>
                  <a:cs typeface="+mn-cs"/>
                </a:rPr>
                <a:t> 2026</a:t>
              </a:r>
              <a:endParaRPr kumimoji="0" lang="zh-CN" altLang="en-US" sz="1100" i="0" u="none" strike="noStrike" kern="1200" cap="none" spc="0" normalizeH="0" baseline="0" noProof="0">
                <a:ln>
                  <a:noFill/>
                </a:ln>
                <a:effectLst/>
                <a:uLnTx/>
                <a:uFillTx/>
                <a:latin typeface="Boehringer Forward Text"/>
                <a:ea typeface="+mn-ea"/>
                <a:cs typeface="+mn-cs"/>
              </a:endParaRPr>
            </a:p>
          </p:txBody>
        </p:sp>
        <p:cxnSp>
          <p:nvCxnSpPr>
            <p:cNvPr id="64" name="直接连接符 8">
              <a:extLst>
                <a:ext uri="{FF2B5EF4-FFF2-40B4-BE49-F238E27FC236}">
                  <a16:creationId xmlns:a16="http://schemas.microsoft.com/office/drawing/2014/main" id="{85850469-0807-523D-2F50-C4AD2E280DDC}"/>
                </a:ext>
              </a:extLst>
            </p:cNvPr>
            <p:cNvCxnSpPr>
              <a:cxnSpLocks/>
            </p:cNvCxnSpPr>
            <p:nvPr/>
          </p:nvCxnSpPr>
          <p:spPr>
            <a:xfrm>
              <a:off x="3374497" y="5102859"/>
              <a:ext cx="0" cy="771691"/>
            </a:xfrm>
            <a:prstGeom prst="line">
              <a:avLst/>
            </a:prstGeom>
            <a:ln w="28575">
              <a:prstDash val="sysDot"/>
            </a:ln>
          </p:spPr>
          <p:style>
            <a:lnRef idx="3">
              <a:schemeClr val="accent2"/>
            </a:lnRef>
            <a:fillRef idx="0">
              <a:schemeClr val="accent2"/>
            </a:fillRef>
            <a:effectRef idx="2">
              <a:schemeClr val="accent2"/>
            </a:effectRef>
            <a:fontRef idx="minor">
              <a:schemeClr val="tx1"/>
            </a:fontRef>
          </p:style>
        </p:cxnSp>
        <p:sp>
          <p:nvSpPr>
            <p:cNvPr id="65" name="TextBox 64">
              <a:extLst>
                <a:ext uri="{FF2B5EF4-FFF2-40B4-BE49-F238E27FC236}">
                  <a16:creationId xmlns:a16="http://schemas.microsoft.com/office/drawing/2014/main" id="{2B97696D-6864-8C9A-5059-727F9C07A4F5}"/>
                </a:ext>
              </a:extLst>
            </p:cNvPr>
            <p:cNvSpPr txBox="1"/>
            <p:nvPr/>
          </p:nvSpPr>
          <p:spPr bwMode="gray">
            <a:xfrm>
              <a:off x="2012530" y="5923183"/>
              <a:ext cx="2236309" cy="338554"/>
            </a:xfrm>
            <a:prstGeom prst="rect">
              <a:avLst/>
            </a:prstGeom>
            <a:noFill/>
            <a:ln>
              <a:noFill/>
            </a:ln>
          </p:spPr>
          <p:txBody>
            <a:bodyPr wrap="square" lIns="0" tIns="0" rIns="0" bIns="0" rtlCol="0" anchor="t">
              <a:sp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latin typeface="Boehringer Forward Text"/>
                </a:defRPr>
              </a:lvl1pPr>
            </a:lstStyle>
            <a:p>
              <a:r>
                <a:rPr lang="en-US" altLang="zh-CN"/>
                <a:t>Index date:  the</a:t>
              </a:r>
              <a:r>
                <a:rPr lang="zh-CN" altLang="en-US"/>
                <a:t> </a:t>
              </a:r>
              <a:r>
                <a:rPr lang="en-US" altLang="zh-CN"/>
                <a:t>first</a:t>
              </a:r>
              <a:r>
                <a:rPr lang="zh-CN" altLang="en-US"/>
                <a:t> </a:t>
              </a:r>
              <a:r>
                <a:rPr lang="en-US" altLang="zh-CN"/>
                <a:t>prescription</a:t>
              </a:r>
              <a:r>
                <a:rPr lang="zh-CN" altLang="en-US"/>
                <a:t> </a:t>
              </a:r>
              <a:r>
                <a:rPr lang="en-US" altLang="zh-CN"/>
                <a:t>of</a:t>
              </a:r>
              <a:r>
                <a:rPr lang="zh-CN" altLang="en-US"/>
                <a:t> </a:t>
              </a:r>
              <a:r>
                <a:rPr lang="en-US" altLang="zh-CN"/>
                <a:t>SGLT2i &amp; GLP1 RA</a:t>
              </a:r>
              <a:endParaRPr lang="zh-CN" altLang="en-US"/>
            </a:p>
          </p:txBody>
        </p:sp>
        <p:cxnSp>
          <p:nvCxnSpPr>
            <p:cNvPr id="66" name="Straight Arrow Connector 65">
              <a:extLst>
                <a:ext uri="{FF2B5EF4-FFF2-40B4-BE49-F238E27FC236}">
                  <a16:creationId xmlns:a16="http://schemas.microsoft.com/office/drawing/2014/main" id="{B8DA37F5-608B-9A8E-D976-E48DF1E30B2F}"/>
                </a:ext>
              </a:extLst>
            </p:cNvPr>
            <p:cNvCxnSpPr>
              <a:cxnSpLocks/>
            </p:cNvCxnSpPr>
            <p:nvPr/>
          </p:nvCxnSpPr>
          <p:spPr bwMode="gray">
            <a:xfrm>
              <a:off x="3374497" y="5371962"/>
              <a:ext cx="7024644"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616C859A-7722-3834-239C-BDD0F1D7E7BE}"/>
                </a:ext>
              </a:extLst>
            </p:cNvPr>
            <p:cNvSpPr txBox="1"/>
            <p:nvPr/>
          </p:nvSpPr>
          <p:spPr bwMode="gray">
            <a:xfrm>
              <a:off x="6329688" y="5307784"/>
              <a:ext cx="684482" cy="169277"/>
            </a:xfrm>
            <a:prstGeom prst="rect">
              <a:avLst/>
            </a:prstGeom>
            <a:noFill/>
          </p:spPr>
          <p:txBody>
            <a:bodyPr wrap="squar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latin typeface="Boehringer Forward Text"/>
                </a:defRPr>
              </a:lvl1pPr>
            </a:lstStyle>
            <a:p>
              <a:r>
                <a:rPr lang="en-US" altLang="zh-CN"/>
                <a:t>Follow-up </a:t>
              </a:r>
              <a:endParaRPr lang="zh-CN" altLang="en-US"/>
            </a:p>
          </p:txBody>
        </p:sp>
        <p:cxnSp>
          <p:nvCxnSpPr>
            <p:cNvPr id="69" name="Straight Arrow Connector 68">
              <a:extLst>
                <a:ext uri="{FF2B5EF4-FFF2-40B4-BE49-F238E27FC236}">
                  <a16:creationId xmlns:a16="http://schemas.microsoft.com/office/drawing/2014/main" id="{D52C4CA8-8E30-FD23-118B-CFF6185688D3}"/>
                </a:ext>
              </a:extLst>
            </p:cNvPr>
            <p:cNvCxnSpPr>
              <a:cxnSpLocks/>
            </p:cNvCxnSpPr>
            <p:nvPr/>
          </p:nvCxnSpPr>
          <p:spPr bwMode="gray">
            <a:xfrm flipH="1" flipV="1">
              <a:off x="2143146" y="5450210"/>
              <a:ext cx="1228121" cy="891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72EAE1D6-24FC-E219-AF6A-8A1EE5D3D5DB}"/>
                </a:ext>
              </a:extLst>
            </p:cNvPr>
            <p:cNvSpPr txBox="1"/>
            <p:nvPr/>
          </p:nvSpPr>
          <p:spPr bwMode="gray">
            <a:xfrm>
              <a:off x="2253220" y="5365571"/>
              <a:ext cx="1090042" cy="169277"/>
            </a:xfrm>
            <a:prstGeom prst="rect">
              <a:avLst/>
            </a:prstGeom>
            <a:noFill/>
          </p:spPr>
          <p:txBody>
            <a:bodyPr wrap="squar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sz="1100" i="0" u="none" strike="noStrike" cap="none" spc="0" normalizeH="0" baseline="0">
                  <a:ln>
                    <a:noFill/>
                  </a:ln>
                  <a:solidFill>
                    <a:prstClr val="black"/>
                  </a:solidFill>
                  <a:effectLst/>
                  <a:uLnTx/>
                  <a:uFillTx/>
                  <a:latin typeface="Boehringer Forward Text"/>
                </a:defRPr>
              </a:lvl1pPr>
            </a:lstStyle>
            <a:p>
              <a:r>
                <a:rPr lang="en-US" altLang="zh-CN"/>
                <a:t>1-year wash-out </a:t>
              </a:r>
              <a:endParaRPr lang="zh-CN" altLang="en-US"/>
            </a:p>
          </p:txBody>
        </p:sp>
        <p:sp>
          <p:nvSpPr>
            <p:cNvPr id="79" name="TextBox 78">
              <a:extLst>
                <a:ext uri="{FF2B5EF4-FFF2-40B4-BE49-F238E27FC236}">
                  <a16:creationId xmlns:a16="http://schemas.microsoft.com/office/drawing/2014/main" id="{794E1CA8-5E93-F800-A2CE-D4ACF7786460}"/>
                </a:ext>
              </a:extLst>
            </p:cNvPr>
            <p:cNvSpPr txBox="1"/>
            <p:nvPr/>
          </p:nvSpPr>
          <p:spPr bwMode="gray">
            <a:xfrm>
              <a:off x="961444" y="4638960"/>
              <a:ext cx="1198252" cy="1163524"/>
            </a:xfrm>
            <a:prstGeom prst="rect">
              <a:avLst/>
            </a:prstGeom>
            <a:noFill/>
          </p:spPr>
          <p:txBody>
            <a:bodyPr wrap="square" lIns="0" tIns="0" rIns="0" bIns="0" rtlCol="0">
              <a:spAutoFit/>
            </a:bodyPr>
            <a:lstStyle/>
            <a:p>
              <a:pPr>
                <a:lnSpc>
                  <a:spcPct val="140000"/>
                </a:lnSpc>
              </a:pPr>
              <a:r>
                <a:rPr lang="en-US" altLang="zh-CN" sz="1100" b="1" u="sng"/>
                <a:t>Inclusion Criteria:</a:t>
              </a:r>
              <a:r>
                <a:rPr lang="en-US" altLang="zh-CN" sz="1100" b="1"/>
                <a:t> </a:t>
              </a:r>
            </a:p>
            <a:p>
              <a:pPr>
                <a:lnSpc>
                  <a:spcPct val="140000"/>
                </a:lnSpc>
              </a:pPr>
              <a:r>
                <a:rPr lang="en-US" altLang="zh-CN" sz="1100"/>
                <a:t>diagnosis of </a:t>
              </a:r>
              <a:r>
                <a:rPr lang="en-US" altLang="zh-CN" sz="1100">
                  <a:solidFill>
                    <a:prstClr val="black"/>
                  </a:solidFill>
                  <a:latin typeface="Boehringer Headline"/>
                  <a:sym typeface="Helvetica Neue"/>
                </a:rPr>
                <a:t>with HTN, T2D and established CVD (without HF)</a:t>
              </a:r>
              <a:r>
                <a:rPr lang="en-US" altLang="zh-CN" sz="1100"/>
                <a:t> </a:t>
              </a:r>
              <a:endParaRPr lang="zh-CN" altLang="en-US" sz="1100"/>
            </a:p>
          </p:txBody>
        </p:sp>
      </p:grpSp>
    </p:spTree>
    <p:extLst>
      <p:ext uri="{BB962C8B-B14F-4D97-AF65-F5344CB8AC3E}">
        <p14:creationId xmlns:p14="http://schemas.microsoft.com/office/powerpoint/2010/main" val="3075003950"/>
      </p:ext>
    </p:extLst>
  </p:cSld>
  <p:clrMapOvr>
    <a:masterClrMapping/>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69F521B-AEEE-9AC1-5B66-45EF4C7DE4B8}"/>
              </a:ext>
            </a:extLst>
          </p:cNvPr>
          <p:cNvSpPr>
            <a:spLocks noGrp="1"/>
          </p:cNvSpPr>
          <p:nvPr>
            <p:ph type="ftr" sz="quarter" idx="16"/>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2308DFCF-B5AC-09D0-8A02-E27F9267D591}"/>
              </a:ext>
            </a:extLst>
          </p:cNvPr>
          <p:cNvSpPr>
            <a:spLocks noGrp="1"/>
          </p:cNvSpPr>
          <p:nvPr>
            <p:ph type="sldNum" sz="quarter" idx="17"/>
          </p:nvPr>
        </p:nvSpPr>
        <p:spPr/>
        <p:txBody>
          <a:bodyPr/>
          <a:lstStyle/>
          <a:p>
            <a:fld id="{8FF9B0DE-3FEB-4AA0-B465-B80EF7C1333D}" type="slidenum">
              <a:rPr lang="en-US" smtClean="0"/>
              <a:pPr/>
              <a:t>23</a:t>
            </a:fld>
            <a:endParaRPr lang="en-US"/>
          </a:p>
        </p:txBody>
      </p:sp>
      <mc:AlternateContent xmlns:mc="http://schemas.openxmlformats.org/markup-compatibility/2006">
        <mc:Choice xmlns:a14="http://schemas.microsoft.com/office/drawing/2010/main" Requires="a14">
          <p:graphicFrame>
            <p:nvGraphicFramePr>
              <p:cNvPr id="6" name="Table 5">
                <a:extLst>
                  <a:ext uri="{FF2B5EF4-FFF2-40B4-BE49-F238E27FC236}">
                    <a16:creationId xmlns:a16="http://schemas.microsoft.com/office/drawing/2014/main" id="{B596AD28-C84E-64D6-F6FE-782040BA8DC3}"/>
                  </a:ext>
                </a:extLst>
              </p:cNvPr>
              <p:cNvGraphicFramePr>
                <a:graphicFrameLocks noGrp="1"/>
              </p:cNvGraphicFramePr>
              <p:nvPr/>
            </p:nvGraphicFramePr>
            <p:xfrm>
              <a:off x="479426" y="2110854"/>
              <a:ext cx="10873158" cy="860787"/>
            </p:xfrm>
            <a:graphic>
              <a:graphicData uri="http://schemas.openxmlformats.org/drawingml/2006/table">
                <a:tbl>
                  <a:tblPr firstRow="1" firstCol="1">
                    <a:tableStyleId>{B301B821-A1FF-4177-AEE7-76D212191A09}</a:tableStyleId>
                  </a:tblPr>
                  <a:tblGrid>
                    <a:gridCol w="1427514">
                      <a:extLst>
                        <a:ext uri="{9D8B030D-6E8A-4147-A177-3AD203B41FA5}">
                          <a16:colId xmlns:a16="http://schemas.microsoft.com/office/drawing/2014/main" val="3046894841"/>
                        </a:ext>
                      </a:extLst>
                    </a:gridCol>
                    <a:gridCol w="2289730">
                      <a:extLst>
                        <a:ext uri="{9D8B030D-6E8A-4147-A177-3AD203B41FA5}">
                          <a16:colId xmlns:a16="http://schemas.microsoft.com/office/drawing/2014/main" val="393473767"/>
                        </a:ext>
                      </a:extLst>
                    </a:gridCol>
                    <a:gridCol w="7155914">
                      <a:extLst>
                        <a:ext uri="{9D8B030D-6E8A-4147-A177-3AD203B41FA5}">
                          <a16:colId xmlns:a16="http://schemas.microsoft.com/office/drawing/2014/main" val="3373163723"/>
                        </a:ext>
                      </a:extLst>
                    </a:gridCol>
                  </a:tblGrid>
                  <a:tr h="363628">
                    <a:tc>
                      <a:txBody>
                        <a:bodyPr/>
                        <a:lstStyle/>
                        <a:p>
                          <a:pPr algn="l" fontAlgn="ctr">
                            <a:buNone/>
                          </a:pPr>
                          <a:endParaRPr lang="en-US" sz="1200" b="0" i="0" u="none" strike="noStrike">
                            <a:solidFill>
                              <a:srgbClr val="000000"/>
                            </a:solidFill>
                            <a:effectLst/>
                            <a:latin typeface="Aptos Narrow" panose="020B0004020202020204" pitchFamily="34" charset="0"/>
                          </a:endParaRPr>
                        </a:p>
                      </a:txBody>
                      <a:tcPr marL="108000" marR="9525" marT="9525" marB="0" anchor="ctr">
                        <a:solidFill>
                          <a:schemeClr val="bg2">
                            <a:lumMod val="75000"/>
                            <a:lumOff val="2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1200" b="1" u="none" strike="noStrike" kern="1200">
                              <a:solidFill>
                                <a:schemeClr val="lt1"/>
                              </a:solidFill>
                              <a:effectLst/>
                              <a:latin typeface="+mn-lt"/>
                              <a:ea typeface="+mn-ea"/>
                              <a:cs typeface="+mn-cs"/>
                            </a:rPr>
                            <a:t>Study Design</a:t>
                          </a:r>
                          <a:endParaRPr lang="en-US" sz="1200" b="1" u="none" strike="noStrike" kern="1200">
                            <a:solidFill>
                              <a:schemeClr val="lt1"/>
                            </a:solidFill>
                            <a:effectLst/>
                            <a:latin typeface="+mn-lt"/>
                            <a:ea typeface="+mn-ea"/>
                            <a:cs typeface="+mn-cs"/>
                          </a:endParaRPr>
                        </a:p>
                      </a:txBody>
                      <a:tcPr marL="108000" marR="9525" marT="9525" marB="0" anchor="ctr">
                        <a:solidFill>
                          <a:schemeClr val="bg2">
                            <a:lumMod val="75000"/>
                            <a:lumOff val="2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u="none" strike="noStrike" kern="1200">
                              <a:solidFill>
                                <a:schemeClr val="lt1"/>
                              </a:solidFill>
                              <a:effectLst/>
                              <a:latin typeface="+mn-lt"/>
                              <a:ea typeface="+mn-ea"/>
                              <a:cs typeface="+mn-cs"/>
                            </a:rPr>
                            <a:t>Outcomes</a:t>
                          </a:r>
                        </a:p>
                      </a:txBody>
                      <a:tcPr marL="108000" marR="9525" marT="9525" marB="0" anchor="ctr">
                        <a:solidFill>
                          <a:schemeClr val="bg2">
                            <a:lumMod val="75000"/>
                            <a:lumOff val="25000"/>
                          </a:schemeClr>
                        </a:solidFill>
                      </a:tcPr>
                    </a:tc>
                    <a:extLst>
                      <a:ext uri="{0D108BD9-81ED-4DB2-BD59-A6C34878D82A}">
                        <a16:rowId xmlns:a16="http://schemas.microsoft.com/office/drawing/2014/main" val="279778264"/>
                      </a:ext>
                    </a:extLst>
                  </a:tr>
                  <a:tr h="497159">
                    <a:tc>
                      <a:txBody>
                        <a:bodyPr/>
                        <a:lstStyle/>
                        <a:p>
                          <a:pPr algn="l" fontAlgn="ctr">
                            <a:buNone/>
                          </a:pPr>
                          <a:r>
                            <a:rPr lang="en-US" sz="1200" u="none" strike="noStrike">
                              <a:effectLst/>
                            </a:rPr>
                            <a:t>Prevalence</a:t>
                          </a:r>
                          <a:endParaRPr lang="en-US" sz="1200" b="0" i="0" u="none" strike="noStrike">
                            <a:solidFill>
                              <a:srgbClr val="000000"/>
                            </a:solidFill>
                            <a:effectLst/>
                            <a:latin typeface="Aptos Narrow" panose="020B0004020202020204" pitchFamily="34" charset="0"/>
                          </a:endParaRPr>
                        </a:p>
                      </a:txBody>
                      <a:tcPr marL="108000"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1" i="0" u="none" strike="noStrike" kern="1200">
                              <a:solidFill>
                                <a:srgbClr val="000000"/>
                              </a:solidFill>
                              <a:effectLst/>
                              <a:latin typeface="Aptos Narrow" panose="020B0004020202020204" pitchFamily="34" charset="0"/>
                              <a:ea typeface="+mn-ea"/>
                              <a:cs typeface="+mn-cs"/>
                            </a:rPr>
                            <a:t>Cross-sectional</a:t>
                          </a: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a:solidFill>
                                <a:srgbClr val="000000"/>
                              </a:solidFill>
                              <a:effectLst/>
                              <a:latin typeface="Aptos Narrow" panose="020B0004020202020204" pitchFamily="34" charset="0"/>
                              <a:ea typeface="+mn-ea"/>
                              <a:cs typeface="+mn-cs"/>
                            </a:rPr>
                            <a:t>2020-2027 (each year)</a:t>
                          </a:r>
                        </a:p>
                      </a:txBody>
                      <a:tcPr marL="108000" marR="9525" marT="9525" marB="0" anchor="ctr">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1400" b="1" i="0" u="none" strike="noStrike" kern="1200">
                              <a:solidFill>
                                <a:srgbClr val="000000"/>
                              </a:solidFill>
                              <a:effectLst/>
                              <a:latin typeface="Aptos Narrow" panose="020B0004020202020204" pitchFamily="34" charset="0"/>
                              <a:ea typeface="+mn-ea"/>
                              <a:cs typeface="+mn-cs"/>
                            </a:rPr>
                            <a:t>Prevalence: </a:t>
                          </a:r>
                          <a14:m>
                            <m:oMath xmlns:m="http://schemas.openxmlformats.org/officeDocument/2006/math">
                              <m:f>
                                <m:fPr>
                                  <m:ctrlPr>
                                    <a:rPr lang="en-US" altLang="zh-CN" sz="1000" b="0" i="1" kern="1200" smtClean="0">
                                      <a:solidFill>
                                        <a:schemeClr val="dk1"/>
                                      </a:solidFill>
                                      <a:latin typeface="Cambria Math" panose="02040503050406030204" pitchFamily="18" charset="0"/>
                                      <a:ea typeface="+mn-ea"/>
                                      <a:cs typeface="+mn-cs"/>
                                    </a:rPr>
                                  </m:ctrlPr>
                                </m:fPr>
                                <m:num>
                                  <m:r>
                                    <m:rPr>
                                      <m:nor/>
                                    </m:rPr>
                                    <a:rPr lang="en-US" altLang="zh-CN" sz="1000" b="0" i="1" kern="1200">
                                      <a:solidFill>
                                        <a:schemeClr val="dk1"/>
                                      </a:solidFill>
                                      <a:latin typeface="Cambria Math" panose="02040503050406030204" pitchFamily="18" charset="0"/>
                                      <a:ea typeface="+mn-ea"/>
                                      <a:cs typeface="+mn-cs"/>
                                    </a:rPr>
                                    <m:t>N</m:t>
                                  </m:r>
                                  <m:r>
                                    <m:rPr>
                                      <m:nor/>
                                    </m:rPr>
                                    <a:rPr lang="en-US" altLang="zh-CN" sz="1000" b="0" i="1" kern="1200" dirty="0">
                                      <a:solidFill>
                                        <a:schemeClr val="dk1"/>
                                      </a:solidFill>
                                      <a:latin typeface="Cambria Math" panose="02040503050406030204" pitchFamily="18" charset="0"/>
                                      <a:ea typeface="+mn-ea"/>
                                      <a:cs typeface="+mn-cs"/>
                                      <a:sym typeface="Helvetica Neue"/>
                                    </a:rPr>
                                    <m:t>umber</m:t>
                                  </m:r>
                                  <m:r>
                                    <m:rPr>
                                      <m:nor/>
                                    </m:rPr>
                                    <a:rPr lang="en-US" altLang="zh-CN" sz="1000" b="0" i="1" kern="1200" dirty="0">
                                      <a:solidFill>
                                        <a:schemeClr val="dk1"/>
                                      </a:solidFill>
                                      <a:latin typeface="Cambria Math" panose="02040503050406030204" pitchFamily="18" charset="0"/>
                                      <a:ea typeface="+mn-ea"/>
                                      <a:cs typeface="+mn-cs"/>
                                      <a:sym typeface="Helvetica Neue"/>
                                    </a:rPr>
                                    <m:t> </m:t>
                                  </m:r>
                                  <m:r>
                                    <m:rPr>
                                      <m:nor/>
                                    </m:rPr>
                                    <a:rPr lang="en-US" altLang="zh-CN" sz="1000" b="0" i="1" kern="1200" dirty="0">
                                      <a:solidFill>
                                        <a:schemeClr val="dk1"/>
                                      </a:solidFill>
                                      <a:latin typeface="Cambria Math" panose="02040503050406030204" pitchFamily="18" charset="0"/>
                                      <a:ea typeface="+mn-ea"/>
                                      <a:cs typeface="+mn-cs"/>
                                      <a:sym typeface="Helvetica Neue"/>
                                    </a:rPr>
                                    <m:t>of</m:t>
                                  </m:r>
                                  <m:r>
                                    <m:rPr>
                                      <m:nor/>
                                    </m:rPr>
                                    <a:rPr lang="en-US" altLang="zh-CN" sz="1000" b="0" i="1" kern="1200" dirty="0">
                                      <a:solidFill>
                                        <a:schemeClr val="dk1"/>
                                      </a:solidFill>
                                      <a:latin typeface="Cambria Math" panose="02040503050406030204" pitchFamily="18" charset="0"/>
                                      <a:ea typeface="+mn-ea"/>
                                      <a:cs typeface="+mn-cs"/>
                                      <a:sym typeface="Helvetica Neue"/>
                                    </a:rPr>
                                    <m:t> </m:t>
                                  </m:r>
                                  <m:r>
                                    <m:rPr>
                                      <m:nor/>
                                    </m:rPr>
                                    <a:rPr lang="en-US" altLang="zh-CN" sz="1000" b="0" i="1" kern="1200" dirty="0">
                                      <a:solidFill>
                                        <a:schemeClr val="dk1"/>
                                      </a:solidFill>
                                      <a:latin typeface="Cambria Math" panose="02040503050406030204" pitchFamily="18" charset="0"/>
                                      <a:ea typeface="+mn-ea"/>
                                      <a:cs typeface="+mn-cs"/>
                                      <a:sym typeface="Helvetica Neue"/>
                                    </a:rPr>
                                    <m:t>patients</m:t>
                                  </m:r>
                                  <m:r>
                                    <m:rPr>
                                      <m:nor/>
                                    </m:rPr>
                                    <a:rPr lang="en-US" altLang="zh-CN" sz="1000" b="0" i="1" kern="1200" dirty="0">
                                      <a:solidFill>
                                        <a:schemeClr val="dk1"/>
                                      </a:solidFill>
                                      <a:latin typeface="Cambria Math" panose="02040503050406030204" pitchFamily="18" charset="0"/>
                                      <a:ea typeface="+mn-ea"/>
                                      <a:cs typeface="+mn-cs"/>
                                      <a:sym typeface="Helvetica Neue"/>
                                    </a:rPr>
                                    <m:t> </m:t>
                                  </m:r>
                                  <m:r>
                                    <m:rPr>
                                      <m:nor/>
                                    </m:rPr>
                                    <a:rPr lang="en-US" altLang="zh-CN" sz="1000" b="0" i="1" kern="1200" dirty="0">
                                      <a:solidFill>
                                        <a:schemeClr val="dk1"/>
                                      </a:solidFill>
                                      <a:latin typeface="Cambria Math" panose="02040503050406030204" pitchFamily="18" charset="0"/>
                                      <a:ea typeface="+mn-ea"/>
                                      <a:cs typeface="+mn-cs"/>
                                      <a:sym typeface="Helvetica Neue"/>
                                    </a:rPr>
                                    <m:t>with</m:t>
                                  </m:r>
                                  <m:r>
                                    <m:rPr>
                                      <m:nor/>
                                    </m:rPr>
                                    <a:rPr lang="en-US" altLang="zh-CN" sz="1000" b="0" i="1" kern="1200" dirty="0">
                                      <a:solidFill>
                                        <a:schemeClr val="dk1"/>
                                      </a:solidFill>
                                      <a:latin typeface="Cambria Math" panose="02040503050406030204" pitchFamily="18" charset="0"/>
                                      <a:ea typeface="+mn-ea"/>
                                      <a:cs typeface="+mn-cs"/>
                                      <a:sym typeface="Helvetica Neue"/>
                                    </a:rPr>
                                    <m:t> </m:t>
                                  </m:r>
                                  <m:r>
                                    <m:rPr>
                                      <m:nor/>
                                    </m:rPr>
                                    <a:rPr lang="en-US" altLang="zh-CN" sz="1000" b="0" i="1" kern="1200" dirty="0">
                                      <a:solidFill>
                                        <a:schemeClr val="dk1"/>
                                      </a:solidFill>
                                      <a:latin typeface="Cambria Math" panose="02040503050406030204" pitchFamily="18" charset="0"/>
                                      <a:ea typeface="+mn-ea"/>
                                      <a:cs typeface="+mn-cs"/>
                                      <a:sym typeface="Helvetica Neue"/>
                                    </a:rPr>
                                    <m:t>HTN</m:t>
                                  </m:r>
                                  <m:r>
                                    <m:rPr>
                                      <m:nor/>
                                    </m:rPr>
                                    <a:rPr lang="en-US" altLang="zh-CN" sz="1000" b="0" i="1" kern="1200" dirty="0">
                                      <a:solidFill>
                                        <a:schemeClr val="dk1"/>
                                      </a:solidFill>
                                      <a:latin typeface="Cambria Math" panose="02040503050406030204" pitchFamily="18" charset="0"/>
                                      <a:ea typeface="+mn-ea"/>
                                      <a:cs typeface="+mn-cs"/>
                                      <a:sym typeface="Helvetica Neue"/>
                                    </a:rPr>
                                    <m:t>, </m:t>
                                  </m:r>
                                  <m:r>
                                    <m:rPr>
                                      <m:nor/>
                                    </m:rPr>
                                    <a:rPr lang="en-US" altLang="zh-CN" sz="1000" b="0" i="1" kern="1200" dirty="0">
                                      <a:solidFill>
                                        <a:schemeClr val="dk1"/>
                                      </a:solidFill>
                                      <a:latin typeface="Cambria Math" panose="02040503050406030204" pitchFamily="18" charset="0"/>
                                      <a:ea typeface="+mn-ea"/>
                                      <a:cs typeface="+mn-cs"/>
                                      <a:sym typeface="Helvetica Neue"/>
                                    </a:rPr>
                                    <m:t>T</m:t>
                                  </m:r>
                                  <m:r>
                                    <m:rPr>
                                      <m:nor/>
                                    </m:rPr>
                                    <a:rPr lang="en-US" altLang="zh-CN" sz="1000" b="0" i="1" kern="1200" dirty="0">
                                      <a:solidFill>
                                        <a:schemeClr val="dk1"/>
                                      </a:solidFill>
                                      <a:latin typeface="Cambria Math" panose="02040503050406030204" pitchFamily="18" charset="0"/>
                                      <a:ea typeface="+mn-ea"/>
                                      <a:cs typeface="+mn-cs"/>
                                      <a:sym typeface="Helvetica Neue"/>
                                    </a:rPr>
                                    <m:t>2</m:t>
                                  </m:r>
                                  <m:r>
                                    <m:rPr>
                                      <m:nor/>
                                    </m:rPr>
                                    <a:rPr lang="en-US" altLang="zh-CN" sz="1000" b="0" i="1" kern="1200" dirty="0">
                                      <a:solidFill>
                                        <a:schemeClr val="dk1"/>
                                      </a:solidFill>
                                      <a:latin typeface="Cambria Math" panose="02040503050406030204" pitchFamily="18" charset="0"/>
                                      <a:ea typeface="+mn-ea"/>
                                      <a:cs typeface="+mn-cs"/>
                                      <a:sym typeface="Helvetica Neue"/>
                                    </a:rPr>
                                    <m:t>D</m:t>
                                  </m:r>
                                  <m:r>
                                    <m:rPr>
                                      <m:nor/>
                                    </m:rPr>
                                    <a:rPr lang="en-US" altLang="zh-CN" sz="1000" b="0" i="1" kern="1200" dirty="0">
                                      <a:solidFill>
                                        <a:schemeClr val="dk1"/>
                                      </a:solidFill>
                                      <a:latin typeface="Cambria Math" panose="02040503050406030204" pitchFamily="18" charset="0"/>
                                      <a:ea typeface="+mn-ea"/>
                                      <a:cs typeface="+mn-cs"/>
                                      <a:sym typeface="Helvetica Neue"/>
                                    </a:rPr>
                                    <m:t> </m:t>
                                  </m:r>
                                  <m:r>
                                    <m:rPr>
                                      <m:nor/>
                                    </m:rPr>
                                    <a:rPr lang="en-US" altLang="zh-CN" sz="1000" b="0" i="1" kern="1200" dirty="0">
                                      <a:solidFill>
                                        <a:schemeClr val="dk1"/>
                                      </a:solidFill>
                                      <a:latin typeface="Cambria Math" panose="02040503050406030204" pitchFamily="18" charset="0"/>
                                      <a:ea typeface="+mn-ea"/>
                                      <a:cs typeface="+mn-cs"/>
                                      <a:sym typeface="Helvetica Neue"/>
                                    </a:rPr>
                                    <m:t>and</m:t>
                                  </m:r>
                                  <m:r>
                                    <m:rPr>
                                      <m:nor/>
                                    </m:rPr>
                                    <a:rPr lang="en-US" altLang="zh-CN" sz="1000" b="0" i="1" kern="1200" dirty="0">
                                      <a:solidFill>
                                        <a:schemeClr val="dk1"/>
                                      </a:solidFill>
                                      <a:latin typeface="Cambria Math" panose="02040503050406030204" pitchFamily="18" charset="0"/>
                                      <a:ea typeface="+mn-ea"/>
                                      <a:cs typeface="+mn-cs"/>
                                      <a:sym typeface="Helvetica Neue"/>
                                    </a:rPr>
                                    <m:t> </m:t>
                                  </m:r>
                                  <m:r>
                                    <m:rPr>
                                      <m:nor/>
                                    </m:rPr>
                                    <a:rPr lang="en-US" altLang="zh-CN" sz="1000" b="0" i="1" kern="1200" dirty="0">
                                      <a:solidFill>
                                        <a:schemeClr val="dk1"/>
                                      </a:solidFill>
                                      <a:latin typeface="Cambria Math" panose="02040503050406030204" pitchFamily="18" charset="0"/>
                                      <a:ea typeface="+mn-ea"/>
                                      <a:cs typeface="+mn-cs"/>
                                      <a:sym typeface="Helvetica Neue"/>
                                    </a:rPr>
                                    <m:t>established</m:t>
                                  </m:r>
                                  <m:r>
                                    <m:rPr>
                                      <m:nor/>
                                    </m:rPr>
                                    <a:rPr lang="en-US" altLang="zh-CN" sz="1000" b="0" i="1" kern="1200" dirty="0">
                                      <a:solidFill>
                                        <a:schemeClr val="dk1"/>
                                      </a:solidFill>
                                      <a:latin typeface="Cambria Math" panose="02040503050406030204" pitchFamily="18" charset="0"/>
                                      <a:ea typeface="+mn-ea"/>
                                      <a:cs typeface="+mn-cs"/>
                                      <a:sym typeface="Helvetica Neue"/>
                                    </a:rPr>
                                    <m:t> </m:t>
                                  </m:r>
                                  <m:r>
                                    <m:rPr>
                                      <m:nor/>
                                    </m:rPr>
                                    <a:rPr lang="en-US" altLang="zh-CN" sz="1000" b="0" i="1" kern="1200" dirty="0">
                                      <a:solidFill>
                                        <a:schemeClr val="dk1"/>
                                      </a:solidFill>
                                      <a:latin typeface="Cambria Math" panose="02040503050406030204" pitchFamily="18" charset="0"/>
                                      <a:ea typeface="+mn-ea"/>
                                      <a:cs typeface="+mn-cs"/>
                                      <a:sym typeface="Helvetica Neue"/>
                                    </a:rPr>
                                    <m:t>CVD</m:t>
                                  </m:r>
                                  <m:r>
                                    <m:rPr>
                                      <m:nor/>
                                    </m:rPr>
                                    <a:rPr lang="en-US" altLang="zh-CN" sz="1000" b="0" i="1" kern="1200" dirty="0">
                                      <a:solidFill>
                                        <a:schemeClr val="dk1"/>
                                      </a:solidFill>
                                      <a:latin typeface="Cambria Math" panose="02040503050406030204" pitchFamily="18" charset="0"/>
                                      <a:ea typeface="+mn-ea"/>
                                      <a:cs typeface="+mn-cs"/>
                                      <a:sym typeface="Helvetica Neue"/>
                                    </a:rPr>
                                    <m:t> (</m:t>
                                  </m:r>
                                  <m:r>
                                    <m:rPr>
                                      <m:nor/>
                                    </m:rPr>
                                    <a:rPr lang="en-US" altLang="zh-CN" sz="1000" b="0" i="1" kern="1200" dirty="0">
                                      <a:solidFill>
                                        <a:schemeClr val="dk1"/>
                                      </a:solidFill>
                                      <a:latin typeface="Cambria Math" panose="02040503050406030204" pitchFamily="18" charset="0"/>
                                      <a:ea typeface="+mn-ea"/>
                                      <a:cs typeface="+mn-cs"/>
                                      <a:sym typeface="Helvetica Neue"/>
                                    </a:rPr>
                                    <m:t>without</m:t>
                                  </m:r>
                                  <m:r>
                                    <m:rPr>
                                      <m:nor/>
                                    </m:rPr>
                                    <a:rPr lang="en-US" altLang="zh-CN" sz="1000" b="0" i="1" kern="1200" dirty="0">
                                      <a:solidFill>
                                        <a:schemeClr val="dk1"/>
                                      </a:solidFill>
                                      <a:latin typeface="Cambria Math" panose="02040503050406030204" pitchFamily="18" charset="0"/>
                                      <a:ea typeface="+mn-ea"/>
                                      <a:cs typeface="+mn-cs"/>
                                      <a:sym typeface="Helvetica Neue"/>
                                    </a:rPr>
                                    <m:t> </m:t>
                                  </m:r>
                                  <m:r>
                                    <m:rPr>
                                      <m:nor/>
                                    </m:rPr>
                                    <a:rPr lang="en-US" altLang="zh-CN" sz="1000" b="0" i="1" kern="1200" dirty="0">
                                      <a:solidFill>
                                        <a:schemeClr val="dk1"/>
                                      </a:solidFill>
                                      <a:latin typeface="Cambria Math" panose="02040503050406030204" pitchFamily="18" charset="0"/>
                                      <a:ea typeface="+mn-ea"/>
                                      <a:cs typeface="+mn-cs"/>
                                      <a:sym typeface="Helvetica Neue"/>
                                    </a:rPr>
                                    <m:t>HF</m:t>
                                  </m:r>
                                  <m:r>
                                    <m:rPr>
                                      <m:nor/>
                                    </m:rPr>
                                    <a:rPr lang="en-US" altLang="zh-CN" sz="1000" b="0" i="1" kern="1200" dirty="0">
                                      <a:solidFill>
                                        <a:schemeClr val="dk1"/>
                                      </a:solidFill>
                                      <a:latin typeface="Cambria Math" panose="02040503050406030204" pitchFamily="18" charset="0"/>
                                      <a:ea typeface="+mn-ea"/>
                                      <a:cs typeface="+mn-cs"/>
                                      <a:sym typeface="Helvetica Neue"/>
                                    </a:rPr>
                                    <m:t>)</m:t>
                                  </m:r>
                                </m:num>
                                <m:den>
                                  <m:r>
                                    <a:rPr lang="en-US" altLang="zh-CN" sz="1000" b="0" i="1" kern="1200">
                                      <a:solidFill>
                                        <a:schemeClr val="dk1"/>
                                      </a:solidFill>
                                      <a:latin typeface="Cambria Math" panose="02040503050406030204" pitchFamily="18" charset="0"/>
                                      <a:ea typeface="+mn-ea"/>
                                      <a:cs typeface="+mn-cs"/>
                                    </a:rPr>
                                    <m:t>𝐺𝑒𝑛𝑒𝑟𝑎𝑙</m:t>
                                  </m:r>
                                  <m:r>
                                    <a:rPr lang="en-US" altLang="zh-CN" sz="1000" b="0" i="1" kern="1200" smtClean="0">
                                      <a:solidFill>
                                        <a:schemeClr val="dk1"/>
                                      </a:solidFill>
                                      <a:latin typeface="Cambria Math" panose="02040503050406030204" pitchFamily="18" charset="0"/>
                                      <a:ea typeface="+mn-ea"/>
                                      <a:cs typeface="+mn-cs"/>
                                    </a:rPr>
                                    <m:t> </m:t>
                                  </m:r>
                                  <m:r>
                                    <a:rPr lang="en-US" altLang="zh-CN" sz="1000" b="0" i="1" kern="1200" smtClean="0">
                                      <a:solidFill>
                                        <a:schemeClr val="dk1"/>
                                      </a:solidFill>
                                      <a:latin typeface="Cambria Math" panose="02040503050406030204" pitchFamily="18" charset="0"/>
                                      <a:ea typeface="+mn-ea"/>
                                      <a:cs typeface="+mn-cs"/>
                                    </a:rPr>
                                    <m:t>𝑝𝑜𝑝𝑢𝑙𝑎𝑡𝑖𝑜𝑛</m:t>
                                  </m:r>
                                </m:den>
                              </m:f>
                            </m:oMath>
                          </a14:m>
                          <a:endParaRPr lang="en-US" altLang="zh-CN" sz="1400" b="1" i="0" u="none" strike="noStrike" kern="1200">
                            <a:solidFill>
                              <a:srgbClr val="000000"/>
                            </a:solidFill>
                            <a:effectLst/>
                            <a:latin typeface="Aptos Narrow" panose="020B0004020202020204" pitchFamily="34" charset="0"/>
                            <a:ea typeface="+mn-ea"/>
                            <a:cs typeface="+mn-cs"/>
                          </a:endParaRPr>
                        </a:p>
                      </a:txBody>
                      <a:tcPr marL="108000" marR="9525" marT="9525" marB="0" anchor="ctr">
                        <a:noFill/>
                      </a:tcPr>
                    </a:tc>
                    <a:extLst>
                      <a:ext uri="{0D108BD9-81ED-4DB2-BD59-A6C34878D82A}">
                        <a16:rowId xmlns:a16="http://schemas.microsoft.com/office/drawing/2014/main" val="1338070065"/>
                      </a:ext>
                    </a:extLst>
                  </a:tr>
                </a:tbl>
              </a:graphicData>
            </a:graphic>
          </p:graphicFrame>
        </mc:Choice>
        <mc:Fallback>
          <p:graphicFrame>
            <p:nvGraphicFramePr>
              <p:cNvPr id="6" name="Table 5">
                <a:extLst>
                  <a:ext uri="{FF2B5EF4-FFF2-40B4-BE49-F238E27FC236}">
                    <a16:creationId xmlns:a16="http://schemas.microsoft.com/office/drawing/2014/main" id="{B596AD28-C84E-64D6-F6FE-782040BA8DC3}"/>
                  </a:ext>
                </a:extLst>
              </p:cNvPr>
              <p:cNvGraphicFramePr>
                <a:graphicFrameLocks noGrp="1"/>
              </p:cNvGraphicFramePr>
              <p:nvPr/>
            </p:nvGraphicFramePr>
            <p:xfrm>
              <a:off x="479426" y="2110854"/>
              <a:ext cx="10873158" cy="860787"/>
            </p:xfrm>
            <a:graphic>
              <a:graphicData uri="http://schemas.openxmlformats.org/drawingml/2006/table">
                <a:tbl>
                  <a:tblPr firstRow="1" firstCol="1">
                    <a:tableStyleId>{B301B821-A1FF-4177-AEE7-76D212191A09}</a:tableStyleId>
                  </a:tblPr>
                  <a:tblGrid>
                    <a:gridCol w="1427514">
                      <a:extLst>
                        <a:ext uri="{9D8B030D-6E8A-4147-A177-3AD203B41FA5}">
                          <a16:colId xmlns:a16="http://schemas.microsoft.com/office/drawing/2014/main" val="3046894841"/>
                        </a:ext>
                      </a:extLst>
                    </a:gridCol>
                    <a:gridCol w="2289730">
                      <a:extLst>
                        <a:ext uri="{9D8B030D-6E8A-4147-A177-3AD203B41FA5}">
                          <a16:colId xmlns:a16="http://schemas.microsoft.com/office/drawing/2014/main" val="393473767"/>
                        </a:ext>
                      </a:extLst>
                    </a:gridCol>
                    <a:gridCol w="7155914">
                      <a:extLst>
                        <a:ext uri="{9D8B030D-6E8A-4147-A177-3AD203B41FA5}">
                          <a16:colId xmlns:a16="http://schemas.microsoft.com/office/drawing/2014/main" val="3373163723"/>
                        </a:ext>
                      </a:extLst>
                    </a:gridCol>
                  </a:tblGrid>
                  <a:tr h="363628">
                    <a:tc>
                      <a:txBody>
                        <a:bodyPr/>
                        <a:lstStyle/>
                        <a:p>
                          <a:pPr algn="l" fontAlgn="ctr">
                            <a:buNone/>
                          </a:pPr>
                          <a:endParaRPr lang="en-US" sz="1200" b="0" i="0" u="none" strike="noStrike">
                            <a:solidFill>
                              <a:srgbClr val="000000"/>
                            </a:solidFill>
                            <a:effectLst/>
                            <a:latin typeface="Aptos Narrow" panose="020B0004020202020204" pitchFamily="34" charset="0"/>
                          </a:endParaRPr>
                        </a:p>
                      </a:txBody>
                      <a:tcPr marL="108000" marR="9525" marT="9525" marB="0" anchor="ctr">
                        <a:solidFill>
                          <a:schemeClr val="bg2">
                            <a:lumMod val="75000"/>
                            <a:lumOff val="2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CN" sz="1200" b="1" u="none" strike="noStrike" kern="1200">
                              <a:solidFill>
                                <a:schemeClr val="lt1"/>
                              </a:solidFill>
                              <a:effectLst/>
                              <a:latin typeface="+mn-lt"/>
                              <a:ea typeface="+mn-ea"/>
                              <a:cs typeface="+mn-cs"/>
                            </a:rPr>
                            <a:t>Study Design</a:t>
                          </a:r>
                          <a:endParaRPr lang="en-US" sz="1200" b="1" u="none" strike="noStrike" kern="1200">
                            <a:solidFill>
                              <a:schemeClr val="lt1"/>
                            </a:solidFill>
                            <a:effectLst/>
                            <a:latin typeface="+mn-lt"/>
                            <a:ea typeface="+mn-ea"/>
                            <a:cs typeface="+mn-cs"/>
                          </a:endParaRPr>
                        </a:p>
                      </a:txBody>
                      <a:tcPr marL="108000" marR="9525" marT="9525" marB="0" anchor="ctr">
                        <a:solidFill>
                          <a:schemeClr val="bg2">
                            <a:lumMod val="75000"/>
                            <a:lumOff val="2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u="none" strike="noStrike" kern="1200">
                              <a:solidFill>
                                <a:schemeClr val="lt1"/>
                              </a:solidFill>
                              <a:effectLst/>
                              <a:latin typeface="+mn-lt"/>
                              <a:ea typeface="+mn-ea"/>
                              <a:cs typeface="+mn-cs"/>
                            </a:rPr>
                            <a:t>Outcomes</a:t>
                          </a:r>
                        </a:p>
                      </a:txBody>
                      <a:tcPr marL="108000" marR="9525" marT="9525" marB="0" anchor="ctr">
                        <a:solidFill>
                          <a:schemeClr val="bg2">
                            <a:lumMod val="75000"/>
                            <a:lumOff val="25000"/>
                          </a:schemeClr>
                        </a:solidFill>
                      </a:tcPr>
                    </a:tc>
                    <a:extLst>
                      <a:ext uri="{0D108BD9-81ED-4DB2-BD59-A6C34878D82A}">
                        <a16:rowId xmlns:a16="http://schemas.microsoft.com/office/drawing/2014/main" val="279778264"/>
                      </a:ext>
                    </a:extLst>
                  </a:tr>
                  <a:tr h="497159">
                    <a:tc>
                      <a:txBody>
                        <a:bodyPr/>
                        <a:lstStyle/>
                        <a:p>
                          <a:pPr algn="l" fontAlgn="ctr">
                            <a:buNone/>
                          </a:pPr>
                          <a:r>
                            <a:rPr lang="en-US" sz="1200" u="none" strike="noStrike">
                              <a:effectLst/>
                            </a:rPr>
                            <a:t>Prevalence</a:t>
                          </a:r>
                          <a:endParaRPr lang="en-US" sz="1200" b="0" i="0" u="none" strike="noStrike">
                            <a:solidFill>
                              <a:srgbClr val="000000"/>
                            </a:solidFill>
                            <a:effectLst/>
                            <a:latin typeface="Aptos Narrow" panose="020B0004020202020204" pitchFamily="34" charset="0"/>
                          </a:endParaRPr>
                        </a:p>
                      </a:txBody>
                      <a:tcPr marL="108000"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1" i="0" u="none" strike="noStrike" kern="1200">
                              <a:solidFill>
                                <a:srgbClr val="000000"/>
                              </a:solidFill>
                              <a:effectLst/>
                              <a:latin typeface="Aptos Narrow" panose="020B0004020202020204" pitchFamily="34" charset="0"/>
                              <a:ea typeface="+mn-ea"/>
                              <a:cs typeface="+mn-cs"/>
                            </a:rPr>
                            <a:t>Cross-sectional</a:t>
                          </a: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sz="1400" b="0" i="0" u="none" strike="noStrike" kern="1200">
                              <a:solidFill>
                                <a:srgbClr val="000000"/>
                              </a:solidFill>
                              <a:effectLst/>
                              <a:latin typeface="Aptos Narrow" panose="020B0004020202020204" pitchFamily="34" charset="0"/>
                              <a:ea typeface="+mn-ea"/>
                              <a:cs typeface="+mn-cs"/>
                            </a:rPr>
                            <a:t>2020-2027 (each year)</a:t>
                          </a:r>
                        </a:p>
                      </a:txBody>
                      <a:tcPr marL="108000" marR="9525" marT="9525" marB="0" anchor="ctr">
                        <a:noFill/>
                      </a:tcPr>
                    </a:tc>
                    <a:tc>
                      <a:txBody>
                        <a:bodyPr/>
                        <a:lstStyle/>
                        <a:p>
                          <a:endParaRPr lang="en-US"/>
                        </a:p>
                      </a:txBody>
                      <a:tcPr marL="108000" marR="9525" marT="9525" marB="0" anchor="ctr">
                        <a:blipFill>
                          <a:blip r:embed="rId2"/>
                          <a:stretch>
                            <a:fillRect l="-52000" t="-74390" r="-170" b="-14634"/>
                          </a:stretch>
                        </a:blipFill>
                      </a:tcPr>
                    </a:tc>
                    <a:extLst>
                      <a:ext uri="{0D108BD9-81ED-4DB2-BD59-A6C34878D82A}">
                        <a16:rowId xmlns:a16="http://schemas.microsoft.com/office/drawing/2014/main" val="1338070065"/>
                      </a:ext>
                    </a:extLst>
                  </a:tr>
                </a:tbl>
              </a:graphicData>
            </a:graphic>
          </p:graphicFrame>
        </mc:Fallback>
      </mc:AlternateContent>
      <p:sp>
        <p:nvSpPr>
          <p:cNvPr id="7" name="标题 1">
            <a:extLst>
              <a:ext uri="{FF2B5EF4-FFF2-40B4-BE49-F238E27FC236}">
                <a16:creationId xmlns:a16="http://schemas.microsoft.com/office/drawing/2014/main" id="{FD9F5995-F3B0-68E4-3B99-7AF92B28D942}"/>
              </a:ext>
            </a:extLst>
          </p:cNvPr>
          <p:cNvSpPr txBox="1">
            <a:spLocks noGrp="1"/>
          </p:cNvSpPr>
          <p:nvPr>
            <p:ph type="title"/>
          </p:nvPr>
        </p:nvSpPr>
        <p:spPr bwMode="gray">
          <a:xfrm>
            <a:off x="479425" y="476250"/>
            <a:ext cx="11233150" cy="720725"/>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ltLang="zh-CN"/>
              <a:t>Study Design and Outcomes</a:t>
            </a:r>
          </a:p>
        </p:txBody>
      </p:sp>
      <p:sp>
        <p:nvSpPr>
          <p:cNvPr id="8" name="TextBox 7">
            <a:extLst>
              <a:ext uri="{FF2B5EF4-FFF2-40B4-BE49-F238E27FC236}">
                <a16:creationId xmlns:a16="http://schemas.microsoft.com/office/drawing/2014/main" id="{413AC766-6479-A5A8-2DB1-46F7D95AAB3C}"/>
              </a:ext>
            </a:extLst>
          </p:cNvPr>
          <p:cNvSpPr txBox="1"/>
          <p:nvPr/>
        </p:nvSpPr>
        <p:spPr bwMode="gray">
          <a:xfrm>
            <a:off x="412184" y="1734573"/>
            <a:ext cx="6179574" cy="307777"/>
          </a:xfrm>
          <a:prstGeom prst="rect">
            <a:avLst/>
          </a:prstGeom>
          <a:noFill/>
        </p:spPr>
        <p:txBody>
          <a:bodyPr wrap="square">
            <a:spAutoFit/>
          </a:bodyPr>
          <a:lstStyle/>
          <a:p>
            <a:pPr algn="l" fontAlgn="ctr">
              <a:buNone/>
            </a:pPr>
            <a:r>
              <a:rPr lang="en-US" altLang="zh-CN" sz="1400" b="1"/>
              <a:t>Secondary</a:t>
            </a:r>
            <a:r>
              <a:rPr lang="en-US" altLang="zh-CN" sz="1400" b="1" u="none" strike="noStrike">
                <a:effectLst/>
              </a:rPr>
              <a:t> Objectives</a:t>
            </a:r>
            <a:endParaRPr lang="en-US" altLang="zh-CN" sz="1400" b="1" i="0" u="none" strike="noStrike">
              <a:solidFill>
                <a:srgbClr val="000000"/>
              </a:solidFill>
              <a:effectLst/>
              <a:latin typeface="Aptos Narrow" panose="020B0004020202020204" pitchFamily="34" charset="0"/>
            </a:endParaRPr>
          </a:p>
        </p:txBody>
      </p:sp>
    </p:spTree>
    <p:extLst>
      <p:ext uri="{BB962C8B-B14F-4D97-AF65-F5344CB8AC3E}">
        <p14:creationId xmlns:p14="http://schemas.microsoft.com/office/powerpoint/2010/main" val="30837845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DEB24-C967-6C9D-E976-6EB6290A7731}"/>
            </a:ext>
          </a:extLst>
        </p:cNvPr>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7E8BA99B-ADED-D875-A91C-F98430D5A315}"/>
              </a:ext>
            </a:extLst>
          </p:cNvPr>
          <p:cNvGraphicFramePr>
            <a:graphicFrameLocks/>
          </p:cNvGraphicFramePr>
          <p:nvPr>
            <p:custDataLst>
              <p:tags r:id="rId1"/>
            </p:custDataLst>
          </p:nvPr>
        </p:nvGraphicFramePr>
        <p:xfrm>
          <a:off x="1525589" y="1589"/>
          <a:ext cx="1587" cy="1587"/>
        </p:xfrm>
        <a:graphic>
          <a:graphicData uri="http://schemas.openxmlformats.org/presentationml/2006/ole">
            <mc:AlternateContent xmlns:mc="http://schemas.openxmlformats.org/markup-compatibility/2006">
              <mc:Choice xmlns:v="urn:schemas-microsoft-com:vml" Requires="v">
                <p:oleObj name="think-cell Folie" r:id="rId5" imgW="360" imgH="360" progId="TCLayout.ActiveDocument.1">
                  <p:embed/>
                </p:oleObj>
              </mc:Choice>
              <mc:Fallback>
                <p:oleObj name="think-cell Folie" r:id="rId5" imgW="360" imgH="360" progId="TCLayout.ActiveDocument.1">
                  <p:embed/>
                  <p:pic>
                    <p:nvPicPr>
                      <p:cNvPr id="3" name="Objekt 2" hidden="1">
                        <a:extLst>
                          <a:ext uri="{FF2B5EF4-FFF2-40B4-BE49-F238E27FC236}">
                            <a16:creationId xmlns:a16="http://schemas.microsoft.com/office/drawing/2014/main" id="{7E8BA99B-ADED-D875-A91C-F98430D5A315}"/>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5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hteck 5" hidden="1">
            <a:extLst>
              <a:ext uri="{FF2B5EF4-FFF2-40B4-BE49-F238E27FC236}">
                <a16:creationId xmlns:a16="http://schemas.microsoft.com/office/drawing/2014/main" id="{A381197C-3593-4137-F0C0-6EB563125E51}"/>
              </a:ext>
            </a:extLst>
          </p:cNvPr>
          <p:cNvSpPr/>
          <p:nvPr>
            <p:custDataLst>
              <p:tags r:id="rId2"/>
            </p:custDataLst>
          </p:nvPr>
        </p:nvSpPr>
        <p:spPr>
          <a:xfrm>
            <a:off x="0" y="0"/>
            <a:ext cx="158750" cy="15875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en-US" sz="3000">
              <a:solidFill>
                <a:schemeClr val="tx1"/>
              </a:solidFill>
              <a:latin typeface="Open Sans Extrabold" panose="020B0906030804020204" pitchFamily="34" charset="0"/>
              <a:ea typeface="Open Sans Extrabold" panose="020B0906030804020204" pitchFamily="34" charset="0"/>
              <a:cs typeface="Open Sans Extrabold" panose="020B0906030804020204" pitchFamily="34" charset="0"/>
              <a:sym typeface="Open Sans Extrabold" panose="020B0906030804020204" pitchFamily="34" charset="0"/>
            </a:endParaRPr>
          </a:p>
        </p:txBody>
      </p:sp>
      <p:sp>
        <p:nvSpPr>
          <p:cNvPr id="14" name="Titel 13">
            <a:extLst>
              <a:ext uri="{FF2B5EF4-FFF2-40B4-BE49-F238E27FC236}">
                <a16:creationId xmlns:a16="http://schemas.microsoft.com/office/drawing/2014/main" id="{07C93A81-0F12-B42D-B4E4-B3C054FD1B5E}"/>
              </a:ext>
            </a:extLst>
          </p:cNvPr>
          <p:cNvSpPr>
            <a:spLocks noGrp="1"/>
          </p:cNvSpPr>
          <p:nvPr>
            <p:ph type="title"/>
          </p:nvPr>
        </p:nvSpPr>
        <p:spPr bwMode="gray">
          <a:xfrm>
            <a:off x="335441" y="433395"/>
            <a:ext cx="11233151" cy="720000"/>
          </a:xfrm>
        </p:spPr>
        <p:txBody>
          <a:bodyPr/>
          <a:lstStyle/>
          <a:p>
            <a:r>
              <a:rPr lang="en-US" altLang="zh-CN" sz="2000"/>
              <a:t>Statistical Analysis Methods</a:t>
            </a:r>
            <a:br>
              <a:rPr lang="en-US" altLang="zh-CN" sz="2000" i="1"/>
            </a:br>
            <a:endParaRPr lang="en-US" sz="2000"/>
          </a:p>
        </p:txBody>
      </p:sp>
      <p:pic>
        <p:nvPicPr>
          <p:cNvPr id="21" name="Grafik 20">
            <a:extLst>
              <a:ext uri="{FF2B5EF4-FFF2-40B4-BE49-F238E27FC236}">
                <a16:creationId xmlns:a16="http://schemas.microsoft.com/office/drawing/2014/main" id="{79599956-1906-7AC6-234C-FED750BCB6BC}"/>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bwMode="gray">
          <a:xfrm>
            <a:off x="479424" y="6165000"/>
            <a:ext cx="1234800" cy="372727"/>
          </a:xfrm>
          <a:prstGeom prst="rect">
            <a:avLst/>
          </a:prstGeom>
        </p:spPr>
      </p:pic>
      <p:sp>
        <p:nvSpPr>
          <p:cNvPr id="5" name="Fußzeilenplatzhalter 4">
            <a:extLst>
              <a:ext uri="{FF2B5EF4-FFF2-40B4-BE49-F238E27FC236}">
                <a16:creationId xmlns:a16="http://schemas.microsoft.com/office/drawing/2014/main" id="{8D008363-C4DB-FBEE-3916-0ABB6D917377}"/>
              </a:ext>
            </a:extLst>
          </p:cNvPr>
          <p:cNvSpPr>
            <a:spLocks noGrp="1"/>
          </p:cNvSpPr>
          <p:nvPr>
            <p:ph type="ftr" sz="quarter" idx="10"/>
          </p:nvPr>
        </p:nvSpPr>
        <p:spPr bwMode="gray">
          <a:xfrm>
            <a:off x="6312024" y="6246836"/>
            <a:ext cx="5040560" cy="288000"/>
          </a:xfrm>
        </p:spPr>
        <p:txBody>
          <a:bodyPr/>
          <a:lstStyle/>
          <a:p>
            <a:r>
              <a:rPr lang="en-US" sz="600">
                <a:solidFill>
                  <a:schemeClr val="bg1"/>
                </a:solidFill>
              </a:rPr>
              <a:t>Slide library    |     ONLY FOR INTERNAL USE</a:t>
            </a:r>
          </a:p>
        </p:txBody>
      </p:sp>
      <p:sp>
        <p:nvSpPr>
          <p:cNvPr id="7" name="Foliennummernplatzhalter 6">
            <a:extLst>
              <a:ext uri="{FF2B5EF4-FFF2-40B4-BE49-F238E27FC236}">
                <a16:creationId xmlns:a16="http://schemas.microsoft.com/office/drawing/2014/main" id="{7A5746FF-ED78-BE16-4CDF-702E59756E25}"/>
              </a:ext>
            </a:extLst>
          </p:cNvPr>
          <p:cNvSpPr>
            <a:spLocks noGrp="1"/>
          </p:cNvSpPr>
          <p:nvPr>
            <p:ph type="sldNum" sz="quarter" idx="11"/>
          </p:nvPr>
        </p:nvSpPr>
        <p:spPr bwMode="gray">
          <a:xfrm>
            <a:off x="11424592" y="6246836"/>
            <a:ext cx="288000" cy="288000"/>
          </a:xfrm>
        </p:spPr>
        <p:txBody>
          <a:bodyPr/>
          <a:lstStyle/>
          <a:p>
            <a:fld id="{8FF9B0DE-3FEB-4AA0-B465-B80EF7C1333D}" type="slidenum">
              <a:rPr lang="en-US" sz="600" smtClean="0">
                <a:solidFill>
                  <a:schemeClr val="bg1"/>
                </a:solidFill>
              </a:rPr>
              <a:pPr/>
              <a:t>24</a:t>
            </a:fld>
            <a:endParaRPr lang="en-US" sz="600">
              <a:solidFill>
                <a:schemeClr val="bg1"/>
              </a:solidFill>
            </a:endParaRPr>
          </a:p>
        </p:txBody>
      </p:sp>
      <p:sp>
        <p:nvSpPr>
          <p:cNvPr id="11" name="TextBox 2">
            <a:extLst>
              <a:ext uri="{FF2B5EF4-FFF2-40B4-BE49-F238E27FC236}">
                <a16:creationId xmlns:a16="http://schemas.microsoft.com/office/drawing/2014/main" id="{5DB8FD9B-8C70-BB35-AF7F-B9E9A28F39D4}"/>
              </a:ext>
            </a:extLst>
          </p:cNvPr>
          <p:cNvSpPr txBox="1"/>
          <p:nvPr/>
        </p:nvSpPr>
        <p:spPr bwMode="gray">
          <a:xfrm>
            <a:off x="254000" y="917409"/>
            <a:ext cx="11811000" cy="5016758"/>
          </a:xfrm>
          <a:prstGeom prst="rect">
            <a:avLst/>
          </a:prstGeom>
          <a:noFill/>
        </p:spPr>
        <p:txBody>
          <a:bodyPr wrap="square">
            <a:spAutoFit/>
          </a:bodyPr>
          <a:lstStyle/>
          <a:p>
            <a:r>
              <a:rPr lang="en-US" altLang="zh-CN" sz="1400" b="1" u="sng"/>
              <a:t>P</a:t>
            </a:r>
            <a:r>
              <a:rPr lang="en-US" sz="1400" b="1" u="sng"/>
              <a:t>rimary outcomes:</a:t>
            </a:r>
          </a:p>
          <a:p>
            <a:endParaRPr lang="en-US" sz="1600"/>
          </a:p>
          <a:p>
            <a:pPr marL="285750" indent="-285750">
              <a:buFont typeface="Wingdings" panose="05000000000000000000" pitchFamily="2" charset="2"/>
              <a:buChar char="§"/>
            </a:pPr>
            <a:r>
              <a:rPr lang="en-US" altLang="zh-CN" sz="1400" b="1"/>
              <a:t>Clinical outcome</a:t>
            </a:r>
            <a:r>
              <a:rPr lang="zh-CN" altLang="en-US" sz="1400" b="1"/>
              <a:t>：</a:t>
            </a:r>
            <a:endParaRPr lang="en-US" sz="1400" b="1"/>
          </a:p>
          <a:p>
            <a:pPr marL="285750" indent="-285750">
              <a:buFont typeface="Wingdings" panose="05000000000000000000" pitchFamily="2" charset="2"/>
              <a:buChar char="§"/>
            </a:pPr>
            <a:endParaRPr lang="en-US" sz="1400" b="1"/>
          </a:p>
          <a:p>
            <a:endParaRPr lang="en-US" sz="1400" b="1" u="sng"/>
          </a:p>
          <a:p>
            <a:r>
              <a:rPr lang="en-US" sz="1400" b="1" u="sng"/>
              <a:t>Secondary outcomes: </a:t>
            </a:r>
          </a:p>
          <a:p>
            <a:pPr marL="342900" indent="-342900">
              <a:buFont typeface="Wingdings" panose="05000000000000000000" pitchFamily="2" charset="2"/>
              <a:buChar char="§"/>
            </a:pPr>
            <a:endParaRPr lang="en-US" sz="1400" b="1"/>
          </a:p>
          <a:p>
            <a:pPr marL="342900" indent="-342900">
              <a:buFont typeface="Wingdings" panose="05000000000000000000" pitchFamily="2" charset="2"/>
              <a:buChar char="§"/>
            </a:pPr>
            <a:r>
              <a:rPr lang="en-US" altLang="zh-CN" sz="1400" b="1"/>
              <a:t>Treatment pattern:</a:t>
            </a:r>
            <a:endParaRPr lang="en-US" sz="1200" b="1" i="1"/>
          </a:p>
          <a:p>
            <a:pPr marL="342900" indent="-342900">
              <a:buFont typeface="Wingdings" panose="05000000000000000000" pitchFamily="2" charset="2"/>
              <a:buChar char="§"/>
            </a:pPr>
            <a:endParaRPr lang="en-US" sz="1400" b="1"/>
          </a:p>
          <a:p>
            <a:pPr marL="342900" indent="-342900">
              <a:buFont typeface="Wingdings" panose="05000000000000000000" pitchFamily="2" charset="2"/>
              <a:buChar char="§"/>
            </a:pPr>
            <a:endParaRPr lang="en-US" sz="1400" b="1"/>
          </a:p>
          <a:p>
            <a:pPr marL="342900" indent="-342900">
              <a:buFont typeface="Wingdings" panose="05000000000000000000" pitchFamily="2" charset="2"/>
              <a:buChar char="§"/>
            </a:pPr>
            <a:endParaRPr lang="en-US" sz="1400" b="1"/>
          </a:p>
          <a:p>
            <a:pPr marL="342900" indent="-342900">
              <a:buFont typeface="Wingdings" panose="05000000000000000000" pitchFamily="2" charset="2"/>
              <a:buChar char="§"/>
            </a:pPr>
            <a:r>
              <a:rPr lang="en-US" sz="1400" b="1"/>
              <a:t>Demographics characteristics:</a:t>
            </a:r>
          </a:p>
          <a:p>
            <a:pPr marL="342900" indent="-342900">
              <a:buFont typeface="Wingdings" panose="05000000000000000000" pitchFamily="2" charset="2"/>
              <a:buChar char="§"/>
            </a:pPr>
            <a:endParaRPr lang="en-US" sz="1200" b="1" i="1"/>
          </a:p>
          <a:p>
            <a:pPr marL="342900" indent="-342900">
              <a:buFont typeface="Wingdings" panose="05000000000000000000" pitchFamily="2" charset="2"/>
              <a:buChar char="§"/>
            </a:pPr>
            <a:endParaRPr lang="en-US" sz="1200" b="1" i="1"/>
          </a:p>
          <a:p>
            <a:endParaRPr lang="en-US" sz="900" b="1" i="1"/>
          </a:p>
          <a:p>
            <a:endParaRPr lang="en-US" sz="1200" b="1" i="1"/>
          </a:p>
          <a:p>
            <a:pPr marL="342900" indent="-342900">
              <a:buFont typeface="Wingdings" panose="05000000000000000000" pitchFamily="2" charset="2"/>
              <a:buChar char="§"/>
            </a:pPr>
            <a:endParaRPr lang="en-US" sz="1200" b="1" i="1"/>
          </a:p>
          <a:p>
            <a:pPr marL="342900" indent="-342900">
              <a:buFont typeface="Wingdings" panose="05000000000000000000" pitchFamily="2" charset="2"/>
              <a:buChar char="§"/>
            </a:pPr>
            <a:r>
              <a:rPr lang="en-US" sz="1400" b="1"/>
              <a:t>Prevalence</a:t>
            </a:r>
            <a:r>
              <a:rPr lang="zh-CN" altLang="en-US" sz="1400" b="1"/>
              <a:t>：</a:t>
            </a:r>
            <a:endParaRPr lang="en-US" altLang="zh-CN" sz="1400" b="1">
              <a:sym typeface="Helvetica Neue"/>
            </a:endParaRPr>
          </a:p>
          <a:p>
            <a:pPr marL="342900" indent="-342900">
              <a:buFont typeface="Wingdings" panose="05000000000000000000" pitchFamily="2" charset="2"/>
              <a:buChar char="§"/>
            </a:pPr>
            <a:endParaRPr lang="en-US" sz="1200" b="1" i="1"/>
          </a:p>
          <a:p>
            <a:pPr marL="342900" indent="-342900">
              <a:buFont typeface="Wingdings" panose="05000000000000000000" pitchFamily="2" charset="2"/>
              <a:buChar char="§"/>
            </a:pPr>
            <a:endParaRPr lang="en-US" sz="1200" b="1" i="1"/>
          </a:p>
          <a:p>
            <a:pPr marL="0" lvl="2"/>
            <a:endParaRPr lang="en-US" sz="1600" b="1"/>
          </a:p>
          <a:p>
            <a:pPr marL="1257300" lvl="2" indent="-342900">
              <a:buFont typeface="Wingdings" panose="05000000000000000000" pitchFamily="2" charset="2"/>
              <a:buChar char="ü"/>
            </a:pPr>
            <a:endParaRPr lang="en-US" sz="1400" i="1"/>
          </a:p>
          <a:p>
            <a:r>
              <a:rPr lang="en-US" altLang="zh-CN" sz="1400" b="1" u="sng"/>
              <a:t>Exploratory analysis: </a:t>
            </a:r>
          </a:p>
          <a:p>
            <a:endParaRPr lang="en-US" sz="1100" i="1"/>
          </a:p>
        </p:txBody>
      </p:sp>
      <p:sp>
        <p:nvSpPr>
          <p:cNvPr id="12" name="TextBox 11">
            <a:extLst>
              <a:ext uri="{FF2B5EF4-FFF2-40B4-BE49-F238E27FC236}">
                <a16:creationId xmlns:a16="http://schemas.microsoft.com/office/drawing/2014/main" id="{F99975F5-E473-70C3-4AB5-90F03A74F944}"/>
              </a:ext>
            </a:extLst>
          </p:cNvPr>
          <p:cNvSpPr txBox="1"/>
          <p:nvPr/>
        </p:nvSpPr>
        <p:spPr bwMode="gray">
          <a:xfrm>
            <a:off x="2403215" y="1383700"/>
            <a:ext cx="9441652" cy="646331"/>
          </a:xfrm>
          <a:prstGeom prst="rect">
            <a:avLst/>
          </a:prstGeom>
          <a:solidFill>
            <a:schemeClr val="bg1">
              <a:lumMod val="95000"/>
            </a:schemeClr>
          </a:solidFill>
        </p:spPr>
        <p:txBody>
          <a:bodyPr wrap="square">
            <a:spAutoFit/>
          </a:bodyPr>
          <a:lstStyle/>
          <a:p>
            <a:pPr lvl="0">
              <a:defRPr/>
            </a:pPr>
            <a:r>
              <a:rPr lang="en-US" sz="1200" b="1" i="1">
                <a:solidFill>
                  <a:prstClr val="black"/>
                </a:solidFill>
                <a:latin typeface="Boehringer Forward Text"/>
              </a:rPr>
              <a:t>The incident rate of each outcome event</a:t>
            </a:r>
            <a:endParaRPr lang="en-US" altLang="zh-CN" sz="1200" b="1" i="1">
              <a:solidFill>
                <a:prstClr val="black"/>
              </a:solidFill>
              <a:latin typeface="Boehringer Forward Text"/>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200" b="0" i="1" u="none" strike="noStrike" kern="1200" cap="none" spc="0" normalizeH="0" baseline="0" noProof="0">
                <a:ln>
                  <a:noFill/>
                </a:ln>
                <a:solidFill>
                  <a:prstClr val="black"/>
                </a:solidFill>
                <a:effectLst/>
                <a:uLnTx/>
                <a:uFillTx/>
                <a:latin typeface="Boehringer Forward Text"/>
                <a:ea typeface="+mn-ea"/>
                <a:cs typeface="+mn-cs"/>
              </a:rPr>
              <a:t>Incidence rate=1000*Number of patients with the incident event/total number of person-years at risk</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200" b="0" i="1" u="none" strike="noStrike" kern="1200" cap="none" spc="0" normalizeH="0" baseline="0" noProof="0">
                <a:ln>
                  <a:noFill/>
                </a:ln>
                <a:solidFill>
                  <a:prstClr val="black"/>
                </a:solidFill>
                <a:effectLst/>
                <a:uLnTx/>
                <a:uFillTx/>
                <a:latin typeface="Boehringer Forward Text"/>
                <a:ea typeface="+mn-ea"/>
                <a:cs typeface="+mn-cs"/>
              </a:rPr>
              <a:t>Subgroup analysis (SGLT2i/GLP-1RA)</a:t>
            </a:r>
          </a:p>
        </p:txBody>
      </p:sp>
      <p:sp>
        <p:nvSpPr>
          <p:cNvPr id="15" name="TextBox 14">
            <a:extLst>
              <a:ext uri="{FF2B5EF4-FFF2-40B4-BE49-F238E27FC236}">
                <a16:creationId xmlns:a16="http://schemas.microsoft.com/office/drawing/2014/main" id="{DF712300-A551-DC1D-1396-D7F601CB8C30}"/>
              </a:ext>
            </a:extLst>
          </p:cNvPr>
          <p:cNvSpPr txBox="1"/>
          <p:nvPr/>
        </p:nvSpPr>
        <p:spPr bwMode="gray">
          <a:xfrm>
            <a:off x="2386214" y="4479192"/>
            <a:ext cx="9458652" cy="646331"/>
          </a:xfrm>
          <a:prstGeom prst="rect">
            <a:avLst/>
          </a:prstGeom>
          <a:solidFill>
            <a:schemeClr val="bg1">
              <a:lumMod val="95000"/>
            </a:schemeClr>
          </a:solid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kumimoji="0" lang="en-US" altLang="zh-CN" sz="1200" b="0" i="1" u="none" strike="noStrike" kern="1200" cap="none" spc="0" normalizeH="0" baseline="0" noProof="0">
                <a:ln>
                  <a:noFill/>
                </a:ln>
                <a:solidFill>
                  <a:prstClr val="black"/>
                </a:solidFill>
                <a:effectLst/>
                <a:uLnTx/>
                <a:uFillTx/>
                <a:latin typeface="Boehringer Forward Text"/>
                <a:ea typeface="+mn-ea"/>
                <a:cs typeface="+mn-cs"/>
              </a:rPr>
              <a:t>Describe</a:t>
            </a:r>
            <a:r>
              <a:rPr kumimoji="0" lang="zh-CN" altLang="en-US" sz="1200" b="0" i="1" u="none" strike="noStrike" kern="1200" cap="none" spc="0" normalizeH="0" baseline="0" noProof="0">
                <a:ln>
                  <a:noFill/>
                </a:ln>
                <a:solidFill>
                  <a:prstClr val="black"/>
                </a:solidFill>
                <a:effectLst/>
                <a:uLnTx/>
                <a:uFillTx/>
                <a:latin typeface="Boehringer Forward Text"/>
                <a:ea typeface="+mn-ea"/>
                <a:cs typeface="+mn-cs"/>
              </a:rPr>
              <a:t> </a:t>
            </a:r>
            <a:r>
              <a:rPr lang="en-US" altLang="zh-CN" sz="1200" b="1" i="1">
                <a:solidFill>
                  <a:prstClr val="black"/>
                </a:solidFill>
                <a:latin typeface="Boehringer Forward Text"/>
              </a:rPr>
              <a:t>prevalence</a:t>
            </a:r>
            <a:r>
              <a:rPr lang="en-US" altLang="zh-CN" sz="1200" i="1">
                <a:solidFill>
                  <a:prstClr val="black"/>
                </a:solidFill>
                <a:latin typeface="Boehringer Forward Text"/>
              </a:rPr>
              <a:t> of </a:t>
            </a:r>
            <a:r>
              <a:rPr kumimoji="0" lang="en-US" altLang="zh-CN" sz="1200" b="0" i="1" u="none" strike="noStrike" kern="1200" cap="none" spc="0" normalizeH="0" baseline="0" noProof="0">
                <a:ln>
                  <a:noFill/>
                </a:ln>
                <a:solidFill>
                  <a:prstClr val="black"/>
                </a:solidFill>
                <a:effectLst/>
                <a:uLnTx/>
                <a:uFillTx/>
                <a:latin typeface="Boehringer Forward Text"/>
                <a:ea typeface="+mn-ea"/>
                <a:cs typeface="+mn-cs"/>
              </a:rPr>
              <a:t>interested patients among the total number of inpatients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1200" b="0" i="1" u="none" strike="noStrike" kern="1200" cap="none" spc="0" normalizeH="0" baseline="0" noProof="0">
                <a:ln>
                  <a:noFill/>
                </a:ln>
                <a:solidFill>
                  <a:prstClr val="black"/>
                </a:solidFill>
                <a:effectLst/>
                <a:uLnTx/>
                <a:uFillTx/>
                <a:latin typeface="Boehringer Forward Text"/>
                <a:ea typeface="+mn-ea"/>
                <a:cs typeface="+mn-cs"/>
              </a:rPr>
              <a:t>95% CI for prevalence estimates </a:t>
            </a:r>
          </a:p>
          <a:p>
            <a:pPr marL="285750" lvl="0" indent="-285750">
              <a:buFont typeface="Wingdings" panose="05000000000000000000" pitchFamily="2" charset="2"/>
              <a:buChar char="Ø"/>
              <a:defRPr/>
            </a:pPr>
            <a:r>
              <a:rPr lang="en-US" altLang="zh-CN" sz="1200" i="1">
                <a:solidFill>
                  <a:prstClr val="black"/>
                </a:solidFill>
              </a:rPr>
              <a:t>Subgroup analysis (SGLT2i/GLP-1RA)</a:t>
            </a:r>
          </a:p>
        </p:txBody>
      </p:sp>
      <p:sp>
        <p:nvSpPr>
          <p:cNvPr id="17" name="TextBox 16">
            <a:extLst>
              <a:ext uri="{FF2B5EF4-FFF2-40B4-BE49-F238E27FC236}">
                <a16:creationId xmlns:a16="http://schemas.microsoft.com/office/drawing/2014/main" id="{4C21B88E-2E97-BA28-9674-10D5F34642CE}"/>
              </a:ext>
            </a:extLst>
          </p:cNvPr>
          <p:cNvSpPr txBox="1"/>
          <p:nvPr/>
        </p:nvSpPr>
        <p:spPr bwMode="gray">
          <a:xfrm>
            <a:off x="2386213" y="2493128"/>
            <a:ext cx="9458654" cy="830997"/>
          </a:xfrm>
          <a:prstGeom prst="rect">
            <a:avLst/>
          </a:prstGeom>
          <a:solidFill>
            <a:schemeClr val="bg1">
              <a:lumMod val="95000"/>
            </a:schemeClr>
          </a:solidFill>
        </p:spPr>
        <p:txBody>
          <a:bodyPr wrap="square" lIns="91440" tIns="45720" rIns="91440" bIns="45720" anchor="t">
            <a:spAutoFit/>
          </a:bodyPr>
          <a:lstStyle/>
          <a:p>
            <a:r>
              <a:rPr lang="en-US" altLang="zh-CN" sz="1200" b="1" i="1">
                <a:solidFill>
                  <a:prstClr val="black"/>
                </a:solidFill>
                <a:latin typeface="Boehringer Forward Text"/>
              </a:rPr>
              <a:t>Descriptive analysis </a:t>
            </a:r>
          </a:p>
          <a:p>
            <a:pPr marL="285750" indent="-285750">
              <a:buFont typeface="Wingdings" panose="05000000000000000000" pitchFamily="2" charset="2"/>
              <a:buChar char="Ø"/>
            </a:pPr>
            <a:r>
              <a:rPr lang="en-US" altLang="zh-CN" sz="1200" i="1">
                <a:solidFill>
                  <a:prstClr val="black"/>
                </a:solidFill>
                <a:latin typeface="Boehringer Forward Text"/>
              </a:rPr>
              <a:t>Describe treatment pattern by category/Combo, Persistent w/o 60 day gap, adherence and number of switches</a:t>
            </a:r>
          </a:p>
          <a:p>
            <a:r>
              <a:rPr lang="en-US" altLang="zh-CN" sz="1200" b="1" i="1">
                <a:solidFill>
                  <a:prstClr val="black"/>
                </a:solidFill>
                <a:latin typeface="Boehringer Forward Text"/>
              </a:rPr>
              <a:t>Survival analysis</a:t>
            </a:r>
          </a:p>
          <a:p>
            <a:pPr marL="171450" indent="-171450">
              <a:buFont typeface="Wingdings" panose="05000000000000000000" pitchFamily="2" charset="2"/>
              <a:buChar char="Ø"/>
            </a:pPr>
            <a:r>
              <a:rPr lang="en-US" altLang="zh-CN" sz="1200" i="1">
                <a:solidFill>
                  <a:prstClr val="black"/>
                </a:solidFill>
                <a:latin typeface="Boehringer Forward Text"/>
              </a:rPr>
              <a:t>   Time to drug discontinuation within one year </a:t>
            </a:r>
          </a:p>
        </p:txBody>
      </p:sp>
      <p:sp>
        <p:nvSpPr>
          <p:cNvPr id="19" name="TextBox 18">
            <a:extLst>
              <a:ext uri="{FF2B5EF4-FFF2-40B4-BE49-F238E27FC236}">
                <a16:creationId xmlns:a16="http://schemas.microsoft.com/office/drawing/2014/main" id="{E024ABA3-FC4E-BB3D-61C3-30F81EA5D8BF}"/>
              </a:ext>
            </a:extLst>
          </p:cNvPr>
          <p:cNvSpPr txBox="1"/>
          <p:nvPr/>
        </p:nvSpPr>
        <p:spPr bwMode="gray">
          <a:xfrm>
            <a:off x="2386215" y="3628988"/>
            <a:ext cx="9458652" cy="461665"/>
          </a:xfrm>
          <a:prstGeom prst="rect">
            <a:avLst/>
          </a:prstGeom>
          <a:solidFill>
            <a:schemeClr val="bg1">
              <a:lumMod val="95000"/>
            </a:schemeClr>
          </a:solidFill>
        </p:spPr>
        <p:txBody>
          <a:bodyPr wrap="square">
            <a:spAutoFit/>
          </a:bodyPr>
          <a:lstStyle/>
          <a:p>
            <a:r>
              <a:rPr kumimoji="0" lang="en-US" altLang="zh-CN" sz="1200" b="1" i="1" u="none" strike="noStrike" kern="1200" cap="none" spc="0" normalizeH="0" baseline="0" noProof="0">
                <a:ln>
                  <a:noFill/>
                </a:ln>
                <a:solidFill>
                  <a:prstClr val="black"/>
                </a:solidFill>
                <a:effectLst/>
                <a:uLnTx/>
                <a:uFillTx/>
                <a:latin typeface="Boehringer Forward Text"/>
                <a:ea typeface="+mn-ea"/>
                <a:cs typeface="+mn-cs"/>
              </a:rPr>
              <a:t>Descriptive analysis</a:t>
            </a:r>
          </a:p>
          <a:p>
            <a:pPr marL="285750" indent="-285750">
              <a:buFont typeface="Wingdings" panose="05000000000000000000" pitchFamily="2" charset="2"/>
              <a:buChar char="Ø"/>
            </a:pPr>
            <a:r>
              <a:rPr kumimoji="0" lang="en-US" altLang="zh-CN" sz="1200" b="0" i="1" u="none" strike="noStrike" kern="1200" cap="none" spc="0" normalizeH="0" baseline="0" noProof="0">
                <a:ln>
                  <a:noFill/>
                </a:ln>
                <a:solidFill>
                  <a:prstClr val="black"/>
                </a:solidFill>
                <a:effectLst/>
                <a:uLnTx/>
                <a:uFillTx/>
                <a:latin typeface="Boehringer Forward Text"/>
                <a:ea typeface="+mn-ea"/>
                <a:cs typeface="+mn-cs"/>
              </a:rPr>
              <a:t>Mean ± SD or Median [IQR]) for continuous variables</a:t>
            </a:r>
            <a:r>
              <a:rPr lang="en-US" altLang="zh-CN" sz="1200" i="1">
                <a:solidFill>
                  <a:prstClr val="black"/>
                </a:solidFill>
                <a:latin typeface="Boehringer Forward Text"/>
              </a:rPr>
              <a:t>,N</a:t>
            </a:r>
            <a:r>
              <a:rPr kumimoji="0" lang="en-US" altLang="zh-CN" sz="1200" b="0" i="1" u="none" strike="noStrike" kern="1200" cap="none" spc="0" normalizeH="0" baseline="0" noProof="0">
                <a:ln>
                  <a:noFill/>
                </a:ln>
                <a:solidFill>
                  <a:prstClr val="black"/>
                </a:solidFill>
                <a:effectLst/>
                <a:uLnTx/>
                <a:uFillTx/>
                <a:latin typeface="Boehringer Forward Text"/>
                <a:ea typeface="+mn-ea"/>
                <a:cs typeface="+mn-cs"/>
              </a:rPr>
              <a:t>umber (percentage) for categorical variables</a:t>
            </a:r>
            <a:endParaRPr lang="zh-CN" altLang="en-US" sz="1400"/>
          </a:p>
        </p:txBody>
      </p:sp>
      <p:sp>
        <p:nvSpPr>
          <p:cNvPr id="20" name="TextBox 19">
            <a:extLst>
              <a:ext uri="{FF2B5EF4-FFF2-40B4-BE49-F238E27FC236}">
                <a16:creationId xmlns:a16="http://schemas.microsoft.com/office/drawing/2014/main" id="{018BAE83-5725-FEB9-1F29-04A9C89B9FD7}"/>
              </a:ext>
            </a:extLst>
          </p:cNvPr>
          <p:cNvSpPr txBox="1"/>
          <p:nvPr/>
        </p:nvSpPr>
        <p:spPr bwMode="gray">
          <a:xfrm>
            <a:off x="2394715" y="5438192"/>
            <a:ext cx="9458652" cy="461665"/>
          </a:xfrm>
          <a:prstGeom prst="rect">
            <a:avLst/>
          </a:prstGeom>
          <a:solidFill>
            <a:schemeClr val="bg1">
              <a:lumMod val="95000"/>
            </a:schemeClr>
          </a:solidFill>
        </p:spPr>
        <p:txBody>
          <a:bodyPr wrap="square" anchor="ctr">
            <a:spAutoFit/>
          </a:bodyPr>
          <a:lstStyle/>
          <a:p>
            <a:r>
              <a:rPr lang="en-US" altLang="zh-CN" sz="1200" b="1" i="1"/>
              <a:t>Leverage </a:t>
            </a:r>
            <a:r>
              <a:rPr lang="zh-CN" altLang="en-US" sz="1200" b="1" i="1"/>
              <a:t>病案首页 </a:t>
            </a:r>
            <a:r>
              <a:rPr lang="en-US" altLang="zh-CN" sz="1200" b="1" i="1"/>
              <a:t>database to explore the clinical outcomes</a:t>
            </a:r>
            <a:r>
              <a:rPr lang="en-US" altLang="zh-CN" sz="1200" i="1"/>
              <a:t>, including CV death, HHF, non-fatal MI or non-fatal stroke and Occurrences of all-cause hospitalizations</a:t>
            </a:r>
          </a:p>
        </p:txBody>
      </p:sp>
    </p:spTree>
    <p:extLst>
      <p:ext uri="{BB962C8B-B14F-4D97-AF65-F5344CB8AC3E}">
        <p14:creationId xmlns:p14="http://schemas.microsoft.com/office/powerpoint/2010/main" val="2855345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40AB7-DDFE-DA75-9C01-65888007CD52}"/>
            </a:ext>
          </a:extLst>
        </p:cNvPr>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82F94C2-175D-2E8D-2691-7479E1352406}"/>
              </a:ext>
            </a:extLst>
          </p:cNvPr>
          <p:cNvCxnSpPr>
            <a:cxnSpLocks/>
          </p:cNvCxnSpPr>
          <p:nvPr/>
        </p:nvCxnSpPr>
        <p:spPr bwMode="gray">
          <a:xfrm>
            <a:off x="8134783" y="1614950"/>
            <a:ext cx="0" cy="4289196"/>
          </a:xfrm>
          <a:prstGeom prst="line">
            <a:avLst/>
          </a:prstGeom>
          <a:ln w="19050">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2" name="标题 1">
            <a:extLst>
              <a:ext uri="{FF2B5EF4-FFF2-40B4-BE49-F238E27FC236}">
                <a16:creationId xmlns:a16="http://schemas.microsoft.com/office/drawing/2014/main" id="{2FBCD201-1CBF-BCC9-9CF7-4E622E0DFC06}"/>
              </a:ext>
            </a:extLst>
          </p:cNvPr>
          <p:cNvSpPr>
            <a:spLocks noGrp="1"/>
          </p:cNvSpPr>
          <p:nvPr>
            <p:ph type="title"/>
          </p:nvPr>
        </p:nvSpPr>
        <p:spPr/>
        <p:txBody>
          <a:bodyPr/>
          <a:lstStyle/>
          <a:p>
            <a:r>
              <a:rPr lang="en-US" altLang="zh-CN"/>
              <a:t>Estimated key study milestone and budget</a:t>
            </a:r>
            <a:endParaRPr lang="zh-CN" altLang="en-US"/>
          </a:p>
        </p:txBody>
      </p:sp>
      <p:sp>
        <p:nvSpPr>
          <p:cNvPr id="4" name="页脚占位符 3">
            <a:extLst>
              <a:ext uri="{FF2B5EF4-FFF2-40B4-BE49-F238E27FC236}">
                <a16:creationId xmlns:a16="http://schemas.microsoft.com/office/drawing/2014/main" id="{F60C16C5-BD0E-08B4-330D-571E91B73C97}"/>
              </a:ext>
            </a:extLst>
          </p:cNvPr>
          <p:cNvSpPr>
            <a:spLocks noGrp="1"/>
          </p:cNvSpPr>
          <p:nvPr>
            <p:ph type="ftr" sz="quarter" idx="16"/>
          </p:nvPr>
        </p:nvSpPr>
        <p:spPr/>
        <p:txBody>
          <a:bodyPr/>
          <a:lstStyle/>
          <a:p>
            <a:r>
              <a:rPr lang="en-US"/>
              <a:t>Presentation title    |    ONLY FOR INTERNAL USE</a:t>
            </a:r>
          </a:p>
        </p:txBody>
      </p:sp>
      <p:sp>
        <p:nvSpPr>
          <p:cNvPr id="5" name="灯片编号占位符 4">
            <a:extLst>
              <a:ext uri="{FF2B5EF4-FFF2-40B4-BE49-F238E27FC236}">
                <a16:creationId xmlns:a16="http://schemas.microsoft.com/office/drawing/2014/main" id="{B833329F-72A7-B670-189F-FBB423DC8461}"/>
              </a:ext>
            </a:extLst>
          </p:cNvPr>
          <p:cNvSpPr>
            <a:spLocks noGrp="1"/>
          </p:cNvSpPr>
          <p:nvPr>
            <p:ph type="sldNum" sz="quarter" idx="17"/>
          </p:nvPr>
        </p:nvSpPr>
        <p:spPr/>
        <p:txBody>
          <a:bodyPr/>
          <a:lstStyle/>
          <a:p>
            <a:fld id="{8FF9B0DE-3FEB-4AA0-B465-B80EF7C1333D}" type="slidenum">
              <a:rPr lang="en-US" smtClean="0"/>
              <a:pPr/>
              <a:t>25</a:t>
            </a:fld>
            <a:endParaRPr lang="en-US"/>
          </a:p>
        </p:txBody>
      </p:sp>
      <p:sp>
        <p:nvSpPr>
          <p:cNvPr id="6" name="Rechteck 17">
            <a:extLst>
              <a:ext uri="{FF2B5EF4-FFF2-40B4-BE49-F238E27FC236}">
                <a16:creationId xmlns:a16="http://schemas.microsoft.com/office/drawing/2014/main" id="{64B1FDB0-BB47-4428-DCFB-BB8A882B7889}"/>
              </a:ext>
            </a:extLst>
          </p:cNvPr>
          <p:cNvSpPr/>
          <p:nvPr/>
        </p:nvSpPr>
        <p:spPr bwMode="gray">
          <a:xfrm>
            <a:off x="476413" y="3759548"/>
            <a:ext cx="11196000" cy="72008"/>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7" name="Rechteck 17">
            <a:extLst>
              <a:ext uri="{FF2B5EF4-FFF2-40B4-BE49-F238E27FC236}">
                <a16:creationId xmlns:a16="http://schemas.microsoft.com/office/drawing/2014/main" id="{70FF61F7-5F21-B264-2F60-F9F7F94816C0}"/>
              </a:ext>
            </a:extLst>
          </p:cNvPr>
          <p:cNvSpPr/>
          <p:nvPr/>
        </p:nvSpPr>
        <p:spPr bwMode="gray">
          <a:xfrm rot="16200000">
            <a:off x="1706569" y="3682337"/>
            <a:ext cx="72009" cy="45719"/>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8" name="Rechteck 17">
            <a:extLst>
              <a:ext uri="{FF2B5EF4-FFF2-40B4-BE49-F238E27FC236}">
                <a16:creationId xmlns:a16="http://schemas.microsoft.com/office/drawing/2014/main" id="{ED08C14E-A18E-89FD-D9E9-FC780D1A294C}"/>
              </a:ext>
            </a:extLst>
          </p:cNvPr>
          <p:cNvSpPr/>
          <p:nvPr/>
        </p:nvSpPr>
        <p:spPr bwMode="gray">
          <a:xfrm rot="16200000">
            <a:off x="2917647" y="3684474"/>
            <a:ext cx="72009" cy="45719"/>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9" name="Rechteck 17">
            <a:extLst>
              <a:ext uri="{FF2B5EF4-FFF2-40B4-BE49-F238E27FC236}">
                <a16:creationId xmlns:a16="http://schemas.microsoft.com/office/drawing/2014/main" id="{7DA78284-C320-90BD-96E4-9E51548144F1}"/>
              </a:ext>
            </a:extLst>
          </p:cNvPr>
          <p:cNvSpPr/>
          <p:nvPr/>
        </p:nvSpPr>
        <p:spPr bwMode="gray">
          <a:xfrm rot="16200000">
            <a:off x="7530053" y="3678684"/>
            <a:ext cx="72009" cy="45719"/>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10" name="Rechteck 17">
            <a:extLst>
              <a:ext uri="{FF2B5EF4-FFF2-40B4-BE49-F238E27FC236}">
                <a16:creationId xmlns:a16="http://schemas.microsoft.com/office/drawing/2014/main" id="{5F37EE84-DE1C-2761-354C-2DDBBA56DC2C}"/>
              </a:ext>
            </a:extLst>
          </p:cNvPr>
          <p:cNvSpPr/>
          <p:nvPr/>
        </p:nvSpPr>
        <p:spPr bwMode="gray">
          <a:xfrm rot="16200000">
            <a:off x="8097647" y="3679601"/>
            <a:ext cx="72009" cy="45719"/>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13" name="Rechteck 17">
            <a:extLst>
              <a:ext uri="{FF2B5EF4-FFF2-40B4-BE49-F238E27FC236}">
                <a16:creationId xmlns:a16="http://schemas.microsoft.com/office/drawing/2014/main" id="{F8D55DED-468D-446E-BB24-1B7B486220B9}"/>
              </a:ext>
            </a:extLst>
          </p:cNvPr>
          <p:cNvSpPr/>
          <p:nvPr/>
        </p:nvSpPr>
        <p:spPr bwMode="gray">
          <a:xfrm rot="16200000">
            <a:off x="2397812" y="3683262"/>
            <a:ext cx="72009" cy="45719"/>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aphicFrame>
        <p:nvGraphicFramePr>
          <p:cNvPr id="14" name="表格 13">
            <a:extLst>
              <a:ext uri="{FF2B5EF4-FFF2-40B4-BE49-F238E27FC236}">
                <a16:creationId xmlns:a16="http://schemas.microsoft.com/office/drawing/2014/main" id="{FDF8DAFE-17C2-1F11-7602-8E2E70C785A4}"/>
              </a:ext>
            </a:extLst>
          </p:cNvPr>
          <p:cNvGraphicFramePr>
            <a:graphicFrameLocks noGrp="1"/>
          </p:cNvGraphicFramePr>
          <p:nvPr/>
        </p:nvGraphicFramePr>
        <p:xfrm>
          <a:off x="476412" y="2054426"/>
          <a:ext cx="11196009" cy="720000"/>
        </p:xfrm>
        <a:graphic>
          <a:graphicData uri="http://schemas.openxmlformats.org/drawingml/2006/table">
            <a:tbl>
              <a:tblPr firstRow="1" bandRow="1">
                <a:tableStyleId>{2D5ABB26-0587-4C30-8999-92F81FD0307C}</a:tableStyleId>
              </a:tblPr>
              <a:tblGrid>
                <a:gridCol w="486783">
                  <a:extLst>
                    <a:ext uri="{9D8B030D-6E8A-4147-A177-3AD203B41FA5}">
                      <a16:colId xmlns:a16="http://schemas.microsoft.com/office/drawing/2014/main" val="743198579"/>
                    </a:ext>
                  </a:extLst>
                </a:gridCol>
                <a:gridCol w="486783">
                  <a:extLst>
                    <a:ext uri="{9D8B030D-6E8A-4147-A177-3AD203B41FA5}">
                      <a16:colId xmlns:a16="http://schemas.microsoft.com/office/drawing/2014/main" val="2058163880"/>
                    </a:ext>
                  </a:extLst>
                </a:gridCol>
                <a:gridCol w="486783">
                  <a:extLst>
                    <a:ext uri="{9D8B030D-6E8A-4147-A177-3AD203B41FA5}">
                      <a16:colId xmlns:a16="http://schemas.microsoft.com/office/drawing/2014/main" val="194434949"/>
                    </a:ext>
                  </a:extLst>
                </a:gridCol>
                <a:gridCol w="486783">
                  <a:extLst>
                    <a:ext uri="{9D8B030D-6E8A-4147-A177-3AD203B41FA5}">
                      <a16:colId xmlns:a16="http://schemas.microsoft.com/office/drawing/2014/main" val="348458557"/>
                    </a:ext>
                  </a:extLst>
                </a:gridCol>
                <a:gridCol w="486783">
                  <a:extLst>
                    <a:ext uri="{9D8B030D-6E8A-4147-A177-3AD203B41FA5}">
                      <a16:colId xmlns:a16="http://schemas.microsoft.com/office/drawing/2014/main" val="3614102787"/>
                    </a:ext>
                  </a:extLst>
                </a:gridCol>
                <a:gridCol w="486783">
                  <a:extLst>
                    <a:ext uri="{9D8B030D-6E8A-4147-A177-3AD203B41FA5}">
                      <a16:colId xmlns:a16="http://schemas.microsoft.com/office/drawing/2014/main" val="3639998648"/>
                    </a:ext>
                  </a:extLst>
                </a:gridCol>
                <a:gridCol w="486783">
                  <a:extLst>
                    <a:ext uri="{9D8B030D-6E8A-4147-A177-3AD203B41FA5}">
                      <a16:colId xmlns:a16="http://schemas.microsoft.com/office/drawing/2014/main" val="3116315663"/>
                    </a:ext>
                  </a:extLst>
                </a:gridCol>
                <a:gridCol w="486783">
                  <a:extLst>
                    <a:ext uri="{9D8B030D-6E8A-4147-A177-3AD203B41FA5}">
                      <a16:colId xmlns:a16="http://schemas.microsoft.com/office/drawing/2014/main" val="894785498"/>
                    </a:ext>
                  </a:extLst>
                </a:gridCol>
                <a:gridCol w="486783">
                  <a:extLst>
                    <a:ext uri="{9D8B030D-6E8A-4147-A177-3AD203B41FA5}">
                      <a16:colId xmlns:a16="http://schemas.microsoft.com/office/drawing/2014/main" val="3645125408"/>
                    </a:ext>
                  </a:extLst>
                </a:gridCol>
                <a:gridCol w="486783">
                  <a:extLst>
                    <a:ext uri="{9D8B030D-6E8A-4147-A177-3AD203B41FA5}">
                      <a16:colId xmlns:a16="http://schemas.microsoft.com/office/drawing/2014/main" val="2832039241"/>
                    </a:ext>
                  </a:extLst>
                </a:gridCol>
                <a:gridCol w="486783">
                  <a:extLst>
                    <a:ext uri="{9D8B030D-6E8A-4147-A177-3AD203B41FA5}">
                      <a16:colId xmlns:a16="http://schemas.microsoft.com/office/drawing/2014/main" val="696315721"/>
                    </a:ext>
                  </a:extLst>
                </a:gridCol>
                <a:gridCol w="486783">
                  <a:extLst>
                    <a:ext uri="{9D8B030D-6E8A-4147-A177-3AD203B41FA5}">
                      <a16:colId xmlns:a16="http://schemas.microsoft.com/office/drawing/2014/main" val="3885578322"/>
                    </a:ext>
                  </a:extLst>
                </a:gridCol>
                <a:gridCol w="486783">
                  <a:extLst>
                    <a:ext uri="{9D8B030D-6E8A-4147-A177-3AD203B41FA5}">
                      <a16:colId xmlns:a16="http://schemas.microsoft.com/office/drawing/2014/main" val="347226873"/>
                    </a:ext>
                  </a:extLst>
                </a:gridCol>
                <a:gridCol w="486783">
                  <a:extLst>
                    <a:ext uri="{9D8B030D-6E8A-4147-A177-3AD203B41FA5}">
                      <a16:colId xmlns:a16="http://schemas.microsoft.com/office/drawing/2014/main" val="3112529547"/>
                    </a:ext>
                  </a:extLst>
                </a:gridCol>
                <a:gridCol w="486783">
                  <a:extLst>
                    <a:ext uri="{9D8B030D-6E8A-4147-A177-3AD203B41FA5}">
                      <a16:colId xmlns:a16="http://schemas.microsoft.com/office/drawing/2014/main" val="1525126350"/>
                    </a:ext>
                  </a:extLst>
                </a:gridCol>
                <a:gridCol w="486783">
                  <a:extLst>
                    <a:ext uri="{9D8B030D-6E8A-4147-A177-3AD203B41FA5}">
                      <a16:colId xmlns:a16="http://schemas.microsoft.com/office/drawing/2014/main" val="379827691"/>
                    </a:ext>
                  </a:extLst>
                </a:gridCol>
                <a:gridCol w="486783">
                  <a:extLst>
                    <a:ext uri="{9D8B030D-6E8A-4147-A177-3AD203B41FA5}">
                      <a16:colId xmlns:a16="http://schemas.microsoft.com/office/drawing/2014/main" val="49789408"/>
                    </a:ext>
                  </a:extLst>
                </a:gridCol>
                <a:gridCol w="486783">
                  <a:extLst>
                    <a:ext uri="{9D8B030D-6E8A-4147-A177-3AD203B41FA5}">
                      <a16:colId xmlns:a16="http://schemas.microsoft.com/office/drawing/2014/main" val="709977708"/>
                    </a:ext>
                  </a:extLst>
                </a:gridCol>
                <a:gridCol w="486783">
                  <a:extLst>
                    <a:ext uri="{9D8B030D-6E8A-4147-A177-3AD203B41FA5}">
                      <a16:colId xmlns:a16="http://schemas.microsoft.com/office/drawing/2014/main" val="4280954220"/>
                    </a:ext>
                  </a:extLst>
                </a:gridCol>
                <a:gridCol w="486783">
                  <a:extLst>
                    <a:ext uri="{9D8B030D-6E8A-4147-A177-3AD203B41FA5}">
                      <a16:colId xmlns:a16="http://schemas.microsoft.com/office/drawing/2014/main" val="3652301727"/>
                    </a:ext>
                  </a:extLst>
                </a:gridCol>
                <a:gridCol w="486783">
                  <a:extLst>
                    <a:ext uri="{9D8B030D-6E8A-4147-A177-3AD203B41FA5}">
                      <a16:colId xmlns:a16="http://schemas.microsoft.com/office/drawing/2014/main" val="4069433029"/>
                    </a:ext>
                  </a:extLst>
                </a:gridCol>
                <a:gridCol w="486783">
                  <a:extLst>
                    <a:ext uri="{9D8B030D-6E8A-4147-A177-3AD203B41FA5}">
                      <a16:colId xmlns:a16="http://schemas.microsoft.com/office/drawing/2014/main" val="1532273083"/>
                    </a:ext>
                  </a:extLst>
                </a:gridCol>
                <a:gridCol w="486783">
                  <a:extLst>
                    <a:ext uri="{9D8B030D-6E8A-4147-A177-3AD203B41FA5}">
                      <a16:colId xmlns:a16="http://schemas.microsoft.com/office/drawing/2014/main" val="444198552"/>
                    </a:ext>
                  </a:extLst>
                </a:gridCol>
              </a:tblGrid>
              <a:tr h="360000">
                <a:tc gridSpan="3">
                  <a:txBody>
                    <a:bodyPr/>
                    <a:lstStyle/>
                    <a:p>
                      <a:pPr algn="ctr"/>
                      <a:r>
                        <a:rPr lang="en-US" altLang="zh-CN" sz="1600" b="1">
                          <a:solidFill>
                            <a:schemeClr val="bg1"/>
                          </a:solidFill>
                        </a:rPr>
                        <a:t>2025</a:t>
                      </a:r>
                      <a:endParaRPr lang="zh-CN" altLang="en-US" sz="1600" b="1">
                        <a:solidFill>
                          <a:schemeClr val="bg1"/>
                        </a:solidFill>
                      </a:endParaRPr>
                    </a:p>
                  </a:txBody>
                  <a:tcPr>
                    <a:lnL>
                      <a:noFill/>
                    </a:lnL>
                    <a:lnT>
                      <a:noFill/>
                    </a:lnT>
                    <a:lnB>
                      <a:noFill/>
                    </a:lnB>
                    <a:lnTlToBr w="12700" cmpd="sng">
                      <a:noFill/>
                      <a:prstDash val="solid"/>
                    </a:lnTlToBr>
                    <a:lnBlToTr w="12700" cmpd="sng">
                      <a:noFill/>
                      <a:prstDash val="solid"/>
                    </a:lnBlToTr>
                    <a:solidFill>
                      <a:schemeClr val="bg2"/>
                    </a:solidFill>
                  </a:tcPr>
                </a:tc>
                <a:tc hMerge="1">
                  <a:txBody>
                    <a:bodyPr/>
                    <a:lstStyle/>
                    <a:p>
                      <a:endParaRPr/>
                    </a:p>
                  </a:txBody>
                  <a:tcPr>
                    <a:lnL w="19050" cap="flat" cmpd="sng" algn="ctr">
                      <a:no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endParaRPr lang="zh-CN" altLang="en-US"/>
                    </a:p>
                  </a:txBody>
                  <a:tcPr/>
                </a:tc>
                <a:tc gridSpan="4">
                  <a:txBody>
                    <a:bodyPr/>
                    <a:lstStyle/>
                    <a:p>
                      <a:pPr algn="ctr"/>
                      <a:r>
                        <a:rPr lang="en-US" altLang="zh-CN" sz="1600" b="1">
                          <a:solidFill>
                            <a:schemeClr val="bg1"/>
                          </a:solidFill>
                        </a:rPr>
                        <a:t>2026</a:t>
                      </a:r>
                      <a:endParaRPr lang="zh-CN" altLang="en-US" sz="1600" b="1">
                        <a:solidFill>
                          <a:schemeClr val="bg1"/>
                        </a:solidFill>
                      </a:endParaRPr>
                    </a:p>
                  </a:txBody>
                  <a:tcPr>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a:r>
                        <a:rPr lang="en-US" altLang="zh-CN" sz="1600" b="1">
                          <a:solidFill>
                            <a:schemeClr val="bg1"/>
                          </a:solidFill>
                        </a:rPr>
                        <a:t>2027</a:t>
                      </a:r>
                      <a:endParaRPr lang="zh-CN" altLang="en-US" sz="16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a:r>
                        <a:rPr lang="en-US" altLang="zh-CN" sz="1600" b="1">
                          <a:solidFill>
                            <a:schemeClr val="bg1"/>
                          </a:solidFill>
                        </a:rPr>
                        <a:t>2028</a:t>
                      </a:r>
                      <a:endParaRPr lang="zh-CN" altLang="en-US" sz="16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a:r>
                        <a:rPr lang="en-US" altLang="zh-CN" sz="1600" b="1">
                          <a:solidFill>
                            <a:schemeClr val="bg1"/>
                          </a:solidFill>
                        </a:rPr>
                        <a:t>2029</a:t>
                      </a:r>
                      <a:endParaRPr lang="zh-CN" altLang="en-US" sz="16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pPr algn="ctr"/>
                      <a:endParaRPr lang="zh-CN" altLang="en-US" sz="18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pPr algn="ctr"/>
                      <a:endParaRPr lang="zh-CN" altLang="en-US" sz="18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pPr algn="ctr"/>
                      <a:endParaRPr lang="zh-CN" altLang="en-US" sz="18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gridSpan="4">
                  <a:txBody>
                    <a:bodyPr/>
                    <a:lstStyle/>
                    <a:p>
                      <a:pPr algn="ctr"/>
                      <a:r>
                        <a:rPr lang="en-US" altLang="zh-CN" sz="1600" b="1">
                          <a:solidFill>
                            <a:schemeClr val="bg1"/>
                          </a:solidFill>
                        </a:rPr>
                        <a:t>2030</a:t>
                      </a:r>
                      <a:endParaRPr lang="zh-CN" altLang="en-US" sz="16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pPr algn="ctr"/>
                      <a:endParaRPr lang="zh-CN" altLang="en-US" sz="18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pPr algn="ctr"/>
                      <a:endParaRPr lang="zh-CN" altLang="en-US" sz="18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tc hMerge="1">
                  <a:txBody>
                    <a:bodyPr/>
                    <a:lstStyle/>
                    <a:p>
                      <a:pPr algn="ctr"/>
                      <a:endParaRPr lang="zh-CN" altLang="en-US" sz="1800" b="1">
                        <a:solidFill>
                          <a:schemeClr val="bg1"/>
                        </a:solidFill>
                      </a:endParaRPr>
                    </a:p>
                  </a:txBody>
                  <a:tcPr>
                    <a:lnL w="19050" cap="flat" cmpd="sng" algn="ctr">
                      <a:solidFill>
                        <a:schemeClr val="bg1">
                          <a:lumMod val="75000"/>
                        </a:schemeClr>
                      </a:solidFill>
                      <a:prstDash val="sysDot"/>
                      <a:round/>
                      <a:headEnd type="none" w="med" len="med"/>
                      <a:tailEnd type="none" w="med" len="med"/>
                    </a:lnL>
                    <a:lnR w="19050" cap="flat" cmpd="sng" algn="ctr">
                      <a:solidFill>
                        <a:schemeClr val="bg1">
                          <a:lumMod val="75000"/>
                        </a:schemeClr>
                      </a:solidFill>
                      <a:prstDash val="sysDot"/>
                      <a:round/>
                      <a:headEnd type="none" w="med" len="med"/>
                      <a:tailEnd type="none" w="med" len="med"/>
                    </a:lnR>
                    <a:solidFill>
                      <a:schemeClr val="bg2"/>
                    </a:solidFill>
                  </a:tcPr>
                </a:tc>
                <a:extLst>
                  <a:ext uri="{0D108BD9-81ED-4DB2-BD59-A6C34878D82A}">
                    <a16:rowId xmlns:a16="http://schemas.microsoft.com/office/drawing/2014/main" val="145374884"/>
                  </a:ext>
                </a:extLst>
              </a:tr>
              <a:tr h="360000">
                <a:tc>
                  <a:txBody>
                    <a:bodyPr/>
                    <a:lstStyle/>
                    <a:p>
                      <a:pPr algn="ctr"/>
                      <a:r>
                        <a:rPr lang="en-US" altLang="zh-CN" sz="1200"/>
                        <a:t>Oct</a:t>
                      </a:r>
                      <a:endParaRPr lang="zh-CN" altLang="en-US" sz="1200"/>
                    </a:p>
                  </a:txBody>
                  <a:tcP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200"/>
                        <a:t>Nov</a:t>
                      </a:r>
                      <a:endParaRPr lang="zh-CN" altLang="en-US" sz="1200"/>
                    </a:p>
                  </a:txBody>
                  <a:tcPr>
                    <a:lnL>
                      <a:noFill/>
                    </a:lnL>
                    <a:lnB w="19050" cap="flat" cmpd="sng" algn="ctr">
                      <a:solidFill>
                        <a:schemeClr val="tx1"/>
                      </a:solidFill>
                      <a:prstDash val="solid"/>
                      <a:round/>
                      <a:headEnd type="none" w="med" len="med"/>
                      <a:tailEnd type="none" w="med" len="med"/>
                    </a:lnB>
                  </a:tcPr>
                </a:tc>
                <a:tc>
                  <a:txBody>
                    <a:bodyPr/>
                    <a:lstStyle/>
                    <a:p>
                      <a:pPr algn="ctr"/>
                      <a:r>
                        <a:rPr lang="en-US" altLang="zh-CN" sz="1200"/>
                        <a:t>Dec</a:t>
                      </a:r>
                      <a:endParaRPr lang="zh-CN" altLang="en-US" sz="1200"/>
                    </a:p>
                  </a:txBody>
                  <a:tcPr>
                    <a:lnR w="19050" cap="flat" cmpd="sng" algn="ctr">
                      <a:solidFill>
                        <a:schemeClr val="bg1">
                          <a:lumMod val="75000"/>
                        </a:schemeClr>
                      </a:solidFill>
                      <a:prstDash val="sysDot"/>
                      <a:round/>
                      <a:headEnd type="none" w="med" len="med"/>
                      <a:tailEnd type="none" w="med" len="med"/>
                    </a:lnR>
                    <a:lnB w="19050" cap="flat" cmpd="sng" algn="ctr">
                      <a:solidFill>
                        <a:schemeClr val="tx1"/>
                      </a:solidFill>
                      <a:prstDash val="solid"/>
                      <a:round/>
                      <a:headEnd type="none" w="med" len="med"/>
                      <a:tailEnd type="none" w="med" len="med"/>
                    </a:lnB>
                  </a:tcPr>
                </a:tc>
                <a:tc>
                  <a:txBody>
                    <a:bodyPr/>
                    <a:lstStyle/>
                    <a:p>
                      <a:pPr algn="ctr"/>
                      <a:r>
                        <a:rPr lang="en-US" altLang="zh-CN" sz="1200"/>
                        <a:t>Q1</a:t>
                      </a:r>
                      <a:endParaRPr lang="zh-CN" altLang="en-US" sz="1200"/>
                    </a:p>
                  </a:txBody>
                  <a:tcPr>
                    <a:lnL w="19050" cap="flat" cmpd="sng" algn="ctr">
                      <a:solidFill>
                        <a:schemeClr val="bg1">
                          <a:lumMod val="75000"/>
                        </a:schemeClr>
                      </a:solidFill>
                      <a:prstDash val="sysDot"/>
                      <a:round/>
                      <a:headEnd type="none" w="med" len="med"/>
                      <a:tailEnd type="none" w="med" len="med"/>
                    </a:lnL>
                    <a:lnB w="19050" cap="flat" cmpd="sng" algn="ctr">
                      <a:solidFill>
                        <a:schemeClr val="tx1"/>
                      </a:solidFill>
                      <a:prstDash val="solid"/>
                      <a:round/>
                      <a:headEnd type="none" w="med" len="med"/>
                      <a:tailEnd type="none" w="med" len="med"/>
                    </a:lnB>
                  </a:tcPr>
                </a:tc>
                <a:tc>
                  <a:txBody>
                    <a:bodyPr/>
                    <a:lstStyle/>
                    <a:p>
                      <a:pPr algn="ctr"/>
                      <a:r>
                        <a:rPr lang="en-US" altLang="zh-CN" sz="1200"/>
                        <a:t>Q2</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Q3</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Q4</a:t>
                      </a:r>
                      <a:endParaRPr lang="zh-CN" altLang="en-US" sz="1200"/>
                    </a:p>
                  </a:txBody>
                  <a:tcPr>
                    <a:lnR w="19050" cap="flat" cmpd="sng" algn="ctr">
                      <a:solidFill>
                        <a:schemeClr val="bg1">
                          <a:lumMod val="75000"/>
                        </a:schemeClr>
                      </a:solidFill>
                      <a:prstDash val="sysDot"/>
                      <a:round/>
                      <a:headEnd type="none" w="med" len="med"/>
                      <a:tailEnd type="none" w="med" len="med"/>
                    </a:lnR>
                    <a:lnB w="19050" cap="flat" cmpd="sng" algn="ctr">
                      <a:solidFill>
                        <a:schemeClr val="tx1"/>
                      </a:solidFill>
                      <a:prstDash val="solid"/>
                      <a:round/>
                      <a:headEnd type="none" w="med" len="med"/>
                      <a:tailEnd type="none" w="med" len="med"/>
                    </a:lnB>
                  </a:tcPr>
                </a:tc>
                <a:tc>
                  <a:txBody>
                    <a:bodyPr/>
                    <a:lstStyle/>
                    <a:p>
                      <a:pPr algn="ctr"/>
                      <a:r>
                        <a:rPr lang="en-US" altLang="zh-CN" sz="1200"/>
                        <a:t>Q1</a:t>
                      </a:r>
                      <a:endParaRPr lang="zh-CN" altLang="en-US" sz="1200"/>
                    </a:p>
                  </a:txBody>
                  <a:tcPr>
                    <a:lnL w="19050" cap="flat" cmpd="sng" algn="ctr">
                      <a:solidFill>
                        <a:schemeClr val="bg1">
                          <a:lumMod val="75000"/>
                        </a:schemeClr>
                      </a:solidFill>
                      <a:prstDash val="sysDot"/>
                      <a:round/>
                      <a:headEnd type="none" w="med" len="med"/>
                      <a:tailEnd type="none" w="med" len="med"/>
                    </a:lnL>
                    <a:lnB w="19050" cap="flat" cmpd="sng" algn="ctr">
                      <a:solidFill>
                        <a:schemeClr val="tx1"/>
                      </a:solidFill>
                      <a:prstDash val="solid"/>
                      <a:round/>
                      <a:headEnd type="none" w="med" len="med"/>
                      <a:tailEnd type="none" w="med" len="med"/>
                    </a:lnB>
                  </a:tcPr>
                </a:tc>
                <a:tc>
                  <a:txBody>
                    <a:bodyPr/>
                    <a:lstStyle/>
                    <a:p>
                      <a:pPr algn="ctr"/>
                      <a:r>
                        <a:rPr lang="en-US" altLang="zh-CN" sz="1200"/>
                        <a:t>Q2</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Q3</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Q4</a:t>
                      </a:r>
                      <a:endParaRPr lang="zh-CN" altLang="en-US" sz="1200"/>
                    </a:p>
                  </a:txBody>
                  <a:tcPr>
                    <a:lnR w="19050" cap="flat" cmpd="sng" algn="ctr">
                      <a:solidFill>
                        <a:schemeClr val="bg1">
                          <a:lumMod val="75000"/>
                        </a:schemeClr>
                      </a:solidFill>
                      <a:prstDash val="sysDot"/>
                      <a:round/>
                      <a:headEnd type="none" w="med" len="med"/>
                      <a:tailEnd type="none" w="med" len="med"/>
                    </a:lnR>
                    <a:lnB w="19050" cap="flat" cmpd="sng" algn="ctr">
                      <a:solidFill>
                        <a:schemeClr val="tx1"/>
                      </a:solidFill>
                      <a:prstDash val="solid"/>
                      <a:round/>
                      <a:headEnd type="none" w="med" len="med"/>
                      <a:tailEnd type="none" w="med" len="med"/>
                    </a:lnB>
                  </a:tcPr>
                </a:tc>
                <a:tc>
                  <a:txBody>
                    <a:bodyPr/>
                    <a:lstStyle/>
                    <a:p>
                      <a:pPr algn="ctr"/>
                      <a:r>
                        <a:rPr lang="en-US" altLang="zh-CN" sz="1200"/>
                        <a:t>Q1</a:t>
                      </a:r>
                      <a:endParaRPr lang="zh-CN" altLang="en-US" sz="1200"/>
                    </a:p>
                  </a:txBody>
                  <a:tcPr>
                    <a:lnL w="19050" cap="flat" cmpd="sng" algn="ctr">
                      <a:solidFill>
                        <a:schemeClr val="bg1">
                          <a:lumMod val="75000"/>
                        </a:schemeClr>
                      </a:solidFill>
                      <a:prstDash val="sysDot"/>
                      <a:round/>
                      <a:headEnd type="none" w="med" len="med"/>
                      <a:tailEnd type="none" w="med" len="med"/>
                    </a:lnL>
                    <a:lnB w="19050" cap="flat" cmpd="sng" algn="ctr">
                      <a:solidFill>
                        <a:schemeClr val="tx1"/>
                      </a:solidFill>
                      <a:prstDash val="solid"/>
                      <a:round/>
                      <a:headEnd type="none" w="med" len="med"/>
                      <a:tailEnd type="none" w="med" len="med"/>
                    </a:lnB>
                  </a:tcPr>
                </a:tc>
                <a:tc>
                  <a:txBody>
                    <a:bodyPr/>
                    <a:lstStyle/>
                    <a:p>
                      <a:pPr algn="ctr"/>
                      <a:r>
                        <a:rPr lang="en-US" altLang="zh-CN" sz="1200"/>
                        <a:t>Q2</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Q3</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Q4</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Q1</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Q2</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Q3</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Q4</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Q1</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Q2</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Q3</a:t>
                      </a:r>
                      <a:endParaRPr lang="zh-CN" altLang="en-US" sz="1200"/>
                    </a:p>
                  </a:txBody>
                  <a:tcPr>
                    <a:lnB w="19050" cap="flat" cmpd="sng" algn="ctr">
                      <a:solidFill>
                        <a:schemeClr val="tx1"/>
                      </a:solidFill>
                      <a:prstDash val="solid"/>
                      <a:round/>
                      <a:headEnd type="none" w="med" len="med"/>
                      <a:tailEnd type="none" w="med" len="med"/>
                    </a:lnB>
                  </a:tcPr>
                </a:tc>
                <a:tc>
                  <a:txBody>
                    <a:bodyPr/>
                    <a:lstStyle/>
                    <a:p>
                      <a:pPr algn="ctr"/>
                      <a:r>
                        <a:rPr lang="en-US" altLang="zh-CN" sz="1200"/>
                        <a:t>Q4</a:t>
                      </a:r>
                      <a:endParaRPr lang="zh-CN" altLang="en-US" sz="1200"/>
                    </a:p>
                  </a:txBody>
                  <a:tcPr>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193944"/>
                  </a:ext>
                </a:extLst>
              </a:tr>
            </a:tbl>
          </a:graphicData>
        </a:graphic>
      </p:graphicFrame>
      <p:sp>
        <p:nvSpPr>
          <p:cNvPr id="15" name="文本框 14">
            <a:extLst>
              <a:ext uri="{FF2B5EF4-FFF2-40B4-BE49-F238E27FC236}">
                <a16:creationId xmlns:a16="http://schemas.microsoft.com/office/drawing/2014/main" id="{5854BB43-C8EF-9E2C-FFBF-00A4BB1BB8B5}"/>
              </a:ext>
            </a:extLst>
          </p:cNvPr>
          <p:cNvSpPr txBox="1"/>
          <p:nvPr/>
        </p:nvSpPr>
        <p:spPr>
          <a:xfrm>
            <a:off x="1330255" y="3191374"/>
            <a:ext cx="793486" cy="415498"/>
          </a:xfrm>
          <a:prstGeom prst="rect">
            <a:avLst/>
          </a:prstGeom>
          <a:noFill/>
        </p:spPr>
        <p:txBody>
          <a:bodyPr wrap="square" lIns="0" tIns="0" rIns="0" bIns="0" rtlCol="0">
            <a:spAutoFit/>
          </a:bodyPr>
          <a:lstStyle/>
          <a:p>
            <a:pPr algn="ctr"/>
            <a:r>
              <a:rPr lang="en-US" altLang="zh-CN" sz="900" b="1">
                <a:solidFill>
                  <a:schemeClr val="bg2"/>
                </a:solidFill>
              </a:rPr>
              <a:t>Dec.25</a:t>
            </a:r>
          </a:p>
          <a:p>
            <a:pPr algn="ctr"/>
            <a:r>
              <a:rPr lang="en-US" altLang="zh-CN" sz="900">
                <a:solidFill>
                  <a:schemeClr val="bg2"/>
                </a:solidFill>
              </a:rPr>
              <a:t>CEC&amp;PEC endorse</a:t>
            </a:r>
            <a:endParaRPr lang="zh-CN" altLang="en-US" sz="900">
              <a:solidFill>
                <a:schemeClr val="bg2"/>
              </a:solidFill>
            </a:endParaRPr>
          </a:p>
        </p:txBody>
      </p:sp>
      <p:sp>
        <p:nvSpPr>
          <p:cNvPr id="16" name="文本框 15">
            <a:extLst>
              <a:ext uri="{FF2B5EF4-FFF2-40B4-BE49-F238E27FC236}">
                <a16:creationId xmlns:a16="http://schemas.microsoft.com/office/drawing/2014/main" id="{DA88DFA7-CA6C-1630-B1DE-28CA12085101}"/>
              </a:ext>
            </a:extLst>
          </p:cNvPr>
          <p:cNvSpPr txBox="1"/>
          <p:nvPr/>
        </p:nvSpPr>
        <p:spPr>
          <a:xfrm>
            <a:off x="2014214" y="3210528"/>
            <a:ext cx="793486" cy="415498"/>
          </a:xfrm>
          <a:prstGeom prst="rect">
            <a:avLst/>
          </a:prstGeom>
          <a:noFill/>
        </p:spPr>
        <p:txBody>
          <a:bodyPr wrap="square" lIns="0" tIns="0" rIns="0" bIns="0" rtlCol="0">
            <a:spAutoFit/>
          </a:bodyPr>
          <a:lstStyle/>
          <a:p>
            <a:pPr algn="ctr"/>
            <a:r>
              <a:rPr lang="en-US" altLang="zh-CN" sz="900" b="1">
                <a:solidFill>
                  <a:schemeClr val="bg2"/>
                </a:solidFill>
              </a:rPr>
              <a:t>Apr.26</a:t>
            </a:r>
          </a:p>
          <a:p>
            <a:pPr algn="ctr"/>
            <a:r>
              <a:rPr lang="en-US" altLang="zh-CN" sz="900">
                <a:solidFill>
                  <a:schemeClr val="bg2"/>
                </a:solidFill>
              </a:rPr>
              <a:t>Corporate endorse</a:t>
            </a:r>
            <a:endParaRPr lang="zh-CN" altLang="en-US" sz="900">
              <a:solidFill>
                <a:schemeClr val="bg2"/>
              </a:solidFill>
            </a:endParaRPr>
          </a:p>
        </p:txBody>
      </p:sp>
      <p:sp>
        <p:nvSpPr>
          <p:cNvPr id="17" name="文本框 16">
            <a:extLst>
              <a:ext uri="{FF2B5EF4-FFF2-40B4-BE49-F238E27FC236}">
                <a16:creationId xmlns:a16="http://schemas.microsoft.com/office/drawing/2014/main" id="{435A4E6F-9D6E-29EE-EB7A-EA5CEF65FE49}"/>
              </a:ext>
            </a:extLst>
          </p:cNvPr>
          <p:cNvSpPr txBox="1"/>
          <p:nvPr/>
        </p:nvSpPr>
        <p:spPr>
          <a:xfrm>
            <a:off x="2724839" y="3208862"/>
            <a:ext cx="503343" cy="276999"/>
          </a:xfrm>
          <a:prstGeom prst="rect">
            <a:avLst/>
          </a:prstGeom>
          <a:noFill/>
        </p:spPr>
        <p:txBody>
          <a:bodyPr wrap="square" lIns="0" tIns="0" rIns="0" bIns="0" rtlCol="0" anchor="t">
            <a:spAutoFit/>
          </a:bodyPr>
          <a:lstStyle/>
          <a:p>
            <a:pPr algn="ctr"/>
            <a:r>
              <a:rPr lang="en-US" altLang="zh-CN" sz="900" b="1">
                <a:solidFill>
                  <a:schemeClr val="bg2"/>
                </a:solidFill>
              </a:rPr>
              <a:t>Jul.26</a:t>
            </a:r>
          </a:p>
          <a:p>
            <a:pPr algn="ctr"/>
            <a:r>
              <a:rPr lang="en-US" altLang="zh-CN" sz="900">
                <a:solidFill>
                  <a:schemeClr val="bg2"/>
                </a:solidFill>
              </a:rPr>
              <a:t>CTP app</a:t>
            </a:r>
            <a:endParaRPr lang="zh-CN" altLang="en-US" sz="900">
              <a:solidFill>
                <a:schemeClr val="bg2"/>
              </a:solidFill>
            </a:endParaRPr>
          </a:p>
        </p:txBody>
      </p:sp>
      <p:sp>
        <p:nvSpPr>
          <p:cNvPr id="18" name="文本框 17">
            <a:extLst>
              <a:ext uri="{FF2B5EF4-FFF2-40B4-BE49-F238E27FC236}">
                <a16:creationId xmlns:a16="http://schemas.microsoft.com/office/drawing/2014/main" id="{559B2D3A-DF9E-EF82-C114-1FB06502EDD1}"/>
              </a:ext>
            </a:extLst>
          </p:cNvPr>
          <p:cNvSpPr txBox="1"/>
          <p:nvPr/>
        </p:nvSpPr>
        <p:spPr>
          <a:xfrm>
            <a:off x="3431007" y="3210528"/>
            <a:ext cx="562655" cy="415498"/>
          </a:xfrm>
          <a:prstGeom prst="rect">
            <a:avLst/>
          </a:prstGeom>
          <a:noFill/>
        </p:spPr>
        <p:txBody>
          <a:bodyPr wrap="square" lIns="0" tIns="0" rIns="0" bIns="0" rtlCol="0" anchor="t">
            <a:spAutoFit/>
          </a:bodyPr>
          <a:lstStyle/>
          <a:p>
            <a:pPr algn="ctr"/>
            <a:r>
              <a:rPr lang="en-US" altLang="zh-CN" sz="900" b="1">
                <a:solidFill>
                  <a:schemeClr val="bg2"/>
                </a:solidFill>
              </a:rPr>
              <a:t>Dec.26</a:t>
            </a:r>
          </a:p>
          <a:p>
            <a:r>
              <a:rPr lang="en-US" altLang="zh-CN" sz="900">
                <a:solidFill>
                  <a:schemeClr val="bg2"/>
                </a:solidFill>
              </a:rPr>
              <a:t>Contract </a:t>
            </a:r>
          </a:p>
          <a:p>
            <a:pPr algn="ctr"/>
            <a:r>
              <a:rPr lang="en-US" altLang="zh-CN" sz="900">
                <a:solidFill>
                  <a:schemeClr val="bg2"/>
                </a:solidFill>
              </a:rPr>
              <a:t>sign-off</a:t>
            </a:r>
            <a:endParaRPr lang="zh-CN" altLang="en-US" sz="900">
              <a:solidFill>
                <a:schemeClr val="bg2"/>
              </a:solidFill>
            </a:endParaRPr>
          </a:p>
        </p:txBody>
      </p:sp>
      <p:sp>
        <p:nvSpPr>
          <p:cNvPr id="19" name="Rechteck 17">
            <a:extLst>
              <a:ext uri="{FF2B5EF4-FFF2-40B4-BE49-F238E27FC236}">
                <a16:creationId xmlns:a16="http://schemas.microsoft.com/office/drawing/2014/main" id="{120863C1-E1E9-0D85-1729-1B63C8A790EB}"/>
              </a:ext>
            </a:extLst>
          </p:cNvPr>
          <p:cNvSpPr/>
          <p:nvPr/>
        </p:nvSpPr>
        <p:spPr bwMode="gray">
          <a:xfrm rot="16200000">
            <a:off x="3676329" y="3689317"/>
            <a:ext cx="72009" cy="45719"/>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20" name="文本框 19">
            <a:extLst>
              <a:ext uri="{FF2B5EF4-FFF2-40B4-BE49-F238E27FC236}">
                <a16:creationId xmlns:a16="http://schemas.microsoft.com/office/drawing/2014/main" id="{DB7637ED-2C5E-E18D-AC03-CAA816926D5A}"/>
              </a:ext>
            </a:extLst>
          </p:cNvPr>
          <p:cNvSpPr txBox="1"/>
          <p:nvPr/>
        </p:nvSpPr>
        <p:spPr>
          <a:xfrm>
            <a:off x="7331217" y="3197081"/>
            <a:ext cx="469679" cy="415498"/>
          </a:xfrm>
          <a:prstGeom prst="rect">
            <a:avLst/>
          </a:prstGeom>
          <a:noFill/>
        </p:spPr>
        <p:txBody>
          <a:bodyPr wrap="square" lIns="0" tIns="0" rIns="0" bIns="0" rtlCol="0">
            <a:spAutoFit/>
          </a:bodyPr>
          <a:lstStyle/>
          <a:p>
            <a:pPr algn="ctr"/>
            <a:r>
              <a:rPr lang="en-US" altLang="zh-CN" sz="900" b="1">
                <a:solidFill>
                  <a:schemeClr val="bg2"/>
                </a:solidFill>
              </a:rPr>
              <a:t>Dec.28</a:t>
            </a:r>
          </a:p>
          <a:p>
            <a:pPr algn="ctr"/>
            <a:r>
              <a:rPr lang="en-US" altLang="zh-CN" sz="900">
                <a:solidFill>
                  <a:schemeClr val="bg2"/>
                </a:solidFill>
              </a:rPr>
              <a:t>Final </a:t>
            </a:r>
          </a:p>
          <a:p>
            <a:pPr algn="ctr"/>
            <a:r>
              <a:rPr lang="en-US" altLang="zh-CN" sz="900">
                <a:solidFill>
                  <a:schemeClr val="bg2"/>
                </a:solidFill>
              </a:rPr>
              <a:t>analysis</a:t>
            </a:r>
            <a:endParaRPr lang="zh-CN" altLang="en-US" sz="900">
              <a:solidFill>
                <a:schemeClr val="bg2"/>
              </a:solidFill>
            </a:endParaRPr>
          </a:p>
        </p:txBody>
      </p:sp>
      <p:sp>
        <p:nvSpPr>
          <p:cNvPr id="21" name="文本框 20">
            <a:extLst>
              <a:ext uri="{FF2B5EF4-FFF2-40B4-BE49-F238E27FC236}">
                <a16:creationId xmlns:a16="http://schemas.microsoft.com/office/drawing/2014/main" id="{EF344450-1D45-6520-258C-81CD345E69A9}"/>
              </a:ext>
            </a:extLst>
          </p:cNvPr>
          <p:cNvSpPr txBox="1"/>
          <p:nvPr/>
        </p:nvSpPr>
        <p:spPr>
          <a:xfrm>
            <a:off x="7875952" y="3207207"/>
            <a:ext cx="469679" cy="276999"/>
          </a:xfrm>
          <a:prstGeom prst="rect">
            <a:avLst/>
          </a:prstGeom>
          <a:noFill/>
        </p:spPr>
        <p:txBody>
          <a:bodyPr wrap="square" lIns="0" tIns="0" rIns="0" bIns="0" rtlCol="0">
            <a:spAutoFit/>
          </a:bodyPr>
          <a:lstStyle/>
          <a:p>
            <a:pPr algn="ctr"/>
            <a:r>
              <a:rPr lang="en-US" altLang="zh-CN" sz="900" b="1">
                <a:solidFill>
                  <a:schemeClr val="bg2"/>
                </a:solidFill>
              </a:rPr>
              <a:t>Mar.29</a:t>
            </a:r>
          </a:p>
          <a:p>
            <a:pPr algn="ctr"/>
            <a:r>
              <a:rPr lang="en-US" altLang="zh-CN" sz="900">
                <a:solidFill>
                  <a:schemeClr val="bg2"/>
                </a:solidFill>
              </a:rPr>
              <a:t>CTR</a:t>
            </a:r>
            <a:endParaRPr lang="zh-CN" altLang="en-US" sz="900">
              <a:solidFill>
                <a:schemeClr val="bg2"/>
              </a:solidFill>
            </a:endParaRPr>
          </a:p>
        </p:txBody>
      </p:sp>
      <p:sp>
        <p:nvSpPr>
          <p:cNvPr id="22" name="Textplatzhalter 2">
            <a:extLst>
              <a:ext uri="{FF2B5EF4-FFF2-40B4-BE49-F238E27FC236}">
                <a16:creationId xmlns:a16="http://schemas.microsoft.com/office/drawing/2014/main" id="{41C0F82A-5CB3-0B60-9815-91FD7CE942DD}"/>
              </a:ext>
            </a:extLst>
          </p:cNvPr>
          <p:cNvSpPr txBox="1">
            <a:spLocks/>
          </p:cNvSpPr>
          <p:nvPr/>
        </p:nvSpPr>
        <p:spPr bwMode="gray">
          <a:xfrm>
            <a:off x="476413" y="5362299"/>
            <a:ext cx="9604642" cy="723988"/>
          </a:xfrm>
          <a:prstGeom prst="rect">
            <a:avLst/>
          </a:prstGeom>
        </p:spPr>
        <p:txBody>
          <a:bodyPr vert="horz" lIns="0" tIns="0" rIns="0" bIns="0" rtlCol="0" anchor="t" anchorCtr="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a:buFont typeface="Wingdings" panose="05000000000000000000" pitchFamily="2" charset="2"/>
              <a:buChar char="l"/>
            </a:pPr>
            <a:r>
              <a:rPr lang="en-US" b="1">
                <a:solidFill>
                  <a:schemeClr val="bg2"/>
                </a:solidFill>
              </a:rPr>
              <a:t>Total budget:    2,250,000 RMB </a:t>
            </a:r>
          </a:p>
        </p:txBody>
      </p:sp>
      <p:cxnSp>
        <p:nvCxnSpPr>
          <p:cNvPr id="23" name="直接连接符 22">
            <a:extLst>
              <a:ext uri="{FF2B5EF4-FFF2-40B4-BE49-F238E27FC236}">
                <a16:creationId xmlns:a16="http://schemas.microsoft.com/office/drawing/2014/main" id="{8A934DC6-3A97-1A4B-A21C-A9B0A21322B6}"/>
              </a:ext>
            </a:extLst>
          </p:cNvPr>
          <p:cNvCxnSpPr>
            <a:cxnSpLocks/>
          </p:cNvCxnSpPr>
          <p:nvPr/>
        </p:nvCxnSpPr>
        <p:spPr bwMode="gray">
          <a:xfrm>
            <a:off x="4121253" y="3574974"/>
            <a:ext cx="3119519"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5" name="文本框 24">
            <a:extLst>
              <a:ext uri="{FF2B5EF4-FFF2-40B4-BE49-F238E27FC236}">
                <a16:creationId xmlns:a16="http://schemas.microsoft.com/office/drawing/2014/main" id="{6706D081-5AB2-0C58-9879-4E6DFD380DB7}"/>
              </a:ext>
            </a:extLst>
          </p:cNvPr>
          <p:cNvSpPr txBox="1"/>
          <p:nvPr/>
        </p:nvSpPr>
        <p:spPr>
          <a:xfrm>
            <a:off x="4847423" y="3366973"/>
            <a:ext cx="2063312" cy="138499"/>
          </a:xfrm>
          <a:prstGeom prst="rect">
            <a:avLst/>
          </a:prstGeom>
          <a:noFill/>
        </p:spPr>
        <p:txBody>
          <a:bodyPr wrap="square" lIns="0" tIns="0" rIns="0" bIns="0" rtlCol="0" anchor="t">
            <a:spAutoFit/>
          </a:bodyPr>
          <a:lstStyle/>
          <a:p>
            <a:pPr algn="ctr"/>
            <a:r>
              <a:rPr lang="en-US" altLang="zh-CN" sz="900">
                <a:solidFill>
                  <a:schemeClr val="bg2"/>
                </a:solidFill>
              </a:rPr>
              <a:t>Data collection and curation</a:t>
            </a:r>
            <a:endParaRPr lang="zh-CN" altLang="en-US" sz="900">
              <a:solidFill>
                <a:schemeClr val="bg2"/>
              </a:solidFill>
            </a:endParaRPr>
          </a:p>
        </p:txBody>
      </p:sp>
      <p:sp>
        <p:nvSpPr>
          <p:cNvPr id="26" name="Rechteck 17">
            <a:extLst>
              <a:ext uri="{FF2B5EF4-FFF2-40B4-BE49-F238E27FC236}">
                <a16:creationId xmlns:a16="http://schemas.microsoft.com/office/drawing/2014/main" id="{8EC38DC2-F98A-0DF7-1716-580E8D645148}"/>
              </a:ext>
            </a:extLst>
          </p:cNvPr>
          <p:cNvSpPr/>
          <p:nvPr/>
        </p:nvSpPr>
        <p:spPr bwMode="gray">
          <a:xfrm>
            <a:off x="198866" y="4834189"/>
            <a:ext cx="11812736" cy="8171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27" name="文本框 26">
            <a:extLst>
              <a:ext uri="{FF2B5EF4-FFF2-40B4-BE49-F238E27FC236}">
                <a16:creationId xmlns:a16="http://schemas.microsoft.com/office/drawing/2014/main" id="{7FBB76FB-A9D2-C150-3C95-BCDCE9E73780}"/>
              </a:ext>
            </a:extLst>
          </p:cNvPr>
          <p:cNvSpPr txBox="1"/>
          <p:nvPr/>
        </p:nvSpPr>
        <p:spPr>
          <a:xfrm>
            <a:off x="9846215" y="4446133"/>
            <a:ext cx="469679" cy="276999"/>
          </a:xfrm>
          <a:prstGeom prst="rect">
            <a:avLst/>
          </a:prstGeom>
          <a:noFill/>
        </p:spPr>
        <p:txBody>
          <a:bodyPr wrap="square" lIns="0" tIns="0" rIns="0" bIns="0" rtlCol="0">
            <a:spAutoFit/>
          </a:bodyPr>
          <a:lstStyle/>
          <a:p>
            <a:pPr algn="ctr"/>
            <a:r>
              <a:rPr lang="en-US" altLang="zh-CN" sz="900" b="1">
                <a:solidFill>
                  <a:schemeClr val="bg2"/>
                </a:solidFill>
              </a:rPr>
              <a:t>Jan.30</a:t>
            </a:r>
          </a:p>
          <a:p>
            <a:pPr algn="ctr"/>
            <a:r>
              <a:rPr lang="en-US" altLang="zh-CN" sz="900">
                <a:solidFill>
                  <a:schemeClr val="bg2"/>
                </a:solidFill>
              </a:rPr>
              <a:t>DBL</a:t>
            </a:r>
            <a:endParaRPr lang="zh-CN" altLang="en-US" sz="900">
              <a:solidFill>
                <a:schemeClr val="bg2"/>
              </a:solidFill>
            </a:endParaRPr>
          </a:p>
        </p:txBody>
      </p:sp>
      <p:sp>
        <p:nvSpPr>
          <p:cNvPr id="28" name="Rechteck 17">
            <a:extLst>
              <a:ext uri="{FF2B5EF4-FFF2-40B4-BE49-F238E27FC236}">
                <a16:creationId xmlns:a16="http://schemas.microsoft.com/office/drawing/2014/main" id="{8D1662CC-F6B4-C8B8-33BE-EEECF7723261}"/>
              </a:ext>
            </a:extLst>
          </p:cNvPr>
          <p:cNvSpPr/>
          <p:nvPr/>
        </p:nvSpPr>
        <p:spPr bwMode="gray">
          <a:xfrm rot="16200000">
            <a:off x="10045049" y="4751811"/>
            <a:ext cx="72009" cy="45719"/>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29" name="文本框 28">
            <a:extLst>
              <a:ext uri="{FF2B5EF4-FFF2-40B4-BE49-F238E27FC236}">
                <a16:creationId xmlns:a16="http://schemas.microsoft.com/office/drawing/2014/main" id="{30A22406-52E4-5243-09F5-1F9D0B30FA2F}"/>
              </a:ext>
            </a:extLst>
          </p:cNvPr>
          <p:cNvSpPr txBox="1"/>
          <p:nvPr/>
        </p:nvSpPr>
        <p:spPr>
          <a:xfrm>
            <a:off x="11477735" y="4461667"/>
            <a:ext cx="533867" cy="276999"/>
          </a:xfrm>
          <a:prstGeom prst="rect">
            <a:avLst/>
          </a:prstGeom>
          <a:noFill/>
        </p:spPr>
        <p:txBody>
          <a:bodyPr wrap="square" lIns="0" tIns="0" rIns="0" bIns="0" rtlCol="0">
            <a:spAutoFit/>
          </a:bodyPr>
          <a:lstStyle/>
          <a:p>
            <a:pPr algn="ctr"/>
            <a:r>
              <a:rPr lang="en-US" altLang="zh-CN" sz="900" b="1">
                <a:solidFill>
                  <a:schemeClr val="bg2"/>
                </a:solidFill>
              </a:rPr>
              <a:t>Apr.31</a:t>
            </a:r>
          </a:p>
          <a:p>
            <a:pPr algn="ctr"/>
            <a:r>
              <a:rPr lang="en-US" altLang="zh-CN" sz="900">
                <a:solidFill>
                  <a:schemeClr val="bg2"/>
                </a:solidFill>
              </a:rPr>
              <a:t>CHN app</a:t>
            </a:r>
            <a:endParaRPr lang="zh-CN" altLang="en-US" sz="900">
              <a:solidFill>
                <a:schemeClr val="bg2"/>
              </a:solidFill>
            </a:endParaRPr>
          </a:p>
        </p:txBody>
      </p:sp>
      <p:sp>
        <p:nvSpPr>
          <p:cNvPr id="30" name="Rechteck 17">
            <a:extLst>
              <a:ext uri="{FF2B5EF4-FFF2-40B4-BE49-F238E27FC236}">
                <a16:creationId xmlns:a16="http://schemas.microsoft.com/office/drawing/2014/main" id="{741247A9-1A81-D706-D7F8-E48A648139D6}"/>
              </a:ext>
            </a:extLst>
          </p:cNvPr>
          <p:cNvSpPr/>
          <p:nvPr/>
        </p:nvSpPr>
        <p:spPr bwMode="gray">
          <a:xfrm rot="16200000">
            <a:off x="11699430" y="4756279"/>
            <a:ext cx="72009" cy="45719"/>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31" name="文本框 30">
            <a:extLst>
              <a:ext uri="{FF2B5EF4-FFF2-40B4-BE49-F238E27FC236}">
                <a16:creationId xmlns:a16="http://schemas.microsoft.com/office/drawing/2014/main" id="{B05FE904-D953-6F21-F2DC-9248FB2E8722}"/>
              </a:ext>
            </a:extLst>
          </p:cNvPr>
          <p:cNvSpPr txBox="1"/>
          <p:nvPr/>
        </p:nvSpPr>
        <p:spPr>
          <a:xfrm>
            <a:off x="71547" y="4289276"/>
            <a:ext cx="1193996" cy="138499"/>
          </a:xfrm>
          <a:prstGeom prst="rect">
            <a:avLst/>
          </a:prstGeom>
          <a:solidFill>
            <a:schemeClr val="tx2"/>
          </a:solidFill>
        </p:spPr>
        <p:txBody>
          <a:bodyPr wrap="square" lIns="0" tIns="0" rIns="0" bIns="0" rtlCol="0">
            <a:spAutoFit/>
          </a:bodyPr>
          <a:lstStyle/>
          <a:p>
            <a:pPr algn="ctr"/>
            <a:r>
              <a:rPr lang="en-US" altLang="zh-CN" sz="900" b="1">
                <a:solidFill>
                  <a:schemeClr val="bg2"/>
                </a:solidFill>
              </a:rPr>
              <a:t>Ph-III:1378-0041</a:t>
            </a:r>
            <a:endParaRPr lang="zh-CN" altLang="en-US" sz="900">
              <a:solidFill>
                <a:schemeClr val="bg2"/>
              </a:solidFill>
            </a:endParaRPr>
          </a:p>
        </p:txBody>
      </p:sp>
      <p:sp>
        <p:nvSpPr>
          <p:cNvPr id="32" name="文本框 31">
            <a:extLst>
              <a:ext uri="{FF2B5EF4-FFF2-40B4-BE49-F238E27FC236}">
                <a16:creationId xmlns:a16="http://schemas.microsoft.com/office/drawing/2014/main" id="{346D1A54-61E5-9653-3B77-752DF5FE15D5}"/>
              </a:ext>
            </a:extLst>
          </p:cNvPr>
          <p:cNvSpPr txBox="1"/>
          <p:nvPr/>
        </p:nvSpPr>
        <p:spPr>
          <a:xfrm>
            <a:off x="198866" y="4461667"/>
            <a:ext cx="469679" cy="276999"/>
          </a:xfrm>
          <a:prstGeom prst="rect">
            <a:avLst/>
          </a:prstGeom>
          <a:noFill/>
        </p:spPr>
        <p:txBody>
          <a:bodyPr wrap="square" lIns="0" tIns="0" rIns="0" bIns="0" rtlCol="0">
            <a:spAutoFit/>
          </a:bodyPr>
          <a:lstStyle/>
          <a:p>
            <a:pPr algn="ctr"/>
            <a:r>
              <a:rPr lang="en-US" altLang="zh-CN" sz="900" b="1">
                <a:solidFill>
                  <a:schemeClr val="bg2"/>
                </a:solidFill>
              </a:rPr>
              <a:t>Sep.25</a:t>
            </a:r>
          </a:p>
          <a:p>
            <a:pPr algn="ctr"/>
            <a:r>
              <a:rPr lang="en-US" altLang="zh-CN" sz="900">
                <a:solidFill>
                  <a:schemeClr val="bg2"/>
                </a:solidFill>
              </a:rPr>
              <a:t>FSS</a:t>
            </a:r>
            <a:endParaRPr lang="zh-CN" altLang="en-US" sz="900">
              <a:solidFill>
                <a:schemeClr val="bg2"/>
              </a:solidFill>
            </a:endParaRPr>
          </a:p>
        </p:txBody>
      </p:sp>
      <p:sp>
        <p:nvSpPr>
          <p:cNvPr id="33" name="Rechteck 17">
            <a:extLst>
              <a:ext uri="{FF2B5EF4-FFF2-40B4-BE49-F238E27FC236}">
                <a16:creationId xmlns:a16="http://schemas.microsoft.com/office/drawing/2014/main" id="{7F84AA69-AE7C-3792-AAC6-02D3E8E7A154}"/>
              </a:ext>
            </a:extLst>
          </p:cNvPr>
          <p:cNvSpPr/>
          <p:nvPr/>
        </p:nvSpPr>
        <p:spPr bwMode="gray">
          <a:xfrm rot="16200000">
            <a:off x="397700" y="4767345"/>
            <a:ext cx="72009" cy="45719"/>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34" name="Rechteck 17">
            <a:extLst>
              <a:ext uri="{FF2B5EF4-FFF2-40B4-BE49-F238E27FC236}">
                <a16:creationId xmlns:a16="http://schemas.microsoft.com/office/drawing/2014/main" id="{FA5D80DC-7809-19C7-C4A9-7CA4F1AE1D95}"/>
              </a:ext>
            </a:extLst>
          </p:cNvPr>
          <p:cNvSpPr/>
          <p:nvPr/>
        </p:nvSpPr>
        <p:spPr bwMode="gray">
          <a:xfrm rot="16200000">
            <a:off x="9626588" y="3678683"/>
            <a:ext cx="72009" cy="45719"/>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24" name="文本框 30">
            <a:extLst>
              <a:ext uri="{FF2B5EF4-FFF2-40B4-BE49-F238E27FC236}">
                <a16:creationId xmlns:a16="http://schemas.microsoft.com/office/drawing/2014/main" id="{52A6719C-35E8-30E1-8FDE-0546D505B9B6}"/>
              </a:ext>
            </a:extLst>
          </p:cNvPr>
          <p:cNvSpPr txBox="1"/>
          <p:nvPr/>
        </p:nvSpPr>
        <p:spPr>
          <a:xfrm>
            <a:off x="71547" y="1708846"/>
            <a:ext cx="1193996" cy="138499"/>
          </a:xfrm>
          <a:prstGeom prst="rect">
            <a:avLst/>
          </a:prstGeom>
          <a:solidFill>
            <a:schemeClr val="tx2"/>
          </a:solidFill>
        </p:spPr>
        <p:txBody>
          <a:bodyPr wrap="square" lIns="0" tIns="0" rIns="0" bIns="0" rtlCol="0">
            <a:spAutoFit/>
          </a:bodyPr>
          <a:lstStyle/>
          <a:p>
            <a:pPr algn="ctr"/>
            <a:r>
              <a:rPr lang="en-US" altLang="zh-CN" sz="900" b="1">
                <a:solidFill>
                  <a:schemeClr val="bg2"/>
                </a:solidFill>
              </a:rPr>
              <a:t>CVRR RWS</a:t>
            </a:r>
            <a:endParaRPr lang="zh-CN" altLang="en-US" sz="900">
              <a:solidFill>
                <a:schemeClr val="bg2"/>
              </a:solidFill>
            </a:endParaRPr>
          </a:p>
        </p:txBody>
      </p:sp>
      <p:sp>
        <p:nvSpPr>
          <p:cNvPr id="35" name="文本框 34">
            <a:extLst>
              <a:ext uri="{FF2B5EF4-FFF2-40B4-BE49-F238E27FC236}">
                <a16:creationId xmlns:a16="http://schemas.microsoft.com/office/drawing/2014/main" id="{F0F40BBD-B4B9-541B-FD77-B0E75A043EA9}"/>
              </a:ext>
            </a:extLst>
          </p:cNvPr>
          <p:cNvSpPr txBox="1"/>
          <p:nvPr/>
        </p:nvSpPr>
        <p:spPr>
          <a:xfrm>
            <a:off x="9346229" y="3306117"/>
            <a:ext cx="757684" cy="276999"/>
          </a:xfrm>
          <a:prstGeom prst="rect">
            <a:avLst/>
          </a:prstGeom>
          <a:noFill/>
        </p:spPr>
        <p:txBody>
          <a:bodyPr wrap="square" lIns="0" tIns="0" rIns="0" bIns="0" rtlCol="0">
            <a:spAutoFit/>
          </a:bodyPr>
          <a:lstStyle/>
          <a:p>
            <a:pPr algn="ctr"/>
            <a:r>
              <a:rPr lang="en-US" altLang="zh-CN" sz="900" b="1">
                <a:solidFill>
                  <a:schemeClr val="bg2"/>
                </a:solidFill>
              </a:rPr>
              <a:t>Dec.29</a:t>
            </a:r>
          </a:p>
          <a:p>
            <a:pPr algn="ctr"/>
            <a:r>
              <a:rPr lang="en-US" altLang="zh-CN" sz="900">
                <a:solidFill>
                  <a:schemeClr val="bg2"/>
                </a:solidFill>
              </a:rPr>
              <a:t>Manuscript</a:t>
            </a:r>
            <a:endParaRPr lang="zh-CN" altLang="en-US" sz="900">
              <a:solidFill>
                <a:schemeClr val="bg2"/>
              </a:solidFill>
            </a:endParaRPr>
          </a:p>
        </p:txBody>
      </p:sp>
      <p:sp>
        <p:nvSpPr>
          <p:cNvPr id="12" name="文本框 11">
            <a:extLst>
              <a:ext uri="{FF2B5EF4-FFF2-40B4-BE49-F238E27FC236}">
                <a16:creationId xmlns:a16="http://schemas.microsoft.com/office/drawing/2014/main" id="{2E9C4E18-764D-2213-38FB-28A8B97A8838}"/>
              </a:ext>
            </a:extLst>
          </p:cNvPr>
          <p:cNvSpPr txBox="1"/>
          <p:nvPr/>
        </p:nvSpPr>
        <p:spPr bwMode="gray">
          <a:xfrm>
            <a:off x="10687127" y="5076448"/>
            <a:ext cx="1324472" cy="177677"/>
          </a:xfrm>
          <a:prstGeom prst="rect">
            <a:avLst/>
          </a:prstGeom>
          <a:noFill/>
        </p:spPr>
        <p:txBody>
          <a:bodyPr wrap="square" lIns="0" tIns="0" rIns="0" bIns="0" rtlCol="0">
            <a:spAutoFit/>
          </a:bodyPr>
          <a:lstStyle/>
          <a:p>
            <a:pPr algn="l">
              <a:lnSpc>
                <a:spcPct val="140000"/>
              </a:lnSpc>
            </a:pPr>
            <a:r>
              <a:rPr lang="en-US" altLang="zh-CN" sz="900"/>
              <a:t>* Publication time</a:t>
            </a:r>
            <a:endParaRPr lang="zh-CN" altLang="en-US" sz="900"/>
          </a:p>
        </p:txBody>
      </p:sp>
      <p:sp>
        <p:nvSpPr>
          <p:cNvPr id="36" name="文本框 35">
            <a:extLst>
              <a:ext uri="{FF2B5EF4-FFF2-40B4-BE49-F238E27FC236}">
                <a16:creationId xmlns:a16="http://schemas.microsoft.com/office/drawing/2014/main" id="{E36CD664-7BB9-1F6E-2A93-3C257E11E887}"/>
              </a:ext>
            </a:extLst>
          </p:cNvPr>
          <p:cNvSpPr txBox="1"/>
          <p:nvPr/>
        </p:nvSpPr>
        <p:spPr>
          <a:xfrm>
            <a:off x="8485807" y="3288521"/>
            <a:ext cx="978847" cy="276999"/>
          </a:xfrm>
          <a:prstGeom prst="rect">
            <a:avLst/>
          </a:prstGeom>
          <a:noFill/>
        </p:spPr>
        <p:txBody>
          <a:bodyPr wrap="square" lIns="0" tIns="0" rIns="0" bIns="0" rtlCol="0">
            <a:spAutoFit/>
          </a:bodyPr>
          <a:lstStyle/>
          <a:p>
            <a:pPr algn="ctr"/>
            <a:r>
              <a:rPr lang="en-US" altLang="zh-CN" sz="900" b="1">
                <a:solidFill>
                  <a:schemeClr val="bg2"/>
                </a:solidFill>
              </a:rPr>
              <a:t>Aug.29</a:t>
            </a:r>
          </a:p>
          <a:p>
            <a:pPr algn="ctr"/>
            <a:r>
              <a:rPr lang="en-US" altLang="zh-CN" sz="900">
                <a:solidFill>
                  <a:schemeClr val="bg2"/>
                </a:solidFill>
              </a:rPr>
              <a:t>ESC congress</a:t>
            </a:r>
            <a:endParaRPr lang="zh-CN" altLang="en-US" sz="900">
              <a:solidFill>
                <a:schemeClr val="bg2"/>
              </a:solidFill>
            </a:endParaRPr>
          </a:p>
        </p:txBody>
      </p:sp>
      <p:sp>
        <p:nvSpPr>
          <p:cNvPr id="37" name="Rectangle: Rounded Corners 36">
            <a:extLst>
              <a:ext uri="{FF2B5EF4-FFF2-40B4-BE49-F238E27FC236}">
                <a16:creationId xmlns:a16="http://schemas.microsoft.com/office/drawing/2014/main" id="{068511A6-5B43-607D-33A3-C05CBF7649C9}"/>
              </a:ext>
            </a:extLst>
          </p:cNvPr>
          <p:cNvSpPr/>
          <p:nvPr/>
        </p:nvSpPr>
        <p:spPr bwMode="gray">
          <a:xfrm>
            <a:off x="7306899" y="1357084"/>
            <a:ext cx="1607784" cy="272378"/>
          </a:xfrm>
          <a:prstGeom prst="round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40000"/>
              </a:lnSpc>
            </a:pPr>
            <a:r>
              <a:rPr lang="en-US" altLang="zh-CN" sz="1000">
                <a:solidFill>
                  <a:schemeClr val="accent6">
                    <a:lumMod val="50000"/>
                  </a:schemeClr>
                </a:solidFill>
              </a:rPr>
              <a:t>Start to provide RWE</a:t>
            </a:r>
            <a:endParaRPr lang="zh-CN" altLang="en-US" sz="1000">
              <a:solidFill>
                <a:schemeClr val="accent6">
                  <a:lumMod val="50000"/>
                </a:schemeClr>
              </a:solidFill>
            </a:endParaRPr>
          </a:p>
        </p:txBody>
      </p:sp>
      <p:sp>
        <p:nvSpPr>
          <p:cNvPr id="3" name="Rechteck 17">
            <a:extLst>
              <a:ext uri="{FF2B5EF4-FFF2-40B4-BE49-F238E27FC236}">
                <a16:creationId xmlns:a16="http://schemas.microsoft.com/office/drawing/2014/main" id="{A6750689-3AD9-5642-D128-915FF1B25E97}"/>
              </a:ext>
            </a:extLst>
          </p:cNvPr>
          <p:cNvSpPr/>
          <p:nvPr/>
        </p:nvSpPr>
        <p:spPr bwMode="gray">
          <a:xfrm rot="16200000">
            <a:off x="8949523" y="3712187"/>
            <a:ext cx="72009" cy="45719"/>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Tree>
    <p:extLst>
      <p:ext uri="{BB962C8B-B14F-4D97-AF65-F5344CB8AC3E}">
        <p14:creationId xmlns:p14="http://schemas.microsoft.com/office/powerpoint/2010/main" val="3098314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41D12-C3F1-C556-59E7-F488D02AD2D3}"/>
              </a:ext>
            </a:extLst>
          </p:cNvPr>
          <p:cNvSpPr>
            <a:spLocks noGrp="1"/>
          </p:cNvSpPr>
          <p:nvPr>
            <p:ph type="title"/>
          </p:nvPr>
        </p:nvSpPr>
        <p:spPr>
          <a:xfrm>
            <a:off x="315525" y="303238"/>
            <a:ext cx="11233151" cy="720000"/>
          </a:xfrm>
        </p:spPr>
        <p:txBody>
          <a:bodyPr/>
          <a:lstStyle/>
          <a:p>
            <a:r>
              <a:rPr lang="en-US" sz="2800"/>
              <a:t>C</a:t>
            </a:r>
            <a:r>
              <a:rPr lang="en-US" altLang="zh-CN" sz="2800"/>
              <a:t>ollaboration</a:t>
            </a:r>
            <a:br>
              <a:rPr lang="en-US" altLang="zh-CN"/>
            </a:br>
            <a:r>
              <a:rPr lang="en-US" altLang="zh-CN" sz="2000" i="1"/>
              <a:t>An ECR with CDC, consulting on clinical experts</a:t>
            </a:r>
            <a:endParaRPr lang="en-US" i="1"/>
          </a:p>
        </p:txBody>
      </p:sp>
      <p:sp>
        <p:nvSpPr>
          <p:cNvPr id="3" name="Text Placeholder 2">
            <a:extLst>
              <a:ext uri="{FF2B5EF4-FFF2-40B4-BE49-F238E27FC236}">
                <a16:creationId xmlns:a16="http://schemas.microsoft.com/office/drawing/2014/main" id="{B9FC6B3D-47E8-ADDF-4724-89F5BEEE4766}"/>
              </a:ext>
            </a:extLst>
          </p:cNvPr>
          <p:cNvSpPr>
            <a:spLocks noGrp="1"/>
          </p:cNvSpPr>
          <p:nvPr>
            <p:ph type="body" sz="quarter" idx="13"/>
          </p:nvPr>
        </p:nvSpPr>
        <p:spPr/>
        <p:txBody>
          <a:bodyPr/>
          <a:lstStyle/>
          <a:p>
            <a:endParaRPr lang="en-US"/>
          </a:p>
        </p:txBody>
      </p:sp>
      <p:sp>
        <p:nvSpPr>
          <p:cNvPr id="4" name="Footer Placeholder 3">
            <a:extLst>
              <a:ext uri="{FF2B5EF4-FFF2-40B4-BE49-F238E27FC236}">
                <a16:creationId xmlns:a16="http://schemas.microsoft.com/office/drawing/2014/main" id="{5E9CAFB1-FF8C-BD43-9149-6B548AA857C6}"/>
              </a:ext>
            </a:extLst>
          </p:cNvPr>
          <p:cNvSpPr>
            <a:spLocks noGrp="1"/>
          </p:cNvSpPr>
          <p:nvPr>
            <p:ph type="ftr" sz="quarter" idx="10"/>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714A72D8-5A94-8FC3-BC85-9E622A472939}"/>
              </a:ext>
            </a:extLst>
          </p:cNvPr>
          <p:cNvSpPr>
            <a:spLocks noGrp="1"/>
          </p:cNvSpPr>
          <p:nvPr>
            <p:ph type="sldNum" sz="quarter" idx="11"/>
          </p:nvPr>
        </p:nvSpPr>
        <p:spPr/>
        <p:txBody>
          <a:bodyPr/>
          <a:lstStyle/>
          <a:p>
            <a:fld id="{8FF9B0DE-3FEB-4AA0-B465-B80EF7C1333D}" type="slidenum">
              <a:rPr lang="en-US" smtClean="0"/>
              <a:pPr/>
              <a:t>26</a:t>
            </a:fld>
            <a:endParaRPr lang="en-US"/>
          </a:p>
        </p:txBody>
      </p:sp>
      <p:graphicFrame>
        <p:nvGraphicFramePr>
          <p:cNvPr id="8" name="表格 7">
            <a:extLst>
              <a:ext uri="{FF2B5EF4-FFF2-40B4-BE49-F238E27FC236}">
                <a16:creationId xmlns:a16="http://schemas.microsoft.com/office/drawing/2014/main" id="{717F8978-4C8E-0ED6-DA72-587FAEED50CE}"/>
              </a:ext>
            </a:extLst>
          </p:cNvPr>
          <p:cNvGraphicFramePr>
            <a:graphicFrameLocks noGrp="1"/>
          </p:cNvGraphicFramePr>
          <p:nvPr>
            <p:extLst>
              <p:ext uri="{D42A27DB-BD31-4B8C-83A1-F6EECF244321}">
                <p14:modId xmlns:p14="http://schemas.microsoft.com/office/powerpoint/2010/main" val="2217531793"/>
              </p:ext>
            </p:extLst>
          </p:nvPr>
        </p:nvGraphicFramePr>
        <p:xfrm>
          <a:off x="479424" y="1760876"/>
          <a:ext cx="11232000" cy="807022"/>
        </p:xfrm>
        <a:graphic>
          <a:graphicData uri="http://schemas.openxmlformats.org/drawingml/2006/table">
            <a:tbl>
              <a:tblPr/>
              <a:tblGrid>
                <a:gridCol w="3744000">
                  <a:extLst>
                    <a:ext uri="{9D8B030D-6E8A-4147-A177-3AD203B41FA5}">
                      <a16:colId xmlns:a16="http://schemas.microsoft.com/office/drawing/2014/main" val="809277556"/>
                    </a:ext>
                  </a:extLst>
                </a:gridCol>
                <a:gridCol w="3744000">
                  <a:extLst>
                    <a:ext uri="{9D8B030D-6E8A-4147-A177-3AD203B41FA5}">
                      <a16:colId xmlns:a16="http://schemas.microsoft.com/office/drawing/2014/main" val="3708092568"/>
                    </a:ext>
                  </a:extLst>
                </a:gridCol>
                <a:gridCol w="3744000">
                  <a:extLst>
                    <a:ext uri="{9D8B030D-6E8A-4147-A177-3AD203B41FA5}">
                      <a16:colId xmlns:a16="http://schemas.microsoft.com/office/drawing/2014/main" val="2831014586"/>
                    </a:ext>
                  </a:extLst>
                </a:gridCol>
              </a:tblGrid>
              <a:tr h="0">
                <a:tc>
                  <a:txBody>
                    <a:bodyPr/>
                    <a:lstStyle/>
                    <a:p>
                      <a:pPr algn="ctr">
                        <a:buNone/>
                      </a:pPr>
                      <a:r>
                        <a:rPr lang="en-US" b="1">
                          <a:solidFill>
                            <a:schemeClr val="bg1"/>
                          </a:solidFill>
                          <a:effectLst/>
                        </a:rPr>
                        <a:t>Name</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tx2"/>
                    </a:solidFill>
                  </a:tcPr>
                </a:tc>
                <a:tc>
                  <a:txBody>
                    <a:bodyPr/>
                    <a:lstStyle/>
                    <a:p>
                      <a:pPr algn="ctr">
                        <a:buNone/>
                      </a:pPr>
                      <a:r>
                        <a:rPr lang="en-US" b="1">
                          <a:solidFill>
                            <a:schemeClr val="bg1"/>
                          </a:solidFill>
                          <a:effectLst/>
                        </a:rPr>
                        <a:t>Department</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tx2"/>
                    </a:solidFill>
                  </a:tcPr>
                </a:tc>
                <a:tc>
                  <a:txBody>
                    <a:bodyPr/>
                    <a:lstStyle/>
                    <a:p>
                      <a:pPr algn="ctr">
                        <a:buNone/>
                      </a:pPr>
                      <a:r>
                        <a:rPr lang="en-US" b="1">
                          <a:solidFill>
                            <a:schemeClr val="bg1"/>
                          </a:solidFill>
                          <a:effectLst/>
                        </a:rPr>
                        <a:t>Hospital</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tx2"/>
                    </a:solidFill>
                  </a:tcPr>
                </a:tc>
                <a:extLst>
                  <a:ext uri="{0D108BD9-81ED-4DB2-BD59-A6C34878D82A}">
                    <a16:rowId xmlns:a16="http://schemas.microsoft.com/office/drawing/2014/main" val="2124883690"/>
                  </a:ext>
                </a:extLst>
              </a:tr>
              <a:tr h="0">
                <a:tc>
                  <a:txBody>
                    <a:bodyPr/>
                    <a:lstStyle/>
                    <a:p>
                      <a:pPr>
                        <a:buNone/>
                      </a:pPr>
                      <a:r>
                        <a:rPr lang="zh-CN" altLang="en-US" sz="1800"/>
                        <a:t>殷鹏</a:t>
                      </a:r>
                      <a:endParaRPr lang="en-US" b="1">
                        <a:effectLst/>
                      </a:endParaRP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慢病中心</a:t>
                      </a:r>
                      <a:endParaRPr lang="en-US" b="1">
                        <a:effectLst/>
                      </a:endParaRP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40000"/>
                        </a:lnSpc>
                      </a:pPr>
                      <a:r>
                        <a:rPr lang="zh-CN" altLang="en-US" sz="1800"/>
                        <a:t>中国疾控中心</a:t>
                      </a:r>
                      <a:endParaRPr lang="en-US" sz="1800"/>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8412343"/>
                  </a:ext>
                </a:extLst>
              </a:tr>
            </a:tbl>
          </a:graphicData>
        </a:graphic>
      </p:graphicFrame>
      <p:sp>
        <p:nvSpPr>
          <p:cNvPr id="15" name="TextBox 14">
            <a:extLst>
              <a:ext uri="{FF2B5EF4-FFF2-40B4-BE49-F238E27FC236}">
                <a16:creationId xmlns:a16="http://schemas.microsoft.com/office/drawing/2014/main" id="{0FC101FA-16F2-FFEF-B832-739392563937}"/>
              </a:ext>
            </a:extLst>
          </p:cNvPr>
          <p:cNvSpPr txBox="1"/>
          <p:nvPr/>
        </p:nvSpPr>
        <p:spPr bwMode="gray">
          <a:xfrm>
            <a:off x="479424" y="3185375"/>
            <a:ext cx="6182138" cy="487249"/>
          </a:xfrm>
          <a:prstGeom prst="rect">
            <a:avLst/>
          </a:prstGeom>
          <a:noFill/>
        </p:spPr>
        <p:txBody>
          <a:bodyPr wrap="square">
            <a:spAutoFit/>
          </a:bodyPr>
          <a:lstStyle/>
          <a:p>
            <a:pPr algn="l">
              <a:lnSpc>
                <a:spcPct val="140000"/>
              </a:lnSpc>
            </a:pPr>
            <a:r>
              <a:rPr lang="en-US" sz="2000" b="1">
                <a:solidFill>
                  <a:srgbClr val="00E47C"/>
                </a:solidFill>
              </a:rPr>
              <a:t>C</a:t>
            </a:r>
            <a:r>
              <a:rPr lang="en-US" altLang="zh-CN" sz="2000" b="1">
                <a:solidFill>
                  <a:srgbClr val="00E47C"/>
                </a:solidFill>
              </a:rPr>
              <a:t>linical</a:t>
            </a:r>
            <a:r>
              <a:rPr lang="en-US" sz="2000" b="1">
                <a:solidFill>
                  <a:srgbClr val="00E47C"/>
                </a:solidFill>
              </a:rPr>
              <a:t> PI:</a:t>
            </a:r>
          </a:p>
        </p:txBody>
      </p:sp>
      <p:graphicFrame>
        <p:nvGraphicFramePr>
          <p:cNvPr id="7" name="表格 7">
            <a:extLst>
              <a:ext uri="{FF2B5EF4-FFF2-40B4-BE49-F238E27FC236}">
                <a16:creationId xmlns:a16="http://schemas.microsoft.com/office/drawing/2014/main" id="{01DF95D3-3238-E6C3-7998-7C94F97D456F}"/>
              </a:ext>
            </a:extLst>
          </p:cNvPr>
          <p:cNvGraphicFramePr>
            <a:graphicFrameLocks noGrp="1"/>
          </p:cNvGraphicFramePr>
          <p:nvPr>
            <p:extLst>
              <p:ext uri="{D42A27DB-BD31-4B8C-83A1-F6EECF244321}">
                <p14:modId xmlns:p14="http://schemas.microsoft.com/office/powerpoint/2010/main" val="484817252"/>
              </p:ext>
            </p:extLst>
          </p:nvPr>
        </p:nvGraphicFramePr>
        <p:xfrm>
          <a:off x="479424" y="3662941"/>
          <a:ext cx="11232000" cy="807022"/>
        </p:xfrm>
        <a:graphic>
          <a:graphicData uri="http://schemas.openxmlformats.org/drawingml/2006/table">
            <a:tbl>
              <a:tblPr/>
              <a:tblGrid>
                <a:gridCol w="3744000">
                  <a:extLst>
                    <a:ext uri="{9D8B030D-6E8A-4147-A177-3AD203B41FA5}">
                      <a16:colId xmlns:a16="http://schemas.microsoft.com/office/drawing/2014/main" val="809277556"/>
                    </a:ext>
                  </a:extLst>
                </a:gridCol>
                <a:gridCol w="3744000">
                  <a:extLst>
                    <a:ext uri="{9D8B030D-6E8A-4147-A177-3AD203B41FA5}">
                      <a16:colId xmlns:a16="http://schemas.microsoft.com/office/drawing/2014/main" val="3708092568"/>
                    </a:ext>
                  </a:extLst>
                </a:gridCol>
                <a:gridCol w="3744000">
                  <a:extLst>
                    <a:ext uri="{9D8B030D-6E8A-4147-A177-3AD203B41FA5}">
                      <a16:colId xmlns:a16="http://schemas.microsoft.com/office/drawing/2014/main" val="2831014586"/>
                    </a:ext>
                  </a:extLst>
                </a:gridCol>
              </a:tblGrid>
              <a:tr h="0">
                <a:tc>
                  <a:txBody>
                    <a:bodyPr/>
                    <a:lstStyle/>
                    <a:p>
                      <a:pPr algn="ctr">
                        <a:buNone/>
                      </a:pPr>
                      <a:r>
                        <a:rPr lang="en-US" b="1">
                          <a:solidFill>
                            <a:schemeClr val="bg1"/>
                          </a:solidFill>
                          <a:effectLst/>
                        </a:rPr>
                        <a:t>Name</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tx2"/>
                    </a:solidFill>
                  </a:tcPr>
                </a:tc>
                <a:tc>
                  <a:txBody>
                    <a:bodyPr/>
                    <a:lstStyle/>
                    <a:p>
                      <a:pPr algn="ctr">
                        <a:buNone/>
                      </a:pPr>
                      <a:r>
                        <a:rPr lang="en-US" b="1">
                          <a:solidFill>
                            <a:schemeClr val="bg1"/>
                          </a:solidFill>
                          <a:effectLst/>
                        </a:rPr>
                        <a:t>Department</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tx2"/>
                    </a:solidFill>
                  </a:tcPr>
                </a:tc>
                <a:tc>
                  <a:txBody>
                    <a:bodyPr/>
                    <a:lstStyle/>
                    <a:p>
                      <a:pPr algn="ctr">
                        <a:buNone/>
                      </a:pPr>
                      <a:r>
                        <a:rPr lang="en-US" b="1">
                          <a:solidFill>
                            <a:schemeClr val="bg1"/>
                          </a:solidFill>
                          <a:effectLst/>
                        </a:rPr>
                        <a:t>Hospital</a:t>
                      </a: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chemeClr val="tx2"/>
                    </a:solidFill>
                  </a:tcPr>
                </a:tc>
                <a:extLst>
                  <a:ext uri="{0D108BD9-81ED-4DB2-BD59-A6C34878D82A}">
                    <a16:rowId xmlns:a16="http://schemas.microsoft.com/office/drawing/2014/main" val="2124883690"/>
                  </a:ext>
                </a:extLst>
              </a:tr>
              <a:tr h="0">
                <a:tc>
                  <a:txBody>
                    <a:bodyPr/>
                    <a:lstStyle/>
                    <a:p>
                      <a:pPr>
                        <a:buNone/>
                      </a:pPr>
                      <a:r>
                        <a:rPr lang="zh-CN" altLang="en-US" sz="1800"/>
                        <a:t>杜昕</a:t>
                      </a:r>
                      <a:endParaRPr lang="en-US" b="1">
                        <a:effectLst/>
                      </a:endParaRP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内科学（心血管病）</a:t>
                      </a:r>
                      <a:endParaRPr lang="en-US" b="1">
                        <a:effectLst/>
                      </a:endParaRPr>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40000"/>
                        </a:lnSpc>
                      </a:pPr>
                      <a:r>
                        <a:rPr lang="zh-CN" altLang="en-US" sz="1800"/>
                        <a:t>北京安贞医院</a:t>
                      </a:r>
                      <a:endParaRPr lang="en-US" sz="1800"/>
                    </a:p>
                  </a:txBody>
                  <a:tcPr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8412343"/>
                  </a:ext>
                </a:extLst>
              </a:tr>
            </a:tbl>
          </a:graphicData>
        </a:graphic>
      </p:graphicFrame>
      <p:sp>
        <p:nvSpPr>
          <p:cNvPr id="9" name="TextBox 8">
            <a:extLst>
              <a:ext uri="{FF2B5EF4-FFF2-40B4-BE49-F238E27FC236}">
                <a16:creationId xmlns:a16="http://schemas.microsoft.com/office/drawing/2014/main" id="{FBA5CE97-B3D7-134F-414E-6AB91AF15009}"/>
              </a:ext>
            </a:extLst>
          </p:cNvPr>
          <p:cNvSpPr txBox="1"/>
          <p:nvPr/>
        </p:nvSpPr>
        <p:spPr bwMode="gray">
          <a:xfrm>
            <a:off x="479424" y="1278469"/>
            <a:ext cx="6182138" cy="487249"/>
          </a:xfrm>
          <a:prstGeom prst="rect">
            <a:avLst/>
          </a:prstGeom>
          <a:noFill/>
        </p:spPr>
        <p:txBody>
          <a:bodyPr wrap="square">
            <a:spAutoFit/>
          </a:bodyPr>
          <a:lstStyle/>
          <a:p>
            <a:pPr algn="l">
              <a:lnSpc>
                <a:spcPct val="140000"/>
              </a:lnSpc>
            </a:pPr>
            <a:r>
              <a:rPr lang="en-US" sz="2000" b="1">
                <a:solidFill>
                  <a:srgbClr val="00E47C"/>
                </a:solidFill>
              </a:rPr>
              <a:t>Epidemiological PI:</a:t>
            </a:r>
          </a:p>
        </p:txBody>
      </p:sp>
    </p:spTree>
    <p:extLst>
      <p:ext uri="{BB962C8B-B14F-4D97-AF65-F5344CB8AC3E}">
        <p14:creationId xmlns:p14="http://schemas.microsoft.com/office/powerpoint/2010/main" val="21838448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7" name="表格 6">
            <a:extLst>
              <a:ext uri="{FF2B5EF4-FFF2-40B4-BE49-F238E27FC236}">
                <a16:creationId xmlns:a16="http://schemas.microsoft.com/office/drawing/2014/main" id="{B4D341E8-D52A-13B1-BDF1-2B5B3DD2039E}"/>
              </a:ext>
            </a:extLst>
          </p:cNvPr>
          <p:cNvGraphicFramePr>
            <a:graphicFrameLocks noGrp="1"/>
          </p:cNvGraphicFramePr>
          <p:nvPr/>
        </p:nvGraphicFramePr>
        <p:xfrm>
          <a:off x="479425" y="1197001"/>
          <a:ext cx="11233150" cy="4780919"/>
        </p:xfrm>
        <a:graphic>
          <a:graphicData uri="http://schemas.openxmlformats.org/drawingml/2006/table">
            <a:tbl>
              <a:tblPr firstRow="1" firstCol="1" bandRow="1">
                <a:tableStyleId>{9DCAF9ED-07DC-4A11-8D7F-57B35C25682E}</a:tableStyleId>
              </a:tblPr>
              <a:tblGrid>
                <a:gridCol w="1412875">
                  <a:extLst>
                    <a:ext uri="{9D8B030D-6E8A-4147-A177-3AD203B41FA5}">
                      <a16:colId xmlns:a16="http://schemas.microsoft.com/office/drawing/2014/main" val="4107445283"/>
                    </a:ext>
                  </a:extLst>
                </a:gridCol>
                <a:gridCol w="1609657">
                  <a:extLst>
                    <a:ext uri="{9D8B030D-6E8A-4147-A177-3AD203B41FA5}">
                      <a16:colId xmlns:a16="http://schemas.microsoft.com/office/drawing/2014/main" val="480667186"/>
                    </a:ext>
                  </a:extLst>
                </a:gridCol>
                <a:gridCol w="2460693">
                  <a:extLst>
                    <a:ext uri="{9D8B030D-6E8A-4147-A177-3AD203B41FA5}">
                      <a16:colId xmlns:a16="http://schemas.microsoft.com/office/drawing/2014/main" val="904393573"/>
                    </a:ext>
                  </a:extLst>
                </a:gridCol>
                <a:gridCol w="3270250">
                  <a:extLst>
                    <a:ext uri="{9D8B030D-6E8A-4147-A177-3AD203B41FA5}">
                      <a16:colId xmlns:a16="http://schemas.microsoft.com/office/drawing/2014/main" val="399173095"/>
                    </a:ext>
                  </a:extLst>
                </a:gridCol>
                <a:gridCol w="2479675">
                  <a:extLst>
                    <a:ext uri="{9D8B030D-6E8A-4147-A177-3AD203B41FA5}">
                      <a16:colId xmlns:a16="http://schemas.microsoft.com/office/drawing/2014/main" val="491798425"/>
                    </a:ext>
                  </a:extLst>
                </a:gridCol>
              </a:tblGrid>
              <a:tr h="226912">
                <a:tc>
                  <a:txBody>
                    <a:bodyPr/>
                    <a:lstStyle/>
                    <a:p>
                      <a:pPr algn="ctr">
                        <a:lnSpc>
                          <a:spcPct val="115000"/>
                        </a:lnSpc>
                        <a:spcAft>
                          <a:spcPts val="800"/>
                        </a:spcAft>
                        <a:buNone/>
                      </a:pPr>
                      <a:endParaRPr lang="zh-CN" altLang="en-US" sz="1200"/>
                    </a:p>
                  </a:txBody>
                  <a:tcPr marL="55303" marR="55303" marT="0" marB="0" anchor="ctr"/>
                </a:tc>
                <a:tc>
                  <a:txBody>
                    <a:bodyPr/>
                    <a:lstStyle/>
                    <a:p>
                      <a:pPr algn="ctr">
                        <a:lnSpc>
                          <a:spcPct val="115000"/>
                        </a:lnSpc>
                        <a:spcAft>
                          <a:spcPts val="800"/>
                        </a:spcAft>
                        <a:buNone/>
                      </a:pPr>
                      <a:r>
                        <a:rPr lang="en-US" sz="1400"/>
                        <a:t>Name</a:t>
                      </a:r>
                      <a:endParaRPr lang="zh-CN" altLang="en-US" sz="1400"/>
                    </a:p>
                  </a:txBody>
                  <a:tcPr marL="55303" marR="55303" marT="0" marB="0" anchor="ctr"/>
                </a:tc>
                <a:tc>
                  <a:txBody>
                    <a:bodyPr/>
                    <a:lstStyle/>
                    <a:p>
                      <a:pPr algn="ctr">
                        <a:lnSpc>
                          <a:spcPct val="115000"/>
                        </a:lnSpc>
                        <a:spcAft>
                          <a:spcPts val="800"/>
                        </a:spcAft>
                        <a:buNone/>
                      </a:pPr>
                      <a:r>
                        <a:rPr lang="en-US" sz="1400"/>
                        <a:t>Hospital</a:t>
                      </a:r>
                      <a:endParaRPr lang="zh-CN" altLang="en-US" sz="1400"/>
                    </a:p>
                  </a:txBody>
                  <a:tcPr marL="55303" marR="55303" marT="0" marB="0" anchor="ctr"/>
                </a:tc>
                <a:tc>
                  <a:txBody>
                    <a:bodyPr/>
                    <a:lstStyle/>
                    <a:p>
                      <a:pPr algn="ctr">
                        <a:lnSpc>
                          <a:spcPct val="115000"/>
                        </a:lnSpc>
                        <a:spcAft>
                          <a:spcPts val="800"/>
                        </a:spcAft>
                        <a:buNone/>
                      </a:pPr>
                      <a:r>
                        <a:rPr lang="en-US" sz="1400"/>
                        <a:t>Academic Roles</a:t>
                      </a:r>
                      <a:endParaRPr lang="zh-CN" altLang="en-US" sz="1400"/>
                    </a:p>
                  </a:txBody>
                  <a:tcPr marL="55303" marR="55303" marT="0" marB="0" anchor="ctr"/>
                </a:tc>
                <a:tc>
                  <a:txBody>
                    <a:bodyPr/>
                    <a:lstStyle/>
                    <a:p>
                      <a:pPr algn="ctr">
                        <a:lnSpc>
                          <a:spcPct val="115000"/>
                        </a:lnSpc>
                        <a:spcAft>
                          <a:spcPts val="800"/>
                        </a:spcAft>
                        <a:buNone/>
                      </a:pPr>
                      <a:r>
                        <a:rPr lang="en-US" sz="1400"/>
                        <a:t>Research Focus</a:t>
                      </a:r>
                      <a:endParaRPr lang="zh-CN" altLang="en-US" sz="1400"/>
                    </a:p>
                  </a:txBody>
                  <a:tcPr marL="55303" marR="55303" marT="0" marB="0" anchor="ctr"/>
                </a:tc>
                <a:extLst>
                  <a:ext uri="{0D108BD9-81ED-4DB2-BD59-A6C34878D82A}">
                    <a16:rowId xmlns:a16="http://schemas.microsoft.com/office/drawing/2014/main" val="3030474939"/>
                  </a:ext>
                </a:extLst>
              </a:tr>
              <a:tr h="1426779">
                <a:tc>
                  <a:txBody>
                    <a:bodyPr/>
                    <a:lstStyle/>
                    <a:p>
                      <a:pPr fontAlgn="t">
                        <a:lnSpc>
                          <a:spcPts val="1500"/>
                        </a:lnSpc>
                        <a:buNone/>
                      </a:pPr>
                      <a:r>
                        <a:rPr lang="en-US" sz="1200"/>
                        <a:t>First choice</a:t>
                      </a:r>
                    </a:p>
                  </a:txBody>
                  <a:tcPr anchor="ctr"/>
                </a:tc>
                <a:tc>
                  <a:txBody>
                    <a:bodyPr/>
                    <a:lstStyle/>
                    <a:p>
                      <a:pPr algn="ctr">
                        <a:lnSpc>
                          <a:spcPct val="115000"/>
                        </a:lnSpc>
                        <a:spcAft>
                          <a:spcPts val="800"/>
                        </a:spcAft>
                        <a:buNone/>
                      </a:pPr>
                      <a:r>
                        <a:rPr lang="en-US" sz="1200"/>
                        <a:t>Du Xin</a:t>
                      </a:r>
                      <a:endParaRPr lang="zh-CN" altLang="en-US" sz="1200"/>
                    </a:p>
                  </a:txBody>
                  <a:tcPr marL="55303" marR="55303" marT="0" marB="0" anchor="ctr"/>
                </a:tc>
                <a:tc>
                  <a:txBody>
                    <a:bodyPr/>
                    <a:lstStyle/>
                    <a:p>
                      <a:pPr algn="ctr">
                        <a:lnSpc>
                          <a:spcPct val="115000"/>
                        </a:lnSpc>
                        <a:spcAft>
                          <a:spcPts val="800"/>
                        </a:spcAft>
                        <a:buNone/>
                      </a:pPr>
                      <a:r>
                        <a:rPr lang="en-US" sz="1200"/>
                        <a:t>Beijing </a:t>
                      </a:r>
                      <a:r>
                        <a:rPr lang="en-US" sz="1200" err="1"/>
                        <a:t>Anzhen</a:t>
                      </a:r>
                      <a:r>
                        <a:rPr lang="en-US" sz="1200"/>
                        <a:t> Hospital, Capital Medical University</a:t>
                      </a:r>
                      <a:endParaRPr lang="zh-CN" altLang="en-US" sz="1200"/>
                    </a:p>
                  </a:txBody>
                  <a:tcPr marL="55303" marR="55303" marT="0" marB="0" anchor="ctr"/>
                </a:tc>
                <a:tc>
                  <a:txBody>
                    <a:bodyPr/>
                    <a:lstStyle/>
                    <a:p>
                      <a:pPr marL="171450" indent="-171450" algn="l">
                        <a:lnSpc>
                          <a:spcPct val="100000"/>
                        </a:lnSpc>
                        <a:spcAft>
                          <a:spcPts val="0"/>
                        </a:spcAft>
                        <a:buFont typeface="Arial" panose="020B0604020202020204" pitchFamily="34" charset="0"/>
                        <a:buChar char="•"/>
                      </a:pPr>
                      <a:r>
                        <a:rPr lang="en-US" altLang="zh-CN" sz="1050"/>
                        <a:t>Member, Clinical Research Management Group, Chinese Society of Cardiology (CSC); </a:t>
                      </a:r>
                    </a:p>
                    <a:p>
                      <a:pPr marL="171450" indent="-171450" algn="l">
                        <a:lnSpc>
                          <a:spcPct val="100000"/>
                        </a:lnSpc>
                        <a:spcAft>
                          <a:spcPts val="0"/>
                        </a:spcAft>
                        <a:buFont typeface="Arial" panose="020B0604020202020204" pitchFamily="34" charset="0"/>
                        <a:buChar char="•"/>
                      </a:pPr>
                      <a:r>
                        <a:rPr lang="en-US" altLang="zh-CN" sz="1050"/>
                        <a:t>Director, Beijing George Institute for Global Health; </a:t>
                      </a:r>
                    </a:p>
                    <a:p>
                      <a:pPr marL="171450" indent="-171450" algn="l">
                        <a:lnSpc>
                          <a:spcPct val="100000"/>
                        </a:lnSpc>
                        <a:spcAft>
                          <a:spcPts val="0"/>
                        </a:spcAft>
                        <a:buFont typeface="Arial" panose="020B0604020202020204" pitchFamily="34" charset="0"/>
                        <a:buChar char="•"/>
                      </a:pPr>
                      <a:r>
                        <a:rPr lang="en-US" altLang="zh-CN" sz="1050"/>
                        <a:t>Deputy Director, Beijing Cardiovascular Disease Prevention Office </a:t>
                      </a:r>
                    </a:p>
                    <a:p>
                      <a:pPr marL="171450" indent="-171450" algn="l">
                        <a:lnSpc>
                          <a:spcPct val="100000"/>
                        </a:lnSpc>
                        <a:spcAft>
                          <a:spcPts val="0"/>
                        </a:spcAft>
                        <a:buFont typeface="Arial" panose="020B0604020202020204" pitchFamily="34" charset="0"/>
                        <a:buChar char="•"/>
                      </a:pPr>
                      <a:r>
                        <a:rPr lang="en-US" altLang="zh-CN" sz="1050"/>
                        <a:t>Editorial Board Member: Circulation, Journal of the American College of Cardiology, Chinese Journal of Cardiology</a:t>
                      </a:r>
                      <a:endParaRPr lang="zh-CN" altLang="en-US" sz="1050"/>
                    </a:p>
                  </a:txBody>
                  <a:tcPr marL="55303" marR="55303" marT="0" marB="0" anchor="ctr"/>
                </a:tc>
                <a:tc>
                  <a:txBody>
                    <a:bodyPr/>
                    <a:lstStyle/>
                    <a:p>
                      <a:pPr algn="l">
                        <a:lnSpc>
                          <a:spcPct val="115000"/>
                        </a:lnSpc>
                        <a:spcAft>
                          <a:spcPts val="800"/>
                        </a:spcAft>
                        <a:buNone/>
                      </a:pPr>
                      <a:r>
                        <a:rPr lang="en-US" sz="1200"/>
                        <a:t>- Hypertension &amp; small artery disease</a:t>
                      </a:r>
                      <a:br>
                        <a:rPr lang="en-US" sz="1200"/>
                      </a:br>
                      <a:r>
                        <a:rPr lang="en-US" sz="1200"/>
                        <a:t>- Clinical trials on CVD prevention</a:t>
                      </a:r>
                      <a:endParaRPr lang="zh-CN" altLang="en-US" sz="1200"/>
                    </a:p>
                  </a:txBody>
                  <a:tcPr marL="55303" marR="55303" marT="0" marB="0" anchor="ctr"/>
                </a:tc>
                <a:extLst>
                  <a:ext uri="{0D108BD9-81ED-4DB2-BD59-A6C34878D82A}">
                    <a16:rowId xmlns:a16="http://schemas.microsoft.com/office/drawing/2014/main" val="4254545014"/>
                  </a:ext>
                </a:extLst>
              </a:tr>
              <a:tr h="1366874">
                <a:tc>
                  <a:txBody>
                    <a:bodyPr/>
                    <a:lstStyle/>
                    <a:p>
                      <a:pPr fontAlgn="t">
                        <a:lnSpc>
                          <a:spcPts val="1500"/>
                        </a:lnSpc>
                        <a:buNone/>
                      </a:pPr>
                      <a:r>
                        <a:rPr lang="en-US" sz="1200"/>
                        <a:t>Alternative1</a:t>
                      </a:r>
                    </a:p>
                  </a:txBody>
                  <a:tcPr anchor="ctr"/>
                </a:tc>
                <a:tc>
                  <a:txBody>
                    <a:bodyPr/>
                    <a:lstStyle/>
                    <a:p>
                      <a:pPr algn="ctr">
                        <a:lnSpc>
                          <a:spcPct val="115000"/>
                        </a:lnSpc>
                        <a:spcAft>
                          <a:spcPts val="800"/>
                        </a:spcAft>
                        <a:buNone/>
                      </a:pPr>
                      <a:r>
                        <a:rPr lang="en-US" sz="1200"/>
                        <a:t>Liu Chen</a:t>
                      </a:r>
                      <a:endParaRPr lang="zh-CN" altLang="en-US" sz="1200"/>
                    </a:p>
                  </a:txBody>
                  <a:tcPr marL="55303" marR="55303" marT="0" marB="0" anchor="ctr"/>
                </a:tc>
                <a:tc>
                  <a:txBody>
                    <a:bodyPr/>
                    <a:lstStyle/>
                    <a:p>
                      <a:pPr algn="ctr">
                        <a:lnSpc>
                          <a:spcPct val="115000"/>
                        </a:lnSpc>
                        <a:spcAft>
                          <a:spcPts val="800"/>
                        </a:spcAft>
                        <a:buNone/>
                      </a:pPr>
                      <a:r>
                        <a:rPr lang="en-US" sz="1200"/>
                        <a:t>The First Affiliated Hospital, Sun Yat-sen University</a:t>
                      </a:r>
                      <a:endParaRPr lang="zh-CN" altLang="en-US" sz="1200"/>
                    </a:p>
                  </a:txBody>
                  <a:tcPr marL="55303" marR="55303" marT="0" marB="0" anchor="ctr"/>
                </a:tc>
                <a:tc>
                  <a:txBody>
                    <a:bodyPr/>
                    <a:lstStyle/>
                    <a:p>
                      <a:pPr marL="171450" indent="-171450" algn="l" defTabSz="914400" rtl="0" eaLnBrk="1" latinLnBrk="0" hangingPunct="1">
                        <a:lnSpc>
                          <a:spcPct val="100000"/>
                        </a:lnSpc>
                        <a:spcAft>
                          <a:spcPts val="0"/>
                        </a:spcAft>
                        <a:buFont typeface="Arial" panose="020B0604020202020204" pitchFamily="34" charset="0"/>
                        <a:buChar char="•"/>
                      </a:pPr>
                      <a:r>
                        <a:rPr lang="en-US" sz="1050" kern="1200">
                          <a:solidFill>
                            <a:schemeClr val="dk1"/>
                          </a:solidFill>
                          <a:latin typeface="+mn-lt"/>
                          <a:ea typeface="+mn-ea"/>
                          <a:cs typeface="+mn-cs"/>
                        </a:rPr>
                        <a:t>Deputy Chair, Youth Working Committee, Heart Failure Professional Committee, Chinese Medical Doctor Association</a:t>
                      </a:r>
                    </a:p>
                    <a:p>
                      <a:pPr marL="171450" indent="-171450" algn="l" defTabSz="914400" rtl="0" eaLnBrk="1" latinLnBrk="0" hangingPunct="1">
                        <a:lnSpc>
                          <a:spcPct val="100000"/>
                        </a:lnSpc>
                        <a:spcAft>
                          <a:spcPts val="0"/>
                        </a:spcAft>
                        <a:buFont typeface="Arial" panose="020B0604020202020204" pitchFamily="34" charset="0"/>
                        <a:buChar char="•"/>
                      </a:pPr>
                      <a:r>
                        <a:rPr lang="en-US" sz="1050" kern="1200">
                          <a:solidFill>
                            <a:schemeClr val="dk1"/>
                          </a:solidFill>
                          <a:latin typeface="+mn-lt"/>
                          <a:ea typeface="+mn-ea"/>
                          <a:cs typeface="+mn-cs"/>
                        </a:rPr>
                        <a:t>Youth Member (10th), Cardiovascular Branch, Chinese Medical Association </a:t>
                      </a:r>
                    </a:p>
                  </a:txBody>
                  <a:tcPr marL="55303" marR="55303" marT="0" marB="0" anchor="ctr"/>
                </a:tc>
                <a:tc>
                  <a:txBody>
                    <a:bodyPr/>
                    <a:lstStyle/>
                    <a:p>
                      <a:pPr algn="l">
                        <a:lnSpc>
                          <a:spcPct val="115000"/>
                        </a:lnSpc>
                        <a:spcAft>
                          <a:spcPts val="800"/>
                        </a:spcAft>
                        <a:buNone/>
                      </a:pPr>
                      <a:r>
                        <a:rPr lang="en-US" sz="1200"/>
                        <a:t>- HF registry studies</a:t>
                      </a:r>
                      <a:br>
                        <a:rPr lang="en-US" sz="1200"/>
                      </a:br>
                      <a:r>
                        <a:rPr lang="en-US" sz="1200"/>
                        <a:t>- High-risk population screening</a:t>
                      </a:r>
                      <a:endParaRPr lang="zh-CN" altLang="en-US" sz="1200"/>
                    </a:p>
                  </a:txBody>
                  <a:tcPr marL="55303" marR="55303" marT="0" marB="0" anchor="ctr"/>
                </a:tc>
                <a:extLst>
                  <a:ext uri="{0D108BD9-81ED-4DB2-BD59-A6C34878D82A}">
                    <a16:rowId xmlns:a16="http://schemas.microsoft.com/office/drawing/2014/main" val="3858449827"/>
                  </a:ext>
                </a:extLst>
              </a:tr>
              <a:tr h="823543">
                <a:tc>
                  <a:txBody>
                    <a:bodyPr/>
                    <a:lstStyle/>
                    <a:p>
                      <a:pPr fontAlgn="t">
                        <a:lnSpc>
                          <a:spcPts val="1500"/>
                        </a:lnSpc>
                        <a:buNone/>
                      </a:pPr>
                      <a:r>
                        <a:rPr lang="en-US" sz="1200"/>
                        <a:t>Alternative2</a:t>
                      </a:r>
                    </a:p>
                  </a:txBody>
                  <a:tcPr anchor="ctr"/>
                </a:tc>
                <a:tc>
                  <a:txBody>
                    <a:bodyPr/>
                    <a:lstStyle/>
                    <a:p>
                      <a:pPr algn="ctr">
                        <a:lnSpc>
                          <a:spcPct val="115000"/>
                        </a:lnSpc>
                        <a:spcAft>
                          <a:spcPts val="800"/>
                        </a:spcAft>
                        <a:buNone/>
                      </a:pPr>
                      <a:r>
                        <a:rPr lang="en-US" sz="1200"/>
                        <a:t>Ren Jingyi</a:t>
                      </a:r>
                      <a:endParaRPr lang="zh-CN" altLang="en-US" sz="1200"/>
                    </a:p>
                  </a:txBody>
                  <a:tcPr marL="55303" marR="55303" marT="0" marB="0" anchor="ctr"/>
                </a:tc>
                <a:tc>
                  <a:txBody>
                    <a:bodyPr/>
                    <a:lstStyle/>
                    <a:p>
                      <a:pPr algn="ctr">
                        <a:lnSpc>
                          <a:spcPct val="115000"/>
                        </a:lnSpc>
                        <a:spcAft>
                          <a:spcPts val="800"/>
                        </a:spcAft>
                        <a:buNone/>
                      </a:pPr>
                      <a:r>
                        <a:rPr lang="en-US" sz="1200"/>
                        <a:t>China-Japan Friendship Hospital</a:t>
                      </a:r>
                      <a:endParaRPr lang="zh-CN" altLang="en-US" sz="1200"/>
                    </a:p>
                  </a:txBody>
                  <a:tcPr marL="55303" marR="55303" marT="0" marB="0" anchor="ctr"/>
                </a:tc>
                <a:tc>
                  <a:txBody>
                    <a:bodyPr/>
                    <a:lstStyle/>
                    <a:p>
                      <a:pPr marL="171450" indent="-171450" algn="l" defTabSz="914400" rtl="0" eaLnBrk="1" latinLnBrk="0" hangingPunct="1">
                        <a:lnSpc>
                          <a:spcPct val="100000"/>
                        </a:lnSpc>
                        <a:spcAft>
                          <a:spcPts val="0"/>
                        </a:spcAft>
                        <a:buFont typeface="Arial" panose="020B0604020202020204" pitchFamily="34" charset="0"/>
                        <a:buChar char="•"/>
                      </a:pPr>
                      <a:r>
                        <a:rPr lang="en-US" altLang="zh-CN" sz="1050" kern="1200">
                          <a:solidFill>
                            <a:schemeClr val="dk1"/>
                          </a:solidFill>
                          <a:latin typeface="+mn-lt"/>
                          <a:ea typeface="+mn-ea"/>
                          <a:cs typeface="+mn-cs"/>
                        </a:rPr>
                        <a:t>Fellow, European Society of Cardiology (FESC) </a:t>
                      </a:r>
                    </a:p>
                    <a:p>
                      <a:pPr marL="171450" indent="-171450" algn="l" defTabSz="914400" rtl="0" eaLnBrk="1" latinLnBrk="0" hangingPunct="1">
                        <a:lnSpc>
                          <a:spcPct val="100000"/>
                        </a:lnSpc>
                        <a:spcAft>
                          <a:spcPts val="0"/>
                        </a:spcAft>
                        <a:buFont typeface="Arial" panose="020B0604020202020204" pitchFamily="34" charset="0"/>
                        <a:buChar char="•"/>
                      </a:pPr>
                      <a:r>
                        <a:rPr lang="en-US" altLang="zh-CN" sz="1050" kern="1200">
                          <a:solidFill>
                            <a:schemeClr val="dk1"/>
                          </a:solidFill>
                          <a:latin typeface="+mn-lt"/>
                          <a:ea typeface="+mn-ea"/>
                          <a:cs typeface="+mn-cs"/>
                        </a:rPr>
                        <a:t>Member, Heart Failure Committee, Asian Heart Society (AHS) </a:t>
                      </a:r>
                    </a:p>
                    <a:p>
                      <a:pPr marL="171450" indent="-171450" algn="l" defTabSz="914400" rtl="0" eaLnBrk="1" latinLnBrk="0" hangingPunct="1">
                        <a:lnSpc>
                          <a:spcPct val="100000"/>
                        </a:lnSpc>
                        <a:spcAft>
                          <a:spcPts val="0"/>
                        </a:spcAft>
                        <a:buFont typeface="Arial" panose="020B0604020202020204" pitchFamily="34" charset="0"/>
                        <a:buChar char="•"/>
                      </a:pPr>
                      <a:r>
                        <a:rPr lang="en-US" altLang="zh-CN" sz="1050" kern="1200">
                          <a:solidFill>
                            <a:schemeClr val="dk1"/>
                          </a:solidFill>
                          <a:latin typeface="+mn-lt"/>
                          <a:ea typeface="+mn-ea"/>
                          <a:cs typeface="+mn-cs"/>
                        </a:rPr>
                        <a:t>General, China Heart Failure Center Alliance </a:t>
                      </a:r>
                    </a:p>
                  </a:txBody>
                  <a:tcPr marL="55303" marR="55303" marT="0" marB="0" anchor="ctr"/>
                </a:tc>
                <a:tc>
                  <a:txBody>
                    <a:bodyPr/>
                    <a:lstStyle/>
                    <a:p>
                      <a:pPr algn="l">
                        <a:lnSpc>
                          <a:spcPct val="115000"/>
                        </a:lnSpc>
                        <a:spcAft>
                          <a:spcPts val="800"/>
                        </a:spcAft>
                        <a:buNone/>
                      </a:pPr>
                      <a:r>
                        <a:rPr lang="en-US" sz="1200"/>
                        <a:t>- Multicenter HF &amp; hypertension trials</a:t>
                      </a:r>
                      <a:br>
                        <a:rPr lang="en-US" sz="1200"/>
                      </a:br>
                      <a:r>
                        <a:rPr lang="en-US" sz="1200"/>
                        <a:t>- National R&amp;D projects (14th FYP)</a:t>
                      </a:r>
                      <a:endParaRPr lang="zh-CN" altLang="en-US" sz="1200"/>
                    </a:p>
                  </a:txBody>
                  <a:tcPr marL="55303" marR="55303" marT="0" marB="0" anchor="ctr"/>
                </a:tc>
                <a:extLst>
                  <a:ext uri="{0D108BD9-81ED-4DB2-BD59-A6C34878D82A}">
                    <a16:rowId xmlns:a16="http://schemas.microsoft.com/office/drawing/2014/main" val="2233822497"/>
                  </a:ext>
                </a:extLst>
              </a:tr>
              <a:tr h="908842">
                <a:tc>
                  <a:txBody>
                    <a:bodyPr/>
                    <a:lstStyle/>
                    <a:p>
                      <a:pPr fontAlgn="t">
                        <a:lnSpc>
                          <a:spcPts val="1500"/>
                        </a:lnSpc>
                        <a:buNone/>
                      </a:pPr>
                      <a:r>
                        <a:rPr lang="en-US" sz="1200"/>
                        <a:t>Alternative3</a:t>
                      </a:r>
                    </a:p>
                  </a:txBody>
                  <a:tcPr anchor="ctr"/>
                </a:tc>
                <a:tc>
                  <a:txBody>
                    <a:bodyPr/>
                    <a:lstStyle/>
                    <a:p>
                      <a:pPr algn="ctr">
                        <a:lnSpc>
                          <a:spcPct val="115000"/>
                        </a:lnSpc>
                        <a:spcAft>
                          <a:spcPts val="800"/>
                        </a:spcAft>
                        <a:buNone/>
                      </a:pPr>
                      <a:r>
                        <a:rPr lang="en-US" sz="1200"/>
                        <a:t>Li Liwen</a:t>
                      </a:r>
                      <a:endParaRPr lang="zh-CN" altLang="en-US" sz="1200"/>
                    </a:p>
                  </a:txBody>
                  <a:tcPr marL="55303" marR="55303" marT="0" marB="0" anchor="ctr"/>
                </a:tc>
                <a:tc>
                  <a:txBody>
                    <a:bodyPr/>
                    <a:lstStyle/>
                    <a:p>
                      <a:pPr algn="ctr">
                        <a:lnSpc>
                          <a:spcPct val="115000"/>
                        </a:lnSpc>
                        <a:spcAft>
                          <a:spcPts val="800"/>
                        </a:spcAft>
                        <a:buNone/>
                      </a:pPr>
                      <a:r>
                        <a:rPr lang="en-US" sz="1200"/>
                        <a:t>Guangdong Provincial People’s Hospital</a:t>
                      </a:r>
                      <a:endParaRPr lang="zh-CN" altLang="en-US" sz="1200"/>
                    </a:p>
                  </a:txBody>
                  <a:tcPr marL="55303" marR="55303" marT="0" marB="0" anchor="ctr"/>
                </a:tc>
                <a:tc>
                  <a:txBody>
                    <a:bodyPr/>
                    <a:lstStyle/>
                    <a:p>
                      <a:pPr marL="171450" indent="-171450" algn="l">
                        <a:lnSpc>
                          <a:spcPct val="100000"/>
                        </a:lnSpc>
                        <a:spcAft>
                          <a:spcPts val="0"/>
                        </a:spcAft>
                        <a:buFont typeface="Arial" panose="020B0604020202020204" pitchFamily="34" charset="0"/>
                        <a:buChar char="•"/>
                      </a:pPr>
                      <a:r>
                        <a:rPr lang="en-US" altLang="zh-CN" sz="1050"/>
                        <a:t> </a:t>
                      </a:r>
                      <a:r>
                        <a:rPr lang="en-US" altLang="zh-CN" sz="1050" kern="1200">
                          <a:solidFill>
                            <a:schemeClr val="dk1"/>
                          </a:solidFill>
                          <a:latin typeface="+mn-lt"/>
                          <a:ea typeface="+mn-ea"/>
                          <a:cs typeface="+mn-cs"/>
                        </a:rPr>
                        <a:t>Standing Committee Member, Heart Failure Professional Committee, Chinese Medical Doctor Association </a:t>
                      </a:r>
                    </a:p>
                    <a:p>
                      <a:pPr marL="171450" indent="-171450" algn="l">
                        <a:lnSpc>
                          <a:spcPct val="100000"/>
                        </a:lnSpc>
                        <a:spcAft>
                          <a:spcPts val="0"/>
                        </a:spcAft>
                        <a:buFont typeface="Arial" panose="020B0604020202020204" pitchFamily="34" charset="0"/>
                        <a:buChar char="•"/>
                      </a:pPr>
                      <a:r>
                        <a:rPr lang="en-US" altLang="zh-CN" sz="1050" kern="1200">
                          <a:solidFill>
                            <a:schemeClr val="dk1"/>
                          </a:solidFill>
                          <a:latin typeface="+mn-lt"/>
                          <a:ea typeface="+mn-ea"/>
                          <a:cs typeface="+mn-cs"/>
                        </a:rPr>
                        <a:t>Vice Chair, Heart Failure Professional Physician Branch, Guangdong Medical Doctor Association</a:t>
                      </a:r>
                      <a:endParaRPr lang="zh-CN" altLang="en-US" sz="1050" kern="1200">
                        <a:solidFill>
                          <a:schemeClr val="dk1"/>
                        </a:solidFill>
                        <a:latin typeface="+mn-lt"/>
                        <a:ea typeface="+mn-ea"/>
                        <a:cs typeface="+mn-cs"/>
                      </a:endParaRPr>
                    </a:p>
                  </a:txBody>
                  <a:tcPr marL="55303" marR="55303" marT="0" marB="0" anchor="ctr"/>
                </a:tc>
                <a:tc>
                  <a:txBody>
                    <a:bodyPr/>
                    <a:lstStyle/>
                    <a:p>
                      <a:pPr algn="l">
                        <a:lnSpc>
                          <a:spcPct val="115000"/>
                        </a:lnSpc>
                        <a:spcAft>
                          <a:spcPts val="800"/>
                        </a:spcAft>
                        <a:buNone/>
                      </a:pPr>
                      <a:r>
                        <a:rPr lang="en-US" sz="1200"/>
                        <a:t>- HF &amp; hypertension clinical trials</a:t>
                      </a:r>
                      <a:br>
                        <a:rPr lang="en-US" sz="1200"/>
                      </a:br>
                      <a:r>
                        <a:rPr lang="en-US" sz="1200"/>
                        <a:t>- National R&amp;D projects (13th &amp; 14th FYP)</a:t>
                      </a:r>
                      <a:endParaRPr lang="zh-CN" altLang="en-US" sz="1200"/>
                    </a:p>
                  </a:txBody>
                  <a:tcPr marL="55303" marR="55303" marT="0" marB="0" anchor="ctr"/>
                </a:tc>
                <a:extLst>
                  <a:ext uri="{0D108BD9-81ED-4DB2-BD59-A6C34878D82A}">
                    <a16:rowId xmlns:a16="http://schemas.microsoft.com/office/drawing/2014/main" val="2961445592"/>
                  </a:ext>
                </a:extLst>
              </a:tr>
            </a:tbl>
          </a:graphicData>
        </a:graphic>
      </p:graphicFrame>
      <p:sp>
        <p:nvSpPr>
          <p:cNvPr id="2" name="标题 1">
            <a:extLst>
              <a:ext uri="{FF2B5EF4-FFF2-40B4-BE49-F238E27FC236}">
                <a16:creationId xmlns:a16="http://schemas.microsoft.com/office/drawing/2014/main" id="{E778308A-99CB-BBD9-F1B4-D8BF10F4E897}"/>
              </a:ext>
            </a:extLst>
          </p:cNvPr>
          <p:cNvSpPr>
            <a:spLocks noGrp="1"/>
          </p:cNvSpPr>
          <p:nvPr>
            <p:ph type="title"/>
          </p:nvPr>
        </p:nvSpPr>
        <p:spPr>
          <a:xfrm>
            <a:off x="479424" y="477000"/>
            <a:ext cx="11233151" cy="720000"/>
          </a:xfrm>
        </p:spPr>
        <p:txBody>
          <a:bodyPr/>
          <a:lstStyle/>
          <a:p>
            <a:r>
              <a:rPr lang="en-US" altLang="zh-CN"/>
              <a:t>Clinical PI </a:t>
            </a:r>
            <a:r>
              <a:rPr lang="zh-CN" altLang="en-US"/>
              <a:t>（</a:t>
            </a:r>
            <a:r>
              <a:rPr lang="en-US" altLang="zh-CN"/>
              <a:t>nominate</a:t>
            </a:r>
            <a:r>
              <a:rPr lang="zh-CN" altLang="en-US"/>
              <a:t>）</a:t>
            </a:r>
          </a:p>
        </p:txBody>
      </p:sp>
    </p:spTree>
    <p:extLst>
      <p:ext uri="{BB962C8B-B14F-4D97-AF65-F5344CB8AC3E}">
        <p14:creationId xmlns:p14="http://schemas.microsoft.com/office/powerpoint/2010/main" val="1539873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AC3DE-644F-C94A-BCA6-CAF41FF4F812}"/>
              </a:ext>
            </a:extLst>
          </p:cNvPr>
          <p:cNvSpPr>
            <a:spLocks noGrp="1"/>
          </p:cNvSpPr>
          <p:nvPr>
            <p:ph type="title"/>
          </p:nvPr>
        </p:nvSpPr>
        <p:spPr>
          <a:xfrm>
            <a:off x="427420" y="683624"/>
            <a:ext cx="11233151" cy="720000"/>
          </a:xfrm>
        </p:spPr>
        <p:txBody>
          <a:bodyPr/>
          <a:lstStyle/>
          <a:p>
            <a:r>
              <a:rPr lang="en-US" altLang="zh-CN"/>
              <a:t>Summary of Study Impact</a:t>
            </a:r>
            <a:endParaRPr lang="zh-CN" altLang="en-US"/>
          </a:p>
        </p:txBody>
      </p:sp>
      <p:sp>
        <p:nvSpPr>
          <p:cNvPr id="3" name="Text Placeholder 2">
            <a:extLst>
              <a:ext uri="{FF2B5EF4-FFF2-40B4-BE49-F238E27FC236}">
                <a16:creationId xmlns:a16="http://schemas.microsoft.com/office/drawing/2014/main" id="{25E4D4E8-2AF4-56B3-B2D1-105E595F806E}"/>
              </a:ext>
            </a:extLst>
          </p:cNvPr>
          <p:cNvSpPr>
            <a:spLocks noGrp="1"/>
          </p:cNvSpPr>
          <p:nvPr>
            <p:ph type="body" sz="quarter" idx="15"/>
          </p:nvPr>
        </p:nvSpPr>
        <p:spPr>
          <a:xfrm>
            <a:off x="427419" y="1806065"/>
            <a:ext cx="11233151" cy="4537074"/>
          </a:xfrm>
        </p:spPr>
        <p:txBody>
          <a:bodyPr vert="horz" lIns="0" tIns="0" rIns="0" bIns="0" rtlCol="0" anchor="t">
            <a:noAutofit/>
          </a:bodyPr>
          <a:lstStyle/>
          <a:p>
            <a:pPr marL="342900" lvl="0" indent="-342900" eaLnBrk="0" fontAlgn="base" hangingPunct="0">
              <a:lnSpc>
                <a:spcPct val="150000"/>
              </a:lnSpc>
              <a:spcBef>
                <a:spcPct val="0"/>
              </a:spcBef>
              <a:spcAft>
                <a:spcPct val="0"/>
              </a:spcAft>
              <a:buFont typeface="Arial" panose="020B0604020202020204" pitchFamily="34" charset="0"/>
              <a:buChar char="•"/>
            </a:pPr>
            <a:r>
              <a:rPr lang="zh-CN" altLang="zh-CN" sz="1800">
                <a:latin typeface="Arial"/>
                <a:cs typeface="Arial"/>
              </a:rPr>
              <a:t>Quantify patient risk </a:t>
            </a:r>
            <a:r>
              <a:rPr lang="en-US" altLang="zh-CN" sz="1800">
                <a:latin typeface="Arial"/>
                <a:cs typeface="Arial"/>
              </a:rPr>
              <a:t>among </a:t>
            </a:r>
            <a:r>
              <a:rPr lang="en-US" altLang="zh-CN" sz="1800">
                <a:latin typeface="Arial"/>
                <a:cs typeface="Arial"/>
                <a:sym typeface="Helvetica Neue"/>
              </a:rPr>
              <a:t>HTN, T2D and established CVD (without HF)</a:t>
            </a:r>
            <a:r>
              <a:rPr lang="en-US" altLang="zh-CN" sz="1800">
                <a:latin typeface="Arial"/>
                <a:cs typeface="Arial"/>
              </a:rPr>
              <a:t> population</a:t>
            </a:r>
            <a:br>
              <a:rPr lang="zh-CN" altLang="zh-CN" sz="1600">
                <a:latin typeface="Arial" panose="020B0604020202020204" pitchFamily="34" charset="0"/>
              </a:rPr>
            </a:br>
            <a:r>
              <a:rPr lang="en-US" altLang="zh-CN" sz="1600" i="1">
                <a:solidFill>
                  <a:schemeClr val="accent6">
                    <a:lumMod val="50000"/>
                  </a:schemeClr>
                </a:solidFill>
                <a:latin typeface="Arial"/>
                <a:cs typeface="Arial"/>
              </a:rPr>
              <a:t>S</a:t>
            </a:r>
            <a:r>
              <a:rPr lang="zh-CN" altLang="zh-CN" sz="1600" i="1">
                <a:solidFill>
                  <a:schemeClr val="accent6">
                    <a:lumMod val="50000"/>
                  </a:schemeClr>
                </a:solidFill>
                <a:latin typeface="Arial"/>
                <a:cs typeface="Arial"/>
              </a:rPr>
              <a:t>upport </a:t>
            </a:r>
            <a:r>
              <a:rPr lang="en-US" altLang="zh-CN" sz="1600" i="1">
                <a:solidFill>
                  <a:schemeClr val="accent6">
                    <a:lumMod val="50000"/>
                  </a:schemeClr>
                </a:solidFill>
                <a:latin typeface="Arial"/>
                <a:cs typeface="Arial"/>
              </a:rPr>
              <a:t>HF </a:t>
            </a:r>
            <a:r>
              <a:rPr lang="zh-CN" altLang="zh-CN" sz="1600" i="1">
                <a:solidFill>
                  <a:schemeClr val="accent6">
                    <a:lumMod val="50000"/>
                  </a:schemeClr>
                </a:solidFill>
                <a:latin typeface="Arial"/>
                <a:cs typeface="Arial"/>
              </a:rPr>
              <a:t>Tier 1 prevention and reference data for endpoint estimation.</a:t>
            </a:r>
            <a:endParaRPr lang="zh-CN" altLang="zh-CN" sz="1600">
              <a:solidFill>
                <a:schemeClr val="accent6">
                  <a:lumMod val="50000"/>
                </a:schemeClr>
              </a:solidFill>
              <a:latin typeface="Arial"/>
              <a:cs typeface="Arial"/>
            </a:endParaRPr>
          </a:p>
          <a:p>
            <a:pPr marL="0" indent="0" eaLnBrk="0" fontAlgn="base" hangingPunct="0">
              <a:lnSpc>
                <a:spcPct val="150000"/>
              </a:lnSpc>
              <a:spcBef>
                <a:spcPct val="0"/>
              </a:spcBef>
              <a:spcAft>
                <a:spcPct val="0"/>
              </a:spcAft>
              <a:buNone/>
            </a:pPr>
            <a:endParaRPr lang="en-US" altLang="zh-CN" sz="1800">
              <a:latin typeface="Arial" panose="020B0604020202020204" pitchFamily="34" charset="0"/>
            </a:endParaRPr>
          </a:p>
          <a:p>
            <a:pPr marL="342900" indent="-342900" eaLnBrk="0" fontAlgn="base" hangingPunct="0">
              <a:lnSpc>
                <a:spcPct val="150000"/>
              </a:lnSpc>
              <a:spcBef>
                <a:spcPct val="0"/>
              </a:spcBef>
              <a:spcAft>
                <a:spcPct val="0"/>
              </a:spcAft>
              <a:buFont typeface="Arial" panose="020B0604020202020204" pitchFamily="34" charset="0"/>
              <a:buChar char="•"/>
            </a:pPr>
            <a:r>
              <a:rPr lang="en-US" altLang="zh-CN" sz="1800">
                <a:latin typeface="Arial"/>
                <a:cs typeface="Arial"/>
              </a:rPr>
              <a:t>Deliver insights on therapeutic approaches, adherence and switching behaviors</a:t>
            </a:r>
            <a:br>
              <a:rPr lang="zh-CN" altLang="zh-CN" sz="1800" b="1">
                <a:latin typeface="Arial" panose="020B0604020202020204" pitchFamily="34" charset="0"/>
              </a:rPr>
            </a:br>
            <a:r>
              <a:rPr lang="en-US" altLang="zh-CN" sz="1600" i="1">
                <a:solidFill>
                  <a:schemeClr val="accent6">
                    <a:lumMod val="50000"/>
                  </a:schemeClr>
                </a:solidFill>
                <a:latin typeface="Arial"/>
                <a:cs typeface="Arial"/>
              </a:rPr>
              <a:t>G</a:t>
            </a:r>
            <a:r>
              <a:rPr lang="zh-CN" altLang="zh-CN" sz="1600" i="1">
                <a:solidFill>
                  <a:schemeClr val="accent6">
                    <a:lumMod val="50000"/>
                  </a:schemeClr>
                </a:solidFill>
                <a:latin typeface="Arial"/>
                <a:cs typeface="Arial"/>
              </a:rPr>
              <a:t>uide medical strategy, HCP education, and future guidelines.</a:t>
            </a:r>
          </a:p>
          <a:p>
            <a:pPr marL="342900" lvl="0" indent="-342900" eaLnBrk="0" fontAlgn="base" hangingPunct="0">
              <a:lnSpc>
                <a:spcPct val="150000"/>
              </a:lnSpc>
              <a:spcBef>
                <a:spcPct val="0"/>
              </a:spcBef>
              <a:spcAft>
                <a:spcPct val="0"/>
              </a:spcAft>
              <a:buFont typeface="Arial" panose="020B0604020202020204" pitchFamily="34" charset="0"/>
              <a:buChar char="•"/>
            </a:pPr>
            <a:endParaRPr lang="en-US" altLang="zh-CN" sz="1800" b="1">
              <a:latin typeface="Arial" panose="020B0604020202020204" pitchFamily="34" charset="0"/>
            </a:endParaRPr>
          </a:p>
          <a:p>
            <a:pPr marL="342900" indent="-342900" eaLnBrk="0" fontAlgn="base" hangingPunct="0">
              <a:lnSpc>
                <a:spcPct val="150000"/>
              </a:lnSpc>
              <a:spcBef>
                <a:spcPct val="0"/>
              </a:spcBef>
              <a:spcAft>
                <a:spcPct val="0"/>
              </a:spcAft>
              <a:buFont typeface="Arial" panose="020B0604020202020204" pitchFamily="34" charset="0"/>
              <a:buChar char="•"/>
            </a:pPr>
            <a:r>
              <a:rPr lang="zh-CN" altLang="zh-CN" sz="1800">
                <a:latin typeface="Arial"/>
                <a:cs typeface="Arial"/>
              </a:rPr>
              <a:t>Estimate target population</a:t>
            </a:r>
            <a:r>
              <a:rPr lang="en-US" altLang="zh-CN" sz="1800">
                <a:latin typeface="Arial"/>
                <a:cs typeface="Arial"/>
              </a:rPr>
              <a:t> </a:t>
            </a:r>
            <a:r>
              <a:rPr lang="zh-CN" altLang="zh-CN" sz="1800">
                <a:latin typeface="Arial"/>
                <a:cs typeface="Arial"/>
              </a:rPr>
              <a:t>in China</a:t>
            </a:r>
            <a:br>
              <a:rPr lang="zh-CN" altLang="zh-CN" sz="1800" b="1">
                <a:latin typeface="Arial" panose="020B0604020202020204" pitchFamily="34" charset="0"/>
              </a:rPr>
            </a:br>
            <a:r>
              <a:rPr lang="zh-CN" altLang="zh-CN" sz="1600" i="1">
                <a:solidFill>
                  <a:schemeClr val="accent6">
                    <a:lumMod val="50000"/>
                  </a:schemeClr>
                </a:solidFill>
                <a:latin typeface="Arial"/>
                <a:cs typeface="Arial"/>
              </a:rPr>
              <a:t>Inform business</a:t>
            </a:r>
            <a:r>
              <a:rPr lang="en-US" altLang="zh-CN" sz="1600" i="1">
                <a:solidFill>
                  <a:schemeClr val="accent6">
                    <a:lumMod val="50000"/>
                  </a:schemeClr>
                </a:solidFill>
                <a:latin typeface="Arial"/>
                <a:cs typeface="Arial"/>
              </a:rPr>
              <a:t> strategy</a:t>
            </a:r>
            <a:r>
              <a:rPr lang="zh-CN" altLang="zh-CN" sz="1600" i="1">
                <a:solidFill>
                  <a:schemeClr val="accent6">
                    <a:lumMod val="50000"/>
                  </a:schemeClr>
                </a:solidFill>
                <a:latin typeface="Arial"/>
                <a:cs typeface="Arial"/>
              </a:rPr>
              <a:t>.</a:t>
            </a:r>
            <a:endParaRPr lang="en-US" altLang="zh-CN" sz="1600" i="1">
              <a:solidFill>
                <a:schemeClr val="accent6">
                  <a:lumMod val="50000"/>
                </a:schemeClr>
              </a:solidFill>
              <a:latin typeface="Arial"/>
              <a:cs typeface="Arial"/>
            </a:endParaRPr>
          </a:p>
          <a:p>
            <a:pPr marL="0" lvl="0" indent="0" eaLnBrk="0" fontAlgn="base" hangingPunct="0">
              <a:lnSpc>
                <a:spcPct val="150000"/>
              </a:lnSpc>
              <a:spcBef>
                <a:spcPct val="0"/>
              </a:spcBef>
              <a:spcAft>
                <a:spcPct val="0"/>
              </a:spcAft>
              <a:buNone/>
            </a:pPr>
            <a:endParaRPr lang="en-US" altLang="zh-CN" sz="1600" i="1">
              <a:latin typeface="Arial" panose="020B0604020202020204" pitchFamily="34" charset="0"/>
            </a:endParaRPr>
          </a:p>
          <a:p>
            <a:pPr marL="285750" indent="-285750">
              <a:lnSpc>
                <a:spcPct val="150000"/>
              </a:lnSpc>
              <a:buFont typeface="Arial" panose="020B0604020202020204" pitchFamily="34" charset="0"/>
              <a:buChar char="•"/>
            </a:pPr>
            <a:endParaRPr lang="en-US" altLang="zh-CN" sz="1600" i="1"/>
          </a:p>
        </p:txBody>
      </p:sp>
      <p:sp>
        <p:nvSpPr>
          <p:cNvPr id="4" name="Footer Placeholder 3">
            <a:extLst>
              <a:ext uri="{FF2B5EF4-FFF2-40B4-BE49-F238E27FC236}">
                <a16:creationId xmlns:a16="http://schemas.microsoft.com/office/drawing/2014/main" id="{352FB07D-71B6-67AE-9217-9CA1BA06C574}"/>
              </a:ext>
            </a:extLst>
          </p:cNvPr>
          <p:cNvSpPr>
            <a:spLocks noGrp="1"/>
          </p:cNvSpPr>
          <p:nvPr>
            <p:ph type="ftr" sz="quarter" idx="16"/>
          </p:nvPr>
        </p:nvSpPr>
        <p:spPr/>
        <p:txBody>
          <a:bodyPr/>
          <a:lstStyle/>
          <a:p>
            <a:r>
              <a:rPr lang="en-US"/>
              <a:t>Presentation title    |    ONLY FOR INTERNAL USE</a:t>
            </a:r>
          </a:p>
        </p:txBody>
      </p:sp>
      <p:sp>
        <p:nvSpPr>
          <p:cNvPr id="5" name="Slide Number Placeholder 4">
            <a:extLst>
              <a:ext uri="{FF2B5EF4-FFF2-40B4-BE49-F238E27FC236}">
                <a16:creationId xmlns:a16="http://schemas.microsoft.com/office/drawing/2014/main" id="{A55EB270-C202-EB2B-9DCF-6E6D0C902213}"/>
              </a:ext>
            </a:extLst>
          </p:cNvPr>
          <p:cNvSpPr>
            <a:spLocks noGrp="1"/>
          </p:cNvSpPr>
          <p:nvPr>
            <p:ph type="sldNum" sz="quarter" idx="17"/>
          </p:nvPr>
        </p:nvSpPr>
        <p:spPr/>
        <p:txBody>
          <a:bodyPr/>
          <a:lstStyle/>
          <a:p>
            <a:fld id="{8FF9B0DE-3FEB-4AA0-B465-B80EF7C1333D}" type="slidenum">
              <a:rPr lang="en-US" smtClean="0"/>
              <a:pPr/>
              <a:t>28</a:t>
            </a:fld>
            <a:endParaRPr lang="en-US"/>
          </a:p>
        </p:txBody>
      </p:sp>
    </p:spTree>
    <p:extLst>
      <p:ext uri="{BB962C8B-B14F-4D97-AF65-F5344CB8AC3E}">
        <p14:creationId xmlns:p14="http://schemas.microsoft.com/office/powerpoint/2010/main" val="14992292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VCT_SHOW_CA" val="False"/>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7m_mBEvkxIaSTQUqJjSPI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7m_mBEvkxIaSTQUqJjSPIA"/>
</p:tagLst>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2.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3.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4.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5.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I_neu">
      <a:majorFont>
        <a:latin typeface="Boehringer Headline"/>
        <a:ea typeface=""/>
        <a:cs typeface=""/>
      </a:majorFont>
      <a:minorFont>
        <a:latin typeface="Boehringer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089264629A9345B70E065414DFB55F" ma:contentTypeVersion="13" ma:contentTypeDescription="Create a new document." ma:contentTypeScope="" ma:versionID="5b3ecd571f2f479d86935419f04ebf61">
  <xsd:schema xmlns:xsd="http://www.w3.org/2001/XMLSchema" xmlns:xs="http://www.w3.org/2001/XMLSchema" xmlns:p="http://schemas.microsoft.com/office/2006/metadata/properties" xmlns:ns2="545a336c-45ba-4242-ba8b-2a24159e5b92" xmlns:ns3="6105e471-a007-4c69-b034-cfd36128fabd" targetNamespace="http://schemas.microsoft.com/office/2006/metadata/properties" ma:root="true" ma:fieldsID="407e22b21c13b20270037f8773d43d34" ns2:_="" ns3:_="">
    <xsd:import namespace="545a336c-45ba-4242-ba8b-2a24159e5b92"/>
    <xsd:import namespace="6105e471-a007-4c69-b034-cfd36128fab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5a336c-45ba-4242-ba8b-2a24159e5b9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05e471-a007-4c69-b034-cfd36128fab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039145C-C97B-42AA-AE33-548BBDB012C5}">
  <ds:schemaRefs>
    <ds:schemaRef ds:uri="545a336c-45ba-4242-ba8b-2a24159e5b92"/>
    <ds:schemaRef ds:uri="6105e471-a007-4c69-b034-cfd36128fa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A0AD926-1C5C-4F7A-82C7-04A492D29124}">
  <ds:schemaRefs>
    <ds:schemaRef ds:uri="545a336c-45ba-4242-ba8b-2a24159e5b92"/>
    <ds:schemaRef ds:uri="6105e471-a007-4c69-b034-cfd36128fa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2C3F0F1-6A6B-4BEE-BD61-B5DC962FA8C2}">
  <ds:schemaRefs>
    <ds:schemaRef ds:uri="http://schemas.microsoft.com/sharepoint/v3/contenttype/forms"/>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emplate>Boehringer_Ingelheim_Master_1.0</Template>
  <Application>Microsoft Office PowerPoint</Application>
  <PresentationFormat>Widescreen</PresentationFormat>
  <Slides>28</Slides>
  <Notes>24</Notes>
  <HiddenSlides>3</HiddenSlides>
  <ScaleCrop>false</ScaleCrop>
  <HeadingPairs>
    <vt:vector size="4" baseType="variant">
      <vt:variant>
        <vt:lpstr>Theme</vt:lpstr>
      </vt:variant>
      <vt:variant>
        <vt:i4>4</vt:i4>
      </vt:variant>
      <vt:variant>
        <vt:lpstr>Slide Titles</vt:lpstr>
      </vt:variant>
      <vt:variant>
        <vt:i4>28</vt:i4>
      </vt:variant>
    </vt:vector>
  </HeadingPairs>
  <TitlesOfParts>
    <vt:vector size="32" baseType="lpstr">
      <vt:lpstr>Boehringer Ingelheim 16:9</vt:lpstr>
      <vt:lpstr>Boehringer Ingelheim 16:9</vt:lpstr>
      <vt:lpstr>Boehringer Ingelheim 16:9</vt:lpstr>
      <vt:lpstr>Boehringer Ingelheim 16:9</vt:lpstr>
      <vt:lpstr> ONIS: Guideline-directed Medical Therapy Treatment Pattern Among Adults with Chronic Kidney Disease in China: a national wide cross-sectional study </vt:lpstr>
      <vt:lpstr>Executive Summary</vt:lpstr>
      <vt:lpstr>Study background</vt:lpstr>
      <vt:lpstr>The Gap Between SGLT2i Guideline Recommendations and Real-World Practice in CKD Management Highlights the Urgent Need for Real-World Research </vt:lpstr>
      <vt:lpstr>Study Objective </vt:lpstr>
      <vt:lpstr>Data Source: China Kidney Disease Network</vt:lpstr>
      <vt:lpstr>Study Design:</vt:lpstr>
      <vt:lpstr>PowerPoint Presentation</vt:lpstr>
      <vt:lpstr>Statistical Analysis Methods </vt:lpstr>
      <vt:lpstr>Estimated key study milestone and budget </vt:lpstr>
      <vt:lpstr>Collaboration </vt:lpstr>
      <vt:lpstr>Summary of Study Impact</vt:lpstr>
      <vt:lpstr> ECR: Prevalence, treatment pattern and outcome of patients with hypertension, type 2 diabetes and established cardiovascular disease (without heart failure) in China </vt:lpstr>
      <vt:lpstr>Executive Summary</vt:lpstr>
      <vt:lpstr>Call for Large-scale Real-World Data to Reveal the Treatment Landscape of High-Risk Multimorbidity Populations in China</vt:lpstr>
      <vt:lpstr>RWS Provides Critical Complement to Phase III Trials, Supporting Optimized Future Chronic Disease Management in China</vt:lpstr>
      <vt:lpstr>Objectives</vt:lpstr>
      <vt:lpstr>PowerPoint Presentation</vt:lpstr>
      <vt:lpstr>PowerPoint Presentation</vt:lpstr>
      <vt:lpstr>PowerPoint Presentation</vt:lpstr>
      <vt:lpstr>PowerPoint Presentation</vt:lpstr>
      <vt:lpstr>PowerPoint Presentation</vt:lpstr>
      <vt:lpstr>Study Design and Outcomes</vt:lpstr>
      <vt:lpstr>Statistical Analysis Methods </vt:lpstr>
      <vt:lpstr>Estimated key study milestone and budget</vt:lpstr>
      <vt:lpstr>Collaboration An ECR with CDC, consulting on clinical experts</vt:lpstr>
      <vt:lpstr>Clinical PI （nominate）</vt:lpstr>
      <vt:lpstr>Summary of Study Impact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Tan,Wenjing (HP Medicine) BII-CN-S</dc:creator>
  <dc:description>Optimized for Office 365</dc:description>
  <cp:revision>1</cp:revision>
  <dcterms:created xsi:type="dcterms:W3CDTF">2025-06-30T05:12:15Z</dcterms:created>
  <dcterms:modified xsi:type="dcterms:W3CDTF">2025-12-15T04:56:09Z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0x01010040089264629A9345B70E065414DFB55F</vt:lpwstr>
  </property>
  <property fmtid="{D5CDD505-2E9C-101B-9397-08002B2CF9AE}" pid="3" name="MediaServiceImageTags">
    <vt:lpwstr/>
  </property>
</Properties>
</file>